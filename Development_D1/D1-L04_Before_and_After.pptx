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Lst>
  <p:notesMasterIdLst>
    <p:notesMasterId r:id="rId48"/>
  </p:notesMasterIdLst>
  <p:sldSz cx="12192000" cy="6858000"/>
  <p:notesSz cx="6858000" cy="12192000"/>
  <p:embeddedFontLst>
    <p:embeddedFont>
      <p:font typeface="Amiri" pitchFamily="2" charset="-78"/>
      <p:regular r:id="rIdFont1"/>
      <p:bold r:id="rIdFont2"/>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notesMaster" Target="notesMasters/notesMaster1.xml"/><Relationship Id="rId49" Type="http://schemas.openxmlformats.org/officeDocument/2006/relationships/presProps" Target="presProps.xml"/><Relationship Id="rId50" Type="http://schemas.openxmlformats.org/officeDocument/2006/relationships/viewProps" Target="viewProps.xml"/><Relationship Id="rId51" Type="http://schemas.openxmlformats.org/officeDocument/2006/relationships/theme" Target="theme/theme1.xml"/><Relationship Id="rId52" Type="http://schemas.openxmlformats.org/officeDocument/2006/relationships/tableStyles" Target="tableStyles.xml"/><Relationship Id="rIdFont1" Type="http://schemas.openxmlformats.org/officeDocument/2006/relationships/font" Target="fonts/font1.fntdata"/><Relationship Id="rIdFont2" Type="http://schemas.openxmlformats.org/officeDocument/2006/relationships/font" Target="fonts/font2.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cs typeface="Amiri" pitchFamily="2" charset="-78"/>
      </a:defRPr>
    </a:lvl1pPr>
    <a:lvl2pPr marL="457200" algn="l" defTabSz="914400" rtl="0" eaLnBrk="1" latinLnBrk="0" hangingPunct="1">
      <a:defRPr sz="1200" kern="1200">
        <a:solidFill>
          <a:schemeClr val="tx1"/>
        </a:solidFill>
        <a:latin typeface="+mn-lt"/>
        <a:cs typeface="Amiri" pitchFamily="2" charset="-78"/>
      </a:defRPr>
    </a:lvl2pPr>
    <a:lvl3pPr marL="914400" algn="l" defTabSz="914400" rtl="0" eaLnBrk="1" latinLnBrk="0" hangingPunct="1">
      <a:defRPr sz="1200" kern="1200">
        <a:solidFill>
          <a:schemeClr val="tx1"/>
        </a:solidFill>
        <a:latin typeface="+mn-lt"/>
        <a:cs typeface="Amiri" pitchFamily="2" charset="-78"/>
      </a:defRPr>
    </a:lvl3pPr>
    <a:lvl4pPr marL="1371600" algn="l" defTabSz="914400" rtl="0" eaLnBrk="1" latinLnBrk="0" hangingPunct="1">
      <a:defRPr sz="1200" kern="1200">
        <a:solidFill>
          <a:schemeClr val="tx1"/>
        </a:solidFill>
        <a:latin typeface="+mn-lt"/>
        <a:cs typeface="Amiri" pitchFamily="2" charset="-78"/>
      </a:defRPr>
    </a:lvl4pPr>
    <a:lvl5pPr marL="1828800" algn="l" defTabSz="914400" rtl="0" eaLnBrk="1" latinLnBrk="0" hangingPunct="1">
      <a:defRPr sz="1200" kern="1200">
        <a:solidFill>
          <a:schemeClr val="tx1"/>
        </a:solidFill>
        <a:latin typeface="+mn-lt"/>
        <a:cs typeface="Amiri" pitchFamily="2" charset="-78"/>
      </a:defRPr>
    </a:lvl5pPr>
    <a:lvl6pPr marL="2286000" algn="l" defTabSz="914400" rtl="0" eaLnBrk="1" latinLnBrk="0" hangingPunct="1">
      <a:defRPr sz="1200" kern="1200">
        <a:solidFill>
          <a:schemeClr val="tx1"/>
        </a:solidFill>
        <a:latin typeface="+mn-lt"/>
        <a:cs typeface="Amiri" pitchFamily="2" charset="-78"/>
      </a:defRPr>
    </a:lvl6pPr>
    <a:lvl7pPr marL="2743200" algn="l" defTabSz="914400" rtl="0" eaLnBrk="1" latinLnBrk="0" hangingPunct="1">
      <a:defRPr sz="1200" kern="1200">
        <a:solidFill>
          <a:schemeClr val="tx1"/>
        </a:solidFill>
        <a:latin typeface="+mn-lt"/>
        <a:cs typeface="Amiri" pitchFamily="2" charset="-78"/>
      </a:defRPr>
    </a:lvl7pPr>
    <a:lvl8pPr marL="3200400" algn="l" defTabSz="914400" rtl="0" eaLnBrk="1" latinLnBrk="0" hangingPunct="1">
      <a:defRPr sz="1200" kern="1200">
        <a:solidFill>
          <a:schemeClr val="tx1"/>
        </a:solidFill>
        <a:latin typeface="+mn-lt"/>
        <a:cs typeface="Amiri" pitchFamily="2" charset="-78"/>
      </a:defRPr>
    </a:lvl8pPr>
    <a:lvl9pPr marL="3657600" algn="l" defTabSz="914400" rtl="0" eaLnBrk="1" latinLnBrk="0" hangingPunct="1">
      <a:defRPr sz="1200" kern="1200">
        <a:solidFill>
          <a:schemeClr val="tx1"/>
        </a:solidFill>
        <a:latin typeface="+mn-lt"/>
        <a:cs typeface="Amiri" pitchFamily="2" charset="-78"/>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LESSON AT A GLANCE — planned for 56 minutes, leaving about 4 minutes for Teams delays.
0–1 Welcome · 1–2 Lesson map · 2–9 Do Now + answers · 9–10 Objectives · 10–17 Key words · 17–23 Grammar · 23–25 Quick check · 25–28 I Do · 28–37 We Do · 37–49 You Do (speaking 3 + writing 9, with live feedback) · 49–54 Feedback (model, self-check, exit ticket) · 54–56 Preparation for next lesson.
FLEX slides are optional. Use them if the class is moving quickly; otherwise the same activities are on the website for homework.
Content source: Miftah Arabic website, Pathways › Development › D1 Daily Routine and Time › D1-L04. The website lesson “Before and After — Sequencing My Day”: vocabulary, grammar rules and quiz, patterns, common mistakes, sorter, listening, reading, speaking prompts and model, writing task and model, differentiation, final check and the lesson mission. Picture match: website visual game “Before and After — Sequencing My Day”.
All vocabulary, grammar rules, quizzes, the listening script, the reading text, speaking prompts and model answers come from those pages, so students meet the same language in class and at home. Anything teacher-made (Core scaffolds, riddles, translations) is labelled in the notes.
SUPPORT FOR THIS CLASS (Arabic not yet secure; mixed levels):
• Core: ONE decision only — is the next word a NOUN (no أَنْ) or a VERB (use أَنْ)? Core students may write noun structures (قَبْلَ النَّوْمِ، بَعْدَ المَدْرَسَةِ) plus one learnt chunk: قَبْلَ أَنْ أَنَامَ.
• Develop: control the singular subjunctive (final ḍamma → fatḥa) in a paragraph. Stretch: the five verbs lose ن (تُكْمِلِينَ → أَنْ تُكْمِلِي).
• The ending is colour-coded pink on every grammar slide: students only need to watch the LAST letter.
• Recycling: frequency (D1-L03), time (D1-L02) and the D1-L01 routine verbs.
• Urdu bridge: قبل، بعد، فوراً، دوران / اثنا (اثناء)، آخر.
• Colour code (same as all Miftah lessons): WHO = blue, MEANING = purple, ENDING = pink, PATTERN = orange, KEY WORD = teal.
• SEND “automatic doors”: lesson map, chunked tasks, read-along scripts with English, cover-the-text reading and “pass” for reading aloud are built in for everyone, so no one is singled out.
ROUTES: Core (green) = students whose Arabic is not yet secure; Develop (amber) = on track; Stretch (red) = confident. Same objective for everyone — the task changes, not the goal (EAL Guide: adapt the task, not the objective).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WELCOME (1 min) — while students join.
• Greet each student by name as they arrive: السَّلَامُ عَلَيْكُمْ. Take the register (Pastoral Tracker: attendance 0/1).
• 2-MINUTE CHECK-IN (SEND training): a private chat to any student who seemed unsettled last lesson — “Are you okay today? 👍 / 👎”.
• Point to the four expectations — brief and positive: this is our class agreement.
• Talk code: “I will always give you thinking and practice time before I ask anyone.” Reading aloud is by invitation — a student may say “pass” and you return to them later.
• Follow-up on preparation: who learnt the five words? Quick private reminder to anyone who did not (Flipped Learning: follow up every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LESSON MAP (30 seconds) — SEND training: “absolute predictability”. Show the whole journey so students know what is coming and when they will be asked to speak or write. Point to the green box: using the Core supports is normal and expected (“automatic doors”).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DO NOW (5 min independent + 2 min going through answers).
Questions 1–2 test two of the five words prepared at home. Questions 3–5 retrieve D1-L03 (frequency, بَيْنَمَا) and D1-L02 (time).
• Students work silently. Answers go in the chat as five letters only when the timer ends.
• Core students may answer in English and use their book.
• While they work: register, note late joiners, note anyone not attempting (Self-Management).
• Go THROUGH the answers on the next slide — ask one student (after thinking time) to explain WHY for each.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GO THROUGH THE ANSWERS (2 min). Reveal and ask “why?” for each (● 10s think → named student, warned in advance).
Key idea for today (bottom-right card): قَبْلَ / بَعْدَ + a noun: nothing extra. قَبْلَ أَنْ / بَعْدَ أَنْ + a verb: the verb ending changes.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OBJECTIVES (1 min).
Left: the lesson objectives exactly as they appear on the website.
Right: the same objectives broken into three routes. Everyone starts with Core; most students reach Develop; confident students aim for Stretch. Students decide privately which route they are aiming for (● Think 10s) — revisit in Feedback.
The route statements turn the website objectives into this lesson’s concrete targets.
EAL: read the Core statements aloud, pointing to the Arabic as you say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KEY WORDS — HOW TO TEACH EACH GROUP (EAL pre-teaching routine, 7 min)
1. HEAR IT: say the word twice, clearly, with a gesture where possible.
2. SAY IT: choral repetition — “I say, you say” — then two volunteers.
3. SEE IT: point out the part of the word that carries today’s grammar (colour code).
4. USE IT: quick check — “Type the NUMBER of the word that means …” in the chat.
Transliteration is printed for Core students. Develop/Stretch students should cover it and read the Arabic.
FLEX groups are for fast classes or homework — every word is on the website vocabulary tab.
URDU BRIDGE: قبل / بعد are identical (قبل از، بعد میں). فوراً (immediately) → فَوْرَ أَنْ. اثنا (اس اثنا میں = meanwhile) → أَثْنَاءَ (during). نہایت is a FALSE FRIEND: Urdu “extremely”, Arabic النِّهَايَةُ = the end (فِي النِّهَايَةِ = in the end).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KEY WORDS — Sequence structures (website vocabulary (1 of 2)). Hear → Say → See → Use. Transliteration is printed for Core students (cover it for Develop/Stretch).
Sort as you teach: قَبْلَ أَنْ، بَعْدَ أَنْ، بِمُجَرَّدِ أَنْ، فَوْرَ أَنْ are followed by a VERB. أَثْنَاءَ is followed by a NOUN (أَثْنَاءَ الدَّرْسِ). عِنْدَمَا / حِينَ take an ordinary verb (no change).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KEY WORDS — Sequence structures (website vocabulary (2 of 2)). Hear → Say → See → Use. Transliteration is printed for Core students (cover it for Develop/Stretch).
Sort as you teach: قَبْلَ أَنْ، بَعْدَ أَنْ، بِمُجَرَّدِ أَنْ، فَوْرَ أَنْ are followed by a VERB. أَثْنَاءَ is followed by a NOUN (أَثْنَاءَ الدَّرْسِ). عِنْدَمَا / حِينَ take an ordinary verb (no change).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 Daily actions beyond the morning (website vocabulary (1 of 2)). Hear → Say → See → Use. Transliteration is printed for Core students (cover it for Develop/Stretch).
Card forms: “after an” shows the changed ending — point at the final fatḥa.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 Daily actions beyond the morning (website vocabulary (2 of 2)). Hear → Say → See → Use. Transliteration is printed for Core students (cover it for Develop/Stretch).
FLEX: teach if time allows; otherwise these are on the website vocabulary tab for homework.
Card forms: “after an” shows the changed ending — point at the final fatḥa.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 Frequency and amount (website vocabulary (1 of 2)). Hear → Say → See → Use. Transliteration is printed for Core students (cover it for Develop/Stretch).
FLEX: teach if time allows; otherwise these are on the website vocabulary tab for homework.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 Frequency and amount (website vocabulary (2 of 2)). Hear → Say → See → Use. Transliteration is printed for Core students (cover it for Develop/Stretch).
FLEX: teach if time allows; otherwise these are on the website vocabulary tab for homework.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GRAMMAR PART 1 — website rule “Use a noun after قَبْلَ / بَعْدَ without أَنْ” and the website comparison table.
Teacher script: “Before and after are easy with a NOUN. Only when a VERB follows do we need the little bridge أَنْ.”
Quick-fire: say a word (النَّوْمِ / أَنَامَ / المَدْرَسَةِ / أَخْرُجَ); students show a flat hand (noun) or two fingers (verb + أَنْ).
Website common error: قَبْلَ أَنْ الإِفْطَارِ ✗ → قَبْلَ الإِفْطَارِ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GRAMMAR PART 2 — website rules “Use قَبْلَ أَنْ for an action that happens first”, “Use بَعْدَ أَنْ for the completed first action”, “Remove final ن from the five verbs after أَنْ”.
Website overview: the verb after أَنْ is in the subjunctive: in singular verbs the final ḍamma becomes fatḥa; in the five verbs (ending ون / ان / ين) the ن disappears.
Teacher script: “أَنْ is a little magnet — it pulls the last vowel from u to a.” Say both columns aloud; students clap on the changed ending.
Website warning: قَبْلَ أَنْ أَخْرُجُ ✗ → قَبْلَ أَنْ أَخْرُجَ ✓. Note: عِنْدَمَا does NOT change the verb (عِنْدَمَا أَعُودُ).</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WEBSITE GRAMMAR RULES AND EXAMPLES (FLEX — revision or homework). Website overview: “When قَبْلَ or بَعْدَ introduces a second action, Arabic uses أَنْ followed by a present verb in the subjunctive. In many singular verbs the final ḍamma disappears; in the five verbs the final ن is removed. The subject may stay the same or change.”
• Use قَبْلَ أَنْ for an action that happens first: The verb after أَنْ is not an ordinary indicative present. Listen for and notice the changed ending.
• Use بَعْدَ أَنْ for the completed first action: The clause after بَعْدَ أَنْ names the action completed before the main action.
• Remove final ن from the five verbs after أَنْ: With forms ending ون / ان / ين, the nūn drops after أَنْ.
• Use a noun after قَبْلَ / بَعْدَ without أَنْ: أَنْ is only needed before a verb. Compare قَبْلَ الدَّرْسِ with قَبْلَ أَنْ يَبْدَأَ الدَّرْسُ.
Website common error: Do not write قَبْلَ أَنْ أَخْرُجُ. After أَنْ, write the subjunctive form: قَبْلَ أَنْ أَخْرُجَ.</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CHECK FOR UNDERSTANDING (2 min) — website grammar quiz questions 1, 2, 3, 4.
● Think 20s silently → everyone types four letters in chat together on “3-2-1-go”. “Show me” alternative: A/B/C fingers to camera (EAL: show, not tell).
Read the chat: if more than a quarter of the class misses a question, re-teach that rule with its grammar slide before moving on (Live feedback: correct misconceptions immediately).
Use the results to confirm routes for the You Do task.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each answer. Ask “Who can build on that?” (+) — a student explains why one wrong option is wrong.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DO (3 min) — website patterns 1–3 combined into a short afternoon, with a think-aloud. For each before/after, ask: “noun or verb?” Students copy it and circle every changed (pink) ending.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SENTENCES (1 min) — website patterns. Students copy TWO that are useful for them.
• Core: copy one and change one word. • Develop: copy two and change the subject. • Stretch: combine two into one longer sentence with a connector.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WE DO — the website’s interactive lesson game (“Visual game — Before and After — Sequencing My Day”) as a whole-class picture match (2 min). The sentences are the website game sentences; the pictures are icons standing in for the website images.
● 20s: look at each picture and find ONE key word you know in each sentence → type “1_ 2_ 3_” in the chat.
This is the most accessible task in the lesson — use it to build confidence before independent work. Core students read the sentence aloud after the answer is revealed (by invitation).
Website visual game (3 of 6). All six use a NOUN after قَبْلَ / بَعْدَ — perfect for Core. Ask: which action happens FIRST? Other cards for homework: بَعْدَ المَدْرَسَةِ، بَعْدَ العَشَاءِ، بَعْدَ الاِسْتِحْمَامِ.</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WE DO — the website’s interactive lesson game (“Visual game — Before and After — Sequencing My Day”) as a whole-class picture match (2 min). The sentences are the website game sentences; the pictures are icons standing in for the website images.
● 20s: look at each picture and find ONE key word you know in each sentence → type “1_ 2_ 3_” in the chat.
This is the most accessible task in the lesson — use it to build confidence before independent work. Core students read the sentence aloud after the answer is revealed (by invitation).
Website visual game (3 of 6). All six use a NOUN after قَبْلَ / بَعْدَ — perfect for Core. Ask: which action happens FIRST? Other cards for homework: بَعْدَ المَدْرَسَةِ، بَعْدَ العَشَاءِ، بَعْدَ الاِسْتِحْمَامِ.</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WE DO — website sorter (2 min). Website instruction: Decide whether the expression needs أَنْ.
Core support: point to الـ — every item with الـ is a noun.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WE DO — website sorter (2 min). Website instruction: Decide whether the expression needs أَنْ.
Core support: point to الـ — every item with الـ is a noun.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quiz questions 5, 6, 7, 8 (FLEX, 2 min). If time is short these are homework on the website.
“Show me” alternative: students hold up A/B/C fingers to camera.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the answers; link each to the grammar rule or vocabulary card it tests.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common mistakes (2 min).
● 20s think: find the mistake → ↔ 30s: agree with a partner (chat DM or whisper) → ◎ share.
Core prompts are printed on each card. Stretch: explain each fix with a grammar word.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common mistakes (2 min).
● 20s think: find the mistake → ↔ 30s: agree with a partner (chat DM or whisper) → ◎ share.
Core prompts are printed on each card. Stretch: explain each fix with a grammar word.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LISTENING (4 min) — website script. Read it aloud yourself, twice, at natural speed with pauses.
Before listening: students read the questions (● 30s). Core: questions 1, 3 and 5. Develop / Stretch: all 5.
Listen 1: just listen. Listen 2: note answers. Then chat the letters.
Support: after the second listening, show the read-along slide (Arabic + English, line by line) for Core students.
SCRIPT (read aloud):
بَعْدَ أَنْ أَعُودَ مِنَ المَدْرَسَةِ، أَتَنَاوَلُ وَجْبَةً خَفِيفَةً وَأَسْتَرِيحُ لِمُدَّةِ عِشْرِينَ دَقِيقَةً. ثُمَّ أُكْمِلُ وَاجِبِي قَبْلَ أَنْ أَفْتَحَ هَاتِفِي. يَوْمَيِ الاِثْنَيْنِ وَالخَمِيسِ أَتَمَرَّنُ فِي النَّادِي، أَيْ مَرَّتَيْنِ فِي الأُسْبُوعِ. أَمَّا فِي الأَيَّامِ الأُخْرَى فَأُسَاعِدُ أُسْرَتِي أَوْ أَقْرَأُ. قَبْلَ أَنْ أَنَامَ، أُحَضِّرُ مَلَابِسِي وَحَقِيبَتِي لِلْيَوْمِ التَّالِي، وَبِذٰلِكَ لَا أَضْطَرُّ إِلَى العَجَلَةِ صَبَاحًا.</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READ-ALONG (Core support) — show AFTER the second listening. The Arabic is the website script, line by line; the English is a teacher translation.
Read it once more while Core students follow. Annotate the words that gave each answer.
Stretch: cover the English column and translate one line aloud.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answers. For each, ask “Which Arabic words gave you the answer?” — the evidence line is under each card.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SPEAKING REHEARSAL (3 min) — website speaking prompts (the Core prompt is teacher-made). No breakout rooms (saves setup time).
Sequence: ● 10s think → ↔ 45s everyone rehearses their answer aloud with mic muted → ◎ pairs on open mic: name two students (warned in advance); A asks, B answers; the rest of the class types one follow-up question in chat (+ / ?) → ↺ one student summarises the answer they heard.
Routes: Core uses the Core prompt and stem; Develop the Develop prompts; Stretch the last prompt.
Model (website) at the bottom — read it with a confident student first. The website model continues:
Core prompt (teacher-made) uses nouns only: “What do you do after school? And before sleep?” Develop/Stretch prompts are the website prompts. Website model answer on the slide: accurate subjunctive (أَنَامَ، أَسْتَيْقِظَ) and a reason.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YOU DO (9 min writing). Steer routes using the Do Now and quick-check results.
Website differentiation tasks: Core — Use noun structures such as بَعْدَ المَدْرَسَةِ and one verb structure. · Develop — Control the singular subjunctive after أَنْ in a connected paragraph. · Stretch — Use plural/feminine five-verb forms and explain the grammar choice.
Website writing task (Stretch): Write 100–120 words sequencing your school day from waking to sleeping. Use قَبْلَ أَنْ and بَعْدَ أَنْ accurately.
LIVE FEEDBACK: students post their first two sentences in the chat (or OneNote) after 3 minutes. Scan and correct misconceptions immediately — use private chat for individual corrections (Behaviour: quiet, individual).
Work with the less able: stay with Core students for the first 3 minutes; Develop/Stretch continue independently. SEND: chunk the Core task — “two sentences, then show me”.
Extension (fast finishers): the reading on the Extension slides. Pastoral: Self-Management point for students who work without prompting.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Keep on screen during writing — Core students complete the frames on the right; Develop students use the frames on the left.
Frames and word bank use only this lesson’s website language (EAL: sentence frame + word bank scaffold; same objective, adapted task).
EAL Band A–B students: complete three frames, then copy and adapt one model sentence.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Stretch students work from this slide. Checklist = website writing checklist; phrase bank = phrases from the website model, reading text and listening script. Live feedback for Stretch: check the target structures appear and are accurate.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FEEDBACK (1 min) — website model answer, with an English translation for Core students.
Students find in the model (● 20s → ◎) the four items on the chips. Evidence: أَنْ أَعُودَ · أَنْ أَسْتَعْمِلَ · أَنْ نَذْهَبَ · أَنْ أُقَلِّلَ · بَعْدَ العَشَاءِ (noun) · مَرَّتَيْنِ فِي الأُسْبُوعِ · بَيْنَمَا / وَلٰكِنَّ.
Then each student chooses ONE thing from the model to add to their own writing (specific, actionable feedback on the success criteria).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SELF-CHECK (1 min) against the website success criteria. Students tick privately, then type one WWW and one EBI in the chat (English is fine).
Teacher: one whole-class feedback point from live feedback. Pastoral: Curiosity &amp; Growth for honest reflection and a harder target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EXIT TICKET (2 min) — 3 of the website’s 6 end-of-lesson questions (“Final self-marking check”). The rest are on the website for homework.
Anyone scoring low → Core route next lesson and a check-in during the Do Now. Record Pastoral Tracker points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reveal. Students self-mark and type their score out of 3 in the chat.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EXTENSION — website reading text. For fast finishers during You Do, or Stretch homework. “You don’t need every word; find the words the question asks about.”
The green key-words panel is a teacher-made glossary so Develop students can also attempt it.
SEND reading strategy (Toolkit 1): cover the text with a piece of paper and uncover one sentence at a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Reading questions from the website. The detective steps follow the SEND “modular reading” strategy: read one part at a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from the website, with the evidence for each.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WEBSITE LESSON MISSION (FLEX) — fast finishers or homework.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PREPARATION — flipped learning (2 min to explain).
Next lesson (D1-L05 · After School and Evening Routine) will spend class time USING this language, so students prepare it tonight — short, simple, easy to access (school guidance: “Simple, Short, Interesting, Relevant, Easy to access”). The five words come from the website D1-L05 vocabulary (after school, evening routine, duration).
Follow-up: the next Do Now tests two of these words (Flipped Learning: keep it short AND follow up).
Homework by route (website tasks). No internet? Students copy the five words from this slide into their book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 thank students, dismiss calmly. After the lesson: complete the Pastoral Tracker (attendance, character, self-management, curiosity; demerits only for the five listed concerns). Note any student below 2/3 on the exit ticket for a Do Now check-in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cs typeface="Amiri" pitchFamily="2" charset="-78"/>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cs typeface="Amiri" pitchFamily="2" charset="-78"/>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cs typeface="Amiri" pitchFamily="2" charset="-78"/>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cs typeface="Amiri" pitchFamily="2" charset="-78"/>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9pPr>
    </p:bodyStyle>
    <p:otherStyle>
      <a:defPPr>
        <a:defRPr lang="en-US"/>
      </a:defPPr>
      <a:lvl1pPr marL="0" algn="l" defTabSz="914400" rtl="0" eaLnBrk="1" latinLnBrk="0" hangingPunct="1">
        <a:defRPr sz="1800" kern="1200">
          <a:solidFill>
            <a:schemeClr val="tx1"/>
          </a:solidFill>
          <a:latin typeface="+mn-lt"/>
          <a:cs typeface="Amiri" pitchFamily="2" charset="-78"/>
        </a:defRPr>
      </a:lvl1pPr>
      <a:lvl2pPr marL="457200" algn="l" defTabSz="914400" rtl="0" eaLnBrk="1" latinLnBrk="0" hangingPunct="1">
        <a:defRPr sz="1800" kern="1200">
          <a:solidFill>
            <a:schemeClr val="tx1"/>
          </a:solidFill>
          <a:latin typeface="+mn-lt"/>
          <a:cs typeface="Amiri" pitchFamily="2" charset="-78"/>
        </a:defRPr>
      </a:lvl2pPr>
      <a:lvl3pPr marL="914400" algn="l" defTabSz="914400" rtl="0" eaLnBrk="1" latinLnBrk="0" hangingPunct="1">
        <a:defRPr sz="1800" kern="1200">
          <a:solidFill>
            <a:schemeClr val="tx1"/>
          </a:solidFill>
          <a:latin typeface="+mn-lt"/>
          <a:cs typeface="Amiri" pitchFamily="2" charset="-78"/>
        </a:defRPr>
      </a:lvl3pPr>
      <a:lvl4pPr marL="1371600" algn="l" defTabSz="914400" rtl="0" eaLnBrk="1" latinLnBrk="0" hangingPunct="1">
        <a:defRPr sz="1800" kern="1200">
          <a:solidFill>
            <a:schemeClr val="tx1"/>
          </a:solidFill>
          <a:latin typeface="+mn-lt"/>
          <a:cs typeface="Amiri" pitchFamily="2" charset="-78"/>
        </a:defRPr>
      </a:lvl4pPr>
      <a:lvl5pPr marL="1828800" algn="l" defTabSz="914400" rtl="0" eaLnBrk="1" latinLnBrk="0" hangingPunct="1">
        <a:defRPr sz="1800" kern="1200">
          <a:solidFill>
            <a:schemeClr val="tx1"/>
          </a:solidFill>
          <a:latin typeface="+mn-lt"/>
          <a:cs typeface="Amiri" pitchFamily="2" charset="-78"/>
        </a:defRPr>
      </a:lvl5pPr>
      <a:lvl6pPr marL="2286000" algn="l" defTabSz="914400" rtl="0" eaLnBrk="1" latinLnBrk="0" hangingPunct="1">
        <a:defRPr sz="1800" kern="1200">
          <a:solidFill>
            <a:schemeClr val="tx1"/>
          </a:solidFill>
          <a:latin typeface="+mn-lt"/>
          <a:cs typeface="Amiri" pitchFamily="2" charset="-78"/>
        </a:defRPr>
      </a:lvl6pPr>
      <a:lvl7pPr marL="2743200" algn="l" defTabSz="914400" rtl="0" eaLnBrk="1" latinLnBrk="0" hangingPunct="1">
        <a:defRPr sz="1800" kern="1200">
          <a:solidFill>
            <a:schemeClr val="tx1"/>
          </a:solidFill>
          <a:latin typeface="+mn-lt"/>
          <a:cs typeface="Amiri" pitchFamily="2" charset="-78"/>
        </a:defRPr>
      </a:lvl7pPr>
      <a:lvl8pPr marL="3200400" algn="l" defTabSz="914400" rtl="0" eaLnBrk="1" latinLnBrk="0" hangingPunct="1">
        <a:defRPr sz="1800" kern="1200">
          <a:solidFill>
            <a:schemeClr val="tx1"/>
          </a:solidFill>
          <a:latin typeface="+mn-lt"/>
          <a:cs typeface="Amiri" pitchFamily="2" charset="-78"/>
        </a:defRPr>
      </a:lvl8pPr>
      <a:lvl9pPr marL="3657600" algn="l" defTabSz="914400" rtl="0" eaLnBrk="1" latinLnBrk="0" hangingPunct="1">
        <a:defRPr sz="1800" kern="1200">
          <a:solidFill>
            <a:schemeClr val="tx1"/>
          </a:solidFill>
          <a:latin typeface="+mn-lt"/>
          <a:cs typeface="Amiri" pitchFamily="2" charset="-78"/>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1.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image" Target="../media/image-21-2.png"/><Relationship Id="rId3" Type="http://schemas.openxmlformats.org/officeDocument/2006/relationships/image" Target="../media/image-21-3.png"/><Relationship Id="rId4" Type="http://schemas.openxmlformats.org/officeDocument/2006/relationships/image" Target="../media/image-21-4.png"/><Relationship Id="rId5" Type="http://schemas.openxmlformats.org/officeDocument/2006/relationships/image" Target="../media/image-21-5.png"/><Relationship Id="rId6" Type="http://schemas.openxmlformats.org/officeDocument/2006/relationships/image" Target="../media/image-21-6.png"/><Relationship Id="rId7" Type="http://schemas.openxmlformats.org/officeDocument/2006/relationships/slideLayout" Target="../slideLayouts/slideLayout1.xml"/><Relationship Id="rId8"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image" Target="../media/image-22-2.png"/><Relationship Id="rId3" Type="http://schemas.openxmlformats.org/officeDocument/2006/relationships/image" Target="../media/image-22-3.png"/><Relationship Id="rId4" Type="http://schemas.openxmlformats.org/officeDocument/2006/relationships/image" Target="../media/image-22-4.png"/><Relationship Id="rId5" Type="http://schemas.openxmlformats.org/officeDocument/2006/relationships/image" Target="../media/image-22-5.png"/><Relationship Id="rId6" Type="http://schemas.openxmlformats.org/officeDocument/2006/relationships/image" Target="../media/image-22-6.png"/><Relationship Id="rId7" Type="http://schemas.openxmlformats.org/officeDocument/2006/relationships/slideLayout" Target="../slideLayouts/slideLayout1.xml"/><Relationship Id="rId8"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png"/><Relationship Id="rId2" Type="http://schemas.openxmlformats.org/officeDocument/2006/relationships/slideLayout" Target="../slideLayouts/slideLayout1.xml"/><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46-1.png"/><Relationship Id="rId2" Type="http://schemas.openxmlformats.org/officeDocument/2006/relationships/slideLayout" Target="../slideLayouts/slideLayout1.xml"/><Relationship Id="rId3" Type="http://schemas.openxmlformats.org/officeDocument/2006/relationships/notesSlide" Target="../notesSlides/notesSlide4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463040"/>
            <a:ext cx="5852160" cy="5852160"/>
          </a:xfrm>
          <a:prstGeom prst="ellipse">
            <a:avLst/>
          </a:prstGeom>
          <a:solidFill>
            <a:srgbClr val="14315C"/>
          </a:solidFill>
          <a:ln w="12700">
            <a:solidFill>
              <a:srgbClr val="14315C"/>
            </a:solidFill>
            <a:prstDash val="solid"/>
          </a:ln>
        </p:spPr>
      </p:sp>
      <p:sp>
        <p:nvSpPr>
          <p:cNvPr id="3" name="Shape 1"/>
          <p:cNvSpPr/>
          <p:nvPr/>
        </p:nvSpPr>
        <p:spPr>
          <a:xfrm>
            <a:off x="8778240" y="-548640"/>
            <a:ext cx="4023360" cy="4023360"/>
          </a:xfrm>
          <a:prstGeom prst="ellipse">
            <a:avLst/>
          </a:prstGeom>
          <a:solidFill>
            <a:srgbClr val="1B3B6F"/>
          </a:solidFill>
          <a:ln w="12700">
            <a:solidFill>
              <a:srgbClr val="1B3B6F"/>
            </a:solidFill>
            <a:prstDash val="solid"/>
          </a:ln>
        </p:spPr>
      </p:sp>
      <p:pic>
        <p:nvPicPr>
          <p:cNvPr id="4" name="Image 0" descr="preencoded.png">    </p:cNvPr>
          <p:cNvPicPr>
            <a:picLocks noChangeAspect="1"/>
          </p:cNvPicPr>
          <p:nvPr/>
        </p:nvPicPr>
        <p:blipFill>
          <a:blip r:embed="rId1"/>
          <a:stretch>
            <a:fillRect/>
          </a:stretch>
        </p:blipFill>
        <p:spPr>
          <a:xfrm>
            <a:off x="10012680" y="685800"/>
            <a:ext cx="1554480" cy="1554480"/>
          </a:xfrm>
          <a:prstGeom prst="rect">
            <a:avLst/>
          </a:prstGeom>
        </p:spPr>
      </p:pic>
      <p:sp>
        <p:nvSpPr>
          <p:cNvPr id="5" name="Shape 2"/>
          <p:cNvSpPr/>
          <p:nvPr/>
        </p:nvSpPr>
        <p:spPr>
          <a:xfrm>
            <a:off x="457200" y="411480"/>
            <a:ext cx="502920" cy="502920"/>
          </a:xfrm>
          <a:prstGeom prst="ellipse">
            <a:avLst/>
          </a:prstGeom>
          <a:solidFill>
            <a:srgbClr val="1B3B6F"/>
          </a:solidFill>
          <a:ln w="15875">
            <a:solidFill>
              <a:srgbClr val="D4AF37"/>
            </a:solidFill>
            <a:prstDash val="solid"/>
          </a:ln>
        </p:spPr>
      </p:sp>
      <p:sp>
        <p:nvSpPr>
          <p:cNvPr id="6" name="Text 3"/>
          <p:cNvSpPr txBox="1"/>
          <p:nvPr/>
        </p:nvSpPr>
        <p:spPr>
          <a:xfrm>
            <a:off x="457200" y="393192"/>
            <a:ext cx="502920" cy="502920"/>
          </a:xfrm>
          <a:prstGeom prst="rect">
            <a:avLst/>
          </a:prstGeom>
          <a:noFill/>
          <a:ln/>
        </p:spPr>
        <p:txBody>
          <a:bodyPr wrap="square" lIns="0" tIns="0" rIns="0" bIns="0" rtlCol="0" anchor="ctr"/>
          <a:lstStyle/>
          <a:p>
            <a:pPr rtl="1" algn="ctr" indent="0" marL="0">
              <a:buNone/>
            </a:pPr>
            <a:r>
              <a:rPr lang="ar-SA" altLang="en-US" sz="2200" b="1" dirty="0">
                <a:solidFill>
                  <a:srgbClr val="D4AF37"/>
                </a:solidFill>
                <a:latin typeface="Amiri" pitchFamily="2" charset="-78"/>
                <a:ea typeface="Amiri" pitchFamily="2" charset="-78"/>
                <a:cs typeface="Amiri" pitchFamily="2" charset="-78"/>
              </a:rPr>
              <a:t>م</a:t>
            </a:r>
            <a:endParaRPr lang="ar-SA" sz="2200" dirty="0"/>
          </a:p>
        </p:txBody>
      </p:sp>
      <p:sp>
        <p:nvSpPr>
          <p:cNvPr id="7" name="Text 4"/>
          <p:cNvSpPr txBox="1"/>
          <p:nvPr/>
        </p:nvSpPr>
        <p:spPr>
          <a:xfrm>
            <a:off x="1078992" y="384048"/>
            <a:ext cx="5486400" cy="566928"/>
          </a:xfrm>
          <a:prstGeom prst="rect">
            <a:avLst/>
          </a:prstGeom>
          <a:noFill/>
          <a:ln/>
        </p:spPr>
        <p:txBody>
          <a:bodyPr wrap="square" lIns="0" tIns="0" rIns="0" bIns="0" rtlCol="0" anchor="ctr"/>
          <a:lstStyle/>
          <a:p>
            <a:pPr indent="0" marL="0">
              <a:buNone/>
            </a:pPr>
            <a:r>
              <a:rPr lang="en-US" sz="1400" b="1" dirty="0">
                <a:solidFill>
                  <a:srgbClr val="FFFFFF"/>
                </a:solidFill>
                <a:latin typeface="Cambria" pitchFamily="34" charset="0"/>
                <a:cs typeface="Amiri" pitchFamily="2" charset="-78"/>
              </a:rPr>
              <a:t>Al Madina Online School</a:t>
            </a:r>
            <a:endParaRPr lang="en-US" sz="1400" dirty="0"/>
          </a:p>
          <a:p>
            <a:pPr indent="0" marL="0">
              <a:buNone/>
            </a:pPr>
            <a:r>
              <a:rPr lang="en-US" sz="800" b="1" spc="200" kern="0" dirty="0">
                <a:solidFill>
                  <a:srgbClr val="D4AF37"/>
                </a:solidFill>
                <a:latin typeface="Calibri" pitchFamily="34" charset="0"/>
                <a:cs typeface="Amiri" pitchFamily="2" charset="-78"/>
              </a:rPr>
              <a:t>ARABIC DEPARTMENT · MIFTAH ARABIC</a:t>
            </a:r>
            <a:endParaRPr lang="en-US" sz="1400" dirty="0"/>
          </a:p>
        </p:txBody>
      </p:sp>
      <p:sp>
        <p:nvSpPr>
          <p:cNvPr id="8" name="Text 5"/>
          <p:cNvSpPr txBox="1"/>
          <p:nvPr/>
        </p:nvSpPr>
        <p:spPr>
          <a:xfrm>
            <a:off x="457200" y="1600200"/>
            <a:ext cx="8686800" cy="274320"/>
          </a:xfrm>
          <a:prstGeom prst="rect">
            <a:avLst/>
          </a:prstGeom>
          <a:noFill/>
          <a:ln/>
        </p:spPr>
        <p:txBody>
          <a:bodyPr wrap="square" lIns="0" tIns="0" rIns="0" bIns="0" rtlCol="0" anchor="ctr"/>
          <a:lstStyle/>
          <a:p>
            <a:pPr algn="l" indent="0" marL="0">
              <a:buNone/>
            </a:pPr>
            <a:r>
              <a:rPr lang="en-US" sz="1100" b="1" spc="200" kern="0" dirty="0">
                <a:solidFill>
                  <a:srgbClr val="D4AF37"/>
                </a:solidFill>
                <a:latin typeface="Calibri" pitchFamily="34" charset="0"/>
                <a:cs typeface="Amiri" pitchFamily="2" charset="-78"/>
              </a:rPr>
              <a:t>CAMBRIDGE IGCSE ARABIC 0544  ·  YEAR 8  ·  DEVELOPMENT D1  ·  D1-L04</a:t>
            </a:r>
            <a:endParaRPr lang="en-US" sz="1100" dirty="0"/>
          </a:p>
        </p:txBody>
      </p:sp>
      <p:sp>
        <p:nvSpPr>
          <p:cNvPr id="9" name="Text 6"/>
          <p:cNvSpPr txBox="1"/>
          <p:nvPr/>
        </p:nvSpPr>
        <p:spPr>
          <a:xfrm>
            <a:off x="457200" y="1965960"/>
            <a:ext cx="7315200" cy="548640"/>
          </a:xfrm>
          <a:prstGeom prst="rect">
            <a:avLst/>
          </a:prstGeom>
          <a:noFill/>
          <a:ln/>
        </p:spPr>
        <p:txBody>
          <a:bodyPr wrap="square" lIns="0" tIns="0" rIns="0" bIns="0" rtlCol="0" anchor="ctr"/>
          <a:lstStyle/>
          <a:p>
            <a:pPr algn="l" indent="0" marL="0">
              <a:buNone/>
            </a:pPr>
            <a:r>
              <a:rPr lang="en-US" sz="2600" b="1" dirty="0">
                <a:solidFill>
                  <a:srgbClr val="9FB3D1"/>
                </a:solidFill>
                <a:latin typeface="Cambria" pitchFamily="34" charset="0"/>
                <a:cs typeface="Amiri" pitchFamily="2" charset="-78"/>
              </a:rPr>
              <a:t>D1-L04</a:t>
            </a:r>
            <a:endParaRPr lang="en-US" sz="2600" dirty="0"/>
          </a:p>
        </p:txBody>
      </p:sp>
      <p:sp>
        <p:nvSpPr>
          <p:cNvPr id="10" name="Text 7"/>
          <p:cNvSpPr txBox="1"/>
          <p:nvPr/>
        </p:nvSpPr>
        <p:spPr>
          <a:xfrm>
            <a:off x="457200" y="2487168"/>
            <a:ext cx="8046720" cy="868680"/>
          </a:xfrm>
          <a:prstGeom prst="rect">
            <a:avLst/>
          </a:prstGeom>
          <a:noFill/>
          <a:ln/>
        </p:spPr>
        <p:txBody>
          <a:bodyPr wrap="square" lIns="0" tIns="0" rIns="0" bIns="0" rtlCol="0" anchor="ctr"/>
          <a:lstStyle/>
          <a:p>
            <a:pPr algn="l" indent="0" marL="0">
              <a:buNone/>
            </a:pPr>
            <a:r>
              <a:rPr lang="en-US" sz="2850" b="1" dirty="0">
                <a:solidFill>
                  <a:srgbClr val="FFFFFF"/>
                </a:solidFill>
                <a:latin typeface="Cambria" pitchFamily="34" charset="0"/>
                <a:cs typeface="Amiri" pitchFamily="2" charset="-78"/>
              </a:rPr>
              <a:t>Before and After — Sequencing My Day</a:t>
            </a:r>
            <a:endParaRPr lang="en-US" sz="2850" dirty="0"/>
          </a:p>
        </p:txBody>
      </p:sp>
      <p:sp>
        <p:nvSpPr>
          <p:cNvPr id="11" name="Text 8"/>
          <p:cNvSpPr txBox="1"/>
          <p:nvPr/>
        </p:nvSpPr>
        <p:spPr>
          <a:xfrm>
            <a:off x="457200" y="3310128"/>
            <a:ext cx="8046720" cy="868680"/>
          </a:xfrm>
          <a:prstGeom prst="rect">
            <a:avLst/>
          </a:prstGeom>
          <a:noFill/>
          <a:ln/>
        </p:spPr>
        <p:txBody>
          <a:bodyPr wrap="square" lIns="0" tIns="0" rIns="0" bIns="0" rtlCol="0" anchor="ctr"/>
          <a:lstStyle/>
          <a:p>
            <a:pPr rtl="1" algn="l" indent="0" marL="0">
              <a:buNone/>
            </a:pPr>
            <a:r>
              <a:rPr lang="ar-SA" altLang="en-US" sz="3600" b="1" dirty="0">
                <a:solidFill>
                  <a:srgbClr val="D4AF37"/>
                </a:solidFill>
                <a:latin typeface="Amiri" pitchFamily="2" charset="-78"/>
                <a:ea typeface="Amiri" pitchFamily="2" charset="-78"/>
                <a:cs typeface="Amiri" pitchFamily="2" charset="-78"/>
              </a:rPr>
              <a:t>قَبْلَ وَبَعْدَ — تَرْتِيبُ يَوْمِي</a:t>
            </a:r>
            <a:endParaRPr lang="ar-SA" sz="3600" dirty="0"/>
          </a:p>
        </p:txBody>
      </p:sp>
      <p:sp>
        <p:nvSpPr>
          <p:cNvPr id="12" name="Text 9"/>
          <p:cNvSpPr txBox="1"/>
          <p:nvPr/>
        </p:nvSpPr>
        <p:spPr>
          <a:xfrm>
            <a:off x="457200" y="4224528"/>
            <a:ext cx="7863840" cy="731520"/>
          </a:xfrm>
          <a:prstGeom prst="rect">
            <a:avLst/>
          </a:prstGeom>
          <a:noFill/>
          <a:ln/>
        </p:spPr>
        <p:txBody>
          <a:bodyPr wrap="square" lIns="0" tIns="0" rIns="0" bIns="0" rtlCol="0" anchor="t"/>
          <a:lstStyle/>
          <a:p>
            <a:pPr algn="l" indent="0" marL="0">
              <a:buNone/>
            </a:pPr>
            <a:r>
              <a:rPr lang="en-US" sz="1400" dirty="0">
                <a:solidFill>
                  <a:srgbClr val="C6D2E6"/>
                </a:solidFill>
                <a:latin typeface="Calibri" pitchFamily="34" charset="0"/>
                <a:cs typeface="Amiri" pitchFamily="2" charset="-78"/>
              </a:rPr>
              <a:t>Sequence a whole day with </a:t>
            </a:r>
            <a:pPr algn="l" indent="0" marL="0">
              <a:buNone/>
            </a:pPr>
            <a:r>
              <a:rPr lang="ar-SA" altLang="en-US" sz="1800" dirty="0">
                <a:solidFill>
                  <a:srgbClr val="C6D2E6"/>
                </a:solidFill>
                <a:latin typeface="Amiri" pitchFamily="2" charset="-78"/>
                <a:ea typeface="Amiri" pitchFamily="2" charset="-78"/>
                <a:cs typeface="Amiri" pitchFamily="2" charset="-78"/>
              </a:rPr>
              <a:t>قَبْلَ / بَعْدَ</a:t>
            </a:r>
            <a:pPr algn="l" indent="0" marL="0">
              <a:buNone/>
            </a:pPr>
            <a:r>
              <a:rPr lang="en-US" sz="1400" dirty="0">
                <a:solidFill>
                  <a:srgbClr val="C6D2E6"/>
                </a:solidFill>
                <a:latin typeface="Calibri" pitchFamily="34" charset="0"/>
                <a:cs typeface="Amiri" pitchFamily="2" charset="-78"/>
              </a:rPr>
              <a:t> + noun and </a:t>
            </a:r>
            <a:pPr algn="l" indent="0" marL="0">
              <a:buNone/>
            </a:pPr>
            <a:r>
              <a:rPr lang="ar-SA" altLang="en-US" sz="1800" dirty="0">
                <a:solidFill>
                  <a:srgbClr val="C6D2E6"/>
                </a:solidFill>
                <a:latin typeface="Amiri" pitchFamily="2" charset="-78"/>
                <a:ea typeface="Amiri" pitchFamily="2" charset="-78"/>
                <a:cs typeface="Amiri" pitchFamily="2" charset="-78"/>
              </a:rPr>
              <a:t>قَبْلَ أَنْ / بَعْدَ أَنْ</a:t>
            </a:r>
            <a:pPr algn="l" indent="0" marL="0">
              <a:buNone/>
            </a:pPr>
            <a:r>
              <a:rPr lang="en-US" sz="1400" dirty="0">
                <a:solidFill>
                  <a:srgbClr val="C6D2E6"/>
                </a:solidFill>
                <a:latin typeface="Calibri" pitchFamily="34" charset="0"/>
                <a:cs typeface="Amiri" pitchFamily="2" charset="-78"/>
              </a:rPr>
              <a:t> + verb, and notice the verb ending that changes after </a:t>
            </a:r>
            <a:pPr algn="l" indent="0" marL="0">
              <a:buNone/>
            </a:pPr>
            <a:r>
              <a:rPr lang="ar-SA" altLang="en-US" sz="1800" dirty="0">
                <a:solidFill>
                  <a:srgbClr val="C6D2E6"/>
                </a:solidFill>
                <a:latin typeface="Amiri" pitchFamily="2" charset="-78"/>
                <a:ea typeface="Amiri" pitchFamily="2" charset="-78"/>
                <a:cs typeface="Amiri" pitchFamily="2" charset="-78"/>
              </a:rPr>
              <a:t>أَنْ</a:t>
            </a:r>
            <a:pPr algn="l" indent="0" marL="0">
              <a:buNone/>
            </a:pPr>
            <a:r>
              <a:rPr lang="en-US" sz="1400" dirty="0">
                <a:solidFill>
                  <a:srgbClr val="C6D2E6"/>
                </a:solidFill>
                <a:latin typeface="Calibri" pitchFamily="34" charset="0"/>
                <a:cs typeface="Amiri" pitchFamily="2" charset="-78"/>
              </a:rPr>
              <a:t>.</a:t>
            </a:r>
            <a:endParaRPr lang="en-US" sz="1400" dirty="0"/>
          </a:p>
        </p:txBody>
      </p:sp>
      <p:sp>
        <p:nvSpPr>
          <p:cNvPr id="13" name="Shape 10"/>
          <p:cNvSpPr/>
          <p:nvPr/>
        </p:nvSpPr>
        <p:spPr>
          <a:xfrm>
            <a:off x="457200" y="5166360"/>
            <a:ext cx="2651760" cy="868680"/>
          </a:xfrm>
          <a:prstGeom prst="roundRect">
            <a:avLst>
              <a:gd name="adj" fmla="val 8421"/>
            </a:avLst>
          </a:prstGeom>
          <a:solidFill>
            <a:srgbClr val="16335F"/>
          </a:solidFill>
          <a:ln w="12700">
            <a:solidFill>
              <a:srgbClr val="2A4B7C"/>
            </a:solidFill>
            <a:prstDash val="solid"/>
          </a:ln>
        </p:spPr>
      </p:sp>
      <p:sp>
        <p:nvSpPr>
          <p:cNvPr id="14" name="Text 11"/>
          <p:cNvSpPr txBox="1"/>
          <p:nvPr/>
        </p:nvSpPr>
        <p:spPr>
          <a:xfrm>
            <a:off x="621792"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LESSON</a:t>
            </a:r>
            <a:endParaRPr lang="en-US" sz="850" dirty="0"/>
          </a:p>
          <a:p>
            <a:pPr indent="0" marL="0">
              <a:buNone/>
            </a:pPr>
            <a:r>
              <a:rPr lang="en-US" sz="1200" b="1" dirty="0">
                <a:solidFill>
                  <a:srgbClr val="FFFFFF"/>
                </a:solidFill>
                <a:latin typeface="Calibri" pitchFamily="34" charset="0"/>
                <a:cs typeface="Amiri" pitchFamily="2" charset="-78"/>
              </a:rPr>
              <a:t>D1-L04 · Development D1 · Daily Routine and Time</a:t>
            </a:r>
            <a:endParaRPr lang="en-US" sz="850" dirty="0"/>
          </a:p>
        </p:txBody>
      </p:sp>
      <p:sp>
        <p:nvSpPr>
          <p:cNvPr id="15" name="Shape 12"/>
          <p:cNvSpPr/>
          <p:nvPr/>
        </p:nvSpPr>
        <p:spPr>
          <a:xfrm>
            <a:off x="3273552" y="5166360"/>
            <a:ext cx="2651760" cy="868680"/>
          </a:xfrm>
          <a:prstGeom prst="roundRect">
            <a:avLst>
              <a:gd name="adj" fmla="val 8421"/>
            </a:avLst>
          </a:prstGeom>
          <a:solidFill>
            <a:srgbClr val="16335F"/>
          </a:solidFill>
          <a:ln w="12700">
            <a:solidFill>
              <a:srgbClr val="2A4B7C"/>
            </a:solidFill>
            <a:prstDash val="solid"/>
          </a:ln>
        </p:spPr>
      </p:sp>
      <p:sp>
        <p:nvSpPr>
          <p:cNvPr id="16" name="Text 13"/>
          <p:cNvSpPr txBox="1"/>
          <p:nvPr/>
        </p:nvSpPr>
        <p:spPr>
          <a:xfrm>
            <a:off x="3438144"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DURATION</a:t>
            </a:r>
            <a:endParaRPr lang="en-US" sz="850" dirty="0"/>
          </a:p>
          <a:p>
            <a:pPr indent="0" marL="0">
              <a:buNone/>
            </a:pPr>
            <a:r>
              <a:rPr lang="en-US" sz="1200" b="1" dirty="0">
                <a:solidFill>
                  <a:srgbClr val="FFFFFF"/>
                </a:solidFill>
                <a:latin typeface="Calibri" pitchFamily="34" charset="0"/>
                <a:cs typeface="Amiri" pitchFamily="2" charset="-78"/>
              </a:rPr>
              <a:t>60 minutes · Teams</a:t>
            </a:r>
            <a:endParaRPr lang="en-US" sz="850" dirty="0"/>
          </a:p>
        </p:txBody>
      </p:sp>
      <p:sp>
        <p:nvSpPr>
          <p:cNvPr id="17" name="Shape 14"/>
          <p:cNvSpPr/>
          <p:nvPr/>
        </p:nvSpPr>
        <p:spPr>
          <a:xfrm>
            <a:off x="6089904" y="5166360"/>
            <a:ext cx="2651760" cy="868680"/>
          </a:xfrm>
          <a:prstGeom prst="roundRect">
            <a:avLst>
              <a:gd name="adj" fmla="val 8421"/>
            </a:avLst>
          </a:prstGeom>
          <a:solidFill>
            <a:srgbClr val="16335F"/>
          </a:solidFill>
          <a:ln w="12700">
            <a:solidFill>
              <a:srgbClr val="2A4B7C"/>
            </a:solidFill>
            <a:prstDash val="solid"/>
          </a:ln>
        </p:spPr>
      </p:sp>
      <p:sp>
        <p:nvSpPr>
          <p:cNvPr id="18" name="Text 15"/>
          <p:cNvSpPr txBox="1"/>
          <p:nvPr/>
        </p:nvSpPr>
        <p:spPr>
          <a:xfrm>
            <a:off x="6254496"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LEVEL</a:t>
            </a:r>
            <a:endParaRPr lang="en-US" sz="850" dirty="0"/>
          </a:p>
          <a:p>
            <a:pPr indent="0" marL="0">
              <a:buNone/>
            </a:pPr>
            <a:r>
              <a:rPr lang="en-US" sz="1200" b="1" dirty="0">
                <a:solidFill>
                  <a:srgbClr val="FFFFFF"/>
                </a:solidFill>
                <a:latin typeface="Calibri" pitchFamily="34" charset="0"/>
                <a:cs typeface="Amiri" pitchFamily="2" charset="-78"/>
              </a:rPr>
              <a:t>Development · A2 → B1</a:t>
            </a:r>
            <a:endParaRPr lang="en-US" sz="850" dirty="0"/>
          </a:p>
        </p:txBody>
      </p:sp>
      <p:sp>
        <p:nvSpPr>
          <p:cNvPr id="19" name="Shape 16"/>
          <p:cNvSpPr/>
          <p:nvPr/>
        </p:nvSpPr>
        <p:spPr>
          <a:xfrm>
            <a:off x="8906256" y="5166360"/>
            <a:ext cx="2651760" cy="868680"/>
          </a:xfrm>
          <a:prstGeom prst="roundRect">
            <a:avLst>
              <a:gd name="adj" fmla="val 8421"/>
            </a:avLst>
          </a:prstGeom>
          <a:solidFill>
            <a:srgbClr val="16335F"/>
          </a:solidFill>
          <a:ln w="12700">
            <a:solidFill>
              <a:srgbClr val="2A4B7C"/>
            </a:solidFill>
            <a:prstDash val="solid"/>
          </a:ln>
        </p:spPr>
      </p:sp>
      <p:sp>
        <p:nvSpPr>
          <p:cNvPr id="20" name="Text 17"/>
          <p:cNvSpPr txBox="1"/>
          <p:nvPr/>
        </p:nvSpPr>
        <p:spPr>
          <a:xfrm>
            <a:off x="9070848"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ON THE WEBSITE</a:t>
            </a:r>
            <a:endParaRPr lang="en-US" sz="850" dirty="0"/>
          </a:p>
          <a:p>
            <a:pPr indent="0" marL="0">
              <a:buNone/>
            </a:pPr>
            <a:r>
              <a:rPr lang="en-US" sz="1200" b="1" dirty="0">
                <a:solidFill>
                  <a:srgbClr val="FFFFFF"/>
                </a:solidFill>
                <a:latin typeface="Calibri" pitchFamily="34" charset="0"/>
                <a:cs typeface="Amiri" pitchFamily="2" charset="-78"/>
              </a:rPr>
              <a:t>Pathways › Development › D1 › D1-L04</a:t>
            </a:r>
            <a:endParaRPr lang="en-US" sz="8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D1-L04 · Before and After</a:t>
            </a:r>
            <a:endParaRPr lang="en-US" sz="950" dirty="0"/>
          </a:p>
        </p:txBody>
      </p:sp>
      <p:sp>
        <p:nvSpPr>
          <p:cNvPr id="8" name="Shape 6"/>
          <p:cNvSpPr/>
          <p:nvPr/>
        </p:nvSpPr>
        <p:spPr>
          <a:xfrm>
            <a:off x="7219188" y="274320"/>
            <a:ext cx="1540764"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BEFORE WE BEGIN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Our online classroom</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آدَابُ الصَّفِّ</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D1 · Daily Routine and Time · D1-L04</a:t>
            </a:r>
            <a:endParaRPr lang="en-US" sz="850" dirty="0"/>
          </a:p>
        </p:txBody>
      </p:sp>
      <p:sp>
        <p:nvSpPr>
          <p:cNvPr id="15" name="Shape 12"/>
          <p:cNvSpPr/>
          <p:nvPr/>
        </p:nvSpPr>
        <p:spPr>
          <a:xfrm>
            <a:off x="457200" y="1828800"/>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2002536"/>
            <a:ext cx="585216" cy="585216"/>
          </a:xfrm>
          <a:prstGeom prst="ellipse">
            <a:avLst/>
          </a:prstGeom>
          <a:solidFill>
            <a:srgbClr val="EEF3FA"/>
          </a:solidFill>
          <a:ln w="12700">
            <a:solidFill>
              <a:srgbClr val="EEF3FA"/>
            </a:solidFill>
            <a:prstDash val="solid"/>
          </a:ln>
        </p:spPr>
      </p:sp>
      <p:pic>
        <p:nvPicPr>
          <p:cNvPr id="17" name="Image 0" descr="preencoded.png">    </p:cNvPr>
          <p:cNvPicPr>
            <a:picLocks noChangeAspect="1"/>
          </p:cNvPicPr>
          <p:nvPr/>
        </p:nvPicPr>
        <p:blipFill>
          <a:blip r:embed="rId1"/>
          <a:stretch>
            <a:fillRect/>
          </a:stretch>
        </p:blipFill>
        <p:spPr>
          <a:xfrm>
            <a:off x="777240" y="2139696"/>
            <a:ext cx="310896" cy="310896"/>
          </a:xfrm>
          <a:prstGeom prst="rect">
            <a:avLst/>
          </a:prstGeom>
        </p:spPr>
      </p:pic>
      <p:sp>
        <p:nvSpPr>
          <p:cNvPr id="18" name="Text 14"/>
          <p:cNvSpPr txBox="1"/>
          <p:nvPr/>
        </p:nvSpPr>
        <p:spPr>
          <a:xfrm>
            <a:off x="1371600" y="1901952"/>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Camera on</a:t>
            </a:r>
            <a:endParaRPr lang="en-US" sz="1500" dirty="0"/>
          </a:p>
          <a:p>
            <a:pPr indent="0" marL="0">
              <a:buNone/>
            </a:pPr>
            <a:r>
              <a:rPr lang="en-US" sz="1150" dirty="0">
                <a:solidFill>
                  <a:srgbClr val="5A6472"/>
                </a:solidFill>
                <a:latin typeface="Calibri" pitchFamily="34" charset="0"/>
                <a:cs typeface="Amiri" pitchFamily="2" charset="-78"/>
              </a:rPr>
              <a:t>So I can see you learning and help you quickly.</a:t>
            </a:r>
            <a:endParaRPr lang="en-US" sz="1500" dirty="0"/>
          </a:p>
        </p:txBody>
      </p:sp>
      <p:sp>
        <p:nvSpPr>
          <p:cNvPr id="19" name="Shape 15"/>
          <p:cNvSpPr/>
          <p:nvPr/>
        </p:nvSpPr>
        <p:spPr>
          <a:xfrm>
            <a:off x="457200" y="2907792"/>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0" name="Shape 16"/>
          <p:cNvSpPr/>
          <p:nvPr/>
        </p:nvSpPr>
        <p:spPr>
          <a:xfrm>
            <a:off x="640080" y="3081528"/>
            <a:ext cx="585216" cy="585216"/>
          </a:xfrm>
          <a:prstGeom prst="ellipse">
            <a:avLst/>
          </a:prstGeom>
          <a:solidFill>
            <a:srgbClr val="EEF3FA"/>
          </a:solidFill>
          <a:ln w="12700">
            <a:solidFill>
              <a:srgbClr val="EEF3FA"/>
            </a:solidFill>
            <a:prstDash val="solid"/>
          </a:ln>
        </p:spPr>
      </p:sp>
      <p:pic>
        <p:nvPicPr>
          <p:cNvPr id="21" name="Image 1" descr="preencoded.png">    </p:cNvPr>
          <p:cNvPicPr>
            <a:picLocks noChangeAspect="1"/>
          </p:cNvPicPr>
          <p:nvPr/>
        </p:nvPicPr>
        <p:blipFill>
          <a:blip r:embed="rId2"/>
          <a:stretch>
            <a:fillRect/>
          </a:stretch>
        </p:blipFill>
        <p:spPr>
          <a:xfrm>
            <a:off x="777240" y="3218688"/>
            <a:ext cx="310896" cy="310896"/>
          </a:xfrm>
          <a:prstGeom prst="rect">
            <a:avLst/>
          </a:prstGeom>
        </p:spPr>
      </p:pic>
      <p:sp>
        <p:nvSpPr>
          <p:cNvPr id="22" name="Text 17"/>
          <p:cNvSpPr txBox="1"/>
          <p:nvPr/>
        </p:nvSpPr>
        <p:spPr>
          <a:xfrm>
            <a:off x="1371600" y="2980944"/>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Mic muted</a:t>
            </a:r>
            <a:endParaRPr lang="en-US" sz="1500" dirty="0"/>
          </a:p>
          <a:p>
            <a:pPr indent="0" marL="0">
              <a:buNone/>
            </a:pPr>
            <a:r>
              <a:rPr lang="en-US" sz="1150" dirty="0">
                <a:solidFill>
                  <a:srgbClr val="5A6472"/>
                </a:solidFill>
                <a:latin typeface="Calibri" pitchFamily="34" charset="0"/>
                <a:cs typeface="Amiri" pitchFamily="2" charset="-78"/>
              </a:rPr>
              <a:t>Unmute only when invited to speak.</a:t>
            </a:r>
            <a:endParaRPr lang="en-US" sz="1500" dirty="0"/>
          </a:p>
        </p:txBody>
      </p:sp>
      <p:sp>
        <p:nvSpPr>
          <p:cNvPr id="23" name="Shape 18"/>
          <p:cNvSpPr/>
          <p:nvPr/>
        </p:nvSpPr>
        <p:spPr>
          <a:xfrm>
            <a:off x="457200" y="3986784"/>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19"/>
          <p:cNvSpPr/>
          <p:nvPr/>
        </p:nvSpPr>
        <p:spPr>
          <a:xfrm>
            <a:off x="640080" y="4160520"/>
            <a:ext cx="585216" cy="585216"/>
          </a:xfrm>
          <a:prstGeom prst="ellipse">
            <a:avLst/>
          </a:prstGeom>
          <a:solidFill>
            <a:srgbClr val="EEF3FA"/>
          </a:solidFill>
          <a:ln w="12700">
            <a:solidFill>
              <a:srgbClr val="EEF3FA"/>
            </a:solidFill>
            <a:prstDash val="solid"/>
          </a:ln>
        </p:spPr>
      </p:sp>
      <p:pic>
        <p:nvPicPr>
          <p:cNvPr id="25" name="Image 2" descr="preencoded.png">    </p:cNvPr>
          <p:cNvPicPr>
            <a:picLocks noChangeAspect="1"/>
          </p:cNvPicPr>
          <p:nvPr/>
        </p:nvPicPr>
        <p:blipFill>
          <a:blip r:embed="rId3"/>
          <a:stretch>
            <a:fillRect/>
          </a:stretch>
        </p:blipFill>
        <p:spPr>
          <a:xfrm>
            <a:off x="777240" y="4297680"/>
            <a:ext cx="310896" cy="310896"/>
          </a:xfrm>
          <a:prstGeom prst="rect">
            <a:avLst/>
          </a:prstGeom>
        </p:spPr>
      </p:pic>
      <p:sp>
        <p:nvSpPr>
          <p:cNvPr id="26" name="Text 20"/>
          <p:cNvSpPr txBox="1"/>
          <p:nvPr/>
        </p:nvSpPr>
        <p:spPr>
          <a:xfrm>
            <a:off x="1371600" y="4059936"/>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Chat for learning</a:t>
            </a:r>
            <a:endParaRPr lang="en-US" sz="1500" dirty="0"/>
          </a:p>
          <a:p>
            <a:pPr indent="0" marL="0">
              <a:buNone/>
            </a:pPr>
            <a:r>
              <a:rPr lang="en-US" sz="1150" dirty="0">
                <a:solidFill>
                  <a:srgbClr val="5A6472"/>
                </a:solidFill>
                <a:latin typeface="Calibri" pitchFamily="34" charset="0"/>
                <a:cs typeface="Amiri" pitchFamily="2" charset="-78"/>
              </a:rPr>
              <a:t>Answers, questions and Arabic only.</a:t>
            </a:r>
            <a:endParaRPr lang="en-US" sz="1500" dirty="0"/>
          </a:p>
        </p:txBody>
      </p:sp>
      <p:sp>
        <p:nvSpPr>
          <p:cNvPr id="27" name="Shape 21"/>
          <p:cNvSpPr/>
          <p:nvPr/>
        </p:nvSpPr>
        <p:spPr>
          <a:xfrm>
            <a:off x="457200" y="5065776"/>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2"/>
          <p:cNvSpPr/>
          <p:nvPr/>
        </p:nvSpPr>
        <p:spPr>
          <a:xfrm>
            <a:off x="640080" y="5239512"/>
            <a:ext cx="585216" cy="585216"/>
          </a:xfrm>
          <a:prstGeom prst="ellipse">
            <a:avLst/>
          </a:prstGeom>
          <a:solidFill>
            <a:srgbClr val="EEF3FA"/>
          </a:solidFill>
          <a:ln w="12700">
            <a:solidFill>
              <a:srgbClr val="EEF3FA"/>
            </a:solidFill>
            <a:prstDash val="solid"/>
          </a:ln>
        </p:spPr>
      </p:sp>
      <p:pic>
        <p:nvPicPr>
          <p:cNvPr id="29" name="Image 3" descr="preencoded.png">    </p:cNvPr>
          <p:cNvPicPr>
            <a:picLocks noChangeAspect="1"/>
          </p:cNvPicPr>
          <p:nvPr/>
        </p:nvPicPr>
        <p:blipFill>
          <a:blip r:embed="rId4"/>
          <a:stretch>
            <a:fillRect/>
          </a:stretch>
        </p:blipFill>
        <p:spPr>
          <a:xfrm>
            <a:off x="777240" y="5376672"/>
            <a:ext cx="310896" cy="310896"/>
          </a:xfrm>
          <a:prstGeom prst="rect">
            <a:avLst/>
          </a:prstGeom>
        </p:spPr>
      </p:pic>
      <p:sp>
        <p:nvSpPr>
          <p:cNvPr id="30" name="Text 23"/>
          <p:cNvSpPr txBox="1"/>
          <p:nvPr/>
        </p:nvSpPr>
        <p:spPr>
          <a:xfrm>
            <a:off x="1371600" y="5138928"/>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Raise your hand</a:t>
            </a:r>
            <a:endParaRPr lang="en-US" sz="1500" dirty="0"/>
          </a:p>
          <a:p>
            <a:pPr indent="0" marL="0">
              <a:buNone/>
            </a:pPr>
            <a:r>
              <a:rPr lang="en-US" sz="1150" dirty="0">
                <a:solidFill>
                  <a:srgbClr val="5A6472"/>
                </a:solidFill>
                <a:latin typeface="Calibri" pitchFamily="34" charset="0"/>
                <a:cs typeface="Amiri" pitchFamily="2" charset="-78"/>
              </a:rPr>
              <a:t>Use the hand button to ask for help.</a:t>
            </a:r>
            <a:endParaRPr lang="en-US" sz="1500" dirty="0"/>
          </a:p>
        </p:txBody>
      </p:sp>
      <p:sp>
        <p:nvSpPr>
          <p:cNvPr id="31" name="Shape 24"/>
          <p:cNvSpPr/>
          <p:nvPr/>
        </p:nvSpPr>
        <p:spPr>
          <a:xfrm>
            <a:off x="6172200" y="1828800"/>
            <a:ext cx="5559552" cy="4169664"/>
          </a:xfrm>
          <a:prstGeom prst="roundRect">
            <a:avLst>
              <a:gd name="adj" fmla="val 1754"/>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32" name="Text 25"/>
          <p:cNvSpPr txBox="1"/>
          <p:nvPr/>
        </p:nvSpPr>
        <p:spPr>
          <a:xfrm>
            <a:off x="6400800" y="1938528"/>
            <a:ext cx="5102352" cy="310896"/>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cs typeface="Amiri" pitchFamily="2" charset="-78"/>
              </a:rPr>
              <a:t>HOW WE TALK — THE ORACY CODE</a:t>
            </a:r>
            <a:endParaRPr lang="en-US" sz="1100" dirty="0"/>
          </a:p>
        </p:txBody>
      </p:sp>
      <p:sp>
        <p:nvSpPr>
          <p:cNvPr id="33" name="Shape 26"/>
          <p:cNvSpPr/>
          <p:nvPr/>
        </p:nvSpPr>
        <p:spPr>
          <a:xfrm>
            <a:off x="6400800" y="2450592"/>
            <a:ext cx="548640" cy="548640"/>
          </a:xfrm>
          <a:prstGeom prst="ellipse">
            <a:avLst/>
          </a:prstGeom>
          <a:solidFill>
            <a:srgbClr val="1B3B6F"/>
          </a:solidFill>
          <a:ln w="12700">
            <a:solidFill>
              <a:srgbClr val="1B3B6F"/>
            </a:solidFill>
            <a:prstDash val="solid"/>
          </a:ln>
        </p:spPr>
      </p:sp>
      <p:sp>
        <p:nvSpPr>
          <p:cNvPr id="34" name="Text 27"/>
          <p:cNvSpPr txBox="1"/>
          <p:nvPr/>
        </p:nvSpPr>
        <p:spPr>
          <a:xfrm>
            <a:off x="6400800"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5" name="Text 28"/>
          <p:cNvSpPr txBox="1"/>
          <p:nvPr/>
        </p:nvSpPr>
        <p:spPr>
          <a:xfrm>
            <a:off x="7059168"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Think</a:t>
            </a:r>
            <a:endParaRPr lang="en-US" sz="1400" dirty="0"/>
          </a:p>
          <a:p>
            <a:pPr indent="0" marL="0">
              <a:buNone/>
            </a:pPr>
            <a:r>
              <a:rPr lang="en-US" sz="1100" dirty="0">
                <a:solidFill>
                  <a:srgbClr val="5A6472"/>
                </a:solidFill>
                <a:latin typeface="Calibri" pitchFamily="34" charset="0"/>
                <a:cs typeface="Amiri" pitchFamily="2" charset="-78"/>
              </a:rPr>
              <a:t>silent preparation</a:t>
            </a:r>
            <a:endParaRPr lang="en-US" sz="1400" dirty="0"/>
          </a:p>
        </p:txBody>
      </p:sp>
      <p:sp>
        <p:nvSpPr>
          <p:cNvPr id="36" name="Shape 29"/>
          <p:cNvSpPr/>
          <p:nvPr/>
        </p:nvSpPr>
        <p:spPr>
          <a:xfrm>
            <a:off x="8997696" y="2450592"/>
            <a:ext cx="548640" cy="548640"/>
          </a:xfrm>
          <a:prstGeom prst="ellipse">
            <a:avLst/>
          </a:prstGeom>
          <a:solidFill>
            <a:srgbClr val="1B3B6F"/>
          </a:solidFill>
          <a:ln w="12700">
            <a:solidFill>
              <a:srgbClr val="1B3B6F"/>
            </a:solidFill>
            <a:prstDash val="solid"/>
          </a:ln>
        </p:spPr>
      </p:sp>
      <p:sp>
        <p:nvSpPr>
          <p:cNvPr id="37" name="Text 30"/>
          <p:cNvSpPr txBox="1"/>
          <p:nvPr/>
        </p:nvSpPr>
        <p:spPr>
          <a:xfrm>
            <a:off x="8997696"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8" name="Text 31"/>
          <p:cNvSpPr txBox="1"/>
          <p:nvPr/>
        </p:nvSpPr>
        <p:spPr>
          <a:xfrm>
            <a:off x="9656064"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Rehearse</a:t>
            </a:r>
            <a:endParaRPr lang="en-US" sz="1400" dirty="0"/>
          </a:p>
          <a:p>
            <a:pPr indent="0" marL="0">
              <a:buNone/>
            </a:pPr>
            <a:r>
              <a:rPr lang="en-US" sz="1100" dirty="0">
                <a:solidFill>
                  <a:srgbClr val="5A6472"/>
                </a:solidFill>
                <a:latin typeface="Calibri" pitchFamily="34" charset="0"/>
                <a:cs typeface="Amiri" pitchFamily="2" charset="-78"/>
              </a:rPr>
              <a:t>both partners speak</a:t>
            </a:r>
            <a:endParaRPr lang="en-US" sz="1400" dirty="0"/>
          </a:p>
        </p:txBody>
      </p:sp>
      <p:sp>
        <p:nvSpPr>
          <p:cNvPr id="39" name="Shape 32"/>
          <p:cNvSpPr/>
          <p:nvPr/>
        </p:nvSpPr>
        <p:spPr>
          <a:xfrm>
            <a:off x="6400800" y="3364992"/>
            <a:ext cx="548640" cy="548640"/>
          </a:xfrm>
          <a:prstGeom prst="ellipse">
            <a:avLst/>
          </a:prstGeom>
          <a:solidFill>
            <a:srgbClr val="1B3B6F"/>
          </a:solidFill>
          <a:ln w="12700">
            <a:solidFill>
              <a:srgbClr val="1B3B6F"/>
            </a:solidFill>
            <a:prstDash val="solid"/>
          </a:ln>
        </p:spPr>
      </p:sp>
      <p:sp>
        <p:nvSpPr>
          <p:cNvPr id="40" name="Text 33"/>
          <p:cNvSpPr txBox="1"/>
          <p:nvPr/>
        </p:nvSpPr>
        <p:spPr>
          <a:xfrm>
            <a:off x="6400800"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1" name="Text 34"/>
          <p:cNvSpPr txBox="1"/>
          <p:nvPr/>
        </p:nvSpPr>
        <p:spPr>
          <a:xfrm>
            <a:off x="7059168"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Build</a:t>
            </a:r>
            <a:endParaRPr lang="en-US" sz="1400" dirty="0"/>
          </a:p>
          <a:p>
            <a:pPr indent="0" marL="0">
              <a:buNone/>
            </a:pPr>
            <a:r>
              <a:rPr lang="en-US" sz="1100" dirty="0">
                <a:solidFill>
                  <a:srgbClr val="5A6472"/>
                </a:solidFill>
                <a:latin typeface="Calibri" pitchFamily="34" charset="0"/>
                <a:cs typeface="Amiri" pitchFamily="2" charset="-78"/>
              </a:rPr>
              <a:t>add a reason or detail</a:t>
            </a:r>
            <a:endParaRPr lang="en-US" sz="1400" dirty="0"/>
          </a:p>
        </p:txBody>
      </p:sp>
      <p:sp>
        <p:nvSpPr>
          <p:cNvPr id="42" name="Shape 35"/>
          <p:cNvSpPr/>
          <p:nvPr/>
        </p:nvSpPr>
        <p:spPr>
          <a:xfrm>
            <a:off x="8997696" y="3364992"/>
            <a:ext cx="548640" cy="548640"/>
          </a:xfrm>
          <a:prstGeom prst="ellipse">
            <a:avLst/>
          </a:prstGeom>
          <a:solidFill>
            <a:srgbClr val="1B3B6F"/>
          </a:solidFill>
          <a:ln w="12700">
            <a:solidFill>
              <a:srgbClr val="1B3B6F"/>
            </a:solidFill>
            <a:prstDash val="solid"/>
          </a:ln>
        </p:spPr>
      </p:sp>
      <p:sp>
        <p:nvSpPr>
          <p:cNvPr id="43" name="Text 36"/>
          <p:cNvSpPr txBox="1"/>
          <p:nvPr/>
        </p:nvSpPr>
        <p:spPr>
          <a:xfrm>
            <a:off x="8997696"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4" name="Text 37"/>
          <p:cNvSpPr txBox="1"/>
          <p:nvPr/>
        </p:nvSpPr>
        <p:spPr>
          <a:xfrm>
            <a:off x="9656064"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Challenge</a:t>
            </a:r>
            <a:endParaRPr lang="en-US" sz="1400" dirty="0"/>
          </a:p>
          <a:p>
            <a:pPr indent="0" marL="0">
              <a:buNone/>
            </a:pPr>
            <a:r>
              <a:rPr lang="en-US" sz="1100" dirty="0">
                <a:solidFill>
                  <a:srgbClr val="5A6472"/>
                </a:solidFill>
                <a:latin typeface="Calibri" pitchFamily="34" charset="0"/>
                <a:cs typeface="Amiri" pitchFamily="2" charset="-78"/>
              </a:rPr>
              <a:t>question respectfully</a:t>
            </a:r>
            <a:endParaRPr lang="en-US" sz="1400" dirty="0"/>
          </a:p>
        </p:txBody>
      </p:sp>
      <p:sp>
        <p:nvSpPr>
          <p:cNvPr id="45" name="Shape 38"/>
          <p:cNvSpPr/>
          <p:nvPr/>
        </p:nvSpPr>
        <p:spPr>
          <a:xfrm>
            <a:off x="6400800" y="4279392"/>
            <a:ext cx="548640" cy="548640"/>
          </a:xfrm>
          <a:prstGeom prst="ellipse">
            <a:avLst/>
          </a:prstGeom>
          <a:solidFill>
            <a:srgbClr val="1B3B6F"/>
          </a:solidFill>
          <a:ln w="12700">
            <a:solidFill>
              <a:srgbClr val="1B3B6F"/>
            </a:solidFill>
            <a:prstDash val="solid"/>
          </a:ln>
        </p:spPr>
      </p:sp>
      <p:sp>
        <p:nvSpPr>
          <p:cNvPr id="46" name="Text 39"/>
          <p:cNvSpPr txBox="1"/>
          <p:nvPr/>
        </p:nvSpPr>
        <p:spPr>
          <a:xfrm>
            <a:off x="6400800"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7" name="Text 40"/>
          <p:cNvSpPr txBox="1"/>
          <p:nvPr/>
        </p:nvSpPr>
        <p:spPr>
          <a:xfrm>
            <a:off x="7059168"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Share</a:t>
            </a:r>
            <a:endParaRPr lang="en-US" sz="1400" dirty="0"/>
          </a:p>
          <a:p>
            <a:pPr indent="0" marL="0">
              <a:buNone/>
            </a:pPr>
            <a:r>
              <a:rPr lang="en-US" sz="1100" dirty="0">
                <a:solidFill>
                  <a:srgbClr val="5A6472"/>
                </a:solidFill>
                <a:latin typeface="Calibri" pitchFamily="34" charset="0"/>
                <a:cs typeface="Amiri" pitchFamily="2" charset="-78"/>
              </a:rPr>
              <a:t>anyone may be invited</a:t>
            </a:r>
            <a:endParaRPr lang="en-US" sz="1400" dirty="0"/>
          </a:p>
        </p:txBody>
      </p:sp>
      <p:sp>
        <p:nvSpPr>
          <p:cNvPr id="48" name="Shape 41"/>
          <p:cNvSpPr/>
          <p:nvPr/>
        </p:nvSpPr>
        <p:spPr>
          <a:xfrm>
            <a:off x="8997696" y="4279392"/>
            <a:ext cx="548640" cy="548640"/>
          </a:xfrm>
          <a:prstGeom prst="ellipse">
            <a:avLst/>
          </a:prstGeom>
          <a:solidFill>
            <a:srgbClr val="1B3B6F"/>
          </a:solidFill>
          <a:ln w="12700">
            <a:solidFill>
              <a:srgbClr val="1B3B6F"/>
            </a:solidFill>
            <a:prstDash val="solid"/>
          </a:ln>
        </p:spPr>
      </p:sp>
      <p:sp>
        <p:nvSpPr>
          <p:cNvPr id="49" name="Text 42"/>
          <p:cNvSpPr txBox="1"/>
          <p:nvPr/>
        </p:nvSpPr>
        <p:spPr>
          <a:xfrm>
            <a:off x="8997696"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50" name="Text 43"/>
          <p:cNvSpPr txBox="1"/>
          <p:nvPr/>
        </p:nvSpPr>
        <p:spPr>
          <a:xfrm>
            <a:off x="9656064"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Summarise</a:t>
            </a:r>
            <a:endParaRPr lang="en-US" sz="1400" dirty="0"/>
          </a:p>
          <a:p>
            <a:pPr indent="0" marL="0">
              <a:buNone/>
            </a:pPr>
            <a:r>
              <a:rPr lang="en-US" sz="1100" dirty="0">
                <a:solidFill>
                  <a:srgbClr val="5A6472"/>
                </a:solidFill>
                <a:latin typeface="Calibri" pitchFamily="34" charset="0"/>
                <a:cs typeface="Amiri" pitchFamily="2" charset="-78"/>
              </a:rPr>
              <a:t>say it more precisely</a:t>
            </a:r>
            <a:endParaRPr lang="en-US" sz="1400" dirty="0"/>
          </a:p>
        </p:txBody>
      </p:sp>
      <p:sp>
        <p:nvSpPr>
          <p:cNvPr id="51" name="Text 44"/>
          <p:cNvSpPr txBox="1"/>
          <p:nvPr/>
        </p:nvSpPr>
        <p:spPr>
          <a:xfrm>
            <a:off x="6400800" y="5230368"/>
            <a:ext cx="5102352" cy="694944"/>
          </a:xfrm>
          <a:prstGeom prst="rect">
            <a:avLst/>
          </a:prstGeom>
          <a:noFill/>
          <a:ln/>
        </p:spPr>
        <p:txBody>
          <a:bodyPr wrap="square" lIns="0" tIns="0" rIns="0" bIns="0" rtlCol="0" anchor="ctr"/>
          <a:lstStyle/>
          <a:p>
            <a:pPr algn="l" indent="0" marL="0">
              <a:buNone/>
            </a:pPr>
            <a:r>
              <a:rPr lang="en-US" sz="1150" i="1" dirty="0">
                <a:solidFill>
                  <a:srgbClr val="8A6D1E"/>
                </a:solidFill>
                <a:latin typeface="Calibri" pitchFamily="34" charset="0"/>
                <a:cs typeface="Amiri" pitchFamily="2" charset="-78"/>
              </a:rPr>
              <a:t>I will always give you thinking and practice time before I ask anyone. Reading aloud is by invitation — you can always say “pass, please come back to me”.</a:t>
            </a:r>
            <a:endParaRPr lang="en-US" sz="1150" dirty="0"/>
          </a:p>
        </p:txBody>
      </p:sp>
      <p:sp>
        <p:nvSpPr>
          <p:cNvPr id="52"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 / 46</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D1-L04 · Before and After</a:t>
            </a:r>
            <a:endParaRPr lang="en-US" sz="950" dirty="0"/>
          </a:p>
        </p:txBody>
      </p:sp>
      <p:sp>
        <p:nvSpPr>
          <p:cNvPr id="8" name="Shape 6"/>
          <p:cNvSpPr/>
          <p:nvPr/>
        </p:nvSpPr>
        <p:spPr>
          <a:xfrm>
            <a:off x="7388352" y="274320"/>
            <a:ext cx="1371600"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TODAY’S LESSON MAP</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Our lesson today, step by step</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خَرِيطَةُ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D1 · Daily Routine and Time · D1-L04</a:t>
            </a:r>
            <a:endParaRPr lang="en-US" sz="850" dirty="0"/>
          </a:p>
        </p:txBody>
      </p:sp>
      <p:sp>
        <p:nvSpPr>
          <p:cNvPr id="15" name="Shape 12"/>
          <p:cNvSpPr/>
          <p:nvPr/>
        </p:nvSpPr>
        <p:spPr>
          <a:xfrm>
            <a:off x="457200"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66928" y="1938528"/>
            <a:ext cx="1281466" cy="566928"/>
          </a:xfrm>
          <a:prstGeom prst="roundRect">
            <a:avLst>
              <a:gd name="adj" fmla="val 9677"/>
            </a:avLst>
          </a:prstGeom>
          <a:solidFill>
            <a:srgbClr val="0E7C86"/>
          </a:solidFill>
          <a:ln w="12700">
            <a:solidFill>
              <a:srgbClr val="0E7C86"/>
            </a:solidFill>
            <a:prstDash val="solid"/>
          </a:ln>
        </p:spPr>
      </p:sp>
      <p:sp>
        <p:nvSpPr>
          <p:cNvPr id="17" name="Text 14"/>
          <p:cNvSpPr txBox="1"/>
          <p:nvPr/>
        </p:nvSpPr>
        <p:spPr>
          <a:xfrm>
            <a:off x="603504"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DO NOW</a:t>
            </a:r>
            <a:endParaRPr lang="en-US" sz="1000" dirty="0"/>
          </a:p>
        </p:txBody>
      </p:sp>
      <p:sp>
        <p:nvSpPr>
          <p:cNvPr id="18" name="Text 15"/>
          <p:cNvSpPr txBox="1"/>
          <p:nvPr/>
        </p:nvSpPr>
        <p:spPr>
          <a:xfrm>
            <a:off x="603504"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7 min</a:t>
            </a:r>
            <a:endParaRPr lang="en-US" sz="1000" dirty="0"/>
          </a:p>
        </p:txBody>
      </p:sp>
      <p:sp>
        <p:nvSpPr>
          <p:cNvPr id="19" name="Shape 16"/>
          <p:cNvSpPr/>
          <p:nvPr/>
        </p:nvSpPr>
        <p:spPr>
          <a:xfrm>
            <a:off x="1006493" y="2651760"/>
            <a:ext cx="402336" cy="402336"/>
          </a:xfrm>
          <a:prstGeom prst="ellipse">
            <a:avLst/>
          </a:prstGeom>
          <a:solidFill>
            <a:srgbClr val="F4F1EA"/>
          </a:solidFill>
          <a:ln w="12700">
            <a:solidFill>
              <a:srgbClr val="F4F1EA"/>
            </a:solidFill>
            <a:prstDash val="solid"/>
          </a:ln>
        </p:spPr>
      </p:sp>
      <p:sp>
        <p:nvSpPr>
          <p:cNvPr id="20" name="Text 17"/>
          <p:cNvSpPr txBox="1"/>
          <p:nvPr/>
        </p:nvSpPr>
        <p:spPr>
          <a:xfrm>
            <a:off x="1006493"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1</a:t>
            </a:r>
            <a:endParaRPr lang="en-US" sz="1300" dirty="0"/>
          </a:p>
        </p:txBody>
      </p:sp>
      <p:sp>
        <p:nvSpPr>
          <p:cNvPr id="21" name="Text 18"/>
          <p:cNvSpPr txBox="1"/>
          <p:nvPr/>
        </p:nvSpPr>
        <p:spPr>
          <a:xfrm>
            <a:off x="585216"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Retrieval quiz on your own, then we check together.</a:t>
            </a:r>
            <a:endParaRPr lang="en-US" sz="1200" dirty="0"/>
          </a:p>
        </p:txBody>
      </p:sp>
      <p:sp>
        <p:nvSpPr>
          <p:cNvPr id="22" name="Text 19"/>
          <p:cNvSpPr txBox="1"/>
          <p:nvPr/>
        </p:nvSpPr>
        <p:spPr>
          <a:xfrm>
            <a:off x="548640"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0E7C86"/>
                </a:solidFill>
                <a:latin typeface="Amiri" pitchFamily="2" charset="-78"/>
                <a:ea typeface="Amiri" pitchFamily="2" charset="-78"/>
                <a:cs typeface="Amiri" pitchFamily="2" charset="-78"/>
              </a:rPr>
              <a:t>اِبْدَأِ الآنَ</a:t>
            </a:r>
            <a:endParaRPr lang="ar-SA" sz="1500" dirty="0"/>
          </a:p>
        </p:txBody>
      </p:sp>
      <p:sp>
        <p:nvSpPr>
          <p:cNvPr id="23" name="Shape 20"/>
          <p:cNvSpPr/>
          <p:nvPr/>
        </p:nvSpPr>
        <p:spPr>
          <a:xfrm>
            <a:off x="2086138"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2195866" y="1938528"/>
            <a:ext cx="1281466" cy="566928"/>
          </a:xfrm>
          <a:prstGeom prst="roundRect">
            <a:avLst>
              <a:gd name="adj" fmla="val 9677"/>
            </a:avLst>
          </a:prstGeom>
          <a:solidFill>
            <a:srgbClr val="1B3B6F"/>
          </a:solidFill>
          <a:ln w="12700">
            <a:solidFill>
              <a:srgbClr val="1B3B6F"/>
            </a:solidFill>
            <a:prstDash val="solid"/>
          </a:ln>
        </p:spPr>
      </p:sp>
      <p:sp>
        <p:nvSpPr>
          <p:cNvPr id="25" name="Text 22"/>
          <p:cNvSpPr txBox="1"/>
          <p:nvPr/>
        </p:nvSpPr>
        <p:spPr>
          <a:xfrm>
            <a:off x="2232442"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TEACHER INSTRUCTION</a:t>
            </a:r>
            <a:endParaRPr lang="en-US" sz="1000" dirty="0"/>
          </a:p>
        </p:txBody>
      </p:sp>
      <p:sp>
        <p:nvSpPr>
          <p:cNvPr id="26" name="Text 23"/>
          <p:cNvSpPr txBox="1"/>
          <p:nvPr/>
        </p:nvSpPr>
        <p:spPr>
          <a:xfrm>
            <a:off x="2232442"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14 min</a:t>
            </a:r>
            <a:endParaRPr lang="en-US" sz="1000" dirty="0"/>
          </a:p>
        </p:txBody>
      </p:sp>
      <p:sp>
        <p:nvSpPr>
          <p:cNvPr id="27" name="Shape 24"/>
          <p:cNvSpPr/>
          <p:nvPr/>
        </p:nvSpPr>
        <p:spPr>
          <a:xfrm>
            <a:off x="2635431" y="2651760"/>
            <a:ext cx="402336" cy="402336"/>
          </a:xfrm>
          <a:prstGeom prst="ellipse">
            <a:avLst/>
          </a:prstGeom>
          <a:solidFill>
            <a:srgbClr val="F4F1EA"/>
          </a:solidFill>
          <a:ln w="12700">
            <a:solidFill>
              <a:srgbClr val="F4F1EA"/>
            </a:solidFill>
            <a:prstDash val="solid"/>
          </a:ln>
        </p:spPr>
      </p:sp>
      <p:sp>
        <p:nvSpPr>
          <p:cNvPr id="28" name="Text 25"/>
          <p:cNvSpPr txBox="1"/>
          <p:nvPr/>
        </p:nvSpPr>
        <p:spPr>
          <a:xfrm>
            <a:off x="2635431"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2</a:t>
            </a:r>
            <a:endParaRPr lang="en-US" sz="1300" dirty="0"/>
          </a:p>
        </p:txBody>
      </p:sp>
      <p:sp>
        <p:nvSpPr>
          <p:cNvPr id="29" name="Text 26"/>
          <p:cNvSpPr txBox="1"/>
          <p:nvPr/>
        </p:nvSpPr>
        <p:spPr>
          <a:xfrm>
            <a:off x="2214154"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Noun or verb after before/after? Then the ending that changes after </a:t>
            </a:r>
            <a:pPr algn="ctr" indent="0" marL="0">
              <a:buNone/>
            </a:pPr>
            <a:r>
              <a:rPr lang="ar-SA" altLang="en-US" sz="1550" dirty="0">
                <a:solidFill>
                  <a:srgbClr val="1F2A37"/>
                </a:solidFill>
                <a:latin typeface="Amiri" pitchFamily="2" charset="-78"/>
                <a:ea typeface="Amiri" pitchFamily="2" charset="-78"/>
                <a:cs typeface="Amiri" pitchFamily="2" charset="-78"/>
              </a:rPr>
              <a:t>أَنْ</a:t>
            </a:r>
            <a:pPr algn="ctr" indent="0" marL="0">
              <a:buNone/>
            </a:pPr>
            <a:r>
              <a:rPr lang="en-US" sz="1200" dirty="0">
                <a:solidFill>
                  <a:srgbClr val="1F2A37"/>
                </a:solidFill>
                <a:latin typeface="Calibri" pitchFamily="34" charset="0"/>
                <a:cs typeface="Amiri" pitchFamily="2" charset="-78"/>
              </a:rPr>
              <a:t>.</a:t>
            </a:r>
            <a:endParaRPr lang="en-US" sz="1200" dirty="0"/>
          </a:p>
        </p:txBody>
      </p:sp>
      <p:sp>
        <p:nvSpPr>
          <p:cNvPr id="30" name="Text 27"/>
          <p:cNvSpPr txBox="1"/>
          <p:nvPr/>
        </p:nvSpPr>
        <p:spPr>
          <a:xfrm>
            <a:off x="2177578"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كَلِمَاتٌ وَقَوَاعِدُ</a:t>
            </a:r>
            <a:endParaRPr lang="ar-SA" sz="1500" dirty="0"/>
          </a:p>
        </p:txBody>
      </p:sp>
      <p:sp>
        <p:nvSpPr>
          <p:cNvPr id="31" name="Shape 28"/>
          <p:cNvSpPr/>
          <p:nvPr/>
        </p:nvSpPr>
        <p:spPr>
          <a:xfrm>
            <a:off x="3715077"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3824805" y="1938528"/>
            <a:ext cx="1281466" cy="566928"/>
          </a:xfrm>
          <a:prstGeom prst="roundRect">
            <a:avLst>
              <a:gd name="adj" fmla="val 9677"/>
            </a:avLst>
          </a:prstGeom>
          <a:solidFill>
            <a:srgbClr val="6B4C9A"/>
          </a:solidFill>
          <a:ln w="12700">
            <a:solidFill>
              <a:srgbClr val="6B4C9A"/>
            </a:solidFill>
            <a:prstDash val="solid"/>
          </a:ln>
        </p:spPr>
      </p:sp>
      <p:sp>
        <p:nvSpPr>
          <p:cNvPr id="33" name="Text 30"/>
          <p:cNvSpPr txBox="1"/>
          <p:nvPr/>
        </p:nvSpPr>
        <p:spPr>
          <a:xfrm>
            <a:off x="3861381"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I DO</a:t>
            </a:r>
            <a:endParaRPr lang="en-US" sz="1000" dirty="0"/>
          </a:p>
        </p:txBody>
      </p:sp>
      <p:sp>
        <p:nvSpPr>
          <p:cNvPr id="34" name="Text 31"/>
          <p:cNvSpPr txBox="1"/>
          <p:nvPr/>
        </p:nvSpPr>
        <p:spPr>
          <a:xfrm>
            <a:off x="3861381"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3 min</a:t>
            </a:r>
            <a:endParaRPr lang="en-US" sz="1000" dirty="0"/>
          </a:p>
        </p:txBody>
      </p:sp>
      <p:sp>
        <p:nvSpPr>
          <p:cNvPr id="35" name="Shape 32"/>
          <p:cNvSpPr/>
          <p:nvPr/>
        </p:nvSpPr>
        <p:spPr>
          <a:xfrm>
            <a:off x="4264370" y="2651760"/>
            <a:ext cx="402336" cy="402336"/>
          </a:xfrm>
          <a:prstGeom prst="ellipse">
            <a:avLst/>
          </a:prstGeom>
          <a:solidFill>
            <a:srgbClr val="F4F1EA"/>
          </a:solidFill>
          <a:ln w="12700">
            <a:solidFill>
              <a:srgbClr val="F4F1EA"/>
            </a:solidFill>
            <a:prstDash val="solid"/>
          </a:ln>
        </p:spPr>
      </p:sp>
      <p:sp>
        <p:nvSpPr>
          <p:cNvPr id="36" name="Text 33"/>
          <p:cNvSpPr txBox="1"/>
          <p:nvPr/>
        </p:nvSpPr>
        <p:spPr>
          <a:xfrm>
            <a:off x="4264370"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3</a:t>
            </a:r>
            <a:endParaRPr lang="en-US" sz="1300" dirty="0"/>
          </a:p>
        </p:txBody>
      </p:sp>
      <p:sp>
        <p:nvSpPr>
          <p:cNvPr id="37" name="Text 34"/>
          <p:cNvSpPr txBox="1"/>
          <p:nvPr/>
        </p:nvSpPr>
        <p:spPr>
          <a:xfrm>
            <a:off x="3843093"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Watch me build one sentence. Copy it into your book.</a:t>
            </a:r>
            <a:endParaRPr lang="en-US" sz="1200" dirty="0"/>
          </a:p>
        </p:txBody>
      </p:sp>
      <p:sp>
        <p:nvSpPr>
          <p:cNvPr id="38" name="Text 35"/>
          <p:cNvSpPr txBox="1"/>
          <p:nvPr/>
        </p:nvSpPr>
        <p:spPr>
          <a:xfrm>
            <a:off x="3806517"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6B4C9A"/>
                </a:solidFill>
                <a:latin typeface="Amiri" pitchFamily="2" charset="-78"/>
                <a:ea typeface="Amiri" pitchFamily="2" charset="-78"/>
                <a:cs typeface="Amiri" pitchFamily="2" charset="-78"/>
              </a:rPr>
              <a:t>شَاهِدْ</a:t>
            </a:r>
            <a:endParaRPr lang="ar-SA" sz="1500" dirty="0"/>
          </a:p>
        </p:txBody>
      </p:sp>
      <p:sp>
        <p:nvSpPr>
          <p:cNvPr id="39" name="Shape 36"/>
          <p:cNvSpPr/>
          <p:nvPr/>
        </p:nvSpPr>
        <p:spPr>
          <a:xfrm>
            <a:off x="5344015"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0" name="Shape 37"/>
          <p:cNvSpPr/>
          <p:nvPr/>
        </p:nvSpPr>
        <p:spPr>
          <a:xfrm>
            <a:off x="5453743" y="1938528"/>
            <a:ext cx="1281466" cy="566928"/>
          </a:xfrm>
          <a:prstGeom prst="roundRect">
            <a:avLst>
              <a:gd name="adj" fmla="val 9677"/>
            </a:avLst>
          </a:prstGeom>
          <a:solidFill>
            <a:srgbClr val="2F6FB0"/>
          </a:solidFill>
          <a:ln w="12700">
            <a:solidFill>
              <a:srgbClr val="2F6FB0"/>
            </a:solidFill>
            <a:prstDash val="solid"/>
          </a:ln>
        </p:spPr>
      </p:sp>
      <p:sp>
        <p:nvSpPr>
          <p:cNvPr id="41" name="Text 38"/>
          <p:cNvSpPr txBox="1"/>
          <p:nvPr/>
        </p:nvSpPr>
        <p:spPr>
          <a:xfrm>
            <a:off x="5490319"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WE DO</a:t>
            </a:r>
            <a:endParaRPr lang="en-US" sz="1000" dirty="0"/>
          </a:p>
        </p:txBody>
      </p:sp>
      <p:sp>
        <p:nvSpPr>
          <p:cNvPr id="42" name="Text 39"/>
          <p:cNvSpPr txBox="1"/>
          <p:nvPr/>
        </p:nvSpPr>
        <p:spPr>
          <a:xfrm>
            <a:off x="5490319"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9 min</a:t>
            </a:r>
            <a:endParaRPr lang="en-US" sz="1000" dirty="0"/>
          </a:p>
        </p:txBody>
      </p:sp>
      <p:sp>
        <p:nvSpPr>
          <p:cNvPr id="43" name="Shape 40"/>
          <p:cNvSpPr/>
          <p:nvPr/>
        </p:nvSpPr>
        <p:spPr>
          <a:xfrm>
            <a:off x="5893308" y="2651760"/>
            <a:ext cx="402336" cy="402336"/>
          </a:xfrm>
          <a:prstGeom prst="ellipse">
            <a:avLst/>
          </a:prstGeom>
          <a:solidFill>
            <a:srgbClr val="F4F1EA"/>
          </a:solidFill>
          <a:ln w="12700">
            <a:solidFill>
              <a:srgbClr val="F4F1EA"/>
            </a:solidFill>
            <a:prstDash val="solid"/>
          </a:ln>
        </p:spPr>
      </p:sp>
      <p:sp>
        <p:nvSpPr>
          <p:cNvPr id="44" name="Text 41"/>
          <p:cNvSpPr txBox="1"/>
          <p:nvPr/>
        </p:nvSpPr>
        <p:spPr>
          <a:xfrm>
            <a:off x="5893308"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4</a:t>
            </a:r>
            <a:endParaRPr lang="en-US" sz="1300" dirty="0"/>
          </a:p>
        </p:txBody>
      </p:sp>
      <p:sp>
        <p:nvSpPr>
          <p:cNvPr id="45" name="Text 42"/>
          <p:cNvSpPr txBox="1"/>
          <p:nvPr/>
        </p:nvSpPr>
        <p:spPr>
          <a:xfrm>
            <a:off x="5472031"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Picture match, sort noun/verb, fix and listen.</a:t>
            </a:r>
            <a:endParaRPr lang="en-US" sz="1200" dirty="0"/>
          </a:p>
        </p:txBody>
      </p:sp>
      <p:sp>
        <p:nvSpPr>
          <p:cNvPr id="46" name="Text 43"/>
          <p:cNvSpPr txBox="1"/>
          <p:nvPr/>
        </p:nvSpPr>
        <p:spPr>
          <a:xfrm>
            <a:off x="5435455"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2F6FB0"/>
                </a:solidFill>
                <a:latin typeface="Amiri" pitchFamily="2" charset="-78"/>
                <a:ea typeface="Amiri" pitchFamily="2" charset="-78"/>
                <a:cs typeface="Amiri" pitchFamily="2" charset="-78"/>
              </a:rPr>
              <a:t>مَعًا</a:t>
            </a:r>
            <a:endParaRPr lang="ar-SA" sz="1500" dirty="0"/>
          </a:p>
        </p:txBody>
      </p:sp>
      <p:sp>
        <p:nvSpPr>
          <p:cNvPr id="47" name="Shape 44"/>
          <p:cNvSpPr/>
          <p:nvPr/>
        </p:nvSpPr>
        <p:spPr>
          <a:xfrm>
            <a:off x="6972953"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7082681" y="1938528"/>
            <a:ext cx="1281466" cy="566928"/>
          </a:xfrm>
          <a:prstGeom prst="roundRect">
            <a:avLst>
              <a:gd name="adj" fmla="val 9677"/>
            </a:avLst>
          </a:prstGeom>
          <a:solidFill>
            <a:srgbClr val="1E6B52"/>
          </a:solidFill>
          <a:ln w="12700">
            <a:solidFill>
              <a:srgbClr val="1E6B52"/>
            </a:solidFill>
            <a:prstDash val="solid"/>
          </a:ln>
        </p:spPr>
      </p:sp>
      <p:sp>
        <p:nvSpPr>
          <p:cNvPr id="49" name="Text 46"/>
          <p:cNvSpPr txBox="1"/>
          <p:nvPr/>
        </p:nvSpPr>
        <p:spPr>
          <a:xfrm>
            <a:off x="7119257"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YOU DO</a:t>
            </a:r>
            <a:endParaRPr lang="en-US" sz="1000" dirty="0"/>
          </a:p>
        </p:txBody>
      </p:sp>
      <p:sp>
        <p:nvSpPr>
          <p:cNvPr id="50" name="Text 47"/>
          <p:cNvSpPr txBox="1"/>
          <p:nvPr/>
        </p:nvSpPr>
        <p:spPr>
          <a:xfrm>
            <a:off x="7119257"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12 min</a:t>
            </a:r>
            <a:endParaRPr lang="en-US" sz="1000" dirty="0"/>
          </a:p>
        </p:txBody>
      </p:sp>
      <p:sp>
        <p:nvSpPr>
          <p:cNvPr id="51" name="Shape 48"/>
          <p:cNvSpPr/>
          <p:nvPr/>
        </p:nvSpPr>
        <p:spPr>
          <a:xfrm>
            <a:off x="7522246" y="2651760"/>
            <a:ext cx="402336" cy="402336"/>
          </a:xfrm>
          <a:prstGeom prst="ellipse">
            <a:avLst/>
          </a:prstGeom>
          <a:solidFill>
            <a:srgbClr val="F4F1EA"/>
          </a:solidFill>
          <a:ln w="12700">
            <a:solidFill>
              <a:srgbClr val="F4F1EA"/>
            </a:solidFill>
            <a:prstDash val="solid"/>
          </a:ln>
        </p:spPr>
      </p:sp>
      <p:sp>
        <p:nvSpPr>
          <p:cNvPr id="52" name="Text 49"/>
          <p:cNvSpPr txBox="1"/>
          <p:nvPr/>
        </p:nvSpPr>
        <p:spPr>
          <a:xfrm>
            <a:off x="7522246"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5</a:t>
            </a:r>
            <a:endParaRPr lang="en-US" sz="1300" dirty="0"/>
          </a:p>
        </p:txBody>
      </p:sp>
      <p:sp>
        <p:nvSpPr>
          <p:cNvPr id="53" name="Text 50"/>
          <p:cNvSpPr txBox="1"/>
          <p:nvPr/>
        </p:nvSpPr>
        <p:spPr>
          <a:xfrm>
            <a:off x="7100969"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Speak first, then write on your route.</a:t>
            </a:r>
            <a:endParaRPr lang="en-US" sz="1200" dirty="0"/>
          </a:p>
        </p:txBody>
      </p:sp>
      <p:sp>
        <p:nvSpPr>
          <p:cNvPr id="54" name="Text 51"/>
          <p:cNvSpPr txBox="1"/>
          <p:nvPr/>
        </p:nvSpPr>
        <p:spPr>
          <a:xfrm>
            <a:off x="7064393"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1E6B52"/>
                </a:solidFill>
                <a:latin typeface="Amiri" pitchFamily="2" charset="-78"/>
                <a:ea typeface="Amiri" pitchFamily="2" charset="-78"/>
                <a:cs typeface="Amiri" pitchFamily="2" charset="-78"/>
              </a:rPr>
              <a:t>وَحْدَكَ</a:t>
            </a:r>
            <a:endParaRPr lang="ar-SA" sz="1500" dirty="0"/>
          </a:p>
        </p:txBody>
      </p:sp>
      <p:sp>
        <p:nvSpPr>
          <p:cNvPr id="55" name="Shape 52"/>
          <p:cNvSpPr/>
          <p:nvPr/>
        </p:nvSpPr>
        <p:spPr>
          <a:xfrm>
            <a:off x="8601891"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6" name="Shape 53"/>
          <p:cNvSpPr/>
          <p:nvPr/>
        </p:nvSpPr>
        <p:spPr>
          <a:xfrm>
            <a:off x="8711619" y="1938528"/>
            <a:ext cx="1281466" cy="566928"/>
          </a:xfrm>
          <a:prstGeom prst="roundRect">
            <a:avLst>
              <a:gd name="adj" fmla="val 9677"/>
            </a:avLst>
          </a:prstGeom>
          <a:solidFill>
            <a:srgbClr val="8A6D1E"/>
          </a:solidFill>
          <a:ln w="12700">
            <a:solidFill>
              <a:srgbClr val="8A6D1E"/>
            </a:solidFill>
            <a:prstDash val="solid"/>
          </a:ln>
        </p:spPr>
      </p:sp>
      <p:sp>
        <p:nvSpPr>
          <p:cNvPr id="57" name="Text 54"/>
          <p:cNvSpPr txBox="1"/>
          <p:nvPr/>
        </p:nvSpPr>
        <p:spPr>
          <a:xfrm>
            <a:off x="8748195"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FEEDBACK</a:t>
            </a:r>
            <a:endParaRPr lang="en-US" sz="1000" dirty="0"/>
          </a:p>
        </p:txBody>
      </p:sp>
      <p:sp>
        <p:nvSpPr>
          <p:cNvPr id="58" name="Text 55"/>
          <p:cNvSpPr txBox="1"/>
          <p:nvPr/>
        </p:nvSpPr>
        <p:spPr>
          <a:xfrm>
            <a:off x="8748195"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5 min</a:t>
            </a:r>
            <a:endParaRPr lang="en-US" sz="1000" dirty="0"/>
          </a:p>
        </p:txBody>
      </p:sp>
      <p:sp>
        <p:nvSpPr>
          <p:cNvPr id="59" name="Shape 56"/>
          <p:cNvSpPr/>
          <p:nvPr/>
        </p:nvSpPr>
        <p:spPr>
          <a:xfrm>
            <a:off x="9151185" y="2651760"/>
            <a:ext cx="402336" cy="402336"/>
          </a:xfrm>
          <a:prstGeom prst="ellipse">
            <a:avLst/>
          </a:prstGeom>
          <a:solidFill>
            <a:srgbClr val="F4F1EA"/>
          </a:solidFill>
          <a:ln w="12700">
            <a:solidFill>
              <a:srgbClr val="F4F1EA"/>
            </a:solidFill>
            <a:prstDash val="solid"/>
          </a:ln>
        </p:spPr>
      </p:sp>
      <p:sp>
        <p:nvSpPr>
          <p:cNvPr id="60" name="Text 57"/>
          <p:cNvSpPr txBox="1"/>
          <p:nvPr/>
        </p:nvSpPr>
        <p:spPr>
          <a:xfrm>
            <a:off x="9151185"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6</a:t>
            </a:r>
            <a:endParaRPr lang="en-US" sz="1300" dirty="0"/>
          </a:p>
        </p:txBody>
      </p:sp>
      <p:sp>
        <p:nvSpPr>
          <p:cNvPr id="61" name="Text 58"/>
          <p:cNvSpPr txBox="1"/>
          <p:nvPr/>
        </p:nvSpPr>
        <p:spPr>
          <a:xfrm>
            <a:off x="8729907"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Compare with a model and complete the exit ticket.</a:t>
            </a:r>
            <a:endParaRPr lang="en-US" sz="1200" dirty="0"/>
          </a:p>
        </p:txBody>
      </p:sp>
      <p:sp>
        <p:nvSpPr>
          <p:cNvPr id="62" name="Text 59"/>
          <p:cNvSpPr txBox="1"/>
          <p:nvPr/>
        </p:nvSpPr>
        <p:spPr>
          <a:xfrm>
            <a:off x="8693331"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8A6D1E"/>
                </a:solidFill>
                <a:latin typeface="Amiri" pitchFamily="2" charset="-78"/>
                <a:ea typeface="Amiri" pitchFamily="2" charset="-78"/>
                <a:cs typeface="Amiri" pitchFamily="2" charset="-78"/>
              </a:rPr>
              <a:t>قَيِّمْ عَمَلَكَ</a:t>
            </a:r>
            <a:endParaRPr lang="ar-SA" sz="1500" dirty="0"/>
          </a:p>
        </p:txBody>
      </p:sp>
      <p:sp>
        <p:nvSpPr>
          <p:cNvPr id="63" name="Shape 60"/>
          <p:cNvSpPr/>
          <p:nvPr/>
        </p:nvSpPr>
        <p:spPr>
          <a:xfrm>
            <a:off x="10230830"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4" name="Shape 61"/>
          <p:cNvSpPr/>
          <p:nvPr/>
        </p:nvSpPr>
        <p:spPr>
          <a:xfrm>
            <a:off x="10340558" y="1938528"/>
            <a:ext cx="1281466" cy="566928"/>
          </a:xfrm>
          <a:prstGeom prst="roundRect">
            <a:avLst>
              <a:gd name="adj" fmla="val 9677"/>
            </a:avLst>
          </a:prstGeom>
          <a:solidFill>
            <a:srgbClr val="C45A3C"/>
          </a:solidFill>
          <a:ln w="12700">
            <a:solidFill>
              <a:srgbClr val="C45A3C"/>
            </a:solidFill>
            <a:prstDash val="solid"/>
          </a:ln>
        </p:spPr>
      </p:sp>
      <p:sp>
        <p:nvSpPr>
          <p:cNvPr id="65" name="Text 62"/>
          <p:cNvSpPr txBox="1"/>
          <p:nvPr/>
        </p:nvSpPr>
        <p:spPr>
          <a:xfrm>
            <a:off x="10377134"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PREPARATION</a:t>
            </a:r>
            <a:endParaRPr lang="en-US" sz="1000" dirty="0"/>
          </a:p>
        </p:txBody>
      </p:sp>
      <p:sp>
        <p:nvSpPr>
          <p:cNvPr id="66" name="Text 63"/>
          <p:cNvSpPr txBox="1"/>
          <p:nvPr/>
        </p:nvSpPr>
        <p:spPr>
          <a:xfrm>
            <a:off x="10377134"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2 min</a:t>
            </a:r>
            <a:endParaRPr lang="en-US" sz="1000" dirty="0"/>
          </a:p>
        </p:txBody>
      </p:sp>
      <p:sp>
        <p:nvSpPr>
          <p:cNvPr id="67" name="Shape 64"/>
          <p:cNvSpPr/>
          <p:nvPr/>
        </p:nvSpPr>
        <p:spPr>
          <a:xfrm>
            <a:off x="10780123" y="2651760"/>
            <a:ext cx="402336" cy="402336"/>
          </a:xfrm>
          <a:prstGeom prst="ellipse">
            <a:avLst/>
          </a:prstGeom>
          <a:solidFill>
            <a:srgbClr val="F4F1EA"/>
          </a:solidFill>
          <a:ln w="12700">
            <a:solidFill>
              <a:srgbClr val="F4F1EA"/>
            </a:solidFill>
            <a:prstDash val="solid"/>
          </a:ln>
        </p:spPr>
      </p:sp>
      <p:sp>
        <p:nvSpPr>
          <p:cNvPr id="68" name="Text 65"/>
          <p:cNvSpPr txBox="1"/>
          <p:nvPr/>
        </p:nvSpPr>
        <p:spPr>
          <a:xfrm>
            <a:off x="10780123"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7</a:t>
            </a:r>
            <a:endParaRPr lang="en-US" sz="1300" dirty="0"/>
          </a:p>
        </p:txBody>
      </p:sp>
      <p:sp>
        <p:nvSpPr>
          <p:cNvPr id="69" name="Text 66"/>
          <p:cNvSpPr txBox="1"/>
          <p:nvPr/>
        </p:nvSpPr>
        <p:spPr>
          <a:xfrm>
            <a:off x="10358846"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Get ready at home for D1-L05.</a:t>
            </a:r>
            <a:endParaRPr lang="en-US" sz="1200" dirty="0"/>
          </a:p>
        </p:txBody>
      </p:sp>
      <p:sp>
        <p:nvSpPr>
          <p:cNvPr id="70" name="Text 67"/>
          <p:cNvSpPr txBox="1"/>
          <p:nvPr/>
        </p:nvSpPr>
        <p:spPr>
          <a:xfrm>
            <a:off x="10322270"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C45A3C"/>
                </a:solidFill>
                <a:latin typeface="Amiri" pitchFamily="2" charset="-78"/>
                <a:ea typeface="Amiri" pitchFamily="2" charset="-78"/>
                <a:cs typeface="Amiri" pitchFamily="2" charset="-78"/>
              </a:rPr>
              <a:t>اِسْتَعِدَّ</a:t>
            </a:r>
            <a:endParaRPr lang="ar-SA" sz="1500" dirty="0"/>
          </a:p>
        </p:txBody>
      </p:sp>
      <p:sp>
        <p:nvSpPr>
          <p:cNvPr id="71" name="Shape 68"/>
          <p:cNvSpPr/>
          <p:nvPr/>
        </p:nvSpPr>
        <p:spPr>
          <a:xfrm>
            <a:off x="457200" y="5285232"/>
            <a:ext cx="11274552" cy="1024128"/>
          </a:xfrm>
          <a:prstGeom prst="roundRect">
            <a:avLst>
              <a:gd name="adj" fmla="val 7143"/>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72" name="Text 69"/>
          <p:cNvSpPr txBox="1"/>
          <p:nvPr/>
        </p:nvSpPr>
        <p:spPr>
          <a:xfrm>
            <a:off x="685800" y="5358384"/>
            <a:ext cx="4572000"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IF ARABIC FEELS HARD TODAY</a:t>
            </a:r>
            <a:endParaRPr lang="en-US" sz="1000" dirty="0"/>
          </a:p>
        </p:txBody>
      </p:sp>
      <p:sp>
        <p:nvSpPr>
          <p:cNvPr id="73" name="Text 70"/>
          <p:cNvSpPr txBox="1"/>
          <p:nvPr/>
        </p:nvSpPr>
        <p:spPr>
          <a:xfrm>
            <a:off x="685800" y="5632704"/>
            <a:ext cx="10881360" cy="621792"/>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Look for the green CORE boxes: they give you transliteration, English meanings and sentence frames. You never need every word — find the key word first. You can answer in the chat, in English, or by holding up A / B / C to your camera.</a:t>
            </a:r>
            <a:endParaRPr lang="en-US" sz="1250" dirty="0"/>
          </a:p>
        </p:txBody>
      </p:sp>
      <p:sp>
        <p:nvSpPr>
          <p:cNvPr id="74" name="Text 7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 / 46</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D1-L04 · Before and After</a:t>
            </a:r>
            <a:endParaRPr lang="en-US" sz="950" dirty="0"/>
          </a:p>
        </p:txBody>
      </p:sp>
      <p:sp>
        <p:nvSpPr>
          <p:cNvPr id="8" name="Shape 6"/>
          <p:cNvSpPr/>
          <p:nvPr/>
        </p:nvSpPr>
        <p:spPr>
          <a:xfrm>
            <a:off x="7295083" y="274320"/>
            <a:ext cx="1464869" cy="329184"/>
          </a:xfrm>
          <a:prstGeom prst="roundRect">
            <a:avLst>
              <a:gd name="adj" fmla="val 50000"/>
            </a:avLst>
          </a:prstGeom>
          <a:solidFill>
            <a:srgbClr val="0E7C86"/>
          </a:solidFill>
          <a:ln w="12700">
            <a:solidFill>
              <a:srgbClr val="0E7C86"/>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DO NOW · 5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0E7C86"/>
                </a:solidFill>
                <a:latin typeface="Calibri" pitchFamily="34" charset="0"/>
                <a:cs typeface="Amiri" pitchFamily="2" charset="-78"/>
              </a:rPr>
              <a:t>DO NOW · ON YOUR OWN · 5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750" b="1" dirty="0">
                <a:solidFill>
                  <a:srgbClr val="1B3B6F"/>
                </a:solidFill>
                <a:latin typeface="Cambria" pitchFamily="34" charset="0"/>
                <a:cs typeface="Amiri" pitchFamily="2" charset="-78"/>
              </a:rPr>
              <a:t>Retrieval: what do you remember?</a:t>
            </a:r>
            <a:endParaRPr lang="en-US" sz="27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اِبْدَأِ الآنَ</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D1 · Daily Routine and Time · D1-L04</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ea typeface="Amiri" pitchFamily="2" charset="-78"/>
                <a:cs typeface="Amiri" pitchFamily="2" charset="-78"/>
              </a:rPr>
              <a:t>قَبْلَ أَنْ</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after (+ verb)</a:t>
            </a:r>
            <a:endParaRPr lang="en-US" sz="12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before (+ verb)</a:t>
            </a:r>
            <a:endParaRPr lang="en-US" sz="12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when</a:t>
            </a:r>
            <a:endParaRPr lang="en-US" sz="1250" dirty="0"/>
          </a:p>
        </p:txBody>
      </p:sp>
      <p:sp>
        <p:nvSpPr>
          <p:cNvPr id="28" name="Shape 25"/>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ea typeface="Amiri" pitchFamily="2" charset="-78"/>
                <a:cs typeface="Amiri" pitchFamily="2" charset="-78"/>
              </a:rPr>
              <a:t>أَسْتَرِيحُ</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 rest</a:t>
            </a:r>
            <a:endParaRPr lang="en-US" sz="12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 revise</a:t>
            </a:r>
            <a:endParaRPr lang="en-US" sz="12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 return</a:t>
            </a:r>
            <a:endParaRPr lang="en-US" sz="1250" dirty="0"/>
          </a:p>
        </p:txBody>
      </p:sp>
      <p:sp>
        <p:nvSpPr>
          <p:cNvPr id="41" name="Shape 38"/>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ea typeface="Amiri" pitchFamily="2" charset="-78"/>
                <a:cs typeface="Amiri" pitchFamily="2" charset="-78"/>
              </a:rPr>
              <a:t>نَادِرًا</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always</a:t>
            </a:r>
            <a:endParaRPr lang="en-US" sz="12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daily</a:t>
            </a:r>
            <a:endParaRPr lang="en-US" sz="12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rarely</a:t>
            </a:r>
            <a:endParaRPr lang="en-US" sz="1250" dirty="0"/>
          </a:p>
        </p:txBody>
      </p:sp>
      <p:sp>
        <p:nvSpPr>
          <p:cNvPr id="54" name="Shape 51"/>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585216" y="4288536"/>
            <a:ext cx="310896" cy="310896"/>
          </a:xfrm>
          <a:prstGeom prst="ellipse">
            <a:avLst/>
          </a:prstGeom>
          <a:solidFill>
            <a:srgbClr val="1B3B6F"/>
          </a:solidFill>
          <a:ln w="12700">
            <a:solidFill>
              <a:srgbClr val="1B3B6F"/>
            </a:solidFill>
            <a:prstDash val="solid"/>
          </a:ln>
        </p:spPr>
      </p:sp>
      <p:sp>
        <p:nvSpPr>
          <p:cNvPr id="56" name="Text 53"/>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7" name="Text 54"/>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accurate sentence.</a:t>
            </a:r>
            <a:endParaRPr lang="en-US" sz="1250" dirty="0"/>
          </a:p>
        </p:txBody>
      </p:sp>
      <p:sp>
        <p:nvSpPr>
          <p:cNvPr id="58" name="Shape 55"/>
          <p:cNvSpPr/>
          <p:nvPr/>
        </p:nvSpPr>
        <p:spPr>
          <a:xfrm>
            <a:off x="640080" y="4873752"/>
            <a:ext cx="256032" cy="256032"/>
          </a:xfrm>
          <a:prstGeom prst="ellipse">
            <a:avLst/>
          </a:prstGeom>
          <a:solidFill>
            <a:srgbClr val="F4F1EA"/>
          </a:solidFill>
          <a:ln w="12700">
            <a:solidFill>
              <a:srgbClr val="F4F1EA"/>
            </a:solidFill>
            <a:prstDash val="solid"/>
          </a:ln>
        </p:spPr>
      </p:sp>
      <p:sp>
        <p:nvSpPr>
          <p:cNvPr id="59" name="Text 56"/>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0" name="Text 57"/>
          <p:cNvSpPr txBox="1"/>
          <p:nvPr/>
        </p:nvSpPr>
        <p:spPr>
          <a:xfrm>
            <a:off x="969264" y="4773168"/>
            <a:ext cx="2977896" cy="457200"/>
          </a:xfrm>
          <a:prstGeom prst="rect">
            <a:avLst/>
          </a:prstGeom>
          <a:noFill/>
          <a:ln/>
        </p:spPr>
        <p:txBody>
          <a:bodyPr wrap="square" lIns="0" tIns="0" rIns="0" bIns="0" rtlCol="0" anchor="ctr"/>
          <a:lstStyle/>
          <a:p>
            <a:pPr rtl="1" algn="r" indent="0" marL="0">
              <a:buNone/>
            </a:pPr>
            <a:r>
              <a:rPr lang="ar-SA" altLang="en-US" sz="1500" dirty="0">
                <a:solidFill>
                  <a:srgbClr val="1F2A37"/>
                </a:solidFill>
                <a:latin typeface="Amiri" pitchFamily="2" charset="-78"/>
                <a:ea typeface="Amiri" pitchFamily="2" charset="-78"/>
                <a:cs typeface="Amiri" pitchFamily="2" charset="-78"/>
              </a:rPr>
              <a:t>أَتَمَرَّنُ يَوْمِيًّا، بَيْنَمَا أَتَمَرَّنُ أُخْتِي أُسْبُوعِيًّا.</a:t>
            </a:r>
            <a:endParaRPr lang="ar-SA" sz="1500" dirty="0"/>
          </a:p>
        </p:txBody>
      </p:sp>
      <p:sp>
        <p:nvSpPr>
          <p:cNvPr id="61" name="Shape 58"/>
          <p:cNvSpPr/>
          <p:nvPr/>
        </p:nvSpPr>
        <p:spPr>
          <a:xfrm>
            <a:off x="640080" y="53309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3" name="Text 60"/>
          <p:cNvSpPr txBox="1"/>
          <p:nvPr/>
        </p:nvSpPr>
        <p:spPr>
          <a:xfrm>
            <a:off x="969264" y="5230368"/>
            <a:ext cx="2977896" cy="457200"/>
          </a:xfrm>
          <a:prstGeom prst="rect">
            <a:avLst/>
          </a:prstGeom>
          <a:noFill/>
          <a:ln/>
        </p:spPr>
        <p:txBody>
          <a:bodyPr wrap="square" lIns="0" tIns="0" rIns="0" bIns="0" rtlCol="0" anchor="ctr"/>
          <a:lstStyle/>
          <a:p>
            <a:pPr rtl="1" algn="r" indent="0" marL="0">
              <a:buNone/>
            </a:pPr>
            <a:r>
              <a:rPr lang="ar-SA" altLang="en-US" sz="1500" dirty="0">
                <a:solidFill>
                  <a:srgbClr val="1F2A37"/>
                </a:solidFill>
                <a:latin typeface="Amiri" pitchFamily="2" charset="-78"/>
                <a:ea typeface="Amiri" pitchFamily="2" charset="-78"/>
                <a:cs typeface="Amiri" pitchFamily="2" charset="-78"/>
              </a:rPr>
              <a:t>أَتَمَرَّنُ يَوْمِيًّا، بَيْنَمَا يَتَمَرَّنُ أُخْتِي أُسْبُوعِيًّا.</a:t>
            </a:r>
            <a:endParaRPr lang="ar-SA" sz="1500" dirty="0"/>
          </a:p>
        </p:txBody>
      </p:sp>
      <p:sp>
        <p:nvSpPr>
          <p:cNvPr id="64" name="Shape 61"/>
          <p:cNvSpPr/>
          <p:nvPr/>
        </p:nvSpPr>
        <p:spPr>
          <a:xfrm>
            <a:off x="640080" y="57881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6" name="Text 63"/>
          <p:cNvSpPr txBox="1"/>
          <p:nvPr/>
        </p:nvSpPr>
        <p:spPr>
          <a:xfrm>
            <a:off x="969264" y="5687568"/>
            <a:ext cx="2977896" cy="457200"/>
          </a:xfrm>
          <a:prstGeom prst="rect">
            <a:avLst/>
          </a:prstGeom>
          <a:noFill/>
          <a:ln/>
        </p:spPr>
        <p:txBody>
          <a:bodyPr wrap="square" lIns="0" tIns="0" rIns="0" bIns="0" rtlCol="0" anchor="ctr"/>
          <a:lstStyle/>
          <a:p>
            <a:pPr rtl="1" algn="r" indent="0" marL="0">
              <a:buNone/>
            </a:pPr>
            <a:r>
              <a:rPr lang="ar-SA" altLang="en-US" sz="1500" dirty="0">
                <a:solidFill>
                  <a:srgbClr val="1F2A37"/>
                </a:solidFill>
                <a:latin typeface="Amiri" pitchFamily="2" charset="-78"/>
                <a:ea typeface="Amiri" pitchFamily="2" charset="-78"/>
                <a:cs typeface="Amiri" pitchFamily="2" charset="-78"/>
              </a:rPr>
              <a:t>أَتَمَرَّنُ يَوْمِيًّا، بَيْنَمَا تَتَمَرَّنُ أُخْتِي أُسْبُوعِيًّا.</a:t>
            </a:r>
            <a:endParaRPr lang="ar-SA" sz="1500" dirty="0"/>
          </a:p>
        </p:txBody>
      </p:sp>
      <p:sp>
        <p:nvSpPr>
          <p:cNvPr id="67" name="Shape 64"/>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8" name="Shape 65"/>
          <p:cNvSpPr/>
          <p:nvPr/>
        </p:nvSpPr>
        <p:spPr>
          <a:xfrm>
            <a:off x="4404360" y="4288536"/>
            <a:ext cx="310896" cy="310896"/>
          </a:xfrm>
          <a:prstGeom prst="ellipse">
            <a:avLst/>
          </a:prstGeom>
          <a:solidFill>
            <a:srgbClr val="1B3B6F"/>
          </a:solidFill>
          <a:ln w="12700">
            <a:solidFill>
              <a:srgbClr val="1B3B6F"/>
            </a:solidFill>
            <a:prstDash val="solid"/>
          </a:ln>
        </p:spPr>
      </p:sp>
      <p:sp>
        <p:nvSpPr>
          <p:cNvPr id="69" name="Text 66"/>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0" name="Text 67"/>
          <p:cNvSpPr txBox="1"/>
          <p:nvPr/>
        </p:nvSpPr>
        <p:spPr>
          <a:xfrm>
            <a:off x="4770120" y="4224528"/>
            <a:ext cx="1395070"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Which is half past four?</a:t>
            </a:r>
            <a:endParaRPr lang="en-US" sz="1200" dirty="0"/>
          </a:p>
        </p:txBody>
      </p:sp>
      <p:sp>
        <p:nvSpPr>
          <p:cNvPr id="71" name="Text 68"/>
          <p:cNvSpPr txBox="1"/>
          <p:nvPr/>
        </p:nvSpPr>
        <p:spPr>
          <a:xfrm>
            <a:off x="6225845" y="4224528"/>
            <a:ext cx="1577035" cy="475488"/>
          </a:xfrm>
          <a:prstGeom prst="rect">
            <a:avLst/>
          </a:prstGeom>
          <a:noFill/>
          <a:ln/>
        </p:spPr>
        <p:txBody>
          <a:bodyPr wrap="square" lIns="0" tIns="0" rIns="0" bIns="0" rtlCol="0" anchor="ctr"/>
          <a:lstStyle/>
          <a:p>
            <a:pPr rtl="1" algn="r" indent="0" marL="0">
              <a:buNone/>
            </a:pPr>
            <a:r>
              <a:rPr lang="ar-SA" altLang="en-US" sz="2200" b="1" dirty="0">
                <a:solidFill>
                  <a:srgbClr val="1B3B6F"/>
                </a:solidFill>
                <a:latin typeface="Amiri" pitchFamily="2" charset="-78"/>
                <a:ea typeface="Amiri" pitchFamily="2" charset="-78"/>
                <a:cs typeface="Amiri" pitchFamily="2" charset="-78"/>
              </a:rPr>
              <a:t>٤:٣٠</a:t>
            </a:r>
            <a:endParaRPr lang="ar-SA" sz="2200" dirty="0"/>
          </a:p>
        </p:txBody>
      </p:sp>
      <p:sp>
        <p:nvSpPr>
          <p:cNvPr id="72" name="Shape 69"/>
          <p:cNvSpPr/>
          <p:nvPr/>
        </p:nvSpPr>
        <p:spPr>
          <a:xfrm>
            <a:off x="4459224" y="4873752"/>
            <a:ext cx="256032" cy="256032"/>
          </a:xfrm>
          <a:prstGeom prst="ellipse">
            <a:avLst/>
          </a:prstGeom>
          <a:solidFill>
            <a:srgbClr val="F4F1EA"/>
          </a:solidFill>
          <a:ln w="12700">
            <a:solidFill>
              <a:srgbClr val="F4F1EA"/>
            </a:solidFill>
            <a:prstDash val="solid"/>
          </a:ln>
        </p:spPr>
      </p:sp>
      <p:sp>
        <p:nvSpPr>
          <p:cNvPr id="73" name="Text 70"/>
          <p:cNvSpPr txBox="1"/>
          <p:nvPr/>
        </p:nvSpPr>
        <p:spPr>
          <a:xfrm>
            <a:off x="4459224"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74" name="Text 71"/>
          <p:cNvSpPr txBox="1"/>
          <p:nvPr/>
        </p:nvSpPr>
        <p:spPr>
          <a:xfrm>
            <a:off x="4788408"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الرَّابِعَةُ وَالنِّصْفُ</a:t>
            </a:r>
            <a:endParaRPr lang="ar-SA" sz="2050" dirty="0"/>
          </a:p>
        </p:txBody>
      </p:sp>
      <p:sp>
        <p:nvSpPr>
          <p:cNvPr id="75" name="Shape 72"/>
          <p:cNvSpPr/>
          <p:nvPr/>
        </p:nvSpPr>
        <p:spPr>
          <a:xfrm>
            <a:off x="4459224" y="5330952"/>
            <a:ext cx="256032" cy="256032"/>
          </a:xfrm>
          <a:prstGeom prst="ellipse">
            <a:avLst/>
          </a:prstGeom>
          <a:solidFill>
            <a:srgbClr val="F4F1EA"/>
          </a:solidFill>
          <a:ln w="12700">
            <a:solidFill>
              <a:srgbClr val="F4F1EA"/>
            </a:solidFill>
            <a:prstDash val="solid"/>
          </a:ln>
        </p:spPr>
      </p:sp>
      <p:sp>
        <p:nvSpPr>
          <p:cNvPr id="76" name="Text 73"/>
          <p:cNvSpPr txBox="1"/>
          <p:nvPr/>
        </p:nvSpPr>
        <p:spPr>
          <a:xfrm>
            <a:off x="4459224"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7" name="Text 74"/>
          <p:cNvSpPr txBox="1"/>
          <p:nvPr/>
        </p:nvSpPr>
        <p:spPr>
          <a:xfrm>
            <a:off x="4788408"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الرَّابِعَةُ إِلَّا الرُّبْعَ</a:t>
            </a:r>
            <a:endParaRPr lang="ar-SA" sz="2050" dirty="0"/>
          </a:p>
        </p:txBody>
      </p:sp>
      <p:sp>
        <p:nvSpPr>
          <p:cNvPr id="78" name="Shape 75"/>
          <p:cNvSpPr/>
          <p:nvPr/>
        </p:nvSpPr>
        <p:spPr>
          <a:xfrm>
            <a:off x="4459224" y="5788152"/>
            <a:ext cx="256032" cy="256032"/>
          </a:xfrm>
          <a:prstGeom prst="ellipse">
            <a:avLst/>
          </a:prstGeom>
          <a:solidFill>
            <a:srgbClr val="F4F1EA"/>
          </a:solidFill>
          <a:ln w="12700">
            <a:solidFill>
              <a:srgbClr val="F4F1EA"/>
            </a:solidFill>
            <a:prstDash val="solid"/>
          </a:ln>
        </p:spPr>
      </p:sp>
      <p:sp>
        <p:nvSpPr>
          <p:cNvPr id="79" name="Text 76"/>
          <p:cNvSpPr txBox="1"/>
          <p:nvPr/>
        </p:nvSpPr>
        <p:spPr>
          <a:xfrm>
            <a:off x="4459224"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0" name="Text 77"/>
          <p:cNvSpPr txBox="1"/>
          <p:nvPr/>
        </p:nvSpPr>
        <p:spPr>
          <a:xfrm>
            <a:off x="4788408"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الخَامِسَةُ وَالنِّصْفُ</a:t>
            </a:r>
            <a:endParaRPr lang="ar-SA" sz="2050" dirty="0"/>
          </a:p>
        </p:txBody>
      </p:sp>
      <p:sp>
        <p:nvSpPr>
          <p:cNvPr id="81" name="Shape 78"/>
          <p:cNvSpPr/>
          <p:nvPr/>
        </p:nvSpPr>
        <p:spPr>
          <a:xfrm>
            <a:off x="8095488" y="4151376"/>
            <a:ext cx="3636264" cy="2157984"/>
          </a:xfrm>
          <a:prstGeom prst="roundRect">
            <a:avLst>
              <a:gd name="adj" fmla="val 3390"/>
            </a:avLst>
          </a:prstGeom>
          <a:solidFill>
            <a:srgbClr val="E8F4F5"/>
          </a:solidFill>
          <a:ln w="9525">
            <a:solidFill>
              <a:srgbClr val="9CCFD4"/>
            </a:solidFill>
            <a:prstDash val="solid"/>
          </a:ln>
          <a:effectLst>
            <a:outerShdw sx="100000" sy="100000" kx="0" ky="0" algn="bl" rotWithShape="0" blurRad="50800" dist="19050" dir="5400000">
              <a:srgbClr val="000000">
                <a:alpha val="10000"/>
              </a:srgbClr>
            </a:outerShdw>
          </a:effectLst>
        </p:spPr>
      </p:sp>
      <p:sp>
        <p:nvSpPr>
          <p:cNvPr id="82" name="Text 79"/>
          <p:cNvSpPr txBox="1"/>
          <p:nvPr/>
        </p:nvSpPr>
        <p:spPr>
          <a:xfrm>
            <a:off x="8296656" y="4471416"/>
            <a:ext cx="3270504" cy="274320"/>
          </a:xfrm>
          <a:prstGeom prst="rect">
            <a:avLst/>
          </a:prstGeom>
          <a:noFill/>
          <a:ln/>
        </p:spPr>
        <p:txBody>
          <a:bodyPr wrap="square" lIns="0" tIns="0" rIns="0" bIns="0" rtlCol="0" anchor="ctr"/>
          <a:lstStyle/>
          <a:p>
            <a:pPr algn="l" indent="0" marL="0">
              <a:buNone/>
            </a:pPr>
            <a:r>
              <a:rPr lang="en-US" sz="1100" b="1" spc="200" kern="0" dirty="0">
                <a:solidFill>
                  <a:srgbClr val="0E7C86"/>
                </a:solidFill>
                <a:latin typeface="Calibri" pitchFamily="34" charset="0"/>
                <a:cs typeface="Amiri" pitchFamily="2" charset="-78"/>
              </a:rPr>
              <a:t>HOW TO ANSWER</a:t>
            </a:r>
            <a:endParaRPr lang="en-US" sz="1100" dirty="0"/>
          </a:p>
        </p:txBody>
      </p:sp>
      <p:sp>
        <p:nvSpPr>
          <p:cNvPr id="83" name="Text 80"/>
          <p:cNvSpPr txBox="1"/>
          <p:nvPr/>
        </p:nvSpPr>
        <p:spPr>
          <a:xfrm>
            <a:off x="8296656" y="4754880"/>
            <a:ext cx="3270504" cy="822960"/>
          </a:xfrm>
          <a:prstGeom prst="rect">
            <a:avLst/>
          </a:prstGeom>
          <a:noFill/>
          <a:ln/>
        </p:spPr>
        <p:txBody>
          <a:bodyPr wrap="square" lIns="0" tIns="0" rIns="0" bIns="0" rtlCol="0" anchor="t"/>
          <a:lstStyle/>
          <a:p>
            <a:pPr algn="l" indent="0" marL="0">
              <a:buNone/>
            </a:pPr>
            <a:r>
              <a:rPr lang="en-US" sz="1350" dirty="0">
                <a:solidFill>
                  <a:srgbClr val="1F2A37"/>
                </a:solidFill>
                <a:latin typeface="Calibri" pitchFamily="34" charset="0"/>
                <a:cs typeface="Amiri" pitchFamily="2" charset="-78"/>
              </a:rPr>
              <a:t>Work on your own in silence.</a:t>
            </a:r>
            <a:endParaRPr lang="en-US" sz="1350" dirty="0"/>
          </a:p>
          <a:p>
            <a:pPr algn="l" indent="0" marL="0">
              <a:buNone/>
            </a:pPr>
            <a:r>
              <a:rPr lang="en-US" sz="1350" dirty="0">
                <a:solidFill>
                  <a:srgbClr val="1F2A37"/>
                </a:solidFill>
                <a:latin typeface="Calibri" pitchFamily="34" charset="0"/>
                <a:cs typeface="Amiri" pitchFamily="2" charset="-78"/>
              </a:rPr>
              <a:t>When the timer ends, type in the chat:</a:t>
            </a:r>
            <a:endParaRPr lang="en-US" sz="1350" dirty="0"/>
          </a:p>
        </p:txBody>
      </p:sp>
      <p:sp>
        <p:nvSpPr>
          <p:cNvPr id="84" name="Text 81"/>
          <p:cNvSpPr txBox="1"/>
          <p:nvPr/>
        </p:nvSpPr>
        <p:spPr>
          <a:xfrm>
            <a:off x="8296656" y="5522976"/>
            <a:ext cx="3270504" cy="310896"/>
          </a:xfrm>
          <a:prstGeom prst="rect">
            <a:avLst/>
          </a:prstGeom>
          <a:noFill/>
          <a:ln/>
        </p:spPr>
        <p:txBody>
          <a:bodyPr wrap="square" lIns="0" tIns="0" rIns="0" bIns="0" rtlCol="0" anchor="ctr"/>
          <a:lstStyle/>
          <a:p>
            <a:pPr algn="l" indent="0" marL="0">
              <a:buNone/>
            </a:pPr>
            <a:r>
              <a:rPr lang="en-US" sz="1400" b="1" dirty="0">
                <a:solidFill>
                  <a:srgbClr val="1B3B6F"/>
                </a:solidFill>
                <a:latin typeface="Consolas" pitchFamily="34" charset="0"/>
                <a:cs typeface="Amiri" pitchFamily="2" charset="-78"/>
              </a:rPr>
              <a:t>1_  2_  3_  4_  5_</a:t>
            </a:r>
            <a:endParaRPr lang="en-US" sz="1400" dirty="0"/>
          </a:p>
        </p:txBody>
      </p:sp>
      <p:sp>
        <p:nvSpPr>
          <p:cNvPr id="85" name="Text 82"/>
          <p:cNvSpPr txBox="1"/>
          <p:nvPr/>
        </p:nvSpPr>
        <p:spPr>
          <a:xfrm>
            <a:off x="8296656" y="5742432"/>
            <a:ext cx="3270504" cy="402336"/>
          </a:xfrm>
          <a:prstGeom prst="rect">
            <a:avLst/>
          </a:prstGeom>
          <a:noFill/>
          <a:ln/>
        </p:spPr>
        <p:txBody>
          <a:bodyPr wrap="square" lIns="0" tIns="0" rIns="0" bIns="0" rtlCol="0" anchor="ctr"/>
          <a:lstStyle/>
          <a:p>
            <a:pPr algn="l" indent="0" marL="0">
              <a:buNone/>
            </a:pPr>
            <a:r>
              <a:rPr lang="en-US" sz="1800" b="1" dirty="0">
                <a:solidFill>
                  <a:srgbClr val="0E7C86"/>
                </a:solidFill>
                <a:latin typeface="Calibri" pitchFamily="34" charset="0"/>
                <a:cs typeface="Amiri" pitchFamily="2" charset="-78"/>
              </a:rPr>
              <a:t>⏱  5 : 00</a:t>
            </a:r>
            <a:endParaRPr lang="en-US" sz="1800" dirty="0"/>
          </a:p>
        </p:txBody>
      </p:sp>
      <p:sp>
        <p:nvSpPr>
          <p:cNvPr id="86" name="Text 8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 / 46</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D1-L04 · Before and After</a:t>
            </a:r>
            <a:endParaRPr lang="en-US" sz="950" dirty="0"/>
          </a:p>
        </p:txBody>
      </p:sp>
      <p:sp>
        <p:nvSpPr>
          <p:cNvPr id="8" name="Shape 6"/>
          <p:cNvSpPr/>
          <p:nvPr/>
        </p:nvSpPr>
        <p:spPr>
          <a:xfrm>
            <a:off x="7295083" y="274320"/>
            <a:ext cx="1464869" cy="329184"/>
          </a:xfrm>
          <a:prstGeom prst="roundRect">
            <a:avLst>
              <a:gd name="adj" fmla="val 50000"/>
            </a:avLst>
          </a:prstGeom>
          <a:solidFill>
            <a:srgbClr val="0E7C86"/>
          </a:solidFill>
          <a:ln w="12700">
            <a:solidFill>
              <a:srgbClr val="0E7C86"/>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DO NOW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0E7C86"/>
                </a:solidFill>
                <a:latin typeface="Calibri" pitchFamily="34" charset="0"/>
                <a:cs typeface="Amiri" pitchFamily="2" charset="-78"/>
              </a:rPr>
              <a:t>DO NOW · ANSWERS AND REASONS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Let’s check — and explain why</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الإِجَابَاتُ وَالتَّعْلِيلُ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D1 · Daily Routine and Time · D1-L04</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ea typeface="Amiri" pitchFamily="2" charset="-78"/>
                <a:cs typeface="Amiri" pitchFamily="2" charset="-78"/>
              </a:rPr>
              <a:t>قَبْلَ أَنْ</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19" name="Shape 16"/>
          <p:cNvSpPr/>
          <p:nvPr/>
        </p:nvSpPr>
        <p:spPr>
          <a:xfrm>
            <a:off x="640080" y="2490216"/>
            <a:ext cx="256032" cy="256032"/>
          </a:xfrm>
          <a:prstGeom prst="ellipse">
            <a:avLst/>
          </a:prstGeom>
          <a:solidFill>
            <a:srgbClr val="C9CED6"/>
          </a:solidFill>
          <a:ln w="12700">
            <a:solidFill>
              <a:srgbClr val="C9CED6"/>
            </a:solidFill>
            <a:prstDash val="solid"/>
          </a:ln>
        </p:spPr>
      </p:sp>
      <p:sp>
        <p:nvSpPr>
          <p:cNvPr id="20" name="Text 17"/>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after (+ verb)</a:t>
            </a:r>
            <a:endParaRPr lang="en-US" sz="1250" dirty="0"/>
          </a:p>
        </p:txBody>
      </p:sp>
      <p:sp>
        <p:nvSpPr>
          <p:cNvPr id="22" name="Shape 19"/>
          <p:cNvSpPr/>
          <p:nvPr/>
        </p:nvSpPr>
        <p:spPr>
          <a:xfrm>
            <a:off x="548640" y="2825496"/>
            <a:ext cx="3453384" cy="347472"/>
          </a:xfrm>
          <a:prstGeom prst="roundRect">
            <a:avLst>
              <a:gd name="adj" fmla="val 15789"/>
            </a:avLst>
          </a:prstGeom>
          <a:solidFill>
            <a:srgbClr val="E6F4EC"/>
          </a:solidFill>
          <a:ln w="9525">
            <a:solidFill>
              <a:srgbClr val="2E8B57"/>
            </a:solidFill>
            <a:prstDash val="solid"/>
          </a:ln>
        </p:spPr>
      </p:sp>
      <p:sp>
        <p:nvSpPr>
          <p:cNvPr id="23" name="Shape 20"/>
          <p:cNvSpPr/>
          <p:nvPr/>
        </p:nvSpPr>
        <p:spPr>
          <a:xfrm>
            <a:off x="640080" y="2862072"/>
            <a:ext cx="256032" cy="256032"/>
          </a:xfrm>
          <a:prstGeom prst="ellipse">
            <a:avLst/>
          </a:prstGeom>
          <a:solidFill>
            <a:srgbClr val="2E8B57"/>
          </a:solidFill>
          <a:ln w="12700">
            <a:solidFill>
              <a:srgbClr val="2E8B57"/>
            </a:solidFill>
            <a:prstDash val="solid"/>
          </a:ln>
        </p:spPr>
      </p:sp>
      <p:sp>
        <p:nvSpPr>
          <p:cNvPr id="24" name="Text 21"/>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25" name="Text 22"/>
          <p:cNvSpPr txBox="1"/>
          <p:nvPr/>
        </p:nvSpPr>
        <p:spPr>
          <a:xfrm>
            <a:off x="969264" y="2804160"/>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before (+ verb)</a:t>
            </a:r>
            <a:endParaRPr lang="en-US" sz="1250" dirty="0"/>
          </a:p>
        </p:txBody>
      </p:sp>
      <p:sp>
        <p:nvSpPr>
          <p:cNvPr id="26" name="Shape 23"/>
          <p:cNvSpPr/>
          <p:nvPr/>
        </p:nvSpPr>
        <p:spPr>
          <a:xfrm>
            <a:off x="640080" y="323392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when</a:t>
            </a:r>
            <a:endParaRPr lang="en-US" sz="1250" dirty="0"/>
          </a:p>
        </p:txBody>
      </p:sp>
      <p:sp>
        <p:nvSpPr>
          <p:cNvPr id="29" name="Text 26"/>
          <p:cNvSpPr txBox="1"/>
          <p:nvPr/>
        </p:nvSpPr>
        <p:spPr>
          <a:xfrm>
            <a:off x="585216"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Prepared at home.</a:t>
            </a:r>
            <a:endParaRPr lang="en-US" sz="1050" dirty="0"/>
          </a:p>
        </p:txBody>
      </p:sp>
      <p:sp>
        <p:nvSpPr>
          <p:cNvPr id="30" name="Shape 27"/>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ea typeface="Amiri" pitchFamily="2" charset="-78"/>
                <a:cs typeface="Amiri" pitchFamily="2" charset="-78"/>
              </a:rPr>
              <a:t>أَسْتَرِيحُ</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34" name="Shape 31"/>
          <p:cNvSpPr/>
          <p:nvPr/>
        </p:nvSpPr>
        <p:spPr>
          <a:xfrm>
            <a:off x="4367784" y="2453640"/>
            <a:ext cx="3453384" cy="347472"/>
          </a:xfrm>
          <a:prstGeom prst="roundRect">
            <a:avLst>
              <a:gd name="adj" fmla="val 15789"/>
            </a:avLst>
          </a:prstGeom>
          <a:solidFill>
            <a:srgbClr val="E6F4EC"/>
          </a:solidFill>
          <a:ln w="9525">
            <a:solidFill>
              <a:srgbClr val="2E8B57"/>
            </a:solidFill>
            <a:prstDash val="solid"/>
          </a:ln>
        </p:spPr>
      </p:sp>
      <p:sp>
        <p:nvSpPr>
          <p:cNvPr id="35" name="Shape 32"/>
          <p:cNvSpPr/>
          <p:nvPr/>
        </p:nvSpPr>
        <p:spPr>
          <a:xfrm>
            <a:off x="4459224" y="2490216"/>
            <a:ext cx="256032" cy="256032"/>
          </a:xfrm>
          <a:prstGeom prst="ellipse">
            <a:avLst/>
          </a:prstGeom>
          <a:solidFill>
            <a:srgbClr val="2E8B57"/>
          </a:solidFill>
          <a:ln w="12700">
            <a:solidFill>
              <a:srgbClr val="2E8B57"/>
            </a:solidFill>
            <a:prstDash val="solid"/>
          </a:ln>
        </p:spPr>
      </p:sp>
      <p:sp>
        <p:nvSpPr>
          <p:cNvPr id="36" name="Text 33"/>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37" name="Text 34"/>
          <p:cNvSpPr txBox="1"/>
          <p:nvPr/>
        </p:nvSpPr>
        <p:spPr>
          <a:xfrm>
            <a:off x="4788408" y="2432304"/>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I rest</a:t>
            </a:r>
            <a:endParaRPr lang="en-US" sz="1250" dirty="0"/>
          </a:p>
        </p:txBody>
      </p:sp>
      <p:sp>
        <p:nvSpPr>
          <p:cNvPr id="38" name="Shape 35"/>
          <p:cNvSpPr/>
          <p:nvPr/>
        </p:nvSpPr>
        <p:spPr>
          <a:xfrm>
            <a:off x="4459224" y="2862072"/>
            <a:ext cx="256032" cy="256032"/>
          </a:xfrm>
          <a:prstGeom prst="ellipse">
            <a:avLst/>
          </a:prstGeom>
          <a:solidFill>
            <a:srgbClr val="C9CED6"/>
          </a:solidFill>
          <a:ln w="12700">
            <a:solidFill>
              <a:srgbClr val="C9CED6"/>
            </a:solidFill>
            <a:prstDash val="solid"/>
          </a:ln>
        </p:spPr>
      </p:sp>
      <p:sp>
        <p:nvSpPr>
          <p:cNvPr id="39" name="Text 36"/>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0" name="Text 37"/>
          <p:cNvSpPr txBox="1"/>
          <p:nvPr/>
        </p:nvSpPr>
        <p:spPr>
          <a:xfrm>
            <a:off x="4788408"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I revise</a:t>
            </a:r>
            <a:endParaRPr lang="en-US" sz="1250" dirty="0"/>
          </a:p>
        </p:txBody>
      </p:sp>
      <p:sp>
        <p:nvSpPr>
          <p:cNvPr id="41" name="Shape 38"/>
          <p:cNvSpPr/>
          <p:nvPr/>
        </p:nvSpPr>
        <p:spPr>
          <a:xfrm>
            <a:off x="4459224" y="3233928"/>
            <a:ext cx="256032" cy="256032"/>
          </a:xfrm>
          <a:prstGeom prst="ellipse">
            <a:avLst/>
          </a:prstGeom>
          <a:solidFill>
            <a:srgbClr val="C9CED6"/>
          </a:solidFill>
          <a:ln w="12700">
            <a:solidFill>
              <a:srgbClr val="C9CED6"/>
            </a:solidFill>
            <a:prstDash val="solid"/>
          </a:ln>
        </p:spPr>
      </p:sp>
      <p:sp>
        <p:nvSpPr>
          <p:cNvPr id="42" name="Text 39"/>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3" name="Text 40"/>
          <p:cNvSpPr txBox="1"/>
          <p:nvPr/>
        </p:nvSpPr>
        <p:spPr>
          <a:xfrm>
            <a:off x="4788408"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I return</a:t>
            </a:r>
            <a:endParaRPr lang="en-US" sz="1250" dirty="0"/>
          </a:p>
        </p:txBody>
      </p:sp>
      <p:sp>
        <p:nvSpPr>
          <p:cNvPr id="44" name="Text 41"/>
          <p:cNvSpPr txBox="1"/>
          <p:nvPr/>
        </p:nvSpPr>
        <p:spPr>
          <a:xfrm>
            <a:off x="4404360"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Prepared at home.</a:t>
            </a:r>
            <a:endParaRPr lang="en-US" sz="1050" dirty="0"/>
          </a:p>
        </p:txBody>
      </p:sp>
      <p:sp>
        <p:nvSpPr>
          <p:cNvPr id="45" name="Shape 42"/>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ea typeface="Amiri" pitchFamily="2" charset="-78"/>
                <a:cs typeface="Amiri" pitchFamily="2" charset="-78"/>
              </a:rPr>
              <a:t>نَادِرًا</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49" name="Shape 46"/>
          <p:cNvSpPr/>
          <p:nvPr/>
        </p:nvSpPr>
        <p:spPr>
          <a:xfrm>
            <a:off x="8278368" y="2490216"/>
            <a:ext cx="256032" cy="256032"/>
          </a:xfrm>
          <a:prstGeom prst="ellipse">
            <a:avLst/>
          </a:prstGeom>
          <a:solidFill>
            <a:srgbClr val="C9CED6"/>
          </a:solidFill>
          <a:ln w="12700">
            <a:solidFill>
              <a:srgbClr val="C9CED6"/>
            </a:solidFill>
            <a:prstDash val="solid"/>
          </a:ln>
        </p:spPr>
      </p:sp>
      <p:sp>
        <p:nvSpPr>
          <p:cNvPr id="50" name="Text 47"/>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1" name="Text 48"/>
          <p:cNvSpPr txBox="1"/>
          <p:nvPr/>
        </p:nvSpPr>
        <p:spPr>
          <a:xfrm>
            <a:off x="8607552"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always</a:t>
            </a:r>
            <a:endParaRPr lang="en-US" sz="1250" dirty="0"/>
          </a:p>
        </p:txBody>
      </p:sp>
      <p:sp>
        <p:nvSpPr>
          <p:cNvPr id="52" name="Shape 49"/>
          <p:cNvSpPr/>
          <p:nvPr/>
        </p:nvSpPr>
        <p:spPr>
          <a:xfrm>
            <a:off x="8278368" y="2862072"/>
            <a:ext cx="256032" cy="256032"/>
          </a:xfrm>
          <a:prstGeom prst="ellipse">
            <a:avLst/>
          </a:prstGeom>
          <a:solidFill>
            <a:srgbClr val="C9CED6"/>
          </a:solidFill>
          <a:ln w="12700">
            <a:solidFill>
              <a:srgbClr val="C9CED6"/>
            </a:solidFill>
            <a:prstDash val="solid"/>
          </a:ln>
        </p:spPr>
      </p:sp>
      <p:sp>
        <p:nvSpPr>
          <p:cNvPr id="53" name="Text 50"/>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4" name="Text 51"/>
          <p:cNvSpPr txBox="1"/>
          <p:nvPr/>
        </p:nvSpPr>
        <p:spPr>
          <a:xfrm>
            <a:off x="8607552"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daily</a:t>
            </a:r>
            <a:endParaRPr lang="en-US" sz="1250" dirty="0"/>
          </a:p>
        </p:txBody>
      </p:sp>
      <p:sp>
        <p:nvSpPr>
          <p:cNvPr id="55" name="Shape 52"/>
          <p:cNvSpPr/>
          <p:nvPr/>
        </p:nvSpPr>
        <p:spPr>
          <a:xfrm>
            <a:off x="8186928" y="3197352"/>
            <a:ext cx="3453384" cy="347472"/>
          </a:xfrm>
          <a:prstGeom prst="roundRect">
            <a:avLst>
              <a:gd name="adj" fmla="val 15789"/>
            </a:avLst>
          </a:prstGeom>
          <a:solidFill>
            <a:srgbClr val="E6F4EC"/>
          </a:solidFill>
          <a:ln w="9525">
            <a:solidFill>
              <a:srgbClr val="2E8B57"/>
            </a:solidFill>
            <a:prstDash val="solid"/>
          </a:ln>
        </p:spPr>
      </p:sp>
      <p:sp>
        <p:nvSpPr>
          <p:cNvPr id="56" name="Shape 53"/>
          <p:cNvSpPr/>
          <p:nvPr/>
        </p:nvSpPr>
        <p:spPr>
          <a:xfrm>
            <a:off x="8278368" y="3233928"/>
            <a:ext cx="256032" cy="256032"/>
          </a:xfrm>
          <a:prstGeom prst="ellipse">
            <a:avLst/>
          </a:prstGeom>
          <a:solidFill>
            <a:srgbClr val="2E8B57"/>
          </a:solidFill>
          <a:ln w="12700">
            <a:solidFill>
              <a:srgbClr val="2E8B57"/>
            </a:solidFill>
            <a:prstDash val="solid"/>
          </a:ln>
        </p:spPr>
      </p:sp>
      <p:sp>
        <p:nvSpPr>
          <p:cNvPr id="57" name="Text 54"/>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58" name="Text 55"/>
          <p:cNvSpPr txBox="1"/>
          <p:nvPr/>
        </p:nvSpPr>
        <p:spPr>
          <a:xfrm>
            <a:off x="8607552" y="3176016"/>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rarely</a:t>
            </a:r>
            <a:endParaRPr lang="en-US" sz="1250" dirty="0"/>
          </a:p>
        </p:txBody>
      </p:sp>
      <p:sp>
        <p:nvSpPr>
          <p:cNvPr id="59" name="Text 56"/>
          <p:cNvSpPr txBox="1"/>
          <p:nvPr/>
        </p:nvSpPr>
        <p:spPr>
          <a:xfrm>
            <a:off x="8223504"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D1-L03 frequency ladder.</a:t>
            </a:r>
            <a:endParaRPr lang="en-US" sz="1050" dirty="0"/>
          </a:p>
        </p:txBody>
      </p:sp>
      <p:sp>
        <p:nvSpPr>
          <p:cNvPr id="60" name="Shape 57"/>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585216" y="4288536"/>
            <a:ext cx="310896" cy="310896"/>
          </a:xfrm>
          <a:prstGeom prst="ellipse">
            <a:avLst/>
          </a:prstGeom>
          <a:solidFill>
            <a:srgbClr val="1B3B6F"/>
          </a:solidFill>
          <a:ln w="12700">
            <a:solidFill>
              <a:srgbClr val="1B3B6F"/>
            </a:solidFill>
            <a:prstDash val="solid"/>
          </a:ln>
        </p:spPr>
      </p:sp>
      <p:sp>
        <p:nvSpPr>
          <p:cNvPr id="62" name="Text 59"/>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3" name="Text 60"/>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accurate sentence.</a:t>
            </a:r>
            <a:endParaRPr lang="en-US" sz="1250" dirty="0"/>
          </a:p>
        </p:txBody>
      </p:sp>
      <p:sp>
        <p:nvSpPr>
          <p:cNvPr id="64" name="Shape 61"/>
          <p:cNvSpPr/>
          <p:nvPr/>
        </p:nvSpPr>
        <p:spPr>
          <a:xfrm>
            <a:off x="640080" y="4831080"/>
            <a:ext cx="256032" cy="256032"/>
          </a:xfrm>
          <a:prstGeom prst="ellipse">
            <a:avLst/>
          </a:prstGeom>
          <a:solidFill>
            <a:srgbClr val="C9CED6"/>
          </a:solidFill>
          <a:ln w="12700">
            <a:solidFill>
              <a:srgbClr val="C9CED6"/>
            </a:solidFill>
            <a:prstDash val="solid"/>
          </a:ln>
        </p:spPr>
      </p:sp>
      <p:sp>
        <p:nvSpPr>
          <p:cNvPr id="65" name="Text 62"/>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6" name="Text 63"/>
          <p:cNvSpPr txBox="1"/>
          <p:nvPr/>
        </p:nvSpPr>
        <p:spPr>
          <a:xfrm>
            <a:off x="969264" y="4773168"/>
            <a:ext cx="2977896" cy="371856"/>
          </a:xfrm>
          <a:prstGeom prst="rect">
            <a:avLst/>
          </a:prstGeom>
          <a:noFill/>
          <a:ln/>
        </p:spPr>
        <p:txBody>
          <a:bodyPr wrap="square" lIns="0" tIns="0" rIns="0" bIns="0" rtlCol="0" anchor="ctr"/>
          <a:lstStyle/>
          <a:p>
            <a:pPr rtl="1" algn="r" indent="0" marL="0">
              <a:buNone/>
            </a:pPr>
            <a:r>
              <a:rPr lang="ar-SA" altLang="en-US" sz="1500" dirty="0">
                <a:solidFill>
                  <a:srgbClr val="9AA1AB"/>
                </a:solidFill>
                <a:latin typeface="Amiri" pitchFamily="2" charset="-78"/>
                <a:ea typeface="Amiri" pitchFamily="2" charset="-78"/>
                <a:cs typeface="Amiri" pitchFamily="2" charset="-78"/>
              </a:rPr>
              <a:t>أَتَمَرَّنُ يَوْمِيًّا، بَيْنَمَا أَتَمَرَّنُ أُخْتِي أُسْبُوعِيًّا.</a:t>
            </a:r>
            <a:endParaRPr lang="ar-SA" sz="1500" dirty="0"/>
          </a:p>
        </p:txBody>
      </p:sp>
      <p:sp>
        <p:nvSpPr>
          <p:cNvPr id="67" name="Shape 64"/>
          <p:cNvSpPr/>
          <p:nvPr/>
        </p:nvSpPr>
        <p:spPr>
          <a:xfrm>
            <a:off x="640080" y="5202936"/>
            <a:ext cx="256032" cy="256032"/>
          </a:xfrm>
          <a:prstGeom prst="ellipse">
            <a:avLst/>
          </a:prstGeom>
          <a:solidFill>
            <a:srgbClr val="C9CED6"/>
          </a:solidFill>
          <a:ln w="12700">
            <a:solidFill>
              <a:srgbClr val="C9CED6"/>
            </a:solidFill>
            <a:prstDash val="solid"/>
          </a:ln>
        </p:spPr>
      </p:sp>
      <p:sp>
        <p:nvSpPr>
          <p:cNvPr id="68" name="Text 65"/>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9" name="Text 66"/>
          <p:cNvSpPr txBox="1"/>
          <p:nvPr/>
        </p:nvSpPr>
        <p:spPr>
          <a:xfrm>
            <a:off x="969264" y="5145024"/>
            <a:ext cx="2977896" cy="371856"/>
          </a:xfrm>
          <a:prstGeom prst="rect">
            <a:avLst/>
          </a:prstGeom>
          <a:noFill/>
          <a:ln/>
        </p:spPr>
        <p:txBody>
          <a:bodyPr wrap="square" lIns="0" tIns="0" rIns="0" bIns="0" rtlCol="0" anchor="ctr"/>
          <a:lstStyle/>
          <a:p>
            <a:pPr rtl="1" algn="r" indent="0" marL="0">
              <a:buNone/>
            </a:pPr>
            <a:r>
              <a:rPr lang="ar-SA" altLang="en-US" sz="1500" dirty="0">
                <a:solidFill>
                  <a:srgbClr val="9AA1AB"/>
                </a:solidFill>
                <a:latin typeface="Amiri" pitchFamily="2" charset="-78"/>
                <a:ea typeface="Amiri" pitchFamily="2" charset="-78"/>
                <a:cs typeface="Amiri" pitchFamily="2" charset="-78"/>
              </a:rPr>
              <a:t>أَتَمَرَّنُ يَوْمِيًّا، بَيْنَمَا يَتَمَرَّنُ أُخْتِي أُسْبُوعِيًّا.</a:t>
            </a:r>
            <a:endParaRPr lang="ar-SA" sz="1500" dirty="0"/>
          </a:p>
        </p:txBody>
      </p:sp>
      <p:sp>
        <p:nvSpPr>
          <p:cNvPr id="70" name="Shape 67"/>
          <p:cNvSpPr/>
          <p:nvPr/>
        </p:nvSpPr>
        <p:spPr>
          <a:xfrm>
            <a:off x="548640" y="5538216"/>
            <a:ext cx="3453384" cy="347472"/>
          </a:xfrm>
          <a:prstGeom prst="roundRect">
            <a:avLst>
              <a:gd name="adj" fmla="val 15789"/>
            </a:avLst>
          </a:prstGeom>
          <a:solidFill>
            <a:srgbClr val="E6F4EC"/>
          </a:solidFill>
          <a:ln w="9525">
            <a:solidFill>
              <a:srgbClr val="2E8B57"/>
            </a:solidFill>
            <a:prstDash val="solid"/>
          </a:ln>
        </p:spPr>
      </p:sp>
      <p:sp>
        <p:nvSpPr>
          <p:cNvPr id="71" name="Shape 68"/>
          <p:cNvSpPr/>
          <p:nvPr/>
        </p:nvSpPr>
        <p:spPr>
          <a:xfrm>
            <a:off x="640080" y="5574792"/>
            <a:ext cx="256032" cy="256032"/>
          </a:xfrm>
          <a:prstGeom prst="ellipse">
            <a:avLst/>
          </a:prstGeom>
          <a:solidFill>
            <a:srgbClr val="2E8B57"/>
          </a:solidFill>
          <a:ln w="12700">
            <a:solidFill>
              <a:srgbClr val="2E8B57"/>
            </a:solidFill>
            <a:prstDash val="solid"/>
          </a:ln>
        </p:spPr>
      </p:sp>
      <p:sp>
        <p:nvSpPr>
          <p:cNvPr id="72" name="Text 69"/>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73" name="Text 70"/>
          <p:cNvSpPr txBox="1"/>
          <p:nvPr/>
        </p:nvSpPr>
        <p:spPr>
          <a:xfrm>
            <a:off x="969264" y="5516880"/>
            <a:ext cx="2977896" cy="371856"/>
          </a:xfrm>
          <a:prstGeom prst="rect">
            <a:avLst/>
          </a:prstGeom>
          <a:noFill/>
          <a:ln/>
        </p:spPr>
        <p:txBody>
          <a:bodyPr wrap="square" lIns="0" tIns="0" rIns="0" bIns="0" rtlCol="0" anchor="ctr"/>
          <a:lstStyle/>
          <a:p>
            <a:pPr rtl="1" algn="r" indent="0" marL="0">
              <a:buNone/>
            </a:pPr>
            <a:r>
              <a:rPr lang="ar-SA" altLang="en-US" sz="1500" b="1" dirty="0">
                <a:solidFill>
                  <a:srgbClr val="1F2A37"/>
                </a:solidFill>
                <a:latin typeface="Amiri" pitchFamily="2" charset="-78"/>
                <a:ea typeface="Amiri" pitchFamily="2" charset="-78"/>
                <a:cs typeface="Amiri" pitchFamily="2" charset="-78"/>
              </a:rPr>
              <a:t>أَتَمَرَّنُ يَوْمِيًّا، بَيْنَمَا تَتَمَرَّنُ أُخْتِي أُسْبُوعِيًّا.</a:t>
            </a:r>
            <a:endParaRPr lang="ar-SA" sz="1500" dirty="0"/>
          </a:p>
        </p:txBody>
      </p:sp>
      <p:sp>
        <p:nvSpPr>
          <p:cNvPr id="74" name="Text 71"/>
          <p:cNvSpPr txBox="1"/>
          <p:nvPr/>
        </p:nvSpPr>
        <p:spPr>
          <a:xfrm>
            <a:off x="585216"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D1-L03: after </a:t>
            </a:r>
            <a:pPr algn="l" indent="0" marL="0">
              <a:buNone/>
            </a:pPr>
            <a:r>
              <a:rPr lang="ar-SA" altLang="en-US" sz="1350" dirty="0">
                <a:solidFill>
                  <a:srgbClr val="8A6D1E"/>
                </a:solidFill>
                <a:latin typeface="Amiri" pitchFamily="2" charset="-78"/>
                <a:ea typeface="Amiri" pitchFamily="2" charset="-78"/>
                <a:cs typeface="Amiri" pitchFamily="2" charset="-78"/>
              </a:rPr>
              <a:t>بَيْنَمَا</a:t>
            </a:r>
            <a:pPr algn="l" indent="0" marL="0">
              <a:buNone/>
            </a:pPr>
            <a:r>
              <a:rPr lang="en-US" sz="1050" i="1" dirty="0">
                <a:solidFill>
                  <a:srgbClr val="8A6D1E"/>
                </a:solidFill>
                <a:latin typeface="Calibri" pitchFamily="34" charset="0"/>
                <a:cs typeface="Amiri" pitchFamily="2" charset="-78"/>
              </a:rPr>
              <a:t> the verb matches its own subject.</a:t>
            </a:r>
            <a:endParaRPr lang="en-US" sz="1050" dirty="0"/>
          </a:p>
        </p:txBody>
      </p:sp>
      <p:sp>
        <p:nvSpPr>
          <p:cNvPr id="75" name="Shape 72"/>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6" name="Shape 73"/>
          <p:cNvSpPr/>
          <p:nvPr/>
        </p:nvSpPr>
        <p:spPr>
          <a:xfrm>
            <a:off x="4404360" y="4288536"/>
            <a:ext cx="310896" cy="310896"/>
          </a:xfrm>
          <a:prstGeom prst="ellipse">
            <a:avLst/>
          </a:prstGeom>
          <a:solidFill>
            <a:srgbClr val="1B3B6F"/>
          </a:solidFill>
          <a:ln w="12700">
            <a:solidFill>
              <a:srgbClr val="1B3B6F"/>
            </a:solidFill>
            <a:prstDash val="solid"/>
          </a:ln>
        </p:spPr>
      </p:sp>
      <p:sp>
        <p:nvSpPr>
          <p:cNvPr id="77" name="Text 74"/>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8" name="Text 75"/>
          <p:cNvSpPr txBox="1"/>
          <p:nvPr/>
        </p:nvSpPr>
        <p:spPr>
          <a:xfrm>
            <a:off x="4770120" y="4224528"/>
            <a:ext cx="1395070"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Which is half past four?</a:t>
            </a:r>
            <a:endParaRPr lang="en-US" sz="1200" dirty="0"/>
          </a:p>
        </p:txBody>
      </p:sp>
      <p:sp>
        <p:nvSpPr>
          <p:cNvPr id="79" name="Text 76"/>
          <p:cNvSpPr txBox="1"/>
          <p:nvPr/>
        </p:nvSpPr>
        <p:spPr>
          <a:xfrm>
            <a:off x="6225845" y="4224528"/>
            <a:ext cx="1577035" cy="475488"/>
          </a:xfrm>
          <a:prstGeom prst="rect">
            <a:avLst/>
          </a:prstGeom>
          <a:noFill/>
          <a:ln/>
        </p:spPr>
        <p:txBody>
          <a:bodyPr wrap="square" lIns="0" tIns="0" rIns="0" bIns="0" rtlCol="0" anchor="ctr"/>
          <a:lstStyle/>
          <a:p>
            <a:pPr rtl="1" algn="r" indent="0" marL="0">
              <a:buNone/>
            </a:pPr>
            <a:r>
              <a:rPr lang="ar-SA" altLang="en-US" sz="2200" b="1" dirty="0">
                <a:solidFill>
                  <a:srgbClr val="1B3B6F"/>
                </a:solidFill>
                <a:latin typeface="Amiri" pitchFamily="2" charset="-78"/>
                <a:ea typeface="Amiri" pitchFamily="2" charset="-78"/>
                <a:cs typeface="Amiri" pitchFamily="2" charset="-78"/>
              </a:rPr>
              <a:t>٤:٣٠</a:t>
            </a:r>
            <a:endParaRPr lang="ar-SA" sz="2200" dirty="0"/>
          </a:p>
        </p:txBody>
      </p:sp>
      <p:sp>
        <p:nvSpPr>
          <p:cNvPr id="80" name="Shape 77"/>
          <p:cNvSpPr/>
          <p:nvPr/>
        </p:nvSpPr>
        <p:spPr>
          <a:xfrm>
            <a:off x="4367784" y="4794504"/>
            <a:ext cx="3453384" cy="347472"/>
          </a:xfrm>
          <a:prstGeom prst="roundRect">
            <a:avLst>
              <a:gd name="adj" fmla="val 15789"/>
            </a:avLst>
          </a:prstGeom>
          <a:solidFill>
            <a:srgbClr val="E6F4EC"/>
          </a:solidFill>
          <a:ln w="9525">
            <a:solidFill>
              <a:srgbClr val="2E8B57"/>
            </a:solidFill>
            <a:prstDash val="solid"/>
          </a:ln>
        </p:spPr>
      </p:sp>
      <p:sp>
        <p:nvSpPr>
          <p:cNvPr id="81" name="Shape 78"/>
          <p:cNvSpPr/>
          <p:nvPr/>
        </p:nvSpPr>
        <p:spPr>
          <a:xfrm>
            <a:off x="4459224" y="4831080"/>
            <a:ext cx="256032" cy="256032"/>
          </a:xfrm>
          <a:prstGeom prst="ellipse">
            <a:avLst/>
          </a:prstGeom>
          <a:solidFill>
            <a:srgbClr val="2E8B57"/>
          </a:solidFill>
          <a:ln w="12700">
            <a:solidFill>
              <a:srgbClr val="2E8B57"/>
            </a:solidFill>
            <a:prstDash val="solid"/>
          </a:ln>
        </p:spPr>
      </p:sp>
      <p:sp>
        <p:nvSpPr>
          <p:cNvPr id="82" name="Text 79"/>
          <p:cNvSpPr txBox="1"/>
          <p:nvPr/>
        </p:nvSpPr>
        <p:spPr>
          <a:xfrm>
            <a:off x="4459224"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83" name="Text 80"/>
          <p:cNvSpPr txBox="1"/>
          <p:nvPr/>
        </p:nvSpPr>
        <p:spPr>
          <a:xfrm>
            <a:off x="4788408" y="4773168"/>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الرَّابِعَةُ وَالنِّصْفُ</a:t>
            </a:r>
            <a:endParaRPr lang="ar-SA" sz="1700" dirty="0"/>
          </a:p>
        </p:txBody>
      </p:sp>
      <p:sp>
        <p:nvSpPr>
          <p:cNvPr id="84" name="Shape 81"/>
          <p:cNvSpPr/>
          <p:nvPr/>
        </p:nvSpPr>
        <p:spPr>
          <a:xfrm>
            <a:off x="4459224" y="5202936"/>
            <a:ext cx="256032" cy="256032"/>
          </a:xfrm>
          <a:prstGeom prst="ellipse">
            <a:avLst/>
          </a:prstGeom>
          <a:solidFill>
            <a:srgbClr val="C9CED6"/>
          </a:solidFill>
          <a:ln w="12700">
            <a:solidFill>
              <a:srgbClr val="C9CED6"/>
            </a:solidFill>
            <a:prstDash val="solid"/>
          </a:ln>
        </p:spPr>
      </p:sp>
      <p:sp>
        <p:nvSpPr>
          <p:cNvPr id="85" name="Text 82"/>
          <p:cNvSpPr txBox="1"/>
          <p:nvPr/>
        </p:nvSpPr>
        <p:spPr>
          <a:xfrm>
            <a:off x="4459224"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86" name="Text 83"/>
          <p:cNvSpPr txBox="1"/>
          <p:nvPr/>
        </p:nvSpPr>
        <p:spPr>
          <a:xfrm>
            <a:off x="4788408" y="514502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الرَّابِعَةُ إِلَّا الرُّبْعَ</a:t>
            </a:r>
            <a:endParaRPr lang="ar-SA" sz="1700" dirty="0"/>
          </a:p>
        </p:txBody>
      </p:sp>
      <p:sp>
        <p:nvSpPr>
          <p:cNvPr id="87" name="Shape 84"/>
          <p:cNvSpPr/>
          <p:nvPr/>
        </p:nvSpPr>
        <p:spPr>
          <a:xfrm>
            <a:off x="4459224" y="5574792"/>
            <a:ext cx="256032" cy="256032"/>
          </a:xfrm>
          <a:prstGeom prst="ellipse">
            <a:avLst/>
          </a:prstGeom>
          <a:solidFill>
            <a:srgbClr val="C9CED6"/>
          </a:solidFill>
          <a:ln w="12700">
            <a:solidFill>
              <a:srgbClr val="C9CED6"/>
            </a:solidFill>
            <a:prstDash val="solid"/>
          </a:ln>
        </p:spPr>
      </p:sp>
      <p:sp>
        <p:nvSpPr>
          <p:cNvPr id="88" name="Text 85"/>
          <p:cNvSpPr txBox="1"/>
          <p:nvPr/>
        </p:nvSpPr>
        <p:spPr>
          <a:xfrm>
            <a:off x="4459224"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9" name="Text 86"/>
          <p:cNvSpPr txBox="1"/>
          <p:nvPr/>
        </p:nvSpPr>
        <p:spPr>
          <a:xfrm>
            <a:off x="4788408" y="551688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الخَامِسَةُ وَالنِّصْفُ</a:t>
            </a:r>
            <a:endParaRPr lang="ar-SA" sz="1700" dirty="0"/>
          </a:p>
        </p:txBody>
      </p:sp>
      <p:sp>
        <p:nvSpPr>
          <p:cNvPr id="90" name="Text 87"/>
          <p:cNvSpPr txBox="1"/>
          <p:nvPr/>
        </p:nvSpPr>
        <p:spPr>
          <a:xfrm>
            <a:off x="4404360"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D1-L02 time.</a:t>
            </a:r>
            <a:endParaRPr lang="en-US" sz="1050" dirty="0"/>
          </a:p>
        </p:txBody>
      </p:sp>
      <p:sp>
        <p:nvSpPr>
          <p:cNvPr id="91" name="Shape 88"/>
          <p:cNvSpPr/>
          <p:nvPr/>
        </p:nvSpPr>
        <p:spPr>
          <a:xfrm>
            <a:off x="8095488" y="4151376"/>
            <a:ext cx="3636264" cy="2157984"/>
          </a:xfrm>
          <a:prstGeom prst="roundRect">
            <a:avLst>
              <a:gd name="adj" fmla="val 3390"/>
            </a:avLst>
          </a:prstGeom>
          <a:solidFill>
            <a:srgbClr val="FFF7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92" name="Text 89"/>
          <p:cNvSpPr txBox="1"/>
          <p:nvPr/>
        </p:nvSpPr>
        <p:spPr>
          <a:xfrm>
            <a:off x="8278368" y="4279392"/>
            <a:ext cx="3270504" cy="256032"/>
          </a:xfrm>
          <a:prstGeom prst="rect">
            <a:avLst/>
          </a:prstGeom>
          <a:noFill/>
          <a:ln/>
        </p:spPr>
        <p:txBody>
          <a:bodyPr wrap="square" lIns="0" tIns="0" rIns="0" bIns="0" rtlCol="0" anchor="ctr"/>
          <a:lstStyle/>
          <a:p>
            <a:pPr algn="l" indent="0" marL="0">
              <a:buNone/>
            </a:pPr>
            <a:r>
              <a:rPr lang="en-US" sz="1000" b="1" spc="200" kern="0" dirty="0">
                <a:solidFill>
                  <a:srgbClr val="8A6D1E"/>
                </a:solidFill>
                <a:latin typeface="Calibri" pitchFamily="34" charset="0"/>
                <a:cs typeface="Amiri" pitchFamily="2" charset="-78"/>
              </a:rPr>
              <a:t>THE KEY IDEA FOR TODAY</a:t>
            </a:r>
            <a:endParaRPr lang="en-US" sz="1000" dirty="0"/>
          </a:p>
        </p:txBody>
      </p:sp>
      <p:sp>
        <p:nvSpPr>
          <p:cNvPr id="93" name="Text 90"/>
          <p:cNvSpPr txBox="1"/>
          <p:nvPr/>
        </p:nvSpPr>
        <p:spPr>
          <a:xfrm>
            <a:off x="8278368" y="4553712"/>
            <a:ext cx="3270504" cy="640080"/>
          </a:xfrm>
          <a:prstGeom prst="rect">
            <a:avLst/>
          </a:prstGeom>
          <a:noFill/>
          <a:ln/>
        </p:spPr>
        <p:txBody>
          <a:bodyPr wrap="square" lIns="0" tIns="0" rIns="0" bIns="0" rtlCol="0" anchor="t"/>
          <a:lstStyle/>
          <a:p>
            <a:pPr algn="l" indent="0" marL="0">
              <a:buNone/>
            </a:pPr>
            <a:r>
              <a:rPr lang="ar-SA" altLang="en-US" sz="1700" b="1" dirty="0">
                <a:solidFill>
                  <a:srgbClr val="1F2A37"/>
                </a:solidFill>
                <a:latin typeface="Amiri" pitchFamily="2" charset="-78"/>
                <a:ea typeface="Amiri" pitchFamily="2" charset="-78"/>
                <a:cs typeface="Amiri" pitchFamily="2" charset="-78"/>
              </a:rPr>
              <a:t>قَبْلَ / بَعْدَ</a:t>
            </a:r>
            <a:pPr algn="l" indent="0" marL="0">
              <a:buNone/>
            </a:pPr>
            <a:r>
              <a:rPr lang="en-US" sz="1300" b="1" dirty="0">
                <a:solidFill>
                  <a:srgbClr val="1F2A37"/>
                </a:solidFill>
                <a:latin typeface="Calibri" pitchFamily="34" charset="0"/>
                <a:cs typeface="Amiri" pitchFamily="2" charset="-78"/>
              </a:rPr>
              <a:t> + a noun: nothing extra. </a:t>
            </a:r>
            <a:pPr algn="l" indent="0" marL="0">
              <a:buNone/>
            </a:pPr>
            <a:r>
              <a:rPr lang="ar-SA" altLang="en-US" sz="1700" b="1" dirty="0">
                <a:solidFill>
                  <a:srgbClr val="1F2A37"/>
                </a:solidFill>
                <a:latin typeface="Amiri" pitchFamily="2" charset="-78"/>
                <a:ea typeface="Amiri" pitchFamily="2" charset="-78"/>
                <a:cs typeface="Amiri" pitchFamily="2" charset="-78"/>
              </a:rPr>
              <a:t>قَبْلَ أَنْ / بَعْدَ أَنْ</a:t>
            </a:r>
            <a:pPr algn="l" indent="0" marL="0">
              <a:buNone/>
            </a:pPr>
            <a:r>
              <a:rPr lang="en-US" sz="1300" b="1" dirty="0">
                <a:solidFill>
                  <a:srgbClr val="1F2A37"/>
                </a:solidFill>
                <a:latin typeface="Calibri" pitchFamily="34" charset="0"/>
                <a:cs typeface="Amiri" pitchFamily="2" charset="-78"/>
              </a:rPr>
              <a:t> + a verb: the verb ending changes.</a:t>
            </a:r>
            <a:endParaRPr lang="en-US" sz="1300" dirty="0"/>
          </a:p>
        </p:txBody>
      </p:sp>
      <p:sp>
        <p:nvSpPr>
          <p:cNvPr id="94" name="Text 91"/>
          <p:cNvSpPr txBox="1"/>
          <p:nvPr/>
        </p:nvSpPr>
        <p:spPr>
          <a:xfrm>
            <a:off x="8278368" y="5202936"/>
            <a:ext cx="3270504" cy="1014984"/>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قَبْلَ </a:t>
            </a:r>
            <a:pPr rtl="1" algn="ctr" indent="0" marL="0">
              <a:buNone/>
            </a:pPr>
            <a:r>
              <a:rPr lang="ar-SA" altLang="en-US" sz="2400" b="1" dirty="0">
                <a:solidFill>
                  <a:srgbClr val="0E7C86"/>
                </a:solidFill>
                <a:latin typeface="Amiri" pitchFamily="2" charset="-78"/>
                <a:ea typeface="Amiri" pitchFamily="2" charset="-78"/>
                <a:cs typeface="Amiri" pitchFamily="2" charset="-78"/>
              </a:rPr>
              <a:t>النَّوْمِ</a:t>
            </a:r>
            <a:pPr rtl="1" algn="ctr" indent="0" marL="0">
              <a:buNone/>
            </a:pPr>
            <a:r>
              <a:rPr lang="ar-SA" altLang="en-US" sz="2400" b="1" dirty="0">
                <a:solidFill>
                  <a:srgbClr val="1B3B6F"/>
                </a:solidFill>
                <a:latin typeface="Amiri" pitchFamily="2" charset="-78"/>
                <a:ea typeface="Amiri" pitchFamily="2" charset="-78"/>
                <a:cs typeface="Amiri" pitchFamily="2" charset="-78"/>
              </a:rPr>
              <a:t>  ←→  قَبْلَ </a:t>
            </a:r>
            <a:pPr rtl="1" algn="ctr" indent="0" marL="0">
              <a:buNone/>
            </a:pPr>
            <a:r>
              <a:rPr lang="ar-SA" altLang="en-US" sz="2400" b="1" dirty="0">
                <a:solidFill>
                  <a:srgbClr val="0E7C86"/>
                </a:solidFill>
                <a:latin typeface="Amiri" pitchFamily="2" charset="-78"/>
                <a:ea typeface="Amiri" pitchFamily="2" charset="-78"/>
                <a:cs typeface="Amiri" pitchFamily="2" charset="-78"/>
              </a:rPr>
              <a:t>أَنْ</a:t>
            </a:r>
            <a:pPr rtl="1" algn="ctr" indent="0" marL="0">
              <a:buNone/>
            </a:pPr>
            <a:r>
              <a:rPr lang="ar-SA" altLang="en-US" sz="2400" b="1" dirty="0">
                <a:solidFill>
                  <a:srgbClr val="1B3B6F"/>
                </a:solidFill>
                <a:latin typeface="Amiri" pitchFamily="2" charset="-78"/>
                <a:ea typeface="Amiri" pitchFamily="2" charset="-78"/>
                <a:cs typeface="Amiri" pitchFamily="2" charset="-78"/>
              </a:rPr>
              <a:t> أَنَا</a:t>
            </a:r>
            <a:pPr rtl="1" algn="ctr" indent="0" marL="0">
              <a:buNone/>
            </a:pPr>
            <a:r>
              <a:rPr lang="ar-SA" altLang="en-US" sz="2400" b="1" dirty="0">
                <a:solidFill>
                  <a:srgbClr val="D6336C"/>
                </a:solidFill>
                <a:latin typeface="Amiri" pitchFamily="2" charset="-78"/>
                <a:ea typeface="Amiri" pitchFamily="2" charset="-78"/>
                <a:cs typeface="Amiri" pitchFamily="2" charset="-78"/>
              </a:rPr>
              <a:t>مَ</a:t>
            </a:r>
            <a:endParaRPr lang="ar-SA" sz="2400" dirty="0"/>
          </a:p>
        </p:txBody>
      </p:sp>
      <p:sp>
        <p:nvSpPr>
          <p:cNvPr id="95" name="Text 9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5 / 46</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D1-L04 · Before and After</a:t>
            </a:r>
            <a:endParaRPr lang="en-US" sz="950" dirty="0"/>
          </a:p>
        </p:txBody>
      </p:sp>
      <p:sp>
        <p:nvSpPr>
          <p:cNvPr id="8" name="Shape 6"/>
          <p:cNvSpPr/>
          <p:nvPr/>
        </p:nvSpPr>
        <p:spPr>
          <a:xfrm>
            <a:off x="7219188" y="274320"/>
            <a:ext cx="1540764"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LESSON OBJECTIVES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Objectives and success criteria</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الأَهْدَافُ وَمَعَايِيرُ النَّجَاحِ</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D1 · Daily Routine and Time · D1-L04</a:t>
            </a:r>
            <a:endParaRPr lang="en-US" sz="850" dirty="0"/>
          </a:p>
        </p:txBody>
      </p:sp>
      <p:sp>
        <p:nvSpPr>
          <p:cNvPr id="15" name="Shape 12"/>
          <p:cNvSpPr/>
          <p:nvPr/>
        </p:nvSpPr>
        <p:spPr>
          <a:xfrm>
            <a:off x="457200" y="1810512"/>
            <a:ext cx="4663440" cy="4315968"/>
          </a:xfrm>
          <a:prstGeom prst="roundRect">
            <a:avLst>
              <a:gd name="adj" fmla="val 1695"/>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20240"/>
            <a:ext cx="2743200" cy="292608"/>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cs typeface="Amiri" pitchFamily="2" charset="-78"/>
              </a:rPr>
              <a:t>TODAY YOU WILL</a:t>
            </a:r>
            <a:endParaRPr lang="en-US" sz="1100" dirty="0"/>
          </a:p>
        </p:txBody>
      </p:sp>
      <p:sp>
        <p:nvSpPr>
          <p:cNvPr id="17" name="Text 14"/>
          <p:cNvSpPr txBox="1"/>
          <p:nvPr/>
        </p:nvSpPr>
        <p:spPr>
          <a:xfrm>
            <a:off x="2834640" y="1874520"/>
            <a:ext cx="2103120" cy="365760"/>
          </a:xfrm>
          <a:prstGeom prst="rect">
            <a:avLst/>
          </a:prstGeom>
          <a:noFill/>
          <a:ln/>
        </p:spPr>
        <p:txBody>
          <a:bodyPr wrap="square" lIns="0" tIns="0" rIns="0" bIns="0" rtlCol="0" anchor="ctr"/>
          <a:lstStyle/>
          <a:p>
            <a:pPr rtl="1" algn="r" indent="0" marL="0">
              <a:buNone/>
            </a:pPr>
            <a:r>
              <a:rPr lang="ar-SA" altLang="en-US" sz="1600" dirty="0">
                <a:solidFill>
                  <a:srgbClr val="8A6D1E"/>
                </a:solidFill>
                <a:latin typeface="Amiri" pitchFamily="2" charset="-78"/>
                <a:ea typeface="Amiri" pitchFamily="2" charset="-78"/>
                <a:cs typeface="Amiri" pitchFamily="2" charset="-78"/>
              </a:rPr>
              <a:t>سَتَتَعَلَّمُ اليَوْمَ</a:t>
            </a:r>
            <a:endParaRPr lang="ar-SA" sz="1600" dirty="0"/>
          </a:p>
        </p:txBody>
      </p:sp>
      <p:sp>
        <p:nvSpPr>
          <p:cNvPr id="18" name="Shape 15"/>
          <p:cNvSpPr/>
          <p:nvPr/>
        </p:nvSpPr>
        <p:spPr>
          <a:xfrm>
            <a:off x="685800" y="2395728"/>
            <a:ext cx="365760" cy="365760"/>
          </a:xfrm>
          <a:prstGeom prst="ellipse">
            <a:avLst/>
          </a:prstGeom>
          <a:solidFill>
            <a:srgbClr val="1B3B6F"/>
          </a:solidFill>
          <a:ln w="12700">
            <a:solidFill>
              <a:srgbClr val="1B3B6F"/>
            </a:solidFill>
            <a:prstDash val="solid"/>
          </a:ln>
        </p:spPr>
      </p:sp>
      <p:sp>
        <p:nvSpPr>
          <p:cNvPr id="19" name="Text 16"/>
          <p:cNvSpPr txBox="1"/>
          <p:nvPr/>
        </p:nvSpPr>
        <p:spPr>
          <a:xfrm>
            <a:off x="685800" y="2395728"/>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1</a:t>
            </a:r>
            <a:endParaRPr lang="en-US" sz="1200" dirty="0"/>
          </a:p>
        </p:txBody>
      </p:sp>
      <p:sp>
        <p:nvSpPr>
          <p:cNvPr id="20" name="Text 17"/>
          <p:cNvSpPr txBox="1"/>
          <p:nvPr/>
        </p:nvSpPr>
        <p:spPr>
          <a:xfrm>
            <a:off x="1188720" y="2286000"/>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Use before/after structures with nouns and verbs.</a:t>
            </a:r>
            <a:endParaRPr lang="en-US" sz="1300" dirty="0"/>
          </a:p>
        </p:txBody>
      </p:sp>
      <p:sp>
        <p:nvSpPr>
          <p:cNvPr id="21" name="Shape 18"/>
          <p:cNvSpPr/>
          <p:nvPr/>
        </p:nvSpPr>
        <p:spPr>
          <a:xfrm>
            <a:off x="685800" y="3291840"/>
            <a:ext cx="365760" cy="365760"/>
          </a:xfrm>
          <a:prstGeom prst="ellipse">
            <a:avLst/>
          </a:prstGeom>
          <a:solidFill>
            <a:srgbClr val="1B3B6F"/>
          </a:solidFill>
          <a:ln w="12700">
            <a:solidFill>
              <a:srgbClr val="1B3B6F"/>
            </a:solidFill>
            <a:prstDash val="solid"/>
          </a:ln>
        </p:spPr>
      </p:sp>
      <p:sp>
        <p:nvSpPr>
          <p:cNvPr id="22" name="Text 19"/>
          <p:cNvSpPr txBox="1"/>
          <p:nvPr/>
        </p:nvSpPr>
        <p:spPr>
          <a:xfrm>
            <a:off x="685800" y="3291840"/>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2</a:t>
            </a:r>
            <a:endParaRPr lang="en-US" sz="1200" dirty="0"/>
          </a:p>
        </p:txBody>
      </p:sp>
      <p:sp>
        <p:nvSpPr>
          <p:cNvPr id="23" name="Text 20"/>
          <p:cNvSpPr txBox="1"/>
          <p:nvPr/>
        </p:nvSpPr>
        <p:spPr>
          <a:xfrm>
            <a:off x="1188720" y="3182112"/>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Recognise the basic subjunctive change after </a:t>
            </a:r>
            <a:pPr algn="l" indent="0" marL="0">
              <a:buNone/>
            </a:pPr>
            <a:r>
              <a:rPr lang="ar-SA" altLang="en-US" sz="1700" dirty="0">
                <a:solidFill>
                  <a:srgbClr val="1F2A37"/>
                </a:solidFill>
                <a:latin typeface="Amiri" pitchFamily="2" charset="-78"/>
                <a:ea typeface="Amiri" pitchFamily="2" charset="-78"/>
                <a:cs typeface="Amiri" pitchFamily="2" charset="-78"/>
              </a:rPr>
              <a:t>أَنْ</a:t>
            </a:r>
            <a:pPr algn="l" indent="0" marL="0">
              <a:buNone/>
            </a:pPr>
            <a:r>
              <a:rPr lang="en-US" sz="1300" dirty="0">
                <a:solidFill>
                  <a:srgbClr val="1F2A37"/>
                </a:solidFill>
                <a:latin typeface="Calibri" pitchFamily="34" charset="0"/>
                <a:cs typeface="Amiri" pitchFamily="2" charset="-78"/>
              </a:rPr>
              <a:t>.</a:t>
            </a:r>
            <a:endParaRPr lang="en-US" sz="1300" dirty="0"/>
          </a:p>
        </p:txBody>
      </p:sp>
      <p:sp>
        <p:nvSpPr>
          <p:cNvPr id="24" name="Shape 21"/>
          <p:cNvSpPr/>
          <p:nvPr/>
        </p:nvSpPr>
        <p:spPr>
          <a:xfrm>
            <a:off x="685800" y="4187952"/>
            <a:ext cx="365760" cy="365760"/>
          </a:xfrm>
          <a:prstGeom prst="ellipse">
            <a:avLst/>
          </a:prstGeom>
          <a:solidFill>
            <a:srgbClr val="1B3B6F"/>
          </a:solidFill>
          <a:ln w="12700">
            <a:solidFill>
              <a:srgbClr val="1B3B6F"/>
            </a:solidFill>
            <a:prstDash val="solid"/>
          </a:ln>
        </p:spPr>
      </p:sp>
      <p:sp>
        <p:nvSpPr>
          <p:cNvPr id="25" name="Text 22"/>
          <p:cNvSpPr txBox="1"/>
          <p:nvPr/>
        </p:nvSpPr>
        <p:spPr>
          <a:xfrm>
            <a:off x="685800" y="4187952"/>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3</a:t>
            </a:r>
            <a:endParaRPr lang="en-US" sz="1200" dirty="0"/>
          </a:p>
        </p:txBody>
      </p:sp>
      <p:sp>
        <p:nvSpPr>
          <p:cNvPr id="26" name="Text 23"/>
          <p:cNvSpPr txBox="1"/>
          <p:nvPr/>
        </p:nvSpPr>
        <p:spPr>
          <a:xfrm>
            <a:off x="1188720" y="4078224"/>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Remove final </a:t>
            </a:r>
            <a:pPr algn="l" indent="0" marL="0">
              <a:buNone/>
            </a:pPr>
            <a:r>
              <a:rPr lang="ar-SA" altLang="en-US" sz="1700" dirty="0">
                <a:solidFill>
                  <a:srgbClr val="1F2A37"/>
                </a:solidFill>
                <a:latin typeface="Amiri" pitchFamily="2" charset="-78"/>
                <a:ea typeface="Amiri" pitchFamily="2" charset="-78"/>
                <a:cs typeface="Amiri" pitchFamily="2" charset="-78"/>
              </a:rPr>
              <a:t>ن</a:t>
            </a:r>
            <a:pPr algn="l" indent="0" marL="0">
              <a:buNone/>
            </a:pPr>
            <a:r>
              <a:rPr lang="en-US" sz="1300" dirty="0">
                <a:solidFill>
                  <a:srgbClr val="1F2A37"/>
                </a:solidFill>
                <a:latin typeface="Calibri" pitchFamily="34" charset="0"/>
                <a:cs typeface="Amiri" pitchFamily="2" charset="-78"/>
              </a:rPr>
              <a:t> from relevant forms.</a:t>
            </a:r>
            <a:endParaRPr lang="en-US" sz="1300" dirty="0"/>
          </a:p>
        </p:txBody>
      </p:sp>
      <p:sp>
        <p:nvSpPr>
          <p:cNvPr id="27" name="Shape 24"/>
          <p:cNvSpPr/>
          <p:nvPr/>
        </p:nvSpPr>
        <p:spPr>
          <a:xfrm>
            <a:off x="685800" y="5084064"/>
            <a:ext cx="365760" cy="365760"/>
          </a:xfrm>
          <a:prstGeom prst="ellipse">
            <a:avLst/>
          </a:prstGeom>
          <a:solidFill>
            <a:srgbClr val="1B3B6F"/>
          </a:solidFill>
          <a:ln w="12700">
            <a:solidFill>
              <a:srgbClr val="1B3B6F"/>
            </a:solidFill>
            <a:prstDash val="solid"/>
          </a:ln>
        </p:spPr>
      </p:sp>
      <p:sp>
        <p:nvSpPr>
          <p:cNvPr id="28" name="Text 25"/>
          <p:cNvSpPr txBox="1"/>
          <p:nvPr/>
        </p:nvSpPr>
        <p:spPr>
          <a:xfrm>
            <a:off x="685800" y="5084064"/>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4</a:t>
            </a:r>
            <a:endParaRPr lang="en-US" sz="1200" dirty="0"/>
          </a:p>
        </p:txBody>
      </p:sp>
      <p:sp>
        <p:nvSpPr>
          <p:cNvPr id="29" name="Text 26"/>
          <p:cNvSpPr txBox="1"/>
          <p:nvPr/>
        </p:nvSpPr>
        <p:spPr>
          <a:xfrm>
            <a:off x="1188720" y="4974336"/>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Build a coherent afternoon and evening routine.</a:t>
            </a:r>
            <a:endParaRPr lang="en-US" sz="1300" dirty="0"/>
          </a:p>
        </p:txBody>
      </p:sp>
      <p:sp>
        <p:nvSpPr>
          <p:cNvPr id="30" name="Shape 27"/>
          <p:cNvSpPr/>
          <p:nvPr/>
        </p:nvSpPr>
        <p:spPr>
          <a:xfrm>
            <a:off x="5349240" y="1810512"/>
            <a:ext cx="6382512" cy="1353312"/>
          </a:xfrm>
          <a:prstGeom prst="roundRect">
            <a:avLst>
              <a:gd name="adj" fmla="val 5405"/>
            </a:avLst>
          </a:prstGeom>
          <a:solidFill>
            <a:srgbClr val="E9F5EE"/>
          </a:solidFill>
          <a:ln w="9525">
            <a:solidFill>
              <a:srgbClr val="2E8B57"/>
            </a:solidFill>
            <a:prstDash val="solid"/>
          </a:ln>
        </p:spPr>
      </p:sp>
      <p:sp>
        <p:nvSpPr>
          <p:cNvPr id="31" name="Shape 28"/>
          <p:cNvSpPr/>
          <p:nvPr/>
        </p:nvSpPr>
        <p:spPr>
          <a:xfrm>
            <a:off x="5532120" y="1947672"/>
            <a:ext cx="1143000" cy="292608"/>
          </a:xfrm>
          <a:prstGeom prst="roundRect">
            <a:avLst>
              <a:gd name="adj" fmla="val 50000"/>
            </a:avLst>
          </a:prstGeom>
          <a:solidFill>
            <a:srgbClr val="2E8B57"/>
          </a:solidFill>
          <a:ln w="12700">
            <a:solidFill>
              <a:srgbClr val="2E8B57"/>
            </a:solidFill>
            <a:prstDash val="solid"/>
          </a:ln>
        </p:spPr>
      </p:sp>
      <p:sp>
        <p:nvSpPr>
          <p:cNvPr id="32" name="Text 29"/>
          <p:cNvSpPr txBox="1"/>
          <p:nvPr/>
        </p:nvSpPr>
        <p:spPr>
          <a:xfrm>
            <a:off x="5532120" y="194767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CORE</a:t>
            </a:r>
            <a:endParaRPr lang="en-US" sz="950" dirty="0"/>
          </a:p>
        </p:txBody>
      </p:sp>
      <p:sp>
        <p:nvSpPr>
          <p:cNvPr id="33" name="Text 30"/>
          <p:cNvSpPr txBox="1"/>
          <p:nvPr/>
        </p:nvSpPr>
        <p:spPr>
          <a:xfrm>
            <a:off x="6766560" y="1947672"/>
            <a:ext cx="1828800" cy="292608"/>
          </a:xfrm>
          <a:prstGeom prst="rect">
            <a:avLst/>
          </a:prstGeom>
          <a:noFill/>
          <a:ln/>
        </p:spPr>
        <p:txBody>
          <a:bodyPr wrap="square" lIns="0" tIns="0" rIns="0" bIns="0" rtlCol="0" anchor="ctr"/>
          <a:lstStyle/>
          <a:p>
            <a:pPr algn="l" indent="0" marL="0">
              <a:buNone/>
            </a:pPr>
            <a:r>
              <a:rPr lang="en-US" sz="1050" b="1" i="1" dirty="0">
                <a:solidFill>
                  <a:srgbClr val="2E8B57"/>
                </a:solidFill>
                <a:latin typeface="Calibri" pitchFamily="34" charset="0"/>
                <a:cs typeface="Amiri" pitchFamily="2" charset="-78"/>
              </a:rPr>
              <a:t>Everyone</a:t>
            </a:r>
            <a:endParaRPr lang="en-US" sz="1050" dirty="0"/>
          </a:p>
        </p:txBody>
      </p:sp>
      <p:sp>
        <p:nvSpPr>
          <p:cNvPr id="34" name="Text 31"/>
          <p:cNvSpPr txBox="1"/>
          <p:nvPr/>
        </p:nvSpPr>
        <p:spPr>
          <a:xfrm>
            <a:off x="5532120" y="2286000"/>
            <a:ext cx="6016752" cy="393192"/>
          </a:xfrm>
          <a:prstGeom prst="rect">
            <a:avLst/>
          </a:prstGeom>
          <a:noFill/>
          <a:ln/>
        </p:spPr>
        <p:txBody>
          <a:bodyPr wrap="square" lIns="0" tIns="0" rIns="0" bIns="0" rtlCol="0" anchor="ctr"/>
          <a:lstStyle/>
          <a:p>
            <a:pPr algn="l" indent="0" marL="0">
              <a:buNone/>
            </a:pPr>
            <a:r>
              <a:rPr lang="en-US" sz="1300" b="1" dirty="0">
                <a:solidFill>
                  <a:srgbClr val="2E8B57"/>
                </a:solidFill>
                <a:latin typeface="Calibri" pitchFamily="34" charset="0"/>
                <a:cs typeface="Amiri" pitchFamily="2" charset="-78"/>
              </a:rPr>
              <a:t>☐  I can say before/after with a noun (</a:t>
            </a:r>
            <a:pPr algn="l" indent="0" marL="0">
              <a:buNone/>
            </a:pPr>
            <a:r>
              <a:rPr lang="ar-SA" altLang="en-US" sz="1700" b="1" dirty="0">
                <a:solidFill>
                  <a:srgbClr val="2E8B57"/>
                </a:solidFill>
                <a:latin typeface="Amiri" pitchFamily="2" charset="-78"/>
                <a:ea typeface="Amiri" pitchFamily="2" charset="-78"/>
                <a:cs typeface="Amiri" pitchFamily="2" charset="-78"/>
              </a:rPr>
              <a:t>قَبْلَ النَّوْمِ</a:t>
            </a:r>
            <a:pPr algn="l" indent="0" marL="0">
              <a:buNone/>
            </a:pPr>
            <a:r>
              <a:rPr lang="en-US" sz="1300" b="1" dirty="0">
                <a:solidFill>
                  <a:srgbClr val="2E8B57"/>
                </a:solidFill>
                <a:latin typeface="Calibri" pitchFamily="34" charset="0"/>
                <a:cs typeface="Amiri" pitchFamily="2" charset="-78"/>
              </a:rPr>
              <a:t>).</a:t>
            </a:r>
            <a:endParaRPr lang="en-US" sz="1300" dirty="0"/>
          </a:p>
        </p:txBody>
      </p:sp>
      <p:sp>
        <p:nvSpPr>
          <p:cNvPr id="35" name="Text 32"/>
          <p:cNvSpPr txBox="1"/>
          <p:nvPr/>
        </p:nvSpPr>
        <p:spPr>
          <a:xfrm>
            <a:off x="5532120" y="2697480"/>
            <a:ext cx="6016752" cy="393192"/>
          </a:xfrm>
          <a:prstGeom prst="rect">
            <a:avLst/>
          </a:prstGeom>
          <a:noFill/>
          <a:ln/>
        </p:spPr>
        <p:txBody>
          <a:bodyPr wrap="square" lIns="0" tIns="0" rIns="0" bIns="0" rtlCol="0" anchor="ctr"/>
          <a:lstStyle/>
          <a:p>
            <a:pPr algn="l" indent="0" marL="0">
              <a:buNone/>
            </a:pPr>
            <a:r>
              <a:rPr lang="en-US" sz="1300" b="1" dirty="0">
                <a:solidFill>
                  <a:srgbClr val="2E8B57"/>
                </a:solidFill>
                <a:latin typeface="Calibri" pitchFamily="34" charset="0"/>
                <a:cs typeface="Amiri" pitchFamily="2" charset="-78"/>
              </a:rPr>
              <a:t>☐  I can order five actions in my afternoon.</a:t>
            </a:r>
            <a:endParaRPr lang="en-US" sz="1300" dirty="0"/>
          </a:p>
        </p:txBody>
      </p:sp>
      <p:sp>
        <p:nvSpPr>
          <p:cNvPr id="36" name="Shape 33"/>
          <p:cNvSpPr/>
          <p:nvPr/>
        </p:nvSpPr>
        <p:spPr>
          <a:xfrm>
            <a:off x="5349240" y="3273552"/>
            <a:ext cx="6382512" cy="1353312"/>
          </a:xfrm>
          <a:prstGeom prst="roundRect">
            <a:avLst>
              <a:gd name="adj" fmla="val 5405"/>
            </a:avLst>
          </a:prstGeom>
          <a:solidFill>
            <a:srgbClr val="FCF1E0"/>
          </a:solidFill>
          <a:ln w="9525">
            <a:solidFill>
              <a:srgbClr val="C9780A"/>
            </a:solidFill>
            <a:prstDash val="solid"/>
          </a:ln>
        </p:spPr>
      </p:sp>
      <p:sp>
        <p:nvSpPr>
          <p:cNvPr id="37" name="Shape 34"/>
          <p:cNvSpPr/>
          <p:nvPr/>
        </p:nvSpPr>
        <p:spPr>
          <a:xfrm>
            <a:off x="5532120" y="3410712"/>
            <a:ext cx="1143000" cy="292608"/>
          </a:xfrm>
          <a:prstGeom prst="roundRect">
            <a:avLst>
              <a:gd name="adj" fmla="val 50000"/>
            </a:avLst>
          </a:prstGeom>
          <a:solidFill>
            <a:srgbClr val="C9780A"/>
          </a:solidFill>
          <a:ln w="12700">
            <a:solidFill>
              <a:srgbClr val="C9780A"/>
            </a:solidFill>
            <a:prstDash val="solid"/>
          </a:ln>
        </p:spPr>
      </p:sp>
      <p:sp>
        <p:nvSpPr>
          <p:cNvPr id="38" name="Text 35"/>
          <p:cNvSpPr txBox="1"/>
          <p:nvPr/>
        </p:nvSpPr>
        <p:spPr>
          <a:xfrm>
            <a:off x="5532120" y="341071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DEVELOP</a:t>
            </a:r>
            <a:endParaRPr lang="en-US" sz="950" dirty="0"/>
          </a:p>
        </p:txBody>
      </p:sp>
      <p:sp>
        <p:nvSpPr>
          <p:cNvPr id="39" name="Text 36"/>
          <p:cNvSpPr txBox="1"/>
          <p:nvPr/>
        </p:nvSpPr>
        <p:spPr>
          <a:xfrm>
            <a:off x="6766560" y="3410712"/>
            <a:ext cx="1828800" cy="292608"/>
          </a:xfrm>
          <a:prstGeom prst="rect">
            <a:avLst/>
          </a:prstGeom>
          <a:noFill/>
          <a:ln/>
        </p:spPr>
        <p:txBody>
          <a:bodyPr wrap="square" lIns="0" tIns="0" rIns="0" bIns="0" rtlCol="0" anchor="ctr"/>
          <a:lstStyle/>
          <a:p>
            <a:pPr algn="l" indent="0" marL="0">
              <a:buNone/>
            </a:pPr>
            <a:r>
              <a:rPr lang="en-US" sz="1050" b="1" i="1" dirty="0">
                <a:solidFill>
                  <a:srgbClr val="C9780A"/>
                </a:solidFill>
                <a:latin typeface="Calibri" pitchFamily="34" charset="0"/>
                <a:cs typeface="Amiri" pitchFamily="2" charset="-78"/>
              </a:rPr>
              <a:t>Most of us</a:t>
            </a:r>
            <a:endParaRPr lang="en-US" sz="1050" dirty="0"/>
          </a:p>
        </p:txBody>
      </p:sp>
      <p:sp>
        <p:nvSpPr>
          <p:cNvPr id="40" name="Text 37"/>
          <p:cNvSpPr txBox="1"/>
          <p:nvPr/>
        </p:nvSpPr>
        <p:spPr>
          <a:xfrm>
            <a:off x="5532120" y="3749040"/>
            <a:ext cx="6016752" cy="393192"/>
          </a:xfrm>
          <a:prstGeom prst="rect">
            <a:avLst/>
          </a:prstGeom>
          <a:noFill/>
          <a:ln/>
        </p:spPr>
        <p:txBody>
          <a:bodyPr wrap="square" lIns="0" tIns="0" rIns="0" bIns="0" rtlCol="0" anchor="ctr"/>
          <a:lstStyle/>
          <a:p>
            <a:pPr algn="l" indent="0" marL="0">
              <a:buNone/>
            </a:pPr>
            <a:r>
              <a:rPr lang="en-US" sz="1300" b="1" dirty="0">
                <a:solidFill>
                  <a:srgbClr val="C9780A"/>
                </a:solidFill>
                <a:latin typeface="Calibri" pitchFamily="34" charset="0"/>
                <a:cs typeface="Amiri" pitchFamily="2" charset="-78"/>
              </a:rPr>
              <a:t>☐  I can use </a:t>
            </a:r>
            <a:pPr algn="l" indent="0" marL="0">
              <a:buNone/>
            </a:pPr>
            <a:r>
              <a:rPr lang="ar-SA" altLang="en-US" sz="1700" b="1" dirty="0">
                <a:solidFill>
                  <a:srgbClr val="C9780A"/>
                </a:solidFill>
                <a:latin typeface="Amiri" pitchFamily="2" charset="-78"/>
                <a:ea typeface="Amiri" pitchFamily="2" charset="-78"/>
                <a:cs typeface="Amiri" pitchFamily="2" charset="-78"/>
              </a:rPr>
              <a:t>قَبْلَ أَنْ / بَعْدَ أَنْ</a:t>
            </a:r>
            <a:pPr algn="l" indent="0" marL="0">
              <a:buNone/>
            </a:pPr>
            <a:r>
              <a:rPr lang="en-US" sz="1300" b="1" dirty="0">
                <a:solidFill>
                  <a:srgbClr val="C9780A"/>
                </a:solidFill>
                <a:latin typeface="Calibri" pitchFamily="34" charset="0"/>
                <a:cs typeface="Amiri" pitchFamily="2" charset="-78"/>
              </a:rPr>
              <a:t> with the correct ending.</a:t>
            </a:r>
            <a:endParaRPr lang="en-US" sz="1300" dirty="0"/>
          </a:p>
        </p:txBody>
      </p:sp>
      <p:sp>
        <p:nvSpPr>
          <p:cNvPr id="41" name="Text 38"/>
          <p:cNvSpPr txBox="1"/>
          <p:nvPr/>
        </p:nvSpPr>
        <p:spPr>
          <a:xfrm>
            <a:off x="5532120" y="4160520"/>
            <a:ext cx="6016752" cy="393192"/>
          </a:xfrm>
          <a:prstGeom prst="rect">
            <a:avLst/>
          </a:prstGeom>
          <a:noFill/>
          <a:ln/>
        </p:spPr>
        <p:txBody>
          <a:bodyPr wrap="square" lIns="0" tIns="0" rIns="0" bIns="0" rtlCol="0" anchor="ctr"/>
          <a:lstStyle/>
          <a:p>
            <a:pPr algn="l" indent="0" marL="0">
              <a:buNone/>
            </a:pPr>
            <a:r>
              <a:rPr lang="en-US" sz="1300" b="1" dirty="0">
                <a:solidFill>
                  <a:srgbClr val="C9780A"/>
                </a:solidFill>
                <a:latin typeface="Calibri" pitchFamily="34" charset="0"/>
                <a:cs typeface="Amiri" pitchFamily="2" charset="-78"/>
              </a:rPr>
              <a:t>☐  I can say once / twice / three times.</a:t>
            </a:r>
            <a:endParaRPr lang="en-US" sz="1300" dirty="0"/>
          </a:p>
        </p:txBody>
      </p:sp>
      <p:sp>
        <p:nvSpPr>
          <p:cNvPr id="42" name="Shape 39"/>
          <p:cNvSpPr/>
          <p:nvPr/>
        </p:nvSpPr>
        <p:spPr>
          <a:xfrm>
            <a:off x="5349240" y="4736592"/>
            <a:ext cx="6382512" cy="1353312"/>
          </a:xfrm>
          <a:prstGeom prst="roundRect">
            <a:avLst>
              <a:gd name="adj" fmla="val 5405"/>
            </a:avLst>
          </a:prstGeom>
          <a:solidFill>
            <a:srgbClr val="FBEAEA"/>
          </a:solidFill>
          <a:ln w="9525">
            <a:solidFill>
              <a:srgbClr val="B83227"/>
            </a:solidFill>
            <a:prstDash val="solid"/>
          </a:ln>
        </p:spPr>
      </p:sp>
      <p:sp>
        <p:nvSpPr>
          <p:cNvPr id="43" name="Shape 40"/>
          <p:cNvSpPr/>
          <p:nvPr/>
        </p:nvSpPr>
        <p:spPr>
          <a:xfrm>
            <a:off x="5532120" y="4873752"/>
            <a:ext cx="1143000" cy="292608"/>
          </a:xfrm>
          <a:prstGeom prst="roundRect">
            <a:avLst>
              <a:gd name="adj" fmla="val 50000"/>
            </a:avLst>
          </a:prstGeom>
          <a:solidFill>
            <a:srgbClr val="B83227"/>
          </a:solidFill>
          <a:ln w="12700">
            <a:solidFill>
              <a:srgbClr val="B83227"/>
            </a:solidFill>
            <a:prstDash val="solid"/>
          </a:ln>
        </p:spPr>
      </p:sp>
      <p:sp>
        <p:nvSpPr>
          <p:cNvPr id="44" name="Text 41"/>
          <p:cNvSpPr txBox="1"/>
          <p:nvPr/>
        </p:nvSpPr>
        <p:spPr>
          <a:xfrm>
            <a:off x="5532120" y="487375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STRETCH</a:t>
            </a:r>
            <a:endParaRPr lang="en-US" sz="950" dirty="0"/>
          </a:p>
        </p:txBody>
      </p:sp>
      <p:sp>
        <p:nvSpPr>
          <p:cNvPr id="45" name="Text 42"/>
          <p:cNvSpPr txBox="1"/>
          <p:nvPr/>
        </p:nvSpPr>
        <p:spPr>
          <a:xfrm>
            <a:off x="6766560" y="4873752"/>
            <a:ext cx="1828800" cy="292608"/>
          </a:xfrm>
          <a:prstGeom prst="rect">
            <a:avLst/>
          </a:prstGeom>
          <a:noFill/>
          <a:ln/>
        </p:spPr>
        <p:txBody>
          <a:bodyPr wrap="square" lIns="0" tIns="0" rIns="0" bIns="0" rtlCol="0" anchor="ctr"/>
          <a:lstStyle/>
          <a:p>
            <a:pPr algn="l" indent="0" marL="0">
              <a:buNone/>
            </a:pPr>
            <a:r>
              <a:rPr lang="en-US" sz="1050" b="1" i="1" dirty="0">
                <a:solidFill>
                  <a:srgbClr val="B83227"/>
                </a:solidFill>
                <a:latin typeface="Calibri" pitchFamily="34" charset="0"/>
                <a:cs typeface="Amiri" pitchFamily="2" charset="-78"/>
              </a:rPr>
              <a:t>Aim high</a:t>
            </a:r>
            <a:endParaRPr lang="en-US" sz="1050" dirty="0"/>
          </a:p>
        </p:txBody>
      </p:sp>
      <p:sp>
        <p:nvSpPr>
          <p:cNvPr id="46" name="Text 43"/>
          <p:cNvSpPr txBox="1"/>
          <p:nvPr/>
        </p:nvSpPr>
        <p:spPr>
          <a:xfrm>
            <a:off x="5532120" y="5212080"/>
            <a:ext cx="6016752" cy="393192"/>
          </a:xfrm>
          <a:prstGeom prst="rect">
            <a:avLst/>
          </a:prstGeom>
          <a:noFill/>
          <a:ln/>
        </p:spPr>
        <p:txBody>
          <a:bodyPr wrap="square" lIns="0" tIns="0" rIns="0" bIns="0" rtlCol="0" anchor="ctr"/>
          <a:lstStyle/>
          <a:p>
            <a:pPr algn="l" indent="0" marL="0">
              <a:buNone/>
            </a:pPr>
            <a:r>
              <a:rPr lang="en-US" sz="1300" b="1" dirty="0">
                <a:solidFill>
                  <a:srgbClr val="B83227"/>
                </a:solidFill>
                <a:latin typeface="Calibri" pitchFamily="34" charset="0"/>
                <a:cs typeface="Amiri" pitchFamily="2" charset="-78"/>
              </a:rPr>
              <a:t>☐  I can drop the final </a:t>
            </a:r>
            <a:pPr algn="l" indent="0" marL="0">
              <a:buNone/>
            </a:pPr>
            <a:r>
              <a:rPr lang="ar-SA" altLang="en-US" sz="1700" b="1" dirty="0">
                <a:solidFill>
                  <a:srgbClr val="B83227"/>
                </a:solidFill>
                <a:latin typeface="Amiri" pitchFamily="2" charset="-78"/>
                <a:ea typeface="Amiri" pitchFamily="2" charset="-78"/>
                <a:cs typeface="Amiri" pitchFamily="2" charset="-78"/>
              </a:rPr>
              <a:t>ن</a:t>
            </a:r>
            <a:pPr algn="l" indent="0" marL="0">
              <a:buNone/>
            </a:pPr>
            <a:r>
              <a:rPr lang="en-US" sz="1300" b="1" dirty="0">
                <a:solidFill>
                  <a:srgbClr val="B83227"/>
                </a:solidFill>
                <a:latin typeface="Calibri" pitchFamily="34" charset="0"/>
                <a:cs typeface="Amiri" pitchFamily="2" charset="-78"/>
              </a:rPr>
              <a:t> of the five verbs after </a:t>
            </a:r>
            <a:pPr algn="l" indent="0" marL="0">
              <a:buNone/>
            </a:pPr>
            <a:r>
              <a:rPr lang="ar-SA" altLang="en-US" sz="1700" b="1" dirty="0">
                <a:solidFill>
                  <a:srgbClr val="B83227"/>
                </a:solidFill>
                <a:latin typeface="Amiri" pitchFamily="2" charset="-78"/>
                <a:ea typeface="Amiri" pitchFamily="2" charset="-78"/>
                <a:cs typeface="Amiri" pitchFamily="2" charset="-78"/>
              </a:rPr>
              <a:t>أَنْ</a:t>
            </a:r>
            <a:pPr algn="l" indent="0" marL="0">
              <a:buNone/>
            </a:pPr>
            <a:r>
              <a:rPr lang="en-US" sz="1300" b="1" dirty="0">
                <a:solidFill>
                  <a:srgbClr val="B83227"/>
                </a:solidFill>
                <a:latin typeface="Calibri" pitchFamily="34" charset="0"/>
                <a:cs typeface="Amiri" pitchFamily="2" charset="-78"/>
              </a:rPr>
              <a:t>.</a:t>
            </a:r>
            <a:endParaRPr lang="en-US" sz="1300" dirty="0"/>
          </a:p>
        </p:txBody>
      </p:sp>
      <p:sp>
        <p:nvSpPr>
          <p:cNvPr id="47" name="Text 44"/>
          <p:cNvSpPr txBox="1"/>
          <p:nvPr/>
        </p:nvSpPr>
        <p:spPr>
          <a:xfrm>
            <a:off x="5532120" y="5623560"/>
            <a:ext cx="6016752" cy="393192"/>
          </a:xfrm>
          <a:prstGeom prst="rect">
            <a:avLst/>
          </a:prstGeom>
          <a:noFill/>
          <a:ln/>
        </p:spPr>
        <p:txBody>
          <a:bodyPr wrap="square" lIns="0" tIns="0" rIns="0" bIns="0" rtlCol="0" anchor="ctr"/>
          <a:lstStyle/>
          <a:p>
            <a:pPr algn="l" indent="0" marL="0">
              <a:buNone/>
            </a:pPr>
            <a:r>
              <a:rPr lang="en-US" sz="1300" b="1" dirty="0">
                <a:solidFill>
                  <a:srgbClr val="B83227"/>
                </a:solidFill>
                <a:latin typeface="Calibri" pitchFamily="34" charset="0"/>
                <a:cs typeface="Amiri" pitchFamily="2" charset="-78"/>
              </a:rPr>
              <a:t>☐  I can join eight actions into one paragraph.</a:t>
            </a:r>
            <a:endParaRPr lang="en-US" sz="1300" dirty="0"/>
          </a:p>
        </p:txBody>
      </p:sp>
      <p:sp>
        <p:nvSpPr>
          <p:cNvPr id="48"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6 / 46</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8412480" y="1005840"/>
            <a:ext cx="4754880" cy="4754880"/>
          </a:xfrm>
          <a:prstGeom prst="ellipse">
            <a:avLst/>
          </a:prstGeom>
          <a:solidFill>
            <a:srgbClr val="22477F"/>
          </a:solidFill>
          <a:ln w="12700">
            <a:solidFill>
              <a:srgbClr val="22477F"/>
            </a:solidFill>
            <a:prstDash val="solid"/>
          </a:ln>
        </p:spPr>
      </p:sp>
      <p:sp>
        <p:nvSpPr>
          <p:cNvPr id="3" name="Shape 1"/>
          <p:cNvSpPr/>
          <p:nvPr/>
        </p:nvSpPr>
        <p:spPr>
          <a:xfrm>
            <a:off x="457200" y="1097280"/>
            <a:ext cx="3108960" cy="365760"/>
          </a:xfrm>
          <a:prstGeom prst="roundRect">
            <a:avLst>
              <a:gd name="adj" fmla="val 50000"/>
            </a:avLst>
          </a:prstGeom>
          <a:solidFill>
            <a:srgbClr val="D4AF37"/>
          </a:solidFill>
          <a:ln w="12700">
            <a:solidFill>
              <a:srgbClr val="D4AF37"/>
            </a:solidFill>
            <a:prstDash val="solid"/>
          </a:ln>
        </p:spPr>
      </p:sp>
      <p:sp>
        <p:nvSpPr>
          <p:cNvPr id="4" name="Text 2"/>
          <p:cNvSpPr txBox="1"/>
          <p:nvPr/>
        </p:nvSpPr>
        <p:spPr>
          <a:xfrm>
            <a:off x="457200" y="1097280"/>
            <a:ext cx="3108960" cy="365760"/>
          </a:xfrm>
          <a:prstGeom prst="rect">
            <a:avLst/>
          </a:prstGeom>
          <a:noFill/>
          <a:ln/>
        </p:spPr>
        <p:txBody>
          <a:bodyPr wrap="square" lIns="0" tIns="0" rIns="0" bIns="0" rtlCol="0" anchor="ctr"/>
          <a:lstStyle/>
          <a:p>
            <a:pPr algn="ctr" indent="0" marL="0">
              <a:buNone/>
            </a:pPr>
            <a:r>
              <a:rPr lang="en-US" sz="1000" b="1" spc="100" kern="0" dirty="0">
                <a:solidFill>
                  <a:srgbClr val="0D1F3C"/>
                </a:solidFill>
                <a:latin typeface="Calibri" pitchFamily="34" charset="0"/>
                <a:cs typeface="Amiri" pitchFamily="2" charset="-78"/>
              </a:rPr>
              <a:t>TEACHER INSTRUCTION · 7 MIN</a:t>
            </a:r>
            <a:endParaRPr lang="en-US" sz="1000" dirty="0"/>
          </a:p>
        </p:txBody>
      </p:sp>
      <p:sp>
        <p:nvSpPr>
          <p:cNvPr id="5" name="Text 3"/>
          <p:cNvSpPr txBox="1"/>
          <p:nvPr/>
        </p:nvSpPr>
        <p:spPr>
          <a:xfrm>
            <a:off x="457200" y="1783080"/>
            <a:ext cx="7863840" cy="822960"/>
          </a:xfrm>
          <a:prstGeom prst="rect">
            <a:avLst/>
          </a:prstGeom>
          <a:noFill/>
          <a:ln/>
        </p:spPr>
        <p:txBody>
          <a:bodyPr wrap="square" lIns="0" tIns="0" rIns="0" bIns="0" rtlCol="0" anchor="ctr"/>
          <a:lstStyle/>
          <a:p>
            <a:pPr algn="l" indent="0" marL="0">
              <a:buNone/>
            </a:pPr>
            <a:r>
              <a:rPr lang="en-US" sz="4000" b="1" dirty="0">
                <a:solidFill>
                  <a:srgbClr val="FFFFFF"/>
                </a:solidFill>
                <a:latin typeface="Cambria" pitchFamily="34" charset="0"/>
                <a:cs typeface="Amiri" pitchFamily="2" charset="-78"/>
              </a:rPr>
              <a:t>Key words for today</a:t>
            </a:r>
            <a:endParaRPr lang="en-US" sz="4000" dirty="0"/>
          </a:p>
        </p:txBody>
      </p:sp>
      <p:sp>
        <p:nvSpPr>
          <p:cNvPr id="6" name="Text 4"/>
          <p:cNvSpPr txBox="1"/>
          <p:nvPr/>
        </p:nvSpPr>
        <p:spPr>
          <a:xfrm>
            <a:off x="457200" y="2606040"/>
            <a:ext cx="7863840" cy="822960"/>
          </a:xfrm>
          <a:prstGeom prst="rect">
            <a:avLst/>
          </a:prstGeom>
          <a:noFill/>
          <a:ln/>
        </p:spPr>
        <p:txBody>
          <a:bodyPr wrap="square" lIns="0" tIns="0" rIns="0" bIns="0" rtlCol="0" anchor="ctr"/>
          <a:lstStyle/>
          <a:p>
            <a:pPr rtl="1" algn="l" indent="0" marL="0">
              <a:buNone/>
            </a:pPr>
            <a:r>
              <a:rPr lang="ar-SA" altLang="en-US" sz="3800" b="1" dirty="0">
                <a:solidFill>
                  <a:srgbClr val="D4AF37"/>
                </a:solidFill>
                <a:latin typeface="Amiri" pitchFamily="2" charset="-78"/>
                <a:ea typeface="Amiri" pitchFamily="2" charset="-78"/>
                <a:cs typeface="Amiri" pitchFamily="2" charset="-78"/>
              </a:rPr>
              <a:t>كَلِمَاتُ الدَّرْسِ</a:t>
            </a:r>
            <a:endParaRPr lang="ar-SA" sz="3800" dirty="0"/>
          </a:p>
        </p:txBody>
      </p:sp>
      <p:sp>
        <p:nvSpPr>
          <p:cNvPr id="7" name="Text 5"/>
          <p:cNvSpPr txBox="1"/>
          <p:nvPr/>
        </p:nvSpPr>
        <p:spPr>
          <a:xfrm>
            <a:off x="457200" y="3566160"/>
            <a:ext cx="7680960" cy="822960"/>
          </a:xfrm>
          <a:prstGeom prst="rect">
            <a:avLst/>
          </a:prstGeom>
          <a:noFill/>
          <a:ln/>
        </p:spPr>
        <p:txBody>
          <a:bodyPr wrap="square" lIns="0" tIns="0" rIns="0" bIns="0" rtlCol="0" anchor="t"/>
          <a:lstStyle/>
          <a:p>
            <a:pPr algn="l" indent="0" marL="0">
              <a:buNone/>
            </a:pPr>
            <a:r>
              <a:rPr lang="en-US" sz="1600" dirty="0">
                <a:solidFill>
                  <a:srgbClr val="C6D2E6"/>
                </a:solidFill>
                <a:latin typeface="Calibri" pitchFamily="34" charset="0"/>
                <a:cs typeface="Amiri" pitchFamily="2" charset="-78"/>
              </a:rPr>
              <a:t>27 words from the website in 3 groups. Learn the CORE words first. Hear it → say it → see it → use it.</a:t>
            </a:r>
            <a:endParaRPr lang="en-US" sz="1600" dirty="0"/>
          </a:p>
        </p:txBody>
      </p:sp>
      <p:sp>
        <p:nvSpPr>
          <p:cNvPr id="8" name="Shape 6"/>
          <p:cNvSpPr/>
          <p:nvPr/>
        </p:nvSpPr>
        <p:spPr>
          <a:xfrm>
            <a:off x="457200" y="4572000"/>
            <a:ext cx="2529840" cy="960120"/>
          </a:xfrm>
          <a:prstGeom prst="roundRect">
            <a:avLst>
              <a:gd name="adj" fmla="val 7619"/>
            </a:avLst>
          </a:prstGeom>
          <a:solidFill>
            <a:srgbClr val="16335F"/>
          </a:solidFill>
          <a:ln w="12700">
            <a:solidFill>
              <a:srgbClr val="2A4B7C"/>
            </a:solidFill>
            <a:prstDash val="solid"/>
          </a:ln>
        </p:spPr>
      </p:sp>
      <p:sp>
        <p:nvSpPr>
          <p:cNvPr id="9" name="Text 7"/>
          <p:cNvSpPr txBox="1"/>
          <p:nvPr/>
        </p:nvSpPr>
        <p:spPr>
          <a:xfrm>
            <a:off x="594360" y="4617720"/>
            <a:ext cx="2255520" cy="868680"/>
          </a:xfrm>
          <a:prstGeom prst="rect">
            <a:avLst/>
          </a:prstGeom>
          <a:noFill/>
          <a:ln/>
        </p:spPr>
        <p:txBody>
          <a:bodyPr wrap="square" lIns="0" tIns="0" rIns="0" bIns="0" rtlCol="0" anchor="ctr"/>
          <a:lstStyle/>
          <a:p>
            <a:pPr indent="0" marL="0">
              <a:buNone/>
            </a:pPr>
            <a:r>
              <a:rPr lang="en-US" sz="900" b="1" spc="200" kern="0" dirty="0">
                <a:solidFill>
                  <a:srgbClr val="D4AF37"/>
                </a:solidFill>
                <a:latin typeface="Calibri" pitchFamily="34" charset="0"/>
                <a:cs typeface="Amiri" pitchFamily="2" charset="-78"/>
              </a:rPr>
              <a:t>GROUP 1</a:t>
            </a:r>
            <a:endParaRPr lang="en-US" sz="900" dirty="0"/>
          </a:p>
          <a:p>
            <a:pPr indent="0" marL="0">
              <a:buNone/>
            </a:pPr>
            <a:r>
              <a:rPr lang="en-US" sz="1200" b="1" dirty="0">
                <a:solidFill>
                  <a:srgbClr val="FFFFFF"/>
                </a:solidFill>
                <a:latin typeface="Calibri" pitchFamily="34" charset="0"/>
                <a:cs typeface="Amiri" pitchFamily="2" charset="-78"/>
              </a:rPr>
              <a:t>Sequence structures · 10</a:t>
            </a:r>
            <a:endParaRPr lang="en-US" sz="900" dirty="0"/>
          </a:p>
        </p:txBody>
      </p:sp>
      <p:sp>
        <p:nvSpPr>
          <p:cNvPr id="10" name="Shape 8"/>
          <p:cNvSpPr/>
          <p:nvPr/>
        </p:nvSpPr>
        <p:spPr>
          <a:xfrm>
            <a:off x="3124200" y="4572000"/>
            <a:ext cx="2529840" cy="960120"/>
          </a:xfrm>
          <a:prstGeom prst="roundRect">
            <a:avLst>
              <a:gd name="adj" fmla="val 7619"/>
            </a:avLst>
          </a:prstGeom>
          <a:solidFill>
            <a:srgbClr val="16335F"/>
          </a:solidFill>
          <a:ln w="12700">
            <a:solidFill>
              <a:srgbClr val="2A4B7C"/>
            </a:solidFill>
            <a:prstDash val="solid"/>
          </a:ln>
        </p:spPr>
      </p:sp>
      <p:sp>
        <p:nvSpPr>
          <p:cNvPr id="11" name="Text 9"/>
          <p:cNvSpPr txBox="1"/>
          <p:nvPr/>
        </p:nvSpPr>
        <p:spPr>
          <a:xfrm>
            <a:off x="3261360" y="4617720"/>
            <a:ext cx="2255520" cy="868680"/>
          </a:xfrm>
          <a:prstGeom prst="rect">
            <a:avLst/>
          </a:prstGeom>
          <a:noFill/>
          <a:ln/>
        </p:spPr>
        <p:txBody>
          <a:bodyPr wrap="square" lIns="0" tIns="0" rIns="0" bIns="0" rtlCol="0" anchor="ctr"/>
          <a:lstStyle/>
          <a:p>
            <a:pPr indent="0" marL="0">
              <a:buNone/>
            </a:pPr>
            <a:r>
              <a:rPr lang="en-US" sz="900" b="1" spc="200" kern="0" dirty="0">
                <a:solidFill>
                  <a:srgbClr val="D4AF37"/>
                </a:solidFill>
                <a:latin typeface="Calibri" pitchFamily="34" charset="0"/>
                <a:cs typeface="Amiri" pitchFamily="2" charset="-78"/>
              </a:rPr>
              <a:t>GROUP 2</a:t>
            </a:r>
            <a:endParaRPr lang="en-US" sz="900" dirty="0"/>
          </a:p>
          <a:p>
            <a:pPr indent="0" marL="0">
              <a:buNone/>
            </a:pPr>
            <a:r>
              <a:rPr lang="en-US" sz="1200" b="1" dirty="0">
                <a:solidFill>
                  <a:srgbClr val="FFFFFF"/>
                </a:solidFill>
                <a:latin typeface="Calibri" pitchFamily="34" charset="0"/>
                <a:cs typeface="Amiri" pitchFamily="2" charset="-78"/>
              </a:rPr>
              <a:t>Daily actions beyond the morning · 10</a:t>
            </a:r>
            <a:endParaRPr lang="en-US" sz="900" dirty="0"/>
          </a:p>
        </p:txBody>
      </p:sp>
      <p:sp>
        <p:nvSpPr>
          <p:cNvPr id="12" name="Shape 10"/>
          <p:cNvSpPr/>
          <p:nvPr/>
        </p:nvSpPr>
        <p:spPr>
          <a:xfrm>
            <a:off x="5791200" y="4572000"/>
            <a:ext cx="2529840" cy="960120"/>
          </a:xfrm>
          <a:prstGeom prst="roundRect">
            <a:avLst>
              <a:gd name="adj" fmla="val 7619"/>
            </a:avLst>
          </a:prstGeom>
          <a:solidFill>
            <a:srgbClr val="16335F"/>
          </a:solidFill>
          <a:ln w="12700">
            <a:solidFill>
              <a:srgbClr val="2A4B7C"/>
            </a:solidFill>
            <a:prstDash val="solid"/>
          </a:ln>
        </p:spPr>
      </p:sp>
      <p:sp>
        <p:nvSpPr>
          <p:cNvPr id="13" name="Text 11"/>
          <p:cNvSpPr txBox="1"/>
          <p:nvPr/>
        </p:nvSpPr>
        <p:spPr>
          <a:xfrm>
            <a:off x="5928360" y="4617720"/>
            <a:ext cx="2255520" cy="868680"/>
          </a:xfrm>
          <a:prstGeom prst="rect">
            <a:avLst/>
          </a:prstGeom>
          <a:noFill/>
          <a:ln/>
        </p:spPr>
        <p:txBody>
          <a:bodyPr wrap="square" lIns="0" tIns="0" rIns="0" bIns="0" rtlCol="0" anchor="ctr"/>
          <a:lstStyle/>
          <a:p>
            <a:pPr indent="0" marL="0">
              <a:buNone/>
            </a:pPr>
            <a:r>
              <a:rPr lang="en-US" sz="900" b="1" spc="200" kern="0" dirty="0">
                <a:solidFill>
                  <a:srgbClr val="D4AF37"/>
                </a:solidFill>
                <a:latin typeface="Calibri" pitchFamily="34" charset="0"/>
                <a:cs typeface="Amiri" pitchFamily="2" charset="-78"/>
              </a:rPr>
              <a:t>GROUP 3</a:t>
            </a:r>
            <a:endParaRPr lang="en-US" sz="900" dirty="0"/>
          </a:p>
          <a:p>
            <a:pPr indent="0" marL="0">
              <a:buNone/>
            </a:pPr>
            <a:r>
              <a:rPr lang="en-US" sz="1200" b="1" dirty="0">
                <a:solidFill>
                  <a:srgbClr val="FFFFFF"/>
                </a:solidFill>
                <a:latin typeface="Calibri" pitchFamily="34" charset="0"/>
                <a:cs typeface="Amiri" pitchFamily="2" charset="-78"/>
              </a:rPr>
              <a:t>Frequency and amount · 7</a:t>
            </a:r>
            <a:endParaRPr lang="en-US" sz="900" dirty="0"/>
          </a:p>
        </p:txBody>
      </p:sp>
      <p:sp>
        <p:nvSpPr>
          <p:cNvPr id="14" name="Shape 12"/>
          <p:cNvSpPr/>
          <p:nvPr/>
        </p:nvSpPr>
        <p:spPr>
          <a:xfrm>
            <a:off x="8732520" y="1371600"/>
            <a:ext cx="3017520" cy="3291840"/>
          </a:xfrm>
          <a:prstGeom prst="roundRect">
            <a:avLst>
              <a:gd name="adj" fmla="val 2424"/>
            </a:avLst>
          </a:prstGeom>
          <a:solidFill>
            <a:srgbClr val="EAF6EF"/>
          </a:solidFill>
          <a:ln w="12700">
            <a:solidFill>
              <a:srgbClr val="9CCFB0"/>
            </a:solidFill>
            <a:prstDash val="solid"/>
          </a:ln>
        </p:spPr>
      </p:sp>
      <p:sp>
        <p:nvSpPr>
          <p:cNvPr id="15" name="Text 13"/>
          <p:cNvSpPr txBox="1"/>
          <p:nvPr/>
        </p:nvSpPr>
        <p:spPr>
          <a:xfrm>
            <a:off x="8915400" y="1426464"/>
            <a:ext cx="2651760" cy="310896"/>
          </a:xfrm>
          <a:prstGeom prst="rect">
            <a:avLst/>
          </a:prstGeom>
          <a:noFill/>
          <a:ln/>
        </p:spPr>
        <p:txBody>
          <a:bodyPr wrap="square" lIns="0" tIns="0" rIns="0" bIns="0" rtlCol="0" anchor="ctr"/>
          <a:lstStyle/>
          <a:p>
            <a:pPr algn="l" indent="0" marL="0">
              <a:buNone/>
            </a:pPr>
            <a:r>
              <a:rPr lang="en-US" sz="1000" b="1" spc="200" kern="0" dirty="0">
                <a:solidFill>
                  <a:srgbClr val="2E8B57"/>
                </a:solidFill>
                <a:latin typeface="Calibri" pitchFamily="34" charset="0"/>
                <a:cs typeface="Amiri" pitchFamily="2" charset="-78"/>
              </a:rPr>
              <a:t>BRIDGE FROM URDU</a:t>
            </a:r>
            <a:endParaRPr lang="en-US" sz="1000" dirty="0"/>
          </a:p>
        </p:txBody>
      </p:sp>
      <p:sp>
        <p:nvSpPr>
          <p:cNvPr id="16" name="Text 14"/>
          <p:cNvSpPr txBox="1"/>
          <p:nvPr/>
        </p:nvSpPr>
        <p:spPr>
          <a:xfrm>
            <a:off x="10241280" y="1810512"/>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ea typeface="Amiri" pitchFamily="2" charset="-78"/>
                <a:cs typeface="Amiri" pitchFamily="2" charset="-78"/>
              </a:rPr>
              <a:t>قَبْلَ</a:t>
            </a:r>
            <a:endParaRPr lang="ar-SA" sz="1900" dirty="0"/>
          </a:p>
        </p:txBody>
      </p:sp>
      <p:sp>
        <p:nvSpPr>
          <p:cNvPr id="17" name="Text 15"/>
          <p:cNvSpPr txBox="1"/>
          <p:nvPr/>
        </p:nvSpPr>
        <p:spPr>
          <a:xfrm>
            <a:off x="8842248" y="1810512"/>
            <a:ext cx="1463040" cy="475488"/>
          </a:xfrm>
          <a:prstGeom prst="rect">
            <a:avLst/>
          </a:prstGeom>
          <a:noFill/>
          <a:ln/>
        </p:spPr>
        <p:txBody>
          <a:bodyPr wrap="square" lIns="0" tIns="0" rIns="0" bIns="0" rtlCol="0" anchor="ctr"/>
          <a:lstStyle/>
          <a:p>
            <a:pPr indent="0" marL="0">
              <a:buNone/>
            </a:pPr>
            <a:r>
              <a:rPr lang="ar-SA" altLang="en-US" sz="1400" b="1" dirty="0">
                <a:solidFill>
                  <a:srgbClr val="2E8B57"/>
                </a:solidFill>
                <a:latin typeface="Amiri" pitchFamily="2" charset="-78"/>
                <a:ea typeface="Amiri" pitchFamily="2" charset="-78"/>
                <a:cs typeface="Amiri" pitchFamily="2" charset="-78"/>
              </a:rPr>
              <a:t>‎قبل‎ </a:t>
            </a:r>
            <a:pPr indent="0" marL="0">
              <a:buNone/>
            </a:pPr>
            <a:r>
              <a:rPr lang="en-US" sz="950" b="1" dirty="0">
                <a:solidFill>
                  <a:srgbClr val="2E8B57"/>
                </a:solidFill>
                <a:latin typeface="Calibri" pitchFamily="34" charset="0"/>
                <a:cs typeface="Amiri" pitchFamily="2" charset="-78"/>
              </a:rPr>
              <a:t> qabl · before</a:t>
            </a:r>
            <a:endParaRPr lang="en-US" sz="1400" dirty="0"/>
          </a:p>
        </p:txBody>
      </p:sp>
      <p:sp>
        <p:nvSpPr>
          <p:cNvPr id="18" name="Text 16"/>
          <p:cNvSpPr txBox="1"/>
          <p:nvPr/>
        </p:nvSpPr>
        <p:spPr>
          <a:xfrm>
            <a:off x="10241280" y="2377440"/>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ea typeface="Amiri" pitchFamily="2" charset="-78"/>
                <a:cs typeface="Amiri" pitchFamily="2" charset="-78"/>
              </a:rPr>
              <a:t>بَعْدَ</a:t>
            </a:r>
            <a:endParaRPr lang="ar-SA" sz="1900" dirty="0"/>
          </a:p>
        </p:txBody>
      </p:sp>
      <p:sp>
        <p:nvSpPr>
          <p:cNvPr id="19" name="Text 17"/>
          <p:cNvSpPr txBox="1"/>
          <p:nvPr/>
        </p:nvSpPr>
        <p:spPr>
          <a:xfrm>
            <a:off x="8842248" y="2377440"/>
            <a:ext cx="1463040" cy="475488"/>
          </a:xfrm>
          <a:prstGeom prst="rect">
            <a:avLst/>
          </a:prstGeom>
          <a:noFill/>
          <a:ln/>
        </p:spPr>
        <p:txBody>
          <a:bodyPr wrap="square" lIns="0" tIns="0" rIns="0" bIns="0" rtlCol="0" anchor="ctr"/>
          <a:lstStyle/>
          <a:p>
            <a:pPr indent="0" marL="0">
              <a:buNone/>
            </a:pPr>
            <a:r>
              <a:rPr lang="ar-SA" altLang="en-US" sz="1400" b="1" dirty="0">
                <a:solidFill>
                  <a:srgbClr val="2E8B57"/>
                </a:solidFill>
                <a:latin typeface="Amiri" pitchFamily="2" charset="-78"/>
                <a:ea typeface="Amiri" pitchFamily="2" charset="-78"/>
                <a:cs typeface="Amiri" pitchFamily="2" charset="-78"/>
              </a:rPr>
              <a:t>‎بعد‎ </a:t>
            </a:r>
            <a:pPr indent="0" marL="0">
              <a:buNone/>
            </a:pPr>
            <a:r>
              <a:rPr lang="en-US" sz="950" b="1" dirty="0">
                <a:solidFill>
                  <a:srgbClr val="2E8B57"/>
                </a:solidFill>
                <a:latin typeface="Calibri" pitchFamily="34" charset="0"/>
                <a:cs typeface="Amiri" pitchFamily="2" charset="-78"/>
              </a:rPr>
              <a:t> ba'd · after</a:t>
            </a:r>
            <a:endParaRPr lang="en-US" sz="1400" dirty="0"/>
          </a:p>
        </p:txBody>
      </p:sp>
      <p:sp>
        <p:nvSpPr>
          <p:cNvPr id="20" name="Text 18"/>
          <p:cNvSpPr txBox="1"/>
          <p:nvPr/>
        </p:nvSpPr>
        <p:spPr>
          <a:xfrm>
            <a:off x="10241280" y="2944368"/>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ea typeface="Amiri" pitchFamily="2" charset="-78"/>
                <a:cs typeface="Amiri" pitchFamily="2" charset="-78"/>
              </a:rPr>
              <a:t>فَوْرَ</a:t>
            </a:r>
            <a:endParaRPr lang="ar-SA" sz="1900" dirty="0"/>
          </a:p>
        </p:txBody>
      </p:sp>
      <p:sp>
        <p:nvSpPr>
          <p:cNvPr id="21" name="Text 19"/>
          <p:cNvSpPr txBox="1"/>
          <p:nvPr/>
        </p:nvSpPr>
        <p:spPr>
          <a:xfrm>
            <a:off x="8842248" y="2944368"/>
            <a:ext cx="1463040" cy="475488"/>
          </a:xfrm>
          <a:prstGeom prst="rect">
            <a:avLst/>
          </a:prstGeom>
          <a:noFill/>
          <a:ln/>
        </p:spPr>
        <p:txBody>
          <a:bodyPr wrap="square" lIns="0" tIns="0" rIns="0" bIns="0" rtlCol="0" anchor="ctr"/>
          <a:lstStyle/>
          <a:p>
            <a:pPr indent="0" marL="0">
              <a:buNone/>
            </a:pPr>
            <a:r>
              <a:rPr lang="ar-SA" altLang="en-US" sz="1400" b="1" dirty="0">
                <a:solidFill>
                  <a:srgbClr val="2E8B57"/>
                </a:solidFill>
                <a:latin typeface="Amiri" pitchFamily="2" charset="-78"/>
                <a:ea typeface="Amiri" pitchFamily="2" charset="-78"/>
                <a:cs typeface="Amiri" pitchFamily="2" charset="-78"/>
              </a:rPr>
              <a:t>‎فوراً‎ </a:t>
            </a:r>
            <a:pPr indent="0" marL="0">
              <a:buNone/>
            </a:pPr>
            <a:r>
              <a:rPr lang="en-US" sz="950" b="1" dirty="0">
                <a:solidFill>
                  <a:srgbClr val="2E8B57"/>
                </a:solidFill>
                <a:latin typeface="Calibri" pitchFamily="34" charset="0"/>
                <a:cs typeface="Amiri" pitchFamily="2" charset="-78"/>
              </a:rPr>
              <a:t> fauran · immediately</a:t>
            </a:r>
            <a:endParaRPr lang="en-US" sz="1400" dirty="0"/>
          </a:p>
        </p:txBody>
      </p:sp>
      <p:sp>
        <p:nvSpPr>
          <p:cNvPr id="22" name="Text 20"/>
          <p:cNvSpPr txBox="1"/>
          <p:nvPr/>
        </p:nvSpPr>
        <p:spPr>
          <a:xfrm>
            <a:off x="10241280" y="3511296"/>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ea typeface="Amiri" pitchFamily="2" charset="-78"/>
                <a:cs typeface="Amiri" pitchFamily="2" charset="-78"/>
              </a:rPr>
              <a:t>أَثْنَاءَ</a:t>
            </a:r>
            <a:endParaRPr lang="ar-SA" sz="1900" dirty="0"/>
          </a:p>
        </p:txBody>
      </p:sp>
      <p:sp>
        <p:nvSpPr>
          <p:cNvPr id="23" name="Text 21"/>
          <p:cNvSpPr txBox="1"/>
          <p:nvPr/>
        </p:nvSpPr>
        <p:spPr>
          <a:xfrm>
            <a:off x="8842248" y="3511296"/>
            <a:ext cx="1463040" cy="475488"/>
          </a:xfrm>
          <a:prstGeom prst="rect">
            <a:avLst/>
          </a:prstGeom>
          <a:noFill/>
          <a:ln/>
        </p:spPr>
        <p:txBody>
          <a:bodyPr wrap="square" lIns="0" tIns="0" rIns="0" bIns="0" rtlCol="0" anchor="ctr"/>
          <a:lstStyle/>
          <a:p>
            <a:pPr indent="0" marL="0">
              <a:buNone/>
            </a:pPr>
            <a:r>
              <a:rPr lang="ar-SA" altLang="en-US" sz="1400" b="1" dirty="0">
                <a:solidFill>
                  <a:srgbClr val="2E8B57"/>
                </a:solidFill>
                <a:latin typeface="Amiri" pitchFamily="2" charset="-78"/>
                <a:ea typeface="Amiri" pitchFamily="2" charset="-78"/>
                <a:cs typeface="Amiri" pitchFamily="2" charset="-78"/>
              </a:rPr>
              <a:t>‎اثنا‎ </a:t>
            </a:r>
            <a:pPr indent="0" marL="0">
              <a:buNone/>
            </a:pPr>
            <a:r>
              <a:rPr lang="en-US" sz="950" b="1" dirty="0">
                <a:solidFill>
                  <a:srgbClr val="2E8B57"/>
                </a:solidFill>
                <a:latin typeface="Calibri" pitchFamily="34" charset="0"/>
                <a:cs typeface="Amiri" pitchFamily="2" charset="-78"/>
              </a:rPr>
              <a:t> isnā · during (in the meantime)</a:t>
            </a:r>
            <a:endParaRPr lang="en-US" sz="1400" dirty="0"/>
          </a:p>
        </p:txBody>
      </p:sp>
      <p:sp>
        <p:nvSpPr>
          <p:cNvPr id="24" name="Text 22"/>
          <p:cNvSpPr txBox="1"/>
          <p:nvPr/>
        </p:nvSpPr>
        <p:spPr>
          <a:xfrm>
            <a:off x="10241280" y="4078224"/>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ea typeface="Amiri" pitchFamily="2" charset="-78"/>
                <a:cs typeface="Amiri" pitchFamily="2" charset="-78"/>
              </a:rPr>
              <a:t>فِي النِّهَايَةِ</a:t>
            </a:r>
            <a:endParaRPr lang="ar-SA" sz="1900" dirty="0"/>
          </a:p>
        </p:txBody>
      </p:sp>
      <p:sp>
        <p:nvSpPr>
          <p:cNvPr id="25" name="Text 23"/>
          <p:cNvSpPr txBox="1"/>
          <p:nvPr/>
        </p:nvSpPr>
        <p:spPr>
          <a:xfrm>
            <a:off x="8842248" y="4078224"/>
            <a:ext cx="1463040" cy="475488"/>
          </a:xfrm>
          <a:prstGeom prst="rect">
            <a:avLst/>
          </a:prstGeom>
          <a:noFill/>
          <a:ln/>
        </p:spPr>
        <p:txBody>
          <a:bodyPr wrap="square" lIns="0" tIns="0" rIns="0" bIns="0" rtlCol="0" anchor="ctr"/>
          <a:lstStyle/>
          <a:p>
            <a:pPr indent="0" marL="0">
              <a:buNone/>
            </a:pPr>
            <a:r>
              <a:rPr lang="ar-SA" altLang="en-US" sz="1400" b="1" dirty="0">
                <a:solidFill>
                  <a:srgbClr val="2E8B57"/>
                </a:solidFill>
                <a:latin typeface="Amiri" pitchFamily="2" charset="-78"/>
                <a:ea typeface="Amiri" pitchFamily="2" charset="-78"/>
                <a:cs typeface="Amiri" pitchFamily="2" charset="-78"/>
              </a:rPr>
              <a:t>‎نہایت‎ </a:t>
            </a:r>
            <a:pPr indent="0" marL="0">
              <a:buNone/>
            </a:pPr>
            <a:r>
              <a:rPr lang="en-US" sz="950" b="1" dirty="0">
                <a:solidFill>
                  <a:srgbClr val="2E8B57"/>
                </a:solidFill>
                <a:latin typeface="Calibri" pitchFamily="34" charset="0"/>
                <a:cs typeface="Amiri" pitchFamily="2" charset="-78"/>
              </a:rPr>
              <a:t> nihāyat · Urdu: extremely · Arabic: the end</a:t>
            </a:r>
            <a:endParaRPr lang="en-US" sz="1400" dirty="0"/>
          </a:p>
        </p:txBody>
      </p:sp>
      <p:sp>
        <p:nvSpPr>
          <p:cNvPr id="27" name="Text 2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7 / 46</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D1-L04 · Before and After</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GROUP 1</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Sequence structures (1 of 2)</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كَلِمَاتُ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D1 · Daily Routine and Time · D1-L04</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a:t>
            </a:r>
            <a:endParaRPr lang="en-US" sz="1000" dirty="0"/>
          </a:p>
        </p:txBody>
      </p:sp>
      <p:sp>
        <p:nvSpPr>
          <p:cNvPr id="18" name="Shape 15"/>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Text 17"/>
          <p:cNvSpPr txBox="1"/>
          <p:nvPr/>
        </p:nvSpPr>
        <p:spPr>
          <a:xfrm>
            <a:off x="8211312"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قَبْلَ أَنْ</a:t>
            </a:r>
            <a:endParaRPr lang="ar-SA" sz="3000" dirty="0"/>
          </a:p>
        </p:txBody>
      </p:sp>
      <p:sp>
        <p:nvSpPr>
          <p:cNvPr id="21" name="Text 18"/>
          <p:cNvSpPr txBox="1"/>
          <p:nvPr/>
        </p:nvSpPr>
        <p:spPr>
          <a:xfrm>
            <a:off x="8238744"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before + verb</a:t>
            </a:r>
            <a:endParaRPr lang="en-US" sz="1350" dirty="0"/>
          </a:p>
          <a:p>
            <a:pPr indent="0" marL="0">
              <a:buNone/>
            </a:pPr>
            <a:r>
              <a:rPr lang="en-US" sz="1100" i="1" dirty="0">
                <a:solidFill>
                  <a:srgbClr val="5A6472"/>
                </a:solidFill>
                <a:latin typeface="Calibri" pitchFamily="34" charset="0"/>
                <a:cs typeface="Amiri" pitchFamily="2" charset="-78"/>
              </a:rPr>
              <a:t>qab-la an</a:t>
            </a:r>
            <a:endParaRPr lang="en-US" sz="1350" dirty="0"/>
          </a:p>
        </p:txBody>
      </p:sp>
      <p:sp>
        <p:nvSpPr>
          <p:cNvPr id="22" name="Shape 19"/>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4389120" y="1920240"/>
            <a:ext cx="310896" cy="310896"/>
          </a:xfrm>
          <a:prstGeom prst="ellipse">
            <a:avLst/>
          </a:prstGeom>
          <a:solidFill>
            <a:srgbClr val="F4F1EA"/>
          </a:solidFill>
          <a:ln w="12700">
            <a:solidFill>
              <a:srgbClr val="F4F1EA"/>
            </a:solidFill>
            <a:prstDash val="solid"/>
          </a:ln>
        </p:spPr>
      </p:sp>
      <p:sp>
        <p:nvSpPr>
          <p:cNvPr id="24" name="Text 21"/>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a:t>
            </a:r>
            <a:endParaRPr lang="en-US" sz="1000" dirty="0"/>
          </a:p>
        </p:txBody>
      </p:sp>
      <p:sp>
        <p:nvSpPr>
          <p:cNvPr id="25" name="Shape 22"/>
          <p:cNvSpPr/>
          <p:nvPr/>
        </p:nvSpPr>
        <p:spPr>
          <a:xfrm>
            <a:off x="7050024" y="1938528"/>
            <a:ext cx="731520" cy="256032"/>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7050024"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7" name="Text 24"/>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بَعْدَ أَنْ</a:t>
            </a:r>
            <a:endParaRPr lang="ar-SA" sz="3000" dirty="0"/>
          </a:p>
        </p:txBody>
      </p:sp>
      <p:sp>
        <p:nvSpPr>
          <p:cNvPr id="28" name="Text 25"/>
          <p:cNvSpPr txBox="1"/>
          <p:nvPr/>
        </p:nvSpPr>
        <p:spPr>
          <a:xfrm>
            <a:off x="4416552"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after + verb</a:t>
            </a:r>
            <a:endParaRPr lang="en-US" sz="1350" dirty="0"/>
          </a:p>
          <a:p>
            <a:pPr indent="0" marL="0">
              <a:buNone/>
            </a:pPr>
            <a:r>
              <a:rPr lang="en-US" sz="1100" i="1" dirty="0">
                <a:solidFill>
                  <a:srgbClr val="5A6472"/>
                </a:solidFill>
                <a:latin typeface="Calibri" pitchFamily="34" charset="0"/>
                <a:cs typeface="Amiri" pitchFamily="2" charset="-78"/>
              </a:rPr>
              <a:t>baʿ-da an</a:t>
            </a:r>
            <a:endParaRPr lang="en-US" sz="1350" dirty="0"/>
          </a:p>
        </p:txBody>
      </p:sp>
      <p:sp>
        <p:nvSpPr>
          <p:cNvPr id="29" name="Shape 26"/>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Shape 27"/>
          <p:cNvSpPr/>
          <p:nvPr/>
        </p:nvSpPr>
        <p:spPr>
          <a:xfrm>
            <a:off x="566928" y="1920240"/>
            <a:ext cx="310896" cy="310896"/>
          </a:xfrm>
          <a:prstGeom prst="ellipse">
            <a:avLst/>
          </a:prstGeom>
          <a:solidFill>
            <a:srgbClr val="F4F1EA"/>
          </a:solidFill>
          <a:ln w="12700">
            <a:solidFill>
              <a:srgbClr val="F4F1EA"/>
            </a:solidFill>
            <a:prstDash val="solid"/>
          </a:ln>
        </p:spPr>
      </p:sp>
      <p:sp>
        <p:nvSpPr>
          <p:cNvPr id="31" name="Text 28"/>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3</a:t>
            </a:r>
            <a:endParaRPr lang="en-US" sz="1000" dirty="0"/>
          </a:p>
        </p:txBody>
      </p:sp>
      <p:sp>
        <p:nvSpPr>
          <p:cNvPr id="32" name="Shape 29"/>
          <p:cNvSpPr/>
          <p:nvPr/>
        </p:nvSpPr>
        <p:spPr>
          <a:xfrm>
            <a:off x="3227832" y="1938528"/>
            <a:ext cx="731520" cy="256032"/>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3227832"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4" name="Text 31"/>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عِنْدَمَا</a:t>
            </a:r>
            <a:endParaRPr lang="ar-SA" sz="3000" dirty="0"/>
          </a:p>
        </p:txBody>
      </p:sp>
      <p:sp>
        <p:nvSpPr>
          <p:cNvPr id="35" name="Text 32"/>
          <p:cNvSpPr txBox="1"/>
          <p:nvPr/>
        </p:nvSpPr>
        <p:spPr>
          <a:xfrm>
            <a:off x="594360"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when</a:t>
            </a:r>
            <a:endParaRPr lang="en-US" sz="1350" dirty="0"/>
          </a:p>
          <a:p>
            <a:pPr indent="0" marL="0">
              <a:buNone/>
            </a:pPr>
            <a:r>
              <a:rPr lang="en-US" sz="1100" i="1" dirty="0">
                <a:solidFill>
                  <a:srgbClr val="5A6472"/>
                </a:solidFill>
                <a:latin typeface="Calibri" pitchFamily="34" charset="0"/>
                <a:cs typeface="Amiri" pitchFamily="2" charset="-78"/>
              </a:rPr>
              <a:t>ʿin-da-mā</a:t>
            </a:r>
            <a:endParaRPr lang="en-US" sz="1350" dirty="0"/>
          </a:p>
        </p:txBody>
      </p:sp>
      <p:sp>
        <p:nvSpPr>
          <p:cNvPr id="36" name="Shape 33"/>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7" name="Shape 34"/>
          <p:cNvSpPr/>
          <p:nvPr/>
        </p:nvSpPr>
        <p:spPr>
          <a:xfrm>
            <a:off x="8211312" y="4261104"/>
            <a:ext cx="310896" cy="310896"/>
          </a:xfrm>
          <a:prstGeom prst="ellipse">
            <a:avLst/>
          </a:prstGeom>
          <a:solidFill>
            <a:srgbClr val="F4F1EA"/>
          </a:solidFill>
          <a:ln w="12700">
            <a:solidFill>
              <a:srgbClr val="F4F1EA"/>
            </a:solidFill>
            <a:prstDash val="solid"/>
          </a:ln>
        </p:spPr>
      </p:sp>
      <p:sp>
        <p:nvSpPr>
          <p:cNvPr id="38" name="Text 35"/>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4</a:t>
            </a:r>
            <a:endParaRPr lang="en-US" sz="1000" dirty="0"/>
          </a:p>
        </p:txBody>
      </p:sp>
      <p:sp>
        <p:nvSpPr>
          <p:cNvPr id="39" name="Text 36"/>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حِينَ</a:t>
            </a:r>
            <a:endParaRPr lang="ar-SA" sz="3000" dirty="0"/>
          </a:p>
        </p:txBody>
      </p:sp>
      <p:sp>
        <p:nvSpPr>
          <p:cNvPr id="40" name="Text 37"/>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when / while</a:t>
            </a:r>
            <a:endParaRPr lang="en-US" sz="1350" dirty="0"/>
          </a:p>
          <a:p>
            <a:pPr indent="0" marL="0">
              <a:buNone/>
            </a:pPr>
            <a:r>
              <a:rPr lang="en-US" sz="1100" i="1" dirty="0">
                <a:solidFill>
                  <a:srgbClr val="5A6472"/>
                </a:solidFill>
                <a:latin typeface="Calibri" pitchFamily="34" charset="0"/>
                <a:cs typeface="Amiri" pitchFamily="2" charset="-78"/>
              </a:rPr>
              <a:t>ḥī-na</a:t>
            </a:r>
            <a:endParaRPr lang="en-US" sz="1350" dirty="0"/>
          </a:p>
        </p:txBody>
      </p:sp>
      <p:sp>
        <p:nvSpPr>
          <p:cNvPr id="41" name="Shape 38"/>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4389120" y="4261104"/>
            <a:ext cx="310896" cy="310896"/>
          </a:xfrm>
          <a:prstGeom prst="ellipse">
            <a:avLst/>
          </a:prstGeom>
          <a:solidFill>
            <a:srgbClr val="F4F1EA"/>
          </a:solidFill>
          <a:ln w="12700">
            <a:solidFill>
              <a:srgbClr val="F4F1EA"/>
            </a:solidFill>
            <a:prstDash val="solid"/>
          </a:ln>
        </p:spPr>
      </p:sp>
      <p:sp>
        <p:nvSpPr>
          <p:cNvPr id="43" name="Text 40"/>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5</a:t>
            </a:r>
            <a:endParaRPr lang="en-US" sz="1000" dirty="0"/>
          </a:p>
        </p:txBody>
      </p:sp>
      <p:sp>
        <p:nvSpPr>
          <p:cNvPr id="44" name="Text 41"/>
          <p:cNvSpPr txBox="1"/>
          <p:nvPr/>
        </p:nvSpPr>
        <p:spPr>
          <a:xfrm>
            <a:off x="4389120"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بِمُجَرَّدِ أَنْ</a:t>
            </a:r>
            <a:endParaRPr lang="ar-SA" sz="3000" dirty="0"/>
          </a:p>
        </p:txBody>
      </p:sp>
      <p:sp>
        <p:nvSpPr>
          <p:cNvPr id="45" name="Text 42"/>
          <p:cNvSpPr txBox="1"/>
          <p:nvPr/>
        </p:nvSpPr>
        <p:spPr>
          <a:xfrm>
            <a:off x="4416552"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as soon as</a:t>
            </a:r>
            <a:endParaRPr lang="en-US" sz="1350" dirty="0"/>
          </a:p>
          <a:p>
            <a:pPr indent="0" marL="0">
              <a:buNone/>
            </a:pPr>
            <a:r>
              <a:rPr lang="en-US" sz="1100" i="1" dirty="0">
                <a:solidFill>
                  <a:srgbClr val="5A6472"/>
                </a:solidFill>
                <a:latin typeface="Calibri" pitchFamily="34" charset="0"/>
                <a:cs typeface="Amiri" pitchFamily="2" charset="-78"/>
              </a:rPr>
              <a:t>bi-mu-jar-ra-di an</a:t>
            </a:r>
            <a:endParaRPr lang="en-US" sz="1350" dirty="0"/>
          </a:p>
        </p:txBody>
      </p:sp>
      <p:sp>
        <p:nvSpPr>
          <p:cNvPr id="46" name="Text 4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8 / 46</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D1-L04 · Before and After</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GROUP 1</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Sequence structures (2 of 2)</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كَلِمَاتُ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D1 · Daily Routine and Time · D1-L04</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6</a:t>
            </a:r>
            <a:endParaRPr lang="en-US" sz="1000" dirty="0"/>
          </a:p>
        </p:txBody>
      </p:sp>
      <p:sp>
        <p:nvSpPr>
          <p:cNvPr id="18" name="Text 15"/>
          <p:cNvSpPr txBox="1"/>
          <p:nvPr/>
        </p:nvSpPr>
        <p:spPr>
          <a:xfrm>
            <a:off x="8211312"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فَوْرَ أَنْ</a:t>
            </a:r>
            <a:endParaRPr lang="ar-SA" sz="3000" dirty="0"/>
          </a:p>
        </p:txBody>
      </p:sp>
      <p:sp>
        <p:nvSpPr>
          <p:cNvPr id="19" name="Text 16"/>
          <p:cNvSpPr txBox="1"/>
          <p:nvPr/>
        </p:nvSpPr>
        <p:spPr>
          <a:xfrm>
            <a:off x="8238744"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immediately after</a:t>
            </a:r>
            <a:endParaRPr lang="en-US" sz="1350" dirty="0"/>
          </a:p>
          <a:p>
            <a:pPr indent="0" marL="0">
              <a:buNone/>
            </a:pPr>
            <a:r>
              <a:rPr lang="en-US" sz="1100" i="1" dirty="0">
                <a:solidFill>
                  <a:srgbClr val="5A6472"/>
                </a:solidFill>
                <a:latin typeface="Calibri" pitchFamily="34" charset="0"/>
                <a:cs typeface="Amiri" pitchFamily="2" charset="-78"/>
              </a:rPr>
              <a:t>faw-ra an</a:t>
            </a:r>
            <a:endParaRPr lang="en-US" sz="1350" dirty="0"/>
          </a:p>
        </p:txBody>
      </p:sp>
      <p:sp>
        <p:nvSpPr>
          <p:cNvPr id="20" name="Shape 17"/>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4389120" y="1920240"/>
            <a:ext cx="310896" cy="310896"/>
          </a:xfrm>
          <a:prstGeom prst="ellipse">
            <a:avLst/>
          </a:prstGeom>
          <a:solidFill>
            <a:srgbClr val="F4F1EA"/>
          </a:solidFill>
          <a:ln w="12700">
            <a:solidFill>
              <a:srgbClr val="F4F1EA"/>
            </a:solidFill>
            <a:prstDash val="solid"/>
          </a:ln>
        </p:spPr>
      </p:sp>
      <p:sp>
        <p:nvSpPr>
          <p:cNvPr id="22" name="Text 19"/>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7</a:t>
            </a:r>
            <a:endParaRPr lang="en-US" sz="1000" dirty="0"/>
          </a:p>
        </p:txBody>
      </p:sp>
      <p:sp>
        <p:nvSpPr>
          <p:cNvPr id="23" name="Text 20"/>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أَثْنَاءَ</a:t>
            </a:r>
            <a:endParaRPr lang="ar-SA" sz="3000" dirty="0"/>
          </a:p>
        </p:txBody>
      </p:sp>
      <p:sp>
        <p:nvSpPr>
          <p:cNvPr id="24" name="Text 21"/>
          <p:cNvSpPr txBox="1"/>
          <p:nvPr/>
        </p:nvSpPr>
        <p:spPr>
          <a:xfrm>
            <a:off x="4416552"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during</a:t>
            </a:r>
            <a:endParaRPr lang="en-US" sz="1350" dirty="0"/>
          </a:p>
          <a:p>
            <a:pPr indent="0" marL="0">
              <a:buNone/>
            </a:pPr>
            <a:r>
              <a:rPr lang="en-US" sz="1100" i="1" dirty="0">
                <a:solidFill>
                  <a:srgbClr val="5A6472"/>
                </a:solidFill>
                <a:latin typeface="Calibri" pitchFamily="34" charset="0"/>
                <a:cs typeface="Amiri" pitchFamily="2" charset="-78"/>
              </a:rPr>
              <a:t>ath-nā-ʾa</a:t>
            </a:r>
            <a:endParaRPr lang="en-US" sz="1350" dirty="0"/>
          </a:p>
        </p:txBody>
      </p:sp>
      <p:sp>
        <p:nvSpPr>
          <p:cNvPr id="25" name="Shape 22"/>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566928" y="1920240"/>
            <a:ext cx="310896" cy="310896"/>
          </a:xfrm>
          <a:prstGeom prst="ellipse">
            <a:avLst/>
          </a:prstGeom>
          <a:solidFill>
            <a:srgbClr val="F4F1EA"/>
          </a:solidFill>
          <a:ln w="12700">
            <a:solidFill>
              <a:srgbClr val="F4F1EA"/>
            </a:solidFill>
            <a:prstDash val="solid"/>
          </a:ln>
        </p:spPr>
      </p:sp>
      <p:sp>
        <p:nvSpPr>
          <p:cNvPr id="27" name="Text 24"/>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8</a:t>
            </a:r>
            <a:endParaRPr lang="en-US" sz="1000" dirty="0"/>
          </a:p>
        </p:txBody>
      </p:sp>
      <p:sp>
        <p:nvSpPr>
          <p:cNvPr id="28" name="Text 25"/>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قَبْلَ ذٰلِكَ</a:t>
            </a:r>
            <a:endParaRPr lang="ar-SA" sz="3000" dirty="0"/>
          </a:p>
        </p:txBody>
      </p:sp>
      <p:sp>
        <p:nvSpPr>
          <p:cNvPr id="29" name="Text 26"/>
          <p:cNvSpPr txBox="1"/>
          <p:nvPr/>
        </p:nvSpPr>
        <p:spPr>
          <a:xfrm>
            <a:off x="594360"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before that</a:t>
            </a:r>
            <a:endParaRPr lang="en-US" sz="1350" dirty="0"/>
          </a:p>
          <a:p>
            <a:pPr indent="0" marL="0">
              <a:buNone/>
            </a:pPr>
            <a:r>
              <a:rPr lang="en-US" sz="1100" i="1" dirty="0">
                <a:solidFill>
                  <a:srgbClr val="5A6472"/>
                </a:solidFill>
                <a:latin typeface="Calibri" pitchFamily="34" charset="0"/>
                <a:cs typeface="Amiri" pitchFamily="2" charset="-78"/>
              </a:rPr>
              <a:t>qab-la dhā-li-ka</a:t>
            </a:r>
            <a:endParaRPr lang="en-US" sz="1350" dirty="0"/>
          </a:p>
        </p:txBody>
      </p:sp>
      <p:sp>
        <p:nvSpPr>
          <p:cNvPr id="30" name="Shape 27"/>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8211312" y="4261104"/>
            <a:ext cx="310896" cy="310896"/>
          </a:xfrm>
          <a:prstGeom prst="ellipse">
            <a:avLst/>
          </a:prstGeom>
          <a:solidFill>
            <a:srgbClr val="F4F1EA"/>
          </a:solidFill>
          <a:ln w="12700">
            <a:solidFill>
              <a:srgbClr val="F4F1EA"/>
            </a:solidFill>
            <a:prstDash val="solid"/>
          </a:ln>
        </p:spPr>
      </p:sp>
      <p:sp>
        <p:nvSpPr>
          <p:cNvPr id="32" name="Text 29"/>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9</a:t>
            </a:r>
            <a:endParaRPr lang="en-US" sz="1000" dirty="0"/>
          </a:p>
        </p:txBody>
      </p:sp>
      <p:sp>
        <p:nvSpPr>
          <p:cNvPr id="33" name="Shape 30"/>
          <p:cNvSpPr/>
          <p:nvPr/>
        </p:nvSpPr>
        <p:spPr>
          <a:xfrm>
            <a:off x="10872216" y="4279392"/>
            <a:ext cx="731520" cy="256032"/>
          </a:xfrm>
          <a:prstGeom prst="roundRect">
            <a:avLst>
              <a:gd name="adj" fmla="val 50000"/>
            </a:avLst>
          </a:prstGeom>
          <a:solidFill>
            <a:srgbClr val="2E8B57"/>
          </a:solidFill>
          <a:ln w="12700">
            <a:solidFill>
              <a:srgbClr val="2E8B57"/>
            </a:solidFill>
            <a:prstDash val="solid"/>
          </a:ln>
        </p:spPr>
      </p:sp>
      <p:sp>
        <p:nvSpPr>
          <p:cNvPr id="34" name="Text 31"/>
          <p:cNvSpPr txBox="1"/>
          <p:nvPr/>
        </p:nvSpPr>
        <p:spPr>
          <a:xfrm>
            <a:off x="10872216"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5" name="Text 32"/>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بَعْدَ ذٰلِكَ</a:t>
            </a:r>
            <a:endParaRPr lang="ar-SA" sz="3000" dirty="0"/>
          </a:p>
        </p:txBody>
      </p:sp>
      <p:sp>
        <p:nvSpPr>
          <p:cNvPr id="36" name="Text 33"/>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after that</a:t>
            </a:r>
            <a:endParaRPr lang="en-US" sz="1350" dirty="0"/>
          </a:p>
          <a:p>
            <a:pPr indent="0" marL="0">
              <a:buNone/>
            </a:pPr>
            <a:r>
              <a:rPr lang="en-US" sz="1100" i="1" dirty="0">
                <a:solidFill>
                  <a:srgbClr val="5A6472"/>
                </a:solidFill>
                <a:latin typeface="Calibri" pitchFamily="34" charset="0"/>
                <a:cs typeface="Amiri" pitchFamily="2" charset="-78"/>
              </a:rPr>
              <a:t>baʿ-da dhā-li-ka</a:t>
            </a:r>
            <a:endParaRPr lang="en-US" sz="1350" dirty="0"/>
          </a:p>
        </p:txBody>
      </p:sp>
      <p:sp>
        <p:nvSpPr>
          <p:cNvPr id="37" name="Shape 34"/>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8" name="Shape 35"/>
          <p:cNvSpPr/>
          <p:nvPr/>
        </p:nvSpPr>
        <p:spPr>
          <a:xfrm>
            <a:off x="4389120" y="4261104"/>
            <a:ext cx="310896" cy="310896"/>
          </a:xfrm>
          <a:prstGeom prst="ellipse">
            <a:avLst/>
          </a:prstGeom>
          <a:solidFill>
            <a:srgbClr val="F4F1EA"/>
          </a:solidFill>
          <a:ln w="12700">
            <a:solidFill>
              <a:srgbClr val="F4F1EA"/>
            </a:solidFill>
            <a:prstDash val="solid"/>
          </a:ln>
        </p:spPr>
      </p:sp>
      <p:sp>
        <p:nvSpPr>
          <p:cNvPr id="39" name="Text 36"/>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10</a:t>
            </a:r>
            <a:endParaRPr lang="en-US" sz="1000" dirty="0"/>
          </a:p>
        </p:txBody>
      </p:sp>
      <p:sp>
        <p:nvSpPr>
          <p:cNvPr id="40" name="Shape 37"/>
          <p:cNvSpPr/>
          <p:nvPr/>
        </p:nvSpPr>
        <p:spPr>
          <a:xfrm>
            <a:off x="7050024" y="4279392"/>
            <a:ext cx="731520" cy="256032"/>
          </a:xfrm>
          <a:prstGeom prst="roundRect">
            <a:avLst>
              <a:gd name="adj" fmla="val 50000"/>
            </a:avLst>
          </a:prstGeom>
          <a:solidFill>
            <a:srgbClr val="2E8B57"/>
          </a:solidFill>
          <a:ln w="12700">
            <a:solidFill>
              <a:srgbClr val="2E8B57"/>
            </a:solidFill>
            <a:prstDash val="solid"/>
          </a:ln>
        </p:spPr>
      </p:sp>
      <p:sp>
        <p:nvSpPr>
          <p:cNvPr id="41" name="Text 38"/>
          <p:cNvSpPr txBox="1"/>
          <p:nvPr/>
        </p:nvSpPr>
        <p:spPr>
          <a:xfrm>
            <a:off x="7050024"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42" name="Text 39"/>
          <p:cNvSpPr txBox="1"/>
          <p:nvPr/>
        </p:nvSpPr>
        <p:spPr>
          <a:xfrm>
            <a:off x="4389120"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فِي النِّهَايَةِ</a:t>
            </a:r>
            <a:endParaRPr lang="ar-SA" sz="3000" dirty="0"/>
          </a:p>
        </p:txBody>
      </p:sp>
      <p:sp>
        <p:nvSpPr>
          <p:cNvPr id="43" name="Text 40"/>
          <p:cNvSpPr txBox="1"/>
          <p:nvPr/>
        </p:nvSpPr>
        <p:spPr>
          <a:xfrm>
            <a:off x="4416552"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in the end</a:t>
            </a:r>
            <a:endParaRPr lang="en-US" sz="1350" dirty="0"/>
          </a:p>
          <a:p>
            <a:pPr indent="0" marL="0">
              <a:buNone/>
            </a:pPr>
            <a:r>
              <a:rPr lang="en-US" sz="1100" i="1" dirty="0">
                <a:solidFill>
                  <a:srgbClr val="5A6472"/>
                </a:solidFill>
                <a:latin typeface="Calibri" pitchFamily="34" charset="0"/>
                <a:cs typeface="Amiri" pitchFamily="2" charset="-78"/>
              </a:rPr>
              <a:t>fī an-ni-hā-ya-ti</a:t>
            </a:r>
            <a:endParaRPr lang="en-US" sz="135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9 / 46</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D1-L04 · Before and After</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GROUP 2</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300" b="1" dirty="0">
                <a:solidFill>
                  <a:srgbClr val="1B3B6F"/>
                </a:solidFill>
                <a:latin typeface="Cambria" pitchFamily="34" charset="0"/>
                <a:cs typeface="Amiri" pitchFamily="2" charset="-78"/>
              </a:rPr>
              <a:t>Daily actions beyond the morning (1 of 2)</a:t>
            </a:r>
            <a:endParaRPr lang="en-US" sz="23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كَلِمَاتُ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D1 · Daily Routine and Time · D1-L04</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11</a:t>
            </a:r>
            <a:endParaRPr lang="en-US" sz="1000" dirty="0"/>
          </a:p>
        </p:txBody>
      </p:sp>
      <p:sp>
        <p:nvSpPr>
          <p:cNvPr id="18" name="Shape 15"/>
          <p:cNvSpPr/>
          <p:nvPr/>
        </p:nvSpPr>
        <p:spPr>
          <a:xfrm>
            <a:off x="8604504" y="1938528"/>
            <a:ext cx="1020470" cy="256032"/>
          </a:xfrm>
          <a:prstGeom prst="roundRect">
            <a:avLst>
              <a:gd name="adj" fmla="val 50000"/>
            </a:avLst>
          </a:prstGeom>
          <a:solidFill>
            <a:srgbClr val="EFE7D2"/>
          </a:solidFill>
          <a:ln w="12700">
            <a:solidFill>
              <a:srgbClr val="EFE7D2"/>
            </a:solidFill>
            <a:prstDash val="solid"/>
          </a:ln>
        </p:spPr>
      </p:sp>
      <p:sp>
        <p:nvSpPr>
          <p:cNvPr id="19" name="Text 16"/>
          <p:cNvSpPr txBox="1"/>
          <p:nvPr/>
        </p:nvSpPr>
        <p:spPr>
          <a:xfrm>
            <a:off x="8604504" y="1938528"/>
            <a:ext cx="1020470"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I · he · she</a:t>
            </a:r>
            <a:endParaRPr lang="en-US" sz="800" dirty="0"/>
          </a:p>
        </p:txBody>
      </p:sp>
      <p:sp>
        <p:nvSpPr>
          <p:cNvPr id="20" name="Shape 17"/>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21" name="Text 18"/>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2" name="Text 19"/>
          <p:cNvSpPr txBox="1"/>
          <p:nvPr/>
        </p:nvSpPr>
        <p:spPr>
          <a:xfrm>
            <a:off x="8211312"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أُرَاجِعُ دُرُوسِي</a:t>
            </a:r>
            <a:endParaRPr lang="ar-SA" sz="3000" dirty="0"/>
          </a:p>
        </p:txBody>
      </p:sp>
      <p:sp>
        <p:nvSpPr>
          <p:cNvPr id="23" name="Text 20"/>
          <p:cNvSpPr txBox="1"/>
          <p:nvPr/>
        </p:nvSpPr>
        <p:spPr>
          <a:xfrm>
            <a:off x="8238744"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I revise my lessons</a:t>
            </a:r>
            <a:endParaRPr lang="en-US" sz="1350" dirty="0"/>
          </a:p>
          <a:p>
            <a:pPr indent="0" marL="0">
              <a:buNone/>
            </a:pPr>
            <a:r>
              <a:rPr lang="en-US" sz="1100" i="1" dirty="0">
                <a:solidFill>
                  <a:srgbClr val="5A6472"/>
                </a:solidFill>
                <a:latin typeface="Calibri" pitchFamily="34" charset="0"/>
                <a:cs typeface="Amiri" pitchFamily="2" charset="-78"/>
              </a:rPr>
              <a:t>u-rā-ji-ʿu du-rū-sī</a:t>
            </a:r>
            <a:endParaRPr lang="en-US" sz="1350" dirty="0"/>
          </a:p>
        </p:txBody>
      </p:sp>
      <p:sp>
        <p:nvSpPr>
          <p:cNvPr id="24" name="Shape 21"/>
          <p:cNvSpPr/>
          <p:nvPr/>
        </p:nvSpPr>
        <p:spPr>
          <a:xfrm>
            <a:off x="10543032" y="3438144"/>
            <a:ext cx="1060704" cy="438912"/>
          </a:xfrm>
          <a:prstGeom prst="roundRect">
            <a:avLst>
              <a:gd name="adj" fmla="val 10417"/>
            </a:avLst>
          </a:prstGeom>
          <a:solidFill>
            <a:srgbClr val="F4F1EA"/>
          </a:solidFill>
          <a:ln w="9525">
            <a:solidFill>
              <a:srgbClr val="F4F1EA"/>
            </a:solidFill>
            <a:prstDash val="solid"/>
          </a:ln>
        </p:spPr>
      </p:sp>
      <p:sp>
        <p:nvSpPr>
          <p:cNvPr id="25" name="Text 22"/>
          <p:cNvSpPr txBox="1"/>
          <p:nvPr/>
        </p:nvSpPr>
        <p:spPr>
          <a:xfrm>
            <a:off x="10597896"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he</a:t>
            </a:r>
            <a:endParaRPr lang="en-US" sz="750" dirty="0"/>
          </a:p>
        </p:txBody>
      </p:sp>
      <p:sp>
        <p:nvSpPr>
          <p:cNvPr id="26" name="Text 23"/>
          <p:cNvSpPr txBox="1"/>
          <p:nvPr/>
        </p:nvSpPr>
        <p:spPr>
          <a:xfrm>
            <a:off x="10588752"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يُرَاجِعُ</a:t>
            </a:r>
            <a:endParaRPr lang="ar-SA" sz="1500" dirty="0"/>
          </a:p>
        </p:txBody>
      </p:sp>
      <p:sp>
        <p:nvSpPr>
          <p:cNvPr id="27" name="Shape 24"/>
          <p:cNvSpPr/>
          <p:nvPr/>
        </p:nvSpPr>
        <p:spPr>
          <a:xfrm>
            <a:off x="9390888" y="3438144"/>
            <a:ext cx="1060704" cy="438912"/>
          </a:xfrm>
          <a:prstGeom prst="roundRect">
            <a:avLst>
              <a:gd name="adj" fmla="val 10417"/>
            </a:avLst>
          </a:prstGeom>
          <a:solidFill>
            <a:srgbClr val="F4F1EA"/>
          </a:solidFill>
          <a:ln w="9525">
            <a:solidFill>
              <a:srgbClr val="F4F1EA"/>
            </a:solidFill>
            <a:prstDash val="solid"/>
          </a:ln>
        </p:spPr>
      </p:sp>
      <p:sp>
        <p:nvSpPr>
          <p:cNvPr id="28" name="Text 25"/>
          <p:cNvSpPr txBox="1"/>
          <p:nvPr/>
        </p:nvSpPr>
        <p:spPr>
          <a:xfrm>
            <a:off x="9445752"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she</a:t>
            </a:r>
            <a:endParaRPr lang="en-US" sz="750" dirty="0"/>
          </a:p>
        </p:txBody>
      </p:sp>
      <p:sp>
        <p:nvSpPr>
          <p:cNvPr id="29" name="Text 26"/>
          <p:cNvSpPr txBox="1"/>
          <p:nvPr/>
        </p:nvSpPr>
        <p:spPr>
          <a:xfrm>
            <a:off x="9436608"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تُرَاجِعُ</a:t>
            </a:r>
            <a:endParaRPr lang="ar-SA" sz="1500" dirty="0"/>
          </a:p>
        </p:txBody>
      </p:sp>
      <p:sp>
        <p:nvSpPr>
          <p:cNvPr id="30" name="Shape 27"/>
          <p:cNvSpPr/>
          <p:nvPr/>
        </p:nvSpPr>
        <p:spPr>
          <a:xfrm>
            <a:off x="8238744" y="3438144"/>
            <a:ext cx="1060704" cy="438912"/>
          </a:xfrm>
          <a:prstGeom prst="roundRect">
            <a:avLst>
              <a:gd name="adj" fmla="val 10417"/>
            </a:avLst>
          </a:prstGeom>
          <a:solidFill>
            <a:srgbClr val="F4F1EA"/>
          </a:solidFill>
          <a:ln w="9525">
            <a:solidFill>
              <a:srgbClr val="F4F1EA"/>
            </a:solidFill>
            <a:prstDash val="solid"/>
          </a:ln>
        </p:spPr>
      </p:sp>
      <p:sp>
        <p:nvSpPr>
          <p:cNvPr id="31" name="Text 28"/>
          <p:cNvSpPr txBox="1"/>
          <p:nvPr/>
        </p:nvSpPr>
        <p:spPr>
          <a:xfrm>
            <a:off x="8293608" y="3447288"/>
            <a:ext cx="950976"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cs typeface="Amiri" pitchFamily="2" charset="-78"/>
              </a:rPr>
              <a:t>after an</a:t>
            </a:r>
            <a:endParaRPr lang="en-US" sz="700" dirty="0"/>
          </a:p>
        </p:txBody>
      </p:sp>
      <p:sp>
        <p:nvSpPr>
          <p:cNvPr id="32" name="Text 29"/>
          <p:cNvSpPr txBox="1"/>
          <p:nvPr/>
        </p:nvSpPr>
        <p:spPr>
          <a:xfrm>
            <a:off x="8284464" y="3575304"/>
            <a:ext cx="969264"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ea typeface="Amiri" pitchFamily="2" charset="-78"/>
                <a:cs typeface="Amiri" pitchFamily="2" charset="-78"/>
              </a:rPr>
              <a:t>أَنْ أُرَاجِعَ</a:t>
            </a:r>
            <a:endParaRPr lang="ar-SA" sz="1350" dirty="0"/>
          </a:p>
        </p:txBody>
      </p:sp>
      <p:sp>
        <p:nvSpPr>
          <p:cNvPr id="33" name="Shape 30"/>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4" name="Shape 31"/>
          <p:cNvSpPr/>
          <p:nvPr/>
        </p:nvSpPr>
        <p:spPr>
          <a:xfrm>
            <a:off x="4389120" y="1920240"/>
            <a:ext cx="310896" cy="310896"/>
          </a:xfrm>
          <a:prstGeom prst="ellipse">
            <a:avLst/>
          </a:prstGeom>
          <a:solidFill>
            <a:srgbClr val="F4F1EA"/>
          </a:solidFill>
          <a:ln w="12700">
            <a:solidFill>
              <a:srgbClr val="F4F1EA"/>
            </a:solidFill>
            <a:prstDash val="solid"/>
          </a:ln>
        </p:spPr>
      </p:sp>
      <p:sp>
        <p:nvSpPr>
          <p:cNvPr id="35" name="Text 32"/>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12</a:t>
            </a:r>
            <a:endParaRPr lang="en-US" sz="1000" dirty="0"/>
          </a:p>
        </p:txBody>
      </p:sp>
      <p:sp>
        <p:nvSpPr>
          <p:cNvPr id="36" name="Shape 33"/>
          <p:cNvSpPr/>
          <p:nvPr/>
        </p:nvSpPr>
        <p:spPr>
          <a:xfrm>
            <a:off x="4782312" y="1938528"/>
            <a:ext cx="1020470" cy="256032"/>
          </a:xfrm>
          <a:prstGeom prst="roundRect">
            <a:avLst>
              <a:gd name="adj" fmla="val 50000"/>
            </a:avLst>
          </a:prstGeom>
          <a:solidFill>
            <a:srgbClr val="EFE7D2"/>
          </a:solidFill>
          <a:ln w="12700">
            <a:solidFill>
              <a:srgbClr val="EFE7D2"/>
            </a:solidFill>
            <a:prstDash val="solid"/>
          </a:ln>
        </p:spPr>
      </p:sp>
      <p:sp>
        <p:nvSpPr>
          <p:cNvPr id="37" name="Text 34"/>
          <p:cNvSpPr txBox="1"/>
          <p:nvPr/>
        </p:nvSpPr>
        <p:spPr>
          <a:xfrm>
            <a:off x="4782312" y="1938528"/>
            <a:ext cx="1020470"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I · he · she</a:t>
            </a:r>
            <a:endParaRPr lang="en-US" sz="800" dirty="0"/>
          </a:p>
        </p:txBody>
      </p:sp>
      <p:sp>
        <p:nvSpPr>
          <p:cNvPr id="38" name="Shape 35"/>
          <p:cNvSpPr/>
          <p:nvPr/>
        </p:nvSpPr>
        <p:spPr>
          <a:xfrm>
            <a:off x="7050024" y="1938528"/>
            <a:ext cx="731520" cy="256032"/>
          </a:xfrm>
          <a:prstGeom prst="roundRect">
            <a:avLst>
              <a:gd name="adj" fmla="val 50000"/>
            </a:avLst>
          </a:prstGeom>
          <a:solidFill>
            <a:srgbClr val="2E8B57"/>
          </a:solidFill>
          <a:ln w="12700">
            <a:solidFill>
              <a:srgbClr val="2E8B57"/>
            </a:solidFill>
            <a:prstDash val="solid"/>
          </a:ln>
        </p:spPr>
      </p:sp>
      <p:sp>
        <p:nvSpPr>
          <p:cNvPr id="39" name="Text 36"/>
          <p:cNvSpPr txBox="1"/>
          <p:nvPr/>
        </p:nvSpPr>
        <p:spPr>
          <a:xfrm>
            <a:off x="7050024"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40" name="Text 37"/>
          <p:cNvSpPr txBox="1"/>
          <p:nvPr/>
        </p:nvSpPr>
        <p:spPr>
          <a:xfrm>
            <a:off x="4389120"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أُكْمِلُ وَاجِبِي</a:t>
            </a:r>
            <a:endParaRPr lang="ar-SA" sz="3000" dirty="0"/>
          </a:p>
        </p:txBody>
      </p:sp>
      <p:sp>
        <p:nvSpPr>
          <p:cNvPr id="41" name="Text 38"/>
          <p:cNvSpPr txBox="1"/>
          <p:nvPr/>
        </p:nvSpPr>
        <p:spPr>
          <a:xfrm>
            <a:off x="4416552"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I complete my homework</a:t>
            </a:r>
            <a:endParaRPr lang="en-US" sz="1350" dirty="0"/>
          </a:p>
          <a:p>
            <a:pPr indent="0" marL="0">
              <a:buNone/>
            </a:pPr>
            <a:r>
              <a:rPr lang="en-US" sz="1100" i="1" dirty="0">
                <a:solidFill>
                  <a:srgbClr val="5A6472"/>
                </a:solidFill>
                <a:latin typeface="Calibri" pitchFamily="34" charset="0"/>
                <a:cs typeface="Amiri" pitchFamily="2" charset="-78"/>
              </a:rPr>
              <a:t>uk-mi-lu wā-ji-bī</a:t>
            </a:r>
            <a:endParaRPr lang="en-US" sz="1350" dirty="0"/>
          </a:p>
        </p:txBody>
      </p:sp>
      <p:sp>
        <p:nvSpPr>
          <p:cNvPr id="42" name="Shape 39"/>
          <p:cNvSpPr/>
          <p:nvPr/>
        </p:nvSpPr>
        <p:spPr>
          <a:xfrm>
            <a:off x="6720840" y="3438144"/>
            <a:ext cx="1060704" cy="438912"/>
          </a:xfrm>
          <a:prstGeom prst="roundRect">
            <a:avLst>
              <a:gd name="adj" fmla="val 10417"/>
            </a:avLst>
          </a:prstGeom>
          <a:solidFill>
            <a:srgbClr val="F4F1EA"/>
          </a:solidFill>
          <a:ln w="9525">
            <a:solidFill>
              <a:srgbClr val="F4F1EA"/>
            </a:solidFill>
            <a:prstDash val="solid"/>
          </a:ln>
        </p:spPr>
      </p:sp>
      <p:sp>
        <p:nvSpPr>
          <p:cNvPr id="43" name="Text 40"/>
          <p:cNvSpPr txBox="1"/>
          <p:nvPr/>
        </p:nvSpPr>
        <p:spPr>
          <a:xfrm>
            <a:off x="6775704"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he</a:t>
            </a:r>
            <a:endParaRPr lang="en-US" sz="750" dirty="0"/>
          </a:p>
        </p:txBody>
      </p:sp>
      <p:sp>
        <p:nvSpPr>
          <p:cNvPr id="44" name="Text 41"/>
          <p:cNvSpPr txBox="1"/>
          <p:nvPr/>
        </p:nvSpPr>
        <p:spPr>
          <a:xfrm>
            <a:off x="6766560"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يُكْمِلُ</a:t>
            </a:r>
            <a:endParaRPr lang="ar-SA" sz="1500" dirty="0"/>
          </a:p>
        </p:txBody>
      </p:sp>
      <p:sp>
        <p:nvSpPr>
          <p:cNvPr id="45" name="Shape 42"/>
          <p:cNvSpPr/>
          <p:nvPr/>
        </p:nvSpPr>
        <p:spPr>
          <a:xfrm>
            <a:off x="5568696" y="3438144"/>
            <a:ext cx="1060704" cy="438912"/>
          </a:xfrm>
          <a:prstGeom prst="roundRect">
            <a:avLst>
              <a:gd name="adj" fmla="val 10417"/>
            </a:avLst>
          </a:prstGeom>
          <a:solidFill>
            <a:srgbClr val="F4F1EA"/>
          </a:solidFill>
          <a:ln w="9525">
            <a:solidFill>
              <a:srgbClr val="F4F1EA"/>
            </a:solidFill>
            <a:prstDash val="solid"/>
          </a:ln>
        </p:spPr>
      </p:sp>
      <p:sp>
        <p:nvSpPr>
          <p:cNvPr id="46" name="Text 43"/>
          <p:cNvSpPr txBox="1"/>
          <p:nvPr/>
        </p:nvSpPr>
        <p:spPr>
          <a:xfrm>
            <a:off x="5623560"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she</a:t>
            </a:r>
            <a:endParaRPr lang="en-US" sz="750" dirty="0"/>
          </a:p>
        </p:txBody>
      </p:sp>
      <p:sp>
        <p:nvSpPr>
          <p:cNvPr id="47" name="Text 44"/>
          <p:cNvSpPr txBox="1"/>
          <p:nvPr/>
        </p:nvSpPr>
        <p:spPr>
          <a:xfrm>
            <a:off x="5614416"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تُكْمِلُ</a:t>
            </a:r>
            <a:endParaRPr lang="ar-SA" sz="1500" dirty="0"/>
          </a:p>
        </p:txBody>
      </p:sp>
      <p:sp>
        <p:nvSpPr>
          <p:cNvPr id="48" name="Shape 45"/>
          <p:cNvSpPr/>
          <p:nvPr/>
        </p:nvSpPr>
        <p:spPr>
          <a:xfrm>
            <a:off x="4416552" y="3438144"/>
            <a:ext cx="1060704" cy="438912"/>
          </a:xfrm>
          <a:prstGeom prst="roundRect">
            <a:avLst>
              <a:gd name="adj" fmla="val 10417"/>
            </a:avLst>
          </a:prstGeom>
          <a:solidFill>
            <a:srgbClr val="F4F1EA"/>
          </a:solidFill>
          <a:ln w="9525">
            <a:solidFill>
              <a:srgbClr val="F4F1EA"/>
            </a:solidFill>
            <a:prstDash val="solid"/>
          </a:ln>
        </p:spPr>
      </p:sp>
      <p:sp>
        <p:nvSpPr>
          <p:cNvPr id="49" name="Text 46"/>
          <p:cNvSpPr txBox="1"/>
          <p:nvPr/>
        </p:nvSpPr>
        <p:spPr>
          <a:xfrm>
            <a:off x="4471416" y="3447288"/>
            <a:ext cx="950976"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cs typeface="Amiri" pitchFamily="2" charset="-78"/>
              </a:rPr>
              <a:t>after an</a:t>
            </a:r>
            <a:endParaRPr lang="en-US" sz="700" dirty="0"/>
          </a:p>
        </p:txBody>
      </p:sp>
      <p:sp>
        <p:nvSpPr>
          <p:cNvPr id="50" name="Text 47"/>
          <p:cNvSpPr txBox="1"/>
          <p:nvPr/>
        </p:nvSpPr>
        <p:spPr>
          <a:xfrm>
            <a:off x="4462272" y="3575304"/>
            <a:ext cx="969264"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ea typeface="Amiri" pitchFamily="2" charset="-78"/>
                <a:cs typeface="Amiri" pitchFamily="2" charset="-78"/>
              </a:rPr>
              <a:t>أَنْ أُكْمِلَ</a:t>
            </a:r>
            <a:endParaRPr lang="ar-SA" sz="1350" dirty="0"/>
          </a:p>
        </p:txBody>
      </p:sp>
      <p:sp>
        <p:nvSpPr>
          <p:cNvPr id="51" name="Shape 48"/>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2" name="Shape 49"/>
          <p:cNvSpPr/>
          <p:nvPr/>
        </p:nvSpPr>
        <p:spPr>
          <a:xfrm>
            <a:off x="566928" y="1920240"/>
            <a:ext cx="310896" cy="310896"/>
          </a:xfrm>
          <a:prstGeom prst="ellipse">
            <a:avLst/>
          </a:prstGeom>
          <a:solidFill>
            <a:srgbClr val="F4F1EA"/>
          </a:solidFill>
          <a:ln w="12700">
            <a:solidFill>
              <a:srgbClr val="F4F1EA"/>
            </a:solidFill>
            <a:prstDash val="solid"/>
          </a:ln>
        </p:spPr>
      </p:sp>
      <p:sp>
        <p:nvSpPr>
          <p:cNvPr id="53" name="Text 50"/>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13</a:t>
            </a:r>
            <a:endParaRPr lang="en-US" sz="1000" dirty="0"/>
          </a:p>
        </p:txBody>
      </p:sp>
      <p:sp>
        <p:nvSpPr>
          <p:cNvPr id="54" name="Shape 51"/>
          <p:cNvSpPr/>
          <p:nvPr/>
        </p:nvSpPr>
        <p:spPr>
          <a:xfrm>
            <a:off x="3227832" y="1938528"/>
            <a:ext cx="731520" cy="256032"/>
          </a:xfrm>
          <a:prstGeom prst="roundRect">
            <a:avLst>
              <a:gd name="adj" fmla="val 50000"/>
            </a:avLst>
          </a:prstGeom>
          <a:solidFill>
            <a:srgbClr val="2E8B57"/>
          </a:solidFill>
          <a:ln w="12700">
            <a:solidFill>
              <a:srgbClr val="2E8B57"/>
            </a:solidFill>
            <a:prstDash val="solid"/>
          </a:ln>
        </p:spPr>
      </p:sp>
      <p:sp>
        <p:nvSpPr>
          <p:cNvPr id="55" name="Text 52"/>
          <p:cNvSpPr txBox="1"/>
          <p:nvPr/>
        </p:nvSpPr>
        <p:spPr>
          <a:xfrm>
            <a:off x="3227832"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56" name="Text 53"/>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أُسَاعِدُ أُسْرَتِي</a:t>
            </a:r>
            <a:endParaRPr lang="ar-SA" sz="3000" dirty="0"/>
          </a:p>
        </p:txBody>
      </p:sp>
      <p:sp>
        <p:nvSpPr>
          <p:cNvPr id="57" name="Text 54"/>
          <p:cNvSpPr txBox="1"/>
          <p:nvPr/>
        </p:nvSpPr>
        <p:spPr>
          <a:xfrm>
            <a:off x="594360"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I help my family</a:t>
            </a:r>
            <a:endParaRPr lang="en-US" sz="1350" dirty="0"/>
          </a:p>
          <a:p>
            <a:pPr indent="0" marL="0">
              <a:buNone/>
            </a:pPr>
            <a:r>
              <a:rPr lang="en-US" sz="1100" i="1" dirty="0">
                <a:solidFill>
                  <a:srgbClr val="5A6472"/>
                </a:solidFill>
                <a:latin typeface="Calibri" pitchFamily="34" charset="0"/>
                <a:cs typeface="Amiri" pitchFamily="2" charset="-78"/>
              </a:rPr>
              <a:t>u-sā-ʿi-du us-ra-tī</a:t>
            </a:r>
            <a:endParaRPr lang="en-US" sz="1350" dirty="0"/>
          </a:p>
        </p:txBody>
      </p:sp>
      <p:sp>
        <p:nvSpPr>
          <p:cNvPr id="58" name="Shape 55"/>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9" name="Shape 56"/>
          <p:cNvSpPr/>
          <p:nvPr/>
        </p:nvSpPr>
        <p:spPr>
          <a:xfrm>
            <a:off x="8211312" y="4261104"/>
            <a:ext cx="310896" cy="310896"/>
          </a:xfrm>
          <a:prstGeom prst="ellipse">
            <a:avLst/>
          </a:prstGeom>
          <a:solidFill>
            <a:srgbClr val="F4F1EA"/>
          </a:solidFill>
          <a:ln w="12700">
            <a:solidFill>
              <a:srgbClr val="F4F1EA"/>
            </a:solidFill>
            <a:prstDash val="solid"/>
          </a:ln>
        </p:spPr>
      </p:sp>
      <p:sp>
        <p:nvSpPr>
          <p:cNvPr id="60" name="Text 57"/>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14</a:t>
            </a:r>
            <a:endParaRPr lang="en-US" sz="1000" dirty="0"/>
          </a:p>
        </p:txBody>
      </p:sp>
      <p:sp>
        <p:nvSpPr>
          <p:cNvPr id="61" name="Shape 58"/>
          <p:cNvSpPr/>
          <p:nvPr/>
        </p:nvSpPr>
        <p:spPr>
          <a:xfrm>
            <a:off x="8604504" y="4279392"/>
            <a:ext cx="1020470" cy="256032"/>
          </a:xfrm>
          <a:prstGeom prst="roundRect">
            <a:avLst>
              <a:gd name="adj" fmla="val 50000"/>
            </a:avLst>
          </a:prstGeom>
          <a:solidFill>
            <a:srgbClr val="EFE7D2"/>
          </a:solidFill>
          <a:ln w="12700">
            <a:solidFill>
              <a:srgbClr val="EFE7D2"/>
            </a:solidFill>
            <a:prstDash val="solid"/>
          </a:ln>
        </p:spPr>
      </p:sp>
      <p:sp>
        <p:nvSpPr>
          <p:cNvPr id="62" name="Text 59"/>
          <p:cNvSpPr txBox="1"/>
          <p:nvPr/>
        </p:nvSpPr>
        <p:spPr>
          <a:xfrm>
            <a:off x="8604504" y="4279392"/>
            <a:ext cx="1020470"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I · he · she</a:t>
            </a:r>
            <a:endParaRPr lang="en-US" sz="800" dirty="0"/>
          </a:p>
        </p:txBody>
      </p:sp>
      <p:sp>
        <p:nvSpPr>
          <p:cNvPr id="63" name="Shape 60"/>
          <p:cNvSpPr/>
          <p:nvPr/>
        </p:nvSpPr>
        <p:spPr>
          <a:xfrm>
            <a:off x="10872216" y="4279392"/>
            <a:ext cx="731520" cy="256032"/>
          </a:xfrm>
          <a:prstGeom prst="roundRect">
            <a:avLst>
              <a:gd name="adj" fmla="val 50000"/>
            </a:avLst>
          </a:prstGeom>
          <a:solidFill>
            <a:srgbClr val="2E8B57"/>
          </a:solidFill>
          <a:ln w="12700">
            <a:solidFill>
              <a:srgbClr val="2E8B57"/>
            </a:solidFill>
            <a:prstDash val="solid"/>
          </a:ln>
        </p:spPr>
      </p:sp>
      <p:sp>
        <p:nvSpPr>
          <p:cNvPr id="64" name="Text 61"/>
          <p:cNvSpPr txBox="1"/>
          <p:nvPr/>
        </p:nvSpPr>
        <p:spPr>
          <a:xfrm>
            <a:off x="10872216"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65" name="Text 62"/>
          <p:cNvSpPr txBox="1"/>
          <p:nvPr/>
        </p:nvSpPr>
        <p:spPr>
          <a:xfrm>
            <a:off x="8211312"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أَسْتَرِيحُ</a:t>
            </a:r>
            <a:endParaRPr lang="ar-SA" sz="3000" dirty="0"/>
          </a:p>
        </p:txBody>
      </p:sp>
      <p:sp>
        <p:nvSpPr>
          <p:cNvPr id="66" name="Text 63"/>
          <p:cNvSpPr txBox="1"/>
          <p:nvPr/>
        </p:nvSpPr>
        <p:spPr>
          <a:xfrm>
            <a:off x="8238744"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I rest</a:t>
            </a:r>
            <a:endParaRPr lang="en-US" sz="1350" dirty="0"/>
          </a:p>
          <a:p>
            <a:pPr indent="0" marL="0">
              <a:buNone/>
            </a:pPr>
            <a:r>
              <a:rPr lang="en-US" sz="1100" i="1" dirty="0">
                <a:solidFill>
                  <a:srgbClr val="5A6472"/>
                </a:solidFill>
                <a:latin typeface="Calibri" pitchFamily="34" charset="0"/>
                <a:cs typeface="Amiri" pitchFamily="2" charset="-78"/>
              </a:rPr>
              <a:t>as-ta-rī-ḥu</a:t>
            </a:r>
            <a:endParaRPr lang="en-US" sz="1350" dirty="0"/>
          </a:p>
        </p:txBody>
      </p:sp>
      <p:sp>
        <p:nvSpPr>
          <p:cNvPr id="67" name="Shape 64"/>
          <p:cNvSpPr/>
          <p:nvPr/>
        </p:nvSpPr>
        <p:spPr>
          <a:xfrm>
            <a:off x="10543032" y="5779008"/>
            <a:ext cx="1060704" cy="438912"/>
          </a:xfrm>
          <a:prstGeom prst="roundRect">
            <a:avLst>
              <a:gd name="adj" fmla="val 10417"/>
            </a:avLst>
          </a:prstGeom>
          <a:solidFill>
            <a:srgbClr val="F4F1EA"/>
          </a:solidFill>
          <a:ln w="9525">
            <a:solidFill>
              <a:srgbClr val="F4F1EA"/>
            </a:solidFill>
            <a:prstDash val="solid"/>
          </a:ln>
        </p:spPr>
      </p:sp>
      <p:sp>
        <p:nvSpPr>
          <p:cNvPr id="68" name="Text 65"/>
          <p:cNvSpPr txBox="1"/>
          <p:nvPr/>
        </p:nvSpPr>
        <p:spPr>
          <a:xfrm>
            <a:off x="10597896" y="5788152"/>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he</a:t>
            </a:r>
            <a:endParaRPr lang="en-US" sz="750" dirty="0"/>
          </a:p>
        </p:txBody>
      </p:sp>
      <p:sp>
        <p:nvSpPr>
          <p:cNvPr id="69" name="Text 66"/>
          <p:cNvSpPr txBox="1"/>
          <p:nvPr/>
        </p:nvSpPr>
        <p:spPr>
          <a:xfrm>
            <a:off x="10588752" y="5824728"/>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يَسْتَرِيحُ</a:t>
            </a:r>
            <a:endParaRPr lang="ar-SA" sz="1500" dirty="0"/>
          </a:p>
        </p:txBody>
      </p:sp>
      <p:sp>
        <p:nvSpPr>
          <p:cNvPr id="70" name="Shape 67"/>
          <p:cNvSpPr/>
          <p:nvPr/>
        </p:nvSpPr>
        <p:spPr>
          <a:xfrm>
            <a:off x="9390888" y="5779008"/>
            <a:ext cx="1060704" cy="438912"/>
          </a:xfrm>
          <a:prstGeom prst="roundRect">
            <a:avLst>
              <a:gd name="adj" fmla="val 10417"/>
            </a:avLst>
          </a:prstGeom>
          <a:solidFill>
            <a:srgbClr val="F4F1EA"/>
          </a:solidFill>
          <a:ln w="9525">
            <a:solidFill>
              <a:srgbClr val="F4F1EA"/>
            </a:solidFill>
            <a:prstDash val="solid"/>
          </a:ln>
        </p:spPr>
      </p:sp>
      <p:sp>
        <p:nvSpPr>
          <p:cNvPr id="71" name="Text 68"/>
          <p:cNvSpPr txBox="1"/>
          <p:nvPr/>
        </p:nvSpPr>
        <p:spPr>
          <a:xfrm>
            <a:off x="9445752" y="5788152"/>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she</a:t>
            </a:r>
            <a:endParaRPr lang="en-US" sz="750" dirty="0"/>
          </a:p>
        </p:txBody>
      </p:sp>
      <p:sp>
        <p:nvSpPr>
          <p:cNvPr id="72" name="Text 69"/>
          <p:cNvSpPr txBox="1"/>
          <p:nvPr/>
        </p:nvSpPr>
        <p:spPr>
          <a:xfrm>
            <a:off x="9436608" y="5824728"/>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تَسْتَرِيحُ</a:t>
            </a:r>
            <a:endParaRPr lang="ar-SA" sz="1500" dirty="0"/>
          </a:p>
        </p:txBody>
      </p:sp>
      <p:sp>
        <p:nvSpPr>
          <p:cNvPr id="73" name="Shape 70"/>
          <p:cNvSpPr/>
          <p:nvPr/>
        </p:nvSpPr>
        <p:spPr>
          <a:xfrm>
            <a:off x="8238744" y="5779008"/>
            <a:ext cx="1060704" cy="438912"/>
          </a:xfrm>
          <a:prstGeom prst="roundRect">
            <a:avLst>
              <a:gd name="adj" fmla="val 10417"/>
            </a:avLst>
          </a:prstGeom>
          <a:solidFill>
            <a:srgbClr val="F4F1EA"/>
          </a:solidFill>
          <a:ln w="9525">
            <a:solidFill>
              <a:srgbClr val="F4F1EA"/>
            </a:solidFill>
            <a:prstDash val="solid"/>
          </a:ln>
        </p:spPr>
      </p:sp>
      <p:sp>
        <p:nvSpPr>
          <p:cNvPr id="74" name="Text 71"/>
          <p:cNvSpPr txBox="1"/>
          <p:nvPr/>
        </p:nvSpPr>
        <p:spPr>
          <a:xfrm>
            <a:off x="8293608" y="5788152"/>
            <a:ext cx="950976"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cs typeface="Amiri" pitchFamily="2" charset="-78"/>
              </a:rPr>
              <a:t>after an</a:t>
            </a:r>
            <a:endParaRPr lang="en-US" sz="700" dirty="0"/>
          </a:p>
        </p:txBody>
      </p:sp>
      <p:sp>
        <p:nvSpPr>
          <p:cNvPr id="75" name="Text 72"/>
          <p:cNvSpPr txBox="1"/>
          <p:nvPr/>
        </p:nvSpPr>
        <p:spPr>
          <a:xfrm>
            <a:off x="8284464" y="5916168"/>
            <a:ext cx="969264"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ea typeface="Amiri" pitchFamily="2" charset="-78"/>
                <a:cs typeface="Amiri" pitchFamily="2" charset="-78"/>
              </a:rPr>
              <a:t>أَنْ أَسْتَرِيحَ</a:t>
            </a:r>
            <a:endParaRPr lang="ar-SA" sz="1350" dirty="0"/>
          </a:p>
        </p:txBody>
      </p:sp>
      <p:sp>
        <p:nvSpPr>
          <p:cNvPr id="76" name="Shape 73"/>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7" name="Shape 74"/>
          <p:cNvSpPr/>
          <p:nvPr/>
        </p:nvSpPr>
        <p:spPr>
          <a:xfrm>
            <a:off x="4389120" y="4261104"/>
            <a:ext cx="310896" cy="310896"/>
          </a:xfrm>
          <a:prstGeom prst="ellipse">
            <a:avLst/>
          </a:prstGeom>
          <a:solidFill>
            <a:srgbClr val="F4F1EA"/>
          </a:solidFill>
          <a:ln w="12700">
            <a:solidFill>
              <a:srgbClr val="F4F1EA"/>
            </a:solidFill>
            <a:prstDash val="solid"/>
          </a:ln>
        </p:spPr>
      </p:sp>
      <p:sp>
        <p:nvSpPr>
          <p:cNvPr id="78" name="Text 75"/>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15</a:t>
            </a:r>
            <a:endParaRPr lang="en-US" sz="1000" dirty="0"/>
          </a:p>
        </p:txBody>
      </p:sp>
      <p:sp>
        <p:nvSpPr>
          <p:cNvPr id="79" name="Shape 76"/>
          <p:cNvSpPr/>
          <p:nvPr/>
        </p:nvSpPr>
        <p:spPr>
          <a:xfrm>
            <a:off x="4782312" y="4279392"/>
            <a:ext cx="1020470" cy="256032"/>
          </a:xfrm>
          <a:prstGeom prst="roundRect">
            <a:avLst>
              <a:gd name="adj" fmla="val 50000"/>
            </a:avLst>
          </a:prstGeom>
          <a:solidFill>
            <a:srgbClr val="EFE7D2"/>
          </a:solidFill>
          <a:ln w="12700">
            <a:solidFill>
              <a:srgbClr val="EFE7D2"/>
            </a:solidFill>
            <a:prstDash val="solid"/>
          </a:ln>
        </p:spPr>
      </p:sp>
      <p:sp>
        <p:nvSpPr>
          <p:cNvPr id="80" name="Text 77"/>
          <p:cNvSpPr txBox="1"/>
          <p:nvPr/>
        </p:nvSpPr>
        <p:spPr>
          <a:xfrm>
            <a:off x="4782312" y="4279392"/>
            <a:ext cx="1020470"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I · he · she</a:t>
            </a:r>
            <a:endParaRPr lang="en-US" sz="800" dirty="0"/>
          </a:p>
        </p:txBody>
      </p:sp>
      <p:sp>
        <p:nvSpPr>
          <p:cNvPr id="81" name="Text 78"/>
          <p:cNvSpPr txBox="1"/>
          <p:nvPr/>
        </p:nvSpPr>
        <p:spPr>
          <a:xfrm>
            <a:off x="4389120"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أَتَمَرَّنُ</a:t>
            </a:r>
            <a:endParaRPr lang="ar-SA" sz="3000" dirty="0"/>
          </a:p>
        </p:txBody>
      </p:sp>
      <p:sp>
        <p:nvSpPr>
          <p:cNvPr id="82" name="Text 79"/>
          <p:cNvSpPr txBox="1"/>
          <p:nvPr/>
        </p:nvSpPr>
        <p:spPr>
          <a:xfrm>
            <a:off x="4416552"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I exercise</a:t>
            </a:r>
            <a:endParaRPr lang="en-US" sz="1350" dirty="0"/>
          </a:p>
          <a:p>
            <a:pPr indent="0" marL="0">
              <a:buNone/>
            </a:pPr>
            <a:r>
              <a:rPr lang="en-US" sz="1100" i="1" dirty="0">
                <a:solidFill>
                  <a:srgbClr val="5A6472"/>
                </a:solidFill>
                <a:latin typeface="Calibri" pitchFamily="34" charset="0"/>
                <a:cs typeface="Amiri" pitchFamily="2" charset="-78"/>
              </a:rPr>
              <a:t>a-ta-mar-ra-nu</a:t>
            </a:r>
            <a:endParaRPr lang="en-US" sz="1350" dirty="0"/>
          </a:p>
        </p:txBody>
      </p:sp>
      <p:sp>
        <p:nvSpPr>
          <p:cNvPr id="83" name="Shape 80"/>
          <p:cNvSpPr/>
          <p:nvPr/>
        </p:nvSpPr>
        <p:spPr>
          <a:xfrm>
            <a:off x="6720840" y="5779008"/>
            <a:ext cx="1060704" cy="438912"/>
          </a:xfrm>
          <a:prstGeom prst="roundRect">
            <a:avLst>
              <a:gd name="adj" fmla="val 10417"/>
            </a:avLst>
          </a:prstGeom>
          <a:solidFill>
            <a:srgbClr val="F4F1EA"/>
          </a:solidFill>
          <a:ln w="9525">
            <a:solidFill>
              <a:srgbClr val="F4F1EA"/>
            </a:solidFill>
            <a:prstDash val="solid"/>
          </a:ln>
        </p:spPr>
      </p:sp>
      <p:sp>
        <p:nvSpPr>
          <p:cNvPr id="84" name="Text 81"/>
          <p:cNvSpPr txBox="1"/>
          <p:nvPr/>
        </p:nvSpPr>
        <p:spPr>
          <a:xfrm>
            <a:off x="6775704" y="5788152"/>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he</a:t>
            </a:r>
            <a:endParaRPr lang="en-US" sz="750" dirty="0"/>
          </a:p>
        </p:txBody>
      </p:sp>
      <p:sp>
        <p:nvSpPr>
          <p:cNvPr id="85" name="Text 82"/>
          <p:cNvSpPr txBox="1"/>
          <p:nvPr/>
        </p:nvSpPr>
        <p:spPr>
          <a:xfrm>
            <a:off x="6766560" y="5824728"/>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يَتَمَرَّنُ</a:t>
            </a:r>
            <a:endParaRPr lang="ar-SA" sz="1500" dirty="0"/>
          </a:p>
        </p:txBody>
      </p:sp>
      <p:sp>
        <p:nvSpPr>
          <p:cNvPr id="86" name="Shape 83"/>
          <p:cNvSpPr/>
          <p:nvPr/>
        </p:nvSpPr>
        <p:spPr>
          <a:xfrm>
            <a:off x="5568696" y="5779008"/>
            <a:ext cx="1060704" cy="438912"/>
          </a:xfrm>
          <a:prstGeom prst="roundRect">
            <a:avLst>
              <a:gd name="adj" fmla="val 10417"/>
            </a:avLst>
          </a:prstGeom>
          <a:solidFill>
            <a:srgbClr val="F4F1EA"/>
          </a:solidFill>
          <a:ln w="9525">
            <a:solidFill>
              <a:srgbClr val="F4F1EA"/>
            </a:solidFill>
            <a:prstDash val="solid"/>
          </a:ln>
        </p:spPr>
      </p:sp>
      <p:sp>
        <p:nvSpPr>
          <p:cNvPr id="87" name="Text 84"/>
          <p:cNvSpPr txBox="1"/>
          <p:nvPr/>
        </p:nvSpPr>
        <p:spPr>
          <a:xfrm>
            <a:off x="5623560" y="5788152"/>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she</a:t>
            </a:r>
            <a:endParaRPr lang="en-US" sz="750" dirty="0"/>
          </a:p>
        </p:txBody>
      </p:sp>
      <p:sp>
        <p:nvSpPr>
          <p:cNvPr id="88" name="Text 85"/>
          <p:cNvSpPr txBox="1"/>
          <p:nvPr/>
        </p:nvSpPr>
        <p:spPr>
          <a:xfrm>
            <a:off x="5614416" y="5824728"/>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تَتَمَرَّنُ</a:t>
            </a:r>
            <a:endParaRPr lang="ar-SA" sz="1500" dirty="0"/>
          </a:p>
        </p:txBody>
      </p:sp>
      <p:sp>
        <p:nvSpPr>
          <p:cNvPr id="89" name="Shape 86"/>
          <p:cNvSpPr/>
          <p:nvPr/>
        </p:nvSpPr>
        <p:spPr>
          <a:xfrm>
            <a:off x="4416552" y="5779008"/>
            <a:ext cx="1060704" cy="438912"/>
          </a:xfrm>
          <a:prstGeom prst="roundRect">
            <a:avLst>
              <a:gd name="adj" fmla="val 10417"/>
            </a:avLst>
          </a:prstGeom>
          <a:solidFill>
            <a:srgbClr val="F4F1EA"/>
          </a:solidFill>
          <a:ln w="9525">
            <a:solidFill>
              <a:srgbClr val="F4F1EA"/>
            </a:solidFill>
            <a:prstDash val="solid"/>
          </a:ln>
        </p:spPr>
      </p:sp>
      <p:sp>
        <p:nvSpPr>
          <p:cNvPr id="90" name="Text 87"/>
          <p:cNvSpPr txBox="1"/>
          <p:nvPr/>
        </p:nvSpPr>
        <p:spPr>
          <a:xfrm>
            <a:off x="4471416" y="5788152"/>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we</a:t>
            </a:r>
            <a:endParaRPr lang="en-US" sz="750" dirty="0"/>
          </a:p>
        </p:txBody>
      </p:sp>
      <p:sp>
        <p:nvSpPr>
          <p:cNvPr id="91" name="Text 88"/>
          <p:cNvSpPr txBox="1"/>
          <p:nvPr/>
        </p:nvSpPr>
        <p:spPr>
          <a:xfrm>
            <a:off x="4462272" y="5824728"/>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نَتَمَرَّنُ</a:t>
            </a:r>
            <a:endParaRPr lang="ar-SA" sz="1500" dirty="0"/>
          </a:p>
        </p:txBody>
      </p:sp>
      <p:sp>
        <p:nvSpPr>
          <p:cNvPr id="92" name="Text 89"/>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10 / 46</a:t>
            </a:r>
            <a:endParaRPr lang="en-US" sz="8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D1-L04 · Before and After</a:t>
            </a:r>
            <a:endParaRPr lang="en-US" sz="950" dirty="0"/>
          </a:p>
        </p:txBody>
      </p:sp>
      <p:sp>
        <p:nvSpPr>
          <p:cNvPr id="8" name="Shape 6"/>
          <p:cNvSpPr/>
          <p:nvPr/>
        </p:nvSpPr>
        <p:spPr>
          <a:xfrm>
            <a:off x="6915607" y="274320"/>
            <a:ext cx="1844345"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915607" y="274320"/>
            <a:ext cx="1844345"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a:t>
            </a:r>
            <a:endParaRPr lang="en-US" sz="900" dirty="0"/>
          </a:p>
        </p:txBody>
      </p:sp>
      <p:sp>
        <p:nvSpPr>
          <p:cNvPr id="10" name="Shape 8"/>
          <p:cNvSpPr/>
          <p:nvPr/>
        </p:nvSpPr>
        <p:spPr>
          <a:xfrm>
            <a:off x="5818327"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5818327"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GROUP 2 · FLEX</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300" b="1" dirty="0">
                <a:solidFill>
                  <a:srgbClr val="1B3B6F"/>
                </a:solidFill>
                <a:latin typeface="Cambria" pitchFamily="34" charset="0"/>
                <a:cs typeface="Amiri" pitchFamily="2" charset="-78"/>
              </a:rPr>
              <a:t>Daily actions beyond the morning (2 of 2)</a:t>
            </a:r>
            <a:endParaRPr lang="en-US" sz="23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كَلِمَاتُ الدَّرْسِ</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D1 · Daily Routine and Time · D1-L04</a:t>
            </a:r>
            <a:endParaRPr lang="en-US" sz="850" dirty="0"/>
          </a:p>
        </p:txBody>
      </p:sp>
      <p:sp>
        <p:nvSpPr>
          <p:cNvPr id="17" name="Shape 14"/>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8211312" y="1920240"/>
            <a:ext cx="310896" cy="310896"/>
          </a:xfrm>
          <a:prstGeom prst="ellipse">
            <a:avLst/>
          </a:prstGeom>
          <a:solidFill>
            <a:srgbClr val="F4F1EA"/>
          </a:solidFill>
          <a:ln w="12700">
            <a:solidFill>
              <a:srgbClr val="F4F1EA"/>
            </a:solidFill>
            <a:prstDash val="solid"/>
          </a:ln>
        </p:spPr>
      </p:sp>
      <p:sp>
        <p:nvSpPr>
          <p:cNvPr id="19" name="Text 16"/>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16</a:t>
            </a:r>
            <a:endParaRPr lang="en-US" sz="1000" dirty="0"/>
          </a:p>
        </p:txBody>
      </p:sp>
      <p:sp>
        <p:nvSpPr>
          <p:cNvPr id="20" name="Text 17"/>
          <p:cNvSpPr txBox="1"/>
          <p:nvPr/>
        </p:nvSpPr>
        <p:spPr>
          <a:xfrm>
            <a:off x="8211312"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أَتَجَنَّبُ</a:t>
            </a:r>
            <a:endParaRPr lang="ar-SA" sz="3000" dirty="0"/>
          </a:p>
        </p:txBody>
      </p:sp>
      <p:sp>
        <p:nvSpPr>
          <p:cNvPr id="21" name="Text 18"/>
          <p:cNvSpPr txBox="1"/>
          <p:nvPr/>
        </p:nvSpPr>
        <p:spPr>
          <a:xfrm>
            <a:off x="8238744"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I avoid</a:t>
            </a:r>
            <a:endParaRPr lang="en-US" sz="1350" dirty="0"/>
          </a:p>
          <a:p>
            <a:pPr indent="0" marL="0">
              <a:buNone/>
            </a:pPr>
            <a:r>
              <a:rPr lang="en-US" sz="1100" i="1" dirty="0">
                <a:solidFill>
                  <a:srgbClr val="5A6472"/>
                </a:solidFill>
                <a:latin typeface="Calibri" pitchFamily="34" charset="0"/>
                <a:cs typeface="Amiri" pitchFamily="2" charset="-78"/>
              </a:rPr>
              <a:t>a-ta-jan-na-bu</a:t>
            </a:r>
            <a:endParaRPr lang="en-US" sz="1350" dirty="0"/>
          </a:p>
        </p:txBody>
      </p:sp>
      <p:sp>
        <p:nvSpPr>
          <p:cNvPr id="22" name="Shape 19"/>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4389120" y="1920240"/>
            <a:ext cx="310896" cy="310896"/>
          </a:xfrm>
          <a:prstGeom prst="ellipse">
            <a:avLst/>
          </a:prstGeom>
          <a:solidFill>
            <a:srgbClr val="F4F1EA"/>
          </a:solidFill>
          <a:ln w="12700">
            <a:solidFill>
              <a:srgbClr val="F4F1EA"/>
            </a:solidFill>
            <a:prstDash val="solid"/>
          </a:ln>
        </p:spPr>
      </p:sp>
      <p:sp>
        <p:nvSpPr>
          <p:cNvPr id="24" name="Text 21"/>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17</a:t>
            </a:r>
            <a:endParaRPr lang="en-US" sz="1000" dirty="0"/>
          </a:p>
        </p:txBody>
      </p:sp>
      <p:sp>
        <p:nvSpPr>
          <p:cNvPr id="25" name="Text 22"/>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أَقْضِي وَقْتًا</a:t>
            </a:r>
            <a:endParaRPr lang="ar-SA" sz="3000" dirty="0"/>
          </a:p>
        </p:txBody>
      </p:sp>
      <p:sp>
        <p:nvSpPr>
          <p:cNvPr id="26" name="Text 23"/>
          <p:cNvSpPr txBox="1"/>
          <p:nvPr/>
        </p:nvSpPr>
        <p:spPr>
          <a:xfrm>
            <a:off x="4416552"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I spend time</a:t>
            </a:r>
            <a:endParaRPr lang="en-US" sz="1350" dirty="0"/>
          </a:p>
          <a:p>
            <a:pPr indent="0" marL="0">
              <a:buNone/>
            </a:pPr>
            <a:r>
              <a:rPr lang="en-US" sz="1100" i="1" dirty="0">
                <a:solidFill>
                  <a:srgbClr val="5A6472"/>
                </a:solidFill>
                <a:latin typeface="Calibri" pitchFamily="34" charset="0"/>
                <a:cs typeface="Amiri" pitchFamily="2" charset="-78"/>
              </a:rPr>
              <a:t>aq-ḍī waq-tan</a:t>
            </a:r>
            <a:endParaRPr lang="en-US" sz="1350" dirty="0"/>
          </a:p>
        </p:txBody>
      </p:sp>
      <p:sp>
        <p:nvSpPr>
          <p:cNvPr id="27" name="Shape 24"/>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5"/>
          <p:cNvSpPr/>
          <p:nvPr/>
        </p:nvSpPr>
        <p:spPr>
          <a:xfrm>
            <a:off x="566928" y="1920240"/>
            <a:ext cx="310896" cy="310896"/>
          </a:xfrm>
          <a:prstGeom prst="ellipse">
            <a:avLst/>
          </a:prstGeom>
          <a:solidFill>
            <a:srgbClr val="F4F1EA"/>
          </a:solidFill>
          <a:ln w="12700">
            <a:solidFill>
              <a:srgbClr val="F4F1EA"/>
            </a:solidFill>
            <a:prstDash val="solid"/>
          </a:ln>
        </p:spPr>
      </p:sp>
      <p:sp>
        <p:nvSpPr>
          <p:cNvPr id="29" name="Text 26"/>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18</a:t>
            </a:r>
            <a:endParaRPr lang="en-US" sz="1000" dirty="0"/>
          </a:p>
        </p:txBody>
      </p:sp>
      <p:sp>
        <p:nvSpPr>
          <p:cNvPr id="30" name="Text 27"/>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أُحَضِّرُ</a:t>
            </a:r>
            <a:endParaRPr lang="ar-SA" sz="3000" dirty="0"/>
          </a:p>
        </p:txBody>
      </p:sp>
      <p:sp>
        <p:nvSpPr>
          <p:cNvPr id="31" name="Text 28"/>
          <p:cNvSpPr txBox="1"/>
          <p:nvPr/>
        </p:nvSpPr>
        <p:spPr>
          <a:xfrm>
            <a:off x="594360"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I prepare</a:t>
            </a:r>
            <a:endParaRPr lang="en-US" sz="1350" dirty="0"/>
          </a:p>
          <a:p>
            <a:pPr indent="0" marL="0">
              <a:buNone/>
            </a:pPr>
            <a:r>
              <a:rPr lang="en-US" sz="1100" i="1" dirty="0">
                <a:solidFill>
                  <a:srgbClr val="5A6472"/>
                </a:solidFill>
                <a:latin typeface="Calibri" pitchFamily="34" charset="0"/>
                <a:cs typeface="Amiri" pitchFamily="2" charset="-78"/>
              </a:rPr>
              <a:t>u-ḥaḍ-ḍi-ru</a:t>
            </a:r>
            <a:endParaRPr lang="en-US" sz="1350" dirty="0"/>
          </a:p>
        </p:txBody>
      </p:sp>
      <p:sp>
        <p:nvSpPr>
          <p:cNvPr id="32" name="Shape 29"/>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3" name="Shape 30"/>
          <p:cNvSpPr/>
          <p:nvPr/>
        </p:nvSpPr>
        <p:spPr>
          <a:xfrm>
            <a:off x="8211312" y="4261104"/>
            <a:ext cx="310896" cy="310896"/>
          </a:xfrm>
          <a:prstGeom prst="ellipse">
            <a:avLst/>
          </a:prstGeom>
          <a:solidFill>
            <a:srgbClr val="F4F1EA"/>
          </a:solidFill>
          <a:ln w="12700">
            <a:solidFill>
              <a:srgbClr val="F4F1EA"/>
            </a:solidFill>
            <a:prstDash val="solid"/>
          </a:ln>
        </p:spPr>
      </p:sp>
      <p:sp>
        <p:nvSpPr>
          <p:cNvPr id="34" name="Text 31"/>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19</a:t>
            </a:r>
            <a:endParaRPr lang="en-US" sz="1000" dirty="0"/>
          </a:p>
        </p:txBody>
      </p:sp>
      <p:sp>
        <p:nvSpPr>
          <p:cNvPr id="35" name="Text 32"/>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أُنَظِّمُ</a:t>
            </a:r>
            <a:endParaRPr lang="ar-SA" sz="3000" dirty="0"/>
          </a:p>
        </p:txBody>
      </p:sp>
      <p:sp>
        <p:nvSpPr>
          <p:cNvPr id="36" name="Text 33"/>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I organise</a:t>
            </a:r>
            <a:endParaRPr lang="en-US" sz="1350" dirty="0"/>
          </a:p>
          <a:p>
            <a:pPr indent="0" marL="0">
              <a:buNone/>
            </a:pPr>
            <a:r>
              <a:rPr lang="en-US" sz="1100" i="1" dirty="0">
                <a:solidFill>
                  <a:srgbClr val="5A6472"/>
                </a:solidFill>
                <a:latin typeface="Calibri" pitchFamily="34" charset="0"/>
                <a:cs typeface="Amiri" pitchFamily="2" charset="-78"/>
              </a:rPr>
              <a:t>u-naẓ-ẓi-mu</a:t>
            </a:r>
            <a:endParaRPr lang="en-US" sz="1350" dirty="0"/>
          </a:p>
        </p:txBody>
      </p:sp>
      <p:sp>
        <p:nvSpPr>
          <p:cNvPr id="37" name="Shape 34"/>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8" name="Shape 35"/>
          <p:cNvSpPr/>
          <p:nvPr/>
        </p:nvSpPr>
        <p:spPr>
          <a:xfrm>
            <a:off x="4389120" y="4261104"/>
            <a:ext cx="310896" cy="310896"/>
          </a:xfrm>
          <a:prstGeom prst="ellipse">
            <a:avLst/>
          </a:prstGeom>
          <a:solidFill>
            <a:srgbClr val="F4F1EA"/>
          </a:solidFill>
          <a:ln w="12700">
            <a:solidFill>
              <a:srgbClr val="F4F1EA"/>
            </a:solidFill>
            <a:prstDash val="solid"/>
          </a:ln>
        </p:spPr>
      </p:sp>
      <p:sp>
        <p:nvSpPr>
          <p:cNvPr id="39" name="Text 36"/>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20</a:t>
            </a:r>
            <a:endParaRPr lang="en-US" sz="1000" dirty="0"/>
          </a:p>
        </p:txBody>
      </p:sp>
      <p:sp>
        <p:nvSpPr>
          <p:cNvPr id="40" name="Shape 37"/>
          <p:cNvSpPr/>
          <p:nvPr/>
        </p:nvSpPr>
        <p:spPr>
          <a:xfrm>
            <a:off x="4782312" y="4279392"/>
            <a:ext cx="1020470" cy="256032"/>
          </a:xfrm>
          <a:prstGeom prst="roundRect">
            <a:avLst>
              <a:gd name="adj" fmla="val 50000"/>
            </a:avLst>
          </a:prstGeom>
          <a:solidFill>
            <a:srgbClr val="EFE7D2"/>
          </a:solidFill>
          <a:ln w="12700">
            <a:solidFill>
              <a:srgbClr val="EFE7D2"/>
            </a:solidFill>
            <a:prstDash val="solid"/>
          </a:ln>
        </p:spPr>
      </p:sp>
      <p:sp>
        <p:nvSpPr>
          <p:cNvPr id="41" name="Text 38"/>
          <p:cNvSpPr txBox="1"/>
          <p:nvPr/>
        </p:nvSpPr>
        <p:spPr>
          <a:xfrm>
            <a:off x="4782312" y="4279392"/>
            <a:ext cx="1020470"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I · he · she</a:t>
            </a:r>
            <a:endParaRPr lang="en-US" sz="800" dirty="0"/>
          </a:p>
        </p:txBody>
      </p:sp>
      <p:sp>
        <p:nvSpPr>
          <p:cNvPr id="42" name="Text 39"/>
          <p:cNvSpPr txBox="1"/>
          <p:nvPr/>
        </p:nvSpPr>
        <p:spPr>
          <a:xfrm>
            <a:off x="4389120"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أَخْلُدُ إِلَى النَّوْمِ</a:t>
            </a:r>
            <a:endParaRPr lang="ar-SA" sz="3000" dirty="0"/>
          </a:p>
        </p:txBody>
      </p:sp>
      <p:sp>
        <p:nvSpPr>
          <p:cNvPr id="43" name="Text 40"/>
          <p:cNvSpPr txBox="1"/>
          <p:nvPr/>
        </p:nvSpPr>
        <p:spPr>
          <a:xfrm>
            <a:off x="4416552"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I go to sleep</a:t>
            </a:r>
            <a:endParaRPr lang="en-US" sz="1350" dirty="0"/>
          </a:p>
          <a:p>
            <a:pPr indent="0" marL="0">
              <a:buNone/>
            </a:pPr>
            <a:r>
              <a:rPr lang="en-US" sz="1100" i="1" dirty="0">
                <a:solidFill>
                  <a:srgbClr val="5A6472"/>
                </a:solidFill>
                <a:latin typeface="Calibri" pitchFamily="34" charset="0"/>
                <a:cs typeface="Amiri" pitchFamily="2" charset="-78"/>
              </a:rPr>
              <a:t>akh-lu-du i-lā an-naw-mi</a:t>
            </a:r>
            <a:endParaRPr lang="en-US" sz="1350" dirty="0"/>
          </a:p>
        </p:txBody>
      </p:sp>
      <p:sp>
        <p:nvSpPr>
          <p:cNvPr id="44" name="Shape 41"/>
          <p:cNvSpPr/>
          <p:nvPr/>
        </p:nvSpPr>
        <p:spPr>
          <a:xfrm>
            <a:off x="6720840" y="5779008"/>
            <a:ext cx="1060704" cy="438912"/>
          </a:xfrm>
          <a:prstGeom prst="roundRect">
            <a:avLst>
              <a:gd name="adj" fmla="val 10417"/>
            </a:avLst>
          </a:prstGeom>
          <a:solidFill>
            <a:srgbClr val="F4F1EA"/>
          </a:solidFill>
          <a:ln w="9525">
            <a:solidFill>
              <a:srgbClr val="F4F1EA"/>
            </a:solidFill>
            <a:prstDash val="solid"/>
          </a:ln>
        </p:spPr>
      </p:sp>
      <p:sp>
        <p:nvSpPr>
          <p:cNvPr id="45" name="Text 42"/>
          <p:cNvSpPr txBox="1"/>
          <p:nvPr/>
        </p:nvSpPr>
        <p:spPr>
          <a:xfrm>
            <a:off x="6775704" y="5788152"/>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he</a:t>
            </a:r>
            <a:endParaRPr lang="en-US" sz="750" dirty="0"/>
          </a:p>
        </p:txBody>
      </p:sp>
      <p:sp>
        <p:nvSpPr>
          <p:cNvPr id="46" name="Text 43"/>
          <p:cNvSpPr txBox="1"/>
          <p:nvPr/>
        </p:nvSpPr>
        <p:spPr>
          <a:xfrm>
            <a:off x="6766560" y="5824728"/>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يَخْلُدُ</a:t>
            </a:r>
            <a:endParaRPr lang="ar-SA" sz="1500" dirty="0"/>
          </a:p>
        </p:txBody>
      </p:sp>
      <p:sp>
        <p:nvSpPr>
          <p:cNvPr id="47" name="Shape 44"/>
          <p:cNvSpPr/>
          <p:nvPr/>
        </p:nvSpPr>
        <p:spPr>
          <a:xfrm>
            <a:off x="5568696" y="5779008"/>
            <a:ext cx="1060704" cy="438912"/>
          </a:xfrm>
          <a:prstGeom prst="roundRect">
            <a:avLst>
              <a:gd name="adj" fmla="val 10417"/>
            </a:avLst>
          </a:prstGeom>
          <a:solidFill>
            <a:srgbClr val="F4F1EA"/>
          </a:solidFill>
          <a:ln w="9525">
            <a:solidFill>
              <a:srgbClr val="F4F1EA"/>
            </a:solidFill>
            <a:prstDash val="solid"/>
          </a:ln>
        </p:spPr>
      </p:sp>
      <p:sp>
        <p:nvSpPr>
          <p:cNvPr id="48" name="Text 45"/>
          <p:cNvSpPr txBox="1"/>
          <p:nvPr/>
        </p:nvSpPr>
        <p:spPr>
          <a:xfrm>
            <a:off x="5623560" y="5788152"/>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she</a:t>
            </a:r>
            <a:endParaRPr lang="en-US" sz="750" dirty="0"/>
          </a:p>
        </p:txBody>
      </p:sp>
      <p:sp>
        <p:nvSpPr>
          <p:cNvPr id="49" name="Text 46"/>
          <p:cNvSpPr txBox="1"/>
          <p:nvPr/>
        </p:nvSpPr>
        <p:spPr>
          <a:xfrm>
            <a:off x="5614416" y="5824728"/>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تَخْلُدُ</a:t>
            </a:r>
            <a:endParaRPr lang="ar-SA" sz="1500" dirty="0"/>
          </a:p>
        </p:txBody>
      </p:sp>
      <p:sp>
        <p:nvSpPr>
          <p:cNvPr id="50" name="Shape 47"/>
          <p:cNvSpPr/>
          <p:nvPr/>
        </p:nvSpPr>
        <p:spPr>
          <a:xfrm>
            <a:off x="4416552" y="5779008"/>
            <a:ext cx="1060704" cy="438912"/>
          </a:xfrm>
          <a:prstGeom prst="roundRect">
            <a:avLst>
              <a:gd name="adj" fmla="val 10417"/>
            </a:avLst>
          </a:prstGeom>
          <a:solidFill>
            <a:srgbClr val="F4F1EA"/>
          </a:solidFill>
          <a:ln w="9525">
            <a:solidFill>
              <a:srgbClr val="F4F1EA"/>
            </a:solidFill>
            <a:prstDash val="solid"/>
          </a:ln>
        </p:spPr>
      </p:sp>
      <p:sp>
        <p:nvSpPr>
          <p:cNvPr id="51" name="Text 48"/>
          <p:cNvSpPr txBox="1"/>
          <p:nvPr/>
        </p:nvSpPr>
        <p:spPr>
          <a:xfrm>
            <a:off x="4471416" y="5788152"/>
            <a:ext cx="950976"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cs typeface="Amiri" pitchFamily="2" charset="-78"/>
              </a:rPr>
              <a:t>after an</a:t>
            </a:r>
            <a:endParaRPr lang="en-US" sz="700" dirty="0"/>
          </a:p>
        </p:txBody>
      </p:sp>
      <p:sp>
        <p:nvSpPr>
          <p:cNvPr id="52" name="Text 49"/>
          <p:cNvSpPr txBox="1"/>
          <p:nvPr/>
        </p:nvSpPr>
        <p:spPr>
          <a:xfrm>
            <a:off x="4462272" y="5916168"/>
            <a:ext cx="969264"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ea typeface="Amiri" pitchFamily="2" charset="-78"/>
                <a:cs typeface="Amiri" pitchFamily="2" charset="-78"/>
              </a:rPr>
              <a:t>أَنْ أَخْلُدَ</a:t>
            </a:r>
            <a:endParaRPr lang="ar-SA" sz="1350" dirty="0"/>
          </a:p>
        </p:txBody>
      </p:sp>
      <p:sp>
        <p:nvSpPr>
          <p:cNvPr id="53" name="Text 5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11 / 46</a:t>
            </a:r>
            <a:endParaRPr lang="en-US" sz="8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D1-L04 · Before and After</a:t>
            </a:r>
            <a:endParaRPr lang="en-US" sz="950" dirty="0"/>
          </a:p>
        </p:txBody>
      </p:sp>
      <p:sp>
        <p:nvSpPr>
          <p:cNvPr id="8" name="Shape 6"/>
          <p:cNvSpPr/>
          <p:nvPr/>
        </p:nvSpPr>
        <p:spPr>
          <a:xfrm>
            <a:off x="6915607" y="274320"/>
            <a:ext cx="1844345"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915607" y="274320"/>
            <a:ext cx="1844345"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a:t>
            </a:r>
            <a:endParaRPr lang="en-US" sz="900" dirty="0"/>
          </a:p>
        </p:txBody>
      </p:sp>
      <p:sp>
        <p:nvSpPr>
          <p:cNvPr id="10" name="Shape 8"/>
          <p:cNvSpPr/>
          <p:nvPr/>
        </p:nvSpPr>
        <p:spPr>
          <a:xfrm>
            <a:off x="5818327"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5818327"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GROUP 3 · FLEX</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Frequency and amount (1 of 2)</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كَلِمَاتُ الدَّرْسِ</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D1 · Daily Routine and Time · D1-L04</a:t>
            </a:r>
            <a:endParaRPr lang="en-US" sz="850" dirty="0"/>
          </a:p>
        </p:txBody>
      </p:sp>
      <p:sp>
        <p:nvSpPr>
          <p:cNvPr id="17" name="Shape 14"/>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8211312" y="1920240"/>
            <a:ext cx="310896" cy="310896"/>
          </a:xfrm>
          <a:prstGeom prst="ellipse">
            <a:avLst/>
          </a:prstGeom>
          <a:solidFill>
            <a:srgbClr val="F4F1EA"/>
          </a:solidFill>
          <a:ln w="12700">
            <a:solidFill>
              <a:srgbClr val="F4F1EA"/>
            </a:solidFill>
            <a:prstDash val="solid"/>
          </a:ln>
        </p:spPr>
      </p:sp>
      <p:sp>
        <p:nvSpPr>
          <p:cNvPr id="19" name="Text 16"/>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21</a:t>
            </a:r>
            <a:endParaRPr lang="en-US" sz="1000" dirty="0"/>
          </a:p>
        </p:txBody>
      </p:sp>
      <p:sp>
        <p:nvSpPr>
          <p:cNvPr id="20" name="Text 17"/>
          <p:cNvSpPr txBox="1"/>
          <p:nvPr/>
        </p:nvSpPr>
        <p:spPr>
          <a:xfrm>
            <a:off x="8211312"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مَرَّةً فِي اليَوْمِ</a:t>
            </a:r>
            <a:endParaRPr lang="ar-SA" sz="3000" dirty="0"/>
          </a:p>
        </p:txBody>
      </p:sp>
      <p:sp>
        <p:nvSpPr>
          <p:cNvPr id="21" name="Text 18"/>
          <p:cNvSpPr txBox="1"/>
          <p:nvPr/>
        </p:nvSpPr>
        <p:spPr>
          <a:xfrm>
            <a:off x="8238744"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once a day</a:t>
            </a:r>
            <a:endParaRPr lang="en-US" sz="1350" dirty="0"/>
          </a:p>
          <a:p>
            <a:pPr indent="0" marL="0">
              <a:buNone/>
            </a:pPr>
            <a:r>
              <a:rPr lang="en-US" sz="1100" i="1" dirty="0">
                <a:solidFill>
                  <a:srgbClr val="5A6472"/>
                </a:solidFill>
                <a:latin typeface="Calibri" pitchFamily="34" charset="0"/>
                <a:cs typeface="Amiri" pitchFamily="2" charset="-78"/>
              </a:rPr>
              <a:t>mar-ra-tan fī al-yaw-mi</a:t>
            </a:r>
            <a:endParaRPr lang="en-US" sz="1350" dirty="0"/>
          </a:p>
        </p:txBody>
      </p:sp>
      <p:sp>
        <p:nvSpPr>
          <p:cNvPr id="22" name="Shape 19"/>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4389120" y="1920240"/>
            <a:ext cx="310896" cy="310896"/>
          </a:xfrm>
          <a:prstGeom prst="ellipse">
            <a:avLst/>
          </a:prstGeom>
          <a:solidFill>
            <a:srgbClr val="F4F1EA"/>
          </a:solidFill>
          <a:ln w="12700">
            <a:solidFill>
              <a:srgbClr val="F4F1EA"/>
            </a:solidFill>
            <a:prstDash val="solid"/>
          </a:ln>
        </p:spPr>
      </p:sp>
      <p:sp>
        <p:nvSpPr>
          <p:cNvPr id="24" name="Text 21"/>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22</a:t>
            </a:r>
            <a:endParaRPr lang="en-US" sz="1000" dirty="0"/>
          </a:p>
        </p:txBody>
      </p:sp>
      <p:sp>
        <p:nvSpPr>
          <p:cNvPr id="25" name="Text 22"/>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مَرَّتَيْنِ فِي الأُسْبُوعِ</a:t>
            </a:r>
            <a:endParaRPr lang="ar-SA" sz="3000" dirty="0"/>
          </a:p>
        </p:txBody>
      </p:sp>
      <p:sp>
        <p:nvSpPr>
          <p:cNvPr id="26" name="Text 23"/>
          <p:cNvSpPr txBox="1"/>
          <p:nvPr/>
        </p:nvSpPr>
        <p:spPr>
          <a:xfrm>
            <a:off x="4416552"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twice a week</a:t>
            </a:r>
            <a:endParaRPr lang="en-US" sz="1350" dirty="0"/>
          </a:p>
          <a:p>
            <a:pPr indent="0" marL="0">
              <a:buNone/>
            </a:pPr>
            <a:r>
              <a:rPr lang="en-US" sz="1100" i="1" dirty="0">
                <a:solidFill>
                  <a:srgbClr val="5A6472"/>
                </a:solidFill>
                <a:latin typeface="Calibri" pitchFamily="34" charset="0"/>
                <a:cs typeface="Amiri" pitchFamily="2" charset="-78"/>
              </a:rPr>
              <a:t>mar-ra-tay-ni fī al-us-bū-ʿi</a:t>
            </a:r>
            <a:endParaRPr lang="en-US" sz="1350" dirty="0"/>
          </a:p>
        </p:txBody>
      </p:sp>
      <p:sp>
        <p:nvSpPr>
          <p:cNvPr id="27" name="Shape 24"/>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5"/>
          <p:cNvSpPr/>
          <p:nvPr/>
        </p:nvSpPr>
        <p:spPr>
          <a:xfrm>
            <a:off x="566928" y="1920240"/>
            <a:ext cx="310896" cy="310896"/>
          </a:xfrm>
          <a:prstGeom prst="ellipse">
            <a:avLst/>
          </a:prstGeom>
          <a:solidFill>
            <a:srgbClr val="F4F1EA"/>
          </a:solidFill>
          <a:ln w="12700">
            <a:solidFill>
              <a:srgbClr val="F4F1EA"/>
            </a:solidFill>
            <a:prstDash val="solid"/>
          </a:ln>
        </p:spPr>
      </p:sp>
      <p:sp>
        <p:nvSpPr>
          <p:cNvPr id="29" name="Text 26"/>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23</a:t>
            </a:r>
            <a:endParaRPr lang="en-US" sz="1000" dirty="0"/>
          </a:p>
        </p:txBody>
      </p:sp>
      <p:sp>
        <p:nvSpPr>
          <p:cNvPr id="30" name="Text 27"/>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ثَلَاثَ مَرَّاتٍ</a:t>
            </a:r>
            <a:endParaRPr lang="ar-SA" sz="3000" dirty="0"/>
          </a:p>
        </p:txBody>
      </p:sp>
      <p:sp>
        <p:nvSpPr>
          <p:cNvPr id="31" name="Text 28"/>
          <p:cNvSpPr txBox="1"/>
          <p:nvPr/>
        </p:nvSpPr>
        <p:spPr>
          <a:xfrm>
            <a:off x="594360"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three times</a:t>
            </a:r>
            <a:endParaRPr lang="en-US" sz="1350" dirty="0"/>
          </a:p>
          <a:p>
            <a:pPr indent="0" marL="0">
              <a:buNone/>
            </a:pPr>
            <a:r>
              <a:rPr lang="en-US" sz="1100" i="1" dirty="0">
                <a:solidFill>
                  <a:srgbClr val="5A6472"/>
                </a:solidFill>
                <a:latin typeface="Calibri" pitchFamily="34" charset="0"/>
                <a:cs typeface="Amiri" pitchFamily="2" charset="-78"/>
              </a:rPr>
              <a:t>tha-lā-tha mar-rā-tin</a:t>
            </a:r>
            <a:endParaRPr lang="en-US" sz="1350" dirty="0"/>
          </a:p>
        </p:txBody>
      </p:sp>
      <p:sp>
        <p:nvSpPr>
          <p:cNvPr id="32" name="Shape 29"/>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3" name="Shape 30"/>
          <p:cNvSpPr/>
          <p:nvPr/>
        </p:nvSpPr>
        <p:spPr>
          <a:xfrm>
            <a:off x="8211312" y="4261104"/>
            <a:ext cx="310896" cy="310896"/>
          </a:xfrm>
          <a:prstGeom prst="ellipse">
            <a:avLst/>
          </a:prstGeom>
          <a:solidFill>
            <a:srgbClr val="F4F1EA"/>
          </a:solidFill>
          <a:ln w="12700">
            <a:solidFill>
              <a:srgbClr val="F4F1EA"/>
            </a:solidFill>
            <a:prstDash val="solid"/>
          </a:ln>
        </p:spPr>
      </p:sp>
      <p:sp>
        <p:nvSpPr>
          <p:cNvPr id="34" name="Text 31"/>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24</a:t>
            </a:r>
            <a:endParaRPr lang="en-US" sz="1000" dirty="0"/>
          </a:p>
        </p:txBody>
      </p:sp>
      <p:sp>
        <p:nvSpPr>
          <p:cNvPr id="35" name="Text 32"/>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غَالِبًا</a:t>
            </a:r>
            <a:endParaRPr lang="ar-SA" sz="3000" dirty="0"/>
          </a:p>
        </p:txBody>
      </p:sp>
      <p:sp>
        <p:nvSpPr>
          <p:cNvPr id="36" name="Text 33"/>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often</a:t>
            </a:r>
            <a:endParaRPr lang="en-US" sz="1350" dirty="0"/>
          </a:p>
          <a:p>
            <a:pPr indent="0" marL="0">
              <a:buNone/>
            </a:pPr>
            <a:r>
              <a:rPr lang="en-US" sz="1100" i="1" dirty="0">
                <a:solidFill>
                  <a:srgbClr val="5A6472"/>
                </a:solidFill>
                <a:latin typeface="Calibri" pitchFamily="34" charset="0"/>
                <a:cs typeface="Amiri" pitchFamily="2" charset="-78"/>
              </a:rPr>
              <a:t>ghā-li-ban</a:t>
            </a:r>
            <a:endParaRPr lang="en-US" sz="1350" dirty="0"/>
          </a:p>
        </p:txBody>
      </p:sp>
      <p:sp>
        <p:nvSpPr>
          <p:cNvPr id="37" name="Text 3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12 / 46</a:t>
            </a:r>
            <a:endParaRPr lang="en-US" sz="8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D1-L04 · Before and After</a:t>
            </a:r>
            <a:endParaRPr lang="en-US" sz="950" dirty="0"/>
          </a:p>
        </p:txBody>
      </p:sp>
      <p:sp>
        <p:nvSpPr>
          <p:cNvPr id="8" name="Shape 6"/>
          <p:cNvSpPr/>
          <p:nvPr/>
        </p:nvSpPr>
        <p:spPr>
          <a:xfrm>
            <a:off x="6915607" y="274320"/>
            <a:ext cx="1844345"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915607" y="274320"/>
            <a:ext cx="1844345"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a:t>
            </a:r>
            <a:endParaRPr lang="en-US" sz="900" dirty="0"/>
          </a:p>
        </p:txBody>
      </p:sp>
      <p:sp>
        <p:nvSpPr>
          <p:cNvPr id="10" name="Shape 8"/>
          <p:cNvSpPr/>
          <p:nvPr/>
        </p:nvSpPr>
        <p:spPr>
          <a:xfrm>
            <a:off x="5818327"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5818327"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GROUP 3 · FLEX</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Frequency and amount (2 of 2)</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كَلِمَاتُ الدَّرْسِ</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D1 · Daily Routine and Time · D1-L04</a:t>
            </a:r>
            <a:endParaRPr lang="en-US" sz="850" dirty="0"/>
          </a:p>
        </p:txBody>
      </p:sp>
      <p:sp>
        <p:nvSpPr>
          <p:cNvPr id="17" name="Shape 14"/>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8211312" y="1920240"/>
            <a:ext cx="310896" cy="310896"/>
          </a:xfrm>
          <a:prstGeom prst="ellipse">
            <a:avLst/>
          </a:prstGeom>
          <a:solidFill>
            <a:srgbClr val="F4F1EA"/>
          </a:solidFill>
          <a:ln w="12700">
            <a:solidFill>
              <a:srgbClr val="F4F1EA"/>
            </a:solidFill>
            <a:prstDash val="solid"/>
          </a:ln>
        </p:spPr>
      </p:sp>
      <p:sp>
        <p:nvSpPr>
          <p:cNvPr id="19" name="Text 16"/>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25</a:t>
            </a:r>
            <a:endParaRPr lang="en-US" sz="1000" dirty="0"/>
          </a:p>
        </p:txBody>
      </p:sp>
      <p:sp>
        <p:nvSpPr>
          <p:cNvPr id="20" name="Text 17"/>
          <p:cNvSpPr txBox="1"/>
          <p:nvPr/>
        </p:nvSpPr>
        <p:spPr>
          <a:xfrm>
            <a:off x="8211312"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مِنْ حِينٍ إِلَى آخَرَ</a:t>
            </a:r>
            <a:endParaRPr lang="ar-SA" sz="3000" dirty="0"/>
          </a:p>
        </p:txBody>
      </p:sp>
      <p:sp>
        <p:nvSpPr>
          <p:cNvPr id="21" name="Text 18"/>
          <p:cNvSpPr txBox="1"/>
          <p:nvPr/>
        </p:nvSpPr>
        <p:spPr>
          <a:xfrm>
            <a:off x="8238744"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from time to time</a:t>
            </a:r>
            <a:endParaRPr lang="en-US" sz="1350" dirty="0"/>
          </a:p>
          <a:p>
            <a:pPr indent="0" marL="0">
              <a:buNone/>
            </a:pPr>
            <a:r>
              <a:rPr lang="en-US" sz="1100" i="1" dirty="0">
                <a:solidFill>
                  <a:srgbClr val="5A6472"/>
                </a:solidFill>
                <a:latin typeface="Calibri" pitchFamily="34" charset="0"/>
                <a:cs typeface="Amiri" pitchFamily="2" charset="-78"/>
              </a:rPr>
              <a:t>min ḥī-nin i-lā ā-kha-ra</a:t>
            </a:r>
            <a:endParaRPr lang="en-US" sz="1350" dirty="0"/>
          </a:p>
        </p:txBody>
      </p:sp>
      <p:sp>
        <p:nvSpPr>
          <p:cNvPr id="22" name="Shape 19"/>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4389120" y="1920240"/>
            <a:ext cx="310896" cy="310896"/>
          </a:xfrm>
          <a:prstGeom prst="ellipse">
            <a:avLst/>
          </a:prstGeom>
          <a:solidFill>
            <a:srgbClr val="F4F1EA"/>
          </a:solidFill>
          <a:ln w="12700">
            <a:solidFill>
              <a:srgbClr val="F4F1EA"/>
            </a:solidFill>
            <a:prstDash val="solid"/>
          </a:ln>
        </p:spPr>
      </p:sp>
      <p:sp>
        <p:nvSpPr>
          <p:cNvPr id="24" name="Text 21"/>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26</a:t>
            </a:r>
            <a:endParaRPr lang="en-US" sz="1000" dirty="0"/>
          </a:p>
        </p:txBody>
      </p:sp>
      <p:sp>
        <p:nvSpPr>
          <p:cNvPr id="25" name="Text 22"/>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تَقْرِيبًا</a:t>
            </a:r>
            <a:endParaRPr lang="ar-SA" sz="3000" dirty="0"/>
          </a:p>
        </p:txBody>
      </p:sp>
      <p:sp>
        <p:nvSpPr>
          <p:cNvPr id="26" name="Text 23"/>
          <p:cNvSpPr txBox="1"/>
          <p:nvPr/>
        </p:nvSpPr>
        <p:spPr>
          <a:xfrm>
            <a:off x="4416552"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approximately</a:t>
            </a:r>
            <a:endParaRPr lang="en-US" sz="1350" dirty="0"/>
          </a:p>
          <a:p>
            <a:pPr indent="0" marL="0">
              <a:buNone/>
            </a:pPr>
            <a:r>
              <a:rPr lang="en-US" sz="1100" i="1" dirty="0">
                <a:solidFill>
                  <a:srgbClr val="5A6472"/>
                </a:solidFill>
                <a:latin typeface="Calibri" pitchFamily="34" charset="0"/>
                <a:cs typeface="Amiri" pitchFamily="2" charset="-78"/>
              </a:rPr>
              <a:t>taq-rī-ban</a:t>
            </a:r>
            <a:endParaRPr lang="en-US" sz="1350" dirty="0"/>
          </a:p>
        </p:txBody>
      </p:sp>
      <p:sp>
        <p:nvSpPr>
          <p:cNvPr id="27" name="Shape 24"/>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5"/>
          <p:cNvSpPr/>
          <p:nvPr/>
        </p:nvSpPr>
        <p:spPr>
          <a:xfrm>
            <a:off x="566928" y="1920240"/>
            <a:ext cx="310896" cy="310896"/>
          </a:xfrm>
          <a:prstGeom prst="ellipse">
            <a:avLst/>
          </a:prstGeom>
          <a:solidFill>
            <a:srgbClr val="F4F1EA"/>
          </a:solidFill>
          <a:ln w="12700">
            <a:solidFill>
              <a:srgbClr val="F4F1EA"/>
            </a:solidFill>
            <a:prstDash val="solid"/>
          </a:ln>
        </p:spPr>
      </p:sp>
      <p:sp>
        <p:nvSpPr>
          <p:cNvPr id="29" name="Text 26"/>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27</a:t>
            </a:r>
            <a:endParaRPr lang="en-US" sz="1000" dirty="0"/>
          </a:p>
        </p:txBody>
      </p:sp>
      <p:sp>
        <p:nvSpPr>
          <p:cNvPr id="30" name="Text 27"/>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لِمُدَّةِ</a:t>
            </a:r>
            <a:endParaRPr lang="ar-SA" sz="3000" dirty="0"/>
          </a:p>
        </p:txBody>
      </p:sp>
      <p:sp>
        <p:nvSpPr>
          <p:cNvPr id="31" name="Text 28"/>
          <p:cNvSpPr txBox="1"/>
          <p:nvPr/>
        </p:nvSpPr>
        <p:spPr>
          <a:xfrm>
            <a:off x="594360"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for a period of</a:t>
            </a:r>
            <a:endParaRPr lang="en-US" sz="1350" dirty="0"/>
          </a:p>
          <a:p>
            <a:pPr indent="0" marL="0">
              <a:buNone/>
            </a:pPr>
            <a:r>
              <a:rPr lang="en-US" sz="1100" i="1" dirty="0">
                <a:solidFill>
                  <a:srgbClr val="5A6472"/>
                </a:solidFill>
                <a:latin typeface="Calibri" pitchFamily="34" charset="0"/>
                <a:cs typeface="Amiri" pitchFamily="2" charset="-78"/>
              </a:rPr>
              <a:t>li-mud-da-ti</a:t>
            </a:r>
            <a:endParaRPr lang="en-US" sz="1350" dirty="0"/>
          </a:p>
        </p:txBody>
      </p:sp>
      <p:sp>
        <p:nvSpPr>
          <p:cNvPr id="32" name="Text 29"/>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13 / 46</a:t>
            </a:r>
            <a:endParaRPr lang="en-US" sz="8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D1-L04 · Before and After</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GRAMMAR FOCUS · PART 1 · NOUN OR VERB? (WEBSITE TABLE)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Is the next word a noun or a verb?</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اِسْمٌ أَمْ فِعْلٌ؟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D1 · Daily Routine and Time · D1-L04</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7872984" y="1810512"/>
            <a:ext cx="3785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With a noun: no extra word</a:t>
            </a:r>
            <a:endParaRPr lang="en-US" sz="1100" dirty="0"/>
          </a:p>
        </p:txBody>
      </p:sp>
      <p:sp>
        <p:nvSpPr>
          <p:cNvPr id="17" name="Text 14"/>
          <p:cNvSpPr txBox="1"/>
          <p:nvPr/>
        </p:nvSpPr>
        <p:spPr>
          <a:xfrm>
            <a:off x="3273552" y="1810512"/>
            <a:ext cx="445312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With a verb: add an</a:t>
            </a:r>
            <a:endParaRPr lang="en-US" sz="1100" dirty="0"/>
          </a:p>
        </p:txBody>
      </p:sp>
      <p:sp>
        <p:nvSpPr>
          <p:cNvPr id="18" name="Text 15"/>
          <p:cNvSpPr txBox="1"/>
          <p:nvPr/>
        </p:nvSpPr>
        <p:spPr>
          <a:xfrm>
            <a:off x="530352" y="1810512"/>
            <a:ext cx="25968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Meaning</a:t>
            </a:r>
            <a:endParaRPr lang="en-US" sz="1100" dirty="0"/>
          </a:p>
        </p:txBody>
      </p:sp>
      <p:sp>
        <p:nvSpPr>
          <p:cNvPr id="19" name="Shape 16"/>
          <p:cNvSpPr/>
          <p:nvPr/>
        </p:nvSpPr>
        <p:spPr>
          <a:xfrm>
            <a:off x="457200" y="2267712"/>
            <a:ext cx="11274552" cy="731520"/>
          </a:xfrm>
          <a:prstGeom prst="roundRect">
            <a:avLst>
              <a:gd name="adj" fmla="val 6250"/>
            </a:avLst>
          </a:prstGeom>
          <a:solidFill>
            <a:srgbClr val="FFFFFF"/>
          </a:solidFill>
          <a:ln w="9525">
            <a:solidFill>
              <a:srgbClr val="D8D0BF"/>
            </a:solidFill>
            <a:prstDash val="solid"/>
          </a:ln>
        </p:spPr>
      </p:sp>
      <p:sp>
        <p:nvSpPr>
          <p:cNvPr id="20" name="Text 17"/>
          <p:cNvSpPr txBox="1"/>
          <p:nvPr/>
        </p:nvSpPr>
        <p:spPr>
          <a:xfrm>
            <a:off x="7891272" y="2286000"/>
            <a:ext cx="3749040" cy="453542"/>
          </a:xfrm>
          <a:prstGeom prst="rect">
            <a:avLst/>
          </a:prstGeom>
          <a:noFill/>
          <a:ln/>
        </p:spPr>
        <p:txBody>
          <a:bodyPr wrap="square" lIns="0" tIns="0" rIns="0" bIns="0" rtlCol="0" anchor="ctr"/>
          <a:lstStyle/>
          <a:p>
            <a:pPr rtl="1" algn="ctr" indent="0" marL="0">
              <a:buNone/>
            </a:pPr>
            <a:r>
              <a:rPr lang="ar-SA" altLang="en-US" sz="2100" b="1" dirty="0">
                <a:solidFill>
                  <a:srgbClr val="1B3B6F"/>
                </a:solidFill>
                <a:latin typeface="Amiri" pitchFamily="2" charset="-78"/>
                <a:ea typeface="Amiri" pitchFamily="2" charset="-78"/>
                <a:cs typeface="Amiri" pitchFamily="2" charset="-78"/>
              </a:rPr>
              <a:t>قَبْلَ </a:t>
            </a:r>
            <a:pPr rtl="1" algn="ctr" indent="0" marL="0">
              <a:buNone/>
            </a:pPr>
            <a:r>
              <a:rPr lang="ar-SA" altLang="en-US" sz="2100" b="1" dirty="0">
                <a:solidFill>
                  <a:srgbClr val="0E7C86"/>
                </a:solidFill>
                <a:latin typeface="Amiri" pitchFamily="2" charset="-78"/>
                <a:ea typeface="Amiri" pitchFamily="2" charset="-78"/>
                <a:cs typeface="Amiri" pitchFamily="2" charset="-78"/>
              </a:rPr>
              <a:t>الدَّرْسِ</a:t>
            </a:r>
            <a:endParaRPr lang="ar-SA" sz="2100" dirty="0"/>
          </a:p>
        </p:txBody>
      </p:sp>
      <p:sp>
        <p:nvSpPr>
          <p:cNvPr id="21" name="Text 18"/>
          <p:cNvSpPr txBox="1"/>
          <p:nvPr/>
        </p:nvSpPr>
        <p:spPr>
          <a:xfrm>
            <a:off x="7845552" y="2706624"/>
            <a:ext cx="3840480"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before the lesson</a:t>
            </a:r>
            <a:endParaRPr lang="en-US" sz="950" dirty="0"/>
          </a:p>
        </p:txBody>
      </p:sp>
      <p:sp>
        <p:nvSpPr>
          <p:cNvPr id="22" name="Text 19"/>
          <p:cNvSpPr txBox="1"/>
          <p:nvPr/>
        </p:nvSpPr>
        <p:spPr>
          <a:xfrm>
            <a:off x="3291840" y="2286000"/>
            <a:ext cx="4416552" cy="453542"/>
          </a:xfrm>
          <a:prstGeom prst="rect">
            <a:avLst/>
          </a:prstGeom>
          <a:noFill/>
          <a:ln/>
        </p:spPr>
        <p:txBody>
          <a:bodyPr wrap="square" lIns="0" tIns="0" rIns="0" bIns="0" rtlCol="0" anchor="ctr"/>
          <a:lstStyle/>
          <a:p>
            <a:pPr rtl="1" algn="ctr" indent="0" marL="0">
              <a:buNone/>
            </a:pPr>
            <a:r>
              <a:rPr lang="ar-SA" altLang="en-US" sz="2100" b="1" dirty="0">
                <a:solidFill>
                  <a:srgbClr val="1B3B6F"/>
                </a:solidFill>
                <a:latin typeface="Amiri" pitchFamily="2" charset="-78"/>
                <a:ea typeface="Amiri" pitchFamily="2" charset="-78"/>
                <a:cs typeface="Amiri" pitchFamily="2" charset="-78"/>
              </a:rPr>
              <a:t>قَبْلَ </a:t>
            </a:r>
            <a:pPr rtl="1" algn="ctr" indent="0" marL="0">
              <a:buNone/>
            </a:pPr>
            <a:r>
              <a:rPr lang="ar-SA" altLang="en-US" sz="2100" b="1" dirty="0">
                <a:solidFill>
                  <a:srgbClr val="0E7C86"/>
                </a:solidFill>
                <a:latin typeface="Amiri" pitchFamily="2" charset="-78"/>
                <a:ea typeface="Amiri" pitchFamily="2" charset="-78"/>
                <a:cs typeface="Amiri" pitchFamily="2" charset="-78"/>
              </a:rPr>
              <a:t>أَنْ</a:t>
            </a:r>
            <a:pPr rtl="1" algn="ctr" indent="0" marL="0">
              <a:buNone/>
            </a:pPr>
            <a:r>
              <a:rPr lang="ar-SA" altLang="en-US" sz="2100" b="1" dirty="0">
                <a:solidFill>
                  <a:srgbClr val="1B3B6F"/>
                </a:solidFill>
                <a:latin typeface="Amiri" pitchFamily="2" charset="-78"/>
                <a:ea typeface="Amiri" pitchFamily="2" charset="-78"/>
                <a:cs typeface="Amiri" pitchFamily="2" charset="-78"/>
              </a:rPr>
              <a:t> يَبْدَأَ الدَّرْسُ</a:t>
            </a:r>
            <a:endParaRPr lang="ar-SA" sz="2100" dirty="0"/>
          </a:p>
        </p:txBody>
      </p:sp>
      <p:sp>
        <p:nvSpPr>
          <p:cNvPr id="23" name="Text 20"/>
          <p:cNvSpPr txBox="1"/>
          <p:nvPr/>
        </p:nvSpPr>
        <p:spPr>
          <a:xfrm>
            <a:off x="3246120" y="2706624"/>
            <a:ext cx="4507992"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before the lesson starts</a:t>
            </a:r>
            <a:endParaRPr lang="en-US" sz="950" dirty="0"/>
          </a:p>
        </p:txBody>
      </p:sp>
      <p:sp>
        <p:nvSpPr>
          <p:cNvPr id="24" name="Text 21"/>
          <p:cNvSpPr txBox="1"/>
          <p:nvPr/>
        </p:nvSpPr>
        <p:spPr>
          <a:xfrm>
            <a:off x="566928" y="2267712"/>
            <a:ext cx="256032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before</a:t>
            </a:r>
            <a:endParaRPr lang="en-US" sz="1100" dirty="0"/>
          </a:p>
        </p:txBody>
      </p:sp>
      <p:sp>
        <p:nvSpPr>
          <p:cNvPr id="25" name="Shape 22"/>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7" name="Shape 24"/>
          <p:cNvSpPr/>
          <p:nvPr/>
        </p:nvSpPr>
        <p:spPr>
          <a:xfrm>
            <a:off x="457200" y="3054096"/>
            <a:ext cx="11274552" cy="731520"/>
          </a:xfrm>
          <a:prstGeom prst="roundRect">
            <a:avLst>
              <a:gd name="adj" fmla="val 6250"/>
            </a:avLst>
          </a:prstGeom>
          <a:solidFill>
            <a:srgbClr val="F4F1EA"/>
          </a:solidFill>
          <a:ln w="9525">
            <a:solidFill>
              <a:srgbClr val="D8D0BF"/>
            </a:solidFill>
            <a:prstDash val="solid"/>
          </a:ln>
        </p:spPr>
      </p:sp>
      <p:sp>
        <p:nvSpPr>
          <p:cNvPr id="28" name="Text 25"/>
          <p:cNvSpPr txBox="1"/>
          <p:nvPr/>
        </p:nvSpPr>
        <p:spPr>
          <a:xfrm>
            <a:off x="7891272" y="3072384"/>
            <a:ext cx="3749040" cy="453542"/>
          </a:xfrm>
          <a:prstGeom prst="rect">
            <a:avLst/>
          </a:prstGeom>
          <a:noFill/>
          <a:ln/>
        </p:spPr>
        <p:txBody>
          <a:bodyPr wrap="square" lIns="0" tIns="0" rIns="0" bIns="0" rtlCol="0" anchor="ctr"/>
          <a:lstStyle/>
          <a:p>
            <a:pPr rtl="1" algn="ctr" indent="0" marL="0">
              <a:buNone/>
            </a:pPr>
            <a:r>
              <a:rPr lang="ar-SA" altLang="en-US" sz="2100" b="1" dirty="0">
                <a:solidFill>
                  <a:srgbClr val="1B3B6F"/>
                </a:solidFill>
                <a:latin typeface="Amiri" pitchFamily="2" charset="-78"/>
                <a:ea typeface="Amiri" pitchFamily="2" charset="-78"/>
                <a:cs typeface="Amiri" pitchFamily="2" charset="-78"/>
              </a:rPr>
              <a:t>بَعْدَ </a:t>
            </a:r>
            <a:pPr rtl="1" algn="ctr" indent="0" marL="0">
              <a:buNone/>
            </a:pPr>
            <a:r>
              <a:rPr lang="ar-SA" altLang="en-US" sz="2100" b="1" dirty="0">
                <a:solidFill>
                  <a:srgbClr val="0E7C86"/>
                </a:solidFill>
                <a:latin typeface="Amiri" pitchFamily="2" charset="-78"/>
                <a:ea typeface="Amiri" pitchFamily="2" charset="-78"/>
                <a:cs typeface="Amiri" pitchFamily="2" charset="-78"/>
              </a:rPr>
              <a:t>التَّمْرِينِ</a:t>
            </a:r>
            <a:endParaRPr lang="ar-SA" sz="2100" dirty="0"/>
          </a:p>
        </p:txBody>
      </p:sp>
      <p:sp>
        <p:nvSpPr>
          <p:cNvPr id="29" name="Text 26"/>
          <p:cNvSpPr txBox="1"/>
          <p:nvPr/>
        </p:nvSpPr>
        <p:spPr>
          <a:xfrm>
            <a:off x="7845552" y="3493008"/>
            <a:ext cx="3840480"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after training</a:t>
            </a:r>
            <a:endParaRPr lang="en-US" sz="950" dirty="0"/>
          </a:p>
        </p:txBody>
      </p:sp>
      <p:sp>
        <p:nvSpPr>
          <p:cNvPr id="30" name="Text 27"/>
          <p:cNvSpPr txBox="1"/>
          <p:nvPr/>
        </p:nvSpPr>
        <p:spPr>
          <a:xfrm>
            <a:off x="3291840" y="3072384"/>
            <a:ext cx="4416552" cy="453542"/>
          </a:xfrm>
          <a:prstGeom prst="rect">
            <a:avLst/>
          </a:prstGeom>
          <a:noFill/>
          <a:ln/>
        </p:spPr>
        <p:txBody>
          <a:bodyPr wrap="square" lIns="0" tIns="0" rIns="0" bIns="0" rtlCol="0" anchor="ctr"/>
          <a:lstStyle/>
          <a:p>
            <a:pPr rtl="1" algn="ctr" indent="0" marL="0">
              <a:buNone/>
            </a:pPr>
            <a:r>
              <a:rPr lang="ar-SA" altLang="en-US" sz="2100" b="1" dirty="0">
                <a:solidFill>
                  <a:srgbClr val="1B3B6F"/>
                </a:solidFill>
                <a:latin typeface="Amiri" pitchFamily="2" charset="-78"/>
                <a:ea typeface="Amiri" pitchFamily="2" charset="-78"/>
                <a:cs typeface="Amiri" pitchFamily="2" charset="-78"/>
              </a:rPr>
              <a:t>بَعْدَ </a:t>
            </a:r>
            <a:pPr rtl="1" algn="ctr" indent="0" marL="0">
              <a:buNone/>
            </a:pPr>
            <a:r>
              <a:rPr lang="ar-SA" altLang="en-US" sz="2100" b="1" dirty="0">
                <a:solidFill>
                  <a:srgbClr val="0E7C86"/>
                </a:solidFill>
                <a:latin typeface="Amiri" pitchFamily="2" charset="-78"/>
                <a:ea typeface="Amiri" pitchFamily="2" charset="-78"/>
                <a:cs typeface="Amiri" pitchFamily="2" charset="-78"/>
              </a:rPr>
              <a:t>أَنْ</a:t>
            </a:r>
            <a:pPr rtl="1" algn="ctr" indent="0" marL="0">
              <a:buNone/>
            </a:pPr>
            <a:r>
              <a:rPr lang="ar-SA" altLang="en-US" sz="2100" b="1" dirty="0">
                <a:solidFill>
                  <a:srgbClr val="1B3B6F"/>
                </a:solidFill>
                <a:latin typeface="Amiri" pitchFamily="2" charset="-78"/>
                <a:ea typeface="Amiri" pitchFamily="2" charset="-78"/>
                <a:cs typeface="Amiri" pitchFamily="2" charset="-78"/>
              </a:rPr>
              <a:t> يَنْتَهِيَ التَّمْرِينُ</a:t>
            </a:r>
            <a:endParaRPr lang="ar-SA" sz="2100" dirty="0"/>
          </a:p>
        </p:txBody>
      </p:sp>
      <p:sp>
        <p:nvSpPr>
          <p:cNvPr id="31" name="Text 28"/>
          <p:cNvSpPr txBox="1"/>
          <p:nvPr/>
        </p:nvSpPr>
        <p:spPr>
          <a:xfrm>
            <a:off x="3246120" y="3493008"/>
            <a:ext cx="4507992"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after training finishes</a:t>
            </a:r>
            <a:endParaRPr lang="en-US" sz="950" dirty="0"/>
          </a:p>
        </p:txBody>
      </p:sp>
      <p:sp>
        <p:nvSpPr>
          <p:cNvPr id="32" name="Text 29"/>
          <p:cNvSpPr txBox="1"/>
          <p:nvPr/>
        </p:nvSpPr>
        <p:spPr>
          <a:xfrm>
            <a:off x="566928" y="3054096"/>
            <a:ext cx="256032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after</a:t>
            </a:r>
            <a:endParaRPr lang="en-US" sz="1100" dirty="0"/>
          </a:p>
        </p:txBody>
      </p:sp>
      <p:sp>
        <p:nvSpPr>
          <p:cNvPr id="33" name="Shape 30"/>
          <p:cNvSpPr/>
          <p:nvPr/>
        </p:nvSpPr>
        <p:spPr>
          <a:xfrm>
            <a:off x="11091672" y="3099816"/>
            <a:ext cx="548640" cy="182880"/>
          </a:xfrm>
          <a:prstGeom prst="roundRect">
            <a:avLst>
              <a:gd name="adj" fmla="val 50000"/>
            </a:avLst>
          </a:prstGeom>
          <a:solidFill>
            <a:srgbClr val="2E8B57"/>
          </a:solidFill>
          <a:ln w="12700">
            <a:solidFill>
              <a:srgbClr val="2E8B57"/>
            </a:solidFill>
            <a:prstDash val="solid"/>
          </a:ln>
        </p:spPr>
      </p:sp>
      <p:sp>
        <p:nvSpPr>
          <p:cNvPr id="34" name="Text 31"/>
          <p:cNvSpPr txBox="1"/>
          <p:nvPr/>
        </p:nvSpPr>
        <p:spPr>
          <a:xfrm>
            <a:off x="11091672" y="3099816"/>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5" name="Shape 32"/>
          <p:cNvSpPr/>
          <p:nvPr/>
        </p:nvSpPr>
        <p:spPr>
          <a:xfrm>
            <a:off x="457200" y="3840480"/>
            <a:ext cx="11274552" cy="731520"/>
          </a:xfrm>
          <a:prstGeom prst="roundRect">
            <a:avLst>
              <a:gd name="adj" fmla="val 6250"/>
            </a:avLst>
          </a:prstGeom>
          <a:solidFill>
            <a:srgbClr val="FFFFFF"/>
          </a:solidFill>
          <a:ln w="9525">
            <a:solidFill>
              <a:srgbClr val="D8D0BF"/>
            </a:solidFill>
            <a:prstDash val="solid"/>
          </a:ln>
        </p:spPr>
      </p:sp>
      <p:sp>
        <p:nvSpPr>
          <p:cNvPr id="36" name="Text 33"/>
          <p:cNvSpPr txBox="1"/>
          <p:nvPr/>
        </p:nvSpPr>
        <p:spPr>
          <a:xfrm>
            <a:off x="7891272" y="3858768"/>
            <a:ext cx="3749040" cy="453542"/>
          </a:xfrm>
          <a:prstGeom prst="rect">
            <a:avLst/>
          </a:prstGeom>
          <a:noFill/>
          <a:ln/>
        </p:spPr>
        <p:txBody>
          <a:bodyPr wrap="square" lIns="0" tIns="0" rIns="0" bIns="0" rtlCol="0" anchor="ctr"/>
          <a:lstStyle/>
          <a:p>
            <a:pPr rtl="1" algn="ctr" indent="0" marL="0">
              <a:buNone/>
            </a:pPr>
            <a:r>
              <a:rPr lang="ar-SA" altLang="en-US" sz="2100" b="1" dirty="0">
                <a:solidFill>
                  <a:srgbClr val="1B3B6F"/>
                </a:solidFill>
                <a:latin typeface="Amiri" pitchFamily="2" charset="-78"/>
                <a:ea typeface="Amiri" pitchFamily="2" charset="-78"/>
                <a:cs typeface="Amiri" pitchFamily="2" charset="-78"/>
              </a:rPr>
              <a:t>عِنْدَ </a:t>
            </a:r>
            <a:pPr rtl="1" algn="ctr" indent="0" marL="0">
              <a:buNone/>
            </a:pPr>
            <a:r>
              <a:rPr lang="ar-SA" altLang="en-US" sz="2100" b="1" dirty="0">
                <a:solidFill>
                  <a:srgbClr val="0E7C86"/>
                </a:solidFill>
                <a:latin typeface="Amiri" pitchFamily="2" charset="-78"/>
                <a:ea typeface="Amiri" pitchFamily="2" charset="-78"/>
                <a:cs typeface="Amiri" pitchFamily="2" charset="-78"/>
              </a:rPr>
              <a:t>الوُصُولِ</a:t>
            </a:r>
            <a:endParaRPr lang="ar-SA" sz="2100" dirty="0"/>
          </a:p>
        </p:txBody>
      </p:sp>
      <p:sp>
        <p:nvSpPr>
          <p:cNvPr id="37" name="Text 34"/>
          <p:cNvSpPr txBox="1"/>
          <p:nvPr/>
        </p:nvSpPr>
        <p:spPr>
          <a:xfrm>
            <a:off x="7845552" y="4279392"/>
            <a:ext cx="3840480"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on arrival</a:t>
            </a:r>
            <a:endParaRPr lang="en-US" sz="950" dirty="0"/>
          </a:p>
        </p:txBody>
      </p:sp>
      <p:sp>
        <p:nvSpPr>
          <p:cNvPr id="38" name="Text 35"/>
          <p:cNvSpPr txBox="1"/>
          <p:nvPr/>
        </p:nvSpPr>
        <p:spPr>
          <a:xfrm>
            <a:off x="3291840" y="3858768"/>
            <a:ext cx="4416552" cy="453542"/>
          </a:xfrm>
          <a:prstGeom prst="rect">
            <a:avLst/>
          </a:prstGeom>
          <a:noFill/>
          <a:ln/>
        </p:spPr>
        <p:txBody>
          <a:bodyPr wrap="square" lIns="0" tIns="0" rIns="0" bIns="0" rtlCol="0" anchor="ctr"/>
          <a:lstStyle/>
          <a:p>
            <a:pPr rtl="1" algn="ctr" indent="0" marL="0">
              <a:buNone/>
            </a:pPr>
            <a:r>
              <a:rPr lang="ar-SA" altLang="en-US" sz="2100" b="1" dirty="0">
                <a:solidFill>
                  <a:srgbClr val="1B3B6F"/>
                </a:solidFill>
                <a:latin typeface="Amiri" pitchFamily="2" charset="-78"/>
                <a:ea typeface="Amiri" pitchFamily="2" charset="-78"/>
                <a:cs typeface="Amiri" pitchFamily="2" charset="-78"/>
              </a:rPr>
              <a:t>عِنْدَمَا أَصِلُ</a:t>
            </a:r>
            <a:endParaRPr lang="ar-SA" sz="2100" dirty="0"/>
          </a:p>
        </p:txBody>
      </p:sp>
      <p:sp>
        <p:nvSpPr>
          <p:cNvPr id="39" name="Text 36"/>
          <p:cNvSpPr txBox="1"/>
          <p:nvPr/>
        </p:nvSpPr>
        <p:spPr>
          <a:xfrm>
            <a:off x="3246120" y="4279392"/>
            <a:ext cx="4507992"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when I arrive (no change!)</a:t>
            </a:r>
            <a:endParaRPr lang="en-US" sz="950" dirty="0"/>
          </a:p>
        </p:txBody>
      </p:sp>
      <p:sp>
        <p:nvSpPr>
          <p:cNvPr id="40" name="Text 37"/>
          <p:cNvSpPr txBox="1"/>
          <p:nvPr/>
        </p:nvSpPr>
        <p:spPr>
          <a:xfrm>
            <a:off x="566928" y="3840480"/>
            <a:ext cx="256032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when</a:t>
            </a:r>
            <a:endParaRPr lang="en-US" sz="1100" dirty="0"/>
          </a:p>
        </p:txBody>
      </p:sp>
      <p:sp>
        <p:nvSpPr>
          <p:cNvPr id="41" name="Shape 38"/>
          <p:cNvSpPr/>
          <p:nvPr/>
        </p:nvSpPr>
        <p:spPr>
          <a:xfrm>
            <a:off x="457200" y="4626864"/>
            <a:ext cx="11274552" cy="731520"/>
          </a:xfrm>
          <a:prstGeom prst="roundRect">
            <a:avLst>
              <a:gd name="adj" fmla="val 6250"/>
            </a:avLst>
          </a:prstGeom>
          <a:solidFill>
            <a:srgbClr val="F4F1EA"/>
          </a:solidFill>
          <a:ln w="9525">
            <a:solidFill>
              <a:srgbClr val="D8D0BF"/>
            </a:solidFill>
            <a:prstDash val="solid"/>
          </a:ln>
        </p:spPr>
      </p:sp>
      <p:sp>
        <p:nvSpPr>
          <p:cNvPr id="42" name="Text 39"/>
          <p:cNvSpPr txBox="1"/>
          <p:nvPr/>
        </p:nvSpPr>
        <p:spPr>
          <a:xfrm>
            <a:off x="7891272" y="4645152"/>
            <a:ext cx="3749040" cy="453542"/>
          </a:xfrm>
          <a:prstGeom prst="rect">
            <a:avLst/>
          </a:prstGeom>
          <a:noFill/>
          <a:ln/>
        </p:spPr>
        <p:txBody>
          <a:bodyPr wrap="square" lIns="0" tIns="0" rIns="0" bIns="0" rtlCol="0" anchor="ctr"/>
          <a:lstStyle/>
          <a:p>
            <a:pPr rtl="1" algn="ctr" indent="0" marL="0">
              <a:buNone/>
            </a:pPr>
            <a:r>
              <a:rPr lang="ar-SA" altLang="en-US" sz="2100" b="1" dirty="0">
                <a:solidFill>
                  <a:srgbClr val="1B3B6F"/>
                </a:solidFill>
                <a:latin typeface="Amiri" pitchFamily="2" charset="-78"/>
                <a:ea typeface="Amiri" pitchFamily="2" charset="-78"/>
                <a:cs typeface="Amiri" pitchFamily="2" charset="-78"/>
              </a:rPr>
              <a:t>أَثْنَاءَ </a:t>
            </a:r>
            <a:pPr rtl="1" algn="ctr" indent="0" marL="0">
              <a:buNone/>
            </a:pPr>
            <a:r>
              <a:rPr lang="ar-SA" altLang="en-US" sz="2100" b="1" dirty="0">
                <a:solidFill>
                  <a:srgbClr val="0E7C86"/>
                </a:solidFill>
                <a:latin typeface="Amiri" pitchFamily="2" charset="-78"/>
                <a:ea typeface="Amiri" pitchFamily="2" charset="-78"/>
                <a:cs typeface="Amiri" pitchFamily="2" charset="-78"/>
              </a:rPr>
              <a:t>الدَّرْسِ</a:t>
            </a:r>
            <a:endParaRPr lang="ar-SA" sz="2100" dirty="0"/>
          </a:p>
        </p:txBody>
      </p:sp>
      <p:sp>
        <p:nvSpPr>
          <p:cNvPr id="43" name="Text 40"/>
          <p:cNvSpPr txBox="1"/>
          <p:nvPr/>
        </p:nvSpPr>
        <p:spPr>
          <a:xfrm>
            <a:off x="7845552" y="5065776"/>
            <a:ext cx="3840480"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during the lesson</a:t>
            </a:r>
            <a:endParaRPr lang="en-US" sz="950" dirty="0"/>
          </a:p>
        </p:txBody>
      </p:sp>
      <p:sp>
        <p:nvSpPr>
          <p:cNvPr id="44" name="Text 41"/>
          <p:cNvSpPr txBox="1"/>
          <p:nvPr/>
        </p:nvSpPr>
        <p:spPr>
          <a:xfrm>
            <a:off x="3291840" y="4645152"/>
            <a:ext cx="4416552" cy="453542"/>
          </a:xfrm>
          <a:prstGeom prst="rect">
            <a:avLst/>
          </a:prstGeom>
          <a:noFill/>
          <a:ln/>
        </p:spPr>
        <p:txBody>
          <a:bodyPr wrap="square" lIns="0" tIns="0" rIns="0" bIns="0" rtlCol="0" anchor="ctr"/>
          <a:lstStyle/>
          <a:p>
            <a:pPr rtl="1" algn="ctr" indent="0" marL="0">
              <a:buNone/>
            </a:pPr>
            <a:r>
              <a:rPr lang="ar-SA" altLang="en-US" sz="2100" b="1" dirty="0">
                <a:solidFill>
                  <a:srgbClr val="1B3B6F"/>
                </a:solidFill>
                <a:latin typeface="Amiri" pitchFamily="2" charset="-78"/>
                <a:ea typeface="Amiri" pitchFamily="2" charset="-78"/>
                <a:cs typeface="Amiri" pitchFamily="2" charset="-78"/>
              </a:rPr>
              <a:t>بِمُجَرَّدِ </a:t>
            </a:r>
            <a:pPr rtl="1" algn="ctr" indent="0" marL="0">
              <a:buNone/>
            </a:pPr>
            <a:r>
              <a:rPr lang="ar-SA" altLang="en-US" sz="2100" b="1" dirty="0">
                <a:solidFill>
                  <a:srgbClr val="0E7C86"/>
                </a:solidFill>
                <a:latin typeface="Amiri" pitchFamily="2" charset="-78"/>
                <a:ea typeface="Amiri" pitchFamily="2" charset="-78"/>
                <a:cs typeface="Amiri" pitchFamily="2" charset="-78"/>
              </a:rPr>
              <a:t>أَنْ</a:t>
            </a:r>
            <a:pPr rtl="1" algn="ctr" indent="0" marL="0">
              <a:buNone/>
            </a:pPr>
            <a:r>
              <a:rPr lang="ar-SA" altLang="en-US" sz="2100" b="1" dirty="0">
                <a:solidFill>
                  <a:srgbClr val="1B3B6F"/>
                </a:solidFill>
                <a:latin typeface="Amiri" pitchFamily="2" charset="-78"/>
                <a:ea typeface="Amiri" pitchFamily="2" charset="-78"/>
                <a:cs typeface="Amiri" pitchFamily="2" charset="-78"/>
              </a:rPr>
              <a:t> أَنْتَهِيَ</a:t>
            </a:r>
            <a:endParaRPr lang="ar-SA" sz="2100" dirty="0"/>
          </a:p>
        </p:txBody>
      </p:sp>
      <p:sp>
        <p:nvSpPr>
          <p:cNvPr id="45" name="Text 42"/>
          <p:cNvSpPr txBox="1"/>
          <p:nvPr/>
        </p:nvSpPr>
        <p:spPr>
          <a:xfrm>
            <a:off x="3246120" y="5065776"/>
            <a:ext cx="4507992"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as soon as I finish</a:t>
            </a:r>
            <a:endParaRPr lang="en-US" sz="950" dirty="0"/>
          </a:p>
        </p:txBody>
      </p:sp>
      <p:sp>
        <p:nvSpPr>
          <p:cNvPr id="46" name="Text 43"/>
          <p:cNvSpPr txBox="1"/>
          <p:nvPr/>
        </p:nvSpPr>
        <p:spPr>
          <a:xfrm>
            <a:off x="566928" y="4626864"/>
            <a:ext cx="256032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during / as soon as</a:t>
            </a:r>
            <a:endParaRPr lang="en-US" sz="1100" dirty="0"/>
          </a:p>
        </p:txBody>
      </p:sp>
      <p:sp>
        <p:nvSpPr>
          <p:cNvPr id="47" name="Text 44"/>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Test: can you put “the” (</a:t>
            </a:r>
            <a:pPr algn="l" indent="0" marL="0">
              <a:buNone/>
            </a:pPr>
            <a:r>
              <a:rPr lang="ar-SA" altLang="en-US" sz="1500" b="1" dirty="0">
                <a:solidFill>
                  <a:srgbClr val="1B3B6F"/>
                </a:solidFill>
                <a:latin typeface="Amiri" pitchFamily="2" charset="-78"/>
                <a:ea typeface="Amiri" pitchFamily="2" charset="-78"/>
                <a:cs typeface="Amiri" pitchFamily="2" charset="-78"/>
              </a:rPr>
              <a:t>الـ</a:t>
            </a:r>
            <a:pPr algn="l" indent="0" marL="0">
              <a:buNone/>
            </a:pPr>
            <a:r>
              <a:rPr lang="en-US" sz="1150" b="1" dirty="0">
                <a:solidFill>
                  <a:srgbClr val="1B3B6F"/>
                </a:solidFill>
                <a:latin typeface="Calibri" pitchFamily="34" charset="0"/>
                <a:cs typeface="Amiri" pitchFamily="2" charset="-78"/>
              </a:rPr>
              <a:t>) on the next word? → noun → no </a:t>
            </a:r>
            <a:pPr algn="l" indent="0" marL="0">
              <a:buNone/>
            </a:pPr>
            <a:r>
              <a:rPr lang="ar-SA" altLang="en-US" sz="1500" b="1" dirty="0">
                <a:solidFill>
                  <a:srgbClr val="1B3B6F"/>
                </a:solidFill>
                <a:latin typeface="Amiri" pitchFamily="2" charset="-78"/>
                <a:ea typeface="Amiri" pitchFamily="2" charset="-78"/>
                <a:cs typeface="Amiri" pitchFamily="2" charset="-78"/>
              </a:rPr>
              <a:t>أَنْ</a:t>
            </a:r>
            <a:pPr algn="l" indent="0" marL="0">
              <a:buNone/>
            </a:pPr>
            <a:r>
              <a:rPr lang="en-US" sz="1150" b="1" dirty="0">
                <a:solidFill>
                  <a:srgbClr val="1B3B6F"/>
                </a:solidFill>
                <a:latin typeface="Calibri" pitchFamily="34" charset="0"/>
                <a:cs typeface="Amiri" pitchFamily="2" charset="-78"/>
              </a:rPr>
              <a:t>.</a:t>
            </a:r>
            <a:endParaRPr lang="en-US" sz="1150" dirty="0"/>
          </a:p>
        </p:txBody>
      </p:sp>
      <p:sp>
        <p:nvSpPr>
          <p:cNvPr id="48"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14 / 46</a:t>
            </a:r>
            <a:endParaRPr lang="en-US" sz="8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D1-L04 · Before and After</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4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1B3B6F"/>
                </a:solidFill>
                <a:latin typeface="Calibri" pitchFamily="34" charset="0"/>
                <a:cs typeface="Amiri" pitchFamily="2" charset="-78"/>
              </a:rPr>
              <a:t>GRAMMAR FOCUS · PART 2 · THE VERB ENDING CHANGES (WEBSITE RULES)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After </a:t>
            </a:r>
            <a:pPr algn="l" indent="0" marL="0">
              <a:buNone/>
            </a:pPr>
            <a:r>
              <a:rPr lang="ar-SA" altLang="en-US" sz="3650" b="1" dirty="0">
                <a:solidFill>
                  <a:srgbClr val="1B3B6F"/>
                </a:solidFill>
                <a:latin typeface="Amiri" pitchFamily="2" charset="-78"/>
                <a:ea typeface="Amiri" pitchFamily="2" charset="-78"/>
                <a:cs typeface="Amiri" pitchFamily="2" charset="-78"/>
              </a:rPr>
              <a:t>أَنْ</a:t>
            </a:r>
            <a:pPr algn="l" indent="0" marL="0">
              <a:buNone/>
            </a:pPr>
            <a:r>
              <a:rPr lang="en-US" sz="2800" b="1" dirty="0">
                <a:solidFill>
                  <a:srgbClr val="1B3B6F"/>
                </a:solidFill>
                <a:latin typeface="Cambria" pitchFamily="34" charset="0"/>
                <a:cs typeface="Amiri" pitchFamily="2" charset="-78"/>
              </a:rPr>
              <a:t>: watch the last letter</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الفِعْلُ بَعْدَ أَنْ</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D1 · Daily Routine and Time · D1-L04</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8238744" y="1810512"/>
            <a:ext cx="34198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Ordinary present</a:t>
            </a:r>
            <a:endParaRPr lang="en-US" sz="1100" dirty="0"/>
          </a:p>
        </p:txBody>
      </p:sp>
      <p:sp>
        <p:nvSpPr>
          <p:cNvPr id="17" name="Text 14"/>
          <p:cNvSpPr txBox="1"/>
          <p:nvPr/>
        </p:nvSpPr>
        <p:spPr>
          <a:xfrm>
            <a:off x="4032504" y="1810512"/>
            <a:ext cx="40599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After an (subjunctive)</a:t>
            </a:r>
            <a:endParaRPr lang="en-US" sz="1100" dirty="0"/>
          </a:p>
        </p:txBody>
      </p:sp>
      <p:sp>
        <p:nvSpPr>
          <p:cNvPr id="18" name="Text 15"/>
          <p:cNvSpPr txBox="1"/>
          <p:nvPr/>
        </p:nvSpPr>
        <p:spPr>
          <a:xfrm>
            <a:off x="530352" y="1810512"/>
            <a:ext cx="335584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What changes</a:t>
            </a:r>
            <a:endParaRPr lang="en-US" sz="1100" dirty="0"/>
          </a:p>
        </p:txBody>
      </p:sp>
      <p:sp>
        <p:nvSpPr>
          <p:cNvPr id="19" name="Shape 16"/>
          <p:cNvSpPr/>
          <p:nvPr/>
        </p:nvSpPr>
        <p:spPr>
          <a:xfrm>
            <a:off x="457200" y="2267712"/>
            <a:ext cx="11274552" cy="682142"/>
          </a:xfrm>
          <a:prstGeom prst="roundRect">
            <a:avLst>
              <a:gd name="adj" fmla="val 6702"/>
            </a:avLst>
          </a:prstGeom>
          <a:solidFill>
            <a:srgbClr val="FFFFFF"/>
          </a:solidFill>
          <a:ln w="9525">
            <a:solidFill>
              <a:srgbClr val="D8D0BF"/>
            </a:solidFill>
            <a:prstDash val="solid"/>
          </a:ln>
        </p:spPr>
      </p:sp>
      <p:sp>
        <p:nvSpPr>
          <p:cNvPr id="20" name="Text 17"/>
          <p:cNvSpPr txBox="1"/>
          <p:nvPr/>
        </p:nvSpPr>
        <p:spPr>
          <a:xfrm>
            <a:off x="8257032" y="2286000"/>
            <a:ext cx="3383280" cy="422928"/>
          </a:xfrm>
          <a:prstGeom prst="rect">
            <a:avLst/>
          </a:prstGeom>
          <a:noFill/>
          <a:ln/>
        </p:spPr>
        <p:txBody>
          <a:bodyPr wrap="square" lIns="0" tIns="0" rIns="0" bIns="0" rtlCol="0" anchor="ctr"/>
          <a:lstStyle/>
          <a:p>
            <a:pPr rtl="1" algn="ctr" indent="0" marL="0">
              <a:buNone/>
            </a:pPr>
            <a:r>
              <a:rPr lang="ar-SA" altLang="en-US" sz="1950" b="1" dirty="0">
                <a:solidFill>
                  <a:srgbClr val="1B3B6F"/>
                </a:solidFill>
                <a:latin typeface="Amiri" pitchFamily="2" charset="-78"/>
                <a:ea typeface="Amiri" pitchFamily="2" charset="-78"/>
                <a:cs typeface="Amiri" pitchFamily="2" charset="-78"/>
              </a:rPr>
              <a:t>أَخْرُ</a:t>
            </a:r>
            <a:pPr rtl="1" algn="ctr" indent="0" marL="0">
              <a:buNone/>
            </a:pPr>
            <a:r>
              <a:rPr lang="ar-SA" altLang="en-US" sz="1950" b="1" dirty="0">
                <a:solidFill>
                  <a:srgbClr val="D6336C"/>
                </a:solidFill>
                <a:latin typeface="Amiri" pitchFamily="2" charset="-78"/>
                <a:ea typeface="Amiri" pitchFamily="2" charset="-78"/>
                <a:cs typeface="Amiri" pitchFamily="2" charset="-78"/>
              </a:rPr>
              <a:t>جُ</a:t>
            </a:r>
            <a:endParaRPr lang="ar-SA" sz="1950" dirty="0"/>
          </a:p>
        </p:txBody>
      </p:sp>
      <p:sp>
        <p:nvSpPr>
          <p:cNvPr id="21" name="Text 18"/>
          <p:cNvSpPr txBox="1"/>
          <p:nvPr/>
        </p:nvSpPr>
        <p:spPr>
          <a:xfrm>
            <a:off x="8211312" y="2676997"/>
            <a:ext cx="3474720" cy="259214"/>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I go out</a:t>
            </a:r>
            <a:endParaRPr lang="en-US" sz="950" dirty="0"/>
          </a:p>
        </p:txBody>
      </p:sp>
      <p:sp>
        <p:nvSpPr>
          <p:cNvPr id="22" name="Text 19"/>
          <p:cNvSpPr txBox="1"/>
          <p:nvPr/>
        </p:nvSpPr>
        <p:spPr>
          <a:xfrm>
            <a:off x="4050792" y="2286000"/>
            <a:ext cx="4023360" cy="422928"/>
          </a:xfrm>
          <a:prstGeom prst="rect">
            <a:avLst/>
          </a:prstGeom>
          <a:noFill/>
          <a:ln/>
        </p:spPr>
        <p:txBody>
          <a:bodyPr wrap="square" lIns="0" tIns="0" rIns="0" bIns="0" rtlCol="0" anchor="ctr"/>
          <a:lstStyle/>
          <a:p>
            <a:pPr rtl="1" algn="ctr" indent="0" marL="0">
              <a:buNone/>
            </a:pPr>
            <a:r>
              <a:rPr lang="ar-SA" altLang="en-US" sz="1950" b="1" dirty="0">
                <a:solidFill>
                  <a:srgbClr val="1B3B6F"/>
                </a:solidFill>
                <a:latin typeface="Amiri" pitchFamily="2" charset="-78"/>
                <a:ea typeface="Amiri" pitchFamily="2" charset="-78"/>
                <a:cs typeface="Amiri" pitchFamily="2" charset="-78"/>
              </a:rPr>
              <a:t>قَبْلَ أَنْ أَخْرُ</a:t>
            </a:r>
            <a:pPr rtl="1" algn="ctr" indent="0" marL="0">
              <a:buNone/>
            </a:pPr>
            <a:r>
              <a:rPr lang="ar-SA" altLang="en-US" sz="1950" b="1" dirty="0">
                <a:solidFill>
                  <a:srgbClr val="D6336C"/>
                </a:solidFill>
                <a:latin typeface="Amiri" pitchFamily="2" charset="-78"/>
                <a:ea typeface="Amiri" pitchFamily="2" charset="-78"/>
                <a:cs typeface="Amiri" pitchFamily="2" charset="-78"/>
              </a:rPr>
              <a:t>جَ</a:t>
            </a:r>
            <a:endParaRPr lang="ar-SA" sz="1950" dirty="0"/>
          </a:p>
        </p:txBody>
      </p:sp>
      <p:sp>
        <p:nvSpPr>
          <p:cNvPr id="23" name="Text 20"/>
          <p:cNvSpPr txBox="1"/>
          <p:nvPr/>
        </p:nvSpPr>
        <p:spPr>
          <a:xfrm>
            <a:off x="4005072" y="2676997"/>
            <a:ext cx="4114800" cy="259214"/>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before I go out</a:t>
            </a:r>
            <a:endParaRPr lang="en-US" sz="950" dirty="0"/>
          </a:p>
        </p:txBody>
      </p:sp>
      <p:sp>
        <p:nvSpPr>
          <p:cNvPr id="24" name="Text 21"/>
          <p:cNvSpPr txBox="1"/>
          <p:nvPr/>
        </p:nvSpPr>
        <p:spPr>
          <a:xfrm>
            <a:off x="566928" y="2267712"/>
            <a:ext cx="331927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ḍamma → fatḥa</a:t>
            </a:r>
            <a:endParaRPr lang="en-US" sz="1100" dirty="0"/>
          </a:p>
        </p:txBody>
      </p:sp>
      <p:sp>
        <p:nvSpPr>
          <p:cNvPr id="25" name="Shape 22"/>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7" name="Shape 24"/>
          <p:cNvSpPr/>
          <p:nvPr/>
        </p:nvSpPr>
        <p:spPr>
          <a:xfrm>
            <a:off x="457200" y="3004718"/>
            <a:ext cx="11274552" cy="682142"/>
          </a:xfrm>
          <a:prstGeom prst="roundRect">
            <a:avLst>
              <a:gd name="adj" fmla="val 6702"/>
            </a:avLst>
          </a:prstGeom>
          <a:solidFill>
            <a:srgbClr val="F4F1EA"/>
          </a:solidFill>
          <a:ln w="9525">
            <a:solidFill>
              <a:srgbClr val="D8D0BF"/>
            </a:solidFill>
            <a:prstDash val="solid"/>
          </a:ln>
        </p:spPr>
      </p:sp>
      <p:sp>
        <p:nvSpPr>
          <p:cNvPr id="28" name="Text 25"/>
          <p:cNvSpPr txBox="1"/>
          <p:nvPr/>
        </p:nvSpPr>
        <p:spPr>
          <a:xfrm>
            <a:off x="8257032" y="3023006"/>
            <a:ext cx="3383280" cy="422928"/>
          </a:xfrm>
          <a:prstGeom prst="rect">
            <a:avLst/>
          </a:prstGeom>
          <a:noFill/>
          <a:ln/>
        </p:spPr>
        <p:txBody>
          <a:bodyPr wrap="square" lIns="0" tIns="0" rIns="0" bIns="0" rtlCol="0" anchor="ctr"/>
          <a:lstStyle/>
          <a:p>
            <a:pPr rtl="1" algn="ctr" indent="0" marL="0">
              <a:buNone/>
            </a:pPr>
            <a:r>
              <a:rPr lang="ar-SA" altLang="en-US" sz="1950" b="1" dirty="0">
                <a:solidFill>
                  <a:srgbClr val="1B3B6F"/>
                </a:solidFill>
                <a:latin typeface="Amiri" pitchFamily="2" charset="-78"/>
                <a:ea typeface="Amiri" pitchFamily="2" charset="-78"/>
                <a:cs typeface="Amiri" pitchFamily="2" charset="-78"/>
              </a:rPr>
              <a:t>أَنَا</a:t>
            </a:r>
            <a:pPr rtl="1" algn="ctr" indent="0" marL="0">
              <a:buNone/>
            </a:pPr>
            <a:r>
              <a:rPr lang="ar-SA" altLang="en-US" sz="1950" b="1" dirty="0">
                <a:solidFill>
                  <a:srgbClr val="D6336C"/>
                </a:solidFill>
                <a:latin typeface="Amiri" pitchFamily="2" charset="-78"/>
                <a:ea typeface="Amiri" pitchFamily="2" charset="-78"/>
                <a:cs typeface="Amiri" pitchFamily="2" charset="-78"/>
              </a:rPr>
              <a:t>مُ</a:t>
            </a:r>
            <a:endParaRPr lang="ar-SA" sz="1950" dirty="0"/>
          </a:p>
        </p:txBody>
      </p:sp>
      <p:sp>
        <p:nvSpPr>
          <p:cNvPr id="29" name="Text 26"/>
          <p:cNvSpPr txBox="1"/>
          <p:nvPr/>
        </p:nvSpPr>
        <p:spPr>
          <a:xfrm>
            <a:off x="8211312" y="3414004"/>
            <a:ext cx="3474720" cy="259214"/>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I sleep</a:t>
            </a:r>
            <a:endParaRPr lang="en-US" sz="950" dirty="0"/>
          </a:p>
        </p:txBody>
      </p:sp>
      <p:sp>
        <p:nvSpPr>
          <p:cNvPr id="30" name="Text 27"/>
          <p:cNvSpPr txBox="1"/>
          <p:nvPr/>
        </p:nvSpPr>
        <p:spPr>
          <a:xfrm>
            <a:off x="4050792" y="3023006"/>
            <a:ext cx="4023360" cy="422928"/>
          </a:xfrm>
          <a:prstGeom prst="rect">
            <a:avLst/>
          </a:prstGeom>
          <a:noFill/>
          <a:ln/>
        </p:spPr>
        <p:txBody>
          <a:bodyPr wrap="square" lIns="0" tIns="0" rIns="0" bIns="0" rtlCol="0" anchor="ctr"/>
          <a:lstStyle/>
          <a:p>
            <a:pPr rtl="1" algn="ctr" indent="0" marL="0">
              <a:buNone/>
            </a:pPr>
            <a:r>
              <a:rPr lang="ar-SA" altLang="en-US" sz="1950" b="1" dirty="0">
                <a:solidFill>
                  <a:srgbClr val="1B3B6F"/>
                </a:solidFill>
                <a:latin typeface="Amiri" pitchFamily="2" charset="-78"/>
                <a:ea typeface="Amiri" pitchFamily="2" charset="-78"/>
                <a:cs typeface="Amiri" pitchFamily="2" charset="-78"/>
              </a:rPr>
              <a:t>قَبْلَ أَنْ أَنَا</a:t>
            </a:r>
            <a:pPr rtl="1" algn="ctr" indent="0" marL="0">
              <a:buNone/>
            </a:pPr>
            <a:r>
              <a:rPr lang="ar-SA" altLang="en-US" sz="1950" b="1" dirty="0">
                <a:solidFill>
                  <a:srgbClr val="D6336C"/>
                </a:solidFill>
                <a:latin typeface="Amiri" pitchFamily="2" charset="-78"/>
                <a:ea typeface="Amiri" pitchFamily="2" charset="-78"/>
                <a:cs typeface="Amiri" pitchFamily="2" charset="-78"/>
              </a:rPr>
              <a:t>مَ</a:t>
            </a:r>
            <a:endParaRPr lang="ar-SA" sz="1950" dirty="0"/>
          </a:p>
        </p:txBody>
      </p:sp>
      <p:sp>
        <p:nvSpPr>
          <p:cNvPr id="31" name="Text 28"/>
          <p:cNvSpPr txBox="1"/>
          <p:nvPr/>
        </p:nvSpPr>
        <p:spPr>
          <a:xfrm>
            <a:off x="4005072" y="3414004"/>
            <a:ext cx="4114800" cy="259214"/>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before I sleep</a:t>
            </a:r>
            <a:endParaRPr lang="en-US" sz="950" dirty="0"/>
          </a:p>
        </p:txBody>
      </p:sp>
      <p:sp>
        <p:nvSpPr>
          <p:cNvPr id="32" name="Text 29"/>
          <p:cNvSpPr txBox="1"/>
          <p:nvPr/>
        </p:nvSpPr>
        <p:spPr>
          <a:xfrm>
            <a:off x="566928" y="3004718"/>
            <a:ext cx="331927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ḍamma → fatḥa</a:t>
            </a:r>
            <a:endParaRPr lang="en-US" sz="1100" dirty="0"/>
          </a:p>
        </p:txBody>
      </p:sp>
      <p:sp>
        <p:nvSpPr>
          <p:cNvPr id="33" name="Shape 30"/>
          <p:cNvSpPr/>
          <p:nvPr/>
        </p:nvSpPr>
        <p:spPr>
          <a:xfrm>
            <a:off x="11091672" y="3050438"/>
            <a:ext cx="548640" cy="182880"/>
          </a:xfrm>
          <a:prstGeom prst="roundRect">
            <a:avLst>
              <a:gd name="adj" fmla="val 50000"/>
            </a:avLst>
          </a:prstGeom>
          <a:solidFill>
            <a:srgbClr val="2E8B57"/>
          </a:solidFill>
          <a:ln w="12700">
            <a:solidFill>
              <a:srgbClr val="2E8B57"/>
            </a:solidFill>
            <a:prstDash val="solid"/>
          </a:ln>
        </p:spPr>
      </p:sp>
      <p:sp>
        <p:nvSpPr>
          <p:cNvPr id="34" name="Text 31"/>
          <p:cNvSpPr txBox="1"/>
          <p:nvPr/>
        </p:nvSpPr>
        <p:spPr>
          <a:xfrm>
            <a:off x="11091672" y="305043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5" name="Shape 32"/>
          <p:cNvSpPr/>
          <p:nvPr/>
        </p:nvSpPr>
        <p:spPr>
          <a:xfrm>
            <a:off x="457200" y="3741725"/>
            <a:ext cx="11274552" cy="682142"/>
          </a:xfrm>
          <a:prstGeom prst="roundRect">
            <a:avLst>
              <a:gd name="adj" fmla="val 6702"/>
            </a:avLst>
          </a:prstGeom>
          <a:solidFill>
            <a:srgbClr val="FFFFFF"/>
          </a:solidFill>
          <a:ln w="9525">
            <a:solidFill>
              <a:srgbClr val="D8D0BF"/>
            </a:solidFill>
            <a:prstDash val="solid"/>
          </a:ln>
        </p:spPr>
      </p:sp>
      <p:sp>
        <p:nvSpPr>
          <p:cNvPr id="36" name="Text 33"/>
          <p:cNvSpPr txBox="1"/>
          <p:nvPr/>
        </p:nvSpPr>
        <p:spPr>
          <a:xfrm>
            <a:off x="8257032" y="3760013"/>
            <a:ext cx="3383280" cy="422928"/>
          </a:xfrm>
          <a:prstGeom prst="rect">
            <a:avLst/>
          </a:prstGeom>
          <a:noFill/>
          <a:ln/>
        </p:spPr>
        <p:txBody>
          <a:bodyPr wrap="square" lIns="0" tIns="0" rIns="0" bIns="0" rtlCol="0" anchor="ctr"/>
          <a:lstStyle/>
          <a:p>
            <a:pPr rtl="1" algn="ctr" indent="0" marL="0">
              <a:buNone/>
            </a:pPr>
            <a:r>
              <a:rPr lang="ar-SA" altLang="en-US" sz="1950" b="1" dirty="0">
                <a:solidFill>
                  <a:srgbClr val="1B3B6F"/>
                </a:solidFill>
                <a:latin typeface="Amiri" pitchFamily="2" charset="-78"/>
                <a:ea typeface="Amiri" pitchFamily="2" charset="-78"/>
                <a:cs typeface="Amiri" pitchFamily="2" charset="-78"/>
              </a:rPr>
              <a:t>أَعُو</a:t>
            </a:r>
            <a:pPr rtl="1" algn="ctr" indent="0" marL="0">
              <a:buNone/>
            </a:pPr>
            <a:r>
              <a:rPr lang="ar-SA" altLang="en-US" sz="1950" b="1" dirty="0">
                <a:solidFill>
                  <a:srgbClr val="D6336C"/>
                </a:solidFill>
                <a:latin typeface="Amiri" pitchFamily="2" charset="-78"/>
                <a:ea typeface="Amiri" pitchFamily="2" charset="-78"/>
                <a:cs typeface="Amiri" pitchFamily="2" charset="-78"/>
              </a:rPr>
              <a:t>دُ</a:t>
            </a:r>
            <a:endParaRPr lang="ar-SA" sz="1950" dirty="0"/>
          </a:p>
        </p:txBody>
      </p:sp>
      <p:sp>
        <p:nvSpPr>
          <p:cNvPr id="37" name="Text 34"/>
          <p:cNvSpPr txBox="1"/>
          <p:nvPr/>
        </p:nvSpPr>
        <p:spPr>
          <a:xfrm>
            <a:off x="8211312" y="4151010"/>
            <a:ext cx="3474720" cy="259214"/>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I return</a:t>
            </a:r>
            <a:endParaRPr lang="en-US" sz="950" dirty="0"/>
          </a:p>
        </p:txBody>
      </p:sp>
      <p:sp>
        <p:nvSpPr>
          <p:cNvPr id="38" name="Text 35"/>
          <p:cNvSpPr txBox="1"/>
          <p:nvPr/>
        </p:nvSpPr>
        <p:spPr>
          <a:xfrm>
            <a:off x="4050792" y="3760013"/>
            <a:ext cx="4023360" cy="422928"/>
          </a:xfrm>
          <a:prstGeom prst="rect">
            <a:avLst/>
          </a:prstGeom>
          <a:noFill/>
          <a:ln/>
        </p:spPr>
        <p:txBody>
          <a:bodyPr wrap="square" lIns="0" tIns="0" rIns="0" bIns="0" rtlCol="0" anchor="ctr"/>
          <a:lstStyle/>
          <a:p>
            <a:pPr rtl="1" algn="ctr" indent="0" marL="0">
              <a:buNone/>
            </a:pPr>
            <a:r>
              <a:rPr lang="ar-SA" altLang="en-US" sz="1950" b="1" dirty="0">
                <a:solidFill>
                  <a:srgbClr val="1B3B6F"/>
                </a:solidFill>
                <a:latin typeface="Amiri" pitchFamily="2" charset="-78"/>
                <a:ea typeface="Amiri" pitchFamily="2" charset="-78"/>
                <a:cs typeface="Amiri" pitchFamily="2" charset="-78"/>
              </a:rPr>
              <a:t>بَعْدَ أَنْ أَعُو</a:t>
            </a:r>
            <a:pPr rtl="1" algn="ctr" indent="0" marL="0">
              <a:buNone/>
            </a:pPr>
            <a:r>
              <a:rPr lang="ar-SA" altLang="en-US" sz="1950" b="1" dirty="0">
                <a:solidFill>
                  <a:srgbClr val="D6336C"/>
                </a:solidFill>
                <a:latin typeface="Amiri" pitchFamily="2" charset="-78"/>
                <a:ea typeface="Amiri" pitchFamily="2" charset="-78"/>
                <a:cs typeface="Amiri" pitchFamily="2" charset="-78"/>
              </a:rPr>
              <a:t>دَ</a:t>
            </a:r>
            <a:endParaRPr lang="ar-SA" sz="1950" dirty="0"/>
          </a:p>
        </p:txBody>
      </p:sp>
      <p:sp>
        <p:nvSpPr>
          <p:cNvPr id="39" name="Text 36"/>
          <p:cNvSpPr txBox="1"/>
          <p:nvPr/>
        </p:nvSpPr>
        <p:spPr>
          <a:xfrm>
            <a:off x="4005072" y="4151010"/>
            <a:ext cx="4114800" cy="259214"/>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after I return</a:t>
            </a:r>
            <a:endParaRPr lang="en-US" sz="950" dirty="0"/>
          </a:p>
        </p:txBody>
      </p:sp>
      <p:sp>
        <p:nvSpPr>
          <p:cNvPr id="40" name="Text 37"/>
          <p:cNvSpPr txBox="1"/>
          <p:nvPr/>
        </p:nvSpPr>
        <p:spPr>
          <a:xfrm>
            <a:off x="566928" y="3741725"/>
            <a:ext cx="331927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ḍamma → fatḥa</a:t>
            </a:r>
            <a:endParaRPr lang="en-US" sz="1100" dirty="0"/>
          </a:p>
        </p:txBody>
      </p:sp>
      <p:sp>
        <p:nvSpPr>
          <p:cNvPr id="41" name="Shape 38"/>
          <p:cNvSpPr/>
          <p:nvPr/>
        </p:nvSpPr>
        <p:spPr>
          <a:xfrm>
            <a:off x="457200" y="4478731"/>
            <a:ext cx="11274552" cy="682142"/>
          </a:xfrm>
          <a:prstGeom prst="roundRect">
            <a:avLst>
              <a:gd name="adj" fmla="val 6702"/>
            </a:avLst>
          </a:prstGeom>
          <a:solidFill>
            <a:srgbClr val="F4F1EA"/>
          </a:solidFill>
          <a:ln w="9525">
            <a:solidFill>
              <a:srgbClr val="D8D0BF"/>
            </a:solidFill>
            <a:prstDash val="solid"/>
          </a:ln>
        </p:spPr>
      </p:sp>
      <p:sp>
        <p:nvSpPr>
          <p:cNvPr id="42" name="Text 39"/>
          <p:cNvSpPr txBox="1"/>
          <p:nvPr/>
        </p:nvSpPr>
        <p:spPr>
          <a:xfrm>
            <a:off x="8257032" y="4497019"/>
            <a:ext cx="3383280" cy="422928"/>
          </a:xfrm>
          <a:prstGeom prst="rect">
            <a:avLst/>
          </a:prstGeom>
          <a:noFill/>
          <a:ln/>
        </p:spPr>
        <p:txBody>
          <a:bodyPr wrap="square" lIns="0" tIns="0" rIns="0" bIns="0" rtlCol="0" anchor="ctr"/>
          <a:lstStyle/>
          <a:p>
            <a:pPr rtl="1" algn="ctr" indent="0" marL="0">
              <a:buNone/>
            </a:pPr>
            <a:r>
              <a:rPr lang="ar-SA" altLang="en-US" sz="1950" b="1" dirty="0">
                <a:solidFill>
                  <a:srgbClr val="1B3B6F"/>
                </a:solidFill>
                <a:latin typeface="Amiri" pitchFamily="2" charset="-78"/>
                <a:ea typeface="Amiri" pitchFamily="2" charset="-78"/>
                <a:cs typeface="Amiri" pitchFamily="2" charset="-78"/>
              </a:rPr>
              <a:t>تُكْمِلِي</a:t>
            </a:r>
            <a:pPr rtl="1" algn="ctr" indent="0" marL="0">
              <a:buNone/>
            </a:pPr>
            <a:r>
              <a:rPr lang="ar-SA" altLang="en-US" sz="1950" b="1" dirty="0">
                <a:solidFill>
                  <a:srgbClr val="D6336C"/>
                </a:solidFill>
                <a:latin typeface="Amiri" pitchFamily="2" charset="-78"/>
                <a:ea typeface="Amiri" pitchFamily="2" charset="-78"/>
                <a:cs typeface="Amiri" pitchFamily="2" charset="-78"/>
              </a:rPr>
              <a:t>نَ</a:t>
            </a:r>
            <a:endParaRPr lang="ar-SA" sz="1950" dirty="0"/>
          </a:p>
        </p:txBody>
      </p:sp>
      <p:sp>
        <p:nvSpPr>
          <p:cNvPr id="43" name="Text 40"/>
          <p:cNvSpPr txBox="1"/>
          <p:nvPr/>
        </p:nvSpPr>
        <p:spPr>
          <a:xfrm>
            <a:off x="8211312" y="4888017"/>
            <a:ext cx="3474720" cy="259214"/>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you (f.) complete</a:t>
            </a:r>
            <a:endParaRPr lang="en-US" sz="950" dirty="0"/>
          </a:p>
        </p:txBody>
      </p:sp>
      <p:sp>
        <p:nvSpPr>
          <p:cNvPr id="44" name="Text 41"/>
          <p:cNvSpPr txBox="1"/>
          <p:nvPr/>
        </p:nvSpPr>
        <p:spPr>
          <a:xfrm>
            <a:off x="4050792" y="4497019"/>
            <a:ext cx="4023360" cy="422928"/>
          </a:xfrm>
          <a:prstGeom prst="rect">
            <a:avLst/>
          </a:prstGeom>
          <a:noFill/>
          <a:ln/>
        </p:spPr>
        <p:txBody>
          <a:bodyPr wrap="square" lIns="0" tIns="0" rIns="0" bIns="0" rtlCol="0" anchor="ctr"/>
          <a:lstStyle/>
          <a:p>
            <a:pPr rtl="1" algn="ctr" indent="0" marL="0">
              <a:buNone/>
            </a:pPr>
            <a:r>
              <a:rPr lang="ar-SA" altLang="en-US" sz="1950" b="1" dirty="0">
                <a:solidFill>
                  <a:srgbClr val="1B3B6F"/>
                </a:solidFill>
                <a:latin typeface="Amiri" pitchFamily="2" charset="-78"/>
                <a:ea typeface="Amiri" pitchFamily="2" charset="-78"/>
                <a:cs typeface="Amiri" pitchFamily="2" charset="-78"/>
              </a:rPr>
              <a:t>بَعْدَ أَنْ تُكْمِلِي</a:t>
            </a:r>
            <a:endParaRPr lang="ar-SA" sz="1950" dirty="0"/>
          </a:p>
        </p:txBody>
      </p:sp>
      <p:sp>
        <p:nvSpPr>
          <p:cNvPr id="45" name="Text 42"/>
          <p:cNvSpPr txBox="1"/>
          <p:nvPr/>
        </p:nvSpPr>
        <p:spPr>
          <a:xfrm>
            <a:off x="4005072" y="4888017"/>
            <a:ext cx="4114800" cy="259214"/>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after you (f.) complete</a:t>
            </a:r>
            <a:endParaRPr lang="en-US" sz="950" dirty="0"/>
          </a:p>
        </p:txBody>
      </p:sp>
      <p:sp>
        <p:nvSpPr>
          <p:cNvPr id="46" name="Text 43"/>
          <p:cNvSpPr txBox="1"/>
          <p:nvPr/>
        </p:nvSpPr>
        <p:spPr>
          <a:xfrm>
            <a:off x="566928" y="4478731"/>
            <a:ext cx="331927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final </a:t>
            </a:r>
            <a:pPr algn="l" indent="0" marL="0">
              <a:buNone/>
            </a:pPr>
            <a:r>
              <a:rPr lang="ar-SA" altLang="en-US" sz="1450" dirty="0">
                <a:solidFill>
                  <a:srgbClr val="5A6472"/>
                </a:solidFill>
                <a:latin typeface="Amiri" pitchFamily="2" charset="-78"/>
                <a:ea typeface="Amiri" pitchFamily="2" charset="-78"/>
                <a:cs typeface="Amiri" pitchFamily="2" charset="-78"/>
              </a:rPr>
              <a:t>ن</a:t>
            </a:r>
            <a:pPr algn="l" indent="0" marL="0">
              <a:buNone/>
            </a:pPr>
            <a:r>
              <a:rPr lang="en-US" sz="1100" dirty="0">
                <a:solidFill>
                  <a:srgbClr val="5A6472"/>
                </a:solidFill>
                <a:latin typeface="Calibri" pitchFamily="34" charset="0"/>
                <a:cs typeface="Amiri" pitchFamily="2" charset="-78"/>
              </a:rPr>
              <a:t> removed</a:t>
            </a:r>
            <a:endParaRPr lang="en-US" sz="1100" dirty="0"/>
          </a:p>
        </p:txBody>
      </p:sp>
      <p:sp>
        <p:nvSpPr>
          <p:cNvPr id="47" name="Shape 44"/>
          <p:cNvSpPr/>
          <p:nvPr/>
        </p:nvSpPr>
        <p:spPr>
          <a:xfrm>
            <a:off x="457200" y="5215738"/>
            <a:ext cx="11274552" cy="682142"/>
          </a:xfrm>
          <a:prstGeom prst="roundRect">
            <a:avLst>
              <a:gd name="adj" fmla="val 6702"/>
            </a:avLst>
          </a:prstGeom>
          <a:solidFill>
            <a:srgbClr val="FFFFFF"/>
          </a:solidFill>
          <a:ln w="9525">
            <a:solidFill>
              <a:srgbClr val="D8D0BF"/>
            </a:solidFill>
            <a:prstDash val="solid"/>
          </a:ln>
        </p:spPr>
      </p:sp>
      <p:sp>
        <p:nvSpPr>
          <p:cNvPr id="48" name="Text 45"/>
          <p:cNvSpPr txBox="1"/>
          <p:nvPr/>
        </p:nvSpPr>
        <p:spPr>
          <a:xfrm>
            <a:off x="8257032" y="5234026"/>
            <a:ext cx="3383280" cy="422928"/>
          </a:xfrm>
          <a:prstGeom prst="rect">
            <a:avLst/>
          </a:prstGeom>
          <a:noFill/>
          <a:ln/>
        </p:spPr>
        <p:txBody>
          <a:bodyPr wrap="square" lIns="0" tIns="0" rIns="0" bIns="0" rtlCol="0" anchor="ctr"/>
          <a:lstStyle/>
          <a:p>
            <a:pPr rtl="1" algn="ctr" indent="0" marL="0">
              <a:buNone/>
            </a:pPr>
            <a:r>
              <a:rPr lang="ar-SA" altLang="en-US" sz="1950" b="1" dirty="0">
                <a:solidFill>
                  <a:srgbClr val="1B3B6F"/>
                </a:solidFill>
                <a:latin typeface="Amiri" pitchFamily="2" charset="-78"/>
                <a:ea typeface="Amiri" pitchFamily="2" charset="-78"/>
                <a:cs typeface="Amiri" pitchFamily="2" charset="-78"/>
              </a:rPr>
              <a:t>تَذْهَبُو</a:t>
            </a:r>
            <a:pPr rtl="1" algn="ctr" indent="0" marL="0">
              <a:buNone/>
            </a:pPr>
            <a:r>
              <a:rPr lang="ar-SA" altLang="en-US" sz="1950" b="1" dirty="0">
                <a:solidFill>
                  <a:srgbClr val="D6336C"/>
                </a:solidFill>
                <a:latin typeface="Amiri" pitchFamily="2" charset="-78"/>
                <a:ea typeface="Amiri" pitchFamily="2" charset="-78"/>
                <a:cs typeface="Amiri" pitchFamily="2" charset="-78"/>
              </a:rPr>
              <a:t>نَ</a:t>
            </a:r>
            <a:endParaRPr lang="ar-SA" sz="1950" dirty="0"/>
          </a:p>
        </p:txBody>
      </p:sp>
      <p:sp>
        <p:nvSpPr>
          <p:cNvPr id="49" name="Text 46"/>
          <p:cNvSpPr txBox="1"/>
          <p:nvPr/>
        </p:nvSpPr>
        <p:spPr>
          <a:xfrm>
            <a:off x="8211312" y="5625023"/>
            <a:ext cx="3474720" cy="259214"/>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you (pl.) go</a:t>
            </a:r>
            <a:endParaRPr lang="en-US" sz="950" dirty="0"/>
          </a:p>
        </p:txBody>
      </p:sp>
      <p:sp>
        <p:nvSpPr>
          <p:cNvPr id="50" name="Text 47"/>
          <p:cNvSpPr txBox="1"/>
          <p:nvPr/>
        </p:nvSpPr>
        <p:spPr>
          <a:xfrm>
            <a:off x="4050792" y="5234026"/>
            <a:ext cx="4023360" cy="422928"/>
          </a:xfrm>
          <a:prstGeom prst="rect">
            <a:avLst/>
          </a:prstGeom>
          <a:noFill/>
          <a:ln/>
        </p:spPr>
        <p:txBody>
          <a:bodyPr wrap="square" lIns="0" tIns="0" rIns="0" bIns="0" rtlCol="0" anchor="ctr"/>
          <a:lstStyle/>
          <a:p>
            <a:pPr rtl="1" algn="ctr" indent="0" marL="0">
              <a:buNone/>
            </a:pPr>
            <a:r>
              <a:rPr lang="ar-SA" altLang="en-US" sz="1950" b="1" dirty="0">
                <a:solidFill>
                  <a:srgbClr val="1B3B6F"/>
                </a:solidFill>
                <a:latin typeface="Amiri" pitchFamily="2" charset="-78"/>
                <a:ea typeface="Amiri" pitchFamily="2" charset="-78"/>
                <a:cs typeface="Amiri" pitchFamily="2" charset="-78"/>
              </a:rPr>
              <a:t>قَبْلَ أَنْ تَذْهَبُوا</a:t>
            </a:r>
            <a:endParaRPr lang="ar-SA" sz="1950" dirty="0"/>
          </a:p>
        </p:txBody>
      </p:sp>
      <p:sp>
        <p:nvSpPr>
          <p:cNvPr id="51" name="Text 48"/>
          <p:cNvSpPr txBox="1"/>
          <p:nvPr/>
        </p:nvSpPr>
        <p:spPr>
          <a:xfrm>
            <a:off x="4005072" y="5625023"/>
            <a:ext cx="4114800" cy="259214"/>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before you (pl.) go</a:t>
            </a:r>
            <a:endParaRPr lang="en-US" sz="950" dirty="0"/>
          </a:p>
        </p:txBody>
      </p:sp>
      <p:sp>
        <p:nvSpPr>
          <p:cNvPr id="52" name="Text 49"/>
          <p:cNvSpPr txBox="1"/>
          <p:nvPr/>
        </p:nvSpPr>
        <p:spPr>
          <a:xfrm>
            <a:off x="566928" y="5215738"/>
            <a:ext cx="3319272" cy="682142"/>
          </a:xfrm>
          <a:prstGeom prst="rect">
            <a:avLst/>
          </a:prstGeom>
          <a:noFill/>
          <a:ln/>
        </p:spPr>
        <p:txBody>
          <a:bodyPr wrap="square" lIns="0" tIns="0" rIns="0" bIns="0" rtlCol="0" anchor="ctr"/>
          <a:lstStyle/>
          <a:p>
            <a:pPr algn="l" indent="0" marL="0">
              <a:buNone/>
            </a:pPr>
            <a:r>
              <a:rPr lang="ar-SA" altLang="en-US" sz="1450" dirty="0">
                <a:solidFill>
                  <a:srgbClr val="5A6472"/>
                </a:solidFill>
                <a:latin typeface="Amiri" pitchFamily="2" charset="-78"/>
                <a:ea typeface="Amiri" pitchFamily="2" charset="-78"/>
                <a:cs typeface="Amiri" pitchFamily="2" charset="-78"/>
              </a:rPr>
              <a:t>ن</a:t>
            </a:r>
            <a:pPr algn="l" indent="0" marL="0">
              <a:buNone/>
            </a:pPr>
            <a:r>
              <a:rPr lang="en-US" sz="1100" dirty="0">
                <a:solidFill>
                  <a:srgbClr val="5A6472"/>
                </a:solidFill>
                <a:latin typeface="Calibri" pitchFamily="34" charset="0"/>
                <a:cs typeface="Amiri" pitchFamily="2" charset="-78"/>
              </a:rPr>
              <a:t> removed + alif</a:t>
            </a:r>
            <a:endParaRPr lang="en-US" sz="1100" dirty="0"/>
          </a:p>
        </p:txBody>
      </p:sp>
      <p:sp>
        <p:nvSpPr>
          <p:cNvPr id="53" name="Text 50"/>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Core: learn rows 1–2 as chunks. Develop: rows 1–3. Stretch: all five.</a:t>
            </a:r>
            <a:endParaRPr lang="en-US" sz="1150" dirty="0"/>
          </a:p>
        </p:txBody>
      </p:sp>
      <p:sp>
        <p:nvSpPr>
          <p:cNvPr id="54" name="Text 5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15 / 46</a:t>
            </a:r>
            <a:endParaRPr lang="en-US" sz="8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D1-L04 · Before and After</a:t>
            </a:r>
            <a:endParaRPr lang="en-US" sz="950" dirty="0"/>
          </a:p>
        </p:txBody>
      </p:sp>
      <p:sp>
        <p:nvSpPr>
          <p:cNvPr id="8" name="Shape 6"/>
          <p:cNvSpPr/>
          <p:nvPr/>
        </p:nvSpPr>
        <p:spPr>
          <a:xfrm>
            <a:off x="6915607" y="274320"/>
            <a:ext cx="1844345"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915607" y="274320"/>
            <a:ext cx="1844345"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a:t>
            </a:r>
            <a:endParaRPr lang="en-US" sz="900" dirty="0"/>
          </a:p>
        </p:txBody>
      </p:sp>
      <p:sp>
        <p:nvSpPr>
          <p:cNvPr id="10" name="Shape 8"/>
          <p:cNvSpPr/>
          <p:nvPr/>
        </p:nvSpPr>
        <p:spPr>
          <a:xfrm>
            <a:off x="5818327"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5818327"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GRAMMAR FOCUS · THE WEBSITE RULES WITH EXAMPLES · FLEX</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500" b="1" dirty="0">
                <a:solidFill>
                  <a:srgbClr val="1B3B6F"/>
                </a:solidFill>
                <a:latin typeface="Cambria" pitchFamily="34" charset="0"/>
                <a:cs typeface="Amiri" pitchFamily="2" charset="-78"/>
              </a:rPr>
              <a:t>Before and after with a verbal clause</a:t>
            </a:r>
            <a:endParaRPr lang="en-US" sz="25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قَبْلَ أَنْ وَبَعْدَ أَنْ مَعَ الفِعْلِ</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D1 · Daily Routine and Time · D1-L04</a:t>
            </a:r>
            <a:endParaRPr lang="en-US" sz="850" dirty="0"/>
          </a:p>
        </p:txBody>
      </p:sp>
      <p:sp>
        <p:nvSpPr>
          <p:cNvPr id="17" name="Shape 14"/>
          <p:cNvSpPr/>
          <p:nvPr/>
        </p:nvSpPr>
        <p:spPr>
          <a:xfrm>
            <a:off x="457200" y="1810512"/>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Text 15"/>
          <p:cNvSpPr txBox="1"/>
          <p:nvPr/>
        </p:nvSpPr>
        <p:spPr>
          <a:xfrm>
            <a:off x="640080" y="1883664"/>
            <a:ext cx="3566160" cy="514350"/>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1. Use </a:t>
            </a:r>
            <a:pPr algn="l" indent="0" marL="0">
              <a:buNone/>
            </a:pPr>
            <a:r>
              <a:rPr lang="ar-SA" altLang="en-US" sz="1650" b="1" dirty="0">
                <a:solidFill>
                  <a:srgbClr val="1B3B6F"/>
                </a:solidFill>
                <a:latin typeface="Amiri" pitchFamily="2" charset="-78"/>
                <a:ea typeface="Amiri" pitchFamily="2" charset="-78"/>
                <a:cs typeface="Amiri" pitchFamily="2" charset="-78"/>
              </a:rPr>
              <a:t>قَبْلَ أَنْ</a:t>
            </a:r>
            <a:pPr algn="l" indent="0" marL="0">
              <a:buNone/>
            </a:pPr>
            <a:r>
              <a:rPr lang="en-US" sz="1250" b="1" dirty="0">
                <a:solidFill>
                  <a:srgbClr val="1B3B6F"/>
                </a:solidFill>
                <a:latin typeface="Calibri" pitchFamily="34" charset="0"/>
                <a:cs typeface="Amiri" pitchFamily="2" charset="-78"/>
              </a:rPr>
              <a:t> for an action that happens first</a:t>
            </a:r>
            <a:endParaRPr lang="en-US" sz="1250" dirty="0"/>
          </a:p>
        </p:txBody>
      </p:sp>
      <p:sp>
        <p:nvSpPr>
          <p:cNvPr id="19" name="Text 16"/>
          <p:cNvSpPr txBox="1"/>
          <p:nvPr/>
        </p:nvSpPr>
        <p:spPr>
          <a:xfrm>
            <a:off x="640080" y="2345436"/>
            <a:ext cx="3566160" cy="432054"/>
          </a:xfrm>
          <a:prstGeom prst="rect">
            <a:avLst/>
          </a:prstGeom>
          <a:noFill/>
          <a:ln/>
        </p:spPr>
        <p:txBody>
          <a:bodyPr wrap="square" lIns="0" tIns="0" rIns="0" bIns="0" rtlCol="0" anchor="ctr"/>
          <a:lstStyle/>
          <a:p>
            <a:pPr rtl="1" algn="r" indent="0" marL="0">
              <a:buNone/>
            </a:pPr>
            <a:r>
              <a:rPr lang="ar-SA" altLang="en-US" sz="1350" dirty="0">
                <a:solidFill>
                  <a:srgbClr val="5A6472"/>
                </a:solidFill>
                <a:latin typeface="Amiri" pitchFamily="2" charset="-78"/>
                <a:ea typeface="Amiri" pitchFamily="2" charset="-78"/>
                <a:cs typeface="Amiri" pitchFamily="2" charset="-78"/>
              </a:rPr>
              <a:t>قَبْلَ أَنْ + فِعْلٌ مَنْصُوبٌ</a:t>
            </a:r>
            <a:endParaRPr lang="ar-SA" sz="1350" dirty="0"/>
          </a:p>
        </p:txBody>
      </p:sp>
      <p:sp>
        <p:nvSpPr>
          <p:cNvPr id="20" name="Text 17"/>
          <p:cNvSpPr txBox="1"/>
          <p:nvPr/>
        </p:nvSpPr>
        <p:spPr>
          <a:xfrm>
            <a:off x="4297680" y="1847088"/>
            <a:ext cx="7269480" cy="955548"/>
          </a:xfrm>
          <a:prstGeom prst="rect">
            <a:avLst/>
          </a:prstGeom>
          <a:noFill/>
          <a:ln/>
        </p:spPr>
        <p:txBody>
          <a:bodyPr wrap="square" lIns="0" tIns="0" rIns="0" bIns="0" rtlCol="0" anchor="ctr"/>
          <a:lstStyle/>
          <a:p>
            <a:pPr rtl="1" algn="r" indent="0" marL="0">
              <a:buNone/>
            </a:pPr>
            <a:r>
              <a:rPr lang="ar-SA" altLang="en-US" sz="2000" b="1" dirty="0">
                <a:solidFill>
                  <a:srgbClr val="1F2A37"/>
                </a:solidFill>
                <a:latin typeface="Amiri" pitchFamily="2" charset="-78"/>
                <a:ea typeface="Amiri" pitchFamily="2" charset="-78"/>
                <a:cs typeface="Amiri" pitchFamily="2" charset="-78"/>
              </a:rPr>
              <a:t>أُحَضِّرُ حَقِيبَتِي قَبْلَ أَنْ أَنَامَ.   ·   أَتَنَاوَلُ الإِفْطَارَ قَبْلَ أَنْ أَخْرُجَ.</a:t>
            </a:r>
            <a:endParaRPr lang="ar-SA" sz="2000" dirty="0"/>
          </a:p>
        </p:txBody>
      </p:sp>
      <p:sp>
        <p:nvSpPr>
          <p:cNvPr id="21" name="Shape 18"/>
          <p:cNvSpPr/>
          <p:nvPr/>
        </p:nvSpPr>
        <p:spPr>
          <a:xfrm>
            <a:off x="457200" y="2967228"/>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640080" y="3040380"/>
            <a:ext cx="3566160" cy="514350"/>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2. Use </a:t>
            </a:r>
            <a:pPr algn="l" indent="0" marL="0">
              <a:buNone/>
            </a:pPr>
            <a:r>
              <a:rPr lang="ar-SA" altLang="en-US" sz="1650" b="1" dirty="0">
                <a:solidFill>
                  <a:srgbClr val="1B3B6F"/>
                </a:solidFill>
                <a:latin typeface="Amiri" pitchFamily="2" charset="-78"/>
                <a:ea typeface="Amiri" pitchFamily="2" charset="-78"/>
                <a:cs typeface="Amiri" pitchFamily="2" charset="-78"/>
              </a:rPr>
              <a:t>بَعْدَ أَنْ</a:t>
            </a:r>
            <a:pPr algn="l" indent="0" marL="0">
              <a:buNone/>
            </a:pPr>
            <a:r>
              <a:rPr lang="en-US" sz="1250" b="1" dirty="0">
                <a:solidFill>
                  <a:srgbClr val="1B3B6F"/>
                </a:solidFill>
                <a:latin typeface="Calibri" pitchFamily="34" charset="0"/>
                <a:cs typeface="Amiri" pitchFamily="2" charset="-78"/>
              </a:rPr>
              <a:t> for the completed first action</a:t>
            </a:r>
            <a:endParaRPr lang="en-US" sz="1250" dirty="0"/>
          </a:p>
        </p:txBody>
      </p:sp>
      <p:sp>
        <p:nvSpPr>
          <p:cNvPr id="23" name="Text 20"/>
          <p:cNvSpPr txBox="1"/>
          <p:nvPr/>
        </p:nvSpPr>
        <p:spPr>
          <a:xfrm>
            <a:off x="640080" y="3502152"/>
            <a:ext cx="3566160" cy="432054"/>
          </a:xfrm>
          <a:prstGeom prst="rect">
            <a:avLst/>
          </a:prstGeom>
          <a:noFill/>
          <a:ln/>
        </p:spPr>
        <p:txBody>
          <a:bodyPr wrap="square" lIns="0" tIns="0" rIns="0" bIns="0" rtlCol="0" anchor="ctr"/>
          <a:lstStyle/>
          <a:p>
            <a:pPr rtl="1" algn="r" indent="0" marL="0">
              <a:buNone/>
            </a:pPr>
            <a:r>
              <a:rPr lang="ar-SA" altLang="en-US" sz="1350" dirty="0">
                <a:solidFill>
                  <a:srgbClr val="5A6472"/>
                </a:solidFill>
                <a:latin typeface="Amiri" pitchFamily="2" charset="-78"/>
                <a:ea typeface="Amiri" pitchFamily="2" charset="-78"/>
                <a:cs typeface="Amiri" pitchFamily="2" charset="-78"/>
              </a:rPr>
              <a:t>بَعْدَ أَنْ + فِعْلٌ مَنْصُوبٌ</a:t>
            </a:r>
            <a:endParaRPr lang="ar-SA" sz="1350" dirty="0"/>
          </a:p>
        </p:txBody>
      </p:sp>
      <p:sp>
        <p:nvSpPr>
          <p:cNvPr id="24" name="Text 21"/>
          <p:cNvSpPr txBox="1"/>
          <p:nvPr/>
        </p:nvSpPr>
        <p:spPr>
          <a:xfrm>
            <a:off x="4297680" y="3003804"/>
            <a:ext cx="7269480" cy="955548"/>
          </a:xfrm>
          <a:prstGeom prst="rect">
            <a:avLst/>
          </a:prstGeom>
          <a:noFill/>
          <a:ln/>
        </p:spPr>
        <p:txBody>
          <a:bodyPr wrap="square" lIns="0" tIns="0" rIns="0" bIns="0" rtlCol="0" anchor="ctr"/>
          <a:lstStyle/>
          <a:p>
            <a:pPr rtl="1" algn="r" indent="0" marL="0">
              <a:buNone/>
            </a:pPr>
            <a:r>
              <a:rPr lang="ar-SA" altLang="en-US" sz="2000" b="1" dirty="0">
                <a:solidFill>
                  <a:srgbClr val="1F2A37"/>
                </a:solidFill>
                <a:latin typeface="Amiri" pitchFamily="2" charset="-78"/>
                <a:ea typeface="Amiri" pitchFamily="2" charset="-78"/>
                <a:cs typeface="Amiri" pitchFamily="2" charset="-78"/>
              </a:rPr>
              <a:t>أَسْتَرِيحُ بَعْدَ أَنْ أَعُودَ مِنَ المَدْرَسَةِ.   ·   تَتَمَرَّنُ بَعْدَ أَنْ تُكْمِلَ وَاجِبَهَا.</a:t>
            </a:r>
            <a:endParaRPr lang="ar-SA" sz="2000" dirty="0"/>
          </a:p>
        </p:txBody>
      </p:sp>
      <p:sp>
        <p:nvSpPr>
          <p:cNvPr id="25" name="Shape 22"/>
          <p:cNvSpPr/>
          <p:nvPr/>
        </p:nvSpPr>
        <p:spPr>
          <a:xfrm>
            <a:off x="457200" y="4123944"/>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Text 23"/>
          <p:cNvSpPr txBox="1"/>
          <p:nvPr/>
        </p:nvSpPr>
        <p:spPr>
          <a:xfrm>
            <a:off x="640080" y="4197096"/>
            <a:ext cx="3566160" cy="514350"/>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3. Remove final </a:t>
            </a:r>
            <a:pPr algn="l" indent="0" marL="0">
              <a:buNone/>
            </a:pPr>
            <a:r>
              <a:rPr lang="ar-SA" altLang="en-US" sz="1650" b="1" dirty="0">
                <a:solidFill>
                  <a:srgbClr val="1B3B6F"/>
                </a:solidFill>
                <a:latin typeface="Amiri" pitchFamily="2" charset="-78"/>
                <a:ea typeface="Amiri" pitchFamily="2" charset="-78"/>
                <a:cs typeface="Amiri" pitchFamily="2" charset="-78"/>
              </a:rPr>
              <a:t>ن</a:t>
            </a:r>
            <a:pPr algn="l" indent="0" marL="0">
              <a:buNone/>
            </a:pPr>
            <a:r>
              <a:rPr lang="en-US" sz="1250" b="1" dirty="0">
                <a:solidFill>
                  <a:srgbClr val="1B3B6F"/>
                </a:solidFill>
                <a:latin typeface="Calibri" pitchFamily="34" charset="0"/>
                <a:cs typeface="Amiri" pitchFamily="2" charset="-78"/>
              </a:rPr>
              <a:t> from the five verbs after </a:t>
            </a:r>
            <a:pPr algn="l" indent="0" marL="0">
              <a:buNone/>
            </a:pPr>
            <a:r>
              <a:rPr lang="ar-SA" altLang="en-US" sz="1650" b="1" dirty="0">
                <a:solidFill>
                  <a:srgbClr val="1B3B6F"/>
                </a:solidFill>
                <a:latin typeface="Amiri" pitchFamily="2" charset="-78"/>
                <a:ea typeface="Amiri" pitchFamily="2" charset="-78"/>
                <a:cs typeface="Amiri" pitchFamily="2" charset="-78"/>
              </a:rPr>
              <a:t>أَنْ</a:t>
            </a:r>
            <a:endParaRPr lang="en-US" sz="1250" dirty="0"/>
          </a:p>
        </p:txBody>
      </p:sp>
      <p:sp>
        <p:nvSpPr>
          <p:cNvPr id="27" name="Text 24"/>
          <p:cNvSpPr txBox="1"/>
          <p:nvPr/>
        </p:nvSpPr>
        <p:spPr>
          <a:xfrm>
            <a:off x="640080" y="4658868"/>
            <a:ext cx="3566160" cy="432054"/>
          </a:xfrm>
          <a:prstGeom prst="rect">
            <a:avLst/>
          </a:prstGeom>
          <a:noFill/>
          <a:ln/>
        </p:spPr>
        <p:txBody>
          <a:bodyPr wrap="square" lIns="0" tIns="0" rIns="0" bIns="0" rtlCol="0" anchor="ctr"/>
          <a:lstStyle/>
          <a:p>
            <a:pPr rtl="1" algn="r" indent="0" marL="0">
              <a:buNone/>
            </a:pPr>
            <a:r>
              <a:rPr lang="ar-SA" altLang="en-US" sz="1350" dirty="0">
                <a:solidFill>
                  <a:srgbClr val="5A6472"/>
                </a:solidFill>
                <a:latin typeface="Amiri" pitchFamily="2" charset="-78"/>
                <a:ea typeface="Amiri" pitchFamily="2" charset="-78"/>
                <a:cs typeface="Amiri" pitchFamily="2" charset="-78"/>
              </a:rPr>
              <a:t>تَذْهَبُونَ ← أَنْ تَذْهَبُوا</a:t>
            </a:r>
            <a:endParaRPr lang="ar-SA" sz="1350" dirty="0"/>
          </a:p>
        </p:txBody>
      </p:sp>
      <p:sp>
        <p:nvSpPr>
          <p:cNvPr id="28" name="Text 25"/>
          <p:cNvSpPr txBox="1"/>
          <p:nvPr/>
        </p:nvSpPr>
        <p:spPr>
          <a:xfrm>
            <a:off x="4297680" y="4160520"/>
            <a:ext cx="7269480" cy="955548"/>
          </a:xfrm>
          <a:prstGeom prst="rect">
            <a:avLst/>
          </a:prstGeom>
          <a:noFill/>
          <a:ln/>
        </p:spPr>
        <p:txBody>
          <a:bodyPr wrap="square" lIns="0" tIns="0" rIns="0" bIns="0" rtlCol="0" anchor="ctr"/>
          <a:lstStyle/>
          <a:p>
            <a:pPr rtl="1" algn="r" indent="0" marL="0">
              <a:buNone/>
            </a:pPr>
            <a:r>
              <a:rPr lang="ar-SA" altLang="en-US" sz="2000" b="1" dirty="0">
                <a:solidFill>
                  <a:srgbClr val="1F2A37"/>
                </a:solidFill>
                <a:latin typeface="Amiri" pitchFamily="2" charset="-78"/>
                <a:ea typeface="Amiri" pitchFamily="2" charset="-78"/>
                <a:cs typeface="Amiri" pitchFamily="2" charset="-78"/>
              </a:rPr>
              <a:t>قَبْلَ أَنْ تَذْهَبُوا إِلَى المَدْرَسَةِ.   ·   بَعْدَ أَنْ تُكْمِلِي وَاجِبَكِ.   ·   قَبْلَ أَنْ يَنَامَا.</a:t>
            </a:r>
            <a:endParaRPr lang="ar-SA" sz="2000" dirty="0"/>
          </a:p>
        </p:txBody>
      </p:sp>
      <p:sp>
        <p:nvSpPr>
          <p:cNvPr id="29" name="Shape 26"/>
          <p:cNvSpPr/>
          <p:nvPr/>
        </p:nvSpPr>
        <p:spPr>
          <a:xfrm>
            <a:off x="457200" y="5280660"/>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Text 27"/>
          <p:cNvSpPr txBox="1"/>
          <p:nvPr/>
        </p:nvSpPr>
        <p:spPr>
          <a:xfrm>
            <a:off x="640080" y="5353812"/>
            <a:ext cx="3566160" cy="514350"/>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4. Use a noun after </a:t>
            </a:r>
            <a:pPr algn="l" indent="0" marL="0">
              <a:buNone/>
            </a:pPr>
            <a:r>
              <a:rPr lang="ar-SA" altLang="en-US" sz="1650" b="1" dirty="0">
                <a:solidFill>
                  <a:srgbClr val="1B3B6F"/>
                </a:solidFill>
                <a:latin typeface="Amiri" pitchFamily="2" charset="-78"/>
                <a:ea typeface="Amiri" pitchFamily="2" charset="-78"/>
                <a:cs typeface="Amiri" pitchFamily="2" charset="-78"/>
              </a:rPr>
              <a:t>قَبْلَ / بَعْدَ</a:t>
            </a:r>
            <a:pPr algn="l" indent="0" marL="0">
              <a:buNone/>
            </a:pPr>
            <a:r>
              <a:rPr lang="en-US" sz="1250" b="1" dirty="0">
                <a:solidFill>
                  <a:srgbClr val="1B3B6F"/>
                </a:solidFill>
                <a:latin typeface="Calibri" pitchFamily="34" charset="0"/>
                <a:cs typeface="Amiri" pitchFamily="2" charset="-78"/>
              </a:rPr>
              <a:t> without </a:t>
            </a:r>
            <a:pPr algn="l" indent="0" marL="0">
              <a:buNone/>
            </a:pPr>
            <a:r>
              <a:rPr lang="ar-SA" altLang="en-US" sz="1650" b="1" dirty="0">
                <a:solidFill>
                  <a:srgbClr val="1B3B6F"/>
                </a:solidFill>
                <a:latin typeface="Amiri" pitchFamily="2" charset="-78"/>
                <a:ea typeface="Amiri" pitchFamily="2" charset="-78"/>
                <a:cs typeface="Amiri" pitchFamily="2" charset="-78"/>
              </a:rPr>
              <a:t>أَنْ</a:t>
            </a:r>
            <a:endParaRPr lang="en-US" sz="1250" dirty="0"/>
          </a:p>
        </p:txBody>
      </p:sp>
      <p:sp>
        <p:nvSpPr>
          <p:cNvPr id="31" name="Text 28"/>
          <p:cNvSpPr txBox="1"/>
          <p:nvPr/>
        </p:nvSpPr>
        <p:spPr>
          <a:xfrm>
            <a:off x="640080" y="5815584"/>
            <a:ext cx="3566160" cy="432054"/>
          </a:xfrm>
          <a:prstGeom prst="rect">
            <a:avLst/>
          </a:prstGeom>
          <a:noFill/>
          <a:ln/>
        </p:spPr>
        <p:txBody>
          <a:bodyPr wrap="square" lIns="0" tIns="0" rIns="0" bIns="0" rtlCol="0" anchor="ctr"/>
          <a:lstStyle/>
          <a:p>
            <a:pPr rtl="1" algn="r" indent="0" marL="0">
              <a:buNone/>
            </a:pPr>
            <a:r>
              <a:rPr lang="ar-SA" altLang="en-US" sz="1350" dirty="0">
                <a:solidFill>
                  <a:srgbClr val="5A6472"/>
                </a:solidFill>
                <a:latin typeface="Amiri" pitchFamily="2" charset="-78"/>
                <a:ea typeface="Amiri" pitchFamily="2" charset="-78"/>
                <a:cs typeface="Amiri" pitchFamily="2" charset="-78"/>
              </a:rPr>
              <a:t>قَبْلَ + اِسْمٍ · بَعْدَ + اِسْمٍ</a:t>
            </a:r>
            <a:endParaRPr lang="ar-SA" sz="1350" dirty="0"/>
          </a:p>
        </p:txBody>
      </p:sp>
      <p:sp>
        <p:nvSpPr>
          <p:cNvPr id="32" name="Text 29"/>
          <p:cNvSpPr txBox="1"/>
          <p:nvPr/>
        </p:nvSpPr>
        <p:spPr>
          <a:xfrm>
            <a:off x="4297680" y="5317236"/>
            <a:ext cx="7269480" cy="955548"/>
          </a:xfrm>
          <a:prstGeom prst="rect">
            <a:avLst/>
          </a:prstGeom>
          <a:noFill/>
          <a:ln/>
        </p:spPr>
        <p:txBody>
          <a:bodyPr wrap="square" lIns="0" tIns="0" rIns="0" bIns="0" rtlCol="0" anchor="ctr"/>
          <a:lstStyle/>
          <a:p>
            <a:pPr rtl="1" algn="r" indent="0" marL="0">
              <a:buNone/>
            </a:pPr>
            <a:r>
              <a:rPr lang="ar-SA" altLang="en-US" sz="2000" b="1" dirty="0">
                <a:solidFill>
                  <a:srgbClr val="1F2A37"/>
                </a:solidFill>
                <a:latin typeface="Amiri" pitchFamily="2" charset="-78"/>
                <a:ea typeface="Amiri" pitchFamily="2" charset="-78"/>
                <a:cs typeface="Amiri" pitchFamily="2" charset="-78"/>
              </a:rPr>
              <a:t>قَبْلَ الإِفْطَارِ أَشْرَبُ المَاءَ.   ·   بَعْدَ المَدْرَسَةِ أَذْهَبُ إِلَى النَّادِي.</a:t>
            </a:r>
            <a:endParaRPr lang="ar-SA" sz="2000" dirty="0"/>
          </a:p>
        </p:txBody>
      </p:sp>
      <p:sp>
        <p:nvSpPr>
          <p:cNvPr id="33" name="Text 3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16 / 46</a:t>
            </a:r>
            <a:endParaRPr lang="en-US" sz="8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D1-L04 · Before and After</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CHECK FOR UNDERSTANDING · HINGE QUESTIONS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Quick check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فَحْصٌ سَرِيعٌ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D1 · Daily Routine and Time · D1-L04</a:t>
            </a:r>
            <a:endParaRPr lang="en-US" sz="850" dirty="0"/>
          </a:p>
        </p:txBody>
      </p:sp>
      <p:sp>
        <p:nvSpPr>
          <p:cNvPr id="15" name="Shape 12"/>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accurate phrase.</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قَبْلَ أَنْ أَنَامُ</a:t>
            </a:r>
            <a:endParaRPr lang="ar-SA" sz="20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قَبْلَ أَنْ نَوْمِي</a:t>
            </a:r>
            <a:endParaRPr lang="ar-SA" sz="20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قَبْلَ أَنْ أَنَامَ</a:t>
            </a:r>
            <a:endParaRPr lang="ar-SA" sz="2050" dirty="0"/>
          </a:p>
        </p:txBody>
      </p:sp>
      <p:sp>
        <p:nvSpPr>
          <p:cNvPr id="28" name="Shape 25"/>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6313932"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6679692" y="1883664"/>
            <a:ext cx="2273473"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Complete:</a:t>
            </a:r>
            <a:endParaRPr lang="en-US" sz="1200" dirty="0"/>
          </a:p>
        </p:txBody>
      </p:sp>
      <p:sp>
        <p:nvSpPr>
          <p:cNvPr id="32" name="Text 29"/>
          <p:cNvSpPr txBox="1"/>
          <p:nvPr/>
        </p:nvSpPr>
        <p:spPr>
          <a:xfrm>
            <a:off x="9052011" y="1883664"/>
            <a:ext cx="2570013" cy="475488"/>
          </a:xfrm>
          <a:prstGeom prst="rect">
            <a:avLst/>
          </a:prstGeom>
          <a:noFill/>
          <a:ln/>
        </p:spPr>
        <p:txBody>
          <a:bodyPr wrap="square" lIns="0" tIns="0" rIns="0" bIns="0" rtlCol="0" anchor="ctr"/>
          <a:lstStyle/>
          <a:p>
            <a:pPr rtl="1" algn="r" indent="0" marL="0">
              <a:buNone/>
            </a:pPr>
            <a:r>
              <a:rPr lang="ar-SA" altLang="en-US" sz="1500" b="1" dirty="0">
                <a:solidFill>
                  <a:srgbClr val="1F2A37"/>
                </a:solidFill>
                <a:latin typeface="Amiri" pitchFamily="2" charset="-78"/>
                <a:ea typeface="Amiri" pitchFamily="2" charset="-78"/>
                <a:cs typeface="Amiri" pitchFamily="2" charset="-78"/>
              </a:rPr>
              <a:t>أَسْتَرِيحُ بَعْدَ أَنْ ___ مِنَ المَدْرَسَةِ.</a:t>
            </a:r>
            <a:endParaRPr lang="ar-SA" sz="1500" dirty="0"/>
          </a:p>
        </p:txBody>
      </p:sp>
      <p:sp>
        <p:nvSpPr>
          <p:cNvPr id="33" name="Shape 30"/>
          <p:cNvSpPr/>
          <p:nvPr/>
        </p:nvSpPr>
        <p:spPr>
          <a:xfrm>
            <a:off x="6368796" y="2532888"/>
            <a:ext cx="256032" cy="256032"/>
          </a:xfrm>
          <a:prstGeom prst="ellipse">
            <a:avLst/>
          </a:prstGeom>
          <a:solidFill>
            <a:srgbClr val="F4F1EA"/>
          </a:solidFill>
          <a:ln w="12700">
            <a:solidFill>
              <a:srgbClr val="F4F1EA"/>
            </a:solidFill>
            <a:prstDash val="solid"/>
          </a:ln>
        </p:spPr>
      </p:sp>
      <p:sp>
        <p:nvSpPr>
          <p:cNvPr id="34" name="Text 31"/>
          <p:cNvSpPr txBox="1"/>
          <p:nvPr/>
        </p:nvSpPr>
        <p:spPr>
          <a:xfrm>
            <a:off x="6368796"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5" name="Text 32"/>
          <p:cNvSpPr txBox="1"/>
          <p:nvPr/>
        </p:nvSpPr>
        <p:spPr>
          <a:xfrm>
            <a:off x="6697980"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أَعُودَ</a:t>
            </a:r>
            <a:endParaRPr lang="ar-SA" sz="2050" dirty="0"/>
          </a:p>
        </p:txBody>
      </p:sp>
      <p:sp>
        <p:nvSpPr>
          <p:cNvPr id="36" name="Shape 33"/>
          <p:cNvSpPr/>
          <p:nvPr/>
        </p:nvSpPr>
        <p:spPr>
          <a:xfrm>
            <a:off x="6368796" y="2990088"/>
            <a:ext cx="256032" cy="256032"/>
          </a:xfrm>
          <a:prstGeom prst="ellipse">
            <a:avLst/>
          </a:prstGeom>
          <a:solidFill>
            <a:srgbClr val="F4F1EA"/>
          </a:solidFill>
          <a:ln w="12700">
            <a:solidFill>
              <a:srgbClr val="F4F1EA"/>
            </a:solidFill>
            <a:prstDash val="solid"/>
          </a:ln>
        </p:spPr>
      </p:sp>
      <p:sp>
        <p:nvSpPr>
          <p:cNvPr id="37" name="Text 34"/>
          <p:cNvSpPr txBox="1"/>
          <p:nvPr/>
        </p:nvSpPr>
        <p:spPr>
          <a:xfrm>
            <a:off x="6368796"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8" name="Text 35"/>
          <p:cNvSpPr txBox="1"/>
          <p:nvPr/>
        </p:nvSpPr>
        <p:spPr>
          <a:xfrm>
            <a:off x="6697980"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أَعُودُ</a:t>
            </a:r>
            <a:endParaRPr lang="ar-SA" sz="2050" dirty="0"/>
          </a:p>
        </p:txBody>
      </p:sp>
      <p:sp>
        <p:nvSpPr>
          <p:cNvPr id="39" name="Shape 36"/>
          <p:cNvSpPr/>
          <p:nvPr/>
        </p:nvSpPr>
        <p:spPr>
          <a:xfrm>
            <a:off x="6368796" y="3447288"/>
            <a:ext cx="256032" cy="256032"/>
          </a:xfrm>
          <a:prstGeom prst="ellipse">
            <a:avLst/>
          </a:prstGeom>
          <a:solidFill>
            <a:srgbClr val="F4F1EA"/>
          </a:solidFill>
          <a:ln w="12700">
            <a:solidFill>
              <a:srgbClr val="F4F1EA"/>
            </a:solidFill>
            <a:prstDash val="solid"/>
          </a:ln>
        </p:spPr>
      </p:sp>
      <p:sp>
        <p:nvSpPr>
          <p:cNvPr id="40" name="Text 37"/>
          <p:cNvSpPr txBox="1"/>
          <p:nvPr/>
        </p:nvSpPr>
        <p:spPr>
          <a:xfrm>
            <a:off x="6368796"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1" name="Text 38"/>
          <p:cNvSpPr txBox="1"/>
          <p:nvPr/>
        </p:nvSpPr>
        <p:spPr>
          <a:xfrm>
            <a:off x="6697980" y="33467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عُدْ</a:t>
            </a:r>
            <a:endParaRPr lang="ar-SA" sz="2050" dirty="0"/>
          </a:p>
        </p:txBody>
      </p:sp>
      <p:sp>
        <p:nvSpPr>
          <p:cNvPr id="42" name="Shape 39"/>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3" name="Shape 40"/>
          <p:cNvSpPr/>
          <p:nvPr/>
        </p:nvSpPr>
        <p:spPr>
          <a:xfrm>
            <a:off x="585216" y="4288536"/>
            <a:ext cx="310896" cy="310896"/>
          </a:xfrm>
          <a:prstGeom prst="ellipse">
            <a:avLst/>
          </a:prstGeom>
          <a:solidFill>
            <a:srgbClr val="1B3B6F"/>
          </a:solidFill>
          <a:ln w="12700">
            <a:solidFill>
              <a:srgbClr val="1B3B6F"/>
            </a:solidFill>
            <a:prstDash val="solid"/>
          </a:ln>
        </p:spPr>
      </p:sp>
      <p:sp>
        <p:nvSpPr>
          <p:cNvPr id="44" name="Text 41"/>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5" name="Text 42"/>
          <p:cNvSpPr txBox="1"/>
          <p:nvPr/>
        </p:nvSpPr>
        <p:spPr>
          <a:xfrm>
            <a:off x="950976"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phrase needs no </a:t>
            </a:r>
            <a:pPr algn="l" indent="0" marL="0">
              <a:buNone/>
            </a:pPr>
            <a:r>
              <a:rPr lang="ar-SA" altLang="en-US" sz="1650" b="1" dirty="0">
                <a:solidFill>
                  <a:srgbClr val="1B3B6F"/>
                </a:solidFill>
                <a:latin typeface="Amiri" pitchFamily="2" charset="-78"/>
                <a:ea typeface="Amiri" pitchFamily="2" charset="-78"/>
                <a:cs typeface="Amiri" pitchFamily="2" charset="-78"/>
              </a:rPr>
              <a:t>أَنْ</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46" name="Shape 43"/>
          <p:cNvSpPr/>
          <p:nvPr/>
        </p:nvSpPr>
        <p:spPr>
          <a:xfrm>
            <a:off x="640080" y="4873752"/>
            <a:ext cx="256032" cy="256032"/>
          </a:xfrm>
          <a:prstGeom prst="ellipse">
            <a:avLst/>
          </a:prstGeom>
          <a:solidFill>
            <a:srgbClr val="F4F1EA"/>
          </a:solidFill>
          <a:ln w="12700">
            <a:solidFill>
              <a:srgbClr val="F4F1EA"/>
            </a:solidFill>
            <a:prstDash val="solid"/>
          </a:ln>
        </p:spPr>
      </p:sp>
      <p:sp>
        <p:nvSpPr>
          <p:cNvPr id="47" name="Text 44"/>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8" name="Text 45"/>
          <p:cNvSpPr txBox="1"/>
          <p:nvPr/>
        </p:nvSpPr>
        <p:spPr>
          <a:xfrm>
            <a:off x="969264" y="47731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بَعْدَ أَعُودُ</a:t>
            </a:r>
            <a:endParaRPr lang="ar-SA" sz="2050" dirty="0"/>
          </a:p>
        </p:txBody>
      </p:sp>
      <p:sp>
        <p:nvSpPr>
          <p:cNvPr id="49" name="Shape 46"/>
          <p:cNvSpPr/>
          <p:nvPr/>
        </p:nvSpPr>
        <p:spPr>
          <a:xfrm>
            <a:off x="640080" y="5330952"/>
            <a:ext cx="256032" cy="256032"/>
          </a:xfrm>
          <a:prstGeom prst="ellipse">
            <a:avLst/>
          </a:prstGeom>
          <a:solidFill>
            <a:srgbClr val="F4F1EA"/>
          </a:solidFill>
          <a:ln w="12700">
            <a:solidFill>
              <a:srgbClr val="F4F1EA"/>
            </a:solidFill>
            <a:prstDash val="solid"/>
          </a:ln>
        </p:spPr>
      </p:sp>
      <p:sp>
        <p:nvSpPr>
          <p:cNvPr id="50" name="Text 47"/>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1" name="Text 48"/>
          <p:cNvSpPr txBox="1"/>
          <p:nvPr/>
        </p:nvSpPr>
        <p:spPr>
          <a:xfrm>
            <a:off x="969264" y="52303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بَعْدَ المَدْرَسَةِ</a:t>
            </a:r>
            <a:endParaRPr lang="ar-SA" sz="2050" dirty="0"/>
          </a:p>
        </p:txBody>
      </p:sp>
      <p:sp>
        <p:nvSpPr>
          <p:cNvPr id="52" name="Shape 49"/>
          <p:cNvSpPr/>
          <p:nvPr/>
        </p:nvSpPr>
        <p:spPr>
          <a:xfrm>
            <a:off x="640080" y="5788152"/>
            <a:ext cx="256032" cy="256032"/>
          </a:xfrm>
          <a:prstGeom prst="ellipse">
            <a:avLst/>
          </a:prstGeom>
          <a:solidFill>
            <a:srgbClr val="F4F1EA"/>
          </a:solidFill>
          <a:ln w="12700">
            <a:solidFill>
              <a:srgbClr val="F4F1EA"/>
            </a:solidFill>
            <a:prstDash val="solid"/>
          </a:ln>
        </p:spPr>
      </p:sp>
      <p:sp>
        <p:nvSpPr>
          <p:cNvPr id="53" name="Text 50"/>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4" name="Text 51"/>
          <p:cNvSpPr txBox="1"/>
          <p:nvPr/>
        </p:nvSpPr>
        <p:spPr>
          <a:xfrm>
            <a:off x="969264" y="56875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بَعْدَ يَنْتَهِي</a:t>
            </a:r>
            <a:endParaRPr lang="ar-SA" sz="2050" dirty="0"/>
          </a:p>
        </p:txBody>
      </p:sp>
      <p:sp>
        <p:nvSpPr>
          <p:cNvPr id="55" name="Shape 52"/>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6" name="Shape 53"/>
          <p:cNvSpPr/>
          <p:nvPr/>
        </p:nvSpPr>
        <p:spPr>
          <a:xfrm>
            <a:off x="6313932" y="4288536"/>
            <a:ext cx="310896" cy="310896"/>
          </a:xfrm>
          <a:prstGeom prst="ellipse">
            <a:avLst/>
          </a:prstGeom>
          <a:solidFill>
            <a:srgbClr val="1B3B6F"/>
          </a:solidFill>
          <a:ln w="12700">
            <a:solidFill>
              <a:srgbClr val="1B3B6F"/>
            </a:solidFill>
            <a:prstDash val="solid"/>
          </a:ln>
        </p:spPr>
      </p:sp>
      <p:sp>
        <p:nvSpPr>
          <p:cNvPr id="57" name="Text 54"/>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8" name="Text 55"/>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plural form after </a:t>
            </a:r>
            <a:pPr algn="l" indent="0" marL="0">
              <a:buNone/>
            </a:pPr>
            <a:r>
              <a:rPr lang="ar-SA" altLang="en-US" sz="1650" b="1" dirty="0">
                <a:solidFill>
                  <a:srgbClr val="1B3B6F"/>
                </a:solidFill>
                <a:latin typeface="Amiri" pitchFamily="2" charset="-78"/>
                <a:ea typeface="Amiri" pitchFamily="2" charset="-78"/>
                <a:cs typeface="Amiri" pitchFamily="2" charset="-78"/>
              </a:rPr>
              <a:t>أَنْ</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59" name="Shape 56"/>
          <p:cNvSpPr/>
          <p:nvPr/>
        </p:nvSpPr>
        <p:spPr>
          <a:xfrm>
            <a:off x="6368796" y="4873752"/>
            <a:ext cx="256032" cy="256032"/>
          </a:xfrm>
          <a:prstGeom prst="ellipse">
            <a:avLst/>
          </a:prstGeom>
          <a:solidFill>
            <a:srgbClr val="F4F1EA"/>
          </a:solidFill>
          <a:ln w="12700">
            <a:solidFill>
              <a:srgbClr val="F4F1EA"/>
            </a:solidFill>
            <a:prstDash val="solid"/>
          </a:ln>
        </p:spPr>
      </p:sp>
      <p:sp>
        <p:nvSpPr>
          <p:cNvPr id="60" name="Text 57"/>
          <p:cNvSpPr txBox="1"/>
          <p:nvPr/>
        </p:nvSpPr>
        <p:spPr>
          <a:xfrm>
            <a:off x="6368796"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1" name="Text 58"/>
          <p:cNvSpPr txBox="1"/>
          <p:nvPr/>
        </p:nvSpPr>
        <p:spPr>
          <a:xfrm>
            <a:off x="6697980" y="47731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أَنْ تَذْهَبُوا</a:t>
            </a:r>
            <a:endParaRPr lang="ar-SA" sz="2050" dirty="0"/>
          </a:p>
        </p:txBody>
      </p:sp>
      <p:sp>
        <p:nvSpPr>
          <p:cNvPr id="62" name="Shape 59"/>
          <p:cNvSpPr/>
          <p:nvPr/>
        </p:nvSpPr>
        <p:spPr>
          <a:xfrm>
            <a:off x="6368796" y="5330952"/>
            <a:ext cx="256032" cy="256032"/>
          </a:xfrm>
          <a:prstGeom prst="ellipse">
            <a:avLst/>
          </a:prstGeom>
          <a:solidFill>
            <a:srgbClr val="F4F1EA"/>
          </a:solidFill>
          <a:ln w="12700">
            <a:solidFill>
              <a:srgbClr val="F4F1EA"/>
            </a:solidFill>
            <a:prstDash val="solid"/>
          </a:ln>
        </p:spPr>
      </p:sp>
      <p:sp>
        <p:nvSpPr>
          <p:cNvPr id="63" name="Text 60"/>
          <p:cNvSpPr txBox="1"/>
          <p:nvPr/>
        </p:nvSpPr>
        <p:spPr>
          <a:xfrm>
            <a:off x="6368796"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4" name="Text 61"/>
          <p:cNvSpPr txBox="1"/>
          <p:nvPr/>
        </p:nvSpPr>
        <p:spPr>
          <a:xfrm>
            <a:off x="6697980" y="52303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أَنْ تَذْهَبُونَ</a:t>
            </a:r>
            <a:endParaRPr lang="ar-SA" sz="2050" dirty="0"/>
          </a:p>
        </p:txBody>
      </p:sp>
      <p:sp>
        <p:nvSpPr>
          <p:cNvPr id="65" name="Shape 62"/>
          <p:cNvSpPr/>
          <p:nvPr/>
        </p:nvSpPr>
        <p:spPr>
          <a:xfrm>
            <a:off x="6368796" y="5788152"/>
            <a:ext cx="256032" cy="256032"/>
          </a:xfrm>
          <a:prstGeom prst="ellipse">
            <a:avLst/>
          </a:prstGeom>
          <a:solidFill>
            <a:srgbClr val="F4F1EA"/>
          </a:solidFill>
          <a:ln w="12700">
            <a:solidFill>
              <a:srgbClr val="F4F1EA"/>
            </a:solidFill>
            <a:prstDash val="solid"/>
          </a:ln>
        </p:spPr>
      </p:sp>
      <p:sp>
        <p:nvSpPr>
          <p:cNvPr id="66" name="Text 63"/>
          <p:cNvSpPr txBox="1"/>
          <p:nvPr/>
        </p:nvSpPr>
        <p:spPr>
          <a:xfrm>
            <a:off x="6368796"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7" name="Text 64"/>
          <p:cNvSpPr txBox="1"/>
          <p:nvPr/>
        </p:nvSpPr>
        <p:spPr>
          <a:xfrm>
            <a:off x="6697980" y="56875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أَنْ ذَهَبْتُمْ</a:t>
            </a:r>
            <a:endParaRPr lang="ar-SA" sz="2050" dirty="0"/>
          </a:p>
        </p:txBody>
      </p:sp>
      <p:sp>
        <p:nvSpPr>
          <p:cNvPr id="68" name="Text 6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17 / 46</a:t>
            </a:r>
            <a:endParaRPr lang="en-US" sz="8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D1-L04 · Before and After</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CHECK FOR UNDERSTANDING ·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Answers and reasons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الإِجَابَاتُ وَالتَّعْلِيلُ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D1 · Daily Routine and Time · D1-L04</a:t>
            </a:r>
            <a:endParaRPr lang="en-US" sz="850" dirty="0"/>
          </a:p>
        </p:txBody>
      </p:sp>
      <p:sp>
        <p:nvSpPr>
          <p:cNvPr id="15" name="Shape 12"/>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accurate phrase.</a:t>
            </a:r>
            <a:endParaRPr lang="en-US" sz="1250" dirty="0"/>
          </a:p>
        </p:txBody>
      </p:sp>
      <p:sp>
        <p:nvSpPr>
          <p:cNvPr id="19" name="Shape 16"/>
          <p:cNvSpPr/>
          <p:nvPr/>
        </p:nvSpPr>
        <p:spPr>
          <a:xfrm>
            <a:off x="640080" y="2490216"/>
            <a:ext cx="256032" cy="256032"/>
          </a:xfrm>
          <a:prstGeom prst="ellipse">
            <a:avLst/>
          </a:prstGeom>
          <a:solidFill>
            <a:srgbClr val="C9CED6"/>
          </a:solidFill>
          <a:ln w="12700">
            <a:solidFill>
              <a:srgbClr val="C9CED6"/>
            </a:solidFill>
            <a:prstDash val="solid"/>
          </a:ln>
        </p:spPr>
      </p:sp>
      <p:sp>
        <p:nvSpPr>
          <p:cNvPr id="20" name="Text 17"/>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قَبْلَ أَنْ أَنَامُ</a:t>
            </a:r>
            <a:endParaRPr lang="ar-SA" sz="1700" dirty="0"/>
          </a:p>
        </p:txBody>
      </p:sp>
      <p:sp>
        <p:nvSpPr>
          <p:cNvPr id="22" name="Shape 19"/>
          <p:cNvSpPr/>
          <p:nvPr/>
        </p:nvSpPr>
        <p:spPr>
          <a:xfrm>
            <a:off x="640080" y="2862072"/>
            <a:ext cx="256032" cy="256032"/>
          </a:xfrm>
          <a:prstGeom prst="ellipse">
            <a:avLst/>
          </a:prstGeom>
          <a:solidFill>
            <a:srgbClr val="C9CED6"/>
          </a:solidFill>
          <a:ln w="12700">
            <a:solidFill>
              <a:srgbClr val="C9CED6"/>
            </a:solidFill>
            <a:prstDash val="solid"/>
          </a:ln>
        </p:spPr>
      </p:sp>
      <p:sp>
        <p:nvSpPr>
          <p:cNvPr id="23" name="Text 20"/>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0416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قَبْلَ أَنْ نَوْمِي</a:t>
            </a:r>
            <a:endParaRPr lang="ar-SA" sz="1700" dirty="0"/>
          </a:p>
        </p:txBody>
      </p:sp>
      <p:sp>
        <p:nvSpPr>
          <p:cNvPr id="25" name="Shape 22"/>
          <p:cNvSpPr/>
          <p:nvPr/>
        </p:nvSpPr>
        <p:spPr>
          <a:xfrm>
            <a:off x="548640" y="3197352"/>
            <a:ext cx="5362956" cy="347472"/>
          </a:xfrm>
          <a:prstGeom prst="roundRect">
            <a:avLst>
              <a:gd name="adj" fmla="val 15789"/>
            </a:avLst>
          </a:prstGeom>
          <a:solidFill>
            <a:srgbClr val="E6F4EC"/>
          </a:solidFill>
          <a:ln w="9525">
            <a:solidFill>
              <a:srgbClr val="2E8B57"/>
            </a:solidFill>
            <a:prstDash val="solid"/>
          </a:ln>
        </p:spPr>
      </p:sp>
      <p:sp>
        <p:nvSpPr>
          <p:cNvPr id="26" name="Shape 23"/>
          <p:cNvSpPr/>
          <p:nvPr/>
        </p:nvSpPr>
        <p:spPr>
          <a:xfrm>
            <a:off x="640080" y="3233928"/>
            <a:ext cx="256032" cy="256032"/>
          </a:xfrm>
          <a:prstGeom prst="ellipse">
            <a:avLst/>
          </a:prstGeom>
          <a:solidFill>
            <a:srgbClr val="2E8B57"/>
          </a:solidFill>
          <a:ln w="12700">
            <a:solidFill>
              <a:srgbClr val="2E8B57"/>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28" name="Text 25"/>
          <p:cNvSpPr txBox="1"/>
          <p:nvPr/>
        </p:nvSpPr>
        <p:spPr>
          <a:xfrm>
            <a:off x="969264" y="3176016"/>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قَبْلَ أَنْ أَنَامَ</a:t>
            </a:r>
            <a:endParaRPr lang="ar-SA" sz="1700" dirty="0"/>
          </a:p>
        </p:txBody>
      </p:sp>
      <p:sp>
        <p:nvSpPr>
          <p:cNvPr id="29" name="Text 26"/>
          <p:cNvSpPr txBox="1"/>
          <p:nvPr/>
        </p:nvSpPr>
        <p:spPr>
          <a:xfrm>
            <a:off x="585216" y="3566160"/>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The final ḍamma changes after </a:t>
            </a:r>
            <a:pPr algn="l" indent="0" marL="0">
              <a:buNone/>
            </a:pPr>
            <a:r>
              <a:rPr lang="ar-SA" altLang="en-US" sz="1350" dirty="0">
                <a:solidFill>
                  <a:srgbClr val="8A6D1E"/>
                </a:solidFill>
                <a:latin typeface="Amiri" pitchFamily="2" charset="-78"/>
                <a:ea typeface="Amiri" pitchFamily="2" charset="-78"/>
                <a:cs typeface="Amiri" pitchFamily="2" charset="-78"/>
              </a:rPr>
              <a:t>أَنْ</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30" name="Shape 27"/>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313932"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6679692" y="1883664"/>
            <a:ext cx="2273473"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Complete:</a:t>
            </a:r>
            <a:endParaRPr lang="en-US" sz="1200" dirty="0"/>
          </a:p>
        </p:txBody>
      </p:sp>
      <p:sp>
        <p:nvSpPr>
          <p:cNvPr id="34" name="Text 31"/>
          <p:cNvSpPr txBox="1"/>
          <p:nvPr/>
        </p:nvSpPr>
        <p:spPr>
          <a:xfrm>
            <a:off x="9052011" y="1883664"/>
            <a:ext cx="2570013" cy="475488"/>
          </a:xfrm>
          <a:prstGeom prst="rect">
            <a:avLst/>
          </a:prstGeom>
          <a:noFill/>
          <a:ln/>
        </p:spPr>
        <p:txBody>
          <a:bodyPr wrap="square" lIns="0" tIns="0" rIns="0" bIns="0" rtlCol="0" anchor="ctr"/>
          <a:lstStyle/>
          <a:p>
            <a:pPr rtl="1" algn="r" indent="0" marL="0">
              <a:buNone/>
            </a:pPr>
            <a:r>
              <a:rPr lang="ar-SA" altLang="en-US" sz="1500" b="1" dirty="0">
                <a:solidFill>
                  <a:srgbClr val="1F2A37"/>
                </a:solidFill>
                <a:latin typeface="Amiri" pitchFamily="2" charset="-78"/>
                <a:ea typeface="Amiri" pitchFamily="2" charset="-78"/>
                <a:cs typeface="Amiri" pitchFamily="2" charset="-78"/>
              </a:rPr>
              <a:t>أَسْتَرِيحُ بَعْدَ أَنْ ___ مِنَ المَدْرَسَةِ.</a:t>
            </a:r>
            <a:endParaRPr lang="ar-SA" sz="1500" dirty="0"/>
          </a:p>
        </p:txBody>
      </p:sp>
      <p:sp>
        <p:nvSpPr>
          <p:cNvPr id="35" name="Shape 32"/>
          <p:cNvSpPr/>
          <p:nvPr/>
        </p:nvSpPr>
        <p:spPr>
          <a:xfrm>
            <a:off x="6277356" y="2453640"/>
            <a:ext cx="5362956" cy="347472"/>
          </a:xfrm>
          <a:prstGeom prst="roundRect">
            <a:avLst>
              <a:gd name="adj" fmla="val 15789"/>
            </a:avLst>
          </a:prstGeom>
          <a:solidFill>
            <a:srgbClr val="E6F4EC"/>
          </a:solidFill>
          <a:ln w="9525">
            <a:solidFill>
              <a:srgbClr val="2E8B57"/>
            </a:solidFill>
            <a:prstDash val="solid"/>
          </a:ln>
        </p:spPr>
      </p:sp>
      <p:sp>
        <p:nvSpPr>
          <p:cNvPr id="36" name="Shape 33"/>
          <p:cNvSpPr/>
          <p:nvPr/>
        </p:nvSpPr>
        <p:spPr>
          <a:xfrm>
            <a:off x="6368796" y="2490216"/>
            <a:ext cx="256032" cy="256032"/>
          </a:xfrm>
          <a:prstGeom prst="ellipse">
            <a:avLst/>
          </a:prstGeom>
          <a:solidFill>
            <a:srgbClr val="2E8B57"/>
          </a:solidFill>
          <a:ln w="12700">
            <a:solidFill>
              <a:srgbClr val="2E8B57"/>
            </a:solidFill>
            <a:prstDash val="solid"/>
          </a:ln>
        </p:spPr>
      </p:sp>
      <p:sp>
        <p:nvSpPr>
          <p:cNvPr id="37" name="Text 34"/>
          <p:cNvSpPr txBox="1"/>
          <p:nvPr/>
        </p:nvSpPr>
        <p:spPr>
          <a:xfrm>
            <a:off x="6368796"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38" name="Text 35"/>
          <p:cNvSpPr txBox="1"/>
          <p:nvPr/>
        </p:nvSpPr>
        <p:spPr>
          <a:xfrm>
            <a:off x="6697980" y="2432304"/>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أَعُودَ</a:t>
            </a:r>
            <a:endParaRPr lang="ar-SA" sz="1700" dirty="0"/>
          </a:p>
        </p:txBody>
      </p:sp>
      <p:sp>
        <p:nvSpPr>
          <p:cNvPr id="39" name="Shape 36"/>
          <p:cNvSpPr/>
          <p:nvPr/>
        </p:nvSpPr>
        <p:spPr>
          <a:xfrm>
            <a:off x="6368796" y="2862072"/>
            <a:ext cx="256032" cy="256032"/>
          </a:xfrm>
          <a:prstGeom prst="ellipse">
            <a:avLst/>
          </a:prstGeom>
          <a:solidFill>
            <a:srgbClr val="C9CED6"/>
          </a:solidFill>
          <a:ln w="12700">
            <a:solidFill>
              <a:srgbClr val="C9CED6"/>
            </a:solidFill>
            <a:prstDash val="solid"/>
          </a:ln>
        </p:spPr>
      </p:sp>
      <p:sp>
        <p:nvSpPr>
          <p:cNvPr id="40" name="Text 37"/>
          <p:cNvSpPr txBox="1"/>
          <p:nvPr/>
        </p:nvSpPr>
        <p:spPr>
          <a:xfrm>
            <a:off x="6368796"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1" name="Text 38"/>
          <p:cNvSpPr txBox="1"/>
          <p:nvPr/>
        </p:nvSpPr>
        <p:spPr>
          <a:xfrm>
            <a:off x="6697980" y="280416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أَعُودُ</a:t>
            </a:r>
            <a:endParaRPr lang="ar-SA" sz="1700" dirty="0"/>
          </a:p>
        </p:txBody>
      </p:sp>
      <p:sp>
        <p:nvSpPr>
          <p:cNvPr id="42" name="Shape 39"/>
          <p:cNvSpPr/>
          <p:nvPr/>
        </p:nvSpPr>
        <p:spPr>
          <a:xfrm>
            <a:off x="6368796" y="3233928"/>
            <a:ext cx="256032" cy="256032"/>
          </a:xfrm>
          <a:prstGeom prst="ellipse">
            <a:avLst/>
          </a:prstGeom>
          <a:solidFill>
            <a:srgbClr val="C9CED6"/>
          </a:solidFill>
          <a:ln w="12700">
            <a:solidFill>
              <a:srgbClr val="C9CED6"/>
            </a:solidFill>
            <a:prstDash val="solid"/>
          </a:ln>
        </p:spPr>
      </p:sp>
      <p:sp>
        <p:nvSpPr>
          <p:cNvPr id="43" name="Text 40"/>
          <p:cNvSpPr txBox="1"/>
          <p:nvPr/>
        </p:nvSpPr>
        <p:spPr>
          <a:xfrm>
            <a:off x="6368796"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4" name="Text 41"/>
          <p:cNvSpPr txBox="1"/>
          <p:nvPr/>
        </p:nvSpPr>
        <p:spPr>
          <a:xfrm>
            <a:off x="6697980" y="3176016"/>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عُدْ</a:t>
            </a:r>
            <a:endParaRPr lang="ar-SA" sz="1700" dirty="0"/>
          </a:p>
        </p:txBody>
      </p:sp>
      <p:sp>
        <p:nvSpPr>
          <p:cNvPr id="45" name="Text 42"/>
          <p:cNvSpPr txBox="1"/>
          <p:nvPr/>
        </p:nvSpPr>
        <p:spPr>
          <a:xfrm>
            <a:off x="6313932" y="3566160"/>
            <a:ext cx="5289804"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أَنْ</a:t>
            </a:r>
            <a:pPr algn="l" indent="0" marL="0">
              <a:buNone/>
            </a:pPr>
            <a:r>
              <a:rPr lang="en-US" sz="1050" i="1" dirty="0">
                <a:solidFill>
                  <a:srgbClr val="8A6D1E"/>
                </a:solidFill>
                <a:latin typeface="Calibri" pitchFamily="34" charset="0"/>
                <a:cs typeface="Amiri" pitchFamily="2" charset="-78"/>
              </a:rPr>
              <a:t> requires the subjunctive </a:t>
            </a:r>
            <a:pPr algn="l" indent="0" marL="0">
              <a:buNone/>
            </a:pPr>
            <a:r>
              <a:rPr lang="ar-SA" altLang="en-US" sz="1350" dirty="0">
                <a:solidFill>
                  <a:srgbClr val="8A6D1E"/>
                </a:solidFill>
                <a:latin typeface="Amiri" pitchFamily="2" charset="-78"/>
                <a:ea typeface="Amiri" pitchFamily="2" charset="-78"/>
                <a:cs typeface="Amiri" pitchFamily="2" charset="-78"/>
              </a:rPr>
              <a:t>أَعُودَ</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46" name="Shape 43"/>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7" name="Shape 44"/>
          <p:cNvSpPr/>
          <p:nvPr/>
        </p:nvSpPr>
        <p:spPr>
          <a:xfrm>
            <a:off x="585216" y="4288536"/>
            <a:ext cx="310896" cy="310896"/>
          </a:xfrm>
          <a:prstGeom prst="ellipse">
            <a:avLst/>
          </a:prstGeom>
          <a:solidFill>
            <a:srgbClr val="1B3B6F"/>
          </a:solidFill>
          <a:ln w="12700">
            <a:solidFill>
              <a:srgbClr val="1B3B6F"/>
            </a:solidFill>
            <a:prstDash val="solid"/>
          </a:ln>
        </p:spPr>
      </p:sp>
      <p:sp>
        <p:nvSpPr>
          <p:cNvPr id="48" name="Text 45"/>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9" name="Text 46"/>
          <p:cNvSpPr txBox="1"/>
          <p:nvPr/>
        </p:nvSpPr>
        <p:spPr>
          <a:xfrm>
            <a:off x="950976"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phrase needs no </a:t>
            </a:r>
            <a:pPr algn="l" indent="0" marL="0">
              <a:buNone/>
            </a:pPr>
            <a:r>
              <a:rPr lang="ar-SA" altLang="en-US" sz="1650" b="1" dirty="0">
                <a:solidFill>
                  <a:srgbClr val="1B3B6F"/>
                </a:solidFill>
                <a:latin typeface="Amiri" pitchFamily="2" charset="-78"/>
                <a:ea typeface="Amiri" pitchFamily="2" charset="-78"/>
                <a:cs typeface="Amiri" pitchFamily="2" charset="-78"/>
              </a:rPr>
              <a:t>أَنْ</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50" name="Shape 47"/>
          <p:cNvSpPr/>
          <p:nvPr/>
        </p:nvSpPr>
        <p:spPr>
          <a:xfrm>
            <a:off x="640080" y="4831080"/>
            <a:ext cx="256032" cy="256032"/>
          </a:xfrm>
          <a:prstGeom prst="ellipse">
            <a:avLst/>
          </a:prstGeom>
          <a:solidFill>
            <a:srgbClr val="C9CED6"/>
          </a:solidFill>
          <a:ln w="12700">
            <a:solidFill>
              <a:srgbClr val="C9CED6"/>
            </a:solidFill>
            <a:prstDash val="solid"/>
          </a:ln>
        </p:spPr>
      </p:sp>
      <p:sp>
        <p:nvSpPr>
          <p:cNvPr id="51" name="Text 48"/>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2" name="Text 49"/>
          <p:cNvSpPr txBox="1"/>
          <p:nvPr/>
        </p:nvSpPr>
        <p:spPr>
          <a:xfrm>
            <a:off x="969264" y="4773168"/>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بَعْدَ أَعُودُ</a:t>
            </a:r>
            <a:endParaRPr lang="ar-SA" sz="1700" dirty="0"/>
          </a:p>
        </p:txBody>
      </p:sp>
      <p:sp>
        <p:nvSpPr>
          <p:cNvPr id="53" name="Shape 50"/>
          <p:cNvSpPr/>
          <p:nvPr/>
        </p:nvSpPr>
        <p:spPr>
          <a:xfrm>
            <a:off x="548640" y="5166360"/>
            <a:ext cx="5362956" cy="347472"/>
          </a:xfrm>
          <a:prstGeom prst="roundRect">
            <a:avLst>
              <a:gd name="adj" fmla="val 15789"/>
            </a:avLst>
          </a:prstGeom>
          <a:solidFill>
            <a:srgbClr val="E6F4EC"/>
          </a:solidFill>
          <a:ln w="9525">
            <a:solidFill>
              <a:srgbClr val="2E8B57"/>
            </a:solidFill>
            <a:prstDash val="solid"/>
          </a:ln>
        </p:spPr>
      </p:sp>
      <p:sp>
        <p:nvSpPr>
          <p:cNvPr id="54" name="Shape 51"/>
          <p:cNvSpPr/>
          <p:nvPr/>
        </p:nvSpPr>
        <p:spPr>
          <a:xfrm>
            <a:off x="640080" y="5202936"/>
            <a:ext cx="256032" cy="256032"/>
          </a:xfrm>
          <a:prstGeom prst="ellipse">
            <a:avLst/>
          </a:prstGeom>
          <a:solidFill>
            <a:srgbClr val="2E8B57"/>
          </a:solidFill>
          <a:ln w="12700">
            <a:solidFill>
              <a:srgbClr val="2E8B57"/>
            </a:solidFill>
            <a:prstDash val="solid"/>
          </a:ln>
        </p:spPr>
      </p:sp>
      <p:sp>
        <p:nvSpPr>
          <p:cNvPr id="55" name="Text 52"/>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56" name="Text 53"/>
          <p:cNvSpPr txBox="1"/>
          <p:nvPr/>
        </p:nvSpPr>
        <p:spPr>
          <a:xfrm>
            <a:off x="969264" y="5145024"/>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بَعْدَ المَدْرَسَةِ</a:t>
            </a:r>
            <a:endParaRPr lang="ar-SA" sz="1700" dirty="0"/>
          </a:p>
        </p:txBody>
      </p:sp>
      <p:sp>
        <p:nvSpPr>
          <p:cNvPr id="57" name="Shape 54"/>
          <p:cNvSpPr/>
          <p:nvPr/>
        </p:nvSpPr>
        <p:spPr>
          <a:xfrm>
            <a:off x="640080" y="5574792"/>
            <a:ext cx="256032" cy="256032"/>
          </a:xfrm>
          <a:prstGeom prst="ellipse">
            <a:avLst/>
          </a:prstGeom>
          <a:solidFill>
            <a:srgbClr val="C9CED6"/>
          </a:solidFill>
          <a:ln w="12700">
            <a:solidFill>
              <a:srgbClr val="C9CED6"/>
            </a:solidFill>
            <a:prstDash val="solid"/>
          </a:ln>
        </p:spPr>
      </p:sp>
      <p:sp>
        <p:nvSpPr>
          <p:cNvPr id="58" name="Text 55"/>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9" name="Text 56"/>
          <p:cNvSpPr txBox="1"/>
          <p:nvPr/>
        </p:nvSpPr>
        <p:spPr>
          <a:xfrm>
            <a:off x="969264" y="551688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بَعْدَ يَنْتَهِي</a:t>
            </a:r>
            <a:endParaRPr lang="ar-SA" sz="1700" dirty="0"/>
          </a:p>
        </p:txBody>
      </p:sp>
      <p:sp>
        <p:nvSpPr>
          <p:cNvPr id="60" name="Text 57"/>
          <p:cNvSpPr txBox="1"/>
          <p:nvPr/>
        </p:nvSpPr>
        <p:spPr>
          <a:xfrm>
            <a:off x="585216" y="5907024"/>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A noun follows </a:t>
            </a:r>
            <a:pPr algn="l" indent="0" marL="0">
              <a:buNone/>
            </a:pPr>
            <a:r>
              <a:rPr lang="ar-SA" altLang="en-US" sz="1350" dirty="0">
                <a:solidFill>
                  <a:srgbClr val="8A6D1E"/>
                </a:solidFill>
                <a:latin typeface="Amiri" pitchFamily="2" charset="-78"/>
                <a:ea typeface="Amiri" pitchFamily="2" charset="-78"/>
                <a:cs typeface="Amiri" pitchFamily="2" charset="-78"/>
              </a:rPr>
              <a:t>بَعْدَ</a:t>
            </a:r>
            <a:pPr algn="l" indent="0" marL="0">
              <a:buNone/>
            </a:pPr>
            <a:r>
              <a:rPr lang="en-US" sz="1050" i="1" dirty="0">
                <a:solidFill>
                  <a:srgbClr val="8A6D1E"/>
                </a:solidFill>
                <a:latin typeface="Calibri" pitchFamily="34" charset="0"/>
                <a:cs typeface="Amiri" pitchFamily="2" charset="-78"/>
              </a:rPr>
              <a:t> directly.</a:t>
            </a:r>
            <a:endParaRPr lang="en-US" sz="1050" dirty="0"/>
          </a:p>
        </p:txBody>
      </p:sp>
      <p:sp>
        <p:nvSpPr>
          <p:cNvPr id="61" name="Shape 58"/>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2" name="Shape 59"/>
          <p:cNvSpPr/>
          <p:nvPr/>
        </p:nvSpPr>
        <p:spPr>
          <a:xfrm>
            <a:off x="6313932" y="4288536"/>
            <a:ext cx="310896" cy="310896"/>
          </a:xfrm>
          <a:prstGeom prst="ellipse">
            <a:avLst/>
          </a:prstGeom>
          <a:solidFill>
            <a:srgbClr val="1B3B6F"/>
          </a:solidFill>
          <a:ln w="12700">
            <a:solidFill>
              <a:srgbClr val="1B3B6F"/>
            </a:solidFill>
            <a:prstDash val="solid"/>
          </a:ln>
        </p:spPr>
      </p:sp>
      <p:sp>
        <p:nvSpPr>
          <p:cNvPr id="63" name="Text 60"/>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4" name="Text 61"/>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plural form after </a:t>
            </a:r>
            <a:pPr algn="l" indent="0" marL="0">
              <a:buNone/>
            </a:pPr>
            <a:r>
              <a:rPr lang="ar-SA" altLang="en-US" sz="1650" b="1" dirty="0">
                <a:solidFill>
                  <a:srgbClr val="1B3B6F"/>
                </a:solidFill>
                <a:latin typeface="Amiri" pitchFamily="2" charset="-78"/>
                <a:ea typeface="Amiri" pitchFamily="2" charset="-78"/>
                <a:cs typeface="Amiri" pitchFamily="2" charset="-78"/>
              </a:rPr>
              <a:t>أَنْ</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65" name="Shape 62"/>
          <p:cNvSpPr/>
          <p:nvPr/>
        </p:nvSpPr>
        <p:spPr>
          <a:xfrm>
            <a:off x="6277356" y="4794504"/>
            <a:ext cx="5362956" cy="347472"/>
          </a:xfrm>
          <a:prstGeom prst="roundRect">
            <a:avLst>
              <a:gd name="adj" fmla="val 15789"/>
            </a:avLst>
          </a:prstGeom>
          <a:solidFill>
            <a:srgbClr val="E6F4EC"/>
          </a:solidFill>
          <a:ln w="9525">
            <a:solidFill>
              <a:srgbClr val="2E8B57"/>
            </a:solidFill>
            <a:prstDash val="solid"/>
          </a:ln>
        </p:spPr>
      </p:sp>
      <p:sp>
        <p:nvSpPr>
          <p:cNvPr id="66" name="Shape 63"/>
          <p:cNvSpPr/>
          <p:nvPr/>
        </p:nvSpPr>
        <p:spPr>
          <a:xfrm>
            <a:off x="6368796" y="4831080"/>
            <a:ext cx="256032" cy="256032"/>
          </a:xfrm>
          <a:prstGeom prst="ellipse">
            <a:avLst/>
          </a:prstGeom>
          <a:solidFill>
            <a:srgbClr val="2E8B57"/>
          </a:solidFill>
          <a:ln w="12700">
            <a:solidFill>
              <a:srgbClr val="2E8B57"/>
            </a:solidFill>
            <a:prstDash val="solid"/>
          </a:ln>
        </p:spPr>
      </p:sp>
      <p:sp>
        <p:nvSpPr>
          <p:cNvPr id="67" name="Text 64"/>
          <p:cNvSpPr txBox="1"/>
          <p:nvPr/>
        </p:nvSpPr>
        <p:spPr>
          <a:xfrm>
            <a:off x="6368796"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68" name="Text 65"/>
          <p:cNvSpPr txBox="1"/>
          <p:nvPr/>
        </p:nvSpPr>
        <p:spPr>
          <a:xfrm>
            <a:off x="6697980" y="4773168"/>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أَنْ تَذْهَبُوا</a:t>
            </a:r>
            <a:endParaRPr lang="ar-SA" sz="1700" dirty="0"/>
          </a:p>
        </p:txBody>
      </p:sp>
      <p:sp>
        <p:nvSpPr>
          <p:cNvPr id="69" name="Shape 66"/>
          <p:cNvSpPr/>
          <p:nvPr/>
        </p:nvSpPr>
        <p:spPr>
          <a:xfrm>
            <a:off x="6368796" y="5202936"/>
            <a:ext cx="256032" cy="256032"/>
          </a:xfrm>
          <a:prstGeom prst="ellipse">
            <a:avLst/>
          </a:prstGeom>
          <a:solidFill>
            <a:srgbClr val="C9CED6"/>
          </a:solidFill>
          <a:ln w="12700">
            <a:solidFill>
              <a:srgbClr val="C9CED6"/>
            </a:solidFill>
            <a:prstDash val="solid"/>
          </a:ln>
        </p:spPr>
      </p:sp>
      <p:sp>
        <p:nvSpPr>
          <p:cNvPr id="70" name="Text 67"/>
          <p:cNvSpPr txBox="1"/>
          <p:nvPr/>
        </p:nvSpPr>
        <p:spPr>
          <a:xfrm>
            <a:off x="6368796"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1" name="Text 68"/>
          <p:cNvSpPr txBox="1"/>
          <p:nvPr/>
        </p:nvSpPr>
        <p:spPr>
          <a:xfrm>
            <a:off x="6697980" y="514502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أَنْ تَذْهَبُونَ</a:t>
            </a:r>
            <a:endParaRPr lang="ar-SA" sz="1700" dirty="0"/>
          </a:p>
        </p:txBody>
      </p:sp>
      <p:sp>
        <p:nvSpPr>
          <p:cNvPr id="72" name="Shape 69"/>
          <p:cNvSpPr/>
          <p:nvPr/>
        </p:nvSpPr>
        <p:spPr>
          <a:xfrm>
            <a:off x="6368796" y="5574792"/>
            <a:ext cx="256032" cy="256032"/>
          </a:xfrm>
          <a:prstGeom prst="ellipse">
            <a:avLst/>
          </a:prstGeom>
          <a:solidFill>
            <a:srgbClr val="C9CED6"/>
          </a:solidFill>
          <a:ln w="12700">
            <a:solidFill>
              <a:srgbClr val="C9CED6"/>
            </a:solidFill>
            <a:prstDash val="solid"/>
          </a:ln>
        </p:spPr>
      </p:sp>
      <p:sp>
        <p:nvSpPr>
          <p:cNvPr id="73" name="Text 70"/>
          <p:cNvSpPr txBox="1"/>
          <p:nvPr/>
        </p:nvSpPr>
        <p:spPr>
          <a:xfrm>
            <a:off x="6368796"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4" name="Text 71"/>
          <p:cNvSpPr txBox="1"/>
          <p:nvPr/>
        </p:nvSpPr>
        <p:spPr>
          <a:xfrm>
            <a:off x="6697980" y="551688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أَنْ ذَهَبْتُمْ</a:t>
            </a:r>
            <a:endParaRPr lang="ar-SA" sz="1700" dirty="0"/>
          </a:p>
        </p:txBody>
      </p:sp>
      <p:sp>
        <p:nvSpPr>
          <p:cNvPr id="75" name="Text 72"/>
          <p:cNvSpPr txBox="1"/>
          <p:nvPr/>
        </p:nvSpPr>
        <p:spPr>
          <a:xfrm>
            <a:off x="6313932" y="5907024"/>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The final </a:t>
            </a:r>
            <a:pPr algn="l" indent="0" marL="0">
              <a:buNone/>
            </a:pPr>
            <a:r>
              <a:rPr lang="ar-SA" altLang="en-US" sz="1350" dirty="0">
                <a:solidFill>
                  <a:srgbClr val="8A6D1E"/>
                </a:solidFill>
                <a:latin typeface="Amiri" pitchFamily="2" charset="-78"/>
                <a:ea typeface="Amiri" pitchFamily="2" charset="-78"/>
                <a:cs typeface="Amiri" pitchFamily="2" charset="-78"/>
              </a:rPr>
              <a:t>ن</a:t>
            </a:r>
            <a:pPr algn="l" indent="0" marL="0">
              <a:buNone/>
            </a:pPr>
            <a:r>
              <a:rPr lang="en-US" sz="1050" i="1" dirty="0">
                <a:solidFill>
                  <a:srgbClr val="8A6D1E"/>
                </a:solidFill>
                <a:latin typeface="Calibri" pitchFamily="34" charset="0"/>
                <a:cs typeface="Amiri" pitchFamily="2" charset="-78"/>
              </a:rPr>
              <a:t> is removed.</a:t>
            </a:r>
            <a:endParaRPr lang="en-US" sz="1050" dirty="0"/>
          </a:p>
        </p:txBody>
      </p:sp>
      <p:sp>
        <p:nvSpPr>
          <p:cNvPr id="76" name="Text 7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18 / 46</a:t>
            </a:r>
            <a:endParaRPr lang="en-US" sz="8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D1-L04 · Before and After</a:t>
            </a:r>
            <a:endParaRPr lang="en-US" sz="950" dirty="0"/>
          </a:p>
        </p:txBody>
      </p:sp>
      <p:sp>
        <p:nvSpPr>
          <p:cNvPr id="8" name="Shape 6"/>
          <p:cNvSpPr/>
          <p:nvPr/>
        </p:nvSpPr>
        <p:spPr>
          <a:xfrm>
            <a:off x="7388352" y="274320"/>
            <a:ext cx="1371600" cy="329184"/>
          </a:xfrm>
          <a:prstGeom prst="roundRect">
            <a:avLst>
              <a:gd name="adj" fmla="val 50000"/>
            </a:avLst>
          </a:prstGeom>
          <a:solidFill>
            <a:srgbClr val="6B4C9A"/>
          </a:solidFill>
          <a:ln w="12700">
            <a:solidFill>
              <a:srgbClr val="6B4C9A"/>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I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6B4C9A"/>
                </a:solidFill>
                <a:latin typeface="Calibri" pitchFamily="34" charset="0"/>
                <a:cs typeface="Amiri" pitchFamily="2" charset="-78"/>
              </a:rPr>
              <a:t>I DO · WATCH, THEN COPY</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Watch me sequence my afternoon</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شَاهِدْ ثُمَّ اُكْتُبْ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D1 · Daily Routine and Time · D1-L04</a:t>
            </a:r>
            <a:endParaRPr lang="en-US" sz="850" dirty="0"/>
          </a:p>
        </p:txBody>
      </p:sp>
      <p:sp>
        <p:nvSpPr>
          <p:cNvPr id="15" name="Shape 12"/>
          <p:cNvSpPr/>
          <p:nvPr/>
        </p:nvSpPr>
        <p:spPr>
          <a:xfrm>
            <a:off x="9050274"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219688" y="1938528"/>
            <a:ext cx="384048" cy="384048"/>
          </a:xfrm>
          <a:prstGeom prst="ellipse">
            <a:avLst/>
          </a:prstGeom>
          <a:solidFill>
            <a:srgbClr val="6B4C9A"/>
          </a:solidFill>
          <a:ln w="12700">
            <a:solidFill>
              <a:srgbClr val="6B4C9A"/>
            </a:solidFill>
            <a:prstDash val="solid"/>
          </a:ln>
        </p:spPr>
      </p:sp>
      <p:sp>
        <p:nvSpPr>
          <p:cNvPr id="17" name="Text 14"/>
          <p:cNvSpPr txBox="1"/>
          <p:nvPr/>
        </p:nvSpPr>
        <p:spPr>
          <a:xfrm>
            <a:off x="11219688"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1</a:t>
            </a:r>
            <a:endParaRPr lang="en-US" sz="1400" dirty="0"/>
          </a:p>
        </p:txBody>
      </p:sp>
      <p:sp>
        <p:nvSpPr>
          <p:cNvPr id="18" name="Text 15"/>
          <p:cNvSpPr txBox="1"/>
          <p:nvPr/>
        </p:nvSpPr>
        <p:spPr>
          <a:xfrm>
            <a:off x="9187434"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Noun</a:t>
            </a:r>
            <a:endParaRPr lang="en-US" sz="1250" dirty="0"/>
          </a:p>
        </p:txBody>
      </p:sp>
      <p:sp>
        <p:nvSpPr>
          <p:cNvPr id="19" name="Text 16"/>
          <p:cNvSpPr txBox="1"/>
          <p:nvPr/>
        </p:nvSpPr>
        <p:spPr>
          <a:xfrm>
            <a:off x="9160002" y="2450592"/>
            <a:ext cx="2462022" cy="914400"/>
          </a:xfrm>
          <a:prstGeom prst="rect">
            <a:avLst/>
          </a:prstGeom>
          <a:noFill/>
          <a:ln/>
        </p:spPr>
        <p:txBody>
          <a:bodyPr wrap="square" lIns="0" tIns="0" rIns="0" bIns="0" rtlCol="0" anchor="ctr"/>
          <a:lstStyle/>
          <a:p>
            <a:pPr rtl="1" algn="ctr" indent="0" marL="0">
              <a:lnSpc>
                <a:spcPct val="120000"/>
              </a:lnSpc>
              <a:buNone/>
            </a:pPr>
            <a:r>
              <a:rPr lang="ar-SA" altLang="en-US" sz="1800" b="1" dirty="0">
                <a:solidFill>
                  <a:srgbClr val="0E7C86"/>
                </a:solidFill>
                <a:latin typeface="Amiri" pitchFamily="2" charset="-78"/>
                <a:ea typeface="Amiri" pitchFamily="2" charset="-78"/>
                <a:cs typeface="Amiri" pitchFamily="2" charset="-78"/>
              </a:rPr>
              <a:t>بَعْدَ</a:t>
            </a:r>
            <a:pPr rtl="1" algn="ctr" indent="0" marL="0">
              <a:lnSpc>
                <a:spcPct val="120000"/>
              </a:lnSpc>
              <a:buNone/>
            </a:pPr>
            <a:r>
              <a:rPr lang="ar-SA" altLang="en-US" sz="1800" b="1" dirty="0">
                <a:solidFill>
                  <a:srgbClr val="1B3B6F"/>
                </a:solidFill>
                <a:latin typeface="Amiri" pitchFamily="2" charset="-78"/>
                <a:ea typeface="Amiri" pitchFamily="2" charset="-78"/>
                <a:cs typeface="Amiri" pitchFamily="2" charset="-78"/>
              </a:rPr>
              <a:t> المَدْرَسَةِ أَعُودُ إِلَى البَيْتِ.</a:t>
            </a:r>
            <a:endParaRPr lang="ar-SA" sz="1800" dirty="0"/>
          </a:p>
        </p:txBody>
      </p:sp>
      <p:sp>
        <p:nvSpPr>
          <p:cNvPr id="20" name="Text 17"/>
          <p:cNvSpPr txBox="1"/>
          <p:nvPr/>
        </p:nvSpPr>
        <p:spPr>
          <a:xfrm>
            <a:off x="9187434" y="3410712"/>
            <a:ext cx="2407158" cy="804672"/>
          </a:xfrm>
          <a:prstGeom prst="rect">
            <a:avLst/>
          </a:prstGeom>
          <a:noFill/>
          <a:ln/>
        </p:spPr>
        <p:txBody>
          <a:bodyPr wrap="square" lIns="0" tIns="0" rIns="0" bIns="0" rtlCol="0" anchor="ctr"/>
          <a:lstStyle/>
          <a:p>
            <a:pPr algn="l" indent="0" marL="0">
              <a:buNone/>
            </a:pPr>
            <a:r>
              <a:rPr lang="ar-SA" altLang="en-US" sz="1500" dirty="0">
                <a:solidFill>
                  <a:srgbClr val="1F2A37"/>
                </a:solidFill>
                <a:latin typeface="Amiri" pitchFamily="2" charset="-78"/>
                <a:ea typeface="Amiri" pitchFamily="2" charset="-78"/>
                <a:cs typeface="Amiri" pitchFamily="2" charset="-78"/>
              </a:rPr>
              <a:t>المَدْرَسَةِ</a:t>
            </a:r>
            <a:pPr algn="l" indent="0" marL="0">
              <a:buNone/>
            </a:pPr>
            <a:r>
              <a:rPr lang="en-US" sz="1150" dirty="0">
                <a:solidFill>
                  <a:srgbClr val="1F2A37"/>
                </a:solidFill>
                <a:latin typeface="Calibri" pitchFamily="34" charset="0"/>
                <a:cs typeface="Amiri" pitchFamily="2" charset="-78"/>
              </a:rPr>
              <a:t> is a noun → no </a:t>
            </a:r>
            <a:pPr algn="l" indent="0" marL="0">
              <a:buNone/>
            </a:pPr>
            <a:r>
              <a:rPr lang="ar-SA" altLang="en-US" sz="1500" dirty="0">
                <a:solidFill>
                  <a:srgbClr val="1F2A37"/>
                </a:solidFill>
                <a:latin typeface="Amiri" pitchFamily="2" charset="-78"/>
                <a:ea typeface="Amiri" pitchFamily="2" charset="-78"/>
                <a:cs typeface="Amiri" pitchFamily="2" charset="-78"/>
              </a:rPr>
              <a:t>أَنْ</a:t>
            </a:r>
            <a:pPr algn="l" indent="0" marL="0">
              <a:buNone/>
            </a:pPr>
            <a:r>
              <a:rPr lang="en-US" sz="1150" dirty="0">
                <a:solidFill>
                  <a:srgbClr val="1F2A37"/>
                </a:solidFill>
                <a:latin typeface="Calibri" pitchFamily="34" charset="0"/>
                <a:cs typeface="Amiri" pitchFamily="2" charset="-78"/>
              </a:rPr>
              <a:t>.</a:t>
            </a:r>
            <a:endParaRPr lang="en-US" sz="1150" dirty="0"/>
          </a:p>
        </p:txBody>
      </p:sp>
      <p:sp>
        <p:nvSpPr>
          <p:cNvPr id="21" name="Text 18"/>
          <p:cNvSpPr txBox="1"/>
          <p:nvPr/>
        </p:nvSpPr>
        <p:spPr>
          <a:xfrm>
            <a:off x="8867394" y="2770632"/>
            <a:ext cx="182880" cy="365760"/>
          </a:xfrm>
          <a:prstGeom prst="rect">
            <a:avLst/>
          </a:prstGeom>
          <a:noFill/>
          <a:ln/>
        </p:spPr>
        <p:txBody>
          <a:bodyPr wrap="square" lIns="0" tIns="0" rIns="0" bIns="0" rtlCol="0" anchor="ctr"/>
          <a:lstStyle/>
          <a:p>
            <a:pPr algn="ctr" indent="0" marL="0">
              <a:buNone/>
            </a:pPr>
            <a:r>
              <a:rPr lang="en-US" sz="1400" dirty="0">
                <a:solidFill>
                  <a:srgbClr val="5A6472"/>
                </a:solidFill>
                <a:latin typeface="Calibri" pitchFamily="34" charset="0"/>
                <a:cs typeface="Amiri" pitchFamily="2" charset="-78"/>
              </a:rPr>
              <a:t>←</a:t>
            </a:r>
            <a:endParaRPr lang="en-US" sz="1400" dirty="0"/>
          </a:p>
        </p:txBody>
      </p:sp>
      <p:sp>
        <p:nvSpPr>
          <p:cNvPr id="22" name="Shape 19"/>
          <p:cNvSpPr/>
          <p:nvPr/>
        </p:nvSpPr>
        <p:spPr>
          <a:xfrm>
            <a:off x="6185916"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8355330" y="1938528"/>
            <a:ext cx="384048" cy="384048"/>
          </a:xfrm>
          <a:prstGeom prst="ellipse">
            <a:avLst/>
          </a:prstGeom>
          <a:solidFill>
            <a:srgbClr val="6B4C9A"/>
          </a:solidFill>
          <a:ln w="12700">
            <a:solidFill>
              <a:srgbClr val="6B4C9A"/>
            </a:solidFill>
            <a:prstDash val="solid"/>
          </a:ln>
        </p:spPr>
      </p:sp>
      <p:sp>
        <p:nvSpPr>
          <p:cNvPr id="24" name="Text 21"/>
          <p:cNvSpPr txBox="1"/>
          <p:nvPr/>
        </p:nvSpPr>
        <p:spPr>
          <a:xfrm>
            <a:off x="8355330"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2</a:t>
            </a:r>
            <a:endParaRPr lang="en-US" sz="1400" dirty="0"/>
          </a:p>
        </p:txBody>
      </p:sp>
      <p:sp>
        <p:nvSpPr>
          <p:cNvPr id="25" name="Text 22"/>
          <p:cNvSpPr txBox="1"/>
          <p:nvPr/>
        </p:nvSpPr>
        <p:spPr>
          <a:xfrm>
            <a:off x="6323076"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After + verb</a:t>
            </a:r>
            <a:endParaRPr lang="en-US" sz="1250" dirty="0"/>
          </a:p>
        </p:txBody>
      </p:sp>
      <p:sp>
        <p:nvSpPr>
          <p:cNvPr id="26" name="Text 23"/>
          <p:cNvSpPr txBox="1"/>
          <p:nvPr/>
        </p:nvSpPr>
        <p:spPr>
          <a:xfrm>
            <a:off x="6295644" y="2450592"/>
            <a:ext cx="2462022" cy="914400"/>
          </a:xfrm>
          <a:prstGeom prst="rect">
            <a:avLst/>
          </a:prstGeom>
          <a:noFill/>
          <a:ln/>
        </p:spPr>
        <p:txBody>
          <a:bodyPr wrap="square" lIns="0" tIns="0" rIns="0" bIns="0" rtlCol="0" anchor="ctr"/>
          <a:lstStyle/>
          <a:p>
            <a:pPr rtl="1" algn="ctr" indent="0" marL="0">
              <a:lnSpc>
                <a:spcPct val="120000"/>
              </a:lnSpc>
              <a:buNone/>
            </a:pPr>
            <a:r>
              <a:rPr lang="ar-SA" altLang="en-US" sz="1750" b="1" dirty="0">
                <a:solidFill>
                  <a:srgbClr val="0E7C86"/>
                </a:solidFill>
                <a:latin typeface="Amiri" pitchFamily="2" charset="-78"/>
                <a:ea typeface="Amiri" pitchFamily="2" charset="-78"/>
                <a:cs typeface="Amiri" pitchFamily="2" charset="-78"/>
              </a:rPr>
              <a:t>بَعْدَ أَنْ</a:t>
            </a:r>
            <a:pPr rtl="1" algn="ctr" indent="0" marL="0">
              <a:lnSpc>
                <a:spcPct val="120000"/>
              </a:lnSpc>
              <a:buNone/>
            </a:pPr>
            <a:r>
              <a:rPr lang="ar-SA" altLang="en-US" sz="1750" b="1" dirty="0">
                <a:solidFill>
                  <a:srgbClr val="1B3B6F"/>
                </a:solidFill>
                <a:latin typeface="Amiri" pitchFamily="2" charset="-78"/>
                <a:ea typeface="Amiri" pitchFamily="2" charset="-78"/>
                <a:cs typeface="Amiri" pitchFamily="2" charset="-78"/>
              </a:rPr>
              <a:t> أَعُو</a:t>
            </a:r>
            <a:pPr rtl="1" algn="ctr" indent="0" marL="0">
              <a:lnSpc>
                <a:spcPct val="120000"/>
              </a:lnSpc>
              <a:buNone/>
            </a:pPr>
            <a:r>
              <a:rPr lang="ar-SA" altLang="en-US" sz="1750" b="1" dirty="0">
                <a:solidFill>
                  <a:srgbClr val="D6336C"/>
                </a:solidFill>
                <a:latin typeface="Amiri" pitchFamily="2" charset="-78"/>
                <a:ea typeface="Amiri" pitchFamily="2" charset="-78"/>
                <a:cs typeface="Amiri" pitchFamily="2" charset="-78"/>
              </a:rPr>
              <a:t>دَ</a:t>
            </a:r>
            <a:pPr rtl="1" algn="ctr" indent="0" marL="0">
              <a:lnSpc>
                <a:spcPct val="120000"/>
              </a:lnSpc>
              <a:buNone/>
            </a:pPr>
            <a:r>
              <a:rPr lang="ar-SA" altLang="en-US" sz="1750" b="1" dirty="0">
                <a:solidFill>
                  <a:srgbClr val="1B3B6F"/>
                </a:solidFill>
                <a:latin typeface="Amiri" pitchFamily="2" charset="-78"/>
                <a:ea typeface="Amiri" pitchFamily="2" charset="-78"/>
                <a:cs typeface="Amiri" pitchFamily="2" charset="-78"/>
              </a:rPr>
              <a:t>، أَسْتَرِيحُ نِصْفَ سَاعَةٍ.</a:t>
            </a:r>
            <a:endParaRPr lang="ar-SA" sz="1750" dirty="0"/>
          </a:p>
        </p:txBody>
      </p:sp>
      <p:sp>
        <p:nvSpPr>
          <p:cNvPr id="27" name="Text 24"/>
          <p:cNvSpPr txBox="1"/>
          <p:nvPr/>
        </p:nvSpPr>
        <p:spPr>
          <a:xfrm>
            <a:off x="6323076"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After </a:t>
            </a:r>
            <a:pPr algn="l" indent="0" marL="0">
              <a:buNone/>
            </a:pPr>
            <a:r>
              <a:rPr lang="ar-SA" altLang="en-US" sz="1500" dirty="0">
                <a:solidFill>
                  <a:srgbClr val="1F2A37"/>
                </a:solidFill>
                <a:latin typeface="Amiri" pitchFamily="2" charset="-78"/>
                <a:ea typeface="Amiri" pitchFamily="2" charset="-78"/>
                <a:cs typeface="Amiri" pitchFamily="2" charset="-78"/>
              </a:rPr>
              <a:t>أَنْ</a:t>
            </a:r>
            <a:pPr algn="l" indent="0" marL="0">
              <a:buNone/>
            </a:pPr>
            <a:r>
              <a:rPr lang="en-US" sz="1150" dirty="0">
                <a:solidFill>
                  <a:srgbClr val="1F2A37"/>
                </a:solidFill>
                <a:latin typeface="Calibri" pitchFamily="34" charset="0"/>
                <a:cs typeface="Amiri" pitchFamily="2" charset="-78"/>
              </a:rPr>
              <a:t>: </a:t>
            </a:r>
            <a:pPr algn="l" indent="0" marL="0">
              <a:buNone/>
            </a:pPr>
            <a:r>
              <a:rPr lang="ar-SA" altLang="en-US" sz="1500" dirty="0">
                <a:solidFill>
                  <a:srgbClr val="1F2A37"/>
                </a:solidFill>
                <a:latin typeface="Amiri" pitchFamily="2" charset="-78"/>
                <a:ea typeface="Amiri" pitchFamily="2" charset="-78"/>
                <a:cs typeface="Amiri" pitchFamily="2" charset="-78"/>
              </a:rPr>
              <a:t>أَعُودُ</a:t>
            </a:r>
            <a:pPr algn="l" indent="0" marL="0">
              <a:buNone/>
            </a:pPr>
            <a:r>
              <a:rPr lang="en-US" sz="1150" dirty="0">
                <a:solidFill>
                  <a:srgbClr val="1F2A37"/>
                </a:solidFill>
                <a:latin typeface="Calibri" pitchFamily="34" charset="0"/>
                <a:cs typeface="Amiri" pitchFamily="2" charset="-78"/>
              </a:rPr>
              <a:t> → </a:t>
            </a:r>
            <a:pPr algn="l" indent="0" marL="0">
              <a:buNone/>
            </a:pPr>
            <a:r>
              <a:rPr lang="ar-SA" altLang="en-US" sz="1500" dirty="0">
                <a:solidFill>
                  <a:srgbClr val="1F2A37"/>
                </a:solidFill>
                <a:latin typeface="Amiri" pitchFamily="2" charset="-78"/>
                <a:ea typeface="Amiri" pitchFamily="2" charset="-78"/>
                <a:cs typeface="Amiri" pitchFamily="2" charset="-78"/>
              </a:rPr>
              <a:t>أَعُودَ</a:t>
            </a:r>
            <a:pPr algn="l" indent="0" marL="0">
              <a:buNone/>
            </a:pPr>
            <a:r>
              <a:rPr lang="en-US" sz="1150" dirty="0">
                <a:solidFill>
                  <a:srgbClr val="1F2A37"/>
                </a:solidFill>
                <a:latin typeface="Calibri" pitchFamily="34" charset="0"/>
                <a:cs typeface="Amiri" pitchFamily="2" charset="-78"/>
              </a:rPr>
              <a:t>.</a:t>
            </a:r>
            <a:endParaRPr lang="en-US" sz="1150" dirty="0"/>
          </a:p>
        </p:txBody>
      </p:sp>
      <p:sp>
        <p:nvSpPr>
          <p:cNvPr id="28" name="Text 25"/>
          <p:cNvSpPr txBox="1"/>
          <p:nvPr/>
        </p:nvSpPr>
        <p:spPr>
          <a:xfrm>
            <a:off x="6003036" y="2770632"/>
            <a:ext cx="182880" cy="365760"/>
          </a:xfrm>
          <a:prstGeom prst="rect">
            <a:avLst/>
          </a:prstGeom>
          <a:noFill/>
          <a:ln/>
        </p:spPr>
        <p:txBody>
          <a:bodyPr wrap="square" lIns="0" tIns="0" rIns="0" bIns="0" rtlCol="0" anchor="ctr"/>
          <a:lstStyle/>
          <a:p>
            <a:pPr algn="ctr" indent="0" marL="0">
              <a:buNone/>
            </a:pPr>
            <a:r>
              <a:rPr lang="en-US" sz="1400" dirty="0">
                <a:solidFill>
                  <a:srgbClr val="5A6472"/>
                </a:solidFill>
                <a:latin typeface="Calibri" pitchFamily="34" charset="0"/>
                <a:cs typeface="Amiri" pitchFamily="2" charset="-78"/>
              </a:rPr>
              <a:t>←</a:t>
            </a:r>
            <a:endParaRPr lang="en-US" sz="1400" dirty="0"/>
          </a:p>
        </p:txBody>
      </p:sp>
      <p:sp>
        <p:nvSpPr>
          <p:cNvPr id="29" name="Shape 26"/>
          <p:cNvSpPr/>
          <p:nvPr/>
        </p:nvSpPr>
        <p:spPr>
          <a:xfrm>
            <a:off x="3321558"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Shape 27"/>
          <p:cNvSpPr/>
          <p:nvPr/>
        </p:nvSpPr>
        <p:spPr>
          <a:xfrm>
            <a:off x="5490972" y="1938528"/>
            <a:ext cx="384048" cy="384048"/>
          </a:xfrm>
          <a:prstGeom prst="ellipse">
            <a:avLst/>
          </a:prstGeom>
          <a:solidFill>
            <a:srgbClr val="6B4C9A"/>
          </a:solidFill>
          <a:ln w="12700">
            <a:solidFill>
              <a:srgbClr val="6B4C9A"/>
            </a:solidFill>
            <a:prstDash val="solid"/>
          </a:ln>
        </p:spPr>
      </p:sp>
      <p:sp>
        <p:nvSpPr>
          <p:cNvPr id="31" name="Text 28"/>
          <p:cNvSpPr txBox="1"/>
          <p:nvPr/>
        </p:nvSpPr>
        <p:spPr>
          <a:xfrm>
            <a:off x="5490972"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3</a:t>
            </a:r>
            <a:endParaRPr lang="en-US" sz="1400" dirty="0"/>
          </a:p>
        </p:txBody>
      </p:sp>
      <p:sp>
        <p:nvSpPr>
          <p:cNvPr id="32" name="Text 29"/>
          <p:cNvSpPr txBox="1"/>
          <p:nvPr/>
        </p:nvSpPr>
        <p:spPr>
          <a:xfrm>
            <a:off x="3458718"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Before + verb</a:t>
            </a:r>
            <a:endParaRPr lang="en-US" sz="1250" dirty="0"/>
          </a:p>
        </p:txBody>
      </p:sp>
      <p:sp>
        <p:nvSpPr>
          <p:cNvPr id="33" name="Text 30"/>
          <p:cNvSpPr txBox="1"/>
          <p:nvPr/>
        </p:nvSpPr>
        <p:spPr>
          <a:xfrm>
            <a:off x="3431286" y="2450592"/>
            <a:ext cx="2462022" cy="914400"/>
          </a:xfrm>
          <a:prstGeom prst="rect">
            <a:avLst/>
          </a:prstGeom>
          <a:noFill/>
          <a:ln/>
        </p:spPr>
        <p:txBody>
          <a:bodyPr wrap="square" lIns="0" tIns="0" rIns="0" bIns="0" rtlCol="0" anchor="ctr"/>
          <a:lstStyle/>
          <a:p>
            <a:pPr rtl="1" algn="ctr" indent="0" marL="0">
              <a:lnSpc>
                <a:spcPct val="120000"/>
              </a:lnSpc>
              <a:buNone/>
            </a:pPr>
            <a:r>
              <a:rPr lang="ar-SA" altLang="en-US" sz="1750" b="1" dirty="0">
                <a:solidFill>
                  <a:srgbClr val="1B3B6F"/>
                </a:solidFill>
                <a:latin typeface="Amiri" pitchFamily="2" charset="-78"/>
                <a:ea typeface="Amiri" pitchFamily="2" charset="-78"/>
                <a:cs typeface="Amiri" pitchFamily="2" charset="-78"/>
              </a:rPr>
              <a:t>أُكْمِلُ وَاجِبِي </a:t>
            </a:r>
            <a:pPr rtl="1" algn="ctr" indent="0" marL="0">
              <a:lnSpc>
                <a:spcPct val="120000"/>
              </a:lnSpc>
              <a:buNone/>
            </a:pPr>
            <a:r>
              <a:rPr lang="ar-SA" altLang="en-US" sz="1750" b="1" dirty="0">
                <a:solidFill>
                  <a:srgbClr val="0E7C86"/>
                </a:solidFill>
                <a:latin typeface="Amiri" pitchFamily="2" charset="-78"/>
                <a:ea typeface="Amiri" pitchFamily="2" charset="-78"/>
                <a:cs typeface="Amiri" pitchFamily="2" charset="-78"/>
              </a:rPr>
              <a:t>قَبْلَ أَنْ</a:t>
            </a:r>
            <a:pPr rtl="1" algn="ctr" indent="0" marL="0">
              <a:lnSpc>
                <a:spcPct val="120000"/>
              </a:lnSpc>
              <a:buNone/>
            </a:pPr>
            <a:r>
              <a:rPr lang="ar-SA" altLang="en-US" sz="1750" b="1" dirty="0">
                <a:solidFill>
                  <a:srgbClr val="1B3B6F"/>
                </a:solidFill>
                <a:latin typeface="Amiri" pitchFamily="2" charset="-78"/>
                <a:ea typeface="Amiri" pitchFamily="2" charset="-78"/>
                <a:cs typeface="Amiri" pitchFamily="2" charset="-78"/>
              </a:rPr>
              <a:t> أَسْتَعْمِ</a:t>
            </a:r>
            <a:pPr rtl="1" algn="ctr" indent="0" marL="0">
              <a:lnSpc>
                <a:spcPct val="120000"/>
              </a:lnSpc>
              <a:buNone/>
            </a:pPr>
            <a:r>
              <a:rPr lang="ar-SA" altLang="en-US" sz="1750" b="1" dirty="0">
                <a:solidFill>
                  <a:srgbClr val="D6336C"/>
                </a:solidFill>
                <a:latin typeface="Amiri" pitchFamily="2" charset="-78"/>
                <a:ea typeface="Amiri" pitchFamily="2" charset="-78"/>
                <a:cs typeface="Amiri" pitchFamily="2" charset="-78"/>
              </a:rPr>
              <a:t>لَ</a:t>
            </a:r>
            <a:pPr rtl="1" algn="ctr" indent="0" marL="0">
              <a:lnSpc>
                <a:spcPct val="120000"/>
              </a:lnSpc>
              <a:buNone/>
            </a:pPr>
            <a:r>
              <a:rPr lang="ar-SA" altLang="en-US" sz="1750" b="1" dirty="0">
                <a:solidFill>
                  <a:srgbClr val="1B3B6F"/>
                </a:solidFill>
                <a:latin typeface="Amiri" pitchFamily="2" charset="-78"/>
                <a:ea typeface="Amiri" pitchFamily="2" charset="-78"/>
                <a:cs typeface="Amiri" pitchFamily="2" charset="-78"/>
              </a:rPr>
              <a:t> هَاتِفِي.</a:t>
            </a:r>
            <a:endParaRPr lang="ar-SA" sz="1750" dirty="0"/>
          </a:p>
        </p:txBody>
      </p:sp>
      <p:sp>
        <p:nvSpPr>
          <p:cNvPr id="34" name="Text 31"/>
          <p:cNvSpPr txBox="1"/>
          <p:nvPr/>
        </p:nvSpPr>
        <p:spPr>
          <a:xfrm>
            <a:off x="3458718"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The homework happens FIRST.</a:t>
            </a:r>
            <a:endParaRPr lang="en-US" sz="1150" dirty="0"/>
          </a:p>
        </p:txBody>
      </p:sp>
      <p:sp>
        <p:nvSpPr>
          <p:cNvPr id="35" name="Text 32"/>
          <p:cNvSpPr txBox="1"/>
          <p:nvPr/>
        </p:nvSpPr>
        <p:spPr>
          <a:xfrm>
            <a:off x="3138678" y="2770632"/>
            <a:ext cx="182880" cy="365760"/>
          </a:xfrm>
          <a:prstGeom prst="rect">
            <a:avLst/>
          </a:prstGeom>
          <a:noFill/>
          <a:ln/>
        </p:spPr>
        <p:txBody>
          <a:bodyPr wrap="square" lIns="0" tIns="0" rIns="0" bIns="0" rtlCol="0" anchor="ctr"/>
          <a:lstStyle/>
          <a:p>
            <a:pPr algn="ctr" indent="0" marL="0">
              <a:buNone/>
            </a:pPr>
            <a:r>
              <a:rPr lang="en-US" sz="1400" dirty="0">
                <a:solidFill>
                  <a:srgbClr val="5A6472"/>
                </a:solidFill>
                <a:latin typeface="Calibri" pitchFamily="34" charset="0"/>
                <a:cs typeface="Amiri" pitchFamily="2" charset="-78"/>
              </a:rPr>
              <a:t>←</a:t>
            </a:r>
            <a:endParaRPr lang="en-US" sz="1400" dirty="0"/>
          </a:p>
        </p:txBody>
      </p:sp>
      <p:sp>
        <p:nvSpPr>
          <p:cNvPr id="36" name="Shape 33"/>
          <p:cNvSpPr/>
          <p:nvPr/>
        </p:nvSpPr>
        <p:spPr>
          <a:xfrm>
            <a:off x="457200"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7" name="Shape 34"/>
          <p:cNvSpPr/>
          <p:nvPr/>
        </p:nvSpPr>
        <p:spPr>
          <a:xfrm>
            <a:off x="2626614" y="1938528"/>
            <a:ext cx="384048" cy="384048"/>
          </a:xfrm>
          <a:prstGeom prst="ellipse">
            <a:avLst/>
          </a:prstGeom>
          <a:solidFill>
            <a:srgbClr val="6B4C9A"/>
          </a:solidFill>
          <a:ln w="12700">
            <a:solidFill>
              <a:srgbClr val="6B4C9A"/>
            </a:solidFill>
            <a:prstDash val="solid"/>
          </a:ln>
        </p:spPr>
      </p:sp>
      <p:sp>
        <p:nvSpPr>
          <p:cNvPr id="38" name="Text 35"/>
          <p:cNvSpPr txBox="1"/>
          <p:nvPr/>
        </p:nvSpPr>
        <p:spPr>
          <a:xfrm>
            <a:off x="2626614"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4</a:t>
            </a:r>
            <a:endParaRPr lang="en-US" sz="1400" dirty="0"/>
          </a:p>
        </p:txBody>
      </p:sp>
      <p:sp>
        <p:nvSpPr>
          <p:cNvPr id="39" name="Text 36"/>
          <p:cNvSpPr txBox="1"/>
          <p:nvPr/>
        </p:nvSpPr>
        <p:spPr>
          <a:xfrm>
            <a:off x="594360"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How often</a:t>
            </a:r>
            <a:endParaRPr lang="en-US" sz="1250" dirty="0"/>
          </a:p>
        </p:txBody>
      </p:sp>
      <p:sp>
        <p:nvSpPr>
          <p:cNvPr id="40" name="Text 37"/>
          <p:cNvSpPr txBox="1"/>
          <p:nvPr/>
        </p:nvSpPr>
        <p:spPr>
          <a:xfrm>
            <a:off x="566928" y="2450592"/>
            <a:ext cx="2462022" cy="914400"/>
          </a:xfrm>
          <a:prstGeom prst="rect">
            <a:avLst/>
          </a:prstGeom>
          <a:noFill/>
          <a:ln/>
        </p:spPr>
        <p:txBody>
          <a:bodyPr wrap="square" lIns="0" tIns="0" rIns="0" bIns="0" rtlCol="0" anchor="ctr"/>
          <a:lstStyle/>
          <a:p>
            <a:pPr rtl="1" algn="ctr" indent="0" marL="0">
              <a:buNone/>
            </a:pPr>
            <a:r>
              <a:rPr lang="ar-SA" altLang="en-US" sz="2100" b="1" dirty="0">
                <a:solidFill>
                  <a:srgbClr val="1B3B6F"/>
                </a:solidFill>
                <a:latin typeface="Amiri" pitchFamily="2" charset="-78"/>
                <a:ea typeface="Amiri" pitchFamily="2" charset="-78"/>
                <a:cs typeface="Amiri" pitchFamily="2" charset="-78"/>
              </a:rPr>
              <a:t>أَتَمَرَّنُ </a:t>
            </a:r>
            <a:pPr rtl="1" algn="ctr" indent="0" marL="0">
              <a:buNone/>
            </a:pPr>
            <a:r>
              <a:rPr lang="ar-SA" altLang="en-US" sz="2100" b="1" dirty="0">
                <a:solidFill>
                  <a:srgbClr val="1D5FBF"/>
                </a:solidFill>
                <a:latin typeface="Amiri" pitchFamily="2" charset="-78"/>
                <a:ea typeface="Amiri" pitchFamily="2" charset="-78"/>
                <a:cs typeface="Amiri" pitchFamily="2" charset="-78"/>
              </a:rPr>
              <a:t>مَرَّتَيْنِ</a:t>
            </a:r>
            <a:pPr rtl="1" algn="ctr" indent="0" marL="0">
              <a:buNone/>
            </a:pPr>
            <a:r>
              <a:rPr lang="ar-SA" altLang="en-US" sz="2100" b="1" dirty="0">
                <a:solidFill>
                  <a:srgbClr val="1B3B6F"/>
                </a:solidFill>
                <a:latin typeface="Amiri" pitchFamily="2" charset="-78"/>
                <a:ea typeface="Amiri" pitchFamily="2" charset="-78"/>
                <a:cs typeface="Amiri" pitchFamily="2" charset="-78"/>
              </a:rPr>
              <a:t> فِي الأُسْبُوعِ.</a:t>
            </a:r>
            <a:endParaRPr lang="ar-SA" sz="2100" dirty="0"/>
          </a:p>
        </p:txBody>
      </p:sp>
      <p:sp>
        <p:nvSpPr>
          <p:cNvPr id="41" name="Text 38"/>
          <p:cNvSpPr txBox="1"/>
          <p:nvPr/>
        </p:nvSpPr>
        <p:spPr>
          <a:xfrm>
            <a:off x="594360"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Recycle D1-L03.</a:t>
            </a:r>
            <a:endParaRPr lang="en-US" sz="1150" dirty="0"/>
          </a:p>
        </p:txBody>
      </p:sp>
      <p:sp>
        <p:nvSpPr>
          <p:cNvPr id="42" name="Shape 39"/>
          <p:cNvSpPr/>
          <p:nvPr/>
        </p:nvSpPr>
        <p:spPr>
          <a:xfrm>
            <a:off x="457200" y="4480560"/>
            <a:ext cx="11274552" cy="1828800"/>
          </a:xfrm>
          <a:prstGeom prst="roundRect">
            <a:avLst>
              <a:gd name="adj" fmla="val 4000"/>
            </a:avLst>
          </a:prstGeom>
          <a:solidFill>
            <a:srgbClr val="F1ECF8"/>
          </a:solidFill>
          <a:ln w="9525">
            <a:solidFill>
              <a:srgbClr val="CFC2E3"/>
            </a:solidFill>
            <a:prstDash val="solid"/>
          </a:ln>
          <a:effectLst>
            <a:outerShdw sx="100000" sy="100000" kx="0" ky="0" algn="bl" rotWithShape="0" blurRad="50800" dist="19050" dir="5400000">
              <a:srgbClr val="000000">
                <a:alpha val="10000"/>
              </a:srgbClr>
            </a:outerShdw>
          </a:effectLst>
        </p:spPr>
      </p:sp>
      <p:pic>
        <p:nvPicPr>
          <p:cNvPr id="43" name="Image 0" descr="preencoded.png">    </p:cNvPr>
          <p:cNvPicPr>
            <a:picLocks noChangeAspect="1"/>
          </p:cNvPicPr>
          <p:nvPr/>
        </p:nvPicPr>
        <p:blipFill>
          <a:blip r:embed="rId1"/>
          <a:stretch>
            <a:fillRect/>
          </a:stretch>
        </p:blipFill>
        <p:spPr>
          <a:xfrm>
            <a:off x="685800" y="4663440"/>
            <a:ext cx="457200" cy="457200"/>
          </a:xfrm>
          <a:prstGeom prst="rect">
            <a:avLst/>
          </a:prstGeom>
        </p:spPr>
      </p:pic>
      <p:sp>
        <p:nvSpPr>
          <p:cNvPr id="44" name="Text 40"/>
          <p:cNvSpPr txBox="1"/>
          <p:nvPr/>
        </p:nvSpPr>
        <p:spPr>
          <a:xfrm>
            <a:off x="1280160" y="4736592"/>
            <a:ext cx="3657600" cy="310896"/>
          </a:xfrm>
          <a:prstGeom prst="rect">
            <a:avLst/>
          </a:prstGeom>
          <a:noFill/>
          <a:ln/>
        </p:spPr>
        <p:txBody>
          <a:bodyPr wrap="square" lIns="0" tIns="0" rIns="0" bIns="0" rtlCol="0" anchor="ctr"/>
          <a:lstStyle/>
          <a:p>
            <a:pPr algn="l" indent="0" marL="0">
              <a:buNone/>
            </a:pPr>
            <a:r>
              <a:rPr lang="en-US" sz="1200" b="1" spc="200" kern="0" dirty="0">
                <a:solidFill>
                  <a:srgbClr val="6B4C9A"/>
                </a:solidFill>
                <a:latin typeface="Calibri" pitchFamily="34" charset="0"/>
                <a:cs typeface="Amiri" pitchFamily="2" charset="-78"/>
              </a:rPr>
              <a:t>COPY THIS INTO YOUR BOOK</a:t>
            </a:r>
            <a:endParaRPr lang="en-US" sz="1200" dirty="0"/>
          </a:p>
        </p:txBody>
      </p:sp>
      <p:sp>
        <p:nvSpPr>
          <p:cNvPr id="45" name="Shape 41"/>
          <p:cNvSpPr/>
          <p:nvPr/>
        </p:nvSpPr>
        <p:spPr>
          <a:xfrm>
            <a:off x="8540496" y="4736592"/>
            <a:ext cx="914400" cy="237744"/>
          </a:xfrm>
          <a:prstGeom prst="roundRect">
            <a:avLst>
              <a:gd name="adj" fmla="val 50000"/>
            </a:avLst>
          </a:prstGeom>
          <a:solidFill>
            <a:srgbClr val="0E7C86"/>
          </a:solidFill>
          <a:ln w="12700">
            <a:solidFill>
              <a:srgbClr val="0E7C86"/>
            </a:solidFill>
            <a:prstDash val="solid"/>
          </a:ln>
        </p:spPr>
      </p:sp>
      <p:sp>
        <p:nvSpPr>
          <p:cNvPr id="46" name="Text 42"/>
          <p:cNvSpPr txBox="1"/>
          <p:nvPr/>
        </p:nvSpPr>
        <p:spPr>
          <a:xfrm>
            <a:off x="8540496" y="4736592"/>
            <a:ext cx="914400" cy="237744"/>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BEFORE / AFTER</a:t>
            </a:r>
            <a:endParaRPr lang="en-US" sz="800" dirty="0"/>
          </a:p>
        </p:txBody>
      </p:sp>
      <p:sp>
        <p:nvSpPr>
          <p:cNvPr id="47" name="Shape 43"/>
          <p:cNvSpPr/>
          <p:nvPr/>
        </p:nvSpPr>
        <p:spPr>
          <a:xfrm>
            <a:off x="9528048" y="4736592"/>
            <a:ext cx="914400" cy="237744"/>
          </a:xfrm>
          <a:prstGeom prst="roundRect">
            <a:avLst>
              <a:gd name="adj" fmla="val 50000"/>
            </a:avLst>
          </a:prstGeom>
          <a:solidFill>
            <a:srgbClr val="D6336C"/>
          </a:solidFill>
          <a:ln w="12700">
            <a:solidFill>
              <a:srgbClr val="D6336C"/>
            </a:solidFill>
            <a:prstDash val="solid"/>
          </a:ln>
        </p:spPr>
      </p:sp>
      <p:sp>
        <p:nvSpPr>
          <p:cNvPr id="48" name="Text 44"/>
          <p:cNvSpPr txBox="1"/>
          <p:nvPr/>
        </p:nvSpPr>
        <p:spPr>
          <a:xfrm>
            <a:off x="9528048" y="4736592"/>
            <a:ext cx="914400" cy="237744"/>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CHANGED ENDING</a:t>
            </a:r>
            <a:endParaRPr lang="en-US" sz="800" dirty="0"/>
          </a:p>
        </p:txBody>
      </p:sp>
      <p:sp>
        <p:nvSpPr>
          <p:cNvPr id="49" name="Shape 45"/>
          <p:cNvSpPr/>
          <p:nvPr/>
        </p:nvSpPr>
        <p:spPr>
          <a:xfrm>
            <a:off x="10515600" y="4736592"/>
            <a:ext cx="914400" cy="237744"/>
          </a:xfrm>
          <a:prstGeom prst="roundRect">
            <a:avLst>
              <a:gd name="adj" fmla="val 50000"/>
            </a:avLst>
          </a:prstGeom>
          <a:solidFill>
            <a:srgbClr val="1D5FBF"/>
          </a:solidFill>
          <a:ln w="12700">
            <a:solidFill>
              <a:srgbClr val="1D5FBF"/>
            </a:solidFill>
            <a:prstDash val="solid"/>
          </a:ln>
        </p:spPr>
      </p:sp>
      <p:sp>
        <p:nvSpPr>
          <p:cNvPr id="50" name="Text 46"/>
          <p:cNvSpPr txBox="1"/>
          <p:nvPr/>
        </p:nvSpPr>
        <p:spPr>
          <a:xfrm>
            <a:off x="10515600" y="4736592"/>
            <a:ext cx="914400" cy="237744"/>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FREQUENCY</a:t>
            </a:r>
            <a:endParaRPr lang="en-US" sz="800" dirty="0"/>
          </a:p>
        </p:txBody>
      </p:sp>
      <p:sp>
        <p:nvSpPr>
          <p:cNvPr id="51" name="Text 47"/>
          <p:cNvSpPr txBox="1"/>
          <p:nvPr/>
        </p:nvSpPr>
        <p:spPr>
          <a:xfrm>
            <a:off x="685800" y="5029200"/>
            <a:ext cx="10817352" cy="731520"/>
          </a:xfrm>
          <a:prstGeom prst="rect">
            <a:avLst/>
          </a:prstGeom>
          <a:noFill/>
          <a:ln/>
        </p:spPr>
        <p:txBody>
          <a:bodyPr wrap="square" lIns="0" tIns="0" rIns="0" bIns="0" rtlCol="0" anchor="ctr"/>
          <a:lstStyle/>
          <a:p>
            <a:pPr rtl="1" algn="r" indent="0" marL="0">
              <a:lnSpc>
                <a:spcPct val="120000"/>
              </a:lnSpc>
              <a:buNone/>
            </a:pPr>
            <a:r>
              <a:rPr lang="ar-SA" altLang="en-US" sz="1500" b="1" dirty="0">
                <a:solidFill>
                  <a:srgbClr val="0E7C86"/>
                </a:solidFill>
                <a:latin typeface="Amiri" pitchFamily="2" charset="-78"/>
                <a:ea typeface="Amiri" pitchFamily="2" charset="-78"/>
                <a:cs typeface="Amiri" pitchFamily="2" charset="-78"/>
              </a:rPr>
              <a:t>بَعْدَ</a:t>
            </a:r>
            <a:pPr rtl="1" algn="r" indent="0" marL="0">
              <a:lnSpc>
                <a:spcPct val="120000"/>
              </a:lnSpc>
              <a:buNone/>
            </a:pPr>
            <a:r>
              <a:rPr lang="ar-SA" altLang="en-US" sz="1500" b="1" dirty="0">
                <a:solidFill>
                  <a:srgbClr val="1B3B6F"/>
                </a:solidFill>
                <a:latin typeface="Amiri" pitchFamily="2" charset="-78"/>
                <a:ea typeface="Amiri" pitchFamily="2" charset="-78"/>
                <a:cs typeface="Amiri" pitchFamily="2" charset="-78"/>
              </a:rPr>
              <a:t> المَدْرَسَةِ أَعُودُ إِلَى البَيْتِ. </a:t>
            </a:r>
            <a:pPr rtl="1" algn="r" indent="0" marL="0">
              <a:lnSpc>
                <a:spcPct val="120000"/>
              </a:lnSpc>
              <a:buNone/>
            </a:pPr>
            <a:r>
              <a:rPr lang="ar-SA" altLang="en-US" sz="1500" b="1" dirty="0">
                <a:solidFill>
                  <a:srgbClr val="0E7C86"/>
                </a:solidFill>
                <a:latin typeface="Amiri" pitchFamily="2" charset="-78"/>
                <a:ea typeface="Amiri" pitchFamily="2" charset="-78"/>
                <a:cs typeface="Amiri" pitchFamily="2" charset="-78"/>
              </a:rPr>
              <a:t>بَعْدَ أَنْ</a:t>
            </a:r>
            <a:pPr rtl="1" algn="r" indent="0" marL="0">
              <a:lnSpc>
                <a:spcPct val="120000"/>
              </a:lnSpc>
              <a:buNone/>
            </a:pPr>
            <a:r>
              <a:rPr lang="ar-SA" altLang="en-US" sz="1500" b="1" dirty="0">
                <a:solidFill>
                  <a:srgbClr val="1B3B6F"/>
                </a:solidFill>
                <a:latin typeface="Amiri" pitchFamily="2" charset="-78"/>
                <a:ea typeface="Amiri" pitchFamily="2" charset="-78"/>
                <a:cs typeface="Amiri" pitchFamily="2" charset="-78"/>
              </a:rPr>
              <a:t> أَعُو</a:t>
            </a:r>
            <a:pPr rtl="1" algn="r" indent="0" marL="0">
              <a:lnSpc>
                <a:spcPct val="120000"/>
              </a:lnSpc>
              <a:buNone/>
            </a:pPr>
            <a:r>
              <a:rPr lang="ar-SA" altLang="en-US" sz="1500" b="1" dirty="0">
                <a:solidFill>
                  <a:srgbClr val="D6336C"/>
                </a:solidFill>
                <a:latin typeface="Amiri" pitchFamily="2" charset="-78"/>
                <a:ea typeface="Amiri" pitchFamily="2" charset="-78"/>
                <a:cs typeface="Amiri" pitchFamily="2" charset="-78"/>
              </a:rPr>
              <a:t>دَ</a:t>
            </a:r>
            <a:pPr rtl="1" algn="r" indent="0" marL="0">
              <a:lnSpc>
                <a:spcPct val="120000"/>
              </a:lnSpc>
              <a:buNone/>
            </a:pPr>
            <a:r>
              <a:rPr lang="ar-SA" altLang="en-US" sz="1500" b="1" dirty="0">
                <a:solidFill>
                  <a:srgbClr val="1B3B6F"/>
                </a:solidFill>
                <a:latin typeface="Amiri" pitchFamily="2" charset="-78"/>
                <a:ea typeface="Amiri" pitchFamily="2" charset="-78"/>
                <a:cs typeface="Amiri" pitchFamily="2" charset="-78"/>
              </a:rPr>
              <a:t>، أَسْتَرِيحُ نِصْفَ سَاعَةٍ. ثُمَّ أُكْمِلُ وَاجِبِي </a:t>
            </a:r>
            <a:pPr rtl="1" algn="r" indent="0" marL="0">
              <a:lnSpc>
                <a:spcPct val="120000"/>
              </a:lnSpc>
              <a:buNone/>
            </a:pPr>
            <a:r>
              <a:rPr lang="ar-SA" altLang="en-US" sz="1500" b="1" dirty="0">
                <a:solidFill>
                  <a:srgbClr val="0E7C86"/>
                </a:solidFill>
                <a:latin typeface="Amiri" pitchFamily="2" charset="-78"/>
                <a:ea typeface="Amiri" pitchFamily="2" charset="-78"/>
                <a:cs typeface="Amiri" pitchFamily="2" charset="-78"/>
              </a:rPr>
              <a:t>قَبْلَ أَنْ</a:t>
            </a:r>
            <a:pPr rtl="1" algn="r" indent="0" marL="0">
              <a:lnSpc>
                <a:spcPct val="120000"/>
              </a:lnSpc>
              <a:buNone/>
            </a:pPr>
            <a:r>
              <a:rPr lang="ar-SA" altLang="en-US" sz="1500" b="1" dirty="0">
                <a:solidFill>
                  <a:srgbClr val="1B3B6F"/>
                </a:solidFill>
                <a:latin typeface="Amiri" pitchFamily="2" charset="-78"/>
                <a:ea typeface="Amiri" pitchFamily="2" charset="-78"/>
                <a:cs typeface="Amiri" pitchFamily="2" charset="-78"/>
              </a:rPr>
              <a:t> أَسْتَعْمِ</a:t>
            </a:r>
            <a:pPr rtl="1" algn="r" indent="0" marL="0">
              <a:lnSpc>
                <a:spcPct val="120000"/>
              </a:lnSpc>
              <a:buNone/>
            </a:pPr>
            <a:r>
              <a:rPr lang="ar-SA" altLang="en-US" sz="1500" b="1" dirty="0">
                <a:solidFill>
                  <a:srgbClr val="D6336C"/>
                </a:solidFill>
                <a:latin typeface="Amiri" pitchFamily="2" charset="-78"/>
                <a:ea typeface="Amiri" pitchFamily="2" charset="-78"/>
                <a:cs typeface="Amiri" pitchFamily="2" charset="-78"/>
              </a:rPr>
              <a:t>لَ</a:t>
            </a:r>
            <a:pPr rtl="1" algn="r" indent="0" marL="0">
              <a:lnSpc>
                <a:spcPct val="120000"/>
              </a:lnSpc>
              <a:buNone/>
            </a:pPr>
            <a:r>
              <a:rPr lang="ar-SA" altLang="en-US" sz="1500" b="1" dirty="0">
                <a:solidFill>
                  <a:srgbClr val="1B3B6F"/>
                </a:solidFill>
                <a:latin typeface="Amiri" pitchFamily="2" charset="-78"/>
                <a:ea typeface="Amiri" pitchFamily="2" charset="-78"/>
                <a:cs typeface="Amiri" pitchFamily="2" charset="-78"/>
              </a:rPr>
              <a:t> هَاتِفِي. أَتَمَرَّنُ </a:t>
            </a:r>
            <a:pPr rtl="1" algn="r" indent="0" marL="0">
              <a:lnSpc>
                <a:spcPct val="120000"/>
              </a:lnSpc>
              <a:buNone/>
            </a:pPr>
            <a:r>
              <a:rPr lang="ar-SA" altLang="en-US" sz="1500" b="1" dirty="0">
                <a:solidFill>
                  <a:srgbClr val="1D5FBF"/>
                </a:solidFill>
                <a:latin typeface="Amiri" pitchFamily="2" charset="-78"/>
                <a:ea typeface="Amiri" pitchFamily="2" charset="-78"/>
                <a:cs typeface="Amiri" pitchFamily="2" charset="-78"/>
              </a:rPr>
              <a:t>مَرَّتَيْنِ</a:t>
            </a:r>
            <a:pPr rtl="1" algn="r" indent="0" marL="0">
              <a:lnSpc>
                <a:spcPct val="120000"/>
              </a:lnSpc>
              <a:buNone/>
            </a:pPr>
            <a:r>
              <a:rPr lang="ar-SA" altLang="en-US" sz="1500" b="1" dirty="0">
                <a:solidFill>
                  <a:srgbClr val="1B3B6F"/>
                </a:solidFill>
                <a:latin typeface="Amiri" pitchFamily="2" charset="-78"/>
                <a:ea typeface="Amiri" pitchFamily="2" charset="-78"/>
                <a:cs typeface="Amiri" pitchFamily="2" charset="-78"/>
              </a:rPr>
              <a:t> فِي الأُسْبُوعِ، وَ</a:t>
            </a:r>
            <a:pPr rtl="1" algn="r" indent="0" marL="0">
              <a:lnSpc>
                <a:spcPct val="120000"/>
              </a:lnSpc>
              <a:buNone/>
            </a:pPr>
            <a:r>
              <a:rPr lang="ar-SA" altLang="en-US" sz="1500" b="1" dirty="0">
                <a:solidFill>
                  <a:srgbClr val="0E7C86"/>
                </a:solidFill>
                <a:latin typeface="Amiri" pitchFamily="2" charset="-78"/>
                <a:ea typeface="Amiri" pitchFamily="2" charset="-78"/>
                <a:cs typeface="Amiri" pitchFamily="2" charset="-78"/>
              </a:rPr>
              <a:t>قَبْلَ أَنْ</a:t>
            </a:r>
            <a:pPr rtl="1" algn="r" indent="0" marL="0">
              <a:lnSpc>
                <a:spcPct val="120000"/>
              </a:lnSpc>
              <a:buNone/>
            </a:pPr>
            <a:r>
              <a:rPr lang="ar-SA" altLang="en-US" sz="1500" b="1" dirty="0">
                <a:solidFill>
                  <a:srgbClr val="1B3B6F"/>
                </a:solidFill>
                <a:latin typeface="Amiri" pitchFamily="2" charset="-78"/>
                <a:ea typeface="Amiri" pitchFamily="2" charset="-78"/>
                <a:cs typeface="Amiri" pitchFamily="2" charset="-78"/>
              </a:rPr>
              <a:t> أَنَا</a:t>
            </a:r>
            <a:pPr rtl="1" algn="r" indent="0" marL="0">
              <a:lnSpc>
                <a:spcPct val="120000"/>
              </a:lnSpc>
              <a:buNone/>
            </a:pPr>
            <a:r>
              <a:rPr lang="ar-SA" altLang="en-US" sz="1500" b="1" dirty="0">
                <a:solidFill>
                  <a:srgbClr val="D6336C"/>
                </a:solidFill>
                <a:latin typeface="Amiri" pitchFamily="2" charset="-78"/>
                <a:ea typeface="Amiri" pitchFamily="2" charset="-78"/>
                <a:cs typeface="Amiri" pitchFamily="2" charset="-78"/>
              </a:rPr>
              <a:t>مَ</a:t>
            </a:r>
            <a:pPr rtl="1" algn="r" indent="0" marL="0">
              <a:lnSpc>
                <a:spcPct val="120000"/>
              </a:lnSpc>
              <a:buNone/>
            </a:pPr>
            <a:r>
              <a:rPr lang="ar-SA" altLang="en-US" sz="1500" b="1" dirty="0">
                <a:solidFill>
                  <a:srgbClr val="1B3B6F"/>
                </a:solidFill>
                <a:latin typeface="Amiri" pitchFamily="2" charset="-78"/>
                <a:ea typeface="Amiri" pitchFamily="2" charset="-78"/>
                <a:cs typeface="Amiri" pitchFamily="2" charset="-78"/>
              </a:rPr>
              <a:t> أُحَضِّرُ حَقِيبَتِي.</a:t>
            </a:r>
            <a:endParaRPr lang="ar-SA" sz="1500" dirty="0"/>
          </a:p>
        </p:txBody>
      </p:sp>
      <p:sp>
        <p:nvSpPr>
          <p:cNvPr id="52" name="Text 48"/>
          <p:cNvSpPr txBox="1"/>
          <p:nvPr/>
        </p:nvSpPr>
        <p:spPr>
          <a:xfrm>
            <a:off x="685800" y="5760720"/>
            <a:ext cx="10817352" cy="365760"/>
          </a:xfrm>
          <a:prstGeom prst="rect">
            <a:avLst/>
          </a:prstGeom>
          <a:noFill/>
          <a:ln/>
        </p:spPr>
        <p:txBody>
          <a:bodyPr wrap="square" lIns="0" tIns="0" rIns="0" bIns="0" rtlCol="0" anchor="ctr"/>
          <a:lstStyle/>
          <a:p>
            <a:pPr algn="r" indent="0" marL="0">
              <a:buNone/>
            </a:pPr>
            <a:r>
              <a:rPr lang="en-US" sz="1100" i="1" dirty="0">
                <a:solidFill>
                  <a:srgbClr val="5A6472"/>
                </a:solidFill>
                <a:latin typeface="Calibri" pitchFamily="34" charset="0"/>
                <a:cs typeface="Amiri" pitchFamily="2" charset="-78"/>
              </a:rPr>
              <a:t>After school I return home. After I return, I rest for half an hour. Then I finish my homework before I use my phone. I exercise twice a week, and before I sleep I prepare my bag.</a:t>
            </a:r>
            <a:endParaRPr lang="en-US" sz="1100" dirty="0"/>
          </a:p>
        </p:txBody>
      </p:sp>
      <p:sp>
        <p:nvSpPr>
          <p:cNvPr id="53" name="Text 49"/>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19 / 46</a:t>
            </a:r>
            <a:endParaRPr lang="en-US" sz="8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D1-L04 · Before and After</a:t>
            </a:r>
            <a:endParaRPr lang="en-US" sz="950" dirty="0"/>
          </a:p>
        </p:txBody>
      </p:sp>
      <p:sp>
        <p:nvSpPr>
          <p:cNvPr id="8" name="Shape 6"/>
          <p:cNvSpPr/>
          <p:nvPr/>
        </p:nvSpPr>
        <p:spPr>
          <a:xfrm>
            <a:off x="7388352" y="274320"/>
            <a:ext cx="1371600" cy="329184"/>
          </a:xfrm>
          <a:prstGeom prst="roundRect">
            <a:avLst>
              <a:gd name="adj" fmla="val 50000"/>
            </a:avLst>
          </a:prstGeom>
          <a:solidFill>
            <a:srgbClr val="6B4C9A"/>
          </a:solidFill>
          <a:ln w="12700">
            <a:solidFill>
              <a:srgbClr val="6B4C9A"/>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I DO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6B4C9A"/>
                </a:solidFill>
                <a:latin typeface="Calibri" pitchFamily="34" charset="0"/>
                <a:cs typeface="Amiri" pitchFamily="2" charset="-78"/>
              </a:rPr>
              <a:t>I DO · MODEL SENTENCES FROM THE WEBSITE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Sentences to borrow</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جُمَلٌ نَمُوذَجِيَّةٌ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D1 · Daily Routine and Time · D1-L04</a:t>
            </a:r>
            <a:endParaRPr lang="en-US" sz="850" dirty="0"/>
          </a:p>
        </p:txBody>
      </p:sp>
      <p:sp>
        <p:nvSpPr>
          <p:cNvPr id="15" name="Shape 12"/>
          <p:cNvSpPr/>
          <p:nvPr/>
        </p:nvSpPr>
        <p:spPr>
          <a:xfrm>
            <a:off x="457200" y="1810512"/>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201400" y="2123694"/>
            <a:ext cx="402336" cy="402336"/>
          </a:xfrm>
          <a:prstGeom prst="ellipse">
            <a:avLst/>
          </a:prstGeom>
          <a:solidFill>
            <a:srgbClr val="1B3B6F"/>
          </a:solidFill>
          <a:ln w="12700">
            <a:solidFill>
              <a:srgbClr val="1B3B6F"/>
            </a:solidFill>
            <a:prstDash val="solid"/>
          </a:ln>
        </p:spPr>
      </p:sp>
      <p:sp>
        <p:nvSpPr>
          <p:cNvPr id="17" name="Text 14"/>
          <p:cNvSpPr txBox="1"/>
          <p:nvPr/>
        </p:nvSpPr>
        <p:spPr>
          <a:xfrm>
            <a:off x="11201400" y="2123694"/>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1</a:t>
            </a:r>
            <a:endParaRPr lang="en-US" sz="1300" dirty="0"/>
          </a:p>
        </p:txBody>
      </p:sp>
      <p:sp>
        <p:nvSpPr>
          <p:cNvPr id="18" name="Text 15"/>
          <p:cNvSpPr txBox="1"/>
          <p:nvPr/>
        </p:nvSpPr>
        <p:spPr>
          <a:xfrm>
            <a:off x="4572000" y="1847088"/>
            <a:ext cx="6492240" cy="955548"/>
          </a:xfrm>
          <a:prstGeom prst="rect">
            <a:avLst/>
          </a:prstGeom>
          <a:noFill/>
          <a:ln/>
        </p:spPr>
        <p:txBody>
          <a:bodyPr wrap="square" lIns="0" tIns="0" rIns="0" bIns="0" rtlCol="0" anchor="ctr"/>
          <a:lstStyle/>
          <a:p>
            <a:pPr rtl="1" algn="r" indent="0" marL="0">
              <a:buNone/>
            </a:pPr>
            <a:r>
              <a:rPr lang="ar-SA" altLang="en-US" sz="2600" b="1" dirty="0">
                <a:solidFill>
                  <a:srgbClr val="1B3B6F"/>
                </a:solidFill>
                <a:latin typeface="Amiri" pitchFamily="2" charset="-78"/>
                <a:ea typeface="Amiri" pitchFamily="2" charset="-78"/>
                <a:cs typeface="Amiri" pitchFamily="2" charset="-78"/>
              </a:rPr>
              <a:t>أُكْمِلُ وَاجِبِي قَبْلَ أَنْ أَسْتَعْمِلَ هَاتِفِي.</a:t>
            </a:r>
            <a:endParaRPr lang="ar-SA" sz="2600" dirty="0"/>
          </a:p>
        </p:txBody>
      </p:sp>
      <p:sp>
        <p:nvSpPr>
          <p:cNvPr id="19" name="Text 16"/>
          <p:cNvSpPr txBox="1"/>
          <p:nvPr/>
        </p:nvSpPr>
        <p:spPr>
          <a:xfrm>
            <a:off x="685800" y="1856232"/>
            <a:ext cx="3749040" cy="937260"/>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cs typeface="Amiri" pitchFamily="2" charset="-78"/>
              </a:rPr>
              <a:t>I finish my homework before using my phone.</a:t>
            </a:r>
            <a:endParaRPr lang="en-US" sz="1250" dirty="0"/>
          </a:p>
          <a:p>
            <a:pPr indent="0" marL="0">
              <a:buNone/>
            </a:pPr>
            <a:r>
              <a:rPr lang="ar-SA" sz="1050" i="1" dirty="0">
                <a:solidFill>
                  <a:srgbClr val="8A6D1E"/>
                </a:solidFill>
                <a:latin typeface="Calibri" pitchFamily="34" charset="0"/>
                <a:ea typeface="Amiri" pitchFamily="2" charset="-78"/>
                <a:cs typeface="Amiri" pitchFamily="2" charset="-78"/>
              </a:rPr>
              <a:t>Subjunctive after أَنْ.</a:t>
            </a:r>
            <a:endParaRPr lang="en-US" sz="1250" dirty="0"/>
          </a:p>
        </p:txBody>
      </p:sp>
      <p:sp>
        <p:nvSpPr>
          <p:cNvPr id="20" name="Shape 17"/>
          <p:cNvSpPr/>
          <p:nvPr/>
        </p:nvSpPr>
        <p:spPr>
          <a:xfrm>
            <a:off x="457200" y="2967228"/>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11201400" y="3280410"/>
            <a:ext cx="402336" cy="402336"/>
          </a:xfrm>
          <a:prstGeom prst="ellipse">
            <a:avLst/>
          </a:prstGeom>
          <a:solidFill>
            <a:srgbClr val="1B3B6F"/>
          </a:solidFill>
          <a:ln w="12700">
            <a:solidFill>
              <a:srgbClr val="1B3B6F"/>
            </a:solidFill>
            <a:prstDash val="solid"/>
          </a:ln>
        </p:spPr>
      </p:sp>
      <p:sp>
        <p:nvSpPr>
          <p:cNvPr id="22" name="Text 19"/>
          <p:cNvSpPr txBox="1"/>
          <p:nvPr/>
        </p:nvSpPr>
        <p:spPr>
          <a:xfrm>
            <a:off x="11201400" y="3280410"/>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2</a:t>
            </a:r>
            <a:endParaRPr lang="en-US" sz="1300" dirty="0"/>
          </a:p>
        </p:txBody>
      </p:sp>
      <p:sp>
        <p:nvSpPr>
          <p:cNvPr id="23" name="Text 20"/>
          <p:cNvSpPr txBox="1"/>
          <p:nvPr/>
        </p:nvSpPr>
        <p:spPr>
          <a:xfrm>
            <a:off x="4572000" y="3003804"/>
            <a:ext cx="6492240" cy="955548"/>
          </a:xfrm>
          <a:prstGeom prst="rect">
            <a:avLst/>
          </a:prstGeom>
          <a:noFill/>
          <a:ln/>
        </p:spPr>
        <p:txBody>
          <a:bodyPr wrap="square" lIns="0" tIns="0" rIns="0" bIns="0" rtlCol="0" anchor="ctr"/>
          <a:lstStyle/>
          <a:p>
            <a:pPr rtl="1" algn="r" indent="0" marL="0">
              <a:buNone/>
            </a:pPr>
            <a:r>
              <a:rPr lang="ar-SA" altLang="en-US" sz="2600" b="1" dirty="0">
                <a:solidFill>
                  <a:srgbClr val="1B3B6F"/>
                </a:solidFill>
                <a:latin typeface="Amiri" pitchFamily="2" charset="-78"/>
                <a:ea typeface="Amiri" pitchFamily="2" charset="-78"/>
                <a:cs typeface="Amiri" pitchFamily="2" charset="-78"/>
              </a:rPr>
              <a:t>بَعْدَ أَنْ أَعُودَ، أَسْتَرِيحُ نِصْفَ سَاعَةٍ.</a:t>
            </a:r>
            <a:endParaRPr lang="ar-SA" sz="2600" dirty="0"/>
          </a:p>
        </p:txBody>
      </p:sp>
      <p:sp>
        <p:nvSpPr>
          <p:cNvPr id="24" name="Text 21"/>
          <p:cNvSpPr txBox="1"/>
          <p:nvPr/>
        </p:nvSpPr>
        <p:spPr>
          <a:xfrm>
            <a:off x="685800" y="3012948"/>
            <a:ext cx="3749040" cy="937260"/>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cs typeface="Amiri" pitchFamily="2" charset="-78"/>
              </a:rPr>
              <a:t>After I return, I rest for half an hour.</a:t>
            </a:r>
            <a:endParaRPr lang="en-US" sz="1250" dirty="0"/>
          </a:p>
          <a:p>
            <a:pPr indent="0" marL="0">
              <a:buNone/>
            </a:pPr>
            <a:r>
              <a:rPr lang="en-US" sz="1050" i="1" dirty="0">
                <a:solidFill>
                  <a:srgbClr val="8A6D1E"/>
                </a:solidFill>
                <a:latin typeface="Calibri" pitchFamily="34" charset="0"/>
                <a:cs typeface="Amiri" pitchFamily="2" charset="-78"/>
              </a:rPr>
              <a:t>Add duration.</a:t>
            </a:r>
            <a:endParaRPr lang="en-US" sz="1250" dirty="0"/>
          </a:p>
        </p:txBody>
      </p:sp>
      <p:sp>
        <p:nvSpPr>
          <p:cNvPr id="25" name="Shape 22"/>
          <p:cNvSpPr/>
          <p:nvPr/>
        </p:nvSpPr>
        <p:spPr>
          <a:xfrm>
            <a:off x="457200" y="4123944"/>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11201400" y="4437126"/>
            <a:ext cx="402336" cy="402336"/>
          </a:xfrm>
          <a:prstGeom prst="ellipse">
            <a:avLst/>
          </a:prstGeom>
          <a:solidFill>
            <a:srgbClr val="1B3B6F"/>
          </a:solidFill>
          <a:ln w="12700">
            <a:solidFill>
              <a:srgbClr val="1B3B6F"/>
            </a:solidFill>
            <a:prstDash val="solid"/>
          </a:ln>
        </p:spPr>
      </p:sp>
      <p:sp>
        <p:nvSpPr>
          <p:cNvPr id="27" name="Text 24"/>
          <p:cNvSpPr txBox="1"/>
          <p:nvPr/>
        </p:nvSpPr>
        <p:spPr>
          <a:xfrm>
            <a:off x="11201400" y="4437126"/>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3</a:t>
            </a:r>
            <a:endParaRPr lang="en-US" sz="1300" dirty="0"/>
          </a:p>
        </p:txBody>
      </p:sp>
      <p:sp>
        <p:nvSpPr>
          <p:cNvPr id="28" name="Text 25"/>
          <p:cNvSpPr txBox="1"/>
          <p:nvPr/>
        </p:nvSpPr>
        <p:spPr>
          <a:xfrm>
            <a:off x="4572000" y="4160520"/>
            <a:ext cx="6492240" cy="955548"/>
          </a:xfrm>
          <a:prstGeom prst="rect">
            <a:avLst/>
          </a:prstGeom>
          <a:noFill/>
          <a:ln/>
        </p:spPr>
        <p:txBody>
          <a:bodyPr wrap="square" lIns="0" tIns="0" rIns="0" bIns="0" rtlCol="0" anchor="ctr"/>
          <a:lstStyle/>
          <a:p>
            <a:pPr rtl="1" algn="r" indent="0" marL="0">
              <a:buNone/>
            </a:pPr>
            <a:r>
              <a:rPr lang="ar-SA" altLang="en-US" sz="2600" b="1" dirty="0">
                <a:solidFill>
                  <a:srgbClr val="1B3B6F"/>
                </a:solidFill>
                <a:latin typeface="Amiri" pitchFamily="2" charset="-78"/>
                <a:ea typeface="Amiri" pitchFamily="2" charset="-78"/>
                <a:cs typeface="Amiri" pitchFamily="2" charset="-78"/>
              </a:rPr>
              <a:t>أَتَمَرَّنُ مَرَّتَيْنِ فِي الأُسْبُوعِ.</a:t>
            </a:r>
            <a:endParaRPr lang="ar-SA" sz="2600" dirty="0"/>
          </a:p>
        </p:txBody>
      </p:sp>
      <p:sp>
        <p:nvSpPr>
          <p:cNvPr id="29" name="Text 26"/>
          <p:cNvSpPr txBox="1"/>
          <p:nvPr/>
        </p:nvSpPr>
        <p:spPr>
          <a:xfrm>
            <a:off x="685800" y="4169664"/>
            <a:ext cx="3749040" cy="937260"/>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cs typeface="Amiri" pitchFamily="2" charset="-78"/>
              </a:rPr>
              <a:t>I exercise twice a week.</a:t>
            </a:r>
            <a:endParaRPr lang="en-US" sz="1250" dirty="0"/>
          </a:p>
          <a:p>
            <a:pPr indent="0" marL="0">
              <a:buNone/>
            </a:pPr>
            <a:r>
              <a:rPr lang="en-US" sz="1050" i="1" dirty="0">
                <a:solidFill>
                  <a:srgbClr val="8A6D1E"/>
                </a:solidFill>
                <a:latin typeface="Calibri" pitchFamily="34" charset="0"/>
                <a:cs typeface="Amiri" pitchFamily="2" charset="-78"/>
              </a:rPr>
              <a:t>Dual frequency expression.</a:t>
            </a:r>
            <a:endParaRPr lang="en-US" sz="1250" dirty="0"/>
          </a:p>
        </p:txBody>
      </p:sp>
      <p:sp>
        <p:nvSpPr>
          <p:cNvPr id="30" name="Shape 27"/>
          <p:cNvSpPr/>
          <p:nvPr/>
        </p:nvSpPr>
        <p:spPr>
          <a:xfrm>
            <a:off x="457200" y="5280660"/>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11201400" y="5593842"/>
            <a:ext cx="402336" cy="402336"/>
          </a:xfrm>
          <a:prstGeom prst="ellipse">
            <a:avLst/>
          </a:prstGeom>
          <a:solidFill>
            <a:srgbClr val="1B3B6F"/>
          </a:solidFill>
          <a:ln w="12700">
            <a:solidFill>
              <a:srgbClr val="1B3B6F"/>
            </a:solidFill>
            <a:prstDash val="solid"/>
          </a:ln>
        </p:spPr>
      </p:sp>
      <p:sp>
        <p:nvSpPr>
          <p:cNvPr id="32" name="Text 29"/>
          <p:cNvSpPr txBox="1"/>
          <p:nvPr/>
        </p:nvSpPr>
        <p:spPr>
          <a:xfrm>
            <a:off x="11201400" y="5593842"/>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4</a:t>
            </a:r>
            <a:endParaRPr lang="en-US" sz="1300" dirty="0"/>
          </a:p>
        </p:txBody>
      </p:sp>
      <p:sp>
        <p:nvSpPr>
          <p:cNvPr id="33" name="Text 30"/>
          <p:cNvSpPr txBox="1"/>
          <p:nvPr/>
        </p:nvSpPr>
        <p:spPr>
          <a:xfrm>
            <a:off x="4572000" y="5317236"/>
            <a:ext cx="6492240" cy="955548"/>
          </a:xfrm>
          <a:prstGeom prst="rect">
            <a:avLst/>
          </a:prstGeom>
          <a:noFill/>
          <a:ln/>
        </p:spPr>
        <p:txBody>
          <a:bodyPr wrap="square" lIns="0" tIns="0" rIns="0" bIns="0" rtlCol="0" anchor="ctr"/>
          <a:lstStyle/>
          <a:p>
            <a:pPr rtl="1" algn="r" indent="0" marL="0">
              <a:buNone/>
            </a:pPr>
            <a:r>
              <a:rPr lang="ar-SA" altLang="en-US" sz="2600" b="1" dirty="0">
                <a:solidFill>
                  <a:srgbClr val="1B3B6F"/>
                </a:solidFill>
                <a:latin typeface="Amiri" pitchFamily="2" charset="-78"/>
                <a:ea typeface="Amiri" pitchFamily="2" charset="-78"/>
                <a:cs typeface="Amiri" pitchFamily="2" charset="-78"/>
              </a:rPr>
              <a:t>عِنْدَمَا أَنْتَهِي مِنَ العَمَلِ، أُسَاعِدُ أُسْرَتِي.</a:t>
            </a:r>
            <a:endParaRPr lang="ar-SA" sz="2600" dirty="0"/>
          </a:p>
        </p:txBody>
      </p:sp>
      <p:sp>
        <p:nvSpPr>
          <p:cNvPr id="34" name="Text 31"/>
          <p:cNvSpPr txBox="1"/>
          <p:nvPr/>
        </p:nvSpPr>
        <p:spPr>
          <a:xfrm>
            <a:off x="685800" y="5326380"/>
            <a:ext cx="3749040" cy="937260"/>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cs typeface="Amiri" pitchFamily="2" charset="-78"/>
              </a:rPr>
              <a:t>When I finish work, I help my family.</a:t>
            </a:r>
            <a:endParaRPr lang="en-US" sz="1250" dirty="0"/>
          </a:p>
          <a:p>
            <a:pPr indent="0" marL="0">
              <a:buNone/>
            </a:pPr>
            <a:r>
              <a:rPr lang="en-US" sz="1050" i="1" dirty="0">
                <a:solidFill>
                  <a:srgbClr val="8A6D1E"/>
                </a:solidFill>
                <a:latin typeface="Calibri" pitchFamily="34" charset="0"/>
                <a:cs typeface="Amiri" pitchFamily="2" charset="-78"/>
              </a:rPr>
              <a:t>A second sequence structure.</a:t>
            </a:r>
            <a:endParaRPr lang="en-US" sz="1250" dirty="0"/>
          </a:p>
        </p:txBody>
      </p:sp>
      <p:sp>
        <p:nvSpPr>
          <p:cNvPr id="35" name="Text 3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20 / 46</a:t>
            </a:r>
            <a:endParaRPr lang="en-US" sz="8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D1-L04 · Before and After</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800" b="1" spc="150" kern="0" dirty="0">
                <a:solidFill>
                  <a:srgbClr val="2F6FB0"/>
                </a:solidFill>
                <a:latin typeface="Calibri" pitchFamily="34" charset="0"/>
                <a:cs typeface="Amiri" pitchFamily="2" charset="-78"/>
              </a:rPr>
              <a:t>WE DO · PICTURE MATCH · WEBSITE GAME “VISUAL GAME — BEFORE AND AFTER — SEQUENCING MY DAY”</a:t>
            </a:r>
            <a:endParaRPr lang="en-US" sz="8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450" b="1" dirty="0">
                <a:solidFill>
                  <a:srgbClr val="1B3B6F"/>
                </a:solidFill>
                <a:latin typeface="Cambria" pitchFamily="34" charset="0"/>
                <a:cs typeface="Amiri" pitchFamily="2" charset="-78"/>
              </a:rPr>
              <a:t>Which comes first? Match the picture</a:t>
            </a:r>
            <a:endParaRPr lang="en-US" sz="24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رَتِّبِ اليَوْمَ</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D1 · Daily Routine and Time · D1-L04</a:t>
            </a:r>
            <a:endParaRPr lang="en-US" sz="850" dirty="0"/>
          </a:p>
        </p:txBody>
      </p:sp>
      <p:sp>
        <p:nvSpPr>
          <p:cNvPr id="15" name="Shape 12"/>
          <p:cNvSpPr/>
          <p:nvPr/>
        </p:nvSpPr>
        <p:spPr>
          <a:xfrm>
            <a:off x="8095488"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23504" y="1938528"/>
            <a:ext cx="365760" cy="365760"/>
          </a:xfrm>
          <a:prstGeom prst="ellipse">
            <a:avLst/>
          </a:prstGeom>
          <a:solidFill>
            <a:srgbClr val="1B3B6F"/>
          </a:solidFill>
          <a:ln w="12700">
            <a:solidFill>
              <a:srgbClr val="1B3B6F"/>
            </a:solidFill>
            <a:prstDash val="solid"/>
          </a:ln>
        </p:spPr>
      </p:sp>
      <p:sp>
        <p:nvSpPr>
          <p:cNvPr id="17" name="Text 14"/>
          <p:cNvSpPr txBox="1"/>
          <p:nvPr/>
        </p:nvSpPr>
        <p:spPr>
          <a:xfrm>
            <a:off x="8223504"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1</a:t>
            </a:r>
            <a:endParaRPr lang="en-US" sz="1200" dirty="0"/>
          </a:p>
        </p:txBody>
      </p:sp>
      <p:sp>
        <p:nvSpPr>
          <p:cNvPr id="18" name="Shape 15"/>
          <p:cNvSpPr/>
          <p:nvPr/>
        </p:nvSpPr>
        <p:spPr>
          <a:xfrm>
            <a:off x="8811768" y="2066544"/>
            <a:ext cx="1014984" cy="1014984"/>
          </a:xfrm>
          <a:prstGeom prst="ellipse">
            <a:avLst/>
          </a:prstGeom>
          <a:solidFill>
            <a:srgbClr val="F4F1EA"/>
          </a:solidFill>
          <a:ln w="12700">
            <a:solidFill>
              <a:srgbClr val="F4F1EA"/>
            </a:solidFill>
            <a:prstDash val="solid"/>
          </a:ln>
        </p:spPr>
      </p:sp>
      <p:pic>
        <p:nvPicPr>
          <p:cNvPr id="19" name="Image 0" descr="preencoded.png">    </p:cNvPr>
          <p:cNvPicPr>
            <a:picLocks noChangeAspect="1"/>
          </p:cNvPicPr>
          <p:nvPr/>
        </p:nvPicPr>
        <p:blipFill>
          <a:blip r:embed="rId1"/>
          <a:stretch>
            <a:fillRect/>
          </a:stretch>
        </p:blipFill>
        <p:spPr>
          <a:xfrm>
            <a:off x="8994648" y="2249424"/>
            <a:ext cx="649224" cy="649224"/>
          </a:xfrm>
          <a:prstGeom prst="rect">
            <a:avLst/>
          </a:prstGeom>
        </p:spPr>
      </p:pic>
      <p:sp>
        <p:nvSpPr>
          <p:cNvPr id="20" name="Shape 16"/>
          <p:cNvSpPr/>
          <p:nvPr/>
        </p:nvSpPr>
        <p:spPr>
          <a:xfrm>
            <a:off x="10000488" y="2066544"/>
            <a:ext cx="1014984" cy="1014984"/>
          </a:xfrm>
          <a:prstGeom prst="ellipse">
            <a:avLst/>
          </a:prstGeom>
          <a:solidFill>
            <a:srgbClr val="F4F1EA"/>
          </a:solidFill>
          <a:ln w="12700">
            <a:solidFill>
              <a:srgbClr val="F4F1EA"/>
            </a:solidFill>
            <a:prstDash val="solid"/>
          </a:ln>
        </p:spPr>
      </p:sp>
      <p:pic>
        <p:nvPicPr>
          <p:cNvPr id="21" name="Image 1" descr="preencoded.png">    </p:cNvPr>
          <p:cNvPicPr>
            <a:picLocks noChangeAspect="1"/>
          </p:cNvPicPr>
          <p:nvPr/>
        </p:nvPicPr>
        <p:blipFill>
          <a:blip r:embed="rId2"/>
          <a:stretch>
            <a:fillRect/>
          </a:stretch>
        </p:blipFill>
        <p:spPr>
          <a:xfrm>
            <a:off x="10183368" y="2249424"/>
            <a:ext cx="649224" cy="649224"/>
          </a:xfrm>
          <a:prstGeom prst="rect">
            <a:avLst/>
          </a:prstGeom>
        </p:spPr>
      </p:pic>
      <p:sp>
        <p:nvSpPr>
          <p:cNvPr id="22" name="Text 17"/>
          <p:cNvSpPr txBox="1"/>
          <p:nvPr/>
        </p:nvSpPr>
        <p:spPr>
          <a:xfrm>
            <a:off x="8232648"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1 wake → 2 breakfast</a:t>
            </a:r>
            <a:endParaRPr lang="en-US" sz="1100" dirty="0"/>
          </a:p>
        </p:txBody>
      </p:sp>
      <p:sp>
        <p:nvSpPr>
          <p:cNvPr id="23" name="Shape 18"/>
          <p:cNvSpPr/>
          <p:nvPr/>
        </p:nvSpPr>
        <p:spPr>
          <a:xfrm>
            <a:off x="4276344"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19"/>
          <p:cNvSpPr/>
          <p:nvPr/>
        </p:nvSpPr>
        <p:spPr>
          <a:xfrm>
            <a:off x="4404360" y="1938528"/>
            <a:ext cx="365760" cy="365760"/>
          </a:xfrm>
          <a:prstGeom prst="ellipse">
            <a:avLst/>
          </a:prstGeom>
          <a:solidFill>
            <a:srgbClr val="1B3B6F"/>
          </a:solidFill>
          <a:ln w="12700">
            <a:solidFill>
              <a:srgbClr val="1B3B6F"/>
            </a:solidFill>
            <a:prstDash val="solid"/>
          </a:ln>
        </p:spPr>
      </p:sp>
      <p:sp>
        <p:nvSpPr>
          <p:cNvPr id="25" name="Text 20"/>
          <p:cNvSpPr txBox="1"/>
          <p:nvPr/>
        </p:nvSpPr>
        <p:spPr>
          <a:xfrm>
            <a:off x="4404360"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2</a:t>
            </a:r>
            <a:endParaRPr lang="en-US" sz="1200" dirty="0"/>
          </a:p>
        </p:txBody>
      </p:sp>
      <p:sp>
        <p:nvSpPr>
          <p:cNvPr id="26" name="Shape 21"/>
          <p:cNvSpPr/>
          <p:nvPr/>
        </p:nvSpPr>
        <p:spPr>
          <a:xfrm>
            <a:off x="4992624" y="2066544"/>
            <a:ext cx="1014984" cy="1014984"/>
          </a:xfrm>
          <a:prstGeom prst="ellipse">
            <a:avLst/>
          </a:prstGeom>
          <a:solidFill>
            <a:srgbClr val="F4F1EA"/>
          </a:solidFill>
          <a:ln w="12700">
            <a:solidFill>
              <a:srgbClr val="F4F1EA"/>
            </a:solidFill>
            <a:prstDash val="solid"/>
          </a:ln>
        </p:spPr>
      </p:sp>
      <p:pic>
        <p:nvPicPr>
          <p:cNvPr id="27" name="Image 2" descr="preencoded.png">    </p:cNvPr>
          <p:cNvPicPr>
            <a:picLocks noChangeAspect="1"/>
          </p:cNvPicPr>
          <p:nvPr/>
        </p:nvPicPr>
        <p:blipFill>
          <a:blip r:embed="rId3"/>
          <a:stretch>
            <a:fillRect/>
          </a:stretch>
        </p:blipFill>
        <p:spPr>
          <a:xfrm>
            <a:off x="5175504" y="2249424"/>
            <a:ext cx="649224" cy="649224"/>
          </a:xfrm>
          <a:prstGeom prst="rect">
            <a:avLst/>
          </a:prstGeom>
        </p:spPr>
      </p:pic>
      <p:sp>
        <p:nvSpPr>
          <p:cNvPr id="28" name="Shape 22"/>
          <p:cNvSpPr/>
          <p:nvPr/>
        </p:nvSpPr>
        <p:spPr>
          <a:xfrm>
            <a:off x="6181344" y="2066544"/>
            <a:ext cx="1014984" cy="1014984"/>
          </a:xfrm>
          <a:prstGeom prst="ellipse">
            <a:avLst/>
          </a:prstGeom>
          <a:solidFill>
            <a:srgbClr val="F4F1EA"/>
          </a:solidFill>
          <a:ln w="12700">
            <a:solidFill>
              <a:srgbClr val="F4F1EA"/>
            </a:solidFill>
            <a:prstDash val="solid"/>
          </a:ln>
        </p:spPr>
      </p:sp>
      <p:pic>
        <p:nvPicPr>
          <p:cNvPr id="29" name="Image 3" descr="preencoded.png">    </p:cNvPr>
          <p:cNvPicPr>
            <a:picLocks noChangeAspect="1"/>
          </p:cNvPicPr>
          <p:nvPr/>
        </p:nvPicPr>
        <p:blipFill>
          <a:blip r:embed="rId4"/>
          <a:stretch>
            <a:fillRect/>
          </a:stretch>
        </p:blipFill>
        <p:spPr>
          <a:xfrm>
            <a:off x="6364224" y="2249424"/>
            <a:ext cx="649224" cy="649224"/>
          </a:xfrm>
          <a:prstGeom prst="rect">
            <a:avLst/>
          </a:prstGeom>
        </p:spPr>
      </p:pic>
      <p:sp>
        <p:nvSpPr>
          <p:cNvPr id="30" name="Text 23"/>
          <p:cNvSpPr txBox="1"/>
          <p:nvPr/>
        </p:nvSpPr>
        <p:spPr>
          <a:xfrm>
            <a:off x="4413504"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1 teeth → 2 bed</a:t>
            </a:r>
            <a:endParaRPr lang="en-US" sz="1100" dirty="0"/>
          </a:p>
        </p:txBody>
      </p:sp>
      <p:sp>
        <p:nvSpPr>
          <p:cNvPr id="31" name="Shape 24"/>
          <p:cNvSpPr/>
          <p:nvPr/>
        </p:nvSpPr>
        <p:spPr>
          <a:xfrm>
            <a:off x="457200"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5"/>
          <p:cNvSpPr/>
          <p:nvPr/>
        </p:nvSpPr>
        <p:spPr>
          <a:xfrm>
            <a:off x="585216" y="1938528"/>
            <a:ext cx="365760" cy="365760"/>
          </a:xfrm>
          <a:prstGeom prst="ellipse">
            <a:avLst/>
          </a:prstGeom>
          <a:solidFill>
            <a:srgbClr val="1B3B6F"/>
          </a:solidFill>
          <a:ln w="12700">
            <a:solidFill>
              <a:srgbClr val="1B3B6F"/>
            </a:solidFill>
            <a:prstDash val="solid"/>
          </a:ln>
        </p:spPr>
      </p:sp>
      <p:sp>
        <p:nvSpPr>
          <p:cNvPr id="33" name="Text 26"/>
          <p:cNvSpPr txBox="1"/>
          <p:nvPr/>
        </p:nvSpPr>
        <p:spPr>
          <a:xfrm>
            <a:off x="585216"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3</a:t>
            </a:r>
            <a:endParaRPr lang="en-US" sz="1200" dirty="0"/>
          </a:p>
        </p:txBody>
      </p:sp>
      <p:sp>
        <p:nvSpPr>
          <p:cNvPr id="34" name="Shape 27"/>
          <p:cNvSpPr/>
          <p:nvPr/>
        </p:nvSpPr>
        <p:spPr>
          <a:xfrm>
            <a:off x="1173480" y="2066544"/>
            <a:ext cx="1014984" cy="1014984"/>
          </a:xfrm>
          <a:prstGeom prst="ellipse">
            <a:avLst/>
          </a:prstGeom>
          <a:solidFill>
            <a:srgbClr val="F4F1EA"/>
          </a:solidFill>
          <a:ln w="12700">
            <a:solidFill>
              <a:srgbClr val="F4F1EA"/>
            </a:solidFill>
            <a:prstDash val="solid"/>
          </a:ln>
        </p:spPr>
      </p:sp>
      <p:pic>
        <p:nvPicPr>
          <p:cNvPr id="35" name="Image 4" descr="preencoded.png">    </p:cNvPr>
          <p:cNvPicPr>
            <a:picLocks noChangeAspect="1"/>
          </p:cNvPicPr>
          <p:nvPr/>
        </p:nvPicPr>
        <p:blipFill>
          <a:blip r:embed="rId5"/>
          <a:stretch>
            <a:fillRect/>
          </a:stretch>
        </p:blipFill>
        <p:spPr>
          <a:xfrm>
            <a:off x="1356360" y="2249424"/>
            <a:ext cx="649224" cy="649224"/>
          </a:xfrm>
          <a:prstGeom prst="rect">
            <a:avLst/>
          </a:prstGeom>
        </p:spPr>
      </p:pic>
      <p:sp>
        <p:nvSpPr>
          <p:cNvPr id="36" name="Shape 28"/>
          <p:cNvSpPr/>
          <p:nvPr/>
        </p:nvSpPr>
        <p:spPr>
          <a:xfrm>
            <a:off x="2362200" y="2066544"/>
            <a:ext cx="1014984" cy="1014984"/>
          </a:xfrm>
          <a:prstGeom prst="ellipse">
            <a:avLst/>
          </a:prstGeom>
          <a:solidFill>
            <a:srgbClr val="F4F1EA"/>
          </a:solidFill>
          <a:ln w="12700">
            <a:solidFill>
              <a:srgbClr val="F4F1EA"/>
            </a:solidFill>
            <a:prstDash val="solid"/>
          </a:ln>
        </p:spPr>
      </p:sp>
      <p:pic>
        <p:nvPicPr>
          <p:cNvPr id="37" name="Image 5" descr="preencoded.png">    </p:cNvPr>
          <p:cNvPicPr>
            <a:picLocks noChangeAspect="1"/>
          </p:cNvPicPr>
          <p:nvPr/>
        </p:nvPicPr>
        <p:blipFill>
          <a:blip r:embed="rId6"/>
          <a:stretch>
            <a:fillRect/>
          </a:stretch>
        </p:blipFill>
        <p:spPr>
          <a:xfrm>
            <a:off x="2545080" y="2249424"/>
            <a:ext cx="649224" cy="649224"/>
          </a:xfrm>
          <a:prstGeom prst="rect">
            <a:avLst/>
          </a:prstGeom>
        </p:spPr>
      </p:pic>
      <p:sp>
        <p:nvSpPr>
          <p:cNvPr id="38" name="Text 29"/>
          <p:cNvSpPr txBox="1"/>
          <p:nvPr/>
        </p:nvSpPr>
        <p:spPr>
          <a:xfrm>
            <a:off x="594360"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1 homework → 2 games</a:t>
            </a:r>
            <a:endParaRPr lang="en-US" sz="1100" dirty="0"/>
          </a:p>
        </p:txBody>
      </p:sp>
      <p:sp>
        <p:nvSpPr>
          <p:cNvPr id="39" name="Shape 30"/>
          <p:cNvSpPr/>
          <p:nvPr/>
        </p:nvSpPr>
        <p:spPr>
          <a:xfrm>
            <a:off x="457200" y="3730752"/>
            <a:ext cx="11274552" cy="493776"/>
          </a:xfrm>
          <a:prstGeom prst="roundRect">
            <a:avLst>
              <a:gd name="adj" fmla="val 11111"/>
            </a:avLst>
          </a:prstGeom>
          <a:solidFill>
            <a:srgbClr val="EEF3FA"/>
          </a:solidFill>
          <a:ln w="9525">
            <a:solidFill>
              <a:srgbClr val="C9D6EA"/>
            </a:solidFill>
            <a:prstDash val="solid"/>
          </a:ln>
        </p:spPr>
      </p:sp>
      <p:sp>
        <p:nvSpPr>
          <p:cNvPr id="40" name="Shape 31"/>
          <p:cNvSpPr/>
          <p:nvPr/>
        </p:nvSpPr>
        <p:spPr>
          <a:xfrm>
            <a:off x="11247120" y="3831336"/>
            <a:ext cx="292608" cy="292608"/>
          </a:xfrm>
          <a:prstGeom prst="ellipse">
            <a:avLst/>
          </a:prstGeom>
          <a:solidFill>
            <a:srgbClr val="2F6FB0"/>
          </a:solidFill>
          <a:ln w="12700">
            <a:solidFill>
              <a:srgbClr val="2F6FB0"/>
            </a:solidFill>
            <a:prstDash val="solid"/>
          </a:ln>
        </p:spPr>
      </p:sp>
      <p:sp>
        <p:nvSpPr>
          <p:cNvPr id="41" name="Text 32"/>
          <p:cNvSpPr txBox="1"/>
          <p:nvPr/>
        </p:nvSpPr>
        <p:spPr>
          <a:xfrm>
            <a:off x="11247120" y="3831336"/>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A</a:t>
            </a:r>
            <a:endParaRPr lang="en-US" sz="1000" dirty="0"/>
          </a:p>
        </p:txBody>
      </p:sp>
      <p:sp>
        <p:nvSpPr>
          <p:cNvPr id="42" name="Text 33"/>
          <p:cNvSpPr txBox="1"/>
          <p:nvPr/>
        </p:nvSpPr>
        <p:spPr>
          <a:xfrm>
            <a:off x="731520" y="3730752"/>
            <a:ext cx="10378440" cy="493776"/>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قَبْلَ النَّوْمِ أُنَظِّفُ أَسْنَانِي.</a:t>
            </a:r>
            <a:endParaRPr lang="ar-SA" sz="2000" dirty="0"/>
          </a:p>
        </p:txBody>
      </p:sp>
      <p:sp>
        <p:nvSpPr>
          <p:cNvPr id="43" name="Shape 34"/>
          <p:cNvSpPr/>
          <p:nvPr/>
        </p:nvSpPr>
        <p:spPr>
          <a:xfrm>
            <a:off x="457200" y="4297680"/>
            <a:ext cx="11274552" cy="493776"/>
          </a:xfrm>
          <a:prstGeom prst="roundRect">
            <a:avLst>
              <a:gd name="adj" fmla="val 11111"/>
            </a:avLst>
          </a:prstGeom>
          <a:solidFill>
            <a:srgbClr val="EEF3FA"/>
          </a:solidFill>
          <a:ln w="9525">
            <a:solidFill>
              <a:srgbClr val="C9D6EA"/>
            </a:solidFill>
            <a:prstDash val="solid"/>
          </a:ln>
        </p:spPr>
      </p:sp>
      <p:sp>
        <p:nvSpPr>
          <p:cNvPr id="44" name="Shape 35"/>
          <p:cNvSpPr/>
          <p:nvPr/>
        </p:nvSpPr>
        <p:spPr>
          <a:xfrm>
            <a:off x="11247120" y="4398264"/>
            <a:ext cx="292608" cy="292608"/>
          </a:xfrm>
          <a:prstGeom prst="ellipse">
            <a:avLst/>
          </a:prstGeom>
          <a:solidFill>
            <a:srgbClr val="2F6FB0"/>
          </a:solidFill>
          <a:ln w="12700">
            <a:solidFill>
              <a:srgbClr val="2F6FB0"/>
            </a:solidFill>
            <a:prstDash val="solid"/>
          </a:ln>
        </p:spPr>
      </p:sp>
      <p:sp>
        <p:nvSpPr>
          <p:cNvPr id="45" name="Text 36"/>
          <p:cNvSpPr txBox="1"/>
          <p:nvPr/>
        </p:nvSpPr>
        <p:spPr>
          <a:xfrm>
            <a:off x="11247120" y="4398264"/>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B</a:t>
            </a:r>
            <a:endParaRPr lang="en-US" sz="1000" dirty="0"/>
          </a:p>
        </p:txBody>
      </p:sp>
      <p:sp>
        <p:nvSpPr>
          <p:cNvPr id="46" name="Text 37"/>
          <p:cNvSpPr txBox="1"/>
          <p:nvPr/>
        </p:nvSpPr>
        <p:spPr>
          <a:xfrm>
            <a:off x="731520" y="4297680"/>
            <a:ext cx="10378440" cy="493776"/>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بَعْدَ الوَاجِبِ أَلْعَبُ.</a:t>
            </a:r>
            <a:endParaRPr lang="ar-SA" sz="2000" dirty="0"/>
          </a:p>
        </p:txBody>
      </p:sp>
      <p:sp>
        <p:nvSpPr>
          <p:cNvPr id="47" name="Shape 38"/>
          <p:cNvSpPr/>
          <p:nvPr/>
        </p:nvSpPr>
        <p:spPr>
          <a:xfrm>
            <a:off x="457200" y="4864608"/>
            <a:ext cx="11274552" cy="493776"/>
          </a:xfrm>
          <a:prstGeom prst="roundRect">
            <a:avLst>
              <a:gd name="adj" fmla="val 11111"/>
            </a:avLst>
          </a:prstGeom>
          <a:solidFill>
            <a:srgbClr val="EEF3FA"/>
          </a:solidFill>
          <a:ln w="9525">
            <a:solidFill>
              <a:srgbClr val="C9D6EA"/>
            </a:solidFill>
            <a:prstDash val="solid"/>
          </a:ln>
        </p:spPr>
      </p:sp>
      <p:sp>
        <p:nvSpPr>
          <p:cNvPr id="48" name="Shape 39"/>
          <p:cNvSpPr/>
          <p:nvPr/>
        </p:nvSpPr>
        <p:spPr>
          <a:xfrm>
            <a:off x="11247120" y="4965192"/>
            <a:ext cx="292608" cy="292608"/>
          </a:xfrm>
          <a:prstGeom prst="ellipse">
            <a:avLst/>
          </a:prstGeom>
          <a:solidFill>
            <a:srgbClr val="2F6FB0"/>
          </a:solidFill>
          <a:ln w="12700">
            <a:solidFill>
              <a:srgbClr val="2F6FB0"/>
            </a:solidFill>
            <a:prstDash val="solid"/>
          </a:ln>
        </p:spPr>
      </p:sp>
      <p:sp>
        <p:nvSpPr>
          <p:cNvPr id="49" name="Text 40"/>
          <p:cNvSpPr txBox="1"/>
          <p:nvPr/>
        </p:nvSpPr>
        <p:spPr>
          <a:xfrm>
            <a:off x="11247120" y="4965192"/>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C</a:t>
            </a:r>
            <a:endParaRPr lang="en-US" sz="1000" dirty="0"/>
          </a:p>
        </p:txBody>
      </p:sp>
      <p:sp>
        <p:nvSpPr>
          <p:cNvPr id="50" name="Text 41"/>
          <p:cNvSpPr txBox="1"/>
          <p:nvPr/>
        </p:nvSpPr>
        <p:spPr>
          <a:xfrm>
            <a:off x="731520" y="4864608"/>
            <a:ext cx="10378440" cy="493776"/>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قَبْلَ الإِفْطَارِ أَسْتَيْقِظُ.</a:t>
            </a:r>
            <a:endParaRPr lang="ar-SA" sz="2000" dirty="0"/>
          </a:p>
        </p:txBody>
      </p:sp>
      <p:sp>
        <p:nvSpPr>
          <p:cNvPr id="51" name="Text 42"/>
          <p:cNvSpPr txBox="1"/>
          <p:nvPr/>
        </p:nvSpPr>
        <p:spPr>
          <a:xfrm>
            <a:off x="457200" y="5468112"/>
            <a:ext cx="11274552" cy="365760"/>
          </a:xfrm>
          <a:prstGeom prst="rect">
            <a:avLst/>
          </a:prstGeom>
          <a:noFill/>
          <a:ln/>
        </p:spPr>
        <p:txBody>
          <a:bodyPr wrap="square" lIns="0" tIns="0" rIns="0" bIns="0" rtlCol="0" anchor="ctr"/>
          <a:lstStyle/>
          <a:p>
            <a:pPr algn="l" indent="0" marL="0">
              <a:buNone/>
            </a:pPr>
            <a:r>
              <a:rPr lang="en-US" sz="1250" b="1" dirty="0">
                <a:solidFill>
                  <a:srgbClr val="2F6FB0"/>
                </a:solidFill>
                <a:latin typeface="Calibri" pitchFamily="34" charset="0"/>
                <a:cs typeface="Amiri" pitchFamily="2" charset="-78"/>
              </a:rPr>
              <a:t>Match each picture to a sentence. Type in the chat: 1_  2_  3_</a:t>
            </a:r>
            <a:endParaRPr lang="en-US" sz="1250" dirty="0"/>
          </a:p>
        </p:txBody>
      </p:sp>
      <p:sp>
        <p:nvSpPr>
          <p:cNvPr id="52" name="Text 43"/>
          <p:cNvSpPr txBox="1"/>
          <p:nvPr/>
        </p:nvSpPr>
        <p:spPr>
          <a:xfrm>
            <a:off x="457200" y="5852160"/>
            <a:ext cx="11274552" cy="365760"/>
          </a:xfrm>
          <a:prstGeom prst="rect">
            <a:avLst/>
          </a:prstGeom>
          <a:noFill/>
          <a:ln/>
        </p:spPr>
        <p:txBody>
          <a:bodyPr wrap="square" lIns="0" tIns="0" rIns="0" bIns="0" rtlCol="0" anchor="ctr"/>
          <a:lstStyle/>
          <a:p>
            <a:pPr algn="l" indent="0" marL="0">
              <a:buNone/>
            </a:pPr>
            <a:r>
              <a:rPr lang="en-US" sz="1150" i="1" dirty="0">
                <a:solidFill>
                  <a:srgbClr val="5A6472"/>
                </a:solidFill>
                <a:latin typeface="Calibri" pitchFamily="34" charset="0"/>
                <a:cs typeface="Amiri" pitchFamily="2" charset="-78"/>
              </a:rPr>
              <a:t>Core: find ONE key word you know in each sentence first.</a:t>
            </a:r>
            <a:endParaRPr lang="en-US" sz="1150" dirty="0"/>
          </a:p>
        </p:txBody>
      </p:sp>
      <p:sp>
        <p:nvSpPr>
          <p:cNvPr id="53" name="Text 4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21 / 46</a:t>
            </a:r>
            <a:endParaRPr lang="en-US" sz="8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D1-L04 · Before and After</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PICTURE MATCH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Picture match: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رَتِّبِ اليَوْمَ</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D1 · Daily Routine and Time · D1-L04</a:t>
            </a:r>
            <a:endParaRPr lang="en-US" sz="850" dirty="0"/>
          </a:p>
        </p:txBody>
      </p:sp>
      <p:sp>
        <p:nvSpPr>
          <p:cNvPr id="15" name="Shape 12"/>
          <p:cNvSpPr/>
          <p:nvPr/>
        </p:nvSpPr>
        <p:spPr>
          <a:xfrm>
            <a:off x="8095488"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23504" y="1938528"/>
            <a:ext cx="365760" cy="365760"/>
          </a:xfrm>
          <a:prstGeom prst="ellipse">
            <a:avLst/>
          </a:prstGeom>
          <a:solidFill>
            <a:srgbClr val="1B3B6F"/>
          </a:solidFill>
          <a:ln w="12700">
            <a:solidFill>
              <a:srgbClr val="1B3B6F"/>
            </a:solidFill>
            <a:prstDash val="solid"/>
          </a:ln>
        </p:spPr>
      </p:sp>
      <p:sp>
        <p:nvSpPr>
          <p:cNvPr id="17" name="Text 14"/>
          <p:cNvSpPr txBox="1"/>
          <p:nvPr/>
        </p:nvSpPr>
        <p:spPr>
          <a:xfrm>
            <a:off x="8223504"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1</a:t>
            </a:r>
            <a:endParaRPr lang="en-US" sz="1200" dirty="0"/>
          </a:p>
        </p:txBody>
      </p:sp>
      <p:sp>
        <p:nvSpPr>
          <p:cNvPr id="18" name="Shape 15"/>
          <p:cNvSpPr/>
          <p:nvPr/>
        </p:nvSpPr>
        <p:spPr>
          <a:xfrm>
            <a:off x="8811768" y="2066544"/>
            <a:ext cx="1014984" cy="1014984"/>
          </a:xfrm>
          <a:prstGeom prst="ellipse">
            <a:avLst/>
          </a:prstGeom>
          <a:solidFill>
            <a:srgbClr val="F4F1EA"/>
          </a:solidFill>
          <a:ln w="12700">
            <a:solidFill>
              <a:srgbClr val="F4F1EA"/>
            </a:solidFill>
            <a:prstDash val="solid"/>
          </a:ln>
        </p:spPr>
      </p:sp>
      <p:pic>
        <p:nvPicPr>
          <p:cNvPr id="19" name="Image 0" descr="preencoded.png">    </p:cNvPr>
          <p:cNvPicPr>
            <a:picLocks noChangeAspect="1"/>
          </p:cNvPicPr>
          <p:nvPr/>
        </p:nvPicPr>
        <p:blipFill>
          <a:blip r:embed="rId1"/>
          <a:stretch>
            <a:fillRect/>
          </a:stretch>
        </p:blipFill>
        <p:spPr>
          <a:xfrm>
            <a:off x="8994648" y="2249424"/>
            <a:ext cx="649224" cy="649224"/>
          </a:xfrm>
          <a:prstGeom prst="rect">
            <a:avLst/>
          </a:prstGeom>
        </p:spPr>
      </p:pic>
      <p:sp>
        <p:nvSpPr>
          <p:cNvPr id="20" name="Shape 16"/>
          <p:cNvSpPr/>
          <p:nvPr/>
        </p:nvSpPr>
        <p:spPr>
          <a:xfrm>
            <a:off x="10000488" y="2066544"/>
            <a:ext cx="1014984" cy="1014984"/>
          </a:xfrm>
          <a:prstGeom prst="ellipse">
            <a:avLst/>
          </a:prstGeom>
          <a:solidFill>
            <a:srgbClr val="F4F1EA"/>
          </a:solidFill>
          <a:ln w="12700">
            <a:solidFill>
              <a:srgbClr val="F4F1EA"/>
            </a:solidFill>
            <a:prstDash val="solid"/>
          </a:ln>
        </p:spPr>
      </p:sp>
      <p:pic>
        <p:nvPicPr>
          <p:cNvPr id="21" name="Image 1" descr="preencoded.png">    </p:cNvPr>
          <p:cNvPicPr>
            <a:picLocks noChangeAspect="1"/>
          </p:cNvPicPr>
          <p:nvPr/>
        </p:nvPicPr>
        <p:blipFill>
          <a:blip r:embed="rId2"/>
          <a:stretch>
            <a:fillRect/>
          </a:stretch>
        </p:blipFill>
        <p:spPr>
          <a:xfrm>
            <a:off x="10183368" y="2249424"/>
            <a:ext cx="649224" cy="649224"/>
          </a:xfrm>
          <a:prstGeom prst="rect">
            <a:avLst/>
          </a:prstGeom>
        </p:spPr>
      </p:pic>
      <p:sp>
        <p:nvSpPr>
          <p:cNvPr id="22" name="Text 17"/>
          <p:cNvSpPr txBox="1"/>
          <p:nvPr/>
        </p:nvSpPr>
        <p:spPr>
          <a:xfrm>
            <a:off x="8232648"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1 wake → 2 breakfast</a:t>
            </a:r>
            <a:endParaRPr lang="en-US" sz="1100" dirty="0"/>
          </a:p>
        </p:txBody>
      </p:sp>
      <p:sp>
        <p:nvSpPr>
          <p:cNvPr id="23" name="Shape 18"/>
          <p:cNvSpPr/>
          <p:nvPr/>
        </p:nvSpPr>
        <p:spPr>
          <a:xfrm>
            <a:off x="8095488" y="3675888"/>
            <a:ext cx="3636264" cy="2633472"/>
          </a:xfrm>
          <a:prstGeom prst="roundRect">
            <a:avLst>
              <a:gd name="adj" fmla="val 2778"/>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4" name="Shape 19"/>
          <p:cNvSpPr/>
          <p:nvPr/>
        </p:nvSpPr>
        <p:spPr>
          <a:xfrm>
            <a:off x="11256264" y="3785616"/>
            <a:ext cx="329184" cy="329184"/>
          </a:xfrm>
          <a:prstGeom prst="ellipse">
            <a:avLst/>
          </a:prstGeom>
          <a:solidFill>
            <a:srgbClr val="2E8B57"/>
          </a:solidFill>
          <a:ln w="12700">
            <a:solidFill>
              <a:srgbClr val="2E8B57"/>
            </a:solidFill>
            <a:prstDash val="solid"/>
          </a:ln>
        </p:spPr>
      </p:sp>
      <p:sp>
        <p:nvSpPr>
          <p:cNvPr id="25" name="Text 20"/>
          <p:cNvSpPr txBox="1"/>
          <p:nvPr/>
        </p:nvSpPr>
        <p:spPr>
          <a:xfrm>
            <a:off x="11256264" y="3785616"/>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C</a:t>
            </a:r>
            <a:endParaRPr lang="en-US" sz="1100" dirty="0"/>
          </a:p>
        </p:txBody>
      </p:sp>
      <p:sp>
        <p:nvSpPr>
          <p:cNvPr id="26" name="Text 21"/>
          <p:cNvSpPr txBox="1"/>
          <p:nvPr/>
        </p:nvSpPr>
        <p:spPr>
          <a:xfrm>
            <a:off x="8232648" y="4160520"/>
            <a:ext cx="3361944" cy="1143000"/>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قَبْلَ الإِفْطَارِ أَسْتَيْقِظُ.</a:t>
            </a:r>
            <a:endParaRPr lang="ar-SA" sz="2200" dirty="0"/>
          </a:p>
        </p:txBody>
      </p:sp>
      <p:sp>
        <p:nvSpPr>
          <p:cNvPr id="27" name="Text 22"/>
          <p:cNvSpPr txBox="1"/>
          <p:nvPr/>
        </p:nvSpPr>
        <p:spPr>
          <a:xfrm>
            <a:off x="8232648" y="5349240"/>
            <a:ext cx="3361944" cy="822960"/>
          </a:xfrm>
          <a:prstGeom prst="rect">
            <a:avLst/>
          </a:prstGeom>
          <a:noFill/>
          <a:ln/>
        </p:spPr>
        <p:txBody>
          <a:bodyPr wrap="square" lIns="0" tIns="0" rIns="0" bIns="0" rtlCol="0" anchor="t"/>
          <a:lstStyle/>
          <a:p>
            <a:pPr algn="ctr" indent="0" marL="0">
              <a:buNone/>
            </a:pPr>
            <a:r>
              <a:rPr lang="en-US" sz="1200" i="1" dirty="0">
                <a:solidFill>
                  <a:srgbClr val="5A6472"/>
                </a:solidFill>
                <a:latin typeface="Calibri" pitchFamily="34" charset="0"/>
                <a:cs typeface="Amiri" pitchFamily="2" charset="-78"/>
              </a:rPr>
              <a:t>Before breakfast I wake up.</a:t>
            </a:r>
            <a:endParaRPr lang="en-US" sz="1200" dirty="0"/>
          </a:p>
        </p:txBody>
      </p:sp>
      <p:sp>
        <p:nvSpPr>
          <p:cNvPr id="28" name="Shape 23"/>
          <p:cNvSpPr/>
          <p:nvPr/>
        </p:nvSpPr>
        <p:spPr>
          <a:xfrm>
            <a:off x="4276344"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4"/>
          <p:cNvSpPr/>
          <p:nvPr/>
        </p:nvSpPr>
        <p:spPr>
          <a:xfrm>
            <a:off x="4404360" y="1938528"/>
            <a:ext cx="365760" cy="365760"/>
          </a:xfrm>
          <a:prstGeom prst="ellipse">
            <a:avLst/>
          </a:prstGeom>
          <a:solidFill>
            <a:srgbClr val="1B3B6F"/>
          </a:solidFill>
          <a:ln w="12700">
            <a:solidFill>
              <a:srgbClr val="1B3B6F"/>
            </a:solidFill>
            <a:prstDash val="solid"/>
          </a:ln>
        </p:spPr>
      </p:sp>
      <p:sp>
        <p:nvSpPr>
          <p:cNvPr id="30" name="Text 25"/>
          <p:cNvSpPr txBox="1"/>
          <p:nvPr/>
        </p:nvSpPr>
        <p:spPr>
          <a:xfrm>
            <a:off x="4404360"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2</a:t>
            </a:r>
            <a:endParaRPr lang="en-US" sz="1200" dirty="0"/>
          </a:p>
        </p:txBody>
      </p:sp>
      <p:sp>
        <p:nvSpPr>
          <p:cNvPr id="31" name="Shape 26"/>
          <p:cNvSpPr/>
          <p:nvPr/>
        </p:nvSpPr>
        <p:spPr>
          <a:xfrm>
            <a:off x="4992624" y="2066544"/>
            <a:ext cx="1014984" cy="1014984"/>
          </a:xfrm>
          <a:prstGeom prst="ellipse">
            <a:avLst/>
          </a:prstGeom>
          <a:solidFill>
            <a:srgbClr val="F4F1EA"/>
          </a:solidFill>
          <a:ln w="12700">
            <a:solidFill>
              <a:srgbClr val="F4F1EA"/>
            </a:solidFill>
            <a:prstDash val="solid"/>
          </a:ln>
        </p:spPr>
      </p:sp>
      <p:pic>
        <p:nvPicPr>
          <p:cNvPr id="32" name="Image 2" descr="preencoded.png">    </p:cNvPr>
          <p:cNvPicPr>
            <a:picLocks noChangeAspect="1"/>
          </p:cNvPicPr>
          <p:nvPr/>
        </p:nvPicPr>
        <p:blipFill>
          <a:blip r:embed="rId3"/>
          <a:stretch>
            <a:fillRect/>
          </a:stretch>
        </p:blipFill>
        <p:spPr>
          <a:xfrm>
            <a:off x="5175504" y="2249424"/>
            <a:ext cx="649224" cy="649224"/>
          </a:xfrm>
          <a:prstGeom prst="rect">
            <a:avLst/>
          </a:prstGeom>
        </p:spPr>
      </p:pic>
      <p:sp>
        <p:nvSpPr>
          <p:cNvPr id="33" name="Shape 27"/>
          <p:cNvSpPr/>
          <p:nvPr/>
        </p:nvSpPr>
        <p:spPr>
          <a:xfrm>
            <a:off x="6181344" y="2066544"/>
            <a:ext cx="1014984" cy="1014984"/>
          </a:xfrm>
          <a:prstGeom prst="ellipse">
            <a:avLst/>
          </a:prstGeom>
          <a:solidFill>
            <a:srgbClr val="F4F1EA"/>
          </a:solidFill>
          <a:ln w="12700">
            <a:solidFill>
              <a:srgbClr val="F4F1EA"/>
            </a:solidFill>
            <a:prstDash val="solid"/>
          </a:ln>
        </p:spPr>
      </p:sp>
      <p:pic>
        <p:nvPicPr>
          <p:cNvPr id="34" name="Image 3" descr="preencoded.png">    </p:cNvPr>
          <p:cNvPicPr>
            <a:picLocks noChangeAspect="1"/>
          </p:cNvPicPr>
          <p:nvPr/>
        </p:nvPicPr>
        <p:blipFill>
          <a:blip r:embed="rId4"/>
          <a:stretch>
            <a:fillRect/>
          </a:stretch>
        </p:blipFill>
        <p:spPr>
          <a:xfrm>
            <a:off x="6364224" y="2249424"/>
            <a:ext cx="649224" cy="649224"/>
          </a:xfrm>
          <a:prstGeom prst="rect">
            <a:avLst/>
          </a:prstGeom>
        </p:spPr>
      </p:pic>
      <p:sp>
        <p:nvSpPr>
          <p:cNvPr id="35" name="Text 28"/>
          <p:cNvSpPr txBox="1"/>
          <p:nvPr/>
        </p:nvSpPr>
        <p:spPr>
          <a:xfrm>
            <a:off x="4413504"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1 teeth → 2 bed</a:t>
            </a:r>
            <a:endParaRPr lang="en-US" sz="1100" dirty="0"/>
          </a:p>
        </p:txBody>
      </p:sp>
      <p:sp>
        <p:nvSpPr>
          <p:cNvPr id="36" name="Shape 29"/>
          <p:cNvSpPr/>
          <p:nvPr/>
        </p:nvSpPr>
        <p:spPr>
          <a:xfrm>
            <a:off x="4276344" y="3675888"/>
            <a:ext cx="3636264" cy="2633472"/>
          </a:xfrm>
          <a:prstGeom prst="roundRect">
            <a:avLst>
              <a:gd name="adj" fmla="val 2778"/>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37" name="Shape 30"/>
          <p:cNvSpPr/>
          <p:nvPr/>
        </p:nvSpPr>
        <p:spPr>
          <a:xfrm>
            <a:off x="7437120" y="3785616"/>
            <a:ext cx="329184" cy="329184"/>
          </a:xfrm>
          <a:prstGeom prst="ellipse">
            <a:avLst/>
          </a:prstGeom>
          <a:solidFill>
            <a:srgbClr val="2E8B57"/>
          </a:solidFill>
          <a:ln w="12700">
            <a:solidFill>
              <a:srgbClr val="2E8B57"/>
            </a:solidFill>
            <a:prstDash val="solid"/>
          </a:ln>
        </p:spPr>
      </p:sp>
      <p:sp>
        <p:nvSpPr>
          <p:cNvPr id="38" name="Text 31"/>
          <p:cNvSpPr txBox="1"/>
          <p:nvPr/>
        </p:nvSpPr>
        <p:spPr>
          <a:xfrm>
            <a:off x="7437120" y="3785616"/>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a:t>
            </a:r>
            <a:endParaRPr lang="en-US" sz="1100" dirty="0"/>
          </a:p>
        </p:txBody>
      </p:sp>
      <p:sp>
        <p:nvSpPr>
          <p:cNvPr id="39" name="Text 32"/>
          <p:cNvSpPr txBox="1"/>
          <p:nvPr/>
        </p:nvSpPr>
        <p:spPr>
          <a:xfrm>
            <a:off x="4413504" y="4160520"/>
            <a:ext cx="3361944" cy="1143000"/>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قَبْلَ النَّوْمِ أُنَظِّفُ أَسْنَانِي.</a:t>
            </a:r>
            <a:endParaRPr lang="ar-SA" sz="2200" dirty="0"/>
          </a:p>
        </p:txBody>
      </p:sp>
      <p:sp>
        <p:nvSpPr>
          <p:cNvPr id="40" name="Text 33"/>
          <p:cNvSpPr txBox="1"/>
          <p:nvPr/>
        </p:nvSpPr>
        <p:spPr>
          <a:xfrm>
            <a:off x="4413504" y="5349240"/>
            <a:ext cx="3361944" cy="822960"/>
          </a:xfrm>
          <a:prstGeom prst="rect">
            <a:avLst/>
          </a:prstGeom>
          <a:noFill/>
          <a:ln/>
        </p:spPr>
        <p:txBody>
          <a:bodyPr wrap="square" lIns="0" tIns="0" rIns="0" bIns="0" rtlCol="0" anchor="t"/>
          <a:lstStyle/>
          <a:p>
            <a:pPr algn="ctr" indent="0" marL="0">
              <a:buNone/>
            </a:pPr>
            <a:r>
              <a:rPr lang="en-US" sz="1200" i="1" dirty="0">
                <a:solidFill>
                  <a:srgbClr val="5A6472"/>
                </a:solidFill>
                <a:latin typeface="Calibri" pitchFamily="34" charset="0"/>
                <a:cs typeface="Amiri" pitchFamily="2" charset="-78"/>
              </a:rPr>
              <a:t>Before sleeping I brush my teeth.</a:t>
            </a:r>
            <a:endParaRPr lang="en-US" sz="1200" dirty="0"/>
          </a:p>
        </p:txBody>
      </p:sp>
      <p:sp>
        <p:nvSpPr>
          <p:cNvPr id="41" name="Shape 34"/>
          <p:cNvSpPr/>
          <p:nvPr/>
        </p:nvSpPr>
        <p:spPr>
          <a:xfrm>
            <a:off x="457200"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5"/>
          <p:cNvSpPr/>
          <p:nvPr/>
        </p:nvSpPr>
        <p:spPr>
          <a:xfrm>
            <a:off x="585216" y="1938528"/>
            <a:ext cx="365760" cy="365760"/>
          </a:xfrm>
          <a:prstGeom prst="ellipse">
            <a:avLst/>
          </a:prstGeom>
          <a:solidFill>
            <a:srgbClr val="1B3B6F"/>
          </a:solidFill>
          <a:ln w="12700">
            <a:solidFill>
              <a:srgbClr val="1B3B6F"/>
            </a:solidFill>
            <a:prstDash val="solid"/>
          </a:ln>
        </p:spPr>
      </p:sp>
      <p:sp>
        <p:nvSpPr>
          <p:cNvPr id="43" name="Text 36"/>
          <p:cNvSpPr txBox="1"/>
          <p:nvPr/>
        </p:nvSpPr>
        <p:spPr>
          <a:xfrm>
            <a:off x="585216"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3</a:t>
            </a:r>
            <a:endParaRPr lang="en-US" sz="1200" dirty="0"/>
          </a:p>
        </p:txBody>
      </p:sp>
      <p:sp>
        <p:nvSpPr>
          <p:cNvPr id="44" name="Shape 37"/>
          <p:cNvSpPr/>
          <p:nvPr/>
        </p:nvSpPr>
        <p:spPr>
          <a:xfrm>
            <a:off x="1173480" y="2066544"/>
            <a:ext cx="1014984" cy="1014984"/>
          </a:xfrm>
          <a:prstGeom prst="ellipse">
            <a:avLst/>
          </a:prstGeom>
          <a:solidFill>
            <a:srgbClr val="F4F1EA"/>
          </a:solidFill>
          <a:ln w="12700">
            <a:solidFill>
              <a:srgbClr val="F4F1EA"/>
            </a:solidFill>
            <a:prstDash val="solid"/>
          </a:ln>
        </p:spPr>
      </p:sp>
      <p:pic>
        <p:nvPicPr>
          <p:cNvPr id="45" name="Image 4" descr="preencoded.png">    </p:cNvPr>
          <p:cNvPicPr>
            <a:picLocks noChangeAspect="1"/>
          </p:cNvPicPr>
          <p:nvPr/>
        </p:nvPicPr>
        <p:blipFill>
          <a:blip r:embed="rId5"/>
          <a:stretch>
            <a:fillRect/>
          </a:stretch>
        </p:blipFill>
        <p:spPr>
          <a:xfrm>
            <a:off x="1356360" y="2249424"/>
            <a:ext cx="649224" cy="649224"/>
          </a:xfrm>
          <a:prstGeom prst="rect">
            <a:avLst/>
          </a:prstGeom>
        </p:spPr>
      </p:pic>
      <p:sp>
        <p:nvSpPr>
          <p:cNvPr id="46" name="Shape 38"/>
          <p:cNvSpPr/>
          <p:nvPr/>
        </p:nvSpPr>
        <p:spPr>
          <a:xfrm>
            <a:off x="2362200" y="2066544"/>
            <a:ext cx="1014984" cy="1014984"/>
          </a:xfrm>
          <a:prstGeom prst="ellipse">
            <a:avLst/>
          </a:prstGeom>
          <a:solidFill>
            <a:srgbClr val="F4F1EA"/>
          </a:solidFill>
          <a:ln w="12700">
            <a:solidFill>
              <a:srgbClr val="F4F1EA"/>
            </a:solidFill>
            <a:prstDash val="solid"/>
          </a:ln>
        </p:spPr>
      </p:sp>
      <p:pic>
        <p:nvPicPr>
          <p:cNvPr id="47" name="Image 5" descr="preencoded.png">    </p:cNvPr>
          <p:cNvPicPr>
            <a:picLocks noChangeAspect="1"/>
          </p:cNvPicPr>
          <p:nvPr/>
        </p:nvPicPr>
        <p:blipFill>
          <a:blip r:embed="rId6"/>
          <a:stretch>
            <a:fillRect/>
          </a:stretch>
        </p:blipFill>
        <p:spPr>
          <a:xfrm>
            <a:off x="2545080" y="2249424"/>
            <a:ext cx="649224" cy="649224"/>
          </a:xfrm>
          <a:prstGeom prst="rect">
            <a:avLst/>
          </a:prstGeom>
        </p:spPr>
      </p:pic>
      <p:sp>
        <p:nvSpPr>
          <p:cNvPr id="48" name="Text 39"/>
          <p:cNvSpPr txBox="1"/>
          <p:nvPr/>
        </p:nvSpPr>
        <p:spPr>
          <a:xfrm>
            <a:off x="594360"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1 homework → 2 games</a:t>
            </a:r>
            <a:endParaRPr lang="en-US" sz="1100" dirty="0"/>
          </a:p>
        </p:txBody>
      </p:sp>
      <p:sp>
        <p:nvSpPr>
          <p:cNvPr id="49" name="Shape 40"/>
          <p:cNvSpPr/>
          <p:nvPr/>
        </p:nvSpPr>
        <p:spPr>
          <a:xfrm>
            <a:off x="457200" y="3675888"/>
            <a:ext cx="3636264" cy="2633472"/>
          </a:xfrm>
          <a:prstGeom prst="roundRect">
            <a:avLst>
              <a:gd name="adj" fmla="val 2778"/>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50" name="Shape 41"/>
          <p:cNvSpPr/>
          <p:nvPr/>
        </p:nvSpPr>
        <p:spPr>
          <a:xfrm>
            <a:off x="3617976" y="3785616"/>
            <a:ext cx="329184" cy="329184"/>
          </a:xfrm>
          <a:prstGeom prst="ellipse">
            <a:avLst/>
          </a:prstGeom>
          <a:solidFill>
            <a:srgbClr val="2E8B57"/>
          </a:solidFill>
          <a:ln w="12700">
            <a:solidFill>
              <a:srgbClr val="2E8B57"/>
            </a:solidFill>
            <a:prstDash val="solid"/>
          </a:ln>
        </p:spPr>
      </p:sp>
      <p:sp>
        <p:nvSpPr>
          <p:cNvPr id="51" name="Text 42"/>
          <p:cNvSpPr txBox="1"/>
          <p:nvPr/>
        </p:nvSpPr>
        <p:spPr>
          <a:xfrm>
            <a:off x="3617976" y="3785616"/>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B</a:t>
            </a:r>
            <a:endParaRPr lang="en-US" sz="1100" dirty="0"/>
          </a:p>
        </p:txBody>
      </p:sp>
      <p:sp>
        <p:nvSpPr>
          <p:cNvPr id="52" name="Text 43"/>
          <p:cNvSpPr txBox="1"/>
          <p:nvPr/>
        </p:nvSpPr>
        <p:spPr>
          <a:xfrm>
            <a:off x="594360" y="4160520"/>
            <a:ext cx="3361944" cy="1143000"/>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بَعْدَ الوَاجِبِ أَلْعَبُ.</a:t>
            </a:r>
            <a:endParaRPr lang="ar-SA" sz="2200" dirty="0"/>
          </a:p>
        </p:txBody>
      </p:sp>
      <p:sp>
        <p:nvSpPr>
          <p:cNvPr id="53" name="Text 44"/>
          <p:cNvSpPr txBox="1"/>
          <p:nvPr/>
        </p:nvSpPr>
        <p:spPr>
          <a:xfrm>
            <a:off x="594360" y="5349240"/>
            <a:ext cx="3361944" cy="822960"/>
          </a:xfrm>
          <a:prstGeom prst="rect">
            <a:avLst/>
          </a:prstGeom>
          <a:noFill/>
          <a:ln/>
        </p:spPr>
        <p:txBody>
          <a:bodyPr wrap="square" lIns="0" tIns="0" rIns="0" bIns="0" rtlCol="0" anchor="t"/>
          <a:lstStyle/>
          <a:p>
            <a:pPr algn="ctr" indent="0" marL="0">
              <a:buNone/>
            </a:pPr>
            <a:r>
              <a:rPr lang="en-US" sz="1200" i="1" dirty="0">
                <a:solidFill>
                  <a:srgbClr val="5A6472"/>
                </a:solidFill>
                <a:latin typeface="Calibri" pitchFamily="34" charset="0"/>
                <a:cs typeface="Amiri" pitchFamily="2" charset="-78"/>
              </a:rPr>
              <a:t>After homework I play.</a:t>
            </a:r>
            <a:endParaRPr lang="en-US" sz="1200" dirty="0"/>
          </a:p>
        </p:txBody>
      </p:sp>
      <p:sp>
        <p:nvSpPr>
          <p:cNvPr id="54"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22 / 46</a:t>
            </a:r>
            <a:endParaRPr lang="en-US" sz="8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D1-L04 · Before and After</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WEBSITE SORTER</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750" b="1" dirty="0">
                <a:solidFill>
                  <a:srgbClr val="1B3B6F"/>
                </a:solidFill>
                <a:latin typeface="Cambria" pitchFamily="34" charset="0"/>
                <a:cs typeface="Amiri" pitchFamily="2" charset="-78"/>
              </a:rPr>
              <a:t>Noun or verb after before/after?</a:t>
            </a:r>
            <a:endParaRPr lang="en-US" sz="27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صَنِّفْ</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D1 · Daily Routine and Time · D1-L04</a:t>
            </a:r>
            <a:endParaRPr lang="en-US" sz="850" dirty="0"/>
          </a:p>
        </p:txBody>
      </p:sp>
      <p:sp>
        <p:nvSpPr>
          <p:cNvPr id="15" name="Shape 12"/>
          <p:cNvSpPr/>
          <p:nvPr/>
        </p:nvSpPr>
        <p:spPr>
          <a:xfrm>
            <a:off x="9015984"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9107424"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قَبْلَ المَدْرَسَةِ</a:t>
            </a:r>
            <a:endParaRPr lang="ar-SA" sz="1800" dirty="0"/>
          </a:p>
        </p:txBody>
      </p:sp>
      <p:sp>
        <p:nvSpPr>
          <p:cNvPr id="17" name="Shape 14"/>
          <p:cNvSpPr/>
          <p:nvPr/>
        </p:nvSpPr>
        <p:spPr>
          <a:xfrm>
            <a:off x="6163056"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18" name="Text 15"/>
          <p:cNvSpPr txBox="1"/>
          <p:nvPr/>
        </p:nvSpPr>
        <p:spPr>
          <a:xfrm>
            <a:off x="6254496"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بَعْدَ العَشَاءِ</a:t>
            </a:r>
            <a:endParaRPr lang="ar-SA" sz="1800" dirty="0"/>
          </a:p>
        </p:txBody>
      </p:sp>
      <p:sp>
        <p:nvSpPr>
          <p:cNvPr id="19" name="Shape 16"/>
          <p:cNvSpPr/>
          <p:nvPr/>
        </p:nvSpPr>
        <p:spPr>
          <a:xfrm>
            <a:off x="3310128"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0" name="Text 17"/>
          <p:cNvSpPr txBox="1"/>
          <p:nvPr/>
        </p:nvSpPr>
        <p:spPr>
          <a:xfrm>
            <a:off x="3401568"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قَبْلَ أَنْ أَخْرُجَ</a:t>
            </a:r>
            <a:endParaRPr lang="ar-SA" sz="1800" dirty="0"/>
          </a:p>
        </p:txBody>
      </p:sp>
      <p:sp>
        <p:nvSpPr>
          <p:cNvPr id="21" name="Shape 18"/>
          <p:cNvSpPr/>
          <p:nvPr/>
        </p:nvSpPr>
        <p:spPr>
          <a:xfrm>
            <a:off x="457200"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548640"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بَعْدَ أَنْ أَنْتَهِيَ</a:t>
            </a:r>
            <a:endParaRPr lang="ar-SA" sz="1800" dirty="0"/>
          </a:p>
        </p:txBody>
      </p:sp>
      <p:sp>
        <p:nvSpPr>
          <p:cNvPr id="23" name="Shape 20"/>
          <p:cNvSpPr/>
          <p:nvPr/>
        </p:nvSpPr>
        <p:spPr>
          <a:xfrm>
            <a:off x="9015984"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4" name="Text 21"/>
          <p:cNvSpPr txBox="1"/>
          <p:nvPr/>
        </p:nvSpPr>
        <p:spPr>
          <a:xfrm>
            <a:off x="9107424"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قَبْلَ النَّوْمِ</a:t>
            </a:r>
            <a:endParaRPr lang="ar-SA" sz="1800" dirty="0"/>
          </a:p>
        </p:txBody>
      </p:sp>
      <p:sp>
        <p:nvSpPr>
          <p:cNvPr id="25" name="Shape 22"/>
          <p:cNvSpPr/>
          <p:nvPr/>
        </p:nvSpPr>
        <p:spPr>
          <a:xfrm>
            <a:off x="6163056"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6" name="Text 23"/>
          <p:cNvSpPr txBox="1"/>
          <p:nvPr/>
        </p:nvSpPr>
        <p:spPr>
          <a:xfrm>
            <a:off x="6254496"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بَعْدَ أَنْ نَعُودَ</a:t>
            </a:r>
            <a:endParaRPr lang="ar-SA" sz="1800" dirty="0"/>
          </a:p>
        </p:txBody>
      </p:sp>
      <p:sp>
        <p:nvSpPr>
          <p:cNvPr id="27" name="Shape 24"/>
          <p:cNvSpPr/>
          <p:nvPr/>
        </p:nvSpPr>
        <p:spPr>
          <a:xfrm>
            <a:off x="3310128"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8" name="Text 25"/>
          <p:cNvSpPr txBox="1"/>
          <p:nvPr/>
        </p:nvSpPr>
        <p:spPr>
          <a:xfrm>
            <a:off x="3401568"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قَبْلَ التَّمْرِينِ</a:t>
            </a:r>
            <a:endParaRPr lang="ar-SA" sz="1800" dirty="0"/>
          </a:p>
        </p:txBody>
      </p:sp>
      <p:sp>
        <p:nvSpPr>
          <p:cNvPr id="29" name="Shape 26"/>
          <p:cNvSpPr/>
          <p:nvPr/>
        </p:nvSpPr>
        <p:spPr>
          <a:xfrm>
            <a:off x="457200"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30" name="Text 27"/>
          <p:cNvSpPr txBox="1"/>
          <p:nvPr/>
        </p:nvSpPr>
        <p:spPr>
          <a:xfrm>
            <a:off x="548640"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بَعْدَ أَنْ تَكْتُبِي</a:t>
            </a:r>
            <a:endParaRPr lang="ar-SA" sz="1800" dirty="0"/>
          </a:p>
        </p:txBody>
      </p:sp>
      <p:sp>
        <p:nvSpPr>
          <p:cNvPr id="31" name="Shape 28"/>
          <p:cNvSpPr/>
          <p:nvPr/>
        </p:nvSpPr>
        <p:spPr>
          <a:xfrm>
            <a:off x="6185916" y="3017520"/>
            <a:ext cx="5545836" cy="3291840"/>
          </a:xfrm>
          <a:prstGeom prst="roundRect">
            <a:avLst>
              <a:gd name="adj" fmla="val 2222"/>
            </a:avLst>
          </a:prstGeom>
          <a:solidFill>
            <a:srgbClr val="EEF3FA"/>
          </a:solidFill>
          <a:ln w="9525">
            <a:solidFill>
              <a:srgbClr val="C9D6EA"/>
            </a:solidFill>
            <a:prstDash val="solid"/>
          </a:ln>
        </p:spPr>
      </p:sp>
      <p:sp>
        <p:nvSpPr>
          <p:cNvPr id="32" name="Shape 29"/>
          <p:cNvSpPr/>
          <p:nvPr/>
        </p:nvSpPr>
        <p:spPr>
          <a:xfrm>
            <a:off x="6323076" y="3127248"/>
            <a:ext cx="5271516" cy="310896"/>
          </a:xfrm>
          <a:prstGeom prst="roundRect">
            <a:avLst>
              <a:gd name="adj" fmla="val 50000"/>
            </a:avLst>
          </a:prstGeom>
          <a:solidFill>
            <a:srgbClr val="2F6FB0"/>
          </a:solidFill>
          <a:ln w="12700">
            <a:solidFill>
              <a:srgbClr val="2F6FB0"/>
            </a:solidFill>
            <a:prstDash val="solid"/>
          </a:ln>
        </p:spPr>
      </p:sp>
      <p:sp>
        <p:nvSpPr>
          <p:cNvPr id="33" name="Text 30"/>
          <p:cNvSpPr txBox="1"/>
          <p:nvPr/>
        </p:nvSpPr>
        <p:spPr>
          <a:xfrm>
            <a:off x="6323076" y="3127248"/>
            <a:ext cx="5271516" cy="310896"/>
          </a:xfrm>
          <a:prstGeom prst="rect">
            <a:avLst/>
          </a:prstGeom>
          <a:noFill/>
          <a:ln/>
        </p:spPr>
        <p:txBody>
          <a:bodyPr wrap="square" lIns="0" tIns="0" rIns="0" bIns="0" rtlCol="0" anchor="ctr"/>
          <a:lstStyle/>
          <a:p>
            <a:pPr algn="ctr" indent="0" marL="0">
              <a:buNone/>
            </a:pPr>
            <a:r>
              <a:rPr lang="ar-SA" sz="950" b="1" dirty="0">
                <a:solidFill>
                  <a:srgbClr val="FFFFFF"/>
                </a:solidFill>
                <a:latin typeface="Calibri" pitchFamily="34" charset="0"/>
                <a:ea typeface="Amiri" pitchFamily="2" charset="-78"/>
                <a:cs typeface="Amiri" pitchFamily="2" charset="-78"/>
              </a:rPr>
              <a:t>1 · Noun: no أَنْ</a:t>
            </a:r>
            <a:endParaRPr lang="en-US" sz="950" dirty="0"/>
          </a:p>
        </p:txBody>
      </p:sp>
      <p:sp>
        <p:nvSpPr>
          <p:cNvPr id="34" name="Shape 31"/>
          <p:cNvSpPr/>
          <p:nvPr/>
        </p:nvSpPr>
        <p:spPr>
          <a:xfrm>
            <a:off x="457200" y="3017520"/>
            <a:ext cx="5545836" cy="3291840"/>
          </a:xfrm>
          <a:prstGeom prst="roundRect">
            <a:avLst>
              <a:gd name="adj" fmla="val 2222"/>
            </a:avLst>
          </a:prstGeom>
          <a:solidFill>
            <a:srgbClr val="EEF3FA"/>
          </a:solidFill>
          <a:ln w="9525">
            <a:solidFill>
              <a:srgbClr val="C9D6EA"/>
            </a:solidFill>
            <a:prstDash val="solid"/>
          </a:ln>
        </p:spPr>
      </p:sp>
      <p:sp>
        <p:nvSpPr>
          <p:cNvPr id="35" name="Shape 32"/>
          <p:cNvSpPr/>
          <p:nvPr/>
        </p:nvSpPr>
        <p:spPr>
          <a:xfrm>
            <a:off x="594360" y="3127248"/>
            <a:ext cx="5271516" cy="310896"/>
          </a:xfrm>
          <a:prstGeom prst="roundRect">
            <a:avLst>
              <a:gd name="adj" fmla="val 50000"/>
            </a:avLst>
          </a:prstGeom>
          <a:solidFill>
            <a:srgbClr val="2F6FB0"/>
          </a:solidFill>
          <a:ln w="12700">
            <a:solidFill>
              <a:srgbClr val="2F6FB0"/>
            </a:solidFill>
            <a:prstDash val="solid"/>
          </a:ln>
        </p:spPr>
      </p:sp>
      <p:sp>
        <p:nvSpPr>
          <p:cNvPr id="36" name="Text 33"/>
          <p:cNvSpPr txBox="1"/>
          <p:nvPr/>
        </p:nvSpPr>
        <p:spPr>
          <a:xfrm>
            <a:off x="594360" y="3127248"/>
            <a:ext cx="5271516" cy="310896"/>
          </a:xfrm>
          <a:prstGeom prst="rect">
            <a:avLst/>
          </a:prstGeom>
          <a:noFill/>
          <a:ln/>
        </p:spPr>
        <p:txBody>
          <a:bodyPr wrap="square" lIns="0" tIns="0" rIns="0" bIns="0" rtlCol="0" anchor="ctr"/>
          <a:lstStyle/>
          <a:p>
            <a:pPr algn="ctr" indent="0" marL="0">
              <a:buNone/>
            </a:pPr>
            <a:r>
              <a:rPr lang="ar-SA" sz="950" b="1" dirty="0">
                <a:solidFill>
                  <a:srgbClr val="FFFFFF"/>
                </a:solidFill>
                <a:latin typeface="Calibri" pitchFamily="34" charset="0"/>
                <a:ea typeface="Amiri" pitchFamily="2" charset="-78"/>
                <a:cs typeface="Amiri" pitchFamily="2" charset="-78"/>
              </a:rPr>
              <a:t>2 · Verb: use أَنْ</a:t>
            </a:r>
            <a:endParaRPr lang="en-US" sz="950" dirty="0"/>
          </a:p>
        </p:txBody>
      </p:sp>
      <p:sp>
        <p:nvSpPr>
          <p:cNvPr id="37" name="Text 3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23 / 46</a:t>
            </a:r>
            <a:endParaRPr lang="en-US" sz="8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D1-L04 · Before and After</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SORTER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Sorted</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الإِجَابَاتُ</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D1 · Daily Routine and Time · D1-L04</a:t>
            </a:r>
            <a:endParaRPr lang="en-US" sz="850" dirty="0"/>
          </a:p>
        </p:txBody>
      </p:sp>
      <p:sp>
        <p:nvSpPr>
          <p:cNvPr id="15" name="Shape 12"/>
          <p:cNvSpPr/>
          <p:nvPr/>
        </p:nvSpPr>
        <p:spPr>
          <a:xfrm>
            <a:off x="6185916" y="1810512"/>
            <a:ext cx="5545836" cy="4498848"/>
          </a:xfrm>
          <a:prstGeom prst="roundRect">
            <a:avLst>
              <a:gd name="adj" fmla="val 1626"/>
            </a:avLst>
          </a:prstGeom>
          <a:solidFill>
            <a:srgbClr val="EEF3FA"/>
          </a:solidFill>
          <a:ln w="9525">
            <a:solidFill>
              <a:srgbClr val="C9D6EA"/>
            </a:solidFill>
            <a:prstDash val="solid"/>
          </a:ln>
        </p:spPr>
      </p:sp>
      <p:sp>
        <p:nvSpPr>
          <p:cNvPr id="16" name="Shape 13"/>
          <p:cNvSpPr/>
          <p:nvPr/>
        </p:nvSpPr>
        <p:spPr>
          <a:xfrm>
            <a:off x="6323076" y="1920240"/>
            <a:ext cx="5271516" cy="310896"/>
          </a:xfrm>
          <a:prstGeom prst="roundRect">
            <a:avLst>
              <a:gd name="adj" fmla="val 50000"/>
            </a:avLst>
          </a:prstGeom>
          <a:solidFill>
            <a:srgbClr val="2F6FB0"/>
          </a:solidFill>
          <a:ln w="12700">
            <a:solidFill>
              <a:srgbClr val="2F6FB0"/>
            </a:solidFill>
            <a:prstDash val="solid"/>
          </a:ln>
        </p:spPr>
      </p:sp>
      <p:sp>
        <p:nvSpPr>
          <p:cNvPr id="17" name="Text 14"/>
          <p:cNvSpPr txBox="1"/>
          <p:nvPr/>
        </p:nvSpPr>
        <p:spPr>
          <a:xfrm>
            <a:off x="6323076" y="1920240"/>
            <a:ext cx="5271516" cy="310896"/>
          </a:xfrm>
          <a:prstGeom prst="rect">
            <a:avLst/>
          </a:prstGeom>
          <a:noFill/>
          <a:ln/>
        </p:spPr>
        <p:txBody>
          <a:bodyPr wrap="square" lIns="0" tIns="0" rIns="0" bIns="0" rtlCol="0" anchor="ctr"/>
          <a:lstStyle/>
          <a:p>
            <a:pPr algn="ctr" indent="0" marL="0">
              <a:buNone/>
            </a:pPr>
            <a:r>
              <a:rPr lang="ar-SA" sz="950" b="1" dirty="0">
                <a:solidFill>
                  <a:srgbClr val="FFFFFF"/>
                </a:solidFill>
                <a:latin typeface="Calibri" pitchFamily="34" charset="0"/>
                <a:ea typeface="Amiri" pitchFamily="2" charset="-78"/>
                <a:cs typeface="Amiri" pitchFamily="2" charset="-78"/>
              </a:rPr>
              <a:t>1 · Noun: no أَنْ</a:t>
            </a:r>
            <a:endParaRPr lang="en-US" sz="950" dirty="0"/>
          </a:p>
        </p:txBody>
      </p:sp>
      <p:sp>
        <p:nvSpPr>
          <p:cNvPr id="18" name="Shape 15"/>
          <p:cNvSpPr/>
          <p:nvPr/>
        </p:nvSpPr>
        <p:spPr>
          <a:xfrm>
            <a:off x="6323076" y="2377440"/>
            <a:ext cx="5271516" cy="438912"/>
          </a:xfrm>
          <a:prstGeom prst="roundRect">
            <a:avLst>
              <a:gd name="adj" fmla="val 12500"/>
            </a:avLst>
          </a:prstGeom>
          <a:solidFill>
            <a:srgbClr val="FFF4DC"/>
          </a:solidFill>
          <a:ln w="9525">
            <a:solidFill>
              <a:srgbClr val="E6C98A"/>
            </a:solidFill>
            <a:prstDash val="solid"/>
          </a:ln>
        </p:spPr>
      </p:sp>
      <p:sp>
        <p:nvSpPr>
          <p:cNvPr id="19" name="Text 16"/>
          <p:cNvSpPr txBox="1"/>
          <p:nvPr/>
        </p:nvSpPr>
        <p:spPr>
          <a:xfrm>
            <a:off x="6414516" y="2377440"/>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قَبْلَ المَدْرَسَةِ</a:t>
            </a:r>
            <a:endParaRPr lang="ar-SA" sz="1800" dirty="0"/>
          </a:p>
        </p:txBody>
      </p:sp>
      <p:sp>
        <p:nvSpPr>
          <p:cNvPr id="20" name="Shape 17"/>
          <p:cNvSpPr/>
          <p:nvPr/>
        </p:nvSpPr>
        <p:spPr>
          <a:xfrm>
            <a:off x="6323076" y="2889504"/>
            <a:ext cx="5271516" cy="438912"/>
          </a:xfrm>
          <a:prstGeom prst="roundRect">
            <a:avLst>
              <a:gd name="adj" fmla="val 12500"/>
            </a:avLst>
          </a:prstGeom>
          <a:solidFill>
            <a:srgbClr val="FFF4DC"/>
          </a:solidFill>
          <a:ln w="9525">
            <a:solidFill>
              <a:srgbClr val="E6C98A"/>
            </a:solidFill>
            <a:prstDash val="solid"/>
          </a:ln>
        </p:spPr>
      </p:sp>
      <p:sp>
        <p:nvSpPr>
          <p:cNvPr id="21" name="Text 18"/>
          <p:cNvSpPr txBox="1"/>
          <p:nvPr/>
        </p:nvSpPr>
        <p:spPr>
          <a:xfrm>
            <a:off x="6414516" y="2889504"/>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بَعْدَ العَشَاءِ</a:t>
            </a:r>
            <a:endParaRPr lang="ar-SA" sz="1800" dirty="0"/>
          </a:p>
        </p:txBody>
      </p:sp>
      <p:sp>
        <p:nvSpPr>
          <p:cNvPr id="22" name="Shape 19"/>
          <p:cNvSpPr/>
          <p:nvPr/>
        </p:nvSpPr>
        <p:spPr>
          <a:xfrm>
            <a:off x="6323076" y="3401568"/>
            <a:ext cx="5271516" cy="438912"/>
          </a:xfrm>
          <a:prstGeom prst="roundRect">
            <a:avLst>
              <a:gd name="adj" fmla="val 12500"/>
            </a:avLst>
          </a:prstGeom>
          <a:solidFill>
            <a:srgbClr val="FFF4DC"/>
          </a:solidFill>
          <a:ln w="9525">
            <a:solidFill>
              <a:srgbClr val="E6C98A"/>
            </a:solidFill>
            <a:prstDash val="solid"/>
          </a:ln>
        </p:spPr>
      </p:sp>
      <p:sp>
        <p:nvSpPr>
          <p:cNvPr id="23" name="Text 20"/>
          <p:cNvSpPr txBox="1"/>
          <p:nvPr/>
        </p:nvSpPr>
        <p:spPr>
          <a:xfrm>
            <a:off x="6414516" y="3401568"/>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قَبْلَ النَّوْمِ</a:t>
            </a:r>
            <a:endParaRPr lang="ar-SA" sz="1800" dirty="0"/>
          </a:p>
        </p:txBody>
      </p:sp>
      <p:sp>
        <p:nvSpPr>
          <p:cNvPr id="24" name="Shape 21"/>
          <p:cNvSpPr/>
          <p:nvPr/>
        </p:nvSpPr>
        <p:spPr>
          <a:xfrm>
            <a:off x="6323076" y="3913632"/>
            <a:ext cx="5271516" cy="438912"/>
          </a:xfrm>
          <a:prstGeom prst="roundRect">
            <a:avLst>
              <a:gd name="adj" fmla="val 12500"/>
            </a:avLst>
          </a:prstGeom>
          <a:solidFill>
            <a:srgbClr val="FFF4DC"/>
          </a:solidFill>
          <a:ln w="9525">
            <a:solidFill>
              <a:srgbClr val="E6C98A"/>
            </a:solidFill>
            <a:prstDash val="solid"/>
          </a:ln>
        </p:spPr>
      </p:sp>
      <p:sp>
        <p:nvSpPr>
          <p:cNvPr id="25" name="Text 22"/>
          <p:cNvSpPr txBox="1"/>
          <p:nvPr/>
        </p:nvSpPr>
        <p:spPr>
          <a:xfrm>
            <a:off x="6414516" y="3913632"/>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قَبْلَ التَّمْرِينِ</a:t>
            </a:r>
            <a:endParaRPr lang="ar-SA" sz="1800" dirty="0"/>
          </a:p>
        </p:txBody>
      </p:sp>
      <p:sp>
        <p:nvSpPr>
          <p:cNvPr id="26" name="Shape 23"/>
          <p:cNvSpPr/>
          <p:nvPr/>
        </p:nvSpPr>
        <p:spPr>
          <a:xfrm>
            <a:off x="457200" y="1810512"/>
            <a:ext cx="5545836" cy="4498848"/>
          </a:xfrm>
          <a:prstGeom prst="roundRect">
            <a:avLst>
              <a:gd name="adj" fmla="val 1626"/>
            </a:avLst>
          </a:prstGeom>
          <a:solidFill>
            <a:srgbClr val="EEF3FA"/>
          </a:solidFill>
          <a:ln w="9525">
            <a:solidFill>
              <a:srgbClr val="C9D6EA"/>
            </a:solidFill>
            <a:prstDash val="solid"/>
          </a:ln>
        </p:spPr>
      </p:sp>
      <p:sp>
        <p:nvSpPr>
          <p:cNvPr id="27" name="Shape 24"/>
          <p:cNvSpPr/>
          <p:nvPr/>
        </p:nvSpPr>
        <p:spPr>
          <a:xfrm>
            <a:off x="594360" y="1920240"/>
            <a:ext cx="5271516" cy="310896"/>
          </a:xfrm>
          <a:prstGeom prst="roundRect">
            <a:avLst>
              <a:gd name="adj" fmla="val 50000"/>
            </a:avLst>
          </a:prstGeom>
          <a:solidFill>
            <a:srgbClr val="2F6FB0"/>
          </a:solidFill>
          <a:ln w="12700">
            <a:solidFill>
              <a:srgbClr val="2F6FB0"/>
            </a:solidFill>
            <a:prstDash val="solid"/>
          </a:ln>
        </p:spPr>
      </p:sp>
      <p:sp>
        <p:nvSpPr>
          <p:cNvPr id="28" name="Text 25"/>
          <p:cNvSpPr txBox="1"/>
          <p:nvPr/>
        </p:nvSpPr>
        <p:spPr>
          <a:xfrm>
            <a:off x="594360" y="1920240"/>
            <a:ext cx="5271516" cy="310896"/>
          </a:xfrm>
          <a:prstGeom prst="rect">
            <a:avLst/>
          </a:prstGeom>
          <a:noFill/>
          <a:ln/>
        </p:spPr>
        <p:txBody>
          <a:bodyPr wrap="square" lIns="0" tIns="0" rIns="0" bIns="0" rtlCol="0" anchor="ctr"/>
          <a:lstStyle/>
          <a:p>
            <a:pPr algn="ctr" indent="0" marL="0">
              <a:buNone/>
            </a:pPr>
            <a:r>
              <a:rPr lang="ar-SA" sz="950" b="1" dirty="0">
                <a:solidFill>
                  <a:srgbClr val="FFFFFF"/>
                </a:solidFill>
                <a:latin typeface="Calibri" pitchFamily="34" charset="0"/>
                <a:ea typeface="Amiri" pitchFamily="2" charset="-78"/>
                <a:cs typeface="Amiri" pitchFamily="2" charset="-78"/>
              </a:rPr>
              <a:t>2 · Verb: use أَنْ</a:t>
            </a:r>
            <a:endParaRPr lang="en-US" sz="950" dirty="0"/>
          </a:p>
        </p:txBody>
      </p:sp>
      <p:sp>
        <p:nvSpPr>
          <p:cNvPr id="29" name="Shape 26"/>
          <p:cNvSpPr/>
          <p:nvPr/>
        </p:nvSpPr>
        <p:spPr>
          <a:xfrm>
            <a:off x="594360" y="2377440"/>
            <a:ext cx="5271516" cy="438912"/>
          </a:xfrm>
          <a:prstGeom prst="roundRect">
            <a:avLst>
              <a:gd name="adj" fmla="val 12500"/>
            </a:avLst>
          </a:prstGeom>
          <a:solidFill>
            <a:srgbClr val="FFF4DC"/>
          </a:solidFill>
          <a:ln w="9525">
            <a:solidFill>
              <a:srgbClr val="E6C98A"/>
            </a:solidFill>
            <a:prstDash val="solid"/>
          </a:ln>
        </p:spPr>
      </p:sp>
      <p:sp>
        <p:nvSpPr>
          <p:cNvPr id="30" name="Text 27"/>
          <p:cNvSpPr txBox="1"/>
          <p:nvPr/>
        </p:nvSpPr>
        <p:spPr>
          <a:xfrm>
            <a:off x="685800" y="2377440"/>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قَبْلَ أَنْ أَخْرُجَ</a:t>
            </a:r>
            <a:endParaRPr lang="ar-SA" sz="1800" dirty="0"/>
          </a:p>
        </p:txBody>
      </p:sp>
      <p:sp>
        <p:nvSpPr>
          <p:cNvPr id="31" name="Shape 28"/>
          <p:cNvSpPr/>
          <p:nvPr/>
        </p:nvSpPr>
        <p:spPr>
          <a:xfrm>
            <a:off x="594360" y="2889504"/>
            <a:ext cx="5271516" cy="438912"/>
          </a:xfrm>
          <a:prstGeom prst="roundRect">
            <a:avLst>
              <a:gd name="adj" fmla="val 12500"/>
            </a:avLst>
          </a:prstGeom>
          <a:solidFill>
            <a:srgbClr val="FFF4DC"/>
          </a:solidFill>
          <a:ln w="9525">
            <a:solidFill>
              <a:srgbClr val="E6C98A"/>
            </a:solidFill>
            <a:prstDash val="solid"/>
          </a:ln>
        </p:spPr>
      </p:sp>
      <p:sp>
        <p:nvSpPr>
          <p:cNvPr id="32" name="Text 29"/>
          <p:cNvSpPr txBox="1"/>
          <p:nvPr/>
        </p:nvSpPr>
        <p:spPr>
          <a:xfrm>
            <a:off x="685800" y="2889504"/>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بَعْدَ أَنْ أَنْتَهِيَ</a:t>
            </a:r>
            <a:endParaRPr lang="ar-SA" sz="1800" dirty="0"/>
          </a:p>
        </p:txBody>
      </p:sp>
      <p:sp>
        <p:nvSpPr>
          <p:cNvPr id="33" name="Shape 30"/>
          <p:cNvSpPr/>
          <p:nvPr/>
        </p:nvSpPr>
        <p:spPr>
          <a:xfrm>
            <a:off x="594360" y="3401568"/>
            <a:ext cx="5271516" cy="438912"/>
          </a:xfrm>
          <a:prstGeom prst="roundRect">
            <a:avLst>
              <a:gd name="adj" fmla="val 12500"/>
            </a:avLst>
          </a:prstGeom>
          <a:solidFill>
            <a:srgbClr val="FFF4DC"/>
          </a:solidFill>
          <a:ln w="9525">
            <a:solidFill>
              <a:srgbClr val="E6C98A"/>
            </a:solidFill>
            <a:prstDash val="solid"/>
          </a:ln>
        </p:spPr>
      </p:sp>
      <p:sp>
        <p:nvSpPr>
          <p:cNvPr id="34" name="Text 31"/>
          <p:cNvSpPr txBox="1"/>
          <p:nvPr/>
        </p:nvSpPr>
        <p:spPr>
          <a:xfrm>
            <a:off x="685800" y="3401568"/>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بَعْدَ أَنْ نَعُودَ</a:t>
            </a:r>
            <a:endParaRPr lang="ar-SA" sz="1800" dirty="0"/>
          </a:p>
        </p:txBody>
      </p:sp>
      <p:sp>
        <p:nvSpPr>
          <p:cNvPr id="35" name="Shape 32"/>
          <p:cNvSpPr/>
          <p:nvPr/>
        </p:nvSpPr>
        <p:spPr>
          <a:xfrm>
            <a:off x="594360" y="3913632"/>
            <a:ext cx="5271516" cy="438912"/>
          </a:xfrm>
          <a:prstGeom prst="roundRect">
            <a:avLst>
              <a:gd name="adj" fmla="val 12500"/>
            </a:avLst>
          </a:prstGeom>
          <a:solidFill>
            <a:srgbClr val="FFF4DC"/>
          </a:solidFill>
          <a:ln w="9525">
            <a:solidFill>
              <a:srgbClr val="E6C98A"/>
            </a:solidFill>
            <a:prstDash val="solid"/>
          </a:ln>
        </p:spPr>
      </p:sp>
      <p:sp>
        <p:nvSpPr>
          <p:cNvPr id="36" name="Text 33"/>
          <p:cNvSpPr txBox="1"/>
          <p:nvPr/>
        </p:nvSpPr>
        <p:spPr>
          <a:xfrm>
            <a:off x="685800" y="3913632"/>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بَعْدَ أَنْ تَكْتُبِي</a:t>
            </a:r>
            <a:endParaRPr lang="ar-SA" sz="1800" dirty="0"/>
          </a:p>
        </p:txBody>
      </p:sp>
      <p:sp>
        <p:nvSpPr>
          <p:cNvPr id="37" name="Text 3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24 / 46</a:t>
            </a:r>
            <a:endParaRPr lang="en-US" sz="85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D1-L04 · Before and After</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GUIDED PRACTICE · WEBSITE QUIZ QUESTIONS 5, 6, 7, 8</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More practice</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تَدْرِيبٌ إِضَافِيٌّ</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D1 · Daily Routine and Time · D1-L04</a:t>
            </a:r>
            <a:endParaRPr lang="en-US" sz="850" dirty="0"/>
          </a:p>
        </p:txBody>
      </p:sp>
      <p:sp>
        <p:nvSpPr>
          <p:cNvPr id="17" name="Shape 14"/>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20" name="Text 17"/>
          <p:cNvSpPr txBox="1"/>
          <p:nvPr/>
        </p:nvSpPr>
        <p:spPr>
          <a:xfrm>
            <a:off x="950976" y="1883664"/>
            <a:ext cx="2273473"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Complete:</a:t>
            </a:r>
            <a:endParaRPr lang="en-US" sz="1200" dirty="0"/>
          </a:p>
        </p:txBody>
      </p:sp>
      <p:sp>
        <p:nvSpPr>
          <p:cNvPr id="21" name="Text 18"/>
          <p:cNvSpPr txBox="1"/>
          <p:nvPr/>
        </p:nvSpPr>
        <p:spPr>
          <a:xfrm>
            <a:off x="3323295" y="1883664"/>
            <a:ext cx="2570013" cy="475488"/>
          </a:xfrm>
          <a:prstGeom prst="rect">
            <a:avLst/>
          </a:prstGeom>
          <a:noFill/>
          <a:ln/>
        </p:spPr>
        <p:txBody>
          <a:bodyPr wrap="square" lIns="0" tIns="0" rIns="0" bIns="0" rtlCol="0" anchor="ctr"/>
          <a:lstStyle/>
          <a:p>
            <a:pPr rtl="1" algn="r" indent="0" marL="0">
              <a:buNone/>
            </a:pPr>
            <a:r>
              <a:rPr lang="ar-SA" altLang="en-US" sz="1500" b="1" dirty="0">
                <a:solidFill>
                  <a:srgbClr val="1F2A37"/>
                </a:solidFill>
                <a:latin typeface="Amiri" pitchFamily="2" charset="-78"/>
                <a:ea typeface="Amiri" pitchFamily="2" charset="-78"/>
                <a:cs typeface="Amiri" pitchFamily="2" charset="-78"/>
              </a:rPr>
              <a:t>قَبْلَ أَنْ ___ وَاجِبَكِ.</a:t>
            </a:r>
            <a:endParaRPr lang="ar-SA" sz="1500" dirty="0"/>
          </a:p>
        </p:txBody>
      </p:sp>
      <p:sp>
        <p:nvSpPr>
          <p:cNvPr id="22" name="Shape 19"/>
          <p:cNvSpPr/>
          <p:nvPr/>
        </p:nvSpPr>
        <p:spPr>
          <a:xfrm>
            <a:off x="640080" y="25328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4" name="Text 21"/>
          <p:cNvSpPr txBox="1"/>
          <p:nvPr/>
        </p:nvSpPr>
        <p:spPr>
          <a:xfrm>
            <a:off x="969264"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تُكْمِلِينَ</a:t>
            </a:r>
            <a:endParaRPr lang="ar-SA" sz="2050" dirty="0"/>
          </a:p>
        </p:txBody>
      </p:sp>
      <p:sp>
        <p:nvSpPr>
          <p:cNvPr id="25" name="Shape 22"/>
          <p:cNvSpPr/>
          <p:nvPr/>
        </p:nvSpPr>
        <p:spPr>
          <a:xfrm>
            <a:off x="640080" y="29900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7" name="Text 24"/>
          <p:cNvSpPr txBox="1"/>
          <p:nvPr/>
        </p:nvSpPr>
        <p:spPr>
          <a:xfrm>
            <a:off x="969264"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تُكْمِلُ</a:t>
            </a:r>
            <a:endParaRPr lang="ar-SA" sz="2050" dirty="0"/>
          </a:p>
        </p:txBody>
      </p:sp>
      <p:sp>
        <p:nvSpPr>
          <p:cNvPr id="28" name="Shape 25"/>
          <p:cNvSpPr/>
          <p:nvPr/>
        </p:nvSpPr>
        <p:spPr>
          <a:xfrm>
            <a:off x="640080" y="3447288"/>
            <a:ext cx="256032" cy="256032"/>
          </a:xfrm>
          <a:prstGeom prst="ellipse">
            <a:avLst/>
          </a:prstGeom>
          <a:solidFill>
            <a:srgbClr val="F4F1EA"/>
          </a:solidFill>
          <a:ln w="12700">
            <a:solidFill>
              <a:srgbClr val="F4F1EA"/>
            </a:solidFill>
            <a:prstDash val="solid"/>
          </a:ln>
        </p:spPr>
      </p:sp>
      <p:sp>
        <p:nvSpPr>
          <p:cNvPr id="29" name="Text 26"/>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30" name="Text 27"/>
          <p:cNvSpPr txBox="1"/>
          <p:nvPr/>
        </p:nvSpPr>
        <p:spPr>
          <a:xfrm>
            <a:off x="969264" y="33467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تُكْمِلِي</a:t>
            </a:r>
            <a:endParaRPr lang="ar-SA" sz="2050" dirty="0"/>
          </a:p>
        </p:txBody>
      </p:sp>
      <p:sp>
        <p:nvSpPr>
          <p:cNvPr id="31" name="Shape 28"/>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6313932" y="1947672"/>
            <a:ext cx="310896" cy="310896"/>
          </a:xfrm>
          <a:prstGeom prst="ellipse">
            <a:avLst/>
          </a:prstGeom>
          <a:solidFill>
            <a:srgbClr val="1B3B6F"/>
          </a:solidFill>
          <a:ln w="12700">
            <a:solidFill>
              <a:srgbClr val="1B3B6F"/>
            </a:solidFill>
            <a:prstDash val="solid"/>
          </a:ln>
        </p:spPr>
      </p:sp>
      <p:sp>
        <p:nvSpPr>
          <p:cNvPr id="33" name="Text 30"/>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6</a:t>
            </a:r>
            <a:endParaRPr lang="en-US" sz="1100" dirty="0"/>
          </a:p>
        </p:txBody>
      </p:sp>
      <p:sp>
        <p:nvSpPr>
          <p:cNvPr id="34" name="Text 31"/>
          <p:cNvSpPr txBox="1"/>
          <p:nvPr/>
        </p:nvSpPr>
        <p:spPr>
          <a:xfrm>
            <a:off x="6679692"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sentence means “After I finish, I rest”?</a:t>
            </a:r>
            <a:endParaRPr lang="en-US" sz="1250" dirty="0"/>
          </a:p>
        </p:txBody>
      </p:sp>
      <p:sp>
        <p:nvSpPr>
          <p:cNvPr id="35" name="Shape 32"/>
          <p:cNvSpPr/>
          <p:nvPr/>
        </p:nvSpPr>
        <p:spPr>
          <a:xfrm>
            <a:off x="6368796" y="25328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6368796"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7" name="Text 34"/>
          <p:cNvSpPr txBox="1"/>
          <p:nvPr/>
        </p:nvSpPr>
        <p:spPr>
          <a:xfrm>
            <a:off x="6697980"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قَبْلَ أَنْ أَنْتَهِيَ، أَسْتَرِيحُ.</a:t>
            </a:r>
            <a:endParaRPr lang="ar-SA" sz="2050" dirty="0"/>
          </a:p>
        </p:txBody>
      </p:sp>
      <p:sp>
        <p:nvSpPr>
          <p:cNvPr id="38" name="Shape 35"/>
          <p:cNvSpPr/>
          <p:nvPr/>
        </p:nvSpPr>
        <p:spPr>
          <a:xfrm>
            <a:off x="6368796" y="29900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6368796"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0" name="Text 37"/>
          <p:cNvSpPr txBox="1"/>
          <p:nvPr/>
        </p:nvSpPr>
        <p:spPr>
          <a:xfrm>
            <a:off x="6697980"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بَعْدَ أَنْ أَنْتَهِيَ، أَسْتَرِيحُ.</a:t>
            </a:r>
            <a:endParaRPr lang="ar-SA" sz="2050" dirty="0"/>
          </a:p>
        </p:txBody>
      </p:sp>
      <p:sp>
        <p:nvSpPr>
          <p:cNvPr id="41" name="Shape 38"/>
          <p:cNvSpPr/>
          <p:nvPr/>
        </p:nvSpPr>
        <p:spPr>
          <a:xfrm>
            <a:off x="6368796" y="3447288"/>
            <a:ext cx="256032" cy="256032"/>
          </a:xfrm>
          <a:prstGeom prst="ellipse">
            <a:avLst/>
          </a:prstGeom>
          <a:solidFill>
            <a:srgbClr val="F4F1EA"/>
          </a:solidFill>
          <a:ln w="12700">
            <a:solidFill>
              <a:srgbClr val="F4F1EA"/>
            </a:solidFill>
            <a:prstDash val="solid"/>
          </a:ln>
        </p:spPr>
      </p:sp>
      <p:sp>
        <p:nvSpPr>
          <p:cNvPr id="42" name="Text 39"/>
          <p:cNvSpPr txBox="1"/>
          <p:nvPr/>
        </p:nvSpPr>
        <p:spPr>
          <a:xfrm>
            <a:off x="6368796"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3" name="Text 40"/>
          <p:cNvSpPr txBox="1"/>
          <p:nvPr/>
        </p:nvSpPr>
        <p:spPr>
          <a:xfrm>
            <a:off x="6697980" y="33467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بَعْدَ أَنْ أَسْتَرِيحَ، أَنْتَهِي.</a:t>
            </a:r>
            <a:endParaRPr lang="ar-SA" sz="2050" dirty="0"/>
          </a:p>
        </p:txBody>
      </p:sp>
      <p:sp>
        <p:nvSpPr>
          <p:cNvPr id="44" name="Shape 41"/>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5" name="Shape 42"/>
          <p:cNvSpPr/>
          <p:nvPr/>
        </p:nvSpPr>
        <p:spPr>
          <a:xfrm>
            <a:off x="585216" y="4288536"/>
            <a:ext cx="310896" cy="310896"/>
          </a:xfrm>
          <a:prstGeom prst="ellipse">
            <a:avLst/>
          </a:prstGeom>
          <a:solidFill>
            <a:srgbClr val="1B3B6F"/>
          </a:solidFill>
          <a:ln w="12700">
            <a:solidFill>
              <a:srgbClr val="1B3B6F"/>
            </a:solidFill>
            <a:prstDash val="solid"/>
          </a:ln>
        </p:spPr>
      </p:sp>
      <p:sp>
        <p:nvSpPr>
          <p:cNvPr id="46" name="Text 43"/>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7</a:t>
            </a:r>
            <a:endParaRPr lang="en-US" sz="1100" dirty="0"/>
          </a:p>
        </p:txBody>
      </p:sp>
      <p:sp>
        <p:nvSpPr>
          <p:cNvPr id="47" name="Text 44"/>
          <p:cNvSpPr txBox="1"/>
          <p:nvPr/>
        </p:nvSpPr>
        <p:spPr>
          <a:xfrm>
            <a:off x="950976"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contains a noun structure?</a:t>
            </a:r>
            <a:endParaRPr lang="en-US" sz="1250" dirty="0"/>
          </a:p>
        </p:txBody>
      </p:sp>
      <p:sp>
        <p:nvSpPr>
          <p:cNvPr id="48" name="Shape 45"/>
          <p:cNvSpPr/>
          <p:nvPr/>
        </p:nvSpPr>
        <p:spPr>
          <a:xfrm>
            <a:off x="640080" y="4873752"/>
            <a:ext cx="256032" cy="256032"/>
          </a:xfrm>
          <a:prstGeom prst="ellipse">
            <a:avLst/>
          </a:prstGeom>
          <a:solidFill>
            <a:srgbClr val="F4F1EA"/>
          </a:solidFill>
          <a:ln w="12700">
            <a:solidFill>
              <a:srgbClr val="F4F1EA"/>
            </a:solidFill>
            <a:prstDash val="solid"/>
          </a:ln>
        </p:spPr>
      </p:sp>
      <p:sp>
        <p:nvSpPr>
          <p:cNvPr id="49" name="Text 46"/>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0" name="Text 47"/>
          <p:cNvSpPr txBox="1"/>
          <p:nvPr/>
        </p:nvSpPr>
        <p:spPr>
          <a:xfrm>
            <a:off x="969264" y="47731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قَبْلَ أَنْ أَنَامَ</a:t>
            </a:r>
            <a:endParaRPr lang="ar-SA" sz="2050" dirty="0"/>
          </a:p>
        </p:txBody>
      </p:sp>
      <p:sp>
        <p:nvSpPr>
          <p:cNvPr id="51" name="Shape 48"/>
          <p:cNvSpPr/>
          <p:nvPr/>
        </p:nvSpPr>
        <p:spPr>
          <a:xfrm>
            <a:off x="640080" y="5330952"/>
            <a:ext cx="256032" cy="256032"/>
          </a:xfrm>
          <a:prstGeom prst="ellipse">
            <a:avLst/>
          </a:prstGeom>
          <a:solidFill>
            <a:srgbClr val="F4F1EA"/>
          </a:solidFill>
          <a:ln w="12700">
            <a:solidFill>
              <a:srgbClr val="F4F1EA"/>
            </a:solidFill>
            <a:prstDash val="solid"/>
          </a:ln>
        </p:spPr>
      </p:sp>
      <p:sp>
        <p:nvSpPr>
          <p:cNvPr id="52" name="Text 49"/>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3" name="Text 50"/>
          <p:cNvSpPr txBox="1"/>
          <p:nvPr/>
        </p:nvSpPr>
        <p:spPr>
          <a:xfrm>
            <a:off x="969264" y="52303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قَبْلَ النَّوْمِ</a:t>
            </a:r>
            <a:endParaRPr lang="ar-SA" sz="2050" dirty="0"/>
          </a:p>
        </p:txBody>
      </p:sp>
      <p:sp>
        <p:nvSpPr>
          <p:cNvPr id="54" name="Shape 51"/>
          <p:cNvSpPr/>
          <p:nvPr/>
        </p:nvSpPr>
        <p:spPr>
          <a:xfrm>
            <a:off x="640080" y="5788152"/>
            <a:ext cx="256032" cy="256032"/>
          </a:xfrm>
          <a:prstGeom prst="ellipse">
            <a:avLst/>
          </a:prstGeom>
          <a:solidFill>
            <a:srgbClr val="F4F1EA"/>
          </a:solidFill>
          <a:ln w="12700">
            <a:solidFill>
              <a:srgbClr val="F4F1EA"/>
            </a:solidFill>
            <a:prstDash val="solid"/>
          </a:ln>
        </p:spPr>
      </p:sp>
      <p:sp>
        <p:nvSpPr>
          <p:cNvPr id="55" name="Text 52"/>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6" name="Text 53"/>
          <p:cNvSpPr txBox="1"/>
          <p:nvPr/>
        </p:nvSpPr>
        <p:spPr>
          <a:xfrm>
            <a:off x="969264" y="56875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عِنْدَمَا أَنَامُ</a:t>
            </a:r>
            <a:endParaRPr lang="ar-SA" sz="2050" dirty="0"/>
          </a:p>
        </p:txBody>
      </p:sp>
      <p:sp>
        <p:nvSpPr>
          <p:cNvPr id="57" name="Shape 54"/>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8" name="Shape 55"/>
          <p:cNvSpPr/>
          <p:nvPr/>
        </p:nvSpPr>
        <p:spPr>
          <a:xfrm>
            <a:off x="6313932" y="4288536"/>
            <a:ext cx="310896" cy="310896"/>
          </a:xfrm>
          <a:prstGeom prst="ellipse">
            <a:avLst/>
          </a:prstGeom>
          <a:solidFill>
            <a:srgbClr val="1B3B6F"/>
          </a:solidFill>
          <a:ln w="12700">
            <a:solidFill>
              <a:srgbClr val="1B3B6F"/>
            </a:solidFill>
            <a:prstDash val="solid"/>
          </a:ln>
        </p:spPr>
      </p:sp>
      <p:sp>
        <p:nvSpPr>
          <p:cNvPr id="59" name="Text 56"/>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8</a:t>
            </a:r>
            <a:endParaRPr lang="en-US" sz="1100" dirty="0"/>
          </a:p>
        </p:txBody>
      </p:sp>
      <p:sp>
        <p:nvSpPr>
          <p:cNvPr id="60" name="Text 57"/>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most developed sequence.</a:t>
            </a:r>
            <a:endParaRPr lang="en-US" sz="1250" dirty="0"/>
          </a:p>
        </p:txBody>
      </p:sp>
      <p:sp>
        <p:nvSpPr>
          <p:cNvPr id="61" name="Shape 58"/>
          <p:cNvSpPr/>
          <p:nvPr/>
        </p:nvSpPr>
        <p:spPr>
          <a:xfrm>
            <a:off x="6368796" y="48737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368796"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3" name="Text 60"/>
          <p:cNvSpPr txBox="1"/>
          <p:nvPr/>
        </p:nvSpPr>
        <p:spPr>
          <a:xfrm>
            <a:off x="6697980" y="47731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أُرَاجِعُ دُرُوسِي. أَنَامُ.</a:t>
            </a:r>
            <a:endParaRPr lang="ar-SA" sz="2050" dirty="0"/>
          </a:p>
        </p:txBody>
      </p:sp>
      <p:sp>
        <p:nvSpPr>
          <p:cNvPr id="64" name="Shape 61"/>
          <p:cNvSpPr/>
          <p:nvPr/>
        </p:nvSpPr>
        <p:spPr>
          <a:xfrm>
            <a:off x="6368796" y="53309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368796"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6" name="Text 63"/>
          <p:cNvSpPr txBox="1"/>
          <p:nvPr/>
        </p:nvSpPr>
        <p:spPr>
          <a:xfrm>
            <a:off x="6697980" y="52303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قَبْلَ دُرُوسِي أَنَامُ.</a:t>
            </a:r>
            <a:endParaRPr lang="ar-SA" sz="2050" dirty="0"/>
          </a:p>
        </p:txBody>
      </p:sp>
      <p:sp>
        <p:nvSpPr>
          <p:cNvPr id="67" name="Shape 64"/>
          <p:cNvSpPr/>
          <p:nvPr/>
        </p:nvSpPr>
        <p:spPr>
          <a:xfrm>
            <a:off x="6368796" y="5788152"/>
            <a:ext cx="256032" cy="256032"/>
          </a:xfrm>
          <a:prstGeom prst="ellipse">
            <a:avLst/>
          </a:prstGeom>
          <a:solidFill>
            <a:srgbClr val="F4F1EA"/>
          </a:solidFill>
          <a:ln w="12700">
            <a:solidFill>
              <a:srgbClr val="F4F1EA"/>
            </a:solidFill>
            <a:prstDash val="solid"/>
          </a:ln>
        </p:spPr>
      </p:sp>
      <p:sp>
        <p:nvSpPr>
          <p:cNvPr id="68" name="Text 65"/>
          <p:cNvSpPr txBox="1"/>
          <p:nvPr/>
        </p:nvSpPr>
        <p:spPr>
          <a:xfrm>
            <a:off x="6368796"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9" name="Text 66"/>
          <p:cNvSpPr txBox="1"/>
          <p:nvPr/>
        </p:nvSpPr>
        <p:spPr>
          <a:xfrm>
            <a:off x="6697980" y="56875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أُرَاجِعُ دُرُوسِي قَبْلَ أَنْ أَخْلُدَ إِلَى النَّوْمِ.</a:t>
            </a:r>
            <a:endParaRPr lang="ar-SA" sz="2050" dirty="0"/>
          </a:p>
        </p:txBody>
      </p:sp>
      <p:sp>
        <p:nvSpPr>
          <p:cNvPr id="70" name="Text 6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25 / 46</a:t>
            </a:r>
            <a:endParaRPr lang="en-US" sz="85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D1-L04 · Before and After</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ANSWERS</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Answers and reasons</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الإِجَابَاتُ وَالتَّعْلِيلُ</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D1 · Daily Routine and Time · D1-L04</a:t>
            </a:r>
            <a:endParaRPr lang="en-US" sz="850" dirty="0"/>
          </a:p>
        </p:txBody>
      </p:sp>
      <p:sp>
        <p:nvSpPr>
          <p:cNvPr id="17" name="Shape 14"/>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20" name="Text 17"/>
          <p:cNvSpPr txBox="1"/>
          <p:nvPr/>
        </p:nvSpPr>
        <p:spPr>
          <a:xfrm>
            <a:off x="950976" y="1883664"/>
            <a:ext cx="2273473"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Complete:</a:t>
            </a:r>
            <a:endParaRPr lang="en-US" sz="1200" dirty="0"/>
          </a:p>
        </p:txBody>
      </p:sp>
      <p:sp>
        <p:nvSpPr>
          <p:cNvPr id="21" name="Text 18"/>
          <p:cNvSpPr txBox="1"/>
          <p:nvPr/>
        </p:nvSpPr>
        <p:spPr>
          <a:xfrm>
            <a:off x="3323295" y="1883664"/>
            <a:ext cx="2570013" cy="475488"/>
          </a:xfrm>
          <a:prstGeom prst="rect">
            <a:avLst/>
          </a:prstGeom>
          <a:noFill/>
          <a:ln/>
        </p:spPr>
        <p:txBody>
          <a:bodyPr wrap="square" lIns="0" tIns="0" rIns="0" bIns="0" rtlCol="0" anchor="ctr"/>
          <a:lstStyle/>
          <a:p>
            <a:pPr rtl="1" algn="r" indent="0" marL="0">
              <a:buNone/>
            </a:pPr>
            <a:r>
              <a:rPr lang="ar-SA" altLang="en-US" sz="1500" b="1" dirty="0">
                <a:solidFill>
                  <a:srgbClr val="1F2A37"/>
                </a:solidFill>
                <a:latin typeface="Amiri" pitchFamily="2" charset="-78"/>
                <a:ea typeface="Amiri" pitchFamily="2" charset="-78"/>
                <a:cs typeface="Amiri" pitchFamily="2" charset="-78"/>
              </a:rPr>
              <a:t>قَبْلَ أَنْ ___ وَاجِبَكِ.</a:t>
            </a:r>
            <a:endParaRPr lang="ar-SA" sz="1500" dirty="0"/>
          </a:p>
        </p:txBody>
      </p:sp>
      <p:sp>
        <p:nvSpPr>
          <p:cNvPr id="22" name="Shape 19"/>
          <p:cNvSpPr/>
          <p:nvPr/>
        </p:nvSpPr>
        <p:spPr>
          <a:xfrm>
            <a:off x="640080" y="2490216"/>
            <a:ext cx="256032" cy="256032"/>
          </a:xfrm>
          <a:prstGeom prst="ellipse">
            <a:avLst/>
          </a:prstGeom>
          <a:solidFill>
            <a:srgbClr val="C9CED6"/>
          </a:solidFill>
          <a:ln w="12700">
            <a:solidFill>
              <a:srgbClr val="C9CED6"/>
            </a:solidFill>
            <a:prstDash val="solid"/>
          </a:ln>
        </p:spPr>
      </p:sp>
      <p:sp>
        <p:nvSpPr>
          <p:cNvPr id="23" name="Text 20"/>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4" name="Text 21"/>
          <p:cNvSpPr txBox="1"/>
          <p:nvPr/>
        </p:nvSpPr>
        <p:spPr>
          <a:xfrm>
            <a:off x="969264" y="243230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تُكْمِلِينَ</a:t>
            </a:r>
            <a:endParaRPr lang="ar-SA" sz="1700" dirty="0"/>
          </a:p>
        </p:txBody>
      </p:sp>
      <p:sp>
        <p:nvSpPr>
          <p:cNvPr id="25" name="Shape 22"/>
          <p:cNvSpPr/>
          <p:nvPr/>
        </p:nvSpPr>
        <p:spPr>
          <a:xfrm>
            <a:off x="640080" y="2862072"/>
            <a:ext cx="256032" cy="256032"/>
          </a:xfrm>
          <a:prstGeom prst="ellipse">
            <a:avLst/>
          </a:prstGeom>
          <a:solidFill>
            <a:srgbClr val="C9CED6"/>
          </a:solidFill>
          <a:ln w="12700">
            <a:solidFill>
              <a:srgbClr val="C9CED6"/>
            </a:solidFill>
            <a:prstDash val="solid"/>
          </a:ln>
        </p:spPr>
      </p:sp>
      <p:sp>
        <p:nvSpPr>
          <p:cNvPr id="26" name="Text 23"/>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7" name="Text 24"/>
          <p:cNvSpPr txBox="1"/>
          <p:nvPr/>
        </p:nvSpPr>
        <p:spPr>
          <a:xfrm>
            <a:off x="969264" y="280416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تُكْمِلُ</a:t>
            </a:r>
            <a:endParaRPr lang="ar-SA" sz="1700" dirty="0"/>
          </a:p>
        </p:txBody>
      </p:sp>
      <p:sp>
        <p:nvSpPr>
          <p:cNvPr id="28" name="Shape 25"/>
          <p:cNvSpPr/>
          <p:nvPr/>
        </p:nvSpPr>
        <p:spPr>
          <a:xfrm>
            <a:off x="548640" y="3197352"/>
            <a:ext cx="5362956" cy="347472"/>
          </a:xfrm>
          <a:prstGeom prst="roundRect">
            <a:avLst>
              <a:gd name="adj" fmla="val 15789"/>
            </a:avLst>
          </a:prstGeom>
          <a:solidFill>
            <a:srgbClr val="E6F4EC"/>
          </a:solidFill>
          <a:ln w="9525">
            <a:solidFill>
              <a:srgbClr val="2E8B57"/>
            </a:solidFill>
            <a:prstDash val="solid"/>
          </a:ln>
        </p:spPr>
      </p:sp>
      <p:sp>
        <p:nvSpPr>
          <p:cNvPr id="29" name="Shape 26"/>
          <p:cNvSpPr/>
          <p:nvPr/>
        </p:nvSpPr>
        <p:spPr>
          <a:xfrm>
            <a:off x="640080" y="3233928"/>
            <a:ext cx="256032" cy="256032"/>
          </a:xfrm>
          <a:prstGeom prst="ellipse">
            <a:avLst/>
          </a:prstGeom>
          <a:solidFill>
            <a:srgbClr val="2E8B57"/>
          </a:solidFill>
          <a:ln w="12700">
            <a:solidFill>
              <a:srgbClr val="2E8B57"/>
            </a:solidFill>
            <a:prstDash val="solid"/>
          </a:ln>
        </p:spPr>
      </p:sp>
      <p:sp>
        <p:nvSpPr>
          <p:cNvPr id="30" name="Text 27"/>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31" name="Text 28"/>
          <p:cNvSpPr txBox="1"/>
          <p:nvPr/>
        </p:nvSpPr>
        <p:spPr>
          <a:xfrm>
            <a:off x="969264" y="3176016"/>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تُكْمِلِي</a:t>
            </a:r>
            <a:endParaRPr lang="ar-SA" sz="1700" dirty="0"/>
          </a:p>
        </p:txBody>
      </p:sp>
      <p:sp>
        <p:nvSpPr>
          <p:cNvPr id="32" name="Text 29"/>
          <p:cNvSpPr txBox="1"/>
          <p:nvPr/>
        </p:nvSpPr>
        <p:spPr>
          <a:xfrm>
            <a:off x="585216" y="3566160"/>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The feminine singular five-verb form loses </a:t>
            </a:r>
            <a:pPr algn="l" indent="0" marL="0">
              <a:buNone/>
            </a:pPr>
            <a:r>
              <a:rPr lang="ar-SA" altLang="en-US" sz="1350" dirty="0">
                <a:solidFill>
                  <a:srgbClr val="8A6D1E"/>
                </a:solidFill>
                <a:latin typeface="Amiri" pitchFamily="2" charset="-78"/>
                <a:ea typeface="Amiri" pitchFamily="2" charset="-78"/>
                <a:cs typeface="Amiri" pitchFamily="2" charset="-78"/>
              </a:rPr>
              <a:t>ن</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33" name="Shape 30"/>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4" name="Shape 31"/>
          <p:cNvSpPr/>
          <p:nvPr/>
        </p:nvSpPr>
        <p:spPr>
          <a:xfrm>
            <a:off x="6313932" y="1947672"/>
            <a:ext cx="310896" cy="310896"/>
          </a:xfrm>
          <a:prstGeom prst="ellipse">
            <a:avLst/>
          </a:prstGeom>
          <a:solidFill>
            <a:srgbClr val="1B3B6F"/>
          </a:solidFill>
          <a:ln w="12700">
            <a:solidFill>
              <a:srgbClr val="1B3B6F"/>
            </a:solidFill>
            <a:prstDash val="solid"/>
          </a:ln>
        </p:spPr>
      </p:sp>
      <p:sp>
        <p:nvSpPr>
          <p:cNvPr id="35" name="Text 32"/>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6</a:t>
            </a:r>
            <a:endParaRPr lang="en-US" sz="1100" dirty="0"/>
          </a:p>
        </p:txBody>
      </p:sp>
      <p:sp>
        <p:nvSpPr>
          <p:cNvPr id="36" name="Text 33"/>
          <p:cNvSpPr txBox="1"/>
          <p:nvPr/>
        </p:nvSpPr>
        <p:spPr>
          <a:xfrm>
            <a:off x="6679692"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sentence means “After I finish, I rest”?</a:t>
            </a:r>
            <a:endParaRPr lang="en-US" sz="1250" dirty="0"/>
          </a:p>
        </p:txBody>
      </p:sp>
      <p:sp>
        <p:nvSpPr>
          <p:cNvPr id="37" name="Shape 34"/>
          <p:cNvSpPr/>
          <p:nvPr/>
        </p:nvSpPr>
        <p:spPr>
          <a:xfrm>
            <a:off x="6368796" y="2490216"/>
            <a:ext cx="256032" cy="256032"/>
          </a:xfrm>
          <a:prstGeom prst="ellipse">
            <a:avLst/>
          </a:prstGeom>
          <a:solidFill>
            <a:srgbClr val="C9CED6"/>
          </a:solidFill>
          <a:ln w="12700">
            <a:solidFill>
              <a:srgbClr val="C9CED6"/>
            </a:solidFill>
            <a:prstDash val="solid"/>
          </a:ln>
        </p:spPr>
      </p:sp>
      <p:sp>
        <p:nvSpPr>
          <p:cNvPr id="38" name="Text 35"/>
          <p:cNvSpPr txBox="1"/>
          <p:nvPr/>
        </p:nvSpPr>
        <p:spPr>
          <a:xfrm>
            <a:off x="6368796"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9" name="Text 36"/>
          <p:cNvSpPr txBox="1"/>
          <p:nvPr/>
        </p:nvSpPr>
        <p:spPr>
          <a:xfrm>
            <a:off x="6697980" y="243230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قَبْلَ أَنْ أَنْتَهِيَ، أَسْتَرِيحُ.</a:t>
            </a:r>
            <a:endParaRPr lang="ar-SA" sz="1700" dirty="0"/>
          </a:p>
        </p:txBody>
      </p:sp>
      <p:sp>
        <p:nvSpPr>
          <p:cNvPr id="40" name="Shape 37"/>
          <p:cNvSpPr/>
          <p:nvPr/>
        </p:nvSpPr>
        <p:spPr>
          <a:xfrm>
            <a:off x="6277356" y="2825496"/>
            <a:ext cx="5362956" cy="347472"/>
          </a:xfrm>
          <a:prstGeom prst="roundRect">
            <a:avLst>
              <a:gd name="adj" fmla="val 15789"/>
            </a:avLst>
          </a:prstGeom>
          <a:solidFill>
            <a:srgbClr val="E6F4EC"/>
          </a:solidFill>
          <a:ln w="9525">
            <a:solidFill>
              <a:srgbClr val="2E8B57"/>
            </a:solidFill>
            <a:prstDash val="solid"/>
          </a:ln>
        </p:spPr>
      </p:sp>
      <p:sp>
        <p:nvSpPr>
          <p:cNvPr id="41" name="Shape 38"/>
          <p:cNvSpPr/>
          <p:nvPr/>
        </p:nvSpPr>
        <p:spPr>
          <a:xfrm>
            <a:off x="6368796" y="2862072"/>
            <a:ext cx="256032" cy="256032"/>
          </a:xfrm>
          <a:prstGeom prst="ellipse">
            <a:avLst/>
          </a:prstGeom>
          <a:solidFill>
            <a:srgbClr val="2E8B57"/>
          </a:solidFill>
          <a:ln w="12700">
            <a:solidFill>
              <a:srgbClr val="2E8B57"/>
            </a:solidFill>
            <a:prstDash val="solid"/>
          </a:ln>
        </p:spPr>
      </p:sp>
      <p:sp>
        <p:nvSpPr>
          <p:cNvPr id="42" name="Text 39"/>
          <p:cNvSpPr txBox="1"/>
          <p:nvPr/>
        </p:nvSpPr>
        <p:spPr>
          <a:xfrm>
            <a:off x="6368796"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43" name="Text 40"/>
          <p:cNvSpPr txBox="1"/>
          <p:nvPr/>
        </p:nvSpPr>
        <p:spPr>
          <a:xfrm>
            <a:off x="6697980" y="2804160"/>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بَعْدَ أَنْ أَنْتَهِيَ، أَسْتَرِيحُ.</a:t>
            </a:r>
            <a:endParaRPr lang="ar-SA" sz="1700" dirty="0"/>
          </a:p>
        </p:txBody>
      </p:sp>
      <p:sp>
        <p:nvSpPr>
          <p:cNvPr id="44" name="Shape 41"/>
          <p:cNvSpPr/>
          <p:nvPr/>
        </p:nvSpPr>
        <p:spPr>
          <a:xfrm>
            <a:off x="6368796" y="3233928"/>
            <a:ext cx="256032" cy="256032"/>
          </a:xfrm>
          <a:prstGeom prst="ellipse">
            <a:avLst/>
          </a:prstGeom>
          <a:solidFill>
            <a:srgbClr val="C9CED6"/>
          </a:solidFill>
          <a:ln w="12700">
            <a:solidFill>
              <a:srgbClr val="C9CED6"/>
            </a:solidFill>
            <a:prstDash val="solid"/>
          </a:ln>
        </p:spPr>
      </p:sp>
      <p:sp>
        <p:nvSpPr>
          <p:cNvPr id="45" name="Text 42"/>
          <p:cNvSpPr txBox="1"/>
          <p:nvPr/>
        </p:nvSpPr>
        <p:spPr>
          <a:xfrm>
            <a:off x="6368796"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6" name="Text 43"/>
          <p:cNvSpPr txBox="1"/>
          <p:nvPr/>
        </p:nvSpPr>
        <p:spPr>
          <a:xfrm>
            <a:off x="6697980" y="3176016"/>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بَعْدَ أَنْ أَسْتَرِيحَ، أَنْتَهِي.</a:t>
            </a:r>
            <a:endParaRPr lang="ar-SA" sz="1700" dirty="0"/>
          </a:p>
        </p:txBody>
      </p:sp>
      <p:sp>
        <p:nvSpPr>
          <p:cNvPr id="47" name="Text 44"/>
          <p:cNvSpPr txBox="1"/>
          <p:nvPr/>
        </p:nvSpPr>
        <p:spPr>
          <a:xfrm>
            <a:off x="6313932" y="3566160"/>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The completion comes first, then rest.</a:t>
            </a:r>
            <a:endParaRPr lang="en-US" sz="1050" dirty="0"/>
          </a:p>
        </p:txBody>
      </p:sp>
      <p:sp>
        <p:nvSpPr>
          <p:cNvPr id="48" name="Shape 45"/>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9" name="Shape 46"/>
          <p:cNvSpPr/>
          <p:nvPr/>
        </p:nvSpPr>
        <p:spPr>
          <a:xfrm>
            <a:off x="585216" y="4288536"/>
            <a:ext cx="310896" cy="310896"/>
          </a:xfrm>
          <a:prstGeom prst="ellipse">
            <a:avLst/>
          </a:prstGeom>
          <a:solidFill>
            <a:srgbClr val="1B3B6F"/>
          </a:solidFill>
          <a:ln w="12700">
            <a:solidFill>
              <a:srgbClr val="1B3B6F"/>
            </a:solidFill>
            <a:prstDash val="solid"/>
          </a:ln>
        </p:spPr>
      </p:sp>
      <p:sp>
        <p:nvSpPr>
          <p:cNvPr id="50" name="Text 47"/>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7</a:t>
            </a:r>
            <a:endParaRPr lang="en-US" sz="1100" dirty="0"/>
          </a:p>
        </p:txBody>
      </p:sp>
      <p:sp>
        <p:nvSpPr>
          <p:cNvPr id="51" name="Text 48"/>
          <p:cNvSpPr txBox="1"/>
          <p:nvPr/>
        </p:nvSpPr>
        <p:spPr>
          <a:xfrm>
            <a:off x="950976"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contains a noun structure?</a:t>
            </a:r>
            <a:endParaRPr lang="en-US" sz="1250" dirty="0"/>
          </a:p>
        </p:txBody>
      </p:sp>
      <p:sp>
        <p:nvSpPr>
          <p:cNvPr id="52" name="Shape 49"/>
          <p:cNvSpPr/>
          <p:nvPr/>
        </p:nvSpPr>
        <p:spPr>
          <a:xfrm>
            <a:off x="640080" y="4831080"/>
            <a:ext cx="256032" cy="256032"/>
          </a:xfrm>
          <a:prstGeom prst="ellipse">
            <a:avLst/>
          </a:prstGeom>
          <a:solidFill>
            <a:srgbClr val="C9CED6"/>
          </a:solidFill>
          <a:ln w="12700">
            <a:solidFill>
              <a:srgbClr val="C9CED6"/>
            </a:solidFill>
            <a:prstDash val="solid"/>
          </a:ln>
        </p:spPr>
      </p:sp>
      <p:sp>
        <p:nvSpPr>
          <p:cNvPr id="53" name="Text 50"/>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4" name="Text 51"/>
          <p:cNvSpPr txBox="1"/>
          <p:nvPr/>
        </p:nvSpPr>
        <p:spPr>
          <a:xfrm>
            <a:off x="969264" y="4773168"/>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قَبْلَ أَنْ أَنَامَ</a:t>
            </a:r>
            <a:endParaRPr lang="ar-SA" sz="1700" dirty="0"/>
          </a:p>
        </p:txBody>
      </p:sp>
      <p:sp>
        <p:nvSpPr>
          <p:cNvPr id="55" name="Shape 52"/>
          <p:cNvSpPr/>
          <p:nvPr/>
        </p:nvSpPr>
        <p:spPr>
          <a:xfrm>
            <a:off x="548640" y="5166360"/>
            <a:ext cx="5362956" cy="347472"/>
          </a:xfrm>
          <a:prstGeom prst="roundRect">
            <a:avLst>
              <a:gd name="adj" fmla="val 15789"/>
            </a:avLst>
          </a:prstGeom>
          <a:solidFill>
            <a:srgbClr val="E6F4EC"/>
          </a:solidFill>
          <a:ln w="9525">
            <a:solidFill>
              <a:srgbClr val="2E8B57"/>
            </a:solidFill>
            <a:prstDash val="solid"/>
          </a:ln>
        </p:spPr>
      </p:sp>
      <p:sp>
        <p:nvSpPr>
          <p:cNvPr id="56" name="Shape 53"/>
          <p:cNvSpPr/>
          <p:nvPr/>
        </p:nvSpPr>
        <p:spPr>
          <a:xfrm>
            <a:off x="640080" y="5202936"/>
            <a:ext cx="256032" cy="256032"/>
          </a:xfrm>
          <a:prstGeom prst="ellipse">
            <a:avLst/>
          </a:prstGeom>
          <a:solidFill>
            <a:srgbClr val="2E8B57"/>
          </a:solidFill>
          <a:ln w="12700">
            <a:solidFill>
              <a:srgbClr val="2E8B57"/>
            </a:solidFill>
            <a:prstDash val="solid"/>
          </a:ln>
        </p:spPr>
      </p:sp>
      <p:sp>
        <p:nvSpPr>
          <p:cNvPr id="57" name="Text 54"/>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58" name="Text 55"/>
          <p:cNvSpPr txBox="1"/>
          <p:nvPr/>
        </p:nvSpPr>
        <p:spPr>
          <a:xfrm>
            <a:off x="969264" y="5145024"/>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قَبْلَ النَّوْمِ</a:t>
            </a:r>
            <a:endParaRPr lang="ar-SA" sz="1700" dirty="0"/>
          </a:p>
        </p:txBody>
      </p:sp>
      <p:sp>
        <p:nvSpPr>
          <p:cNvPr id="59" name="Shape 56"/>
          <p:cNvSpPr/>
          <p:nvPr/>
        </p:nvSpPr>
        <p:spPr>
          <a:xfrm>
            <a:off x="640080" y="5574792"/>
            <a:ext cx="256032" cy="256032"/>
          </a:xfrm>
          <a:prstGeom prst="ellipse">
            <a:avLst/>
          </a:prstGeom>
          <a:solidFill>
            <a:srgbClr val="C9CED6"/>
          </a:solidFill>
          <a:ln w="12700">
            <a:solidFill>
              <a:srgbClr val="C9CED6"/>
            </a:solidFill>
            <a:prstDash val="solid"/>
          </a:ln>
        </p:spPr>
      </p:sp>
      <p:sp>
        <p:nvSpPr>
          <p:cNvPr id="60" name="Text 57"/>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1" name="Text 58"/>
          <p:cNvSpPr txBox="1"/>
          <p:nvPr/>
        </p:nvSpPr>
        <p:spPr>
          <a:xfrm>
            <a:off x="969264" y="551688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عِنْدَمَا أَنَامُ</a:t>
            </a:r>
            <a:endParaRPr lang="ar-SA" sz="1700" dirty="0"/>
          </a:p>
        </p:txBody>
      </p:sp>
      <p:sp>
        <p:nvSpPr>
          <p:cNvPr id="62" name="Text 59"/>
          <p:cNvSpPr txBox="1"/>
          <p:nvPr/>
        </p:nvSpPr>
        <p:spPr>
          <a:xfrm>
            <a:off x="585216" y="5907024"/>
            <a:ext cx="5289804"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النَّوْمِ</a:t>
            </a:r>
            <a:pPr algn="l" indent="0" marL="0">
              <a:buNone/>
            </a:pPr>
            <a:r>
              <a:rPr lang="en-US" sz="1050" i="1" dirty="0">
                <a:solidFill>
                  <a:srgbClr val="8A6D1E"/>
                </a:solidFill>
                <a:latin typeface="Calibri" pitchFamily="34" charset="0"/>
                <a:cs typeface="Amiri" pitchFamily="2" charset="-78"/>
              </a:rPr>
              <a:t> is a noun.</a:t>
            </a:r>
            <a:endParaRPr lang="en-US" sz="1050" dirty="0"/>
          </a:p>
        </p:txBody>
      </p:sp>
      <p:sp>
        <p:nvSpPr>
          <p:cNvPr id="63" name="Shape 60"/>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4" name="Shape 61"/>
          <p:cNvSpPr/>
          <p:nvPr/>
        </p:nvSpPr>
        <p:spPr>
          <a:xfrm>
            <a:off x="6313932" y="4288536"/>
            <a:ext cx="310896" cy="310896"/>
          </a:xfrm>
          <a:prstGeom prst="ellipse">
            <a:avLst/>
          </a:prstGeom>
          <a:solidFill>
            <a:srgbClr val="1B3B6F"/>
          </a:solidFill>
          <a:ln w="12700">
            <a:solidFill>
              <a:srgbClr val="1B3B6F"/>
            </a:solidFill>
            <a:prstDash val="solid"/>
          </a:ln>
        </p:spPr>
      </p:sp>
      <p:sp>
        <p:nvSpPr>
          <p:cNvPr id="65" name="Text 62"/>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8</a:t>
            </a:r>
            <a:endParaRPr lang="en-US" sz="1100" dirty="0"/>
          </a:p>
        </p:txBody>
      </p:sp>
      <p:sp>
        <p:nvSpPr>
          <p:cNvPr id="66" name="Text 63"/>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most developed sequence.</a:t>
            </a:r>
            <a:endParaRPr lang="en-US" sz="1250" dirty="0"/>
          </a:p>
        </p:txBody>
      </p:sp>
      <p:sp>
        <p:nvSpPr>
          <p:cNvPr id="67" name="Shape 64"/>
          <p:cNvSpPr/>
          <p:nvPr/>
        </p:nvSpPr>
        <p:spPr>
          <a:xfrm>
            <a:off x="6368796" y="4831080"/>
            <a:ext cx="256032" cy="256032"/>
          </a:xfrm>
          <a:prstGeom prst="ellipse">
            <a:avLst/>
          </a:prstGeom>
          <a:solidFill>
            <a:srgbClr val="C9CED6"/>
          </a:solidFill>
          <a:ln w="12700">
            <a:solidFill>
              <a:srgbClr val="C9CED6"/>
            </a:solidFill>
            <a:prstDash val="solid"/>
          </a:ln>
        </p:spPr>
      </p:sp>
      <p:sp>
        <p:nvSpPr>
          <p:cNvPr id="68" name="Text 65"/>
          <p:cNvSpPr txBox="1"/>
          <p:nvPr/>
        </p:nvSpPr>
        <p:spPr>
          <a:xfrm>
            <a:off x="6368796"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9" name="Text 66"/>
          <p:cNvSpPr txBox="1"/>
          <p:nvPr/>
        </p:nvSpPr>
        <p:spPr>
          <a:xfrm>
            <a:off x="6697980" y="4773168"/>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أُرَاجِعُ دُرُوسِي. أَنَامُ.</a:t>
            </a:r>
            <a:endParaRPr lang="ar-SA" sz="1700" dirty="0"/>
          </a:p>
        </p:txBody>
      </p:sp>
      <p:sp>
        <p:nvSpPr>
          <p:cNvPr id="70" name="Shape 67"/>
          <p:cNvSpPr/>
          <p:nvPr/>
        </p:nvSpPr>
        <p:spPr>
          <a:xfrm>
            <a:off x="6368796" y="5202936"/>
            <a:ext cx="256032" cy="256032"/>
          </a:xfrm>
          <a:prstGeom prst="ellipse">
            <a:avLst/>
          </a:prstGeom>
          <a:solidFill>
            <a:srgbClr val="C9CED6"/>
          </a:solidFill>
          <a:ln w="12700">
            <a:solidFill>
              <a:srgbClr val="C9CED6"/>
            </a:solidFill>
            <a:prstDash val="solid"/>
          </a:ln>
        </p:spPr>
      </p:sp>
      <p:sp>
        <p:nvSpPr>
          <p:cNvPr id="71" name="Text 68"/>
          <p:cNvSpPr txBox="1"/>
          <p:nvPr/>
        </p:nvSpPr>
        <p:spPr>
          <a:xfrm>
            <a:off x="6368796"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2" name="Text 69"/>
          <p:cNvSpPr txBox="1"/>
          <p:nvPr/>
        </p:nvSpPr>
        <p:spPr>
          <a:xfrm>
            <a:off x="6697980" y="514502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قَبْلَ دُرُوسِي أَنَامُ.</a:t>
            </a:r>
            <a:endParaRPr lang="ar-SA" sz="1700" dirty="0"/>
          </a:p>
        </p:txBody>
      </p:sp>
      <p:sp>
        <p:nvSpPr>
          <p:cNvPr id="73" name="Shape 70"/>
          <p:cNvSpPr/>
          <p:nvPr/>
        </p:nvSpPr>
        <p:spPr>
          <a:xfrm>
            <a:off x="6277356" y="5538216"/>
            <a:ext cx="5362956" cy="347472"/>
          </a:xfrm>
          <a:prstGeom prst="roundRect">
            <a:avLst>
              <a:gd name="adj" fmla="val 15789"/>
            </a:avLst>
          </a:prstGeom>
          <a:solidFill>
            <a:srgbClr val="E6F4EC"/>
          </a:solidFill>
          <a:ln w="9525">
            <a:solidFill>
              <a:srgbClr val="2E8B57"/>
            </a:solidFill>
            <a:prstDash val="solid"/>
          </a:ln>
        </p:spPr>
      </p:sp>
      <p:sp>
        <p:nvSpPr>
          <p:cNvPr id="74" name="Shape 71"/>
          <p:cNvSpPr/>
          <p:nvPr/>
        </p:nvSpPr>
        <p:spPr>
          <a:xfrm>
            <a:off x="6368796" y="5574792"/>
            <a:ext cx="256032" cy="256032"/>
          </a:xfrm>
          <a:prstGeom prst="ellipse">
            <a:avLst/>
          </a:prstGeom>
          <a:solidFill>
            <a:srgbClr val="2E8B57"/>
          </a:solidFill>
          <a:ln w="12700">
            <a:solidFill>
              <a:srgbClr val="2E8B57"/>
            </a:solidFill>
            <a:prstDash val="solid"/>
          </a:ln>
        </p:spPr>
      </p:sp>
      <p:sp>
        <p:nvSpPr>
          <p:cNvPr id="75" name="Text 72"/>
          <p:cNvSpPr txBox="1"/>
          <p:nvPr/>
        </p:nvSpPr>
        <p:spPr>
          <a:xfrm>
            <a:off x="6368796" y="557479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76" name="Text 73"/>
          <p:cNvSpPr txBox="1"/>
          <p:nvPr/>
        </p:nvSpPr>
        <p:spPr>
          <a:xfrm>
            <a:off x="6697980" y="5516880"/>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أُرَاجِعُ دُرُوسِي قَبْلَ أَنْ أَخْلُدَ إِلَى النَّوْمِ.</a:t>
            </a:r>
            <a:endParaRPr lang="ar-SA" sz="1700" dirty="0"/>
          </a:p>
        </p:txBody>
      </p:sp>
      <p:sp>
        <p:nvSpPr>
          <p:cNvPr id="77" name="Text 74"/>
          <p:cNvSpPr txBox="1"/>
          <p:nvPr/>
        </p:nvSpPr>
        <p:spPr>
          <a:xfrm>
            <a:off x="6313932" y="5907024"/>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It connects the actions accurately with </a:t>
            </a:r>
            <a:pPr algn="l" indent="0" marL="0">
              <a:buNone/>
            </a:pPr>
            <a:r>
              <a:rPr lang="ar-SA" altLang="en-US" sz="1350" dirty="0">
                <a:solidFill>
                  <a:srgbClr val="8A6D1E"/>
                </a:solidFill>
                <a:latin typeface="Amiri" pitchFamily="2" charset="-78"/>
                <a:ea typeface="Amiri" pitchFamily="2" charset="-78"/>
                <a:cs typeface="Amiri" pitchFamily="2" charset="-78"/>
              </a:rPr>
              <a:t>قَبْلَ أَنْ</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78" name="Text 7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26 / 46</a:t>
            </a:r>
            <a:endParaRPr lang="en-US" sz="85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D1-L04 · Before and After</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SPOT AND FIX</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Repair the mistake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صَحِّحِ الخَطَأَ</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D1 · Daily Routine and Time · D1-L04</a:t>
            </a:r>
            <a:endParaRPr lang="en-US" sz="850" dirty="0"/>
          </a:p>
        </p:txBody>
      </p:sp>
      <p:sp>
        <p:nvSpPr>
          <p:cNvPr id="15" name="Shape 12"/>
          <p:cNvSpPr/>
          <p:nvPr/>
        </p:nvSpPr>
        <p:spPr>
          <a:xfrm>
            <a:off x="457200" y="1810512"/>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183112" y="2249424"/>
            <a:ext cx="402336" cy="402336"/>
          </a:xfrm>
          <a:prstGeom prst="ellipse">
            <a:avLst/>
          </a:prstGeom>
          <a:solidFill>
            <a:srgbClr val="B83227"/>
          </a:solidFill>
          <a:ln w="12700">
            <a:solidFill>
              <a:srgbClr val="B83227"/>
            </a:solidFill>
            <a:prstDash val="solid"/>
          </a:ln>
        </p:spPr>
      </p:sp>
      <p:sp>
        <p:nvSpPr>
          <p:cNvPr id="17" name="Text 14"/>
          <p:cNvSpPr txBox="1"/>
          <p:nvPr/>
        </p:nvSpPr>
        <p:spPr>
          <a:xfrm>
            <a:off x="11183112" y="2249424"/>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1</a:t>
            </a:r>
            <a:endParaRPr lang="en-US" sz="1300" dirty="0"/>
          </a:p>
        </p:txBody>
      </p:sp>
      <p:sp>
        <p:nvSpPr>
          <p:cNvPr id="18" name="Text 15"/>
          <p:cNvSpPr txBox="1"/>
          <p:nvPr/>
        </p:nvSpPr>
        <p:spPr>
          <a:xfrm>
            <a:off x="4023360" y="1901952"/>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قَبْلَ أَنْ أَخْرُجُ.</a:t>
            </a:r>
            <a:endParaRPr lang="ar-SA" sz="3000" dirty="0"/>
          </a:p>
        </p:txBody>
      </p:sp>
      <p:sp>
        <p:nvSpPr>
          <p:cNvPr id="19" name="Text 16"/>
          <p:cNvSpPr txBox="1"/>
          <p:nvPr/>
        </p:nvSpPr>
        <p:spPr>
          <a:xfrm>
            <a:off x="731520" y="1901952"/>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After </a:t>
            </a:r>
            <a:pPr algn="l" indent="0" marL="0">
              <a:buNone/>
            </a:pPr>
            <a:r>
              <a:rPr lang="ar-SA" altLang="en-US" sz="1700" dirty="0">
                <a:solidFill>
                  <a:srgbClr val="5A6472"/>
                </a:solidFill>
                <a:latin typeface="Amiri" pitchFamily="2" charset="-78"/>
                <a:ea typeface="Amiri" pitchFamily="2" charset="-78"/>
                <a:cs typeface="Amiri" pitchFamily="2" charset="-78"/>
              </a:rPr>
              <a:t>أَنْ</a:t>
            </a:r>
            <a:pPr algn="l" indent="0" marL="0">
              <a:buNone/>
            </a:pPr>
            <a:r>
              <a:rPr lang="en-US" sz="1300" i="1" dirty="0">
                <a:solidFill>
                  <a:srgbClr val="5A6472"/>
                </a:solidFill>
                <a:latin typeface="Calibri" pitchFamily="34" charset="0"/>
                <a:cs typeface="Amiri" pitchFamily="2" charset="-78"/>
              </a:rPr>
              <a:t>, what happens to the last vowel?</a:t>
            </a:r>
            <a:endParaRPr lang="en-US" sz="1300" dirty="0"/>
          </a:p>
        </p:txBody>
      </p:sp>
      <p:sp>
        <p:nvSpPr>
          <p:cNvPr id="20" name="Shape 17"/>
          <p:cNvSpPr/>
          <p:nvPr/>
        </p:nvSpPr>
        <p:spPr>
          <a:xfrm>
            <a:off x="457200" y="3255264"/>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11183112" y="3694176"/>
            <a:ext cx="402336" cy="402336"/>
          </a:xfrm>
          <a:prstGeom prst="ellipse">
            <a:avLst/>
          </a:prstGeom>
          <a:solidFill>
            <a:srgbClr val="B83227"/>
          </a:solidFill>
          <a:ln w="12700">
            <a:solidFill>
              <a:srgbClr val="B83227"/>
            </a:solidFill>
            <a:prstDash val="solid"/>
          </a:ln>
        </p:spPr>
      </p:sp>
      <p:sp>
        <p:nvSpPr>
          <p:cNvPr id="22" name="Text 19"/>
          <p:cNvSpPr txBox="1"/>
          <p:nvPr/>
        </p:nvSpPr>
        <p:spPr>
          <a:xfrm>
            <a:off x="11183112" y="3694176"/>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2</a:t>
            </a:r>
            <a:endParaRPr lang="en-US" sz="1300" dirty="0"/>
          </a:p>
        </p:txBody>
      </p:sp>
      <p:sp>
        <p:nvSpPr>
          <p:cNvPr id="23" name="Text 20"/>
          <p:cNvSpPr txBox="1"/>
          <p:nvPr/>
        </p:nvSpPr>
        <p:spPr>
          <a:xfrm>
            <a:off x="4023360" y="3346704"/>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بَعْدَ أَنْ تُكْمِلِينَ.</a:t>
            </a:r>
            <a:endParaRPr lang="ar-SA" sz="3000" dirty="0"/>
          </a:p>
        </p:txBody>
      </p:sp>
      <p:sp>
        <p:nvSpPr>
          <p:cNvPr id="24" name="Text 21"/>
          <p:cNvSpPr txBox="1"/>
          <p:nvPr/>
        </p:nvSpPr>
        <p:spPr>
          <a:xfrm>
            <a:off x="731520" y="3346704"/>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Five verb (-</a:t>
            </a:r>
            <a:pPr algn="l" indent="0" marL="0">
              <a:buNone/>
            </a:pPr>
            <a:r>
              <a:rPr lang="ar-SA" altLang="en-US" sz="1700" dirty="0">
                <a:solidFill>
                  <a:srgbClr val="5A6472"/>
                </a:solidFill>
                <a:latin typeface="Amiri" pitchFamily="2" charset="-78"/>
                <a:ea typeface="Amiri" pitchFamily="2" charset="-78"/>
                <a:cs typeface="Amiri" pitchFamily="2" charset="-78"/>
              </a:rPr>
              <a:t>ينَ</a:t>
            </a:r>
            <a:pPr algn="l" indent="0" marL="0">
              <a:buNone/>
            </a:pPr>
            <a:r>
              <a:rPr lang="en-US" sz="1300" i="1" dirty="0">
                <a:solidFill>
                  <a:srgbClr val="5A6472"/>
                </a:solidFill>
                <a:latin typeface="Calibri" pitchFamily="34" charset="0"/>
                <a:cs typeface="Amiri" pitchFamily="2" charset="-78"/>
              </a:rPr>
              <a:t>). What disappears?</a:t>
            </a:r>
            <a:endParaRPr lang="en-US" sz="1300" dirty="0"/>
          </a:p>
        </p:txBody>
      </p:sp>
      <p:sp>
        <p:nvSpPr>
          <p:cNvPr id="25" name="Shape 22"/>
          <p:cNvSpPr/>
          <p:nvPr/>
        </p:nvSpPr>
        <p:spPr>
          <a:xfrm>
            <a:off x="457200" y="4700016"/>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11183112" y="5138928"/>
            <a:ext cx="402336" cy="402336"/>
          </a:xfrm>
          <a:prstGeom prst="ellipse">
            <a:avLst/>
          </a:prstGeom>
          <a:solidFill>
            <a:srgbClr val="B83227"/>
          </a:solidFill>
          <a:ln w="12700">
            <a:solidFill>
              <a:srgbClr val="B83227"/>
            </a:solidFill>
            <a:prstDash val="solid"/>
          </a:ln>
        </p:spPr>
      </p:sp>
      <p:sp>
        <p:nvSpPr>
          <p:cNvPr id="27" name="Text 24"/>
          <p:cNvSpPr txBox="1"/>
          <p:nvPr/>
        </p:nvSpPr>
        <p:spPr>
          <a:xfrm>
            <a:off x="11183112" y="5138928"/>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3</a:t>
            </a:r>
            <a:endParaRPr lang="en-US" sz="1300" dirty="0"/>
          </a:p>
        </p:txBody>
      </p:sp>
      <p:sp>
        <p:nvSpPr>
          <p:cNvPr id="28" name="Text 25"/>
          <p:cNvSpPr txBox="1"/>
          <p:nvPr/>
        </p:nvSpPr>
        <p:spPr>
          <a:xfrm>
            <a:off x="4023360" y="4791456"/>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قَبْلَ أَنْ الإِفْطَارِ.</a:t>
            </a:r>
            <a:endParaRPr lang="ar-SA" sz="3000" dirty="0"/>
          </a:p>
        </p:txBody>
      </p:sp>
      <p:sp>
        <p:nvSpPr>
          <p:cNvPr id="29" name="Text 26"/>
          <p:cNvSpPr txBox="1"/>
          <p:nvPr/>
        </p:nvSpPr>
        <p:spPr>
          <a:xfrm>
            <a:off x="731520" y="4791456"/>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Is </a:t>
            </a:r>
            <a:pPr algn="l" indent="0" marL="0">
              <a:buNone/>
            </a:pPr>
            <a:r>
              <a:rPr lang="ar-SA" altLang="en-US" sz="1700" dirty="0">
                <a:solidFill>
                  <a:srgbClr val="5A6472"/>
                </a:solidFill>
                <a:latin typeface="Amiri" pitchFamily="2" charset="-78"/>
                <a:ea typeface="Amiri" pitchFamily="2" charset="-78"/>
                <a:cs typeface="Amiri" pitchFamily="2" charset="-78"/>
              </a:rPr>
              <a:t>الإِفْطَارِ</a:t>
            </a:r>
            <a:pPr algn="l" indent="0" marL="0">
              <a:buNone/>
            </a:pPr>
            <a:r>
              <a:rPr lang="en-US" sz="1300" i="1" dirty="0">
                <a:solidFill>
                  <a:srgbClr val="5A6472"/>
                </a:solidFill>
                <a:latin typeface="Calibri" pitchFamily="34" charset="0"/>
                <a:cs typeface="Amiri" pitchFamily="2" charset="-78"/>
              </a:rPr>
              <a:t> a noun or a verb?</a:t>
            </a:r>
            <a:endParaRPr lang="en-US" sz="1300" dirty="0"/>
          </a:p>
        </p:txBody>
      </p:sp>
      <p:sp>
        <p:nvSpPr>
          <p:cNvPr id="30" name="Text 2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27 / 46</a:t>
            </a:r>
            <a:endParaRPr lang="en-US" sz="85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D1-L04 · Before and After</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CORRECTIONS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Fixed — and why</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التَّصْحِيحُ وَالسَّبَبُ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D1 · Daily Routine and Time · D1-L04</a:t>
            </a:r>
            <a:endParaRPr lang="en-US" sz="850" dirty="0"/>
          </a:p>
        </p:txBody>
      </p:sp>
      <p:sp>
        <p:nvSpPr>
          <p:cNvPr id="15" name="Shape 12"/>
          <p:cNvSpPr/>
          <p:nvPr/>
        </p:nvSpPr>
        <p:spPr>
          <a:xfrm>
            <a:off x="457200" y="1810512"/>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8503920" y="1901952"/>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قَبْلَ أَنْ أَخْرُجُ.</a:t>
            </a:r>
            <a:endParaRPr lang="ar-SA" sz="1800" dirty="0"/>
          </a:p>
        </p:txBody>
      </p:sp>
      <p:sp>
        <p:nvSpPr>
          <p:cNvPr id="17" name="Shape 14"/>
          <p:cNvSpPr/>
          <p:nvPr/>
        </p:nvSpPr>
        <p:spPr>
          <a:xfrm>
            <a:off x="8641080" y="2459736"/>
            <a:ext cx="2834640" cy="0"/>
          </a:xfrm>
          <a:prstGeom prst="line">
            <a:avLst/>
          </a:prstGeom>
          <a:noFill/>
          <a:ln w="15875">
            <a:solidFill>
              <a:srgbClr val="B83227"/>
            </a:solidFill>
            <a:prstDash val="solid"/>
          </a:ln>
        </p:spPr>
      </p:sp>
      <p:sp>
        <p:nvSpPr>
          <p:cNvPr id="18" name="Text 15"/>
          <p:cNvSpPr txBox="1"/>
          <p:nvPr/>
        </p:nvSpPr>
        <p:spPr>
          <a:xfrm>
            <a:off x="8138160" y="1901952"/>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19" name="Text 16"/>
          <p:cNvSpPr txBox="1"/>
          <p:nvPr/>
        </p:nvSpPr>
        <p:spPr>
          <a:xfrm>
            <a:off x="3566160" y="1901952"/>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قَبْلَ أَنْ أَخْرُجَ.</a:t>
            </a:r>
            <a:endParaRPr lang="ar-SA" sz="2400" dirty="0"/>
          </a:p>
        </p:txBody>
      </p:sp>
      <p:sp>
        <p:nvSpPr>
          <p:cNvPr id="20" name="Text 17"/>
          <p:cNvSpPr txBox="1"/>
          <p:nvPr/>
        </p:nvSpPr>
        <p:spPr>
          <a:xfrm>
            <a:off x="685800" y="1901952"/>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Use the subjunctive after </a:t>
            </a:r>
            <a:pPr algn="l" indent="0" marL="0">
              <a:buNone/>
            </a:pPr>
            <a:r>
              <a:rPr lang="ar-SA" altLang="en-US" sz="1500" b="1" dirty="0">
                <a:solidFill>
                  <a:srgbClr val="1B3B6F"/>
                </a:solidFill>
                <a:latin typeface="Amiri" pitchFamily="2" charset="-78"/>
                <a:ea typeface="Amiri" pitchFamily="2" charset="-78"/>
                <a:cs typeface="Amiri" pitchFamily="2" charset="-78"/>
              </a:rPr>
              <a:t>أَنْ</a:t>
            </a:r>
            <a:pPr algn="l" indent="0" marL="0">
              <a:buNone/>
            </a:pPr>
            <a:r>
              <a:rPr lang="en-US" sz="1150" b="1" dirty="0">
                <a:solidFill>
                  <a:srgbClr val="1B3B6F"/>
                </a:solidFill>
                <a:latin typeface="Calibri" pitchFamily="34" charset="0"/>
                <a:cs typeface="Amiri" pitchFamily="2" charset="-78"/>
              </a:rPr>
              <a:t>.</a:t>
            </a:r>
            <a:endParaRPr lang="en-US" sz="1150" dirty="0"/>
          </a:p>
        </p:txBody>
      </p:sp>
      <p:sp>
        <p:nvSpPr>
          <p:cNvPr id="21" name="Shape 18"/>
          <p:cNvSpPr/>
          <p:nvPr/>
        </p:nvSpPr>
        <p:spPr>
          <a:xfrm>
            <a:off x="457200" y="3255264"/>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8503920" y="3346704"/>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بَعْدَ أَنْ تُكْمِلِينَ.</a:t>
            </a:r>
            <a:endParaRPr lang="ar-SA" sz="1800" dirty="0"/>
          </a:p>
        </p:txBody>
      </p:sp>
      <p:sp>
        <p:nvSpPr>
          <p:cNvPr id="23" name="Shape 20"/>
          <p:cNvSpPr/>
          <p:nvPr/>
        </p:nvSpPr>
        <p:spPr>
          <a:xfrm>
            <a:off x="8641080" y="3904488"/>
            <a:ext cx="2834640" cy="0"/>
          </a:xfrm>
          <a:prstGeom prst="line">
            <a:avLst/>
          </a:prstGeom>
          <a:noFill/>
          <a:ln w="15875">
            <a:solidFill>
              <a:srgbClr val="B83227"/>
            </a:solidFill>
            <a:prstDash val="solid"/>
          </a:ln>
        </p:spPr>
      </p:sp>
      <p:sp>
        <p:nvSpPr>
          <p:cNvPr id="24" name="Text 21"/>
          <p:cNvSpPr txBox="1"/>
          <p:nvPr/>
        </p:nvSpPr>
        <p:spPr>
          <a:xfrm>
            <a:off x="8138160" y="3346704"/>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25" name="Text 22"/>
          <p:cNvSpPr txBox="1"/>
          <p:nvPr/>
        </p:nvSpPr>
        <p:spPr>
          <a:xfrm>
            <a:off x="3566160" y="3346704"/>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بَعْدَ أَنْ تُكْمِلِي.</a:t>
            </a:r>
            <a:endParaRPr lang="ar-SA" sz="2400" dirty="0"/>
          </a:p>
        </p:txBody>
      </p:sp>
      <p:sp>
        <p:nvSpPr>
          <p:cNvPr id="26" name="Text 23"/>
          <p:cNvSpPr txBox="1"/>
          <p:nvPr/>
        </p:nvSpPr>
        <p:spPr>
          <a:xfrm>
            <a:off x="685800" y="3346704"/>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Drop final </a:t>
            </a:r>
            <a:pPr algn="l" indent="0" marL="0">
              <a:buNone/>
            </a:pPr>
            <a:r>
              <a:rPr lang="ar-SA" altLang="en-US" sz="1500" b="1" dirty="0">
                <a:solidFill>
                  <a:srgbClr val="1B3B6F"/>
                </a:solidFill>
                <a:latin typeface="Amiri" pitchFamily="2" charset="-78"/>
                <a:ea typeface="Amiri" pitchFamily="2" charset="-78"/>
                <a:cs typeface="Amiri" pitchFamily="2" charset="-78"/>
              </a:rPr>
              <a:t>ن</a:t>
            </a:r>
            <a:pPr algn="l" indent="0" marL="0">
              <a:buNone/>
            </a:pPr>
            <a:r>
              <a:rPr lang="en-US" sz="1150" b="1" dirty="0">
                <a:solidFill>
                  <a:srgbClr val="1B3B6F"/>
                </a:solidFill>
                <a:latin typeface="Calibri" pitchFamily="34" charset="0"/>
                <a:cs typeface="Amiri" pitchFamily="2" charset="-78"/>
              </a:rPr>
              <a:t> from the five verbs.</a:t>
            </a:r>
            <a:endParaRPr lang="en-US" sz="1150" dirty="0"/>
          </a:p>
        </p:txBody>
      </p:sp>
      <p:sp>
        <p:nvSpPr>
          <p:cNvPr id="27" name="Shape 24"/>
          <p:cNvSpPr/>
          <p:nvPr/>
        </p:nvSpPr>
        <p:spPr>
          <a:xfrm>
            <a:off x="457200" y="4700016"/>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8" name="Text 25"/>
          <p:cNvSpPr txBox="1"/>
          <p:nvPr/>
        </p:nvSpPr>
        <p:spPr>
          <a:xfrm>
            <a:off x="8503920" y="4791456"/>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قَبْلَ أَنْ الإِفْطَارِ.</a:t>
            </a:r>
            <a:endParaRPr lang="ar-SA" sz="1800" dirty="0"/>
          </a:p>
        </p:txBody>
      </p:sp>
      <p:sp>
        <p:nvSpPr>
          <p:cNvPr id="29" name="Shape 26"/>
          <p:cNvSpPr/>
          <p:nvPr/>
        </p:nvSpPr>
        <p:spPr>
          <a:xfrm>
            <a:off x="8641080" y="5349240"/>
            <a:ext cx="2834640" cy="0"/>
          </a:xfrm>
          <a:prstGeom prst="line">
            <a:avLst/>
          </a:prstGeom>
          <a:noFill/>
          <a:ln w="15875">
            <a:solidFill>
              <a:srgbClr val="B83227"/>
            </a:solidFill>
            <a:prstDash val="solid"/>
          </a:ln>
        </p:spPr>
      </p:sp>
      <p:sp>
        <p:nvSpPr>
          <p:cNvPr id="30" name="Text 27"/>
          <p:cNvSpPr txBox="1"/>
          <p:nvPr/>
        </p:nvSpPr>
        <p:spPr>
          <a:xfrm>
            <a:off x="8138160" y="4791456"/>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31" name="Text 28"/>
          <p:cNvSpPr txBox="1"/>
          <p:nvPr/>
        </p:nvSpPr>
        <p:spPr>
          <a:xfrm>
            <a:off x="3566160" y="4791456"/>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قَبْلَ الإِفْطَارِ.</a:t>
            </a:r>
            <a:endParaRPr lang="ar-SA" sz="2400" dirty="0"/>
          </a:p>
        </p:txBody>
      </p:sp>
      <p:sp>
        <p:nvSpPr>
          <p:cNvPr id="32" name="Text 29"/>
          <p:cNvSpPr txBox="1"/>
          <p:nvPr/>
        </p:nvSpPr>
        <p:spPr>
          <a:xfrm>
            <a:off x="685800" y="4791456"/>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Do not use </a:t>
            </a:r>
            <a:pPr algn="l" indent="0" marL="0">
              <a:buNone/>
            </a:pPr>
            <a:r>
              <a:rPr lang="ar-SA" altLang="en-US" sz="1500" b="1" dirty="0">
                <a:solidFill>
                  <a:srgbClr val="1B3B6F"/>
                </a:solidFill>
                <a:latin typeface="Amiri" pitchFamily="2" charset="-78"/>
                <a:ea typeface="Amiri" pitchFamily="2" charset="-78"/>
                <a:cs typeface="Amiri" pitchFamily="2" charset="-78"/>
              </a:rPr>
              <a:t>أَنْ</a:t>
            </a:r>
            <a:pPr algn="l" indent="0" marL="0">
              <a:buNone/>
            </a:pPr>
            <a:r>
              <a:rPr lang="en-US" sz="1150" b="1" dirty="0">
                <a:solidFill>
                  <a:srgbClr val="1B3B6F"/>
                </a:solidFill>
                <a:latin typeface="Calibri" pitchFamily="34" charset="0"/>
                <a:cs typeface="Amiri" pitchFamily="2" charset="-78"/>
              </a:rPr>
              <a:t> before a noun.</a:t>
            </a:r>
            <a:endParaRPr lang="en-US" sz="1150" dirty="0"/>
          </a:p>
        </p:txBody>
      </p:sp>
      <p:sp>
        <p:nvSpPr>
          <p:cNvPr id="33" name="Text 3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28 / 46</a:t>
            </a:r>
            <a:endParaRPr lang="en-US" sz="85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D1-L04 · Before and After</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4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LISTENING · TEACHER READS ALOUD TWICE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After-school choices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الاِسْتِمَاعُ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D1 · Daily Routine and Time · D1-L04</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happens immediately after returning home?</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snack and a short rest</a:t>
            </a:r>
            <a:endParaRPr lang="en-US" sz="12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sports training</a:t>
            </a:r>
            <a:endParaRPr lang="en-US" sz="12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phone use</a:t>
            </a:r>
            <a:endParaRPr lang="en-US" sz="1250" dirty="0"/>
          </a:p>
        </p:txBody>
      </p:sp>
      <p:sp>
        <p:nvSpPr>
          <p:cNvPr id="28" name="Shape 25"/>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must be completed before opening the phone?</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dinner</a:t>
            </a:r>
            <a:endParaRPr lang="en-US" sz="12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training</a:t>
            </a:r>
            <a:endParaRPr lang="en-US" sz="12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homework</a:t>
            </a:r>
            <a:endParaRPr lang="en-US" sz="1250" dirty="0"/>
          </a:p>
        </p:txBody>
      </p:sp>
      <p:sp>
        <p:nvSpPr>
          <p:cNvPr id="41" name="Shape 38"/>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How often is training?</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once a week</a:t>
            </a:r>
            <a:endParaRPr lang="en-US" sz="12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every day</a:t>
            </a:r>
            <a:endParaRPr lang="en-US" sz="12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twice a week</a:t>
            </a:r>
            <a:endParaRPr lang="en-US" sz="1250" dirty="0"/>
          </a:p>
        </p:txBody>
      </p:sp>
      <p:sp>
        <p:nvSpPr>
          <p:cNvPr id="54" name="Shape 51"/>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585216" y="4288536"/>
            <a:ext cx="310896" cy="310896"/>
          </a:xfrm>
          <a:prstGeom prst="ellipse">
            <a:avLst/>
          </a:prstGeom>
          <a:solidFill>
            <a:srgbClr val="1B3B6F"/>
          </a:solidFill>
          <a:ln w="12700">
            <a:solidFill>
              <a:srgbClr val="1B3B6F"/>
            </a:solidFill>
            <a:prstDash val="solid"/>
          </a:ln>
        </p:spPr>
      </p:sp>
      <p:sp>
        <p:nvSpPr>
          <p:cNvPr id="56" name="Text 53"/>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7" name="Text 54"/>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may happen on other days?</a:t>
            </a:r>
            <a:endParaRPr lang="en-US" sz="1250" dirty="0"/>
          </a:p>
        </p:txBody>
      </p:sp>
      <p:sp>
        <p:nvSpPr>
          <p:cNvPr id="58" name="Shape 55"/>
          <p:cNvSpPr/>
          <p:nvPr/>
        </p:nvSpPr>
        <p:spPr>
          <a:xfrm>
            <a:off x="640080" y="4873752"/>
            <a:ext cx="256032" cy="256032"/>
          </a:xfrm>
          <a:prstGeom prst="ellipse">
            <a:avLst/>
          </a:prstGeom>
          <a:solidFill>
            <a:srgbClr val="F4F1EA"/>
          </a:solidFill>
          <a:ln w="12700">
            <a:solidFill>
              <a:srgbClr val="F4F1EA"/>
            </a:solidFill>
            <a:prstDash val="solid"/>
          </a:ln>
        </p:spPr>
      </p:sp>
      <p:sp>
        <p:nvSpPr>
          <p:cNvPr id="59" name="Text 56"/>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0" name="Text 57"/>
          <p:cNvSpPr txBox="1"/>
          <p:nvPr/>
        </p:nvSpPr>
        <p:spPr>
          <a:xfrm>
            <a:off x="969264"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helping family or reading</a:t>
            </a:r>
            <a:endParaRPr lang="en-US" sz="1250" dirty="0"/>
          </a:p>
        </p:txBody>
      </p:sp>
      <p:sp>
        <p:nvSpPr>
          <p:cNvPr id="61" name="Shape 58"/>
          <p:cNvSpPr/>
          <p:nvPr/>
        </p:nvSpPr>
        <p:spPr>
          <a:xfrm>
            <a:off x="640080" y="53309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3" name="Text 60"/>
          <p:cNvSpPr txBox="1"/>
          <p:nvPr/>
        </p:nvSpPr>
        <p:spPr>
          <a:xfrm>
            <a:off x="969264"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travelling</a:t>
            </a:r>
            <a:endParaRPr lang="en-US" sz="1250" dirty="0"/>
          </a:p>
        </p:txBody>
      </p:sp>
      <p:sp>
        <p:nvSpPr>
          <p:cNvPr id="64" name="Shape 61"/>
          <p:cNvSpPr/>
          <p:nvPr/>
        </p:nvSpPr>
        <p:spPr>
          <a:xfrm>
            <a:off x="640080" y="57881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6" name="Text 63"/>
          <p:cNvSpPr txBox="1"/>
          <p:nvPr/>
        </p:nvSpPr>
        <p:spPr>
          <a:xfrm>
            <a:off x="969264"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sleeping all afternoon</a:t>
            </a:r>
            <a:endParaRPr lang="en-US" sz="1250" dirty="0"/>
          </a:p>
        </p:txBody>
      </p:sp>
      <p:sp>
        <p:nvSpPr>
          <p:cNvPr id="67" name="Shape 64"/>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8" name="Shape 65"/>
          <p:cNvSpPr/>
          <p:nvPr/>
        </p:nvSpPr>
        <p:spPr>
          <a:xfrm>
            <a:off x="4404360" y="4288536"/>
            <a:ext cx="310896" cy="310896"/>
          </a:xfrm>
          <a:prstGeom prst="ellipse">
            <a:avLst/>
          </a:prstGeom>
          <a:solidFill>
            <a:srgbClr val="1B3B6F"/>
          </a:solidFill>
          <a:ln w="12700">
            <a:solidFill>
              <a:srgbClr val="1B3B6F"/>
            </a:solidFill>
            <a:prstDash val="solid"/>
          </a:ln>
        </p:spPr>
      </p:sp>
      <p:sp>
        <p:nvSpPr>
          <p:cNvPr id="69" name="Text 66"/>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0" name="Text 67"/>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Why prepare clothes and the bag at night?</a:t>
            </a:r>
            <a:endParaRPr lang="en-US" sz="1250" dirty="0"/>
          </a:p>
        </p:txBody>
      </p:sp>
      <p:sp>
        <p:nvSpPr>
          <p:cNvPr id="71" name="Shape 68"/>
          <p:cNvSpPr/>
          <p:nvPr/>
        </p:nvSpPr>
        <p:spPr>
          <a:xfrm>
            <a:off x="4459224" y="4873752"/>
            <a:ext cx="256032" cy="256032"/>
          </a:xfrm>
          <a:prstGeom prst="ellipse">
            <a:avLst/>
          </a:prstGeom>
          <a:solidFill>
            <a:srgbClr val="F4F1EA"/>
          </a:solidFill>
          <a:ln w="12700">
            <a:solidFill>
              <a:srgbClr val="F4F1EA"/>
            </a:solidFill>
            <a:prstDash val="solid"/>
          </a:ln>
        </p:spPr>
      </p:sp>
      <p:sp>
        <p:nvSpPr>
          <p:cNvPr id="72" name="Text 69"/>
          <p:cNvSpPr txBox="1"/>
          <p:nvPr/>
        </p:nvSpPr>
        <p:spPr>
          <a:xfrm>
            <a:off x="4459224"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73" name="Text 70"/>
          <p:cNvSpPr txBox="1"/>
          <p:nvPr/>
        </p:nvSpPr>
        <p:spPr>
          <a:xfrm>
            <a:off x="4788408"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to exercise more</a:t>
            </a:r>
            <a:endParaRPr lang="en-US" sz="1250" dirty="0"/>
          </a:p>
        </p:txBody>
      </p:sp>
      <p:sp>
        <p:nvSpPr>
          <p:cNvPr id="74" name="Shape 71"/>
          <p:cNvSpPr/>
          <p:nvPr/>
        </p:nvSpPr>
        <p:spPr>
          <a:xfrm>
            <a:off x="4459224" y="5330952"/>
            <a:ext cx="256032" cy="256032"/>
          </a:xfrm>
          <a:prstGeom prst="ellipse">
            <a:avLst/>
          </a:prstGeom>
          <a:solidFill>
            <a:srgbClr val="F4F1EA"/>
          </a:solidFill>
          <a:ln w="12700">
            <a:solidFill>
              <a:srgbClr val="F4F1EA"/>
            </a:solidFill>
            <a:prstDash val="solid"/>
          </a:ln>
        </p:spPr>
      </p:sp>
      <p:sp>
        <p:nvSpPr>
          <p:cNvPr id="75" name="Text 72"/>
          <p:cNvSpPr txBox="1"/>
          <p:nvPr/>
        </p:nvSpPr>
        <p:spPr>
          <a:xfrm>
            <a:off x="4459224"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6" name="Text 73"/>
          <p:cNvSpPr txBox="1"/>
          <p:nvPr/>
        </p:nvSpPr>
        <p:spPr>
          <a:xfrm>
            <a:off x="4788408"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to avoid rushing in the morning</a:t>
            </a:r>
            <a:endParaRPr lang="en-US" sz="1250" dirty="0"/>
          </a:p>
        </p:txBody>
      </p:sp>
      <p:sp>
        <p:nvSpPr>
          <p:cNvPr id="77" name="Shape 74"/>
          <p:cNvSpPr/>
          <p:nvPr/>
        </p:nvSpPr>
        <p:spPr>
          <a:xfrm>
            <a:off x="4459224" y="5788152"/>
            <a:ext cx="256032" cy="256032"/>
          </a:xfrm>
          <a:prstGeom prst="ellipse">
            <a:avLst/>
          </a:prstGeom>
          <a:solidFill>
            <a:srgbClr val="F4F1EA"/>
          </a:solidFill>
          <a:ln w="12700">
            <a:solidFill>
              <a:srgbClr val="F4F1EA"/>
            </a:solidFill>
            <a:prstDash val="solid"/>
          </a:ln>
        </p:spPr>
      </p:sp>
      <p:sp>
        <p:nvSpPr>
          <p:cNvPr id="78" name="Text 75"/>
          <p:cNvSpPr txBox="1"/>
          <p:nvPr/>
        </p:nvSpPr>
        <p:spPr>
          <a:xfrm>
            <a:off x="4459224"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9" name="Text 76"/>
          <p:cNvSpPr txBox="1"/>
          <p:nvPr/>
        </p:nvSpPr>
        <p:spPr>
          <a:xfrm>
            <a:off x="4788408"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to sleep later</a:t>
            </a:r>
            <a:endParaRPr lang="en-US" sz="1250" dirty="0"/>
          </a:p>
        </p:txBody>
      </p:sp>
      <p:sp>
        <p:nvSpPr>
          <p:cNvPr id="80" name="Shape 77"/>
          <p:cNvSpPr/>
          <p:nvPr/>
        </p:nvSpPr>
        <p:spPr>
          <a:xfrm>
            <a:off x="8095488" y="4151376"/>
            <a:ext cx="3636264"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81" name="Shape 78"/>
          <p:cNvSpPr/>
          <p:nvPr/>
        </p:nvSpPr>
        <p:spPr>
          <a:xfrm>
            <a:off x="8717280" y="4361688"/>
            <a:ext cx="914400" cy="274320"/>
          </a:xfrm>
          <a:prstGeom prst="roundRect">
            <a:avLst>
              <a:gd name="adj" fmla="val 50000"/>
            </a:avLst>
          </a:prstGeom>
          <a:solidFill>
            <a:srgbClr val="2E8B57"/>
          </a:solidFill>
          <a:ln w="12700">
            <a:solidFill>
              <a:srgbClr val="2E8B57"/>
            </a:solidFill>
            <a:prstDash val="solid"/>
          </a:ln>
        </p:spPr>
      </p:sp>
      <p:sp>
        <p:nvSpPr>
          <p:cNvPr id="82" name="Text 79"/>
          <p:cNvSpPr txBox="1"/>
          <p:nvPr/>
        </p:nvSpPr>
        <p:spPr>
          <a:xfrm>
            <a:off x="8717280" y="4361688"/>
            <a:ext cx="91440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83" name="Text 80"/>
          <p:cNvSpPr txBox="1"/>
          <p:nvPr/>
        </p:nvSpPr>
        <p:spPr>
          <a:xfrm>
            <a:off x="8296656" y="4791456"/>
            <a:ext cx="3270504" cy="1380744"/>
          </a:xfrm>
          <a:prstGeom prst="rect">
            <a:avLst/>
          </a:prstGeom>
          <a:noFill/>
          <a:ln/>
        </p:spPr>
        <p:txBody>
          <a:bodyPr wrap="square" lIns="0" tIns="0" rIns="0" bIns="0" rtlCol="0" anchor="t"/>
          <a:lstStyle/>
          <a:p>
            <a:pPr algn="l" indent="0" marL="0">
              <a:lnSpc>
                <a:spcPct val="115000"/>
              </a:lnSpc>
              <a:buNone/>
            </a:pPr>
            <a:r>
              <a:rPr lang="en-US" sz="1250" dirty="0">
                <a:solidFill>
                  <a:srgbClr val="1E6B52"/>
                </a:solidFill>
                <a:latin typeface="Calibri" pitchFamily="34" charset="0"/>
                <a:cs typeface="Amiri" pitchFamily="2" charset="-78"/>
              </a:rPr>
              <a:t>Listen twice. Core: questions 1, 3 and 5.</a:t>
            </a:r>
            <a:endParaRPr lang="en-US" sz="1250" dirty="0"/>
          </a:p>
          <a:p>
            <a:pPr algn="l" indent="0" marL="0">
              <a:lnSpc>
                <a:spcPct val="115000"/>
              </a:lnSpc>
              <a:buNone/>
            </a:pPr>
            <a:r>
              <a:rPr lang="en-US" sz="1250" dirty="0">
                <a:solidFill>
                  <a:srgbClr val="1E6B52"/>
                </a:solidFill>
                <a:latin typeface="Calibri" pitchFamily="34" charset="0"/>
                <a:cs typeface="Amiri" pitchFamily="2" charset="-78"/>
              </a:rPr>
              <a:t>Listen for: </a:t>
            </a:r>
            <a:pPr algn="l" indent="0" marL="0">
              <a:lnSpc>
                <a:spcPct val="115000"/>
              </a:lnSpc>
              <a:buNone/>
            </a:pPr>
            <a:r>
              <a:rPr lang="ar-SA" altLang="en-US" sz="1650" dirty="0">
                <a:solidFill>
                  <a:srgbClr val="1E6B52"/>
                </a:solidFill>
                <a:latin typeface="Amiri" pitchFamily="2" charset="-78"/>
                <a:ea typeface="Amiri" pitchFamily="2" charset="-78"/>
                <a:cs typeface="Amiri" pitchFamily="2" charset="-78"/>
              </a:rPr>
              <a:t>بَعْدَ أَنْ أَعُودَ</a:t>
            </a:r>
            <a:pPr algn="l" indent="0" marL="0">
              <a:lnSpc>
                <a:spcPct val="115000"/>
              </a:lnSpc>
              <a:buNone/>
            </a:pPr>
            <a:r>
              <a:rPr lang="en-US" sz="1250" dirty="0">
                <a:solidFill>
                  <a:srgbClr val="1E6B52"/>
                </a:solidFill>
                <a:latin typeface="Calibri" pitchFamily="34" charset="0"/>
                <a:cs typeface="Amiri" pitchFamily="2" charset="-78"/>
              </a:rPr>
              <a:t> · </a:t>
            </a:r>
            <a:pPr algn="l" indent="0" marL="0">
              <a:lnSpc>
                <a:spcPct val="115000"/>
              </a:lnSpc>
              <a:buNone/>
            </a:pPr>
            <a:r>
              <a:rPr lang="ar-SA" altLang="en-US" sz="1650" dirty="0">
                <a:solidFill>
                  <a:srgbClr val="1E6B52"/>
                </a:solidFill>
                <a:latin typeface="Amiri" pitchFamily="2" charset="-78"/>
                <a:ea typeface="Amiri" pitchFamily="2" charset="-78"/>
                <a:cs typeface="Amiri" pitchFamily="2" charset="-78"/>
              </a:rPr>
              <a:t>مَرَّتَيْنِ</a:t>
            </a:r>
            <a:pPr algn="l" indent="0" marL="0">
              <a:lnSpc>
                <a:spcPct val="115000"/>
              </a:lnSpc>
              <a:buNone/>
            </a:pPr>
            <a:r>
              <a:rPr lang="en-US" sz="1250" dirty="0">
                <a:solidFill>
                  <a:srgbClr val="1E6B52"/>
                </a:solidFill>
                <a:latin typeface="Calibri" pitchFamily="34" charset="0"/>
                <a:cs typeface="Amiri" pitchFamily="2" charset="-78"/>
              </a:rPr>
              <a:t> · </a:t>
            </a:r>
            <a:pPr algn="l" indent="0" marL="0">
              <a:lnSpc>
                <a:spcPct val="115000"/>
              </a:lnSpc>
              <a:buNone/>
            </a:pPr>
            <a:r>
              <a:rPr lang="ar-SA" altLang="en-US" sz="1650" dirty="0">
                <a:solidFill>
                  <a:srgbClr val="1E6B52"/>
                </a:solidFill>
                <a:latin typeface="Amiri" pitchFamily="2" charset="-78"/>
                <a:ea typeface="Amiri" pitchFamily="2" charset="-78"/>
                <a:cs typeface="Amiri" pitchFamily="2" charset="-78"/>
              </a:rPr>
              <a:t>قَبْلَ أَنْ أَنَامَ</a:t>
            </a:r>
            <a:pPr algn="l" indent="0" marL="0">
              <a:lnSpc>
                <a:spcPct val="115000"/>
              </a:lnSpc>
              <a:buNone/>
            </a:pPr>
            <a:r>
              <a:rPr lang="en-US" sz="1250" dirty="0">
                <a:solidFill>
                  <a:srgbClr val="1E6B52"/>
                </a:solidFill>
                <a:latin typeface="Calibri" pitchFamily="34" charset="0"/>
                <a:cs typeface="Amiri" pitchFamily="2" charset="-78"/>
              </a:rPr>
              <a:t>.</a:t>
            </a:r>
            <a:endParaRPr lang="en-US" sz="1250" dirty="0"/>
          </a:p>
        </p:txBody>
      </p:sp>
      <p:sp>
        <p:nvSpPr>
          <p:cNvPr id="84" name="Text 8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29 / 46</a:t>
            </a:r>
            <a:endParaRPr lang="en-US" sz="85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D1-L04 · Before and After</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LISTENING SUPPORT · READ ALONG (CORE)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650" b="1" dirty="0">
                <a:solidFill>
                  <a:srgbClr val="1B3B6F"/>
                </a:solidFill>
                <a:latin typeface="Cambria" pitchFamily="34" charset="0"/>
                <a:cs typeface="Amiri" pitchFamily="2" charset="-78"/>
              </a:rPr>
              <a:t>The script — read along with English</a:t>
            </a:r>
            <a:endParaRPr lang="en-US" sz="26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نَصُّ الاِسْتِمَاعِ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D1 · Daily Routine and Time · D1-L04</a:t>
            </a:r>
            <a:endParaRPr lang="en-US" sz="850" dirty="0"/>
          </a:p>
        </p:txBody>
      </p:sp>
      <p:sp>
        <p:nvSpPr>
          <p:cNvPr id="15" name="Shape 12"/>
          <p:cNvSpPr/>
          <p:nvPr/>
        </p:nvSpPr>
        <p:spPr>
          <a:xfrm>
            <a:off x="457200" y="1810512"/>
            <a:ext cx="11274552" cy="841248"/>
          </a:xfrm>
          <a:prstGeom prst="roundRect">
            <a:avLst>
              <a:gd name="adj" fmla="val 5435"/>
            </a:avLst>
          </a:prstGeom>
          <a:solidFill>
            <a:srgbClr val="FFFFFF"/>
          </a:solidFill>
          <a:ln w="9525">
            <a:solidFill>
              <a:srgbClr val="D8D0BF"/>
            </a:solidFill>
            <a:prstDash val="solid"/>
          </a:ln>
        </p:spPr>
      </p:sp>
      <p:sp>
        <p:nvSpPr>
          <p:cNvPr id="16" name="Text 13"/>
          <p:cNvSpPr txBox="1"/>
          <p:nvPr/>
        </p:nvSpPr>
        <p:spPr>
          <a:xfrm>
            <a:off x="4937760" y="1828800"/>
            <a:ext cx="6675120" cy="804672"/>
          </a:xfrm>
          <a:prstGeom prst="rect">
            <a:avLst/>
          </a:prstGeom>
          <a:noFill/>
          <a:ln/>
        </p:spPr>
        <p:txBody>
          <a:bodyPr wrap="square" lIns="0" tIns="0" rIns="0" bIns="0" rtlCol="0" anchor="ctr"/>
          <a:lstStyle/>
          <a:p>
            <a:pPr rtl="1" algn="r" indent="0" marL="0">
              <a:buNone/>
            </a:pPr>
            <a:r>
              <a:rPr lang="ar-SA" altLang="en-US" sz="1950" b="1" dirty="0">
                <a:solidFill>
                  <a:srgbClr val="1B3B6F"/>
                </a:solidFill>
                <a:latin typeface="Amiri" pitchFamily="2" charset="-78"/>
                <a:ea typeface="Amiri" pitchFamily="2" charset="-78"/>
                <a:cs typeface="Amiri" pitchFamily="2" charset="-78"/>
              </a:rPr>
              <a:t>بَعْدَ أَنْ أَعُودَ مِنَ المَدْرَسَةِ، أَتَنَاوَلُ وَجْبَةً خَفِيفَةً وَأَسْتَرِيحُ لِمُدَّةِ عِشْرِينَ دَقِيقَةً.</a:t>
            </a:r>
            <a:endParaRPr lang="ar-SA" sz="1950" dirty="0"/>
          </a:p>
        </p:txBody>
      </p:sp>
      <p:sp>
        <p:nvSpPr>
          <p:cNvPr id="17" name="Text 14"/>
          <p:cNvSpPr txBox="1"/>
          <p:nvPr/>
        </p:nvSpPr>
        <p:spPr>
          <a:xfrm>
            <a:off x="640080" y="18288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After I return from school, I have a snack and rest for twenty minutes.</a:t>
            </a:r>
            <a:endParaRPr lang="en-US" sz="1250" dirty="0"/>
          </a:p>
        </p:txBody>
      </p:sp>
      <p:sp>
        <p:nvSpPr>
          <p:cNvPr id="18" name="Shape 15"/>
          <p:cNvSpPr/>
          <p:nvPr/>
        </p:nvSpPr>
        <p:spPr>
          <a:xfrm>
            <a:off x="457200" y="2724912"/>
            <a:ext cx="11274552" cy="841248"/>
          </a:xfrm>
          <a:prstGeom prst="roundRect">
            <a:avLst>
              <a:gd name="adj" fmla="val 5435"/>
            </a:avLst>
          </a:prstGeom>
          <a:solidFill>
            <a:srgbClr val="F4F1EA"/>
          </a:solidFill>
          <a:ln w="9525">
            <a:solidFill>
              <a:srgbClr val="D8D0BF"/>
            </a:solidFill>
            <a:prstDash val="solid"/>
          </a:ln>
        </p:spPr>
      </p:sp>
      <p:sp>
        <p:nvSpPr>
          <p:cNvPr id="19" name="Text 16"/>
          <p:cNvSpPr txBox="1"/>
          <p:nvPr/>
        </p:nvSpPr>
        <p:spPr>
          <a:xfrm>
            <a:off x="4937760" y="2743200"/>
            <a:ext cx="6675120" cy="8046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ثُمَّ أُكْمِلُ وَاجِبِي قَبْلَ أَنْ أَفْتَحَ هَاتِفِي.</a:t>
            </a:r>
            <a:endParaRPr lang="ar-SA" sz="2000" dirty="0"/>
          </a:p>
        </p:txBody>
      </p:sp>
      <p:sp>
        <p:nvSpPr>
          <p:cNvPr id="20" name="Text 17"/>
          <p:cNvSpPr txBox="1"/>
          <p:nvPr/>
        </p:nvSpPr>
        <p:spPr>
          <a:xfrm>
            <a:off x="640080" y="27432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Then I finish my homework before I open my phone.</a:t>
            </a:r>
            <a:endParaRPr lang="en-US" sz="1250" dirty="0"/>
          </a:p>
        </p:txBody>
      </p:sp>
      <p:sp>
        <p:nvSpPr>
          <p:cNvPr id="21" name="Shape 18"/>
          <p:cNvSpPr/>
          <p:nvPr/>
        </p:nvSpPr>
        <p:spPr>
          <a:xfrm>
            <a:off x="457200" y="3639312"/>
            <a:ext cx="11274552" cy="841248"/>
          </a:xfrm>
          <a:prstGeom prst="roundRect">
            <a:avLst>
              <a:gd name="adj" fmla="val 5435"/>
            </a:avLst>
          </a:prstGeom>
          <a:solidFill>
            <a:srgbClr val="FFFFFF"/>
          </a:solidFill>
          <a:ln w="9525">
            <a:solidFill>
              <a:srgbClr val="D8D0BF"/>
            </a:solidFill>
            <a:prstDash val="solid"/>
          </a:ln>
        </p:spPr>
      </p:sp>
      <p:sp>
        <p:nvSpPr>
          <p:cNvPr id="22" name="Text 19"/>
          <p:cNvSpPr txBox="1"/>
          <p:nvPr/>
        </p:nvSpPr>
        <p:spPr>
          <a:xfrm>
            <a:off x="4937760" y="3657600"/>
            <a:ext cx="6675120" cy="8046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يَوْمَيِ الاِثْنَيْنِ وَالخَمِيسِ أَتَمَرَّنُ فِي النَّادِي، أَيْ مَرَّتَيْنِ فِي الأُسْبُوعِ.</a:t>
            </a:r>
            <a:endParaRPr lang="ar-SA" sz="2000" dirty="0"/>
          </a:p>
        </p:txBody>
      </p:sp>
      <p:sp>
        <p:nvSpPr>
          <p:cNvPr id="23" name="Text 20"/>
          <p:cNvSpPr txBox="1"/>
          <p:nvPr/>
        </p:nvSpPr>
        <p:spPr>
          <a:xfrm>
            <a:off x="640080" y="36576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On Mondays and Thursdays I train at the club, that is twice a week.</a:t>
            </a:r>
            <a:endParaRPr lang="en-US" sz="1250" dirty="0"/>
          </a:p>
        </p:txBody>
      </p:sp>
      <p:sp>
        <p:nvSpPr>
          <p:cNvPr id="24" name="Shape 21"/>
          <p:cNvSpPr/>
          <p:nvPr/>
        </p:nvSpPr>
        <p:spPr>
          <a:xfrm>
            <a:off x="457200" y="4553712"/>
            <a:ext cx="11274552" cy="841248"/>
          </a:xfrm>
          <a:prstGeom prst="roundRect">
            <a:avLst>
              <a:gd name="adj" fmla="val 5435"/>
            </a:avLst>
          </a:prstGeom>
          <a:solidFill>
            <a:srgbClr val="F4F1EA"/>
          </a:solidFill>
          <a:ln w="9525">
            <a:solidFill>
              <a:srgbClr val="D8D0BF"/>
            </a:solidFill>
            <a:prstDash val="solid"/>
          </a:ln>
        </p:spPr>
      </p:sp>
      <p:sp>
        <p:nvSpPr>
          <p:cNvPr id="25" name="Text 22"/>
          <p:cNvSpPr txBox="1"/>
          <p:nvPr/>
        </p:nvSpPr>
        <p:spPr>
          <a:xfrm>
            <a:off x="4937760" y="4572000"/>
            <a:ext cx="6675120" cy="8046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أَمَّا فِي الأَيَّامِ الأُخْرَى فَأُسَاعِدُ أُسْرَتِي أَوْ أَقْرَأُ.</a:t>
            </a:r>
            <a:endParaRPr lang="ar-SA" sz="2000" dirty="0"/>
          </a:p>
        </p:txBody>
      </p:sp>
      <p:sp>
        <p:nvSpPr>
          <p:cNvPr id="26" name="Text 23"/>
          <p:cNvSpPr txBox="1"/>
          <p:nvPr/>
        </p:nvSpPr>
        <p:spPr>
          <a:xfrm>
            <a:off x="640080" y="45720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As for the other days, I help my family or read.</a:t>
            </a:r>
            <a:endParaRPr lang="en-US" sz="1250" dirty="0"/>
          </a:p>
        </p:txBody>
      </p:sp>
      <p:sp>
        <p:nvSpPr>
          <p:cNvPr id="27" name="Shape 24"/>
          <p:cNvSpPr/>
          <p:nvPr/>
        </p:nvSpPr>
        <p:spPr>
          <a:xfrm>
            <a:off x="457200" y="5468112"/>
            <a:ext cx="11274552" cy="841248"/>
          </a:xfrm>
          <a:prstGeom prst="roundRect">
            <a:avLst>
              <a:gd name="adj" fmla="val 5435"/>
            </a:avLst>
          </a:prstGeom>
          <a:solidFill>
            <a:srgbClr val="FFFFFF"/>
          </a:solidFill>
          <a:ln w="9525">
            <a:solidFill>
              <a:srgbClr val="D8D0BF"/>
            </a:solidFill>
            <a:prstDash val="solid"/>
          </a:ln>
        </p:spPr>
      </p:sp>
      <p:sp>
        <p:nvSpPr>
          <p:cNvPr id="28" name="Text 25"/>
          <p:cNvSpPr txBox="1"/>
          <p:nvPr/>
        </p:nvSpPr>
        <p:spPr>
          <a:xfrm>
            <a:off x="4937760" y="5486400"/>
            <a:ext cx="6675120" cy="804672"/>
          </a:xfrm>
          <a:prstGeom prst="rect">
            <a:avLst/>
          </a:prstGeom>
          <a:noFill/>
          <a:ln/>
        </p:spPr>
        <p:txBody>
          <a:bodyPr wrap="square" lIns="0" tIns="0" rIns="0" bIns="0" rtlCol="0" anchor="ctr"/>
          <a:lstStyle/>
          <a:p>
            <a:pPr rtl="1" algn="r" indent="0" marL="0">
              <a:lnSpc>
                <a:spcPct val="120000"/>
              </a:lnSpc>
              <a:buNone/>
            </a:pPr>
            <a:r>
              <a:rPr lang="ar-SA" altLang="en-US" sz="1650" b="1" dirty="0">
                <a:solidFill>
                  <a:srgbClr val="1B3B6F"/>
                </a:solidFill>
                <a:latin typeface="Amiri" pitchFamily="2" charset="-78"/>
                <a:ea typeface="Amiri" pitchFamily="2" charset="-78"/>
                <a:cs typeface="Amiri" pitchFamily="2" charset="-78"/>
              </a:rPr>
              <a:t>قَبْلَ أَنْ أَنَامَ، أُحَضِّرُ مَلَابِسِي وَحَقِيبَتِي لِلْيَوْمِ التَّالِي، وَبِذٰلِكَ لَا أَضْطَرُّ إِلَى العَجَلَةِ صَبَاحًا.</a:t>
            </a:r>
            <a:endParaRPr lang="ar-SA" sz="1650" dirty="0"/>
          </a:p>
        </p:txBody>
      </p:sp>
      <p:sp>
        <p:nvSpPr>
          <p:cNvPr id="29" name="Text 26"/>
          <p:cNvSpPr txBox="1"/>
          <p:nvPr/>
        </p:nvSpPr>
        <p:spPr>
          <a:xfrm>
            <a:off x="640080" y="54864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Before I sleep, I prepare my clothes and bag for the next day, so I do not have to rush in the morning.</a:t>
            </a:r>
            <a:endParaRPr lang="en-US" sz="1250" dirty="0"/>
          </a:p>
        </p:txBody>
      </p:sp>
      <p:sp>
        <p:nvSpPr>
          <p:cNvPr id="30" name="Text 2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30 / 46</a:t>
            </a:r>
            <a:endParaRPr lang="en-US" sz="85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D1-L04 · Before and After</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LISTENING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Listening: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إِجَابَاتُ الاِسْتِمَاعِ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D1 · Daily Routine and Time · D1-L04</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happens immediately after returning home?</a:t>
            </a:r>
            <a:endParaRPr lang="en-US" sz="1250" dirty="0"/>
          </a:p>
        </p:txBody>
      </p:sp>
      <p:sp>
        <p:nvSpPr>
          <p:cNvPr id="19" name="Shape 16"/>
          <p:cNvSpPr/>
          <p:nvPr/>
        </p:nvSpPr>
        <p:spPr>
          <a:xfrm>
            <a:off x="548640" y="2453640"/>
            <a:ext cx="3453384" cy="347472"/>
          </a:xfrm>
          <a:prstGeom prst="roundRect">
            <a:avLst>
              <a:gd name="adj" fmla="val 15789"/>
            </a:avLst>
          </a:prstGeom>
          <a:solidFill>
            <a:srgbClr val="E6F4EC"/>
          </a:solidFill>
          <a:ln w="9525">
            <a:solidFill>
              <a:srgbClr val="2E8B57"/>
            </a:solidFill>
            <a:prstDash val="solid"/>
          </a:ln>
        </p:spPr>
      </p:sp>
      <p:sp>
        <p:nvSpPr>
          <p:cNvPr id="20" name="Shape 17"/>
          <p:cNvSpPr/>
          <p:nvPr/>
        </p:nvSpPr>
        <p:spPr>
          <a:xfrm>
            <a:off x="640080" y="2490216"/>
            <a:ext cx="256032" cy="256032"/>
          </a:xfrm>
          <a:prstGeom prst="ellipse">
            <a:avLst/>
          </a:prstGeom>
          <a:solidFill>
            <a:srgbClr val="2E8B57"/>
          </a:solidFill>
          <a:ln w="12700">
            <a:solidFill>
              <a:srgbClr val="2E8B57"/>
            </a:solidFill>
            <a:prstDash val="solid"/>
          </a:ln>
        </p:spPr>
      </p:sp>
      <p:sp>
        <p:nvSpPr>
          <p:cNvPr id="21" name="Text 18"/>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22" name="Text 19"/>
          <p:cNvSpPr txBox="1"/>
          <p:nvPr/>
        </p:nvSpPr>
        <p:spPr>
          <a:xfrm>
            <a:off x="969264" y="2432304"/>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a snack and a short rest</a:t>
            </a:r>
            <a:endParaRPr lang="en-US" sz="1250" dirty="0"/>
          </a:p>
        </p:txBody>
      </p:sp>
      <p:sp>
        <p:nvSpPr>
          <p:cNvPr id="23" name="Shape 20"/>
          <p:cNvSpPr/>
          <p:nvPr/>
        </p:nvSpPr>
        <p:spPr>
          <a:xfrm>
            <a:off x="640080" y="2862072"/>
            <a:ext cx="256032" cy="256032"/>
          </a:xfrm>
          <a:prstGeom prst="ellipse">
            <a:avLst/>
          </a:prstGeom>
          <a:solidFill>
            <a:srgbClr val="C9CED6"/>
          </a:solidFill>
          <a:ln w="12700">
            <a:solidFill>
              <a:srgbClr val="C9CED6"/>
            </a:solidFill>
            <a:prstDash val="solid"/>
          </a:ln>
        </p:spPr>
      </p:sp>
      <p:sp>
        <p:nvSpPr>
          <p:cNvPr id="24" name="Text 21"/>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5" name="Text 22"/>
          <p:cNvSpPr txBox="1"/>
          <p:nvPr/>
        </p:nvSpPr>
        <p:spPr>
          <a:xfrm>
            <a:off x="969264"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sports training</a:t>
            </a:r>
            <a:endParaRPr lang="en-US" sz="1250" dirty="0"/>
          </a:p>
        </p:txBody>
      </p:sp>
      <p:sp>
        <p:nvSpPr>
          <p:cNvPr id="26" name="Shape 23"/>
          <p:cNvSpPr/>
          <p:nvPr/>
        </p:nvSpPr>
        <p:spPr>
          <a:xfrm>
            <a:off x="640080" y="323392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phone use</a:t>
            </a:r>
            <a:endParaRPr lang="en-US" sz="1250" dirty="0"/>
          </a:p>
        </p:txBody>
      </p:sp>
      <p:sp>
        <p:nvSpPr>
          <p:cNvPr id="29" name="Text 26"/>
          <p:cNvSpPr txBox="1"/>
          <p:nvPr/>
        </p:nvSpPr>
        <p:spPr>
          <a:xfrm>
            <a:off x="585216"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The speaker eats a snack and rests.</a:t>
            </a:r>
            <a:endParaRPr lang="en-US" sz="1050" dirty="0"/>
          </a:p>
        </p:txBody>
      </p:sp>
      <p:sp>
        <p:nvSpPr>
          <p:cNvPr id="30" name="Shape 27"/>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must be completed before opening the phone?</a:t>
            </a:r>
            <a:endParaRPr lang="en-US" sz="1250" dirty="0"/>
          </a:p>
        </p:txBody>
      </p:sp>
      <p:sp>
        <p:nvSpPr>
          <p:cNvPr id="34" name="Shape 31"/>
          <p:cNvSpPr/>
          <p:nvPr/>
        </p:nvSpPr>
        <p:spPr>
          <a:xfrm>
            <a:off x="4459224" y="2490216"/>
            <a:ext cx="256032" cy="256032"/>
          </a:xfrm>
          <a:prstGeom prst="ellipse">
            <a:avLst/>
          </a:prstGeom>
          <a:solidFill>
            <a:srgbClr val="C9CED6"/>
          </a:solidFill>
          <a:ln w="12700">
            <a:solidFill>
              <a:srgbClr val="C9CED6"/>
            </a:solidFill>
            <a:prstDash val="solid"/>
          </a:ln>
        </p:spPr>
      </p:sp>
      <p:sp>
        <p:nvSpPr>
          <p:cNvPr id="35" name="Text 32"/>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4788408"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dinner</a:t>
            </a:r>
            <a:endParaRPr lang="en-US" sz="1250" dirty="0"/>
          </a:p>
        </p:txBody>
      </p:sp>
      <p:sp>
        <p:nvSpPr>
          <p:cNvPr id="37" name="Shape 34"/>
          <p:cNvSpPr/>
          <p:nvPr/>
        </p:nvSpPr>
        <p:spPr>
          <a:xfrm>
            <a:off x="4459224" y="2862072"/>
            <a:ext cx="256032" cy="256032"/>
          </a:xfrm>
          <a:prstGeom prst="ellipse">
            <a:avLst/>
          </a:prstGeom>
          <a:solidFill>
            <a:srgbClr val="C9CED6"/>
          </a:solidFill>
          <a:ln w="12700">
            <a:solidFill>
              <a:srgbClr val="C9CED6"/>
            </a:solidFill>
            <a:prstDash val="solid"/>
          </a:ln>
        </p:spPr>
      </p:sp>
      <p:sp>
        <p:nvSpPr>
          <p:cNvPr id="38" name="Text 35"/>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9" name="Text 36"/>
          <p:cNvSpPr txBox="1"/>
          <p:nvPr/>
        </p:nvSpPr>
        <p:spPr>
          <a:xfrm>
            <a:off x="4788408"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training</a:t>
            </a:r>
            <a:endParaRPr lang="en-US" sz="1250" dirty="0"/>
          </a:p>
        </p:txBody>
      </p:sp>
      <p:sp>
        <p:nvSpPr>
          <p:cNvPr id="40" name="Shape 37"/>
          <p:cNvSpPr/>
          <p:nvPr/>
        </p:nvSpPr>
        <p:spPr>
          <a:xfrm>
            <a:off x="4367784" y="3197352"/>
            <a:ext cx="3453384" cy="347472"/>
          </a:xfrm>
          <a:prstGeom prst="roundRect">
            <a:avLst>
              <a:gd name="adj" fmla="val 15789"/>
            </a:avLst>
          </a:prstGeom>
          <a:solidFill>
            <a:srgbClr val="E6F4EC"/>
          </a:solidFill>
          <a:ln w="9525">
            <a:solidFill>
              <a:srgbClr val="2E8B57"/>
            </a:solidFill>
            <a:prstDash val="solid"/>
          </a:ln>
        </p:spPr>
      </p:sp>
      <p:sp>
        <p:nvSpPr>
          <p:cNvPr id="41" name="Shape 38"/>
          <p:cNvSpPr/>
          <p:nvPr/>
        </p:nvSpPr>
        <p:spPr>
          <a:xfrm>
            <a:off x="4459224" y="3233928"/>
            <a:ext cx="256032" cy="256032"/>
          </a:xfrm>
          <a:prstGeom prst="ellipse">
            <a:avLst/>
          </a:prstGeom>
          <a:solidFill>
            <a:srgbClr val="2E8B57"/>
          </a:solidFill>
          <a:ln w="12700">
            <a:solidFill>
              <a:srgbClr val="2E8B57"/>
            </a:solidFill>
            <a:prstDash val="solid"/>
          </a:ln>
        </p:spPr>
      </p:sp>
      <p:sp>
        <p:nvSpPr>
          <p:cNvPr id="42" name="Text 39"/>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43" name="Text 40"/>
          <p:cNvSpPr txBox="1"/>
          <p:nvPr/>
        </p:nvSpPr>
        <p:spPr>
          <a:xfrm>
            <a:off x="4788408" y="3176016"/>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homework</a:t>
            </a:r>
            <a:endParaRPr lang="en-US" sz="1250" dirty="0"/>
          </a:p>
        </p:txBody>
      </p:sp>
      <p:sp>
        <p:nvSpPr>
          <p:cNvPr id="44" name="Text 41"/>
          <p:cNvSpPr txBox="1"/>
          <p:nvPr/>
        </p:nvSpPr>
        <p:spPr>
          <a:xfrm>
            <a:off x="4404360" y="3566160"/>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أُكْمِلُ وَاجِبِي قَبْلَ أَنْ أَفْتَحَ هَاتِفِي.</a:t>
            </a:r>
            <a:endParaRPr lang="ar-SA" sz="1350" dirty="0"/>
          </a:p>
        </p:txBody>
      </p:sp>
      <p:sp>
        <p:nvSpPr>
          <p:cNvPr id="45" name="Shape 42"/>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How often is training?</a:t>
            </a:r>
            <a:endParaRPr lang="en-US" sz="1250" dirty="0"/>
          </a:p>
        </p:txBody>
      </p:sp>
      <p:sp>
        <p:nvSpPr>
          <p:cNvPr id="49" name="Shape 46"/>
          <p:cNvSpPr/>
          <p:nvPr/>
        </p:nvSpPr>
        <p:spPr>
          <a:xfrm>
            <a:off x="8278368" y="2490216"/>
            <a:ext cx="256032" cy="256032"/>
          </a:xfrm>
          <a:prstGeom prst="ellipse">
            <a:avLst/>
          </a:prstGeom>
          <a:solidFill>
            <a:srgbClr val="C9CED6"/>
          </a:solidFill>
          <a:ln w="12700">
            <a:solidFill>
              <a:srgbClr val="C9CED6"/>
            </a:solidFill>
            <a:prstDash val="solid"/>
          </a:ln>
        </p:spPr>
      </p:sp>
      <p:sp>
        <p:nvSpPr>
          <p:cNvPr id="50" name="Text 47"/>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1" name="Text 48"/>
          <p:cNvSpPr txBox="1"/>
          <p:nvPr/>
        </p:nvSpPr>
        <p:spPr>
          <a:xfrm>
            <a:off x="8607552"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once a week</a:t>
            </a:r>
            <a:endParaRPr lang="en-US" sz="1250" dirty="0"/>
          </a:p>
        </p:txBody>
      </p:sp>
      <p:sp>
        <p:nvSpPr>
          <p:cNvPr id="52" name="Shape 49"/>
          <p:cNvSpPr/>
          <p:nvPr/>
        </p:nvSpPr>
        <p:spPr>
          <a:xfrm>
            <a:off x="8278368" y="2862072"/>
            <a:ext cx="256032" cy="256032"/>
          </a:xfrm>
          <a:prstGeom prst="ellipse">
            <a:avLst/>
          </a:prstGeom>
          <a:solidFill>
            <a:srgbClr val="C9CED6"/>
          </a:solidFill>
          <a:ln w="12700">
            <a:solidFill>
              <a:srgbClr val="C9CED6"/>
            </a:solidFill>
            <a:prstDash val="solid"/>
          </a:ln>
        </p:spPr>
      </p:sp>
      <p:sp>
        <p:nvSpPr>
          <p:cNvPr id="53" name="Text 50"/>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4" name="Text 51"/>
          <p:cNvSpPr txBox="1"/>
          <p:nvPr/>
        </p:nvSpPr>
        <p:spPr>
          <a:xfrm>
            <a:off x="8607552"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every day</a:t>
            </a:r>
            <a:endParaRPr lang="en-US" sz="1250" dirty="0"/>
          </a:p>
        </p:txBody>
      </p:sp>
      <p:sp>
        <p:nvSpPr>
          <p:cNvPr id="55" name="Shape 52"/>
          <p:cNvSpPr/>
          <p:nvPr/>
        </p:nvSpPr>
        <p:spPr>
          <a:xfrm>
            <a:off x="8186928" y="3197352"/>
            <a:ext cx="3453384" cy="347472"/>
          </a:xfrm>
          <a:prstGeom prst="roundRect">
            <a:avLst>
              <a:gd name="adj" fmla="val 15789"/>
            </a:avLst>
          </a:prstGeom>
          <a:solidFill>
            <a:srgbClr val="E6F4EC"/>
          </a:solidFill>
          <a:ln w="9525">
            <a:solidFill>
              <a:srgbClr val="2E8B57"/>
            </a:solidFill>
            <a:prstDash val="solid"/>
          </a:ln>
        </p:spPr>
      </p:sp>
      <p:sp>
        <p:nvSpPr>
          <p:cNvPr id="56" name="Shape 53"/>
          <p:cNvSpPr/>
          <p:nvPr/>
        </p:nvSpPr>
        <p:spPr>
          <a:xfrm>
            <a:off x="8278368" y="3233928"/>
            <a:ext cx="256032" cy="256032"/>
          </a:xfrm>
          <a:prstGeom prst="ellipse">
            <a:avLst/>
          </a:prstGeom>
          <a:solidFill>
            <a:srgbClr val="2E8B57"/>
          </a:solidFill>
          <a:ln w="12700">
            <a:solidFill>
              <a:srgbClr val="2E8B57"/>
            </a:solidFill>
            <a:prstDash val="solid"/>
          </a:ln>
        </p:spPr>
      </p:sp>
      <p:sp>
        <p:nvSpPr>
          <p:cNvPr id="57" name="Text 54"/>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58" name="Text 55"/>
          <p:cNvSpPr txBox="1"/>
          <p:nvPr/>
        </p:nvSpPr>
        <p:spPr>
          <a:xfrm>
            <a:off x="8607552" y="3176016"/>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twice a week</a:t>
            </a:r>
            <a:endParaRPr lang="en-US" sz="1250" dirty="0"/>
          </a:p>
        </p:txBody>
      </p:sp>
      <p:sp>
        <p:nvSpPr>
          <p:cNvPr id="59" name="Text 56"/>
          <p:cNvSpPr txBox="1"/>
          <p:nvPr/>
        </p:nvSpPr>
        <p:spPr>
          <a:xfrm>
            <a:off x="8223504" y="3566160"/>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مَرَّتَيْنِ فِي الأُسْبُوعِ.</a:t>
            </a:r>
            <a:endParaRPr lang="ar-SA" sz="1350" dirty="0"/>
          </a:p>
        </p:txBody>
      </p:sp>
      <p:sp>
        <p:nvSpPr>
          <p:cNvPr id="60" name="Shape 57"/>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585216" y="4288536"/>
            <a:ext cx="310896" cy="310896"/>
          </a:xfrm>
          <a:prstGeom prst="ellipse">
            <a:avLst/>
          </a:prstGeom>
          <a:solidFill>
            <a:srgbClr val="1B3B6F"/>
          </a:solidFill>
          <a:ln w="12700">
            <a:solidFill>
              <a:srgbClr val="1B3B6F"/>
            </a:solidFill>
            <a:prstDash val="solid"/>
          </a:ln>
        </p:spPr>
      </p:sp>
      <p:sp>
        <p:nvSpPr>
          <p:cNvPr id="62" name="Text 59"/>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3" name="Text 60"/>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may happen on other days?</a:t>
            </a:r>
            <a:endParaRPr lang="en-US" sz="1250" dirty="0"/>
          </a:p>
        </p:txBody>
      </p:sp>
      <p:sp>
        <p:nvSpPr>
          <p:cNvPr id="64" name="Shape 61"/>
          <p:cNvSpPr/>
          <p:nvPr/>
        </p:nvSpPr>
        <p:spPr>
          <a:xfrm>
            <a:off x="548640" y="4794504"/>
            <a:ext cx="3453384" cy="347472"/>
          </a:xfrm>
          <a:prstGeom prst="roundRect">
            <a:avLst>
              <a:gd name="adj" fmla="val 15789"/>
            </a:avLst>
          </a:prstGeom>
          <a:solidFill>
            <a:srgbClr val="E6F4EC"/>
          </a:solidFill>
          <a:ln w="9525">
            <a:solidFill>
              <a:srgbClr val="2E8B57"/>
            </a:solidFill>
            <a:prstDash val="solid"/>
          </a:ln>
        </p:spPr>
      </p:sp>
      <p:sp>
        <p:nvSpPr>
          <p:cNvPr id="65" name="Shape 62"/>
          <p:cNvSpPr/>
          <p:nvPr/>
        </p:nvSpPr>
        <p:spPr>
          <a:xfrm>
            <a:off x="640080" y="4831080"/>
            <a:ext cx="256032" cy="256032"/>
          </a:xfrm>
          <a:prstGeom prst="ellipse">
            <a:avLst/>
          </a:prstGeom>
          <a:solidFill>
            <a:srgbClr val="2E8B57"/>
          </a:solidFill>
          <a:ln w="12700">
            <a:solidFill>
              <a:srgbClr val="2E8B57"/>
            </a:solidFill>
            <a:prstDash val="solid"/>
          </a:ln>
        </p:spPr>
      </p:sp>
      <p:sp>
        <p:nvSpPr>
          <p:cNvPr id="66" name="Text 63"/>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67" name="Text 64"/>
          <p:cNvSpPr txBox="1"/>
          <p:nvPr/>
        </p:nvSpPr>
        <p:spPr>
          <a:xfrm>
            <a:off x="969264" y="4773168"/>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helping family or reading</a:t>
            </a:r>
            <a:endParaRPr lang="en-US" sz="1250" dirty="0"/>
          </a:p>
        </p:txBody>
      </p:sp>
      <p:sp>
        <p:nvSpPr>
          <p:cNvPr id="68" name="Shape 65"/>
          <p:cNvSpPr/>
          <p:nvPr/>
        </p:nvSpPr>
        <p:spPr>
          <a:xfrm>
            <a:off x="640080" y="5202936"/>
            <a:ext cx="256032" cy="256032"/>
          </a:xfrm>
          <a:prstGeom prst="ellipse">
            <a:avLst/>
          </a:prstGeom>
          <a:solidFill>
            <a:srgbClr val="C9CED6"/>
          </a:solidFill>
          <a:ln w="12700">
            <a:solidFill>
              <a:srgbClr val="C9CED6"/>
            </a:solidFill>
            <a:prstDash val="solid"/>
          </a:ln>
        </p:spPr>
      </p:sp>
      <p:sp>
        <p:nvSpPr>
          <p:cNvPr id="69" name="Text 66"/>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0" name="Text 67"/>
          <p:cNvSpPr txBox="1"/>
          <p:nvPr/>
        </p:nvSpPr>
        <p:spPr>
          <a:xfrm>
            <a:off x="969264" y="514502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travelling</a:t>
            </a:r>
            <a:endParaRPr lang="en-US" sz="1250" dirty="0"/>
          </a:p>
        </p:txBody>
      </p:sp>
      <p:sp>
        <p:nvSpPr>
          <p:cNvPr id="71" name="Shape 68"/>
          <p:cNvSpPr/>
          <p:nvPr/>
        </p:nvSpPr>
        <p:spPr>
          <a:xfrm>
            <a:off x="640080" y="5574792"/>
            <a:ext cx="256032" cy="256032"/>
          </a:xfrm>
          <a:prstGeom prst="ellipse">
            <a:avLst/>
          </a:prstGeom>
          <a:solidFill>
            <a:srgbClr val="C9CED6"/>
          </a:solidFill>
          <a:ln w="12700">
            <a:solidFill>
              <a:srgbClr val="C9CED6"/>
            </a:solidFill>
            <a:prstDash val="solid"/>
          </a:ln>
        </p:spPr>
      </p:sp>
      <p:sp>
        <p:nvSpPr>
          <p:cNvPr id="72" name="Text 69"/>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3" name="Text 70"/>
          <p:cNvSpPr txBox="1"/>
          <p:nvPr/>
        </p:nvSpPr>
        <p:spPr>
          <a:xfrm>
            <a:off x="969264" y="551688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sleeping all afternoon</a:t>
            </a:r>
            <a:endParaRPr lang="en-US" sz="1250" dirty="0"/>
          </a:p>
        </p:txBody>
      </p:sp>
      <p:sp>
        <p:nvSpPr>
          <p:cNvPr id="74" name="Text 71"/>
          <p:cNvSpPr txBox="1"/>
          <p:nvPr/>
        </p:nvSpPr>
        <p:spPr>
          <a:xfrm>
            <a:off x="585216"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The speaker helps family or reads.</a:t>
            </a:r>
            <a:endParaRPr lang="en-US" sz="1050" dirty="0"/>
          </a:p>
        </p:txBody>
      </p:sp>
      <p:sp>
        <p:nvSpPr>
          <p:cNvPr id="75" name="Shape 72"/>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6" name="Shape 73"/>
          <p:cNvSpPr/>
          <p:nvPr/>
        </p:nvSpPr>
        <p:spPr>
          <a:xfrm>
            <a:off x="4404360" y="4288536"/>
            <a:ext cx="310896" cy="310896"/>
          </a:xfrm>
          <a:prstGeom prst="ellipse">
            <a:avLst/>
          </a:prstGeom>
          <a:solidFill>
            <a:srgbClr val="1B3B6F"/>
          </a:solidFill>
          <a:ln w="12700">
            <a:solidFill>
              <a:srgbClr val="1B3B6F"/>
            </a:solidFill>
            <a:prstDash val="solid"/>
          </a:ln>
        </p:spPr>
      </p:sp>
      <p:sp>
        <p:nvSpPr>
          <p:cNvPr id="77" name="Text 74"/>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8" name="Text 75"/>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Why prepare clothes and the bag at night?</a:t>
            </a:r>
            <a:endParaRPr lang="en-US" sz="1250" dirty="0"/>
          </a:p>
        </p:txBody>
      </p:sp>
      <p:sp>
        <p:nvSpPr>
          <p:cNvPr id="79" name="Shape 76"/>
          <p:cNvSpPr/>
          <p:nvPr/>
        </p:nvSpPr>
        <p:spPr>
          <a:xfrm>
            <a:off x="4459224" y="4831080"/>
            <a:ext cx="256032" cy="256032"/>
          </a:xfrm>
          <a:prstGeom prst="ellipse">
            <a:avLst/>
          </a:prstGeom>
          <a:solidFill>
            <a:srgbClr val="C9CED6"/>
          </a:solidFill>
          <a:ln w="12700">
            <a:solidFill>
              <a:srgbClr val="C9CED6"/>
            </a:solidFill>
            <a:prstDash val="solid"/>
          </a:ln>
        </p:spPr>
      </p:sp>
      <p:sp>
        <p:nvSpPr>
          <p:cNvPr id="80" name="Text 77"/>
          <p:cNvSpPr txBox="1"/>
          <p:nvPr/>
        </p:nvSpPr>
        <p:spPr>
          <a:xfrm>
            <a:off x="4459224"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81" name="Text 78"/>
          <p:cNvSpPr txBox="1"/>
          <p:nvPr/>
        </p:nvSpPr>
        <p:spPr>
          <a:xfrm>
            <a:off x="4788408" y="4773168"/>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to exercise more</a:t>
            </a:r>
            <a:endParaRPr lang="en-US" sz="1250" dirty="0"/>
          </a:p>
        </p:txBody>
      </p:sp>
      <p:sp>
        <p:nvSpPr>
          <p:cNvPr id="82" name="Shape 79"/>
          <p:cNvSpPr/>
          <p:nvPr/>
        </p:nvSpPr>
        <p:spPr>
          <a:xfrm>
            <a:off x="4367784" y="5166360"/>
            <a:ext cx="3453384" cy="347472"/>
          </a:xfrm>
          <a:prstGeom prst="roundRect">
            <a:avLst>
              <a:gd name="adj" fmla="val 15789"/>
            </a:avLst>
          </a:prstGeom>
          <a:solidFill>
            <a:srgbClr val="E6F4EC"/>
          </a:solidFill>
          <a:ln w="9525">
            <a:solidFill>
              <a:srgbClr val="2E8B57"/>
            </a:solidFill>
            <a:prstDash val="solid"/>
          </a:ln>
        </p:spPr>
      </p:sp>
      <p:sp>
        <p:nvSpPr>
          <p:cNvPr id="83" name="Shape 80"/>
          <p:cNvSpPr/>
          <p:nvPr/>
        </p:nvSpPr>
        <p:spPr>
          <a:xfrm>
            <a:off x="4459224" y="5202936"/>
            <a:ext cx="256032" cy="256032"/>
          </a:xfrm>
          <a:prstGeom prst="ellipse">
            <a:avLst/>
          </a:prstGeom>
          <a:solidFill>
            <a:srgbClr val="2E8B57"/>
          </a:solidFill>
          <a:ln w="12700">
            <a:solidFill>
              <a:srgbClr val="2E8B57"/>
            </a:solidFill>
            <a:prstDash val="solid"/>
          </a:ln>
        </p:spPr>
      </p:sp>
      <p:sp>
        <p:nvSpPr>
          <p:cNvPr id="84" name="Text 81"/>
          <p:cNvSpPr txBox="1"/>
          <p:nvPr/>
        </p:nvSpPr>
        <p:spPr>
          <a:xfrm>
            <a:off x="4459224"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85" name="Text 82"/>
          <p:cNvSpPr txBox="1"/>
          <p:nvPr/>
        </p:nvSpPr>
        <p:spPr>
          <a:xfrm>
            <a:off x="4788408" y="5145024"/>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to avoid rushing in the morning</a:t>
            </a:r>
            <a:endParaRPr lang="en-US" sz="1250" dirty="0"/>
          </a:p>
        </p:txBody>
      </p:sp>
      <p:sp>
        <p:nvSpPr>
          <p:cNvPr id="86" name="Shape 83"/>
          <p:cNvSpPr/>
          <p:nvPr/>
        </p:nvSpPr>
        <p:spPr>
          <a:xfrm>
            <a:off x="4459224" y="5574792"/>
            <a:ext cx="256032" cy="256032"/>
          </a:xfrm>
          <a:prstGeom prst="ellipse">
            <a:avLst/>
          </a:prstGeom>
          <a:solidFill>
            <a:srgbClr val="C9CED6"/>
          </a:solidFill>
          <a:ln w="12700">
            <a:solidFill>
              <a:srgbClr val="C9CED6"/>
            </a:solidFill>
            <a:prstDash val="solid"/>
          </a:ln>
        </p:spPr>
      </p:sp>
      <p:sp>
        <p:nvSpPr>
          <p:cNvPr id="87" name="Text 84"/>
          <p:cNvSpPr txBox="1"/>
          <p:nvPr/>
        </p:nvSpPr>
        <p:spPr>
          <a:xfrm>
            <a:off x="4459224"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8" name="Text 85"/>
          <p:cNvSpPr txBox="1"/>
          <p:nvPr/>
        </p:nvSpPr>
        <p:spPr>
          <a:xfrm>
            <a:off x="4788408" y="551688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to sleep later</a:t>
            </a:r>
            <a:endParaRPr lang="en-US" sz="1250" dirty="0"/>
          </a:p>
        </p:txBody>
      </p:sp>
      <p:sp>
        <p:nvSpPr>
          <p:cNvPr id="89" name="Text 86"/>
          <p:cNvSpPr txBox="1"/>
          <p:nvPr/>
        </p:nvSpPr>
        <p:spPr>
          <a:xfrm>
            <a:off x="4404360" y="5907024"/>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لَا أَضْطَرُّ إِلَى العَجَلَةِ صَبَاحًا.</a:t>
            </a:r>
            <a:endParaRPr lang="ar-SA" sz="1350" dirty="0"/>
          </a:p>
        </p:txBody>
      </p:sp>
      <p:sp>
        <p:nvSpPr>
          <p:cNvPr id="90" name="Shape 87"/>
          <p:cNvSpPr/>
          <p:nvPr/>
        </p:nvSpPr>
        <p:spPr>
          <a:xfrm>
            <a:off x="8095488" y="4151376"/>
            <a:ext cx="3636264"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91" name="Shape 88"/>
          <p:cNvSpPr/>
          <p:nvPr/>
        </p:nvSpPr>
        <p:spPr>
          <a:xfrm>
            <a:off x="8717280" y="4361688"/>
            <a:ext cx="914400" cy="274320"/>
          </a:xfrm>
          <a:prstGeom prst="roundRect">
            <a:avLst>
              <a:gd name="adj" fmla="val 50000"/>
            </a:avLst>
          </a:prstGeom>
          <a:solidFill>
            <a:srgbClr val="2E8B57"/>
          </a:solidFill>
          <a:ln w="12700">
            <a:solidFill>
              <a:srgbClr val="2E8B57"/>
            </a:solidFill>
            <a:prstDash val="solid"/>
          </a:ln>
        </p:spPr>
      </p:sp>
      <p:sp>
        <p:nvSpPr>
          <p:cNvPr id="92" name="Text 89"/>
          <p:cNvSpPr txBox="1"/>
          <p:nvPr/>
        </p:nvSpPr>
        <p:spPr>
          <a:xfrm>
            <a:off x="8717280" y="4361688"/>
            <a:ext cx="91440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93" name="Text 90"/>
          <p:cNvSpPr txBox="1"/>
          <p:nvPr/>
        </p:nvSpPr>
        <p:spPr>
          <a:xfrm>
            <a:off x="8296656" y="4791456"/>
            <a:ext cx="3270504" cy="1380744"/>
          </a:xfrm>
          <a:prstGeom prst="rect">
            <a:avLst/>
          </a:prstGeom>
          <a:noFill/>
          <a:ln/>
        </p:spPr>
        <p:txBody>
          <a:bodyPr wrap="square" lIns="0" tIns="0" rIns="0" bIns="0" rtlCol="0" anchor="t"/>
          <a:lstStyle/>
          <a:p>
            <a:pPr algn="l" indent="0" marL="0">
              <a:lnSpc>
                <a:spcPct val="115000"/>
              </a:lnSpc>
              <a:buNone/>
            </a:pPr>
            <a:r>
              <a:rPr lang="en-US" sz="1250" dirty="0">
                <a:solidFill>
                  <a:srgbClr val="1E6B52"/>
                </a:solidFill>
                <a:latin typeface="Calibri" pitchFamily="34" charset="0"/>
                <a:cs typeface="Amiri" pitchFamily="2" charset="-78"/>
              </a:rPr>
              <a:t>Listen twice. Core: questions 1, 3 and 5.</a:t>
            </a:r>
            <a:endParaRPr lang="en-US" sz="1250" dirty="0"/>
          </a:p>
          <a:p>
            <a:pPr algn="l" indent="0" marL="0">
              <a:lnSpc>
                <a:spcPct val="115000"/>
              </a:lnSpc>
              <a:buNone/>
            </a:pPr>
            <a:r>
              <a:rPr lang="en-US" sz="1250" dirty="0">
                <a:solidFill>
                  <a:srgbClr val="1E6B52"/>
                </a:solidFill>
                <a:latin typeface="Calibri" pitchFamily="34" charset="0"/>
                <a:cs typeface="Amiri" pitchFamily="2" charset="-78"/>
              </a:rPr>
              <a:t>Listen for: </a:t>
            </a:r>
            <a:pPr algn="l" indent="0" marL="0">
              <a:lnSpc>
                <a:spcPct val="115000"/>
              </a:lnSpc>
              <a:buNone/>
            </a:pPr>
            <a:r>
              <a:rPr lang="ar-SA" altLang="en-US" sz="1650" dirty="0">
                <a:solidFill>
                  <a:srgbClr val="1E6B52"/>
                </a:solidFill>
                <a:latin typeface="Amiri" pitchFamily="2" charset="-78"/>
                <a:ea typeface="Amiri" pitchFamily="2" charset="-78"/>
                <a:cs typeface="Amiri" pitchFamily="2" charset="-78"/>
              </a:rPr>
              <a:t>بَعْدَ أَنْ أَعُودَ</a:t>
            </a:r>
            <a:pPr algn="l" indent="0" marL="0">
              <a:lnSpc>
                <a:spcPct val="115000"/>
              </a:lnSpc>
              <a:buNone/>
            </a:pPr>
            <a:r>
              <a:rPr lang="en-US" sz="1250" dirty="0">
                <a:solidFill>
                  <a:srgbClr val="1E6B52"/>
                </a:solidFill>
                <a:latin typeface="Calibri" pitchFamily="34" charset="0"/>
                <a:cs typeface="Amiri" pitchFamily="2" charset="-78"/>
              </a:rPr>
              <a:t> · </a:t>
            </a:r>
            <a:pPr algn="l" indent="0" marL="0">
              <a:lnSpc>
                <a:spcPct val="115000"/>
              </a:lnSpc>
              <a:buNone/>
            </a:pPr>
            <a:r>
              <a:rPr lang="ar-SA" altLang="en-US" sz="1650" dirty="0">
                <a:solidFill>
                  <a:srgbClr val="1E6B52"/>
                </a:solidFill>
                <a:latin typeface="Amiri" pitchFamily="2" charset="-78"/>
                <a:ea typeface="Amiri" pitchFamily="2" charset="-78"/>
                <a:cs typeface="Amiri" pitchFamily="2" charset="-78"/>
              </a:rPr>
              <a:t>مَرَّتَيْنِ</a:t>
            </a:r>
            <a:pPr algn="l" indent="0" marL="0">
              <a:lnSpc>
                <a:spcPct val="115000"/>
              </a:lnSpc>
              <a:buNone/>
            </a:pPr>
            <a:r>
              <a:rPr lang="en-US" sz="1250" dirty="0">
                <a:solidFill>
                  <a:srgbClr val="1E6B52"/>
                </a:solidFill>
                <a:latin typeface="Calibri" pitchFamily="34" charset="0"/>
                <a:cs typeface="Amiri" pitchFamily="2" charset="-78"/>
              </a:rPr>
              <a:t> · </a:t>
            </a:r>
            <a:pPr algn="l" indent="0" marL="0">
              <a:lnSpc>
                <a:spcPct val="115000"/>
              </a:lnSpc>
              <a:buNone/>
            </a:pPr>
            <a:r>
              <a:rPr lang="ar-SA" altLang="en-US" sz="1650" dirty="0">
                <a:solidFill>
                  <a:srgbClr val="1E6B52"/>
                </a:solidFill>
                <a:latin typeface="Amiri" pitchFamily="2" charset="-78"/>
                <a:ea typeface="Amiri" pitchFamily="2" charset="-78"/>
                <a:cs typeface="Amiri" pitchFamily="2" charset="-78"/>
              </a:rPr>
              <a:t>قَبْلَ أَنْ أَنَامَ</a:t>
            </a:r>
            <a:pPr algn="l" indent="0" marL="0">
              <a:lnSpc>
                <a:spcPct val="115000"/>
              </a:lnSpc>
              <a:buNone/>
            </a:pPr>
            <a:r>
              <a:rPr lang="en-US" sz="1250" dirty="0">
                <a:solidFill>
                  <a:srgbClr val="1E6B52"/>
                </a:solidFill>
                <a:latin typeface="Calibri" pitchFamily="34" charset="0"/>
                <a:cs typeface="Amiri" pitchFamily="2" charset="-78"/>
              </a:rPr>
              <a:t>.</a:t>
            </a:r>
            <a:endParaRPr lang="en-US" sz="1250" dirty="0"/>
          </a:p>
        </p:txBody>
      </p:sp>
      <p:sp>
        <p:nvSpPr>
          <p:cNvPr id="94" name="Text 9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31 / 46</a:t>
            </a:r>
            <a:endParaRPr lang="en-US" sz="85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D1-L04 · Before and After</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SAY IT BEFORE YOU WRITE IT</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1950" b="1" dirty="0">
                <a:solidFill>
                  <a:srgbClr val="1B3B6F"/>
                </a:solidFill>
                <a:latin typeface="Cambria" pitchFamily="34" charset="0"/>
                <a:cs typeface="Amiri" pitchFamily="2" charset="-78"/>
              </a:rPr>
              <a:t>Explain the order of your afternoon and evening</a:t>
            </a:r>
            <a:endParaRPr lang="en-US" sz="19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التَّحَدُّثُ</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D1 · Daily Routine and Time · D1-L04</a:t>
            </a:r>
            <a:endParaRPr lang="en-US" sz="850" dirty="0"/>
          </a:p>
        </p:txBody>
      </p:sp>
      <p:sp>
        <p:nvSpPr>
          <p:cNvPr id="15" name="Shape 12"/>
          <p:cNvSpPr/>
          <p:nvPr/>
        </p:nvSpPr>
        <p:spPr>
          <a:xfrm>
            <a:off x="457200" y="1810512"/>
            <a:ext cx="2185416" cy="566928"/>
          </a:xfrm>
          <a:prstGeom prst="roundRect">
            <a:avLst>
              <a:gd name="adj" fmla="val 12903"/>
            </a:avLst>
          </a:prstGeom>
          <a:solidFill>
            <a:srgbClr val="EEF3FA"/>
          </a:solidFill>
          <a:ln w="9525">
            <a:solidFill>
              <a:srgbClr val="C9D6EA"/>
            </a:solidFill>
            <a:prstDash val="solid"/>
          </a:ln>
        </p:spPr>
      </p:sp>
      <p:sp>
        <p:nvSpPr>
          <p:cNvPr id="16" name="Text 13"/>
          <p:cNvSpPr txBox="1"/>
          <p:nvPr/>
        </p:nvSpPr>
        <p:spPr>
          <a:xfrm>
            <a:off x="512064"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17" name="Text 14"/>
          <p:cNvSpPr txBox="1"/>
          <p:nvPr/>
        </p:nvSpPr>
        <p:spPr>
          <a:xfrm>
            <a:off x="914400"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Think</a:t>
            </a:r>
            <a:endParaRPr lang="en-US" sz="1050" dirty="0"/>
          </a:p>
          <a:p>
            <a:pPr indent="0" marL="0">
              <a:buNone/>
            </a:pPr>
            <a:r>
              <a:rPr lang="en-US" sz="950" dirty="0">
                <a:solidFill>
                  <a:srgbClr val="5A6472"/>
                </a:solidFill>
                <a:latin typeface="Calibri" pitchFamily="34" charset="0"/>
                <a:cs typeface="Amiri" pitchFamily="2" charset="-78"/>
              </a:rPr>
              <a:t>10 seconds</a:t>
            </a:r>
            <a:endParaRPr lang="en-US" sz="1050" dirty="0"/>
          </a:p>
        </p:txBody>
      </p:sp>
      <p:sp>
        <p:nvSpPr>
          <p:cNvPr id="18" name="Shape 15"/>
          <p:cNvSpPr/>
          <p:nvPr/>
        </p:nvSpPr>
        <p:spPr>
          <a:xfrm>
            <a:off x="2729484" y="1810512"/>
            <a:ext cx="2185416" cy="566928"/>
          </a:xfrm>
          <a:prstGeom prst="roundRect">
            <a:avLst>
              <a:gd name="adj" fmla="val 12903"/>
            </a:avLst>
          </a:prstGeom>
          <a:solidFill>
            <a:srgbClr val="EEF3FA"/>
          </a:solidFill>
          <a:ln w="9525">
            <a:solidFill>
              <a:srgbClr val="C9D6EA"/>
            </a:solidFill>
            <a:prstDash val="solid"/>
          </a:ln>
        </p:spPr>
      </p:sp>
      <p:sp>
        <p:nvSpPr>
          <p:cNvPr id="19" name="Text 16"/>
          <p:cNvSpPr txBox="1"/>
          <p:nvPr/>
        </p:nvSpPr>
        <p:spPr>
          <a:xfrm>
            <a:off x="2784348"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20" name="Text 17"/>
          <p:cNvSpPr txBox="1"/>
          <p:nvPr/>
        </p:nvSpPr>
        <p:spPr>
          <a:xfrm>
            <a:off x="3186684"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Rehearse</a:t>
            </a:r>
            <a:endParaRPr lang="en-US" sz="1050" dirty="0"/>
          </a:p>
          <a:p>
            <a:pPr indent="0" marL="0">
              <a:buNone/>
            </a:pPr>
            <a:r>
              <a:rPr lang="en-US" sz="950" dirty="0">
                <a:solidFill>
                  <a:srgbClr val="5A6472"/>
                </a:solidFill>
                <a:latin typeface="Calibri" pitchFamily="34" charset="0"/>
                <a:cs typeface="Amiri" pitchFamily="2" charset="-78"/>
              </a:rPr>
              <a:t>muted · 45 s</a:t>
            </a:r>
            <a:endParaRPr lang="en-US" sz="1050" dirty="0"/>
          </a:p>
        </p:txBody>
      </p:sp>
      <p:sp>
        <p:nvSpPr>
          <p:cNvPr id="21" name="Shape 18"/>
          <p:cNvSpPr/>
          <p:nvPr/>
        </p:nvSpPr>
        <p:spPr>
          <a:xfrm>
            <a:off x="5001768" y="1810512"/>
            <a:ext cx="2185416" cy="566928"/>
          </a:xfrm>
          <a:prstGeom prst="roundRect">
            <a:avLst>
              <a:gd name="adj" fmla="val 12903"/>
            </a:avLst>
          </a:prstGeom>
          <a:solidFill>
            <a:srgbClr val="EEF3FA"/>
          </a:solidFill>
          <a:ln w="9525">
            <a:solidFill>
              <a:srgbClr val="C9D6EA"/>
            </a:solidFill>
            <a:prstDash val="solid"/>
          </a:ln>
        </p:spPr>
      </p:sp>
      <p:sp>
        <p:nvSpPr>
          <p:cNvPr id="22" name="Text 19"/>
          <p:cNvSpPr txBox="1"/>
          <p:nvPr/>
        </p:nvSpPr>
        <p:spPr>
          <a:xfrm>
            <a:off x="5056632"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23" name="Text 20"/>
          <p:cNvSpPr txBox="1"/>
          <p:nvPr/>
        </p:nvSpPr>
        <p:spPr>
          <a:xfrm>
            <a:off x="5458968"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Pairs share</a:t>
            </a:r>
            <a:endParaRPr lang="en-US" sz="1050" dirty="0"/>
          </a:p>
          <a:p>
            <a:pPr indent="0" marL="0">
              <a:buNone/>
            </a:pPr>
            <a:r>
              <a:rPr lang="en-US" sz="950" dirty="0">
                <a:solidFill>
                  <a:srgbClr val="5A6472"/>
                </a:solidFill>
                <a:latin typeface="Calibri" pitchFamily="34" charset="0"/>
                <a:cs typeface="Amiri" pitchFamily="2" charset="-78"/>
              </a:rPr>
              <a:t>open mic</a:t>
            </a:r>
            <a:endParaRPr lang="en-US" sz="1050" dirty="0"/>
          </a:p>
        </p:txBody>
      </p:sp>
      <p:sp>
        <p:nvSpPr>
          <p:cNvPr id="24" name="Shape 21"/>
          <p:cNvSpPr/>
          <p:nvPr/>
        </p:nvSpPr>
        <p:spPr>
          <a:xfrm>
            <a:off x="7274052" y="1810512"/>
            <a:ext cx="2185416" cy="566928"/>
          </a:xfrm>
          <a:prstGeom prst="roundRect">
            <a:avLst>
              <a:gd name="adj" fmla="val 12903"/>
            </a:avLst>
          </a:prstGeom>
          <a:solidFill>
            <a:srgbClr val="EEF3FA"/>
          </a:solidFill>
          <a:ln w="9525">
            <a:solidFill>
              <a:srgbClr val="C9D6EA"/>
            </a:solidFill>
            <a:prstDash val="solid"/>
          </a:ln>
        </p:spPr>
      </p:sp>
      <p:sp>
        <p:nvSpPr>
          <p:cNvPr id="25" name="Text 22"/>
          <p:cNvSpPr txBox="1"/>
          <p:nvPr/>
        </p:nvSpPr>
        <p:spPr>
          <a:xfrm>
            <a:off x="7328916"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 ?</a:t>
            </a:r>
            <a:endParaRPr lang="en-US" sz="1800" dirty="0"/>
          </a:p>
        </p:txBody>
      </p:sp>
      <p:sp>
        <p:nvSpPr>
          <p:cNvPr id="26" name="Text 23"/>
          <p:cNvSpPr txBox="1"/>
          <p:nvPr/>
        </p:nvSpPr>
        <p:spPr>
          <a:xfrm>
            <a:off x="7731252"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Build / ask</a:t>
            </a:r>
            <a:endParaRPr lang="en-US" sz="1050" dirty="0"/>
          </a:p>
          <a:p>
            <a:pPr indent="0" marL="0">
              <a:buNone/>
            </a:pPr>
            <a:r>
              <a:rPr lang="en-US" sz="950" dirty="0">
                <a:solidFill>
                  <a:srgbClr val="5A6472"/>
                </a:solidFill>
                <a:latin typeface="Calibri" pitchFamily="34" charset="0"/>
                <a:cs typeface="Amiri" pitchFamily="2" charset="-78"/>
              </a:rPr>
              <a:t>in the chat</a:t>
            </a:r>
            <a:endParaRPr lang="en-US" sz="1050" dirty="0"/>
          </a:p>
        </p:txBody>
      </p:sp>
      <p:sp>
        <p:nvSpPr>
          <p:cNvPr id="27" name="Shape 24"/>
          <p:cNvSpPr/>
          <p:nvPr/>
        </p:nvSpPr>
        <p:spPr>
          <a:xfrm>
            <a:off x="9546336" y="1810512"/>
            <a:ext cx="2185416" cy="566928"/>
          </a:xfrm>
          <a:prstGeom prst="roundRect">
            <a:avLst>
              <a:gd name="adj" fmla="val 12903"/>
            </a:avLst>
          </a:prstGeom>
          <a:solidFill>
            <a:srgbClr val="EEF3FA"/>
          </a:solidFill>
          <a:ln w="9525">
            <a:solidFill>
              <a:srgbClr val="C9D6EA"/>
            </a:solidFill>
            <a:prstDash val="solid"/>
          </a:ln>
        </p:spPr>
      </p:sp>
      <p:sp>
        <p:nvSpPr>
          <p:cNvPr id="28" name="Text 25"/>
          <p:cNvSpPr txBox="1"/>
          <p:nvPr/>
        </p:nvSpPr>
        <p:spPr>
          <a:xfrm>
            <a:off x="9601200"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29" name="Text 26"/>
          <p:cNvSpPr txBox="1"/>
          <p:nvPr/>
        </p:nvSpPr>
        <p:spPr>
          <a:xfrm>
            <a:off x="10003536"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Summarise</a:t>
            </a:r>
            <a:endParaRPr lang="en-US" sz="1050" dirty="0"/>
          </a:p>
          <a:p>
            <a:pPr indent="0" marL="0">
              <a:buNone/>
            </a:pPr>
            <a:r>
              <a:rPr lang="en-US" sz="950" dirty="0">
                <a:solidFill>
                  <a:srgbClr val="5A6472"/>
                </a:solidFill>
                <a:latin typeface="Calibri" pitchFamily="34" charset="0"/>
                <a:cs typeface="Amiri" pitchFamily="2" charset="-78"/>
              </a:rPr>
              <a:t>he / she …</a:t>
            </a:r>
            <a:endParaRPr lang="en-US" sz="1050" dirty="0"/>
          </a:p>
        </p:txBody>
      </p:sp>
      <p:sp>
        <p:nvSpPr>
          <p:cNvPr id="30" name="Shape 27"/>
          <p:cNvSpPr/>
          <p:nvPr/>
        </p:nvSpPr>
        <p:spPr>
          <a:xfrm>
            <a:off x="4754880" y="2487168"/>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846320" y="2642616"/>
            <a:ext cx="960120" cy="256032"/>
          </a:xfrm>
          <a:prstGeom prst="roundRect">
            <a:avLst>
              <a:gd name="adj" fmla="val 50000"/>
            </a:avLst>
          </a:prstGeom>
          <a:solidFill>
            <a:srgbClr val="2E8B57"/>
          </a:solidFill>
          <a:ln w="12700">
            <a:solidFill>
              <a:srgbClr val="2E8B57"/>
            </a:solidFill>
            <a:prstDash val="solid"/>
          </a:ln>
        </p:spPr>
      </p:sp>
      <p:sp>
        <p:nvSpPr>
          <p:cNvPr id="32" name="Text 29"/>
          <p:cNvSpPr txBox="1"/>
          <p:nvPr/>
        </p:nvSpPr>
        <p:spPr>
          <a:xfrm>
            <a:off x="4846320" y="2642616"/>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3" name="Text 30"/>
          <p:cNvSpPr txBox="1"/>
          <p:nvPr/>
        </p:nvSpPr>
        <p:spPr>
          <a:xfrm>
            <a:off x="5897880" y="2487168"/>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مَاذَا تَفْعَلُ بَعْدَ المَدْرَسَةِ؟ وَقَبْلَ النَّوْمِ؟</a:t>
            </a:r>
            <a:endParaRPr lang="ar-SA" sz="1800" dirty="0"/>
          </a:p>
        </p:txBody>
      </p:sp>
      <p:sp>
        <p:nvSpPr>
          <p:cNvPr id="34" name="Shape 31"/>
          <p:cNvSpPr/>
          <p:nvPr/>
        </p:nvSpPr>
        <p:spPr>
          <a:xfrm>
            <a:off x="4754880" y="3108960"/>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5" name="Shape 32"/>
          <p:cNvSpPr/>
          <p:nvPr/>
        </p:nvSpPr>
        <p:spPr>
          <a:xfrm>
            <a:off x="4846320" y="3264408"/>
            <a:ext cx="960120" cy="256032"/>
          </a:xfrm>
          <a:prstGeom prst="roundRect">
            <a:avLst>
              <a:gd name="adj" fmla="val 50000"/>
            </a:avLst>
          </a:prstGeom>
          <a:solidFill>
            <a:srgbClr val="C9780A"/>
          </a:solidFill>
          <a:ln w="12700">
            <a:solidFill>
              <a:srgbClr val="C9780A"/>
            </a:solidFill>
            <a:prstDash val="solid"/>
          </a:ln>
        </p:spPr>
      </p:sp>
      <p:sp>
        <p:nvSpPr>
          <p:cNvPr id="36" name="Text 33"/>
          <p:cNvSpPr txBox="1"/>
          <p:nvPr/>
        </p:nvSpPr>
        <p:spPr>
          <a:xfrm>
            <a:off x="4846320" y="3264408"/>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7" name="Text 34"/>
          <p:cNvSpPr txBox="1"/>
          <p:nvPr/>
        </p:nvSpPr>
        <p:spPr>
          <a:xfrm>
            <a:off x="5897880" y="3108960"/>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مَاذَا تَفْعَلُ بَعْدَ أَنْ تَعُودَ مِنَ المَدْرَسَةِ؟</a:t>
            </a:r>
            <a:endParaRPr lang="ar-SA" sz="1800" dirty="0"/>
          </a:p>
        </p:txBody>
      </p:sp>
      <p:sp>
        <p:nvSpPr>
          <p:cNvPr id="38" name="Shape 35"/>
          <p:cNvSpPr/>
          <p:nvPr/>
        </p:nvSpPr>
        <p:spPr>
          <a:xfrm>
            <a:off x="4754880" y="3730752"/>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9" name="Shape 36"/>
          <p:cNvSpPr/>
          <p:nvPr/>
        </p:nvSpPr>
        <p:spPr>
          <a:xfrm>
            <a:off x="4846320" y="3886200"/>
            <a:ext cx="960120" cy="256032"/>
          </a:xfrm>
          <a:prstGeom prst="roundRect">
            <a:avLst>
              <a:gd name="adj" fmla="val 50000"/>
            </a:avLst>
          </a:prstGeom>
          <a:solidFill>
            <a:srgbClr val="C9780A"/>
          </a:solidFill>
          <a:ln w="12700">
            <a:solidFill>
              <a:srgbClr val="C9780A"/>
            </a:solidFill>
            <a:prstDash val="solid"/>
          </a:ln>
        </p:spPr>
      </p:sp>
      <p:sp>
        <p:nvSpPr>
          <p:cNvPr id="40" name="Text 37"/>
          <p:cNvSpPr txBox="1"/>
          <p:nvPr/>
        </p:nvSpPr>
        <p:spPr>
          <a:xfrm>
            <a:off x="4846320" y="3886200"/>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41" name="Text 38"/>
          <p:cNvSpPr txBox="1"/>
          <p:nvPr/>
        </p:nvSpPr>
        <p:spPr>
          <a:xfrm>
            <a:off x="5897880" y="3730752"/>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كَمْ مَرَّةً تَتَمَرَّنُ أَوْ تَقْرَأُ فِي الأُسْبُوعِ؟</a:t>
            </a:r>
            <a:endParaRPr lang="ar-SA" sz="1800" dirty="0"/>
          </a:p>
        </p:txBody>
      </p:sp>
      <p:sp>
        <p:nvSpPr>
          <p:cNvPr id="42" name="Shape 39"/>
          <p:cNvSpPr/>
          <p:nvPr/>
        </p:nvSpPr>
        <p:spPr>
          <a:xfrm>
            <a:off x="4754880" y="4352544"/>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3" name="Shape 40"/>
          <p:cNvSpPr/>
          <p:nvPr/>
        </p:nvSpPr>
        <p:spPr>
          <a:xfrm>
            <a:off x="4846320" y="4507992"/>
            <a:ext cx="960120" cy="256032"/>
          </a:xfrm>
          <a:prstGeom prst="roundRect">
            <a:avLst>
              <a:gd name="adj" fmla="val 50000"/>
            </a:avLst>
          </a:prstGeom>
          <a:solidFill>
            <a:srgbClr val="B83227"/>
          </a:solidFill>
          <a:ln w="12700">
            <a:solidFill>
              <a:srgbClr val="B83227"/>
            </a:solidFill>
            <a:prstDash val="solid"/>
          </a:ln>
        </p:spPr>
      </p:sp>
      <p:sp>
        <p:nvSpPr>
          <p:cNvPr id="44" name="Text 41"/>
          <p:cNvSpPr txBox="1"/>
          <p:nvPr/>
        </p:nvSpPr>
        <p:spPr>
          <a:xfrm>
            <a:off x="4846320" y="4507992"/>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45" name="Text 42"/>
          <p:cNvSpPr txBox="1"/>
          <p:nvPr/>
        </p:nvSpPr>
        <p:spPr>
          <a:xfrm>
            <a:off x="5897880" y="4352544"/>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أَيُّ عَادَةٍ مَسَائِيَّةٍ تُرِيدُ أَنْ تُغَيِّرَهَا؟ وَلِمَاذَا؟</a:t>
            </a:r>
            <a:endParaRPr lang="ar-SA" sz="1800" dirty="0"/>
          </a:p>
        </p:txBody>
      </p:sp>
      <p:sp>
        <p:nvSpPr>
          <p:cNvPr id="46" name="Shape 43"/>
          <p:cNvSpPr/>
          <p:nvPr/>
        </p:nvSpPr>
        <p:spPr>
          <a:xfrm>
            <a:off x="457200" y="2487168"/>
            <a:ext cx="4114800" cy="2651760"/>
          </a:xfrm>
          <a:prstGeom prst="roundRect">
            <a:avLst>
              <a:gd name="adj" fmla="val 2759"/>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47" name="Text 44"/>
          <p:cNvSpPr txBox="1"/>
          <p:nvPr/>
        </p:nvSpPr>
        <p:spPr>
          <a:xfrm>
            <a:off x="640080" y="2542032"/>
            <a:ext cx="274320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SENTENCE STEMS</a:t>
            </a:r>
            <a:endParaRPr lang="en-US" sz="1000" dirty="0"/>
          </a:p>
        </p:txBody>
      </p:sp>
      <p:sp>
        <p:nvSpPr>
          <p:cNvPr id="48" name="Shape 45"/>
          <p:cNvSpPr/>
          <p:nvPr/>
        </p:nvSpPr>
        <p:spPr>
          <a:xfrm>
            <a:off x="640080" y="3008376"/>
            <a:ext cx="1051560" cy="256032"/>
          </a:xfrm>
          <a:prstGeom prst="roundRect">
            <a:avLst>
              <a:gd name="adj" fmla="val 50000"/>
            </a:avLst>
          </a:prstGeom>
          <a:solidFill>
            <a:srgbClr val="2E8B57"/>
          </a:solidFill>
          <a:ln w="12700">
            <a:solidFill>
              <a:srgbClr val="2E8B57"/>
            </a:solidFill>
            <a:prstDash val="solid"/>
          </a:ln>
        </p:spPr>
      </p:sp>
      <p:sp>
        <p:nvSpPr>
          <p:cNvPr id="49" name="Text 46"/>
          <p:cNvSpPr txBox="1"/>
          <p:nvPr/>
        </p:nvSpPr>
        <p:spPr>
          <a:xfrm>
            <a:off x="640080" y="3008376"/>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50" name="Text 47"/>
          <p:cNvSpPr txBox="1"/>
          <p:nvPr/>
        </p:nvSpPr>
        <p:spPr>
          <a:xfrm>
            <a:off x="1783080" y="2852928"/>
            <a:ext cx="2697480" cy="557784"/>
          </a:xfrm>
          <a:prstGeom prst="rect">
            <a:avLst/>
          </a:prstGeom>
          <a:noFill/>
          <a:ln/>
        </p:spPr>
        <p:txBody>
          <a:bodyPr wrap="square" lIns="0" tIns="0" rIns="0" bIns="0" rtlCol="0" anchor="ctr"/>
          <a:lstStyle/>
          <a:p>
            <a:pPr rtl="1" algn="r" indent="0" marL="0">
              <a:buNone/>
            </a:pPr>
            <a:r>
              <a:rPr lang="ar-SA" altLang="en-US" sz="1550" b="1" dirty="0">
                <a:solidFill>
                  <a:srgbClr val="1D5FBF"/>
                </a:solidFill>
                <a:latin typeface="Amiri" pitchFamily="2" charset="-78"/>
                <a:ea typeface="Amiri" pitchFamily="2" charset="-78"/>
                <a:cs typeface="Amiri" pitchFamily="2" charset="-78"/>
              </a:rPr>
              <a:t>بَعْدَ المَدْرَسَةِ ___ ، وَقَبْلَ النَّوْمِ ___ .</a:t>
            </a:r>
            <a:endParaRPr lang="ar-SA" sz="1550" dirty="0"/>
          </a:p>
        </p:txBody>
      </p:sp>
      <p:sp>
        <p:nvSpPr>
          <p:cNvPr id="51" name="Shape 48"/>
          <p:cNvSpPr/>
          <p:nvPr/>
        </p:nvSpPr>
        <p:spPr>
          <a:xfrm>
            <a:off x="640080" y="3566160"/>
            <a:ext cx="1051560" cy="256032"/>
          </a:xfrm>
          <a:prstGeom prst="roundRect">
            <a:avLst>
              <a:gd name="adj" fmla="val 50000"/>
            </a:avLst>
          </a:prstGeom>
          <a:solidFill>
            <a:srgbClr val="C9780A"/>
          </a:solidFill>
          <a:ln w="12700">
            <a:solidFill>
              <a:srgbClr val="C9780A"/>
            </a:solidFill>
            <a:prstDash val="solid"/>
          </a:ln>
        </p:spPr>
      </p:sp>
      <p:sp>
        <p:nvSpPr>
          <p:cNvPr id="52" name="Text 49"/>
          <p:cNvSpPr txBox="1"/>
          <p:nvPr/>
        </p:nvSpPr>
        <p:spPr>
          <a:xfrm>
            <a:off x="640080" y="3566160"/>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53" name="Text 50"/>
          <p:cNvSpPr txBox="1"/>
          <p:nvPr/>
        </p:nvSpPr>
        <p:spPr>
          <a:xfrm>
            <a:off x="1783080" y="3410712"/>
            <a:ext cx="2697480" cy="557784"/>
          </a:xfrm>
          <a:prstGeom prst="rect">
            <a:avLst/>
          </a:prstGeom>
          <a:noFill/>
          <a:ln/>
        </p:spPr>
        <p:txBody>
          <a:bodyPr wrap="square" lIns="0" tIns="0" rIns="0" bIns="0" rtlCol="0" anchor="ctr"/>
          <a:lstStyle/>
          <a:p>
            <a:pPr rtl="1" algn="r" indent="0" marL="0">
              <a:buNone/>
            </a:pPr>
            <a:r>
              <a:rPr lang="ar-SA" altLang="en-US" sz="1600" b="1" dirty="0">
                <a:solidFill>
                  <a:srgbClr val="1F2A37"/>
                </a:solidFill>
                <a:latin typeface="Amiri" pitchFamily="2" charset="-78"/>
                <a:ea typeface="Amiri" pitchFamily="2" charset="-78"/>
                <a:cs typeface="Amiri" pitchFamily="2" charset="-78"/>
              </a:rPr>
              <a:t>بَعْدَ أَنْ أَعُودَ ، ___ .</a:t>
            </a:r>
            <a:endParaRPr lang="ar-SA" sz="1600" dirty="0"/>
          </a:p>
        </p:txBody>
      </p:sp>
      <p:sp>
        <p:nvSpPr>
          <p:cNvPr id="54" name="Shape 51"/>
          <p:cNvSpPr/>
          <p:nvPr/>
        </p:nvSpPr>
        <p:spPr>
          <a:xfrm>
            <a:off x="640080" y="4123944"/>
            <a:ext cx="1051560" cy="256032"/>
          </a:xfrm>
          <a:prstGeom prst="roundRect">
            <a:avLst>
              <a:gd name="adj" fmla="val 50000"/>
            </a:avLst>
          </a:prstGeom>
          <a:solidFill>
            <a:srgbClr val="B83227"/>
          </a:solidFill>
          <a:ln w="12700">
            <a:solidFill>
              <a:srgbClr val="B83227"/>
            </a:solidFill>
            <a:prstDash val="solid"/>
          </a:ln>
        </p:spPr>
      </p:sp>
      <p:sp>
        <p:nvSpPr>
          <p:cNvPr id="55" name="Text 52"/>
          <p:cNvSpPr txBox="1"/>
          <p:nvPr/>
        </p:nvSpPr>
        <p:spPr>
          <a:xfrm>
            <a:off x="640080" y="4123944"/>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56" name="Text 53"/>
          <p:cNvSpPr txBox="1"/>
          <p:nvPr/>
        </p:nvSpPr>
        <p:spPr>
          <a:xfrm>
            <a:off x="1783080" y="3968496"/>
            <a:ext cx="2697480" cy="557784"/>
          </a:xfrm>
          <a:prstGeom prst="rect">
            <a:avLst/>
          </a:prstGeom>
          <a:noFill/>
          <a:ln/>
        </p:spPr>
        <p:txBody>
          <a:bodyPr wrap="square" lIns="0" tIns="0" rIns="0" bIns="0" rtlCol="0" anchor="ctr"/>
          <a:lstStyle/>
          <a:p>
            <a:pPr rtl="1" algn="r" indent="0" marL="0">
              <a:buNone/>
            </a:pPr>
            <a:r>
              <a:rPr lang="ar-SA" altLang="en-US" sz="1600" b="1" dirty="0">
                <a:solidFill>
                  <a:srgbClr val="1F2A37"/>
                </a:solidFill>
                <a:latin typeface="Amiri" pitchFamily="2" charset="-78"/>
                <a:ea typeface="Amiri" pitchFamily="2" charset="-78"/>
                <a:cs typeface="Amiri" pitchFamily="2" charset="-78"/>
              </a:rPr>
              <a:t>أُرِيدُ أَنْ أُغَيِّرَ ___ لِأَنَّ ___ .</a:t>
            </a:r>
            <a:endParaRPr lang="ar-SA" sz="1600" dirty="0"/>
          </a:p>
        </p:txBody>
      </p:sp>
      <p:sp>
        <p:nvSpPr>
          <p:cNvPr id="57" name="Shape 54"/>
          <p:cNvSpPr/>
          <p:nvPr/>
        </p:nvSpPr>
        <p:spPr>
          <a:xfrm>
            <a:off x="640080" y="4681728"/>
            <a:ext cx="1051560" cy="256032"/>
          </a:xfrm>
          <a:prstGeom prst="roundRect">
            <a:avLst>
              <a:gd name="adj" fmla="val 50000"/>
            </a:avLst>
          </a:prstGeom>
          <a:solidFill>
            <a:srgbClr val="1B3B6F"/>
          </a:solidFill>
          <a:ln w="12700">
            <a:solidFill>
              <a:srgbClr val="1B3B6F"/>
            </a:solidFill>
            <a:prstDash val="solid"/>
          </a:ln>
        </p:spPr>
      </p:sp>
      <p:sp>
        <p:nvSpPr>
          <p:cNvPr id="58" name="Text 55"/>
          <p:cNvSpPr txBox="1"/>
          <p:nvPr/>
        </p:nvSpPr>
        <p:spPr>
          <a:xfrm>
            <a:off x="640080" y="4681728"/>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 SUM UP</a:t>
            </a:r>
            <a:endParaRPr lang="en-US" sz="800" dirty="0"/>
          </a:p>
        </p:txBody>
      </p:sp>
      <p:sp>
        <p:nvSpPr>
          <p:cNvPr id="59" name="Text 56"/>
          <p:cNvSpPr txBox="1"/>
          <p:nvPr/>
        </p:nvSpPr>
        <p:spPr>
          <a:xfrm>
            <a:off x="1783080" y="4526280"/>
            <a:ext cx="2697480" cy="557784"/>
          </a:xfrm>
          <a:prstGeom prst="rect">
            <a:avLst/>
          </a:prstGeom>
          <a:noFill/>
          <a:ln/>
        </p:spPr>
        <p:txBody>
          <a:bodyPr wrap="square" lIns="0" tIns="0" rIns="0" bIns="0" rtlCol="0" anchor="ctr"/>
          <a:lstStyle/>
          <a:p>
            <a:pPr rtl="1" algn="r" indent="0" marL="0">
              <a:buNone/>
            </a:pPr>
            <a:r>
              <a:rPr lang="ar-SA" altLang="en-US" sz="1600" b="1" dirty="0">
                <a:solidFill>
                  <a:srgbClr val="1F2A37"/>
                </a:solidFill>
                <a:latin typeface="Amiri" pitchFamily="2" charset="-78"/>
                <a:ea typeface="Amiri" pitchFamily="2" charset="-78"/>
                <a:cs typeface="Amiri" pitchFamily="2" charset="-78"/>
              </a:rPr>
              <a:t>قَبْلَ أَنْ أَنَامَ ، ___ .</a:t>
            </a:r>
            <a:endParaRPr lang="ar-SA" sz="1600" dirty="0"/>
          </a:p>
        </p:txBody>
      </p:sp>
      <p:sp>
        <p:nvSpPr>
          <p:cNvPr id="60" name="Shape 57"/>
          <p:cNvSpPr/>
          <p:nvPr/>
        </p:nvSpPr>
        <p:spPr>
          <a:xfrm>
            <a:off x="457200" y="5248656"/>
            <a:ext cx="11274552" cy="1060704"/>
          </a:xfrm>
          <a:prstGeom prst="roundRect">
            <a:avLst>
              <a:gd name="adj" fmla="val 6897"/>
            </a:avLst>
          </a:prstGeom>
          <a:solidFill>
            <a:srgbClr val="EAF3EF"/>
          </a:solidFill>
          <a:ln w="9525">
            <a:solidFill>
              <a:srgbClr val="A8CDB9"/>
            </a:solidFill>
            <a:prstDash val="solid"/>
          </a:ln>
          <a:effectLst>
            <a:outerShdw sx="100000" sy="100000" kx="0" ky="0" algn="bl" rotWithShape="0" blurRad="50800" dist="19050" dir="5400000">
              <a:srgbClr val="000000">
                <a:alpha val="10000"/>
              </a:srgbClr>
            </a:outerShdw>
          </a:effectLst>
        </p:spPr>
      </p:sp>
      <p:sp>
        <p:nvSpPr>
          <p:cNvPr id="61" name="Text 58"/>
          <p:cNvSpPr txBox="1"/>
          <p:nvPr/>
        </p:nvSpPr>
        <p:spPr>
          <a:xfrm>
            <a:off x="640080" y="5285232"/>
            <a:ext cx="2011680" cy="256032"/>
          </a:xfrm>
          <a:prstGeom prst="rect">
            <a:avLst/>
          </a:prstGeom>
          <a:noFill/>
          <a:ln/>
        </p:spPr>
        <p:txBody>
          <a:bodyPr wrap="square" lIns="0" tIns="0" rIns="0" bIns="0" rtlCol="0" anchor="ctr"/>
          <a:lstStyle/>
          <a:p>
            <a:pPr algn="l" indent="0" marL="0">
              <a:buNone/>
            </a:pPr>
            <a:r>
              <a:rPr lang="en-US" sz="950" b="1" spc="100" kern="0" dirty="0">
                <a:solidFill>
                  <a:srgbClr val="1E6B52"/>
                </a:solidFill>
                <a:latin typeface="Calibri" pitchFamily="34" charset="0"/>
                <a:cs typeface="Amiri" pitchFamily="2" charset="-78"/>
              </a:rPr>
              <a:t>MODEL (WEBSITE)</a:t>
            </a:r>
            <a:endParaRPr lang="en-US" sz="950" dirty="0"/>
          </a:p>
        </p:txBody>
      </p:sp>
      <p:sp>
        <p:nvSpPr>
          <p:cNvPr id="62" name="Shape 59"/>
          <p:cNvSpPr/>
          <p:nvPr/>
        </p:nvSpPr>
        <p:spPr>
          <a:xfrm>
            <a:off x="11274552" y="5559552"/>
            <a:ext cx="292608" cy="292608"/>
          </a:xfrm>
          <a:prstGeom prst="ellipse">
            <a:avLst/>
          </a:prstGeom>
          <a:solidFill>
            <a:srgbClr val="1E6B52"/>
          </a:solidFill>
          <a:ln w="12700">
            <a:solidFill>
              <a:srgbClr val="1E6B52"/>
            </a:solidFill>
            <a:prstDash val="solid"/>
          </a:ln>
        </p:spPr>
      </p:sp>
      <p:sp>
        <p:nvSpPr>
          <p:cNvPr id="63" name="Text 60"/>
          <p:cNvSpPr txBox="1"/>
          <p:nvPr/>
        </p:nvSpPr>
        <p:spPr>
          <a:xfrm>
            <a:off x="11274552" y="5559552"/>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A</a:t>
            </a:r>
            <a:endParaRPr lang="en-US" sz="1000" dirty="0"/>
          </a:p>
        </p:txBody>
      </p:sp>
      <p:sp>
        <p:nvSpPr>
          <p:cNvPr id="64" name="Text 61"/>
          <p:cNvSpPr txBox="1"/>
          <p:nvPr/>
        </p:nvSpPr>
        <p:spPr>
          <a:xfrm>
            <a:off x="2834640" y="5522976"/>
            <a:ext cx="8348472" cy="365760"/>
          </a:xfrm>
          <a:prstGeom prst="rect">
            <a:avLst/>
          </a:prstGeom>
          <a:noFill/>
          <a:ln/>
        </p:spPr>
        <p:txBody>
          <a:bodyPr wrap="square" lIns="0" tIns="0" rIns="0" bIns="0" rtlCol="0" anchor="ctr"/>
          <a:lstStyle/>
          <a:p>
            <a:pPr rtl="1" algn="r" indent="0" marL="0">
              <a:buNone/>
            </a:pPr>
            <a:r>
              <a:rPr lang="ar-SA" altLang="en-US" sz="1550" dirty="0">
                <a:solidFill>
                  <a:srgbClr val="1F2A37"/>
                </a:solidFill>
                <a:latin typeface="Amiri" pitchFamily="2" charset="-78"/>
                <a:ea typeface="Amiri" pitchFamily="2" charset="-78"/>
                <a:cs typeface="Amiri" pitchFamily="2" charset="-78"/>
              </a:rPr>
              <a:t>مَاذَا تَفْعَلُ قَبْلَ أَنْ تَنَامَ؟</a:t>
            </a:r>
            <a:endParaRPr lang="ar-SA" sz="1550" dirty="0"/>
          </a:p>
        </p:txBody>
      </p:sp>
      <p:sp>
        <p:nvSpPr>
          <p:cNvPr id="65" name="Text 62"/>
          <p:cNvSpPr txBox="1"/>
          <p:nvPr/>
        </p:nvSpPr>
        <p:spPr>
          <a:xfrm>
            <a:off x="640080" y="5522976"/>
            <a:ext cx="2148840" cy="365760"/>
          </a:xfrm>
          <a:prstGeom prst="rect">
            <a:avLst/>
          </a:prstGeom>
          <a:noFill/>
          <a:ln/>
        </p:spPr>
        <p:txBody>
          <a:bodyPr wrap="square" lIns="0" tIns="0" rIns="0" bIns="0" rtlCol="0" anchor="ctr"/>
          <a:lstStyle/>
          <a:p>
            <a:pPr algn="l" indent="0" marL="0">
              <a:buNone/>
            </a:pPr>
            <a:r>
              <a:rPr lang="en-US" sz="950" i="1" dirty="0">
                <a:solidFill>
                  <a:srgbClr val="5A6472"/>
                </a:solidFill>
                <a:latin typeface="Calibri" pitchFamily="34" charset="0"/>
                <a:cs typeface="Amiri" pitchFamily="2" charset="-78"/>
              </a:rPr>
              <a:t>What do you do before sleeping?</a:t>
            </a:r>
            <a:endParaRPr lang="en-US" sz="950" dirty="0"/>
          </a:p>
        </p:txBody>
      </p:sp>
      <p:sp>
        <p:nvSpPr>
          <p:cNvPr id="66" name="Shape 63"/>
          <p:cNvSpPr/>
          <p:nvPr/>
        </p:nvSpPr>
        <p:spPr>
          <a:xfrm>
            <a:off x="11274552" y="5925312"/>
            <a:ext cx="292608" cy="292608"/>
          </a:xfrm>
          <a:prstGeom prst="ellipse">
            <a:avLst/>
          </a:prstGeom>
          <a:solidFill>
            <a:srgbClr val="1E6B52"/>
          </a:solidFill>
          <a:ln w="12700">
            <a:solidFill>
              <a:srgbClr val="1E6B52"/>
            </a:solidFill>
            <a:prstDash val="solid"/>
          </a:ln>
        </p:spPr>
      </p:sp>
      <p:sp>
        <p:nvSpPr>
          <p:cNvPr id="67" name="Text 64"/>
          <p:cNvSpPr txBox="1"/>
          <p:nvPr/>
        </p:nvSpPr>
        <p:spPr>
          <a:xfrm>
            <a:off x="11274552" y="5925312"/>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B</a:t>
            </a:r>
            <a:endParaRPr lang="en-US" sz="1000" dirty="0"/>
          </a:p>
        </p:txBody>
      </p:sp>
      <p:sp>
        <p:nvSpPr>
          <p:cNvPr id="68" name="Text 65"/>
          <p:cNvSpPr txBox="1"/>
          <p:nvPr/>
        </p:nvSpPr>
        <p:spPr>
          <a:xfrm>
            <a:off x="2834640" y="5888736"/>
            <a:ext cx="8348472" cy="365760"/>
          </a:xfrm>
          <a:prstGeom prst="rect">
            <a:avLst/>
          </a:prstGeom>
          <a:noFill/>
          <a:ln/>
        </p:spPr>
        <p:txBody>
          <a:bodyPr wrap="square" lIns="0" tIns="0" rIns="0" bIns="0" rtlCol="0" anchor="ctr"/>
          <a:lstStyle/>
          <a:p>
            <a:pPr rtl="1" algn="r" indent="0" marL="0">
              <a:buNone/>
            </a:pPr>
            <a:r>
              <a:rPr lang="ar-SA" altLang="en-US" sz="1550" dirty="0">
                <a:solidFill>
                  <a:srgbClr val="1F2A37"/>
                </a:solidFill>
                <a:latin typeface="Amiri" pitchFamily="2" charset="-78"/>
                <a:ea typeface="Amiri" pitchFamily="2" charset="-78"/>
                <a:cs typeface="Amiri" pitchFamily="2" charset="-78"/>
              </a:rPr>
              <a:t>قَبْلَ أَنْ أَنَامَ، أُحَضِّرُ حَقِيبَتِي وَأَقْرَأُ قَلِيلًا. أَفْعَلُ ذٰلِكَ لِأَنَّنِي أُرِيدُ أَنْ أَسْتَيْقِظَ هَادِئًا.</a:t>
            </a:r>
            <a:endParaRPr lang="ar-SA" sz="1550" dirty="0"/>
          </a:p>
        </p:txBody>
      </p:sp>
      <p:sp>
        <p:nvSpPr>
          <p:cNvPr id="69" name="Text 66"/>
          <p:cNvSpPr txBox="1"/>
          <p:nvPr/>
        </p:nvSpPr>
        <p:spPr>
          <a:xfrm>
            <a:off x="640080" y="5888736"/>
            <a:ext cx="2148840" cy="365760"/>
          </a:xfrm>
          <a:prstGeom prst="rect">
            <a:avLst/>
          </a:prstGeom>
          <a:noFill/>
          <a:ln/>
        </p:spPr>
        <p:txBody>
          <a:bodyPr wrap="square" lIns="0" tIns="0" rIns="0" bIns="0" rtlCol="0" anchor="ctr"/>
          <a:lstStyle/>
          <a:p>
            <a:pPr algn="l" indent="0" marL="0">
              <a:buNone/>
            </a:pPr>
            <a:r>
              <a:rPr lang="en-US" sz="750" i="1" dirty="0">
                <a:solidFill>
                  <a:srgbClr val="5A6472"/>
                </a:solidFill>
                <a:latin typeface="Calibri" pitchFamily="34" charset="0"/>
                <a:cs typeface="Amiri" pitchFamily="2" charset="-78"/>
              </a:rPr>
              <a:t>Before I sleep, I prepare my bag and read a little. I do that because I want to wake up calm.</a:t>
            </a:r>
            <a:endParaRPr lang="en-US" sz="750" dirty="0"/>
          </a:p>
        </p:txBody>
      </p:sp>
      <p:sp>
        <p:nvSpPr>
          <p:cNvPr id="70" name="Text 6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32 / 46</a:t>
            </a:r>
            <a:endParaRPr lang="en-US" sz="85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D1-L04 · Before and After</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9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INDEPENDENT PRACTICE · 9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Write: choose your route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اُكْتُبْ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D1 · Daily Routine and Time · D1-L04</a:t>
            </a:r>
            <a:endParaRPr lang="en-US" sz="850" dirty="0"/>
          </a:p>
        </p:txBody>
      </p:sp>
      <p:sp>
        <p:nvSpPr>
          <p:cNvPr id="15" name="Shape 12"/>
          <p:cNvSpPr/>
          <p:nvPr/>
        </p:nvSpPr>
        <p:spPr>
          <a:xfrm>
            <a:off x="457200" y="1810512"/>
            <a:ext cx="3639312" cy="4315968"/>
          </a:xfrm>
          <a:prstGeom prst="roundRect">
            <a:avLst>
              <a:gd name="adj" fmla="val 2010"/>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1188720" cy="310896"/>
          </a:xfrm>
          <a:prstGeom prst="roundRect">
            <a:avLst>
              <a:gd name="adj" fmla="val 50000"/>
            </a:avLst>
          </a:prstGeom>
          <a:solidFill>
            <a:srgbClr val="2E8B57"/>
          </a:solidFill>
          <a:ln w="12700">
            <a:solidFill>
              <a:srgbClr val="2E8B57"/>
            </a:solidFill>
            <a:prstDash val="solid"/>
          </a:ln>
        </p:spPr>
      </p:sp>
      <p:sp>
        <p:nvSpPr>
          <p:cNvPr id="17" name="Text 14"/>
          <p:cNvSpPr txBox="1"/>
          <p:nvPr/>
        </p:nvSpPr>
        <p:spPr>
          <a:xfrm>
            <a:off x="640080" y="1938528"/>
            <a:ext cx="118872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CORE</a:t>
            </a:r>
            <a:endParaRPr lang="en-US" sz="1000" dirty="0"/>
          </a:p>
        </p:txBody>
      </p:sp>
      <p:sp>
        <p:nvSpPr>
          <p:cNvPr id="18" name="Text 15"/>
          <p:cNvSpPr txBox="1"/>
          <p:nvPr/>
        </p:nvSpPr>
        <p:spPr>
          <a:xfrm>
            <a:off x="2450592" y="1883664"/>
            <a:ext cx="1463040" cy="420624"/>
          </a:xfrm>
          <a:prstGeom prst="rect">
            <a:avLst/>
          </a:prstGeom>
          <a:noFill/>
          <a:ln/>
        </p:spPr>
        <p:txBody>
          <a:bodyPr wrap="square" lIns="0" tIns="0" rIns="0" bIns="0" rtlCol="0" anchor="ctr"/>
          <a:lstStyle/>
          <a:p>
            <a:pPr rtl="1" algn="r" indent="0" marL="0">
              <a:buNone/>
            </a:pPr>
            <a:r>
              <a:rPr lang="ar-SA" altLang="en-US" sz="1800" b="1" dirty="0">
                <a:solidFill>
                  <a:srgbClr val="2E8B57"/>
                </a:solidFill>
                <a:latin typeface="Amiri" pitchFamily="2" charset="-78"/>
                <a:ea typeface="Amiri" pitchFamily="2" charset="-78"/>
                <a:cs typeface="Amiri" pitchFamily="2" charset="-78"/>
              </a:rPr>
              <a:t>الأَسَاسُ</a:t>
            </a:r>
            <a:endParaRPr lang="ar-SA" sz="1800" dirty="0"/>
          </a:p>
        </p:txBody>
      </p:sp>
      <p:sp>
        <p:nvSpPr>
          <p:cNvPr id="19" name="Text 16"/>
          <p:cNvSpPr txBox="1"/>
          <p:nvPr/>
        </p:nvSpPr>
        <p:spPr>
          <a:xfrm>
            <a:off x="640080" y="2377440"/>
            <a:ext cx="3273552" cy="457200"/>
          </a:xfrm>
          <a:prstGeom prst="rect">
            <a:avLst/>
          </a:prstGeom>
          <a:noFill/>
          <a:ln/>
        </p:spPr>
        <p:txBody>
          <a:bodyPr wrap="square" lIns="0" tIns="0" rIns="0" bIns="0" rtlCol="0" anchor="ctr"/>
          <a:lstStyle/>
          <a:p>
            <a:pPr algn="l" indent="0" marL="0">
              <a:buNone/>
            </a:pPr>
            <a:r>
              <a:rPr lang="en-US" sz="2200" b="1" dirty="0">
                <a:solidFill>
                  <a:srgbClr val="2E8B57"/>
                </a:solidFill>
                <a:latin typeface="Cambria" pitchFamily="34" charset="0"/>
                <a:cs typeface="Amiri" pitchFamily="2" charset="-78"/>
              </a:rPr>
              <a:t>5 sentences</a:t>
            </a:r>
            <a:endParaRPr lang="en-US" sz="2200" dirty="0"/>
          </a:p>
        </p:txBody>
      </p:sp>
      <p:sp>
        <p:nvSpPr>
          <p:cNvPr id="20" name="Text 17"/>
          <p:cNvSpPr txBox="1"/>
          <p:nvPr/>
        </p:nvSpPr>
        <p:spPr>
          <a:xfrm>
            <a:off x="640080" y="2880360"/>
            <a:ext cx="3273552" cy="1188720"/>
          </a:xfrm>
          <a:prstGeom prst="rect">
            <a:avLst/>
          </a:prstGeom>
          <a:noFill/>
          <a:ln/>
        </p:spPr>
        <p:txBody>
          <a:bodyPr wrap="square" lIns="0" tIns="0" rIns="0" bIns="0" rtlCol="0" anchor="ctr"/>
          <a:lstStyle/>
          <a:p>
            <a:pPr algn="l" indent="0" marL="0">
              <a:buNone/>
            </a:pPr>
            <a:r>
              <a:rPr lang="en-US" sz="1400" b="1" dirty="0">
                <a:solidFill>
                  <a:srgbClr val="1F2A37"/>
                </a:solidFill>
                <a:latin typeface="Calibri" pitchFamily="34" charset="0"/>
                <a:cs typeface="Amiri" pitchFamily="2" charset="-78"/>
              </a:rPr>
              <a:t>Use noun structures such as </a:t>
            </a:r>
            <a:pPr algn="l" indent="0" marL="0">
              <a:buNone/>
            </a:pPr>
            <a:r>
              <a:rPr lang="ar-SA" altLang="en-US" sz="1800" b="1" dirty="0">
                <a:solidFill>
                  <a:srgbClr val="1F2A37"/>
                </a:solidFill>
                <a:latin typeface="Amiri" pitchFamily="2" charset="-78"/>
                <a:ea typeface="Amiri" pitchFamily="2" charset="-78"/>
                <a:cs typeface="Amiri" pitchFamily="2" charset="-78"/>
              </a:rPr>
              <a:t>بَعْدَ المَدْرَسَةِ</a:t>
            </a:r>
            <a:pPr algn="l" indent="0" marL="0">
              <a:buNone/>
            </a:pPr>
            <a:r>
              <a:rPr lang="en-US" sz="1400" b="1" dirty="0">
                <a:solidFill>
                  <a:srgbClr val="1F2A37"/>
                </a:solidFill>
                <a:latin typeface="Calibri" pitchFamily="34" charset="0"/>
                <a:cs typeface="Amiri" pitchFamily="2" charset="-78"/>
              </a:rPr>
              <a:t> and one verb structure.</a:t>
            </a:r>
            <a:endParaRPr lang="en-US" sz="1400" dirty="0"/>
          </a:p>
        </p:txBody>
      </p:sp>
      <p:sp>
        <p:nvSpPr>
          <p:cNvPr id="21" name="Shape 18"/>
          <p:cNvSpPr/>
          <p:nvPr/>
        </p:nvSpPr>
        <p:spPr>
          <a:xfrm>
            <a:off x="640080" y="4160520"/>
            <a:ext cx="3273552" cy="1783080"/>
          </a:xfrm>
          <a:prstGeom prst="roundRect">
            <a:avLst>
              <a:gd name="adj" fmla="val 4103"/>
            </a:avLst>
          </a:prstGeom>
          <a:solidFill>
            <a:srgbClr val="FFFFFF"/>
          </a:solidFill>
          <a:ln w="9525">
            <a:solidFill>
              <a:srgbClr val="FFFFFF"/>
            </a:solidFill>
            <a:prstDash val="solid"/>
          </a:ln>
        </p:spPr>
      </p:sp>
      <p:sp>
        <p:nvSpPr>
          <p:cNvPr id="22" name="Text 19"/>
          <p:cNvSpPr txBox="1"/>
          <p:nvPr/>
        </p:nvSpPr>
        <p:spPr>
          <a:xfrm>
            <a:off x="731520" y="4224528"/>
            <a:ext cx="3090672" cy="1645920"/>
          </a:xfrm>
          <a:prstGeom prst="rect">
            <a:avLst/>
          </a:prstGeom>
          <a:noFill/>
          <a:ln/>
        </p:spPr>
        <p:txBody>
          <a:bodyPr wrap="square" lIns="0" tIns="0" rIns="0" bIns="0" rtlCol="0" anchor="t"/>
          <a:lstStyle/>
          <a:p>
            <a:pPr indent="0" marL="0">
              <a:buNone/>
            </a:pPr>
            <a:r>
              <a:rPr lang="en-US" sz="900" b="1" spc="200" kern="0" dirty="0">
                <a:solidFill>
                  <a:srgbClr val="2E8B57"/>
                </a:solidFill>
                <a:latin typeface="Calibri" pitchFamily="34" charset="0"/>
                <a:cs typeface="Amiri" pitchFamily="2" charset="-78"/>
              </a:rPr>
              <a:t>HOW</a:t>
            </a:r>
            <a:endParaRPr lang="en-US" sz="900" dirty="0"/>
          </a:p>
          <a:p>
            <a:pPr indent="0" marL="0">
              <a:buNone/>
            </a:pPr>
            <a:r>
              <a:rPr lang="en-US" sz="1150" dirty="0">
                <a:solidFill>
                  <a:srgbClr val="1F2A37"/>
                </a:solidFill>
                <a:latin typeface="Calibri" pitchFamily="34" charset="0"/>
                <a:cs typeface="Amiri" pitchFamily="2" charset="-78"/>
              </a:rPr>
              <a:t>Five actions in order: after school, then, after that, before sleep, in the end. Use the Core frames.</a:t>
            </a:r>
            <a:endParaRPr lang="en-US" sz="900" dirty="0"/>
          </a:p>
        </p:txBody>
      </p:sp>
      <p:sp>
        <p:nvSpPr>
          <p:cNvPr id="23" name="Shape 20"/>
          <p:cNvSpPr/>
          <p:nvPr/>
        </p:nvSpPr>
        <p:spPr>
          <a:xfrm>
            <a:off x="4279392" y="1810512"/>
            <a:ext cx="3639312" cy="4315968"/>
          </a:xfrm>
          <a:prstGeom prst="roundRect">
            <a:avLst>
              <a:gd name="adj" fmla="val 2010"/>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4462272" y="1938528"/>
            <a:ext cx="1188720" cy="310896"/>
          </a:xfrm>
          <a:prstGeom prst="roundRect">
            <a:avLst>
              <a:gd name="adj" fmla="val 50000"/>
            </a:avLst>
          </a:prstGeom>
          <a:solidFill>
            <a:srgbClr val="C9780A"/>
          </a:solidFill>
          <a:ln w="12700">
            <a:solidFill>
              <a:srgbClr val="C9780A"/>
            </a:solidFill>
            <a:prstDash val="solid"/>
          </a:ln>
        </p:spPr>
      </p:sp>
      <p:sp>
        <p:nvSpPr>
          <p:cNvPr id="25" name="Text 22"/>
          <p:cNvSpPr txBox="1"/>
          <p:nvPr/>
        </p:nvSpPr>
        <p:spPr>
          <a:xfrm>
            <a:off x="4462272" y="1938528"/>
            <a:ext cx="118872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DEVELOP</a:t>
            </a:r>
            <a:endParaRPr lang="en-US" sz="1000" dirty="0"/>
          </a:p>
        </p:txBody>
      </p:sp>
      <p:sp>
        <p:nvSpPr>
          <p:cNvPr id="26" name="Text 23"/>
          <p:cNvSpPr txBox="1"/>
          <p:nvPr/>
        </p:nvSpPr>
        <p:spPr>
          <a:xfrm>
            <a:off x="6272784" y="1883664"/>
            <a:ext cx="1463040" cy="420624"/>
          </a:xfrm>
          <a:prstGeom prst="rect">
            <a:avLst/>
          </a:prstGeom>
          <a:noFill/>
          <a:ln/>
        </p:spPr>
        <p:txBody>
          <a:bodyPr wrap="square" lIns="0" tIns="0" rIns="0" bIns="0" rtlCol="0" anchor="ctr"/>
          <a:lstStyle/>
          <a:p>
            <a:pPr rtl="1" algn="r" indent="0" marL="0">
              <a:buNone/>
            </a:pPr>
            <a:r>
              <a:rPr lang="ar-SA" altLang="en-US" sz="1800" b="1" dirty="0">
                <a:solidFill>
                  <a:srgbClr val="C9780A"/>
                </a:solidFill>
                <a:latin typeface="Amiri" pitchFamily="2" charset="-78"/>
                <a:ea typeface="Amiri" pitchFamily="2" charset="-78"/>
                <a:cs typeface="Amiri" pitchFamily="2" charset="-78"/>
              </a:rPr>
              <a:t>التَّطْوِيرُ</a:t>
            </a:r>
            <a:endParaRPr lang="ar-SA" sz="1800" dirty="0"/>
          </a:p>
        </p:txBody>
      </p:sp>
      <p:sp>
        <p:nvSpPr>
          <p:cNvPr id="27" name="Text 24"/>
          <p:cNvSpPr txBox="1"/>
          <p:nvPr/>
        </p:nvSpPr>
        <p:spPr>
          <a:xfrm>
            <a:off x="4462272" y="2377440"/>
            <a:ext cx="3273552" cy="457200"/>
          </a:xfrm>
          <a:prstGeom prst="rect">
            <a:avLst/>
          </a:prstGeom>
          <a:noFill/>
          <a:ln/>
        </p:spPr>
        <p:txBody>
          <a:bodyPr wrap="square" lIns="0" tIns="0" rIns="0" bIns="0" rtlCol="0" anchor="ctr"/>
          <a:lstStyle/>
          <a:p>
            <a:pPr algn="l" indent="0" marL="0">
              <a:buNone/>
            </a:pPr>
            <a:r>
              <a:rPr lang="en-US" sz="2200" b="1" dirty="0">
                <a:solidFill>
                  <a:srgbClr val="C9780A"/>
                </a:solidFill>
                <a:latin typeface="Cambria" pitchFamily="34" charset="0"/>
                <a:cs typeface="Amiri" pitchFamily="2" charset="-78"/>
              </a:rPr>
              <a:t>8 sentences</a:t>
            </a:r>
            <a:endParaRPr lang="en-US" sz="2200" dirty="0"/>
          </a:p>
        </p:txBody>
      </p:sp>
      <p:sp>
        <p:nvSpPr>
          <p:cNvPr id="28" name="Text 25"/>
          <p:cNvSpPr txBox="1"/>
          <p:nvPr/>
        </p:nvSpPr>
        <p:spPr>
          <a:xfrm>
            <a:off x="4462272" y="2880360"/>
            <a:ext cx="3273552" cy="1188720"/>
          </a:xfrm>
          <a:prstGeom prst="rect">
            <a:avLst/>
          </a:prstGeom>
          <a:noFill/>
          <a:ln/>
        </p:spPr>
        <p:txBody>
          <a:bodyPr wrap="square" lIns="0" tIns="0" rIns="0" bIns="0" rtlCol="0" anchor="ctr"/>
          <a:lstStyle/>
          <a:p>
            <a:pPr algn="l" indent="0" marL="0">
              <a:buNone/>
            </a:pPr>
            <a:r>
              <a:rPr lang="en-US" sz="1400" b="1" dirty="0">
                <a:solidFill>
                  <a:srgbClr val="1F2A37"/>
                </a:solidFill>
                <a:latin typeface="Calibri" pitchFamily="34" charset="0"/>
                <a:cs typeface="Amiri" pitchFamily="2" charset="-78"/>
              </a:rPr>
              <a:t>Control the singular subjunctive after </a:t>
            </a:r>
            <a:pPr algn="l" indent="0" marL="0">
              <a:buNone/>
            </a:pPr>
            <a:r>
              <a:rPr lang="ar-SA" altLang="en-US" sz="1800" b="1" dirty="0">
                <a:solidFill>
                  <a:srgbClr val="1F2A37"/>
                </a:solidFill>
                <a:latin typeface="Amiri" pitchFamily="2" charset="-78"/>
                <a:ea typeface="Amiri" pitchFamily="2" charset="-78"/>
                <a:cs typeface="Amiri" pitchFamily="2" charset="-78"/>
              </a:rPr>
              <a:t>أَنْ</a:t>
            </a:r>
            <a:pPr algn="l" indent="0" marL="0">
              <a:buNone/>
            </a:pPr>
            <a:r>
              <a:rPr lang="en-US" sz="1400" b="1" dirty="0">
                <a:solidFill>
                  <a:srgbClr val="1F2A37"/>
                </a:solidFill>
                <a:latin typeface="Calibri" pitchFamily="34" charset="0"/>
                <a:cs typeface="Amiri" pitchFamily="2" charset="-78"/>
              </a:rPr>
              <a:t> in a connected paragraph.</a:t>
            </a:r>
            <a:endParaRPr lang="en-US" sz="1400" dirty="0"/>
          </a:p>
        </p:txBody>
      </p:sp>
      <p:sp>
        <p:nvSpPr>
          <p:cNvPr id="29" name="Shape 26"/>
          <p:cNvSpPr/>
          <p:nvPr/>
        </p:nvSpPr>
        <p:spPr>
          <a:xfrm>
            <a:off x="4462272" y="4160520"/>
            <a:ext cx="3273552" cy="1783080"/>
          </a:xfrm>
          <a:prstGeom prst="roundRect">
            <a:avLst>
              <a:gd name="adj" fmla="val 4103"/>
            </a:avLst>
          </a:prstGeom>
          <a:solidFill>
            <a:srgbClr val="FFFFFF"/>
          </a:solidFill>
          <a:ln w="9525">
            <a:solidFill>
              <a:srgbClr val="FFFFFF"/>
            </a:solidFill>
            <a:prstDash val="solid"/>
          </a:ln>
        </p:spPr>
      </p:sp>
      <p:sp>
        <p:nvSpPr>
          <p:cNvPr id="30" name="Text 27"/>
          <p:cNvSpPr txBox="1"/>
          <p:nvPr/>
        </p:nvSpPr>
        <p:spPr>
          <a:xfrm>
            <a:off x="4553712" y="4224528"/>
            <a:ext cx="3090672" cy="1645920"/>
          </a:xfrm>
          <a:prstGeom prst="rect">
            <a:avLst/>
          </a:prstGeom>
          <a:noFill/>
          <a:ln/>
        </p:spPr>
        <p:txBody>
          <a:bodyPr wrap="square" lIns="0" tIns="0" rIns="0" bIns="0" rtlCol="0" anchor="t"/>
          <a:lstStyle/>
          <a:p>
            <a:pPr indent="0" marL="0">
              <a:buNone/>
            </a:pPr>
            <a:r>
              <a:rPr lang="en-US" sz="900" b="1" spc="200" kern="0" dirty="0">
                <a:solidFill>
                  <a:srgbClr val="C9780A"/>
                </a:solidFill>
                <a:latin typeface="Calibri" pitchFamily="34" charset="0"/>
                <a:cs typeface="Amiri" pitchFamily="2" charset="-78"/>
              </a:rPr>
              <a:t>HOW</a:t>
            </a:r>
            <a:endParaRPr lang="en-US" sz="900" dirty="0"/>
          </a:p>
          <a:p>
            <a:pPr indent="0" marL="0">
              <a:buNone/>
            </a:pPr>
            <a:r>
              <a:rPr lang="en-US" sz="1150" dirty="0">
                <a:solidFill>
                  <a:srgbClr val="1F2A37"/>
                </a:solidFill>
                <a:latin typeface="Calibri" pitchFamily="34" charset="0"/>
                <a:cs typeface="Amiri" pitchFamily="2" charset="-78"/>
              </a:rPr>
              <a:t>Afternoon and evening: two before/after + verb sentences (fatḥa ending!) and one “twice a week”.</a:t>
            </a:r>
            <a:endParaRPr lang="en-US" sz="900" dirty="0"/>
          </a:p>
        </p:txBody>
      </p:sp>
      <p:sp>
        <p:nvSpPr>
          <p:cNvPr id="31" name="Shape 28"/>
          <p:cNvSpPr/>
          <p:nvPr/>
        </p:nvSpPr>
        <p:spPr>
          <a:xfrm>
            <a:off x="8101584" y="1810512"/>
            <a:ext cx="3639312" cy="4315968"/>
          </a:xfrm>
          <a:prstGeom prst="roundRect">
            <a:avLst>
              <a:gd name="adj" fmla="val 2010"/>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8284464" y="1938528"/>
            <a:ext cx="1188720" cy="310896"/>
          </a:xfrm>
          <a:prstGeom prst="roundRect">
            <a:avLst>
              <a:gd name="adj" fmla="val 50000"/>
            </a:avLst>
          </a:prstGeom>
          <a:solidFill>
            <a:srgbClr val="B83227"/>
          </a:solidFill>
          <a:ln w="12700">
            <a:solidFill>
              <a:srgbClr val="B83227"/>
            </a:solidFill>
            <a:prstDash val="solid"/>
          </a:ln>
        </p:spPr>
      </p:sp>
      <p:sp>
        <p:nvSpPr>
          <p:cNvPr id="33" name="Text 30"/>
          <p:cNvSpPr txBox="1"/>
          <p:nvPr/>
        </p:nvSpPr>
        <p:spPr>
          <a:xfrm>
            <a:off x="8284464" y="1938528"/>
            <a:ext cx="118872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STRETCH</a:t>
            </a:r>
            <a:endParaRPr lang="en-US" sz="1000" dirty="0"/>
          </a:p>
        </p:txBody>
      </p:sp>
      <p:sp>
        <p:nvSpPr>
          <p:cNvPr id="34" name="Text 31"/>
          <p:cNvSpPr txBox="1"/>
          <p:nvPr/>
        </p:nvSpPr>
        <p:spPr>
          <a:xfrm>
            <a:off x="10094976" y="1883664"/>
            <a:ext cx="1463040" cy="420624"/>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التَّحَدِّي</a:t>
            </a:r>
            <a:endParaRPr lang="ar-SA" sz="1800" dirty="0"/>
          </a:p>
        </p:txBody>
      </p:sp>
      <p:sp>
        <p:nvSpPr>
          <p:cNvPr id="35" name="Text 32"/>
          <p:cNvSpPr txBox="1"/>
          <p:nvPr/>
        </p:nvSpPr>
        <p:spPr>
          <a:xfrm>
            <a:off x="8284464" y="2377440"/>
            <a:ext cx="3273552" cy="457200"/>
          </a:xfrm>
          <a:prstGeom prst="rect">
            <a:avLst/>
          </a:prstGeom>
          <a:noFill/>
          <a:ln/>
        </p:spPr>
        <p:txBody>
          <a:bodyPr wrap="square" lIns="0" tIns="0" rIns="0" bIns="0" rtlCol="0" anchor="ctr"/>
          <a:lstStyle/>
          <a:p>
            <a:pPr algn="l" indent="0" marL="0">
              <a:buNone/>
            </a:pPr>
            <a:r>
              <a:rPr lang="en-US" sz="2200" b="1" dirty="0">
                <a:solidFill>
                  <a:srgbClr val="B83227"/>
                </a:solidFill>
                <a:latin typeface="Cambria" pitchFamily="34" charset="0"/>
                <a:cs typeface="Amiri" pitchFamily="2" charset="-78"/>
              </a:rPr>
              <a:t>100–120 words</a:t>
            </a:r>
            <a:endParaRPr lang="en-US" sz="2200" dirty="0"/>
          </a:p>
        </p:txBody>
      </p:sp>
      <p:sp>
        <p:nvSpPr>
          <p:cNvPr id="36" name="Text 33"/>
          <p:cNvSpPr txBox="1"/>
          <p:nvPr/>
        </p:nvSpPr>
        <p:spPr>
          <a:xfrm>
            <a:off x="8284464" y="2880360"/>
            <a:ext cx="3273552" cy="1188720"/>
          </a:xfrm>
          <a:prstGeom prst="rect">
            <a:avLst/>
          </a:prstGeom>
          <a:noFill/>
          <a:ln/>
        </p:spPr>
        <p:txBody>
          <a:bodyPr wrap="square" lIns="0" tIns="0" rIns="0" bIns="0" rtlCol="0" anchor="ctr"/>
          <a:lstStyle/>
          <a:p>
            <a:pPr algn="l" indent="0" marL="0">
              <a:buNone/>
            </a:pPr>
            <a:r>
              <a:rPr lang="en-US" sz="1400" b="1" dirty="0">
                <a:solidFill>
                  <a:srgbClr val="1F2A37"/>
                </a:solidFill>
                <a:latin typeface="Calibri" pitchFamily="34" charset="0"/>
                <a:cs typeface="Amiri" pitchFamily="2" charset="-78"/>
              </a:rPr>
              <a:t>Use plural/feminine five-verb forms and explain the grammar choice.</a:t>
            </a:r>
            <a:endParaRPr lang="en-US" sz="1400" dirty="0"/>
          </a:p>
        </p:txBody>
      </p:sp>
      <p:sp>
        <p:nvSpPr>
          <p:cNvPr id="37" name="Shape 34"/>
          <p:cNvSpPr/>
          <p:nvPr/>
        </p:nvSpPr>
        <p:spPr>
          <a:xfrm>
            <a:off x="8284464" y="4160520"/>
            <a:ext cx="3273552" cy="1783080"/>
          </a:xfrm>
          <a:prstGeom prst="roundRect">
            <a:avLst>
              <a:gd name="adj" fmla="val 4103"/>
            </a:avLst>
          </a:prstGeom>
          <a:solidFill>
            <a:srgbClr val="FFFFFF"/>
          </a:solidFill>
          <a:ln w="9525">
            <a:solidFill>
              <a:srgbClr val="FFFFFF"/>
            </a:solidFill>
            <a:prstDash val="solid"/>
          </a:ln>
        </p:spPr>
      </p:sp>
      <p:sp>
        <p:nvSpPr>
          <p:cNvPr id="38" name="Text 35"/>
          <p:cNvSpPr txBox="1"/>
          <p:nvPr/>
        </p:nvSpPr>
        <p:spPr>
          <a:xfrm>
            <a:off x="8375904" y="4224528"/>
            <a:ext cx="3090672" cy="1645920"/>
          </a:xfrm>
          <a:prstGeom prst="rect">
            <a:avLst/>
          </a:prstGeom>
          <a:noFill/>
          <a:ln/>
        </p:spPr>
        <p:txBody>
          <a:bodyPr wrap="square" lIns="0" tIns="0" rIns="0" bIns="0" rtlCol="0" anchor="t"/>
          <a:lstStyle/>
          <a:p>
            <a:pPr indent="0" marL="0">
              <a:buNone/>
            </a:pPr>
            <a:r>
              <a:rPr lang="en-US" sz="900" b="1" spc="200" kern="0" dirty="0">
                <a:solidFill>
                  <a:srgbClr val="B83227"/>
                </a:solidFill>
                <a:latin typeface="Calibri" pitchFamily="34" charset="0"/>
                <a:cs typeface="Amiri" pitchFamily="2" charset="-78"/>
              </a:rPr>
              <a:t>HOW</a:t>
            </a:r>
            <a:endParaRPr lang="en-US" sz="900" dirty="0"/>
          </a:p>
          <a:p>
            <a:pPr indent="0" marL="0">
              <a:buNone/>
            </a:pPr>
            <a:r>
              <a:rPr lang="ar-SA" sz="1150" dirty="0">
                <a:solidFill>
                  <a:srgbClr val="1F2A37"/>
                </a:solidFill>
                <a:latin typeface="Calibri" pitchFamily="34" charset="0"/>
                <a:ea typeface="Amiri" pitchFamily="2" charset="-78"/>
                <a:cs typeface="Amiri" pitchFamily="2" charset="-78"/>
              </a:rPr>
              <a:t>Website task: waking to sleeping, one five-verb form without ن, a contrast and a judgement.</a:t>
            </a:r>
            <a:endParaRPr lang="en-US" sz="900" dirty="0"/>
          </a:p>
        </p:txBody>
      </p:sp>
      <p:sp>
        <p:nvSpPr>
          <p:cNvPr id="39" name="Text 3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33 / 46</a:t>
            </a:r>
            <a:endParaRPr lang="en-US" sz="85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D1-L04 · Before and After</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SUPPORT · CORE AND DEVELOP FRAMES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Sentence frames and word bank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قَوَالِبُ الجُمَلِ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D1 · Daily Routine and Time · D1-L04</a:t>
            </a:r>
            <a:endParaRPr lang="en-US" sz="850" dirty="0"/>
          </a:p>
        </p:txBody>
      </p:sp>
      <p:sp>
        <p:nvSpPr>
          <p:cNvPr id="15" name="Shape 12"/>
          <p:cNvSpPr/>
          <p:nvPr/>
        </p:nvSpPr>
        <p:spPr>
          <a:xfrm>
            <a:off x="457200" y="1810512"/>
            <a:ext cx="5541264" cy="3566160"/>
          </a:xfrm>
          <a:prstGeom prst="roundRect">
            <a:avLst>
              <a:gd name="adj" fmla="val 2051"/>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94360" y="1901952"/>
            <a:ext cx="1051560" cy="274320"/>
          </a:xfrm>
          <a:prstGeom prst="roundRect">
            <a:avLst>
              <a:gd name="adj" fmla="val 50000"/>
            </a:avLst>
          </a:prstGeom>
          <a:solidFill>
            <a:srgbClr val="C9780A"/>
          </a:solidFill>
          <a:ln w="12700">
            <a:solidFill>
              <a:srgbClr val="C9780A"/>
            </a:solidFill>
            <a:prstDash val="solid"/>
          </a:ln>
        </p:spPr>
      </p:sp>
      <p:sp>
        <p:nvSpPr>
          <p:cNvPr id="17" name="Text 14"/>
          <p:cNvSpPr txBox="1"/>
          <p:nvPr/>
        </p:nvSpPr>
        <p:spPr>
          <a:xfrm>
            <a:off x="594360"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18" name="Text 15"/>
          <p:cNvSpPr txBox="1"/>
          <p:nvPr/>
        </p:nvSpPr>
        <p:spPr>
          <a:xfrm>
            <a:off x="2468880" y="2249424"/>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بَعْدَ أَنْ أَعُودَ ، ______ .</a:t>
            </a:r>
            <a:endParaRPr lang="ar-SA" sz="1800" dirty="0"/>
          </a:p>
        </p:txBody>
      </p:sp>
      <p:sp>
        <p:nvSpPr>
          <p:cNvPr id="19" name="Text 16"/>
          <p:cNvSpPr txBox="1"/>
          <p:nvPr/>
        </p:nvSpPr>
        <p:spPr>
          <a:xfrm>
            <a:off x="594360"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After I return, I …</a:t>
            </a:r>
            <a:endParaRPr lang="en-US" sz="1050" dirty="0"/>
          </a:p>
        </p:txBody>
      </p:sp>
      <p:sp>
        <p:nvSpPr>
          <p:cNvPr id="20" name="Text 17"/>
          <p:cNvSpPr txBox="1"/>
          <p:nvPr/>
        </p:nvSpPr>
        <p:spPr>
          <a:xfrm>
            <a:off x="2468880" y="2816352"/>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______ قَبْلَ أَنْ أَسْتَعْمِلَ هَاتِفِي.</a:t>
            </a:r>
            <a:endParaRPr lang="ar-SA" sz="1800" dirty="0"/>
          </a:p>
        </p:txBody>
      </p:sp>
      <p:sp>
        <p:nvSpPr>
          <p:cNvPr id="21" name="Text 18"/>
          <p:cNvSpPr txBox="1"/>
          <p:nvPr/>
        </p:nvSpPr>
        <p:spPr>
          <a:xfrm>
            <a:off x="594360"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 … before I use my phone.</a:t>
            </a:r>
            <a:endParaRPr lang="en-US" sz="1050" dirty="0"/>
          </a:p>
        </p:txBody>
      </p:sp>
      <p:sp>
        <p:nvSpPr>
          <p:cNvPr id="22" name="Text 19"/>
          <p:cNvSpPr txBox="1"/>
          <p:nvPr/>
        </p:nvSpPr>
        <p:spPr>
          <a:xfrm>
            <a:off x="2468880" y="3383280"/>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بِمُجَرَّدِ أَنْ أَنْتَهِيَ ، ______ .</a:t>
            </a:r>
            <a:endParaRPr lang="ar-SA" sz="1800" dirty="0"/>
          </a:p>
        </p:txBody>
      </p:sp>
      <p:sp>
        <p:nvSpPr>
          <p:cNvPr id="23" name="Text 20"/>
          <p:cNvSpPr txBox="1"/>
          <p:nvPr/>
        </p:nvSpPr>
        <p:spPr>
          <a:xfrm>
            <a:off x="594360" y="3383280"/>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As soon as I finish, I …</a:t>
            </a:r>
            <a:endParaRPr lang="en-US" sz="1050" dirty="0"/>
          </a:p>
        </p:txBody>
      </p:sp>
      <p:sp>
        <p:nvSpPr>
          <p:cNvPr id="24" name="Text 21"/>
          <p:cNvSpPr txBox="1"/>
          <p:nvPr/>
        </p:nvSpPr>
        <p:spPr>
          <a:xfrm>
            <a:off x="2468880" y="3950208"/>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أَتَمَرَّنُ ______ فِي الأُسْبُوعِ.</a:t>
            </a:r>
            <a:endParaRPr lang="ar-SA" sz="1800" dirty="0"/>
          </a:p>
        </p:txBody>
      </p:sp>
      <p:sp>
        <p:nvSpPr>
          <p:cNvPr id="25" name="Text 22"/>
          <p:cNvSpPr txBox="1"/>
          <p:nvPr/>
        </p:nvSpPr>
        <p:spPr>
          <a:xfrm>
            <a:off x="594360" y="3950208"/>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 exercise … a week.</a:t>
            </a:r>
            <a:endParaRPr lang="en-US" sz="1050" dirty="0"/>
          </a:p>
        </p:txBody>
      </p:sp>
      <p:sp>
        <p:nvSpPr>
          <p:cNvPr id="26" name="Text 23"/>
          <p:cNvSpPr txBox="1"/>
          <p:nvPr/>
        </p:nvSpPr>
        <p:spPr>
          <a:xfrm>
            <a:off x="2468880" y="4517136"/>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قَبْلَ أَنْ نَذْهَبَ إِلَى النَّوْمِ ______ .</a:t>
            </a:r>
            <a:endParaRPr lang="ar-SA" sz="1800" dirty="0"/>
          </a:p>
        </p:txBody>
      </p:sp>
      <p:sp>
        <p:nvSpPr>
          <p:cNvPr id="27" name="Text 24"/>
          <p:cNvSpPr txBox="1"/>
          <p:nvPr/>
        </p:nvSpPr>
        <p:spPr>
          <a:xfrm>
            <a:off x="594360" y="4517136"/>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Before we go to sleep, we …</a:t>
            </a:r>
            <a:endParaRPr lang="en-US" sz="1050" dirty="0"/>
          </a:p>
        </p:txBody>
      </p:sp>
      <p:sp>
        <p:nvSpPr>
          <p:cNvPr id="28" name="Shape 25"/>
          <p:cNvSpPr/>
          <p:nvPr/>
        </p:nvSpPr>
        <p:spPr>
          <a:xfrm>
            <a:off x="6190488" y="1810512"/>
            <a:ext cx="5541264" cy="3566160"/>
          </a:xfrm>
          <a:prstGeom prst="roundRect">
            <a:avLst>
              <a:gd name="adj" fmla="val 2051"/>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10543032" y="1901952"/>
            <a:ext cx="1051560" cy="274320"/>
          </a:xfrm>
          <a:prstGeom prst="roundRect">
            <a:avLst>
              <a:gd name="adj" fmla="val 50000"/>
            </a:avLst>
          </a:prstGeom>
          <a:solidFill>
            <a:srgbClr val="2E8B57"/>
          </a:solidFill>
          <a:ln w="12700">
            <a:solidFill>
              <a:srgbClr val="2E8B57"/>
            </a:solidFill>
            <a:prstDash val="solid"/>
          </a:ln>
        </p:spPr>
      </p:sp>
      <p:sp>
        <p:nvSpPr>
          <p:cNvPr id="30" name="Text 27"/>
          <p:cNvSpPr txBox="1"/>
          <p:nvPr/>
        </p:nvSpPr>
        <p:spPr>
          <a:xfrm>
            <a:off x="10543032"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31" name="Text 28"/>
          <p:cNvSpPr txBox="1"/>
          <p:nvPr/>
        </p:nvSpPr>
        <p:spPr>
          <a:xfrm>
            <a:off x="8202168" y="2249424"/>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بَعْدَ المَدْرَسَةِ ______ .</a:t>
            </a:r>
            <a:endParaRPr lang="ar-SA" sz="1800" dirty="0"/>
          </a:p>
        </p:txBody>
      </p:sp>
      <p:sp>
        <p:nvSpPr>
          <p:cNvPr id="32" name="Text 29"/>
          <p:cNvSpPr txBox="1"/>
          <p:nvPr/>
        </p:nvSpPr>
        <p:spPr>
          <a:xfrm>
            <a:off x="6327648"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After school I …</a:t>
            </a:r>
            <a:endParaRPr lang="en-US" sz="1050" dirty="0"/>
          </a:p>
        </p:txBody>
      </p:sp>
      <p:sp>
        <p:nvSpPr>
          <p:cNvPr id="33" name="Text 30"/>
          <p:cNvSpPr txBox="1"/>
          <p:nvPr/>
        </p:nvSpPr>
        <p:spPr>
          <a:xfrm>
            <a:off x="8202168" y="2816352"/>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ثُمَّ ______ .</a:t>
            </a:r>
            <a:endParaRPr lang="ar-SA" sz="1800" dirty="0"/>
          </a:p>
        </p:txBody>
      </p:sp>
      <p:sp>
        <p:nvSpPr>
          <p:cNvPr id="34" name="Text 31"/>
          <p:cNvSpPr txBox="1"/>
          <p:nvPr/>
        </p:nvSpPr>
        <p:spPr>
          <a:xfrm>
            <a:off x="6327648"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Then I …</a:t>
            </a:r>
            <a:endParaRPr lang="en-US" sz="1050" dirty="0"/>
          </a:p>
        </p:txBody>
      </p:sp>
      <p:sp>
        <p:nvSpPr>
          <p:cNvPr id="35" name="Text 32"/>
          <p:cNvSpPr txBox="1"/>
          <p:nvPr/>
        </p:nvSpPr>
        <p:spPr>
          <a:xfrm>
            <a:off x="8202168" y="3383280"/>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بَعْدَ ذٰلِكَ ______ .</a:t>
            </a:r>
            <a:endParaRPr lang="ar-SA" sz="1800" dirty="0"/>
          </a:p>
        </p:txBody>
      </p:sp>
      <p:sp>
        <p:nvSpPr>
          <p:cNvPr id="36" name="Text 33"/>
          <p:cNvSpPr txBox="1"/>
          <p:nvPr/>
        </p:nvSpPr>
        <p:spPr>
          <a:xfrm>
            <a:off x="6327648" y="3383280"/>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After that I …</a:t>
            </a:r>
            <a:endParaRPr lang="en-US" sz="1050" dirty="0"/>
          </a:p>
        </p:txBody>
      </p:sp>
      <p:sp>
        <p:nvSpPr>
          <p:cNvPr id="37" name="Text 34"/>
          <p:cNvSpPr txBox="1"/>
          <p:nvPr/>
        </p:nvSpPr>
        <p:spPr>
          <a:xfrm>
            <a:off x="8202168" y="3950208"/>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قَبْلَ النَّوْمِ ______ .</a:t>
            </a:r>
            <a:endParaRPr lang="ar-SA" sz="1800" dirty="0"/>
          </a:p>
        </p:txBody>
      </p:sp>
      <p:sp>
        <p:nvSpPr>
          <p:cNvPr id="38" name="Text 35"/>
          <p:cNvSpPr txBox="1"/>
          <p:nvPr/>
        </p:nvSpPr>
        <p:spPr>
          <a:xfrm>
            <a:off x="6327648" y="3950208"/>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Before sleep I …</a:t>
            </a:r>
            <a:endParaRPr lang="en-US" sz="1050" dirty="0"/>
          </a:p>
        </p:txBody>
      </p:sp>
      <p:sp>
        <p:nvSpPr>
          <p:cNvPr id="39" name="Text 36"/>
          <p:cNvSpPr txBox="1"/>
          <p:nvPr/>
        </p:nvSpPr>
        <p:spPr>
          <a:xfrm>
            <a:off x="8202168" y="4517136"/>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فِي النِّهَايَةِ أَنَامُ فِي السَّاعَةِ ______ .</a:t>
            </a:r>
            <a:endParaRPr lang="ar-SA" sz="1800" dirty="0"/>
          </a:p>
        </p:txBody>
      </p:sp>
      <p:sp>
        <p:nvSpPr>
          <p:cNvPr id="40" name="Text 37"/>
          <p:cNvSpPr txBox="1"/>
          <p:nvPr/>
        </p:nvSpPr>
        <p:spPr>
          <a:xfrm>
            <a:off x="6327648" y="4517136"/>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In the end I sleep at …</a:t>
            </a:r>
            <a:endParaRPr lang="en-US" sz="1050" dirty="0"/>
          </a:p>
        </p:txBody>
      </p:sp>
      <p:sp>
        <p:nvSpPr>
          <p:cNvPr id="41" name="Shape 38"/>
          <p:cNvSpPr/>
          <p:nvPr/>
        </p:nvSpPr>
        <p:spPr>
          <a:xfrm>
            <a:off x="457200" y="5504688"/>
            <a:ext cx="11274552" cy="804672"/>
          </a:xfrm>
          <a:prstGeom prst="roundRect">
            <a:avLst>
              <a:gd name="adj" fmla="val 909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Text 39"/>
          <p:cNvSpPr txBox="1"/>
          <p:nvPr/>
        </p:nvSpPr>
        <p:spPr>
          <a:xfrm>
            <a:off x="640080" y="5541264"/>
            <a:ext cx="1828800" cy="237744"/>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WORD BANK</a:t>
            </a:r>
            <a:endParaRPr lang="en-US" sz="950" dirty="0"/>
          </a:p>
        </p:txBody>
      </p:sp>
      <p:sp>
        <p:nvSpPr>
          <p:cNvPr id="43" name="Text 40"/>
          <p:cNvSpPr txBox="1"/>
          <p:nvPr/>
        </p:nvSpPr>
        <p:spPr>
          <a:xfrm>
            <a:off x="640080" y="5760720"/>
            <a:ext cx="10908792" cy="512064"/>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قَبْلَ أَنْ  ·  بَعْدَ أَنْ  ·  عِنْدَمَا  ·  ثُمَّ  ·  بَعْدَ ذٰلِكَ  ·  فِي النِّهَايَةِ  ·  أَعُودَ  ·  أَنَامَ  ·  أَخْرُجَ  ·  أُكْمِلُ وَاجِبِي  ·  أَسْتَرِيحُ  ·  أُسَاعِدُ أُسْرَتِي  ·  مَرَّتَيْنِ  ·  أُحَضِّرُ حَقِيبَتِي</a:t>
            </a:r>
            <a:endParaRPr lang="ar-SA" sz="160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34 / 46</a:t>
            </a:r>
            <a:endParaRPr lang="en-US" sz="85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D1-L04 · Before and After</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STRETCH · THE WEBSITE WRITING TASK</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Stretch: the full writing task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مُهِمَّةُ التَّحَدِّي</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D1 · Daily Routine and Time · D1-L04</a:t>
            </a:r>
            <a:endParaRPr lang="en-US" sz="850" dirty="0"/>
          </a:p>
        </p:txBody>
      </p:sp>
      <p:sp>
        <p:nvSpPr>
          <p:cNvPr id="15" name="Shape 12"/>
          <p:cNvSpPr/>
          <p:nvPr/>
        </p:nvSpPr>
        <p:spPr>
          <a:xfrm>
            <a:off x="457200" y="1810512"/>
            <a:ext cx="5577840" cy="4498848"/>
          </a:xfrm>
          <a:prstGeom prst="roundRect">
            <a:avLst>
              <a:gd name="adj" fmla="val 1626"/>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1188720" cy="292608"/>
          </a:xfrm>
          <a:prstGeom prst="roundRect">
            <a:avLst>
              <a:gd name="adj" fmla="val 50000"/>
            </a:avLst>
          </a:prstGeom>
          <a:solidFill>
            <a:srgbClr val="B83227"/>
          </a:solidFill>
          <a:ln w="12700">
            <a:solidFill>
              <a:srgbClr val="B83227"/>
            </a:solidFill>
            <a:prstDash val="solid"/>
          </a:ln>
        </p:spPr>
      </p:sp>
      <p:sp>
        <p:nvSpPr>
          <p:cNvPr id="17" name="Text 14"/>
          <p:cNvSpPr txBox="1"/>
          <p:nvPr/>
        </p:nvSpPr>
        <p:spPr>
          <a:xfrm>
            <a:off x="640080" y="1938528"/>
            <a:ext cx="118872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STRETCH</a:t>
            </a:r>
            <a:endParaRPr lang="en-US" sz="950" dirty="0"/>
          </a:p>
        </p:txBody>
      </p:sp>
      <p:sp>
        <p:nvSpPr>
          <p:cNvPr id="18" name="Text 15"/>
          <p:cNvSpPr txBox="1"/>
          <p:nvPr/>
        </p:nvSpPr>
        <p:spPr>
          <a:xfrm>
            <a:off x="640080" y="2331720"/>
            <a:ext cx="5212080" cy="914400"/>
          </a:xfrm>
          <a:prstGeom prst="rect">
            <a:avLst/>
          </a:prstGeom>
          <a:noFill/>
          <a:ln/>
        </p:spPr>
        <p:txBody>
          <a:bodyPr wrap="square" lIns="0" tIns="0" rIns="0" bIns="0" rtlCol="0" anchor="ctr"/>
          <a:lstStyle/>
          <a:p>
            <a:pPr algn="l" indent="0" marL="0">
              <a:buNone/>
            </a:pPr>
            <a:r>
              <a:rPr lang="en-US" sz="1350" b="1" dirty="0">
                <a:solidFill>
                  <a:srgbClr val="1F2A37"/>
                </a:solidFill>
                <a:latin typeface="Calibri" pitchFamily="34" charset="0"/>
                <a:cs typeface="Amiri" pitchFamily="2" charset="-78"/>
              </a:rPr>
              <a:t>Write 100–120 words sequencing your school day from waking to sleeping. Use </a:t>
            </a:r>
            <a:pPr algn="l" indent="0" marL="0">
              <a:buNone/>
            </a:pPr>
            <a:r>
              <a:rPr lang="ar-SA" altLang="en-US" sz="1750" b="1" dirty="0">
                <a:solidFill>
                  <a:srgbClr val="1F2A37"/>
                </a:solidFill>
                <a:latin typeface="Amiri" pitchFamily="2" charset="-78"/>
                <a:ea typeface="Amiri" pitchFamily="2" charset="-78"/>
                <a:cs typeface="Amiri" pitchFamily="2" charset="-78"/>
              </a:rPr>
              <a:t>قَبْلَ أَنْ</a:t>
            </a:r>
            <a:pPr algn="l" indent="0" marL="0">
              <a:buNone/>
            </a:pPr>
            <a:r>
              <a:rPr lang="en-US" sz="1350" b="1" dirty="0">
                <a:solidFill>
                  <a:srgbClr val="1F2A37"/>
                </a:solidFill>
                <a:latin typeface="Calibri" pitchFamily="34" charset="0"/>
                <a:cs typeface="Amiri" pitchFamily="2" charset="-78"/>
              </a:rPr>
              <a:t> and </a:t>
            </a:r>
            <a:pPr algn="l" indent="0" marL="0">
              <a:buNone/>
            </a:pPr>
            <a:r>
              <a:rPr lang="ar-SA" altLang="en-US" sz="1750" b="1" dirty="0">
                <a:solidFill>
                  <a:srgbClr val="1F2A37"/>
                </a:solidFill>
                <a:latin typeface="Amiri" pitchFamily="2" charset="-78"/>
                <a:ea typeface="Amiri" pitchFamily="2" charset="-78"/>
                <a:cs typeface="Amiri" pitchFamily="2" charset="-78"/>
              </a:rPr>
              <a:t>بَعْدَ أَنْ</a:t>
            </a:r>
            <a:pPr algn="l" indent="0" marL="0">
              <a:buNone/>
            </a:pPr>
            <a:r>
              <a:rPr lang="en-US" sz="1350" b="1" dirty="0">
                <a:solidFill>
                  <a:srgbClr val="1F2A37"/>
                </a:solidFill>
                <a:latin typeface="Calibri" pitchFamily="34" charset="0"/>
                <a:cs typeface="Amiri" pitchFamily="2" charset="-78"/>
              </a:rPr>
              <a:t> accurately.</a:t>
            </a:r>
            <a:endParaRPr lang="en-US" sz="1350" dirty="0"/>
          </a:p>
        </p:txBody>
      </p:sp>
      <p:sp>
        <p:nvSpPr>
          <p:cNvPr id="19" name="Text 16"/>
          <p:cNvSpPr txBox="1"/>
          <p:nvPr/>
        </p:nvSpPr>
        <p:spPr>
          <a:xfrm>
            <a:off x="685800" y="3310128"/>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Use </a:t>
            </a:r>
            <a:pPr algn="l" indent="0" marL="0">
              <a:buNone/>
            </a:pPr>
            <a:r>
              <a:rPr lang="ar-SA" altLang="en-US" sz="1550" dirty="0">
                <a:solidFill>
                  <a:srgbClr val="1F2A37"/>
                </a:solidFill>
                <a:latin typeface="Amiri" pitchFamily="2" charset="-78"/>
                <a:ea typeface="Amiri" pitchFamily="2" charset="-78"/>
                <a:cs typeface="Amiri" pitchFamily="2" charset="-78"/>
              </a:rPr>
              <a:t>قَبْلَ أَنْ</a:t>
            </a:r>
            <a:pPr algn="l" indent="0" marL="0">
              <a:buNone/>
            </a:pPr>
            <a:r>
              <a:rPr lang="en-US" sz="1200" dirty="0">
                <a:solidFill>
                  <a:srgbClr val="1F2A37"/>
                </a:solidFill>
                <a:latin typeface="Calibri" pitchFamily="34" charset="0"/>
                <a:cs typeface="Amiri" pitchFamily="2" charset="-78"/>
              </a:rPr>
              <a:t> and </a:t>
            </a:r>
            <a:pPr algn="l" indent="0" marL="0">
              <a:buNone/>
            </a:pPr>
            <a:r>
              <a:rPr lang="ar-SA" altLang="en-US" sz="1550" dirty="0">
                <a:solidFill>
                  <a:srgbClr val="1F2A37"/>
                </a:solidFill>
                <a:latin typeface="Amiri" pitchFamily="2" charset="-78"/>
                <a:ea typeface="Amiri" pitchFamily="2" charset="-78"/>
                <a:cs typeface="Amiri" pitchFamily="2" charset="-78"/>
              </a:rPr>
              <a:t>بَعْدَ أَنْ</a:t>
            </a:r>
            <a:pPr algn="l" indent="0" marL="0">
              <a:buNone/>
            </a:pPr>
            <a:r>
              <a:rPr lang="en-US" sz="1200" dirty="0">
                <a:solidFill>
                  <a:srgbClr val="1F2A37"/>
                </a:solidFill>
                <a:latin typeface="Calibri" pitchFamily="34" charset="0"/>
                <a:cs typeface="Amiri" pitchFamily="2" charset="-78"/>
              </a:rPr>
              <a:t> at least twice.</a:t>
            </a:r>
            <a:endParaRPr lang="en-US" sz="1200" dirty="0"/>
          </a:p>
        </p:txBody>
      </p:sp>
      <p:sp>
        <p:nvSpPr>
          <p:cNvPr id="20" name="Text 17"/>
          <p:cNvSpPr txBox="1"/>
          <p:nvPr/>
        </p:nvSpPr>
        <p:spPr>
          <a:xfrm>
            <a:off x="685800" y="3840480"/>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Include one five-verb form with the final </a:t>
            </a:r>
            <a:pPr algn="l" indent="0" marL="0">
              <a:buNone/>
            </a:pPr>
            <a:r>
              <a:rPr lang="ar-SA" altLang="en-US" sz="1550" dirty="0">
                <a:solidFill>
                  <a:srgbClr val="1F2A37"/>
                </a:solidFill>
                <a:latin typeface="Amiri" pitchFamily="2" charset="-78"/>
                <a:ea typeface="Amiri" pitchFamily="2" charset="-78"/>
                <a:cs typeface="Amiri" pitchFamily="2" charset="-78"/>
              </a:rPr>
              <a:t>ن</a:t>
            </a:r>
            <a:pPr algn="l" indent="0" marL="0">
              <a:buNone/>
            </a:pPr>
            <a:r>
              <a:rPr lang="en-US" sz="1200" dirty="0">
                <a:solidFill>
                  <a:srgbClr val="1F2A37"/>
                </a:solidFill>
                <a:latin typeface="Calibri" pitchFamily="34" charset="0"/>
                <a:cs typeface="Amiri" pitchFamily="2" charset="-78"/>
              </a:rPr>
              <a:t> removed.</a:t>
            </a:r>
            <a:endParaRPr lang="en-US" sz="1200" dirty="0"/>
          </a:p>
        </p:txBody>
      </p:sp>
      <p:sp>
        <p:nvSpPr>
          <p:cNvPr id="21" name="Text 18"/>
          <p:cNvSpPr txBox="1"/>
          <p:nvPr/>
        </p:nvSpPr>
        <p:spPr>
          <a:xfrm>
            <a:off x="685800" y="4370832"/>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Add frequency and duration.</a:t>
            </a:r>
            <a:endParaRPr lang="en-US" sz="1200" dirty="0"/>
          </a:p>
        </p:txBody>
      </p:sp>
      <p:sp>
        <p:nvSpPr>
          <p:cNvPr id="22" name="Text 19"/>
          <p:cNvSpPr txBox="1"/>
          <p:nvPr/>
        </p:nvSpPr>
        <p:spPr>
          <a:xfrm>
            <a:off x="685800" y="4901184"/>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Use a contrast between two days or habits.</a:t>
            </a:r>
            <a:endParaRPr lang="en-US" sz="1200" dirty="0"/>
          </a:p>
        </p:txBody>
      </p:sp>
      <p:sp>
        <p:nvSpPr>
          <p:cNvPr id="23" name="Text 20"/>
          <p:cNvSpPr txBox="1"/>
          <p:nvPr/>
        </p:nvSpPr>
        <p:spPr>
          <a:xfrm>
            <a:off x="685800" y="5431536"/>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Give a reasoned judgement at the end.</a:t>
            </a:r>
            <a:endParaRPr lang="en-US" sz="1200" dirty="0"/>
          </a:p>
        </p:txBody>
      </p:sp>
      <p:sp>
        <p:nvSpPr>
          <p:cNvPr id="24" name="Shape 21"/>
          <p:cNvSpPr/>
          <p:nvPr/>
        </p:nvSpPr>
        <p:spPr>
          <a:xfrm>
            <a:off x="6217920" y="1810512"/>
            <a:ext cx="551383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5" name="Text 22"/>
          <p:cNvSpPr txBox="1"/>
          <p:nvPr/>
        </p:nvSpPr>
        <p:spPr>
          <a:xfrm>
            <a:off x="6400800" y="1901952"/>
            <a:ext cx="5120640" cy="274320"/>
          </a:xfrm>
          <a:prstGeom prst="rect">
            <a:avLst/>
          </a:prstGeom>
          <a:noFill/>
          <a:ln/>
        </p:spPr>
        <p:txBody>
          <a:bodyPr wrap="square" lIns="0" tIns="0" rIns="0" bIns="0" rtlCol="0" anchor="ctr"/>
          <a:lstStyle/>
          <a:p>
            <a:pPr algn="l" indent="0" marL="0">
              <a:buNone/>
            </a:pPr>
            <a:r>
              <a:rPr lang="en-US" sz="950" b="1" spc="100" kern="0" dirty="0">
                <a:solidFill>
                  <a:srgbClr val="8A6D1E"/>
                </a:solidFill>
                <a:latin typeface="Calibri" pitchFamily="34" charset="0"/>
                <a:cs typeface="Amiri" pitchFamily="2" charset="-78"/>
              </a:rPr>
              <a:t>PHRASE BANK — FROM THE WEBSITE TEXTS</a:t>
            </a:r>
            <a:endParaRPr lang="en-US" sz="950" dirty="0"/>
          </a:p>
        </p:txBody>
      </p:sp>
      <p:sp>
        <p:nvSpPr>
          <p:cNvPr id="26" name="Text 23"/>
          <p:cNvSpPr txBox="1"/>
          <p:nvPr/>
        </p:nvSpPr>
        <p:spPr>
          <a:xfrm>
            <a:off x="8412480" y="2231136"/>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قَبْلَ أَنْ نَذْهَبَ إِلَى النَّوْمِ</a:t>
            </a:r>
            <a:endParaRPr lang="ar-SA" sz="1800" dirty="0"/>
          </a:p>
        </p:txBody>
      </p:sp>
      <p:sp>
        <p:nvSpPr>
          <p:cNvPr id="27" name="Text 24"/>
          <p:cNvSpPr txBox="1"/>
          <p:nvPr/>
        </p:nvSpPr>
        <p:spPr>
          <a:xfrm>
            <a:off x="6400800" y="2560320"/>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before we go to sleep (</a:t>
            </a:r>
            <a:pPr algn="r" indent="0" marL="0">
              <a:buNone/>
            </a:pPr>
            <a:r>
              <a:rPr lang="ar-SA" altLang="en-US" sz="1350" dirty="0">
                <a:solidFill>
                  <a:srgbClr val="5A6472"/>
                </a:solidFill>
                <a:latin typeface="Amiri" pitchFamily="2" charset="-78"/>
                <a:ea typeface="Amiri" pitchFamily="2" charset="-78"/>
                <a:cs typeface="Amiri" pitchFamily="2" charset="-78"/>
              </a:rPr>
              <a:t>نَذْهَبَ</a:t>
            </a:r>
            <a:pPr algn="r" indent="0" marL="0">
              <a:buNone/>
            </a:pPr>
            <a:r>
              <a:rPr lang="en-US" sz="1050" i="1" dirty="0">
                <a:solidFill>
                  <a:srgbClr val="5A6472"/>
                </a:solidFill>
                <a:latin typeface="Calibri" pitchFamily="34" charset="0"/>
                <a:cs typeface="Amiri" pitchFamily="2" charset="-78"/>
              </a:rPr>
              <a:t>)</a:t>
            </a:r>
            <a:endParaRPr lang="en-US" sz="1050" dirty="0"/>
          </a:p>
        </p:txBody>
      </p:sp>
      <p:sp>
        <p:nvSpPr>
          <p:cNvPr id="28" name="Text 25"/>
          <p:cNvSpPr txBox="1"/>
          <p:nvPr/>
        </p:nvSpPr>
        <p:spPr>
          <a:xfrm>
            <a:off x="8412480" y="2889504"/>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بَعْدَ أَنْ تُكْمِلِي وَاجِبَكِ</a:t>
            </a:r>
            <a:endParaRPr lang="ar-SA" sz="1800" dirty="0"/>
          </a:p>
        </p:txBody>
      </p:sp>
      <p:sp>
        <p:nvSpPr>
          <p:cNvPr id="29" name="Text 26"/>
          <p:cNvSpPr txBox="1"/>
          <p:nvPr/>
        </p:nvSpPr>
        <p:spPr>
          <a:xfrm>
            <a:off x="6400800" y="3218688"/>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after you (f.) finish your homework — no </a:t>
            </a:r>
            <a:pPr algn="r" indent="0" marL="0">
              <a:buNone/>
            </a:pPr>
            <a:r>
              <a:rPr lang="ar-SA" altLang="en-US" sz="1350" dirty="0">
                <a:solidFill>
                  <a:srgbClr val="5A6472"/>
                </a:solidFill>
                <a:latin typeface="Amiri" pitchFamily="2" charset="-78"/>
                <a:ea typeface="Amiri" pitchFamily="2" charset="-78"/>
                <a:cs typeface="Amiri" pitchFamily="2" charset="-78"/>
              </a:rPr>
              <a:t>ن</a:t>
            </a:r>
            <a:endParaRPr lang="en-US" sz="1050" dirty="0"/>
          </a:p>
        </p:txBody>
      </p:sp>
      <p:sp>
        <p:nvSpPr>
          <p:cNvPr id="30" name="Text 27"/>
          <p:cNvSpPr txBox="1"/>
          <p:nvPr/>
        </p:nvSpPr>
        <p:spPr>
          <a:xfrm>
            <a:off x="8412480" y="3547872"/>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يَجْمَعُ بَيْنَ العَمَلِ وَالرَّاحَةِ</a:t>
            </a:r>
            <a:endParaRPr lang="ar-SA" sz="1800" dirty="0"/>
          </a:p>
        </p:txBody>
      </p:sp>
      <p:sp>
        <p:nvSpPr>
          <p:cNvPr id="31" name="Text 28"/>
          <p:cNvSpPr txBox="1"/>
          <p:nvPr/>
        </p:nvSpPr>
        <p:spPr>
          <a:xfrm>
            <a:off x="6400800" y="3877056"/>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it combines work and rest</a:t>
            </a:r>
            <a:endParaRPr lang="en-US" sz="1050" dirty="0"/>
          </a:p>
        </p:txBody>
      </p:sp>
      <p:sp>
        <p:nvSpPr>
          <p:cNvPr id="32" name="Text 29"/>
          <p:cNvSpPr txBox="1"/>
          <p:nvPr/>
        </p:nvSpPr>
        <p:spPr>
          <a:xfrm>
            <a:off x="8412480" y="4206240"/>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مِنَ الأَفْضَلِ أَنْ أُقَلِّلَ وَقْتَ الشَّاشَةِ</a:t>
            </a:r>
            <a:endParaRPr lang="ar-SA" sz="1800" dirty="0"/>
          </a:p>
        </p:txBody>
      </p:sp>
      <p:sp>
        <p:nvSpPr>
          <p:cNvPr id="33" name="Text 30"/>
          <p:cNvSpPr txBox="1"/>
          <p:nvPr/>
        </p:nvSpPr>
        <p:spPr>
          <a:xfrm>
            <a:off x="6400800" y="4535424"/>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it is better that I reduce screen time</a:t>
            </a:r>
            <a:endParaRPr lang="en-US" sz="1050" dirty="0"/>
          </a:p>
        </p:txBody>
      </p:sp>
      <p:sp>
        <p:nvSpPr>
          <p:cNvPr id="34" name="Text 31"/>
          <p:cNvSpPr txBox="1"/>
          <p:nvPr/>
        </p:nvSpPr>
        <p:spPr>
          <a:xfrm>
            <a:off x="8412480" y="4864608"/>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وَبِذٰلِكَ لَا أَضْطَرُّ إِلَى العَجَلَةِ</a:t>
            </a:r>
            <a:endParaRPr lang="ar-SA" sz="1800" dirty="0"/>
          </a:p>
        </p:txBody>
      </p:sp>
      <p:sp>
        <p:nvSpPr>
          <p:cNvPr id="35" name="Text 32"/>
          <p:cNvSpPr txBox="1"/>
          <p:nvPr/>
        </p:nvSpPr>
        <p:spPr>
          <a:xfrm>
            <a:off x="6400800" y="5193792"/>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so I do not have to rush</a:t>
            </a:r>
            <a:endParaRPr lang="en-US" sz="1050" dirty="0"/>
          </a:p>
        </p:txBody>
      </p:sp>
      <p:sp>
        <p:nvSpPr>
          <p:cNvPr id="36" name="Text 3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35 / 46</a:t>
            </a:r>
            <a:endParaRPr lang="en-US" sz="85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D1-L04 · Before and After</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FEEDBACK · COMPARE WITH THE MODEL</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What a strong answer looks like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نَمُوذَجُ الإِجَابَةِ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D1 · Daily Routine and Time · D1-L04</a:t>
            </a:r>
            <a:endParaRPr lang="en-US" sz="850" dirty="0"/>
          </a:p>
        </p:txBody>
      </p:sp>
      <p:sp>
        <p:nvSpPr>
          <p:cNvPr id="15" name="Shape 12"/>
          <p:cNvSpPr/>
          <p:nvPr/>
        </p:nvSpPr>
        <p:spPr>
          <a:xfrm>
            <a:off x="457200" y="1810512"/>
            <a:ext cx="11274552" cy="3246120"/>
          </a:xfrm>
          <a:prstGeom prst="roundRect">
            <a:avLst>
              <a:gd name="adj" fmla="val 225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38528"/>
            <a:ext cx="10817352" cy="2990088"/>
          </a:xfrm>
          <a:prstGeom prst="rect">
            <a:avLst/>
          </a:prstGeom>
          <a:noFill/>
          <a:ln/>
        </p:spPr>
        <p:txBody>
          <a:bodyPr wrap="square" lIns="0" tIns="0" rIns="0" bIns="0" rtlCol="0" anchor="ctr"/>
          <a:lstStyle/>
          <a:p>
            <a:pPr rtl="1" algn="r" indent="0" marL="0">
              <a:lnSpc>
                <a:spcPct val="120000"/>
              </a:lnSpc>
              <a:buNone/>
            </a:pPr>
            <a:r>
              <a:rPr lang="ar-SA" altLang="en-US" sz="2600" dirty="0">
                <a:solidFill>
                  <a:srgbClr val="1F2A37"/>
                </a:solidFill>
                <a:latin typeface="Amiri" pitchFamily="2" charset="-78"/>
                <a:ea typeface="Amiri" pitchFamily="2" charset="-78"/>
                <a:cs typeface="Amiri" pitchFamily="2" charset="-78"/>
              </a:rPr>
              <a:t>بَعْدَ أَنْ أَعُودَ مِنَ المَدْرَسَةِ، أَتَنَاوَلُ وَجْبَةً خَفِيفَةً وَأَسْتَرِيحُ نِصْفَ سَاعَةٍ. ثُمَّ أُكْمِلُ وَاجِبِي قَبْلَ أَنْ أَسْتَعْمِلَ هَاتِفِي. أَتَمَرَّنُ مَرَّتَيْنِ فِي الأُسْبُوعِ، بَيْنَمَا أَقْضِي يَوْمَ الجُمُعَةِ مَعَ أُسْرَتِي. بَعْدَ العَشَاءِ أُرَاجِعُ دُرُوسِي، وَقَبْلَ أَنْ نَذْهَبَ إِلَى النَّوْمِ نُحَضِّرُ أَشْيَاءَنَا لِلْيَوْمِ التَّالِي. فِي رَأْيِي، رُوتِينِي مُفِيدٌ لِأَنَّهُ يَجْمَعُ بَيْنَ العَمَلِ وَالرَّاحَةِ، وَلٰكِنَّ مِنَ الأَفْضَلِ أَنْ أُقَلِّلَ وَقْتَ الشَّاشَةِ.</a:t>
            </a:r>
            <a:endParaRPr lang="ar-SA" sz="2600" dirty="0"/>
          </a:p>
        </p:txBody>
      </p:sp>
      <p:sp>
        <p:nvSpPr>
          <p:cNvPr id="17" name="Shape 14"/>
          <p:cNvSpPr/>
          <p:nvPr/>
        </p:nvSpPr>
        <p:spPr>
          <a:xfrm>
            <a:off x="457200" y="5166360"/>
            <a:ext cx="11274552" cy="1024128"/>
          </a:xfrm>
          <a:prstGeom prst="roundRect">
            <a:avLst>
              <a:gd name="adj" fmla="val 7143"/>
            </a:avLst>
          </a:prstGeom>
          <a:solidFill>
            <a:srgbClr val="F4F1EA"/>
          </a:solidFill>
          <a:ln w="9525">
            <a:solidFill>
              <a:srgbClr val="F4F1EA"/>
            </a:solidFill>
            <a:prstDash val="solid"/>
          </a:ln>
        </p:spPr>
      </p:sp>
      <p:sp>
        <p:nvSpPr>
          <p:cNvPr id="18" name="Text 15"/>
          <p:cNvSpPr txBox="1"/>
          <p:nvPr/>
        </p:nvSpPr>
        <p:spPr>
          <a:xfrm>
            <a:off x="640080" y="5202936"/>
            <a:ext cx="10908792" cy="950976"/>
          </a:xfrm>
          <a:prstGeom prst="rect">
            <a:avLst/>
          </a:prstGeom>
          <a:noFill/>
          <a:ln/>
        </p:spPr>
        <p:txBody>
          <a:bodyPr wrap="square" lIns="0" tIns="0" rIns="0" bIns="0" rtlCol="0" anchor="t"/>
          <a:lstStyle/>
          <a:p>
            <a:pPr algn="l" indent="0" marL="0">
              <a:buNone/>
            </a:pPr>
            <a:r>
              <a:rPr lang="en-US" sz="1150" i="1" dirty="0">
                <a:solidFill>
                  <a:srgbClr val="5A6472"/>
                </a:solidFill>
                <a:latin typeface="Calibri" pitchFamily="34" charset="0"/>
                <a:cs typeface="Amiri" pitchFamily="2" charset="-78"/>
              </a:rPr>
              <a:t>After I return from school, I have a snack and rest for half an hour. Then I finish my homework before I use my phone. I exercise twice a week, whereas I spend Friday with my family. After dinner I revise my lessons, and before we go to sleep we prepare our things for the next day. In my opinion, my routine is useful because it combines work and rest, but it is better that I reduce screen time.</a:t>
            </a:r>
            <a:endParaRPr lang="en-US" sz="1150" dirty="0"/>
          </a:p>
        </p:txBody>
      </p:sp>
      <p:sp>
        <p:nvSpPr>
          <p:cNvPr id="19" name="Text 16"/>
          <p:cNvSpPr txBox="1"/>
          <p:nvPr/>
        </p:nvSpPr>
        <p:spPr>
          <a:xfrm>
            <a:off x="457200" y="6053328"/>
            <a:ext cx="219456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FIND IN THE MODEL:</a:t>
            </a:r>
            <a:endParaRPr lang="en-US" sz="950" dirty="0"/>
          </a:p>
        </p:txBody>
      </p:sp>
      <p:sp>
        <p:nvSpPr>
          <p:cNvPr id="20" name="Shape 17"/>
          <p:cNvSpPr/>
          <p:nvPr/>
        </p:nvSpPr>
        <p:spPr>
          <a:xfrm>
            <a:off x="2697480" y="6035040"/>
            <a:ext cx="2148840" cy="274320"/>
          </a:xfrm>
          <a:prstGeom prst="roundRect">
            <a:avLst>
              <a:gd name="adj" fmla="val 50000"/>
            </a:avLst>
          </a:prstGeom>
          <a:solidFill>
            <a:srgbClr val="1D5FBF"/>
          </a:solidFill>
          <a:ln w="12700">
            <a:solidFill>
              <a:srgbClr val="1D5FBF"/>
            </a:solidFill>
            <a:prstDash val="solid"/>
          </a:ln>
        </p:spPr>
      </p:sp>
      <p:sp>
        <p:nvSpPr>
          <p:cNvPr id="21" name="Text 18"/>
          <p:cNvSpPr txBox="1"/>
          <p:nvPr/>
        </p:nvSpPr>
        <p:spPr>
          <a:xfrm>
            <a:off x="2697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Calibri" pitchFamily="34" charset="0"/>
                <a:ea typeface="Amiri" pitchFamily="2" charset="-78"/>
                <a:cs typeface="Amiri" pitchFamily="2" charset="-78"/>
              </a:rPr>
              <a:t>three verbs with a changed ending after أَنْ</a:t>
            </a:r>
            <a:endParaRPr lang="en-US" sz="950" dirty="0"/>
          </a:p>
        </p:txBody>
      </p:sp>
      <p:sp>
        <p:nvSpPr>
          <p:cNvPr id="22" name="Shape 19"/>
          <p:cNvSpPr/>
          <p:nvPr/>
        </p:nvSpPr>
        <p:spPr>
          <a:xfrm>
            <a:off x="4983480" y="6035040"/>
            <a:ext cx="2148840" cy="274320"/>
          </a:xfrm>
          <a:prstGeom prst="roundRect">
            <a:avLst>
              <a:gd name="adj" fmla="val 50000"/>
            </a:avLst>
          </a:prstGeom>
          <a:solidFill>
            <a:srgbClr val="1B3B6F"/>
          </a:solidFill>
          <a:ln w="12700">
            <a:solidFill>
              <a:srgbClr val="1B3B6F"/>
            </a:solidFill>
            <a:prstDash val="solid"/>
          </a:ln>
        </p:spPr>
      </p:sp>
      <p:sp>
        <p:nvSpPr>
          <p:cNvPr id="23" name="Text 20"/>
          <p:cNvSpPr txBox="1"/>
          <p:nvPr/>
        </p:nvSpPr>
        <p:spPr>
          <a:xfrm>
            <a:off x="4983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Calibri" pitchFamily="34" charset="0"/>
                <a:ea typeface="Amiri" pitchFamily="2" charset="-78"/>
                <a:cs typeface="Amiri" pitchFamily="2" charset="-78"/>
              </a:rPr>
              <a:t>a noun after بَعْدَ</a:t>
            </a:r>
            <a:endParaRPr lang="en-US" sz="950" dirty="0"/>
          </a:p>
        </p:txBody>
      </p:sp>
      <p:sp>
        <p:nvSpPr>
          <p:cNvPr id="24" name="Shape 21"/>
          <p:cNvSpPr/>
          <p:nvPr/>
        </p:nvSpPr>
        <p:spPr>
          <a:xfrm>
            <a:off x="7269480" y="6035040"/>
            <a:ext cx="2148840" cy="274320"/>
          </a:xfrm>
          <a:prstGeom prst="roundRect">
            <a:avLst>
              <a:gd name="adj" fmla="val 50000"/>
            </a:avLst>
          </a:prstGeom>
          <a:solidFill>
            <a:srgbClr val="C77700"/>
          </a:solidFill>
          <a:ln w="12700">
            <a:solidFill>
              <a:srgbClr val="C77700"/>
            </a:solidFill>
            <a:prstDash val="solid"/>
          </a:ln>
        </p:spPr>
      </p:sp>
      <p:sp>
        <p:nvSpPr>
          <p:cNvPr id="25" name="Text 22"/>
          <p:cNvSpPr txBox="1"/>
          <p:nvPr/>
        </p:nvSpPr>
        <p:spPr>
          <a:xfrm>
            <a:off x="7269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a frequency expression</a:t>
            </a:r>
            <a:endParaRPr lang="en-US" sz="950" dirty="0"/>
          </a:p>
        </p:txBody>
      </p:sp>
      <p:sp>
        <p:nvSpPr>
          <p:cNvPr id="26" name="Shape 23"/>
          <p:cNvSpPr/>
          <p:nvPr/>
        </p:nvSpPr>
        <p:spPr>
          <a:xfrm>
            <a:off x="9555480" y="6035040"/>
            <a:ext cx="2148840" cy="274320"/>
          </a:xfrm>
          <a:prstGeom prst="roundRect">
            <a:avLst>
              <a:gd name="adj" fmla="val 50000"/>
            </a:avLst>
          </a:prstGeom>
          <a:solidFill>
            <a:srgbClr val="7B3FA0"/>
          </a:solidFill>
          <a:ln w="12700">
            <a:solidFill>
              <a:srgbClr val="7B3FA0"/>
            </a:solidFill>
            <a:prstDash val="solid"/>
          </a:ln>
        </p:spPr>
      </p:sp>
      <p:sp>
        <p:nvSpPr>
          <p:cNvPr id="27" name="Text 24"/>
          <p:cNvSpPr txBox="1"/>
          <p:nvPr/>
        </p:nvSpPr>
        <p:spPr>
          <a:xfrm>
            <a:off x="9555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a contrast word</a:t>
            </a:r>
            <a:endParaRPr lang="en-US" sz="950" dirty="0"/>
          </a:p>
        </p:txBody>
      </p:sp>
      <p:sp>
        <p:nvSpPr>
          <p:cNvPr id="28" name="Text 2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36 / 46</a:t>
            </a:r>
            <a:endParaRPr lang="en-US" sz="85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D1-L04 · Before and After</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FEEDBACK · SUCCESS CRITERIA</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Check your work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قَيِّمْ عَمَلَكَ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D1 · Daily Routine and Time · D1-L04</a:t>
            </a:r>
            <a:endParaRPr lang="en-US" sz="850" dirty="0"/>
          </a:p>
        </p:txBody>
      </p:sp>
      <p:sp>
        <p:nvSpPr>
          <p:cNvPr id="15" name="Shape 12"/>
          <p:cNvSpPr/>
          <p:nvPr/>
        </p:nvSpPr>
        <p:spPr>
          <a:xfrm>
            <a:off x="457200" y="181051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85800" y="2086661"/>
            <a:ext cx="219456" cy="219456"/>
          </a:xfrm>
          <a:prstGeom prst="rect">
            <a:avLst/>
          </a:prstGeom>
          <a:solidFill>
            <a:srgbClr val="FFFFFF"/>
          </a:solidFill>
          <a:ln w="19050">
            <a:solidFill>
              <a:srgbClr val="2E8B57"/>
            </a:solidFill>
            <a:prstDash val="solid"/>
          </a:ln>
        </p:spPr>
      </p:sp>
      <p:sp>
        <p:nvSpPr>
          <p:cNvPr id="17" name="Text 14"/>
          <p:cNvSpPr txBox="1"/>
          <p:nvPr/>
        </p:nvSpPr>
        <p:spPr>
          <a:xfrm>
            <a:off x="1097280" y="181051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My actions are in the right order.</a:t>
            </a:r>
            <a:endParaRPr lang="en-US" sz="1300" dirty="0"/>
          </a:p>
        </p:txBody>
      </p:sp>
      <p:sp>
        <p:nvSpPr>
          <p:cNvPr id="18" name="Shape 15"/>
          <p:cNvSpPr/>
          <p:nvPr/>
        </p:nvSpPr>
        <p:spPr>
          <a:xfrm>
            <a:off x="6583680" y="2068373"/>
            <a:ext cx="109728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6583680" y="2068373"/>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Shape 17"/>
          <p:cNvSpPr/>
          <p:nvPr/>
        </p:nvSpPr>
        <p:spPr>
          <a:xfrm>
            <a:off x="457200" y="271028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685800" y="2986430"/>
            <a:ext cx="219456" cy="219456"/>
          </a:xfrm>
          <a:prstGeom prst="rect">
            <a:avLst/>
          </a:prstGeom>
          <a:solidFill>
            <a:srgbClr val="FFFFFF"/>
          </a:solidFill>
          <a:ln w="19050">
            <a:solidFill>
              <a:srgbClr val="2E8B57"/>
            </a:solidFill>
            <a:prstDash val="solid"/>
          </a:ln>
        </p:spPr>
      </p:sp>
      <p:sp>
        <p:nvSpPr>
          <p:cNvPr id="22" name="Text 19"/>
          <p:cNvSpPr txBox="1"/>
          <p:nvPr/>
        </p:nvSpPr>
        <p:spPr>
          <a:xfrm>
            <a:off x="1097280" y="271028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used before/after with a noun (no extra word).</a:t>
            </a:r>
            <a:endParaRPr lang="en-US" sz="1300" dirty="0"/>
          </a:p>
        </p:txBody>
      </p:sp>
      <p:sp>
        <p:nvSpPr>
          <p:cNvPr id="23" name="Shape 20"/>
          <p:cNvSpPr/>
          <p:nvPr/>
        </p:nvSpPr>
        <p:spPr>
          <a:xfrm>
            <a:off x="6583680" y="2968142"/>
            <a:ext cx="1097280" cy="256032"/>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6583680" y="296814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5" name="Shape 22"/>
          <p:cNvSpPr/>
          <p:nvPr/>
        </p:nvSpPr>
        <p:spPr>
          <a:xfrm>
            <a:off x="457200" y="361005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685800" y="3886200"/>
            <a:ext cx="219456" cy="219456"/>
          </a:xfrm>
          <a:prstGeom prst="rect">
            <a:avLst/>
          </a:prstGeom>
          <a:solidFill>
            <a:srgbClr val="FFFFFF"/>
          </a:solidFill>
          <a:ln w="19050">
            <a:solidFill>
              <a:srgbClr val="C9780A"/>
            </a:solidFill>
            <a:prstDash val="solid"/>
          </a:ln>
        </p:spPr>
      </p:sp>
      <p:sp>
        <p:nvSpPr>
          <p:cNvPr id="27" name="Text 24"/>
          <p:cNvSpPr txBox="1"/>
          <p:nvPr/>
        </p:nvSpPr>
        <p:spPr>
          <a:xfrm>
            <a:off x="1097280" y="361005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After </a:t>
            </a:r>
            <a:pPr algn="l" indent="0" marL="0">
              <a:buNone/>
            </a:pPr>
            <a:r>
              <a:rPr lang="ar-SA" altLang="en-US" sz="1700" dirty="0">
                <a:solidFill>
                  <a:srgbClr val="1F2A37"/>
                </a:solidFill>
                <a:latin typeface="Amiri" pitchFamily="2" charset="-78"/>
                <a:ea typeface="Amiri" pitchFamily="2" charset="-78"/>
                <a:cs typeface="Amiri" pitchFamily="2" charset="-78"/>
              </a:rPr>
              <a:t>أَنْ</a:t>
            </a:r>
            <a:pPr algn="l" indent="0" marL="0">
              <a:buNone/>
            </a:pPr>
            <a:r>
              <a:rPr lang="en-US" sz="1300" dirty="0">
                <a:solidFill>
                  <a:srgbClr val="1F2A37"/>
                </a:solidFill>
                <a:latin typeface="Calibri" pitchFamily="34" charset="0"/>
                <a:cs typeface="Amiri" pitchFamily="2" charset="-78"/>
              </a:rPr>
              <a:t>, my verb ends in fatḥa.</a:t>
            </a:r>
            <a:endParaRPr lang="en-US" sz="1300" dirty="0"/>
          </a:p>
        </p:txBody>
      </p:sp>
      <p:sp>
        <p:nvSpPr>
          <p:cNvPr id="28" name="Shape 25"/>
          <p:cNvSpPr/>
          <p:nvPr/>
        </p:nvSpPr>
        <p:spPr>
          <a:xfrm>
            <a:off x="6583680" y="3867912"/>
            <a:ext cx="1097280" cy="256032"/>
          </a:xfrm>
          <a:prstGeom prst="roundRect">
            <a:avLst>
              <a:gd name="adj" fmla="val 50000"/>
            </a:avLst>
          </a:prstGeom>
          <a:solidFill>
            <a:srgbClr val="C9780A"/>
          </a:solidFill>
          <a:ln w="12700">
            <a:solidFill>
              <a:srgbClr val="C9780A"/>
            </a:solidFill>
            <a:prstDash val="solid"/>
          </a:ln>
        </p:spPr>
      </p:sp>
      <p:sp>
        <p:nvSpPr>
          <p:cNvPr id="29" name="Text 26"/>
          <p:cNvSpPr txBox="1"/>
          <p:nvPr/>
        </p:nvSpPr>
        <p:spPr>
          <a:xfrm>
            <a:off x="6583680" y="386791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0" name="Shape 27"/>
          <p:cNvSpPr/>
          <p:nvPr/>
        </p:nvSpPr>
        <p:spPr>
          <a:xfrm>
            <a:off x="457200" y="450982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85800" y="4785970"/>
            <a:ext cx="219456" cy="219456"/>
          </a:xfrm>
          <a:prstGeom prst="rect">
            <a:avLst/>
          </a:prstGeom>
          <a:solidFill>
            <a:srgbClr val="FFFFFF"/>
          </a:solidFill>
          <a:ln w="19050">
            <a:solidFill>
              <a:srgbClr val="C9780A"/>
            </a:solidFill>
            <a:prstDash val="solid"/>
          </a:ln>
        </p:spPr>
      </p:sp>
      <p:sp>
        <p:nvSpPr>
          <p:cNvPr id="32" name="Text 29"/>
          <p:cNvSpPr txBox="1"/>
          <p:nvPr/>
        </p:nvSpPr>
        <p:spPr>
          <a:xfrm>
            <a:off x="1097280" y="450982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said how often (once / twice a week).</a:t>
            </a:r>
            <a:endParaRPr lang="en-US" sz="1300" dirty="0"/>
          </a:p>
        </p:txBody>
      </p:sp>
      <p:sp>
        <p:nvSpPr>
          <p:cNvPr id="33" name="Shape 30"/>
          <p:cNvSpPr/>
          <p:nvPr/>
        </p:nvSpPr>
        <p:spPr>
          <a:xfrm>
            <a:off x="6583680" y="4767682"/>
            <a:ext cx="1097280" cy="256032"/>
          </a:xfrm>
          <a:prstGeom prst="roundRect">
            <a:avLst>
              <a:gd name="adj" fmla="val 50000"/>
            </a:avLst>
          </a:prstGeom>
          <a:solidFill>
            <a:srgbClr val="C9780A"/>
          </a:solidFill>
          <a:ln w="12700">
            <a:solidFill>
              <a:srgbClr val="C9780A"/>
            </a:solidFill>
            <a:prstDash val="solid"/>
          </a:ln>
        </p:spPr>
      </p:sp>
      <p:sp>
        <p:nvSpPr>
          <p:cNvPr id="34" name="Text 31"/>
          <p:cNvSpPr txBox="1"/>
          <p:nvPr/>
        </p:nvSpPr>
        <p:spPr>
          <a:xfrm>
            <a:off x="6583680" y="476768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5" name="Shape 32"/>
          <p:cNvSpPr/>
          <p:nvPr/>
        </p:nvSpPr>
        <p:spPr>
          <a:xfrm>
            <a:off x="457200" y="5409590"/>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6" name="Shape 33"/>
          <p:cNvSpPr/>
          <p:nvPr/>
        </p:nvSpPr>
        <p:spPr>
          <a:xfrm>
            <a:off x="685800" y="5685739"/>
            <a:ext cx="219456" cy="219456"/>
          </a:xfrm>
          <a:prstGeom prst="rect">
            <a:avLst/>
          </a:prstGeom>
          <a:solidFill>
            <a:srgbClr val="FFFFFF"/>
          </a:solidFill>
          <a:ln w="19050">
            <a:solidFill>
              <a:srgbClr val="B83227"/>
            </a:solidFill>
            <a:prstDash val="solid"/>
          </a:ln>
        </p:spPr>
      </p:sp>
      <p:sp>
        <p:nvSpPr>
          <p:cNvPr id="37" name="Text 34"/>
          <p:cNvSpPr txBox="1"/>
          <p:nvPr/>
        </p:nvSpPr>
        <p:spPr>
          <a:xfrm>
            <a:off x="1097280" y="5409590"/>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dropped the final </a:t>
            </a:r>
            <a:pPr algn="l" indent="0" marL="0">
              <a:buNone/>
            </a:pPr>
            <a:r>
              <a:rPr lang="ar-SA" altLang="en-US" sz="1700" dirty="0">
                <a:solidFill>
                  <a:srgbClr val="1F2A37"/>
                </a:solidFill>
                <a:latin typeface="Amiri" pitchFamily="2" charset="-78"/>
                <a:ea typeface="Amiri" pitchFamily="2" charset="-78"/>
                <a:cs typeface="Amiri" pitchFamily="2" charset="-78"/>
              </a:rPr>
              <a:t>ن</a:t>
            </a:r>
            <a:pPr algn="l" indent="0" marL="0">
              <a:buNone/>
            </a:pPr>
            <a:r>
              <a:rPr lang="en-US" sz="1300" dirty="0">
                <a:solidFill>
                  <a:srgbClr val="1F2A37"/>
                </a:solidFill>
                <a:latin typeface="Calibri" pitchFamily="34" charset="0"/>
                <a:cs typeface="Amiri" pitchFamily="2" charset="-78"/>
              </a:rPr>
              <a:t> of a five verb after </a:t>
            </a:r>
            <a:pPr algn="l" indent="0" marL="0">
              <a:buNone/>
            </a:pPr>
            <a:r>
              <a:rPr lang="ar-SA" altLang="en-US" sz="1700" dirty="0">
                <a:solidFill>
                  <a:srgbClr val="1F2A37"/>
                </a:solidFill>
                <a:latin typeface="Amiri" pitchFamily="2" charset="-78"/>
                <a:ea typeface="Amiri" pitchFamily="2" charset="-78"/>
                <a:cs typeface="Amiri" pitchFamily="2" charset="-78"/>
              </a:rPr>
              <a:t>أَنْ</a:t>
            </a:r>
            <a:pPr algn="l" indent="0" marL="0">
              <a:buNone/>
            </a:pPr>
            <a:r>
              <a:rPr lang="en-US" sz="1300" dirty="0">
                <a:solidFill>
                  <a:srgbClr val="1F2A37"/>
                </a:solidFill>
                <a:latin typeface="Calibri" pitchFamily="34" charset="0"/>
                <a:cs typeface="Amiri" pitchFamily="2" charset="-78"/>
              </a:rPr>
              <a:t>.</a:t>
            </a:r>
            <a:endParaRPr lang="en-US" sz="1300" dirty="0"/>
          </a:p>
        </p:txBody>
      </p:sp>
      <p:sp>
        <p:nvSpPr>
          <p:cNvPr id="38" name="Shape 35"/>
          <p:cNvSpPr/>
          <p:nvPr/>
        </p:nvSpPr>
        <p:spPr>
          <a:xfrm>
            <a:off x="6583680" y="5667451"/>
            <a:ext cx="1097280" cy="256032"/>
          </a:xfrm>
          <a:prstGeom prst="roundRect">
            <a:avLst>
              <a:gd name="adj" fmla="val 50000"/>
            </a:avLst>
          </a:prstGeom>
          <a:solidFill>
            <a:srgbClr val="B83227"/>
          </a:solidFill>
          <a:ln w="12700">
            <a:solidFill>
              <a:srgbClr val="B83227"/>
            </a:solidFill>
            <a:prstDash val="solid"/>
          </a:ln>
        </p:spPr>
      </p:sp>
      <p:sp>
        <p:nvSpPr>
          <p:cNvPr id="39" name="Text 36"/>
          <p:cNvSpPr txBox="1"/>
          <p:nvPr/>
        </p:nvSpPr>
        <p:spPr>
          <a:xfrm>
            <a:off x="6583680" y="5667451"/>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40" name="Shape 37"/>
          <p:cNvSpPr/>
          <p:nvPr/>
        </p:nvSpPr>
        <p:spPr>
          <a:xfrm>
            <a:off x="8092440" y="1810512"/>
            <a:ext cx="3639312" cy="2084832"/>
          </a:xfrm>
          <a:prstGeom prst="roundRect">
            <a:avLst>
              <a:gd name="adj" fmla="val 3509"/>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41" name="Text 38"/>
          <p:cNvSpPr txBox="1"/>
          <p:nvPr/>
        </p:nvSpPr>
        <p:spPr>
          <a:xfrm>
            <a:off x="8275320" y="1920240"/>
            <a:ext cx="3273552" cy="1828800"/>
          </a:xfrm>
          <a:prstGeom prst="rect">
            <a:avLst/>
          </a:prstGeom>
          <a:noFill/>
          <a:ln/>
        </p:spPr>
        <p:txBody>
          <a:bodyPr wrap="square" lIns="0" tIns="0" rIns="0" bIns="0" rtlCol="0" anchor="ctr"/>
          <a:lstStyle/>
          <a:p>
            <a:pPr indent="0" marL="0">
              <a:buNone/>
            </a:pPr>
            <a:r>
              <a:rPr lang="en-US" sz="1800" b="1" dirty="0">
                <a:solidFill>
                  <a:srgbClr val="2E8B57"/>
                </a:solidFill>
                <a:latin typeface="Calibri" pitchFamily="34" charset="0"/>
                <a:cs typeface="Amiri" pitchFamily="2" charset="-78"/>
              </a:rPr>
              <a:t>WWW</a:t>
            </a:r>
            <a:endParaRPr lang="en-US" sz="1800" dirty="0"/>
          </a:p>
          <a:p>
            <a:pPr indent="0" marL="0">
              <a:buNone/>
            </a:pPr>
            <a:r>
              <a:rPr lang="en-US" sz="1200" dirty="0">
                <a:solidFill>
                  <a:srgbClr val="1F2A37"/>
                </a:solidFill>
                <a:latin typeface="Calibri" pitchFamily="34" charset="0"/>
                <a:cs typeface="Amiri" pitchFamily="2" charset="-78"/>
              </a:rPr>
              <a:t>What went well? One thing you did accurately.</a:t>
            </a:r>
            <a:endParaRPr lang="en-US" sz="1800" dirty="0"/>
          </a:p>
        </p:txBody>
      </p:sp>
      <p:sp>
        <p:nvSpPr>
          <p:cNvPr id="42" name="Shape 39"/>
          <p:cNvSpPr/>
          <p:nvPr/>
        </p:nvSpPr>
        <p:spPr>
          <a:xfrm>
            <a:off x="8092440" y="4041648"/>
            <a:ext cx="3639312" cy="2084832"/>
          </a:xfrm>
          <a:prstGeom prst="roundRect">
            <a:avLst>
              <a:gd name="adj" fmla="val 3509"/>
            </a:avLst>
          </a:prstGeom>
          <a:solidFill>
            <a:srgbClr val="FFF4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43" name="Text 40"/>
          <p:cNvSpPr txBox="1"/>
          <p:nvPr/>
        </p:nvSpPr>
        <p:spPr>
          <a:xfrm>
            <a:off x="8275320" y="4151376"/>
            <a:ext cx="3273552" cy="1828800"/>
          </a:xfrm>
          <a:prstGeom prst="rect">
            <a:avLst/>
          </a:prstGeom>
          <a:noFill/>
          <a:ln/>
        </p:spPr>
        <p:txBody>
          <a:bodyPr wrap="square" lIns="0" tIns="0" rIns="0" bIns="0" rtlCol="0" anchor="ctr"/>
          <a:lstStyle/>
          <a:p>
            <a:pPr indent="0" marL="0">
              <a:buNone/>
            </a:pPr>
            <a:r>
              <a:rPr lang="en-US" sz="1800" b="1" dirty="0">
                <a:solidFill>
                  <a:srgbClr val="C9780A"/>
                </a:solidFill>
                <a:latin typeface="Calibri" pitchFamily="34" charset="0"/>
                <a:cs typeface="Amiri" pitchFamily="2" charset="-78"/>
              </a:rPr>
              <a:t>EBI</a:t>
            </a:r>
            <a:endParaRPr lang="en-US" sz="1800" dirty="0"/>
          </a:p>
          <a:p>
            <a:pPr indent="0" marL="0">
              <a:buNone/>
            </a:pPr>
            <a:r>
              <a:rPr lang="en-US" sz="1200" dirty="0">
                <a:solidFill>
                  <a:srgbClr val="1F2A37"/>
                </a:solidFill>
                <a:latin typeface="Calibri" pitchFamily="34" charset="0"/>
                <a:cs typeface="Amiri" pitchFamily="2" charset="-78"/>
              </a:rPr>
              <a:t>Even better if… One thing you will fix or add.</a:t>
            </a:r>
            <a:endParaRPr lang="en-US" sz="180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37 / 46</a:t>
            </a:r>
            <a:endParaRPr lang="en-US" sz="85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D1-L04 · Before and After</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EXIT TICKET · ON YOUR OWN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Exit ticket: three questions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تَذْكِرَةُ الخُرُوجِ</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D1 · Daily Routine and Time · D1-L04</a:t>
            </a:r>
            <a:endParaRPr lang="en-US" sz="850" dirty="0"/>
          </a:p>
        </p:txBody>
      </p:sp>
      <p:sp>
        <p:nvSpPr>
          <p:cNvPr id="15" name="Shape 12"/>
          <p:cNvSpPr/>
          <p:nvPr/>
        </p:nvSpPr>
        <p:spPr>
          <a:xfrm>
            <a:off x="457200"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Complete: </a:t>
            </a:r>
            <a:pPr algn="l" indent="0" marL="0">
              <a:buNone/>
            </a:pPr>
            <a:r>
              <a:rPr lang="ar-SA" altLang="en-US" sz="1650" b="1" dirty="0">
                <a:solidFill>
                  <a:srgbClr val="1B3B6F"/>
                </a:solidFill>
                <a:latin typeface="Amiri" pitchFamily="2" charset="-78"/>
                <a:ea typeface="Amiri" pitchFamily="2" charset="-78"/>
                <a:cs typeface="Amiri" pitchFamily="2" charset="-78"/>
              </a:rPr>
              <a:t>قَبْلَ أَنْ</a:t>
            </a:r>
            <a:pPr algn="l" indent="0" marL="0">
              <a:buNone/>
            </a:pPr>
            <a:r>
              <a:rPr lang="en-US" sz="1250" b="1" dirty="0">
                <a:solidFill>
                  <a:srgbClr val="1B3B6F"/>
                </a:solidFill>
                <a:latin typeface="Calibri" pitchFamily="34" charset="0"/>
                <a:cs typeface="Amiri" pitchFamily="2" charset="-78"/>
              </a:rPr>
              <a:t> ___ </a:t>
            </a:r>
            <a:pPr algn="l" indent="0" marL="0">
              <a:buNone/>
            </a:pPr>
            <a:r>
              <a:rPr lang="ar-SA" altLang="en-US" sz="1650" b="1" dirty="0">
                <a:solidFill>
                  <a:srgbClr val="1B3B6F"/>
                </a:solidFill>
                <a:latin typeface="Amiri" pitchFamily="2" charset="-78"/>
                <a:ea typeface="Amiri" pitchFamily="2" charset="-78"/>
                <a:cs typeface="Amiri" pitchFamily="2" charset="-78"/>
              </a:rPr>
              <a:t>إِلَى النَّوْمِ</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أَذْهَبَ</a:t>
            </a:r>
            <a:endParaRPr lang="ar-SA" sz="20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أَذْهَبُ</a:t>
            </a:r>
            <a:endParaRPr lang="ar-SA" sz="20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ذَهَبْتُ</a:t>
            </a:r>
            <a:endParaRPr lang="ar-SA" sz="2050" dirty="0"/>
          </a:p>
        </p:txBody>
      </p:sp>
      <p:sp>
        <p:nvSpPr>
          <p:cNvPr id="28" name="Shape 25"/>
          <p:cNvSpPr/>
          <p:nvPr/>
        </p:nvSpPr>
        <p:spPr>
          <a:xfrm>
            <a:off x="4276344"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needs no </a:t>
            </a:r>
            <a:pPr algn="l" indent="0" marL="0">
              <a:buNone/>
            </a:pPr>
            <a:r>
              <a:rPr lang="ar-SA" altLang="en-US" sz="1650" b="1" dirty="0">
                <a:solidFill>
                  <a:srgbClr val="1B3B6F"/>
                </a:solidFill>
                <a:latin typeface="Amiri" pitchFamily="2" charset="-78"/>
                <a:ea typeface="Amiri" pitchFamily="2" charset="-78"/>
                <a:cs typeface="Amiri" pitchFamily="2" charset="-78"/>
              </a:rPr>
              <a:t>أَنْ</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بَعْدَ أَنْ أَتَعَشَّى</a:t>
            </a:r>
            <a:endParaRPr lang="ar-SA" sz="20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بَعْدَ العَشَاءِ</a:t>
            </a:r>
            <a:endParaRPr lang="ar-SA" sz="20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قَبْلَ أَنْ أَنَامَ</a:t>
            </a:r>
            <a:endParaRPr lang="ar-SA" sz="2050" dirty="0"/>
          </a:p>
        </p:txBody>
      </p:sp>
      <p:sp>
        <p:nvSpPr>
          <p:cNvPr id="41" name="Shape 38"/>
          <p:cNvSpPr/>
          <p:nvPr/>
        </p:nvSpPr>
        <p:spPr>
          <a:xfrm>
            <a:off x="8095488"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correct five-verb form.</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قَبْلَ أَنْ تَخْرُجُوا</a:t>
            </a:r>
            <a:endParaRPr lang="ar-SA" sz="20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قَبْلَ أَنْ تَخْرُجُونَ</a:t>
            </a:r>
            <a:endParaRPr lang="ar-SA" sz="20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قَبْلَ أَنْ خَرَجْتُمْ</a:t>
            </a:r>
            <a:endParaRPr lang="ar-SA" sz="2050" dirty="0"/>
          </a:p>
        </p:txBody>
      </p:sp>
      <p:sp>
        <p:nvSpPr>
          <p:cNvPr id="54" name="Shape 51"/>
          <p:cNvSpPr/>
          <p:nvPr/>
        </p:nvSpPr>
        <p:spPr>
          <a:xfrm>
            <a:off x="457200" y="5532120"/>
            <a:ext cx="11274552" cy="777240"/>
          </a:xfrm>
          <a:prstGeom prst="roundRect">
            <a:avLst>
              <a:gd name="adj" fmla="val 9412"/>
            </a:avLst>
          </a:prstGeom>
          <a:solidFill>
            <a:srgbClr val="FFF7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55" name="Text 52"/>
          <p:cNvSpPr txBox="1"/>
          <p:nvPr/>
        </p:nvSpPr>
        <p:spPr>
          <a:xfrm>
            <a:off x="685800" y="5577840"/>
            <a:ext cx="2830068" cy="685800"/>
          </a:xfrm>
          <a:prstGeom prst="rect">
            <a:avLst/>
          </a:prstGeom>
          <a:noFill/>
          <a:ln/>
        </p:spPr>
        <p:txBody>
          <a:bodyPr wrap="square" lIns="0" tIns="0" rIns="0" bIns="0" rtlCol="0" anchor="ctr"/>
          <a:lstStyle/>
          <a:p>
            <a:pPr algn="l" indent="0" marL="0">
              <a:buNone/>
            </a:pPr>
            <a:r>
              <a:rPr lang="en-US" sz="1200" b="1" spc="100" kern="0" dirty="0">
                <a:solidFill>
                  <a:srgbClr val="8A6D1E"/>
                </a:solidFill>
                <a:latin typeface="Calibri" pitchFamily="34" charset="0"/>
                <a:cs typeface="Amiri" pitchFamily="2" charset="-78"/>
              </a:rPr>
              <a:t>ON YOUR OWN · 2 MINUTES</a:t>
            </a:r>
            <a:endParaRPr lang="en-US" sz="1200" dirty="0"/>
          </a:p>
        </p:txBody>
      </p:sp>
      <p:sp>
        <p:nvSpPr>
          <p:cNvPr id="56" name="Text 53"/>
          <p:cNvSpPr txBox="1"/>
          <p:nvPr/>
        </p:nvSpPr>
        <p:spPr>
          <a:xfrm>
            <a:off x="3515868" y="5577840"/>
            <a:ext cx="8051292" cy="6858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Answer silently. When the timer ends, type your three letters in the chat: 1_ 2_ 3_. The other end-of-lesson questions are on the website.</a:t>
            </a:r>
            <a:endParaRPr lang="en-US" sz="1250" dirty="0"/>
          </a:p>
        </p:txBody>
      </p:sp>
      <p:sp>
        <p:nvSpPr>
          <p:cNvPr id="57" name="Text 5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38 / 46</a:t>
            </a:r>
            <a:endParaRPr lang="en-US" sz="85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D1-L04 · Before and After</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EXIT TICKET ·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Exit ticket: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إِجَابَاتُ تَذْكِرَةِ الخُرُوجِ</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D1 · Daily Routine and Time · D1-L04</a:t>
            </a:r>
            <a:endParaRPr lang="en-US" sz="850" dirty="0"/>
          </a:p>
        </p:txBody>
      </p:sp>
      <p:sp>
        <p:nvSpPr>
          <p:cNvPr id="15" name="Shape 12"/>
          <p:cNvSpPr/>
          <p:nvPr/>
        </p:nvSpPr>
        <p:spPr>
          <a:xfrm>
            <a:off x="457200"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Complete: </a:t>
            </a:r>
            <a:pPr algn="l" indent="0" marL="0">
              <a:buNone/>
            </a:pPr>
            <a:r>
              <a:rPr lang="ar-SA" altLang="en-US" sz="1650" b="1" dirty="0">
                <a:solidFill>
                  <a:srgbClr val="1B3B6F"/>
                </a:solidFill>
                <a:latin typeface="Amiri" pitchFamily="2" charset="-78"/>
                <a:ea typeface="Amiri" pitchFamily="2" charset="-78"/>
                <a:cs typeface="Amiri" pitchFamily="2" charset="-78"/>
              </a:rPr>
              <a:t>قَبْلَ أَنْ</a:t>
            </a:r>
            <a:pPr algn="l" indent="0" marL="0">
              <a:buNone/>
            </a:pPr>
            <a:r>
              <a:rPr lang="en-US" sz="1250" b="1" dirty="0">
                <a:solidFill>
                  <a:srgbClr val="1B3B6F"/>
                </a:solidFill>
                <a:latin typeface="Calibri" pitchFamily="34" charset="0"/>
                <a:cs typeface="Amiri" pitchFamily="2" charset="-78"/>
              </a:rPr>
              <a:t> ___ </a:t>
            </a:r>
            <a:pPr algn="l" indent="0" marL="0">
              <a:buNone/>
            </a:pPr>
            <a:r>
              <a:rPr lang="ar-SA" altLang="en-US" sz="1650" b="1" dirty="0">
                <a:solidFill>
                  <a:srgbClr val="1B3B6F"/>
                </a:solidFill>
                <a:latin typeface="Amiri" pitchFamily="2" charset="-78"/>
                <a:ea typeface="Amiri" pitchFamily="2" charset="-78"/>
                <a:cs typeface="Amiri" pitchFamily="2" charset="-78"/>
              </a:rPr>
              <a:t>إِلَى النَّوْمِ</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19" name="Shape 16"/>
          <p:cNvSpPr/>
          <p:nvPr/>
        </p:nvSpPr>
        <p:spPr>
          <a:xfrm>
            <a:off x="548640" y="2496312"/>
            <a:ext cx="3453384" cy="347472"/>
          </a:xfrm>
          <a:prstGeom prst="roundRect">
            <a:avLst>
              <a:gd name="adj" fmla="val 15789"/>
            </a:avLst>
          </a:prstGeom>
          <a:solidFill>
            <a:srgbClr val="E6F4EC"/>
          </a:solidFill>
          <a:ln w="9525">
            <a:solidFill>
              <a:srgbClr val="2E8B57"/>
            </a:solidFill>
            <a:prstDash val="solid"/>
          </a:ln>
        </p:spPr>
      </p:sp>
      <p:sp>
        <p:nvSpPr>
          <p:cNvPr id="20" name="Shape 17"/>
          <p:cNvSpPr/>
          <p:nvPr/>
        </p:nvSpPr>
        <p:spPr>
          <a:xfrm>
            <a:off x="640080" y="2532888"/>
            <a:ext cx="256032" cy="256032"/>
          </a:xfrm>
          <a:prstGeom prst="ellipse">
            <a:avLst/>
          </a:prstGeom>
          <a:solidFill>
            <a:srgbClr val="2E8B57"/>
          </a:solidFill>
          <a:ln w="12700">
            <a:solidFill>
              <a:srgbClr val="2E8B57"/>
            </a:solidFill>
            <a:prstDash val="solid"/>
          </a:ln>
        </p:spPr>
      </p:sp>
      <p:sp>
        <p:nvSpPr>
          <p:cNvPr id="21" name="Text 18"/>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22" name="Text 19"/>
          <p:cNvSpPr txBox="1"/>
          <p:nvPr/>
        </p:nvSpPr>
        <p:spPr>
          <a:xfrm>
            <a:off x="969264" y="2432304"/>
            <a:ext cx="2977896" cy="457200"/>
          </a:xfrm>
          <a:prstGeom prst="rect">
            <a:avLst/>
          </a:prstGeom>
          <a:noFill/>
          <a:ln/>
        </p:spPr>
        <p:txBody>
          <a:bodyPr wrap="square" lIns="0" tIns="0" rIns="0" bIns="0" rtlCol="0" anchor="ctr"/>
          <a:lstStyle/>
          <a:p>
            <a:pPr rtl="1" algn="r" indent="0" marL="0">
              <a:buNone/>
            </a:pPr>
            <a:r>
              <a:rPr lang="ar-SA" altLang="en-US" sz="2050" b="1" dirty="0">
                <a:solidFill>
                  <a:srgbClr val="1F2A37"/>
                </a:solidFill>
                <a:latin typeface="Amiri" pitchFamily="2" charset="-78"/>
                <a:ea typeface="Amiri" pitchFamily="2" charset="-78"/>
                <a:cs typeface="Amiri" pitchFamily="2" charset="-78"/>
              </a:rPr>
              <a:t>أَذْهَبَ</a:t>
            </a:r>
            <a:endParaRPr lang="ar-SA" sz="2050" dirty="0"/>
          </a:p>
        </p:txBody>
      </p:sp>
      <p:sp>
        <p:nvSpPr>
          <p:cNvPr id="23" name="Shape 20"/>
          <p:cNvSpPr/>
          <p:nvPr/>
        </p:nvSpPr>
        <p:spPr>
          <a:xfrm>
            <a:off x="640080" y="2990088"/>
            <a:ext cx="256032" cy="256032"/>
          </a:xfrm>
          <a:prstGeom prst="ellipse">
            <a:avLst/>
          </a:prstGeom>
          <a:solidFill>
            <a:srgbClr val="C9CED6"/>
          </a:solidFill>
          <a:ln w="12700">
            <a:solidFill>
              <a:srgbClr val="C9CED6"/>
            </a:solidFill>
            <a:prstDash val="solid"/>
          </a:ln>
        </p:spPr>
      </p:sp>
      <p:sp>
        <p:nvSpPr>
          <p:cNvPr id="24" name="Text 21"/>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5" name="Text 22"/>
          <p:cNvSpPr txBox="1"/>
          <p:nvPr/>
        </p:nvSpPr>
        <p:spPr>
          <a:xfrm>
            <a:off x="969264"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ea typeface="Amiri" pitchFamily="2" charset="-78"/>
                <a:cs typeface="Amiri" pitchFamily="2" charset="-78"/>
              </a:rPr>
              <a:t>أَذْهَبُ</a:t>
            </a:r>
            <a:endParaRPr lang="ar-SA" sz="2050" dirty="0"/>
          </a:p>
        </p:txBody>
      </p:sp>
      <p:sp>
        <p:nvSpPr>
          <p:cNvPr id="26" name="Shape 23"/>
          <p:cNvSpPr/>
          <p:nvPr/>
        </p:nvSpPr>
        <p:spPr>
          <a:xfrm>
            <a:off x="640080" y="344728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ea typeface="Amiri" pitchFamily="2" charset="-78"/>
                <a:cs typeface="Amiri" pitchFamily="2" charset="-78"/>
              </a:rPr>
              <a:t>ذَهَبْتُ</a:t>
            </a:r>
            <a:endParaRPr lang="ar-SA" sz="2050" dirty="0"/>
          </a:p>
        </p:txBody>
      </p:sp>
      <p:sp>
        <p:nvSpPr>
          <p:cNvPr id="29" name="Text 26"/>
          <p:cNvSpPr txBox="1"/>
          <p:nvPr/>
        </p:nvSpPr>
        <p:spPr>
          <a:xfrm>
            <a:off x="585216" y="494690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After </a:t>
            </a:r>
            <a:pPr algn="l" indent="0" marL="0">
              <a:buNone/>
            </a:pPr>
            <a:r>
              <a:rPr lang="ar-SA" altLang="en-US" sz="1350" dirty="0">
                <a:solidFill>
                  <a:srgbClr val="8A6D1E"/>
                </a:solidFill>
                <a:latin typeface="Amiri" pitchFamily="2" charset="-78"/>
                <a:ea typeface="Amiri" pitchFamily="2" charset="-78"/>
                <a:cs typeface="Amiri" pitchFamily="2" charset="-78"/>
              </a:rPr>
              <a:t>أَنْ</a:t>
            </a:r>
            <a:pPr algn="l" indent="0" marL="0">
              <a:buNone/>
            </a:pPr>
            <a:r>
              <a:rPr lang="en-US" sz="1050" i="1" dirty="0">
                <a:solidFill>
                  <a:srgbClr val="8A6D1E"/>
                </a:solidFill>
                <a:latin typeface="Calibri" pitchFamily="34" charset="0"/>
                <a:cs typeface="Amiri" pitchFamily="2" charset="-78"/>
              </a:rPr>
              <a:t>, use the subjunctive.</a:t>
            </a:r>
            <a:endParaRPr lang="en-US" sz="1050" dirty="0"/>
          </a:p>
        </p:txBody>
      </p:sp>
      <p:sp>
        <p:nvSpPr>
          <p:cNvPr id="30" name="Shape 27"/>
          <p:cNvSpPr/>
          <p:nvPr/>
        </p:nvSpPr>
        <p:spPr>
          <a:xfrm>
            <a:off x="4276344"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needs no </a:t>
            </a:r>
            <a:pPr algn="l" indent="0" marL="0">
              <a:buNone/>
            </a:pPr>
            <a:r>
              <a:rPr lang="ar-SA" altLang="en-US" sz="1650" b="1" dirty="0">
                <a:solidFill>
                  <a:srgbClr val="1B3B6F"/>
                </a:solidFill>
                <a:latin typeface="Amiri" pitchFamily="2" charset="-78"/>
                <a:ea typeface="Amiri" pitchFamily="2" charset="-78"/>
                <a:cs typeface="Amiri" pitchFamily="2" charset="-78"/>
              </a:rPr>
              <a:t>أَنْ</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34" name="Shape 31"/>
          <p:cNvSpPr/>
          <p:nvPr/>
        </p:nvSpPr>
        <p:spPr>
          <a:xfrm>
            <a:off x="4459224" y="2532888"/>
            <a:ext cx="256032" cy="256032"/>
          </a:xfrm>
          <a:prstGeom prst="ellipse">
            <a:avLst/>
          </a:prstGeom>
          <a:solidFill>
            <a:srgbClr val="C9CED6"/>
          </a:solidFill>
          <a:ln w="12700">
            <a:solidFill>
              <a:srgbClr val="C9CED6"/>
            </a:solidFill>
            <a:prstDash val="solid"/>
          </a:ln>
        </p:spPr>
      </p:sp>
      <p:sp>
        <p:nvSpPr>
          <p:cNvPr id="35" name="Text 32"/>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4788408"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ea typeface="Amiri" pitchFamily="2" charset="-78"/>
                <a:cs typeface="Amiri" pitchFamily="2" charset="-78"/>
              </a:rPr>
              <a:t>بَعْدَ أَنْ أَتَعَشَّى</a:t>
            </a:r>
            <a:endParaRPr lang="ar-SA" sz="2050" dirty="0"/>
          </a:p>
        </p:txBody>
      </p:sp>
      <p:sp>
        <p:nvSpPr>
          <p:cNvPr id="37" name="Shape 34"/>
          <p:cNvSpPr/>
          <p:nvPr/>
        </p:nvSpPr>
        <p:spPr>
          <a:xfrm>
            <a:off x="4367784" y="2953512"/>
            <a:ext cx="3453384" cy="347472"/>
          </a:xfrm>
          <a:prstGeom prst="roundRect">
            <a:avLst>
              <a:gd name="adj" fmla="val 15789"/>
            </a:avLst>
          </a:prstGeom>
          <a:solidFill>
            <a:srgbClr val="E6F4EC"/>
          </a:solidFill>
          <a:ln w="9525">
            <a:solidFill>
              <a:srgbClr val="2E8B57"/>
            </a:solidFill>
            <a:prstDash val="solid"/>
          </a:ln>
        </p:spPr>
      </p:sp>
      <p:sp>
        <p:nvSpPr>
          <p:cNvPr id="38" name="Shape 35"/>
          <p:cNvSpPr/>
          <p:nvPr/>
        </p:nvSpPr>
        <p:spPr>
          <a:xfrm>
            <a:off x="4459224" y="2990088"/>
            <a:ext cx="256032" cy="256032"/>
          </a:xfrm>
          <a:prstGeom prst="ellipse">
            <a:avLst/>
          </a:prstGeom>
          <a:solidFill>
            <a:srgbClr val="2E8B57"/>
          </a:solidFill>
          <a:ln w="12700">
            <a:solidFill>
              <a:srgbClr val="2E8B57"/>
            </a:solidFill>
            <a:prstDash val="solid"/>
          </a:ln>
        </p:spPr>
      </p:sp>
      <p:sp>
        <p:nvSpPr>
          <p:cNvPr id="39" name="Text 36"/>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40" name="Text 37"/>
          <p:cNvSpPr txBox="1"/>
          <p:nvPr/>
        </p:nvSpPr>
        <p:spPr>
          <a:xfrm>
            <a:off x="4788408" y="2889504"/>
            <a:ext cx="2977896" cy="457200"/>
          </a:xfrm>
          <a:prstGeom prst="rect">
            <a:avLst/>
          </a:prstGeom>
          <a:noFill/>
          <a:ln/>
        </p:spPr>
        <p:txBody>
          <a:bodyPr wrap="square" lIns="0" tIns="0" rIns="0" bIns="0" rtlCol="0" anchor="ctr"/>
          <a:lstStyle/>
          <a:p>
            <a:pPr rtl="1" algn="r" indent="0" marL="0">
              <a:buNone/>
            </a:pPr>
            <a:r>
              <a:rPr lang="ar-SA" altLang="en-US" sz="2050" b="1" dirty="0">
                <a:solidFill>
                  <a:srgbClr val="1F2A37"/>
                </a:solidFill>
                <a:latin typeface="Amiri" pitchFamily="2" charset="-78"/>
                <a:ea typeface="Amiri" pitchFamily="2" charset="-78"/>
                <a:cs typeface="Amiri" pitchFamily="2" charset="-78"/>
              </a:rPr>
              <a:t>بَعْدَ العَشَاءِ</a:t>
            </a:r>
            <a:endParaRPr lang="ar-SA" sz="2050" dirty="0"/>
          </a:p>
        </p:txBody>
      </p:sp>
      <p:sp>
        <p:nvSpPr>
          <p:cNvPr id="41" name="Shape 38"/>
          <p:cNvSpPr/>
          <p:nvPr/>
        </p:nvSpPr>
        <p:spPr>
          <a:xfrm>
            <a:off x="4459224" y="3447288"/>
            <a:ext cx="256032" cy="256032"/>
          </a:xfrm>
          <a:prstGeom prst="ellipse">
            <a:avLst/>
          </a:prstGeom>
          <a:solidFill>
            <a:srgbClr val="C9CED6"/>
          </a:solidFill>
          <a:ln w="12700">
            <a:solidFill>
              <a:srgbClr val="C9CED6"/>
            </a:solidFill>
            <a:prstDash val="solid"/>
          </a:ln>
        </p:spPr>
      </p:sp>
      <p:sp>
        <p:nvSpPr>
          <p:cNvPr id="42" name="Text 39"/>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3" name="Text 40"/>
          <p:cNvSpPr txBox="1"/>
          <p:nvPr/>
        </p:nvSpPr>
        <p:spPr>
          <a:xfrm>
            <a:off x="4788408"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ea typeface="Amiri" pitchFamily="2" charset="-78"/>
                <a:cs typeface="Amiri" pitchFamily="2" charset="-78"/>
              </a:rPr>
              <a:t>قَبْلَ أَنْ أَنَامَ</a:t>
            </a:r>
            <a:endParaRPr lang="ar-SA" sz="2050" dirty="0"/>
          </a:p>
        </p:txBody>
      </p:sp>
      <p:sp>
        <p:nvSpPr>
          <p:cNvPr id="44" name="Text 41"/>
          <p:cNvSpPr txBox="1"/>
          <p:nvPr/>
        </p:nvSpPr>
        <p:spPr>
          <a:xfrm>
            <a:off x="4404360" y="4946904"/>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العَشَاءِ</a:t>
            </a:r>
            <a:pPr algn="l" indent="0" marL="0">
              <a:buNone/>
            </a:pPr>
            <a:r>
              <a:rPr lang="en-US" sz="1050" i="1" dirty="0">
                <a:solidFill>
                  <a:srgbClr val="8A6D1E"/>
                </a:solidFill>
                <a:latin typeface="Calibri" pitchFamily="34" charset="0"/>
                <a:cs typeface="Amiri" pitchFamily="2" charset="-78"/>
              </a:rPr>
              <a:t> is a noun.</a:t>
            </a:r>
            <a:endParaRPr lang="en-US" sz="1050" dirty="0"/>
          </a:p>
        </p:txBody>
      </p:sp>
      <p:sp>
        <p:nvSpPr>
          <p:cNvPr id="45" name="Shape 42"/>
          <p:cNvSpPr/>
          <p:nvPr/>
        </p:nvSpPr>
        <p:spPr>
          <a:xfrm>
            <a:off x="8095488"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correct five-verb form.</a:t>
            </a:r>
            <a:endParaRPr lang="en-US" sz="1250" dirty="0"/>
          </a:p>
        </p:txBody>
      </p:sp>
      <p:sp>
        <p:nvSpPr>
          <p:cNvPr id="49" name="Shape 46"/>
          <p:cNvSpPr/>
          <p:nvPr/>
        </p:nvSpPr>
        <p:spPr>
          <a:xfrm>
            <a:off x="8186928" y="2496312"/>
            <a:ext cx="3453384" cy="347472"/>
          </a:xfrm>
          <a:prstGeom prst="roundRect">
            <a:avLst>
              <a:gd name="adj" fmla="val 15789"/>
            </a:avLst>
          </a:prstGeom>
          <a:solidFill>
            <a:srgbClr val="E6F4EC"/>
          </a:solidFill>
          <a:ln w="9525">
            <a:solidFill>
              <a:srgbClr val="2E8B57"/>
            </a:solidFill>
            <a:prstDash val="solid"/>
          </a:ln>
        </p:spPr>
      </p:sp>
      <p:sp>
        <p:nvSpPr>
          <p:cNvPr id="50" name="Shape 47"/>
          <p:cNvSpPr/>
          <p:nvPr/>
        </p:nvSpPr>
        <p:spPr>
          <a:xfrm>
            <a:off x="8278368" y="2532888"/>
            <a:ext cx="256032" cy="256032"/>
          </a:xfrm>
          <a:prstGeom prst="ellipse">
            <a:avLst/>
          </a:prstGeom>
          <a:solidFill>
            <a:srgbClr val="2E8B57"/>
          </a:solidFill>
          <a:ln w="12700">
            <a:solidFill>
              <a:srgbClr val="2E8B57"/>
            </a:solidFill>
            <a:prstDash val="solid"/>
          </a:ln>
        </p:spPr>
      </p:sp>
      <p:sp>
        <p:nvSpPr>
          <p:cNvPr id="51" name="Text 48"/>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52" name="Text 49"/>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2050" b="1" dirty="0">
                <a:solidFill>
                  <a:srgbClr val="1F2A37"/>
                </a:solidFill>
                <a:latin typeface="Amiri" pitchFamily="2" charset="-78"/>
                <a:ea typeface="Amiri" pitchFamily="2" charset="-78"/>
                <a:cs typeface="Amiri" pitchFamily="2" charset="-78"/>
              </a:rPr>
              <a:t>قَبْلَ أَنْ تَخْرُجُوا</a:t>
            </a:r>
            <a:endParaRPr lang="ar-SA" sz="2050" dirty="0"/>
          </a:p>
        </p:txBody>
      </p:sp>
      <p:sp>
        <p:nvSpPr>
          <p:cNvPr id="53" name="Shape 50"/>
          <p:cNvSpPr/>
          <p:nvPr/>
        </p:nvSpPr>
        <p:spPr>
          <a:xfrm>
            <a:off x="8278368" y="2990088"/>
            <a:ext cx="256032" cy="256032"/>
          </a:xfrm>
          <a:prstGeom prst="ellipse">
            <a:avLst/>
          </a:prstGeom>
          <a:solidFill>
            <a:srgbClr val="C9CED6"/>
          </a:solidFill>
          <a:ln w="12700">
            <a:solidFill>
              <a:srgbClr val="C9CED6"/>
            </a:solidFill>
            <a:prstDash val="solid"/>
          </a:ln>
        </p:spPr>
      </p:sp>
      <p:sp>
        <p:nvSpPr>
          <p:cNvPr id="54" name="Text 51"/>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5" name="Text 52"/>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ea typeface="Amiri" pitchFamily="2" charset="-78"/>
                <a:cs typeface="Amiri" pitchFamily="2" charset="-78"/>
              </a:rPr>
              <a:t>قَبْلَ أَنْ تَخْرُجُونَ</a:t>
            </a:r>
            <a:endParaRPr lang="ar-SA" sz="2050" dirty="0"/>
          </a:p>
        </p:txBody>
      </p:sp>
      <p:sp>
        <p:nvSpPr>
          <p:cNvPr id="56" name="Shape 53"/>
          <p:cNvSpPr/>
          <p:nvPr/>
        </p:nvSpPr>
        <p:spPr>
          <a:xfrm>
            <a:off x="8278368" y="3447288"/>
            <a:ext cx="256032" cy="256032"/>
          </a:xfrm>
          <a:prstGeom prst="ellipse">
            <a:avLst/>
          </a:prstGeom>
          <a:solidFill>
            <a:srgbClr val="C9CED6"/>
          </a:solidFill>
          <a:ln w="12700">
            <a:solidFill>
              <a:srgbClr val="C9CED6"/>
            </a:solidFill>
            <a:prstDash val="solid"/>
          </a:ln>
        </p:spPr>
      </p:sp>
      <p:sp>
        <p:nvSpPr>
          <p:cNvPr id="57" name="Text 54"/>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8" name="Text 55"/>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ea typeface="Amiri" pitchFamily="2" charset="-78"/>
                <a:cs typeface="Amiri" pitchFamily="2" charset="-78"/>
              </a:rPr>
              <a:t>قَبْلَ أَنْ خَرَجْتُمْ</a:t>
            </a:r>
            <a:endParaRPr lang="ar-SA" sz="2050" dirty="0"/>
          </a:p>
        </p:txBody>
      </p:sp>
      <p:sp>
        <p:nvSpPr>
          <p:cNvPr id="59" name="Text 56"/>
          <p:cNvSpPr txBox="1"/>
          <p:nvPr/>
        </p:nvSpPr>
        <p:spPr>
          <a:xfrm>
            <a:off x="8223504" y="494690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Drop final </a:t>
            </a:r>
            <a:pPr algn="l" indent="0" marL="0">
              <a:buNone/>
            </a:pPr>
            <a:r>
              <a:rPr lang="ar-SA" altLang="en-US" sz="1350" dirty="0">
                <a:solidFill>
                  <a:srgbClr val="8A6D1E"/>
                </a:solidFill>
                <a:latin typeface="Amiri" pitchFamily="2" charset="-78"/>
                <a:ea typeface="Amiri" pitchFamily="2" charset="-78"/>
                <a:cs typeface="Amiri" pitchFamily="2" charset="-78"/>
              </a:rPr>
              <a:t>ن</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60" name="Shape 57"/>
          <p:cNvSpPr/>
          <p:nvPr/>
        </p:nvSpPr>
        <p:spPr>
          <a:xfrm>
            <a:off x="457200" y="5532120"/>
            <a:ext cx="11274552" cy="777240"/>
          </a:xfrm>
          <a:prstGeom prst="roundRect">
            <a:avLst>
              <a:gd name="adj" fmla="val 9412"/>
            </a:avLst>
          </a:prstGeom>
          <a:solidFill>
            <a:srgbClr val="EEF3FA"/>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61" name="Text 58"/>
          <p:cNvSpPr txBox="1"/>
          <p:nvPr/>
        </p:nvSpPr>
        <p:spPr>
          <a:xfrm>
            <a:off x="685800" y="5577840"/>
            <a:ext cx="937260" cy="685800"/>
          </a:xfrm>
          <a:prstGeom prst="rect">
            <a:avLst/>
          </a:prstGeom>
          <a:noFill/>
          <a:ln/>
        </p:spPr>
        <p:txBody>
          <a:bodyPr wrap="square" lIns="0" tIns="0" rIns="0" bIns="0" rtlCol="0" anchor="ctr"/>
          <a:lstStyle/>
          <a:p>
            <a:pPr algn="l" indent="0" marL="0">
              <a:buNone/>
            </a:pPr>
            <a:r>
              <a:rPr lang="en-US" sz="1200" b="1" spc="100" kern="0" dirty="0">
                <a:solidFill>
                  <a:srgbClr val="1B3B6F"/>
                </a:solidFill>
                <a:latin typeface="Calibri" pitchFamily="34" charset="0"/>
                <a:cs typeface="Amiri" pitchFamily="2" charset="-78"/>
              </a:rPr>
              <a:t>SCORE</a:t>
            </a:r>
            <a:endParaRPr lang="en-US" sz="1200" dirty="0"/>
          </a:p>
        </p:txBody>
      </p:sp>
      <p:sp>
        <p:nvSpPr>
          <p:cNvPr id="62" name="Text 59"/>
          <p:cNvSpPr txBox="1"/>
          <p:nvPr/>
        </p:nvSpPr>
        <p:spPr>
          <a:xfrm>
            <a:off x="1623060" y="5577840"/>
            <a:ext cx="9944100" cy="6858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3/3 → aim for Stretch next lesson  ·  2/3 → Develop  ·  0–1 → Core route and a quick check-in during the next Do Now.</a:t>
            </a:r>
            <a:endParaRPr lang="en-US" sz="1250" dirty="0"/>
          </a:p>
        </p:txBody>
      </p:sp>
      <p:sp>
        <p:nvSpPr>
          <p:cNvPr id="63" name="Text 6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39 / 46</a:t>
            </a:r>
            <a:endParaRPr lang="en-US" sz="85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D1-L04 · Before and After</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EXTENSION · FAST FINISHERS OR HOMEWORK (STRETCH)</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A balanced evening</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القِرَاءَةُ</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D1 · Daily Routine and Time · D1-L04</a:t>
            </a:r>
            <a:endParaRPr lang="en-US" sz="850" dirty="0"/>
          </a:p>
        </p:txBody>
      </p:sp>
      <p:sp>
        <p:nvSpPr>
          <p:cNvPr id="17" name="Shape 14"/>
          <p:cNvSpPr/>
          <p:nvPr/>
        </p:nvSpPr>
        <p:spPr>
          <a:xfrm>
            <a:off x="457200" y="1810512"/>
            <a:ext cx="807415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Text 15"/>
          <p:cNvSpPr txBox="1"/>
          <p:nvPr/>
        </p:nvSpPr>
        <p:spPr>
          <a:xfrm>
            <a:off x="685800" y="1965960"/>
            <a:ext cx="7616952" cy="4206240"/>
          </a:xfrm>
          <a:prstGeom prst="rect">
            <a:avLst/>
          </a:prstGeom>
          <a:noFill/>
          <a:ln/>
        </p:spPr>
        <p:txBody>
          <a:bodyPr wrap="square" lIns="0" tIns="0" rIns="0" bIns="0" rtlCol="0" anchor="t"/>
          <a:lstStyle/>
          <a:p>
            <a:pPr rtl="1" algn="r" indent="0" marL="0">
              <a:lnSpc>
                <a:spcPct val="120000"/>
              </a:lnSpc>
              <a:buNone/>
            </a:pPr>
            <a:r>
              <a:rPr lang="ar-SA" altLang="en-US" sz="2600" dirty="0">
                <a:solidFill>
                  <a:srgbClr val="1F2A37"/>
                </a:solidFill>
                <a:latin typeface="Amiri" pitchFamily="2" charset="-78"/>
                <a:ea typeface="Amiri" pitchFamily="2" charset="-78"/>
                <a:cs typeface="Amiri" pitchFamily="2" charset="-78"/>
              </a:rPr>
              <a:t>تَعْتَقِدُ لَيْلَى أَنَّ المَسَاءَ المُنَظَّمَ يُؤَثِّرُ فِي اليَوْمِ التَّالِي. بَعْدَ المَدْرَسَةِ تَسْتَرِيحُ قَلِيلًا، وَلٰكِنَّهَا لَا تَسْتَعْمِلُ الأَلْعَابَ الإِلِكْتُرُونِيَّةَ قَبْلَ أَنْ تُكْمِلَ وَاجِبَهَا. عِنْدَمَا تَنْتَهِي، تَتَمَرَّنُ أَوْ تَمْشِي مَعَ أُمِّهَا. بَعْدَ العَشَاءِ تُرَاجِعُ مَا سَتَحْتَاجُ إِلَيْهِ فِي المَدْرَسَةِ. تَتَجَنَّبُ المَشْرُوبَاتِ الَّتِي تَحْتَوِي عَلَى الكَافِيِينِ قَبْلَ النَّوْمِ، لِأَنَّهَا تُرِيدُ أَنْ تَنَامَ بِعُمْقٍ. تَقْرَأُ عَشْرَ دَقَائِقَ، ثُمَّ تَخْلُدُ إِلَى النَّوْمِ.</a:t>
            </a:r>
            <a:endParaRPr lang="ar-SA" sz="2600" dirty="0"/>
          </a:p>
        </p:txBody>
      </p:sp>
      <p:sp>
        <p:nvSpPr>
          <p:cNvPr id="19" name="Shape 16"/>
          <p:cNvSpPr/>
          <p:nvPr/>
        </p:nvSpPr>
        <p:spPr>
          <a:xfrm>
            <a:off x="8714232" y="1810512"/>
            <a:ext cx="3017520" cy="4498848"/>
          </a:xfrm>
          <a:prstGeom prst="roundRect">
            <a:avLst>
              <a:gd name="adj" fmla="val 2424"/>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0" name="Text 17"/>
          <p:cNvSpPr txBox="1"/>
          <p:nvPr/>
        </p:nvSpPr>
        <p:spPr>
          <a:xfrm>
            <a:off x="8897112" y="1883664"/>
            <a:ext cx="2651760" cy="292608"/>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KEY WORDS</a:t>
            </a:r>
            <a:endParaRPr lang="en-US" sz="1000" dirty="0"/>
          </a:p>
        </p:txBody>
      </p:sp>
      <p:sp>
        <p:nvSpPr>
          <p:cNvPr id="21" name="Text 18"/>
          <p:cNvSpPr txBox="1"/>
          <p:nvPr/>
        </p:nvSpPr>
        <p:spPr>
          <a:xfrm>
            <a:off x="10102291" y="2212848"/>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تَعْتَقِدُ</a:t>
            </a:r>
            <a:endParaRPr lang="ar-SA" sz="1600" dirty="0"/>
          </a:p>
        </p:txBody>
      </p:sp>
      <p:sp>
        <p:nvSpPr>
          <p:cNvPr id="22" name="Text 19"/>
          <p:cNvSpPr txBox="1"/>
          <p:nvPr/>
        </p:nvSpPr>
        <p:spPr>
          <a:xfrm>
            <a:off x="8851392" y="2212848"/>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she believes</a:t>
            </a:r>
            <a:endParaRPr lang="en-US" sz="1050" dirty="0"/>
          </a:p>
        </p:txBody>
      </p:sp>
      <p:sp>
        <p:nvSpPr>
          <p:cNvPr id="23" name="Text 20"/>
          <p:cNvSpPr txBox="1"/>
          <p:nvPr/>
        </p:nvSpPr>
        <p:spPr>
          <a:xfrm>
            <a:off x="10102291" y="2615184"/>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المُنَظَّمَ</a:t>
            </a:r>
            <a:endParaRPr lang="ar-SA" sz="1600" dirty="0"/>
          </a:p>
        </p:txBody>
      </p:sp>
      <p:sp>
        <p:nvSpPr>
          <p:cNvPr id="24" name="Text 21"/>
          <p:cNvSpPr txBox="1"/>
          <p:nvPr/>
        </p:nvSpPr>
        <p:spPr>
          <a:xfrm>
            <a:off x="8851392" y="2615184"/>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organised</a:t>
            </a:r>
            <a:endParaRPr lang="en-US" sz="1050" dirty="0"/>
          </a:p>
        </p:txBody>
      </p:sp>
      <p:sp>
        <p:nvSpPr>
          <p:cNvPr id="25" name="Text 22"/>
          <p:cNvSpPr txBox="1"/>
          <p:nvPr/>
        </p:nvSpPr>
        <p:spPr>
          <a:xfrm>
            <a:off x="10102291" y="3017520"/>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يُؤَثِّرُ فِي</a:t>
            </a:r>
            <a:endParaRPr lang="ar-SA" sz="1600" dirty="0"/>
          </a:p>
        </p:txBody>
      </p:sp>
      <p:sp>
        <p:nvSpPr>
          <p:cNvPr id="26" name="Text 23"/>
          <p:cNvSpPr txBox="1"/>
          <p:nvPr/>
        </p:nvSpPr>
        <p:spPr>
          <a:xfrm>
            <a:off x="8851392" y="3017520"/>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affects</a:t>
            </a:r>
            <a:endParaRPr lang="en-US" sz="1050" dirty="0"/>
          </a:p>
        </p:txBody>
      </p:sp>
      <p:sp>
        <p:nvSpPr>
          <p:cNvPr id="27" name="Text 24"/>
          <p:cNvSpPr txBox="1"/>
          <p:nvPr/>
        </p:nvSpPr>
        <p:spPr>
          <a:xfrm>
            <a:off x="10102291" y="3419856"/>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اليَوْمِ التَّالِي</a:t>
            </a:r>
            <a:endParaRPr lang="ar-SA" sz="1600" dirty="0"/>
          </a:p>
        </p:txBody>
      </p:sp>
      <p:sp>
        <p:nvSpPr>
          <p:cNvPr id="28" name="Text 25"/>
          <p:cNvSpPr txBox="1"/>
          <p:nvPr/>
        </p:nvSpPr>
        <p:spPr>
          <a:xfrm>
            <a:off x="8851392" y="3419856"/>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the next day</a:t>
            </a:r>
            <a:endParaRPr lang="en-US" sz="1050" dirty="0"/>
          </a:p>
        </p:txBody>
      </p:sp>
      <p:sp>
        <p:nvSpPr>
          <p:cNvPr id="29" name="Text 26"/>
          <p:cNvSpPr txBox="1"/>
          <p:nvPr/>
        </p:nvSpPr>
        <p:spPr>
          <a:xfrm>
            <a:off x="10102291" y="3822192"/>
            <a:ext cx="1508760" cy="402336"/>
          </a:xfrm>
          <a:prstGeom prst="rect">
            <a:avLst/>
          </a:prstGeom>
          <a:noFill/>
          <a:ln/>
        </p:spPr>
        <p:txBody>
          <a:bodyPr wrap="square" lIns="0" tIns="0" rIns="0" bIns="0" rtlCol="0" anchor="ctr"/>
          <a:lstStyle/>
          <a:p>
            <a:pPr rtl="1" algn="r" indent="0" marL="0">
              <a:buNone/>
            </a:pPr>
            <a:r>
              <a:rPr lang="ar-SA" altLang="en-US" sz="1550" b="1" dirty="0">
                <a:solidFill>
                  <a:srgbClr val="1B3B6F"/>
                </a:solidFill>
                <a:latin typeface="Amiri" pitchFamily="2" charset="-78"/>
                <a:ea typeface="Amiri" pitchFamily="2" charset="-78"/>
                <a:cs typeface="Amiri" pitchFamily="2" charset="-78"/>
              </a:rPr>
              <a:t>الأَلْعَابَ الإِلِكْتُرُونِيَّةَ</a:t>
            </a:r>
            <a:endParaRPr lang="ar-SA" sz="1550" dirty="0"/>
          </a:p>
        </p:txBody>
      </p:sp>
      <p:sp>
        <p:nvSpPr>
          <p:cNvPr id="30" name="Text 27"/>
          <p:cNvSpPr txBox="1"/>
          <p:nvPr/>
        </p:nvSpPr>
        <p:spPr>
          <a:xfrm>
            <a:off x="8851392" y="3822192"/>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electronic games</a:t>
            </a:r>
            <a:endParaRPr lang="en-US" sz="1050" dirty="0"/>
          </a:p>
        </p:txBody>
      </p:sp>
      <p:sp>
        <p:nvSpPr>
          <p:cNvPr id="31" name="Text 28"/>
          <p:cNvSpPr txBox="1"/>
          <p:nvPr/>
        </p:nvSpPr>
        <p:spPr>
          <a:xfrm>
            <a:off x="10102291" y="4224528"/>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تَمْشِي</a:t>
            </a:r>
            <a:endParaRPr lang="ar-SA" sz="1600" dirty="0"/>
          </a:p>
        </p:txBody>
      </p:sp>
      <p:sp>
        <p:nvSpPr>
          <p:cNvPr id="32" name="Text 29"/>
          <p:cNvSpPr txBox="1"/>
          <p:nvPr/>
        </p:nvSpPr>
        <p:spPr>
          <a:xfrm>
            <a:off x="8851392" y="4224528"/>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she walks</a:t>
            </a:r>
            <a:endParaRPr lang="en-US" sz="1050" dirty="0"/>
          </a:p>
        </p:txBody>
      </p:sp>
      <p:sp>
        <p:nvSpPr>
          <p:cNvPr id="33" name="Text 30"/>
          <p:cNvSpPr txBox="1"/>
          <p:nvPr/>
        </p:nvSpPr>
        <p:spPr>
          <a:xfrm>
            <a:off x="10102291" y="4626864"/>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تُرَاجِعُ</a:t>
            </a:r>
            <a:endParaRPr lang="ar-SA" sz="1600" dirty="0"/>
          </a:p>
        </p:txBody>
      </p:sp>
      <p:sp>
        <p:nvSpPr>
          <p:cNvPr id="34" name="Text 31"/>
          <p:cNvSpPr txBox="1"/>
          <p:nvPr/>
        </p:nvSpPr>
        <p:spPr>
          <a:xfrm>
            <a:off x="8851392" y="4626864"/>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she reviews</a:t>
            </a:r>
            <a:endParaRPr lang="en-US" sz="1050" dirty="0"/>
          </a:p>
        </p:txBody>
      </p:sp>
      <p:sp>
        <p:nvSpPr>
          <p:cNvPr id="35" name="Text 32"/>
          <p:cNvSpPr txBox="1"/>
          <p:nvPr/>
        </p:nvSpPr>
        <p:spPr>
          <a:xfrm>
            <a:off x="10102291" y="5029200"/>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تَتَجَنَّبُ</a:t>
            </a:r>
            <a:endParaRPr lang="ar-SA" sz="1600" dirty="0"/>
          </a:p>
        </p:txBody>
      </p:sp>
      <p:sp>
        <p:nvSpPr>
          <p:cNvPr id="36" name="Text 33"/>
          <p:cNvSpPr txBox="1"/>
          <p:nvPr/>
        </p:nvSpPr>
        <p:spPr>
          <a:xfrm>
            <a:off x="8851392" y="5029200"/>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she avoids</a:t>
            </a:r>
            <a:endParaRPr lang="en-US" sz="1050" dirty="0"/>
          </a:p>
        </p:txBody>
      </p:sp>
      <p:sp>
        <p:nvSpPr>
          <p:cNvPr id="37" name="Text 34"/>
          <p:cNvSpPr txBox="1"/>
          <p:nvPr/>
        </p:nvSpPr>
        <p:spPr>
          <a:xfrm>
            <a:off x="10102291" y="5431536"/>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الكَافِيِينِ</a:t>
            </a:r>
            <a:endParaRPr lang="ar-SA" sz="1600" dirty="0"/>
          </a:p>
        </p:txBody>
      </p:sp>
      <p:sp>
        <p:nvSpPr>
          <p:cNvPr id="38" name="Text 35"/>
          <p:cNvSpPr txBox="1"/>
          <p:nvPr/>
        </p:nvSpPr>
        <p:spPr>
          <a:xfrm>
            <a:off x="8851392" y="5431536"/>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caffeine</a:t>
            </a:r>
            <a:endParaRPr lang="en-US" sz="1050" dirty="0"/>
          </a:p>
        </p:txBody>
      </p:sp>
      <p:sp>
        <p:nvSpPr>
          <p:cNvPr id="39" name="Text 36"/>
          <p:cNvSpPr txBox="1"/>
          <p:nvPr/>
        </p:nvSpPr>
        <p:spPr>
          <a:xfrm>
            <a:off x="10102291" y="5833872"/>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بِعُمْقٍ</a:t>
            </a:r>
            <a:endParaRPr lang="ar-SA" sz="1600" dirty="0"/>
          </a:p>
        </p:txBody>
      </p:sp>
      <p:sp>
        <p:nvSpPr>
          <p:cNvPr id="40" name="Text 37"/>
          <p:cNvSpPr txBox="1"/>
          <p:nvPr/>
        </p:nvSpPr>
        <p:spPr>
          <a:xfrm>
            <a:off x="8851392" y="5833872"/>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deeply</a:t>
            </a:r>
            <a:endParaRPr lang="en-US" sz="1050" dirty="0"/>
          </a:p>
        </p:txBody>
      </p:sp>
      <p:sp>
        <p:nvSpPr>
          <p:cNvPr id="41" name="Text 38"/>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40 / 46</a:t>
            </a:r>
            <a:endParaRPr lang="en-US" sz="85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D1-L04 · Before and After</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EXTENSION · READING QUESTIONS</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Reading: questions</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أَسْئِلَةُ القِرَاءَةِ</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D1 · Daily Routine and Time · D1-L04</a:t>
            </a:r>
            <a:endParaRPr lang="en-US" sz="850" dirty="0"/>
          </a:p>
        </p:txBody>
      </p:sp>
      <p:sp>
        <p:nvSpPr>
          <p:cNvPr id="17" name="Shape 14"/>
          <p:cNvSpPr/>
          <p:nvPr/>
        </p:nvSpPr>
        <p:spPr>
          <a:xfrm>
            <a:off x="457200"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20" name="Text 17"/>
          <p:cNvSpPr txBox="1"/>
          <p:nvPr/>
        </p:nvSpPr>
        <p:spPr>
          <a:xfrm>
            <a:off x="950976"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is Layla’s main belief?</a:t>
            </a:r>
            <a:endParaRPr lang="en-US" sz="1250" dirty="0"/>
          </a:p>
        </p:txBody>
      </p:sp>
      <p:sp>
        <p:nvSpPr>
          <p:cNvPr id="21" name="Shape 18"/>
          <p:cNvSpPr/>
          <p:nvPr/>
        </p:nvSpPr>
        <p:spPr>
          <a:xfrm>
            <a:off x="640080" y="2532888"/>
            <a:ext cx="256032" cy="256032"/>
          </a:xfrm>
          <a:prstGeom prst="ellipse">
            <a:avLst/>
          </a:prstGeom>
          <a:solidFill>
            <a:srgbClr val="F4F1EA"/>
          </a:solidFill>
          <a:ln w="12700">
            <a:solidFill>
              <a:srgbClr val="F4F1EA"/>
            </a:solidFill>
            <a:prstDash val="solid"/>
          </a:ln>
        </p:spPr>
      </p:sp>
      <p:sp>
        <p:nvSpPr>
          <p:cNvPr id="22" name="Text 19"/>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3" name="Text 20"/>
          <p:cNvSpPr txBox="1"/>
          <p:nvPr/>
        </p:nvSpPr>
        <p:spPr>
          <a:xfrm>
            <a:off x="969264" y="24323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games improve homework</a:t>
            </a:r>
            <a:endParaRPr lang="en-US" sz="1250" dirty="0"/>
          </a:p>
        </p:txBody>
      </p:sp>
      <p:sp>
        <p:nvSpPr>
          <p:cNvPr id="24" name="Shape 21"/>
          <p:cNvSpPr/>
          <p:nvPr/>
        </p:nvSpPr>
        <p:spPr>
          <a:xfrm>
            <a:off x="640080" y="2990088"/>
            <a:ext cx="256032" cy="256032"/>
          </a:xfrm>
          <a:prstGeom prst="ellipse">
            <a:avLst/>
          </a:prstGeom>
          <a:solidFill>
            <a:srgbClr val="F4F1EA"/>
          </a:solidFill>
          <a:ln w="12700">
            <a:solidFill>
              <a:srgbClr val="F4F1EA"/>
            </a:solidFill>
            <a:prstDash val="solid"/>
          </a:ln>
        </p:spPr>
      </p:sp>
      <p:sp>
        <p:nvSpPr>
          <p:cNvPr id="25" name="Text 22"/>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6" name="Text 23"/>
          <p:cNvSpPr txBox="1"/>
          <p:nvPr/>
        </p:nvSpPr>
        <p:spPr>
          <a:xfrm>
            <a:off x="969264" y="28895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an organised evening improves the next day</a:t>
            </a:r>
            <a:endParaRPr lang="en-US" sz="1250" dirty="0"/>
          </a:p>
        </p:txBody>
      </p:sp>
      <p:sp>
        <p:nvSpPr>
          <p:cNvPr id="27" name="Shape 24"/>
          <p:cNvSpPr/>
          <p:nvPr/>
        </p:nvSpPr>
        <p:spPr>
          <a:xfrm>
            <a:off x="640080" y="3447288"/>
            <a:ext cx="256032" cy="256032"/>
          </a:xfrm>
          <a:prstGeom prst="ellipse">
            <a:avLst/>
          </a:prstGeom>
          <a:solidFill>
            <a:srgbClr val="F4F1EA"/>
          </a:solidFill>
          <a:ln w="12700">
            <a:solidFill>
              <a:srgbClr val="F4F1EA"/>
            </a:solidFill>
            <a:prstDash val="solid"/>
          </a:ln>
        </p:spPr>
      </p:sp>
      <p:sp>
        <p:nvSpPr>
          <p:cNvPr id="28" name="Text 25"/>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9" name="Text 26"/>
          <p:cNvSpPr txBox="1"/>
          <p:nvPr/>
        </p:nvSpPr>
        <p:spPr>
          <a:xfrm>
            <a:off x="969264" y="33467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sleep is unnecessary</a:t>
            </a:r>
            <a:endParaRPr lang="en-US" sz="1250" dirty="0"/>
          </a:p>
        </p:txBody>
      </p:sp>
      <p:sp>
        <p:nvSpPr>
          <p:cNvPr id="30" name="Shape 27"/>
          <p:cNvSpPr/>
          <p:nvPr/>
        </p:nvSpPr>
        <p:spPr>
          <a:xfrm>
            <a:off x="3321558"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3449574"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344957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3815334"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must she do before electronic games?</a:t>
            </a:r>
            <a:endParaRPr lang="en-US" sz="1250" dirty="0"/>
          </a:p>
        </p:txBody>
      </p:sp>
      <p:sp>
        <p:nvSpPr>
          <p:cNvPr id="34" name="Shape 31"/>
          <p:cNvSpPr/>
          <p:nvPr/>
        </p:nvSpPr>
        <p:spPr>
          <a:xfrm>
            <a:off x="3504438" y="2532888"/>
            <a:ext cx="256032" cy="256032"/>
          </a:xfrm>
          <a:prstGeom prst="ellipse">
            <a:avLst/>
          </a:prstGeom>
          <a:solidFill>
            <a:srgbClr val="F4F1EA"/>
          </a:solidFill>
          <a:ln w="12700">
            <a:solidFill>
              <a:srgbClr val="F4F1EA"/>
            </a:solidFill>
            <a:prstDash val="solid"/>
          </a:ln>
        </p:spPr>
      </p:sp>
      <p:sp>
        <p:nvSpPr>
          <p:cNvPr id="35" name="Text 32"/>
          <p:cNvSpPr txBox="1"/>
          <p:nvPr/>
        </p:nvSpPr>
        <p:spPr>
          <a:xfrm>
            <a:off x="350443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3833622" y="24323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eat dinner</a:t>
            </a:r>
            <a:endParaRPr lang="en-US" sz="1250" dirty="0"/>
          </a:p>
        </p:txBody>
      </p:sp>
      <p:sp>
        <p:nvSpPr>
          <p:cNvPr id="37" name="Shape 34"/>
          <p:cNvSpPr/>
          <p:nvPr/>
        </p:nvSpPr>
        <p:spPr>
          <a:xfrm>
            <a:off x="3504438" y="2990088"/>
            <a:ext cx="256032" cy="256032"/>
          </a:xfrm>
          <a:prstGeom prst="ellipse">
            <a:avLst/>
          </a:prstGeom>
          <a:solidFill>
            <a:srgbClr val="F4F1EA"/>
          </a:solidFill>
          <a:ln w="12700">
            <a:solidFill>
              <a:srgbClr val="F4F1EA"/>
            </a:solidFill>
            <a:prstDash val="solid"/>
          </a:ln>
        </p:spPr>
      </p:sp>
      <p:sp>
        <p:nvSpPr>
          <p:cNvPr id="38" name="Text 35"/>
          <p:cNvSpPr txBox="1"/>
          <p:nvPr/>
        </p:nvSpPr>
        <p:spPr>
          <a:xfrm>
            <a:off x="350443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9" name="Text 36"/>
          <p:cNvSpPr txBox="1"/>
          <p:nvPr/>
        </p:nvSpPr>
        <p:spPr>
          <a:xfrm>
            <a:off x="3833622" y="28895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walk</a:t>
            </a:r>
            <a:endParaRPr lang="en-US" sz="1250" dirty="0"/>
          </a:p>
        </p:txBody>
      </p:sp>
      <p:sp>
        <p:nvSpPr>
          <p:cNvPr id="40" name="Shape 37"/>
          <p:cNvSpPr/>
          <p:nvPr/>
        </p:nvSpPr>
        <p:spPr>
          <a:xfrm>
            <a:off x="3504438" y="3447288"/>
            <a:ext cx="256032" cy="256032"/>
          </a:xfrm>
          <a:prstGeom prst="ellipse">
            <a:avLst/>
          </a:prstGeom>
          <a:solidFill>
            <a:srgbClr val="F4F1EA"/>
          </a:solidFill>
          <a:ln w="12700">
            <a:solidFill>
              <a:srgbClr val="F4F1EA"/>
            </a:solidFill>
            <a:prstDash val="solid"/>
          </a:ln>
        </p:spPr>
      </p:sp>
      <p:sp>
        <p:nvSpPr>
          <p:cNvPr id="41" name="Text 38"/>
          <p:cNvSpPr txBox="1"/>
          <p:nvPr/>
        </p:nvSpPr>
        <p:spPr>
          <a:xfrm>
            <a:off x="350443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2" name="Text 39"/>
          <p:cNvSpPr txBox="1"/>
          <p:nvPr/>
        </p:nvSpPr>
        <p:spPr>
          <a:xfrm>
            <a:off x="3833622" y="33467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finish homework</a:t>
            </a:r>
            <a:endParaRPr lang="en-US" sz="1250" dirty="0"/>
          </a:p>
        </p:txBody>
      </p:sp>
      <p:sp>
        <p:nvSpPr>
          <p:cNvPr id="43" name="Shape 40"/>
          <p:cNvSpPr/>
          <p:nvPr/>
        </p:nvSpPr>
        <p:spPr>
          <a:xfrm>
            <a:off x="6185916"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4" name="Shape 41"/>
          <p:cNvSpPr/>
          <p:nvPr/>
        </p:nvSpPr>
        <p:spPr>
          <a:xfrm>
            <a:off x="6313932" y="1947672"/>
            <a:ext cx="310896" cy="310896"/>
          </a:xfrm>
          <a:prstGeom prst="ellipse">
            <a:avLst/>
          </a:prstGeom>
          <a:solidFill>
            <a:srgbClr val="1B3B6F"/>
          </a:solidFill>
          <a:ln w="12700">
            <a:solidFill>
              <a:srgbClr val="1B3B6F"/>
            </a:solidFill>
            <a:prstDash val="solid"/>
          </a:ln>
        </p:spPr>
      </p:sp>
      <p:sp>
        <p:nvSpPr>
          <p:cNvPr id="45" name="Text 42"/>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6" name="Text 43"/>
          <p:cNvSpPr txBox="1"/>
          <p:nvPr/>
        </p:nvSpPr>
        <p:spPr>
          <a:xfrm>
            <a:off x="6679692"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she do after finishing?</a:t>
            </a:r>
            <a:endParaRPr lang="en-US" sz="1250" dirty="0"/>
          </a:p>
        </p:txBody>
      </p:sp>
      <p:sp>
        <p:nvSpPr>
          <p:cNvPr id="47" name="Shape 44"/>
          <p:cNvSpPr/>
          <p:nvPr/>
        </p:nvSpPr>
        <p:spPr>
          <a:xfrm>
            <a:off x="6368796" y="2532888"/>
            <a:ext cx="256032" cy="256032"/>
          </a:xfrm>
          <a:prstGeom prst="ellipse">
            <a:avLst/>
          </a:prstGeom>
          <a:solidFill>
            <a:srgbClr val="F4F1EA"/>
          </a:solidFill>
          <a:ln w="12700">
            <a:solidFill>
              <a:srgbClr val="F4F1EA"/>
            </a:solidFill>
            <a:prstDash val="solid"/>
          </a:ln>
        </p:spPr>
      </p:sp>
      <p:sp>
        <p:nvSpPr>
          <p:cNvPr id="48" name="Text 45"/>
          <p:cNvSpPr txBox="1"/>
          <p:nvPr/>
        </p:nvSpPr>
        <p:spPr>
          <a:xfrm>
            <a:off x="6368796"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9" name="Text 46"/>
          <p:cNvSpPr txBox="1"/>
          <p:nvPr/>
        </p:nvSpPr>
        <p:spPr>
          <a:xfrm>
            <a:off x="6697980" y="24323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exercise or walk</a:t>
            </a:r>
            <a:endParaRPr lang="en-US" sz="1250" dirty="0"/>
          </a:p>
        </p:txBody>
      </p:sp>
      <p:sp>
        <p:nvSpPr>
          <p:cNvPr id="50" name="Shape 47"/>
          <p:cNvSpPr/>
          <p:nvPr/>
        </p:nvSpPr>
        <p:spPr>
          <a:xfrm>
            <a:off x="6368796" y="2990088"/>
            <a:ext cx="256032" cy="256032"/>
          </a:xfrm>
          <a:prstGeom prst="ellipse">
            <a:avLst/>
          </a:prstGeom>
          <a:solidFill>
            <a:srgbClr val="F4F1EA"/>
          </a:solidFill>
          <a:ln w="12700">
            <a:solidFill>
              <a:srgbClr val="F4F1EA"/>
            </a:solidFill>
            <a:prstDash val="solid"/>
          </a:ln>
        </p:spPr>
      </p:sp>
      <p:sp>
        <p:nvSpPr>
          <p:cNvPr id="51" name="Text 48"/>
          <p:cNvSpPr txBox="1"/>
          <p:nvPr/>
        </p:nvSpPr>
        <p:spPr>
          <a:xfrm>
            <a:off x="6368796"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2" name="Text 49"/>
          <p:cNvSpPr txBox="1"/>
          <p:nvPr/>
        </p:nvSpPr>
        <p:spPr>
          <a:xfrm>
            <a:off x="6697980" y="28895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drink coffee</a:t>
            </a:r>
            <a:endParaRPr lang="en-US" sz="1250" dirty="0"/>
          </a:p>
        </p:txBody>
      </p:sp>
      <p:sp>
        <p:nvSpPr>
          <p:cNvPr id="53" name="Shape 50"/>
          <p:cNvSpPr/>
          <p:nvPr/>
        </p:nvSpPr>
        <p:spPr>
          <a:xfrm>
            <a:off x="6368796" y="3447288"/>
            <a:ext cx="256032" cy="256032"/>
          </a:xfrm>
          <a:prstGeom prst="ellipse">
            <a:avLst/>
          </a:prstGeom>
          <a:solidFill>
            <a:srgbClr val="F4F1EA"/>
          </a:solidFill>
          <a:ln w="12700">
            <a:solidFill>
              <a:srgbClr val="F4F1EA"/>
            </a:solidFill>
            <a:prstDash val="solid"/>
          </a:ln>
        </p:spPr>
      </p:sp>
      <p:sp>
        <p:nvSpPr>
          <p:cNvPr id="54" name="Text 51"/>
          <p:cNvSpPr txBox="1"/>
          <p:nvPr/>
        </p:nvSpPr>
        <p:spPr>
          <a:xfrm>
            <a:off x="6368796"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5" name="Text 52"/>
          <p:cNvSpPr txBox="1"/>
          <p:nvPr/>
        </p:nvSpPr>
        <p:spPr>
          <a:xfrm>
            <a:off x="6697980" y="33467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go straight to sleep</a:t>
            </a:r>
            <a:endParaRPr lang="en-US" sz="1250" dirty="0"/>
          </a:p>
        </p:txBody>
      </p:sp>
      <p:sp>
        <p:nvSpPr>
          <p:cNvPr id="56" name="Shape 53"/>
          <p:cNvSpPr/>
          <p:nvPr/>
        </p:nvSpPr>
        <p:spPr>
          <a:xfrm>
            <a:off x="9050274"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7" name="Shape 54"/>
          <p:cNvSpPr/>
          <p:nvPr/>
        </p:nvSpPr>
        <p:spPr>
          <a:xfrm>
            <a:off x="9178290" y="1947672"/>
            <a:ext cx="310896" cy="310896"/>
          </a:xfrm>
          <a:prstGeom prst="ellipse">
            <a:avLst/>
          </a:prstGeom>
          <a:solidFill>
            <a:srgbClr val="1B3B6F"/>
          </a:solidFill>
          <a:ln w="12700">
            <a:solidFill>
              <a:srgbClr val="1B3B6F"/>
            </a:solidFill>
            <a:prstDash val="solid"/>
          </a:ln>
        </p:spPr>
      </p:sp>
      <p:sp>
        <p:nvSpPr>
          <p:cNvPr id="58" name="Text 55"/>
          <p:cNvSpPr txBox="1"/>
          <p:nvPr/>
        </p:nvSpPr>
        <p:spPr>
          <a:xfrm>
            <a:off x="917829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9" name="Text 56"/>
          <p:cNvSpPr txBox="1"/>
          <p:nvPr/>
        </p:nvSpPr>
        <p:spPr>
          <a:xfrm>
            <a:off x="9544050"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she review after dinner?</a:t>
            </a:r>
            <a:endParaRPr lang="en-US" sz="1250" dirty="0"/>
          </a:p>
        </p:txBody>
      </p:sp>
      <p:sp>
        <p:nvSpPr>
          <p:cNvPr id="60" name="Shape 57"/>
          <p:cNvSpPr/>
          <p:nvPr/>
        </p:nvSpPr>
        <p:spPr>
          <a:xfrm>
            <a:off x="9233154" y="2532888"/>
            <a:ext cx="256032" cy="256032"/>
          </a:xfrm>
          <a:prstGeom prst="ellipse">
            <a:avLst/>
          </a:prstGeom>
          <a:solidFill>
            <a:srgbClr val="F4F1EA"/>
          </a:solidFill>
          <a:ln w="12700">
            <a:solidFill>
              <a:srgbClr val="F4F1EA"/>
            </a:solidFill>
            <a:prstDash val="solid"/>
          </a:ln>
        </p:spPr>
      </p:sp>
      <p:sp>
        <p:nvSpPr>
          <p:cNvPr id="61" name="Text 58"/>
          <p:cNvSpPr txBox="1"/>
          <p:nvPr/>
        </p:nvSpPr>
        <p:spPr>
          <a:xfrm>
            <a:off x="923315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2" name="Text 59"/>
          <p:cNvSpPr txBox="1"/>
          <p:nvPr/>
        </p:nvSpPr>
        <p:spPr>
          <a:xfrm>
            <a:off x="9562338" y="24323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television programme</a:t>
            </a:r>
            <a:endParaRPr lang="en-US" sz="1250" dirty="0"/>
          </a:p>
        </p:txBody>
      </p:sp>
      <p:sp>
        <p:nvSpPr>
          <p:cNvPr id="63" name="Shape 60"/>
          <p:cNvSpPr/>
          <p:nvPr/>
        </p:nvSpPr>
        <p:spPr>
          <a:xfrm>
            <a:off x="9233154" y="2990088"/>
            <a:ext cx="256032" cy="256032"/>
          </a:xfrm>
          <a:prstGeom prst="ellipse">
            <a:avLst/>
          </a:prstGeom>
          <a:solidFill>
            <a:srgbClr val="F4F1EA"/>
          </a:solidFill>
          <a:ln w="12700">
            <a:solidFill>
              <a:srgbClr val="F4F1EA"/>
            </a:solidFill>
            <a:prstDash val="solid"/>
          </a:ln>
        </p:spPr>
      </p:sp>
      <p:sp>
        <p:nvSpPr>
          <p:cNvPr id="64" name="Text 61"/>
          <p:cNvSpPr txBox="1"/>
          <p:nvPr/>
        </p:nvSpPr>
        <p:spPr>
          <a:xfrm>
            <a:off x="923315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5" name="Text 62"/>
          <p:cNvSpPr txBox="1"/>
          <p:nvPr/>
        </p:nvSpPr>
        <p:spPr>
          <a:xfrm>
            <a:off x="9562338" y="28895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what she needs for school</a:t>
            </a:r>
            <a:endParaRPr lang="en-US" sz="1250" dirty="0"/>
          </a:p>
        </p:txBody>
      </p:sp>
      <p:sp>
        <p:nvSpPr>
          <p:cNvPr id="66" name="Shape 63"/>
          <p:cNvSpPr/>
          <p:nvPr/>
        </p:nvSpPr>
        <p:spPr>
          <a:xfrm>
            <a:off x="9233154" y="3447288"/>
            <a:ext cx="256032" cy="256032"/>
          </a:xfrm>
          <a:prstGeom prst="ellipse">
            <a:avLst/>
          </a:prstGeom>
          <a:solidFill>
            <a:srgbClr val="F4F1EA"/>
          </a:solidFill>
          <a:ln w="12700">
            <a:solidFill>
              <a:srgbClr val="F4F1EA"/>
            </a:solidFill>
            <a:prstDash val="solid"/>
          </a:ln>
        </p:spPr>
      </p:sp>
      <p:sp>
        <p:nvSpPr>
          <p:cNvPr id="67" name="Text 64"/>
          <p:cNvSpPr txBox="1"/>
          <p:nvPr/>
        </p:nvSpPr>
        <p:spPr>
          <a:xfrm>
            <a:off x="923315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8" name="Text 65"/>
          <p:cNvSpPr txBox="1"/>
          <p:nvPr/>
        </p:nvSpPr>
        <p:spPr>
          <a:xfrm>
            <a:off x="9562338" y="33467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travel timetable</a:t>
            </a:r>
            <a:endParaRPr lang="en-US" sz="1250" dirty="0"/>
          </a:p>
        </p:txBody>
      </p:sp>
      <p:sp>
        <p:nvSpPr>
          <p:cNvPr id="69" name="Shape 66"/>
          <p:cNvSpPr/>
          <p:nvPr/>
        </p:nvSpPr>
        <p:spPr>
          <a:xfrm>
            <a:off x="457200" y="4151376"/>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0" name="Shape 67"/>
          <p:cNvSpPr/>
          <p:nvPr/>
        </p:nvSpPr>
        <p:spPr>
          <a:xfrm>
            <a:off x="585216" y="4288536"/>
            <a:ext cx="310896" cy="310896"/>
          </a:xfrm>
          <a:prstGeom prst="ellipse">
            <a:avLst/>
          </a:prstGeom>
          <a:solidFill>
            <a:srgbClr val="1B3B6F"/>
          </a:solidFill>
          <a:ln w="12700">
            <a:solidFill>
              <a:srgbClr val="1B3B6F"/>
            </a:solidFill>
            <a:prstDash val="solid"/>
          </a:ln>
        </p:spPr>
      </p:sp>
      <p:sp>
        <p:nvSpPr>
          <p:cNvPr id="71" name="Text 68"/>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2" name="Text 69"/>
          <p:cNvSpPr txBox="1"/>
          <p:nvPr/>
        </p:nvSpPr>
        <p:spPr>
          <a:xfrm>
            <a:off x="950976" y="4224528"/>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Why avoid caffeine?</a:t>
            </a:r>
            <a:endParaRPr lang="en-US" sz="1250" dirty="0"/>
          </a:p>
        </p:txBody>
      </p:sp>
      <p:sp>
        <p:nvSpPr>
          <p:cNvPr id="73" name="Shape 70"/>
          <p:cNvSpPr/>
          <p:nvPr/>
        </p:nvSpPr>
        <p:spPr>
          <a:xfrm>
            <a:off x="640080" y="4873752"/>
            <a:ext cx="256032" cy="256032"/>
          </a:xfrm>
          <a:prstGeom prst="ellipse">
            <a:avLst/>
          </a:prstGeom>
          <a:solidFill>
            <a:srgbClr val="F4F1EA"/>
          </a:solidFill>
          <a:ln w="12700">
            <a:solidFill>
              <a:srgbClr val="F4F1EA"/>
            </a:solidFill>
            <a:prstDash val="solid"/>
          </a:ln>
        </p:spPr>
      </p:sp>
      <p:sp>
        <p:nvSpPr>
          <p:cNvPr id="74" name="Text 71"/>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75" name="Text 72"/>
          <p:cNvSpPr txBox="1"/>
          <p:nvPr/>
        </p:nvSpPr>
        <p:spPr>
          <a:xfrm>
            <a:off x="969264" y="4773168"/>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to sleep deeply</a:t>
            </a:r>
            <a:endParaRPr lang="en-US" sz="1250" dirty="0"/>
          </a:p>
        </p:txBody>
      </p:sp>
      <p:sp>
        <p:nvSpPr>
          <p:cNvPr id="76" name="Shape 73"/>
          <p:cNvSpPr/>
          <p:nvPr/>
        </p:nvSpPr>
        <p:spPr>
          <a:xfrm>
            <a:off x="640080" y="5330952"/>
            <a:ext cx="256032" cy="256032"/>
          </a:xfrm>
          <a:prstGeom prst="ellipse">
            <a:avLst/>
          </a:prstGeom>
          <a:solidFill>
            <a:srgbClr val="F4F1EA"/>
          </a:solidFill>
          <a:ln w="12700">
            <a:solidFill>
              <a:srgbClr val="F4F1EA"/>
            </a:solidFill>
            <a:prstDash val="solid"/>
          </a:ln>
        </p:spPr>
      </p:sp>
      <p:sp>
        <p:nvSpPr>
          <p:cNvPr id="77" name="Text 74"/>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8" name="Text 75"/>
          <p:cNvSpPr txBox="1"/>
          <p:nvPr/>
        </p:nvSpPr>
        <p:spPr>
          <a:xfrm>
            <a:off x="969264" y="5230368"/>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to wake later</a:t>
            </a:r>
            <a:endParaRPr lang="en-US" sz="1250" dirty="0"/>
          </a:p>
        </p:txBody>
      </p:sp>
      <p:sp>
        <p:nvSpPr>
          <p:cNvPr id="79" name="Shape 76"/>
          <p:cNvSpPr/>
          <p:nvPr/>
        </p:nvSpPr>
        <p:spPr>
          <a:xfrm>
            <a:off x="640080" y="5788152"/>
            <a:ext cx="256032" cy="256032"/>
          </a:xfrm>
          <a:prstGeom prst="ellipse">
            <a:avLst/>
          </a:prstGeom>
          <a:solidFill>
            <a:srgbClr val="F4F1EA"/>
          </a:solidFill>
          <a:ln w="12700">
            <a:solidFill>
              <a:srgbClr val="F4F1EA"/>
            </a:solidFill>
            <a:prstDash val="solid"/>
          </a:ln>
        </p:spPr>
      </p:sp>
      <p:sp>
        <p:nvSpPr>
          <p:cNvPr id="80" name="Text 77"/>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1" name="Text 78"/>
          <p:cNvSpPr txBox="1"/>
          <p:nvPr/>
        </p:nvSpPr>
        <p:spPr>
          <a:xfrm>
            <a:off x="969264" y="5687568"/>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to train harder</a:t>
            </a:r>
            <a:endParaRPr lang="en-US" sz="1250" dirty="0"/>
          </a:p>
        </p:txBody>
      </p:sp>
      <p:sp>
        <p:nvSpPr>
          <p:cNvPr id="82" name="Shape 79"/>
          <p:cNvSpPr/>
          <p:nvPr/>
        </p:nvSpPr>
        <p:spPr>
          <a:xfrm>
            <a:off x="3321558" y="4151376"/>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83" name="Shape 80"/>
          <p:cNvSpPr/>
          <p:nvPr/>
        </p:nvSpPr>
        <p:spPr>
          <a:xfrm>
            <a:off x="3449574" y="4288536"/>
            <a:ext cx="310896" cy="310896"/>
          </a:xfrm>
          <a:prstGeom prst="ellipse">
            <a:avLst/>
          </a:prstGeom>
          <a:solidFill>
            <a:srgbClr val="1B3B6F"/>
          </a:solidFill>
          <a:ln w="12700">
            <a:solidFill>
              <a:srgbClr val="1B3B6F"/>
            </a:solidFill>
            <a:prstDash val="solid"/>
          </a:ln>
        </p:spPr>
      </p:sp>
      <p:sp>
        <p:nvSpPr>
          <p:cNvPr id="84" name="Text 81"/>
          <p:cNvSpPr txBox="1"/>
          <p:nvPr/>
        </p:nvSpPr>
        <p:spPr>
          <a:xfrm>
            <a:off x="3449574"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6</a:t>
            </a:r>
            <a:endParaRPr lang="en-US" sz="1100" dirty="0"/>
          </a:p>
        </p:txBody>
      </p:sp>
      <p:sp>
        <p:nvSpPr>
          <p:cNvPr id="85" name="Text 82"/>
          <p:cNvSpPr txBox="1"/>
          <p:nvPr/>
        </p:nvSpPr>
        <p:spPr>
          <a:xfrm>
            <a:off x="3815334" y="4224528"/>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detail shows a calm bedtime routine?</a:t>
            </a:r>
            <a:endParaRPr lang="en-US" sz="1250" dirty="0"/>
          </a:p>
        </p:txBody>
      </p:sp>
      <p:sp>
        <p:nvSpPr>
          <p:cNvPr id="86" name="Shape 83"/>
          <p:cNvSpPr/>
          <p:nvPr/>
        </p:nvSpPr>
        <p:spPr>
          <a:xfrm>
            <a:off x="3504438" y="4873752"/>
            <a:ext cx="256032" cy="256032"/>
          </a:xfrm>
          <a:prstGeom prst="ellipse">
            <a:avLst/>
          </a:prstGeom>
          <a:solidFill>
            <a:srgbClr val="F4F1EA"/>
          </a:solidFill>
          <a:ln w="12700">
            <a:solidFill>
              <a:srgbClr val="F4F1EA"/>
            </a:solidFill>
            <a:prstDash val="solid"/>
          </a:ln>
        </p:spPr>
      </p:sp>
      <p:sp>
        <p:nvSpPr>
          <p:cNvPr id="87" name="Text 84"/>
          <p:cNvSpPr txBox="1"/>
          <p:nvPr/>
        </p:nvSpPr>
        <p:spPr>
          <a:xfrm>
            <a:off x="3504438"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88" name="Text 85"/>
          <p:cNvSpPr txBox="1"/>
          <p:nvPr/>
        </p:nvSpPr>
        <p:spPr>
          <a:xfrm>
            <a:off x="3833622" y="4773168"/>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playing games</a:t>
            </a:r>
            <a:endParaRPr lang="en-US" sz="1250" dirty="0"/>
          </a:p>
        </p:txBody>
      </p:sp>
      <p:sp>
        <p:nvSpPr>
          <p:cNvPr id="89" name="Shape 86"/>
          <p:cNvSpPr/>
          <p:nvPr/>
        </p:nvSpPr>
        <p:spPr>
          <a:xfrm>
            <a:off x="3504438" y="5330952"/>
            <a:ext cx="256032" cy="256032"/>
          </a:xfrm>
          <a:prstGeom prst="ellipse">
            <a:avLst/>
          </a:prstGeom>
          <a:solidFill>
            <a:srgbClr val="F4F1EA"/>
          </a:solidFill>
          <a:ln w="12700">
            <a:solidFill>
              <a:srgbClr val="F4F1EA"/>
            </a:solidFill>
            <a:prstDash val="solid"/>
          </a:ln>
        </p:spPr>
      </p:sp>
      <p:sp>
        <p:nvSpPr>
          <p:cNvPr id="90" name="Text 87"/>
          <p:cNvSpPr txBox="1"/>
          <p:nvPr/>
        </p:nvSpPr>
        <p:spPr>
          <a:xfrm>
            <a:off x="3504438"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91" name="Text 88"/>
          <p:cNvSpPr txBox="1"/>
          <p:nvPr/>
        </p:nvSpPr>
        <p:spPr>
          <a:xfrm>
            <a:off x="3833622" y="5230368"/>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doing more homework</a:t>
            </a:r>
            <a:endParaRPr lang="en-US" sz="1250" dirty="0"/>
          </a:p>
        </p:txBody>
      </p:sp>
      <p:sp>
        <p:nvSpPr>
          <p:cNvPr id="92" name="Shape 89"/>
          <p:cNvSpPr/>
          <p:nvPr/>
        </p:nvSpPr>
        <p:spPr>
          <a:xfrm>
            <a:off x="3504438" y="5788152"/>
            <a:ext cx="256032" cy="256032"/>
          </a:xfrm>
          <a:prstGeom prst="ellipse">
            <a:avLst/>
          </a:prstGeom>
          <a:solidFill>
            <a:srgbClr val="F4F1EA"/>
          </a:solidFill>
          <a:ln w="12700">
            <a:solidFill>
              <a:srgbClr val="F4F1EA"/>
            </a:solidFill>
            <a:prstDash val="solid"/>
          </a:ln>
        </p:spPr>
      </p:sp>
      <p:sp>
        <p:nvSpPr>
          <p:cNvPr id="93" name="Text 90"/>
          <p:cNvSpPr txBox="1"/>
          <p:nvPr/>
        </p:nvSpPr>
        <p:spPr>
          <a:xfrm>
            <a:off x="3504438"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94" name="Text 91"/>
          <p:cNvSpPr txBox="1"/>
          <p:nvPr/>
        </p:nvSpPr>
        <p:spPr>
          <a:xfrm>
            <a:off x="3833622" y="5687568"/>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reading for ten minutes</a:t>
            </a:r>
            <a:endParaRPr lang="en-US" sz="1250" dirty="0"/>
          </a:p>
        </p:txBody>
      </p:sp>
      <p:sp>
        <p:nvSpPr>
          <p:cNvPr id="95" name="Shape 92"/>
          <p:cNvSpPr/>
          <p:nvPr/>
        </p:nvSpPr>
        <p:spPr>
          <a:xfrm>
            <a:off x="6185916" y="4151376"/>
            <a:ext cx="2681478"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96" name="Text 93"/>
          <p:cNvSpPr txBox="1"/>
          <p:nvPr/>
        </p:nvSpPr>
        <p:spPr>
          <a:xfrm>
            <a:off x="6368796" y="4279392"/>
            <a:ext cx="2315718"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READ LIKE A DETECTIVE</a:t>
            </a:r>
            <a:endParaRPr lang="en-US" sz="1000" dirty="0"/>
          </a:p>
        </p:txBody>
      </p:sp>
      <p:sp>
        <p:nvSpPr>
          <p:cNvPr id="97" name="Text 94"/>
          <p:cNvSpPr txBox="1"/>
          <p:nvPr/>
        </p:nvSpPr>
        <p:spPr>
          <a:xfrm>
            <a:off x="6368796" y="4590288"/>
            <a:ext cx="2315718" cy="1609344"/>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1. Read the question first.</a:t>
            </a:r>
            <a:endParaRPr lang="en-US" sz="1250" dirty="0"/>
          </a:p>
          <a:p>
            <a:pPr algn="l" indent="0" marL="0">
              <a:buNone/>
            </a:pPr>
            <a:r>
              <a:rPr lang="en-US" sz="1250" dirty="0">
                <a:solidFill>
                  <a:srgbClr val="1F2A37"/>
                </a:solidFill>
                <a:latin typeface="Calibri" pitchFamily="34" charset="0"/>
                <a:cs typeface="Amiri" pitchFamily="2" charset="-78"/>
              </a:rPr>
              <a:t>2. Find ONE key word from the question in the text.</a:t>
            </a:r>
            <a:endParaRPr lang="en-US" sz="1250" dirty="0"/>
          </a:p>
          <a:p>
            <a:pPr algn="l" indent="0" marL="0">
              <a:buNone/>
            </a:pPr>
            <a:r>
              <a:rPr lang="en-US" sz="1250" dirty="0">
                <a:solidFill>
                  <a:srgbClr val="1F2A37"/>
                </a:solidFill>
                <a:latin typeface="Calibri" pitchFamily="34" charset="0"/>
                <a:cs typeface="Amiri" pitchFamily="2" charset="-78"/>
              </a:rPr>
              <a:t>3. Read only that sentence again, then choose.</a:t>
            </a:r>
            <a:endParaRPr lang="en-US" sz="1250" dirty="0"/>
          </a:p>
        </p:txBody>
      </p:sp>
      <p:sp>
        <p:nvSpPr>
          <p:cNvPr id="98" name="Text 9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41 / 46</a:t>
            </a:r>
            <a:endParaRPr lang="en-US" sz="85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D1-L04 · Before and After</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EXTENSION · READING ANSWERS</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Reading: answers</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إِجَابَاتُ القِرَاءَةِ</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D1 · Daily Routine and Time · D1-L04</a:t>
            </a:r>
            <a:endParaRPr lang="en-US" sz="850" dirty="0"/>
          </a:p>
        </p:txBody>
      </p:sp>
      <p:sp>
        <p:nvSpPr>
          <p:cNvPr id="17" name="Shape 14"/>
          <p:cNvSpPr/>
          <p:nvPr/>
        </p:nvSpPr>
        <p:spPr>
          <a:xfrm>
            <a:off x="457200"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20" name="Text 17"/>
          <p:cNvSpPr txBox="1"/>
          <p:nvPr/>
        </p:nvSpPr>
        <p:spPr>
          <a:xfrm>
            <a:off x="950976"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is Layla’s main belief?</a:t>
            </a:r>
            <a:endParaRPr lang="en-US" sz="1250" dirty="0"/>
          </a:p>
        </p:txBody>
      </p:sp>
      <p:sp>
        <p:nvSpPr>
          <p:cNvPr id="21" name="Shape 18"/>
          <p:cNvSpPr/>
          <p:nvPr/>
        </p:nvSpPr>
        <p:spPr>
          <a:xfrm>
            <a:off x="640080" y="2490216"/>
            <a:ext cx="256032" cy="256032"/>
          </a:xfrm>
          <a:prstGeom prst="ellipse">
            <a:avLst/>
          </a:prstGeom>
          <a:solidFill>
            <a:srgbClr val="C9CED6"/>
          </a:solidFill>
          <a:ln w="12700">
            <a:solidFill>
              <a:srgbClr val="C9CED6"/>
            </a:solidFill>
            <a:prstDash val="solid"/>
          </a:ln>
        </p:spPr>
      </p:sp>
      <p:sp>
        <p:nvSpPr>
          <p:cNvPr id="22" name="Text 19"/>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3" name="Text 20"/>
          <p:cNvSpPr txBox="1"/>
          <p:nvPr/>
        </p:nvSpPr>
        <p:spPr>
          <a:xfrm>
            <a:off x="969264" y="2432304"/>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games improve homework</a:t>
            </a:r>
            <a:endParaRPr lang="en-US" sz="1250" dirty="0"/>
          </a:p>
        </p:txBody>
      </p:sp>
      <p:sp>
        <p:nvSpPr>
          <p:cNvPr id="24" name="Shape 21"/>
          <p:cNvSpPr/>
          <p:nvPr/>
        </p:nvSpPr>
        <p:spPr>
          <a:xfrm>
            <a:off x="548640" y="2825496"/>
            <a:ext cx="2498598" cy="347472"/>
          </a:xfrm>
          <a:prstGeom prst="roundRect">
            <a:avLst>
              <a:gd name="adj" fmla="val 15789"/>
            </a:avLst>
          </a:prstGeom>
          <a:solidFill>
            <a:srgbClr val="E6F4EC"/>
          </a:solidFill>
          <a:ln w="9525">
            <a:solidFill>
              <a:srgbClr val="2E8B57"/>
            </a:solidFill>
            <a:prstDash val="solid"/>
          </a:ln>
        </p:spPr>
      </p:sp>
      <p:sp>
        <p:nvSpPr>
          <p:cNvPr id="25" name="Shape 22"/>
          <p:cNvSpPr/>
          <p:nvPr/>
        </p:nvSpPr>
        <p:spPr>
          <a:xfrm>
            <a:off x="640080" y="2862072"/>
            <a:ext cx="256032" cy="256032"/>
          </a:xfrm>
          <a:prstGeom prst="ellipse">
            <a:avLst/>
          </a:prstGeom>
          <a:solidFill>
            <a:srgbClr val="2E8B57"/>
          </a:solidFill>
          <a:ln w="12700">
            <a:solidFill>
              <a:srgbClr val="2E8B57"/>
            </a:solidFill>
            <a:prstDash val="solid"/>
          </a:ln>
        </p:spPr>
      </p:sp>
      <p:sp>
        <p:nvSpPr>
          <p:cNvPr id="26" name="Text 23"/>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27" name="Text 24"/>
          <p:cNvSpPr txBox="1"/>
          <p:nvPr/>
        </p:nvSpPr>
        <p:spPr>
          <a:xfrm>
            <a:off x="969264" y="2804160"/>
            <a:ext cx="2023110" cy="371856"/>
          </a:xfrm>
          <a:prstGeom prst="rect">
            <a:avLst/>
          </a:prstGeom>
          <a:noFill/>
          <a:ln/>
        </p:spPr>
        <p:txBody>
          <a:bodyPr wrap="square" lIns="0" tIns="0" rIns="0" bIns="0" rtlCol="0" anchor="ctr"/>
          <a:lstStyle/>
          <a:p>
            <a:pPr algn="l" indent="0" marL="0">
              <a:buNone/>
            </a:pPr>
            <a:r>
              <a:rPr lang="en-US" sz="1150" b="1" dirty="0">
                <a:solidFill>
                  <a:srgbClr val="1F2A37"/>
                </a:solidFill>
                <a:latin typeface="Calibri" pitchFamily="34" charset="0"/>
                <a:cs typeface="Amiri" pitchFamily="2" charset="-78"/>
              </a:rPr>
              <a:t>an organised evening improves the next day</a:t>
            </a:r>
            <a:endParaRPr lang="en-US" sz="1150" dirty="0"/>
          </a:p>
        </p:txBody>
      </p:sp>
      <p:sp>
        <p:nvSpPr>
          <p:cNvPr id="28" name="Shape 25"/>
          <p:cNvSpPr/>
          <p:nvPr/>
        </p:nvSpPr>
        <p:spPr>
          <a:xfrm>
            <a:off x="640080" y="3233928"/>
            <a:ext cx="256032" cy="256032"/>
          </a:xfrm>
          <a:prstGeom prst="ellipse">
            <a:avLst/>
          </a:prstGeom>
          <a:solidFill>
            <a:srgbClr val="C9CED6"/>
          </a:solidFill>
          <a:ln w="12700">
            <a:solidFill>
              <a:srgbClr val="C9CED6"/>
            </a:solidFill>
            <a:prstDash val="solid"/>
          </a:ln>
        </p:spPr>
      </p:sp>
      <p:sp>
        <p:nvSpPr>
          <p:cNvPr id="29" name="Text 26"/>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30" name="Text 27"/>
          <p:cNvSpPr txBox="1"/>
          <p:nvPr/>
        </p:nvSpPr>
        <p:spPr>
          <a:xfrm>
            <a:off x="969264" y="3176016"/>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sleep is unnecessary</a:t>
            </a:r>
            <a:endParaRPr lang="en-US" sz="1250" dirty="0"/>
          </a:p>
        </p:txBody>
      </p:sp>
      <p:sp>
        <p:nvSpPr>
          <p:cNvPr id="31" name="Text 28"/>
          <p:cNvSpPr txBox="1"/>
          <p:nvPr/>
        </p:nvSpPr>
        <p:spPr>
          <a:xfrm>
            <a:off x="585216" y="3566160"/>
            <a:ext cx="2425446"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The opening states that an organised evening affects the next day.</a:t>
            </a:r>
            <a:endParaRPr lang="en-US" sz="1050" dirty="0"/>
          </a:p>
        </p:txBody>
      </p:sp>
      <p:sp>
        <p:nvSpPr>
          <p:cNvPr id="32" name="Shape 29"/>
          <p:cNvSpPr/>
          <p:nvPr/>
        </p:nvSpPr>
        <p:spPr>
          <a:xfrm>
            <a:off x="3321558"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3" name="Shape 30"/>
          <p:cNvSpPr/>
          <p:nvPr/>
        </p:nvSpPr>
        <p:spPr>
          <a:xfrm>
            <a:off x="3449574" y="1947672"/>
            <a:ext cx="310896" cy="310896"/>
          </a:xfrm>
          <a:prstGeom prst="ellipse">
            <a:avLst/>
          </a:prstGeom>
          <a:solidFill>
            <a:srgbClr val="1B3B6F"/>
          </a:solidFill>
          <a:ln w="12700">
            <a:solidFill>
              <a:srgbClr val="1B3B6F"/>
            </a:solidFill>
            <a:prstDash val="solid"/>
          </a:ln>
        </p:spPr>
      </p:sp>
      <p:sp>
        <p:nvSpPr>
          <p:cNvPr id="34" name="Text 31"/>
          <p:cNvSpPr txBox="1"/>
          <p:nvPr/>
        </p:nvSpPr>
        <p:spPr>
          <a:xfrm>
            <a:off x="344957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5" name="Text 32"/>
          <p:cNvSpPr txBox="1"/>
          <p:nvPr/>
        </p:nvSpPr>
        <p:spPr>
          <a:xfrm>
            <a:off x="3815334"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must she do before electronic games?</a:t>
            </a:r>
            <a:endParaRPr lang="en-US" sz="1250" dirty="0"/>
          </a:p>
        </p:txBody>
      </p:sp>
      <p:sp>
        <p:nvSpPr>
          <p:cNvPr id="36" name="Shape 33"/>
          <p:cNvSpPr/>
          <p:nvPr/>
        </p:nvSpPr>
        <p:spPr>
          <a:xfrm>
            <a:off x="3504438" y="2490216"/>
            <a:ext cx="256032" cy="256032"/>
          </a:xfrm>
          <a:prstGeom prst="ellipse">
            <a:avLst/>
          </a:prstGeom>
          <a:solidFill>
            <a:srgbClr val="C9CED6"/>
          </a:solidFill>
          <a:ln w="12700">
            <a:solidFill>
              <a:srgbClr val="C9CED6"/>
            </a:solidFill>
            <a:prstDash val="solid"/>
          </a:ln>
        </p:spPr>
      </p:sp>
      <p:sp>
        <p:nvSpPr>
          <p:cNvPr id="37" name="Text 34"/>
          <p:cNvSpPr txBox="1"/>
          <p:nvPr/>
        </p:nvSpPr>
        <p:spPr>
          <a:xfrm>
            <a:off x="3504438"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8" name="Text 35"/>
          <p:cNvSpPr txBox="1"/>
          <p:nvPr/>
        </p:nvSpPr>
        <p:spPr>
          <a:xfrm>
            <a:off x="3833622" y="2432304"/>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eat dinner</a:t>
            </a:r>
            <a:endParaRPr lang="en-US" sz="1250" dirty="0"/>
          </a:p>
        </p:txBody>
      </p:sp>
      <p:sp>
        <p:nvSpPr>
          <p:cNvPr id="39" name="Shape 36"/>
          <p:cNvSpPr/>
          <p:nvPr/>
        </p:nvSpPr>
        <p:spPr>
          <a:xfrm>
            <a:off x="3504438" y="2862072"/>
            <a:ext cx="256032" cy="256032"/>
          </a:xfrm>
          <a:prstGeom prst="ellipse">
            <a:avLst/>
          </a:prstGeom>
          <a:solidFill>
            <a:srgbClr val="C9CED6"/>
          </a:solidFill>
          <a:ln w="12700">
            <a:solidFill>
              <a:srgbClr val="C9CED6"/>
            </a:solidFill>
            <a:prstDash val="solid"/>
          </a:ln>
        </p:spPr>
      </p:sp>
      <p:sp>
        <p:nvSpPr>
          <p:cNvPr id="40" name="Text 37"/>
          <p:cNvSpPr txBox="1"/>
          <p:nvPr/>
        </p:nvSpPr>
        <p:spPr>
          <a:xfrm>
            <a:off x="350443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1" name="Text 38"/>
          <p:cNvSpPr txBox="1"/>
          <p:nvPr/>
        </p:nvSpPr>
        <p:spPr>
          <a:xfrm>
            <a:off x="3833622" y="2804160"/>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walk</a:t>
            </a:r>
            <a:endParaRPr lang="en-US" sz="1250" dirty="0"/>
          </a:p>
        </p:txBody>
      </p:sp>
      <p:sp>
        <p:nvSpPr>
          <p:cNvPr id="42" name="Shape 39"/>
          <p:cNvSpPr/>
          <p:nvPr/>
        </p:nvSpPr>
        <p:spPr>
          <a:xfrm>
            <a:off x="3412998" y="3197352"/>
            <a:ext cx="2498598" cy="347472"/>
          </a:xfrm>
          <a:prstGeom prst="roundRect">
            <a:avLst>
              <a:gd name="adj" fmla="val 15789"/>
            </a:avLst>
          </a:prstGeom>
          <a:solidFill>
            <a:srgbClr val="E6F4EC"/>
          </a:solidFill>
          <a:ln w="9525">
            <a:solidFill>
              <a:srgbClr val="2E8B57"/>
            </a:solidFill>
            <a:prstDash val="solid"/>
          </a:ln>
        </p:spPr>
      </p:sp>
      <p:sp>
        <p:nvSpPr>
          <p:cNvPr id="43" name="Shape 40"/>
          <p:cNvSpPr/>
          <p:nvPr/>
        </p:nvSpPr>
        <p:spPr>
          <a:xfrm>
            <a:off x="3504438" y="3233928"/>
            <a:ext cx="256032" cy="256032"/>
          </a:xfrm>
          <a:prstGeom prst="ellipse">
            <a:avLst/>
          </a:prstGeom>
          <a:solidFill>
            <a:srgbClr val="2E8B57"/>
          </a:solidFill>
          <a:ln w="12700">
            <a:solidFill>
              <a:srgbClr val="2E8B57"/>
            </a:solidFill>
            <a:prstDash val="solid"/>
          </a:ln>
        </p:spPr>
      </p:sp>
      <p:sp>
        <p:nvSpPr>
          <p:cNvPr id="44" name="Text 41"/>
          <p:cNvSpPr txBox="1"/>
          <p:nvPr/>
        </p:nvSpPr>
        <p:spPr>
          <a:xfrm>
            <a:off x="3504438"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45" name="Text 42"/>
          <p:cNvSpPr txBox="1"/>
          <p:nvPr/>
        </p:nvSpPr>
        <p:spPr>
          <a:xfrm>
            <a:off x="3833622" y="3176016"/>
            <a:ext cx="2023110"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finish homework</a:t>
            </a:r>
            <a:endParaRPr lang="en-US" sz="1250" dirty="0"/>
          </a:p>
        </p:txBody>
      </p:sp>
      <p:sp>
        <p:nvSpPr>
          <p:cNvPr id="46" name="Text 43"/>
          <p:cNvSpPr txBox="1"/>
          <p:nvPr/>
        </p:nvSpPr>
        <p:spPr>
          <a:xfrm>
            <a:off x="3449574" y="3566160"/>
            <a:ext cx="2425446"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قَبْلَ أَنْ تُكْمِلَ وَاجِبَهَا.</a:t>
            </a:r>
            <a:endParaRPr lang="ar-SA" sz="1350" dirty="0"/>
          </a:p>
        </p:txBody>
      </p:sp>
      <p:sp>
        <p:nvSpPr>
          <p:cNvPr id="47" name="Shape 44"/>
          <p:cNvSpPr/>
          <p:nvPr/>
        </p:nvSpPr>
        <p:spPr>
          <a:xfrm>
            <a:off x="6185916"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6313932" y="1947672"/>
            <a:ext cx="310896" cy="310896"/>
          </a:xfrm>
          <a:prstGeom prst="ellipse">
            <a:avLst/>
          </a:prstGeom>
          <a:solidFill>
            <a:srgbClr val="1B3B6F"/>
          </a:solidFill>
          <a:ln w="12700">
            <a:solidFill>
              <a:srgbClr val="1B3B6F"/>
            </a:solidFill>
            <a:prstDash val="solid"/>
          </a:ln>
        </p:spPr>
      </p:sp>
      <p:sp>
        <p:nvSpPr>
          <p:cNvPr id="49" name="Text 46"/>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50" name="Text 47"/>
          <p:cNvSpPr txBox="1"/>
          <p:nvPr/>
        </p:nvSpPr>
        <p:spPr>
          <a:xfrm>
            <a:off x="6679692"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she do after finishing?</a:t>
            </a:r>
            <a:endParaRPr lang="en-US" sz="1250" dirty="0"/>
          </a:p>
        </p:txBody>
      </p:sp>
      <p:sp>
        <p:nvSpPr>
          <p:cNvPr id="51" name="Shape 48"/>
          <p:cNvSpPr/>
          <p:nvPr/>
        </p:nvSpPr>
        <p:spPr>
          <a:xfrm>
            <a:off x="6277356" y="2453640"/>
            <a:ext cx="2498598" cy="347472"/>
          </a:xfrm>
          <a:prstGeom prst="roundRect">
            <a:avLst>
              <a:gd name="adj" fmla="val 15789"/>
            </a:avLst>
          </a:prstGeom>
          <a:solidFill>
            <a:srgbClr val="E6F4EC"/>
          </a:solidFill>
          <a:ln w="9525">
            <a:solidFill>
              <a:srgbClr val="2E8B57"/>
            </a:solidFill>
            <a:prstDash val="solid"/>
          </a:ln>
        </p:spPr>
      </p:sp>
      <p:sp>
        <p:nvSpPr>
          <p:cNvPr id="52" name="Shape 49"/>
          <p:cNvSpPr/>
          <p:nvPr/>
        </p:nvSpPr>
        <p:spPr>
          <a:xfrm>
            <a:off x="6368796" y="2490216"/>
            <a:ext cx="256032" cy="256032"/>
          </a:xfrm>
          <a:prstGeom prst="ellipse">
            <a:avLst/>
          </a:prstGeom>
          <a:solidFill>
            <a:srgbClr val="2E8B57"/>
          </a:solidFill>
          <a:ln w="12700">
            <a:solidFill>
              <a:srgbClr val="2E8B57"/>
            </a:solidFill>
            <a:prstDash val="solid"/>
          </a:ln>
        </p:spPr>
      </p:sp>
      <p:sp>
        <p:nvSpPr>
          <p:cNvPr id="53" name="Text 50"/>
          <p:cNvSpPr txBox="1"/>
          <p:nvPr/>
        </p:nvSpPr>
        <p:spPr>
          <a:xfrm>
            <a:off x="6368796"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54" name="Text 51"/>
          <p:cNvSpPr txBox="1"/>
          <p:nvPr/>
        </p:nvSpPr>
        <p:spPr>
          <a:xfrm>
            <a:off x="6697980" y="2432304"/>
            <a:ext cx="2023110"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exercise or walk</a:t>
            </a:r>
            <a:endParaRPr lang="en-US" sz="1250" dirty="0"/>
          </a:p>
        </p:txBody>
      </p:sp>
      <p:sp>
        <p:nvSpPr>
          <p:cNvPr id="55" name="Shape 52"/>
          <p:cNvSpPr/>
          <p:nvPr/>
        </p:nvSpPr>
        <p:spPr>
          <a:xfrm>
            <a:off x="6368796" y="2862072"/>
            <a:ext cx="256032" cy="256032"/>
          </a:xfrm>
          <a:prstGeom prst="ellipse">
            <a:avLst/>
          </a:prstGeom>
          <a:solidFill>
            <a:srgbClr val="C9CED6"/>
          </a:solidFill>
          <a:ln w="12700">
            <a:solidFill>
              <a:srgbClr val="C9CED6"/>
            </a:solidFill>
            <a:prstDash val="solid"/>
          </a:ln>
        </p:spPr>
      </p:sp>
      <p:sp>
        <p:nvSpPr>
          <p:cNvPr id="56" name="Text 53"/>
          <p:cNvSpPr txBox="1"/>
          <p:nvPr/>
        </p:nvSpPr>
        <p:spPr>
          <a:xfrm>
            <a:off x="6368796"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7" name="Text 54"/>
          <p:cNvSpPr txBox="1"/>
          <p:nvPr/>
        </p:nvSpPr>
        <p:spPr>
          <a:xfrm>
            <a:off x="6697980" y="2804160"/>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drink coffee</a:t>
            </a:r>
            <a:endParaRPr lang="en-US" sz="1250" dirty="0"/>
          </a:p>
        </p:txBody>
      </p:sp>
      <p:sp>
        <p:nvSpPr>
          <p:cNvPr id="58" name="Shape 55"/>
          <p:cNvSpPr/>
          <p:nvPr/>
        </p:nvSpPr>
        <p:spPr>
          <a:xfrm>
            <a:off x="6368796" y="3233928"/>
            <a:ext cx="256032" cy="256032"/>
          </a:xfrm>
          <a:prstGeom prst="ellipse">
            <a:avLst/>
          </a:prstGeom>
          <a:solidFill>
            <a:srgbClr val="C9CED6"/>
          </a:solidFill>
          <a:ln w="12700">
            <a:solidFill>
              <a:srgbClr val="C9CED6"/>
            </a:solidFill>
            <a:prstDash val="solid"/>
          </a:ln>
        </p:spPr>
      </p:sp>
      <p:sp>
        <p:nvSpPr>
          <p:cNvPr id="59" name="Text 56"/>
          <p:cNvSpPr txBox="1"/>
          <p:nvPr/>
        </p:nvSpPr>
        <p:spPr>
          <a:xfrm>
            <a:off x="6368796"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0" name="Text 57"/>
          <p:cNvSpPr txBox="1"/>
          <p:nvPr/>
        </p:nvSpPr>
        <p:spPr>
          <a:xfrm>
            <a:off x="6697980" y="3176016"/>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go straight to sleep</a:t>
            </a:r>
            <a:endParaRPr lang="en-US" sz="1250" dirty="0"/>
          </a:p>
        </p:txBody>
      </p:sp>
      <p:sp>
        <p:nvSpPr>
          <p:cNvPr id="61" name="Text 58"/>
          <p:cNvSpPr txBox="1"/>
          <p:nvPr/>
        </p:nvSpPr>
        <p:spPr>
          <a:xfrm>
            <a:off x="6313932" y="3566160"/>
            <a:ext cx="2425446"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تَتَمَرَّنُ أَوْ تَمْشِي.</a:t>
            </a:r>
            <a:endParaRPr lang="ar-SA" sz="1350" dirty="0"/>
          </a:p>
        </p:txBody>
      </p:sp>
      <p:sp>
        <p:nvSpPr>
          <p:cNvPr id="62" name="Shape 59"/>
          <p:cNvSpPr/>
          <p:nvPr/>
        </p:nvSpPr>
        <p:spPr>
          <a:xfrm>
            <a:off x="9050274"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3" name="Shape 60"/>
          <p:cNvSpPr/>
          <p:nvPr/>
        </p:nvSpPr>
        <p:spPr>
          <a:xfrm>
            <a:off x="9178290" y="1947672"/>
            <a:ext cx="310896" cy="310896"/>
          </a:xfrm>
          <a:prstGeom prst="ellipse">
            <a:avLst/>
          </a:prstGeom>
          <a:solidFill>
            <a:srgbClr val="1B3B6F"/>
          </a:solidFill>
          <a:ln w="12700">
            <a:solidFill>
              <a:srgbClr val="1B3B6F"/>
            </a:solidFill>
            <a:prstDash val="solid"/>
          </a:ln>
        </p:spPr>
      </p:sp>
      <p:sp>
        <p:nvSpPr>
          <p:cNvPr id="64" name="Text 61"/>
          <p:cNvSpPr txBox="1"/>
          <p:nvPr/>
        </p:nvSpPr>
        <p:spPr>
          <a:xfrm>
            <a:off x="917829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5" name="Text 62"/>
          <p:cNvSpPr txBox="1"/>
          <p:nvPr/>
        </p:nvSpPr>
        <p:spPr>
          <a:xfrm>
            <a:off x="9544050"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she review after dinner?</a:t>
            </a:r>
            <a:endParaRPr lang="en-US" sz="1250" dirty="0"/>
          </a:p>
        </p:txBody>
      </p:sp>
      <p:sp>
        <p:nvSpPr>
          <p:cNvPr id="66" name="Shape 63"/>
          <p:cNvSpPr/>
          <p:nvPr/>
        </p:nvSpPr>
        <p:spPr>
          <a:xfrm>
            <a:off x="9233154" y="2490216"/>
            <a:ext cx="256032" cy="256032"/>
          </a:xfrm>
          <a:prstGeom prst="ellipse">
            <a:avLst/>
          </a:prstGeom>
          <a:solidFill>
            <a:srgbClr val="C9CED6"/>
          </a:solidFill>
          <a:ln w="12700">
            <a:solidFill>
              <a:srgbClr val="C9CED6"/>
            </a:solidFill>
            <a:prstDash val="solid"/>
          </a:ln>
        </p:spPr>
      </p:sp>
      <p:sp>
        <p:nvSpPr>
          <p:cNvPr id="67" name="Text 64"/>
          <p:cNvSpPr txBox="1"/>
          <p:nvPr/>
        </p:nvSpPr>
        <p:spPr>
          <a:xfrm>
            <a:off x="9233154"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8" name="Text 65"/>
          <p:cNvSpPr txBox="1"/>
          <p:nvPr/>
        </p:nvSpPr>
        <p:spPr>
          <a:xfrm>
            <a:off x="9562338" y="2432304"/>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 television programme</a:t>
            </a:r>
            <a:endParaRPr lang="en-US" sz="1250" dirty="0"/>
          </a:p>
        </p:txBody>
      </p:sp>
      <p:sp>
        <p:nvSpPr>
          <p:cNvPr id="69" name="Shape 66"/>
          <p:cNvSpPr/>
          <p:nvPr/>
        </p:nvSpPr>
        <p:spPr>
          <a:xfrm>
            <a:off x="9141714" y="2825496"/>
            <a:ext cx="2498598" cy="347472"/>
          </a:xfrm>
          <a:prstGeom prst="roundRect">
            <a:avLst>
              <a:gd name="adj" fmla="val 15789"/>
            </a:avLst>
          </a:prstGeom>
          <a:solidFill>
            <a:srgbClr val="E6F4EC"/>
          </a:solidFill>
          <a:ln w="9525">
            <a:solidFill>
              <a:srgbClr val="2E8B57"/>
            </a:solidFill>
            <a:prstDash val="solid"/>
          </a:ln>
        </p:spPr>
      </p:sp>
      <p:sp>
        <p:nvSpPr>
          <p:cNvPr id="70" name="Shape 67"/>
          <p:cNvSpPr/>
          <p:nvPr/>
        </p:nvSpPr>
        <p:spPr>
          <a:xfrm>
            <a:off x="9233154" y="2862072"/>
            <a:ext cx="256032" cy="256032"/>
          </a:xfrm>
          <a:prstGeom prst="ellipse">
            <a:avLst/>
          </a:prstGeom>
          <a:solidFill>
            <a:srgbClr val="2E8B57"/>
          </a:solidFill>
          <a:ln w="12700">
            <a:solidFill>
              <a:srgbClr val="2E8B57"/>
            </a:solidFill>
            <a:prstDash val="solid"/>
          </a:ln>
        </p:spPr>
      </p:sp>
      <p:sp>
        <p:nvSpPr>
          <p:cNvPr id="71" name="Text 68"/>
          <p:cNvSpPr txBox="1"/>
          <p:nvPr/>
        </p:nvSpPr>
        <p:spPr>
          <a:xfrm>
            <a:off x="9233154"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72" name="Text 69"/>
          <p:cNvSpPr txBox="1"/>
          <p:nvPr/>
        </p:nvSpPr>
        <p:spPr>
          <a:xfrm>
            <a:off x="9562338" y="2804160"/>
            <a:ext cx="2023110"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what she needs for school</a:t>
            </a:r>
            <a:endParaRPr lang="en-US" sz="1250" dirty="0"/>
          </a:p>
        </p:txBody>
      </p:sp>
      <p:sp>
        <p:nvSpPr>
          <p:cNvPr id="73" name="Shape 70"/>
          <p:cNvSpPr/>
          <p:nvPr/>
        </p:nvSpPr>
        <p:spPr>
          <a:xfrm>
            <a:off x="9233154" y="3233928"/>
            <a:ext cx="256032" cy="256032"/>
          </a:xfrm>
          <a:prstGeom prst="ellipse">
            <a:avLst/>
          </a:prstGeom>
          <a:solidFill>
            <a:srgbClr val="C9CED6"/>
          </a:solidFill>
          <a:ln w="12700">
            <a:solidFill>
              <a:srgbClr val="C9CED6"/>
            </a:solidFill>
            <a:prstDash val="solid"/>
          </a:ln>
        </p:spPr>
      </p:sp>
      <p:sp>
        <p:nvSpPr>
          <p:cNvPr id="74" name="Text 71"/>
          <p:cNvSpPr txBox="1"/>
          <p:nvPr/>
        </p:nvSpPr>
        <p:spPr>
          <a:xfrm>
            <a:off x="9233154"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5" name="Text 72"/>
          <p:cNvSpPr txBox="1"/>
          <p:nvPr/>
        </p:nvSpPr>
        <p:spPr>
          <a:xfrm>
            <a:off x="9562338" y="3176016"/>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 travel timetable</a:t>
            </a:r>
            <a:endParaRPr lang="en-US" sz="1250" dirty="0"/>
          </a:p>
        </p:txBody>
      </p:sp>
      <p:sp>
        <p:nvSpPr>
          <p:cNvPr id="76" name="Text 73"/>
          <p:cNvSpPr txBox="1"/>
          <p:nvPr/>
        </p:nvSpPr>
        <p:spPr>
          <a:xfrm>
            <a:off x="9178290" y="3566160"/>
            <a:ext cx="2425446"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مَا سَتَحْتَاجُ إِلَيْهِ فِي المَدْرَسَةِ.</a:t>
            </a:r>
            <a:endParaRPr lang="ar-SA" sz="1350" dirty="0"/>
          </a:p>
        </p:txBody>
      </p:sp>
      <p:sp>
        <p:nvSpPr>
          <p:cNvPr id="77" name="Shape 74"/>
          <p:cNvSpPr/>
          <p:nvPr/>
        </p:nvSpPr>
        <p:spPr>
          <a:xfrm>
            <a:off x="457200" y="4151376"/>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8" name="Shape 75"/>
          <p:cNvSpPr/>
          <p:nvPr/>
        </p:nvSpPr>
        <p:spPr>
          <a:xfrm>
            <a:off x="585216" y="4288536"/>
            <a:ext cx="310896" cy="310896"/>
          </a:xfrm>
          <a:prstGeom prst="ellipse">
            <a:avLst/>
          </a:prstGeom>
          <a:solidFill>
            <a:srgbClr val="1B3B6F"/>
          </a:solidFill>
          <a:ln w="12700">
            <a:solidFill>
              <a:srgbClr val="1B3B6F"/>
            </a:solidFill>
            <a:prstDash val="solid"/>
          </a:ln>
        </p:spPr>
      </p:sp>
      <p:sp>
        <p:nvSpPr>
          <p:cNvPr id="79" name="Text 76"/>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80" name="Text 77"/>
          <p:cNvSpPr txBox="1"/>
          <p:nvPr/>
        </p:nvSpPr>
        <p:spPr>
          <a:xfrm>
            <a:off x="950976" y="4224528"/>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Why avoid caffeine?</a:t>
            </a:r>
            <a:endParaRPr lang="en-US" sz="1250" dirty="0"/>
          </a:p>
        </p:txBody>
      </p:sp>
      <p:sp>
        <p:nvSpPr>
          <p:cNvPr id="81" name="Shape 78"/>
          <p:cNvSpPr/>
          <p:nvPr/>
        </p:nvSpPr>
        <p:spPr>
          <a:xfrm>
            <a:off x="548640" y="4794504"/>
            <a:ext cx="2498598" cy="347472"/>
          </a:xfrm>
          <a:prstGeom prst="roundRect">
            <a:avLst>
              <a:gd name="adj" fmla="val 15789"/>
            </a:avLst>
          </a:prstGeom>
          <a:solidFill>
            <a:srgbClr val="E6F4EC"/>
          </a:solidFill>
          <a:ln w="9525">
            <a:solidFill>
              <a:srgbClr val="2E8B57"/>
            </a:solidFill>
            <a:prstDash val="solid"/>
          </a:ln>
        </p:spPr>
      </p:sp>
      <p:sp>
        <p:nvSpPr>
          <p:cNvPr id="82" name="Shape 79"/>
          <p:cNvSpPr/>
          <p:nvPr/>
        </p:nvSpPr>
        <p:spPr>
          <a:xfrm>
            <a:off x="640080" y="4831080"/>
            <a:ext cx="256032" cy="256032"/>
          </a:xfrm>
          <a:prstGeom prst="ellipse">
            <a:avLst/>
          </a:prstGeom>
          <a:solidFill>
            <a:srgbClr val="2E8B57"/>
          </a:solidFill>
          <a:ln w="12700">
            <a:solidFill>
              <a:srgbClr val="2E8B57"/>
            </a:solidFill>
            <a:prstDash val="solid"/>
          </a:ln>
        </p:spPr>
      </p:sp>
      <p:sp>
        <p:nvSpPr>
          <p:cNvPr id="83" name="Text 80"/>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84" name="Text 81"/>
          <p:cNvSpPr txBox="1"/>
          <p:nvPr/>
        </p:nvSpPr>
        <p:spPr>
          <a:xfrm>
            <a:off x="969264" y="4773168"/>
            <a:ext cx="2023110"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to sleep deeply</a:t>
            </a:r>
            <a:endParaRPr lang="en-US" sz="1250" dirty="0"/>
          </a:p>
        </p:txBody>
      </p:sp>
      <p:sp>
        <p:nvSpPr>
          <p:cNvPr id="85" name="Shape 82"/>
          <p:cNvSpPr/>
          <p:nvPr/>
        </p:nvSpPr>
        <p:spPr>
          <a:xfrm>
            <a:off x="640080" y="5202936"/>
            <a:ext cx="256032" cy="256032"/>
          </a:xfrm>
          <a:prstGeom prst="ellipse">
            <a:avLst/>
          </a:prstGeom>
          <a:solidFill>
            <a:srgbClr val="C9CED6"/>
          </a:solidFill>
          <a:ln w="12700">
            <a:solidFill>
              <a:srgbClr val="C9CED6"/>
            </a:solidFill>
            <a:prstDash val="solid"/>
          </a:ln>
        </p:spPr>
      </p:sp>
      <p:sp>
        <p:nvSpPr>
          <p:cNvPr id="86" name="Text 83"/>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87" name="Text 84"/>
          <p:cNvSpPr txBox="1"/>
          <p:nvPr/>
        </p:nvSpPr>
        <p:spPr>
          <a:xfrm>
            <a:off x="969264" y="5145024"/>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to wake later</a:t>
            </a:r>
            <a:endParaRPr lang="en-US" sz="1250" dirty="0"/>
          </a:p>
        </p:txBody>
      </p:sp>
      <p:sp>
        <p:nvSpPr>
          <p:cNvPr id="88" name="Shape 85"/>
          <p:cNvSpPr/>
          <p:nvPr/>
        </p:nvSpPr>
        <p:spPr>
          <a:xfrm>
            <a:off x="640080" y="5574792"/>
            <a:ext cx="256032" cy="256032"/>
          </a:xfrm>
          <a:prstGeom prst="ellipse">
            <a:avLst/>
          </a:prstGeom>
          <a:solidFill>
            <a:srgbClr val="C9CED6"/>
          </a:solidFill>
          <a:ln w="12700">
            <a:solidFill>
              <a:srgbClr val="C9CED6"/>
            </a:solidFill>
            <a:prstDash val="solid"/>
          </a:ln>
        </p:spPr>
      </p:sp>
      <p:sp>
        <p:nvSpPr>
          <p:cNvPr id="89" name="Text 86"/>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90" name="Text 87"/>
          <p:cNvSpPr txBox="1"/>
          <p:nvPr/>
        </p:nvSpPr>
        <p:spPr>
          <a:xfrm>
            <a:off x="969264" y="5516880"/>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to train harder</a:t>
            </a:r>
            <a:endParaRPr lang="en-US" sz="1250" dirty="0"/>
          </a:p>
        </p:txBody>
      </p:sp>
      <p:sp>
        <p:nvSpPr>
          <p:cNvPr id="91" name="Text 88"/>
          <p:cNvSpPr txBox="1"/>
          <p:nvPr/>
        </p:nvSpPr>
        <p:spPr>
          <a:xfrm>
            <a:off x="585216" y="5907024"/>
            <a:ext cx="2425446"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لِأَنَّهَا تُرِيدُ أَنْ تَنَامَ بِعُمْقٍ.</a:t>
            </a:r>
            <a:endParaRPr lang="ar-SA" sz="1350" dirty="0"/>
          </a:p>
        </p:txBody>
      </p:sp>
      <p:sp>
        <p:nvSpPr>
          <p:cNvPr id="92" name="Shape 89"/>
          <p:cNvSpPr/>
          <p:nvPr/>
        </p:nvSpPr>
        <p:spPr>
          <a:xfrm>
            <a:off x="3321558" y="4151376"/>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93" name="Shape 90"/>
          <p:cNvSpPr/>
          <p:nvPr/>
        </p:nvSpPr>
        <p:spPr>
          <a:xfrm>
            <a:off x="3449574" y="4288536"/>
            <a:ext cx="310896" cy="310896"/>
          </a:xfrm>
          <a:prstGeom prst="ellipse">
            <a:avLst/>
          </a:prstGeom>
          <a:solidFill>
            <a:srgbClr val="1B3B6F"/>
          </a:solidFill>
          <a:ln w="12700">
            <a:solidFill>
              <a:srgbClr val="1B3B6F"/>
            </a:solidFill>
            <a:prstDash val="solid"/>
          </a:ln>
        </p:spPr>
      </p:sp>
      <p:sp>
        <p:nvSpPr>
          <p:cNvPr id="94" name="Text 91"/>
          <p:cNvSpPr txBox="1"/>
          <p:nvPr/>
        </p:nvSpPr>
        <p:spPr>
          <a:xfrm>
            <a:off x="3449574"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6</a:t>
            </a:r>
            <a:endParaRPr lang="en-US" sz="1100" dirty="0"/>
          </a:p>
        </p:txBody>
      </p:sp>
      <p:sp>
        <p:nvSpPr>
          <p:cNvPr id="95" name="Text 92"/>
          <p:cNvSpPr txBox="1"/>
          <p:nvPr/>
        </p:nvSpPr>
        <p:spPr>
          <a:xfrm>
            <a:off x="3815334" y="4224528"/>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detail shows a calm bedtime routine?</a:t>
            </a:r>
            <a:endParaRPr lang="en-US" sz="1250" dirty="0"/>
          </a:p>
        </p:txBody>
      </p:sp>
      <p:sp>
        <p:nvSpPr>
          <p:cNvPr id="96" name="Shape 93"/>
          <p:cNvSpPr/>
          <p:nvPr/>
        </p:nvSpPr>
        <p:spPr>
          <a:xfrm>
            <a:off x="3504438" y="4831080"/>
            <a:ext cx="256032" cy="256032"/>
          </a:xfrm>
          <a:prstGeom prst="ellipse">
            <a:avLst/>
          </a:prstGeom>
          <a:solidFill>
            <a:srgbClr val="C9CED6"/>
          </a:solidFill>
          <a:ln w="12700">
            <a:solidFill>
              <a:srgbClr val="C9CED6"/>
            </a:solidFill>
            <a:prstDash val="solid"/>
          </a:ln>
        </p:spPr>
      </p:sp>
      <p:sp>
        <p:nvSpPr>
          <p:cNvPr id="97" name="Text 94"/>
          <p:cNvSpPr txBox="1"/>
          <p:nvPr/>
        </p:nvSpPr>
        <p:spPr>
          <a:xfrm>
            <a:off x="3504438"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98" name="Text 95"/>
          <p:cNvSpPr txBox="1"/>
          <p:nvPr/>
        </p:nvSpPr>
        <p:spPr>
          <a:xfrm>
            <a:off x="3833622" y="4773168"/>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playing games</a:t>
            </a:r>
            <a:endParaRPr lang="en-US" sz="1250" dirty="0"/>
          </a:p>
        </p:txBody>
      </p:sp>
      <p:sp>
        <p:nvSpPr>
          <p:cNvPr id="99" name="Shape 96"/>
          <p:cNvSpPr/>
          <p:nvPr/>
        </p:nvSpPr>
        <p:spPr>
          <a:xfrm>
            <a:off x="3504438" y="5202936"/>
            <a:ext cx="256032" cy="256032"/>
          </a:xfrm>
          <a:prstGeom prst="ellipse">
            <a:avLst/>
          </a:prstGeom>
          <a:solidFill>
            <a:srgbClr val="C9CED6"/>
          </a:solidFill>
          <a:ln w="12700">
            <a:solidFill>
              <a:srgbClr val="C9CED6"/>
            </a:solidFill>
            <a:prstDash val="solid"/>
          </a:ln>
        </p:spPr>
      </p:sp>
      <p:sp>
        <p:nvSpPr>
          <p:cNvPr id="100" name="Text 97"/>
          <p:cNvSpPr txBox="1"/>
          <p:nvPr/>
        </p:nvSpPr>
        <p:spPr>
          <a:xfrm>
            <a:off x="3504438"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101" name="Text 98"/>
          <p:cNvSpPr txBox="1"/>
          <p:nvPr/>
        </p:nvSpPr>
        <p:spPr>
          <a:xfrm>
            <a:off x="3833622" y="5145024"/>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doing more homework</a:t>
            </a:r>
            <a:endParaRPr lang="en-US" sz="1250" dirty="0"/>
          </a:p>
        </p:txBody>
      </p:sp>
      <p:sp>
        <p:nvSpPr>
          <p:cNvPr id="102" name="Shape 99"/>
          <p:cNvSpPr/>
          <p:nvPr/>
        </p:nvSpPr>
        <p:spPr>
          <a:xfrm>
            <a:off x="3412998" y="5538216"/>
            <a:ext cx="2498598" cy="347472"/>
          </a:xfrm>
          <a:prstGeom prst="roundRect">
            <a:avLst>
              <a:gd name="adj" fmla="val 15789"/>
            </a:avLst>
          </a:prstGeom>
          <a:solidFill>
            <a:srgbClr val="E6F4EC"/>
          </a:solidFill>
          <a:ln w="9525">
            <a:solidFill>
              <a:srgbClr val="2E8B57"/>
            </a:solidFill>
            <a:prstDash val="solid"/>
          </a:ln>
        </p:spPr>
      </p:sp>
      <p:sp>
        <p:nvSpPr>
          <p:cNvPr id="103" name="Shape 100"/>
          <p:cNvSpPr/>
          <p:nvPr/>
        </p:nvSpPr>
        <p:spPr>
          <a:xfrm>
            <a:off x="3504438" y="5574792"/>
            <a:ext cx="256032" cy="256032"/>
          </a:xfrm>
          <a:prstGeom prst="ellipse">
            <a:avLst/>
          </a:prstGeom>
          <a:solidFill>
            <a:srgbClr val="2E8B57"/>
          </a:solidFill>
          <a:ln w="12700">
            <a:solidFill>
              <a:srgbClr val="2E8B57"/>
            </a:solidFill>
            <a:prstDash val="solid"/>
          </a:ln>
        </p:spPr>
      </p:sp>
      <p:sp>
        <p:nvSpPr>
          <p:cNvPr id="104" name="Text 101"/>
          <p:cNvSpPr txBox="1"/>
          <p:nvPr/>
        </p:nvSpPr>
        <p:spPr>
          <a:xfrm>
            <a:off x="3504438" y="557479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105" name="Text 102"/>
          <p:cNvSpPr txBox="1"/>
          <p:nvPr/>
        </p:nvSpPr>
        <p:spPr>
          <a:xfrm>
            <a:off x="3833622" y="5516880"/>
            <a:ext cx="2023110"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reading for ten minutes</a:t>
            </a:r>
            <a:endParaRPr lang="en-US" sz="1250" dirty="0"/>
          </a:p>
        </p:txBody>
      </p:sp>
      <p:sp>
        <p:nvSpPr>
          <p:cNvPr id="106" name="Text 103"/>
          <p:cNvSpPr txBox="1"/>
          <p:nvPr/>
        </p:nvSpPr>
        <p:spPr>
          <a:xfrm>
            <a:off x="3449574" y="5907024"/>
            <a:ext cx="2425446"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She reads briefly before sleep.</a:t>
            </a:r>
            <a:endParaRPr lang="en-US" sz="1050" dirty="0"/>
          </a:p>
        </p:txBody>
      </p:sp>
      <p:sp>
        <p:nvSpPr>
          <p:cNvPr id="107" name="Shape 104"/>
          <p:cNvSpPr/>
          <p:nvPr/>
        </p:nvSpPr>
        <p:spPr>
          <a:xfrm>
            <a:off x="6185916" y="4151376"/>
            <a:ext cx="2681478"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108" name="Text 105"/>
          <p:cNvSpPr txBox="1"/>
          <p:nvPr/>
        </p:nvSpPr>
        <p:spPr>
          <a:xfrm>
            <a:off x="6368796" y="4279392"/>
            <a:ext cx="2315718"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READ LIKE A DETECTIVE</a:t>
            </a:r>
            <a:endParaRPr lang="en-US" sz="1000" dirty="0"/>
          </a:p>
        </p:txBody>
      </p:sp>
      <p:sp>
        <p:nvSpPr>
          <p:cNvPr id="109" name="Text 106"/>
          <p:cNvSpPr txBox="1"/>
          <p:nvPr/>
        </p:nvSpPr>
        <p:spPr>
          <a:xfrm>
            <a:off x="6368796" y="4590288"/>
            <a:ext cx="2315718" cy="1609344"/>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1. Read the question first.</a:t>
            </a:r>
            <a:endParaRPr lang="en-US" sz="1250" dirty="0"/>
          </a:p>
          <a:p>
            <a:pPr algn="l" indent="0" marL="0">
              <a:buNone/>
            </a:pPr>
            <a:r>
              <a:rPr lang="en-US" sz="1250" dirty="0">
                <a:solidFill>
                  <a:srgbClr val="1F2A37"/>
                </a:solidFill>
                <a:latin typeface="Calibri" pitchFamily="34" charset="0"/>
                <a:cs typeface="Amiri" pitchFamily="2" charset="-78"/>
              </a:rPr>
              <a:t>2. Find ONE key word from the question in the text.</a:t>
            </a:r>
            <a:endParaRPr lang="en-US" sz="1250" dirty="0"/>
          </a:p>
          <a:p>
            <a:pPr algn="l" indent="0" marL="0">
              <a:buNone/>
            </a:pPr>
            <a:r>
              <a:rPr lang="en-US" sz="1250" dirty="0">
                <a:solidFill>
                  <a:srgbClr val="1F2A37"/>
                </a:solidFill>
                <a:latin typeface="Calibri" pitchFamily="34" charset="0"/>
                <a:cs typeface="Amiri" pitchFamily="2" charset="-78"/>
              </a:rPr>
              <a:t>3. Read only that sentence again, then choose.</a:t>
            </a:r>
            <a:endParaRPr lang="en-US" sz="1250" dirty="0"/>
          </a:p>
        </p:txBody>
      </p:sp>
      <p:sp>
        <p:nvSpPr>
          <p:cNvPr id="110" name="Text 10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42 / 46</a:t>
            </a:r>
            <a:endParaRPr lang="en-US" sz="85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D1-L04 · Before and After</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EXTENSION · WEBSITE MISSION · FLEX</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Sequence sentence rescue</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المُهِمَّةُ</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D1 · Daily Routine and Time · D1-L04</a:t>
            </a:r>
            <a:endParaRPr lang="en-US" sz="850" dirty="0"/>
          </a:p>
        </p:txBody>
      </p:sp>
      <p:sp>
        <p:nvSpPr>
          <p:cNvPr id="17" name="Shape 14"/>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20" name="Text 17"/>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accurate Arabic for “before I leave”.</a:t>
            </a:r>
            <a:endParaRPr lang="en-US" sz="1250" dirty="0"/>
          </a:p>
        </p:txBody>
      </p:sp>
      <p:sp>
        <p:nvSpPr>
          <p:cNvPr id="21" name="Shape 18"/>
          <p:cNvSpPr/>
          <p:nvPr/>
        </p:nvSpPr>
        <p:spPr>
          <a:xfrm>
            <a:off x="640080" y="2532888"/>
            <a:ext cx="256032" cy="256032"/>
          </a:xfrm>
          <a:prstGeom prst="ellipse">
            <a:avLst/>
          </a:prstGeom>
          <a:solidFill>
            <a:srgbClr val="F4F1EA"/>
          </a:solidFill>
          <a:ln w="12700">
            <a:solidFill>
              <a:srgbClr val="F4F1EA"/>
            </a:solidFill>
            <a:prstDash val="solid"/>
          </a:ln>
        </p:spPr>
      </p:sp>
      <p:sp>
        <p:nvSpPr>
          <p:cNvPr id="22" name="Text 19"/>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3" name="Text 20"/>
          <p:cNvSpPr txBox="1"/>
          <p:nvPr/>
        </p:nvSpPr>
        <p:spPr>
          <a:xfrm>
            <a:off x="969264"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قَبْلَ أَنْ أَخْرُجُ</a:t>
            </a:r>
            <a:endParaRPr lang="ar-SA" sz="2050" dirty="0"/>
          </a:p>
        </p:txBody>
      </p:sp>
      <p:sp>
        <p:nvSpPr>
          <p:cNvPr id="24" name="Shape 21"/>
          <p:cNvSpPr/>
          <p:nvPr/>
        </p:nvSpPr>
        <p:spPr>
          <a:xfrm>
            <a:off x="640080" y="2990088"/>
            <a:ext cx="256032" cy="256032"/>
          </a:xfrm>
          <a:prstGeom prst="ellipse">
            <a:avLst/>
          </a:prstGeom>
          <a:solidFill>
            <a:srgbClr val="F4F1EA"/>
          </a:solidFill>
          <a:ln w="12700">
            <a:solidFill>
              <a:srgbClr val="F4F1EA"/>
            </a:solidFill>
            <a:prstDash val="solid"/>
          </a:ln>
        </p:spPr>
      </p:sp>
      <p:sp>
        <p:nvSpPr>
          <p:cNvPr id="25" name="Text 22"/>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6" name="Text 23"/>
          <p:cNvSpPr txBox="1"/>
          <p:nvPr/>
        </p:nvSpPr>
        <p:spPr>
          <a:xfrm>
            <a:off x="969264"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قَبْلَ أَنْ أَخْرُجَ</a:t>
            </a:r>
            <a:endParaRPr lang="ar-SA" sz="2050" dirty="0"/>
          </a:p>
        </p:txBody>
      </p:sp>
      <p:sp>
        <p:nvSpPr>
          <p:cNvPr id="27" name="Shape 24"/>
          <p:cNvSpPr/>
          <p:nvPr/>
        </p:nvSpPr>
        <p:spPr>
          <a:xfrm>
            <a:off x="640080" y="3447288"/>
            <a:ext cx="256032" cy="256032"/>
          </a:xfrm>
          <a:prstGeom prst="ellipse">
            <a:avLst/>
          </a:prstGeom>
          <a:solidFill>
            <a:srgbClr val="F4F1EA"/>
          </a:solidFill>
          <a:ln w="12700">
            <a:solidFill>
              <a:srgbClr val="F4F1EA"/>
            </a:solidFill>
            <a:prstDash val="solid"/>
          </a:ln>
        </p:spPr>
      </p:sp>
      <p:sp>
        <p:nvSpPr>
          <p:cNvPr id="28" name="Text 25"/>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9" name="Text 26"/>
          <p:cNvSpPr txBox="1"/>
          <p:nvPr/>
        </p:nvSpPr>
        <p:spPr>
          <a:xfrm>
            <a:off x="969264"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قَبْلَ أَخْرُجَ أَنْ</a:t>
            </a:r>
            <a:endParaRPr lang="ar-SA" sz="2050" dirty="0"/>
          </a:p>
        </p:txBody>
      </p:sp>
      <p:sp>
        <p:nvSpPr>
          <p:cNvPr id="30" name="Shape 27"/>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accurate Arabic for “after we return”.</a:t>
            </a:r>
            <a:endParaRPr lang="en-US" sz="1250" dirty="0"/>
          </a:p>
        </p:txBody>
      </p:sp>
      <p:sp>
        <p:nvSpPr>
          <p:cNvPr id="34" name="Shape 31"/>
          <p:cNvSpPr/>
          <p:nvPr/>
        </p:nvSpPr>
        <p:spPr>
          <a:xfrm>
            <a:off x="4459224" y="2532888"/>
            <a:ext cx="256032" cy="256032"/>
          </a:xfrm>
          <a:prstGeom prst="ellipse">
            <a:avLst/>
          </a:prstGeom>
          <a:solidFill>
            <a:srgbClr val="F4F1EA"/>
          </a:solidFill>
          <a:ln w="12700">
            <a:solidFill>
              <a:srgbClr val="F4F1EA"/>
            </a:solidFill>
            <a:prstDash val="solid"/>
          </a:ln>
        </p:spPr>
      </p:sp>
      <p:sp>
        <p:nvSpPr>
          <p:cNvPr id="35" name="Text 32"/>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4788408"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بَعْدَ أَنْ نَعُودَ</a:t>
            </a:r>
            <a:endParaRPr lang="ar-SA" sz="2050" dirty="0"/>
          </a:p>
        </p:txBody>
      </p:sp>
      <p:sp>
        <p:nvSpPr>
          <p:cNvPr id="37" name="Shape 34"/>
          <p:cNvSpPr/>
          <p:nvPr/>
        </p:nvSpPr>
        <p:spPr>
          <a:xfrm>
            <a:off x="4459224" y="2990088"/>
            <a:ext cx="256032" cy="256032"/>
          </a:xfrm>
          <a:prstGeom prst="ellipse">
            <a:avLst/>
          </a:prstGeom>
          <a:solidFill>
            <a:srgbClr val="F4F1EA"/>
          </a:solidFill>
          <a:ln w="12700">
            <a:solidFill>
              <a:srgbClr val="F4F1EA"/>
            </a:solidFill>
            <a:prstDash val="solid"/>
          </a:ln>
        </p:spPr>
      </p:sp>
      <p:sp>
        <p:nvSpPr>
          <p:cNvPr id="38" name="Text 35"/>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9" name="Text 36"/>
          <p:cNvSpPr txBox="1"/>
          <p:nvPr/>
        </p:nvSpPr>
        <p:spPr>
          <a:xfrm>
            <a:off x="4788408"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بَعْدَ أَنْ نَعُودُ</a:t>
            </a:r>
            <a:endParaRPr lang="ar-SA" sz="2050" dirty="0"/>
          </a:p>
        </p:txBody>
      </p:sp>
      <p:sp>
        <p:nvSpPr>
          <p:cNvPr id="40" name="Shape 37"/>
          <p:cNvSpPr/>
          <p:nvPr/>
        </p:nvSpPr>
        <p:spPr>
          <a:xfrm>
            <a:off x="4459224" y="3447288"/>
            <a:ext cx="256032" cy="256032"/>
          </a:xfrm>
          <a:prstGeom prst="ellipse">
            <a:avLst/>
          </a:prstGeom>
          <a:solidFill>
            <a:srgbClr val="F4F1EA"/>
          </a:solidFill>
          <a:ln w="12700">
            <a:solidFill>
              <a:srgbClr val="F4F1EA"/>
            </a:solidFill>
            <a:prstDash val="solid"/>
          </a:ln>
        </p:spPr>
      </p:sp>
      <p:sp>
        <p:nvSpPr>
          <p:cNvPr id="41" name="Text 38"/>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2" name="Text 39"/>
          <p:cNvSpPr txBox="1"/>
          <p:nvPr/>
        </p:nvSpPr>
        <p:spPr>
          <a:xfrm>
            <a:off x="4788408"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بَعْدَ نَحْنُ نَعُودَ</a:t>
            </a:r>
            <a:endParaRPr lang="ar-SA" sz="2050" dirty="0"/>
          </a:p>
        </p:txBody>
      </p:sp>
      <p:sp>
        <p:nvSpPr>
          <p:cNvPr id="43" name="Shape 40"/>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4" name="Shape 41"/>
          <p:cNvSpPr/>
          <p:nvPr/>
        </p:nvSpPr>
        <p:spPr>
          <a:xfrm>
            <a:off x="8223504" y="1947672"/>
            <a:ext cx="310896" cy="310896"/>
          </a:xfrm>
          <a:prstGeom prst="ellipse">
            <a:avLst/>
          </a:prstGeom>
          <a:solidFill>
            <a:srgbClr val="1B3B6F"/>
          </a:solidFill>
          <a:ln w="12700">
            <a:solidFill>
              <a:srgbClr val="1B3B6F"/>
            </a:solidFill>
            <a:prstDash val="solid"/>
          </a:ln>
        </p:spPr>
      </p:sp>
      <p:sp>
        <p:nvSpPr>
          <p:cNvPr id="45" name="Text 42"/>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6" name="Text 43"/>
          <p:cNvSpPr txBox="1"/>
          <p:nvPr/>
        </p:nvSpPr>
        <p:spPr>
          <a:xfrm>
            <a:off x="8589264" y="1883664"/>
            <a:ext cx="1395070"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Complete:</a:t>
            </a:r>
            <a:endParaRPr lang="en-US" sz="1200" dirty="0"/>
          </a:p>
        </p:txBody>
      </p:sp>
      <p:sp>
        <p:nvSpPr>
          <p:cNvPr id="47" name="Text 44"/>
          <p:cNvSpPr txBox="1"/>
          <p:nvPr/>
        </p:nvSpPr>
        <p:spPr>
          <a:xfrm>
            <a:off x="10044989" y="1883664"/>
            <a:ext cx="1577035" cy="475488"/>
          </a:xfrm>
          <a:prstGeom prst="rect">
            <a:avLst/>
          </a:prstGeom>
          <a:noFill/>
          <a:ln/>
        </p:spPr>
        <p:txBody>
          <a:bodyPr wrap="square" lIns="0" tIns="0" rIns="0" bIns="0" rtlCol="0" anchor="ctr"/>
          <a:lstStyle/>
          <a:p>
            <a:pPr rtl="1" algn="r" indent="0" marL="0">
              <a:buNone/>
            </a:pPr>
            <a:r>
              <a:rPr lang="ar-SA" altLang="en-US" sz="1250" b="1" dirty="0">
                <a:solidFill>
                  <a:srgbClr val="1F2A37"/>
                </a:solidFill>
                <a:latin typeface="Amiri" pitchFamily="2" charset="-78"/>
                <a:ea typeface="Amiri" pitchFamily="2" charset="-78"/>
                <a:cs typeface="Amiri" pitchFamily="2" charset="-78"/>
              </a:rPr>
              <a:t>بَعْدَ أَنْ ___ وَاجِبِي أَسْتَرِيحُ.</a:t>
            </a:r>
            <a:endParaRPr lang="ar-SA" sz="1250" dirty="0"/>
          </a:p>
        </p:txBody>
      </p:sp>
      <p:sp>
        <p:nvSpPr>
          <p:cNvPr id="48" name="Shape 45"/>
          <p:cNvSpPr/>
          <p:nvPr/>
        </p:nvSpPr>
        <p:spPr>
          <a:xfrm>
            <a:off x="8278368" y="25328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0" name="Text 47"/>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أُكْمِلُ</a:t>
            </a:r>
            <a:endParaRPr lang="ar-SA" sz="2050" dirty="0"/>
          </a:p>
        </p:txBody>
      </p:sp>
      <p:sp>
        <p:nvSpPr>
          <p:cNvPr id="51" name="Shape 48"/>
          <p:cNvSpPr/>
          <p:nvPr/>
        </p:nvSpPr>
        <p:spPr>
          <a:xfrm>
            <a:off x="8278368" y="29900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3" name="Text 50"/>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أَكْمَلْتُ</a:t>
            </a:r>
            <a:endParaRPr lang="ar-SA" sz="2050" dirty="0"/>
          </a:p>
        </p:txBody>
      </p:sp>
      <p:sp>
        <p:nvSpPr>
          <p:cNvPr id="54" name="Shape 51"/>
          <p:cNvSpPr/>
          <p:nvPr/>
        </p:nvSpPr>
        <p:spPr>
          <a:xfrm>
            <a:off x="8278368" y="3447288"/>
            <a:ext cx="256032" cy="256032"/>
          </a:xfrm>
          <a:prstGeom prst="ellipse">
            <a:avLst/>
          </a:prstGeom>
          <a:solidFill>
            <a:srgbClr val="F4F1EA"/>
          </a:solidFill>
          <a:ln w="12700">
            <a:solidFill>
              <a:srgbClr val="F4F1EA"/>
            </a:solidFill>
            <a:prstDash val="solid"/>
          </a:ln>
        </p:spPr>
      </p:sp>
      <p:sp>
        <p:nvSpPr>
          <p:cNvPr id="55" name="Text 52"/>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6" name="Text 53"/>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أُكْمِلَ</a:t>
            </a:r>
            <a:endParaRPr lang="ar-SA" sz="2050" dirty="0"/>
          </a:p>
        </p:txBody>
      </p:sp>
      <p:sp>
        <p:nvSpPr>
          <p:cNvPr id="57" name="Shape 54"/>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8" name="Shape 55"/>
          <p:cNvSpPr/>
          <p:nvPr/>
        </p:nvSpPr>
        <p:spPr>
          <a:xfrm>
            <a:off x="585216" y="4288536"/>
            <a:ext cx="310896" cy="310896"/>
          </a:xfrm>
          <a:prstGeom prst="ellipse">
            <a:avLst/>
          </a:prstGeom>
          <a:solidFill>
            <a:srgbClr val="1B3B6F"/>
          </a:solidFill>
          <a:ln w="12700">
            <a:solidFill>
              <a:srgbClr val="1B3B6F"/>
            </a:solidFill>
            <a:prstDash val="solid"/>
          </a:ln>
        </p:spPr>
      </p:sp>
      <p:sp>
        <p:nvSpPr>
          <p:cNvPr id="59" name="Text 56"/>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0" name="Text 57"/>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sentence means “I eat dinner after I finish my homework”?</a:t>
            </a:r>
            <a:endParaRPr lang="en-US" sz="1250" dirty="0"/>
          </a:p>
        </p:txBody>
      </p:sp>
      <p:sp>
        <p:nvSpPr>
          <p:cNvPr id="61" name="Shape 58"/>
          <p:cNvSpPr/>
          <p:nvPr/>
        </p:nvSpPr>
        <p:spPr>
          <a:xfrm>
            <a:off x="640080" y="48737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3" name="Text 60"/>
          <p:cNvSpPr txBox="1"/>
          <p:nvPr/>
        </p:nvSpPr>
        <p:spPr>
          <a:xfrm>
            <a:off x="969264" y="4773168"/>
            <a:ext cx="2977896" cy="457200"/>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أَتَنَاوَلُ العَشَاءَ قَبْلَ وَاجِبِي أَنْ.</a:t>
            </a:r>
            <a:endParaRPr lang="ar-SA" sz="1800" dirty="0"/>
          </a:p>
        </p:txBody>
      </p:sp>
      <p:sp>
        <p:nvSpPr>
          <p:cNvPr id="64" name="Shape 61"/>
          <p:cNvSpPr/>
          <p:nvPr/>
        </p:nvSpPr>
        <p:spPr>
          <a:xfrm>
            <a:off x="640080" y="53309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6" name="Text 63"/>
          <p:cNvSpPr txBox="1"/>
          <p:nvPr/>
        </p:nvSpPr>
        <p:spPr>
          <a:xfrm>
            <a:off x="969264" y="5230368"/>
            <a:ext cx="2977896" cy="457200"/>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بَعْدَ العَشَاءِ أُكْمِلَ أَنْ وَاجِبِي.</a:t>
            </a:r>
            <a:endParaRPr lang="ar-SA" sz="1800" dirty="0"/>
          </a:p>
        </p:txBody>
      </p:sp>
      <p:sp>
        <p:nvSpPr>
          <p:cNvPr id="67" name="Shape 64"/>
          <p:cNvSpPr/>
          <p:nvPr/>
        </p:nvSpPr>
        <p:spPr>
          <a:xfrm>
            <a:off x="640080" y="5788152"/>
            <a:ext cx="256032" cy="256032"/>
          </a:xfrm>
          <a:prstGeom prst="ellipse">
            <a:avLst/>
          </a:prstGeom>
          <a:solidFill>
            <a:srgbClr val="F4F1EA"/>
          </a:solidFill>
          <a:ln w="12700">
            <a:solidFill>
              <a:srgbClr val="F4F1EA"/>
            </a:solidFill>
            <a:prstDash val="solid"/>
          </a:ln>
        </p:spPr>
      </p:sp>
      <p:sp>
        <p:nvSpPr>
          <p:cNvPr id="68" name="Text 65"/>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9" name="Text 66"/>
          <p:cNvSpPr txBox="1"/>
          <p:nvPr/>
        </p:nvSpPr>
        <p:spPr>
          <a:xfrm>
            <a:off x="969264" y="5687568"/>
            <a:ext cx="2977896" cy="457200"/>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أَتَنَاوَلُ العَشَاءَ بَعْدَ أَنْ أُكْمِلَ وَاجِبِي.</a:t>
            </a:r>
            <a:endParaRPr lang="ar-SA" sz="1800" dirty="0"/>
          </a:p>
        </p:txBody>
      </p:sp>
      <p:sp>
        <p:nvSpPr>
          <p:cNvPr id="70" name="Shape 67"/>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1" name="Shape 68"/>
          <p:cNvSpPr/>
          <p:nvPr/>
        </p:nvSpPr>
        <p:spPr>
          <a:xfrm>
            <a:off x="4404360" y="4288536"/>
            <a:ext cx="310896" cy="310896"/>
          </a:xfrm>
          <a:prstGeom prst="ellipse">
            <a:avLst/>
          </a:prstGeom>
          <a:solidFill>
            <a:srgbClr val="1B3B6F"/>
          </a:solidFill>
          <a:ln w="12700">
            <a:solidFill>
              <a:srgbClr val="1B3B6F"/>
            </a:solidFill>
            <a:prstDash val="solid"/>
          </a:ln>
        </p:spPr>
      </p:sp>
      <p:sp>
        <p:nvSpPr>
          <p:cNvPr id="72" name="Text 69"/>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3" name="Text 70"/>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accurate “as soon as” sentence.</a:t>
            </a:r>
            <a:endParaRPr lang="en-US" sz="1250" dirty="0"/>
          </a:p>
        </p:txBody>
      </p:sp>
      <p:sp>
        <p:nvSpPr>
          <p:cNvPr id="74" name="Shape 71"/>
          <p:cNvSpPr/>
          <p:nvPr/>
        </p:nvSpPr>
        <p:spPr>
          <a:xfrm>
            <a:off x="4459224" y="4873752"/>
            <a:ext cx="256032" cy="256032"/>
          </a:xfrm>
          <a:prstGeom prst="ellipse">
            <a:avLst/>
          </a:prstGeom>
          <a:solidFill>
            <a:srgbClr val="F4F1EA"/>
          </a:solidFill>
          <a:ln w="12700">
            <a:solidFill>
              <a:srgbClr val="F4F1EA"/>
            </a:solidFill>
            <a:prstDash val="solid"/>
          </a:ln>
        </p:spPr>
      </p:sp>
      <p:sp>
        <p:nvSpPr>
          <p:cNvPr id="75" name="Text 72"/>
          <p:cNvSpPr txBox="1"/>
          <p:nvPr/>
        </p:nvSpPr>
        <p:spPr>
          <a:xfrm>
            <a:off x="4459224"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76" name="Text 73"/>
          <p:cNvSpPr txBox="1"/>
          <p:nvPr/>
        </p:nvSpPr>
        <p:spPr>
          <a:xfrm>
            <a:off x="4788408"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بِمُجَرَّدِ أَنْ أَنْتَهِيَ أَسْتَرِيحُ.</a:t>
            </a:r>
            <a:endParaRPr lang="ar-SA" sz="2050" dirty="0"/>
          </a:p>
        </p:txBody>
      </p:sp>
      <p:sp>
        <p:nvSpPr>
          <p:cNvPr id="77" name="Shape 74"/>
          <p:cNvSpPr/>
          <p:nvPr/>
        </p:nvSpPr>
        <p:spPr>
          <a:xfrm>
            <a:off x="4459224" y="5330952"/>
            <a:ext cx="256032" cy="256032"/>
          </a:xfrm>
          <a:prstGeom prst="ellipse">
            <a:avLst/>
          </a:prstGeom>
          <a:solidFill>
            <a:srgbClr val="F4F1EA"/>
          </a:solidFill>
          <a:ln w="12700">
            <a:solidFill>
              <a:srgbClr val="F4F1EA"/>
            </a:solidFill>
            <a:prstDash val="solid"/>
          </a:ln>
        </p:spPr>
      </p:sp>
      <p:sp>
        <p:nvSpPr>
          <p:cNvPr id="78" name="Text 75"/>
          <p:cNvSpPr txBox="1"/>
          <p:nvPr/>
        </p:nvSpPr>
        <p:spPr>
          <a:xfrm>
            <a:off x="4459224"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9" name="Text 76"/>
          <p:cNvSpPr txBox="1"/>
          <p:nvPr/>
        </p:nvSpPr>
        <p:spPr>
          <a:xfrm>
            <a:off x="4788408"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بِمُجَرَّدِ أَنَا أَنْتَهِي أَسْتَرِيحُ.</a:t>
            </a:r>
            <a:endParaRPr lang="ar-SA" sz="2050" dirty="0"/>
          </a:p>
        </p:txBody>
      </p:sp>
      <p:sp>
        <p:nvSpPr>
          <p:cNvPr id="80" name="Shape 77"/>
          <p:cNvSpPr/>
          <p:nvPr/>
        </p:nvSpPr>
        <p:spPr>
          <a:xfrm>
            <a:off x="4459224" y="5788152"/>
            <a:ext cx="256032" cy="256032"/>
          </a:xfrm>
          <a:prstGeom prst="ellipse">
            <a:avLst/>
          </a:prstGeom>
          <a:solidFill>
            <a:srgbClr val="F4F1EA"/>
          </a:solidFill>
          <a:ln w="12700">
            <a:solidFill>
              <a:srgbClr val="F4F1EA"/>
            </a:solidFill>
            <a:prstDash val="solid"/>
          </a:ln>
        </p:spPr>
      </p:sp>
      <p:sp>
        <p:nvSpPr>
          <p:cNvPr id="81" name="Text 78"/>
          <p:cNvSpPr txBox="1"/>
          <p:nvPr/>
        </p:nvSpPr>
        <p:spPr>
          <a:xfrm>
            <a:off x="4459224"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2" name="Text 79"/>
          <p:cNvSpPr txBox="1"/>
          <p:nvPr/>
        </p:nvSpPr>
        <p:spPr>
          <a:xfrm>
            <a:off x="4788408"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بِمُجَرَّدِ أَنْ أَنْتَهِيُ أَسْتَرِيحُ.</a:t>
            </a:r>
            <a:endParaRPr lang="ar-SA" sz="2050" dirty="0"/>
          </a:p>
        </p:txBody>
      </p:sp>
      <p:sp>
        <p:nvSpPr>
          <p:cNvPr id="83" name="Shape 80"/>
          <p:cNvSpPr/>
          <p:nvPr/>
        </p:nvSpPr>
        <p:spPr>
          <a:xfrm>
            <a:off x="8095488"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84" name="Shape 81"/>
          <p:cNvSpPr/>
          <p:nvPr/>
        </p:nvSpPr>
        <p:spPr>
          <a:xfrm>
            <a:off x="8223504" y="4288536"/>
            <a:ext cx="310896" cy="310896"/>
          </a:xfrm>
          <a:prstGeom prst="ellipse">
            <a:avLst/>
          </a:prstGeom>
          <a:solidFill>
            <a:srgbClr val="1B3B6F"/>
          </a:solidFill>
          <a:ln w="12700">
            <a:solidFill>
              <a:srgbClr val="1B3B6F"/>
            </a:solidFill>
            <a:prstDash val="solid"/>
          </a:ln>
        </p:spPr>
      </p:sp>
      <p:sp>
        <p:nvSpPr>
          <p:cNvPr id="85" name="Text 82"/>
          <p:cNvSpPr txBox="1"/>
          <p:nvPr/>
        </p:nvSpPr>
        <p:spPr>
          <a:xfrm>
            <a:off x="8223504"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6</a:t>
            </a:r>
            <a:endParaRPr lang="en-US" sz="1100" dirty="0"/>
          </a:p>
        </p:txBody>
      </p:sp>
      <p:sp>
        <p:nvSpPr>
          <p:cNvPr id="86" name="Text 83"/>
          <p:cNvSpPr txBox="1"/>
          <p:nvPr/>
        </p:nvSpPr>
        <p:spPr>
          <a:xfrm>
            <a:off x="8589264" y="4224528"/>
            <a:ext cx="1395070"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Repair:</a:t>
            </a:r>
            <a:endParaRPr lang="en-US" sz="1200" dirty="0"/>
          </a:p>
        </p:txBody>
      </p:sp>
      <p:sp>
        <p:nvSpPr>
          <p:cNvPr id="87" name="Text 84"/>
          <p:cNvSpPr txBox="1"/>
          <p:nvPr/>
        </p:nvSpPr>
        <p:spPr>
          <a:xfrm>
            <a:off x="10044989" y="4224528"/>
            <a:ext cx="1577035" cy="475488"/>
          </a:xfrm>
          <a:prstGeom prst="rect">
            <a:avLst/>
          </a:prstGeom>
          <a:noFill/>
          <a:ln/>
        </p:spPr>
        <p:txBody>
          <a:bodyPr wrap="square" lIns="0" tIns="0" rIns="0" bIns="0" rtlCol="0" anchor="ctr"/>
          <a:lstStyle/>
          <a:p>
            <a:pPr rtl="1" algn="r" indent="0" marL="0">
              <a:buNone/>
            </a:pPr>
            <a:r>
              <a:rPr lang="ar-SA" altLang="en-US" sz="1250" b="1" dirty="0">
                <a:solidFill>
                  <a:srgbClr val="1F2A37"/>
                </a:solidFill>
                <a:latin typeface="Amiri" pitchFamily="2" charset="-78"/>
                <a:ea typeface="Amiri" pitchFamily="2" charset="-78"/>
                <a:cs typeface="Amiri" pitchFamily="2" charset="-78"/>
              </a:rPr>
              <a:t>بَعْدَ أَنْ أُرَاجِعُ دُرُوسِي أَنَامُ.</a:t>
            </a:r>
            <a:endParaRPr lang="ar-SA" sz="1250" dirty="0"/>
          </a:p>
        </p:txBody>
      </p:sp>
      <p:sp>
        <p:nvSpPr>
          <p:cNvPr id="88" name="Shape 85"/>
          <p:cNvSpPr/>
          <p:nvPr/>
        </p:nvSpPr>
        <p:spPr>
          <a:xfrm>
            <a:off x="8278368" y="4873752"/>
            <a:ext cx="256032" cy="256032"/>
          </a:xfrm>
          <a:prstGeom prst="ellipse">
            <a:avLst/>
          </a:prstGeom>
          <a:solidFill>
            <a:srgbClr val="F4F1EA"/>
          </a:solidFill>
          <a:ln w="12700">
            <a:solidFill>
              <a:srgbClr val="F4F1EA"/>
            </a:solidFill>
            <a:prstDash val="solid"/>
          </a:ln>
        </p:spPr>
      </p:sp>
      <p:sp>
        <p:nvSpPr>
          <p:cNvPr id="89" name="Text 86"/>
          <p:cNvSpPr txBox="1"/>
          <p:nvPr/>
        </p:nvSpPr>
        <p:spPr>
          <a:xfrm>
            <a:off x="8278368"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90" name="Text 87"/>
          <p:cNvSpPr txBox="1"/>
          <p:nvPr/>
        </p:nvSpPr>
        <p:spPr>
          <a:xfrm>
            <a:off x="8607552"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بَعْدَ أَنْ يُرَاجِعُ دُرُوسِي أَنَامُ.</a:t>
            </a:r>
            <a:endParaRPr lang="ar-SA" sz="2050" dirty="0"/>
          </a:p>
        </p:txBody>
      </p:sp>
      <p:sp>
        <p:nvSpPr>
          <p:cNvPr id="91" name="Shape 88"/>
          <p:cNvSpPr/>
          <p:nvPr/>
        </p:nvSpPr>
        <p:spPr>
          <a:xfrm>
            <a:off x="8278368" y="5330952"/>
            <a:ext cx="256032" cy="256032"/>
          </a:xfrm>
          <a:prstGeom prst="ellipse">
            <a:avLst/>
          </a:prstGeom>
          <a:solidFill>
            <a:srgbClr val="F4F1EA"/>
          </a:solidFill>
          <a:ln w="12700">
            <a:solidFill>
              <a:srgbClr val="F4F1EA"/>
            </a:solidFill>
            <a:prstDash val="solid"/>
          </a:ln>
        </p:spPr>
      </p:sp>
      <p:sp>
        <p:nvSpPr>
          <p:cNvPr id="92" name="Text 89"/>
          <p:cNvSpPr txBox="1"/>
          <p:nvPr/>
        </p:nvSpPr>
        <p:spPr>
          <a:xfrm>
            <a:off x="8278368"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93" name="Text 90"/>
          <p:cNvSpPr txBox="1"/>
          <p:nvPr/>
        </p:nvSpPr>
        <p:spPr>
          <a:xfrm>
            <a:off x="8607552"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بَعْدَ أَنْ أُرَاجِعَ دُرُوسِي أَنَامُ.</a:t>
            </a:r>
            <a:endParaRPr lang="ar-SA" sz="2050" dirty="0"/>
          </a:p>
        </p:txBody>
      </p:sp>
      <p:sp>
        <p:nvSpPr>
          <p:cNvPr id="94" name="Shape 91"/>
          <p:cNvSpPr/>
          <p:nvPr/>
        </p:nvSpPr>
        <p:spPr>
          <a:xfrm>
            <a:off x="8278368" y="5788152"/>
            <a:ext cx="256032" cy="256032"/>
          </a:xfrm>
          <a:prstGeom prst="ellipse">
            <a:avLst/>
          </a:prstGeom>
          <a:solidFill>
            <a:srgbClr val="F4F1EA"/>
          </a:solidFill>
          <a:ln w="12700">
            <a:solidFill>
              <a:srgbClr val="F4F1EA"/>
            </a:solidFill>
            <a:prstDash val="solid"/>
          </a:ln>
        </p:spPr>
      </p:sp>
      <p:sp>
        <p:nvSpPr>
          <p:cNvPr id="95" name="Text 92"/>
          <p:cNvSpPr txBox="1"/>
          <p:nvPr/>
        </p:nvSpPr>
        <p:spPr>
          <a:xfrm>
            <a:off x="8278368"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96" name="Text 93"/>
          <p:cNvSpPr txBox="1"/>
          <p:nvPr/>
        </p:nvSpPr>
        <p:spPr>
          <a:xfrm>
            <a:off x="8607552"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بَعْدَ أُرَاجِعَ أَنْ دُرُوسِي أَنَامُ.</a:t>
            </a:r>
            <a:endParaRPr lang="ar-SA" sz="2050" dirty="0"/>
          </a:p>
        </p:txBody>
      </p:sp>
      <p:sp>
        <p:nvSpPr>
          <p:cNvPr id="97" name="Text 9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43 / 46</a:t>
            </a:r>
            <a:endParaRPr lang="en-US" sz="85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D1-L04 · Before and After</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EXTENSION · MISSION ANSWERS</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Mission: answers</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الإِجَابَاتُ</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D1 · Daily Routine and Time · D1-L04</a:t>
            </a:r>
            <a:endParaRPr lang="en-US" sz="850" dirty="0"/>
          </a:p>
        </p:txBody>
      </p:sp>
      <p:sp>
        <p:nvSpPr>
          <p:cNvPr id="16" name="Shape 14"/>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7"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8"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9" name="Text 17"/>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accurate Arabic for “before I leave”.</a:t>
            </a:r>
            <a:endParaRPr lang="en-US" sz="1250" dirty="0"/>
          </a:p>
        </p:txBody>
      </p:sp>
      <p:sp>
        <p:nvSpPr>
          <p:cNvPr id="20" name="Shape 18"/>
          <p:cNvSpPr/>
          <p:nvPr/>
        </p:nvSpPr>
        <p:spPr>
          <a:xfrm>
            <a:off x="640080" y="2490216"/>
            <a:ext cx="256032" cy="256032"/>
          </a:xfrm>
          <a:prstGeom prst="ellipse">
            <a:avLst/>
          </a:prstGeom>
          <a:solidFill>
            <a:srgbClr val="C9CED6"/>
          </a:solidFill>
          <a:ln w="12700">
            <a:solidFill>
              <a:srgbClr val="C9CED6"/>
            </a:solidFill>
            <a:prstDash val="solid"/>
          </a:ln>
        </p:spPr>
      </p:sp>
      <p:sp>
        <p:nvSpPr>
          <p:cNvPr id="21" name="Text 19"/>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2" name="Text 20"/>
          <p:cNvSpPr txBox="1"/>
          <p:nvPr/>
        </p:nvSpPr>
        <p:spPr>
          <a:xfrm>
            <a:off x="969264" y="243230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قَبْلَ أَنْ أَخْرُجُ</a:t>
            </a:r>
            <a:endParaRPr lang="ar-SA" sz="1700" dirty="0"/>
          </a:p>
        </p:txBody>
      </p:sp>
      <p:sp>
        <p:nvSpPr>
          <p:cNvPr id="23" name="Shape 21"/>
          <p:cNvSpPr/>
          <p:nvPr/>
        </p:nvSpPr>
        <p:spPr>
          <a:xfrm>
            <a:off x="548640" y="2825496"/>
            <a:ext cx="3453384" cy="347472"/>
          </a:xfrm>
          <a:prstGeom prst="roundRect">
            <a:avLst>
              <a:gd name="adj" fmla="val 15789"/>
            </a:avLst>
          </a:prstGeom>
          <a:solidFill>
            <a:srgbClr val="E6F4EC"/>
          </a:solidFill>
          <a:ln w="9525">
            <a:solidFill>
              <a:srgbClr val="2E8B57"/>
            </a:solidFill>
            <a:prstDash val="solid"/>
          </a:ln>
        </p:spPr>
      </p:sp>
      <p:sp>
        <p:nvSpPr>
          <p:cNvPr id="24" name="Shape 22"/>
          <p:cNvSpPr/>
          <p:nvPr/>
        </p:nvSpPr>
        <p:spPr>
          <a:xfrm>
            <a:off x="640080" y="2862072"/>
            <a:ext cx="256032" cy="256032"/>
          </a:xfrm>
          <a:prstGeom prst="ellipse">
            <a:avLst/>
          </a:prstGeom>
          <a:solidFill>
            <a:srgbClr val="2E8B57"/>
          </a:solidFill>
          <a:ln w="12700">
            <a:solidFill>
              <a:srgbClr val="2E8B57"/>
            </a:solidFill>
            <a:prstDash val="solid"/>
          </a:ln>
        </p:spPr>
      </p:sp>
      <p:sp>
        <p:nvSpPr>
          <p:cNvPr id="25" name="Text 23"/>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26" name="Text 24"/>
          <p:cNvSpPr txBox="1"/>
          <p:nvPr/>
        </p:nvSpPr>
        <p:spPr>
          <a:xfrm>
            <a:off x="969264" y="2804160"/>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قَبْلَ أَنْ أَخْرُجَ</a:t>
            </a:r>
            <a:endParaRPr lang="ar-SA" sz="1700" dirty="0"/>
          </a:p>
        </p:txBody>
      </p:sp>
      <p:sp>
        <p:nvSpPr>
          <p:cNvPr id="27" name="Shape 25"/>
          <p:cNvSpPr/>
          <p:nvPr/>
        </p:nvSpPr>
        <p:spPr>
          <a:xfrm>
            <a:off x="640080" y="3233928"/>
            <a:ext cx="256032" cy="256032"/>
          </a:xfrm>
          <a:prstGeom prst="ellipse">
            <a:avLst/>
          </a:prstGeom>
          <a:solidFill>
            <a:srgbClr val="C9CED6"/>
          </a:solidFill>
          <a:ln w="12700">
            <a:solidFill>
              <a:srgbClr val="C9CED6"/>
            </a:solidFill>
            <a:prstDash val="solid"/>
          </a:ln>
        </p:spPr>
      </p:sp>
      <p:sp>
        <p:nvSpPr>
          <p:cNvPr id="28" name="Text 26"/>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9" name="Text 27"/>
          <p:cNvSpPr txBox="1"/>
          <p:nvPr/>
        </p:nvSpPr>
        <p:spPr>
          <a:xfrm>
            <a:off x="969264" y="3176016"/>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قَبْلَ أَخْرُجَ أَنْ</a:t>
            </a:r>
            <a:endParaRPr lang="ar-SA" sz="1700" dirty="0"/>
          </a:p>
        </p:txBody>
      </p:sp>
      <p:sp>
        <p:nvSpPr>
          <p:cNvPr id="30" name="Text 28"/>
          <p:cNvSpPr txBox="1"/>
          <p:nvPr/>
        </p:nvSpPr>
        <p:spPr>
          <a:xfrm>
            <a:off x="585216"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After </a:t>
            </a:r>
            <a:pPr algn="l" indent="0" marL="0">
              <a:buNone/>
            </a:pPr>
            <a:r>
              <a:rPr lang="ar-SA" altLang="en-US" sz="1350" dirty="0">
                <a:solidFill>
                  <a:srgbClr val="8A6D1E"/>
                </a:solidFill>
                <a:latin typeface="Amiri" pitchFamily="2" charset="-78"/>
                <a:ea typeface="Amiri" pitchFamily="2" charset="-78"/>
                <a:cs typeface="Amiri" pitchFamily="2" charset="-78"/>
              </a:rPr>
              <a:t>قَبْلَ أَنْ</a:t>
            </a:r>
            <a:pPr algn="l" indent="0" marL="0">
              <a:buNone/>
            </a:pPr>
            <a:r>
              <a:rPr lang="en-US" sz="1050" i="1" dirty="0">
                <a:solidFill>
                  <a:srgbClr val="8A6D1E"/>
                </a:solidFill>
                <a:latin typeface="Calibri" pitchFamily="34" charset="0"/>
                <a:cs typeface="Amiri" pitchFamily="2" charset="-78"/>
              </a:rPr>
              <a:t>, the present verb takes the subjunctive ending: </a:t>
            </a:r>
            <a:pPr algn="l" indent="0" marL="0">
              <a:buNone/>
            </a:pPr>
            <a:r>
              <a:rPr lang="ar-SA" altLang="en-US" sz="1350" dirty="0">
                <a:solidFill>
                  <a:srgbClr val="8A6D1E"/>
                </a:solidFill>
                <a:latin typeface="Amiri" pitchFamily="2" charset="-78"/>
                <a:ea typeface="Amiri" pitchFamily="2" charset="-78"/>
                <a:cs typeface="Amiri" pitchFamily="2" charset="-78"/>
              </a:rPr>
              <a:t>أَخْرُجَ</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31" name="Shape 29"/>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30"/>
          <p:cNvSpPr/>
          <p:nvPr/>
        </p:nvSpPr>
        <p:spPr>
          <a:xfrm>
            <a:off x="4404360" y="1947672"/>
            <a:ext cx="310896" cy="310896"/>
          </a:xfrm>
          <a:prstGeom prst="ellipse">
            <a:avLst/>
          </a:prstGeom>
          <a:solidFill>
            <a:srgbClr val="1B3B6F"/>
          </a:solidFill>
          <a:ln w="12700">
            <a:solidFill>
              <a:srgbClr val="1B3B6F"/>
            </a:solidFill>
            <a:prstDash val="solid"/>
          </a:ln>
        </p:spPr>
      </p:sp>
      <p:sp>
        <p:nvSpPr>
          <p:cNvPr id="33" name="Text 31"/>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4" name="Text 32"/>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accurate Arabic for “after we return”.</a:t>
            </a:r>
            <a:endParaRPr lang="en-US" sz="1250" dirty="0"/>
          </a:p>
        </p:txBody>
      </p:sp>
      <p:sp>
        <p:nvSpPr>
          <p:cNvPr id="35" name="Shape 33"/>
          <p:cNvSpPr/>
          <p:nvPr/>
        </p:nvSpPr>
        <p:spPr>
          <a:xfrm>
            <a:off x="4367784" y="2453640"/>
            <a:ext cx="3453384" cy="347472"/>
          </a:xfrm>
          <a:prstGeom prst="roundRect">
            <a:avLst>
              <a:gd name="adj" fmla="val 15789"/>
            </a:avLst>
          </a:prstGeom>
          <a:solidFill>
            <a:srgbClr val="E6F4EC"/>
          </a:solidFill>
          <a:ln w="9525">
            <a:solidFill>
              <a:srgbClr val="2E8B57"/>
            </a:solidFill>
            <a:prstDash val="solid"/>
          </a:ln>
        </p:spPr>
      </p:sp>
      <p:sp>
        <p:nvSpPr>
          <p:cNvPr id="36" name="Shape 34"/>
          <p:cNvSpPr/>
          <p:nvPr/>
        </p:nvSpPr>
        <p:spPr>
          <a:xfrm>
            <a:off x="4459224" y="2490216"/>
            <a:ext cx="256032" cy="256032"/>
          </a:xfrm>
          <a:prstGeom prst="ellipse">
            <a:avLst/>
          </a:prstGeom>
          <a:solidFill>
            <a:srgbClr val="2E8B57"/>
          </a:solidFill>
          <a:ln w="12700">
            <a:solidFill>
              <a:srgbClr val="2E8B57"/>
            </a:solidFill>
            <a:prstDash val="solid"/>
          </a:ln>
        </p:spPr>
      </p:sp>
      <p:sp>
        <p:nvSpPr>
          <p:cNvPr id="37" name="Text 35"/>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38" name="Text 36"/>
          <p:cNvSpPr txBox="1"/>
          <p:nvPr/>
        </p:nvSpPr>
        <p:spPr>
          <a:xfrm>
            <a:off x="4788408" y="2432304"/>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بَعْدَ أَنْ نَعُودَ</a:t>
            </a:r>
            <a:endParaRPr lang="ar-SA" sz="1700" dirty="0"/>
          </a:p>
        </p:txBody>
      </p:sp>
      <p:sp>
        <p:nvSpPr>
          <p:cNvPr id="39" name="Shape 37"/>
          <p:cNvSpPr/>
          <p:nvPr/>
        </p:nvSpPr>
        <p:spPr>
          <a:xfrm>
            <a:off x="4459224" y="2862072"/>
            <a:ext cx="256032" cy="256032"/>
          </a:xfrm>
          <a:prstGeom prst="ellipse">
            <a:avLst/>
          </a:prstGeom>
          <a:solidFill>
            <a:srgbClr val="C9CED6"/>
          </a:solidFill>
          <a:ln w="12700">
            <a:solidFill>
              <a:srgbClr val="C9CED6"/>
            </a:solidFill>
            <a:prstDash val="solid"/>
          </a:ln>
        </p:spPr>
      </p:sp>
      <p:sp>
        <p:nvSpPr>
          <p:cNvPr id="40" name="Text 38"/>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1" name="Text 39"/>
          <p:cNvSpPr txBox="1"/>
          <p:nvPr/>
        </p:nvSpPr>
        <p:spPr>
          <a:xfrm>
            <a:off x="4788408" y="280416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بَعْدَ أَنْ نَعُودُ</a:t>
            </a:r>
            <a:endParaRPr lang="ar-SA" sz="1700" dirty="0"/>
          </a:p>
        </p:txBody>
      </p:sp>
      <p:sp>
        <p:nvSpPr>
          <p:cNvPr id="42" name="Shape 40"/>
          <p:cNvSpPr/>
          <p:nvPr/>
        </p:nvSpPr>
        <p:spPr>
          <a:xfrm>
            <a:off x="4459224" y="3233928"/>
            <a:ext cx="256032" cy="256032"/>
          </a:xfrm>
          <a:prstGeom prst="ellipse">
            <a:avLst/>
          </a:prstGeom>
          <a:solidFill>
            <a:srgbClr val="C9CED6"/>
          </a:solidFill>
          <a:ln w="12700">
            <a:solidFill>
              <a:srgbClr val="C9CED6"/>
            </a:solidFill>
            <a:prstDash val="solid"/>
          </a:ln>
        </p:spPr>
      </p:sp>
      <p:sp>
        <p:nvSpPr>
          <p:cNvPr id="43" name="Text 41"/>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4" name="Text 42"/>
          <p:cNvSpPr txBox="1"/>
          <p:nvPr/>
        </p:nvSpPr>
        <p:spPr>
          <a:xfrm>
            <a:off x="4788408" y="3176016"/>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بَعْدَ نَحْنُ نَعُودَ</a:t>
            </a:r>
            <a:endParaRPr lang="ar-SA" sz="1700" dirty="0"/>
          </a:p>
        </p:txBody>
      </p:sp>
      <p:sp>
        <p:nvSpPr>
          <p:cNvPr id="45" name="Text 43"/>
          <p:cNvSpPr txBox="1"/>
          <p:nvPr/>
        </p:nvSpPr>
        <p:spPr>
          <a:xfrm>
            <a:off x="4404360"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After </a:t>
            </a:r>
            <a:pPr algn="l" indent="0" marL="0">
              <a:buNone/>
            </a:pPr>
            <a:r>
              <a:rPr lang="ar-SA" altLang="en-US" sz="1350" dirty="0">
                <a:solidFill>
                  <a:srgbClr val="8A6D1E"/>
                </a:solidFill>
                <a:latin typeface="Amiri" pitchFamily="2" charset="-78"/>
                <a:ea typeface="Amiri" pitchFamily="2" charset="-78"/>
                <a:cs typeface="Amiri" pitchFamily="2" charset="-78"/>
              </a:rPr>
              <a:t>أَنْ</a:t>
            </a:r>
            <a:pPr algn="l" indent="0" marL="0">
              <a:buNone/>
            </a:pPr>
            <a:r>
              <a:rPr lang="en-US" sz="1050" i="1" dirty="0">
                <a:solidFill>
                  <a:srgbClr val="8A6D1E"/>
                </a:solidFill>
                <a:latin typeface="Calibri" pitchFamily="34" charset="0"/>
                <a:cs typeface="Amiri" pitchFamily="2" charset="-78"/>
              </a:rPr>
              <a:t>, </a:t>
            </a:r>
            <a:pPr algn="l" indent="0" marL="0">
              <a:buNone/>
            </a:pPr>
            <a:r>
              <a:rPr lang="ar-SA" altLang="en-US" sz="1350" dirty="0">
                <a:solidFill>
                  <a:srgbClr val="8A6D1E"/>
                </a:solidFill>
                <a:latin typeface="Amiri" pitchFamily="2" charset="-78"/>
                <a:ea typeface="Amiri" pitchFamily="2" charset="-78"/>
                <a:cs typeface="Amiri" pitchFamily="2" charset="-78"/>
              </a:rPr>
              <a:t>نَعُودُ</a:t>
            </a:r>
            <a:pPr algn="l" indent="0" marL="0">
              <a:buNone/>
            </a:pPr>
            <a:r>
              <a:rPr lang="en-US" sz="1050" i="1" dirty="0">
                <a:solidFill>
                  <a:srgbClr val="8A6D1E"/>
                </a:solidFill>
                <a:latin typeface="Calibri" pitchFamily="34" charset="0"/>
                <a:cs typeface="Amiri" pitchFamily="2" charset="-78"/>
              </a:rPr>
              <a:t> changes to </a:t>
            </a:r>
            <a:pPr algn="l" indent="0" marL="0">
              <a:buNone/>
            </a:pPr>
            <a:r>
              <a:rPr lang="ar-SA" altLang="en-US" sz="1350" dirty="0">
                <a:solidFill>
                  <a:srgbClr val="8A6D1E"/>
                </a:solidFill>
                <a:latin typeface="Amiri" pitchFamily="2" charset="-78"/>
                <a:ea typeface="Amiri" pitchFamily="2" charset="-78"/>
                <a:cs typeface="Amiri" pitchFamily="2" charset="-78"/>
              </a:rPr>
              <a:t>نَعُودَ</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46" name="Shape 44"/>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7" name="Shape 45"/>
          <p:cNvSpPr/>
          <p:nvPr/>
        </p:nvSpPr>
        <p:spPr>
          <a:xfrm>
            <a:off x="8223504" y="1947672"/>
            <a:ext cx="310896" cy="310896"/>
          </a:xfrm>
          <a:prstGeom prst="ellipse">
            <a:avLst/>
          </a:prstGeom>
          <a:solidFill>
            <a:srgbClr val="1B3B6F"/>
          </a:solidFill>
          <a:ln w="12700">
            <a:solidFill>
              <a:srgbClr val="1B3B6F"/>
            </a:solidFill>
            <a:prstDash val="solid"/>
          </a:ln>
        </p:spPr>
      </p:sp>
      <p:sp>
        <p:nvSpPr>
          <p:cNvPr id="48" name="Text 46"/>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9" name="Text 47"/>
          <p:cNvSpPr txBox="1"/>
          <p:nvPr/>
        </p:nvSpPr>
        <p:spPr>
          <a:xfrm>
            <a:off x="8589264" y="1883664"/>
            <a:ext cx="1395070"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Complete:</a:t>
            </a:r>
            <a:endParaRPr lang="en-US" sz="1200" dirty="0"/>
          </a:p>
        </p:txBody>
      </p:sp>
      <p:sp>
        <p:nvSpPr>
          <p:cNvPr id="50" name="Text 48"/>
          <p:cNvSpPr txBox="1"/>
          <p:nvPr/>
        </p:nvSpPr>
        <p:spPr>
          <a:xfrm>
            <a:off x="10044989" y="1883664"/>
            <a:ext cx="1577035" cy="475488"/>
          </a:xfrm>
          <a:prstGeom prst="rect">
            <a:avLst/>
          </a:prstGeom>
          <a:noFill/>
          <a:ln/>
        </p:spPr>
        <p:txBody>
          <a:bodyPr wrap="square" lIns="0" tIns="0" rIns="0" bIns="0" rtlCol="0" anchor="ctr"/>
          <a:lstStyle/>
          <a:p>
            <a:pPr rtl="1" algn="r" indent="0" marL="0">
              <a:buNone/>
            </a:pPr>
            <a:r>
              <a:rPr lang="ar-SA" altLang="en-US" sz="1250" b="1" dirty="0">
                <a:solidFill>
                  <a:srgbClr val="1F2A37"/>
                </a:solidFill>
                <a:latin typeface="Amiri" pitchFamily="2" charset="-78"/>
                <a:ea typeface="Amiri" pitchFamily="2" charset="-78"/>
                <a:cs typeface="Amiri" pitchFamily="2" charset="-78"/>
              </a:rPr>
              <a:t>بَعْدَ أَنْ ___ وَاجِبِي أَسْتَرِيحُ.</a:t>
            </a:r>
            <a:endParaRPr lang="ar-SA" sz="1250" dirty="0"/>
          </a:p>
        </p:txBody>
      </p:sp>
      <p:sp>
        <p:nvSpPr>
          <p:cNvPr id="51" name="Shape 49"/>
          <p:cNvSpPr/>
          <p:nvPr/>
        </p:nvSpPr>
        <p:spPr>
          <a:xfrm>
            <a:off x="8278368" y="2490216"/>
            <a:ext cx="256032" cy="256032"/>
          </a:xfrm>
          <a:prstGeom prst="ellipse">
            <a:avLst/>
          </a:prstGeom>
          <a:solidFill>
            <a:srgbClr val="C9CED6"/>
          </a:solidFill>
          <a:ln w="12700">
            <a:solidFill>
              <a:srgbClr val="C9CED6"/>
            </a:solidFill>
            <a:prstDash val="solid"/>
          </a:ln>
        </p:spPr>
      </p:sp>
      <p:sp>
        <p:nvSpPr>
          <p:cNvPr id="52" name="Text 50"/>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3" name="Text 51"/>
          <p:cNvSpPr txBox="1"/>
          <p:nvPr/>
        </p:nvSpPr>
        <p:spPr>
          <a:xfrm>
            <a:off x="8607552" y="243230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أُكْمِلُ</a:t>
            </a:r>
            <a:endParaRPr lang="ar-SA" sz="1700" dirty="0"/>
          </a:p>
        </p:txBody>
      </p:sp>
      <p:sp>
        <p:nvSpPr>
          <p:cNvPr id="54" name="Shape 52"/>
          <p:cNvSpPr/>
          <p:nvPr/>
        </p:nvSpPr>
        <p:spPr>
          <a:xfrm>
            <a:off x="8278368" y="2862072"/>
            <a:ext cx="256032" cy="256032"/>
          </a:xfrm>
          <a:prstGeom prst="ellipse">
            <a:avLst/>
          </a:prstGeom>
          <a:solidFill>
            <a:srgbClr val="C9CED6"/>
          </a:solidFill>
          <a:ln w="12700">
            <a:solidFill>
              <a:srgbClr val="C9CED6"/>
            </a:solidFill>
            <a:prstDash val="solid"/>
          </a:ln>
        </p:spPr>
      </p:sp>
      <p:sp>
        <p:nvSpPr>
          <p:cNvPr id="55" name="Text 53"/>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6" name="Text 54"/>
          <p:cNvSpPr txBox="1"/>
          <p:nvPr/>
        </p:nvSpPr>
        <p:spPr>
          <a:xfrm>
            <a:off x="8607552" y="280416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أَكْمَلْتُ</a:t>
            </a:r>
            <a:endParaRPr lang="ar-SA" sz="1700" dirty="0"/>
          </a:p>
        </p:txBody>
      </p:sp>
      <p:sp>
        <p:nvSpPr>
          <p:cNvPr id="57" name="Shape 55"/>
          <p:cNvSpPr/>
          <p:nvPr/>
        </p:nvSpPr>
        <p:spPr>
          <a:xfrm>
            <a:off x="8186928" y="3197352"/>
            <a:ext cx="3453384" cy="347472"/>
          </a:xfrm>
          <a:prstGeom prst="roundRect">
            <a:avLst>
              <a:gd name="adj" fmla="val 15789"/>
            </a:avLst>
          </a:prstGeom>
          <a:solidFill>
            <a:srgbClr val="E6F4EC"/>
          </a:solidFill>
          <a:ln w="9525">
            <a:solidFill>
              <a:srgbClr val="2E8B57"/>
            </a:solidFill>
            <a:prstDash val="solid"/>
          </a:ln>
        </p:spPr>
      </p:sp>
      <p:sp>
        <p:nvSpPr>
          <p:cNvPr id="58" name="Shape 56"/>
          <p:cNvSpPr/>
          <p:nvPr/>
        </p:nvSpPr>
        <p:spPr>
          <a:xfrm>
            <a:off x="8278368" y="3233928"/>
            <a:ext cx="256032" cy="256032"/>
          </a:xfrm>
          <a:prstGeom prst="ellipse">
            <a:avLst/>
          </a:prstGeom>
          <a:solidFill>
            <a:srgbClr val="2E8B57"/>
          </a:solidFill>
          <a:ln w="12700">
            <a:solidFill>
              <a:srgbClr val="2E8B57"/>
            </a:solidFill>
            <a:prstDash val="solid"/>
          </a:ln>
        </p:spPr>
      </p:sp>
      <p:sp>
        <p:nvSpPr>
          <p:cNvPr id="59" name="Text 57"/>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60" name="Text 58"/>
          <p:cNvSpPr txBox="1"/>
          <p:nvPr/>
        </p:nvSpPr>
        <p:spPr>
          <a:xfrm>
            <a:off x="8607552" y="3176016"/>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أُكْمِلَ</a:t>
            </a:r>
            <a:endParaRPr lang="ar-SA" sz="1700" dirty="0"/>
          </a:p>
        </p:txBody>
      </p:sp>
      <p:sp>
        <p:nvSpPr>
          <p:cNvPr id="61" name="Text 59"/>
          <p:cNvSpPr txBox="1"/>
          <p:nvPr/>
        </p:nvSpPr>
        <p:spPr>
          <a:xfrm>
            <a:off x="8223504"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The verb after </a:t>
            </a:r>
            <a:pPr algn="l" indent="0" marL="0">
              <a:buNone/>
            </a:pPr>
            <a:r>
              <a:rPr lang="ar-SA" altLang="en-US" sz="1350" dirty="0">
                <a:solidFill>
                  <a:srgbClr val="8A6D1E"/>
                </a:solidFill>
                <a:latin typeface="Amiri" pitchFamily="2" charset="-78"/>
                <a:ea typeface="Amiri" pitchFamily="2" charset="-78"/>
                <a:cs typeface="Amiri" pitchFamily="2" charset="-78"/>
              </a:rPr>
              <a:t>أَنْ</a:t>
            </a:r>
            <a:pPr algn="l" indent="0" marL="0">
              <a:buNone/>
            </a:pPr>
            <a:r>
              <a:rPr lang="en-US" sz="1050" i="1" dirty="0">
                <a:solidFill>
                  <a:srgbClr val="8A6D1E"/>
                </a:solidFill>
                <a:latin typeface="Calibri" pitchFamily="34" charset="0"/>
                <a:cs typeface="Amiri" pitchFamily="2" charset="-78"/>
              </a:rPr>
              <a:t> is subjunctive: </a:t>
            </a:r>
            <a:pPr algn="l" indent="0" marL="0">
              <a:buNone/>
            </a:pPr>
            <a:r>
              <a:rPr lang="ar-SA" altLang="en-US" sz="1350" dirty="0">
                <a:solidFill>
                  <a:srgbClr val="8A6D1E"/>
                </a:solidFill>
                <a:latin typeface="Amiri" pitchFamily="2" charset="-78"/>
                <a:ea typeface="Amiri" pitchFamily="2" charset="-78"/>
                <a:cs typeface="Amiri" pitchFamily="2" charset="-78"/>
              </a:rPr>
              <a:t>أُكْمِلَ</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62" name="Shape 60"/>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3" name="Shape 61"/>
          <p:cNvSpPr/>
          <p:nvPr/>
        </p:nvSpPr>
        <p:spPr>
          <a:xfrm>
            <a:off x="585216" y="4288536"/>
            <a:ext cx="310896" cy="310896"/>
          </a:xfrm>
          <a:prstGeom prst="ellipse">
            <a:avLst/>
          </a:prstGeom>
          <a:solidFill>
            <a:srgbClr val="1B3B6F"/>
          </a:solidFill>
          <a:ln w="12700">
            <a:solidFill>
              <a:srgbClr val="1B3B6F"/>
            </a:solidFill>
            <a:prstDash val="solid"/>
          </a:ln>
        </p:spPr>
      </p:sp>
      <p:sp>
        <p:nvSpPr>
          <p:cNvPr id="64" name="Text 62"/>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5" name="Text 63"/>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sentence means “I eat dinner after I finish my homework”?</a:t>
            </a:r>
            <a:endParaRPr lang="en-US" sz="1250" dirty="0"/>
          </a:p>
        </p:txBody>
      </p:sp>
      <p:sp>
        <p:nvSpPr>
          <p:cNvPr id="66" name="Shape 64"/>
          <p:cNvSpPr/>
          <p:nvPr/>
        </p:nvSpPr>
        <p:spPr>
          <a:xfrm>
            <a:off x="640080" y="4831080"/>
            <a:ext cx="256032" cy="256032"/>
          </a:xfrm>
          <a:prstGeom prst="ellipse">
            <a:avLst/>
          </a:prstGeom>
          <a:solidFill>
            <a:srgbClr val="C9CED6"/>
          </a:solidFill>
          <a:ln w="12700">
            <a:solidFill>
              <a:srgbClr val="C9CED6"/>
            </a:solidFill>
            <a:prstDash val="solid"/>
          </a:ln>
        </p:spPr>
      </p:sp>
      <p:sp>
        <p:nvSpPr>
          <p:cNvPr id="67" name="Text 65"/>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8" name="Text 66"/>
          <p:cNvSpPr txBox="1"/>
          <p:nvPr/>
        </p:nvSpPr>
        <p:spPr>
          <a:xfrm>
            <a:off x="969264" y="4773168"/>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أَتَنَاوَلُ العَشَاءَ قَبْلَ وَاجِبِي أَنْ.</a:t>
            </a:r>
            <a:endParaRPr lang="ar-SA" sz="1700" dirty="0"/>
          </a:p>
        </p:txBody>
      </p:sp>
      <p:sp>
        <p:nvSpPr>
          <p:cNvPr id="69" name="Shape 67"/>
          <p:cNvSpPr/>
          <p:nvPr/>
        </p:nvSpPr>
        <p:spPr>
          <a:xfrm>
            <a:off x="640080" y="5202936"/>
            <a:ext cx="256032" cy="256032"/>
          </a:xfrm>
          <a:prstGeom prst="ellipse">
            <a:avLst/>
          </a:prstGeom>
          <a:solidFill>
            <a:srgbClr val="C9CED6"/>
          </a:solidFill>
          <a:ln w="12700">
            <a:solidFill>
              <a:srgbClr val="C9CED6"/>
            </a:solidFill>
            <a:prstDash val="solid"/>
          </a:ln>
        </p:spPr>
      </p:sp>
      <p:sp>
        <p:nvSpPr>
          <p:cNvPr id="70" name="Text 68"/>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1" name="Text 69"/>
          <p:cNvSpPr txBox="1"/>
          <p:nvPr/>
        </p:nvSpPr>
        <p:spPr>
          <a:xfrm>
            <a:off x="969264" y="514502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بَعْدَ العَشَاءِ أُكْمِلَ أَنْ وَاجِبِي.</a:t>
            </a:r>
            <a:endParaRPr lang="ar-SA" sz="1700" dirty="0"/>
          </a:p>
        </p:txBody>
      </p:sp>
      <p:sp>
        <p:nvSpPr>
          <p:cNvPr id="72" name="Shape 70"/>
          <p:cNvSpPr/>
          <p:nvPr/>
        </p:nvSpPr>
        <p:spPr>
          <a:xfrm>
            <a:off x="548640" y="5538216"/>
            <a:ext cx="3453384" cy="347472"/>
          </a:xfrm>
          <a:prstGeom prst="roundRect">
            <a:avLst>
              <a:gd name="adj" fmla="val 15789"/>
            </a:avLst>
          </a:prstGeom>
          <a:solidFill>
            <a:srgbClr val="E6F4EC"/>
          </a:solidFill>
          <a:ln w="9525">
            <a:solidFill>
              <a:srgbClr val="2E8B57"/>
            </a:solidFill>
            <a:prstDash val="solid"/>
          </a:ln>
        </p:spPr>
      </p:sp>
      <p:sp>
        <p:nvSpPr>
          <p:cNvPr id="73" name="Shape 71"/>
          <p:cNvSpPr/>
          <p:nvPr/>
        </p:nvSpPr>
        <p:spPr>
          <a:xfrm>
            <a:off x="640080" y="5574792"/>
            <a:ext cx="256032" cy="256032"/>
          </a:xfrm>
          <a:prstGeom prst="ellipse">
            <a:avLst/>
          </a:prstGeom>
          <a:solidFill>
            <a:srgbClr val="2E8B57"/>
          </a:solidFill>
          <a:ln w="12700">
            <a:solidFill>
              <a:srgbClr val="2E8B57"/>
            </a:solidFill>
            <a:prstDash val="solid"/>
          </a:ln>
        </p:spPr>
      </p:sp>
      <p:sp>
        <p:nvSpPr>
          <p:cNvPr id="74" name="Text 72"/>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75" name="Text 73"/>
          <p:cNvSpPr txBox="1"/>
          <p:nvPr/>
        </p:nvSpPr>
        <p:spPr>
          <a:xfrm>
            <a:off x="969264" y="5516880"/>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أَتَنَاوَلُ العَشَاءَ بَعْدَ أَنْ أُكْمِلَ وَاجِبِي.</a:t>
            </a:r>
            <a:endParaRPr lang="ar-SA" sz="1700" dirty="0"/>
          </a:p>
        </p:txBody>
      </p:sp>
      <p:sp>
        <p:nvSpPr>
          <p:cNvPr id="76" name="Text 74"/>
          <p:cNvSpPr txBox="1"/>
          <p:nvPr/>
        </p:nvSpPr>
        <p:spPr>
          <a:xfrm>
            <a:off x="585216"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The sequence is clear: main action + </a:t>
            </a:r>
            <a:pPr algn="l" indent="0" marL="0">
              <a:buNone/>
            </a:pPr>
            <a:r>
              <a:rPr lang="ar-SA" altLang="en-US" sz="1350" dirty="0">
                <a:solidFill>
                  <a:srgbClr val="8A6D1E"/>
                </a:solidFill>
                <a:latin typeface="Amiri" pitchFamily="2" charset="-78"/>
                <a:ea typeface="Amiri" pitchFamily="2" charset="-78"/>
                <a:cs typeface="Amiri" pitchFamily="2" charset="-78"/>
              </a:rPr>
              <a:t>بَعْدَ أَنْ</a:t>
            </a:r>
            <a:pPr algn="l" indent="0" marL="0">
              <a:buNone/>
            </a:pPr>
            <a:r>
              <a:rPr lang="en-US" sz="1050" i="1" dirty="0">
                <a:solidFill>
                  <a:srgbClr val="8A6D1E"/>
                </a:solidFill>
                <a:latin typeface="Calibri" pitchFamily="34" charset="0"/>
                <a:cs typeface="Amiri" pitchFamily="2" charset="-78"/>
              </a:rPr>
              <a:t> + completed action.</a:t>
            </a:r>
            <a:endParaRPr lang="en-US" sz="1050" dirty="0"/>
          </a:p>
        </p:txBody>
      </p:sp>
      <p:sp>
        <p:nvSpPr>
          <p:cNvPr id="77" name="Shape 75"/>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8" name="Shape 76"/>
          <p:cNvSpPr/>
          <p:nvPr/>
        </p:nvSpPr>
        <p:spPr>
          <a:xfrm>
            <a:off x="4404360" y="4288536"/>
            <a:ext cx="310896" cy="310896"/>
          </a:xfrm>
          <a:prstGeom prst="ellipse">
            <a:avLst/>
          </a:prstGeom>
          <a:solidFill>
            <a:srgbClr val="1B3B6F"/>
          </a:solidFill>
          <a:ln w="12700">
            <a:solidFill>
              <a:srgbClr val="1B3B6F"/>
            </a:solidFill>
            <a:prstDash val="solid"/>
          </a:ln>
        </p:spPr>
      </p:sp>
      <p:sp>
        <p:nvSpPr>
          <p:cNvPr id="79" name="Text 77"/>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80" name="Text 78"/>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accurate “as soon as” sentence.</a:t>
            </a:r>
            <a:endParaRPr lang="en-US" sz="1250" dirty="0"/>
          </a:p>
        </p:txBody>
      </p:sp>
      <p:sp>
        <p:nvSpPr>
          <p:cNvPr id="81" name="Shape 79"/>
          <p:cNvSpPr/>
          <p:nvPr/>
        </p:nvSpPr>
        <p:spPr>
          <a:xfrm>
            <a:off x="4367784" y="4794504"/>
            <a:ext cx="3453384" cy="347472"/>
          </a:xfrm>
          <a:prstGeom prst="roundRect">
            <a:avLst>
              <a:gd name="adj" fmla="val 15789"/>
            </a:avLst>
          </a:prstGeom>
          <a:solidFill>
            <a:srgbClr val="E6F4EC"/>
          </a:solidFill>
          <a:ln w="9525">
            <a:solidFill>
              <a:srgbClr val="2E8B57"/>
            </a:solidFill>
            <a:prstDash val="solid"/>
          </a:ln>
        </p:spPr>
      </p:sp>
      <p:sp>
        <p:nvSpPr>
          <p:cNvPr id="82" name="Shape 80"/>
          <p:cNvSpPr/>
          <p:nvPr/>
        </p:nvSpPr>
        <p:spPr>
          <a:xfrm>
            <a:off x="4459224" y="4831080"/>
            <a:ext cx="256032" cy="256032"/>
          </a:xfrm>
          <a:prstGeom prst="ellipse">
            <a:avLst/>
          </a:prstGeom>
          <a:solidFill>
            <a:srgbClr val="2E8B57"/>
          </a:solidFill>
          <a:ln w="12700">
            <a:solidFill>
              <a:srgbClr val="2E8B57"/>
            </a:solidFill>
            <a:prstDash val="solid"/>
          </a:ln>
        </p:spPr>
      </p:sp>
      <p:sp>
        <p:nvSpPr>
          <p:cNvPr id="83" name="Text 81"/>
          <p:cNvSpPr txBox="1"/>
          <p:nvPr/>
        </p:nvSpPr>
        <p:spPr>
          <a:xfrm>
            <a:off x="4459224"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84" name="Text 82"/>
          <p:cNvSpPr txBox="1"/>
          <p:nvPr/>
        </p:nvSpPr>
        <p:spPr>
          <a:xfrm>
            <a:off x="4788408" y="4773168"/>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بِمُجَرَّدِ أَنْ أَنْتَهِيَ أَسْتَرِيحُ.</a:t>
            </a:r>
            <a:endParaRPr lang="ar-SA" sz="1700" dirty="0"/>
          </a:p>
        </p:txBody>
      </p:sp>
      <p:sp>
        <p:nvSpPr>
          <p:cNvPr id="85" name="Shape 83"/>
          <p:cNvSpPr/>
          <p:nvPr/>
        </p:nvSpPr>
        <p:spPr>
          <a:xfrm>
            <a:off x="4459224" y="5202936"/>
            <a:ext cx="256032" cy="256032"/>
          </a:xfrm>
          <a:prstGeom prst="ellipse">
            <a:avLst/>
          </a:prstGeom>
          <a:solidFill>
            <a:srgbClr val="C9CED6"/>
          </a:solidFill>
          <a:ln w="12700">
            <a:solidFill>
              <a:srgbClr val="C9CED6"/>
            </a:solidFill>
            <a:prstDash val="solid"/>
          </a:ln>
        </p:spPr>
      </p:sp>
      <p:sp>
        <p:nvSpPr>
          <p:cNvPr id="86" name="Text 84"/>
          <p:cNvSpPr txBox="1"/>
          <p:nvPr/>
        </p:nvSpPr>
        <p:spPr>
          <a:xfrm>
            <a:off x="4459224"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87" name="Text 85"/>
          <p:cNvSpPr txBox="1"/>
          <p:nvPr/>
        </p:nvSpPr>
        <p:spPr>
          <a:xfrm>
            <a:off x="4788408" y="514502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بِمُجَرَّدِ أَنَا أَنْتَهِي أَسْتَرِيحُ.</a:t>
            </a:r>
            <a:endParaRPr lang="ar-SA" sz="1700" dirty="0"/>
          </a:p>
        </p:txBody>
      </p:sp>
      <p:sp>
        <p:nvSpPr>
          <p:cNvPr id="88" name="Shape 86"/>
          <p:cNvSpPr/>
          <p:nvPr/>
        </p:nvSpPr>
        <p:spPr>
          <a:xfrm>
            <a:off x="4459224" y="5574792"/>
            <a:ext cx="256032" cy="256032"/>
          </a:xfrm>
          <a:prstGeom prst="ellipse">
            <a:avLst/>
          </a:prstGeom>
          <a:solidFill>
            <a:srgbClr val="C9CED6"/>
          </a:solidFill>
          <a:ln w="12700">
            <a:solidFill>
              <a:srgbClr val="C9CED6"/>
            </a:solidFill>
            <a:prstDash val="solid"/>
          </a:ln>
        </p:spPr>
      </p:sp>
      <p:sp>
        <p:nvSpPr>
          <p:cNvPr id="89" name="Text 87"/>
          <p:cNvSpPr txBox="1"/>
          <p:nvPr/>
        </p:nvSpPr>
        <p:spPr>
          <a:xfrm>
            <a:off x="4459224"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90" name="Text 88"/>
          <p:cNvSpPr txBox="1"/>
          <p:nvPr/>
        </p:nvSpPr>
        <p:spPr>
          <a:xfrm>
            <a:off x="4788408" y="551688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بِمُجَرَّدِ أَنْ أَنْتَهِيُ أَسْتَرِيحُ.</a:t>
            </a:r>
            <a:endParaRPr lang="ar-SA" sz="1700" dirty="0"/>
          </a:p>
        </p:txBody>
      </p:sp>
      <p:sp>
        <p:nvSpPr>
          <p:cNvPr id="91" name="Text 89"/>
          <p:cNvSpPr txBox="1"/>
          <p:nvPr/>
        </p:nvSpPr>
        <p:spPr>
          <a:xfrm>
            <a:off x="4404360" y="5907024"/>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بِمُجَرَّدِ أَنْ</a:t>
            </a:r>
            <a:pPr algn="l" indent="0" marL="0">
              <a:buNone/>
            </a:pPr>
            <a:r>
              <a:rPr lang="en-US" sz="1050" i="1" dirty="0">
                <a:solidFill>
                  <a:srgbClr val="8A6D1E"/>
                </a:solidFill>
                <a:latin typeface="Calibri" pitchFamily="34" charset="0"/>
                <a:cs typeface="Amiri" pitchFamily="2" charset="-78"/>
              </a:rPr>
              <a:t> is followed by a subjunctive present verb: </a:t>
            </a:r>
            <a:pPr algn="l" indent="0" marL="0">
              <a:buNone/>
            </a:pPr>
            <a:r>
              <a:rPr lang="ar-SA" altLang="en-US" sz="1350" dirty="0">
                <a:solidFill>
                  <a:srgbClr val="8A6D1E"/>
                </a:solidFill>
                <a:latin typeface="Amiri" pitchFamily="2" charset="-78"/>
                <a:ea typeface="Amiri" pitchFamily="2" charset="-78"/>
                <a:cs typeface="Amiri" pitchFamily="2" charset="-78"/>
              </a:rPr>
              <a:t>أَنْتَهِيَ</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92" name="Shape 90"/>
          <p:cNvSpPr/>
          <p:nvPr/>
        </p:nvSpPr>
        <p:spPr>
          <a:xfrm>
            <a:off x="8095488"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93" name="Shape 91"/>
          <p:cNvSpPr/>
          <p:nvPr/>
        </p:nvSpPr>
        <p:spPr>
          <a:xfrm>
            <a:off x="8223504" y="4288536"/>
            <a:ext cx="310896" cy="310896"/>
          </a:xfrm>
          <a:prstGeom prst="ellipse">
            <a:avLst/>
          </a:prstGeom>
          <a:solidFill>
            <a:srgbClr val="1B3B6F"/>
          </a:solidFill>
          <a:ln w="12700">
            <a:solidFill>
              <a:srgbClr val="1B3B6F"/>
            </a:solidFill>
            <a:prstDash val="solid"/>
          </a:ln>
        </p:spPr>
      </p:sp>
      <p:sp>
        <p:nvSpPr>
          <p:cNvPr id="94" name="Text 92"/>
          <p:cNvSpPr txBox="1"/>
          <p:nvPr/>
        </p:nvSpPr>
        <p:spPr>
          <a:xfrm>
            <a:off x="8223504"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6</a:t>
            </a:r>
            <a:endParaRPr lang="en-US" sz="1100" dirty="0"/>
          </a:p>
        </p:txBody>
      </p:sp>
      <p:sp>
        <p:nvSpPr>
          <p:cNvPr id="95" name="Text 93"/>
          <p:cNvSpPr txBox="1"/>
          <p:nvPr/>
        </p:nvSpPr>
        <p:spPr>
          <a:xfrm>
            <a:off x="8589264" y="4224528"/>
            <a:ext cx="1395070"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Repair:</a:t>
            </a:r>
            <a:endParaRPr lang="en-US" sz="1200" dirty="0"/>
          </a:p>
        </p:txBody>
      </p:sp>
      <p:sp>
        <p:nvSpPr>
          <p:cNvPr id="96" name="Text 94"/>
          <p:cNvSpPr txBox="1"/>
          <p:nvPr/>
        </p:nvSpPr>
        <p:spPr>
          <a:xfrm>
            <a:off x="10044989" y="4224528"/>
            <a:ext cx="1577035" cy="475488"/>
          </a:xfrm>
          <a:prstGeom prst="rect">
            <a:avLst/>
          </a:prstGeom>
          <a:noFill/>
          <a:ln/>
        </p:spPr>
        <p:txBody>
          <a:bodyPr wrap="square" lIns="0" tIns="0" rIns="0" bIns="0" rtlCol="0" anchor="ctr"/>
          <a:lstStyle/>
          <a:p>
            <a:pPr rtl="1" algn="r" indent="0" marL="0">
              <a:buNone/>
            </a:pPr>
            <a:r>
              <a:rPr lang="ar-SA" altLang="en-US" sz="1250" b="1" dirty="0">
                <a:solidFill>
                  <a:srgbClr val="1F2A37"/>
                </a:solidFill>
                <a:latin typeface="Amiri" pitchFamily="2" charset="-78"/>
                <a:ea typeface="Amiri" pitchFamily="2" charset="-78"/>
                <a:cs typeface="Amiri" pitchFamily="2" charset="-78"/>
              </a:rPr>
              <a:t>بَعْدَ أَنْ أُرَاجِعُ دُرُوسِي أَنَامُ.</a:t>
            </a:r>
            <a:endParaRPr lang="ar-SA" sz="1250" dirty="0"/>
          </a:p>
        </p:txBody>
      </p:sp>
      <p:sp>
        <p:nvSpPr>
          <p:cNvPr id="97" name="Shape 95"/>
          <p:cNvSpPr/>
          <p:nvPr/>
        </p:nvSpPr>
        <p:spPr>
          <a:xfrm>
            <a:off x="8278368" y="4831080"/>
            <a:ext cx="256032" cy="256032"/>
          </a:xfrm>
          <a:prstGeom prst="ellipse">
            <a:avLst/>
          </a:prstGeom>
          <a:solidFill>
            <a:srgbClr val="C9CED6"/>
          </a:solidFill>
          <a:ln w="12700">
            <a:solidFill>
              <a:srgbClr val="C9CED6"/>
            </a:solidFill>
            <a:prstDash val="solid"/>
          </a:ln>
        </p:spPr>
      </p:sp>
      <p:sp>
        <p:nvSpPr>
          <p:cNvPr id="98" name="Text 96"/>
          <p:cNvSpPr txBox="1"/>
          <p:nvPr/>
        </p:nvSpPr>
        <p:spPr>
          <a:xfrm>
            <a:off x="8278368"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99" name="Text 97"/>
          <p:cNvSpPr txBox="1"/>
          <p:nvPr/>
        </p:nvSpPr>
        <p:spPr>
          <a:xfrm>
            <a:off x="8607552" y="4773168"/>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بَعْدَ أَنْ يُرَاجِعُ دُرُوسِي أَنَامُ.</a:t>
            </a:r>
            <a:endParaRPr lang="ar-SA" sz="1700" dirty="0"/>
          </a:p>
        </p:txBody>
      </p:sp>
      <p:sp>
        <p:nvSpPr>
          <p:cNvPr id="100" name="Shape 98"/>
          <p:cNvSpPr/>
          <p:nvPr/>
        </p:nvSpPr>
        <p:spPr>
          <a:xfrm>
            <a:off x="8186928" y="5166360"/>
            <a:ext cx="3453384" cy="347472"/>
          </a:xfrm>
          <a:prstGeom prst="roundRect">
            <a:avLst>
              <a:gd name="adj" fmla="val 15789"/>
            </a:avLst>
          </a:prstGeom>
          <a:solidFill>
            <a:srgbClr val="E6F4EC"/>
          </a:solidFill>
          <a:ln w="9525">
            <a:solidFill>
              <a:srgbClr val="2E8B57"/>
            </a:solidFill>
            <a:prstDash val="solid"/>
          </a:ln>
        </p:spPr>
      </p:sp>
      <p:sp>
        <p:nvSpPr>
          <p:cNvPr id="101" name="Shape 99"/>
          <p:cNvSpPr/>
          <p:nvPr/>
        </p:nvSpPr>
        <p:spPr>
          <a:xfrm>
            <a:off x="8278368" y="5202936"/>
            <a:ext cx="256032" cy="256032"/>
          </a:xfrm>
          <a:prstGeom prst="ellipse">
            <a:avLst/>
          </a:prstGeom>
          <a:solidFill>
            <a:srgbClr val="2E8B57"/>
          </a:solidFill>
          <a:ln w="12700">
            <a:solidFill>
              <a:srgbClr val="2E8B57"/>
            </a:solidFill>
            <a:prstDash val="solid"/>
          </a:ln>
        </p:spPr>
      </p:sp>
      <p:sp>
        <p:nvSpPr>
          <p:cNvPr id="102" name="Text 100"/>
          <p:cNvSpPr txBox="1"/>
          <p:nvPr/>
        </p:nvSpPr>
        <p:spPr>
          <a:xfrm>
            <a:off x="8278368"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103" name="Text 101"/>
          <p:cNvSpPr txBox="1"/>
          <p:nvPr/>
        </p:nvSpPr>
        <p:spPr>
          <a:xfrm>
            <a:off x="8607552" y="5145024"/>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بَعْدَ أَنْ أُرَاجِعَ دُرُوسِي أَنَامُ.</a:t>
            </a:r>
            <a:endParaRPr lang="ar-SA" sz="1700" dirty="0"/>
          </a:p>
        </p:txBody>
      </p:sp>
      <p:sp>
        <p:nvSpPr>
          <p:cNvPr id="104" name="Shape 102"/>
          <p:cNvSpPr/>
          <p:nvPr/>
        </p:nvSpPr>
        <p:spPr>
          <a:xfrm>
            <a:off x="8278368" y="5574792"/>
            <a:ext cx="256032" cy="256032"/>
          </a:xfrm>
          <a:prstGeom prst="ellipse">
            <a:avLst/>
          </a:prstGeom>
          <a:solidFill>
            <a:srgbClr val="C9CED6"/>
          </a:solidFill>
          <a:ln w="12700">
            <a:solidFill>
              <a:srgbClr val="C9CED6"/>
            </a:solidFill>
            <a:prstDash val="solid"/>
          </a:ln>
        </p:spPr>
      </p:sp>
      <p:sp>
        <p:nvSpPr>
          <p:cNvPr id="105" name="Text 103"/>
          <p:cNvSpPr txBox="1"/>
          <p:nvPr/>
        </p:nvSpPr>
        <p:spPr>
          <a:xfrm>
            <a:off x="8278368"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106" name="Text 104"/>
          <p:cNvSpPr txBox="1"/>
          <p:nvPr/>
        </p:nvSpPr>
        <p:spPr>
          <a:xfrm>
            <a:off x="8607552" y="551688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بَعْدَ أُرَاجِعَ أَنْ دُرُوسِي أَنَامُ.</a:t>
            </a:r>
            <a:endParaRPr lang="ar-SA" sz="1700" dirty="0"/>
          </a:p>
        </p:txBody>
      </p:sp>
      <p:sp>
        <p:nvSpPr>
          <p:cNvPr id="107" name="Text 105"/>
          <p:cNvSpPr txBox="1"/>
          <p:nvPr/>
        </p:nvSpPr>
        <p:spPr>
          <a:xfrm>
            <a:off x="8223504" y="5907024"/>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أُرَاجِعُ</a:t>
            </a:r>
            <a:pPr algn="l" indent="0" marL="0">
              <a:buNone/>
            </a:pPr>
            <a:r>
              <a:rPr lang="en-US" sz="1050" i="1" dirty="0">
                <a:solidFill>
                  <a:srgbClr val="8A6D1E"/>
                </a:solidFill>
                <a:latin typeface="Calibri" pitchFamily="34" charset="0"/>
                <a:cs typeface="Amiri" pitchFamily="2" charset="-78"/>
              </a:rPr>
              <a:t> becomes </a:t>
            </a:r>
            <a:pPr algn="l" indent="0" marL="0">
              <a:buNone/>
            </a:pPr>
            <a:r>
              <a:rPr lang="ar-SA" altLang="en-US" sz="1350" dirty="0">
                <a:solidFill>
                  <a:srgbClr val="8A6D1E"/>
                </a:solidFill>
                <a:latin typeface="Amiri" pitchFamily="2" charset="-78"/>
                <a:ea typeface="Amiri" pitchFamily="2" charset="-78"/>
                <a:cs typeface="Amiri" pitchFamily="2" charset="-78"/>
              </a:rPr>
              <a:t>أُرَاجِعَ</a:t>
            </a:r>
            <a:pPr algn="l" indent="0" marL="0">
              <a:buNone/>
            </a:pPr>
            <a:r>
              <a:rPr lang="en-US" sz="1050" i="1" dirty="0">
                <a:solidFill>
                  <a:srgbClr val="8A6D1E"/>
                </a:solidFill>
                <a:latin typeface="Calibri" pitchFamily="34" charset="0"/>
                <a:cs typeface="Amiri" pitchFamily="2" charset="-78"/>
              </a:rPr>
              <a:t> after </a:t>
            </a:r>
            <a:pPr algn="l" indent="0" marL="0">
              <a:buNone/>
            </a:pPr>
            <a:r>
              <a:rPr lang="ar-SA" altLang="en-US" sz="1350" dirty="0">
                <a:solidFill>
                  <a:srgbClr val="8A6D1E"/>
                </a:solidFill>
                <a:latin typeface="Amiri" pitchFamily="2" charset="-78"/>
                <a:ea typeface="Amiri" pitchFamily="2" charset="-78"/>
                <a:cs typeface="Amiri" pitchFamily="2" charset="-78"/>
              </a:rPr>
              <a:t>أَنْ</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108" name="Text 10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44 / 46</a:t>
            </a:r>
            <a:endParaRPr lang="en-US" sz="85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D1-L04 · Before and After</a:t>
            </a:r>
            <a:endParaRPr lang="en-US" sz="950" dirty="0"/>
          </a:p>
        </p:txBody>
      </p:sp>
      <p:sp>
        <p:nvSpPr>
          <p:cNvPr id="8" name="Shape 6"/>
          <p:cNvSpPr/>
          <p:nvPr/>
        </p:nvSpPr>
        <p:spPr>
          <a:xfrm>
            <a:off x="6915607" y="274320"/>
            <a:ext cx="1844345" cy="329184"/>
          </a:xfrm>
          <a:prstGeom prst="roundRect">
            <a:avLst>
              <a:gd name="adj" fmla="val 50000"/>
            </a:avLst>
          </a:prstGeom>
          <a:solidFill>
            <a:srgbClr val="C45A3C"/>
          </a:solidFill>
          <a:ln w="12700">
            <a:solidFill>
              <a:srgbClr val="C45A3C"/>
            </a:solidFill>
            <a:prstDash val="solid"/>
          </a:ln>
        </p:spPr>
      </p:sp>
      <p:sp>
        <p:nvSpPr>
          <p:cNvPr id="9" name="Text 7"/>
          <p:cNvSpPr txBox="1"/>
          <p:nvPr/>
        </p:nvSpPr>
        <p:spPr>
          <a:xfrm>
            <a:off x="6915607" y="274320"/>
            <a:ext cx="1844345"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PREPARATION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C45A3C"/>
                </a:solidFill>
                <a:latin typeface="Calibri" pitchFamily="34" charset="0"/>
                <a:cs typeface="Amiri" pitchFamily="2" charset="-78"/>
              </a:rPr>
              <a:t>PREPARATION FOR NEXT LESSON · ABOUT 10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750" b="1" dirty="0">
                <a:solidFill>
                  <a:srgbClr val="1B3B6F"/>
                </a:solidFill>
                <a:latin typeface="Cambria" pitchFamily="34" charset="0"/>
                <a:cs typeface="Amiri" pitchFamily="2" charset="-78"/>
              </a:rPr>
              <a:t>Before D1-L05: get ready at home</a:t>
            </a:r>
            <a:endParaRPr lang="en-US" sz="27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التَّحْضِيرُ لِلدَّرْسِ القَادِمِ</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D1 · Daily Routine and Time · D1-L04</a:t>
            </a:r>
            <a:endParaRPr lang="en-US" sz="850" dirty="0"/>
          </a:p>
        </p:txBody>
      </p:sp>
      <p:sp>
        <p:nvSpPr>
          <p:cNvPr id="15" name="Shape 12"/>
          <p:cNvSpPr/>
          <p:nvPr/>
        </p:nvSpPr>
        <p:spPr>
          <a:xfrm>
            <a:off x="457200" y="1810512"/>
            <a:ext cx="5394960" cy="4498848"/>
          </a:xfrm>
          <a:prstGeom prst="roundRect">
            <a:avLst>
              <a:gd name="adj" fmla="val 1626"/>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475488" cy="475488"/>
          </a:xfrm>
          <a:prstGeom prst="ellipse">
            <a:avLst/>
          </a:prstGeom>
          <a:solidFill>
            <a:srgbClr val="C45A3C"/>
          </a:solidFill>
          <a:ln w="12700">
            <a:solidFill>
              <a:srgbClr val="C45A3C"/>
            </a:solidFill>
            <a:prstDash val="solid"/>
          </a:ln>
        </p:spPr>
      </p:sp>
      <p:pic>
        <p:nvPicPr>
          <p:cNvPr id="17" name="Image 0" descr="preencoded.png">    </p:cNvPr>
          <p:cNvPicPr>
            <a:picLocks noChangeAspect="1"/>
          </p:cNvPicPr>
          <p:nvPr/>
        </p:nvPicPr>
        <p:blipFill>
          <a:blip r:embed="rId1"/>
          <a:stretch>
            <a:fillRect/>
          </a:stretch>
        </p:blipFill>
        <p:spPr>
          <a:xfrm>
            <a:off x="731520" y="2029968"/>
            <a:ext cx="292608" cy="292608"/>
          </a:xfrm>
          <a:prstGeom prst="rect">
            <a:avLst/>
          </a:prstGeom>
        </p:spPr>
      </p:pic>
      <p:sp>
        <p:nvSpPr>
          <p:cNvPr id="18" name="Text 14"/>
          <p:cNvSpPr txBox="1"/>
          <p:nvPr/>
        </p:nvSpPr>
        <p:spPr>
          <a:xfrm>
            <a:off x="1207008" y="1920240"/>
            <a:ext cx="4480560" cy="512064"/>
          </a:xfrm>
          <a:prstGeom prst="rect">
            <a:avLst/>
          </a:prstGeom>
          <a:noFill/>
          <a:ln/>
        </p:spPr>
        <p:txBody>
          <a:bodyPr wrap="square" lIns="0" tIns="0" rIns="0" bIns="0" rtlCol="0" anchor="ctr"/>
          <a:lstStyle/>
          <a:p>
            <a:pPr indent="0" marL="0">
              <a:buNone/>
            </a:pPr>
            <a:r>
              <a:rPr lang="en-US" sz="1100" b="1" spc="200" kern="0" dirty="0">
                <a:solidFill>
                  <a:srgbClr val="C45A3C"/>
                </a:solidFill>
                <a:latin typeface="Calibri" pitchFamily="34" charset="0"/>
                <a:cs typeface="Amiri" pitchFamily="2" charset="-78"/>
              </a:rPr>
              <a:t>LEARN THESE 5 WORDS</a:t>
            </a:r>
            <a:endParaRPr lang="en-US" sz="1100" dirty="0"/>
          </a:p>
          <a:p>
            <a:pPr indent="0" marL="0">
              <a:buNone/>
            </a:pPr>
            <a:r>
              <a:rPr lang="en-US" sz="1000" dirty="0">
                <a:solidFill>
                  <a:srgbClr val="5A6472"/>
                </a:solidFill>
                <a:latin typeface="Calibri" pitchFamily="34" charset="0"/>
                <a:cs typeface="Amiri" pitchFamily="2" charset="-78"/>
              </a:rPr>
              <a:t>for D1-L05 · After School and Evening Routine</a:t>
            </a:r>
            <a:endParaRPr lang="en-US" sz="1100" dirty="0"/>
          </a:p>
        </p:txBody>
      </p:sp>
      <p:sp>
        <p:nvSpPr>
          <p:cNvPr id="19" name="Text 15"/>
          <p:cNvSpPr txBox="1"/>
          <p:nvPr/>
        </p:nvSpPr>
        <p:spPr>
          <a:xfrm>
            <a:off x="3017520" y="25603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أُغَيِّرُ مَلَابِسِي</a:t>
            </a:r>
            <a:endParaRPr lang="ar-SA" sz="2000" dirty="0"/>
          </a:p>
        </p:txBody>
      </p:sp>
      <p:sp>
        <p:nvSpPr>
          <p:cNvPr id="20" name="Text 16"/>
          <p:cNvSpPr txBox="1"/>
          <p:nvPr/>
        </p:nvSpPr>
        <p:spPr>
          <a:xfrm>
            <a:off x="685800" y="25603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I change my clothes</a:t>
            </a:r>
            <a:pPr indent="0" marL="0">
              <a:buNone/>
            </a:pPr>
            <a:r>
              <a:rPr lang="ar-SA" sz="1000" i="1" dirty="0">
                <a:solidFill>
                  <a:srgbClr val="5A6472"/>
                </a:solidFill>
                <a:latin typeface="Calibri" pitchFamily="34" charset="0"/>
                <a:ea typeface="Amiri" pitchFamily="2" charset="-78"/>
                <a:cs typeface="Amiri" pitchFamily="2" charset="-78"/>
              </a:rPr>
              <a:t>  he: يُغَيِّرُ</a:t>
            </a:r>
            <a:endParaRPr lang="en-US" sz="1200" dirty="0"/>
          </a:p>
        </p:txBody>
      </p:sp>
      <p:sp>
        <p:nvSpPr>
          <p:cNvPr id="21" name="Text 17"/>
          <p:cNvSpPr txBox="1"/>
          <p:nvPr/>
        </p:nvSpPr>
        <p:spPr>
          <a:xfrm>
            <a:off x="3017520" y="30175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أَتَنَاوَلُ وَجْبَةً خَفِيفَةً</a:t>
            </a:r>
            <a:endParaRPr lang="ar-SA" sz="2000" dirty="0"/>
          </a:p>
        </p:txBody>
      </p:sp>
      <p:sp>
        <p:nvSpPr>
          <p:cNvPr id="22" name="Text 18"/>
          <p:cNvSpPr txBox="1"/>
          <p:nvPr/>
        </p:nvSpPr>
        <p:spPr>
          <a:xfrm>
            <a:off x="685800" y="30175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I have a snack</a:t>
            </a:r>
            <a:pPr indent="0" marL="0">
              <a:buNone/>
            </a:pPr>
            <a:endParaRPr lang="en-US" sz="1200" dirty="0"/>
          </a:p>
        </p:txBody>
      </p:sp>
      <p:sp>
        <p:nvSpPr>
          <p:cNvPr id="23" name="Text 19"/>
          <p:cNvSpPr txBox="1"/>
          <p:nvPr/>
        </p:nvSpPr>
        <p:spPr>
          <a:xfrm>
            <a:off x="3017520" y="34747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أُرَتِّبُ غُرْفَتِي</a:t>
            </a:r>
            <a:endParaRPr lang="ar-SA" sz="2000" dirty="0"/>
          </a:p>
        </p:txBody>
      </p:sp>
      <p:sp>
        <p:nvSpPr>
          <p:cNvPr id="24" name="Text 20"/>
          <p:cNvSpPr txBox="1"/>
          <p:nvPr/>
        </p:nvSpPr>
        <p:spPr>
          <a:xfrm>
            <a:off x="685800" y="34747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I tidy my room</a:t>
            </a:r>
            <a:pPr indent="0" marL="0">
              <a:buNone/>
            </a:pPr>
            <a:r>
              <a:rPr lang="ar-SA" sz="1000" i="1" dirty="0">
                <a:solidFill>
                  <a:srgbClr val="5A6472"/>
                </a:solidFill>
                <a:latin typeface="Calibri" pitchFamily="34" charset="0"/>
                <a:ea typeface="Amiri" pitchFamily="2" charset="-78"/>
                <a:cs typeface="Amiri" pitchFamily="2" charset="-78"/>
              </a:rPr>
              <a:t>  he: يُرَتِّبُ</a:t>
            </a:r>
            <a:endParaRPr lang="en-US" sz="1200" dirty="0"/>
          </a:p>
        </p:txBody>
      </p:sp>
      <p:sp>
        <p:nvSpPr>
          <p:cNvPr id="25" name="Text 21"/>
          <p:cNvSpPr txBox="1"/>
          <p:nvPr/>
        </p:nvSpPr>
        <p:spPr>
          <a:xfrm>
            <a:off x="3017520" y="39319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أَغْسِلُ الأَطْبَاقَ</a:t>
            </a:r>
            <a:endParaRPr lang="ar-SA" sz="2000" dirty="0"/>
          </a:p>
        </p:txBody>
      </p:sp>
      <p:sp>
        <p:nvSpPr>
          <p:cNvPr id="26" name="Text 22"/>
          <p:cNvSpPr txBox="1"/>
          <p:nvPr/>
        </p:nvSpPr>
        <p:spPr>
          <a:xfrm>
            <a:off x="685800" y="39319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I wash the dishes</a:t>
            </a:r>
            <a:pPr indent="0" marL="0">
              <a:buNone/>
            </a:pPr>
            <a:r>
              <a:rPr lang="ar-SA" sz="1000" i="1" dirty="0">
                <a:solidFill>
                  <a:srgbClr val="5A6472"/>
                </a:solidFill>
                <a:latin typeface="Calibri" pitchFamily="34" charset="0"/>
                <a:ea typeface="Amiri" pitchFamily="2" charset="-78"/>
                <a:cs typeface="Amiri" pitchFamily="2" charset="-78"/>
              </a:rPr>
              <a:t>  he: يَغْسِلُ</a:t>
            </a:r>
            <a:endParaRPr lang="en-US" sz="1200" dirty="0"/>
          </a:p>
        </p:txBody>
      </p:sp>
      <p:sp>
        <p:nvSpPr>
          <p:cNvPr id="27" name="Text 23"/>
          <p:cNvSpPr txBox="1"/>
          <p:nvPr/>
        </p:nvSpPr>
        <p:spPr>
          <a:xfrm>
            <a:off x="3017520" y="43891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لِمُدَّةِ نِصْفِ سَاعَةٍ</a:t>
            </a:r>
            <a:endParaRPr lang="ar-SA" sz="2000" dirty="0"/>
          </a:p>
        </p:txBody>
      </p:sp>
      <p:sp>
        <p:nvSpPr>
          <p:cNvPr id="28" name="Text 24"/>
          <p:cNvSpPr txBox="1"/>
          <p:nvPr/>
        </p:nvSpPr>
        <p:spPr>
          <a:xfrm>
            <a:off x="685800" y="43891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for half an hour</a:t>
            </a:r>
            <a:pPr indent="0" marL="0">
              <a:buNone/>
            </a:pPr>
            <a:endParaRPr lang="en-US" sz="1200" dirty="0"/>
          </a:p>
        </p:txBody>
      </p:sp>
      <p:sp>
        <p:nvSpPr>
          <p:cNvPr id="29" name="Text 25"/>
          <p:cNvSpPr txBox="1"/>
          <p:nvPr/>
        </p:nvSpPr>
        <p:spPr>
          <a:xfrm>
            <a:off x="685800" y="4892040"/>
            <a:ext cx="2743200" cy="237744"/>
          </a:xfrm>
          <a:prstGeom prst="rect">
            <a:avLst/>
          </a:prstGeom>
          <a:noFill/>
          <a:ln/>
        </p:spPr>
        <p:txBody>
          <a:bodyPr wrap="square" lIns="0" tIns="0" rIns="0" bIns="0" rtlCol="0" anchor="ctr"/>
          <a:lstStyle/>
          <a:p>
            <a:pPr algn="l" indent="0" marL="0">
              <a:buNone/>
            </a:pPr>
            <a:r>
              <a:rPr lang="en-US" sz="900" b="1" spc="200" kern="0" dirty="0">
                <a:solidFill>
                  <a:srgbClr val="C45A3C"/>
                </a:solidFill>
                <a:latin typeface="Calibri" pitchFamily="34" charset="0"/>
                <a:cs typeface="Amiri" pitchFamily="2" charset="-78"/>
              </a:rPr>
              <a:t>AND ANSWER ONE QUESTION</a:t>
            </a:r>
            <a:endParaRPr lang="en-US" sz="900" dirty="0"/>
          </a:p>
        </p:txBody>
      </p:sp>
      <p:sp>
        <p:nvSpPr>
          <p:cNvPr id="30" name="Text 26"/>
          <p:cNvSpPr txBox="1"/>
          <p:nvPr/>
        </p:nvSpPr>
        <p:spPr>
          <a:xfrm>
            <a:off x="685800" y="5129784"/>
            <a:ext cx="2194560" cy="1005840"/>
          </a:xfrm>
          <a:prstGeom prst="rect">
            <a:avLst/>
          </a:prstGeom>
          <a:noFill/>
          <a:ln/>
        </p:spPr>
        <p:txBody>
          <a:bodyPr wrap="square" lIns="0" tIns="0" rIns="0" bIns="0" rtlCol="0" anchor="t"/>
          <a:lstStyle/>
          <a:p>
            <a:pPr algn="l" indent="0" marL="0">
              <a:buNone/>
            </a:pPr>
            <a:r>
              <a:rPr lang="en-US" sz="1050" dirty="0">
                <a:solidFill>
                  <a:srgbClr val="1F2A37"/>
                </a:solidFill>
                <a:latin typeface="Calibri" pitchFamily="34" charset="0"/>
                <a:cs typeface="Amiri" pitchFamily="2" charset="-78"/>
              </a:rPr>
              <a:t>What do you do between arriving home and going to bed? Put five actions in order.</a:t>
            </a:r>
            <a:endParaRPr lang="en-US" sz="1050" dirty="0"/>
          </a:p>
        </p:txBody>
      </p:sp>
      <p:sp>
        <p:nvSpPr>
          <p:cNvPr id="31" name="Text 27"/>
          <p:cNvSpPr txBox="1"/>
          <p:nvPr/>
        </p:nvSpPr>
        <p:spPr>
          <a:xfrm>
            <a:off x="2926080" y="5074920"/>
            <a:ext cx="2743200" cy="1051560"/>
          </a:xfrm>
          <a:prstGeom prst="rect">
            <a:avLst/>
          </a:prstGeom>
          <a:noFill/>
          <a:ln/>
        </p:spPr>
        <p:txBody>
          <a:bodyPr wrap="square" lIns="0" tIns="0" rIns="0" bIns="0" rtlCol="0" anchor="ctr"/>
          <a:lstStyle/>
          <a:p>
            <a:pPr rtl="1" algn="r" indent="0" marL="0">
              <a:buNone/>
            </a:pPr>
            <a:r>
              <a:rPr lang="ar-SA" altLang="en-US" sz="1700" b="1" dirty="0">
                <a:solidFill>
                  <a:srgbClr val="1B3B6F"/>
                </a:solidFill>
                <a:latin typeface="Amiri" pitchFamily="2" charset="-78"/>
                <a:ea typeface="Amiri" pitchFamily="2" charset="-78"/>
                <a:cs typeface="Amiri" pitchFamily="2" charset="-78"/>
              </a:rPr>
              <a:t>مَاذَا تَفْعَلُ فِي المَسَاءِ؟</a:t>
            </a:r>
            <a:endParaRPr lang="ar-SA" sz="1700" dirty="0"/>
          </a:p>
        </p:txBody>
      </p:sp>
      <p:sp>
        <p:nvSpPr>
          <p:cNvPr id="32" name="Text 28"/>
          <p:cNvSpPr txBox="1"/>
          <p:nvPr/>
        </p:nvSpPr>
        <p:spPr>
          <a:xfrm>
            <a:off x="6126480" y="1828800"/>
            <a:ext cx="548640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HOMEWORK — CHOOSE YOUR ROUTE</a:t>
            </a:r>
            <a:endParaRPr lang="en-US" sz="1000" dirty="0"/>
          </a:p>
        </p:txBody>
      </p:sp>
      <p:sp>
        <p:nvSpPr>
          <p:cNvPr id="33" name="Shape 29"/>
          <p:cNvSpPr/>
          <p:nvPr/>
        </p:nvSpPr>
        <p:spPr>
          <a:xfrm>
            <a:off x="6126480" y="2194560"/>
            <a:ext cx="5605272" cy="1243584"/>
          </a:xfrm>
          <a:prstGeom prst="roundRect">
            <a:avLst>
              <a:gd name="adj" fmla="val 5882"/>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34" name="Shape 30"/>
          <p:cNvSpPr/>
          <p:nvPr/>
        </p:nvSpPr>
        <p:spPr>
          <a:xfrm>
            <a:off x="6309360" y="2322576"/>
            <a:ext cx="1051560" cy="274320"/>
          </a:xfrm>
          <a:prstGeom prst="roundRect">
            <a:avLst>
              <a:gd name="adj" fmla="val 50000"/>
            </a:avLst>
          </a:prstGeom>
          <a:solidFill>
            <a:srgbClr val="2E8B57"/>
          </a:solidFill>
          <a:ln w="12700">
            <a:solidFill>
              <a:srgbClr val="2E8B57"/>
            </a:solidFill>
            <a:prstDash val="solid"/>
          </a:ln>
        </p:spPr>
      </p:sp>
      <p:sp>
        <p:nvSpPr>
          <p:cNvPr id="35" name="Text 31"/>
          <p:cNvSpPr txBox="1"/>
          <p:nvPr/>
        </p:nvSpPr>
        <p:spPr>
          <a:xfrm>
            <a:off x="6309360" y="23225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36" name="Text 32"/>
          <p:cNvSpPr txBox="1"/>
          <p:nvPr/>
        </p:nvSpPr>
        <p:spPr>
          <a:xfrm>
            <a:off x="6309360" y="26517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Website D1-L04: the picture game “Which comes first?” and the sorter.</a:t>
            </a:r>
            <a:endParaRPr lang="en-US" sz="1200" dirty="0"/>
          </a:p>
        </p:txBody>
      </p:sp>
      <p:sp>
        <p:nvSpPr>
          <p:cNvPr id="37" name="Shape 33"/>
          <p:cNvSpPr/>
          <p:nvPr/>
        </p:nvSpPr>
        <p:spPr>
          <a:xfrm>
            <a:off x="6126480" y="3566160"/>
            <a:ext cx="5605272" cy="1243584"/>
          </a:xfrm>
          <a:prstGeom prst="roundRect">
            <a:avLst>
              <a:gd name="adj" fmla="val 5882"/>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38" name="Shape 34"/>
          <p:cNvSpPr/>
          <p:nvPr/>
        </p:nvSpPr>
        <p:spPr>
          <a:xfrm>
            <a:off x="6309360" y="3694176"/>
            <a:ext cx="1051560" cy="274320"/>
          </a:xfrm>
          <a:prstGeom prst="roundRect">
            <a:avLst>
              <a:gd name="adj" fmla="val 50000"/>
            </a:avLst>
          </a:prstGeom>
          <a:solidFill>
            <a:srgbClr val="C9780A"/>
          </a:solidFill>
          <a:ln w="12700">
            <a:solidFill>
              <a:srgbClr val="C9780A"/>
            </a:solidFill>
            <a:prstDash val="solid"/>
          </a:ln>
        </p:spPr>
      </p:sp>
      <p:sp>
        <p:nvSpPr>
          <p:cNvPr id="39" name="Text 35"/>
          <p:cNvSpPr txBox="1"/>
          <p:nvPr/>
        </p:nvSpPr>
        <p:spPr>
          <a:xfrm>
            <a:off x="6309360" y="36941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40" name="Text 36"/>
          <p:cNvSpPr txBox="1"/>
          <p:nvPr/>
        </p:nvSpPr>
        <p:spPr>
          <a:xfrm>
            <a:off x="6309360" y="40233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Write 8 sentences about your afternoon with </a:t>
            </a:r>
            <a:pPr algn="l" indent="0" marL="0">
              <a:buNone/>
            </a:pPr>
            <a:r>
              <a:rPr lang="ar-SA" altLang="en-US" sz="1550" dirty="0">
                <a:solidFill>
                  <a:srgbClr val="1F2A37"/>
                </a:solidFill>
                <a:latin typeface="Amiri" pitchFamily="2" charset="-78"/>
                <a:ea typeface="Amiri" pitchFamily="2" charset="-78"/>
                <a:cs typeface="Amiri" pitchFamily="2" charset="-78"/>
              </a:rPr>
              <a:t>قَبْلَ أَنْ / بَعْدَ أَنْ</a:t>
            </a:r>
            <a:pPr algn="l" indent="0" marL="0">
              <a:buNone/>
            </a:pPr>
            <a:r>
              <a:rPr lang="en-US" sz="1200" dirty="0">
                <a:solidFill>
                  <a:srgbClr val="1F2A37"/>
                </a:solidFill>
                <a:latin typeface="Calibri" pitchFamily="34" charset="0"/>
                <a:cs typeface="Amiri" pitchFamily="2" charset="-78"/>
              </a:rPr>
              <a:t> — colour every changed ending.</a:t>
            </a:r>
            <a:endParaRPr lang="en-US" sz="1200" dirty="0"/>
          </a:p>
        </p:txBody>
      </p:sp>
      <p:sp>
        <p:nvSpPr>
          <p:cNvPr id="41" name="Shape 37"/>
          <p:cNvSpPr/>
          <p:nvPr/>
        </p:nvSpPr>
        <p:spPr>
          <a:xfrm>
            <a:off x="6126480" y="4937760"/>
            <a:ext cx="5605272" cy="1243584"/>
          </a:xfrm>
          <a:prstGeom prst="roundRect">
            <a:avLst>
              <a:gd name="adj" fmla="val 5882"/>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42" name="Shape 38"/>
          <p:cNvSpPr/>
          <p:nvPr/>
        </p:nvSpPr>
        <p:spPr>
          <a:xfrm>
            <a:off x="6309360" y="5065776"/>
            <a:ext cx="1051560" cy="274320"/>
          </a:xfrm>
          <a:prstGeom prst="roundRect">
            <a:avLst>
              <a:gd name="adj" fmla="val 50000"/>
            </a:avLst>
          </a:prstGeom>
          <a:solidFill>
            <a:srgbClr val="B83227"/>
          </a:solidFill>
          <a:ln w="12700">
            <a:solidFill>
              <a:srgbClr val="B83227"/>
            </a:solidFill>
            <a:prstDash val="solid"/>
          </a:ln>
        </p:spPr>
      </p:sp>
      <p:sp>
        <p:nvSpPr>
          <p:cNvPr id="43" name="Text 39"/>
          <p:cNvSpPr txBox="1"/>
          <p:nvPr/>
        </p:nvSpPr>
        <p:spPr>
          <a:xfrm>
            <a:off x="6309360" y="50657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STRETCH</a:t>
            </a:r>
            <a:endParaRPr lang="en-US" sz="850" dirty="0"/>
          </a:p>
        </p:txBody>
      </p:sp>
      <p:sp>
        <p:nvSpPr>
          <p:cNvPr id="44" name="Text 40"/>
          <p:cNvSpPr txBox="1"/>
          <p:nvPr/>
        </p:nvSpPr>
        <p:spPr>
          <a:xfrm>
            <a:off x="6309360" y="53949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Website writing task: 100–120 words, waking to sleeping.</a:t>
            </a:r>
            <a:endParaRPr lang="en-US" sz="1200" dirty="0"/>
          </a:p>
        </p:txBody>
      </p:sp>
      <p:sp>
        <p:nvSpPr>
          <p:cNvPr id="45"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45 / 46</a:t>
            </a:r>
            <a:endParaRPr lang="en-US" sz="85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097280"/>
            <a:ext cx="5852160" cy="5852160"/>
          </a:xfrm>
          <a:prstGeom prst="ellipse">
            <a:avLst/>
          </a:prstGeom>
          <a:solidFill>
            <a:srgbClr val="14315C"/>
          </a:solidFill>
          <a:ln w="12700">
            <a:solidFill>
              <a:srgbClr val="14315C"/>
            </a:solidFill>
            <a:prstDash val="solid"/>
          </a:ln>
        </p:spPr>
      </p:sp>
      <p:sp>
        <p:nvSpPr>
          <p:cNvPr id="3" name="Shape 1"/>
          <p:cNvSpPr/>
          <p:nvPr/>
        </p:nvSpPr>
        <p:spPr>
          <a:xfrm>
            <a:off x="9372600" y="2606040"/>
            <a:ext cx="1737360" cy="1737360"/>
          </a:xfrm>
          <a:prstGeom prst="ellipse">
            <a:avLst/>
          </a:prstGeom>
          <a:solidFill>
            <a:srgbClr val="D4AF37"/>
          </a:solidFill>
          <a:ln w="12700">
            <a:solidFill>
              <a:srgbClr val="D4AF37"/>
            </a:solidFill>
            <a:prstDash val="solid"/>
          </a:ln>
        </p:spPr>
      </p:sp>
      <p:pic>
        <p:nvPicPr>
          <p:cNvPr id="4" name="Image 0" descr="preencoded.png">    </p:cNvPr>
          <p:cNvPicPr>
            <a:picLocks noChangeAspect="1"/>
          </p:cNvPicPr>
          <p:nvPr/>
        </p:nvPicPr>
        <p:blipFill>
          <a:blip r:embed="rId1"/>
          <a:stretch>
            <a:fillRect/>
          </a:stretch>
        </p:blipFill>
        <p:spPr>
          <a:xfrm>
            <a:off x="9710928" y="2944368"/>
            <a:ext cx="1060704" cy="1060704"/>
          </a:xfrm>
          <a:prstGeom prst="rect">
            <a:avLst/>
          </a:prstGeom>
        </p:spPr>
      </p:pic>
      <p:sp>
        <p:nvSpPr>
          <p:cNvPr id="5" name="Text 2"/>
          <p:cNvSpPr txBox="1"/>
          <p:nvPr/>
        </p:nvSpPr>
        <p:spPr>
          <a:xfrm>
            <a:off x="457200" y="1280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D1-L04 COMPLETE</a:t>
            </a:r>
            <a:endParaRPr lang="en-US" sz="1100" dirty="0"/>
          </a:p>
        </p:txBody>
      </p:sp>
      <p:sp>
        <p:nvSpPr>
          <p:cNvPr id="6" name="Text 3"/>
          <p:cNvSpPr txBox="1"/>
          <p:nvPr/>
        </p:nvSpPr>
        <p:spPr>
          <a:xfrm>
            <a:off x="457200" y="1691640"/>
            <a:ext cx="7315200" cy="914400"/>
          </a:xfrm>
          <a:prstGeom prst="rect">
            <a:avLst/>
          </a:prstGeom>
          <a:noFill/>
          <a:ln/>
        </p:spPr>
        <p:txBody>
          <a:bodyPr wrap="square" lIns="0" tIns="0" rIns="0" bIns="0" rtlCol="0" anchor="ctr"/>
          <a:lstStyle/>
          <a:p>
            <a:pPr rtl="1" algn="l" indent="0" marL="0">
              <a:buNone/>
            </a:pPr>
            <a:r>
              <a:rPr lang="ar-SA" altLang="en-US" sz="4000" b="1" dirty="0">
                <a:solidFill>
                  <a:srgbClr val="FFFFFF"/>
                </a:solidFill>
                <a:latin typeface="Amiri" pitchFamily="2" charset="-78"/>
                <a:ea typeface="Amiri" pitchFamily="2" charset="-78"/>
                <a:cs typeface="Amiri" pitchFamily="2" charset="-78"/>
              </a:rPr>
              <a:t>أَحْسَنْتُمْ! إِلَى اللِّقَاءِ</a:t>
            </a:r>
            <a:endParaRPr lang="ar-SA" sz="4000" dirty="0"/>
          </a:p>
        </p:txBody>
      </p:sp>
      <p:sp>
        <p:nvSpPr>
          <p:cNvPr id="7" name="Text 4"/>
          <p:cNvSpPr txBox="1"/>
          <p:nvPr/>
        </p:nvSpPr>
        <p:spPr>
          <a:xfrm>
            <a:off x="457200" y="2606040"/>
            <a:ext cx="7315200" cy="411480"/>
          </a:xfrm>
          <a:prstGeom prst="rect">
            <a:avLst/>
          </a:prstGeom>
          <a:noFill/>
          <a:ln/>
        </p:spPr>
        <p:txBody>
          <a:bodyPr wrap="square" lIns="0" tIns="0" rIns="0" bIns="0" rtlCol="0" anchor="ctr"/>
          <a:lstStyle/>
          <a:p>
            <a:pPr algn="l" indent="0" marL="0">
              <a:buNone/>
            </a:pPr>
            <a:r>
              <a:rPr lang="en-US" sz="1600" i="1" dirty="0">
                <a:solidFill>
                  <a:srgbClr val="C6D2E6"/>
                </a:solidFill>
                <a:latin typeface="Calibri" pitchFamily="34" charset="0"/>
                <a:cs typeface="Amiri" pitchFamily="2" charset="-78"/>
              </a:rPr>
              <a:t>Well done — see you next lesson.</a:t>
            </a:r>
            <a:endParaRPr lang="en-US" sz="1600" dirty="0"/>
          </a:p>
        </p:txBody>
      </p:sp>
      <p:sp>
        <p:nvSpPr>
          <p:cNvPr id="8" name="Text 5"/>
          <p:cNvSpPr txBox="1"/>
          <p:nvPr/>
        </p:nvSpPr>
        <p:spPr>
          <a:xfrm>
            <a:off x="457200" y="3566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NEXT LESSON</a:t>
            </a:r>
            <a:endParaRPr lang="en-US" sz="1100" dirty="0"/>
          </a:p>
        </p:txBody>
      </p:sp>
      <p:sp>
        <p:nvSpPr>
          <p:cNvPr id="9" name="Text 6"/>
          <p:cNvSpPr txBox="1"/>
          <p:nvPr/>
        </p:nvSpPr>
        <p:spPr>
          <a:xfrm>
            <a:off x="457200" y="3886200"/>
            <a:ext cx="7315200" cy="548640"/>
          </a:xfrm>
          <a:prstGeom prst="rect">
            <a:avLst/>
          </a:prstGeom>
          <a:noFill/>
          <a:ln/>
        </p:spPr>
        <p:txBody>
          <a:bodyPr wrap="square" lIns="0" tIns="0" rIns="0" bIns="0" rtlCol="0" anchor="ctr"/>
          <a:lstStyle/>
          <a:p>
            <a:pPr algn="l" indent="0" marL="0">
              <a:buNone/>
            </a:pPr>
            <a:r>
              <a:rPr lang="en-US" sz="2300" b="1" dirty="0">
                <a:solidFill>
                  <a:srgbClr val="FFFFFF"/>
                </a:solidFill>
                <a:latin typeface="Cambria" pitchFamily="34" charset="0"/>
                <a:cs typeface="Amiri" pitchFamily="2" charset="-78"/>
              </a:rPr>
              <a:t>D1-L05 · After School and Evening Routine</a:t>
            </a:r>
            <a:endParaRPr lang="en-US" sz="2300" dirty="0"/>
          </a:p>
        </p:txBody>
      </p:sp>
      <p:sp>
        <p:nvSpPr>
          <p:cNvPr id="10" name="Text 7"/>
          <p:cNvSpPr txBox="1"/>
          <p:nvPr/>
        </p:nvSpPr>
        <p:spPr>
          <a:xfrm>
            <a:off x="457200" y="4434840"/>
            <a:ext cx="7315200" cy="548640"/>
          </a:xfrm>
          <a:prstGeom prst="rect">
            <a:avLst/>
          </a:prstGeom>
          <a:noFill/>
          <a:ln/>
        </p:spPr>
        <p:txBody>
          <a:bodyPr wrap="square" lIns="0" tIns="0" rIns="0" bIns="0" rtlCol="0" anchor="ctr"/>
          <a:lstStyle/>
          <a:p>
            <a:pPr rtl="1" algn="l" indent="0" marL="0">
              <a:buNone/>
            </a:pPr>
            <a:r>
              <a:rPr lang="ar-SA" altLang="en-US" sz="2400" b="1" dirty="0">
                <a:solidFill>
                  <a:srgbClr val="D4AF37"/>
                </a:solidFill>
                <a:latin typeface="Amiri" pitchFamily="2" charset="-78"/>
                <a:ea typeface="Amiri" pitchFamily="2" charset="-78"/>
                <a:cs typeface="Amiri" pitchFamily="2" charset="-78"/>
              </a:rPr>
              <a:t>بَعْدَ المَدْرَسَةِ وَرُوتِينُ المَسَاءِ</a:t>
            </a:r>
            <a:endParaRPr lang="ar-SA" sz="2400" dirty="0"/>
          </a:p>
        </p:txBody>
      </p:sp>
      <p:sp>
        <p:nvSpPr>
          <p:cNvPr id="11" name="Text 8"/>
          <p:cNvSpPr txBox="1"/>
          <p:nvPr/>
        </p:nvSpPr>
        <p:spPr>
          <a:xfrm>
            <a:off x="457200" y="5303520"/>
            <a:ext cx="7315200" cy="365760"/>
          </a:xfrm>
          <a:prstGeom prst="rect">
            <a:avLst/>
          </a:prstGeom>
          <a:noFill/>
          <a:ln/>
        </p:spPr>
        <p:txBody>
          <a:bodyPr wrap="square" lIns="0" tIns="0" rIns="0" bIns="0" rtlCol="0" anchor="ctr"/>
          <a:lstStyle/>
          <a:p>
            <a:pPr algn="l" indent="0" marL="0">
              <a:buNone/>
            </a:pPr>
            <a:r>
              <a:rPr lang="en-US" sz="1300" b="1" dirty="0">
                <a:solidFill>
                  <a:srgbClr val="FFFFFF"/>
                </a:solidFill>
                <a:latin typeface="Calibri" pitchFamily="34" charset="0"/>
                <a:cs typeface="Amiri" pitchFamily="2" charset="-78"/>
              </a:rPr>
              <a:t>Remember: noun → no </a:t>
            </a:r>
            <a:pPr algn="l" indent="0" marL="0">
              <a:buNone/>
            </a:pPr>
            <a:r>
              <a:rPr lang="ar-SA" altLang="en-US" sz="1700" b="1" dirty="0">
                <a:solidFill>
                  <a:srgbClr val="FFFFFF"/>
                </a:solidFill>
                <a:latin typeface="Amiri" pitchFamily="2" charset="-78"/>
                <a:ea typeface="Amiri" pitchFamily="2" charset="-78"/>
                <a:cs typeface="Amiri" pitchFamily="2" charset="-78"/>
              </a:rPr>
              <a:t>أَنْ</a:t>
            </a:r>
            <a:pPr algn="l" indent="0" marL="0">
              <a:buNone/>
            </a:pPr>
            <a:r>
              <a:rPr lang="en-US" sz="1300" b="1" dirty="0">
                <a:solidFill>
                  <a:srgbClr val="FFFFFF"/>
                </a:solidFill>
                <a:latin typeface="Calibri" pitchFamily="34" charset="0"/>
                <a:cs typeface="Amiri" pitchFamily="2" charset="-78"/>
              </a:rPr>
              <a:t>. Verb → </a:t>
            </a:r>
            <a:pPr algn="l" indent="0" marL="0">
              <a:buNone/>
            </a:pPr>
            <a:r>
              <a:rPr lang="ar-SA" altLang="en-US" sz="1700" b="1" dirty="0">
                <a:solidFill>
                  <a:srgbClr val="FFFFFF"/>
                </a:solidFill>
                <a:latin typeface="Amiri" pitchFamily="2" charset="-78"/>
                <a:ea typeface="Amiri" pitchFamily="2" charset="-78"/>
                <a:cs typeface="Amiri" pitchFamily="2" charset="-78"/>
              </a:rPr>
              <a:t>أَنْ</a:t>
            </a:r>
            <a:pPr algn="l" indent="0" marL="0">
              <a:buNone/>
            </a:pPr>
            <a:r>
              <a:rPr lang="en-US" sz="1300" b="1" dirty="0">
                <a:solidFill>
                  <a:srgbClr val="FFFFFF"/>
                </a:solidFill>
                <a:latin typeface="Calibri" pitchFamily="34" charset="0"/>
                <a:cs typeface="Amiri" pitchFamily="2" charset="-78"/>
              </a:rPr>
              <a:t> + fatḥa.</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Amiri" pitchFamily="2" charset="-78"/>
        <a:cs typeface="Amiri" pitchFamily="2" charset="-78"/>
        <a:font script="Arab" typeface="Amiri"/>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Amiri" pitchFamily="2" charset="-78"/>
        <a:cs typeface="Amiri" pitchFamily="2" charset="-78"/>
        <a:font script="Arab" typeface="Amir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46</Slides>
  <Notes>46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46</vt:i4>
      </vt:variant>
    </vt:vector>
  </HeadingPairs>
  <TitlesOfParts>
    <vt:vector size="4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vector>
  </TitlesOfParts>
  <Company>Al Madina Online School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D1-L04 · Before and After — Sequencing My Day</dc:title>
  <dc:subject>PptxGenJS Presentation</dc:subject>
  <dc:creator>Al Madina Online School · Arabic Department</dc:creator>
  <cp:lastModifiedBy>Al Madina Online School · Arabic Department</cp:lastModifiedBy>
  <cp:revision>1</cp:revision>
  <dcterms:created xsi:type="dcterms:W3CDTF">2026-10-11T06:40:27Z</dcterms:created>
  <dcterms:modified xsi:type="dcterms:W3CDTF">2026-10-11T06:40:27Z</dcterms:modified>
</cp:coreProperties>
</file>