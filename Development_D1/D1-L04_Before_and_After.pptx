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D1-L04. The website lesson “Before and After — Sequencing My Day”: vocabulary, grammar rules and quiz, patterns, common mistakes, sorter, listening, reading, speaking prompts and model, writing task and model, differentiation, final check and the lesson mission. Picture match: website visual game “Before and After — Sequencing My Day”.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decision only — is the next word a NOUN (no أَنْ) or a VERB (use أَنْ)? Core students may write noun structures (قَبْلَ النَّوْمِ، بَعْدَ المَدْرَسَةِ) plus one learnt chunk: قَبْلَ أَنْ أَنَامَ.
• Develop: control the singular subjunctive (final ḍamma → fatḥa) in a paragraph. Stretch: the five verbs lose ن (تُكْمِلِينَ → أَنْ تُكْمِلِي).
• The ending is colour-coded pink on every grammar slide: students only need to watch the LAST letter.
• Recycling: frequency (D1-L03), time (D1-L02) and the D1-L01 routine verbs.
• Urdu bridge: قبل، بعد، فوراً، دوران / اثنا (اثناء)، آخر.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D1-L03 (frequency, بَيْنَمَا) and D1-L02 (time).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قَبْلَ / بَعْدَ + a noun: nothing extra. قَبْلَ أَنْ / بَعْدَ أَنْ + a verb: the verb ending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قبل / بعد are identical (قبل از، بعد میں). فوراً (immediately) → فَوْرَ أَنْ. اثنا (اس اثنا میں = meanwhile) → أَثْنَاءَ (during). نہایت is a FALSE FRIEND: Urdu “extremely”, Arabic النِّهَايَةُ = the end (فِي النِّهَايَةِ = in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structures (website vocabulary (1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structures (website vocabulary (2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(1 of 2)). Hear → Say → See → Use. Transliteration is printed for Core students (cover it for Develop/Stretch).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(2 of 2)). Hear → Say → See → Use. Transliteration is printed for Core students (cover it for Develop/Stretch).
FLEX: teach if time allows; otherwise these are on the website vocabulary tab for homework.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“Use a noun after قَبْلَ / بَعْدَ without أَنْ” and the website comparison table.
Teacher script: “Before and after are easy with a NOUN. Only when a VERB follows do we need the little bridge أَنْ.”
Quick-fire: say a word (النَّوْمِ / أَنَامَ / المَدْرَسَةِ / أَخْرُجَ); students show a flat hand (noun) or two fingers (verb + أَنْ).
Website common error: قَبْلَ أَنْ الإِفْطَارِ ✗ → قَبْلَ الإِفْطَارِ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قَبْلَ أَنْ for an action that happens first”, “Use بَعْدَ أَنْ for the completed first action”, “Remove final ن from the five verbs after أَنْ”.
Website overview: the verb after أَنْ is in the subjunctive: in singular verbs the final ḍamma becomes fatḥa; in the five verbs (ending ون / ان / ين) the ن disappears.
Teacher script: “أَنْ is a little magnet — it pulls the last vowel from u to a.” Say both columns aloud; students clap on the changed ending.
Website warning: قَبْلَ أَنْ أَخْرُجُ ✗ → قَبْلَ أَنْ أَخْرُجَ ✓. Note: عِنْدَمَا does NOT change the verb (عِنْدَمَا أَعُودُ).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“When قَبْلَ or بَعْدَ introduces a second action, Arabic uses أَنْ followed by a present verb in the subjunctive. In many singular verbs the final ḍamma disappears; in the five verbs the final ن is removed. The subject may stay the same or change.”
• Use قَبْلَ أَنْ for an action that happens first: The verb after أَنْ is not an ordinary indicative present. Listen for and notice the changed ending.
• Use بَعْدَ أَنْ for the completed first action: The clause after بَعْدَ أَنْ names the action completed before the main action.
• Remove final ن from the five verbs after أَنْ: With forms ending ون / ان / ين, the nūn drops after أَنْ.
• Use a noun after قَبْلَ / بَعْدَ without أَنْ: أَنْ is only needed before a verb. Compare قَبْلَ الدَّرْسِ with قَبْلَ أَنْ يَبْدَأَ الدَّرْسُ.
Website common error: Do not write قَبْلَ أَنْ أَخْرُجُ. After أَنْ, write the subjunctive form: قَبْلَ أَنْ أَخْرُجَ.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1–3 combined into a short afternoon, with a think-aloud. For each before/after, ask: “noun or verb?” Students copy it and circle every changed (pink)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بَعْدَ أَنْ أَعُودَ مِنَ المَدْرَسَةِ، أَتَنَاوَلُ وَجْبَةً خَفِيفَةً وَأَسْتَرِيحُ لِمُدَّةِ عِشْرِينَ دَقِيقَةً. ثُمَّ أُكْمِلُ وَاجِبِي قَبْلَ أَنْ أَفْتَحَ هَاتِفِي. يَوْمَيِ الاِثْنَيْنِ وَالخَمِيسِ أَتَمَرَّنُ فِي النَّادِي، أَيْ مَرَّتَيْنِ فِي الأُسْبُوعِ. أَمَّا فِي الأَيَّامِ الأُخْرَى فَأُسَاعِدُ أُسْرَتِي أَوْ أَقْرَأُ. قَبْلَ أَنْ أَنَامَ، أُحَضِّرُ مَلَابِسِي وَحَقِيبَتِي لِلْيَوْمِ التَّالِي، وَبِذٰلِكَ لَا أَضْطَرُّ إِلَى العَجَلَةِ صَبَاحًا.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uses nouns only: “What do you do after school? And before sleep?” Develop/Stretch prompts are the website prompts. Website model answer on the slide: accurate subjunctive (أَنَامَ، أَسْتَيْقِظَ) and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noun structures such as بَعْدَ المَدْرَسَةِ and one verb structure. · Develop — Control the singular subjunctive after أَنْ in a connected paragraph. · Stretch — Use plural/feminine five-verb forms and explain the grammar choice.
Website writing task (Stretch): Write 100–120 words sequencing your school day from waking to sleeping. Use قَبْلَ أَنْ and بَعْدَ أَنْ accurately.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أَنْ أَعُودَ · أَنْ أَسْتَعْمِلَ · أَنْ نَذْهَبَ · أَنْ أُقَلِّلَ · بَعْدَ العَشَاءِ (noun) · مَرَّتَيْنِ فِي الأُسْبُوعِ · بَيْنَمَا / وَلٰكِنَّ.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(D1-L05 · After School and Evening Routine) will spend class time USING this language, so students prepare it tonight — short, simple, easy to access (school guidance: “Simple, Short, Interesting, Relevant, Easy to access”). The five words come from the website D1-L05 vocabulary (after school, evening routine, duration).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Before and After — Sequencing My Day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قَبْلَ وَبَعْدَ — تَرْتِيبُ 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Sequence a whole day with </a:t>
            </a:r>
            <a:pPr algn="l" indent="0" marL="0">
              <a:buNone/>
            </a:pPr>
            <a:r>
              <a:rPr lang="ar-SA" altLang="en-US" sz="1800" dirty="0">
                <a:solidFill>
                  <a:srgbClr val="C6D2E6"/>
                </a:solidFill>
                <a:latin typeface="Amiri" pitchFamily="34" charset="0"/>
                <a:ea typeface="Amiri" pitchFamily="34" charset="-122"/>
                <a:cs typeface="Amiri" pitchFamily="34" charset="-120"/>
              </a:rPr>
              <a:t>قَبْلَ / بَعْدَ</a:t>
            </a:r>
            <a:pPr algn="l" indent="0" marL="0">
              <a:buNone/>
            </a:pPr>
            <a:r>
              <a:rPr lang="en-US" sz="1400" dirty="0">
                <a:solidFill>
                  <a:srgbClr val="C6D2E6"/>
                </a:solidFill>
                <a:latin typeface="Calibri" pitchFamily="34" charset="0"/>
                <a:ea typeface="Calibri" pitchFamily="34" charset="-122"/>
                <a:cs typeface="Calibri" pitchFamily="34" charset="-120"/>
              </a:rPr>
              <a:t> + noun and </a:t>
            </a:r>
            <a:pPr algn="l" indent="0" marL="0">
              <a:buNone/>
            </a:pPr>
            <a:r>
              <a:rPr lang="ar-SA" altLang="en-US" sz="1800" dirty="0">
                <a:solidFill>
                  <a:srgbClr val="C6D2E6"/>
                </a:solidFill>
                <a:latin typeface="Amiri" pitchFamily="34" charset="0"/>
                <a:ea typeface="Amiri" pitchFamily="34" charset="-122"/>
                <a:cs typeface="Amiri" pitchFamily="34" charset="-120"/>
              </a:rPr>
              <a:t>قَبْلَ أَنْ / بَعْدَ أَنْ</a:t>
            </a:r>
            <a:pPr algn="l" indent="0" marL="0">
              <a:buNone/>
            </a:pPr>
            <a:r>
              <a:rPr lang="en-US" sz="1400" dirty="0">
                <a:solidFill>
                  <a:srgbClr val="C6D2E6"/>
                </a:solidFill>
                <a:latin typeface="Calibri" pitchFamily="34" charset="0"/>
                <a:ea typeface="Calibri" pitchFamily="34" charset="-122"/>
                <a:cs typeface="Calibri" pitchFamily="34" charset="-120"/>
              </a:rPr>
              <a:t> + verb, and notice the verb ending that changes after </a:t>
            </a:r>
            <a:pPr algn="l" indent="0" marL="0">
              <a:buNone/>
            </a:pPr>
            <a:r>
              <a:rPr lang="ar-SA" altLang="en-US" sz="1800" dirty="0">
                <a:solidFill>
                  <a:srgbClr val="C6D2E6"/>
                </a:solidFill>
                <a:latin typeface="Amiri" pitchFamily="34" charset="0"/>
                <a:ea typeface="Amiri" pitchFamily="34" charset="-122"/>
                <a:cs typeface="Amiri" pitchFamily="34" charset="-120"/>
              </a:rPr>
              <a:t>أَنْ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D1-L04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Noun or verb after before/after? Then the ending that changes after </a:t>
            </a:r>
            <a:pPr algn="ctr" indent="0" marL="0">
              <a:buNone/>
            </a:pPr>
            <a:r>
              <a:rPr lang="ar-SA" altLang="en-US" sz="1550" dirty="0">
                <a:solidFill>
                  <a:srgbClr val="1F2A37"/>
                </a:solidFill>
                <a:latin typeface="Amiri" pitchFamily="34" charset="0"/>
                <a:ea typeface="Amiri" pitchFamily="34" charset="-122"/>
                <a:cs typeface="Amiri" pitchFamily="34" charset="-120"/>
              </a:rPr>
              <a:t>أَنْ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noun/verb,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 verb)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revise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return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rarely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أَتَمَرَّنُ يَوْمِيًّا، بَيْنَمَا أَتَمَرَّنُ أُخْتِي أُسْبُوعِيًّا.</a:t>
            </a:r>
            <a:endParaRPr lang="ar-SA" sz="15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أَتَمَرَّنُ يَوْمِيًّا، بَيْنَمَا يَتَمَرَّنُ أُخْتِي أُسْبُوعِيًّا.</a:t>
            </a:r>
            <a:endParaRPr lang="ar-SA" sz="15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أَتَمَرَّنُ يَوْمِيًّا، بَيْنَمَا تَتَمَرَّنُ أُخْتِي أُسْبُوعِيًّا.</a:t>
            </a:r>
            <a:endParaRPr lang="ar-SA" sz="15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half past four?</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٤:٣٠</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وَالنِّصْفُ</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وَالنِّصْفُ</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 verb)</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 verb)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rest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revise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return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rarely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frequency ladder.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أَتَمَرَّنُ يَوْمِيًّا، بَيْنَمَا أَتَمَرَّنُ أُخْتِي أُسْبُوعِيًّا.</a:t>
            </a:r>
            <a:endParaRPr lang="ar-SA" sz="15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أَتَمَرَّنُ يَوْمِيًّا، بَيْنَمَا يَتَمَرَّنُ أُخْتِي أُسْبُوعِيًّا.</a:t>
            </a:r>
            <a:endParaRPr lang="ar-SA" sz="15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أَتَمَرَّنُ يَوْمِيًّا، بَيْنَمَا تَتَمَرَّنُ أُخْتِي أُسْبُوعِيًّا.</a:t>
            </a:r>
            <a:endParaRPr lang="ar-SA" sz="15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after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the verb matches its own subject.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half past four?</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٤:٣٠</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وَالنِّصْفُ</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وَالنِّصْفُ</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time.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34" charset="0"/>
                <a:ea typeface="Amiri" pitchFamily="34" charset="-122"/>
                <a:cs typeface="Amiri" pitchFamily="34" charset="-120"/>
              </a:rPr>
              <a:t>قَبْلَ / بَعْدَ</a:t>
            </a:r>
            <a:pPr algn="l" indent="0" marL="0">
              <a:buNone/>
            </a:pPr>
            <a:r>
              <a:rPr lang="en-US" sz="1300" b="1" dirty="0">
                <a:solidFill>
                  <a:srgbClr val="1F2A37"/>
                </a:solidFill>
                <a:latin typeface="Calibri" pitchFamily="34" charset="0"/>
                <a:ea typeface="Calibri" pitchFamily="34" charset="-122"/>
                <a:cs typeface="Calibri" pitchFamily="34" charset="-120"/>
              </a:rPr>
              <a:t> + a noun: nothing extra. </a:t>
            </a:r>
            <a:pPr algn="l" indent="0" marL="0">
              <a:buNone/>
            </a:pPr>
            <a:r>
              <a:rPr lang="ar-SA" altLang="en-US" sz="1700" b="1" dirty="0">
                <a:solidFill>
                  <a:srgbClr val="1F2A37"/>
                </a:solidFill>
                <a:latin typeface="Amiri" pitchFamily="34" charset="0"/>
                <a:ea typeface="Amiri" pitchFamily="34" charset="-122"/>
                <a:cs typeface="Amiri" pitchFamily="34" charset="-120"/>
              </a:rPr>
              <a:t>قَبْلَ أَنْ / بَعْدَ أَنْ</a:t>
            </a:r>
            <a:pPr algn="l" indent="0" marL="0">
              <a:buNone/>
            </a:pPr>
            <a:r>
              <a:rPr lang="en-US" sz="1300" b="1" dirty="0">
                <a:solidFill>
                  <a:srgbClr val="1F2A37"/>
                </a:solidFill>
                <a:latin typeface="Calibri" pitchFamily="34" charset="0"/>
                <a:ea typeface="Calibri" pitchFamily="34" charset="-122"/>
                <a:cs typeface="Calibri" pitchFamily="34" charset="-120"/>
              </a:rPr>
              <a:t> + a verb: the verb ending changes.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a:t>
            </a:r>
            <a:pPr rtl="1" algn="ctr" indent="0" marL="0">
              <a:buNone/>
            </a:pPr>
            <a:r>
              <a:rPr lang="ar-SA" altLang="en-US" sz="2400" b="1" dirty="0">
                <a:solidFill>
                  <a:srgbClr val="0E7C86"/>
                </a:solidFill>
                <a:latin typeface="Amiri" pitchFamily="34" charset="0"/>
                <a:ea typeface="Amiri" pitchFamily="34" charset="-122"/>
                <a:cs typeface="Amiri" pitchFamily="34" charset="-120"/>
              </a:rPr>
              <a:t>النَّوْمِ</a:t>
            </a:r>
            <a:pPr rtl="1" algn="ctr" indent="0" marL="0">
              <a:buNone/>
            </a:pPr>
            <a:r>
              <a:rPr lang="ar-SA" altLang="en-US" sz="2400" b="1" dirty="0">
                <a:solidFill>
                  <a:srgbClr val="1B3B6F"/>
                </a:solidFill>
                <a:latin typeface="Amiri" pitchFamily="34" charset="0"/>
                <a:ea typeface="Amiri" pitchFamily="34" charset="-122"/>
                <a:cs typeface="Amiri" pitchFamily="34" charset="-120"/>
              </a:rPr>
              <a:t>  ←→  قَبْلَ </a:t>
            </a:r>
            <a:pPr rtl="1" algn="ctr" indent="0" marL="0">
              <a:buNone/>
            </a:pPr>
            <a:r>
              <a:rPr lang="ar-SA" altLang="en-US" sz="2400" b="1" dirty="0">
                <a:solidFill>
                  <a:srgbClr val="0E7C86"/>
                </a:solidFill>
                <a:latin typeface="Amiri" pitchFamily="34" charset="0"/>
                <a:ea typeface="Amiri" pitchFamily="34" charset="-122"/>
                <a:cs typeface="Amiri" pitchFamily="34" charset="-120"/>
              </a:rPr>
              <a:t>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أَنَا</a:t>
            </a:r>
            <a:pPr rtl="1" algn="ctr" indent="0" marL="0">
              <a:buNone/>
            </a:pPr>
            <a:r>
              <a:rPr lang="ar-SA" altLang="en-US" sz="2400" b="1" dirty="0">
                <a:solidFill>
                  <a:srgbClr val="D6336C"/>
                </a:solidFill>
                <a:latin typeface="Amiri" pitchFamily="34" charset="0"/>
                <a:ea typeface="Amiri" pitchFamily="34" charset="-122"/>
                <a:cs typeface="Amiri" pitchFamily="34" charset="-120"/>
              </a:rPr>
              <a:t>مَ</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before/after structures with nouns and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basic subjunctive change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Remove final </a:t>
            </a:r>
            <a:pPr algn="l" indent="0" marL="0">
              <a:buNone/>
            </a:pPr>
            <a:r>
              <a:rPr lang="ar-SA" altLang="en-US" sz="1700" dirty="0">
                <a:solidFill>
                  <a:srgbClr val="1F2A37"/>
                </a:solidFill>
                <a:latin typeface="Amiri" pitchFamily="34" charset="0"/>
                <a:ea typeface="Amiri" pitchFamily="34" charset="-122"/>
                <a:cs typeface="Amiri" pitchFamily="34" charset="-120"/>
              </a:rPr>
              <a:t>ن</a:t>
            </a:r>
            <a:pPr algn="l" indent="0" marL="0">
              <a:buNone/>
            </a:pPr>
            <a:r>
              <a:rPr lang="en-US" sz="1300" dirty="0">
                <a:solidFill>
                  <a:srgbClr val="1F2A37"/>
                </a:solidFill>
                <a:latin typeface="Calibri" pitchFamily="34" charset="0"/>
                <a:ea typeface="Calibri" pitchFamily="34" charset="-122"/>
                <a:cs typeface="Calibri" pitchFamily="34" charset="-120"/>
              </a:rPr>
              <a:t> from relevant forms.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coherent afternoon and evening routine.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before/after with a noun (</a:t>
            </a:r>
            <a:pPr algn="l" indent="0" marL="0">
              <a:buNone/>
            </a:pPr>
            <a:r>
              <a:rPr lang="ar-SA" altLang="en-US" sz="1700" b="1" dirty="0">
                <a:solidFill>
                  <a:srgbClr val="2E8B57"/>
                </a:solidFill>
                <a:latin typeface="Amiri" pitchFamily="34" charset="0"/>
                <a:ea typeface="Amiri" pitchFamily="34" charset="-122"/>
                <a:cs typeface="Amiri" pitchFamily="34" charset="-120"/>
              </a:rPr>
              <a:t>قَبْلَ النَّوْمِ</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five actions in my afternoon.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قَبْلَ أَنْ / بَعْدَ أَنْ</a:t>
            </a:r>
            <a:pPr algn="l" indent="0" marL="0">
              <a:buNone/>
            </a:pPr>
            <a:r>
              <a:rPr lang="en-US" sz="1300" b="1" dirty="0">
                <a:solidFill>
                  <a:srgbClr val="C9780A"/>
                </a:solidFill>
                <a:latin typeface="Calibri" pitchFamily="34" charset="0"/>
                <a:ea typeface="Calibri" pitchFamily="34" charset="-122"/>
                <a:cs typeface="Calibri" pitchFamily="34" charset="-120"/>
              </a:rPr>
              <a:t> with the correct ending.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once / twice / three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drop the final </a:t>
            </a:r>
            <a:pPr algn="l" indent="0" marL="0">
              <a:buNone/>
            </a:pPr>
            <a:r>
              <a:rPr lang="ar-SA" altLang="en-US" sz="1700" b="1" dirty="0">
                <a:solidFill>
                  <a:srgbClr val="B83227"/>
                </a:solidFill>
                <a:latin typeface="Amiri" pitchFamily="34" charset="0"/>
                <a:ea typeface="Amiri" pitchFamily="34" charset="-122"/>
                <a:cs typeface="Amiri" pitchFamily="34" charset="-120"/>
              </a:rPr>
              <a:t>ن</a:t>
            </a:r>
            <a:pPr algn="l" indent="0" marL="0">
              <a:buNone/>
            </a:pPr>
            <a:r>
              <a:rPr lang="en-US" sz="1300" b="1" dirty="0">
                <a:solidFill>
                  <a:srgbClr val="B83227"/>
                </a:solidFill>
                <a:latin typeface="Calibri" pitchFamily="34" charset="0"/>
                <a:ea typeface="Calibri" pitchFamily="34" charset="-122"/>
                <a:cs typeface="Calibri" pitchFamily="34" charset="-120"/>
              </a:rPr>
              <a:t> of the five verbs after </a:t>
            </a:r>
            <a:pPr algn="l" indent="0" marL="0">
              <a:buNone/>
            </a:pPr>
            <a:r>
              <a:rPr lang="ar-SA" altLang="en-US" sz="1700" b="1" dirty="0">
                <a:solidFill>
                  <a:srgbClr val="B83227"/>
                </a:solidFill>
                <a:latin typeface="Amiri" pitchFamily="34" charset="0"/>
                <a:ea typeface="Amiri" pitchFamily="34" charset="-122"/>
                <a:cs typeface="Amiri" pitchFamily="34" charset="-120"/>
              </a:rPr>
              <a:t>أَنْ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join eight actions into one paragraph.</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structures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Daily actions beyond the morning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Frequency and amount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‎قبل‎ </a:t>
            </a:r>
            <a:pPr indent="0" marL="0">
              <a:buNone/>
            </a:pPr>
            <a:r>
              <a:rPr lang="en-US" sz="950" b="1" dirty="0">
                <a:solidFill>
                  <a:srgbClr val="2E8B57"/>
                </a:solidFill>
                <a:latin typeface="Calibri" pitchFamily="34" charset="0"/>
                <a:ea typeface="Calibri" pitchFamily="34" charset="-122"/>
                <a:cs typeface="Calibri" pitchFamily="34" charset="-120"/>
              </a:rPr>
              <a:t> qabl · before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بَعْدَ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‎بعد‎ </a:t>
            </a:r>
            <a:pPr indent="0" marL="0">
              <a:buNone/>
            </a:pPr>
            <a:r>
              <a:rPr lang="en-US" sz="950" b="1" dirty="0">
                <a:solidFill>
                  <a:srgbClr val="2E8B57"/>
                </a:solidFill>
                <a:latin typeface="Calibri" pitchFamily="34" charset="0"/>
                <a:ea typeface="Calibri" pitchFamily="34" charset="-122"/>
                <a:cs typeface="Calibri" pitchFamily="34" charset="-120"/>
              </a:rPr>
              <a:t> ba'd · after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فَوْرَ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‎فوراً‎ </a:t>
            </a:r>
            <a:pPr indent="0" marL="0">
              <a:buNone/>
            </a:pPr>
            <a:r>
              <a:rPr lang="en-US" sz="950" b="1" dirty="0">
                <a:solidFill>
                  <a:srgbClr val="2E8B57"/>
                </a:solidFill>
                <a:latin typeface="Calibri" pitchFamily="34" charset="0"/>
                <a:ea typeface="Calibri" pitchFamily="34" charset="-122"/>
                <a:cs typeface="Calibri" pitchFamily="34" charset="-120"/>
              </a:rPr>
              <a:t> fauran · immediately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أَثْنَاءَ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‎اثنا‎ </a:t>
            </a:r>
            <a:pPr indent="0" marL="0">
              <a:buNone/>
            </a:pPr>
            <a:r>
              <a:rPr lang="en-US" sz="950" b="1" dirty="0">
                <a:solidFill>
                  <a:srgbClr val="2E8B57"/>
                </a:solidFill>
                <a:latin typeface="Calibri" pitchFamily="34" charset="0"/>
                <a:ea typeface="Calibri" pitchFamily="34" charset="-122"/>
                <a:cs typeface="Calibri" pitchFamily="34" charset="-120"/>
              </a:rPr>
              <a:t> isnā · during (in the meantime)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النِّهَايَةِ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‎نہایت‎ </a:t>
            </a:r>
            <a:pPr indent="0" marL="0">
              <a:buNone/>
            </a:pPr>
            <a:r>
              <a:rPr lang="en-US" sz="950" b="1" dirty="0">
                <a:solidFill>
                  <a:srgbClr val="2E8B57"/>
                </a:solidFill>
                <a:latin typeface="Calibri" pitchFamily="34" charset="0"/>
                <a:ea typeface="Calibri" pitchFamily="34" charset="-122"/>
                <a:cs typeface="Calibri" pitchFamily="34" charset="-120"/>
              </a:rPr>
              <a:t> nihāyat · Urdu: extremely · Arabic: the 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 +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ḥī-na</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بِمُجَرَّدِ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soon 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bi-mu-jar-ra-di an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فَوْرَ أَنْ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immediately after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faw-ra 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أَثْنَاءَ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ath-nā-ʾa</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ذٰلِكَ</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dhā-li-ka</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النِّهَايَةِ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an-ni-hā-ya-ti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Daily actions beyond the morning (1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my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يُرَاجِعُ</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أُرَاجِعَ</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complete my homework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يُكْمِلُ</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تُكْمِلُ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أُكْمِلَ</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أُسْرَتِي</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us-ra-tī</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أَسْتَرِيحُ</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as-ta-rī-ḥu</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يَسْتَرِيحُ</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تَسْتَرِيحُ</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75" name="Text 72"/>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أَسْتَرِيحَ</a:t>
            </a:r>
            <a:endParaRPr lang="ar-SA" sz="135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9" name="Shape 76"/>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أَتَمَرَّنُ</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exercise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a-ta-mar-ra-nu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يَتَمَرَّنُ</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تَتَمَرَّنُ</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نَتَمَرَّنُ</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Daily actions beyond the morning (2 of 2)</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أَتَجَنَّبُ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avoid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a-ta-jan-na-bu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أَقْضِي وَقْتًا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spend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aq-ḍī waq-tan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أُحَضِّرُ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prepare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u-ḥaḍ-ḍi-ru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organise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u-naẓ-ẓi-mu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Shape 3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أَخْلُدُ إِلَى النَّوْمِ</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sleep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akh-lu-du i-lā an-naw-mi</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6" name="Text 4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يَخْلُدُ</a:t>
            </a:r>
            <a:endParaRPr lang="ar-SA" sz="150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تَخْلُدُ</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52" name="Text 49"/>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أَخْلُدَ</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amount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فِي اليَوْمِ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fī al-yaw-mi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twice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ثَلَاثَ مَرَّاتٍ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three 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tha-lā-tha mar-rā-tin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amount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حِينٍ إِلَى آخَرَ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time to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ḥī-nin i-lā ā-kha-ra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approximately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لِمُدَّةِ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a period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li-mud-da-ti</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NOUN OR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Is the next word a noun or a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 أَمْ 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noun: no extra word</a:t>
            </a:r>
            <a:endParaRPr lang="en-US" sz="1100" dirty="0"/>
          </a:p>
        </p:txBody>
      </p:sp>
      <p:sp>
        <p:nvSpPr>
          <p:cNvPr id="17" name="Text 14"/>
          <p:cNvSpPr txBox="1"/>
          <p:nvPr/>
        </p:nvSpPr>
        <p:spPr>
          <a:xfrm>
            <a:off x="327355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verb: add an</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912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قَبْلَ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الدَّرْسِ</a:t>
            </a:r>
            <a:endParaRPr lang="ar-SA" sz="2100" dirty="0"/>
          </a:p>
        </p:txBody>
      </p:sp>
      <p:sp>
        <p:nvSpPr>
          <p:cNvPr id="21" name="Text 18"/>
          <p:cNvSpPr txBox="1"/>
          <p:nvPr/>
        </p:nvSpPr>
        <p:spPr>
          <a:xfrm>
            <a:off x="78455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the lesson</a:t>
            </a:r>
            <a:endParaRPr lang="en-US" sz="950" dirty="0"/>
          </a:p>
        </p:txBody>
      </p:sp>
      <p:sp>
        <p:nvSpPr>
          <p:cNvPr id="22" name="Text 19"/>
          <p:cNvSpPr txBox="1"/>
          <p:nvPr/>
        </p:nvSpPr>
        <p:spPr>
          <a:xfrm>
            <a:off x="3291840" y="2286000"/>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قَبْلَ </a:t>
            </a:r>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يَبْدَأَ الدَّرْسُ</a:t>
            </a:r>
            <a:endParaRPr lang="ar-SA" sz="2100" dirty="0"/>
          </a:p>
        </p:txBody>
      </p:sp>
      <p:sp>
        <p:nvSpPr>
          <p:cNvPr id="23" name="Text 20"/>
          <p:cNvSpPr txBox="1"/>
          <p:nvPr/>
        </p:nvSpPr>
        <p:spPr>
          <a:xfrm>
            <a:off x="3246120" y="2706624"/>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the lesson starts</a:t>
            </a:r>
            <a:endParaRPr lang="en-US" sz="95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8912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بَعْدَ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التَّمْرِينِ</a:t>
            </a:r>
            <a:endParaRPr lang="ar-SA" sz="2100" dirty="0"/>
          </a:p>
        </p:txBody>
      </p:sp>
      <p:sp>
        <p:nvSpPr>
          <p:cNvPr id="29" name="Text 26"/>
          <p:cNvSpPr txBox="1"/>
          <p:nvPr/>
        </p:nvSpPr>
        <p:spPr>
          <a:xfrm>
            <a:off x="78455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training</a:t>
            </a:r>
            <a:endParaRPr lang="en-US" sz="950" dirty="0"/>
          </a:p>
        </p:txBody>
      </p:sp>
      <p:sp>
        <p:nvSpPr>
          <p:cNvPr id="30" name="Text 27"/>
          <p:cNvSpPr txBox="1"/>
          <p:nvPr/>
        </p:nvSpPr>
        <p:spPr>
          <a:xfrm>
            <a:off x="3291840" y="3072384"/>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بَعْدَ </a:t>
            </a:r>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يَنْتَهِيَ التَّمْرِينُ</a:t>
            </a:r>
            <a:endParaRPr lang="ar-SA" sz="2100" dirty="0"/>
          </a:p>
        </p:txBody>
      </p:sp>
      <p:sp>
        <p:nvSpPr>
          <p:cNvPr id="31" name="Text 28"/>
          <p:cNvSpPr txBox="1"/>
          <p:nvPr/>
        </p:nvSpPr>
        <p:spPr>
          <a:xfrm>
            <a:off x="3246120" y="3493008"/>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training finishes</a:t>
            </a:r>
            <a:endParaRPr lang="en-US" sz="950" dirty="0"/>
          </a:p>
        </p:txBody>
      </p:sp>
      <p:sp>
        <p:nvSpPr>
          <p:cNvPr id="32" name="Text 29"/>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8912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الوُصُولِ</a:t>
            </a:r>
            <a:endParaRPr lang="ar-SA" sz="2100" dirty="0"/>
          </a:p>
        </p:txBody>
      </p:sp>
      <p:sp>
        <p:nvSpPr>
          <p:cNvPr id="37" name="Text 34"/>
          <p:cNvSpPr txBox="1"/>
          <p:nvPr/>
        </p:nvSpPr>
        <p:spPr>
          <a:xfrm>
            <a:off x="78455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on arrival</a:t>
            </a:r>
            <a:endParaRPr lang="en-US" sz="950" dirty="0"/>
          </a:p>
        </p:txBody>
      </p:sp>
      <p:sp>
        <p:nvSpPr>
          <p:cNvPr id="38" name="Text 35"/>
          <p:cNvSpPr txBox="1"/>
          <p:nvPr/>
        </p:nvSpPr>
        <p:spPr>
          <a:xfrm>
            <a:off x="3291840" y="3858768"/>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عِنْدَمَا أَصِلُ</a:t>
            </a:r>
            <a:endParaRPr lang="ar-SA" sz="2100" dirty="0"/>
          </a:p>
        </p:txBody>
      </p:sp>
      <p:sp>
        <p:nvSpPr>
          <p:cNvPr id="39" name="Text 36"/>
          <p:cNvSpPr txBox="1"/>
          <p:nvPr/>
        </p:nvSpPr>
        <p:spPr>
          <a:xfrm>
            <a:off x="3246120" y="4279392"/>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when I arrive (no change!)</a:t>
            </a:r>
            <a:endParaRPr lang="en-US" sz="950" dirty="0"/>
          </a:p>
        </p:txBody>
      </p:sp>
      <p:sp>
        <p:nvSpPr>
          <p:cNvPr id="40" name="Text 37"/>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8912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أَثْنَاءَ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الدَّرْسِ</a:t>
            </a:r>
            <a:endParaRPr lang="ar-SA" sz="2100" dirty="0"/>
          </a:p>
        </p:txBody>
      </p:sp>
      <p:sp>
        <p:nvSpPr>
          <p:cNvPr id="43" name="Text 40"/>
          <p:cNvSpPr txBox="1"/>
          <p:nvPr/>
        </p:nvSpPr>
        <p:spPr>
          <a:xfrm>
            <a:off x="78455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during the lesson</a:t>
            </a:r>
            <a:endParaRPr lang="en-US" sz="950" dirty="0"/>
          </a:p>
        </p:txBody>
      </p:sp>
      <p:sp>
        <p:nvSpPr>
          <p:cNvPr id="44" name="Text 41"/>
          <p:cNvSpPr txBox="1"/>
          <p:nvPr/>
        </p:nvSpPr>
        <p:spPr>
          <a:xfrm>
            <a:off x="3291840" y="4645152"/>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بِمُجَرَّدِ </a:t>
            </a:r>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أَنْتَهِيَ</a:t>
            </a:r>
            <a:endParaRPr lang="ar-SA" sz="2100" dirty="0"/>
          </a:p>
        </p:txBody>
      </p:sp>
      <p:sp>
        <p:nvSpPr>
          <p:cNvPr id="45" name="Text 42"/>
          <p:cNvSpPr txBox="1"/>
          <p:nvPr/>
        </p:nvSpPr>
        <p:spPr>
          <a:xfrm>
            <a:off x="3246120" y="5065776"/>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soon as I finish</a:t>
            </a:r>
            <a:endParaRPr lang="en-US" sz="950" dirty="0"/>
          </a:p>
        </p:txBody>
      </p:sp>
      <p:sp>
        <p:nvSpPr>
          <p:cNvPr id="46" name="Text 4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 / as soon as</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Test: can you put “the” (</a:t>
            </a:r>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 on the next word? → noun → no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VERB ENDING CHANGES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a:t>
            </a:r>
            <a:pPr algn="l" indent="0" marL="0">
              <a:buNone/>
            </a:pPr>
            <a:r>
              <a:rPr lang="ar-SA" altLang="en-US" sz="3650" b="1" dirty="0">
                <a:solidFill>
                  <a:srgbClr val="1B3B6F"/>
                </a:solidFill>
                <a:latin typeface="Amiri" pitchFamily="34" charset="0"/>
                <a:ea typeface="Amiri" pitchFamily="34" charset="-122"/>
                <a:cs typeface="Amiri" pitchFamily="34" charset="-120"/>
              </a:rPr>
              <a:t>أَنْ</a:t>
            </a:r>
            <a:pPr algn="l" indent="0" marL="0">
              <a:buNone/>
            </a:pPr>
            <a:r>
              <a:rPr lang="en-US" sz="2800" b="1" dirty="0">
                <a:solidFill>
                  <a:srgbClr val="1B3B6F"/>
                </a:solidFill>
                <a:latin typeface="Cambria" pitchFamily="34" charset="0"/>
                <a:ea typeface="Cambria" pitchFamily="34" charset="-122"/>
                <a:cs typeface="Cambria" pitchFamily="34" charset="-120"/>
              </a:rPr>
              <a:t>: watch the last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بَعْدَ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Ordinary present</a:t>
            </a:r>
            <a:endParaRPr lang="en-US" sz="1100" dirty="0"/>
          </a:p>
        </p:txBody>
      </p:sp>
      <p:sp>
        <p:nvSpPr>
          <p:cNvPr id="17" name="Text 14"/>
          <p:cNvSpPr txBox="1"/>
          <p:nvPr/>
        </p:nvSpPr>
        <p:spPr>
          <a:xfrm>
            <a:off x="40325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 (subjunctive)</a:t>
            </a:r>
            <a:endParaRPr lang="en-US" sz="1100" dirty="0"/>
          </a:p>
        </p:txBody>
      </p:sp>
      <p:sp>
        <p:nvSpPr>
          <p:cNvPr id="18" name="Text 15"/>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changes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57032" y="2286000"/>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أَخْرُ</a:t>
            </a:r>
            <a:pPr rtl="1" algn="ctr" indent="0" marL="0">
              <a:buNone/>
            </a:pPr>
            <a:r>
              <a:rPr lang="ar-SA" altLang="en-US" sz="1950" b="1" dirty="0">
                <a:solidFill>
                  <a:srgbClr val="D6336C"/>
                </a:solidFill>
                <a:latin typeface="Amiri" pitchFamily="34" charset="0"/>
                <a:ea typeface="Amiri" pitchFamily="34" charset="-122"/>
                <a:cs typeface="Amiri" pitchFamily="34" charset="-120"/>
              </a:rPr>
              <a:t>جُ</a:t>
            </a:r>
            <a:endParaRPr lang="ar-SA" sz="1950" dirty="0"/>
          </a:p>
        </p:txBody>
      </p:sp>
      <p:sp>
        <p:nvSpPr>
          <p:cNvPr id="21" name="Text 18"/>
          <p:cNvSpPr txBox="1"/>
          <p:nvPr/>
        </p:nvSpPr>
        <p:spPr>
          <a:xfrm>
            <a:off x="8211312" y="267699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go out</a:t>
            </a:r>
            <a:endParaRPr lang="en-US" sz="950" dirty="0"/>
          </a:p>
        </p:txBody>
      </p:sp>
      <p:sp>
        <p:nvSpPr>
          <p:cNvPr id="22" name="Text 19"/>
          <p:cNvSpPr txBox="1"/>
          <p:nvPr/>
        </p:nvSpPr>
        <p:spPr>
          <a:xfrm>
            <a:off x="4050792" y="2286000"/>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قَبْلَ أَنْ أَخْرُ</a:t>
            </a:r>
            <a:pPr rtl="1" algn="ctr" indent="0" marL="0">
              <a:buNone/>
            </a:pPr>
            <a:r>
              <a:rPr lang="ar-SA" altLang="en-US" sz="1950" b="1" dirty="0">
                <a:solidFill>
                  <a:srgbClr val="D6336C"/>
                </a:solidFill>
                <a:latin typeface="Amiri" pitchFamily="34" charset="0"/>
                <a:ea typeface="Amiri" pitchFamily="34" charset="-122"/>
                <a:cs typeface="Amiri" pitchFamily="34" charset="-120"/>
              </a:rPr>
              <a:t>جَ</a:t>
            </a:r>
            <a:endParaRPr lang="ar-SA" sz="1950" dirty="0"/>
          </a:p>
        </p:txBody>
      </p:sp>
      <p:sp>
        <p:nvSpPr>
          <p:cNvPr id="23" name="Text 20"/>
          <p:cNvSpPr txBox="1"/>
          <p:nvPr/>
        </p:nvSpPr>
        <p:spPr>
          <a:xfrm>
            <a:off x="4005072" y="267699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I go out</a:t>
            </a:r>
            <a:endParaRPr lang="en-US" sz="950" dirty="0"/>
          </a:p>
        </p:txBody>
      </p:sp>
      <p:sp>
        <p:nvSpPr>
          <p:cNvPr id="24" name="Text 21"/>
          <p:cNvSpPr txBox="1"/>
          <p:nvPr/>
        </p:nvSpPr>
        <p:spPr>
          <a:xfrm>
            <a:off x="5669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fatḥa</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57032" y="302300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أَنَا</a:t>
            </a:r>
            <a:pPr rtl="1" algn="ctr" indent="0" marL="0">
              <a:buNone/>
            </a:pPr>
            <a:r>
              <a:rPr lang="ar-SA" altLang="en-US" sz="1950" b="1" dirty="0">
                <a:solidFill>
                  <a:srgbClr val="D6336C"/>
                </a:solidFill>
                <a:latin typeface="Amiri" pitchFamily="34" charset="0"/>
                <a:ea typeface="Amiri" pitchFamily="34" charset="-122"/>
                <a:cs typeface="Amiri" pitchFamily="34" charset="-120"/>
              </a:rPr>
              <a:t>مُ</a:t>
            </a:r>
            <a:endParaRPr lang="ar-SA" sz="1950" dirty="0"/>
          </a:p>
        </p:txBody>
      </p:sp>
      <p:sp>
        <p:nvSpPr>
          <p:cNvPr id="29" name="Text 26"/>
          <p:cNvSpPr txBox="1"/>
          <p:nvPr/>
        </p:nvSpPr>
        <p:spPr>
          <a:xfrm>
            <a:off x="8211312" y="3414004"/>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sleep</a:t>
            </a:r>
            <a:endParaRPr lang="en-US" sz="950" dirty="0"/>
          </a:p>
        </p:txBody>
      </p:sp>
      <p:sp>
        <p:nvSpPr>
          <p:cNvPr id="30" name="Text 27"/>
          <p:cNvSpPr txBox="1"/>
          <p:nvPr/>
        </p:nvSpPr>
        <p:spPr>
          <a:xfrm>
            <a:off x="4050792" y="302300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قَبْلَ أَنْ أَنَا</a:t>
            </a:r>
            <a:pPr rtl="1" algn="ctr" indent="0" marL="0">
              <a:buNone/>
            </a:pPr>
            <a:r>
              <a:rPr lang="ar-SA" altLang="en-US" sz="1950" b="1" dirty="0">
                <a:solidFill>
                  <a:srgbClr val="D6336C"/>
                </a:solidFill>
                <a:latin typeface="Amiri" pitchFamily="34" charset="0"/>
                <a:ea typeface="Amiri" pitchFamily="34" charset="-122"/>
                <a:cs typeface="Amiri" pitchFamily="34" charset="-120"/>
              </a:rPr>
              <a:t>مَ</a:t>
            </a:r>
            <a:endParaRPr lang="ar-SA" sz="1950" dirty="0"/>
          </a:p>
        </p:txBody>
      </p:sp>
      <p:sp>
        <p:nvSpPr>
          <p:cNvPr id="31" name="Text 28"/>
          <p:cNvSpPr txBox="1"/>
          <p:nvPr/>
        </p:nvSpPr>
        <p:spPr>
          <a:xfrm>
            <a:off x="4005072" y="3414004"/>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I sleep</a:t>
            </a:r>
            <a:endParaRPr lang="en-US" sz="950" dirty="0"/>
          </a:p>
        </p:txBody>
      </p:sp>
      <p:sp>
        <p:nvSpPr>
          <p:cNvPr id="32" name="Text 29"/>
          <p:cNvSpPr txBox="1"/>
          <p:nvPr/>
        </p:nvSpPr>
        <p:spPr>
          <a:xfrm>
            <a:off x="5669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fatḥa</a:t>
            </a:r>
            <a:endParaRPr lang="en-US" sz="110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257032" y="3760013"/>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أَعُو</a:t>
            </a:r>
            <a:pPr rtl="1" algn="ctr" indent="0" marL="0">
              <a:buNone/>
            </a:pPr>
            <a:r>
              <a:rPr lang="ar-SA" altLang="en-US" sz="1950" b="1" dirty="0">
                <a:solidFill>
                  <a:srgbClr val="D6336C"/>
                </a:solidFill>
                <a:latin typeface="Amiri" pitchFamily="34" charset="0"/>
                <a:ea typeface="Amiri" pitchFamily="34" charset="-122"/>
                <a:cs typeface="Amiri" pitchFamily="34" charset="-120"/>
              </a:rPr>
              <a:t>دُ</a:t>
            </a:r>
            <a:endParaRPr lang="ar-SA" sz="1950" dirty="0"/>
          </a:p>
        </p:txBody>
      </p:sp>
      <p:sp>
        <p:nvSpPr>
          <p:cNvPr id="37" name="Text 34"/>
          <p:cNvSpPr txBox="1"/>
          <p:nvPr/>
        </p:nvSpPr>
        <p:spPr>
          <a:xfrm>
            <a:off x="8211312" y="4151010"/>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return</a:t>
            </a:r>
            <a:endParaRPr lang="en-US" sz="950" dirty="0"/>
          </a:p>
        </p:txBody>
      </p:sp>
      <p:sp>
        <p:nvSpPr>
          <p:cNvPr id="38" name="Text 35"/>
          <p:cNvSpPr txBox="1"/>
          <p:nvPr/>
        </p:nvSpPr>
        <p:spPr>
          <a:xfrm>
            <a:off x="4050792" y="3760013"/>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بَعْدَ أَنْ أَعُو</a:t>
            </a:r>
            <a:pPr rtl="1" algn="ctr" indent="0" marL="0">
              <a:buNone/>
            </a:pPr>
            <a:r>
              <a:rPr lang="ar-SA" altLang="en-US" sz="1950" b="1" dirty="0">
                <a:solidFill>
                  <a:srgbClr val="D6336C"/>
                </a:solidFill>
                <a:latin typeface="Amiri" pitchFamily="34" charset="0"/>
                <a:ea typeface="Amiri" pitchFamily="34" charset="-122"/>
                <a:cs typeface="Amiri" pitchFamily="34" charset="-120"/>
              </a:rPr>
              <a:t>دَ</a:t>
            </a:r>
            <a:endParaRPr lang="ar-SA" sz="1950" dirty="0"/>
          </a:p>
        </p:txBody>
      </p:sp>
      <p:sp>
        <p:nvSpPr>
          <p:cNvPr id="39" name="Text 36"/>
          <p:cNvSpPr txBox="1"/>
          <p:nvPr/>
        </p:nvSpPr>
        <p:spPr>
          <a:xfrm>
            <a:off x="4005072" y="4151010"/>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I return</a:t>
            </a:r>
            <a:endParaRPr lang="en-US" sz="950" dirty="0"/>
          </a:p>
        </p:txBody>
      </p:sp>
      <p:sp>
        <p:nvSpPr>
          <p:cNvPr id="40" name="Text 37"/>
          <p:cNvSpPr txBox="1"/>
          <p:nvPr/>
        </p:nvSpPr>
        <p:spPr>
          <a:xfrm>
            <a:off x="5669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fatḥa</a:t>
            </a:r>
            <a:endParaRPr lang="en-US" sz="11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57032" y="4497019"/>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تُكْمِلِي</a:t>
            </a:r>
            <a:pPr rtl="1" algn="ctr" indent="0" marL="0">
              <a:buNone/>
            </a:pPr>
            <a:r>
              <a:rPr lang="ar-SA" altLang="en-US" sz="1950" b="1" dirty="0">
                <a:solidFill>
                  <a:srgbClr val="D6336C"/>
                </a:solidFill>
                <a:latin typeface="Amiri" pitchFamily="34" charset="0"/>
                <a:ea typeface="Amiri" pitchFamily="34" charset="-122"/>
                <a:cs typeface="Amiri" pitchFamily="34" charset="-120"/>
              </a:rPr>
              <a:t>نَ</a:t>
            </a:r>
            <a:endParaRPr lang="ar-SA" sz="1950" dirty="0"/>
          </a:p>
        </p:txBody>
      </p:sp>
      <p:sp>
        <p:nvSpPr>
          <p:cNvPr id="43" name="Text 40"/>
          <p:cNvSpPr txBox="1"/>
          <p:nvPr/>
        </p:nvSpPr>
        <p:spPr>
          <a:xfrm>
            <a:off x="8211312" y="488801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(f.) complete</a:t>
            </a:r>
            <a:endParaRPr lang="en-US" sz="950" dirty="0"/>
          </a:p>
        </p:txBody>
      </p:sp>
      <p:sp>
        <p:nvSpPr>
          <p:cNvPr id="44" name="Text 41"/>
          <p:cNvSpPr txBox="1"/>
          <p:nvPr/>
        </p:nvSpPr>
        <p:spPr>
          <a:xfrm>
            <a:off x="4050792" y="4497019"/>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بَعْدَ أَنْ تُكْمِلِي</a:t>
            </a:r>
            <a:endParaRPr lang="ar-SA" sz="1950" dirty="0"/>
          </a:p>
        </p:txBody>
      </p:sp>
      <p:sp>
        <p:nvSpPr>
          <p:cNvPr id="45" name="Text 42"/>
          <p:cNvSpPr txBox="1"/>
          <p:nvPr/>
        </p:nvSpPr>
        <p:spPr>
          <a:xfrm>
            <a:off x="4005072" y="488801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you (f.) complete</a:t>
            </a:r>
            <a:endParaRPr lang="en-US" sz="950" dirty="0"/>
          </a:p>
        </p:txBody>
      </p:sp>
      <p:sp>
        <p:nvSpPr>
          <p:cNvPr id="46" name="Text 43"/>
          <p:cNvSpPr txBox="1"/>
          <p:nvPr/>
        </p:nvSpPr>
        <p:spPr>
          <a:xfrm>
            <a:off x="5669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ن</a:t>
            </a:r>
            <a:pPr algn="l" indent="0" marL="0">
              <a:buNone/>
            </a:pPr>
            <a:r>
              <a:rPr lang="en-US" sz="1100" dirty="0">
                <a:solidFill>
                  <a:srgbClr val="5A6472"/>
                </a:solidFill>
                <a:latin typeface="Calibri" pitchFamily="34" charset="0"/>
                <a:ea typeface="Calibri" pitchFamily="34" charset="-122"/>
                <a:cs typeface="Calibri" pitchFamily="34" charset="-120"/>
              </a:rPr>
              <a:t> removed</a:t>
            </a:r>
            <a:endParaRPr lang="en-US" sz="110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8257032" y="523402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تَذْهَبُو</a:t>
            </a:r>
            <a:pPr rtl="1" algn="ctr" indent="0" marL="0">
              <a:buNone/>
            </a:pPr>
            <a:r>
              <a:rPr lang="ar-SA" altLang="en-US" sz="1950" b="1" dirty="0">
                <a:solidFill>
                  <a:srgbClr val="D6336C"/>
                </a:solidFill>
                <a:latin typeface="Amiri" pitchFamily="34" charset="0"/>
                <a:ea typeface="Amiri" pitchFamily="34" charset="-122"/>
                <a:cs typeface="Amiri" pitchFamily="34" charset="-120"/>
              </a:rPr>
              <a:t>نَ</a:t>
            </a:r>
            <a:endParaRPr lang="ar-SA" sz="1950" dirty="0"/>
          </a:p>
        </p:txBody>
      </p:sp>
      <p:sp>
        <p:nvSpPr>
          <p:cNvPr id="49" name="Text 46"/>
          <p:cNvSpPr txBox="1"/>
          <p:nvPr/>
        </p:nvSpPr>
        <p:spPr>
          <a:xfrm>
            <a:off x="8211312" y="5625023"/>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(pl.) go</a:t>
            </a:r>
            <a:endParaRPr lang="en-US" sz="950" dirty="0"/>
          </a:p>
        </p:txBody>
      </p:sp>
      <p:sp>
        <p:nvSpPr>
          <p:cNvPr id="50" name="Text 47"/>
          <p:cNvSpPr txBox="1"/>
          <p:nvPr/>
        </p:nvSpPr>
        <p:spPr>
          <a:xfrm>
            <a:off x="4050792" y="523402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قَبْلَ أَنْ تَذْهَبُوا</a:t>
            </a:r>
            <a:endParaRPr lang="ar-SA" sz="1950" dirty="0"/>
          </a:p>
        </p:txBody>
      </p:sp>
      <p:sp>
        <p:nvSpPr>
          <p:cNvPr id="51" name="Text 48"/>
          <p:cNvSpPr txBox="1"/>
          <p:nvPr/>
        </p:nvSpPr>
        <p:spPr>
          <a:xfrm>
            <a:off x="4005072" y="5625023"/>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you (pl.) go</a:t>
            </a:r>
            <a:endParaRPr lang="en-US" sz="950" dirty="0"/>
          </a:p>
        </p:txBody>
      </p:sp>
      <p:sp>
        <p:nvSpPr>
          <p:cNvPr id="52" name="Text 49"/>
          <p:cNvSpPr txBox="1"/>
          <p:nvPr/>
        </p:nvSpPr>
        <p:spPr>
          <a:xfrm>
            <a:off x="566928" y="5215738"/>
            <a:ext cx="3319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ن</a:t>
            </a:r>
            <a:pPr algn="l" indent="0" marL="0">
              <a:buNone/>
            </a:pPr>
            <a:r>
              <a:rPr lang="en-US" sz="1100" dirty="0">
                <a:solidFill>
                  <a:srgbClr val="5A6472"/>
                </a:solidFill>
                <a:latin typeface="Calibri" pitchFamily="34" charset="0"/>
                <a:ea typeface="Calibri" pitchFamily="34" charset="-122"/>
                <a:cs typeface="Calibri" pitchFamily="34" charset="-120"/>
              </a:rPr>
              <a:t> removed + alif</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Core: learn rows 1–2 as chunks. Develop: rows 1–3. Stretch: all five.</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and after with a verbal clause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قَبْلَ أَنْ وَبَعْدَ أَنْ مَعَ الفِعْلِ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for an action that happens first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قَبْلَ أَنْ + فِعْلٌ مَنْصُوبٌ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أُحَضِّرُ حَقِيبَتِي قَبْلَ أَنْ أَنَامَ.   ·   أَتَنَاوَلُ الإِفْطَارَ قَبْلَ أَنْ أَخْرُجَ.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بَعْدَ أَنْ</a:t>
            </a:r>
            <a:pPr algn="l" indent="0" marL="0">
              <a:buNone/>
            </a:pPr>
            <a:r>
              <a:rPr lang="en-US" sz="1250" b="1" dirty="0">
                <a:solidFill>
                  <a:srgbClr val="1B3B6F"/>
                </a:solidFill>
                <a:latin typeface="Calibri" pitchFamily="34" charset="0"/>
                <a:ea typeface="Calibri" pitchFamily="34" charset="-122"/>
                <a:cs typeface="Calibri" pitchFamily="34" charset="-120"/>
              </a:rPr>
              <a:t> for the completed first action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بَعْدَ أَنْ + فِعْلٌ مَنْصُوبٌ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أَسْتَرِيحُ بَعْدَ أَنْ أَعُودَ مِنَ المَدْرَسَةِ.   ·   تَتَمَرَّنُ بَعْدَ أَنْ تُكْمِلَ وَاجِبَهَا.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Remove final </a:t>
            </a:r>
            <a:pPr algn="l" indent="0" marL="0">
              <a:buNone/>
            </a:pPr>
            <a:r>
              <a:rPr lang="ar-SA" altLang="en-US" sz="1650" b="1" dirty="0">
                <a:solidFill>
                  <a:srgbClr val="1B3B6F"/>
                </a:solidFill>
                <a:latin typeface="Amiri" pitchFamily="34" charset="0"/>
                <a:ea typeface="Amiri" pitchFamily="34" charset="-122"/>
                <a:cs typeface="Amiri" pitchFamily="34" charset="-120"/>
              </a:rPr>
              <a:t>ن</a:t>
            </a:r>
            <a:pPr algn="l" indent="0" marL="0">
              <a:buNone/>
            </a:pPr>
            <a:r>
              <a:rPr lang="en-US" sz="1250" b="1" dirty="0">
                <a:solidFill>
                  <a:srgbClr val="1B3B6F"/>
                </a:solidFill>
                <a:latin typeface="Calibri" pitchFamily="34" charset="0"/>
                <a:ea typeface="Calibri" pitchFamily="34" charset="-122"/>
                <a:cs typeface="Calibri" pitchFamily="34" charset="-120"/>
              </a:rPr>
              <a:t> from the five verbs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تَذْهَبُونَ ← أَنْ تَذْهَبُوا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قَبْلَ أَنْ تَذْهَبُوا إِلَى المَدْرَسَةِ.   ·   بَعْدَ أَنْ تُكْمِلِي وَاجِبَكِ.   ·   قَبْلَ أَنْ يَنَامَا.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Use a noun after </a:t>
            </a:r>
            <a:pPr algn="l" indent="0" marL="0">
              <a:buNone/>
            </a:pPr>
            <a:r>
              <a:rPr lang="ar-SA" altLang="en-US" sz="1650" b="1" dirty="0">
                <a:solidFill>
                  <a:srgbClr val="1B3B6F"/>
                </a:solidFill>
                <a:latin typeface="Amiri" pitchFamily="34" charset="0"/>
                <a:ea typeface="Amiri" pitchFamily="34" charset="-122"/>
                <a:cs typeface="Amiri" pitchFamily="34" charset="-120"/>
              </a:rPr>
              <a:t>قَبْلَ / بَعْدَ</a:t>
            </a:r>
            <a:pPr algn="l" indent="0" marL="0">
              <a:buNone/>
            </a:pPr>
            <a:r>
              <a:rPr lang="en-US" sz="1250" b="1" dirty="0">
                <a:solidFill>
                  <a:srgbClr val="1B3B6F"/>
                </a:solidFill>
                <a:latin typeface="Calibri" pitchFamily="34" charset="0"/>
                <a:ea typeface="Calibri" pitchFamily="34" charset="-122"/>
                <a:cs typeface="Calibri" pitchFamily="34" charset="-120"/>
              </a:rPr>
              <a:t> without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قَبْلَ + اِسْمٍ · بَعْدَ + اِسْمٍ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قَبْلَ الإِفْطَارِ أَشْرَبُ المَاءَ.   ·   بَعْدَ المَدْرَسَةِ أَذْهَبُ إِلَى النَّادِي.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نَوْمِي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بَعْدَ أَنْ ___ مِنَ المَدْرَسَةِ.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أَعُودَ</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أَعُودُ</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أَعُودُ</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المَدْرَسَةِ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يَنْتَهِي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تَذْهَبُوا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تَذْهَبُونَ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ذَهَبْتُمْ</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نَوْمِي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أَنَامَ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ḍamma changes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بَعْدَ أَنْ ___ مِنَ المَدْرَسَةِ.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أَعُودَ</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أَعُودُ</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requires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أَعُودَ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أَعُودُ</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المَدْرَسَةِ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يَنْتَهِي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noun follows </a:t>
            </a:r>
            <a:pPr algn="l" indent="0" marL="0">
              <a:buNone/>
            </a:pPr>
            <a:r>
              <a:rPr lang="ar-SA" altLang="en-US" sz="1350" dirty="0">
                <a:solidFill>
                  <a:srgbClr val="8A6D1E"/>
                </a:solidFill>
                <a:latin typeface="Amiri" pitchFamily="34" charset="0"/>
                <a:ea typeface="Amiri" pitchFamily="34" charset="-122"/>
                <a:cs typeface="Amiri" pitchFamily="34" charset="-120"/>
              </a:rPr>
              <a:t>بَعْدَ</a:t>
            </a:r>
            <a:pPr algn="l" indent="0" marL="0">
              <a:buNone/>
            </a:pPr>
            <a:r>
              <a:rPr lang="en-US" sz="1050" i="1" dirty="0">
                <a:solidFill>
                  <a:srgbClr val="8A6D1E"/>
                </a:solidFill>
                <a:latin typeface="Calibri" pitchFamily="34" charset="0"/>
                <a:ea typeface="Calibri" pitchFamily="34" charset="-122"/>
                <a:cs typeface="Calibri" pitchFamily="34" charset="-120"/>
              </a:rPr>
              <a:t> directly.</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تَذْهَبُوا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تَذْهَبُونَ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ذَهَبْتُمْ</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is removed.</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sequence my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بَعْدَ</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المَدْرَسَةِ أَعُودُ إِلَى البَيْتِ.</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المَدْرَسَةِ</a:t>
            </a:r>
            <a:pPr algn="l" indent="0" marL="0">
              <a:buNone/>
            </a:pPr>
            <a:r>
              <a:rPr lang="en-US" sz="1150" dirty="0">
                <a:solidFill>
                  <a:srgbClr val="1F2A37"/>
                </a:solidFill>
                <a:latin typeface="Calibri" pitchFamily="34" charset="0"/>
                <a:ea typeface="Calibri" pitchFamily="34" charset="-122"/>
                <a:cs typeface="Calibri" pitchFamily="34" charset="-120"/>
              </a:rPr>
              <a:t> is a noun → no </a:t>
            </a:r>
            <a:pPr algn="l" indent="0" marL="0">
              <a:buNone/>
            </a:pPr>
            <a:r>
              <a:rPr lang="ar-SA" altLang="en-US" sz="1500" dirty="0">
                <a:solidFill>
                  <a:srgbClr val="1F2A37"/>
                </a:solidFill>
                <a:latin typeface="Amiri" pitchFamily="34" charset="0"/>
                <a:ea typeface="Amiri" pitchFamily="34" charset="-122"/>
                <a:cs typeface="Amiri" pitchFamily="34" charset="-120"/>
              </a:rPr>
              <a:t>أَنْ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After +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بَعْدَ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أَعُو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أَسْتَرِيحُ نِصْفَ سَاعَةٍ.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After </a:t>
            </a:r>
            <a:pPr algn="l" indent="0" marL="0">
              <a:buNone/>
            </a:pPr>
            <a:r>
              <a:rPr lang="ar-SA" altLang="en-US" sz="1500" dirty="0">
                <a:solidFill>
                  <a:srgbClr val="1F2A37"/>
                </a:solidFill>
                <a:latin typeface="Amiri" pitchFamily="34" charset="0"/>
                <a:ea typeface="Amiri" pitchFamily="34" charset="-122"/>
                <a:cs typeface="Amiri" pitchFamily="34" charset="-120"/>
              </a:rPr>
              <a:t>أَنْ</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أَعُودُ</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أَعُودَ</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 + verb</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أُكْمِلُ وَاجِبِي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قَبْلَ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أَسْتَعْمِ</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هَاتِفِي.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homework happens FIRST.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أَتَمَرَّنُ </a:t>
            </a:r>
            <a:pPr rtl="1" algn="ctr" indent="0" marL="0">
              <a:buNone/>
            </a:pPr>
            <a:r>
              <a:rPr lang="ar-SA" altLang="en-US" sz="2100" b="1" dirty="0">
                <a:solidFill>
                  <a:srgbClr val="1D5FBF"/>
                </a:solidFill>
                <a:latin typeface="Amiri" pitchFamily="34" charset="0"/>
                <a:ea typeface="Amiri" pitchFamily="34" charset="-122"/>
                <a:cs typeface="Amiri" pitchFamily="34" charset="-120"/>
              </a:rPr>
              <a:t>مَرَّتَيْنِ</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الأُسْبُوعِ.</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Recycle D1-L03.</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BEFORE / AFTER</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CHANGED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بَعْدَ</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المَدْرَسَةِ أَعُودُ إِلَى البَيْتِ.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بَعْدَ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أَعُو</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دَ</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أَسْتَرِيحُ نِصْفَ سَاعَةٍ. ثُمَّ أُكْمِلُ وَاجِبِي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قَبْلَ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أَسْتَعْمِ</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لَ</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هَاتِفِي. أَتَمَرَّنُ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مَرَّتَيْنِ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فِي الأُسْبُوعِ، وَ</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قَبْلَ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أَنَا</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مَ</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أُحَضِّرُ حَقِيبَتِي.</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After school I return home. After I return, I rest for half an hour. Then I finish my homework before I use my phone. I exercise twice a week, and before I sleep I prepare my bag.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أُكْمِلُ وَاجِبِي قَبْلَ أَنْ أَسْتَعْمِلَ هَاتِفِي.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finish my homework before using my phone.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Subjunctive after أَنْ.</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بَعْدَ أَنْ أَعُودَ، أَسْتَرِيحُ نِصْفَ سَاعَةٍ.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After I return, I rest for half an hour.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Add duration.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مَرَّتَيْنِ فِي الأُسْبُوعِ.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exercise twice a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Dual frequency expression.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عِنْدَمَا أَنْتَهِي مِنَ العَمَلِ، أُسَاعِدُ أُسْرَتِي.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When I finish work, I help my family.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second sequence structure.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BEFORE AND AFTER — SEQUENCING MY DAY”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Which comes first?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wake → 2 breakfast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teeth → 2 bed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homework → 2 games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النَّوْمِ أُنَظِّفُ أَسْنَانِي.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الوَاجِبِ أَلْعَبُ.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الإِفْطَارِ أَسْتَيْقِظُ.</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wake → 2 breakfast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قَبْلَ الإِفْطَارِ أَسْتَيْقِظُ.</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Before breakfast I wake up.</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teeth → 2 bed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قَبْلَ النَّوْمِ 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Before sleeping 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homework → 2 games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بَعْدَ الوَاجِبِ أَلْعَبُ.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After homework I play.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Noun or verb after before/after?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المَدْرَسَةِ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العَشَاءِ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أَنْتَهِيَ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النَّوْمِ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نَعُودَ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التَّمْرِينِ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تَكْتُبِي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Noun: no أَنْ</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Verb: use أَنْ</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Noun: no أَنْ</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المَدْرَسَةِ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العَشَاءِ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النَّوْمِ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التَّمْرِينِ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Verb: use أَنْ</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أَنْتَهِيَ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نَعُودَ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تَكْتُبِي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قَبْلَ أَنْ ___ وَاجِبَكِ.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تُكْمِلِينَ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تُكْمِلُ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تُكْمِلِي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“After I finish, I rest”?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أَنْتَهِيَ، أَسْتَرِيحُ.</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أَنْتَهِيَ، أَسْتَرِيحُ.</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أَسْتَرِيحَ، أَنْتَهِي.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contains a noun structure?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النَّوْمِ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عِنْدَمَا أَنَامُ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developed sequence.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 أَنَامُ.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دُرُوسِي أَنَامُ.</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 قَبْلَ أَنْ أَخْلُدَ إِلَى النَّوْمِ.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قَبْلَ أَنْ ___ وَاجِبَكِ.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تُكْمِلِينَ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تُكْمِلُ</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تُكْمِلِي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five-verb form loses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“After I finish, I rest”?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أَنْتَهِيَ، أَسْتَرِيحُ.</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أَنْ أَنْتَهِيَ، أَسْتَرِيحُ.</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أَسْتَرِيحَ، أَنْتَهِي.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completion comes first, then rest.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contains a noun structure?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النَّوْمِ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عِنْدَمَا أَنَامُ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النَّوْمِ</a:t>
            </a:r>
            <a:pPr algn="l" indent="0" marL="0">
              <a:buNone/>
            </a:pPr>
            <a:r>
              <a:rPr lang="en-US" sz="1050" i="1" dirty="0">
                <a:solidFill>
                  <a:srgbClr val="8A6D1E"/>
                </a:solidFill>
                <a:latin typeface="Calibri" pitchFamily="34" charset="0"/>
                <a:ea typeface="Calibri" pitchFamily="34" charset="-122"/>
                <a:cs typeface="Calibri" pitchFamily="34" charset="-120"/>
              </a:rPr>
              <a:t> is a noun.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developed sequence.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دُرُوسِي. أَنَامُ.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دُرُوسِي أَنَامُ.</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 قَبْلَ أَنْ أَخْلُدَ إِلَى النَّوْمِ.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connects the actions accurately with </a:t>
            </a:r>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قَبْلَ أَنْ أَخْرُجُ.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 what happens to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بَعْدَ أَنْ تُكْمِلِينَ.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Five verb (-</a:t>
            </a:r>
            <a:pPr algn="l" indent="0" marL="0">
              <a:buNone/>
            </a:pPr>
            <a:r>
              <a:rPr lang="ar-SA" altLang="en-US" sz="1700" dirty="0">
                <a:solidFill>
                  <a:srgbClr val="5A6472"/>
                </a:solidFill>
                <a:latin typeface="Amiri" pitchFamily="34" charset="0"/>
                <a:ea typeface="Amiri" pitchFamily="34" charset="-122"/>
                <a:cs typeface="Amiri" pitchFamily="34" charset="-120"/>
              </a:rPr>
              <a:t>ينَ</a:t>
            </a:r>
            <a:pPr algn="l" indent="0" marL="0">
              <a:buNone/>
            </a:pPr>
            <a:r>
              <a:rPr lang="en-US" sz="1300" i="1" dirty="0">
                <a:solidFill>
                  <a:srgbClr val="5A6472"/>
                </a:solidFill>
                <a:latin typeface="Calibri" pitchFamily="34" charset="0"/>
                <a:ea typeface="Calibri" pitchFamily="34" charset="-122"/>
                <a:cs typeface="Calibri" pitchFamily="34" charset="-120"/>
              </a:rPr>
              <a:t>). What disappears?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قَبْلَ أَنْ الإِفْطَارِ.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t>
            </a:r>
            <a:pPr algn="l" indent="0" marL="0">
              <a:buNone/>
            </a:pPr>
            <a:r>
              <a:rPr lang="ar-SA" altLang="en-US" sz="1700" dirty="0">
                <a:solidFill>
                  <a:srgbClr val="5A6472"/>
                </a:solidFill>
                <a:latin typeface="Amiri" pitchFamily="34" charset="0"/>
                <a:ea typeface="Amiri" pitchFamily="34" charset="-122"/>
                <a:cs typeface="Amiri" pitchFamily="34" charset="-120"/>
              </a:rPr>
              <a:t>الإِفْطَارِ</a:t>
            </a:r>
            <a:pPr algn="l" indent="0" marL="0">
              <a:buNone/>
            </a:pPr>
            <a:r>
              <a:rPr lang="en-US" sz="1300" i="1" dirty="0">
                <a:solidFill>
                  <a:srgbClr val="5A6472"/>
                </a:solidFill>
                <a:latin typeface="Calibri" pitchFamily="34" charset="0"/>
                <a:ea typeface="Calibri" pitchFamily="34" charset="-122"/>
                <a:cs typeface="Calibri" pitchFamily="34" charset="-120"/>
              </a:rPr>
              <a:t> a noun or a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قَبْلَ أَنْ أَخْرُجُ.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قَبْلَ أَنْ أَخْرُجَ.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بَعْدَ أَنْ تُكْمِلِينَ.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بَعْدَ أَنْ تُكْمِلِي.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Drop final </a:t>
            </a:r>
            <a:pPr algn="l" indent="0" marL="0">
              <a:buNone/>
            </a:pPr>
            <a:r>
              <a:rPr lang="ar-SA" altLang="en-US" sz="1500" b="1" dirty="0">
                <a:solidFill>
                  <a:srgbClr val="1B3B6F"/>
                </a:solidFill>
                <a:latin typeface="Amiri" pitchFamily="34" charset="0"/>
                <a:ea typeface="Amiri" pitchFamily="34" charset="-122"/>
                <a:cs typeface="Amiri" pitchFamily="34" charset="-120"/>
              </a:rPr>
              <a:t>ن</a:t>
            </a:r>
            <a:pPr algn="l" indent="0" marL="0">
              <a:buNone/>
            </a:pPr>
            <a:r>
              <a:rPr lang="en-US" sz="1150" b="1" dirty="0">
                <a:solidFill>
                  <a:srgbClr val="1B3B6F"/>
                </a:solidFill>
                <a:latin typeface="Calibri" pitchFamily="34" charset="0"/>
                <a:ea typeface="Calibri" pitchFamily="34" charset="-122"/>
                <a:cs typeface="Calibri" pitchFamily="34" charset="-120"/>
              </a:rPr>
              <a:t> from the five verbs.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قَبْلَ أَنْ الإِفْطَارِ.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قَبْلَ الإِفْطَارِ.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use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before a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After-school choices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immediately after returning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snack and a short rest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sports training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be completed before opening the phone?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dinner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training?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happen on other days?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helping family or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 all afternoon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prepare clothes and the bag at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exercise more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avoid rushing in the morning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sleep later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بَعْدَ أَنْ أَعُودَ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بَعْدَ أَنْ أَعُودَ مِنَ المَدْرَسَةِ، أَتَنَاوَلُ وَجْبَةً خَفِيفَةً وَأَسْتَرِيحُ لِمُدَّةِ عِشْرِينَ دَقِيقَةً.</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I return from school, I have a snack and rest for twenty minutes.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أُكْمِلُ وَاجِبِي قَبْلَ أَنْ أَفْتَحَ هَاتِفِي.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I finish my homework before I open my phone.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يَوْمَيِ الاِثْنَيْنِ وَالخَمِيسِ أَتَمَرَّنُ فِي النَّادِي، أَيْ مَرَّتَيْنِ فِي الأُسْبُوعِ.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Mondays and Thursdays I train at the club, that is twice a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الأَيَّامِ الأُخْرَى فَأُسَاعِدُ أُسْرَتِي أَوْ أَقْرَأُ.</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other days, I help my family or read.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قَبْلَ أَنْ أَنَامَ، أُحَضِّرُ مَلَابِسِي وَحَقِيبَتِي لِلْيَوْمِ التَّالِي، وَبِذٰلِكَ لَا أَضْطَرُّ إِلَى العَجَلَةِ صَبَاحًا.</a:t>
            </a:r>
            <a:endParaRPr lang="ar-SA" sz="16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I sleep, I prepare my clothes and bag for the next day, so I do not have to rush in the morning.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immediately after returning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snack and a short rest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sports training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eats a snack and rests.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be completed before opening the phone?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dinner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أُكْمِلُ وَاجِبِي قَبْلَ أَنْ أَفْتَحَ هَاتِفِي.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training?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happen on other days?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helping family or reading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sleeping all afternoon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helps family or reads.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prepare clothes and the bag at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exercise more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avoid rushing in the morning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sleep later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أَضْطَرُّ إِلَى العَجَلَةِ صَبَاحًا.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بَعْدَ أَنْ أَعُودَ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Explain the order of your afternoon and evening</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بَعْدَ المَدْرَسَةِ؟ وَقَبْلَ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بَعْدَ أَنْ تَعُودَ مِنَ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تَتَمَرَّنُ أَوْ تَقْرَأُ فِي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عَادَةٍ مَسَائِيَّةٍ تُرِيدُ أَنْ تُغَيِّرَهَا؟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بَعْدَ المَدْرَسَةِ ___ ، وَقَبْلَ النَّوْمِ ___ .</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بَعْدَ أَنْ أَعُودَ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أُرِيدُ أَنْ أُغَيِّرَ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قَبْلَ أَنْ أَنَامَ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قَبْلَ أَنْ تَنَامَ؟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before sleeping?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قَبْلَ أَنْ أَنَامَ، أُحَضِّرُ حَقِيبَتِي وَأَقْرَأُ قَلِيلًا. أَفْعَلُ ذٰلِكَ لِأَنَّنِي أُرِيدُ أَنْ أَسْتَيْقِظَ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Before I sleep, I prepare my bag and read a little. I do that because I want to wake up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noun structures such as </a:t>
            </a:r>
            <a:pPr algn="l" indent="0" marL="0">
              <a:buNone/>
            </a:pPr>
            <a:r>
              <a:rPr lang="ar-SA" altLang="en-US" sz="1800" b="1" dirty="0">
                <a:solidFill>
                  <a:srgbClr val="1F2A37"/>
                </a:solidFill>
                <a:latin typeface="Amiri" pitchFamily="34" charset="0"/>
                <a:ea typeface="Amiri" pitchFamily="34" charset="-122"/>
                <a:cs typeface="Amiri" pitchFamily="34" charset="-120"/>
              </a:rPr>
              <a:t>بَعْدَ المَدْرَسَةِ</a:t>
            </a:r>
            <a:pPr algn="l" indent="0" marL="0">
              <a:buNone/>
            </a:pPr>
            <a:r>
              <a:rPr lang="en-US" sz="1400" b="1" dirty="0">
                <a:solidFill>
                  <a:srgbClr val="1F2A37"/>
                </a:solidFill>
                <a:latin typeface="Calibri" pitchFamily="34" charset="0"/>
                <a:ea typeface="Calibri" pitchFamily="34" charset="-122"/>
                <a:cs typeface="Calibri" pitchFamily="34" charset="-120"/>
              </a:rPr>
              <a:t> and one verb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actions in order: after school, then, after that, before sleep, in the end.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Control the singular subjunctive after </a:t>
            </a:r>
            <a:pPr algn="l" indent="0" marL="0">
              <a:buNone/>
            </a:pPr>
            <a:r>
              <a:rPr lang="ar-SA" altLang="en-US" sz="1800" b="1" dirty="0">
                <a:solidFill>
                  <a:srgbClr val="1F2A37"/>
                </a:solidFill>
                <a:latin typeface="Amiri" pitchFamily="34" charset="0"/>
                <a:ea typeface="Amiri" pitchFamily="34" charset="-122"/>
                <a:cs typeface="Amiri" pitchFamily="34" charset="-120"/>
              </a:rPr>
              <a:t>أَنْ</a:t>
            </a:r>
            <a:pPr algn="l" indent="0" marL="0">
              <a:buNone/>
            </a:pPr>
            <a:r>
              <a:rPr lang="en-US" sz="1400" b="1" dirty="0">
                <a:solidFill>
                  <a:srgbClr val="1F2A37"/>
                </a:solidFill>
                <a:latin typeface="Calibri" pitchFamily="34" charset="0"/>
                <a:ea typeface="Calibri" pitchFamily="34" charset="-122"/>
                <a:cs typeface="Calibri" pitchFamily="34" charset="-120"/>
              </a:rPr>
              <a:t> in a connected paragraph.</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Afternoon and evening: two before/after + verb sentences (fatḥa ending!) and one “twice a week”.</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plural/feminine five-verb forms and explain the grammar choice.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waking to sleeping, one five-verb form without ن, a contrast and a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أَنْ أَعُودَ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I return,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قَبْلَ أَنْ أَسْتَعْمِلَ هَاتِفِي.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before I use my phone.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بِمُجَرَّدِ أَنْ أَنْتَهِيَ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soon as I finish,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أَتَمَرَّنُ ______ فِي الأُسْبُوعِ.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exercise … a week.</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نَذْهَبَ إِلَى النَّوْمِ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we go to sleep, we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النَّوْمِ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sleep I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 أَنَامُ فِي السَّاعَةِ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end I sleep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أَنْ  ·  بَعْدَ أَنْ  ·  عِنْدَمَا  ·  ثُمَّ  ·  بَعْدَ ذٰلِكَ  ·  فِي النِّهَايَةِ  ·  أَعُودَ  ·  أَنَامَ  ·  أَخْرُجَ  ·  أُكْمِلُ وَاجِبِي  ·  أَسْتَرِيحُ  ·  أُسَاعِدُ أُسْرَتِي  ·  مَرَّتَيْنِ  ·  أُحَضِّرُ حَقِيبَتِي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sequencing your school day from waking to sleeping. Use </a:t>
            </a:r>
            <a:pPr algn="l" indent="0" marL="0">
              <a:buNone/>
            </a:pPr>
            <a:r>
              <a:rPr lang="ar-SA" altLang="en-US" sz="1750" b="1" dirty="0">
                <a:solidFill>
                  <a:srgbClr val="1F2A37"/>
                </a:solidFill>
                <a:latin typeface="Amiri" pitchFamily="34" charset="0"/>
                <a:ea typeface="Amiri" pitchFamily="34" charset="-122"/>
                <a:cs typeface="Amiri" pitchFamily="34" charset="-120"/>
              </a:rPr>
              <a:t>قَبْلَ أَنْ</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بَعْدَ أَنْ</a:t>
            </a:r>
            <a:pPr algn="l" indent="0" marL="0">
              <a:buNone/>
            </a:pPr>
            <a:r>
              <a:rPr lang="en-US" sz="1350" b="1" dirty="0">
                <a:solidFill>
                  <a:srgbClr val="1F2A37"/>
                </a:solidFill>
                <a:latin typeface="Calibri" pitchFamily="34" charset="0"/>
                <a:ea typeface="Calibri" pitchFamily="34" charset="-122"/>
                <a:cs typeface="Calibri" pitchFamily="34" charset="-120"/>
              </a:rPr>
              <a:t> accurately.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قَبْلَ أَنْ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بَعْدَ أَنْ</a:t>
            </a:r>
            <a:pPr algn="l" indent="0" marL="0">
              <a:buNone/>
            </a:pPr>
            <a:r>
              <a:rPr lang="en-US" sz="1200" dirty="0">
                <a:solidFill>
                  <a:srgbClr val="1F2A37"/>
                </a:solidFill>
                <a:latin typeface="Calibri" pitchFamily="34" charset="0"/>
                <a:ea typeface="Calibri" pitchFamily="34" charset="-122"/>
                <a:cs typeface="Calibri" pitchFamily="34" charset="-120"/>
              </a:rPr>
              <a:t> at least twice.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five-verb form with the final </a:t>
            </a:r>
            <a:pPr algn="l" indent="0" marL="0">
              <a:buNone/>
            </a:pPr>
            <a:r>
              <a:rPr lang="ar-SA" altLang="en-US" sz="1550" dirty="0">
                <a:solidFill>
                  <a:srgbClr val="1F2A37"/>
                </a:solidFill>
                <a:latin typeface="Amiri" pitchFamily="34" charset="0"/>
                <a:ea typeface="Amiri" pitchFamily="34" charset="-122"/>
                <a:cs typeface="Amiri" pitchFamily="34" charset="-120"/>
              </a:rPr>
              <a:t>ن</a:t>
            </a:r>
            <a:pPr algn="l" indent="0" marL="0">
              <a:buNone/>
            </a:pPr>
            <a:r>
              <a:rPr lang="en-US" sz="1200" dirty="0">
                <a:solidFill>
                  <a:srgbClr val="1F2A37"/>
                </a:solidFill>
                <a:latin typeface="Calibri" pitchFamily="34" charset="0"/>
                <a:ea typeface="Calibri" pitchFamily="34" charset="-122"/>
                <a:cs typeface="Calibri" pitchFamily="34" charset="-120"/>
              </a:rPr>
              <a:t> removed.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frequency and duration.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 contrast between two days or habits.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reasoned judgement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نَذْهَبَ إِلَى النَّوْمِ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we go to sleep (</a:t>
            </a:r>
            <a:pPr algn="r" indent="0" marL="0">
              <a:buNone/>
            </a:pPr>
            <a:r>
              <a:rPr lang="ar-SA" altLang="en-US" sz="1350" dirty="0">
                <a:solidFill>
                  <a:srgbClr val="5A6472"/>
                </a:solidFill>
                <a:latin typeface="Amiri" pitchFamily="34" charset="0"/>
                <a:ea typeface="Amiri" pitchFamily="34" charset="-122"/>
                <a:cs typeface="Amiri" pitchFamily="34" charset="-120"/>
              </a:rPr>
              <a:t>نَذْهَبَ</a:t>
            </a:r>
            <a:pPr algn="r"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أَنْ تُكْمِلِي وَاجِبَكِ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you (f.) finish your homework — no </a:t>
            </a:r>
            <a:pPr algn="r" indent="0" marL="0">
              <a:buNone/>
            </a:pPr>
            <a:r>
              <a:rPr lang="ar-SA" altLang="en-US" sz="1350" dirty="0">
                <a:solidFill>
                  <a:srgbClr val="5A6472"/>
                </a:solidFill>
                <a:latin typeface="Amiri" pitchFamily="34" charset="0"/>
                <a:ea typeface="Amiri" pitchFamily="34" charset="-122"/>
                <a:cs typeface="Amiri" pitchFamily="34" charset="-120"/>
              </a:rPr>
              <a:t>ن</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بَيْنَ العَمَلِ وَالرَّاحَةِ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work and rest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أُقَلِّلَ وَقْتَ الشَّاشَةِ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that I reduce screen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وَبِذٰلِكَ لَا أَضْطَرُّ إِلَى العَجَلَةِ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do not have to rush</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أَنْ أَعُودَ مِنَ المَدْرَسَةِ، أَتَنَاوَلُ وَجْبَةً خَفِيفَةً وَأَسْتَرِيحُ نِصْفَ سَاعَةٍ. ثُمَّ أُكْمِلُ وَاجِبِي قَبْلَ أَنْ أَسْتَعْمِلَ هَاتِفِي. أَتَمَرَّنُ مَرَّتَيْنِ فِي الأُسْبُوعِ، بَيْنَمَا أَقْضِي يَوْمَ الجُمُعَةِ مَعَ أُسْرَتِي. بَعْدَ العَشَاءِ أُرَاجِعُ دُرُوسِي، وَقَبْلَ أَنْ نَذْهَبَ إِلَى النَّوْمِ نُحَضِّرُ أَشْيَاءَنَا لِلْيَوْمِ التَّالِي. فِي رَأْيِي، رُوتِينِي مُفِيدٌ لِأَنَّهُ يَجْمَعُ بَيْنَ العَمَلِ وَالرَّاحَةِ، وَلٰكِنَّ مِنَ الأَفْضَلِ أَنْ أُقَلِّلَ وَقْتَ الشَّاشَةِ.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After I return from school, I have a snack and rest for half an hour. Then I finish my homework before I use my phone. I exercise twice a week, whereas I spend Friday with my family. After dinner I revise my lessons, and before we go to sleep we prepare our things for the next day. In my opinion, my routine is useful because it combines work and rest, but it is better that I reduce screen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verbs with a changed ending after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noun after بَعْدَ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frequency expression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actions are in the right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before/after with a noun (no extra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my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how often (once / twice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dropped the final </a:t>
            </a:r>
            <a:pPr algn="l" indent="0" marL="0">
              <a:buNone/>
            </a:pPr>
            <a:r>
              <a:rPr lang="ar-SA" altLang="en-US" sz="1700" dirty="0">
                <a:solidFill>
                  <a:srgbClr val="1F2A37"/>
                </a:solidFill>
                <a:latin typeface="Amiri" pitchFamily="34" charset="0"/>
                <a:ea typeface="Amiri" pitchFamily="34" charset="-122"/>
                <a:cs typeface="Amiri" pitchFamily="34" charset="-120"/>
              </a:rPr>
              <a:t>ن</a:t>
            </a:r>
            <a:pPr algn="l" indent="0" marL="0">
              <a:buNone/>
            </a:pPr>
            <a:r>
              <a:rPr lang="en-US" sz="1300" dirty="0">
                <a:solidFill>
                  <a:srgbClr val="1F2A37"/>
                </a:solidFill>
                <a:latin typeface="Calibri" pitchFamily="34" charset="0"/>
                <a:ea typeface="Calibri" pitchFamily="34" charset="-122"/>
                <a:cs typeface="Calibri" pitchFamily="34" charset="-120"/>
              </a:rPr>
              <a:t> of a five verb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أَتَعَشَّى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five-verb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تَخْرُجُوا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تَخْرُجُونَ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خَرَجْتُمْ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أَذْهَبَ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ذَهَبْتُ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the subjunctive.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بَعْدَ أَنْ أَتَعَشَّى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أَنَامَ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العَشَاءِ</a:t>
            </a:r>
            <a:pPr algn="l" indent="0" marL="0">
              <a:buNone/>
            </a:pPr>
            <a:r>
              <a:rPr lang="en-US" sz="1050" i="1" dirty="0">
                <a:solidFill>
                  <a:srgbClr val="8A6D1E"/>
                </a:solidFill>
                <a:latin typeface="Calibri" pitchFamily="34" charset="0"/>
                <a:ea typeface="Calibri" pitchFamily="34" charset="-122"/>
                <a:cs typeface="Calibri" pitchFamily="34" charset="-120"/>
              </a:rPr>
              <a:t> is a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five-verb form.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قَبْلَ أَنْ تَخْرُجُوا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تَخْرُجُونَ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خَرَجْتُمْ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Drop final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balanced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تَعْتَقِدُ لَيْلَى أَنَّ المَسَاءَ المُنَظَّمَ يُؤَثِّرُ فِي اليَوْمِ التَّالِي. بَعْدَ المَدْرَسَةِ تَسْتَرِيحُ قَلِيلًا، وَلٰكِنَّهَا لَا تَسْتَعْمِلُ الأَلْعَابَ الإِلِكْتُرُونِيَّةَ قَبْلَ أَنْ تُكْمِلَ وَاجِبَهَا. عِنْدَمَا تَنْتَهِي، تَتَمَرَّنُ أَوْ تَمْشِي مَعَ أُمِّهَا. بَعْدَ العَشَاءِ تُرَاجِعُ مَا سَتَحْتَاجُ إِلَيْهِ فِي المَدْرَسَةِ. تَتَجَنَّبُ المَشْرُوبَاتِ الَّتِي تَحْتَوِي عَلَى الكَافِيِينِ قَبْلَ النَّوْمِ، لِأَنَّهَا تُرِيدُ أَنْ تَنَامَ بِعُمْقٍ. تَقْرَأُ عَشْرَ دَقَائِقَ، ثُمَّ تَخْلُدُ إِلَى النَّوْمِ.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تَعْتَقِدُ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believes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المُنَظَّمَ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يُؤَثِّرُ 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affects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اليَوْمِ التَّالِي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next day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الأَلْعَابَ الإِلِكْتُرُونِيَّةَ</a:t>
            </a:r>
            <a:endParaRPr lang="ar-SA" sz="155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electronic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تَمْشِي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walks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تُرَاجِعُ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reviews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تَتَجَنَّبُ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avoids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الكَافِيِينِ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caffeine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بِعُمْقٍ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deeply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Layla’s main belief?</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games improve homework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organised evening improves the next 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is unnecessary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do before electronic games?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dinner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 homework</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after finishing?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or walk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 coffee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straight to sleep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review after dinner?</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television programme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she needs for school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timetable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avoid caffeine?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sleep deeply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wake later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train harder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shows a calm bedtime routine?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playing games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doing more homework</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for ten minutes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Layla’s main belief?</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games improve homework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organised evening improves the next day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is unnecessary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states that an organised evening affects the next day.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do before electronic games?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dinner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finish homework</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أَنْ تُكْمِلَ وَاجِبَهَا.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after finishing?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exercise or walk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 coffee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 straight to sleep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تَتَمَرَّنُ أَوْ تَمْشِي.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review after dinner?</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television programme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what she needs for school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travel timetable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 سَتَحْتَاجُ إِلَيْهِ فِي المَدْرَسَةِ.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avoid caffeine?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sleep deeply</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wake later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train harder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تُرِيدُ أَنْ تَنَامَ بِعُمْقٍ.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shows a calm bedtime routine?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playing games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doing more homework</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for ten minutes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reads briefly before sleep.</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sentence rescue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“before I leave”.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أَخْرُجَ 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“after we return”.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نَعُودَ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نَعُودُ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نَحْنُ نَعُودَ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___ وَاجِبِي أَسْتَرِيحُ.</a:t>
            </a:r>
            <a:endParaRPr lang="ar-SA"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eat dinner after I finish my homework”?</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أَتَنَاوَلُ العَشَاءَ قَبْلَ وَاجِبِي أَنْ.</a:t>
            </a:r>
            <a:endParaRPr lang="ar-SA" sz="18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بَعْدَ العَشَاءِ أُكْمِلَ أَنْ وَاجِبِي.</a:t>
            </a:r>
            <a:endParaRPr lang="ar-SA" sz="18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أَتَنَاوَلُ العَشَاءَ بَعْدَ أَنْ أُكْمِلَ وَاجِبِي.</a:t>
            </a:r>
            <a:endParaRPr lang="ar-SA" sz="18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“as soon as” sentence.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بِمُجَرَّدِ أَنْ أَنْتَهِيَ أَسْتَرِيحُ.</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بِمُجَرَّدِ أَنَا أَنْتَهِي أَسْتَرِيحُ.</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بِمُجَرَّدِ أَنْ أَنْتَهِيُ أَسْتَرِيحُ.</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أُرَاجِعُ دُرُوسِي أَنَامُ.</a:t>
            </a:r>
            <a:endParaRPr lang="ar-SA"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يُرَاجِعُ دُرُوسِي أَنَامُ.</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أُرَاجِعَ دُرُوسِي أَنَامُ.</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أُرَاجِعَ أَنْ دُرُوسِي أَنَامُ.</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“before I leave”.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أَخْرُجَ 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 the present verb takes the subjunctive ending: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“after we return”.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أَنْ نَعُودَ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نَعُودُ</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نَحْنُ نَعُودَ</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نَعُودُ</a:t>
            </a:r>
            <a:pPr algn="l" indent="0" marL="0">
              <a:buNone/>
            </a:pPr>
            <a:r>
              <a:rPr lang="en-US" sz="1050" i="1" dirty="0">
                <a:solidFill>
                  <a:srgbClr val="8A6D1E"/>
                </a:solidFill>
                <a:latin typeface="Calibri" pitchFamily="34" charset="0"/>
                <a:ea typeface="Calibri" pitchFamily="34" charset="-122"/>
                <a:cs typeface="Calibri" pitchFamily="34" charset="-120"/>
              </a:rPr>
              <a:t> changes to </a:t>
            </a:r>
            <a:pPr algn="l" indent="0" marL="0">
              <a:buNone/>
            </a:pPr>
            <a:r>
              <a:rPr lang="ar-SA" altLang="en-US" sz="1350" dirty="0">
                <a:solidFill>
                  <a:srgbClr val="8A6D1E"/>
                </a:solidFill>
                <a:latin typeface="Amiri" pitchFamily="34" charset="0"/>
                <a:ea typeface="Amiri" pitchFamily="34" charset="-122"/>
                <a:cs typeface="Amiri" pitchFamily="34" charset="-120"/>
              </a:rPr>
              <a:t>نَعُودَ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___ وَاجِبِي أَسْتَرِيحُ.</a:t>
            </a:r>
            <a:endParaRPr lang="ar-SA"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أَكْمَلْتُ</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أُكْمِلَ</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أُكْمِلَ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eat dinner after I finish my homework”?</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 العَشَاءَ قَبْلَ وَاجِبِي أَنْ.</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العَشَاءِ أُكْمِلَ أَنْ وَاجِبِي.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أَتَنَاوَلُ العَشَاءَ بَعْدَ أَنْ أُكْمِلَ وَاجِبِي.</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is clear: main action + </a:t>
            </a:r>
            <a:pPr algn="l" indent="0" marL="0">
              <a:buNone/>
            </a:pPr>
            <a:r>
              <a:rPr lang="ar-SA" altLang="en-US" sz="1350" dirty="0">
                <a:solidFill>
                  <a:srgbClr val="8A6D1E"/>
                </a:solidFill>
                <a:latin typeface="Amiri" pitchFamily="34" charset="0"/>
                <a:ea typeface="Amiri" pitchFamily="34" charset="-122"/>
                <a:cs typeface="Amiri" pitchFamily="34" charset="-120"/>
              </a:rPr>
              <a:t>بَعْدَ أَنْ</a:t>
            </a:r>
            <a:pPr algn="l" indent="0" marL="0">
              <a:buNone/>
            </a:pPr>
            <a:r>
              <a:rPr lang="en-US" sz="1050" i="1" dirty="0">
                <a:solidFill>
                  <a:srgbClr val="8A6D1E"/>
                </a:solidFill>
                <a:latin typeface="Calibri" pitchFamily="34" charset="0"/>
                <a:ea typeface="Calibri" pitchFamily="34" charset="-122"/>
                <a:cs typeface="Calibri" pitchFamily="34" charset="-120"/>
              </a:rPr>
              <a:t> + completed action.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“as soon as” sentence.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بِمُجَرَّدِ أَنْ أَنْتَهِيَ أَسْتَرِيحُ.</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بِمُجَرَّدِ أَنَا أَنْتَهِي أَسْتَرِيحُ.</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بِمُجَرَّدِ أَنْ أَنْتَهِيُ أَسْتَرِيحُ.</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بِمُجَرَّدِ أَنْ</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subjunctive present verb: </a:t>
            </a:r>
            <a:pPr algn="l" indent="0" marL="0">
              <a:buNone/>
            </a:pPr>
            <a:r>
              <a:rPr lang="ar-SA" altLang="en-US" sz="1350" dirty="0">
                <a:solidFill>
                  <a:srgbClr val="8A6D1E"/>
                </a:solidFill>
                <a:latin typeface="Amiri" pitchFamily="34" charset="0"/>
                <a:ea typeface="Amiri" pitchFamily="34" charset="-122"/>
                <a:cs typeface="Amiri" pitchFamily="34" charset="-120"/>
              </a:rPr>
              <a:t>أَنْتَهِيَ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أُرَاجِعُ دُرُوسِي أَنَامُ.</a:t>
            </a:r>
            <a:endParaRPr lang="ar-SA"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يُرَاجِعُ دُرُوسِي أَنَامُ.</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أَنْ أُرَاجِعَ دُرُوسِي أَنَامُ.</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أُرَاجِعَ أَنْ دُرُوسِي أَنَامُ.</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D1-L05 · After School and Evening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أُغَيِّرُ مَلَابِسِي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change my clothes</a:t>
            </a:r>
            <a:pPr indent="0" marL="0">
              <a:buNone/>
            </a:pPr>
            <a:r>
              <a:rPr lang="en-US" sz="1000" i="1" dirty="0">
                <a:solidFill>
                  <a:srgbClr val="5A6472"/>
                </a:solidFill>
                <a:latin typeface="Calibri" pitchFamily="34" charset="0"/>
                <a:ea typeface="Calibri" pitchFamily="34" charset="-122"/>
                <a:cs typeface="Calibri" pitchFamily="34" charset="-120"/>
              </a:rPr>
              <a:t>  he: يُغَيِّرُ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وَجْبَةً خَفِيفَةً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a snack</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أُرَتِّبُ غُرْفَتِي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tidy my room</a:t>
            </a:r>
            <a:pPr indent="0" marL="0">
              <a:buNone/>
            </a:pPr>
            <a:r>
              <a:rPr lang="en-US" sz="1000" i="1" dirty="0">
                <a:solidFill>
                  <a:srgbClr val="5A6472"/>
                </a:solidFill>
                <a:latin typeface="Calibri" pitchFamily="34" charset="0"/>
                <a:ea typeface="Calibri" pitchFamily="34" charset="-122"/>
                <a:cs typeface="Calibri" pitchFamily="34" charset="-120"/>
              </a:rPr>
              <a:t>  he: يُرَتِّبُ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أَغْسِلُ الأَطْبَاقَ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wash the dishes</a:t>
            </a:r>
            <a:pPr indent="0" marL="0">
              <a:buNone/>
            </a:pPr>
            <a:r>
              <a:rPr lang="en-US" sz="1000" i="1" dirty="0">
                <a:solidFill>
                  <a:srgbClr val="5A6472"/>
                </a:solidFill>
                <a:latin typeface="Calibri" pitchFamily="34" charset="0"/>
                <a:ea typeface="Calibri" pitchFamily="34" charset="-122"/>
                <a:cs typeface="Calibri" pitchFamily="34" charset="-120"/>
              </a:rPr>
              <a:t>  he: يَغْسِلُ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لِمُدَّةِ نِصْفِ سَاعَةٍ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half an hour</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between arriving home and going to bed? Put five actions in order.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فِي المَسَاءِ؟</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D1-L04: the picture game “Which comes first?”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afternoon with </a:t>
            </a:r>
            <a:pPr algn="l" indent="0" marL="0">
              <a:buNone/>
            </a:pPr>
            <a:r>
              <a:rPr lang="ar-SA" altLang="en-US" sz="1550" dirty="0">
                <a:solidFill>
                  <a:srgbClr val="1F2A37"/>
                </a:solidFill>
                <a:latin typeface="Amiri" pitchFamily="34" charset="0"/>
                <a:ea typeface="Amiri" pitchFamily="34" charset="-122"/>
                <a:cs typeface="Amiri" pitchFamily="34" charset="-120"/>
              </a:rPr>
              <a:t>قَبْلَ أَنْ / بَعْدَ أَنْ</a:t>
            </a:r>
            <a:pPr algn="l" indent="0" marL="0">
              <a:buNone/>
            </a:pPr>
            <a:r>
              <a:rPr lang="en-US" sz="1200" dirty="0">
                <a:solidFill>
                  <a:srgbClr val="1F2A37"/>
                </a:solidFill>
                <a:latin typeface="Calibri" pitchFamily="34" charset="0"/>
                <a:ea typeface="Calibri" pitchFamily="34" charset="-122"/>
                <a:cs typeface="Calibri" pitchFamily="34" charset="-120"/>
              </a:rPr>
              <a:t> — colour every changed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waking to sleeping.</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D1-L05 · After School and Evening Routine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بَعْدَ المَدْرَسَةِ وَرُوتِينُ المَسَاءِ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no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Verb →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 fatḥa.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D1-L04 · Before and After — Sequencing My Day</dc:title>
  <dc:subject>PptxGenJS Presentation</dc:subject>
  <dc:creator>Al Madina Online School · Arabic Department</dc:creator>
  <cp:lastModifiedBy>Al Madina Online School · Arabic Department</cp:lastModifiedBy>
  <cp:revision>1</cp:revision>
  <dcterms:created xsi:type="dcterms:W3CDTF">2026-09-27T11:07:44Z</dcterms:created>
  <dcterms:modified xsi:type="dcterms:W3CDTF">2026-09-27T11:07:44Z</dcterms:modified>
</cp:coreProperties>
</file>