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D1-L08. The website lesson “Weekend Routine — What Do You Do at the Weekend?”: vocabulary, grammar rules and quiz, patterns, common mistakes, sorter, listening, reading, speaking prompts and model, writing task and model, differentiation, final check and the lesson mission. Picture match: website visual game “Weekend Routine — What Do You Do at the Weekend?”.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weekend activities with a day (يَوْمَ السَّبْتِ …) and one contrast frame learnt as a chunk: أَمَّا فِي نِهَايَةِ الأُسْبُوعِ فَـ …
• Develop: Saturday vs Sunday vs school days, with بَيْنَمَا for another person (recycles D1-L06). Stretch: إِذَا conditions, flexible frequency and an evaluation of balance with evidence.
• Sensitivity: weekends differ a lot between families (work, madrasa, caring duties). Students may invent a weekend — the language is what is assessed.
• Urdu bridge: عطلہ / تعطیل، اقارب، شوق (→ hobby)، مسئولیت / ذمہ داری، توازن.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D1-L07 (you m./f., question words) and D1-L03 (أَمَّا … فَـ).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School days are fixed; the weekend is flexible. Contrast them, and say what depends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تعطیل / تعطیلات (holidays) → عُطْلَةٌ. اقارب (relatives, formal Urdu) → أَقَارِبُ (sg. قَرِيبٌ). توازن → تَوَازُنٌ (balance). مسئولیت (responsibility) → مَسْؤُولِيَّةٌ. FALSE FRIEND: Urdu موسم = weather, but Arabic مَوْسِمٌ = season; weather in Arabic is الطَّقْسُ (حَسَبَ الطَّقْسِ =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(1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time (website vocabulary (2 of 2)). Hear → Say → See → Use. Transliteration is printed for Core students (cover it for Develop/Stretch).
يَوْمُ السَّبْتِ = Saturday; يَوْمَ السَّبْتِ (with fatḥa) = ON Saturday. In the UK the weekend is Saturday–Sunday; in many Arab countries it is Friday–Saturday — ask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Weekend activities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Flexibility and balance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“Contrast school days and weekends” (أَمَّا introduces the new topic and فَـ begins the comment) and website pattern 3.
Website common error: فَأَمَّا السَّبْتُ أَسْتَرِيحُ ✗ → أَمَّا السَّبْتُ فَأَسْتَرِيحُ ✓.
Core: learn row 1 as a chunk. Develop: rows 1–3, changing the activity. Stretch: row 4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“Express a real condition with إِذَا” (the present can describe a repeated or likely condition), “Use flexible frequency precisely” (غَالِبًا مَا، فِي بَعْضِ الأَحْيَانِ، نَادِرًا مَا) and “Contrast two people or activities with بَيْنَمَا”.
Useful chunk for everyone: إِذَا كَانَ لَدَيَّ وَقْتٌ (if I have time) — students learn it whole. Also حَسَبَ الطَّقْسِ (depending on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“Weekend language often describes what usually happens and what changes according to time or circumstances. Combine contrast markers with simple conditional frames to express flexibility.”
• Contrast school days and weekends: أَمَّا introduces the new topic and فَـ begins the comment.
• Contrast two people or activities with بَيْنَمَا: Each verb must agree with its own subject.
• Express a real condition with إِذَا: The present tense can describe a repeated or likely condition.
• Use flexible frequency precisely: These frames describe tendencies without claiming a fixed timetable.
Website common error: Do not place فَـ before أَمَّا. The correct frame is أَمَّا + topic + فَـ + comment. Keep each verb matched to its own subject after بَيْنَمَا.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into a short weekend, with a think-aloud. Students copy it and label each sentence: CONTRAST · FREQUENCY · CONDITION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picture-game sentences (school-day routine) become weekend contrasts. 20 seconds each; chat the letters. Q1–2 target the website’s main error (the position of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volunteers change the activity and say their own weekend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activity according to its main contribution.
Accept reasoned alternatives (helping at home can be family time). Stretch: use the sort to judge balance — which column is emptiest in YOUR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نِهَايَةِ الأُسْبُوعِ لَا أَتَّبِعُ جَدْوَلًا صَارِمًا. صَبَاحَ السَّبْتِ غَالِبًا مَا أُسَاعِدُ أُسْرَتِي، ثُمَّ أَلْتَقِي بِصَدِيقَاتِي إِذَا كَانَ لَدَيَّ وَقْتٌ. أَمَّا مَسَاءُ السَّبْتِ فَأَقْضِيهِ مَعَ أُسْرَتِي. يَوْمَ الأَحَدِ أُرَاجِعُ دُرُوسِي لِمُدَّةِ سَاعَةٍ، بَيْنَمَا يَذْهَبُ أَخِي إِلَى التَّدْرِيبِ. بَعْدَ ذٰلِكَ نَزُورُ جَدَّتَنَا. أُحِبُّ هٰذَا التَّوَازُنَ لِأَنَّنِي أَسْتَرِيحُ وَأَسْتَعِدُّ لِلْأُسْبُوعِ الجَدِيدِ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1, 2, 3 and 5. (Prompt 4 “Which responsibilities do you complete?” is a good extra question for fast finishers.) Remind students to ask a girl with -īna (D1-L07): مَاذَا تَفْعَلِينَ يَوْمَ السَّبْتِ؟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four weekend activities. · Develop — Contrast Saturday, Sunday and school days accurately. · Stretch — Evaluate flexibility and balance through evidence and qualification.
Website writing task (Stretch): Write 100–120 words about your weekend routine and how it differs from school days.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أَمَّا يَوْمُ السَّبْتِ فَأَسْتَيْقِظُ · إِذَا كَانَ لَدَيَّ وَقْتٌ · غَالِبًا مَا، نَادِرًا مَا، لِمُدَّةِ سَاعَةٍ · بَيْنَمَا يُشَاهِدُ أَخِي · مُتَوَازِنَةٌ لِأَنَّهَا تَجْمَعُ … وَلٰكِنَّنِي أُرِيدُ أَنْ أَقْرَأَ أَكْثَرَ (qualification).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(D1-L09 · Reading Daily Routines and Weekly Schedules) will spend class time USING this language, so students prepare it tonight — short, simple, easy to access (school guidance: “Simple, Short, Interesting, Relevant, Easy to access”). The five words come from the website D1-L09 vocabulary (routine texts and schedules, reading evidence).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Weekend Routine — What Do You Do at the Weekend?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رُوتِينُ عُطْلَةِ نِهَايَةِ الأُسْبُوعِ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Contrast the fixed school week with a flexible weekend: </a:t>
            </a:r>
            <a:pPr algn="l" indent="0" marL="0">
              <a:buNone/>
            </a:pPr>
            <a:r>
              <a:rPr lang="ar-SA" altLang="en-US" sz="1800" dirty="0">
                <a:solidFill>
                  <a:srgbClr val="C6D2E6"/>
                </a:solidFill>
                <a:latin typeface="Amiri" pitchFamily="34" charset="0"/>
                <a:ea typeface="Amiri" pitchFamily="34" charset="-122"/>
                <a:cs typeface="Amiri" pitchFamily="34" charset="-120"/>
              </a:rPr>
              <a:t>أَمَّا … فَـ</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“if I have time”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flexible frequency (</a:t>
            </a:r>
            <a:pPr algn="l" indent="0" marL="0">
              <a:buNone/>
            </a:pPr>
            <a:r>
              <a:rPr lang="ar-SA" altLang="en-US" sz="1800" dirty="0">
                <a:solidFill>
                  <a:srgbClr val="C6D2E6"/>
                </a:solidFill>
                <a:latin typeface="Amiri" pitchFamily="34" charset="0"/>
                <a:ea typeface="Amiri" pitchFamily="34" charset="-122"/>
                <a:cs typeface="Amiri" pitchFamily="34" charset="-120"/>
              </a:rPr>
              <a:t>غَالِبًا مَا، فِي بَعْضِ الأَحْيَانِ</a:t>
            </a:r>
            <a:pPr algn="l" indent="0" marL="0">
              <a:buNone/>
            </a:pPr>
            <a:r>
              <a:rPr lang="en-US" sz="1400" dirty="0">
                <a:solidFill>
                  <a:srgbClr val="C6D2E6"/>
                </a:solidFill>
                <a:latin typeface="Calibri" pitchFamily="34" charset="0"/>
                <a:ea typeface="Calibri" pitchFamily="34" charset="-122"/>
                <a:cs typeface="Calibri" pitchFamily="34" charset="-120"/>
              </a:rPr>
              <a:t>) and a judgement about balance.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D1-L08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days vs the weekend; “if I have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day → weekend, sort for balance,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go shopping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 time at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أَزُورُ أَقَارِبِي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meet my friends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visit my relatives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go shopping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free time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weekend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 time at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girl → -īna.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a reason?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D1-L07 question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يَوْمُ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هُوَ يَوْمُ الرَّاحَةِ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a:t>
            </a:r>
            <a:pPr algn="l" indent="0" marL="0">
              <a:buNone/>
            </a:pPr>
            <a:r>
              <a:rPr lang="ar-SA" altLang="en-US" sz="1350" dirty="0">
                <a:solidFill>
                  <a:srgbClr val="8A6D1E"/>
                </a:solidFill>
                <a:latin typeface="Amiri" pitchFamily="34" charset="0"/>
                <a:ea typeface="Amiri" pitchFamily="34" charset="-122"/>
                <a:cs typeface="Amiri" pitchFamily="34" charset="-120"/>
              </a:rPr>
              <a:t>أَمَّا … فَـ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School days are fixed; the weekend is flexible. Contrast them, and say what depends on time.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فِي نِهَايَةِ الأُسْبُوعِ </a:t>
            </a:r>
            <a:pPr rtl="1" algn="ctr" indent="0" marL="0">
              <a:lnSpc>
                <a:spcPct val="120000"/>
              </a:lnSpc>
              <a:buNone/>
            </a:pPr>
            <a:r>
              <a:rPr lang="ar-SA" altLang="en-US" sz="170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أَنَامُ وَقْتًا أَطْوَلَ. </a:t>
            </a:r>
            <a:pPr rtl="1" algn="ctr" indent="0" marL="0">
              <a:lnSpc>
                <a:spcPct val="120000"/>
              </a:lnSpc>
              <a:buNone/>
            </a:pPr>
            <a:r>
              <a:rPr lang="ar-SA" altLang="en-US" sz="170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 كَانَ لَدَيَّ وَقْتٌ أَلْتَقِي بِأَصْدِقَائِي.</a:t>
            </a:r>
            <a:endParaRPr lang="ar-SA" sz="17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weekend and free-time routine language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fixed school-day routines with flexible weekend habits.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أَمَّا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فَـ</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بَيْنَمَا</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غالبًا ما</a:t>
            </a:r>
            <a:pPr algn="l" indent="0" marL="0">
              <a:buNone/>
            </a:pPr>
            <a:r>
              <a:rPr lang="en-US" sz="1300" dirty="0">
                <a:solidFill>
                  <a:srgbClr val="1F2A37"/>
                </a:solidFill>
                <a:latin typeface="Calibri" pitchFamily="34" charset="0"/>
                <a:ea typeface="Calibri" pitchFamily="34" charset="-122"/>
                <a:cs typeface="Calibri" pitchFamily="34" charset="-120"/>
              </a:rPr>
              <a:t> for developed comparison.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Plan and produce a balanced 100–120-word weekend account.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four things I do at the weekend.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contrast school days and the weekend.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Saturday and Sunday separately.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with another person using </a:t>
            </a:r>
            <a:pPr algn="l" indent="0" marL="0">
              <a:buNone/>
            </a:pPr>
            <a:r>
              <a:rPr lang="ar-SA" altLang="en-US" sz="1700" b="1" dirty="0">
                <a:solidFill>
                  <a:srgbClr val="C9780A"/>
                </a:solidFill>
                <a:latin typeface="Amiri" pitchFamily="34" charset="0"/>
                <a:ea typeface="Amiri" pitchFamily="34" charset="-122"/>
                <a:cs typeface="Amiri" pitchFamily="34" charset="-120"/>
              </a:rPr>
              <a:t>بَيْنَمَا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depends on time or weather with </a:t>
            </a:r>
            <a:pPr algn="l" indent="0" marL="0">
              <a:buNone/>
            </a:pPr>
            <a:r>
              <a:rPr lang="ar-SA" altLang="en-US" sz="1700" b="1" dirty="0">
                <a:solidFill>
                  <a:srgbClr val="B83227"/>
                </a:solidFill>
                <a:latin typeface="Amiri" pitchFamily="34" charset="0"/>
                <a:ea typeface="Amiri" pitchFamily="34" charset="-122"/>
                <a:cs typeface="Amiri" pitchFamily="34" charset="-120"/>
              </a:rPr>
              <a:t>إِذَا</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judge whether my weekend is balanced,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time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Weekend activities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Flexibility and balance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عُطْلَةٌ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‎تعطیل‎ </a:t>
            </a:r>
            <a:pPr indent="0" marL="0">
              <a:buNone/>
            </a:pPr>
            <a:r>
              <a:rPr lang="en-US" sz="950" b="1" dirty="0">
                <a:solidFill>
                  <a:srgbClr val="2E8B57"/>
                </a:solidFill>
                <a:latin typeface="Calibri" pitchFamily="34" charset="0"/>
                <a:ea typeface="Calibri" pitchFamily="34" charset="-122"/>
                <a:cs typeface="Calibri" pitchFamily="34" charset="-120"/>
              </a:rPr>
              <a:t> taʿtīl · holiday, break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‎اقارب‎ </a:t>
            </a:r>
            <a:pPr indent="0" marL="0">
              <a:buNone/>
            </a:pPr>
            <a:r>
              <a:rPr lang="en-US" sz="950" b="1" dirty="0">
                <a:solidFill>
                  <a:srgbClr val="2E8B57"/>
                </a:solidFill>
                <a:latin typeface="Calibri" pitchFamily="34" charset="0"/>
                <a:ea typeface="Calibri" pitchFamily="34" charset="-122"/>
                <a:cs typeface="Calibri" pitchFamily="34" charset="-120"/>
              </a:rPr>
              <a:t> aqārib · relatives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‎مسئولیت‎ </a:t>
            </a:r>
            <a:pPr indent="0" marL="0">
              <a:buNone/>
            </a:pPr>
            <a:r>
              <a:rPr lang="en-US" sz="950" b="1" dirty="0">
                <a:solidFill>
                  <a:srgbClr val="2E8B57"/>
                </a:solidFill>
                <a:latin typeface="Calibri" pitchFamily="34" charset="0"/>
                <a:ea typeface="Calibri" pitchFamily="34" charset="-122"/>
                <a:cs typeface="Calibri" pitchFamily="34" charset="-120"/>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الطَّقْسُ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‎موسم‎ </a:t>
            </a:r>
            <a:pPr indent="0" marL="0">
              <a:buNone/>
            </a:pPr>
            <a:r>
              <a:rPr lang="en-US" sz="950" b="1" dirty="0">
                <a:solidFill>
                  <a:srgbClr val="2E8B57"/>
                </a:solidFill>
                <a:latin typeface="Calibri" pitchFamily="34" charset="0"/>
                <a:ea typeface="Calibri" pitchFamily="34" charset="-122"/>
                <a:cs typeface="Calibri" pitchFamily="34" charset="-120"/>
              </a:rPr>
              <a:t> mausam · Urdu: weather · Arabic مَوْسِمٌ: season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عُطْلَةُ نِهَايَةِ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weekend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ʿuṭ-la-tu ni-hā-ya-ti al-us-bū-ʿi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السَّبْتِ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as-sab-ti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الأَحَدِ</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 al-a-ḥa-di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 السَّبْتِ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Saturday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ṣa-bā-ḥu as-sab-ti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 الأَحَدِ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Sunday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ma-sā-ʾu al-a-ḥa-di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نِهَايَةِ الأُسْبُوعِ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the weekend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ni-hā-ya-ti al-us-bū-ʿi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خِلَالَ العُطْلَةِ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 the break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khi-lā-la al-ʿuṭ-la-ti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مُعْظَمَ الوَقْتِ</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most of the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muʿ-ẓa-ma al-waq-ti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أَنَامُ وَقْتًا أَطْوَلَ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sleep longer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a-nā-mu waq-tan aṭ-wa-la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نَنَامُ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تَنَامُ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يَنَامُ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أَقَارِبِي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a-qā-ri-bī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قَرِيبٌ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أَلْتَقِي بِأَصْدِقَائِي</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meet friends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al-ta-qī bi-ʾaṣ-di-qā-ʾī</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الحَدِيقَةِ</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park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al-ḥa-dī-qa-ti</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77" name="Shape 7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9" name="Shape 7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1" name="Text 7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أَتَسَوَّقُ</a:t>
            </a:r>
            <a:endParaRPr lang="ar-SA" sz="3000" dirty="0"/>
          </a:p>
        </p:txBody>
      </p:sp>
      <p:sp>
        <p:nvSpPr>
          <p:cNvPr id="82" name="Text 7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a-ta-saw-wa-qu</a:t>
            </a:r>
            <a:endParaRPr lang="en-US" sz="1350" dirty="0"/>
          </a:p>
        </p:txBody>
      </p:sp>
      <p:sp>
        <p:nvSpPr>
          <p:cNvPr id="83" name="Shape 8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85" name="Text 8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نَتَسَوَّقُ</a:t>
            </a:r>
            <a:endParaRPr lang="ar-SA" sz="1500" dirty="0"/>
          </a:p>
        </p:txBody>
      </p:sp>
      <p:sp>
        <p:nvSpPr>
          <p:cNvPr id="86" name="Shape 8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8" name="Text 8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تَتَسَوَّقُ</a:t>
            </a:r>
            <a:endParaRPr lang="ar-SA" sz="1500" dirty="0"/>
          </a:p>
        </p:txBody>
      </p:sp>
      <p:sp>
        <p:nvSpPr>
          <p:cNvPr id="89" name="Shape 8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0" name="Text 8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91" name="Text 88"/>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يَتَسَوَّقُ</a:t>
            </a:r>
            <a:endParaRPr lang="ar-SA" sz="1500" dirty="0"/>
          </a:p>
        </p:txBody>
      </p:sp>
      <p:sp>
        <p:nvSpPr>
          <p:cNvPr id="92" name="Text 8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activities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فِي البَيْتِ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at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fī al-bay-ti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مَا تَعَلَّمْتُهُ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what I learned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mā ta-ʿal-lam-tu-hu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أُخَطِّطُ لِلْأُسْبُوعِ</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plan the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u-khaṭ-ṭi-ṭu lil-ʾus-bū-ʿi</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نُخَطِّطُ</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تُخَطِّطُ</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يُخَطِّطُ</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أُمَارِسُ هِوَايَتِي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practise my hobby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u-mā-ri-su hi-wā-ya-tī</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هِوَايَاتٌ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hobby</a:t>
            </a:r>
            <a:endParaRPr lang="en-US" sz="700" dirty="0"/>
          </a:p>
        </p:txBody>
      </p:sp>
      <p:sp>
        <p:nvSpPr>
          <p:cNvPr id="59" name="Text 5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هِوَايَةٌ</a:t>
            </a:r>
            <a:endParaRPr lang="ar-SA" sz="135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يُمَارِسُ هِوَايَتَهُ</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أَقْضِي وَقْتًا فِي الخَارِجِ</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spend time 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aq-ḍī waq-tan fī al-khā-ri-ji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mā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الأَحْيَانِ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some occasions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al-aḥ-yā-ni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 كَانَ لَدَيَّ وَقْتٌ</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 have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 kā-na la-day-ya waq-tun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حَسَبَ الطَّقْسِ / الظُّرُوفِ</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depending on weather/circumstances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ḥa-sa-ba aṭ-ṭaq-si / aẓ-ẓu-rū-fi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Shape 3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2" name="Text 3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خُطَّةٌ مُرِنَةٌ</a:t>
            </a:r>
            <a:endParaRPr lang="ar-SA" sz="3000" dirty="0"/>
          </a:p>
        </p:txBody>
      </p:sp>
      <p:sp>
        <p:nvSpPr>
          <p:cNvPr id="43" name="Text 4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flexible plan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khuṭ-ṭa-tun mu-ri-na-tun</a:t>
            </a:r>
            <a:endParaRPr lang="en-US" sz="1350" dirty="0"/>
          </a:p>
        </p:txBody>
      </p:sp>
      <p:sp>
        <p:nvSpPr>
          <p:cNvPr id="44" name="Shape 4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plans</a:t>
            </a:r>
            <a:endParaRPr lang="en-US" sz="700" dirty="0"/>
          </a:p>
        </p:txBody>
      </p:sp>
      <p:sp>
        <p:nvSpPr>
          <p:cNvPr id="46" name="Text 43"/>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خُطَطٌ مَرِنَةٌ</a:t>
            </a:r>
            <a:endParaRPr lang="ar-SA" sz="1350" dirty="0"/>
          </a:p>
        </p:txBody>
      </p:sp>
      <p:sp>
        <p:nvSpPr>
          <p:cNvPr id="47" name="Shape 4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9" name="Text 4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مَرِنَةٌ</a:t>
            </a:r>
            <a:endParaRPr lang="ar-SA" sz="1500" dirty="0"/>
          </a:p>
        </p:txBody>
      </p:sp>
      <p:sp>
        <p:nvSpPr>
          <p:cNvPr id="50" name="Shape 4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2" name="Text 4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Flexibility and balance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al-fa-rā-ghi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تَوَازُنٌ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رَاحَةٌ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rā-ḥa-tun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اِخْتِيَارٌ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choice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ikh-ti-yā-run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SCHOOL DAYS VS THE WEEKEND (WEBSITE RULE)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School days … as for the weekend …</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فَـ…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School days</a:t>
            </a:r>
            <a:endParaRPr lang="en-US" sz="1100" dirty="0"/>
          </a:p>
        </p:txBody>
      </p:sp>
      <p:sp>
        <p:nvSpPr>
          <p:cNvPr id="17" name="Text 14"/>
          <p:cNvSpPr txBox="1"/>
          <p:nvPr/>
        </p:nvSpPr>
        <p:spPr>
          <a:xfrm>
            <a:off x="293522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 for the weekend …</a:t>
            </a:r>
            <a:endParaRPr lang="en-US" sz="1100" dirty="0"/>
          </a:p>
        </p:txBody>
      </p:sp>
      <p:sp>
        <p:nvSpPr>
          <p:cNvPr id="18" name="Text 15"/>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Contrast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أَيَّامِ الدِّرَاسَةِ أَسْتَيْقِظُ مُبَكِّرًا،</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On school days I wake up early,</a:t>
            </a:r>
            <a:endParaRPr lang="en-US" sz="950" dirty="0"/>
          </a:p>
        </p:txBody>
      </p:sp>
      <p:sp>
        <p:nvSpPr>
          <p:cNvPr id="22" name="Text 19"/>
          <p:cNvSpPr txBox="1"/>
          <p:nvPr/>
        </p:nvSpPr>
        <p:spPr>
          <a:xfrm>
            <a:off x="2953512" y="2286000"/>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نِهَايَةِ الأُسْبُوعِ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أَنَامُ وَقْتًا أَطْوَلَ.</a:t>
            </a:r>
            <a:endParaRPr lang="ar-SA" sz="2100" dirty="0"/>
          </a:p>
        </p:txBody>
      </p:sp>
      <p:sp>
        <p:nvSpPr>
          <p:cNvPr id="23" name="Text 20"/>
          <p:cNvSpPr txBox="1"/>
          <p:nvPr/>
        </p:nvSpPr>
        <p:spPr>
          <a:xfrm>
            <a:off x="2907792" y="2706624"/>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weekend, I sleep longer.</a:t>
            </a:r>
            <a:endParaRPr lang="en-US" sz="95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early / longer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أَذْهَبُ إِلَى المَدْرَسَةِ،</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go to school,</a:t>
            </a:r>
            <a:endParaRPr lang="en-US" sz="950" dirty="0"/>
          </a:p>
        </p:txBody>
      </p:sp>
      <p:sp>
        <p:nvSpPr>
          <p:cNvPr id="30" name="Text 27"/>
          <p:cNvSpPr txBox="1"/>
          <p:nvPr/>
        </p:nvSpPr>
        <p:spPr>
          <a:xfrm>
            <a:off x="2953512" y="3072384"/>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السَّبْتِ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أَزُورُ أَقَارِبِي.</a:t>
            </a:r>
            <a:endParaRPr lang="ar-SA" sz="2100" dirty="0"/>
          </a:p>
        </p:txBody>
      </p:sp>
      <p:sp>
        <p:nvSpPr>
          <p:cNvPr id="31" name="Text 28"/>
          <p:cNvSpPr txBox="1"/>
          <p:nvPr/>
        </p:nvSpPr>
        <p:spPr>
          <a:xfrm>
            <a:off x="2907792" y="3493008"/>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Saturday, I visit my relatives.</a:t>
            </a:r>
            <a:endParaRPr lang="en-US" sz="950" dirty="0"/>
          </a:p>
        </p:txBody>
      </p:sp>
      <p:sp>
        <p:nvSpPr>
          <p:cNvPr id="32" name="Text 29"/>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 / family</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أُرَاجِعُ دُرُوسِي يَوْمِيًّا،</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revise my lessons daily,</a:t>
            </a:r>
            <a:endParaRPr lang="en-US" sz="950" dirty="0"/>
          </a:p>
        </p:txBody>
      </p:sp>
      <p:sp>
        <p:nvSpPr>
          <p:cNvPr id="38" name="Text 35"/>
          <p:cNvSpPr txBox="1"/>
          <p:nvPr/>
        </p:nvSpPr>
        <p:spPr>
          <a:xfrm>
            <a:off x="2953512" y="3858768"/>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يَوْمُ الأَحَدِ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أُرَاجِعُ لِمُدَّةِ سَاعَةٍ فَقَطْ.</a:t>
            </a:r>
            <a:endParaRPr lang="ar-SA" sz="2100" dirty="0"/>
          </a:p>
        </p:txBody>
      </p:sp>
      <p:sp>
        <p:nvSpPr>
          <p:cNvPr id="39" name="Text 36"/>
          <p:cNvSpPr txBox="1"/>
          <p:nvPr/>
        </p:nvSpPr>
        <p:spPr>
          <a:xfrm>
            <a:off x="2907792" y="4279392"/>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Sunday, I revise for one hour only.</a:t>
            </a:r>
            <a:endParaRPr lang="en-US" sz="950" dirty="0"/>
          </a:p>
        </p:txBody>
      </p:sp>
      <p:sp>
        <p:nvSpPr>
          <p:cNvPr id="40" name="Text 37"/>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daily / one hour</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أَتَّبِعُ جَدْوَلًا ثَابِتًا،</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follow a fixed timetable,</a:t>
            </a:r>
            <a:endParaRPr lang="en-US" sz="950" dirty="0"/>
          </a:p>
        </p:txBody>
      </p:sp>
      <p:sp>
        <p:nvSpPr>
          <p:cNvPr id="44" name="Text 41"/>
          <p:cNvSpPr txBox="1"/>
          <p:nvPr/>
        </p:nvSpPr>
        <p:spPr>
          <a:xfrm>
            <a:off x="2953512" y="4645152"/>
            <a:ext cx="457200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فِي العُطْلَةِ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خُطَّتِي مَرِنَةٌ.</a:t>
            </a:r>
            <a:endParaRPr lang="ar-SA" sz="2100" dirty="0"/>
          </a:p>
        </p:txBody>
      </p:sp>
      <p:sp>
        <p:nvSpPr>
          <p:cNvPr id="45" name="Text 42"/>
          <p:cNvSpPr txBox="1"/>
          <p:nvPr/>
        </p:nvSpPr>
        <p:spPr>
          <a:xfrm>
            <a:off x="2907792" y="5065776"/>
            <a:ext cx="46634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 for the break, my plan is flexible.</a:t>
            </a:r>
            <a:endParaRPr lang="en-US" sz="950" dirty="0"/>
          </a:p>
        </p:txBody>
      </p:sp>
      <p:sp>
        <p:nvSpPr>
          <p:cNvPr id="46" name="Text 43"/>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fixed / flexible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“as for” comes FIRST, then the topic, then fa- joined to the comment. Never fa- before “as for”.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2 · FLEXIBLE PLANS (WEBSITE RULES) · DEVELOP / STRETCH</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If I have time … often … sometimes …</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غَالِبًا مَا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CONDITION · STRETCH</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إِذَا كَانَ لَدَيَّ وَقْتٌ أُمَارِسُ هِوَايَتِي.</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have time, I practise my hobby.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if + present,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غَالِبًا مَا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غَالِبًا مَا أَزُورُ أَقَارِبِي يَوْمَ السَّبْتِ.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often visit relatives on Saturday.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tendency, not a timetable.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TWO PEOPLE · DEVELOP</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أَزُورُ أَقَارِبِي، بَيْنَمَا تَلْتَقِي أُخْتِي بِصَدِيقَاتِهَا.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 relatives, whereas my sister meets her friends.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Each verb matches its subject.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use a clear repeated-condition frame.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كَانَ لَدَيَّ وَقْتٌ أَذْهَبُ.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لَدَيَّ وَقْتٌ ذَهَبْتُ دَائِمًا.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Contrast, conditional routine and flexible frequency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المُقَابَلَةُ وَالشَّرْطُ وَالتَّكْرَارُ المَرِنُ</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Contrast school days and weekends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أَيَّامِ الدِّرَاسَةِ ... أَمَّا فِي نِهَايَةِ الأُسْبُوعِ فَـ...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فَأَنَامُ وَقْتًا أَطْوَلَ.</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Contrast two people or activities with </a:t>
            </a:r>
            <a:pPr algn="l" indent="0" marL="0">
              <a:buNone/>
            </a:pPr>
            <a:r>
              <a:rPr lang="ar-SA" altLang="en-US" sz="1650" b="1" dirty="0">
                <a:solidFill>
                  <a:srgbClr val="1B3B6F"/>
                </a:solidFill>
                <a:latin typeface="Amiri" pitchFamily="34" charset="0"/>
                <a:ea typeface="Amiri" pitchFamily="34" charset="-122"/>
                <a:cs typeface="Amiri" pitchFamily="34" charset="-120"/>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clause + </a:t>
            </a:r>
            <a:pPr algn="l" indent="0" marL="0">
              <a:buNone/>
            </a:pPr>
            <a:r>
              <a:rPr lang="ar-SA" altLang="en-US" sz="1350" dirty="0">
                <a:solidFill>
                  <a:srgbClr val="5A6472"/>
                </a:solidFill>
                <a:latin typeface="Amiri" pitchFamily="34" charset="0"/>
                <a:ea typeface="Amiri" pitchFamily="34" charset="-122"/>
                <a:cs typeface="Amiri" pitchFamily="34" charset="-120"/>
              </a:rPr>
              <a:t>بَيْنَمَا</a:t>
            </a:r>
            <a:pPr algn="l" indent="0" marL="0">
              <a:buNone/>
            </a:pPr>
            <a:r>
              <a:rPr lang="en-US" sz="1050" dirty="0">
                <a:solidFill>
                  <a:srgbClr val="5A6472"/>
                </a:solidFill>
                <a:latin typeface="Calibri" pitchFamily="34" charset="0"/>
                <a:ea typeface="Calibri" pitchFamily="34" charset="-122"/>
                <a:cs typeface="Calibri" pitchFamily="34" charset="-120"/>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أَزُورُ أَقَارِبِي، بَيْنَمَا تَلْتَقِي أُخْتِي بِصَدِيقَاتِهَا.   ·   أُرَاجِعُ صَبَاحًا، بَيْنَمَا أَسْتَرِيحُ مَسَاءً.</a:t>
            </a:r>
            <a:endParaRPr lang="ar-SA" sz="19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a real condition with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present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كَانَ لَدَيَّ وَقْتٌ أَذْهَبُ إِلَى الحَدِيقَةِ.   ·   إِذَا أَكْمَلْتُ وَاجِبِي أَلْتَقِي بِأَصْدِقَائِي.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Use flexible frequency precisely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غَالِبًا مَا · فِي بَعْضِ الأَحْيَانِ · نَادِرًا 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غَالِبًا مَا أَزُورُ جَدَّتِي.   ·   فِي بَعْضِ الأَحْيَانِ أَتَسَوَّقُ مَعَ أُسْرَتِي.   ·   نَادِرًا مَا أَبْقَى فِي البَيْتِ طَوَالَ اليَوْمِ.</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جَدَّتِي، بَيْنَمَا يَلْتَقِي أُخْتِي.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أَزُورُ بَيْنَمَا أُخْتِي أَلْتَقِي.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 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الحَدِيقَةِ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الوَقْتَ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غَالِبًا 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مَا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 أَبَدًا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أَمَّا يَوْمُ السَّبْتِ ___ أَسْتَرِيحُ.</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contrast.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أَزُورُ جَدَّتِي، بَيْنَمَا تَلْتَقِي أُخْتِي بِصَدِيقَاتِهَا.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جَدَّتِي، بَيْنَمَا يَلْتَقِي أُخْتِي.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أَزُورُ بَيْنَمَا أُخْتِي أَلْتَقِي.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Each clause has accurate subject–verb agreement.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كَانَ لَدَيَّ وَقْتٌ، ___.</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 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الحَدِيقَةِ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الوَقْتَ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repeated real condition can use present tense.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“often”?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غَالِبًا 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 مَا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 أَبَدًا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غَالِبًا مَا</a:t>
            </a:r>
            <a:pPr algn="l" indent="0" marL="0">
              <a:buNone/>
            </a:pPr>
            <a:r>
              <a:rPr lang="en-US" sz="1050" i="1" dirty="0">
                <a:solidFill>
                  <a:srgbClr val="8A6D1E"/>
                </a:solidFill>
                <a:latin typeface="Calibri" pitchFamily="34" charset="0"/>
                <a:ea typeface="Calibri" pitchFamily="34" charset="-122"/>
                <a:cs typeface="Calibri" pitchFamily="34" charset="-120"/>
              </a:rPr>
              <a:t> = often.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weekend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يَوْمُ السَّبْتِ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فَـ</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أَنَامُ وَقْتًا أَطْوَلَ.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 for + topic + fa-.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 often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غَالِبًا 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أَزُورُ أَقَارِبِي بَعْدَ الظُّهْرِ.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tendency.</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إِذَا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كَانَ لَدَيَّ وَقْتٌ أَلْتَقِي بِأَصْدِقَائِي.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depends on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Judgement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عُطْلَتِي مُتَوَازِنَةٌ لِأَنَّهَا تَجْمَعُ بَيْنَ الرَّاحَةِ وَالمَسْؤُولِيَّةِ.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Opinion + evidence.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AS FOR … FA-</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FREQUENCY</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أَيَّامِ الدِّرَاسَةِ أَسْتَيْقِظُ مُبَكِّرًا،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يَوْمُ السَّبْتِ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فَـ</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أَنَامُ وَقْتًا أَطْوَلَ.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غَالِبًا 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أَزُورُ أَقَارِبِي بَعْدَ الظُّهْرِ،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لَدَيَّ وَقْتٌ أَلْتَقِي بِأَصْدِقَائِي. يَوْمَ الأَحَدِ أُخَطِّطُ لِلْأُسْبُوعِ. عُطْلَتِي مُتَوَازِنَةٌ لِأَنَّهَا تَجْمَعُ بَيْنَ الرَّاحَةِ وَالمَسْؤُولِيَّةِ.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On school days I wake up early; as for Saturday, I sleep longer. I often visit my relatives in the afternoon, and if I have time I meet my friends. On Sunday I plan the week. My weekend is balanced because it combines rest and responsibility.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غَالِبًا مَا أَزُورُ أَقَارِبِي يَوْمَ السَّبْتِ.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often visit relatives on Saturday.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Flexible frequency.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كَانَ لَدَيَّ وَقْتٌ أُمَارِسُ هِوَايَتِي.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have time, I practise my hobby.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Real recurring condition.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أَمَّا يَوْمُ الأَحَدِ فَأُخَطِّطُ لِلْأُسْبُوعِ.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As for Sunday, I plan the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Topic 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تَوَازُنًا بَيْنَ الرَّاحَةِ وَالمَسْؤُولِيَّةِ.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balance between rest and responsibility.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Evaluation language.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SCHOOL DAY → WEEKEND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أَمَّا فِي نِهَايَةِ الأُسْبُوعِ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أَزُورُ أَقَارِبِي.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 يَوْمُ السَّبْتِ فَأَزُورُ أَقَارِبِي.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يَوْمُ السَّبْتِ فَأَمَّا أَزُورُ أَقَارِبِي.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لَدَيَّ وَقْتٌ مَارَسْتُ دَائِمًا.</a:t>
            </a:r>
            <a:endParaRPr lang="ar-SA" sz="200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لِأَنَّ كَانَ لَدَيَّ وَقْتٌ.</a:t>
            </a:r>
            <a:endParaRPr lang="ar-SA" sz="200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كَانَ لَدَيَّ وَقْتٌ أُمَارِسُ هِوَايَتِي.</a:t>
            </a:r>
            <a:endParaRPr lang="ar-SA" sz="200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يَتَمَرَّنُ أَخِي.</a:t>
            </a:r>
            <a:endParaRPr lang="ar-SA" sz="180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تَتَمَرَّنُ أَخِي.</a:t>
            </a:r>
            <a:endParaRPr lang="ar-SA" sz="180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أَنَامُ وَقْتًا أَطْوَلَ، بَيْنَمَا أَتَمَرَّنُ أَخِي.</a:t>
            </a:r>
            <a:endParaRPr lang="ar-SA" sz="180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SCHOOL DAY → WEEKEND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at the weekend: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صَبَاحًا مُبَكِّرًا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فَأَمَّا فِي نِهَايَةِ الأُسْبُوعِ أَسْتَيْقِظُ مُتَأَخِّرًا.</a:t>
            </a:r>
            <a:endParaRPr lang="ar-SA" sz="16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فِي نِهَايَةِ الأُسْبُوعِ فَأَسْتَيْقِظُ مُتَأَخِّرًا.</a:t>
            </a:r>
            <a:endParaRPr lang="ar-SA" sz="16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أَمَّا فِي نِهَايَةِ الأُسْبُوعِ أَسْتَيْقِظُ فَمُتَأَخِّرًا.</a:t>
            </a:r>
            <a:endParaRPr lang="ar-SA" sz="16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As for + topic, then fa- on the verb.</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accurate?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أَذْهَبُ إِلَى المَدْرَسَةِ …</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 يَوْمُ السَّبْتِ أَزُورُ أَقَارِبِي.</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 يَوْمُ السَّبْتِ فَأَزُورُ أَقَارِبِي.</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يَوْمُ السَّبْتِ فَأَمَّا أَزُورُ أَقَارِبِي.</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 is needed before the comment.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flexible plan is accurate?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أَدْرُسُ بَعْدَ المَدْرَسَةِ …</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لَدَيَّ وَقْتٌ مَارَسْتُ دَائِمًا.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أُمَارِسُ هِوَايَتِي.</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“If I have time” as a whole chunk.</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Contrast with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أَنَامُ لَيْلًا …</a:t>
            </a:r>
            <a:endParaRPr lang="ar-SA" sz="15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أَنَامُ وَقْتًا أَطْوَلَ، بَيْنَمَا يَتَمَرَّنُ أَخِي.</a:t>
            </a:r>
            <a:endParaRPr lang="ar-SA" sz="170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تَتَمَرَّنُ أَخِي.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وَقْتًا أَطْوَلَ، بَيْنَمَا أَتَمَرَّنُ أَخِي.</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My brother → ya-.</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Pattern: as for + the weekend + fa- + verb.</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“if I have time” as one chunk.</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balance board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Rest and enjoyment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أَنَامُ وَقْتًا أَطْوَلَ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أُمَارِسُ هِوَايَتِي</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Responsibility and preparation</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أُرَاجِعُ مَا تَعَلَّمْتُهُ</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أُخَطِّطُ لِلْأُسْبُوعِ</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فِي البَيْتِ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Social and family time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أَزُورُ أَقَارِبِي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أَلْتَقِي بِأَصْدِقَائِي</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أَقْضِي وَقْتًا مَعَ أُسْرَتِي</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أَنَامُ فَقَطْ.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الوَاجِبُ بَيْنَمَا السَّبْتُ.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أَلْتَقِي بِأَصْدِقَائِي فِي السَّابِعَةِ كُلَّ يَوْمٍ دُونَ تَغْيِيرٍ.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أَكْمَلْتُ وَاجِبِي أَلْتَقِي بِأَصْدِقَائِي.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أَفْعَلُ شَيْئًا.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مَرَّةً وَاحِدَةً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الوَقْتِ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مُعْظَمَ الوَقْتِ</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balanced weekend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أَنَامُ فَقَطْ.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الوَاجِبُ بَيْنَمَا السَّبْتُ.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أَسْتَرِيحُ، وَلٰكِنَّنِي أُخَصِّصُ وَقْتًا لِلْوَاجِبِ أَيْضًا.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combines rest and responsibility.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___ فِي العُطْلَةِ فَأَسْتَيْقِظُ مُتَأَخِّرًا.</a:t>
            </a:r>
            <a:endParaRPr lang="ar-SA" sz="10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contrasting topic.</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flexible plan.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أَلْتَقِي بِأَصْدِقَائِي فِي السَّابِعَةِ كُلَّ يَوْمٍ دُونَ تَغْيِيرٍ.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أَكْمَلْتُ وَاجِبِي أَلْتَقِي بِأَصْدِقَائِي.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أَفْعَلُ شَيْئًا.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condition makes the plan flexible.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“most of the time”?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مَرَّةً وَاحِدَةً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الوَقْتِ</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مُعْظَمَ الوَقْتِ</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مُعْظَمَ الوَقْتِ</a:t>
            </a:r>
            <a:pPr algn="l" indent="0" marL="0">
              <a:buNone/>
            </a:pPr>
            <a:r>
              <a:rPr lang="en-US" sz="1050" i="1" dirty="0">
                <a:solidFill>
                  <a:srgbClr val="8A6D1E"/>
                </a:solidFill>
                <a:latin typeface="Calibri" pitchFamily="34" charset="0"/>
                <a:ea typeface="Calibri" pitchFamily="34" charset="-122"/>
                <a:cs typeface="Calibri" pitchFamily="34" charset="-120"/>
              </a:rPr>
              <a:t> = most of the time.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فَأَمَّا السَّبْتُ أَسْتَرِيحُ.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fa- belong: before “as for” or before the comment?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بَيْنَمَا أُخْتِي يَلْتَقِي.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أُخْتِي</a:t>
            </a:r>
            <a:pPr algn="l" indent="0" marL="0">
              <a:buNone/>
            </a:pPr>
            <a:r>
              <a:rPr lang="en-US" sz="1300" i="1" dirty="0">
                <a:solidFill>
                  <a:srgbClr val="5A6472"/>
                </a:solidFill>
                <a:latin typeface="Calibri" pitchFamily="34" charset="0"/>
                <a:ea typeface="Calibri" pitchFamily="34" charset="-122"/>
                <a:cs typeface="Calibri" pitchFamily="34" charset="-120"/>
              </a:rPr>
              <a:t> is feminine.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لَدَيَّ وَقْتٌ ذَهَبْتُ دَائِمًا.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 the whole chunk “if I have time”.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فَأَمَّا السَّبْتُ أَسْتَرِيحُ.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 السَّبْتُ فَأَسْتَرِيحُ.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Place </a:t>
            </a:r>
            <a:pPr algn="l" indent="0" marL="0">
              <a:buNone/>
            </a:pPr>
            <a:r>
              <a:rPr lang="ar-SA" altLang="en-US" sz="1500" b="1" dirty="0">
                <a:solidFill>
                  <a:srgbClr val="1B3B6F"/>
                </a:solidFill>
                <a:latin typeface="Amiri" pitchFamily="34" charset="0"/>
                <a:ea typeface="Amiri" pitchFamily="34" charset="-122"/>
                <a:cs typeface="Amiri" pitchFamily="34" charset="-120"/>
              </a:rPr>
              <a:t>فَـ</a:t>
            </a:r>
            <a:pPr algn="l" indent="0" marL="0">
              <a:buNone/>
            </a:pPr>
            <a:r>
              <a:rPr lang="en-US" sz="1150" b="1" dirty="0">
                <a:solidFill>
                  <a:srgbClr val="1B3B6F"/>
                </a:solidFill>
                <a:latin typeface="Calibri" pitchFamily="34" charset="0"/>
                <a:ea typeface="Calibri" pitchFamily="34" charset="-122"/>
                <a:cs typeface="Calibri" pitchFamily="34" charset="-120"/>
              </a:rPr>
              <a:t> before the comment.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بَيْنَمَا أُخْتِي يَلْتَقِي.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بَيْنَمَا أُخْتِي تَلْتَقِي.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subject takes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لَدَيَّ وَقْتٌ ذَهَبْتُ دَائِمًا.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كَانَ لَدَيَّ وَقْتٌ أَذْهَبُ.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 coherent repeated-condition frame.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Plans that may change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 Saturday evening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grandmother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finishing training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school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avoids family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school days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نِهَايَةِ الأُسْبُوعِ لَا أَتَّبِعُ جَدْوَلًا صَارِمًا.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weekend I don’t follow a strict timetable.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صَبَاحَ السَّبْتِ غَالِبًا مَا أُسَاعِدُ أُسْرَتِي، ثُمَّ أَلْتَقِي بِصَدِيقَاتِي إِذَا كَانَ لَدَيَّ وَقْتٌ.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Saturday morning I often help my family, then I meet my friends if I have time.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مَسَاءُ السَّبْتِ فَأَقْضِيهِ مَعَ أُسْرَتِي.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Saturday evening, I spend it with my family.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يَوْمَ الأَحَدِ أُرَاجِعُ دُرُوسِي لِمُدَّةِ سَاعَةٍ، بَيْنَمَا يَذْهَبُ أَخِي إِلَى التَّدْرِيبِ. بَعْدَ ذٰلِكَ نَزُورُ جَدَّتَنَا.</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Sunday I revise for an hour, whereas my brother goes to training. After that we visit our grandmother.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هٰذَا التَّوَازُنَ لِأَنَّنِي أَسْتَرِيحُ وَأَسْتَعِدُّ لِلْأُسْبُوعِ الجَدِيدِ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this balance because I rest and also get ready for the new week.</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weekend timetable strict?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 Saturday evening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أَتَّبِعُ جَدْوَلًا صَارِمًا.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 morning?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grandmother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helping the family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أُسَاعِدُ أُسْرَتِي.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condition affects meeting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finishing training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school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having time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كَانَ لَدَيَّ وَقْتٌ.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Sunday revision?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routine liked?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avoids family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balances rest and preparation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school days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أَسْتَرِيحُ وَأَسْتَعِدُّ ... أَيْضًا.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لَا أَتَّبِعُ جَدْوَلًا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غَالِبًا مَا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لِمُدَّةِ سَاعَةٍ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Discuss and evaluate your weekend</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عَادَةً يَوْمَ السَّبْتِ؟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يَخْتَلِفُ يَوْمُ الأَحَدِ؟</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إِذَا كَانَ لَدَيْكَ وَقْتٌ؟</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عُطْلَتُكَ مُتَوَازِنَةٌ؟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يَوْمَ السَّبْتِ ___ ، وَيَوْمَ الأَحَدِ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أَمَّا يَوْمُ الأَحَدِ فَـ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كَانَ لَدَيَّ وَقْتٌ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عُطْلَتِي مُتَوَازِنَةٌ / غَيْرُ مُتَوَازِنَةٍ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عُطْلَتُكَ مُنَظَّمَةٌ؟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your weekend organised?</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لَيْسَتْ صَارِمَةً، وَلٰكِنَّنِي أُخَصِّصُ وَقْتًا لِلرَّاحَةِ وَالوَاجِبِ. إِذَا كَانَ لَدَيَّ وَقْتٌ أَلْتَقِي بِأَصْدِقَائِي.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isn’t strict, but I set aside time for rest and homework. If I have time, I meet my friends.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Describe four weekend activities.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weekend activities with a day, and one sentence “as for the weekend …” from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Saturday, Sunday and school days accurately.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Saturday vs Sunday vs school days; one contrast with another person (whereas).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flexibility and balance through evidence and qualification.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both days, as for … fa-, whereas, an “if” condition, three frequency expressions and an evaluation of balance.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فِي أَيَّامِ الدِّرَاسَةِ ______ ، أَمَّا يَوْمُ السَّبْتِ فَـ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school days I …, as for Saturday, I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غَالِبًا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often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الأَحْيَانِ أَتَسَوَّقُ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Sometimes I go shopping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لَدَيَّ وَقْتٌ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have time, I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تَـ ______ أُخْتِي.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my sister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السَّبْتِ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Saturday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الأَحَدِ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Sunday I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نِهَايَةِ الأُسْبُوعِ أَنَامُ وَقْتًا أَطْوَلَ.</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weekend I sleep longer.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أَقَارِبِي / أَلْتَقِي بِأَصْدِقَائِي.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relatives / meet my friends.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نِهَايَةِ الأُسْبُوعِ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weekend, I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يَوْمَ السَّبْتِ  ·  يَوْمَ الأَحَدِ  ·  أَمَّا … فَـ  ·  بَيْنَمَا  ·  إِذَا كَانَ لَدَيَّ وَقْتٌ  ·  غَالِبًا مَا  ·  نَادِرًا مَا  ·  أَزُورُ أَقَارِبِي  ·  أَتَسَوَّقُ  ·  أُمَارِسُ هِوَايَتِي  ·  أُخَطِّطُ لِلْأُسْبُوعِ  ·  تَوَازُنٌ</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weekend routine and how it differs from school days.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Describe Saturday and Sunday separately.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أَمَّا</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فَـ</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 real condition with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three frequency expressions.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Evaluate the balance of rest, family, study and free time.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أَتَّبِعُ جَدْوَلًا صَارِمًا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don’t follow a strict timetable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كَانَ الطَّقْسُ مُنَاسِبًا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the weather is suitable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نَادِرًا مَا أَقْضِي اليَوْمَ كُلَّهُ فِي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rarely spend the whole day at home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تَجْمَعُ بَيْنَ الرَّاحَةِ وَالأُسْرَةِ وَالمَسْؤُولِيَّةِ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rest, family and responsibility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وَلٰكِنَّنِي أُرِيدُ أَنْ أَقْرَأَ 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 want to read more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يَخْتَلِفُ رُوتِينِي فِي نِهَايَةِ الأُسْبُوعِ عَنْ أَيَّامِ الدِّرَاسَةِ. أَمَّا يَوْمُ السَّبْتِ فَأَسْتَيْقِظُ مُتَأَخِّرًا قَلِيلًا، ثُمَّ أُسَاعِدُ أُسْرَتِي فِي البَيْتِ. غَالِبًا مَا أَزُورُ أَقَارِبِي فِي بَعْدِ الظُّهْرِ، وَإِذَا كَانَ لَدَيَّ وَقْتٌ أَلْتَقِي بِأَصْدِقَائِي. فِي المَسَاءِ أُمَارِسُ هِوَايَتِي، بَيْنَمَا يُشَاهِدُ أَخِي الرِّيَاضَةَ. يَوْمَ الأَحَدِ أُرَاجِعُ دُرُوسِي لِمُدَّةِ سَاعَةٍ وَأُحَضِّرُ حَقِيبَتِي. نَادِرًا مَا أَقْضِي اليَوْمَ كُلَّهُ فِي البَيْتِ. فِي رَأْيِي، عُطْلَتِي مُتَوَازِنَةٌ لِأَنَّهَا تَجْمَعُ بَيْنَ الرَّاحَةِ وَالأُسْرَةِ وَالمَسْؤُولِيَّةِ، وَلٰكِنَّنِي أُرِيدُ أَنْ أَقْرَأَ أَكْثَرَ.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weekend routine is different from school days. As for Saturday, I wake up a little late, then I help my family at home. I often visit my relatives in the afternoon, and if I have time I meet my friends. In the evening I practise my hobby, whereas my brother watches sport. On Sunday I revise my lessons for an hour and prepare my bag. I rarely spend the whole day at home. In my opinion, my weekend is balanced because it combines rest, family and responsibility, but I want to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أَمَّا … فَـ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“if” condition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frequency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 with 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about both Saturday and Sunday.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“as for … fa-” in the right order.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“whereas”, the verb matches the new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flexible frequency expressions.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“if” and judged the balance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كَانَ لَدَيَّ وَقْتٌ.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الوَقْتُ خَرَجْتُ أَمْسِ.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أَمَّا السَّبْتُ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أَسْتَرِيحُ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before the comment.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real condition.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 كَانَ لَدَيَّ وَقْتٌ.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كَانَ لَدَيَّ وَقْتٌ أَخْرُجُ.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الوَقْتُ خَرَجْتُ أَمْسِ.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a coherent repeated condition.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تُشَاهِدُ أَخِي.</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أَقْرَأُ بَيْنَمَا أَخِي أُشَاهِدُ.</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brother takes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weekend with choices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يَخْتَلِفُ رُوتِينُ عُطْلَتِي عَنْ رُوتِينِي فِي أَيَّامِ الدِّرَاسَةِ. أَمَّا يَوْمُ السَّبْتِ فَأَسْتَيْقِظُ فِي الثَّامِنَةِ، وَغَالِبًا مَا أَذْهَبُ إِلَى السُّوقِ مَعَ أُمِّي. إِذَا كَانَ الطَّقْسُ مُنَاسِبًا نَمْشِي فِي الحَدِيقَةِ، وَإِذَا كُنَّا مُتْعَبِينَ نَعُودُ إِلَى البَيْتِ مُبَكِّرًا. فِي المَسَاءِ أُمَارِسُ هِوَايَتِي، بَيْنَمَا يُشَاهِدُ أَخِي مُبَارَاةً. يَوْمَ الأَحَدِ أُرَاجِعُ دُرُوسِي وَأُحَضِّرُ حَقِيبَتِي لِلْمَدْرَسَةِ. لَا أُرِيدُ أَنْ يَكُونَ كُلُّ وَقْتِي دِرَاسَةً، وَلَا أَنْ يَكُونَ كُلُّهُ رَاحَةً؛ فَالتَّوَازُنُ يُسَاعِدُنِي عَلَى بَدْءِ الأُسْبُوعِ بِنَشَاطٍ.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يَخْتَلِفُ … عَنْ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 from</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السُّوقِ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إِذَا كَانَ الطَّقْسُ مُنَاسِبًا</a:t>
            </a:r>
            <a:endParaRPr lang="ar-SA" sz="145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the weather is suitable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مُتْعَبِينَ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tired (pl.)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مُبَارَاةً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match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أُحَضِّرُ حَقِيبَتِي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prepare my bag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 وَقْتِي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my time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دِرَاسَةً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study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فَالتَّوَازُنُ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balance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بِنَشَاطٍ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energetically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less like the fixed school routine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contains no responsibilities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lessons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with brother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marks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 prices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practises the writer’s hobby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prepares a school bag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 and school preparation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 day of 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should contain only study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routines must be strict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supports an energetic start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weekend differ?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starts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less like the fixed school routine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it contains no responsibilities</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opening contrasts the routines.</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often happens Saturday?</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lessons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 with brother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shopping with mother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أَذْهَبُ إِلَى السُّوقِ مَعَ أُمِّي.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affects the park walk?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weather and tiredness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homework marks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 prices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Two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clauses give conditions.</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do in the evening?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practises the writer’s hobby</a:t>
            </a:r>
            <a:endParaRPr lang="en-US" sz="11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watches a match</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prepares a school bag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يُشَاهِدُ أَخِي مُبَارَاةً.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Sunday?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revision and school preparation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 day of 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shopping only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أُرَاجِعُ ... وَأُحَضِّرُ حَقِيبَتِي.</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final message?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should contain only study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all routines must be strict</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supports an energetic start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conclusion values balance.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Weekend comparison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نَوْمٌ أَطْوَلُ</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فَأَنَامُ وَقْتًا أَطْوَلَ</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فِي النِّهَايَةِ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يُشَاهِدُ أَخِي مُبَارَاةً.</a:t>
            </a:r>
            <a:endParaRPr lang="ar-SA" sz="200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تُشَاهِدُ أَخِي مُبَارَاةً.</a:t>
            </a:r>
            <a:endParaRPr lang="ar-SA" sz="200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أَقْرَأُ بَيْنَمَا أَخِي أُشَاهِدُ.</a:t>
            </a:r>
            <a:endParaRPr lang="ar-SA" sz="200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الوَقْتُ ذَهَبْتُ أَمْسِ.</a:t>
            </a:r>
            <a:endParaRPr lang="ar-SA" sz="17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لِأَنَّ كَانَ لَدَيَّ وَقْتٌ أَذْهَبُ.</a:t>
            </a:r>
            <a:endParaRPr lang="ar-SA" sz="17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كَانَ لَدَيَّ وَقْتٌ أَذْهَبُ إِلَى الحَدِيقَةِ.</a:t>
            </a:r>
            <a:endParaRPr lang="ar-SA" sz="17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دَائِمًا لَا أَبْقَى أَبَدًا.</a:t>
            </a:r>
            <a:endParaRPr lang="ar-SA" sz="17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يَلْتَقِي بِأَصْدِقَائِهِ.</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يَنَامُ طَوَالَ اليَوْمِ.</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يَذْهَبُ إِلَى المَدْرَسَةِ.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عُطْلَةٌ جَيِّدَةٌ.</a:t>
            </a:r>
            <a:endParaRPr lang="ar-SA" sz="13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السَّبْتُ وَالأَحَدُ.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فِي أَيَّامِ الدِّرَاسَةِ أَسْتَيْقِظُ مُبَكِّرًا، أَمَّا فِي نِهَايَةِ الأُسْبُوعِ ___.</a:t>
            </a:r>
            <a:endParaRPr lang="ar-SA"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نَوْمٌ أَطْوَلُ</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فَأَنَامُ وَقْتًا أَطْوَلَ</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فِي النِّهَايَةِ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weekend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begins the complete comment.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contrast and agreement.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أَقْرَأُ، بَيْنَمَا يُشَاهِدُ أَخِي مُبَارَاةً.</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تُشَاهِدُ أَخِي مُبَارَاةً.</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أَقْرَأُ بَيْنَمَا أَخِي أُشَاهِدُ.</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أَخِي</a:t>
            </a:r>
            <a:pPr algn="l" indent="0" marL="0">
              <a:buNone/>
            </a:pPr>
            <a:r>
              <a:rPr lang="en-US" sz="1050" i="1" dirty="0">
                <a:solidFill>
                  <a:srgbClr val="8A6D1E"/>
                </a:solidFill>
                <a:latin typeface="Calibri" pitchFamily="34" charset="0"/>
                <a:ea typeface="Calibri" pitchFamily="34" charset="-122"/>
                <a:cs typeface="Calibri" pitchFamily="34" charset="-120"/>
              </a:rPr>
              <a:t> is masculine, so its verb is </a:t>
            </a:r>
            <a:pPr algn="l" indent="0" marL="0">
              <a:buNone/>
            </a:pPr>
            <a:r>
              <a:rPr lang="ar-SA" altLang="en-US" sz="1350" dirty="0">
                <a:solidFill>
                  <a:srgbClr val="8A6D1E"/>
                </a:solidFill>
                <a:latin typeface="Amiri" pitchFamily="34" charset="0"/>
                <a:ea typeface="Amiri" pitchFamily="34" charset="-122"/>
                <a:cs typeface="Amiri" pitchFamily="34" charset="-120"/>
              </a:rPr>
              <a:t>يُشَاهِدُ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repeated condition.</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الوَقْتُ ذَهَبْتُ أَمْسِ.</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كَانَ لَدَيَّ وَقْتٌ أَذْهَبُ.</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كَانَ لَدَيَّ وَقْتٌ أَذْهَبُ إِلَى الحَدِيقَةِ.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a repeated or likely condition, use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 present situation + present result.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seldom stay at home all day”?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غَالِبًا مَا أَبْقَى فِي البَيْتِ طَوَالَ اليَوْمِ.</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دَائِمًا لَا أَبْقَى أَبَدًا.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مَا أَبْقَى فِي البَيْتِ طَوَالَ اليَوْمِ.</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نَادِرًا مَا</a:t>
            </a:r>
            <a:pPr algn="l" indent="0" marL="0">
              <a:buNone/>
            </a:pPr>
            <a:r>
              <a:rPr lang="en-US" sz="1050" i="1" dirty="0">
                <a:solidFill>
                  <a:srgbClr val="8A6D1E"/>
                </a:solidFill>
                <a:latin typeface="Calibri" pitchFamily="34" charset="0"/>
                <a:ea typeface="Calibri" pitchFamily="34" charset="-122"/>
                <a:cs typeface="Calibri" pitchFamily="34" charset="-120"/>
              </a:rPr>
              <a:t> expresses “seldom / rarely”.</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صَبَاحَ السَّبْتِ أُرَاجِعُ دُرُوسِي، ثُمَّ أَلْتَقِي بِأَصْدِقَائِي</a:t>
            </a:r>
            <a:pPr algn="l" indent="0" marL="0">
              <a:buNone/>
            </a:pPr>
            <a:r>
              <a:rPr lang="en-US" sz="1000" b="1" dirty="0">
                <a:solidFill>
                  <a:srgbClr val="1F2A37"/>
                </a:solidFill>
                <a:latin typeface="Calibri" pitchFamily="34" charset="0"/>
                <a:ea typeface="Calibri" pitchFamily="34" charset="-122"/>
                <a:cs typeface="Calibri" pitchFamily="34" charset="-120"/>
              </a:rPr>
              <a:t>. What happens after revision?</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يَلْتَقِي بِأَصْدِقَائِهِ.</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يَنَامُ طَوَالَ اليَوْمِ.</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إِلَى المَدْرَسَةِ.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a:t>
            </a:r>
            <a:pPr algn="l" indent="0" marL="0">
              <a:buNone/>
            </a:pPr>
            <a:r>
              <a:rPr lang="en-US" sz="1050" i="1" dirty="0">
                <a:solidFill>
                  <a:srgbClr val="8A6D1E"/>
                </a:solidFill>
                <a:latin typeface="Calibri" pitchFamily="34" charset="0"/>
                <a:ea typeface="Calibri" pitchFamily="34" charset="-122"/>
                <a:cs typeface="Calibri" pitchFamily="34" charset="-120"/>
              </a:rPr>
              <a:t> signals the next action: meeting friends.</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evaluation of a balanced weekend.</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عُطْلَةٌ جَيِّدَةٌ.</a:t>
            </a:r>
            <a:endParaRPr lang="ar-SA" sz="135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عُطْلَتِي مُتَوَازِنَةٌ لِأَنَّنِي أَسْتَرِيحُ وَأُكْمِلُ مَسْؤُولِيَّاتِي.</a:t>
            </a:r>
            <a:endParaRPr lang="ar-SA" sz="135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السَّبْتُ وَالأَحَدُ.</a:t>
            </a:r>
            <a:endParaRPr lang="ar-SA" sz="135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answer gives a clear evaluation and supports it with two relevant details.</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D1-L08 · Weekend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D1-L09 · Reading Daily Routines and Weekly Schedules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 أُسْبُوعِيٌّ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weekly schedule</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البَدْءِ</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start time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مَوْعِدُ الاِنْتِهَاءِ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finish time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الدَّلِيلُ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حَسَبَ الجَدْوَلِ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according to the schedule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your own school timetable. Which day is the busiest, and how do you know?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يَوْمٍ اِنْشِغَالًا فِي جَدْوَلِكَ؟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D1-L08: the vocabulary tab and the sorter “Weekend balance board”.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Saturday, Sunday and one contrast with a family member.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weekend and how it differs from school days.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ea typeface="Cambria" pitchFamily="34" charset="-122"/>
                <a:cs typeface="Cambria" pitchFamily="34" charset="-120"/>
              </a:rPr>
              <a:t>D1-L09 · Reading Daily Routines and Weekly Schedules</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الرُّوتِينِ وَالجَدَاوِلِ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as for + topic + fa- + comment.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D1-L08 · Weekend Routine — What Do You Do at the Weekend?</dc:title>
  <dc:subject>PptxGenJS Presentation</dc:subject>
  <dc:creator>Al Madina Online School · Arabic Department</dc:creator>
  <cp:lastModifiedBy>Al Madina Online School · Arabic Department</cp:lastModifiedBy>
  <cp:revision>1</cp:revision>
  <dcterms:created xsi:type="dcterms:W3CDTF">2026-09-27T11:20:28Z</dcterms:created>
  <dcterms:modified xsi:type="dcterms:W3CDTF">2026-09-27T11:20:28Z</dcterms:modified>
</cp:coreProperties>
</file>