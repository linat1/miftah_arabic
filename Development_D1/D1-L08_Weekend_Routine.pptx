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D1-L08. The website lesson “Weekend Routine — What Do You Do at the Weekend?”: vocabulary, grammar rules and quiz, patterns, common mistakes, sorter, listening, reading, speaking prompts and model, writing task and model, differentiation, final check and the lesson mission. Picture match: website visual game “Weekend Routine — What Do You Do at the Weekend?”.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weekend activities with a day (يَوْمَ السَّبْتِ …) and one contrast frame learnt as a chunk: أَمَّا فِي نِهَايَةِ الأُسْبُوعِ فَـ …
• Develop: Saturday vs Sunday vs school days, with بَيْنَمَا for another person (recycles D1-L06). Stretch: إِذَا conditions, flexible frequency and an evaluation of balance with evidence.
• Sensitivity: weekends differ a lot between families (work, madrasa, caring duties). Students may invent a weekend — the language is what is assessed.
• Urdu bridge: عطلہ / تعطیل، اقارب، شوق (→ hobby)، مسئولیت / ذمہ داری، توازن.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D1-L07 (you m./f., question words) and D1-L03 (أَمَّا … فَـ).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School days are fixed; the weekend is flexible. Contrast them, and say what depends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تعطیل / تعطیلات (holidays) → عُطْلَةٌ. اقارب (relatives, formal Urdu) → أَقَارِبُ (sg. قَرِيبٌ). توازن → تَوَازُنٌ (balance). مسئولیت (responsibility) → مَسْؤُولِيَّةٌ. FALSE FRIEND: Urdu موسم = weather, but Arabic مَوْسِمٌ = season; weather in Arabic is الطَّقْسُ (حَسَبَ الطَّقْسِ = depending on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time (website vocabulary (1 of 2)). Hear → Say → See → Use. Transliteration is printed for Core students (cover it for Develop/Stretch).
يَوْمُ السَّبْتِ = Saturday; يَوْمَ السَّبْتِ (with fatḥa) = ON Saturday. In the UK the weekend is Saturday–Sunday; in many Arab countries it is Friday–Saturday — ask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time (website vocabulary (2 of 2)). Hear → Say → See → Use. Transliteration is printed for Core students (cover it for Develop/Stretch).
يَوْمُ السَّبْتِ = Saturday; يَوْمَ السَّبْتِ (with fatḥa) = ON Saturday. In the UK the weekend is Saturday–Sunday; in many Arab countries it is Friday–Saturday — ask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activities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activities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Flexibility and balance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Flexibility and balance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“Contrast school days and weekends” (أَمَّا introduces the new topic and فَـ begins the comment) and website pattern 3.
Website common error: فَأَمَّا السَّبْتُ أَسْتَرِيحُ ✗ → أَمَّا السَّبْتُ فَأَسْتَرِيحُ ✓.
Core: learn row 1 as a chunk. Develop: rows 1–3, changing the activity. Stretch: row 4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“Express a real condition with إِذَا” (the present can describe a repeated or likely condition), “Use flexible frequency precisely” (غَالِبًا مَا، فِي بَعْضِ الأَحْيَانِ، نَادِرًا مَا) and “Contrast two people or activities with بَيْنَمَا”.
Useful chunk for everyone: إِذَا كَانَ لَدَيَّ وَقْتٌ (if I have time) — students learn it whole. Also حَسَبَ الطَّقْسِ (depending on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“Weekend language often describes what usually happens and what changes according to time or circumstances. Combine contrast markers with simple conditional frames to express flexibility.”
• Contrast school days and weekends: أَمَّا introduces the new topic and فَـ begins the comment.
• Contrast two people or activities with بَيْنَمَا: Each verb must agree with its own subject.
• Express a real condition with إِذَا: The present tense can describe a repeated or likely condition.
• Use flexible frequency precisely: These frames describe tendencies without claiming a fixed timetable.
Website common error: Do not place فَـ before أَمَّا. The correct frame is أَمَّا + topic + فَـ + comment. Keep each verb matched to its own subject after بَيْنَمَا.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a short weekend, with a think-aloud. Students copy it and label each sentence: CONTRAST · FREQUENCY · CONDITION ·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picture-game sentences (school-day routine) become weekend contrasts. 20 seconds each; chat the letters. Q1–2 target the website’s main error (the position of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volunteers change the activity and say their own weekend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activity according to its main contribution.
Accept reasoned alternatives (helping at home can be family time). Stretch: use the sort to judge balance — which column is emptiest in YOUR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activity according to its main contribution.
Accept reasoned alternatives (helping at home can be family time). Stretch: use the sort to judge balance — which column is emptiest in YOUR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فِي نِهَايَةِ الأُسْبُوعِ لَا أَتَّبِعُ جَدْوَلًا صَارِمًا. صَبَاحَ السَّبْتِ غَالِبًا مَا أُسَاعِدُ أُسْرَتِي، ثُمَّ أَلْتَقِي بِصَدِيقَاتِي إِذَا كَانَ لَدَيَّ وَقْتٌ. أَمَّا مَسَاءُ السَّبْتِ فَأَقْضِيهِ مَعَ أُسْرَتِي. يَوْمَ الأَحَدِ أُرَاجِعُ دُرُوسِي لِمُدَّةِ سَاعَةٍ، بَيْنَمَا يَذْهَبُ أَخِي إِلَى التَّدْرِيبِ. بَعْدَ ذٰلِكَ نَزُورُ جَدَّتَنَا. أُحِبُّ هٰذَا التَّوَازُنَ لِأَنَّنِي أَسْتَرِيحُ وَأَسْتَعِدُّ لِلْأُسْبُوعِ الجَدِيدِ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1, 2, 3 and 5. (Prompt 4 “Which responsibilities do you complete?” is a good extra question for fast finishers.) Remind students to ask a girl with -īna (D1-L07): مَاذَا تَفْعَلِينَ يَوْمَ السَّبْتِ؟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four weekend activities. · Develop — Contrast Saturday, Sunday and school days accurately. · Stretch — Evaluate flexibility and balance through evidence and qualification.
Website writing task (Stretch): Write 100–120 words about your weekend routine and how it differs from school days.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أَمَّا يَوْمُ السَّبْتِ فَأَسْتَيْقِظُ · إِذَا كَانَ لَدَيَّ وَقْتٌ · غَالِبًا مَا، نَادِرًا مَا، لِمُدَّةِ سَاعَةٍ · بَيْنَمَا يُشَاهِدُ أَخِي · مُتَوَازِنَةٌ لِأَنَّهَا تَجْمَعُ … وَلٰكِنَّنِي أُرِيدُ أَنْ أَقْرَأَ أَكْثَرَ (qualification).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(D1-L09 · Reading Daily Routines and Weekly Schedules) will spend class time USING this language, so students prepare it tonight — short, simple, easy to access (school guidance: “Simple, Short, Interesting, Relevant, Easy to access”). The five words come from the website D1-L09 vocabulary (routine texts and schedules, reading evidence).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Weekend Routine — What Do You Do at the Weekend?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رُوتِينُ عُطْلَةِ نِهَايَةِ الأُسْبُوعِ — مَاذَا تَفْعَلُ؟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Contrast the fixed school week with a flexible weekend: </a:t>
            </a:r>
            <a:pPr algn="l" indent="0" marL="0">
              <a:buNone/>
            </a:pPr>
            <a:r>
              <a:rPr lang="ar-SA" altLang="en-US" sz="1800" dirty="0">
                <a:solidFill>
                  <a:srgbClr val="C6D2E6"/>
                </a:solidFill>
                <a:latin typeface="Amiri" pitchFamily="34" charset="0"/>
                <a:ea typeface="Amiri" pitchFamily="34" charset="-122"/>
                <a:cs typeface="Amiri" pitchFamily="34" charset="-120"/>
              </a:rPr>
              <a:t>أَمَّا … فَـ</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بَيْنَمَا</a:t>
            </a:r>
            <a:pPr algn="l" indent="0" marL="0">
              <a:buNone/>
            </a:pPr>
            <a:r>
              <a:rPr lang="en-US" sz="1400" dirty="0">
                <a:solidFill>
                  <a:srgbClr val="C6D2E6"/>
                </a:solidFill>
                <a:latin typeface="Calibri" pitchFamily="34" charset="0"/>
                <a:ea typeface="Calibri" pitchFamily="34" charset="-122"/>
                <a:cs typeface="Calibri" pitchFamily="34" charset="-120"/>
              </a:rPr>
              <a:t>, “if I have time” with </a:t>
            </a:r>
            <a:pPr algn="l" indent="0" marL="0">
              <a:buNone/>
            </a:pPr>
            <a:r>
              <a:rPr lang="ar-SA" altLang="en-US" sz="1800" dirty="0">
                <a:solidFill>
                  <a:srgbClr val="C6D2E6"/>
                </a:solidFill>
                <a:latin typeface="Amiri" pitchFamily="34" charset="0"/>
                <a:ea typeface="Amiri" pitchFamily="34" charset="-122"/>
                <a:cs typeface="Amiri" pitchFamily="34" charset="-120"/>
              </a:rPr>
              <a:t>إِذَا</a:t>
            </a:r>
            <a:pPr algn="l" indent="0" marL="0">
              <a:buNone/>
            </a:pPr>
            <a:r>
              <a:rPr lang="en-US" sz="1400" dirty="0">
                <a:solidFill>
                  <a:srgbClr val="C6D2E6"/>
                </a:solidFill>
                <a:latin typeface="Calibri" pitchFamily="34" charset="0"/>
                <a:ea typeface="Calibri" pitchFamily="34" charset="-122"/>
                <a:cs typeface="Calibri" pitchFamily="34" charset="-120"/>
              </a:rPr>
              <a:t>, flexible frequency (</a:t>
            </a:r>
            <a:pPr algn="l" indent="0" marL="0">
              <a:buNone/>
            </a:pPr>
            <a:r>
              <a:rPr lang="ar-SA" altLang="en-US" sz="1800" dirty="0">
                <a:solidFill>
                  <a:srgbClr val="C6D2E6"/>
                </a:solidFill>
                <a:latin typeface="Amiri" pitchFamily="34" charset="0"/>
                <a:ea typeface="Amiri" pitchFamily="34" charset="-122"/>
                <a:cs typeface="Amiri" pitchFamily="34" charset="-120"/>
              </a:rPr>
              <a:t>غَالِبًا مَا، فِي بَعْضِ الأَحْيَانِ</a:t>
            </a:r>
            <a:pPr algn="l" indent="0" marL="0">
              <a:buNone/>
            </a:pPr>
            <a:r>
              <a:rPr lang="en-US" sz="1400" dirty="0">
                <a:solidFill>
                  <a:srgbClr val="C6D2E6"/>
                </a:solidFill>
                <a:latin typeface="Calibri" pitchFamily="34" charset="0"/>
                <a:ea typeface="Calibri" pitchFamily="34" charset="-122"/>
                <a:cs typeface="Calibri" pitchFamily="34" charset="-120"/>
              </a:rPr>
              <a:t>) and a judgement about balance.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D1-L08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School days vs the weekend; “if I have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School day → weekend, sort for balance,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أَزُورُ أَقَارِبِي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meet my friends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visit my relatives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shopping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وَقْتُ الفَرَاغِ</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 time at school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do you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يَفْعَلُ؟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a reason?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يَوْمُ السَّبْتِ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هُوَ يَوْمُ الرَّاحَةِ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أَزُورُ أَقَارِبِي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meet my friends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visit my relatives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go shopping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وَقْتُ الفَرَاغِ</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free time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 time at school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do you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تَفْعَلُ؟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يَفْعَلُ؟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تَفْعَلِينَ؟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D1-L07: girl → -īna.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a reason?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D1-L07 question words.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يَوْمُ السَّبْتِ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هُوَ يَوْمُ الرَّاحَةِ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a:t>
            </a:r>
            <a:pPr algn="l" indent="0" marL="0">
              <a:buNone/>
            </a:pPr>
            <a:r>
              <a:rPr lang="ar-SA" altLang="en-US" sz="1350" dirty="0">
                <a:solidFill>
                  <a:srgbClr val="8A6D1E"/>
                </a:solidFill>
                <a:latin typeface="Amiri" pitchFamily="34" charset="0"/>
                <a:ea typeface="Amiri" pitchFamily="34" charset="-122"/>
                <a:cs typeface="Amiri" pitchFamily="34" charset="-120"/>
              </a:rPr>
              <a:t>أَمَّا … فَـ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School days are fixed; the weekend is flexible. Contrast them, and say what depends on time.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34" charset="0"/>
                <a:ea typeface="Amiri" pitchFamily="34" charset="-122"/>
                <a:cs typeface="Amiri" pitchFamily="34" charset="-120"/>
              </a:rPr>
              <a:t>أَمَّا</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فِي نِهَايَةِ الأُسْبُوعِ </a:t>
            </a:r>
            <a:pPr rtl="1" algn="ctr" indent="0" marL="0">
              <a:lnSpc>
                <a:spcPct val="120000"/>
              </a:lnSpc>
              <a:buNone/>
            </a:pPr>
            <a:r>
              <a:rPr lang="ar-SA" altLang="en-US" sz="1700" b="1" dirty="0">
                <a:solidFill>
                  <a:srgbClr val="0E7C86"/>
                </a:solidFill>
                <a:latin typeface="Amiri" pitchFamily="34" charset="0"/>
                <a:ea typeface="Amiri" pitchFamily="34" charset="-122"/>
                <a:cs typeface="Amiri" pitchFamily="34" charset="-120"/>
              </a:rPr>
              <a:t>فَأَنَامُ</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وَقْتًا أَطْوَلَ. </a:t>
            </a:r>
            <a:pPr rtl="1" algn="ctr" indent="0" marL="0">
              <a:lnSpc>
                <a:spcPct val="120000"/>
              </a:lnSpc>
              <a:buNone/>
            </a:pPr>
            <a:r>
              <a:rPr lang="ar-SA" altLang="en-US" sz="1700" b="1" dirty="0">
                <a:solidFill>
                  <a:srgbClr val="1D5FBF"/>
                </a:solidFill>
                <a:latin typeface="Amiri" pitchFamily="34" charset="0"/>
                <a:ea typeface="Amiri" pitchFamily="34" charset="-122"/>
                <a:cs typeface="Amiri" pitchFamily="34" charset="-120"/>
              </a:rPr>
              <a:t>إِذَا</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كَانَ لَدَيَّ وَقْتٌ أَلْتَقِي بِأَصْدِقَائِي.</a:t>
            </a:r>
            <a:endParaRPr lang="ar-SA" sz="17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weekend and free-time routine language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fixed school-day routines with flexible weekend habits.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أَمَّا</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فَـ</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غالبًا ما</a:t>
            </a:r>
            <a:pPr algn="l" indent="0" marL="0">
              <a:buNone/>
            </a:pPr>
            <a:r>
              <a:rPr lang="en-US" sz="1300" dirty="0">
                <a:solidFill>
                  <a:srgbClr val="1F2A37"/>
                </a:solidFill>
                <a:latin typeface="Calibri" pitchFamily="34" charset="0"/>
                <a:ea typeface="Calibri" pitchFamily="34" charset="-122"/>
                <a:cs typeface="Calibri" pitchFamily="34" charset="-120"/>
              </a:rPr>
              <a:t> for developed comparison.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and produce a balanced 100–120-word weekend account.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four things I do at the weekend.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contrast school days and the weekend.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Saturday and Sunday separately.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with another person using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say what depends on time or weather with </a:t>
            </a:r>
            <a:pPr algn="l" indent="0" marL="0">
              <a:buNone/>
            </a:pPr>
            <a:r>
              <a:rPr lang="ar-SA" altLang="en-US" sz="1700" b="1" dirty="0">
                <a:solidFill>
                  <a:srgbClr val="B83227"/>
                </a:solidFill>
                <a:latin typeface="Amiri" pitchFamily="34" charset="0"/>
                <a:ea typeface="Amiri" pitchFamily="34" charset="-122"/>
                <a:cs typeface="Amiri" pitchFamily="34" charset="-120"/>
              </a:rPr>
              <a:t>إِذَا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judge whether my weekend is balanced,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Weekend time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Weekend activities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Flexibility and balance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عُطْلَةٌ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‎تعطیل‎ </a:t>
            </a:r>
            <a:pPr indent="0" marL="0">
              <a:buNone/>
            </a:pPr>
            <a:r>
              <a:rPr lang="en-US" sz="950" b="1" dirty="0">
                <a:solidFill>
                  <a:srgbClr val="2E8B57"/>
                </a:solidFill>
                <a:latin typeface="Calibri" pitchFamily="34" charset="0"/>
                <a:ea typeface="Calibri" pitchFamily="34" charset="-122"/>
                <a:cs typeface="Calibri" pitchFamily="34" charset="-120"/>
              </a:rPr>
              <a:t> taʿtīl · holiday, break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أَقَارِبُ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‎اقارب‎ </a:t>
            </a:r>
            <a:pPr indent="0" marL="0">
              <a:buNone/>
            </a:pPr>
            <a:r>
              <a:rPr lang="en-US" sz="950" b="1" dirty="0">
                <a:solidFill>
                  <a:srgbClr val="2E8B57"/>
                </a:solidFill>
                <a:latin typeface="Calibri" pitchFamily="34" charset="0"/>
                <a:ea typeface="Calibri" pitchFamily="34" charset="-122"/>
                <a:cs typeface="Calibri" pitchFamily="34" charset="-120"/>
              </a:rPr>
              <a:t> aqārib · relatives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‎توازن‎ </a:t>
            </a:r>
            <a:pPr indent="0" marL="0">
              <a:buNone/>
            </a:pPr>
            <a:r>
              <a:rPr lang="en-US" sz="950" b="1" dirty="0">
                <a:solidFill>
                  <a:srgbClr val="2E8B57"/>
                </a:solidFill>
                <a:latin typeface="Calibri" pitchFamily="34" charset="0"/>
                <a:ea typeface="Calibri" pitchFamily="34" charset="-122"/>
                <a:cs typeface="Calibri" pitchFamily="34" charset="-120"/>
              </a:rPr>
              <a:t> tawāzun · balance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مَسْؤُولِيَّةٌ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‎مسئولیت‎ </a:t>
            </a:r>
            <a:pPr indent="0" marL="0">
              <a:buNone/>
            </a:pPr>
            <a:r>
              <a:rPr lang="en-US" sz="950" b="1" dirty="0">
                <a:solidFill>
                  <a:srgbClr val="2E8B57"/>
                </a:solidFill>
                <a:latin typeface="Calibri" pitchFamily="34" charset="0"/>
                <a:ea typeface="Calibri" pitchFamily="34" charset="-122"/>
                <a:cs typeface="Calibri" pitchFamily="34" charset="-120"/>
              </a:rPr>
              <a:t> masʾūliyat · responsibility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الطَّقْسُ</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‎موسم‎ </a:t>
            </a:r>
            <a:pPr indent="0" marL="0">
              <a:buNone/>
            </a:pPr>
            <a:r>
              <a:rPr lang="en-US" sz="950" b="1" dirty="0">
                <a:solidFill>
                  <a:srgbClr val="2E8B57"/>
                </a:solidFill>
                <a:latin typeface="Calibri" pitchFamily="34" charset="0"/>
                <a:ea typeface="Calibri" pitchFamily="34" charset="-122"/>
                <a:cs typeface="Calibri" pitchFamily="34" charset="-120"/>
              </a:rPr>
              <a:t> mausam · Urdu: weather · Arabic مَوْسِمٌ: season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time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عُطْلَةُ نِهَايَةِ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weekend break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ʿuṭ-la-tu ni-hā-ya-ti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السَّبْتِ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Saturday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 as-sab-ti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الأَحَدِ</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 al-a-ḥa-di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 السَّبْتِ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Saturday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ṣa-bā-ḥu as-sab-ti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time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 الأَحَدِ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Sunday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ma-sā-ʾu al-a-ḥa-di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نِهَايَةِ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the weekend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ni-hā-ya-ti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خِلَالَ العُطْلَةِ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during the break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khi-lā-la al-ʿuṭ-la-ti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مُعْظَمَ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most of the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muʿ-ẓa-ma al-waq-ti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activities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أَنَامُ وَقْتًا أَطْوَلَ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sleep longer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a-nā-mu waq-tan aṭ-wa-la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نَنَامُ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يَنَامُ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أَزُورُ أَقَارِبِي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visit relatives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a-zū-ru a-qā-ri-bī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أَقَارِبُ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قَرِيبَةٌ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قَرِيبٌ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أَلْتَقِي بِأَصْدِقَائِي</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meet friends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al-ta-qī bi-ʾaṣ-di-qā-ʾī</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أَصْدِقَاءُ</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2" name="Text 6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إِلَى الحَدِيقَةِ</a:t>
            </a:r>
            <a:endParaRPr lang="ar-SA" sz="3000" dirty="0"/>
          </a:p>
        </p:txBody>
      </p:sp>
      <p:sp>
        <p:nvSpPr>
          <p:cNvPr id="73" name="Text 7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the park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i-lā al-ḥa-dī-qa-ti</a:t>
            </a:r>
            <a:endParaRPr lang="en-US" sz="1350" dirty="0"/>
          </a:p>
        </p:txBody>
      </p:sp>
      <p:sp>
        <p:nvSpPr>
          <p:cNvPr id="74" name="Shape 7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4389120"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77" name="Shape 7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79" name="Shape 7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1" name="Text 7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أَتَسَوَّقُ</a:t>
            </a:r>
            <a:endParaRPr lang="ar-SA" sz="3000" dirty="0"/>
          </a:p>
        </p:txBody>
      </p:sp>
      <p:sp>
        <p:nvSpPr>
          <p:cNvPr id="82" name="Text 7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a-ta-saw-wa-qu</a:t>
            </a:r>
            <a:endParaRPr lang="en-US" sz="1350" dirty="0"/>
          </a:p>
        </p:txBody>
      </p:sp>
      <p:sp>
        <p:nvSpPr>
          <p:cNvPr id="83" name="Shape 8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85" name="Text 8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نَتَسَوَّقُ</a:t>
            </a:r>
            <a:endParaRPr lang="ar-SA" sz="1500" dirty="0"/>
          </a:p>
        </p:txBody>
      </p:sp>
      <p:sp>
        <p:nvSpPr>
          <p:cNvPr id="86" name="Shape 8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8" name="Text 8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تَتَسَوَّقُ</a:t>
            </a:r>
            <a:endParaRPr lang="ar-SA" sz="1500" dirty="0"/>
          </a:p>
        </p:txBody>
      </p:sp>
      <p:sp>
        <p:nvSpPr>
          <p:cNvPr id="89" name="Shape 8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91" name="Text 8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يَتَسَوَّقُ</a:t>
            </a:r>
            <a:endParaRPr lang="ar-SA" sz="150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activities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 فِي البَيْتِ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 at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 fī al-bay-ti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أُرَاجِعُ مَا تَعَلَّمْتُهُ</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revise what I learned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u-rā-ji-ʿu mā ta-ʿal-lam-tu-hu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لِلْأُسْبُوعِ</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the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lil-ʾus-bū-ʿi</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نُخَطِّطُ</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تُخَطِّطُ</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يُخَطِّطُ</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أُمَارِسُ هِوَايَتِي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practise my hobby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u-mā-ri-su hi-wā-ya-tī</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هِوَايَاتٌ</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hobby</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هِوَايَةٌ</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يُمَارِسُ هِوَايَتَهُ</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أَقْضِي وَقْتًا فِي الخَارِجِ</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spend time outdoors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aq-ḍī waq-tan fī al-khā-ri-ji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Flexibility and balance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غَالِبًا 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ghā-li-ban 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الأَحْيَانِ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some occasions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al-aḥ-yā-ni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كَانَ لَدَيَّ وَقْتٌ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have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kā-na la-day-ya waq-tun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حَسَبَ الطَّقْسِ / الظُّرُوفِ</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depending on weather/circumstances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ḥa-sa-ba aṭ-ṭaq-si / aẓ-ẓu-rū-fi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Shape 3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2" name="Text 3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خُطَّةٌ مُرِنَةٌ</a:t>
            </a:r>
            <a:endParaRPr lang="ar-SA" sz="3000" dirty="0"/>
          </a:p>
        </p:txBody>
      </p:sp>
      <p:sp>
        <p:nvSpPr>
          <p:cNvPr id="43" name="Text 4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flexible plan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khuṭ-ṭa-tun mu-ri-na-tun</a:t>
            </a:r>
            <a:endParaRPr lang="en-US" sz="1350" dirty="0"/>
          </a:p>
        </p:txBody>
      </p:sp>
      <p:sp>
        <p:nvSpPr>
          <p:cNvPr id="44" name="Shape 4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plans</a:t>
            </a:r>
            <a:endParaRPr lang="en-US" sz="700" dirty="0"/>
          </a:p>
        </p:txBody>
      </p:sp>
      <p:sp>
        <p:nvSpPr>
          <p:cNvPr id="46" name="Text 43"/>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خُطَطٌ مَرِنَةٌ</a:t>
            </a:r>
            <a:endParaRPr lang="ar-SA" sz="1350" dirty="0"/>
          </a:p>
        </p:txBody>
      </p:sp>
      <p:sp>
        <p:nvSpPr>
          <p:cNvPr id="47" name="Shape 4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9" name="Text 4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مَرِنَةٌ</a:t>
            </a:r>
            <a:endParaRPr lang="ar-SA" sz="1500" dirty="0"/>
          </a:p>
        </p:txBody>
      </p:sp>
      <p:sp>
        <p:nvSpPr>
          <p:cNvPr id="50" name="Shape 4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2" name="Text 4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Flexibility and balance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وَقْتُ الفَرَاغِ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waq-tu al-fa-rā-ghi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تَوَازُنٌ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ta-wā-zu-nun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مَسْؤُولِيَّةٌ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responsibility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mas-ʾū-liy-ya-tun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رَاحَةٌ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rā-ḥa-tun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اِخْتِيَارٌ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choice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ikh-ti-yā-run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SCHOOL DAYS VS THE WEEKEND (WEBSITE RULE)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School days … as for the weekend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 فِي نِهَايَةِ الأُسْبُوعِ فَـ…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9010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School days</a:t>
            </a:r>
            <a:endParaRPr lang="en-US" sz="1100" dirty="0"/>
          </a:p>
        </p:txBody>
      </p:sp>
      <p:sp>
        <p:nvSpPr>
          <p:cNvPr id="17" name="Text 14"/>
          <p:cNvSpPr txBox="1"/>
          <p:nvPr/>
        </p:nvSpPr>
        <p:spPr>
          <a:xfrm>
            <a:off x="293522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 for the weekend …</a:t>
            </a:r>
            <a:endParaRPr lang="en-US" sz="1100" dirty="0"/>
          </a:p>
        </p:txBody>
      </p:sp>
      <p:sp>
        <p:nvSpPr>
          <p:cNvPr id="18" name="Text 15"/>
          <p:cNvSpPr txBox="1"/>
          <p:nvPr/>
        </p:nvSpPr>
        <p:spPr>
          <a:xfrm>
            <a:off x="53035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Contrast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08392" y="2286000"/>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أَيَّامِ الدِّرَاسَةِ أَسْتَيْقِظُ مُبَكِّرًا،</a:t>
            </a:r>
            <a:endParaRPr lang="ar-SA" sz="2100" dirty="0"/>
          </a:p>
        </p:txBody>
      </p:sp>
      <p:sp>
        <p:nvSpPr>
          <p:cNvPr id="21" name="Text 18"/>
          <p:cNvSpPr txBox="1"/>
          <p:nvPr/>
        </p:nvSpPr>
        <p:spPr>
          <a:xfrm>
            <a:off x="7662672" y="2706624"/>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On school days I wake up early,</a:t>
            </a:r>
            <a:endParaRPr lang="en-US" sz="950" dirty="0"/>
          </a:p>
        </p:txBody>
      </p:sp>
      <p:sp>
        <p:nvSpPr>
          <p:cNvPr id="22" name="Text 19"/>
          <p:cNvSpPr txBox="1"/>
          <p:nvPr/>
        </p:nvSpPr>
        <p:spPr>
          <a:xfrm>
            <a:off x="2953512" y="2286000"/>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نِهَايَةِ الأُسْبُوعِ </a:t>
            </a:r>
            <a:pPr rtl="1" algn="ctr" indent="0" marL="0">
              <a:buNone/>
            </a:pPr>
            <a:r>
              <a:rPr lang="ar-SA" altLang="en-US" sz="2100" b="1" dirty="0">
                <a:solidFill>
                  <a:srgbClr val="0E7C86"/>
                </a:solidFill>
                <a:latin typeface="Amiri" pitchFamily="34" charset="0"/>
                <a:ea typeface="Amiri" pitchFamily="34" charset="-122"/>
                <a:cs typeface="Amiri" pitchFamily="34" charset="-120"/>
              </a:rPr>
              <a:t>فَأَنَامُ</a:t>
            </a:r>
            <a:pPr rtl="1" algn="ctr" indent="0" marL="0">
              <a:buNone/>
            </a:pPr>
            <a:r>
              <a:rPr lang="ar-SA" altLang="en-US" sz="2100" b="1" dirty="0">
                <a:solidFill>
                  <a:srgbClr val="1B3B6F"/>
                </a:solidFill>
                <a:latin typeface="Amiri" pitchFamily="34" charset="0"/>
                <a:ea typeface="Amiri" pitchFamily="34" charset="-122"/>
                <a:cs typeface="Amiri" pitchFamily="34" charset="-120"/>
              </a:rPr>
              <a:t> وَقْتًا أَطْوَلَ.</a:t>
            </a:r>
            <a:endParaRPr lang="ar-SA" sz="2100" dirty="0"/>
          </a:p>
        </p:txBody>
      </p:sp>
      <p:sp>
        <p:nvSpPr>
          <p:cNvPr id="23" name="Text 20"/>
          <p:cNvSpPr txBox="1"/>
          <p:nvPr/>
        </p:nvSpPr>
        <p:spPr>
          <a:xfrm>
            <a:off x="2907792" y="2706624"/>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the weekend, I sleep longer.</a:t>
            </a:r>
            <a:endParaRPr lang="en-US" sz="950" dirty="0"/>
          </a:p>
        </p:txBody>
      </p:sp>
      <p:sp>
        <p:nvSpPr>
          <p:cNvPr id="24" name="Text 21"/>
          <p:cNvSpPr txBox="1"/>
          <p:nvPr/>
        </p:nvSpPr>
        <p:spPr>
          <a:xfrm>
            <a:off x="566928" y="2267712"/>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early / longer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708392" y="3072384"/>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أَذْهَبُ إِلَى المَدْرَسَةِ،</a:t>
            </a:r>
            <a:endParaRPr lang="ar-SA" sz="2100" dirty="0"/>
          </a:p>
        </p:txBody>
      </p:sp>
      <p:sp>
        <p:nvSpPr>
          <p:cNvPr id="29" name="Text 26"/>
          <p:cNvSpPr txBox="1"/>
          <p:nvPr/>
        </p:nvSpPr>
        <p:spPr>
          <a:xfrm>
            <a:off x="7662672" y="3493008"/>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go to school,</a:t>
            </a:r>
            <a:endParaRPr lang="en-US" sz="950" dirty="0"/>
          </a:p>
        </p:txBody>
      </p:sp>
      <p:sp>
        <p:nvSpPr>
          <p:cNvPr id="30" name="Text 27"/>
          <p:cNvSpPr txBox="1"/>
          <p:nvPr/>
        </p:nvSpPr>
        <p:spPr>
          <a:xfrm>
            <a:off x="2953512" y="3072384"/>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يَوْمُ السَّبْتِ </a:t>
            </a:r>
            <a:pPr rtl="1" algn="ctr" indent="0" marL="0">
              <a:buNone/>
            </a:pPr>
            <a:r>
              <a:rPr lang="ar-SA" altLang="en-US" sz="2100" b="1" dirty="0">
                <a:solidFill>
                  <a:srgbClr val="0E7C86"/>
                </a:solidFill>
                <a:latin typeface="Amiri" pitchFamily="34" charset="0"/>
                <a:ea typeface="Amiri" pitchFamily="34" charset="-122"/>
                <a:cs typeface="Amiri" pitchFamily="34" charset="-120"/>
              </a:rPr>
              <a:t>فَأَزُورُ</a:t>
            </a:r>
            <a:pPr rtl="1" algn="ctr" indent="0" marL="0">
              <a:buNone/>
            </a:pPr>
            <a:r>
              <a:rPr lang="ar-SA" altLang="en-US" sz="2100" b="1" dirty="0">
                <a:solidFill>
                  <a:srgbClr val="1B3B6F"/>
                </a:solidFill>
                <a:latin typeface="Amiri" pitchFamily="34" charset="0"/>
                <a:ea typeface="Amiri" pitchFamily="34" charset="-122"/>
                <a:cs typeface="Amiri" pitchFamily="34" charset="-120"/>
              </a:rPr>
              <a:t> أَقَارِبِي.</a:t>
            </a:r>
            <a:endParaRPr lang="ar-SA" sz="2100" dirty="0"/>
          </a:p>
        </p:txBody>
      </p:sp>
      <p:sp>
        <p:nvSpPr>
          <p:cNvPr id="31" name="Text 28"/>
          <p:cNvSpPr txBox="1"/>
          <p:nvPr/>
        </p:nvSpPr>
        <p:spPr>
          <a:xfrm>
            <a:off x="2907792" y="3493008"/>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Saturday, I visit my relatives.</a:t>
            </a:r>
            <a:endParaRPr lang="en-US" sz="950" dirty="0"/>
          </a:p>
        </p:txBody>
      </p:sp>
      <p:sp>
        <p:nvSpPr>
          <p:cNvPr id="32" name="Text 29"/>
          <p:cNvSpPr txBox="1"/>
          <p:nvPr/>
        </p:nvSpPr>
        <p:spPr>
          <a:xfrm>
            <a:off x="566928" y="3054096"/>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school / family</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708392" y="3858768"/>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أُرَاجِعُ دُرُوسِي يَوْمِيًّا،</a:t>
            </a:r>
            <a:endParaRPr lang="ar-SA" sz="2100" dirty="0"/>
          </a:p>
        </p:txBody>
      </p:sp>
      <p:sp>
        <p:nvSpPr>
          <p:cNvPr id="37" name="Text 34"/>
          <p:cNvSpPr txBox="1"/>
          <p:nvPr/>
        </p:nvSpPr>
        <p:spPr>
          <a:xfrm>
            <a:off x="7662672" y="4279392"/>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revise my lessons daily,</a:t>
            </a:r>
            <a:endParaRPr lang="en-US" sz="950" dirty="0"/>
          </a:p>
        </p:txBody>
      </p:sp>
      <p:sp>
        <p:nvSpPr>
          <p:cNvPr id="38" name="Text 35"/>
          <p:cNvSpPr txBox="1"/>
          <p:nvPr/>
        </p:nvSpPr>
        <p:spPr>
          <a:xfrm>
            <a:off x="2953512" y="3858768"/>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يَوْمُ الأَحَدِ </a:t>
            </a:r>
            <a:pPr rtl="1" algn="ctr" indent="0" marL="0">
              <a:buNone/>
            </a:pPr>
            <a:r>
              <a:rPr lang="ar-SA" altLang="en-US" sz="2100" b="1" dirty="0">
                <a:solidFill>
                  <a:srgbClr val="0E7C86"/>
                </a:solidFill>
                <a:latin typeface="Amiri" pitchFamily="34" charset="0"/>
                <a:ea typeface="Amiri" pitchFamily="34" charset="-122"/>
                <a:cs typeface="Amiri" pitchFamily="34" charset="-120"/>
              </a:rPr>
              <a:t>فَأُرَاجِعُ</a:t>
            </a:r>
            <a:pPr rtl="1" algn="ctr" indent="0" marL="0">
              <a:buNone/>
            </a:pPr>
            <a:r>
              <a:rPr lang="ar-SA" altLang="en-US" sz="2100" b="1" dirty="0">
                <a:solidFill>
                  <a:srgbClr val="1B3B6F"/>
                </a:solidFill>
                <a:latin typeface="Amiri" pitchFamily="34" charset="0"/>
                <a:ea typeface="Amiri" pitchFamily="34" charset="-122"/>
                <a:cs typeface="Amiri" pitchFamily="34" charset="-120"/>
              </a:rPr>
              <a:t> لِمُدَّةِ سَاعَةٍ فَقَطْ.</a:t>
            </a:r>
            <a:endParaRPr lang="ar-SA" sz="2100" dirty="0"/>
          </a:p>
        </p:txBody>
      </p:sp>
      <p:sp>
        <p:nvSpPr>
          <p:cNvPr id="39" name="Text 36"/>
          <p:cNvSpPr txBox="1"/>
          <p:nvPr/>
        </p:nvSpPr>
        <p:spPr>
          <a:xfrm>
            <a:off x="2907792" y="4279392"/>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Sunday, I revise for one hour only.</a:t>
            </a:r>
            <a:endParaRPr lang="en-US" sz="950" dirty="0"/>
          </a:p>
        </p:txBody>
      </p:sp>
      <p:sp>
        <p:nvSpPr>
          <p:cNvPr id="40" name="Text 37"/>
          <p:cNvSpPr txBox="1"/>
          <p:nvPr/>
        </p:nvSpPr>
        <p:spPr>
          <a:xfrm>
            <a:off x="566928" y="3840480"/>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daily / one hour</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708392" y="4645152"/>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أَتَّبِعُ جَدْوَلًا ثَابِتًا،</a:t>
            </a:r>
            <a:endParaRPr lang="ar-SA" sz="2100" dirty="0"/>
          </a:p>
        </p:txBody>
      </p:sp>
      <p:sp>
        <p:nvSpPr>
          <p:cNvPr id="43" name="Text 40"/>
          <p:cNvSpPr txBox="1"/>
          <p:nvPr/>
        </p:nvSpPr>
        <p:spPr>
          <a:xfrm>
            <a:off x="7662672" y="5065776"/>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follow a fixed timetable,</a:t>
            </a:r>
            <a:endParaRPr lang="en-US" sz="950" dirty="0"/>
          </a:p>
        </p:txBody>
      </p:sp>
      <p:sp>
        <p:nvSpPr>
          <p:cNvPr id="44" name="Text 41"/>
          <p:cNvSpPr txBox="1"/>
          <p:nvPr/>
        </p:nvSpPr>
        <p:spPr>
          <a:xfrm>
            <a:off x="2953512" y="4645152"/>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العُطْلَةِ </a:t>
            </a:r>
            <a:pPr rtl="1" algn="ctr" indent="0" marL="0">
              <a:buNone/>
            </a:pPr>
            <a:r>
              <a:rPr lang="ar-SA" altLang="en-US" sz="2100" b="1" dirty="0">
                <a:solidFill>
                  <a:srgbClr val="0E7C86"/>
                </a:solidFill>
                <a:latin typeface="Amiri" pitchFamily="34" charset="0"/>
                <a:ea typeface="Amiri" pitchFamily="34" charset="-122"/>
                <a:cs typeface="Amiri" pitchFamily="34" charset="-120"/>
              </a:rPr>
              <a:t>فَخُطَّتِي</a:t>
            </a:r>
            <a:pPr rtl="1" algn="ctr" indent="0" marL="0">
              <a:buNone/>
            </a:pPr>
            <a:r>
              <a:rPr lang="ar-SA" altLang="en-US" sz="2100" b="1" dirty="0">
                <a:solidFill>
                  <a:srgbClr val="1B3B6F"/>
                </a:solidFill>
                <a:latin typeface="Amiri" pitchFamily="34" charset="0"/>
                <a:ea typeface="Amiri" pitchFamily="34" charset="-122"/>
                <a:cs typeface="Amiri" pitchFamily="34" charset="-120"/>
              </a:rPr>
              <a:t> مَرِنَةٌ.</a:t>
            </a:r>
            <a:endParaRPr lang="ar-SA" sz="2100" dirty="0"/>
          </a:p>
        </p:txBody>
      </p:sp>
      <p:sp>
        <p:nvSpPr>
          <p:cNvPr id="45" name="Text 42"/>
          <p:cNvSpPr txBox="1"/>
          <p:nvPr/>
        </p:nvSpPr>
        <p:spPr>
          <a:xfrm>
            <a:off x="2907792" y="5065776"/>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the break, my plan is flexible.</a:t>
            </a:r>
            <a:endParaRPr lang="en-US" sz="950" dirty="0"/>
          </a:p>
        </p:txBody>
      </p:sp>
      <p:sp>
        <p:nvSpPr>
          <p:cNvPr id="46" name="Text 43"/>
          <p:cNvSpPr txBox="1"/>
          <p:nvPr/>
        </p:nvSpPr>
        <p:spPr>
          <a:xfrm>
            <a:off x="566928" y="4626864"/>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fixed / flexible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“as for” comes FIRST, then the topic, then fa- joined to the comment. Never fa- before “as for”.</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FOCUS · PART 2 · FLEXIBLE PLANS (WEBSITE RULES) · DEVELOP / STRETCH</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If I have time … often … sometimes …</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غَالِبًا مَا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CONDITION · STRETCH</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إِذَا كَانَ لَدَيَّ وَقْتٌ أُمَارِسُ هِوَايَتِي.</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have time, I practise my hobby.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if + present,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OFTEN?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غَالِبًا 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غَالِبًا مَا أَزُورُ أَقَارِبِي يَوْمَ السَّبْتِ.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often visit relatives on Saturday.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tendency, not a timetable.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TWO PEOPLE · DEVELOP</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أَزُورُ أَقَارِبِي، بَيْنَمَا تَلْتَقِي أُخْتِي بِصَدِيقَاتِهَا.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visit relatives, whereas my sister meets her friends.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Each verb matches its subject.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use a clear repeated-condition frame.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إِذَا كَانَ لَدَيَّ وَقْتٌ أَذْهَبُ.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إِذَا لَدَيَّ وَقْتٌ ذَهَبْتُ دَائِمًا.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Contrast, conditional routine and flexible frequency</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المُقَابَلَةُ وَالشَّرْطُ وَالتَّكْرَارُ المَرِنُ</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Contrast school days and weekends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أَيَّامِ الدِّرَاسَةِ ... أَمَّا فِي نِهَايَةِ الأُسْبُوعِ فَـ...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أَيَّامِ الدِّرَاسَةِ أَسْتَيْقِظُ مُبَكِّرًا، أَمَّا فِي نِهَايَةِ الأُسْبُوعِ فَأَنَامُ وَقْتًا أَطْوَلَ.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Contrast two people or activities with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clause + </a:t>
            </a:r>
            <a:pPr algn="l" indent="0" marL="0">
              <a:buNone/>
            </a:pPr>
            <a:r>
              <a:rPr lang="ar-SA" altLang="en-US" sz="1350" dirty="0">
                <a:solidFill>
                  <a:srgbClr val="5A6472"/>
                </a:solidFill>
                <a:latin typeface="Amiri" pitchFamily="34" charset="0"/>
                <a:ea typeface="Amiri" pitchFamily="34" charset="-122"/>
                <a:cs typeface="Amiri" pitchFamily="34" charset="-120"/>
              </a:rPr>
              <a:t>بَيْنَمَا</a:t>
            </a:r>
            <a:pPr algn="l" indent="0" marL="0">
              <a:buNone/>
            </a:pPr>
            <a:r>
              <a:rPr lang="en-US" sz="1050" dirty="0">
                <a:solidFill>
                  <a:srgbClr val="5A6472"/>
                </a:solidFill>
                <a:latin typeface="Calibri" pitchFamily="34" charset="0"/>
                <a:ea typeface="Calibri" pitchFamily="34" charset="-122"/>
                <a:cs typeface="Calibri" pitchFamily="34" charset="-120"/>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34" charset="0"/>
                <a:ea typeface="Amiri" pitchFamily="34" charset="-122"/>
                <a:cs typeface="Amiri" pitchFamily="34" charset="-120"/>
              </a:rPr>
              <a:t>أَزُورُ أَقَارِبِي، بَيْنَمَا تَلْتَقِي أُخْتِي بِصَدِيقَاتِهَا.   ·   أُرَاجِعُ صَبَاحًا، بَيْنَمَا أَسْتَرِيحُ مَسَاءً.</a:t>
            </a:r>
            <a:endParaRPr lang="ar-SA" sz="19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Express a real condition with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إِذَا</a:t>
            </a:r>
            <a:pPr algn="l" indent="0" marL="0">
              <a:buNone/>
            </a:pPr>
            <a:r>
              <a:rPr lang="en-US" sz="1050" dirty="0">
                <a:solidFill>
                  <a:srgbClr val="5A6472"/>
                </a:solidFill>
                <a:latin typeface="Calibri" pitchFamily="34" charset="0"/>
                <a:ea typeface="Calibri" pitchFamily="34" charset="-122"/>
                <a:cs typeface="Calibri" pitchFamily="34" charset="-120"/>
              </a:rPr>
              <a:t> + present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كَانَ لَدَيَّ وَقْتٌ أَذْهَبُ إِلَى الحَدِيقَةِ.   ·   إِذَا أَكْمَلْتُ وَاجِبِي أَلْتَقِي بِأَصْدِقَائِي.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Use flexible frequency precisely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غَالِبًا مَا · فِي بَعْضِ الأَحْيَانِ · نَادِرًا 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غَالِبًا مَا أَزُورُ جَدَّتِي.   ·   فِي بَعْضِ الأَحْيَانِ أَتَسَوَّقُ مَعَ أُسْرَتِي.   ·   نَادِرًا مَا أَبْقَى فِي البَيْتِ طَوَالَ اليَوْمِ.</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السَّبْتِ ___ أَسْتَرِيحُ.</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 جَدَّتِي، بَيْنَمَا تَلْتَقِي أُخْتِي بِصَدِيقَاتِهَا.</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 جَدَّتِي، بَيْنَمَا يَلْتَقِي أُخْتِي.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 بَيْنَمَا أُخْتِي أَلْتَقِي.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كَانَ لَدَيَّ وَقْتٌ، ___.</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 أَمْسِ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الحَدِيقَةِ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الوَقْتَ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“often”?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غَالِبًا مَا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مَا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 أَبَدًا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السَّبْتِ ___ أَسْتَرِيحُ.</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فَـ</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before the comment.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أَزُورُ جَدَّتِي، بَيْنَمَا تَلْتَقِي أُخْتِي بِصَدِيقَاتِهَا.</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 جَدَّتِي، بَيْنَمَا يَلْتَقِي أُخْتِي.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 بَيْنَمَا أُخْتِي أَلْتَقِي.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clause has accurate subject–verb agreement.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كَانَ لَدَيَّ وَقْتٌ، ___.</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ذَهَبْتُ أَمْسِ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إِلَى الحَدِيقَةِ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الوَقْتَ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repeated real condition can use present tense.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“often”?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غَالِبًا مَا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 مَا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 أَبَدًا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غَالِبًا مَا</a:t>
            </a:r>
            <a:pPr algn="l" indent="0" marL="0">
              <a:buNone/>
            </a:pPr>
            <a:r>
              <a:rPr lang="en-US" sz="1050" i="1" dirty="0">
                <a:solidFill>
                  <a:srgbClr val="8A6D1E"/>
                </a:solidFill>
                <a:latin typeface="Calibri" pitchFamily="34" charset="0"/>
                <a:ea typeface="Calibri" pitchFamily="34" charset="-122"/>
                <a:cs typeface="Calibri" pitchFamily="34" charset="-120"/>
              </a:rPr>
              <a:t> = often.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my weekend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يَوْمُ السَّبْتِ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فَأَنَامُ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وَقْتًا أَطْوَلَ.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 for + topic + fa-.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غَالِبًا 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أَزُورُ أَقَارِبِي بَعْدَ الظُّهْرِ.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tendency.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إِذَا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كَانَ لَدَيَّ وَقْتٌ أَلْتَقِي بِأَصْدِقَائِي.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 depends on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Judgement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عُطْلَتِي مُتَوَازِنَةٌ لِأَنَّهَا تَجْمَعُ بَيْنَ الرَّاحَةِ وَالمَسْؤُولِيَّةِ.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Opinion + evidence.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AS FOR … FA-</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أَيَّامِ الدِّرَاسَةِ أَسْتَيْقِظُ مُبَكِّرًا،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يَوْمُ السَّبْتِ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فَأَنَامُ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وَقْتًا أَطْوَلَ.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غَالِبًا 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أَزُورُ أَقَارِبِي بَعْدَ الظُّهْرِ،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كَانَ لَدَيَّ وَقْتٌ أَلْتَقِي بِأَصْدِقَائِي. يَوْمَ الأَحَدِ أُخَطِّطُ لِلْأُسْبُوعِ. عُطْلَتِي مُتَوَازِنَةٌ لِأَنَّهَا تَجْمَعُ بَيْنَ الرَّاحَةِ وَالمَسْؤُولِيَّةِ.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On school days I wake up early; as for Saturday, I sleep longer. I often visit my relatives in the afternoon, and if I have time I meet my friends. On Sunday I plan the week. My weekend is balanced because it combines rest and responsibility.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غَالِبًا مَا أَزُورُ أَقَارِبِي يَوْمَ السَّبْتِ.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often visit relatives on Saturday.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Flexible frequency.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كَانَ لَدَيَّ وَقْتٌ أُمَارِسُ هِوَايَتِي.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 have time, I practise my hobby.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Real recurring condition.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يَوْمُ الأَحَدِ فَأُخَطِّطُ لِلْأُسْبُوعِ.</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Sunday, I plan the week.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Topic 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تَوَازُنًا بَيْنَ الرَّاحَةِ وَالمَسْؤُولِيَّةِ.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want balance between rest and responsibility.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Evaluation language.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SCHOOL DAY → WEEKEND (WEBSITE PICTURE-GAME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But at the weekend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 فِي نِهَايَةِ الأُسْبُوعِ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accurate?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صَبَاحًا مُبَكِّرًا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فَأَمَّا فِي نِهَايَةِ الأُسْبُوعِ أَسْتَيْقِظُ مُتَأَخِّرًا.</a:t>
            </a:r>
            <a:endParaRPr lang="ar-SA" sz="160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أَمَّا فِي نِهَايَةِ الأُسْبُوعِ فَأَسْتَيْقِظُ مُتَأَخِّرًا.</a:t>
            </a:r>
            <a:endParaRPr lang="ar-SA" sz="160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أَمَّا فِي نِهَايَةِ الأُسْبُوعِ أَسْتَيْقِظُ فَمُتَأَخِّرًا.</a:t>
            </a:r>
            <a:endParaRPr lang="ar-SA" sz="160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accurate?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أَذْهَبُ إِلَى المَدْرَسَةِ …</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يَوْمُ السَّبْتِ أَزُورُ أَقَارِبِي.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يَوْمُ السَّبْتِ فَأَزُورُ أَقَارِبِي.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السَّبْتِ فَأَمَّا أَزُورُ أَقَارِبِي.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flexible plan is accurate?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أَدْرُسُ بَعْدَ المَدْرَسَةِ …</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لَدَيَّ وَقْتٌ مَارَسْتُ دَائِمًا.</a:t>
            </a:r>
            <a:endParaRPr lang="ar-SA" sz="20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لِأَنَّ كَانَ لَدَيَّ وَقْتٌ.</a:t>
            </a:r>
            <a:endParaRPr lang="ar-SA" sz="20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كَانَ لَدَيَّ وَقْتٌ أُمَارِسُ هِوَايَتِي.</a:t>
            </a:r>
            <a:endParaRPr lang="ar-SA" sz="20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Contrast with my brother: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أَنَامُ لَيْلًا …</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أَنَامُ وَقْتًا أَطْوَلَ، بَيْنَمَا يَتَمَرَّنُ أَخِي.</a:t>
            </a:r>
            <a:endParaRPr lang="ar-SA" sz="180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أَنَامُ وَقْتًا أَطْوَلَ، بَيْنَمَا تَتَمَرَّنُ أَخِي.</a:t>
            </a:r>
            <a:endParaRPr lang="ar-SA" sz="180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أَنَامُ وَقْتًا أَطْوَلَ، بَيْنَمَا أَتَمَرَّنُ أَخِي.</a:t>
            </a:r>
            <a:endParaRPr lang="ar-SA" sz="180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Pattern: as for + the weekend + fa- + verb.</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Learn: “if I have time” as one chunk.</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SCHOOL DAY → WEEKEND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But at the weekend: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accurate?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صَبَاحًا مُبَكِّرًا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فَأَمَّا فِي نِهَايَةِ الأُسْبُوعِ أَسْتَيْقِظُ مُتَأَخِّرًا.</a:t>
            </a:r>
            <a:endParaRPr lang="ar-SA" sz="16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أَمَّا فِي نِهَايَةِ الأُسْبُوعِ فَأَسْتَيْقِظُ مُتَأَخِّرًا.</a:t>
            </a:r>
            <a:endParaRPr lang="ar-SA" sz="16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أَمَّا فِي نِهَايَةِ الأُسْبُوعِ أَسْتَيْقِظُ فَمُتَأَخِّرًا.</a:t>
            </a:r>
            <a:endParaRPr lang="ar-SA" sz="16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As for + topic, then fa- on the verb.</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accurate?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أَذْهَبُ إِلَى المَدْرَسَةِ …</a:t>
            </a:r>
            <a:endParaRPr lang="ar-SA" sz="15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يَوْمُ السَّبْتِ أَزُورُ أَقَارِبِي.</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يَوْمُ السَّبْتِ فَأَزُورُ أَقَارِبِي.</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السَّبْتِ فَأَمَّا أَزُورُ أَقَارِبِي.</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 is needed before the comment.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flexible plan is accurate?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أَدْرُسُ بَعْدَ المَدْرَسَةِ …</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لَدَيَّ وَقْتٌ مَارَسْتُ دَائِمًا.</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كَانَ لَدَيَّ وَقْتٌ.</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كَانَ لَدَيَّ وَقْتٌ أُمَارِسُ هِوَايَتِي.</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“If I have time” as a whole chunk.</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Contrast with my brother: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أَنَامُ لَيْلًا …</a:t>
            </a:r>
            <a:endParaRPr lang="ar-SA" sz="15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أَنَامُ وَقْتًا أَطْوَلَ، بَيْنَمَا يَتَمَرَّنُ أَخِي.</a:t>
            </a:r>
            <a:endParaRPr lang="ar-SA" sz="170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أَنَامُ وَقْتًا أَطْوَلَ، بَيْنَمَا تَتَمَرَّنُ أَخِي.</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أَنَامُ وَقْتًا أَطْوَلَ، بَيْنَمَا أَتَمَرَّنُ أَخِي.</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My brother → ya-.</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Pattern: as for + the weekend + fa- + verb.</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Learn: “if I have time” as one chunk.</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balance board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أَنَامُ وَقْتًا أَطْوَلَ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أُمَارِسُ هِوَايَتِي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أُرَاجِعُ مَا تَعَلَّمْتُهُ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أُخَطِّطُ لِلْأُسْبُوعِ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فِي البَيْتِ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أَزُورُ أَقَارِبِي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أَلْتَقِي بِأَصْدِقَائِي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أَقْضِي وَقْتًا مَعَ أُسْرَتِي</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Rest and enjoyment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Responsibility and preparation</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Social and family time</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Rest and enjoyment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أَنَامُ وَقْتًا أَطْوَلَ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أُمَارِسُ هِوَايَتِي</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Responsibility and preparation</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أُرَاجِعُ مَا تَعَلَّمْتُهُ</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أُخَطِّطُ لِلْأُسْبُوعِ</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فِي البَيْتِ</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Social and family time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أَزُورُ أَقَارِبِي</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أَلْتَقِي بِأَصْدِقَائِي</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أَقْضِي وَقْتًا مَعَ أُسْرَتِي</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balanced weekend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أَنَامُ فَقَطْ.</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الوَاجِبُ بَيْنَمَا السَّبْتُ.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أَسْتَرِيحُ، وَلٰكِنَّنِي أُخَصِّصُ وَقْتًا لِلْوَاجِبِ أَيْضًا.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فِي أَيَّامِ الدِّرَاسَةِ أَسْتَيْقِظُ مُبَكِّرًا، ___ فِي العُطْلَةِ فَأَسْتَيْقِظُ مُتَأَخِّرًا.</a:t>
            </a:r>
            <a:endParaRPr lang="ar-SA" sz="10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flexible plan.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أَلْتَقِي بِأَصْدِقَائِي فِي السَّابِعَةِ كُلَّ يَوْمٍ دُونَ تَغْيِيرٍ.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أَكْمَلْتُ وَاجِبِي أَلْتَقِي بِأَصْدِقَائِي.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أَفْعَلُ شَيْئًا.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“most of the time”?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 وَاحِدَةً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الوَقْتِ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مُعْظَمَ الوَقْتِ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balanced weekend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أَنَامُ فَقَطْ.</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الوَاجِبُ بَيْنَمَا السَّبْتُ.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أَسْتَرِيحُ، وَلٰكِنَّنِي أُخَصِّصُ وَقْتًا لِلْوَاجِبِ أَيْضًا.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rest and responsibility.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فِي أَيَّامِ الدِّرَاسَةِ أَسْتَيْقِظُ مُبَكِّرًا، ___ فِي العُطْلَةِ فَأَسْتَيْقِظُ مُتَأَخِّرًا.</a:t>
            </a:r>
            <a:endParaRPr lang="ar-SA" sz="10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contrasting topic.</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flexible plan.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أَلْتَقِي بِأَصْدِقَائِي فِي السَّابِعَةِ كُلَّ يَوْمٍ دُونَ تَغْيِيرٍ.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أَكْمَلْتُ وَاجِبِي أَلْتَقِي بِأَصْدِقَائِي.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أَفْعَلُ شَيْئًا.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condition makes the plan flexible.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“most of the time”?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 وَاحِدَةً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الوَقْتِ</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مُعْظَمَ الوَقْتِ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مُعْظَمَ الوَقْتِ</a:t>
            </a:r>
            <a:pPr algn="l" indent="0" marL="0">
              <a:buNone/>
            </a:pPr>
            <a:r>
              <a:rPr lang="en-US" sz="1050" i="1" dirty="0">
                <a:solidFill>
                  <a:srgbClr val="8A6D1E"/>
                </a:solidFill>
                <a:latin typeface="Calibri" pitchFamily="34" charset="0"/>
                <a:ea typeface="Calibri" pitchFamily="34" charset="-122"/>
                <a:cs typeface="Calibri" pitchFamily="34" charset="-120"/>
              </a:rPr>
              <a:t> = most of the time.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فَأَمَّا السَّبْتُ أَسْتَرِيحُ.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does fa- belong: before “as for” or before the comment?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بَيْنَمَا أُخْتِي يَلْتَقِي.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أُخْتِي</a:t>
            </a:r>
            <a:pPr algn="l" indent="0" marL="0">
              <a:buNone/>
            </a:pPr>
            <a:r>
              <a:rPr lang="en-US" sz="1300" i="1" dirty="0">
                <a:solidFill>
                  <a:srgbClr val="5A6472"/>
                </a:solidFill>
                <a:latin typeface="Calibri" pitchFamily="34" charset="0"/>
                <a:ea typeface="Calibri" pitchFamily="34" charset="-122"/>
                <a:cs typeface="Calibri" pitchFamily="34" charset="-120"/>
              </a:rPr>
              <a:t> is feminine.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لَدَيَّ وَقْتٌ ذَهَبْتُ دَائِمًا.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Use the whole chunk “if I have time”.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فَأَمَّا السَّبْتُ أَسْتَرِيحُ.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السَّبْتُ فَأَسْتَرِيحُ.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Place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 before the comment.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بَيْنَمَا أُخْتِي يَلْتَقِي.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بَيْنَمَا أُخْتِي تَلْتَقِي.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لَدَيَّ وَقْتٌ ذَهَبْتُ دَائِمًا.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كَانَ لَدَيَّ وَقْتٌ أَذْهَبُ.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 coherent repeated-condition frame.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Plans that may 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the weekend timetable strict?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 Saturday evening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often happens Saturday morning?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visiting grandmother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helping the family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condition affects meeting friends?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finishing training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having time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Sunday revision?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routine liked?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avoids family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balances rest and preparation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identical to school days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أَتَّبِعُ جَدْوَلًا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غَالِبًا 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لِمُدَّةِ سَاعَةٍ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نِهَايَةِ الأُسْبُوعِ لَا أَتَّبِعُ جَدْوَلًا صَارِمًا.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weekend I don’t follow a strict timetable.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صَبَاحَ السَّبْتِ غَالِبًا مَا أُسَاعِدُ أُسْرَتِي، ثُمَّ أَلْتَقِي بِصَدِيقَاتِي إِذَا كَانَ لَدَيَّ وَقْتٌ.</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Saturday morning I often help my family, then I meet my friends if I have time.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مَسَاءُ السَّبْتِ فَأَقْضِيهِ مَعَ أُسْرَتِي.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Saturday evening, I spend it with my family.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يَوْمَ الأَحَدِ أُرَاجِعُ دُرُوسِي لِمُدَّةِ سَاعَةٍ، بَيْنَمَا يَذْهَبُ أَخِي إِلَى التَّدْرِيبِ. بَعْدَ ذٰلِكَ نَزُورُ جَدَّتَنَا.</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Sunday I revise for an hour, whereas my brother goes to training. After that we visit our grandmother.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هٰذَا التَّوَازُنَ لِأَنَّنِي أَسْتَرِيحُ وَأَسْتَعِدُّ لِلْأُسْبُوعِ الجَدِيدِ أَيْضًا.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this balance because I rest and also get ready for the new week.</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the weekend timetable strict?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 Saturday evening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أَتَّبِعُ جَدْوَلًا صَارِمًا.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often happens Saturday morning?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visiting grandmother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helping the family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أُسَاعِدُ أُسْرَتِي.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condition affects meeting friends?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finishing training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school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having time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كَانَ لَدَيَّ وَقْتٌ.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Sunday revision?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لِمُدَّةِ سَاعَةٍ.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routine liked?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avoids family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balances rest and preparation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identical to school days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أَسْتَرِيحُ وَأَسْتَعِدُّ ... أَيْضًا.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أَتَّبِعُ جَدْوَلًا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غَالِبًا 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لِمُدَّةِ سَاعَةٍ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Discuss and evaluate your weekend</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عَادَةً يَوْمَ السَّبْتِ؟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يَخْتَلِفُ يَوْمُ الأَحَدِ؟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إِذَا كَانَ لَدَيْكَ وَقْتٌ؟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عُطْلَتُكَ مُتَوَازِنَةٌ؟ هَاتِ دَلِيلًا.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يَوْمَ السَّبْتِ ___ ، وَيَوْمَ الأَحَدِ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أَمَّا يَوْمُ الأَحَدِ فَـ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كَانَ لَدَيَّ وَقْتٌ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عُطْلَتِي مُتَوَازِنَةٌ / غَيْرُ مُتَوَازِنَةٍ لِأَنَّ ___ .</a:t>
            </a:r>
            <a:endParaRPr lang="ar-SA" sz="14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عُطْلَتُكَ مُنَظَّمَةٌ؟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Is your weekend organised?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لَيْسَتْ صَارِمَةً، وَلٰكِنَّنِي أُخَصِّصُ وَقْتًا لِلرَّاحَةِ وَالوَاجِبِ. إِذَا كَانَ لَدَيَّ وَقْتٌ أَلْتَقِي بِأَصْدِقَائِي.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isn’t strict, but I set aside time for rest and homework. If I have time, I meet my friends.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four weekend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weekend activities with a day, and one sentence “as for the weekend …” from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Contrast Saturday, Sunday and school days accurately.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Saturday vs Sunday vs school days; one contrast with another person (whereas).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flexibility and balance through evidence and qualification.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both days, as for … fa-, whereas, an “if” condition, three frequency expressions and an evaluation of balance.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فِي أَيَّامِ الدِّرَاسَةِ ______ ، أَمَّا يَوْمُ السَّبْتِ فَـ ______ .</a:t>
            </a:r>
            <a:endParaRPr lang="ar-SA" sz="13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school days I …, as for Saturday,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غَالِبًا 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often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بَعْضِ الأَحْيَانِ أَتَسَوَّقُ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go shopping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كَانَ لَدَيَّ وَقْتٌ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have time, I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تَـ ______ أُخْتِي.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sister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السَّبْتِ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Saturday I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الأَحَدِ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Sunday I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نِهَايَةِ الأُسْبُوعِ أَنَامُ وَقْتًا أَطْوَلَ.</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the weekend I sleep longer.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أَقَارِبِي / أَلْتَقِي بِأَصْدِقَائِي.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 my relatives / meet my friends.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نِهَايَةِ الأُسْبُوعِ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the weekend, I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يَوْمَ السَّبْتِ  ·  يَوْمَ الأَحَدِ  ·  أَمَّا … فَـ  ·  بَيْنَمَا  ·  إِذَا كَانَ لَدَيَّ وَقْتٌ  ·  غَالِبًا مَا  ·  نَادِرًا مَا  ·  أَزُورُ أَقَارِبِي  ·  أَتَسَوَّقُ  ·  أُمَارِسُ هِوَايَتِي  ·  أُخَطِّطُ لِلْأُسْبُوعِ  ·  تَوَازُنٌ</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about your weekend routine and how it differs from school days.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Describe Saturday and Sunday separately.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أَمَّا</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فَـ</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 real condition with </a:t>
            </a:r>
            <a:pPr algn="l" indent="0" marL="0">
              <a:buNone/>
            </a:pPr>
            <a:r>
              <a:rPr lang="ar-SA" altLang="en-US" sz="1550" dirty="0">
                <a:solidFill>
                  <a:srgbClr val="1F2A37"/>
                </a:solidFill>
                <a:latin typeface="Amiri" pitchFamily="34" charset="0"/>
                <a:ea typeface="Amiri" pitchFamily="34" charset="-122"/>
                <a:cs typeface="Amiri" pitchFamily="34" charset="-120"/>
              </a:rPr>
              <a:t>إِذَا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three frequency expressions.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Evaluate the balance of rest, family, study and free time.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أَتَّبِعُ جَدْوَلًا صَارِمًا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don’t follow a strict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كَانَ الطَّقْسُ مُنَاسِبًا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the weather is suitable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أَقْضِي اليَوْمَ كُلَّهُ فِي البَيْتِ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rarely spend the whole day at home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تَجْمَعُ بَيْنَ الرَّاحَةِ وَالأُسْرَةِ وَالمَسْؤُولِيَّةِ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rest, family and responsibility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وَلٰكِنَّنِي أُرِيدُ أَنْ أَقْرَأَ أَكْثَرَ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I want to read more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يَخْتَلِفُ رُوتِينِي فِي نِهَايَةِ الأُسْبُوعِ عَنْ أَيَّامِ الدِّرَاسَةِ. أَمَّا يَوْمُ السَّبْتِ فَأَسْتَيْقِظُ مُتَأَخِّرًا قَلِيلًا، ثُمَّ أُسَاعِدُ أُسْرَتِي فِي البَيْتِ. غَالِبًا مَا أَزُورُ أَقَارِبِي فِي بَعْدِ الظُّهْرِ، وَإِذَا كَانَ لَدَيَّ وَقْتٌ أَلْتَقِي بِأَصْدِقَائِي. فِي المَسَاءِ أُمَارِسُ هِوَايَتِي، بَيْنَمَا يُشَاهِدُ أَخِي الرِّيَاضَةَ. يَوْمَ الأَحَدِ أُرَاجِعُ دُرُوسِي لِمُدَّةِ سَاعَةٍ وَأُحَضِّرُ حَقِيبَتِي. نَادِرًا مَا أَقْضِي اليَوْمَ كُلَّهُ فِي البَيْتِ. فِي رَأْيِي، عُطْلَتِي مُتَوَازِنَةٌ لِأَنَّهَا تَجْمَعُ بَيْنَ الرَّاحَةِ وَالأُسْرَةِ وَالمَسْؤُولِيَّةِ، وَلٰكِنَّنِي أُرِيدُ أَنْ أَقْرَأَ أَكْثَرَ.</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weekend routine is different from school days. As for Saturday, I wake up a little late, then I help my family at home. I often visit my relatives in the afternoon, and if I have time I meet my friends. In the evening I practise my hobby, whereas my brother watches sport. On Sunday I revise my lessons for an hour and prepare my bag. I rarely spend the whole day at home. In my opinion, my weekend is balanced because it combines rest, family and responsibility, but I want to read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أَمَّا … فَـ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“if” condition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frequency expressions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judgement with 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about both Saturday and Sunday.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“as for … fa-” in the right order.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“whereas”, the verb matches the new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two flexible frequency expressions.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“if” and judged the balance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السَّبْتُ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أَسْتَرِيحُ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real condition.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كَانَ لَدَيَّ وَقْتٌ.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كَانَ لَدَيَّ وَقْتٌ أَخْرُجُ.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الوَقْتُ خَرَجْتُ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يُشَاهِدُ أَخِي مُبَارَاةً.</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تُشَاهِدُ أَخِي.</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أَخِي أُشَاهِدُ.</a:t>
            </a:r>
            <a:endParaRPr lang="ar-SA" sz="20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السَّبْتُ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أَسْتَرِيحُ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بَيْنَمَا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before the comment.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real condition.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 كَانَ لَدَيَّ وَقْتٌ.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إِذَا كَانَ لَدَيَّ وَقْتٌ أَخْرُجُ.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الوَقْتُ خَرَجْتُ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a coherent repeated condition.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contrast.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أَقْرَأُ، بَيْنَمَا يُشَاهِدُ أَخِي مُبَارَاةً.</a:t>
            </a:r>
            <a:endParaRPr lang="ar-SA" sz="20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أَقْرَأُ، بَيْنَمَا تُشَاهِدُ أَخِي.</a:t>
            </a:r>
            <a:endParaRPr lang="ar-SA" sz="20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أَقْرَأُ بَيْنَمَا أَخِي أُشَاهِدُ.</a:t>
            </a:r>
            <a:endParaRPr lang="ar-SA" sz="20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brother takes </a:t>
            </a:r>
            <a:pPr algn="l" indent="0" marL="0">
              <a:buNone/>
            </a:pPr>
            <a:r>
              <a:rPr lang="ar-SA" altLang="en-US" sz="1350" dirty="0">
                <a:solidFill>
                  <a:srgbClr val="8A6D1E"/>
                </a:solidFill>
                <a:latin typeface="Amiri" pitchFamily="34" charset="0"/>
                <a:ea typeface="Amiri" pitchFamily="34" charset="-122"/>
                <a:cs typeface="Amiri" pitchFamily="34" charset="-120"/>
              </a:rPr>
              <a:t>يُشَاهِدُ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weekend with choices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يَخْتَلِفُ رُوتِينُ عُطْلَتِي عَنْ رُوتِينِي فِي أَيَّامِ الدِّرَاسَةِ. أَمَّا يَوْمُ السَّبْتِ فَأَسْتَيْقِظُ فِي الثَّامِنَةِ، وَغَالِبًا مَا أَذْهَبُ إِلَى السُّوقِ مَعَ أُمِّي. إِذَا كَانَ الطَّقْسُ مُنَاسِبًا نَمْشِي فِي الحَدِيقَةِ، وَإِذَا كُنَّا مُتْعَبِينَ نَعُودُ إِلَى البَيْتِ مُبَكِّرًا. فِي المَسَاءِ أُمَارِسُ هِوَايَتِي، بَيْنَمَا يُشَاهِدُ أَخِي مُبَارَاةً. يَوْمَ الأَحَدِ أُرَاجِعُ دُرُوسِي وَأُحَضِّرُ حَقِيبَتِي لِلْمَدْرَسَةِ. لَا أُرِيدُ أَنْ يَكُونَ كُلُّ وَقْتِي دِرَاسَةً، وَلَا أَنْ يَكُونَ كُلُّهُ رَاحَةً؛ فَالتَّوَازُنُ يُسَاعِدُنِي عَلَى بَدْءِ الأُسْبُوعِ بِنَشَاطٍ.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يَخْتَلِفُ … عَنْ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 from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السُّوقِ</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market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إِذَا كَانَ الطَّقْسُ مُنَاسِبًا</a:t>
            </a:r>
            <a:endParaRPr lang="ar-SA" sz="14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 the weather is suitable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مُتْعَبِينَ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tired (pl.)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مُبَارَاةً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match</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أُحَضِّرُ حَقِيبَتِي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prepare my bag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 وَقْتِي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 my time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دِرَاسَةً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study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فَالتَّوَازُنُ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balance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بِنَشَاطٍ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energetically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weekend differ?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starts at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less like the fixed school routine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contains no responsibilities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often happens Saturday?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lessons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with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shopping with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affects the park walk?</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weather and tiredness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marks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 prices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do in the evening?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practises the writer’s hobby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watches a match</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prepares a school bag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Sunday?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revision and school preparation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full day of sleep</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shopping only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message?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weekends should contain only study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routines must be strict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 supports an energetic start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weekend differ?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starts at school</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less like the fixed school routine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contains no responsibilities</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contrasts the routines.</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often happens Saturday?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lessons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 with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shopping with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أَذْهَبُ إِلَى السُّوقِ مَعَ أُمِّي.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affects the park walk?</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weather and tiredness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homework marks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 prices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clauses give conditions.</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do in the evening?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practises the writer’s hobby</a:t>
            </a:r>
            <a:endParaRPr lang="en-US" sz="11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watches a match</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prepares a school bag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يُشَاهِدُ أَخِي مُبَارَاةً.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Sunday?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revision and school preparation</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full day of sleep</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shopping only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أُرَاجِعُ ... وَأُحَضِّرُ حَقِيبَتِي.</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message?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weekends should contain only study</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all routines must be strict</a:t>
            </a:r>
            <a:endParaRPr lang="en-US" sz="12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 supports an energetic start</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conclusion values balance.</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comparison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فِي أَيَّامِ الدِّرَاسَةِ أَسْتَيْقِظُ مُبَكِّرًا، أَمَّا فِي نِهَايَةِ الأُسْبُوعِ ___.</a:t>
            </a:r>
            <a:endParaRPr lang="ar-SA"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 نَوْمٌ أَطْوَلُ</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فَأَنَامُ وَقْتًا أَطْوَلَ</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فِي النِّهَايَةِ</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contrast and agreement.</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يُشَاهِدُ أَخِي مُبَارَاةً.</a:t>
            </a:r>
            <a:endParaRPr lang="ar-SA" sz="200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تُشَاهِدُ أَخِي مُبَارَاةً.</a:t>
            </a:r>
            <a:endParaRPr lang="ar-SA" sz="200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أَخِي أُشَاهِدُ.</a:t>
            </a:r>
            <a:endParaRPr lang="ar-SA" sz="200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repeated condition.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إِذَا الوَقْتُ ذَهَبْتُ أَمْسِ.</a:t>
            </a:r>
            <a:endParaRPr lang="ar-SA" sz="17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لِأَنَّ كَانَ لَدَيَّ وَقْتٌ أَذْهَبُ.</a:t>
            </a:r>
            <a:endParaRPr lang="ar-SA" sz="17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إِذَا كَانَ لَدَيَّ وَقْتٌ أَذْهَبُ إِلَى الحَدِيقَةِ.</a:t>
            </a:r>
            <a:endParaRPr lang="ar-SA" sz="17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seldom stay at home all day”?</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غَالِبًا مَا أَبْقَى فِي البَيْتِ طَوَالَ اليَوْمِ.</a:t>
            </a:r>
            <a:endParaRPr lang="ar-SA" sz="17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دَائِمًا لَا أَبْقَى أَبَدًا.</a:t>
            </a:r>
            <a:endParaRPr lang="ar-SA" sz="17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نَادِرًا مَا أَبْقَى فِي البَيْتِ طَوَالَ اليَوْمِ.</a:t>
            </a:r>
            <a:endParaRPr lang="ar-SA" sz="17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صَبَاحَ السَّبْتِ أُرَاجِعُ دُرُوسِي، ثُمَّ أَلْتَقِي بِأَصْدِقَائِي</a:t>
            </a:r>
            <a:pPr algn="l" indent="0" marL="0">
              <a:buNone/>
            </a:pPr>
            <a:r>
              <a:rPr lang="en-US" sz="1000" b="1" dirty="0">
                <a:solidFill>
                  <a:srgbClr val="1F2A37"/>
                </a:solidFill>
                <a:latin typeface="Calibri" pitchFamily="34" charset="0"/>
                <a:ea typeface="Calibri" pitchFamily="34" charset="-122"/>
                <a:cs typeface="Calibri" pitchFamily="34" charset="-120"/>
              </a:rPr>
              <a:t>. What happens after revision?</a:t>
            </a:r>
            <a:endParaRPr lang="en-US" sz="10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يَلْتَقِي بِأَصْدِقَائِهِ.</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يَنَامُ طَوَالَ اليَوْمِ.</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يَذْهَبُ إِلَى المَدْرَسَةِ.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evaluation of a balanced weekend.</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عُطْلَةٌ جَيِّدَةٌ.</a:t>
            </a:r>
            <a:endParaRPr lang="ar-SA" sz="13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عُطْلَتِي مُتَوَازِنَةٌ لِأَنَّنِي أَسْتَرِيحُ وَأُكْمِلُ مَسْؤُولِيَّاتِي.</a:t>
            </a:r>
            <a:endParaRPr lang="ar-SA" sz="13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السَّبْتُ وَالأَحَدُ.</a:t>
            </a:r>
            <a:endParaRPr lang="ar-SA" sz="13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فِي أَيَّامِ الدِّرَاسَةِ أَسْتَيْقِظُ مُبَكِّرًا، أَمَّا فِي نِهَايَةِ الأُسْبُوعِ ___.</a:t>
            </a:r>
            <a:endParaRPr lang="ar-SA"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 نَوْمٌ أَطْوَلُ</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فَأَنَامُ وَقْتًا أَطْوَلَ</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فِي النِّهَايَةِ</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weekend topic and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begins the complete comment.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contrast and agreement.</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أَقْرَأُ، بَيْنَمَا يُشَاهِدُ أَخِي مُبَارَاةً.</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أَقْرَأُ، بَيْنَمَا تُشَاهِدُ أَخِي مُبَارَاةً.</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أَقْرَأُ بَيْنَمَا أَخِي أُشَاهِدُ.</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أَخِي</a:t>
            </a:r>
            <a:pPr algn="l" indent="0" marL="0">
              <a:buNone/>
            </a:pPr>
            <a:r>
              <a:rPr lang="en-US" sz="1050" i="1" dirty="0">
                <a:solidFill>
                  <a:srgbClr val="8A6D1E"/>
                </a:solidFill>
                <a:latin typeface="Calibri" pitchFamily="34" charset="0"/>
                <a:ea typeface="Calibri" pitchFamily="34" charset="-122"/>
                <a:cs typeface="Calibri" pitchFamily="34" charset="-120"/>
              </a:rPr>
              <a:t> is masculine, so its verb is </a:t>
            </a:r>
            <a:pPr algn="l" indent="0" marL="0">
              <a:buNone/>
            </a:pPr>
            <a:r>
              <a:rPr lang="ar-SA" altLang="en-US" sz="1350" dirty="0">
                <a:solidFill>
                  <a:srgbClr val="8A6D1E"/>
                </a:solidFill>
                <a:latin typeface="Amiri" pitchFamily="34" charset="0"/>
                <a:ea typeface="Amiri" pitchFamily="34" charset="-122"/>
                <a:cs typeface="Amiri" pitchFamily="34" charset="-120"/>
              </a:rPr>
              <a:t>يُشَاهِدُ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repeated condition.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الوَقْتُ ذَهَبْتُ أَمْسِ.</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كَانَ لَدَيَّ وَقْتٌ أَذْهَبُ.</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كَانَ لَدَيَّ وَقْتٌ أَذْهَبُ إِلَى الحَدِيقَةِ.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a repeated or likely condition, use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 present situation + present result.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seldom stay at home all day”?</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غَالِبًا مَا أَبْقَى فِي البَيْتِ طَوَالَ اليَوْمِ.</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دَائِمًا لَا أَبْقَى أَبَدًا.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مَا أَبْقَى فِي البَيْتِ طَوَالَ اليَوْمِ.</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نَادِرًا مَا</a:t>
            </a:r>
            <a:pPr algn="l" indent="0" marL="0">
              <a:buNone/>
            </a:pPr>
            <a:r>
              <a:rPr lang="en-US" sz="1050" i="1" dirty="0">
                <a:solidFill>
                  <a:srgbClr val="8A6D1E"/>
                </a:solidFill>
                <a:latin typeface="Calibri" pitchFamily="34" charset="0"/>
                <a:ea typeface="Calibri" pitchFamily="34" charset="-122"/>
                <a:cs typeface="Calibri" pitchFamily="34" charset="-120"/>
              </a:rPr>
              <a:t> expresses “seldom / rarely”.</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صَبَاحَ السَّبْتِ أُرَاجِعُ دُرُوسِي، ثُمَّ أَلْتَقِي بِأَصْدِقَائِي</a:t>
            </a:r>
            <a:pPr algn="l" indent="0" marL="0">
              <a:buNone/>
            </a:pPr>
            <a:r>
              <a:rPr lang="en-US" sz="1000" b="1" dirty="0">
                <a:solidFill>
                  <a:srgbClr val="1F2A37"/>
                </a:solidFill>
                <a:latin typeface="Calibri" pitchFamily="34" charset="0"/>
                <a:ea typeface="Calibri" pitchFamily="34" charset="-122"/>
                <a:cs typeface="Calibri" pitchFamily="34" charset="-120"/>
              </a:rPr>
              <a:t>. What happens after revision?</a:t>
            </a:r>
            <a:endParaRPr lang="en-US" sz="10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يَلْتَقِي بِأَصْدِقَائِهِ.</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يَنَامُ طَوَالَ اليَوْمِ.</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يَذْهَبُ إِلَى المَدْرَسَةِ.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a:t>
            </a:r>
            <a:pPr algn="l" indent="0" marL="0">
              <a:buNone/>
            </a:pPr>
            <a:r>
              <a:rPr lang="en-US" sz="1050" i="1" dirty="0">
                <a:solidFill>
                  <a:srgbClr val="8A6D1E"/>
                </a:solidFill>
                <a:latin typeface="Calibri" pitchFamily="34" charset="0"/>
                <a:ea typeface="Calibri" pitchFamily="34" charset="-122"/>
                <a:cs typeface="Calibri" pitchFamily="34" charset="-120"/>
              </a:rPr>
              <a:t> signals the next action: meeting friends.</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evaluation of a balanced weekend.</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عُطْلَةٌ جَيِّدَةٌ.</a:t>
            </a:r>
            <a:endParaRPr lang="ar-SA" sz="13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عُطْلَتِي مُتَوَازِنَةٌ لِأَنَّنِي أَسْتَرِيحُ وَأُكْمِلُ مَسْؤُولِيَّاتِي.</a:t>
            </a:r>
            <a:endParaRPr lang="ar-SA" sz="13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السَّبْتُ وَالأَحَدُ.</a:t>
            </a:r>
            <a:endParaRPr lang="ar-SA" sz="13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answer gives a clear evaluation and supports it with two relevant details.</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D1-L09 · Reading Daily Routines and Weekly Schedules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جَدْوَلٌ أُسْبُوعِيٌّ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weekly schedule</a:t>
            </a:r>
            <a:pPr indent="0" marL="0">
              <a:buNone/>
            </a:pPr>
            <a:r>
              <a:rPr lang="en-US" sz="1000" i="1" dirty="0">
                <a:solidFill>
                  <a:srgbClr val="5A6472"/>
                </a:solidFill>
                <a:latin typeface="Calibri" pitchFamily="34" charset="0"/>
                <a:ea typeface="Calibri" pitchFamily="34" charset="-122"/>
                <a:cs typeface="Calibri" pitchFamily="34" charset="-120"/>
              </a:rPr>
              <a:t>  pl.: جَدَاوِلُ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 البَدْءِ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start time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 الاِنْتِهَاءِ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finish time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الدَّلِيلُ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evidence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حَسَبَ الجَدْوَلِ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according to the schedule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at your own school timetable. Which day is the busiest, and how do you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أَكْثَرُ يَوْمٍ اِنْشِغَالًا فِي جَدْوَلِكَ؟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D1-L08: the vocabulary tab and the sorter “Weekend balance board”.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Saturday, Sunday and one contrast with a family member.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about your weekend and how it differs from school days.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D1-L09 · Reading Daily Routines and Weekly Schedules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قِرَاءَةُ الرُّوتِينِ وَالجَدَاوِلِ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as for + topic + fa- + comment.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D1-L08 · Weekend Routine — What Do You Do at the Weekend?</dc:title>
  <dc:subject>PptxGenJS Presentation</dc:subject>
  <dc:creator>Al Madina Online School · Arabic Department</dc:creator>
  <cp:lastModifiedBy>Al Madina Online School · Arabic Department</cp:lastModifiedBy>
  <cp:revision>1</cp:revision>
  <dcterms:created xsi:type="dcterms:W3CDTF">2026-10-03T10:11:09Z</dcterms:created>
  <dcterms:modified xsi:type="dcterms:W3CDTF">2026-10-03T10:11:09Z</dcterms:modified>
</cp:coreProperties>
</file>