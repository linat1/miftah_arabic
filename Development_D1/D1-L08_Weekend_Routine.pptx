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Lst>
  <p:notesMasterIdLst>
    <p:notesMasterId r:id="rId48"/>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notesMaster" Target="notesMasters/notesMaster1.xml"/><Relationship Id="rId49" Type="http://schemas.openxmlformats.org/officeDocument/2006/relationships/presProps" Target="presProps.xml"/><Relationship Id="rId50" Type="http://schemas.openxmlformats.org/officeDocument/2006/relationships/viewProps" Target="viewProps.xml"/><Relationship Id="rId51" Type="http://schemas.openxmlformats.org/officeDocument/2006/relationships/theme" Target="theme/theme1.xml"/><Relationship Id="rId52"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Pathways › Development › D1 Daily Routine and Time › D1-L08. The website lesson “Weekend Routine — What Do You Do at the Weekend?”: vocabulary, grammar rules and quiz, patterns, common mistakes, sorter, listening, reading, speaking prompts and model, writing task and model, differentiation, final check and the lesson mission. Picture match: website visual game “Weekend Routine — What Do You Do at the Weekend?”.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Core: four weekend activities with a day (يَوْمَ السَّبْتِ …) and one contrast frame learnt as a chunk: أَمَّا فِي نِهَايَةِ الأُسْبُوعِ فَـ …
• Develop: Saturday vs Sunday vs school days, with بَيْنَمَا for another person (recycles D1-L06). Stretch: إِذَا conditions, flexible frequency and an evaluation of balance with evidence.
• Sensitivity: weekends differ a lot between families (work, madrasa, caring duties). Students may invent a weekend — the language is what is assessed.
• Urdu bridge: عطلہ / تعطیل، اقارب، شوق (→ hobby)، مسئولیت / ذمہ داری، توازن.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DO NOW (5 min independent + 2 min going through answers).
Questions 1–2 test two of the five words prepared at home. Questions 3–5 retrieve D1-L07 (you m./f., question words) and D1-L03 (أَمَّا … فَـ).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School days are fixed; the weekend is flexible. Contrast them, and say what depends on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The route statements turn the website objectives into this lesson’s concrete targets.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تعطیل / تعطیلات (holidays) → عُطْلَةٌ. اقارب (relatives, formal Urdu) → أَقَارِبُ (sg. قَرِيبٌ). توازن → تَوَازُنٌ (balance). مسئولیت (responsibility) → مَسْؤُولِيَّةٌ. FALSE FRIEND: Urdu موسم = weather, but Arabic مَوْسِمٌ = season; weather in Arabic is الطَّقْسُ (حَسَبَ الطَّقْسِ = depending on the weather).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Weekend time (website vocabulary (1 of 2)). Hear → Say → See → Use. Transliteration is printed for Core students (cover it for Develop/Stretch).
يَوْمُ السَّبْتِ = Saturday; يَوْمَ السَّبْتِ (with fatḥa) = ON Saturday. In the UK the weekend is Saturday–Sunday; in many Arab countries it is Friday–Saturday — ask the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Weekend time (website vocabulary (2 of 2)). Hear → Say → See → Use. Transliteration is printed for Core students (cover it for Develop/Stretch).
يَوْمُ السَّبْتِ = Saturday; يَوْمَ السَّبْتِ (with fatḥa) = ON Saturday. In the UK the weekend is Saturday–Sunday; in many Arab countries it is Friday–Saturday — ask the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Weekend activities (website vocabulary (1 of 2)). Hear → Say → See → Use. Transliteration is printed for Core students (cover it for Develop/Stretch).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Weekend activities (website vocabulary (2 of 2)). Hear → Say → See → Use. Transliteration is printed for Core students (cover it for Develop/Stretch).
FLEX: teach if time allows; otherwise these are on the website vocabulary tab for homework.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Flexibility and balance (website vocabulary (1 of 2)). Hear → Say → See → Use. Transliteration is printed for Core students (cover it for Develop/Stretch).
FLEX: teach if time allows; otherwise these are on the website vocabulary tab for homework.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Flexibility and balance (website vocabulary (2 of 2)). Hear → Say → See → Use. Transliteration is printed for Core students (cover it for Develop/Stretch).
FLEX: teach if time allows; otherwise these are on the website vocabulary tab for homework.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1 — website rule “Contrast school days and weekends” (أَمَّا introduces the new topic and فَـ begins the comment) and website pattern 3.
Website common error: فَأَمَّا السَّبْتُ أَسْتَرِيحُ ✗ → أَمَّا السَّبْتُ فَأَسْتَرِيحُ ✓.
Core: learn row 1 as a chunk. Develop: rows 1–3, changing the activity. Stretch: row 4 (evaluation).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2 — website rules “Express a real condition with إِذَا” (the present can describe a repeated or likely condition), “Use flexible frequency precisely” (غَالِبًا مَا، فِي بَعْضِ الأَحْيَانِ، نَادِرًا مَا) and “Contrast two people or activities with بَيْنَمَا”.
Useful chunk for everyone: إِذَا كَانَ لَدَيَّ وَقْتٌ (if I have time) — students learn it whole. Also حَسَبَ الطَّقْسِ (depending on the weather).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WEBSITE GRAMMAR RULES AND EXAMPLES (FLEX — revision or homework). Website overview: “Weekend language often describes what usually happens and what changes according to time or circumstances. Combine contrast markers with simple conditional frames to express flexibility.”
• Contrast school days and weekends: أَمَّا introduces the new topic and فَـ begins the comment.
• Contrast two people or activities with بَيْنَمَا: Each verb must agree with its own subject.
• Express a real condition with إِذَا: The present tense can describe a repeated or likely condition.
• Use flexible frequency precisely: These frames describe tendencies without claiming a fixed timetable.
Website common error: Do not place فَـ before أَمَّا. The correct frame is أَمَّا + topic + فَـ + comment. Keep each verb matched to its own subject after بَيْنَمَا.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grammar quiz questions 1, 2, 3, 4.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website patterns combined into a short weekend, with a think-aloud. Students copy it and label each sentence: CONTRAST · FREQUENCY · CONDITION · JUDGEMENT.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 website patterns. Students copy TWO that are useful for them.
• Core: copy one and change one word. • Develop: copy two and change the subject. • Stretch: combine two into one longer sentence with a connector.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 picture-game sentences (school-day routine) become weekend contrasts. 20 seconds each; chat the letters. Q1–2 target the website’s main error (the position of fa-).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volunteers change the activity and say their own weekend version.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Sort each activity according to its main contribution.
Accept reasoned alternatives (helping at home can be family time). Stretch: use the sort to judge balance — which column is emptiest in YOUR weekend?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Sort each activity according to its main contribution.
Accept reasoned alternatives (helping at home can be family time). Stretch: use the sort to judge balance — which column is emptiest in YOUR weekend?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quiz questions 5, 6, 7, 8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LISTENING (4 min) — website script. Read it aloud yourself, twice, at natural speed with pauses.
Before listening: students read the questions (● 30s). Core: questions 1, 2 and 4. Develop / Stretch: all 5.
Listen 1: just listen. Listen 2: note answers. Then chat the letters.
Support: after the second listening, show the read-along slide (Arabic + English, line by line) for Core students.
SCRIPT (read aloud):
فِي نِهَايَةِ الأُسْبُوعِ لَا أَتَّبِعُ جَدْوَلًا صَارِمًا. صَبَاحَ السَّبْتِ غَالِبًا مَا أُسَاعِدُ أُسْرَتِي، ثُمَّ أَلْتَقِي بِصَدِيقَاتِي إِذَا كَانَ لَدَيَّ وَقْتٌ. أَمَّا مَسَاءُ السَّبْتِ فَأَقْضِيهِ مَعَ أُسْرَتِي. يَوْمَ الأَحَدِ أُرَاجِعُ دُرُوسِي لِمُدَّةِ سَاعَةٍ، بَيْنَمَا يَذْهَبُ أَخِي إِلَى التَّدْرِيبِ. بَعْدَ ذٰلِكَ نَزُورُ جَدَّتَنَا. أُحِبُّ هٰذَا التَّوَازُنَ لِأَنَّنِي أَسْتَرِيحُ وَأَسْتَعِدُّ لِلْأُسْبُوعِ الجَدِيدِ أَيْضًا.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SPEAKING REHEARSAL (3 min) — website speaking prompts.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Website prompts 1, 2, 3 and 5. (Prompt 4 “Which responsibilities do you complete?” is a good extra question for fast finishers.) Remind students to ask a girl with -īna (D1-L07): مَاذَا تَفْعَلِينَ يَوْمَ السَّبْتِ؟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differentiation tasks: Core — Describe four weekend activities. · Develop — Contrast Saturday, Sunday and school days accurately. · Stretch — Evaluate flexibility and balance through evidence and qualification.
Website writing task (Stretch): Write 100–120 words about your weekend routine and how it differs from school days.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from the website model, reading text and listening script. Live feedback for Stretch: check the target structures appear and are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FEEDBACK (1 min) — website model answer, with an English translation for Core students.
Students find in the model (● 20s → ◎) the four items on the chips. Evidence: أَمَّا يَوْمُ السَّبْتِ فَأَسْتَيْقِظُ · إِذَا كَانَ لَدَيَّ وَقْتٌ · غَالِبًا مَا، نَادِرًا مَا، لِمُدَّةِ سَاعَةٍ · بَيْنَمَا يُشَاهِدُ أَخِي · مُتَوَازِنَةٌ لِأَنَّهَا تَجْمَعُ … وَلٰكِنَّنِي أُرِيدُ أَنْ أَقْرَأَ أَكْثَرَ (qualification).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6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EXTENSION — website reading text. For fast finishers during You Do, or Stretch homework. “You don’t need every word; find the words the question asks about.”
The green key-words panel is a teacher-made glossary so Develop students can also attempt it.
SEND reading strategy (Toolkit 1): cover the text with a piece of paper and uncover one sentence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from the website. The detective steps follow the SEND “modular reading” strategy: read one part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from the website, with the evidence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LESSON MISSION (FLEX) — fast finishers or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(D1-L09 · Reading Daily Routines and Weekly Schedules) will spend class time USING this language, so students prepare it tonight — short, simple, easy to access (school guidance: “Simple, Short, Interesting, Relevant, Easy to access”). The five words come from the website D1-L09 vocabulary (routine texts and schedules, reading evidence).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8  ·  DEVELOPMENT D1  ·  D1-L08</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D1-L08</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Weekend Routine — What Do You Do at the Weekend?</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رُوتِينُ عُطْلَةِ نِهَايَةِ الأُسْبُوعِ — مَاذَا تَفْعَلُ؟</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Contrast the fixed school week with a flexible weekend: </a:t>
            </a:r>
            <a:pPr algn="l" indent="0" marL="0">
              <a:buNone/>
            </a:pPr>
            <a:r>
              <a:rPr lang="ar-SA" altLang="en-US" sz="1800" dirty="0">
                <a:solidFill>
                  <a:srgbClr val="C6D2E6"/>
                </a:solidFill>
                <a:latin typeface="Amiri" pitchFamily="2" charset="-78"/>
                <a:ea typeface="Amiri" pitchFamily="2" charset="-78"/>
                <a:cs typeface="Amiri" pitchFamily="2" charset="-78"/>
              </a:rPr>
              <a:t>أَمَّا … فَـ</a:t>
            </a:r>
            <a:pPr algn="l" indent="0" marL="0">
              <a:buNone/>
            </a:pPr>
            <a:r>
              <a:rPr lang="en-US" sz="1400" dirty="0">
                <a:solidFill>
                  <a:srgbClr val="C6D2E6"/>
                </a:solidFill>
                <a:latin typeface="Calibri" pitchFamily="34" charset="0"/>
                <a:cs typeface="Amiri" pitchFamily="2" charset="-78"/>
              </a:rPr>
              <a:t> and </a:t>
            </a:r>
            <a:pPr algn="l" indent="0" marL="0">
              <a:buNone/>
            </a:pPr>
            <a:r>
              <a:rPr lang="ar-SA" altLang="en-US" sz="1800" dirty="0">
                <a:solidFill>
                  <a:srgbClr val="C6D2E6"/>
                </a:solidFill>
                <a:latin typeface="Amiri" pitchFamily="2" charset="-78"/>
                <a:ea typeface="Amiri" pitchFamily="2" charset="-78"/>
                <a:cs typeface="Amiri" pitchFamily="2" charset="-78"/>
              </a:rPr>
              <a:t>بَيْنَمَا</a:t>
            </a:r>
            <a:pPr algn="l" indent="0" marL="0">
              <a:buNone/>
            </a:pPr>
            <a:r>
              <a:rPr lang="en-US" sz="1400" dirty="0">
                <a:solidFill>
                  <a:srgbClr val="C6D2E6"/>
                </a:solidFill>
                <a:latin typeface="Calibri" pitchFamily="34" charset="0"/>
                <a:cs typeface="Amiri" pitchFamily="2" charset="-78"/>
              </a:rPr>
              <a:t>, “if I have time” with </a:t>
            </a:r>
            <a:pPr algn="l" indent="0" marL="0">
              <a:buNone/>
            </a:pPr>
            <a:r>
              <a:rPr lang="ar-SA" altLang="en-US" sz="1800" dirty="0">
                <a:solidFill>
                  <a:srgbClr val="C6D2E6"/>
                </a:solidFill>
                <a:latin typeface="Amiri" pitchFamily="2" charset="-78"/>
                <a:ea typeface="Amiri" pitchFamily="2" charset="-78"/>
                <a:cs typeface="Amiri" pitchFamily="2" charset="-78"/>
              </a:rPr>
              <a:t>إِذَا</a:t>
            </a:r>
            <a:pPr algn="l" indent="0" marL="0">
              <a:buNone/>
            </a:pPr>
            <a:r>
              <a:rPr lang="en-US" sz="1400" dirty="0">
                <a:solidFill>
                  <a:srgbClr val="C6D2E6"/>
                </a:solidFill>
                <a:latin typeface="Calibri" pitchFamily="34" charset="0"/>
                <a:cs typeface="Amiri" pitchFamily="2" charset="-78"/>
              </a:rPr>
              <a:t>, flexible frequency (</a:t>
            </a:r>
            <a:pPr algn="l" indent="0" marL="0">
              <a:buNone/>
            </a:pPr>
            <a:r>
              <a:rPr lang="ar-SA" altLang="en-US" sz="1800" dirty="0">
                <a:solidFill>
                  <a:srgbClr val="C6D2E6"/>
                </a:solidFill>
                <a:latin typeface="Amiri" pitchFamily="2" charset="-78"/>
                <a:ea typeface="Amiri" pitchFamily="2" charset="-78"/>
                <a:cs typeface="Amiri" pitchFamily="2" charset="-78"/>
              </a:rPr>
              <a:t>غَالِبًا مَا، فِي بَعْضِ الأَحْيَانِ</a:t>
            </a:r>
            <a:pPr algn="l" indent="0" marL="0">
              <a:buNone/>
            </a:pPr>
            <a:r>
              <a:rPr lang="en-US" sz="1400" dirty="0">
                <a:solidFill>
                  <a:srgbClr val="C6D2E6"/>
                </a:solidFill>
                <a:latin typeface="Calibri" pitchFamily="34" charset="0"/>
                <a:cs typeface="Amiri" pitchFamily="2" charset="-78"/>
              </a:rPr>
              <a:t>) and a judgement about balance.</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D1-L08 · Development D1 · Daily Routine and Time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Development · A2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Development › D1 › D1-L08</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D1-L08 · Weekend Routine</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D1-L08</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46</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D1-L08 · Weekend Routine</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D1-L08</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School days vs the weekend; “if I have time”.</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School day → weekend, sort for balance, fix and listen.</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D1-L09.</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46</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D1-L08 · Weekend Routine</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D1-L08</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أَزُورُ أَقَارِبِي</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meet my friends</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visit my relatives</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go shopping</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وَقْتُ الفَرَاغِ</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free time</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weekend</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break time at school</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Ask a GIRL “What do you do?”</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مَاذَا تَفْعَلُ؟</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مَاذَا يَفْعَلُ؟</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مَاذَا تَفْعَلِينَ؟</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question asks for a reason?</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مَتَى؟</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كَمْ مَرَّةً؟</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لِمَاذَا؟</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أَمَّا يَوْمُ السَّبْتِ</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هُوَ يَوْمُ الرَّاحَةِ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فَـ</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بَيْنَمَا</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لِأَنَّ</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46</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D1-L08 · Weekend Routine</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D1-L08</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أَزُورُ أَقَارِبِي</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 meet my friends</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 visit my relatives</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 go shopping</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وَقْتُ الفَرَاغِ</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free time</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weekend</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break time at school</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Ask a GIRL “What do you do?”</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مَاذَا تَفْعَلُ؟</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مَاذَا يَفْعَلُ؟</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مَاذَا تَفْعَلِينَ؟</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D1-L07: girl → -īna.</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question asks for a reason?</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مَتَى؟</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كَمْ مَرَّةً؟</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لِمَاذَا؟</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D1-L07 question words.</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أَمَّا يَوْمُ السَّبْتِ</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هُوَ يَوْمُ الرَّاحَةِ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فَـ</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بَيْنَمَا</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لِأَنَّ</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D1-L03: </a:t>
            </a:r>
            <a:pPr algn="l" indent="0" marL="0">
              <a:buNone/>
            </a:pPr>
            <a:r>
              <a:rPr lang="ar-SA" altLang="en-US" sz="1350" dirty="0">
                <a:solidFill>
                  <a:srgbClr val="8A6D1E"/>
                </a:solidFill>
                <a:latin typeface="Amiri" pitchFamily="2" charset="-78"/>
                <a:ea typeface="Amiri" pitchFamily="2" charset="-78"/>
                <a:cs typeface="Amiri" pitchFamily="2" charset="-78"/>
              </a:rPr>
              <a:t>أَمَّا … فَـ</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School days are fixed; the weekend is flexible. Contrast them, and say what depends on time.</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1700" b="1" dirty="0">
                <a:solidFill>
                  <a:srgbClr val="0E7C86"/>
                </a:solidFill>
                <a:latin typeface="Amiri" pitchFamily="2" charset="-78"/>
                <a:ea typeface="Amiri" pitchFamily="2" charset="-78"/>
                <a:cs typeface="Amiri" pitchFamily="2" charset="-78"/>
              </a:rPr>
              <a:t>أَمَّا</a:t>
            </a:r>
            <a:pPr rtl="1" algn="ctr" indent="0" marL="0">
              <a:lnSpc>
                <a:spcPct val="120000"/>
              </a:lnSpc>
              <a:buNone/>
            </a:pPr>
            <a:r>
              <a:rPr lang="ar-SA" altLang="en-US" sz="1700" b="1" dirty="0">
                <a:solidFill>
                  <a:srgbClr val="1B3B6F"/>
                </a:solidFill>
                <a:latin typeface="Amiri" pitchFamily="2" charset="-78"/>
                <a:ea typeface="Amiri" pitchFamily="2" charset="-78"/>
                <a:cs typeface="Amiri" pitchFamily="2" charset="-78"/>
              </a:rPr>
              <a:t> فِي نِهَايَةِ الأُسْبُوعِ </a:t>
            </a:r>
            <a:pPr rtl="1" algn="ctr" indent="0" marL="0">
              <a:lnSpc>
                <a:spcPct val="120000"/>
              </a:lnSpc>
              <a:buNone/>
            </a:pPr>
            <a:r>
              <a:rPr lang="ar-SA" altLang="en-US" sz="1700" b="1" dirty="0">
                <a:solidFill>
                  <a:srgbClr val="0E7C86"/>
                </a:solidFill>
                <a:latin typeface="Amiri" pitchFamily="2" charset="-78"/>
                <a:ea typeface="Amiri" pitchFamily="2" charset="-78"/>
                <a:cs typeface="Amiri" pitchFamily="2" charset="-78"/>
              </a:rPr>
              <a:t>فَأَنَامُ</a:t>
            </a:r>
            <a:pPr rtl="1" algn="ctr" indent="0" marL="0">
              <a:lnSpc>
                <a:spcPct val="120000"/>
              </a:lnSpc>
              <a:buNone/>
            </a:pPr>
            <a:r>
              <a:rPr lang="ar-SA" altLang="en-US" sz="1700" b="1" dirty="0">
                <a:solidFill>
                  <a:srgbClr val="1B3B6F"/>
                </a:solidFill>
                <a:latin typeface="Amiri" pitchFamily="2" charset="-78"/>
                <a:ea typeface="Amiri" pitchFamily="2" charset="-78"/>
                <a:cs typeface="Amiri" pitchFamily="2" charset="-78"/>
              </a:rPr>
              <a:t> وَقْتًا أَطْوَلَ. </a:t>
            </a:r>
            <a:pPr rtl="1" algn="ctr" indent="0" marL="0">
              <a:lnSpc>
                <a:spcPct val="120000"/>
              </a:lnSpc>
              <a:buNone/>
            </a:pPr>
            <a:r>
              <a:rPr lang="ar-SA" altLang="en-US" sz="1700" b="1" dirty="0">
                <a:solidFill>
                  <a:srgbClr val="1D5FBF"/>
                </a:solidFill>
                <a:latin typeface="Amiri" pitchFamily="2" charset="-78"/>
                <a:ea typeface="Amiri" pitchFamily="2" charset="-78"/>
                <a:cs typeface="Amiri" pitchFamily="2" charset="-78"/>
              </a:rPr>
              <a:t>إِذَا</a:t>
            </a:r>
            <a:pPr rtl="1" algn="ctr" indent="0" marL="0">
              <a:lnSpc>
                <a:spcPct val="120000"/>
              </a:lnSpc>
              <a:buNone/>
            </a:pPr>
            <a:r>
              <a:rPr lang="ar-SA" altLang="en-US" sz="1700" b="1" dirty="0">
                <a:solidFill>
                  <a:srgbClr val="1B3B6F"/>
                </a:solidFill>
                <a:latin typeface="Amiri" pitchFamily="2" charset="-78"/>
                <a:ea typeface="Amiri" pitchFamily="2" charset="-78"/>
                <a:cs typeface="Amiri" pitchFamily="2" charset="-78"/>
              </a:rPr>
              <a:t> كَانَ لَدَيَّ وَقْتٌ أَلْتَقِي بِأَصْدِقَائِي.</a:t>
            </a:r>
            <a:endParaRPr lang="ar-SA" sz="170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46</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D1-L08 · Weekend Routine</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D1-L08</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Use weekend and free-time routine language accurately.</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Contrast fixed school-day routines with flexible weekend habits.</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Use </a:t>
            </a:r>
            <a:pPr algn="l" indent="0" marL="0">
              <a:buNone/>
            </a:pPr>
            <a:r>
              <a:rPr lang="ar-SA" altLang="en-US" sz="1700" dirty="0">
                <a:solidFill>
                  <a:srgbClr val="1F2A37"/>
                </a:solidFill>
                <a:latin typeface="Amiri" pitchFamily="2" charset="-78"/>
                <a:ea typeface="Amiri" pitchFamily="2" charset="-78"/>
                <a:cs typeface="Amiri" pitchFamily="2" charset="-78"/>
              </a:rPr>
              <a:t>أَمَّا</a:t>
            </a:r>
            <a:pPr algn="l" indent="0" marL="0">
              <a:buNone/>
            </a:pPr>
            <a:r>
              <a:rPr lang="en-US" sz="1300" dirty="0">
                <a:solidFill>
                  <a:srgbClr val="1F2A37"/>
                </a:solidFill>
                <a:latin typeface="Calibri" pitchFamily="34" charset="0"/>
                <a:cs typeface="Amiri" pitchFamily="2" charset="-78"/>
              </a:rPr>
              <a:t> ... </a:t>
            </a:r>
            <a:pPr algn="l" indent="0" marL="0">
              <a:buNone/>
            </a:pPr>
            <a:r>
              <a:rPr lang="ar-SA" altLang="en-US" sz="1700" dirty="0">
                <a:solidFill>
                  <a:srgbClr val="1F2A37"/>
                </a:solidFill>
                <a:latin typeface="Amiri" pitchFamily="2" charset="-78"/>
                <a:ea typeface="Amiri" pitchFamily="2" charset="-78"/>
                <a:cs typeface="Amiri" pitchFamily="2" charset="-78"/>
              </a:rPr>
              <a:t>فَـ</a:t>
            </a:r>
            <a:pPr algn="l" indent="0" marL="0">
              <a:buNone/>
            </a:pPr>
            <a:r>
              <a:rPr lang="en-US" sz="1300" dirty="0">
                <a:solidFill>
                  <a:srgbClr val="1F2A37"/>
                </a:solidFill>
                <a:latin typeface="Calibri" pitchFamily="34" charset="0"/>
                <a:cs typeface="Amiri" pitchFamily="2" charset="-78"/>
              </a:rPr>
              <a:t>, </a:t>
            </a:r>
            <a:pPr algn="l" indent="0" marL="0">
              <a:buNone/>
            </a:pPr>
            <a:r>
              <a:rPr lang="ar-SA" altLang="en-US" sz="1700" dirty="0">
                <a:solidFill>
                  <a:srgbClr val="1F2A37"/>
                </a:solidFill>
                <a:latin typeface="Amiri" pitchFamily="2" charset="-78"/>
                <a:ea typeface="Amiri" pitchFamily="2" charset="-78"/>
                <a:cs typeface="Amiri" pitchFamily="2" charset="-78"/>
              </a:rPr>
              <a:t>بَيْنَمَا</a:t>
            </a:r>
            <a:pPr algn="l" indent="0" marL="0">
              <a:buNone/>
            </a:pPr>
            <a:r>
              <a:rPr lang="en-US" sz="1300" dirty="0">
                <a:solidFill>
                  <a:srgbClr val="1F2A37"/>
                </a:solidFill>
                <a:latin typeface="Calibri" pitchFamily="34" charset="0"/>
                <a:cs typeface="Amiri" pitchFamily="2" charset="-78"/>
              </a:rPr>
              <a:t> and </a:t>
            </a:r>
            <a:pPr algn="l" indent="0" marL="0">
              <a:buNone/>
            </a:pPr>
            <a:r>
              <a:rPr lang="ar-SA" altLang="en-US" sz="1700" dirty="0">
                <a:solidFill>
                  <a:srgbClr val="1F2A37"/>
                </a:solidFill>
                <a:latin typeface="Amiri" pitchFamily="2" charset="-78"/>
                <a:ea typeface="Amiri" pitchFamily="2" charset="-78"/>
                <a:cs typeface="Amiri" pitchFamily="2" charset="-78"/>
              </a:rPr>
              <a:t>غالبًا ما</a:t>
            </a:r>
            <a:pPr algn="l" indent="0" marL="0">
              <a:buNone/>
            </a:pPr>
            <a:r>
              <a:rPr lang="en-US" sz="1300" dirty="0">
                <a:solidFill>
                  <a:srgbClr val="1F2A37"/>
                </a:solidFill>
                <a:latin typeface="Calibri" pitchFamily="34" charset="0"/>
                <a:cs typeface="Amiri" pitchFamily="2" charset="-78"/>
              </a:rPr>
              <a:t> for developed comparison.</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Plan and produce a balanced 100–120-word weekend account.</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say four things I do at the weekend.</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contrast school days and the weekend.</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describe Saturday and Sunday separately.</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compare with another person using </a:t>
            </a:r>
            <a:pPr algn="l" indent="0" marL="0">
              <a:buNone/>
            </a:pPr>
            <a:r>
              <a:rPr lang="ar-SA" altLang="en-US" sz="1700" b="1" dirty="0">
                <a:solidFill>
                  <a:srgbClr val="C9780A"/>
                </a:solidFill>
                <a:latin typeface="Amiri" pitchFamily="2" charset="-78"/>
                <a:ea typeface="Amiri" pitchFamily="2" charset="-78"/>
                <a:cs typeface="Amiri" pitchFamily="2" charset="-78"/>
              </a:rPr>
              <a:t>بَيْنَمَا</a:t>
            </a:r>
            <a:pPr algn="l" indent="0" marL="0">
              <a:buNone/>
            </a:pPr>
            <a:r>
              <a:rPr lang="en-US" sz="1300" b="1" dirty="0">
                <a:solidFill>
                  <a:srgbClr val="C9780A"/>
                </a:solidFill>
                <a:latin typeface="Calibri" pitchFamily="34" charset="0"/>
                <a:cs typeface="Amiri" pitchFamily="2" charset="-78"/>
              </a:rPr>
              <a:t>.</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say what depends on time or weather with </a:t>
            </a:r>
            <a:pPr algn="l" indent="0" marL="0">
              <a:buNone/>
            </a:pPr>
            <a:r>
              <a:rPr lang="ar-SA" altLang="en-US" sz="1700" b="1" dirty="0">
                <a:solidFill>
                  <a:srgbClr val="B83227"/>
                </a:solidFill>
                <a:latin typeface="Amiri" pitchFamily="2" charset="-78"/>
                <a:ea typeface="Amiri" pitchFamily="2" charset="-78"/>
                <a:cs typeface="Amiri" pitchFamily="2" charset="-78"/>
              </a:rPr>
              <a:t>إِذَا</a:t>
            </a:r>
            <a:pPr algn="l" indent="0" marL="0">
              <a:buNone/>
            </a:pPr>
            <a:r>
              <a:rPr lang="en-US" sz="1300" b="1" dirty="0">
                <a:solidFill>
                  <a:srgbClr val="B83227"/>
                </a:solidFill>
                <a:latin typeface="Calibri" pitchFamily="34" charset="0"/>
                <a:cs typeface="Amiri" pitchFamily="2" charset="-78"/>
              </a:rPr>
              <a:t>.</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judge whether my weekend is balanced, with evidence.</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46</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ea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28 words from the website in 3 groups. Learn the CORE words first. Hear it → say it → see it → use it.</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Weekend time · 8</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en-US" sz="1200" b="1" dirty="0">
                <a:solidFill>
                  <a:srgbClr val="FFFFFF"/>
                </a:solidFill>
                <a:latin typeface="Calibri" pitchFamily="34" charset="0"/>
                <a:cs typeface="Amiri" pitchFamily="2" charset="-78"/>
              </a:rPr>
              <a:t>Weekend activities · 10</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3</a:t>
            </a:r>
            <a:endParaRPr lang="en-US" sz="900" dirty="0"/>
          </a:p>
          <a:p>
            <a:pPr indent="0" marL="0">
              <a:buNone/>
            </a:pPr>
            <a:r>
              <a:rPr lang="en-US" sz="1200" b="1" dirty="0">
                <a:solidFill>
                  <a:srgbClr val="FFFFFF"/>
                </a:solidFill>
                <a:latin typeface="Calibri" pitchFamily="34" charset="0"/>
                <a:cs typeface="Amiri" pitchFamily="2" charset="-78"/>
              </a:rPr>
              <a:t>Flexibility and balance · 10</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عُطْلَةٌ</a:t>
            </a:r>
            <a:endParaRPr lang="ar-SA" sz="190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‎تعطیل‎ </a:t>
            </a:r>
            <a:pPr indent="0" marL="0">
              <a:buNone/>
            </a:pPr>
            <a:r>
              <a:rPr lang="en-US" sz="950" b="1" dirty="0">
                <a:solidFill>
                  <a:srgbClr val="2E8B57"/>
                </a:solidFill>
                <a:latin typeface="Calibri" pitchFamily="34" charset="0"/>
                <a:cs typeface="Amiri" pitchFamily="2" charset="-78"/>
              </a:rPr>
              <a:t> taʿtīl · holiday, break</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أَقَارِبُ</a:t>
            </a:r>
            <a:endParaRPr lang="ar-SA" sz="190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‎اقارب‎ </a:t>
            </a:r>
            <a:pPr indent="0" marL="0">
              <a:buNone/>
            </a:pPr>
            <a:r>
              <a:rPr lang="en-US" sz="950" b="1" dirty="0">
                <a:solidFill>
                  <a:srgbClr val="2E8B57"/>
                </a:solidFill>
                <a:latin typeface="Calibri" pitchFamily="34" charset="0"/>
                <a:cs typeface="Amiri" pitchFamily="2" charset="-78"/>
              </a:rPr>
              <a:t> aqārib · relatives</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تَوَازُنٌ</a:t>
            </a:r>
            <a:endParaRPr lang="ar-SA" sz="190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‎توازن‎ </a:t>
            </a:r>
            <a:pPr indent="0" marL="0">
              <a:buNone/>
            </a:pPr>
            <a:r>
              <a:rPr lang="en-US" sz="950" b="1" dirty="0">
                <a:solidFill>
                  <a:srgbClr val="2E8B57"/>
                </a:solidFill>
                <a:latin typeface="Calibri" pitchFamily="34" charset="0"/>
                <a:cs typeface="Amiri" pitchFamily="2" charset="-78"/>
              </a:rPr>
              <a:t> tawāzun · balance</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مَسْؤُولِيَّةٌ</a:t>
            </a:r>
            <a:endParaRPr lang="ar-SA" sz="19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‎مسئولیت‎ </a:t>
            </a:r>
            <a:pPr indent="0" marL="0">
              <a:buNone/>
            </a:pPr>
            <a:r>
              <a:rPr lang="en-US" sz="950" b="1" dirty="0">
                <a:solidFill>
                  <a:srgbClr val="2E8B57"/>
                </a:solidFill>
                <a:latin typeface="Calibri" pitchFamily="34" charset="0"/>
                <a:cs typeface="Amiri" pitchFamily="2" charset="-78"/>
              </a:rPr>
              <a:t> masʾūliyat · responsibility</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الطَّقْسُ</a:t>
            </a:r>
            <a:endParaRPr lang="ar-SA" sz="190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‎موسم‎ </a:t>
            </a:r>
            <a:pPr indent="0" marL="0">
              <a:buNone/>
            </a:pPr>
            <a:r>
              <a:rPr lang="ar-SA" sz="950" b="1" dirty="0">
                <a:solidFill>
                  <a:srgbClr val="2E8B57"/>
                </a:solidFill>
                <a:latin typeface="Calibri" pitchFamily="34" charset="0"/>
                <a:ea typeface="Amiri" pitchFamily="2" charset="-78"/>
                <a:cs typeface="Amiri" pitchFamily="2" charset="-78"/>
              </a:rPr>
              <a:t> mausam · Urdu: weather · Arabic مَوْسِمٌ: season</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46</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D1-L08 · Weekend Routine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Weekend time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D1-L08</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عُطْلَةُ نِهَايَةِ الأُسْبُوعِ</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weekend break</a:t>
            </a:r>
            <a:endParaRPr lang="en-US" sz="1350" dirty="0"/>
          </a:p>
          <a:p>
            <a:pPr indent="0" marL="0">
              <a:buNone/>
            </a:pPr>
            <a:r>
              <a:rPr lang="en-US" sz="1100" i="1" dirty="0">
                <a:solidFill>
                  <a:srgbClr val="5A6472"/>
                </a:solidFill>
                <a:latin typeface="Calibri" pitchFamily="34" charset="0"/>
                <a:cs typeface="Amiri" pitchFamily="2" charset="-78"/>
              </a:rPr>
              <a:t>ʿuṭ-la-tu ni-hā-ya-ti al-us-bū-ʿi</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يَوْمُ السَّبْتِ</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Saturday</a:t>
            </a:r>
            <a:endParaRPr lang="en-US" sz="1350" dirty="0"/>
          </a:p>
          <a:p>
            <a:pPr indent="0" marL="0">
              <a:buNone/>
            </a:pPr>
            <a:r>
              <a:rPr lang="en-US" sz="1100" i="1" dirty="0">
                <a:solidFill>
                  <a:srgbClr val="5A6472"/>
                </a:solidFill>
                <a:latin typeface="Calibri" pitchFamily="34" charset="0"/>
                <a:cs typeface="Amiri" pitchFamily="2" charset="-78"/>
              </a:rPr>
              <a:t>yaw-mu as-sab-ti</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يَوْمُ الأَحَدِ</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Sunday</a:t>
            </a:r>
            <a:endParaRPr lang="en-US" sz="1350" dirty="0"/>
          </a:p>
          <a:p>
            <a:pPr indent="0" marL="0">
              <a:buNone/>
            </a:pPr>
            <a:r>
              <a:rPr lang="en-US" sz="1100" i="1" dirty="0">
                <a:solidFill>
                  <a:srgbClr val="5A6472"/>
                </a:solidFill>
                <a:latin typeface="Calibri" pitchFamily="34" charset="0"/>
                <a:cs typeface="Amiri" pitchFamily="2" charset="-78"/>
              </a:rPr>
              <a:t>yaw-mu al-a-ḥa-di</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39" name="Text 36"/>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صَبَاحُ السَّبْتِ</a:t>
            </a:r>
            <a:endParaRPr lang="ar-SA" sz="3000" dirty="0"/>
          </a:p>
        </p:txBody>
      </p:sp>
      <p:sp>
        <p:nvSpPr>
          <p:cNvPr id="40" name="Text 37"/>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Saturday morning</a:t>
            </a:r>
            <a:endParaRPr lang="en-US" sz="1350" dirty="0"/>
          </a:p>
          <a:p>
            <a:pPr indent="0" marL="0">
              <a:buNone/>
            </a:pPr>
            <a:r>
              <a:rPr lang="en-US" sz="1100" i="1" dirty="0">
                <a:solidFill>
                  <a:srgbClr val="5A6472"/>
                </a:solidFill>
                <a:latin typeface="Calibri" pitchFamily="34" charset="0"/>
                <a:cs typeface="Amiri" pitchFamily="2" charset="-78"/>
              </a:rPr>
              <a:t>ṣa-bā-ḥu as-sab-ti</a:t>
            </a:r>
            <a:endParaRPr lang="en-US" sz="13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46</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D1-L08 · Weekend Routine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Weekend time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D1-L08</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18" name="Text 15"/>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مَسَاءُ الأَحَدِ</a:t>
            </a:r>
            <a:endParaRPr lang="ar-SA" sz="3000" dirty="0"/>
          </a:p>
        </p:txBody>
      </p:sp>
      <p:sp>
        <p:nvSpPr>
          <p:cNvPr id="19" name="Text 16"/>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Sunday evening</a:t>
            </a:r>
            <a:endParaRPr lang="en-US" sz="1350" dirty="0"/>
          </a:p>
          <a:p>
            <a:pPr indent="0" marL="0">
              <a:buNone/>
            </a:pPr>
            <a:r>
              <a:rPr lang="en-US" sz="1100" i="1" dirty="0">
                <a:solidFill>
                  <a:srgbClr val="5A6472"/>
                </a:solidFill>
                <a:latin typeface="Calibri" pitchFamily="34" charset="0"/>
                <a:cs typeface="Amiri" pitchFamily="2" charset="-78"/>
              </a:rPr>
              <a:t>ma-sā-ʾu al-a-ḥa-di</a:t>
            </a:r>
            <a:endParaRPr lang="en-US" sz="1350" dirty="0"/>
          </a:p>
        </p:txBody>
      </p:sp>
      <p:sp>
        <p:nvSpPr>
          <p:cNvPr id="20" name="Shape 1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4389120" y="1920240"/>
            <a:ext cx="310896" cy="310896"/>
          </a:xfrm>
          <a:prstGeom prst="ellipse">
            <a:avLst/>
          </a:prstGeom>
          <a:solidFill>
            <a:srgbClr val="F4F1EA"/>
          </a:solidFill>
          <a:ln w="12700">
            <a:solidFill>
              <a:srgbClr val="F4F1EA"/>
            </a:solidFill>
            <a:prstDash val="solid"/>
          </a:ln>
        </p:spPr>
      </p:sp>
      <p:sp>
        <p:nvSpPr>
          <p:cNvPr id="22" name="Text 1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23" name="Shape 20"/>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فِي نِهَايَةِ الأُسْبُوعِ</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at the weekend</a:t>
            </a:r>
            <a:endParaRPr lang="en-US" sz="1350" dirty="0"/>
          </a:p>
          <a:p>
            <a:pPr indent="0" marL="0">
              <a:buNone/>
            </a:pPr>
            <a:r>
              <a:rPr lang="en-US" sz="1100" i="1" dirty="0">
                <a:solidFill>
                  <a:srgbClr val="5A6472"/>
                </a:solidFill>
                <a:latin typeface="Calibri" pitchFamily="34" charset="0"/>
                <a:cs typeface="Amiri" pitchFamily="2" charset="-78"/>
              </a:rPr>
              <a:t>fī ni-hā-ya-ti al-us-bū-ʿi</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30" name="Text 2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خِلَالَ العُطْلَةِ</a:t>
            </a:r>
            <a:endParaRPr lang="ar-SA" sz="3000" dirty="0"/>
          </a:p>
        </p:txBody>
      </p:sp>
      <p:sp>
        <p:nvSpPr>
          <p:cNvPr id="31" name="Text 2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during the break</a:t>
            </a:r>
            <a:endParaRPr lang="en-US" sz="1350" dirty="0"/>
          </a:p>
          <a:p>
            <a:pPr indent="0" marL="0">
              <a:buNone/>
            </a:pPr>
            <a:r>
              <a:rPr lang="en-US" sz="1100" i="1" dirty="0">
                <a:solidFill>
                  <a:srgbClr val="5A6472"/>
                </a:solidFill>
                <a:latin typeface="Calibri" pitchFamily="34" charset="0"/>
                <a:cs typeface="Amiri" pitchFamily="2" charset="-78"/>
              </a:rPr>
              <a:t>khi-lā-la al-ʿuṭ-la-ti</a:t>
            </a:r>
            <a:endParaRPr lang="en-US" sz="1350" dirty="0"/>
          </a:p>
        </p:txBody>
      </p:sp>
      <p:sp>
        <p:nvSpPr>
          <p:cNvPr id="32" name="Shape 2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8211312" y="4261104"/>
            <a:ext cx="310896" cy="310896"/>
          </a:xfrm>
          <a:prstGeom prst="ellipse">
            <a:avLst/>
          </a:prstGeom>
          <a:solidFill>
            <a:srgbClr val="F4F1EA"/>
          </a:solidFill>
          <a:ln w="12700">
            <a:solidFill>
              <a:srgbClr val="F4F1EA"/>
            </a:solidFill>
            <a:prstDash val="solid"/>
          </a:ln>
        </p:spPr>
      </p:sp>
      <p:sp>
        <p:nvSpPr>
          <p:cNvPr id="34" name="Text 3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35" name="Text 32"/>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مُعْظَمَ الوَقْتِ</a:t>
            </a:r>
            <a:endParaRPr lang="ar-SA" sz="3000" dirty="0"/>
          </a:p>
        </p:txBody>
      </p:sp>
      <p:sp>
        <p:nvSpPr>
          <p:cNvPr id="36" name="Text 33"/>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most of the time</a:t>
            </a:r>
            <a:endParaRPr lang="en-US" sz="1350" dirty="0"/>
          </a:p>
          <a:p>
            <a:pPr indent="0" marL="0">
              <a:buNone/>
            </a:pPr>
            <a:r>
              <a:rPr lang="en-US" sz="1100" i="1" dirty="0">
                <a:solidFill>
                  <a:srgbClr val="5A6472"/>
                </a:solidFill>
                <a:latin typeface="Calibri" pitchFamily="34" charset="0"/>
                <a:cs typeface="Amiri" pitchFamily="2" charset="-78"/>
              </a:rPr>
              <a:t>muʿ-ẓa-ma al-waq-ti</a:t>
            </a:r>
            <a:endParaRPr lang="en-US" sz="13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46</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D1-L08 · Weekend Routine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Weekend activities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D1-L08</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18" name="Shape 15"/>
          <p:cNvSpPr/>
          <p:nvPr/>
        </p:nvSpPr>
        <p:spPr>
          <a:xfrm>
            <a:off x="8604504" y="1938528"/>
            <a:ext cx="1020470"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أَنَامُ وَقْتًا أَطْوَلَ</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sleep longer</a:t>
            </a:r>
            <a:endParaRPr lang="en-US" sz="1350" dirty="0"/>
          </a:p>
          <a:p>
            <a:pPr indent="0" marL="0">
              <a:buNone/>
            </a:pPr>
            <a:r>
              <a:rPr lang="en-US" sz="1100" i="1" dirty="0">
                <a:solidFill>
                  <a:srgbClr val="5A6472"/>
                </a:solidFill>
                <a:latin typeface="Calibri" pitchFamily="34" charset="0"/>
                <a:cs typeface="Amiri" pitchFamily="2" charset="-78"/>
              </a:rPr>
              <a:t>a-nā-mu waq-tan aṭ-wa-la</a:t>
            </a:r>
            <a:endParaRPr lang="en-US" sz="1350" dirty="0"/>
          </a:p>
        </p:txBody>
      </p:sp>
      <p:sp>
        <p:nvSpPr>
          <p:cNvPr id="24" name="Shape 21"/>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we</a:t>
            </a:r>
            <a:endParaRPr lang="en-US" sz="750" dirty="0"/>
          </a:p>
        </p:txBody>
      </p:sp>
      <p:sp>
        <p:nvSpPr>
          <p:cNvPr id="26" name="Text 23"/>
          <p:cNvSpPr txBox="1"/>
          <p:nvPr/>
        </p:nvSpPr>
        <p:spPr>
          <a:xfrm>
            <a:off x="1058875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نَنَامُ</a:t>
            </a:r>
            <a:endParaRPr lang="ar-SA" sz="1500" dirty="0"/>
          </a:p>
        </p:txBody>
      </p:sp>
      <p:sp>
        <p:nvSpPr>
          <p:cNvPr id="27" name="Shape 24"/>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29" name="Text 26"/>
          <p:cNvSpPr txBox="1"/>
          <p:nvPr/>
        </p:nvSpPr>
        <p:spPr>
          <a:xfrm>
            <a:off x="943660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تَنَامُ</a:t>
            </a:r>
            <a:endParaRPr lang="ar-SA" sz="1500" dirty="0"/>
          </a:p>
        </p:txBody>
      </p:sp>
      <p:sp>
        <p:nvSpPr>
          <p:cNvPr id="30" name="Shape 27"/>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31" name="Text 28"/>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he</a:t>
            </a:r>
            <a:endParaRPr lang="en-US" sz="750" dirty="0"/>
          </a:p>
        </p:txBody>
      </p:sp>
      <p:sp>
        <p:nvSpPr>
          <p:cNvPr id="32" name="Text 29"/>
          <p:cNvSpPr txBox="1"/>
          <p:nvPr/>
        </p:nvSpPr>
        <p:spPr>
          <a:xfrm>
            <a:off x="828446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يَنَامُ</a:t>
            </a:r>
            <a:endParaRPr lang="ar-SA" sz="1500" dirty="0"/>
          </a:p>
        </p:txBody>
      </p:sp>
      <p:sp>
        <p:nvSpPr>
          <p:cNvPr id="33" name="Shape 3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4389120"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36" name="Shape 33"/>
          <p:cNvSpPr/>
          <p:nvPr/>
        </p:nvSpPr>
        <p:spPr>
          <a:xfrm>
            <a:off x="4782312" y="1938528"/>
            <a:ext cx="896112" cy="256032"/>
          </a:xfrm>
          <a:prstGeom prst="roundRect">
            <a:avLst>
              <a:gd name="adj" fmla="val 50000"/>
            </a:avLst>
          </a:prstGeom>
          <a:solidFill>
            <a:srgbClr val="EFE7D2"/>
          </a:solidFill>
          <a:ln w="12700">
            <a:solidFill>
              <a:srgbClr val="EFE7D2"/>
            </a:solidFill>
            <a:prstDash val="solid"/>
          </a:ln>
        </p:spPr>
      </p:sp>
      <p:sp>
        <p:nvSpPr>
          <p:cNvPr id="37" name="Text 34"/>
          <p:cNvSpPr txBox="1"/>
          <p:nvPr/>
        </p:nvSpPr>
        <p:spPr>
          <a:xfrm>
            <a:off x="4782312"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38" name="Shape 35"/>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9" name="Text 36"/>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0" name="Text 37"/>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أَزُورُ أَقَارِبِي</a:t>
            </a:r>
            <a:endParaRPr lang="ar-SA" sz="3000" dirty="0"/>
          </a:p>
        </p:txBody>
      </p:sp>
      <p:sp>
        <p:nvSpPr>
          <p:cNvPr id="41" name="Text 38"/>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visit relatives</a:t>
            </a:r>
            <a:endParaRPr lang="en-US" sz="1350" dirty="0"/>
          </a:p>
          <a:p>
            <a:pPr indent="0" marL="0">
              <a:buNone/>
            </a:pPr>
            <a:r>
              <a:rPr lang="en-US" sz="1100" i="1" dirty="0">
                <a:solidFill>
                  <a:srgbClr val="5A6472"/>
                </a:solidFill>
                <a:latin typeface="Calibri" pitchFamily="34" charset="0"/>
                <a:cs typeface="Amiri" pitchFamily="2" charset="-78"/>
              </a:rPr>
              <a:t>a-zū-ru a-qā-ri-bī</a:t>
            </a:r>
            <a:endParaRPr lang="en-US" sz="1350" dirty="0"/>
          </a:p>
        </p:txBody>
      </p:sp>
      <p:sp>
        <p:nvSpPr>
          <p:cNvPr id="42" name="Shape 39"/>
          <p:cNvSpPr/>
          <p:nvPr/>
        </p:nvSpPr>
        <p:spPr>
          <a:xfrm>
            <a:off x="6720840" y="3438144"/>
            <a:ext cx="1060704"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677570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4" name="Text 41"/>
          <p:cNvSpPr txBox="1"/>
          <p:nvPr/>
        </p:nvSpPr>
        <p:spPr>
          <a:xfrm>
            <a:off x="676656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أَقَارِبُ</a:t>
            </a:r>
            <a:endParaRPr lang="ar-SA" sz="1500" dirty="0"/>
          </a:p>
        </p:txBody>
      </p:sp>
      <p:sp>
        <p:nvSpPr>
          <p:cNvPr id="45" name="Shape 42"/>
          <p:cNvSpPr/>
          <p:nvPr/>
        </p:nvSpPr>
        <p:spPr>
          <a:xfrm>
            <a:off x="5568696" y="3438144"/>
            <a:ext cx="1060704" cy="438912"/>
          </a:xfrm>
          <a:prstGeom prst="roundRect">
            <a:avLst>
              <a:gd name="adj" fmla="val 10417"/>
            </a:avLst>
          </a:prstGeom>
          <a:solidFill>
            <a:srgbClr val="F4F1EA"/>
          </a:solidFill>
          <a:ln w="9525">
            <a:solidFill>
              <a:srgbClr val="F4F1EA"/>
            </a:solidFill>
            <a:prstDash val="solid"/>
          </a:ln>
        </p:spPr>
      </p:sp>
      <p:sp>
        <p:nvSpPr>
          <p:cNvPr id="46" name="Text 43"/>
          <p:cNvSpPr txBox="1"/>
          <p:nvPr/>
        </p:nvSpPr>
        <p:spPr>
          <a:xfrm>
            <a:off x="5623560"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47" name="Text 44"/>
          <p:cNvSpPr txBox="1"/>
          <p:nvPr/>
        </p:nvSpPr>
        <p:spPr>
          <a:xfrm>
            <a:off x="5614416"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قَرِيبَةٌ</a:t>
            </a:r>
            <a:endParaRPr lang="ar-SA" sz="1500" dirty="0"/>
          </a:p>
        </p:txBody>
      </p:sp>
      <p:sp>
        <p:nvSpPr>
          <p:cNvPr id="48" name="Shape 45"/>
          <p:cNvSpPr/>
          <p:nvPr/>
        </p:nvSpPr>
        <p:spPr>
          <a:xfrm>
            <a:off x="4416552" y="3438144"/>
            <a:ext cx="1060704" cy="438912"/>
          </a:xfrm>
          <a:prstGeom prst="roundRect">
            <a:avLst>
              <a:gd name="adj" fmla="val 10417"/>
            </a:avLst>
          </a:prstGeom>
          <a:solidFill>
            <a:srgbClr val="F4F1EA"/>
          </a:solidFill>
          <a:ln w="9525">
            <a:solidFill>
              <a:srgbClr val="F4F1EA"/>
            </a:solidFill>
            <a:prstDash val="solid"/>
          </a:ln>
        </p:spPr>
      </p:sp>
      <p:sp>
        <p:nvSpPr>
          <p:cNvPr id="49" name="Text 46"/>
          <p:cNvSpPr txBox="1"/>
          <p:nvPr/>
        </p:nvSpPr>
        <p:spPr>
          <a:xfrm>
            <a:off x="447141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50" name="Text 47"/>
          <p:cNvSpPr txBox="1"/>
          <p:nvPr/>
        </p:nvSpPr>
        <p:spPr>
          <a:xfrm>
            <a:off x="446227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قَرِيبٌ</a:t>
            </a:r>
            <a:endParaRPr lang="ar-SA" sz="1500" dirty="0"/>
          </a:p>
        </p:txBody>
      </p:sp>
      <p:sp>
        <p:nvSpPr>
          <p:cNvPr id="51" name="Shape 4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566928" y="1920240"/>
            <a:ext cx="310896" cy="310896"/>
          </a:xfrm>
          <a:prstGeom prst="ellipse">
            <a:avLst/>
          </a:prstGeom>
          <a:solidFill>
            <a:srgbClr val="F4F1EA"/>
          </a:solidFill>
          <a:ln w="12700">
            <a:solidFill>
              <a:srgbClr val="F4F1EA"/>
            </a:solidFill>
            <a:prstDash val="solid"/>
          </a:ln>
        </p:spPr>
      </p:sp>
      <p:sp>
        <p:nvSpPr>
          <p:cNvPr id="53" name="Text 5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54" name="Shape 51"/>
          <p:cNvSpPr/>
          <p:nvPr/>
        </p:nvSpPr>
        <p:spPr>
          <a:xfrm>
            <a:off x="960120" y="1938528"/>
            <a:ext cx="896112" cy="256032"/>
          </a:xfrm>
          <a:prstGeom prst="roundRect">
            <a:avLst>
              <a:gd name="adj" fmla="val 50000"/>
            </a:avLst>
          </a:prstGeom>
          <a:solidFill>
            <a:srgbClr val="EFE7D2"/>
          </a:solidFill>
          <a:ln w="12700">
            <a:solidFill>
              <a:srgbClr val="EFE7D2"/>
            </a:solidFill>
            <a:prstDash val="solid"/>
          </a:ln>
        </p:spPr>
      </p:sp>
      <p:sp>
        <p:nvSpPr>
          <p:cNvPr id="55" name="Text 52"/>
          <p:cNvSpPr txBox="1"/>
          <p:nvPr/>
        </p:nvSpPr>
        <p:spPr>
          <a:xfrm>
            <a:off x="960120"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56" name="Shape 53"/>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57" name="Text 54"/>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8" name="Text 55"/>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أَلْتَقِي بِأَصْدِقَائِي</a:t>
            </a:r>
            <a:endParaRPr lang="ar-SA" sz="3000" dirty="0"/>
          </a:p>
        </p:txBody>
      </p:sp>
      <p:sp>
        <p:nvSpPr>
          <p:cNvPr id="59" name="Text 56"/>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meet friends</a:t>
            </a:r>
            <a:endParaRPr lang="en-US" sz="1350" dirty="0"/>
          </a:p>
          <a:p>
            <a:pPr indent="0" marL="0">
              <a:buNone/>
            </a:pPr>
            <a:r>
              <a:rPr lang="en-US" sz="1100" i="1" dirty="0">
                <a:solidFill>
                  <a:srgbClr val="5A6472"/>
                </a:solidFill>
                <a:latin typeface="Calibri" pitchFamily="34" charset="0"/>
                <a:cs typeface="Amiri" pitchFamily="2" charset="-78"/>
              </a:rPr>
              <a:t>al-ta-qī bi-ʾaṣ-di-qā-ʾī</a:t>
            </a:r>
            <a:endParaRPr lang="en-US" sz="1350" dirty="0"/>
          </a:p>
        </p:txBody>
      </p:sp>
      <p:sp>
        <p:nvSpPr>
          <p:cNvPr id="60" name="Shape 57"/>
          <p:cNvSpPr/>
          <p:nvPr/>
        </p:nvSpPr>
        <p:spPr>
          <a:xfrm>
            <a:off x="2898648" y="3438144"/>
            <a:ext cx="1060704" cy="438912"/>
          </a:xfrm>
          <a:prstGeom prst="roundRect">
            <a:avLst>
              <a:gd name="adj" fmla="val 10417"/>
            </a:avLst>
          </a:prstGeom>
          <a:solidFill>
            <a:srgbClr val="F4F1EA"/>
          </a:solidFill>
          <a:ln w="9525">
            <a:solidFill>
              <a:srgbClr val="F4F1EA"/>
            </a:solidFill>
            <a:prstDash val="solid"/>
          </a:ln>
        </p:spPr>
      </p:sp>
      <p:sp>
        <p:nvSpPr>
          <p:cNvPr id="61" name="Text 58"/>
          <p:cNvSpPr txBox="1"/>
          <p:nvPr/>
        </p:nvSpPr>
        <p:spPr>
          <a:xfrm>
            <a:off x="295351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62" name="Text 59"/>
          <p:cNvSpPr txBox="1"/>
          <p:nvPr/>
        </p:nvSpPr>
        <p:spPr>
          <a:xfrm>
            <a:off x="294436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أَصْدِقَاءُ</a:t>
            </a:r>
            <a:endParaRPr lang="ar-SA" sz="1500" dirty="0"/>
          </a:p>
        </p:txBody>
      </p:sp>
      <p:sp>
        <p:nvSpPr>
          <p:cNvPr id="63" name="Shape 60"/>
          <p:cNvSpPr/>
          <p:nvPr/>
        </p:nvSpPr>
        <p:spPr>
          <a:xfrm>
            <a:off x="1746504" y="3438144"/>
            <a:ext cx="1060704" cy="438912"/>
          </a:xfrm>
          <a:prstGeom prst="roundRect">
            <a:avLst>
              <a:gd name="adj" fmla="val 10417"/>
            </a:avLst>
          </a:prstGeom>
          <a:solidFill>
            <a:srgbClr val="F4F1EA"/>
          </a:solidFill>
          <a:ln w="9525">
            <a:solidFill>
              <a:srgbClr val="F4F1EA"/>
            </a:solidFill>
            <a:prstDash val="solid"/>
          </a:ln>
        </p:spPr>
      </p:sp>
      <p:sp>
        <p:nvSpPr>
          <p:cNvPr id="64" name="Text 61"/>
          <p:cNvSpPr txBox="1"/>
          <p:nvPr/>
        </p:nvSpPr>
        <p:spPr>
          <a:xfrm>
            <a:off x="180136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65" name="Text 62"/>
          <p:cNvSpPr txBox="1"/>
          <p:nvPr/>
        </p:nvSpPr>
        <p:spPr>
          <a:xfrm>
            <a:off x="179222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صَدِيقَةٌ</a:t>
            </a:r>
            <a:endParaRPr lang="ar-SA" sz="1500" dirty="0"/>
          </a:p>
        </p:txBody>
      </p:sp>
      <p:sp>
        <p:nvSpPr>
          <p:cNvPr id="66" name="Shape 63"/>
          <p:cNvSpPr/>
          <p:nvPr/>
        </p:nvSpPr>
        <p:spPr>
          <a:xfrm>
            <a:off x="594360" y="3438144"/>
            <a:ext cx="1060704" cy="438912"/>
          </a:xfrm>
          <a:prstGeom prst="roundRect">
            <a:avLst>
              <a:gd name="adj" fmla="val 10417"/>
            </a:avLst>
          </a:prstGeom>
          <a:solidFill>
            <a:srgbClr val="F4F1EA"/>
          </a:solidFill>
          <a:ln w="9525">
            <a:solidFill>
              <a:srgbClr val="F4F1EA"/>
            </a:solidFill>
            <a:prstDash val="solid"/>
          </a:ln>
        </p:spPr>
      </p:sp>
      <p:sp>
        <p:nvSpPr>
          <p:cNvPr id="67" name="Text 64"/>
          <p:cNvSpPr txBox="1"/>
          <p:nvPr/>
        </p:nvSpPr>
        <p:spPr>
          <a:xfrm>
            <a:off x="64922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68" name="Text 65"/>
          <p:cNvSpPr txBox="1"/>
          <p:nvPr/>
        </p:nvSpPr>
        <p:spPr>
          <a:xfrm>
            <a:off x="64008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صَدِيقٌ</a:t>
            </a:r>
            <a:endParaRPr lang="ar-SA" sz="1500" dirty="0"/>
          </a:p>
        </p:txBody>
      </p:sp>
      <p:sp>
        <p:nvSpPr>
          <p:cNvPr id="69" name="Shape 66"/>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8211312" y="4261104"/>
            <a:ext cx="310896" cy="310896"/>
          </a:xfrm>
          <a:prstGeom prst="ellipse">
            <a:avLst/>
          </a:prstGeom>
          <a:solidFill>
            <a:srgbClr val="F4F1EA"/>
          </a:solidFill>
          <a:ln w="12700">
            <a:solidFill>
              <a:srgbClr val="F4F1EA"/>
            </a:solidFill>
            <a:prstDash val="solid"/>
          </a:ln>
        </p:spPr>
      </p:sp>
      <p:sp>
        <p:nvSpPr>
          <p:cNvPr id="71" name="Text 68"/>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72" name="Text 69"/>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أَذْهَبُ إِلَى الحَدِيقَةِ</a:t>
            </a:r>
            <a:endParaRPr lang="ar-SA" sz="3000" dirty="0"/>
          </a:p>
        </p:txBody>
      </p:sp>
      <p:sp>
        <p:nvSpPr>
          <p:cNvPr id="73" name="Text 70"/>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go to the park</a:t>
            </a:r>
            <a:endParaRPr lang="en-US" sz="1350" dirty="0"/>
          </a:p>
          <a:p>
            <a:pPr indent="0" marL="0">
              <a:buNone/>
            </a:pPr>
            <a:r>
              <a:rPr lang="en-US" sz="1100" i="1" dirty="0">
                <a:solidFill>
                  <a:srgbClr val="5A6472"/>
                </a:solidFill>
                <a:latin typeface="Calibri" pitchFamily="34" charset="0"/>
                <a:cs typeface="Amiri" pitchFamily="2" charset="-78"/>
              </a:rPr>
              <a:t>adh-ha-bu i-lā al-ḥa-dī-qa-ti</a:t>
            </a:r>
            <a:endParaRPr lang="en-US" sz="1350" dirty="0"/>
          </a:p>
        </p:txBody>
      </p:sp>
      <p:sp>
        <p:nvSpPr>
          <p:cNvPr id="74" name="Shape 71"/>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5" name="Shape 72"/>
          <p:cNvSpPr/>
          <p:nvPr/>
        </p:nvSpPr>
        <p:spPr>
          <a:xfrm>
            <a:off x="4389120" y="4261104"/>
            <a:ext cx="310896" cy="310896"/>
          </a:xfrm>
          <a:prstGeom prst="ellipse">
            <a:avLst/>
          </a:prstGeom>
          <a:solidFill>
            <a:srgbClr val="F4F1EA"/>
          </a:solidFill>
          <a:ln w="12700">
            <a:solidFill>
              <a:srgbClr val="F4F1EA"/>
            </a:solidFill>
            <a:prstDash val="solid"/>
          </a:ln>
        </p:spPr>
      </p:sp>
      <p:sp>
        <p:nvSpPr>
          <p:cNvPr id="76" name="Text 73"/>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13</a:t>
            </a:r>
            <a:endParaRPr lang="en-US" sz="1000" dirty="0"/>
          </a:p>
        </p:txBody>
      </p:sp>
      <p:sp>
        <p:nvSpPr>
          <p:cNvPr id="77" name="Shape 74"/>
          <p:cNvSpPr/>
          <p:nvPr/>
        </p:nvSpPr>
        <p:spPr>
          <a:xfrm>
            <a:off x="4782312" y="4279392"/>
            <a:ext cx="1020470" cy="256032"/>
          </a:xfrm>
          <a:prstGeom prst="roundRect">
            <a:avLst>
              <a:gd name="adj" fmla="val 50000"/>
            </a:avLst>
          </a:prstGeom>
          <a:solidFill>
            <a:srgbClr val="EFE7D2"/>
          </a:solidFill>
          <a:ln w="12700">
            <a:solidFill>
              <a:srgbClr val="EFE7D2"/>
            </a:solidFill>
            <a:prstDash val="solid"/>
          </a:ln>
        </p:spPr>
      </p:sp>
      <p:sp>
        <p:nvSpPr>
          <p:cNvPr id="78" name="Text 75"/>
          <p:cNvSpPr txBox="1"/>
          <p:nvPr/>
        </p:nvSpPr>
        <p:spPr>
          <a:xfrm>
            <a:off x="4782312" y="4279392"/>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79" name="Shape 76"/>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80" name="Text 77"/>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81" name="Text 78"/>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أَتَسَوَّقُ</a:t>
            </a:r>
            <a:endParaRPr lang="ar-SA" sz="3000" dirty="0"/>
          </a:p>
        </p:txBody>
      </p:sp>
      <p:sp>
        <p:nvSpPr>
          <p:cNvPr id="82" name="Text 79"/>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shop</a:t>
            </a:r>
            <a:endParaRPr lang="en-US" sz="1350" dirty="0"/>
          </a:p>
          <a:p>
            <a:pPr indent="0" marL="0">
              <a:buNone/>
            </a:pPr>
            <a:r>
              <a:rPr lang="en-US" sz="1100" i="1" dirty="0">
                <a:solidFill>
                  <a:srgbClr val="5A6472"/>
                </a:solidFill>
                <a:latin typeface="Calibri" pitchFamily="34" charset="0"/>
                <a:cs typeface="Amiri" pitchFamily="2" charset="-78"/>
              </a:rPr>
              <a:t>a-ta-saw-wa-qu</a:t>
            </a:r>
            <a:endParaRPr lang="en-US" sz="1350" dirty="0"/>
          </a:p>
        </p:txBody>
      </p:sp>
      <p:sp>
        <p:nvSpPr>
          <p:cNvPr id="83" name="Shape 80"/>
          <p:cNvSpPr/>
          <p:nvPr/>
        </p:nvSpPr>
        <p:spPr>
          <a:xfrm>
            <a:off x="6720840" y="5779008"/>
            <a:ext cx="1060704" cy="438912"/>
          </a:xfrm>
          <a:prstGeom prst="roundRect">
            <a:avLst>
              <a:gd name="adj" fmla="val 10417"/>
            </a:avLst>
          </a:prstGeom>
          <a:solidFill>
            <a:srgbClr val="F4F1EA"/>
          </a:solidFill>
          <a:ln w="9525">
            <a:solidFill>
              <a:srgbClr val="F4F1EA"/>
            </a:solidFill>
            <a:prstDash val="solid"/>
          </a:ln>
        </p:spPr>
      </p:sp>
      <p:sp>
        <p:nvSpPr>
          <p:cNvPr id="84" name="Text 81"/>
          <p:cNvSpPr txBox="1"/>
          <p:nvPr/>
        </p:nvSpPr>
        <p:spPr>
          <a:xfrm>
            <a:off x="6775704"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we</a:t>
            </a:r>
            <a:endParaRPr lang="en-US" sz="750" dirty="0"/>
          </a:p>
        </p:txBody>
      </p:sp>
      <p:sp>
        <p:nvSpPr>
          <p:cNvPr id="85" name="Text 82"/>
          <p:cNvSpPr txBox="1"/>
          <p:nvPr/>
        </p:nvSpPr>
        <p:spPr>
          <a:xfrm>
            <a:off x="6766560"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نَتَسَوَّقُ</a:t>
            </a:r>
            <a:endParaRPr lang="ar-SA" sz="1500" dirty="0"/>
          </a:p>
        </p:txBody>
      </p:sp>
      <p:sp>
        <p:nvSpPr>
          <p:cNvPr id="86" name="Shape 83"/>
          <p:cNvSpPr/>
          <p:nvPr/>
        </p:nvSpPr>
        <p:spPr>
          <a:xfrm>
            <a:off x="5568696" y="5779008"/>
            <a:ext cx="1060704" cy="438912"/>
          </a:xfrm>
          <a:prstGeom prst="roundRect">
            <a:avLst>
              <a:gd name="adj" fmla="val 10417"/>
            </a:avLst>
          </a:prstGeom>
          <a:solidFill>
            <a:srgbClr val="F4F1EA"/>
          </a:solidFill>
          <a:ln w="9525">
            <a:solidFill>
              <a:srgbClr val="F4F1EA"/>
            </a:solidFill>
            <a:prstDash val="solid"/>
          </a:ln>
        </p:spPr>
      </p:sp>
      <p:sp>
        <p:nvSpPr>
          <p:cNvPr id="87" name="Text 84"/>
          <p:cNvSpPr txBox="1"/>
          <p:nvPr/>
        </p:nvSpPr>
        <p:spPr>
          <a:xfrm>
            <a:off x="5623560"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88" name="Text 85"/>
          <p:cNvSpPr txBox="1"/>
          <p:nvPr/>
        </p:nvSpPr>
        <p:spPr>
          <a:xfrm>
            <a:off x="5614416"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تَتَسَوَّقُ</a:t>
            </a:r>
            <a:endParaRPr lang="ar-SA" sz="1500" dirty="0"/>
          </a:p>
        </p:txBody>
      </p:sp>
      <p:sp>
        <p:nvSpPr>
          <p:cNvPr id="89" name="Shape 86"/>
          <p:cNvSpPr/>
          <p:nvPr/>
        </p:nvSpPr>
        <p:spPr>
          <a:xfrm>
            <a:off x="4416552" y="5779008"/>
            <a:ext cx="1060704" cy="438912"/>
          </a:xfrm>
          <a:prstGeom prst="roundRect">
            <a:avLst>
              <a:gd name="adj" fmla="val 10417"/>
            </a:avLst>
          </a:prstGeom>
          <a:solidFill>
            <a:srgbClr val="F4F1EA"/>
          </a:solidFill>
          <a:ln w="9525">
            <a:solidFill>
              <a:srgbClr val="F4F1EA"/>
            </a:solidFill>
            <a:prstDash val="solid"/>
          </a:ln>
        </p:spPr>
      </p:sp>
      <p:sp>
        <p:nvSpPr>
          <p:cNvPr id="90" name="Text 87"/>
          <p:cNvSpPr txBox="1"/>
          <p:nvPr/>
        </p:nvSpPr>
        <p:spPr>
          <a:xfrm>
            <a:off x="447141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he</a:t>
            </a:r>
            <a:endParaRPr lang="en-US" sz="750" dirty="0"/>
          </a:p>
        </p:txBody>
      </p:sp>
      <p:sp>
        <p:nvSpPr>
          <p:cNvPr id="91" name="Text 88"/>
          <p:cNvSpPr txBox="1"/>
          <p:nvPr/>
        </p:nvSpPr>
        <p:spPr>
          <a:xfrm>
            <a:off x="446227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يَتَسَوَّقُ</a:t>
            </a:r>
            <a:endParaRPr lang="ar-SA" sz="1500" dirty="0"/>
          </a:p>
        </p:txBody>
      </p:sp>
      <p:sp>
        <p:nvSpPr>
          <p:cNvPr id="92" name="Text 8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46</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D1-L08 · Weekend Routine</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Weekend activities (2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D1-L08</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14</a:t>
            </a:r>
            <a:endParaRPr lang="en-US" sz="10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أُسَاعِدُ فِي البَيْتِ</a:t>
            </a:r>
            <a:endParaRPr lang="ar-SA" sz="3000" dirty="0"/>
          </a:p>
        </p:txBody>
      </p:sp>
      <p:sp>
        <p:nvSpPr>
          <p:cNvPr id="23" name="Text 20"/>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help at home</a:t>
            </a:r>
            <a:endParaRPr lang="en-US" sz="1350" dirty="0"/>
          </a:p>
          <a:p>
            <a:pPr indent="0" marL="0">
              <a:buNone/>
            </a:pPr>
            <a:r>
              <a:rPr lang="en-US" sz="1100" i="1" dirty="0">
                <a:solidFill>
                  <a:srgbClr val="5A6472"/>
                </a:solidFill>
                <a:latin typeface="Calibri" pitchFamily="34" charset="0"/>
                <a:cs typeface="Amiri" pitchFamily="2" charset="-78"/>
              </a:rPr>
              <a:t>u-sā-ʿi-du fī al-bay-ti</a:t>
            </a:r>
            <a:endParaRPr lang="en-US" sz="1350" dirty="0"/>
          </a:p>
        </p:txBody>
      </p:sp>
      <p:sp>
        <p:nvSpPr>
          <p:cNvPr id="24" name="Shape 21"/>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Shape 22"/>
          <p:cNvSpPr/>
          <p:nvPr/>
        </p:nvSpPr>
        <p:spPr>
          <a:xfrm>
            <a:off x="4389120" y="1920240"/>
            <a:ext cx="310896" cy="310896"/>
          </a:xfrm>
          <a:prstGeom prst="ellipse">
            <a:avLst/>
          </a:prstGeom>
          <a:solidFill>
            <a:srgbClr val="F4F1EA"/>
          </a:solidFill>
          <a:ln w="12700">
            <a:solidFill>
              <a:srgbClr val="F4F1EA"/>
            </a:solidFill>
            <a:prstDash val="solid"/>
          </a:ln>
        </p:spPr>
      </p:sp>
      <p:sp>
        <p:nvSpPr>
          <p:cNvPr id="26" name="Text 23"/>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15</a:t>
            </a:r>
            <a:endParaRPr lang="en-US" sz="10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أُرَاجِعُ مَا تَعَلَّمْتُهُ</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revise what I learned</a:t>
            </a:r>
            <a:endParaRPr lang="en-US" sz="1350" dirty="0"/>
          </a:p>
          <a:p>
            <a:pPr indent="0" marL="0">
              <a:buNone/>
            </a:pPr>
            <a:r>
              <a:rPr lang="en-US" sz="1100" i="1" dirty="0">
                <a:solidFill>
                  <a:srgbClr val="5A6472"/>
                </a:solidFill>
                <a:latin typeface="Calibri" pitchFamily="34" charset="0"/>
                <a:cs typeface="Amiri" pitchFamily="2" charset="-78"/>
              </a:rPr>
              <a:t>u-rā-ji-ʿu mā ta-ʿal-lam-tu-hu</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16</a:t>
            </a:r>
            <a:endParaRPr lang="en-US" sz="1000" dirty="0"/>
          </a:p>
        </p:txBody>
      </p:sp>
      <p:sp>
        <p:nvSpPr>
          <p:cNvPr id="32" name="Shape 29"/>
          <p:cNvSpPr/>
          <p:nvPr/>
        </p:nvSpPr>
        <p:spPr>
          <a:xfrm>
            <a:off x="960120" y="1938528"/>
            <a:ext cx="1020470" cy="256032"/>
          </a:xfrm>
          <a:prstGeom prst="roundRect">
            <a:avLst>
              <a:gd name="adj" fmla="val 50000"/>
            </a:avLst>
          </a:prstGeom>
          <a:solidFill>
            <a:srgbClr val="EFE7D2"/>
          </a:solidFill>
          <a:ln w="12700">
            <a:solidFill>
              <a:srgbClr val="EFE7D2"/>
            </a:solidFill>
            <a:prstDash val="solid"/>
          </a:ln>
        </p:spPr>
      </p:sp>
      <p:sp>
        <p:nvSpPr>
          <p:cNvPr id="33" name="Text 30"/>
          <p:cNvSpPr txBox="1"/>
          <p:nvPr/>
        </p:nvSpPr>
        <p:spPr>
          <a:xfrm>
            <a:off x="960120"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34" name="Text 31"/>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أُخَطِّطُ لِلْأُسْبُوعِ</a:t>
            </a:r>
            <a:endParaRPr lang="ar-SA" sz="3000" dirty="0"/>
          </a:p>
        </p:txBody>
      </p:sp>
      <p:sp>
        <p:nvSpPr>
          <p:cNvPr id="35" name="Text 32"/>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plan the week</a:t>
            </a:r>
            <a:endParaRPr lang="en-US" sz="1350" dirty="0"/>
          </a:p>
          <a:p>
            <a:pPr indent="0" marL="0">
              <a:buNone/>
            </a:pPr>
            <a:r>
              <a:rPr lang="en-US" sz="1100" i="1" dirty="0">
                <a:solidFill>
                  <a:srgbClr val="5A6472"/>
                </a:solidFill>
                <a:latin typeface="Calibri" pitchFamily="34" charset="0"/>
                <a:cs typeface="Amiri" pitchFamily="2" charset="-78"/>
              </a:rPr>
              <a:t>u-khaṭ-ṭi-ṭu lil-ʾus-bū-ʿi</a:t>
            </a:r>
            <a:endParaRPr lang="en-US" sz="1350" dirty="0"/>
          </a:p>
        </p:txBody>
      </p:sp>
      <p:sp>
        <p:nvSpPr>
          <p:cNvPr id="36" name="Shape 33"/>
          <p:cNvSpPr/>
          <p:nvPr/>
        </p:nvSpPr>
        <p:spPr>
          <a:xfrm>
            <a:off x="2898648" y="3438144"/>
            <a:ext cx="1060704" cy="438912"/>
          </a:xfrm>
          <a:prstGeom prst="roundRect">
            <a:avLst>
              <a:gd name="adj" fmla="val 10417"/>
            </a:avLst>
          </a:prstGeom>
          <a:solidFill>
            <a:srgbClr val="F4F1EA"/>
          </a:solidFill>
          <a:ln w="9525">
            <a:solidFill>
              <a:srgbClr val="F4F1EA"/>
            </a:solidFill>
            <a:prstDash val="solid"/>
          </a:ln>
        </p:spPr>
      </p:sp>
      <p:sp>
        <p:nvSpPr>
          <p:cNvPr id="37" name="Text 34"/>
          <p:cNvSpPr txBox="1"/>
          <p:nvPr/>
        </p:nvSpPr>
        <p:spPr>
          <a:xfrm>
            <a:off x="295351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we</a:t>
            </a:r>
            <a:endParaRPr lang="en-US" sz="750" dirty="0"/>
          </a:p>
        </p:txBody>
      </p:sp>
      <p:sp>
        <p:nvSpPr>
          <p:cNvPr id="38" name="Text 35"/>
          <p:cNvSpPr txBox="1"/>
          <p:nvPr/>
        </p:nvSpPr>
        <p:spPr>
          <a:xfrm>
            <a:off x="294436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نُخَطِّطُ</a:t>
            </a:r>
            <a:endParaRPr lang="ar-SA" sz="1500" dirty="0"/>
          </a:p>
        </p:txBody>
      </p:sp>
      <p:sp>
        <p:nvSpPr>
          <p:cNvPr id="39" name="Shape 36"/>
          <p:cNvSpPr/>
          <p:nvPr/>
        </p:nvSpPr>
        <p:spPr>
          <a:xfrm>
            <a:off x="1746504" y="3438144"/>
            <a:ext cx="1060704" cy="438912"/>
          </a:xfrm>
          <a:prstGeom prst="roundRect">
            <a:avLst>
              <a:gd name="adj" fmla="val 10417"/>
            </a:avLst>
          </a:prstGeom>
          <a:solidFill>
            <a:srgbClr val="F4F1EA"/>
          </a:solidFill>
          <a:ln w="9525">
            <a:solidFill>
              <a:srgbClr val="F4F1EA"/>
            </a:solidFill>
            <a:prstDash val="solid"/>
          </a:ln>
        </p:spPr>
      </p:sp>
      <p:sp>
        <p:nvSpPr>
          <p:cNvPr id="40" name="Text 37"/>
          <p:cNvSpPr txBox="1"/>
          <p:nvPr/>
        </p:nvSpPr>
        <p:spPr>
          <a:xfrm>
            <a:off x="180136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41" name="Text 38"/>
          <p:cNvSpPr txBox="1"/>
          <p:nvPr/>
        </p:nvSpPr>
        <p:spPr>
          <a:xfrm>
            <a:off x="179222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تُخَطِّطُ</a:t>
            </a:r>
            <a:endParaRPr lang="ar-SA" sz="1500" dirty="0"/>
          </a:p>
        </p:txBody>
      </p:sp>
      <p:sp>
        <p:nvSpPr>
          <p:cNvPr id="42" name="Shape 39"/>
          <p:cNvSpPr/>
          <p:nvPr/>
        </p:nvSpPr>
        <p:spPr>
          <a:xfrm>
            <a:off x="594360" y="3438144"/>
            <a:ext cx="1060704"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64922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he</a:t>
            </a:r>
            <a:endParaRPr lang="en-US" sz="750" dirty="0"/>
          </a:p>
        </p:txBody>
      </p:sp>
      <p:sp>
        <p:nvSpPr>
          <p:cNvPr id="44" name="Text 41"/>
          <p:cNvSpPr txBox="1"/>
          <p:nvPr/>
        </p:nvSpPr>
        <p:spPr>
          <a:xfrm>
            <a:off x="64008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يُخَطِّطُ</a:t>
            </a:r>
            <a:endParaRPr lang="ar-SA" sz="1500" dirty="0"/>
          </a:p>
        </p:txBody>
      </p:sp>
      <p:sp>
        <p:nvSpPr>
          <p:cNvPr id="45" name="Shape 42"/>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11312" y="4261104"/>
            <a:ext cx="310896" cy="310896"/>
          </a:xfrm>
          <a:prstGeom prst="ellipse">
            <a:avLst/>
          </a:prstGeom>
          <a:solidFill>
            <a:srgbClr val="F4F1EA"/>
          </a:solidFill>
          <a:ln w="12700">
            <a:solidFill>
              <a:srgbClr val="F4F1EA"/>
            </a:solidFill>
            <a:prstDash val="solid"/>
          </a:ln>
        </p:spPr>
      </p:sp>
      <p:sp>
        <p:nvSpPr>
          <p:cNvPr id="47" name="Text 44"/>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17</a:t>
            </a:r>
            <a:endParaRPr lang="en-US" sz="1000" dirty="0"/>
          </a:p>
        </p:txBody>
      </p:sp>
      <p:sp>
        <p:nvSpPr>
          <p:cNvPr id="48" name="Shape 45"/>
          <p:cNvSpPr/>
          <p:nvPr/>
        </p:nvSpPr>
        <p:spPr>
          <a:xfrm>
            <a:off x="8604504" y="4279392"/>
            <a:ext cx="709574" cy="256032"/>
          </a:xfrm>
          <a:prstGeom prst="roundRect">
            <a:avLst>
              <a:gd name="adj" fmla="val 50000"/>
            </a:avLst>
          </a:prstGeom>
          <a:solidFill>
            <a:srgbClr val="EFE7D2"/>
          </a:solidFill>
          <a:ln w="12700">
            <a:solidFill>
              <a:srgbClr val="EFE7D2"/>
            </a:solidFill>
            <a:prstDash val="solid"/>
          </a:ln>
        </p:spPr>
      </p:sp>
      <p:sp>
        <p:nvSpPr>
          <p:cNvPr id="49" name="Text 46"/>
          <p:cNvSpPr txBox="1"/>
          <p:nvPr/>
        </p:nvSpPr>
        <p:spPr>
          <a:xfrm>
            <a:off x="8604504"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50" name="Shape 47"/>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أُمَارِسُ هِوَايَتِي</a:t>
            </a:r>
            <a:endParaRPr lang="ar-SA" sz="3000" dirty="0"/>
          </a:p>
        </p:txBody>
      </p:sp>
      <p:sp>
        <p:nvSpPr>
          <p:cNvPr id="53" name="Text 50"/>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practise my hobby</a:t>
            </a:r>
            <a:endParaRPr lang="en-US" sz="1350" dirty="0"/>
          </a:p>
          <a:p>
            <a:pPr indent="0" marL="0">
              <a:buNone/>
            </a:pPr>
            <a:r>
              <a:rPr lang="en-US" sz="1100" i="1" dirty="0">
                <a:solidFill>
                  <a:srgbClr val="5A6472"/>
                </a:solidFill>
                <a:latin typeface="Calibri" pitchFamily="34" charset="0"/>
                <a:cs typeface="Amiri" pitchFamily="2" charset="-78"/>
              </a:rPr>
              <a:t>u-mā-ri-su hi-wā-ya-tī</a:t>
            </a:r>
            <a:endParaRPr lang="en-US" sz="1350" dirty="0"/>
          </a:p>
        </p:txBody>
      </p:sp>
      <p:sp>
        <p:nvSpPr>
          <p:cNvPr id="54" name="Shape 51"/>
          <p:cNvSpPr/>
          <p:nvPr/>
        </p:nvSpPr>
        <p:spPr>
          <a:xfrm>
            <a:off x="10543032" y="5779008"/>
            <a:ext cx="1060704" cy="438912"/>
          </a:xfrm>
          <a:prstGeom prst="roundRect">
            <a:avLst>
              <a:gd name="adj" fmla="val 10417"/>
            </a:avLst>
          </a:prstGeom>
          <a:solidFill>
            <a:srgbClr val="F4F1EA"/>
          </a:solidFill>
          <a:ln w="9525">
            <a:solidFill>
              <a:srgbClr val="F4F1EA"/>
            </a:solidFill>
            <a:prstDash val="solid"/>
          </a:ln>
        </p:spPr>
      </p:sp>
      <p:sp>
        <p:nvSpPr>
          <p:cNvPr id="55" name="Text 52"/>
          <p:cNvSpPr txBox="1"/>
          <p:nvPr/>
        </p:nvSpPr>
        <p:spPr>
          <a:xfrm>
            <a:off x="1059789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56" name="Text 53"/>
          <p:cNvSpPr txBox="1"/>
          <p:nvPr/>
        </p:nvSpPr>
        <p:spPr>
          <a:xfrm>
            <a:off x="1058875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هِوَايَاتٌ</a:t>
            </a:r>
            <a:endParaRPr lang="ar-SA" sz="1500" dirty="0"/>
          </a:p>
        </p:txBody>
      </p:sp>
      <p:sp>
        <p:nvSpPr>
          <p:cNvPr id="57" name="Shape 54"/>
          <p:cNvSpPr/>
          <p:nvPr/>
        </p:nvSpPr>
        <p:spPr>
          <a:xfrm>
            <a:off x="9390888" y="5779008"/>
            <a:ext cx="1060704" cy="438912"/>
          </a:xfrm>
          <a:prstGeom prst="roundRect">
            <a:avLst>
              <a:gd name="adj" fmla="val 10417"/>
            </a:avLst>
          </a:prstGeom>
          <a:solidFill>
            <a:srgbClr val="F4F1EA"/>
          </a:solidFill>
          <a:ln w="9525">
            <a:solidFill>
              <a:srgbClr val="F4F1EA"/>
            </a:solidFill>
            <a:prstDash val="solid"/>
          </a:ln>
        </p:spPr>
      </p:sp>
      <p:sp>
        <p:nvSpPr>
          <p:cNvPr id="58" name="Text 55"/>
          <p:cNvSpPr txBox="1"/>
          <p:nvPr/>
        </p:nvSpPr>
        <p:spPr>
          <a:xfrm>
            <a:off x="9445752" y="5788152"/>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hobby</a:t>
            </a:r>
            <a:endParaRPr lang="en-US" sz="700" dirty="0"/>
          </a:p>
        </p:txBody>
      </p:sp>
      <p:sp>
        <p:nvSpPr>
          <p:cNvPr id="59" name="Text 56"/>
          <p:cNvSpPr txBox="1"/>
          <p:nvPr/>
        </p:nvSpPr>
        <p:spPr>
          <a:xfrm>
            <a:off x="9436608" y="5916168"/>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هِوَايَةٌ</a:t>
            </a:r>
            <a:endParaRPr lang="ar-SA" sz="1350" dirty="0"/>
          </a:p>
        </p:txBody>
      </p:sp>
      <p:sp>
        <p:nvSpPr>
          <p:cNvPr id="60" name="Shape 57"/>
          <p:cNvSpPr/>
          <p:nvPr/>
        </p:nvSpPr>
        <p:spPr>
          <a:xfrm>
            <a:off x="8238744" y="5779008"/>
            <a:ext cx="1060704" cy="438912"/>
          </a:xfrm>
          <a:prstGeom prst="roundRect">
            <a:avLst>
              <a:gd name="adj" fmla="val 10417"/>
            </a:avLst>
          </a:prstGeom>
          <a:solidFill>
            <a:srgbClr val="F4F1EA"/>
          </a:solidFill>
          <a:ln w="9525">
            <a:solidFill>
              <a:srgbClr val="F4F1EA"/>
            </a:solidFill>
            <a:prstDash val="solid"/>
          </a:ln>
        </p:spPr>
      </p:sp>
      <p:sp>
        <p:nvSpPr>
          <p:cNvPr id="61" name="Text 58"/>
          <p:cNvSpPr txBox="1"/>
          <p:nvPr/>
        </p:nvSpPr>
        <p:spPr>
          <a:xfrm>
            <a:off x="829360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he</a:t>
            </a:r>
            <a:endParaRPr lang="en-US" sz="750" dirty="0"/>
          </a:p>
        </p:txBody>
      </p:sp>
      <p:sp>
        <p:nvSpPr>
          <p:cNvPr id="62" name="Text 59"/>
          <p:cNvSpPr txBox="1"/>
          <p:nvPr/>
        </p:nvSpPr>
        <p:spPr>
          <a:xfrm>
            <a:off x="828446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يُمَارِسُ هِوَايَتَهُ</a:t>
            </a:r>
            <a:endParaRPr lang="ar-SA" sz="1500" dirty="0"/>
          </a:p>
        </p:txBody>
      </p:sp>
      <p:sp>
        <p:nvSpPr>
          <p:cNvPr id="63" name="Shape 6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4389120" y="4261104"/>
            <a:ext cx="310896" cy="310896"/>
          </a:xfrm>
          <a:prstGeom prst="ellipse">
            <a:avLst/>
          </a:prstGeom>
          <a:solidFill>
            <a:srgbClr val="F4F1EA"/>
          </a:solidFill>
          <a:ln w="12700">
            <a:solidFill>
              <a:srgbClr val="F4F1EA"/>
            </a:solidFill>
            <a:prstDash val="solid"/>
          </a:ln>
        </p:spPr>
      </p:sp>
      <p:sp>
        <p:nvSpPr>
          <p:cNvPr id="65" name="Text 6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18</a:t>
            </a:r>
            <a:endParaRPr lang="en-US" sz="1000" dirty="0"/>
          </a:p>
        </p:txBody>
      </p:sp>
      <p:sp>
        <p:nvSpPr>
          <p:cNvPr id="66" name="Text 63"/>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أَقْضِي وَقْتًا فِي الخَارِجِ</a:t>
            </a:r>
            <a:endParaRPr lang="ar-SA" sz="3000" dirty="0"/>
          </a:p>
        </p:txBody>
      </p:sp>
      <p:sp>
        <p:nvSpPr>
          <p:cNvPr id="67" name="Text 64"/>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spend time outdoors</a:t>
            </a:r>
            <a:endParaRPr lang="en-US" sz="1350" dirty="0"/>
          </a:p>
          <a:p>
            <a:pPr indent="0" marL="0">
              <a:buNone/>
            </a:pPr>
            <a:r>
              <a:rPr lang="en-US" sz="1100" i="1" dirty="0">
                <a:solidFill>
                  <a:srgbClr val="5A6472"/>
                </a:solidFill>
                <a:latin typeface="Calibri" pitchFamily="34" charset="0"/>
                <a:cs typeface="Amiri" pitchFamily="2" charset="-78"/>
              </a:rPr>
              <a:t>aq-ḍī waq-tan fī al-khā-ri-ji</a:t>
            </a:r>
            <a:endParaRPr lang="en-US" sz="1350" dirty="0"/>
          </a:p>
        </p:txBody>
      </p:sp>
      <p:sp>
        <p:nvSpPr>
          <p:cNvPr id="68" name="Text 6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46</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D1-L08 · Weekend Routine</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Flexibility and balance (1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D1-L08</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19</a:t>
            </a:r>
            <a:endParaRPr lang="en-US" sz="10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غَالِبًا مَا</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often</a:t>
            </a:r>
            <a:endParaRPr lang="en-US" sz="1350" dirty="0"/>
          </a:p>
          <a:p>
            <a:pPr indent="0" marL="0">
              <a:buNone/>
            </a:pPr>
            <a:r>
              <a:rPr lang="en-US" sz="1100" i="1" dirty="0">
                <a:solidFill>
                  <a:srgbClr val="5A6472"/>
                </a:solidFill>
                <a:latin typeface="Calibri" pitchFamily="34" charset="0"/>
                <a:cs typeface="Amiri" pitchFamily="2" charset="-78"/>
              </a:rPr>
              <a:t>ghā-li-ban mā</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20</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فِي بَعْضِ الأَحْيَانِ</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on some occasions</a:t>
            </a:r>
            <a:endParaRPr lang="en-US" sz="1350" dirty="0"/>
          </a:p>
          <a:p>
            <a:pPr indent="0" marL="0">
              <a:buNone/>
            </a:pPr>
            <a:r>
              <a:rPr lang="en-US" sz="1100" i="1" dirty="0">
                <a:solidFill>
                  <a:srgbClr val="5A6472"/>
                </a:solidFill>
                <a:latin typeface="Calibri" pitchFamily="34" charset="0"/>
                <a:cs typeface="Amiri" pitchFamily="2" charset="-78"/>
              </a:rPr>
              <a:t>fī baʿ-ḍi al-aḥ-yā-ni</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21</a:t>
            </a:r>
            <a:endParaRPr lang="en-US" sz="1000" dirty="0"/>
          </a:p>
        </p:txBody>
      </p:sp>
      <p:sp>
        <p:nvSpPr>
          <p:cNvPr id="30" name="Text 2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إِذَا كَانَ لَدَيَّ وَقْتٌ</a:t>
            </a:r>
            <a:endParaRPr lang="ar-SA" sz="3000" dirty="0"/>
          </a:p>
        </p:txBody>
      </p:sp>
      <p:sp>
        <p:nvSpPr>
          <p:cNvPr id="31" name="Text 2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if I have time</a:t>
            </a:r>
            <a:endParaRPr lang="en-US" sz="1350" dirty="0"/>
          </a:p>
          <a:p>
            <a:pPr indent="0" marL="0">
              <a:buNone/>
            </a:pPr>
            <a:r>
              <a:rPr lang="en-US" sz="1100" i="1" dirty="0">
                <a:solidFill>
                  <a:srgbClr val="5A6472"/>
                </a:solidFill>
                <a:latin typeface="Calibri" pitchFamily="34" charset="0"/>
                <a:cs typeface="Amiri" pitchFamily="2" charset="-78"/>
              </a:rPr>
              <a:t>i-dhā kā-na la-day-ya waq-tun</a:t>
            </a:r>
            <a:endParaRPr lang="en-US" sz="1350" dirty="0"/>
          </a:p>
        </p:txBody>
      </p:sp>
      <p:sp>
        <p:nvSpPr>
          <p:cNvPr id="32" name="Shape 2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8211312" y="4261104"/>
            <a:ext cx="310896" cy="310896"/>
          </a:xfrm>
          <a:prstGeom prst="ellipse">
            <a:avLst/>
          </a:prstGeom>
          <a:solidFill>
            <a:srgbClr val="F4F1EA"/>
          </a:solidFill>
          <a:ln w="12700">
            <a:solidFill>
              <a:srgbClr val="F4F1EA"/>
            </a:solidFill>
            <a:prstDash val="solid"/>
          </a:ln>
        </p:spPr>
      </p:sp>
      <p:sp>
        <p:nvSpPr>
          <p:cNvPr id="34" name="Text 3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22</a:t>
            </a:r>
            <a:endParaRPr lang="en-US" sz="1000" dirty="0"/>
          </a:p>
        </p:txBody>
      </p:sp>
      <p:sp>
        <p:nvSpPr>
          <p:cNvPr id="35" name="Text 32"/>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حَسَبَ الطَّقْسِ / الظُّرُوفِ</a:t>
            </a:r>
            <a:endParaRPr lang="ar-SA" sz="3000" dirty="0"/>
          </a:p>
        </p:txBody>
      </p:sp>
      <p:sp>
        <p:nvSpPr>
          <p:cNvPr id="36" name="Text 33"/>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depending on weather/circumstances</a:t>
            </a:r>
            <a:endParaRPr lang="en-US" sz="1350" dirty="0"/>
          </a:p>
          <a:p>
            <a:pPr indent="0" marL="0">
              <a:buNone/>
            </a:pPr>
            <a:r>
              <a:rPr lang="en-US" sz="1100" i="1" dirty="0">
                <a:solidFill>
                  <a:srgbClr val="5A6472"/>
                </a:solidFill>
                <a:latin typeface="Calibri" pitchFamily="34" charset="0"/>
                <a:cs typeface="Amiri" pitchFamily="2" charset="-78"/>
              </a:rPr>
              <a:t>ḥa-sa-ba aṭ-ṭaq-si / aẓ-ẓu-rū-fi</a:t>
            </a:r>
            <a:endParaRPr lang="en-US" sz="1350" dirty="0"/>
          </a:p>
        </p:txBody>
      </p:sp>
      <p:sp>
        <p:nvSpPr>
          <p:cNvPr id="37" name="Shape 3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4389120" y="4261104"/>
            <a:ext cx="310896" cy="310896"/>
          </a:xfrm>
          <a:prstGeom prst="ellipse">
            <a:avLst/>
          </a:prstGeom>
          <a:solidFill>
            <a:srgbClr val="F4F1EA"/>
          </a:solidFill>
          <a:ln w="12700">
            <a:solidFill>
              <a:srgbClr val="F4F1EA"/>
            </a:solidFill>
            <a:prstDash val="solid"/>
          </a:ln>
        </p:spPr>
      </p:sp>
      <p:sp>
        <p:nvSpPr>
          <p:cNvPr id="39" name="Text 3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23</a:t>
            </a:r>
            <a:endParaRPr lang="en-US" sz="1000" dirty="0"/>
          </a:p>
        </p:txBody>
      </p:sp>
      <p:sp>
        <p:nvSpPr>
          <p:cNvPr id="40" name="Shape 37"/>
          <p:cNvSpPr/>
          <p:nvPr/>
        </p:nvSpPr>
        <p:spPr>
          <a:xfrm>
            <a:off x="4782312" y="4279392"/>
            <a:ext cx="896112" cy="256032"/>
          </a:xfrm>
          <a:prstGeom prst="roundRect">
            <a:avLst>
              <a:gd name="adj" fmla="val 50000"/>
            </a:avLst>
          </a:prstGeom>
          <a:solidFill>
            <a:srgbClr val="EFE7D2"/>
          </a:solidFill>
          <a:ln w="12700">
            <a:solidFill>
              <a:srgbClr val="EFE7D2"/>
            </a:solidFill>
            <a:prstDash val="solid"/>
          </a:ln>
        </p:spPr>
      </p:sp>
      <p:sp>
        <p:nvSpPr>
          <p:cNvPr id="41" name="Text 38"/>
          <p:cNvSpPr txBox="1"/>
          <p:nvPr/>
        </p:nvSpPr>
        <p:spPr>
          <a:xfrm>
            <a:off x="4782312"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42" name="Text 39"/>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خُطَّةٌ مُرِنَةٌ</a:t>
            </a:r>
            <a:endParaRPr lang="ar-SA" sz="3000" dirty="0"/>
          </a:p>
        </p:txBody>
      </p:sp>
      <p:sp>
        <p:nvSpPr>
          <p:cNvPr id="43" name="Text 40"/>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flexible plan</a:t>
            </a:r>
            <a:endParaRPr lang="en-US" sz="1350" dirty="0"/>
          </a:p>
          <a:p>
            <a:pPr indent="0" marL="0">
              <a:buNone/>
            </a:pPr>
            <a:r>
              <a:rPr lang="en-US" sz="1100" i="1" dirty="0">
                <a:solidFill>
                  <a:srgbClr val="5A6472"/>
                </a:solidFill>
                <a:latin typeface="Calibri" pitchFamily="34" charset="0"/>
                <a:cs typeface="Amiri" pitchFamily="2" charset="-78"/>
              </a:rPr>
              <a:t>khuṭ-ṭa-tun mu-ri-na-tun</a:t>
            </a:r>
            <a:endParaRPr lang="en-US" sz="1350" dirty="0"/>
          </a:p>
        </p:txBody>
      </p:sp>
      <p:sp>
        <p:nvSpPr>
          <p:cNvPr id="44" name="Shape 41"/>
          <p:cNvSpPr/>
          <p:nvPr/>
        </p:nvSpPr>
        <p:spPr>
          <a:xfrm>
            <a:off x="6720840" y="5779008"/>
            <a:ext cx="1060704" cy="438912"/>
          </a:xfrm>
          <a:prstGeom prst="roundRect">
            <a:avLst>
              <a:gd name="adj" fmla="val 10417"/>
            </a:avLst>
          </a:prstGeom>
          <a:solidFill>
            <a:srgbClr val="F4F1EA"/>
          </a:solidFill>
          <a:ln w="9525">
            <a:solidFill>
              <a:srgbClr val="F4F1EA"/>
            </a:solidFill>
            <a:prstDash val="solid"/>
          </a:ln>
        </p:spPr>
      </p:sp>
      <p:sp>
        <p:nvSpPr>
          <p:cNvPr id="45" name="Text 42"/>
          <p:cNvSpPr txBox="1"/>
          <p:nvPr/>
        </p:nvSpPr>
        <p:spPr>
          <a:xfrm>
            <a:off x="6775704" y="5788152"/>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plans</a:t>
            </a:r>
            <a:endParaRPr lang="en-US" sz="700" dirty="0"/>
          </a:p>
        </p:txBody>
      </p:sp>
      <p:sp>
        <p:nvSpPr>
          <p:cNvPr id="46" name="Text 43"/>
          <p:cNvSpPr txBox="1"/>
          <p:nvPr/>
        </p:nvSpPr>
        <p:spPr>
          <a:xfrm>
            <a:off x="6766560" y="5916168"/>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خُطَطٌ مَرِنَةٌ</a:t>
            </a:r>
            <a:endParaRPr lang="ar-SA" sz="1350" dirty="0"/>
          </a:p>
        </p:txBody>
      </p:sp>
      <p:sp>
        <p:nvSpPr>
          <p:cNvPr id="47" name="Shape 44"/>
          <p:cNvSpPr/>
          <p:nvPr/>
        </p:nvSpPr>
        <p:spPr>
          <a:xfrm>
            <a:off x="5568696" y="5779008"/>
            <a:ext cx="1060704" cy="438912"/>
          </a:xfrm>
          <a:prstGeom prst="roundRect">
            <a:avLst>
              <a:gd name="adj" fmla="val 10417"/>
            </a:avLst>
          </a:prstGeom>
          <a:solidFill>
            <a:srgbClr val="F4F1EA"/>
          </a:solidFill>
          <a:ln w="9525">
            <a:solidFill>
              <a:srgbClr val="F4F1EA"/>
            </a:solidFill>
            <a:prstDash val="solid"/>
          </a:ln>
        </p:spPr>
      </p:sp>
      <p:sp>
        <p:nvSpPr>
          <p:cNvPr id="48" name="Text 45"/>
          <p:cNvSpPr txBox="1"/>
          <p:nvPr/>
        </p:nvSpPr>
        <p:spPr>
          <a:xfrm>
            <a:off x="5623560"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49" name="Text 46"/>
          <p:cNvSpPr txBox="1"/>
          <p:nvPr/>
        </p:nvSpPr>
        <p:spPr>
          <a:xfrm>
            <a:off x="5614416"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مَرِنَةٌ</a:t>
            </a:r>
            <a:endParaRPr lang="ar-SA" sz="1500" dirty="0"/>
          </a:p>
        </p:txBody>
      </p:sp>
      <p:sp>
        <p:nvSpPr>
          <p:cNvPr id="50" name="Shape 47"/>
          <p:cNvSpPr/>
          <p:nvPr/>
        </p:nvSpPr>
        <p:spPr>
          <a:xfrm>
            <a:off x="4416552" y="5779008"/>
            <a:ext cx="1060704" cy="438912"/>
          </a:xfrm>
          <a:prstGeom prst="roundRect">
            <a:avLst>
              <a:gd name="adj" fmla="val 10417"/>
            </a:avLst>
          </a:prstGeom>
          <a:solidFill>
            <a:srgbClr val="F4F1EA"/>
          </a:solidFill>
          <a:ln w="9525">
            <a:solidFill>
              <a:srgbClr val="F4F1EA"/>
            </a:solidFill>
            <a:prstDash val="solid"/>
          </a:ln>
        </p:spPr>
      </p:sp>
      <p:sp>
        <p:nvSpPr>
          <p:cNvPr id="51" name="Text 48"/>
          <p:cNvSpPr txBox="1"/>
          <p:nvPr/>
        </p:nvSpPr>
        <p:spPr>
          <a:xfrm>
            <a:off x="447141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52" name="Text 49"/>
          <p:cNvSpPr txBox="1"/>
          <p:nvPr/>
        </p:nvSpPr>
        <p:spPr>
          <a:xfrm>
            <a:off x="446227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مَرِنٌ</a:t>
            </a:r>
            <a:endParaRPr lang="ar-SA" sz="1500" dirty="0"/>
          </a:p>
        </p:txBody>
      </p:sp>
      <p:sp>
        <p:nvSpPr>
          <p:cNvPr id="53" name="Text 5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46</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D1-L08 · Weekend Routine</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Flexibility and balance (2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D1-L08</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24</a:t>
            </a:r>
            <a:endParaRPr lang="en-US" sz="10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وَقْتُ الفَرَاغِ</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free time</a:t>
            </a:r>
            <a:endParaRPr lang="en-US" sz="1350" dirty="0"/>
          </a:p>
          <a:p>
            <a:pPr indent="0" marL="0">
              <a:buNone/>
            </a:pPr>
            <a:r>
              <a:rPr lang="en-US" sz="1100" i="1" dirty="0">
                <a:solidFill>
                  <a:srgbClr val="5A6472"/>
                </a:solidFill>
                <a:latin typeface="Calibri" pitchFamily="34" charset="0"/>
                <a:cs typeface="Amiri" pitchFamily="2" charset="-78"/>
              </a:rPr>
              <a:t>waq-tu al-fa-rā-ghi</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25</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تَوَازُنٌ</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balance</a:t>
            </a:r>
            <a:endParaRPr lang="en-US" sz="1350" dirty="0"/>
          </a:p>
          <a:p>
            <a:pPr indent="0" marL="0">
              <a:buNone/>
            </a:pPr>
            <a:r>
              <a:rPr lang="en-US" sz="1100" i="1" dirty="0">
                <a:solidFill>
                  <a:srgbClr val="5A6472"/>
                </a:solidFill>
                <a:latin typeface="Calibri" pitchFamily="34" charset="0"/>
                <a:cs typeface="Amiri" pitchFamily="2" charset="-78"/>
              </a:rPr>
              <a:t>ta-wā-zu-nun</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26</a:t>
            </a:r>
            <a:endParaRPr lang="en-US" sz="1000" dirty="0"/>
          </a:p>
        </p:txBody>
      </p:sp>
      <p:sp>
        <p:nvSpPr>
          <p:cNvPr id="30" name="Text 2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مَسْؤُولِيَّةٌ</a:t>
            </a:r>
            <a:endParaRPr lang="ar-SA" sz="3000" dirty="0"/>
          </a:p>
        </p:txBody>
      </p:sp>
      <p:sp>
        <p:nvSpPr>
          <p:cNvPr id="31" name="Text 2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responsibility</a:t>
            </a:r>
            <a:endParaRPr lang="en-US" sz="1350" dirty="0"/>
          </a:p>
          <a:p>
            <a:pPr indent="0" marL="0">
              <a:buNone/>
            </a:pPr>
            <a:r>
              <a:rPr lang="en-US" sz="1100" i="1" dirty="0">
                <a:solidFill>
                  <a:srgbClr val="5A6472"/>
                </a:solidFill>
                <a:latin typeface="Calibri" pitchFamily="34" charset="0"/>
                <a:cs typeface="Amiri" pitchFamily="2" charset="-78"/>
              </a:rPr>
              <a:t>mas-ʾū-liy-ya-tun</a:t>
            </a:r>
            <a:endParaRPr lang="en-US" sz="1350" dirty="0"/>
          </a:p>
        </p:txBody>
      </p:sp>
      <p:sp>
        <p:nvSpPr>
          <p:cNvPr id="32" name="Shape 2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8211312" y="4261104"/>
            <a:ext cx="310896" cy="310896"/>
          </a:xfrm>
          <a:prstGeom prst="ellipse">
            <a:avLst/>
          </a:prstGeom>
          <a:solidFill>
            <a:srgbClr val="F4F1EA"/>
          </a:solidFill>
          <a:ln w="12700">
            <a:solidFill>
              <a:srgbClr val="F4F1EA"/>
            </a:solidFill>
            <a:prstDash val="solid"/>
          </a:ln>
        </p:spPr>
      </p:sp>
      <p:sp>
        <p:nvSpPr>
          <p:cNvPr id="34" name="Text 3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27</a:t>
            </a:r>
            <a:endParaRPr lang="en-US" sz="1000" dirty="0"/>
          </a:p>
        </p:txBody>
      </p:sp>
      <p:sp>
        <p:nvSpPr>
          <p:cNvPr id="35" name="Text 32"/>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رَاحَةٌ</a:t>
            </a:r>
            <a:endParaRPr lang="ar-SA" sz="3000" dirty="0"/>
          </a:p>
        </p:txBody>
      </p:sp>
      <p:sp>
        <p:nvSpPr>
          <p:cNvPr id="36" name="Text 33"/>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rest</a:t>
            </a:r>
            <a:endParaRPr lang="en-US" sz="1350" dirty="0"/>
          </a:p>
          <a:p>
            <a:pPr indent="0" marL="0">
              <a:buNone/>
            </a:pPr>
            <a:r>
              <a:rPr lang="en-US" sz="1100" i="1" dirty="0">
                <a:solidFill>
                  <a:srgbClr val="5A6472"/>
                </a:solidFill>
                <a:latin typeface="Calibri" pitchFamily="34" charset="0"/>
                <a:cs typeface="Amiri" pitchFamily="2" charset="-78"/>
              </a:rPr>
              <a:t>rā-ḥa-tun</a:t>
            </a:r>
            <a:endParaRPr lang="en-US" sz="1350" dirty="0"/>
          </a:p>
        </p:txBody>
      </p:sp>
      <p:sp>
        <p:nvSpPr>
          <p:cNvPr id="37" name="Shape 3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4389120" y="4261104"/>
            <a:ext cx="310896" cy="310896"/>
          </a:xfrm>
          <a:prstGeom prst="ellipse">
            <a:avLst/>
          </a:prstGeom>
          <a:solidFill>
            <a:srgbClr val="F4F1EA"/>
          </a:solidFill>
          <a:ln w="12700">
            <a:solidFill>
              <a:srgbClr val="F4F1EA"/>
            </a:solidFill>
            <a:prstDash val="solid"/>
          </a:ln>
        </p:spPr>
      </p:sp>
      <p:sp>
        <p:nvSpPr>
          <p:cNvPr id="39" name="Text 3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28</a:t>
            </a:r>
            <a:endParaRPr lang="en-US" sz="1000" dirty="0"/>
          </a:p>
        </p:txBody>
      </p:sp>
      <p:sp>
        <p:nvSpPr>
          <p:cNvPr id="40" name="Text 37"/>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اِخْتِيَارٌ</a:t>
            </a:r>
            <a:endParaRPr lang="ar-SA" sz="3000" dirty="0"/>
          </a:p>
        </p:txBody>
      </p:sp>
      <p:sp>
        <p:nvSpPr>
          <p:cNvPr id="41" name="Text 38"/>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choice</a:t>
            </a:r>
            <a:endParaRPr lang="en-US" sz="1350" dirty="0"/>
          </a:p>
          <a:p>
            <a:pPr indent="0" marL="0">
              <a:buNone/>
            </a:pPr>
            <a:r>
              <a:rPr lang="en-US" sz="1100" i="1" dirty="0">
                <a:solidFill>
                  <a:srgbClr val="5A6472"/>
                </a:solidFill>
                <a:latin typeface="Calibri" pitchFamily="34" charset="0"/>
                <a:cs typeface="Amiri" pitchFamily="2" charset="-78"/>
              </a:rPr>
              <a:t>ikh-ti-yā-run</a:t>
            </a:r>
            <a:endParaRPr lang="en-US" sz="13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46</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D1-L08 · Weekend Routine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GRAMMAR FOCUS · PART 1 · SCHOOL DAYS VS THE WEEKEND (WEBSITE RULE)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00" b="1" dirty="0">
                <a:solidFill>
                  <a:srgbClr val="1B3B6F"/>
                </a:solidFill>
                <a:latin typeface="Cambria" pitchFamily="34" charset="0"/>
                <a:cs typeface="Amiri" pitchFamily="2" charset="-78"/>
              </a:rPr>
              <a:t>School days … as for the weekend …</a:t>
            </a:r>
            <a:endParaRPr lang="en-US" sz="27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أَمَّا فِي نِهَايَةِ الأُسْبُوعِ فَـ…</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D1-L08</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690104" y="1810512"/>
            <a:ext cx="39684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School days</a:t>
            </a:r>
            <a:endParaRPr lang="en-US" sz="1100" dirty="0"/>
          </a:p>
        </p:txBody>
      </p:sp>
      <p:sp>
        <p:nvSpPr>
          <p:cNvPr id="17" name="Text 14"/>
          <p:cNvSpPr txBox="1"/>
          <p:nvPr/>
        </p:nvSpPr>
        <p:spPr>
          <a:xfrm>
            <a:off x="2935224" y="1810512"/>
            <a:ext cx="46085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As for the weekend …</a:t>
            </a:r>
            <a:endParaRPr lang="en-US" sz="1100" dirty="0"/>
          </a:p>
        </p:txBody>
      </p:sp>
      <p:sp>
        <p:nvSpPr>
          <p:cNvPr id="18" name="Text 15"/>
          <p:cNvSpPr txBox="1"/>
          <p:nvPr/>
        </p:nvSpPr>
        <p:spPr>
          <a:xfrm>
            <a:off x="530352" y="1810512"/>
            <a:ext cx="2258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Contrast</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7708392" y="2286000"/>
            <a:ext cx="393192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فِي أَيَّامِ الدِّرَاسَةِ أَسْتَيْقِظُ مُبَكِّرًا،</a:t>
            </a:r>
            <a:endParaRPr lang="ar-SA" sz="2100" dirty="0"/>
          </a:p>
        </p:txBody>
      </p:sp>
      <p:sp>
        <p:nvSpPr>
          <p:cNvPr id="21" name="Text 18"/>
          <p:cNvSpPr txBox="1"/>
          <p:nvPr/>
        </p:nvSpPr>
        <p:spPr>
          <a:xfrm>
            <a:off x="7662672" y="2706624"/>
            <a:ext cx="402336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On school days I wake up early,</a:t>
            </a:r>
            <a:endParaRPr lang="en-US" sz="950" dirty="0"/>
          </a:p>
        </p:txBody>
      </p:sp>
      <p:sp>
        <p:nvSpPr>
          <p:cNvPr id="22" name="Text 19"/>
          <p:cNvSpPr txBox="1"/>
          <p:nvPr/>
        </p:nvSpPr>
        <p:spPr>
          <a:xfrm>
            <a:off x="2953512" y="2286000"/>
            <a:ext cx="4572000" cy="453542"/>
          </a:xfrm>
          <a:prstGeom prst="rect">
            <a:avLst/>
          </a:prstGeom>
          <a:noFill/>
          <a:ln/>
        </p:spPr>
        <p:txBody>
          <a:bodyPr wrap="square" lIns="0" tIns="0" rIns="0" bIns="0" rtlCol="0" anchor="ctr"/>
          <a:lstStyle/>
          <a:p>
            <a:pPr rtl="1" algn="ctr" indent="0" marL="0">
              <a:buNone/>
            </a:pPr>
            <a:r>
              <a:rPr lang="ar-SA" altLang="en-US" sz="2100" b="1" dirty="0">
                <a:solidFill>
                  <a:srgbClr val="0E7C86"/>
                </a:solidFill>
                <a:latin typeface="Amiri" pitchFamily="2" charset="-78"/>
                <a:ea typeface="Amiri" pitchFamily="2" charset="-78"/>
                <a:cs typeface="Amiri" pitchFamily="2" charset="-78"/>
              </a:rPr>
              <a:t>أَمَّا</a:t>
            </a:r>
            <a:pPr rtl="1" algn="ctr" indent="0" marL="0">
              <a:buNone/>
            </a:pPr>
            <a:r>
              <a:rPr lang="ar-SA" altLang="en-US" sz="2100" b="1" dirty="0">
                <a:solidFill>
                  <a:srgbClr val="1B3B6F"/>
                </a:solidFill>
                <a:latin typeface="Amiri" pitchFamily="2" charset="-78"/>
                <a:ea typeface="Amiri" pitchFamily="2" charset="-78"/>
                <a:cs typeface="Amiri" pitchFamily="2" charset="-78"/>
              </a:rPr>
              <a:t> فِي نِهَايَةِ الأُسْبُوعِ </a:t>
            </a:r>
            <a:pPr rtl="1" algn="ctr" indent="0" marL="0">
              <a:buNone/>
            </a:pPr>
            <a:r>
              <a:rPr lang="ar-SA" altLang="en-US" sz="2100" b="1" dirty="0">
                <a:solidFill>
                  <a:srgbClr val="0E7C86"/>
                </a:solidFill>
                <a:latin typeface="Amiri" pitchFamily="2" charset="-78"/>
                <a:ea typeface="Amiri" pitchFamily="2" charset="-78"/>
                <a:cs typeface="Amiri" pitchFamily="2" charset="-78"/>
              </a:rPr>
              <a:t>فَأَنَامُ</a:t>
            </a:r>
            <a:pPr rtl="1" algn="ctr" indent="0" marL="0">
              <a:buNone/>
            </a:pPr>
            <a:r>
              <a:rPr lang="ar-SA" altLang="en-US" sz="2100" b="1" dirty="0">
                <a:solidFill>
                  <a:srgbClr val="1B3B6F"/>
                </a:solidFill>
                <a:latin typeface="Amiri" pitchFamily="2" charset="-78"/>
                <a:ea typeface="Amiri" pitchFamily="2" charset="-78"/>
                <a:cs typeface="Amiri" pitchFamily="2" charset="-78"/>
              </a:rPr>
              <a:t> وَقْتًا أَطْوَلَ.</a:t>
            </a:r>
            <a:endParaRPr lang="ar-SA" sz="2100" dirty="0"/>
          </a:p>
        </p:txBody>
      </p:sp>
      <p:sp>
        <p:nvSpPr>
          <p:cNvPr id="23" name="Text 20"/>
          <p:cNvSpPr txBox="1"/>
          <p:nvPr/>
        </p:nvSpPr>
        <p:spPr>
          <a:xfrm>
            <a:off x="2907792" y="2706624"/>
            <a:ext cx="466344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as for the weekend, I sleep longer.</a:t>
            </a:r>
            <a:endParaRPr lang="en-US" sz="950" dirty="0"/>
          </a:p>
        </p:txBody>
      </p:sp>
      <p:sp>
        <p:nvSpPr>
          <p:cNvPr id="24" name="Text 21"/>
          <p:cNvSpPr txBox="1"/>
          <p:nvPr/>
        </p:nvSpPr>
        <p:spPr>
          <a:xfrm>
            <a:off x="566928" y="2267712"/>
            <a:ext cx="22219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early / longer</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7708392" y="3072384"/>
            <a:ext cx="393192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أَذْهَبُ إِلَى المَدْرَسَةِ،</a:t>
            </a:r>
            <a:endParaRPr lang="ar-SA" sz="2100" dirty="0"/>
          </a:p>
        </p:txBody>
      </p:sp>
      <p:sp>
        <p:nvSpPr>
          <p:cNvPr id="29" name="Text 26"/>
          <p:cNvSpPr txBox="1"/>
          <p:nvPr/>
        </p:nvSpPr>
        <p:spPr>
          <a:xfrm>
            <a:off x="7662672" y="3493008"/>
            <a:ext cx="402336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go to school,</a:t>
            </a:r>
            <a:endParaRPr lang="en-US" sz="950" dirty="0"/>
          </a:p>
        </p:txBody>
      </p:sp>
      <p:sp>
        <p:nvSpPr>
          <p:cNvPr id="30" name="Text 27"/>
          <p:cNvSpPr txBox="1"/>
          <p:nvPr/>
        </p:nvSpPr>
        <p:spPr>
          <a:xfrm>
            <a:off x="2953512" y="3072384"/>
            <a:ext cx="4572000" cy="453542"/>
          </a:xfrm>
          <a:prstGeom prst="rect">
            <a:avLst/>
          </a:prstGeom>
          <a:noFill/>
          <a:ln/>
        </p:spPr>
        <p:txBody>
          <a:bodyPr wrap="square" lIns="0" tIns="0" rIns="0" bIns="0" rtlCol="0" anchor="ctr"/>
          <a:lstStyle/>
          <a:p>
            <a:pPr rtl="1" algn="ctr" indent="0" marL="0">
              <a:buNone/>
            </a:pPr>
            <a:r>
              <a:rPr lang="ar-SA" altLang="en-US" sz="2100" b="1" dirty="0">
                <a:solidFill>
                  <a:srgbClr val="0E7C86"/>
                </a:solidFill>
                <a:latin typeface="Amiri" pitchFamily="2" charset="-78"/>
                <a:ea typeface="Amiri" pitchFamily="2" charset="-78"/>
                <a:cs typeface="Amiri" pitchFamily="2" charset="-78"/>
              </a:rPr>
              <a:t>أَمَّا</a:t>
            </a:r>
            <a:pPr rtl="1" algn="ctr" indent="0" marL="0">
              <a:buNone/>
            </a:pPr>
            <a:r>
              <a:rPr lang="ar-SA" altLang="en-US" sz="2100" b="1" dirty="0">
                <a:solidFill>
                  <a:srgbClr val="1B3B6F"/>
                </a:solidFill>
                <a:latin typeface="Amiri" pitchFamily="2" charset="-78"/>
                <a:ea typeface="Amiri" pitchFamily="2" charset="-78"/>
                <a:cs typeface="Amiri" pitchFamily="2" charset="-78"/>
              </a:rPr>
              <a:t> يَوْمُ السَّبْتِ </a:t>
            </a:r>
            <a:pPr rtl="1" algn="ctr" indent="0" marL="0">
              <a:buNone/>
            </a:pPr>
            <a:r>
              <a:rPr lang="ar-SA" altLang="en-US" sz="2100" b="1" dirty="0">
                <a:solidFill>
                  <a:srgbClr val="0E7C86"/>
                </a:solidFill>
                <a:latin typeface="Amiri" pitchFamily="2" charset="-78"/>
                <a:ea typeface="Amiri" pitchFamily="2" charset="-78"/>
                <a:cs typeface="Amiri" pitchFamily="2" charset="-78"/>
              </a:rPr>
              <a:t>فَأَزُورُ</a:t>
            </a:r>
            <a:pPr rtl="1" algn="ctr" indent="0" marL="0">
              <a:buNone/>
            </a:pPr>
            <a:r>
              <a:rPr lang="ar-SA" altLang="en-US" sz="2100" b="1" dirty="0">
                <a:solidFill>
                  <a:srgbClr val="1B3B6F"/>
                </a:solidFill>
                <a:latin typeface="Amiri" pitchFamily="2" charset="-78"/>
                <a:ea typeface="Amiri" pitchFamily="2" charset="-78"/>
                <a:cs typeface="Amiri" pitchFamily="2" charset="-78"/>
              </a:rPr>
              <a:t> أَقَارِبِي.</a:t>
            </a:r>
            <a:endParaRPr lang="ar-SA" sz="2100" dirty="0"/>
          </a:p>
        </p:txBody>
      </p:sp>
      <p:sp>
        <p:nvSpPr>
          <p:cNvPr id="31" name="Text 28"/>
          <p:cNvSpPr txBox="1"/>
          <p:nvPr/>
        </p:nvSpPr>
        <p:spPr>
          <a:xfrm>
            <a:off x="2907792" y="3493008"/>
            <a:ext cx="466344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as for Saturday, I visit my relatives.</a:t>
            </a:r>
            <a:endParaRPr lang="en-US" sz="950" dirty="0"/>
          </a:p>
        </p:txBody>
      </p:sp>
      <p:sp>
        <p:nvSpPr>
          <p:cNvPr id="32" name="Text 29"/>
          <p:cNvSpPr txBox="1"/>
          <p:nvPr/>
        </p:nvSpPr>
        <p:spPr>
          <a:xfrm>
            <a:off x="566928" y="3054096"/>
            <a:ext cx="22219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school / family</a:t>
            </a:r>
            <a:endParaRPr lang="en-US" sz="1100" dirty="0"/>
          </a:p>
        </p:txBody>
      </p:sp>
      <p:sp>
        <p:nvSpPr>
          <p:cNvPr id="33" name="Shape 30"/>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4" name="Text 31"/>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5" name="Shape 32"/>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6" name="Text 33"/>
          <p:cNvSpPr txBox="1"/>
          <p:nvPr/>
        </p:nvSpPr>
        <p:spPr>
          <a:xfrm>
            <a:off x="7708392" y="3858768"/>
            <a:ext cx="393192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أُرَاجِعُ دُرُوسِي يَوْمِيًّا،</a:t>
            </a:r>
            <a:endParaRPr lang="ar-SA" sz="2100" dirty="0"/>
          </a:p>
        </p:txBody>
      </p:sp>
      <p:sp>
        <p:nvSpPr>
          <p:cNvPr id="37" name="Text 34"/>
          <p:cNvSpPr txBox="1"/>
          <p:nvPr/>
        </p:nvSpPr>
        <p:spPr>
          <a:xfrm>
            <a:off x="7662672" y="4279392"/>
            <a:ext cx="402336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revise my lessons daily,</a:t>
            </a:r>
            <a:endParaRPr lang="en-US" sz="950" dirty="0"/>
          </a:p>
        </p:txBody>
      </p:sp>
      <p:sp>
        <p:nvSpPr>
          <p:cNvPr id="38" name="Text 35"/>
          <p:cNvSpPr txBox="1"/>
          <p:nvPr/>
        </p:nvSpPr>
        <p:spPr>
          <a:xfrm>
            <a:off x="2953512" y="3858768"/>
            <a:ext cx="4572000" cy="453542"/>
          </a:xfrm>
          <a:prstGeom prst="rect">
            <a:avLst/>
          </a:prstGeom>
          <a:noFill/>
          <a:ln/>
        </p:spPr>
        <p:txBody>
          <a:bodyPr wrap="square" lIns="0" tIns="0" rIns="0" bIns="0" rtlCol="0" anchor="ctr"/>
          <a:lstStyle/>
          <a:p>
            <a:pPr rtl="1" algn="ctr" indent="0" marL="0">
              <a:buNone/>
            </a:pPr>
            <a:r>
              <a:rPr lang="ar-SA" altLang="en-US" sz="2100" b="1" dirty="0">
                <a:solidFill>
                  <a:srgbClr val="0E7C86"/>
                </a:solidFill>
                <a:latin typeface="Amiri" pitchFamily="2" charset="-78"/>
                <a:ea typeface="Amiri" pitchFamily="2" charset="-78"/>
                <a:cs typeface="Amiri" pitchFamily="2" charset="-78"/>
              </a:rPr>
              <a:t>أَمَّا</a:t>
            </a:r>
            <a:pPr rtl="1" algn="ctr" indent="0" marL="0">
              <a:buNone/>
            </a:pPr>
            <a:r>
              <a:rPr lang="ar-SA" altLang="en-US" sz="2100" b="1" dirty="0">
                <a:solidFill>
                  <a:srgbClr val="1B3B6F"/>
                </a:solidFill>
                <a:latin typeface="Amiri" pitchFamily="2" charset="-78"/>
                <a:ea typeface="Amiri" pitchFamily="2" charset="-78"/>
                <a:cs typeface="Amiri" pitchFamily="2" charset="-78"/>
              </a:rPr>
              <a:t> يَوْمُ الأَحَدِ </a:t>
            </a:r>
            <a:pPr rtl="1" algn="ctr" indent="0" marL="0">
              <a:buNone/>
            </a:pPr>
            <a:r>
              <a:rPr lang="ar-SA" altLang="en-US" sz="2100" b="1" dirty="0">
                <a:solidFill>
                  <a:srgbClr val="0E7C86"/>
                </a:solidFill>
                <a:latin typeface="Amiri" pitchFamily="2" charset="-78"/>
                <a:ea typeface="Amiri" pitchFamily="2" charset="-78"/>
                <a:cs typeface="Amiri" pitchFamily="2" charset="-78"/>
              </a:rPr>
              <a:t>فَأُرَاجِعُ</a:t>
            </a:r>
            <a:pPr rtl="1" algn="ctr" indent="0" marL="0">
              <a:buNone/>
            </a:pPr>
            <a:r>
              <a:rPr lang="ar-SA" altLang="en-US" sz="2100" b="1" dirty="0">
                <a:solidFill>
                  <a:srgbClr val="1B3B6F"/>
                </a:solidFill>
                <a:latin typeface="Amiri" pitchFamily="2" charset="-78"/>
                <a:ea typeface="Amiri" pitchFamily="2" charset="-78"/>
                <a:cs typeface="Amiri" pitchFamily="2" charset="-78"/>
              </a:rPr>
              <a:t> لِمُدَّةِ سَاعَةٍ فَقَطْ.</a:t>
            </a:r>
            <a:endParaRPr lang="ar-SA" sz="2100" dirty="0"/>
          </a:p>
        </p:txBody>
      </p:sp>
      <p:sp>
        <p:nvSpPr>
          <p:cNvPr id="39" name="Text 36"/>
          <p:cNvSpPr txBox="1"/>
          <p:nvPr/>
        </p:nvSpPr>
        <p:spPr>
          <a:xfrm>
            <a:off x="2907792" y="4279392"/>
            <a:ext cx="466344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as for Sunday, I revise for one hour only.</a:t>
            </a:r>
            <a:endParaRPr lang="en-US" sz="950" dirty="0"/>
          </a:p>
        </p:txBody>
      </p:sp>
      <p:sp>
        <p:nvSpPr>
          <p:cNvPr id="40" name="Text 37"/>
          <p:cNvSpPr txBox="1"/>
          <p:nvPr/>
        </p:nvSpPr>
        <p:spPr>
          <a:xfrm>
            <a:off x="566928" y="3840480"/>
            <a:ext cx="22219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daily / one hour</a:t>
            </a:r>
            <a:endParaRPr lang="en-US" sz="1100" dirty="0"/>
          </a:p>
        </p:txBody>
      </p:sp>
      <p:sp>
        <p:nvSpPr>
          <p:cNvPr id="41" name="Shape 38"/>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2" name="Text 39"/>
          <p:cNvSpPr txBox="1"/>
          <p:nvPr/>
        </p:nvSpPr>
        <p:spPr>
          <a:xfrm>
            <a:off x="7708392" y="4645152"/>
            <a:ext cx="393192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أَتَّبِعُ جَدْوَلًا ثَابِتًا،</a:t>
            </a:r>
            <a:endParaRPr lang="ar-SA" sz="2100" dirty="0"/>
          </a:p>
        </p:txBody>
      </p:sp>
      <p:sp>
        <p:nvSpPr>
          <p:cNvPr id="43" name="Text 40"/>
          <p:cNvSpPr txBox="1"/>
          <p:nvPr/>
        </p:nvSpPr>
        <p:spPr>
          <a:xfrm>
            <a:off x="7662672" y="5065776"/>
            <a:ext cx="402336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follow a fixed timetable,</a:t>
            </a:r>
            <a:endParaRPr lang="en-US" sz="950" dirty="0"/>
          </a:p>
        </p:txBody>
      </p:sp>
      <p:sp>
        <p:nvSpPr>
          <p:cNvPr id="44" name="Text 41"/>
          <p:cNvSpPr txBox="1"/>
          <p:nvPr/>
        </p:nvSpPr>
        <p:spPr>
          <a:xfrm>
            <a:off x="2953512" y="4645152"/>
            <a:ext cx="4572000" cy="453542"/>
          </a:xfrm>
          <a:prstGeom prst="rect">
            <a:avLst/>
          </a:prstGeom>
          <a:noFill/>
          <a:ln/>
        </p:spPr>
        <p:txBody>
          <a:bodyPr wrap="square" lIns="0" tIns="0" rIns="0" bIns="0" rtlCol="0" anchor="ctr"/>
          <a:lstStyle/>
          <a:p>
            <a:pPr rtl="1" algn="ctr" indent="0" marL="0">
              <a:buNone/>
            </a:pPr>
            <a:r>
              <a:rPr lang="ar-SA" altLang="en-US" sz="2100" b="1" dirty="0">
                <a:solidFill>
                  <a:srgbClr val="0E7C86"/>
                </a:solidFill>
                <a:latin typeface="Amiri" pitchFamily="2" charset="-78"/>
                <a:ea typeface="Amiri" pitchFamily="2" charset="-78"/>
                <a:cs typeface="Amiri" pitchFamily="2" charset="-78"/>
              </a:rPr>
              <a:t>أَمَّا</a:t>
            </a:r>
            <a:pPr rtl="1" algn="ctr" indent="0" marL="0">
              <a:buNone/>
            </a:pPr>
            <a:r>
              <a:rPr lang="ar-SA" altLang="en-US" sz="2100" b="1" dirty="0">
                <a:solidFill>
                  <a:srgbClr val="1B3B6F"/>
                </a:solidFill>
                <a:latin typeface="Amiri" pitchFamily="2" charset="-78"/>
                <a:ea typeface="Amiri" pitchFamily="2" charset="-78"/>
                <a:cs typeface="Amiri" pitchFamily="2" charset="-78"/>
              </a:rPr>
              <a:t> فِي العُطْلَةِ </a:t>
            </a:r>
            <a:pPr rtl="1" algn="ctr" indent="0" marL="0">
              <a:buNone/>
            </a:pPr>
            <a:r>
              <a:rPr lang="ar-SA" altLang="en-US" sz="2100" b="1" dirty="0">
                <a:solidFill>
                  <a:srgbClr val="0E7C86"/>
                </a:solidFill>
                <a:latin typeface="Amiri" pitchFamily="2" charset="-78"/>
                <a:ea typeface="Amiri" pitchFamily="2" charset="-78"/>
                <a:cs typeface="Amiri" pitchFamily="2" charset="-78"/>
              </a:rPr>
              <a:t>فَخُطَّتِي</a:t>
            </a:r>
            <a:pPr rtl="1" algn="ctr" indent="0" marL="0">
              <a:buNone/>
            </a:pPr>
            <a:r>
              <a:rPr lang="ar-SA" altLang="en-US" sz="2100" b="1" dirty="0">
                <a:solidFill>
                  <a:srgbClr val="1B3B6F"/>
                </a:solidFill>
                <a:latin typeface="Amiri" pitchFamily="2" charset="-78"/>
                <a:ea typeface="Amiri" pitchFamily="2" charset="-78"/>
                <a:cs typeface="Amiri" pitchFamily="2" charset="-78"/>
              </a:rPr>
              <a:t> مَرِنَةٌ.</a:t>
            </a:r>
            <a:endParaRPr lang="ar-SA" sz="2100" dirty="0"/>
          </a:p>
        </p:txBody>
      </p:sp>
      <p:sp>
        <p:nvSpPr>
          <p:cNvPr id="45" name="Text 42"/>
          <p:cNvSpPr txBox="1"/>
          <p:nvPr/>
        </p:nvSpPr>
        <p:spPr>
          <a:xfrm>
            <a:off x="2907792" y="5065776"/>
            <a:ext cx="466344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as for the break, my plan is flexible.</a:t>
            </a:r>
            <a:endParaRPr lang="en-US" sz="950" dirty="0"/>
          </a:p>
        </p:txBody>
      </p:sp>
      <p:sp>
        <p:nvSpPr>
          <p:cNvPr id="46" name="Text 43"/>
          <p:cNvSpPr txBox="1"/>
          <p:nvPr/>
        </p:nvSpPr>
        <p:spPr>
          <a:xfrm>
            <a:off x="566928" y="4626864"/>
            <a:ext cx="22219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fixed / flexible</a:t>
            </a:r>
            <a:endParaRPr lang="en-US" sz="1100" dirty="0"/>
          </a:p>
        </p:txBody>
      </p:sp>
      <p:sp>
        <p:nvSpPr>
          <p:cNvPr id="47" name="Text 4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warning: “as for” comes FIRST, then the topic, then fa- joined to the comment. Never fa- before “as for”.</a:t>
            </a:r>
            <a:endParaRPr lang="en-US" sz="115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46</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D1-L08 · Weekend Routine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34" b="1" spc="150" kern="0" dirty="0">
                <a:solidFill>
                  <a:srgbClr val="1B3B6F"/>
                </a:solidFill>
                <a:latin typeface="Calibri" pitchFamily="34" charset="0"/>
                <a:cs typeface="Amiri" pitchFamily="2" charset="-78"/>
              </a:rPr>
              <a:t>GRAMMAR FOCUS · PART 2 · FLEXIBLE PLANS (WEBSITE RULES) · DEVELOP / STRETCH</a:t>
            </a:r>
            <a:endParaRPr lang="en-US" sz="934"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If I have time … often … sometimes …</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إِذَا · غَالِبًا مَا · بَيْنَمَا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D1-L08</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1577340" cy="274320"/>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8232648" y="1920240"/>
            <a:ext cx="157734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CONDITION · STRETCH</a:t>
            </a:r>
            <a:endParaRPr lang="en-US" sz="850" dirty="0"/>
          </a:p>
        </p:txBody>
      </p:sp>
      <p:sp>
        <p:nvSpPr>
          <p:cNvPr id="18" name="Text 15"/>
          <p:cNvSpPr txBox="1"/>
          <p:nvPr/>
        </p:nvSpPr>
        <p:spPr>
          <a:xfrm>
            <a:off x="9855708" y="1874520"/>
            <a:ext cx="173888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إِذَا</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250" b="1" dirty="0">
                <a:solidFill>
                  <a:srgbClr val="1B3B6F"/>
                </a:solidFill>
                <a:latin typeface="Amiri" pitchFamily="2" charset="-78"/>
                <a:ea typeface="Amiri" pitchFamily="2" charset="-78"/>
                <a:cs typeface="Amiri" pitchFamily="2" charset="-78"/>
              </a:rPr>
              <a:t>إِذَا كَانَ لَدَيَّ وَقْتٌ أُمَارِسُ هِوَايَتِي.</a:t>
            </a:r>
            <a:endParaRPr lang="ar-SA" sz="225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If I have time, I practise my hobby.</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if + present, present.</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645920" cy="274320"/>
          </a:xfrm>
          <a:prstGeom prst="roundRect">
            <a:avLst>
              <a:gd name="adj" fmla="val 50000"/>
            </a:avLst>
          </a:prstGeom>
          <a:solidFill>
            <a:srgbClr val="1E7B4F"/>
          </a:solidFill>
          <a:ln w="12700">
            <a:solidFill>
              <a:srgbClr val="1E7B4F"/>
            </a:solidFill>
            <a:prstDash val="solid"/>
          </a:ln>
        </p:spPr>
      </p:sp>
      <p:sp>
        <p:nvSpPr>
          <p:cNvPr id="25" name="Text 22"/>
          <p:cNvSpPr txBox="1"/>
          <p:nvPr/>
        </p:nvSpPr>
        <p:spPr>
          <a:xfrm>
            <a:off x="4413504" y="1920240"/>
            <a:ext cx="164592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HOW OFTEN? · DEVELOP</a:t>
            </a:r>
            <a:endParaRPr lang="en-US" sz="850" dirty="0"/>
          </a:p>
        </p:txBody>
      </p:sp>
      <p:sp>
        <p:nvSpPr>
          <p:cNvPr id="26" name="Text 23"/>
          <p:cNvSpPr txBox="1"/>
          <p:nvPr/>
        </p:nvSpPr>
        <p:spPr>
          <a:xfrm>
            <a:off x="6105144" y="1874520"/>
            <a:ext cx="167030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غَالِبًا مَا</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ea typeface="Amiri" pitchFamily="2" charset="-78"/>
                <a:cs typeface="Amiri" pitchFamily="2" charset="-78"/>
              </a:rPr>
              <a:t>غَالِبًا مَا أَزُورُ أَقَارِبِي يَوْمَ السَّبْتِ.</a:t>
            </a:r>
            <a:endParaRPr lang="ar-SA" sz="210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I often visit relatives on Saturday.</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A tendency, not a timetable.</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1645920" cy="274320"/>
          </a:xfrm>
          <a:prstGeom prst="roundRect">
            <a:avLst>
              <a:gd name="adj" fmla="val 50000"/>
            </a:avLst>
          </a:prstGeom>
          <a:solidFill>
            <a:srgbClr val="1D5FBF"/>
          </a:solidFill>
          <a:ln w="12700">
            <a:solidFill>
              <a:srgbClr val="1D5FBF"/>
            </a:solidFill>
            <a:prstDash val="solid"/>
          </a:ln>
        </p:spPr>
      </p:sp>
      <p:sp>
        <p:nvSpPr>
          <p:cNvPr id="33" name="Text 30"/>
          <p:cNvSpPr txBox="1"/>
          <p:nvPr/>
        </p:nvSpPr>
        <p:spPr>
          <a:xfrm>
            <a:off x="594360" y="1920240"/>
            <a:ext cx="164592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TWO PEOPLE · DEVELOP</a:t>
            </a:r>
            <a:endParaRPr lang="en-US" sz="850" dirty="0"/>
          </a:p>
        </p:txBody>
      </p:sp>
      <p:sp>
        <p:nvSpPr>
          <p:cNvPr id="34" name="Text 31"/>
          <p:cNvSpPr txBox="1"/>
          <p:nvPr/>
        </p:nvSpPr>
        <p:spPr>
          <a:xfrm>
            <a:off x="2286000" y="1874520"/>
            <a:ext cx="167030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بَيْنَمَا</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ea typeface="Amiri" pitchFamily="2" charset="-78"/>
                <a:cs typeface="Amiri" pitchFamily="2" charset="-78"/>
              </a:rPr>
              <a:t>أَزُورُ أَقَارِبِي، بَيْنَمَا تَلْتَقِي أُخْتِي بِصَدِيقَاتِهَا.</a:t>
            </a:r>
            <a:endParaRPr lang="ar-SA" sz="210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I visit relatives, whereas my sister meets her friends.</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Each verb matches its subject.</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cs typeface="Amiri" pitchFamily="2" charset="-78"/>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Website common error: use a clear repeated-condition frame.</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650" b="1" dirty="0">
                <a:solidFill>
                  <a:srgbClr val="1B3B6F"/>
                </a:solidFill>
                <a:latin typeface="Amiri" pitchFamily="2" charset="-78"/>
                <a:ea typeface="Amiri" pitchFamily="2" charset="-78"/>
                <a:cs typeface="Amiri" pitchFamily="2" charset="-78"/>
              </a:rPr>
              <a:t>إِذَا كَانَ لَدَيَّ وَقْتٌ أَذْهَبُ.</a:t>
            </a:r>
            <a:endParaRPr lang="ar-SA" sz="165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650" b="1" dirty="0">
                <a:solidFill>
                  <a:srgbClr val="B83227"/>
                </a:solidFill>
                <a:latin typeface="Amiri" pitchFamily="2" charset="-78"/>
                <a:ea typeface="Amiri" pitchFamily="2" charset="-78"/>
                <a:cs typeface="Amiri" pitchFamily="2" charset="-78"/>
              </a:rPr>
              <a:t>إِذَا لَدَيَّ وَقْتٌ ذَهَبْتُ دَائِمًا.</a:t>
            </a:r>
            <a:endParaRPr lang="ar-SA" sz="165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46</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D1-L08 · Weekend Routine</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THE WEBSITE RULES WITH EXAMPLES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800" b="1" dirty="0">
                <a:solidFill>
                  <a:srgbClr val="1B3B6F"/>
                </a:solidFill>
                <a:latin typeface="Cambria" pitchFamily="34" charset="0"/>
                <a:cs typeface="Amiri" pitchFamily="2" charset="-78"/>
              </a:rPr>
              <a:t>Contrast, conditional routine and flexible frequency</a:t>
            </a:r>
            <a:endParaRPr lang="en-US" sz="1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750" b="1" dirty="0">
                <a:solidFill>
                  <a:srgbClr val="8A6D1E"/>
                </a:solidFill>
                <a:latin typeface="Amiri" pitchFamily="2" charset="-78"/>
                <a:ea typeface="Amiri" pitchFamily="2" charset="-78"/>
                <a:cs typeface="Amiri" pitchFamily="2" charset="-78"/>
              </a:rPr>
              <a:t>المُقَابَلَةُ وَالشَّرْطُ وَالتَّكْرَارُ المَرِنُ</a:t>
            </a:r>
            <a:endParaRPr lang="ar-SA" sz="275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D1-L08</a:t>
            </a:r>
            <a:endParaRPr lang="en-US" sz="850" dirty="0"/>
          </a:p>
        </p:txBody>
      </p:sp>
      <p:sp>
        <p:nvSpPr>
          <p:cNvPr id="17" name="Shape 14"/>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40080" y="1883664"/>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1. Contrast school days and weekends</a:t>
            </a:r>
            <a:endParaRPr lang="en-US" sz="1250" dirty="0"/>
          </a:p>
        </p:txBody>
      </p:sp>
      <p:sp>
        <p:nvSpPr>
          <p:cNvPr id="19" name="Text 16"/>
          <p:cNvSpPr txBox="1"/>
          <p:nvPr/>
        </p:nvSpPr>
        <p:spPr>
          <a:xfrm>
            <a:off x="640080" y="2345436"/>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فِي أَيَّامِ الدِّرَاسَةِ ... أَمَّا فِي نِهَايَةِ الأُسْبُوعِ فَـ...</a:t>
            </a:r>
            <a:endParaRPr lang="ar-SA" sz="1350" dirty="0"/>
          </a:p>
        </p:txBody>
      </p:sp>
      <p:sp>
        <p:nvSpPr>
          <p:cNvPr id="20" name="Text 17"/>
          <p:cNvSpPr txBox="1"/>
          <p:nvPr/>
        </p:nvSpPr>
        <p:spPr>
          <a:xfrm>
            <a:off x="4297680" y="1847088"/>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فِي أَيَّامِ الدِّرَاسَةِ أَسْتَيْقِظُ مُبَكِّرًا، أَمَّا فِي نِهَايَةِ الأُسْبُوعِ فَأَنَامُ وَقْتًا أَطْوَلَ.</a:t>
            </a:r>
            <a:endParaRPr lang="ar-SA" sz="2000" dirty="0"/>
          </a:p>
        </p:txBody>
      </p:sp>
      <p:sp>
        <p:nvSpPr>
          <p:cNvPr id="21" name="Shape 18"/>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640080" y="3040380"/>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2. Contrast two people or activities with </a:t>
            </a:r>
            <a:pPr algn="l" indent="0" marL="0">
              <a:buNone/>
            </a:pPr>
            <a:r>
              <a:rPr lang="ar-SA" altLang="en-US" sz="1650" b="1" dirty="0">
                <a:solidFill>
                  <a:srgbClr val="1B3B6F"/>
                </a:solidFill>
                <a:latin typeface="Amiri" pitchFamily="2" charset="-78"/>
                <a:ea typeface="Amiri" pitchFamily="2" charset="-78"/>
                <a:cs typeface="Amiri" pitchFamily="2" charset="-78"/>
              </a:rPr>
              <a:t>بَيْنَمَا</a:t>
            </a:r>
            <a:endParaRPr lang="en-US" sz="1250" dirty="0"/>
          </a:p>
        </p:txBody>
      </p:sp>
      <p:sp>
        <p:nvSpPr>
          <p:cNvPr id="23" name="Text 20"/>
          <p:cNvSpPr txBox="1"/>
          <p:nvPr/>
        </p:nvSpPr>
        <p:spPr>
          <a:xfrm>
            <a:off x="640080" y="3502152"/>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clause + </a:t>
            </a:r>
            <a:pPr algn="l" indent="0" marL="0">
              <a:buNone/>
            </a:pPr>
            <a:r>
              <a:rPr lang="ar-SA" altLang="en-US" sz="1350" dirty="0">
                <a:solidFill>
                  <a:srgbClr val="5A6472"/>
                </a:solidFill>
                <a:latin typeface="Amiri" pitchFamily="2" charset="-78"/>
                <a:ea typeface="Amiri" pitchFamily="2" charset="-78"/>
                <a:cs typeface="Amiri" pitchFamily="2" charset="-78"/>
              </a:rPr>
              <a:t>بَيْنَمَا</a:t>
            </a:r>
            <a:pPr algn="l" indent="0" marL="0">
              <a:buNone/>
            </a:pPr>
            <a:r>
              <a:rPr lang="en-US" sz="1050" dirty="0">
                <a:solidFill>
                  <a:srgbClr val="5A6472"/>
                </a:solidFill>
                <a:latin typeface="Calibri" pitchFamily="34" charset="0"/>
                <a:cs typeface="Amiri" pitchFamily="2" charset="-78"/>
              </a:rPr>
              <a:t> + clause</a:t>
            </a:r>
            <a:endParaRPr lang="en-US" sz="1050" dirty="0"/>
          </a:p>
        </p:txBody>
      </p:sp>
      <p:sp>
        <p:nvSpPr>
          <p:cNvPr id="24" name="Text 21"/>
          <p:cNvSpPr txBox="1"/>
          <p:nvPr/>
        </p:nvSpPr>
        <p:spPr>
          <a:xfrm>
            <a:off x="4297680" y="3003804"/>
            <a:ext cx="7269480" cy="955548"/>
          </a:xfrm>
          <a:prstGeom prst="rect">
            <a:avLst/>
          </a:prstGeom>
          <a:noFill/>
          <a:ln/>
        </p:spPr>
        <p:txBody>
          <a:bodyPr wrap="square" lIns="0" tIns="0" rIns="0" bIns="0" rtlCol="0" anchor="ctr"/>
          <a:lstStyle/>
          <a:p>
            <a:pPr rtl="1" algn="r" indent="0" marL="0">
              <a:lnSpc>
                <a:spcPct val="120000"/>
              </a:lnSpc>
              <a:buNone/>
            </a:pPr>
            <a:r>
              <a:rPr lang="ar-SA" altLang="en-US" sz="1900" b="1" dirty="0">
                <a:solidFill>
                  <a:srgbClr val="1F2A37"/>
                </a:solidFill>
                <a:latin typeface="Amiri" pitchFamily="2" charset="-78"/>
                <a:ea typeface="Amiri" pitchFamily="2" charset="-78"/>
                <a:cs typeface="Amiri" pitchFamily="2" charset="-78"/>
              </a:rPr>
              <a:t>أَزُورُ أَقَارِبِي، بَيْنَمَا تَلْتَقِي أُخْتِي بِصَدِيقَاتِهَا.   ·   أُرَاجِعُ صَبَاحًا، بَيْنَمَا أَسْتَرِيحُ مَسَاءً.</a:t>
            </a:r>
            <a:endParaRPr lang="ar-SA" sz="190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40080" y="4197096"/>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3. Express a real condition with </a:t>
            </a:r>
            <a:pPr algn="l" indent="0" marL="0">
              <a:buNone/>
            </a:pPr>
            <a:r>
              <a:rPr lang="ar-SA" altLang="en-US" sz="1650" b="1" dirty="0">
                <a:solidFill>
                  <a:srgbClr val="1B3B6F"/>
                </a:solidFill>
                <a:latin typeface="Amiri" pitchFamily="2" charset="-78"/>
                <a:ea typeface="Amiri" pitchFamily="2" charset="-78"/>
                <a:cs typeface="Amiri" pitchFamily="2" charset="-78"/>
              </a:rPr>
              <a:t>إِذَا</a:t>
            </a:r>
            <a:endParaRPr lang="en-US" sz="1250" dirty="0"/>
          </a:p>
        </p:txBody>
      </p:sp>
      <p:sp>
        <p:nvSpPr>
          <p:cNvPr id="27" name="Text 24"/>
          <p:cNvSpPr txBox="1"/>
          <p:nvPr/>
        </p:nvSpPr>
        <p:spPr>
          <a:xfrm>
            <a:off x="640080" y="4658868"/>
            <a:ext cx="3566160" cy="432054"/>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إِذَا</a:t>
            </a:r>
            <a:pPr algn="l" indent="0" marL="0">
              <a:buNone/>
            </a:pPr>
            <a:r>
              <a:rPr lang="en-US" sz="1050" dirty="0">
                <a:solidFill>
                  <a:srgbClr val="5A6472"/>
                </a:solidFill>
                <a:latin typeface="Calibri" pitchFamily="34" charset="0"/>
                <a:cs typeface="Amiri" pitchFamily="2" charset="-78"/>
              </a:rPr>
              <a:t> + present + present</a:t>
            </a:r>
            <a:endParaRPr lang="en-US" sz="1050" dirty="0"/>
          </a:p>
        </p:txBody>
      </p:sp>
      <p:sp>
        <p:nvSpPr>
          <p:cNvPr id="28" name="Text 25"/>
          <p:cNvSpPr txBox="1"/>
          <p:nvPr/>
        </p:nvSpPr>
        <p:spPr>
          <a:xfrm>
            <a:off x="4297680" y="4160520"/>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إِذَا كَانَ لَدَيَّ وَقْتٌ أَذْهَبُ إِلَى الحَدِيقَةِ.   ·   إِذَا أَكْمَلْتُ وَاجِبِي أَلْتَقِي بِأَصْدِقَائِي.</a:t>
            </a:r>
            <a:endParaRPr lang="ar-SA" sz="2000" dirty="0"/>
          </a:p>
        </p:txBody>
      </p:sp>
      <p:sp>
        <p:nvSpPr>
          <p:cNvPr id="29" name="Shape 26"/>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40080" y="5353812"/>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4. Use flexible frequency precisely</a:t>
            </a:r>
            <a:endParaRPr lang="en-US" sz="1250" dirty="0"/>
          </a:p>
        </p:txBody>
      </p:sp>
      <p:sp>
        <p:nvSpPr>
          <p:cNvPr id="31" name="Text 28"/>
          <p:cNvSpPr txBox="1"/>
          <p:nvPr/>
        </p:nvSpPr>
        <p:spPr>
          <a:xfrm>
            <a:off x="640080" y="5815584"/>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غَالِبًا مَا · فِي بَعْضِ الأَحْيَانِ · نَادِرًا مَا</a:t>
            </a:r>
            <a:endParaRPr lang="ar-SA" sz="1350" dirty="0"/>
          </a:p>
        </p:txBody>
      </p:sp>
      <p:sp>
        <p:nvSpPr>
          <p:cNvPr id="32" name="Text 29"/>
          <p:cNvSpPr txBox="1"/>
          <p:nvPr/>
        </p:nvSpPr>
        <p:spPr>
          <a:xfrm>
            <a:off x="4297680" y="5317236"/>
            <a:ext cx="7269480" cy="955548"/>
          </a:xfrm>
          <a:prstGeom prst="rect">
            <a:avLst/>
          </a:prstGeom>
          <a:noFill/>
          <a:ln/>
        </p:spPr>
        <p:txBody>
          <a:bodyPr wrap="square" lIns="0" tIns="0" rIns="0" bIns="0" rtlCol="0" anchor="ctr"/>
          <a:lstStyle/>
          <a:p>
            <a:pPr rtl="1" algn="r" indent="0" marL="0">
              <a:lnSpc>
                <a:spcPct val="120000"/>
              </a:lnSpc>
              <a:buNone/>
            </a:pPr>
            <a:r>
              <a:rPr lang="ar-SA" altLang="en-US" sz="1850" b="1" dirty="0">
                <a:solidFill>
                  <a:srgbClr val="1F2A37"/>
                </a:solidFill>
                <a:latin typeface="Amiri" pitchFamily="2" charset="-78"/>
                <a:ea typeface="Amiri" pitchFamily="2" charset="-78"/>
                <a:cs typeface="Amiri" pitchFamily="2" charset="-78"/>
              </a:rPr>
              <a:t>غَالِبًا مَا أَزُورُ جَدَّتِي.   ·   فِي بَعْضِ الأَحْيَانِ أَتَسَوَّقُ مَعَ أُسْرَتِي.   ·   نَادِرًا مَا أَبْقَى فِي البَيْتِ طَوَالَ اليَوْمِ.</a:t>
            </a:r>
            <a:endParaRPr lang="ar-SA" sz="18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46</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D1-L08 · Weekend Routine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D1-L08</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19" name="Text 16"/>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أَمَّا يَوْمُ السَّبْتِ ___ أَسْتَرِيحُ.</a:t>
            </a:r>
            <a:endParaRPr lang="ar-SA" sz="1500" dirty="0"/>
          </a:p>
        </p:txBody>
      </p:sp>
      <p:sp>
        <p:nvSpPr>
          <p:cNvPr id="20" name="Shape 17"/>
          <p:cNvSpPr/>
          <p:nvPr/>
        </p:nvSpPr>
        <p:spPr>
          <a:xfrm>
            <a:off x="640080" y="2532888"/>
            <a:ext cx="256032" cy="256032"/>
          </a:xfrm>
          <a:prstGeom prst="ellipse">
            <a:avLst/>
          </a:prstGeom>
          <a:solidFill>
            <a:srgbClr val="F4F1EA"/>
          </a:solidFill>
          <a:ln w="12700">
            <a:solidFill>
              <a:srgbClr val="F4F1EA"/>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19"/>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بَيْنَمَا</a:t>
            </a:r>
            <a:endParaRPr lang="ar-SA" sz="2050" dirty="0"/>
          </a:p>
        </p:txBody>
      </p:sp>
      <p:sp>
        <p:nvSpPr>
          <p:cNvPr id="23" name="Shape 20"/>
          <p:cNvSpPr/>
          <p:nvPr/>
        </p:nvSpPr>
        <p:spPr>
          <a:xfrm>
            <a:off x="640080" y="2990088"/>
            <a:ext cx="256032" cy="256032"/>
          </a:xfrm>
          <a:prstGeom prst="ellipse">
            <a:avLst/>
          </a:prstGeom>
          <a:solidFill>
            <a:srgbClr val="F4F1EA"/>
          </a:solidFill>
          <a:ln w="12700">
            <a:solidFill>
              <a:srgbClr val="F4F1EA"/>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لِأَنَّ</a:t>
            </a:r>
            <a:endParaRPr lang="ar-SA" sz="2050" dirty="0"/>
          </a:p>
        </p:txBody>
      </p:sp>
      <p:sp>
        <p:nvSpPr>
          <p:cNvPr id="26" name="Shape 23"/>
          <p:cNvSpPr/>
          <p:nvPr/>
        </p:nvSpPr>
        <p:spPr>
          <a:xfrm>
            <a:off x="640080" y="3447288"/>
            <a:ext cx="256032" cy="256032"/>
          </a:xfrm>
          <a:prstGeom prst="ellipse">
            <a:avLst/>
          </a:prstGeom>
          <a:solidFill>
            <a:srgbClr val="F4F1EA"/>
          </a:solidFill>
          <a:ln w="12700">
            <a:solidFill>
              <a:srgbClr val="F4F1EA"/>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فَـ</a:t>
            </a:r>
            <a:endParaRPr lang="ar-SA" sz="2050" dirty="0"/>
          </a:p>
        </p:txBody>
      </p:sp>
      <p:sp>
        <p:nvSpPr>
          <p:cNvPr id="29" name="Shape 26"/>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313932" y="1947672"/>
            <a:ext cx="310896" cy="310896"/>
          </a:xfrm>
          <a:prstGeom prst="ellipse">
            <a:avLst/>
          </a:prstGeom>
          <a:solidFill>
            <a:srgbClr val="1B3B6F"/>
          </a:solidFill>
          <a:ln w="12700">
            <a:solidFill>
              <a:srgbClr val="1B3B6F"/>
            </a:solidFill>
            <a:prstDash val="solid"/>
          </a:ln>
        </p:spPr>
      </p:sp>
      <p:sp>
        <p:nvSpPr>
          <p:cNvPr id="31" name="Text 28"/>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2" name="Text 29"/>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contrast.</a:t>
            </a:r>
            <a:endParaRPr lang="en-US" sz="1250" dirty="0"/>
          </a:p>
        </p:txBody>
      </p:sp>
      <p:sp>
        <p:nvSpPr>
          <p:cNvPr id="33" name="Shape 30"/>
          <p:cNvSpPr/>
          <p:nvPr/>
        </p:nvSpPr>
        <p:spPr>
          <a:xfrm>
            <a:off x="6368796" y="2532888"/>
            <a:ext cx="256032" cy="256032"/>
          </a:xfrm>
          <a:prstGeom prst="ellipse">
            <a:avLst/>
          </a:prstGeom>
          <a:solidFill>
            <a:srgbClr val="F4F1EA"/>
          </a:solidFill>
          <a:ln w="12700">
            <a:solidFill>
              <a:srgbClr val="F4F1EA"/>
            </a:solidFill>
            <a:prstDash val="solid"/>
          </a:ln>
        </p:spPr>
      </p:sp>
      <p:sp>
        <p:nvSpPr>
          <p:cNvPr id="34" name="Text 31"/>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5" name="Text 32"/>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أَزُورُ جَدَّتِي، بَيْنَمَا تَلْتَقِي أُخْتِي بِصَدِيقَاتِهَا.</a:t>
            </a:r>
            <a:endParaRPr lang="ar-SA" sz="2050" dirty="0"/>
          </a:p>
        </p:txBody>
      </p:sp>
      <p:sp>
        <p:nvSpPr>
          <p:cNvPr id="36" name="Shape 33"/>
          <p:cNvSpPr/>
          <p:nvPr/>
        </p:nvSpPr>
        <p:spPr>
          <a:xfrm>
            <a:off x="6368796" y="2990088"/>
            <a:ext cx="256032" cy="256032"/>
          </a:xfrm>
          <a:prstGeom prst="ellipse">
            <a:avLst/>
          </a:prstGeom>
          <a:solidFill>
            <a:srgbClr val="F4F1EA"/>
          </a:solidFill>
          <a:ln w="12700">
            <a:solidFill>
              <a:srgbClr val="F4F1EA"/>
            </a:solidFill>
            <a:prstDash val="solid"/>
          </a:ln>
        </p:spPr>
      </p:sp>
      <p:sp>
        <p:nvSpPr>
          <p:cNvPr id="37" name="Text 34"/>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8" name="Text 35"/>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أَزُورُ جَدَّتِي، بَيْنَمَا يَلْتَقِي أُخْتِي.</a:t>
            </a:r>
            <a:endParaRPr lang="ar-SA" sz="2050" dirty="0"/>
          </a:p>
        </p:txBody>
      </p:sp>
      <p:sp>
        <p:nvSpPr>
          <p:cNvPr id="39" name="Shape 36"/>
          <p:cNvSpPr/>
          <p:nvPr/>
        </p:nvSpPr>
        <p:spPr>
          <a:xfrm>
            <a:off x="6368796" y="3447288"/>
            <a:ext cx="256032" cy="256032"/>
          </a:xfrm>
          <a:prstGeom prst="ellipse">
            <a:avLst/>
          </a:prstGeom>
          <a:solidFill>
            <a:srgbClr val="F4F1EA"/>
          </a:solidFill>
          <a:ln w="12700">
            <a:solidFill>
              <a:srgbClr val="F4F1EA"/>
            </a:solidFill>
            <a:prstDash val="solid"/>
          </a:ln>
        </p:spPr>
      </p:sp>
      <p:sp>
        <p:nvSpPr>
          <p:cNvPr id="40" name="Text 37"/>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1" name="Text 38"/>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أَزُورُ بَيْنَمَا أُخْتِي أَلْتَقِي.</a:t>
            </a:r>
            <a:endParaRPr lang="ar-SA" sz="2050" dirty="0"/>
          </a:p>
        </p:txBody>
      </p:sp>
      <p:sp>
        <p:nvSpPr>
          <p:cNvPr id="42" name="Shape 39"/>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585216" y="4288536"/>
            <a:ext cx="310896" cy="310896"/>
          </a:xfrm>
          <a:prstGeom prst="ellipse">
            <a:avLst/>
          </a:prstGeom>
          <a:solidFill>
            <a:srgbClr val="1B3B6F"/>
          </a:solidFill>
          <a:ln w="12700">
            <a:solidFill>
              <a:srgbClr val="1B3B6F"/>
            </a:solidFill>
            <a:prstDash val="solid"/>
          </a:ln>
        </p:spPr>
      </p:sp>
      <p:sp>
        <p:nvSpPr>
          <p:cNvPr id="44" name="Text 4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5" name="Text 42"/>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46" name="Text 43"/>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إِذَا كَانَ لَدَيَّ وَقْتٌ، ___.</a:t>
            </a:r>
            <a:endParaRPr lang="ar-SA" sz="1500" dirty="0"/>
          </a:p>
        </p:txBody>
      </p:sp>
      <p:sp>
        <p:nvSpPr>
          <p:cNvPr id="47" name="Shape 44"/>
          <p:cNvSpPr/>
          <p:nvPr/>
        </p:nvSpPr>
        <p:spPr>
          <a:xfrm>
            <a:off x="640080" y="4873752"/>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ذَهَبْتُ أَمْسِ</a:t>
            </a:r>
            <a:endParaRPr lang="ar-SA" sz="2050" dirty="0"/>
          </a:p>
        </p:txBody>
      </p:sp>
      <p:sp>
        <p:nvSpPr>
          <p:cNvPr id="50" name="Shape 47"/>
          <p:cNvSpPr/>
          <p:nvPr/>
        </p:nvSpPr>
        <p:spPr>
          <a:xfrm>
            <a:off x="640080" y="5330952"/>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أَذْهَبُ إِلَى الحَدِيقَةِ</a:t>
            </a:r>
            <a:endParaRPr lang="ar-SA" sz="2050" dirty="0"/>
          </a:p>
        </p:txBody>
      </p:sp>
      <p:sp>
        <p:nvSpPr>
          <p:cNvPr id="53" name="Shape 50"/>
          <p:cNvSpPr/>
          <p:nvPr/>
        </p:nvSpPr>
        <p:spPr>
          <a:xfrm>
            <a:off x="640080" y="5788152"/>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لِأَنَّ الوَقْتَ</a:t>
            </a:r>
            <a:endParaRPr lang="ar-SA" sz="2050" dirty="0"/>
          </a:p>
        </p:txBody>
      </p:sp>
      <p:sp>
        <p:nvSpPr>
          <p:cNvPr id="56" name="Shape 53"/>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6313932"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means “often”?</a:t>
            </a:r>
            <a:endParaRPr lang="en-US" sz="1250" dirty="0"/>
          </a:p>
        </p:txBody>
      </p:sp>
      <p:sp>
        <p:nvSpPr>
          <p:cNvPr id="60" name="Shape 57"/>
          <p:cNvSpPr/>
          <p:nvPr/>
        </p:nvSpPr>
        <p:spPr>
          <a:xfrm>
            <a:off x="6368796"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غَالِبًا مَا</a:t>
            </a:r>
            <a:endParaRPr lang="ar-SA" sz="2050" dirty="0"/>
          </a:p>
        </p:txBody>
      </p:sp>
      <p:sp>
        <p:nvSpPr>
          <p:cNvPr id="63" name="Shape 60"/>
          <p:cNvSpPr/>
          <p:nvPr/>
        </p:nvSpPr>
        <p:spPr>
          <a:xfrm>
            <a:off x="6368796"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نَادِرًا مَا</a:t>
            </a:r>
            <a:endParaRPr lang="ar-SA" sz="2050" dirty="0"/>
          </a:p>
        </p:txBody>
      </p:sp>
      <p:sp>
        <p:nvSpPr>
          <p:cNvPr id="66" name="Shape 63"/>
          <p:cNvSpPr/>
          <p:nvPr/>
        </p:nvSpPr>
        <p:spPr>
          <a:xfrm>
            <a:off x="6368796"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لَا ... أَبَدًا</a:t>
            </a:r>
            <a:endParaRPr lang="ar-SA" sz="2050" dirty="0"/>
          </a:p>
        </p:txBody>
      </p:sp>
      <p:sp>
        <p:nvSpPr>
          <p:cNvPr id="69" name="Text 6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46</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D1-L08 · Weekend Routine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D1-L08</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19" name="Text 16"/>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أَمَّا يَوْمُ السَّبْتِ ___ أَسْتَرِيحُ.</a:t>
            </a:r>
            <a:endParaRPr lang="ar-SA" sz="1500" dirty="0"/>
          </a:p>
        </p:txBody>
      </p:sp>
      <p:sp>
        <p:nvSpPr>
          <p:cNvPr id="20" name="Shape 17"/>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19"/>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بَيْنَمَا</a:t>
            </a:r>
            <a:endParaRPr lang="ar-SA" sz="170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لِأَنَّ</a:t>
            </a:r>
            <a:endParaRPr lang="ar-SA" sz="1700" dirty="0"/>
          </a:p>
        </p:txBody>
      </p:sp>
      <p:sp>
        <p:nvSpPr>
          <p:cNvPr id="26" name="Shape 23"/>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7" name="Shape 24"/>
          <p:cNvSpPr/>
          <p:nvPr/>
        </p:nvSpPr>
        <p:spPr>
          <a:xfrm>
            <a:off x="640080" y="3233928"/>
            <a:ext cx="256032" cy="256032"/>
          </a:xfrm>
          <a:prstGeom prst="ellipse">
            <a:avLst/>
          </a:prstGeom>
          <a:solidFill>
            <a:srgbClr val="2E8B57"/>
          </a:solidFill>
          <a:ln w="12700">
            <a:solidFill>
              <a:srgbClr val="2E8B57"/>
            </a:solidFill>
            <a:prstDash val="solid"/>
          </a:ln>
        </p:spPr>
      </p:sp>
      <p:sp>
        <p:nvSpPr>
          <p:cNvPr id="28" name="Text 25"/>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9" name="Text 26"/>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فَـ</a:t>
            </a:r>
            <a:endParaRPr lang="ar-SA" sz="1700" dirty="0"/>
          </a:p>
        </p:txBody>
      </p:sp>
      <p:sp>
        <p:nvSpPr>
          <p:cNvPr id="30" name="Text 27"/>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أَمَّا</a:t>
            </a:r>
            <a:pPr algn="l" indent="0" marL="0">
              <a:buNone/>
            </a:pPr>
            <a:r>
              <a:rPr lang="en-US" sz="1050" i="1" dirty="0">
                <a:solidFill>
                  <a:srgbClr val="8A6D1E"/>
                </a:solidFill>
                <a:latin typeface="Calibri" pitchFamily="34" charset="0"/>
                <a:cs typeface="Amiri" pitchFamily="2" charset="-78"/>
              </a:rPr>
              <a:t> requires </a:t>
            </a:r>
            <a:pPr algn="l" indent="0" marL="0">
              <a:buNone/>
            </a:pPr>
            <a:r>
              <a:rPr lang="ar-SA" altLang="en-US" sz="1350" dirty="0">
                <a:solidFill>
                  <a:srgbClr val="8A6D1E"/>
                </a:solidFill>
                <a:latin typeface="Amiri" pitchFamily="2" charset="-78"/>
                <a:ea typeface="Amiri" pitchFamily="2" charset="-78"/>
                <a:cs typeface="Amiri" pitchFamily="2" charset="-78"/>
              </a:rPr>
              <a:t>فَـ</a:t>
            </a:r>
            <a:pPr algn="l" indent="0" marL="0">
              <a:buNone/>
            </a:pPr>
            <a:r>
              <a:rPr lang="en-US" sz="1050" i="1" dirty="0">
                <a:solidFill>
                  <a:srgbClr val="8A6D1E"/>
                </a:solidFill>
                <a:latin typeface="Calibri" pitchFamily="34" charset="0"/>
                <a:cs typeface="Amiri" pitchFamily="2" charset="-78"/>
              </a:rPr>
              <a:t> before the comment.</a:t>
            </a:r>
            <a:endParaRPr lang="en-US" sz="1050" dirty="0"/>
          </a:p>
        </p:txBody>
      </p:sp>
      <p:sp>
        <p:nvSpPr>
          <p:cNvPr id="31" name="Shape 28"/>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6313932" y="1947672"/>
            <a:ext cx="310896" cy="310896"/>
          </a:xfrm>
          <a:prstGeom prst="ellipse">
            <a:avLst/>
          </a:prstGeom>
          <a:solidFill>
            <a:srgbClr val="1B3B6F"/>
          </a:solidFill>
          <a:ln w="12700">
            <a:solidFill>
              <a:srgbClr val="1B3B6F"/>
            </a:solidFill>
            <a:prstDash val="solid"/>
          </a:ln>
        </p:spPr>
      </p:sp>
      <p:sp>
        <p:nvSpPr>
          <p:cNvPr id="33" name="Text 30"/>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1"/>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contrast.</a:t>
            </a:r>
            <a:endParaRPr lang="en-US" sz="1250" dirty="0"/>
          </a:p>
        </p:txBody>
      </p:sp>
      <p:sp>
        <p:nvSpPr>
          <p:cNvPr id="35" name="Shape 32"/>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6" name="Shape 33"/>
          <p:cNvSpPr/>
          <p:nvPr/>
        </p:nvSpPr>
        <p:spPr>
          <a:xfrm>
            <a:off x="6368796" y="2490216"/>
            <a:ext cx="256032" cy="256032"/>
          </a:xfrm>
          <a:prstGeom prst="ellipse">
            <a:avLst/>
          </a:prstGeom>
          <a:solidFill>
            <a:srgbClr val="2E8B57"/>
          </a:solidFill>
          <a:ln w="12700">
            <a:solidFill>
              <a:srgbClr val="2E8B57"/>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أَزُورُ جَدَّتِي، بَيْنَمَا تَلْتَقِي أُخْتِي بِصَدِيقَاتِهَا.</a:t>
            </a:r>
            <a:endParaRPr lang="ar-SA" sz="1700" dirty="0"/>
          </a:p>
        </p:txBody>
      </p:sp>
      <p:sp>
        <p:nvSpPr>
          <p:cNvPr id="39" name="Shape 36"/>
          <p:cNvSpPr/>
          <p:nvPr/>
        </p:nvSpPr>
        <p:spPr>
          <a:xfrm>
            <a:off x="6368796"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أَزُورُ جَدَّتِي، بَيْنَمَا يَلْتَقِي أُخْتِي.</a:t>
            </a:r>
            <a:endParaRPr lang="ar-SA" sz="1700" dirty="0"/>
          </a:p>
        </p:txBody>
      </p:sp>
      <p:sp>
        <p:nvSpPr>
          <p:cNvPr id="42" name="Shape 39"/>
          <p:cNvSpPr/>
          <p:nvPr/>
        </p:nvSpPr>
        <p:spPr>
          <a:xfrm>
            <a:off x="6368796" y="3233928"/>
            <a:ext cx="256032" cy="256032"/>
          </a:xfrm>
          <a:prstGeom prst="ellipse">
            <a:avLst/>
          </a:prstGeom>
          <a:solidFill>
            <a:srgbClr val="C9CED6"/>
          </a:solidFill>
          <a:ln w="12700">
            <a:solidFill>
              <a:srgbClr val="C9CED6"/>
            </a:solidFill>
            <a:prstDash val="solid"/>
          </a:ln>
        </p:spPr>
      </p:sp>
      <p:sp>
        <p:nvSpPr>
          <p:cNvPr id="43" name="Text 40"/>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4" name="Text 41"/>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أَزُورُ بَيْنَمَا أُخْتِي أَلْتَقِي.</a:t>
            </a:r>
            <a:endParaRPr lang="ar-SA" sz="1700" dirty="0"/>
          </a:p>
        </p:txBody>
      </p:sp>
      <p:sp>
        <p:nvSpPr>
          <p:cNvPr id="45" name="Text 42"/>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Each clause has accurate subject–verb agreement.</a:t>
            </a:r>
            <a:endParaRPr lang="en-US" sz="1050" dirty="0"/>
          </a:p>
        </p:txBody>
      </p:sp>
      <p:sp>
        <p:nvSpPr>
          <p:cNvPr id="46" name="Shape 43"/>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4"/>
          <p:cNvSpPr/>
          <p:nvPr/>
        </p:nvSpPr>
        <p:spPr>
          <a:xfrm>
            <a:off x="585216" y="4288536"/>
            <a:ext cx="310896" cy="310896"/>
          </a:xfrm>
          <a:prstGeom prst="ellipse">
            <a:avLst/>
          </a:prstGeom>
          <a:solidFill>
            <a:srgbClr val="1B3B6F"/>
          </a:solidFill>
          <a:ln w="12700">
            <a:solidFill>
              <a:srgbClr val="1B3B6F"/>
            </a:solidFill>
            <a:prstDash val="solid"/>
          </a:ln>
        </p:spPr>
      </p:sp>
      <p:sp>
        <p:nvSpPr>
          <p:cNvPr id="48" name="Text 4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9" name="Text 46"/>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50" name="Text 47"/>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إِذَا كَانَ لَدَيَّ وَقْتٌ، ___.</a:t>
            </a:r>
            <a:endParaRPr lang="ar-SA" sz="1500" dirty="0"/>
          </a:p>
        </p:txBody>
      </p:sp>
      <p:sp>
        <p:nvSpPr>
          <p:cNvPr id="51" name="Shape 48"/>
          <p:cNvSpPr/>
          <p:nvPr/>
        </p:nvSpPr>
        <p:spPr>
          <a:xfrm>
            <a:off x="640080" y="4831080"/>
            <a:ext cx="256032" cy="256032"/>
          </a:xfrm>
          <a:prstGeom prst="ellipse">
            <a:avLst/>
          </a:prstGeom>
          <a:solidFill>
            <a:srgbClr val="C9CED6"/>
          </a:solidFill>
          <a:ln w="12700">
            <a:solidFill>
              <a:srgbClr val="C9CED6"/>
            </a:solidFill>
            <a:prstDash val="solid"/>
          </a:ln>
        </p:spPr>
      </p:sp>
      <p:sp>
        <p:nvSpPr>
          <p:cNvPr id="52" name="Text 49"/>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0"/>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ذَهَبْتُ أَمْسِ</a:t>
            </a:r>
            <a:endParaRPr lang="ar-SA" sz="1700" dirty="0"/>
          </a:p>
        </p:txBody>
      </p:sp>
      <p:sp>
        <p:nvSpPr>
          <p:cNvPr id="54" name="Shape 51"/>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5" name="Shape 52"/>
          <p:cNvSpPr/>
          <p:nvPr/>
        </p:nvSpPr>
        <p:spPr>
          <a:xfrm>
            <a:off x="640080" y="5202936"/>
            <a:ext cx="256032" cy="256032"/>
          </a:xfrm>
          <a:prstGeom prst="ellipse">
            <a:avLst/>
          </a:prstGeom>
          <a:solidFill>
            <a:srgbClr val="2E8B57"/>
          </a:solidFill>
          <a:ln w="12700">
            <a:solidFill>
              <a:srgbClr val="2E8B57"/>
            </a:solidFill>
            <a:prstDash val="solid"/>
          </a:ln>
        </p:spPr>
      </p:sp>
      <p:sp>
        <p:nvSpPr>
          <p:cNvPr id="56" name="Text 5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7" name="Text 54"/>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أَذْهَبُ إِلَى الحَدِيقَةِ</a:t>
            </a:r>
            <a:endParaRPr lang="ar-SA" sz="1700" dirty="0"/>
          </a:p>
        </p:txBody>
      </p:sp>
      <p:sp>
        <p:nvSpPr>
          <p:cNvPr id="58" name="Shape 55"/>
          <p:cNvSpPr/>
          <p:nvPr/>
        </p:nvSpPr>
        <p:spPr>
          <a:xfrm>
            <a:off x="640080" y="5574792"/>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لِأَنَّ الوَقْتَ</a:t>
            </a:r>
            <a:endParaRPr lang="ar-SA" sz="1700" dirty="0"/>
          </a:p>
        </p:txBody>
      </p:sp>
      <p:sp>
        <p:nvSpPr>
          <p:cNvPr id="61" name="Text 58"/>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repeated real condition can use present tense.</a:t>
            </a:r>
            <a:endParaRPr lang="en-US" sz="1050" dirty="0"/>
          </a:p>
        </p:txBody>
      </p:sp>
      <p:sp>
        <p:nvSpPr>
          <p:cNvPr id="62" name="Shape 59"/>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6313932"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means “often”?</a:t>
            </a:r>
            <a:endParaRPr lang="en-US" sz="1250" dirty="0"/>
          </a:p>
        </p:txBody>
      </p:sp>
      <p:sp>
        <p:nvSpPr>
          <p:cNvPr id="66" name="Shape 63"/>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7" name="Shape 64"/>
          <p:cNvSpPr/>
          <p:nvPr/>
        </p:nvSpPr>
        <p:spPr>
          <a:xfrm>
            <a:off x="6368796" y="4831080"/>
            <a:ext cx="256032" cy="256032"/>
          </a:xfrm>
          <a:prstGeom prst="ellipse">
            <a:avLst/>
          </a:prstGeom>
          <a:solidFill>
            <a:srgbClr val="2E8B57"/>
          </a:solidFill>
          <a:ln w="12700">
            <a:solidFill>
              <a:srgbClr val="2E8B57"/>
            </a:solidFill>
            <a:prstDash val="solid"/>
          </a:ln>
        </p:spPr>
      </p:sp>
      <p:sp>
        <p:nvSpPr>
          <p:cNvPr id="68" name="Text 65"/>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9" name="Text 66"/>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غَالِبًا مَا</a:t>
            </a:r>
            <a:endParaRPr lang="ar-SA" sz="1700" dirty="0"/>
          </a:p>
        </p:txBody>
      </p:sp>
      <p:sp>
        <p:nvSpPr>
          <p:cNvPr id="70" name="Shape 67"/>
          <p:cNvSpPr/>
          <p:nvPr/>
        </p:nvSpPr>
        <p:spPr>
          <a:xfrm>
            <a:off x="6368796" y="5202936"/>
            <a:ext cx="256032" cy="256032"/>
          </a:xfrm>
          <a:prstGeom prst="ellipse">
            <a:avLst/>
          </a:prstGeom>
          <a:solidFill>
            <a:srgbClr val="C9CED6"/>
          </a:solidFill>
          <a:ln w="12700">
            <a:solidFill>
              <a:srgbClr val="C9CED6"/>
            </a:solidFill>
            <a:prstDash val="solid"/>
          </a:ln>
        </p:spPr>
      </p:sp>
      <p:sp>
        <p:nvSpPr>
          <p:cNvPr id="71" name="Text 68"/>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2" name="Text 69"/>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نَادِرًا مَا</a:t>
            </a:r>
            <a:endParaRPr lang="ar-SA" sz="1700" dirty="0"/>
          </a:p>
        </p:txBody>
      </p:sp>
      <p:sp>
        <p:nvSpPr>
          <p:cNvPr id="73" name="Shape 70"/>
          <p:cNvSpPr/>
          <p:nvPr/>
        </p:nvSpPr>
        <p:spPr>
          <a:xfrm>
            <a:off x="6368796" y="5574792"/>
            <a:ext cx="256032" cy="256032"/>
          </a:xfrm>
          <a:prstGeom prst="ellipse">
            <a:avLst/>
          </a:prstGeom>
          <a:solidFill>
            <a:srgbClr val="C9CED6"/>
          </a:solidFill>
          <a:ln w="12700">
            <a:solidFill>
              <a:srgbClr val="C9CED6"/>
            </a:solidFill>
            <a:prstDash val="solid"/>
          </a:ln>
        </p:spPr>
      </p:sp>
      <p:sp>
        <p:nvSpPr>
          <p:cNvPr id="74" name="Text 71"/>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5" name="Text 72"/>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لَا ... أَبَدًا</a:t>
            </a:r>
            <a:endParaRPr lang="ar-SA" sz="1700" dirty="0"/>
          </a:p>
        </p:txBody>
      </p:sp>
      <p:sp>
        <p:nvSpPr>
          <p:cNvPr id="76" name="Text 73"/>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غَالِبًا مَا</a:t>
            </a:r>
            <a:pPr algn="l" indent="0" marL="0">
              <a:buNone/>
            </a:pPr>
            <a:r>
              <a:rPr lang="en-US" sz="1050" i="1" dirty="0">
                <a:solidFill>
                  <a:srgbClr val="8A6D1E"/>
                </a:solidFill>
                <a:latin typeface="Calibri" pitchFamily="34" charset="0"/>
                <a:cs typeface="Amiri" pitchFamily="2" charset="-78"/>
              </a:rPr>
              <a:t> = often.</a:t>
            </a:r>
            <a:endParaRPr lang="en-US" sz="1050" dirty="0"/>
          </a:p>
        </p:txBody>
      </p:sp>
      <p:sp>
        <p:nvSpPr>
          <p:cNvPr id="77" name="Text 7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46</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D1-L08 · Weekend Routine</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Watch me describe my weekend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D1-L08</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Contrast</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0E7C86"/>
                </a:solidFill>
                <a:latin typeface="Amiri" pitchFamily="2" charset="-78"/>
                <a:ea typeface="Amiri" pitchFamily="2" charset="-78"/>
                <a:cs typeface="Amiri" pitchFamily="2" charset="-78"/>
              </a:rPr>
              <a:t>أَمَّا</a:t>
            </a:r>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 يَوْمُ السَّبْتِ </a:t>
            </a:r>
            <a:pPr rtl="1" algn="ctr" indent="0" marL="0">
              <a:lnSpc>
                <a:spcPct val="120000"/>
              </a:lnSpc>
              <a:buNone/>
            </a:pPr>
            <a:r>
              <a:rPr lang="ar-SA" altLang="en-US" sz="1750" b="1" dirty="0">
                <a:solidFill>
                  <a:srgbClr val="0E7C86"/>
                </a:solidFill>
                <a:latin typeface="Amiri" pitchFamily="2" charset="-78"/>
                <a:ea typeface="Amiri" pitchFamily="2" charset="-78"/>
                <a:cs typeface="Amiri" pitchFamily="2" charset="-78"/>
              </a:rPr>
              <a:t>فَأَنَامُ</a:t>
            </a:r>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 وَقْتًا أَطْوَلَ.</a:t>
            </a:r>
            <a:endParaRPr lang="ar-SA" sz="175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As for + topic + fa-.</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How often</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1D5FBF"/>
                </a:solidFill>
                <a:latin typeface="Amiri" pitchFamily="2" charset="-78"/>
                <a:ea typeface="Amiri" pitchFamily="2" charset="-78"/>
                <a:cs typeface="Amiri" pitchFamily="2" charset="-78"/>
              </a:rPr>
              <a:t>غَالِبًا مَا</a:t>
            </a:r>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 أَزُورُ أَقَارِبِي بَعْدَ الظُّهْرِ.</a:t>
            </a:r>
            <a:endParaRPr lang="ar-SA" sz="175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 tendency.</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Condition</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D6336C"/>
                </a:solidFill>
                <a:latin typeface="Amiri" pitchFamily="2" charset="-78"/>
                <a:ea typeface="Amiri" pitchFamily="2" charset="-78"/>
                <a:cs typeface="Amiri" pitchFamily="2" charset="-78"/>
              </a:rPr>
              <a:t>إِذَا</a:t>
            </a:r>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 كَانَ لَدَيَّ وَقْتٌ أَلْتَقِي بِأَصْدِقَائِي.</a:t>
            </a:r>
            <a:endParaRPr lang="ar-SA" sz="175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It depends on time.</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Judgement</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عُطْلَتِي مُتَوَازِنَةٌ لِأَنَّهَا تَجْمَعُ بَيْنَ الرَّاحَةِ وَالمَسْؤُولِيَّةِ.</a:t>
            </a:r>
            <a:endParaRPr lang="ar-SA" sz="175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Opinion + evidence.</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8540496" y="4736592"/>
            <a:ext cx="914400" cy="237744"/>
          </a:xfrm>
          <a:prstGeom prst="roundRect">
            <a:avLst>
              <a:gd name="adj" fmla="val 50000"/>
            </a:avLst>
          </a:prstGeom>
          <a:solidFill>
            <a:srgbClr val="0E7C86"/>
          </a:solidFill>
          <a:ln w="12700">
            <a:solidFill>
              <a:srgbClr val="0E7C86"/>
            </a:solidFill>
            <a:prstDash val="solid"/>
          </a:ln>
        </p:spPr>
      </p:sp>
      <p:sp>
        <p:nvSpPr>
          <p:cNvPr id="46" name="Text 42"/>
          <p:cNvSpPr txBox="1"/>
          <p:nvPr/>
        </p:nvSpPr>
        <p:spPr>
          <a:xfrm>
            <a:off x="8540496"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AS FOR … FA-</a:t>
            </a:r>
            <a:endParaRPr lang="en-US" sz="800" dirty="0"/>
          </a:p>
        </p:txBody>
      </p:sp>
      <p:sp>
        <p:nvSpPr>
          <p:cNvPr id="47" name="Shape 43"/>
          <p:cNvSpPr/>
          <p:nvPr/>
        </p:nvSpPr>
        <p:spPr>
          <a:xfrm>
            <a:off x="9528048" y="4736592"/>
            <a:ext cx="914400" cy="237744"/>
          </a:xfrm>
          <a:prstGeom prst="roundRect">
            <a:avLst>
              <a:gd name="adj" fmla="val 50000"/>
            </a:avLst>
          </a:prstGeom>
          <a:solidFill>
            <a:srgbClr val="1D5FBF"/>
          </a:solidFill>
          <a:ln w="12700">
            <a:solidFill>
              <a:srgbClr val="1D5FBF"/>
            </a:solidFill>
            <a:prstDash val="solid"/>
          </a:ln>
        </p:spPr>
      </p:sp>
      <p:sp>
        <p:nvSpPr>
          <p:cNvPr id="48" name="Text 44"/>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FREQUENCY</a:t>
            </a:r>
            <a:endParaRPr lang="en-US" sz="800" dirty="0"/>
          </a:p>
        </p:txBody>
      </p:sp>
      <p:sp>
        <p:nvSpPr>
          <p:cNvPr id="49" name="Shape 45"/>
          <p:cNvSpPr/>
          <p:nvPr/>
        </p:nvSpPr>
        <p:spPr>
          <a:xfrm>
            <a:off x="10515600" y="4736592"/>
            <a:ext cx="914400" cy="237744"/>
          </a:xfrm>
          <a:prstGeom prst="roundRect">
            <a:avLst>
              <a:gd name="adj" fmla="val 50000"/>
            </a:avLst>
          </a:prstGeom>
          <a:solidFill>
            <a:srgbClr val="D6336C"/>
          </a:solidFill>
          <a:ln w="12700">
            <a:solidFill>
              <a:srgbClr val="D6336C"/>
            </a:solidFill>
            <a:prstDash val="solid"/>
          </a:ln>
        </p:spPr>
      </p:sp>
      <p:sp>
        <p:nvSpPr>
          <p:cNvPr id="50" name="Text 46"/>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CONDITION</a:t>
            </a:r>
            <a:endParaRPr lang="en-US" sz="800" dirty="0"/>
          </a:p>
        </p:txBody>
      </p:sp>
      <p:sp>
        <p:nvSpPr>
          <p:cNvPr id="51" name="Text 47"/>
          <p:cNvSpPr txBox="1"/>
          <p:nvPr/>
        </p:nvSpPr>
        <p:spPr>
          <a:xfrm>
            <a:off x="685800" y="5029200"/>
            <a:ext cx="10817352" cy="731520"/>
          </a:xfrm>
          <a:prstGeom prst="rect">
            <a:avLst/>
          </a:prstGeom>
          <a:noFill/>
          <a:ln/>
        </p:spPr>
        <p:txBody>
          <a:bodyPr wrap="square" lIns="0" tIns="0" rIns="0" bIns="0" rtlCol="0" anchor="ctr"/>
          <a:lstStyle/>
          <a:p>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فِي أَيَّامِ الدِّرَاسَةِ أَسْتَيْقِظُ مُبَكِّرًا، </a:t>
            </a:r>
            <a:pPr rtl="1" algn="r" indent="0" marL="0">
              <a:lnSpc>
                <a:spcPct val="120000"/>
              </a:lnSpc>
              <a:buNone/>
            </a:pPr>
            <a:r>
              <a:rPr lang="ar-SA" altLang="en-US" sz="1400" b="1" dirty="0">
                <a:solidFill>
                  <a:srgbClr val="0E7C86"/>
                </a:solidFill>
                <a:latin typeface="Amiri" pitchFamily="2" charset="-78"/>
                <a:ea typeface="Amiri" pitchFamily="2" charset="-78"/>
                <a:cs typeface="Amiri" pitchFamily="2" charset="-78"/>
              </a:rPr>
              <a:t>أَمَّا</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يَوْمُ السَّبْتِ </a:t>
            </a:r>
            <a:pPr rtl="1" algn="r" indent="0" marL="0">
              <a:lnSpc>
                <a:spcPct val="120000"/>
              </a:lnSpc>
              <a:buNone/>
            </a:pPr>
            <a:r>
              <a:rPr lang="ar-SA" altLang="en-US" sz="1400" b="1" dirty="0">
                <a:solidFill>
                  <a:srgbClr val="0E7C86"/>
                </a:solidFill>
                <a:latin typeface="Amiri" pitchFamily="2" charset="-78"/>
                <a:ea typeface="Amiri" pitchFamily="2" charset="-78"/>
                <a:cs typeface="Amiri" pitchFamily="2" charset="-78"/>
              </a:rPr>
              <a:t>فَأَنَامُ</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وَقْتًا أَطْوَلَ. </a:t>
            </a:r>
            <a:pPr rtl="1" algn="r" indent="0" marL="0">
              <a:lnSpc>
                <a:spcPct val="120000"/>
              </a:lnSpc>
              <a:buNone/>
            </a:pPr>
            <a:r>
              <a:rPr lang="ar-SA" altLang="en-US" sz="1400" b="1" dirty="0">
                <a:solidFill>
                  <a:srgbClr val="1D5FBF"/>
                </a:solidFill>
                <a:latin typeface="Amiri" pitchFamily="2" charset="-78"/>
                <a:ea typeface="Amiri" pitchFamily="2" charset="-78"/>
                <a:cs typeface="Amiri" pitchFamily="2" charset="-78"/>
              </a:rPr>
              <a:t>غَالِبًا مَا</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أَزُورُ أَقَارِبِي بَعْدَ الظُّهْرِ، وَ</a:t>
            </a:r>
            <a:pPr rtl="1" algn="r" indent="0" marL="0">
              <a:lnSpc>
                <a:spcPct val="120000"/>
              </a:lnSpc>
              <a:buNone/>
            </a:pPr>
            <a:r>
              <a:rPr lang="ar-SA" altLang="en-US" sz="1400" b="1" dirty="0">
                <a:solidFill>
                  <a:srgbClr val="D6336C"/>
                </a:solidFill>
                <a:latin typeface="Amiri" pitchFamily="2" charset="-78"/>
                <a:ea typeface="Amiri" pitchFamily="2" charset="-78"/>
                <a:cs typeface="Amiri" pitchFamily="2" charset="-78"/>
              </a:rPr>
              <a:t>إِذَا</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كَانَ لَدَيَّ وَقْتٌ أَلْتَقِي بِأَصْدِقَائِي. يَوْمَ الأَحَدِ أُخَطِّطُ لِلْأُسْبُوعِ. عُطْلَتِي مُتَوَازِنَةٌ لِأَنَّهَا تَجْمَعُ بَيْنَ الرَّاحَةِ وَالمَسْؤُولِيَّةِ.</a:t>
            </a:r>
            <a:endParaRPr lang="ar-SA" sz="1400" dirty="0"/>
          </a:p>
        </p:txBody>
      </p:sp>
      <p:sp>
        <p:nvSpPr>
          <p:cNvPr id="52" name="Text 48"/>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cs typeface="Amiri" pitchFamily="2" charset="-78"/>
              </a:rPr>
              <a:t>On school days I wake up early; as for Saturday, I sleep longer. I often visit my relatives in the afternoon, and if I have time I meet my friends. On Sunday I plan the week. My weekend is balanced because it combines rest and responsibility.</a:t>
            </a:r>
            <a:endParaRPr lang="en-US" sz="1100" dirty="0"/>
          </a:p>
        </p:txBody>
      </p:sp>
      <p:sp>
        <p:nvSpPr>
          <p:cNvPr id="53"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46</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D1-L08 · Weekend Routine</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 FROM THE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D1-L08</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غَالِبًا مَا أَزُورُ أَقَارِبِي يَوْمَ السَّبْتِ.</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 often visit relatives on Saturday.</a:t>
            </a:r>
            <a:endParaRPr lang="en-US" sz="1250" dirty="0"/>
          </a:p>
          <a:p>
            <a:pPr indent="0" marL="0">
              <a:buNone/>
            </a:pPr>
            <a:r>
              <a:rPr lang="en-US" sz="1050" i="1" dirty="0">
                <a:solidFill>
                  <a:srgbClr val="8A6D1E"/>
                </a:solidFill>
                <a:latin typeface="Calibri" pitchFamily="34" charset="0"/>
                <a:cs typeface="Amiri" pitchFamily="2" charset="-78"/>
              </a:rPr>
              <a:t>Flexible frequency.</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إِذَا كَانَ لَدَيَّ وَقْتٌ أُمَارِسُ هِوَايَتِي.</a:t>
            </a:r>
            <a:endParaRPr lang="ar-SA" sz="260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If I have time, I practise my hobby.</a:t>
            </a:r>
            <a:endParaRPr lang="en-US" sz="1250" dirty="0"/>
          </a:p>
          <a:p>
            <a:pPr indent="0" marL="0">
              <a:buNone/>
            </a:pPr>
            <a:r>
              <a:rPr lang="en-US" sz="1050" i="1" dirty="0">
                <a:solidFill>
                  <a:srgbClr val="8A6D1E"/>
                </a:solidFill>
                <a:latin typeface="Calibri" pitchFamily="34" charset="0"/>
                <a:cs typeface="Amiri" pitchFamily="2" charset="-78"/>
              </a:rPr>
              <a:t>Real recurring condition.</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أَمَّا يَوْمُ الأَحَدِ فَأُخَطِّطُ لِلْأُسْبُوعِ.</a:t>
            </a:r>
            <a:endParaRPr lang="ar-SA" sz="260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As for Sunday, I plan the week.</a:t>
            </a:r>
            <a:endParaRPr lang="en-US" sz="1250" dirty="0"/>
          </a:p>
          <a:p>
            <a:pPr indent="0" marL="0">
              <a:buNone/>
            </a:pPr>
            <a:r>
              <a:rPr lang="en-US" sz="1050" i="1" dirty="0">
                <a:solidFill>
                  <a:srgbClr val="8A6D1E"/>
                </a:solidFill>
                <a:latin typeface="Calibri" pitchFamily="34" charset="0"/>
                <a:cs typeface="Amiri" pitchFamily="2" charset="-78"/>
              </a:rPr>
              <a:t>Topic contrast.</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أُرِيدُ تَوَازُنًا بَيْنَ الرَّاحَةِ وَالمَسْؤُولِيَّةِ.</a:t>
            </a:r>
            <a:endParaRPr lang="ar-SA" sz="260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 want balance between rest and responsibility.</a:t>
            </a:r>
            <a:endParaRPr lang="en-US" sz="1250" dirty="0"/>
          </a:p>
          <a:p>
            <a:pPr indent="0" marL="0">
              <a:buNone/>
            </a:pPr>
            <a:r>
              <a:rPr lang="en-US" sz="1050" i="1" dirty="0">
                <a:solidFill>
                  <a:srgbClr val="8A6D1E"/>
                </a:solidFill>
                <a:latin typeface="Calibri" pitchFamily="34" charset="0"/>
                <a:cs typeface="Amiri" pitchFamily="2" charset="-78"/>
              </a:rPr>
              <a:t>Evaluation language.</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46</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D1-L08 · Weekend Routine</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WE DO · SCHOOL DAY → WEEKEND (WEBSITE PICTURE-GAME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But at the weekend …</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أَمَّا فِي نِهَايَةِ الأُسْبُوعِ …</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D1-L08</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Which is accurate?</a:t>
            </a:r>
            <a:endParaRPr lang="en-US" sz="1200" dirty="0"/>
          </a:p>
        </p:txBody>
      </p:sp>
      <p:sp>
        <p:nvSpPr>
          <p:cNvPr id="19" name="Text 16"/>
          <p:cNvSpPr txBox="1"/>
          <p:nvPr/>
        </p:nvSpPr>
        <p:spPr>
          <a:xfrm>
            <a:off x="2406701" y="1883664"/>
            <a:ext cx="1577035"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أَسْتَيْقِظُ صَبَاحًا مُبَكِّرًا …</a:t>
            </a:r>
            <a:endParaRPr lang="ar-SA" sz="1500" dirty="0"/>
          </a:p>
        </p:txBody>
      </p:sp>
      <p:sp>
        <p:nvSpPr>
          <p:cNvPr id="20" name="Shape 17"/>
          <p:cNvSpPr/>
          <p:nvPr/>
        </p:nvSpPr>
        <p:spPr>
          <a:xfrm>
            <a:off x="640080" y="2532888"/>
            <a:ext cx="256032" cy="256032"/>
          </a:xfrm>
          <a:prstGeom prst="ellipse">
            <a:avLst/>
          </a:prstGeom>
          <a:solidFill>
            <a:srgbClr val="F4F1EA"/>
          </a:solidFill>
          <a:ln w="12700">
            <a:solidFill>
              <a:srgbClr val="F4F1EA"/>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1600" dirty="0">
                <a:solidFill>
                  <a:srgbClr val="1F2A37"/>
                </a:solidFill>
                <a:latin typeface="Amiri" pitchFamily="2" charset="-78"/>
                <a:ea typeface="Amiri" pitchFamily="2" charset="-78"/>
                <a:cs typeface="Amiri" pitchFamily="2" charset="-78"/>
              </a:rPr>
              <a:t>فَأَمَّا فِي نِهَايَةِ الأُسْبُوعِ أَسْتَيْقِظُ مُتَأَخِّرًا.</a:t>
            </a:r>
            <a:endParaRPr lang="ar-SA" sz="1600" dirty="0"/>
          </a:p>
        </p:txBody>
      </p:sp>
      <p:sp>
        <p:nvSpPr>
          <p:cNvPr id="23" name="Shape 20"/>
          <p:cNvSpPr/>
          <p:nvPr/>
        </p:nvSpPr>
        <p:spPr>
          <a:xfrm>
            <a:off x="640080" y="2990088"/>
            <a:ext cx="256032" cy="256032"/>
          </a:xfrm>
          <a:prstGeom prst="ellipse">
            <a:avLst/>
          </a:prstGeom>
          <a:solidFill>
            <a:srgbClr val="F4F1EA"/>
          </a:solidFill>
          <a:ln w="12700">
            <a:solidFill>
              <a:srgbClr val="F4F1EA"/>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1600" dirty="0">
                <a:solidFill>
                  <a:srgbClr val="1F2A37"/>
                </a:solidFill>
                <a:latin typeface="Amiri" pitchFamily="2" charset="-78"/>
                <a:ea typeface="Amiri" pitchFamily="2" charset="-78"/>
                <a:cs typeface="Amiri" pitchFamily="2" charset="-78"/>
              </a:rPr>
              <a:t>أَمَّا فِي نِهَايَةِ الأُسْبُوعِ فَأَسْتَيْقِظُ مُتَأَخِّرًا.</a:t>
            </a:r>
            <a:endParaRPr lang="ar-SA" sz="1600" dirty="0"/>
          </a:p>
        </p:txBody>
      </p:sp>
      <p:sp>
        <p:nvSpPr>
          <p:cNvPr id="26" name="Shape 23"/>
          <p:cNvSpPr/>
          <p:nvPr/>
        </p:nvSpPr>
        <p:spPr>
          <a:xfrm>
            <a:off x="640080" y="3447288"/>
            <a:ext cx="256032" cy="256032"/>
          </a:xfrm>
          <a:prstGeom prst="ellipse">
            <a:avLst/>
          </a:prstGeom>
          <a:solidFill>
            <a:srgbClr val="F4F1EA"/>
          </a:solidFill>
          <a:ln w="12700">
            <a:solidFill>
              <a:srgbClr val="F4F1EA"/>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1600" dirty="0">
                <a:solidFill>
                  <a:srgbClr val="1F2A37"/>
                </a:solidFill>
                <a:latin typeface="Amiri" pitchFamily="2" charset="-78"/>
                <a:ea typeface="Amiri" pitchFamily="2" charset="-78"/>
                <a:cs typeface="Amiri" pitchFamily="2" charset="-78"/>
              </a:rPr>
              <a:t>أَمَّا فِي نِهَايَةِ الأُسْبُوعِ أَسْتَيْقِظُ فَمُتَأَخِّرًا.</a:t>
            </a:r>
            <a:endParaRPr lang="ar-SA" sz="1600" dirty="0"/>
          </a:p>
        </p:txBody>
      </p:sp>
      <p:sp>
        <p:nvSpPr>
          <p:cNvPr id="29" name="Shape 26"/>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4404360" y="1947672"/>
            <a:ext cx="310896" cy="310896"/>
          </a:xfrm>
          <a:prstGeom prst="ellipse">
            <a:avLst/>
          </a:prstGeom>
          <a:solidFill>
            <a:srgbClr val="1B3B6F"/>
          </a:solidFill>
          <a:ln w="12700">
            <a:solidFill>
              <a:srgbClr val="1B3B6F"/>
            </a:solidFill>
            <a:prstDash val="solid"/>
          </a:ln>
        </p:spPr>
      </p:sp>
      <p:sp>
        <p:nvSpPr>
          <p:cNvPr id="31" name="Text 28"/>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2" name="Text 29"/>
          <p:cNvSpPr txBox="1"/>
          <p:nvPr/>
        </p:nvSpPr>
        <p:spPr>
          <a:xfrm>
            <a:off x="4770120"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Which is accurate?</a:t>
            </a:r>
            <a:endParaRPr lang="en-US" sz="1200" dirty="0"/>
          </a:p>
        </p:txBody>
      </p:sp>
      <p:sp>
        <p:nvSpPr>
          <p:cNvPr id="33" name="Text 30"/>
          <p:cNvSpPr txBox="1"/>
          <p:nvPr/>
        </p:nvSpPr>
        <p:spPr>
          <a:xfrm>
            <a:off x="6225845" y="1883664"/>
            <a:ext cx="1577035"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أَذْهَبُ إِلَى المَدْرَسَةِ …</a:t>
            </a:r>
            <a:endParaRPr lang="ar-SA" sz="150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أَمَّا يَوْمُ السَّبْتِ أَزُورُ أَقَارِبِي.</a:t>
            </a:r>
            <a:endParaRPr lang="ar-SA" sz="20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أَمَّا يَوْمُ السَّبْتِ فَأَزُورُ أَقَارِبِي.</a:t>
            </a:r>
            <a:endParaRPr lang="ar-SA" sz="20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يَوْمُ السَّبْتِ فَأَمَّا أَزُورُ أَقَارِبِي.</a:t>
            </a:r>
            <a:endParaRPr lang="ar-SA" sz="20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Which flexible plan is accurate?</a:t>
            </a:r>
            <a:endParaRPr lang="en-US" sz="1200" dirty="0"/>
          </a:p>
        </p:txBody>
      </p:sp>
      <p:sp>
        <p:nvSpPr>
          <p:cNvPr id="47" name="Text 44"/>
          <p:cNvSpPr txBox="1"/>
          <p:nvPr/>
        </p:nvSpPr>
        <p:spPr>
          <a:xfrm>
            <a:off x="10044989" y="1883664"/>
            <a:ext cx="1577035"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أَدْرُسُ بَعْدَ المَدْرَسَةِ …</a:t>
            </a:r>
            <a:endParaRPr lang="ar-SA" sz="1500" dirty="0"/>
          </a:p>
        </p:txBody>
      </p:sp>
      <p:sp>
        <p:nvSpPr>
          <p:cNvPr id="48" name="Shape 45"/>
          <p:cNvSpPr/>
          <p:nvPr/>
        </p:nvSpPr>
        <p:spPr>
          <a:xfrm>
            <a:off x="8278368" y="25328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0" name="Text 47"/>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2" charset="-78"/>
                <a:ea typeface="Amiri" pitchFamily="2" charset="-78"/>
                <a:cs typeface="Amiri" pitchFamily="2" charset="-78"/>
              </a:rPr>
              <a:t>إِذَا لَدَيَّ وَقْتٌ مَارَسْتُ دَائِمًا.</a:t>
            </a:r>
            <a:endParaRPr lang="ar-SA" sz="2000" dirty="0"/>
          </a:p>
        </p:txBody>
      </p:sp>
      <p:sp>
        <p:nvSpPr>
          <p:cNvPr id="51" name="Shape 48"/>
          <p:cNvSpPr/>
          <p:nvPr/>
        </p:nvSpPr>
        <p:spPr>
          <a:xfrm>
            <a:off x="8278368" y="29900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3" name="Text 50"/>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2" charset="-78"/>
                <a:ea typeface="Amiri" pitchFamily="2" charset="-78"/>
                <a:cs typeface="Amiri" pitchFamily="2" charset="-78"/>
              </a:rPr>
              <a:t>لِأَنَّ كَانَ لَدَيَّ وَقْتٌ.</a:t>
            </a:r>
            <a:endParaRPr lang="ar-SA" sz="2000" dirty="0"/>
          </a:p>
        </p:txBody>
      </p:sp>
      <p:sp>
        <p:nvSpPr>
          <p:cNvPr id="54" name="Shape 51"/>
          <p:cNvSpPr/>
          <p:nvPr/>
        </p:nvSpPr>
        <p:spPr>
          <a:xfrm>
            <a:off x="8278368" y="3447288"/>
            <a:ext cx="256032" cy="256032"/>
          </a:xfrm>
          <a:prstGeom prst="ellipse">
            <a:avLst/>
          </a:prstGeom>
          <a:solidFill>
            <a:srgbClr val="F4F1EA"/>
          </a:solidFill>
          <a:ln w="12700">
            <a:solidFill>
              <a:srgbClr val="F4F1EA"/>
            </a:solidFill>
            <a:prstDash val="solid"/>
          </a:ln>
        </p:spPr>
      </p:sp>
      <p:sp>
        <p:nvSpPr>
          <p:cNvPr id="55" name="Text 52"/>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6" name="Text 53"/>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2" charset="-78"/>
                <a:ea typeface="Amiri" pitchFamily="2" charset="-78"/>
                <a:cs typeface="Amiri" pitchFamily="2" charset="-78"/>
              </a:rPr>
              <a:t>إِذَا كَانَ لَدَيَّ وَقْتٌ أُمَارِسُ هِوَايَتِي.</a:t>
            </a:r>
            <a:endParaRPr lang="ar-SA" sz="2000" dirty="0"/>
          </a:p>
        </p:txBody>
      </p:sp>
      <p:sp>
        <p:nvSpPr>
          <p:cNvPr id="57" name="Shape 54"/>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Shape 55"/>
          <p:cNvSpPr/>
          <p:nvPr/>
        </p:nvSpPr>
        <p:spPr>
          <a:xfrm>
            <a:off x="585216" y="4288536"/>
            <a:ext cx="310896" cy="310896"/>
          </a:xfrm>
          <a:prstGeom prst="ellipse">
            <a:avLst/>
          </a:prstGeom>
          <a:solidFill>
            <a:srgbClr val="1B3B6F"/>
          </a:solidFill>
          <a:ln w="12700">
            <a:solidFill>
              <a:srgbClr val="1B3B6F"/>
            </a:solidFill>
            <a:prstDash val="solid"/>
          </a:ln>
        </p:spPr>
      </p:sp>
      <p:sp>
        <p:nvSpPr>
          <p:cNvPr id="59" name="Text 5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0" name="Text 57"/>
          <p:cNvSpPr txBox="1"/>
          <p:nvPr/>
        </p:nvSpPr>
        <p:spPr>
          <a:xfrm>
            <a:off x="950976"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Contrast with my brother:</a:t>
            </a:r>
            <a:endParaRPr lang="en-US" sz="1200" dirty="0"/>
          </a:p>
        </p:txBody>
      </p:sp>
      <p:sp>
        <p:nvSpPr>
          <p:cNvPr id="61" name="Text 58"/>
          <p:cNvSpPr txBox="1"/>
          <p:nvPr/>
        </p:nvSpPr>
        <p:spPr>
          <a:xfrm>
            <a:off x="2406701" y="4224528"/>
            <a:ext cx="1577035"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أَنَامُ لَيْلًا …</a:t>
            </a:r>
            <a:endParaRPr lang="ar-SA" sz="1500" dirty="0"/>
          </a:p>
        </p:txBody>
      </p:sp>
      <p:sp>
        <p:nvSpPr>
          <p:cNvPr id="62" name="Shape 59"/>
          <p:cNvSpPr/>
          <p:nvPr/>
        </p:nvSpPr>
        <p:spPr>
          <a:xfrm>
            <a:off x="640080" y="48737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4" name="Text 61"/>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أَنَامُ وَقْتًا أَطْوَلَ، بَيْنَمَا يَتَمَرَّنُ أَخِي.</a:t>
            </a:r>
            <a:endParaRPr lang="ar-SA" sz="1800" dirty="0"/>
          </a:p>
        </p:txBody>
      </p:sp>
      <p:sp>
        <p:nvSpPr>
          <p:cNvPr id="65" name="Shape 62"/>
          <p:cNvSpPr/>
          <p:nvPr/>
        </p:nvSpPr>
        <p:spPr>
          <a:xfrm>
            <a:off x="640080" y="53309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7" name="Text 64"/>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أَنَامُ وَقْتًا أَطْوَلَ، بَيْنَمَا تَتَمَرَّنُ أَخِي.</a:t>
            </a:r>
            <a:endParaRPr lang="ar-SA" sz="1800" dirty="0"/>
          </a:p>
        </p:txBody>
      </p:sp>
      <p:sp>
        <p:nvSpPr>
          <p:cNvPr id="68" name="Shape 65"/>
          <p:cNvSpPr/>
          <p:nvPr/>
        </p:nvSpPr>
        <p:spPr>
          <a:xfrm>
            <a:off x="640080" y="5788152"/>
            <a:ext cx="256032" cy="256032"/>
          </a:xfrm>
          <a:prstGeom prst="ellipse">
            <a:avLst/>
          </a:prstGeom>
          <a:solidFill>
            <a:srgbClr val="F4F1EA"/>
          </a:solidFill>
          <a:ln w="12700">
            <a:solidFill>
              <a:srgbClr val="F4F1EA"/>
            </a:solidFill>
            <a:prstDash val="solid"/>
          </a:ln>
        </p:spPr>
      </p:sp>
      <p:sp>
        <p:nvSpPr>
          <p:cNvPr id="69" name="Text 66"/>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0" name="Text 67"/>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أَنَامُ وَقْتًا أَطْوَلَ، بَيْنَمَا أَتَمَرَّنُ أَخِي.</a:t>
            </a:r>
            <a:endParaRPr lang="ar-SA" sz="1800" dirty="0"/>
          </a:p>
        </p:txBody>
      </p:sp>
      <p:sp>
        <p:nvSpPr>
          <p:cNvPr id="71" name="Shape 68"/>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Shape 69"/>
          <p:cNvSpPr/>
          <p:nvPr/>
        </p:nvSpPr>
        <p:spPr>
          <a:xfrm>
            <a:off x="4898136" y="4361688"/>
            <a:ext cx="914400" cy="274320"/>
          </a:xfrm>
          <a:prstGeom prst="roundRect">
            <a:avLst>
              <a:gd name="adj" fmla="val 50000"/>
            </a:avLst>
          </a:prstGeom>
          <a:solidFill>
            <a:srgbClr val="2E8B57"/>
          </a:solidFill>
          <a:ln w="12700">
            <a:solidFill>
              <a:srgbClr val="2E8B57"/>
            </a:solidFill>
            <a:prstDash val="solid"/>
          </a:ln>
        </p:spPr>
      </p:sp>
      <p:sp>
        <p:nvSpPr>
          <p:cNvPr id="73" name="Text 70"/>
          <p:cNvSpPr txBox="1"/>
          <p:nvPr/>
        </p:nvSpPr>
        <p:spPr>
          <a:xfrm>
            <a:off x="4898136"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74" name="Text 71"/>
          <p:cNvSpPr txBox="1"/>
          <p:nvPr/>
        </p:nvSpPr>
        <p:spPr>
          <a:xfrm>
            <a:off x="4477512"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Pattern: as for + the weekend + fa- + verb.</a:t>
            </a:r>
            <a:endParaRPr lang="en-US" sz="1250" dirty="0"/>
          </a:p>
          <a:p>
            <a:pPr algn="l" indent="0" marL="0">
              <a:buNone/>
            </a:pPr>
            <a:r>
              <a:rPr lang="en-US" sz="1250" dirty="0">
                <a:solidFill>
                  <a:srgbClr val="1E6B52"/>
                </a:solidFill>
                <a:latin typeface="Calibri" pitchFamily="34" charset="0"/>
                <a:cs typeface="Amiri" pitchFamily="2" charset="-78"/>
              </a:rPr>
              <a:t>Learn: “if I have time” as one chunk.</a:t>
            </a:r>
            <a:endParaRPr lang="en-US" sz="12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46</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D1-L08 · Weekend Routine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SCHOOL DAY → WEEKEND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But at the weekend: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D1-L08</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Which is accurate?</a:t>
            </a:r>
            <a:endParaRPr lang="en-US" sz="1200" dirty="0"/>
          </a:p>
        </p:txBody>
      </p:sp>
      <p:sp>
        <p:nvSpPr>
          <p:cNvPr id="19" name="Text 16"/>
          <p:cNvSpPr txBox="1"/>
          <p:nvPr/>
        </p:nvSpPr>
        <p:spPr>
          <a:xfrm>
            <a:off x="2406701" y="1883664"/>
            <a:ext cx="1577035"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أَسْتَيْقِظُ صَبَاحًا مُبَكِّرًا …</a:t>
            </a:r>
            <a:endParaRPr lang="ar-SA" sz="1500" dirty="0"/>
          </a:p>
        </p:txBody>
      </p:sp>
      <p:sp>
        <p:nvSpPr>
          <p:cNvPr id="20" name="Shape 17"/>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600" dirty="0">
                <a:solidFill>
                  <a:srgbClr val="9AA1AB"/>
                </a:solidFill>
                <a:latin typeface="Amiri" pitchFamily="2" charset="-78"/>
                <a:ea typeface="Amiri" pitchFamily="2" charset="-78"/>
                <a:cs typeface="Amiri" pitchFamily="2" charset="-78"/>
              </a:rPr>
              <a:t>فَأَمَّا فِي نِهَايَةِ الأُسْبُوعِ أَسْتَيْقِظُ مُتَأَخِّرًا.</a:t>
            </a:r>
            <a:endParaRPr lang="ar-SA" sz="1600" dirty="0"/>
          </a:p>
        </p:txBody>
      </p:sp>
      <p:sp>
        <p:nvSpPr>
          <p:cNvPr id="23" name="Shape 20"/>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4" name="Shape 21"/>
          <p:cNvSpPr/>
          <p:nvPr/>
        </p:nvSpPr>
        <p:spPr>
          <a:xfrm>
            <a:off x="640080" y="2862072"/>
            <a:ext cx="256032" cy="256032"/>
          </a:xfrm>
          <a:prstGeom prst="ellipse">
            <a:avLst/>
          </a:prstGeom>
          <a:solidFill>
            <a:srgbClr val="2E8B57"/>
          </a:solidFill>
          <a:ln w="12700">
            <a:solidFill>
              <a:srgbClr val="2E8B57"/>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6" name="Text 23"/>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أَمَّا فِي نِهَايَةِ الأُسْبُوعِ فَأَسْتَيْقِظُ مُتَأَخِّرًا.</a:t>
            </a:r>
            <a:endParaRPr lang="ar-SA" sz="1600" dirty="0"/>
          </a:p>
        </p:txBody>
      </p:sp>
      <p:sp>
        <p:nvSpPr>
          <p:cNvPr id="27" name="Shape 24"/>
          <p:cNvSpPr/>
          <p:nvPr/>
        </p:nvSpPr>
        <p:spPr>
          <a:xfrm>
            <a:off x="640080" y="3233928"/>
            <a:ext cx="256032" cy="256032"/>
          </a:xfrm>
          <a:prstGeom prst="ellipse">
            <a:avLst/>
          </a:prstGeom>
          <a:solidFill>
            <a:srgbClr val="C9CED6"/>
          </a:solidFill>
          <a:ln w="12700">
            <a:solidFill>
              <a:srgbClr val="C9CED6"/>
            </a:solidFill>
            <a:prstDash val="solid"/>
          </a:ln>
        </p:spPr>
      </p:sp>
      <p:sp>
        <p:nvSpPr>
          <p:cNvPr id="28" name="Text 25"/>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600" dirty="0">
                <a:solidFill>
                  <a:srgbClr val="9AA1AB"/>
                </a:solidFill>
                <a:latin typeface="Amiri" pitchFamily="2" charset="-78"/>
                <a:ea typeface="Amiri" pitchFamily="2" charset="-78"/>
                <a:cs typeface="Amiri" pitchFamily="2" charset="-78"/>
              </a:rPr>
              <a:t>أَمَّا فِي نِهَايَةِ الأُسْبُوعِ أَسْتَيْقِظُ فَمُتَأَخِّرًا.</a:t>
            </a:r>
            <a:endParaRPr lang="ar-SA" sz="1600" dirty="0"/>
          </a:p>
        </p:txBody>
      </p:sp>
      <p:sp>
        <p:nvSpPr>
          <p:cNvPr id="30" name="Text 27"/>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As for + topic, then fa- on the verb.</a:t>
            </a:r>
            <a:endParaRPr lang="en-US" sz="1050" dirty="0"/>
          </a:p>
        </p:txBody>
      </p:sp>
      <p:sp>
        <p:nvSpPr>
          <p:cNvPr id="31" name="Shape 28"/>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4404360" y="1947672"/>
            <a:ext cx="310896" cy="310896"/>
          </a:xfrm>
          <a:prstGeom prst="ellipse">
            <a:avLst/>
          </a:prstGeom>
          <a:solidFill>
            <a:srgbClr val="1B3B6F"/>
          </a:solidFill>
          <a:ln w="12700">
            <a:solidFill>
              <a:srgbClr val="1B3B6F"/>
            </a:solidFill>
            <a:prstDash val="solid"/>
          </a:ln>
        </p:spPr>
      </p:sp>
      <p:sp>
        <p:nvSpPr>
          <p:cNvPr id="33" name="Text 30"/>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1"/>
          <p:cNvSpPr txBox="1"/>
          <p:nvPr/>
        </p:nvSpPr>
        <p:spPr>
          <a:xfrm>
            <a:off x="4770120"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Which is accurate?</a:t>
            </a:r>
            <a:endParaRPr lang="en-US" sz="1200" dirty="0"/>
          </a:p>
        </p:txBody>
      </p:sp>
      <p:sp>
        <p:nvSpPr>
          <p:cNvPr id="35" name="Text 32"/>
          <p:cNvSpPr txBox="1"/>
          <p:nvPr/>
        </p:nvSpPr>
        <p:spPr>
          <a:xfrm>
            <a:off x="6225845" y="1883664"/>
            <a:ext cx="1577035"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أَذْهَبُ إِلَى المَدْرَسَةِ …</a:t>
            </a:r>
            <a:endParaRPr lang="ar-SA" sz="1500" dirty="0"/>
          </a:p>
        </p:txBody>
      </p:sp>
      <p:sp>
        <p:nvSpPr>
          <p:cNvPr id="36" name="Shape 33"/>
          <p:cNvSpPr/>
          <p:nvPr/>
        </p:nvSpPr>
        <p:spPr>
          <a:xfrm>
            <a:off x="4459224"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أَمَّا يَوْمُ السَّبْتِ أَزُورُ أَقَارِبِي.</a:t>
            </a:r>
            <a:endParaRPr lang="ar-SA" sz="1700" dirty="0"/>
          </a:p>
        </p:txBody>
      </p:sp>
      <p:sp>
        <p:nvSpPr>
          <p:cNvPr id="39" name="Shape 36"/>
          <p:cNvSpPr/>
          <p:nvPr/>
        </p:nvSpPr>
        <p:spPr>
          <a:xfrm>
            <a:off x="4367784" y="2825496"/>
            <a:ext cx="3453384" cy="347472"/>
          </a:xfrm>
          <a:prstGeom prst="roundRect">
            <a:avLst>
              <a:gd name="adj" fmla="val 15789"/>
            </a:avLst>
          </a:prstGeom>
          <a:solidFill>
            <a:srgbClr val="E6F4EC"/>
          </a:solidFill>
          <a:ln w="9525">
            <a:solidFill>
              <a:srgbClr val="2E8B57"/>
            </a:solidFill>
            <a:prstDash val="solid"/>
          </a:ln>
        </p:spPr>
      </p:sp>
      <p:sp>
        <p:nvSpPr>
          <p:cNvPr id="40" name="Shape 37"/>
          <p:cNvSpPr/>
          <p:nvPr/>
        </p:nvSpPr>
        <p:spPr>
          <a:xfrm>
            <a:off x="4459224" y="2862072"/>
            <a:ext cx="256032" cy="256032"/>
          </a:xfrm>
          <a:prstGeom prst="ellipse">
            <a:avLst/>
          </a:prstGeom>
          <a:solidFill>
            <a:srgbClr val="2E8B57"/>
          </a:solidFill>
          <a:ln w="12700">
            <a:solidFill>
              <a:srgbClr val="2E8B57"/>
            </a:solidFill>
            <a:prstDash val="solid"/>
          </a:ln>
        </p:spPr>
      </p:sp>
      <p:sp>
        <p:nvSpPr>
          <p:cNvPr id="41" name="Text 38"/>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2" name="Text 39"/>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أَمَّا يَوْمُ السَّبْتِ فَأَزُورُ أَقَارِبِي.</a:t>
            </a:r>
            <a:endParaRPr lang="ar-SA" sz="1700" dirty="0"/>
          </a:p>
        </p:txBody>
      </p:sp>
      <p:sp>
        <p:nvSpPr>
          <p:cNvPr id="43" name="Shape 40"/>
          <p:cNvSpPr/>
          <p:nvPr/>
        </p:nvSpPr>
        <p:spPr>
          <a:xfrm>
            <a:off x="4459224"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يَوْمُ السَّبْتِ فَأَمَّا أَزُورُ أَقَارِبِي.</a:t>
            </a:r>
            <a:endParaRPr lang="ar-SA" sz="1700" dirty="0"/>
          </a:p>
        </p:txBody>
      </p:sp>
      <p:sp>
        <p:nvSpPr>
          <p:cNvPr id="46" name="Text 43"/>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fa- is needed before the comment.</a:t>
            </a:r>
            <a:endParaRPr lang="en-US" sz="1050" dirty="0"/>
          </a:p>
        </p:txBody>
      </p:sp>
      <p:sp>
        <p:nvSpPr>
          <p:cNvPr id="47"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8589264"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Which flexible plan is accurate?</a:t>
            </a:r>
            <a:endParaRPr lang="en-US" sz="1200" dirty="0"/>
          </a:p>
        </p:txBody>
      </p:sp>
      <p:sp>
        <p:nvSpPr>
          <p:cNvPr id="51" name="Text 48"/>
          <p:cNvSpPr txBox="1"/>
          <p:nvPr/>
        </p:nvSpPr>
        <p:spPr>
          <a:xfrm>
            <a:off x="10044989" y="1883664"/>
            <a:ext cx="1577035"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أَدْرُسُ بَعْدَ المَدْرَسَةِ …</a:t>
            </a:r>
            <a:endParaRPr lang="ar-SA" sz="1500" dirty="0"/>
          </a:p>
        </p:txBody>
      </p:sp>
      <p:sp>
        <p:nvSpPr>
          <p:cNvPr id="52" name="Shape 49"/>
          <p:cNvSpPr/>
          <p:nvPr/>
        </p:nvSpPr>
        <p:spPr>
          <a:xfrm>
            <a:off x="8278368" y="2490216"/>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4" name="Text 51"/>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إِذَا لَدَيَّ وَقْتٌ مَارَسْتُ دَائِمًا.</a:t>
            </a:r>
            <a:endParaRPr lang="ar-SA" sz="1700" dirty="0"/>
          </a:p>
        </p:txBody>
      </p:sp>
      <p:sp>
        <p:nvSpPr>
          <p:cNvPr id="55" name="Shape 52"/>
          <p:cNvSpPr/>
          <p:nvPr/>
        </p:nvSpPr>
        <p:spPr>
          <a:xfrm>
            <a:off x="8278368" y="2862072"/>
            <a:ext cx="256032" cy="256032"/>
          </a:xfrm>
          <a:prstGeom prst="ellipse">
            <a:avLst/>
          </a:prstGeom>
          <a:solidFill>
            <a:srgbClr val="C9CED6"/>
          </a:solidFill>
          <a:ln w="12700">
            <a:solidFill>
              <a:srgbClr val="C9CED6"/>
            </a:solidFill>
            <a:prstDash val="solid"/>
          </a:ln>
        </p:spPr>
      </p:sp>
      <p:sp>
        <p:nvSpPr>
          <p:cNvPr id="56" name="Text 53"/>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7" name="Text 54"/>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لِأَنَّ كَانَ لَدَيَّ وَقْتٌ.</a:t>
            </a:r>
            <a:endParaRPr lang="ar-SA" sz="1700" dirty="0"/>
          </a:p>
        </p:txBody>
      </p:sp>
      <p:sp>
        <p:nvSpPr>
          <p:cNvPr id="58" name="Shape 55"/>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9" name="Shape 56"/>
          <p:cNvSpPr/>
          <p:nvPr/>
        </p:nvSpPr>
        <p:spPr>
          <a:xfrm>
            <a:off x="8278368" y="3233928"/>
            <a:ext cx="256032" cy="256032"/>
          </a:xfrm>
          <a:prstGeom prst="ellipse">
            <a:avLst/>
          </a:prstGeom>
          <a:solidFill>
            <a:srgbClr val="2E8B57"/>
          </a:solidFill>
          <a:ln w="12700">
            <a:solidFill>
              <a:srgbClr val="2E8B57"/>
            </a:solidFill>
            <a:prstDash val="solid"/>
          </a:ln>
        </p:spPr>
      </p:sp>
      <p:sp>
        <p:nvSpPr>
          <p:cNvPr id="60" name="Text 57"/>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61" name="Text 58"/>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إِذَا كَانَ لَدَيَّ وَقْتٌ أُمَارِسُ هِوَايَتِي.</a:t>
            </a:r>
            <a:endParaRPr lang="ar-SA" sz="1700" dirty="0"/>
          </a:p>
        </p:txBody>
      </p:sp>
      <p:sp>
        <p:nvSpPr>
          <p:cNvPr id="62" name="Text 59"/>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“If I have time” as a whole chunk.</a:t>
            </a:r>
            <a:endParaRPr lang="en-US" sz="1050" dirty="0"/>
          </a:p>
        </p:txBody>
      </p:sp>
      <p:sp>
        <p:nvSpPr>
          <p:cNvPr id="63" name="Shape 60"/>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585216" y="4288536"/>
            <a:ext cx="310896" cy="310896"/>
          </a:xfrm>
          <a:prstGeom prst="ellipse">
            <a:avLst/>
          </a:prstGeom>
          <a:solidFill>
            <a:srgbClr val="1B3B6F"/>
          </a:solidFill>
          <a:ln w="12700">
            <a:solidFill>
              <a:srgbClr val="1B3B6F"/>
            </a:solidFill>
            <a:prstDash val="solid"/>
          </a:ln>
        </p:spPr>
      </p:sp>
      <p:sp>
        <p:nvSpPr>
          <p:cNvPr id="65" name="Text 6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6" name="Text 63"/>
          <p:cNvSpPr txBox="1"/>
          <p:nvPr/>
        </p:nvSpPr>
        <p:spPr>
          <a:xfrm>
            <a:off x="950976"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Contrast with my brother:</a:t>
            </a:r>
            <a:endParaRPr lang="en-US" sz="1200" dirty="0"/>
          </a:p>
        </p:txBody>
      </p:sp>
      <p:sp>
        <p:nvSpPr>
          <p:cNvPr id="67" name="Text 64"/>
          <p:cNvSpPr txBox="1"/>
          <p:nvPr/>
        </p:nvSpPr>
        <p:spPr>
          <a:xfrm>
            <a:off x="2406701" y="4224528"/>
            <a:ext cx="1577035"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أَنَامُ لَيْلًا …</a:t>
            </a:r>
            <a:endParaRPr lang="ar-SA" sz="1500" dirty="0"/>
          </a:p>
        </p:txBody>
      </p:sp>
      <p:sp>
        <p:nvSpPr>
          <p:cNvPr id="68" name="Shape 65"/>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9" name="Shape 66"/>
          <p:cNvSpPr/>
          <p:nvPr/>
        </p:nvSpPr>
        <p:spPr>
          <a:xfrm>
            <a:off x="640080" y="4831080"/>
            <a:ext cx="256032" cy="256032"/>
          </a:xfrm>
          <a:prstGeom prst="ellipse">
            <a:avLst/>
          </a:prstGeom>
          <a:solidFill>
            <a:srgbClr val="2E8B57"/>
          </a:solidFill>
          <a:ln w="12700">
            <a:solidFill>
              <a:srgbClr val="2E8B57"/>
            </a:solidFill>
            <a:prstDash val="solid"/>
          </a:ln>
        </p:spPr>
      </p:sp>
      <p:sp>
        <p:nvSpPr>
          <p:cNvPr id="70" name="Text 6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71" name="Text 68"/>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أَنَامُ وَقْتًا أَطْوَلَ، بَيْنَمَا يَتَمَرَّنُ أَخِي.</a:t>
            </a:r>
            <a:endParaRPr lang="ar-SA" sz="1700" dirty="0"/>
          </a:p>
        </p:txBody>
      </p:sp>
      <p:sp>
        <p:nvSpPr>
          <p:cNvPr id="72" name="Shape 69"/>
          <p:cNvSpPr/>
          <p:nvPr/>
        </p:nvSpPr>
        <p:spPr>
          <a:xfrm>
            <a:off x="640080" y="5202936"/>
            <a:ext cx="256032" cy="256032"/>
          </a:xfrm>
          <a:prstGeom prst="ellipse">
            <a:avLst/>
          </a:prstGeom>
          <a:solidFill>
            <a:srgbClr val="C9CED6"/>
          </a:solidFill>
          <a:ln w="12700">
            <a:solidFill>
              <a:srgbClr val="C9CED6"/>
            </a:solidFill>
            <a:prstDash val="solid"/>
          </a:ln>
        </p:spPr>
      </p:sp>
      <p:sp>
        <p:nvSpPr>
          <p:cNvPr id="73" name="Text 70"/>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4" name="Text 71"/>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أَنَامُ وَقْتًا أَطْوَلَ، بَيْنَمَا تَتَمَرَّنُ أَخِي.</a:t>
            </a:r>
            <a:endParaRPr lang="ar-SA" sz="1700" dirty="0"/>
          </a:p>
        </p:txBody>
      </p:sp>
      <p:sp>
        <p:nvSpPr>
          <p:cNvPr id="75" name="Shape 72"/>
          <p:cNvSpPr/>
          <p:nvPr/>
        </p:nvSpPr>
        <p:spPr>
          <a:xfrm>
            <a:off x="640080" y="5574792"/>
            <a:ext cx="256032" cy="256032"/>
          </a:xfrm>
          <a:prstGeom prst="ellipse">
            <a:avLst/>
          </a:prstGeom>
          <a:solidFill>
            <a:srgbClr val="C9CED6"/>
          </a:solidFill>
          <a:ln w="12700">
            <a:solidFill>
              <a:srgbClr val="C9CED6"/>
            </a:solidFill>
            <a:prstDash val="solid"/>
          </a:ln>
        </p:spPr>
      </p:sp>
      <p:sp>
        <p:nvSpPr>
          <p:cNvPr id="76" name="Text 73"/>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7" name="Text 74"/>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أَنَامُ وَقْتًا أَطْوَلَ، بَيْنَمَا أَتَمَرَّنُ أَخِي.</a:t>
            </a:r>
            <a:endParaRPr lang="ar-SA" sz="1700" dirty="0"/>
          </a:p>
        </p:txBody>
      </p:sp>
      <p:sp>
        <p:nvSpPr>
          <p:cNvPr id="78" name="Text 75"/>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My brother → ya-.</a:t>
            </a:r>
            <a:endParaRPr lang="en-US" sz="1050" dirty="0"/>
          </a:p>
        </p:txBody>
      </p:sp>
      <p:sp>
        <p:nvSpPr>
          <p:cNvPr id="79" name="Shape 76"/>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0" name="Shape 77"/>
          <p:cNvSpPr/>
          <p:nvPr/>
        </p:nvSpPr>
        <p:spPr>
          <a:xfrm>
            <a:off x="4898136" y="4361688"/>
            <a:ext cx="914400" cy="274320"/>
          </a:xfrm>
          <a:prstGeom prst="roundRect">
            <a:avLst>
              <a:gd name="adj" fmla="val 50000"/>
            </a:avLst>
          </a:prstGeom>
          <a:solidFill>
            <a:srgbClr val="2E8B57"/>
          </a:solidFill>
          <a:ln w="12700">
            <a:solidFill>
              <a:srgbClr val="2E8B57"/>
            </a:solidFill>
            <a:prstDash val="solid"/>
          </a:ln>
        </p:spPr>
      </p:sp>
      <p:sp>
        <p:nvSpPr>
          <p:cNvPr id="81" name="Text 78"/>
          <p:cNvSpPr txBox="1"/>
          <p:nvPr/>
        </p:nvSpPr>
        <p:spPr>
          <a:xfrm>
            <a:off x="4898136"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82" name="Text 79"/>
          <p:cNvSpPr txBox="1"/>
          <p:nvPr/>
        </p:nvSpPr>
        <p:spPr>
          <a:xfrm>
            <a:off x="4477512"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Pattern: as for + the weekend + fa- + verb.</a:t>
            </a:r>
            <a:endParaRPr lang="en-US" sz="1250" dirty="0"/>
          </a:p>
          <a:p>
            <a:pPr algn="l" indent="0" marL="0">
              <a:buNone/>
            </a:pPr>
            <a:r>
              <a:rPr lang="en-US" sz="1250" dirty="0">
                <a:solidFill>
                  <a:srgbClr val="1E6B52"/>
                </a:solidFill>
                <a:latin typeface="Calibri" pitchFamily="34" charset="0"/>
                <a:cs typeface="Amiri" pitchFamily="2" charset="-78"/>
              </a:rPr>
              <a:t>Learn: “if I have time” as one chunk.</a:t>
            </a:r>
            <a:endParaRPr lang="en-US" sz="1250" dirty="0"/>
          </a:p>
        </p:txBody>
      </p:sp>
      <p:sp>
        <p:nvSpPr>
          <p:cNvPr id="83" name="Text 8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46</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D1-L08 · Weekend Routine</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SORTER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Weekend balance board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صَنِّفْ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D1-L08</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أَنَامُ وَقْتًا أَطْوَلَ</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أُمَارِسُ هِوَايَتِي</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أُرَاجِعُ مَا تَعَلَّمْتُهُ</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أُخَطِّطُ لِلْأُسْبُوعِ</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أُسَاعِدُ فِي البَيْتِ</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أَزُورُ أَقَارِبِي</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أَلْتَقِي بِأَصْدِقَائِي</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أَقْضِي وَقْتًا مَعَ أُسْرَتِي</a:t>
            </a:r>
            <a:endParaRPr lang="ar-SA" sz="1800" dirty="0"/>
          </a:p>
        </p:txBody>
      </p:sp>
      <p:sp>
        <p:nvSpPr>
          <p:cNvPr id="31" name="Shape 28"/>
          <p:cNvSpPr/>
          <p:nvPr/>
        </p:nvSpPr>
        <p:spPr>
          <a:xfrm>
            <a:off x="8095488" y="3017520"/>
            <a:ext cx="3636264" cy="3291840"/>
          </a:xfrm>
          <a:prstGeom prst="roundRect">
            <a:avLst>
              <a:gd name="adj" fmla="val 2222"/>
            </a:avLst>
          </a:prstGeom>
          <a:solidFill>
            <a:srgbClr val="EEF3FA"/>
          </a:solidFill>
          <a:ln w="9525">
            <a:solidFill>
              <a:srgbClr val="C9D6EA"/>
            </a:solidFill>
            <a:prstDash val="solid"/>
          </a:ln>
        </p:spPr>
      </p:sp>
      <p:sp>
        <p:nvSpPr>
          <p:cNvPr id="32" name="Shape 29"/>
          <p:cNvSpPr/>
          <p:nvPr/>
        </p:nvSpPr>
        <p:spPr>
          <a:xfrm>
            <a:off x="8232648" y="3127248"/>
            <a:ext cx="3361944" cy="310896"/>
          </a:xfrm>
          <a:prstGeom prst="roundRect">
            <a:avLst>
              <a:gd name="adj" fmla="val 50000"/>
            </a:avLst>
          </a:prstGeom>
          <a:solidFill>
            <a:srgbClr val="2F6FB0"/>
          </a:solidFill>
          <a:ln w="12700">
            <a:solidFill>
              <a:srgbClr val="2F6FB0"/>
            </a:solidFill>
            <a:prstDash val="solid"/>
          </a:ln>
        </p:spPr>
      </p:sp>
      <p:sp>
        <p:nvSpPr>
          <p:cNvPr id="33" name="Text 30"/>
          <p:cNvSpPr txBox="1"/>
          <p:nvPr/>
        </p:nvSpPr>
        <p:spPr>
          <a:xfrm>
            <a:off x="8232648" y="3127248"/>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Rest and enjoyment</a:t>
            </a:r>
            <a:endParaRPr lang="en-US" sz="950" dirty="0"/>
          </a:p>
        </p:txBody>
      </p:sp>
      <p:sp>
        <p:nvSpPr>
          <p:cNvPr id="34" name="Shape 31"/>
          <p:cNvSpPr/>
          <p:nvPr/>
        </p:nvSpPr>
        <p:spPr>
          <a:xfrm>
            <a:off x="4276344" y="3017520"/>
            <a:ext cx="3636264" cy="3291840"/>
          </a:xfrm>
          <a:prstGeom prst="roundRect">
            <a:avLst>
              <a:gd name="adj" fmla="val 2222"/>
            </a:avLst>
          </a:prstGeom>
          <a:solidFill>
            <a:srgbClr val="EEF3FA"/>
          </a:solidFill>
          <a:ln w="9525">
            <a:solidFill>
              <a:srgbClr val="C9D6EA"/>
            </a:solidFill>
            <a:prstDash val="solid"/>
          </a:ln>
        </p:spPr>
      </p:sp>
      <p:sp>
        <p:nvSpPr>
          <p:cNvPr id="35" name="Shape 32"/>
          <p:cNvSpPr/>
          <p:nvPr/>
        </p:nvSpPr>
        <p:spPr>
          <a:xfrm>
            <a:off x="4413504" y="3127248"/>
            <a:ext cx="3361944" cy="310896"/>
          </a:xfrm>
          <a:prstGeom prst="roundRect">
            <a:avLst>
              <a:gd name="adj" fmla="val 50000"/>
            </a:avLst>
          </a:prstGeom>
          <a:solidFill>
            <a:srgbClr val="2F6FB0"/>
          </a:solidFill>
          <a:ln w="12700">
            <a:solidFill>
              <a:srgbClr val="2F6FB0"/>
            </a:solidFill>
            <a:prstDash val="solid"/>
          </a:ln>
        </p:spPr>
      </p:sp>
      <p:sp>
        <p:nvSpPr>
          <p:cNvPr id="36" name="Text 33"/>
          <p:cNvSpPr txBox="1"/>
          <p:nvPr/>
        </p:nvSpPr>
        <p:spPr>
          <a:xfrm>
            <a:off x="4413504" y="3127248"/>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Responsibility and preparation</a:t>
            </a:r>
            <a:endParaRPr lang="en-US" sz="950" dirty="0"/>
          </a:p>
        </p:txBody>
      </p:sp>
      <p:sp>
        <p:nvSpPr>
          <p:cNvPr id="37" name="Shape 34"/>
          <p:cNvSpPr/>
          <p:nvPr/>
        </p:nvSpPr>
        <p:spPr>
          <a:xfrm>
            <a:off x="457200" y="3017520"/>
            <a:ext cx="3636264" cy="3291840"/>
          </a:xfrm>
          <a:prstGeom prst="roundRect">
            <a:avLst>
              <a:gd name="adj" fmla="val 2222"/>
            </a:avLst>
          </a:prstGeom>
          <a:solidFill>
            <a:srgbClr val="EEF3FA"/>
          </a:solidFill>
          <a:ln w="9525">
            <a:solidFill>
              <a:srgbClr val="C9D6EA"/>
            </a:solidFill>
            <a:prstDash val="solid"/>
          </a:ln>
        </p:spPr>
      </p:sp>
      <p:sp>
        <p:nvSpPr>
          <p:cNvPr id="38" name="Shape 35"/>
          <p:cNvSpPr/>
          <p:nvPr/>
        </p:nvSpPr>
        <p:spPr>
          <a:xfrm>
            <a:off x="594360" y="3127248"/>
            <a:ext cx="3361944" cy="310896"/>
          </a:xfrm>
          <a:prstGeom prst="roundRect">
            <a:avLst>
              <a:gd name="adj" fmla="val 50000"/>
            </a:avLst>
          </a:prstGeom>
          <a:solidFill>
            <a:srgbClr val="2F6FB0"/>
          </a:solidFill>
          <a:ln w="12700">
            <a:solidFill>
              <a:srgbClr val="2F6FB0"/>
            </a:solidFill>
            <a:prstDash val="solid"/>
          </a:ln>
        </p:spPr>
      </p:sp>
      <p:sp>
        <p:nvSpPr>
          <p:cNvPr id="39" name="Text 36"/>
          <p:cNvSpPr txBox="1"/>
          <p:nvPr/>
        </p:nvSpPr>
        <p:spPr>
          <a:xfrm>
            <a:off x="594360" y="3127248"/>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Social and family time</a:t>
            </a:r>
            <a:endParaRPr lang="en-US" sz="9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46</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D1-L08 · Weekend Routine</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D1-L08</a:t>
            </a:r>
            <a:endParaRPr lang="en-US" sz="850" dirty="0"/>
          </a:p>
        </p:txBody>
      </p:sp>
      <p:sp>
        <p:nvSpPr>
          <p:cNvPr id="15" name="Shape 12"/>
          <p:cNvSpPr/>
          <p:nvPr/>
        </p:nvSpPr>
        <p:spPr>
          <a:xfrm>
            <a:off x="8095488" y="1810512"/>
            <a:ext cx="3636264" cy="4498848"/>
          </a:xfrm>
          <a:prstGeom prst="roundRect">
            <a:avLst>
              <a:gd name="adj" fmla="val 2012"/>
            </a:avLst>
          </a:prstGeom>
          <a:solidFill>
            <a:srgbClr val="EEF3FA"/>
          </a:solidFill>
          <a:ln w="9525">
            <a:solidFill>
              <a:srgbClr val="C9D6EA"/>
            </a:solidFill>
            <a:prstDash val="solid"/>
          </a:ln>
        </p:spPr>
      </p:sp>
      <p:sp>
        <p:nvSpPr>
          <p:cNvPr id="16" name="Shape 13"/>
          <p:cNvSpPr/>
          <p:nvPr/>
        </p:nvSpPr>
        <p:spPr>
          <a:xfrm>
            <a:off x="8232648" y="1920240"/>
            <a:ext cx="3361944"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8232648"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Rest and enjoyment</a:t>
            </a:r>
            <a:endParaRPr lang="en-US" sz="950" dirty="0"/>
          </a:p>
        </p:txBody>
      </p:sp>
      <p:sp>
        <p:nvSpPr>
          <p:cNvPr id="18" name="Shape 15"/>
          <p:cNvSpPr/>
          <p:nvPr/>
        </p:nvSpPr>
        <p:spPr>
          <a:xfrm>
            <a:off x="8232648" y="2377440"/>
            <a:ext cx="3361944"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8324088"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أَنَامُ وَقْتًا أَطْوَلَ</a:t>
            </a:r>
            <a:endParaRPr lang="ar-SA" sz="1800" dirty="0"/>
          </a:p>
        </p:txBody>
      </p:sp>
      <p:sp>
        <p:nvSpPr>
          <p:cNvPr id="20" name="Shape 17"/>
          <p:cNvSpPr/>
          <p:nvPr/>
        </p:nvSpPr>
        <p:spPr>
          <a:xfrm>
            <a:off x="8232648" y="2889504"/>
            <a:ext cx="3361944"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8324088"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أُمَارِسُ هِوَايَتِي</a:t>
            </a:r>
            <a:endParaRPr lang="ar-SA" sz="1800" dirty="0"/>
          </a:p>
        </p:txBody>
      </p:sp>
      <p:sp>
        <p:nvSpPr>
          <p:cNvPr id="22" name="Shape 19"/>
          <p:cNvSpPr/>
          <p:nvPr/>
        </p:nvSpPr>
        <p:spPr>
          <a:xfrm>
            <a:off x="4276344" y="1810512"/>
            <a:ext cx="3636264" cy="4498848"/>
          </a:xfrm>
          <a:prstGeom prst="roundRect">
            <a:avLst>
              <a:gd name="adj" fmla="val 2012"/>
            </a:avLst>
          </a:prstGeom>
          <a:solidFill>
            <a:srgbClr val="EEF3FA"/>
          </a:solidFill>
          <a:ln w="9525">
            <a:solidFill>
              <a:srgbClr val="C9D6EA"/>
            </a:solidFill>
            <a:prstDash val="solid"/>
          </a:ln>
        </p:spPr>
      </p:sp>
      <p:sp>
        <p:nvSpPr>
          <p:cNvPr id="23" name="Shape 20"/>
          <p:cNvSpPr/>
          <p:nvPr/>
        </p:nvSpPr>
        <p:spPr>
          <a:xfrm>
            <a:off x="4413504" y="1920240"/>
            <a:ext cx="3361944" cy="310896"/>
          </a:xfrm>
          <a:prstGeom prst="roundRect">
            <a:avLst>
              <a:gd name="adj" fmla="val 50000"/>
            </a:avLst>
          </a:prstGeom>
          <a:solidFill>
            <a:srgbClr val="2F6FB0"/>
          </a:solidFill>
          <a:ln w="12700">
            <a:solidFill>
              <a:srgbClr val="2F6FB0"/>
            </a:solidFill>
            <a:prstDash val="solid"/>
          </a:ln>
        </p:spPr>
      </p:sp>
      <p:sp>
        <p:nvSpPr>
          <p:cNvPr id="24" name="Text 21"/>
          <p:cNvSpPr txBox="1"/>
          <p:nvPr/>
        </p:nvSpPr>
        <p:spPr>
          <a:xfrm>
            <a:off x="4413504"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Responsibility and preparation</a:t>
            </a:r>
            <a:endParaRPr lang="en-US" sz="950" dirty="0"/>
          </a:p>
        </p:txBody>
      </p:sp>
      <p:sp>
        <p:nvSpPr>
          <p:cNvPr id="25" name="Shape 22"/>
          <p:cNvSpPr/>
          <p:nvPr/>
        </p:nvSpPr>
        <p:spPr>
          <a:xfrm>
            <a:off x="4413504" y="2377440"/>
            <a:ext cx="3361944" cy="438912"/>
          </a:xfrm>
          <a:prstGeom prst="roundRect">
            <a:avLst>
              <a:gd name="adj" fmla="val 12500"/>
            </a:avLst>
          </a:prstGeom>
          <a:solidFill>
            <a:srgbClr val="FFF4DC"/>
          </a:solidFill>
          <a:ln w="9525">
            <a:solidFill>
              <a:srgbClr val="E6C98A"/>
            </a:solidFill>
            <a:prstDash val="solid"/>
          </a:ln>
        </p:spPr>
      </p:sp>
      <p:sp>
        <p:nvSpPr>
          <p:cNvPr id="26" name="Text 23"/>
          <p:cNvSpPr txBox="1"/>
          <p:nvPr/>
        </p:nvSpPr>
        <p:spPr>
          <a:xfrm>
            <a:off x="4504944"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أُرَاجِعُ مَا تَعَلَّمْتُهُ</a:t>
            </a:r>
            <a:endParaRPr lang="ar-SA" sz="1800" dirty="0"/>
          </a:p>
        </p:txBody>
      </p:sp>
      <p:sp>
        <p:nvSpPr>
          <p:cNvPr id="27" name="Shape 24"/>
          <p:cNvSpPr/>
          <p:nvPr/>
        </p:nvSpPr>
        <p:spPr>
          <a:xfrm>
            <a:off x="4413504" y="2889504"/>
            <a:ext cx="3361944" cy="438912"/>
          </a:xfrm>
          <a:prstGeom prst="roundRect">
            <a:avLst>
              <a:gd name="adj" fmla="val 12500"/>
            </a:avLst>
          </a:prstGeom>
          <a:solidFill>
            <a:srgbClr val="FFF4DC"/>
          </a:solidFill>
          <a:ln w="9525">
            <a:solidFill>
              <a:srgbClr val="E6C98A"/>
            </a:solidFill>
            <a:prstDash val="solid"/>
          </a:ln>
        </p:spPr>
      </p:sp>
      <p:sp>
        <p:nvSpPr>
          <p:cNvPr id="28" name="Text 25"/>
          <p:cNvSpPr txBox="1"/>
          <p:nvPr/>
        </p:nvSpPr>
        <p:spPr>
          <a:xfrm>
            <a:off x="4504944"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أُخَطِّطُ لِلْأُسْبُوعِ</a:t>
            </a:r>
            <a:endParaRPr lang="ar-SA" sz="1800" dirty="0"/>
          </a:p>
        </p:txBody>
      </p:sp>
      <p:sp>
        <p:nvSpPr>
          <p:cNvPr id="29" name="Shape 26"/>
          <p:cNvSpPr/>
          <p:nvPr/>
        </p:nvSpPr>
        <p:spPr>
          <a:xfrm>
            <a:off x="4413504" y="3401568"/>
            <a:ext cx="3361944"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4504944"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أُسَاعِدُ فِي البَيْتِ</a:t>
            </a:r>
            <a:endParaRPr lang="ar-SA" sz="1800" dirty="0"/>
          </a:p>
        </p:txBody>
      </p:sp>
      <p:sp>
        <p:nvSpPr>
          <p:cNvPr id="31" name="Shape 28"/>
          <p:cNvSpPr/>
          <p:nvPr/>
        </p:nvSpPr>
        <p:spPr>
          <a:xfrm>
            <a:off x="457200" y="1810512"/>
            <a:ext cx="3636264" cy="4498848"/>
          </a:xfrm>
          <a:prstGeom prst="roundRect">
            <a:avLst>
              <a:gd name="adj" fmla="val 2012"/>
            </a:avLst>
          </a:prstGeom>
          <a:solidFill>
            <a:srgbClr val="EEF3FA"/>
          </a:solidFill>
          <a:ln w="9525">
            <a:solidFill>
              <a:srgbClr val="C9D6EA"/>
            </a:solidFill>
            <a:prstDash val="solid"/>
          </a:ln>
        </p:spPr>
      </p:sp>
      <p:sp>
        <p:nvSpPr>
          <p:cNvPr id="32" name="Shape 29"/>
          <p:cNvSpPr/>
          <p:nvPr/>
        </p:nvSpPr>
        <p:spPr>
          <a:xfrm>
            <a:off x="594360" y="1920240"/>
            <a:ext cx="3361944" cy="310896"/>
          </a:xfrm>
          <a:prstGeom prst="roundRect">
            <a:avLst>
              <a:gd name="adj" fmla="val 50000"/>
            </a:avLst>
          </a:prstGeom>
          <a:solidFill>
            <a:srgbClr val="2F6FB0"/>
          </a:solidFill>
          <a:ln w="12700">
            <a:solidFill>
              <a:srgbClr val="2F6FB0"/>
            </a:solidFill>
            <a:prstDash val="solid"/>
          </a:ln>
        </p:spPr>
      </p:sp>
      <p:sp>
        <p:nvSpPr>
          <p:cNvPr id="33" name="Text 30"/>
          <p:cNvSpPr txBox="1"/>
          <p:nvPr/>
        </p:nvSpPr>
        <p:spPr>
          <a:xfrm>
            <a:off x="594360"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Social and family time</a:t>
            </a:r>
            <a:endParaRPr lang="en-US" sz="950" dirty="0"/>
          </a:p>
        </p:txBody>
      </p:sp>
      <p:sp>
        <p:nvSpPr>
          <p:cNvPr id="34" name="Shape 31"/>
          <p:cNvSpPr/>
          <p:nvPr/>
        </p:nvSpPr>
        <p:spPr>
          <a:xfrm>
            <a:off x="594360" y="2377440"/>
            <a:ext cx="3361944" cy="438912"/>
          </a:xfrm>
          <a:prstGeom prst="roundRect">
            <a:avLst>
              <a:gd name="adj" fmla="val 12500"/>
            </a:avLst>
          </a:prstGeom>
          <a:solidFill>
            <a:srgbClr val="FFF4DC"/>
          </a:solidFill>
          <a:ln w="9525">
            <a:solidFill>
              <a:srgbClr val="E6C98A"/>
            </a:solidFill>
            <a:prstDash val="solid"/>
          </a:ln>
        </p:spPr>
      </p:sp>
      <p:sp>
        <p:nvSpPr>
          <p:cNvPr id="35" name="Text 32"/>
          <p:cNvSpPr txBox="1"/>
          <p:nvPr/>
        </p:nvSpPr>
        <p:spPr>
          <a:xfrm>
            <a:off x="685800"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أَزُورُ أَقَارِبِي</a:t>
            </a:r>
            <a:endParaRPr lang="ar-SA" sz="1800" dirty="0"/>
          </a:p>
        </p:txBody>
      </p:sp>
      <p:sp>
        <p:nvSpPr>
          <p:cNvPr id="36" name="Shape 33"/>
          <p:cNvSpPr/>
          <p:nvPr/>
        </p:nvSpPr>
        <p:spPr>
          <a:xfrm>
            <a:off x="594360" y="2889504"/>
            <a:ext cx="3361944" cy="438912"/>
          </a:xfrm>
          <a:prstGeom prst="roundRect">
            <a:avLst>
              <a:gd name="adj" fmla="val 12500"/>
            </a:avLst>
          </a:prstGeom>
          <a:solidFill>
            <a:srgbClr val="FFF4DC"/>
          </a:solidFill>
          <a:ln w="9525">
            <a:solidFill>
              <a:srgbClr val="E6C98A"/>
            </a:solidFill>
            <a:prstDash val="solid"/>
          </a:ln>
        </p:spPr>
      </p:sp>
      <p:sp>
        <p:nvSpPr>
          <p:cNvPr id="37" name="Text 34"/>
          <p:cNvSpPr txBox="1"/>
          <p:nvPr/>
        </p:nvSpPr>
        <p:spPr>
          <a:xfrm>
            <a:off x="685800"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أَلْتَقِي بِأَصْدِقَائِي</a:t>
            </a:r>
            <a:endParaRPr lang="ar-SA" sz="1800" dirty="0"/>
          </a:p>
        </p:txBody>
      </p:sp>
      <p:sp>
        <p:nvSpPr>
          <p:cNvPr id="38" name="Shape 35"/>
          <p:cNvSpPr/>
          <p:nvPr/>
        </p:nvSpPr>
        <p:spPr>
          <a:xfrm>
            <a:off x="594360" y="3401568"/>
            <a:ext cx="3361944" cy="438912"/>
          </a:xfrm>
          <a:prstGeom prst="roundRect">
            <a:avLst>
              <a:gd name="adj" fmla="val 12500"/>
            </a:avLst>
          </a:prstGeom>
          <a:solidFill>
            <a:srgbClr val="FFF4DC"/>
          </a:solidFill>
          <a:ln w="9525">
            <a:solidFill>
              <a:srgbClr val="E6C98A"/>
            </a:solidFill>
            <a:prstDash val="solid"/>
          </a:ln>
        </p:spPr>
      </p:sp>
      <p:sp>
        <p:nvSpPr>
          <p:cNvPr id="39" name="Text 36"/>
          <p:cNvSpPr txBox="1"/>
          <p:nvPr/>
        </p:nvSpPr>
        <p:spPr>
          <a:xfrm>
            <a:off x="685800"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أَقْضِي وَقْتًا مَعَ أُسْرَتِي</a:t>
            </a:r>
            <a:endParaRPr lang="ar-SA" sz="18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46</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D1-L08 · Weekend Routine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GUIDED PRACTICE · WEBSITE QUIZ QUESTIONS 5, 6, 7, 8</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D1-L08</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a balanced weekend sentence?</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أَنَامُ فَقَطْ.</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الوَاجِبُ بَيْنَمَا السَّبْتُ.</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أَسْتَرِيحُ، وَلٰكِنَّنِي أُخَصِّصُ وَقْتًا لِلْوَاجِبِ أَيْضًا.</a:t>
            </a:r>
            <a:endParaRPr lang="ar-SA" sz="2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3" name="Text 30"/>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4" name="Text 31"/>
          <p:cNvSpPr txBox="1"/>
          <p:nvPr/>
        </p:nvSpPr>
        <p:spPr>
          <a:xfrm>
            <a:off x="9052011" y="1883664"/>
            <a:ext cx="2570013" cy="475488"/>
          </a:xfrm>
          <a:prstGeom prst="rect">
            <a:avLst/>
          </a:prstGeom>
          <a:noFill/>
          <a:ln/>
        </p:spPr>
        <p:txBody>
          <a:bodyPr wrap="square" lIns="0" tIns="0" rIns="0" bIns="0" rtlCol="0" anchor="ctr"/>
          <a:lstStyle/>
          <a:p>
            <a:pPr rtl="1" algn="r" indent="0" marL="0">
              <a:lnSpc>
                <a:spcPct val="120000"/>
              </a:lnSpc>
              <a:buNone/>
            </a:pPr>
            <a:r>
              <a:rPr lang="ar-SA" altLang="en-US" sz="1000" b="1" dirty="0">
                <a:solidFill>
                  <a:srgbClr val="1F2A37"/>
                </a:solidFill>
                <a:latin typeface="Amiri" pitchFamily="2" charset="-78"/>
                <a:ea typeface="Amiri" pitchFamily="2" charset="-78"/>
                <a:cs typeface="Amiri" pitchFamily="2" charset="-78"/>
              </a:rPr>
              <a:t>فِي أَيَّامِ الدِّرَاسَةِ أَسْتَيْقِظُ مُبَكِّرًا، ___ فِي العُطْلَةِ فَأَسْتَيْقِظُ مُتَأَخِّرًا.</a:t>
            </a:r>
            <a:endParaRPr lang="ar-SA" sz="1000" dirty="0"/>
          </a:p>
        </p:txBody>
      </p:sp>
      <p:sp>
        <p:nvSpPr>
          <p:cNvPr id="35" name="Shape 32"/>
          <p:cNvSpPr/>
          <p:nvPr/>
        </p:nvSpPr>
        <p:spPr>
          <a:xfrm>
            <a:off x="6368796" y="25328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لِأَنَّ</a:t>
            </a:r>
            <a:endParaRPr lang="ar-SA" sz="2050" dirty="0"/>
          </a:p>
        </p:txBody>
      </p:sp>
      <p:sp>
        <p:nvSpPr>
          <p:cNvPr id="38" name="Shape 35"/>
          <p:cNvSpPr/>
          <p:nvPr/>
        </p:nvSpPr>
        <p:spPr>
          <a:xfrm>
            <a:off x="6368796" y="29900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أَمَّا</a:t>
            </a:r>
            <a:endParaRPr lang="ar-SA" sz="2050" dirty="0"/>
          </a:p>
        </p:txBody>
      </p:sp>
      <p:sp>
        <p:nvSpPr>
          <p:cNvPr id="41" name="Shape 38"/>
          <p:cNvSpPr/>
          <p:nvPr/>
        </p:nvSpPr>
        <p:spPr>
          <a:xfrm>
            <a:off x="6368796" y="3447288"/>
            <a:ext cx="256032" cy="256032"/>
          </a:xfrm>
          <a:prstGeom prst="ellipse">
            <a:avLst/>
          </a:prstGeom>
          <a:solidFill>
            <a:srgbClr val="F4F1EA"/>
          </a:solidFill>
          <a:ln w="12700">
            <a:solidFill>
              <a:srgbClr val="F4F1EA"/>
            </a:solidFill>
            <a:prstDash val="solid"/>
          </a:ln>
        </p:spPr>
      </p:sp>
      <p:sp>
        <p:nvSpPr>
          <p:cNvPr id="42" name="Text 39"/>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إِذَا</a:t>
            </a:r>
            <a:endParaRPr lang="ar-SA" sz="2050" dirty="0"/>
          </a:p>
        </p:txBody>
      </p:sp>
      <p:sp>
        <p:nvSpPr>
          <p:cNvPr id="44" name="Shape 41"/>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5" name="Shape 42"/>
          <p:cNvSpPr/>
          <p:nvPr/>
        </p:nvSpPr>
        <p:spPr>
          <a:xfrm>
            <a:off x="585216" y="4288536"/>
            <a:ext cx="310896" cy="310896"/>
          </a:xfrm>
          <a:prstGeom prst="ellipse">
            <a:avLst/>
          </a:prstGeom>
          <a:solidFill>
            <a:srgbClr val="1B3B6F"/>
          </a:solidFill>
          <a:ln w="12700">
            <a:solidFill>
              <a:srgbClr val="1B3B6F"/>
            </a:solidFill>
            <a:prstDash val="solid"/>
          </a:ln>
        </p:spPr>
      </p:sp>
      <p:sp>
        <p:nvSpPr>
          <p:cNvPr id="46" name="Text 4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47" name="Text 44"/>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a flexible plan.</a:t>
            </a:r>
            <a:endParaRPr lang="en-US" sz="1250" dirty="0"/>
          </a:p>
        </p:txBody>
      </p:sp>
      <p:sp>
        <p:nvSpPr>
          <p:cNvPr id="48" name="Shape 45"/>
          <p:cNvSpPr/>
          <p:nvPr/>
        </p:nvSpPr>
        <p:spPr>
          <a:xfrm>
            <a:off x="640080" y="48737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0" name="Text 47"/>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أَلْتَقِي بِأَصْدِقَائِي فِي السَّابِعَةِ كُلَّ يَوْمٍ دُونَ تَغْيِيرٍ.</a:t>
            </a:r>
            <a:endParaRPr lang="ar-SA" sz="2050" dirty="0"/>
          </a:p>
        </p:txBody>
      </p:sp>
      <p:sp>
        <p:nvSpPr>
          <p:cNvPr id="51" name="Shape 48"/>
          <p:cNvSpPr/>
          <p:nvPr/>
        </p:nvSpPr>
        <p:spPr>
          <a:xfrm>
            <a:off x="640080" y="53309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3" name="Text 50"/>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إِذَا أَكْمَلْتُ وَاجِبِي أَلْتَقِي بِأَصْدِقَائِي.</a:t>
            </a:r>
            <a:endParaRPr lang="ar-SA" sz="2050" dirty="0"/>
          </a:p>
        </p:txBody>
      </p:sp>
      <p:sp>
        <p:nvSpPr>
          <p:cNvPr id="54" name="Shape 51"/>
          <p:cNvSpPr/>
          <p:nvPr/>
        </p:nvSpPr>
        <p:spPr>
          <a:xfrm>
            <a:off x="640080" y="5788152"/>
            <a:ext cx="256032" cy="256032"/>
          </a:xfrm>
          <a:prstGeom prst="ellipse">
            <a:avLst/>
          </a:prstGeom>
          <a:solidFill>
            <a:srgbClr val="F4F1EA"/>
          </a:solidFill>
          <a:ln w="12700">
            <a:solidFill>
              <a:srgbClr val="F4F1EA"/>
            </a:solidFill>
            <a:prstDash val="solid"/>
          </a:ln>
        </p:spPr>
      </p:sp>
      <p:sp>
        <p:nvSpPr>
          <p:cNvPr id="55" name="Text 5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6" name="Text 53"/>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لَا أَفْعَلُ شَيْئًا.</a:t>
            </a:r>
            <a:endParaRPr lang="ar-SA" sz="2050" dirty="0"/>
          </a:p>
        </p:txBody>
      </p:sp>
      <p:sp>
        <p:nvSpPr>
          <p:cNvPr id="57" name="Shape 54"/>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Shape 55"/>
          <p:cNvSpPr/>
          <p:nvPr/>
        </p:nvSpPr>
        <p:spPr>
          <a:xfrm>
            <a:off x="6313932" y="4288536"/>
            <a:ext cx="310896" cy="310896"/>
          </a:xfrm>
          <a:prstGeom prst="ellipse">
            <a:avLst/>
          </a:prstGeom>
          <a:solidFill>
            <a:srgbClr val="1B3B6F"/>
          </a:solidFill>
          <a:ln w="12700">
            <a:solidFill>
              <a:srgbClr val="1B3B6F"/>
            </a:solidFill>
            <a:prstDash val="solid"/>
          </a:ln>
        </p:spPr>
      </p:sp>
      <p:sp>
        <p:nvSpPr>
          <p:cNvPr id="59" name="Text 56"/>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0" name="Text 57"/>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means “most of the time”?</a:t>
            </a:r>
            <a:endParaRPr lang="en-US" sz="1250" dirty="0"/>
          </a:p>
        </p:txBody>
      </p:sp>
      <p:sp>
        <p:nvSpPr>
          <p:cNvPr id="61" name="Shape 58"/>
          <p:cNvSpPr/>
          <p:nvPr/>
        </p:nvSpPr>
        <p:spPr>
          <a:xfrm>
            <a:off x="6368796" y="48737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3" name="Text 60"/>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مَرَّةً وَاحِدَةً</a:t>
            </a:r>
            <a:endParaRPr lang="ar-SA" sz="2050" dirty="0"/>
          </a:p>
        </p:txBody>
      </p:sp>
      <p:sp>
        <p:nvSpPr>
          <p:cNvPr id="64" name="Shape 61"/>
          <p:cNvSpPr/>
          <p:nvPr/>
        </p:nvSpPr>
        <p:spPr>
          <a:xfrm>
            <a:off x="6368796" y="53309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6" name="Text 63"/>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قَبْلَ الوَقْتِ</a:t>
            </a:r>
            <a:endParaRPr lang="ar-SA" sz="2050" dirty="0"/>
          </a:p>
        </p:txBody>
      </p:sp>
      <p:sp>
        <p:nvSpPr>
          <p:cNvPr id="67" name="Shape 64"/>
          <p:cNvSpPr/>
          <p:nvPr/>
        </p:nvSpPr>
        <p:spPr>
          <a:xfrm>
            <a:off x="6368796" y="5788152"/>
            <a:ext cx="256032" cy="256032"/>
          </a:xfrm>
          <a:prstGeom prst="ellipse">
            <a:avLst/>
          </a:prstGeom>
          <a:solidFill>
            <a:srgbClr val="F4F1EA"/>
          </a:solidFill>
          <a:ln w="12700">
            <a:solidFill>
              <a:srgbClr val="F4F1EA"/>
            </a:solidFill>
            <a:prstDash val="solid"/>
          </a:ln>
        </p:spPr>
      </p:sp>
      <p:sp>
        <p:nvSpPr>
          <p:cNvPr id="68" name="Text 65"/>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9" name="Text 66"/>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مُعْظَمَ الوَقْتِ</a:t>
            </a:r>
            <a:endParaRPr lang="ar-SA" sz="20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46</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D1-L08 · Weekend Routine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D1-L08</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a balanced weekend sentence?</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أَنَامُ فَقَطْ.</a:t>
            </a:r>
            <a:endParaRPr lang="ar-SA" sz="170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الوَاجِبُ بَيْنَمَا السَّبْتُ.</a:t>
            </a:r>
            <a:endParaRPr lang="ar-SA" sz="1700" dirty="0"/>
          </a:p>
        </p:txBody>
      </p:sp>
      <p:sp>
        <p:nvSpPr>
          <p:cNvPr id="27" name="Shape 24"/>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23392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0" name="Text 27"/>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أَسْتَرِيحُ، وَلٰكِنَّنِي أُخَصِّصُ وَقْتًا لِلْوَاجِبِ أَيْضًا.</a:t>
            </a:r>
            <a:endParaRPr lang="ar-SA" sz="1700" dirty="0"/>
          </a:p>
        </p:txBody>
      </p:sp>
      <p:sp>
        <p:nvSpPr>
          <p:cNvPr id="31" name="Text 28"/>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It combines rest and responsibility.</a:t>
            </a:r>
            <a:endParaRPr lang="en-US" sz="1050" dirty="0"/>
          </a:p>
        </p:txBody>
      </p:sp>
      <p:sp>
        <p:nvSpPr>
          <p:cNvPr id="32" name="Shape 29"/>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6313932"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5" name="Text 32"/>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6" name="Text 33"/>
          <p:cNvSpPr txBox="1"/>
          <p:nvPr/>
        </p:nvSpPr>
        <p:spPr>
          <a:xfrm>
            <a:off x="9052011" y="1883664"/>
            <a:ext cx="2570013" cy="475488"/>
          </a:xfrm>
          <a:prstGeom prst="rect">
            <a:avLst/>
          </a:prstGeom>
          <a:noFill/>
          <a:ln/>
        </p:spPr>
        <p:txBody>
          <a:bodyPr wrap="square" lIns="0" tIns="0" rIns="0" bIns="0" rtlCol="0" anchor="ctr"/>
          <a:lstStyle/>
          <a:p>
            <a:pPr rtl="1" algn="r" indent="0" marL="0">
              <a:lnSpc>
                <a:spcPct val="120000"/>
              </a:lnSpc>
              <a:buNone/>
            </a:pPr>
            <a:r>
              <a:rPr lang="ar-SA" altLang="en-US" sz="1000" b="1" dirty="0">
                <a:solidFill>
                  <a:srgbClr val="1F2A37"/>
                </a:solidFill>
                <a:latin typeface="Amiri" pitchFamily="2" charset="-78"/>
                <a:ea typeface="Amiri" pitchFamily="2" charset="-78"/>
                <a:cs typeface="Amiri" pitchFamily="2" charset="-78"/>
              </a:rPr>
              <a:t>فِي أَيَّامِ الدِّرَاسَةِ أَسْتَيْقِظُ مُبَكِّرًا، ___ فِي العُطْلَةِ فَأَسْتَيْقِظُ مُتَأَخِّرًا.</a:t>
            </a:r>
            <a:endParaRPr lang="ar-SA" sz="1000" dirty="0"/>
          </a:p>
        </p:txBody>
      </p:sp>
      <p:sp>
        <p:nvSpPr>
          <p:cNvPr id="37" name="Shape 34"/>
          <p:cNvSpPr/>
          <p:nvPr/>
        </p:nvSpPr>
        <p:spPr>
          <a:xfrm>
            <a:off x="6368796" y="2490216"/>
            <a:ext cx="256032" cy="256032"/>
          </a:xfrm>
          <a:prstGeom prst="ellipse">
            <a:avLst/>
          </a:prstGeom>
          <a:solidFill>
            <a:srgbClr val="C9CED6"/>
          </a:solidFill>
          <a:ln w="12700">
            <a:solidFill>
              <a:srgbClr val="C9CED6"/>
            </a:solidFill>
            <a:prstDash val="solid"/>
          </a:ln>
        </p:spPr>
      </p:sp>
      <p:sp>
        <p:nvSpPr>
          <p:cNvPr id="38" name="Text 35"/>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9" name="Text 36"/>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لِأَنَّ</a:t>
            </a:r>
            <a:endParaRPr lang="ar-SA" sz="1700" dirty="0"/>
          </a:p>
        </p:txBody>
      </p:sp>
      <p:sp>
        <p:nvSpPr>
          <p:cNvPr id="40" name="Shape 37"/>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6368796" y="2862072"/>
            <a:ext cx="256032" cy="256032"/>
          </a:xfrm>
          <a:prstGeom prst="ellipse">
            <a:avLst/>
          </a:prstGeom>
          <a:solidFill>
            <a:srgbClr val="2E8B57"/>
          </a:solidFill>
          <a:ln w="12700">
            <a:solidFill>
              <a:srgbClr val="2E8B57"/>
            </a:solidFill>
            <a:prstDash val="solid"/>
          </a:ln>
        </p:spPr>
      </p:sp>
      <p:sp>
        <p:nvSpPr>
          <p:cNvPr id="42" name="Text 39"/>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3" name="Text 40"/>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أَمَّا</a:t>
            </a:r>
            <a:endParaRPr lang="ar-SA" sz="1700" dirty="0"/>
          </a:p>
        </p:txBody>
      </p:sp>
      <p:sp>
        <p:nvSpPr>
          <p:cNvPr id="44" name="Shape 41"/>
          <p:cNvSpPr/>
          <p:nvPr/>
        </p:nvSpPr>
        <p:spPr>
          <a:xfrm>
            <a:off x="6368796" y="3233928"/>
            <a:ext cx="256032" cy="256032"/>
          </a:xfrm>
          <a:prstGeom prst="ellipse">
            <a:avLst/>
          </a:prstGeom>
          <a:solidFill>
            <a:srgbClr val="C9CED6"/>
          </a:solidFill>
          <a:ln w="12700">
            <a:solidFill>
              <a:srgbClr val="C9CED6"/>
            </a:solidFill>
            <a:prstDash val="solid"/>
          </a:ln>
        </p:spPr>
      </p:sp>
      <p:sp>
        <p:nvSpPr>
          <p:cNvPr id="45" name="Text 42"/>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6" name="Text 43"/>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إِذَا</a:t>
            </a:r>
            <a:endParaRPr lang="ar-SA" sz="1700" dirty="0"/>
          </a:p>
        </p:txBody>
      </p:sp>
      <p:sp>
        <p:nvSpPr>
          <p:cNvPr id="47" name="Text 44"/>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أَمَّا</a:t>
            </a:r>
            <a:pPr algn="l" indent="0" marL="0">
              <a:buNone/>
            </a:pPr>
            <a:r>
              <a:rPr lang="en-US" sz="1050" i="1" dirty="0">
                <a:solidFill>
                  <a:srgbClr val="8A6D1E"/>
                </a:solidFill>
                <a:latin typeface="Calibri" pitchFamily="34" charset="0"/>
                <a:cs typeface="Amiri" pitchFamily="2" charset="-78"/>
              </a:rPr>
              <a:t> introduces the contrasting topic.</a:t>
            </a:r>
            <a:endParaRPr lang="en-US" sz="1050" dirty="0"/>
          </a:p>
        </p:txBody>
      </p:sp>
      <p:sp>
        <p:nvSpPr>
          <p:cNvPr id="48" name="Shape 45"/>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9" name="Shape 46"/>
          <p:cNvSpPr/>
          <p:nvPr/>
        </p:nvSpPr>
        <p:spPr>
          <a:xfrm>
            <a:off x="585216" y="4288536"/>
            <a:ext cx="310896" cy="310896"/>
          </a:xfrm>
          <a:prstGeom prst="ellipse">
            <a:avLst/>
          </a:prstGeom>
          <a:solidFill>
            <a:srgbClr val="1B3B6F"/>
          </a:solidFill>
          <a:ln w="12700">
            <a:solidFill>
              <a:srgbClr val="1B3B6F"/>
            </a:solidFill>
            <a:prstDash val="solid"/>
          </a:ln>
        </p:spPr>
      </p:sp>
      <p:sp>
        <p:nvSpPr>
          <p:cNvPr id="50" name="Text 47"/>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51" name="Text 48"/>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a flexible plan.</a:t>
            </a:r>
            <a:endParaRPr lang="en-US" sz="1250" dirty="0"/>
          </a:p>
        </p:txBody>
      </p:sp>
      <p:sp>
        <p:nvSpPr>
          <p:cNvPr id="52" name="Shape 49"/>
          <p:cNvSpPr/>
          <p:nvPr/>
        </p:nvSpPr>
        <p:spPr>
          <a:xfrm>
            <a:off x="640080" y="4831080"/>
            <a:ext cx="256032" cy="256032"/>
          </a:xfrm>
          <a:prstGeom prst="ellipse">
            <a:avLst/>
          </a:prstGeom>
          <a:solidFill>
            <a:srgbClr val="C9CED6"/>
          </a:solidFill>
          <a:ln w="12700">
            <a:solidFill>
              <a:srgbClr val="C9CED6"/>
            </a:solidFill>
            <a:prstDash val="solid"/>
          </a:ln>
        </p:spPr>
      </p:sp>
      <p:sp>
        <p:nvSpPr>
          <p:cNvPr id="53" name="Text 50"/>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4" name="Text 51"/>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أَلْتَقِي بِأَصْدِقَائِي فِي السَّابِعَةِ كُلَّ يَوْمٍ دُونَ تَغْيِيرٍ.</a:t>
            </a:r>
            <a:endParaRPr lang="ar-SA" sz="1700" dirty="0"/>
          </a:p>
        </p:txBody>
      </p:sp>
      <p:sp>
        <p:nvSpPr>
          <p:cNvPr id="55" name="Shape 52"/>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640080" y="5202936"/>
            <a:ext cx="256032" cy="256032"/>
          </a:xfrm>
          <a:prstGeom prst="ellipse">
            <a:avLst/>
          </a:prstGeom>
          <a:solidFill>
            <a:srgbClr val="2E8B57"/>
          </a:solidFill>
          <a:ln w="12700">
            <a:solidFill>
              <a:srgbClr val="2E8B57"/>
            </a:solidFill>
            <a:prstDash val="solid"/>
          </a:ln>
        </p:spPr>
      </p:sp>
      <p:sp>
        <p:nvSpPr>
          <p:cNvPr id="57" name="Text 54"/>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8" name="Text 55"/>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إِذَا أَكْمَلْتُ وَاجِبِي أَلْتَقِي بِأَصْدِقَائِي.</a:t>
            </a:r>
            <a:endParaRPr lang="ar-SA" sz="1700" dirty="0"/>
          </a:p>
        </p:txBody>
      </p:sp>
      <p:sp>
        <p:nvSpPr>
          <p:cNvPr id="59" name="Shape 56"/>
          <p:cNvSpPr/>
          <p:nvPr/>
        </p:nvSpPr>
        <p:spPr>
          <a:xfrm>
            <a:off x="640080" y="5574792"/>
            <a:ext cx="256032" cy="256032"/>
          </a:xfrm>
          <a:prstGeom prst="ellipse">
            <a:avLst/>
          </a:prstGeom>
          <a:solidFill>
            <a:srgbClr val="C9CED6"/>
          </a:solidFill>
          <a:ln w="12700">
            <a:solidFill>
              <a:srgbClr val="C9CED6"/>
            </a:solidFill>
            <a:prstDash val="solid"/>
          </a:ln>
        </p:spPr>
      </p:sp>
      <p:sp>
        <p:nvSpPr>
          <p:cNvPr id="60" name="Text 57"/>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1" name="Text 58"/>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لَا أَفْعَلُ شَيْئًا.</a:t>
            </a:r>
            <a:endParaRPr lang="ar-SA" sz="1700" dirty="0"/>
          </a:p>
        </p:txBody>
      </p:sp>
      <p:sp>
        <p:nvSpPr>
          <p:cNvPr id="62" name="Text 59"/>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condition makes the plan flexible.</a:t>
            </a:r>
            <a:endParaRPr lang="en-US" sz="1050" dirty="0"/>
          </a:p>
        </p:txBody>
      </p:sp>
      <p:sp>
        <p:nvSpPr>
          <p:cNvPr id="63" name="Shape 60"/>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6313932" y="4288536"/>
            <a:ext cx="310896" cy="310896"/>
          </a:xfrm>
          <a:prstGeom prst="ellipse">
            <a:avLst/>
          </a:prstGeom>
          <a:solidFill>
            <a:srgbClr val="1B3B6F"/>
          </a:solidFill>
          <a:ln w="12700">
            <a:solidFill>
              <a:srgbClr val="1B3B6F"/>
            </a:solidFill>
            <a:prstDash val="solid"/>
          </a:ln>
        </p:spPr>
      </p:sp>
      <p:sp>
        <p:nvSpPr>
          <p:cNvPr id="65" name="Text 62"/>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6" name="Text 63"/>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means “most of the time”?</a:t>
            </a:r>
            <a:endParaRPr lang="en-US" sz="1250" dirty="0"/>
          </a:p>
        </p:txBody>
      </p:sp>
      <p:sp>
        <p:nvSpPr>
          <p:cNvPr id="67" name="Shape 64"/>
          <p:cNvSpPr/>
          <p:nvPr/>
        </p:nvSpPr>
        <p:spPr>
          <a:xfrm>
            <a:off x="6368796" y="4831080"/>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9" name="Text 66"/>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مَرَّةً وَاحِدَةً</a:t>
            </a:r>
            <a:endParaRPr lang="ar-SA" sz="1700" dirty="0"/>
          </a:p>
        </p:txBody>
      </p:sp>
      <p:sp>
        <p:nvSpPr>
          <p:cNvPr id="70" name="Shape 67"/>
          <p:cNvSpPr/>
          <p:nvPr/>
        </p:nvSpPr>
        <p:spPr>
          <a:xfrm>
            <a:off x="6368796" y="5202936"/>
            <a:ext cx="256032" cy="256032"/>
          </a:xfrm>
          <a:prstGeom prst="ellipse">
            <a:avLst/>
          </a:prstGeom>
          <a:solidFill>
            <a:srgbClr val="C9CED6"/>
          </a:solidFill>
          <a:ln w="12700">
            <a:solidFill>
              <a:srgbClr val="C9CED6"/>
            </a:solidFill>
            <a:prstDash val="solid"/>
          </a:ln>
        </p:spPr>
      </p:sp>
      <p:sp>
        <p:nvSpPr>
          <p:cNvPr id="71" name="Text 68"/>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2" name="Text 69"/>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قَبْلَ الوَقْتِ</a:t>
            </a:r>
            <a:endParaRPr lang="ar-SA" sz="1700" dirty="0"/>
          </a:p>
        </p:txBody>
      </p:sp>
      <p:sp>
        <p:nvSpPr>
          <p:cNvPr id="73" name="Shape 70"/>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4" name="Shape 71"/>
          <p:cNvSpPr/>
          <p:nvPr/>
        </p:nvSpPr>
        <p:spPr>
          <a:xfrm>
            <a:off x="6368796" y="5574792"/>
            <a:ext cx="256032" cy="256032"/>
          </a:xfrm>
          <a:prstGeom prst="ellipse">
            <a:avLst/>
          </a:prstGeom>
          <a:solidFill>
            <a:srgbClr val="2E8B57"/>
          </a:solidFill>
          <a:ln w="12700">
            <a:solidFill>
              <a:srgbClr val="2E8B57"/>
            </a:solidFill>
            <a:prstDash val="solid"/>
          </a:ln>
        </p:spPr>
      </p:sp>
      <p:sp>
        <p:nvSpPr>
          <p:cNvPr id="75" name="Text 72"/>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6" name="Text 73"/>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مُعْظَمَ الوَقْتِ</a:t>
            </a:r>
            <a:endParaRPr lang="ar-SA" sz="1700" dirty="0"/>
          </a:p>
        </p:txBody>
      </p:sp>
      <p:sp>
        <p:nvSpPr>
          <p:cNvPr id="77" name="Text 74"/>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مُعْظَمَ الوَقْتِ</a:t>
            </a:r>
            <a:pPr algn="l" indent="0" marL="0">
              <a:buNone/>
            </a:pPr>
            <a:r>
              <a:rPr lang="en-US" sz="1050" i="1" dirty="0">
                <a:solidFill>
                  <a:srgbClr val="8A6D1E"/>
                </a:solidFill>
                <a:latin typeface="Calibri" pitchFamily="34" charset="0"/>
                <a:cs typeface="Amiri" pitchFamily="2" charset="-78"/>
              </a:rPr>
              <a:t> = most of the time.</a:t>
            </a:r>
            <a:endParaRPr lang="en-US" sz="105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46</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D1-L08 · Weekend Routine</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D1-L08</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فَأَمَّا السَّبْتُ أَسْتَرِيحُ.</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Where does fa- belong: before “as for” or before the comment?</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بَيْنَمَا أُخْتِي يَلْتَقِي.</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ar-SA" altLang="en-US" sz="1700" dirty="0">
                <a:solidFill>
                  <a:srgbClr val="5A6472"/>
                </a:solidFill>
                <a:latin typeface="Amiri" pitchFamily="2" charset="-78"/>
                <a:ea typeface="Amiri" pitchFamily="2" charset="-78"/>
                <a:cs typeface="Amiri" pitchFamily="2" charset="-78"/>
              </a:rPr>
              <a:t>أُخْتِي</a:t>
            </a:r>
            <a:pPr algn="l" indent="0" marL="0">
              <a:buNone/>
            </a:pPr>
            <a:r>
              <a:rPr lang="en-US" sz="1300" i="1" dirty="0">
                <a:solidFill>
                  <a:srgbClr val="5A6472"/>
                </a:solidFill>
                <a:latin typeface="Calibri" pitchFamily="34" charset="0"/>
                <a:cs typeface="Amiri" pitchFamily="2" charset="-78"/>
              </a:rPr>
              <a:t> is feminine. Which prefix?</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إِذَا لَدَيَّ وَقْتٌ ذَهَبْتُ دَائِمًا.</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Use the whole chunk “if I have time”.</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46</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D1-L08 · Weekend Routine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D1-L08</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فَأَمَّا السَّبْتُ أَسْتَرِيحُ.</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أَمَّا السَّبْتُ فَأَسْتَرِيحُ.</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Place </a:t>
            </a:r>
            <a:pPr algn="l" indent="0" marL="0">
              <a:buNone/>
            </a:pPr>
            <a:r>
              <a:rPr lang="ar-SA" altLang="en-US" sz="1500" b="1" dirty="0">
                <a:solidFill>
                  <a:srgbClr val="1B3B6F"/>
                </a:solidFill>
                <a:latin typeface="Amiri" pitchFamily="2" charset="-78"/>
                <a:ea typeface="Amiri" pitchFamily="2" charset="-78"/>
                <a:cs typeface="Amiri" pitchFamily="2" charset="-78"/>
              </a:rPr>
              <a:t>فَـ</a:t>
            </a:r>
            <a:pPr algn="l" indent="0" marL="0">
              <a:buNone/>
            </a:pPr>
            <a:r>
              <a:rPr lang="en-US" sz="1150" b="1" dirty="0">
                <a:solidFill>
                  <a:srgbClr val="1B3B6F"/>
                </a:solidFill>
                <a:latin typeface="Calibri" pitchFamily="34" charset="0"/>
                <a:cs typeface="Amiri" pitchFamily="2" charset="-78"/>
              </a:rPr>
              <a:t> before the comment.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بَيْنَمَا أُخْتِي يَلْتَقِي.</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بَيْنَمَا أُخْتِي تَلْتَقِي.</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The feminine subject takes </a:t>
            </a:r>
            <a:pPr algn="l" indent="0" marL="0">
              <a:buNone/>
            </a:pPr>
            <a:r>
              <a:rPr lang="ar-SA" altLang="en-US" sz="1500" b="1" dirty="0">
                <a:solidFill>
                  <a:srgbClr val="1B3B6F"/>
                </a:solidFill>
                <a:latin typeface="Amiri" pitchFamily="2" charset="-78"/>
                <a:ea typeface="Amiri" pitchFamily="2" charset="-78"/>
                <a:cs typeface="Amiri" pitchFamily="2" charset="-78"/>
              </a:rPr>
              <a:t>تَـ</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إِذَا لَدَيَّ وَقْتٌ ذَهَبْتُ دَائِمًا.</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إِذَا كَانَ لَدَيَّ وَقْتٌ أَذْهَبُ.</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Use a coherent repeated-condition frame.</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46</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D1-L08 · Weekend Routine</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Plans that may change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D1-L08</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Is the weekend timetable strict?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Yes</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Only on Saturday evening</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often happens Saturday morning?</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training</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visiting grandmother</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helping the family</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condition affects meeting friends?</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finishing training</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school bus</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having time</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long is Sunday revision?</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one hour</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half an hour</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two hours</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is the routine liked?</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avoids family</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balances rest and preparation</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identical to school days</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cs typeface="Amiri" pitchFamily="2" charset="-78"/>
              </a:rPr>
              <a:t>Listen twice. Core: questions 1, 2 and 4.</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Listen for: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لَا أَتَّبِعُ جَدْوَلًا</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غَالِبًا مَا</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لِمُدَّةِ سَاعَةٍ</a:t>
            </a:r>
            <a:pPr algn="l" indent="0" marL="0">
              <a:lnSpc>
                <a:spcPct val="115000"/>
              </a:lnSpc>
              <a:buNone/>
            </a:pPr>
            <a:r>
              <a:rPr lang="en-US" sz="1250" dirty="0">
                <a:solidFill>
                  <a:srgbClr val="1E6B52"/>
                </a:solidFill>
                <a:latin typeface="Calibri" pitchFamily="34" charset="0"/>
                <a:cs typeface="Amiri" pitchFamily="2" charset="-78"/>
              </a:rPr>
              <a:t>.</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46</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D1-L08 · Weekend Routine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D1-L08</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فِي نِهَايَةِ الأُسْبُوعِ لَا أَتَّبِعُ جَدْوَلًا صَارِمًا.</a:t>
            </a:r>
            <a:endParaRPr lang="ar-SA" sz="200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At the weekend I don’t follow a strict timetable.</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buNone/>
            </a:pPr>
            <a:r>
              <a:rPr lang="ar-SA" altLang="en-US" sz="1950" b="1" dirty="0">
                <a:solidFill>
                  <a:srgbClr val="1B3B6F"/>
                </a:solidFill>
                <a:latin typeface="Amiri" pitchFamily="2" charset="-78"/>
                <a:ea typeface="Amiri" pitchFamily="2" charset="-78"/>
                <a:cs typeface="Amiri" pitchFamily="2" charset="-78"/>
              </a:rPr>
              <a:t>صَبَاحَ السَّبْتِ غَالِبًا مَا أُسَاعِدُ أُسْرَتِي، ثُمَّ أَلْتَقِي بِصَدِيقَاتِي إِذَا كَانَ لَدَيَّ وَقْتٌ.</a:t>
            </a:r>
            <a:endParaRPr lang="ar-SA" sz="195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 Saturday morning I often help my family, then I meet my friends if I have time.</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أَمَّا مَسَاءُ السَّبْتِ فَأَقْضِيهِ مَعَ أُسْرَتِي.</a:t>
            </a:r>
            <a:endParaRPr lang="ar-SA" sz="200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As for Saturday evening, I spend it with my family.</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lnSpc>
                <a:spcPct val="120000"/>
              </a:lnSpc>
              <a:buNone/>
            </a:pPr>
            <a:r>
              <a:rPr lang="ar-SA" altLang="en-US" sz="1600" b="1" dirty="0">
                <a:solidFill>
                  <a:srgbClr val="1B3B6F"/>
                </a:solidFill>
                <a:latin typeface="Amiri" pitchFamily="2" charset="-78"/>
                <a:ea typeface="Amiri" pitchFamily="2" charset="-78"/>
                <a:cs typeface="Amiri" pitchFamily="2" charset="-78"/>
              </a:rPr>
              <a:t>يَوْمَ الأَحَدِ أُرَاجِعُ دُرُوسِي لِمُدَّةِ سَاعَةٍ، بَيْنَمَا يَذْهَبُ أَخِي إِلَى التَّدْرِيبِ. بَعْدَ ذٰلِكَ نَزُورُ جَدَّتَنَا.</a:t>
            </a:r>
            <a:endParaRPr lang="ar-SA" sz="160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 Sunday I revise for an hour, whereas my brother goes to training. After that we visit our grandmother.</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أُحِبُّ هٰذَا التَّوَازُنَ لِأَنَّنِي أَسْتَرِيحُ وَأَسْتَعِدُّ لِلْأُسْبُوعِ الجَدِيدِ أَيْضًا.</a:t>
            </a:r>
            <a:endParaRPr lang="ar-SA" sz="200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like this balance because I rest and also get ready for the new week.</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46</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D1-L08 · Weekend Routine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D1-L08</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Is the weekend timetable strict?</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No</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Yes</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Only on Saturday evening</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لَا أَتَّبِعُ جَدْوَلًا صَارِمًا.</a:t>
            </a:r>
            <a:endParaRPr lang="ar-SA" sz="13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often happens Saturday morning?</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training</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visiting grandmother</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helping the family</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غَالِبًا مَا أُسَاعِدُ أُسْرَتِي.</a:t>
            </a:r>
            <a:endParaRPr lang="ar-SA" sz="13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condition affects meeting friends?</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finishing training</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school bus</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having time</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إِذَا كَانَ لَدَيَّ وَقْتٌ.</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long is Sunday revision?</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one hour</a:t>
            </a:r>
            <a:endParaRPr lang="en-US" sz="12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half an hour</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two hours</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لِمُدَّةِ سَاعَةٍ.</a:t>
            </a:r>
            <a:endParaRPr lang="ar-SA" sz="13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is the routine liked?</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avoids family</a:t>
            </a:r>
            <a:endParaRPr lang="en-US" sz="125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it balances rest and preparation</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identical to school days</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أَسْتَرِيحُ وَأَسْتَعِدُّ ... أَيْضًا.</a:t>
            </a:r>
            <a:endParaRPr lang="ar-SA" sz="13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cs typeface="Amiri" pitchFamily="2" charset="-78"/>
              </a:rPr>
              <a:t>Listen twice. Core: questions 1, 2 and 4.</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Listen for: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لَا أَتَّبِعُ جَدْوَلًا</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غَالِبًا مَا</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لِمُدَّةِ سَاعَةٍ</a:t>
            </a:r>
            <a:pPr algn="l" indent="0" marL="0">
              <a:lnSpc>
                <a:spcPct val="115000"/>
              </a:lnSpc>
              <a:buNone/>
            </a:pPr>
            <a:r>
              <a:rPr lang="en-US" sz="1250" dirty="0">
                <a:solidFill>
                  <a:srgbClr val="1E6B52"/>
                </a:solidFill>
                <a:latin typeface="Calibri" pitchFamily="34" charset="0"/>
                <a:cs typeface="Amiri" pitchFamily="2" charset="-78"/>
              </a:rPr>
              <a:t>.</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46</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D1-L08 · Weekend Routine</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00" b="1" dirty="0">
                <a:solidFill>
                  <a:srgbClr val="1B3B6F"/>
                </a:solidFill>
                <a:latin typeface="Cambria" pitchFamily="34" charset="0"/>
                <a:cs typeface="Amiri" pitchFamily="2" charset="-78"/>
              </a:rPr>
              <a:t>Discuss and evaluate your weekend</a:t>
            </a:r>
            <a:endParaRPr lang="en-US" sz="27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D1-L08</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مَاذَا تَفْعَلُ عَادَةً يَوْمَ السَّبْتِ؟</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كَيْفَ يَخْتَلِفُ يَوْمُ الأَحَدِ؟</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C9780A"/>
          </a:solidFill>
          <a:ln w="12700">
            <a:solidFill>
              <a:srgbClr val="C9780A"/>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مَاذَا تَفْعَلُ إِذَا كَانَ لَدَيْكَ وَقْتٌ؟</a:t>
            </a:r>
            <a:endParaRPr lang="ar-SA" sz="1800" dirty="0"/>
          </a:p>
        </p:txBody>
      </p:sp>
      <p:sp>
        <p:nvSpPr>
          <p:cNvPr id="42" name="Shape 39"/>
          <p:cNvSpPr/>
          <p:nvPr/>
        </p:nvSpPr>
        <p:spPr>
          <a:xfrm>
            <a:off x="4754880" y="4352544"/>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4846320" y="4507992"/>
            <a:ext cx="960120" cy="256032"/>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4846320" y="4507992"/>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5" name="Text 42"/>
          <p:cNvSpPr txBox="1"/>
          <p:nvPr/>
        </p:nvSpPr>
        <p:spPr>
          <a:xfrm>
            <a:off x="5897880" y="4352544"/>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هَلْ عُطْلَتُكَ مُتَوَازِنَةٌ؟ هَاتِ دَلِيلًا.</a:t>
            </a:r>
            <a:endParaRPr lang="ar-SA" sz="1800" dirty="0"/>
          </a:p>
        </p:txBody>
      </p:sp>
      <p:sp>
        <p:nvSpPr>
          <p:cNvPr id="46" name="Shape 43"/>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7" name="Text 44"/>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8" name="Shape 45"/>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9" name="Text 46"/>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0" name="Text 47"/>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ea typeface="Amiri" pitchFamily="2" charset="-78"/>
                <a:cs typeface="Amiri" pitchFamily="2" charset="-78"/>
              </a:rPr>
              <a:t>يَوْمَ السَّبْتِ ___ ، وَيَوْمَ الأَحَدِ ___ .</a:t>
            </a:r>
            <a:endParaRPr lang="ar-SA" sz="1600" dirty="0"/>
          </a:p>
        </p:txBody>
      </p:sp>
      <p:sp>
        <p:nvSpPr>
          <p:cNvPr id="51" name="Shape 48"/>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52" name="Text 49"/>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53" name="Text 50"/>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أَمَّا يَوْمُ الأَحَدِ فَـ ___ .</a:t>
            </a:r>
            <a:endParaRPr lang="ar-SA" sz="1600" dirty="0"/>
          </a:p>
        </p:txBody>
      </p:sp>
      <p:sp>
        <p:nvSpPr>
          <p:cNvPr id="54" name="Shape 51"/>
          <p:cNvSpPr/>
          <p:nvPr/>
        </p:nvSpPr>
        <p:spPr>
          <a:xfrm>
            <a:off x="640080" y="4123944"/>
            <a:ext cx="1051560" cy="256032"/>
          </a:xfrm>
          <a:prstGeom prst="roundRect">
            <a:avLst>
              <a:gd name="adj" fmla="val 50000"/>
            </a:avLst>
          </a:prstGeom>
          <a:solidFill>
            <a:srgbClr val="C9780A"/>
          </a:solidFill>
          <a:ln w="12700">
            <a:solidFill>
              <a:srgbClr val="C9780A"/>
            </a:solidFill>
            <a:prstDash val="solid"/>
          </a:ln>
        </p:spPr>
      </p:sp>
      <p:sp>
        <p:nvSpPr>
          <p:cNvPr id="55" name="Text 52"/>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56" name="Text 53"/>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إِذَا كَانَ لَدَيَّ وَقْتٌ ___ .</a:t>
            </a:r>
            <a:endParaRPr lang="ar-SA" sz="1600" dirty="0"/>
          </a:p>
        </p:txBody>
      </p:sp>
      <p:sp>
        <p:nvSpPr>
          <p:cNvPr id="57" name="Shape 54"/>
          <p:cNvSpPr/>
          <p:nvPr/>
        </p:nvSpPr>
        <p:spPr>
          <a:xfrm>
            <a:off x="640080" y="4681728"/>
            <a:ext cx="1051560" cy="256032"/>
          </a:xfrm>
          <a:prstGeom prst="roundRect">
            <a:avLst>
              <a:gd name="adj" fmla="val 50000"/>
            </a:avLst>
          </a:prstGeom>
          <a:solidFill>
            <a:srgbClr val="B83227"/>
          </a:solidFill>
          <a:ln w="12700">
            <a:solidFill>
              <a:srgbClr val="B83227"/>
            </a:solidFill>
            <a:prstDash val="solid"/>
          </a:ln>
        </p:spPr>
      </p:sp>
      <p:sp>
        <p:nvSpPr>
          <p:cNvPr id="58" name="Text 55"/>
          <p:cNvSpPr txBox="1"/>
          <p:nvPr/>
        </p:nvSpPr>
        <p:spPr>
          <a:xfrm>
            <a:off x="640080" y="4681728"/>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9" name="Text 56"/>
          <p:cNvSpPr txBox="1"/>
          <p:nvPr/>
        </p:nvSpPr>
        <p:spPr>
          <a:xfrm>
            <a:off x="1783080" y="4526280"/>
            <a:ext cx="2697480" cy="557784"/>
          </a:xfrm>
          <a:prstGeom prst="rect">
            <a:avLst/>
          </a:prstGeom>
          <a:noFill/>
          <a:ln/>
        </p:spPr>
        <p:txBody>
          <a:bodyPr wrap="square" lIns="0" tIns="0" rIns="0" bIns="0" rtlCol="0" anchor="ctr"/>
          <a:lstStyle/>
          <a:p>
            <a:pPr rtl="1" algn="r" indent="0" marL="0">
              <a:buNone/>
            </a:pPr>
            <a:r>
              <a:rPr lang="ar-SA" altLang="en-US" sz="1400" b="1" dirty="0">
                <a:solidFill>
                  <a:srgbClr val="1F2A37"/>
                </a:solidFill>
                <a:latin typeface="Amiri" pitchFamily="2" charset="-78"/>
                <a:ea typeface="Amiri" pitchFamily="2" charset="-78"/>
                <a:cs typeface="Amiri" pitchFamily="2" charset="-78"/>
              </a:rPr>
              <a:t>عُطْلَتِي مُتَوَازِنَةٌ / غَيْرُ مُتَوَازِنَةٍ لِأَنَّ ___ .</a:t>
            </a:r>
            <a:endParaRPr lang="ar-SA" sz="1400" dirty="0"/>
          </a:p>
        </p:txBody>
      </p:sp>
      <p:sp>
        <p:nvSpPr>
          <p:cNvPr id="60" name="Shape 57"/>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62" name="Shape 59"/>
          <p:cNvSpPr/>
          <p:nvPr/>
        </p:nvSpPr>
        <p:spPr>
          <a:xfrm>
            <a:off x="11274552" y="5559552"/>
            <a:ext cx="292608" cy="292608"/>
          </a:xfrm>
          <a:prstGeom prst="ellipse">
            <a:avLst/>
          </a:prstGeom>
          <a:solidFill>
            <a:srgbClr val="1E6B52"/>
          </a:solidFill>
          <a:ln w="12700">
            <a:solidFill>
              <a:srgbClr val="1E6B52"/>
            </a:solidFill>
            <a:prstDash val="solid"/>
          </a:ln>
        </p:spPr>
      </p:sp>
      <p:sp>
        <p:nvSpPr>
          <p:cNvPr id="63" name="Text 60"/>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64" name="Text 61"/>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هَلْ عُطْلَتُكَ مُنَظَّمَةٌ؟</a:t>
            </a:r>
            <a:endParaRPr lang="ar-SA" sz="1550" dirty="0"/>
          </a:p>
        </p:txBody>
      </p:sp>
      <p:sp>
        <p:nvSpPr>
          <p:cNvPr id="65" name="Text 62"/>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Is your weekend organised?</a:t>
            </a:r>
            <a:endParaRPr lang="en-US" sz="950" dirty="0"/>
          </a:p>
        </p:txBody>
      </p:sp>
      <p:sp>
        <p:nvSpPr>
          <p:cNvPr id="66" name="Shape 63"/>
          <p:cNvSpPr/>
          <p:nvPr/>
        </p:nvSpPr>
        <p:spPr>
          <a:xfrm>
            <a:off x="11274552" y="5925312"/>
            <a:ext cx="292608" cy="292608"/>
          </a:xfrm>
          <a:prstGeom prst="ellipse">
            <a:avLst/>
          </a:prstGeom>
          <a:solidFill>
            <a:srgbClr val="1E6B52"/>
          </a:solidFill>
          <a:ln w="12700">
            <a:solidFill>
              <a:srgbClr val="1E6B52"/>
            </a:solidFill>
            <a:prstDash val="solid"/>
          </a:ln>
        </p:spPr>
      </p:sp>
      <p:sp>
        <p:nvSpPr>
          <p:cNvPr id="67" name="Text 64"/>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8" name="Text 65"/>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لَيْسَتْ صَارِمَةً، وَلٰكِنَّنِي أُخَصِّصُ وَقْتًا لِلرَّاحَةِ وَالوَاجِبِ. إِذَا كَانَ لَدَيَّ وَقْتٌ أَلْتَقِي بِأَصْدِقَائِي.</a:t>
            </a:r>
            <a:endParaRPr lang="ar-SA" sz="1550" dirty="0"/>
          </a:p>
        </p:txBody>
      </p:sp>
      <p:sp>
        <p:nvSpPr>
          <p:cNvPr id="69" name="Text 66"/>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750" i="1" dirty="0">
                <a:solidFill>
                  <a:srgbClr val="5A6472"/>
                </a:solidFill>
                <a:latin typeface="Calibri" pitchFamily="34" charset="0"/>
                <a:cs typeface="Amiri" pitchFamily="2" charset="-78"/>
              </a:rPr>
              <a:t>It isn’t strict, but I set aside time for rest and homework. If I have time, I meet my friends.</a:t>
            </a:r>
            <a:endParaRPr lang="en-US" sz="7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46</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D1-L08 · Weekend Routine</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D1-L08</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ea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5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Describe four weekend activities.</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Four weekend activities with a day, and one sentence “as for the weekend …” from the frames.</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ea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8 sentences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Contrast Saturday, Sunday and school days accurately.</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Saturday vs Sunday vs school days; one contrast with another person (whereas).</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100–120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Evaluate flexibility and balance through evidence and qualification.</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task: both days, as for … fa-, whereas, an “if” condition, three frequency expressions and an evaluation of balance.</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46</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D1-L08 · Weekend Routine</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D1-L08</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350" b="1" dirty="0">
                <a:solidFill>
                  <a:srgbClr val="1B3B6F"/>
                </a:solidFill>
                <a:latin typeface="Amiri" pitchFamily="2" charset="-78"/>
                <a:ea typeface="Amiri" pitchFamily="2" charset="-78"/>
                <a:cs typeface="Amiri" pitchFamily="2" charset="-78"/>
              </a:rPr>
              <a:t>فِي أَيَّامِ الدِّرَاسَةِ ______ ، أَمَّا يَوْمُ السَّبْتِ فَـ ______ .</a:t>
            </a:r>
            <a:endParaRPr lang="ar-SA" sz="135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On school days I …, as for Saturday, I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غَالِبًا مَا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often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بَعْضِ الأَحْيَانِ أَتَسَوَّقُ مَعَ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Sometimes I go shopping with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إِذَا كَانَ لَدَيَّ وَقْتٌ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If I have time, I …</a:t>
            </a:r>
            <a:endParaRPr lang="en-US" sz="1050" dirty="0"/>
          </a:p>
        </p:txBody>
      </p:sp>
      <p:sp>
        <p:nvSpPr>
          <p:cNvPr id="26" name="Text 23"/>
          <p:cNvSpPr txBox="1"/>
          <p:nvPr/>
        </p:nvSpPr>
        <p:spPr>
          <a:xfrm>
            <a:off x="2468880"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______ ، بَيْنَمَا تَـ ______ أُخْتِي.</a:t>
            </a:r>
            <a:endParaRPr lang="ar-SA" sz="1800" dirty="0"/>
          </a:p>
        </p:txBody>
      </p:sp>
      <p:sp>
        <p:nvSpPr>
          <p:cNvPr id="27" name="Text 24"/>
          <p:cNvSpPr txBox="1"/>
          <p:nvPr/>
        </p:nvSpPr>
        <p:spPr>
          <a:xfrm>
            <a:off x="594360"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whereas my sister …</a:t>
            </a:r>
            <a:endParaRPr lang="en-US" sz="1050" dirty="0"/>
          </a:p>
        </p:txBody>
      </p:sp>
      <p:sp>
        <p:nvSpPr>
          <p:cNvPr id="28" name="Shape 25"/>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1" name="Text 28"/>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يَوْمَ السَّبْتِ ______ .</a:t>
            </a:r>
            <a:endParaRPr lang="ar-SA" sz="1800" dirty="0"/>
          </a:p>
        </p:txBody>
      </p:sp>
      <p:sp>
        <p:nvSpPr>
          <p:cNvPr id="32" name="Text 29"/>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On Saturday I …</a:t>
            </a:r>
            <a:endParaRPr lang="en-US" sz="1050" dirty="0"/>
          </a:p>
        </p:txBody>
      </p:sp>
      <p:sp>
        <p:nvSpPr>
          <p:cNvPr id="33" name="Text 30"/>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يَوْمَ الأَحَدِ ______ .</a:t>
            </a:r>
            <a:endParaRPr lang="ar-SA" sz="1800" dirty="0"/>
          </a:p>
        </p:txBody>
      </p:sp>
      <p:sp>
        <p:nvSpPr>
          <p:cNvPr id="34" name="Text 31"/>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On Sunday I …</a:t>
            </a:r>
            <a:endParaRPr lang="en-US" sz="1050" dirty="0"/>
          </a:p>
        </p:txBody>
      </p:sp>
      <p:sp>
        <p:nvSpPr>
          <p:cNvPr id="35" name="Text 32"/>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نِهَايَةِ الأُسْبُوعِ أَنَامُ وَقْتًا أَطْوَلَ.</a:t>
            </a:r>
            <a:endParaRPr lang="ar-SA" sz="1800" dirty="0"/>
          </a:p>
        </p:txBody>
      </p:sp>
      <p:sp>
        <p:nvSpPr>
          <p:cNvPr id="36" name="Text 33"/>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At the weekend I sleep longer.</a:t>
            </a:r>
            <a:endParaRPr lang="en-US" sz="1050" dirty="0"/>
          </a:p>
        </p:txBody>
      </p:sp>
      <p:sp>
        <p:nvSpPr>
          <p:cNvPr id="37" name="Text 34"/>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أَزُورُ أَقَارِبِي / أَلْتَقِي بِأَصْدِقَائِي.</a:t>
            </a:r>
            <a:endParaRPr lang="ar-SA" sz="1800" dirty="0"/>
          </a:p>
        </p:txBody>
      </p:sp>
      <p:sp>
        <p:nvSpPr>
          <p:cNvPr id="38" name="Text 35"/>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visit my relatives / meet my friends.</a:t>
            </a:r>
            <a:endParaRPr lang="en-US" sz="1050" dirty="0"/>
          </a:p>
        </p:txBody>
      </p:sp>
      <p:sp>
        <p:nvSpPr>
          <p:cNvPr id="39" name="Text 36"/>
          <p:cNvSpPr txBox="1"/>
          <p:nvPr/>
        </p:nvSpPr>
        <p:spPr>
          <a:xfrm>
            <a:off x="8202168"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أَمَّا فِي نِهَايَةِ الأُسْبُوعِ فَـ ______ .</a:t>
            </a:r>
            <a:endParaRPr lang="ar-SA" sz="1800" dirty="0"/>
          </a:p>
        </p:txBody>
      </p:sp>
      <p:sp>
        <p:nvSpPr>
          <p:cNvPr id="40" name="Text 37"/>
          <p:cNvSpPr txBox="1"/>
          <p:nvPr/>
        </p:nvSpPr>
        <p:spPr>
          <a:xfrm>
            <a:off x="6327648"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As for the weekend, I …</a:t>
            </a:r>
            <a:endParaRPr lang="en-US" sz="1050" dirty="0"/>
          </a:p>
        </p:txBody>
      </p:sp>
      <p:sp>
        <p:nvSpPr>
          <p:cNvPr id="41" name="Shape 38"/>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Text 39"/>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43" name="Text 40"/>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550" b="1" dirty="0">
                <a:solidFill>
                  <a:srgbClr val="1B3B6F"/>
                </a:solidFill>
                <a:latin typeface="Amiri" pitchFamily="2" charset="-78"/>
                <a:ea typeface="Amiri" pitchFamily="2" charset="-78"/>
                <a:cs typeface="Amiri" pitchFamily="2" charset="-78"/>
              </a:rPr>
              <a:t>يَوْمَ السَّبْتِ  ·  يَوْمَ الأَحَدِ  ·  أَمَّا … فَـ  ·  بَيْنَمَا  ·  إِذَا كَانَ لَدَيَّ وَقْتٌ  ·  غَالِبًا مَا  ·  نَادِرًا مَا  ·  أَزُورُ أَقَارِبِي  ·  أَتَسَوَّقُ  ·  أُمَارِسُ هِوَايَتِي  ·  أُخَطِّطُ لِلْأُسْبُوعِ  ·  تَوَازُنٌ</a:t>
            </a:r>
            <a:endParaRPr lang="ar-SA" sz="15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46</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D1-L08 · Weekend Routine</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D1-L08</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Write 100–120 words about your weekend routine and how it differs from school days.</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Describe Saturday and Sunday separately.</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Use </a:t>
            </a:r>
            <a:pPr algn="l" indent="0" marL="0">
              <a:buNone/>
            </a:pPr>
            <a:r>
              <a:rPr lang="ar-SA" altLang="en-US" sz="1550" dirty="0">
                <a:solidFill>
                  <a:srgbClr val="1F2A37"/>
                </a:solidFill>
                <a:latin typeface="Amiri" pitchFamily="2" charset="-78"/>
                <a:ea typeface="Amiri" pitchFamily="2" charset="-78"/>
                <a:cs typeface="Amiri" pitchFamily="2" charset="-78"/>
              </a:rPr>
              <a:t>أَمَّا</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فَـ</a:t>
            </a:r>
            <a:pPr algn="l" indent="0" marL="0">
              <a:buNone/>
            </a:pPr>
            <a:r>
              <a:rPr lang="en-US" sz="1200" dirty="0">
                <a:solidFill>
                  <a:srgbClr val="1F2A37"/>
                </a:solidFill>
                <a:latin typeface="Calibri" pitchFamily="34" charset="0"/>
                <a:cs typeface="Amiri" pitchFamily="2" charset="-78"/>
              </a:rPr>
              <a:t> and </a:t>
            </a:r>
            <a:pPr algn="l" indent="0" marL="0">
              <a:buNone/>
            </a:pPr>
            <a:r>
              <a:rPr lang="ar-SA" altLang="en-US" sz="1550" dirty="0">
                <a:solidFill>
                  <a:srgbClr val="1F2A37"/>
                </a:solidFill>
                <a:latin typeface="Amiri" pitchFamily="2" charset="-78"/>
                <a:ea typeface="Amiri" pitchFamily="2" charset="-78"/>
                <a:cs typeface="Amiri" pitchFamily="2" charset="-78"/>
              </a:rPr>
              <a:t>بَيْنَمَا</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Include a real condition with </a:t>
            </a:r>
            <a:pPr algn="l" indent="0" marL="0">
              <a:buNone/>
            </a:pPr>
            <a:r>
              <a:rPr lang="ar-SA" altLang="en-US" sz="1550" dirty="0">
                <a:solidFill>
                  <a:srgbClr val="1F2A37"/>
                </a:solidFill>
                <a:latin typeface="Amiri" pitchFamily="2" charset="-78"/>
                <a:ea typeface="Amiri" pitchFamily="2" charset="-78"/>
                <a:cs typeface="Amiri" pitchFamily="2" charset="-78"/>
              </a:rPr>
              <a:t>إِذَا</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Use three frequency expressions.</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Evaluate the balance of rest, family, study and free time.</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FROM THE WEBSITE TEXTS</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لَا أَتَّبِعُ جَدْوَلًا صَارِمًا</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don’t follow a strict timetable</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إِذَا كَانَ الطَّقْسُ مُنَاسِبًا</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if the weather is suitable</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نَادِرًا مَا أَقْضِي اليَوْمَ كُلَّهُ فِي البَيْتِ</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rarely spend the whole day at home</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تَجْمَعُ بَيْنَ الرَّاحَةِ وَالأُسْرَةِ وَالمَسْؤُولِيَّةِ</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it combines rest, family and responsibility</a:t>
            </a:r>
            <a:endParaRPr lang="en-US" sz="1050" dirty="0"/>
          </a:p>
        </p:txBody>
      </p:sp>
      <p:sp>
        <p:nvSpPr>
          <p:cNvPr id="34" name="Text 31"/>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وَلٰكِنَّنِي أُرِيدُ أَنْ أَقْرَأَ أَكْثَرَ</a:t>
            </a:r>
            <a:endParaRPr lang="ar-SA" sz="1800" dirty="0"/>
          </a:p>
        </p:txBody>
      </p:sp>
      <p:sp>
        <p:nvSpPr>
          <p:cNvPr id="35" name="Text 32"/>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but I want to read more</a:t>
            </a:r>
            <a:endParaRPr lang="en-US" sz="105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46</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D1-L08 · Weekend Routine</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D1-L08</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300" dirty="0">
                <a:solidFill>
                  <a:srgbClr val="1F2A37"/>
                </a:solidFill>
                <a:latin typeface="Amiri" pitchFamily="2" charset="-78"/>
                <a:ea typeface="Amiri" pitchFamily="2" charset="-78"/>
                <a:cs typeface="Amiri" pitchFamily="2" charset="-78"/>
              </a:rPr>
              <a:t>يَخْتَلِفُ رُوتِينِي فِي نِهَايَةِ الأُسْبُوعِ عَنْ أَيَّامِ الدِّرَاسَةِ. أَمَّا يَوْمُ السَّبْتِ فَأَسْتَيْقِظُ مُتَأَخِّرًا قَلِيلًا، ثُمَّ أُسَاعِدُ أُسْرَتِي فِي البَيْتِ. غَالِبًا مَا أَزُورُ أَقَارِبِي فِي بَعْدِ الظُّهْرِ، وَإِذَا كَانَ لَدَيَّ وَقْتٌ أَلْتَقِي بِأَصْدِقَائِي. فِي المَسَاءِ أُمَارِسُ هِوَايَتِي، بَيْنَمَا يُشَاهِدُ أَخِي الرِّيَاضَةَ. يَوْمَ الأَحَدِ أُرَاجِعُ دُرُوسِي لِمُدَّةِ سَاعَةٍ وَأُحَضِّرُ حَقِيبَتِي. نَادِرًا مَا أَقْضِي اليَوْمَ كُلَّهُ فِي البَيْتِ. فِي رَأْيِي، عُطْلَتِي مُتَوَازِنَةٌ لِأَنَّهَا تَجْمَعُ بَيْنَ الرَّاحَةِ وَالأُسْرَةِ وَالمَسْؤُولِيَّةِ، وَلٰكِنَّنِي أُرِيدُ أَنْ أَقْرَأَ أَكْثَرَ.</a:t>
            </a:r>
            <a:endParaRPr lang="ar-SA" sz="23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My weekend routine is different from school days. As for Saturday, I wake up a little late, then I help my family at home. I often visit my relatives in the afternoon, and if I have time I meet my friends. In the evening I practise my hobby, whereas my brother watches sport. On Sunday I revise my lessons for an hour and prepare my bag. I rarely spend the whole day at home. In my opinion, my weekend is balanced because it combines rest, family and responsibility, but I want to read more.</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أَمَّا … فَـ</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an “if” condition</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three frequency expressions</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the judgement with a reason</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36 / 46</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D1-L08 · Weekend Routine</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D1-L08</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about both Saturday and Sunday.</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“as for … fa-” in the right order.</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After “whereas”, the verb matches the new person.</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two flexible frequency expressions.</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“if” and judged the balance with evidence.</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37 / 46</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D1-L08 · Weekend Routine</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D1-L08</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أَمَّا السَّبْتُ</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أَسْتَرِيحُ</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فَـ</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بَيْنَمَا</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إِذَا</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a real condition.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لِأَنَّ كَانَ لَدَيَّ وَقْتٌ.</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إِذَا كَانَ لَدَيَّ وَقْتٌ أَخْرُجُ.</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إِذَا الوَقْتُ خَرَجْتُ أَمْسِ.</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correct contrast.</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2" charset="-78"/>
                <a:ea typeface="Amiri" pitchFamily="2" charset="-78"/>
                <a:cs typeface="Amiri" pitchFamily="2" charset="-78"/>
              </a:rPr>
              <a:t>أَقْرَأُ، بَيْنَمَا يُشَاهِدُ أَخِي مُبَارَاةً.</a:t>
            </a:r>
            <a:endParaRPr lang="ar-SA" sz="200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2" charset="-78"/>
                <a:ea typeface="Amiri" pitchFamily="2" charset="-78"/>
                <a:cs typeface="Amiri" pitchFamily="2" charset="-78"/>
              </a:rPr>
              <a:t>أَقْرَأُ، بَيْنَمَا تُشَاهِدُ أَخِي.</a:t>
            </a:r>
            <a:endParaRPr lang="ar-SA" sz="200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2" charset="-78"/>
                <a:ea typeface="Amiri" pitchFamily="2" charset="-78"/>
                <a:cs typeface="Amiri" pitchFamily="2" charset="-78"/>
              </a:rPr>
              <a:t>أَقْرَأُ بَيْنَمَا أَخِي أُشَاهِدُ.</a:t>
            </a:r>
            <a:endParaRPr lang="ar-SA" sz="200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38 / 46</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D1-L08 · Weekend Routine</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D1-L08</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أَمَّا السَّبْتُ</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أَسْتَرِيحُ</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فَـ</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بَيْنَمَا</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إِذَا</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أَمَّا</a:t>
            </a:r>
            <a:pPr algn="l" indent="0" marL="0">
              <a:buNone/>
            </a:pPr>
            <a:r>
              <a:rPr lang="en-US" sz="1050" i="1" dirty="0">
                <a:solidFill>
                  <a:srgbClr val="8A6D1E"/>
                </a:solidFill>
                <a:latin typeface="Calibri" pitchFamily="34" charset="0"/>
                <a:cs typeface="Amiri" pitchFamily="2" charset="-78"/>
              </a:rPr>
              <a:t> takes </a:t>
            </a:r>
            <a:pPr algn="l" indent="0" marL="0">
              <a:buNone/>
            </a:pPr>
            <a:r>
              <a:rPr lang="ar-SA" altLang="en-US" sz="1350" dirty="0">
                <a:solidFill>
                  <a:srgbClr val="8A6D1E"/>
                </a:solidFill>
                <a:latin typeface="Amiri" pitchFamily="2" charset="-78"/>
                <a:ea typeface="Amiri" pitchFamily="2" charset="-78"/>
                <a:cs typeface="Amiri" pitchFamily="2" charset="-78"/>
              </a:rPr>
              <a:t>فَـ</a:t>
            </a:r>
            <a:pPr algn="l" indent="0" marL="0">
              <a:buNone/>
            </a:pPr>
            <a:r>
              <a:rPr lang="en-US" sz="1050" i="1" dirty="0">
                <a:solidFill>
                  <a:srgbClr val="8A6D1E"/>
                </a:solidFill>
                <a:latin typeface="Calibri" pitchFamily="34" charset="0"/>
                <a:cs typeface="Amiri" pitchFamily="2" charset="-78"/>
              </a:rPr>
              <a:t> before the comment.</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a real condition.</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لِأَنَّ كَانَ لَدَيَّ وَقْتٌ.</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إِذَا كَانَ لَدَيَّ وَقْتٌ أَخْرُجُ.</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إِذَا الوَقْتُ خَرَجْتُ أَمْسِ.</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first is a coherent repeated condition.</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correct contrast.</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أَقْرَأُ، بَيْنَمَا يُشَاهِدُ أَخِي مُبَارَاةً.</a:t>
            </a:r>
            <a:endParaRPr lang="ar-SA" sz="200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00" dirty="0">
                <a:solidFill>
                  <a:srgbClr val="9AA1AB"/>
                </a:solidFill>
                <a:latin typeface="Amiri" pitchFamily="2" charset="-78"/>
                <a:ea typeface="Amiri" pitchFamily="2" charset="-78"/>
                <a:cs typeface="Amiri" pitchFamily="2" charset="-78"/>
              </a:rPr>
              <a:t>أَقْرَأُ، بَيْنَمَا تُشَاهِدُ أَخِي.</a:t>
            </a:r>
            <a:endParaRPr lang="ar-SA" sz="200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00" dirty="0">
                <a:solidFill>
                  <a:srgbClr val="9AA1AB"/>
                </a:solidFill>
                <a:latin typeface="Amiri" pitchFamily="2" charset="-78"/>
                <a:ea typeface="Amiri" pitchFamily="2" charset="-78"/>
                <a:cs typeface="Amiri" pitchFamily="2" charset="-78"/>
              </a:rPr>
              <a:t>أَقْرَأُ بَيْنَمَا أَخِي أُشَاهِدُ.</a:t>
            </a:r>
            <a:endParaRPr lang="ar-SA" sz="200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brother takes </a:t>
            </a:r>
            <a:pPr algn="l" indent="0" marL="0">
              <a:buNone/>
            </a:pPr>
            <a:r>
              <a:rPr lang="ar-SA" altLang="en-US" sz="1350" dirty="0">
                <a:solidFill>
                  <a:srgbClr val="8A6D1E"/>
                </a:solidFill>
                <a:latin typeface="Amiri" pitchFamily="2" charset="-78"/>
                <a:ea typeface="Amiri" pitchFamily="2" charset="-78"/>
                <a:cs typeface="Amiri" pitchFamily="2" charset="-78"/>
              </a:rPr>
              <a:t>يُشَاهِدُ</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39 / 46</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D1-L08 · Weekend Routine</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FAST FINISHERS OR HOMEWORK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weekend with choices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D1-L08</a:t>
            </a:r>
            <a:endParaRPr lang="en-US" sz="850" dirty="0"/>
          </a:p>
        </p:txBody>
      </p:sp>
      <p:sp>
        <p:nvSpPr>
          <p:cNvPr id="17" name="Shape 14"/>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يَخْتَلِفُ رُوتِينُ عُطْلَتِي عَنْ رُوتِينِي فِي أَيَّامِ الدِّرَاسَةِ. أَمَّا يَوْمُ السَّبْتِ فَأَسْتَيْقِظُ فِي الثَّامِنَةِ، وَغَالِبًا مَا أَذْهَبُ إِلَى السُّوقِ مَعَ أُمِّي. إِذَا كَانَ الطَّقْسُ مُنَاسِبًا نَمْشِي فِي الحَدِيقَةِ، وَإِذَا كُنَّا مُتْعَبِينَ نَعُودُ إِلَى البَيْتِ مُبَكِّرًا. فِي المَسَاءِ أُمَارِسُ هِوَايَتِي، بَيْنَمَا يُشَاهِدُ أَخِي مُبَارَاةً. يَوْمَ الأَحَدِ أُرَاجِعُ دُرُوسِي وَأُحَضِّرُ حَقِيبَتِي لِلْمَدْرَسَةِ. لَا أُرِيدُ أَنْ يَكُونَ كُلُّ وَقْتِي دِرَاسَةً، وَلَا أَنْ يَكُونَ كُلُّهُ رَاحَةً؛ فَالتَّوَازُنُ يُسَاعِدُنِي عَلَى بَدْءِ الأُسْبُوعِ بِنَشَاطٍ.</a:t>
            </a:r>
            <a:endParaRPr lang="ar-SA" sz="2600" dirty="0"/>
          </a:p>
        </p:txBody>
      </p:sp>
      <p:sp>
        <p:nvSpPr>
          <p:cNvPr id="19" name="Shape 16"/>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21" name="Text 18"/>
          <p:cNvSpPr txBox="1"/>
          <p:nvPr/>
        </p:nvSpPr>
        <p:spPr>
          <a:xfrm>
            <a:off x="10102291" y="221284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يَخْتَلِفُ … عَنْ</a:t>
            </a:r>
            <a:endParaRPr lang="ar-SA" sz="1600" dirty="0"/>
          </a:p>
        </p:txBody>
      </p:sp>
      <p:sp>
        <p:nvSpPr>
          <p:cNvPr id="22" name="Text 19"/>
          <p:cNvSpPr txBox="1"/>
          <p:nvPr/>
        </p:nvSpPr>
        <p:spPr>
          <a:xfrm>
            <a:off x="8851392" y="221284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differs from</a:t>
            </a:r>
            <a:endParaRPr lang="en-US" sz="1050" dirty="0"/>
          </a:p>
        </p:txBody>
      </p:sp>
      <p:sp>
        <p:nvSpPr>
          <p:cNvPr id="23" name="Text 20"/>
          <p:cNvSpPr txBox="1"/>
          <p:nvPr/>
        </p:nvSpPr>
        <p:spPr>
          <a:xfrm>
            <a:off x="10102291" y="261518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السُّوقِ</a:t>
            </a:r>
            <a:endParaRPr lang="ar-SA" sz="1600" dirty="0"/>
          </a:p>
        </p:txBody>
      </p:sp>
      <p:sp>
        <p:nvSpPr>
          <p:cNvPr id="24" name="Text 21"/>
          <p:cNvSpPr txBox="1"/>
          <p:nvPr/>
        </p:nvSpPr>
        <p:spPr>
          <a:xfrm>
            <a:off x="8851392" y="261518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market</a:t>
            </a:r>
            <a:endParaRPr lang="en-US" sz="1050" dirty="0"/>
          </a:p>
        </p:txBody>
      </p:sp>
      <p:sp>
        <p:nvSpPr>
          <p:cNvPr id="25" name="Text 22"/>
          <p:cNvSpPr txBox="1"/>
          <p:nvPr/>
        </p:nvSpPr>
        <p:spPr>
          <a:xfrm>
            <a:off x="10102291" y="3017520"/>
            <a:ext cx="1508760" cy="402336"/>
          </a:xfrm>
          <a:prstGeom prst="rect">
            <a:avLst/>
          </a:prstGeom>
          <a:noFill/>
          <a:ln/>
        </p:spPr>
        <p:txBody>
          <a:bodyPr wrap="square" lIns="0" tIns="0" rIns="0" bIns="0" rtlCol="0" anchor="ctr"/>
          <a:lstStyle/>
          <a:p>
            <a:pPr rtl="1" algn="r" indent="0" marL="0">
              <a:buNone/>
            </a:pPr>
            <a:r>
              <a:rPr lang="ar-SA" altLang="en-US" sz="1450" b="1" dirty="0">
                <a:solidFill>
                  <a:srgbClr val="1B3B6F"/>
                </a:solidFill>
                <a:latin typeface="Amiri" pitchFamily="2" charset="-78"/>
                <a:ea typeface="Amiri" pitchFamily="2" charset="-78"/>
                <a:cs typeface="Amiri" pitchFamily="2" charset="-78"/>
              </a:rPr>
              <a:t>إِذَا كَانَ الطَّقْسُ مُنَاسِبًا</a:t>
            </a:r>
            <a:endParaRPr lang="ar-SA" sz="1450" dirty="0"/>
          </a:p>
        </p:txBody>
      </p:sp>
      <p:sp>
        <p:nvSpPr>
          <p:cNvPr id="26" name="Text 23"/>
          <p:cNvSpPr txBox="1"/>
          <p:nvPr/>
        </p:nvSpPr>
        <p:spPr>
          <a:xfrm>
            <a:off x="8851392" y="301752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if the weather is suitable</a:t>
            </a:r>
            <a:endParaRPr lang="en-US" sz="1050" dirty="0"/>
          </a:p>
        </p:txBody>
      </p:sp>
      <p:sp>
        <p:nvSpPr>
          <p:cNvPr id="27" name="Text 24"/>
          <p:cNvSpPr txBox="1"/>
          <p:nvPr/>
        </p:nvSpPr>
        <p:spPr>
          <a:xfrm>
            <a:off x="10102291" y="341985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مُتْعَبِينَ</a:t>
            </a:r>
            <a:endParaRPr lang="ar-SA" sz="1600" dirty="0"/>
          </a:p>
        </p:txBody>
      </p:sp>
      <p:sp>
        <p:nvSpPr>
          <p:cNvPr id="28" name="Text 25"/>
          <p:cNvSpPr txBox="1"/>
          <p:nvPr/>
        </p:nvSpPr>
        <p:spPr>
          <a:xfrm>
            <a:off x="8851392" y="341985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tired (pl.)</a:t>
            </a:r>
            <a:endParaRPr lang="en-US" sz="1050" dirty="0"/>
          </a:p>
        </p:txBody>
      </p:sp>
      <p:sp>
        <p:nvSpPr>
          <p:cNvPr id="29" name="Text 26"/>
          <p:cNvSpPr txBox="1"/>
          <p:nvPr/>
        </p:nvSpPr>
        <p:spPr>
          <a:xfrm>
            <a:off x="10102291" y="382219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مُبَارَاةً</a:t>
            </a:r>
            <a:endParaRPr lang="ar-SA" sz="1600" dirty="0"/>
          </a:p>
        </p:txBody>
      </p:sp>
      <p:sp>
        <p:nvSpPr>
          <p:cNvPr id="30" name="Text 27"/>
          <p:cNvSpPr txBox="1"/>
          <p:nvPr/>
        </p:nvSpPr>
        <p:spPr>
          <a:xfrm>
            <a:off x="8851392" y="382219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 match</a:t>
            </a:r>
            <a:endParaRPr lang="en-US" sz="1050" dirty="0"/>
          </a:p>
        </p:txBody>
      </p:sp>
      <p:sp>
        <p:nvSpPr>
          <p:cNvPr id="31" name="Text 28"/>
          <p:cNvSpPr txBox="1"/>
          <p:nvPr/>
        </p:nvSpPr>
        <p:spPr>
          <a:xfrm>
            <a:off x="10102291" y="422452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أُحَضِّرُ حَقِيبَتِي</a:t>
            </a:r>
            <a:endParaRPr lang="ar-SA" sz="1600" dirty="0"/>
          </a:p>
        </p:txBody>
      </p:sp>
      <p:sp>
        <p:nvSpPr>
          <p:cNvPr id="32" name="Text 29"/>
          <p:cNvSpPr txBox="1"/>
          <p:nvPr/>
        </p:nvSpPr>
        <p:spPr>
          <a:xfrm>
            <a:off x="8851392" y="422452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 prepare my bag</a:t>
            </a:r>
            <a:endParaRPr lang="en-US" sz="1050" dirty="0"/>
          </a:p>
        </p:txBody>
      </p:sp>
      <p:sp>
        <p:nvSpPr>
          <p:cNvPr id="33" name="Text 30"/>
          <p:cNvSpPr txBox="1"/>
          <p:nvPr/>
        </p:nvSpPr>
        <p:spPr>
          <a:xfrm>
            <a:off x="10102291" y="462686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كُلُّ وَقْتِي</a:t>
            </a:r>
            <a:endParaRPr lang="ar-SA" sz="1600" dirty="0"/>
          </a:p>
        </p:txBody>
      </p:sp>
      <p:sp>
        <p:nvSpPr>
          <p:cNvPr id="34" name="Text 31"/>
          <p:cNvSpPr txBox="1"/>
          <p:nvPr/>
        </p:nvSpPr>
        <p:spPr>
          <a:xfrm>
            <a:off x="8851392" y="462686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all my time</a:t>
            </a:r>
            <a:endParaRPr lang="en-US" sz="1050" dirty="0"/>
          </a:p>
        </p:txBody>
      </p:sp>
      <p:sp>
        <p:nvSpPr>
          <p:cNvPr id="35" name="Text 32"/>
          <p:cNvSpPr txBox="1"/>
          <p:nvPr/>
        </p:nvSpPr>
        <p:spPr>
          <a:xfrm>
            <a:off x="10102291" y="502920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دِرَاسَةً</a:t>
            </a:r>
            <a:endParaRPr lang="ar-SA" sz="1600" dirty="0"/>
          </a:p>
        </p:txBody>
      </p:sp>
      <p:sp>
        <p:nvSpPr>
          <p:cNvPr id="36" name="Text 33"/>
          <p:cNvSpPr txBox="1"/>
          <p:nvPr/>
        </p:nvSpPr>
        <p:spPr>
          <a:xfrm>
            <a:off x="8851392" y="502920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study</a:t>
            </a:r>
            <a:endParaRPr lang="en-US" sz="1050" dirty="0"/>
          </a:p>
        </p:txBody>
      </p:sp>
      <p:sp>
        <p:nvSpPr>
          <p:cNvPr id="37" name="Text 34"/>
          <p:cNvSpPr txBox="1"/>
          <p:nvPr/>
        </p:nvSpPr>
        <p:spPr>
          <a:xfrm>
            <a:off x="10102291" y="543153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فَالتَّوَازُنُ</a:t>
            </a:r>
            <a:endParaRPr lang="ar-SA" sz="1600" dirty="0"/>
          </a:p>
        </p:txBody>
      </p:sp>
      <p:sp>
        <p:nvSpPr>
          <p:cNvPr id="38" name="Text 35"/>
          <p:cNvSpPr txBox="1"/>
          <p:nvPr/>
        </p:nvSpPr>
        <p:spPr>
          <a:xfrm>
            <a:off x="8851392" y="543153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for balance</a:t>
            </a:r>
            <a:endParaRPr lang="en-US" sz="1050" dirty="0"/>
          </a:p>
        </p:txBody>
      </p:sp>
      <p:sp>
        <p:nvSpPr>
          <p:cNvPr id="39" name="Text 36"/>
          <p:cNvSpPr txBox="1"/>
          <p:nvPr/>
        </p:nvSpPr>
        <p:spPr>
          <a:xfrm>
            <a:off x="10102291" y="583387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بِنَشَاطٍ</a:t>
            </a:r>
            <a:endParaRPr lang="ar-SA" sz="1600" dirty="0"/>
          </a:p>
        </p:txBody>
      </p:sp>
      <p:sp>
        <p:nvSpPr>
          <p:cNvPr id="40" name="Text 37"/>
          <p:cNvSpPr txBox="1"/>
          <p:nvPr/>
        </p:nvSpPr>
        <p:spPr>
          <a:xfrm>
            <a:off x="8851392" y="583387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energetically</a:t>
            </a:r>
            <a:endParaRPr lang="en-US" sz="10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40 / 46</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D1-L08 · Weekend Routine</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QUESTIONS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questions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D1-L08</a:t>
            </a:r>
            <a:endParaRPr lang="en-US" sz="850" dirty="0"/>
          </a:p>
        </p:txBody>
      </p:sp>
      <p:sp>
        <p:nvSpPr>
          <p:cNvPr id="17" name="Shape 14"/>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does the weekend differ?</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starts at school</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less like the fixed school routine</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contains no responsibilities</a:t>
            </a:r>
            <a:endParaRPr lang="en-US" sz="1250" dirty="0"/>
          </a:p>
        </p:txBody>
      </p:sp>
      <p:sp>
        <p:nvSpPr>
          <p:cNvPr id="30" name="Shape 27"/>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3449574"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often happens Saturday?</a:t>
            </a:r>
            <a:endParaRPr lang="en-US" sz="1250" dirty="0"/>
          </a:p>
        </p:txBody>
      </p:sp>
      <p:sp>
        <p:nvSpPr>
          <p:cNvPr id="34" name="Shape 31"/>
          <p:cNvSpPr/>
          <p:nvPr/>
        </p:nvSpPr>
        <p:spPr>
          <a:xfrm>
            <a:off x="3504438"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350443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3833622"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school lessons</a:t>
            </a:r>
            <a:endParaRPr lang="en-US" sz="1250" dirty="0"/>
          </a:p>
        </p:txBody>
      </p:sp>
      <p:sp>
        <p:nvSpPr>
          <p:cNvPr id="37" name="Shape 34"/>
          <p:cNvSpPr/>
          <p:nvPr/>
        </p:nvSpPr>
        <p:spPr>
          <a:xfrm>
            <a:off x="3504438"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350443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3833622"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training with brother</a:t>
            </a:r>
            <a:endParaRPr lang="en-US" sz="1250" dirty="0"/>
          </a:p>
        </p:txBody>
      </p:sp>
      <p:sp>
        <p:nvSpPr>
          <p:cNvPr id="40" name="Shape 37"/>
          <p:cNvSpPr/>
          <p:nvPr/>
        </p:nvSpPr>
        <p:spPr>
          <a:xfrm>
            <a:off x="3504438"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350443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3833622"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shopping with mother</a:t>
            </a:r>
            <a:endParaRPr lang="en-US" sz="1250" dirty="0"/>
          </a:p>
        </p:txBody>
      </p:sp>
      <p:sp>
        <p:nvSpPr>
          <p:cNvPr id="43" name="Shape 40"/>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6313932"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affects the park walk?</a:t>
            </a:r>
            <a:endParaRPr lang="en-US" sz="1250" dirty="0"/>
          </a:p>
        </p:txBody>
      </p:sp>
      <p:sp>
        <p:nvSpPr>
          <p:cNvPr id="47" name="Shape 44"/>
          <p:cNvSpPr/>
          <p:nvPr/>
        </p:nvSpPr>
        <p:spPr>
          <a:xfrm>
            <a:off x="6368796"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6697980"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weather and tiredness</a:t>
            </a:r>
            <a:endParaRPr lang="en-US" sz="1250" dirty="0"/>
          </a:p>
        </p:txBody>
      </p:sp>
      <p:sp>
        <p:nvSpPr>
          <p:cNvPr id="50" name="Shape 47"/>
          <p:cNvSpPr/>
          <p:nvPr/>
        </p:nvSpPr>
        <p:spPr>
          <a:xfrm>
            <a:off x="6368796"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6697980"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homework marks</a:t>
            </a:r>
            <a:endParaRPr lang="en-US" sz="1250" dirty="0"/>
          </a:p>
        </p:txBody>
      </p:sp>
      <p:sp>
        <p:nvSpPr>
          <p:cNvPr id="53" name="Shape 50"/>
          <p:cNvSpPr/>
          <p:nvPr/>
        </p:nvSpPr>
        <p:spPr>
          <a:xfrm>
            <a:off x="6368796"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6697980"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bus prices</a:t>
            </a:r>
            <a:endParaRPr lang="en-US" sz="1250" dirty="0"/>
          </a:p>
        </p:txBody>
      </p:sp>
      <p:sp>
        <p:nvSpPr>
          <p:cNvPr id="56" name="Shape 53"/>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9178290" y="1947672"/>
            <a:ext cx="310896" cy="310896"/>
          </a:xfrm>
          <a:prstGeom prst="ellipse">
            <a:avLst/>
          </a:prstGeom>
          <a:solidFill>
            <a:srgbClr val="1B3B6F"/>
          </a:solidFill>
          <a:ln w="12700">
            <a:solidFill>
              <a:srgbClr val="1B3B6F"/>
            </a:solidFill>
            <a:prstDash val="solid"/>
          </a:ln>
        </p:spPr>
      </p:sp>
      <p:sp>
        <p:nvSpPr>
          <p:cNvPr id="58" name="Text 55"/>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brother do in the evening?</a:t>
            </a:r>
            <a:endParaRPr lang="en-US" sz="1250" dirty="0"/>
          </a:p>
        </p:txBody>
      </p:sp>
      <p:sp>
        <p:nvSpPr>
          <p:cNvPr id="60" name="Shape 57"/>
          <p:cNvSpPr/>
          <p:nvPr/>
        </p:nvSpPr>
        <p:spPr>
          <a:xfrm>
            <a:off x="9233154" y="2532888"/>
            <a:ext cx="256032" cy="256032"/>
          </a:xfrm>
          <a:prstGeom prst="ellipse">
            <a:avLst/>
          </a:prstGeom>
          <a:solidFill>
            <a:srgbClr val="F4F1EA"/>
          </a:solidFill>
          <a:ln w="12700">
            <a:solidFill>
              <a:srgbClr val="F4F1EA"/>
            </a:solidFill>
            <a:prstDash val="solid"/>
          </a:ln>
        </p:spPr>
      </p:sp>
      <p:sp>
        <p:nvSpPr>
          <p:cNvPr id="61" name="Text 58"/>
          <p:cNvSpPr txBox="1"/>
          <p:nvPr/>
        </p:nvSpPr>
        <p:spPr>
          <a:xfrm>
            <a:off x="923315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562338"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practises the writer’s hobby</a:t>
            </a:r>
            <a:endParaRPr lang="en-US" sz="1250" dirty="0"/>
          </a:p>
        </p:txBody>
      </p:sp>
      <p:sp>
        <p:nvSpPr>
          <p:cNvPr id="63" name="Shape 60"/>
          <p:cNvSpPr/>
          <p:nvPr/>
        </p:nvSpPr>
        <p:spPr>
          <a:xfrm>
            <a:off x="9233154" y="2990088"/>
            <a:ext cx="256032" cy="256032"/>
          </a:xfrm>
          <a:prstGeom prst="ellipse">
            <a:avLst/>
          </a:prstGeom>
          <a:solidFill>
            <a:srgbClr val="F4F1EA"/>
          </a:solidFill>
          <a:ln w="12700">
            <a:solidFill>
              <a:srgbClr val="F4F1EA"/>
            </a:solidFill>
            <a:prstDash val="solid"/>
          </a:ln>
        </p:spPr>
      </p:sp>
      <p:sp>
        <p:nvSpPr>
          <p:cNvPr id="64" name="Text 61"/>
          <p:cNvSpPr txBox="1"/>
          <p:nvPr/>
        </p:nvSpPr>
        <p:spPr>
          <a:xfrm>
            <a:off x="923315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562338"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watches a match</a:t>
            </a:r>
            <a:endParaRPr lang="en-US" sz="1250" dirty="0"/>
          </a:p>
        </p:txBody>
      </p:sp>
      <p:sp>
        <p:nvSpPr>
          <p:cNvPr id="66" name="Shape 63"/>
          <p:cNvSpPr/>
          <p:nvPr/>
        </p:nvSpPr>
        <p:spPr>
          <a:xfrm>
            <a:off x="9233154" y="3447288"/>
            <a:ext cx="256032" cy="256032"/>
          </a:xfrm>
          <a:prstGeom prst="ellipse">
            <a:avLst/>
          </a:prstGeom>
          <a:solidFill>
            <a:srgbClr val="F4F1EA"/>
          </a:solidFill>
          <a:ln w="12700">
            <a:solidFill>
              <a:srgbClr val="F4F1EA"/>
            </a:solidFill>
            <a:prstDash val="solid"/>
          </a:ln>
        </p:spPr>
      </p:sp>
      <p:sp>
        <p:nvSpPr>
          <p:cNvPr id="67" name="Text 64"/>
          <p:cNvSpPr txBox="1"/>
          <p:nvPr/>
        </p:nvSpPr>
        <p:spPr>
          <a:xfrm>
            <a:off x="923315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562338"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prepares a school bag</a:t>
            </a:r>
            <a:endParaRPr lang="en-US" sz="1250" dirty="0"/>
          </a:p>
        </p:txBody>
      </p:sp>
      <p:sp>
        <p:nvSpPr>
          <p:cNvPr id="69" name="Shape 66"/>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585216"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happens Sunday?</a:t>
            </a:r>
            <a:endParaRPr lang="en-US" sz="1250" dirty="0"/>
          </a:p>
        </p:txBody>
      </p:sp>
      <p:sp>
        <p:nvSpPr>
          <p:cNvPr id="73" name="Shape 70"/>
          <p:cNvSpPr/>
          <p:nvPr/>
        </p:nvSpPr>
        <p:spPr>
          <a:xfrm>
            <a:off x="640080"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969264"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revision and school preparation</a:t>
            </a:r>
            <a:endParaRPr lang="en-US" sz="1250" dirty="0"/>
          </a:p>
        </p:txBody>
      </p:sp>
      <p:sp>
        <p:nvSpPr>
          <p:cNvPr id="76" name="Shape 73"/>
          <p:cNvSpPr/>
          <p:nvPr/>
        </p:nvSpPr>
        <p:spPr>
          <a:xfrm>
            <a:off x="640080"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969264"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full day of sleep</a:t>
            </a:r>
            <a:endParaRPr lang="en-US" sz="1250" dirty="0"/>
          </a:p>
        </p:txBody>
      </p:sp>
      <p:sp>
        <p:nvSpPr>
          <p:cNvPr id="79" name="Shape 76"/>
          <p:cNvSpPr/>
          <p:nvPr/>
        </p:nvSpPr>
        <p:spPr>
          <a:xfrm>
            <a:off x="640080"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969264"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shopping only</a:t>
            </a:r>
            <a:endParaRPr lang="en-US" sz="1250" dirty="0"/>
          </a:p>
        </p:txBody>
      </p:sp>
      <p:sp>
        <p:nvSpPr>
          <p:cNvPr id="82" name="Shape 79"/>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3" name="Shape 80"/>
          <p:cNvSpPr/>
          <p:nvPr/>
        </p:nvSpPr>
        <p:spPr>
          <a:xfrm>
            <a:off x="3449574" y="4288536"/>
            <a:ext cx="310896" cy="310896"/>
          </a:xfrm>
          <a:prstGeom prst="ellipse">
            <a:avLst/>
          </a:prstGeom>
          <a:solidFill>
            <a:srgbClr val="1B3B6F"/>
          </a:solidFill>
          <a:ln w="12700">
            <a:solidFill>
              <a:srgbClr val="1B3B6F"/>
            </a:solidFill>
            <a:prstDash val="solid"/>
          </a:ln>
        </p:spPr>
      </p:sp>
      <p:sp>
        <p:nvSpPr>
          <p:cNvPr id="84" name="Text 81"/>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5" name="Text 82"/>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final message?</a:t>
            </a:r>
            <a:endParaRPr lang="en-US" sz="1250" dirty="0"/>
          </a:p>
        </p:txBody>
      </p:sp>
      <p:sp>
        <p:nvSpPr>
          <p:cNvPr id="86" name="Shape 83"/>
          <p:cNvSpPr/>
          <p:nvPr/>
        </p:nvSpPr>
        <p:spPr>
          <a:xfrm>
            <a:off x="3504438" y="4873752"/>
            <a:ext cx="256032" cy="256032"/>
          </a:xfrm>
          <a:prstGeom prst="ellipse">
            <a:avLst/>
          </a:prstGeom>
          <a:solidFill>
            <a:srgbClr val="F4F1EA"/>
          </a:solidFill>
          <a:ln w="12700">
            <a:solidFill>
              <a:srgbClr val="F4F1EA"/>
            </a:solidFill>
            <a:prstDash val="solid"/>
          </a:ln>
        </p:spPr>
      </p:sp>
      <p:sp>
        <p:nvSpPr>
          <p:cNvPr id="87" name="Text 84"/>
          <p:cNvSpPr txBox="1"/>
          <p:nvPr/>
        </p:nvSpPr>
        <p:spPr>
          <a:xfrm>
            <a:off x="350443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8" name="Text 85"/>
          <p:cNvSpPr txBox="1"/>
          <p:nvPr/>
        </p:nvSpPr>
        <p:spPr>
          <a:xfrm>
            <a:off x="3833622"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weekends should contain only study</a:t>
            </a:r>
            <a:endParaRPr lang="en-US" sz="1250" dirty="0"/>
          </a:p>
        </p:txBody>
      </p:sp>
      <p:sp>
        <p:nvSpPr>
          <p:cNvPr id="89" name="Shape 86"/>
          <p:cNvSpPr/>
          <p:nvPr/>
        </p:nvSpPr>
        <p:spPr>
          <a:xfrm>
            <a:off x="3504438" y="5330952"/>
            <a:ext cx="256032" cy="256032"/>
          </a:xfrm>
          <a:prstGeom prst="ellipse">
            <a:avLst/>
          </a:prstGeom>
          <a:solidFill>
            <a:srgbClr val="F4F1EA"/>
          </a:solidFill>
          <a:ln w="12700">
            <a:solidFill>
              <a:srgbClr val="F4F1EA"/>
            </a:solidFill>
            <a:prstDash val="solid"/>
          </a:ln>
        </p:spPr>
      </p:sp>
      <p:sp>
        <p:nvSpPr>
          <p:cNvPr id="90" name="Text 87"/>
          <p:cNvSpPr txBox="1"/>
          <p:nvPr/>
        </p:nvSpPr>
        <p:spPr>
          <a:xfrm>
            <a:off x="350443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1" name="Text 88"/>
          <p:cNvSpPr txBox="1"/>
          <p:nvPr/>
        </p:nvSpPr>
        <p:spPr>
          <a:xfrm>
            <a:off x="3833622"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all routines must be strict</a:t>
            </a:r>
            <a:endParaRPr lang="en-US" sz="1250" dirty="0"/>
          </a:p>
        </p:txBody>
      </p:sp>
      <p:sp>
        <p:nvSpPr>
          <p:cNvPr id="92" name="Shape 89"/>
          <p:cNvSpPr/>
          <p:nvPr/>
        </p:nvSpPr>
        <p:spPr>
          <a:xfrm>
            <a:off x="3504438" y="5788152"/>
            <a:ext cx="256032" cy="256032"/>
          </a:xfrm>
          <a:prstGeom prst="ellipse">
            <a:avLst/>
          </a:prstGeom>
          <a:solidFill>
            <a:srgbClr val="F4F1EA"/>
          </a:solidFill>
          <a:ln w="12700">
            <a:solidFill>
              <a:srgbClr val="F4F1EA"/>
            </a:solidFill>
            <a:prstDash val="solid"/>
          </a:ln>
        </p:spPr>
      </p:sp>
      <p:sp>
        <p:nvSpPr>
          <p:cNvPr id="93" name="Text 90"/>
          <p:cNvSpPr txBox="1"/>
          <p:nvPr/>
        </p:nvSpPr>
        <p:spPr>
          <a:xfrm>
            <a:off x="350443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4" name="Text 91"/>
          <p:cNvSpPr txBox="1"/>
          <p:nvPr/>
        </p:nvSpPr>
        <p:spPr>
          <a:xfrm>
            <a:off x="3833622"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balance supports an energetic start</a:t>
            </a:r>
            <a:endParaRPr lang="en-US" sz="1250" dirty="0"/>
          </a:p>
        </p:txBody>
      </p:sp>
      <p:sp>
        <p:nvSpPr>
          <p:cNvPr id="95" name="Shape 92"/>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6" name="Text 93"/>
          <p:cNvSpPr txBox="1"/>
          <p:nvPr/>
        </p:nvSpPr>
        <p:spPr>
          <a:xfrm>
            <a:off x="6368796" y="4279392"/>
            <a:ext cx="2315718"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97" name="Text 94"/>
          <p:cNvSpPr txBox="1"/>
          <p:nvPr/>
        </p:nvSpPr>
        <p:spPr>
          <a:xfrm>
            <a:off x="6368796" y="4590288"/>
            <a:ext cx="2315718"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98" name="Text 9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41 / 46</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D1-L08 · Weekend Routine</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D1-L08</a:t>
            </a:r>
            <a:endParaRPr lang="en-US" sz="850" dirty="0"/>
          </a:p>
        </p:txBody>
      </p:sp>
      <p:sp>
        <p:nvSpPr>
          <p:cNvPr id="17" name="Shape 14"/>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does the weekend differ?</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starts at school</a:t>
            </a:r>
            <a:endParaRPr lang="en-US" sz="1250" dirty="0"/>
          </a:p>
        </p:txBody>
      </p:sp>
      <p:sp>
        <p:nvSpPr>
          <p:cNvPr id="24" name="Shape 21"/>
          <p:cNvSpPr/>
          <p:nvPr/>
        </p:nvSpPr>
        <p:spPr>
          <a:xfrm>
            <a:off x="548640" y="2825496"/>
            <a:ext cx="2498598" cy="347472"/>
          </a:xfrm>
          <a:prstGeom prst="roundRect">
            <a:avLst>
              <a:gd name="adj" fmla="val 15789"/>
            </a:avLst>
          </a:prstGeom>
          <a:solidFill>
            <a:srgbClr val="E6F4EC"/>
          </a:solidFill>
          <a:ln w="9525">
            <a:solidFill>
              <a:srgbClr val="2E8B57"/>
            </a:solidFill>
            <a:prstDash val="solid"/>
          </a:ln>
        </p:spPr>
      </p:sp>
      <p:sp>
        <p:nvSpPr>
          <p:cNvPr id="25"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7" name="Text 24"/>
          <p:cNvSpPr txBox="1"/>
          <p:nvPr/>
        </p:nvSpPr>
        <p:spPr>
          <a:xfrm>
            <a:off x="969264" y="2804160"/>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it is less like the fixed school routine</a:t>
            </a:r>
            <a:endParaRPr lang="en-US" sz="1150" dirty="0"/>
          </a:p>
        </p:txBody>
      </p:sp>
      <p:sp>
        <p:nvSpPr>
          <p:cNvPr id="28"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176016"/>
            <a:ext cx="2023110" cy="371856"/>
          </a:xfrm>
          <a:prstGeom prst="rect">
            <a:avLst/>
          </a:prstGeom>
          <a:noFill/>
          <a:ln/>
        </p:spPr>
        <p:txBody>
          <a:bodyPr wrap="square" lIns="0" tIns="0" rIns="0" bIns="0" rtlCol="0" anchor="ctr"/>
          <a:lstStyle/>
          <a:p>
            <a:pPr algn="l" indent="0" marL="0">
              <a:buNone/>
            </a:pPr>
            <a:r>
              <a:rPr lang="en-US" sz="1150" dirty="0">
                <a:solidFill>
                  <a:srgbClr val="9AA1AB"/>
                </a:solidFill>
                <a:latin typeface="Calibri" pitchFamily="34" charset="0"/>
                <a:cs typeface="Amiri" pitchFamily="2" charset="-78"/>
              </a:rPr>
              <a:t>it contains no responsibilities</a:t>
            </a:r>
            <a:endParaRPr lang="en-US" sz="1150" dirty="0"/>
          </a:p>
        </p:txBody>
      </p:sp>
      <p:sp>
        <p:nvSpPr>
          <p:cNvPr id="31" name="Text 28"/>
          <p:cNvSpPr txBox="1"/>
          <p:nvPr/>
        </p:nvSpPr>
        <p:spPr>
          <a:xfrm>
            <a:off x="585216" y="3566160"/>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opening contrasts the routines.</a:t>
            </a:r>
            <a:endParaRPr lang="en-US" sz="1050" dirty="0"/>
          </a:p>
        </p:txBody>
      </p:sp>
      <p:sp>
        <p:nvSpPr>
          <p:cNvPr id="32" name="Shape 29"/>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3449574"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often happens Saturday?</a:t>
            </a:r>
            <a:endParaRPr lang="en-US" sz="1250" dirty="0"/>
          </a:p>
        </p:txBody>
      </p:sp>
      <p:sp>
        <p:nvSpPr>
          <p:cNvPr id="36" name="Shape 33"/>
          <p:cNvSpPr/>
          <p:nvPr/>
        </p:nvSpPr>
        <p:spPr>
          <a:xfrm>
            <a:off x="3504438"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350443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3833622"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school lessons</a:t>
            </a:r>
            <a:endParaRPr lang="en-US" sz="1250" dirty="0"/>
          </a:p>
        </p:txBody>
      </p:sp>
      <p:sp>
        <p:nvSpPr>
          <p:cNvPr id="39" name="Shape 36"/>
          <p:cNvSpPr/>
          <p:nvPr/>
        </p:nvSpPr>
        <p:spPr>
          <a:xfrm>
            <a:off x="3504438"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350443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3833622"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training with brother</a:t>
            </a:r>
            <a:endParaRPr lang="en-US" sz="1250" dirty="0"/>
          </a:p>
        </p:txBody>
      </p:sp>
      <p:sp>
        <p:nvSpPr>
          <p:cNvPr id="42" name="Shape 39"/>
          <p:cNvSpPr/>
          <p:nvPr/>
        </p:nvSpPr>
        <p:spPr>
          <a:xfrm>
            <a:off x="3412998" y="3197352"/>
            <a:ext cx="2498598" cy="347472"/>
          </a:xfrm>
          <a:prstGeom prst="roundRect">
            <a:avLst>
              <a:gd name="adj" fmla="val 15789"/>
            </a:avLst>
          </a:prstGeom>
          <a:solidFill>
            <a:srgbClr val="E6F4EC"/>
          </a:solidFill>
          <a:ln w="9525">
            <a:solidFill>
              <a:srgbClr val="2E8B57"/>
            </a:solidFill>
            <a:prstDash val="solid"/>
          </a:ln>
        </p:spPr>
      </p:sp>
      <p:sp>
        <p:nvSpPr>
          <p:cNvPr id="43" name="Shape 40"/>
          <p:cNvSpPr/>
          <p:nvPr/>
        </p:nvSpPr>
        <p:spPr>
          <a:xfrm>
            <a:off x="3504438" y="3233928"/>
            <a:ext cx="256032" cy="256032"/>
          </a:xfrm>
          <a:prstGeom prst="ellipse">
            <a:avLst/>
          </a:prstGeom>
          <a:solidFill>
            <a:srgbClr val="2E8B57"/>
          </a:solidFill>
          <a:ln w="12700">
            <a:solidFill>
              <a:srgbClr val="2E8B57"/>
            </a:solidFill>
            <a:prstDash val="solid"/>
          </a:ln>
        </p:spPr>
      </p:sp>
      <p:sp>
        <p:nvSpPr>
          <p:cNvPr id="44" name="Text 41"/>
          <p:cNvSpPr txBox="1"/>
          <p:nvPr/>
        </p:nvSpPr>
        <p:spPr>
          <a:xfrm>
            <a:off x="350443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5" name="Text 42"/>
          <p:cNvSpPr txBox="1"/>
          <p:nvPr/>
        </p:nvSpPr>
        <p:spPr>
          <a:xfrm>
            <a:off x="3833622" y="3176016"/>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shopping with mother</a:t>
            </a:r>
            <a:endParaRPr lang="en-US" sz="1250" dirty="0"/>
          </a:p>
        </p:txBody>
      </p:sp>
      <p:sp>
        <p:nvSpPr>
          <p:cNvPr id="46" name="Text 43"/>
          <p:cNvSpPr txBox="1"/>
          <p:nvPr/>
        </p:nvSpPr>
        <p:spPr>
          <a:xfrm>
            <a:off x="3449574"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غَالِبًا مَا أَذْهَبُ إِلَى السُّوقِ مَعَ أُمِّي.</a:t>
            </a:r>
            <a:endParaRPr lang="ar-SA" sz="1350" dirty="0"/>
          </a:p>
        </p:txBody>
      </p:sp>
      <p:sp>
        <p:nvSpPr>
          <p:cNvPr id="47" name="Shape 44"/>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6313932"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affects the park walk?</a:t>
            </a:r>
            <a:endParaRPr lang="en-US" sz="1250" dirty="0"/>
          </a:p>
        </p:txBody>
      </p:sp>
      <p:sp>
        <p:nvSpPr>
          <p:cNvPr id="51" name="Shape 48"/>
          <p:cNvSpPr/>
          <p:nvPr/>
        </p:nvSpPr>
        <p:spPr>
          <a:xfrm>
            <a:off x="6277356" y="2453640"/>
            <a:ext cx="2498598" cy="347472"/>
          </a:xfrm>
          <a:prstGeom prst="roundRect">
            <a:avLst>
              <a:gd name="adj" fmla="val 15789"/>
            </a:avLst>
          </a:prstGeom>
          <a:solidFill>
            <a:srgbClr val="E6F4EC"/>
          </a:solidFill>
          <a:ln w="9525">
            <a:solidFill>
              <a:srgbClr val="2E8B57"/>
            </a:solidFill>
            <a:prstDash val="solid"/>
          </a:ln>
        </p:spPr>
      </p:sp>
      <p:sp>
        <p:nvSpPr>
          <p:cNvPr id="52" name="Shape 49"/>
          <p:cNvSpPr/>
          <p:nvPr/>
        </p:nvSpPr>
        <p:spPr>
          <a:xfrm>
            <a:off x="6368796" y="2490216"/>
            <a:ext cx="256032" cy="256032"/>
          </a:xfrm>
          <a:prstGeom prst="ellipse">
            <a:avLst/>
          </a:prstGeom>
          <a:solidFill>
            <a:srgbClr val="2E8B57"/>
          </a:solidFill>
          <a:ln w="12700">
            <a:solidFill>
              <a:srgbClr val="2E8B57"/>
            </a:solidFill>
            <a:prstDash val="solid"/>
          </a:ln>
        </p:spPr>
      </p:sp>
      <p:sp>
        <p:nvSpPr>
          <p:cNvPr id="53" name="Text 50"/>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4" name="Text 51"/>
          <p:cNvSpPr txBox="1"/>
          <p:nvPr/>
        </p:nvSpPr>
        <p:spPr>
          <a:xfrm>
            <a:off x="6697980" y="2432304"/>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weather and tiredness</a:t>
            </a:r>
            <a:endParaRPr lang="en-US" sz="1250" dirty="0"/>
          </a:p>
        </p:txBody>
      </p:sp>
      <p:sp>
        <p:nvSpPr>
          <p:cNvPr id="55" name="Shape 52"/>
          <p:cNvSpPr/>
          <p:nvPr/>
        </p:nvSpPr>
        <p:spPr>
          <a:xfrm>
            <a:off x="6368796" y="2862072"/>
            <a:ext cx="256032" cy="256032"/>
          </a:xfrm>
          <a:prstGeom prst="ellipse">
            <a:avLst/>
          </a:prstGeom>
          <a:solidFill>
            <a:srgbClr val="C9CED6"/>
          </a:solidFill>
          <a:ln w="12700">
            <a:solidFill>
              <a:srgbClr val="C9CED6"/>
            </a:solidFill>
            <a:prstDash val="solid"/>
          </a:ln>
        </p:spPr>
      </p:sp>
      <p:sp>
        <p:nvSpPr>
          <p:cNvPr id="56" name="Text 53"/>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7" name="Text 54"/>
          <p:cNvSpPr txBox="1"/>
          <p:nvPr/>
        </p:nvSpPr>
        <p:spPr>
          <a:xfrm>
            <a:off x="6697980"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homework marks</a:t>
            </a:r>
            <a:endParaRPr lang="en-US" sz="1250" dirty="0"/>
          </a:p>
        </p:txBody>
      </p:sp>
      <p:sp>
        <p:nvSpPr>
          <p:cNvPr id="58" name="Shape 55"/>
          <p:cNvSpPr/>
          <p:nvPr/>
        </p:nvSpPr>
        <p:spPr>
          <a:xfrm>
            <a:off x="6368796" y="323392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6697980"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bus prices</a:t>
            </a:r>
            <a:endParaRPr lang="en-US" sz="1250" dirty="0"/>
          </a:p>
        </p:txBody>
      </p:sp>
      <p:sp>
        <p:nvSpPr>
          <p:cNvPr id="61" name="Text 58"/>
          <p:cNvSpPr txBox="1"/>
          <p:nvPr/>
        </p:nvSpPr>
        <p:spPr>
          <a:xfrm>
            <a:off x="6313932" y="3566160"/>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Two </a:t>
            </a:r>
            <a:pPr algn="l" indent="0" marL="0">
              <a:buNone/>
            </a:pPr>
            <a:r>
              <a:rPr lang="ar-SA" altLang="en-US" sz="1350" dirty="0">
                <a:solidFill>
                  <a:srgbClr val="8A6D1E"/>
                </a:solidFill>
                <a:latin typeface="Amiri" pitchFamily="2" charset="-78"/>
                <a:ea typeface="Amiri" pitchFamily="2" charset="-78"/>
                <a:cs typeface="Amiri" pitchFamily="2" charset="-78"/>
              </a:rPr>
              <a:t>إذا</a:t>
            </a:r>
            <a:pPr algn="l" indent="0" marL="0">
              <a:buNone/>
            </a:pPr>
            <a:r>
              <a:rPr lang="en-US" sz="1050" i="1" dirty="0">
                <a:solidFill>
                  <a:srgbClr val="8A6D1E"/>
                </a:solidFill>
                <a:latin typeface="Calibri" pitchFamily="34" charset="0"/>
                <a:cs typeface="Amiri" pitchFamily="2" charset="-78"/>
              </a:rPr>
              <a:t> clauses give conditions.</a:t>
            </a:r>
            <a:endParaRPr lang="en-US" sz="1050" dirty="0"/>
          </a:p>
        </p:txBody>
      </p:sp>
      <p:sp>
        <p:nvSpPr>
          <p:cNvPr id="62" name="Shape 59"/>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9178290" y="1947672"/>
            <a:ext cx="310896" cy="310896"/>
          </a:xfrm>
          <a:prstGeom prst="ellipse">
            <a:avLst/>
          </a:prstGeom>
          <a:solidFill>
            <a:srgbClr val="1B3B6F"/>
          </a:solidFill>
          <a:ln w="12700">
            <a:solidFill>
              <a:srgbClr val="1B3B6F"/>
            </a:solidFill>
            <a:prstDash val="solid"/>
          </a:ln>
        </p:spPr>
      </p:sp>
      <p:sp>
        <p:nvSpPr>
          <p:cNvPr id="64" name="Text 61"/>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brother do in the evening?</a:t>
            </a:r>
            <a:endParaRPr lang="en-US" sz="1250" dirty="0"/>
          </a:p>
        </p:txBody>
      </p:sp>
      <p:sp>
        <p:nvSpPr>
          <p:cNvPr id="66" name="Shape 63"/>
          <p:cNvSpPr/>
          <p:nvPr/>
        </p:nvSpPr>
        <p:spPr>
          <a:xfrm>
            <a:off x="9233154" y="2490216"/>
            <a:ext cx="256032" cy="256032"/>
          </a:xfrm>
          <a:prstGeom prst="ellipse">
            <a:avLst/>
          </a:prstGeom>
          <a:solidFill>
            <a:srgbClr val="C9CED6"/>
          </a:solidFill>
          <a:ln w="12700">
            <a:solidFill>
              <a:srgbClr val="C9CED6"/>
            </a:solidFill>
            <a:prstDash val="solid"/>
          </a:ln>
        </p:spPr>
      </p:sp>
      <p:sp>
        <p:nvSpPr>
          <p:cNvPr id="67" name="Text 64"/>
          <p:cNvSpPr txBox="1"/>
          <p:nvPr/>
        </p:nvSpPr>
        <p:spPr>
          <a:xfrm>
            <a:off x="923315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9562338" y="2432304"/>
            <a:ext cx="2023110" cy="371856"/>
          </a:xfrm>
          <a:prstGeom prst="rect">
            <a:avLst/>
          </a:prstGeom>
          <a:noFill/>
          <a:ln/>
        </p:spPr>
        <p:txBody>
          <a:bodyPr wrap="square" lIns="0" tIns="0" rIns="0" bIns="0" rtlCol="0" anchor="ctr"/>
          <a:lstStyle/>
          <a:p>
            <a:pPr algn="l" indent="0" marL="0">
              <a:buNone/>
            </a:pPr>
            <a:r>
              <a:rPr lang="en-US" sz="1150" dirty="0">
                <a:solidFill>
                  <a:srgbClr val="9AA1AB"/>
                </a:solidFill>
                <a:latin typeface="Calibri" pitchFamily="34" charset="0"/>
                <a:cs typeface="Amiri" pitchFamily="2" charset="-78"/>
              </a:rPr>
              <a:t>practises the writer’s hobby</a:t>
            </a:r>
            <a:endParaRPr lang="en-US" sz="1150" dirty="0"/>
          </a:p>
        </p:txBody>
      </p:sp>
      <p:sp>
        <p:nvSpPr>
          <p:cNvPr id="69" name="Shape 66"/>
          <p:cNvSpPr/>
          <p:nvPr/>
        </p:nvSpPr>
        <p:spPr>
          <a:xfrm>
            <a:off x="9141714" y="2825496"/>
            <a:ext cx="2498598" cy="347472"/>
          </a:xfrm>
          <a:prstGeom prst="roundRect">
            <a:avLst>
              <a:gd name="adj" fmla="val 15789"/>
            </a:avLst>
          </a:prstGeom>
          <a:solidFill>
            <a:srgbClr val="E6F4EC"/>
          </a:solidFill>
          <a:ln w="9525">
            <a:solidFill>
              <a:srgbClr val="2E8B57"/>
            </a:solidFill>
            <a:prstDash val="solid"/>
          </a:ln>
        </p:spPr>
      </p:sp>
      <p:sp>
        <p:nvSpPr>
          <p:cNvPr id="70" name="Shape 67"/>
          <p:cNvSpPr/>
          <p:nvPr/>
        </p:nvSpPr>
        <p:spPr>
          <a:xfrm>
            <a:off x="9233154" y="2862072"/>
            <a:ext cx="256032" cy="256032"/>
          </a:xfrm>
          <a:prstGeom prst="ellipse">
            <a:avLst/>
          </a:prstGeom>
          <a:solidFill>
            <a:srgbClr val="2E8B57"/>
          </a:solidFill>
          <a:ln w="12700">
            <a:solidFill>
              <a:srgbClr val="2E8B57"/>
            </a:solidFill>
            <a:prstDash val="solid"/>
          </a:ln>
        </p:spPr>
      </p:sp>
      <p:sp>
        <p:nvSpPr>
          <p:cNvPr id="71" name="Text 68"/>
          <p:cNvSpPr txBox="1"/>
          <p:nvPr/>
        </p:nvSpPr>
        <p:spPr>
          <a:xfrm>
            <a:off x="9233154"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2" name="Text 69"/>
          <p:cNvSpPr txBox="1"/>
          <p:nvPr/>
        </p:nvSpPr>
        <p:spPr>
          <a:xfrm>
            <a:off x="9562338" y="2804160"/>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watches a match</a:t>
            </a:r>
            <a:endParaRPr lang="en-US" sz="1250" dirty="0"/>
          </a:p>
        </p:txBody>
      </p:sp>
      <p:sp>
        <p:nvSpPr>
          <p:cNvPr id="73" name="Shape 70"/>
          <p:cNvSpPr/>
          <p:nvPr/>
        </p:nvSpPr>
        <p:spPr>
          <a:xfrm>
            <a:off x="9233154" y="3233928"/>
            <a:ext cx="256032" cy="256032"/>
          </a:xfrm>
          <a:prstGeom prst="ellipse">
            <a:avLst/>
          </a:prstGeom>
          <a:solidFill>
            <a:srgbClr val="C9CED6"/>
          </a:solidFill>
          <a:ln w="12700">
            <a:solidFill>
              <a:srgbClr val="C9CED6"/>
            </a:solidFill>
            <a:prstDash val="solid"/>
          </a:ln>
        </p:spPr>
      </p:sp>
      <p:sp>
        <p:nvSpPr>
          <p:cNvPr id="74" name="Text 71"/>
          <p:cNvSpPr txBox="1"/>
          <p:nvPr/>
        </p:nvSpPr>
        <p:spPr>
          <a:xfrm>
            <a:off x="923315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5" name="Text 72"/>
          <p:cNvSpPr txBox="1"/>
          <p:nvPr/>
        </p:nvSpPr>
        <p:spPr>
          <a:xfrm>
            <a:off x="9562338"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prepares a school bag</a:t>
            </a:r>
            <a:endParaRPr lang="en-US" sz="1250" dirty="0"/>
          </a:p>
        </p:txBody>
      </p:sp>
      <p:sp>
        <p:nvSpPr>
          <p:cNvPr id="76" name="Text 73"/>
          <p:cNvSpPr txBox="1"/>
          <p:nvPr/>
        </p:nvSpPr>
        <p:spPr>
          <a:xfrm>
            <a:off x="9178290"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يُشَاهِدُ أَخِي مُبَارَاةً.</a:t>
            </a:r>
            <a:endParaRPr lang="ar-SA" sz="1350" dirty="0"/>
          </a:p>
        </p:txBody>
      </p:sp>
      <p:sp>
        <p:nvSpPr>
          <p:cNvPr id="77" name="Shape 74"/>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585216" y="4288536"/>
            <a:ext cx="310896" cy="310896"/>
          </a:xfrm>
          <a:prstGeom prst="ellipse">
            <a:avLst/>
          </a:prstGeom>
          <a:solidFill>
            <a:srgbClr val="1B3B6F"/>
          </a:solidFill>
          <a:ln w="12700">
            <a:solidFill>
              <a:srgbClr val="1B3B6F"/>
            </a:solidFill>
            <a:prstDash val="solid"/>
          </a:ln>
        </p:spPr>
      </p:sp>
      <p:sp>
        <p:nvSpPr>
          <p:cNvPr id="79" name="Text 7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0" name="Text 77"/>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happens Sunday?</a:t>
            </a:r>
            <a:endParaRPr lang="en-US" sz="1250" dirty="0"/>
          </a:p>
        </p:txBody>
      </p:sp>
      <p:sp>
        <p:nvSpPr>
          <p:cNvPr id="81" name="Shape 78"/>
          <p:cNvSpPr/>
          <p:nvPr/>
        </p:nvSpPr>
        <p:spPr>
          <a:xfrm>
            <a:off x="548640" y="4794504"/>
            <a:ext cx="2498598" cy="347472"/>
          </a:xfrm>
          <a:prstGeom prst="roundRect">
            <a:avLst>
              <a:gd name="adj" fmla="val 15789"/>
            </a:avLst>
          </a:prstGeom>
          <a:solidFill>
            <a:srgbClr val="E6F4EC"/>
          </a:solidFill>
          <a:ln w="9525">
            <a:solidFill>
              <a:srgbClr val="2E8B57"/>
            </a:solidFill>
            <a:prstDash val="solid"/>
          </a:ln>
        </p:spPr>
      </p:sp>
      <p:sp>
        <p:nvSpPr>
          <p:cNvPr id="82" name="Shape 79"/>
          <p:cNvSpPr/>
          <p:nvPr/>
        </p:nvSpPr>
        <p:spPr>
          <a:xfrm>
            <a:off x="640080" y="4831080"/>
            <a:ext cx="256032" cy="256032"/>
          </a:xfrm>
          <a:prstGeom prst="ellipse">
            <a:avLst/>
          </a:prstGeom>
          <a:solidFill>
            <a:srgbClr val="2E8B57"/>
          </a:solidFill>
          <a:ln w="12700">
            <a:solidFill>
              <a:srgbClr val="2E8B57"/>
            </a:solidFill>
            <a:prstDash val="solid"/>
          </a:ln>
        </p:spPr>
      </p:sp>
      <p:sp>
        <p:nvSpPr>
          <p:cNvPr id="83" name="Text 80"/>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4" name="Text 81"/>
          <p:cNvSpPr txBox="1"/>
          <p:nvPr/>
        </p:nvSpPr>
        <p:spPr>
          <a:xfrm>
            <a:off x="969264" y="4773168"/>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revision and school preparation</a:t>
            </a:r>
            <a:endParaRPr lang="en-US" sz="1150" dirty="0"/>
          </a:p>
        </p:txBody>
      </p:sp>
      <p:sp>
        <p:nvSpPr>
          <p:cNvPr id="85" name="Shape 82"/>
          <p:cNvSpPr/>
          <p:nvPr/>
        </p:nvSpPr>
        <p:spPr>
          <a:xfrm>
            <a:off x="640080" y="5202936"/>
            <a:ext cx="256032" cy="256032"/>
          </a:xfrm>
          <a:prstGeom prst="ellipse">
            <a:avLst/>
          </a:prstGeom>
          <a:solidFill>
            <a:srgbClr val="C9CED6"/>
          </a:solidFill>
          <a:ln w="12700">
            <a:solidFill>
              <a:srgbClr val="C9CED6"/>
            </a:solidFill>
            <a:prstDash val="solid"/>
          </a:ln>
        </p:spPr>
      </p:sp>
      <p:sp>
        <p:nvSpPr>
          <p:cNvPr id="86" name="Text 8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7" name="Text 84"/>
          <p:cNvSpPr txBox="1"/>
          <p:nvPr/>
        </p:nvSpPr>
        <p:spPr>
          <a:xfrm>
            <a:off x="969264"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full day of sleep</a:t>
            </a:r>
            <a:endParaRPr lang="en-US" sz="1250" dirty="0"/>
          </a:p>
        </p:txBody>
      </p:sp>
      <p:sp>
        <p:nvSpPr>
          <p:cNvPr id="88" name="Shape 85"/>
          <p:cNvSpPr/>
          <p:nvPr/>
        </p:nvSpPr>
        <p:spPr>
          <a:xfrm>
            <a:off x="640080"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0" name="Text 87"/>
          <p:cNvSpPr txBox="1"/>
          <p:nvPr/>
        </p:nvSpPr>
        <p:spPr>
          <a:xfrm>
            <a:off x="969264" y="551688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shopping only</a:t>
            </a:r>
            <a:endParaRPr lang="en-US" sz="1250" dirty="0"/>
          </a:p>
        </p:txBody>
      </p:sp>
      <p:sp>
        <p:nvSpPr>
          <p:cNvPr id="91" name="Text 88"/>
          <p:cNvSpPr txBox="1"/>
          <p:nvPr/>
        </p:nvSpPr>
        <p:spPr>
          <a:xfrm>
            <a:off x="585216" y="5907024"/>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أُرَاجِعُ ... وَأُحَضِّرُ حَقِيبَتِي.</a:t>
            </a:r>
            <a:endParaRPr lang="ar-SA" sz="1350" dirty="0"/>
          </a:p>
        </p:txBody>
      </p:sp>
      <p:sp>
        <p:nvSpPr>
          <p:cNvPr id="92" name="Shape 89"/>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3" name="Shape 90"/>
          <p:cNvSpPr/>
          <p:nvPr/>
        </p:nvSpPr>
        <p:spPr>
          <a:xfrm>
            <a:off x="3449574" y="4288536"/>
            <a:ext cx="310896" cy="310896"/>
          </a:xfrm>
          <a:prstGeom prst="ellipse">
            <a:avLst/>
          </a:prstGeom>
          <a:solidFill>
            <a:srgbClr val="1B3B6F"/>
          </a:solidFill>
          <a:ln w="12700">
            <a:solidFill>
              <a:srgbClr val="1B3B6F"/>
            </a:solidFill>
            <a:prstDash val="solid"/>
          </a:ln>
        </p:spPr>
      </p:sp>
      <p:sp>
        <p:nvSpPr>
          <p:cNvPr id="94" name="Text 91"/>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5" name="Text 92"/>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final message?</a:t>
            </a:r>
            <a:endParaRPr lang="en-US" sz="1250" dirty="0"/>
          </a:p>
        </p:txBody>
      </p:sp>
      <p:sp>
        <p:nvSpPr>
          <p:cNvPr id="96" name="Shape 93"/>
          <p:cNvSpPr/>
          <p:nvPr/>
        </p:nvSpPr>
        <p:spPr>
          <a:xfrm>
            <a:off x="3504438" y="4831080"/>
            <a:ext cx="256032" cy="256032"/>
          </a:xfrm>
          <a:prstGeom prst="ellipse">
            <a:avLst/>
          </a:prstGeom>
          <a:solidFill>
            <a:srgbClr val="C9CED6"/>
          </a:solidFill>
          <a:ln w="12700">
            <a:solidFill>
              <a:srgbClr val="C9CED6"/>
            </a:solidFill>
            <a:prstDash val="solid"/>
          </a:ln>
        </p:spPr>
      </p:sp>
      <p:sp>
        <p:nvSpPr>
          <p:cNvPr id="97" name="Text 94"/>
          <p:cNvSpPr txBox="1"/>
          <p:nvPr/>
        </p:nvSpPr>
        <p:spPr>
          <a:xfrm>
            <a:off x="350443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8" name="Text 95"/>
          <p:cNvSpPr txBox="1"/>
          <p:nvPr/>
        </p:nvSpPr>
        <p:spPr>
          <a:xfrm>
            <a:off x="3833622" y="4773168"/>
            <a:ext cx="2023110" cy="371856"/>
          </a:xfrm>
          <a:prstGeom prst="rect">
            <a:avLst/>
          </a:prstGeom>
          <a:noFill/>
          <a:ln/>
        </p:spPr>
        <p:txBody>
          <a:bodyPr wrap="square" lIns="0" tIns="0" rIns="0" bIns="0" rtlCol="0" anchor="ctr"/>
          <a:lstStyle/>
          <a:p>
            <a:pPr algn="l" indent="0" marL="0">
              <a:buNone/>
            </a:pPr>
            <a:r>
              <a:rPr lang="en-US" sz="1150" dirty="0">
                <a:solidFill>
                  <a:srgbClr val="9AA1AB"/>
                </a:solidFill>
                <a:latin typeface="Calibri" pitchFamily="34" charset="0"/>
                <a:cs typeface="Amiri" pitchFamily="2" charset="-78"/>
              </a:rPr>
              <a:t>weekends should contain only study</a:t>
            </a:r>
            <a:endParaRPr lang="en-US" sz="1150" dirty="0"/>
          </a:p>
        </p:txBody>
      </p:sp>
      <p:sp>
        <p:nvSpPr>
          <p:cNvPr id="99" name="Shape 96"/>
          <p:cNvSpPr/>
          <p:nvPr/>
        </p:nvSpPr>
        <p:spPr>
          <a:xfrm>
            <a:off x="3504438" y="5202936"/>
            <a:ext cx="256032" cy="256032"/>
          </a:xfrm>
          <a:prstGeom prst="ellipse">
            <a:avLst/>
          </a:prstGeom>
          <a:solidFill>
            <a:srgbClr val="C9CED6"/>
          </a:solidFill>
          <a:ln w="12700">
            <a:solidFill>
              <a:srgbClr val="C9CED6"/>
            </a:solidFill>
            <a:prstDash val="solid"/>
          </a:ln>
        </p:spPr>
      </p:sp>
      <p:sp>
        <p:nvSpPr>
          <p:cNvPr id="100" name="Text 97"/>
          <p:cNvSpPr txBox="1"/>
          <p:nvPr/>
        </p:nvSpPr>
        <p:spPr>
          <a:xfrm>
            <a:off x="3504438"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101" name="Text 98"/>
          <p:cNvSpPr txBox="1"/>
          <p:nvPr/>
        </p:nvSpPr>
        <p:spPr>
          <a:xfrm>
            <a:off x="3833622" y="5145024"/>
            <a:ext cx="2023110" cy="371856"/>
          </a:xfrm>
          <a:prstGeom prst="rect">
            <a:avLst/>
          </a:prstGeom>
          <a:noFill/>
          <a:ln/>
        </p:spPr>
        <p:txBody>
          <a:bodyPr wrap="square" lIns="0" tIns="0" rIns="0" bIns="0" rtlCol="0" anchor="ctr"/>
          <a:lstStyle/>
          <a:p>
            <a:pPr algn="l" indent="0" marL="0">
              <a:buNone/>
            </a:pPr>
            <a:r>
              <a:rPr lang="en-US" sz="1200" dirty="0">
                <a:solidFill>
                  <a:srgbClr val="9AA1AB"/>
                </a:solidFill>
                <a:latin typeface="Calibri" pitchFamily="34" charset="0"/>
                <a:cs typeface="Amiri" pitchFamily="2" charset="-78"/>
              </a:rPr>
              <a:t>all routines must be strict</a:t>
            </a:r>
            <a:endParaRPr lang="en-US" sz="1200" dirty="0"/>
          </a:p>
        </p:txBody>
      </p:sp>
      <p:sp>
        <p:nvSpPr>
          <p:cNvPr id="102" name="Shape 99"/>
          <p:cNvSpPr/>
          <p:nvPr/>
        </p:nvSpPr>
        <p:spPr>
          <a:xfrm>
            <a:off x="3412998" y="5538216"/>
            <a:ext cx="2498598" cy="347472"/>
          </a:xfrm>
          <a:prstGeom prst="roundRect">
            <a:avLst>
              <a:gd name="adj" fmla="val 15789"/>
            </a:avLst>
          </a:prstGeom>
          <a:solidFill>
            <a:srgbClr val="E6F4EC"/>
          </a:solidFill>
          <a:ln w="9525">
            <a:solidFill>
              <a:srgbClr val="2E8B57"/>
            </a:solidFill>
            <a:prstDash val="solid"/>
          </a:ln>
        </p:spPr>
      </p:sp>
      <p:sp>
        <p:nvSpPr>
          <p:cNvPr id="103" name="Shape 100"/>
          <p:cNvSpPr/>
          <p:nvPr/>
        </p:nvSpPr>
        <p:spPr>
          <a:xfrm>
            <a:off x="3504438" y="5574792"/>
            <a:ext cx="256032" cy="256032"/>
          </a:xfrm>
          <a:prstGeom prst="ellipse">
            <a:avLst/>
          </a:prstGeom>
          <a:solidFill>
            <a:srgbClr val="2E8B57"/>
          </a:solidFill>
          <a:ln w="12700">
            <a:solidFill>
              <a:srgbClr val="2E8B57"/>
            </a:solidFill>
            <a:prstDash val="solid"/>
          </a:ln>
        </p:spPr>
      </p:sp>
      <p:sp>
        <p:nvSpPr>
          <p:cNvPr id="104" name="Text 101"/>
          <p:cNvSpPr txBox="1"/>
          <p:nvPr/>
        </p:nvSpPr>
        <p:spPr>
          <a:xfrm>
            <a:off x="3504438"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105" name="Text 102"/>
          <p:cNvSpPr txBox="1"/>
          <p:nvPr/>
        </p:nvSpPr>
        <p:spPr>
          <a:xfrm>
            <a:off x="3833622" y="5516880"/>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balance supports an energetic start</a:t>
            </a:r>
            <a:endParaRPr lang="en-US" sz="1150" dirty="0"/>
          </a:p>
        </p:txBody>
      </p:sp>
      <p:sp>
        <p:nvSpPr>
          <p:cNvPr id="106" name="Text 103"/>
          <p:cNvSpPr txBox="1"/>
          <p:nvPr/>
        </p:nvSpPr>
        <p:spPr>
          <a:xfrm>
            <a:off x="3449574" y="5907024"/>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conclusion values balance.</a:t>
            </a:r>
            <a:endParaRPr lang="en-US" sz="1050" dirty="0"/>
          </a:p>
        </p:txBody>
      </p:sp>
      <p:sp>
        <p:nvSpPr>
          <p:cNvPr id="107" name="Shape 104"/>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08" name="Text 105"/>
          <p:cNvSpPr txBox="1"/>
          <p:nvPr/>
        </p:nvSpPr>
        <p:spPr>
          <a:xfrm>
            <a:off x="6368796" y="4279392"/>
            <a:ext cx="2315718"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109" name="Text 106"/>
          <p:cNvSpPr txBox="1"/>
          <p:nvPr/>
        </p:nvSpPr>
        <p:spPr>
          <a:xfrm>
            <a:off x="6368796" y="4590288"/>
            <a:ext cx="2315718"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110" name="Text 10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42 / 46</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D1-L08 · Weekend Routine</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WEBSITE MISSION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Weekend comparison challenge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المُهِمَّةُ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D1-L08</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21" name="Text 18"/>
          <p:cNvSpPr txBox="1"/>
          <p:nvPr/>
        </p:nvSpPr>
        <p:spPr>
          <a:xfrm>
            <a:off x="2406701" y="1883664"/>
            <a:ext cx="1577035" cy="475488"/>
          </a:xfrm>
          <a:prstGeom prst="rect">
            <a:avLst/>
          </a:prstGeom>
          <a:noFill/>
          <a:ln/>
        </p:spPr>
        <p:txBody>
          <a:bodyPr wrap="square" lIns="0" tIns="0" rIns="0" bIns="0" rtlCol="0" anchor="ctr"/>
          <a:lstStyle/>
          <a:p>
            <a:pPr rtl="1" algn="r" indent="0" marL="0">
              <a:lnSpc>
                <a:spcPct val="120000"/>
              </a:lnSpc>
              <a:buNone/>
            </a:pPr>
            <a:r>
              <a:rPr lang="ar-SA" altLang="en-US" sz="1000" b="1" dirty="0">
                <a:solidFill>
                  <a:srgbClr val="1F2A37"/>
                </a:solidFill>
                <a:latin typeface="Amiri" pitchFamily="2" charset="-78"/>
                <a:ea typeface="Amiri" pitchFamily="2" charset="-78"/>
                <a:cs typeface="Amiri" pitchFamily="2" charset="-78"/>
              </a:rPr>
              <a:t>فِي أَيَّامِ الدِّرَاسَةِ أَسْتَيْقِظُ مُبَكِّرًا، أَمَّا فِي نِهَايَةِ الأُسْبُوعِ ___.</a:t>
            </a:r>
            <a:endParaRPr lang="ar-SA" sz="1000" dirty="0"/>
          </a:p>
        </p:txBody>
      </p:sp>
      <p:sp>
        <p:nvSpPr>
          <p:cNvPr id="22" name="Shape 19"/>
          <p:cNvSpPr/>
          <p:nvPr/>
        </p:nvSpPr>
        <p:spPr>
          <a:xfrm>
            <a:off x="640080" y="25328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4" name="Text 21"/>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بَيْنَمَا نَوْمٌ أَطْوَلُ</a:t>
            </a:r>
            <a:endParaRPr lang="ar-SA" sz="2050" dirty="0"/>
          </a:p>
        </p:txBody>
      </p:sp>
      <p:sp>
        <p:nvSpPr>
          <p:cNvPr id="25" name="Shape 22"/>
          <p:cNvSpPr/>
          <p:nvPr/>
        </p:nvSpPr>
        <p:spPr>
          <a:xfrm>
            <a:off x="640080" y="29900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7" name="Text 24"/>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فَأَنَامُ وَقْتًا أَطْوَلَ</a:t>
            </a:r>
            <a:endParaRPr lang="ar-SA" sz="2050" dirty="0"/>
          </a:p>
        </p:txBody>
      </p:sp>
      <p:sp>
        <p:nvSpPr>
          <p:cNvPr id="28" name="Shape 25"/>
          <p:cNvSpPr/>
          <p:nvPr/>
        </p:nvSpPr>
        <p:spPr>
          <a:xfrm>
            <a:off x="640080" y="3447288"/>
            <a:ext cx="256032" cy="256032"/>
          </a:xfrm>
          <a:prstGeom prst="ellipse">
            <a:avLst/>
          </a:prstGeom>
          <a:solidFill>
            <a:srgbClr val="F4F1EA"/>
          </a:solidFill>
          <a:ln w="12700">
            <a:solidFill>
              <a:srgbClr val="F4F1EA"/>
            </a:solidFill>
            <a:prstDash val="solid"/>
          </a:ln>
        </p:spPr>
      </p:sp>
      <p:sp>
        <p:nvSpPr>
          <p:cNvPr id="29" name="Text 26"/>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لِأَنَّ فِي النِّهَايَةِ</a:t>
            </a:r>
            <a:endParaRPr lang="ar-SA" sz="2050" dirty="0"/>
          </a:p>
        </p:txBody>
      </p:sp>
      <p:sp>
        <p:nvSpPr>
          <p:cNvPr id="31" name="Shape 28"/>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4404360" y="1947672"/>
            <a:ext cx="310896" cy="310896"/>
          </a:xfrm>
          <a:prstGeom prst="ellipse">
            <a:avLst/>
          </a:prstGeom>
          <a:solidFill>
            <a:srgbClr val="1B3B6F"/>
          </a:solidFill>
          <a:ln w="12700">
            <a:solidFill>
              <a:srgbClr val="1B3B6F"/>
            </a:solidFill>
            <a:prstDash val="solid"/>
          </a:ln>
        </p:spPr>
      </p:sp>
      <p:sp>
        <p:nvSpPr>
          <p:cNvPr id="33" name="Text 30"/>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1"/>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sentence with accurate contrast and agreement.</a:t>
            </a:r>
            <a:endParaRPr lang="en-US" sz="1250" dirty="0"/>
          </a:p>
        </p:txBody>
      </p:sp>
      <p:sp>
        <p:nvSpPr>
          <p:cNvPr id="35" name="Shape 32"/>
          <p:cNvSpPr/>
          <p:nvPr/>
        </p:nvSpPr>
        <p:spPr>
          <a:xfrm>
            <a:off x="4459224" y="25328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2" charset="-78"/>
                <a:ea typeface="Amiri" pitchFamily="2" charset="-78"/>
                <a:cs typeface="Amiri" pitchFamily="2" charset="-78"/>
              </a:rPr>
              <a:t>أَقْرَأُ، بَيْنَمَا يُشَاهِدُ أَخِي مُبَارَاةً.</a:t>
            </a:r>
            <a:endParaRPr lang="ar-SA" sz="2000" dirty="0"/>
          </a:p>
        </p:txBody>
      </p:sp>
      <p:sp>
        <p:nvSpPr>
          <p:cNvPr id="38" name="Shape 35"/>
          <p:cNvSpPr/>
          <p:nvPr/>
        </p:nvSpPr>
        <p:spPr>
          <a:xfrm>
            <a:off x="4459224" y="29900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2" charset="-78"/>
                <a:ea typeface="Amiri" pitchFamily="2" charset="-78"/>
                <a:cs typeface="Amiri" pitchFamily="2" charset="-78"/>
              </a:rPr>
              <a:t>أَقْرَأُ، بَيْنَمَا تُشَاهِدُ أَخِي مُبَارَاةً.</a:t>
            </a:r>
            <a:endParaRPr lang="ar-SA" sz="2000" dirty="0"/>
          </a:p>
        </p:txBody>
      </p:sp>
      <p:sp>
        <p:nvSpPr>
          <p:cNvPr id="41" name="Shape 38"/>
          <p:cNvSpPr/>
          <p:nvPr/>
        </p:nvSpPr>
        <p:spPr>
          <a:xfrm>
            <a:off x="4459224" y="3447288"/>
            <a:ext cx="256032" cy="256032"/>
          </a:xfrm>
          <a:prstGeom prst="ellipse">
            <a:avLst/>
          </a:prstGeom>
          <a:solidFill>
            <a:srgbClr val="F4F1EA"/>
          </a:solidFill>
          <a:ln w="12700">
            <a:solidFill>
              <a:srgbClr val="F4F1EA"/>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2" charset="-78"/>
                <a:ea typeface="Amiri" pitchFamily="2" charset="-78"/>
                <a:cs typeface="Amiri" pitchFamily="2" charset="-78"/>
              </a:rPr>
              <a:t>أَقْرَأُ بَيْنَمَا أَخِي أُشَاهِدُ.</a:t>
            </a:r>
            <a:endParaRPr lang="ar-SA" sz="2000" dirty="0"/>
          </a:p>
        </p:txBody>
      </p:sp>
      <p:sp>
        <p:nvSpPr>
          <p:cNvPr id="44" name="Shape 41"/>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5" name="Shape 42"/>
          <p:cNvSpPr/>
          <p:nvPr/>
        </p:nvSpPr>
        <p:spPr>
          <a:xfrm>
            <a:off x="8223504" y="1947672"/>
            <a:ext cx="310896" cy="310896"/>
          </a:xfrm>
          <a:prstGeom prst="ellipse">
            <a:avLst/>
          </a:prstGeom>
          <a:solidFill>
            <a:srgbClr val="1B3B6F"/>
          </a:solidFill>
          <a:ln w="12700">
            <a:solidFill>
              <a:srgbClr val="1B3B6F"/>
            </a:solidFill>
            <a:prstDash val="solid"/>
          </a:ln>
        </p:spPr>
      </p:sp>
      <p:sp>
        <p:nvSpPr>
          <p:cNvPr id="46" name="Text 43"/>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7" name="Text 44"/>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repeated condition.</a:t>
            </a:r>
            <a:endParaRPr lang="en-US" sz="1250" dirty="0"/>
          </a:p>
        </p:txBody>
      </p:sp>
      <p:sp>
        <p:nvSpPr>
          <p:cNvPr id="48" name="Shape 45"/>
          <p:cNvSpPr/>
          <p:nvPr/>
        </p:nvSpPr>
        <p:spPr>
          <a:xfrm>
            <a:off x="8278368" y="25328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0" name="Text 47"/>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1750" dirty="0">
                <a:solidFill>
                  <a:srgbClr val="1F2A37"/>
                </a:solidFill>
                <a:latin typeface="Amiri" pitchFamily="2" charset="-78"/>
                <a:ea typeface="Amiri" pitchFamily="2" charset="-78"/>
                <a:cs typeface="Amiri" pitchFamily="2" charset="-78"/>
              </a:rPr>
              <a:t>إِذَا الوَقْتُ ذَهَبْتُ أَمْسِ.</a:t>
            </a:r>
            <a:endParaRPr lang="ar-SA" sz="1750" dirty="0"/>
          </a:p>
        </p:txBody>
      </p:sp>
      <p:sp>
        <p:nvSpPr>
          <p:cNvPr id="51" name="Shape 48"/>
          <p:cNvSpPr/>
          <p:nvPr/>
        </p:nvSpPr>
        <p:spPr>
          <a:xfrm>
            <a:off x="8278368" y="29900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3" name="Text 50"/>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1750" dirty="0">
                <a:solidFill>
                  <a:srgbClr val="1F2A37"/>
                </a:solidFill>
                <a:latin typeface="Amiri" pitchFamily="2" charset="-78"/>
                <a:ea typeface="Amiri" pitchFamily="2" charset="-78"/>
                <a:cs typeface="Amiri" pitchFamily="2" charset="-78"/>
              </a:rPr>
              <a:t>لِأَنَّ كَانَ لَدَيَّ وَقْتٌ أَذْهَبُ.</a:t>
            </a:r>
            <a:endParaRPr lang="ar-SA" sz="1750" dirty="0"/>
          </a:p>
        </p:txBody>
      </p:sp>
      <p:sp>
        <p:nvSpPr>
          <p:cNvPr id="54" name="Shape 51"/>
          <p:cNvSpPr/>
          <p:nvPr/>
        </p:nvSpPr>
        <p:spPr>
          <a:xfrm>
            <a:off x="8278368" y="3447288"/>
            <a:ext cx="256032" cy="256032"/>
          </a:xfrm>
          <a:prstGeom prst="ellipse">
            <a:avLst/>
          </a:prstGeom>
          <a:solidFill>
            <a:srgbClr val="F4F1EA"/>
          </a:solidFill>
          <a:ln w="12700">
            <a:solidFill>
              <a:srgbClr val="F4F1EA"/>
            </a:solidFill>
            <a:prstDash val="solid"/>
          </a:ln>
        </p:spPr>
      </p:sp>
      <p:sp>
        <p:nvSpPr>
          <p:cNvPr id="55" name="Text 52"/>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6" name="Text 53"/>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1750" dirty="0">
                <a:solidFill>
                  <a:srgbClr val="1F2A37"/>
                </a:solidFill>
                <a:latin typeface="Amiri" pitchFamily="2" charset="-78"/>
                <a:ea typeface="Amiri" pitchFamily="2" charset="-78"/>
                <a:cs typeface="Amiri" pitchFamily="2" charset="-78"/>
              </a:rPr>
              <a:t>إِذَا كَانَ لَدَيَّ وَقْتٌ أَذْهَبُ إِلَى الحَدِيقَةِ.</a:t>
            </a:r>
            <a:endParaRPr lang="ar-SA" sz="1750" dirty="0"/>
          </a:p>
        </p:txBody>
      </p:sp>
      <p:sp>
        <p:nvSpPr>
          <p:cNvPr id="57" name="Shape 54"/>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Shape 55"/>
          <p:cNvSpPr/>
          <p:nvPr/>
        </p:nvSpPr>
        <p:spPr>
          <a:xfrm>
            <a:off x="585216" y="4288536"/>
            <a:ext cx="310896" cy="310896"/>
          </a:xfrm>
          <a:prstGeom prst="ellipse">
            <a:avLst/>
          </a:prstGeom>
          <a:solidFill>
            <a:srgbClr val="1B3B6F"/>
          </a:solidFill>
          <a:ln w="12700">
            <a:solidFill>
              <a:srgbClr val="1B3B6F"/>
            </a:solidFill>
            <a:prstDash val="solid"/>
          </a:ln>
        </p:spPr>
      </p:sp>
      <p:sp>
        <p:nvSpPr>
          <p:cNvPr id="59" name="Text 5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0" name="Text 57"/>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means “I seldom stay at home all day”?</a:t>
            </a:r>
            <a:endParaRPr lang="en-US" sz="1250" dirty="0"/>
          </a:p>
        </p:txBody>
      </p:sp>
      <p:sp>
        <p:nvSpPr>
          <p:cNvPr id="61" name="Shape 58"/>
          <p:cNvSpPr/>
          <p:nvPr/>
        </p:nvSpPr>
        <p:spPr>
          <a:xfrm>
            <a:off x="640080" y="48737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3" name="Text 60"/>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1700" dirty="0">
                <a:solidFill>
                  <a:srgbClr val="1F2A37"/>
                </a:solidFill>
                <a:latin typeface="Amiri" pitchFamily="2" charset="-78"/>
                <a:ea typeface="Amiri" pitchFamily="2" charset="-78"/>
                <a:cs typeface="Amiri" pitchFamily="2" charset="-78"/>
              </a:rPr>
              <a:t>غَالِبًا مَا أَبْقَى فِي البَيْتِ طَوَالَ اليَوْمِ.</a:t>
            </a:r>
            <a:endParaRPr lang="ar-SA" sz="1700" dirty="0"/>
          </a:p>
        </p:txBody>
      </p:sp>
      <p:sp>
        <p:nvSpPr>
          <p:cNvPr id="64" name="Shape 61"/>
          <p:cNvSpPr/>
          <p:nvPr/>
        </p:nvSpPr>
        <p:spPr>
          <a:xfrm>
            <a:off x="640080" y="53309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6" name="Text 63"/>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1700" dirty="0">
                <a:solidFill>
                  <a:srgbClr val="1F2A37"/>
                </a:solidFill>
                <a:latin typeface="Amiri" pitchFamily="2" charset="-78"/>
                <a:ea typeface="Amiri" pitchFamily="2" charset="-78"/>
                <a:cs typeface="Amiri" pitchFamily="2" charset="-78"/>
              </a:rPr>
              <a:t>دَائِمًا لَا أَبْقَى أَبَدًا.</a:t>
            </a:r>
            <a:endParaRPr lang="ar-SA" sz="1700" dirty="0"/>
          </a:p>
        </p:txBody>
      </p:sp>
      <p:sp>
        <p:nvSpPr>
          <p:cNvPr id="67" name="Shape 64"/>
          <p:cNvSpPr/>
          <p:nvPr/>
        </p:nvSpPr>
        <p:spPr>
          <a:xfrm>
            <a:off x="640080" y="5788152"/>
            <a:ext cx="256032" cy="256032"/>
          </a:xfrm>
          <a:prstGeom prst="ellipse">
            <a:avLst/>
          </a:prstGeom>
          <a:solidFill>
            <a:srgbClr val="F4F1EA"/>
          </a:solidFill>
          <a:ln w="12700">
            <a:solidFill>
              <a:srgbClr val="F4F1EA"/>
            </a:solidFill>
            <a:prstDash val="solid"/>
          </a:ln>
        </p:spPr>
      </p:sp>
      <p:sp>
        <p:nvSpPr>
          <p:cNvPr id="68" name="Text 65"/>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9" name="Text 66"/>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1700" dirty="0">
                <a:solidFill>
                  <a:srgbClr val="1F2A37"/>
                </a:solidFill>
                <a:latin typeface="Amiri" pitchFamily="2" charset="-78"/>
                <a:ea typeface="Amiri" pitchFamily="2" charset="-78"/>
                <a:cs typeface="Amiri" pitchFamily="2" charset="-78"/>
              </a:rPr>
              <a:t>نَادِرًا مَا أَبْقَى فِي البَيْتِ طَوَالَ اليَوْمِ.</a:t>
            </a:r>
            <a:endParaRPr lang="ar-SA" sz="1700" dirty="0"/>
          </a:p>
        </p:txBody>
      </p:sp>
      <p:sp>
        <p:nvSpPr>
          <p:cNvPr id="70" name="Shape 67"/>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1" name="Shape 68"/>
          <p:cNvSpPr/>
          <p:nvPr/>
        </p:nvSpPr>
        <p:spPr>
          <a:xfrm>
            <a:off x="4404360" y="4288536"/>
            <a:ext cx="310896" cy="310896"/>
          </a:xfrm>
          <a:prstGeom prst="ellipse">
            <a:avLst/>
          </a:prstGeom>
          <a:solidFill>
            <a:srgbClr val="1B3B6F"/>
          </a:solidFill>
          <a:ln w="12700">
            <a:solidFill>
              <a:srgbClr val="1B3B6F"/>
            </a:solidFill>
            <a:prstDash val="solid"/>
          </a:ln>
        </p:spPr>
      </p:sp>
      <p:sp>
        <p:nvSpPr>
          <p:cNvPr id="72" name="Text 69"/>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3" name="Text 70"/>
          <p:cNvSpPr txBox="1"/>
          <p:nvPr/>
        </p:nvSpPr>
        <p:spPr>
          <a:xfrm>
            <a:off x="4770120"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Read:</a:t>
            </a:r>
            <a:endParaRPr lang="en-US" sz="1200" dirty="0"/>
          </a:p>
        </p:txBody>
      </p:sp>
      <p:sp>
        <p:nvSpPr>
          <p:cNvPr id="74" name="Text 71"/>
          <p:cNvSpPr txBox="1"/>
          <p:nvPr/>
        </p:nvSpPr>
        <p:spPr>
          <a:xfrm>
            <a:off x="6225845" y="4224528"/>
            <a:ext cx="1577035" cy="475488"/>
          </a:xfrm>
          <a:prstGeom prst="rect">
            <a:avLst/>
          </a:prstGeom>
          <a:noFill/>
          <a:ln/>
        </p:spPr>
        <p:txBody>
          <a:bodyPr wrap="square" lIns="0" tIns="0" rIns="0" bIns="0" rtlCol="0" anchor="ctr"/>
          <a:lstStyle/>
          <a:p>
            <a:pPr algn="l" indent="0" marL="0">
              <a:buNone/>
            </a:pPr>
            <a:r>
              <a:rPr lang="ar-SA" altLang="en-US" sz="1300" b="1" dirty="0">
                <a:solidFill>
                  <a:srgbClr val="1F2A37"/>
                </a:solidFill>
                <a:latin typeface="Amiri" pitchFamily="2" charset="-78"/>
                <a:ea typeface="Amiri" pitchFamily="2" charset="-78"/>
                <a:cs typeface="Amiri" pitchFamily="2" charset="-78"/>
              </a:rPr>
              <a:t>صَبَاحَ السَّبْتِ أُرَاجِعُ دُرُوسِي، ثُمَّ أَلْتَقِي بِأَصْدِقَائِي</a:t>
            </a:r>
            <a:pPr algn="l" indent="0" marL="0">
              <a:buNone/>
            </a:pPr>
            <a:r>
              <a:rPr lang="en-US" sz="1000" b="1" dirty="0">
                <a:solidFill>
                  <a:srgbClr val="1F2A37"/>
                </a:solidFill>
                <a:latin typeface="Calibri" pitchFamily="34" charset="0"/>
                <a:cs typeface="Amiri" pitchFamily="2" charset="-78"/>
              </a:rPr>
              <a:t>. What happens after revision?</a:t>
            </a:r>
            <a:endParaRPr lang="en-US" sz="1000" dirty="0"/>
          </a:p>
        </p:txBody>
      </p:sp>
      <p:sp>
        <p:nvSpPr>
          <p:cNvPr id="75" name="Shape 72"/>
          <p:cNvSpPr/>
          <p:nvPr/>
        </p:nvSpPr>
        <p:spPr>
          <a:xfrm>
            <a:off x="4459224" y="4873752"/>
            <a:ext cx="256032" cy="256032"/>
          </a:xfrm>
          <a:prstGeom prst="ellipse">
            <a:avLst/>
          </a:prstGeom>
          <a:solidFill>
            <a:srgbClr val="F4F1EA"/>
          </a:solidFill>
          <a:ln w="12700">
            <a:solidFill>
              <a:srgbClr val="F4F1EA"/>
            </a:solidFill>
            <a:prstDash val="solid"/>
          </a:ln>
        </p:spPr>
      </p:sp>
      <p:sp>
        <p:nvSpPr>
          <p:cNvPr id="76" name="Text 73"/>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7" name="Text 74"/>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يَلْتَقِي بِأَصْدِقَائِهِ.</a:t>
            </a:r>
            <a:endParaRPr lang="ar-SA" sz="2050" dirty="0"/>
          </a:p>
        </p:txBody>
      </p:sp>
      <p:sp>
        <p:nvSpPr>
          <p:cNvPr id="78" name="Shape 75"/>
          <p:cNvSpPr/>
          <p:nvPr/>
        </p:nvSpPr>
        <p:spPr>
          <a:xfrm>
            <a:off x="4459224" y="5330952"/>
            <a:ext cx="256032" cy="256032"/>
          </a:xfrm>
          <a:prstGeom prst="ellipse">
            <a:avLst/>
          </a:prstGeom>
          <a:solidFill>
            <a:srgbClr val="F4F1EA"/>
          </a:solidFill>
          <a:ln w="12700">
            <a:solidFill>
              <a:srgbClr val="F4F1EA"/>
            </a:solidFill>
            <a:prstDash val="solid"/>
          </a:ln>
        </p:spPr>
      </p:sp>
      <p:sp>
        <p:nvSpPr>
          <p:cNvPr id="79" name="Text 76"/>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0" name="Text 77"/>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يَنَامُ طَوَالَ اليَوْمِ.</a:t>
            </a:r>
            <a:endParaRPr lang="ar-SA" sz="2050" dirty="0"/>
          </a:p>
        </p:txBody>
      </p:sp>
      <p:sp>
        <p:nvSpPr>
          <p:cNvPr id="81" name="Shape 78"/>
          <p:cNvSpPr/>
          <p:nvPr/>
        </p:nvSpPr>
        <p:spPr>
          <a:xfrm>
            <a:off x="4459224" y="5788152"/>
            <a:ext cx="256032" cy="256032"/>
          </a:xfrm>
          <a:prstGeom prst="ellipse">
            <a:avLst/>
          </a:prstGeom>
          <a:solidFill>
            <a:srgbClr val="F4F1EA"/>
          </a:solidFill>
          <a:ln w="12700">
            <a:solidFill>
              <a:srgbClr val="F4F1EA"/>
            </a:solidFill>
            <a:prstDash val="solid"/>
          </a:ln>
        </p:spPr>
      </p:sp>
      <p:sp>
        <p:nvSpPr>
          <p:cNvPr id="82" name="Text 79"/>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3" name="Text 80"/>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يَذْهَبُ إِلَى المَدْرَسَةِ.</a:t>
            </a:r>
            <a:endParaRPr lang="ar-SA" sz="2050" dirty="0"/>
          </a:p>
        </p:txBody>
      </p:sp>
      <p:sp>
        <p:nvSpPr>
          <p:cNvPr id="84" name="Shape 81"/>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5" name="Shape 82"/>
          <p:cNvSpPr/>
          <p:nvPr/>
        </p:nvSpPr>
        <p:spPr>
          <a:xfrm>
            <a:off x="8223504" y="4288536"/>
            <a:ext cx="310896" cy="310896"/>
          </a:xfrm>
          <a:prstGeom prst="ellipse">
            <a:avLst/>
          </a:prstGeom>
          <a:solidFill>
            <a:srgbClr val="1B3B6F"/>
          </a:solidFill>
          <a:ln w="12700">
            <a:solidFill>
              <a:srgbClr val="1B3B6F"/>
            </a:solidFill>
            <a:prstDash val="solid"/>
          </a:ln>
        </p:spPr>
      </p:sp>
      <p:sp>
        <p:nvSpPr>
          <p:cNvPr id="86" name="Text 83"/>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7" name="Text 84"/>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strongest evaluation of a balanced weekend.</a:t>
            </a:r>
            <a:endParaRPr lang="en-US" sz="1250" dirty="0"/>
          </a:p>
        </p:txBody>
      </p:sp>
      <p:sp>
        <p:nvSpPr>
          <p:cNvPr id="88" name="Shape 85"/>
          <p:cNvSpPr/>
          <p:nvPr/>
        </p:nvSpPr>
        <p:spPr>
          <a:xfrm>
            <a:off x="8278368" y="4873752"/>
            <a:ext cx="256032" cy="256032"/>
          </a:xfrm>
          <a:prstGeom prst="ellipse">
            <a:avLst/>
          </a:prstGeom>
          <a:solidFill>
            <a:srgbClr val="F4F1EA"/>
          </a:solidFill>
          <a:ln w="12700">
            <a:solidFill>
              <a:srgbClr val="F4F1EA"/>
            </a:solidFill>
            <a:prstDash val="solid"/>
          </a:ln>
        </p:spPr>
      </p:sp>
      <p:sp>
        <p:nvSpPr>
          <p:cNvPr id="89" name="Text 86"/>
          <p:cNvSpPr txBox="1"/>
          <p:nvPr/>
        </p:nvSpPr>
        <p:spPr>
          <a:xfrm>
            <a:off x="827836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0" name="Text 87"/>
          <p:cNvSpPr txBox="1"/>
          <p:nvPr/>
        </p:nvSpPr>
        <p:spPr>
          <a:xfrm>
            <a:off x="8607552" y="4773168"/>
            <a:ext cx="2977896" cy="457200"/>
          </a:xfrm>
          <a:prstGeom prst="rect">
            <a:avLst/>
          </a:prstGeom>
          <a:noFill/>
          <a:ln/>
        </p:spPr>
        <p:txBody>
          <a:bodyPr wrap="square" lIns="0" tIns="0" rIns="0" bIns="0" rtlCol="0" anchor="ctr"/>
          <a:lstStyle/>
          <a:p>
            <a:pPr rtl="1" algn="r" indent="0" marL="0">
              <a:buNone/>
            </a:pPr>
            <a:r>
              <a:rPr lang="ar-SA" altLang="en-US" sz="1350" dirty="0">
                <a:solidFill>
                  <a:srgbClr val="1F2A37"/>
                </a:solidFill>
                <a:latin typeface="Amiri" pitchFamily="2" charset="-78"/>
                <a:ea typeface="Amiri" pitchFamily="2" charset="-78"/>
                <a:cs typeface="Amiri" pitchFamily="2" charset="-78"/>
              </a:rPr>
              <a:t>عُطْلَةٌ جَيِّدَةٌ.</a:t>
            </a:r>
            <a:endParaRPr lang="ar-SA" sz="1350" dirty="0"/>
          </a:p>
        </p:txBody>
      </p:sp>
      <p:sp>
        <p:nvSpPr>
          <p:cNvPr id="91" name="Shape 88"/>
          <p:cNvSpPr/>
          <p:nvPr/>
        </p:nvSpPr>
        <p:spPr>
          <a:xfrm>
            <a:off x="8278368" y="5330952"/>
            <a:ext cx="256032" cy="256032"/>
          </a:xfrm>
          <a:prstGeom prst="ellipse">
            <a:avLst/>
          </a:prstGeom>
          <a:solidFill>
            <a:srgbClr val="F4F1EA"/>
          </a:solidFill>
          <a:ln w="12700">
            <a:solidFill>
              <a:srgbClr val="F4F1EA"/>
            </a:solidFill>
            <a:prstDash val="solid"/>
          </a:ln>
        </p:spPr>
      </p:sp>
      <p:sp>
        <p:nvSpPr>
          <p:cNvPr id="92" name="Text 89"/>
          <p:cNvSpPr txBox="1"/>
          <p:nvPr/>
        </p:nvSpPr>
        <p:spPr>
          <a:xfrm>
            <a:off x="827836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3" name="Text 90"/>
          <p:cNvSpPr txBox="1"/>
          <p:nvPr/>
        </p:nvSpPr>
        <p:spPr>
          <a:xfrm>
            <a:off x="8607552" y="5230368"/>
            <a:ext cx="2977896" cy="457200"/>
          </a:xfrm>
          <a:prstGeom prst="rect">
            <a:avLst/>
          </a:prstGeom>
          <a:noFill/>
          <a:ln/>
        </p:spPr>
        <p:txBody>
          <a:bodyPr wrap="square" lIns="0" tIns="0" rIns="0" bIns="0" rtlCol="0" anchor="ctr"/>
          <a:lstStyle/>
          <a:p>
            <a:pPr rtl="1" algn="r" indent="0" marL="0">
              <a:buNone/>
            </a:pPr>
            <a:r>
              <a:rPr lang="ar-SA" altLang="en-US" sz="1350" dirty="0">
                <a:solidFill>
                  <a:srgbClr val="1F2A37"/>
                </a:solidFill>
                <a:latin typeface="Amiri" pitchFamily="2" charset="-78"/>
                <a:ea typeface="Amiri" pitchFamily="2" charset="-78"/>
                <a:cs typeface="Amiri" pitchFamily="2" charset="-78"/>
              </a:rPr>
              <a:t>عُطْلَتِي مُتَوَازِنَةٌ لِأَنَّنِي أَسْتَرِيحُ وَأُكْمِلُ مَسْؤُولِيَّاتِي.</a:t>
            </a:r>
            <a:endParaRPr lang="ar-SA" sz="1350" dirty="0"/>
          </a:p>
        </p:txBody>
      </p:sp>
      <p:sp>
        <p:nvSpPr>
          <p:cNvPr id="94" name="Shape 91"/>
          <p:cNvSpPr/>
          <p:nvPr/>
        </p:nvSpPr>
        <p:spPr>
          <a:xfrm>
            <a:off x="8278368" y="5788152"/>
            <a:ext cx="256032" cy="256032"/>
          </a:xfrm>
          <a:prstGeom prst="ellipse">
            <a:avLst/>
          </a:prstGeom>
          <a:solidFill>
            <a:srgbClr val="F4F1EA"/>
          </a:solidFill>
          <a:ln w="12700">
            <a:solidFill>
              <a:srgbClr val="F4F1EA"/>
            </a:solidFill>
            <a:prstDash val="solid"/>
          </a:ln>
        </p:spPr>
      </p:sp>
      <p:sp>
        <p:nvSpPr>
          <p:cNvPr id="95" name="Text 92"/>
          <p:cNvSpPr txBox="1"/>
          <p:nvPr/>
        </p:nvSpPr>
        <p:spPr>
          <a:xfrm>
            <a:off x="827836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6" name="Text 93"/>
          <p:cNvSpPr txBox="1"/>
          <p:nvPr/>
        </p:nvSpPr>
        <p:spPr>
          <a:xfrm>
            <a:off x="8607552" y="5687568"/>
            <a:ext cx="2977896" cy="457200"/>
          </a:xfrm>
          <a:prstGeom prst="rect">
            <a:avLst/>
          </a:prstGeom>
          <a:noFill/>
          <a:ln/>
        </p:spPr>
        <p:txBody>
          <a:bodyPr wrap="square" lIns="0" tIns="0" rIns="0" bIns="0" rtlCol="0" anchor="ctr"/>
          <a:lstStyle/>
          <a:p>
            <a:pPr rtl="1" algn="r" indent="0" marL="0">
              <a:buNone/>
            </a:pPr>
            <a:r>
              <a:rPr lang="ar-SA" altLang="en-US" sz="1350" dirty="0">
                <a:solidFill>
                  <a:srgbClr val="1F2A37"/>
                </a:solidFill>
                <a:latin typeface="Amiri" pitchFamily="2" charset="-78"/>
                <a:ea typeface="Amiri" pitchFamily="2" charset="-78"/>
                <a:cs typeface="Amiri" pitchFamily="2" charset="-78"/>
              </a:rPr>
              <a:t>السَّبْتُ وَالأَحَدُ.</a:t>
            </a:r>
            <a:endParaRPr lang="ar-SA" sz="1350" dirty="0"/>
          </a:p>
        </p:txBody>
      </p:sp>
      <p:sp>
        <p:nvSpPr>
          <p:cNvPr id="97" name="Text 9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43 / 46</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D1-L08 · Weekend Routine</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MISSION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Mission: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D1-L08</a:t>
            </a:r>
            <a:endParaRPr lang="en-US" sz="850" dirty="0"/>
          </a:p>
        </p:txBody>
      </p:sp>
      <p:sp>
        <p:nvSpPr>
          <p:cNvPr id="16"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7"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8"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9" name="Text 17"/>
          <p:cNvSpPr txBox="1"/>
          <p:nvPr/>
        </p:nvSpPr>
        <p:spPr>
          <a:xfrm>
            <a:off x="950976"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20" name="Text 18"/>
          <p:cNvSpPr txBox="1"/>
          <p:nvPr/>
        </p:nvSpPr>
        <p:spPr>
          <a:xfrm>
            <a:off x="2406701" y="1883664"/>
            <a:ext cx="1577035" cy="475488"/>
          </a:xfrm>
          <a:prstGeom prst="rect">
            <a:avLst/>
          </a:prstGeom>
          <a:noFill/>
          <a:ln/>
        </p:spPr>
        <p:txBody>
          <a:bodyPr wrap="square" lIns="0" tIns="0" rIns="0" bIns="0" rtlCol="0" anchor="ctr"/>
          <a:lstStyle/>
          <a:p>
            <a:pPr rtl="1" algn="r" indent="0" marL="0">
              <a:lnSpc>
                <a:spcPct val="120000"/>
              </a:lnSpc>
              <a:buNone/>
            </a:pPr>
            <a:r>
              <a:rPr lang="ar-SA" altLang="en-US" sz="1000" b="1" dirty="0">
                <a:solidFill>
                  <a:srgbClr val="1F2A37"/>
                </a:solidFill>
                <a:latin typeface="Amiri" pitchFamily="2" charset="-78"/>
                <a:ea typeface="Amiri" pitchFamily="2" charset="-78"/>
                <a:cs typeface="Amiri" pitchFamily="2" charset="-78"/>
              </a:rPr>
              <a:t>فِي أَيَّامِ الدِّرَاسَةِ أَسْتَيْقِظُ مُبَكِّرًا، أَمَّا فِي نِهَايَةِ الأُسْبُوعِ ___.</a:t>
            </a:r>
            <a:endParaRPr lang="ar-SA" sz="1000" dirty="0"/>
          </a:p>
        </p:txBody>
      </p:sp>
      <p:sp>
        <p:nvSpPr>
          <p:cNvPr id="21" name="Shape 19"/>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20"/>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1"/>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بَيْنَمَا نَوْمٌ أَطْوَلُ</a:t>
            </a:r>
            <a:endParaRPr lang="ar-SA" sz="1700" dirty="0"/>
          </a:p>
        </p:txBody>
      </p:sp>
      <p:sp>
        <p:nvSpPr>
          <p:cNvPr id="24" name="Shape 22"/>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5" name="Shape 23"/>
          <p:cNvSpPr/>
          <p:nvPr/>
        </p:nvSpPr>
        <p:spPr>
          <a:xfrm>
            <a:off x="640080" y="2862072"/>
            <a:ext cx="256032" cy="256032"/>
          </a:xfrm>
          <a:prstGeom prst="ellipse">
            <a:avLst/>
          </a:prstGeom>
          <a:solidFill>
            <a:srgbClr val="2E8B57"/>
          </a:solidFill>
          <a:ln w="12700">
            <a:solidFill>
              <a:srgbClr val="2E8B57"/>
            </a:solidFill>
            <a:prstDash val="solid"/>
          </a:ln>
        </p:spPr>
      </p:sp>
      <p:sp>
        <p:nvSpPr>
          <p:cNvPr id="26" name="Text 24"/>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7" name="Text 25"/>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فَأَنَامُ وَقْتًا أَطْوَلَ</a:t>
            </a:r>
            <a:endParaRPr lang="ar-SA" sz="1700" dirty="0"/>
          </a:p>
        </p:txBody>
      </p:sp>
      <p:sp>
        <p:nvSpPr>
          <p:cNvPr id="28" name="Shape 26"/>
          <p:cNvSpPr/>
          <p:nvPr/>
        </p:nvSpPr>
        <p:spPr>
          <a:xfrm>
            <a:off x="640080" y="3233928"/>
            <a:ext cx="256032" cy="256032"/>
          </a:xfrm>
          <a:prstGeom prst="ellipse">
            <a:avLst/>
          </a:prstGeom>
          <a:solidFill>
            <a:srgbClr val="C9CED6"/>
          </a:solidFill>
          <a:ln w="12700">
            <a:solidFill>
              <a:srgbClr val="C9CED6"/>
            </a:solidFill>
            <a:prstDash val="solid"/>
          </a:ln>
        </p:spPr>
      </p:sp>
      <p:sp>
        <p:nvSpPr>
          <p:cNvPr id="29" name="Text 27"/>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8"/>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لِأَنَّ فِي النِّهَايَةِ</a:t>
            </a:r>
            <a:endParaRPr lang="ar-SA" sz="1700" dirty="0"/>
          </a:p>
        </p:txBody>
      </p:sp>
      <p:sp>
        <p:nvSpPr>
          <p:cNvPr id="31" name="Text 29"/>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أَمَّا</a:t>
            </a:r>
            <a:pPr algn="l" indent="0" marL="0">
              <a:buNone/>
            </a:pPr>
            <a:r>
              <a:rPr lang="en-US" sz="1050" i="1" dirty="0">
                <a:solidFill>
                  <a:srgbClr val="8A6D1E"/>
                </a:solidFill>
                <a:latin typeface="Calibri" pitchFamily="34" charset="0"/>
                <a:cs typeface="Amiri" pitchFamily="2" charset="-78"/>
              </a:rPr>
              <a:t> introduces the weekend topic and </a:t>
            </a:r>
            <a:pPr algn="l" indent="0" marL="0">
              <a:buNone/>
            </a:pPr>
            <a:r>
              <a:rPr lang="ar-SA" altLang="en-US" sz="1350" dirty="0">
                <a:solidFill>
                  <a:srgbClr val="8A6D1E"/>
                </a:solidFill>
                <a:latin typeface="Amiri" pitchFamily="2" charset="-78"/>
                <a:ea typeface="Amiri" pitchFamily="2" charset="-78"/>
                <a:cs typeface="Amiri" pitchFamily="2" charset="-78"/>
              </a:rPr>
              <a:t>فَـ</a:t>
            </a:r>
            <a:pPr algn="l" indent="0" marL="0">
              <a:buNone/>
            </a:pPr>
            <a:r>
              <a:rPr lang="en-US" sz="1050" i="1" dirty="0">
                <a:solidFill>
                  <a:srgbClr val="8A6D1E"/>
                </a:solidFill>
                <a:latin typeface="Calibri" pitchFamily="34" charset="0"/>
                <a:cs typeface="Amiri" pitchFamily="2" charset="-78"/>
              </a:rPr>
              <a:t> begins the complete comment.</a:t>
            </a:r>
            <a:endParaRPr lang="en-US" sz="1050" dirty="0"/>
          </a:p>
        </p:txBody>
      </p:sp>
      <p:sp>
        <p:nvSpPr>
          <p:cNvPr id="32" name="Shape 30"/>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1"/>
          <p:cNvSpPr/>
          <p:nvPr/>
        </p:nvSpPr>
        <p:spPr>
          <a:xfrm>
            <a:off x="4404360" y="1947672"/>
            <a:ext cx="310896" cy="310896"/>
          </a:xfrm>
          <a:prstGeom prst="ellipse">
            <a:avLst/>
          </a:prstGeom>
          <a:solidFill>
            <a:srgbClr val="1B3B6F"/>
          </a:solidFill>
          <a:ln w="12700">
            <a:solidFill>
              <a:srgbClr val="1B3B6F"/>
            </a:solidFill>
            <a:prstDash val="solid"/>
          </a:ln>
        </p:spPr>
      </p:sp>
      <p:sp>
        <p:nvSpPr>
          <p:cNvPr id="34" name="Text 32"/>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3"/>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sentence with accurate contrast and agreement.</a:t>
            </a:r>
            <a:endParaRPr lang="en-US" sz="1250" dirty="0"/>
          </a:p>
        </p:txBody>
      </p:sp>
      <p:sp>
        <p:nvSpPr>
          <p:cNvPr id="36" name="Shape 34"/>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7" name="Shape 35"/>
          <p:cNvSpPr/>
          <p:nvPr/>
        </p:nvSpPr>
        <p:spPr>
          <a:xfrm>
            <a:off x="4459224" y="2490216"/>
            <a:ext cx="256032" cy="256032"/>
          </a:xfrm>
          <a:prstGeom prst="ellipse">
            <a:avLst/>
          </a:prstGeom>
          <a:solidFill>
            <a:srgbClr val="2E8B57"/>
          </a:solidFill>
          <a:ln w="12700">
            <a:solidFill>
              <a:srgbClr val="2E8B57"/>
            </a:solidFill>
            <a:prstDash val="solid"/>
          </a:ln>
        </p:spPr>
      </p:sp>
      <p:sp>
        <p:nvSpPr>
          <p:cNvPr id="38" name="Text 36"/>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9" name="Text 37"/>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أَقْرَأُ، بَيْنَمَا يُشَاهِدُ أَخِي مُبَارَاةً.</a:t>
            </a:r>
            <a:endParaRPr lang="ar-SA" sz="1700" dirty="0"/>
          </a:p>
        </p:txBody>
      </p:sp>
      <p:sp>
        <p:nvSpPr>
          <p:cNvPr id="40" name="Shape 38"/>
          <p:cNvSpPr/>
          <p:nvPr/>
        </p:nvSpPr>
        <p:spPr>
          <a:xfrm>
            <a:off x="4459224" y="2862072"/>
            <a:ext cx="256032" cy="256032"/>
          </a:xfrm>
          <a:prstGeom prst="ellipse">
            <a:avLst/>
          </a:prstGeom>
          <a:solidFill>
            <a:srgbClr val="C9CED6"/>
          </a:solidFill>
          <a:ln w="12700">
            <a:solidFill>
              <a:srgbClr val="C9CED6"/>
            </a:solidFill>
            <a:prstDash val="solid"/>
          </a:ln>
        </p:spPr>
      </p:sp>
      <p:sp>
        <p:nvSpPr>
          <p:cNvPr id="41" name="Text 39"/>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2" name="Text 40"/>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أَقْرَأُ، بَيْنَمَا تُشَاهِدُ أَخِي مُبَارَاةً.</a:t>
            </a:r>
            <a:endParaRPr lang="ar-SA" sz="1700" dirty="0"/>
          </a:p>
        </p:txBody>
      </p:sp>
      <p:sp>
        <p:nvSpPr>
          <p:cNvPr id="43" name="Shape 41"/>
          <p:cNvSpPr/>
          <p:nvPr/>
        </p:nvSpPr>
        <p:spPr>
          <a:xfrm>
            <a:off x="4459224" y="3233928"/>
            <a:ext cx="256032" cy="256032"/>
          </a:xfrm>
          <a:prstGeom prst="ellipse">
            <a:avLst/>
          </a:prstGeom>
          <a:solidFill>
            <a:srgbClr val="C9CED6"/>
          </a:solidFill>
          <a:ln w="12700">
            <a:solidFill>
              <a:srgbClr val="C9CED6"/>
            </a:solidFill>
            <a:prstDash val="solid"/>
          </a:ln>
        </p:spPr>
      </p:sp>
      <p:sp>
        <p:nvSpPr>
          <p:cNvPr id="44" name="Text 42"/>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3"/>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أَقْرَأُ بَيْنَمَا أَخِي أُشَاهِدُ.</a:t>
            </a:r>
            <a:endParaRPr lang="ar-SA" sz="1700" dirty="0"/>
          </a:p>
        </p:txBody>
      </p:sp>
      <p:sp>
        <p:nvSpPr>
          <p:cNvPr id="46" name="Text 44"/>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أَخِي</a:t>
            </a:r>
            <a:pPr algn="l" indent="0" marL="0">
              <a:buNone/>
            </a:pPr>
            <a:r>
              <a:rPr lang="en-US" sz="1050" i="1" dirty="0">
                <a:solidFill>
                  <a:srgbClr val="8A6D1E"/>
                </a:solidFill>
                <a:latin typeface="Calibri" pitchFamily="34" charset="0"/>
                <a:cs typeface="Amiri" pitchFamily="2" charset="-78"/>
              </a:rPr>
              <a:t> is masculine, so its verb is </a:t>
            </a:r>
            <a:pPr algn="l" indent="0" marL="0">
              <a:buNone/>
            </a:pPr>
            <a:r>
              <a:rPr lang="ar-SA" altLang="en-US" sz="1350" dirty="0">
                <a:solidFill>
                  <a:srgbClr val="8A6D1E"/>
                </a:solidFill>
                <a:latin typeface="Amiri" pitchFamily="2" charset="-78"/>
                <a:ea typeface="Amiri" pitchFamily="2" charset="-78"/>
                <a:cs typeface="Amiri" pitchFamily="2" charset="-78"/>
              </a:rPr>
              <a:t>يُشَاهِدُ</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7" name="Shape 45"/>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6"/>
          <p:cNvSpPr/>
          <p:nvPr/>
        </p:nvSpPr>
        <p:spPr>
          <a:xfrm>
            <a:off x="8223504" y="1947672"/>
            <a:ext cx="310896" cy="310896"/>
          </a:xfrm>
          <a:prstGeom prst="ellipse">
            <a:avLst/>
          </a:prstGeom>
          <a:solidFill>
            <a:srgbClr val="1B3B6F"/>
          </a:solidFill>
          <a:ln w="12700">
            <a:solidFill>
              <a:srgbClr val="1B3B6F"/>
            </a:solidFill>
            <a:prstDash val="solid"/>
          </a:ln>
        </p:spPr>
      </p:sp>
      <p:sp>
        <p:nvSpPr>
          <p:cNvPr id="49" name="Text 47"/>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8"/>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repeated condition.</a:t>
            </a:r>
            <a:endParaRPr lang="en-US" sz="1250" dirty="0"/>
          </a:p>
        </p:txBody>
      </p:sp>
      <p:sp>
        <p:nvSpPr>
          <p:cNvPr id="51" name="Shape 49"/>
          <p:cNvSpPr/>
          <p:nvPr/>
        </p:nvSpPr>
        <p:spPr>
          <a:xfrm>
            <a:off x="8278368" y="2490216"/>
            <a:ext cx="256032" cy="256032"/>
          </a:xfrm>
          <a:prstGeom prst="ellipse">
            <a:avLst/>
          </a:prstGeom>
          <a:solidFill>
            <a:srgbClr val="C9CED6"/>
          </a:solidFill>
          <a:ln w="12700">
            <a:solidFill>
              <a:srgbClr val="C9CED6"/>
            </a:solidFill>
            <a:prstDash val="solid"/>
          </a:ln>
        </p:spPr>
      </p:sp>
      <p:sp>
        <p:nvSpPr>
          <p:cNvPr id="52" name="Text 50"/>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1"/>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إِذَا الوَقْتُ ذَهَبْتُ أَمْسِ.</a:t>
            </a:r>
            <a:endParaRPr lang="ar-SA" sz="1700" dirty="0"/>
          </a:p>
        </p:txBody>
      </p:sp>
      <p:sp>
        <p:nvSpPr>
          <p:cNvPr id="54" name="Shape 52"/>
          <p:cNvSpPr/>
          <p:nvPr/>
        </p:nvSpPr>
        <p:spPr>
          <a:xfrm>
            <a:off x="8278368" y="2862072"/>
            <a:ext cx="256032" cy="256032"/>
          </a:xfrm>
          <a:prstGeom prst="ellipse">
            <a:avLst/>
          </a:prstGeom>
          <a:solidFill>
            <a:srgbClr val="C9CED6"/>
          </a:solidFill>
          <a:ln w="12700">
            <a:solidFill>
              <a:srgbClr val="C9CED6"/>
            </a:solidFill>
            <a:prstDash val="solid"/>
          </a:ln>
        </p:spPr>
      </p:sp>
      <p:sp>
        <p:nvSpPr>
          <p:cNvPr id="55" name="Text 53"/>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6" name="Text 54"/>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لِأَنَّ كَانَ لَدَيَّ وَقْتٌ أَذْهَبُ.</a:t>
            </a:r>
            <a:endParaRPr lang="ar-SA" sz="1700" dirty="0"/>
          </a:p>
        </p:txBody>
      </p:sp>
      <p:sp>
        <p:nvSpPr>
          <p:cNvPr id="57" name="Shape 55"/>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8" name="Shape 56"/>
          <p:cNvSpPr/>
          <p:nvPr/>
        </p:nvSpPr>
        <p:spPr>
          <a:xfrm>
            <a:off x="8278368" y="3233928"/>
            <a:ext cx="256032" cy="256032"/>
          </a:xfrm>
          <a:prstGeom prst="ellipse">
            <a:avLst/>
          </a:prstGeom>
          <a:solidFill>
            <a:srgbClr val="2E8B57"/>
          </a:solidFill>
          <a:ln w="12700">
            <a:solidFill>
              <a:srgbClr val="2E8B57"/>
            </a:solidFill>
            <a:prstDash val="solid"/>
          </a:ln>
        </p:spPr>
      </p:sp>
      <p:sp>
        <p:nvSpPr>
          <p:cNvPr id="59" name="Text 57"/>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60" name="Text 58"/>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إِذَا كَانَ لَدَيَّ وَقْتٌ أَذْهَبُ إِلَى الحَدِيقَةِ.</a:t>
            </a:r>
            <a:endParaRPr lang="ar-SA" sz="1700" dirty="0"/>
          </a:p>
        </p:txBody>
      </p:sp>
      <p:sp>
        <p:nvSpPr>
          <p:cNvPr id="61" name="Text 59"/>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For a repeated or likely condition, use </a:t>
            </a:r>
            <a:pPr algn="l" indent="0" marL="0">
              <a:buNone/>
            </a:pPr>
            <a:r>
              <a:rPr lang="ar-SA" altLang="en-US" sz="1350" dirty="0">
                <a:solidFill>
                  <a:srgbClr val="8A6D1E"/>
                </a:solidFill>
                <a:latin typeface="Amiri" pitchFamily="2" charset="-78"/>
                <a:ea typeface="Amiri" pitchFamily="2" charset="-78"/>
                <a:cs typeface="Amiri" pitchFamily="2" charset="-78"/>
              </a:rPr>
              <a:t>إِذَا</a:t>
            </a:r>
            <a:pPr algn="l" indent="0" marL="0">
              <a:buNone/>
            </a:pPr>
            <a:r>
              <a:rPr lang="en-US" sz="1050" i="1" dirty="0">
                <a:solidFill>
                  <a:srgbClr val="8A6D1E"/>
                </a:solidFill>
                <a:latin typeface="Calibri" pitchFamily="34" charset="0"/>
                <a:cs typeface="Amiri" pitchFamily="2" charset="-78"/>
              </a:rPr>
              <a:t> + present situation + present result.</a:t>
            </a:r>
            <a:endParaRPr lang="en-US" sz="1050" dirty="0"/>
          </a:p>
        </p:txBody>
      </p:sp>
      <p:sp>
        <p:nvSpPr>
          <p:cNvPr id="62" name="Shape 60"/>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1"/>
          <p:cNvSpPr/>
          <p:nvPr/>
        </p:nvSpPr>
        <p:spPr>
          <a:xfrm>
            <a:off x="585216" y="4288536"/>
            <a:ext cx="310896" cy="310896"/>
          </a:xfrm>
          <a:prstGeom prst="ellipse">
            <a:avLst/>
          </a:prstGeom>
          <a:solidFill>
            <a:srgbClr val="1B3B6F"/>
          </a:solidFill>
          <a:ln w="12700">
            <a:solidFill>
              <a:srgbClr val="1B3B6F"/>
            </a:solidFill>
            <a:prstDash val="solid"/>
          </a:ln>
        </p:spPr>
      </p:sp>
      <p:sp>
        <p:nvSpPr>
          <p:cNvPr id="64" name="Text 6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3"/>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means “I seldom stay at home all day”?</a:t>
            </a:r>
            <a:endParaRPr lang="en-US" sz="1250" dirty="0"/>
          </a:p>
        </p:txBody>
      </p:sp>
      <p:sp>
        <p:nvSpPr>
          <p:cNvPr id="66" name="Shape 64"/>
          <p:cNvSpPr/>
          <p:nvPr/>
        </p:nvSpPr>
        <p:spPr>
          <a:xfrm>
            <a:off x="640080" y="4831080"/>
            <a:ext cx="256032" cy="256032"/>
          </a:xfrm>
          <a:prstGeom prst="ellipse">
            <a:avLst/>
          </a:prstGeom>
          <a:solidFill>
            <a:srgbClr val="C9CED6"/>
          </a:solidFill>
          <a:ln w="12700">
            <a:solidFill>
              <a:srgbClr val="C9CED6"/>
            </a:solidFill>
            <a:prstDash val="solid"/>
          </a:ln>
        </p:spPr>
      </p:sp>
      <p:sp>
        <p:nvSpPr>
          <p:cNvPr id="67" name="Text 65"/>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6"/>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غَالِبًا مَا أَبْقَى فِي البَيْتِ طَوَالَ اليَوْمِ.</a:t>
            </a:r>
            <a:endParaRPr lang="ar-SA" sz="1700" dirty="0"/>
          </a:p>
        </p:txBody>
      </p:sp>
      <p:sp>
        <p:nvSpPr>
          <p:cNvPr id="69" name="Shape 67"/>
          <p:cNvSpPr/>
          <p:nvPr/>
        </p:nvSpPr>
        <p:spPr>
          <a:xfrm>
            <a:off x="640080" y="5202936"/>
            <a:ext cx="256032" cy="256032"/>
          </a:xfrm>
          <a:prstGeom prst="ellipse">
            <a:avLst/>
          </a:prstGeom>
          <a:solidFill>
            <a:srgbClr val="C9CED6"/>
          </a:solidFill>
          <a:ln w="12700">
            <a:solidFill>
              <a:srgbClr val="C9CED6"/>
            </a:solidFill>
            <a:prstDash val="solid"/>
          </a:ln>
        </p:spPr>
      </p:sp>
      <p:sp>
        <p:nvSpPr>
          <p:cNvPr id="70" name="Text 68"/>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9"/>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دَائِمًا لَا أَبْقَى أَبَدًا.</a:t>
            </a:r>
            <a:endParaRPr lang="ar-SA" sz="1700" dirty="0"/>
          </a:p>
        </p:txBody>
      </p:sp>
      <p:sp>
        <p:nvSpPr>
          <p:cNvPr id="72" name="Shape 70"/>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3" name="Shape 71"/>
          <p:cNvSpPr/>
          <p:nvPr/>
        </p:nvSpPr>
        <p:spPr>
          <a:xfrm>
            <a:off x="640080" y="5574792"/>
            <a:ext cx="256032" cy="256032"/>
          </a:xfrm>
          <a:prstGeom prst="ellipse">
            <a:avLst/>
          </a:prstGeom>
          <a:solidFill>
            <a:srgbClr val="2E8B57"/>
          </a:solidFill>
          <a:ln w="12700">
            <a:solidFill>
              <a:srgbClr val="2E8B57"/>
            </a:solidFill>
            <a:prstDash val="solid"/>
          </a:ln>
        </p:spPr>
      </p:sp>
      <p:sp>
        <p:nvSpPr>
          <p:cNvPr id="74" name="Text 72"/>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5" name="Text 73"/>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نَادِرًا مَا أَبْقَى فِي البَيْتِ طَوَالَ اليَوْمِ.</a:t>
            </a:r>
            <a:endParaRPr lang="ar-SA" sz="1700" dirty="0"/>
          </a:p>
        </p:txBody>
      </p:sp>
      <p:sp>
        <p:nvSpPr>
          <p:cNvPr id="76" name="Text 74"/>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نَادِرًا مَا</a:t>
            </a:r>
            <a:pPr algn="l" indent="0" marL="0">
              <a:buNone/>
            </a:pPr>
            <a:r>
              <a:rPr lang="en-US" sz="1050" i="1" dirty="0">
                <a:solidFill>
                  <a:srgbClr val="8A6D1E"/>
                </a:solidFill>
                <a:latin typeface="Calibri" pitchFamily="34" charset="0"/>
                <a:cs typeface="Amiri" pitchFamily="2" charset="-78"/>
              </a:rPr>
              <a:t> expresses “seldom / rarely”.</a:t>
            </a:r>
            <a:endParaRPr lang="en-US" sz="1050" dirty="0"/>
          </a:p>
        </p:txBody>
      </p:sp>
      <p:sp>
        <p:nvSpPr>
          <p:cNvPr id="77" name="Shape 75"/>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6"/>
          <p:cNvSpPr/>
          <p:nvPr/>
        </p:nvSpPr>
        <p:spPr>
          <a:xfrm>
            <a:off x="4404360" y="4288536"/>
            <a:ext cx="310896" cy="310896"/>
          </a:xfrm>
          <a:prstGeom prst="ellipse">
            <a:avLst/>
          </a:prstGeom>
          <a:solidFill>
            <a:srgbClr val="1B3B6F"/>
          </a:solidFill>
          <a:ln w="12700">
            <a:solidFill>
              <a:srgbClr val="1B3B6F"/>
            </a:solidFill>
            <a:prstDash val="solid"/>
          </a:ln>
        </p:spPr>
      </p:sp>
      <p:sp>
        <p:nvSpPr>
          <p:cNvPr id="79" name="Text 77"/>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0" name="Text 78"/>
          <p:cNvSpPr txBox="1"/>
          <p:nvPr/>
        </p:nvSpPr>
        <p:spPr>
          <a:xfrm>
            <a:off x="4770120"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Read:</a:t>
            </a:r>
            <a:endParaRPr lang="en-US" sz="1200" dirty="0"/>
          </a:p>
        </p:txBody>
      </p:sp>
      <p:sp>
        <p:nvSpPr>
          <p:cNvPr id="81" name="Text 79"/>
          <p:cNvSpPr txBox="1"/>
          <p:nvPr/>
        </p:nvSpPr>
        <p:spPr>
          <a:xfrm>
            <a:off x="6225845" y="4224528"/>
            <a:ext cx="1577035" cy="475488"/>
          </a:xfrm>
          <a:prstGeom prst="rect">
            <a:avLst/>
          </a:prstGeom>
          <a:noFill/>
          <a:ln/>
        </p:spPr>
        <p:txBody>
          <a:bodyPr wrap="square" lIns="0" tIns="0" rIns="0" bIns="0" rtlCol="0" anchor="ctr"/>
          <a:lstStyle/>
          <a:p>
            <a:pPr algn="l" indent="0" marL="0">
              <a:buNone/>
            </a:pPr>
            <a:r>
              <a:rPr lang="ar-SA" altLang="en-US" sz="1300" b="1" dirty="0">
                <a:solidFill>
                  <a:srgbClr val="1F2A37"/>
                </a:solidFill>
                <a:latin typeface="Amiri" pitchFamily="2" charset="-78"/>
                <a:ea typeface="Amiri" pitchFamily="2" charset="-78"/>
                <a:cs typeface="Amiri" pitchFamily="2" charset="-78"/>
              </a:rPr>
              <a:t>صَبَاحَ السَّبْتِ أُرَاجِعُ دُرُوسِي، ثُمَّ أَلْتَقِي بِأَصْدِقَائِي</a:t>
            </a:r>
            <a:pPr algn="l" indent="0" marL="0">
              <a:buNone/>
            </a:pPr>
            <a:r>
              <a:rPr lang="en-US" sz="1000" b="1" dirty="0">
                <a:solidFill>
                  <a:srgbClr val="1F2A37"/>
                </a:solidFill>
                <a:latin typeface="Calibri" pitchFamily="34" charset="0"/>
                <a:cs typeface="Amiri" pitchFamily="2" charset="-78"/>
              </a:rPr>
              <a:t>. What happens after revision?</a:t>
            </a:r>
            <a:endParaRPr lang="en-US" sz="1000" dirty="0"/>
          </a:p>
        </p:txBody>
      </p:sp>
      <p:sp>
        <p:nvSpPr>
          <p:cNvPr id="82" name="Shape 80"/>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3" name="Shape 81"/>
          <p:cNvSpPr/>
          <p:nvPr/>
        </p:nvSpPr>
        <p:spPr>
          <a:xfrm>
            <a:off x="4459224" y="4831080"/>
            <a:ext cx="256032" cy="256032"/>
          </a:xfrm>
          <a:prstGeom prst="ellipse">
            <a:avLst/>
          </a:prstGeom>
          <a:solidFill>
            <a:srgbClr val="2E8B57"/>
          </a:solidFill>
          <a:ln w="12700">
            <a:solidFill>
              <a:srgbClr val="2E8B57"/>
            </a:solidFill>
            <a:prstDash val="solid"/>
          </a:ln>
        </p:spPr>
      </p:sp>
      <p:sp>
        <p:nvSpPr>
          <p:cNvPr id="84" name="Text 82"/>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5" name="Text 83"/>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يَلْتَقِي بِأَصْدِقَائِهِ.</a:t>
            </a:r>
            <a:endParaRPr lang="ar-SA" sz="1700" dirty="0"/>
          </a:p>
        </p:txBody>
      </p:sp>
      <p:sp>
        <p:nvSpPr>
          <p:cNvPr id="86" name="Shape 84"/>
          <p:cNvSpPr/>
          <p:nvPr/>
        </p:nvSpPr>
        <p:spPr>
          <a:xfrm>
            <a:off x="4459224" y="5202936"/>
            <a:ext cx="256032" cy="256032"/>
          </a:xfrm>
          <a:prstGeom prst="ellipse">
            <a:avLst/>
          </a:prstGeom>
          <a:solidFill>
            <a:srgbClr val="C9CED6"/>
          </a:solidFill>
          <a:ln w="12700">
            <a:solidFill>
              <a:srgbClr val="C9CED6"/>
            </a:solidFill>
            <a:prstDash val="solid"/>
          </a:ln>
        </p:spPr>
      </p:sp>
      <p:sp>
        <p:nvSpPr>
          <p:cNvPr id="87" name="Text 85"/>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8" name="Text 86"/>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يَنَامُ طَوَالَ اليَوْمِ.</a:t>
            </a:r>
            <a:endParaRPr lang="ar-SA" sz="1700" dirty="0"/>
          </a:p>
        </p:txBody>
      </p:sp>
      <p:sp>
        <p:nvSpPr>
          <p:cNvPr id="89" name="Shape 87"/>
          <p:cNvSpPr/>
          <p:nvPr/>
        </p:nvSpPr>
        <p:spPr>
          <a:xfrm>
            <a:off x="4459224" y="5574792"/>
            <a:ext cx="256032" cy="256032"/>
          </a:xfrm>
          <a:prstGeom prst="ellipse">
            <a:avLst/>
          </a:prstGeom>
          <a:solidFill>
            <a:srgbClr val="C9CED6"/>
          </a:solidFill>
          <a:ln w="12700">
            <a:solidFill>
              <a:srgbClr val="C9CED6"/>
            </a:solidFill>
            <a:prstDash val="solid"/>
          </a:ln>
        </p:spPr>
      </p:sp>
      <p:sp>
        <p:nvSpPr>
          <p:cNvPr id="90" name="Text 88"/>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1" name="Text 89"/>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يَذْهَبُ إِلَى المَدْرَسَةِ.</a:t>
            </a:r>
            <a:endParaRPr lang="ar-SA" sz="1700" dirty="0"/>
          </a:p>
        </p:txBody>
      </p:sp>
      <p:sp>
        <p:nvSpPr>
          <p:cNvPr id="92" name="Text 90"/>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ثُمَّ</a:t>
            </a:r>
            <a:pPr algn="l" indent="0" marL="0">
              <a:buNone/>
            </a:pPr>
            <a:r>
              <a:rPr lang="en-US" sz="1050" i="1" dirty="0">
                <a:solidFill>
                  <a:srgbClr val="8A6D1E"/>
                </a:solidFill>
                <a:latin typeface="Calibri" pitchFamily="34" charset="0"/>
                <a:cs typeface="Amiri" pitchFamily="2" charset="-78"/>
              </a:rPr>
              <a:t> signals the next action: meeting friends.</a:t>
            </a:r>
            <a:endParaRPr lang="en-US" sz="1050" dirty="0"/>
          </a:p>
        </p:txBody>
      </p:sp>
      <p:sp>
        <p:nvSpPr>
          <p:cNvPr id="93" name="Shape 91"/>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4" name="Shape 92"/>
          <p:cNvSpPr/>
          <p:nvPr/>
        </p:nvSpPr>
        <p:spPr>
          <a:xfrm>
            <a:off x="8223504" y="4288536"/>
            <a:ext cx="310896" cy="310896"/>
          </a:xfrm>
          <a:prstGeom prst="ellipse">
            <a:avLst/>
          </a:prstGeom>
          <a:solidFill>
            <a:srgbClr val="1B3B6F"/>
          </a:solidFill>
          <a:ln w="12700">
            <a:solidFill>
              <a:srgbClr val="1B3B6F"/>
            </a:solidFill>
            <a:prstDash val="solid"/>
          </a:ln>
        </p:spPr>
      </p:sp>
      <p:sp>
        <p:nvSpPr>
          <p:cNvPr id="95" name="Text 93"/>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6" name="Text 94"/>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strongest evaluation of a balanced weekend.</a:t>
            </a:r>
            <a:endParaRPr lang="en-US" sz="1250" dirty="0"/>
          </a:p>
        </p:txBody>
      </p:sp>
      <p:sp>
        <p:nvSpPr>
          <p:cNvPr id="97" name="Shape 95"/>
          <p:cNvSpPr/>
          <p:nvPr/>
        </p:nvSpPr>
        <p:spPr>
          <a:xfrm>
            <a:off x="8278368" y="4831080"/>
            <a:ext cx="256032" cy="256032"/>
          </a:xfrm>
          <a:prstGeom prst="ellipse">
            <a:avLst/>
          </a:prstGeom>
          <a:solidFill>
            <a:srgbClr val="C9CED6"/>
          </a:solidFill>
          <a:ln w="12700">
            <a:solidFill>
              <a:srgbClr val="C9CED6"/>
            </a:solidFill>
            <a:prstDash val="solid"/>
          </a:ln>
        </p:spPr>
      </p:sp>
      <p:sp>
        <p:nvSpPr>
          <p:cNvPr id="98" name="Text 96"/>
          <p:cNvSpPr txBox="1"/>
          <p:nvPr/>
        </p:nvSpPr>
        <p:spPr>
          <a:xfrm>
            <a:off x="827836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9" name="Text 97"/>
          <p:cNvSpPr txBox="1"/>
          <p:nvPr/>
        </p:nvSpPr>
        <p:spPr>
          <a:xfrm>
            <a:off x="8607552" y="4773168"/>
            <a:ext cx="2977896" cy="371856"/>
          </a:xfrm>
          <a:prstGeom prst="rect">
            <a:avLst/>
          </a:prstGeom>
          <a:noFill/>
          <a:ln/>
        </p:spPr>
        <p:txBody>
          <a:bodyPr wrap="square" lIns="0" tIns="0" rIns="0" bIns="0" rtlCol="0" anchor="ctr"/>
          <a:lstStyle/>
          <a:p>
            <a:pPr rtl="1" algn="r" indent="0" marL="0">
              <a:buNone/>
            </a:pPr>
            <a:r>
              <a:rPr lang="ar-SA" altLang="en-US" sz="1350" dirty="0">
                <a:solidFill>
                  <a:srgbClr val="9AA1AB"/>
                </a:solidFill>
                <a:latin typeface="Amiri" pitchFamily="2" charset="-78"/>
                <a:ea typeface="Amiri" pitchFamily="2" charset="-78"/>
                <a:cs typeface="Amiri" pitchFamily="2" charset="-78"/>
              </a:rPr>
              <a:t>عُطْلَةٌ جَيِّدَةٌ.</a:t>
            </a:r>
            <a:endParaRPr lang="ar-SA" sz="1350" dirty="0"/>
          </a:p>
        </p:txBody>
      </p:sp>
      <p:sp>
        <p:nvSpPr>
          <p:cNvPr id="100" name="Shape 98"/>
          <p:cNvSpPr/>
          <p:nvPr/>
        </p:nvSpPr>
        <p:spPr>
          <a:xfrm>
            <a:off x="8186928" y="5166360"/>
            <a:ext cx="3453384" cy="347472"/>
          </a:xfrm>
          <a:prstGeom prst="roundRect">
            <a:avLst>
              <a:gd name="adj" fmla="val 15789"/>
            </a:avLst>
          </a:prstGeom>
          <a:solidFill>
            <a:srgbClr val="E6F4EC"/>
          </a:solidFill>
          <a:ln w="9525">
            <a:solidFill>
              <a:srgbClr val="2E8B57"/>
            </a:solidFill>
            <a:prstDash val="solid"/>
          </a:ln>
        </p:spPr>
      </p:sp>
      <p:sp>
        <p:nvSpPr>
          <p:cNvPr id="101" name="Shape 99"/>
          <p:cNvSpPr/>
          <p:nvPr/>
        </p:nvSpPr>
        <p:spPr>
          <a:xfrm>
            <a:off x="8278368" y="5202936"/>
            <a:ext cx="256032" cy="256032"/>
          </a:xfrm>
          <a:prstGeom prst="ellipse">
            <a:avLst/>
          </a:prstGeom>
          <a:solidFill>
            <a:srgbClr val="2E8B57"/>
          </a:solidFill>
          <a:ln w="12700">
            <a:solidFill>
              <a:srgbClr val="2E8B57"/>
            </a:solidFill>
            <a:prstDash val="solid"/>
          </a:ln>
        </p:spPr>
      </p:sp>
      <p:sp>
        <p:nvSpPr>
          <p:cNvPr id="102" name="Text 100"/>
          <p:cNvSpPr txBox="1"/>
          <p:nvPr/>
        </p:nvSpPr>
        <p:spPr>
          <a:xfrm>
            <a:off x="8278368"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103" name="Text 101"/>
          <p:cNvSpPr txBox="1"/>
          <p:nvPr/>
        </p:nvSpPr>
        <p:spPr>
          <a:xfrm>
            <a:off x="8607552" y="5145024"/>
            <a:ext cx="2977896" cy="371856"/>
          </a:xfrm>
          <a:prstGeom prst="rect">
            <a:avLst/>
          </a:prstGeom>
          <a:noFill/>
          <a:ln/>
        </p:spPr>
        <p:txBody>
          <a:bodyPr wrap="square" lIns="0" tIns="0" rIns="0" bIns="0" rtlCol="0" anchor="ctr"/>
          <a:lstStyle/>
          <a:p>
            <a:pPr rtl="1" algn="r" indent="0" marL="0">
              <a:buNone/>
            </a:pPr>
            <a:r>
              <a:rPr lang="ar-SA" altLang="en-US" sz="1350" b="1" dirty="0">
                <a:solidFill>
                  <a:srgbClr val="1F2A37"/>
                </a:solidFill>
                <a:latin typeface="Amiri" pitchFamily="2" charset="-78"/>
                <a:ea typeface="Amiri" pitchFamily="2" charset="-78"/>
                <a:cs typeface="Amiri" pitchFamily="2" charset="-78"/>
              </a:rPr>
              <a:t>عُطْلَتِي مُتَوَازِنَةٌ لِأَنَّنِي أَسْتَرِيحُ وَأُكْمِلُ مَسْؤُولِيَّاتِي.</a:t>
            </a:r>
            <a:endParaRPr lang="ar-SA" sz="1350" dirty="0"/>
          </a:p>
        </p:txBody>
      </p:sp>
      <p:sp>
        <p:nvSpPr>
          <p:cNvPr id="104" name="Shape 102"/>
          <p:cNvSpPr/>
          <p:nvPr/>
        </p:nvSpPr>
        <p:spPr>
          <a:xfrm>
            <a:off x="8278368" y="5574792"/>
            <a:ext cx="256032" cy="256032"/>
          </a:xfrm>
          <a:prstGeom prst="ellipse">
            <a:avLst/>
          </a:prstGeom>
          <a:solidFill>
            <a:srgbClr val="C9CED6"/>
          </a:solidFill>
          <a:ln w="12700">
            <a:solidFill>
              <a:srgbClr val="C9CED6"/>
            </a:solidFill>
            <a:prstDash val="solid"/>
          </a:ln>
        </p:spPr>
      </p:sp>
      <p:sp>
        <p:nvSpPr>
          <p:cNvPr id="105" name="Text 103"/>
          <p:cNvSpPr txBox="1"/>
          <p:nvPr/>
        </p:nvSpPr>
        <p:spPr>
          <a:xfrm>
            <a:off x="827836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06" name="Text 104"/>
          <p:cNvSpPr txBox="1"/>
          <p:nvPr/>
        </p:nvSpPr>
        <p:spPr>
          <a:xfrm>
            <a:off x="8607552" y="5516880"/>
            <a:ext cx="2977896" cy="371856"/>
          </a:xfrm>
          <a:prstGeom prst="rect">
            <a:avLst/>
          </a:prstGeom>
          <a:noFill/>
          <a:ln/>
        </p:spPr>
        <p:txBody>
          <a:bodyPr wrap="square" lIns="0" tIns="0" rIns="0" bIns="0" rtlCol="0" anchor="ctr"/>
          <a:lstStyle/>
          <a:p>
            <a:pPr rtl="1" algn="r" indent="0" marL="0">
              <a:buNone/>
            </a:pPr>
            <a:r>
              <a:rPr lang="ar-SA" altLang="en-US" sz="1350" dirty="0">
                <a:solidFill>
                  <a:srgbClr val="9AA1AB"/>
                </a:solidFill>
                <a:latin typeface="Amiri" pitchFamily="2" charset="-78"/>
                <a:ea typeface="Amiri" pitchFamily="2" charset="-78"/>
                <a:cs typeface="Amiri" pitchFamily="2" charset="-78"/>
              </a:rPr>
              <a:t>السَّبْتُ وَالأَحَدُ.</a:t>
            </a:r>
            <a:endParaRPr lang="ar-SA" sz="1350" dirty="0"/>
          </a:p>
        </p:txBody>
      </p:sp>
      <p:sp>
        <p:nvSpPr>
          <p:cNvPr id="107" name="Text 105"/>
          <p:cNvSpPr txBox="1"/>
          <p:nvPr/>
        </p:nvSpPr>
        <p:spPr>
          <a:xfrm>
            <a:off x="8223504"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correct answer gives a clear evaluation and supports it with two relevant details.</a:t>
            </a:r>
            <a:endParaRPr lang="en-US" sz="1050" dirty="0"/>
          </a:p>
        </p:txBody>
      </p:sp>
      <p:sp>
        <p:nvSpPr>
          <p:cNvPr id="108" name="Text 10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44 / 46</a:t>
            </a:r>
            <a:endParaRPr lang="en-US" sz="8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D1-L08 · Weekend Routine</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D1-L09: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D1-L08</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D1-L09 · Reading Daily Routines and Weekly Schedules</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جَدْوَلٌ أُسْبُوعِيٌّ</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weekly schedule</a:t>
            </a:r>
            <a:pPr indent="0" marL="0">
              <a:buNone/>
            </a:pPr>
            <a:r>
              <a:rPr lang="ar-SA" sz="1000" i="1" dirty="0">
                <a:solidFill>
                  <a:srgbClr val="5A6472"/>
                </a:solidFill>
                <a:latin typeface="Calibri" pitchFamily="34" charset="0"/>
                <a:ea typeface="Amiri" pitchFamily="2" charset="-78"/>
                <a:cs typeface="Amiri" pitchFamily="2" charset="-78"/>
              </a:rPr>
              <a:t>  pl.: جَدَاوِلُ</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مَوْعِدُ البَدْءِ</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start time</a:t>
            </a:r>
            <a:pPr indent="0" marL="0">
              <a:buNone/>
            </a:pP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مَوْعِدُ الاِنْتِهَاءِ</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finish time</a:t>
            </a:r>
            <a:pPr indent="0" marL="0">
              <a:buNone/>
            </a:pP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الدَّلِيلُ</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evidence</a:t>
            </a:r>
            <a:pPr indent="0" marL="0">
              <a:buNone/>
            </a:pP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حَسَبَ الجَدْوَلِ</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according to the schedule</a:t>
            </a:r>
            <a:pPr indent="0" marL="0">
              <a:buNone/>
            </a:pP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Look at your own school timetable. Which day is the busiest, and how do you know?</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مَا أَكْثَرُ يَوْمٍ اِنْشِغَالًا فِي جَدْوَلِكَ؟</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D1-L08: the vocabulary tab and the sorter “Weekend balance board”.</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8 sentences: Saturday, Sunday and one contrast with a family member.</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writing task: 100–120 words about your weekend and how it differs from school days.</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45 / 46</a:t>
            </a:r>
            <a:endParaRPr lang="en-US" sz="8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D1-L08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850" b="1" dirty="0">
                <a:solidFill>
                  <a:srgbClr val="FFFFFF"/>
                </a:solidFill>
                <a:latin typeface="Cambria" pitchFamily="34" charset="0"/>
                <a:cs typeface="Amiri" pitchFamily="2" charset="-78"/>
              </a:rPr>
              <a:t>D1-L09 · Reading Daily Routines and Weekly Schedules</a:t>
            </a:r>
            <a:endParaRPr lang="en-US" sz="18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قِرَاءَةُ الرُّوتِينِ وَالجَدَاوِلِ</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as for + topic + fa- + comment.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46</Slides>
  <Notes>46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46</vt:i4>
      </vt:variant>
    </vt:vector>
  </HeadingPairs>
  <TitlesOfParts>
    <vt:vector size="4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D1-L08 · Weekend Routine — What Do You Do at the Weekend?</dc:title>
  <dc:subject>PptxGenJS Presentation</dc:subject>
  <dc:creator>Al Madina Online School · Arabic Department</dc:creator>
  <cp:lastModifiedBy>Al Madina Online School · Arabic Department</cp:lastModifiedBy>
  <cp:revision>1</cp:revision>
  <dcterms:created xsi:type="dcterms:W3CDTF">2026-10-11T06:40:29Z</dcterms:created>
  <dcterms:modified xsi:type="dcterms:W3CDTF">2026-10-11T06:40:29Z</dcterms:modified>
</cp:coreProperties>
</file>