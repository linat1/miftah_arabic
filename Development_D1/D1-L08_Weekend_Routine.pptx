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D1-L08. The website lesson “Weekend Routine — What Do You Do at the Weekend?”: vocabulary, grammar rules and quiz, patterns, common mistakes, sorter, listening, reading, speaking prompts and model, writing task and model, differentiation, final check and the lesson mission. Picture match: website visual game “Weekend Routine — What Do You Do at the Weekend?”.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weekend activities with a day (يَوْمَ السَّبْتِ …) and one contrast frame learnt as a chunk: أَمَّا فِي نِهَايَةِ الأُسْبُوعِ فَـ …
• Develop: Saturday vs Sunday vs school days, with بَيْنَمَا for another person (recycles D1-L06). Stretch: إِذَا conditions, flexible frequency and an evaluation of balance with evidence.
• Sensitivity: weekends differ a lot between families (work, madrasa, caring duties). Students may invent a weekend — the language is what is assessed.
• Urdu bridge: عطلہ / تعطیل، اقارب، شوق (→ hobby)، مسئولیت / ذمہ داری، توازن.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D1-L07 (you m./f., question words) and D1-L03 (أَمَّا … فَـ).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School days are fixed; the weekend is flexible. Contrast them, and say what depends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تعطیل / تعطیلات (holidays) → عُطْلَةٌ. اقارب (relatives, formal Urdu) → أَقَارِبُ (sg. قَرِيبٌ). توازن → تَوَازُنٌ (balance). مسئولیت (responsibility) → مَسْؤُولِيَّةٌ. FALSE FRIEND: Urdu موسم = weather, but Arabic مَوْسِمٌ = season; weather in Arabic is الطَّقْسُ (حَسَبَ الطَّقْسِ =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(1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(2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“Contrast school days and weekends” (أَمَّا introduces the new topic and فَـ begins the comment) and website pattern 3.
Website common error: فَأَمَّا السَّبْتُ أَسْتَرِيحُ ✗ → أَمَّا السَّبْتُ فَأَسْتَرِيحُ ✓.
Core: learn row 1 as a chunk. Develop: rows 1–3, changing the activity. Stretch: row 4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“Express a real condition with إِذَا” (the present can describe a repeated or likely condition), “Use flexible frequency precisely” (غَالِبًا مَا، فِي بَعْضِ الأَحْيَانِ، نَادِرًا مَا) and “Contrast two people or activities with بَيْنَمَا”.
Useful chunk for everyone: إِذَا كَانَ لَدَيَّ وَقْتٌ (if I have time) — students learn it whole. Also حَسَبَ الطَّقْسِ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“Weekend language often describes what usually happens and what changes according to time or circumstances. Combine contrast markers with simple conditional frames to express flexibility.”
• Contrast school days and weekends: أَمَّا introduces the new topic and فَـ begins the comment.
• Contrast two people or activities with بَيْنَمَا: Each verb must agree with its own subject.
• Express a real condition with إِذَا: The present tense can describe a repeated or likely condition.
• Use flexible frequency precisely: These frames describe tendencies without claiming a fixed timetable.
Website common error: Do not place فَـ before أَمَّا. The correct frame is أَمَّا + topic + فَـ + comment. Keep each verb matched to its own subject after بَيْنَمَا.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a short weekend, with a think-aloud. Students copy it and label each sentence: CONTRAST · FREQUENCY · CONDITION ·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picture-game sentences (school-day routine) become weekend contrasts. 20 seconds each; chat the letters. Q1–2 target the website’s main error (the position of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volunteers change the activity and say their own weekend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نِهَايَةِ الأُسْبُوعِ لَا أَتَّبِعُ جَدْوَلًا صَارِمًا. صَبَاحَ السَّبْتِ غَالِبًا مَا أُسَاعِدُ أُسْرَتِي، ثُمَّ أَلْتَقِي بِصَدِيقَاتِي إِذَا كَانَ لَدَيَّ وَقْتٌ. أَمَّا مَسَاءُ السَّبْتِ فَأَقْضِيهِ مَعَ أُسْرَتِي. يَوْمَ الأَحَدِ أُرَاجِعُ دُرُوسِي لِمُدَّةِ سَاعَةٍ، بَيْنَمَا يَذْهَبُ أَخِي إِلَى التَّدْرِيبِ. بَعْدَ ذٰلِكَ نَزُورُ جَدَّتَنَا. أُحِبُّ هٰذَا التَّوَازُنَ لِأَنَّنِي أَسْتَرِيحُ وَأَسْتَعِدُّ لِلْأُسْبُوعِ الجَدِيدِ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1, 2, 3 and 5. (Prompt 4 “Which responsibilities do you complete?” is a good extra question for fast finishers.) Remind students to ask a girl with -īna (D1-L07): مَاذَا تَفْعَلِينَ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four weekend activities. · Develop — Contrast Saturday, Sunday and school days accurately. · Stretch — Evaluate flexibility and balance through evidence and qualification.
Website writing task (Stretch): Write 100–120 words about your weekend routine and how it differs from school days.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أَمَّا يَوْمُ السَّبْتِ فَأَسْتَيْقِظُ · إِذَا كَانَ لَدَيَّ وَقْتٌ · غَالِبًا مَا، نَادِرًا مَا، لِمُدَّةِ سَاعَةٍ · بَيْنَمَا يُشَاهِدُ أَخِي · مُتَوَازِنَةٌ لِأَنَّهَا تَجْمَعُ … وَلٰكِنَّنِي أُرِيدُ أَنْ أَقْرَأَ أَكْثَرَ (qualification).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(D1-L09 · Reading Daily Routines and Weekly Schedules) will spend class time USING this language, so students prepare it tonight — short, simple, easy to access (school guidance: “Simple, Short, Interesting, Relevant, Easy to access”). The five words come from the website D1-L09 vocabulary (routine texts and schedules, reading evidence).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Weekend Routine — What Do You Do at the Weekend?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رُوتِينُ عُطْلَةِ نِهَايَةِ الأُسْبُوعِ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Contrast the fixed school week with a flexible weekend: </a:t>
            </a:r>
            <a:pPr algn="l" indent="0" marL="0">
              <a:buNone/>
            </a:pPr>
            <a:r>
              <a:rPr lang="ar-SA" altLang="en-US" sz="1800" dirty="0">
                <a:solidFill>
                  <a:srgbClr val="C6D2E6"/>
                </a:solidFill>
                <a:latin typeface="Amiri" pitchFamily="2" charset="-78"/>
                <a:cs typeface="Amiri" pitchFamily="2" charset="-78"/>
              </a:rPr>
              <a:t>أَمَّا … فَـ</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“if I have time” with </a:t>
            </a:r>
            <a:pPr algn="l" indent="0" marL="0">
              <a:buNone/>
            </a:pPr>
            <a:r>
              <a:rPr lang="ar-SA" altLang="en-US" sz="1800" dirty="0">
                <a:solidFill>
                  <a:srgbClr val="C6D2E6"/>
                </a:solidFill>
                <a:latin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flexible frequency (</a:t>
            </a:r>
            <a:pPr algn="l" indent="0" marL="0">
              <a:buNone/>
            </a:pPr>
            <a:r>
              <a:rPr lang="ar-SA" altLang="en-US" sz="1800" dirty="0">
                <a:solidFill>
                  <a:srgbClr val="C6D2E6"/>
                </a:solidFill>
                <a:latin typeface="Amiri" pitchFamily="2" charset="-78"/>
                <a:cs typeface="Amiri" pitchFamily="2" charset="-78"/>
              </a:rPr>
              <a:t>غَالِبًا مَا، فِي بَعْضِ الأَحْيَانِ</a:t>
            </a:r>
            <a:pPr algn="l" indent="0" marL="0">
              <a:buNone/>
            </a:pPr>
            <a:r>
              <a:rPr lang="en-US" sz="1400" dirty="0">
                <a:solidFill>
                  <a:srgbClr val="C6D2E6"/>
                </a:solidFill>
                <a:latin typeface="Calibri" pitchFamily="34" charset="0"/>
                <a:cs typeface="Amiri" pitchFamily="2" charset="-78"/>
              </a:rPr>
              <a:t>) and a judgement about balance.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D1-L08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days vs the weekend; “if I have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day → weekend, sort for balance,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أَزُورُ أَقَارِبِي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meet my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 my relatives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shopping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وَقْتُ الفَرَاغِ</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 time at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يَفْعَلُ؟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a reason?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أَمَّا يَوْمُ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هُوَ يَوْمُ الرَّاحَةِ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أَزُورُ أَقَارِبِي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meet my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visit my relatives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go shopping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وَقْتُ الفَرَاغِ</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free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 time at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تَفْعَلُ؟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يَفْعَلُ؟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تَفْعَلِينَ؟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girl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a reason?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question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أَمَّا يَوْمُ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هُوَ يَوْمُ الرَّاحَةِ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a:t>
            </a:r>
            <a:pPr algn="l" indent="0" marL="0">
              <a:buNone/>
            </a:pPr>
            <a:r>
              <a:rPr lang="ar-SA" altLang="en-US" sz="1350" dirty="0">
                <a:solidFill>
                  <a:srgbClr val="8A6D1E"/>
                </a:solidFill>
                <a:latin typeface="Amiri" pitchFamily="2" charset="-78"/>
                <a:cs typeface="Amiri" pitchFamily="2" charset="-78"/>
              </a:rPr>
              <a:t>أَمَّا … فَـ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School days are fixed; the weekend is flexible. Contrast them, and say what depends on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cs typeface="Amiri" pitchFamily="2" charset="-78"/>
              </a:rPr>
              <a:t>أَمَّا</a:t>
            </a:r>
            <a:pPr rtl="1" algn="ctr" indent="0" marL="0">
              <a:lnSpc>
                <a:spcPct val="120000"/>
              </a:lnSpc>
              <a:buNone/>
            </a:pPr>
            <a:r>
              <a:rPr lang="ar-SA" altLang="en-US" sz="1700" b="1" dirty="0">
                <a:solidFill>
                  <a:srgbClr val="1B3B6F"/>
                </a:solidFill>
                <a:latin typeface="Amiri" pitchFamily="2" charset="-78"/>
                <a:cs typeface="Amiri" pitchFamily="2" charset="-78"/>
              </a:rPr>
              <a:t> فِي نِهَايَةِ الأُسْبُوعِ </a:t>
            </a:r>
            <a:pPr rtl="1" algn="ctr" indent="0" marL="0">
              <a:lnSpc>
                <a:spcPct val="120000"/>
              </a:lnSpc>
              <a:buNone/>
            </a:pPr>
            <a:r>
              <a:rPr lang="ar-SA" altLang="en-US" sz="1700" b="1" dirty="0">
                <a:solidFill>
                  <a:srgbClr val="0E7C86"/>
                </a:solidFill>
                <a:latin typeface="Amiri" pitchFamily="2" charset="-78"/>
                <a:cs typeface="Amiri" pitchFamily="2" charset="-78"/>
              </a:rPr>
              <a:t>فَأَنَامُ</a:t>
            </a:r>
            <a:pPr rtl="1" algn="ctr" indent="0" marL="0">
              <a:lnSpc>
                <a:spcPct val="120000"/>
              </a:lnSpc>
              <a:buNone/>
            </a:pPr>
            <a:r>
              <a:rPr lang="ar-SA" altLang="en-US" sz="1700" b="1" dirty="0">
                <a:solidFill>
                  <a:srgbClr val="1B3B6F"/>
                </a:solidFill>
                <a:latin typeface="Amiri" pitchFamily="2" charset="-78"/>
                <a:cs typeface="Amiri" pitchFamily="2" charset="-78"/>
              </a:rPr>
              <a:t> وَقْتًا أَطْوَلَ. </a:t>
            </a:r>
            <a:pPr rtl="1" algn="ctr" indent="0" marL="0">
              <a:lnSpc>
                <a:spcPct val="120000"/>
              </a:lnSpc>
              <a:buNone/>
            </a:pPr>
            <a:r>
              <a:rPr lang="ar-SA" altLang="en-US" sz="1700" b="1" dirty="0">
                <a:solidFill>
                  <a:srgbClr val="1D5FBF"/>
                </a:solidFill>
                <a:latin typeface="Amiri" pitchFamily="2" charset="-78"/>
                <a:cs typeface="Amiri" pitchFamily="2" charset="-78"/>
              </a:rPr>
              <a:t>إِذَا</a:t>
            </a:r>
            <a:pPr rtl="1" algn="ctr" indent="0" marL="0">
              <a:lnSpc>
                <a:spcPct val="120000"/>
              </a:lnSpc>
              <a:buNone/>
            </a:pPr>
            <a:r>
              <a:rPr lang="ar-SA" altLang="en-US" sz="1700" b="1" dirty="0">
                <a:solidFill>
                  <a:srgbClr val="1B3B6F"/>
                </a:solidFill>
                <a:latin typeface="Amiri" pitchFamily="2" charset="-78"/>
                <a:cs typeface="Amiri" pitchFamily="2" charset="-78"/>
              </a:rPr>
              <a:t> كَانَ لَدَيَّ وَقْتٌ أَلْتَقِي بِأَصْدِقَائِي.</a:t>
            </a:r>
            <a:endParaRPr lang="ar-SA" sz="17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weekend and free-time routine language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fixed school-day routines with flexible weekend habits.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أَمَّا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غالبًا ما</a:t>
            </a:r>
            <a:pPr algn="l" indent="0" marL="0">
              <a:buNone/>
            </a:pPr>
            <a:r>
              <a:rPr lang="en-US" sz="1300" dirty="0">
                <a:solidFill>
                  <a:srgbClr val="1F2A37"/>
                </a:solidFill>
                <a:latin typeface="Calibri" pitchFamily="34" charset="0"/>
                <a:cs typeface="Amiri" pitchFamily="2" charset="-78"/>
              </a:rPr>
              <a:t> for developed comparison.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and produce a balanced 100–120-word weekend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four things I do at the weekend.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contrast school days and the weekend.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Saturday and Sunday separately.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with another person using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what depends on time or weather with </a:t>
            </a:r>
            <a:pPr algn="l" indent="0" marL="0">
              <a:buNone/>
            </a:pPr>
            <a:r>
              <a:rPr lang="ar-SA" altLang="en-US" sz="1700" b="1" dirty="0">
                <a:solidFill>
                  <a:srgbClr val="B83227"/>
                </a:solidFill>
                <a:latin typeface="Amiri" pitchFamily="2" charset="-78"/>
                <a:cs typeface="Amiri" pitchFamily="2" charset="-78"/>
              </a:rPr>
              <a:t>إِذَا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whether my weekend is balanced,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Weekend time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Weekend 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Flexibility and balance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عُطْلَةٌ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‎تعطیل‎ </a:t>
            </a:r>
            <a:pPr indent="0" marL="0">
              <a:buNone/>
            </a:pPr>
            <a:r>
              <a:rPr lang="en-US" sz="950" b="1" dirty="0">
                <a:solidFill>
                  <a:srgbClr val="2E8B57"/>
                </a:solidFill>
                <a:latin typeface="Calibri" pitchFamily="34" charset="0"/>
                <a:cs typeface="Amiri" pitchFamily="2" charset="-78"/>
              </a:rPr>
              <a:t> taʿtīl · holiday, break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‎اقارب‎ </a:t>
            </a:r>
            <a:pPr indent="0" marL="0">
              <a:buNone/>
            </a:pPr>
            <a:r>
              <a:rPr lang="en-US" sz="950" b="1" dirty="0">
                <a:solidFill>
                  <a:srgbClr val="2E8B57"/>
                </a:solidFill>
                <a:latin typeface="Calibri" pitchFamily="34" charset="0"/>
                <a:cs typeface="Amiri" pitchFamily="2" charset="-78"/>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‎مسئولیت‎ </a:t>
            </a:r>
            <a:pPr indent="0" marL="0">
              <a:buNone/>
            </a:pPr>
            <a:r>
              <a:rPr lang="en-US" sz="950" b="1" dirty="0">
                <a:solidFill>
                  <a:srgbClr val="2E8B57"/>
                </a:solidFill>
                <a:latin typeface="Calibri" pitchFamily="34" charset="0"/>
                <a:cs typeface="Amiri" pitchFamily="2" charset="-78"/>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الطَّقْسُ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‎موسم‎ </a:t>
            </a:r>
            <a:pPr indent="0" marL="0">
              <a:buNone/>
            </a:pPr>
            <a:r>
              <a:rPr lang="en-US" sz="950" b="1" dirty="0">
                <a:solidFill>
                  <a:srgbClr val="2E8B57"/>
                </a:solidFill>
                <a:latin typeface="Calibri" pitchFamily="34" charset="0"/>
                <a:cs typeface="Amiri" pitchFamily="2" charset="-78"/>
              </a:rPr>
              <a:t> mausam · Urdu: weather · Arabic مَوْسِمٌ: season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عُطْلَةُ نِهَايَةِ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weekend break</a:t>
            </a:r>
            <a:endParaRPr lang="en-US" sz="1350" dirty="0"/>
          </a:p>
          <a:p>
            <a:pPr indent="0" marL="0">
              <a:buNone/>
            </a:pPr>
            <a:r>
              <a:rPr lang="en-US" sz="1100" i="1" dirty="0">
                <a:solidFill>
                  <a:srgbClr val="5A6472"/>
                </a:solidFill>
                <a:latin typeface="Calibri" pitchFamily="34" charset="0"/>
                <a:cs typeface="Amiri" pitchFamily="2" charset="-78"/>
              </a:rPr>
              <a:t>ʿuṭ-la-tu ni-hā-ya-ti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 السَّبْتِ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Saturday</a:t>
            </a:r>
            <a:endParaRPr lang="en-US" sz="1350" dirty="0"/>
          </a:p>
          <a:p>
            <a:pPr indent="0" marL="0">
              <a:buNone/>
            </a:pPr>
            <a:r>
              <a:rPr lang="en-US" sz="1100" i="1" dirty="0">
                <a:solidFill>
                  <a:srgbClr val="5A6472"/>
                </a:solidFill>
                <a:latin typeface="Calibri" pitchFamily="34" charset="0"/>
                <a:cs typeface="Amiri" pitchFamily="2" charset="-78"/>
              </a:rPr>
              <a:t>yaw-mu as-sab-ti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 الأَحَدِ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Sunday</a:t>
            </a:r>
            <a:endParaRPr lang="en-US" sz="1350" dirty="0"/>
          </a:p>
          <a:p>
            <a:pPr indent="0" marL="0">
              <a:buNone/>
            </a:pPr>
            <a:r>
              <a:rPr lang="en-US" sz="1100" i="1" dirty="0">
                <a:solidFill>
                  <a:srgbClr val="5A6472"/>
                </a:solidFill>
                <a:latin typeface="Calibri" pitchFamily="34" charset="0"/>
                <a:cs typeface="Amiri" pitchFamily="2" charset="-78"/>
              </a:rPr>
              <a:t>yaw-mu al-a-ḥa-di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صَبَاحُ السَّبْتِ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Saturday morning</a:t>
            </a:r>
            <a:endParaRPr lang="en-US" sz="1350" dirty="0"/>
          </a:p>
          <a:p>
            <a:pPr indent="0" marL="0">
              <a:buNone/>
            </a:pPr>
            <a:r>
              <a:rPr lang="en-US" sz="1100" i="1" dirty="0">
                <a:solidFill>
                  <a:srgbClr val="5A6472"/>
                </a:solidFill>
                <a:latin typeface="Calibri" pitchFamily="34" charset="0"/>
                <a:cs typeface="Amiri" pitchFamily="2" charset="-78"/>
              </a:rPr>
              <a:t>ṣa-bā-ḥu as-sab-ti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مَسَاءُ الأَحَدِ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Sunday evening</a:t>
            </a:r>
            <a:endParaRPr lang="en-US" sz="1350" dirty="0"/>
          </a:p>
          <a:p>
            <a:pPr indent="0" marL="0">
              <a:buNone/>
            </a:pPr>
            <a:r>
              <a:rPr lang="en-US" sz="1100" i="1" dirty="0">
                <a:solidFill>
                  <a:srgbClr val="5A6472"/>
                </a:solidFill>
                <a:latin typeface="Calibri" pitchFamily="34" charset="0"/>
                <a:cs typeface="Amiri" pitchFamily="2" charset="-78"/>
              </a:rPr>
              <a:t>ma-sā-ʾu al-a-ḥa-di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نِهَايَةِ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the weekend</a:t>
            </a:r>
            <a:endParaRPr lang="en-US" sz="1350" dirty="0"/>
          </a:p>
          <a:p>
            <a:pPr indent="0" marL="0">
              <a:buNone/>
            </a:pPr>
            <a:r>
              <a:rPr lang="en-US" sz="1100" i="1" dirty="0">
                <a:solidFill>
                  <a:srgbClr val="5A6472"/>
                </a:solidFill>
                <a:latin typeface="Calibri" pitchFamily="34" charset="0"/>
                <a:cs typeface="Amiri" pitchFamily="2" charset="-78"/>
              </a:rPr>
              <a:t>fī ni-hā-ya-ti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خِلَالَ العُطْلَةِ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during the break</a:t>
            </a:r>
            <a:endParaRPr lang="en-US" sz="1350" dirty="0"/>
          </a:p>
          <a:p>
            <a:pPr indent="0" marL="0">
              <a:buNone/>
            </a:pPr>
            <a:r>
              <a:rPr lang="en-US" sz="1100" i="1" dirty="0">
                <a:solidFill>
                  <a:srgbClr val="5A6472"/>
                </a:solidFill>
                <a:latin typeface="Calibri" pitchFamily="34" charset="0"/>
                <a:cs typeface="Amiri" pitchFamily="2" charset="-78"/>
              </a:rPr>
              <a:t>khi-lā-la al-ʿuṭ-la-ti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مُعْظَمَ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most of the time</a:t>
            </a:r>
            <a:endParaRPr lang="en-US" sz="1350" dirty="0"/>
          </a:p>
          <a:p>
            <a:pPr indent="0" marL="0">
              <a:buNone/>
            </a:pPr>
            <a:r>
              <a:rPr lang="en-US" sz="1100" i="1" dirty="0">
                <a:solidFill>
                  <a:srgbClr val="5A6472"/>
                </a:solidFill>
                <a:latin typeface="Calibri" pitchFamily="34" charset="0"/>
                <a:cs typeface="Amiri" pitchFamily="2" charset="-78"/>
              </a:rPr>
              <a:t>muʿ-ẓa-ma al-waq-ti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أَنَامُ وَقْتًا أَطْوَلَ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sleep longer</a:t>
            </a:r>
            <a:endParaRPr lang="en-US" sz="1350" dirty="0"/>
          </a:p>
          <a:p>
            <a:pPr indent="0" marL="0">
              <a:buNone/>
            </a:pPr>
            <a:r>
              <a:rPr lang="en-US" sz="1100" i="1" dirty="0">
                <a:solidFill>
                  <a:srgbClr val="5A6472"/>
                </a:solidFill>
                <a:latin typeface="Calibri" pitchFamily="34" charset="0"/>
                <a:cs typeface="Amiri" pitchFamily="2" charset="-78"/>
              </a:rPr>
              <a:t>a-nā-mu waq-tan aṭ-wa-la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نَنَامُ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يَنَامُ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أَزُورُ أَقَارِبِي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visit relatives</a:t>
            </a:r>
            <a:endParaRPr lang="en-US" sz="1350" dirty="0"/>
          </a:p>
          <a:p>
            <a:pPr indent="0" marL="0">
              <a:buNone/>
            </a:pPr>
            <a:r>
              <a:rPr lang="en-US" sz="1100" i="1" dirty="0">
                <a:solidFill>
                  <a:srgbClr val="5A6472"/>
                </a:solidFill>
                <a:latin typeface="Calibri" pitchFamily="34" charset="0"/>
                <a:cs typeface="Amiri" pitchFamily="2" charset="-78"/>
              </a:rPr>
              <a:t>a-zū-ru a-qā-ri-bī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أَقَارِبُ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قَرِيبَةٌ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قَرِيبٌ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أَلْتَقِي بِأَصْدِقَائِي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meet friends</a:t>
            </a:r>
            <a:endParaRPr lang="en-US" sz="1350" dirty="0"/>
          </a:p>
          <a:p>
            <a:pPr indent="0" marL="0">
              <a:buNone/>
            </a:pPr>
            <a:r>
              <a:rPr lang="en-US" sz="1100" i="1" dirty="0">
                <a:solidFill>
                  <a:srgbClr val="5A6472"/>
                </a:solidFill>
                <a:latin typeface="Calibri" pitchFamily="34" charset="0"/>
                <a:cs typeface="Amiri" pitchFamily="2" charset="-78"/>
              </a:rPr>
              <a:t>al-ta-qī bi-ʾaṣ-di-qā-ʾī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أَصْدِقَاءُ</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صَدِيقَةٌ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صَدِيقٌ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أَذْهَبُ إِلَى الحَدِيقَةِ</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the park</a:t>
            </a:r>
            <a:endParaRPr lang="en-US" sz="1350" dirty="0"/>
          </a:p>
          <a:p>
            <a:pPr indent="0" marL="0">
              <a:buNone/>
            </a:pPr>
            <a:r>
              <a:rPr lang="en-US" sz="1100" i="1" dirty="0">
                <a:solidFill>
                  <a:srgbClr val="5A6472"/>
                </a:solidFill>
                <a:latin typeface="Calibri" pitchFamily="34" charset="0"/>
                <a:cs typeface="Amiri" pitchFamily="2" charset="-78"/>
              </a:rPr>
              <a:t>adh-ha-bu i-lā al-ḥa-dī-qa-ti</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77" name="Shape 7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أَتَسَوَّقُ</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shop</a:t>
            </a:r>
            <a:endParaRPr lang="en-US" sz="1350" dirty="0"/>
          </a:p>
          <a:p>
            <a:pPr indent="0" marL="0">
              <a:buNone/>
            </a:pPr>
            <a:r>
              <a:rPr lang="en-US" sz="1100" i="1" dirty="0">
                <a:solidFill>
                  <a:srgbClr val="5A6472"/>
                </a:solidFill>
                <a:latin typeface="Calibri" pitchFamily="34" charset="0"/>
                <a:cs typeface="Amiri" pitchFamily="2" charset="-78"/>
              </a:rPr>
              <a:t>a-ta-saw-wa-qu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نَتَسَوَّقُ</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تَتَسَوَّقُ</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يَتَسَوَّقُ</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أُسَاعِدُ فِي البَيْتِ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at home</a:t>
            </a:r>
            <a:endParaRPr lang="en-US" sz="1350" dirty="0"/>
          </a:p>
          <a:p>
            <a:pPr indent="0" marL="0">
              <a:buNone/>
            </a:pPr>
            <a:r>
              <a:rPr lang="en-US" sz="1100" i="1" dirty="0">
                <a:solidFill>
                  <a:srgbClr val="5A6472"/>
                </a:solidFill>
                <a:latin typeface="Calibri" pitchFamily="34" charset="0"/>
                <a:cs typeface="Amiri" pitchFamily="2" charset="-78"/>
              </a:rPr>
              <a:t>u-sā-ʿi-du fī al-bay-ti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أُرَاجِعُ مَا تَعَلَّمْتُهُ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what I learned</a:t>
            </a:r>
            <a:endParaRPr lang="en-US" sz="1350" dirty="0"/>
          </a:p>
          <a:p>
            <a:pPr indent="0" marL="0">
              <a:buNone/>
            </a:pPr>
            <a:r>
              <a:rPr lang="en-US" sz="1100" i="1" dirty="0">
                <a:solidFill>
                  <a:srgbClr val="5A6472"/>
                </a:solidFill>
                <a:latin typeface="Calibri" pitchFamily="34" charset="0"/>
                <a:cs typeface="Amiri" pitchFamily="2" charset="-78"/>
              </a:rPr>
              <a:t>u-rā-ji-ʿu mā ta-ʿal-lam-tu-hu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أُخَطِّطُ لِلْأُسْبُوعِ</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the week</a:t>
            </a:r>
            <a:endParaRPr lang="en-US" sz="1350" dirty="0"/>
          </a:p>
          <a:p>
            <a:pPr indent="0" marL="0">
              <a:buNone/>
            </a:pPr>
            <a:r>
              <a:rPr lang="en-US" sz="1100" i="1" dirty="0">
                <a:solidFill>
                  <a:srgbClr val="5A6472"/>
                </a:solidFill>
                <a:latin typeface="Calibri" pitchFamily="34" charset="0"/>
                <a:cs typeface="Amiri" pitchFamily="2" charset="-78"/>
              </a:rPr>
              <a:t>u-khaṭ-ṭi-ṭu lil-ʾus-bū-ʿi</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نُخَطِّطُ</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تُخَطِّطُ</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يُخَطِّطُ</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أُمَارِسُ هِوَايَتِي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practise my hobby</a:t>
            </a:r>
            <a:endParaRPr lang="en-US" sz="1350" dirty="0"/>
          </a:p>
          <a:p>
            <a:pPr indent="0" marL="0">
              <a:buNone/>
            </a:pPr>
            <a:r>
              <a:rPr lang="en-US" sz="1100" i="1" dirty="0">
                <a:solidFill>
                  <a:srgbClr val="5A6472"/>
                </a:solidFill>
                <a:latin typeface="Calibri" pitchFamily="34" charset="0"/>
                <a:cs typeface="Amiri" pitchFamily="2" charset="-78"/>
              </a:rPr>
              <a:t>u-mā-ri-su hi-wā-ya-tī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هِوَايَاتٌ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hobby</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هِوَايَةٌ</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يُمَارِسُ هِوَايَتَهُ</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أَقْضِي وَقْتًا فِي الخَارِجِ</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spend time outdoors</a:t>
            </a:r>
            <a:endParaRPr lang="en-US" sz="1350" dirty="0"/>
          </a:p>
          <a:p>
            <a:pPr indent="0" marL="0">
              <a:buNone/>
            </a:pPr>
            <a:r>
              <a:rPr lang="en-US" sz="1100" i="1" dirty="0">
                <a:solidFill>
                  <a:srgbClr val="5A6472"/>
                </a:solidFill>
                <a:latin typeface="Calibri" pitchFamily="34" charset="0"/>
                <a:cs typeface="Amiri" pitchFamily="2" charset="-78"/>
              </a:rPr>
              <a:t>aq-ḍī waq-tan fī al-khā-ri-ji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Flexibility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غَالِبًا 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 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الأَحْيَانِ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some occasions</a:t>
            </a:r>
            <a:endParaRPr lang="en-US" sz="1350" dirty="0"/>
          </a:p>
          <a:p>
            <a:pPr indent="0" marL="0">
              <a:buNone/>
            </a:pPr>
            <a:r>
              <a:rPr lang="en-US" sz="1100" i="1" dirty="0">
                <a:solidFill>
                  <a:srgbClr val="5A6472"/>
                </a:solidFill>
                <a:latin typeface="Calibri" pitchFamily="34" charset="0"/>
                <a:cs typeface="Amiri" pitchFamily="2" charset="-78"/>
              </a:rPr>
              <a:t>fī baʿ-ḍi al-aḥ-yā-ni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كَانَ لَدَيَّ وَقْتٌ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have time</a:t>
            </a:r>
            <a:endParaRPr lang="en-US" sz="1350" dirty="0"/>
          </a:p>
          <a:p>
            <a:pPr indent="0" marL="0">
              <a:buNone/>
            </a:pPr>
            <a:r>
              <a:rPr lang="en-US" sz="1100" i="1" dirty="0">
                <a:solidFill>
                  <a:srgbClr val="5A6472"/>
                </a:solidFill>
                <a:latin typeface="Calibri" pitchFamily="34" charset="0"/>
                <a:cs typeface="Amiri" pitchFamily="2" charset="-78"/>
              </a:rPr>
              <a:t>i-dhā kā-na la-day-ya waq-tun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حَسَبَ الطَّقْسِ / الظُّرُوفِ</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depending on weather/circumstances</a:t>
            </a:r>
            <a:endParaRPr lang="en-US" sz="1350" dirty="0"/>
          </a:p>
          <a:p>
            <a:pPr indent="0" marL="0">
              <a:buNone/>
            </a:pPr>
            <a:r>
              <a:rPr lang="en-US" sz="1100" i="1" dirty="0">
                <a:solidFill>
                  <a:srgbClr val="5A6472"/>
                </a:solidFill>
                <a:latin typeface="Calibri" pitchFamily="34" charset="0"/>
                <a:cs typeface="Amiri" pitchFamily="2" charset="-78"/>
              </a:rPr>
              <a:t>ḥa-sa-ba aṭ-ṭaq-si / aẓ-ẓu-rū-fi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Shape 3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خُطَّةٌ مُرِنَةٌ</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flexible plan</a:t>
            </a:r>
            <a:endParaRPr lang="en-US" sz="1350" dirty="0"/>
          </a:p>
          <a:p>
            <a:pPr indent="0" marL="0">
              <a:buNone/>
            </a:pPr>
            <a:r>
              <a:rPr lang="en-US" sz="1100" i="1" dirty="0">
                <a:solidFill>
                  <a:srgbClr val="5A6472"/>
                </a:solidFill>
                <a:latin typeface="Calibri" pitchFamily="34" charset="0"/>
                <a:cs typeface="Amiri" pitchFamily="2" charset="-78"/>
              </a:rPr>
              <a:t>khuṭ-ṭa-tun mu-ri-na-tun</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plans</a:t>
            </a:r>
            <a:endParaRPr lang="en-US" sz="700" dirty="0"/>
          </a:p>
        </p:txBody>
      </p:sp>
      <p:sp>
        <p:nvSpPr>
          <p:cNvPr id="46" name="Text 43"/>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خُطَطٌ مَرِنَةٌ</a:t>
            </a:r>
            <a:endParaRPr lang="ar-SA" sz="135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مَرِنَةٌ</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Flexibility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وَقْتُ الفَرَاغِ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al-fa-rā-ghi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a:t>
            </a:r>
            <a:endParaRPr lang="en-US" sz="1350" dirty="0"/>
          </a:p>
          <a:p>
            <a:pPr indent="0" marL="0">
              <a:buNone/>
            </a:pPr>
            <a:r>
              <a:rPr lang="en-US" sz="1100" i="1" dirty="0">
                <a:solidFill>
                  <a:srgbClr val="5A6472"/>
                </a:solidFill>
                <a:latin typeface="Calibri" pitchFamily="34" charset="0"/>
                <a:cs typeface="Amiri" pitchFamily="2" charset="-78"/>
              </a:rPr>
              <a:t>ta-wā-zu-nun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a:t>
            </a:r>
            <a:endParaRPr lang="en-US" sz="1350" dirty="0"/>
          </a:p>
          <a:p>
            <a:pPr indent="0" marL="0">
              <a:buNone/>
            </a:pPr>
            <a:r>
              <a:rPr lang="en-US" sz="1100" i="1" dirty="0">
                <a:solidFill>
                  <a:srgbClr val="5A6472"/>
                </a:solidFill>
                <a:latin typeface="Calibri" pitchFamily="34" charset="0"/>
                <a:cs typeface="Amiri" pitchFamily="2" charset="-78"/>
              </a:rPr>
              <a:t>mas-ʾū-liy-ya-tun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t>
            </a:r>
            <a:endParaRPr lang="en-US" sz="1350" dirty="0"/>
          </a:p>
          <a:p>
            <a:pPr indent="0" marL="0">
              <a:buNone/>
            </a:pPr>
            <a:r>
              <a:rPr lang="en-US" sz="1100" i="1" dirty="0">
                <a:solidFill>
                  <a:srgbClr val="5A6472"/>
                </a:solidFill>
                <a:latin typeface="Calibri" pitchFamily="34" charset="0"/>
                <a:cs typeface="Amiri" pitchFamily="2" charset="-78"/>
              </a:rPr>
              <a:t>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اِخْتِيَارٌ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choice</a:t>
            </a:r>
            <a:endParaRPr lang="en-US" sz="1350" dirty="0"/>
          </a:p>
          <a:p>
            <a:pPr indent="0" marL="0">
              <a:buNone/>
            </a:pPr>
            <a:r>
              <a:rPr lang="en-US" sz="1100" i="1" dirty="0">
                <a:solidFill>
                  <a:srgbClr val="5A6472"/>
                </a:solidFill>
                <a:latin typeface="Calibri" pitchFamily="34" charset="0"/>
                <a:cs typeface="Amiri" pitchFamily="2" charset="-78"/>
              </a:rPr>
              <a:t>ikh-ti-yā-run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SCHOOL DAYS VS THE WEEKEND (WEBSITE RULE)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School days … as for the weekend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أَمَّا فِي نِهَايَةِ الأُسْبُوعِ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School days</a:t>
            </a:r>
            <a:endParaRPr lang="en-US" sz="1100" dirty="0"/>
          </a:p>
        </p:txBody>
      </p:sp>
      <p:sp>
        <p:nvSpPr>
          <p:cNvPr id="17" name="Text 14"/>
          <p:cNvSpPr txBox="1"/>
          <p:nvPr/>
        </p:nvSpPr>
        <p:spPr>
          <a:xfrm>
            <a:off x="29352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 for the weekend …</a:t>
            </a:r>
            <a:endParaRPr lang="en-US" sz="1100" dirty="0"/>
          </a:p>
        </p:txBody>
      </p:sp>
      <p:sp>
        <p:nvSpPr>
          <p:cNvPr id="18" name="Text 15"/>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Contrast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فِي أَيَّامِ الدِّرَاسَةِ أَسْتَيْقِظُ مُبَكِّرًا،</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school days I wake up early,</a:t>
            </a:r>
            <a:endParaRPr lang="en-US" sz="950" dirty="0"/>
          </a:p>
        </p:txBody>
      </p:sp>
      <p:sp>
        <p:nvSpPr>
          <p:cNvPr id="22" name="Text 19"/>
          <p:cNvSpPr txBox="1"/>
          <p:nvPr/>
        </p:nvSpPr>
        <p:spPr>
          <a:xfrm>
            <a:off x="2953512"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أَمَّا</a:t>
            </a:r>
            <a:pPr rtl="1" algn="ctr" indent="0" marL="0">
              <a:buNone/>
            </a:pPr>
            <a:r>
              <a:rPr lang="ar-SA" altLang="en-US" sz="2100" b="1" dirty="0">
                <a:solidFill>
                  <a:srgbClr val="1B3B6F"/>
                </a:solidFill>
                <a:latin typeface="Amiri" pitchFamily="2" charset="-78"/>
                <a:cs typeface="Amiri" pitchFamily="2" charset="-78"/>
              </a:rPr>
              <a:t> فِي نِهَايَةِ الأُسْبُوعِ </a:t>
            </a:r>
            <a:pPr rtl="1" algn="ctr" indent="0" marL="0">
              <a:buNone/>
            </a:pPr>
            <a:r>
              <a:rPr lang="ar-SA" altLang="en-US" sz="2100" b="1" dirty="0">
                <a:solidFill>
                  <a:srgbClr val="0E7C86"/>
                </a:solidFill>
                <a:latin typeface="Amiri" pitchFamily="2" charset="-78"/>
                <a:cs typeface="Amiri" pitchFamily="2" charset="-78"/>
              </a:rPr>
              <a:t>فَأَنَامُ</a:t>
            </a:r>
            <a:pPr rtl="1" algn="ctr" indent="0" marL="0">
              <a:buNone/>
            </a:pPr>
            <a:r>
              <a:rPr lang="ar-SA" altLang="en-US" sz="2100" b="1" dirty="0">
                <a:solidFill>
                  <a:srgbClr val="1B3B6F"/>
                </a:solidFill>
                <a:latin typeface="Amiri" pitchFamily="2" charset="-78"/>
                <a:cs typeface="Amiri" pitchFamily="2" charset="-78"/>
              </a:rPr>
              <a:t> وَقْتًا أَطْوَلَ.</a:t>
            </a:r>
            <a:endParaRPr lang="ar-SA" sz="2100" dirty="0"/>
          </a:p>
        </p:txBody>
      </p:sp>
      <p:sp>
        <p:nvSpPr>
          <p:cNvPr id="23" name="Text 20"/>
          <p:cNvSpPr txBox="1"/>
          <p:nvPr/>
        </p:nvSpPr>
        <p:spPr>
          <a:xfrm>
            <a:off x="2907792"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the weekend, I sleep longer.</a:t>
            </a:r>
            <a:endParaRPr lang="en-US" sz="95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early / longer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أَذْهَبُ إِلَى المَدْرَسَةِ،</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to school,</a:t>
            </a:r>
            <a:endParaRPr lang="en-US" sz="950" dirty="0"/>
          </a:p>
        </p:txBody>
      </p:sp>
      <p:sp>
        <p:nvSpPr>
          <p:cNvPr id="30" name="Text 27"/>
          <p:cNvSpPr txBox="1"/>
          <p:nvPr/>
        </p:nvSpPr>
        <p:spPr>
          <a:xfrm>
            <a:off x="2953512"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أَمَّا</a:t>
            </a:r>
            <a:pPr rtl="1" algn="ctr" indent="0" marL="0">
              <a:buNone/>
            </a:pPr>
            <a:r>
              <a:rPr lang="ar-SA" altLang="en-US" sz="2100" b="1" dirty="0">
                <a:solidFill>
                  <a:srgbClr val="1B3B6F"/>
                </a:solidFill>
                <a:latin typeface="Amiri" pitchFamily="2" charset="-78"/>
                <a:cs typeface="Amiri" pitchFamily="2" charset="-78"/>
              </a:rPr>
              <a:t> يَوْمُ السَّبْتِ </a:t>
            </a:r>
            <a:pPr rtl="1" algn="ctr" indent="0" marL="0">
              <a:buNone/>
            </a:pPr>
            <a:r>
              <a:rPr lang="ar-SA" altLang="en-US" sz="2100" b="1" dirty="0">
                <a:solidFill>
                  <a:srgbClr val="0E7C86"/>
                </a:solidFill>
                <a:latin typeface="Amiri" pitchFamily="2" charset="-78"/>
                <a:cs typeface="Amiri" pitchFamily="2" charset="-78"/>
              </a:rPr>
              <a:t>فَأَزُورُ</a:t>
            </a:r>
            <a:pPr rtl="1" algn="ctr" indent="0" marL="0">
              <a:buNone/>
            </a:pPr>
            <a:r>
              <a:rPr lang="ar-SA" altLang="en-US" sz="2100" b="1" dirty="0">
                <a:solidFill>
                  <a:srgbClr val="1B3B6F"/>
                </a:solidFill>
                <a:latin typeface="Amiri" pitchFamily="2" charset="-78"/>
                <a:cs typeface="Amiri" pitchFamily="2" charset="-78"/>
              </a:rPr>
              <a:t> أَقَارِبِي.</a:t>
            </a:r>
            <a:endParaRPr lang="ar-SA" sz="2100" dirty="0"/>
          </a:p>
        </p:txBody>
      </p:sp>
      <p:sp>
        <p:nvSpPr>
          <p:cNvPr id="31" name="Text 28"/>
          <p:cNvSpPr txBox="1"/>
          <p:nvPr/>
        </p:nvSpPr>
        <p:spPr>
          <a:xfrm>
            <a:off x="2907792"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Saturday, I visit my relatives.</a:t>
            </a:r>
            <a:endParaRPr lang="en-US" sz="950" dirty="0"/>
          </a:p>
        </p:txBody>
      </p:sp>
      <p:sp>
        <p:nvSpPr>
          <p:cNvPr id="32" name="Text 29"/>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 family</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أُرَاجِعُ دُرُوسِي يَوْمِيًّا،</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revise my lessons daily,</a:t>
            </a:r>
            <a:endParaRPr lang="en-US" sz="950" dirty="0"/>
          </a:p>
        </p:txBody>
      </p:sp>
      <p:sp>
        <p:nvSpPr>
          <p:cNvPr id="38" name="Text 35"/>
          <p:cNvSpPr txBox="1"/>
          <p:nvPr/>
        </p:nvSpPr>
        <p:spPr>
          <a:xfrm>
            <a:off x="2953512"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أَمَّا</a:t>
            </a:r>
            <a:pPr rtl="1" algn="ctr" indent="0" marL="0">
              <a:buNone/>
            </a:pPr>
            <a:r>
              <a:rPr lang="ar-SA" altLang="en-US" sz="2100" b="1" dirty="0">
                <a:solidFill>
                  <a:srgbClr val="1B3B6F"/>
                </a:solidFill>
                <a:latin typeface="Amiri" pitchFamily="2" charset="-78"/>
                <a:cs typeface="Amiri" pitchFamily="2" charset="-78"/>
              </a:rPr>
              <a:t> يَوْمُ الأَحَدِ </a:t>
            </a:r>
            <a:pPr rtl="1" algn="ctr" indent="0" marL="0">
              <a:buNone/>
            </a:pPr>
            <a:r>
              <a:rPr lang="ar-SA" altLang="en-US" sz="2100" b="1" dirty="0">
                <a:solidFill>
                  <a:srgbClr val="0E7C86"/>
                </a:solidFill>
                <a:latin typeface="Amiri" pitchFamily="2" charset="-78"/>
                <a:cs typeface="Amiri" pitchFamily="2" charset="-78"/>
              </a:rPr>
              <a:t>فَأُرَاجِعُ</a:t>
            </a:r>
            <a:pPr rtl="1" algn="ctr" indent="0" marL="0">
              <a:buNone/>
            </a:pPr>
            <a:r>
              <a:rPr lang="ar-SA" altLang="en-US" sz="2100" b="1" dirty="0">
                <a:solidFill>
                  <a:srgbClr val="1B3B6F"/>
                </a:solidFill>
                <a:latin typeface="Amiri" pitchFamily="2" charset="-78"/>
                <a:cs typeface="Amiri" pitchFamily="2" charset="-78"/>
              </a:rPr>
              <a:t> لِمُدَّةِ سَاعَةٍ فَقَطْ.</a:t>
            </a:r>
            <a:endParaRPr lang="ar-SA" sz="2100" dirty="0"/>
          </a:p>
        </p:txBody>
      </p:sp>
      <p:sp>
        <p:nvSpPr>
          <p:cNvPr id="39" name="Text 36"/>
          <p:cNvSpPr txBox="1"/>
          <p:nvPr/>
        </p:nvSpPr>
        <p:spPr>
          <a:xfrm>
            <a:off x="2907792"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Sunday, I revise for one hour only.</a:t>
            </a:r>
            <a:endParaRPr lang="en-US" sz="950" dirty="0"/>
          </a:p>
        </p:txBody>
      </p:sp>
      <p:sp>
        <p:nvSpPr>
          <p:cNvPr id="40" name="Text 37"/>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daily / one hour</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أَتَّبِعُ جَدْوَلًا ثَابِتًا،</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follow a fixed timetable,</a:t>
            </a:r>
            <a:endParaRPr lang="en-US" sz="950" dirty="0"/>
          </a:p>
        </p:txBody>
      </p:sp>
      <p:sp>
        <p:nvSpPr>
          <p:cNvPr id="44" name="Text 41"/>
          <p:cNvSpPr txBox="1"/>
          <p:nvPr/>
        </p:nvSpPr>
        <p:spPr>
          <a:xfrm>
            <a:off x="2953512"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أَمَّا</a:t>
            </a:r>
            <a:pPr rtl="1" algn="ctr" indent="0" marL="0">
              <a:buNone/>
            </a:pPr>
            <a:r>
              <a:rPr lang="ar-SA" altLang="en-US" sz="2100" b="1" dirty="0">
                <a:solidFill>
                  <a:srgbClr val="1B3B6F"/>
                </a:solidFill>
                <a:latin typeface="Amiri" pitchFamily="2" charset="-78"/>
                <a:cs typeface="Amiri" pitchFamily="2" charset="-78"/>
              </a:rPr>
              <a:t> فِي العُطْلَةِ </a:t>
            </a:r>
            <a:pPr rtl="1" algn="ctr" indent="0" marL="0">
              <a:buNone/>
            </a:pPr>
            <a:r>
              <a:rPr lang="ar-SA" altLang="en-US" sz="2100" b="1" dirty="0">
                <a:solidFill>
                  <a:srgbClr val="0E7C86"/>
                </a:solidFill>
                <a:latin typeface="Amiri" pitchFamily="2" charset="-78"/>
                <a:cs typeface="Amiri" pitchFamily="2" charset="-78"/>
              </a:rPr>
              <a:t>فَخُطَّتِي</a:t>
            </a:r>
            <a:pPr rtl="1" algn="ctr" indent="0" marL="0">
              <a:buNone/>
            </a:pPr>
            <a:r>
              <a:rPr lang="ar-SA" altLang="en-US" sz="2100" b="1" dirty="0">
                <a:solidFill>
                  <a:srgbClr val="1B3B6F"/>
                </a:solidFill>
                <a:latin typeface="Amiri" pitchFamily="2" charset="-78"/>
                <a:cs typeface="Amiri" pitchFamily="2" charset="-78"/>
              </a:rPr>
              <a:t> مَرِنَةٌ.</a:t>
            </a:r>
            <a:endParaRPr lang="ar-SA" sz="2100" dirty="0"/>
          </a:p>
        </p:txBody>
      </p:sp>
      <p:sp>
        <p:nvSpPr>
          <p:cNvPr id="45" name="Text 42"/>
          <p:cNvSpPr txBox="1"/>
          <p:nvPr/>
        </p:nvSpPr>
        <p:spPr>
          <a:xfrm>
            <a:off x="2907792"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the break, my plan is flexible.</a:t>
            </a:r>
            <a:endParaRPr lang="en-US" sz="950" dirty="0"/>
          </a:p>
        </p:txBody>
      </p:sp>
      <p:sp>
        <p:nvSpPr>
          <p:cNvPr id="46" name="Text 43"/>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fixed / flexible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“as for” comes FIRST, then the topic, then fa- joined to the comment. Never fa- before “as for”.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2 · FLEXIBLE PLANS (WEBSITE RULES)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If I have time … often … sometimes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غَالِبًا مَا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CONDITION · STRETCH</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إِذَا كَانَ لَدَيَّ وَقْتٌ أُمَارِسُ هِوَايَتِي.</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have time, I practise my hobby.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 present,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غَالِبًا 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غَالِبًا مَا أَزُورُ أَقَارِبِي يَوْمَ السَّبْتِ.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often visit relatives on Saturday.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tendency, not a timetable.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TWO PEOPLE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أَزُورُ أَقَارِبِي، بَيْنَمَا تَلْتَقِي أُخْتِي بِصَدِيقَاتِهَا.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visit relatives, whereas my sister meets her friends.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Each verb matches its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use a clear repeated-condition frame.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إِذَا كَانَ لَدَيَّ وَقْتٌ أَذْهَبُ.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إِذَا لَدَيَّ وَقْتٌ ذَهَبْتُ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Contrast, conditional routine and flexible frequency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المُقَابَلَةُ وَالشَّرْطُ وَالتَّكْرَارُ المَرِنُ</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Contrast school days and weekends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أَيَّامِ الدِّرَاسَةِ ... أَمَّا فِي نِهَايَةِ الأُسْبُوعِ فَـ...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أَيَّامِ الدِّرَاسَةِ أَسْتَيْقِظُ مُبَكِّرًا، أَمَّا فِي نِهَايَةِ الأُسْبُوعِ فَأَنَامُ وَقْتًا أَطْوَلَ.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two people or activities with </a:t>
            </a:r>
            <a:pPr algn="l" indent="0" marL="0">
              <a:buNone/>
            </a:pPr>
            <a:r>
              <a:rPr lang="ar-SA" altLang="en-US" sz="1650" b="1" dirty="0">
                <a:solidFill>
                  <a:srgbClr val="1B3B6F"/>
                </a:solidFill>
                <a:latin typeface="Amiri" pitchFamily="2" charset="-78"/>
                <a:cs typeface="Amiri" pitchFamily="2" charset="-78"/>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 + </a:t>
            </a:r>
            <a:pPr algn="l" indent="0" marL="0">
              <a:buNone/>
            </a:pPr>
            <a:r>
              <a:rPr lang="ar-SA" altLang="en-US" sz="1350" dirty="0">
                <a:solidFill>
                  <a:srgbClr val="5A6472"/>
                </a:solidFill>
                <a:latin typeface="Amiri" pitchFamily="2" charset="-78"/>
                <a:cs typeface="Amiri" pitchFamily="2" charset="-78"/>
              </a:rPr>
              <a:t>بَيْنَمَا</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cs typeface="Amiri" pitchFamily="2" charset="-78"/>
              </a:rPr>
              <a:t>أَزُورُ أَقَارِبِي، بَيْنَمَا تَلْتَقِي أُخْتِي بِصَدِيقَاتِهَا.   ·   أُرَاجِعُ صَبَاحًا، بَيْنَمَا أَسْتَرِيحُ مَسَاءً.</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Express a real condition with </a:t>
            </a:r>
            <a:pPr algn="l" indent="0" marL="0">
              <a:buNone/>
            </a:pPr>
            <a:r>
              <a:rPr lang="ar-SA" altLang="en-US" sz="1650" b="1" dirty="0">
                <a:solidFill>
                  <a:srgbClr val="1B3B6F"/>
                </a:solidFill>
                <a:latin typeface="Amiri" pitchFamily="2" charset="-78"/>
                <a:cs typeface="Amiri" pitchFamily="2" charset="-78"/>
              </a:rPr>
              <a:t>إِذَا</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 present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كَانَ لَدَيَّ وَقْتٌ أَذْهَبُ إِلَى الحَدِيقَةِ.   ·   إِذَا أَكْمَلْتُ وَاجِبِي أَلْتَقِي بِأَصْدِقَائِي.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Use flexible frequency precisely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غَالِبًا مَا · فِي بَعْضِ الأَحْيَانِ · نَادِرًا 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غَالِبًا مَا أَزُورُ جَدَّتِي.   ·   فِي بَعْضِ الأَحْيَانِ أَتَسَوَّقُ مَعَ أُسْرَتِي.   ·   نَادِرًا مَا أَبْقَى فِي البَيْتِ طَوَالَ اليَوْمِ.</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السَّبْتِ ___ أَسْتَرِيحُ.</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 جَدَّتِي، بَيْنَمَا تَلْتَقِي أُخْتِي بِصَدِيقَاتِهَا.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 جَدَّتِي، بَيْنَمَا يَلْتَقِي أُخْتِي.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 بَيْنَمَا أُخْتِي أَلْتَقِي.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كَانَ لَدَيَّ وَقْتٌ، ___.</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ذَهَبْتُ 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إِلَى الحَدِيقَةِ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الوَقْتَ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“often”?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غَالِبًا 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نَادِرًا 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 أَبَدًا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السَّبْتِ ___ أَسْتَرِيحُ.</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before the comment.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أَزُورُ جَدَّتِي، بَيْنَمَا تَلْتَقِي أُخْتِي بِصَدِيقَاتِهَا.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 جَدَّتِي، بَيْنَمَا يَلْتَقِي أُخْتِي.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 بَيْنَمَا أُخْتِي أَلْتَقِي.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clause has accurate subject–verb agreement.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كَانَ لَدَيَّ وَقْتٌ، ___.</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ذَهَبْتُ 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أَذْهَبُ إِلَى الحَدِيقَةِ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الوَقْتَ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repeated real condition can use present tense.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“often”?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غَالِبًا 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نَادِرًا مَا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 أَبَدًا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غَالِبًا مَا</a:t>
            </a:r>
            <a:pPr algn="l" indent="0" marL="0">
              <a:buNone/>
            </a:pPr>
            <a:r>
              <a:rPr lang="en-US" sz="1050" i="1" dirty="0">
                <a:solidFill>
                  <a:srgbClr val="8A6D1E"/>
                </a:solidFill>
                <a:latin typeface="Calibri" pitchFamily="34" charset="0"/>
                <a:cs typeface="Amiri" pitchFamily="2" charset="-78"/>
              </a:rPr>
              <a:t> = often.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weekend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أَمَّا</a:t>
            </a:r>
            <a:pPr rtl="1" algn="ctr" indent="0" marL="0">
              <a:lnSpc>
                <a:spcPct val="120000"/>
              </a:lnSpc>
              <a:buNone/>
            </a:pPr>
            <a:r>
              <a:rPr lang="ar-SA" altLang="en-US" sz="1750" b="1" dirty="0">
                <a:solidFill>
                  <a:srgbClr val="1B3B6F"/>
                </a:solidFill>
                <a:latin typeface="Amiri" pitchFamily="2" charset="-78"/>
                <a:cs typeface="Amiri" pitchFamily="2" charset="-78"/>
              </a:rPr>
              <a:t> يَوْمُ السَّبْتِ </a:t>
            </a:r>
            <a:pPr rtl="1" algn="ctr" indent="0" marL="0">
              <a:lnSpc>
                <a:spcPct val="120000"/>
              </a:lnSpc>
              <a:buNone/>
            </a:pPr>
            <a:r>
              <a:rPr lang="ar-SA" altLang="en-US" sz="1750" b="1" dirty="0">
                <a:solidFill>
                  <a:srgbClr val="0E7C86"/>
                </a:solidFill>
                <a:latin typeface="Amiri" pitchFamily="2" charset="-78"/>
                <a:cs typeface="Amiri" pitchFamily="2" charset="-78"/>
              </a:rPr>
              <a:t>فَأَنَامُ</a:t>
            </a:r>
            <a:pPr rtl="1" algn="ctr" indent="0" marL="0">
              <a:lnSpc>
                <a:spcPct val="120000"/>
              </a:lnSpc>
              <a:buNone/>
            </a:pPr>
            <a:r>
              <a:rPr lang="ar-SA" altLang="en-US" sz="1750" b="1" dirty="0">
                <a:solidFill>
                  <a:srgbClr val="1B3B6F"/>
                </a:solidFill>
                <a:latin typeface="Amiri" pitchFamily="2" charset="-78"/>
                <a:cs typeface="Amiri" pitchFamily="2" charset="-78"/>
              </a:rPr>
              <a:t> وَقْتًا أَطْوَلَ.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 for + topic + fa-.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غَالِبًا مَا</a:t>
            </a:r>
            <a:pPr rtl="1" algn="ctr" indent="0" marL="0">
              <a:lnSpc>
                <a:spcPct val="120000"/>
              </a:lnSpc>
              <a:buNone/>
            </a:pPr>
            <a:r>
              <a:rPr lang="ar-SA" altLang="en-US" sz="1750" b="1" dirty="0">
                <a:solidFill>
                  <a:srgbClr val="1B3B6F"/>
                </a:solidFill>
                <a:latin typeface="Amiri" pitchFamily="2" charset="-78"/>
                <a:cs typeface="Amiri" pitchFamily="2" charset="-78"/>
              </a:rPr>
              <a:t> أَزُورُ أَقَارِبِي بَعْدَ الظُّهْرِ.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tendency.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إِذَا</a:t>
            </a:r>
            <a:pPr rtl="1" algn="ctr" indent="0" marL="0">
              <a:lnSpc>
                <a:spcPct val="120000"/>
              </a:lnSpc>
              <a:buNone/>
            </a:pPr>
            <a:r>
              <a:rPr lang="ar-SA" altLang="en-US" sz="1750" b="1" dirty="0">
                <a:solidFill>
                  <a:srgbClr val="1B3B6F"/>
                </a:solidFill>
                <a:latin typeface="Amiri" pitchFamily="2" charset="-78"/>
                <a:cs typeface="Amiri" pitchFamily="2" charset="-78"/>
              </a:rPr>
              <a:t> كَانَ لَدَيَّ وَقْتٌ أَلْتَقِي بِأَصْدِقَائِي.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depends on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عُطْلَتِي مُتَوَازِنَةٌ لِأَنَّهَا تَجْمَعُ بَيْنَ الرَّاحَةِ وَالمَسْؤُولِيَّةِ.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Opinion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AS FOR … FA-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أَيَّامِ الدِّرَاسَةِ أَسْتَيْقِظُ مُبَكِّرًا، </a:t>
            </a:r>
            <a:pPr rtl="1" algn="r" indent="0" marL="0">
              <a:lnSpc>
                <a:spcPct val="120000"/>
              </a:lnSpc>
              <a:buNone/>
            </a:pPr>
            <a:r>
              <a:rPr lang="ar-SA" altLang="en-US" sz="1400" b="1" dirty="0">
                <a:solidFill>
                  <a:srgbClr val="0E7C86"/>
                </a:solidFill>
                <a:latin typeface="Amiri" pitchFamily="2" charset="-78"/>
                <a:cs typeface="Amiri" pitchFamily="2" charset="-78"/>
              </a:rPr>
              <a:t>أَمَّا</a:t>
            </a:r>
            <a:pPr rtl="1" algn="r" indent="0" marL="0">
              <a:lnSpc>
                <a:spcPct val="120000"/>
              </a:lnSpc>
              <a:buNone/>
            </a:pPr>
            <a:r>
              <a:rPr lang="ar-SA" altLang="en-US" sz="1400" b="1" dirty="0">
                <a:solidFill>
                  <a:srgbClr val="1B3B6F"/>
                </a:solidFill>
                <a:latin typeface="Amiri" pitchFamily="2" charset="-78"/>
                <a:cs typeface="Amiri" pitchFamily="2" charset="-78"/>
              </a:rPr>
              <a:t> يَوْمُ السَّبْتِ </a:t>
            </a:r>
            <a:pPr rtl="1" algn="r" indent="0" marL="0">
              <a:lnSpc>
                <a:spcPct val="120000"/>
              </a:lnSpc>
              <a:buNone/>
            </a:pPr>
            <a:r>
              <a:rPr lang="ar-SA" altLang="en-US" sz="1400" b="1" dirty="0">
                <a:solidFill>
                  <a:srgbClr val="0E7C86"/>
                </a:solidFill>
                <a:latin typeface="Amiri" pitchFamily="2" charset="-78"/>
                <a:cs typeface="Amiri" pitchFamily="2" charset="-78"/>
              </a:rPr>
              <a:t>فَأَنَامُ</a:t>
            </a:r>
            <a:pPr rtl="1" algn="r" indent="0" marL="0">
              <a:lnSpc>
                <a:spcPct val="120000"/>
              </a:lnSpc>
              <a:buNone/>
            </a:pPr>
            <a:r>
              <a:rPr lang="ar-SA" altLang="en-US" sz="1400" b="1" dirty="0">
                <a:solidFill>
                  <a:srgbClr val="1B3B6F"/>
                </a:solidFill>
                <a:latin typeface="Amiri" pitchFamily="2" charset="-78"/>
                <a:cs typeface="Amiri" pitchFamily="2" charset="-78"/>
              </a:rPr>
              <a:t> وَقْتًا أَطْوَلَ. </a:t>
            </a:r>
            <a:pPr rtl="1" algn="r" indent="0" marL="0">
              <a:lnSpc>
                <a:spcPct val="120000"/>
              </a:lnSpc>
              <a:buNone/>
            </a:pPr>
            <a:r>
              <a:rPr lang="ar-SA" altLang="en-US" sz="1400" b="1" dirty="0">
                <a:solidFill>
                  <a:srgbClr val="1D5FBF"/>
                </a:solidFill>
                <a:latin typeface="Amiri" pitchFamily="2" charset="-78"/>
                <a:cs typeface="Amiri" pitchFamily="2" charset="-78"/>
              </a:rPr>
              <a:t>غَالِبًا مَا</a:t>
            </a:r>
            <a:pPr rtl="1" algn="r" indent="0" marL="0">
              <a:lnSpc>
                <a:spcPct val="120000"/>
              </a:lnSpc>
              <a:buNone/>
            </a:pPr>
            <a:r>
              <a:rPr lang="ar-SA" altLang="en-US" sz="1400" b="1" dirty="0">
                <a:solidFill>
                  <a:srgbClr val="1B3B6F"/>
                </a:solidFill>
                <a:latin typeface="Amiri" pitchFamily="2" charset="-78"/>
                <a:cs typeface="Amiri" pitchFamily="2" charset="-78"/>
              </a:rPr>
              <a:t> أَزُورُ أَقَارِبِي بَعْدَ الظُّهْرِ، وَ</a:t>
            </a:r>
            <a:pPr rtl="1" algn="r" indent="0" marL="0">
              <a:lnSpc>
                <a:spcPct val="120000"/>
              </a:lnSpc>
              <a:buNone/>
            </a:pPr>
            <a:r>
              <a:rPr lang="ar-SA" altLang="en-US" sz="1400" b="1" dirty="0">
                <a:solidFill>
                  <a:srgbClr val="D6336C"/>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كَانَ لَدَيَّ وَقْتٌ أَلْتَقِي بِأَصْدِقَائِي. يَوْمَ الأَحَدِ أُخَطِّطُ لِلْأُسْبُوعِ. عُطْلَتِي مُتَوَازِنَةٌ لِأَنَّهَا تَجْمَعُ بَيْنَ الرَّاحَةِ وَالمَسْؤُولِيَّةِ.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On school days I wake up early; as for Saturday, I sleep longer. I often visit my relatives in the afternoon, and if I have time I meet my friends. On Sunday I plan the week. My weekend is balanced because it combines rest and responsibility.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غَالِبًا مَا أَزُورُ أَقَارِبِي يَوْمَ السَّبْتِ.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often visit relatives on Saturday.</a:t>
            </a:r>
            <a:endParaRPr lang="en-US" sz="1250" dirty="0"/>
          </a:p>
          <a:p>
            <a:pPr indent="0" marL="0">
              <a:buNone/>
            </a:pPr>
            <a:r>
              <a:rPr lang="en-US" sz="1050" i="1" dirty="0">
                <a:solidFill>
                  <a:srgbClr val="8A6D1E"/>
                </a:solidFill>
                <a:latin typeface="Calibri" pitchFamily="34" charset="0"/>
                <a:cs typeface="Amiri" pitchFamily="2" charset="-78"/>
              </a:rPr>
              <a:t>Flexible frequency.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كَانَ لَدَيَّ وَقْتٌ أُمَارِسُ هِوَايَتِي.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have time, I practise my hobby.</a:t>
            </a:r>
            <a:endParaRPr lang="en-US" sz="1250" dirty="0"/>
          </a:p>
          <a:p>
            <a:pPr indent="0" marL="0">
              <a:buNone/>
            </a:pPr>
            <a:r>
              <a:rPr lang="en-US" sz="1050" i="1" dirty="0">
                <a:solidFill>
                  <a:srgbClr val="8A6D1E"/>
                </a:solidFill>
                <a:latin typeface="Calibri" pitchFamily="34" charset="0"/>
                <a:cs typeface="Amiri" pitchFamily="2" charset="-78"/>
              </a:rPr>
              <a:t>Real recurring condition.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أَمَّا يَوْمُ الأَحَدِ فَأُخَطِّطُ لِلْأُسْبُوعِ.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Sunday, I plan the week.</a:t>
            </a:r>
            <a:endParaRPr lang="en-US" sz="1250" dirty="0"/>
          </a:p>
          <a:p>
            <a:pPr indent="0" marL="0">
              <a:buNone/>
            </a:pPr>
            <a:r>
              <a:rPr lang="en-US" sz="1050" i="1" dirty="0">
                <a:solidFill>
                  <a:srgbClr val="8A6D1E"/>
                </a:solidFill>
                <a:latin typeface="Calibri" pitchFamily="34" charset="0"/>
                <a:cs typeface="Amiri" pitchFamily="2" charset="-78"/>
              </a:rPr>
              <a:t>Topic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تَوَازُنًا بَيْنَ الرَّاحَةِ وَالمَسْؤُولِيَّةِ.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balance between rest and responsibility.</a:t>
            </a:r>
            <a:endParaRPr lang="en-US" sz="1250" dirty="0"/>
          </a:p>
          <a:p>
            <a:pPr indent="0" marL="0">
              <a:buNone/>
            </a:pPr>
            <a:r>
              <a:rPr lang="en-US" sz="1050" i="1" dirty="0">
                <a:solidFill>
                  <a:srgbClr val="8A6D1E"/>
                </a:solidFill>
                <a:latin typeface="Calibri" pitchFamily="34" charset="0"/>
                <a:cs typeface="Amiri" pitchFamily="2" charset="-78"/>
              </a:rPr>
              <a:t>Evaluation language.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SCHOOL DAY → WEEKEND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at the weekend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أَمَّا فِي نِهَايَةِ الأُسْبُوعِ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أَسْتَيْقِظُ صَبَاحًا مُبَكِّرًا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فَأَمَّا فِي نِهَايَةِ الأُسْبُوعِ أَسْتَيْقِظُ مُتَأَخِّرًا.</a:t>
            </a:r>
            <a:endParaRPr lang="ar-SA" sz="16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أَمَّا فِي نِهَايَةِ الأُسْبُوعِ فَأَسْتَيْقِظُ مُتَأَخِّرًا.</a:t>
            </a:r>
            <a:endParaRPr lang="ar-SA" sz="16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أَمَّا فِي نِهَايَةِ الأُسْبُوعِ أَسْتَيْقِظُ فَمُتَأَخِّرًا.</a:t>
            </a:r>
            <a:endParaRPr lang="ar-SA" sz="160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أَذْهَبُ إِلَى المَدْرَسَةِ …</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يَوْمُ السَّبْتِ أَزُورُ أَقَارِبِي.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يَوْمُ السَّبْتِ فَأَزُورُ أَقَارِبِي.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 السَّبْتِ فَأَمَّا أَزُورُ أَقَارِبِي.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flexible plan is accurate?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أَدْرُسُ بَعْدَ المَدْرَسَةِ …</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إِذَا لَدَيَّ وَقْتٌ مَارَسْتُ دَائِمًا.</a:t>
            </a:r>
            <a:endParaRPr lang="ar-SA" sz="20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لِأَنَّ كَانَ لَدَيَّ وَقْتٌ.</a:t>
            </a:r>
            <a:endParaRPr lang="ar-SA" sz="20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إِذَا كَانَ لَدَيَّ وَقْتٌ أُمَارِسُ هِوَايَتِي.</a:t>
            </a:r>
            <a:endParaRPr lang="ar-SA" sz="20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Contrast with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أَنَامُ لَيْلًا …</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أَنَامُ وَقْتًا أَطْوَلَ، بَيْنَمَا يَتَمَرَّنُ أَخِي.</a:t>
            </a:r>
            <a:endParaRPr lang="ar-SA" sz="18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أَنَامُ وَقْتًا أَطْوَلَ، بَيْنَمَا تَتَمَرَّنُ أَخِي.</a:t>
            </a:r>
            <a:endParaRPr lang="ar-SA" sz="18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أَنَامُ وَقْتًا أَطْوَلَ، بَيْنَمَا أَتَمَرَّنُ أَخِي.</a:t>
            </a:r>
            <a:endParaRPr lang="ar-SA" sz="180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Pattern: as for + the weekend + fa- + verb.</a:t>
            </a:r>
            <a:endParaRPr lang="en-US" sz="1250" dirty="0"/>
          </a:p>
          <a:p>
            <a:pPr algn="l" indent="0" marL="0">
              <a:buNone/>
            </a:pPr>
            <a:r>
              <a:rPr lang="en-US" sz="1250" dirty="0">
                <a:solidFill>
                  <a:srgbClr val="1E6B52"/>
                </a:solidFill>
                <a:latin typeface="Calibri" pitchFamily="34" charset="0"/>
                <a:cs typeface="Amiri" pitchFamily="2" charset="-78"/>
              </a:rPr>
              <a:t>Learn: “if I have time” as one chunk.</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SCHOOL DAY → WEEKEND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at the weekend: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أَسْتَيْقِظُ صَبَاحًا مُبَكِّرًا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فَأَمَّا فِي نِهَايَةِ الأُسْبُوعِ أَسْتَيْقِظُ مُتَأَخِّرًا.</a:t>
            </a:r>
            <a:endParaRPr lang="ar-SA" sz="16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أَمَّا فِي نِهَايَةِ الأُسْبُوعِ فَأَسْتَيْقِظُ مُتَأَخِّرًا.</a:t>
            </a:r>
            <a:endParaRPr lang="ar-SA" sz="16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أَمَّا فِي نِهَايَةِ الأُسْبُوعِ أَسْتَيْقِظُ فَمُتَأَخِّرًا.</a:t>
            </a:r>
            <a:endParaRPr lang="ar-SA" sz="16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 for + topic, then fa- on the verb.</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accurate?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أَذْهَبُ إِلَى المَدْرَسَةِ …</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 يَوْمُ السَّبْتِ أَزُورُ أَقَارِبِي.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يَوْمُ السَّبْتِ فَأَزُورُ أَقَارِبِي.</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 السَّبْتِ فَأَمَّا أَزُورُ أَقَارِبِي.</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is needed before the comment.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flexible plan is accurate?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أَدْرُسُ بَعْدَ المَدْرَسَةِ …</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لَدَيَّ وَقْتٌ مَارَسْتُ دَائِمًا.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كَانَ لَدَيَّ وَقْتٌ.</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كَانَ لَدَيَّ وَقْتٌ أُمَارِسُ هِوَايَتِي.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 I have time” as a whole chunk.</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Contrast with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أَنَامُ لَيْلًا …</a:t>
            </a:r>
            <a:endParaRPr lang="ar-SA" sz="15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أَنَامُ وَقْتًا أَطْوَلَ، بَيْنَمَا يَتَمَرَّنُ أَخِي.</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أَنَامُ وَقْتًا أَطْوَلَ، بَيْنَمَا تَتَمَرَّنُ أَخِي.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أَنَامُ وَقْتًا أَطْوَلَ، بَيْنَمَا أَتَمَرَّنُ أَخِي.</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My brother → ya-.</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Pattern: as for + the weekend + fa- + verb.</a:t>
            </a:r>
            <a:endParaRPr lang="en-US" sz="1250" dirty="0"/>
          </a:p>
          <a:p>
            <a:pPr algn="l" indent="0" marL="0">
              <a:buNone/>
            </a:pPr>
            <a:r>
              <a:rPr lang="en-US" sz="1250" dirty="0">
                <a:solidFill>
                  <a:srgbClr val="1E6B52"/>
                </a:solidFill>
                <a:latin typeface="Calibri" pitchFamily="34" charset="0"/>
                <a:cs typeface="Amiri" pitchFamily="2" charset="-78"/>
              </a:rPr>
              <a:t>Learn: “if I have time” as one chunk.</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balance board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أَنَامُ وَقْتًا أَطْوَلَ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أُمَارِسُ هِوَايَتِي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أُرَاجِعُ مَا تَعَلَّمْتُهُ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أُخَطِّطُ لِلْأُسْبُوعِ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أُسَاعِدُ فِي البَيْتِ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أَزُورُ أَقَارِبِي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أَلْتَقِي بِأَصْدِقَائِي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أَقْضِي وَقْتًا مَعَ أُسْرَتِي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Rest and enjoyment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Responsibility and preparation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Social and family time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Rest and enjoyment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أَنَامُ وَقْتًا أَطْوَلَ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أُمَارِسُ هِوَايَتِي</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Responsibility and preparation</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أُرَاجِعُ مَا تَعَلَّمْتُهُ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أُخَطِّطُ لِلْأُسْبُوعِ</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أُسَاعِدُ فِي البَيْتِ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Social and family time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أَزُورُ أَقَارِبِي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أَلْتَقِي بِأَصْدِقَائِي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أَقْضِي وَقْتًا مَعَ أُسْرَتِي</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balanced weekend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أَنَامُ فَقَطْ.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الوَاجِبُ بَيْنَمَا السَّبْتُ.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أَسْتَرِيحُ، وَلٰكِنَّنِي أُخَصِّصُ وَقْتًا لِلْوَاجِبِ أَيْضًا.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فِي أَيَّامِ الدِّرَاسَةِ أَسْتَيْقِظُ مُبَكِّرًا، ___ فِي العُطْلَةِ فَأَسْتَيْقِظُ مُتَأَخِّرًا.</a:t>
            </a:r>
            <a:endParaRPr lang="ar-SA" sz="10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flexible plan.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أَلْتَقِي بِأَصْدِقَائِي فِي السَّابِعَةِ كُلَّ يَوْمٍ دُونَ تَغْيِيرٍ.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أَكْمَلْتُ وَاجِبِي أَلْتَقِي بِأَصْدِقَائِي.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أَفْعَلُ شَيْئًا.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“most of the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مَرَّةً وَاحِدَةً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الوَقْتِ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مُعْظَمَ الوَقْتِ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balanced weekend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أَنَامُ فَقَطْ.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الوَاجِبُ بَيْنَمَا السَّبْتُ.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أَسْتَرِيحُ، وَلٰكِنَّنِي أُخَصِّصُ وَقْتًا لِلْوَاجِبِ أَيْضًا.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rest and responsibility.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فِي أَيَّامِ الدِّرَاسَةِ أَسْتَيْقِظُ مُبَكِّرًا، ___ فِي العُطْلَةِ فَأَسْتَيْقِظُ مُتَأَخِّرًا.</a:t>
            </a:r>
            <a:endParaRPr lang="ar-SA" sz="10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contrasting topic.</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flexible plan.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أَلْتَقِي بِأَصْدِقَائِي فِي السَّابِعَةِ كُلَّ يَوْمٍ دُونَ تَغْيِيرٍ.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أَكْمَلْتُ وَاجِبِي أَلْتَقِي بِأَصْدِقَائِي.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أَفْعَلُ شَيْئًا.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condition makes the plan flexible.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“most of the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مَرَّةً وَاحِدَةً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الوَقْتِ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مُعْظَمَ الوَقْتِ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مُعْظَمَ الوَقْتِ</a:t>
            </a:r>
            <a:pPr algn="l" indent="0" marL="0">
              <a:buNone/>
            </a:pPr>
            <a:r>
              <a:rPr lang="en-US" sz="1050" i="1" dirty="0">
                <a:solidFill>
                  <a:srgbClr val="8A6D1E"/>
                </a:solidFill>
                <a:latin typeface="Calibri" pitchFamily="34" charset="0"/>
                <a:cs typeface="Amiri" pitchFamily="2" charset="-78"/>
              </a:rPr>
              <a:t> = most of the time.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فَأَمَّا السَّبْتُ أَسْتَرِيحُ.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fa- belong: before “as for” or before the comment?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بَيْنَمَا أُخْتِي يَلْتَقِي.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أُخْتِي</a:t>
            </a:r>
            <a:pPr algn="l" indent="0" marL="0">
              <a:buNone/>
            </a:pPr>
            <a:r>
              <a:rPr lang="en-US" sz="1300" i="1" dirty="0">
                <a:solidFill>
                  <a:srgbClr val="5A6472"/>
                </a:solidFill>
                <a:latin typeface="Calibri" pitchFamily="34" charset="0"/>
                <a:cs typeface="Amiri" pitchFamily="2" charset="-78"/>
              </a:rPr>
              <a:t> is feminine.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لَدَيَّ وَقْتٌ ذَهَبْتُ دَائِمًا.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Use the whole chunk “if I have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فَأَمَّا السَّبْتُ أَسْتَرِيحُ.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أَمَّا السَّبْتُ فَأَسْتَرِيحُ.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Place </a:t>
            </a:r>
            <a:pPr algn="l" indent="0" marL="0">
              <a:buNone/>
            </a:pPr>
            <a:r>
              <a:rPr lang="ar-SA" altLang="en-US" sz="1500" b="1" dirty="0">
                <a:solidFill>
                  <a:srgbClr val="1B3B6F"/>
                </a:solidFill>
                <a:latin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before the comment.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بَيْنَمَا أُخْتِي يَلْتَقِي.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بَيْنَمَا أُخْتِي تَلْتَقِي.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subject takes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لَدَيَّ وَقْتٌ ذَهَبْتُ دَائِمًا.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كَانَ لَدَيَّ وَقْتٌ أَذْهَبُ.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coherent repeated-condition frame.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Plans that may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weekend timetable strict?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 Saturday evening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grandmother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helping the family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condition affects meeting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finishing training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having time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Sunday revision?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routine liked?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avoids family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balances rest and preparation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to school days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لَا أَتَّبِعُ جَدْوَلًا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غَالِبًا مَا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لِمُدَّةِ سَاعَةٍ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نِهَايَةِ الأُسْبُوعِ لَا أَتَّبِعُ جَدْوَلًا صَارِمًا.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weekend I don’t follow a strict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صَبَاحَ السَّبْتِ غَالِبًا مَا أُسَاعِدُ أُسْرَتِي، ثُمَّ أَلْتَقِي بِصَدِيقَاتِي إِذَا كَانَ لَدَيَّ وَقْتٌ.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Saturday morning I often help my family, then I meet my friends if I have time.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مَسَاءُ السَّبْتِ فَأَقْضِيهِ مَعَ أُسْرَتِي.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Saturday evening, I spend it with my family.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يَوْمَ الأَحَدِ أُرَاجِعُ دُرُوسِي لِمُدَّةِ سَاعَةٍ، بَيْنَمَا يَذْهَبُ أَخِي إِلَى التَّدْرِيبِ. بَعْدَ ذٰلِكَ نَزُورُ جَدَّتَنَا.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 I revise for an hour, whereas my brother goes to training. After that we visit our grandmother.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هٰذَا التَّوَازُنَ لِأَنَّنِي أَسْتَرِيحُ وَأَسْتَعِدُّ لِلْأُسْبُوعِ الجَدِيدِ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this balance because I rest and also get ready for the new week.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weekend timetable strict?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 Saturday evening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أَتَّبِعُ جَدْوَلًا صَارِمًا.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grandmother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helping the family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غَالِبًا مَا أُسَاعِدُ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condition affects meeting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finishing training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having time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كَانَ لَدَيَّ وَقْتٌ.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Sunday revision?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لِمُدَّةِ سَاعَةٍ.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routine liked?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avoids family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balances rest and preparation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to school days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أَسْتَرِيحُ وَأَسْتَعِدُّ ... أَيْضًا.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لَا أَتَّبِعُ جَدْوَلًا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غَالِبًا مَا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لِمُدَّةِ سَاعَةٍ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Discuss and evaluate your weekend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عَادَةً يَوْمَ السَّبْتِ؟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يَخْتَلِفُ يَوْمُ الأَحَدِ؟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إِذَا كَانَ لَدَيْكَ وَقْتٌ؟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عُطْلَتُكَ مُتَوَازِنَةٌ؟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يَوْمَ السَّبْتِ ___ ، وَيَوْمَ الأَحَدِ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أَمَّا يَوْمُ الأَحَدِ فَـ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كَانَ لَدَيَّ وَقْتٌ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عُطْلَتِي مُتَوَازِنَةٌ / غَيْرُ مُتَوَازِنَةٍ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عُطْلَتُكَ مُنَظَّمَةٌ؟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your weekend organised?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لَيْسَتْ صَارِمَةً، وَلٰكِنَّنِي أُخَصِّصُ وَقْتًا لِلرَّاحَةِ وَالوَاجِبِ. إِذَا كَانَ لَدَيَّ وَقْتٌ أَلْتَقِي بِأَصْدِقَائِي.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isn’t strict, but I set aside time for rest and homework. If I have time, I meet my friends.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four weekend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weekend activities with a day, and one sentence “as for the weekend …” from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Saturday, Sunday and school days accurately.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Saturday vs Sunday vs school days; one contrast with another person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flexibility and balance through evidence and qualification.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both days, as for … fa-, whereas, an “if” condition, three frequency expressions and an evaluation of balance.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فِي أَيَّامِ الدِّرَاسَةِ ______ ، أَمَّا يَوْمُ السَّبْتِ فَـ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school days I …, as for Saturday,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غَالِبًا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often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بَعْضِ الأَحْيَانِ أَتَسَوَّقُ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go shopping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كَانَ لَدَيَّ وَقْتٌ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have time, I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تَـ ______ أُخْتِي.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sister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يَوْمَ السَّبْتِ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Saturday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يَوْمَ الأَحَدِ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Sunday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نِهَايَةِ الأُسْبُوعِ أَنَامُ وَقْتًا أَطْوَلَ.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weekend I sleep longer.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أَزُورُ أَقَارِبِي / أَلْتَقِي بِأَصْدِقَائِي.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 my relatives / meet my friends.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فِي نِهَايَةِ الأُسْبُوعِ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the weekend, I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يَوْمَ السَّبْتِ  ·  يَوْمَ الأَحَدِ  ·  أَمَّا … فَـ  ·  بَيْنَمَا  ·  إِذَا كَانَ لَدَيَّ وَقْتٌ  ·  غَالِبًا مَا  ·  نَادِرًا مَا  ·  أَزُورُ أَقَارِبِي  ·  أَتَسَوَّقُ  ·  أُمَارِسُ هِوَايَتِي  ·  أُخَطِّطُ لِلْأُسْبُوعِ  ·  تَوَازُنٌ</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about your weekend routine and how it differs from school days.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Saturday and Sunday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real condition with </a:t>
            </a:r>
            <a:pPr algn="l" indent="0" marL="0">
              <a:buNone/>
            </a:pPr>
            <a:r>
              <a:rPr lang="ar-SA" altLang="en-US" sz="1550" dirty="0">
                <a:solidFill>
                  <a:srgbClr val="1F2A37"/>
                </a:solidFill>
                <a:latin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three frequency expressions.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Evaluate the balance of rest, family, study and free time.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أَتَّبِعُ جَدْوَلًا صَارِمًا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follow a strict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كَانَ الطَّقْسُ مُنَاسِبًا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the weather is suitable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نَادِرًا مَا أَقْضِي اليَوْمَ كُلَّهُ فِي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rarely spend the whole day at home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تَجْمَعُ بَيْنَ الرَّاحَةِ وَالأُسْرَةِ وَالمَسْؤُولِيَّةِ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rest, family and responsibility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وَلٰكِنَّنِي أُرِيدُ أَنْ أَقْرَأَ 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 want to read more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يَخْتَلِفُ رُوتِينِي فِي نِهَايَةِ الأُسْبُوعِ عَنْ أَيَّامِ الدِّرَاسَةِ. أَمَّا يَوْمُ السَّبْتِ فَأَسْتَيْقِظُ مُتَأَخِّرًا قَلِيلًا، ثُمَّ أُسَاعِدُ أُسْرَتِي فِي البَيْتِ. غَالِبًا مَا أَزُورُ أَقَارِبِي فِي بَعْدِ الظُّهْرِ، وَإِذَا كَانَ لَدَيَّ وَقْتٌ أَلْتَقِي بِأَصْدِقَائِي. فِي المَسَاءِ أُمَارِسُ هِوَايَتِي، بَيْنَمَا يُشَاهِدُ أَخِي الرِّيَاضَةَ. يَوْمَ الأَحَدِ أُرَاجِعُ دُرُوسِي لِمُدَّةِ سَاعَةٍ وَأُحَضِّرُ حَقِيبَتِي. نَادِرًا مَا أَقْضِي اليَوْمَ كُلَّهُ فِي البَيْتِ. فِي رَأْيِي، عُطْلَتِي مُتَوَازِنَةٌ لِأَنَّهَا تَجْمَعُ بَيْنَ الرَّاحَةِ وَالأُسْرَةِ وَالمَسْؤُولِيَّةِ، وَلٰكِنَّنِي أُرِيدُ أَنْ أَقْرَأَ أَكْثَرَ.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weekend routine is different from school days. As for Saturday, I wake up a little late, then I help my family at home. I often visit my relatives in the afternoon, and if I have time I meet my friends. In the evening I practise my hobby, whereas my brother watches sport. On Sunday I revise my lessons for an hour and prepare my bag. I rarely spend the whole day at home. In my opinion, my weekend is balanced because it combines rest, family and responsibility, but I want to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 فَـ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“if” condition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frequency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judgement with 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about both Saturday and Sunday.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“as for … fa-” in the right order.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“whereas”, the verb matches the new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flexible frequency expressions.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“if” and judged the balance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أَمَّا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real condition.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كَانَ لَدَيَّ وَقْتٌ.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كَانَ لَدَيَّ وَقْتٌ أَخْرُجُ.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الوَقْتُ خَرَجْتُ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أَقْرَأُ، بَيْنَمَا يُشَاهِدُ أَخِي مُبَارَاةً.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أَقْرَأُ، بَيْنَمَا تُشَاهِدُ أَخِي.</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أَقْرَأُ بَيْنَمَا أَخِي أُشَاهِدُ.</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أَمَّا السَّبْتُ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before the comment.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real condition.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 كَانَ لَدَيَّ وَقْتٌ.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إِذَا كَانَ لَدَيَّ وَقْتٌ أَخْرُجُ.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الوَقْتُ خَرَجْتُ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coherent repeated condition.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أَقْرَأُ، بَيْنَمَا يُشَاهِدُ أَخِي مُبَارَاةً.</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أَقْرَأُ، بَيْنَمَا تُشَاهِدُ أَخِي.</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أَقْرَأُ بَيْنَمَا أَخِي أُشَاهِدُ.</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brother takes </a:t>
            </a:r>
            <a:pPr algn="l" indent="0" marL="0">
              <a:buNone/>
            </a:pPr>
            <a:r>
              <a:rPr lang="ar-SA" altLang="en-US" sz="1350" dirty="0">
                <a:solidFill>
                  <a:srgbClr val="8A6D1E"/>
                </a:solidFill>
                <a:latin typeface="Amiri" pitchFamily="2" charset="-78"/>
                <a:cs typeface="Amiri" pitchFamily="2" charset="-78"/>
              </a:rPr>
              <a:t>يُشَاهِدُ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weekend with choices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يَخْتَلِفُ رُوتِينُ عُطْلَتِي عَنْ رُوتِينِي فِي أَيَّامِ الدِّرَاسَةِ. أَمَّا يَوْمُ السَّبْتِ فَأَسْتَيْقِظُ فِي الثَّامِنَةِ، وَغَالِبًا مَا أَذْهَبُ إِلَى السُّوقِ مَعَ أُمِّي. إِذَا كَانَ الطَّقْسُ مُنَاسِبًا نَمْشِي فِي الحَدِيقَةِ، وَإِذَا كُنَّا مُتْعَبِينَ نَعُودُ إِلَى البَيْتِ مُبَكِّرًا. فِي المَسَاءِ أُمَارِسُ هِوَايَتِي، بَيْنَمَا يُشَاهِدُ أَخِي مُبَارَاةً. يَوْمَ الأَحَدِ أُرَاجِعُ دُرُوسِي وَأُحَضِّرُ حَقِيبَتِي لِلْمَدْرَسَةِ. لَا أُرِيدُ أَنْ يَكُونَ كُلُّ وَقْتِي دِرَاسَةً، وَلَا أَنْ يَكُونَ كُلُّهُ رَاحَةً؛ فَالتَّوَازُنُ يُسَاعِدُنِي عَلَى بَدْءِ الأُسْبُوعِ بِنَشَاطٍ.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يَخْتَلِفُ …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 from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السُّوقِ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إِذَا كَانَ الطَّقْسُ مُنَاسِبًا</a:t>
            </a:r>
            <a:endParaRPr lang="ar-SA" sz="14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the weather is suitable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مُتْعَبِينَ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tired (pl.)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مُبَارَاةً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match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أُحَضِّرُ حَقِيبَتِي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prepare my bag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 وَقْتِي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my time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دِرَاسَةً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study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فَالتَّوَازُنُ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balance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بِنَشَاطٍ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energetically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weekend differ?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starts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less like the fixed school routine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contains no responsibilities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lessons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with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 with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affects the park walk?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and tiredness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marks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 prices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do in the evening?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practises the writer’s hobby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watches a match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prepares a school bag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Sunday?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 and school preparation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 day of 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weekends should contain only study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routines must be strict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supports an energetic start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weekend differ?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starts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less like the fixed school routine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contains no responsibilities</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contrasts the routines.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often happens Saturday?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lessons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with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shopping with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غَالِبًا مَا أَذْهَبُ إِلَى السُّوقِ مَعَ أُمِّي.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affects the park walk?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weather and tiredness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homework marks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 prices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clauses give conditions.</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do in the evening?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practises the writer’s hobby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watches a match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prepares a school bag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يُشَاهِدُ أَخِي مُبَارَاةً.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Sunday?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revision and school preparation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 day of 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shopping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أُرَاجِعُ ... وَأُحَضِّرُ حَقِيبَتِي.</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weekends should contain only study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all routines must be strict</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supports an energetic start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values balance.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Weekend comparison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فِي أَيَّامِ الدِّرَاسَةِ أَسْتَيْقِظُ مُبَكِّرًا، أَمَّا فِي نِهَايَةِ الأُسْبُوعِ ___.</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 نَوْمٌ أَطْوَلُ</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فَأَنَامُ وَقْتًا أَطْوَلَ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فِي النِّهَايَةِ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contrast and agreement.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أَقْرَأُ، بَيْنَمَا يُشَاهِدُ أَخِي مُبَارَاةً.</a:t>
            </a:r>
            <a:endParaRPr lang="ar-SA" sz="20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أَقْرَأُ، بَيْنَمَا تُشَاهِدُ أَخِي مُبَارَاةً.</a:t>
            </a:r>
            <a:endParaRPr lang="ar-SA" sz="20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أَقْرَأُ بَيْنَمَا أَخِي أُشَاهِدُ.</a:t>
            </a:r>
            <a:endParaRPr lang="ar-SA" sz="20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repeated condition.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إِذَا الوَقْتُ ذَهَبْتُ أَمْسِ.</a:t>
            </a:r>
            <a:endParaRPr lang="ar-SA" sz="17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لِأَنَّ كَانَ لَدَيَّ وَقْتٌ أَذْهَبُ.</a:t>
            </a:r>
            <a:endParaRPr lang="ar-SA" sz="17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إِذَا كَانَ لَدَيَّ وَقْتٌ أَذْهَبُ إِلَى الحَدِيقَةِ.</a:t>
            </a:r>
            <a:endParaRPr lang="ar-SA" sz="17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seldom stay at home all day”?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غَالِبًا مَا أَبْقَى فِي البَيْتِ طَوَالَ اليَوْمِ.</a:t>
            </a:r>
            <a:endParaRPr lang="ar-SA" sz="17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دَائِمًا لَا أَبْقَى أَبَدًا.</a:t>
            </a:r>
            <a:endParaRPr lang="ar-SA" sz="17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نَادِرًا مَا أَبْقَى فِي البَيْتِ طَوَالَ اليَوْمِ.</a:t>
            </a:r>
            <a:endParaRPr lang="ar-SA" sz="17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صَبَاحَ السَّبْتِ أُرَاجِعُ دُرُوسِي، ثُمَّ أَلْتَقِي بِأَصْدِقَائِي</a:t>
            </a:r>
            <a:pPr algn="l" indent="0" marL="0">
              <a:buNone/>
            </a:pPr>
            <a:r>
              <a:rPr lang="en-US" sz="1000" b="1" dirty="0">
                <a:solidFill>
                  <a:srgbClr val="1F2A37"/>
                </a:solidFill>
                <a:latin typeface="Calibri" pitchFamily="34" charset="0"/>
                <a:cs typeface="Amiri" pitchFamily="2" charset="-78"/>
              </a:rPr>
              <a:t>. What happens after revision?</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يَلْتَقِي بِأَصْدِقَائِهِ.</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يَنَامُ طَوَالَ اليَوْمِ.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يَذْهَبُ إِلَى المَدْرَسَةِ.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evaluation of a balanced weekend.</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عُطْلَةٌ جَيِّدَةٌ.</a:t>
            </a:r>
            <a:endParaRPr lang="ar-SA" sz="13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عُطْلَتِي مُتَوَازِنَةٌ لِأَنَّنِي أَسْتَرِيحُ وَأُكْمِلُ مَسْؤُولِيَّاتِي.</a:t>
            </a:r>
            <a:endParaRPr lang="ar-SA" sz="13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السَّبْتُ وَالأَحَدُ.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فِي أَيَّامِ الدِّرَاسَةِ أَسْتَيْقِظُ مُبَكِّرًا، أَمَّا فِي نِهَايَةِ الأُسْبُوعِ ___.</a:t>
            </a:r>
            <a:endParaRPr lang="ar-SA"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 نَوْمٌ أَطْوَلُ</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فَأَنَامُ وَقْتًا أَطْوَلَ</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فِي النِّهَايَةِ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weekend topic and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begins the complete comment.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contrast and agreement.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أَقْرَأُ، بَيْنَمَا يُشَاهِدُ أَخِي مُبَارَاةً.</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أَقْرَأُ، بَيْنَمَا تُشَاهِدُ أَخِي مُبَارَاةً.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أَقْرَأُ بَيْنَمَا أَخِي أُشَاهِدُ.</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is masculine, so its verb is </a:t>
            </a:r>
            <a:pPr algn="l" indent="0" marL="0">
              <a:buNone/>
            </a:pPr>
            <a:r>
              <a:rPr lang="ar-SA" altLang="en-US" sz="1350" dirty="0">
                <a:solidFill>
                  <a:srgbClr val="8A6D1E"/>
                </a:solidFill>
                <a:latin typeface="Amiri" pitchFamily="2" charset="-78"/>
                <a:cs typeface="Amiri" pitchFamily="2" charset="-78"/>
              </a:rPr>
              <a:t>يُشَاهِدُ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repeated condition.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الوَقْتُ ذَهَبْتُ أَمْسِ.</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كَانَ لَدَيَّ وَقْتٌ أَذْهَبُ.</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كَانَ لَدَيَّ وَقْتٌ أَذْهَبُ إِلَى الحَدِيقَةِ.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a repeated or likely condition, use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 present situation + present result.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seldom stay at home all day”?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غَالِبًا مَا أَبْقَى فِي البَيْتِ طَوَالَ اليَوْمِ.</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دَائِمًا لَا أَبْقَى أَبَدًا.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نَادِرًا مَا أَبْقَى فِي البَيْتِ طَوَالَ اليَوْمِ.</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نَادِرًا مَا</a:t>
            </a:r>
            <a:pPr algn="l" indent="0" marL="0">
              <a:buNone/>
            </a:pPr>
            <a:r>
              <a:rPr lang="en-US" sz="1050" i="1" dirty="0">
                <a:solidFill>
                  <a:srgbClr val="8A6D1E"/>
                </a:solidFill>
                <a:latin typeface="Calibri" pitchFamily="34" charset="0"/>
                <a:cs typeface="Amiri" pitchFamily="2" charset="-78"/>
              </a:rPr>
              <a:t> expresses “seldom / rarely”.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صَبَاحَ السَّبْتِ أُرَاجِعُ دُرُوسِي، ثُمَّ أَلْتَقِي بِأَصْدِقَائِي</a:t>
            </a:r>
            <a:pPr algn="l" indent="0" marL="0">
              <a:buNone/>
            </a:pPr>
            <a:r>
              <a:rPr lang="en-US" sz="1000" b="1" dirty="0">
                <a:solidFill>
                  <a:srgbClr val="1F2A37"/>
                </a:solidFill>
                <a:latin typeface="Calibri" pitchFamily="34" charset="0"/>
                <a:cs typeface="Amiri" pitchFamily="2" charset="-78"/>
              </a:rPr>
              <a:t>. What happens after revision?</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يَلْتَقِي بِأَصْدِقَائِهِ.</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يَنَامُ طَوَالَ اليَوْمِ.</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يَذْهَبُ إِلَى المَدْرَسَةِ.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signals the next action: meeting friends.</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evaluation of a balanced weekend.</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عُطْلَةٌ جَيِّدَةٌ.</a:t>
            </a:r>
            <a:endParaRPr lang="ar-SA" sz="13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عُطْلَتِي مُتَوَازِنَةٌ لِأَنَّنِي أَسْتَرِيحُ وَأُكْمِلُ مَسْؤُولِيَّاتِي.</a:t>
            </a:r>
            <a:endParaRPr lang="ar-SA" sz="13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السَّبْتُ وَالأَحَدُ.</a:t>
            </a:r>
            <a:endParaRPr lang="ar-SA" sz="13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answer gives a clear evaluation and supports it with two relevant details.</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D1-L09 · Reading Daily Routines and Weekly Schedules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جَدْوَلٌ أُسْبُوعِيٌّ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weekly schedule</a:t>
            </a:r>
            <a:pPr indent="0" marL="0">
              <a:buNone/>
            </a:pPr>
            <a:r>
              <a:rPr lang="en-US" sz="1000" i="1" dirty="0">
                <a:solidFill>
                  <a:srgbClr val="5A6472"/>
                </a:solidFill>
                <a:latin typeface="Calibri" pitchFamily="34" charset="0"/>
                <a:cs typeface="Amiri" pitchFamily="2" charset="-78"/>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مَوْعِدُ البَدْءِ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start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مَوْعِدُ الاِنْتِهَاءِ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finish time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الدَّلِيلُ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حَسَبَ الجَدْوَلِ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according to the schedule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your own school timetable. Which day is the busiest, and how do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أَكْثَرُ يَوْمٍ اِنْشِغَالًا فِي جَدْوَلِكَ؟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D1-L08: the vocabulary tab and the sorter “Weekend balance board”.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Saturday, Sunday and one contrast with a family member.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about your weekend and how it differs from school days.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D1-L09 · Reading Daily Routines and Weekly Schedules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قِرَاءَةُ الرُّوتِينِ وَالجَدَاوِلِ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as for + topic + fa- + comment.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D1-L08 · Weekend Routine — What Do You Do at the Weekend?</dc:title>
  <dc:subject>PptxGenJS Presentation</dc:subject>
  <dc:creator>Al Madina Online School · Arabic Department</dc:creator>
  <cp:lastModifiedBy>Al Madina Online School · Arabic Department</cp:lastModifiedBy>
  <cp:revision>1</cp:revision>
  <dcterms:created xsi:type="dcterms:W3CDTF">2026-10-11T06:40:29Z</dcterms:created>
  <dcterms:modified xsi:type="dcterms:W3CDTF">2026-10-11T06:40:29Z</dcterms:modified>
</cp:coreProperties>
</file>