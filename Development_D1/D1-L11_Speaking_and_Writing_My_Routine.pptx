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D1-L11. The website lesson “Speaking and Writing — My Daily Routine”: vocabulary, grammar rules and quiz, patterns, common mistakes, sorter, listening, reading, speaking prompts and model, writing task and model, differentiation, final check and the lesson mission. Picture match: website visual game “Speaking and Writing — My Daily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PRODUCTION lesson: no new topic. Time goes to building, correcting and performing answers. Keep teacher talk short.
• Core: answer three questions with Point + Reason (+ one learnt example) using the cue cards; write 6–8 sentences with the frames. Develop: 30–45 seconds with an example and one target structure. Stretch: respond to an unseen follow-up and self-correct; write the 100–120-word article.
• The D1 “grammar vault” (group 2) is the checklist for self-correction — keep it visible during writing.
• Urdu bridge: مثال، سبب، دقت، مقابلہ، مہارت.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D1-L07 and D1-L02 — three of the most common D1 errors.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answer = Point + Reason + Example + Contrast — and every verb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 المِثَالُ (عَلَى سَبِيلِ المِثَالِ = مثال کے طور پر). سبب → السَّبَبُ. FALSE FRIEND: Urdu دقت = difficulty, but Arabic دِقَّةٌ = accuracy / precision. مہارت (skill) → مَهَارَةٌ. مقابلہ (competition) is NOT مُقَارَنَةٌ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(1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(2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(1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(2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“Build Point + Reason + Example” and “Add comparison or qualification” (بَيْنَمَا · مَعَ ذٰلِكَ · أَمَّا) with the website patterns.
Website warning: “Do not extend an answer by adding unrelated memorised sentences. Every reason, example and contrast must answer the exact question.”
Teacher script: “Answer the question FIRST (point), then build.” Model row 1 slowly; students build row 2 with their own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“Repair errors by category” (verb pattern · person · أَنْ · time · frequency) and the website table (Person · Time · Sequence · Development). These are the five error families from the website error-analysis report (reading text: Lina).
Quick-fire: teacher says a wrong sentence; the class shouts the FAMILY name before anyone corrects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“Developed communication combines accurate person agreement, precise time, frequency, before/after clauses, contrast and reasons. Range only earns value when every structure is controlled.”
• Build Point + Reason + Example: Answer the exact question first, then develop it.
• Add comparison or qualification: A contrast shows flexible thinking and extends the response naturally.
• Repair errors by category: Name the exact system before correcting: verb pattern, person agreement, verb after أَنْ, time phrase or frequency phrase.
• Speak from cue words, not a written script: Prepare 3–5 cues, then vary sentence order and examples. This supports spontaneity.
Website common error: Do not extend an answer by adding unrelated memorised sentences. Every reason, example and contrast must answer the exact question and preserve person, time and sequence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writes four cue words on the whiteboard, then SPEAKS the answer (not reads it), with a think-aloud. Then shows the written version and checks every verb aloud against the grammar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1, 2, 5 and 6. After each answer ask: “What would make it even stronger?” (add an example / a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add ONE more block to answer 1 (example or contrast)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label each sentence P / R / E / C.
Listen 1: just listen. Listen 2: note answers. Then chat the letters.
Support: after the second listening, show the read-along slide (Arabic + English, line by line) for Core students.
SCRIPT (read aloud):
أُفَضِّلُ أَنْ أَتَّبِعَ رُوتِينًا مُنَظَّمًا فِي أَيَّامِ الدِّرَاسَةِ لِأَنَّهُ يُسَاعِدُنِي عَلَى التَّرْكِيزِ. أَسْتَيْقِظُ فِي السَّادِسَةِ وَالنِّصْفِ، وَأَحْرِصُ عَلَى أَنْ أَتَنَاوَلَ الإِفْطَارَ قَبْلَ أَنْ أَخْرُجَ. عَلَى سَبِيلِ المِثَالِ، أُحَضِّرُ حَقِيبَتِي لَيْلًا حَتَّى لَا أَنْسَى شَيْئًا. مَعَ ذٰلِكَ لَا أُرِيدُ جَدْوَلًا صَارِمًا جِدًّا؛ فَفِي نِهَايَةِ الأُسْبُوعِ أَسْتَيْقِظُ مُتَأَخِّرًا وَأَقْضِي وَقْتًا مَعَ أُسْرَتِي. فِي رَأْيِي، التَّوَازُنُ أَهَمُّ مِنْ مَلْءِ كُلِّ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topic-conversation prompts 1–4 (prompt 5 “Which language error can you now correct? Give an example.” is a good Stretch follow-up). This is the main performance: ● think with 3–5 CUE WORDS only (no script) → ↔ rehearse muted → ◎ 30–45 seconds on the mic. Teacher asks one unseen follow-up to Stretch students (e.g.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three questions with point and reason. · Develop — Sustain 30–45 seconds with example and target grammar. · Stretch — Respond spontaneously to an unseen follow-up and self-correct accurately.
Website writing task (Stretch): Write a polished 100–120-word article or email about your daily and weekend routine, including another person for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task is a skills reflection — it is used in the notes of the reading slides and suits Stretch homework). Evidence: فِي السَّادِسَةِ وَالنِّصْفِ، فِي السَّابِعَةِ وَالرُّبْعِ · قَبْلَ أَنْ أَخْرُجَ، بَعْدَ أَنْ أَعُودَ · تَتَمَرَّنُ أُخْتِي · عَلَى سَبِيلِ المِثَالِ · بَيْنَمَا، أَمَّا … فَـ، مَعَ ذٰلِكَ.
Website reflection model: أَقْوَى مَهَارَةٍ عِنْدِي فِي D1 هِيَ وَصْفُ الرُّوتِينِ بِالتَّرْتِيبِ … (see the website writing tab).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(D1-L12 · Review and Unit Assessment) will spend class time USING this language, so students prepare it tonight — short, simple, easy to access (school guidance: “Simple, Short, Interesting, Relevant, Easy to access”). The five “words” are the five highest-value D1 structures for the D1-L12 unit assessment (one from each key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Speaking and Writing — My Daily Routine</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التَّحَدُّثُ وَالكِتَابَةُ — رُوتِينِي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all of D1 together: extend every answer with Point + Reason + Example + Contrast, repair errors by naming the rule, speak from cue words for 30–45 seconds and write a 100–120-word routine article.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Point → reason → example → contrast; fix errors by rule.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the error, upgrade the answer, sort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سَبِيلِ المِثَالِ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means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justification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أَخْرُجَ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“When do you wake 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يَسْتَيْقِظُ؟</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8:55?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٨:٥٥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وَخَمْسُ دَقَائِقَ</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 دَقَائِقَ</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سَبِيلِ المِثَالِ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however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means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fluency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justification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“When do you wake 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يَسْتَيْقِظُ؟</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8:55?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٨:٥٥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وَخَمْسُ دَقَائِقَ</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 دَقَائِقَ</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answer = Point + Reason + Example + Contrast — and every verb checked.</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أَسْتَيْقِظُ مُبَكِّرًا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مَعَ ذٰلِكَ</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cumulative D1 grammar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extended spoken answers.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Respond flexibly to five topic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 precise personal revision plan.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three routine questions with a point and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correct “I / he / she” verb errors.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speak for 30–45 seconds with an example and a contrast.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rule behind a correction.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an unseen follow-up question spontaneously.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polished 100–120-word 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and reflection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D1 grammar vault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Answer extension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المِثَالُ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السَّبَبُ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Urdu: difficulty · Arabic: accuracy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المُقَارَنَةُ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مُقَارَنَةٌ: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skill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and reflection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مُحَادَثَةٌ 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mu-ḥā-da-tha-tun maw-ḍū-ʿiy-ya-tun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تَوْسِيعُ الإِجَابَةِ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extending an answer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taw-sī-ʿu al-i-jā-ba-ti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تَعَمُّقٌ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ta-ʿam-mu-qun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طَلَاقَةٌ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ṭa-lā-qa-tun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دِقَّةٌ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diq-qa-tun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and reflection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تَفْصِيلٌ مُسَانِدٌ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supporting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taf-ṣī-lun mu-sā-ni-dun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مِثَالٌ 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mi-thā-lun shakh-ṣiy-yun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تَبْرِيرٌ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justification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tab-rī-run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دَقِيقٌ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da-qī-qun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grammar vault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أَسْتَيْقِظُ / يَسْتَيْقِظُ / تَسْتَيْقِظُ</a:t>
            </a:r>
            <a:endParaRPr lang="ar-SA" sz="28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 control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 / yas-tay-qi-ẓu / 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 أَسْتَعِدُّ / أَسْتَقِلُّ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patterned routine verbs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 as-ta-ʿid-du / as-ta-qil-lu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 / بَعْدَ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sequence + subjunctive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 / baʿ-da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 نَادِرًا / مَرَّاتٍ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frequency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 / nā-di-ran / mar-rā-tin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grammar vault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 / أَمَّا ... فَـ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 and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 / am-mā ... fa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 مَاذَا / كَمْ مَرَّةً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routine questions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 mā-dhā / kam mar-ra-tan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span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 / إِلَّا الرُّبْعَ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clock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 / il-lā ar-rub-ʿa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extension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النُّقْطَةُ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an-nuq-ṭa-tu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النِّقَاطُ</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النُّقْطَةُ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نُقْطَةٌ</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as-sa-ba-bu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الأَسْبَابُ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السَّبَبُ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المِثَالُ</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al-mi-thā-lu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الأَمْثِلَةُ</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المِثَالُ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مِثَالٌ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المُقَارَنَةُ</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al-mu-qā-ra-na-tu</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extension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 يَعْنِي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means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hā-dhā yaʿ-nī an-na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BUILD AN EXTENDED ANSWER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Point + Reason + Example + Contrast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نُقْطَةٌ + سَبَبٌ + مِثَالٌ + 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777222" y="1810512"/>
            <a:ext cx="1954530"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777222"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النُّقْطَةُ</a:t>
            </a:r>
            <a:endParaRPr lang="ar-SA" sz="1850" dirty="0"/>
          </a:p>
        </p:txBody>
      </p:sp>
      <p:sp>
        <p:nvSpPr>
          <p:cNvPr id="18" name="Text 15"/>
          <p:cNvSpPr txBox="1"/>
          <p:nvPr/>
        </p:nvSpPr>
        <p:spPr>
          <a:xfrm>
            <a:off x="9777222"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point</a:t>
            </a:r>
            <a:endParaRPr lang="en-US" sz="900" dirty="0"/>
          </a:p>
        </p:txBody>
      </p:sp>
      <p:sp>
        <p:nvSpPr>
          <p:cNvPr id="19" name="Shape 16"/>
          <p:cNvSpPr/>
          <p:nvPr/>
        </p:nvSpPr>
        <p:spPr>
          <a:xfrm>
            <a:off x="7712964" y="1810512"/>
            <a:ext cx="1954530"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7712964"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a:t>
            </a:r>
            <a:endParaRPr lang="ar-SA" sz="1850" dirty="0"/>
          </a:p>
        </p:txBody>
      </p:sp>
      <p:sp>
        <p:nvSpPr>
          <p:cNvPr id="21" name="Text 18"/>
          <p:cNvSpPr txBox="1"/>
          <p:nvPr/>
        </p:nvSpPr>
        <p:spPr>
          <a:xfrm>
            <a:off x="7712964"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reason</a:t>
            </a:r>
            <a:endParaRPr lang="en-US" sz="900" dirty="0"/>
          </a:p>
        </p:txBody>
      </p:sp>
      <p:sp>
        <p:nvSpPr>
          <p:cNvPr id="22" name="Shape 19"/>
          <p:cNvSpPr/>
          <p:nvPr/>
        </p:nvSpPr>
        <p:spPr>
          <a:xfrm>
            <a:off x="5648706" y="1810512"/>
            <a:ext cx="1954530"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5648706"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المِثَالُ</a:t>
            </a:r>
            <a:endParaRPr lang="ar-SA" sz="1850" dirty="0"/>
          </a:p>
        </p:txBody>
      </p:sp>
      <p:sp>
        <p:nvSpPr>
          <p:cNvPr id="24" name="Text 21"/>
          <p:cNvSpPr txBox="1"/>
          <p:nvPr/>
        </p:nvSpPr>
        <p:spPr>
          <a:xfrm>
            <a:off x="5648706"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example</a:t>
            </a:r>
            <a:endParaRPr lang="en-US" sz="900" dirty="0"/>
          </a:p>
        </p:txBody>
      </p:sp>
      <p:sp>
        <p:nvSpPr>
          <p:cNvPr id="25" name="Shape 22"/>
          <p:cNvSpPr/>
          <p:nvPr/>
        </p:nvSpPr>
        <p:spPr>
          <a:xfrm>
            <a:off x="3584448" y="1810512"/>
            <a:ext cx="1954530" cy="566928"/>
          </a:xfrm>
          <a:prstGeom prst="roundRect">
            <a:avLst>
              <a:gd name="adj" fmla="val 9677"/>
            </a:avLst>
          </a:prstGeom>
          <a:solidFill>
            <a:srgbClr val="6B4C9A"/>
          </a:solidFill>
          <a:ln w="12700">
            <a:solidFill>
              <a:srgbClr val="6B4C9A"/>
            </a:solidFill>
            <a:prstDash val="solid"/>
          </a:ln>
        </p:spPr>
      </p:sp>
      <p:sp>
        <p:nvSpPr>
          <p:cNvPr id="26" name="Text 23"/>
          <p:cNvSpPr txBox="1"/>
          <p:nvPr/>
        </p:nvSpPr>
        <p:spPr>
          <a:xfrm>
            <a:off x="3584448"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المُقَارَنَةُ</a:t>
            </a:r>
            <a:endParaRPr lang="ar-SA" sz="1850" dirty="0"/>
          </a:p>
        </p:txBody>
      </p:sp>
      <p:sp>
        <p:nvSpPr>
          <p:cNvPr id="27" name="Text 24"/>
          <p:cNvSpPr txBox="1"/>
          <p:nvPr/>
        </p:nvSpPr>
        <p:spPr>
          <a:xfrm>
            <a:off x="3584448"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contrast</a:t>
            </a:r>
            <a:endParaRPr lang="en-US" sz="900" dirty="0"/>
          </a:p>
        </p:txBody>
      </p:sp>
      <p:sp>
        <p:nvSpPr>
          <p:cNvPr id="28" name="Text 25"/>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prefer an organised routine because it helps me concentrate. For example, I prepare my bag at night. However, my routine changes on holiday.</a:t>
            </a:r>
            <a:endParaRPr lang="en-US" sz="1200" dirty="0"/>
          </a:p>
        </p:txBody>
      </p:sp>
      <p:sp>
        <p:nvSpPr>
          <p:cNvPr id="29" name="Shape 26"/>
          <p:cNvSpPr/>
          <p:nvPr/>
        </p:nvSpPr>
        <p:spPr>
          <a:xfrm>
            <a:off x="9777222" y="2487168"/>
            <a:ext cx="1954530" cy="822960"/>
          </a:xfrm>
          <a:prstGeom prst="roundRect">
            <a:avLst>
              <a:gd name="adj" fmla="val 6667"/>
            </a:avLst>
          </a:prstGeom>
          <a:solidFill>
            <a:srgbClr val="EEF3FA"/>
          </a:solidFill>
          <a:ln w="9525">
            <a:solidFill>
              <a:srgbClr val="EEF3FA"/>
            </a:solidFill>
            <a:prstDash val="solid"/>
          </a:ln>
        </p:spPr>
      </p:sp>
      <p:sp>
        <p:nvSpPr>
          <p:cNvPr id="30" name="Text 27"/>
          <p:cNvSpPr txBox="1"/>
          <p:nvPr/>
        </p:nvSpPr>
        <p:spPr>
          <a:xfrm>
            <a:off x="9850374"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أُفَضِّلُ الرُّوتِينَ المُنَظَّمَ</a:t>
            </a:r>
            <a:endParaRPr lang="ar-SA" sz="1850" dirty="0"/>
          </a:p>
        </p:txBody>
      </p:sp>
      <p:sp>
        <p:nvSpPr>
          <p:cNvPr id="31" name="Shape 28"/>
          <p:cNvSpPr/>
          <p:nvPr/>
        </p:nvSpPr>
        <p:spPr>
          <a:xfrm>
            <a:off x="7712964" y="2487168"/>
            <a:ext cx="1954530" cy="822960"/>
          </a:xfrm>
          <a:prstGeom prst="roundRect">
            <a:avLst>
              <a:gd name="adj" fmla="val 6667"/>
            </a:avLst>
          </a:prstGeom>
          <a:solidFill>
            <a:srgbClr val="E8F4EC"/>
          </a:solidFill>
          <a:ln w="9525">
            <a:solidFill>
              <a:srgbClr val="E8F4EC"/>
            </a:solidFill>
            <a:prstDash val="solid"/>
          </a:ln>
        </p:spPr>
      </p:sp>
      <p:sp>
        <p:nvSpPr>
          <p:cNvPr id="32" name="Text 29"/>
          <p:cNvSpPr txBox="1"/>
          <p:nvPr/>
        </p:nvSpPr>
        <p:spPr>
          <a:xfrm>
            <a:off x="7786116"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يُسَاعِدُنِي عَلَى التَّرْكِيزِ.</a:t>
            </a:r>
            <a:endParaRPr lang="ar-SA" sz="1550" dirty="0"/>
          </a:p>
        </p:txBody>
      </p:sp>
      <p:sp>
        <p:nvSpPr>
          <p:cNvPr id="33" name="Shape 30"/>
          <p:cNvSpPr/>
          <p:nvPr/>
        </p:nvSpPr>
        <p:spPr>
          <a:xfrm>
            <a:off x="5648706" y="2487168"/>
            <a:ext cx="1954530" cy="822960"/>
          </a:xfrm>
          <a:prstGeom prst="roundRect">
            <a:avLst>
              <a:gd name="adj" fmla="val 6667"/>
            </a:avLst>
          </a:prstGeom>
          <a:solidFill>
            <a:srgbClr val="FDF3E3"/>
          </a:solidFill>
          <a:ln w="9525">
            <a:solidFill>
              <a:srgbClr val="FDF3E3"/>
            </a:solidFill>
            <a:prstDash val="solid"/>
          </a:ln>
        </p:spPr>
      </p:sp>
      <p:sp>
        <p:nvSpPr>
          <p:cNvPr id="34" name="Text 31"/>
          <p:cNvSpPr txBox="1"/>
          <p:nvPr/>
        </p:nvSpPr>
        <p:spPr>
          <a:xfrm>
            <a:off x="5721858"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أُحَضِّرُ حَقِيبَتِي لَيْلًا.</a:t>
            </a:r>
            <a:endParaRPr lang="ar-SA" sz="1550" dirty="0"/>
          </a:p>
        </p:txBody>
      </p:sp>
      <p:sp>
        <p:nvSpPr>
          <p:cNvPr id="35" name="Shape 32"/>
          <p:cNvSpPr/>
          <p:nvPr/>
        </p:nvSpPr>
        <p:spPr>
          <a:xfrm>
            <a:off x="3584448" y="2487168"/>
            <a:ext cx="1954530"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3657600"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مَعَ ذٰلِكَ</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يَتَغَيَّرُ رُوتِينِي فِي العُطْلَةِ.</a:t>
            </a:r>
            <a:endParaRPr lang="ar-SA" sz="1550" dirty="0"/>
          </a:p>
        </p:txBody>
      </p:sp>
      <p:sp>
        <p:nvSpPr>
          <p:cNvPr id="37" name="Text 34"/>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wake up at 6:30 because school starts early. For example, the first lesson is at 8:20. As for Saturday, I sleep longer.</a:t>
            </a:r>
            <a:endParaRPr lang="en-US" sz="1200" dirty="0"/>
          </a:p>
        </p:txBody>
      </p:sp>
      <p:sp>
        <p:nvSpPr>
          <p:cNvPr id="38" name="Shape 35"/>
          <p:cNvSpPr/>
          <p:nvPr/>
        </p:nvSpPr>
        <p:spPr>
          <a:xfrm>
            <a:off x="9777222" y="3419856"/>
            <a:ext cx="1954530" cy="822960"/>
          </a:xfrm>
          <a:prstGeom prst="roundRect">
            <a:avLst>
              <a:gd name="adj" fmla="val 6667"/>
            </a:avLst>
          </a:prstGeom>
          <a:solidFill>
            <a:srgbClr val="EEF3FA"/>
          </a:solidFill>
          <a:ln w="9525">
            <a:solidFill>
              <a:srgbClr val="EEF3FA"/>
            </a:solidFill>
            <a:prstDash val="solid"/>
          </a:ln>
        </p:spPr>
      </p:sp>
      <p:sp>
        <p:nvSpPr>
          <p:cNvPr id="39" name="Text 36"/>
          <p:cNvSpPr txBox="1"/>
          <p:nvPr/>
        </p:nvSpPr>
        <p:spPr>
          <a:xfrm>
            <a:off x="9850374"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أَسْتَيْقِظُ فِي السَّادِسَةِ وَالنِّصْفِ</a:t>
            </a:r>
            <a:endParaRPr lang="ar-SA" sz="1550" dirty="0"/>
          </a:p>
        </p:txBody>
      </p:sp>
      <p:sp>
        <p:nvSpPr>
          <p:cNvPr id="40" name="Shape 37"/>
          <p:cNvSpPr/>
          <p:nvPr/>
        </p:nvSpPr>
        <p:spPr>
          <a:xfrm>
            <a:off x="7712964" y="3419856"/>
            <a:ext cx="1954530" cy="822960"/>
          </a:xfrm>
          <a:prstGeom prst="roundRect">
            <a:avLst>
              <a:gd name="adj" fmla="val 6667"/>
            </a:avLst>
          </a:prstGeom>
          <a:solidFill>
            <a:srgbClr val="E8F4EC"/>
          </a:solidFill>
          <a:ln w="9525">
            <a:solidFill>
              <a:srgbClr val="E8F4EC"/>
            </a:solidFill>
            <a:prstDash val="solid"/>
          </a:ln>
        </p:spPr>
      </p:sp>
      <p:sp>
        <p:nvSpPr>
          <p:cNvPr id="41" name="Text 38"/>
          <p:cNvSpPr txBox="1"/>
          <p:nvPr/>
        </p:nvSpPr>
        <p:spPr>
          <a:xfrm>
            <a:off x="7786116"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المَدْرَسَةَ تَبْدَأُ مُبَكِّرًا.</a:t>
            </a:r>
            <a:endParaRPr lang="ar-SA" sz="1550" dirty="0"/>
          </a:p>
        </p:txBody>
      </p:sp>
      <p:sp>
        <p:nvSpPr>
          <p:cNvPr id="42" name="Shape 39"/>
          <p:cNvSpPr/>
          <p:nvPr/>
        </p:nvSpPr>
        <p:spPr>
          <a:xfrm>
            <a:off x="5648706" y="3419856"/>
            <a:ext cx="1954530" cy="822960"/>
          </a:xfrm>
          <a:prstGeom prst="roundRect">
            <a:avLst>
              <a:gd name="adj" fmla="val 6667"/>
            </a:avLst>
          </a:prstGeom>
          <a:solidFill>
            <a:srgbClr val="FDF3E3"/>
          </a:solidFill>
          <a:ln w="9525">
            <a:solidFill>
              <a:srgbClr val="FDF3E3"/>
            </a:solidFill>
            <a:prstDash val="solid"/>
          </a:ln>
        </p:spPr>
      </p:sp>
      <p:sp>
        <p:nvSpPr>
          <p:cNvPr id="43" name="Text 40"/>
          <p:cNvSpPr txBox="1"/>
          <p:nvPr/>
        </p:nvSpPr>
        <p:spPr>
          <a:xfrm>
            <a:off x="5721858"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مَثَلًا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الحِصَّةُ الأُولَى فِي الثَّامِنَةِ وَالثُّلُثِ.</a:t>
            </a:r>
            <a:endParaRPr lang="ar-SA" sz="1550" dirty="0"/>
          </a:p>
        </p:txBody>
      </p:sp>
      <p:sp>
        <p:nvSpPr>
          <p:cNvPr id="44" name="Shape 41"/>
          <p:cNvSpPr/>
          <p:nvPr/>
        </p:nvSpPr>
        <p:spPr>
          <a:xfrm>
            <a:off x="3584448" y="3419856"/>
            <a:ext cx="1954530" cy="822960"/>
          </a:xfrm>
          <a:prstGeom prst="roundRect">
            <a:avLst>
              <a:gd name="adj" fmla="val 6667"/>
            </a:avLst>
          </a:prstGeom>
          <a:solidFill>
            <a:srgbClr val="F1ECF7"/>
          </a:solidFill>
          <a:ln w="9525">
            <a:solidFill>
              <a:srgbClr val="F1ECF7"/>
            </a:solidFill>
            <a:prstDash val="solid"/>
          </a:ln>
        </p:spPr>
      </p:sp>
      <p:sp>
        <p:nvSpPr>
          <p:cNvPr id="45" name="Text 42"/>
          <p:cNvSpPr txBox="1"/>
          <p:nvPr/>
        </p:nvSpPr>
        <p:spPr>
          <a:xfrm>
            <a:off x="3657600"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يَوْمُ السَّبْتِ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فَـ</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أَنَامُ أَطْوَلَ.</a:t>
            </a:r>
            <a:endParaRPr lang="ar-SA" sz="155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Core: Point + Reason. Develop: + Example. Stretch: + Contrast, then “this means that …”.</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REPAIR ERRORS BY CATEGORY (WEBSITE RULE + D1 GRAMMAR VAULT)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the rule, then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حَسَبَ القَاعِدَةِ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Error family</a:t>
            </a:r>
            <a:endParaRPr lang="en-US" sz="1100" dirty="0"/>
          </a:p>
        </p:txBody>
      </p:sp>
      <p:sp>
        <p:nvSpPr>
          <p:cNvPr id="17" name="Text 14"/>
          <p:cNvSpPr txBox="1"/>
          <p:nvPr/>
        </p:nvSpPr>
        <p:spPr>
          <a:xfrm>
            <a:off x="60441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Wrong</a:t>
            </a:r>
            <a:endParaRPr lang="en-US" sz="1100" dirty="0"/>
          </a:p>
        </p:txBody>
      </p:sp>
      <p:sp>
        <p:nvSpPr>
          <p:cNvPr id="18" name="Text 15"/>
          <p:cNvSpPr txBox="1"/>
          <p:nvPr/>
        </p:nvSpPr>
        <p:spPr>
          <a:xfrm>
            <a:off x="266090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Right</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64040"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 prefix (I / he / she)</a:t>
            </a:r>
            <a:endParaRPr lang="en-US" sz="1100" dirty="0"/>
          </a:p>
        </p:txBody>
      </p:sp>
      <p:sp>
        <p:nvSpPr>
          <p:cNvPr id="22" name="Text 19"/>
          <p:cNvSpPr txBox="1"/>
          <p:nvPr/>
        </p:nvSpPr>
        <p:spPr>
          <a:xfrm>
            <a:off x="606247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يَسْتَيْقِظُ · أُخْتِي يَعُودُ</a:t>
            </a:r>
            <a:endParaRPr lang="ar-SA" sz="2400" dirty="0"/>
          </a:p>
        </p:txBody>
      </p:sp>
      <p:sp>
        <p:nvSpPr>
          <p:cNvPr id="23" name="Text 20"/>
          <p:cNvSpPr txBox="1"/>
          <p:nvPr/>
        </p:nvSpPr>
        <p:spPr>
          <a:xfrm>
            <a:off x="267919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سْتَيْقِظُ · أُخْتِي </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عُودُ</a:t>
            </a:r>
            <a:endParaRPr lang="ar-SA" sz="24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D1-L01, D1-L06</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64040"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Clock time (past / to)</a:t>
            </a:r>
            <a:endParaRPr lang="en-US" sz="1100" dirty="0"/>
          </a:p>
        </p:txBody>
      </p:sp>
      <p:sp>
        <p:nvSpPr>
          <p:cNvPr id="29" name="Text 26"/>
          <p:cNvSpPr txBox="1"/>
          <p:nvPr/>
        </p:nvSpPr>
        <p:spPr>
          <a:xfrm>
            <a:off x="606247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٦:٤٥ = السَّادِسَةُ إِلَّا الرُّبْعَ</a:t>
            </a:r>
            <a:endParaRPr lang="ar-SA" sz="2400" dirty="0"/>
          </a:p>
        </p:txBody>
      </p:sp>
      <p:sp>
        <p:nvSpPr>
          <p:cNvPr id="30" name="Text 27"/>
          <p:cNvSpPr txBox="1"/>
          <p:nvPr/>
        </p:nvSpPr>
        <p:spPr>
          <a:xfrm>
            <a:off x="267919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٦:٤٥ = </a:t>
            </a:r>
            <a:pPr rtl="1" algn="ctr" indent="0" marL="0">
              <a:buNone/>
            </a:pPr>
            <a:r>
              <a:rPr lang="ar-SA" altLang="en-US" sz="2400" b="1" dirty="0">
                <a:solidFill>
                  <a:srgbClr val="0E7C86"/>
                </a:solidFill>
                <a:latin typeface="Amiri" pitchFamily="34" charset="0"/>
                <a:ea typeface="Amiri" pitchFamily="34" charset="-122"/>
                <a:cs typeface="Amiri" pitchFamily="34" charset="-120"/>
              </a:rPr>
              <a:t>السَّابِعَةُ</a:t>
            </a:r>
            <a:pPr rtl="1" algn="ctr" indent="0" marL="0">
              <a:buNone/>
            </a:pPr>
            <a:r>
              <a:rPr lang="ar-SA" altLang="en-US" sz="2400" b="1" dirty="0">
                <a:solidFill>
                  <a:srgbClr val="1B3B6F"/>
                </a:solidFill>
                <a:latin typeface="Amiri" pitchFamily="34" charset="0"/>
                <a:ea typeface="Amiri" pitchFamily="34" charset="-122"/>
                <a:cs typeface="Amiri" pitchFamily="34" charset="-120"/>
              </a:rPr>
              <a:t> إِلَّا الرُّبْعَ</a:t>
            </a:r>
            <a:endParaRPr lang="ar-SA" sz="24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64040"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after “an”</a:t>
            </a:r>
            <a:endParaRPr lang="en-US" sz="1100" dirty="0"/>
          </a:p>
        </p:txBody>
      </p:sp>
      <p:sp>
        <p:nvSpPr>
          <p:cNvPr id="36" name="Text 33"/>
          <p:cNvSpPr txBox="1"/>
          <p:nvPr/>
        </p:nvSpPr>
        <p:spPr>
          <a:xfrm>
            <a:off x="606247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 أَخْرُجُ</a:t>
            </a:r>
            <a:endParaRPr lang="ar-SA" sz="2400" dirty="0"/>
          </a:p>
        </p:txBody>
      </p:sp>
      <p:sp>
        <p:nvSpPr>
          <p:cNvPr id="37" name="Text 34"/>
          <p:cNvSpPr txBox="1"/>
          <p:nvPr/>
        </p:nvSpPr>
        <p:spPr>
          <a:xfrm>
            <a:off x="267919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 أَخْرُ</a:t>
            </a:r>
            <a:pPr rtl="1" algn="ctr" indent="0" marL="0">
              <a:buNone/>
            </a:pPr>
            <a:r>
              <a:rPr lang="ar-SA" altLang="en-US" sz="2400" b="1" dirty="0">
                <a:solidFill>
                  <a:srgbClr val="D6336C"/>
                </a:solidFill>
                <a:latin typeface="Amiri" pitchFamily="34" charset="0"/>
                <a:ea typeface="Amiri" pitchFamily="34" charset="-122"/>
                <a:cs typeface="Amiri" pitchFamily="34" charset="-120"/>
              </a:rPr>
              <a:t>جَ</a:t>
            </a:r>
            <a:endParaRPr lang="ar-SA" sz="24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D1-L04</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64040"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41" name="Text 38"/>
          <p:cNvSpPr txBox="1"/>
          <p:nvPr/>
        </p:nvSpPr>
        <p:spPr>
          <a:xfrm>
            <a:off x="606247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تَسْتَيْقِظُ؟</a:t>
            </a:r>
            <a:endParaRPr lang="ar-SA" sz="2400" dirty="0"/>
          </a:p>
        </p:txBody>
      </p:sp>
      <p:sp>
        <p:nvSpPr>
          <p:cNvPr id="42" name="Text 39"/>
          <p:cNvSpPr txBox="1"/>
          <p:nvPr/>
        </p:nvSpPr>
        <p:spPr>
          <a:xfrm>
            <a:off x="267919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تَسْتَيْقِظِ</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D1-L07</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64040"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 for … fa-</a:t>
            </a:r>
            <a:endParaRPr lang="en-US" sz="1100" dirty="0"/>
          </a:p>
        </p:txBody>
      </p:sp>
      <p:sp>
        <p:nvSpPr>
          <p:cNvPr id="46" name="Text 43"/>
          <p:cNvSpPr txBox="1"/>
          <p:nvPr/>
        </p:nvSpPr>
        <p:spPr>
          <a:xfrm>
            <a:off x="606247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السَّبْتُ أَسْتَرِيحُ</a:t>
            </a:r>
            <a:endParaRPr lang="ar-SA" sz="2400" dirty="0"/>
          </a:p>
        </p:txBody>
      </p:sp>
      <p:sp>
        <p:nvSpPr>
          <p:cNvPr id="47" name="Text 44"/>
          <p:cNvSpPr txBox="1"/>
          <p:nvPr/>
        </p:nvSpPr>
        <p:spPr>
          <a:xfrm>
            <a:off x="267919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السَّبْتُ </a:t>
            </a:r>
            <a:pPr rtl="1" algn="ctr" indent="0" marL="0">
              <a:buNone/>
            </a:pPr>
            <a:r>
              <a:rPr lang="ar-SA" altLang="en-US" sz="2400" b="1" dirty="0">
                <a:solidFill>
                  <a:srgbClr val="0E7C86"/>
                </a:solidFill>
                <a:latin typeface="Amiri" pitchFamily="34" charset="0"/>
                <a:ea typeface="Amiri" pitchFamily="34" charset="-122"/>
                <a:cs typeface="Amiri" pitchFamily="34" charset="-120"/>
              </a:rPr>
              <a:t>فَـ</a:t>
            </a:r>
            <a:pPr rtl="1" algn="ctr" indent="0" marL="0">
              <a:buNone/>
            </a:pPr>
            <a:r>
              <a:rPr lang="ar-SA" altLang="en-US" sz="2400" b="1" dirty="0">
                <a:solidFill>
                  <a:srgbClr val="1B3B6F"/>
                </a:solidFill>
                <a:latin typeface="Amiri" pitchFamily="34" charset="0"/>
                <a:ea typeface="Amiri" pitchFamily="34" charset="-122"/>
                <a:cs typeface="Amiri" pitchFamily="34" charset="-120"/>
              </a:rPr>
              <a:t>أَسْتَرِيحُ</a:t>
            </a:r>
            <a:endParaRPr lang="ar-SA" sz="24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D1-L03, D1-L08</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Say the family first (“person prefix!”), then the correction. Naming the rule makes the fix stick.</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Controlling range and cohesion in speaking and writing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ضَبْطُ التَّنَوُّعِ وَالتَّرَابُطِ فِي التَّحَدُّثِ وَالكِتَابَةِ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Build Point + Reason + Example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نُقْطَةٌ + لِأَنَّ + مِثَالٌ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أُفَضِّلُ الرُّوتِينَ المُنَظَّمَ لِأَنَّهُ يُقَلِّلُ التَّوَتُّرَ. عَلَى سَبِيلِ المِثَالِ، أُحَضِّرُ حَقِيبَتِي لَيْلًا.</a:t>
            </a:r>
            <a:endParaRPr lang="ar-SA" sz="19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Add comparison or qualification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مَعَ ذٰلِكَ · أَمَّا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أَسْتَيْقِظُ مُبَكِّرًا فِي الأُسْبُوعِ، بَيْنَمَا أَنَامُ أَطْوَلَ يَوْمَ السَّبْتِ.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Repair errors by category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نَمَطُ الفِعْلِ · الفَاعِلُ · أَنْ · الوَقْتُ · التَّكْرَارُ</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يَسْتَيْقِظُ ← أَنَا أَسْتَيْقِظُ   ·   قَبْلَ أَنْ أَخْرُجُ ← قَبْلَ أَنْ أَخْرُجَ</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Speak from cue words, not a written script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كَلِمَاتٌ مِفْتَاحِيَّةٌ → إِجَابَةٌ طَبِيعِيَّةٌ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السُّؤَالُ: رُوتِينُ الصَّبَاحِ.   ·   الكَلِمَاتُ: ٦:٣٠ · إِفْطَار · حَافِلَة · سَبَب.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first in an extended answer?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unrelated example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conclusion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direct point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prefix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phrase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frequency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أَخْرُجُ؟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possessive suffix</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verb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question word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adds qualification or contrast?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first in an extended answer?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unrelated example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conclusion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direct point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the exact question first.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 prefix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 phrase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frequency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أَخْرُجُ؟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possessive suffix</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question word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adds qualification or contrast?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السَّادِسَةِ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ذٰلِكَ</a:t>
            </a:r>
            <a:pPr algn="l" indent="0" marL="0">
              <a:buNone/>
            </a:pPr>
            <a:r>
              <a:rPr lang="en-US" sz="1050" i="1" dirty="0">
                <a:solidFill>
                  <a:srgbClr val="8A6D1E"/>
                </a:solidFill>
                <a:latin typeface="Calibri" pitchFamily="34" charset="0"/>
                <a:ea typeface="Calibri" pitchFamily="34" charset="-122"/>
                <a:cs typeface="Calibri" pitchFamily="34" charset="-120"/>
              </a:rPr>
              <a:t> means however / nevertheless.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speak from cue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Cue cards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٦:٣٠ · إِفْطَار · حَافِلَة · سَبَب</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cues, not a script.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Point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أَسْتَيْقِظُ فِي السَّادِسَةِ وَالنِّصْفِ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الحَافِلَةَ تَأْتِي مُبَكِّرًا.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first, then why.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أَتَنَاوَلُ الإِفْطَارَ قَبْلَ أَنْ أَخْرُ</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جَ</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example with a D1 structure.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 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مَعَ ذٰلِكَ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أَنَامُ أَطْوَلَ يَوْمَ السَّبْتِ.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re-check every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EXAMPLE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CHECKED ENDING</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أَسْتَيْقِظُ فِي السَّادِسَةِ وَالنِّصْفِ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الحَافِلَةَ تَأْتِي مُبَكِّرًا.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عَلَى سَبِيلِ المِثَالِ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أَتَنَاوَلُ الإِفْطَارَ قَبْلَ أَنْ أَخْرُ</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جَ</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السَّابِعَةِ إِلَّا الرُّبْعَ.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مَعَ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أَنَامُ أَطْوَلَ يَوْمَ السَّبْتِ، وَهٰذَا يَعْنِي أَنَّنِي أَسْتَرِيحُ جَيِّدًا.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wake up at half past six because the bus comes early. For example, I have breakfast before I leave at quarter to seven. However, I sleep longer on Saturday, and this means I rest well.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الرُّوتِينَ المُنَظَّمَ لِأَنَّهُ يُسَاعِدُنِي عَلَى التَّرْكِيزِ.</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an organised routine because it helps me concentrate.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Point + reason.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عَلَى سَبِيلِ المِثَالِ، أُحَضِّرُ حَقِيبَتِي قَبْلَ أَنْ أَنَامَ.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For example, I prepare my bag before sleeping.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Example with target grammar.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مَعَ ذٰلِكَ يَتَغَيَّرُ رُوتِينِي فِي العُطْلَةِ.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However, my routine changes on holiday.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Qualification.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يَعْنِي أَنَّنِي أَبْدَأُ يَوْمِي بِهُدُوءٍ.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means I start calmly.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Link back to effect.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ANSWER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answer is stronger?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إِجَابَةٍ أَقْوَى؟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تَسْتَيْقِظُ وَلِمَاذَا؟</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السَّادِسَةِ.</a:t>
            </a:r>
            <a:endParaRPr lang="ar-SA"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لِأَنَّ السَّادِسَةَ.</a:t>
            </a:r>
            <a:endParaRPr lang="ar-SA"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an example?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أَسْتَيْقِظُ. أَوَّلًا أَنَامُ.</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رُوتِينٌ أَوَّلًا المَدْرَسَةُ.</a:t>
            </a:r>
            <a:endParaRPr lang="ar-SA"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رُوتِينِي جَيِّدٌ.</a:t>
            </a:r>
            <a:endParaRPr lang="ar-SA" sz="11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أَسْتَيْقِظُ فِي السَّادِسَةِ.</a:t>
            </a:r>
            <a:endParaRPr lang="ar-SA" sz="11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فِي رَأْيِي رُوتِينِي مُنَظَّمٌ لِأَنَّهُ يَجْمَعُ بَيْنَ الدِّرَاسَةِ وَالرَّاحَةِ.</a:t>
            </a:r>
            <a:endParaRPr lang="ar-SA" sz="11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gives a reason (because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Which answer is stronger? Answers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تَسْتَيْقِظُ وَلِمَاذَا؟</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السَّادِسَةِ.</a:t>
            </a:r>
            <a:endParaRPr lang="ar-SA"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لِأَنَّ السَّادِسَةَ.</a:t>
            </a:r>
            <a:endParaRPr lang="ar-SA"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Point + reason, in a full sentence.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an example?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example.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أَسْتَيْقِظُ. أَوَّلًا أَنَامُ.</a:t>
            </a:r>
            <a:endParaRPr lang="ar-SA" sz="10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رُوتِينٌ أَوَّلًا المَدْرَسَةُ.</a:t>
            </a:r>
            <a:endParaRPr lang="ar-SA" sz="10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Markers match the real order.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رُوتِينِي جَيِّدٌ.</a:t>
            </a:r>
            <a:endParaRPr lang="ar-SA"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أَسْتَيْقِظُ فِي السَّادِسَةِ.</a:t>
            </a:r>
            <a:endParaRPr lang="ar-SA" sz="11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فِي رَأْيِي رُوتِينِي مُنَظَّمٌ لِأَنَّهُ يَجْمَعُ بَيْنَ الدِّرَاسَةِ وَالرَّاحَةِ.</a:t>
            </a:r>
            <a:endParaRPr lang="ar-SA"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Judgement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gives a reason (because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What does this Arabic sentence add?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السَّادِسَةِ وَالرُّبْعِ.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أَتَمَرَّنُ ثَلَاثَ مَرَّاتٍ فِي الأُسْبُوعِ.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أُخْتِي تَعُودُ إِلَى البَيْتِ فِي الرَّابِعَةِ.</a:t>
            </a:r>
            <a:endParaRPr lang="ar-SA" sz="16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يَسْتَعِدُّ لِلْمَدْرَسَةِ بُسُرْعَةٍ.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 أُرَاجِعُ جَدْوَلِي.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رُوتِينِي لِأَنَّهُ مُنَظَّمٌ.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أَمَّا فِي نِهَايَةِ الأُسْبُوعِ فَأَنَامُ وَقْتًا أَطْوَلَ.</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أُنْهِيَ وَاجِبِي أَسْتَرِيحُ.</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Precise time or frequency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Another person’s routine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sequence or contrast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Precise time or frequency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السَّادِسَةِ وَالرُّبْعِ.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أَتَمَرَّنُ ثَلَاثَ مَرَّاتٍ فِي الأُسْبُوعِ.</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Another person’s routine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أُخْتِي تَعُودُ إِلَى البَيْتِ 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يَسْتَعِدُّ لِلْمَدْرَسَةِ بُسُرْعَةٍ.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sequence or contrast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 أُرَاجِعُ جَدْوَلِي.</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رُوتِينِي لِأَنَّهُ مُنَظَّمٌ.</a:t>
            </a:r>
            <a:endParaRPr lang="ar-SA" sz="1800" dirty="0"/>
          </a:p>
        </p:txBody>
      </p:sp>
      <p:sp>
        <p:nvSpPr>
          <p:cNvPr id="36" name="Shape 33"/>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أَمَّا فِي نِهَايَةِ الأُسْبُوعِ فَأَنَامُ وَقْتًا أَطْوَلَ.</a:t>
            </a:r>
            <a:endParaRPr lang="ar-SA" sz="1650" dirty="0"/>
          </a:p>
        </p:txBody>
      </p:sp>
      <p:sp>
        <p:nvSpPr>
          <p:cNvPr id="38" name="Shape 35"/>
          <p:cNvSpPr/>
          <p:nvPr/>
        </p:nvSpPr>
        <p:spPr>
          <a:xfrm>
            <a:off x="594360" y="3913632"/>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أُنْهِيَ وَاجِبِي أَسْتَرِيحُ.</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personal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frequency?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extended answer shape.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noun only</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point + reason + example + contrast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list of times without actions</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error analysis name?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that the answer is wrong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longest sentence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language system</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personal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“for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frequency?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how often.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extended answer shape.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noun only</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point + reason + example + contrast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list of times without actions</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Development comes from relevant connected detail.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error analysis name?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that the answer is wrong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longest sentence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exact language system</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Naming the system makes correction transferable.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فِي السَّادِسَةِ.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أَخْرُجُ أُحَضِّرُ حَقِيبَتِي.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what is the last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يَعُودُ فِي الرَّابِعَةِ.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My sister →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فِي السَّادِسَةِ.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فِي السَّادِسَةِ.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First-person singular requires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أَخْرُجُ أُحَضِّرُ حَقِيبَتِي.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أَنْ أَخْرُجَ أُحَضِّرُ حَقِيبَتِي.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يَعُودُ فِي الرَّابِعَةِ.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تَعُودُ فِي الرَّابِعَةِ.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developed topic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preference?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organised school-day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routine at 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rigid weekend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gives an exact time and sequence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compare climates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part of concentration-supporting routine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example is given?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preparing the bag at night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qualification follows </a:t>
            </a:r>
            <a:pPr algn="l" indent="0" marL="0">
              <a:buNone/>
            </a:pPr>
            <a:r>
              <a:rPr lang="ar-SA" altLang="en-US" sz="1650" b="1" dirty="0">
                <a:solidFill>
                  <a:srgbClr val="1B3B6F"/>
                </a:solidFill>
                <a:latin typeface="Amiri" pitchFamily="34" charset="0"/>
                <a:ea typeface="Amiri" pitchFamily="34" charset="-122"/>
                <a:cs typeface="Amiri" pitchFamily="34" charset="-120"/>
              </a:rPr>
              <a:t>مَعَ ذٰلِكَ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want excessive rigidity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dislikes family time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rests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minute must be planned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matters more than filling every minute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are unimportant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سَبِيلِ المِثَالِ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مَعَ ذٰلِكَ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أُفَضِّلُ أَنْ أَتَّبِعَ رُوتِينًا مُنَظَّمًا فِي أَيَّامِ الدِّرَاسَةِ لِأَنَّهُ يُسَاعِدُنِي عَلَى التَّرْكِيزِ.</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 to follow an organised routine on school days because it helps me concentrate.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أَسْتَيْقِظُ فِي السَّادِسَةِ وَالنِّصْفِ، وَأَحْرِصُ عَلَى أَنْ أَتَنَاوَلَ الإِفْطَارَ قَبْلَ أَنْ أَخْرُجَ.</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wake up at half past six, and I make sure I have breakfast before I leave.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 أُحَضِّرُ حَقِيبَتِي لَيْلًا حَتَّى لَا أَنْسَى شَيْئًا.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 I prepare my bag at night so that I don’t forget anything.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مَعَ ذٰلِكَ لَا أُرِيدُ جَدْوَلًا صَارِمًا جِدًّا؛ فَفِي نِهَايَةِ الأُسْبُوعِ أَسْتَيْقِظُ مُتَأَخِّرًا وَأَقْضِي وَقْتًا مَعَ أُسْرَتِي.</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I don’t want a very strict timetable; at the weekend I wake up late and spend time with my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التَّوَازُنُ أَهَمُّ مِنْ مَلْءِ كُلِّ دَقِيقَةٍ.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 balance is more important than filling every minute.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preference?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organised school-day routine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routine at all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rigid weekend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point is stated immediately.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because it gives an exact time and sequence</a:t>
            </a:r>
            <a:endParaRPr lang="en-US" sz="11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compare climates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as part of concentration-supporting routine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supports the reasoned routine description.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example is given?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preparing the bag at night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سَبِيلِ المِثَالِ</a:t>
            </a:r>
            <a:pPr algn="l" indent="0" marL="0">
              <a:buNone/>
            </a:pPr>
            <a:r>
              <a:rPr lang="en-US" sz="1050" i="1" dirty="0">
                <a:solidFill>
                  <a:srgbClr val="8A6D1E"/>
                </a:solidFill>
                <a:latin typeface="Calibri" pitchFamily="34" charset="0"/>
                <a:ea typeface="Calibri" pitchFamily="34" charset="-122"/>
                <a:cs typeface="Calibri" pitchFamily="34" charset="-120"/>
              </a:rPr>
              <a:t> introduces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qualification follows </a:t>
            </a:r>
            <a:pPr algn="l" indent="0" marL="0">
              <a:buNone/>
            </a:pPr>
            <a:r>
              <a:rPr lang="ar-SA" altLang="en-US" sz="1650" b="1" dirty="0">
                <a:solidFill>
                  <a:srgbClr val="1B3B6F"/>
                </a:solidFill>
                <a:latin typeface="Amiri" pitchFamily="34" charset="0"/>
                <a:ea typeface="Amiri" pitchFamily="34" charset="-122"/>
                <a:cs typeface="Amiri" pitchFamily="34" charset="-120"/>
              </a:rPr>
              <a:t>مَعَ ذٰلِكَ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speaker does not want excessive rigidity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dislikes family time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rests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becomes balanced.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minute must be planned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matters more than filling every minute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weekends are unimportant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the judgement.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سَبِيلِ المِثَالِ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مَعَ ذٰلِكَ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topic conversation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فِي يَوْمٍ دِرَاسِيٍّ عَادِيٍّ، وَاذْكُرْ وَقْتَيْنِ دَقِيقَيْنِ.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يَفْعَلُ شَخْصٌ آخَرُ فِي أُسْرَتِكَ بَعْدَ المَدْرَسَةِ أَوِ العَمَلِ؟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تَقُومُ بِنَشَاطٍ مُعَيَّنٍ فِي الأُسْبُوعِ،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فِي أَيَّامِ الدِّرَاسَةِ وَفِي نِهَايَةِ الأُسْبُوعِ.</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سَبِيلِ المِثَالِ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مَرَّتَيْنِ فِي الأُسْبُوعِ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مَعَ ذٰلِكَ ، ___ . هٰذَا يَعْنِي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تُنَظِّمُ رُوتِينَكَ فِي أَيَّامِ الدِّرَاسَةِ؟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organise your routine on school days?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أَسْتَيْقِظُ فِي السَّادِسَةِ وَالنِّصْفِ، وَأُحَضِّرُ حَقِيبَتِي قَبْلَ أَنْ أَخْرُجَ. عَلَى سَبِيلِ المِثَالِ، أُكْمِلُ وَاجِبِي قَبْلَ أَنْ أَسْتَعْمِلَ هَاتِفِي. مَعَ ذٰلِكَ، فِي نِهَايَةِ الأُسْبُوعِ يَكُونُ رُوتِينِي أَكْثَرَ مَرُونَةً.</a:t>
            </a:r>
            <a:endParaRPr lang="ar-SA" sz="11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at half past six and prepare my bag before I leave. For example, I finish my homework before I use my phone. However, at the weekend my routine is more flexible.</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three questions with point and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school day with two exact times, one “before I …”, and one reason (because).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Sustain 30–45 seconds with example and target grammar.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family member (he / she), how often, an example and a contrast with the weekend.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Respond spontaneously to an unseen follow-up and self-correct accurately.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polished article or email about your daily and weekend routine, comparing another person. Check every verb against the grammar vault.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 أُخْتِي تَـ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 sister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______ مَرَّتَيْنِ فِي الأُسْبُوعِ ، بَيْنَمَا ______ .</a:t>
            </a:r>
            <a:endParaRPr lang="ar-SA" sz="16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twice a week, whereas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example,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نِهَايَةِ الأُسْبُوعِ فَـ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weekend,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مَعَ ذٰلِكَ ، ______ . هٰذَا يَعْنِي أَنَّ ______ .</a:t>
            </a:r>
            <a:endParaRPr lang="ar-SA" sz="17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However, … This means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أَيَّامِ الدِّرَاسَةِ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school days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قَبْلَ أَنْ أَخْرُجَ.</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before I leave.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أَذْهَبُ إِلَى المَدْرَسَةِ بِـ ______ لِأَنَّ ______ .</a:t>
            </a:r>
            <a:endParaRPr lang="ar-SA" sz="175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 because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أَتَنَاوَلُ  ·  أَسْتَقِلُّ  ·  قَبْلَ أَنْ  ·  بَعْدَ أَنْ  ·  لِأَنَّ  ·  عَلَى سَبِيلِ المِثَالِ  ·  مَعَ ذٰلِكَ  ·  بَيْنَمَا  ·  أَمَّا … فَـ  ·  مَرَّتَيْنِ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polished 100–120-word article or email about your daily and weekend routine, including another person for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at least two exact times (past / to the hour).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before/after + a verb with the correct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another person (he / she) for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Point + Reason + Example +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every verb against the D1 grammar vault.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أَحْرِصُ عَلَى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make sure that I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لَا أَنْسَى شَيْئًا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don’t forget anything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أُرِيدُ جَدْوَلًا صَارِمًا جِدًّا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don’t want a very strict timetable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التَّوَازُنُ أَهَمُّ مِنْ مَلْءِ كُلِّ دَقِيقَةٍ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balance is more important than filling every minute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يَعْنِي أَنَّنِي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means that I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أَسْتَيْقِظُ فِي أَيَّامِ الدِّرَاسَةِ فِي السَّادِسَةِ وَالنِّصْفِ، وَأَتَنَاوَلُ الإِفْطَارَ قَبْلَ أَنْ أَخْرُجَ مِنَ البَيْتِ فِي السَّابِعَةِ وَالرُّبْعِ. أَسْتَقِلُّ الحَافِلَةَ لِأَنَّ المَدْرَسَةَ بَعِيدَةٌ. بَعْدَ أَنْ أَعُودَ، أَسْتَرِيحُ نِصْفَ سَاعَةٍ، ثُمَّ أُكْمِلُ وَاجِبِي. أَتَمَرَّنُ مَرَّتَيْنِ فِي الأُسْبُوعِ، بَيْنَمَا تَتَمَرَّنُ أُخْتِي كُلَّ يَوْمٍ تَقْرِيبًا لِأَنَّهَا تُحِبُّ السِّبَاحَةَ. أَمَّا فِي نِهَايَةِ الأُسْبُوعِ فَأَنَامُ وَقْتًا أَطْوَلَ، وَغَالِبًا مَا أَزُورُ أَقَارِبِي؛ عَلَى سَبِيلِ المِثَالِ، نَتَنَاوَلُ الغَدَاءَ عِنْدَ جَدَّتِي يَوْمَ السَّبْتِ. مَعَ ذٰلِكَ، أُخَصِّصُ سَاعَةً يَوْمَ الأَحَدِ لِلْمُرَاجَعَةِ. فِي رَأْيِي، رُوتِينِي مُتَوَازِنٌ، وَلٰكِنَّنِي أُرِيدُ أَنْ أَنَامَ مُبَكِّرًا.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at half past six, and I have breakfast before I leave the house at quarter past seven. I take the bus because school is far. After I return, I rest for half an hour, then I finish my homework. I train twice a week, whereas my sister trains almost every day because she loves swimming. As for the weekend, I sleep longer, and I often visit my relatives; for example, we have lunch at my grandmother’s on Saturday. However, I set aside an hour on Sunday for revision. In my opinion, my routine is balanced, but I want to sleep earlier.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exact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before/after +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another person (she)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example and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“I” verb starts with a- or 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are correct (past / to the hour).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“before / after + an”,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an example and a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checked every verb against the grammar vault.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تَذْهَبُونَ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تَذْهَبُوا.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ذَهَبْتُمْ.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 revision target precise?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 + task + frequency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“improve Arabic”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harder sometime”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أَسْتَيْقِظُ.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تَسْتَيْقِظُ.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نَسْتَيْقِظُ.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person takes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تَذْهَبُونَ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تَذْهَبُ.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قَبْلَ أَنْ تَذْهَبُوا.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ذَهَبْتُمْ.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final nūn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 revision target precise?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rule + task + frequency</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“improve Arabic”</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harder sometime”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precise target identifies what and how often.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Error-analysis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المُرَاجَعَةِ وَجَدَتْ لِينَا أَنَّ أَكْثَرَ أَخْطَائِهَا يَقَعُ فِي أَرْبَعِ فِئَاتٍ. أَوَّلًا، كَانَتْ تَنْسَى تَغْيِيرَ بِدَايَةِ الفِعْلِ عِنْدَمَا يَتَغَيَّرُ الفَاعِلُ. ثَانِيًا، كَانَتْ تَكْتُبُ الضَّمَّةَ بَعْدَ «أَنْ». ثَالِثًا، كَانَتْ تَخْلِطُ بَيْنَ «وَالرُّبْعُ» وَ«إِلَّا الرُّبْعَ». وَأَخِيرًا، كَانَتْ تَذْكُرُ نَشَاطًا دُونَ أَنْ تُحَدِّدَ تَكْرَارَهُ. صَنَعَتْ جَدْوَلًا لِلْمُرَاجَعَةِ: خَمْسُ جُمَلٍ لِكُلِّ فِئَةٍ، ثُمَّ إِجَابَةٌ شَفَهِيَّةٌ تَسْتَعْمِلُ التَّرَاكِيبَ نَفْسَهَا. بَعْدَ ثَلَاثَةِ أَيَّامٍ اِنْخَفَضَ عَدَدُ الأَخْطَاءِ، لِأَنَّ التَّدْرِيبَ كَانَ مُحَدَّدًا.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المُرَاجَعَةِ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revising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أَخْطَائِهَا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most of her mistakes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فِئَاتٍ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categories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بِدَايَةِ الفِعْلِ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start of the verb</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الفَاعِلُ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subject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تَخْلِطُ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confuses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تَكْرَارَهُ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frequency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إِجَابَةٌ شَفَهِيَّةٌ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spoken answer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اِنْخَفَضَ</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fell, went down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مُحَدَّدًا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specific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Lina’s first error family?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expressions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prefixes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plural nouns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omitted the subject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used the past tense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kept the indicative ending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time forms did she confuse?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 and quarter to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 and exact hour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morning and evening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detail was missing from activity sentences?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town name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frequency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she practise each error family?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sentences and a spoken answer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translation only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 a model paragraph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number of errors fall?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became shorter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stopped speaking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practice was specific</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Lina’s first error family?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 expressions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 prefixes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plural nouns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forgot to change the beginning of the verb.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omitted the subject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used the past tense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kept the indicative ending</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wrote the ḍamma instead of the subjunctive form.</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time forms did she confuse?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quarter past and quarter to</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past and exact hour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morning and evening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إِلَّا 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detail was missing from activity sentences?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town name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frequency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named activities without saying how often.</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she practise each error family?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five sentences and a spoken answer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translation only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 a model paragraph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practice was targeted and productive.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number of errors fall?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became shorter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stopped speaking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practice was specific</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التَّدْرِيبَ كَانَ مُحَدَّدًا.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Speaking-and-writing upgrade challenge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Choose the strongest answer to:</a:t>
            </a:r>
            <a:endParaRPr lang="en-US" sz="105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مَتَى تَسْتَيْقِظُ وَلِمَاذَا؟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السَّادِسَةِ.</a:t>
            </a:r>
            <a:endParaRPr lang="ar-SA"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لِأَنَّ السَّادِسَةَ.</a:t>
            </a:r>
            <a:endParaRPr lang="ar-SA"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best introduces a supporting example?</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يَسْتَيْقِظُ فِي السَّادِسَةِ.</a:t>
            </a:r>
            <a:endParaRPr lang="ar-SA" sz="14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فِي السَّادِسَةِ.</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فِي السَّادِسَةِ.</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فِي السَّادِسَةِ.</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2" name="Text 59"/>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قَبْلَ أَنْ أَخْرُجُ مِنَ البَيْتِ أُحَضِّرُ حَقِيبَتِي.</a:t>
            </a:r>
            <a:endParaRPr lang="ar-SA" sz="10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أَنْ يَخْرُجُ مِنَ البَيْتِ أُحَضِّرُ حَقِيبَتِي.</a:t>
            </a:r>
            <a:endParaRPr lang="ar-SA" sz="17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أَخْرُجَ أَنْ مِنَ البَيْتِ أُحَضِّرُ حَقِيبَتِي.</a:t>
            </a:r>
            <a:endParaRPr lang="ar-SA" sz="17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أَنْ أَخْرُجَ مِنَ البَيْتِ أُحَضِّرُ حَقِيبَتِي.</a:t>
            </a:r>
            <a:endParaRPr lang="ar-SA" sz="17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paragraph sequence.</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أَسْتَيْقِظُ. أَوَّلًا أَنَامُ.</a:t>
            </a:r>
            <a:endParaRPr lang="ar-SA" sz="1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رُوتِينٌ أَوَّلًا المَدْرَسَةُ.</a:t>
            </a:r>
            <a:endParaRPr lang="ar-SA" sz="1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concluding evaluation.</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رُوتِينِي جَيِّدٌ.</a:t>
            </a:r>
            <a:endParaRPr lang="ar-SA" sz="1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فِي رَأْيِي رُوتِينِي مُنَظَّمٌ لِأَنَّهُ يَجْمَعُ بَيْنَ الدِّرَاسَةِ وَالرَّاحَةِ، مَعَ ذٰلِكَ أُرِيدُ أَنْ أُنَظِّمَ وَقْتِي فِي المَسَاءِ أَكْثَرَ.</a:t>
            </a:r>
            <a:endParaRPr lang="ar-SA" sz="1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أَسْتَيْقِظُ فِي السَّادِسَةِ.</a:t>
            </a:r>
            <a:endParaRPr lang="ar-SA" sz="1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Choose the strongest answer to:</a:t>
            </a:r>
            <a:endParaRPr lang="en-US" sz="105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مَتَى تَسْتَيْقِظُ وَلِمَاذَا؟</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السَّادِسَةِ.</a:t>
            </a:r>
            <a:endParaRPr lang="ar-SA"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لِأَنَّ السَّادِسَةَ.</a:t>
            </a:r>
            <a:endParaRPr lang="ar-SA"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developed answer responds directly, gives an exact time and explains why.</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best introduces a supporting example?</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سَبِيلِ المِثَالِ</a:t>
            </a:r>
            <a:pPr algn="l" indent="0" marL="0">
              <a:buNone/>
            </a:pPr>
            <a:r>
              <a:rPr lang="en-US" sz="1050" i="1" dirty="0">
                <a:solidFill>
                  <a:srgbClr val="8A6D1E"/>
                </a:solidFill>
                <a:latin typeface="Calibri" pitchFamily="34" charset="0"/>
                <a:ea typeface="Calibri" pitchFamily="34" charset="-122"/>
                <a:cs typeface="Calibri" pitchFamily="34" charset="-120"/>
              </a:rPr>
              <a:t> means “for example” and introduces supporting evidence.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يَسْتَيْقِظُ فِي السَّادِسَةِ.</a:t>
            </a:r>
            <a:endParaRPr lang="ar-SA" sz="14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فِي السَّادِسَةِ.</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فِي السَّادِسَةِ.</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فِي السَّادِسَةِ.</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first-person present-tense prefix is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7" name="Text 6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قَبْلَ أَنْ أَخْرُجُ مِنَ البَيْتِ أُحَضِّرُ حَقِيبَتِي.</a:t>
            </a:r>
            <a:endParaRPr lang="ar-SA" sz="10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يَخْرُجُ مِنَ البَيْتِ أُحَضِّرُ حَقِيبَتِي.</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 أَنْ مِنَ البَيْتِ أُحَضِّرُ حَقِيبَتِي.</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 مِنَ البَيْتِ أُحَضِّرُ حَقِيبَتِي.</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changes to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paragraph sequence.</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أَسْتَيْقِظُ. أَوَّلًا أَنَامُ.</a:t>
            </a:r>
            <a:endParaRPr lang="ar-SA" sz="105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رُوتِينٌ أَوَّلًا المَدْرَسَةُ.</a:t>
            </a:r>
            <a:endParaRPr lang="ar-SA" sz="105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option uses purposeful connectors and a logical order.</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concluding evaluation.</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رُوتِينِي جَيِّدٌ.</a:t>
            </a:r>
            <a:endParaRPr lang="ar-SA" sz="10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فِي رَأْيِي رُوتِينِي مُنَظَّمٌ لِأَنَّهُ يَجْمَعُ بَيْنَ الدِّرَاسَةِ وَالرَّاحَةِ، مَعَ ذٰلِكَ أُرِيدُ أَنْ أُنَظِّمَ وَقْتِي فِي المَسَاءِ أَكْثَرَ.</a:t>
            </a:r>
            <a:endParaRPr lang="ar-SA" sz="10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أَسْتَيْقِظُ فِي السَّادِسَةِ.</a:t>
            </a:r>
            <a:endParaRPr lang="ar-SA" sz="10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strongest conclusion gives an opinion, reason, contrast and precise next improvement.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أَخْرُجَ</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I leave (fatḥa!)</a:t>
            </a:r>
            <a:pPr indent="0" marL="0">
              <a:buNone/>
            </a:pPr>
            <a:r>
              <a:rPr lang="en-US" sz="1000" i="1" dirty="0">
                <a:solidFill>
                  <a:srgbClr val="5A6472"/>
                </a:solidFill>
                <a:latin typeface="Calibri" pitchFamily="34" charset="0"/>
                <a:ea typeface="Calibri" pitchFamily="34" charset="-122"/>
                <a:cs typeface="Calibri" pitchFamily="34" charset="-120"/>
              </a:rPr>
              <a:t>  D1-L04</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السَّابِعَةُ إِلَّا الرُّبْعَ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 seven (6:45)</a:t>
            </a:r>
            <a:pPr indent="0" marL="0">
              <a:buNone/>
            </a:pPr>
            <a:r>
              <a:rPr lang="en-US" sz="1000" i="1" dirty="0">
                <a:solidFill>
                  <a:srgbClr val="5A6472"/>
                </a:solidFill>
                <a:latin typeface="Calibri" pitchFamily="34" charset="0"/>
                <a:ea typeface="Calibri" pitchFamily="34" charset="-122"/>
                <a:cs typeface="Calibri" pitchFamily="34" charset="-120"/>
              </a:rPr>
              <a:t>  D1-L02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مَرَّتَيْنِ فِي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twice a week</a:t>
            </a:r>
            <a:pPr indent="0" marL="0">
              <a:buNone/>
            </a:pPr>
            <a:r>
              <a:rPr lang="en-US" sz="1000" i="1" dirty="0">
                <a:solidFill>
                  <a:srgbClr val="5A6472"/>
                </a:solidFill>
                <a:latin typeface="Calibri" pitchFamily="34" charset="0"/>
                <a:ea typeface="Calibri" pitchFamily="34" charset="-122"/>
                <a:cs typeface="Calibri" pitchFamily="34" charset="-120"/>
              </a:rPr>
              <a:t>  D1-L03</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 تَسْتَيْقِظِينَ؟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 do you (f.) wake up?</a:t>
            </a:r>
            <a:pPr indent="0" marL="0">
              <a:buNone/>
            </a:pPr>
            <a:r>
              <a:rPr lang="en-US" sz="1000" i="1" dirty="0">
                <a:solidFill>
                  <a:srgbClr val="5A6472"/>
                </a:solidFill>
                <a:latin typeface="Calibri" pitchFamily="34" charset="0"/>
                <a:ea typeface="Calibri" pitchFamily="34" charset="-122"/>
                <a:cs typeface="Calibri" pitchFamily="34" charset="-120"/>
              </a:rPr>
              <a:t>  D1-L07</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السَّبْتُ فَـ…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for Saturday, …</a:t>
            </a:r>
            <a:pPr indent="0" marL="0">
              <a:buNone/>
            </a:pPr>
            <a:r>
              <a:rPr lang="en-US" sz="1000" i="1" dirty="0">
                <a:solidFill>
                  <a:srgbClr val="5A6472"/>
                </a:solidFill>
                <a:latin typeface="Calibri" pitchFamily="34" charset="0"/>
                <a:ea typeface="Calibri" pitchFamily="34" charset="-122"/>
                <a:cs typeface="Calibri" pitchFamily="34" charset="-120"/>
              </a:rPr>
              <a:t>  D1-L08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the whole unit: which TWO D1 rules do you still find hardest? Write one correct example of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algn="l" indent="0" marL="0">
              <a:buNone/>
            </a:pPr>
            <a:r>
              <a:rPr lang="ar-SA" altLang="en-US" sz="2200" b="1" dirty="0">
                <a:solidFill>
                  <a:srgbClr val="1B3B6F"/>
                </a:solidFill>
                <a:latin typeface="Amiri" pitchFamily="34" charset="0"/>
                <a:ea typeface="Amiri" pitchFamily="34" charset="-122"/>
                <a:cs typeface="Amiri" pitchFamily="34" charset="-120"/>
              </a:rPr>
              <a:t>مَا أَصْعَبُ قَاعِدَةٍ فِي</a:t>
            </a:r>
            <a:pPr algn="l" indent="0" marL="0">
              <a:buNone/>
            </a:pPr>
            <a:r>
              <a:rPr lang="en-US" sz="1700" b="1" dirty="0">
                <a:solidFill>
                  <a:srgbClr val="1B3B6F"/>
                </a:solidFill>
                <a:latin typeface="Calibri" pitchFamily="34" charset="0"/>
                <a:ea typeface="Calibri" pitchFamily="34" charset="-122"/>
                <a:cs typeface="Calibri" pitchFamily="34" charset="-120"/>
              </a:rPr>
              <a:t> D1</a:t>
            </a:r>
            <a:pPr algn="l" indent="0" marL="0">
              <a:buNone/>
            </a:pPr>
            <a:r>
              <a:rPr lang="ar-SA" altLang="en-US" sz="2200" b="1" dirty="0">
                <a:solidFill>
                  <a:srgbClr val="1B3B6F"/>
                </a:solidFill>
                <a:latin typeface="Amiri" pitchFamily="34" charset="0"/>
                <a:ea typeface="Amiri" pitchFamily="34" charset="-122"/>
                <a:cs typeface="Amiri" pitchFamily="34" charset="-120"/>
              </a:rPr>
              <a:t>؟</a:t>
            </a:r>
            <a:endParaRPr lang="en-US"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D1-L11: the sorter and the final check; learn the five structures on this slide.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 30–45-second answer to prompt 1 (cue words only) and write it down.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(reflection): your strongest skill, one recurring error and a precise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D1-L12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answer first, then build — and check every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D1-L11 · Speaking and Writing — My Daily Routine</dc:title>
  <dc:subject>PptxGenJS Presentation</dc:subject>
  <dc:creator>Al Madina Online School · Arabic Department</dc:creator>
  <cp:lastModifiedBy>Al Madina Online School · Arabic Department</cp:lastModifiedBy>
  <cp:revision>1</cp:revision>
  <dcterms:created xsi:type="dcterms:W3CDTF">2026-09-27T12:04:08Z</dcterms:created>
  <dcterms:modified xsi:type="dcterms:W3CDTF">2026-09-27T12:04:08Z</dcterms:modified>
</cp:coreProperties>
</file>