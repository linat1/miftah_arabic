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D1 Daily Routine and Time › D1-L11. The website lesson “Speaking and Writing — My Daily Routine”: vocabulary, grammar rules and quiz, patterns, common mistakes, sorter, listening, reading, speaking prompts and model, writing task and model, differentiation, final check and the lesson mission. Picture match: website visual game “Speaking and Writing — My Daily Routine”.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PRODUCTION lesson: no new topic. Time goes to building, correcting and performing answers. Keep teacher talk short.
• Core: answer three questions with Point + Reason (+ one learnt example) using the cue cards; write 6–8 sentences with the frames. Develop: 30–45 seconds with an example and one target structure. Stretch: respond to an unseen follow-up and self-correct; write the 100–120-word article.
• The D1 “grammar vault” (group 2) is the checklist for self-correction — keep it visible during writing.
• Urdu bridge: مثال، سبب، دقت، مقابلہ، مہارت.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retrieve D1-L04, D1-L07 and D1-L02 — three of the most common D1 errors.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strong answer = Point + Reason + Example + Contrast — and every verb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مثال → المِثَالُ (عَلَى سَبِيلِ المِثَالِ = مثال کے طور پر). سبب → السَّبَبُ. FALSE FRIEND: Urdu دقت = difficulty, but Arabic دِقَّةٌ = accuracy / precision. مہارت (skill) → مَهَارَةٌ. مقابلہ (competition) is NOT مُقَارَنَةٌ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and reflection (website vocabulary (1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and reflection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D1 grammar vault (website vocabulary (1 of 2)). Hear → Say → See → Use. Transliteration is printed for Core students (cover it for Develop/Stretch).
FLEX: teach if time allows; otherwise these are on the website vocabulary tab for homework.
The D1 grammar vault (FLEX): these eight cards ARE the unit checklist. Display them during the writing task and for revision before D1-L12.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D1 grammar vault (website vocabulary (2 of 2)). Hear → Say → See → Use. Transliteration is printed for Core students (cover it for Develop/Stretch).
FLEX: teach if time allows; otherwise these are on the website vocabulary tab for homework.
The D1 grammar vault (FLEX): these eight cards ARE the unit checklist. Display them during the writing task and for revision before D1-L12.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Answer extension (website vocabulary (1 of 2)). Hear → Say → See → Use. Transliteration is printed for Core students (cover it for Develop/Stretch).
Answer-extension words: the four “building blocks” (point, reason, example, comparison) and three linking phrases. Students need these to BUILD answers, and to understand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Answer extension (website vocabulary (2 of 2)). Hear → Say → See → Use. Transliteration is printed for Core students (cover it for Develop/Stretch).
Answer-extension words: the four “building blocks” (point, reason, example, comparison) and three linking phrases. Students need these to BUILD answers, and to understand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“Build Point + Reason + Example” and “Add comparison or qualification” (بَيْنَمَا · مَعَ ذٰلِكَ · أَمَّا) with the website patterns.
Website warning: “Do not extend an answer by adding unrelated memorised sentences. Every reason, example and contrast must answer the exact question.”
Teacher script: “Answer the question FIRST (point), then build.” Model row 1 slowly; students build row 2 with their own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“Repair errors by category” (verb pattern · person · أَنْ · time · frequency) and the website table (Person · Time · Sequence · Development). These are the five error families from the website error-analysis report (reading text: Lina).
Quick-fire: teacher says a wrong sentence; the class shouts the FAMILY name before anyone corrects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“Developed communication combines accurate person agreement, precise time, frequency, before/after clauses, contrast and reasons. Range only earns value when every structure is controlled.”
• Build Point + Reason + Example: Answer the exact question first, then develop it.
• Add comparison or qualification: A contrast shows flexible thinking and extends the response naturally.
• Repair errors by category: Name the exact system before correcting: verb pattern, person agreement, verb after أَنْ, time phrase or frequency phrase.
• Speak from cue words, not a written script: Prepare 3–5 cues, then vary sentence order and examples. This supports spontaneity.
Website common error: Do not extend an answer by adding unrelated memorised sentences. Every reason, example and contrast must answer the exact question and preserve person, time and sequence accurately.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teacher writes four cue words on the whiteboard, then SPEAKS the answer (not reads it), with a think-aloud. Then shows the written version and checks every verb aloud against the grammar 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mission rounds 1, 2, 5 and 6. After each answer ask: “What would make it even stronger?” (add an example / a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Volunteers add ONE more block to answer 1 (example or contrast)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Read each sentence for meaning and match it to the detail that strengthens a spoken or written response.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Read each sentence for meaning and match it to the detail that strengthens a spoken or written response.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5. Develop / Stretch: all 5 — and label each sentence P / R / E / C.
Listen 1: just listen. Listen 2: note answers. Then chat the letters.
Support: after the second listening, show the read-along slide (Arabic + English, line by line) for Core students.
SCRIPT (read aloud):
أُفَضِّلُ أَنْ أَتَّبِعَ رُوتِينًا مُنَظَّمًا فِي أَيَّامِ الدِّرَاسَةِ لِأَنَّهُ يُسَاعِدُنِي عَلَى التَّرْكِيزِ. أَسْتَيْقِظُ فِي السَّادِسَةِ وَالنِّصْفِ، وَأَحْرِصُ عَلَى أَنْ أَتَنَاوَلَ الإِفْطَارَ قَبْلَ أَنْ أَخْرُجَ. عَلَى سَبِيلِ المِثَالِ، أُحَضِّرُ حَقِيبَتِي لَيْلًا حَتَّى لَا أَنْسَى شَيْئًا. مَعَ ذٰلِكَ لَا أُرِيدُ جَدْوَلًا صَارِمًا جِدًّا؛ فَفِي نِهَايَةِ الأُسْبُوعِ أَسْتَيْقِظُ مُتَأَخِّرًا وَأَقْضِي وَقْتًا مَعَ أُسْرَتِي. فِي رَأْيِي، التَّوَازُنُ أَهَمُّ مِنْ مَلْءِ كُلِّ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topic-conversation prompts 1–4 (prompt 5 “Which language error can you now correct? Give an example.” is a good Stretch follow-up). This is the main performance: ● think with 3–5 CUE WORDS only (no script) → ↔ rehearse muted → ◎ 30–45 seconds on the mic. Teacher asks one unseen follow-up to Stretch students (e.g. وَلِمَاذَا؟ / أَعْطِ مِثَالًا).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Answer three questions with point and reason. · Develop — Sustain 30–45 seconds with example and target grammar. · Stretch — Respond spontaneously to an unseen follow-up and self-correct accurately.
Website writing task (Stretch): Write a polished 100–120-word article or email about your daily and weekend routine, including another person for comparison.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task is a skills reflection — it is used in the notes of the reading slides and suits Stretch homework). Evidence: فِي السَّادِسَةِ وَالنِّصْفِ، فِي السَّابِعَةِ وَالرُّبْعِ · قَبْلَ أَنْ أَخْرُجَ، بَعْدَ أَنْ أَعُودَ · تَتَمَرَّنُ أُخْتِي · عَلَى سَبِيلِ المِثَالِ · بَيْنَمَا، أَمَّا … فَـ، مَعَ ذٰلِكَ.
Website reflection model: أَقْوَى مَهَارَةٍ عِنْدِي فِي D1 هِيَ وَصْفُ الرُّوتِينِ بِالتَّرْتِيبِ … (see the website writing tab).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(D1-L12 · Review and Unit Assessment) will spend class time USING this language, so students prepare it tonight — short, simple, easy to access (school guidance: “Simple, Short, Interesting, Relevant, Easy to access”). The five “words” are the five highest-value D1 structures for the D1-L12 unit assessment (one from each key lesson).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Speaking and Writing — My Daily Routine</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التَّحَدُّثُ وَالكِتَابَةُ — رُوتِينِي اليَوْمِيُّ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Bring all of D1 together: extend every answer with Point + Reason + Example + Contrast, repair errors by naming the rule, speak from cue words for 30–45 seconds and write a 100–120-word routine article.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D1-L11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Point → reason → example → contrast; fix errors by rule.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Name the error, upgrade the answer, sort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عَلَى سَبِيلِ المِثَالِ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however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example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means that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fluency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justification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أَنْ أَخْرُجُ</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أَخْرُجَ</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أَنْ أَخْرُجَ</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“When do you wake up?”</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تَسْتَيْقِظُ؟</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يَسْتَيْقِظُ؟</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تَسْتَيْقِظِينَ؟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8:55?</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٨:٥٥</a:t>
            </a:r>
            <a:endParaRPr lang="ar-SA" sz="22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التَّاسِعَةُ إِلَّا خَمْسَ دَقَائِقَ</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الثَّامِنَةُ وَخَمْسُ دَقَائِقَ</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الثَّامِنَةُ إِلَّا خَمْسَ دَقَائِقَ</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عَلَى سَبِيلِ المِثَالِ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however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 example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means that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accuracy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fluency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justification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قَبْلَ أَنْ أَخْرُجُ</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قَبْلَ أَخْرُجَ</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قَبْلَ أَنْ أَخْرُجَ</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D1-L04: 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fatḥa.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“When do you wake up?”</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تَسْتَيْقِظُ؟</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يَسْتَيْقِظُ؟</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مَتَى تَسْتَيْقِظِينَ؟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D1-L07: girl → -īna.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8:55?</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٨:٥٥</a:t>
            </a:r>
            <a:endParaRPr lang="ar-SA" sz="220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التَّاسِعَةُ إِلَّا خَمْسَ دَقَائِقَ</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الثَّامِنَةُ وَخَمْسُ دَقَائِقَ</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الثَّامِنَةُ إِلَّا خَمْسَ دَقَائِقَ</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D1-L02: the next hour with </a:t>
            </a:r>
            <a:pPr algn="l" indent="0" marL="0">
              <a:buNone/>
            </a:pPr>
            <a:r>
              <a:rPr lang="ar-SA" altLang="en-US" sz="1350" dirty="0">
                <a:solidFill>
                  <a:srgbClr val="8A6D1E"/>
                </a:solidFill>
                <a:latin typeface="Amiri" pitchFamily="2" charset="-78"/>
                <a:cs typeface="Amiri" pitchFamily="2" charset="-78"/>
              </a:rPr>
              <a:t>إِلَّا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strong answer = Point + Reason + Example + Contrast — and every verb checked.</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أَسْتَيْقِظُ مُبَكِّرًا </a:t>
            </a:r>
            <a:pPr rtl="1" algn="ctr" indent="0" marL="0">
              <a:lnSpc>
                <a:spcPct val="120000"/>
              </a:lnSpc>
              <a:buNone/>
            </a:pPr>
            <a:r>
              <a:rPr lang="ar-SA" altLang="en-US" sz="1950" b="1" dirty="0">
                <a:solidFill>
                  <a:srgbClr val="0E7C86"/>
                </a:solidFill>
                <a:latin typeface="Amiri" pitchFamily="2" charset="-78"/>
                <a:cs typeface="Amiri" pitchFamily="2" charset="-78"/>
              </a:rPr>
              <a:t>لِأَنَّ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cs typeface="Amiri" pitchFamily="2" charset="-78"/>
              </a:rPr>
              <a:t>عَلَى سَبِيلِ المِثَالِ</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مَعَ ذٰلِكَ</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Correct cumulative D1 grammar errors.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extended spoken answers.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Respond flexibly to five topic questions.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Create a precise personal revision plan.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three routine questions with a point and a reason.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correct “I / he / she” verb errors.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speak for 30–45 seconds with an example and a contrast.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the rule behind a correction.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an unseen follow-up question spontaneously.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polished 100–120-word article.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Speaking and reflection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D1 grammar vault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Answer extension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المِثَالُ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السَّبَبُ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‎سبب‎ </a:t>
            </a:r>
            <a:pPr indent="0" marL="0">
              <a:buNone/>
            </a:pPr>
            <a:r>
              <a:rPr lang="en-US" sz="950" b="1" dirty="0">
                <a:solidFill>
                  <a:srgbClr val="2E8B57"/>
                </a:solidFill>
                <a:latin typeface="Calibri" pitchFamily="34" charset="0"/>
                <a:cs typeface="Amiri" pitchFamily="2" charset="-78"/>
              </a:rPr>
              <a:t> sabab · reason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دِقَّةٌ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‎دقت‎ </a:t>
            </a:r>
            <a:pPr indent="0" marL="0">
              <a:buNone/>
            </a:pPr>
            <a:r>
              <a:rPr lang="en-US" sz="950" b="1" dirty="0">
                <a:solidFill>
                  <a:srgbClr val="2E8B57"/>
                </a:solidFill>
                <a:latin typeface="Calibri" pitchFamily="34" charset="0"/>
                <a:cs typeface="Amiri" pitchFamily="2" charset="-78"/>
              </a:rPr>
              <a:t> diqqat · Urdu: difficulty · Arabic: accuracy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المُقَارَنَةُ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‎مقابلہ‎ </a:t>
            </a:r>
            <a:pPr indent="0" marL="0">
              <a:buNone/>
            </a:pPr>
            <a:r>
              <a:rPr lang="en-US" sz="950" b="1" dirty="0">
                <a:solidFill>
                  <a:srgbClr val="2E8B57"/>
                </a:solidFill>
                <a:latin typeface="Calibri" pitchFamily="34" charset="0"/>
                <a:cs typeface="Amiri" pitchFamily="2" charset="-78"/>
              </a:rPr>
              <a:t> muqābla · Urdu: contest · Arabic مُقَارَنَةٌ: comparison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مَهَارَةٌ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‎مہارت‎ </a:t>
            </a:r>
            <a:pPr indent="0" marL="0">
              <a:buNone/>
            </a:pPr>
            <a:r>
              <a:rPr lang="en-US" sz="950" b="1" dirty="0">
                <a:solidFill>
                  <a:srgbClr val="2E8B57"/>
                </a:solidFill>
                <a:latin typeface="Calibri" pitchFamily="34" charset="0"/>
                <a:cs typeface="Amiri" pitchFamily="2" charset="-78"/>
              </a:rPr>
              <a:t> mahārat · skill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and reflection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مُحَادَثَةٌ مَوْضُوعِيَّةٌ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topic conversation</a:t>
            </a:r>
            <a:endParaRPr lang="en-US" sz="1350" dirty="0"/>
          </a:p>
          <a:p>
            <a:pPr indent="0" marL="0">
              <a:buNone/>
            </a:pPr>
            <a:r>
              <a:rPr lang="en-US" sz="1100" i="1" dirty="0">
                <a:solidFill>
                  <a:srgbClr val="5A6472"/>
                </a:solidFill>
                <a:latin typeface="Calibri" pitchFamily="34" charset="0"/>
                <a:cs typeface="Amiri" pitchFamily="2" charset="-78"/>
              </a:rPr>
              <a:t>mu-ḥā-da-tha-tun maw-ḍū-ʿiy-ya-tun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تَوْسِيعُ الإِجَابَةِ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extending an answer</a:t>
            </a:r>
            <a:endParaRPr lang="en-US" sz="1350" dirty="0"/>
          </a:p>
          <a:p>
            <a:pPr indent="0" marL="0">
              <a:buNone/>
            </a:pPr>
            <a:r>
              <a:rPr lang="en-US" sz="1100" i="1" dirty="0">
                <a:solidFill>
                  <a:srgbClr val="5A6472"/>
                </a:solidFill>
                <a:latin typeface="Calibri" pitchFamily="34" charset="0"/>
                <a:cs typeface="Amiri" pitchFamily="2" charset="-78"/>
              </a:rPr>
              <a:t>taw-sī-ʿu al-i-jā-ba-ti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تَعَمُّقٌ</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depth</a:t>
            </a:r>
            <a:endParaRPr lang="en-US" sz="1350" dirty="0"/>
          </a:p>
          <a:p>
            <a:pPr indent="0" marL="0">
              <a:buNone/>
            </a:pPr>
            <a:r>
              <a:rPr lang="en-US" sz="1100" i="1" dirty="0">
                <a:solidFill>
                  <a:srgbClr val="5A6472"/>
                </a:solidFill>
                <a:latin typeface="Calibri" pitchFamily="34" charset="0"/>
                <a:cs typeface="Amiri" pitchFamily="2" charset="-78"/>
              </a:rPr>
              <a:t>ta-ʿam-mu-qun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طَلَاقَةٌ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ṭa-lā-qa-tun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دِقَّةٌ</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diq-qa-tun</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and reflection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تَفْصِيلٌ مُسَانِدٌ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supporting detail</a:t>
            </a:r>
            <a:endParaRPr lang="en-US" sz="1350" dirty="0"/>
          </a:p>
          <a:p>
            <a:pPr indent="0" marL="0">
              <a:buNone/>
            </a:pPr>
            <a:r>
              <a:rPr lang="en-US" sz="1100" i="1" dirty="0">
                <a:solidFill>
                  <a:srgbClr val="5A6472"/>
                </a:solidFill>
                <a:latin typeface="Calibri" pitchFamily="34" charset="0"/>
                <a:cs typeface="Amiri" pitchFamily="2" charset="-78"/>
              </a:rPr>
              <a:t>taf-ṣī-lun mu-sā-ni-dun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مِثَالٌ شَخْصِيٌّ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personal example</a:t>
            </a:r>
            <a:endParaRPr lang="en-US" sz="1350" dirty="0"/>
          </a:p>
          <a:p>
            <a:pPr indent="0" marL="0">
              <a:buNone/>
            </a:pPr>
            <a:r>
              <a:rPr lang="en-US" sz="1100" i="1" dirty="0">
                <a:solidFill>
                  <a:srgbClr val="5A6472"/>
                </a:solidFill>
                <a:latin typeface="Calibri" pitchFamily="34" charset="0"/>
                <a:cs typeface="Amiri" pitchFamily="2" charset="-78"/>
              </a:rPr>
              <a:t>mi-thā-lun shakh-ṣiy-yun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تَبْرِيرٌ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justification</a:t>
            </a:r>
            <a:endParaRPr lang="en-US" sz="1350" dirty="0"/>
          </a:p>
          <a:p>
            <a:pPr indent="0" marL="0">
              <a:buNone/>
            </a:pPr>
            <a:r>
              <a:rPr lang="en-US" sz="1100" i="1" dirty="0">
                <a:solidFill>
                  <a:srgbClr val="5A6472"/>
                </a:solidFill>
                <a:latin typeface="Calibri" pitchFamily="34" charset="0"/>
                <a:cs typeface="Amiri" pitchFamily="2" charset="-78"/>
              </a:rPr>
              <a:t>tab-rī-run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هَدَفٌ دَقِيقٌ</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target</a:t>
            </a:r>
            <a:endParaRPr lang="en-US" sz="1350" dirty="0"/>
          </a:p>
          <a:p>
            <a:pPr indent="0" marL="0">
              <a:buNone/>
            </a:pPr>
            <a:r>
              <a:rPr lang="en-US" sz="1100" i="1" dirty="0">
                <a:solidFill>
                  <a:srgbClr val="5A6472"/>
                </a:solidFill>
                <a:latin typeface="Calibri" pitchFamily="34" charset="0"/>
                <a:cs typeface="Amiri" pitchFamily="2" charset="-78"/>
              </a:rPr>
              <a:t>ha-da-fun da-qī-qun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D1 grammar vault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cs typeface="Amiri" pitchFamily="2" charset="-78"/>
              </a:rPr>
              <a:t>أَسْتَيْقِظُ / يَسْتَيْقِظُ / تَسْتَيْقِظُ</a:t>
            </a:r>
            <a:endParaRPr lang="ar-SA" sz="28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person control</a:t>
            </a:r>
            <a:endParaRPr lang="en-US" sz="1350" dirty="0"/>
          </a:p>
          <a:p>
            <a:pPr indent="0" marL="0">
              <a:buNone/>
            </a:pPr>
            <a:r>
              <a:rPr lang="en-US" sz="1100" i="1" dirty="0">
                <a:solidFill>
                  <a:srgbClr val="5A6472"/>
                </a:solidFill>
                <a:latin typeface="Calibri" pitchFamily="34" charset="0"/>
                <a:cs typeface="Amiri" pitchFamily="2" charset="-78"/>
              </a:rPr>
              <a:t>as-tay-qi-ẓu / yas-tay-qi-ẓu / tas-tay-qi-ẓu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أَتَنَاوَلُ / أَسْتَعِدُّ / أَسْتَقِلُّ</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patterned routine verbs</a:t>
            </a:r>
            <a:endParaRPr lang="en-US" sz="1350" dirty="0"/>
          </a:p>
          <a:p>
            <a:pPr indent="0" marL="0">
              <a:buNone/>
            </a:pPr>
            <a:r>
              <a:rPr lang="en-US" sz="1100" i="1" dirty="0">
                <a:solidFill>
                  <a:srgbClr val="5A6472"/>
                </a:solidFill>
                <a:latin typeface="Calibri" pitchFamily="34" charset="0"/>
                <a:cs typeface="Amiri" pitchFamily="2" charset="-78"/>
              </a:rPr>
              <a:t>a-ta-nā-wa-lu / as-ta-ʿid-du / as-ta-qil-lu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قَبْلَ أَنْ / بَعْدَ أَنْ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sequence + subjunctive</a:t>
            </a:r>
            <a:endParaRPr lang="en-US" sz="1350" dirty="0"/>
          </a:p>
          <a:p>
            <a:pPr indent="0" marL="0">
              <a:buNone/>
            </a:pPr>
            <a:r>
              <a:rPr lang="en-US" sz="1100" i="1" dirty="0">
                <a:solidFill>
                  <a:srgbClr val="5A6472"/>
                </a:solidFill>
                <a:latin typeface="Calibri" pitchFamily="34" charset="0"/>
                <a:cs typeface="Amiri" pitchFamily="2" charset="-78"/>
              </a:rPr>
              <a:t>qab-la an / baʿ-da an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عَادَةً / نَادِرًا / مَرَّاتٍ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frequency</a:t>
            </a:r>
            <a:endParaRPr lang="en-US" sz="1350" dirty="0"/>
          </a:p>
          <a:p>
            <a:pPr indent="0" marL="0">
              <a:buNone/>
            </a:pPr>
            <a:r>
              <a:rPr lang="en-US" sz="1100" i="1" dirty="0">
                <a:solidFill>
                  <a:srgbClr val="5A6472"/>
                </a:solidFill>
                <a:latin typeface="Calibri" pitchFamily="34" charset="0"/>
                <a:cs typeface="Amiri" pitchFamily="2" charset="-78"/>
              </a:rPr>
              <a:t>ʿā-da-tan / nā-di-ran / mar-rā-tin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D1 grammar vault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 / أَمَّا ... فَـ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comparison and contrast</a:t>
            </a:r>
            <a:endParaRPr lang="en-US" sz="1350" dirty="0"/>
          </a:p>
          <a:p>
            <a:pPr indent="0" marL="0">
              <a:buNone/>
            </a:pPr>
            <a:r>
              <a:rPr lang="en-US" sz="1100" i="1" dirty="0">
                <a:solidFill>
                  <a:srgbClr val="5A6472"/>
                </a:solidFill>
                <a:latin typeface="Calibri" pitchFamily="34" charset="0"/>
                <a:cs typeface="Amiri" pitchFamily="2" charset="-78"/>
              </a:rPr>
              <a:t>bay-na-mā / am-mā ... fa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مَتَى / مَاذَا / كَمْ مَرَّةً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routine questions</a:t>
            </a:r>
            <a:endParaRPr lang="en-US" sz="1350" dirty="0"/>
          </a:p>
          <a:p>
            <a:pPr indent="0" marL="0">
              <a:buNone/>
            </a:pPr>
            <a:r>
              <a:rPr lang="en-US" sz="1100" i="1" dirty="0">
                <a:solidFill>
                  <a:srgbClr val="5A6472"/>
                </a:solidFill>
                <a:latin typeface="Calibri" pitchFamily="34" charset="0"/>
                <a:cs typeface="Amiri" pitchFamily="2" charset="-78"/>
              </a:rPr>
              <a:t>ma-tā / mā-dhā / kam mar-ra-tan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السَّاعَةِ ... إِلَى ...</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span</a:t>
            </a:r>
            <a:endParaRPr lang="en-US" sz="1350" dirty="0"/>
          </a:p>
          <a:p>
            <a:pPr indent="0" marL="0">
              <a:buNone/>
            </a:pPr>
            <a:r>
              <a:rPr lang="en-US" sz="1100" i="1" dirty="0">
                <a:solidFill>
                  <a:srgbClr val="5A6472"/>
                </a:solidFill>
                <a:latin typeface="Calibri" pitchFamily="34" charset="0"/>
                <a:cs typeface="Amiri" pitchFamily="2" charset="-78"/>
              </a:rPr>
              <a:t>mi-na as-sā-ʿa-ti ... i-lā ...</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وَالرُّبْعُ / إِلَّا الرُّبْعَ</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clock time</a:t>
            </a:r>
            <a:endParaRPr lang="en-US" sz="1350" dirty="0"/>
          </a:p>
          <a:p>
            <a:pPr indent="0" marL="0">
              <a:buNone/>
            </a:pPr>
            <a:r>
              <a:rPr lang="en-US" sz="1100" i="1" dirty="0">
                <a:solidFill>
                  <a:srgbClr val="5A6472"/>
                </a:solidFill>
                <a:latin typeface="Calibri" pitchFamily="34" charset="0"/>
                <a:cs typeface="Amiri" pitchFamily="2" charset="-78"/>
              </a:rPr>
              <a:t>wālr-rub-ʿu / il-lā ar-rub-ʿa</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 extension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النُّقْطَةُ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point</a:t>
            </a:r>
            <a:endParaRPr lang="en-US" sz="1350" dirty="0"/>
          </a:p>
          <a:p>
            <a:pPr indent="0" marL="0">
              <a:buNone/>
            </a:pPr>
            <a:r>
              <a:rPr lang="en-US" sz="1100" i="1" dirty="0">
                <a:solidFill>
                  <a:srgbClr val="5A6472"/>
                </a:solidFill>
                <a:latin typeface="Calibri" pitchFamily="34" charset="0"/>
                <a:cs typeface="Amiri" pitchFamily="2" charset="-78"/>
              </a:rPr>
              <a:t>an-nuq-ṭa-tu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النِّقَاطُ</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النُّقْطَةُ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نُقْطَةٌ</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السَّبَبُ</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reason</a:t>
            </a:r>
            <a:endParaRPr lang="en-US" sz="1350" dirty="0"/>
          </a:p>
          <a:p>
            <a:pPr indent="0" marL="0">
              <a:buNone/>
            </a:pPr>
            <a:r>
              <a:rPr lang="en-US" sz="1100" i="1" dirty="0">
                <a:solidFill>
                  <a:srgbClr val="5A6472"/>
                </a:solidFill>
                <a:latin typeface="Calibri" pitchFamily="34" charset="0"/>
                <a:cs typeface="Amiri" pitchFamily="2" charset="-78"/>
              </a:rPr>
              <a:t>as-sa-ba-bu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الأَسْبَابُ</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السَّبَبُ</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سَبَبٌ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4" name="Shape 5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المِثَالُ</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example</a:t>
            </a:r>
            <a:endParaRPr lang="en-US" sz="1350" dirty="0"/>
          </a:p>
          <a:p>
            <a:pPr indent="0" marL="0">
              <a:buNone/>
            </a:pPr>
            <a:r>
              <a:rPr lang="en-US" sz="1100" i="1" dirty="0">
                <a:solidFill>
                  <a:srgbClr val="5A6472"/>
                </a:solidFill>
                <a:latin typeface="Calibri" pitchFamily="34" charset="0"/>
                <a:cs typeface="Amiri" pitchFamily="2" charset="-78"/>
              </a:rPr>
              <a:t>al-mi-thā-lu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الأَمْثِلَةُ</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المِثَالُ</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مِثَالٌ</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المُقَارَنَةُ</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comparison</a:t>
            </a:r>
            <a:endParaRPr lang="en-US" sz="1350" dirty="0"/>
          </a:p>
          <a:p>
            <a:pPr indent="0" marL="0">
              <a:buNone/>
            </a:pPr>
            <a:r>
              <a:rPr lang="en-US" sz="1100" i="1" dirty="0">
                <a:solidFill>
                  <a:srgbClr val="5A6472"/>
                </a:solidFill>
                <a:latin typeface="Calibri" pitchFamily="34" charset="0"/>
                <a:cs typeface="Amiri" pitchFamily="2" charset="-78"/>
              </a:rPr>
              <a:t>al-mu-qā-ra-na-tu</a:t>
            </a:r>
            <a:endParaRPr lang="en-US" sz="13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 extension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الرَّبْطُ</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link</a:t>
            </a:r>
            <a:endParaRPr lang="en-US" sz="1350" dirty="0"/>
          </a:p>
          <a:p>
            <a:pPr indent="0" marL="0">
              <a:buNone/>
            </a:pPr>
            <a:r>
              <a:rPr lang="en-US" sz="1100" i="1" dirty="0">
                <a:solidFill>
                  <a:srgbClr val="5A6472"/>
                </a:solidFill>
                <a:latin typeface="Calibri" pitchFamily="34" charset="0"/>
                <a:cs typeface="Amiri" pitchFamily="2" charset="-78"/>
              </a:rPr>
              <a:t>ar-rab-ṭu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 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ma-ʿa 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سَبِيلِ المِثَالِ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هٰذَا يَعْنِي أَنَّ</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means that</a:t>
            </a:r>
            <a:endParaRPr lang="en-US" sz="1350" dirty="0"/>
          </a:p>
          <a:p>
            <a:pPr indent="0" marL="0">
              <a:buNone/>
            </a:pPr>
            <a:r>
              <a:rPr lang="en-US" sz="1100" i="1" dirty="0">
                <a:solidFill>
                  <a:srgbClr val="5A6472"/>
                </a:solidFill>
                <a:latin typeface="Calibri" pitchFamily="34" charset="0"/>
                <a:cs typeface="Amiri" pitchFamily="2" charset="-78"/>
              </a:rPr>
              <a:t>hā-dhā yaʿ-nī an-na</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BUILD AN EXTENDED ANSWER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Point + Reason + Example + Contrast</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نُقْطَةٌ + سَبَبٌ + مِثَالٌ + 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777222" y="1810512"/>
            <a:ext cx="1954530" cy="566928"/>
          </a:xfrm>
          <a:prstGeom prst="roundRect">
            <a:avLst>
              <a:gd name="adj" fmla="val 9677"/>
            </a:avLst>
          </a:prstGeom>
          <a:solidFill>
            <a:srgbClr val="1D5FBF"/>
          </a:solidFill>
          <a:ln w="12700">
            <a:solidFill>
              <a:srgbClr val="1D5FBF"/>
            </a:solidFill>
            <a:prstDash val="solid"/>
          </a:ln>
        </p:spPr>
      </p:sp>
      <p:sp>
        <p:nvSpPr>
          <p:cNvPr id="17" name="Text 14"/>
          <p:cNvSpPr txBox="1"/>
          <p:nvPr/>
        </p:nvSpPr>
        <p:spPr>
          <a:xfrm>
            <a:off x="9777222" y="1792224"/>
            <a:ext cx="1954530"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النُّقْطَةُ</a:t>
            </a:r>
            <a:endParaRPr lang="ar-SA" sz="1850" dirty="0"/>
          </a:p>
        </p:txBody>
      </p:sp>
      <p:sp>
        <p:nvSpPr>
          <p:cNvPr id="18" name="Text 15"/>
          <p:cNvSpPr txBox="1"/>
          <p:nvPr/>
        </p:nvSpPr>
        <p:spPr>
          <a:xfrm>
            <a:off x="9777222" y="2157984"/>
            <a:ext cx="1954530"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point</a:t>
            </a:r>
            <a:endParaRPr lang="en-US" sz="900" dirty="0"/>
          </a:p>
        </p:txBody>
      </p:sp>
      <p:sp>
        <p:nvSpPr>
          <p:cNvPr id="19" name="Shape 16"/>
          <p:cNvSpPr/>
          <p:nvPr/>
        </p:nvSpPr>
        <p:spPr>
          <a:xfrm>
            <a:off x="7712964" y="1810512"/>
            <a:ext cx="1954530" cy="566928"/>
          </a:xfrm>
          <a:prstGeom prst="roundRect">
            <a:avLst>
              <a:gd name="adj" fmla="val 9677"/>
            </a:avLst>
          </a:prstGeom>
          <a:solidFill>
            <a:srgbClr val="1E7B4F"/>
          </a:solidFill>
          <a:ln w="12700">
            <a:solidFill>
              <a:srgbClr val="1E7B4F"/>
            </a:solidFill>
            <a:prstDash val="solid"/>
          </a:ln>
        </p:spPr>
      </p:sp>
      <p:sp>
        <p:nvSpPr>
          <p:cNvPr id="20" name="Text 17"/>
          <p:cNvSpPr txBox="1"/>
          <p:nvPr/>
        </p:nvSpPr>
        <p:spPr>
          <a:xfrm>
            <a:off x="7712964" y="1792224"/>
            <a:ext cx="1954530"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السَّبَبُ</a:t>
            </a:r>
            <a:endParaRPr lang="ar-SA" sz="1850" dirty="0"/>
          </a:p>
        </p:txBody>
      </p:sp>
      <p:sp>
        <p:nvSpPr>
          <p:cNvPr id="21" name="Text 18"/>
          <p:cNvSpPr txBox="1"/>
          <p:nvPr/>
        </p:nvSpPr>
        <p:spPr>
          <a:xfrm>
            <a:off x="7712964" y="2157984"/>
            <a:ext cx="1954530"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reason</a:t>
            </a:r>
            <a:endParaRPr lang="en-US" sz="900" dirty="0"/>
          </a:p>
        </p:txBody>
      </p:sp>
      <p:sp>
        <p:nvSpPr>
          <p:cNvPr id="22" name="Shape 19"/>
          <p:cNvSpPr/>
          <p:nvPr/>
        </p:nvSpPr>
        <p:spPr>
          <a:xfrm>
            <a:off x="5648706" y="1810512"/>
            <a:ext cx="1954530" cy="566928"/>
          </a:xfrm>
          <a:prstGeom prst="roundRect">
            <a:avLst>
              <a:gd name="adj" fmla="val 9677"/>
            </a:avLst>
          </a:prstGeom>
          <a:solidFill>
            <a:srgbClr val="C77700"/>
          </a:solidFill>
          <a:ln w="12700">
            <a:solidFill>
              <a:srgbClr val="C77700"/>
            </a:solidFill>
            <a:prstDash val="solid"/>
          </a:ln>
        </p:spPr>
      </p:sp>
      <p:sp>
        <p:nvSpPr>
          <p:cNvPr id="23" name="Text 20"/>
          <p:cNvSpPr txBox="1"/>
          <p:nvPr/>
        </p:nvSpPr>
        <p:spPr>
          <a:xfrm>
            <a:off x="5648706" y="1792224"/>
            <a:ext cx="1954530"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المِثَالُ</a:t>
            </a:r>
            <a:endParaRPr lang="ar-SA" sz="1850" dirty="0"/>
          </a:p>
        </p:txBody>
      </p:sp>
      <p:sp>
        <p:nvSpPr>
          <p:cNvPr id="24" name="Text 21"/>
          <p:cNvSpPr txBox="1"/>
          <p:nvPr/>
        </p:nvSpPr>
        <p:spPr>
          <a:xfrm>
            <a:off x="5648706" y="2157984"/>
            <a:ext cx="1954530"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example</a:t>
            </a:r>
            <a:endParaRPr lang="en-US" sz="900" dirty="0"/>
          </a:p>
        </p:txBody>
      </p:sp>
      <p:sp>
        <p:nvSpPr>
          <p:cNvPr id="25" name="Shape 22"/>
          <p:cNvSpPr/>
          <p:nvPr/>
        </p:nvSpPr>
        <p:spPr>
          <a:xfrm>
            <a:off x="3584448" y="1810512"/>
            <a:ext cx="1954530" cy="566928"/>
          </a:xfrm>
          <a:prstGeom prst="roundRect">
            <a:avLst>
              <a:gd name="adj" fmla="val 9677"/>
            </a:avLst>
          </a:prstGeom>
          <a:solidFill>
            <a:srgbClr val="6B4C9A"/>
          </a:solidFill>
          <a:ln w="12700">
            <a:solidFill>
              <a:srgbClr val="6B4C9A"/>
            </a:solidFill>
            <a:prstDash val="solid"/>
          </a:ln>
        </p:spPr>
      </p:sp>
      <p:sp>
        <p:nvSpPr>
          <p:cNvPr id="26" name="Text 23"/>
          <p:cNvSpPr txBox="1"/>
          <p:nvPr/>
        </p:nvSpPr>
        <p:spPr>
          <a:xfrm>
            <a:off x="3584448" y="1792224"/>
            <a:ext cx="1954530"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المُقَارَنَةُ</a:t>
            </a:r>
            <a:endParaRPr lang="ar-SA" sz="1850" dirty="0"/>
          </a:p>
        </p:txBody>
      </p:sp>
      <p:sp>
        <p:nvSpPr>
          <p:cNvPr id="27" name="Text 24"/>
          <p:cNvSpPr txBox="1"/>
          <p:nvPr/>
        </p:nvSpPr>
        <p:spPr>
          <a:xfrm>
            <a:off x="3584448" y="2157984"/>
            <a:ext cx="1954530"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contrast</a:t>
            </a:r>
            <a:endParaRPr lang="en-US" sz="900" dirty="0"/>
          </a:p>
        </p:txBody>
      </p:sp>
      <p:sp>
        <p:nvSpPr>
          <p:cNvPr id="28" name="Text 25"/>
          <p:cNvSpPr txBox="1"/>
          <p:nvPr/>
        </p:nvSpPr>
        <p:spPr>
          <a:xfrm>
            <a:off x="457200" y="2487168"/>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 prefer an organised routine because it helps me concentrate. For example, I prepare my bag at night. However, my routine changes on holiday.</a:t>
            </a:r>
            <a:endParaRPr lang="en-US" sz="1200" dirty="0"/>
          </a:p>
        </p:txBody>
      </p:sp>
      <p:sp>
        <p:nvSpPr>
          <p:cNvPr id="29" name="Shape 26"/>
          <p:cNvSpPr/>
          <p:nvPr/>
        </p:nvSpPr>
        <p:spPr>
          <a:xfrm>
            <a:off x="9777222" y="2487168"/>
            <a:ext cx="1954530" cy="822960"/>
          </a:xfrm>
          <a:prstGeom prst="roundRect">
            <a:avLst>
              <a:gd name="adj" fmla="val 6667"/>
            </a:avLst>
          </a:prstGeom>
          <a:solidFill>
            <a:srgbClr val="EEF3FA"/>
          </a:solidFill>
          <a:ln w="9525">
            <a:solidFill>
              <a:srgbClr val="EEF3FA"/>
            </a:solidFill>
            <a:prstDash val="solid"/>
          </a:ln>
        </p:spPr>
      </p:sp>
      <p:sp>
        <p:nvSpPr>
          <p:cNvPr id="30" name="Text 27"/>
          <p:cNvSpPr txBox="1"/>
          <p:nvPr/>
        </p:nvSpPr>
        <p:spPr>
          <a:xfrm>
            <a:off x="9850374" y="2487168"/>
            <a:ext cx="1808226" cy="82296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أُفَضِّلُ الرُّوتِينَ المُنَظَّمَ</a:t>
            </a:r>
            <a:endParaRPr lang="ar-SA" sz="1850" dirty="0"/>
          </a:p>
        </p:txBody>
      </p:sp>
      <p:sp>
        <p:nvSpPr>
          <p:cNvPr id="31" name="Shape 28"/>
          <p:cNvSpPr/>
          <p:nvPr/>
        </p:nvSpPr>
        <p:spPr>
          <a:xfrm>
            <a:off x="7712964" y="2487168"/>
            <a:ext cx="1954530" cy="822960"/>
          </a:xfrm>
          <a:prstGeom prst="roundRect">
            <a:avLst>
              <a:gd name="adj" fmla="val 6667"/>
            </a:avLst>
          </a:prstGeom>
          <a:solidFill>
            <a:srgbClr val="E8F4EC"/>
          </a:solidFill>
          <a:ln w="9525">
            <a:solidFill>
              <a:srgbClr val="E8F4EC"/>
            </a:solidFill>
            <a:prstDash val="solid"/>
          </a:ln>
        </p:spPr>
      </p:sp>
      <p:sp>
        <p:nvSpPr>
          <p:cNvPr id="32" name="Text 29"/>
          <p:cNvSpPr txBox="1"/>
          <p:nvPr/>
        </p:nvSpPr>
        <p:spPr>
          <a:xfrm>
            <a:off x="7786116" y="2487168"/>
            <a:ext cx="1808226"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0E7C86"/>
                </a:solidFill>
                <a:latin typeface="Amiri" pitchFamily="2" charset="-78"/>
                <a:cs typeface="Amiri" pitchFamily="2" charset="-78"/>
              </a:rPr>
              <a:t>لِأَنَّهُ</a:t>
            </a:r>
            <a:pPr rtl="1" algn="ctr" indent="0" marL="0">
              <a:lnSpc>
                <a:spcPct val="120000"/>
              </a:lnSpc>
              <a:buNone/>
            </a:pPr>
            <a:r>
              <a:rPr lang="ar-SA" altLang="en-US" sz="1550" b="1" dirty="0">
                <a:solidFill>
                  <a:srgbClr val="1B3B6F"/>
                </a:solidFill>
                <a:latin typeface="Amiri" pitchFamily="2" charset="-78"/>
                <a:cs typeface="Amiri" pitchFamily="2" charset="-78"/>
              </a:rPr>
              <a:t> يُسَاعِدُنِي عَلَى التَّرْكِيزِ.</a:t>
            </a:r>
            <a:endParaRPr lang="ar-SA" sz="1550" dirty="0"/>
          </a:p>
        </p:txBody>
      </p:sp>
      <p:sp>
        <p:nvSpPr>
          <p:cNvPr id="33" name="Shape 30"/>
          <p:cNvSpPr/>
          <p:nvPr/>
        </p:nvSpPr>
        <p:spPr>
          <a:xfrm>
            <a:off x="5648706" y="2487168"/>
            <a:ext cx="1954530" cy="822960"/>
          </a:xfrm>
          <a:prstGeom prst="roundRect">
            <a:avLst>
              <a:gd name="adj" fmla="val 6667"/>
            </a:avLst>
          </a:prstGeom>
          <a:solidFill>
            <a:srgbClr val="FDF3E3"/>
          </a:solidFill>
          <a:ln w="9525">
            <a:solidFill>
              <a:srgbClr val="FDF3E3"/>
            </a:solidFill>
            <a:prstDash val="solid"/>
          </a:ln>
        </p:spPr>
      </p:sp>
      <p:sp>
        <p:nvSpPr>
          <p:cNvPr id="34" name="Text 31"/>
          <p:cNvSpPr txBox="1"/>
          <p:nvPr/>
        </p:nvSpPr>
        <p:spPr>
          <a:xfrm>
            <a:off x="5721858" y="2487168"/>
            <a:ext cx="1808226"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0E7C86"/>
                </a:solidFill>
                <a:latin typeface="Amiri" pitchFamily="2" charset="-78"/>
                <a:cs typeface="Amiri" pitchFamily="2" charset="-78"/>
              </a:rPr>
              <a:t>عَلَى سَبِيلِ المِثَالِ</a:t>
            </a:r>
            <a:pPr rtl="1" algn="ctr" indent="0" marL="0">
              <a:lnSpc>
                <a:spcPct val="120000"/>
              </a:lnSpc>
              <a:buNone/>
            </a:pPr>
            <a:r>
              <a:rPr lang="ar-SA" altLang="en-US" sz="1550" b="1" dirty="0">
                <a:solidFill>
                  <a:srgbClr val="1B3B6F"/>
                </a:solidFill>
                <a:latin typeface="Amiri" pitchFamily="2" charset="-78"/>
                <a:cs typeface="Amiri" pitchFamily="2" charset="-78"/>
              </a:rPr>
              <a:t>، أُحَضِّرُ حَقِيبَتِي لَيْلًا.</a:t>
            </a:r>
            <a:endParaRPr lang="ar-SA" sz="1550" dirty="0"/>
          </a:p>
        </p:txBody>
      </p:sp>
      <p:sp>
        <p:nvSpPr>
          <p:cNvPr id="35" name="Shape 32"/>
          <p:cNvSpPr/>
          <p:nvPr/>
        </p:nvSpPr>
        <p:spPr>
          <a:xfrm>
            <a:off x="3584448" y="2487168"/>
            <a:ext cx="1954530" cy="822960"/>
          </a:xfrm>
          <a:prstGeom prst="roundRect">
            <a:avLst>
              <a:gd name="adj" fmla="val 6667"/>
            </a:avLst>
          </a:prstGeom>
          <a:solidFill>
            <a:srgbClr val="F1ECF7"/>
          </a:solidFill>
          <a:ln w="9525">
            <a:solidFill>
              <a:srgbClr val="F1ECF7"/>
            </a:solidFill>
            <a:prstDash val="solid"/>
          </a:ln>
        </p:spPr>
      </p:sp>
      <p:sp>
        <p:nvSpPr>
          <p:cNvPr id="36" name="Text 33"/>
          <p:cNvSpPr txBox="1"/>
          <p:nvPr/>
        </p:nvSpPr>
        <p:spPr>
          <a:xfrm>
            <a:off x="3657600" y="2487168"/>
            <a:ext cx="1808226"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0E7C86"/>
                </a:solidFill>
                <a:latin typeface="Amiri" pitchFamily="2" charset="-78"/>
                <a:cs typeface="Amiri" pitchFamily="2" charset="-78"/>
              </a:rPr>
              <a:t>مَعَ ذٰلِكَ</a:t>
            </a:r>
            <a:pPr rtl="1" algn="ctr" indent="0" marL="0">
              <a:lnSpc>
                <a:spcPct val="120000"/>
              </a:lnSpc>
              <a:buNone/>
            </a:pPr>
            <a:r>
              <a:rPr lang="ar-SA" altLang="en-US" sz="1550" b="1" dirty="0">
                <a:solidFill>
                  <a:srgbClr val="1B3B6F"/>
                </a:solidFill>
                <a:latin typeface="Amiri" pitchFamily="2" charset="-78"/>
                <a:cs typeface="Amiri" pitchFamily="2" charset="-78"/>
              </a:rPr>
              <a:t> يَتَغَيَّرُ رُوتِينِي فِي العُطْلَةِ.</a:t>
            </a:r>
            <a:endParaRPr lang="ar-SA" sz="1550" dirty="0"/>
          </a:p>
        </p:txBody>
      </p:sp>
      <p:sp>
        <p:nvSpPr>
          <p:cNvPr id="37" name="Text 34"/>
          <p:cNvSpPr txBox="1"/>
          <p:nvPr/>
        </p:nvSpPr>
        <p:spPr>
          <a:xfrm>
            <a:off x="457200" y="3419856"/>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 wake up at 6:30 because school starts early. For example, the first lesson is at 8:20. As for Saturday, I sleep longer.</a:t>
            </a:r>
            <a:endParaRPr lang="en-US" sz="1200" dirty="0"/>
          </a:p>
        </p:txBody>
      </p:sp>
      <p:sp>
        <p:nvSpPr>
          <p:cNvPr id="38" name="Shape 35"/>
          <p:cNvSpPr/>
          <p:nvPr/>
        </p:nvSpPr>
        <p:spPr>
          <a:xfrm>
            <a:off x="9777222" y="3419856"/>
            <a:ext cx="1954530" cy="822960"/>
          </a:xfrm>
          <a:prstGeom prst="roundRect">
            <a:avLst>
              <a:gd name="adj" fmla="val 6667"/>
            </a:avLst>
          </a:prstGeom>
          <a:solidFill>
            <a:srgbClr val="EEF3FA"/>
          </a:solidFill>
          <a:ln w="9525">
            <a:solidFill>
              <a:srgbClr val="EEF3FA"/>
            </a:solidFill>
            <a:prstDash val="solid"/>
          </a:ln>
        </p:spPr>
      </p:sp>
      <p:sp>
        <p:nvSpPr>
          <p:cNvPr id="39" name="Text 36"/>
          <p:cNvSpPr txBox="1"/>
          <p:nvPr/>
        </p:nvSpPr>
        <p:spPr>
          <a:xfrm>
            <a:off x="9850374" y="3419856"/>
            <a:ext cx="1808226"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cs typeface="Amiri" pitchFamily="2" charset="-78"/>
              </a:rPr>
              <a:t>أَسْتَيْقِظُ فِي السَّادِسَةِ وَالنِّصْفِ</a:t>
            </a:r>
            <a:endParaRPr lang="ar-SA" sz="1550" dirty="0"/>
          </a:p>
        </p:txBody>
      </p:sp>
      <p:sp>
        <p:nvSpPr>
          <p:cNvPr id="40" name="Shape 37"/>
          <p:cNvSpPr/>
          <p:nvPr/>
        </p:nvSpPr>
        <p:spPr>
          <a:xfrm>
            <a:off x="7712964" y="3419856"/>
            <a:ext cx="1954530" cy="822960"/>
          </a:xfrm>
          <a:prstGeom prst="roundRect">
            <a:avLst>
              <a:gd name="adj" fmla="val 6667"/>
            </a:avLst>
          </a:prstGeom>
          <a:solidFill>
            <a:srgbClr val="E8F4EC"/>
          </a:solidFill>
          <a:ln w="9525">
            <a:solidFill>
              <a:srgbClr val="E8F4EC"/>
            </a:solidFill>
            <a:prstDash val="solid"/>
          </a:ln>
        </p:spPr>
      </p:sp>
      <p:sp>
        <p:nvSpPr>
          <p:cNvPr id="41" name="Text 38"/>
          <p:cNvSpPr txBox="1"/>
          <p:nvPr/>
        </p:nvSpPr>
        <p:spPr>
          <a:xfrm>
            <a:off x="7786116" y="3419856"/>
            <a:ext cx="1808226"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0E7C86"/>
                </a:solidFill>
                <a:latin typeface="Amiri" pitchFamily="2" charset="-78"/>
                <a:cs typeface="Amiri" pitchFamily="2" charset="-78"/>
              </a:rPr>
              <a:t>لِأَنَّ</a:t>
            </a:r>
            <a:pPr rtl="1" algn="ctr" indent="0" marL="0">
              <a:lnSpc>
                <a:spcPct val="120000"/>
              </a:lnSpc>
              <a:buNone/>
            </a:pPr>
            <a:r>
              <a:rPr lang="ar-SA" altLang="en-US" sz="1550" b="1" dirty="0">
                <a:solidFill>
                  <a:srgbClr val="1B3B6F"/>
                </a:solidFill>
                <a:latin typeface="Amiri" pitchFamily="2" charset="-78"/>
                <a:cs typeface="Amiri" pitchFamily="2" charset="-78"/>
              </a:rPr>
              <a:t> المَدْرَسَةَ تَبْدَأُ مُبَكِّرًا.</a:t>
            </a:r>
            <a:endParaRPr lang="ar-SA" sz="1550" dirty="0"/>
          </a:p>
        </p:txBody>
      </p:sp>
      <p:sp>
        <p:nvSpPr>
          <p:cNvPr id="42" name="Shape 39"/>
          <p:cNvSpPr/>
          <p:nvPr/>
        </p:nvSpPr>
        <p:spPr>
          <a:xfrm>
            <a:off x="5648706" y="3419856"/>
            <a:ext cx="1954530" cy="822960"/>
          </a:xfrm>
          <a:prstGeom prst="roundRect">
            <a:avLst>
              <a:gd name="adj" fmla="val 6667"/>
            </a:avLst>
          </a:prstGeom>
          <a:solidFill>
            <a:srgbClr val="FDF3E3"/>
          </a:solidFill>
          <a:ln w="9525">
            <a:solidFill>
              <a:srgbClr val="FDF3E3"/>
            </a:solidFill>
            <a:prstDash val="solid"/>
          </a:ln>
        </p:spPr>
      </p:sp>
      <p:sp>
        <p:nvSpPr>
          <p:cNvPr id="43" name="Text 40"/>
          <p:cNvSpPr txBox="1"/>
          <p:nvPr/>
        </p:nvSpPr>
        <p:spPr>
          <a:xfrm>
            <a:off x="5721858" y="3419856"/>
            <a:ext cx="1808226"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0E7C86"/>
                </a:solidFill>
                <a:latin typeface="Amiri" pitchFamily="2" charset="-78"/>
                <a:cs typeface="Amiri" pitchFamily="2" charset="-78"/>
              </a:rPr>
              <a:t>مَثَلًا</a:t>
            </a:r>
            <a:pPr rtl="1" algn="ctr" indent="0" marL="0">
              <a:lnSpc>
                <a:spcPct val="120000"/>
              </a:lnSpc>
              <a:buNone/>
            </a:pPr>
            <a:r>
              <a:rPr lang="ar-SA" altLang="en-US" sz="1550" b="1" dirty="0">
                <a:solidFill>
                  <a:srgbClr val="1B3B6F"/>
                </a:solidFill>
                <a:latin typeface="Amiri" pitchFamily="2" charset="-78"/>
                <a:cs typeface="Amiri" pitchFamily="2" charset="-78"/>
              </a:rPr>
              <a:t>، الحِصَّةُ الأُولَى فِي الثَّامِنَةِ وَالثُّلُثِ.</a:t>
            </a:r>
            <a:endParaRPr lang="ar-SA" sz="1550" dirty="0"/>
          </a:p>
        </p:txBody>
      </p:sp>
      <p:sp>
        <p:nvSpPr>
          <p:cNvPr id="44" name="Shape 41"/>
          <p:cNvSpPr/>
          <p:nvPr/>
        </p:nvSpPr>
        <p:spPr>
          <a:xfrm>
            <a:off x="3584448" y="3419856"/>
            <a:ext cx="1954530" cy="822960"/>
          </a:xfrm>
          <a:prstGeom prst="roundRect">
            <a:avLst>
              <a:gd name="adj" fmla="val 6667"/>
            </a:avLst>
          </a:prstGeom>
          <a:solidFill>
            <a:srgbClr val="F1ECF7"/>
          </a:solidFill>
          <a:ln w="9525">
            <a:solidFill>
              <a:srgbClr val="F1ECF7"/>
            </a:solidFill>
            <a:prstDash val="solid"/>
          </a:ln>
        </p:spPr>
      </p:sp>
      <p:sp>
        <p:nvSpPr>
          <p:cNvPr id="45" name="Text 42"/>
          <p:cNvSpPr txBox="1"/>
          <p:nvPr/>
        </p:nvSpPr>
        <p:spPr>
          <a:xfrm>
            <a:off x="3657600" y="3419856"/>
            <a:ext cx="1808226"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0E7C86"/>
                </a:solidFill>
                <a:latin typeface="Amiri" pitchFamily="2" charset="-78"/>
                <a:cs typeface="Amiri" pitchFamily="2" charset="-78"/>
              </a:rPr>
              <a:t>أَمَّا</a:t>
            </a:r>
            <a:pPr rtl="1" algn="ctr" indent="0" marL="0">
              <a:lnSpc>
                <a:spcPct val="120000"/>
              </a:lnSpc>
              <a:buNone/>
            </a:pPr>
            <a:r>
              <a:rPr lang="ar-SA" altLang="en-US" sz="1550" b="1" dirty="0">
                <a:solidFill>
                  <a:srgbClr val="1B3B6F"/>
                </a:solidFill>
                <a:latin typeface="Amiri" pitchFamily="2" charset="-78"/>
                <a:cs typeface="Amiri" pitchFamily="2" charset="-78"/>
              </a:rPr>
              <a:t> يَوْمُ السَّبْتِ </a:t>
            </a:r>
            <a:pPr rtl="1" algn="ctr" indent="0" marL="0">
              <a:lnSpc>
                <a:spcPct val="120000"/>
              </a:lnSpc>
              <a:buNone/>
            </a:pPr>
            <a:r>
              <a:rPr lang="ar-SA" altLang="en-US" sz="1550" b="1" dirty="0">
                <a:solidFill>
                  <a:srgbClr val="0E7C86"/>
                </a:solidFill>
                <a:latin typeface="Amiri" pitchFamily="2" charset="-78"/>
                <a:cs typeface="Amiri" pitchFamily="2" charset="-78"/>
              </a:rPr>
              <a:t>فَأَنَامُ</a:t>
            </a:r>
            <a:pPr rtl="1" algn="ctr" indent="0" marL="0">
              <a:lnSpc>
                <a:spcPct val="120000"/>
              </a:lnSpc>
              <a:buNone/>
            </a:pPr>
            <a:r>
              <a:rPr lang="ar-SA" altLang="en-US" sz="1550" b="1" dirty="0">
                <a:solidFill>
                  <a:srgbClr val="1B3B6F"/>
                </a:solidFill>
                <a:latin typeface="Amiri" pitchFamily="2" charset="-78"/>
                <a:cs typeface="Amiri" pitchFamily="2" charset="-78"/>
              </a:rPr>
              <a:t> أَطْوَلَ.</a:t>
            </a:r>
            <a:endParaRPr lang="ar-SA" sz="1550" dirty="0"/>
          </a:p>
        </p:txBody>
      </p:sp>
      <p:sp>
        <p:nvSpPr>
          <p:cNvPr id="46" name="Text 43"/>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Core: Point + Reason. Develop: + Example. Stretch: + Contrast, then “this means that …”.</a:t>
            </a:r>
            <a:endParaRPr lang="en-US" sz="12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FOCUS · PART 2 · REPAIR ERRORS BY CATEGORY (WEBSITE RULE + D1 GRAMMAR VAULT)</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Name the rule, then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حَسَبَ القَاعِدَةِ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Error family</a:t>
            </a:r>
            <a:endParaRPr lang="en-US" sz="1100" dirty="0"/>
          </a:p>
        </p:txBody>
      </p:sp>
      <p:sp>
        <p:nvSpPr>
          <p:cNvPr id="17" name="Text 14"/>
          <p:cNvSpPr txBox="1"/>
          <p:nvPr/>
        </p:nvSpPr>
        <p:spPr>
          <a:xfrm>
            <a:off x="6044184" y="1810512"/>
            <a:ext cx="3236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Wrong</a:t>
            </a:r>
            <a:endParaRPr lang="en-US" sz="1100" dirty="0"/>
          </a:p>
        </p:txBody>
      </p:sp>
      <p:sp>
        <p:nvSpPr>
          <p:cNvPr id="18" name="Text 15"/>
          <p:cNvSpPr txBox="1"/>
          <p:nvPr/>
        </p:nvSpPr>
        <p:spPr>
          <a:xfrm>
            <a:off x="2660904" y="1810512"/>
            <a:ext cx="3236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Right</a:t>
            </a:r>
            <a:endParaRPr lang="en-US" sz="1100" dirty="0"/>
          </a:p>
        </p:txBody>
      </p:sp>
      <p:sp>
        <p:nvSpPr>
          <p:cNvPr id="19" name="Text 16"/>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464040"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 prefix (I / he / she)</a:t>
            </a:r>
            <a:endParaRPr lang="en-US" sz="1100" dirty="0"/>
          </a:p>
        </p:txBody>
      </p:sp>
      <p:sp>
        <p:nvSpPr>
          <p:cNvPr id="22" name="Text 19"/>
          <p:cNvSpPr txBox="1"/>
          <p:nvPr/>
        </p:nvSpPr>
        <p:spPr>
          <a:xfrm>
            <a:off x="6062472" y="2267712"/>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أَنَا يَسْتَيْقِظُ · أُخْتِي يَعُودُ</a:t>
            </a:r>
            <a:endParaRPr lang="ar-SA" sz="2400" dirty="0"/>
          </a:p>
        </p:txBody>
      </p:sp>
      <p:sp>
        <p:nvSpPr>
          <p:cNvPr id="23" name="Text 20"/>
          <p:cNvSpPr txBox="1"/>
          <p:nvPr/>
        </p:nvSpPr>
        <p:spPr>
          <a:xfrm>
            <a:off x="2679192" y="2267712"/>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أَنَا </a:t>
            </a:r>
            <a:pPr rtl="1" algn="ctr" indent="0" marL="0">
              <a:buNone/>
            </a:pPr>
            <a:r>
              <a:rPr lang="ar-SA" altLang="en-US" sz="2400" b="1" dirty="0">
                <a:solidFill>
                  <a:srgbClr val="1D5FBF"/>
                </a:solidFill>
                <a:latin typeface="Amiri" pitchFamily="2" charset="-78"/>
                <a:cs typeface="Amiri" pitchFamily="2" charset="-78"/>
              </a:rPr>
              <a:t>أَ</a:t>
            </a:r>
            <a:pPr rtl="1" algn="ctr" indent="0" marL="0">
              <a:buNone/>
            </a:pPr>
            <a:r>
              <a:rPr lang="ar-SA" altLang="en-US" sz="2400" b="1" dirty="0">
                <a:solidFill>
                  <a:srgbClr val="1B3B6F"/>
                </a:solidFill>
                <a:latin typeface="Amiri" pitchFamily="2" charset="-78"/>
                <a:cs typeface="Amiri" pitchFamily="2" charset="-78"/>
              </a:rPr>
              <a:t>سْتَيْقِظُ · أُخْتِي </a:t>
            </a:r>
            <a:pPr rtl="1" algn="ctr" indent="0" marL="0">
              <a:buNone/>
            </a:pPr>
            <a:r>
              <a:rPr lang="ar-SA" altLang="en-US" sz="2400" b="1" dirty="0">
                <a:solidFill>
                  <a:srgbClr val="D6336C"/>
                </a:solidFill>
                <a:latin typeface="Amiri" pitchFamily="2" charset="-78"/>
                <a:cs typeface="Amiri" pitchFamily="2" charset="-78"/>
              </a:rPr>
              <a:t>تَ</a:t>
            </a:r>
            <a:pPr rtl="1" algn="ctr" indent="0" marL="0">
              <a:buNone/>
            </a:pPr>
            <a:r>
              <a:rPr lang="ar-SA" altLang="en-US" sz="2400" b="1" dirty="0">
                <a:solidFill>
                  <a:srgbClr val="1B3B6F"/>
                </a:solidFill>
                <a:latin typeface="Amiri" pitchFamily="2" charset="-78"/>
                <a:cs typeface="Amiri" pitchFamily="2" charset="-78"/>
              </a:rPr>
              <a:t>عُودُ</a:t>
            </a:r>
            <a:endParaRPr lang="ar-SA" sz="2400" dirty="0"/>
          </a:p>
        </p:txBody>
      </p:sp>
      <p:sp>
        <p:nvSpPr>
          <p:cNvPr id="24" name="Text 21"/>
          <p:cNvSpPr txBox="1"/>
          <p:nvPr/>
        </p:nvSpPr>
        <p:spPr>
          <a:xfrm>
            <a:off x="566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D1-L01, D1-L06</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464040"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Clock time (past / to)</a:t>
            </a:r>
            <a:endParaRPr lang="en-US" sz="1100" dirty="0"/>
          </a:p>
        </p:txBody>
      </p:sp>
      <p:sp>
        <p:nvSpPr>
          <p:cNvPr id="29" name="Text 26"/>
          <p:cNvSpPr txBox="1"/>
          <p:nvPr/>
        </p:nvSpPr>
        <p:spPr>
          <a:xfrm>
            <a:off x="6062472" y="3004718"/>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٦:٤٥ = السَّادِسَةُ إِلَّا الرُّبْعَ</a:t>
            </a:r>
            <a:endParaRPr lang="ar-SA" sz="2400" dirty="0"/>
          </a:p>
        </p:txBody>
      </p:sp>
      <p:sp>
        <p:nvSpPr>
          <p:cNvPr id="30" name="Text 27"/>
          <p:cNvSpPr txBox="1"/>
          <p:nvPr/>
        </p:nvSpPr>
        <p:spPr>
          <a:xfrm>
            <a:off x="2679192" y="3004718"/>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٦:٤٥ = </a:t>
            </a:r>
            <a:pPr rtl="1" algn="ctr" indent="0" marL="0">
              <a:buNone/>
            </a:pPr>
            <a:r>
              <a:rPr lang="ar-SA" altLang="en-US" sz="2400" b="1" dirty="0">
                <a:solidFill>
                  <a:srgbClr val="0E7C86"/>
                </a:solidFill>
                <a:latin typeface="Amiri" pitchFamily="2" charset="-78"/>
                <a:cs typeface="Amiri" pitchFamily="2" charset="-78"/>
              </a:rPr>
              <a:t>السَّابِعَةُ</a:t>
            </a:r>
            <a:pPr rtl="1" algn="ctr" indent="0" marL="0">
              <a:buNone/>
            </a:pPr>
            <a:r>
              <a:rPr lang="ar-SA" altLang="en-US" sz="2400" b="1" dirty="0">
                <a:solidFill>
                  <a:srgbClr val="1B3B6F"/>
                </a:solidFill>
                <a:latin typeface="Amiri" pitchFamily="2" charset="-78"/>
                <a:cs typeface="Amiri" pitchFamily="2" charset="-78"/>
              </a:rPr>
              <a:t> إِلَّا الرُّبْعَ</a:t>
            </a:r>
            <a:endParaRPr lang="ar-SA" sz="2400" dirty="0"/>
          </a:p>
        </p:txBody>
      </p:sp>
      <p:sp>
        <p:nvSpPr>
          <p:cNvPr id="31" name="Text 28"/>
          <p:cNvSpPr txBox="1"/>
          <p:nvPr/>
        </p:nvSpPr>
        <p:spPr>
          <a:xfrm>
            <a:off x="566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D1-L02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464040"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after “an”</a:t>
            </a:r>
            <a:endParaRPr lang="en-US" sz="1100" dirty="0"/>
          </a:p>
        </p:txBody>
      </p:sp>
      <p:sp>
        <p:nvSpPr>
          <p:cNvPr id="36" name="Text 33"/>
          <p:cNvSpPr txBox="1"/>
          <p:nvPr/>
        </p:nvSpPr>
        <p:spPr>
          <a:xfrm>
            <a:off x="6062472" y="3741725"/>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قَبْلَ أَنْ أَخْرُجُ</a:t>
            </a:r>
            <a:endParaRPr lang="ar-SA" sz="2400" dirty="0"/>
          </a:p>
        </p:txBody>
      </p:sp>
      <p:sp>
        <p:nvSpPr>
          <p:cNvPr id="37" name="Text 34"/>
          <p:cNvSpPr txBox="1"/>
          <p:nvPr/>
        </p:nvSpPr>
        <p:spPr>
          <a:xfrm>
            <a:off x="2679192" y="3741725"/>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قَبْلَ أَنْ أَخْرُ</a:t>
            </a:r>
            <a:pPr rtl="1" algn="ctr" indent="0" marL="0">
              <a:buNone/>
            </a:pPr>
            <a:r>
              <a:rPr lang="ar-SA" altLang="en-US" sz="2400" b="1" dirty="0">
                <a:solidFill>
                  <a:srgbClr val="D6336C"/>
                </a:solidFill>
                <a:latin typeface="Amiri" pitchFamily="2" charset="-78"/>
                <a:cs typeface="Amiri" pitchFamily="2" charset="-78"/>
              </a:rPr>
              <a:t>جَ</a:t>
            </a:r>
            <a:endParaRPr lang="ar-SA" sz="2400" dirty="0"/>
          </a:p>
        </p:txBody>
      </p:sp>
      <p:sp>
        <p:nvSpPr>
          <p:cNvPr id="38" name="Text 35"/>
          <p:cNvSpPr txBox="1"/>
          <p:nvPr/>
        </p:nvSpPr>
        <p:spPr>
          <a:xfrm>
            <a:off x="566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D1-L04</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464040"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Asking a girl</a:t>
            </a:r>
            <a:endParaRPr lang="en-US" sz="1100" dirty="0"/>
          </a:p>
        </p:txBody>
      </p:sp>
      <p:sp>
        <p:nvSpPr>
          <p:cNvPr id="41" name="Text 38"/>
          <p:cNvSpPr txBox="1"/>
          <p:nvPr/>
        </p:nvSpPr>
        <p:spPr>
          <a:xfrm>
            <a:off x="6062472" y="4478731"/>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 تَسْتَيْقِظُ؟</a:t>
            </a:r>
            <a:endParaRPr lang="ar-SA" sz="2400" dirty="0"/>
          </a:p>
        </p:txBody>
      </p:sp>
      <p:sp>
        <p:nvSpPr>
          <p:cNvPr id="42" name="Text 39"/>
          <p:cNvSpPr txBox="1"/>
          <p:nvPr/>
        </p:nvSpPr>
        <p:spPr>
          <a:xfrm>
            <a:off x="2679192" y="4478731"/>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 تَسْتَيْقِظِ</a:t>
            </a:r>
            <a:pPr rtl="1" algn="ctr" indent="0" marL="0">
              <a:buNone/>
            </a:pPr>
            <a:r>
              <a:rPr lang="ar-SA" altLang="en-US" sz="2400" b="1" dirty="0">
                <a:solidFill>
                  <a:srgbClr val="D6336C"/>
                </a:solidFill>
                <a:latin typeface="Amiri" pitchFamily="2" charset="-78"/>
                <a:cs typeface="Amiri" pitchFamily="2" charset="-78"/>
              </a:rPr>
              <a:t>ينَ</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43" name="Text 40"/>
          <p:cNvSpPr txBox="1"/>
          <p:nvPr/>
        </p:nvSpPr>
        <p:spPr>
          <a:xfrm>
            <a:off x="566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D1-L07</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464040"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 for … fa-</a:t>
            </a:r>
            <a:endParaRPr lang="en-US" sz="1100" dirty="0"/>
          </a:p>
        </p:txBody>
      </p:sp>
      <p:sp>
        <p:nvSpPr>
          <p:cNvPr id="46" name="Text 43"/>
          <p:cNvSpPr txBox="1"/>
          <p:nvPr/>
        </p:nvSpPr>
        <p:spPr>
          <a:xfrm>
            <a:off x="6062472" y="5215738"/>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أَمَّا السَّبْتُ أَسْتَرِيحُ</a:t>
            </a:r>
            <a:endParaRPr lang="ar-SA" sz="2400" dirty="0"/>
          </a:p>
        </p:txBody>
      </p:sp>
      <p:sp>
        <p:nvSpPr>
          <p:cNvPr id="47" name="Text 44"/>
          <p:cNvSpPr txBox="1"/>
          <p:nvPr/>
        </p:nvSpPr>
        <p:spPr>
          <a:xfrm>
            <a:off x="2679192" y="5215738"/>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أَمَّا السَّبْتُ </a:t>
            </a:r>
            <a:pPr rtl="1" algn="ctr" indent="0" marL="0">
              <a:buNone/>
            </a:pPr>
            <a:r>
              <a:rPr lang="ar-SA" altLang="en-US" sz="2400" b="1" dirty="0">
                <a:solidFill>
                  <a:srgbClr val="0E7C86"/>
                </a:solidFill>
                <a:latin typeface="Amiri" pitchFamily="2" charset="-78"/>
                <a:cs typeface="Amiri" pitchFamily="2" charset="-78"/>
              </a:rPr>
              <a:t>فَأَسْتَرِيحُ</a:t>
            </a:r>
            <a:endParaRPr lang="ar-SA" sz="2400" dirty="0"/>
          </a:p>
        </p:txBody>
      </p:sp>
      <p:sp>
        <p:nvSpPr>
          <p:cNvPr id="48" name="Text 45"/>
          <p:cNvSpPr txBox="1"/>
          <p:nvPr/>
        </p:nvSpPr>
        <p:spPr>
          <a:xfrm>
            <a:off x="566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D1-L03, D1-L08</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Say the family first (“person prefix!”), then the correction. Naming the rule makes the fix stick.</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Controlling range and cohesion in speaking and writing</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00" b="1" dirty="0">
                <a:solidFill>
                  <a:srgbClr val="8A6D1E"/>
                </a:solidFill>
                <a:latin typeface="Amiri" pitchFamily="2" charset="-78"/>
                <a:cs typeface="Amiri" pitchFamily="2" charset="-78"/>
              </a:rPr>
              <a:t>ضَبْطُ التَّنَوُّعِ وَالتَّرَابُطِ فِي التَّحَدُّثِ وَالكِتَابَةِ</a:t>
            </a:r>
            <a:endParaRPr lang="ar-SA" sz="22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Build Point + Reason + Example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نُقْطَةٌ + لِأَنَّ + مِثَالٌ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F2A37"/>
                </a:solidFill>
                <a:latin typeface="Amiri" pitchFamily="2" charset="-78"/>
                <a:cs typeface="Amiri" pitchFamily="2" charset="-78"/>
              </a:rPr>
              <a:t>أُفَضِّلُ الرُّوتِينَ المُنَظَّمَ لِأَنَّهُ يُقَلِّلُ التَّوَتُّرَ. عَلَى سَبِيلِ المِثَالِ، أُحَضِّرُ حَقِيبَتِي لَيْلًا.</a:t>
            </a:r>
            <a:endParaRPr lang="ar-SA" sz="19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Add comparison or qualification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بَيْنَمَا · مَعَ ذٰلِكَ · أَمَّا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أَسْتَيْقِظُ مُبَكِّرًا فِي الأُسْبُوعِ، بَيْنَمَا أَنَامُ أَطْوَلَ يَوْمَ السَّبْتِ.</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Repair errors by category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نَمَطُ الفِعْلِ · الفَاعِلُ · أَنْ · الوَقْتُ · التَّكْرَارُ</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أَنَا يَسْتَيْقِظُ ← أَنَا أَسْتَيْقِظُ   ·   قَبْلَ أَنْ أَخْرُجُ ← قَبْلَ أَنْ أَخْرُجَ</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Speak from cue words, not a written script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كَلِمَاتٌ مِفْتَاحِيَّةٌ → إِجَابَةٌ طَبِيعِيَّةٌ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السُّؤَالُ: رُوتِينُ الصَّبَاحِ.   ·   الكَلِمَاتُ: ٦:٣٠ · إِفْطَار · حَافِلَة · سَبَب.</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first in an extended answer?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unrelated example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memorised conclusion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direct point</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error category is </a:t>
            </a:r>
            <a:pPr algn="l" indent="0" marL="0">
              <a:buNone/>
            </a:pPr>
            <a:r>
              <a:rPr lang="ar-SA" altLang="en-US" sz="1650" b="1" dirty="0">
                <a:solidFill>
                  <a:srgbClr val="1B3B6F"/>
                </a:solidFill>
                <a:latin typeface="Amiri" pitchFamily="2" charset="-78"/>
                <a:cs typeface="Amiri" pitchFamily="2" charset="-78"/>
              </a:rPr>
              <a:t>أَنَا يَسْتَيْقِظُ؟</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 prefix</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 phrase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frequency</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error category is </a:t>
            </a:r>
            <a:pPr algn="l" indent="0" marL="0">
              <a:buNone/>
            </a:pPr>
            <a:r>
              <a:rPr lang="ar-SA" altLang="en-US" sz="1650" b="1" dirty="0">
                <a:solidFill>
                  <a:srgbClr val="1B3B6F"/>
                </a:solidFill>
                <a:latin typeface="Amiri" pitchFamily="2" charset="-78"/>
                <a:cs typeface="Amiri" pitchFamily="2" charset="-78"/>
              </a:rPr>
              <a:t>قَبْلَ أَنْ أَخْرُجُ؟</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possessive suffix</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verb after </a:t>
            </a:r>
            <a:pPr algn="l" indent="0" marL="0">
              <a:buNone/>
            </a:pPr>
            <a:r>
              <a:rPr lang="ar-SA" altLang="en-US" sz="1650" dirty="0">
                <a:solidFill>
                  <a:srgbClr val="1F2A37"/>
                </a:solidFill>
                <a:latin typeface="Amiri" pitchFamily="2" charset="-78"/>
                <a:cs typeface="Amiri" pitchFamily="2" charset="-78"/>
              </a:rPr>
              <a:t>أَنْ</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question word</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adds qualification or contrast?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ذٰلِكَ</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أَوَّلًا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السَّادِسَةِ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first in an extended answer?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unrelated example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memorised conclusion</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direct point</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Answer the exact question first.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error category is </a:t>
            </a:r>
            <a:pPr algn="l" indent="0" marL="0">
              <a:buNone/>
            </a:pPr>
            <a:r>
              <a:rPr lang="ar-SA" altLang="en-US" sz="1650" b="1" dirty="0">
                <a:solidFill>
                  <a:srgbClr val="1B3B6F"/>
                </a:solidFill>
                <a:latin typeface="Amiri" pitchFamily="2" charset="-78"/>
                <a:cs typeface="Amiri" pitchFamily="2" charset="-78"/>
              </a:rPr>
              <a:t>أَنَا يَسْتَيْقِظُ؟</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person prefix</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time phrase</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frequency</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error category is </a:t>
            </a:r>
            <a:pPr algn="l" indent="0" marL="0">
              <a:buNone/>
            </a:pPr>
            <a:r>
              <a:rPr lang="ar-SA" altLang="en-US" sz="1650" b="1" dirty="0">
                <a:solidFill>
                  <a:srgbClr val="1B3B6F"/>
                </a:solidFill>
                <a:latin typeface="Amiri" pitchFamily="2" charset="-78"/>
                <a:cs typeface="Amiri" pitchFamily="2" charset="-78"/>
              </a:rPr>
              <a:t>قَبْلَ أَنْ أَخْرُجُ؟</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possessive suffix</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verb after </a:t>
            </a:r>
            <a:pPr algn="l" indent="0" marL="0">
              <a:buNone/>
            </a:pPr>
            <a:r>
              <a:rPr lang="ar-SA" altLang="en-US" sz="1650" b="1" dirty="0">
                <a:solidFill>
                  <a:srgbClr val="1F2A37"/>
                </a:solidFill>
                <a:latin typeface="Amiri" pitchFamily="2" charset="-78"/>
                <a:cs typeface="Amiri" pitchFamily="2" charset="-78"/>
              </a:rPr>
              <a:t>أَنْ</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question word</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أَخْرُجَ</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adds qualification or contrast?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 ذٰلِكَ</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أَوَّلًا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السَّادِسَةِ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مَعَ ذٰلِكَ</a:t>
            </a:r>
            <a:pPr algn="l" indent="0" marL="0">
              <a:buNone/>
            </a:pPr>
            <a:r>
              <a:rPr lang="en-US" sz="1050" i="1" dirty="0">
                <a:solidFill>
                  <a:srgbClr val="8A6D1E"/>
                </a:solidFill>
                <a:latin typeface="Calibri" pitchFamily="34" charset="0"/>
                <a:cs typeface="Amiri" pitchFamily="2" charset="-78"/>
              </a:rPr>
              <a:t> means however / nevertheless.</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speak from cue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Cue cards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٦:٣٠ · إِفْطَار · حَافِلَة · سَبَب</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cues, not a script.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Point + reason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أَسْتَيْقِظُ فِي السَّادِسَةِ وَالنِّصْفِ </a:t>
            </a:r>
            <a:pPr rtl="1" algn="ctr" indent="0" marL="0">
              <a:lnSpc>
                <a:spcPct val="120000"/>
              </a:lnSpc>
              <a:buNone/>
            </a:pPr>
            <a:r>
              <a:rPr lang="ar-SA" altLang="en-US" sz="1750" b="1" dirty="0">
                <a:solidFill>
                  <a:srgbClr val="0E7C86"/>
                </a:solidFill>
                <a:latin typeface="Amiri" pitchFamily="2" charset="-78"/>
                <a:cs typeface="Amiri" pitchFamily="2" charset="-78"/>
              </a:rPr>
              <a:t>لِأَنَّ</a:t>
            </a:r>
            <a:pPr rtl="1" algn="ctr" indent="0" marL="0">
              <a:lnSpc>
                <a:spcPct val="120000"/>
              </a:lnSpc>
              <a:buNone/>
            </a:pPr>
            <a:r>
              <a:rPr lang="ar-SA" altLang="en-US" sz="1750" b="1" dirty="0">
                <a:solidFill>
                  <a:srgbClr val="1B3B6F"/>
                </a:solidFill>
                <a:latin typeface="Amiri" pitchFamily="2" charset="-78"/>
                <a:cs typeface="Amiri" pitchFamily="2" charset="-78"/>
              </a:rPr>
              <a:t> الحَافِلَةَ تَأْتِي مُبَكِّرًا.</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first, then why.</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Example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عَلَى سَبِيلِ المِثَالِ</a:t>
            </a:r>
            <a:pPr rtl="1" algn="ctr" indent="0" marL="0">
              <a:lnSpc>
                <a:spcPct val="120000"/>
              </a:lnSpc>
              <a:buNone/>
            </a:pPr>
            <a:r>
              <a:rPr lang="ar-SA" altLang="en-US" sz="1750" b="1" dirty="0">
                <a:solidFill>
                  <a:srgbClr val="1B3B6F"/>
                </a:solidFill>
                <a:latin typeface="Amiri" pitchFamily="2" charset="-78"/>
                <a:cs typeface="Amiri" pitchFamily="2" charset="-78"/>
              </a:rPr>
              <a:t>، أَتَنَاوَلُ الإِفْطَارَ قَبْلَ أَنْ أَخْرُ</a:t>
            </a:r>
            <a:pPr rtl="1" algn="ctr" indent="0" marL="0">
              <a:lnSpc>
                <a:spcPct val="120000"/>
              </a:lnSpc>
              <a:buNone/>
            </a:pPr>
            <a:r>
              <a:rPr lang="ar-SA" altLang="en-US" sz="1750" b="1" dirty="0">
                <a:solidFill>
                  <a:srgbClr val="D6336C"/>
                </a:solidFill>
                <a:latin typeface="Amiri" pitchFamily="2" charset="-78"/>
                <a:cs typeface="Amiri" pitchFamily="2" charset="-78"/>
              </a:rPr>
              <a:t>جَ</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example with a D1 structure.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 + check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مَعَ ذٰلِكَ</a:t>
            </a:r>
            <a:pPr rtl="1" algn="ctr" indent="0" marL="0">
              <a:lnSpc>
                <a:spcPct val="120000"/>
              </a:lnSpc>
              <a:buNone/>
            </a:pPr>
            <a:r>
              <a:rPr lang="ar-SA" altLang="en-US" sz="1750" b="1" dirty="0">
                <a:solidFill>
                  <a:srgbClr val="1B3B6F"/>
                </a:solidFill>
                <a:latin typeface="Amiri" pitchFamily="2" charset="-78"/>
                <a:cs typeface="Amiri" pitchFamily="2" charset="-78"/>
              </a:rPr>
              <a:t>، أَنَامُ أَطْوَلَ يَوْمَ السَّبْتِ.</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Then re-check every verb.</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REASON / CONTRAST</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EXAMPLE</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CHECKED ENDING</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أَسْتَيْقِظُ فِي السَّادِسَةِ وَالنِّصْفِ </a:t>
            </a:r>
            <a:pPr rtl="1" algn="r" indent="0" marL="0">
              <a:lnSpc>
                <a:spcPct val="120000"/>
              </a:lnSpc>
              <a:buNone/>
            </a:pPr>
            <a:r>
              <a:rPr lang="ar-SA" altLang="en-US" sz="1400" b="1" dirty="0">
                <a:solidFill>
                  <a:srgbClr val="0E7C86"/>
                </a:solidFill>
                <a:latin typeface="Amiri" pitchFamily="2" charset="-78"/>
                <a:cs typeface="Amiri" pitchFamily="2" charset="-78"/>
              </a:rPr>
              <a:t>لِأَنَّ</a:t>
            </a:r>
            <a:pPr rtl="1" algn="r" indent="0" marL="0">
              <a:lnSpc>
                <a:spcPct val="120000"/>
              </a:lnSpc>
              <a:buNone/>
            </a:pPr>
            <a:r>
              <a:rPr lang="ar-SA" altLang="en-US" sz="1400" b="1" dirty="0">
                <a:solidFill>
                  <a:srgbClr val="1B3B6F"/>
                </a:solidFill>
                <a:latin typeface="Amiri" pitchFamily="2" charset="-78"/>
                <a:cs typeface="Amiri" pitchFamily="2" charset="-78"/>
              </a:rPr>
              <a:t> الحَافِلَةَ تَأْتِي مُبَكِّرًا. </a:t>
            </a:r>
            <a:pPr rtl="1" algn="r" indent="0" marL="0">
              <a:lnSpc>
                <a:spcPct val="120000"/>
              </a:lnSpc>
              <a:buNone/>
            </a:pPr>
            <a:r>
              <a:rPr lang="ar-SA" altLang="en-US" sz="1400" b="1" dirty="0">
                <a:solidFill>
                  <a:srgbClr val="1D5FBF"/>
                </a:solidFill>
                <a:latin typeface="Amiri" pitchFamily="2" charset="-78"/>
                <a:cs typeface="Amiri" pitchFamily="2" charset="-78"/>
              </a:rPr>
              <a:t>عَلَى سَبِيلِ المِثَالِ</a:t>
            </a:r>
            <a:pPr rtl="1" algn="r" indent="0" marL="0">
              <a:lnSpc>
                <a:spcPct val="120000"/>
              </a:lnSpc>
              <a:buNone/>
            </a:pPr>
            <a:r>
              <a:rPr lang="ar-SA" altLang="en-US" sz="1400" b="1" dirty="0">
                <a:solidFill>
                  <a:srgbClr val="1B3B6F"/>
                </a:solidFill>
                <a:latin typeface="Amiri" pitchFamily="2" charset="-78"/>
                <a:cs typeface="Amiri" pitchFamily="2" charset="-78"/>
              </a:rPr>
              <a:t>، أَتَنَاوَلُ الإِفْطَارَ قَبْلَ أَنْ أَخْرُ</a:t>
            </a:r>
            <a:pPr rtl="1" algn="r" indent="0" marL="0">
              <a:lnSpc>
                <a:spcPct val="120000"/>
              </a:lnSpc>
              <a:buNone/>
            </a:pPr>
            <a:r>
              <a:rPr lang="ar-SA" altLang="en-US" sz="1400" b="1" dirty="0">
                <a:solidFill>
                  <a:srgbClr val="D6336C"/>
                </a:solidFill>
                <a:latin typeface="Amiri" pitchFamily="2" charset="-78"/>
                <a:cs typeface="Amiri" pitchFamily="2" charset="-78"/>
              </a:rPr>
              <a:t>جَ</a:t>
            </a:r>
            <a:pPr rtl="1" algn="r" indent="0" marL="0">
              <a:lnSpc>
                <a:spcPct val="120000"/>
              </a:lnSpc>
              <a:buNone/>
            </a:pPr>
            <a:r>
              <a:rPr lang="ar-SA" altLang="en-US" sz="1400" b="1" dirty="0">
                <a:solidFill>
                  <a:srgbClr val="1B3B6F"/>
                </a:solidFill>
                <a:latin typeface="Amiri" pitchFamily="2" charset="-78"/>
                <a:cs typeface="Amiri" pitchFamily="2" charset="-78"/>
              </a:rPr>
              <a:t> فِي السَّابِعَةِ إِلَّا الرُّبْعَ. </a:t>
            </a:r>
            <a:pPr rtl="1" algn="r" indent="0" marL="0">
              <a:lnSpc>
                <a:spcPct val="120000"/>
              </a:lnSpc>
              <a:buNone/>
            </a:pPr>
            <a:r>
              <a:rPr lang="ar-SA" altLang="en-US" sz="1400" b="1" dirty="0">
                <a:solidFill>
                  <a:srgbClr val="0E7C86"/>
                </a:solidFill>
                <a:latin typeface="Amiri" pitchFamily="2" charset="-78"/>
                <a:cs typeface="Amiri" pitchFamily="2" charset="-78"/>
              </a:rPr>
              <a:t>مَعَ ذٰلِكَ</a:t>
            </a:r>
            <a:pPr rtl="1" algn="r" indent="0" marL="0">
              <a:lnSpc>
                <a:spcPct val="120000"/>
              </a:lnSpc>
              <a:buNone/>
            </a:pPr>
            <a:r>
              <a:rPr lang="ar-SA" altLang="en-US" sz="1400" b="1" dirty="0">
                <a:solidFill>
                  <a:srgbClr val="1B3B6F"/>
                </a:solidFill>
                <a:latin typeface="Amiri" pitchFamily="2" charset="-78"/>
                <a:cs typeface="Amiri" pitchFamily="2" charset="-78"/>
              </a:rPr>
              <a:t>، أَنَامُ أَطْوَلَ يَوْمَ السَّبْتِ، وَهٰذَا يَعْنِي أَنَّنِي أَسْتَرِيحُ جَيِّدًا.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wake up at half past six because the bus comes early. For example, I have breakfast before I leave at quarter to seven. However, I sleep longer on Saturday, and this means I rest well.</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أُفَضِّلُ الرُّوتِينَ المُنَظَّمَ لِأَنَّهُ يُسَاعِدُنِي عَلَى التَّرْكِيزِ.</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prefer an organised routine because it helps me concentrate.</a:t>
            </a:r>
            <a:endParaRPr lang="en-US" sz="1250" dirty="0"/>
          </a:p>
          <a:p>
            <a:pPr indent="0" marL="0">
              <a:buNone/>
            </a:pPr>
            <a:r>
              <a:rPr lang="en-US" sz="1050" i="1" dirty="0">
                <a:solidFill>
                  <a:srgbClr val="8A6D1E"/>
                </a:solidFill>
                <a:latin typeface="Calibri" pitchFamily="34" charset="0"/>
                <a:cs typeface="Amiri" pitchFamily="2" charset="-78"/>
              </a:rPr>
              <a:t>Point + reason.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عَلَى سَبِيلِ المِثَالِ، أُحَضِّرُ حَقِيبَتِي قَبْلَ أَنْ أَنَامَ.</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For example, I prepare my bag before sleeping.</a:t>
            </a:r>
            <a:endParaRPr lang="en-US" sz="1250" dirty="0"/>
          </a:p>
          <a:p>
            <a:pPr indent="0" marL="0">
              <a:buNone/>
            </a:pPr>
            <a:r>
              <a:rPr lang="en-US" sz="1050" i="1" dirty="0">
                <a:solidFill>
                  <a:srgbClr val="8A6D1E"/>
                </a:solidFill>
                <a:latin typeface="Calibri" pitchFamily="34" charset="0"/>
                <a:cs typeface="Amiri" pitchFamily="2" charset="-78"/>
              </a:rPr>
              <a:t>Example with target grammar.</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مَعَ ذٰلِكَ يَتَغَيَّرُ رُوتِينِي فِي العُطْلَةِ.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However, my routine changes on holiday.</a:t>
            </a:r>
            <a:endParaRPr lang="en-US" sz="1250" dirty="0"/>
          </a:p>
          <a:p>
            <a:pPr indent="0" marL="0">
              <a:buNone/>
            </a:pPr>
            <a:r>
              <a:rPr lang="en-US" sz="1050" i="1" dirty="0">
                <a:solidFill>
                  <a:srgbClr val="8A6D1E"/>
                </a:solidFill>
                <a:latin typeface="Calibri" pitchFamily="34" charset="0"/>
                <a:cs typeface="Amiri" pitchFamily="2" charset="-78"/>
              </a:rPr>
              <a:t>Qualification.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هٰذَا يَعْنِي أَنَّنِي أَبْدَأُ يَوْمِي بِهُدُوءٍ.</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means I start calmly.</a:t>
            </a:r>
            <a:endParaRPr lang="en-US" sz="1250" dirty="0"/>
          </a:p>
          <a:p>
            <a:pPr indent="0" marL="0">
              <a:buNone/>
            </a:pPr>
            <a:r>
              <a:rPr lang="en-US" sz="1050" i="1" dirty="0">
                <a:solidFill>
                  <a:srgbClr val="8A6D1E"/>
                </a:solidFill>
                <a:latin typeface="Calibri" pitchFamily="34" charset="0"/>
                <a:cs typeface="Amiri" pitchFamily="2" charset="-78"/>
              </a:rPr>
              <a:t>Link back to effect.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UPGRADE THE ANSWER (WEBSITE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answer is stronger?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 إِجَابَةٍ أَقْوَى؟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Question: </a:t>
            </a:r>
            <a:pPr algn="l" indent="0" marL="0">
              <a:buNone/>
            </a:pPr>
            <a:r>
              <a:rPr lang="ar-SA" altLang="en-US" sz="1650" b="1" dirty="0">
                <a:solidFill>
                  <a:srgbClr val="1B3B6F"/>
                </a:solidFill>
                <a:latin typeface="Amiri" pitchFamily="2" charset="-78"/>
                <a:cs typeface="Amiri" pitchFamily="2" charset="-78"/>
              </a:rPr>
              <a:t>مَتَى تَسْتَيْقِظُ وَلِمَاذَا؟</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أَسْتَيْقِظُ فِي السَّادِسَةِ وَالنِّصْفِ لِأَنَّ مَدْرَسَتِي تَبْدَأُ مُبَكِّرًا.</a:t>
            </a:r>
            <a:endParaRPr lang="ar-SA"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فِي السَّادِسَةِ.</a:t>
            </a:r>
            <a:endParaRPr lang="ar-SA"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لِأَنَّ السَّادِسَةَ.</a:t>
            </a:r>
            <a:endParaRPr lang="ar-SA"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an example?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ذٰلِكَ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سَبِيلِ المِثَالِ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مَرَّةً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sequence.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أَوَّلًا أَسْتَيْقِظُ، ثُمَّ أَتَنَاوَلُ الإِفْطَارَ، وَبَعْدَ ذٰلِكَ أَذْهَبُ إِلَى المَدْرَسَةِ.</a:t>
            </a:r>
            <a:endParaRPr lang="ar-SA" sz="1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أَخِيرًا أَسْتَيْقِظُ. أَوَّلًا أَنَامُ.</a:t>
            </a:r>
            <a:endParaRPr lang="ar-SA" sz="1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ثُمَّ رُوتِينٌ أَوَّلًا المَدْرَسَةُ.</a:t>
            </a:r>
            <a:endParaRPr lang="ar-SA"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conclusion.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cs typeface="Amiri" pitchFamily="2" charset="-78"/>
              </a:rPr>
              <a:t>رُوتِينِي جَيِّدٌ.</a:t>
            </a:r>
            <a:endParaRPr lang="ar-SA" sz="11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cs typeface="Amiri" pitchFamily="2" charset="-78"/>
              </a:rPr>
              <a:t>أَسْتَيْقِظُ فِي السَّادِسَةِ.</a:t>
            </a:r>
            <a:endParaRPr lang="ar-SA" sz="11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cs typeface="Amiri" pitchFamily="2" charset="-78"/>
              </a:rPr>
              <a:t>فِي رَأْيِي رُوتِينِي مُنَظَّمٌ لِأَنَّهُ يَجْمَعُ بَيْنَ الدِّرَاسَةِ وَالرَّاحَةِ.</a:t>
            </a:r>
            <a:endParaRPr lang="ar-SA" sz="11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The stronger answer:</a:t>
            </a:r>
            <a:endParaRPr lang="en-US" sz="1250" dirty="0"/>
          </a:p>
          <a:p>
            <a:pPr algn="l" indent="0" marL="0">
              <a:buNone/>
            </a:pPr>
            <a:r>
              <a:rPr lang="en-US" sz="1250" dirty="0">
                <a:solidFill>
                  <a:srgbClr val="1E6B52"/>
                </a:solidFill>
                <a:latin typeface="Calibri" pitchFamily="34" charset="0"/>
                <a:cs typeface="Amiri" pitchFamily="2" charset="-78"/>
              </a:rPr>
              <a:t>1. answers the question</a:t>
            </a:r>
            <a:endParaRPr lang="en-US" sz="1250" dirty="0"/>
          </a:p>
          <a:p>
            <a:pPr algn="l" indent="0" marL="0">
              <a:buNone/>
            </a:pPr>
            <a:r>
              <a:rPr lang="en-US" sz="1250" dirty="0">
                <a:solidFill>
                  <a:srgbClr val="1E6B52"/>
                </a:solidFill>
                <a:latin typeface="Calibri" pitchFamily="34" charset="0"/>
                <a:cs typeface="Amiri" pitchFamily="2" charset="-78"/>
              </a:rPr>
              <a:t>2. gives a reason (because …)</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UPGRADE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Which answer is stronger? Answers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Question: </a:t>
            </a:r>
            <a:pPr algn="l" indent="0" marL="0">
              <a:buNone/>
            </a:pPr>
            <a:r>
              <a:rPr lang="ar-SA" altLang="en-US" sz="1650" b="1" dirty="0">
                <a:solidFill>
                  <a:srgbClr val="1B3B6F"/>
                </a:solidFill>
                <a:latin typeface="Amiri" pitchFamily="2" charset="-78"/>
                <a:cs typeface="Amiri" pitchFamily="2" charset="-78"/>
              </a:rPr>
              <a:t>مَتَى تَسْتَيْقِظُ وَلِمَاذَا؟</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أَسْتَيْقِظُ فِي السَّادِسَةِ وَالنِّصْفِ لِأَنَّ مَدْرَسَتِي تَبْدَأُ مُبَكِّرًا.</a:t>
            </a:r>
            <a:endParaRPr lang="ar-SA"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فِي السَّادِسَةِ.</a:t>
            </a:r>
            <a:endParaRPr lang="ar-SA"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لِأَنَّ السَّادِسَةَ.</a:t>
            </a:r>
            <a:endParaRPr lang="ar-SA"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Point + reason, in a full sentence.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an example?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 ذٰلِكَ</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 سَبِيلِ المِثَالِ</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مَرَّةً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 example.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sequence.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cs typeface="Amiri" pitchFamily="2" charset="-78"/>
              </a:rPr>
              <a:t>أَوَّلًا أَسْتَيْقِظُ، ثُمَّ أَتَنَاوَلُ الإِفْطَارَ، وَبَعْدَ ذٰلِكَ أَذْهَبُ إِلَى المَدْرَسَةِ.</a:t>
            </a:r>
            <a:endParaRPr lang="ar-SA" sz="10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أَخِيرًا أَسْتَيْقِظُ. أَوَّلًا أَنَامُ.</a:t>
            </a:r>
            <a:endParaRPr lang="ar-SA" sz="10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ثُمَّ رُوتِينٌ أَوَّلًا المَدْرَسَةُ.</a:t>
            </a:r>
            <a:endParaRPr lang="ar-SA" sz="10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Markers match the real order.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conclusion.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150" dirty="0">
                <a:solidFill>
                  <a:srgbClr val="9AA1AB"/>
                </a:solidFill>
                <a:latin typeface="Amiri" pitchFamily="2" charset="-78"/>
                <a:cs typeface="Amiri" pitchFamily="2" charset="-78"/>
              </a:rPr>
              <a:t>رُوتِينِي جَيِّدٌ.</a:t>
            </a:r>
            <a:endParaRPr lang="ar-SA" sz="11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150" dirty="0">
                <a:solidFill>
                  <a:srgbClr val="9AA1AB"/>
                </a:solidFill>
                <a:latin typeface="Amiri" pitchFamily="2" charset="-78"/>
                <a:cs typeface="Amiri" pitchFamily="2" charset="-78"/>
              </a:rPr>
              <a:t>أَسْتَيْقِظُ فِي السَّادِسَةِ.</a:t>
            </a:r>
            <a:endParaRPr lang="ar-SA" sz="11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فِي رَأْيِي رُوتِينِي مُنَظَّمٌ لِأَنَّهُ يَجْمَعُ بَيْنَ الدِّرَاسَةِ وَالرَّاحَةِ.</a:t>
            </a:r>
            <a:endParaRPr lang="ar-SA"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Judgement + evidence.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The stronger answer:</a:t>
            </a:r>
            <a:endParaRPr lang="en-US" sz="1250" dirty="0"/>
          </a:p>
          <a:p>
            <a:pPr algn="l" indent="0" marL="0">
              <a:buNone/>
            </a:pPr>
            <a:r>
              <a:rPr lang="en-US" sz="1250" dirty="0">
                <a:solidFill>
                  <a:srgbClr val="1E6B52"/>
                </a:solidFill>
                <a:latin typeface="Calibri" pitchFamily="34" charset="0"/>
                <a:cs typeface="Amiri" pitchFamily="2" charset="-78"/>
              </a:rPr>
              <a:t>1. answers the question</a:t>
            </a:r>
            <a:endParaRPr lang="en-US" sz="1250" dirty="0"/>
          </a:p>
          <a:p>
            <a:pPr algn="l" indent="0" marL="0">
              <a:buNone/>
            </a:pPr>
            <a:r>
              <a:rPr lang="en-US" sz="1250" dirty="0">
                <a:solidFill>
                  <a:srgbClr val="1E6B52"/>
                </a:solidFill>
                <a:latin typeface="Calibri" pitchFamily="34" charset="0"/>
                <a:cs typeface="Amiri" pitchFamily="2" charset="-78"/>
              </a:rPr>
              <a:t>2. gives a reason (because …)</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What does this Arabic sentence add?</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أَسْتَيْقِظُ فِي السَّادِسَةِ وَالرُّبْعِ.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أَتَمَرَّنُ ثَلَاثَ مَرَّاتٍ فِي الأُسْبُوعِ.</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أُخْتِي تَعُودُ إِلَى البَيْتِ فِي الرَّابِعَةِ.</a:t>
            </a:r>
            <a:endParaRPr lang="ar-SA" sz="16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هُوَ يَسْتَعِدُّ لِلْمَدْرَسَةِ بُسُرْعَةٍ.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قَبْلَ أَنْ أَخْرُجَ أُرَاجِعُ جَدْوَلِي.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أُفَضِّلُ رُوتِينِي لِأَنَّهُ مُنَظَّمٌ.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أَمَّا فِي نِهَايَةِ الأُسْبُوعِ فَأَنَامُ وَقْتًا أَطْوَلَ.</a:t>
            </a:r>
            <a:endParaRPr lang="ar-SA" sz="13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بَعْدَ أَنْ أُنْهِيَ وَاجِبِي أَسْتَرِيحُ.</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Precise time or frequency</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Another person’s routine</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Reason, sequence or contrast</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Precise time or frequency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أَسْتَيْقِظُ فِي السَّادِسَةِ وَالرُّبْعِ.</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أَتَمَرَّنُ ثَلَاثَ مَرَّاتٍ فِي الأُسْبُوعِ.</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Another person’s routine</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أُخْتِي تَعُودُ إِلَى البَيْتِ فِي الرَّابِعَةِ.</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هُوَ يَسْتَعِدُّ لِلْمَدْرَسَةِ بُسُرْعَةٍ.</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Reason, sequence or contrast</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قَبْلَ أَنْ أَخْرُجَ أُرَاجِعُ جَدْوَلِي.</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أُفَضِّلُ رُوتِينِي لِأَنَّهُ مُنَظَّمٌ.</a:t>
            </a:r>
            <a:endParaRPr lang="ar-SA" sz="1800" dirty="0"/>
          </a:p>
        </p:txBody>
      </p:sp>
      <p:sp>
        <p:nvSpPr>
          <p:cNvPr id="36" name="Shape 33"/>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أَمَّا فِي نِهَايَةِ الأُسْبُوعِ فَأَنَامُ وَقْتًا أَطْوَلَ.</a:t>
            </a:r>
            <a:endParaRPr lang="ar-SA" sz="1650" dirty="0"/>
          </a:p>
        </p:txBody>
      </p:sp>
      <p:sp>
        <p:nvSpPr>
          <p:cNvPr id="38" name="Shape 35"/>
          <p:cNvSpPr/>
          <p:nvPr/>
        </p:nvSpPr>
        <p:spPr>
          <a:xfrm>
            <a:off x="594360" y="3913632"/>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913632"/>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بَعْدَ أَنْ أُنْهِيَ وَاجِبِي أَسْتَرِيحُ.</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adds a personal example?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ذٰلِكَ</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مَرَّةً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سَبِيلِ المِثَالِ</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about frequency?</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تَسْتَيْقِظُ؟</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مَرَّةً تَتَمَرَّنُ؟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تَفْعَلُ؟</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complete extended answer shape.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noun only</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point + reason + example + contrast</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list of times without actions</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error analysis name?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that the answer is wrong</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longest sentence</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exact language system</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adds a personal example?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 ذٰلِكَ</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مَرَّةً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 سَبِيلِ المِثَالِ</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means “for example”.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about frequency?</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تَسْتَيْقِظُ؟</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مَرَّةً تَتَمَرَّنُ؟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تَفْعَلُ؟</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كَمْ مَرَّةً</a:t>
            </a:r>
            <a:pPr algn="l" indent="0" marL="0">
              <a:buNone/>
            </a:pPr>
            <a:r>
              <a:rPr lang="en-US" sz="1050" i="1" dirty="0">
                <a:solidFill>
                  <a:srgbClr val="8A6D1E"/>
                </a:solidFill>
                <a:latin typeface="Calibri" pitchFamily="34" charset="0"/>
                <a:cs typeface="Amiri" pitchFamily="2" charset="-78"/>
              </a:rPr>
              <a:t> asks how often.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complete extended answer shape.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noun only</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point + reason + example + contrast</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list of times without actions</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Development comes from relevant connected detail.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error analysis name?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that the answer is wrong</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longest sentence</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exact language system</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Naming the system makes correction transferable.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أَنَا يَسْتَيْقِظُ فِي السَّادِسَةِ.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 → which prefix?</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قَبْلَ أَنْ أَخْرُجُ أُحَضِّرُ حَقِيبَتِي.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 what is the last vowel?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أُخْتِي يَعُودُ فِي الرَّابِعَةِ.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sister → which prefix?</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أَنَا يَسْتَيْقِظُ فِي السَّادِسَةِ.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أَنَا أَسْتَيْقِظُ فِي السَّادِسَةِ.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First-person singular requires </a:t>
            </a:r>
            <a:pPr algn="l" indent="0" marL="0">
              <a:buNone/>
            </a:pPr>
            <a:r>
              <a:rPr lang="ar-SA" altLang="en-US" sz="1500" b="1" dirty="0">
                <a:solidFill>
                  <a:srgbClr val="1B3B6F"/>
                </a:solidFill>
                <a:latin typeface="Amiri" pitchFamily="2" charset="-78"/>
                <a:cs typeface="Amiri" pitchFamily="2" charset="-78"/>
              </a:rPr>
              <a:t>أَـ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قَبْلَ أَنْ أَخْرُجُ أُحَضِّرُ حَقِيبَتِي.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قَبْلَ أَنْ أَخْرُجَ أُحَضِّرُ حَقِيبَتِي.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is subjunctive.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أُخْتِي يَعُودُ فِي الرَّابِعَةِ.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أُخْتِي تَعُودُ فِي الرَّابِعَةِ.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feminine subject takes </a:t>
            </a:r>
            <a:pPr algn="l" indent="0" marL="0">
              <a:buNone/>
            </a:pPr>
            <a:r>
              <a:rPr lang="ar-SA" altLang="en-US" sz="1500" b="1" dirty="0">
                <a:solidFill>
                  <a:srgbClr val="1B3B6F"/>
                </a:solidFill>
                <a:latin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developed topic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main preference?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organised school-day routine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routine at all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rigid weekend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breakfast mentioned?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it gives an exact time and sequence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compare climates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part of concentration-supporting routine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example is given?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 daily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travelling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preparing the bag at night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qualification follows </a:t>
            </a:r>
            <a:pPr algn="l" indent="0" marL="0">
              <a:buNone/>
            </a:pPr>
            <a:r>
              <a:rPr lang="ar-SA" altLang="en-US" sz="1650" b="1" dirty="0">
                <a:solidFill>
                  <a:srgbClr val="1B3B6F"/>
                </a:solidFill>
                <a:latin typeface="Amiri" pitchFamily="2" charset="-78"/>
                <a:cs typeface="Amiri" pitchFamily="2" charset="-78"/>
              </a:rPr>
              <a:t>مَعَ ذٰلِكَ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does not want excessive rigidity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dislikes family time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never rests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final judgement?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minute must be planned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 matters more than filling every minute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weekends are unimportant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عَلَى سَبِيلِ المِثَالِ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مَعَ ذٰلِكَ</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فِي رَأْيِي</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أُفَضِّلُ أَنْ أَتَّبِعَ رُوتِينًا مُنَظَّمًا فِي أَيَّامِ الدِّرَاسَةِ لِأَنَّهُ يُسَاعِدُنِي عَلَى التَّرْكِيزِ.</a:t>
            </a:r>
            <a:endParaRPr lang="ar-SA" sz="19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prefer to follow an organised routine on school days because it helps me concentrate.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أَسْتَيْقِظُ فِي السَّادِسَةِ وَالنِّصْفِ، وَأَحْرِصُ عَلَى أَنْ أَتَنَاوَلَ الإِفْطَارَ قَبْلَ أَنْ أَخْرُجَ.</a:t>
            </a:r>
            <a:endParaRPr lang="ar-SA" sz="19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wake up at half past six, and I make sure I have breakfast before I leave.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عَلَى سَبِيلِ المِثَالِ، أُحَضِّرُ حَقِيبَتِي لَيْلًا حَتَّى لَا أَنْسَى شَيْئًا.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example, I prepare my bag at night so that I don’t forget anything.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مَعَ ذٰلِكَ لَا أُرِيدُ جَدْوَلًا صَارِمًا جِدًّا؛ فَفِي نِهَايَةِ الأُسْبُوعِ أَسْتَيْقِظُ مُتَأَخِّرًا وَأَقْضِي وَقْتًا مَعَ أُسْرَتِي.</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However, I don’t want a very strict timetable; at the weekend I wake up late and spend time with my family.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رَأْيِي، التَّوَازُنُ أَهَمُّ مِنْ مَلْءِ كُلِّ دَقِيقَةٍ.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opinion, balance is more important than filling every minute.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main preference?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organised school-day routine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routine at all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rigid weekend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point is stated immediately.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breakfast mentioned?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because it gives an exact time and sequence</a:t>
            </a:r>
            <a:endParaRPr lang="en-US" sz="11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compare climates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as part of concentration-supporting routine</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supports the reasoned routine description.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example is given?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training daily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travelling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preparing the bag at night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عَلَى سَبِيلِ المِثَالِ</a:t>
            </a:r>
            <a:pPr algn="l" indent="0" marL="0">
              <a:buNone/>
            </a:pPr>
            <a:r>
              <a:rPr lang="en-US" sz="1050" i="1" dirty="0">
                <a:solidFill>
                  <a:srgbClr val="8A6D1E"/>
                </a:solidFill>
                <a:latin typeface="Calibri" pitchFamily="34" charset="0"/>
                <a:cs typeface="Amiri" pitchFamily="2" charset="-78"/>
              </a:rPr>
              <a:t> introduces it.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qualification follows </a:t>
            </a:r>
            <a:pPr algn="l" indent="0" marL="0">
              <a:buNone/>
            </a:pPr>
            <a:r>
              <a:rPr lang="ar-SA" altLang="en-US" sz="1650" b="1" dirty="0">
                <a:solidFill>
                  <a:srgbClr val="1B3B6F"/>
                </a:solidFill>
                <a:latin typeface="Amiri" pitchFamily="2" charset="-78"/>
                <a:cs typeface="Amiri" pitchFamily="2" charset="-78"/>
              </a:rPr>
              <a:t>مَعَ ذٰلِكَ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speaker does not want excessive rigidity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 dislikes family time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 never rests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answer becomes balanced.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final judgement?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minute must be planned</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balance matters more than filling every minute</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weekends are unimportant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states the judgement.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عَلَى سَبِيلِ المِثَالِ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مَعَ ذٰلِكَ</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فِي رَأْيِي</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D1 topic conversation rehearsal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رُوتِينَكَ فِي يَوْمٍ دِرَاسِيٍّ عَادِيٍّ، وَاذْكُرْ وَقْتَيْنِ دَقِيقَيْنِ.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يَفْعَلُ شَخْصٌ آخَرُ فِي أُسْرَتِكَ بَعْدَ المَدْرَسَةِ أَوِ العَمَلِ؟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مَرَّةً تَقُومُ بِنَشَاطٍ مُعَيَّنٍ فِي الأُسْبُوعِ، وَلِمَاذَا؟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قَارِنْ بَيْنَ رُوتِينِكَ فِي أَيَّامِ الدِّرَاسَةِ وَفِي نِهَايَةِ الأُسْبُوعِ.</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أَسْتَيْقِظُ فِي ___ لِأَنَّ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عَلَى سَبِيلِ المِثَالِ ،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___ مَرَّتَيْنِ فِي الأُسْبُوعِ لِأَنَّ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مَعَ ذٰلِكَ ، ___ . هٰذَا يَعْنِي 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كَيْفَ تُنَظِّمُ رُوتِينَكَ فِي أَيَّامِ الدِّرَاسَةِ؟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you organise your routine on school days?</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cs typeface="Amiri" pitchFamily="2" charset="-78"/>
              </a:rPr>
              <a:t>أَسْتَيْقِظُ فِي السَّادِسَةِ وَالنِّصْفِ، وَأُحَضِّرُ حَقِيبَتِي قَبْلَ أَنْ أَخْرُجَ. عَلَى سَبِيلِ المِثَالِ، أُكْمِلُ وَاجِبِي قَبْلَ أَنْ أَسْتَعْمِلَ هَاتِفِي. مَعَ ذٰلِكَ، فِي نِهَايَةِ الأُسْبُوعِ يَكُونُ رُوتِينِي أَكْثَرَ مَرُونَةً.</a:t>
            </a:r>
            <a:endParaRPr lang="ar-SA" sz="110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wake at half past six and prepare my bag before I leave. For example, I finish my homework before I use my phone. However, at the weekend my routine is more flexible.</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6–8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Answer three questions with point and reason.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Your school day with two exact times, one “before I …”, and one reason (because).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Sustain 30–45 seconds with example and target grammar.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family member (he / she), how often, an example and a contrast with the weekend.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Respond spontaneously to an unseen follow-up and self-correct accurately.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polished article or email about your daily and weekend routine, comparing another person. Check every verb against the grammar vault.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 يَـ ______ / أُخْتِي تَـ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 sister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cs typeface="Amiri" pitchFamily="2" charset="-78"/>
              </a:rPr>
              <a:t>______ مَرَّتَيْنِ فِي الأُسْبُوعِ ، بَيْنَمَا ______ .</a:t>
            </a:r>
            <a:endParaRPr lang="ar-SA" sz="16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twice a week, whereas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سَبِيلِ المِثَالِ ،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فِي نِهَايَةِ الأُسْبُوعِ فَـ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the weekend,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مَعَ ذٰلِكَ ، ______ . هٰذَا يَعْنِي أَنَّ ______ .</a:t>
            </a:r>
            <a:endParaRPr lang="ar-SA" sz="175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However, … This means that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أَيَّامِ الدِّرَاسَةِ أَسْتَيْقِظُ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school days I wake up at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أَتَنَاوَلُ الإِفْطَارَ قَبْلَ أَنْ أَخْرُجَ.</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breakfast before I leave.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أَذْهَبُ إِلَى المَدْرَسَةِ بِـ ______ لِأَنَّ ______ .</a:t>
            </a:r>
            <a:endParaRPr lang="ar-SA" sz="175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by … because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المَدْرَسَةِ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school I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أَنَامُ فِي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sleep at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أَسْتَيْقِظُ  ·  أَتَنَاوَلُ  ·  أَسْتَقِلُّ  ·  قَبْلَ أَنْ  ·  بَعْدَ أَنْ  ·  لِأَنَّ  ·  عَلَى سَبِيلِ المِثَالِ  ·  مَعَ ذٰلِكَ  ·  بَيْنَمَا  ·  أَمَّا … فَـ  ·  مَرَّتَيْنِ  ·  فِي رَأْيِي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polished 100–120-word article or email about your daily and weekend routine, including another person for comparison.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at least two exact times (past / to the hour).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before/after + a verb with the correct ending.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another person (he / she) for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Point + Reason + Example +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every verb against the D1 grammar vault.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أَحْرِصُ عَلَى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make sure that I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حَتَّى لَا أَنْسَى شَيْئًا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I don’t forget anything</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أُرِيدُ جَدْوَلًا صَارِمًا جِدًّا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don’t want a very strict timetable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التَّوَازُنُ أَهَمُّ مِنْ مَلْءِ كُلِّ دَقِيقَةٍ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balance is more important than filling every minute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يَعْنِي أَنَّنِي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means that I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أَسْتَيْقِظُ فِي أَيَّامِ الدِّرَاسَةِ فِي السَّادِسَةِ وَالنِّصْفِ، وَأَتَنَاوَلُ الإِفْطَارَ قَبْلَ أَنْ أَخْرُجَ مِنَ البَيْتِ فِي السَّابِعَةِ وَالرُّبْعِ. أَسْتَقِلُّ الحَافِلَةَ لِأَنَّ المَدْرَسَةَ بَعِيدَةٌ. بَعْدَ أَنْ أَعُودَ، أَسْتَرِيحُ نِصْفَ سَاعَةٍ، ثُمَّ أُكْمِلُ وَاجِبِي. أَتَمَرَّنُ مَرَّتَيْنِ فِي الأُسْبُوعِ، بَيْنَمَا تَتَمَرَّنُ أُخْتِي كُلَّ يَوْمٍ تَقْرِيبًا لِأَنَّهَا تُحِبُّ السِّبَاحَةَ. أَمَّا فِي نِهَايَةِ الأُسْبُوعِ فَأَنَامُ وَقْتًا أَطْوَلَ، وَغَالِبًا مَا أَزُورُ أَقَارِبِي؛ عَلَى سَبِيلِ المِثَالِ، نَتَنَاوَلُ الغَدَاءَ عِنْدَ جَدَّتِي يَوْمَ السَّبْتِ. مَعَ ذٰلِكَ، أُخَصِّصُ سَاعَةً يَوْمَ الأَحَدِ لِلْمُرَاجَعَةِ. فِي رَأْيِي، رُوتِينِي مُتَوَازِنٌ، وَلٰكِنَّنِي أُرِيدُ أَنْ أَنَامَ مُبَكِّرًا.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 school days I wake up at half past six, and I have breakfast before I leave the house at quarter past seven. I take the bus because school is far. After I return, I rest for half an hour, then I finish my homework. I train twice a week, whereas my sister trains almost every day because she loves swimming. As for the weekend, I sleep longer, and I often visit my relatives; for example, we have lunch at my grandmother’s on Saturday. However, I set aside an hour on Sunday for revision. In my opinion, my routine is balanced, but I want to sleep earlier.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exact times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before/after + verb</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another person (she)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example and contrast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“I” verb starts with a- or u-.</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times are correct (past / to the hour).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“before / after + an”, my verb ends in fatḥa.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an example and a contrast.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checked every verb against the grammar vault.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a:t>
            </a:r>
            <a:pPr algn="l" indent="0" marL="0">
              <a:buNone/>
            </a:pPr>
            <a:r>
              <a:rPr lang="ar-SA" altLang="en-US" sz="1650" b="1" dirty="0">
                <a:solidFill>
                  <a:srgbClr val="1B3B6F"/>
                </a:solidFill>
                <a:latin typeface="Amiri" pitchFamily="2" charset="-78"/>
                <a:cs typeface="Amiri" pitchFamily="2" charset="-78"/>
              </a:rPr>
              <a:t>أَنَا يَسْتَيْقِظُ</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أَسْتَيْقِظُ.</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تَسْتَيْقِظُ.</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نَسْتَيْقِظُ.</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a:t>
            </a:r>
            <a:pPr algn="l" indent="0" marL="0">
              <a:buNone/>
            </a:pPr>
            <a:r>
              <a:rPr lang="ar-SA" altLang="en-US" sz="1650" b="1" dirty="0">
                <a:solidFill>
                  <a:srgbClr val="1B3B6F"/>
                </a:solidFill>
                <a:latin typeface="Amiri" pitchFamily="2" charset="-78"/>
                <a:cs typeface="Amiri" pitchFamily="2" charset="-78"/>
              </a:rPr>
              <a:t>قَبْلَ أَنْ تَذْهَبُونَ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أَنْ تَذْهَبُ.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أَنْ تَذْهَبُوا.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أَنْ ذَهَبْتُمْ.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 revision target precise?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rule + task + frequency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“improve Arabic”</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 harder sometime”</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a:t>
            </a:r>
            <a:pPr algn="l" indent="0" marL="0">
              <a:buNone/>
            </a:pPr>
            <a:r>
              <a:rPr lang="ar-SA" altLang="en-US" sz="1650" b="1" dirty="0">
                <a:solidFill>
                  <a:srgbClr val="1B3B6F"/>
                </a:solidFill>
                <a:latin typeface="Amiri" pitchFamily="2" charset="-78"/>
                <a:cs typeface="Amiri" pitchFamily="2" charset="-78"/>
              </a:rPr>
              <a:t>أَنَا يَسْتَيْقِظُ</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أَنَا أَسْتَيْقِظُ.</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أَنَا تَسْتَيْقِظُ.</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أَنَا نَسْتَيْقِظُ.</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 person takes </a:t>
            </a:r>
            <a:pPr algn="l" indent="0" marL="0">
              <a:buNone/>
            </a:pPr>
            <a:r>
              <a:rPr lang="ar-SA" altLang="en-US" sz="1350" dirty="0">
                <a:solidFill>
                  <a:srgbClr val="8A6D1E"/>
                </a:solidFill>
                <a:latin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a:t>
            </a:r>
            <a:pPr algn="l" indent="0" marL="0">
              <a:buNone/>
            </a:pPr>
            <a:r>
              <a:rPr lang="ar-SA" altLang="en-US" sz="1650" b="1" dirty="0">
                <a:solidFill>
                  <a:srgbClr val="1B3B6F"/>
                </a:solidFill>
                <a:latin typeface="Amiri" pitchFamily="2" charset="-78"/>
                <a:cs typeface="Amiri" pitchFamily="2" charset="-78"/>
              </a:rPr>
              <a:t>قَبْلَ أَنْ تَذْهَبُونَ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قَبْلَ أَنْ تَذْهَبُ.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قَبْلَ أَنْ تَذْهَبُوا.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قَبْلَ أَنْ ذَهَبْتُمْ.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Drop final nūn 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 revision target precise?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rule + task + frequency</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“improve Arabic”</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 harder sometime”</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precise target identifies what and how often.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Error-analysis report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بَعْدَ المُرَاجَعَةِ وَجَدَتْ لِينَا أَنَّ أَكْثَرَ أَخْطَائِهَا يَقَعُ فِي أَرْبَعِ فِئَاتٍ. أَوَّلًا، كَانَتْ تَنْسَى تَغْيِيرَ بِدَايَةِ الفِعْلِ عِنْدَمَا يَتَغَيَّرُ الفَاعِلُ. ثَانِيًا، كَانَتْ تَكْتُبُ الضَّمَّةَ بَعْدَ «أَنْ». ثَالِثًا، كَانَتْ تَخْلِطُ بَيْنَ «وَالرُّبْعُ» وَ«إِلَّا الرُّبْعَ». وَأَخِيرًا، كَانَتْ تَذْكُرُ نَشَاطًا دُونَ أَنْ تُحَدِّدَ تَكْرَارَهُ. صَنَعَتْ جَدْوَلًا لِلْمُرَاجَعَةِ: خَمْسُ جُمَلٍ لِكُلِّ فِئَةٍ، ثُمَّ إِجَابَةٌ شَفَهِيَّةٌ تَسْتَعْمِلُ التَّرَاكِيبَ نَفْسَهَا. بَعْدَ ثَلَاثَةِ أَيَّامٍ اِنْخَفَضَ عَدَدُ الأَخْطَاءِ، لِأَنَّ التَّدْرِيبَ كَانَ مُحَدَّدًا.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بَعْدَ المُرَاجَعَةِ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after revising</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أَكْثَرُ أَخْطَائِهَا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most of her mistakes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فِئَاتٍ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categories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بِدَايَةِ الفِعْلِ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start of the verb</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الفَاعِلُ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subject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تَخْلِطُ بَيْنَ</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confuses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تَكْرَارَهُ</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frequency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إِجَابَةٌ شَفَهِيَّةٌ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spoken answer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اِنْخَفَضَ</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fell, went down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مُحَدَّدًا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specific</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Lina’s first error family?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 expressions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 prefixes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plural nouns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omitted the subject</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used the past tense</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kept the indicative ending</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time forms did she confuse?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quarter past and quarter to</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past and exact hour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morning and evening</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detail was missing from activity sentences?</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town name</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frequency</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colour</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she practise each error family?</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 sentences and a spoken answer</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translation only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copying a model paragraph</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number of errors fall?</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text became shorter</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stopped speaking</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practice was specific</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Lina’s first error family?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time expressions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person prefixes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plural nouns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forgot to change the beginning of the verb.</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omitted the subject</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used the past tense</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kept the indicative ending</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wrote the ḍamma instead of the subjunctive form.</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time forms did she confuse?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quarter past and quarter to</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 past and exact hour</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morning and evening</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وَالرُّبْعُ</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إِلَّا الرُّبْعَ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detail was missing from activity sentences?</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town name</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frequency</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colour</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named activities without saying how often.</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she practise each error family?</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five sentences and a spoken answer</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translation only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copying a model paragraph</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practice was targeted and productive.</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number of errors fall?</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text became shorter</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stopped speaking</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practice was specific</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 التَّدْرِيبَ كَانَ مُحَدَّدًا.</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Speaking-and-writing upgrade challenge</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Choose the strongest answer to:</a:t>
            </a:r>
            <a:endParaRPr lang="en-US" sz="105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مَتَى تَسْتَيْقِظُ وَلِمَاذَا؟</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فِي السَّادِسَةِ.</a:t>
            </a:r>
            <a:endParaRPr lang="ar-SA"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أَسْتَيْقِظُ فِي السَّادِسَةِ وَالنِّصْفِ لِأَنَّ مَدْرَسَتِي تَبْدَأُ مُبَكِّرًا.</a:t>
            </a:r>
            <a:endParaRPr lang="ar-SA"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لِأَنَّ السَّادِسَةَ.</a:t>
            </a:r>
            <a:endParaRPr lang="ar-SA"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best introduces a supporting example?</a:t>
            </a:r>
            <a:endParaRPr lang="en-US" sz="125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سَبِيلِ المِثَالِ</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ذٰلِكَ</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مَرَّةً</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48" name="Text 45"/>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أَنَا يَسْتَيْقِظُ فِي السَّادِسَةِ.</a:t>
            </a:r>
            <a:endParaRPr lang="ar-SA" sz="1400" dirty="0"/>
          </a:p>
        </p:txBody>
      </p:sp>
      <p:sp>
        <p:nvSpPr>
          <p:cNvPr id="49" name="Shape 46"/>
          <p:cNvSpPr/>
          <p:nvPr/>
        </p:nvSpPr>
        <p:spPr>
          <a:xfrm>
            <a:off x="8278368"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تَسْتَيْقِظُ فِي السَّادِسَةِ.</a:t>
            </a:r>
            <a:endParaRPr lang="ar-SA" sz="2050" dirty="0"/>
          </a:p>
        </p:txBody>
      </p:sp>
      <p:sp>
        <p:nvSpPr>
          <p:cNvPr id="52" name="Shape 49"/>
          <p:cNvSpPr/>
          <p:nvPr/>
        </p:nvSpPr>
        <p:spPr>
          <a:xfrm>
            <a:off x="8278368"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نَسْتَيْقِظُ فِي السَّادِسَةِ.</a:t>
            </a:r>
            <a:endParaRPr lang="ar-SA" sz="2050" dirty="0"/>
          </a:p>
        </p:txBody>
      </p:sp>
      <p:sp>
        <p:nvSpPr>
          <p:cNvPr id="55" name="Shape 52"/>
          <p:cNvSpPr/>
          <p:nvPr/>
        </p:nvSpPr>
        <p:spPr>
          <a:xfrm>
            <a:off x="8278368" y="3447288"/>
            <a:ext cx="256032" cy="256032"/>
          </a:xfrm>
          <a:prstGeom prst="ellipse">
            <a:avLst/>
          </a:prstGeom>
          <a:solidFill>
            <a:srgbClr val="F4F1EA"/>
          </a:solidFill>
          <a:ln w="12700">
            <a:solidFill>
              <a:srgbClr val="F4F1EA"/>
            </a:solidFill>
            <a:prstDash val="solid"/>
          </a:ln>
        </p:spPr>
      </p:sp>
      <p:sp>
        <p:nvSpPr>
          <p:cNvPr id="56" name="Text 5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أَسْتَيْقِظُ فِي السَّادِسَةِ.</a:t>
            </a:r>
            <a:endParaRPr lang="ar-SA" sz="2050" dirty="0"/>
          </a:p>
        </p:txBody>
      </p:sp>
      <p:sp>
        <p:nvSpPr>
          <p:cNvPr id="58" name="Shape 5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85216"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2" name="Text 59"/>
          <p:cNvSpPr txBox="1"/>
          <p:nvPr/>
        </p:nvSpPr>
        <p:spPr>
          <a:xfrm>
            <a:off x="2406701"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قَبْلَ أَنْ أَخْرُجُ مِنَ البَيْتِ أُحَضِّرُ حَقِيبَتِي.</a:t>
            </a:r>
            <a:endParaRPr lang="ar-SA" sz="1000" dirty="0"/>
          </a:p>
        </p:txBody>
      </p:sp>
      <p:sp>
        <p:nvSpPr>
          <p:cNvPr id="63" name="Shape 60"/>
          <p:cNvSpPr/>
          <p:nvPr/>
        </p:nvSpPr>
        <p:spPr>
          <a:xfrm>
            <a:off x="640080"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قَبْلَ أَنْ يَخْرُجُ مِنَ البَيْتِ أُحَضِّرُ حَقِيبَتِي.</a:t>
            </a:r>
            <a:endParaRPr lang="ar-SA" sz="1750" dirty="0"/>
          </a:p>
        </p:txBody>
      </p:sp>
      <p:sp>
        <p:nvSpPr>
          <p:cNvPr id="66" name="Shape 63"/>
          <p:cNvSpPr/>
          <p:nvPr/>
        </p:nvSpPr>
        <p:spPr>
          <a:xfrm>
            <a:off x="640080"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قَبْلَ أَخْرُجَ أَنْ مِنَ البَيْتِ أُحَضِّرُ حَقِيبَتِي.</a:t>
            </a:r>
            <a:endParaRPr lang="ar-SA" sz="1750" dirty="0"/>
          </a:p>
        </p:txBody>
      </p:sp>
      <p:sp>
        <p:nvSpPr>
          <p:cNvPr id="69" name="Shape 66"/>
          <p:cNvSpPr/>
          <p:nvPr/>
        </p:nvSpPr>
        <p:spPr>
          <a:xfrm>
            <a:off x="640080"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1" name="Text 68"/>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قَبْلَ أَنْ أَخْرُجَ مِنَ البَيْتِ أُحَضِّرُ حَقِيبَتِي.</a:t>
            </a:r>
            <a:endParaRPr lang="ar-SA" sz="17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5" name="Text 72"/>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paragraph sequence.</a:t>
            </a:r>
            <a:endParaRPr lang="en-US" sz="125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أَوَّلًا أَسْتَيْقِظُ، ثُمَّ أَتَنَاوَلُ الإِفْطَارَ، وَبَعْدَ ذٰلِكَ أَذْهَبُ إِلَى المَدْرَسَةِ.</a:t>
            </a:r>
            <a:endParaRPr lang="ar-SA" sz="1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أَخِيرًا أَسْتَيْقِظُ. أَوَّلًا أَنَامُ.</a:t>
            </a:r>
            <a:endParaRPr lang="ar-SA" sz="1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ثُمَّ رُوتِينٌ أَوَّلًا المَدْرَسَةُ.</a:t>
            </a:r>
            <a:endParaRPr lang="ar-SA" sz="1050" dirty="0"/>
          </a:p>
        </p:txBody>
      </p:sp>
      <p:sp>
        <p:nvSpPr>
          <p:cNvPr id="85" name="Shape 8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223504" y="4288536"/>
            <a:ext cx="310896" cy="310896"/>
          </a:xfrm>
          <a:prstGeom prst="ellipse">
            <a:avLst/>
          </a:prstGeom>
          <a:solidFill>
            <a:srgbClr val="1B3B6F"/>
          </a:solidFill>
          <a:ln w="12700">
            <a:solidFill>
              <a:srgbClr val="1B3B6F"/>
            </a:solidFill>
            <a:prstDash val="solid"/>
          </a:ln>
        </p:spPr>
      </p:sp>
      <p:sp>
        <p:nvSpPr>
          <p:cNvPr id="87" name="Text 8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8" name="Text 8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concluding evaluation.</a:t>
            </a:r>
            <a:endParaRPr lang="en-US" sz="1250" dirty="0"/>
          </a:p>
        </p:txBody>
      </p:sp>
      <p:sp>
        <p:nvSpPr>
          <p:cNvPr id="89" name="Shape 86"/>
          <p:cNvSpPr/>
          <p:nvPr/>
        </p:nvSpPr>
        <p:spPr>
          <a:xfrm>
            <a:off x="8278368" y="48737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رُوتِينِي جَيِّدٌ.</a:t>
            </a:r>
            <a:endParaRPr lang="ar-SA" sz="1050" dirty="0"/>
          </a:p>
        </p:txBody>
      </p:sp>
      <p:sp>
        <p:nvSpPr>
          <p:cNvPr id="92" name="Shape 89"/>
          <p:cNvSpPr/>
          <p:nvPr/>
        </p:nvSpPr>
        <p:spPr>
          <a:xfrm>
            <a:off x="8278368" y="53309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4" name="Text 91"/>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فِي رَأْيِي رُوتِينِي مُنَظَّمٌ لِأَنَّهُ يَجْمَعُ بَيْنَ الدِّرَاسَةِ وَالرَّاحَةِ، مَعَ ذٰلِكَ أُرِيدُ أَنْ أُنَظِّمَ وَقْتِي فِي المَسَاءِ أَكْثَرَ.</a:t>
            </a:r>
            <a:endParaRPr lang="ar-SA" sz="1050" dirty="0"/>
          </a:p>
        </p:txBody>
      </p:sp>
      <p:sp>
        <p:nvSpPr>
          <p:cNvPr id="95" name="Shape 92"/>
          <p:cNvSpPr/>
          <p:nvPr/>
        </p:nvSpPr>
        <p:spPr>
          <a:xfrm>
            <a:off x="8278368" y="57881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7" name="Text 94"/>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أَسْتَيْقِظُ فِي السَّادِسَةِ.</a:t>
            </a:r>
            <a:endParaRPr lang="ar-SA" sz="10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Choose the strongest answer to:</a:t>
            </a:r>
            <a:endParaRPr lang="en-US" sz="105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مَتَى تَسْتَيْقِظُ وَلِمَاذَا؟</a:t>
            </a:r>
            <a:endParaRPr lang="ar-SA" sz="15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فِي السَّادِسَةِ.</a:t>
            </a:r>
            <a:endParaRPr lang="ar-SA"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أَسْتَيْقِظُ فِي السَّادِسَةِ وَالنِّصْفِ لِأَنَّ مَدْرَسَتِي تَبْدَأُ مُبَكِّرًا.</a:t>
            </a:r>
            <a:endParaRPr lang="ar-SA"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لِأَنَّ السَّادِسَةَ.</a:t>
            </a:r>
            <a:endParaRPr lang="ar-SA"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developed answer responds directly, gives an exact time and explains why.</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best introduces a supporting example?</a:t>
            </a:r>
            <a:endParaRPr lang="en-US" sz="125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 سَبِيلِ المِثَالِ</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 ذٰلِكَ</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مَرَّةً</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عَلَى سَبِيلِ المِثَالِ</a:t>
            </a:r>
            <a:pPr algn="l" indent="0" marL="0">
              <a:buNone/>
            </a:pPr>
            <a:r>
              <a:rPr lang="en-US" sz="1050" i="1" dirty="0">
                <a:solidFill>
                  <a:srgbClr val="8A6D1E"/>
                </a:solidFill>
                <a:latin typeface="Calibri" pitchFamily="34" charset="0"/>
                <a:cs typeface="Amiri" pitchFamily="2" charset="-78"/>
              </a:rPr>
              <a:t> means “for example” and introduces supporting evidence.</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1" name="Text 49"/>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أَنَا يَسْتَيْقِظُ فِي السَّادِسَةِ.</a:t>
            </a:r>
            <a:endParaRPr lang="ar-SA" sz="1400" dirty="0"/>
          </a:p>
        </p:txBody>
      </p:sp>
      <p:sp>
        <p:nvSpPr>
          <p:cNvPr id="52" name="Shape 50"/>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تَسْتَيْقِظُ فِي السَّادِسَةِ.</a:t>
            </a:r>
            <a:endParaRPr lang="ar-SA" sz="1700" dirty="0"/>
          </a:p>
        </p:txBody>
      </p:sp>
      <p:sp>
        <p:nvSpPr>
          <p:cNvPr id="55"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نَسْتَيْقِظُ فِي السَّادِسَةِ.</a:t>
            </a:r>
            <a:endParaRPr lang="ar-SA" sz="1700" dirty="0"/>
          </a:p>
        </p:txBody>
      </p:sp>
      <p:sp>
        <p:nvSpPr>
          <p:cNvPr id="58" name="Shape 5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7"/>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9"/>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أَسْتَيْقِظُ فِي السَّادِسَةِ.</a:t>
            </a:r>
            <a:endParaRPr lang="ar-SA" sz="1700" dirty="0"/>
          </a:p>
        </p:txBody>
      </p:sp>
      <p:sp>
        <p:nvSpPr>
          <p:cNvPr id="62" name="Text 6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first-person present-tense prefix is </a:t>
            </a:r>
            <a:pPr algn="l" indent="0" marL="0">
              <a:buNone/>
            </a:pPr>
            <a:r>
              <a:rPr lang="ar-SA" altLang="en-US" sz="1350" dirty="0">
                <a:solidFill>
                  <a:srgbClr val="8A6D1E"/>
                </a:solidFill>
                <a:latin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2"/>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7" name="Text 65"/>
          <p:cNvSpPr txBox="1"/>
          <p:nvPr/>
        </p:nvSpPr>
        <p:spPr>
          <a:xfrm>
            <a:off x="2406701"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قَبْلَ أَنْ أَخْرُجُ مِنَ البَيْتِ أُحَضِّرُ حَقِيبَتِي.</a:t>
            </a:r>
            <a:endParaRPr lang="ar-SA" sz="1000" dirty="0"/>
          </a:p>
        </p:txBody>
      </p:sp>
      <p:sp>
        <p:nvSpPr>
          <p:cNvPr id="68" name="Shape 66"/>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8"/>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قَبْلَ أَنْ يَخْرُجُ مِنَ البَيْتِ أُحَضِّرُ حَقِيبَتِي.</a:t>
            </a:r>
            <a:endParaRPr lang="ar-SA" sz="1700" dirty="0"/>
          </a:p>
        </p:txBody>
      </p:sp>
      <p:sp>
        <p:nvSpPr>
          <p:cNvPr id="71"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قَبْلَ أَخْرُجَ أَنْ مِنَ البَيْتِ أُحَضِّرُ حَقِيبَتِي.</a:t>
            </a:r>
            <a:endParaRPr lang="ar-SA" sz="1700" dirty="0"/>
          </a:p>
        </p:txBody>
      </p:sp>
      <p:sp>
        <p:nvSpPr>
          <p:cNvPr id="74" name="Shape 72"/>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3"/>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5"/>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قَبْلَ أَنْ أَخْرُجَ مِنَ البَيْتِ أُحَضِّرُ حَقِيبَتِي.</a:t>
            </a:r>
            <a:endParaRPr lang="ar-SA" sz="1700" dirty="0"/>
          </a:p>
        </p:txBody>
      </p:sp>
      <p:sp>
        <p:nvSpPr>
          <p:cNvPr id="78" name="Text 76"/>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أَخْرُجُ</a:t>
            </a:r>
            <a:pPr algn="l" indent="0" marL="0">
              <a:buNone/>
            </a:pPr>
            <a:r>
              <a:rPr lang="en-US" sz="1050" i="1" dirty="0">
                <a:solidFill>
                  <a:srgbClr val="8A6D1E"/>
                </a:solidFill>
                <a:latin typeface="Calibri" pitchFamily="34" charset="0"/>
                <a:cs typeface="Amiri" pitchFamily="2" charset="-78"/>
              </a:rPr>
              <a:t> changes to the subjunctive </a:t>
            </a:r>
            <a:pPr algn="l" indent="0" marL="0">
              <a:buNone/>
            </a:pPr>
            <a:r>
              <a:rPr lang="ar-SA" altLang="en-US" sz="1350" dirty="0">
                <a:solidFill>
                  <a:srgbClr val="8A6D1E"/>
                </a:solidFill>
                <a:latin typeface="Amiri" pitchFamily="2" charset="-78"/>
                <a:cs typeface="Amiri" pitchFamily="2" charset="-78"/>
              </a:rPr>
              <a:t>أَخْرُجَ</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Shape 7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8"/>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8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paragraph sequence.</a:t>
            </a:r>
            <a:endParaRPr lang="en-US" sz="1250" dirty="0"/>
          </a:p>
        </p:txBody>
      </p:sp>
      <p:sp>
        <p:nvSpPr>
          <p:cNvPr id="83"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4"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5"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6"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cs typeface="Amiri" pitchFamily="2" charset="-78"/>
              </a:rPr>
              <a:t>أَوَّلًا أَسْتَيْقِظُ، ثُمَّ أَتَنَاوَلُ الإِفْطَارَ، وَبَعْدَ ذٰلِكَ أَذْهَبُ إِلَى المَدْرَسَةِ.</a:t>
            </a:r>
            <a:endParaRPr lang="ar-SA" sz="1050" dirty="0"/>
          </a:p>
        </p:txBody>
      </p:sp>
      <p:sp>
        <p:nvSpPr>
          <p:cNvPr id="87"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أَخِيرًا أَسْتَيْقِظُ. أَوَّلًا أَنَامُ.</a:t>
            </a:r>
            <a:endParaRPr lang="ar-SA" sz="1050" dirty="0"/>
          </a:p>
        </p:txBody>
      </p:sp>
      <p:sp>
        <p:nvSpPr>
          <p:cNvPr id="90"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1"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ثُمَّ رُوتِينٌ أَوَّلًا المَدْرَسَةُ.</a:t>
            </a:r>
            <a:endParaRPr lang="ar-SA" sz="1050" dirty="0"/>
          </a:p>
        </p:txBody>
      </p:sp>
      <p:sp>
        <p:nvSpPr>
          <p:cNvPr id="93"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option uses purposeful connectors and a logical order.</a:t>
            </a:r>
            <a:endParaRPr lang="en-US" sz="1050" dirty="0"/>
          </a:p>
        </p:txBody>
      </p:sp>
      <p:sp>
        <p:nvSpPr>
          <p:cNvPr id="94" name="Shape 9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3"/>
          <p:cNvSpPr/>
          <p:nvPr/>
        </p:nvSpPr>
        <p:spPr>
          <a:xfrm>
            <a:off x="8223504" y="4288536"/>
            <a:ext cx="310896" cy="310896"/>
          </a:xfrm>
          <a:prstGeom prst="ellipse">
            <a:avLst/>
          </a:prstGeom>
          <a:solidFill>
            <a:srgbClr val="1B3B6F"/>
          </a:solidFill>
          <a:ln w="12700">
            <a:solidFill>
              <a:srgbClr val="1B3B6F"/>
            </a:solidFill>
            <a:prstDash val="solid"/>
          </a:ln>
        </p:spPr>
      </p:sp>
      <p:sp>
        <p:nvSpPr>
          <p:cNvPr id="96" name="Text 9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7" name="Text 9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concluding evaluation.</a:t>
            </a:r>
            <a:endParaRPr lang="en-US" sz="1250" dirty="0"/>
          </a:p>
        </p:txBody>
      </p:sp>
      <p:sp>
        <p:nvSpPr>
          <p:cNvPr id="98" name="Shape 96"/>
          <p:cNvSpPr/>
          <p:nvPr/>
        </p:nvSpPr>
        <p:spPr>
          <a:xfrm>
            <a:off x="8278368" y="4831080"/>
            <a:ext cx="256032" cy="256032"/>
          </a:xfrm>
          <a:prstGeom prst="ellipse">
            <a:avLst/>
          </a:prstGeom>
          <a:solidFill>
            <a:srgbClr val="C9CED6"/>
          </a:solidFill>
          <a:ln w="12700">
            <a:solidFill>
              <a:srgbClr val="C9CED6"/>
            </a:solidFill>
            <a:prstDash val="solid"/>
          </a:ln>
        </p:spPr>
      </p:sp>
      <p:sp>
        <p:nvSpPr>
          <p:cNvPr id="99" name="Text 97"/>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0" name="Text 98"/>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رُوتِينِي جَيِّدٌ.</a:t>
            </a:r>
            <a:endParaRPr lang="ar-SA" sz="1050" dirty="0"/>
          </a:p>
        </p:txBody>
      </p:sp>
      <p:sp>
        <p:nvSpPr>
          <p:cNvPr id="101" name="Shape 99"/>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2" name="Shape 100"/>
          <p:cNvSpPr/>
          <p:nvPr/>
        </p:nvSpPr>
        <p:spPr>
          <a:xfrm>
            <a:off x="8278368" y="5202936"/>
            <a:ext cx="256032" cy="256032"/>
          </a:xfrm>
          <a:prstGeom prst="ellipse">
            <a:avLst/>
          </a:prstGeom>
          <a:solidFill>
            <a:srgbClr val="2E8B57"/>
          </a:solidFill>
          <a:ln w="12700">
            <a:solidFill>
              <a:srgbClr val="2E8B57"/>
            </a:solidFill>
            <a:prstDash val="solid"/>
          </a:ln>
        </p:spPr>
      </p:sp>
      <p:sp>
        <p:nvSpPr>
          <p:cNvPr id="103" name="Text 101"/>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4" name="Text 102"/>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cs typeface="Amiri" pitchFamily="2" charset="-78"/>
              </a:rPr>
              <a:t>فِي رَأْيِي رُوتِينِي مُنَظَّمٌ لِأَنَّهُ يَجْمَعُ بَيْنَ الدِّرَاسَةِ وَالرَّاحَةِ، مَعَ ذٰلِكَ أُرِيدُ أَنْ أُنَظِّمَ وَقْتِي فِي المَسَاءِ أَكْثَرَ.</a:t>
            </a:r>
            <a:endParaRPr lang="ar-SA" sz="1050" dirty="0"/>
          </a:p>
        </p:txBody>
      </p:sp>
      <p:sp>
        <p:nvSpPr>
          <p:cNvPr id="105" name="Shape 103"/>
          <p:cNvSpPr/>
          <p:nvPr/>
        </p:nvSpPr>
        <p:spPr>
          <a:xfrm>
            <a:off x="8278368" y="5574792"/>
            <a:ext cx="256032" cy="256032"/>
          </a:xfrm>
          <a:prstGeom prst="ellipse">
            <a:avLst/>
          </a:prstGeom>
          <a:solidFill>
            <a:srgbClr val="C9CED6"/>
          </a:solidFill>
          <a:ln w="12700">
            <a:solidFill>
              <a:srgbClr val="C9CED6"/>
            </a:solidFill>
            <a:prstDash val="solid"/>
          </a:ln>
        </p:spPr>
      </p:sp>
      <p:sp>
        <p:nvSpPr>
          <p:cNvPr id="106" name="Text 104"/>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5"/>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أَسْتَيْقِظُ فِي السَّادِسَةِ.</a:t>
            </a:r>
            <a:endParaRPr lang="ar-SA" sz="1050" dirty="0"/>
          </a:p>
        </p:txBody>
      </p:sp>
      <p:sp>
        <p:nvSpPr>
          <p:cNvPr id="108" name="Text 10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strongest conclusion gives an opinion, reason, contrast and precise next improvement.</a:t>
            </a:r>
            <a:endParaRPr lang="en-US" sz="1050" dirty="0"/>
          </a:p>
        </p:txBody>
      </p:sp>
      <p:sp>
        <p:nvSpPr>
          <p:cNvPr id="109"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D1-L12 ·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قَبْلَ أَنْ أَخْرُجَ</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before I leave (fatḥa!)</a:t>
            </a:r>
            <a:pPr indent="0" marL="0">
              <a:buNone/>
            </a:pPr>
            <a:r>
              <a:rPr lang="en-US" sz="1000" i="1" dirty="0">
                <a:solidFill>
                  <a:srgbClr val="5A6472"/>
                </a:solidFill>
                <a:latin typeface="Calibri" pitchFamily="34" charset="0"/>
                <a:cs typeface="Amiri" pitchFamily="2" charset="-78"/>
              </a:rPr>
              <a:t>  D1-L04</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السَّابِعَةُ إِلَّا الرُّبْعَ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quarter to seven (6:45)</a:t>
            </a:r>
            <a:pPr indent="0" marL="0">
              <a:buNone/>
            </a:pPr>
            <a:r>
              <a:rPr lang="en-US" sz="1000" i="1" dirty="0">
                <a:solidFill>
                  <a:srgbClr val="5A6472"/>
                </a:solidFill>
                <a:latin typeface="Calibri" pitchFamily="34" charset="0"/>
                <a:cs typeface="Amiri" pitchFamily="2" charset="-78"/>
              </a:rPr>
              <a:t>  D1-L02</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مَرَّتَيْنِ فِي الأُسْبُوعِ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twice a week</a:t>
            </a:r>
            <a:pPr indent="0" marL="0">
              <a:buNone/>
            </a:pPr>
            <a:r>
              <a:rPr lang="en-US" sz="1000" i="1" dirty="0">
                <a:solidFill>
                  <a:srgbClr val="5A6472"/>
                </a:solidFill>
                <a:latin typeface="Calibri" pitchFamily="34" charset="0"/>
                <a:cs typeface="Amiri" pitchFamily="2" charset="-78"/>
              </a:rPr>
              <a:t>  D1-L03</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مَتَى تَسْتَيْقِظِينَ؟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when do you (f.) wake up?</a:t>
            </a:r>
            <a:pPr indent="0" marL="0">
              <a:buNone/>
            </a:pPr>
            <a:r>
              <a:rPr lang="en-US" sz="1000" i="1" dirty="0">
                <a:solidFill>
                  <a:srgbClr val="5A6472"/>
                </a:solidFill>
                <a:latin typeface="Calibri" pitchFamily="34" charset="0"/>
                <a:cs typeface="Amiri" pitchFamily="2" charset="-78"/>
              </a:rPr>
              <a:t>  D1-L07</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السَّبْتُ فَـ…</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 for Saturday, …</a:t>
            </a:r>
            <a:pPr indent="0" marL="0">
              <a:buNone/>
            </a:pPr>
            <a:r>
              <a:rPr lang="en-US" sz="1000" i="1" dirty="0">
                <a:solidFill>
                  <a:srgbClr val="5A6472"/>
                </a:solidFill>
                <a:latin typeface="Calibri" pitchFamily="34" charset="0"/>
                <a:cs typeface="Amiri" pitchFamily="2" charset="-78"/>
              </a:rPr>
              <a:t>  D1-L08</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Revise the whole unit: which TWO D1 rules do you still find hardest? Write one correct example of each.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algn="l" indent="0" marL="0">
              <a:buNone/>
            </a:pPr>
            <a:r>
              <a:rPr lang="ar-SA" altLang="en-US" sz="2200" b="1" dirty="0">
                <a:solidFill>
                  <a:srgbClr val="1B3B6F"/>
                </a:solidFill>
                <a:latin typeface="Amiri" pitchFamily="2" charset="-78"/>
                <a:cs typeface="Amiri" pitchFamily="2" charset="-78"/>
              </a:rPr>
              <a:t>مَا أَصْعَبُ قَاعِدَةٍ فِي</a:t>
            </a:r>
            <a:pPr algn="l" indent="0" marL="0">
              <a:buNone/>
            </a:pPr>
            <a:r>
              <a:rPr lang="en-US" sz="1700" b="1" dirty="0">
                <a:solidFill>
                  <a:srgbClr val="1B3B6F"/>
                </a:solidFill>
                <a:latin typeface="Calibri" pitchFamily="34" charset="0"/>
                <a:cs typeface="Amiri" pitchFamily="2" charset="-78"/>
              </a:rPr>
              <a:t> D1</a:t>
            </a:r>
            <a:pPr algn="l" indent="0" marL="0">
              <a:buNone/>
            </a:pPr>
            <a:r>
              <a:rPr lang="ar-SA" altLang="en-US" sz="2200" b="1" dirty="0">
                <a:solidFill>
                  <a:srgbClr val="1B3B6F"/>
                </a:solidFill>
                <a:latin typeface="Amiri" pitchFamily="2" charset="-78"/>
                <a:cs typeface="Amiri" pitchFamily="2" charset="-78"/>
              </a:rPr>
              <a:t>؟</a:t>
            </a:r>
            <a:endParaRPr lang="en-US"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D1-L11: the sorter and the final check; learn the five structures on this slide.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a 30–45-second answer to prompt 1 (cue words only) and write it down.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(reflection): your strongest skill, one recurring error and a precise plan.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D1-L12 · Review and Unit Assessment</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المُرَاجَعَةُ وَالتَّقْيِيمُ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answer first, then build — and check every verb.</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D1-L11 · Speaking and Writing — My Daily Routine</dc:title>
  <dc:subject>PptxGenJS Presentation</dc:subject>
  <dc:creator>Al Madina Online School · Arabic Department</dc:creator>
  <cp:lastModifiedBy>Al Madina Online School · Arabic Department</cp:lastModifiedBy>
  <cp:revision>1</cp:revision>
  <dcterms:created xsi:type="dcterms:W3CDTF">2026-10-11T06:40:32Z</dcterms:created>
  <dcterms:modified xsi:type="dcterms:W3CDTF">2026-10-11T06:40:32Z</dcterms:modified>
</cp:coreProperties>
</file>