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D1 Daily Routine and Time › D1-L11. The website lesson “Speaking and Writing — My Daily Routine”: vocabulary, grammar rules and quiz, patterns, common mistakes, sorter, listening, reading, speaking prompts and model, writing task and model, differentiation, final check and the lesson mission. Picture match: website visual game “Speaking and Writing — My Daily Routine”.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This is a PRODUCTION lesson: no new topic. Time goes to building, correcting and performing answers. Keep teacher talk short.
• Core: answer three questions with Point + Reason (+ one learnt example) using the cue cards; write 6–8 sentences with the frames. Develop: 30–45 seconds with an example and one target structure. Stretch: respond to an unseen follow-up and self-correct; write the 100–120-word article.
• The D1 “grammar vault” (group 2) is the checklist for self-correction — keep it visible during writing.
• Urdu bridge: مثال، سبب، دقت، مقابلہ، مہارت.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Questions 3–5 retrieve D1-L04, D1-L07 and D1-L02 — three of the most common D1 errors.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 strong answer = Point + Reason + Example + Contrast — and every verb checked.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مثال → المِثَالُ (عَلَى سَبِيلِ المِثَالِ = مثال کے طور پر). سبب → السَّبَبُ. FALSE FRIEND: Urdu دقت = difficulty, but Arabic دِقَّةٌ = accuracy / precision. مہارت (skill) → مَهَارَةٌ. مقابلہ (competition) is NOT مُقَارَنَةٌ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Speaking and reflection (website vocabulary (1 of 2)). Hear → Say → See → Use. Transliteration is printed for Core students (cover it for Develop/Stretch).
FLEX: teach if time allows; otherwise these are on the website vocabulary tab for homework.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Speaking and reflection (website vocabulary (2 of 2)). Hear → Say → See → Use. Transliteration is printed for Core students (cover it for Develop/Stretch).
FLEX: teach if time allows; otherwise these are on the website vocabulary tab for homework.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D1 grammar vault (website vocabulary (1 of 2)). Hear → Say → See → Use. Transliteration is printed for Core students (cover it for Develop/Stretch).
FLEX: teach if time allows; otherwise these are on the website vocabulary tab for homework.
The D1 grammar vault (FLEX): these eight cards ARE the unit checklist. Display them during the writing task and for revision before D1-L12.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D1 grammar vault (website vocabulary (2 of 2)). Hear → Say → See → Use. Transliteration is printed for Core students (cover it for Develop/Stretch).
FLEX: teach if time allows; otherwise these are on the website vocabulary tab for homework.
The D1 grammar vault (FLEX): these eight cards ARE the unit checklist. Display them during the writing task and for revision before D1-L12.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Answer extension (website vocabulary (1 of 2)). Hear → Say → See → Use. Transliteration is printed for Core students (cover it for Develop/Stretch).
Answer-extension words: the four “building blocks” (point, reason, example, comparison) and three linking phrases. Students need these to BUILD answers, and to understand feedback.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Answer extension (website vocabulary (2 of 2)). Hear → Say → See → Use. Transliteration is printed for Core students (cover it for Develop/Stretch).
Answer-extension words: the four “building blocks” (point, reason, example, comparison) and three linking phrases. Students need these to BUILD answers, and to understand feedback.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rules “Build Point + Reason + Example” and “Add comparison or qualification” (بَيْنَمَا · مَعَ ذٰلِكَ · أَمَّا) with the website patterns.
Website warning: “Do not extend an answer by adding unrelated memorised sentences. Every reason, example and contrast must answer the exact question.”
Teacher script: “Answer the question FIRST (point), then build.” Model row 1 slowly; students build row 2 with their own times.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rule “Repair errors by category” (verb pattern · person · أَنْ · time · frequency) and the website table (Person · Time · Sequence · Development). These are the five error families from the website error-analysis report (reading text: Lina).
Quick-fire: teacher says a wrong sentence; the class shouts the FAMILY name before anyone corrects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“Developed communication combines accurate person agreement, precise time, frequency, before/after clauses, contrast and reasons. Range only earns value when every structure is controlled.”
• Build Point + Reason + Example: Answer the exact question first, then develop it.
• Add comparison or qualification: A contrast shows flexible thinking and extends the response naturally.
• Repair errors by category: Name the exact system before correcting: verb pattern, person agreement, verb after أَنْ, time phrase or frequency phrase.
• Speak from cue words, not a written script: Prepare 3–5 cues, then vary sentence order and examples. This supports spontaneity.
Website common error: Do not extend an answer by adding unrelated memorised sentences. Every reason, example and contrast must answer the exact question and preserve person, time and sequence accurately.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3, 4, 6.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teacher writes four cue words on the whiteboard, then SPEAKS the answer (not reads it), with a think-aloud. Then shows the written version and checks every verb aloud against the grammar vault.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mission rounds 1, 2, 5 and 6. After each answer ask: “What would make it even stronger?” (add an example / a contrast).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Volunteers add ONE more block to answer 1 (example or contrast)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Read each sentence for meaning and match it to the detail that strengthens a spoken or written response.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Read each sentence for meaning and match it to the detail that strengthens a spoken or written response.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2, 5,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3 and 5. Develop / Stretch: all 5 — and label each sentence P / R / E / C.
Listen 1: just listen. Listen 2: note answers. Then chat the letters.
Support: after the second listening, show the read-along slide (Arabic + English, line by line) for Core students.
SCRIPT (read aloud):
أُفَضِّلُ أَنْ أَتَّبِعَ رُوتِينًا مُنَظَّمًا فِي أَيَّامِ الدِّرَاسَةِ لِأَنَّهُ يُسَاعِدُنِي عَلَى التَّرْكِيزِ. أَسْتَيْقِظُ فِي السَّادِسَةِ وَالنِّصْفِ، وَأَحْرِصُ عَلَى أَنْ أَتَنَاوَلَ الإِفْطَارَ قَبْلَ أَنْ أَخْرُجَ. عَلَى سَبِيلِ المِثَالِ، أُحَضِّرُ حَقِيبَتِي لَيْلًا حَتَّى لَا أَنْسَى شَيْئًا. مَعَ ذٰلِكَ لَا أُرِيدُ جَدْوَلًا صَارِمًا جِدًّا؛ فَفِي نِهَايَةِ الأُسْبُوعِ أَسْتَيْقِظُ مُتَأَخِّرًا وَأَقْضِي وَقْتًا مَعَ أُسْرَتِي. فِي رَأْيِي، التَّوَازُنُ أَهَمُّ مِنْ مَلْءِ كُلِّ دَقِيقَةٍ.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Website topic-conversation prompts 1–4 (prompt 5 “Which language error can you now correct? Give an example.” is a good Stretch follow-up). This is the main performance: ● think with 3–5 CUE WORDS only (no script) → ↔ rehearse muted → ◎ 30–45 seconds on the mic. Teacher asks one unseen follow-up to Stretch students (e.g. وَلِمَاذَا؟ / أَعْطِ مِثَالًا).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Answer three questions with point and reason. · Develop — Sustain 30–45 seconds with example and target grammar. · Stretch — Respond spontaneously to an unseen follow-up and self-correct accurately.
Website writing task (Stretch): Write a polished 100–120-word article or email about your daily and weekend routine, including another person for comparison.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TEACHER-WRITTEN MODEL (the website model for this task is a skills reflection — it is used in the notes of the reading slides and suits Stretch homework). Evidence: فِي السَّادِسَةِ وَالنِّصْفِ، فِي السَّابِعَةِ وَالرُّبْعِ · قَبْلَ أَنْ أَخْرُجَ، بَعْدَ أَنْ أَعُودَ · تَتَمَرَّنُ أُخْتِي · عَلَى سَبِيلِ المِثَالِ · بَيْنَمَا، أَمَّا … فَـ، مَعَ ذٰلِكَ.
Website reflection model: أَقْوَى مَهَارَةٍ عِنْدِي فِي D1 هِيَ وَصْفُ الرُّوتِينِ بِالتَّرْتِيبِ … (see the website writing tab).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(D1-L12 · Review and Unit Assessment) will spend class time USING this language, so students prepare it tonight — short, simple, easy to access (school guidance: “Simple, Short, Interesting, Relevant, Easy to access”). The five “words” are the five highest-value D1 structures for the D1-L12 unit assessment (one from each key lesson).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D1  ·  D1-L11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D1-L11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cs typeface="Amiri" pitchFamily="2" charset="-78"/>
              </a:rPr>
              <a:t>Speaking and Writing — My Daily Routine</a:t>
            </a:r>
            <a:endParaRPr lang="en-US" sz="28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التَّحَدُّثُ وَالكِتَابَةُ — رُوتِينِي اليَوْمِيُّ</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Bring all of D1 together: extend every answer with Point + Reason + Example + Contrast, repair errors by naming the rule, speak from cue words for 30–45 seconds and write a 100–120-word routine article.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D1-L11 · Development D1 · Daily Routine and Time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D1 › D1-L11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D1-L11 · Speak and Write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D1-L11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D1-L11 · Speak and Write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D1-L11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Point → reason → example → contrast; fix errors by rule.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Name the error, upgrade the answer, sort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D1-L12.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D1-L11 · Speak and Write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عَلَى سَبِيلِ المِثَالِ</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however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for example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this means that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دِقَّةٌ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accuracy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fluency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justification</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phrase.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قَبْلَ أَنْ أَخْرُجُ</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قَبْلَ أَخْرُجَ</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قَبْلَ أَنْ أَخْرُجَ</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a GIRL “When do you wake up?”</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مَتَى تَسْتَيْقِظُ؟</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مَتَى يَسْتَيْقِظُ؟</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مَتَى تَسْتَيْقِظِينَ؟</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Which is 8:55?</a:t>
            </a:r>
            <a:endParaRPr lang="en-US" sz="1200" dirty="0"/>
          </a:p>
        </p:txBody>
      </p:sp>
      <p:sp>
        <p:nvSpPr>
          <p:cNvPr id="71" name="Text 68"/>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٨:٥٥</a:t>
            </a:r>
            <a:endParaRPr lang="ar-SA" sz="2200" dirty="0"/>
          </a:p>
        </p:txBody>
      </p:sp>
      <p:sp>
        <p:nvSpPr>
          <p:cNvPr id="72" name="Shape 69"/>
          <p:cNvSpPr/>
          <p:nvPr/>
        </p:nvSpPr>
        <p:spPr>
          <a:xfrm>
            <a:off x="4459224" y="4873752"/>
            <a:ext cx="256032" cy="256032"/>
          </a:xfrm>
          <a:prstGeom prst="ellipse">
            <a:avLst/>
          </a:prstGeom>
          <a:solidFill>
            <a:srgbClr val="F4F1EA"/>
          </a:solidFill>
          <a:ln w="12700">
            <a:solidFill>
              <a:srgbClr val="F4F1EA"/>
            </a:solidFill>
            <a:prstDash val="solid"/>
          </a:ln>
        </p:spPr>
      </p:sp>
      <p:sp>
        <p:nvSpPr>
          <p:cNvPr id="73" name="Text 70"/>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4" name="Text 71"/>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التَّاسِعَةُ إِلَّا خَمْسَ دَقَائِقَ</a:t>
            </a:r>
            <a:endParaRPr lang="ar-SA" sz="2050" dirty="0"/>
          </a:p>
        </p:txBody>
      </p:sp>
      <p:sp>
        <p:nvSpPr>
          <p:cNvPr id="75" name="Shape 72"/>
          <p:cNvSpPr/>
          <p:nvPr/>
        </p:nvSpPr>
        <p:spPr>
          <a:xfrm>
            <a:off x="4459224" y="53309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7" name="Text 74"/>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الثَّامِنَةُ وَخَمْسُ دَقَائِقَ</a:t>
            </a:r>
            <a:endParaRPr lang="ar-SA" sz="2050" dirty="0"/>
          </a:p>
        </p:txBody>
      </p:sp>
      <p:sp>
        <p:nvSpPr>
          <p:cNvPr id="78" name="Shape 75"/>
          <p:cNvSpPr/>
          <p:nvPr/>
        </p:nvSpPr>
        <p:spPr>
          <a:xfrm>
            <a:off x="4459224" y="57881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0" name="Text 77"/>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الثَّامِنَةُ إِلَّا خَمْسَ دَقَائِقَ</a:t>
            </a:r>
            <a:endParaRPr lang="ar-SA" sz="2050" dirty="0"/>
          </a:p>
        </p:txBody>
      </p:sp>
      <p:sp>
        <p:nvSpPr>
          <p:cNvPr id="81" name="Shape 78"/>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2" name="Text 79"/>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3" name="Text 80"/>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4" name="Text 81"/>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5" name="Text 82"/>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D1-L11 · Speak and Write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عَلَى سَبِيلِ المِثَالِ</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however</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for example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this means that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دِقَّةٌ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accuracy</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fluency</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justification</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phrase.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قَبْلَ أَنْ أَخْرُجُ</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قَبْلَ أَخْرُجَ</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قَبْلَ أَنْ أَخْرُجَ</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D1-L04: after </a:t>
            </a:r>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 fatḥa.</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a GIRL “When do you wake up?”</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مَتَى تَسْتَيْقِظُ؟</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مَتَى يَسْتَيْقِظُ؟</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مَتَى تَسْتَيْقِظِينَ؟</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D1-L07: girl → -īna.</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Which is 8:55?</a:t>
            </a:r>
            <a:endParaRPr lang="en-US" sz="1200" dirty="0"/>
          </a:p>
        </p:txBody>
      </p:sp>
      <p:sp>
        <p:nvSpPr>
          <p:cNvPr id="79" name="Text 76"/>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٨:٥٥</a:t>
            </a:r>
            <a:endParaRPr lang="ar-SA" sz="2200" dirty="0"/>
          </a:p>
        </p:txBody>
      </p:sp>
      <p:sp>
        <p:nvSpPr>
          <p:cNvPr id="80" name="Shape 77"/>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8"/>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التَّاسِعَةُ إِلَّا خَمْسَ دَقَائِقَ</a:t>
            </a:r>
            <a:endParaRPr lang="ar-SA" sz="1700" dirty="0"/>
          </a:p>
        </p:txBody>
      </p:sp>
      <p:sp>
        <p:nvSpPr>
          <p:cNvPr id="84" name="Shape 81"/>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3"/>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الثَّامِنَةُ وَخَمْسُ دَقَائِقَ</a:t>
            </a:r>
            <a:endParaRPr lang="ar-SA" sz="1700" dirty="0"/>
          </a:p>
        </p:txBody>
      </p:sp>
      <p:sp>
        <p:nvSpPr>
          <p:cNvPr id="87" name="Shape 84"/>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6"/>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الثَّامِنَةُ إِلَّا خَمْسَ دَقَائِقَ</a:t>
            </a:r>
            <a:endParaRPr lang="ar-SA" sz="1700" dirty="0"/>
          </a:p>
        </p:txBody>
      </p:sp>
      <p:sp>
        <p:nvSpPr>
          <p:cNvPr id="90" name="Text 87"/>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D1-L02: the next hour with </a:t>
            </a:r>
            <a:pPr algn="l" indent="0" marL="0">
              <a:buNone/>
            </a:pPr>
            <a:r>
              <a:rPr lang="ar-SA" altLang="en-US" sz="1350" dirty="0">
                <a:solidFill>
                  <a:srgbClr val="8A6D1E"/>
                </a:solidFill>
                <a:latin typeface="Amiri" pitchFamily="2" charset="-78"/>
                <a:ea typeface="Amiri" pitchFamily="2" charset="-78"/>
                <a:cs typeface="Amiri" pitchFamily="2" charset="-78"/>
              </a:rPr>
              <a:t>إِلَّا</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1" name="Shape 88"/>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2" name="Text 89"/>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3" name="Text 90"/>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A strong answer = Point + Reason + Example + Contrast — and every verb checked.</a:t>
            </a:r>
            <a:endParaRPr lang="en-US" sz="1300" dirty="0"/>
          </a:p>
        </p:txBody>
      </p:sp>
      <p:sp>
        <p:nvSpPr>
          <p:cNvPr id="94" name="Text 91"/>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أَسْتَيْقِظُ مُبَكِّرًا </a:t>
            </a:r>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لِأَنَّ</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1D5FBF"/>
                </a:solidFill>
                <a:latin typeface="Amiri" pitchFamily="2" charset="-78"/>
                <a:ea typeface="Amiri" pitchFamily="2" charset="-78"/>
                <a:cs typeface="Amiri" pitchFamily="2" charset="-78"/>
              </a:rPr>
              <a:t>عَلَى سَبِيلِ المِثَالِ</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D6336C"/>
                </a:solidFill>
                <a:latin typeface="Amiri" pitchFamily="2" charset="-78"/>
                <a:ea typeface="Amiri" pitchFamily="2" charset="-78"/>
                <a:cs typeface="Amiri" pitchFamily="2" charset="-78"/>
              </a:rPr>
              <a:t>مَعَ ذٰلِكَ</a:t>
            </a:r>
            <a:pPr rtl="1" algn="ctr" indent="0" marL="0">
              <a:lnSpc>
                <a:spcPct val="120000"/>
              </a:lnSpc>
              <a:buNone/>
            </a:pPr>
            <a:r>
              <a:rPr lang="ar-SA" altLang="en-US" sz="1950" b="1" dirty="0">
                <a:solidFill>
                  <a:srgbClr val="1B3B6F"/>
                </a:solidFill>
                <a:latin typeface="Amiri" pitchFamily="2" charset="-78"/>
                <a:cs typeface="Amiri" pitchFamily="2" charset="-78"/>
              </a:rPr>
              <a:t> …</a:t>
            </a:r>
            <a:endParaRPr lang="ar-SA" sz="19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D1-L11 · Speak and Write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D1-L11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Correct cumulative D1 grammar errors.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Build extended spoken answers.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Respond flexibly to five topic questions.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Create a precise personal revision plan.</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answer three routine questions with a point and a reason.</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correct “I / he / she” verb errors.</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speak for 30–45 seconds with an example and a contrast.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name the rule behind a correction.</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answer an unseen follow-up question spontaneously.</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write a polished 100–120-word article.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25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Speaking and reflection · 9</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D1 grammar vault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Answer extension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المِثَالُ</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‎مثال‎ </a:t>
            </a:r>
            <a:pPr indent="0" marL="0">
              <a:buNone/>
            </a:pPr>
            <a:r>
              <a:rPr lang="en-US" sz="950" b="1" dirty="0">
                <a:solidFill>
                  <a:srgbClr val="2E8B57"/>
                </a:solidFill>
                <a:latin typeface="Calibri" pitchFamily="34" charset="0"/>
                <a:cs typeface="Amiri" pitchFamily="2" charset="-78"/>
              </a:rPr>
              <a:t> misāl · example</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السَّبَبُ</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‎سبب‎ </a:t>
            </a:r>
            <a:pPr indent="0" marL="0">
              <a:buNone/>
            </a:pPr>
            <a:r>
              <a:rPr lang="en-US" sz="950" b="1" dirty="0">
                <a:solidFill>
                  <a:srgbClr val="2E8B57"/>
                </a:solidFill>
                <a:latin typeface="Calibri" pitchFamily="34" charset="0"/>
                <a:cs typeface="Amiri" pitchFamily="2" charset="-78"/>
              </a:rPr>
              <a:t> sabab · reason</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دِقَّةٌ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‎دقت‎ </a:t>
            </a:r>
            <a:pPr indent="0" marL="0">
              <a:buNone/>
            </a:pPr>
            <a:r>
              <a:rPr lang="en-US" sz="950" b="1" dirty="0">
                <a:solidFill>
                  <a:srgbClr val="2E8B57"/>
                </a:solidFill>
                <a:latin typeface="Calibri" pitchFamily="34" charset="0"/>
                <a:cs typeface="Amiri" pitchFamily="2" charset="-78"/>
              </a:rPr>
              <a:t> diqqat · Urdu: difficulty · Arabic: accuracy</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المُقَارَنَةُ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‎مقابلہ‎ </a:t>
            </a:r>
            <a:pPr indent="0" marL="0">
              <a:buNone/>
            </a:pPr>
            <a:r>
              <a:rPr lang="ar-SA" sz="950" b="1" dirty="0">
                <a:solidFill>
                  <a:srgbClr val="2E8B57"/>
                </a:solidFill>
                <a:latin typeface="Calibri" pitchFamily="34" charset="0"/>
                <a:ea typeface="Amiri" pitchFamily="2" charset="-78"/>
                <a:cs typeface="Amiri" pitchFamily="2" charset="-78"/>
              </a:rPr>
              <a:t> muqābla · Urdu: contest · Arabic مُقَارَنَةٌ: comparison</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مَهَارَةٌ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‎مہارت‎ </a:t>
            </a:r>
            <a:pPr indent="0" marL="0">
              <a:buNone/>
            </a:pPr>
            <a:r>
              <a:rPr lang="en-US" sz="950" b="1" dirty="0">
                <a:solidFill>
                  <a:srgbClr val="2E8B57"/>
                </a:solidFill>
                <a:latin typeface="Calibri" pitchFamily="34" charset="0"/>
                <a:cs typeface="Amiri" pitchFamily="2" charset="-78"/>
              </a:rPr>
              <a:t> mahārat · skill</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D1-L11 · Speak and Write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and reflection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D1-L11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مُحَادَثَةٌ مَوْضُوعِيَّةٌ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topic conversation</a:t>
            </a:r>
            <a:endParaRPr lang="en-US" sz="1350" dirty="0"/>
          </a:p>
          <a:p>
            <a:pPr indent="0" marL="0">
              <a:buNone/>
            </a:pPr>
            <a:r>
              <a:rPr lang="en-US" sz="1100" i="1" dirty="0">
                <a:solidFill>
                  <a:srgbClr val="5A6472"/>
                </a:solidFill>
                <a:latin typeface="Calibri" pitchFamily="34" charset="0"/>
                <a:cs typeface="Amiri" pitchFamily="2" charset="-78"/>
              </a:rPr>
              <a:t>mu-ḥā-da-tha-tun maw-ḍū-ʿiy-ya-tun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تَوْسِيعُ الإِجَابَةِ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extending an answer</a:t>
            </a:r>
            <a:endParaRPr lang="en-US" sz="1350" dirty="0"/>
          </a:p>
          <a:p>
            <a:pPr indent="0" marL="0">
              <a:buNone/>
            </a:pPr>
            <a:r>
              <a:rPr lang="en-US" sz="1100" i="1" dirty="0">
                <a:solidFill>
                  <a:srgbClr val="5A6472"/>
                </a:solidFill>
                <a:latin typeface="Calibri" pitchFamily="34" charset="0"/>
                <a:cs typeface="Amiri" pitchFamily="2" charset="-78"/>
              </a:rPr>
              <a:t>taw-sī-ʿu al-i-jā-ba-ti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تَعَمُّقٌ</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depth</a:t>
            </a:r>
            <a:endParaRPr lang="en-US" sz="1350" dirty="0"/>
          </a:p>
          <a:p>
            <a:pPr indent="0" marL="0">
              <a:buNone/>
            </a:pPr>
            <a:r>
              <a:rPr lang="en-US" sz="1100" i="1" dirty="0">
                <a:solidFill>
                  <a:srgbClr val="5A6472"/>
                </a:solidFill>
                <a:latin typeface="Calibri" pitchFamily="34" charset="0"/>
                <a:cs typeface="Amiri" pitchFamily="2" charset="-78"/>
              </a:rPr>
              <a:t>ta-ʿam-mu-qun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طَلَاقَةٌ</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fluency</a:t>
            </a:r>
            <a:endParaRPr lang="en-US" sz="1350" dirty="0"/>
          </a:p>
          <a:p>
            <a:pPr indent="0" marL="0">
              <a:buNone/>
            </a:pPr>
            <a:r>
              <a:rPr lang="en-US" sz="1100" i="1" dirty="0">
                <a:solidFill>
                  <a:srgbClr val="5A6472"/>
                </a:solidFill>
                <a:latin typeface="Calibri" pitchFamily="34" charset="0"/>
                <a:cs typeface="Amiri" pitchFamily="2" charset="-78"/>
              </a:rPr>
              <a:t>ṭa-lā-qa-tun</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دِقَّةٌ</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accuracy</a:t>
            </a:r>
            <a:endParaRPr lang="en-US" sz="1350" dirty="0"/>
          </a:p>
          <a:p>
            <a:pPr indent="0" marL="0">
              <a:buNone/>
            </a:pPr>
            <a:r>
              <a:rPr lang="en-US" sz="1100" i="1" dirty="0">
                <a:solidFill>
                  <a:srgbClr val="5A6472"/>
                </a:solidFill>
                <a:latin typeface="Calibri" pitchFamily="34" charset="0"/>
                <a:cs typeface="Amiri" pitchFamily="2" charset="-78"/>
              </a:rPr>
              <a:t>diq-qa-tun</a:t>
            </a:r>
            <a:endParaRPr lang="en-US" sz="13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D1-L11 · Speak and Write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and reflection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D1-L11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تَفْصِيلٌ مُسَانِدٌ</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supporting detail</a:t>
            </a:r>
            <a:endParaRPr lang="en-US" sz="1350" dirty="0"/>
          </a:p>
          <a:p>
            <a:pPr indent="0" marL="0">
              <a:buNone/>
            </a:pPr>
            <a:r>
              <a:rPr lang="en-US" sz="1100" i="1" dirty="0">
                <a:solidFill>
                  <a:srgbClr val="5A6472"/>
                </a:solidFill>
                <a:latin typeface="Calibri" pitchFamily="34" charset="0"/>
                <a:cs typeface="Amiri" pitchFamily="2" charset="-78"/>
              </a:rPr>
              <a:t>taf-ṣī-lun mu-sā-ni-dun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مِثَالٌ شَخْصِيٌّ</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personal example</a:t>
            </a:r>
            <a:endParaRPr lang="en-US" sz="1350" dirty="0"/>
          </a:p>
          <a:p>
            <a:pPr indent="0" marL="0">
              <a:buNone/>
            </a:pPr>
            <a:r>
              <a:rPr lang="en-US" sz="1100" i="1" dirty="0">
                <a:solidFill>
                  <a:srgbClr val="5A6472"/>
                </a:solidFill>
                <a:latin typeface="Calibri" pitchFamily="34" charset="0"/>
                <a:cs typeface="Amiri" pitchFamily="2" charset="-78"/>
              </a:rPr>
              <a:t>mi-thā-lun shakh-ṣiy-yun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تَبْرِيرٌ</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justification</a:t>
            </a:r>
            <a:endParaRPr lang="en-US" sz="1350" dirty="0"/>
          </a:p>
          <a:p>
            <a:pPr indent="0" marL="0">
              <a:buNone/>
            </a:pPr>
            <a:r>
              <a:rPr lang="en-US" sz="1100" i="1" dirty="0">
                <a:solidFill>
                  <a:srgbClr val="5A6472"/>
                </a:solidFill>
                <a:latin typeface="Calibri" pitchFamily="34" charset="0"/>
                <a:cs typeface="Amiri" pitchFamily="2" charset="-78"/>
              </a:rPr>
              <a:t>tab-rī-run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هَدَفٌ دَقِيقٌ</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precise target</a:t>
            </a:r>
            <a:endParaRPr lang="en-US" sz="1350" dirty="0"/>
          </a:p>
          <a:p>
            <a:pPr indent="0" marL="0">
              <a:buNone/>
            </a:pPr>
            <a:r>
              <a:rPr lang="en-US" sz="1100" i="1" dirty="0">
                <a:solidFill>
                  <a:srgbClr val="5A6472"/>
                </a:solidFill>
                <a:latin typeface="Calibri" pitchFamily="34" charset="0"/>
                <a:cs typeface="Amiri" pitchFamily="2" charset="-78"/>
              </a:rPr>
              <a:t>ha-da-fun da-qī-qun</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D1-L11 · Speak and Write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D1 grammar vault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D1-L11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أَسْتَيْقِظُ / يَسْتَيْقِظُ / تَسْتَيْقِظُ</a:t>
            </a:r>
            <a:endParaRPr lang="ar-SA" sz="28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person control</a:t>
            </a:r>
            <a:endParaRPr lang="en-US" sz="1350" dirty="0"/>
          </a:p>
          <a:p>
            <a:pPr indent="0" marL="0">
              <a:buNone/>
            </a:pPr>
            <a:r>
              <a:rPr lang="en-US" sz="1100" i="1" dirty="0">
                <a:solidFill>
                  <a:srgbClr val="5A6472"/>
                </a:solidFill>
                <a:latin typeface="Calibri" pitchFamily="34" charset="0"/>
                <a:cs typeface="Amiri" pitchFamily="2" charset="-78"/>
              </a:rPr>
              <a:t>as-tay-qi-ẓu / yas-tay-qi-ẓu / tas-tay-qi-ẓu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أَتَنَاوَلُ / أَسْتَعِدُّ / أَسْتَقِلُّ</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patterned routine verbs</a:t>
            </a:r>
            <a:endParaRPr lang="en-US" sz="1350" dirty="0"/>
          </a:p>
          <a:p>
            <a:pPr indent="0" marL="0">
              <a:buNone/>
            </a:pPr>
            <a:r>
              <a:rPr lang="en-US" sz="1100" i="1" dirty="0">
                <a:solidFill>
                  <a:srgbClr val="5A6472"/>
                </a:solidFill>
                <a:latin typeface="Calibri" pitchFamily="34" charset="0"/>
                <a:cs typeface="Amiri" pitchFamily="2" charset="-78"/>
              </a:rPr>
              <a:t>a-ta-nā-wa-lu / as-ta-ʿid-du / as-ta-qil-lu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قَبْلَ أَنْ / بَعْدَ أَنْ</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sequence + subjunctive</a:t>
            </a:r>
            <a:endParaRPr lang="en-US" sz="1350" dirty="0"/>
          </a:p>
          <a:p>
            <a:pPr indent="0" marL="0">
              <a:buNone/>
            </a:pPr>
            <a:r>
              <a:rPr lang="en-US" sz="1100" i="1" dirty="0">
                <a:solidFill>
                  <a:srgbClr val="5A6472"/>
                </a:solidFill>
                <a:latin typeface="Calibri" pitchFamily="34" charset="0"/>
                <a:cs typeface="Amiri" pitchFamily="2" charset="-78"/>
              </a:rPr>
              <a:t>qab-la an / baʿ-da an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عَادَةً / نَادِرًا / مَرَّاتٍ</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frequency</a:t>
            </a:r>
            <a:endParaRPr lang="en-US" sz="1350" dirty="0"/>
          </a:p>
          <a:p>
            <a:pPr indent="0" marL="0">
              <a:buNone/>
            </a:pPr>
            <a:r>
              <a:rPr lang="en-US" sz="1100" i="1" dirty="0">
                <a:solidFill>
                  <a:srgbClr val="5A6472"/>
                </a:solidFill>
                <a:latin typeface="Calibri" pitchFamily="34" charset="0"/>
                <a:cs typeface="Amiri" pitchFamily="2" charset="-78"/>
              </a:rPr>
              <a:t>ʿā-da-tan / nā-di-ran / mar-rā-tin</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D1-L11 · Speak and Write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D1 grammar vault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D1-L11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بَيْنَمَا / أَمَّا ... فَـ</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comparison and contrast</a:t>
            </a:r>
            <a:endParaRPr lang="en-US" sz="1350" dirty="0"/>
          </a:p>
          <a:p>
            <a:pPr indent="0" marL="0">
              <a:buNone/>
            </a:pPr>
            <a:r>
              <a:rPr lang="en-US" sz="1100" i="1" dirty="0">
                <a:solidFill>
                  <a:srgbClr val="5A6472"/>
                </a:solidFill>
                <a:latin typeface="Calibri" pitchFamily="34" charset="0"/>
                <a:cs typeface="Amiri" pitchFamily="2" charset="-78"/>
              </a:rPr>
              <a:t>bay-na-mā / am-mā ... fa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مَتَى / مَاذَا / كَمْ مَرَّةً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routine questions</a:t>
            </a:r>
            <a:endParaRPr lang="en-US" sz="1350" dirty="0"/>
          </a:p>
          <a:p>
            <a:pPr indent="0" marL="0">
              <a:buNone/>
            </a:pPr>
            <a:r>
              <a:rPr lang="en-US" sz="1100" i="1" dirty="0">
                <a:solidFill>
                  <a:srgbClr val="5A6472"/>
                </a:solidFill>
                <a:latin typeface="Calibri" pitchFamily="34" charset="0"/>
                <a:cs typeface="Amiri" pitchFamily="2" charset="-78"/>
              </a:rPr>
              <a:t>ma-tā / mā-dhā / kam mar-ra-tan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 السَّاعَةِ ... إِلَى ...</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time span</a:t>
            </a:r>
            <a:endParaRPr lang="en-US" sz="1350" dirty="0"/>
          </a:p>
          <a:p>
            <a:pPr indent="0" marL="0">
              <a:buNone/>
            </a:pPr>
            <a:r>
              <a:rPr lang="en-US" sz="1100" i="1" dirty="0">
                <a:solidFill>
                  <a:srgbClr val="5A6472"/>
                </a:solidFill>
                <a:latin typeface="Calibri" pitchFamily="34" charset="0"/>
                <a:cs typeface="Amiri" pitchFamily="2" charset="-78"/>
              </a:rPr>
              <a:t>mi-na as-sā-ʿa-ti ... i-lā ...</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وَالرُّبْعُ / إِلَّا الرُّبْعَ</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precise clock time</a:t>
            </a:r>
            <a:endParaRPr lang="en-US" sz="1350" dirty="0"/>
          </a:p>
          <a:p>
            <a:pPr indent="0" marL="0">
              <a:buNone/>
            </a:pPr>
            <a:r>
              <a:rPr lang="en-US" sz="1100" i="1" dirty="0">
                <a:solidFill>
                  <a:srgbClr val="5A6472"/>
                </a:solidFill>
                <a:latin typeface="Calibri" pitchFamily="34" charset="0"/>
                <a:cs typeface="Amiri" pitchFamily="2" charset="-78"/>
              </a:rPr>
              <a:t>wālr-rub-ʿu / il-lā ar-rub-ʿa</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D1-L11 · Speak and Write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 extension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النُّقْطَةُ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point</a:t>
            </a:r>
            <a:endParaRPr lang="en-US" sz="1350" dirty="0"/>
          </a:p>
          <a:p>
            <a:pPr indent="0" marL="0">
              <a:buNone/>
            </a:pPr>
            <a:r>
              <a:rPr lang="en-US" sz="1100" i="1" dirty="0">
                <a:solidFill>
                  <a:srgbClr val="5A6472"/>
                </a:solidFill>
                <a:latin typeface="Calibri" pitchFamily="34" charset="0"/>
                <a:cs typeface="Amiri" pitchFamily="2" charset="-78"/>
              </a:rPr>
              <a:t>an-nuq-ṭa-tu</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النِّقَاطُ</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the</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النُّقْطَةُ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نُقْطَةٌ</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36" name="Shape 33"/>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السَّبَبُ</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reason</a:t>
            </a:r>
            <a:endParaRPr lang="en-US" sz="1350" dirty="0"/>
          </a:p>
          <a:p>
            <a:pPr indent="0" marL="0">
              <a:buNone/>
            </a:pPr>
            <a:r>
              <a:rPr lang="en-US" sz="1100" i="1" dirty="0">
                <a:solidFill>
                  <a:srgbClr val="5A6472"/>
                </a:solidFill>
                <a:latin typeface="Calibri" pitchFamily="34" charset="0"/>
                <a:cs typeface="Amiri" pitchFamily="2" charset="-78"/>
              </a:rPr>
              <a:t>as-sa-ba-bu</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4" name="Text 41"/>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الأَسْبَابُ</a:t>
            </a:r>
            <a:endParaRPr lang="ar-SA" sz="150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the</a:t>
            </a:r>
            <a:endParaRPr lang="en-US" sz="750" dirty="0"/>
          </a:p>
        </p:txBody>
      </p:sp>
      <p:sp>
        <p:nvSpPr>
          <p:cNvPr id="47" name="Text 44"/>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السَّبَبُ</a:t>
            </a:r>
            <a:endParaRPr lang="ar-SA" sz="150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سَبَبٌ</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54" name="Shape 51"/>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56" name="Shape 5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8" name="Text 5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المِثَالُ</a:t>
            </a:r>
            <a:endParaRPr lang="ar-SA" sz="3000" dirty="0"/>
          </a:p>
        </p:txBody>
      </p:sp>
      <p:sp>
        <p:nvSpPr>
          <p:cNvPr id="59" name="Text 5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example</a:t>
            </a:r>
            <a:endParaRPr lang="en-US" sz="1350" dirty="0"/>
          </a:p>
          <a:p>
            <a:pPr indent="0" marL="0">
              <a:buNone/>
            </a:pPr>
            <a:r>
              <a:rPr lang="en-US" sz="1100" i="1" dirty="0">
                <a:solidFill>
                  <a:srgbClr val="5A6472"/>
                </a:solidFill>
                <a:latin typeface="Calibri" pitchFamily="34" charset="0"/>
                <a:cs typeface="Amiri" pitchFamily="2" charset="-78"/>
              </a:rPr>
              <a:t>al-mi-thā-lu</a:t>
            </a:r>
            <a:endParaRPr lang="en-US" sz="1350" dirty="0"/>
          </a:p>
        </p:txBody>
      </p:sp>
      <p:sp>
        <p:nvSpPr>
          <p:cNvPr id="60" name="Shape 57"/>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2" name="Text 59"/>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الأَمْثِلَةُ</a:t>
            </a:r>
            <a:endParaRPr lang="ar-SA" sz="1500" dirty="0"/>
          </a:p>
        </p:txBody>
      </p:sp>
      <p:sp>
        <p:nvSpPr>
          <p:cNvPr id="63" name="Shape 60"/>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the</a:t>
            </a:r>
            <a:endParaRPr lang="en-US" sz="750" dirty="0"/>
          </a:p>
        </p:txBody>
      </p:sp>
      <p:sp>
        <p:nvSpPr>
          <p:cNvPr id="65" name="Text 62"/>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المِثَالُ</a:t>
            </a:r>
            <a:endParaRPr lang="ar-SA" sz="1500" dirty="0"/>
          </a:p>
        </p:txBody>
      </p:sp>
      <p:sp>
        <p:nvSpPr>
          <p:cNvPr id="66" name="Shape 63"/>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68" name="Text 65"/>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مِثَالٌ</a:t>
            </a:r>
            <a:endParaRPr lang="ar-SA" sz="1500" dirty="0"/>
          </a:p>
        </p:txBody>
      </p:sp>
      <p:sp>
        <p:nvSpPr>
          <p:cNvPr id="69" name="Shape 6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8211312" y="4261104"/>
            <a:ext cx="310896" cy="310896"/>
          </a:xfrm>
          <a:prstGeom prst="ellipse">
            <a:avLst/>
          </a:prstGeom>
          <a:solidFill>
            <a:srgbClr val="F4F1EA"/>
          </a:solidFill>
          <a:ln w="12700">
            <a:solidFill>
              <a:srgbClr val="F4F1EA"/>
            </a:solidFill>
            <a:prstDash val="solid"/>
          </a:ln>
        </p:spPr>
      </p:sp>
      <p:sp>
        <p:nvSpPr>
          <p:cNvPr id="71" name="Text 6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72" name="Shape 6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73" name="Text 7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4" name="Text 7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المُقَارَنَةُ</a:t>
            </a:r>
            <a:endParaRPr lang="ar-SA" sz="3000" dirty="0"/>
          </a:p>
        </p:txBody>
      </p:sp>
      <p:sp>
        <p:nvSpPr>
          <p:cNvPr id="75" name="Text 7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comparison</a:t>
            </a:r>
            <a:endParaRPr lang="en-US" sz="1350" dirty="0"/>
          </a:p>
          <a:p>
            <a:pPr indent="0" marL="0">
              <a:buNone/>
            </a:pPr>
            <a:r>
              <a:rPr lang="en-US" sz="1100" i="1" dirty="0">
                <a:solidFill>
                  <a:srgbClr val="5A6472"/>
                </a:solidFill>
                <a:latin typeface="Calibri" pitchFamily="34" charset="0"/>
                <a:cs typeface="Amiri" pitchFamily="2" charset="-78"/>
              </a:rPr>
              <a:t>al-mu-qā-ra-na-tu</a:t>
            </a:r>
            <a:endParaRPr lang="en-US" sz="13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D1-L11 · Speak and Write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 extension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الرَّبْطُ</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link</a:t>
            </a:r>
            <a:endParaRPr lang="en-US" sz="1350" dirty="0"/>
          </a:p>
          <a:p>
            <a:pPr indent="0" marL="0">
              <a:buNone/>
            </a:pPr>
            <a:r>
              <a:rPr lang="en-US" sz="1100" i="1" dirty="0">
                <a:solidFill>
                  <a:srgbClr val="5A6472"/>
                </a:solidFill>
                <a:latin typeface="Calibri" pitchFamily="34" charset="0"/>
                <a:cs typeface="Amiri" pitchFamily="2" charset="-78"/>
              </a:rPr>
              <a:t>ar-rab-ṭu</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23" name="Shape 20"/>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مَعَ ذٰلِكَ</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however</a:t>
            </a:r>
            <a:endParaRPr lang="en-US" sz="1350" dirty="0"/>
          </a:p>
          <a:p>
            <a:pPr indent="0" marL="0">
              <a:buNone/>
            </a:pPr>
            <a:r>
              <a:rPr lang="en-US" sz="1100" i="1" dirty="0">
                <a:solidFill>
                  <a:srgbClr val="5A6472"/>
                </a:solidFill>
                <a:latin typeface="Calibri" pitchFamily="34" charset="0"/>
                <a:cs typeface="Amiri" pitchFamily="2" charset="-78"/>
              </a:rPr>
              <a:t>ma-ʿa dhā-li-ka</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عَلَى سَبِيلِ المِثَالِ</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for example</a:t>
            </a:r>
            <a:endParaRPr lang="en-US" sz="1350" dirty="0"/>
          </a:p>
          <a:p>
            <a:pPr indent="0" marL="0">
              <a:buNone/>
            </a:pPr>
            <a:r>
              <a:rPr lang="en-US" sz="1100" i="1" dirty="0">
                <a:solidFill>
                  <a:srgbClr val="5A6472"/>
                </a:solidFill>
                <a:latin typeface="Calibri" pitchFamily="34" charset="0"/>
                <a:cs typeface="Amiri" pitchFamily="2" charset="-78"/>
              </a:rPr>
              <a:t>ʿa-lā sa-bī-li al-mi-thā-li</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37" name="Shape 3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هٰذَا يَعْنِي أَنَّ</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this means that</a:t>
            </a:r>
            <a:endParaRPr lang="en-US" sz="1350" dirty="0"/>
          </a:p>
          <a:p>
            <a:pPr indent="0" marL="0">
              <a:buNone/>
            </a:pPr>
            <a:r>
              <a:rPr lang="en-US" sz="1100" i="1" dirty="0">
                <a:solidFill>
                  <a:srgbClr val="5A6472"/>
                </a:solidFill>
                <a:latin typeface="Calibri" pitchFamily="34" charset="0"/>
                <a:cs typeface="Amiri" pitchFamily="2" charset="-78"/>
              </a:rPr>
              <a:t>hā-dhā yaʿ-nī an-na</a:t>
            </a:r>
            <a:endParaRPr lang="en-US" sz="13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D1-L11 · Speak and Write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1 · BUILD AN EXTENDED ANSWER (WEBSITE RULES)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Point + Reason + Example + Contrast</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نُقْطَةٌ + سَبَبٌ + مِثَالٌ + مُقَارَنَةٌ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D1-L11</a:t>
            </a:r>
            <a:endParaRPr lang="en-US" sz="850" dirty="0"/>
          </a:p>
        </p:txBody>
      </p:sp>
      <p:sp>
        <p:nvSpPr>
          <p:cNvPr id="15" name="Text 12"/>
          <p:cNvSpPr txBox="1"/>
          <p:nvPr/>
        </p:nvSpPr>
        <p:spPr>
          <a:xfrm>
            <a:off x="457200" y="1828800"/>
            <a:ext cx="3017520" cy="566928"/>
          </a:xfrm>
          <a:prstGeom prst="rect">
            <a:avLst/>
          </a:prstGeom>
          <a:noFill/>
          <a:ln/>
        </p:spPr>
        <p:txBody>
          <a:bodyPr wrap="square" lIns="0" tIns="0" rIns="0" bIns="0" rtlCol="0" anchor="ctr"/>
          <a:lstStyle/>
          <a:p>
            <a:pPr algn="l" indent="0" marL="0">
              <a:buNone/>
            </a:pPr>
            <a:r>
              <a:rPr lang="en-US" sz="1100" b="1" dirty="0">
                <a:solidFill>
                  <a:srgbClr val="5A6472"/>
                </a:solidFill>
                <a:latin typeface="Calibri" pitchFamily="34" charset="0"/>
                <a:cs typeface="Amiri" pitchFamily="2" charset="-78"/>
              </a:rPr>
              <a:t>English meaning</a:t>
            </a:r>
            <a:endParaRPr lang="en-US" sz="1100" dirty="0"/>
          </a:p>
        </p:txBody>
      </p:sp>
      <p:sp>
        <p:nvSpPr>
          <p:cNvPr id="16" name="Shape 13"/>
          <p:cNvSpPr/>
          <p:nvPr/>
        </p:nvSpPr>
        <p:spPr>
          <a:xfrm>
            <a:off x="9777222" y="1810512"/>
            <a:ext cx="1954530" cy="566928"/>
          </a:xfrm>
          <a:prstGeom prst="roundRect">
            <a:avLst>
              <a:gd name="adj" fmla="val 9677"/>
            </a:avLst>
          </a:prstGeom>
          <a:solidFill>
            <a:srgbClr val="1D5FBF"/>
          </a:solidFill>
          <a:ln w="12700">
            <a:solidFill>
              <a:srgbClr val="1D5FBF"/>
            </a:solidFill>
            <a:prstDash val="solid"/>
          </a:ln>
        </p:spPr>
      </p:sp>
      <p:sp>
        <p:nvSpPr>
          <p:cNvPr id="17" name="Text 14"/>
          <p:cNvSpPr txBox="1"/>
          <p:nvPr/>
        </p:nvSpPr>
        <p:spPr>
          <a:xfrm>
            <a:off x="9777222" y="1792224"/>
            <a:ext cx="1954530"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2" charset="-78"/>
                <a:ea typeface="Amiri" pitchFamily="2" charset="-78"/>
                <a:cs typeface="Amiri" pitchFamily="2" charset="-78"/>
              </a:rPr>
              <a:t>النُّقْطَةُ</a:t>
            </a:r>
            <a:endParaRPr lang="ar-SA" sz="1850" dirty="0"/>
          </a:p>
        </p:txBody>
      </p:sp>
      <p:sp>
        <p:nvSpPr>
          <p:cNvPr id="18" name="Text 15"/>
          <p:cNvSpPr txBox="1"/>
          <p:nvPr/>
        </p:nvSpPr>
        <p:spPr>
          <a:xfrm>
            <a:off x="9777222" y="2157984"/>
            <a:ext cx="1954530"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cs typeface="Amiri" pitchFamily="2" charset="-78"/>
              </a:rPr>
              <a:t>point</a:t>
            </a:r>
            <a:endParaRPr lang="en-US" sz="900" dirty="0"/>
          </a:p>
        </p:txBody>
      </p:sp>
      <p:sp>
        <p:nvSpPr>
          <p:cNvPr id="19" name="Shape 16"/>
          <p:cNvSpPr/>
          <p:nvPr/>
        </p:nvSpPr>
        <p:spPr>
          <a:xfrm>
            <a:off x="7712964" y="1810512"/>
            <a:ext cx="1954530" cy="566928"/>
          </a:xfrm>
          <a:prstGeom prst="roundRect">
            <a:avLst>
              <a:gd name="adj" fmla="val 9677"/>
            </a:avLst>
          </a:prstGeom>
          <a:solidFill>
            <a:srgbClr val="1E7B4F"/>
          </a:solidFill>
          <a:ln w="12700">
            <a:solidFill>
              <a:srgbClr val="1E7B4F"/>
            </a:solidFill>
            <a:prstDash val="solid"/>
          </a:ln>
        </p:spPr>
      </p:sp>
      <p:sp>
        <p:nvSpPr>
          <p:cNvPr id="20" name="Text 17"/>
          <p:cNvSpPr txBox="1"/>
          <p:nvPr/>
        </p:nvSpPr>
        <p:spPr>
          <a:xfrm>
            <a:off x="7712964" y="1792224"/>
            <a:ext cx="1954530"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2" charset="-78"/>
                <a:ea typeface="Amiri" pitchFamily="2" charset="-78"/>
                <a:cs typeface="Amiri" pitchFamily="2" charset="-78"/>
              </a:rPr>
              <a:t>السَّبَبُ</a:t>
            </a:r>
            <a:endParaRPr lang="ar-SA" sz="1850" dirty="0"/>
          </a:p>
        </p:txBody>
      </p:sp>
      <p:sp>
        <p:nvSpPr>
          <p:cNvPr id="21" name="Text 18"/>
          <p:cNvSpPr txBox="1"/>
          <p:nvPr/>
        </p:nvSpPr>
        <p:spPr>
          <a:xfrm>
            <a:off x="7712964" y="2157984"/>
            <a:ext cx="1954530"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cs typeface="Amiri" pitchFamily="2" charset="-78"/>
              </a:rPr>
              <a:t>reason</a:t>
            </a:r>
            <a:endParaRPr lang="en-US" sz="900" dirty="0"/>
          </a:p>
        </p:txBody>
      </p:sp>
      <p:sp>
        <p:nvSpPr>
          <p:cNvPr id="22" name="Shape 19"/>
          <p:cNvSpPr/>
          <p:nvPr/>
        </p:nvSpPr>
        <p:spPr>
          <a:xfrm>
            <a:off x="5648706" y="1810512"/>
            <a:ext cx="1954530" cy="566928"/>
          </a:xfrm>
          <a:prstGeom prst="roundRect">
            <a:avLst>
              <a:gd name="adj" fmla="val 9677"/>
            </a:avLst>
          </a:prstGeom>
          <a:solidFill>
            <a:srgbClr val="C77700"/>
          </a:solidFill>
          <a:ln w="12700">
            <a:solidFill>
              <a:srgbClr val="C77700"/>
            </a:solidFill>
            <a:prstDash val="solid"/>
          </a:ln>
        </p:spPr>
      </p:sp>
      <p:sp>
        <p:nvSpPr>
          <p:cNvPr id="23" name="Text 20"/>
          <p:cNvSpPr txBox="1"/>
          <p:nvPr/>
        </p:nvSpPr>
        <p:spPr>
          <a:xfrm>
            <a:off x="5648706" y="1792224"/>
            <a:ext cx="1954530"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2" charset="-78"/>
                <a:ea typeface="Amiri" pitchFamily="2" charset="-78"/>
                <a:cs typeface="Amiri" pitchFamily="2" charset="-78"/>
              </a:rPr>
              <a:t>المِثَالُ</a:t>
            </a:r>
            <a:endParaRPr lang="ar-SA" sz="1850" dirty="0"/>
          </a:p>
        </p:txBody>
      </p:sp>
      <p:sp>
        <p:nvSpPr>
          <p:cNvPr id="24" name="Text 21"/>
          <p:cNvSpPr txBox="1"/>
          <p:nvPr/>
        </p:nvSpPr>
        <p:spPr>
          <a:xfrm>
            <a:off x="5648706" y="2157984"/>
            <a:ext cx="1954530"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cs typeface="Amiri" pitchFamily="2" charset="-78"/>
              </a:rPr>
              <a:t>example</a:t>
            </a:r>
            <a:endParaRPr lang="en-US" sz="900" dirty="0"/>
          </a:p>
        </p:txBody>
      </p:sp>
      <p:sp>
        <p:nvSpPr>
          <p:cNvPr id="25" name="Shape 22"/>
          <p:cNvSpPr/>
          <p:nvPr/>
        </p:nvSpPr>
        <p:spPr>
          <a:xfrm>
            <a:off x="3584448" y="1810512"/>
            <a:ext cx="1954530" cy="566928"/>
          </a:xfrm>
          <a:prstGeom prst="roundRect">
            <a:avLst>
              <a:gd name="adj" fmla="val 9677"/>
            </a:avLst>
          </a:prstGeom>
          <a:solidFill>
            <a:srgbClr val="6B4C9A"/>
          </a:solidFill>
          <a:ln w="12700">
            <a:solidFill>
              <a:srgbClr val="6B4C9A"/>
            </a:solidFill>
            <a:prstDash val="solid"/>
          </a:ln>
        </p:spPr>
      </p:sp>
      <p:sp>
        <p:nvSpPr>
          <p:cNvPr id="26" name="Text 23"/>
          <p:cNvSpPr txBox="1"/>
          <p:nvPr/>
        </p:nvSpPr>
        <p:spPr>
          <a:xfrm>
            <a:off x="3584448" y="1792224"/>
            <a:ext cx="1954530"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2" charset="-78"/>
                <a:ea typeface="Amiri" pitchFamily="2" charset="-78"/>
                <a:cs typeface="Amiri" pitchFamily="2" charset="-78"/>
              </a:rPr>
              <a:t>المُقَارَنَةُ</a:t>
            </a:r>
            <a:endParaRPr lang="ar-SA" sz="1850" dirty="0"/>
          </a:p>
        </p:txBody>
      </p:sp>
      <p:sp>
        <p:nvSpPr>
          <p:cNvPr id="27" name="Text 24"/>
          <p:cNvSpPr txBox="1"/>
          <p:nvPr/>
        </p:nvSpPr>
        <p:spPr>
          <a:xfrm>
            <a:off x="3584448" y="2157984"/>
            <a:ext cx="1954530"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cs typeface="Amiri" pitchFamily="2" charset="-78"/>
              </a:rPr>
              <a:t>contrast</a:t>
            </a:r>
            <a:endParaRPr lang="en-US" sz="900" dirty="0"/>
          </a:p>
        </p:txBody>
      </p:sp>
      <p:sp>
        <p:nvSpPr>
          <p:cNvPr id="28" name="Text 25"/>
          <p:cNvSpPr txBox="1"/>
          <p:nvPr/>
        </p:nvSpPr>
        <p:spPr>
          <a:xfrm>
            <a:off x="457200" y="2487168"/>
            <a:ext cx="2926080" cy="82296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I prefer an organised routine because it helps me concentrate. For example, I prepare my bag at night. However, my routine changes on holiday.</a:t>
            </a:r>
            <a:endParaRPr lang="en-US" sz="1200" dirty="0"/>
          </a:p>
        </p:txBody>
      </p:sp>
      <p:sp>
        <p:nvSpPr>
          <p:cNvPr id="29" name="Shape 26"/>
          <p:cNvSpPr/>
          <p:nvPr/>
        </p:nvSpPr>
        <p:spPr>
          <a:xfrm>
            <a:off x="9777222" y="2487168"/>
            <a:ext cx="1954530" cy="822960"/>
          </a:xfrm>
          <a:prstGeom prst="roundRect">
            <a:avLst>
              <a:gd name="adj" fmla="val 6667"/>
            </a:avLst>
          </a:prstGeom>
          <a:solidFill>
            <a:srgbClr val="EEF3FA"/>
          </a:solidFill>
          <a:ln w="9525">
            <a:solidFill>
              <a:srgbClr val="EEF3FA"/>
            </a:solidFill>
            <a:prstDash val="solid"/>
          </a:ln>
        </p:spPr>
      </p:sp>
      <p:sp>
        <p:nvSpPr>
          <p:cNvPr id="30" name="Text 27"/>
          <p:cNvSpPr txBox="1"/>
          <p:nvPr/>
        </p:nvSpPr>
        <p:spPr>
          <a:xfrm>
            <a:off x="9850374" y="2487168"/>
            <a:ext cx="1808226" cy="822960"/>
          </a:xfrm>
          <a:prstGeom prst="rect">
            <a:avLst/>
          </a:prstGeom>
          <a:noFill/>
          <a:ln/>
        </p:spPr>
        <p:txBody>
          <a:bodyPr wrap="square" lIns="0" tIns="0" rIns="0" bIns="0" rtlCol="0" anchor="ctr"/>
          <a:lstStyle/>
          <a:p>
            <a:pPr rtl="1" algn="ctr" indent="0" marL="0">
              <a:lnSpc>
                <a:spcPct val="120000"/>
              </a:lnSpc>
              <a:buNone/>
            </a:pPr>
            <a:r>
              <a:rPr lang="ar-SA" altLang="en-US" sz="1850" b="1" dirty="0">
                <a:solidFill>
                  <a:srgbClr val="1B3B6F"/>
                </a:solidFill>
                <a:latin typeface="Amiri" pitchFamily="2" charset="-78"/>
                <a:ea typeface="Amiri" pitchFamily="2" charset="-78"/>
                <a:cs typeface="Amiri" pitchFamily="2" charset="-78"/>
              </a:rPr>
              <a:t>أُفَضِّلُ الرُّوتِينَ المُنَظَّمَ</a:t>
            </a:r>
            <a:endParaRPr lang="ar-SA" sz="1850" dirty="0"/>
          </a:p>
        </p:txBody>
      </p:sp>
      <p:sp>
        <p:nvSpPr>
          <p:cNvPr id="31" name="Shape 28"/>
          <p:cNvSpPr/>
          <p:nvPr/>
        </p:nvSpPr>
        <p:spPr>
          <a:xfrm>
            <a:off x="7712964" y="2487168"/>
            <a:ext cx="1954530" cy="822960"/>
          </a:xfrm>
          <a:prstGeom prst="roundRect">
            <a:avLst>
              <a:gd name="adj" fmla="val 6667"/>
            </a:avLst>
          </a:prstGeom>
          <a:solidFill>
            <a:srgbClr val="E8F4EC"/>
          </a:solidFill>
          <a:ln w="9525">
            <a:solidFill>
              <a:srgbClr val="E8F4EC"/>
            </a:solidFill>
            <a:prstDash val="solid"/>
          </a:ln>
        </p:spPr>
      </p:sp>
      <p:sp>
        <p:nvSpPr>
          <p:cNvPr id="32" name="Text 29"/>
          <p:cNvSpPr txBox="1"/>
          <p:nvPr/>
        </p:nvSpPr>
        <p:spPr>
          <a:xfrm>
            <a:off x="7786116" y="2487168"/>
            <a:ext cx="1808226" cy="822960"/>
          </a:xfrm>
          <a:prstGeom prst="rect">
            <a:avLst/>
          </a:prstGeom>
          <a:noFill/>
          <a:ln/>
        </p:spPr>
        <p:txBody>
          <a:bodyPr wrap="square" lIns="0" tIns="0" rIns="0" bIns="0" rtlCol="0" anchor="ctr"/>
          <a:lstStyle/>
          <a:p>
            <a:pPr rtl="1" algn="ctr" indent="0" marL="0">
              <a:lnSpc>
                <a:spcPct val="120000"/>
              </a:lnSpc>
              <a:buNone/>
            </a:pPr>
            <a:r>
              <a:rPr lang="ar-SA" altLang="en-US" sz="1550" b="1" dirty="0">
                <a:solidFill>
                  <a:srgbClr val="0E7C86"/>
                </a:solidFill>
                <a:latin typeface="Amiri" pitchFamily="2" charset="-78"/>
                <a:ea typeface="Amiri" pitchFamily="2" charset="-78"/>
                <a:cs typeface="Amiri" pitchFamily="2" charset="-78"/>
              </a:rPr>
              <a:t>لِأَنَّهُ</a:t>
            </a:r>
            <a:pPr rtl="1" algn="ct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 يُسَاعِدُنِي عَلَى التَّرْكِيزِ.</a:t>
            </a:r>
            <a:endParaRPr lang="ar-SA" sz="1550" dirty="0"/>
          </a:p>
        </p:txBody>
      </p:sp>
      <p:sp>
        <p:nvSpPr>
          <p:cNvPr id="33" name="Shape 30"/>
          <p:cNvSpPr/>
          <p:nvPr/>
        </p:nvSpPr>
        <p:spPr>
          <a:xfrm>
            <a:off x="5648706" y="2487168"/>
            <a:ext cx="1954530" cy="822960"/>
          </a:xfrm>
          <a:prstGeom prst="roundRect">
            <a:avLst>
              <a:gd name="adj" fmla="val 6667"/>
            </a:avLst>
          </a:prstGeom>
          <a:solidFill>
            <a:srgbClr val="FDF3E3"/>
          </a:solidFill>
          <a:ln w="9525">
            <a:solidFill>
              <a:srgbClr val="FDF3E3"/>
            </a:solidFill>
            <a:prstDash val="solid"/>
          </a:ln>
        </p:spPr>
      </p:sp>
      <p:sp>
        <p:nvSpPr>
          <p:cNvPr id="34" name="Text 31"/>
          <p:cNvSpPr txBox="1"/>
          <p:nvPr/>
        </p:nvSpPr>
        <p:spPr>
          <a:xfrm>
            <a:off x="5721858" y="2487168"/>
            <a:ext cx="1808226" cy="822960"/>
          </a:xfrm>
          <a:prstGeom prst="rect">
            <a:avLst/>
          </a:prstGeom>
          <a:noFill/>
          <a:ln/>
        </p:spPr>
        <p:txBody>
          <a:bodyPr wrap="square" lIns="0" tIns="0" rIns="0" bIns="0" rtlCol="0" anchor="ctr"/>
          <a:lstStyle/>
          <a:p>
            <a:pPr rtl="1" algn="ctr" indent="0" marL="0">
              <a:lnSpc>
                <a:spcPct val="120000"/>
              </a:lnSpc>
              <a:buNone/>
            </a:pPr>
            <a:r>
              <a:rPr lang="ar-SA" altLang="en-US" sz="1550" b="1" dirty="0">
                <a:solidFill>
                  <a:srgbClr val="0E7C86"/>
                </a:solidFill>
                <a:latin typeface="Amiri" pitchFamily="2" charset="-78"/>
                <a:ea typeface="Amiri" pitchFamily="2" charset="-78"/>
                <a:cs typeface="Amiri" pitchFamily="2" charset="-78"/>
              </a:rPr>
              <a:t>عَلَى سَبِيلِ المِثَالِ</a:t>
            </a:r>
            <a:pPr rtl="1" algn="ct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 أُحَضِّرُ حَقِيبَتِي لَيْلًا.</a:t>
            </a:r>
            <a:endParaRPr lang="ar-SA" sz="1550" dirty="0"/>
          </a:p>
        </p:txBody>
      </p:sp>
      <p:sp>
        <p:nvSpPr>
          <p:cNvPr id="35" name="Shape 32"/>
          <p:cNvSpPr/>
          <p:nvPr/>
        </p:nvSpPr>
        <p:spPr>
          <a:xfrm>
            <a:off x="3584448" y="2487168"/>
            <a:ext cx="1954530" cy="822960"/>
          </a:xfrm>
          <a:prstGeom prst="roundRect">
            <a:avLst>
              <a:gd name="adj" fmla="val 6667"/>
            </a:avLst>
          </a:prstGeom>
          <a:solidFill>
            <a:srgbClr val="F1ECF7"/>
          </a:solidFill>
          <a:ln w="9525">
            <a:solidFill>
              <a:srgbClr val="F1ECF7"/>
            </a:solidFill>
            <a:prstDash val="solid"/>
          </a:ln>
        </p:spPr>
      </p:sp>
      <p:sp>
        <p:nvSpPr>
          <p:cNvPr id="36" name="Text 33"/>
          <p:cNvSpPr txBox="1"/>
          <p:nvPr/>
        </p:nvSpPr>
        <p:spPr>
          <a:xfrm>
            <a:off x="3657600" y="2487168"/>
            <a:ext cx="1808226" cy="822960"/>
          </a:xfrm>
          <a:prstGeom prst="rect">
            <a:avLst/>
          </a:prstGeom>
          <a:noFill/>
          <a:ln/>
        </p:spPr>
        <p:txBody>
          <a:bodyPr wrap="square" lIns="0" tIns="0" rIns="0" bIns="0" rtlCol="0" anchor="ctr"/>
          <a:lstStyle/>
          <a:p>
            <a:pPr rtl="1" algn="ctr" indent="0" marL="0">
              <a:lnSpc>
                <a:spcPct val="120000"/>
              </a:lnSpc>
              <a:buNone/>
            </a:pPr>
            <a:r>
              <a:rPr lang="ar-SA" altLang="en-US" sz="1550" b="1" dirty="0">
                <a:solidFill>
                  <a:srgbClr val="0E7C86"/>
                </a:solidFill>
                <a:latin typeface="Amiri" pitchFamily="2" charset="-78"/>
                <a:ea typeface="Amiri" pitchFamily="2" charset="-78"/>
                <a:cs typeface="Amiri" pitchFamily="2" charset="-78"/>
              </a:rPr>
              <a:t>مَعَ ذٰلِكَ</a:t>
            </a:r>
            <a:pPr rtl="1" algn="ct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 يَتَغَيَّرُ رُوتِينِي فِي العُطْلَةِ.</a:t>
            </a:r>
            <a:endParaRPr lang="ar-SA" sz="1550" dirty="0"/>
          </a:p>
        </p:txBody>
      </p:sp>
      <p:sp>
        <p:nvSpPr>
          <p:cNvPr id="37" name="Text 34"/>
          <p:cNvSpPr txBox="1"/>
          <p:nvPr/>
        </p:nvSpPr>
        <p:spPr>
          <a:xfrm>
            <a:off x="457200" y="3419856"/>
            <a:ext cx="2926080" cy="82296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I wake up at 6:30 because school starts early. For example, the first lesson is at 8:20. As for Saturday, I sleep longer.</a:t>
            </a:r>
            <a:endParaRPr lang="en-US" sz="1200" dirty="0"/>
          </a:p>
        </p:txBody>
      </p:sp>
      <p:sp>
        <p:nvSpPr>
          <p:cNvPr id="38" name="Shape 35"/>
          <p:cNvSpPr/>
          <p:nvPr/>
        </p:nvSpPr>
        <p:spPr>
          <a:xfrm>
            <a:off x="9777222" y="3419856"/>
            <a:ext cx="1954530" cy="822960"/>
          </a:xfrm>
          <a:prstGeom prst="roundRect">
            <a:avLst>
              <a:gd name="adj" fmla="val 6667"/>
            </a:avLst>
          </a:prstGeom>
          <a:solidFill>
            <a:srgbClr val="EEF3FA"/>
          </a:solidFill>
          <a:ln w="9525">
            <a:solidFill>
              <a:srgbClr val="EEF3FA"/>
            </a:solidFill>
            <a:prstDash val="solid"/>
          </a:ln>
        </p:spPr>
      </p:sp>
      <p:sp>
        <p:nvSpPr>
          <p:cNvPr id="39" name="Text 36"/>
          <p:cNvSpPr txBox="1"/>
          <p:nvPr/>
        </p:nvSpPr>
        <p:spPr>
          <a:xfrm>
            <a:off x="9850374" y="3419856"/>
            <a:ext cx="1808226" cy="822960"/>
          </a:xfrm>
          <a:prstGeom prst="rect">
            <a:avLst/>
          </a:prstGeom>
          <a:noFill/>
          <a:ln/>
        </p:spPr>
        <p:txBody>
          <a:bodyPr wrap="square" lIns="0" tIns="0" rIns="0" bIns="0" rtlCol="0" anchor="ctr"/>
          <a:lstStyle/>
          <a:p>
            <a:pPr rtl="1" algn="ct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أَسْتَيْقِظُ فِي السَّادِسَةِ وَالنِّصْفِ</a:t>
            </a:r>
            <a:endParaRPr lang="ar-SA" sz="1550" dirty="0"/>
          </a:p>
        </p:txBody>
      </p:sp>
      <p:sp>
        <p:nvSpPr>
          <p:cNvPr id="40" name="Shape 37"/>
          <p:cNvSpPr/>
          <p:nvPr/>
        </p:nvSpPr>
        <p:spPr>
          <a:xfrm>
            <a:off x="7712964" y="3419856"/>
            <a:ext cx="1954530" cy="822960"/>
          </a:xfrm>
          <a:prstGeom prst="roundRect">
            <a:avLst>
              <a:gd name="adj" fmla="val 6667"/>
            </a:avLst>
          </a:prstGeom>
          <a:solidFill>
            <a:srgbClr val="E8F4EC"/>
          </a:solidFill>
          <a:ln w="9525">
            <a:solidFill>
              <a:srgbClr val="E8F4EC"/>
            </a:solidFill>
            <a:prstDash val="solid"/>
          </a:ln>
        </p:spPr>
      </p:sp>
      <p:sp>
        <p:nvSpPr>
          <p:cNvPr id="41" name="Text 38"/>
          <p:cNvSpPr txBox="1"/>
          <p:nvPr/>
        </p:nvSpPr>
        <p:spPr>
          <a:xfrm>
            <a:off x="7786116" y="3419856"/>
            <a:ext cx="1808226" cy="822960"/>
          </a:xfrm>
          <a:prstGeom prst="rect">
            <a:avLst/>
          </a:prstGeom>
          <a:noFill/>
          <a:ln/>
        </p:spPr>
        <p:txBody>
          <a:bodyPr wrap="square" lIns="0" tIns="0" rIns="0" bIns="0" rtlCol="0" anchor="ctr"/>
          <a:lstStyle/>
          <a:p>
            <a:pPr rtl="1" algn="ctr" indent="0" marL="0">
              <a:lnSpc>
                <a:spcPct val="120000"/>
              </a:lnSpc>
              <a:buNone/>
            </a:pPr>
            <a:r>
              <a:rPr lang="ar-SA" altLang="en-US" sz="1550" b="1" dirty="0">
                <a:solidFill>
                  <a:srgbClr val="0E7C86"/>
                </a:solidFill>
                <a:latin typeface="Amiri" pitchFamily="2" charset="-78"/>
                <a:ea typeface="Amiri" pitchFamily="2" charset="-78"/>
                <a:cs typeface="Amiri" pitchFamily="2" charset="-78"/>
              </a:rPr>
              <a:t>لِأَنَّ</a:t>
            </a:r>
            <a:pPr rtl="1" algn="ct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 المَدْرَسَةَ تَبْدَأُ مُبَكِّرًا.</a:t>
            </a:r>
            <a:endParaRPr lang="ar-SA" sz="1550" dirty="0"/>
          </a:p>
        </p:txBody>
      </p:sp>
      <p:sp>
        <p:nvSpPr>
          <p:cNvPr id="42" name="Shape 39"/>
          <p:cNvSpPr/>
          <p:nvPr/>
        </p:nvSpPr>
        <p:spPr>
          <a:xfrm>
            <a:off x="5648706" y="3419856"/>
            <a:ext cx="1954530" cy="822960"/>
          </a:xfrm>
          <a:prstGeom prst="roundRect">
            <a:avLst>
              <a:gd name="adj" fmla="val 6667"/>
            </a:avLst>
          </a:prstGeom>
          <a:solidFill>
            <a:srgbClr val="FDF3E3"/>
          </a:solidFill>
          <a:ln w="9525">
            <a:solidFill>
              <a:srgbClr val="FDF3E3"/>
            </a:solidFill>
            <a:prstDash val="solid"/>
          </a:ln>
        </p:spPr>
      </p:sp>
      <p:sp>
        <p:nvSpPr>
          <p:cNvPr id="43" name="Text 40"/>
          <p:cNvSpPr txBox="1"/>
          <p:nvPr/>
        </p:nvSpPr>
        <p:spPr>
          <a:xfrm>
            <a:off x="5721858" y="3419856"/>
            <a:ext cx="1808226" cy="822960"/>
          </a:xfrm>
          <a:prstGeom prst="rect">
            <a:avLst/>
          </a:prstGeom>
          <a:noFill/>
          <a:ln/>
        </p:spPr>
        <p:txBody>
          <a:bodyPr wrap="square" lIns="0" tIns="0" rIns="0" bIns="0" rtlCol="0" anchor="ctr"/>
          <a:lstStyle/>
          <a:p>
            <a:pPr rtl="1" algn="ctr" indent="0" marL="0">
              <a:lnSpc>
                <a:spcPct val="120000"/>
              </a:lnSpc>
              <a:buNone/>
            </a:pPr>
            <a:r>
              <a:rPr lang="ar-SA" altLang="en-US" sz="1550" b="1" dirty="0">
                <a:solidFill>
                  <a:srgbClr val="0E7C86"/>
                </a:solidFill>
                <a:latin typeface="Amiri" pitchFamily="2" charset="-78"/>
                <a:ea typeface="Amiri" pitchFamily="2" charset="-78"/>
                <a:cs typeface="Amiri" pitchFamily="2" charset="-78"/>
              </a:rPr>
              <a:t>مَثَلًا</a:t>
            </a:r>
            <a:pPr rtl="1" algn="ct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 الحِصَّةُ الأُولَى فِي الثَّامِنَةِ وَالثُّلُثِ.</a:t>
            </a:r>
            <a:endParaRPr lang="ar-SA" sz="1550" dirty="0"/>
          </a:p>
        </p:txBody>
      </p:sp>
      <p:sp>
        <p:nvSpPr>
          <p:cNvPr id="44" name="Shape 41"/>
          <p:cNvSpPr/>
          <p:nvPr/>
        </p:nvSpPr>
        <p:spPr>
          <a:xfrm>
            <a:off x="3584448" y="3419856"/>
            <a:ext cx="1954530" cy="822960"/>
          </a:xfrm>
          <a:prstGeom prst="roundRect">
            <a:avLst>
              <a:gd name="adj" fmla="val 6667"/>
            </a:avLst>
          </a:prstGeom>
          <a:solidFill>
            <a:srgbClr val="F1ECF7"/>
          </a:solidFill>
          <a:ln w="9525">
            <a:solidFill>
              <a:srgbClr val="F1ECF7"/>
            </a:solidFill>
            <a:prstDash val="solid"/>
          </a:ln>
        </p:spPr>
      </p:sp>
      <p:sp>
        <p:nvSpPr>
          <p:cNvPr id="45" name="Text 42"/>
          <p:cNvSpPr txBox="1"/>
          <p:nvPr/>
        </p:nvSpPr>
        <p:spPr>
          <a:xfrm>
            <a:off x="3657600" y="3419856"/>
            <a:ext cx="1808226" cy="822960"/>
          </a:xfrm>
          <a:prstGeom prst="rect">
            <a:avLst/>
          </a:prstGeom>
          <a:noFill/>
          <a:ln/>
        </p:spPr>
        <p:txBody>
          <a:bodyPr wrap="square" lIns="0" tIns="0" rIns="0" bIns="0" rtlCol="0" anchor="ctr"/>
          <a:lstStyle/>
          <a:p>
            <a:pPr rtl="1" algn="ctr" indent="0" marL="0">
              <a:lnSpc>
                <a:spcPct val="120000"/>
              </a:lnSpc>
              <a:buNone/>
            </a:pPr>
            <a:r>
              <a:rPr lang="ar-SA" altLang="en-US" sz="1550" b="1" dirty="0">
                <a:solidFill>
                  <a:srgbClr val="0E7C86"/>
                </a:solidFill>
                <a:latin typeface="Amiri" pitchFamily="2" charset="-78"/>
                <a:ea typeface="Amiri" pitchFamily="2" charset="-78"/>
                <a:cs typeface="Amiri" pitchFamily="2" charset="-78"/>
              </a:rPr>
              <a:t>أَمَّا</a:t>
            </a:r>
            <a:pPr rtl="1" algn="ct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 يَوْمُ السَّبْتِ </a:t>
            </a:r>
            <a:pPr rtl="1" algn="ctr" indent="0" marL="0">
              <a:lnSpc>
                <a:spcPct val="120000"/>
              </a:lnSpc>
              <a:buNone/>
            </a:pPr>
            <a:r>
              <a:rPr lang="ar-SA" altLang="en-US" sz="1550" b="1" dirty="0">
                <a:solidFill>
                  <a:srgbClr val="0E7C86"/>
                </a:solidFill>
                <a:latin typeface="Amiri" pitchFamily="2" charset="-78"/>
                <a:ea typeface="Amiri" pitchFamily="2" charset="-78"/>
                <a:cs typeface="Amiri" pitchFamily="2" charset="-78"/>
              </a:rPr>
              <a:t>فَأَنَامُ</a:t>
            </a:r>
            <a:pPr rtl="1" algn="ct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 أَطْوَلَ.</a:t>
            </a:r>
            <a:endParaRPr lang="ar-SA" sz="1550" dirty="0"/>
          </a:p>
        </p:txBody>
      </p:sp>
      <p:sp>
        <p:nvSpPr>
          <p:cNvPr id="46" name="Text 43"/>
          <p:cNvSpPr txBox="1"/>
          <p:nvPr/>
        </p:nvSpPr>
        <p:spPr>
          <a:xfrm>
            <a:off x="457200" y="5989320"/>
            <a:ext cx="11274552" cy="320040"/>
          </a:xfrm>
          <a:prstGeom prst="rect">
            <a:avLst/>
          </a:prstGeom>
          <a:noFill/>
          <a:ln/>
        </p:spPr>
        <p:txBody>
          <a:bodyPr wrap="square" lIns="0" tIns="0" rIns="0" bIns="0" rtlCol="0" anchor="ctr"/>
          <a:lstStyle/>
          <a:p>
            <a:pPr algn="l" indent="0" marL="0">
              <a:buNone/>
            </a:pPr>
            <a:r>
              <a:rPr lang="en-US" sz="1200" b="1" dirty="0">
                <a:solidFill>
                  <a:srgbClr val="8A6D1E"/>
                </a:solidFill>
                <a:latin typeface="Calibri" pitchFamily="34" charset="0"/>
                <a:cs typeface="Amiri" pitchFamily="2" charset="-78"/>
              </a:rPr>
              <a:t>Core: Point + Reason. Develop: + Example. Stretch: + Contrast, then “this means that …”.</a:t>
            </a:r>
            <a:endParaRPr lang="en-US" sz="120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D1-L11 · Speak and Write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7" b="1" spc="150" kern="0" dirty="0">
                <a:solidFill>
                  <a:srgbClr val="1B3B6F"/>
                </a:solidFill>
                <a:latin typeface="Calibri" pitchFamily="34" charset="0"/>
                <a:cs typeface="Amiri" pitchFamily="2" charset="-78"/>
              </a:rPr>
              <a:t>GRAMMAR FOCUS · PART 2 · REPAIR ERRORS BY CATEGORY (WEBSITE RULE + D1 GRAMMAR VAULT)</a:t>
            </a:r>
            <a:endParaRPr lang="en-US" sz="807"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Name the rule, then fix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حَسَبَ القَاعِدَةِ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2746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Error family</a:t>
            </a:r>
            <a:endParaRPr lang="en-US" sz="1100" dirty="0"/>
          </a:p>
        </p:txBody>
      </p:sp>
      <p:sp>
        <p:nvSpPr>
          <p:cNvPr id="17" name="Text 14"/>
          <p:cNvSpPr txBox="1"/>
          <p:nvPr/>
        </p:nvSpPr>
        <p:spPr>
          <a:xfrm>
            <a:off x="6044184" y="1810512"/>
            <a:ext cx="3236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 Wrong</a:t>
            </a:r>
            <a:endParaRPr lang="en-US" sz="1100" dirty="0"/>
          </a:p>
        </p:txBody>
      </p:sp>
      <p:sp>
        <p:nvSpPr>
          <p:cNvPr id="18" name="Text 15"/>
          <p:cNvSpPr txBox="1"/>
          <p:nvPr/>
        </p:nvSpPr>
        <p:spPr>
          <a:xfrm>
            <a:off x="2660904" y="1810512"/>
            <a:ext cx="3236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 Right</a:t>
            </a:r>
            <a:endParaRPr lang="en-US" sz="1100" dirty="0"/>
          </a:p>
        </p:txBody>
      </p:sp>
      <p:sp>
        <p:nvSpPr>
          <p:cNvPr id="19" name="Text 16"/>
          <p:cNvSpPr txBox="1"/>
          <p:nvPr/>
        </p:nvSpPr>
        <p:spPr>
          <a:xfrm>
            <a:off x="530352" y="1810512"/>
            <a:ext cx="1984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Lesson</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9464040" y="2267712"/>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Person prefix (I / he / she)</a:t>
            </a:r>
            <a:endParaRPr lang="en-US" sz="1100" dirty="0"/>
          </a:p>
        </p:txBody>
      </p:sp>
      <p:sp>
        <p:nvSpPr>
          <p:cNvPr id="22" name="Text 19"/>
          <p:cNvSpPr txBox="1"/>
          <p:nvPr/>
        </p:nvSpPr>
        <p:spPr>
          <a:xfrm>
            <a:off x="6062472" y="2267712"/>
            <a:ext cx="32004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أَنَا يَسْتَيْقِظُ · أُخْتِي يَعُودُ</a:t>
            </a:r>
            <a:endParaRPr lang="ar-SA" sz="2400" dirty="0"/>
          </a:p>
        </p:txBody>
      </p:sp>
      <p:sp>
        <p:nvSpPr>
          <p:cNvPr id="23" name="Text 20"/>
          <p:cNvSpPr txBox="1"/>
          <p:nvPr/>
        </p:nvSpPr>
        <p:spPr>
          <a:xfrm>
            <a:off x="2679192" y="2267712"/>
            <a:ext cx="32004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أَنَا </a:t>
            </a:r>
            <a:pPr rtl="1" algn="ctr" indent="0" marL="0">
              <a:buNone/>
            </a:pPr>
            <a:r>
              <a:rPr lang="ar-SA" altLang="en-US" sz="2400" b="1" dirty="0">
                <a:solidFill>
                  <a:srgbClr val="1D5FBF"/>
                </a:solidFill>
                <a:latin typeface="Amiri" pitchFamily="2" charset="-78"/>
                <a:ea typeface="Amiri" pitchFamily="2" charset="-78"/>
                <a:cs typeface="Amiri" pitchFamily="2" charset="-78"/>
              </a:rPr>
              <a:t>أَ</a:t>
            </a:r>
            <a:pPr rtl="1" algn="ctr" indent="0" marL="0">
              <a:buNone/>
            </a:pPr>
            <a:r>
              <a:rPr lang="ar-SA" altLang="en-US" sz="2400" b="1" dirty="0">
                <a:solidFill>
                  <a:srgbClr val="1B3B6F"/>
                </a:solidFill>
                <a:latin typeface="Amiri" pitchFamily="2" charset="-78"/>
                <a:ea typeface="Amiri" pitchFamily="2" charset="-78"/>
                <a:cs typeface="Amiri" pitchFamily="2" charset="-78"/>
              </a:rPr>
              <a:t>سْتَيْقِظُ · أُخْتِي </a:t>
            </a:r>
            <a:pPr rtl="1" algn="ctr" indent="0" marL="0">
              <a:buNone/>
            </a:pPr>
            <a:r>
              <a:rPr lang="ar-SA" altLang="en-US" sz="2400" b="1" dirty="0">
                <a:solidFill>
                  <a:srgbClr val="D6336C"/>
                </a:solidFill>
                <a:latin typeface="Amiri" pitchFamily="2" charset="-78"/>
                <a:ea typeface="Amiri" pitchFamily="2" charset="-78"/>
                <a:cs typeface="Amiri" pitchFamily="2" charset="-78"/>
              </a:rPr>
              <a:t>تَ</a:t>
            </a:r>
            <a:pPr rtl="1" algn="ctr" indent="0" marL="0">
              <a:buNone/>
            </a:pPr>
            <a:r>
              <a:rPr lang="ar-SA" altLang="en-US" sz="2400" b="1" dirty="0">
                <a:solidFill>
                  <a:srgbClr val="1B3B6F"/>
                </a:solidFill>
                <a:latin typeface="Amiri" pitchFamily="2" charset="-78"/>
                <a:ea typeface="Amiri" pitchFamily="2" charset="-78"/>
                <a:cs typeface="Amiri" pitchFamily="2" charset="-78"/>
              </a:rPr>
              <a:t>عُودُ</a:t>
            </a:r>
            <a:endParaRPr lang="ar-SA" sz="2400" dirty="0"/>
          </a:p>
        </p:txBody>
      </p:sp>
      <p:sp>
        <p:nvSpPr>
          <p:cNvPr id="24" name="Text 21"/>
          <p:cNvSpPr txBox="1"/>
          <p:nvPr/>
        </p:nvSpPr>
        <p:spPr>
          <a:xfrm>
            <a:off x="566928" y="2267712"/>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D1-L01, D1-L06</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9464040" y="300471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Clock time (past / to)</a:t>
            </a:r>
            <a:endParaRPr lang="en-US" sz="1100" dirty="0"/>
          </a:p>
        </p:txBody>
      </p:sp>
      <p:sp>
        <p:nvSpPr>
          <p:cNvPr id="29" name="Text 26"/>
          <p:cNvSpPr txBox="1"/>
          <p:nvPr/>
        </p:nvSpPr>
        <p:spPr>
          <a:xfrm>
            <a:off x="6062472" y="3004718"/>
            <a:ext cx="32004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٦:٤٥ = السَّادِسَةُ إِلَّا الرُّبْعَ</a:t>
            </a:r>
            <a:endParaRPr lang="ar-SA" sz="2400" dirty="0"/>
          </a:p>
        </p:txBody>
      </p:sp>
      <p:sp>
        <p:nvSpPr>
          <p:cNvPr id="30" name="Text 27"/>
          <p:cNvSpPr txBox="1"/>
          <p:nvPr/>
        </p:nvSpPr>
        <p:spPr>
          <a:xfrm>
            <a:off x="2679192" y="3004718"/>
            <a:ext cx="32004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٦:٤٥ = </a:t>
            </a:r>
            <a:pPr rtl="1" algn="ctr" indent="0" marL="0">
              <a:buNone/>
            </a:pPr>
            <a:r>
              <a:rPr lang="ar-SA" altLang="en-US" sz="2400" b="1" dirty="0">
                <a:solidFill>
                  <a:srgbClr val="0E7C86"/>
                </a:solidFill>
                <a:latin typeface="Amiri" pitchFamily="2" charset="-78"/>
                <a:ea typeface="Amiri" pitchFamily="2" charset="-78"/>
                <a:cs typeface="Amiri" pitchFamily="2" charset="-78"/>
              </a:rPr>
              <a:t>السَّابِعَةُ</a:t>
            </a:r>
            <a:pPr rtl="1" algn="ctr" indent="0" marL="0">
              <a:buNone/>
            </a:pPr>
            <a:r>
              <a:rPr lang="ar-SA" altLang="en-US" sz="2400" b="1" dirty="0">
                <a:solidFill>
                  <a:srgbClr val="1B3B6F"/>
                </a:solidFill>
                <a:latin typeface="Amiri" pitchFamily="2" charset="-78"/>
                <a:ea typeface="Amiri" pitchFamily="2" charset="-78"/>
                <a:cs typeface="Amiri" pitchFamily="2" charset="-78"/>
              </a:rPr>
              <a:t> إِلَّا الرُّبْعَ</a:t>
            </a:r>
            <a:endParaRPr lang="ar-SA" sz="2400" dirty="0"/>
          </a:p>
        </p:txBody>
      </p:sp>
      <p:sp>
        <p:nvSpPr>
          <p:cNvPr id="31" name="Text 28"/>
          <p:cNvSpPr txBox="1"/>
          <p:nvPr/>
        </p:nvSpPr>
        <p:spPr>
          <a:xfrm>
            <a:off x="566928" y="3004718"/>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D1-L02</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9464040" y="3741725"/>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Verb after “an”</a:t>
            </a:r>
            <a:endParaRPr lang="en-US" sz="1100" dirty="0"/>
          </a:p>
        </p:txBody>
      </p:sp>
      <p:sp>
        <p:nvSpPr>
          <p:cNvPr id="36" name="Text 33"/>
          <p:cNvSpPr txBox="1"/>
          <p:nvPr/>
        </p:nvSpPr>
        <p:spPr>
          <a:xfrm>
            <a:off x="6062472" y="3741725"/>
            <a:ext cx="32004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قَبْلَ أَنْ أَخْرُجُ</a:t>
            </a:r>
            <a:endParaRPr lang="ar-SA" sz="2400" dirty="0"/>
          </a:p>
        </p:txBody>
      </p:sp>
      <p:sp>
        <p:nvSpPr>
          <p:cNvPr id="37" name="Text 34"/>
          <p:cNvSpPr txBox="1"/>
          <p:nvPr/>
        </p:nvSpPr>
        <p:spPr>
          <a:xfrm>
            <a:off x="2679192" y="3741725"/>
            <a:ext cx="32004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قَبْلَ أَنْ أَخْرُ</a:t>
            </a:r>
            <a:pPr rtl="1" algn="ctr" indent="0" marL="0">
              <a:buNone/>
            </a:pPr>
            <a:r>
              <a:rPr lang="ar-SA" altLang="en-US" sz="2400" b="1" dirty="0">
                <a:solidFill>
                  <a:srgbClr val="D6336C"/>
                </a:solidFill>
                <a:latin typeface="Amiri" pitchFamily="2" charset="-78"/>
                <a:ea typeface="Amiri" pitchFamily="2" charset="-78"/>
                <a:cs typeface="Amiri" pitchFamily="2" charset="-78"/>
              </a:rPr>
              <a:t>جَ</a:t>
            </a:r>
            <a:endParaRPr lang="ar-SA" sz="2400" dirty="0"/>
          </a:p>
        </p:txBody>
      </p:sp>
      <p:sp>
        <p:nvSpPr>
          <p:cNvPr id="38" name="Text 35"/>
          <p:cNvSpPr txBox="1"/>
          <p:nvPr/>
        </p:nvSpPr>
        <p:spPr>
          <a:xfrm>
            <a:off x="566928" y="3741725"/>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D1-L04</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9464040" y="4478731"/>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Asking a girl</a:t>
            </a:r>
            <a:endParaRPr lang="en-US" sz="1100" dirty="0"/>
          </a:p>
        </p:txBody>
      </p:sp>
      <p:sp>
        <p:nvSpPr>
          <p:cNvPr id="41" name="Text 38"/>
          <p:cNvSpPr txBox="1"/>
          <p:nvPr/>
        </p:nvSpPr>
        <p:spPr>
          <a:xfrm>
            <a:off x="6062472" y="4478731"/>
            <a:ext cx="32004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أَنْتِ تَسْتَيْقِظُ؟</a:t>
            </a:r>
            <a:endParaRPr lang="ar-SA" sz="2400" dirty="0"/>
          </a:p>
        </p:txBody>
      </p:sp>
      <p:sp>
        <p:nvSpPr>
          <p:cNvPr id="42" name="Text 39"/>
          <p:cNvSpPr txBox="1"/>
          <p:nvPr/>
        </p:nvSpPr>
        <p:spPr>
          <a:xfrm>
            <a:off x="2679192" y="4478731"/>
            <a:ext cx="32004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أَنْتِ تَسْتَيْقِظِ</a:t>
            </a:r>
            <a:pPr rtl="1" algn="ctr" indent="0" marL="0">
              <a:buNone/>
            </a:pPr>
            <a:r>
              <a:rPr lang="ar-SA" altLang="en-US" sz="2400" b="1" dirty="0">
                <a:solidFill>
                  <a:srgbClr val="D6336C"/>
                </a:solidFill>
                <a:latin typeface="Amiri" pitchFamily="2" charset="-78"/>
                <a:ea typeface="Amiri" pitchFamily="2" charset="-78"/>
                <a:cs typeface="Amiri" pitchFamily="2" charset="-78"/>
              </a:rPr>
              <a:t>ينَ</a:t>
            </a:r>
            <a:pPr rtl="1" algn="ctr" indent="0" marL="0">
              <a:buNone/>
            </a:pPr>
            <a:r>
              <a:rPr lang="ar-SA" altLang="en-US" sz="2400" b="1" dirty="0">
                <a:solidFill>
                  <a:srgbClr val="1B3B6F"/>
                </a:solidFill>
                <a:latin typeface="Amiri" pitchFamily="2" charset="-78"/>
                <a:ea typeface="Amiri" pitchFamily="2" charset="-78"/>
                <a:cs typeface="Amiri" pitchFamily="2" charset="-78"/>
              </a:rPr>
              <a:t>؟</a:t>
            </a:r>
            <a:endParaRPr lang="ar-SA" sz="2400" dirty="0"/>
          </a:p>
        </p:txBody>
      </p:sp>
      <p:sp>
        <p:nvSpPr>
          <p:cNvPr id="43" name="Text 40"/>
          <p:cNvSpPr txBox="1"/>
          <p:nvPr/>
        </p:nvSpPr>
        <p:spPr>
          <a:xfrm>
            <a:off x="566928" y="4478731"/>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D1-L07</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9464040" y="521573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As for … fa-</a:t>
            </a:r>
            <a:endParaRPr lang="en-US" sz="1100" dirty="0"/>
          </a:p>
        </p:txBody>
      </p:sp>
      <p:sp>
        <p:nvSpPr>
          <p:cNvPr id="46" name="Text 43"/>
          <p:cNvSpPr txBox="1"/>
          <p:nvPr/>
        </p:nvSpPr>
        <p:spPr>
          <a:xfrm>
            <a:off x="6062472" y="5215738"/>
            <a:ext cx="32004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أَمَّا السَّبْتُ أَسْتَرِيحُ</a:t>
            </a:r>
            <a:endParaRPr lang="ar-SA" sz="2400" dirty="0"/>
          </a:p>
        </p:txBody>
      </p:sp>
      <p:sp>
        <p:nvSpPr>
          <p:cNvPr id="47" name="Text 44"/>
          <p:cNvSpPr txBox="1"/>
          <p:nvPr/>
        </p:nvSpPr>
        <p:spPr>
          <a:xfrm>
            <a:off x="2679192" y="5215738"/>
            <a:ext cx="32004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أَمَّا السَّبْتُ </a:t>
            </a:r>
            <a:pPr rtl="1" algn="ctr" indent="0" marL="0">
              <a:buNone/>
            </a:pPr>
            <a:r>
              <a:rPr lang="ar-SA" altLang="en-US" sz="2400" b="1" dirty="0">
                <a:solidFill>
                  <a:srgbClr val="0E7C86"/>
                </a:solidFill>
                <a:latin typeface="Amiri" pitchFamily="2" charset="-78"/>
                <a:ea typeface="Amiri" pitchFamily="2" charset="-78"/>
                <a:cs typeface="Amiri" pitchFamily="2" charset="-78"/>
              </a:rPr>
              <a:t>فَأَسْتَرِيحُ</a:t>
            </a:r>
            <a:endParaRPr lang="ar-SA" sz="2400" dirty="0"/>
          </a:p>
        </p:txBody>
      </p:sp>
      <p:sp>
        <p:nvSpPr>
          <p:cNvPr id="48" name="Text 45"/>
          <p:cNvSpPr txBox="1"/>
          <p:nvPr/>
        </p:nvSpPr>
        <p:spPr>
          <a:xfrm>
            <a:off x="566928" y="5215738"/>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D1-L03, D1-L08</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Say the family first (“person prefix!”), then the correction. Naming the rule makes the fix stick.</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D1-L11 · Speak and Write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Controlling range and cohesion in speaking and writing</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200" b="1" dirty="0">
                <a:solidFill>
                  <a:srgbClr val="8A6D1E"/>
                </a:solidFill>
                <a:latin typeface="Amiri" pitchFamily="2" charset="-78"/>
                <a:ea typeface="Amiri" pitchFamily="2" charset="-78"/>
                <a:cs typeface="Amiri" pitchFamily="2" charset="-78"/>
              </a:rPr>
              <a:t>ضَبْطُ التَّنَوُّعِ وَالتَّرَابُطِ فِي التَّحَدُّثِ وَالكِتَابَةِ</a:t>
            </a:r>
            <a:endParaRPr lang="ar-SA" sz="22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D1-L11</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Build Point + Reason + Example</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نُقْطَةٌ + لِأَنَّ + مِثَالٌ</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lnSpc>
                <a:spcPct val="120000"/>
              </a:lnSpc>
              <a:buNone/>
            </a:pPr>
            <a:r>
              <a:rPr lang="ar-SA" altLang="en-US" sz="1950" b="1" dirty="0">
                <a:solidFill>
                  <a:srgbClr val="1F2A37"/>
                </a:solidFill>
                <a:latin typeface="Amiri" pitchFamily="2" charset="-78"/>
                <a:ea typeface="Amiri" pitchFamily="2" charset="-78"/>
                <a:cs typeface="Amiri" pitchFamily="2" charset="-78"/>
              </a:rPr>
              <a:t>أُفَضِّلُ الرُّوتِينَ المُنَظَّمَ لِأَنَّهُ يُقَلِّلُ التَّوَتُّرَ. عَلَى سَبِيلِ المِثَالِ، أُحَضِّرُ حَقِيبَتِي لَيْلًا.</a:t>
            </a:r>
            <a:endParaRPr lang="ar-SA" sz="195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Add comparison or qualification</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بَيْنَمَا · مَعَ ذٰلِكَ · أَمَّا</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أَسْتَيْقِظُ مُبَكِّرًا فِي الأُسْبُوعِ، بَيْنَمَا أَنَامُ أَطْوَلَ يَوْمَ السَّبْتِ.</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Repair errors by category</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نَمَطُ الفِعْلِ · الفَاعِلُ · أَنْ · الوَقْتُ · التَّكْرَارُ</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أَنَا يَسْتَيْقِظُ ← أَنَا أَسْتَيْقِظُ   ·   قَبْلَ أَنْ أَخْرُجُ ← قَبْلَ أَنْ أَخْرُجَ</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Speak from cue words, not a written script</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كَلِمَاتٌ مِفْتَاحِيَّةٌ → إِجَابَةٌ طَبِيعِيَّةٌ</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السُّؤَالُ: رُوتِينُ الصَّبَاحِ.   ·   الكَلِمَاتُ: ٦:٣٠ · إِفْطَار · حَافِلَة · سَبَب.</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D1-L11 · Speak and Write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D1-L11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comes first in an extended answer?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unrelated example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memorised conclusion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direct point</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error category is </a:t>
            </a:r>
            <a:pPr algn="l" indent="0" marL="0">
              <a:buNone/>
            </a:pPr>
            <a:r>
              <a:rPr lang="ar-SA" altLang="en-US" sz="1650" b="1" dirty="0">
                <a:solidFill>
                  <a:srgbClr val="1B3B6F"/>
                </a:solidFill>
                <a:latin typeface="Amiri" pitchFamily="2" charset="-78"/>
                <a:ea typeface="Amiri" pitchFamily="2" charset="-78"/>
                <a:cs typeface="Amiri" pitchFamily="2" charset="-78"/>
              </a:rPr>
              <a:t>أَنَا يَسْتَيْقِظُ؟</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person prefix</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time phrase</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frequency</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error category is </a:t>
            </a:r>
            <a:pPr algn="l" indent="0" marL="0">
              <a:buNone/>
            </a:pPr>
            <a:r>
              <a:rPr lang="ar-SA" altLang="en-US" sz="1650" b="1" dirty="0">
                <a:solidFill>
                  <a:srgbClr val="1B3B6F"/>
                </a:solidFill>
                <a:latin typeface="Amiri" pitchFamily="2" charset="-78"/>
                <a:ea typeface="Amiri" pitchFamily="2" charset="-78"/>
                <a:cs typeface="Amiri" pitchFamily="2" charset="-78"/>
              </a:rPr>
              <a:t>قَبْلَ أَنْ أَخْرُجُ؟</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possessive suffix</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verb after </a:t>
            </a:r>
            <a:pPr algn="l" indent="0" marL="0">
              <a:buNone/>
            </a:pPr>
            <a:r>
              <a:rPr lang="ar-SA" altLang="en-US" sz="1650" dirty="0">
                <a:solidFill>
                  <a:srgbClr val="1F2A37"/>
                </a:solidFill>
                <a:latin typeface="Amiri" pitchFamily="2" charset="-78"/>
                <a:ea typeface="Amiri" pitchFamily="2" charset="-78"/>
                <a:cs typeface="Amiri" pitchFamily="2" charset="-78"/>
              </a:rPr>
              <a:t>أَنْ</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question word</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adds qualification or contrast?</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 ذٰلِكَ</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أَوَّلًا</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السَّادِسَةِ</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D1-L11 · Speak and Write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D1-L11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comes first in an extended answer?</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 unrelated example</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memorised conclusion</a:t>
            </a:r>
            <a:endParaRPr lang="en-US" sz="125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direct point</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Answer the exact question first.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error category is </a:t>
            </a:r>
            <a:pPr algn="l" indent="0" marL="0">
              <a:buNone/>
            </a:pPr>
            <a:r>
              <a:rPr lang="ar-SA" altLang="en-US" sz="1650" b="1" dirty="0">
                <a:solidFill>
                  <a:srgbClr val="1B3B6F"/>
                </a:solidFill>
                <a:latin typeface="Amiri" pitchFamily="2" charset="-78"/>
                <a:ea typeface="Amiri" pitchFamily="2" charset="-78"/>
                <a:cs typeface="Amiri" pitchFamily="2" charset="-78"/>
              </a:rPr>
              <a:t>أَنَا يَسْتَيْقِظُ؟</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person prefix</a:t>
            </a:r>
            <a:endParaRPr lang="en-US" sz="125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time phrase</a:t>
            </a:r>
            <a:endParaRPr lang="en-US" sz="125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frequency</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أَنَا</a:t>
            </a:r>
            <a:pPr algn="l" indent="0" marL="0">
              <a:buNone/>
            </a:pPr>
            <a:r>
              <a:rPr lang="en-US" sz="1050" i="1" dirty="0">
                <a:solidFill>
                  <a:srgbClr val="8A6D1E"/>
                </a:solidFill>
                <a:latin typeface="Calibri" pitchFamily="34" charset="0"/>
                <a:cs typeface="Amiri" pitchFamily="2" charset="-78"/>
              </a:rPr>
              <a:t> requires </a:t>
            </a:r>
            <a:pPr algn="l" indent="0" marL="0">
              <a:buNone/>
            </a:pPr>
            <a:r>
              <a:rPr lang="ar-SA" altLang="en-US" sz="1350" dirty="0">
                <a:solidFill>
                  <a:srgbClr val="8A6D1E"/>
                </a:solidFill>
                <a:latin typeface="Amiri" pitchFamily="2" charset="-78"/>
                <a:ea typeface="Amiri" pitchFamily="2" charset="-78"/>
                <a:cs typeface="Amiri" pitchFamily="2" charset="-78"/>
              </a:rPr>
              <a:t>أَسْتَيْقِظُ</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error category is </a:t>
            </a:r>
            <a:pPr algn="l" indent="0" marL="0">
              <a:buNone/>
            </a:pPr>
            <a:r>
              <a:rPr lang="ar-SA" altLang="en-US" sz="1650" b="1" dirty="0">
                <a:solidFill>
                  <a:srgbClr val="1B3B6F"/>
                </a:solidFill>
                <a:latin typeface="Amiri" pitchFamily="2" charset="-78"/>
                <a:ea typeface="Amiri" pitchFamily="2" charset="-78"/>
                <a:cs typeface="Amiri" pitchFamily="2" charset="-78"/>
              </a:rPr>
              <a:t>قَبْلَ أَنْ أَخْرُجُ؟</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possessive suffix</a:t>
            </a:r>
            <a:endParaRPr lang="en-US" sz="125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verb after </a:t>
            </a:r>
            <a:pPr algn="l" indent="0" marL="0">
              <a:buNone/>
            </a:pPr>
            <a:r>
              <a:rPr lang="ar-SA" altLang="en-US" sz="1650" b="1" dirty="0">
                <a:solidFill>
                  <a:srgbClr val="1F2A37"/>
                </a:solidFill>
                <a:latin typeface="Amiri" pitchFamily="2" charset="-78"/>
                <a:ea typeface="Amiri" pitchFamily="2" charset="-78"/>
                <a:cs typeface="Amiri" pitchFamily="2" charset="-78"/>
              </a:rPr>
              <a:t>أَنْ</a:t>
            </a:r>
            <a:endParaRPr lang="en-US" sz="125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question word</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a:t>
            </a:r>
            <a:pPr algn="l" indent="0" marL="0">
              <a:buNone/>
            </a:pPr>
            <a:r>
              <a:rPr lang="ar-SA" altLang="en-US" sz="1350" dirty="0">
                <a:solidFill>
                  <a:srgbClr val="8A6D1E"/>
                </a:solidFill>
                <a:latin typeface="Amiri" pitchFamily="2" charset="-78"/>
                <a:ea typeface="Amiri" pitchFamily="2" charset="-78"/>
                <a:cs typeface="Amiri" pitchFamily="2" charset="-78"/>
              </a:rPr>
              <a:t>أَخْرُجَ</a:t>
            </a:r>
            <a:pPr algn="l" indent="0" marL="0">
              <a:buNone/>
            </a:pPr>
            <a:r>
              <a:rPr lang="en-US" sz="1050" i="1" dirty="0">
                <a:solidFill>
                  <a:srgbClr val="8A6D1E"/>
                </a:solidFill>
                <a:latin typeface="Calibri" pitchFamily="34" charset="0"/>
                <a:cs typeface="Amiri" pitchFamily="2" charset="-78"/>
              </a:rPr>
              <a:t> after </a:t>
            </a:r>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adds qualification or contrast?</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مَعَ ذٰلِكَ</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أَوَّلًا</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 السَّادِسَةِ</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مَعَ ذٰلِكَ</a:t>
            </a:r>
            <a:pPr algn="l" indent="0" marL="0">
              <a:buNone/>
            </a:pPr>
            <a:r>
              <a:rPr lang="en-US" sz="1050" i="1" dirty="0">
                <a:solidFill>
                  <a:srgbClr val="8A6D1E"/>
                </a:solidFill>
                <a:latin typeface="Calibri" pitchFamily="34" charset="0"/>
                <a:cs typeface="Amiri" pitchFamily="2" charset="-78"/>
              </a:rPr>
              <a:t> means however / nevertheless.</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D1-L11 · Speak and Write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speak from cue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D1-L11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Cue cards</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50" b="1" dirty="0">
                <a:solidFill>
                  <a:srgbClr val="1B3B6F"/>
                </a:solidFill>
                <a:latin typeface="Amiri" pitchFamily="2" charset="-78"/>
                <a:ea typeface="Amiri" pitchFamily="2" charset="-78"/>
                <a:cs typeface="Amiri" pitchFamily="2" charset="-78"/>
              </a:rPr>
              <a:t>٦:٣٠ · إِفْطَار · حَافِلَة · سَبَب</a:t>
            </a:r>
            <a:endParaRPr lang="ar-SA" sz="18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Four cues, not a script.</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Point + reason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أَسْتَيْقِظُ فِي السَّادِسَةِ وَالنِّصْفِ </a:t>
            </a:r>
            <a:pPr rtl="1" algn="ctr" indent="0" marL="0">
              <a:lnSpc>
                <a:spcPct val="120000"/>
              </a:lnSpc>
              <a:buNone/>
            </a:pPr>
            <a:r>
              <a:rPr lang="ar-SA" altLang="en-US" sz="1750" b="1" dirty="0">
                <a:solidFill>
                  <a:srgbClr val="0E7C86"/>
                </a:solidFill>
                <a:latin typeface="Amiri" pitchFamily="2" charset="-78"/>
                <a:ea typeface="Amiri" pitchFamily="2" charset="-78"/>
                <a:cs typeface="Amiri" pitchFamily="2" charset="-78"/>
              </a:rPr>
              <a:t>لِأَنَّ</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الحَافِلَةَ تَأْتِي مُبَكِّرًا.</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Answer first, then why.</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Example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D5FBF"/>
                </a:solidFill>
                <a:latin typeface="Amiri" pitchFamily="2" charset="-78"/>
                <a:ea typeface="Amiri" pitchFamily="2" charset="-78"/>
                <a:cs typeface="Amiri" pitchFamily="2" charset="-78"/>
              </a:rPr>
              <a:t>عَلَى سَبِيلِ المِثَالِ</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أَتَنَاوَلُ الإِفْطَارَ قَبْلَ أَنْ أَخْرُ</a:t>
            </a:r>
            <a:pPr rtl="1" algn="ctr" indent="0" marL="0">
              <a:lnSpc>
                <a:spcPct val="120000"/>
              </a:lnSpc>
              <a:buNone/>
            </a:pPr>
            <a:r>
              <a:rPr lang="ar-SA" altLang="en-US" sz="1750" b="1" dirty="0">
                <a:solidFill>
                  <a:srgbClr val="D6336C"/>
                </a:solidFill>
                <a:latin typeface="Amiri" pitchFamily="2" charset="-78"/>
                <a:ea typeface="Amiri" pitchFamily="2" charset="-78"/>
                <a:cs typeface="Amiri" pitchFamily="2" charset="-78"/>
              </a:rPr>
              <a:t>جَ</a:t>
            </a:r>
            <a:pPr rtl="1" algn="ctr" indent="0" marL="0">
              <a:lnSpc>
                <a:spcPct val="120000"/>
              </a:lnSpc>
              <a:buNone/>
            </a:pPr>
            <a:r>
              <a:rPr lang="ar-SA" altLang="en-US" sz="1750" b="1" dirty="0">
                <a:solidFill>
                  <a:srgbClr val="1B3B6F"/>
                </a:solidFill>
                <a:latin typeface="Amiri" pitchFamily="2" charset="-78"/>
                <a:cs typeface="Amiri" pitchFamily="2" charset="-78"/>
              </a:rPr>
              <a:t>.</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An example with a D1 structure.</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Contrast + check</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0E7C86"/>
                </a:solidFill>
                <a:latin typeface="Amiri" pitchFamily="2" charset="-78"/>
                <a:ea typeface="Amiri" pitchFamily="2" charset="-78"/>
                <a:cs typeface="Amiri" pitchFamily="2" charset="-78"/>
              </a:rPr>
              <a:t>مَعَ ذٰلِكَ</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أَنَامُ أَطْوَلَ يَوْمَ السَّبْتِ.</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Then re-check every verb.</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REASON / CONTRAST</a:t>
            </a:r>
            <a:endParaRPr lang="en-US" sz="800" dirty="0"/>
          </a:p>
        </p:txBody>
      </p:sp>
      <p:sp>
        <p:nvSpPr>
          <p:cNvPr id="47" name="Shape 43"/>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EXAMPLE</a:t>
            </a:r>
            <a:endParaRPr lang="en-US" sz="800" dirty="0"/>
          </a:p>
        </p:txBody>
      </p:sp>
      <p:sp>
        <p:nvSpPr>
          <p:cNvPr id="49" name="Shape 45"/>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CHECKED ENDING</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أَسْتَيْقِظُ فِي السَّادِسَةِ وَالنِّصْفِ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لِأَنَّ</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الحَافِلَةَ تَأْتِي مُبَكِّرًا.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عَلَى سَبِيلِ المِثَالِ</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أَتَنَاوَلُ الإِفْطَارَ قَبْلَ أَنْ أَخْرُ</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جَ</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فِي السَّابِعَةِ إِلَّا الرُّبْعَ.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مَعَ ذٰلِكَ</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أَنَامُ أَطْوَلَ يَوْمَ السَّبْتِ، وَهٰذَا يَعْنِي أَنَّنِي أَسْتَرِيحُ جَيِّدًا.</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I wake up at half past six because the bus comes early. For example, I have breakfast before I leave at quarter to seven. However, I sleep longer on Saturday, and this means I rest well.</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D1-L11 · Speak and Write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D1-L11</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أُفَضِّلُ الرُّوتِينَ المُنَظَّمَ لِأَنَّهُ يُسَاعِدُنِي عَلَى التَّرْكِيزِ.</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prefer an organised routine because it helps me concentrate.</a:t>
            </a:r>
            <a:endParaRPr lang="en-US" sz="1250" dirty="0"/>
          </a:p>
          <a:p>
            <a:pPr indent="0" marL="0">
              <a:buNone/>
            </a:pPr>
            <a:r>
              <a:rPr lang="en-US" sz="1050" i="1" dirty="0">
                <a:solidFill>
                  <a:srgbClr val="8A6D1E"/>
                </a:solidFill>
                <a:latin typeface="Calibri" pitchFamily="34" charset="0"/>
                <a:cs typeface="Amiri" pitchFamily="2" charset="-78"/>
              </a:rPr>
              <a:t>Point + reason.</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عَلَى سَبِيلِ المِثَالِ، أُحَضِّرُ حَقِيبَتِي قَبْلَ أَنْ أَنَامَ.</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For example, I prepare my bag before sleeping.</a:t>
            </a:r>
            <a:endParaRPr lang="en-US" sz="1250" dirty="0"/>
          </a:p>
          <a:p>
            <a:pPr indent="0" marL="0">
              <a:buNone/>
            </a:pPr>
            <a:r>
              <a:rPr lang="en-US" sz="1050" i="1" dirty="0">
                <a:solidFill>
                  <a:srgbClr val="8A6D1E"/>
                </a:solidFill>
                <a:latin typeface="Calibri" pitchFamily="34" charset="0"/>
                <a:cs typeface="Amiri" pitchFamily="2" charset="-78"/>
              </a:rPr>
              <a:t>Example with target grammar.</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مَعَ ذٰلِكَ يَتَغَيَّرُ رُوتِينِي فِي العُطْلَةِ.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However, my routine changes on holiday.</a:t>
            </a:r>
            <a:endParaRPr lang="en-US" sz="1250" dirty="0"/>
          </a:p>
          <a:p>
            <a:pPr indent="0" marL="0">
              <a:buNone/>
            </a:pPr>
            <a:r>
              <a:rPr lang="en-US" sz="1050" i="1" dirty="0">
                <a:solidFill>
                  <a:srgbClr val="8A6D1E"/>
                </a:solidFill>
                <a:latin typeface="Calibri" pitchFamily="34" charset="0"/>
                <a:cs typeface="Amiri" pitchFamily="2" charset="-78"/>
              </a:rPr>
              <a:t>Qualification.</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هٰذَا يَعْنِي أَنَّنِي أَبْدَأُ يَوْمِي بِهُدُوءٍ.</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This means I start calmly.</a:t>
            </a:r>
            <a:endParaRPr lang="en-US" sz="1250" dirty="0"/>
          </a:p>
          <a:p>
            <a:pPr indent="0" marL="0">
              <a:buNone/>
            </a:pPr>
            <a:r>
              <a:rPr lang="en-US" sz="1050" i="1" dirty="0">
                <a:solidFill>
                  <a:srgbClr val="8A6D1E"/>
                </a:solidFill>
                <a:latin typeface="Calibri" pitchFamily="34" charset="0"/>
                <a:cs typeface="Amiri" pitchFamily="2" charset="-78"/>
              </a:rPr>
              <a:t>Link back to effect.</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D1-L11 · Speak and Write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UPGRADE THE ANSWER (WEBSITE MISSION)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answer is stronger?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أَيُّ إِجَابَةٍ أَقْوَى؟</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Question: </a:t>
            </a:r>
            <a:pPr algn="l" indent="0" marL="0">
              <a:buNone/>
            </a:pPr>
            <a:r>
              <a:rPr lang="ar-SA" altLang="en-US" sz="1650" b="1" dirty="0">
                <a:solidFill>
                  <a:srgbClr val="1B3B6F"/>
                </a:solidFill>
                <a:latin typeface="Amiri" pitchFamily="2" charset="-78"/>
                <a:ea typeface="Amiri" pitchFamily="2" charset="-78"/>
                <a:cs typeface="Amiri" pitchFamily="2" charset="-78"/>
              </a:rPr>
              <a:t>مَتَى تَسْتَيْقِظُ وَلِمَاذَا؟</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1250" dirty="0">
                <a:solidFill>
                  <a:srgbClr val="1F2A37"/>
                </a:solidFill>
                <a:latin typeface="Amiri" pitchFamily="2" charset="-78"/>
                <a:ea typeface="Amiri" pitchFamily="2" charset="-78"/>
                <a:cs typeface="Amiri" pitchFamily="2" charset="-78"/>
              </a:rPr>
              <a:t>أَسْتَيْقِظُ فِي السَّادِسَةِ وَالنِّصْفِ لِأَنَّ مَدْرَسَتِي تَبْدَأُ مُبَكِّرًا.</a:t>
            </a:r>
            <a:endParaRPr lang="ar-SA"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1250" dirty="0">
                <a:solidFill>
                  <a:srgbClr val="1F2A37"/>
                </a:solidFill>
                <a:latin typeface="Amiri" pitchFamily="2" charset="-78"/>
                <a:ea typeface="Amiri" pitchFamily="2" charset="-78"/>
                <a:cs typeface="Amiri" pitchFamily="2" charset="-78"/>
              </a:rPr>
              <a:t>فِي السَّادِسَةِ.</a:t>
            </a:r>
            <a:endParaRPr lang="ar-SA"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1250" dirty="0">
                <a:solidFill>
                  <a:srgbClr val="1F2A37"/>
                </a:solidFill>
                <a:latin typeface="Amiri" pitchFamily="2" charset="-78"/>
                <a:ea typeface="Amiri" pitchFamily="2" charset="-78"/>
                <a:cs typeface="Amiri" pitchFamily="2" charset="-78"/>
              </a:rPr>
              <a:t>لِأَنَّ السَّادِسَةَ.</a:t>
            </a:r>
            <a:endParaRPr lang="ar-SA"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introduces an example?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 ذٰلِكَ</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 سَبِيلِ المِثَالِ</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 مَرَّةً</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best sequence.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2" charset="-78"/>
                <a:ea typeface="Amiri" pitchFamily="2" charset="-78"/>
                <a:cs typeface="Amiri" pitchFamily="2" charset="-78"/>
              </a:rPr>
              <a:t>أَوَّلًا أَسْتَيْقِظُ، ثُمَّ أَتَنَاوَلُ الإِفْطَارَ، وَبَعْدَ ذٰلِكَ أَذْهَبُ إِلَى المَدْرَسَةِ.</a:t>
            </a:r>
            <a:endParaRPr lang="ar-SA" sz="1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2" charset="-78"/>
                <a:ea typeface="Amiri" pitchFamily="2" charset="-78"/>
                <a:cs typeface="Amiri" pitchFamily="2" charset="-78"/>
              </a:rPr>
              <a:t>أَخِيرًا أَسْتَيْقِظُ. أَوَّلًا أَنَامُ.</a:t>
            </a:r>
            <a:endParaRPr lang="ar-SA" sz="1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2" charset="-78"/>
                <a:ea typeface="Amiri" pitchFamily="2" charset="-78"/>
                <a:cs typeface="Amiri" pitchFamily="2" charset="-78"/>
              </a:rPr>
              <a:t>ثُمَّ رُوتِينٌ أَوَّلًا المَدْرَسَةُ.</a:t>
            </a:r>
            <a:endParaRPr lang="ar-SA" sz="1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strongest conclusion.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1150" dirty="0">
                <a:solidFill>
                  <a:srgbClr val="1F2A37"/>
                </a:solidFill>
                <a:latin typeface="Amiri" pitchFamily="2" charset="-78"/>
                <a:ea typeface="Amiri" pitchFamily="2" charset="-78"/>
                <a:cs typeface="Amiri" pitchFamily="2" charset="-78"/>
              </a:rPr>
              <a:t>رُوتِينِي جَيِّدٌ.</a:t>
            </a:r>
            <a:endParaRPr lang="ar-SA" sz="11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1150" dirty="0">
                <a:solidFill>
                  <a:srgbClr val="1F2A37"/>
                </a:solidFill>
                <a:latin typeface="Amiri" pitchFamily="2" charset="-78"/>
                <a:ea typeface="Amiri" pitchFamily="2" charset="-78"/>
                <a:cs typeface="Amiri" pitchFamily="2" charset="-78"/>
              </a:rPr>
              <a:t>أَسْتَيْقِظُ فِي السَّادِسَةِ.</a:t>
            </a:r>
            <a:endParaRPr lang="ar-SA" sz="11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1150" dirty="0">
                <a:solidFill>
                  <a:srgbClr val="1F2A37"/>
                </a:solidFill>
                <a:latin typeface="Amiri" pitchFamily="2" charset="-78"/>
                <a:ea typeface="Amiri" pitchFamily="2" charset="-78"/>
                <a:cs typeface="Amiri" pitchFamily="2" charset="-78"/>
              </a:rPr>
              <a:t>فِي رَأْيِي رُوتِينِي مُنَظَّمٌ لِأَنَّهُ يَجْمَعُ بَيْنَ الدِّرَاسَةِ وَالرَّاحَةِ.</a:t>
            </a:r>
            <a:endParaRPr lang="ar-SA" sz="11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70" name="Text 67"/>
          <p:cNvSpPr txBox="1"/>
          <p:nvPr/>
        </p:nvSpPr>
        <p:spPr>
          <a:xfrm>
            <a:off x="4477512"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The stronger answer:</a:t>
            </a:r>
            <a:endParaRPr lang="en-US" sz="1250" dirty="0"/>
          </a:p>
          <a:p>
            <a:pPr algn="l" indent="0" marL="0">
              <a:buNone/>
            </a:pPr>
            <a:r>
              <a:rPr lang="en-US" sz="1250" dirty="0">
                <a:solidFill>
                  <a:srgbClr val="1E6B52"/>
                </a:solidFill>
                <a:latin typeface="Calibri" pitchFamily="34" charset="0"/>
                <a:cs typeface="Amiri" pitchFamily="2" charset="-78"/>
              </a:rPr>
              <a:t>1. answers the question</a:t>
            </a:r>
            <a:endParaRPr lang="en-US" sz="1250" dirty="0"/>
          </a:p>
          <a:p>
            <a:pPr algn="l" indent="0" marL="0">
              <a:buNone/>
            </a:pPr>
            <a:r>
              <a:rPr lang="en-US" sz="1250" dirty="0">
                <a:solidFill>
                  <a:srgbClr val="1E6B52"/>
                </a:solidFill>
                <a:latin typeface="Calibri" pitchFamily="34" charset="0"/>
                <a:cs typeface="Amiri" pitchFamily="2" charset="-78"/>
              </a:rPr>
              <a:t>2. gives a reason (because …)</a:t>
            </a:r>
            <a:endParaRPr lang="en-US" sz="12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D1-L11 · Speak and Write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UPGRADE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Which answer is stronger? Answers</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Question: </a:t>
            </a:r>
            <a:pPr algn="l" indent="0" marL="0">
              <a:buNone/>
            </a:pPr>
            <a:r>
              <a:rPr lang="ar-SA" altLang="en-US" sz="1650" b="1" dirty="0">
                <a:solidFill>
                  <a:srgbClr val="1B3B6F"/>
                </a:solidFill>
                <a:latin typeface="Amiri" pitchFamily="2" charset="-78"/>
                <a:ea typeface="Amiri" pitchFamily="2" charset="-78"/>
                <a:cs typeface="Amiri" pitchFamily="2" charset="-78"/>
              </a:rPr>
              <a:t>مَتَى تَسْتَيْقِظُ وَلِمَاذَا؟</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250" b="1" dirty="0">
                <a:solidFill>
                  <a:srgbClr val="1F2A37"/>
                </a:solidFill>
                <a:latin typeface="Amiri" pitchFamily="2" charset="-78"/>
                <a:ea typeface="Amiri" pitchFamily="2" charset="-78"/>
                <a:cs typeface="Amiri" pitchFamily="2" charset="-78"/>
              </a:rPr>
              <a:t>أَسْتَيْقِظُ فِي السَّادِسَةِ وَالنِّصْفِ لِأَنَّ مَدْرَسَتِي تَبْدَأُ مُبَكِّرًا.</a:t>
            </a:r>
            <a:endParaRPr lang="ar-SA"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250" dirty="0">
                <a:solidFill>
                  <a:srgbClr val="9AA1AB"/>
                </a:solidFill>
                <a:latin typeface="Amiri" pitchFamily="2" charset="-78"/>
                <a:ea typeface="Amiri" pitchFamily="2" charset="-78"/>
                <a:cs typeface="Amiri" pitchFamily="2" charset="-78"/>
              </a:rPr>
              <a:t>فِي السَّادِسَةِ.</a:t>
            </a:r>
            <a:endParaRPr lang="ar-SA"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250" dirty="0">
                <a:solidFill>
                  <a:srgbClr val="9AA1AB"/>
                </a:solidFill>
                <a:latin typeface="Amiri" pitchFamily="2" charset="-78"/>
                <a:ea typeface="Amiri" pitchFamily="2" charset="-78"/>
                <a:cs typeface="Amiri" pitchFamily="2" charset="-78"/>
              </a:rPr>
              <a:t>لِأَنَّ السَّادِسَةَ.</a:t>
            </a:r>
            <a:endParaRPr lang="ar-SA"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Point + reason, in a full sentence.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introduces an example?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مَعَ ذٰلِكَ</a:t>
            </a:r>
            <a:endParaRPr lang="ar-SA" sz="170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عَلَى سَبِيلِ المِثَالِ</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كَمْ مَرَّةً</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For example.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best sequence.</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050" b="1" dirty="0">
                <a:solidFill>
                  <a:srgbClr val="1F2A37"/>
                </a:solidFill>
                <a:latin typeface="Amiri" pitchFamily="2" charset="-78"/>
                <a:ea typeface="Amiri" pitchFamily="2" charset="-78"/>
                <a:cs typeface="Amiri" pitchFamily="2" charset="-78"/>
              </a:rPr>
              <a:t>أَوَّلًا أَسْتَيْقِظُ، ثُمَّ أَتَنَاوَلُ الإِفْطَارَ، وَبَعْدَ ذٰلِكَ أَذْهَبُ إِلَى المَدْرَسَةِ.</a:t>
            </a:r>
            <a:endParaRPr lang="ar-SA" sz="10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050" dirty="0">
                <a:solidFill>
                  <a:srgbClr val="9AA1AB"/>
                </a:solidFill>
                <a:latin typeface="Amiri" pitchFamily="2" charset="-78"/>
                <a:ea typeface="Amiri" pitchFamily="2" charset="-78"/>
                <a:cs typeface="Amiri" pitchFamily="2" charset="-78"/>
              </a:rPr>
              <a:t>أَخِيرًا أَسْتَيْقِظُ. أَوَّلًا أَنَامُ.</a:t>
            </a:r>
            <a:endParaRPr lang="ar-SA" sz="10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050" dirty="0">
                <a:solidFill>
                  <a:srgbClr val="9AA1AB"/>
                </a:solidFill>
                <a:latin typeface="Amiri" pitchFamily="2" charset="-78"/>
                <a:ea typeface="Amiri" pitchFamily="2" charset="-78"/>
                <a:cs typeface="Amiri" pitchFamily="2" charset="-78"/>
              </a:rPr>
              <a:t>ثُمَّ رُوتِينٌ أَوَّلًا المَدْرَسَةُ.</a:t>
            </a:r>
            <a:endParaRPr lang="ar-SA" sz="10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Markers match the real order.</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strongest conclusion.</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150" dirty="0">
                <a:solidFill>
                  <a:srgbClr val="9AA1AB"/>
                </a:solidFill>
                <a:latin typeface="Amiri" pitchFamily="2" charset="-78"/>
                <a:ea typeface="Amiri" pitchFamily="2" charset="-78"/>
                <a:cs typeface="Amiri" pitchFamily="2" charset="-78"/>
              </a:rPr>
              <a:t>رُوتِينِي جَيِّدٌ.</a:t>
            </a:r>
            <a:endParaRPr lang="ar-SA" sz="11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150" dirty="0">
                <a:solidFill>
                  <a:srgbClr val="9AA1AB"/>
                </a:solidFill>
                <a:latin typeface="Amiri" pitchFamily="2" charset="-78"/>
                <a:ea typeface="Amiri" pitchFamily="2" charset="-78"/>
                <a:cs typeface="Amiri" pitchFamily="2" charset="-78"/>
              </a:rPr>
              <a:t>أَسْتَيْقِظُ فِي السَّادِسَةِ.</a:t>
            </a:r>
            <a:endParaRPr lang="ar-SA" sz="11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150" b="1" dirty="0">
                <a:solidFill>
                  <a:srgbClr val="1F2A37"/>
                </a:solidFill>
                <a:latin typeface="Amiri" pitchFamily="2" charset="-78"/>
                <a:ea typeface="Amiri" pitchFamily="2" charset="-78"/>
                <a:cs typeface="Amiri" pitchFamily="2" charset="-78"/>
              </a:rPr>
              <a:t>فِي رَأْيِي رُوتِينِي مُنَظَّمٌ لِأَنَّهُ يَجْمَعُ بَيْنَ الدِّرَاسَةِ وَالرَّاحَةِ.</a:t>
            </a:r>
            <a:endParaRPr lang="ar-SA" sz="11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Judgement + evidence.</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77" name="Text 74"/>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78" name="Text 75"/>
          <p:cNvSpPr txBox="1"/>
          <p:nvPr/>
        </p:nvSpPr>
        <p:spPr>
          <a:xfrm>
            <a:off x="4477512"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The stronger answer:</a:t>
            </a:r>
            <a:endParaRPr lang="en-US" sz="1250" dirty="0"/>
          </a:p>
          <a:p>
            <a:pPr algn="l" indent="0" marL="0">
              <a:buNone/>
            </a:pPr>
            <a:r>
              <a:rPr lang="en-US" sz="1250" dirty="0">
                <a:solidFill>
                  <a:srgbClr val="1E6B52"/>
                </a:solidFill>
                <a:latin typeface="Calibri" pitchFamily="34" charset="0"/>
                <a:cs typeface="Amiri" pitchFamily="2" charset="-78"/>
              </a:rPr>
              <a:t>1. answers the question</a:t>
            </a:r>
            <a:endParaRPr lang="en-US" sz="1250" dirty="0"/>
          </a:p>
          <a:p>
            <a:pPr algn="l" indent="0" marL="0">
              <a:buNone/>
            </a:pPr>
            <a:r>
              <a:rPr lang="en-US" sz="1250" dirty="0">
                <a:solidFill>
                  <a:srgbClr val="1E6B52"/>
                </a:solidFill>
                <a:latin typeface="Calibri" pitchFamily="34" charset="0"/>
                <a:cs typeface="Amiri" pitchFamily="2" charset="-78"/>
              </a:rPr>
              <a:t>2. gives a reason (because …)</a:t>
            </a:r>
            <a:endParaRPr lang="en-US" sz="12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D1-L11 · Speak and Write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What does this Arabic sentence add?</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D1-L11</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أَسْتَيْقِظُ فِي السَّادِسَةِ وَالرُّبْعِ.</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أَتَمَرَّنُ ثَلَاثَ مَرَّاتٍ فِي الأُسْبُوعِ.</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أُخْتِي تَعُودُ إِلَى البَيْتِ فِي الرَّابِعَةِ.</a:t>
            </a:r>
            <a:endParaRPr lang="ar-SA" sz="16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هُوَ يَسْتَعِدُّ لِلْمَدْرَسَةِ بُسُرْعَةٍ.</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قَبْلَ أَنْ أَخْرُجَ أُرَاجِعُ جَدْوَلِي.</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أُفَضِّلُ رُوتِينِي لِأَنَّهُ مُنَظَّمٌ.</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أَمَّا فِي نِهَايَةِ الأُسْبُوعِ فَأَنَامُ وَقْتًا أَطْوَلَ.</a:t>
            </a:r>
            <a:endParaRPr lang="ar-SA" sz="135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بَعْدَ أَنْ أُنْهِيَ وَاجِبِي أَسْتَرِيحُ.</a:t>
            </a:r>
            <a:endParaRPr lang="ar-SA" sz="1800" dirty="0"/>
          </a:p>
        </p:txBody>
      </p:sp>
      <p:sp>
        <p:nvSpPr>
          <p:cNvPr id="31" name="Shape 28"/>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Precise time or frequency</a:t>
            </a:r>
            <a:endParaRPr lang="en-US" sz="950" dirty="0"/>
          </a:p>
        </p:txBody>
      </p:sp>
      <p:sp>
        <p:nvSpPr>
          <p:cNvPr id="34" name="Shape 31"/>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Another person’s routine</a:t>
            </a:r>
            <a:endParaRPr lang="en-US" sz="950" dirty="0"/>
          </a:p>
        </p:txBody>
      </p:sp>
      <p:sp>
        <p:nvSpPr>
          <p:cNvPr id="37" name="Shape 34"/>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38" name="Shape 35"/>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39" name="Text 36"/>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Reason, sequence or contrast</a:t>
            </a:r>
            <a:endParaRPr lang="en-US" sz="9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D1-L11 · Speak and Write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D1-L11</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Precise time or frequency</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أَسْتَيْقِظُ فِي السَّادِسَةِ وَالرُّبْعِ.</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أَتَمَرَّنُ ثَلَاثَ مَرَّاتٍ فِي الأُسْبُوعِ.</a:t>
            </a:r>
            <a:endParaRPr lang="ar-SA" sz="1800" dirty="0"/>
          </a:p>
        </p:txBody>
      </p:sp>
      <p:sp>
        <p:nvSpPr>
          <p:cNvPr id="22" name="Shape 19"/>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3" name="Shape 20"/>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4" name="Text 21"/>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Another person’s routine</a:t>
            </a:r>
            <a:endParaRPr lang="en-US" sz="950" dirty="0"/>
          </a:p>
        </p:txBody>
      </p:sp>
      <p:sp>
        <p:nvSpPr>
          <p:cNvPr id="25" name="Shape 22"/>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6" name="Text 23"/>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أُخْتِي تَعُودُ إِلَى البَيْتِ فِي الرَّابِعَةِ.</a:t>
            </a:r>
            <a:endParaRPr lang="ar-SA" sz="1800" dirty="0"/>
          </a:p>
        </p:txBody>
      </p:sp>
      <p:sp>
        <p:nvSpPr>
          <p:cNvPr id="27" name="Shape 24"/>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هُوَ يَسْتَعِدُّ لِلْمَدْرَسَةِ بُسُرْعَةٍ.</a:t>
            </a:r>
            <a:endParaRPr lang="ar-SA" sz="1800" dirty="0"/>
          </a:p>
        </p:txBody>
      </p:sp>
      <p:sp>
        <p:nvSpPr>
          <p:cNvPr id="29" name="Shape 26"/>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0" name="Shape 27"/>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1" name="Text 28"/>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Reason, sequence or contrast</a:t>
            </a:r>
            <a:endParaRPr lang="en-US" sz="950" dirty="0"/>
          </a:p>
        </p:txBody>
      </p:sp>
      <p:sp>
        <p:nvSpPr>
          <p:cNvPr id="32" name="Shape 29"/>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3" name="Text 30"/>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قَبْلَ أَنْ أَخْرُجَ أُرَاجِعُ جَدْوَلِي.</a:t>
            </a:r>
            <a:endParaRPr lang="ar-SA" sz="1800" dirty="0"/>
          </a:p>
        </p:txBody>
      </p:sp>
      <p:sp>
        <p:nvSpPr>
          <p:cNvPr id="34" name="Shape 31"/>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5" name="Text 32"/>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أُفَضِّلُ رُوتِينِي لِأَنَّهُ مُنَظَّمٌ.</a:t>
            </a:r>
            <a:endParaRPr lang="ar-SA" sz="1800" dirty="0"/>
          </a:p>
        </p:txBody>
      </p:sp>
      <p:sp>
        <p:nvSpPr>
          <p:cNvPr id="36" name="Shape 33"/>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2" charset="-78"/>
                <a:ea typeface="Amiri" pitchFamily="2" charset="-78"/>
                <a:cs typeface="Amiri" pitchFamily="2" charset="-78"/>
              </a:rPr>
              <a:t>أَمَّا فِي نِهَايَةِ الأُسْبُوعِ فَأَنَامُ وَقْتًا أَطْوَلَ.</a:t>
            </a:r>
            <a:endParaRPr lang="ar-SA" sz="1650" dirty="0"/>
          </a:p>
        </p:txBody>
      </p:sp>
      <p:sp>
        <p:nvSpPr>
          <p:cNvPr id="38" name="Shape 35"/>
          <p:cNvSpPr/>
          <p:nvPr/>
        </p:nvSpPr>
        <p:spPr>
          <a:xfrm>
            <a:off x="594360" y="3913632"/>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3913632"/>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بَعْدَ أَنْ أُنْهِيَ وَاجِبِي أَسْتَرِيحُ.</a:t>
            </a:r>
            <a:endParaRPr lang="ar-SA" sz="18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D1-L11 · Speak and Write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2, 5,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D1-L11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adds a personal example?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 ذٰلِكَ</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 مَرَّةً</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 سَبِيلِ المِثَالِ</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question asks about frequency?</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مَتَى تَسْتَيْقِظُ؟</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 مَرَّةً تَتَمَرَّنُ؟</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مَاذَا تَفْعَلُ؟</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complete extended answer shape.</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 noun only</a:t>
            </a:r>
            <a:endParaRPr lang="en-US" sz="12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point + reason + example + contrast</a:t>
            </a:r>
            <a:endParaRPr lang="en-US" sz="12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list of times without actions</a:t>
            </a:r>
            <a:endParaRPr lang="en-US" sz="12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error analysis name?</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that the answer is wrong</a:t>
            </a:r>
            <a:endParaRPr lang="en-US" sz="12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longest sentence</a:t>
            </a:r>
            <a:endParaRPr lang="en-US" sz="12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exact language system</a:t>
            </a:r>
            <a:endParaRPr lang="en-US" sz="12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D1-L11 · Speak and Write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D1-L11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adds a personal example?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مَعَ ذٰلِكَ</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كَمْ مَرَّةً</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عَلَى سَبِيلِ المِثَالِ</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means “for example”.</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question asks about frequency?</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مَتَى تَسْتَيْقِظُ؟</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كَمْ مَرَّةً تَتَمَرَّنُ؟</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مَاذَا تَفْعَلُ؟</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كَمْ مَرَّةً</a:t>
            </a:r>
            <a:pPr algn="l" indent="0" marL="0">
              <a:buNone/>
            </a:pPr>
            <a:r>
              <a:rPr lang="en-US" sz="1050" i="1" dirty="0">
                <a:solidFill>
                  <a:srgbClr val="8A6D1E"/>
                </a:solidFill>
                <a:latin typeface="Calibri" pitchFamily="34" charset="0"/>
                <a:cs typeface="Amiri" pitchFamily="2" charset="-78"/>
              </a:rPr>
              <a:t> asks how often.</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complete extended answer shape.</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one noun only</a:t>
            </a:r>
            <a:endParaRPr lang="en-US" sz="125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point + reason + example + contrast</a:t>
            </a:r>
            <a:endParaRPr lang="en-US" sz="125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list of times without actions</a:t>
            </a:r>
            <a:endParaRPr lang="en-US" sz="125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Development comes from relevant connected detail.</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error analysis name?</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that the answer is wrong</a:t>
            </a:r>
            <a:endParaRPr lang="en-US" sz="125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longest sentence</a:t>
            </a:r>
            <a:endParaRPr lang="en-US" sz="125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exact language system</a:t>
            </a:r>
            <a:endParaRPr lang="en-US" sz="125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Naming the system makes correction transferable.</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D1-L11 · Speak and Write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D1-L11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أَنَا يَسْتَيْقِظُ فِي السَّادِسَةِ.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 → which prefix?</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قَبْلَ أَنْ أَخْرُجُ أُحَضِّرُ حَقِيبَتِي.</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After “an”, what is the last vowel?</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أُخْتِي يَعُودُ فِي الرَّابِعَةِ.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My sister → which prefix?</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D1-L11 · Speak and Write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D1-L11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أَنَا يَسْتَيْقِظُ فِي السَّادِسَةِ.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أَنَا أَسْتَيْقِظُ فِي السَّادِسَةِ.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First-person singular requires </a:t>
            </a:r>
            <a:pPr algn="l" indent="0" marL="0">
              <a:buNone/>
            </a:pPr>
            <a:r>
              <a:rPr lang="ar-SA" altLang="en-US" sz="1500" b="1" dirty="0">
                <a:solidFill>
                  <a:srgbClr val="1B3B6F"/>
                </a:solidFill>
                <a:latin typeface="Amiri" pitchFamily="2" charset="-78"/>
                <a:ea typeface="Amiri" pitchFamily="2" charset="-78"/>
                <a:cs typeface="Amiri" pitchFamily="2" charset="-78"/>
              </a:rPr>
              <a:t>أَـ</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قَبْلَ أَنْ أَخْرُجُ أُحَضِّرُ حَقِيبَتِي.</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قَبْلَ أَنْ أَخْرُجَ أُحَضِّرُ حَقِيبَتِي.</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verb after </a:t>
            </a:r>
            <a:pPr algn="l" indent="0" marL="0">
              <a:buNone/>
            </a:pPr>
            <a:r>
              <a:rPr lang="ar-SA" altLang="en-US" sz="1500" b="1" dirty="0">
                <a:solidFill>
                  <a:srgbClr val="1B3B6F"/>
                </a:solidFill>
                <a:latin typeface="Amiri" pitchFamily="2" charset="-78"/>
                <a:ea typeface="Amiri" pitchFamily="2" charset="-78"/>
                <a:cs typeface="Amiri" pitchFamily="2" charset="-78"/>
              </a:rPr>
              <a:t>أَنْ</a:t>
            </a:r>
            <a:pPr algn="l" indent="0" marL="0">
              <a:buNone/>
            </a:pPr>
            <a:r>
              <a:rPr lang="en-US" sz="1150" b="1" dirty="0">
                <a:solidFill>
                  <a:srgbClr val="1B3B6F"/>
                </a:solidFill>
                <a:latin typeface="Calibri" pitchFamily="34" charset="0"/>
                <a:cs typeface="Amiri" pitchFamily="2" charset="-78"/>
              </a:rPr>
              <a:t> is subjunctive.</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أُخْتِي يَعُودُ فِي الرَّابِعَةِ.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أُخْتِي تَعُودُ فِي الرَّابِعَةِ.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feminine subject takes </a:t>
            </a:r>
            <a:pPr algn="l" indent="0" marL="0">
              <a:buNone/>
            </a:pPr>
            <a:r>
              <a:rPr lang="ar-SA" altLang="en-US" sz="1500" b="1" dirty="0">
                <a:solidFill>
                  <a:srgbClr val="1B3B6F"/>
                </a:solidFill>
                <a:latin typeface="Amiri" pitchFamily="2" charset="-78"/>
                <a:ea typeface="Amiri" pitchFamily="2" charset="-78"/>
                <a:cs typeface="Amiri" pitchFamily="2" charset="-78"/>
              </a:rPr>
              <a:t>تَـ</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D1-L11 · Speak and Write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developed topic answer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speaker’s main preference?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organised school-day routine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routine at all</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rigid weekend</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breakfast mentioned?</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because it gives an exact time and sequence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compare climates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as part of concentration-supporting routine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example is given?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training daily</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travelling</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preparing the bag at night</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qualification follows </a:t>
            </a:r>
            <a:pPr algn="l" indent="0" marL="0">
              <a:buNone/>
            </a:pPr>
            <a:r>
              <a:rPr lang="ar-SA" altLang="en-US" sz="1650" b="1" dirty="0">
                <a:solidFill>
                  <a:srgbClr val="1B3B6F"/>
                </a:solidFill>
                <a:latin typeface="Amiri" pitchFamily="2" charset="-78"/>
                <a:ea typeface="Amiri" pitchFamily="2" charset="-78"/>
                <a:cs typeface="Amiri" pitchFamily="2" charset="-78"/>
              </a:rPr>
              <a:t>مَعَ ذٰلِكَ</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speaker does not want excessive rigidity</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speaker dislikes family time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speaker never rests</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final judgement?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every minute must be planned</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balance matters more than filling every minute</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weekends are unimportant</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3 and 5.</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عَلَى سَبِيلِ المِثَالِ</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مَعَ ذٰلِكَ</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فِي رَأْيِي</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D1-L11 · Speak and Write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D1-L11</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1950" b="1" dirty="0">
                <a:solidFill>
                  <a:srgbClr val="1B3B6F"/>
                </a:solidFill>
                <a:latin typeface="Amiri" pitchFamily="2" charset="-78"/>
                <a:ea typeface="Amiri" pitchFamily="2" charset="-78"/>
                <a:cs typeface="Amiri" pitchFamily="2" charset="-78"/>
              </a:rPr>
              <a:t>أُفَضِّلُ أَنْ أَتَّبِعَ رُوتِينًا مُنَظَّمًا فِي أَيَّامِ الدِّرَاسَةِ لِأَنَّهُ يُسَاعِدُنِي عَلَى التَّرْكِيزِ.</a:t>
            </a:r>
            <a:endParaRPr lang="ar-SA" sz="19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prefer to follow an organised routine on school days because it helps me concentrate.</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1950" b="1" dirty="0">
                <a:solidFill>
                  <a:srgbClr val="1B3B6F"/>
                </a:solidFill>
                <a:latin typeface="Amiri" pitchFamily="2" charset="-78"/>
                <a:ea typeface="Amiri" pitchFamily="2" charset="-78"/>
                <a:cs typeface="Amiri" pitchFamily="2" charset="-78"/>
              </a:rPr>
              <a:t>أَسْتَيْقِظُ فِي السَّادِسَةِ وَالنِّصْفِ، وَأَحْرِصُ عَلَى أَنْ أَتَنَاوَلَ الإِفْطَارَ قَبْلَ أَنْ أَخْرُجَ.</a:t>
            </a:r>
            <a:endParaRPr lang="ar-SA" sz="19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wake up at half past six, and I make sure I have breakfast before I leave.</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عَلَى سَبِيلِ المِثَالِ، أُحَضِّرُ حَقِيبَتِي لَيْلًا حَتَّى لَا أَنْسَى شَيْئًا.</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For example, I prepare my bag at night so that I don’t forget anything.</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مَعَ ذٰلِكَ لَا أُرِيدُ جَدْوَلًا صَارِمًا جِدًّا؛ فَفِي نِهَايَةِ الأُسْبُوعِ أَسْتَيْقِظُ مُتَأَخِّرًا وَأَقْضِي وَقْتًا مَعَ أُسْرَتِي.</a:t>
            </a:r>
            <a:endParaRPr lang="ar-SA" sz="155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However, I don’t want a very strict timetable; at the weekend I wake up late and spend time with my family.</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فِي رَأْيِي، التَّوَازُنُ أَهَمُّ مِنْ مَلْءِ كُلِّ دَقِيقَةٍ.</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my opinion, balance is more important than filling every minute.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D1-L11 · Speak and Write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speaker’s main preference?</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an organised school-day routine</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 routine at all</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rigid weekend</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point is stated immediately.</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breakfast mentioned?</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because it gives an exact time and sequence</a:t>
            </a:r>
            <a:endParaRPr lang="en-US" sz="11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compare climates</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as part of concentration-supporting routine</a:t>
            </a:r>
            <a:endParaRPr lang="en-US" sz="11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supports the reasoned routine description.</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example is given?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training daily</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travelling</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preparing the bag at night</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عَلَى سَبِيلِ المِثَالِ</a:t>
            </a:r>
            <a:pPr algn="l" indent="0" marL="0">
              <a:buNone/>
            </a:pPr>
            <a:r>
              <a:rPr lang="en-US" sz="1050" i="1" dirty="0">
                <a:solidFill>
                  <a:srgbClr val="8A6D1E"/>
                </a:solidFill>
                <a:latin typeface="Calibri" pitchFamily="34" charset="0"/>
                <a:cs typeface="Amiri" pitchFamily="2" charset="-78"/>
              </a:rPr>
              <a:t> introduces it.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qualification follows </a:t>
            </a:r>
            <a:pPr algn="l" indent="0" marL="0">
              <a:buNone/>
            </a:pPr>
            <a:r>
              <a:rPr lang="ar-SA" altLang="en-US" sz="1650" b="1" dirty="0">
                <a:solidFill>
                  <a:srgbClr val="1B3B6F"/>
                </a:solidFill>
                <a:latin typeface="Amiri" pitchFamily="2" charset="-78"/>
                <a:ea typeface="Amiri" pitchFamily="2" charset="-78"/>
                <a:cs typeface="Amiri" pitchFamily="2" charset="-78"/>
              </a:rPr>
              <a:t>مَعَ ذٰلِكَ</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 speaker does not want excessive rigidity</a:t>
            </a:r>
            <a:endParaRPr lang="en-US" sz="11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speaker dislikes family time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speaker never rests</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answer becomes balanced.</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final judgement?</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every minute must be planned</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balance matters more than filling every minute</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weekends are unimportant</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final sentence states the judgement.</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3 and 5.</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عَلَى سَبِيلِ المِثَالِ</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مَعَ ذٰلِكَ</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فِي رَأْيِي</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D1-L11 · Speak and Write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D1 topic conversation rehearsal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D1-L11</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صِفْ رُوتِينَكَ فِي يَوْمٍ دِرَاسِيٍّ عَادِيٍّ، وَاذْكُرْ وَقْتَيْنِ دَقِيقَيْنِ.</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يَفْعَلُ شَخْصٌ آخَرُ فِي أُسْرَتِكَ بَعْدَ المَدْرَسَةِ أَوِ العَمَلِ؟</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كَمْ مَرَّةً تَقُومُ بِنَشَاطٍ مُعَيَّنٍ فِي الأُسْبُوعِ، وَلِمَاذَا؟</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قَارِنْ بَيْنَ رُوتِينِكَ فِي أَيَّامِ الدِّرَاسَةِ وَفِي نِهَايَةِ الأُسْبُوعِ.</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أَسْتَيْقِظُ فِي ___ لِأَنَّ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عَلَى سَبِيلِ المِثَالِ ،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___ مَرَّتَيْنِ فِي الأُسْبُوعِ لِأَنَّ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مَعَ ذٰلِكَ ، ___ . هٰذَا يَعْنِي أَنَّ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كَيْفَ تُنَظِّمُ رُوتِينَكَ فِي أَيَّامِ الدِّرَاسَةِ؟</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How do you organise your routine on school days?</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100" dirty="0">
                <a:solidFill>
                  <a:srgbClr val="1F2A37"/>
                </a:solidFill>
                <a:latin typeface="Amiri" pitchFamily="2" charset="-78"/>
                <a:ea typeface="Amiri" pitchFamily="2" charset="-78"/>
                <a:cs typeface="Amiri" pitchFamily="2" charset="-78"/>
              </a:rPr>
              <a:t>أَسْتَيْقِظُ فِي السَّادِسَةِ وَالنِّصْفِ، وَأُحَضِّرُ حَقِيبَتِي قَبْلَ أَنْ أَخْرُجَ. عَلَى سَبِيلِ المِثَالِ، أُكْمِلُ وَاجِبِي قَبْلَ أَنْ أَسْتَعْمِلَ هَاتِفِي. مَعَ ذٰلِكَ، فِي نِهَايَةِ الأُسْبُوعِ يَكُونُ رُوتِينِي أَكْثَرَ مَرُونَةً.</a:t>
            </a:r>
            <a:endParaRPr lang="ar-SA" sz="110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I wake at half past six and prepare my bag before I leave. For example, I finish my homework before I use my phone. However, at the weekend my routine is more flexible.</a:t>
            </a:r>
            <a:endParaRPr lang="en-US" sz="7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D1-L11 · Speak and Write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D1-L11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6–8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Answer three questions with point and reason.</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Your school day with two exact times, one “before I …”, and one reason (because).</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10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Sustain 30–45 seconds with example and target grammar.</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Add a family member (he / she), how often, an example and a contrast with the weekend.</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Respond spontaneously to an unseen follow-up and self-correct accurately.</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a polished article or email about your daily and weekend routine, comparing another person. Check every verb against the grammar vault.</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D1-L11 · Speak and Write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D1-L11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أَخِي يَـ ______ / أُخْتِي تَـ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brother / sister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650" b="1" dirty="0">
                <a:solidFill>
                  <a:srgbClr val="1B3B6F"/>
                </a:solidFill>
                <a:latin typeface="Amiri" pitchFamily="2" charset="-78"/>
                <a:ea typeface="Amiri" pitchFamily="2" charset="-78"/>
                <a:cs typeface="Amiri" pitchFamily="2" charset="-78"/>
              </a:rPr>
              <a:t>______ مَرَّتَيْنِ فِي الأُسْبُوعِ ، بَيْنَمَا ______ .</a:t>
            </a:r>
            <a:endParaRPr lang="ar-SA" sz="165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 twice a week, whereas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عَلَى سَبِيلِ المِثَالِ ،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For example,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أَمَّا فِي نِهَايَةِ الأُسْبُوعِ فَـ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As for the weekend,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2" charset="-78"/>
                <a:ea typeface="Amiri" pitchFamily="2" charset="-78"/>
                <a:cs typeface="Amiri" pitchFamily="2" charset="-78"/>
              </a:rPr>
              <a:t>مَعَ ذٰلِكَ ، ______ . هٰذَا يَعْنِي أَنَّ ______ .</a:t>
            </a:r>
            <a:endParaRPr lang="ar-SA" sz="175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However, … This means that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أَيَّامِ الدِّرَاسَةِ أَسْتَيْقِظُ فِي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On school days I wake up at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أَتَنَاوَلُ الإِفْطَارَ قَبْلَ أَنْ أَخْرُجَ.</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have breakfast before I leave.</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2" charset="-78"/>
                <a:ea typeface="Amiri" pitchFamily="2" charset="-78"/>
                <a:cs typeface="Amiri" pitchFamily="2" charset="-78"/>
              </a:rPr>
              <a:t>أَذْهَبُ إِلَى المَدْرَسَةِ بِـ ______ لِأَنَّ ______ .</a:t>
            </a:r>
            <a:endParaRPr lang="ar-SA" sz="175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go to school by … because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بَعْدَ المَدْرَسَةِ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After school I …</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أَنَامُ فِي ______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sleep at …</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أَسْتَيْقِظُ  ·  أَتَنَاوَلُ  ·  أَسْتَقِلُّ  ·  قَبْلَ أَنْ  ·  بَعْدَ أَنْ  ·  لِأَنَّ  ·  عَلَى سَبِيلِ المِثَالِ  ·  مَعَ ذٰلِكَ  ·  بَيْنَمَا  ·  أَمَّا … فَـ  ·  مَرَّتَيْنِ  ·  فِي رَأْيِي</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D1-L11 · Speak and Write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D1-L11</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a polished 100–120-word article or email about your daily and weekend routine, including another person for comparison.</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Give at least two exact times (past / to the hour).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before/after + a verb with the correct ending.</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Include another person (he / she) for comparison.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Point + Reason + Example + Contrast.</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Check every verb against the D1 grammar vault.</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أَحْرِصُ عَلَى أَنْ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make sure that I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حَتَّى لَا أَنْسَى شَيْئًا</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so that I don’t forget anything</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لَا أُرِيدُ جَدْوَلًا صَارِمًا جِدًّا</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don’t want a very strict timetable</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التَّوَازُنُ أَهَمُّ مِنْ مَلْءِ كُلِّ دَقِيقَةٍ</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balance is more important than filling every minute</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هٰذَا يَعْنِي أَنَّنِي …</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this means that I …</a:t>
            </a:r>
            <a:endParaRPr lang="en-US" sz="10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D1-L11 · Speak and Write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D1-L11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2" charset="-78"/>
                <a:ea typeface="Amiri" pitchFamily="2" charset="-78"/>
                <a:cs typeface="Amiri" pitchFamily="2" charset="-78"/>
              </a:rPr>
              <a:t>أَسْتَيْقِظُ فِي أَيَّامِ الدِّرَاسَةِ فِي السَّادِسَةِ وَالنِّصْفِ، وَأَتَنَاوَلُ الإِفْطَارَ قَبْلَ أَنْ أَخْرُجَ مِنَ البَيْتِ فِي السَّابِعَةِ وَالرُّبْعِ. أَسْتَقِلُّ الحَافِلَةَ لِأَنَّ المَدْرَسَةَ بَعِيدَةٌ. بَعْدَ أَنْ أَعُودَ، أَسْتَرِيحُ نِصْفَ سَاعَةٍ، ثُمَّ أُكْمِلُ وَاجِبِي. أَتَمَرَّنُ مَرَّتَيْنِ فِي الأُسْبُوعِ، بَيْنَمَا تَتَمَرَّنُ أُخْتِي كُلَّ يَوْمٍ تَقْرِيبًا لِأَنَّهَا تُحِبُّ السِّبَاحَةَ. أَمَّا فِي نِهَايَةِ الأُسْبُوعِ فَأَنَامُ وَقْتًا أَطْوَلَ، وَغَالِبًا مَا أَزُورُ أَقَارِبِي؛ عَلَى سَبِيلِ المِثَالِ، نَتَنَاوَلُ الغَدَاءَ عِنْدَ جَدَّتِي يَوْمَ السَّبْتِ. مَعَ ذٰلِكَ، أُخَصِّصُ سَاعَةً يَوْمَ الأَحَدِ لِلْمُرَاجَعَةِ. فِي رَأْيِي، رُوتِينِي مُتَوَازِنٌ، وَلٰكِنَّنِي أُرِيدُ أَنْ أَنَامَ مُبَكِّرًا.</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On school days I wake up at half past six, and I have breakfast before I leave the house at quarter past seven. I take the bus because school is far. After I return, I rest for half an hour, then I finish my homework. I train twice a week, whereas my sister trains almost every day because she loves swimming. As for the weekend, I sleep longer, and I often visit my relatives; for example, we have lunch at my grandmother’s on Saturday. However, I set aside an hour on Sunday for revision. In my opinion, my routine is balanced, but I want to sleep earlier.</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two exact times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before/after + verb</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another person (she)</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example and contrast</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46</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D1-L11 · Speak and Write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D1-L11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Every “I” verb starts with a- or u-.</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times are correct (past / to the hour).</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After “before / after + an”, my verb ends in fatḥa.</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gave an example and a contrast.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checked every verb against the grammar vault.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46</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D1-L11 · Speak and Write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D1-L11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Correct: </a:t>
            </a:r>
            <a:pPr algn="l" indent="0" marL="0">
              <a:buNone/>
            </a:pPr>
            <a:r>
              <a:rPr lang="ar-SA" altLang="en-US" sz="1650" b="1" dirty="0">
                <a:solidFill>
                  <a:srgbClr val="1B3B6F"/>
                </a:solidFill>
                <a:latin typeface="Amiri" pitchFamily="2" charset="-78"/>
                <a:ea typeface="Amiri" pitchFamily="2" charset="-78"/>
                <a:cs typeface="Amiri" pitchFamily="2" charset="-78"/>
              </a:rPr>
              <a:t>أَنَا يَسْتَيْقِظُ</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أَنَا أَسْتَيْقِظُ.</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أَنَا تَسْتَيْقِظُ.</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أَنَا نَسْتَيْقِظُ.</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Correct: </a:t>
            </a:r>
            <a:pPr algn="l" indent="0" marL="0">
              <a:buNone/>
            </a:pPr>
            <a:r>
              <a:rPr lang="ar-SA" altLang="en-US" sz="1650" b="1" dirty="0">
                <a:solidFill>
                  <a:srgbClr val="1B3B6F"/>
                </a:solidFill>
                <a:latin typeface="Amiri" pitchFamily="2" charset="-78"/>
                <a:ea typeface="Amiri" pitchFamily="2" charset="-78"/>
                <a:cs typeface="Amiri" pitchFamily="2" charset="-78"/>
              </a:rPr>
              <a:t>قَبْلَ أَنْ تَذْهَبُونَ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قَبْلَ أَنْ تَذْهَبُ.</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قَبْلَ أَنْ تَذْهَبُوا.</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قَبْلَ أَنْ ذَهَبْتُمْ.</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makes a revision target precise?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rule + task + frequency</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“improve Arabic”</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“work harder sometime”</a:t>
            </a:r>
            <a:endParaRPr lang="en-US" sz="12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46</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D1-L11 · Speak and Write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D1-L11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Correct: </a:t>
            </a:r>
            <a:pPr algn="l" indent="0" marL="0">
              <a:buNone/>
            </a:pPr>
            <a:r>
              <a:rPr lang="ar-SA" altLang="en-US" sz="1650" b="1" dirty="0">
                <a:solidFill>
                  <a:srgbClr val="1B3B6F"/>
                </a:solidFill>
                <a:latin typeface="Amiri" pitchFamily="2" charset="-78"/>
                <a:ea typeface="Amiri" pitchFamily="2" charset="-78"/>
                <a:cs typeface="Amiri" pitchFamily="2" charset="-78"/>
              </a:rPr>
              <a:t>أَنَا يَسْتَيْقِظُ</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أَنَا أَسْتَيْقِظُ.</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أَنَا تَسْتَيْقِظُ.</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أَنَا نَسْتَيْقِظُ.</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First person takes </a:t>
            </a:r>
            <a:pPr algn="l" indent="0" marL="0">
              <a:buNone/>
            </a:pPr>
            <a:r>
              <a:rPr lang="ar-SA" altLang="en-US" sz="1350" dirty="0">
                <a:solidFill>
                  <a:srgbClr val="8A6D1E"/>
                </a:solidFill>
                <a:latin typeface="Amiri" pitchFamily="2" charset="-78"/>
                <a:ea typeface="Amiri" pitchFamily="2" charset="-78"/>
                <a:cs typeface="Amiri" pitchFamily="2" charset="-78"/>
              </a:rPr>
              <a:t>أَـ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Correct: </a:t>
            </a:r>
            <a:pPr algn="l" indent="0" marL="0">
              <a:buNone/>
            </a:pPr>
            <a:r>
              <a:rPr lang="ar-SA" altLang="en-US" sz="1650" b="1" dirty="0">
                <a:solidFill>
                  <a:srgbClr val="1B3B6F"/>
                </a:solidFill>
                <a:latin typeface="Amiri" pitchFamily="2" charset="-78"/>
                <a:ea typeface="Amiri" pitchFamily="2" charset="-78"/>
                <a:cs typeface="Amiri" pitchFamily="2" charset="-78"/>
              </a:rPr>
              <a:t>قَبْلَ أَنْ تَذْهَبُونَ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قَبْلَ أَنْ تَذْهَبُ.</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قَبْلَ أَنْ تَذْهَبُوا.</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قَبْلَ أَنْ ذَهَبْتُمْ.</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Drop final nūn after </a:t>
            </a:r>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makes a revision target precise?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rule + task + frequency</a:t>
            </a:r>
            <a:endParaRPr lang="en-US" sz="12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“improve Arabic”</a:t>
            </a:r>
            <a:endParaRPr lang="en-US" sz="12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“work harder sometime”</a:t>
            </a:r>
            <a:endParaRPr lang="en-US" sz="12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precise target identifies what and how often.</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46</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D1-L11 · Speak and Write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Error-analysis report</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D1-L11</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بَعْدَ المُرَاجَعَةِ وَجَدَتْ لِينَا أَنَّ أَكْثَرَ أَخْطَائِهَا يَقَعُ فِي أَرْبَعِ فِئَاتٍ. أَوَّلًا، كَانَتْ تَنْسَى تَغْيِيرَ بِدَايَةِ الفِعْلِ عِنْدَمَا يَتَغَيَّرُ الفَاعِلُ. ثَانِيًا، كَانَتْ تَكْتُبُ الضَّمَّةَ بَعْدَ «أَنْ». ثَالِثًا، كَانَتْ تَخْلِطُ بَيْنَ «وَالرُّبْعُ» وَ«إِلَّا الرُّبْعَ». وَأَخِيرًا، كَانَتْ تَذْكُرُ نَشَاطًا دُونَ أَنْ تُحَدِّدَ تَكْرَارَهُ. صَنَعَتْ جَدْوَلًا لِلْمُرَاجَعَةِ: خَمْسُ جُمَلٍ لِكُلِّ فِئَةٍ، ثُمَّ إِجَابَةٌ شَفَهِيَّةٌ تَسْتَعْمِلُ التَّرَاكِيبَ نَفْسَهَا. بَعْدَ ثَلَاثَةِ أَيَّامٍ اِنْخَفَضَ عَدَدُ الأَخْطَاءِ، لِأَنَّ التَّدْرِيبَ كَانَ مُحَدَّدًا.</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بَعْدَ المُرَاجَعَةِ</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after revising</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أَكْثَرُ أَخْطَائِهَا</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most of her mistakes</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فِئَاتٍ</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categories</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بِدَايَةِ الفِعْلِ</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start of the verb</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الفَاعِلُ</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subject</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تَخْلِطُ بَيْنَ</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she confuses</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تَكْرَارَهُ</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its frequency</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إِجَابَةٌ شَفَهِيَّةٌ</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spoken answer</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اِنْخَفَضَ</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fell, went down</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مُحَدَّدًا</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specific</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46</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D1-L11 · Speak and Write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D1-L11</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was Lina’s first error family?</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time expressions</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person prefixes</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plural nouns</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happened after </a:t>
            </a:r>
            <a:pPr algn="l" indent="0" marL="0">
              <a:buNone/>
            </a:pPr>
            <a:r>
              <a:rPr lang="ar-SA" altLang="en-US" sz="1650" b="1" dirty="0">
                <a:solidFill>
                  <a:srgbClr val="1B3B6F"/>
                </a:solidFill>
                <a:latin typeface="Amiri" pitchFamily="2" charset="-78"/>
                <a:ea typeface="Amiri" pitchFamily="2" charset="-78"/>
                <a:cs typeface="Amiri" pitchFamily="2" charset="-78"/>
              </a:rPr>
              <a:t>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omitted the subject</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used the past tense</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kept the indicative ending</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two time forms did she confuse?</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quarter past and quarter to</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half past and exact hour</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morning and evening</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detail was missing from activity sentences?</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town name</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frequency</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colour</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did she practise each error family?</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five sentences and a spoken answer</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 translation only</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copying a model paragraph</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did the number of errors fall?</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text became shorter</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stopped speaking</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practice was specific</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46</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D1-L11 · Speak and Write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D1-L11</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was Lina’s first error family?</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time expressions</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person prefixes</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plural nouns</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forgot to change the beginning of the verb.</a:t>
            </a:r>
            <a:endParaRPr lang="en-US" sz="10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happened after </a:t>
            </a:r>
            <a:pPr algn="l" indent="0" marL="0">
              <a:buNone/>
            </a:pPr>
            <a:r>
              <a:rPr lang="ar-SA" altLang="en-US" sz="1650" b="1" dirty="0">
                <a:solidFill>
                  <a:srgbClr val="1B3B6F"/>
                </a:solidFill>
                <a:latin typeface="Amiri" pitchFamily="2" charset="-78"/>
                <a:ea typeface="Amiri" pitchFamily="2" charset="-78"/>
                <a:cs typeface="Amiri" pitchFamily="2" charset="-78"/>
              </a:rPr>
              <a:t>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she omitted the subject</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she used the past tense</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she kept the indicative ending</a:t>
            </a:r>
            <a:endParaRPr lang="en-US" sz="11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wrote the ḍamma instead of the subjunctive form.</a:t>
            </a:r>
            <a:endParaRPr lang="en-US" sz="10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two time forms did she confuse?</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quarter past and quarter to</a:t>
            </a:r>
            <a:endParaRPr lang="en-US" sz="11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half past and exact hour</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morning and evening</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وَالرُّبْعُ</a:t>
            </a:r>
            <a:pPr algn="l" indent="0" marL="0">
              <a:buNone/>
            </a:pPr>
            <a:r>
              <a:rPr lang="en-US" sz="1050" i="1" dirty="0">
                <a:solidFill>
                  <a:srgbClr val="8A6D1E"/>
                </a:solidFill>
                <a:latin typeface="Calibri" pitchFamily="34" charset="0"/>
                <a:cs typeface="Amiri" pitchFamily="2" charset="-78"/>
              </a:rPr>
              <a:t> and </a:t>
            </a:r>
            <a:pPr algn="l" indent="0" marL="0">
              <a:buNone/>
            </a:pPr>
            <a:r>
              <a:rPr lang="ar-SA" altLang="en-US" sz="1350" dirty="0">
                <a:solidFill>
                  <a:srgbClr val="8A6D1E"/>
                </a:solidFill>
                <a:latin typeface="Amiri" pitchFamily="2" charset="-78"/>
                <a:ea typeface="Amiri" pitchFamily="2" charset="-78"/>
                <a:cs typeface="Amiri" pitchFamily="2" charset="-78"/>
              </a:rPr>
              <a:t>إِلَّا الرُّبْعَ</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detail was missing from activity sentences?</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town name</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frequency</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colour</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named activities without saying how often.</a:t>
            </a:r>
            <a:endParaRPr lang="en-US" sz="10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did she practise each error family?</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five sentences and a spoken answer</a:t>
            </a:r>
            <a:endParaRPr lang="en-US" sz="11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one translation only</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copying a model paragraph</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Her practice was targeted and productive.</a:t>
            </a:r>
            <a:endParaRPr lang="en-US" sz="10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did the number of errors fall?</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text became shorter</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she stopped speaking</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practice was specific</a:t>
            </a:r>
            <a:endParaRPr lang="en-US" sz="12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لِأَنَّ التَّدْرِيبَ كَانَ مُحَدَّدًا.</a:t>
            </a:r>
            <a:endParaRPr lang="ar-SA" sz="13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46</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D1-L11 · Speak and Write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Speaking-and-writing upgrade challenge</a:t>
            </a:r>
            <a:endParaRPr lang="en-US" sz="23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D1-L11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050" b="1" dirty="0">
                <a:solidFill>
                  <a:srgbClr val="1B3B6F"/>
                </a:solidFill>
                <a:latin typeface="Calibri" pitchFamily="34" charset="0"/>
                <a:cs typeface="Amiri" pitchFamily="2" charset="-78"/>
              </a:rPr>
              <a:t>Choose the strongest answer to:</a:t>
            </a:r>
            <a:endParaRPr lang="en-US" sz="1050" dirty="0"/>
          </a:p>
        </p:txBody>
      </p:sp>
      <p:sp>
        <p:nvSpPr>
          <p:cNvPr id="21" name="Text 18"/>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مَتَى تَسْتَيْقِظُ وَلِمَاذَا؟</a:t>
            </a:r>
            <a:endParaRPr lang="ar-SA" sz="15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1250" dirty="0">
                <a:solidFill>
                  <a:srgbClr val="1F2A37"/>
                </a:solidFill>
                <a:latin typeface="Amiri" pitchFamily="2" charset="-78"/>
                <a:ea typeface="Amiri" pitchFamily="2" charset="-78"/>
                <a:cs typeface="Amiri" pitchFamily="2" charset="-78"/>
              </a:rPr>
              <a:t>فِي السَّادِسَةِ.</a:t>
            </a:r>
            <a:endParaRPr lang="ar-SA" sz="12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1250" dirty="0">
                <a:solidFill>
                  <a:srgbClr val="1F2A37"/>
                </a:solidFill>
                <a:latin typeface="Amiri" pitchFamily="2" charset="-78"/>
                <a:ea typeface="Amiri" pitchFamily="2" charset="-78"/>
                <a:cs typeface="Amiri" pitchFamily="2" charset="-78"/>
              </a:rPr>
              <a:t>أَسْتَيْقِظُ فِي السَّادِسَةِ وَالنِّصْفِ لِأَنَّ مَدْرَسَتِي تَبْدَأُ مُبَكِّرًا.</a:t>
            </a:r>
            <a:endParaRPr lang="ar-SA" sz="12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1250" dirty="0">
                <a:solidFill>
                  <a:srgbClr val="1F2A37"/>
                </a:solidFill>
                <a:latin typeface="Amiri" pitchFamily="2" charset="-78"/>
                <a:ea typeface="Amiri" pitchFamily="2" charset="-78"/>
                <a:cs typeface="Amiri" pitchFamily="2" charset="-78"/>
              </a:rPr>
              <a:t>لِأَنَّ السَّادِسَةَ.</a:t>
            </a:r>
            <a:endParaRPr lang="ar-SA" sz="12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best introduces a supporting example?</a:t>
            </a:r>
            <a:endParaRPr lang="en-US" sz="1250" dirty="0"/>
          </a:p>
        </p:txBody>
      </p:sp>
      <p:sp>
        <p:nvSpPr>
          <p:cNvPr id="35" name="Shape 32"/>
          <p:cNvSpPr/>
          <p:nvPr/>
        </p:nvSpPr>
        <p:spPr>
          <a:xfrm>
            <a:off x="4459224"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 سَبِيلِ المِثَالِ</a:t>
            </a:r>
            <a:endParaRPr lang="ar-SA" sz="2050" dirty="0"/>
          </a:p>
        </p:txBody>
      </p:sp>
      <p:sp>
        <p:nvSpPr>
          <p:cNvPr id="38" name="Shape 35"/>
          <p:cNvSpPr/>
          <p:nvPr/>
        </p:nvSpPr>
        <p:spPr>
          <a:xfrm>
            <a:off x="4459224"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 ذٰلِكَ</a:t>
            </a:r>
            <a:endParaRPr lang="ar-SA" sz="2050" dirty="0"/>
          </a:p>
        </p:txBody>
      </p:sp>
      <p:sp>
        <p:nvSpPr>
          <p:cNvPr id="41" name="Shape 38"/>
          <p:cNvSpPr/>
          <p:nvPr/>
        </p:nvSpPr>
        <p:spPr>
          <a:xfrm>
            <a:off x="4459224"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 مَرَّةً</a:t>
            </a:r>
            <a:endParaRPr lang="ar-SA" sz="2050" dirty="0"/>
          </a:p>
        </p:txBody>
      </p:sp>
      <p:sp>
        <p:nvSpPr>
          <p:cNvPr id="44" name="Shape 41"/>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23504" y="1947672"/>
            <a:ext cx="310896" cy="310896"/>
          </a:xfrm>
          <a:prstGeom prst="ellipse">
            <a:avLst/>
          </a:prstGeom>
          <a:solidFill>
            <a:srgbClr val="1B3B6F"/>
          </a:solidFill>
          <a:ln w="12700">
            <a:solidFill>
              <a:srgbClr val="1B3B6F"/>
            </a:solidFill>
            <a:prstDash val="solid"/>
          </a:ln>
        </p:spPr>
      </p:sp>
      <p:sp>
        <p:nvSpPr>
          <p:cNvPr id="46" name="Text 43"/>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7" name="Text 44"/>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Repair:</a:t>
            </a:r>
            <a:endParaRPr lang="en-US" sz="1200" dirty="0"/>
          </a:p>
        </p:txBody>
      </p:sp>
      <p:sp>
        <p:nvSpPr>
          <p:cNvPr id="48" name="Text 45"/>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2" charset="-78"/>
                <a:ea typeface="Amiri" pitchFamily="2" charset="-78"/>
                <a:cs typeface="Amiri" pitchFamily="2" charset="-78"/>
              </a:rPr>
              <a:t>أَنَا يَسْتَيْقِظُ فِي السَّادِسَةِ.</a:t>
            </a:r>
            <a:endParaRPr lang="ar-SA" sz="1400" dirty="0"/>
          </a:p>
        </p:txBody>
      </p:sp>
      <p:sp>
        <p:nvSpPr>
          <p:cNvPr id="49" name="Shape 46"/>
          <p:cNvSpPr/>
          <p:nvPr/>
        </p:nvSpPr>
        <p:spPr>
          <a:xfrm>
            <a:off x="8278368" y="25328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أَنَا تَسْتَيْقِظُ فِي السَّادِسَةِ.</a:t>
            </a:r>
            <a:endParaRPr lang="ar-SA" sz="2050" dirty="0"/>
          </a:p>
        </p:txBody>
      </p:sp>
      <p:sp>
        <p:nvSpPr>
          <p:cNvPr id="52" name="Shape 49"/>
          <p:cNvSpPr/>
          <p:nvPr/>
        </p:nvSpPr>
        <p:spPr>
          <a:xfrm>
            <a:off x="8278368" y="29900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أَنَا نَسْتَيْقِظُ فِي السَّادِسَةِ.</a:t>
            </a:r>
            <a:endParaRPr lang="ar-SA" sz="2050" dirty="0"/>
          </a:p>
        </p:txBody>
      </p:sp>
      <p:sp>
        <p:nvSpPr>
          <p:cNvPr id="55" name="Shape 52"/>
          <p:cNvSpPr/>
          <p:nvPr/>
        </p:nvSpPr>
        <p:spPr>
          <a:xfrm>
            <a:off x="8278368" y="3447288"/>
            <a:ext cx="256032" cy="256032"/>
          </a:xfrm>
          <a:prstGeom prst="ellipse">
            <a:avLst/>
          </a:prstGeom>
          <a:solidFill>
            <a:srgbClr val="F4F1EA"/>
          </a:solidFill>
          <a:ln w="12700">
            <a:solidFill>
              <a:srgbClr val="F4F1EA"/>
            </a:solidFill>
            <a:prstDash val="solid"/>
          </a:ln>
        </p:spPr>
      </p:sp>
      <p:sp>
        <p:nvSpPr>
          <p:cNvPr id="56" name="Text 53"/>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7" name="Text 54"/>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أَنَا أَسْتَيْقِظُ فِي السَّادِسَةِ.</a:t>
            </a:r>
            <a:endParaRPr lang="ar-SA" sz="2050" dirty="0"/>
          </a:p>
        </p:txBody>
      </p:sp>
      <p:sp>
        <p:nvSpPr>
          <p:cNvPr id="58" name="Shape 55"/>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585216" y="4288536"/>
            <a:ext cx="310896" cy="310896"/>
          </a:xfrm>
          <a:prstGeom prst="ellipse">
            <a:avLst/>
          </a:prstGeom>
          <a:solidFill>
            <a:srgbClr val="1B3B6F"/>
          </a:solidFill>
          <a:ln w="12700">
            <a:solidFill>
              <a:srgbClr val="1B3B6F"/>
            </a:solidFill>
            <a:prstDash val="solid"/>
          </a:ln>
        </p:spPr>
      </p:sp>
      <p:sp>
        <p:nvSpPr>
          <p:cNvPr id="60" name="Text 5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1" name="Text 58"/>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Repair:</a:t>
            </a:r>
            <a:endParaRPr lang="en-US" sz="1200" dirty="0"/>
          </a:p>
        </p:txBody>
      </p:sp>
      <p:sp>
        <p:nvSpPr>
          <p:cNvPr id="62" name="Text 59"/>
          <p:cNvSpPr txBox="1"/>
          <p:nvPr/>
        </p:nvSpPr>
        <p:spPr>
          <a:xfrm>
            <a:off x="2406701" y="4224528"/>
            <a:ext cx="1577035"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2" charset="-78"/>
                <a:ea typeface="Amiri" pitchFamily="2" charset="-78"/>
                <a:cs typeface="Amiri" pitchFamily="2" charset="-78"/>
              </a:rPr>
              <a:t>قَبْلَ أَنْ أَخْرُجُ مِنَ البَيْتِ أُحَضِّرُ حَقِيبَتِي.</a:t>
            </a:r>
            <a:endParaRPr lang="ar-SA" sz="1000" dirty="0"/>
          </a:p>
        </p:txBody>
      </p:sp>
      <p:sp>
        <p:nvSpPr>
          <p:cNvPr id="63" name="Shape 60"/>
          <p:cNvSpPr/>
          <p:nvPr/>
        </p:nvSpPr>
        <p:spPr>
          <a:xfrm>
            <a:off x="640080" y="48737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5" name="Text 62"/>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1750" dirty="0">
                <a:solidFill>
                  <a:srgbClr val="1F2A37"/>
                </a:solidFill>
                <a:latin typeface="Amiri" pitchFamily="2" charset="-78"/>
                <a:ea typeface="Amiri" pitchFamily="2" charset="-78"/>
                <a:cs typeface="Amiri" pitchFamily="2" charset="-78"/>
              </a:rPr>
              <a:t>قَبْلَ أَنْ يَخْرُجُ مِنَ البَيْتِ أُحَضِّرُ حَقِيبَتِي.</a:t>
            </a:r>
            <a:endParaRPr lang="ar-SA" sz="1750" dirty="0"/>
          </a:p>
        </p:txBody>
      </p:sp>
      <p:sp>
        <p:nvSpPr>
          <p:cNvPr id="66" name="Shape 63"/>
          <p:cNvSpPr/>
          <p:nvPr/>
        </p:nvSpPr>
        <p:spPr>
          <a:xfrm>
            <a:off x="640080" y="53309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8" name="Text 65"/>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1750" dirty="0">
                <a:solidFill>
                  <a:srgbClr val="1F2A37"/>
                </a:solidFill>
                <a:latin typeface="Amiri" pitchFamily="2" charset="-78"/>
                <a:ea typeface="Amiri" pitchFamily="2" charset="-78"/>
                <a:cs typeface="Amiri" pitchFamily="2" charset="-78"/>
              </a:rPr>
              <a:t>قَبْلَ أَخْرُجَ أَنْ مِنَ البَيْتِ أُحَضِّرُ حَقِيبَتِي.</a:t>
            </a:r>
            <a:endParaRPr lang="ar-SA" sz="1750" dirty="0"/>
          </a:p>
        </p:txBody>
      </p:sp>
      <p:sp>
        <p:nvSpPr>
          <p:cNvPr id="69" name="Shape 66"/>
          <p:cNvSpPr/>
          <p:nvPr/>
        </p:nvSpPr>
        <p:spPr>
          <a:xfrm>
            <a:off x="640080" y="5788152"/>
            <a:ext cx="256032" cy="256032"/>
          </a:xfrm>
          <a:prstGeom prst="ellipse">
            <a:avLst/>
          </a:prstGeom>
          <a:solidFill>
            <a:srgbClr val="F4F1EA"/>
          </a:solidFill>
          <a:ln w="12700">
            <a:solidFill>
              <a:srgbClr val="F4F1EA"/>
            </a:solidFill>
            <a:prstDash val="solid"/>
          </a:ln>
        </p:spPr>
      </p:sp>
      <p:sp>
        <p:nvSpPr>
          <p:cNvPr id="70" name="Text 6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1" name="Text 68"/>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1750" dirty="0">
                <a:solidFill>
                  <a:srgbClr val="1F2A37"/>
                </a:solidFill>
                <a:latin typeface="Amiri" pitchFamily="2" charset="-78"/>
                <a:ea typeface="Amiri" pitchFamily="2" charset="-78"/>
                <a:cs typeface="Amiri" pitchFamily="2" charset="-78"/>
              </a:rPr>
              <a:t>قَبْلَ أَنْ أَخْرُجَ مِنَ البَيْتِ أُحَضِّرُ حَقِيبَتِي.</a:t>
            </a:r>
            <a:endParaRPr lang="ar-SA" sz="1750" dirty="0"/>
          </a:p>
        </p:txBody>
      </p:sp>
      <p:sp>
        <p:nvSpPr>
          <p:cNvPr id="72" name="Shape 69"/>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3" name="Shape 70"/>
          <p:cNvSpPr/>
          <p:nvPr/>
        </p:nvSpPr>
        <p:spPr>
          <a:xfrm>
            <a:off x="4404360" y="4288536"/>
            <a:ext cx="310896" cy="310896"/>
          </a:xfrm>
          <a:prstGeom prst="ellipse">
            <a:avLst/>
          </a:prstGeom>
          <a:solidFill>
            <a:srgbClr val="1B3B6F"/>
          </a:solidFill>
          <a:ln w="12700">
            <a:solidFill>
              <a:srgbClr val="1B3B6F"/>
            </a:solidFill>
            <a:prstDash val="solid"/>
          </a:ln>
        </p:spPr>
      </p:sp>
      <p:sp>
        <p:nvSpPr>
          <p:cNvPr id="74" name="Text 71"/>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5" name="Text 72"/>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best paragraph sequence.</a:t>
            </a:r>
            <a:endParaRPr lang="en-US" sz="1250" dirty="0"/>
          </a:p>
        </p:txBody>
      </p:sp>
      <p:sp>
        <p:nvSpPr>
          <p:cNvPr id="76" name="Shape 73"/>
          <p:cNvSpPr/>
          <p:nvPr/>
        </p:nvSpPr>
        <p:spPr>
          <a:xfrm>
            <a:off x="4459224" y="48737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8" name="Text 75"/>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2" charset="-78"/>
                <a:ea typeface="Amiri" pitchFamily="2" charset="-78"/>
                <a:cs typeface="Amiri" pitchFamily="2" charset="-78"/>
              </a:rPr>
              <a:t>أَوَّلًا أَسْتَيْقِظُ، ثُمَّ أَتَنَاوَلُ الإِفْطَارَ، وَبَعْدَ ذٰلِكَ أَذْهَبُ إِلَى المَدْرَسَةِ.</a:t>
            </a:r>
            <a:endParaRPr lang="ar-SA" sz="1050" dirty="0"/>
          </a:p>
        </p:txBody>
      </p:sp>
      <p:sp>
        <p:nvSpPr>
          <p:cNvPr id="79" name="Shape 76"/>
          <p:cNvSpPr/>
          <p:nvPr/>
        </p:nvSpPr>
        <p:spPr>
          <a:xfrm>
            <a:off x="4459224" y="53309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1" name="Text 78"/>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2" charset="-78"/>
                <a:ea typeface="Amiri" pitchFamily="2" charset="-78"/>
                <a:cs typeface="Amiri" pitchFamily="2" charset="-78"/>
              </a:rPr>
              <a:t>أَخِيرًا أَسْتَيْقِظُ. أَوَّلًا أَنَامُ.</a:t>
            </a:r>
            <a:endParaRPr lang="ar-SA" sz="1050" dirty="0"/>
          </a:p>
        </p:txBody>
      </p:sp>
      <p:sp>
        <p:nvSpPr>
          <p:cNvPr id="82" name="Shape 79"/>
          <p:cNvSpPr/>
          <p:nvPr/>
        </p:nvSpPr>
        <p:spPr>
          <a:xfrm>
            <a:off x="4459224" y="5788152"/>
            <a:ext cx="256032" cy="256032"/>
          </a:xfrm>
          <a:prstGeom prst="ellipse">
            <a:avLst/>
          </a:prstGeom>
          <a:solidFill>
            <a:srgbClr val="F4F1EA"/>
          </a:solidFill>
          <a:ln w="12700">
            <a:solidFill>
              <a:srgbClr val="F4F1EA"/>
            </a:solidFill>
            <a:prstDash val="solid"/>
          </a:ln>
        </p:spPr>
      </p:sp>
      <p:sp>
        <p:nvSpPr>
          <p:cNvPr id="83" name="Text 80"/>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4" name="Text 81"/>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2" charset="-78"/>
                <a:ea typeface="Amiri" pitchFamily="2" charset="-78"/>
                <a:cs typeface="Amiri" pitchFamily="2" charset="-78"/>
              </a:rPr>
              <a:t>ثُمَّ رُوتِينٌ أَوَّلًا المَدْرَسَةُ.</a:t>
            </a:r>
            <a:endParaRPr lang="ar-SA" sz="1050" dirty="0"/>
          </a:p>
        </p:txBody>
      </p:sp>
      <p:sp>
        <p:nvSpPr>
          <p:cNvPr id="85" name="Shape 82"/>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6" name="Shape 83"/>
          <p:cNvSpPr/>
          <p:nvPr/>
        </p:nvSpPr>
        <p:spPr>
          <a:xfrm>
            <a:off x="8223504" y="4288536"/>
            <a:ext cx="310896" cy="310896"/>
          </a:xfrm>
          <a:prstGeom prst="ellipse">
            <a:avLst/>
          </a:prstGeom>
          <a:solidFill>
            <a:srgbClr val="1B3B6F"/>
          </a:solidFill>
          <a:ln w="12700">
            <a:solidFill>
              <a:srgbClr val="1B3B6F"/>
            </a:solidFill>
            <a:prstDash val="solid"/>
          </a:ln>
        </p:spPr>
      </p:sp>
      <p:sp>
        <p:nvSpPr>
          <p:cNvPr id="87" name="Text 84"/>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8" name="Text 85"/>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strongest concluding evaluation.</a:t>
            </a:r>
            <a:endParaRPr lang="en-US" sz="1250" dirty="0"/>
          </a:p>
        </p:txBody>
      </p:sp>
      <p:sp>
        <p:nvSpPr>
          <p:cNvPr id="89" name="Shape 86"/>
          <p:cNvSpPr/>
          <p:nvPr/>
        </p:nvSpPr>
        <p:spPr>
          <a:xfrm>
            <a:off x="8278368" y="48737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1" name="Text 88"/>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2" charset="-78"/>
                <a:ea typeface="Amiri" pitchFamily="2" charset="-78"/>
                <a:cs typeface="Amiri" pitchFamily="2" charset="-78"/>
              </a:rPr>
              <a:t>رُوتِينِي جَيِّدٌ.</a:t>
            </a:r>
            <a:endParaRPr lang="ar-SA" sz="1050" dirty="0"/>
          </a:p>
        </p:txBody>
      </p:sp>
      <p:sp>
        <p:nvSpPr>
          <p:cNvPr id="92" name="Shape 89"/>
          <p:cNvSpPr/>
          <p:nvPr/>
        </p:nvSpPr>
        <p:spPr>
          <a:xfrm>
            <a:off x="8278368" y="53309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4" name="Text 91"/>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2" charset="-78"/>
                <a:ea typeface="Amiri" pitchFamily="2" charset="-78"/>
                <a:cs typeface="Amiri" pitchFamily="2" charset="-78"/>
              </a:rPr>
              <a:t>فِي رَأْيِي رُوتِينِي مُنَظَّمٌ لِأَنَّهُ يَجْمَعُ بَيْنَ الدِّرَاسَةِ وَالرَّاحَةِ، مَعَ ذٰلِكَ أُرِيدُ أَنْ أُنَظِّمَ وَقْتِي فِي المَسَاءِ أَكْثَرَ.</a:t>
            </a:r>
            <a:endParaRPr lang="ar-SA" sz="1050" dirty="0"/>
          </a:p>
        </p:txBody>
      </p:sp>
      <p:sp>
        <p:nvSpPr>
          <p:cNvPr id="95" name="Shape 92"/>
          <p:cNvSpPr/>
          <p:nvPr/>
        </p:nvSpPr>
        <p:spPr>
          <a:xfrm>
            <a:off x="8278368" y="5788152"/>
            <a:ext cx="256032" cy="256032"/>
          </a:xfrm>
          <a:prstGeom prst="ellipse">
            <a:avLst/>
          </a:prstGeom>
          <a:solidFill>
            <a:srgbClr val="F4F1EA"/>
          </a:solidFill>
          <a:ln w="12700">
            <a:solidFill>
              <a:srgbClr val="F4F1EA"/>
            </a:solidFill>
            <a:prstDash val="solid"/>
          </a:ln>
        </p:spPr>
      </p:sp>
      <p:sp>
        <p:nvSpPr>
          <p:cNvPr id="96" name="Text 93"/>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7" name="Text 94"/>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2" charset="-78"/>
                <a:ea typeface="Amiri" pitchFamily="2" charset="-78"/>
                <a:cs typeface="Amiri" pitchFamily="2" charset="-78"/>
              </a:rPr>
              <a:t>أَسْتَيْقِظُ فِي السَّادِسَةِ.</a:t>
            </a:r>
            <a:endParaRPr lang="ar-SA" sz="10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46</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D1-L11 · Speak and Write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D1-L11</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050" b="1" dirty="0">
                <a:solidFill>
                  <a:srgbClr val="1B3B6F"/>
                </a:solidFill>
                <a:latin typeface="Calibri" pitchFamily="34" charset="0"/>
                <a:cs typeface="Amiri" pitchFamily="2" charset="-78"/>
              </a:rPr>
              <a:t>Choose the strongest answer to:</a:t>
            </a:r>
            <a:endParaRPr lang="en-US" sz="1050" dirty="0"/>
          </a:p>
        </p:txBody>
      </p:sp>
      <p:sp>
        <p:nvSpPr>
          <p:cNvPr id="20" name="Text 18"/>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مَتَى تَسْتَيْقِظُ وَلِمَاذَا؟</a:t>
            </a:r>
            <a:endParaRPr lang="ar-SA" sz="1500" dirty="0"/>
          </a:p>
        </p:txBody>
      </p:sp>
      <p:sp>
        <p:nvSpPr>
          <p:cNvPr id="21"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1"/>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250" dirty="0">
                <a:solidFill>
                  <a:srgbClr val="9AA1AB"/>
                </a:solidFill>
                <a:latin typeface="Amiri" pitchFamily="2" charset="-78"/>
                <a:ea typeface="Amiri" pitchFamily="2" charset="-78"/>
                <a:cs typeface="Amiri" pitchFamily="2" charset="-78"/>
              </a:rPr>
              <a:t>فِي السَّادِسَةِ.</a:t>
            </a:r>
            <a:endParaRPr lang="ar-SA" sz="1250" dirty="0"/>
          </a:p>
        </p:txBody>
      </p:sp>
      <p:sp>
        <p:nvSpPr>
          <p:cNvPr id="24" name="Shape 22"/>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3"/>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4"/>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5"/>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250" b="1" dirty="0">
                <a:solidFill>
                  <a:srgbClr val="1F2A37"/>
                </a:solidFill>
                <a:latin typeface="Amiri" pitchFamily="2" charset="-78"/>
                <a:ea typeface="Amiri" pitchFamily="2" charset="-78"/>
                <a:cs typeface="Amiri" pitchFamily="2" charset="-78"/>
              </a:rPr>
              <a:t>أَسْتَيْقِظُ فِي السَّادِسَةِ وَالنِّصْفِ لِأَنَّ مَدْرَسَتِي تَبْدَأُ مُبَكِّرًا.</a:t>
            </a:r>
            <a:endParaRPr lang="ar-SA" sz="1250" dirty="0"/>
          </a:p>
        </p:txBody>
      </p:sp>
      <p:sp>
        <p:nvSpPr>
          <p:cNvPr id="28" name="Shape 26"/>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8"/>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250" dirty="0">
                <a:solidFill>
                  <a:srgbClr val="9AA1AB"/>
                </a:solidFill>
                <a:latin typeface="Amiri" pitchFamily="2" charset="-78"/>
                <a:ea typeface="Amiri" pitchFamily="2" charset="-78"/>
                <a:cs typeface="Amiri" pitchFamily="2" charset="-78"/>
              </a:rPr>
              <a:t>لِأَنَّ السَّادِسَةَ.</a:t>
            </a:r>
            <a:endParaRPr lang="ar-SA" sz="1250" dirty="0"/>
          </a:p>
        </p:txBody>
      </p:sp>
      <p:sp>
        <p:nvSpPr>
          <p:cNvPr id="31" name="Text 29"/>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developed answer responds directly, gives an exact time and explains why.</a:t>
            </a:r>
            <a:endParaRPr lang="en-US" sz="1050" dirty="0"/>
          </a:p>
        </p:txBody>
      </p:sp>
      <p:sp>
        <p:nvSpPr>
          <p:cNvPr id="32" name="Shape 30"/>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1"/>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2"/>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3"/>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best introduces a supporting example?</a:t>
            </a:r>
            <a:endParaRPr lang="en-US" sz="1250" dirty="0"/>
          </a:p>
        </p:txBody>
      </p:sp>
      <p:sp>
        <p:nvSpPr>
          <p:cNvPr id="36" name="Shape 34"/>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7" name="Shape 35"/>
          <p:cNvSpPr/>
          <p:nvPr/>
        </p:nvSpPr>
        <p:spPr>
          <a:xfrm>
            <a:off x="4459224" y="2490216"/>
            <a:ext cx="256032" cy="256032"/>
          </a:xfrm>
          <a:prstGeom prst="ellipse">
            <a:avLst/>
          </a:prstGeom>
          <a:solidFill>
            <a:srgbClr val="2E8B57"/>
          </a:solidFill>
          <a:ln w="12700">
            <a:solidFill>
              <a:srgbClr val="2E8B57"/>
            </a:solidFill>
            <a:prstDash val="solid"/>
          </a:ln>
        </p:spPr>
      </p:sp>
      <p:sp>
        <p:nvSpPr>
          <p:cNvPr id="38" name="Text 36"/>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9" name="Text 37"/>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عَلَى سَبِيلِ المِثَالِ</a:t>
            </a:r>
            <a:endParaRPr lang="ar-SA" sz="1700" dirty="0"/>
          </a:p>
        </p:txBody>
      </p:sp>
      <p:sp>
        <p:nvSpPr>
          <p:cNvPr id="40" name="Shape 38"/>
          <p:cNvSpPr/>
          <p:nvPr/>
        </p:nvSpPr>
        <p:spPr>
          <a:xfrm>
            <a:off x="4459224" y="2862072"/>
            <a:ext cx="256032" cy="256032"/>
          </a:xfrm>
          <a:prstGeom prst="ellipse">
            <a:avLst/>
          </a:prstGeom>
          <a:solidFill>
            <a:srgbClr val="C9CED6"/>
          </a:solidFill>
          <a:ln w="12700">
            <a:solidFill>
              <a:srgbClr val="C9CED6"/>
            </a:solidFill>
            <a:prstDash val="solid"/>
          </a:ln>
        </p:spPr>
      </p:sp>
      <p:sp>
        <p:nvSpPr>
          <p:cNvPr id="41" name="Text 39"/>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2" name="Text 40"/>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مَعَ ذٰلِكَ</a:t>
            </a:r>
            <a:endParaRPr lang="ar-SA" sz="1700" dirty="0"/>
          </a:p>
        </p:txBody>
      </p:sp>
      <p:sp>
        <p:nvSpPr>
          <p:cNvPr id="43" name="Shape 41"/>
          <p:cNvSpPr/>
          <p:nvPr/>
        </p:nvSpPr>
        <p:spPr>
          <a:xfrm>
            <a:off x="4459224" y="3233928"/>
            <a:ext cx="256032" cy="256032"/>
          </a:xfrm>
          <a:prstGeom prst="ellipse">
            <a:avLst/>
          </a:prstGeom>
          <a:solidFill>
            <a:srgbClr val="C9CED6"/>
          </a:solidFill>
          <a:ln w="12700">
            <a:solidFill>
              <a:srgbClr val="C9CED6"/>
            </a:solidFill>
            <a:prstDash val="solid"/>
          </a:ln>
        </p:spPr>
      </p:sp>
      <p:sp>
        <p:nvSpPr>
          <p:cNvPr id="44" name="Text 42"/>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3"/>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كَمْ مَرَّةً</a:t>
            </a:r>
            <a:endParaRPr lang="ar-SA" sz="1700" dirty="0"/>
          </a:p>
        </p:txBody>
      </p:sp>
      <p:sp>
        <p:nvSpPr>
          <p:cNvPr id="46" name="Text 44"/>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عَلَى سَبِيلِ المِثَالِ</a:t>
            </a:r>
            <a:pPr algn="l" indent="0" marL="0">
              <a:buNone/>
            </a:pPr>
            <a:r>
              <a:rPr lang="en-US" sz="1050" i="1" dirty="0">
                <a:solidFill>
                  <a:srgbClr val="8A6D1E"/>
                </a:solidFill>
                <a:latin typeface="Calibri" pitchFamily="34" charset="0"/>
                <a:cs typeface="Amiri" pitchFamily="2" charset="-78"/>
              </a:rPr>
              <a:t> means “for example” and introduces supporting evidence.</a:t>
            </a:r>
            <a:endParaRPr lang="en-US" sz="1050" dirty="0"/>
          </a:p>
        </p:txBody>
      </p:sp>
      <p:sp>
        <p:nvSpPr>
          <p:cNvPr id="47" name="Shape 45"/>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6"/>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7"/>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8"/>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Repair:</a:t>
            </a:r>
            <a:endParaRPr lang="en-US" sz="1200" dirty="0"/>
          </a:p>
        </p:txBody>
      </p:sp>
      <p:sp>
        <p:nvSpPr>
          <p:cNvPr id="51" name="Text 49"/>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2" charset="-78"/>
                <a:ea typeface="Amiri" pitchFamily="2" charset="-78"/>
                <a:cs typeface="Amiri" pitchFamily="2" charset="-78"/>
              </a:rPr>
              <a:t>أَنَا يَسْتَيْقِظُ فِي السَّادِسَةِ.</a:t>
            </a:r>
            <a:endParaRPr lang="ar-SA" sz="1400" dirty="0"/>
          </a:p>
        </p:txBody>
      </p:sp>
      <p:sp>
        <p:nvSpPr>
          <p:cNvPr id="52" name="Shape 50"/>
          <p:cNvSpPr/>
          <p:nvPr/>
        </p:nvSpPr>
        <p:spPr>
          <a:xfrm>
            <a:off x="8278368" y="2490216"/>
            <a:ext cx="256032" cy="256032"/>
          </a:xfrm>
          <a:prstGeom prst="ellipse">
            <a:avLst/>
          </a:prstGeom>
          <a:solidFill>
            <a:srgbClr val="C9CED6"/>
          </a:solidFill>
          <a:ln w="12700">
            <a:solidFill>
              <a:srgbClr val="C9CED6"/>
            </a:solidFill>
            <a:prstDash val="solid"/>
          </a:ln>
        </p:spPr>
      </p:sp>
      <p:sp>
        <p:nvSpPr>
          <p:cNvPr id="53" name="Text 51"/>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2"/>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أَنَا تَسْتَيْقِظُ فِي السَّادِسَةِ.</a:t>
            </a:r>
            <a:endParaRPr lang="ar-SA" sz="1700" dirty="0"/>
          </a:p>
        </p:txBody>
      </p:sp>
      <p:sp>
        <p:nvSpPr>
          <p:cNvPr id="55" name="Shape 53"/>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4"/>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5"/>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أَنَا نَسْتَيْقِظُ فِي السَّادِسَةِ.</a:t>
            </a:r>
            <a:endParaRPr lang="ar-SA" sz="1700" dirty="0"/>
          </a:p>
        </p:txBody>
      </p:sp>
      <p:sp>
        <p:nvSpPr>
          <p:cNvPr id="58" name="Shape 56"/>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9" name="Shape 57"/>
          <p:cNvSpPr/>
          <p:nvPr/>
        </p:nvSpPr>
        <p:spPr>
          <a:xfrm>
            <a:off x="8278368" y="3233928"/>
            <a:ext cx="256032" cy="256032"/>
          </a:xfrm>
          <a:prstGeom prst="ellipse">
            <a:avLst/>
          </a:prstGeom>
          <a:solidFill>
            <a:srgbClr val="2E8B57"/>
          </a:solidFill>
          <a:ln w="12700">
            <a:solidFill>
              <a:srgbClr val="2E8B57"/>
            </a:solidFill>
            <a:prstDash val="solid"/>
          </a:ln>
        </p:spPr>
      </p:sp>
      <p:sp>
        <p:nvSpPr>
          <p:cNvPr id="60" name="Text 58"/>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61" name="Text 59"/>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أَنَا أَسْتَيْقِظُ فِي السَّادِسَةِ.</a:t>
            </a:r>
            <a:endParaRPr lang="ar-SA" sz="1700" dirty="0"/>
          </a:p>
        </p:txBody>
      </p:sp>
      <p:sp>
        <p:nvSpPr>
          <p:cNvPr id="62" name="Text 60"/>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first-person present-tense prefix is </a:t>
            </a:r>
            <a:pPr algn="l" indent="0" marL="0">
              <a:buNone/>
            </a:pPr>
            <a:r>
              <a:rPr lang="ar-SA" altLang="en-US" sz="1350" dirty="0">
                <a:solidFill>
                  <a:srgbClr val="8A6D1E"/>
                </a:solidFill>
                <a:latin typeface="Amiri" pitchFamily="2" charset="-78"/>
                <a:ea typeface="Amiri" pitchFamily="2" charset="-78"/>
                <a:cs typeface="Amiri" pitchFamily="2" charset="-78"/>
              </a:rPr>
              <a:t>أَـ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3" name="Shape 6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2"/>
          <p:cNvSpPr/>
          <p:nvPr/>
        </p:nvSpPr>
        <p:spPr>
          <a:xfrm>
            <a:off x="585216" y="4288536"/>
            <a:ext cx="310896" cy="310896"/>
          </a:xfrm>
          <a:prstGeom prst="ellipse">
            <a:avLst/>
          </a:prstGeom>
          <a:solidFill>
            <a:srgbClr val="1B3B6F"/>
          </a:solidFill>
          <a:ln w="12700">
            <a:solidFill>
              <a:srgbClr val="1B3B6F"/>
            </a:solidFill>
            <a:prstDash val="solid"/>
          </a:ln>
        </p:spPr>
      </p:sp>
      <p:sp>
        <p:nvSpPr>
          <p:cNvPr id="65" name="Text 6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6" name="Text 64"/>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Repair:</a:t>
            </a:r>
            <a:endParaRPr lang="en-US" sz="1200" dirty="0"/>
          </a:p>
        </p:txBody>
      </p:sp>
      <p:sp>
        <p:nvSpPr>
          <p:cNvPr id="67" name="Text 65"/>
          <p:cNvSpPr txBox="1"/>
          <p:nvPr/>
        </p:nvSpPr>
        <p:spPr>
          <a:xfrm>
            <a:off x="2406701" y="4224528"/>
            <a:ext cx="1577035"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2" charset="-78"/>
                <a:ea typeface="Amiri" pitchFamily="2" charset="-78"/>
                <a:cs typeface="Amiri" pitchFamily="2" charset="-78"/>
              </a:rPr>
              <a:t>قَبْلَ أَنْ أَخْرُجُ مِنَ البَيْتِ أُحَضِّرُ حَقِيبَتِي.</a:t>
            </a:r>
            <a:endParaRPr lang="ar-SA" sz="1000" dirty="0"/>
          </a:p>
        </p:txBody>
      </p:sp>
      <p:sp>
        <p:nvSpPr>
          <p:cNvPr id="68" name="Shape 66"/>
          <p:cNvSpPr/>
          <p:nvPr/>
        </p:nvSpPr>
        <p:spPr>
          <a:xfrm>
            <a:off x="640080" y="4831080"/>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0" name="Text 68"/>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قَبْلَ أَنْ يَخْرُجُ مِنَ البَيْتِ أُحَضِّرُ حَقِيبَتِي.</a:t>
            </a:r>
            <a:endParaRPr lang="ar-SA" sz="1700" dirty="0"/>
          </a:p>
        </p:txBody>
      </p:sp>
      <p:sp>
        <p:nvSpPr>
          <p:cNvPr id="71" name="Shape 69"/>
          <p:cNvSpPr/>
          <p:nvPr/>
        </p:nvSpPr>
        <p:spPr>
          <a:xfrm>
            <a:off x="640080" y="5202936"/>
            <a:ext cx="256032" cy="256032"/>
          </a:xfrm>
          <a:prstGeom prst="ellipse">
            <a:avLst/>
          </a:prstGeom>
          <a:solidFill>
            <a:srgbClr val="C9CED6"/>
          </a:solidFill>
          <a:ln w="12700">
            <a:solidFill>
              <a:srgbClr val="C9CED6"/>
            </a:solidFill>
            <a:prstDash val="solid"/>
          </a:ln>
        </p:spPr>
      </p:sp>
      <p:sp>
        <p:nvSpPr>
          <p:cNvPr id="72" name="Text 70"/>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3" name="Text 71"/>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قَبْلَ أَخْرُجَ أَنْ مِنَ البَيْتِ أُحَضِّرُ حَقِيبَتِي.</a:t>
            </a:r>
            <a:endParaRPr lang="ar-SA" sz="1700" dirty="0"/>
          </a:p>
        </p:txBody>
      </p:sp>
      <p:sp>
        <p:nvSpPr>
          <p:cNvPr id="74" name="Shape 72"/>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5" name="Shape 73"/>
          <p:cNvSpPr/>
          <p:nvPr/>
        </p:nvSpPr>
        <p:spPr>
          <a:xfrm>
            <a:off x="640080" y="5574792"/>
            <a:ext cx="256032" cy="256032"/>
          </a:xfrm>
          <a:prstGeom prst="ellipse">
            <a:avLst/>
          </a:prstGeom>
          <a:solidFill>
            <a:srgbClr val="2E8B57"/>
          </a:solidFill>
          <a:ln w="12700">
            <a:solidFill>
              <a:srgbClr val="2E8B57"/>
            </a:solidFill>
            <a:prstDash val="solid"/>
          </a:ln>
        </p:spPr>
      </p:sp>
      <p:sp>
        <p:nvSpPr>
          <p:cNvPr id="76" name="Text 7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7" name="Text 75"/>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قَبْلَ أَنْ أَخْرُجَ مِنَ البَيْتِ أُحَضِّرُ حَقِيبَتِي.</a:t>
            </a:r>
            <a:endParaRPr lang="ar-SA" sz="1700" dirty="0"/>
          </a:p>
        </p:txBody>
      </p:sp>
      <p:sp>
        <p:nvSpPr>
          <p:cNvPr id="78" name="Text 76"/>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a:t>
            </a:r>
            <a:pPr algn="l" indent="0" marL="0">
              <a:buNone/>
            </a:pPr>
            <a:r>
              <a:rPr lang="ar-SA" altLang="en-US" sz="1350" dirty="0">
                <a:solidFill>
                  <a:srgbClr val="8A6D1E"/>
                </a:solidFill>
                <a:latin typeface="Amiri" pitchFamily="2" charset="-78"/>
                <a:ea typeface="Amiri" pitchFamily="2" charset="-78"/>
                <a:cs typeface="Amiri" pitchFamily="2" charset="-78"/>
              </a:rPr>
              <a:t>أَخْرُجُ</a:t>
            </a:r>
            <a:pPr algn="l" indent="0" marL="0">
              <a:buNone/>
            </a:pPr>
            <a:r>
              <a:rPr lang="en-US" sz="1050" i="1" dirty="0">
                <a:solidFill>
                  <a:srgbClr val="8A6D1E"/>
                </a:solidFill>
                <a:latin typeface="Calibri" pitchFamily="34" charset="0"/>
                <a:cs typeface="Amiri" pitchFamily="2" charset="-78"/>
              </a:rPr>
              <a:t> changes to the subjunctive </a:t>
            </a:r>
            <a:pPr algn="l" indent="0" marL="0">
              <a:buNone/>
            </a:pPr>
            <a:r>
              <a:rPr lang="ar-SA" altLang="en-US" sz="1350" dirty="0">
                <a:solidFill>
                  <a:srgbClr val="8A6D1E"/>
                </a:solidFill>
                <a:latin typeface="Amiri" pitchFamily="2" charset="-78"/>
                <a:ea typeface="Amiri" pitchFamily="2" charset="-78"/>
                <a:cs typeface="Amiri" pitchFamily="2" charset="-78"/>
              </a:rPr>
              <a:t>أَخْرُجَ</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9" name="Shape 77"/>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0" name="Shape 78"/>
          <p:cNvSpPr/>
          <p:nvPr/>
        </p:nvSpPr>
        <p:spPr>
          <a:xfrm>
            <a:off x="4404360" y="4288536"/>
            <a:ext cx="310896" cy="310896"/>
          </a:xfrm>
          <a:prstGeom prst="ellipse">
            <a:avLst/>
          </a:prstGeom>
          <a:solidFill>
            <a:srgbClr val="1B3B6F"/>
          </a:solidFill>
          <a:ln w="12700">
            <a:solidFill>
              <a:srgbClr val="1B3B6F"/>
            </a:solidFill>
            <a:prstDash val="solid"/>
          </a:ln>
        </p:spPr>
      </p:sp>
      <p:sp>
        <p:nvSpPr>
          <p:cNvPr id="81" name="Text 79"/>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2" name="Text 80"/>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best paragraph sequence.</a:t>
            </a:r>
            <a:endParaRPr lang="en-US" sz="1250" dirty="0"/>
          </a:p>
        </p:txBody>
      </p:sp>
      <p:sp>
        <p:nvSpPr>
          <p:cNvPr id="83" name="Shape 81"/>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4" name="Shape 82"/>
          <p:cNvSpPr/>
          <p:nvPr/>
        </p:nvSpPr>
        <p:spPr>
          <a:xfrm>
            <a:off x="4459224" y="4831080"/>
            <a:ext cx="256032" cy="256032"/>
          </a:xfrm>
          <a:prstGeom prst="ellipse">
            <a:avLst/>
          </a:prstGeom>
          <a:solidFill>
            <a:srgbClr val="2E8B57"/>
          </a:solidFill>
          <a:ln w="12700">
            <a:solidFill>
              <a:srgbClr val="2E8B57"/>
            </a:solidFill>
            <a:prstDash val="solid"/>
          </a:ln>
        </p:spPr>
      </p:sp>
      <p:sp>
        <p:nvSpPr>
          <p:cNvPr id="85" name="Text 83"/>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6" name="Text 84"/>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050" b="1" dirty="0">
                <a:solidFill>
                  <a:srgbClr val="1F2A37"/>
                </a:solidFill>
                <a:latin typeface="Amiri" pitchFamily="2" charset="-78"/>
                <a:ea typeface="Amiri" pitchFamily="2" charset="-78"/>
                <a:cs typeface="Amiri" pitchFamily="2" charset="-78"/>
              </a:rPr>
              <a:t>أَوَّلًا أَسْتَيْقِظُ، ثُمَّ أَتَنَاوَلُ الإِفْطَارَ، وَبَعْدَ ذٰلِكَ أَذْهَبُ إِلَى المَدْرَسَةِ.</a:t>
            </a:r>
            <a:endParaRPr lang="ar-SA" sz="1050" dirty="0"/>
          </a:p>
        </p:txBody>
      </p:sp>
      <p:sp>
        <p:nvSpPr>
          <p:cNvPr id="87" name="Shape 85"/>
          <p:cNvSpPr/>
          <p:nvPr/>
        </p:nvSpPr>
        <p:spPr>
          <a:xfrm>
            <a:off x="4459224" y="5202936"/>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7"/>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050" dirty="0">
                <a:solidFill>
                  <a:srgbClr val="9AA1AB"/>
                </a:solidFill>
                <a:latin typeface="Amiri" pitchFamily="2" charset="-78"/>
                <a:ea typeface="Amiri" pitchFamily="2" charset="-78"/>
                <a:cs typeface="Amiri" pitchFamily="2" charset="-78"/>
              </a:rPr>
              <a:t>أَخِيرًا أَسْتَيْقِظُ. أَوَّلًا أَنَامُ.</a:t>
            </a:r>
            <a:endParaRPr lang="ar-SA" sz="1050" dirty="0"/>
          </a:p>
        </p:txBody>
      </p:sp>
      <p:sp>
        <p:nvSpPr>
          <p:cNvPr id="90" name="Shape 88"/>
          <p:cNvSpPr/>
          <p:nvPr/>
        </p:nvSpPr>
        <p:spPr>
          <a:xfrm>
            <a:off x="4459224" y="5574792"/>
            <a:ext cx="256032" cy="256032"/>
          </a:xfrm>
          <a:prstGeom prst="ellipse">
            <a:avLst/>
          </a:prstGeom>
          <a:solidFill>
            <a:srgbClr val="C9CED6"/>
          </a:solidFill>
          <a:ln w="12700">
            <a:solidFill>
              <a:srgbClr val="C9CED6"/>
            </a:solidFill>
            <a:prstDash val="solid"/>
          </a:ln>
        </p:spPr>
      </p:sp>
      <p:sp>
        <p:nvSpPr>
          <p:cNvPr id="91" name="Text 89"/>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90"/>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050" dirty="0">
                <a:solidFill>
                  <a:srgbClr val="9AA1AB"/>
                </a:solidFill>
                <a:latin typeface="Amiri" pitchFamily="2" charset="-78"/>
                <a:ea typeface="Amiri" pitchFamily="2" charset="-78"/>
                <a:cs typeface="Amiri" pitchFamily="2" charset="-78"/>
              </a:rPr>
              <a:t>ثُمَّ رُوتِينٌ أَوَّلًا المَدْرَسَةُ.</a:t>
            </a:r>
            <a:endParaRPr lang="ar-SA" sz="1050" dirty="0"/>
          </a:p>
        </p:txBody>
      </p:sp>
      <p:sp>
        <p:nvSpPr>
          <p:cNvPr id="93" name="Text 91"/>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correct option uses purposeful connectors and a logical order.</a:t>
            </a:r>
            <a:endParaRPr lang="en-US" sz="1050" dirty="0"/>
          </a:p>
        </p:txBody>
      </p:sp>
      <p:sp>
        <p:nvSpPr>
          <p:cNvPr id="94" name="Shape 92"/>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5" name="Shape 93"/>
          <p:cNvSpPr/>
          <p:nvPr/>
        </p:nvSpPr>
        <p:spPr>
          <a:xfrm>
            <a:off x="8223504" y="4288536"/>
            <a:ext cx="310896" cy="310896"/>
          </a:xfrm>
          <a:prstGeom prst="ellipse">
            <a:avLst/>
          </a:prstGeom>
          <a:solidFill>
            <a:srgbClr val="1B3B6F"/>
          </a:solidFill>
          <a:ln w="12700">
            <a:solidFill>
              <a:srgbClr val="1B3B6F"/>
            </a:solidFill>
            <a:prstDash val="solid"/>
          </a:ln>
        </p:spPr>
      </p:sp>
      <p:sp>
        <p:nvSpPr>
          <p:cNvPr id="96" name="Text 94"/>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7" name="Text 95"/>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strongest concluding evaluation.</a:t>
            </a:r>
            <a:endParaRPr lang="en-US" sz="1250" dirty="0"/>
          </a:p>
        </p:txBody>
      </p:sp>
      <p:sp>
        <p:nvSpPr>
          <p:cNvPr id="98" name="Shape 96"/>
          <p:cNvSpPr/>
          <p:nvPr/>
        </p:nvSpPr>
        <p:spPr>
          <a:xfrm>
            <a:off x="8278368" y="4831080"/>
            <a:ext cx="256032" cy="256032"/>
          </a:xfrm>
          <a:prstGeom prst="ellipse">
            <a:avLst/>
          </a:prstGeom>
          <a:solidFill>
            <a:srgbClr val="C9CED6"/>
          </a:solidFill>
          <a:ln w="12700">
            <a:solidFill>
              <a:srgbClr val="C9CED6"/>
            </a:solidFill>
            <a:prstDash val="solid"/>
          </a:ln>
        </p:spPr>
      </p:sp>
      <p:sp>
        <p:nvSpPr>
          <p:cNvPr id="99" name="Text 97"/>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100" name="Text 98"/>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050" dirty="0">
                <a:solidFill>
                  <a:srgbClr val="9AA1AB"/>
                </a:solidFill>
                <a:latin typeface="Amiri" pitchFamily="2" charset="-78"/>
                <a:ea typeface="Amiri" pitchFamily="2" charset="-78"/>
                <a:cs typeface="Amiri" pitchFamily="2" charset="-78"/>
              </a:rPr>
              <a:t>رُوتِينِي جَيِّدٌ.</a:t>
            </a:r>
            <a:endParaRPr lang="ar-SA" sz="1050" dirty="0"/>
          </a:p>
        </p:txBody>
      </p:sp>
      <p:sp>
        <p:nvSpPr>
          <p:cNvPr id="101" name="Shape 99"/>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2" name="Shape 100"/>
          <p:cNvSpPr/>
          <p:nvPr/>
        </p:nvSpPr>
        <p:spPr>
          <a:xfrm>
            <a:off x="8278368" y="5202936"/>
            <a:ext cx="256032" cy="256032"/>
          </a:xfrm>
          <a:prstGeom prst="ellipse">
            <a:avLst/>
          </a:prstGeom>
          <a:solidFill>
            <a:srgbClr val="2E8B57"/>
          </a:solidFill>
          <a:ln w="12700">
            <a:solidFill>
              <a:srgbClr val="2E8B57"/>
            </a:solidFill>
            <a:prstDash val="solid"/>
          </a:ln>
        </p:spPr>
      </p:sp>
      <p:sp>
        <p:nvSpPr>
          <p:cNvPr id="103" name="Text 101"/>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4" name="Text 102"/>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050" b="1" dirty="0">
                <a:solidFill>
                  <a:srgbClr val="1F2A37"/>
                </a:solidFill>
                <a:latin typeface="Amiri" pitchFamily="2" charset="-78"/>
                <a:ea typeface="Amiri" pitchFamily="2" charset="-78"/>
                <a:cs typeface="Amiri" pitchFamily="2" charset="-78"/>
              </a:rPr>
              <a:t>فِي رَأْيِي رُوتِينِي مُنَظَّمٌ لِأَنَّهُ يَجْمَعُ بَيْنَ الدِّرَاسَةِ وَالرَّاحَةِ، مَعَ ذٰلِكَ أُرِيدُ أَنْ أُنَظِّمَ وَقْتِي فِي المَسَاءِ أَكْثَرَ.</a:t>
            </a:r>
            <a:endParaRPr lang="ar-SA" sz="1050" dirty="0"/>
          </a:p>
        </p:txBody>
      </p:sp>
      <p:sp>
        <p:nvSpPr>
          <p:cNvPr id="105" name="Shape 103"/>
          <p:cNvSpPr/>
          <p:nvPr/>
        </p:nvSpPr>
        <p:spPr>
          <a:xfrm>
            <a:off x="8278368" y="5574792"/>
            <a:ext cx="256032" cy="256032"/>
          </a:xfrm>
          <a:prstGeom prst="ellipse">
            <a:avLst/>
          </a:prstGeom>
          <a:solidFill>
            <a:srgbClr val="C9CED6"/>
          </a:solidFill>
          <a:ln w="12700">
            <a:solidFill>
              <a:srgbClr val="C9CED6"/>
            </a:solidFill>
            <a:prstDash val="solid"/>
          </a:ln>
        </p:spPr>
      </p:sp>
      <p:sp>
        <p:nvSpPr>
          <p:cNvPr id="106" name="Text 104"/>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7" name="Text 105"/>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050" dirty="0">
                <a:solidFill>
                  <a:srgbClr val="9AA1AB"/>
                </a:solidFill>
                <a:latin typeface="Amiri" pitchFamily="2" charset="-78"/>
                <a:ea typeface="Amiri" pitchFamily="2" charset="-78"/>
                <a:cs typeface="Amiri" pitchFamily="2" charset="-78"/>
              </a:rPr>
              <a:t>أَسْتَيْقِظُ فِي السَّادِسَةِ.</a:t>
            </a:r>
            <a:endParaRPr lang="ar-SA" sz="1050" dirty="0"/>
          </a:p>
        </p:txBody>
      </p:sp>
      <p:sp>
        <p:nvSpPr>
          <p:cNvPr id="108" name="Text 106"/>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strongest conclusion gives an opinion, reason, contrast and precise next improvement.</a:t>
            </a:r>
            <a:endParaRPr lang="en-US" sz="1050" dirty="0"/>
          </a:p>
        </p:txBody>
      </p:sp>
      <p:sp>
        <p:nvSpPr>
          <p:cNvPr id="109"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46</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D1-L11 · Speak and Write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D1-L12: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D1-L11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D1-L12 · Review and Unit Assessment</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قَبْلَ أَنْ أَخْرُجَ</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before I leave (fatḥa!)</a:t>
            </a:r>
            <a:pPr indent="0" marL="0">
              <a:buNone/>
            </a:pPr>
            <a:r>
              <a:rPr lang="en-US" sz="1000" i="1" dirty="0">
                <a:solidFill>
                  <a:srgbClr val="5A6472"/>
                </a:solidFill>
                <a:latin typeface="Calibri" pitchFamily="34" charset="0"/>
                <a:cs typeface="Amiri" pitchFamily="2" charset="-78"/>
              </a:rPr>
              <a:t>  D1-L04</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السَّابِعَةُ إِلَّا الرُّبْعَ</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quarter to seven (6:45)</a:t>
            </a:r>
            <a:pPr indent="0" marL="0">
              <a:buNone/>
            </a:pPr>
            <a:r>
              <a:rPr lang="en-US" sz="1000" i="1" dirty="0">
                <a:solidFill>
                  <a:srgbClr val="5A6472"/>
                </a:solidFill>
                <a:latin typeface="Calibri" pitchFamily="34" charset="0"/>
                <a:cs typeface="Amiri" pitchFamily="2" charset="-78"/>
              </a:rPr>
              <a:t>  D1-L02</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مَرَّتَيْنِ فِي الأُسْبُوعِ</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twice a week</a:t>
            </a:r>
            <a:pPr indent="0" marL="0">
              <a:buNone/>
            </a:pPr>
            <a:r>
              <a:rPr lang="en-US" sz="1000" i="1" dirty="0">
                <a:solidFill>
                  <a:srgbClr val="5A6472"/>
                </a:solidFill>
                <a:latin typeface="Calibri" pitchFamily="34" charset="0"/>
                <a:cs typeface="Amiri" pitchFamily="2" charset="-78"/>
              </a:rPr>
              <a:t>  D1-L03</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مَتَى تَسْتَيْقِظِينَ؟</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when do you (f.) wake up?</a:t>
            </a:r>
            <a:pPr indent="0" marL="0">
              <a:buNone/>
            </a:pPr>
            <a:r>
              <a:rPr lang="en-US" sz="1000" i="1" dirty="0">
                <a:solidFill>
                  <a:srgbClr val="5A6472"/>
                </a:solidFill>
                <a:latin typeface="Calibri" pitchFamily="34" charset="0"/>
                <a:cs typeface="Amiri" pitchFamily="2" charset="-78"/>
              </a:rPr>
              <a:t>  D1-L07</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أَمَّا السَّبْتُ فَـ…</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as for Saturday, …</a:t>
            </a:r>
            <a:pPr indent="0" marL="0">
              <a:buNone/>
            </a:pPr>
            <a:r>
              <a:rPr lang="en-US" sz="1000" i="1" dirty="0">
                <a:solidFill>
                  <a:srgbClr val="5A6472"/>
                </a:solidFill>
                <a:latin typeface="Calibri" pitchFamily="34" charset="0"/>
                <a:cs typeface="Amiri" pitchFamily="2" charset="-78"/>
              </a:rPr>
              <a:t>  D1-L08</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Revise the whole unit: which TWO D1 rules do you still find hardest? Write one correct example of each.</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algn="l" indent="0" marL="0">
              <a:buNone/>
            </a:pPr>
            <a:r>
              <a:rPr lang="ar-SA" altLang="en-US" sz="2200" b="1" dirty="0">
                <a:solidFill>
                  <a:srgbClr val="1B3B6F"/>
                </a:solidFill>
                <a:latin typeface="Amiri" pitchFamily="2" charset="-78"/>
                <a:ea typeface="Amiri" pitchFamily="2" charset="-78"/>
                <a:cs typeface="Amiri" pitchFamily="2" charset="-78"/>
              </a:rPr>
              <a:t>مَا أَصْعَبُ قَاعِدَةٍ فِي</a:t>
            </a:r>
            <a:pPr algn="l" indent="0" marL="0">
              <a:buNone/>
            </a:pPr>
            <a:r>
              <a:rPr lang="en-US" sz="1700" b="1" dirty="0">
                <a:solidFill>
                  <a:srgbClr val="1B3B6F"/>
                </a:solidFill>
                <a:latin typeface="Calibri" pitchFamily="34" charset="0"/>
                <a:cs typeface="Amiri" pitchFamily="2" charset="-78"/>
              </a:rPr>
              <a:t> D1</a:t>
            </a:r>
            <a:pPr algn="l" indent="0" marL="0">
              <a:buNone/>
            </a:pPr>
            <a:r>
              <a:rPr lang="ar-SA" altLang="en-US" sz="2200" b="1" dirty="0">
                <a:solidFill>
                  <a:srgbClr val="1B3B6F"/>
                </a:solidFill>
                <a:latin typeface="Amiri" pitchFamily="2" charset="-78"/>
                <a:ea typeface="Amiri" pitchFamily="2" charset="-78"/>
                <a:cs typeface="Amiri" pitchFamily="2" charset="-78"/>
              </a:rPr>
              <a:t>؟</a:t>
            </a:r>
            <a:endParaRPr lang="en-US"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D1-L11: the sorter and the final check; learn the five structures on this slide.</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Record a 30–45-second answer to prompt 1 (cue words only) and write it down.</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(reflection): your strongest skill, one recurring error and a precise plan.</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46</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D1-L11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600" b="1" dirty="0">
                <a:solidFill>
                  <a:srgbClr val="FFFFFF"/>
                </a:solidFill>
                <a:latin typeface="Cambria" pitchFamily="34" charset="0"/>
                <a:cs typeface="Amiri" pitchFamily="2" charset="-78"/>
              </a:rPr>
              <a:t>D1-L12 · Review and Unit Assessment</a:t>
            </a:r>
            <a:endParaRPr lang="en-US" sz="26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المُرَاجَعَةُ وَالتَّقْيِيمُ</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answer first, then build — and check every verb.</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D1-L11 · Speaking and Writing — My Daily Routine</dc:title>
  <dc:subject>PptxGenJS Presentation</dc:subject>
  <dc:creator>Al Madina Online School · Arabic Department</dc:creator>
  <cp:lastModifiedBy>Al Madina Online School · Arabic Department</cp:lastModifiedBy>
  <cp:revision>1</cp:revision>
  <dcterms:created xsi:type="dcterms:W3CDTF">2026-10-11T06:40:32Z</dcterms:created>
  <dcterms:modified xsi:type="dcterms:W3CDTF">2026-10-11T06:40:32Z</dcterms:modified>
</cp:coreProperties>
</file>