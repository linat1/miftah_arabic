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D1 Daily Routine and Time › D1-L10. The website lesson “Listening — Daily Routine and Time Details”: vocabulary, grammar rules and quiz, patterns, common mistakes, sorter, listening, reading, speaking prompts and model, writing task and model, differentiation, final check and the lesson mission. Picture match: website visual game “Beat the Clock”.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This is a LISTENING-SKILLS lesson: the three-part website listening is the main task, done as three short cycles (predict → listen twice → read the script → answers).
• Core: predict the answer TYPE for each question (a time? a person? how often?) and answer the time questions. Develop: all questions + explain one distractor. Stretch: the performance log (reading) and a written reflection with a measurable target.
• Read each text yourself at natural speed, with a pause between sentences. Do NOT show the script until after the second listening.
• Urdu bridge: توقع، تحقیق، ملاحظہ، مقابلہ، انتخاب.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Questions 3–5 retrieve D1-L09 (reading signals) and D1-L02 (time with إِلَّا).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Hearing a word is not enough. Check: right person? right event? did “but” or “not” change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توقع (expectation) → التَّوَقُّعُ / أَتَوَقَّعُ. تحقیق (research, investigation) shares the root of تَحَقُّقٌ (verification). ملاحظہ → أُلَاحِظُ. CAREFUL: Urdu مقابلہ = a competition; Arabic المُقَابَلَةُ = an interview or a contrast, and أُقَارِنُ = I compare. انتخاب (election, selection) is related to اِنْتِقَائِيٌّ in meaning (selective).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Listening process (website vocabulary (1 of 2)). Hear → Say → See → Use. Transliteration is printed for Core students (cover it for Develop/Stretch).
Strategy words — students need to UNDERSTAND them (they appear in reflection and in website feedback), not produce all of them. مِفْتَاحٌ = key, so كَلِمَةٌ مِفْتَاحِيَّةٌ = a key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Listening process (website vocabulary (2 of 2)). Hear → Say → See → Use. Transliteration is printed for Core students (cover it for Develop/Stretch).
Strategy words — students need to UNDERSTAND them (they appear in reflection and in website feedback), not produce all of them. مِفْتَاحٌ = key, so كَلِمَةٌ مِفْتَاحِيَّةٌ = a key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Strategy verbs (website vocabulary (1 of 2)). Hear → Say → See → Use. Transliteration is printed for Core students (cover it for Develop/Stretch).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Strategy verbs (website vocabulary (2 of 2)). Hear → Say → See → Use. Transliteration is printed for Core students (cover it for Develop/Stretch).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Common synonym pairs (website vocabulary (1 of 2)). Hear → Say → See → Use. Transliteration is printed for Core students (cover it for Develop/Stretch).
FLEX: teach if time allows; otherwise these are on the website vocabulary tab for homework.
Synonym pairs (FLEX): exam listening often uses a DIFFERENT word from the question — e.g. the question says مُتْعَبٌ, the speaker says مُرْهَقٌ.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Common synonym pairs (website vocabulary (2 of 2)). Hear → Say → See → Use. Transliteration is printed for Core students (cover it for Develop/Stretch).
FLEX: teach if time allows; otherwise these are on the website vocabulary tab for homework.
Synonym pairs (FLEX): exam listening often uses a DIFFERENT word from the question — e.g. the question says مُتْعَبٌ, the speaker says مُرْهَقٌ.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table “Cue · What to listen for · Risk” and rules “Use person prefixes to track the speaker”, “Use time frames as anchors”, “Listen beyond the contrast marker”.
Website teaching point: “Do not choose an option merely because you heard its vocabulary. Confirm that the detail belongs to the correct person, event and time.”
Prediction routine (Core): label every question T / P / F / R before listening — this is the “anchor” in the website vocabulary (مَرْسَاةٌ سَمْعِيَّةٌ).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“Listen beyond the contrast marker” and “Notice negation and limitation” (إِلَّا may mean “except / only” as well as “to” in clock time: لَا أَسْتَعْمِلُ الهَاتِفَ إِلَّا لِمُرَاجَعَةِ الوَقْتِ = I only use the phone to check the time). Examples from the website mission rounds 2 and 3.
Quick-fire: the teacher says a sentence with لَا / وَلٰكِنَّ; students show thumbs up / down for “Does he train on Friday?”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“Listening accuracy improves when you recognise person prefixes, time frames, frequency phrases and contrast markers. These grammatical signals help you reject distractors.”
• Use person prefixes to track the speaker: When two people are compared, the prefix tells you who performs the action.
• Use time frames as anchors: Write the number or relation you expect before listening. Then reject a time mentioned for a different event.
• Listen beyond the contrast marker: A distractor may appear before the contrast; the speaker’s final choice or true situation often follows it.
• Notice negation and limitation: One small negative word can reverse the answer. إِلَّا may mean “except / only” as well as “to” in clock time.
Website common error: Do not choose an option merely because you heard its vocabulary. Confirm that the detail belongs to the correct person, event and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3, 4,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teacher thinks aloud through website listening question 2 (and Q8, the distractor question). This is exactly the mistake Sara makes in the website performance log (reading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sentence 1 (my listening target). • Develop: copy sentences 2 and 3. • Stretch: write your own strategy sentence with أَسْتَبْعِدُ or أَتَثَبَّتُ مِنْ.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Read each Arabic cue and identify the kind of detail it signals. Use the cue to predict what must be caught in the listening text.
Website instruction: use the cue to PREDICT what must be caught in the listening. Do this sorter BEFORE the three listening texts.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Read each Arabic cue and identify the kind of detail it signals. Use the cue to predict what must be caught in the listening text.
Website instruction: use the cue to PREDICT what must be caught in the listening. Do this sorter BEFORE the three listening texts.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and 2. Develop/Stretch: + question 3 (the distractor).
Listen 1: just listen. Listen 2: note answers. Then chat the letters.
Support: after the second listening, show the read-along slide (Arabic + English, line by line) for Core students.
SCRIPT (read aloud):
النَّصُّ الأَوَّلُ: تَسْتَيْقِظُ مَرْيَمُ فِي السَّادِسَةِ، وَلٰكِنَّهَا لَا تَخْرُجُ مِنَ البَيْتِ حَتَّى السَّابِعَةِ وَالرُّبْعِ. تَتَنَاوَلُ الإِفْطَارَ دَائِمًا، وَتَسْتَقِلُّ الحَافِلَةَ فِي السَّابِعَةِ وَالنِّصْفِ.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 2 (the first suggestion). Develop/Stretch: all three — question 1 is the FINAL agreed time.
Listen 1: just listen. Listen 2: note answers. Then chat the letters.
Support: after the second listening, show the read-along slide (Arabic + English, line by line) for Core students.
SCRIPT (read aloud):
النَّصُّ الثَّانِي: يَلْتَقِي عُمَرُ وَسَلْمَى يَوْمَ السَّبْتِ. اِقْتَرَحَ عُمَرُ السَّاعَةَ الرَّابِعَةَ، أَمَّا سَلْمَى فَلَا تَنْتَهِي مِنْ دَرْسِهَا قَبْلَ الرَّابِعَةِ وَالنِّصْفِ، لِذٰلِكَ اِتَّفَقَا عَلَى الخَامِسَةِ إِلَّا الرُّبْعَ.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and 3. Develop/Stretch: all four.
Listen 1: just listen. Listen 2: note answers. Then chat the letters.
Support: after the second listening, show the read-along slide (Arabic + English, line by line) for Core students.
SCRIPT (read aloud):
النَّصُّ الثَّالِثُ: يَعُودُ سَامِرٌ إِلَى البَيْتِ فِي الثَّالِثَةِ وَعَشْرِ دَقَائِقَ. يَسْتَرِيحُ نِصْفَ سَاعَةٍ، ثُمَّ يُكْمِلُ وَاجِبَهُ قَبْلَ أَنْ يَذْهَبَ إِلَى التَّمْرِينِ. يَتَمَرَّنُ ثَلَاثَ مَرَّاتٍ فِي الأُسْبُوعِ، أَمَّا يَوْمُ الخَمِيسِ فَيَبْقَى فِي البَيْتِ وَيُسَاعِدُ أُسْرَتَهُ.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reflection prompts. Keep it short and supportive — this is metacognition: students explain HOW they listened. Core may answer in one Arabic key word + English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Identify key words and complete the questions with support. · Develop — Explain distractors and correct answers from the script. · Stretch — Evaluate paraphrase, inference and personal strategy using precise listening terminology.
Website writing task (Stretch): Write 100–120 words reconstructing one speaker’s routine from the listening evidence, then explain two distractors you rejected.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رَكَّزْتُ عَلَى / اِنْتَظَرْتُ / صَحَّحْتُ · كَانَ المُشَتِّتُ قَوِيًّا لِأَنَّ السَّادِسَةَ ذُكِرَتْ أَوَّلًا · فِي الاِسْتِمَاعِ الثَّانِي رَكَّزْتُ عَلَى الفِعْلِ «تَخْرُجُ» · هَدَفِي القَادِمُ أَنْ أَرْبِطَ كُلَّ رَقْمٍ بِالحَدَثِ الصَّحِيحِ.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(D1-L11 · Speaking and Writing — My Daily Routine) will spend class time USING this language, so students prepare it tonight — short, simple, easy to access (school guidance: “Simple, Short, Interesting, Relevant, Easy to access”). The five words come from the website D1-L11 vocabulary (speaking and reflection, answer extension).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8  ·  DEVELOPMENT D1  ·  D1-L10</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D1-L10</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Listening — Daily Routine and Time Details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الاِسْتِمَاعُ — تَفَاصِيلُ الرُّوتِينِ اليَوْمِيِّ وَالوَقْتِ</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Listen like an examiner: predict the type of answer, link every time to its event, keep listening after “but”, catch “not”, and use the second listening to check.</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D1-L10 · Development D1 · Daily Routine and Time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Development › D1 › D1-L10</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50</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Five listening traps and how to beat them.</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Three short listening cycles with the script.</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D1-L11.</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50</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أَتَوَقَّعُ</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focus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predict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correct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a </a:t>
            </a:r>
            <a:pPr algn="l" indent="0" marL="0">
              <a:buNone/>
            </a:pPr>
            <a:r>
              <a:rPr lang="ar-SA" altLang="en-US" sz="1650" b="1" dirty="0">
                <a:solidFill>
                  <a:srgbClr val="1B3B6F"/>
                </a:solidFill>
                <a:latin typeface="Amiri" pitchFamily="34" charset="0"/>
                <a:ea typeface="Amiri" pitchFamily="34" charset="-122"/>
                <a:cs typeface="Amiri" pitchFamily="34" charset="-120"/>
              </a:rPr>
              <a:t>مُشَتِّتٌ</a:t>
            </a:r>
            <a:pPr algn="l" indent="0" marL="0">
              <a:buNone/>
            </a:pPr>
            <a:r>
              <a:rPr lang="en-US" sz="1250" b="1" dirty="0">
                <a:solidFill>
                  <a:srgbClr val="1B3B6F"/>
                </a:solidFill>
                <a:latin typeface="Calibri" pitchFamily="34" charset="0"/>
                <a:ea typeface="Calibri" pitchFamily="34" charset="-122"/>
                <a:cs typeface="Calibri" pitchFamily="34" charset="-120"/>
              </a:rPr>
              <a:t> in a listening test?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distractor</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key word</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script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gives a duration?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الرَّابِعَةِ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يَوْمَ الخَمِيسِ</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الرَّابِعَةِ إِلَى الخَامِسَةِ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a:t>
            </a:r>
            <a:pPr algn="l" indent="0" marL="0">
              <a:buNone/>
            </a:pPr>
            <a:r>
              <a:rPr lang="ar-SA" altLang="en-US" sz="1650" b="1" dirty="0">
                <a:solidFill>
                  <a:srgbClr val="1B3B6F"/>
                </a:solidFill>
                <a:latin typeface="Amiri" pitchFamily="34" charset="0"/>
                <a:ea typeface="Amiri" pitchFamily="34" charset="-122"/>
                <a:cs typeface="Amiri" pitchFamily="34" charset="-120"/>
              </a:rPr>
              <a:t>يَعُودُ أَخُوهَا</a:t>
            </a:r>
            <a:pPr algn="l" indent="0" marL="0">
              <a:buNone/>
            </a:pPr>
            <a:r>
              <a:rPr lang="en-US" sz="1250" b="1" dirty="0">
                <a:solidFill>
                  <a:srgbClr val="1B3B6F"/>
                </a:solidFill>
                <a:latin typeface="Calibri" pitchFamily="34" charset="0"/>
                <a:ea typeface="Calibri" pitchFamily="34" charset="-122"/>
                <a:cs typeface="Calibri" pitchFamily="34" charset="-120"/>
              </a:rPr>
              <a:t>, who returns?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 brother</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is 4:45?</a:t>
            </a:r>
            <a:endParaRPr lang="en-US" sz="1200" dirty="0"/>
          </a:p>
        </p:txBody>
      </p:sp>
      <p:sp>
        <p:nvSpPr>
          <p:cNvPr id="71" name="Text 68"/>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٤:٤٥</a:t>
            </a:r>
            <a:endParaRPr lang="ar-SA" sz="220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الخَامِسَةُ إِلَّا الرُّبْعَ</a:t>
            </a:r>
            <a:endParaRPr lang="ar-SA" sz="20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الرَّابِعَةُ إِلَّا الرُّبْعَ</a:t>
            </a:r>
            <a:endParaRPr lang="ar-SA" sz="20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الرَّابِعَةُ وَالرُّبْعُ</a:t>
            </a:r>
            <a:endParaRPr lang="ar-SA" sz="2050" dirty="0"/>
          </a:p>
        </p:txBody>
      </p:sp>
      <p:sp>
        <p:nvSpPr>
          <p:cNvPr id="81" name="Shape 78"/>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3" name="Text 80"/>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4" name="Text 81"/>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5" name="Text 82"/>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50</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أَتَوَقَّعُ</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focus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 predict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correct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a </a:t>
            </a:r>
            <a:pPr algn="l" indent="0" marL="0">
              <a:buNone/>
            </a:pPr>
            <a:r>
              <a:rPr lang="ar-SA" altLang="en-US" sz="1650" b="1" dirty="0">
                <a:solidFill>
                  <a:srgbClr val="1B3B6F"/>
                </a:solidFill>
                <a:latin typeface="Amiri" pitchFamily="34" charset="0"/>
                <a:ea typeface="Amiri" pitchFamily="34" charset="-122"/>
                <a:cs typeface="Amiri" pitchFamily="34" charset="-120"/>
              </a:rPr>
              <a:t>مُشَتِّتٌ</a:t>
            </a:r>
            <a:pPr algn="l" indent="0" marL="0">
              <a:buNone/>
            </a:pPr>
            <a:r>
              <a:rPr lang="en-US" sz="1250" b="1" dirty="0">
                <a:solidFill>
                  <a:srgbClr val="1B3B6F"/>
                </a:solidFill>
                <a:latin typeface="Calibri" pitchFamily="34" charset="0"/>
                <a:ea typeface="Calibri" pitchFamily="34" charset="-122"/>
                <a:cs typeface="Calibri" pitchFamily="34" charset="-120"/>
              </a:rPr>
              <a:t> in a listening test?</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distractor</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key word</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script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gives a duration?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الرَّابِعَةِ</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يَوْمَ الخَمِيسِ</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مِنَ الرَّابِعَةِ إِلَى الخَامِسَةِ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D1-L09: from … to …</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a:t>
            </a:r>
            <a:pPr algn="l" indent="0" marL="0">
              <a:buNone/>
            </a:pPr>
            <a:r>
              <a:rPr lang="ar-SA" altLang="en-US" sz="1650" b="1" dirty="0">
                <a:solidFill>
                  <a:srgbClr val="1B3B6F"/>
                </a:solidFill>
                <a:latin typeface="Amiri" pitchFamily="34" charset="0"/>
                <a:ea typeface="Amiri" pitchFamily="34" charset="-122"/>
                <a:cs typeface="Amiri" pitchFamily="34" charset="-120"/>
              </a:rPr>
              <a:t>يَعُودُ أَخُوهَا</a:t>
            </a:r>
            <a:pPr algn="l" indent="0" marL="0">
              <a:buNone/>
            </a:pPr>
            <a:r>
              <a:rPr lang="en-US" sz="1250" b="1" dirty="0">
                <a:solidFill>
                  <a:srgbClr val="1B3B6F"/>
                </a:solidFill>
                <a:latin typeface="Calibri" pitchFamily="34" charset="0"/>
                <a:ea typeface="Calibri" pitchFamily="34" charset="-122"/>
                <a:cs typeface="Calibri" pitchFamily="34" charset="-120"/>
              </a:rPr>
              <a:t>, who returns?</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her brother</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D1-L09: ya- = he.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is 4:45?</a:t>
            </a:r>
            <a:endParaRPr lang="en-US" sz="1200" dirty="0"/>
          </a:p>
        </p:txBody>
      </p:sp>
      <p:sp>
        <p:nvSpPr>
          <p:cNvPr id="79" name="Text 76"/>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٤:٤٥</a:t>
            </a:r>
            <a:endParaRPr lang="ar-SA" sz="220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الخَامِسَةُ إِلَّا الرُّبْعَ</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الرَّابِعَةُ إِلَّا الرُّبْعَ</a:t>
            </a:r>
            <a:endParaRPr lang="ar-SA" sz="170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الرَّابِعَةُ وَالرُّبْعُ</a:t>
            </a:r>
            <a:endParaRPr lang="ar-SA" sz="170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D1-L02: the next hour with </a:t>
            </a:r>
            <a:pPr algn="l" indent="0" marL="0">
              <a:buNone/>
            </a:pPr>
            <a:r>
              <a:rPr lang="ar-SA" altLang="en-US" sz="1350" dirty="0">
                <a:solidFill>
                  <a:srgbClr val="8A6D1E"/>
                </a:solidFill>
                <a:latin typeface="Amiri" pitchFamily="34" charset="0"/>
                <a:ea typeface="Amiri" pitchFamily="34" charset="-122"/>
                <a:cs typeface="Amiri" pitchFamily="34" charset="-120"/>
              </a:rPr>
              <a:t>إِلَّا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1" name="Shape 88"/>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2" name="Text 89"/>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3" name="Text 90"/>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Hearing a word is not enough. Check: right person? right event? did “but” or “not” change it?</a:t>
            </a:r>
            <a:endParaRPr lang="en-US" sz="1300" dirty="0"/>
          </a:p>
        </p:txBody>
      </p:sp>
      <p:sp>
        <p:nvSpPr>
          <p:cNvPr id="94" name="Text 91"/>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تَسْتَيْقِظُ فِي السَّادِسَةِ،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وَلٰكِنَّهَا لَا</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تَخْرُجُ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حَتَّى</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السَّابِعَةِ وَالرُّبْعِ.</a:t>
            </a:r>
            <a:endParaRPr lang="ar-SA" sz="19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50</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Predict the information type before listening.</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Track people, times, negation and contrast.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Recognise synonyms and paraphrase.</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Evaluate listening performance and set a precise target.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predict whether an answer is a time, a person or a frequency.</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link a time to the right event.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explain why a distractor is wrong.</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keep listening after “but” and catch “not”.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recognise synonyms and paraphrase.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set a precise listening target for next time.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50</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Listening process · 9</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Strategy verbs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Common synonym pairs · 7</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التَّوَقُّعُ</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‎توقع‎ </a:t>
            </a:r>
            <a:pPr indent="0" marL="0">
              <a:buNone/>
            </a:pPr>
            <a:r>
              <a:rPr lang="en-US" sz="950" b="1" dirty="0">
                <a:solidFill>
                  <a:srgbClr val="2E8B57"/>
                </a:solidFill>
                <a:latin typeface="Calibri" pitchFamily="34" charset="0"/>
                <a:ea typeface="Calibri" pitchFamily="34" charset="-122"/>
                <a:cs typeface="Calibri" pitchFamily="34" charset="-120"/>
              </a:rPr>
              <a:t> tawaqqo · expectation, prediction</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تَحَقُّقٌ</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‎تحقیق‎ </a:t>
            </a:r>
            <a:pPr indent="0" marL="0">
              <a:buNone/>
            </a:pPr>
            <a:r>
              <a:rPr lang="en-US" sz="950" b="1" dirty="0">
                <a:solidFill>
                  <a:srgbClr val="2E8B57"/>
                </a:solidFill>
                <a:latin typeface="Calibri" pitchFamily="34" charset="0"/>
                <a:ea typeface="Calibri" pitchFamily="34" charset="-122"/>
                <a:cs typeface="Calibri" pitchFamily="34" charset="-120"/>
              </a:rPr>
              <a:t> tahqīq · investigation → checking</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أُلَاحِظُ</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‎ملاحظہ‎ </a:t>
            </a:r>
            <a:pPr indent="0" marL="0">
              <a:buNone/>
            </a:pPr>
            <a:r>
              <a:rPr lang="en-US" sz="950" b="1" dirty="0">
                <a:solidFill>
                  <a:srgbClr val="2E8B57"/>
                </a:solidFill>
                <a:latin typeface="Calibri" pitchFamily="34" charset="0"/>
                <a:ea typeface="Calibri" pitchFamily="34" charset="-122"/>
                <a:cs typeface="Calibri" pitchFamily="34" charset="-120"/>
              </a:rPr>
              <a:t> mulāhaza · observation → I notice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أُقَارِنُ</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‎مقابلہ‎ </a:t>
            </a:r>
            <a:pPr indent="0" marL="0">
              <a:buNone/>
            </a:pPr>
            <a:r>
              <a:rPr lang="en-US" sz="950" b="1" dirty="0">
                <a:solidFill>
                  <a:srgbClr val="2E8B57"/>
                </a:solidFill>
                <a:latin typeface="Calibri" pitchFamily="34" charset="0"/>
                <a:ea typeface="Calibri" pitchFamily="34" charset="-122"/>
                <a:cs typeface="Calibri" pitchFamily="34" charset="-120"/>
              </a:rPr>
              <a:t> muqābla · Urdu: contest · Arabic: comparison</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34" charset="0"/>
                <a:ea typeface="Amiri" pitchFamily="34" charset="-122"/>
                <a:cs typeface="Amiri" pitchFamily="34" charset="-120"/>
              </a:rPr>
              <a:t>الاِسْتِمَاعُ الاِنْتِقَائِيُّ</a:t>
            </a:r>
            <a:endParaRPr lang="ar-SA" sz="155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‎انتخاب‎ </a:t>
            </a:r>
            <a:pPr indent="0" marL="0">
              <a:buNone/>
            </a:pPr>
            <a:r>
              <a:rPr lang="en-US" sz="950" b="1" dirty="0">
                <a:solidFill>
                  <a:srgbClr val="2E8B57"/>
                </a:solidFill>
                <a:latin typeface="Calibri" pitchFamily="34" charset="0"/>
                <a:ea typeface="Calibri" pitchFamily="34" charset="-122"/>
                <a:cs typeface="Calibri" pitchFamily="34" charset="-120"/>
              </a:rPr>
              <a:t> intikhāb · choice, selection</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50</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process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الاِسْتِمَاعُ النَّشِطُ</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active listening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als-ti-mā-ʿu an-na-shi-ṭu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3" name="Shape 2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التَّوَقُّعُ</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prediction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at-ta-waq-qu-ʿu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0" name="Shape 27"/>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كَلِمَةٌ مِفْتَاحِيَّةٌ</a:t>
            </a:r>
            <a:endParaRPr lang="ar-SA" sz="3000" dirty="0"/>
          </a:p>
        </p:txBody>
      </p:sp>
      <p:sp>
        <p:nvSpPr>
          <p:cNvPr id="35" name="Text 3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key word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ka-li-ma-tun mif-tā-ḥiy-ya-tun</a:t>
            </a:r>
            <a:endParaRPr lang="en-US" sz="1350" dirty="0"/>
          </a:p>
        </p:txBody>
      </p:sp>
      <p:sp>
        <p:nvSpPr>
          <p:cNvPr id="36" name="Shape 3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8" name="Text 3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a:t>
            </a:r>
            <a:endParaRPr lang="ar-SA" sz="1500" dirty="0"/>
          </a:p>
        </p:txBody>
      </p:sp>
      <p:sp>
        <p:nvSpPr>
          <p:cNvPr id="39" name="Shape 3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key</a:t>
            </a:r>
            <a:endParaRPr lang="en-US" sz="750" dirty="0"/>
          </a:p>
        </p:txBody>
      </p:sp>
      <p:sp>
        <p:nvSpPr>
          <p:cNvPr id="41" name="Text 3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مِفْتَاحٌ</a:t>
            </a:r>
            <a:endParaRPr lang="ar-SA" sz="1500" dirty="0"/>
          </a:p>
        </p:txBody>
      </p:sp>
      <p:sp>
        <p:nvSpPr>
          <p:cNvPr id="42" name="Shape 3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44" name="Text 4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كَلِمَةٌ</a:t>
            </a:r>
            <a:endParaRPr lang="ar-SA" sz="150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8" name="Text 4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مَرْسَاةٌ سَمْعِيَّةٌ</a:t>
            </a:r>
            <a:endParaRPr lang="ar-SA" sz="3000" dirty="0"/>
          </a:p>
        </p:txBody>
      </p:sp>
      <p:sp>
        <p:nvSpPr>
          <p:cNvPr id="49" name="Text 4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listening anchor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mar-sā-tun sam-ʿiy-ya-tun</a:t>
            </a:r>
            <a:endParaRPr lang="en-US" sz="1350" dirty="0"/>
          </a:p>
        </p:txBody>
      </p:sp>
      <p:sp>
        <p:nvSpPr>
          <p:cNvPr id="50" name="Shape 47"/>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4389120"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3" name="Shape 50"/>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54" name="Text 51"/>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55" name="Shape 52"/>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6" name="Text 53"/>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7" name="Text 54"/>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مُشَتِّتٌ</a:t>
            </a:r>
            <a:endParaRPr lang="ar-SA" sz="3000" dirty="0"/>
          </a:p>
        </p:txBody>
      </p:sp>
      <p:sp>
        <p:nvSpPr>
          <p:cNvPr id="58" name="Text 55"/>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distractor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mu-shat-ti-tun</a:t>
            </a:r>
            <a:endParaRPr lang="en-US" sz="1350" dirty="0"/>
          </a:p>
        </p:txBody>
      </p:sp>
      <p:sp>
        <p:nvSpPr>
          <p:cNvPr id="59" name="Shape 56"/>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1" name="Text 58"/>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مُشَتِّتَاتٌ</a:t>
            </a:r>
            <a:endParaRPr lang="ar-SA" sz="1500" dirty="0"/>
          </a:p>
        </p:txBody>
      </p:sp>
      <p:sp>
        <p:nvSpPr>
          <p:cNvPr id="62" name="Shape 59"/>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the</a:t>
            </a:r>
            <a:endParaRPr lang="en-US" sz="750" dirty="0"/>
          </a:p>
        </p:txBody>
      </p:sp>
      <p:sp>
        <p:nvSpPr>
          <p:cNvPr id="64" name="Text 61"/>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المُشَتِّتُ</a:t>
            </a:r>
            <a:endParaRPr lang="ar-SA" sz="1500" dirty="0"/>
          </a:p>
        </p:txBody>
      </p:sp>
      <p:sp>
        <p:nvSpPr>
          <p:cNvPr id="65" name="Shape 62"/>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66" name="Text 63"/>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67" name="Text 64"/>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مُشَتِّتٌ</a:t>
            </a:r>
            <a:endParaRPr lang="ar-SA" sz="150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50</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process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تَحَقُّقٌ</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verification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ta-ḥaq-qu-qun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الاِسْتِمَاعُ الاِنْتِقَائِيُّ</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selective listening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als-ti-mā-ʿu aln-ti-qā-ʾiy-yu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المَعْنَى العَامُّ</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gist / overall meaning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al-maʿ-nā al-ʿām-mu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35" name="Shape 3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التَّفْصِيلُ الدَّقِيقُ</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precise detail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at-taf-ṣī-lu ad-da-qī-qu</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50</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Strategy verbs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أُرَكِّزُ عَلَى</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focus 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u-rak-ki-zu ʿa-lā</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تُرَكِّزُ</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يُرَكِّزُ</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أُرَكِّزُ</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36" name="Shape 33"/>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أَتَوَقَّعُ</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predict / expect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a-ta-waq-qa-ʿu</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تَتَوَقَّعُ</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يَتَوَقَّعُ</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أَتَوَقَّعُ</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54" name="Text 5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أُهْمِلُ</a:t>
            </a:r>
            <a:endParaRPr lang="ar-SA" sz="3000" dirty="0"/>
          </a:p>
        </p:txBody>
      </p:sp>
      <p:sp>
        <p:nvSpPr>
          <p:cNvPr id="55" name="Text 5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ignore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uh-mi-lu</a:t>
            </a:r>
            <a:endParaRPr lang="en-US" sz="1350" dirty="0"/>
          </a:p>
        </p:txBody>
      </p:sp>
      <p:sp>
        <p:nvSpPr>
          <p:cNvPr id="56" name="Shape 5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8211312" y="4261104"/>
            <a:ext cx="310896" cy="310896"/>
          </a:xfrm>
          <a:prstGeom prst="ellipse">
            <a:avLst/>
          </a:prstGeom>
          <a:solidFill>
            <a:srgbClr val="F4F1EA"/>
          </a:solidFill>
          <a:ln w="12700">
            <a:solidFill>
              <a:srgbClr val="F4F1EA"/>
            </a:solidFill>
            <a:prstDash val="solid"/>
          </a:ln>
        </p:spPr>
      </p:sp>
      <p:sp>
        <p:nvSpPr>
          <p:cNvPr id="58" name="Text 5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59" name="Shape 56"/>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60" name="Text 57"/>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61" name="Text 5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أُلَاحِظُ</a:t>
            </a:r>
            <a:endParaRPr lang="ar-SA" sz="3000" dirty="0"/>
          </a:p>
        </p:txBody>
      </p:sp>
      <p:sp>
        <p:nvSpPr>
          <p:cNvPr id="62" name="Text 5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notice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u-lā-ḥi-ẓu</a:t>
            </a:r>
            <a:endParaRPr lang="en-US" sz="1350" dirty="0"/>
          </a:p>
        </p:txBody>
      </p:sp>
      <p:sp>
        <p:nvSpPr>
          <p:cNvPr id="63" name="Shape 60"/>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65" name="Text 62"/>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تُلَاحِظُ</a:t>
            </a:r>
            <a:endParaRPr lang="ar-SA" sz="1500" dirty="0"/>
          </a:p>
        </p:txBody>
      </p:sp>
      <p:sp>
        <p:nvSpPr>
          <p:cNvPr id="66" name="Shape 63"/>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68" name="Text 65"/>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يُلَاحِظُ</a:t>
            </a:r>
            <a:endParaRPr lang="ar-SA" sz="1500" dirty="0"/>
          </a:p>
        </p:txBody>
      </p:sp>
      <p:sp>
        <p:nvSpPr>
          <p:cNvPr id="69" name="Shape 66"/>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71" name="Text 68"/>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أُلَاحِظُ</a:t>
            </a:r>
            <a:endParaRPr lang="ar-SA" sz="150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50</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Strategy verbs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أُقَارِنُ</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compare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u-qā-ri-nu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23" name="Shape 20"/>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24" name="Text 21"/>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أَسْتَبْعِدُ</a:t>
            </a:r>
            <a:endParaRPr lang="ar-SA" sz="3000" dirty="0"/>
          </a:p>
        </p:txBody>
      </p:sp>
      <p:sp>
        <p:nvSpPr>
          <p:cNvPr id="28" name="Text 2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eliminate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as-tab-ʿi-du</a:t>
            </a:r>
            <a:endParaRPr lang="en-US" sz="1350" dirty="0"/>
          </a:p>
        </p:txBody>
      </p:sp>
      <p:sp>
        <p:nvSpPr>
          <p:cNvPr id="29" name="Shape 26"/>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31" name="Text 28"/>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تَسْتَبْعِدُ</a:t>
            </a:r>
            <a:endParaRPr lang="ar-SA" sz="1500" dirty="0"/>
          </a:p>
        </p:txBody>
      </p:sp>
      <p:sp>
        <p:nvSpPr>
          <p:cNvPr id="32" name="Shape 29"/>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33" name="Text 30"/>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34" name="Text 31"/>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يَسْتَبْعِدُ</a:t>
            </a:r>
            <a:endParaRPr lang="ar-SA" sz="1500" dirty="0"/>
          </a:p>
        </p:txBody>
      </p:sp>
      <p:sp>
        <p:nvSpPr>
          <p:cNvPr id="35" name="Shape 32"/>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36" name="Text 33"/>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37" name="Text 34"/>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أَسْتَبْعِدُ</a:t>
            </a:r>
            <a:endParaRPr lang="ar-SA" sz="1500" dirty="0"/>
          </a:p>
        </p:txBody>
      </p:sp>
      <p:sp>
        <p:nvSpPr>
          <p:cNvPr id="38" name="Shape 35"/>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566928" y="1920240"/>
            <a:ext cx="310896" cy="310896"/>
          </a:xfrm>
          <a:prstGeom prst="ellipse">
            <a:avLst/>
          </a:prstGeom>
          <a:solidFill>
            <a:srgbClr val="F4F1EA"/>
          </a:solidFill>
          <a:ln w="12700">
            <a:solidFill>
              <a:srgbClr val="F4F1EA"/>
            </a:solidFill>
            <a:prstDash val="solid"/>
          </a:ln>
        </p:spPr>
      </p:sp>
      <p:sp>
        <p:nvSpPr>
          <p:cNvPr id="40" name="Text 37"/>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41" name="Shape 38"/>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3" name="Text 40"/>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أَتَثَبَّتُ مِنْ</a:t>
            </a:r>
            <a:endParaRPr lang="ar-SA" sz="3000" dirty="0"/>
          </a:p>
        </p:txBody>
      </p:sp>
      <p:sp>
        <p:nvSpPr>
          <p:cNvPr id="44" name="Text 41"/>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verify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a-ta-thab-ba-tu min</a:t>
            </a:r>
            <a:endParaRPr lang="en-US" sz="135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48" name="Text 4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أُصَحِّحُ</a:t>
            </a:r>
            <a:endParaRPr lang="ar-SA" sz="3000" dirty="0"/>
          </a:p>
        </p:txBody>
      </p:sp>
      <p:sp>
        <p:nvSpPr>
          <p:cNvPr id="49" name="Text 4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correct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u-ṣaḥ-ḥi-ḥu</a:t>
            </a:r>
            <a:endParaRPr lang="en-US" sz="13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50</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Common synonym pairs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كَبِيرٌ / وَاسِعٌ</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large / spacious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ka-bī-run / wā-si-ʿun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صَغِيرٌ / ضَيِّقٌ</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small / narrow</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ṣa-ghī-run / ḍay-yi-qun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مُتْعَبٌ / مُرْهَقٌ</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tired / exhausted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mut-ʿa-bun / mur-ha-qun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يَبْدَأُ / يَنْطَلِقُ</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begins / sets off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yab-da-ʾu / yan-ṭa-li-qu</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50</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Common synonym pairs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يَنْتَهِي / يَخْتَتِمُ</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ends / concludes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yan-ta-hī / yakh-ta-ti-mu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غَالِبًا / كَثِيرًا مَا</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often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ghā-li-ban / ka-thī-ran mā</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قَلِيلًا مَا / نَادِرًا</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seldom / rarely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qa-lī-lan mā / nā-di-ran</a:t>
            </a:r>
            <a:endParaRPr lang="en-US" sz="13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50</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1 · LISTENING CUES AND THEIR TRAPS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to listen for — and the trap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عَلَامَاتُ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2746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Cue</a:t>
            </a:r>
            <a:endParaRPr lang="en-US" sz="1100" dirty="0"/>
          </a:p>
        </p:txBody>
      </p:sp>
      <p:sp>
        <p:nvSpPr>
          <p:cNvPr id="17" name="Text 14"/>
          <p:cNvSpPr txBox="1"/>
          <p:nvPr/>
        </p:nvSpPr>
        <p:spPr>
          <a:xfrm>
            <a:off x="5404104"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a:t>
            </a:r>
            <a:endParaRPr lang="en-US" sz="1100" dirty="0"/>
          </a:p>
        </p:txBody>
      </p:sp>
      <p:sp>
        <p:nvSpPr>
          <p:cNvPr id="18" name="Text 15"/>
          <p:cNvSpPr txBox="1"/>
          <p:nvPr/>
        </p:nvSpPr>
        <p:spPr>
          <a:xfrm>
            <a:off x="302666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Listen for</a:t>
            </a:r>
            <a:endParaRPr lang="en-US" sz="1100" dirty="0"/>
          </a:p>
        </p:txBody>
      </p:sp>
      <p:sp>
        <p:nvSpPr>
          <p:cNvPr id="19" name="Text 16"/>
          <p:cNvSpPr txBox="1"/>
          <p:nvPr/>
        </p:nvSpPr>
        <p:spPr>
          <a:xfrm>
            <a:off x="53035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The trap</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9445752" y="2267712"/>
            <a:ext cx="2194560" cy="731520"/>
          </a:xfrm>
          <a:prstGeom prst="rect">
            <a:avLst/>
          </a:prstGeom>
          <a:noFill/>
          <a:ln/>
        </p:spPr>
        <p:txBody>
          <a:bodyPr wrap="square" lIns="0" tIns="0" rIns="0" bIns="0" rtlCol="0" anchor="ctr"/>
          <a:lstStyle/>
          <a:p>
            <a:pPr rtl="1" algn="ctr" indent="0" marL="0">
              <a:buNone/>
            </a:pPr>
            <a:r>
              <a:rPr lang="ar-SA" altLang="en-US" sz="2600" b="1" dirty="0">
                <a:solidFill>
                  <a:srgbClr val="D6336C"/>
                </a:solidFill>
                <a:latin typeface="Amiri" pitchFamily="34" charset="0"/>
                <a:ea typeface="Amiri" pitchFamily="34" charset="-122"/>
                <a:cs typeface="Amiri" pitchFamily="34" charset="-120"/>
              </a:rPr>
              <a:t>تَـ</a:t>
            </a:r>
            <a:pPr rtl="1" algn="ctr" indent="0" marL="0">
              <a:buNone/>
            </a:pPr>
            <a:r>
              <a:rPr lang="ar-SA" altLang="en-US" sz="2600" b="1" dirty="0">
                <a:solidFill>
                  <a:srgbClr val="1B3B6F"/>
                </a:solidFill>
                <a:latin typeface="Amiri" pitchFamily="34" charset="0"/>
                <a:ea typeface="Amiri" pitchFamily="34" charset="-122"/>
                <a:cs typeface="Amiri" pitchFamily="34" charset="-120"/>
              </a:rPr>
              <a:t> / </a:t>
            </a:r>
            <a:pPr rtl="1" algn="ctr" indent="0" marL="0">
              <a:buNone/>
            </a:pPr>
            <a:r>
              <a:rPr lang="ar-SA" altLang="en-US" sz="2600" b="1" dirty="0">
                <a:solidFill>
                  <a:srgbClr val="1D5FBF"/>
                </a:solidFill>
                <a:latin typeface="Amiri" pitchFamily="34" charset="0"/>
                <a:ea typeface="Amiri" pitchFamily="34" charset="-122"/>
                <a:cs typeface="Amiri" pitchFamily="34" charset="-120"/>
              </a:rPr>
              <a:t>يَـ</a:t>
            </a:r>
            <a:pPr rtl="1" algn="ctr" indent="0" marL="0">
              <a:buNone/>
            </a:pPr>
            <a:r>
              <a:rPr lang="ar-SA" altLang="en-US" sz="2600" b="1" dirty="0">
                <a:solidFill>
                  <a:srgbClr val="1B3B6F"/>
                </a:solidFill>
                <a:latin typeface="Amiri" pitchFamily="34" charset="0"/>
                <a:ea typeface="Amiri" pitchFamily="34" charset="-122"/>
                <a:cs typeface="Amiri" pitchFamily="34" charset="-120"/>
              </a:rPr>
              <a:t> / </a:t>
            </a:r>
            <a:pPr rtl="1" algn="ctr" indent="0" marL="0">
              <a:buNone/>
            </a:pPr>
            <a:r>
              <a:rPr lang="ar-SA" altLang="en-US" sz="2600" b="1" dirty="0">
                <a:solidFill>
                  <a:srgbClr val="0E7C86"/>
                </a:solidFill>
                <a:latin typeface="Amiri" pitchFamily="34" charset="0"/>
                <a:ea typeface="Amiri" pitchFamily="34" charset="-122"/>
                <a:cs typeface="Amiri" pitchFamily="34" charset="-120"/>
              </a:rPr>
              <a:t>أَـ</a:t>
            </a:r>
            <a:endParaRPr lang="ar-SA" sz="2600" dirty="0"/>
          </a:p>
        </p:txBody>
      </p:sp>
      <p:sp>
        <p:nvSpPr>
          <p:cNvPr id="22" name="Text 19"/>
          <p:cNvSpPr txBox="1"/>
          <p:nvPr/>
        </p:nvSpPr>
        <p:spPr>
          <a:xfrm>
            <a:off x="5422392" y="2286000"/>
            <a:ext cx="3840480" cy="453542"/>
          </a:xfrm>
          <a:prstGeom prst="rect">
            <a:avLst/>
          </a:prstGeom>
          <a:noFill/>
          <a:ln/>
        </p:spPr>
        <p:txBody>
          <a:bodyPr wrap="square" lIns="0" tIns="0" rIns="0" bIns="0" rtlCol="0" anchor="ctr"/>
          <a:lstStyle/>
          <a:p>
            <a:pPr rtl="1" algn="ctr" indent="0" marL="0">
              <a:buNone/>
            </a:pPr>
            <a:r>
              <a:rPr lang="ar-SA" altLang="en-US" sz="2100" b="1" dirty="0">
                <a:solidFill>
                  <a:srgbClr val="D6336C"/>
                </a:solidFill>
                <a:latin typeface="Amiri" pitchFamily="34" charset="0"/>
                <a:ea typeface="Amiri" pitchFamily="34" charset="-122"/>
                <a:cs typeface="Amiri" pitchFamily="34" charset="-120"/>
              </a:rPr>
              <a:t>تَ</a:t>
            </a:r>
            <a:pPr rtl="1" algn="ctr" indent="0" marL="0">
              <a:buNone/>
            </a:pPr>
            <a:r>
              <a:rPr lang="ar-SA" altLang="en-US" sz="2100" b="1" dirty="0">
                <a:solidFill>
                  <a:srgbClr val="1B3B6F"/>
                </a:solidFill>
                <a:latin typeface="Amiri" pitchFamily="34" charset="0"/>
                <a:ea typeface="Amiri" pitchFamily="34" charset="-122"/>
                <a:cs typeface="Amiri" pitchFamily="34" charset="-120"/>
              </a:rPr>
              <a:t>سْتَيْقِظُ مَرْيَمُ · </a:t>
            </a:r>
            <a:pPr rtl="1" algn="ctr" indent="0" marL="0">
              <a:buNone/>
            </a:pPr>
            <a:r>
              <a:rPr lang="ar-SA" altLang="en-US" sz="2100" b="1" dirty="0">
                <a:solidFill>
                  <a:srgbClr val="1D5FBF"/>
                </a:solidFill>
                <a:latin typeface="Amiri" pitchFamily="34" charset="0"/>
                <a:ea typeface="Amiri" pitchFamily="34" charset="-122"/>
                <a:cs typeface="Amiri" pitchFamily="34" charset="-120"/>
              </a:rPr>
              <a:t>يَ</a:t>
            </a:r>
            <a:pPr rtl="1" algn="ctr" indent="0" marL="0">
              <a:buNone/>
            </a:pPr>
            <a:r>
              <a:rPr lang="ar-SA" altLang="en-US" sz="2100" b="1" dirty="0">
                <a:solidFill>
                  <a:srgbClr val="1B3B6F"/>
                </a:solidFill>
                <a:latin typeface="Amiri" pitchFamily="34" charset="0"/>
                <a:ea typeface="Amiri" pitchFamily="34" charset="-122"/>
                <a:cs typeface="Amiri" pitchFamily="34" charset="-120"/>
              </a:rPr>
              <a:t>عُودُ سَامِرٌ</a:t>
            </a:r>
            <a:endParaRPr lang="ar-SA" sz="2100" dirty="0"/>
          </a:p>
        </p:txBody>
      </p:sp>
      <p:sp>
        <p:nvSpPr>
          <p:cNvPr id="23" name="Text 20"/>
          <p:cNvSpPr txBox="1"/>
          <p:nvPr/>
        </p:nvSpPr>
        <p:spPr>
          <a:xfrm>
            <a:off x="5376672" y="2706624"/>
            <a:ext cx="39319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Maryam wakes · Samer returns</a:t>
            </a:r>
            <a:endParaRPr lang="en-US" sz="950" dirty="0"/>
          </a:p>
        </p:txBody>
      </p:sp>
      <p:sp>
        <p:nvSpPr>
          <p:cNvPr id="24" name="Text 21"/>
          <p:cNvSpPr txBox="1"/>
          <p:nvPr/>
        </p:nvSpPr>
        <p:spPr>
          <a:xfrm>
            <a:off x="3063240" y="2267712"/>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WHO does it</a:t>
            </a:r>
            <a:endParaRPr lang="en-US" sz="1100" dirty="0"/>
          </a:p>
        </p:txBody>
      </p:sp>
      <p:sp>
        <p:nvSpPr>
          <p:cNvPr id="25" name="Text 22"/>
          <p:cNvSpPr txBox="1"/>
          <p:nvPr/>
        </p:nvSpPr>
        <p:spPr>
          <a:xfrm>
            <a:off x="566928" y="2267712"/>
            <a:ext cx="2313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mixing up two people</a:t>
            </a:r>
            <a:endParaRPr lang="en-US" sz="1100" dirty="0"/>
          </a:p>
        </p:txBody>
      </p:sp>
      <p:sp>
        <p:nvSpPr>
          <p:cNvPr id="26" name="Shape 23"/>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8" name="Shape 25"/>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9" name="Text 26"/>
          <p:cNvSpPr txBox="1"/>
          <p:nvPr/>
        </p:nvSpPr>
        <p:spPr>
          <a:xfrm>
            <a:off x="9445752" y="3054096"/>
            <a:ext cx="219456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فِي + الوَقْتِ</a:t>
            </a:r>
            <a:endParaRPr lang="ar-SA" sz="2600" dirty="0"/>
          </a:p>
        </p:txBody>
      </p:sp>
      <p:sp>
        <p:nvSpPr>
          <p:cNvPr id="30" name="Text 27"/>
          <p:cNvSpPr txBox="1"/>
          <p:nvPr/>
        </p:nvSpPr>
        <p:spPr>
          <a:xfrm>
            <a:off x="5422392" y="3072384"/>
            <a:ext cx="3840480" cy="453542"/>
          </a:xfrm>
          <a:prstGeom prst="rect">
            <a:avLst/>
          </a:prstGeom>
          <a:noFill/>
          <a:ln/>
        </p:spPr>
        <p:txBody>
          <a:bodyPr wrap="square" lIns="0" tIns="0" rIns="0" bIns="0" rtlCol="0" anchor="ctr"/>
          <a:lstStyle/>
          <a:p>
            <a:pPr rtl="1" algn="ctr" indent="0" marL="0">
              <a:buNone/>
            </a:pPr>
            <a:r>
              <a:rPr lang="ar-SA" altLang="en-US" sz="1750" b="1" dirty="0">
                <a:solidFill>
                  <a:srgbClr val="1B3B6F"/>
                </a:solidFill>
                <a:latin typeface="Amiri" pitchFamily="34" charset="0"/>
                <a:ea typeface="Amiri" pitchFamily="34" charset="-122"/>
                <a:cs typeface="Amiri" pitchFamily="34" charset="-120"/>
              </a:rPr>
              <a:t>تَسْتَيْقِظُ </a:t>
            </a:r>
            <a:pPr rtl="1" algn="ctr" indent="0" marL="0">
              <a:buNone/>
            </a:pPr>
            <a:r>
              <a:rPr lang="ar-SA" altLang="en-US" sz="1750" b="1" dirty="0">
                <a:solidFill>
                  <a:srgbClr val="0E7C86"/>
                </a:solidFill>
                <a:latin typeface="Amiri" pitchFamily="34" charset="0"/>
                <a:ea typeface="Amiri" pitchFamily="34" charset="-122"/>
                <a:cs typeface="Amiri" pitchFamily="34" charset="-120"/>
              </a:rPr>
              <a:t>فِي السَّادِسَةِ</a:t>
            </a:r>
            <a:pPr rtl="1" algn="ctr" indent="0" marL="0">
              <a:buNone/>
            </a:pPr>
            <a:r>
              <a:rPr lang="ar-SA" altLang="en-US" sz="1750" b="1" dirty="0">
                <a:solidFill>
                  <a:srgbClr val="1B3B6F"/>
                </a:solidFill>
                <a:latin typeface="Amiri" pitchFamily="34" charset="0"/>
                <a:ea typeface="Amiri" pitchFamily="34" charset="-122"/>
                <a:cs typeface="Amiri" pitchFamily="34" charset="-120"/>
              </a:rPr>
              <a:t> … تَخْرُجُ </a:t>
            </a:r>
            <a:pPr rtl="1" algn="ctr" indent="0" marL="0">
              <a:buNone/>
            </a:pPr>
            <a:r>
              <a:rPr lang="ar-SA" altLang="en-US" sz="1750" b="1" dirty="0">
                <a:solidFill>
                  <a:srgbClr val="0E7C86"/>
                </a:solidFill>
                <a:latin typeface="Amiri" pitchFamily="34" charset="0"/>
                <a:ea typeface="Amiri" pitchFamily="34" charset="-122"/>
                <a:cs typeface="Amiri" pitchFamily="34" charset="-120"/>
              </a:rPr>
              <a:t>حَتَّى السَّابِعَةِ وَالرُّبْعِ</a:t>
            </a:r>
            <a:endParaRPr lang="ar-SA" sz="1750" dirty="0"/>
          </a:p>
        </p:txBody>
      </p:sp>
      <p:sp>
        <p:nvSpPr>
          <p:cNvPr id="31" name="Text 28"/>
          <p:cNvSpPr txBox="1"/>
          <p:nvPr/>
        </p:nvSpPr>
        <p:spPr>
          <a:xfrm>
            <a:off x="5376672" y="3493008"/>
            <a:ext cx="39319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wakes at 6 … leaves at 7:15</a:t>
            </a:r>
            <a:endParaRPr lang="en-US" sz="950" dirty="0"/>
          </a:p>
        </p:txBody>
      </p:sp>
      <p:sp>
        <p:nvSpPr>
          <p:cNvPr id="32" name="Text 29"/>
          <p:cNvSpPr txBox="1"/>
          <p:nvPr/>
        </p:nvSpPr>
        <p:spPr>
          <a:xfrm>
            <a:off x="3063240" y="3054096"/>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which EVENT the time belongs to</a:t>
            </a:r>
            <a:endParaRPr lang="en-US" sz="1100" dirty="0"/>
          </a:p>
        </p:txBody>
      </p:sp>
      <p:sp>
        <p:nvSpPr>
          <p:cNvPr id="33" name="Text 30"/>
          <p:cNvSpPr txBox="1"/>
          <p:nvPr/>
        </p:nvSpPr>
        <p:spPr>
          <a:xfrm>
            <a:off x="566928" y="3054096"/>
            <a:ext cx="2313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choosing the first number heard</a:t>
            </a:r>
            <a:endParaRPr lang="en-US" sz="1100" dirty="0"/>
          </a:p>
        </p:txBody>
      </p:sp>
      <p:sp>
        <p:nvSpPr>
          <p:cNvPr id="34" name="Shape 31"/>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6" name="Shape 33"/>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7" name="Text 34"/>
          <p:cNvSpPr txBox="1"/>
          <p:nvPr/>
        </p:nvSpPr>
        <p:spPr>
          <a:xfrm>
            <a:off x="9445752" y="3840480"/>
            <a:ext cx="219456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وَلٰكِنَّ · أَمَّا</a:t>
            </a:r>
            <a:endParaRPr lang="ar-SA" sz="2600" dirty="0"/>
          </a:p>
        </p:txBody>
      </p:sp>
      <p:sp>
        <p:nvSpPr>
          <p:cNvPr id="38" name="Text 35"/>
          <p:cNvSpPr txBox="1"/>
          <p:nvPr/>
        </p:nvSpPr>
        <p:spPr>
          <a:xfrm>
            <a:off x="5422392" y="3858768"/>
            <a:ext cx="384048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اِقْتَرَحَ الرَّابِعَةَ … </a:t>
            </a:r>
            <a:pPr rtl="1" algn="ctr" indent="0" marL="0">
              <a:buNone/>
            </a:pPr>
            <a:r>
              <a:rPr lang="ar-SA" altLang="en-US" sz="2100" b="1" dirty="0">
                <a:solidFill>
                  <a:srgbClr val="0E7C86"/>
                </a:solidFill>
                <a:latin typeface="Amiri" pitchFamily="34" charset="0"/>
                <a:ea typeface="Amiri" pitchFamily="34" charset="-122"/>
                <a:cs typeface="Amiri" pitchFamily="34" charset="-120"/>
              </a:rPr>
              <a:t>أَمَّا</a:t>
            </a:r>
            <a:pPr rtl="1" algn="ctr" indent="0" marL="0">
              <a:buNone/>
            </a:pPr>
            <a:r>
              <a:rPr lang="ar-SA" altLang="en-US" sz="2100" b="1" dirty="0">
                <a:solidFill>
                  <a:srgbClr val="1B3B6F"/>
                </a:solidFill>
                <a:latin typeface="Amiri" pitchFamily="34" charset="0"/>
                <a:ea typeface="Amiri" pitchFamily="34" charset="-122"/>
                <a:cs typeface="Amiri" pitchFamily="34" charset="-120"/>
              </a:rPr>
              <a:t> سَلْمَى </a:t>
            </a:r>
            <a:pPr rtl="1" algn="ctr" indent="0" marL="0">
              <a:buNone/>
            </a:pPr>
            <a:r>
              <a:rPr lang="ar-SA" altLang="en-US" sz="2100" b="1" dirty="0">
                <a:solidFill>
                  <a:srgbClr val="0E7C86"/>
                </a:solidFill>
                <a:latin typeface="Amiri" pitchFamily="34" charset="0"/>
                <a:ea typeface="Amiri" pitchFamily="34" charset="-122"/>
                <a:cs typeface="Amiri" pitchFamily="34" charset="-120"/>
              </a:rPr>
              <a:t>فَلَا</a:t>
            </a:r>
            <a:pPr rtl="1" algn="ctr" indent="0" marL="0">
              <a:buNone/>
            </a:pPr>
            <a:r>
              <a:rPr lang="ar-SA" altLang="en-US" sz="2100" b="1" dirty="0">
                <a:solidFill>
                  <a:srgbClr val="1B3B6F"/>
                </a:solidFill>
                <a:latin typeface="Amiri" pitchFamily="34" charset="0"/>
                <a:ea typeface="Amiri" pitchFamily="34" charset="-122"/>
                <a:cs typeface="Amiri" pitchFamily="34" charset="-120"/>
              </a:rPr>
              <a:t> …</a:t>
            </a:r>
            <a:endParaRPr lang="ar-SA" sz="2100" dirty="0"/>
          </a:p>
        </p:txBody>
      </p:sp>
      <p:sp>
        <p:nvSpPr>
          <p:cNvPr id="39" name="Text 36"/>
          <p:cNvSpPr txBox="1"/>
          <p:nvPr/>
        </p:nvSpPr>
        <p:spPr>
          <a:xfrm>
            <a:off x="5376672" y="4279392"/>
            <a:ext cx="39319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he suggested four … as for Salma …</a:t>
            </a:r>
            <a:endParaRPr lang="en-US" sz="950" dirty="0"/>
          </a:p>
        </p:txBody>
      </p:sp>
      <p:sp>
        <p:nvSpPr>
          <p:cNvPr id="40" name="Text 37"/>
          <p:cNvSpPr txBox="1"/>
          <p:nvPr/>
        </p:nvSpPr>
        <p:spPr>
          <a:xfrm>
            <a:off x="3063240" y="3840480"/>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CORRECTED information</a:t>
            </a:r>
            <a:endParaRPr lang="en-US" sz="1100" dirty="0"/>
          </a:p>
        </p:txBody>
      </p:sp>
      <p:sp>
        <p:nvSpPr>
          <p:cNvPr id="41" name="Text 38"/>
          <p:cNvSpPr txBox="1"/>
          <p:nvPr/>
        </p:nvSpPr>
        <p:spPr>
          <a:xfrm>
            <a:off x="566928" y="3840480"/>
            <a:ext cx="2313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stopping too early</a:t>
            </a:r>
            <a:endParaRPr lang="en-US" sz="1100" dirty="0"/>
          </a:p>
        </p:txBody>
      </p:sp>
      <p:sp>
        <p:nvSpPr>
          <p:cNvPr id="42" name="Shape 39"/>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3" name="Text 40"/>
          <p:cNvSpPr txBox="1"/>
          <p:nvPr/>
        </p:nvSpPr>
        <p:spPr>
          <a:xfrm>
            <a:off x="9445752" y="4626864"/>
            <a:ext cx="219456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لَا · لَمْ · إِلَّا</a:t>
            </a:r>
            <a:endParaRPr lang="ar-SA" sz="2600" dirty="0"/>
          </a:p>
        </p:txBody>
      </p:sp>
      <p:sp>
        <p:nvSpPr>
          <p:cNvPr id="44" name="Text 41"/>
          <p:cNvSpPr txBox="1"/>
          <p:nvPr/>
        </p:nvSpPr>
        <p:spPr>
          <a:xfrm>
            <a:off x="5422392" y="4645152"/>
            <a:ext cx="3840480"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لَا</a:t>
            </a:r>
            <a:pPr rtl="1" algn="ctr" indent="0" marL="0">
              <a:buNone/>
            </a:pPr>
            <a:r>
              <a:rPr lang="ar-SA" altLang="en-US" sz="2100" b="1" dirty="0">
                <a:solidFill>
                  <a:srgbClr val="1B3B6F"/>
                </a:solidFill>
                <a:latin typeface="Amiri" pitchFamily="34" charset="0"/>
                <a:ea typeface="Amiri" pitchFamily="34" charset="-122"/>
                <a:cs typeface="Amiri" pitchFamily="34" charset="-120"/>
              </a:rPr>
              <a:t> أَتَمَرَّنُ يَوْمَ الجُمُعَةِ.</a:t>
            </a:r>
            <a:endParaRPr lang="ar-SA" sz="2100" dirty="0"/>
          </a:p>
        </p:txBody>
      </p:sp>
      <p:sp>
        <p:nvSpPr>
          <p:cNvPr id="45" name="Text 42"/>
          <p:cNvSpPr txBox="1"/>
          <p:nvPr/>
        </p:nvSpPr>
        <p:spPr>
          <a:xfrm>
            <a:off x="5376672" y="5065776"/>
            <a:ext cx="39319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do not train on Friday.</a:t>
            </a:r>
            <a:endParaRPr lang="en-US" sz="950" dirty="0"/>
          </a:p>
        </p:txBody>
      </p:sp>
      <p:sp>
        <p:nvSpPr>
          <p:cNvPr id="46" name="Text 43"/>
          <p:cNvSpPr txBox="1"/>
          <p:nvPr/>
        </p:nvSpPr>
        <p:spPr>
          <a:xfrm>
            <a:off x="3063240" y="4626864"/>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NEGATION</a:t>
            </a:r>
            <a:endParaRPr lang="en-US" sz="1100" dirty="0"/>
          </a:p>
        </p:txBody>
      </p:sp>
      <p:sp>
        <p:nvSpPr>
          <p:cNvPr id="47" name="Text 44"/>
          <p:cNvSpPr txBox="1"/>
          <p:nvPr/>
        </p:nvSpPr>
        <p:spPr>
          <a:xfrm>
            <a:off x="566928" y="4626864"/>
            <a:ext cx="2313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missing the reversal</a:t>
            </a:r>
            <a:endParaRPr lang="en-US" sz="1100" dirty="0"/>
          </a:p>
        </p:txBody>
      </p:sp>
      <p:sp>
        <p:nvSpPr>
          <p:cNvPr id="48" name="Text 4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Before each listening: write T (time), P (person), F (frequency) or R (reason) next to every question.</a:t>
            </a:r>
            <a:endParaRPr lang="en-US" sz="11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50</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THREE SMALL WORDS THAT CHANGE THE ANSWER (WEBSITE RULES)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But, not, only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وَلٰكِنَّ · لَا / لَمْ · إِلَّا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92024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9202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KEEP LISTENING · DEVELOP</a:t>
            </a:r>
            <a:endParaRPr lang="en-US" sz="850" dirty="0"/>
          </a:p>
        </p:txBody>
      </p:sp>
      <p:sp>
        <p:nvSpPr>
          <p:cNvPr id="18" name="Text 15"/>
          <p:cNvSpPr txBox="1"/>
          <p:nvPr/>
        </p:nvSpPr>
        <p:spPr>
          <a:xfrm>
            <a:off x="10198608" y="1874520"/>
            <a:ext cx="13959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وَلٰكِنَّ</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كُنْتُ أَذْهَبُ مَشْيًا، وَلٰكِنَّنِي الآنَ أَذْهَبُ بِالحَافِلَةِ.</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used to walk, but now I go by bus.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The answer comes AFTER “but”.</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03020" cy="274320"/>
          </a:xfrm>
          <a:prstGeom prst="roundRect">
            <a:avLst>
              <a:gd name="adj" fmla="val 50000"/>
            </a:avLst>
          </a:prstGeom>
          <a:solidFill>
            <a:srgbClr val="B83227"/>
          </a:solidFill>
          <a:ln w="12700">
            <a:solidFill>
              <a:srgbClr val="B83227"/>
            </a:solidFill>
            <a:prstDash val="solid"/>
          </a:ln>
        </p:spPr>
      </p:sp>
      <p:sp>
        <p:nvSpPr>
          <p:cNvPr id="25" name="Text 22"/>
          <p:cNvSpPr txBox="1"/>
          <p:nvPr/>
        </p:nvSpPr>
        <p:spPr>
          <a:xfrm>
            <a:off x="4413504"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REVERSAL · CORE</a:t>
            </a:r>
            <a:endParaRPr lang="en-US" sz="850" dirty="0"/>
          </a:p>
        </p:txBody>
      </p:sp>
      <p:sp>
        <p:nvSpPr>
          <p:cNvPr id="26" name="Text 23"/>
          <p:cNvSpPr txBox="1"/>
          <p:nvPr/>
        </p:nvSpPr>
        <p:spPr>
          <a:xfrm>
            <a:off x="5762244"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لَا / لَمْ</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لَمْ يَتَغَيَّرْ مَوْعِدِي.</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My appointment did not change.</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One small word = the opposite.</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85166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8516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EXCEPT / ONLY · STRETCH</a:t>
            </a:r>
            <a:endParaRPr lang="en-US" sz="850" dirty="0"/>
          </a:p>
        </p:txBody>
      </p:sp>
      <p:sp>
        <p:nvSpPr>
          <p:cNvPr id="34" name="Text 31"/>
          <p:cNvSpPr txBox="1"/>
          <p:nvPr/>
        </p:nvSpPr>
        <p:spPr>
          <a:xfrm>
            <a:off x="2491740" y="1874520"/>
            <a:ext cx="14645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إِلَّا · مَا عَدَا</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أَتَمَرَّنُ كُلَّ يَوْمٍ مَا عَدَا يَوْمَ الجُمُعَةِ.</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train every day except Friday.</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Not only “to” on the clock!</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common error: do not stop listening at “but”.</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300" b="1" dirty="0">
                <a:solidFill>
                  <a:srgbClr val="1B3B6F"/>
                </a:solidFill>
                <a:latin typeface="Amiri" pitchFamily="34" charset="0"/>
                <a:ea typeface="Amiri" pitchFamily="34" charset="-122"/>
                <a:cs typeface="Amiri" pitchFamily="34" charset="-120"/>
              </a:rPr>
              <a:t>أَسْتَمِرُّ بَعْدَ وَلٰكِنَّ</a:t>
            </a:r>
            <a:endParaRPr lang="ar-SA" sz="23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300" b="1" dirty="0">
                <a:solidFill>
                  <a:srgbClr val="B83227"/>
                </a:solidFill>
                <a:latin typeface="Amiri" pitchFamily="34" charset="0"/>
                <a:ea typeface="Amiri" pitchFamily="34" charset="-122"/>
                <a:cs typeface="Amiri" pitchFamily="34" charset="-120"/>
              </a:rPr>
              <a:t>أَتَوَقَّفُ عِنْدَ وَلٰكِنَّ</a:t>
            </a:r>
            <a:endParaRPr lang="ar-SA" sz="23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50</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ea typeface="Cambria" pitchFamily="34" charset="-122"/>
                <a:cs typeface="Cambria" pitchFamily="34" charset="-120"/>
              </a:rPr>
              <a:t>Listening grammar as an evidence system</a:t>
            </a:r>
            <a:endParaRPr lang="en-US" sz="22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650" b="1" dirty="0">
                <a:solidFill>
                  <a:srgbClr val="8A6D1E"/>
                </a:solidFill>
                <a:latin typeface="Amiri" pitchFamily="34" charset="0"/>
                <a:ea typeface="Amiri" pitchFamily="34" charset="-122"/>
                <a:cs typeface="Amiri" pitchFamily="34" charset="-120"/>
              </a:rPr>
              <a:t>القَوَاعِدُ فِي الاِسْتِمَاعِ نِظَامٌ لِلْأَدِلَّةِ</a:t>
            </a:r>
            <a:endParaRPr lang="ar-SA" sz="26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Use person prefixes to track the speaker</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أَـ</a:t>
            </a:r>
            <a:pPr algn="l" indent="0" marL="0">
              <a:buNone/>
            </a:pPr>
            <a:r>
              <a:rPr lang="en-US" sz="1050" dirty="0">
                <a:solidFill>
                  <a:srgbClr val="5A6472"/>
                </a:solidFill>
                <a:latin typeface="Calibri" pitchFamily="34" charset="0"/>
                <a:ea typeface="Calibri" pitchFamily="34" charset="-122"/>
                <a:cs typeface="Calibri" pitchFamily="34" charset="-120"/>
              </a:rPr>
              <a:t> = I · </a:t>
            </a:r>
            <a:pPr algn="l" indent="0" marL="0">
              <a:buNone/>
            </a:pPr>
            <a:r>
              <a:rPr lang="ar-SA" altLang="en-US" sz="1350" dirty="0">
                <a:solidFill>
                  <a:srgbClr val="5A6472"/>
                </a:solidFill>
                <a:latin typeface="Amiri" pitchFamily="34" charset="0"/>
                <a:ea typeface="Amiri" pitchFamily="34" charset="-122"/>
                <a:cs typeface="Amiri" pitchFamily="34" charset="-120"/>
              </a:rPr>
              <a:t>تَـ</a:t>
            </a:r>
            <a:pPr algn="l" indent="0" marL="0">
              <a:buNone/>
            </a:pPr>
            <a:r>
              <a:rPr lang="en-US" sz="1050" dirty="0">
                <a:solidFill>
                  <a:srgbClr val="5A6472"/>
                </a:solidFill>
                <a:latin typeface="Calibri" pitchFamily="34" charset="0"/>
                <a:ea typeface="Calibri" pitchFamily="34" charset="-122"/>
                <a:cs typeface="Calibri" pitchFamily="34" charset="-120"/>
              </a:rPr>
              <a:t> = you/she · </a:t>
            </a:r>
            <a:pPr algn="l" indent="0" marL="0">
              <a:buNone/>
            </a:pPr>
            <a:r>
              <a:rPr lang="ar-SA" altLang="en-US" sz="1350" dirty="0">
                <a:solidFill>
                  <a:srgbClr val="5A6472"/>
                </a:solidFill>
                <a:latin typeface="Amiri" pitchFamily="34" charset="0"/>
                <a:ea typeface="Amiri" pitchFamily="34" charset="-122"/>
                <a:cs typeface="Amiri" pitchFamily="34" charset="-120"/>
              </a:rPr>
              <a:t>يَـ</a:t>
            </a:r>
            <a:pPr algn="l" indent="0" marL="0">
              <a:buNone/>
            </a:pPr>
            <a:r>
              <a:rPr lang="en-US" sz="1050" dirty="0">
                <a:solidFill>
                  <a:srgbClr val="5A6472"/>
                </a:solidFill>
                <a:latin typeface="Calibri" pitchFamily="34" charset="0"/>
                <a:ea typeface="Calibri" pitchFamily="34" charset="-122"/>
                <a:cs typeface="Calibri" pitchFamily="34" charset="-120"/>
              </a:rPr>
              <a:t> = he · </a:t>
            </a:r>
            <a:pPr algn="l" indent="0" marL="0">
              <a:buNone/>
            </a:pPr>
            <a:r>
              <a:rPr lang="ar-SA" altLang="en-US" sz="1350" dirty="0">
                <a:solidFill>
                  <a:srgbClr val="5A6472"/>
                </a:solidFill>
                <a:latin typeface="Amiri" pitchFamily="34" charset="0"/>
                <a:ea typeface="Amiri" pitchFamily="34" charset="-122"/>
                <a:cs typeface="Amiri" pitchFamily="34" charset="-120"/>
              </a:rPr>
              <a:t>نَـ</a:t>
            </a:r>
            <a:pPr algn="l" indent="0" marL="0">
              <a:buNone/>
            </a:pPr>
            <a:r>
              <a:rPr lang="en-US" sz="1050" dirty="0">
                <a:solidFill>
                  <a:srgbClr val="5A6472"/>
                </a:solidFill>
                <a:latin typeface="Calibri" pitchFamily="34" charset="0"/>
                <a:ea typeface="Calibri" pitchFamily="34" charset="-122"/>
                <a:cs typeface="Calibri" pitchFamily="34" charset="-120"/>
              </a:rPr>
              <a:t> = we</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algn="l" indent="0" marL="0">
              <a:buNone/>
            </a:pPr>
            <a:r>
              <a:rPr lang="ar-SA" altLang="en-US" sz="2600" b="1" dirty="0">
                <a:solidFill>
                  <a:srgbClr val="1F2A37"/>
                </a:solidFill>
                <a:latin typeface="Amiri" pitchFamily="34" charset="0"/>
                <a:ea typeface="Amiri" pitchFamily="34" charset="-122"/>
                <a:cs typeface="Amiri" pitchFamily="34" charset="-120"/>
              </a:rPr>
              <a:t>أَسْتَيْقِظُ</a:t>
            </a:r>
            <a:pPr algn="l" indent="0" marL="0">
              <a:buNone/>
            </a:pPr>
            <a:r>
              <a:rPr lang="en-US" sz="2000" b="1" dirty="0">
                <a:solidFill>
                  <a:srgbClr val="1F2A37"/>
                </a:solidFill>
                <a:latin typeface="Calibri" pitchFamily="34" charset="0"/>
                <a:ea typeface="Calibri" pitchFamily="34" charset="-122"/>
                <a:cs typeface="Calibri" pitchFamily="34" charset="-120"/>
              </a:rPr>
              <a:t> = I wake.   ·   </a:t>
            </a:r>
            <a:pPr algn="l" indent="0" marL="0">
              <a:buNone/>
            </a:pPr>
            <a:r>
              <a:rPr lang="ar-SA" altLang="en-US" sz="2600" b="1" dirty="0">
                <a:solidFill>
                  <a:srgbClr val="1F2A37"/>
                </a:solidFill>
                <a:latin typeface="Amiri" pitchFamily="34" charset="0"/>
                <a:ea typeface="Amiri" pitchFamily="34" charset="-122"/>
                <a:cs typeface="Amiri" pitchFamily="34" charset="-120"/>
              </a:rPr>
              <a:t>تَسْتَيْقِظُ</a:t>
            </a:r>
            <a:pPr algn="l" indent="0" marL="0">
              <a:buNone/>
            </a:pPr>
            <a:r>
              <a:rPr lang="en-US" sz="2000" b="1" dirty="0">
                <a:solidFill>
                  <a:srgbClr val="1F2A37"/>
                </a:solidFill>
                <a:latin typeface="Calibri" pitchFamily="34" charset="0"/>
                <a:ea typeface="Calibri" pitchFamily="34" charset="-122"/>
                <a:cs typeface="Calibri" pitchFamily="34" charset="-120"/>
              </a:rPr>
              <a:t> = she/you wake.   ·   </a:t>
            </a:r>
            <a:pPr algn="l" indent="0" marL="0">
              <a:buNone/>
            </a:pPr>
            <a:r>
              <a:rPr lang="ar-SA" altLang="en-US" sz="2600" b="1" dirty="0">
                <a:solidFill>
                  <a:srgbClr val="1F2A37"/>
                </a:solidFill>
                <a:latin typeface="Amiri" pitchFamily="34" charset="0"/>
                <a:ea typeface="Amiri" pitchFamily="34" charset="-122"/>
                <a:cs typeface="Amiri" pitchFamily="34" charset="-120"/>
              </a:rPr>
              <a:t>يَسْتَيْقِظُ</a:t>
            </a:r>
            <a:pPr algn="l" indent="0" marL="0">
              <a:buNone/>
            </a:pPr>
            <a:r>
              <a:rPr lang="en-US" sz="2000" b="1" dirty="0">
                <a:solidFill>
                  <a:srgbClr val="1F2A37"/>
                </a:solidFill>
                <a:latin typeface="Calibri" pitchFamily="34" charset="0"/>
                <a:ea typeface="Calibri" pitchFamily="34" charset="-122"/>
                <a:cs typeface="Calibri" pitchFamily="34" charset="-120"/>
              </a:rPr>
              <a:t> = he wakes.</a:t>
            </a:r>
            <a:endParaRPr lang="en-US"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Use time frames as anchors</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فِي السَّاعَةِ · قَبْلَ · بَعْدَ · مُدَّةَ</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يَسْتَيْقِظُ فِي السَّادِسَةِ، لٰكِنَّ الدَّرْسَ يَبْدَأُ فِي الثَّامِنَةِ.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Listen beyond the contrast marker</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وَلٰكِنَّ · بَيْنَمَا · أَمَّا</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أُحِبُّ المَشْيَ، وَلٰكِنَّنِي أَذْهَبُ بِالحَافِلَةِ عِنْدَمَا تُمْطِرُ.</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Notice negation and limitation</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لَا · لَمْ · لَيْسَ · إِلَّا</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34" charset="0"/>
                <a:ea typeface="Amiri" pitchFamily="34" charset="-122"/>
                <a:cs typeface="Amiri" pitchFamily="34" charset="-120"/>
              </a:rPr>
              <a:t>لَا أَتَمَرَّنُ يَوْمَ الجُمُعَةِ.   ·   لَمْ يَتَغَيَّرْ مَوْعِدِي.   ·   لَا أَسْتَعْمِلُ الهَاتِفَ إِلَّا لِمُرَاجَعَةِ الوَقْتِ.</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50</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 distractor do?</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gives the final score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translates the text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sounds plausible but is not the required answer</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you do after hearing </a:t>
            </a:r>
            <a:pPr algn="l" indent="0" marL="0">
              <a:buNone/>
            </a:pPr>
            <a:r>
              <a:rPr lang="ar-SA" altLang="en-US" sz="1650" b="1" dirty="0">
                <a:solidFill>
                  <a:srgbClr val="1B3B6F"/>
                </a:solidFill>
                <a:latin typeface="Amiri" pitchFamily="34" charset="0"/>
                <a:ea typeface="Amiri" pitchFamily="34" charset="-122"/>
                <a:cs typeface="Amiri" pitchFamily="34" charset="-120"/>
              </a:rPr>
              <a:t>وَلٰكِنَّ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keep listening for the contrast</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stop immediately</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ignore the next clause</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can reverse a statement?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ثُمَّ</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pair is near-synonymous?</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نَادِرًا / قَلِيلًا مَا</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يَبْدَأُ / يَنْتَهِي</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قَبْلَ / بَعْدَ</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50</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 distractor do?</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gives the final score</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translates the text</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sounds plausible but is not the required answer</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distractor is deliberately close but wrong.</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you do after hearing </a:t>
            </a:r>
            <a:pPr algn="l" indent="0" marL="0">
              <a:buNone/>
            </a:pPr>
            <a:r>
              <a:rPr lang="ar-SA" altLang="en-US" sz="1650" b="1" dirty="0">
                <a:solidFill>
                  <a:srgbClr val="1B3B6F"/>
                </a:solidFill>
                <a:latin typeface="Amiri" pitchFamily="34" charset="0"/>
                <a:ea typeface="Amiri" pitchFamily="34" charset="-122"/>
                <a:cs typeface="Amiri" pitchFamily="34" charset="-120"/>
              </a:rPr>
              <a:t>وَلٰكِنَّ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keep listening for the contrast</a:t>
            </a:r>
            <a:endParaRPr lang="en-US" sz="125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stop immediately</a:t>
            </a:r>
            <a:endParaRPr lang="en-US" sz="125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ignore the next clause</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key correction often follows.</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can reverse a statement?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ثُمَّ</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لَا</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Negation changes the meaning.</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pair is near-synonymous?</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نَادِرًا / قَلِيلًا مَا</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يَبْدَأُ / يَنْتَهِي</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قَبْلَ / بَعْدَ</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Both express low frequency.</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50</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beat a distractor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1 · Predict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مَتَى تَخْرُجُ مَرْيَمُ مِنَ البَيْتِ؟</a:t>
            </a:r>
            <a:endParaRPr lang="ar-SA" sz="21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Answer type: a TIME for LEAVING.</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2 · Listen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تَسْتَيْقِظُ </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فِي السَّادِسَةِ</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وَلٰكِنَّهَا لَا تَخْرُجُ </a:t>
            </a:r>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حَتَّى السَّابِعَةِ وَالرُّبْعِ</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Two times! Which is leaving?</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3 · Reject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D6336C"/>
                </a:solidFill>
                <a:latin typeface="Amiri" pitchFamily="34" charset="0"/>
                <a:ea typeface="Amiri" pitchFamily="34" charset="-122"/>
                <a:cs typeface="Amiri" pitchFamily="34" charset="-120"/>
              </a:rPr>
              <a:t>السَّادِسَةُ</a:t>
            </a:r>
            <a:pPr rtl="1" algn="ctr" indent="0" marL="0">
              <a:lnSpc>
                <a:spcPct val="120000"/>
              </a:lnSpc>
              <a:buNone/>
            </a:pPr>
            <a:r>
              <a:rPr lang="ar-SA" altLang="en-US" sz="1900" b="1" dirty="0">
                <a:solidFill>
                  <a:srgbClr val="1B3B6F"/>
                </a:solidFill>
                <a:latin typeface="Amiri" pitchFamily="34" charset="0"/>
                <a:ea typeface="Amiri" pitchFamily="34" charset="-122"/>
                <a:cs typeface="Amiri" pitchFamily="34" charset="-120"/>
              </a:rPr>
              <a:t> = وَقْتُ الاِسْتِيقَاظِ ✗</a:t>
            </a:r>
            <a:endParaRPr lang="ar-SA" sz="19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6:00 is the distractor.</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4 · Verify</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0E7C86"/>
                </a:solidFill>
                <a:latin typeface="Amiri" pitchFamily="34" charset="0"/>
                <a:ea typeface="Amiri" pitchFamily="34" charset="-122"/>
                <a:cs typeface="Amiri" pitchFamily="34" charset="-120"/>
              </a:rPr>
              <a:t>تَخْرُجُ … حَتَّى السَّابِعَةِ وَالرُّبْعِ</a:t>
            </a:r>
            <a:pPr rtl="1" algn="ct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 ✓</a:t>
            </a:r>
            <a:endParaRPr lang="ar-SA" sz="1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Second listen: the verb “leaves”.</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DISTRACTOR</a:t>
            </a:r>
            <a:endParaRPr lang="en-US" sz="800" dirty="0"/>
          </a:p>
        </p:txBody>
      </p:sp>
      <p:sp>
        <p:nvSpPr>
          <p:cNvPr id="47" name="Shape 43"/>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EVIDENCE</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600" b="1" dirty="0">
                <a:solidFill>
                  <a:srgbClr val="1B3B6F"/>
                </a:solidFill>
                <a:latin typeface="Amiri" pitchFamily="34" charset="0"/>
                <a:ea typeface="Amiri" pitchFamily="34" charset="-122"/>
                <a:cs typeface="Amiri" pitchFamily="34" charset="-120"/>
              </a:rPr>
              <a:t>السُّؤَالُ: مَتَى تَخْرُجُ مَرْيَمُ؟ ← أَتَوَقَّعُ وَقْتًا. ← سَمِعْتُ </a:t>
            </a:r>
            <a:pPr rtl="1" algn="r" indent="0" marL="0">
              <a:lnSpc>
                <a:spcPct val="120000"/>
              </a:lnSpc>
              <a:buNone/>
            </a:pPr>
            <a:r>
              <a:rPr lang="ar-SA" altLang="en-US" sz="1600" b="1" dirty="0">
                <a:solidFill>
                  <a:srgbClr val="D6336C"/>
                </a:solidFill>
                <a:latin typeface="Amiri" pitchFamily="34" charset="0"/>
                <a:ea typeface="Amiri" pitchFamily="34" charset="-122"/>
                <a:cs typeface="Amiri" pitchFamily="34" charset="-120"/>
              </a:rPr>
              <a:t>السَّادِسَةَ</a:t>
            </a:r>
            <a:pPr rtl="1" algn="r" indent="0" marL="0">
              <a:lnSpc>
                <a:spcPct val="120000"/>
              </a:lnSpc>
              <a:buNone/>
            </a:pPr>
            <a:r>
              <a:rPr lang="ar-SA" altLang="en-US" sz="1600" b="1" dirty="0">
                <a:solidFill>
                  <a:srgbClr val="1B3B6F"/>
                </a:solidFill>
                <a:latin typeface="Amiri" pitchFamily="34" charset="0"/>
                <a:ea typeface="Amiri" pitchFamily="34" charset="-122"/>
                <a:cs typeface="Amiri" pitchFamily="34" charset="-120"/>
              </a:rPr>
              <a:t> وَ</a:t>
            </a:r>
            <a:pPr rtl="1" algn="r" indent="0" marL="0">
              <a:lnSpc>
                <a:spcPct val="120000"/>
              </a:lnSpc>
              <a:buNone/>
            </a:pPr>
            <a:r>
              <a:rPr lang="ar-SA" altLang="en-US" sz="1600" b="1" dirty="0">
                <a:solidFill>
                  <a:srgbClr val="0E7C86"/>
                </a:solidFill>
                <a:latin typeface="Amiri" pitchFamily="34" charset="0"/>
                <a:ea typeface="Amiri" pitchFamily="34" charset="-122"/>
                <a:cs typeface="Amiri" pitchFamily="34" charset="-120"/>
              </a:rPr>
              <a:t>السَّابِعَةَ وَالرُّبْعَ</a:t>
            </a:r>
            <a:pPr rtl="1" algn="r" indent="0" marL="0">
              <a:lnSpc>
                <a:spcPct val="120000"/>
              </a:lnSpc>
              <a:buNone/>
            </a:pPr>
            <a:r>
              <a:rPr lang="ar-SA" altLang="en-US" sz="1600" b="1" dirty="0">
                <a:solidFill>
                  <a:srgbClr val="1B3B6F"/>
                </a:solidFill>
                <a:latin typeface="Amiri" pitchFamily="34" charset="0"/>
                <a:ea typeface="Amiri" pitchFamily="34" charset="-122"/>
                <a:cs typeface="Amiri" pitchFamily="34" charset="-120"/>
              </a:rPr>
              <a:t>. ← أَسْتَبْعِدُ </a:t>
            </a:r>
            <a:pPr rtl="1" algn="r" indent="0" marL="0">
              <a:lnSpc>
                <a:spcPct val="120000"/>
              </a:lnSpc>
              <a:buNone/>
            </a:pPr>
            <a:r>
              <a:rPr lang="ar-SA" altLang="en-US" sz="1600" b="1" dirty="0">
                <a:solidFill>
                  <a:srgbClr val="D6336C"/>
                </a:solidFill>
                <a:latin typeface="Amiri" pitchFamily="34" charset="0"/>
                <a:ea typeface="Amiri" pitchFamily="34" charset="-122"/>
                <a:cs typeface="Amiri" pitchFamily="34" charset="-120"/>
              </a:rPr>
              <a:t>السَّادِسَةَ</a:t>
            </a:r>
            <a:pPr rtl="1" algn="r" indent="0" marL="0">
              <a:lnSpc>
                <a:spcPct val="120000"/>
              </a:lnSpc>
              <a:buNone/>
            </a:pPr>
            <a:r>
              <a:rPr lang="ar-SA" altLang="en-US" sz="1600" b="1" dirty="0">
                <a:solidFill>
                  <a:srgbClr val="1B3B6F"/>
                </a:solidFill>
                <a:latin typeface="Amiri" pitchFamily="34" charset="0"/>
                <a:ea typeface="Amiri" pitchFamily="34" charset="-122"/>
                <a:cs typeface="Amiri" pitchFamily="34" charset="-120"/>
              </a:rPr>
              <a:t> لِأَنَّهَا وَقْتُ الاِسْتِيقَاظِ. ← الجَوَابُ: </a:t>
            </a:r>
            <a:pPr rtl="1" algn="r" indent="0" marL="0">
              <a:lnSpc>
                <a:spcPct val="120000"/>
              </a:lnSpc>
              <a:buNone/>
            </a:pPr>
            <a:r>
              <a:rPr lang="ar-SA" altLang="en-US" sz="1600" b="1" dirty="0">
                <a:solidFill>
                  <a:srgbClr val="0E7C86"/>
                </a:solidFill>
                <a:latin typeface="Amiri" pitchFamily="34" charset="0"/>
                <a:ea typeface="Amiri" pitchFamily="34" charset="-122"/>
                <a:cs typeface="Amiri" pitchFamily="34" charset="-120"/>
              </a:rPr>
              <a:t>السَّابِعَةُ وَالرُّبْعُ</a:t>
            </a:r>
            <a:pPr rtl="1" algn="r" indent="0" marL="0">
              <a:lnSpc>
                <a:spcPct val="120000"/>
              </a:lnSpc>
              <a:buNone/>
            </a:pPr>
            <a:r>
              <a:rPr lang="ar-SA" altLang="en-US" sz="1600" b="1" dirty="0">
                <a:solidFill>
                  <a:srgbClr val="1B3B6F"/>
                </a:solidFill>
                <a:latin typeface="Amiri" pitchFamily="34" charset="0"/>
                <a:ea typeface="Amiri" pitchFamily="34" charset="-122"/>
                <a:cs typeface="Amiri" pitchFamily="34" charset="-120"/>
              </a:rPr>
              <a:t>.</a:t>
            </a:r>
            <a:endParaRPr lang="ar-SA" sz="16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Question: When does Maryam leave? → I predict a time. → I heard six and quarter past seven. → I eliminate six because it is the wake-up time. → Answer: quarter past seven.</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50</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أُرَكِّزُ عَلَى كَلِمَاتِ الوَقْتِ.</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focus on time words.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 deliberate listening target.</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أَسْتَبْعِدُ الخِيَارَ الَّذِي يَخُصُّ شَخْصًا آخَرَ.</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eliminate the option about another person.</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Person tracking.</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أُلَاحِظُ وَلٰكِنَّ ثُمَّ أَنْتَظِرُ المَعْلُومَةَ الجَدِيدَةَ.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notice “but” and wait for the new information.</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Contrast control.</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فِي الاِسْتِمَاعِ الثَّانِي أَتَثَبَّتُ مِنَ التَّفَاصِيلِ.</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On the second listening I verify details.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Verification habit.</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50</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evidence decoder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فِي السَّاعَةِ السَّابِعَةِ</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بَعْدَ نِصْفِ سَاعَةٍ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قَبْلَ أَنْ أَخْرُجَ</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لِأَنَّ المَدْرَسَةَ بَعِيدَةٌ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وَلٰكِنَّ الحَافِلَةَ تَأَخَّرَتْ</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أَمَّا أَخِي فَيَسْتَيْقِظُ مُتَأَخِّرًا</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لَا أَذْهَبُ يَوْمَ الجُمُعَةِ</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لَمْ أَسْتَقِلِ الحَافِلَةَ اليَوْمَ</a:t>
            </a:r>
            <a:endParaRPr lang="ar-SA" sz="1800" dirty="0"/>
          </a:p>
        </p:txBody>
      </p:sp>
      <p:sp>
        <p:nvSpPr>
          <p:cNvPr id="31" name="Shape 28"/>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Time, order or duration</a:t>
            </a:r>
            <a:endParaRPr lang="en-US" sz="950" dirty="0"/>
          </a:p>
        </p:txBody>
      </p:sp>
      <p:sp>
        <p:nvSpPr>
          <p:cNvPr id="34" name="Shape 31"/>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Reason or contrast</a:t>
            </a:r>
            <a:endParaRPr lang="en-US" sz="950" dirty="0"/>
          </a:p>
        </p:txBody>
      </p:sp>
      <p:sp>
        <p:nvSpPr>
          <p:cNvPr id="37" name="Shape 34"/>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8" name="Shape 35"/>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Negation or changed detail</a:t>
            </a:r>
            <a:endParaRPr lang="en-US" sz="9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50</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Time, order or duration</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فِي السَّاعَةِ السَّابِعَةِ</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بَعْدَ نِصْفِ سَاعَةٍ</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قَبْلَ أَنْ أَخْرُجَ</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Reason or contrast</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لِأَنَّ المَدْرَسَةَ بَعِيدَةٌ</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وَلٰكِنَّ الحَافِلَةَ تَأَخَّرَتْ</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أَمَّا أَخِي فَيَسْتَيْقِظُ مُتَأَخِّرًا</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Negation or changed detail</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لَا أَذْهَبُ يَوْمَ الجُمُعَةِ</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لَمْ أَسْتَقِلِ الحَافِلَةَ اليَوْمَ</a:t>
            </a:r>
            <a:endParaRPr lang="ar-SA" sz="18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50</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5,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an anchor?</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 unknown word</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handwriting mark</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predictable cue such as time or place</a:t>
            </a:r>
            <a:endParaRPr lang="en-US" sz="1250" dirty="0"/>
          </a:p>
        </p:txBody>
      </p:sp>
      <p:sp>
        <p:nvSpPr>
          <p:cNvPr id="30" name="Shape 27"/>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the second listen do?</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repeat the first guess without checking</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verify exact detail and correct notes</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translate every word</a:t>
            </a:r>
            <a:endParaRPr lang="en-US" sz="1250" dirty="0"/>
          </a:p>
        </p:txBody>
      </p:sp>
      <p:sp>
        <p:nvSpPr>
          <p:cNvPr id="43" name="Shape 40"/>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selective listening action?</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write every sound</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focus on the requested time</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ignore the questions</a:t>
            </a:r>
            <a:endParaRPr lang="en-US" sz="12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50</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an anchor?</a:t>
            </a:r>
            <a:endParaRPr lang="en-US" sz="1250" dirty="0"/>
          </a:p>
        </p:txBody>
      </p:sp>
      <p:sp>
        <p:nvSpPr>
          <p:cNvPr id="21" name="Shape 18"/>
          <p:cNvSpPr/>
          <p:nvPr/>
        </p:nvSpPr>
        <p:spPr>
          <a:xfrm>
            <a:off x="640080" y="2532888"/>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every unknown word</a:t>
            </a:r>
            <a:endParaRPr lang="en-US" sz="1250" dirty="0"/>
          </a:p>
        </p:txBody>
      </p:sp>
      <p:sp>
        <p:nvSpPr>
          <p:cNvPr id="24" name="Shape 21"/>
          <p:cNvSpPr/>
          <p:nvPr/>
        </p:nvSpPr>
        <p:spPr>
          <a:xfrm>
            <a:off x="640080" y="2990088"/>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handwriting mark</a:t>
            </a:r>
            <a:endParaRPr lang="en-US" sz="1250" dirty="0"/>
          </a:p>
        </p:txBody>
      </p:sp>
      <p:sp>
        <p:nvSpPr>
          <p:cNvPr id="27" name="Shape 24"/>
          <p:cNvSpPr/>
          <p:nvPr/>
        </p:nvSpPr>
        <p:spPr>
          <a:xfrm>
            <a:off x="548640" y="3410712"/>
            <a:ext cx="3453384"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44728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predictable cue such as time or place</a:t>
            </a:r>
            <a:endParaRPr lang="en-US" sz="1250" dirty="0"/>
          </a:p>
        </p:txBody>
      </p:sp>
      <p:sp>
        <p:nvSpPr>
          <p:cNvPr id="31" name="Text 28"/>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Anchors help locate required detail.</a:t>
            </a:r>
            <a:endParaRPr lang="en-US" sz="1050" dirty="0"/>
          </a:p>
        </p:txBody>
      </p:sp>
      <p:sp>
        <p:nvSpPr>
          <p:cNvPr id="32" name="Shape 29"/>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the second listen do?</a:t>
            </a:r>
            <a:endParaRPr lang="en-US" sz="1250" dirty="0"/>
          </a:p>
        </p:txBody>
      </p:sp>
      <p:sp>
        <p:nvSpPr>
          <p:cNvPr id="36" name="Shape 33"/>
          <p:cNvSpPr/>
          <p:nvPr/>
        </p:nvSpPr>
        <p:spPr>
          <a:xfrm>
            <a:off x="4459224" y="2532888"/>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repeat the first guess without checking</a:t>
            </a:r>
            <a:endParaRPr lang="en-US" sz="1250" dirty="0"/>
          </a:p>
        </p:txBody>
      </p:sp>
      <p:sp>
        <p:nvSpPr>
          <p:cNvPr id="39" name="Shape 36"/>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4459224" y="2990088"/>
            <a:ext cx="256032" cy="256032"/>
          </a:xfrm>
          <a:prstGeom prst="ellipse">
            <a:avLst/>
          </a:prstGeom>
          <a:solidFill>
            <a:srgbClr val="2E8B57"/>
          </a:solidFill>
          <a:ln w="12700">
            <a:solidFill>
              <a:srgbClr val="2E8B57"/>
            </a:solidFill>
            <a:prstDash val="solid"/>
          </a:ln>
        </p:spPr>
      </p:sp>
      <p:sp>
        <p:nvSpPr>
          <p:cNvPr id="41" name="Text 38"/>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verify exact detail and correct notes</a:t>
            </a:r>
            <a:endParaRPr lang="en-US" sz="1250" dirty="0"/>
          </a:p>
        </p:txBody>
      </p:sp>
      <p:sp>
        <p:nvSpPr>
          <p:cNvPr id="43" name="Shape 40"/>
          <p:cNvSpPr/>
          <p:nvPr/>
        </p:nvSpPr>
        <p:spPr>
          <a:xfrm>
            <a:off x="4459224" y="344728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translate every word</a:t>
            </a:r>
            <a:endParaRPr lang="en-US" sz="1250" dirty="0"/>
          </a:p>
        </p:txBody>
      </p:sp>
      <p:sp>
        <p:nvSpPr>
          <p:cNvPr id="46" name="Text 43"/>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it for verification.</a:t>
            </a:r>
            <a:endParaRPr lang="en-US" sz="1050" dirty="0"/>
          </a:p>
        </p:txBody>
      </p:sp>
      <p:sp>
        <p:nvSpPr>
          <p:cNvPr id="47" name="Shape 44"/>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selective listening action?</a:t>
            </a:r>
            <a:endParaRPr lang="en-US" sz="1250" dirty="0"/>
          </a:p>
        </p:txBody>
      </p:sp>
      <p:sp>
        <p:nvSpPr>
          <p:cNvPr id="51" name="Shape 48"/>
          <p:cNvSpPr/>
          <p:nvPr/>
        </p:nvSpPr>
        <p:spPr>
          <a:xfrm>
            <a:off x="8278368" y="2532888"/>
            <a:ext cx="256032" cy="256032"/>
          </a:xfrm>
          <a:prstGeom prst="ellipse">
            <a:avLst/>
          </a:prstGeom>
          <a:solidFill>
            <a:srgbClr val="C9CED6"/>
          </a:solidFill>
          <a:ln w="12700">
            <a:solidFill>
              <a:srgbClr val="C9CED6"/>
            </a:solidFill>
            <a:prstDash val="solid"/>
          </a:ln>
        </p:spPr>
      </p:sp>
      <p:sp>
        <p:nvSpPr>
          <p:cNvPr id="52" name="Text 49"/>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write every sound</a:t>
            </a:r>
            <a:endParaRPr lang="en-US" sz="1250" dirty="0"/>
          </a:p>
        </p:txBody>
      </p:sp>
      <p:sp>
        <p:nvSpPr>
          <p:cNvPr id="54" name="Shape 51"/>
          <p:cNvSpPr/>
          <p:nvPr/>
        </p:nvSpPr>
        <p:spPr>
          <a:xfrm>
            <a:off x="8186928" y="2953512"/>
            <a:ext cx="3453384"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8278368" y="2990088"/>
            <a:ext cx="256032" cy="256032"/>
          </a:xfrm>
          <a:prstGeom prst="ellipse">
            <a:avLst/>
          </a:prstGeom>
          <a:solidFill>
            <a:srgbClr val="2E8B57"/>
          </a:solidFill>
          <a:ln w="12700">
            <a:solidFill>
              <a:srgbClr val="2E8B57"/>
            </a:solidFill>
            <a:prstDash val="solid"/>
          </a:ln>
        </p:spPr>
      </p:sp>
      <p:sp>
        <p:nvSpPr>
          <p:cNvPr id="56" name="Text 5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focus on the requested time</a:t>
            </a:r>
            <a:endParaRPr lang="en-US" sz="1250" dirty="0"/>
          </a:p>
        </p:txBody>
      </p:sp>
      <p:sp>
        <p:nvSpPr>
          <p:cNvPr id="58" name="Shape 55"/>
          <p:cNvSpPr/>
          <p:nvPr/>
        </p:nvSpPr>
        <p:spPr>
          <a:xfrm>
            <a:off x="8278368" y="344728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ignore the questions</a:t>
            </a:r>
            <a:endParaRPr lang="en-US" sz="1250" dirty="0"/>
          </a:p>
        </p:txBody>
      </p:sp>
      <p:sp>
        <p:nvSpPr>
          <p:cNvPr id="61" name="Text 58"/>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Listen for the information category required.</a:t>
            </a:r>
            <a:endParaRPr lang="en-US" sz="1050" dirty="0"/>
          </a:p>
        </p:txBody>
      </p:sp>
      <p:sp>
        <p:nvSpPr>
          <p:cNvPr id="62" name="Text 5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50</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سَمِعْتُ كَلِمَةَ الحَافِلَةِ، إِذَنْ هِيَ الإِجَابَةُ.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Hearing a word ≠ the answer. What must you check?</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أَخْتَارُ أَوَّلَ وَقْتٍ أَسْمَعُهُ.</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Several times are mentioned. What do you link each one to?</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أَتَوَقَّفُ عِنْدَ وَلٰكِنَّ.</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often comes AFTER “but”?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50</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سَمِعْتُ كَلِمَةَ الحَافِلَةِ، إِذَنْ هِيَ الإِجَابَةُ.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34" charset="0"/>
                <a:ea typeface="Amiri" pitchFamily="34" charset="-122"/>
                <a:cs typeface="Amiri" pitchFamily="34" charset="-120"/>
              </a:rPr>
              <a:t>أَتَأَكَّدُ أَنَّ الحَافِلَةَ تَخُصُّ السُّؤَالَ وَالشَّخْصَ الصَّحِيحَ.</a:t>
            </a:r>
            <a:endParaRPr lang="ar-SA" sz="21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Hearing the word is not sufficient.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أَخْتَارُ أَوَّلَ وَقْتٍ أَسْمَعُهُ.</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أَرْبِطُ كُلَّ وَقْتٍ بِالحَدَثِ الَّذِي يَصِفُهُ.</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Several times may appear.</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أَتَوَقَّفُ عِنْدَ وَلٰكِنَّ.</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أَسْتَمِرُّ بَعْدَ وَلٰكِنَّ لِأَسْمَعَ المُقَابَلَةَ.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key information often follows the contrast.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50</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TEXT 1 OF 3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Text 1: Maryam’s morning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Maryam wake?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6:00</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7:15</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7:30</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she leave home?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6:00</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7:30</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7:15</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detail is a distractor in Text 1 when the question asks about leaving home?</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7:15</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 are leaving times</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6:00</a:t>
            </a:r>
            <a:endParaRPr lang="en-US" sz="1250" dirty="0"/>
          </a:p>
        </p:txBody>
      </p:sp>
      <p:sp>
        <p:nvSpPr>
          <p:cNvPr id="54" name="Shape 51"/>
          <p:cNvSpPr/>
          <p:nvPr/>
        </p:nvSpPr>
        <p:spPr>
          <a:xfrm>
            <a:off x="6185916" y="4151376"/>
            <a:ext cx="5545836"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56" name="Text 53"/>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57" name="Text 54"/>
          <p:cNvSpPr txBox="1"/>
          <p:nvPr/>
        </p:nvSpPr>
        <p:spPr>
          <a:xfrm>
            <a:off x="6387084" y="4791456"/>
            <a:ext cx="5180076"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Before listening, write T next to each question.</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Two times will be heard: wake? leave? bus?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50</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5" name="Shape 12"/>
          <p:cNvSpPr/>
          <p:nvPr/>
        </p:nvSpPr>
        <p:spPr>
          <a:xfrm>
            <a:off x="457200" y="1810512"/>
            <a:ext cx="11274552" cy="1450848"/>
          </a:xfrm>
          <a:prstGeom prst="roundRect">
            <a:avLst>
              <a:gd name="adj" fmla="val 3151"/>
            </a:avLst>
          </a:prstGeom>
          <a:solidFill>
            <a:srgbClr val="FFFFFF"/>
          </a:solidFill>
          <a:ln w="9525">
            <a:solidFill>
              <a:srgbClr val="D8D0BF"/>
            </a:solidFill>
            <a:prstDash val="solid"/>
          </a:ln>
        </p:spPr>
      </p:sp>
      <p:sp>
        <p:nvSpPr>
          <p:cNvPr id="16" name="Text 13"/>
          <p:cNvSpPr txBox="1"/>
          <p:nvPr/>
        </p:nvSpPr>
        <p:spPr>
          <a:xfrm>
            <a:off x="4937760" y="1828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النَّصُّ الأَوَّلُ: تَسْتَيْقِظُ مَرْيَمُ فِي السَّادِسَةِ،</a:t>
            </a:r>
            <a:endParaRPr lang="ar-SA" sz="2000" dirty="0"/>
          </a:p>
        </p:txBody>
      </p:sp>
      <p:sp>
        <p:nvSpPr>
          <p:cNvPr id="17" name="Text 14"/>
          <p:cNvSpPr txBox="1"/>
          <p:nvPr/>
        </p:nvSpPr>
        <p:spPr>
          <a:xfrm>
            <a:off x="640080" y="1828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Text 1: Maryam wakes up at six,</a:t>
            </a:r>
            <a:endParaRPr lang="en-US" sz="1250" dirty="0"/>
          </a:p>
        </p:txBody>
      </p:sp>
      <p:sp>
        <p:nvSpPr>
          <p:cNvPr id="18" name="Shape 15"/>
          <p:cNvSpPr/>
          <p:nvPr/>
        </p:nvSpPr>
        <p:spPr>
          <a:xfrm>
            <a:off x="457200" y="3334512"/>
            <a:ext cx="11274552" cy="1450848"/>
          </a:xfrm>
          <a:prstGeom prst="roundRect">
            <a:avLst>
              <a:gd name="adj" fmla="val 3151"/>
            </a:avLst>
          </a:prstGeom>
          <a:solidFill>
            <a:srgbClr val="F4F1EA"/>
          </a:solidFill>
          <a:ln w="9525">
            <a:solidFill>
              <a:srgbClr val="D8D0BF"/>
            </a:solidFill>
            <a:prstDash val="solid"/>
          </a:ln>
        </p:spPr>
      </p:sp>
      <p:sp>
        <p:nvSpPr>
          <p:cNvPr id="19" name="Text 16"/>
          <p:cNvSpPr txBox="1"/>
          <p:nvPr/>
        </p:nvSpPr>
        <p:spPr>
          <a:xfrm>
            <a:off x="4937760" y="3352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وَلٰكِنَّهَا لَا تَخْرُجُ مِنَ البَيْتِ حَتَّى السَّابِعَةِ وَالرُّبْعِ.</a:t>
            </a:r>
            <a:endParaRPr lang="ar-SA" sz="2000" dirty="0"/>
          </a:p>
        </p:txBody>
      </p:sp>
      <p:sp>
        <p:nvSpPr>
          <p:cNvPr id="20" name="Text 17"/>
          <p:cNvSpPr txBox="1"/>
          <p:nvPr/>
        </p:nvSpPr>
        <p:spPr>
          <a:xfrm>
            <a:off x="640080" y="3352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but she does not leave the house until quarter past seven.</a:t>
            </a:r>
            <a:endParaRPr lang="en-US" sz="1250" dirty="0"/>
          </a:p>
        </p:txBody>
      </p:sp>
      <p:sp>
        <p:nvSpPr>
          <p:cNvPr id="21" name="Shape 18"/>
          <p:cNvSpPr/>
          <p:nvPr/>
        </p:nvSpPr>
        <p:spPr>
          <a:xfrm>
            <a:off x="457200" y="4858512"/>
            <a:ext cx="11274552" cy="1450848"/>
          </a:xfrm>
          <a:prstGeom prst="roundRect">
            <a:avLst>
              <a:gd name="adj" fmla="val 3151"/>
            </a:avLst>
          </a:prstGeom>
          <a:solidFill>
            <a:srgbClr val="FFFFFF"/>
          </a:solidFill>
          <a:ln w="9525">
            <a:solidFill>
              <a:srgbClr val="D8D0BF"/>
            </a:solidFill>
            <a:prstDash val="solid"/>
          </a:ln>
        </p:spPr>
      </p:sp>
      <p:sp>
        <p:nvSpPr>
          <p:cNvPr id="22" name="Text 19"/>
          <p:cNvSpPr txBox="1"/>
          <p:nvPr/>
        </p:nvSpPr>
        <p:spPr>
          <a:xfrm>
            <a:off x="4937760" y="4876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تَتَنَاوَلُ الإِفْطَارَ دَائِمًا، وَتَسْتَقِلُّ الحَافِلَةَ فِي السَّابِعَةِ وَالنِّصْفِ.</a:t>
            </a:r>
            <a:endParaRPr lang="ar-SA" sz="2000" dirty="0"/>
          </a:p>
        </p:txBody>
      </p:sp>
      <p:sp>
        <p:nvSpPr>
          <p:cNvPr id="23" name="Text 20"/>
          <p:cNvSpPr txBox="1"/>
          <p:nvPr/>
        </p:nvSpPr>
        <p:spPr>
          <a:xfrm>
            <a:off x="640080" y="4876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always has breakfast, and she takes the bus at half past seven.</a:t>
            </a:r>
            <a:endParaRPr lang="en-US" sz="1250" dirty="0"/>
          </a:p>
        </p:txBody>
      </p:sp>
      <p:sp>
        <p:nvSpPr>
          <p:cNvPr id="24" name="Text 2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50</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Text 1: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Maryam wake?</a:t>
            </a:r>
            <a:endParaRPr lang="en-US" sz="1250" dirty="0"/>
          </a:p>
        </p:txBody>
      </p:sp>
      <p:sp>
        <p:nvSpPr>
          <p:cNvPr id="19" name="Shape 16"/>
          <p:cNvSpPr/>
          <p:nvPr/>
        </p:nvSpPr>
        <p:spPr>
          <a:xfrm>
            <a:off x="548640" y="2453640"/>
            <a:ext cx="5362956"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6:00</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7:15</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7:30</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first time is her wake-up time.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she leave home?</a:t>
            </a:r>
            <a:endParaRPr lang="en-US" sz="1250" dirty="0"/>
          </a:p>
        </p:txBody>
      </p:sp>
      <p:sp>
        <p:nvSpPr>
          <p:cNvPr id="34" name="Shape 31"/>
          <p:cNvSpPr/>
          <p:nvPr/>
        </p:nvSpPr>
        <p:spPr>
          <a:xfrm>
            <a:off x="6368796"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6:00</a:t>
            </a:r>
            <a:endParaRPr lang="en-US" sz="1250" dirty="0"/>
          </a:p>
        </p:txBody>
      </p:sp>
      <p:sp>
        <p:nvSpPr>
          <p:cNvPr id="37" name="Shape 34"/>
          <p:cNvSpPr/>
          <p:nvPr/>
        </p:nvSpPr>
        <p:spPr>
          <a:xfrm>
            <a:off x="6368796"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7:30</a:t>
            </a:r>
            <a:endParaRPr lang="en-US" sz="1250" dirty="0"/>
          </a:p>
        </p:txBody>
      </p:sp>
      <p:sp>
        <p:nvSpPr>
          <p:cNvPr id="40" name="Shape 37"/>
          <p:cNvSpPr/>
          <p:nvPr/>
        </p:nvSpPr>
        <p:spPr>
          <a:xfrm>
            <a:off x="6277356" y="3197352"/>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7:15</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does not leave until a quarter past seven.</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detail is a distractor in Text 1 when the question asks about leaving home?</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7:15</a:t>
            </a:r>
            <a:endParaRPr lang="en-US" sz="1250" dirty="0"/>
          </a:p>
        </p:txBody>
      </p:sp>
      <p:sp>
        <p:nvSpPr>
          <p:cNvPr id="52" name="Shape 49"/>
          <p:cNvSpPr/>
          <p:nvPr/>
        </p:nvSpPr>
        <p:spPr>
          <a:xfrm>
            <a:off x="640080" y="5202936"/>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both are leaving times</a:t>
            </a:r>
            <a:endParaRPr lang="en-US" sz="1250" dirty="0"/>
          </a:p>
        </p:txBody>
      </p:sp>
      <p:sp>
        <p:nvSpPr>
          <p:cNvPr id="55" name="Shape 52"/>
          <p:cNvSpPr/>
          <p:nvPr/>
        </p:nvSpPr>
        <p:spPr>
          <a:xfrm>
            <a:off x="548640" y="5538216"/>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574792"/>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6:00</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6:00 is the wake-up time, not the leaving time.</a:t>
            </a:r>
            <a:endParaRPr lang="en-US" sz="1050" dirty="0"/>
          </a:p>
        </p:txBody>
      </p:sp>
      <p:sp>
        <p:nvSpPr>
          <p:cNvPr id="60" name="Shape 57"/>
          <p:cNvSpPr/>
          <p:nvPr/>
        </p:nvSpPr>
        <p:spPr>
          <a:xfrm>
            <a:off x="6185916" y="4151376"/>
            <a:ext cx="5545836"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62" name="Text 59"/>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63" name="Text 60"/>
          <p:cNvSpPr txBox="1"/>
          <p:nvPr/>
        </p:nvSpPr>
        <p:spPr>
          <a:xfrm>
            <a:off x="6387084" y="4791456"/>
            <a:ext cx="5180076"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Before listening, write T next to each question.</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Two times will be heard: wake? leave? bus?</a:t>
            </a:r>
            <a:endParaRPr lang="en-US" sz="12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50</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TEXT 2 OF 3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Text 2: Omar and Salma make a plan</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time do Omar and Salma finally agree 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4:45</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4:00</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4:30</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time did Omar first suggest?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4:30</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4:45</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4:00</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can’t Salma meet at four?</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is tired</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is at the club</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 lesson ends at 4:30</a:t>
            </a:r>
            <a:endParaRPr lang="en-US" sz="1250" dirty="0"/>
          </a:p>
        </p:txBody>
      </p:sp>
      <p:sp>
        <p:nvSpPr>
          <p:cNvPr id="54" name="Shape 51"/>
          <p:cNvSpPr/>
          <p:nvPr/>
        </p:nvSpPr>
        <p:spPr>
          <a:xfrm>
            <a:off x="6185916" y="4151376"/>
            <a:ext cx="5545836"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56" name="Text 53"/>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57" name="Text 54"/>
          <p:cNvSpPr txBox="1"/>
          <p:nvPr/>
        </p:nvSpPr>
        <p:spPr>
          <a:xfrm>
            <a:off x="6387084" y="4791456"/>
            <a:ext cx="5180076"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Three times are heard.</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Wait for the phrase “they agreed on”.</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50</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5" name="Shape 12"/>
          <p:cNvSpPr/>
          <p:nvPr/>
        </p:nvSpPr>
        <p:spPr>
          <a:xfrm>
            <a:off x="457200" y="1810512"/>
            <a:ext cx="11274552" cy="1450848"/>
          </a:xfrm>
          <a:prstGeom prst="roundRect">
            <a:avLst>
              <a:gd name="adj" fmla="val 3151"/>
            </a:avLst>
          </a:prstGeom>
          <a:solidFill>
            <a:srgbClr val="FFFFFF"/>
          </a:solidFill>
          <a:ln w="9525">
            <a:solidFill>
              <a:srgbClr val="D8D0BF"/>
            </a:solidFill>
            <a:prstDash val="solid"/>
          </a:ln>
        </p:spPr>
      </p:sp>
      <p:sp>
        <p:nvSpPr>
          <p:cNvPr id="16" name="Text 13"/>
          <p:cNvSpPr txBox="1"/>
          <p:nvPr/>
        </p:nvSpPr>
        <p:spPr>
          <a:xfrm>
            <a:off x="4937760" y="1828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النَّصُّ الثَّانِي: يَلْتَقِي عُمَرُ وَسَلْمَى يَوْمَ السَّبْتِ. اِقْتَرَحَ عُمَرُ السَّاعَةَ الرَّابِعَةَ،</a:t>
            </a:r>
            <a:endParaRPr lang="ar-SA" sz="2000" dirty="0"/>
          </a:p>
        </p:txBody>
      </p:sp>
      <p:sp>
        <p:nvSpPr>
          <p:cNvPr id="17" name="Text 14"/>
          <p:cNvSpPr txBox="1"/>
          <p:nvPr/>
        </p:nvSpPr>
        <p:spPr>
          <a:xfrm>
            <a:off x="640080" y="1828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Text 2: Omar and Salma are meeting on Saturday. Omar suggested four o’clock,</a:t>
            </a:r>
            <a:endParaRPr lang="en-US" sz="1250" dirty="0"/>
          </a:p>
        </p:txBody>
      </p:sp>
      <p:sp>
        <p:nvSpPr>
          <p:cNvPr id="18" name="Shape 15"/>
          <p:cNvSpPr/>
          <p:nvPr/>
        </p:nvSpPr>
        <p:spPr>
          <a:xfrm>
            <a:off x="457200" y="3334512"/>
            <a:ext cx="11274552" cy="1450848"/>
          </a:xfrm>
          <a:prstGeom prst="roundRect">
            <a:avLst>
              <a:gd name="adj" fmla="val 3151"/>
            </a:avLst>
          </a:prstGeom>
          <a:solidFill>
            <a:srgbClr val="F4F1EA"/>
          </a:solidFill>
          <a:ln w="9525">
            <a:solidFill>
              <a:srgbClr val="D8D0BF"/>
            </a:solidFill>
            <a:prstDash val="solid"/>
          </a:ln>
        </p:spPr>
      </p:sp>
      <p:sp>
        <p:nvSpPr>
          <p:cNvPr id="19" name="Text 16"/>
          <p:cNvSpPr txBox="1"/>
          <p:nvPr/>
        </p:nvSpPr>
        <p:spPr>
          <a:xfrm>
            <a:off x="4937760" y="3352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أَمَّا سَلْمَى فَلَا تَنْتَهِي مِنْ دَرْسِهَا قَبْلَ الرَّابِعَةِ وَالنِّصْفِ،</a:t>
            </a:r>
            <a:endParaRPr lang="ar-SA" sz="2000" dirty="0"/>
          </a:p>
        </p:txBody>
      </p:sp>
      <p:sp>
        <p:nvSpPr>
          <p:cNvPr id="20" name="Text 17"/>
          <p:cNvSpPr txBox="1"/>
          <p:nvPr/>
        </p:nvSpPr>
        <p:spPr>
          <a:xfrm>
            <a:off x="640080" y="3352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but Salma does not finish her lesson before half past four,</a:t>
            </a:r>
            <a:endParaRPr lang="en-US" sz="1250" dirty="0"/>
          </a:p>
        </p:txBody>
      </p:sp>
      <p:sp>
        <p:nvSpPr>
          <p:cNvPr id="21" name="Shape 18"/>
          <p:cNvSpPr/>
          <p:nvPr/>
        </p:nvSpPr>
        <p:spPr>
          <a:xfrm>
            <a:off x="457200" y="4858512"/>
            <a:ext cx="11274552" cy="1450848"/>
          </a:xfrm>
          <a:prstGeom prst="roundRect">
            <a:avLst>
              <a:gd name="adj" fmla="val 3151"/>
            </a:avLst>
          </a:prstGeom>
          <a:solidFill>
            <a:srgbClr val="FFFFFF"/>
          </a:solidFill>
          <a:ln w="9525">
            <a:solidFill>
              <a:srgbClr val="D8D0BF"/>
            </a:solidFill>
            <a:prstDash val="solid"/>
          </a:ln>
        </p:spPr>
      </p:sp>
      <p:sp>
        <p:nvSpPr>
          <p:cNvPr id="22" name="Text 19"/>
          <p:cNvSpPr txBox="1"/>
          <p:nvPr/>
        </p:nvSpPr>
        <p:spPr>
          <a:xfrm>
            <a:off x="4937760" y="4876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لِذٰلِكَ اِتَّفَقَا عَلَى الخَامِسَةِ إِلَّا الرُّبْعَ.</a:t>
            </a:r>
            <a:endParaRPr lang="ar-SA" sz="2000" dirty="0"/>
          </a:p>
        </p:txBody>
      </p:sp>
      <p:sp>
        <p:nvSpPr>
          <p:cNvPr id="23" name="Text 20"/>
          <p:cNvSpPr txBox="1"/>
          <p:nvPr/>
        </p:nvSpPr>
        <p:spPr>
          <a:xfrm>
            <a:off x="640080" y="4876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 they agreed on quarter to five.</a:t>
            </a:r>
            <a:endParaRPr lang="en-US" sz="1250" dirty="0"/>
          </a:p>
        </p:txBody>
      </p:sp>
      <p:sp>
        <p:nvSpPr>
          <p:cNvPr id="24" name="Text 2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50</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Text 2: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time do Omar and Salma finally agree on?</a:t>
            </a:r>
            <a:endParaRPr lang="en-US" sz="1250" dirty="0"/>
          </a:p>
        </p:txBody>
      </p:sp>
      <p:sp>
        <p:nvSpPr>
          <p:cNvPr id="19" name="Shape 16"/>
          <p:cNvSpPr/>
          <p:nvPr/>
        </p:nvSpPr>
        <p:spPr>
          <a:xfrm>
            <a:off x="548640" y="2453640"/>
            <a:ext cx="5362956"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4:45</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4:00</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4:30</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اِتَّفَقَا عَلَى الخَامِسَةِ إِلَّا الرُّبْعَ.</a:t>
            </a:r>
            <a:endParaRPr lang="ar-SA" sz="13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time did Omar first suggest?</a:t>
            </a:r>
            <a:endParaRPr lang="en-US" sz="1250" dirty="0"/>
          </a:p>
        </p:txBody>
      </p:sp>
      <p:sp>
        <p:nvSpPr>
          <p:cNvPr id="34" name="Shape 31"/>
          <p:cNvSpPr/>
          <p:nvPr/>
        </p:nvSpPr>
        <p:spPr>
          <a:xfrm>
            <a:off x="6368796"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4:30</a:t>
            </a:r>
            <a:endParaRPr lang="en-US" sz="1250" dirty="0"/>
          </a:p>
        </p:txBody>
      </p:sp>
      <p:sp>
        <p:nvSpPr>
          <p:cNvPr id="37" name="Shape 34"/>
          <p:cNvSpPr/>
          <p:nvPr/>
        </p:nvSpPr>
        <p:spPr>
          <a:xfrm>
            <a:off x="6368796"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4:45</a:t>
            </a:r>
            <a:endParaRPr lang="en-US" sz="1250" dirty="0"/>
          </a:p>
        </p:txBody>
      </p:sp>
      <p:sp>
        <p:nvSpPr>
          <p:cNvPr id="40" name="Shape 37"/>
          <p:cNvSpPr/>
          <p:nvPr/>
        </p:nvSpPr>
        <p:spPr>
          <a:xfrm>
            <a:off x="6277356" y="3197352"/>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4:00</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اِقْتَرَحَ عُمَرُ السَّاعَةَ الرَّابِعَةَ</a:t>
            </a:r>
            <a:pPr algn="l" indent="0" marL="0">
              <a:buNone/>
            </a:pPr>
            <a:r>
              <a:rPr lang="en-US" sz="1050" i="1" dirty="0">
                <a:solidFill>
                  <a:srgbClr val="8A6D1E"/>
                </a:solidFill>
                <a:latin typeface="Calibri" pitchFamily="34" charset="0"/>
                <a:ea typeface="Calibri" pitchFamily="34" charset="-122"/>
                <a:cs typeface="Calibri" pitchFamily="34" charset="-120"/>
              </a:rPr>
              <a:t> — a suggestion, not the final time.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can’t Salma meet at four?</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is tired</a:t>
            </a:r>
            <a:endParaRPr lang="en-US" sz="1250" dirty="0"/>
          </a:p>
        </p:txBody>
      </p:sp>
      <p:sp>
        <p:nvSpPr>
          <p:cNvPr id="52" name="Shape 49"/>
          <p:cNvSpPr/>
          <p:nvPr/>
        </p:nvSpPr>
        <p:spPr>
          <a:xfrm>
            <a:off x="640080" y="5202936"/>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is at the club</a:t>
            </a:r>
            <a:endParaRPr lang="en-US" sz="1250" dirty="0"/>
          </a:p>
        </p:txBody>
      </p:sp>
      <p:sp>
        <p:nvSpPr>
          <p:cNvPr id="55" name="Shape 52"/>
          <p:cNvSpPr/>
          <p:nvPr/>
        </p:nvSpPr>
        <p:spPr>
          <a:xfrm>
            <a:off x="548640" y="5538216"/>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574792"/>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her lesson ends at 4:30</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لَا تَنْتَهِي مِنْ دَرْسِهَا قَبْلَ الرَّابِعَةِ وَالنِّصْفِ.</a:t>
            </a:r>
            <a:endParaRPr lang="ar-SA" sz="1350" dirty="0"/>
          </a:p>
        </p:txBody>
      </p:sp>
      <p:sp>
        <p:nvSpPr>
          <p:cNvPr id="60" name="Shape 57"/>
          <p:cNvSpPr/>
          <p:nvPr/>
        </p:nvSpPr>
        <p:spPr>
          <a:xfrm>
            <a:off x="6185916" y="4151376"/>
            <a:ext cx="5545836"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62" name="Text 59"/>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63" name="Text 60"/>
          <p:cNvSpPr txBox="1"/>
          <p:nvPr/>
        </p:nvSpPr>
        <p:spPr>
          <a:xfrm>
            <a:off x="6387084" y="4791456"/>
            <a:ext cx="5180076"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Three times are heard.</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Wait for the phrase “they agreed on”.</a:t>
            </a:r>
            <a:endParaRPr lang="en-US" sz="12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50</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TEXT 3 OF 3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Text 3: Samer’s afternoon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Samir return home?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3:10</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3:30</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4:10</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he do after resting?</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goes straight to training</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eats breakfast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completes homework</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often does he train?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 day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once a week</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three times a week</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on Thursday?</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stays home and helps his family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trains twice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meets Salma</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70" name="Text 67"/>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Label: T, order, F, what day?</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past “as for …”.</a:t>
            </a:r>
            <a:endParaRPr lang="en-US" sz="12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50</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النَّصُّ الثَّالِثُ: يَعُودُ سَامِرٌ إِلَى البَيْتِ فِي الثَّالِثَةِ وَعَشْرِ دَقَائِقَ.</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Text 3: Samer returns home at ten past three.</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يَسْتَرِيحُ نِصْفَ سَاعَةٍ، ثُمَّ يُكْمِلُ وَاجِبَهُ قَبْلَ أَنْ يَذْهَبَ إِلَى التَّمْرِينِ.</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rests for half an hour, then finishes his homework before he goes to training.</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يَتَمَرَّنُ ثَلَاثَ مَرَّاتٍ فِي الأُسْبُوعِ،</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trains three times a week;</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أَمَّا يَوْمُ الخَمِيسِ فَيَبْقَى فِي البَيْتِ وَيُسَاعِدُ أُسْرَتَهُ.</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 for Thursday, he stays at home and helps his family.</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50</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Text 3: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Samir return home?</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3:10</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3:30</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4:10</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فِي الثَّالِثَةِ وَعَشْرِ دَقَائِقَ.</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he do after resting?</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goes straight to training</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eats breakfast</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completes homework</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ثُمَّ يُكْمِلُ وَاجِبَهُ.</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often does he train?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every day</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once a week</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three times a week</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ثَلَاثَ مَرَّاتٍ فِي الأُسْبُوعِ.</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on Thursday?</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 stays home and helps his family</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trains twice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meets Salma</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أَمَّا يَوْمُ الخَمِيسِ فَيَبْقَى فِي البَيْتِ.</a:t>
            </a:r>
            <a:endParaRPr lang="ar-SA" sz="13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77" name="Text 74"/>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78" name="Text 75"/>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Label: T, order, F, what day?</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past “as for …”.</a:t>
            </a:r>
            <a:endParaRPr lang="en-US" sz="12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50</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Reflect on listening decisions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الكَلِمَةُ المِفْتَاحِيَّةُ الَّتِي سَاعَدَتْكَ؟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أَيُّ مُشَتِّتٍ كَانَ أَقْوَى؟ وَلِمَاذَا؟</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غَيَّرْتَ فِي الاِسْتِمَاعِ الثَّانِي؟</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الهَدَفُ المُحَدَّدُ الَّذِي سَتُطَوِّرُهُ فِي الاِسْتِمَاعِ القَادِمِ؟</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الكَلِمَةُ المِفْتَاحِيَّةُ كَانَتْ «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كَانَ المُشَتِّتُ ___ لِأَنَّ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34" charset="0"/>
                <a:ea typeface="Amiri" pitchFamily="34" charset="-122"/>
                <a:cs typeface="Amiri" pitchFamily="34" charset="-120"/>
              </a:rPr>
              <a:t>فِي الاِسْتِمَاعِ الثَّانِي ، تَثَبَّتُّ مِنْ ___ .</a:t>
            </a:r>
            <a:endParaRPr lang="ar-SA" sz="155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هَدَفِي القَادِمُ أَنْ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لِمَاذَا لَمْ تَخْتَرِ السَّادِسَةَ؟</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Why didn’t you choose six?</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لِأَنَّ السَّادِسَةَ كَانَتْ وَقْتَ الاِسْتِيقَاظِ، بَيْنَمَا السُّؤَالُ كَانَ عَنْ وَقْتِ الخُرُوجِ. اِنْتَظَرْتُ الفِعْلَ «تَخْرُجُ».</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Because six was the wake-up time, whereas the question was about the leaving time. I waited for the verb “leaves”.</a:t>
            </a:r>
            <a:endParaRPr lang="en-US" sz="7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50</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Identify key words and complete the questions with support.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Rebuild Samer’s afternoon (Text 3) from your answers: time, order, how often, Thursday.</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Explain distractors and correct answers from the script.</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Rebuild one speaker’s routine and explain ONE distractor you rejected and why.</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Evaluate paraphrase, inference and personal strategy using precise listening terminology.</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reconstruct a routine, explain two distractors, say what changed on the second listen and set a measurable target.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50</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رَكَّزْتُ عَلَى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focused on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كَانَ المُشَتِّتُ ______ لِأَنَّ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distractor was … because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اِسْتَبْعَدْتُ ______ لِأَنَّ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eliminated … because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الاِسْتِمَاعِ الثَّانِي تَثَبَّتُّ مِنْ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On the second listen I verified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هَدَفِي القَادِمُ أَنْ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next target is to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يَعُودُ سَامِرٌ إِلَى البَيْتِ فِي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Samer returns home at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يَسْتَرِيحُ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He rests for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ثُمَّ يُكْمِلُ وَاجِبَهُ.</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Then he finishes his homework.</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يَتَمَرَّنُ ______ فِي الأُسْبُوعِ.</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He trains … a week.</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أَمَّا يَوْمُ الخَمِيسِ فَـ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On Thursday he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أَتَوَقَّعُ  ·  أُرَكِّزُ عَلَى  ·  أَسْتَبْعِدُ  ·  أَتَثَبَّتُ مِنْ  ·  مُشَتِّتٌ  ·  كَلِمَةٌ مِفْتَاحِيَّةٌ  ·  الوَقْتُ  ·  الحَدَثُ  ·  وَلٰكِنَّ  ·  لَا / لَمْ  ·  اِتَّفَقَا عَلَى  ·  هَدَفِي</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50</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100–120 words reconstructing one speaker’s routine from the listening evidence, then explain two distractors you rejected.</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Refer to an exact question or detail.</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Explain why one distractor was attractive.</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listening-strategy vocabulary.</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State what changed on the second listen.</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Set a measurable next-step target.</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اِخْتَرْتُ السَّادِسَةَ لِأَنَّهَا أَوَّلُ وَقْتٍ سَمِعْتُهُ</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chose six because it was the first time I heard</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وَلٰكِنَّ السُّؤَالَ كَانَ عَنْ وَقْتِ الخُرُوجِ</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but the question was about the leaving time</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فَانْتَظَرْتُ عِبَارَةَ «اِتَّفَقَا عَلَى»</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so I waited for the phrase “they agreed on”</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رَبَطْتُ «ثَلَاثَ مَرَّاتٍ» بِالتَّمْرِينِ</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linked “three times” to training</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سَأَكْتُبُ كُلَّ وَقْتٍ مَعَ الحَدَثِ الَّذِي يَصِفُهُ</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will write each time with the event it describes</a:t>
            </a:r>
            <a:endParaRPr lang="en-US" sz="10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50</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فِي تَدْرِيبِ الاِسْتِمَاعِ نَجَحْتُ فِي تَتَبُّعِ أَوْقَاتِ النَّصِّ الثَّانِي، لِأَنَّنِي اِنْتَظَرْتُ عِبَارَةَ «اِتَّفَقَا عَلَى» قَبْلَ أَنْ أَخْتَارَ. وَلٰكِنَّنِي أَخْطَأْتُ فِي السُّؤَالِ الأَوَّلِ، فَقَدِ اِخْتَرْتُ وَقْتَ الاِسْتِيقَاظِ بَدَلَ وَقْتِ الخُرُوجِ. كَانَ المُشَتِّتُ قَوِيًّا لِأَنَّ السَّادِسَةَ ذُكِرَتْ أَوَّلًا. فِي الاِسْتِمَاعِ الثَّانِي رَكَّزْتُ عَلَى الفِعْلِ «تَخْرُجُ» وَصَحَّحْتُ إِجَابَتِي. هَدَفِي القَادِمُ أَنْ أَرْبِطَ كُلَّ رَقْمٍ بِالحَدَثِ الصَّحِيحِ وَأَنْ أُرَاجِعَ كُلَّ إِجَابَةٍ مَرَّةً وَاحِدَةً.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In the listening practice I managed to track the times in Text 2, because I waited for the phrase “they agreed on” before choosing. But I made a mistake in the first question: I chose the wake-up time instead of the leaving time. The distractor was strong because six was mentioned first. On the second listening I focused on the verb “leaves” and corrected my answer. My next target is to link every number to the correct event and to check every answer once.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strategy verb</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the distractor and why it was strong</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what changed on the second listen</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measurable target</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50</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labelled each question (time, person, how often) before listening.</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times match the right event.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kept listening after “but” and “as for”.</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explain one distractor I rejected.</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target is specific and measurable.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50</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you do with the first number heard?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link it to the event before choosing</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choose it immediately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ignore all later numbers</a:t>
            </a:r>
            <a:endParaRPr lang="en-US" sz="12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signals final agreement?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اِقْتَرَحَ</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اِتَّفَقَا عَلَى</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تَنْتَهِي</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distractor clue?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correct word attached to the wrong person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exact requested detail</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clear final conclusion</a:t>
            </a:r>
            <a:endParaRPr lang="en-US" sz="12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50</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you do with the first number heard?</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link it to the event before choosing</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choose it immediately</a:t>
            </a:r>
            <a:endParaRPr lang="en-US" sz="12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ignore all later numbers</a:t>
            </a:r>
            <a:endParaRPr lang="en-US" sz="12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Context determines which event the number belongs to.</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signals final agreement?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اِقْتَرَحَ</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اِتَّفَقَا عَلَى</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لَا تَنْتَهِي</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signals the chosen time.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distractor clue?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correct word attached to the wrong person</a:t>
            </a:r>
            <a:endParaRPr lang="en-US"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exact requested detail</a:t>
            </a:r>
            <a:endParaRPr lang="en-US" sz="12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clear final conclusion</a:t>
            </a:r>
            <a:endParaRPr lang="en-US" sz="12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vocabulary may be right but the referent wrong.</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50</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performance log</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بَعْدَ التَّدْرِيبِ كَتَبَتْ سَارَةُ: فِي النَّصِّ الأَوَّلِ اِخْتَرْتُ السَّادِسَةَ لِأَنَّهَا أَوَّلُ وَقْتٍ سَمِعْتُهُ، وَلٰكِنَّ السُّؤَالَ كَانَ عَنْ وَقْتِ الخُرُوجِ، وَالإِجَابَةُ الصَّحِيحَةُ هِيَ السَّابِعَةُ وَالرُّبْعُ. فِي النَّصِّ الثَّانِي ذَكَرَ المُتَحَدِّثَانِ ثَلَاثَةَ أَوْقَاتٍ، فَانْتَظَرْتُ عِبَارَةَ «اِتَّفَقَا عَلَى». أَمَّا فِي النَّصِّ الثَّالِثِ فَرَبَطْتُ «ثَلَاثَ مَرَّاتٍ» بِالتَّمْرِينِ، وَلَمْ أَخْتَرْ يَوْمَ الخَمِيسِ لِأَنَّهُ يَبْقَى فِي البَيْتِ. فِي الاِسْتِمَاعِ القَادِمِ سَأَكْتُبُ كُلَّ وَقْتٍ مَعَ الحَدَثِ الَّذِي يَصِفُهُ.</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بَعْدَ التَّدْرِيبِ</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after the practice</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اِخْتَرْتُ</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chose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أَوَّلُ وَقْتٍ سَمِعْتُهُ</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first time I heard</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وَقْتِ الخُرُوجِ</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leaving time</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المُتَحَدِّثَانِ</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two speakers</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فَانْتَظَرْتُ</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so I waited for</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عِبَارَةَ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phrase</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رَبَطْتُ</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linked</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لَمْ أَخْتَرْ</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did not choose</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سَأَكْتُبُ</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will write</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50</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was Sara’s first error?</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missing a person’s name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choosing the wake-up time instead of the leaving time</a:t>
            </a:r>
            <a:endParaRPr lang="en-US" sz="120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confusing Saturday and Thursday</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revealed the final agreed time?</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اِقْتَرَحَ عُمَرُ</a:t>
            </a:r>
            <a:endParaRPr lang="ar-SA" sz="20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قَبْلَ الرَّابِعَةِ</a:t>
            </a:r>
            <a:endParaRPr lang="ar-SA" sz="20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اِتَّفَقَا عَلَى</a:t>
            </a:r>
            <a:endParaRPr lang="ar-SA" sz="20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a:t>
            </a:r>
            <a:pPr algn="l" indent="0" marL="0">
              <a:buNone/>
            </a:pPr>
            <a:r>
              <a:rPr lang="ar-SA" altLang="en-US" sz="1650" b="1" dirty="0">
                <a:solidFill>
                  <a:srgbClr val="1B3B6F"/>
                </a:solidFill>
                <a:latin typeface="Amiri" pitchFamily="34" charset="0"/>
                <a:ea typeface="Amiri" pitchFamily="34" charset="-122"/>
                <a:cs typeface="Amiri" pitchFamily="34" charset="-120"/>
              </a:rPr>
              <a:t>ثَلَاثَ مَرَّاتٍ</a:t>
            </a:r>
            <a:pPr algn="l" indent="0" marL="0">
              <a:buNone/>
            </a:pPr>
            <a:r>
              <a:rPr lang="en-US" sz="1250" b="1" dirty="0">
                <a:solidFill>
                  <a:srgbClr val="1B3B6F"/>
                </a:solidFill>
                <a:latin typeface="Calibri" pitchFamily="34" charset="0"/>
                <a:ea typeface="Calibri" pitchFamily="34" charset="-122"/>
                <a:cs typeface="Calibri" pitchFamily="34" charset="-120"/>
              </a:rPr>
              <a:t> describe?</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training frequency</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return time</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rest duration</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was Thursday rejected as a training day?</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club is closed</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stays home that day</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visits Salma</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Sara do next time?</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write each time beside its event</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translate every word</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choose the last number heard</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skill improved across the log?</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handwriting speed</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person-prefix control</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distractor control</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50</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was Sara’s first error?</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missing a person’s name</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choosing the wake-up time instead of the leaving time</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confusing Saturday and Thursday</a:t>
            </a:r>
            <a:endParaRPr lang="en-US" sz="11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chose the first time heard rather than the requested event.</a:t>
            </a:r>
            <a:endParaRPr lang="en-US" sz="10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revealed the final agreed time?</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اِقْتَرَحَ عُمَرُ</a:t>
            </a:r>
            <a:endParaRPr lang="ar-SA" sz="170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قَبْلَ الرَّابِعَةِ</a:t>
            </a:r>
            <a:endParaRPr lang="ar-SA" sz="170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اِتَّفَقَا عَلَى</a:t>
            </a:r>
            <a:endParaRPr lang="ar-SA" sz="170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agreement phrase signals the final answer.</a:t>
            </a:r>
            <a:endParaRPr lang="en-US" sz="10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a:t>
            </a:r>
            <a:pPr algn="l" indent="0" marL="0">
              <a:buNone/>
            </a:pPr>
            <a:r>
              <a:rPr lang="ar-SA" altLang="en-US" sz="1650" b="1" dirty="0">
                <a:solidFill>
                  <a:srgbClr val="1B3B6F"/>
                </a:solidFill>
                <a:latin typeface="Amiri" pitchFamily="34" charset="0"/>
                <a:ea typeface="Amiri" pitchFamily="34" charset="-122"/>
                <a:cs typeface="Amiri" pitchFamily="34" charset="-120"/>
              </a:rPr>
              <a:t>ثَلَاثَ مَرَّاتٍ</a:t>
            </a:r>
            <a:pPr algn="l" indent="0" marL="0">
              <a:buNone/>
            </a:pPr>
            <a:r>
              <a:rPr lang="en-US" sz="1250" b="1" dirty="0">
                <a:solidFill>
                  <a:srgbClr val="1B3B6F"/>
                </a:solidFill>
                <a:latin typeface="Calibri" pitchFamily="34" charset="0"/>
                <a:ea typeface="Calibri" pitchFamily="34" charset="-122"/>
                <a:cs typeface="Calibri" pitchFamily="34" charset="-120"/>
              </a:rPr>
              <a:t> describe?</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training frequency</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return time</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rest duration</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linked it to </a:t>
            </a:r>
            <a:pPr algn="l" indent="0" marL="0">
              <a:buNone/>
            </a:pPr>
            <a:r>
              <a:rPr lang="ar-SA" altLang="en-US" sz="1350" dirty="0">
                <a:solidFill>
                  <a:srgbClr val="8A6D1E"/>
                </a:solidFill>
                <a:latin typeface="Amiri" pitchFamily="34" charset="0"/>
                <a:ea typeface="Amiri" pitchFamily="34" charset="-122"/>
                <a:cs typeface="Amiri" pitchFamily="34" charset="-120"/>
              </a:rPr>
              <a:t>التَّمْرِينِ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was Thursday rejected as a training day?</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club is closed</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 stays home that day</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visits Salma</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text says he remains at home.</a:t>
            </a:r>
            <a:endParaRPr lang="en-US" sz="10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Sara do next time?</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write each time beside its event</a:t>
            </a:r>
            <a:endParaRPr lang="en-US" sz="11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translate every word</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choose the last number heard</a:t>
            </a:r>
            <a:endParaRPr lang="en-US" sz="11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Her target is event-linked note-taking.</a:t>
            </a:r>
            <a:endParaRPr lang="en-US" sz="10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skill improved across the log?</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handwriting speed</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person-prefix control</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distractor control</a:t>
            </a:r>
            <a:endParaRPr lang="en-US" sz="12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identifies why plausible details were wrong.</a:t>
            </a:r>
            <a:endParaRPr lang="en-US" sz="10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50</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Arabic listening-detail challenge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Listen-style extract:</a:t>
            </a:r>
            <a:endParaRPr lang="en-US" sz="1200" dirty="0"/>
          </a:p>
        </p:txBody>
      </p:sp>
      <p:sp>
        <p:nvSpPr>
          <p:cNvPr id="21" name="Text 18"/>
          <p:cNvSpPr txBox="1"/>
          <p:nvPr/>
        </p:nvSpPr>
        <p:spPr>
          <a:xfrm>
            <a:off x="2406701" y="1883664"/>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أَسْتَيْقِظُ فِي السَّادِسَةِ، وَلٰكِنَّ الحَافِلَةَ تَصِلُ فِي السَّابِعَةِ</a:t>
            </a:r>
            <a:pPr algn="l" indent="0" marL="0">
              <a:buNone/>
            </a:pPr>
            <a:r>
              <a:rPr lang="en-US" sz="1000" b="1" dirty="0">
                <a:solidFill>
                  <a:srgbClr val="1F2A37"/>
                </a:solidFill>
                <a:latin typeface="Calibri" pitchFamily="34" charset="0"/>
                <a:ea typeface="Calibri" pitchFamily="34" charset="-122"/>
                <a:cs typeface="Calibri" pitchFamily="34" charset="-120"/>
              </a:rPr>
              <a:t>. When does the speaker wake up?</a:t>
            </a:r>
            <a:endParaRPr lang="en-US" sz="10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7:00</a:t>
            </a:r>
            <a:endParaRPr lang="en-US" sz="12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6:00</a:t>
            </a:r>
            <a:endParaRPr lang="en-US" sz="12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6:30</a:t>
            </a:r>
            <a:endParaRPr lang="en-US" sz="12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Listen-style extract:</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كُنْتُ أَذْهَبُ مَشْيًا، وَلٰكِنَّنِي الآنَ أَذْهَبُ بِالحَافِلَةِ</a:t>
            </a:r>
            <a:pPr algn="l" indent="0" marL="0">
              <a:buNone/>
            </a:pPr>
            <a:r>
              <a:rPr lang="en-US" sz="1000" b="1" dirty="0">
                <a:solidFill>
                  <a:srgbClr val="1F2A37"/>
                </a:solidFill>
                <a:latin typeface="Calibri" pitchFamily="34" charset="0"/>
                <a:ea typeface="Calibri" pitchFamily="34" charset="-122"/>
                <a:cs typeface="Calibri" pitchFamily="34" charset="-120"/>
              </a:rPr>
              <a:t>. How does the speaker travel now?</a:t>
            </a:r>
            <a:endParaRPr lang="en-US" sz="1000" dirty="0"/>
          </a:p>
        </p:txBody>
      </p:sp>
      <p:sp>
        <p:nvSpPr>
          <p:cNvPr id="36" name="Shape 33"/>
          <p:cNvSpPr/>
          <p:nvPr/>
        </p:nvSpPr>
        <p:spPr>
          <a:xfrm>
            <a:off x="4459224" y="25328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بِالحَافِلَةِ</a:t>
            </a:r>
            <a:endParaRPr lang="ar-SA" sz="2050" dirty="0"/>
          </a:p>
        </p:txBody>
      </p:sp>
      <p:sp>
        <p:nvSpPr>
          <p:cNvPr id="39" name="Shape 36"/>
          <p:cNvSpPr/>
          <p:nvPr/>
        </p:nvSpPr>
        <p:spPr>
          <a:xfrm>
            <a:off x="4459224" y="29900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مَشْيًا</a:t>
            </a:r>
            <a:endParaRPr lang="ar-SA" sz="2050" dirty="0"/>
          </a:p>
        </p:txBody>
      </p:sp>
      <p:sp>
        <p:nvSpPr>
          <p:cNvPr id="42" name="Shape 39"/>
          <p:cNvSpPr/>
          <p:nvPr/>
        </p:nvSpPr>
        <p:spPr>
          <a:xfrm>
            <a:off x="4459224" y="34472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بِالقِطَارِ</a:t>
            </a:r>
            <a:endParaRPr lang="ar-SA" sz="2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Listen-style extract:</a:t>
            </a:r>
            <a:endParaRPr lang="en-US" sz="1200" dirty="0"/>
          </a:p>
        </p:txBody>
      </p:sp>
      <p:sp>
        <p:nvSpPr>
          <p:cNvPr id="49" name="Text 46"/>
          <p:cNvSpPr txBox="1"/>
          <p:nvPr/>
        </p:nvSpPr>
        <p:spPr>
          <a:xfrm>
            <a:off x="10044989" y="1883664"/>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أَتَمَرَّنُ كُلَّ يَوْمٍ مَا عَدَا يَوْمَ الجُمُعَةِ</a:t>
            </a:r>
            <a:pPr algn="l" indent="0" marL="0">
              <a:buNone/>
            </a:pPr>
            <a:r>
              <a:rPr lang="en-US" sz="1000" b="1" dirty="0">
                <a:solidFill>
                  <a:srgbClr val="1F2A37"/>
                </a:solidFill>
                <a:latin typeface="Calibri" pitchFamily="34" charset="0"/>
                <a:ea typeface="Calibri" pitchFamily="34" charset="-122"/>
                <a:cs typeface="Calibri" pitchFamily="34" charset="-120"/>
              </a:rPr>
              <a:t>. Which statement is correct?</a:t>
            </a:r>
            <a:endParaRPr lang="en-US" sz="1000" dirty="0"/>
          </a:p>
        </p:txBody>
      </p:sp>
      <p:sp>
        <p:nvSpPr>
          <p:cNvPr id="50" name="Shape 47"/>
          <p:cNvSpPr/>
          <p:nvPr/>
        </p:nvSpPr>
        <p:spPr>
          <a:xfrm>
            <a:off x="8278368" y="25328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speaker exercises on Friday.</a:t>
            </a:r>
            <a:endParaRPr lang="en-US" sz="1250" dirty="0"/>
          </a:p>
        </p:txBody>
      </p:sp>
      <p:sp>
        <p:nvSpPr>
          <p:cNvPr id="53" name="Shape 50"/>
          <p:cNvSpPr/>
          <p:nvPr/>
        </p:nvSpPr>
        <p:spPr>
          <a:xfrm>
            <a:off x="8278368" y="29900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speaker never exercises.</a:t>
            </a:r>
            <a:endParaRPr lang="en-US" sz="1250" dirty="0"/>
          </a:p>
        </p:txBody>
      </p:sp>
      <p:sp>
        <p:nvSpPr>
          <p:cNvPr id="56" name="Shape 53"/>
          <p:cNvSpPr/>
          <p:nvPr/>
        </p:nvSpPr>
        <p:spPr>
          <a:xfrm>
            <a:off x="8278368" y="3447288"/>
            <a:ext cx="256032" cy="256032"/>
          </a:xfrm>
          <a:prstGeom prst="ellipse">
            <a:avLst/>
          </a:prstGeom>
          <a:solidFill>
            <a:srgbClr val="F4F1EA"/>
          </a:solidFill>
          <a:ln w="12700">
            <a:solidFill>
              <a:srgbClr val="F4F1EA"/>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speaker does not exercise on Friday.</a:t>
            </a:r>
            <a:endParaRPr lang="en-US" sz="1250" dirty="0"/>
          </a:p>
        </p:txBody>
      </p:sp>
      <p:sp>
        <p:nvSpPr>
          <p:cNvPr id="59" name="Shape 56"/>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0" name="Shape 57"/>
          <p:cNvSpPr/>
          <p:nvPr/>
        </p:nvSpPr>
        <p:spPr>
          <a:xfrm>
            <a:off x="585216" y="4288536"/>
            <a:ext cx="310896" cy="310896"/>
          </a:xfrm>
          <a:prstGeom prst="ellipse">
            <a:avLst/>
          </a:prstGeom>
          <a:solidFill>
            <a:srgbClr val="1B3B6F"/>
          </a:solidFill>
          <a:ln w="12700">
            <a:solidFill>
              <a:srgbClr val="1B3B6F"/>
            </a:solidFill>
            <a:prstDash val="solid"/>
          </a:ln>
        </p:spPr>
      </p:sp>
      <p:sp>
        <p:nvSpPr>
          <p:cNvPr id="61" name="Text 5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2" name="Text 59"/>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Listen-style extract:</a:t>
            </a:r>
            <a:endParaRPr lang="en-US" sz="1200" dirty="0"/>
          </a:p>
        </p:txBody>
      </p:sp>
      <p:sp>
        <p:nvSpPr>
          <p:cNvPr id="63" name="Text 60"/>
          <p:cNvSpPr txBox="1"/>
          <p:nvPr/>
        </p:nvSpPr>
        <p:spPr>
          <a:xfrm>
            <a:off x="2406701"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تَسْتَيْقِظُ مَرْيَمُ فِي السَّادِسَةِ وَالنِّصْفِ، أَمَّا أَخُوهَا فَيَسْتَيْقِظُ فِي السَّابِعَةِ</a:t>
            </a:r>
            <a:pPr algn="l" indent="0" marL="0">
              <a:buNone/>
            </a:pPr>
            <a:r>
              <a:rPr lang="en-US" sz="1000" b="1" dirty="0">
                <a:solidFill>
                  <a:srgbClr val="1F2A37"/>
                </a:solidFill>
                <a:latin typeface="Calibri" pitchFamily="34" charset="0"/>
                <a:ea typeface="Calibri" pitchFamily="34" charset="-122"/>
                <a:cs typeface="Calibri" pitchFamily="34" charset="-120"/>
              </a:rPr>
              <a:t>. Who wakes at 7:00?</a:t>
            </a:r>
            <a:endParaRPr lang="en-US" sz="1000" dirty="0"/>
          </a:p>
        </p:txBody>
      </p:sp>
      <p:sp>
        <p:nvSpPr>
          <p:cNvPr id="64" name="Shape 61"/>
          <p:cNvSpPr/>
          <p:nvPr/>
        </p:nvSpPr>
        <p:spPr>
          <a:xfrm>
            <a:off x="640080" y="48737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مَرْيَمُ</a:t>
            </a:r>
            <a:endParaRPr lang="ar-SA" sz="2050" dirty="0"/>
          </a:p>
        </p:txBody>
      </p:sp>
      <p:sp>
        <p:nvSpPr>
          <p:cNvPr id="67" name="Shape 64"/>
          <p:cNvSpPr/>
          <p:nvPr/>
        </p:nvSpPr>
        <p:spPr>
          <a:xfrm>
            <a:off x="640080" y="53309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كِلَاهُمَا</a:t>
            </a:r>
            <a:endParaRPr lang="ar-SA" sz="2050" dirty="0"/>
          </a:p>
        </p:txBody>
      </p:sp>
      <p:sp>
        <p:nvSpPr>
          <p:cNvPr id="70" name="Shape 67"/>
          <p:cNvSpPr/>
          <p:nvPr/>
        </p:nvSpPr>
        <p:spPr>
          <a:xfrm>
            <a:off x="640080" y="5788152"/>
            <a:ext cx="256032" cy="256032"/>
          </a:xfrm>
          <a:prstGeom prst="ellipse">
            <a:avLst/>
          </a:prstGeom>
          <a:solidFill>
            <a:srgbClr val="F4F1EA"/>
          </a:solidFill>
          <a:ln w="12700">
            <a:solidFill>
              <a:srgbClr val="F4F1EA"/>
            </a:solidFill>
            <a:prstDash val="solid"/>
          </a:ln>
        </p:spPr>
      </p:sp>
      <p:sp>
        <p:nvSpPr>
          <p:cNvPr id="71" name="Text 68"/>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2" name="Text 69"/>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أَخُوهَا</a:t>
            </a:r>
            <a:endParaRPr lang="ar-SA" sz="2050" dirty="0"/>
          </a:p>
        </p:txBody>
      </p:sp>
      <p:sp>
        <p:nvSpPr>
          <p:cNvPr id="73" name="Shape 70"/>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4" name="Shape 71"/>
          <p:cNvSpPr/>
          <p:nvPr/>
        </p:nvSpPr>
        <p:spPr>
          <a:xfrm>
            <a:off x="4404360" y="4288536"/>
            <a:ext cx="310896" cy="310896"/>
          </a:xfrm>
          <a:prstGeom prst="ellipse">
            <a:avLst/>
          </a:prstGeom>
          <a:solidFill>
            <a:srgbClr val="1B3B6F"/>
          </a:solidFill>
          <a:ln w="12700">
            <a:solidFill>
              <a:srgbClr val="1B3B6F"/>
            </a:solidFill>
            <a:prstDash val="solid"/>
          </a:ln>
        </p:spPr>
      </p:sp>
      <p:sp>
        <p:nvSpPr>
          <p:cNvPr id="75" name="Text 72"/>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6" name="Text 73"/>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Listen-style extract:</a:t>
            </a:r>
            <a:endParaRPr lang="en-US" sz="1200" dirty="0"/>
          </a:p>
        </p:txBody>
      </p:sp>
      <p:sp>
        <p:nvSpPr>
          <p:cNvPr id="77" name="Text 74"/>
          <p:cNvSpPr txBox="1"/>
          <p:nvPr/>
        </p:nvSpPr>
        <p:spPr>
          <a:xfrm>
            <a:off x="6225845"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بَعْدَ الدِّرَاسَةِ أَكُونُ مُرْهَقًا، لِذٰلِكَ أَسْتَرِيحُ قَلِيلًا</a:t>
            </a:r>
            <a:pPr algn="l" indent="0" marL="0">
              <a:buNone/>
            </a:pPr>
            <a:r>
              <a:rPr lang="en-US" sz="1000" b="1" dirty="0">
                <a:solidFill>
                  <a:srgbClr val="1F2A37"/>
                </a:solidFill>
                <a:latin typeface="Calibri" pitchFamily="34" charset="0"/>
                <a:ea typeface="Calibri" pitchFamily="34" charset="-122"/>
                <a:cs typeface="Calibri" pitchFamily="34" charset="-120"/>
              </a:rPr>
              <a:t>. What does </a:t>
            </a:r>
            <a:pPr algn="l" indent="0" marL="0">
              <a:buNone/>
            </a:pPr>
            <a:r>
              <a:rPr lang="ar-SA" altLang="en-US" sz="1300" b="1" dirty="0">
                <a:solidFill>
                  <a:srgbClr val="1F2A37"/>
                </a:solidFill>
                <a:latin typeface="Amiri" pitchFamily="34" charset="0"/>
                <a:ea typeface="Amiri" pitchFamily="34" charset="-122"/>
                <a:cs typeface="Amiri" pitchFamily="34" charset="-120"/>
              </a:rPr>
              <a:t>مُرْهَقًا</a:t>
            </a:r>
            <a:pPr algn="l" indent="0" marL="0">
              <a:buNone/>
            </a:pPr>
            <a:r>
              <a:rPr lang="en-US" sz="1000" b="1" dirty="0">
                <a:solidFill>
                  <a:srgbClr val="1F2A37"/>
                </a:solidFill>
                <a:latin typeface="Calibri" pitchFamily="34" charset="0"/>
                <a:ea typeface="Calibri" pitchFamily="34" charset="-122"/>
                <a:cs typeface="Calibri" pitchFamily="34" charset="-120"/>
              </a:rPr>
              <a:t> mean here?</a:t>
            </a:r>
            <a:endParaRPr lang="en-US" sz="1000" dirty="0"/>
          </a:p>
        </p:txBody>
      </p:sp>
      <p:sp>
        <p:nvSpPr>
          <p:cNvPr id="78" name="Shape 75"/>
          <p:cNvSpPr/>
          <p:nvPr/>
        </p:nvSpPr>
        <p:spPr>
          <a:xfrm>
            <a:off x="4459224" y="48737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0" name="Text 77"/>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exhausted</a:t>
            </a:r>
            <a:endParaRPr lang="en-US" sz="1250" dirty="0"/>
          </a:p>
        </p:txBody>
      </p:sp>
      <p:sp>
        <p:nvSpPr>
          <p:cNvPr id="81" name="Shape 78"/>
          <p:cNvSpPr/>
          <p:nvPr/>
        </p:nvSpPr>
        <p:spPr>
          <a:xfrm>
            <a:off x="4459224" y="5330952"/>
            <a:ext cx="256032" cy="256032"/>
          </a:xfrm>
          <a:prstGeom prst="ellipse">
            <a:avLst/>
          </a:prstGeom>
          <a:solidFill>
            <a:srgbClr val="F4F1EA"/>
          </a:solidFill>
          <a:ln w="12700">
            <a:solidFill>
              <a:srgbClr val="F4F1EA"/>
            </a:solidFill>
            <a:prstDash val="solid"/>
          </a:ln>
        </p:spPr>
      </p:sp>
      <p:sp>
        <p:nvSpPr>
          <p:cNvPr id="82" name="Text 79"/>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3" name="Text 80"/>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energetic</a:t>
            </a:r>
            <a:endParaRPr lang="en-US" sz="1250" dirty="0"/>
          </a:p>
        </p:txBody>
      </p:sp>
      <p:sp>
        <p:nvSpPr>
          <p:cNvPr id="84" name="Shape 81"/>
          <p:cNvSpPr/>
          <p:nvPr/>
        </p:nvSpPr>
        <p:spPr>
          <a:xfrm>
            <a:off x="4459224" y="57881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6" name="Text 83"/>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punctual</a:t>
            </a:r>
            <a:endParaRPr lang="en-US" sz="1250" dirty="0"/>
          </a:p>
        </p:txBody>
      </p:sp>
      <p:sp>
        <p:nvSpPr>
          <p:cNvPr id="87" name="Shape 84"/>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8" name="Shape 85"/>
          <p:cNvSpPr/>
          <p:nvPr/>
        </p:nvSpPr>
        <p:spPr>
          <a:xfrm>
            <a:off x="8223504" y="4288536"/>
            <a:ext cx="310896" cy="310896"/>
          </a:xfrm>
          <a:prstGeom prst="ellipse">
            <a:avLst/>
          </a:prstGeom>
          <a:solidFill>
            <a:srgbClr val="1B3B6F"/>
          </a:solidFill>
          <a:ln w="12700">
            <a:solidFill>
              <a:srgbClr val="1B3B6F"/>
            </a:solidFill>
            <a:prstDash val="solid"/>
          </a:ln>
        </p:spPr>
      </p:sp>
      <p:sp>
        <p:nvSpPr>
          <p:cNvPr id="89" name="Text 86"/>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0" name="Text 87"/>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Listen-style extract:</a:t>
            </a:r>
            <a:endParaRPr lang="en-US" sz="1200" dirty="0"/>
          </a:p>
        </p:txBody>
      </p:sp>
      <p:sp>
        <p:nvSpPr>
          <p:cNvPr id="91" name="Text 88"/>
          <p:cNvSpPr txBox="1"/>
          <p:nvPr/>
        </p:nvSpPr>
        <p:spPr>
          <a:xfrm>
            <a:off x="10044989"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اِقْتَرَحَتْ سَلْمَى السَّادِسَةَ، وَاقْتَرَحَ عَلِيٌّ السَّابِعَةَ، ثُمَّ اِتَّفَقَا عَلَى السَّادِسَةِ وَالنِّصْفِ</a:t>
            </a:r>
            <a:pPr algn="l" indent="0" marL="0">
              <a:buNone/>
            </a:pPr>
            <a:r>
              <a:rPr lang="en-US" sz="1000" b="1" dirty="0">
                <a:solidFill>
                  <a:srgbClr val="1F2A37"/>
                </a:solidFill>
                <a:latin typeface="Calibri" pitchFamily="34" charset="0"/>
                <a:ea typeface="Calibri" pitchFamily="34" charset="-122"/>
                <a:cs typeface="Calibri" pitchFamily="34" charset="-120"/>
              </a:rPr>
              <a:t>. What time did they finally agree on?</a:t>
            </a:r>
            <a:endParaRPr lang="en-US" sz="1000" dirty="0"/>
          </a:p>
        </p:txBody>
      </p:sp>
      <p:sp>
        <p:nvSpPr>
          <p:cNvPr id="92" name="Shape 89"/>
          <p:cNvSpPr/>
          <p:nvPr/>
        </p:nvSpPr>
        <p:spPr>
          <a:xfrm>
            <a:off x="8278368" y="48737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4" name="Text 91"/>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6:00</a:t>
            </a:r>
            <a:endParaRPr lang="en-US" sz="1250" dirty="0"/>
          </a:p>
        </p:txBody>
      </p:sp>
      <p:sp>
        <p:nvSpPr>
          <p:cNvPr id="95" name="Shape 92"/>
          <p:cNvSpPr/>
          <p:nvPr/>
        </p:nvSpPr>
        <p:spPr>
          <a:xfrm>
            <a:off x="8278368" y="5330952"/>
            <a:ext cx="256032" cy="256032"/>
          </a:xfrm>
          <a:prstGeom prst="ellipse">
            <a:avLst/>
          </a:prstGeom>
          <a:solidFill>
            <a:srgbClr val="F4F1EA"/>
          </a:solidFill>
          <a:ln w="12700">
            <a:solidFill>
              <a:srgbClr val="F4F1EA"/>
            </a:solidFill>
            <a:prstDash val="solid"/>
          </a:ln>
        </p:spPr>
      </p:sp>
      <p:sp>
        <p:nvSpPr>
          <p:cNvPr id="96" name="Text 93"/>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7" name="Text 94"/>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6:30</a:t>
            </a:r>
            <a:endParaRPr lang="en-US" sz="1250" dirty="0"/>
          </a:p>
        </p:txBody>
      </p:sp>
      <p:sp>
        <p:nvSpPr>
          <p:cNvPr id="98" name="Shape 95"/>
          <p:cNvSpPr/>
          <p:nvPr/>
        </p:nvSpPr>
        <p:spPr>
          <a:xfrm>
            <a:off x="8278368" y="5788152"/>
            <a:ext cx="256032" cy="256032"/>
          </a:xfrm>
          <a:prstGeom prst="ellipse">
            <a:avLst/>
          </a:prstGeom>
          <a:solidFill>
            <a:srgbClr val="F4F1EA"/>
          </a:solidFill>
          <a:ln w="12700">
            <a:solidFill>
              <a:srgbClr val="F4F1EA"/>
            </a:solidFill>
            <a:prstDash val="solid"/>
          </a:ln>
        </p:spPr>
      </p:sp>
      <p:sp>
        <p:nvSpPr>
          <p:cNvPr id="99" name="Text 96"/>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0" name="Text 97"/>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7:00</a:t>
            </a:r>
            <a:endParaRPr lang="en-US" sz="1250" dirty="0"/>
          </a:p>
        </p:txBody>
      </p:sp>
      <p:sp>
        <p:nvSpPr>
          <p:cNvPr id="101" name="Text 9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47 / 50</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Listen-style extract:</a:t>
            </a:r>
            <a:endParaRPr lang="en-US" sz="1200" dirty="0"/>
          </a:p>
        </p:txBody>
      </p:sp>
      <p:sp>
        <p:nvSpPr>
          <p:cNvPr id="20" name="Text 18"/>
          <p:cNvSpPr txBox="1"/>
          <p:nvPr/>
        </p:nvSpPr>
        <p:spPr>
          <a:xfrm>
            <a:off x="2406701" y="1883664"/>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أَسْتَيْقِظُ فِي السَّادِسَةِ، وَلٰكِنَّ الحَافِلَةَ تَصِلُ فِي السَّابِعَةِ</a:t>
            </a:r>
            <a:pPr algn="l" indent="0" marL="0">
              <a:buNone/>
            </a:pPr>
            <a:r>
              <a:rPr lang="en-US" sz="1000" b="1" dirty="0">
                <a:solidFill>
                  <a:srgbClr val="1F2A37"/>
                </a:solidFill>
                <a:latin typeface="Calibri" pitchFamily="34" charset="0"/>
                <a:ea typeface="Calibri" pitchFamily="34" charset="-122"/>
                <a:cs typeface="Calibri" pitchFamily="34" charset="-120"/>
              </a:rPr>
              <a:t>. When does the speaker wake up?</a:t>
            </a:r>
            <a:endParaRPr lang="en-US" sz="1000" dirty="0"/>
          </a:p>
        </p:txBody>
      </p:sp>
      <p:sp>
        <p:nvSpPr>
          <p:cNvPr id="21"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1"/>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7:00</a:t>
            </a:r>
            <a:endParaRPr lang="en-US" sz="1250" dirty="0"/>
          </a:p>
        </p:txBody>
      </p:sp>
      <p:sp>
        <p:nvSpPr>
          <p:cNvPr id="24" name="Shape 22"/>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3"/>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4"/>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5"/>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6:00</a:t>
            </a:r>
            <a:endParaRPr lang="en-US" sz="1250" dirty="0"/>
          </a:p>
        </p:txBody>
      </p:sp>
      <p:sp>
        <p:nvSpPr>
          <p:cNvPr id="28" name="Shape 26"/>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8"/>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6:30</a:t>
            </a:r>
            <a:endParaRPr lang="en-US" sz="1250" dirty="0"/>
          </a:p>
        </p:txBody>
      </p:sp>
      <p:sp>
        <p:nvSpPr>
          <p:cNvPr id="31" name="Text 29"/>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Link the requested action </a:t>
            </a:r>
            <a:pPr algn="l" indent="0" marL="0">
              <a:buNone/>
            </a:pPr>
            <a:r>
              <a:rPr lang="ar-SA" altLang="en-US" sz="1350" dirty="0">
                <a:solidFill>
                  <a:srgbClr val="8A6D1E"/>
                </a:solidFill>
                <a:latin typeface="Amiri" pitchFamily="34" charset="0"/>
                <a:ea typeface="Amiri" pitchFamily="34" charset="-122"/>
                <a:cs typeface="Amiri" pitchFamily="34" charset="-120"/>
              </a:rPr>
              <a:t>أَسْتَيْقِظُ</a:t>
            </a:r>
            <a:pPr algn="l" indent="0" marL="0">
              <a:buNone/>
            </a:pPr>
            <a:r>
              <a:rPr lang="en-US" sz="1050" i="1" dirty="0">
                <a:solidFill>
                  <a:srgbClr val="8A6D1E"/>
                </a:solidFill>
                <a:latin typeface="Calibri" pitchFamily="34" charset="0"/>
                <a:ea typeface="Calibri" pitchFamily="34" charset="-122"/>
                <a:cs typeface="Calibri" pitchFamily="34" charset="-120"/>
              </a:rPr>
              <a:t> to its own time and ignore the later bus time.</a:t>
            </a:r>
            <a:endParaRPr lang="en-US" sz="1050" dirty="0"/>
          </a:p>
        </p:txBody>
      </p:sp>
      <p:sp>
        <p:nvSpPr>
          <p:cNvPr id="32" name="Shape 30"/>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1"/>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2"/>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3"/>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Listen-style extract:</a:t>
            </a:r>
            <a:endParaRPr lang="en-US" sz="1200" dirty="0"/>
          </a:p>
        </p:txBody>
      </p:sp>
      <p:sp>
        <p:nvSpPr>
          <p:cNvPr id="36" name="Text 34"/>
          <p:cNvSpPr txBox="1"/>
          <p:nvPr/>
        </p:nvSpPr>
        <p:spPr>
          <a:xfrm>
            <a:off x="6225845" y="1883664"/>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كُنْتُ أَذْهَبُ مَشْيًا، وَلٰكِنَّنِي الآنَ أَذْهَبُ بِالحَافِلَةِ</a:t>
            </a:r>
            <a:pPr algn="l" indent="0" marL="0">
              <a:buNone/>
            </a:pPr>
            <a:r>
              <a:rPr lang="en-US" sz="1000" b="1" dirty="0">
                <a:solidFill>
                  <a:srgbClr val="1F2A37"/>
                </a:solidFill>
                <a:latin typeface="Calibri" pitchFamily="34" charset="0"/>
                <a:ea typeface="Calibri" pitchFamily="34" charset="-122"/>
                <a:cs typeface="Calibri" pitchFamily="34" charset="-120"/>
              </a:rPr>
              <a:t>. How does the speaker travel now?</a:t>
            </a:r>
            <a:endParaRPr lang="en-US" sz="1000" dirty="0"/>
          </a:p>
        </p:txBody>
      </p:sp>
      <p:sp>
        <p:nvSpPr>
          <p:cNvPr id="37" name="Shape 35"/>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8" name="Shape 36"/>
          <p:cNvSpPr/>
          <p:nvPr/>
        </p:nvSpPr>
        <p:spPr>
          <a:xfrm>
            <a:off x="4459224" y="2490216"/>
            <a:ext cx="256032" cy="256032"/>
          </a:xfrm>
          <a:prstGeom prst="ellipse">
            <a:avLst/>
          </a:prstGeom>
          <a:solidFill>
            <a:srgbClr val="2E8B57"/>
          </a:solidFill>
          <a:ln w="12700">
            <a:solidFill>
              <a:srgbClr val="2E8B57"/>
            </a:solidFill>
            <a:prstDash val="solid"/>
          </a:ln>
        </p:spPr>
      </p:sp>
      <p:sp>
        <p:nvSpPr>
          <p:cNvPr id="39" name="Text 37"/>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40" name="Text 38"/>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بِالحَافِلَةِ</a:t>
            </a:r>
            <a:endParaRPr lang="ar-SA" sz="1700" dirty="0"/>
          </a:p>
        </p:txBody>
      </p:sp>
      <p:sp>
        <p:nvSpPr>
          <p:cNvPr id="41" name="Shape 39"/>
          <p:cNvSpPr/>
          <p:nvPr/>
        </p:nvSpPr>
        <p:spPr>
          <a:xfrm>
            <a:off x="4459224" y="2862072"/>
            <a:ext cx="256032" cy="256032"/>
          </a:xfrm>
          <a:prstGeom prst="ellipse">
            <a:avLst/>
          </a:prstGeom>
          <a:solidFill>
            <a:srgbClr val="C9CED6"/>
          </a:solidFill>
          <a:ln w="12700">
            <a:solidFill>
              <a:srgbClr val="C9CED6"/>
            </a:solidFill>
            <a:prstDash val="solid"/>
          </a:ln>
        </p:spPr>
      </p:sp>
      <p:sp>
        <p:nvSpPr>
          <p:cNvPr id="42" name="Text 40"/>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3" name="Text 41"/>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مَشْيًا</a:t>
            </a:r>
            <a:endParaRPr lang="ar-SA" sz="1700" dirty="0"/>
          </a:p>
        </p:txBody>
      </p:sp>
      <p:sp>
        <p:nvSpPr>
          <p:cNvPr id="44" name="Shape 42"/>
          <p:cNvSpPr/>
          <p:nvPr/>
        </p:nvSpPr>
        <p:spPr>
          <a:xfrm>
            <a:off x="4459224" y="3233928"/>
            <a:ext cx="256032" cy="256032"/>
          </a:xfrm>
          <a:prstGeom prst="ellipse">
            <a:avLst/>
          </a:prstGeom>
          <a:solidFill>
            <a:srgbClr val="C9CED6"/>
          </a:solidFill>
          <a:ln w="12700">
            <a:solidFill>
              <a:srgbClr val="C9CED6"/>
            </a:solidFill>
            <a:prstDash val="solid"/>
          </a:ln>
        </p:spPr>
      </p:sp>
      <p:sp>
        <p:nvSpPr>
          <p:cNvPr id="45" name="Text 43"/>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4"/>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بِالقِطَارِ</a:t>
            </a:r>
            <a:endParaRPr lang="ar-SA" sz="1700" dirty="0"/>
          </a:p>
        </p:txBody>
      </p:sp>
      <p:sp>
        <p:nvSpPr>
          <p:cNvPr id="47" name="Text 45"/>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contrast marker </a:t>
            </a:r>
            <a:pPr algn="l" indent="0" marL="0">
              <a:buNone/>
            </a:pPr>
            <a:r>
              <a:rPr lang="ar-SA" altLang="en-US" sz="1350" dirty="0">
                <a:solidFill>
                  <a:srgbClr val="8A6D1E"/>
                </a:solidFill>
                <a:latin typeface="Amiri" pitchFamily="34" charset="0"/>
                <a:ea typeface="Amiri" pitchFamily="34" charset="-122"/>
                <a:cs typeface="Amiri" pitchFamily="34" charset="-120"/>
              </a:rPr>
              <a:t>وَلٰكِنَّنِي الآنَ</a:t>
            </a:r>
            <a:pPr algn="l" indent="0" marL="0">
              <a:buNone/>
            </a:pPr>
            <a:r>
              <a:rPr lang="en-US" sz="1050" i="1" dirty="0">
                <a:solidFill>
                  <a:srgbClr val="8A6D1E"/>
                </a:solidFill>
                <a:latin typeface="Calibri" pitchFamily="34" charset="0"/>
                <a:ea typeface="Calibri" pitchFamily="34" charset="-122"/>
                <a:cs typeface="Calibri" pitchFamily="34" charset="-120"/>
              </a:rPr>
              <a:t> introduces the current situation.</a:t>
            </a:r>
            <a:endParaRPr lang="en-US" sz="1050" dirty="0"/>
          </a:p>
        </p:txBody>
      </p:sp>
      <p:sp>
        <p:nvSpPr>
          <p:cNvPr id="48" name="Shape 46"/>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7"/>
          <p:cNvSpPr/>
          <p:nvPr/>
        </p:nvSpPr>
        <p:spPr>
          <a:xfrm>
            <a:off x="8223504" y="1947672"/>
            <a:ext cx="310896" cy="310896"/>
          </a:xfrm>
          <a:prstGeom prst="ellipse">
            <a:avLst/>
          </a:prstGeom>
          <a:solidFill>
            <a:srgbClr val="1B3B6F"/>
          </a:solidFill>
          <a:ln w="12700">
            <a:solidFill>
              <a:srgbClr val="1B3B6F"/>
            </a:solidFill>
            <a:prstDash val="solid"/>
          </a:ln>
        </p:spPr>
      </p:sp>
      <p:sp>
        <p:nvSpPr>
          <p:cNvPr id="50" name="Text 48"/>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1" name="Text 49"/>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Listen-style extract:</a:t>
            </a:r>
            <a:endParaRPr lang="en-US" sz="1200" dirty="0"/>
          </a:p>
        </p:txBody>
      </p:sp>
      <p:sp>
        <p:nvSpPr>
          <p:cNvPr id="52" name="Text 50"/>
          <p:cNvSpPr txBox="1"/>
          <p:nvPr/>
        </p:nvSpPr>
        <p:spPr>
          <a:xfrm>
            <a:off x="10044989" y="1883664"/>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أَتَمَرَّنُ كُلَّ يَوْمٍ مَا عَدَا يَوْمَ الجُمُعَةِ</a:t>
            </a:r>
            <a:pPr algn="l" indent="0" marL="0">
              <a:buNone/>
            </a:pPr>
            <a:r>
              <a:rPr lang="en-US" sz="1000" b="1" dirty="0">
                <a:solidFill>
                  <a:srgbClr val="1F2A37"/>
                </a:solidFill>
                <a:latin typeface="Calibri" pitchFamily="34" charset="0"/>
                <a:ea typeface="Calibri" pitchFamily="34" charset="-122"/>
                <a:cs typeface="Calibri" pitchFamily="34" charset="-120"/>
              </a:rPr>
              <a:t>. Which statement is correct?</a:t>
            </a:r>
            <a:endParaRPr lang="en-US" sz="1000" dirty="0"/>
          </a:p>
        </p:txBody>
      </p:sp>
      <p:sp>
        <p:nvSpPr>
          <p:cNvPr id="53" name="Shape 51"/>
          <p:cNvSpPr/>
          <p:nvPr/>
        </p:nvSpPr>
        <p:spPr>
          <a:xfrm>
            <a:off x="8278368" y="2490216"/>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5" name="Text 53"/>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speaker exercises on Friday.</a:t>
            </a:r>
            <a:endParaRPr lang="en-US" sz="1250" dirty="0"/>
          </a:p>
        </p:txBody>
      </p:sp>
      <p:sp>
        <p:nvSpPr>
          <p:cNvPr id="56" name="Shape 54"/>
          <p:cNvSpPr/>
          <p:nvPr/>
        </p:nvSpPr>
        <p:spPr>
          <a:xfrm>
            <a:off x="8278368" y="2862072"/>
            <a:ext cx="256032" cy="256032"/>
          </a:xfrm>
          <a:prstGeom prst="ellipse">
            <a:avLst/>
          </a:prstGeom>
          <a:solidFill>
            <a:srgbClr val="C9CED6"/>
          </a:solidFill>
          <a:ln w="12700">
            <a:solidFill>
              <a:srgbClr val="C9CED6"/>
            </a:solidFill>
            <a:prstDash val="solid"/>
          </a:ln>
        </p:spPr>
      </p:sp>
      <p:sp>
        <p:nvSpPr>
          <p:cNvPr id="57" name="Text 55"/>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8" name="Text 56"/>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speaker never exercises.</a:t>
            </a:r>
            <a:endParaRPr lang="en-US" sz="1250" dirty="0"/>
          </a:p>
        </p:txBody>
      </p:sp>
      <p:sp>
        <p:nvSpPr>
          <p:cNvPr id="59" name="Shape 57"/>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60" name="Shape 58"/>
          <p:cNvSpPr/>
          <p:nvPr/>
        </p:nvSpPr>
        <p:spPr>
          <a:xfrm>
            <a:off x="8278368" y="3233928"/>
            <a:ext cx="256032" cy="256032"/>
          </a:xfrm>
          <a:prstGeom prst="ellipse">
            <a:avLst/>
          </a:prstGeom>
          <a:solidFill>
            <a:srgbClr val="2E8B57"/>
          </a:solidFill>
          <a:ln w="12700">
            <a:solidFill>
              <a:srgbClr val="2E8B57"/>
            </a:solidFill>
            <a:prstDash val="solid"/>
          </a:ln>
        </p:spPr>
      </p:sp>
      <p:sp>
        <p:nvSpPr>
          <p:cNvPr id="61" name="Text 59"/>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62" name="Text 60"/>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ea typeface="Calibri" pitchFamily="34" charset="-122"/>
                <a:cs typeface="Calibri" pitchFamily="34" charset="-120"/>
              </a:rPr>
              <a:t>The speaker does not exercise on Friday.</a:t>
            </a:r>
            <a:endParaRPr lang="en-US" sz="1200" dirty="0"/>
          </a:p>
        </p:txBody>
      </p:sp>
      <p:sp>
        <p:nvSpPr>
          <p:cNvPr id="63" name="Text 61"/>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مَا عَدَا</a:t>
            </a:r>
            <a:pPr algn="l" indent="0" marL="0">
              <a:buNone/>
            </a:pPr>
            <a:r>
              <a:rPr lang="en-US" sz="1050" i="1" dirty="0">
                <a:solidFill>
                  <a:srgbClr val="8A6D1E"/>
                </a:solidFill>
                <a:latin typeface="Calibri" pitchFamily="34" charset="0"/>
                <a:ea typeface="Calibri" pitchFamily="34" charset="-122"/>
                <a:cs typeface="Calibri" pitchFamily="34" charset="-120"/>
              </a:rPr>
              <a:t> means “except”; Friday is excluded.</a:t>
            </a:r>
            <a:endParaRPr lang="en-US" sz="1050" dirty="0"/>
          </a:p>
        </p:txBody>
      </p:sp>
      <p:sp>
        <p:nvSpPr>
          <p:cNvPr id="64" name="Shape 6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3"/>
          <p:cNvSpPr/>
          <p:nvPr/>
        </p:nvSpPr>
        <p:spPr>
          <a:xfrm>
            <a:off x="585216" y="4288536"/>
            <a:ext cx="310896" cy="310896"/>
          </a:xfrm>
          <a:prstGeom prst="ellipse">
            <a:avLst/>
          </a:prstGeom>
          <a:solidFill>
            <a:srgbClr val="1B3B6F"/>
          </a:solidFill>
          <a:ln w="12700">
            <a:solidFill>
              <a:srgbClr val="1B3B6F"/>
            </a:solidFill>
            <a:prstDash val="solid"/>
          </a:ln>
        </p:spPr>
      </p:sp>
      <p:sp>
        <p:nvSpPr>
          <p:cNvPr id="66" name="Text 6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7" name="Text 65"/>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Listen-style extract:</a:t>
            </a:r>
            <a:endParaRPr lang="en-US" sz="1200" dirty="0"/>
          </a:p>
        </p:txBody>
      </p:sp>
      <p:sp>
        <p:nvSpPr>
          <p:cNvPr id="68" name="Text 66"/>
          <p:cNvSpPr txBox="1"/>
          <p:nvPr/>
        </p:nvSpPr>
        <p:spPr>
          <a:xfrm>
            <a:off x="2406701"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تَسْتَيْقِظُ مَرْيَمُ فِي السَّادِسَةِ وَالنِّصْفِ، أَمَّا أَخُوهَا فَيَسْتَيْقِظُ فِي السَّابِعَةِ</a:t>
            </a:r>
            <a:pPr algn="l" indent="0" marL="0">
              <a:buNone/>
            </a:pPr>
            <a:r>
              <a:rPr lang="en-US" sz="1000" b="1" dirty="0">
                <a:solidFill>
                  <a:srgbClr val="1F2A37"/>
                </a:solidFill>
                <a:latin typeface="Calibri" pitchFamily="34" charset="0"/>
                <a:ea typeface="Calibri" pitchFamily="34" charset="-122"/>
                <a:cs typeface="Calibri" pitchFamily="34" charset="-120"/>
              </a:rPr>
              <a:t>. Who wakes at 7:00?</a:t>
            </a:r>
            <a:endParaRPr lang="en-US" sz="1000" dirty="0"/>
          </a:p>
        </p:txBody>
      </p:sp>
      <p:sp>
        <p:nvSpPr>
          <p:cNvPr id="69" name="Shape 67"/>
          <p:cNvSpPr/>
          <p:nvPr/>
        </p:nvSpPr>
        <p:spPr>
          <a:xfrm>
            <a:off x="640080" y="4831080"/>
            <a:ext cx="256032" cy="256032"/>
          </a:xfrm>
          <a:prstGeom prst="ellipse">
            <a:avLst/>
          </a:prstGeom>
          <a:solidFill>
            <a:srgbClr val="C9CED6"/>
          </a:solidFill>
          <a:ln w="12700">
            <a:solidFill>
              <a:srgbClr val="C9CED6"/>
            </a:solidFill>
            <a:prstDash val="solid"/>
          </a:ln>
        </p:spPr>
      </p:sp>
      <p:sp>
        <p:nvSpPr>
          <p:cNvPr id="70" name="Text 6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1" name="Text 69"/>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مَرْيَمُ</a:t>
            </a:r>
            <a:endParaRPr lang="ar-SA" sz="1700" dirty="0"/>
          </a:p>
        </p:txBody>
      </p:sp>
      <p:sp>
        <p:nvSpPr>
          <p:cNvPr id="72" name="Shape 70"/>
          <p:cNvSpPr/>
          <p:nvPr/>
        </p:nvSpPr>
        <p:spPr>
          <a:xfrm>
            <a:off x="640080" y="5202936"/>
            <a:ext cx="256032" cy="256032"/>
          </a:xfrm>
          <a:prstGeom prst="ellipse">
            <a:avLst/>
          </a:prstGeom>
          <a:solidFill>
            <a:srgbClr val="C9CED6"/>
          </a:solidFill>
          <a:ln w="12700">
            <a:solidFill>
              <a:srgbClr val="C9CED6"/>
            </a:solidFill>
            <a:prstDash val="solid"/>
          </a:ln>
        </p:spPr>
      </p:sp>
      <p:sp>
        <p:nvSpPr>
          <p:cNvPr id="73" name="Text 7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4" name="Text 72"/>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كِلَاهُمَا</a:t>
            </a:r>
            <a:endParaRPr lang="ar-SA" sz="1700" dirty="0"/>
          </a:p>
        </p:txBody>
      </p:sp>
      <p:sp>
        <p:nvSpPr>
          <p:cNvPr id="75" name="Shape 73"/>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6" name="Shape 74"/>
          <p:cNvSpPr/>
          <p:nvPr/>
        </p:nvSpPr>
        <p:spPr>
          <a:xfrm>
            <a:off x="640080" y="5574792"/>
            <a:ext cx="256032" cy="256032"/>
          </a:xfrm>
          <a:prstGeom prst="ellipse">
            <a:avLst/>
          </a:prstGeom>
          <a:solidFill>
            <a:srgbClr val="2E8B57"/>
          </a:solidFill>
          <a:ln w="12700">
            <a:solidFill>
              <a:srgbClr val="2E8B57"/>
            </a:solidFill>
            <a:prstDash val="solid"/>
          </a:ln>
        </p:spPr>
      </p:sp>
      <p:sp>
        <p:nvSpPr>
          <p:cNvPr id="77" name="Text 7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8" name="Text 76"/>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أَخُوهَا</a:t>
            </a:r>
            <a:endParaRPr lang="ar-SA" sz="1700" dirty="0"/>
          </a:p>
        </p:txBody>
      </p:sp>
      <p:sp>
        <p:nvSpPr>
          <p:cNvPr id="79" name="Text 77"/>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Track the subject after </a:t>
            </a:r>
            <a:pPr algn="l" indent="0" marL="0">
              <a:buNone/>
            </a:pPr>
            <a:r>
              <a:rPr lang="ar-SA" altLang="en-US" sz="1350" dirty="0">
                <a:solidFill>
                  <a:srgbClr val="8A6D1E"/>
                </a:solidFill>
                <a:latin typeface="Amiri" pitchFamily="34" charset="0"/>
                <a:ea typeface="Amiri" pitchFamily="34" charset="-122"/>
                <a:cs typeface="Amiri" pitchFamily="34" charset="-120"/>
              </a:rPr>
              <a:t>أَمَّا</a:t>
            </a:r>
            <a:pPr algn="l" indent="0" marL="0">
              <a:buNone/>
            </a:pPr>
            <a:r>
              <a:rPr lang="en-US" sz="1050" i="1" dirty="0">
                <a:solidFill>
                  <a:srgbClr val="8A6D1E"/>
                </a:solidFill>
                <a:latin typeface="Calibri" pitchFamily="34" charset="0"/>
                <a:ea typeface="Calibri" pitchFamily="34" charset="-122"/>
                <a:cs typeface="Calibri" pitchFamily="34" charset="-120"/>
              </a:rPr>
              <a:t>: the brother wakes at seven.</a:t>
            </a:r>
            <a:endParaRPr lang="en-US" sz="1050" dirty="0"/>
          </a:p>
        </p:txBody>
      </p:sp>
      <p:sp>
        <p:nvSpPr>
          <p:cNvPr id="80" name="Shape 7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9"/>
          <p:cNvSpPr/>
          <p:nvPr/>
        </p:nvSpPr>
        <p:spPr>
          <a:xfrm>
            <a:off x="4404360" y="4288536"/>
            <a:ext cx="310896" cy="310896"/>
          </a:xfrm>
          <a:prstGeom prst="ellipse">
            <a:avLst/>
          </a:prstGeom>
          <a:solidFill>
            <a:srgbClr val="1B3B6F"/>
          </a:solidFill>
          <a:ln w="12700">
            <a:solidFill>
              <a:srgbClr val="1B3B6F"/>
            </a:solidFill>
            <a:prstDash val="solid"/>
          </a:ln>
        </p:spPr>
      </p:sp>
      <p:sp>
        <p:nvSpPr>
          <p:cNvPr id="82" name="Text 8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3" name="Text 81"/>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Listen-style extract:</a:t>
            </a:r>
            <a:endParaRPr lang="en-US" sz="1200" dirty="0"/>
          </a:p>
        </p:txBody>
      </p:sp>
      <p:sp>
        <p:nvSpPr>
          <p:cNvPr id="84" name="Text 82"/>
          <p:cNvSpPr txBox="1"/>
          <p:nvPr/>
        </p:nvSpPr>
        <p:spPr>
          <a:xfrm>
            <a:off x="6225845"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بَعْدَ الدِّرَاسَةِ أَكُونُ مُرْهَقًا، لِذٰلِكَ أَسْتَرِيحُ قَلِيلًا</a:t>
            </a:r>
            <a:pPr algn="l" indent="0" marL="0">
              <a:buNone/>
            </a:pPr>
            <a:r>
              <a:rPr lang="en-US" sz="1000" b="1" dirty="0">
                <a:solidFill>
                  <a:srgbClr val="1F2A37"/>
                </a:solidFill>
                <a:latin typeface="Calibri" pitchFamily="34" charset="0"/>
                <a:ea typeface="Calibri" pitchFamily="34" charset="-122"/>
                <a:cs typeface="Calibri" pitchFamily="34" charset="-120"/>
              </a:rPr>
              <a:t>. What does </a:t>
            </a:r>
            <a:pPr algn="l" indent="0" marL="0">
              <a:buNone/>
            </a:pPr>
            <a:r>
              <a:rPr lang="ar-SA" altLang="en-US" sz="1300" b="1" dirty="0">
                <a:solidFill>
                  <a:srgbClr val="1F2A37"/>
                </a:solidFill>
                <a:latin typeface="Amiri" pitchFamily="34" charset="0"/>
                <a:ea typeface="Amiri" pitchFamily="34" charset="-122"/>
                <a:cs typeface="Amiri" pitchFamily="34" charset="-120"/>
              </a:rPr>
              <a:t>مُرْهَقًا</a:t>
            </a:r>
            <a:pPr algn="l" indent="0" marL="0">
              <a:buNone/>
            </a:pPr>
            <a:r>
              <a:rPr lang="en-US" sz="1000" b="1" dirty="0">
                <a:solidFill>
                  <a:srgbClr val="1F2A37"/>
                </a:solidFill>
                <a:latin typeface="Calibri" pitchFamily="34" charset="0"/>
                <a:ea typeface="Calibri" pitchFamily="34" charset="-122"/>
                <a:cs typeface="Calibri" pitchFamily="34" charset="-120"/>
              </a:rPr>
              <a:t> mean here?</a:t>
            </a:r>
            <a:endParaRPr lang="en-US" sz="1000" dirty="0"/>
          </a:p>
        </p:txBody>
      </p:sp>
      <p:sp>
        <p:nvSpPr>
          <p:cNvPr id="85" name="Shape 83"/>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6" name="Shape 84"/>
          <p:cNvSpPr/>
          <p:nvPr/>
        </p:nvSpPr>
        <p:spPr>
          <a:xfrm>
            <a:off x="4459224" y="4831080"/>
            <a:ext cx="256032" cy="256032"/>
          </a:xfrm>
          <a:prstGeom prst="ellipse">
            <a:avLst/>
          </a:prstGeom>
          <a:solidFill>
            <a:srgbClr val="2E8B57"/>
          </a:solidFill>
          <a:ln w="12700">
            <a:solidFill>
              <a:srgbClr val="2E8B57"/>
            </a:solidFill>
            <a:prstDash val="solid"/>
          </a:ln>
        </p:spPr>
      </p:sp>
      <p:sp>
        <p:nvSpPr>
          <p:cNvPr id="87" name="Text 85"/>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8" name="Text 86"/>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exhausted</a:t>
            </a:r>
            <a:endParaRPr lang="en-US" sz="1250" dirty="0"/>
          </a:p>
        </p:txBody>
      </p:sp>
      <p:sp>
        <p:nvSpPr>
          <p:cNvPr id="89" name="Shape 87"/>
          <p:cNvSpPr/>
          <p:nvPr/>
        </p:nvSpPr>
        <p:spPr>
          <a:xfrm>
            <a:off x="4459224" y="5202936"/>
            <a:ext cx="256032" cy="256032"/>
          </a:xfrm>
          <a:prstGeom prst="ellipse">
            <a:avLst/>
          </a:prstGeom>
          <a:solidFill>
            <a:srgbClr val="C9CED6"/>
          </a:solidFill>
          <a:ln w="12700">
            <a:solidFill>
              <a:srgbClr val="C9CED6"/>
            </a:solidFill>
            <a:prstDash val="solid"/>
          </a:ln>
        </p:spPr>
      </p:sp>
      <p:sp>
        <p:nvSpPr>
          <p:cNvPr id="90" name="Text 88"/>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9"/>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energetic</a:t>
            </a:r>
            <a:endParaRPr lang="en-US" sz="1250" dirty="0"/>
          </a:p>
        </p:txBody>
      </p:sp>
      <p:sp>
        <p:nvSpPr>
          <p:cNvPr id="92" name="Shape 90"/>
          <p:cNvSpPr/>
          <p:nvPr/>
        </p:nvSpPr>
        <p:spPr>
          <a:xfrm>
            <a:off x="4459224" y="5574792"/>
            <a:ext cx="256032" cy="256032"/>
          </a:xfrm>
          <a:prstGeom prst="ellipse">
            <a:avLst/>
          </a:prstGeom>
          <a:solidFill>
            <a:srgbClr val="C9CED6"/>
          </a:solidFill>
          <a:ln w="12700">
            <a:solidFill>
              <a:srgbClr val="C9CED6"/>
            </a:solidFill>
            <a:prstDash val="solid"/>
          </a:ln>
        </p:spPr>
      </p:sp>
      <p:sp>
        <p:nvSpPr>
          <p:cNvPr id="93" name="Text 91"/>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2"/>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punctual</a:t>
            </a:r>
            <a:endParaRPr lang="en-US" sz="1250" dirty="0"/>
          </a:p>
        </p:txBody>
      </p:sp>
      <p:sp>
        <p:nvSpPr>
          <p:cNvPr id="95" name="Text 93"/>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reason for resting is that the speaker is exhausted.</a:t>
            </a:r>
            <a:endParaRPr lang="en-US" sz="1050" dirty="0"/>
          </a:p>
        </p:txBody>
      </p:sp>
      <p:sp>
        <p:nvSpPr>
          <p:cNvPr id="96" name="Shape 94"/>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7" name="Shape 95"/>
          <p:cNvSpPr/>
          <p:nvPr/>
        </p:nvSpPr>
        <p:spPr>
          <a:xfrm>
            <a:off x="8223504" y="4288536"/>
            <a:ext cx="310896" cy="310896"/>
          </a:xfrm>
          <a:prstGeom prst="ellipse">
            <a:avLst/>
          </a:prstGeom>
          <a:solidFill>
            <a:srgbClr val="1B3B6F"/>
          </a:solidFill>
          <a:ln w="12700">
            <a:solidFill>
              <a:srgbClr val="1B3B6F"/>
            </a:solidFill>
            <a:prstDash val="solid"/>
          </a:ln>
        </p:spPr>
      </p:sp>
      <p:sp>
        <p:nvSpPr>
          <p:cNvPr id="98" name="Text 96"/>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9" name="Text 97"/>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Listen-style extract:</a:t>
            </a:r>
            <a:endParaRPr lang="en-US" sz="1200" dirty="0"/>
          </a:p>
        </p:txBody>
      </p:sp>
      <p:sp>
        <p:nvSpPr>
          <p:cNvPr id="100" name="Text 98"/>
          <p:cNvSpPr txBox="1"/>
          <p:nvPr/>
        </p:nvSpPr>
        <p:spPr>
          <a:xfrm>
            <a:off x="10044989"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اِقْتَرَحَتْ سَلْمَى السَّادِسَةَ، وَاقْتَرَحَ عَلِيٌّ السَّابِعَةَ، ثُمَّ اِتَّفَقَا عَلَى السَّادِسَةِ وَالنِّصْفِ</a:t>
            </a:r>
            <a:pPr algn="l" indent="0" marL="0">
              <a:buNone/>
            </a:pPr>
            <a:r>
              <a:rPr lang="en-US" sz="1000" b="1" dirty="0">
                <a:solidFill>
                  <a:srgbClr val="1F2A37"/>
                </a:solidFill>
                <a:latin typeface="Calibri" pitchFamily="34" charset="0"/>
                <a:ea typeface="Calibri" pitchFamily="34" charset="-122"/>
                <a:cs typeface="Calibri" pitchFamily="34" charset="-120"/>
              </a:rPr>
              <a:t>. What time did they finally agree on?</a:t>
            </a:r>
            <a:endParaRPr lang="en-US" sz="1000" dirty="0"/>
          </a:p>
        </p:txBody>
      </p:sp>
      <p:sp>
        <p:nvSpPr>
          <p:cNvPr id="101" name="Shape 99"/>
          <p:cNvSpPr/>
          <p:nvPr/>
        </p:nvSpPr>
        <p:spPr>
          <a:xfrm>
            <a:off x="8278368" y="4831080"/>
            <a:ext cx="256032" cy="256032"/>
          </a:xfrm>
          <a:prstGeom prst="ellipse">
            <a:avLst/>
          </a:prstGeom>
          <a:solidFill>
            <a:srgbClr val="C9CED6"/>
          </a:solidFill>
          <a:ln w="12700">
            <a:solidFill>
              <a:srgbClr val="C9CED6"/>
            </a:solidFill>
            <a:prstDash val="solid"/>
          </a:ln>
        </p:spPr>
      </p:sp>
      <p:sp>
        <p:nvSpPr>
          <p:cNvPr id="102" name="Text 100"/>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103" name="Text 101"/>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6:00</a:t>
            </a:r>
            <a:endParaRPr lang="en-US" sz="1250" dirty="0"/>
          </a:p>
        </p:txBody>
      </p:sp>
      <p:sp>
        <p:nvSpPr>
          <p:cNvPr id="104" name="Shape 102"/>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5" name="Shape 103"/>
          <p:cNvSpPr/>
          <p:nvPr/>
        </p:nvSpPr>
        <p:spPr>
          <a:xfrm>
            <a:off x="8278368" y="5202936"/>
            <a:ext cx="256032" cy="256032"/>
          </a:xfrm>
          <a:prstGeom prst="ellipse">
            <a:avLst/>
          </a:prstGeom>
          <a:solidFill>
            <a:srgbClr val="2E8B57"/>
          </a:solidFill>
          <a:ln w="12700">
            <a:solidFill>
              <a:srgbClr val="2E8B57"/>
            </a:solidFill>
            <a:prstDash val="solid"/>
          </a:ln>
        </p:spPr>
      </p:sp>
      <p:sp>
        <p:nvSpPr>
          <p:cNvPr id="106" name="Text 104"/>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7" name="Text 105"/>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6:30</a:t>
            </a:r>
            <a:endParaRPr lang="en-US" sz="1250" dirty="0"/>
          </a:p>
        </p:txBody>
      </p:sp>
      <p:sp>
        <p:nvSpPr>
          <p:cNvPr id="108" name="Shape 106"/>
          <p:cNvSpPr/>
          <p:nvPr/>
        </p:nvSpPr>
        <p:spPr>
          <a:xfrm>
            <a:off x="8278368" y="5574792"/>
            <a:ext cx="256032" cy="256032"/>
          </a:xfrm>
          <a:prstGeom prst="ellipse">
            <a:avLst/>
          </a:prstGeom>
          <a:solidFill>
            <a:srgbClr val="C9CED6"/>
          </a:solidFill>
          <a:ln w="12700">
            <a:solidFill>
              <a:srgbClr val="C9CED6"/>
            </a:solidFill>
            <a:prstDash val="solid"/>
          </a:ln>
        </p:spPr>
      </p:sp>
      <p:sp>
        <p:nvSpPr>
          <p:cNvPr id="109" name="Text 107"/>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10" name="Text 108"/>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7:00</a:t>
            </a:r>
            <a:endParaRPr lang="en-US" sz="1250" dirty="0"/>
          </a:p>
        </p:txBody>
      </p:sp>
      <p:sp>
        <p:nvSpPr>
          <p:cNvPr id="111" name="Text 109"/>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ثُمَّ اِتَّفَقَا عَلَى</a:t>
            </a:r>
            <a:pPr algn="l" indent="0" marL="0">
              <a:buNone/>
            </a:pPr>
            <a:r>
              <a:rPr lang="en-US" sz="1050" i="1" dirty="0">
                <a:solidFill>
                  <a:srgbClr val="8A6D1E"/>
                </a:solidFill>
                <a:latin typeface="Calibri" pitchFamily="34" charset="0"/>
                <a:ea typeface="Calibri" pitchFamily="34" charset="-122"/>
                <a:cs typeface="Calibri" pitchFamily="34" charset="-120"/>
              </a:rPr>
              <a:t> signals the final agreed detail.</a:t>
            </a:r>
            <a:endParaRPr lang="en-US" sz="1050" dirty="0"/>
          </a:p>
        </p:txBody>
      </p:sp>
      <p:sp>
        <p:nvSpPr>
          <p:cNvPr id="112" name="Text 11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48 / 50</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D1-L11: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D1-L11 · Speaking and Writing — My Daily Routine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طَلَاقَةٌ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fluency</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دِقَّةٌ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accuracy</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تَبْرِيرٌ</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justification</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عَلَى سَبِيلِ المِثَالِ</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for example</a:t>
            </a:r>
            <a:pPr indent="0" marL="0">
              <a:buNone/>
            </a:pP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مَعَ ذٰلِكَ</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however, nevertheless</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Prepare a 30-second answer: “Describe your daily routine.” Include one reason and one example.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صِفْ رُوتِينَكَ اليَوْمِيَّ.</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D1-L10: redo the listening mission and the sorter “Listening evidence decoder”.</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mission rounds 1–6: for each, write the Arabic evidence.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100–120-word listening reflection with a measurable target.</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49 / 50</a:t>
            </a:r>
            <a:endParaRPr lang="en-US" sz="8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D1-L10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050" b="1" dirty="0">
                <a:solidFill>
                  <a:srgbClr val="FFFFFF"/>
                </a:solidFill>
                <a:latin typeface="Cambria" pitchFamily="34" charset="0"/>
                <a:ea typeface="Cambria" pitchFamily="34" charset="-122"/>
                <a:cs typeface="Cambria" pitchFamily="34" charset="-120"/>
              </a:rPr>
              <a:t>D1-L11 · Speaking and Writing — My Daily Routine</a:t>
            </a:r>
            <a:endParaRPr lang="en-US" sz="20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التَّحَدُّثُ وَالكِتَابَةُ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link every time to its event — and keep listening after “but”.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D1-L10 · Listening — Daily Routine and Time Details</dc:title>
  <dc:subject>PptxGenJS Presentation</dc:subject>
  <dc:creator>Al Madina Online School · Arabic Department</dc:creator>
  <cp:lastModifiedBy>Al Madina Online School · Arabic Department</cp:lastModifiedBy>
  <cp:revision>1</cp:revision>
  <dcterms:created xsi:type="dcterms:W3CDTF">2026-10-03T10:11:09Z</dcterms:created>
  <dcterms:modified xsi:type="dcterms:W3CDTF">2026-10-03T10:11:09Z</dcterms:modified>
</cp:coreProperties>
</file>