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D1-L10. The website lesson “Listening — Daily Routine and Time Details”: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three-part website listening is the main task, done as three short cycles (predict → listen twice → read the script → answers).
• Core: predict the answer TYPE for each question (a time? a person? how often?) and answer the time questions. Develop: all questions + explain one distractor. Stretch: the performance log (reading) and a written reflection with a measurable target.
• Read each text yourself at natural speed, with a pause between sentences. Do NOT show the script until after the second listening.
• Urdu bridge: توقع، تحقیق، ملاحظہ، مقابلہ، انتخاب.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D1-L09 (reading signals) and D1-L02 (time with إِلَّا).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Hearing a word is not enough. Check: right person? right event? did “but” or “not”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 التَّوَقُّعُ / أَتَوَقَّعُ. تحقیق (research, investigation) shares the root of تَحَقُّقٌ (verification). ملاحظہ → أُلَاحِظُ. CAREFUL: Urdu مقابلہ = a competition; Arabic المُقَابَلَةُ = an interview or a contrast, and أُقَارِنُ = I compare. انتخاب (election, selection) is related to اِنْتِقَائِيٌّ in meaning (selective).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(1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(2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(1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(2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“Cue · What to listen for · Risk” and rules “Use person prefixes to track the speaker”, “Use time frames as anchors”, “Listen beyond the contrast marker”.
Website teaching point: “Do not choose an option merely because you heard its vocabulary. Confirm that the detail belongs to the correct person, event and time.”
Prediction routine (Core): label every question T / P / F / R before listening — this is the “anchor” in the website vocabulary (مَرْسَاةٌ سَمْعِيَّةٌ).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“Listen beyond the contrast marker” and “Notice negation and limitation” (إِلَّا may mean “except / only” as well as “to” in clock time: لَا أَسْتَعْمِلُ الهَاتِفَ إِلَّا لِمُرَاجَعَةِ الوَقْتِ = I only use the phone to check the time). Examples from the website mission rounds 2 and 3.
Quick-fire: the teacher says a sentence with لَا / وَلٰكِنَّ; students show thumbs up / down for “Does he train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“Listening accuracy improves when you recognise person prefixes, time frames, frequency phrases and contrast markers. These grammatical signals help you reject distractors.”
• Use person prefixes to track the speaker: When two people are compared, the prefix tells you who performs the action.
• Use time frames as anchors: Write the number or relation you expect before listening. Then reject a time mentioned for a different event.
• Listen beyond the contrast marker: A distractor may appear before the contrast; the speaker’s final choice or true situation often follows it.
• Notice negation and limitation: One small negative word can reverse the answer. إِلَّا may mean “except / only” as well as “to” in clock time.
Website common error: Do not choose an option merely because you heard its vocabulary. Confirm that the detail belongs to the correct person, event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listening question 2 (and Q8, the distractor question). This is exactly the mistake Sara makes in the website performance log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(my listening target). • Develop: copy sentences 2 and 3. • Stretch: write your own strategy sentence with أَسْتَبْعِدُ or أَتَثَبَّتُ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 question 3 (the distractor).
Listen 1: just listen. Listen 2: note answers. Then chat the letters.
Support: after the second listening, show the read-along slide (Arabic + English, line by line) for Core students.
SCRIPT (read aloud):
النَّصُّ الأَوَّلُ: تَسْتَيْقِظُ مَرْيَمُ فِي السَّادِسَةِ، وَلٰكِنَّهَا لَا تَخْرُجُ مِنَ البَيْتِ حَتَّى السَّابِعَةِ وَالرُّبْعِ. تَتَنَاوَلُ الإِفْطَارَ دَائِمًا، وَتَسْتَقِلُّ الحَافِلَةَ فِي السَّابِعَةِ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(the first suggestion). Develop/Stretch: all three — question 1 is the FINAL agreed time.
Listen 1: just listen. Listen 2: note answers. Then chat the letters.
Support: after the second listening, show the read-along slide (Arabic + English, line by line) for Core students.
SCRIPT (read aloud):
النَّصُّ الثَّانِي: يَلْتَقِي عُمَرُ وَسَلْمَى يَوْمَ السَّبْتِ. اِقْتَرَحَ عُمَرُ السَّاعَةَ الرَّابِعَةَ، أَمَّا سَلْمَى فَلَا تَنْتَهِي مِنْ دَرْسِهَا قَبْلَ الرَّابِعَةِ وَالنِّصْفِ، لِذٰلِكَ اِتَّفَقَا عَلَى الخَامِسَةِ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النَّصُّ الثَّالِثُ: يَعُودُ سَامِرٌ إِلَى البَيْتِ فِي الثَّالِثَةِ وَعَشْرِ دَقَائِقَ. يَسْتَرِيحُ نِصْفَ سَاعَةٍ، ثُمَّ يُكْمِلُ وَاجِبَهُ قَبْلَ أَنْ يَذْهَبَ إِلَى التَّمْرِينِ. يَتَمَرَّنُ ثَلَاثَ مَرَّاتٍ فِي الأُسْبُوعِ، أَمَّا يَوْمُ الخَمِيسِ فَيَبْقَى فِي البَيْتِ وَيُسَاعِدُ أُسْرَتَهُ.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reflection prompts. Keep it short and supportive — this is metacognition: students explain HOW they listened. Core may answer in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key words and complete the questions with support. · Develop — Explain distractors and correct answers from the script. · Stretch — Evaluate paraphrase, inference and personal strategy using precise listening terminology.
Website writing task (Stretch): Write 100–120 words reconstructing one speaker’s routine from the listening evidence, then explain two distractors you rejected.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رَكَّزْتُ عَلَى / اِنْتَظَرْتُ / صَحَّحْتُ · كَانَ المُشَتِّتُ قَوِيًّا لِأَنَّ السَّادِسَةَ ذُكِرَتْ أَوَّلًا · فِي الاِسْتِمَاعِ الثَّانِي رَكَّزْتُ عَلَى الفِعْلِ «تَخْرُجُ» · هَدَفِي القَادِمُ أَنْ أَرْبِطَ كُلَّ رَقْمٍ بِالحَدَثِ الصَّحِيحِ.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(D1-L11 · Speaking and Writing — My Daily Routine) will spend class time USING this language, so students prepare it tonight — short, simple, easy to access (school guidance: “Simple, Short, Interesting, Relevant, Easy to access”). The five words come from the website D1-L11 vocabulary (speaking and reflection, answer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Daily Routine and Time Details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 تَفَاصِيلُ الرُّوتِينِ اليَوْمِيِّ وَالوَقْتِ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predict the type of answer, link every time to its event, keep listening after “but”, catch “not”, and use the second listening to check.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D1-L10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Five listening traps and how to beat them.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أَتَوَقَّعُ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focus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predict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correct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in a listening test?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script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الرَّابِعَةِ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 الخَمِيسِ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الرَّابِعَةِ إِلَى الخَامِسَةِ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يَعُودُ أَخُوهَا</a:t>
            </a:r>
            <a:pPr algn="l" indent="0" marL="0">
              <a:buNone/>
            </a:pPr>
            <a:r>
              <a:rPr lang="en-US" sz="1250" b="1" dirty="0">
                <a:solidFill>
                  <a:srgbClr val="1B3B6F"/>
                </a:solidFill>
                <a:latin typeface="Calibri" pitchFamily="34" charset="0"/>
                <a:cs typeface="Amiri" pitchFamily="2" charset="-78"/>
              </a:rPr>
              <a:t>, who returns?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4:45?</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٤:٤٥</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الخَامِسَةُ إِلَّا الرُّبْعَ</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الرَّابِعَةُ إِلَّا الرُّبْعَ</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الرَّابِعَةُ وَالرُّبْعُ</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أَتَوَقَّعُ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focus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predict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correct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in a listening test?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key word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script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duration?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الرَّابِعَةِ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يَوْمَ الخَمِيسِ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الرَّابِعَةِ إِلَى الخَامِسَةِ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D1-L09: from … to …</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يَعُودُ أَخُوهَا</a:t>
            </a:r>
            <a:pPr algn="l" indent="0" marL="0">
              <a:buNone/>
            </a:pPr>
            <a:r>
              <a:rPr lang="en-US" sz="1250" b="1" dirty="0">
                <a:solidFill>
                  <a:srgbClr val="1B3B6F"/>
                </a:solidFill>
                <a:latin typeface="Calibri" pitchFamily="34" charset="0"/>
                <a:cs typeface="Amiri" pitchFamily="2" charset="-78"/>
              </a:rPr>
              <a:t>, who returns?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brother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D1-L09: ya- = 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4:45?</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٤:٤٥</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الخَامِسَةُ إِلَّا الرُّبْعَ</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الرَّابِعَةُ إِلَّا الرُّبْعَ</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الرَّابِعَةُ وَالرُّبْعُ</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the next hour with </a:t>
            </a:r>
            <a:pPr algn="l" indent="0" marL="0">
              <a:buNone/>
            </a:pPr>
            <a:r>
              <a:rPr lang="ar-SA" altLang="en-US" sz="1350" dirty="0">
                <a:solidFill>
                  <a:srgbClr val="8A6D1E"/>
                </a:solidFill>
                <a:latin typeface="Amiri" pitchFamily="2" charset="-78"/>
                <a:cs typeface="Amiri" pitchFamily="2" charset="-78"/>
              </a:rPr>
              <a:t>إِلَّا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Hearing a word is not enough. Check: right person? right event? did “but” or “not” change it?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تَسْتَيْقِظُ فِي السَّادِسَةِ، </a:t>
            </a:r>
            <a:pPr rtl="1" algn="ctr" indent="0" marL="0">
              <a:lnSpc>
                <a:spcPct val="120000"/>
              </a:lnSpc>
              <a:buNone/>
            </a:pPr>
            <a:r>
              <a:rPr lang="ar-SA" altLang="en-US" sz="1950" b="1" dirty="0">
                <a:solidFill>
                  <a:srgbClr val="0E7C86"/>
                </a:solidFill>
                <a:latin typeface="Amiri" pitchFamily="2" charset="-78"/>
                <a:cs typeface="Amiri" pitchFamily="2" charset="-78"/>
              </a:rPr>
              <a:t>وَلٰكِنَّهَا لَا</a:t>
            </a:r>
            <a:pPr rtl="1" algn="ctr" indent="0" marL="0">
              <a:lnSpc>
                <a:spcPct val="120000"/>
              </a:lnSpc>
              <a:buNone/>
            </a:pPr>
            <a:r>
              <a:rPr lang="ar-SA" altLang="en-US" sz="1950" b="1" dirty="0">
                <a:solidFill>
                  <a:srgbClr val="1B3B6F"/>
                </a:solidFill>
                <a:latin typeface="Amiri" pitchFamily="2" charset="-78"/>
                <a:cs typeface="Amiri" pitchFamily="2" charset="-78"/>
              </a:rPr>
              <a:t> تَخْرُجُ </a:t>
            </a:r>
            <a:pPr rtl="1" algn="ctr" indent="0" marL="0">
              <a:lnSpc>
                <a:spcPct val="120000"/>
              </a:lnSpc>
              <a:buNone/>
            </a:pPr>
            <a:r>
              <a:rPr lang="ar-SA" altLang="en-US" sz="1950" b="1" dirty="0">
                <a:solidFill>
                  <a:srgbClr val="0E7C86"/>
                </a:solidFill>
                <a:latin typeface="Amiri" pitchFamily="2" charset="-78"/>
                <a:cs typeface="Amiri" pitchFamily="2" charset="-78"/>
              </a:rPr>
              <a:t>حَتَّى</a:t>
            </a:r>
            <a:pPr rtl="1" algn="ctr" indent="0" marL="0">
              <a:lnSpc>
                <a:spcPct val="120000"/>
              </a:lnSpc>
              <a:buNone/>
            </a:pPr>
            <a:r>
              <a:rPr lang="ar-SA" altLang="en-US" sz="1950" b="1" dirty="0">
                <a:solidFill>
                  <a:srgbClr val="1B3B6F"/>
                </a:solidFill>
                <a:latin typeface="Amiri" pitchFamily="2" charset="-78"/>
                <a:cs typeface="Amiri" pitchFamily="2" charset="-78"/>
              </a:rPr>
              <a:t> السَّابِعَةِ وَالرُّبْعِ.</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the information type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Track people, times, negation and contrast.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synonyms and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Evaluate listening performance and set a precise target.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predict whether an answer is a time, a person or a frequency.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link a time to the right event.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why a distractor is wrong.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listening after “but” and catch “not”.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recognise synonyms and paraphrase.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set a precise listening target for next time.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process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Strategy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Common synonym pairs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التَّوَقُّعُ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‎توقع‎ </a:t>
            </a:r>
            <a:pPr indent="0" marL="0">
              <a:buNone/>
            </a:pPr>
            <a:r>
              <a:rPr lang="en-US" sz="950" b="1" dirty="0">
                <a:solidFill>
                  <a:srgbClr val="2E8B57"/>
                </a:solidFill>
                <a:latin typeface="Calibri" pitchFamily="34" charset="0"/>
                <a:cs typeface="Amiri" pitchFamily="2" charset="-78"/>
              </a:rPr>
              <a:t> tawaqqo · expectation, prediction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تَحَقُّقٌ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‎تحقیق‎ </a:t>
            </a:r>
            <a:pPr indent="0" marL="0">
              <a:buNone/>
            </a:pPr>
            <a:r>
              <a:rPr lang="en-US" sz="950" b="1" dirty="0">
                <a:solidFill>
                  <a:srgbClr val="2E8B57"/>
                </a:solidFill>
                <a:latin typeface="Calibri" pitchFamily="34" charset="0"/>
                <a:cs typeface="Amiri" pitchFamily="2" charset="-78"/>
              </a:rPr>
              <a:t> tahqīq · investigation → checking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أُلَاحِظُ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‎ملاحظہ‎ </a:t>
            </a:r>
            <a:pPr indent="0" marL="0">
              <a:buNone/>
            </a:pPr>
            <a:r>
              <a:rPr lang="en-US" sz="950" b="1" dirty="0">
                <a:solidFill>
                  <a:srgbClr val="2E8B57"/>
                </a:solidFill>
                <a:latin typeface="Calibri" pitchFamily="34" charset="0"/>
                <a:cs typeface="Amiri" pitchFamily="2" charset="-78"/>
              </a:rPr>
              <a:t> mulāhaza · observation → I notice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أُقَارِنُ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muqābla · Urdu: contest · Arabic: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الاِسْتِمَاعُ الاِنْتِقَائِيُّ</a:t>
            </a:r>
            <a:endParaRPr lang="ar-SA" sz="155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‎انتخاب‎ </a:t>
            </a:r>
            <a:pPr indent="0" marL="0">
              <a:buNone/>
            </a:pPr>
            <a:r>
              <a:rPr lang="en-US" sz="950" b="1" dirty="0">
                <a:solidFill>
                  <a:srgbClr val="2E8B57"/>
                </a:solidFill>
                <a:latin typeface="Calibri" pitchFamily="34" charset="0"/>
                <a:cs typeface="Amiri" pitchFamily="2" charset="-78"/>
              </a:rPr>
              <a:t> intikhāb · choice, selection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process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الاِسْتِمَاعُ النَّشِطُ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listening</a:t>
            </a:r>
            <a:endParaRPr lang="en-US" sz="1350" dirty="0"/>
          </a:p>
          <a:p>
            <a:pPr indent="0" marL="0">
              <a:buNone/>
            </a:pPr>
            <a:r>
              <a:rPr lang="en-US" sz="1100" i="1" dirty="0">
                <a:solidFill>
                  <a:srgbClr val="5A6472"/>
                </a:solidFill>
                <a:latin typeface="Calibri" pitchFamily="34" charset="0"/>
                <a:cs typeface="Amiri" pitchFamily="2" charset="-78"/>
              </a:rPr>
              <a:t>als-ti-mā-ʿu an-na-shi-ṭu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التَّوَقُّعُ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prediction</a:t>
            </a:r>
            <a:endParaRPr lang="en-US" sz="1350" dirty="0"/>
          </a:p>
          <a:p>
            <a:pPr indent="0" marL="0">
              <a:buNone/>
            </a:pPr>
            <a:r>
              <a:rPr lang="en-US" sz="1100" i="1" dirty="0">
                <a:solidFill>
                  <a:srgbClr val="5A6472"/>
                </a:solidFill>
                <a:latin typeface="Calibri" pitchFamily="34" charset="0"/>
                <a:cs typeface="Amiri" pitchFamily="2" charset="-78"/>
              </a:rPr>
              <a:t>at-ta-waq-qu-ʿu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كَلِمَةٌ مِفْتَاحِيَّةٌ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key</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مِفْتَاحٌ</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مَرْسَاةٌ سَمْعِيَّةٌ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listening anchor</a:t>
            </a:r>
            <a:endParaRPr lang="en-US" sz="1350" dirty="0"/>
          </a:p>
          <a:p>
            <a:pPr indent="0" marL="0">
              <a:buNone/>
            </a:pPr>
            <a:r>
              <a:rPr lang="en-US" sz="1100" i="1" dirty="0">
                <a:solidFill>
                  <a:srgbClr val="5A6472"/>
                </a:solidFill>
                <a:latin typeface="Calibri" pitchFamily="34" charset="0"/>
                <a:cs typeface="Amiri" pitchFamily="2" charset="-78"/>
              </a:rPr>
              <a:t>mar-sā-tun sam-ʿiy-ya-tun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3" name="Shape 50"/>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مُشَتِّتٌ</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مُشَتِّتَاتٌ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المُشَتِّتُ</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مُشَتِّتٌ</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process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تَحَقُّقٌ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verification</a:t>
            </a:r>
            <a:endParaRPr lang="en-US" sz="1350" dirty="0"/>
          </a:p>
          <a:p>
            <a:pPr indent="0" marL="0">
              <a:buNone/>
            </a:pPr>
            <a:r>
              <a:rPr lang="en-US" sz="1100" i="1" dirty="0">
                <a:solidFill>
                  <a:srgbClr val="5A6472"/>
                </a:solidFill>
                <a:latin typeface="Calibri" pitchFamily="34" charset="0"/>
                <a:cs typeface="Amiri" pitchFamily="2" charset="-78"/>
              </a:rPr>
              <a:t>ta-ḥaq-qu-qun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الاِسْتِمَاعُ الاِنْتِقَائِيُّ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selective listening</a:t>
            </a:r>
            <a:endParaRPr lang="en-US" sz="1350" dirty="0"/>
          </a:p>
          <a:p>
            <a:pPr indent="0" marL="0">
              <a:buNone/>
            </a:pPr>
            <a:r>
              <a:rPr lang="en-US" sz="1100" i="1" dirty="0">
                <a:solidFill>
                  <a:srgbClr val="5A6472"/>
                </a:solidFill>
                <a:latin typeface="Calibri" pitchFamily="34" charset="0"/>
                <a:cs typeface="Amiri" pitchFamily="2" charset="-78"/>
              </a:rPr>
              <a:t>als-ti-mā-ʿu aln-ti-qā-ʾiy-yu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المَعْنَى العَامُّ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gist / overall meaning</a:t>
            </a:r>
            <a:endParaRPr lang="en-US" sz="1350" dirty="0"/>
          </a:p>
          <a:p>
            <a:pPr indent="0" marL="0">
              <a:buNone/>
            </a:pPr>
            <a:r>
              <a:rPr lang="en-US" sz="1100" i="1" dirty="0">
                <a:solidFill>
                  <a:srgbClr val="5A6472"/>
                </a:solidFill>
                <a:latin typeface="Calibri" pitchFamily="34" charset="0"/>
                <a:cs typeface="Amiri" pitchFamily="2" charset="-78"/>
              </a:rPr>
              <a:t>al-maʿ-nā al-ʿām-mu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التَّفْصِيلُ الدَّقِيقُ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detail</a:t>
            </a:r>
            <a:endParaRPr lang="en-US" sz="1350" dirty="0"/>
          </a:p>
          <a:p>
            <a:pPr indent="0" marL="0">
              <a:buNone/>
            </a:pPr>
            <a:r>
              <a:rPr lang="en-US" sz="1100" i="1" dirty="0">
                <a:solidFill>
                  <a:srgbClr val="5A6472"/>
                </a:solidFill>
                <a:latin typeface="Calibri" pitchFamily="34" charset="0"/>
                <a:cs typeface="Amiri" pitchFamily="2" charset="-78"/>
              </a:rPr>
              <a:t>at-taf-ṣī-lu ad-da-qī-qu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Strategy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أُرَكِّزُ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focus on</a:t>
            </a:r>
            <a:endParaRPr lang="en-US" sz="1350" dirty="0"/>
          </a:p>
          <a:p>
            <a:pPr indent="0" marL="0">
              <a:buNone/>
            </a:pPr>
            <a:r>
              <a:rPr lang="en-US" sz="1100" i="1" dirty="0">
                <a:solidFill>
                  <a:srgbClr val="5A6472"/>
                </a:solidFill>
                <a:latin typeface="Calibri" pitchFamily="34" charset="0"/>
                <a:cs typeface="Amiri" pitchFamily="2" charset="-78"/>
              </a:rPr>
              <a:t>u-rak-ki-zu ʿa-lā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تُرَكِّزُ</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يُرَكِّزُ</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أُرَكِّزُ</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أَتَوَقَّعُ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predict / expect</a:t>
            </a:r>
            <a:endParaRPr lang="en-US" sz="1350" dirty="0"/>
          </a:p>
          <a:p>
            <a:pPr indent="0" marL="0">
              <a:buNone/>
            </a:pPr>
            <a:r>
              <a:rPr lang="en-US" sz="1100" i="1" dirty="0">
                <a:solidFill>
                  <a:srgbClr val="5A6472"/>
                </a:solidFill>
                <a:latin typeface="Calibri" pitchFamily="34" charset="0"/>
                <a:cs typeface="Amiri" pitchFamily="2" charset="-78"/>
              </a:rPr>
              <a:t>a-ta-waq-qa-ʿu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تَتَوَقَّعُ</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يَتَوَقَّعُ</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أَتَوَقَّعُ</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أُهْمِلُ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ignore</a:t>
            </a:r>
            <a:endParaRPr lang="en-US" sz="1350" dirty="0"/>
          </a:p>
          <a:p>
            <a:pPr indent="0" marL="0">
              <a:buNone/>
            </a:pPr>
            <a:r>
              <a:rPr lang="en-US" sz="1100" i="1" dirty="0">
                <a:solidFill>
                  <a:srgbClr val="5A6472"/>
                </a:solidFill>
                <a:latin typeface="Calibri" pitchFamily="34" charset="0"/>
                <a:cs typeface="Amiri" pitchFamily="2" charset="-78"/>
              </a:rPr>
              <a:t>uh-mi-lu</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أُلَاحِظُ</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notice</a:t>
            </a:r>
            <a:endParaRPr lang="en-US" sz="1350" dirty="0"/>
          </a:p>
          <a:p>
            <a:pPr indent="0" marL="0">
              <a:buNone/>
            </a:pPr>
            <a:r>
              <a:rPr lang="en-US" sz="1100" i="1" dirty="0">
                <a:solidFill>
                  <a:srgbClr val="5A6472"/>
                </a:solidFill>
                <a:latin typeface="Calibri" pitchFamily="34" charset="0"/>
                <a:cs typeface="Amiri" pitchFamily="2" charset="-78"/>
              </a:rPr>
              <a:t>u-lā-ḥi-ẓu</a:t>
            </a:r>
            <a:endParaRPr lang="en-US" sz="1350" dirty="0"/>
          </a:p>
        </p:txBody>
      </p:sp>
      <p:sp>
        <p:nvSpPr>
          <p:cNvPr id="63" name="Shape 6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تُلَاحِظُ</a:t>
            </a:r>
            <a:endParaRPr lang="ar-SA" sz="1500" dirty="0"/>
          </a:p>
        </p:txBody>
      </p:sp>
      <p:sp>
        <p:nvSpPr>
          <p:cNvPr id="66" name="Shape 6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8" name="Text 6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يُلَاحِظُ</a:t>
            </a:r>
            <a:endParaRPr lang="ar-SA" sz="1500" dirty="0"/>
          </a:p>
        </p:txBody>
      </p:sp>
      <p:sp>
        <p:nvSpPr>
          <p:cNvPr id="69" name="Shape 6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1" name="Text 6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أُلَاحِظُ</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Strategy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أُقَارِنُ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compare</a:t>
            </a:r>
            <a:endParaRPr lang="en-US" sz="1350" dirty="0"/>
          </a:p>
          <a:p>
            <a:pPr indent="0" marL="0">
              <a:buNone/>
            </a:pPr>
            <a:r>
              <a:rPr lang="en-US" sz="1100" i="1" dirty="0">
                <a:solidFill>
                  <a:srgbClr val="5A6472"/>
                </a:solidFill>
                <a:latin typeface="Calibri" pitchFamily="34" charset="0"/>
                <a:cs typeface="Amiri" pitchFamily="2" charset="-78"/>
              </a:rPr>
              <a:t>u-qā-ri-nu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أَسْتَبْعِدُ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eliminate</a:t>
            </a:r>
            <a:endParaRPr lang="en-US" sz="1350" dirty="0"/>
          </a:p>
          <a:p>
            <a:pPr indent="0" marL="0">
              <a:buNone/>
            </a:pPr>
            <a:r>
              <a:rPr lang="en-US" sz="1100" i="1" dirty="0">
                <a:solidFill>
                  <a:srgbClr val="5A6472"/>
                </a:solidFill>
                <a:latin typeface="Calibri" pitchFamily="34" charset="0"/>
                <a:cs typeface="Amiri" pitchFamily="2" charset="-78"/>
              </a:rPr>
              <a:t>as-tab-ʿi-du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تَسْتَبْعِدُ</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يَسْتَبْعِدُ</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أَسْتَبْعِدُ</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أَتَثَبَّتُ مِنْ</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verify</a:t>
            </a:r>
            <a:endParaRPr lang="en-US" sz="1350" dirty="0"/>
          </a:p>
          <a:p>
            <a:pPr indent="0" marL="0">
              <a:buNone/>
            </a:pPr>
            <a:r>
              <a:rPr lang="en-US" sz="1100" i="1" dirty="0">
                <a:solidFill>
                  <a:srgbClr val="5A6472"/>
                </a:solidFill>
                <a:latin typeface="Calibri" pitchFamily="34" charset="0"/>
                <a:cs typeface="Amiri" pitchFamily="2" charset="-78"/>
              </a:rPr>
              <a:t>a-ta-thab-ba-tu min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أُصَحِّحُ</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correct</a:t>
            </a:r>
            <a:endParaRPr lang="en-US" sz="1350" dirty="0"/>
          </a:p>
          <a:p>
            <a:pPr indent="0" marL="0">
              <a:buNone/>
            </a:pPr>
            <a:r>
              <a:rPr lang="en-US" sz="1100" i="1" dirty="0">
                <a:solidFill>
                  <a:srgbClr val="5A6472"/>
                </a:solidFill>
                <a:latin typeface="Calibri" pitchFamily="34" charset="0"/>
                <a:cs typeface="Amiri" pitchFamily="2" charset="-78"/>
              </a:rPr>
              <a:t>u-ṣaḥ-ḥi-ḥu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synonym pairs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كَبِيرٌ / وَاسِعٌ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large / spacious</a:t>
            </a:r>
            <a:endParaRPr lang="en-US" sz="1350" dirty="0"/>
          </a:p>
          <a:p>
            <a:pPr indent="0" marL="0">
              <a:buNone/>
            </a:pPr>
            <a:r>
              <a:rPr lang="en-US" sz="1100" i="1" dirty="0">
                <a:solidFill>
                  <a:srgbClr val="5A6472"/>
                </a:solidFill>
                <a:latin typeface="Calibri" pitchFamily="34" charset="0"/>
                <a:cs typeface="Amiri" pitchFamily="2" charset="-78"/>
              </a:rPr>
              <a:t>ka-bī-run / wā-si-ʿun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صَغِيرٌ / ضَيِّقٌ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small / narrow</a:t>
            </a:r>
            <a:endParaRPr lang="en-US" sz="1350" dirty="0"/>
          </a:p>
          <a:p>
            <a:pPr indent="0" marL="0">
              <a:buNone/>
            </a:pPr>
            <a:r>
              <a:rPr lang="en-US" sz="1100" i="1" dirty="0">
                <a:solidFill>
                  <a:srgbClr val="5A6472"/>
                </a:solidFill>
                <a:latin typeface="Calibri" pitchFamily="34" charset="0"/>
                <a:cs typeface="Amiri" pitchFamily="2" charset="-78"/>
              </a:rPr>
              <a:t>ṣa-ghī-run / ḍay-yi-qun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مُتْعَبٌ / مُرْهَقٌ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tired / exhausted</a:t>
            </a:r>
            <a:endParaRPr lang="en-US" sz="1350" dirty="0"/>
          </a:p>
          <a:p>
            <a:pPr indent="0" marL="0">
              <a:buNone/>
            </a:pPr>
            <a:r>
              <a:rPr lang="en-US" sz="1100" i="1" dirty="0">
                <a:solidFill>
                  <a:srgbClr val="5A6472"/>
                </a:solidFill>
                <a:latin typeface="Calibri" pitchFamily="34" charset="0"/>
                <a:cs typeface="Amiri" pitchFamily="2" charset="-78"/>
              </a:rPr>
              <a:t>mut-ʿa-bun / mur-ha-qun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يَبْدَأُ / يَنْطَلِقُ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 / sets off</a:t>
            </a:r>
            <a:endParaRPr lang="en-US" sz="1350" dirty="0"/>
          </a:p>
          <a:p>
            <a:pPr indent="0" marL="0">
              <a:buNone/>
            </a:pPr>
            <a:r>
              <a:rPr lang="en-US" sz="1100" i="1" dirty="0">
                <a:solidFill>
                  <a:srgbClr val="5A6472"/>
                </a:solidFill>
                <a:latin typeface="Calibri" pitchFamily="34" charset="0"/>
                <a:cs typeface="Amiri" pitchFamily="2" charset="-78"/>
              </a:rPr>
              <a:t>yab-da-ʾu / yan-ṭa-li-qu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synonym pairs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يَنْتَهِي / يَخْتَتِمُ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ends / concludes</a:t>
            </a:r>
            <a:endParaRPr lang="en-US" sz="1350" dirty="0"/>
          </a:p>
          <a:p>
            <a:pPr indent="0" marL="0">
              <a:buNone/>
            </a:pPr>
            <a:r>
              <a:rPr lang="en-US" sz="1100" i="1" dirty="0">
                <a:solidFill>
                  <a:srgbClr val="5A6472"/>
                </a:solidFill>
                <a:latin typeface="Calibri" pitchFamily="34" charset="0"/>
                <a:cs typeface="Amiri" pitchFamily="2" charset="-78"/>
              </a:rPr>
              <a:t>yan-ta-hī / yakh-ta-ti-mu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غَالِبًا / كَثِيرًا 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ghā-li-ban / ka-thī-ran 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قَلِيلًا مَا / 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seldom / rarely</a:t>
            </a:r>
            <a:endParaRPr lang="en-US" sz="1350" dirty="0"/>
          </a:p>
          <a:p>
            <a:pPr indent="0" marL="0">
              <a:buNone/>
            </a:pPr>
            <a:r>
              <a:rPr lang="en-US" sz="1100" i="1" dirty="0">
                <a:solidFill>
                  <a:srgbClr val="5A6472"/>
                </a:solidFill>
                <a:latin typeface="Calibri" pitchFamily="34" charset="0"/>
                <a:cs typeface="Amiri" pitchFamily="2" charset="-78"/>
              </a:rPr>
              <a:t>qa-lī-lan mā / nā-di-ran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LISTENING CUES AND THEIR TRAPS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to listen for — and the trap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a:t>
            </a:r>
            <a:endParaRPr lang="en-US" sz="1100" dirty="0"/>
          </a:p>
        </p:txBody>
      </p:sp>
      <p:sp>
        <p:nvSpPr>
          <p:cNvPr id="17" name="Text 14"/>
          <p:cNvSpPr txBox="1"/>
          <p:nvPr/>
        </p:nvSpPr>
        <p:spPr>
          <a:xfrm>
            <a:off x="540410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30266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Listen for</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trap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تَـ</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1D5FBF"/>
                </a:solidFill>
                <a:latin typeface="Amiri" pitchFamily="2" charset="-78"/>
                <a:cs typeface="Amiri" pitchFamily="2" charset="-78"/>
              </a:rPr>
              <a:t>يَـ</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0E7C86"/>
                </a:solidFill>
                <a:latin typeface="Amiri" pitchFamily="2" charset="-78"/>
                <a:cs typeface="Amiri" pitchFamily="2" charset="-78"/>
              </a:rPr>
              <a:t>أَـ</a:t>
            </a:r>
            <a:endParaRPr lang="ar-SA" sz="2600" dirty="0"/>
          </a:p>
        </p:txBody>
      </p:sp>
      <p:sp>
        <p:nvSpPr>
          <p:cNvPr id="22" name="Text 19"/>
          <p:cNvSpPr txBox="1"/>
          <p:nvPr/>
        </p:nvSpPr>
        <p:spPr>
          <a:xfrm>
            <a:off x="5422392"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سْتَيْقِظُ مَرْيَمُ · </a:t>
            </a:r>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عُودُ سَامِرٌ</a:t>
            </a:r>
            <a:endParaRPr lang="ar-SA" sz="2100" dirty="0"/>
          </a:p>
        </p:txBody>
      </p:sp>
      <p:sp>
        <p:nvSpPr>
          <p:cNvPr id="23" name="Text 20"/>
          <p:cNvSpPr txBox="1"/>
          <p:nvPr/>
        </p:nvSpPr>
        <p:spPr>
          <a:xfrm>
            <a:off x="5376672"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Maryam wakes · Samer returns</a:t>
            </a:r>
            <a:endParaRPr lang="en-US" sz="950" dirty="0"/>
          </a:p>
        </p:txBody>
      </p:sp>
      <p:sp>
        <p:nvSpPr>
          <p:cNvPr id="24" name="Text 21"/>
          <p:cNvSpPr txBox="1"/>
          <p:nvPr/>
        </p:nvSpPr>
        <p:spPr>
          <a:xfrm>
            <a:off x="30632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does it</a:t>
            </a:r>
            <a:endParaRPr lang="en-US" sz="1100" dirty="0"/>
          </a:p>
        </p:txBody>
      </p:sp>
      <p:sp>
        <p:nvSpPr>
          <p:cNvPr id="25" name="Text 22"/>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up two people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فِي + الوَقْتِ</a:t>
            </a:r>
            <a:endParaRPr lang="ar-SA" sz="2600" dirty="0"/>
          </a:p>
        </p:txBody>
      </p:sp>
      <p:sp>
        <p:nvSpPr>
          <p:cNvPr id="30" name="Text 27"/>
          <p:cNvSpPr txBox="1"/>
          <p:nvPr/>
        </p:nvSpPr>
        <p:spPr>
          <a:xfrm>
            <a:off x="5422392" y="3072384"/>
            <a:ext cx="3840480" cy="4535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تَسْتَيْقِظُ </a:t>
            </a:r>
            <a:pPr rtl="1" algn="ctr" indent="0" marL="0">
              <a:buNone/>
            </a:pPr>
            <a:r>
              <a:rPr lang="ar-SA" altLang="en-US" sz="1750" b="1" dirty="0">
                <a:solidFill>
                  <a:srgbClr val="0E7C86"/>
                </a:solidFill>
                <a:latin typeface="Amiri" pitchFamily="2" charset="-78"/>
                <a:cs typeface="Amiri" pitchFamily="2" charset="-78"/>
              </a:rPr>
              <a:t>فِي السَّادِسَةِ</a:t>
            </a:r>
            <a:pPr rtl="1" algn="ctr" indent="0" marL="0">
              <a:buNone/>
            </a:pPr>
            <a:r>
              <a:rPr lang="ar-SA" altLang="en-US" sz="1750" b="1" dirty="0">
                <a:solidFill>
                  <a:srgbClr val="1B3B6F"/>
                </a:solidFill>
                <a:latin typeface="Amiri" pitchFamily="2" charset="-78"/>
                <a:cs typeface="Amiri" pitchFamily="2" charset="-78"/>
              </a:rPr>
              <a:t> … تَخْرُجُ </a:t>
            </a:r>
            <a:pPr rtl="1" algn="ctr" indent="0" marL="0">
              <a:buNone/>
            </a:pPr>
            <a:r>
              <a:rPr lang="ar-SA" altLang="en-US" sz="1750" b="1" dirty="0">
                <a:solidFill>
                  <a:srgbClr val="0E7C86"/>
                </a:solidFill>
                <a:latin typeface="Amiri" pitchFamily="2" charset="-78"/>
                <a:cs typeface="Amiri" pitchFamily="2" charset="-78"/>
              </a:rPr>
              <a:t>حَتَّى السَّابِعَةِ وَالرُّبْعِ</a:t>
            </a:r>
            <a:endParaRPr lang="ar-SA" sz="1750" dirty="0"/>
          </a:p>
        </p:txBody>
      </p:sp>
      <p:sp>
        <p:nvSpPr>
          <p:cNvPr id="31" name="Text 28"/>
          <p:cNvSpPr txBox="1"/>
          <p:nvPr/>
        </p:nvSpPr>
        <p:spPr>
          <a:xfrm>
            <a:off x="5376672"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wakes at 6 … leaves at 7:15</a:t>
            </a:r>
            <a:endParaRPr lang="en-US" sz="950" dirty="0"/>
          </a:p>
        </p:txBody>
      </p:sp>
      <p:sp>
        <p:nvSpPr>
          <p:cNvPr id="32" name="Text 29"/>
          <p:cNvSpPr txBox="1"/>
          <p:nvPr/>
        </p:nvSpPr>
        <p:spPr>
          <a:xfrm>
            <a:off x="30632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EVENT the time belongs to</a:t>
            </a:r>
            <a:endParaRPr lang="en-US" sz="11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choosing the first number heard</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وَلٰكِنَّ · أَمَّا</a:t>
            </a:r>
            <a:endParaRPr lang="ar-SA" sz="2600" dirty="0"/>
          </a:p>
        </p:txBody>
      </p:sp>
      <p:sp>
        <p:nvSpPr>
          <p:cNvPr id="38" name="Text 35"/>
          <p:cNvSpPr txBox="1"/>
          <p:nvPr/>
        </p:nvSpPr>
        <p:spPr>
          <a:xfrm>
            <a:off x="5422392"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اِقْتَرَحَ الرَّابِعَةَ … </a:t>
            </a:r>
            <a:pPr rtl="1" algn="ctr" indent="0" marL="0">
              <a:buNone/>
            </a:pPr>
            <a:r>
              <a:rPr lang="ar-SA" altLang="en-US" sz="2100" b="1" dirty="0">
                <a:solidFill>
                  <a:srgbClr val="0E7C86"/>
                </a:solidFill>
                <a:latin typeface="Amiri" pitchFamily="2" charset="-78"/>
                <a:cs typeface="Amiri" pitchFamily="2" charset="-78"/>
              </a:rPr>
              <a:t>أَمَّا</a:t>
            </a:r>
            <a:pPr rtl="1" algn="ctr" indent="0" marL="0">
              <a:buNone/>
            </a:pPr>
            <a:r>
              <a:rPr lang="ar-SA" altLang="en-US" sz="2100" b="1" dirty="0">
                <a:solidFill>
                  <a:srgbClr val="1B3B6F"/>
                </a:solidFill>
                <a:latin typeface="Amiri" pitchFamily="2" charset="-78"/>
                <a:cs typeface="Amiri" pitchFamily="2" charset="-78"/>
              </a:rPr>
              <a:t> سَلْمَى </a:t>
            </a:r>
            <a:pPr rtl="1" algn="ctr" indent="0" marL="0">
              <a:buNone/>
            </a:pPr>
            <a:r>
              <a:rPr lang="ar-SA" altLang="en-US" sz="2100" b="1" dirty="0">
                <a:solidFill>
                  <a:srgbClr val="0E7C86"/>
                </a:solidFill>
                <a:latin typeface="Amiri" pitchFamily="2" charset="-78"/>
                <a:cs typeface="Amiri" pitchFamily="2" charset="-78"/>
              </a:rPr>
              <a:t>فَلَا</a:t>
            </a:r>
            <a:pPr rtl="1" algn="ctr" indent="0" marL="0">
              <a:buNone/>
            </a:pPr>
            <a:r>
              <a:rPr lang="ar-SA" altLang="en-US" sz="2100" b="1" dirty="0">
                <a:solidFill>
                  <a:srgbClr val="1B3B6F"/>
                </a:solidFill>
                <a:latin typeface="Amiri" pitchFamily="2" charset="-78"/>
                <a:cs typeface="Amiri" pitchFamily="2" charset="-78"/>
              </a:rPr>
              <a:t> …</a:t>
            </a:r>
            <a:endParaRPr lang="ar-SA" sz="2100" dirty="0"/>
          </a:p>
        </p:txBody>
      </p:sp>
      <p:sp>
        <p:nvSpPr>
          <p:cNvPr id="39" name="Text 36"/>
          <p:cNvSpPr txBox="1"/>
          <p:nvPr/>
        </p:nvSpPr>
        <p:spPr>
          <a:xfrm>
            <a:off x="5376672"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suggested four … as for Salma …</a:t>
            </a:r>
            <a:endParaRPr lang="en-US" sz="950" dirty="0"/>
          </a:p>
        </p:txBody>
      </p:sp>
      <p:sp>
        <p:nvSpPr>
          <p:cNvPr id="40" name="Text 37"/>
          <p:cNvSpPr txBox="1"/>
          <p:nvPr/>
        </p:nvSpPr>
        <p:spPr>
          <a:xfrm>
            <a:off x="30632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CORRECTED information</a:t>
            </a:r>
            <a:endParaRPr lang="en-US" sz="1100" dirty="0"/>
          </a:p>
        </p:txBody>
      </p:sp>
      <p:sp>
        <p:nvSpPr>
          <p:cNvPr id="41" name="Text 38"/>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stopping too early</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لَا · لَمْ · إِلَّا</a:t>
            </a:r>
            <a:endParaRPr lang="ar-SA" sz="2600" dirty="0"/>
          </a:p>
        </p:txBody>
      </p:sp>
      <p:sp>
        <p:nvSpPr>
          <p:cNvPr id="44" name="Text 41"/>
          <p:cNvSpPr txBox="1"/>
          <p:nvPr/>
        </p:nvSpPr>
        <p:spPr>
          <a:xfrm>
            <a:off x="5422392"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لَا</a:t>
            </a:r>
            <a:pPr rtl="1" algn="ctr" indent="0" marL="0">
              <a:buNone/>
            </a:pPr>
            <a:r>
              <a:rPr lang="ar-SA" altLang="en-US" sz="2100" b="1" dirty="0">
                <a:solidFill>
                  <a:srgbClr val="1B3B6F"/>
                </a:solidFill>
                <a:latin typeface="Amiri" pitchFamily="2" charset="-78"/>
                <a:cs typeface="Amiri" pitchFamily="2" charset="-78"/>
              </a:rPr>
              <a:t> أَتَمَرَّنُ يَوْمَ الجُمُعَةِ.</a:t>
            </a:r>
            <a:endParaRPr lang="ar-SA" sz="2100" dirty="0"/>
          </a:p>
        </p:txBody>
      </p:sp>
      <p:sp>
        <p:nvSpPr>
          <p:cNvPr id="45" name="Text 42"/>
          <p:cNvSpPr txBox="1"/>
          <p:nvPr/>
        </p:nvSpPr>
        <p:spPr>
          <a:xfrm>
            <a:off x="5376672"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 not train on Friday.</a:t>
            </a:r>
            <a:endParaRPr lang="en-US" sz="950" dirty="0"/>
          </a:p>
        </p:txBody>
      </p:sp>
      <p:sp>
        <p:nvSpPr>
          <p:cNvPr id="46" name="Text 43"/>
          <p:cNvSpPr txBox="1"/>
          <p:nvPr/>
        </p:nvSpPr>
        <p:spPr>
          <a:xfrm>
            <a:off x="30632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NEGATION</a:t>
            </a:r>
            <a:endParaRPr lang="en-US" sz="1100" dirty="0"/>
          </a:p>
        </p:txBody>
      </p:sp>
      <p:sp>
        <p:nvSpPr>
          <p:cNvPr id="47" name="Text 44"/>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missing the reversal</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each listening: write T (time), P (person), F (frequency) or R (reason) next to every question.</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THREE SMALL WORDS THAT CHANGE THE ANSWER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But, not, only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وَلٰكِنَّ · لَا / لَمْ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KEEP LISTENING · DEVELOP</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كُنْتُ أَذْهَبُ مَشْيًا، وَلٰكِنَّنِي الآنَ أَذْهَبُ بِالحَافِلَةِ.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used to walk, but now I go by bus.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answer comes AFTER “but”.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REVERSAL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لَا / لَمْ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لَمْ يَتَغَيَّرْ مَوْعِدِي.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appointment did not change.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small word = the opposite.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EXCEPT / ONLY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إِلَّا · مَا عَدَا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أَتَمَرَّنُ كُلَّ يَوْمٍ مَا عَدَا يَوْمَ الجُمُعَةِ.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every day except Friday.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only “to” on the clock!</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do not stop listening at “but”.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أَسْتَمِرُّ بَعْدَ وَلٰكِنَّ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cs typeface="Amiri" pitchFamily="2" charset="-78"/>
              </a:rPr>
              <a:t>أَتَوَقَّفُ عِنْدَ وَلٰكِنَّ</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grammar as an evidence system</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القَوَاعِدُ فِي الاِسْتِمَاعِ نِظَامٌ لِلْأَدِلَّةِ</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person prefixes to track the speaker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أَـ</a:t>
            </a:r>
            <a:pPr algn="l" indent="0" marL="0">
              <a:buNone/>
            </a:pPr>
            <a:r>
              <a:rPr lang="en-US" sz="1050" dirty="0">
                <a:solidFill>
                  <a:srgbClr val="5A6472"/>
                </a:solidFill>
                <a:latin typeface="Calibri" pitchFamily="34" charset="0"/>
                <a:cs typeface="Amiri" pitchFamily="2" charset="-78"/>
              </a:rPr>
              <a:t> = I · </a:t>
            </a:r>
            <a:pPr algn="l" indent="0" marL="0">
              <a:buNone/>
            </a:pPr>
            <a:r>
              <a:rPr lang="ar-SA" altLang="en-US" sz="1350" dirty="0">
                <a:solidFill>
                  <a:srgbClr val="5A6472"/>
                </a:solidFill>
                <a:latin typeface="Amiri" pitchFamily="2" charset="-78"/>
                <a:cs typeface="Amiri" pitchFamily="2" charset="-78"/>
              </a:rPr>
              <a:t>تَـ</a:t>
            </a:r>
            <a:pPr algn="l" indent="0" marL="0">
              <a:buNone/>
            </a:pPr>
            <a:r>
              <a:rPr lang="en-US" sz="1050" dirty="0">
                <a:solidFill>
                  <a:srgbClr val="5A6472"/>
                </a:solidFill>
                <a:latin typeface="Calibri" pitchFamily="34" charset="0"/>
                <a:cs typeface="Amiri" pitchFamily="2" charset="-78"/>
              </a:rPr>
              <a:t> = you/she · </a:t>
            </a:r>
            <a:pPr algn="l" indent="0" marL="0">
              <a:buNone/>
            </a:pPr>
            <a:r>
              <a:rPr lang="ar-SA" altLang="en-US" sz="1350" dirty="0">
                <a:solidFill>
                  <a:srgbClr val="5A6472"/>
                </a:solidFill>
                <a:latin typeface="Amiri" pitchFamily="2" charset="-78"/>
                <a:cs typeface="Amiri" pitchFamily="2" charset="-78"/>
              </a:rPr>
              <a:t>يَـ</a:t>
            </a:r>
            <a:pPr algn="l" indent="0" marL="0">
              <a:buNone/>
            </a:pPr>
            <a:r>
              <a:rPr lang="en-US" sz="1050" dirty="0">
                <a:solidFill>
                  <a:srgbClr val="5A6472"/>
                </a:solidFill>
                <a:latin typeface="Calibri" pitchFamily="34" charset="0"/>
                <a:cs typeface="Amiri" pitchFamily="2" charset="-78"/>
              </a:rPr>
              <a:t> = he · </a:t>
            </a:r>
            <a:pPr algn="l" indent="0" marL="0">
              <a:buNone/>
            </a:pPr>
            <a:r>
              <a:rPr lang="ar-SA" altLang="en-US" sz="1350" dirty="0">
                <a:solidFill>
                  <a:srgbClr val="5A6472"/>
                </a:solidFill>
                <a:latin typeface="Amiri" pitchFamily="2" charset="-78"/>
                <a:cs typeface="Amiri" pitchFamily="2" charset="-78"/>
              </a:rPr>
              <a:t>نَـ</a:t>
            </a:r>
            <a:pPr algn="l" indent="0" marL="0">
              <a:buNone/>
            </a:pPr>
            <a:r>
              <a:rPr lang="en-US" sz="1050" dirty="0">
                <a:solidFill>
                  <a:srgbClr val="5A6472"/>
                </a:solidFill>
                <a:latin typeface="Calibri" pitchFamily="34" charset="0"/>
                <a:cs typeface="Amiri" pitchFamily="2" charset="-78"/>
              </a:rPr>
              <a:t> = we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2" charset="-78"/>
                <a:cs typeface="Amiri" pitchFamily="2" charset="-78"/>
              </a:rPr>
              <a:t>أَسْتَيْقِظُ</a:t>
            </a:r>
            <a:pPr algn="l" indent="0" marL="0">
              <a:buNone/>
            </a:pPr>
            <a:r>
              <a:rPr lang="en-US" sz="2000" b="1" dirty="0">
                <a:solidFill>
                  <a:srgbClr val="1F2A37"/>
                </a:solidFill>
                <a:latin typeface="Calibri" pitchFamily="34" charset="0"/>
                <a:cs typeface="Amiri" pitchFamily="2" charset="-78"/>
              </a:rPr>
              <a:t> = I wake.   ·   </a:t>
            </a:r>
            <a:pPr algn="l" indent="0" marL="0">
              <a:buNone/>
            </a:pPr>
            <a:r>
              <a:rPr lang="ar-SA" altLang="en-US" sz="2600" b="1" dirty="0">
                <a:solidFill>
                  <a:srgbClr val="1F2A37"/>
                </a:solidFill>
                <a:latin typeface="Amiri" pitchFamily="2" charset="-78"/>
                <a:cs typeface="Amiri" pitchFamily="2" charset="-78"/>
              </a:rPr>
              <a:t>تَسْتَيْقِظُ</a:t>
            </a:r>
            <a:pPr algn="l" indent="0" marL="0">
              <a:buNone/>
            </a:pPr>
            <a:r>
              <a:rPr lang="en-US" sz="2000" b="1" dirty="0">
                <a:solidFill>
                  <a:srgbClr val="1F2A37"/>
                </a:solidFill>
                <a:latin typeface="Calibri" pitchFamily="34" charset="0"/>
                <a:cs typeface="Amiri" pitchFamily="2" charset="-78"/>
              </a:rPr>
              <a:t> = she/you wake.   ·   </a:t>
            </a:r>
            <a:pPr algn="l" indent="0" marL="0">
              <a:buNone/>
            </a:pPr>
            <a:r>
              <a:rPr lang="ar-SA" altLang="en-US" sz="2600" b="1" dirty="0">
                <a:solidFill>
                  <a:srgbClr val="1F2A37"/>
                </a:solidFill>
                <a:latin typeface="Amiri" pitchFamily="2" charset="-78"/>
                <a:cs typeface="Amiri" pitchFamily="2" charset="-78"/>
              </a:rPr>
              <a:t>يَسْتَيْقِظُ</a:t>
            </a:r>
            <a:pPr algn="l" indent="0" marL="0">
              <a:buNone/>
            </a:pPr>
            <a:r>
              <a:rPr lang="en-US" sz="2000" b="1" dirty="0">
                <a:solidFill>
                  <a:srgbClr val="1F2A37"/>
                </a:solidFill>
                <a:latin typeface="Calibri" pitchFamily="34" charset="0"/>
                <a:cs typeface="Amiri" pitchFamily="2" charset="-78"/>
              </a:rPr>
              <a:t> = he wakes.</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time frames as anchors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فِي السَّاعَةِ · قَبْلَ · بَعْدَ · مُدَّةَ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يَسْتَيْقِظُ فِي السَّادِسَةِ، لٰكِنَّ الدَّرْسَ يَبْدَأُ فِي الثَّامِنَةِ.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Listen beyond the contrast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وَلٰكِنَّ · بَيْنَمَا · أَمَّا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أُحِبُّ المَشْيَ، وَلٰكِنَّنِي أَذْهَبُ بِالحَافِلَةِ عِنْدَمَا تُمْطِرُ.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Notice negation and limitation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لَا · لَمْ · لَيْسَ · إِلَّا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لَا أَتَمَرَّنُ يَوْمَ الجُمُعَةِ.   ·   لَمْ يَتَغَيَّرْ مَوْعِدِي.   ·   لَا أَسْتَعْمِلُ الهَاتِفَ إِلَّا لِمُرَاجَعَةِ الوَقْتِ.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distractor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the final score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translates the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sounds plausible but is not the required answer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after hearing </a:t>
            </a:r>
            <a:pPr algn="l" indent="0" marL="0">
              <a:buNone/>
            </a:pPr>
            <a:r>
              <a:rPr lang="ar-SA" altLang="en-US" sz="1650" b="1" dirty="0">
                <a:solidFill>
                  <a:srgbClr val="1B3B6F"/>
                </a:solidFill>
                <a:latin typeface="Amiri" pitchFamily="2" charset="-78"/>
                <a:cs typeface="Amiri" pitchFamily="2" charset="-78"/>
              </a:rPr>
              <a:t>وَلٰكِنَّ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 listening for the contrast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immediately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next clause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can reverse a statement?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near-synonymous?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نَادِرًا / قَلِيلًا 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يَبْدَأُ / 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 بَعْدَ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distractor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the final score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translates the text</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sounds plausible but is not the required answer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distractor is deliberately close but wrong.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after hearing </a:t>
            </a:r>
            <a:pPr algn="l" indent="0" marL="0">
              <a:buNone/>
            </a:pPr>
            <a:r>
              <a:rPr lang="ar-SA" altLang="en-US" sz="1650" b="1" dirty="0">
                <a:solidFill>
                  <a:srgbClr val="1B3B6F"/>
                </a:solidFill>
                <a:latin typeface="Amiri" pitchFamily="2" charset="-78"/>
                <a:cs typeface="Amiri" pitchFamily="2" charset="-78"/>
              </a:rPr>
              <a:t>وَلٰكِنَّ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keep listening for the contrast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immediately</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next clause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key correction often follows.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can reverse a statement?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Negation changes the meaning.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near-synonymous?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نَادِرًا / قَلِيلًا 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يَبْدَأُ / 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 بَعْدَ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express low frequency.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مَتَى تَخْرُجُ مَرْيَمُ مِنَ البَيْتِ؟</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type: a TIME for LEAVING.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تَسْتَيْقِظُ </a:t>
            </a:r>
            <a:pPr rtl="1" algn="ctr" indent="0" marL="0">
              <a:lnSpc>
                <a:spcPct val="120000"/>
              </a:lnSpc>
              <a:buNone/>
            </a:pPr>
            <a:r>
              <a:rPr lang="ar-SA" altLang="en-US" sz="1750" b="1" dirty="0">
                <a:solidFill>
                  <a:srgbClr val="D6336C"/>
                </a:solidFill>
                <a:latin typeface="Amiri" pitchFamily="2" charset="-78"/>
                <a:cs typeface="Amiri" pitchFamily="2" charset="-78"/>
              </a:rPr>
              <a:t>فِي السَّادِسَةِ</a:t>
            </a:r>
            <a:pPr rtl="1" algn="ctr" indent="0" marL="0">
              <a:lnSpc>
                <a:spcPct val="120000"/>
              </a:lnSpc>
              <a:buNone/>
            </a:pPr>
            <a:r>
              <a:rPr lang="ar-SA" altLang="en-US" sz="1750" b="1" dirty="0">
                <a:solidFill>
                  <a:srgbClr val="1B3B6F"/>
                </a:solidFill>
                <a:latin typeface="Amiri" pitchFamily="2" charset="-78"/>
                <a:cs typeface="Amiri" pitchFamily="2" charset="-78"/>
              </a:rPr>
              <a:t>، وَلٰكِنَّهَا لَا تَخْرُجُ </a:t>
            </a:r>
            <a:pPr rtl="1" algn="ctr" indent="0" marL="0">
              <a:lnSpc>
                <a:spcPct val="120000"/>
              </a:lnSpc>
              <a:buNone/>
            </a:pPr>
            <a:r>
              <a:rPr lang="ar-SA" altLang="en-US" sz="1750" b="1" dirty="0">
                <a:solidFill>
                  <a:srgbClr val="0E7C86"/>
                </a:solidFill>
                <a:latin typeface="Amiri" pitchFamily="2" charset="-78"/>
                <a:cs typeface="Amiri" pitchFamily="2" charset="-78"/>
              </a:rPr>
              <a:t>حَتَّى السَّابِعَةِ وَالرُّبْعِ</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times! Which is leaving?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2" charset="-78"/>
                <a:cs typeface="Amiri" pitchFamily="2" charset="-78"/>
              </a:rPr>
              <a:t>السَّادِسَةُ</a:t>
            </a:r>
            <a:pPr rtl="1" algn="ctr" indent="0" marL="0">
              <a:lnSpc>
                <a:spcPct val="120000"/>
              </a:lnSpc>
              <a:buNone/>
            </a:pPr>
            <a:r>
              <a:rPr lang="ar-SA" altLang="en-US" sz="1900" b="1" dirty="0">
                <a:solidFill>
                  <a:srgbClr val="1B3B6F"/>
                </a:solidFill>
                <a:latin typeface="Amiri" pitchFamily="2" charset="-78"/>
                <a:cs typeface="Amiri" pitchFamily="2" charset="-78"/>
              </a:rPr>
              <a:t> = وَقْتُ الاِسْتِيقَاظِ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6:00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cs typeface="Amiri" pitchFamily="2" charset="-78"/>
              </a:rPr>
              <a:t>تَخْرُجُ … حَتَّى السَّابِعَةِ وَالرُّبْعِ</a:t>
            </a:r>
            <a:pPr rtl="1" algn="ctr" indent="0" marL="0">
              <a:lnSpc>
                <a:spcPct val="120000"/>
              </a:lnSpc>
              <a:buNone/>
            </a:pPr>
            <a:r>
              <a:rPr lang="ar-SA" altLang="en-US" sz="1800" b="1" dirty="0">
                <a:solidFill>
                  <a:srgbClr val="1B3B6F"/>
                </a:solidFill>
                <a:latin typeface="Amiri" pitchFamily="2" charset="-78"/>
                <a:cs typeface="Amiri" pitchFamily="2" charset="-78"/>
              </a:rPr>
              <a:t>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listen: the verb “leaves”.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السُّؤَالُ: مَتَى تَخْرُجُ مَرْيَمُ؟ ← أَتَوَقَّعُ وَقْتًا. ← سَمِعْتُ </a:t>
            </a:r>
            <a:pPr rtl="1" algn="r" indent="0" marL="0">
              <a:lnSpc>
                <a:spcPct val="120000"/>
              </a:lnSpc>
              <a:buNone/>
            </a:pPr>
            <a:r>
              <a:rPr lang="ar-SA" altLang="en-US" sz="1600" b="1" dirty="0">
                <a:solidFill>
                  <a:srgbClr val="D6336C"/>
                </a:solidFill>
                <a:latin typeface="Amiri" pitchFamily="2" charset="-78"/>
                <a:cs typeface="Amiri" pitchFamily="2" charset="-78"/>
              </a:rPr>
              <a:t>السَّادِسَةَ</a:t>
            </a:r>
            <a:pPr rtl="1" algn="r" indent="0" marL="0">
              <a:lnSpc>
                <a:spcPct val="120000"/>
              </a:lnSpc>
              <a:buNone/>
            </a:pPr>
            <a:r>
              <a:rPr lang="ar-SA" altLang="en-US" sz="1600" b="1" dirty="0">
                <a:solidFill>
                  <a:srgbClr val="1B3B6F"/>
                </a:solidFill>
                <a:latin typeface="Amiri" pitchFamily="2" charset="-78"/>
                <a:cs typeface="Amiri" pitchFamily="2" charset="-78"/>
              </a:rPr>
              <a:t> وَ</a:t>
            </a:r>
            <a:pPr rtl="1" algn="r" indent="0" marL="0">
              <a:lnSpc>
                <a:spcPct val="120000"/>
              </a:lnSpc>
              <a:buNone/>
            </a:pPr>
            <a:r>
              <a:rPr lang="ar-SA" altLang="en-US" sz="1600" b="1" dirty="0">
                <a:solidFill>
                  <a:srgbClr val="0E7C86"/>
                </a:solidFill>
                <a:latin typeface="Amiri" pitchFamily="2" charset="-78"/>
                <a:cs typeface="Amiri" pitchFamily="2" charset="-78"/>
              </a:rPr>
              <a:t>السَّابِعَةَ وَالرُّبْعَ</a:t>
            </a:r>
            <a:pPr rtl="1" algn="r" indent="0" marL="0">
              <a:lnSpc>
                <a:spcPct val="120000"/>
              </a:lnSpc>
              <a:buNone/>
            </a:pPr>
            <a:r>
              <a:rPr lang="ar-SA" altLang="en-US" sz="1600" b="1" dirty="0">
                <a:solidFill>
                  <a:srgbClr val="1B3B6F"/>
                </a:solidFill>
                <a:latin typeface="Amiri" pitchFamily="2" charset="-78"/>
                <a:cs typeface="Amiri" pitchFamily="2" charset="-78"/>
              </a:rPr>
              <a:t>. ← أَسْتَبْعِدُ </a:t>
            </a:r>
            <a:pPr rtl="1" algn="r" indent="0" marL="0">
              <a:lnSpc>
                <a:spcPct val="120000"/>
              </a:lnSpc>
              <a:buNone/>
            </a:pPr>
            <a:r>
              <a:rPr lang="ar-SA" altLang="en-US" sz="1600" b="1" dirty="0">
                <a:solidFill>
                  <a:srgbClr val="D6336C"/>
                </a:solidFill>
                <a:latin typeface="Amiri" pitchFamily="2" charset="-78"/>
                <a:cs typeface="Amiri" pitchFamily="2" charset="-78"/>
              </a:rPr>
              <a:t>السَّادِسَةَ</a:t>
            </a:r>
            <a:pPr rtl="1" algn="r" indent="0" marL="0">
              <a:lnSpc>
                <a:spcPct val="120000"/>
              </a:lnSpc>
              <a:buNone/>
            </a:pPr>
            <a:r>
              <a:rPr lang="ar-SA" altLang="en-US" sz="1600" b="1" dirty="0">
                <a:solidFill>
                  <a:srgbClr val="1B3B6F"/>
                </a:solidFill>
                <a:latin typeface="Amiri" pitchFamily="2" charset="-78"/>
                <a:cs typeface="Amiri" pitchFamily="2" charset="-78"/>
              </a:rPr>
              <a:t> لِأَنَّهَا وَقْتُ الاِسْتِيقَاظِ. ← الجَوَابُ: </a:t>
            </a:r>
            <a:pPr rtl="1" algn="r" indent="0" marL="0">
              <a:lnSpc>
                <a:spcPct val="120000"/>
              </a:lnSpc>
              <a:buNone/>
            </a:pPr>
            <a:r>
              <a:rPr lang="ar-SA" altLang="en-US" sz="1600" b="1" dirty="0">
                <a:solidFill>
                  <a:srgbClr val="0E7C86"/>
                </a:solidFill>
                <a:latin typeface="Amiri" pitchFamily="2" charset="-78"/>
                <a:cs typeface="Amiri" pitchFamily="2" charset="-78"/>
              </a:rPr>
              <a:t>السَّابِعَةُ وَالرُّبْعُ</a:t>
            </a:r>
            <a:pPr rtl="1" algn="r" indent="0" marL="0">
              <a:lnSpc>
                <a:spcPct val="120000"/>
              </a:lnSpc>
              <a:buNone/>
            </a:pPr>
            <a:r>
              <a:rPr lang="ar-SA" altLang="en-US" sz="1600" b="1" dirty="0">
                <a:solidFill>
                  <a:srgbClr val="1B3B6F"/>
                </a:solidFill>
                <a:latin typeface="Amiri" pitchFamily="2" charset="-78"/>
                <a:cs typeface="Amiri" pitchFamily="2" charset="-78"/>
              </a:rPr>
              <a:t>.</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When does Maryam leave? → I predict a time. → I heard six and quarter past seven. → I eliminate six because it is the wake-up time. → Answer: quarter past seven.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أُرَكِّزُ عَلَى كَلِمَاتِ الوَقْتِ.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focus on time words.</a:t>
            </a:r>
            <a:endParaRPr lang="en-US" sz="1250" dirty="0"/>
          </a:p>
          <a:p>
            <a:pPr indent="0" marL="0">
              <a:buNone/>
            </a:pPr>
            <a:r>
              <a:rPr lang="en-US" sz="1050" i="1" dirty="0">
                <a:solidFill>
                  <a:srgbClr val="8A6D1E"/>
                </a:solidFill>
                <a:latin typeface="Calibri" pitchFamily="34" charset="0"/>
                <a:cs typeface="Amiri" pitchFamily="2" charset="-78"/>
              </a:rPr>
              <a:t>A deliberate listening target.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أَسْتَبْعِدُ الخِيَارَ الَّذِي يَخُصُّ شَخْصًا آخَرَ.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eliminate the option about another person.</a:t>
            </a:r>
            <a:endParaRPr lang="en-US" sz="1250" dirty="0"/>
          </a:p>
          <a:p>
            <a:pPr indent="0" marL="0">
              <a:buNone/>
            </a:pPr>
            <a:r>
              <a:rPr lang="en-US" sz="1050" i="1" dirty="0">
                <a:solidFill>
                  <a:srgbClr val="8A6D1E"/>
                </a:solidFill>
                <a:latin typeface="Calibri" pitchFamily="34" charset="0"/>
                <a:cs typeface="Amiri" pitchFamily="2" charset="-78"/>
              </a:rPr>
              <a:t>Person tracking.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أُلَاحِظُ وَلٰكِنَّ ثُمَّ أَنْتَظِرُ المَعْلُومَةَ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notice “but” and wait for the new information.</a:t>
            </a:r>
            <a:endParaRPr lang="en-US" sz="1250" dirty="0"/>
          </a:p>
          <a:p>
            <a:pPr indent="0" marL="0">
              <a:buNone/>
            </a:pPr>
            <a:r>
              <a:rPr lang="en-US" sz="1050" i="1" dirty="0">
                <a:solidFill>
                  <a:srgbClr val="8A6D1E"/>
                </a:solidFill>
                <a:latin typeface="Calibri" pitchFamily="34" charset="0"/>
                <a:cs typeface="Amiri" pitchFamily="2" charset="-78"/>
              </a:rPr>
              <a:t>Contrast control.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الاِسْتِمَاعِ الثَّانِي أَتَثَبَّتُ مِنَ التَّفَاصِيلِ.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 the second listening I verify details.</a:t>
            </a:r>
            <a:endParaRPr lang="en-US" sz="1250" dirty="0"/>
          </a:p>
          <a:p>
            <a:pPr indent="0" marL="0">
              <a:buNone/>
            </a:pPr>
            <a:r>
              <a:rPr lang="en-US" sz="1050" i="1" dirty="0">
                <a:solidFill>
                  <a:srgbClr val="8A6D1E"/>
                </a:solidFill>
                <a:latin typeface="Calibri" pitchFamily="34" charset="0"/>
                <a:cs typeface="Amiri" pitchFamily="2" charset="-78"/>
              </a:rPr>
              <a:t>Verification habit.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evidence decoder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السَّاعَةِ السَّابِعَةِ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نِصْفِ سَاعَةٍ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 المَدْرَسَةَ بَعِيدَةٌ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وَلٰكِنَّ الحَافِلَةَ تَأَخَّرَتْ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أَمَّا أَخِي فَيَسْتَيْقِظُ مُتَأَخِّرًا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أَذْهَبُ يَوْمَ الجُمُعَةِ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أَسْتَقِلِ الحَافِلَةَ اليَوْمَ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order or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Reason or contrast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Negation or changed detail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order or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السَّاعَةِ السَّابِعَةِ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نِصْفِ سَاعَةٍ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أَنْ أَخْرُجَ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Reason or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 المَدْرَسَةَ بَعِيدَةٌ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وَلٰكِنَّ الحَافِلَةَ تَأَخَّرَتْ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أَمَّا أَخِي فَيَسْتَيْقِظُ مُتَأَخِّرًا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Negation or changed detail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أَذْهَبُ يَوْمَ الجُمُعَةِ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 أَسْتَقِلِ الحَافِلَةَ اليَوْمَ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anchor?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unknown word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handwriting mark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predictable cue such as time or place</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listen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 the first guess without checking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verify exact detail and correct notes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every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selective listening action?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 sound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focus on the requested time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questions</a:t>
            </a:r>
            <a:endParaRPr lang="en-US" sz="12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anchor?</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unknown word</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handwriting mark</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predictable cue such as time or place</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Anchors help locate required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listen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 the first guess without checking</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verify exact detail and correct notes</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every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it for verification.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selective listening action?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 sound</a:t>
            </a:r>
            <a:endParaRPr lang="en-US" sz="12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focus on the requested time</a:t>
            </a:r>
            <a:endParaRPr lang="en-US" sz="12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questions</a:t>
            </a:r>
            <a:endParaRPr lang="en-US" sz="12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Listen for the information category required.</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سَمِعْتُ كَلِمَةَ الحَافِلَةِ، إِذَنْ هِيَ الإِجَابَةُ.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Hearing a word ≠ the answer. What must you check?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أَخْتَارُ أَوَّلَ وَقْتٍ أَسْمَعُهُ.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Several times are mentioned. What do you link each one 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أَتَوَقَّفُ عِنْدَ وَلٰكِنَّ.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often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سَمِعْتُ كَلِمَةَ الحَافِلَةِ، إِذَنْ هِيَ الإِجَابَةُ.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أَتَأَكَّدُ أَنَّ الحَافِلَةَ تَخُصُّ السُّؤَالَ وَالشَّخْصَ الصَّحِيحَ.</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Hearing the word is not sufficient.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أَخْتَارُ أَوَّلَ وَقْتٍ أَسْمَعُهُ.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أَرْبِطُ كُلَّ وَقْتٍ بِالحَدَثِ الَّذِي يَصِفُهُ.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Several times may appear.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أَتَوَقَّفُ عِنْدَ وَلٰكِنَّ.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أَسْتَمِرُّ بَعْدَ وَلٰكِنَّ لِأَسْمَعَ المُقَابَلَةَ.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key information often follows the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Maryam’s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leave home?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is a distractor in Text 1 when the question asks about leaving home?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are leaving times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Before listening, write T next to each question.</a:t>
            </a:r>
            <a:endParaRPr lang="en-US" sz="1250" dirty="0"/>
          </a:p>
          <a:p>
            <a:pPr algn="l" indent="0" marL="0">
              <a:buNone/>
            </a:pPr>
            <a:r>
              <a:rPr lang="en-US" sz="1250" dirty="0">
                <a:solidFill>
                  <a:srgbClr val="1E6B52"/>
                </a:solidFill>
                <a:latin typeface="Calibri" pitchFamily="34" charset="0"/>
                <a:cs typeface="Amiri" pitchFamily="2" charset="-78"/>
              </a:rPr>
              <a:t>Two times will be heard: wake? leave? bus?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النَّصُّ الأَوَّلُ: تَسْتَيْقِظُ مَرْيَمُ فِي السَّادِسَةِ،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 Maryam wakes up at six,</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وَلٰكِنَّهَا لَا تَخْرُجُ مِنَ البَيْتِ حَتَّى السَّابِعَةِ وَالرُّبْعِ.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she does not leave the house until quarter past seven.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تَتَنَاوَلُ الإِفْطَارَ دَائِمًا، وَتَسْتَقِلُّ الحَافِلَةَ فِي السَّابِعَةِ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always has breakfast, and she takes the bus at half past seven.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time is her wake-up time.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leave home?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7:15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does not leave until a quarter past seven.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is a distractor in Text 1 when the question asks about leaving home?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are leaving times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6:00 is the wake-up time, not the leaving time.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Before listening, write T next to each question.</a:t>
            </a:r>
            <a:endParaRPr lang="en-US" sz="1250" dirty="0"/>
          </a:p>
          <a:p>
            <a:pPr algn="l" indent="0" marL="0">
              <a:buNone/>
            </a:pPr>
            <a:r>
              <a:rPr lang="en-US" sz="1250" dirty="0">
                <a:solidFill>
                  <a:srgbClr val="1E6B52"/>
                </a:solidFill>
                <a:latin typeface="Calibri" pitchFamily="34" charset="0"/>
                <a:cs typeface="Amiri" pitchFamily="2" charset="-78"/>
              </a:rPr>
              <a:t>Two times will be heard: wake? leave? bus?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Text 2: Omar and Salma make a plan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 Omar and Salma finally agree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did Omar first suggest?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can’t Salma meet at four?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tired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at the club</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lesson ends at 4:30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times are heard.</a:t>
            </a:r>
            <a:endParaRPr lang="en-US" sz="1250" dirty="0"/>
          </a:p>
          <a:p>
            <a:pPr algn="l" indent="0" marL="0">
              <a:buNone/>
            </a:pPr>
            <a:r>
              <a:rPr lang="en-US" sz="1250" dirty="0">
                <a:solidFill>
                  <a:srgbClr val="1E6B52"/>
                </a:solidFill>
                <a:latin typeface="Calibri" pitchFamily="34" charset="0"/>
                <a:cs typeface="Amiri" pitchFamily="2" charset="-78"/>
              </a:rPr>
              <a:t>Wait for the phrase “they agreed on”.</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النَّصُّ الثَّانِي: يَلْتَقِي عُمَرُ وَسَلْمَى يَوْمَ السَّبْتِ. اِقْتَرَحَ عُمَرُ السَّاعَةَ الرَّابِعَةَ،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 Omar and Salma are meeting on Saturday. Omar suggested four o’clock,</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سَلْمَى فَلَا تَنْتَهِي مِنْ دَرْسِهَا قَبْلَ الرَّابِعَةِ وَالنِّصْفِ،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Salma does not finish her lesson before half past four,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لِذٰلِكَ اِتَّفَقَا عَلَى الخَامِسَةِ إِلَّا الرُّبْعَ.</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they agreed on quarter to five.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 Omar and Salma finally agree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اِتَّفَقَا عَلَى الخَامِسَةِ إِلَّا الرُّبْعَ.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did Omar first suggest?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4:30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4:45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4:00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اِقْتَرَحَ عُمَرُ السَّاعَةَ الرَّابِعَةَ</a:t>
            </a:r>
            <a:pPr algn="l" indent="0" marL="0">
              <a:buNone/>
            </a:pPr>
            <a:r>
              <a:rPr lang="en-US" sz="1050" i="1" dirty="0">
                <a:solidFill>
                  <a:srgbClr val="8A6D1E"/>
                </a:solidFill>
                <a:latin typeface="Calibri" pitchFamily="34" charset="0"/>
                <a:cs typeface="Amiri" pitchFamily="2" charset="-78"/>
              </a:rPr>
              <a:t> — a suggestion, not the final time.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can’t Salma meet at four?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tired</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at the club</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lesson ends at 4:30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تَنْتَهِي مِنْ دَرْسِهَا قَبْلَ الرَّابِعَةِ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times are heard.</a:t>
            </a:r>
            <a:endParaRPr lang="en-US" sz="1250" dirty="0"/>
          </a:p>
          <a:p>
            <a:pPr algn="l" indent="0" marL="0">
              <a:buNone/>
            </a:pPr>
            <a:r>
              <a:rPr lang="en-US" sz="1250" dirty="0">
                <a:solidFill>
                  <a:srgbClr val="1E6B52"/>
                </a:solidFill>
                <a:latin typeface="Calibri" pitchFamily="34" charset="0"/>
                <a:cs typeface="Amiri" pitchFamily="2" charset="-78"/>
              </a:rPr>
              <a:t>Wait for the phrase “they agreed on”.</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Samer’s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Samir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resting?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straight to 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breakfast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completes 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stays home and helps his family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trains twice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meets Salma</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T, order, F, what day?</a:t>
            </a:r>
            <a:endParaRPr lang="en-US" sz="1250" dirty="0"/>
          </a:p>
          <a:p>
            <a:pPr algn="l" indent="0" marL="0">
              <a:buNone/>
            </a:pPr>
            <a:r>
              <a:rPr lang="en-US" sz="1250" dirty="0">
                <a:solidFill>
                  <a:srgbClr val="1E6B52"/>
                </a:solidFill>
                <a:latin typeface="Calibri" pitchFamily="34" charset="0"/>
                <a:cs typeface="Amiri" pitchFamily="2" charset="-78"/>
              </a:rPr>
              <a:t>Listen past “as for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النَّصُّ الثَّالِثُ: يَعُودُ سَامِرٌ إِلَى البَيْتِ فِي الثَّالِثَةِ وَعَشْرِ دَقَائِقَ.</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 Samer returns home at ten past three.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يَسْتَرِيحُ نِصْفَ سَاعَةٍ، ثُمَّ يُكْمِلُ وَاجِبَهُ قَبْلَ أَنْ يَذْهَبَ إِلَى التَّمْرِينِ.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rests for half an hour, then finishes his homework before he goes to training.</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يَتَمَرَّنُ ثَلَاثَ مَرَّاتٍ فِي الأُسْبُوعِ،</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trains three times a week;</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يَوْمُ الخَمِيسِ فَيَبْقَى فِي البَيْتِ وَيُسَاعِدُ أُسْرَتَهُ.</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Thursday, he stays at home and helps his family.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Samir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الثَّالِثَةِ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resting?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straight to 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eats breakfast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completes 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يُكْمِلُ وَاجِبَهُ.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ثَلَاثَ مَرَّاتٍ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stays home and helps his family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trains twice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meets Salma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أَمَّا يَوْمُ الخَمِيسِ فَيَبْقَى فِي البَيْتِ.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T, order, F, what day?</a:t>
            </a:r>
            <a:endParaRPr lang="en-US" sz="1250" dirty="0"/>
          </a:p>
          <a:p>
            <a:pPr algn="l" indent="0" marL="0">
              <a:buNone/>
            </a:pPr>
            <a:r>
              <a:rPr lang="en-US" sz="1250" dirty="0">
                <a:solidFill>
                  <a:srgbClr val="1E6B52"/>
                </a:solidFill>
                <a:latin typeface="Calibri" pitchFamily="34" charset="0"/>
                <a:cs typeface="Amiri" pitchFamily="2" charset="-78"/>
              </a:rPr>
              <a:t>Listen past “as for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Reflect on listening decisions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الكَلِمَةُ المِفْتَاحِيَّةُ الَّتِي سَاعَدَتْكَ؟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مُشَتِّتٍ كَانَ أَقْوَى؟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غَيَّرْتَ فِي الاِسْتِمَاعِ الثَّانِي؟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الهَدَفُ المُحَدَّدُ الَّذِي سَتُطَوِّرُهُ فِي الاِسْتِمَاعِ القَادِمِ؟</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الكَلِمَةُ المِفْتَاحِيَّةُ كَانَتْ «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كَانَ المُشَتِّتُ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فِي الاِسْتِمَاعِ الثَّانِي ، تَثَبَّتُّ مِنْ ___ .</a:t>
            </a:r>
            <a:endParaRPr lang="ar-SA" sz="15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هَدَفِي القَادِمُ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لِمَاذَا لَمْ تَخْتَرِ السَّادِسَةَ؟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didn’t you choose six?</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لِأَنَّ السَّادِسَةَ كَانَتْ وَقْتَ الاِسْتِيقَاظِ، بَيْنَمَا السُّؤَالُ كَانَ عَنْ وَقْتِ الخُرُوجِ. اِنْتَظَرْتُ الفِعْلَ «تَخْرُجُ».</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Because six was the wake-up time, whereas the question was about the leaving time. I waited for the verb “leaves”.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Identify key words and complete the questions with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Rebuild Samer’s afternoon (Text 3) from your answers: time, order, how often, Thursday.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distractors and correct answers from the script.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Rebuild one speaker’s routine and explain ONE distractor you rejected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paraphrase, inference and personal strategy using precise listening terminology.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reconstruct a routine, explain two distractors, say what changed on the second listen and set a measurable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رَكَّزْتُ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focused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المُشَتِّتُ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distractor was …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اِسْتَبْعَدْتُ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eliminated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الاِسْتِمَاعِ الثَّانِي تَثَبَّتُّ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second listen I verified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هَدَفِي القَادِمُ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next target is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يَعُودُ سَامِرٌ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Samer returns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يَسْتَرِيحُ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rests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يُكْمِلُ وَاجِبَهُ.</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he finishes his homework.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يَتَمَرَّنُ ______ فِي الأُسْبُوعِ.</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trains … a week.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يَوْمُ الخَمِيسِ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Thursday he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أَتَوَقَّعُ  ·  أُرَكِّزُ عَلَى  ·  أَسْتَبْعِدُ  ·  أَتَثَبَّتُ مِنْ  ·  مُشَتِّتٌ  ·  كَلِمَةٌ مِفْتَاحِيَّةٌ  ·  الوَقْتُ  ·  الحَدَثُ  ·  وَلٰكِنَّ  ·  لَا / لَمْ  ·  اِتَّفَقَا عَلَى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reconstructing one speaker’s routine from the listening evidence, then explain two distractors you rejected.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Refer to an exact question or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Explain why one distractor was attractive.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listening-strategy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State what changed on the second listen.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Set a measurable next-step target.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اِخْتَرْتُ السَّادِسَةَ لِأَنَّهَا أَوَّلُ وَقْتٍ سَمِعْتُهُ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chose six because it was the first time I heard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 السُّؤَالَ كَانَ عَنْ وَقْتِ الخُرُوجِ</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the question was about the leaving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فَانْتَظَرْتُ عِبَارَةَ «اِتَّفَقَا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waited for the phrase “they agreed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رَبَطْتُ «ثَلَاثَ مَرَّاتٍ» بِالتَّمْرِينِ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linked “three times” to training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سَأَكْتُبُ كُلَّ وَقْتٍ مَعَ الحَدَثِ الَّذِي يَصِفُهُ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write each time with the event it describes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تَدْرِيبِ الاِسْتِمَاعِ نَجَحْتُ فِي تَتَبُّعِ أَوْقَاتِ النَّصِّ الثَّانِي، لِأَنَّنِي اِنْتَظَرْتُ عِبَارَةَ «اِتَّفَقَا عَلَى» قَبْلَ أَنْ أَخْتَارَ. وَلٰكِنَّنِي أَخْطَأْتُ فِي السُّؤَالِ الأَوَّلِ، فَقَدِ اِخْتَرْتُ وَقْتَ الاِسْتِيقَاظِ بَدَلَ وَقْتِ الخُرُوجِ. كَانَ المُشَتِّتُ قَوِيًّا لِأَنَّ السَّادِسَةَ ذُكِرَتْ أَوَّلًا. فِي الاِسْتِمَاعِ الثَّانِي رَكَّزْتُ عَلَى الفِعْلِ «تَخْرُجُ» وَصَحَّحْتُ إِجَابَتِي. هَدَفِي القَادِمُ أَنْ أَرْبِطَ كُلَّ رَقْمٍ بِالحَدَثِ الصَّحِيحِ وَأَنْ أُرَاجِعَ كُلَّ إِجَابَةٍ مَرَّةً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listening practice I managed to track the times in Text 2, because I waited for the phrase “they agreed on” before choosing. But I made a mistake in the first question: I chose the wake-up time instead of the leaving time. The distractor was strong because six was mentioned first. On the second listening I focused on the verb “leaves” and corrected my answer. My next target is to link every number to the correct event and to check every answer once.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strategy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distractor and why it was strong</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what changed on the second listen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measurable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each question (time, person, how often)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times match the right event.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listening after “but” and “as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one distractor I rejected.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target is specific and measurable.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with the first number heard?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link it to the event before choosing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 it immediately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all later numbers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final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اِقْتَرَحَ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اِتَّفَقَا 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تَنْتَهِي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distractor clue?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correct word attached to the wrong person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exact requested detail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clear final conclusion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with the first number heard?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link it to the event before choosing</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 it immediately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all later numbers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Context determines which event the number belongs to.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final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اِقْتَرَحَ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اِتَّفَقَا 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تَنْتَهِي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signals the chosen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distractor clue?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correct word attached to the wrong person</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exact requested detail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clear final conclusion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vocabulary may be right but the referent wrong.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performance log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بَعْدَ التَّدْرِيبِ كَتَبَتْ سَارَةُ: فِي النَّصِّ الأَوَّلِ اِخْتَرْتُ السَّادِسَةَ لِأَنَّهَا أَوَّلُ وَقْتٍ سَمِعْتُهُ، وَلٰكِنَّ السُّؤَالَ كَانَ عَنْ وَقْتِ الخُرُوجِ، وَالإِجَابَةُ الصَّحِيحَةُ هِيَ السَّابِعَةُ وَالرُّبْعُ. فِي النَّصِّ الثَّانِي ذَكَرَ المُتَحَدِّثَانِ ثَلَاثَةَ أَوْقَاتٍ، فَانْتَظَرْتُ عِبَارَةَ «اِتَّفَقَا عَلَى». أَمَّا فِي النَّصِّ الثَّالِثِ فَرَبَطْتُ «ثَلَاثَ مَرَّاتٍ» بِالتَّمْرِينِ، وَلَمْ أَخْتَرْ يَوْمَ الخَمِيسِ لِأَنَّهُ يَبْقَى فِي البَيْتِ. فِي الاِسْتِمَاعِ القَادِمِ سَأَكْتُبُ كُلَّ وَقْتٍ مَعَ الحَدَثِ الَّذِي يَصِفُهُ.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بَعْدَ التَّدْرِيبِ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the practice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اِخْتَرْتُ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chose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أَوَّلُ وَقْتٍ سَمِعْتُهُ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first time I heard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وَقْتِ الخُرُوجِ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leaving time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المُتَحَدِّثَانِ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two speakers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فَانْتَظَرْتُ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I waited for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عِبَارَةَ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phrase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رَبَطْتُ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linked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لَمْ أَخْتَرْ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did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سَأَكْتُبُ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write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Sara’s first error?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missing a person’s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choosing the wake-up time instead of the leaving time</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confusing Saturday and Thursday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revealed the final agreed time?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اِقْتَرَحَ عُمَرُ</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الرَّابِعَةِ</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اِتَّفَقَا عَلَى</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t>
            </a:r>
            <a:pPr algn="l" indent="0" marL="0">
              <a:buNone/>
            </a:pPr>
            <a:r>
              <a:rPr lang="ar-SA" altLang="en-US" sz="1650" b="1" dirty="0">
                <a:solidFill>
                  <a:srgbClr val="1B3B6F"/>
                </a:solidFill>
                <a:latin typeface="Amiri" pitchFamily="2" charset="-78"/>
                <a:cs typeface="Amiri" pitchFamily="2" charset="-78"/>
              </a:rPr>
              <a:t>ثَلَاثَ مَرَّاتٍ</a:t>
            </a:r>
            <a:pPr algn="l" indent="0" marL="0">
              <a:buNone/>
            </a:pPr>
            <a:r>
              <a:rPr lang="en-US" sz="1250" b="1" dirty="0">
                <a:solidFill>
                  <a:srgbClr val="1B3B6F"/>
                </a:solidFill>
                <a:latin typeface="Calibri" pitchFamily="34" charset="0"/>
                <a:cs typeface="Amiri" pitchFamily="2" charset="-78"/>
              </a:rPr>
              <a:t> describe?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frequency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 time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duration</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Thursday rejected as a training day?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club is closed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stays home that 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visits Salma</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Sara do next time?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each time beside its event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every word</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 the last number heard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improved across the log?</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handwriting speed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person-prefix control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distractor control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Sara’s first error?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missing a person’s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choosing the wake-up time instead of the leaving time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confusing Saturday and Thursday</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chose the first time heard rather than the requested event.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revealed the final agreed time?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اِقْتَرَحَ عُمَرُ</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الرَّابِعَةِ</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اِتَّفَقَا عَلَى</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agreement phrase signals the final answer.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t>
            </a:r>
            <a:pPr algn="l" indent="0" marL="0">
              <a:buNone/>
            </a:pPr>
            <a:r>
              <a:rPr lang="ar-SA" altLang="en-US" sz="1650" b="1" dirty="0">
                <a:solidFill>
                  <a:srgbClr val="1B3B6F"/>
                </a:solidFill>
                <a:latin typeface="Amiri" pitchFamily="2" charset="-78"/>
                <a:cs typeface="Amiri" pitchFamily="2" charset="-78"/>
              </a:rPr>
              <a:t>ثَلَاثَ مَرَّاتٍ</a:t>
            </a:r>
            <a:pPr algn="l" indent="0" marL="0">
              <a:buNone/>
            </a:pPr>
            <a:r>
              <a:rPr lang="en-US" sz="1250" b="1" dirty="0">
                <a:solidFill>
                  <a:srgbClr val="1B3B6F"/>
                </a:solidFill>
                <a:latin typeface="Calibri" pitchFamily="34" charset="0"/>
                <a:cs typeface="Amiri" pitchFamily="2" charset="-78"/>
              </a:rPr>
              <a:t> describe?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frequency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return time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 duration</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linked it to </a:t>
            </a:r>
            <a:pPr algn="l" indent="0" marL="0">
              <a:buNone/>
            </a:pPr>
            <a:r>
              <a:rPr lang="ar-SA" altLang="en-US" sz="1350" dirty="0">
                <a:solidFill>
                  <a:srgbClr val="8A6D1E"/>
                </a:solidFill>
                <a:latin typeface="Amiri" pitchFamily="2" charset="-78"/>
                <a:cs typeface="Amiri" pitchFamily="2" charset="-78"/>
              </a:rPr>
              <a:t>التَّمْرِينِ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Thursday rejected as a training day?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club is closed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stays home that 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visits Salma</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he remains at home.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Sara do next time?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each time beside its event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every word</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choose the last number heard</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target is event-linked note-taking.</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improved across the log?</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handwriting speed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person-prefix control</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distractor control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identifies why plausible details were wrong.</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listening-detail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أَسْتَيْقِظُ فِي السَّادِسَةِ، وَلٰكِنَّ الحَافِلَةَ تَصِلُ فِي السَّابِعَةِ</a:t>
            </a:r>
            <a:pPr algn="l" indent="0" marL="0">
              <a:buNone/>
            </a:pPr>
            <a:r>
              <a:rPr lang="en-US" sz="1000" b="1" dirty="0">
                <a:solidFill>
                  <a:srgbClr val="1F2A37"/>
                </a:solidFill>
                <a:latin typeface="Calibri" pitchFamily="34" charset="0"/>
                <a:cs typeface="Amiri" pitchFamily="2" charset="-78"/>
              </a:rPr>
              <a:t>. When does the speaker wake up?</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كُنْتُ أَذْهَبُ مَشْيًا، وَلٰكِنَّنِي الآنَ أَذْهَبُ بِالحَافِلَةِ</a:t>
            </a:r>
            <a:pPr algn="l" indent="0" marL="0">
              <a:buNone/>
            </a:pPr>
            <a:r>
              <a:rPr lang="en-US" sz="1000" b="1" dirty="0">
                <a:solidFill>
                  <a:srgbClr val="1F2A37"/>
                </a:solidFill>
                <a:latin typeface="Calibri" pitchFamily="34" charset="0"/>
                <a:cs typeface="Amiri" pitchFamily="2" charset="-78"/>
              </a:rPr>
              <a:t>. How does the speaker travel now?</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بِالحَافِلَةِ</a:t>
            </a:r>
            <a:endParaRPr lang="ar-SA" sz="20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مَشْيًا</a:t>
            </a:r>
            <a:endParaRPr lang="ar-SA" sz="20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بِالقِطَارِ</a:t>
            </a:r>
            <a:endParaRPr lang="ar-SA" sz="2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أَتَمَرَّنُ كُلَّ يَوْمٍ مَا عَدَا يَوْمَ الجُمُعَةِ</a:t>
            </a:r>
            <a:pPr algn="l" indent="0" marL="0">
              <a:buNone/>
            </a:pPr>
            <a:r>
              <a:rPr lang="en-US" sz="1000" b="1" dirty="0">
                <a:solidFill>
                  <a:srgbClr val="1F2A37"/>
                </a:solidFill>
                <a:latin typeface="Calibri" pitchFamily="34" charset="0"/>
                <a:cs typeface="Amiri" pitchFamily="2" charset="-78"/>
              </a:rPr>
              <a:t>. Which statement is correct?</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exercises on Friday.</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never exercises.</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does not exercise on Friday.</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cs typeface="Amiri" pitchFamily="2" charset="-78"/>
              </a:rPr>
              <a:t>. Who wakes at 7:00?</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كِلَاهُمَا</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أَخُوهَا</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بَعْدَ الدِّرَاسَةِ أَكُونُ مُرْهَقًا، لِذٰلِكَ أَسْتَرِيحُ قَلِيلًا</a:t>
            </a:r>
            <a:pPr algn="l" indent="0" marL="0">
              <a:buNone/>
            </a:pPr>
            <a:r>
              <a:rPr lang="en-US" sz="1000" b="1" dirty="0">
                <a:solidFill>
                  <a:srgbClr val="1F2A37"/>
                </a:solidFill>
                <a:latin typeface="Calibri" pitchFamily="34" charset="0"/>
                <a:cs typeface="Amiri" pitchFamily="2" charset="-78"/>
              </a:rPr>
              <a:t>. What does </a:t>
            </a:r>
            <a:pPr algn="l" indent="0" marL="0">
              <a:buNone/>
            </a:pPr>
            <a:r>
              <a:rPr lang="ar-SA" altLang="en-US" sz="1300" b="1" dirty="0">
                <a:solidFill>
                  <a:srgbClr val="1F2A37"/>
                </a:solidFill>
                <a:latin typeface="Amiri" pitchFamily="2" charset="-78"/>
                <a:cs typeface="Amiri" pitchFamily="2" charset="-78"/>
              </a:rPr>
              <a:t>مُرْهَقًا</a:t>
            </a:r>
            <a:pPr algn="l" indent="0" marL="0">
              <a:buNone/>
            </a:pPr>
            <a:r>
              <a:rPr lang="en-US" sz="1000" b="1" dirty="0">
                <a:solidFill>
                  <a:srgbClr val="1F2A37"/>
                </a:solidFill>
                <a:latin typeface="Calibri" pitchFamily="34" charset="0"/>
                <a:cs typeface="Amiri" pitchFamily="2" charset="-78"/>
              </a:rPr>
              <a:t> mean here?</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exhausted</a:t>
            </a:r>
            <a:endParaRPr lang="en-US" sz="125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energetic</a:t>
            </a:r>
            <a:endParaRPr lang="en-US" sz="125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punctual</a:t>
            </a:r>
            <a:endParaRPr lang="en-US" sz="125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0" name="Text 8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91" name="Text 8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cs typeface="Amiri" pitchFamily="2" charset="-78"/>
              </a:rPr>
              <a:t>. What time did they finally agree on?</a:t>
            </a:r>
            <a:endParaRPr lang="en-US" sz="1000" dirty="0"/>
          </a:p>
        </p:txBody>
      </p:sp>
      <p:sp>
        <p:nvSpPr>
          <p:cNvPr id="92" name="Shape 89"/>
          <p:cNvSpPr/>
          <p:nvPr/>
        </p:nvSpPr>
        <p:spPr>
          <a:xfrm>
            <a:off x="8278368" y="48737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4" name="Text 91"/>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95" name="Shape 92"/>
          <p:cNvSpPr/>
          <p:nvPr/>
        </p:nvSpPr>
        <p:spPr>
          <a:xfrm>
            <a:off x="8278368" y="53309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7" name="Text 94"/>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98" name="Shape 95"/>
          <p:cNvSpPr/>
          <p:nvPr/>
        </p:nvSpPr>
        <p:spPr>
          <a:xfrm>
            <a:off x="8278368" y="5788152"/>
            <a:ext cx="256032" cy="256032"/>
          </a:xfrm>
          <a:prstGeom prst="ellipse">
            <a:avLst/>
          </a:prstGeom>
          <a:solidFill>
            <a:srgbClr val="F4F1EA"/>
          </a:solidFill>
          <a:ln w="12700">
            <a:solidFill>
              <a:srgbClr val="F4F1EA"/>
            </a:solidFill>
            <a:prstDash val="solid"/>
          </a:ln>
        </p:spPr>
      </p:sp>
      <p:sp>
        <p:nvSpPr>
          <p:cNvPr id="99" name="Text 96"/>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0" name="Text 97"/>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أَسْتَيْقِظُ فِي السَّادِسَةِ، وَلٰكِنَّ الحَافِلَةَ تَصِلُ فِي السَّابِعَةِ</a:t>
            </a:r>
            <a:pPr algn="l" indent="0" marL="0">
              <a:buNone/>
            </a:pPr>
            <a:r>
              <a:rPr lang="en-US" sz="1000" b="1" dirty="0">
                <a:solidFill>
                  <a:srgbClr val="1F2A37"/>
                </a:solidFill>
                <a:latin typeface="Calibri" pitchFamily="34" charset="0"/>
                <a:cs typeface="Amiri" pitchFamily="2" charset="-78"/>
              </a:rPr>
              <a:t>. When does the speaker wake up?</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Link the requested action </a:t>
            </a:r>
            <a:pPr algn="l" indent="0" marL="0">
              <a:buNone/>
            </a:pPr>
            <a:r>
              <a:rPr lang="ar-SA" altLang="en-US" sz="1350" dirty="0">
                <a:solidFill>
                  <a:srgbClr val="8A6D1E"/>
                </a:solidFill>
                <a:latin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 to its own time and ignore the later bus time.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كُنْتُ أَذْهَبُ مَشْيًا، وَلٰكِنَّنِي الآنَ أَذْهَبُ بِالحَافِلَةِ</a:t>
            </a:r>
            <a:pPr algn="l" indent="0" marL="0">
              <a:buNone/>
            </a:pPr>
            <a:r>
              <a:rPr lang="en-US" sz="1000" b="1" dirty="0">
                <a:solidFill>
                  <a:srgbClr val="1F2A37"/>
                </a:solidFill>
                <a:latin typeface="Calibri" pitchFamily="34" charset="0"/>
                <a:cs typeface="Amiri" pitchFamily="2" charset="-78"/>
              </a:rPr>
              <a:t>. How does the speaker travel now?</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بِالحَافِلَةِ</a:t>
            </a:r>
            <a:endParaRPr lang="ar-SA" sz="170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مَشْيًا</a:t>
            </a:r>
            <a:endParaRPr lang="ar-SA" sz="170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بِالقِطَارِ</a:t>
            </a:r>
            <a:endParaRPr lang="ar-SA" sz="170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contrast marker </a:t>
            </a:r>
            <a:pPr algn="l" indent="0" marL="0">
              <a:buNone/>
            </a:pPr>
            <a:r>
              <a:rPr lang="ar-SA" altLang="en-US" sz="1350" dirty="0">
                <a:solidFill>
                  <a:srgbClr val="8A6D1E"/>
                </a:solidFill>
                <a:latin typeface="Amiri" pitchFamily="2" charset="-78"/>
                <a:cs typeface="Amiri" pitchFamily="2" charset="-78"/>
              </a:rPr>
              <a:t>وَلٰكِنَّنِي الآنَ</a:t>
            </a:r>
            <a:pPr algn="l" indent="0" marL="0">
              <a:buNone/>
            </a:pPr>
            <a:r>
              <a:rPr lang="en-US" sz="1050" i="1" dirty="0">
                <a:solidFill>
                  <a:srgbClr val="8A6D1E"/>
                </a:solidFill>
                <a:latin typeface="Calibri" pitchFamily="34" charset="0"/>
                <a:cs typeface="Amiri" pitchFamily="2" charset="-78"/>
              </a:rPr>
              <a:t> introduces the current situation.</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أَتَمَرَّنُ كُلَّ يَوْمٍ مَا عَدَا يَوْمَ الجُمُعَةِ</a:t>
            </a:r>
            <a:pPr algn="l" indent="0" marL="0">
              <a:buNone/>
            </a:pPr>
            <a:r>
              <a:rPr lang="en-US" sz="1000" b="1" dirty="0">
                <a:solidFill>
                  <a:srgbClr val="1F2A37"/>
                </a:solidFill>
                <a:latin typeface="Calibri" pitchFamily="34" charset="0"/>
                <a:cs typeface="Amiri" pitchFamily="2" charset="-78"/>
              </a:rPr>
              <a:t>. Which statement is correct?</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exercises on Friday.</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never exercises.</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speaker does not exercise on Friday.</a:t>
            </a:r>
            <a:endParaRPr lang="en-US" sz="12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مَا عَدَا</a:t>
            </a:r>
            <a:pPr algn="l" indent="0" marL="0">
              <a:buNone/>
            </a:pPr>
            <a:r>
              <a:rPr lang="en-US" sz="1050" i="1" dirty="0">
                <a:solidFill>
                  <a:srgbClr val="8A6D1E"/>
                </a:solidFill>
                <a:latin typeface="Calibri" pitchFamily="34" charset="0"/>
                <a:cs typeface="Amiri" pitchFamily="2" charset="-78"/>
              </a:rPr>
              <a:t> means “except”; Friday is excluded.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cs typeface="Amiri" pitchFamily="2" charset="-78"/>
              </a:rPr>
              <a:t>. Who wakes at 7:00?</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مَرْيَمُ</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كِلَاهُمَا</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أَخُوهَا</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Track the subject after </a:t>
            </a:r>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the brother wakes at seven.</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بَعْدَ الدِّرَاسَةِ أَكُونُ مُرْهَقًا، لِذٰلِكَ أَسْتَرِيحُ قَلِيلًا</a:t>
            </a:r>
            <a:pPr algn="l" indent="0" marL="0">
              <a:buNone/>
            </a:pPr>
            <a:r>
              <a:rPr lang="en-US" sz="1000" b="1" dirty="0">
                <a:solidFill>
                  <a:srgbClr val="1F2A37"/>
                </a:solidFill>
                <a:latin typeface="Calibri" pitchFamily="34" charset="0"/>
                <a:cs typeface="Amiri" pitchFamily="2" charset="-78"/>
              </a:rPr>
              <a:t>. What does </a:t>
            </a:r>
            <a:pPr algn="l" indent="0" marL="0">
              <a:buNone/>
            </a:pPr>
            <a:r>
              <a:rPr lang="ar-SA" altLang="en-US" sz="1300" b="1" dirty="0">
                <a:solidFill>
                  <a:srgbClr val="1F2A37"/>
                </a:solidFill>
                <a:latin typeface="Amiri" pitchFamily="2" charset="-78"/>
                <a:cs typeface="Amiri" pitchFamily="2" charset="-78"/>
              </a:rPr>
              <a:t>مُرْهَقًا</a:t>
            </a:r>
            <a:pPr algn="l" indent="0" marL="0">
              <a:buNone/>
            </a:pPr>
            <a:r>
              <a:rPr lang="en-US" sz="1000" b="1" dirty="0">
                <a:solidFill>
                  <a:srgbClr val="1F2A37"/>
                </a:solidFill>
                <a:latin typeface="Calibri" pitchFamily="34" charset="0"/>
                <a:cs typeface="Amiri" pitchFamily="2" charset="-78"/>
              </a:rPr>
              <a:t> mean here?</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exhausted</a:t>
            </a:r>
            <a:endParaRPr lang="en-US" sz="125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energetic</a:t>
            </a:r>
            <a:endParaRPr lang="en-US" sz="125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punctual</a:t>
            </a:r>
            <a:endParaRPr lang="en-US" sz="125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reason for resting is that the speaker is exhausted.</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9" name="Text 9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Listen-style extract:</a:t>
            </a:r>
            <a:endParaRPr lang="en-US" sz="1200" dirty="0"/>
          </a:p>
        </p:txBody>
      </p:sp>
      <p:sp>
        <p:nvSpPr>
          <p:cNvPr id="100" name="Text 9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cs typeface="Amiri" pitchFamily="2" charset="-78"/>
              </a:rPr>
              <a:t>. What time did they finally agree on?</a:t>
            </a:r>
            <a:endParaRPr lang="en-US" sz="1000" dirty="0"/>
          </a:p>
        </p:txBody>
      </p:sp>
      <p:sp>
        <p:nvSpPr>
          <p:cNvPr id="101" name="Shape 99"/>
          <p:cNvSpPr/>
          <p:nvPr/>
        </p:nvSpPr>
        <p:spPr>
          <a:xfrm>
            <a:off x="8278368" y="4831080"/>
            <a:ext cx="256032" cy="256032"/>
          </a:xfrm>
          <a:prstGeom prst="ellipse">
            <a:avLst/>
          </a:prstGeom>
          <a:solidFill>
            <a:srgbClr val="C9CED6"/>
          </a:solidFill>
          <a:ln w="12700">
            <a:solidFill>
              <a:srgbClr val="C9CED6"/>
            </a:solidFill>
            <a:prstDash val="solid"/>
          </a:ln>
        </p:spPr>
      </p:sp>
      <p:sp>
        <p:nvSpPr>
          <p:cNvPr id="102" name="Text 100"/>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3" name="Text 101"/>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6:00</a:t>
            </a:r>
            <a:endParaRPr lang="en-US" sz="1250" dirty="0"/>
          </a:p>
        </p:txBody>
      </p:sp>
      <p:sp>
        <p:nvSpPr>
          <p:cNvPr id="104" name="Shape 102"/>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5" name="Shape 103"/>
          <p:cNvSpPr/>
          <p:nvPr/>
        </p:nvSpPr>
        <p:spPr>
          <a:xfrm>
            <a:off x="8278368" y="5202936"/>
            <a:ext cx="256032" cy="256032"/>
          </a:xfrm>
          <a:prstGeom prst="ellipse">
            <a:avLst/>
          </a:prstGeom>
          <a:solidFill>
            <a:srgbClr val="2E8B57"/>
          </a:solidFill>
          <a:ln w="12700">
            <a:solidFill>
              <a:srgbClr val="2E8B57"/>
            </a:solidFill>
            <a:prstDash val="solid"/>
          </a:ln>
        </p:spPr>
      </p:sp>
      <p:sp>
        <p:nvSpPr>
          <p:cNvPr id="106" name="Text 104"/>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7" name="Text 105"/>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108" name="Shape 106"/>
          <p:cNvSpPr/>
          <p:nvPr/>
        </p:nvSpPr>
        <p:spPr>
          <a:xfrm>
            <a:off x="8278368" y="5574792"/>
            <a:ext cx="256032" cy="256032"/>
          </a:xfrm>
          <a:prstGeom prst="ellipse">
            <a:avLst/>
          </a:prstGeom>
          <a:solidFill>
            <a:srgbClr val="C9CED6"/>
          </a:solidFill>
          <a:ln w="12700">
            <a:solidFill>
              <a:srgbClr val="C9CED6"/>
            </a:solidFill>
            <a:prstDash val="solid"/>
          </a:ln>
        </p:spPr>
      </p:sp>
      <p:sp>
        <p:nvSpPr>
          <p:cNvPr id="109" name="Text 107"/>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0" name="Text 108"/>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111" name="Text 10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ثُمَّ اِتَّفَقَا عَلَى</a:t>
            </a:r>
            <a:pPr algn="l" indent="0" marL="0">
              <a:buNone/>
            </a:pPr>
            <a:r>
              <a:rPr lang="en-US" sz="1050" i="1" dirty="0">
                <a:solidFill>
                  <a:srgbClr val="8A6D1E"/>
                </a:solidFill>
                <a:latin typeface="Calibri" pitchFamily="34" charset="0"/>
                <a:cs typeface="Amiri" pitchFamily="2" charset="-78"/>
              </a:rPr>
              <a:t> signals the final agreed detail.</a:t>
            </a:r>
            <a:endParaRPr lang="en-US" sz="1050" dirty="0"/>
          </a:p>
        </p:txBody>
      </p:sp>
      <p:sp>
        <p:nvSpPr>
          <p:cNvPr id="112"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D1-L11 · Speaking and Writing — My Daily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accuracy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تَبْرِيرٌ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justification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سَبِيلِ المِثَالِ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example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however, nevertheless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“Describe your daily routine.” Include one reason and one example.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صِفْ رُوتِينَكَ اليَوْمِيَّ.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D1-L10: redo the listening mission and the sorter “Listening evidence decoder”.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mission rounds 1–6: for each, write the Arabic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100–120-word listening reflection with a measurable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D1-L11 · Speaking and Writing — My Daily Routine</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التَّحَدُّثُ وَالكِتَابَةُ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link every time to its event — and keep listening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D1-L10 · Listening — Daily Routine and Time Details</dc:title>
  <dc:subject>PptxGenJS Presentation</dc:subject>
  <dc:creator>Al Madina Online School · Arabic Department</dc:creator>
  <cp:lastModifiedBy>Al Madina Online School · Arabic Department</cp:lastModifiedBy>
  <cp:revision>1</cp:revision>
  <dcterms:created xsi:type="dcterms:W3CDTF">2026-10-11T06:40:31Z</dcterms:created>
  <dcterms:modified xsi:type="dcterms:W3CDTF">2026-10-11T06:40:31Z</dcterms:modified>
</cp:coreProperties>
</file>