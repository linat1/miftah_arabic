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D1-L09 (reading signals) and D1-L02 (time with إِلَّا).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(D1-L11 · Speaking and Writing — My Daily Routine) will spend class time USING this language, so students prepare it tonight — short, simple, easy to access (school guidance: “Simple, Short, Interesting, Relevant, Easy to access”). The five words come from the website D1-L11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Daily Routine and Time Details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تَفَاصِيلُ الرُّوتِينِ اليَوْمِيِّ وَالوَقْتِ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the type of answer, link every time to its event, keep listening after “but”, catch “not”,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D1-L10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الرَّابِعَةِ إِلَى الخَامِسَةِ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الرُّبْعَ</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وَالرُّبْعُ</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الرَّابِعَةِ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الخَمِيسِ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الرَّابِعَةِ إِلَى الخَامِسَةِ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from … to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ya- = 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الرُّبْعَ</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وَالرُّبْعُ</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Hearing a word is not enough. Check: right person? right event? did “but” or “not” change it?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تَسْتَيْقِظُ فِي السَّادِسَةِ،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وَلٰكِنَّهَا 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تَخْرُجُ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حَتَّى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السَّابِعَةِ وَالرُّبْعِ.</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‎انتخاب‎ </a:t>
            </a:r>
            <a:pPr indent="0" marL="0">
              <a:buNone/>
            </a:pPr>
            <a:r>
              <a:rPr lang="en-US" sz="950" b="1" dirty="0">
                <a:solidFill>
                  <a:srgbClr val="2E8B57"/>
                </a:solidFill>
                <a:latin typeface="Calibri" pitchFamily="34" charset="0"/>
                <a:ea typeface="Calibri" pitchFamily="34" charset="-122"/>
                <a:cs typeface="Calibri" pitchFamily="34" charset="-120"/>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anchor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 / overall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focus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predict / expect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ignore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large / 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 / exhausted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sets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 / 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0E7C86"/>
                </a:solidFill>
                <a:latin typeface="Amiri" pitchFamily="34" charset="0"/>
                <a:ea typeface="Amiri" pitchFamily="34" charset="-122"/>
                <a:cs typeface="Amiri" pitchFamily="34" charset="-120"/>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مَرْيَمُ ·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buNone/>
            </a:pPr>
            <a:r>
              <a:rPr lang="ar-SA" altLang="en-US" sz="1750" b="1" dirty="0">
                <a:solidFill>
                  <a:srgbClr val="0E7C86"/>
                </a:solidFill>
                <a:latin typeface="Amiri" pitchFamily="34" charset="0"/>
                <a:ea typeface="Amiri" pitchFamily="34" charset="-122"/>
                <a:cs typeface="Amiri" pitchFamily="34" charset="-120"/>
              </a:rPr>
              <a:t>فِي السَّادِسَةِ</a:t>
            </a:r>
            <a:pPr rtl="1" algn="ctr" indent="0" marL="0">
              <a:buNone/>
            </a:pPr>
            <a:r>
              <a:rPr lang="ar-SA" altLang="en-US" sz="1750" b="1" dirty="0">
                <a:solidFill>
                  <a:srgbClr val="1B3B6F"/>
                </a:solidFill>
                <a:latin typeface="Amiri" pitchFamily="34" charset="0"/>
                <a:ea typeface="Amiri" pitchFamily="34" charset="-122"/>
                <a:cs typeface="Amiri" pitchFamily="34" charset="-120"/>
              </a:rPr>
              <a:t> … تَخْرُجُ </a:t>
            </a:r>
            <a:pPr rtl="1" algn="ctr" indent="0" marL="0">
              <a:buNone/>
            </a:pPr>
            <a:r>
              <a:rPr lang="ar-SA" altLang="en-US" sz="1750" b="1" dirty="0">
                <a:solidFill>
                  <a:srgbClr val="0E7C86"/>
                </a:solidFill>
                <a:latin typeface="Amiri" pitchFamily="34" charset="0"/>
                <a:ea typeface="Amiri" pitchFamily="34" charset="-122"/>
                <a:cs typeface="Amiri" pitchFamily="34" charset="-120"/>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اِقْتَرَحَ الرَّابِعَةَ … </a:t>
            </a:r>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سَلْمَى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لَا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dirty="0">
                <a:solidFill>
                  <a:srgbClr val="5A6472"/>
                </a:solidFill>
                <a:latin typeface="Calibri" pitchFamily="34" charset="0"/>
                <a:ea typeface="Calibri" pitchFamily="34" charset="-122"/>
                <a:cs typeface="Calibri" pitchFamily="34" charset="-120"/>
              </a:rPr>
              <a:t> = I · </a:t>
            </a:r>
            <a:pPr algn="l" indent="0" marL="0">
              <a:buNone/>
            </a:pPr>
            <a:r>
              <a:rPr lang="ar-SA" altLang="en-US" sz="1350" dirty="0">
                <a:solidFill>
                  <a:srgbClr val="5A6472"/>
                </a:solidFill>
                <a:latin typeface="Amiri" pitchFamily="34" charset="0"/>
                <a:ea typeface="Amiri" pitchFamily="34" charset="-122"/>
                <a:cs typeface="Amiri" pitchFamily="34" charset="-120"/>
              </a:rPr>
              <a:t>تَـ</a:t>
            </a:r>
            <a:pPr algn="l" indent="0" marL="0">
              <a:buNone/>
            </a:pPr>
            <a:r>
              <a:rPr lang="en-US" sz="1050" dirty="0">
                <a:solidFill>
                  <a:srgbClr val="5A6472"/>
                </a:solidFill>
                <a:latin typeface="Calibri" pitchFamily="34" charset="0"/>
                <a:ea typeface="Calibri" pitchFamily="34" charset="-122"/>
                <a:cs typeface="Calibri" pitchFamily="34" charset="-120"/>
              </a:rPr>
              <a:t> = you/she · </a:t>
            </a:r>
            <a:pPr algn="l" indent="0" marL="0">
              <a:buNone/>
            </a:pPr>
            <a:r>
              <a:rPr lang="ar-SA" altLang="en-US" sz="1350" dirty="0">
                <a:solidFill>
                  <a:srgbClr val="5A6472"/>
                </a:solidFill>
                <a:latin typeface="Amiri" pitchFamily="34" charset="0"/>
                <a:ea typeface="Amiri" pitchFamily="34" charset="-122"/>
                <a:cs typeface="Amiri" pitchFamily="34" charset="-120"/>
              </a:rPr>
              <a:t>يَـ</a:t>
            </a:r>
            <a:pPr algn="l" indent="0" marL="0">
              <a:buNone/>
            </a:pPr>
            <a:r>
              <a:rPr lang="en-US" sz="1050" dirty="0">
                <a:solidFill>
                  <a:srgbClr val="5A6472"/>
                </a:solidFill>
                <a:latin typeface="Calibri" pitchFamily="34" charset="0"/>
                <a:ea typeface="Calibri" pitchFamily="34" charset="-122"/>
                <a:cs typeface="Calibri" pitchFamily="34" charset="-120"/>
              </a:rPr>
              <a:t> = he · </a:t>
            </a:r>
            <a:pPr algn="l" indent="0" marL="0">
              <a:buNone/>
            </a:pPr>
            <a:r>
              <a:rPr lang="ar-SA" altLang="en-US" sz="1350" dirty="0">
                <a:solidFill>
                  <a:srgbClr val="5A6472"/>
                </a:solidFill>
                <a:latin typeface="Amiri" pitchFamily="34" charset="0"/>
                <a:ea typeface="Amiri" pitchFamily="34" charset="-122"/>
                <a:cs typeface="Amiri" pitchFamily="34" charset="-120"/>
              </a:rPr>
              <a:t>نَـ</a:t>
            </a:r>
            <a:pPr algn="l" indent="0" marL="0">
              <a:buNone/>
            </a:pPr>
            <a:r>
              <a:rPr lang="en-US" sz="1050" dirty="0">
                <a:solidFill>
                  <a:srgbClr val="5A6472"/>
                </a:solidFill>
                <a:latin typeface="Calibri" pitchFamily="34" charset="0"/>
                <a:ea typeface="Calibri" pitchFamily="34" charset="-122"/>
                <a:cs typeface="Calibri" pitchFamily="34" charset="-120"/>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أَسْتَيْقِظُ</a:t>
            </a:r>
            <a:pPr algn="l" indent="0" marL="0">
              <a:buNone/>
            </a:pPr>
            <a:r>
              <a:rPr lang="en-US" sz="2000" b="1" dirty="0">
                <a:solidFill>
                  <a:srgbClr val="1F2A37"/>
                </a:solidFill>
                <a:latin typeface="Calibri" pitchFamily="34" charset="0"/>
                <a:ea typeface="Calibri" pitchFamily="34" charset="-122"/>
                <a:cs typeface="Calibri" pitchFamily="34" charset="-120"/>
              </a:rPr>
              <a:t> = I wake.   ·   </a:t>
            </a:r>
            <a:pPr algn="l" indent="0" marL="0">
              <a:buNone/>
            </a:pPr>
            <a:r>
              <a:rPr lang="ar-SA" altLang="en-US" sz="2600" b="1" dirty="0">
                <a:solidFill>
                  <a:srgbClr val="1F2A37"/>
                </a:solidFill>
                <a:latin typeface="Amiri" pitchFamily="34" charset="0"/>
                <a:ea typeface="Amiri" pitchFamily="34" charset="-122"/>
                <a:cs typeface="Amiri" pitchFamily="34" charset="-120"/>
              </a:rPr>
              <a:t>تَسْتَيْقِظُ</a:t>
            </a:r>
            <a:pPr algn="l" indent="0" marL="0">
              <a:buNone/>
            </a:pPr>
            <a:r>
              <a:rPr lang="en-US" sz="2000" b="1" dirty="0">
                <a:solidFill>
                  <a:srgbClr val="1F2A37"/>
                </a:solidFill>
                <a:latin typeface="Calibri" pitchFamily="34" charset="0"/>
                <a:ea typeface="Calibri" pitchFamily="34" charset="-122"/>
                <a:cs typeface="Calibri" pitchFamily="34" charset="-120"/>
              </a:rPr>
              <a:t> = she/you wake.   ·   </a:t>
            </a:r>
            <a:pPr algn="l" indent="0" marL="0">
              <a:buNone/>
            </a:pPr>
            <a:r>
              <a:rPr lang="ar-SA" altLang="en-US" sz="2600" b="1" dirty="0">
                <a:solidFill>
                  <a:srgbClr val="1F2A37"/>
                </a:solidFill>
                <a:latin typeface="Amiri" pitchFamily="34" charset="0"/>
                <a:ea typeface="Amiri" pitchFamily="34" charset="-122"/>
                <a:cs typeface="Amiri" pitchFamily="34" charset="-120"/>
              </a:rPr>
              <a:t>يَسْتَيْقِظُ</a:t>
            </a:r>
            <a:pPr algn="l" indent="0" marL="0">
              <a:buNone/>
            </a:pPr>
            <a:r>
              <a:rPr lang="en-US" sz="2000" b="1" dirty="0">
                <a:solidFill>
                  <a:srgbClr val="1F2A37"/>
                </a:solidFill>
                <a:latin typeface="Calibri" pitchFamily="34" charset="0"/>
                <a:ea typeface="Calibri" pitchFamily="34" charset="-122"/>
                <a:cs typeface="Calibri" pitchFamily="34" charset="-120"/>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فِي السَّادِسَةِ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وَلٰكِنَّهَا لَا تَخْرُجُ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حَتَّى السَّابِعَةِ وَالرُّبْعِ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السَّادِسَةُ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تَخْرُجُ … حَتَّى السَّابِعَةِ وَالرُّبْعِ</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السُّؤَالُ: مَتَى تَخْرُجُ مَرْيَمُ؟ ← أَتَوَقَّعُ وَقْتًا. ← سَمِعْتُ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 أَسْتَبْعِدُ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لِأَنَّهَا وَقْتُ الاِسْتِيقَاظِ. ← الجَوَابُ: </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focus on time words.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eliminate the option about another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notice “but” and wait for the new information.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second listening I verify details.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اِقْتَرَحَ عُمَرُ السَّاعَةَ الرَّابِعَةَ</a:t>
            </a:r>
            <a:pPr algn="l" indent="0" marL="0">
              <a:buNone/>
            </a:pPr>
            <a:r>
              <a:rPr lang="en-US" sz="1050" i="1" dirty="0">
                <a:solidFill>
                  <a:srgbClr val="8A6D1E"/>
                </a:solidFill>
                <a:latin typeface="Calibri" pitchFamily="34" charset="0"/>
                <a:ea typeface="Calibri" pitchFamily="34" charset="-122"/>
                <a:cs typeface="Calibri" pitchFamily="34" charset="-120"/>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Reflect on listening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 الَّتِي سَاعَدَتْكَ؟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مُشَتِّتٍ كَانَ أَقْوَى؟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غَيَّرْتَ فِي الاِسْتِمَاعِ الثَّانِي؟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المُحَدَّدُ الَّذِي سَتُطَوِّرُهُ فِي الاِسْتِمَاعِ القَادِمِ؟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الكَلِمَةُ المِفْتَاحِيَّةُ كَانَتْ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المُشَتِّتُ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الاِسْتِمَاعِ الثَّانِي ، تَثَبَّتُّ مِنْ ___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هَدَفِي القَادِمُ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لَمْ تَخْتَرِ السَّادِسَةَ؟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didn’t you choose six?</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 السَّادِسَةَ كَانَتْ وَقْتَ الاِسْتِيقَاظِ، بَيْنَمَا السُّؤَالُ كَانَ عَنْ وَقْتِ الخُرُوجِ. اِنْتَظَرْتُ الفِعْلَ «تَخْرُجُ».</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six was the wake-up time, whereas the question was about the leaving time. I waited for the verb “leaves”.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linked it to </a:t>
            </a:r>
            <a:pPr algn="l" indent="0" marL="0">
              <a:buNone/>
            </a:pPr>
            <a:r>
              <a:rPr lang="ar-SA" altLang="en-US" sz="1350" dirty="0">
                <a:solidFill>
                  <a:srgbClr val="8A6D1E"/>
                </a:solidFill>
                <a:latin typeface="Amiri" pitchFamily="34" charset="0"/>
                <a:ea typeface="Amiri" pitchFamily="34" charset="-122"/>
                <a:cs typeface="Amiri" pitchFamily="34" charset="-120"/>
              </a:rPr>
              <a:t>التَّمْرِينِ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Link the requested action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marker </a:t>
            </a:r>
            <a:pPr algn="l" indent="0" marL="0">
              <a:buNone/>
            </a:pPr>
            <a:r>
              <a:rPr lang="ar-SA" altLang="en-US" sz="1350" dirty="0">
                <a:solidFill>
                  <a:srgbClr val="8A6D1E"/>
                </a:solidFill>
                <a:latin typeface="Amiri" pitchFamily="34" charset="0"/>
                <a:ea typeface="Amiri" pitchFamily="34" charset="-122"/>
                <a:cs typeface="Amiri" pitchFamily="34" charset="-120"/>
              </a:rPr>
              <a:t>وَلٰكِنَّنِي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عَدَا</a:t>
            </a:r>
            <a:pPr algn="l" indent="0" marL="0">
              <a:buNone/>
            </a:pPr>
            <a:r>
              <a:rPr lang="en-US" sz="1050" i="1" dirty="0">
                <a:solidFill>
                  <a:srgbClr val="8A6D1E"/>
                </a:solidFill>
                <a:latin typeface="Calibri" pitchFamily="34" charset="0"/>
                <a:ea typeface="Calibri" pitchFamily="34" charset="-122"/>
                <a:cs typeface="Calibri" pitchFamily="34" charset="-120"/>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Track the subject after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 اِتَّفَقَا عَلَى</a:t>
            </a:r>
            <a:pPr algn="l" indent="0" marL="0">
              <a:buNone/>
            </a:pPr>
            <a:r>
              <a:rPr lang="en-US" sz="1050" i="1" dirty="0">
                <a:solidFill>
                  <a:srgbClr val="8A6D1E"/>
                </a:solidFill>
                <a:latin typeface="Calibri" pitchFamily="34" charset="0"/>
                <a:ea typeface="Calibri" pitchFamily="34" charset="-122"/>
                <a:cs typeface="Calibri" pitchFamily="34" charset="-120"/>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D1-L11 · Speaking and Writing — My Daily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D1-L10 · Listening — Daily Routine and Time Details</dc:title>
  <dc:subject>PptxGenJS Presentation</dc:subject>
  <dc:creator>Al Madina Online School · Arabic Department</dc:creator>
  <cp:lastModifiedBy>Al Madina Online School · Arabic Department</cp:lastModifiedBy>
  <cp:revision>1</cp:revision>
  <dcterms:created xsi:type="dcterms:W3CDTF">2026-09-27T12:03:56Z</dcterms:created>
  <dcterms:modified xsi:type="dcterms:W3CDTF">2026-09-27T12:03:56Z</dcterms:modified>
</cp:coreProperties>
</file>