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D1-L06. The website lesson “He and She — Describing Someone Else’s Routine”: vocabulary, grammar rules and quiz, patterns, common mistakes, sorter, listening, reading, speaking prompts and model, writing task and model, differentiation, final check and the lesson mission. Picture match: website visual game “He and She — Describing Someone Else’s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describe ONE person (a brother OR a sister) with four verbs. The key question every time: “Who am I talking about — him or her?” (NOT: am I a boy or a girl?).
• Develop: compare two people with بَيْنَمَا and keep the suffix matching (حَقِيبَتُهُ / حَقِيبَتُهَا). Stretch: a whole comparison paragraph with أَمَّا … فَـ, كِلَاهُمَا and an evidence-based judgement.
• The masculine vocabulary cards carry the she / I / they forms, so the feminine group is FLEX (it is the same list with تَـ).
• Website warning: a girl describing her brother still says هُوَ يَسْتَيْقِظُ — choose the verb by the person described, not the speaker.
• Urdu bridge: روٹین، مصروف، منظم، دونوں (→ كِلَاهُمَا), اول.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D1-L05 (object endings, return vs revise)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Him: يَـ + ـهُ. Her: تَـ + ـهَا. The verb and the ending must point to the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روٹین (routine) → رُوتِينٌ. مشغول (busy) → أَكْثَرُ اِنْشِغَالًا (busier). تنظیم / منظم (organisation / organised) → أَكْثَرُ تَنْظِيمًا (more organised). اول (first) → أَوَّلًا. دونوں = both → كِلَاهُمَا (meaning bridge only, not a cognate).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Masculine routine forms (website vocabulary (1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Masculine routine forms (website vocabulary (2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Reference and comparison (website vocabulary (1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Reference and comparison (website vocabulary (2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يَـ for a masculine singular subject”, “Use تَـ for a feminine singular subject”, “Match the possessive suffix” and the website table (Person · Prefix · Possession).
Teacher script: “Two checks every sentence: the FRONT of the verb and the END of the noun. Both must point to the same person.”
Website warning: “Do not choose the verb by the speaker’s gender … a female speaker describing her brother still says هُوَ يَسْتَيْقِظُ.” Ask a girl to describe her brother aloud to prove it.
Quick-fire: say a name (خَالِدٌ / زَيْنَبُ / أَبِي / أُمِّي); students show يـ or تـ on their fingers, then say “ـهُ” or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“Compare without losing the subject” (repeat the subject or use a clear pronoun after a contrast marker) and website patterns 3–4.
Website teaching point: “Use names, then pronouns, then repeated reference only when the reader can still identify the person.”
Recycles بَيْنَمَا and أَمَّا … فَـ from D1-L03 — now with two different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“Masculine and feminine third-person forms often differ only in the prefix, but a whole paragraph must preserve that difference. Possessive suffixes and pronouns must refer to the same person clearly.”
• Use يَـ for a masculine singular subject: Most masculine third-person verbs begin with يَـ. Some forms contain additional pattern letters that remain.
• Use تَـ for a feminine singular subject: The feminine subject takes تَـ. With Form VI تَتَنَاوَلُ contains two t sounds because one belongs to the pattern and one marks the person.
• Match the possessive suffix: A masculine routine uses ـهُ; a feminine routine uses ـها.
• Compare without losing the subject: Repeat the subject or use a clear pronoun after a contrast marker.
Website common error: Do not choose the verb by the speaker’s gender. Choose it by the person being described: a female speaker describing her brother still says هُوَ يَسْتَيْقِظُ.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with a think-aloud (“who am I talking about now?”). Students copy it, colour him blue and her pink.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 game for this lesson uses I-sentences (أَسْتَيْقِظُ صَبَاحًا …). Here the class TRANSFORMS them to he / she, which is the skill of the lesson. 20 seconds each; chat the letters. Q2 is the trap: the verb AND the ending both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answer aloud, then says it again for the opposite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يَسْتَيْقِظُ سَامِرٌ فِي السَّادِسَةِ وَالرُّبْعِ، بَيْنَمَا تَسْتَيْقِظُ أُخْتُهُ لَيْلَى فِي السَّادِسَةِ وَالنِّصْفِ. هُوَ يَغْتَسِلُ وَيَرْتَدِي مَلَابِسَهُ بِسُرْعَةٍ، ثُمَّ يَتَنَاوَلُ إِفْطَارَهُ فِي المَطْبَخِ. أَمَّا هِيَ فَتُحَضِّرُ حَقِيبَتَهَا أَوَّلًا، ثُمَّ تَتَنَاوَلُ الإِفْطَارَ مَعَ أُمِّهَا. بَعْدَ المَدْرَسَةِ يُرَاجِعُ سَامِرٌ دُرُوسَهُ مُبَاشَرَةً، وَلٰكِنَّ لَيْلَى تَسْتَرِيحُ قَبْلَ أَنْ تَبْدَأَ وَاجِبَهَا. كِلَاهُمَا يَنَامُ فِي العَاشِرَةِ تَقْرِيبًا.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(2 and 3 merged on the slide for Core). Summarise step: the partner reports back in the third person (“he / she …”) — this is the lesson skill in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one person with four third-person verbs. · Develop — Compare two people with clear pronoun and suffix reference. · Stretch — Sustain a comparison with evidence, contrast and a nuanced judgement.
Website writing task (Stretch): Write 100–120 words comparing your routine with another person’s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يَسْتَيْقِظُ، يَغْتَسِلُ، يَرْتَدِي، يَتَنَاوَلُ، يَتَمَرَّنُ، يُرَاجِعُ · مَلَابِسَهُ، إِفْطَارَهُ، دُرُوسَهُ، رُوتِينُهُ · أَمَّا أَنَا فَأُحَضِّرُ · أَكْثَرُ تَنْظِيمًا لِأَنَّنِي أُنْهِي وَاجِبِي مُبَكِّرًا.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(D1-L07 · Asking About Daily Routine — What Do You Do?) will spend class time USING this language, so students prepare it tonight — short, simple, easy to access (school guidance: “Simple, Short, Interesting, Relevant, Easy to access”). The five words come from the website D1-L07 vocabulary (question words and questions to a boy / girl).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He and She — Describing Someone Else’s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هُوَ وَهِيَ — وَصْفُ رُوتِينِ شَخْصٍ آخَرَ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and compare another person’s routine: </a:t>
            </a:r>
            <a:pPr algn="l" indent="0" marL="0">
              <a:buNone/>
            </a:pPr>
            <a:r>
              <a:rPr lang="ar-SA" altLang="en-US" sz="1800" dirty="0">
                <a:solidFill>
                  <a:srgbClr val="C6D2E6"/>
                </a:solidFill>
                <a:latin typeface="Amiri" pitchFamily="34" charset="0"/>
                <a:ea typeface="Amiri" pitchFamily="34" charset="-122"/>
                <a:cs typeface="Amiri" pitchFamily="34" charset="-120"/>
              </a:rPr>
              <a:t>يَـ</a:t>
            </a:r>
            <a:pPr algn="l" indent="0" marL="0">
              <a:buNone/>
            </a:pPr>
            <a:r>
              <a:rPr lang="en-US" sz="1400" dirty="0">
                <a:solidFill>
                  <a:srgbClr val="C6D2E6"/>
                </a:solidFill>
                <a:latin typeface="Calibri" pitchFamily="34" charset="0"/>
                <a:ea typeface="Calibri" pitchFamily="34" charset="-122"/>
                <a:cs typeface="Calibri" pitchFamily="34" charset="-120"/>
              </a:rPr>
              <a:t> for him, </a:t>
            </a:r>
            <a:pPr algn="l" indent="0" marL="0">
              <a:buNone/>
            </a:pPr>
            <a:r>
              <a:rPr lang="ar-SA" altLang="en-US" sz="1800" dirty="0">
                <a:solidFill>
                  <a:srgbClr val="C6D2E6"/>
                </a:solidFill>
                <a:latin typeface="Amiri" pitchFamily="34" charset="0"/>
                <a:ea typeface="Amiri" pitchFamily="34" charset="-122"/>
                <a:cs typeface="Amiri" pitchFamily="34" charset="-120"/>
              </a:rPr>
              <a:t>تَـ</a:t>
            </a:r>
            <a:pPr algn="l" indent="0" marL="0">
              <a:buNone/>
            </a:pPr>
            <a:r>
              <a:rPr lang="en-US" sz="1400" dirty="0">
                <a:solidFill>
                  <a:srgbClr val="C6D2E6"/>
                </a:solidFill>
                <a:latin typeface="Calibri" pitchFamily="34" charset="0"/>
                <a:ea typeface="Calibri" pitchFamily="34" charset="-122"/>
                <a:cs typeface="Calibri" pitchFamily="34" charset="-120"/>
              </a:rPr>
              <a:t> for her, </a:t>
            </a:r>
            <a:pPr algn="l" indent="0" marL="0">
              <a:buNone/>
            </a:pPr>
            <a:r>
              <a:rPr lang="ar-SA" altLang="en-US" sz="1800" dirty="0">
                <a:solidFill>
                  <a:srgbClr val="C6D2E6"/>
                </a:solidFill>
                <a:latin typeface="Amiri" pitchFamily="34" charset="0"/>
                <a:ea typeface="Amiri" pitchFamily="34" charset="-122"/>
                <a:cs typeface="Amiri" pitchFamily="34" charset="-120"/>
              </a:rPr>
              <a:t>ـهُ / ـهَا</a:t>
            </a:r>
            <a:pPr algn="l" indent="0" marL="0">
              <a:buNone/>
            </a:pPr>
            <a:r>
              <a:rPr lang="en-US" sz="1400" dirty="0">
                <a:solidFill>
                  <a:srgbClr val="C6D2E6"/>
                </a:solidFill>
                <a:latin typeface="Calibri" pitchFamily="34" charset="0"/>
                <a:ea typeface="Calibri" pitchFamily="34" charset="-122"/>
                <a:cs typeface="Calibri" pitchFamily="34" charset="-120"/>
              </a:rPr>
              <a:t> on every noun, and keep the reference clear through a whole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D1-L06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Him or her? The prefix and the ending must both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Transform I → he / she,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رُوتِينُهَا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routine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of them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of them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دُرُوسِي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أَسْتَرِيحُ دُرُوسِي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تَسْتَيْقِظُ مُبَكِّرًا.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يَسْتَيْقِظُ مُبَكِّرًا.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أَسْتَيْقِظُ مُبَكِّرًا.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رُوتِينُهَا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routine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routine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of them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of them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object endings.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دُرُوسِي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أَسْتَرِيحُ دُرُوسِي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return vs revise.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تَسْتَيْقِظُ مُبَكِّرًا.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يَسْتَيْقِظُ مُبَكِّرًا.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أَسْتَيْقِظُ مُبَكِّرًا.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she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Him: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ـهُ</a:t>
            </a:r>
            <a:pPr algn="l" indent="0" marL="0">
              <a:buNone/>
            </a:pPr>
            <a:r>
              <a:rPr lang="en-US" sz="1300" b="1" dirty="0">
                <a:solidFill>
                  <a:srgbClr val="1F2A37"/>
                </a:solidFill>
                <a:latin typeface="Calibri" pitchFamily="34" charset="0"/>
                <a:ea typeface="Calibri" pitchFamily="34" charset="-122"/>
                <a:cs typeface="Calibri" pitchFamily="34" charset="-120"/>
              </a:rPr>
              <a:t>. Her: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 </a:t>
            </a:r>
            <a:pPr algn="l" indent="0" marL="0">
              <a:buNone/>
            </a:pPr>
            <a:r>
              <a:rPr lang="ar-SA" altLang="en-US" sz="1700" b="1" dirty="0">
                <a:solidFill>
                  <a:srgbClr val="1F2A37"/>
                </a:solidFill>
                <a:latin typeface="Amiri" pitchFamily="34" charset="0"/>
                <a:ea typeface="Amiri" pitchFamily="34" charset="-122"/>
                <a:cs typeface="Amiri" pitchFamily="34" charset="-120"/>
              </a:rPr>
              <a:t>ـهَا</a:t>
            </a:r>
            <a:pPr algn="l" indent="0" marL="0">
              <a:buNone/>
            </a:pPr>
            <a:r>
              <a:rPr lang="en-US" sz="1300" b="1" dirty="0">
                <a:solidFill>
                  <a:srgbClr val="1F2A37"/>
                </a:solidFill>
                <a:latin typeface="Calibri" pitchFamily="34" charset="0"/>
                <a:ea typeface="Calibri" pitchFamily="34" charset="-122"/>
                <a:cs typeface="Calibri" pitchFamily="34" charset="-120"/>
              </a:rPr>
              <a:t>. The verb and the ending must point to the SAME person.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a wide range of routine verbs from I to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Maintain masculine and feminine agreement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pronouns and possessive suffixes without unclear reference.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people’s routines with precise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one person’s morning with four verbs.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his routine and her routine.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match </a:t>
            </a:r>
            <a:pPr algn="l" indent="0" marL="0">
              <a:buNone/>
            </a:pPr>
            <a:r>
              <a:rPr lang="ar-SA" altLang="en-US" sz="1700" b="1" dirty="0">
                <a:solidFill>
                  <a:srgbClr val="C9780A"/>
                </a:solidFill>
                <a:latin typeface="Amiri" pitchFamily="34" charset="0"/>
                <a:ea typeface="Amiri" pitchFamily="34" charset="-122"/>
                <a:cs typeface="Amiri" pitchFamily="34" charset="-120"/>
              </a:rPr>
              <a:t>ـهُ / ـهَا</a:t>
            </a:r>
            <a:pPr algn="l" indent="0" marL="0">
              <a:buNone/>
            </a:pPr>
            <a:r>
              <a:rPr lang="en-US" sz="1300" b="1" dirty="0">
                <a:solidFill>
                  <a:srgbClr val="C9780A"/>
                </a:solidFill>
                <a:latin typeface="Calibri" pitchFamily="34" charset="0"/>
                <a:ea typeface="Calibri" pitchFamily="34" charset="-122"/>
                <a:cs typeface="Calibri" pitchFamily="34" charset="-120"/>
              </a:rPr>
              <a:t> to the right person.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 and </a:t>
            </a:r>
            <a:pPr algn="l" indent="0" marL="0">
              <a:buNone/>
            </a:pPr>
            <a:r>
              <a:rPr lang="ar-SA" altLang="en-US" sz="1700" b="1" dirty="0">
                <a:solidFill>
                  <a:srgbClr val="B83227"/>
                </a:solidFill>
                <a:latin typeface="Amiri" pitchFamily="34" charset="0"/>
                <a:ea typeface="Amiri" pitchFamily="34" charset="-122"/>
                <a:cs typeface="Amiri" pitchFamily="34" charset="-120"/>
              </a:rPr>
              <a:t>كِلَاهُمَا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an evidence-based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Masculine routine forms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Feminine routine forms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Reference and comparison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رُوتِينُهُ</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‎روٹین‎ </a:t>
            </a:r>
            <a:pPr indent="0" marL="0">
              <a:buNone/>
            </a:pPr>
            <a:r>
              <a:rPr lang="en-US" sz="950" b="1" dirty="0">
                <a:solidFill>
                  <a:srgbClr val="2E8B57"/>
                </a:solidFill>
                <a:latin typeface="Calibri" pitchFamily="34" charset="0"/>
                <a:ea typeface="Calibri" pitchFamily="34" charset="-122"/>
                <a:cs typeface="Calibri" pitchFamily="34" charset="-120"/>
              </a:rPr>
              <a:t> rūṭīn · routine (both from English)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‎مصروف / 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تَنْظِيمًا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‎منظم / تنظیم‎ </a:t>
            </a:r>
            <a:pPr indent="0" marL="0">
              <a:buNone/>
            </a:pPr>
            <a:r>
              <a:rPr lang="en-US" sz="950" b="1" dirty="0">
                <a:solidFill>
                  <a:srgbClr val="2E8B57"/>
                </a:solidFill>
                <a:latin typeface="Calibri" pitchFamily="34" charset="0"/>
                <a:ea typeface="Calibri" pitchFamily="34" charset="-122"/>
                <a:cs typeface="Calibri" pitchFamily="34" charset="-120"/>
              </a:rPr>
              <a:t> tanẓīm · organisation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كِلَاهُمَا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‎دونوں‎ </a:t>
            </a:r>
            <a:pPr indent="0" marL="0">
              <a:buNone/>
            </a:pPr>
            <a:r>
              <a:rPr lang="en-US" sz="950" b="1" dirty="0">
                <a:solidFill>
                  <a:srgbClr val="2E8B57"/>
                </a:solidFill>
                <a:latin typeface="Calibri" pitchFamily="34" charset="0"/>
                <a:ea typeface="Calibri" pitchFamily="34" charset="-122"/>
                <a:cs typeface="Calibri" pitchFamily="34" charset="-120"/>
              </a:rPr>
              <a:t> donon · both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routine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wakes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يَسْتَيْقِظُونَ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يَغْتَسِلُ</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showers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yagh-ta-si-lu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يَغْتَسِلُونَ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يَرْتَدِي مَلَابِسَهُ</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gets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yar-ta-dī ma-lā-bi-sa-hu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يَرْتَدُونَ</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تَرْتَدِي</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أَرْتَدِي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يَتَنَاوَلُ الإِفْطَارَ</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has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ya-ta-nā-wa-lu al-if-ṭā-ra</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يَتَنَاوَلُونَ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يَخْرُجُ مِنَ البَيْتِ</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leaves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yakh-ru-ju mi-na al-bay-ti</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يَخْرُجُونَ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تَخْرُجُ</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أَخْرُجُ</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routine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 إِلَى المَدْرَسَةِ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arrives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ya-ṣi-lu i-lā al-mad-ra-sa-ti</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يَصِلُونَ</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تَصِلُ</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أَصِلُ</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يَرْجِعُ إِلَى البَيْتِ</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returns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yar-ji-ʿu i-lā al-bay-ti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يَرْجِعُونَ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تَرْجِعُ</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أَرْجِعُ</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يُرَاجِعُ دُرُوسَهُ</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revises his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yu-rā-ji-ʿu du-rū-sa-hu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يُرَاجِعُونَ</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أُرَاجِعُ</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70" name="Shape 6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يَسْتَرِيحُ</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rests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yas-ta-rī-ḥu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يَسْتَرِيحُونَ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تَسْتَرِيحُ</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أَسْتَرِيحُ</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يَنَامُ</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sleeps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ya-nā-mu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يَنَامُونَ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تَنَامُ</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أَنَامُ</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Feminine routine forms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تَسْتَيْقِظُ</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wakes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تَغْتَسِلُ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showers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tagh-ta-si-lu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تَرْتَدِي مَلَابِسَهَا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gets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tar-ta-dī ma-lā-bi-sa-hā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تَتَنَاوَلُ الإِفْطَارَ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has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ta-ta-nā-wa-lu al-if-ṭā-ra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تَخْرُجُ مِنَ البَيْتِ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leaves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takh-ru-ju mi-na al-bay-ti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Feminine routine forms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تَصِلُ إِلَى المَدْرَسَةِ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arrives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ta-ṣi-lu i-lā al-mad-ra-sa-ti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تَرْجِعُ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returns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tar-ji-ʿu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تُرَاجِعُ دُرُوسَهَا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revises her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tu-rā-ji-ʿu du-rū-sa-hā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تَسْتَرِيحُ</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rests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tas-ta-rī-ḥu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تَنَامُ</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sleeps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ta-nā-mu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Reference and comparison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pronouns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both</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هُمَا</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hi-ya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3" name="Shape 40"/>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رُوتِينُهُ</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rū-tī-nu-hu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رُوتِينِي</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رُوتِينُهُ</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رُوتِينُهَا</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رُوتِينُهَا</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rū-tī-nu-hā</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هُوَ فَـ</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him...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hu-wa fa</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Reference and comparison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هِيَ فَـ</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hi-ya 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كِلَاهُمَا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both of them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ki-lā-hu-mā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أَبْكَرُ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ab-ka-ru min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TWO THINGS MUST MATCH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Him or her? Prefix AND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هُوَ أَمْ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17" name="Text 14"/>
          <p:cNvSpPr txBox="1"/>
          <p:nvPr/>
        </p:nvSpPr>
        <p:spPr>
          <a:xfrm>
            <a:off x="65928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prefix</a:t>
            </a:r>
            <a:endParaRPr lang="en-US" sz="1100" dirty="0"/>
          </a:p>
        </p:txBody>
      </p:sp>
      <p:sp>
        <p:nvSpPr>
          <p:cNvPr id="18" name="Text 15"/>
          <p:cNvSpPr txBox="1"/>
          <p:nvPr/>
        </p:nvSpPr>
        <p:spPr>
          <a:xfrm>
            <a:off x="3483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 on nouns</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720072" y="2267712"/>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هُوَ · عَلِيٌّ · أَخِي</a:t>
            </a:r>
            <a:endParaRPr lang="ar-SA" sz="2600" dirty="0"/>
          </a:p>
        </p:txBody>
      </p:sp>
      <p:sp>
        <p:nvSpPr>
          <p:cNvPr id="22" name="Text 19"/>
          <p:cNvSpPr txBox="1"/>
          <p:nvPr/>
        </p:nvSpPr>
        <p:spPr>
          <a:xfrm>
            <a:off x="661111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23" name="Text 20"/>
          <p:cNvSpPr txBox="1"/>
          <p:nvPr/>
        </p:nvSpPr>
        <p:spPr>
          <a:xfrm>
            <a:off x="656539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wakes up</a:t>
            </a:r>
            <a:endParaRPr lang="en-US" sz="950" dirty="0"/>
          </a:p>
        </p:txBody>
      </p:sp>
      <p:sp>
        <p:nvSpPr>
          <p:cNvPr id="24" name="Text 21"/>
          <p:cNvSpPr txBox="1"/>
          <p:nvPr/>
        </p:nvSpPr>
        <p:spPr>
          <a:xfrm>
            <a:off x="3502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1D5FBF"/>
                </a:solidFill>
                <a:latin typeface="Amiri" pitchFamily="34" charset="0"/>
                <a:ea typeface="Amiri" pitchFamily="34" charset="-122"/>
                <a:cs typeface="Amiri" pitchFamily="34" charset="-120"/>
              </a:rPr>
              <a:t>هُ</a:t>
            </a:r>
            <a:endParaRPr lang="ar-SA" sz="2100" dirty="0"/>
          </a:p>
        </p:txBody>
      </p:sp>
      <p:sp>
        <p:nvSpPr>
          <p:cNvPr id="25" name="Text 22"/>
          <p:cNvSpPr txBox="1"/>
          <p:nvPr/>
        </p:nvSpPr>
        <p:spPr>
          <a:xfrm>
            <a:off x="345643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his bag</a:t>
            </a:r>
            <a:endParaRPr lang="en-US" sz="950" dirty="0"/>
          </a:p>
        </p:txBody>
      </p:sp>
      <p:sp>
        <p:nvSpPr>
          <p:cNvPr id="26" name="Text 23"/>
          <p:cNvSpPr txBox="1"/>
          <p:nvPr/>
        </p:nvSpPr>
        <p:spPr>
          <a:xfrm>
            <a:off x="548640" y="2286000"/>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 </a:t>
            </a:r>
            <a:pPr rtl="1" algn="ctr" indent="0" marL="0">
              <a:buNone/>
            </a:pPr>
            <a:r>
              <a:rPr lang="ar-SA" altLang="en-US" sz="1800" b="1" dirty="0">
                <a:solidFill>
                  <a:srgbClr val="1D5FBF"/>
                </a:solidFill>
                <a:latin typeface="Amiri" pitchFamily="34" charset="0"/>
                <a:ea typeface="Amiri" pitchFamily="34" charset="-122"/>
                <a:cs typeface="Amiri" pitchFamily="34" charset="-120"/>
              </a:rPr>
              <a:t>يُ</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1D5FBF"/>
                </a:solidFill>
                <a:latin typeface="Amiri" pitchFamily="34" charset="0"/>
                <a:ea typeface="Amiri" pitchFamily="34" charset="-122"/>
                <a:cs typeface="Amiri" pitchFamily="34" charset="-120"/>
              </a:rPr>
              <a:t>هُ</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7" name="Text 24"/>
          <p:cNvSpPr txBox="1"/>
          <p:nvPr/>
        </p:nvSpPr>
        <p:spPr>
          <a:xfrm>
            <a:off x="502920" y="2706624"/>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brother prepares his bag.</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720072" y="3054096"/>
            <a:ext cx="1920240" cy="73152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هِيَ · مَرْيَمُ · أُخْتِي</a:t>
            </a:r>
            <a:endParaRPr lang="ar-SA" sz="2350" dirty="0"/>
          </a:p>
        </p:txBody>
      </p:sp>
      <p:sp>
        <p:nvSpPr>
          <p:cNvPr id="32" name="Text 29"/>
          <p:cNvSpPr txBox="1"/>
          <p:nvPr/>
        </p:nvSpPr>
        <p:spPr>
          <a:xfrm>
            <a:off x="661111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33" name="Text 30"/>
          <p:cNvSpPr txBox="1"/>
          <p:nvPr/>
        </p:nvSpPr>
        <p:spPr>
          <a:xfrm>
            <a:off x="656539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wakes up</a:t>
            </a:r>
            <a:endParaRPr lang="en-US" sz="950" dirty="0"/>
          </a:p>
        </p:txBody>
      </p:sp>
      <p:sp>
        <p:nvSpPr>
          <p:cNvPr id="34" name="Text 31"/>
          <p:cNvSpPr txBox="1"/>
          <p:nvPr/>
        </p:nvSpPr>
        <p:spPr>
          <a:xfrm>
            <a:off x="350215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35" name="Text 32"/>
          <p:cNvSpPr txBox="1"/>
          <p:nvPr/>
        </p:nvSpPr>
        <p:spPr>
          <a:xfrm>
            <a:off x="345643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bag</a:t>
            </a:r>
            <a:endParaRPr lang="en-US" sz="950" dirty="0"/>
          </a:p>
        </p:txBody>
      </p:sp>
      <p:sp>
        <p:nvSpPr>
          <p:cNvPr id="36" name="Text 33"/>
          <p:cNvSpPr txBox="1"/>
          <p:nvPr/>
        </p:nvSpPr>
        <p:spPr>
          <a:xfrm>
            <a:off x="548640" y="3072384"/>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أُخْتِي </a:t>
            </a:r>
            <a:pPr rtl="1" algn="ctr" indent="0" marL="0">
              <a:buNone/>
            </a:pPr>
            <a:r>
              <a:rPr lang="ar-SA" altLang="en-US" sz="1800" b="1" dirty="0">
                <a:solidFill>
                  <a:srgbClr val="D6336C"/>
                </a:solidFill>
                <a:latin typeface="Amiri" pitchFamily="34" charset="0"/>
                <a:ea typeface="Amiri" pitchFamily="34" charset="-122"/>
                <a:cs typeface="Amiri" pitchFamily="34" charset="-120"/>
              </a:rPr>
              <a:t>تُ</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D6336C"/>
                </a:solidFill>
                <a:latin typeface="Amiri" pitchFamily="34" charset="0"/>
                <a:ea typeface="Amiri" pitchFamily="34" charset="-122"/>
                <a:cs typeface="Amiri" pitchFamily="34" charset="-120"/>
              </a:rPr>
              <a:t>هَا</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7" name="Text 34"/>
          <p:cNvSpPr txBox="1"/>
          <p:nvPr/>
        </p:nvSpPr>
        <p:spPr>
          <a:xfrm>
            <a:off x="502920" y="3493008"/>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sister prepares her bag.</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720072" y="3840480"/>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أَنَا</a:t>
            </a:r>
            <a:endParaRPr lang="ar-SA" sz="2600" dirty="0"/>
          </a:p>
        </p:txBody>
      </p:sp>
      <p:sp>
        <p:nvSpPr>
          <p:cNvPr id="42" name="Text 39"/>
          <p:cNvSpPr txBox="1"/>
          <p:nvPr/>
        </p:nvSpPr>
        <p:spPr>
          <a:xfrm>
            <a:off x="661111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a:t>
            </a:r>
            <a:endParaRPr lang="ar-SA" sz="2100" dirty="0"/>
          </a:p>
        </p:txBody>
      </p:sp>
      <p:sp>
        <p:nvSpPr>
          <p:cNvPr id="43" name="Text 40"/>
          <p:cNvSpPr txBox="1"/>
          <p:nvPr/>
        </p:nvSpPr>
        <p:spPr>
          <a:xfrm>
            <a:off x="656539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wake up</a:t>
            </a:r>
            <a:endParaRPr lang="en-US" sz="950" dirty="0"/>
          </a:p>
        </p:txBody>
      </p:sp>
      <p:sp>
        <p:nvSpPr>
          <p:cNvPr id="44" name="Text 41"/>
          <p:cNvSpPr txBox="1"/>
          <p:nvPr/>
        </p:nvSpPr>
        <p:spPr>
          <a:xfrm>
            <a:off x="350215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2100" b="1" dirty="0">
                <a:solidFill>
                  <a:srgbClr val="0E7C86"/>
                </a:solidFill>
                <a:latin typeface="Amiri" pitchFamily="34" charset="0"/>
                <a:ea typeface="Amiri" pitchFamily="34" charset="-122"/>
                <a:cs typeface="Amiri" pitchFamily="34" charset="-120"/>
              </a:rPr>
              <a:t>ي</a:t>
            </a:r>
            <a:endParaRPr lang="ar-SA" sz="2100" dirty="0"/>
          </a:p>
        </p:txBody>
      </p:sp>
      <p:sp>
        <p:nvSpPr>
          <p:cNvPr id="45" name="Text 42"/>
          <p:cNvSpPr txBox="1"/>
          <p:nvPr/>
        </p:nvSpPr>
        <p:spPr>
          <a:xfrm>
            <a:off x="345643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bag</a:t>
            </a:r>
            <a:endParaRPr lang="en-US" sz="950" dirty="0"/>
          </a:p>
        </p:txBody>
      </p:sp>
      <p:sp>
        <p:nvSpPr>
          <p:cNvPr id="46" name="Text 43"/>
          <p:cNvSpPr txBox="1"/>
          <p:nvPr/>
        </p:nvSpPr>
        <p:spPr>
          <a:xfrm>
            <a:off x="548640" y="3858768"/>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أُ</a:t>
            </a:r>
            <a:pPr rtl="1" algn="ctr" indent="0" marL="0">
              <a:buNone/>
            </a:pPr>
            <a:r>
              <a:rPr lang="ar-SA" altLang="en-US" sz="18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1800" b="1" dirty="0">
                <a:solidFill>
                  <a:srgbClr val="0E7C86"/>
                </a:solidFill>
                <a:latin typeface="Amiri" pitchFamily="34" charset="0"/>
                <a:ea typeface="Amiri" pitchFamily="34" charset="-122"/>
                <a:cs typeface="Amiri" pitchFamily="34" charset="-120"/>
              </a:rPr>
              <a:t>ي</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47" name="Text 44"/>
          <p:cNvSpPr txBox="1"/>
          <p:nvPr/>
        </p:nvSpPr>
        <p:spPr>
          <a:xfrm>
            <a:off x="502920" y="4279392"/>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prepare my bag.</a:t>
            </a:r>
            <a:endParaRPr lang="en-US" sz="9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Watch the double t: she has breakfast = ta-ta-nā-wa-lu (one t is the pattern, one t is “she”).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COMPARE WITHOUT LOSING THE SUBJECT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both of them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كِلَاهُمَا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يَسْتَيْقِظُ عَلِيٌّ فِي السَّادِسَةِ، بَيْنَمَا تَسْتَيْقِظُ مَرْيَمُ فِي السَّابِعَةِ.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Ali wakes at six, whereas Maryam wakes at seven.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Each verb matches its own subject.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 FOR · STRETCH</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أَمَّا هِيَ فَرُوتِينُهَا أَهْدَأُ.</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her, her routine is calmer.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Pronoun + fa-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BOTH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كِلَاهُمَا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كِلَاهُمَا يَذْهَبُ إِلَى المَدْرَسَةِ.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Both of them go to school.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Followed by a singular he-verb.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the ending must match the person.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عَلِيٌّ يُحَضِّرُ حَقِيبَتَهُ</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عَلِيٌّ يُحَضِّرُ حَقِيبَتَهَا</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Third-person present tense and clear reference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الفِعْلُ المُضَارِعُ مَعَ هُوَ وَهِيَ وَوُضُوحُ المَرْجِعِ</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يَـ</a:t>
            </a:r>
            <a:pPr algn="l" indent="0" marL="0">
              <a:buNone/>
            </a:pPr>
            <a:r>
              <a:rPr lang="en-US" sz="1250" b="1" dirty="0">
                <a:solidFill>
                  <a:srgbClr val="1B3B6F"/>
                </a:solidFill>
                <a:latin typeface="Calibri" pitchFamily="34" charset="0"/>
                <a:ea typeface="Calibri" pitchFamily="34" charset="-122"/>
                <a:cs typeface="Calibri" pitchFamily="34" charset="-120"/>
              </a:rPr>
              <a:t> for a masculine singular subject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 الاسم المذكر + يَـ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عَلِيٌّ يَسْتَيْقِظُ مُبَكِّرًا.   ·   هُوَ يَتَنَاوَلُ الإِفْطَارَ.   ·   أَخِي يُرَاجِعُ دُرُوسَهُ.</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تَـ</a:t>
            </a:r>
            <a:pPr algn="l" indent="0" marL="0">
              <a:buNone/>
            </a:pPr>
            <a:r>
              <a:rPr lang="en-US" sz="1250" b="1" dirty="0">
                <a:solidFill>
                  <a:srgbClr val="1B3B6F"/>
                </a:solidFill>
                <a:latin typeface="Calibri" pitchFamily="34" charset="0"/>
                <a:ea typeface="Calibri" pitchFamily="34" charset="-122"/>
                <a:cs typeface="Calibri" pitchFamily="34" charset="-120"/>
              </a:rPr>
              <a:t> for a feminine singular subject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هِيَ / الاسم المؤنث + تَـ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مَرْيَمُ تَسْتَيْقِظُ مُبَكِّرًا.   ·   هِيَ تَتَنَاوَلُ الإِفْطَارَ.   ·   أُخْتِي تُرَاجِعُ دُرُوسَهَا.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possessive suffix</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ـهُ</a:t>
            </a:r>
            <a:pPr algn="l" indent="0" marL="0">
              <a:buNone/>
            </a:pPr>
            <a:r>
              <a:rPr lang="en-US" sz="1050" dirty="0">
                <a:solidFill>
                  <a:srgbClr val="5A6472"/>
                </a:solidFill>
                <a:latin typeface="Calibri" pitchFamily="34" charset="0"/>
                <a:ea typeface="Calibri" pitchFamily="34" charset="-122"/>
                <a:cs typeface="Calibri" pitchFamily="34" charset="-120"/>
              </a:rPr>
              <a:t> = his · </a:t>
            </a:r>
            <a:pPr algn="l" indent="0" marL="0">
              <a:buNone/>
            </a:pPr>
            <a:r>
              <a:rPr lang="ar-SA" altLang="en-US" sz="1350" dirty="0">
                <a:solidFill>
                  <a:srgbClr val="5A6472"/>
                </a:solidFill>
                <a:latin typeface="Amiri" pitchFamily="34" charset="0"/>
                <a:ea typeface="Amiri" pitchFamily="34" charset="-122"/>
                <a:cs typeface="Amiri" pitchFamily="34" charset="-120"/>
              </a:rPr>
              <a:t>ـهَا</a:t>
            </a:r>
            <a:pPr algn="l" indent="0" marL="0">
              <a:buNone/>
            </a:pPr>
            <a:r>
              <a:rPr lang="en-US" sz="1050" dirty="0">
                <a:solidFill>
                  <a:srgbClr val="5A6472"/>
                </a:solidFill>
                <a:latin typeface="Calibri" pitchFamily="34" charset="0"/>
                <a:ea typeface="Calibri" pitchFamily="34" charset="-122"/>
                <a:cs typeface="Calibri" pitchFamily="34" charset="-120"/>
              </a:rPr>
              <a:t> = her</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يُحَضِّرُ حَقِيبَتَهُ.   ·   تُحَضِّرُ حَقِيبَتَهَا.   ·   يُنَظِّمُ وَقْتَهُ، وَتُنَظِّمُ وَقْتَهَا.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without losing the subject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 بَيْنَمَا هِيَ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يَسْتَيْقِظُ عَلِيٌّ فِي السَّادِسَةِ، بَيْنَمَا تَسْتَيْقِظُ مَرْيَمُ فِي السَّابِعَةِ.   ·   أَمَّا هُوَ فَيَذْهَبُ بِالحَافِلَةِ، وَأَمَّا هِيَ فَتَمْشِي.</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wakes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 الإِفْطَارَ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الإِفْطَارَ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 الإِفْطَارَ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تُحَضِّرُ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maintains feminine 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تَرْجِعُ مَرْيَمُ وَتُرَاجِعُ دُرُوسَهَا.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تَرْجِعُ مَرْيَمُ وَيُرَاجِعُ دُرُوسَهُ.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مَرْيَمُ وَأُرَاجِعُ.</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wakes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third person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 الإِفْطَارَ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الإِفْطَارَ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 الإِفْطَارَ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 is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فَاطِمَةُ تُحَضِّرُ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possession belongs to a female.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maintains feminine 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تَرْجِعُ مَرْيَمُ وَتُرَاجِعُ دُرُوسَهَا.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تَرْجِعُ مَرْيَمُ وَيُرَاجِعُ دُرُوسَهُ.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مَرْيَمُ وَأُرَاجِعُ.</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 and suffix remain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describe my brother and sister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أَخِي </a:t>
            </a:r>
            <a:pPr rtl="1" algn="ctr" indent="0" marL="0">
              <a:buNone/>
            </a:pPr>
            <a:r>
              <a:rPr lang="ar-SA" altLang="en-US" sz="2200" b="1" dirty="0">
                <a:solidFill>
                  <a:srgbClr val="1D5FBF"/>
                </a:solidFill>
                <a:latin typeface="Amiri" pitchFamily="34" charset="0"/>
                <a:ea typeface="Amiri" pitchFamily="34" charset="-122"/>
                <a:cs typeface="Amiri" pitchFamily="34" charset="-120"/>
              </a:rPr>
              <a:t>يَ</a:t>
            </a:r>
            <a:pPr rtl="1" algn="ctr" indent="0" marL="0">
              <a:buNone/>
            </a:pPr>
            <a:r>
              <a:rPr lang="ar-SA" altLang="en-US" sz="2200" b="1" dirty="0">
                <a:solidFill>
                  <a:srgbClr val="1B3B6F"/>
                </a:solidFill>
                <a:latin typeface="Amiri" pitchFamily="34" charset="0"/>
                <a:ea typeface="Amiri" pitchFamily="34" charset="-122"/>
                <a:cs typeface="Amiri" pitchFamily="34" charset="-120"/>
              </a:rPr>
              <a:t>سْتَيْقِظُ فِي السَّادِسَةِ.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brother = he →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يُ</a:t>
            </a:r>
            <a:pPr rtl="1" algn="ctr" indent="0" marL="0">
              <a:buNone/>
            </a:pPr>
            <a:r>
              <a:rPr lang="ar-SA" altLang="en-US" sz="2700" b="1" dirty="0">
                <a:solidFill>
                  <a:srgbClr val="1B3B6F"/>
                </a:solidFill>
                <a:latin typeface="Amiri" pitchFamily="34" charset="0"/>
                <a:ea typeface="Amiri" pitchFamily="34" charset="-122"/>
                <a:cs typeface="Amiri" pitchFamily="34" charset="-120"/>
              </a:rPr>
              <a:t>حَضِّرُ حَقِيبَتَ</a:t>
            </a:r>
            <a:pPr rtl="1" algn="ctr" indent="0" marL="0">
              <a:buNone/>
            </a:pPr>
            <a:r>
              <a:rPr lang="ar-SA" altLang="en-US" sz="2700" b="1" dirty="0">
                <a:solidFill>
                  <a:srgbClr val="1D5FBF"/>
                </a:solidFill>
                <a:latin typeface="Amiri" pitchFamily="34" charset="0"/>
                <a:ea typeface="Amiri" pitchFamily="34" charset="-122"/>
                <a:cs typeface="Amiri" pitchFamily="34" charset="-120"/>
              </a:rPr>
              <a:t>هُ</a:t>
            </a:r>
            <a:pPr rtl="1" algn="ctr" indent="0" marL="0">
              <a:buNone/>
            </a:pPr>
            <a:r>
              <a:rPr lang="ar-SA" altLang="en-US" sz="2700" b="1" dirty="0">
                <a:solidFill>
                  <a:srgbClr val="1B3B6F"/>
                </a:solidFill>
                <a:latin typeface="Amiri" pitchFamily="34" charset="0"/>
                <a:ea typeface="Amiri" pitchFamily="34" charset="-122"/>
                <a:cs typeface="Amiri" pitchFamily="34" charset="-120"/>
              </a:rPr>
              <a:t> بِسُرْعَةٍ.</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 bag → -hu.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Her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بَيْنَمَا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سْتَيْقِظُ أُخْتِي فِي السَّابِعَةِ.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New person, a girl → 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Both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كِلَاهُمَا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يَذْهَبُ إِلَى المَدْرَسَةِ.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 he-verb.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 HIS</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 / HER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BOTH</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أَخِي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سْتَيْقِظُ فِي السَّادِسَةِ وَ</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حَضِّرُ حَقِيبَتَ</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بِسُرْعَةٍ، بَيْنَمَا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سْتَيْقِظُ أُخْتِي فِي السَّابِعَةِ. أَمَّا هِيَ فَـ</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تَنَاوَلُ إِفْطَارَ</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مَعَ أُمِّي.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كِلَاهُمَا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يَذْهَبُ إِلَى المَدْرَسَةِ بِالحَافِلَةِ.</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brother wakes up at six and prepares his bag quickly, whereas my sister wakes up at seven. As for her, she has her breakfast with my mother. Both of them go to school by bus.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يَسْتَيْقِظُ أَخِي قَبْلِي.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wakes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third-person prefix.</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تَتَنَاوَلُ أُخْتِي إِفْطَارَهَا مُبَكِّرًا.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her breakfast early.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verb plus feminine possession.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كِلَاهُمَا يَذْهَبُ إِلَى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Both go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كِلَاهُمَا is grammatically singular dual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هِيَ فَرُوتِينُهَا أَهْدَأُ.</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her, her routine is calmer.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Clear contrast and reference.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 THE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صَبَاحًا.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 صَبَاحًا.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صَبَاحًا.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أُنَظِّفُ أَسْنَانِي.</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تُنَظِّفُ أَسْنَانَهُ.</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يُنَظِّفُ أَسْنَانَهَا.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تُنَظِّفُ أَسْنَانَهَا.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أَتَنَاوَلُ الإِفْطَارَ.</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تَذْهَبُ إِلَى المَدْرَسَةِ.</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يَذْهَبُ إِلَى المَدْرَسَةِ.</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أَذْهَبُ إِلَى المَدْرَسَةِ.</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 ya- + -hu (his)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She → ta- + -hā (her)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 he → she: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a:t>
            </a:r>
            <a:endParaRPr lang="ar-SA" sz="15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 صَبَاحًا.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 صَبَاحًا.</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صَبَاحًا.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 ya-.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أُنَظِّفُ أَسْنَانِي.</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تُنَظِّفُ أَسْنَانَهُ.</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يُنَظِّفُ أَسْنَانَهَا.</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تُنَظِّفُ أَسْنَانَهَا.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tu- AND her → -hā.</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“she”.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أَتَنَاوَلُ الإِفْطَارَ.</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الإِفْطَارَ.</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 الإِفْطَارَ.</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تَنَاوَلُ الإِفْطَارَ.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t’s: ta-ta-nā-wa-lu.</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Change to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a:t>
            </a:r>
            <a:endParaRPr lang="ar-SA" sz="15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تَذْهَبُ إِلَى المَدْرَسَةِ.</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يَذْهَبُ إِلَى المَدْرَسَةِ.</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أَذْهَبُ إِلَى المَدْرَسَةِ.</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My brother = he.</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He → ya- + -hu (his)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She → ta- + -hā (her)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Pronoun switch relay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يَسْتَيْقِظُ</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تَسْتَيْقِظُ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تُرَاجِعُ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He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She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He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يَسْتَيْقِظُ</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She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تَسْتَيْقِظُ</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تُرَاجِعُ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رُوتِينُهَا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عَلِيٌّ ___ دُرُوسَهُ.</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 عَلِيٌّ، بَيْنَمَا يَسْتَيْقِظُ أُخْتُهُ.</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عَلِيٌّ وَأُخْتُهُ.</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of them</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of them</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routine”.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عَلِيٌّ ___ دُرُوسَهُ.</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تُرَاجِعُ</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يُرَاجِعُ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 عَلِيٌّ، بَيْنَمَا يَسْتَيْقِظُ أُخْتُهُ.</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عَلِيٌّ وَأُخْتُهُ.</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agrees with its own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كِلَاهُمَا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of them</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of them</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of them</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كِلَاهُمَا</a:t>
            </a:r>
            <a:pPr algn="l" indent="0" marL="0">
              <a:buNone/>
            </a:pPr>
            <a:r>
              <a:rPr lang="en-US" sz="1050" i="1" dirty="0">
                <a:solidFill>
                  <a:srgbClr val="8A6D1E"/>
                </a:solidFill>
                <a:latin typeface="Calibri" pitchFamily="34" charset="0"/>
                <a:ea typeface="Calibri" pitchFamily="34" charset="-122"/>
                <a:cs typeface="Calibri" pitchFamily="34" charset="-120"/>
              </a:rPr>
              <a:t> refers to two people.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routine”.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رُوتِينُهَا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مَرْيَمُ يَسْتَيْقِظُ.</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a girl.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عَلِيٌّ يُحَضِّرُ حَقِيبَتَهَا.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Ali is a boy. Whose bag?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تَتَنَاوَلُ إِفْطَارَهُ.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is eating HER breakfast.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مَرْيَمُ يَسْتَيْقِظُ.</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مَرْيَمُ تَسْتَيْقِظُ.</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عَلِيٌّ يُحَضِّرُ حَقِيبَتَهَا.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عَلِيٌّ يُحَضِّرُ حَقِيبَتَهُ.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masculine possession for Ali.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تَتَنَاوَلُ إِفْطَارَهُ.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إِفْطَارَهَا.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suffix must match the female referent.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siblings, two routines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wakes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at the same 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Samer do quickly?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prepares Layla’s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with his 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gets dressed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Layla prepare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brother’s clothes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revises immediately after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do around ten?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سَامِرٌ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كِلَاهُمَا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يَسْتَيْقِظُ سَامِرٌ فِي السَّادِسَةِ وَالرُّبْعِ، بَيْنَمَا تَسْتَيْقِظُ أُخْتُهُ لَيْلَى فِي السَّادِسَةِ وَالنِّصْفِ.</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wakes up at quarter past six, whereas his sister Layla wakes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يَغْتَسِلُ وَيَرْتَدِي مَلَابِسَهُ بِسُرْعَةٍ، ثُمَّ يَتَنَاوَلُ إِفْطَارَهُ فِي المَطْبَخِ.</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showers and gets dressed quickly, then has his breakfast in the kitchen.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هِيَ فَتُحَضِّرُ حَقِيبَتَهَا أَوَّلًا، ثُمَّ تَتَنَاوَلُ الإِفْطَارَ مَعَ أُمِّهَا.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her, she prepares her bag first, then has breakfast with her mother.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المَدْرَسَةِ يُرَاجِعُ سَامِرٌ دُرُوسَهُ مُبَاشَرَةً، وَلٰكِنَّ لَيْلَى تَسْتَرِيحُ قَبْلَ أَنْ تَبْدَأَ وَاجِبَهَا.</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Samer revises his lessons straight away, but Layla rests before she starts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 يَنَامُ فِي العَاشِرَةِ تَقْرِيبًا.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 sleep at about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wakes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at the same 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Samer wakes at 6:15; Layla at 6:30.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Samer do quickly?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prepares Layla’s bag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with his 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gets dressed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يَغْتَسِلُ وَيَرْتَدِي مَلَابِسَهُ بِسُرْعَةٍ.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Layla prepare first?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brother’s clothes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تُحَضِّرُ حَقِيبَتَهَا أَوَّلًا.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revises immediately after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يُرَاجِعُ سَامِرٌ ... مُبَاشَرَةً.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do around ten?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كِلَاهُمَا يَنَامُ فِي العَاشِرَةِ.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سَامِرٌ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لَيْلَى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كِلَاهُمَا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and compare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 أَخٍ أَوْ أُخْتٍ أَوْ صَدِيقٍ.</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يَسْتَيْقِظُ / تَسْتَيْقِظُ؟ مَاذَا يَفْعَلُ / تَفْعَلُ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وَرُوتِينِهِ / رُوتِينِهَا.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أَكْثَرُ تَنْظِيمًا؟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أَخِي يَـ ___ / أُخْتِي تَـ ___ فِي السَّاعَةِ ___ .</a:t>
            </a:r>
            <a:endParaRPr lang="ar-SA" sz="14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بَيْنَمَا هُوَ / هِيَ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رُوتِينُهُ / رُوتِينُهَا أَكْثَرُ تَنْظِيمًا لِأَنَّ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كِلَاهُمَا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رُوتِينَ أُخْتِكَ.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sister’s routine.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تَسْتَيْقِظُ فِي السَّابِعَةِ وَتَذْهَبُ إِلَى المَدْرَسَةِ مَشْيًا. بَعْدَ المَدْرَسَةِ تُرَاجِعُ دُرُوسَهَا قَبْلَ أَنْ تَسْتَرِيحَ.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She wakes at seven and walks to school. After school she revises her lessons before she rests.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one person with four third-person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person (brother, sister or friend): four he- or she-verbs and one “his / her routine”.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people with clear pronoun and suffix reference.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people with whereas; match the endings (his bag / her bag) at least three times.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Sustain a comparison with evidence, contrast and a nuanced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routine vs another person’s, with times, frequency, before/after and an evidence-based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 بَيْنَمَا أَخِي يَـ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 whereas my brother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هِيَ فَـتَـ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her, she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كِلَاهُمَا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Both of them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يَسْتَيْقِظُ أَبْكَرَ مِنِّي.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wakes up earlier than me.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رُوتِينُهُ أَكْثَرُ اِنْشِغَالًا مِنْ رُوتِينِهَا.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routine is busier than hers.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تَسْتَيْقِظُ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wakes up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يَتَنَاوَلُ إِفْطَارَهُ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has his breakfast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تُرَاجِعُ دُرُوسَهَا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revises her lessons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يَنَامُ / تَنَامُ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sleeps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يَسْتَيْقِظُ  ·  تَسْتَيْقِظُ  ·  يَتَنَاوَلُ  ·  تَتَنَاوَلُ  ·  يَرْجِعُ  ·  تَرْجِعُ  ·  يُرَاجِعُ  ·  تُرَاجِعُ  ·  حَقِيبَتَهُ  ·  حَقِيبَتَهَا  ·  بَيْنَمَا  ·  كِلَاهُمَا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your routine with another person’s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four masculine or feminine third-person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ـهُ</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ـها</a:t>
            </a:r>
            <a:pPr algn="l" indent="0" marL="0">
              <a:buNone/>
            </a:pPr>
            <a:r>
              <a:rPr lang="en-US" sz="1200" dirty="0">
                <a:solidFill>
                  <a:srgbClr val="1F2A37"/>
                </a:solidFill>
                <a:latin typeface="Calibri" pitchFamily="34" charset="0"/>
                <a:ea typeface="Calibri" pitchFamily="34" charset="-122"/>
                <a:cs typeface="Calibri" pitchFamily="34" charset="-120"/>
              </a:rPr>
              <a:t> accurately at least three times.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exact times, frequency and before/after.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تَتَأَكَّدُ مِنْ حَقِيبَتِهَا وَمَفَاتِيحِهَا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checks her bag and keys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يَسْتَيْقِظُ بَعْدَهَا بِنِصْفِ سَاعَةٍ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wakes half an hour after 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مَدْرَسَتَهُ أَبْعَدُ</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his school is further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رُوتِينُهُ أَكْثَرُ اِنْشِغَالًا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routine is busier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رُوتِينَهَا أَكْثَرُ تَنْظِيمًا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her routine is more organised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أَخِي يَسْتَيْقِظُ فِي السَّادِسَةِ، بَيْنَمَا أَسْتَيْقِظُ أَنَا فِي السَّادِسَةِ وَالنِّصْفِ. هُوَ يَغْتَسِلُ وَيَرْتَدِي مَلَابِسَهُ بِسُرْعَةٍ، ثُمَّ يَتَنَاوَلُ إِفْطَارَهُ. أَمَّا أَنَا فَأُحَضِّرُ حَقِيبَتِي قَبْلَ أَنْ أَتَنَاوَلَ الإِفْطَارَ. نَذْهَبُ إِلَى المَدْرَسَةِ مَعًا، وَلٰكِنَّنَا نَخْتَلِفُ بَعْدَ المَدْرَسَةِ. أَخِي يَتَمَرَّنُ ثَلَاثَ مَرَّاتٍ فِي الأُسْبُوعِ، وَيُرَاجِعُ دُرُوسَهُ فِي المَسَاءِ. أَنَا أُكْمِلُ وَاجِبِي مُبَاشَرَةً، ثُمَّ أَسْتَرِيحُ. فِي رَأْيِي، رُوتِينُهُ أَكْثَرُ اِنْشِغَالًا، أَمَّا رُوتِينِي فَأَكْثَرُ تَنْظِيمًا لِأَنَّنِي أُنْهِي وَاجِبِي مُبَكِّرًا.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brother wakes up at six, whereas I wake up at half past six. He showers and gets dressed quickly, then has his breakfast. As for me, I prepare my bag before I have breakfast. We go to school together, but we differ after school. My brother trains three times a week and revises his lessons in the evening. I finish my homework straight away, then I rest. In my opinion, his routine is busier, whereas my routine is more organised because I finish my homework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he-verbs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words ending in -hu (his)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with “as for”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 and its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about HIM starts with ya- or yu-.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about HER starts with ta- or tu-.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endings match the person (his -hu, her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“whereas”, the new verb matches the new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ended with a judgement and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wakes”.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دُرُوسَهَا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reference clear?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تُحَضِّرُ حَقِيبَتَهَا.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أُحَضِّرُ حَقِيبَتِي.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wakes”.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third person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دُرُوسَهَا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يُرَاجِعُ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تُرَاجِعُ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أُرَاجِعُ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keeps reference clear?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عَلِيٌّ تُحَضِّرُ حَقِيبَتَهَا.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عَلِيٌّ أُحَضِّرُ حَقِيبَتِي.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 and suffix match Ali.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 describes her cousin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اِبْنَةُ عَمِّي هُدَى طَالِبَةٌ مُنَظَّمَةٌ. تَسْتَيْقِظُ فِي السَّادِسَةِ وَعَشْرِ دَقَائِقَ، وَتُحَضِّرُ إِفْطَارَهَا بِنَفْسِهَا. قَبْلَ أَنْ تَخْرُجَ، تَتَأَكَّدُ مِنْ حَقِيبَتِهَا وَمَفَاتِيحِهَا. تَذْهَبُ إِلَى المَدْرَسَةِ مَشْيًا لِأَنَّهَا تَسْكُنُ قَرِيبًا. أَمَّا أَخُوهَا خَالِدٌ فَيَسْتَيْقِظُ بَعْدَهَا بِنِصْفِ سَاعَةٍ، وَيَسْتَقِلُّ الحَافِلَةَ لِأَنَّ مَدْرَسَتَهُ أَبْعَدُ. بَعْدَ المَدْرَسَةِ تُكْمِلُ هُدَى وَاجِبَهَا قَبْلَ أَنْ تَسْتَرِيحَ، بَيْنَمَا يَذْهَبُ خَالِدٌ إِلَى التَّدْرِيبِ أَوَّلًا. رُوتِينُهُ أَكْثَرُ اِنْشِغَالًا، وَلٰكِنَّ رُوتِينَهَا أَكْثَرُ تَنْظِيمًا.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اِبْنَةُ عَمِّي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cousin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طَالِبَةٌ مُنَظَّمَةٌ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organised student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بِنَفْسِهَا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herself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تَتَأَكَّدُ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checks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مَفَاتِيحِهَا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keys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foot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تَسْكُنُ قَرِيبًا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lives nearby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بَعْدَهَا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her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أَبْعَدُ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further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training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Huda?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cousin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Huda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Khalid take the bus?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school is farther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wakes first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uses the bus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before resting?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Khalid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busier?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more organised?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equally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Huda?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cousin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اِبْنَةُ عَمِّي.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Huda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 مَشْيًا.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Khalid take the bus?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school is farther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wakes first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 uses the bus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مَدْرَسَتَهُ أَبْعَدُ.</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before resting?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Khalid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تُكْمِلُ ... قَبْلَ أَنْ تَسْتَرِيحَ.</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busier?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رُوتِينُهُ أَكْثَرُ اِنْشِغَالًا.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routine is more organised?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Khalid’s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equally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رُوتِينَهَا أَكْثَرُ تَنْظِيمًا.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He-and-she transformation challenge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Change </a:t>
            </a:r>
            <a:pPr algn="l" indent="0" marL="0">
              <a:buNone/>
            </a:pPr>
            <a:r>
              <a:rPr lang="ar-SA" altLang="en-US" sz="1650" b="1" dirty="0">
                <a:solidFill>
                  <a:srgbClr val="1B3B6F"/>
                </a:solidFill>
                <a:latin typeface="Amiri" pitchFamily="34" charset="0"/>
                <a:ea typeface="Amiri" pitchFamily="34" charset="-122"/>
                <a:cs typeface="Amiri" pitchFamily="34" charset="-120"/>
              </a:rPr>
              <a:t>أَنَا أَسْتَيْقِظُ مُبَكِّرًا</a:t>
            </a:r>
            <a:pPr algn="l" indent="0" marL="0">
              <a:buNone/>
            </a:pPr>
            <a:r>
              <a:rPr lang="en-US" sz="1250" b="1" dirty="0">
                <a:solidFill>
                  <a:srgbClr val="1B3B6F"/>
                </a:solidFill>
                <a:latin typeface="Calibri" pitchFamily="34" charset="0"/>
                <a:ea typeface="Calibri" pitchFamily="34" charset="-122"/>
                <a:cs typeface="Calibri" pitchFamily="34" charset="-120"/>
              </a:rPr>
              <a:t> to “he”.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تَسْتَيْقِظُ مُبَكِّرًا.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يَسْتَيْقِظُ مُبَكِّرًا.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أَسْتَيْقِظُ مُبَكِّرًا.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مَرْيَمُ ___ دُرُوسَهَا بَعْدَ المَدْرَسَةِ.</a:t>
            </a:r>
            <a:endParaRPr lang="ar-SA" sz="11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يُرَاجِعُ</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meaning “Ali prepares his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تُحَضِّرُ حَقِيبَتَهَا.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حَقِيبَتِي.</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يُحَضِّرُ حَقِيبَتَهُ.</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تَمْشِي، بَيْنَمَا هِيَ يَسْتَقِلُّ الحَافِلَةَ.</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أَمْشِي، بَيْنَمَا هِيَ أَسْتَقِلُّ.</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هُوَ يَمْشِي، بَيْنَمَا هِيَ تَسْتَقِلُّ الحَافِلَةَ.</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يُرَاجِعُ خَالِدٌ دُرُوسَهُ، أَمَّا زَيْنَبُ فَتُحَضِّرُ حَقِيبَتَهَا</a:t>
            </a:r>
            <a:pPr algn="l" indent="0" marL="0">
              <a:buNone/>
            </a:pPr>
            <a:r>
              <a:rPr lang="en-US" sz="1000" b="1" dirty="0">
                <a:solidFill>
                  <a:srgbClr val="1F2A37"/>
                </a:solidFill>
                <a:latin typeface="Calibri" pitchFamily="34" charset="0"/>
                <a:ea typeface="Calibri" pitchFamily="34" charset="-122"/>
                <a:cs typeface="Calibri" pitchFamily="34" charset="-120"/>
              </a:rPr>
              <a:t>. Who prepares her bag?</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أُخْتِي يَتَنَاوَلُ الإِفْطَارَ فِي السَّابِعَةِ.</a:t>
            </a:r>
            <a:endParaRPr lang="ar-SA"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أَتَنَاوَلُ الإِفْطَارَ فِي السَّابِعَةِ.</a:t>
            </a:r>
            <a:endParaRPr lang="ar-SA" sz="18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تَتَنَاوَلُ الإِفْطَارَ فِي السَّابِعَةِ.</a:t>
            </a:r>
            <a:endParaRPr lang="ar-SA" sz="18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أُخْتِي نَتَنَاوَلُ الإِفْطَارَ فِي السَّابِعَةِ.</a:t>
            </a:r>
            <a:endParaRPr lang="ar-SA" sz="18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Change </a:t>
            </a:r>
            <a:pPr algn="l" indent="0" marL="0">
              <a:buNone/>
            </a:pPr>
            <a:r>
              <a:rPr lang="ar-SA" altLang="en-US" sz="1650" b="1" dirty="0">
                <a:solidFill>
                  <a:srgbClr val="1B3B6F"/>
                </a:solidFill>
                <a:latin typeface="Amiri" pitchFamily="34" charset="0"/>
                <a:ea typeface="Amiri" pitchFamily="34" charset="-122"/>
                <a:cs typeface="Amiri" pitchFamily="34" charset="-120"/>
              </a:rPr>
              <a:t>أَنَا أَسْتَيْقِظُ مُبَكِّرًا</a:t>
            </a:r>
            <a:pPr algn="l" indent="0" marL="0">
              <a:buNone/>
            </a:pPr>
            <a:r>
              <a:rPr lang="en-US" sz="1250" b="1" dirty="0">
                <a:solidFill>
                  <a:srgbClr val="1B3B6F"/>
                </a:solidFill>
                <a:latin typeface="Calibri" pitchFamily="34" charset="0"/>
                <a:ea typeface="Calibri" pitchFamily="34" charset="-122"/>
                <a:cs typeface="Calibri" pitchFamily="34" charset="-120"/>
              </a:rPr>
              <a:t> to “he”.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تَسْتَيْقِظُ مُبَكِّرًا.</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يَسْتَيْقِظُ مُبَكِّرًا.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أَسْتَيْقِظُ مُبَكِّرًا.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third-person present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مَرْيَمُ ___ دُرُوسَهَا بَعْدَ المَدْرَسَةِ.</a:t>
            </a:r>
            <a:endParaRPr lang="ar-SA" sz="11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تُرَاجِعُ</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يُرَاجِعُ</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مَرْيَمُ</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تُرَاجِعُ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meaning “Ali prepares his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تُحَضِّرُ حَقِيبَتَهَا.</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يُحَضِّرُ حَقِيبَتِي.</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يُحَضِّرُ حَقِيبَتَهُ.</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is masculine and the suffix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تَمْشِي، بَيْنَمَا هِيَ يَسْتَقِلُّ الحَافِلَةَ.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أَمْشِي، بَيْنَمَا هِيَ أَسْتَقِلُّ.</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يَمْشِي، بَيْنَمَا هِيَ تَسْتَقِلُّ الحَافِلَةَ.</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clause needs its own subject agreement: </a:t>
            </a:r>
            <a:pPr algn="l" indent="0" marL="0">
              <a:buNone/>
            </a:pPr>
            <a:r>
              <a:rPr lang="ar-SA" altLang="en-US" sz="1350" dirty="0">
                <a:solidFill>
                  <a:srgbClr val="8A6D1E"/>
                </a:solidFill>
                <a:latin typeface="Amiri" pitchFamily="34" charset="0"/>
                <a:ea typeface="Amiri" pitchFamily="34" charset="-122"/>
                <a:cs typeface="Amiri" pitchFamily="34" charset="-120"/>
              </a:rPr>
              <a:t>هُوَ يَمْشِي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هِيَ تَسْتَقِلُّ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يُرَاجِعُ خَالِدٌ دُرُوسَهُ، أَمَّا زَيْنَبُ فَتُحَضِّرُ حَقِيبَتَهَا</a:t>
            </a:r>
            <a:pPr algn="l" indent="0" marL="0">
              <a:buNone/>
            </a:pPr>
            <a:r>
              <a:rPr lang="en-US" sz="1000" b="1" dirty="0">
                <a:solidFill>
                  <a:srgbClr val="1F2A37"/>
                </a:solidFill>
                <a:latin typeface="Calibri" pitchFamily="34" charset="0"/>
                <a:ea typeface="Calibri" pitchFamily="34" charset="-122"/>
                <a:cs typeface="Calibri" pitchFamily="34" charset="-120"/>
              </a:rPr>
              <a:t>. Who prepares her bag?</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verb and suffix in </a:t>
            </a:r>
            <a:pPr algn="l" indent="0" marL="0">
              <a:buNone/>
            </a:pPr>
            <a:r>
              <a:rPr lang="ar-SA" altLang="en-US" sz="1350" dirty="0">
                <a:solidFill>
                  <a:srgbClr val="8A6D1E"/>
                </a:solidFill>
                <a:latin typeface="Amiri" pitchFamily="34" charset="0"/>
                <a:ea typeface="Amiri" pitchFamily="34" charset="-122"/>
                <a:cs typeface="Amiri" pitchFamily="34" charset="-120"/>
              </a:rPr>
              <a:t>فَتُحَضِّرُ حَقِيبَتَهَا</a:t>
            </a:r>
            <a:pPr algn="l" indent="0" marL="0">
              <a:buNone/>
            </a:pPr>
            <a:r>
              <a:rPr lang="en-US" sz="1050" i="1" dirty="0">
                <a:solidFill>
                  <a:srgbClr val="8A6D1E"/>
                </a:solidFill>
                <a:latin typeface="Calibri" pitchFamily="34" charset="0"/>
                <a:ea typeface="Calibri" pitchFamily="34" charset="-122"/>
                <a:cs typeface="Calibri" pitchFamily="34" charset="-120"/>
              </a:rPr>
              <a:t> refer to Zaynab.</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أُخْتِي يَتَنَاوَلُ الإِفْطَارَ فِي السَّابِعَةِ.</a:t>
            </a:r>
            <a:endParaRPr lang="ar-SA"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أَتَنَاوَلُ الإِفْطَارَ فِي السَّابِعَةِ.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تَتَنَاوَلُ الإِفْطَارَ فِي السَّابِعَةِ.</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نَتَنَاوَلُ الإِفْطَارَ فِي السَّابِعَةِ.</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the Form VI pattern adds the second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in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D1-L07 · Asking About Daily Routine — What Do You Do?</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مَاذَا تَفْعَلُ؟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do you (m.) do?</a:t>
            </a:r>
            <a:pPr indent="0" marL="0">
              <a:buNone/>
            </a:pPr>
            <a:r>
              <a:rPr lang="en-US" sz="1000" i="1" dirty="0">
                <a:solidFill>
                  <a:srgbClr val="5A6472"/>
                </a:solidFill>
                <a:latin typeface="Calibri" pitchFamily="34" charset="0"/>
                <a:ea typeface="Calibri" pitchFamily="34" charset="-122"/>
                <a:cs typeface="Calibri" pitchFamily="34" charset="-120"/>
              </a:rPr>
              <a:t>  f.: مَاذَا تَفْعَلِينَ؟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مَرَّةً؟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often?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why?</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with whom?</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three questions you would like to ask a classmate about their 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D1-L06: the sorter “Pronoun switch relay”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comparing your routine with a family member’s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your routine vs another person’s.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D1-L07 · Asking About Daily Routine — What Do You Do?</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مَاذَا تَفْعَلُ؟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choose the verb by the person you DESCRIBE, not by who is speaking.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D1-L06 · He and She — Describing Someone Else’s Routine</dc:title>
  <dc:subject>PptxGenJS Presentation</dc:subject>
  <dc:creator>Al Madina Online School · Arabic Department</dc:creator>
  <cp:lastModifiedBy>Al Madina Online School · Arabic Department</cp:lastModifiedBy>
  <cp:revision>1</cp:revision>
  <dcterms:created xsi:type="dcterms:W3CDTF">2026-09-27T11:13:46Z</dcterms:created>
  <dcterms:modified xsi:type="dcterms:W3CDTF">2026-09-27T11:13:46Z</dcterms:modified>
</cp:coreProperties>
</file>