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D1 Daily Routine and Time › D1-L06. The website lesson “He and She — Describing Someone Else’s Routine”: vocabulary, grammar rules and quiz, patterns, common mistakes, sorter, listening, reading, speaking prompts and model, writing task and model, differentiation, final check and the lesson mission. Picture match: website visual game “He and She — Describing Someone Else’s Routine”.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describe ONE person (a brother OR a sister) with four verbs. The key question every time: “Who am I talking about — him or her?” (NOT: am I a boy or a girl?).
• Develop: compare two people with بَيْنَمَا and keep the suffix matching (حَقِيبَتُهُ / حَقِيبَتُهَا). Stretch: a whole comparison paragraph with أَمَّا … فَـ, كِلَاهُمَا and an evidence-based judgement.
• The masculine vocabulary cards carry the she / I / they forms, so the feminine group is FLEX (it is the same list with تَـ).
• Website warning: a girl describing her brother still says هُوَ يَسْتَيْقِظُ — choose the verb by the person described, not the speaker.
• Urdu bridge: روٹین، مصروف، منظم، دونوں (→ كِلَاهُمَا), اول.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retrieve D1-L05 (object endings, return vs revise) and D1-L01 (prefixes).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Him: يَـ + ـهُ. Her: تَـ + ـهَا. The verb and the ending must point to the SAME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روٹین (routine) → رُوتِينٌ. مشغول (busy) → أَكْثَرُ اِنْشِغَالًا (busier). تنظیم / منظم (organisation / organised) → أَكْثَرُ تَنْظِيمًا (more organised). اول (first) → أَوَّلًا. دونوں = both → كِلَاهُمَا (meaning bridge only, not a cognate).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Masculine routine forms (website vocabulary (1 of 2)). Hear → Say → See → Use. Transliteration is printed for Core students (cover it for Develop/Stretch).
FAST: students know the I-forms from D1-L01. Read the he-form, then the she-form on the card (just change يَـ to تَـ). Point out تَتَنَاوَلُ has two t’s: one is the pattern, one is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Masculine routine forms (website vocabulary (2 of 2)). Hear → Say → See → Use. Transliteration is printed for Core students (cover it for Develop/Stretch).
FAST: students know the I-forms from D1-L01. Read the he-form, then the she-form on the card (just change يَـ to تَـ). Point out تَتَنَاوَلُ has two t’s: one is the pattern, one is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Feminine routine forms (website vocabulary (1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Feminine routine forms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Reference and comparison (website vocabulary (1 of 2)). Hear → Say → See → Use. Transliteration is printed for Core students (cover it for Develop/Stretch).
Reference words: أَمَّا هُوَ فَـ / أَمَّا هِيَ فَـ (as for him / her), كِلَاهُمَا (both of them) + a singular he-verb: كِلَاهُمَا يَذْهَبُ.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Reference and comparison (website vocabulary (2 of 2)). Hear → Say → See → Use. Transliteration is printed for Core students (cover it for Develop/Stretch).
Reference words: أَمَّا هُوَ فَـ / أَمَّا هِيَ فَـ (as for him / her), كِلَاهُمَا (both of them) + a singular he-verb: كِلَاهُمَا يَذْهَبُ.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“Use يَـ for a masculine singular subject”, “Use تَـ for a feminine singular subject”, “Match the possessive suffix” and the website table (Person · Prefix · Possession).
Teacher script: “Two checks every sentence: the FRONT of the verb and the END of the noun. Both must point to the same person.”
Website warning: “Do not choose the verb by the speaker’s gender … a female speaker describing her brother still says هُوَ يَسْتَيْقِظُ.” Ask a girl to describe her brother aloud to prove it.
Quick-fire: say a name (خَالِدٌ / زَيْنَبُ / أَبِي / أُمِّي); students show يـ or تـ on their fingers, then say “ـهُ” or “ـهَا”.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“Compare without losing the subject” (repeat the subject or use a clear pronoun after a contrast marker) and website patterns 3–4.
Website teaching point: “Use names, then pronouns, then repeated reference only when the reader can still identify the person.”
Recycles بَيْنَمَا and أَمَّا … فَـ from D1-L03 — now with two different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“Masculine and feminine third-person forms often differ only in the prefix, but a whole paragraph must preserve that difference. Possessive suffixes and pronouns must refer to the same person clearly.”
• Use يَـ for a masculine singular subject: Most masculine third-person verbs begin with يَـ. Some forms contain additional pattern letters that remain.
• Use تَـ for a feminine singular subject: The feminine subject takes تَـ. With Form VI تَتَنَاوَلُ contains two t sounds because one belongs to the pattern and one marks the person.
• Match the possessive suffix: A masculine routine uses ـهُ; a feminine routine uses ـها.
• Compare without losing the subject: Repeat the subject or use a clear pronoun after a contrast marker.
Website common error: Do not choose the verb by the speaker’s gender. Choose it by the person being described: a female speaker describing her brother still says هُوَ يَسْتَيْقِظُ.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patterns combined, with a think-aloud (“who am I talking about now?”). Students copy it, colour him blue and her pink.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picture game for this lesson uses I-sentences (أَسْتَيْقِظُ صَبَاحًا …). Here the class TRANSFORMS them to he / she, which is the skill of the lesson. 20 seconds each; chat the letters. Q2 is the trap: the verb AND the ending both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class reads each answer aloud, then says it again for the opposite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Assign each phrase to the person it describes.
Core: look at the first letter of verbs (يـ / تـ) and the last letters of nouns (ـهُ / ـهَا).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Assign each phrase to the person it describes.
Core: look at the first letter of verbs (يـ / تـ) and the last letters of nouns (ـهُ / ـهَا).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5. Develop / Stretch: all 5.
Listen 1: just listen. Listen 2: note answers. Then chat the letters.
Support: after the second listening, show the read-along slide (Arabic + English, line by line) for Core students.
SCRIPT (read aloud):
يَسْتَيْقِظُ سَامِرٌ فِي السَّادِسَةِ وَالرُّبْعِ، بَيْنَمَا تَسْتَيْقِظُ أُخْتُهُ لَيْلَى فِي السَّادِسَةِ وَالنِّصْفِ. هُوَ يَغْتَسِلُ وَيَرْتَدِي مَلَابِسَهُ بِسُرْعَةٍ، ثُمَّ يَتَنَاوَلُ إِفْطَارَهُ فِي المَطْبَخِ. أَمَّا هِيَ فَتُحَضِّرُ حَقِيبَتَهَا أَوَّلًا، ثُمَّ تَتَنَاوَلُ الإِفْطَارَ مَعَ أُمِّهَا. بَعْدَ المَدْرَسَةِ يُرَاجِعُ سَامِرٌ دُرُوسَهُ مُبَاشَرَةً، وَلٰكِنَّ لَيْلَى تَسْتَرِيحُ قَبْلَ أَنْ تَبْدَأَ وَاجِبَهَا. كِلَاهُمَا يَنَامُ فِي العَاشِرَةِ تَقْرِيبًا.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prompts (2 and 3 merged on the slide for Core). Summarise step: the partner reports back in the third person (“he / she …”) — this is the lesson skill in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Describe one person with four third-person verbs. · Develop — Compare two people with clear pronoun and suffix reference. · Stretch — Sustain a comparison with evidence, contrast and a nuanced judgement.
Website writing task (Stretch): Write 100–120 words comparing your routine with another person’s routine.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يَسْتَيْقِظُ، يَغْتَسِلُ، يَرْتَدِي، يَتَنَاوَلُ، يَتَمَرَّنُ، يُرَاجِعُ · مَلَابِسَهُ، إِفْطَارَهُ، دُرُوسَهُ، رُوتِينُهُ · أَمَّا أَنَا فَأُحَضِّرُ · أَكْثَرُ تَنْظِيمًا لِأَنَّنِي أُنْهِي وَاجِبِي مُبَكِّرًا.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(D1-L07 · Asking About Daily Routine — What Do You Do?) will spend class time USING this language, so students prepare it tonight — short, simple, easy to access (school guidance: “Simple, Short, Interesting, Relevant, Easy to access”). The five words come from the website D1-L07 vocabulary (question words and questions to a boy / girl).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He and She — Describing Someone Else’s Routine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هُوَ وَهِيَ — وَصْفُ رُوتِينِ شَخْصٍ آخَرَ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and compare another person’s routine: </a:t>
            </a:r>
            <a:pPr algn="l" indent="0" marL="0">
              <a:buNone/>
            </a:pPr>
            <a:r>
              <a:rPr lang="ar-SA" altLang="en-US" sz="1800" dirty="0">
                <a:solidFill>
                  <a:srgbClr val="C6D2E6"/>
                </a:solidFill>
                <a:latin typeface="Amiri" pitchFamily="2" charset="-78"/>
                <a:cs typeface="Amiri" pitchFamily="2" charset="-78"/>
              </a:rPr>
              <a:t>يَـ</a:t>
            </a:r>
            <a:pPr algn="l" indent="0" marL="0">
              <a:buNone/>
            </a:pPr>
            <a:r>
              <a:rPr lang="en-US" sz="1400" dirty="0">
                <a:solidFill>
                  <a:srgbClr val="C6D2E6"/>
                </a:solidFill>
                <a:latin typeface="Calibri" pitchFamily="34" charset="0"/>
                <a:cs typeface="Amiri" pitchFamily="2" charset="-78"/>
              </a:rPr>
              <a:t> for him, </a:t>
            </a:r>
            <a:pPr algn="l" indent="0" marL="0">
              <a:buNone/>
            </a:pPr>
            <a:r>
              <a:rPr lang="ar-SA" altLang="en-US" sz="1800" dirty="0">
                <a:solidFill>
                  <a:srgbClr val="C6D2E6"/>
                </a:solidFill>
                <a:latin typeface="Amiri" pitchFamily="2" charset="-78"/>
                <a:cs typeface="Amiri" pitchFamily="2" charset="-78"/>
              </a:rPr>
              <a:t>تَـ</a:t>
            </a:r>
            <a:pPr algn="l" indent="0" marL="0">
              <a:buNone/>
            </a:pPr>
            <a:r>
              <a:rPr lang="en-US" sz="1400" dirty="0">
                <a:solidFill>
                  <a:srgbClr val="C6D2E6"/>
                </a:solidFill>
                <a:latin typeface="Calibri" pitchFamily="34" charset="0"/>
                <a:cs typeface="Amiri" pitchFamily="2" charset="-78"/>
              </a:rPr>
              <a:t> for her, </a:t>
            </a:r>
            <a:pPr algn="l" indent="0" marL="0">
              <a:buNone/>
            </a:pPr>
            <a:r>
              <a:rPr lang="ar-SA" altLang="en-US" sz="1800" dirty="0">
                <a:solidFill>
                  <a:srgbClr val="C6D2E6"/>
                </a:solidFill>
                <a:latin typeface="Amiri" pitchFamily="2" charset="-78"/>
                <a:cs typeface="Amiri" pitchFamily="2" charset="-78"/>
              </a:rPr>
              <a:t>ـهُ / ـهَا</a:t>
            </a:r>
            <a:pPr algn="l" indent="0" marL="0">
              <a:buNone/>
            </a:pPr>
            <a:r>
              <a:rPr lang="en-US" sz="1400" dirty="0">
                <a:solidFill>
                  <a:srgbClr val="C6D2E6"/>
                </a:solidFill>
                <a:latin typeface="Calibri" pitchFamily="34" charset="0"/>
                <a:cs typeface="Amiri" pitchFamily="2" charset="-78"/>
              </a:rPr>
              <a:t> on every noun, and keep the reference clear through a whole paragraph.</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D1-L06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Him or her? The prefix and the ending must both match.</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Transform I → he / she, sort,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D1-L07.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رُوتِينُهَا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routine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routine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routine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كِلَاهُمَا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of them</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of them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 of them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help her”.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تُسَاعِدُنِي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revise my lessons”.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أَرْجِعُ دُرُوسِي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أَسْتَرِيحُ دُرُوسِي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أُرَاجِعُ دُرُوسِي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أُخْتِي تَسْتَيْقِظُ مُبَكِّرًا.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أُخْتِي يَسْتَيْقِظُ مُبَكِّرًا.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أُخْتِي أَسْتَيْقِظُ مُبَكِّرًا.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رُوتِينُهَا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routine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routine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my routine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كِلَاهُمَا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 of them</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of them</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 of them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help her”.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أُسَاعِدُهُ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تُسَاعِدُنِي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أُسَاعِدُهَا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D1-L05 object endings.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revise my lessons”.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أَرْجِعُ دُرُوسِي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أَسْتَرِيحُ دُرُوسِي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أُرَاجِعُ دُرُوسِي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D1-L05: return vs revise.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أُخْتِي تَسْتَيْقِظُ مُبَكِّرًا.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أُخْتِي يَسْتَيْقِظُ مُبَكِّرًا.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أُخْتِي أَسْتَيْقِظُ مُبَكِّرًا.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D1-L01: she →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Him: </a:t>
            </a:r>
            <a:pPr algn="l" indent="0" marL="0">
              <a:buNone/>
            </a:pPr>
            <a:r>
              <a:rPr lang="ar-SA" altLang="en-US" sz="1700" b="1" dirty="0">
                <a:solidFill>
                  <a:srgbClr val="1F2A37"/>
                </a:solidFill>
                <a:latin typeface="Amiri" pitchFamily="2" charset="-78"/>
                <a:cs typeface="Amiri" pitchFamily="2" charset="-78"/>
              </a:rPr>
              <a:t>يَـ</a:t>
            </a:r>
            <a:pPr algn="l" indent="0" marL="0">
              <a:buNone/>
            </a:pPr>
            <a:r>
              <a:rPr lang="en-US" sz="1300" b="1" dirty="0">
                <a:solidFill>
                  <a:srgbClr val="1F2A37"/>
                </a:solidFill>
                <a:latin typeface="Calibri" pitchFamily="34" charset="0"/>
                <a:cs typeface="Amiri" pitchFamily="2" charset="-78"/>
              </a:rPr>
              <a:t> + </a:t>
            </a:r>
            <a:pPr algn="l" indent="0" marL="0">
              <a:buNone/>
            </a:pPr>
            <a:r>
              <a:rPr lang="ar-SA" altLang="en-US" sz="1700" b="1" dirty="0">
                <a:solidFill>
                  <a:srgbClr val="1F2A37"/>
                </a:solidFill>
                <a:latin typeface="Amiri" pitchFamily="2" charset="-78"/>
                <a:cs typeface="Amiri" pitchFamily="2" charset="-78"/>
              </a:rPr>
              <a:t>ـهُ</a:t>
            </a:r>
            <a:pPr algn="l" indent="0" marL="0">
              <a:buNone/>
            </a:pPr>
            <a:r>
              <a:rPr lang="en-US" sz="1300" b="1" dirty="0">
                <a:solidFill>
                  <a:srgbClr val="1F2A37"/>
                </a:solidFill>
                <a:latin typeface="Calibri" pitchFamily="34" charset="0"/>
                <a:cs typeface="Amiri" pitchFamily="2" charset="-78"/>
              </a:rPr>
              <a:t>. Her: </a:t>
            </a:r>
            <a:pPr algn="l" indent="0" marL="0">
              <a:buNone/>
            </a:pPr>
            <a:r>
              <a:rPr lang="ar-SA" altLang="en-US" sz="1700" b="1" dirty="0">
                <a:solidFill>
                  <a:srgbClr val="1F2A37"/>
                </a:solidFill>
                <a:latin typeface="Amiri" pitchFamily="2" charset="-78"/>
                <a:cs typeface="Amiri" pitchFamily="2" charset="-78"/>
              </a:rPr>
              <a:t>تَـ</a:t>
            </a:r>
            <a:pPr algn="l" indent="0" marL="0">
              <a:buNone/>
            </a:pPr>
            <a:r>
              <a:rPr lang="en-US" sz="1300" b="1" dirty="0">
                <a:solidFill>
                  <a:srgbClr val="1F2A37"/>
                </a:solidFill>
                <a:latin typeface="Calibri" pitchFamily="34" charset="0"/>
                <a:cs typeface="Amiri" pitchFamily="2" charset="-78"/>
              </a:rPr>
              <a:t> + </a:t>
            </a:r>
            <a:pPr algn="l" indent="0" marL="0">
              <a:buNone/>
            </a:pPr>
            <a:r>
              <a:rPr lang="ar-SA" altLang="en-US" sz="1700" b="1" dirty="0">
                <a:solidFill>
                  <a:srgbClr val="1F2A37"/>
                </a:solidFill>
                <a:latin typeface="Amiri" pitchFamily="2" charset="-78"/>
                <a:cs typeface="Amiri" pitchFamily="2" charset="-78"/>
              </a:rPr>
              <a:t>ـهَا</a:t>
            </a:r>
            <a:pPr algn="l" indent="0" marL="0">
              <a:buNone/>
            </a:pPr>
            <a:r>
              <a:rPr lang="en-US" sz="1300" b="1" dirty="0">
                <a:solidFill>
                  <a:srgbClr val="1F2A37"/>
                </a:solidFill>
                <a:latin typeface="Calibri" pitchFamily="34" charset="0"/>
                <a:cs typeface="Amiri" pitchFamily="2" charset="-78"/>
              </a:rPr>
              <a:t>. The verb and the ending must point to the SAME person.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يُ</a:t>
            </a:r>
            <a:pPr rtl="1" algn="ctr" indent="0" marL="0">
              <a:buNone/>
            </a:pPr>
            <a:r>
              <a:rPr lang="ar-SA" altLang="en-US" sz="2400" b="1" dirty="0">
                <a:solidFill>
                  <a:srgbClr val="1B3B6F"/>
                </a:solidFill>
                <a:latin typeface="Amiri" pitchFamily="2" charset="-78"/>
                <a:cs typeface="Amiri" pitchFamily="2" charset="-78"/>
              </a:rPr>
              <a:t>حَضِّرُ حَقِيبَتَ</a:t>
            </a:r>
            <a:pPr rtl="1" algn="ctr" indent="0" marL="0">
              <a:buNone/>
            </a:pPr>
            <a:r>
              <a:rPr lang="ar-SA" altLang="en-US" sz="2400" b="1" dirty="0">
                <a:solidFill>
                  <a:srgbClr val="1D5FBF"/>
                </a:solidFill>
                <a:latin typeface="Amiri" pitchFamily="2" charset="-78"/>
                <a:cs typeface="Amiri" pitchFamily="2" charset="-78"/>
              </a:rPr>
              <a:t>هُ</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cs typeface="Amiri" pitchFamily="2" charset="-78"/>
              </a:rPr>
              <a:t>تُ</a:t>
            </a:r>
            <a:pPr rtl="1" algn="ctr" indent="0" marL="0">
              <a:buNone/>
            </a:pPr>
            <a:r>
              <a:rPr lang="ar-SA" altLang="en-US" sz="2400" b="1" dirty="0">
                <a:solidFill>
                  <a:srgbClr val="1B3B6F"/>
                </a:solidFill>
                <a:latin typeface="Amiri" pitchFamily="2" charset="-78"/>
                <a:cs typeface="Amiri" pitchFamily="2" charset="-78"/>
              </a:rPr>
              <a:t>حَضِّرُ حَقِيبَتَ</a:t>
            </a:r>
            <a:pPr rtl="1" algn="ctr" indent="0" marL="0">
              <a:buNone/>
            </a:pPr>
            <a:r>
              <a:rPr lang="ar-SA" altLang="en-US" sz="2400" b="1" dirty="0">
                <a:solidFill>
                  <a:srgbClr val="D6336C"/>
                </a:solidFill>
                <a:latin typeface="Amiri" pitchFamily="2" charset="-78"/>
                <a:cs typeface="Amiri" pitchFamily="2" charset="-78"/>
              </a:rPr>
              <a:t>هَا</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Change a wide range of routine verbs from I to he and she.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Maintain masculine and feminine agreement across connected sentences.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pronouns and possessive suffixes without unclear reference.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two people’s routines with precise evidence.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one person’s morning with four verbs.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his routine and her routine.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two people with </a:t>
            </a:r>
            <a:pPr algn="l" indent="0" marL="0">
              <a:buNone/>
            </a:pPr>
            <a:r>
              <a:rPr lang="ar-SA" altLang="en-US" sz="1700" b="1" dirty="0">
                <a:solidFill>
                  <a:srgbClr val="C9780A"/>
                </a:solidFill>
                <a:latin typeface="Amiri" pitchFamily="2" charset="-78"/>
                <a:cs typeface="Amiri" pitchFamily="2" charset="-78"/>
              </a:rPr>
              <a:t>بَيْنَمَا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match </a:t>
            </a:r>
            <a:pPr algn="l" indent="0" marL="0">
              <a:buNone/>
            </a:pPr>
            <a:r>
              <a:rPr lang="ar-SA" altLang="en-US" sz="1700" b="1" dirty="0">
                <a:solidFill>
                  <a:srgbClr val="C9780A"/>
                </a:solidFill>
                <a:latin typeface="Amiri" pitchFamily="2" charset="-78"/>
                <a:cs typeface="Amiri" pitchFamily="2" charset="-78"/>
              </a:rPr>
              <a:t>ـهُ / ـهَا</a:t>
            </a:r>
            <a:pPr algn="l" indent="0" marL="0">
              <a:buNone/>
            </a:pPr>
            <a:r>
              <a:rPr lang="en-US" sz="1300" b="1" dirty="0">
                <a:solidFill>
                  <a:srgbClr val="C9780A"/>
                </a:solidFill>
                <a:latin typeface="Calibri" pitchFamily="34" charset="0"/>
                <a:cs typeface="Amiri" pitchFamily="2" charset="-78"/>
              </a:rPr>
              <a:t> to the right person.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organise a comparison with </a:t>
            </a:r>
            <a:pPr algn="l" indent="0" marL="0">
              <a:buNone/>
            </a:pPr>
            <a:r>
              <a:rPr lang="ar-SA" altLang="en-US" sz="1700" b="1" dirty="0">
                <a:solidFill>
                  <a:srgbClr val="B83227"/>
                </a:solidFill>
                <a:latin typeface="Amiri" pitchFamily="2" charset="-78"/>
                <a:cs typeface="Amiri" pitchFamily="2" charset="-78"/>
              </a:rPr>
              <a:t>أَمَّا … فَـ</a:t>
            </a:r>
            <a:pPr algn="l" indent="0" marL="0">
              <a:buNone/>
            </a:pPr>
            <a:r>
              <a:rPr lang="en-US" sz="1300" b="1" dirty="0">
                <a:solidFill>
                  <a:srgbClr val="B83227"/>
                </a:solidFill>
                <a:latin typeface="Calibri" pitchFamily="34" charset="0"/>
                <a:cs typeface="Amiri" pitchFamily="2" charset="-78"/>
              </a:rPr>
              <a:t> and </a:t>
            </a:r>
            <a:pPr algn="l" indent="0" marL="0">
              <a:buNone/>
            </a:pPr>
            <a:r>
              <a:rPr lang="ar-SA" altLang="en-US" sz="1700" b="1" dirty="0">
                <a:solidFill>
                  <a:srgbClr val="B83227"/>
                </a:solidFill>
                <a:latin typeface="Amiri" pitchFamily="2" charset="-78"/>
                <a:cs typeface="Amiri" pitchFamily="2" charset="-78"/>
              </a:rPr>
              <a:t>كِلَاهُمَا</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an evidence-based judgement.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Masculine routine forms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Feminine routine forms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Reference and comparison · 10</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رُوتِينُهُ</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‎روٹین‎ </a:t>
            </a:r>
            <a:pPr indent="0" marL="0">
              <a:buNone/>
            </a:pPr>
            <a:r>
              <a:rPr lang="en-US" sz="950" b="1" dirty="0">
                <a:solidFill>
                  <a:srgbClr val="2E8B57"/>
                </a:solidFill>
                <a:latin typeface="Calibri" pitchFamily="34" charset="0"/>
                <a:cs typeface="Amiri" pitchFamily="2" charset="-78"/>
              </a:rPr>
              <a:t> rūṭīn · routine (both from English)</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اِنْشِغَالًا</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‎مصروف / مشغول‎ </a:t>
            </a:r>
            <a:pPr indent="0" marL="0">
              <a:buNone/>
            </a:pPr>
            <a:r>
              <a:rPr lang="en-US" sz="950" b="1" dirty="0">
                <a:solidFill>
                  <a:srgbClr val="2E8B57"/>
                </a:solidFill>
                <a:latin typeface="Calibri" pitchFamily="34" charset="0"/>
                <a:cs typeface="Amiri" pitchFamily="2" charset="-78"/>
              </a:rPr>
              <a:t> mashghūl · busy</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تَنْظِيمًا</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‎منظم / تنظیم‎ </a:t>
            </a:r>
            <a:pPr indent="0" marL="0">
              <a:buNone/>
            </a:pPr>
            <a:r>
              <a:rPr lang="en-US" sz="950" b="1" dirty="0">
                <a:solidFill>
                  <a:srgbClr val="2E8B57"/>
                </a:solidFill>
                <a:latin typeface="Calibri" pitchFamily="34" charset="0"/>
                <a:cs typeface="Amiri" pitchFamily="2" charset="-78"/>
              </a:rPr>
              <a:t> tanẓīm · organisation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أَوَّلًا</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‎اول‎ </a:t>
            </a:r>
            <a:pPr indent="0" marL="0">
              <a:buNone/>
            </a:pPr>
            <a:r>
              <a:rPr lang="en-US" sz="950" b="1" dirty="0">
                <a:solidFill>
                  <a:srgbClr val="2E8B57"/>
                </a:solidFill>
                <a:latin typeface="Calibri" pitchFamily="34" charset="0"/>
                <a:cs typeface="Amiri" pitchFamily="2" charset="-78"/>
              </a:rPr>
              <a:t> awwal · first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كِلَاهُمَا</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‎دونوں‎ </a:t>
            </a:r>
            <a:pPr indent="0" marL="0">
              <a:buNone/>
            </a:pPr>
            <a:r>
              <a:rPr lang="en-US" sz="950" b="1" dirty="0">
                <a:solidFill>
                  <a:srgbClr val="2E8B57"/>
                </a:solidFill>
                <a:latin typeface="Calibri" pitchFamily="34" charset="0"/>
                <a:cs typeface="Amiri" pitchFamily="2" charset="-78"/>
              </a:rPr>
              <a:t> donon · both (meaning only)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Masculine routine forms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يَسْتَيْقِظُ</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wakes up</a:t>
            </a:r>
            <a:endParaRPr lang="en-US" sz="1350" dirty="0"/>
          </a:p>
          <a:p>
            <a:pPr indent="0" marL="0">
              <a:buNone/>
            </a:pPr>
            <a:r>
              <a:rPr lang="en-US" sz="1100" i="1" dirty="0">
                <a:solidFill>
                  <a:srgbClr val="5A6472"/>
                </a:solidFill>
                <a:latin typeface="Calibri" pitchFamily="34" charset="0"/>
                <a:cs typeface="Amiri" pitchFamily="2" charset="-78"/>
              </a:rPr>
              <a:t>yas-tay-qi-ẓu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يَسْتَيْقِظُونَ</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تَسْتَيْقِظُ</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أَسْتَيْقِظُ</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يَغْتَسِلُ</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showers</a:t>
            </a:r>
            <a:endParaRPr lang="en-US" sz="1350" dirty="0"/>
          </a:p>
          <a:p>
            <a:pPr indent="0" marL="0">
              <a:buNone/>
            </a:pPr>
            <a:r>
              <a:rPr lang="en-US" sz="1100" i="1" dirty="0">
                <a:solidFill>
                  <a:srgbClr val="5A6472"/>
                </a:solidFill>
                <a:latin typeface="Calibri" pitchFamily="34" charset="0"/>
                <a:cs typeface="Amiri" pitchFamily="2" charset="-78"/>
              </a:rPr>
              <a:t>yagh-ta-si-lu</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2" name="Text 39"/>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يَغْتَسِلُونَ</a:t>
            </a:r>
            <a:endParaRPr lang="ar-SA" sz="135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تَغْتَسِلُ</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أَغْتَسِلُ</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2" name="Shape 49"/>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يَرْتَدِي مَلَابِسَهُ</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gets dressed</a:t>
            </a:r>
            <a:endParaRPr lang="en-US" sz="1350" dirty="0"/>
          </a:p>
          <a:p>
            <a:pPr indent="0" marL="0">
              <a:buNone/>
            </a:pPr>
            <a:r>
              <a:rPr lang="en-US" sz="1100" i="1" dirty="0">
                <a:solidFill>
                  <a:srgbClr val="5A6472"/>
                </a:solidFill>
                <a:latin typeface="Calibri" pitchFamily="34" charset="0"/>
                <a:cs typeface="Amiri" pitchFamily="2" charset="-78"/>
              </a:rPr>
              <a:t>yar-ta-dī ma-lā-bi-sa-hu</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58" name="Text 55"/>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يَرْتَدُونَ</a:t>
            </a:r>
            <a:endParaRPr lang="ar-SA" sz="135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تَرْتَدِي</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أَرْتَدِي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8" name="Shape 65"/>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70" name="Shape 6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يَتَنَاوَلُ الإِفْطَارَ</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has breakfast</a:t>
            </a:r>
            <a:endParaRPr lang="en-US" sz="1350" dirty="0"/>
          </a:p>
          <a:p>
            <a:pPr indent="0" marL="0">
              <a:buNone/>
            </a:pPr>
            <a:r>
              <a:rPr lang="en-US" sz="1100" i="1" dirty="0">
                <a:solidFill>
                  <a:srgbClr val="5A6472"/>
                </a:solidFill>
                <a:latin typeface="Calibri" pitchFamily="34" charset="0"/>
                <a:cs typeface="Amiri" pitchFamily="2" charset="-78"/>
              </a:rPr>
              <a:t>ya-ta-nā-wa-lu al-if-ṭā-ra</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76" name="Text 73"/>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يَتَنَاوَلُونَ</a:t>
            </a:r>
            <a:endParaRPr lang="ar-SA" sz="135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9" name="Text 7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تَتَنَاوَلُ</a:t>
            </a:r>
            <a:endParaRPr lang="ar-SA" sz="150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2" name="Text 7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أَتَنَاوَلُ</a:t>
            </a:r>
            <a:endParaRPr lang="ar-SA" sz="150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86" name="Shape 83"/>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88" name="Shape 8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9" name="Text 8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0" name="Text 8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يَخْرُجُ مِنَ البَيْتِ</a:t>
            </a:r>
            <a:endParaRPr lang="ar-SA" sz="3000" dirty="0"/>
          </a:p>
        </p:txBody>
      </p:sp>
      <p:sp>
        <p:nvSpPr>
          <p:cNvPr id="91" name="Text 8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leaves the house</a:t>
            </a:r>
            <a:endParaRPr lang="en-US" sz="1350" dirty="0"/>
          </a:p>
          <a:p>
            <a:pPr indent="0" marL="0">
              <a:buNone/>
            </a:pPr>
            <a:r>
              <a:rPr lang="en-US" sz="1100" i="1" dirty="0">
                <a:solidFill>
                  <a:srgbClr val="5A6472"/>
                </a:solidFill>
                <a:latin typeface="Calibri" pitchFamily="34" charset="0"/>
                <a:cs typeface="Amiri" pitchFamily="2" charset="-78"/>
              </a:rPr>
              <a:t>yakh-ru-ju mi-na al-bay-ti</a:t>
            </a:r>
            <a:endParaRPr lang="en-US" sz="1350" dirty="0"/>
          </a:p>
        </p:txBody>
      </p:sp>
      <p:sp>
        <p:nvSpPr>
          <p:cNvPr id="92" name="Shape 8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94" name="Text 91"/>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يَخْرُجُونَ</a:t>
            </a:r>
            <a:endParaRPr lang="ar-SA" sz="1350" dirty="0"/>
          </a:p>
        </p:txBody>
      </p:sp>
      <p:sp>
        <p:nvSpPr>
          <p:cNvPr id="95" name="Shape 9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97" name="Text 9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تَخْرُجُ</a:t>
            </a:r>
            <a:endParaRPr lang="ar-SA" sz="1500" dirty="0"/>
          </a:p>
        </p:txBody>
      </p:sp>
      <p:sp>
        <p:nvSpPr>
          <p:cNvPr id="98" name="Shape 9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00" name="Text 9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أَخْرُجُ</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Masculine routine forms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يَصِلُ إِلَى المَدْرَسَةِ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arrives at school</a:t>
            </a:r>
            <a:endParaRPr lang="en-US" sz="1350" dirty="0"/>
          </a:p>
          <a:p>
            <a:pPr indent="0" marL="0">
              <a:buNone/>
            </a:pPr>
            <a:r>
              <a:rPr lang="en-US" sz="1100" i="1" dirty="0">
                <a:solidFill>
                  <a:srgbClr val="5A6472"/>
                </a:solidFill>
                <a:latin typeface="Calibri" pitchFamily="34" charset="0"/>
                <a:cs typeface="Amiri" pitchFamily="2" charset="-78"/>
              </a:rPr>
              <a:t>ya-ṣi-lu i-lā al-mad-ra-sa-ti</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4" name="Text 21"/>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يَصِلُونَ</a:t>
            </a:r>
            <a:endParaRPr lang="ar-SA" sz="135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تَصِلُ</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أَصِلُ</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4" name="Shape 31"/>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يَرْجِعُ إِلَى البَيْتِ</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returns home</a:t>
            </a:r>
            <a:endParaRPr lang="en-US" sz="1350" dirty="0"/>
          </a:p>
          <a:p>
            <a:pPr indent="0" marL="0">
              <a:buNone/>
            </a:pPr>
            <a:r>
              <a:rPr lang="en-US" sz="1100" i="1" dirty="0">
                <a:solidFill>
                  <a:srgbClr val="5A6472"/>
                </a:solidFill>
                <a:latin typeface="Calibri" pitchFamily="34" charset="0"/>
                <a:cs typeface="Amiri" pitchFamily="2" charset="-78"/>
              </a:rPr>
              <a:t>yar-ji-ʿu i-lā al-bay-ti</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2" name="Text 39"/>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يَرْجِعُونَ</a:t>
            </a:r>
            <a:endParaRPr lang="ar-SA" sz="135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تَرْجِعُ</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أَرْجِعُ</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2" name="Shape 49"/>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يُرَاجِعُ دُرُوسَهُ</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revises his lessons</a:t>
            </a:r>
            <a:endParaRPr lang="en-US" sz="1350" dirty="0"/>
          </a:p>
          <a:p>
            <a:pPr indent="0" marL="0">
              <a:buNone/>
            </a:pPr>
            <a:r>
              <a:rPr lang="en-US" sz="1100" i="1" dirty="0">
                <a:solidFill>
                  <a:srgbClr val="5A6472"/>
                </a:solidFill>
                <a:latin typeface="Calibri" pitchFamily="34" charset="0"/>
                <a:cs typeface="Amiri" pitchFamily="2" charset="-78"/>
              </a:rPr>
              <a:t>yu-rā-ji-ʿu du-rū-sa-hu</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60" name="Text 57"/>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يُرَاجِعُونَ</a:t>
            </a:r>
            <a:endParaRPr lang="ar-SA" sz="135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تُرَاجِعُ</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أُرَاجِعُ</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70" name="Shape 67"/>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يَسْتَرِيحُ</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rests</a:t>
            </a:r>
            <a:endParaRPr lang="en-US" sz="1350" dirty="0"/>
          </a:p>
          <a:p>
            <a:pPr indent="0" marL="0">
              <a:buNone/>
            </a:pPr>
            <a:r>
              <a:rPr lang="en-US" sz="1100" i="1" dirty="0">
                <a:solidFill>
                  <a:srgbClr val="5A6472"/>
                </a:solidFill>
                <a:latin typeface="Calibri" pitchFamily="34" charset="0"/>
                <a:cs typeface="Amiri" pitchFamily="2" charset="-78"/>
              </a:rPr>
              <a:t>yas-ta-rī-ḥu</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76" name="Text 73"/>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يَسْتَرِيحُونَ</a:t>
            </a:r>
            <a:endParaRPr lang="ar-SA" sz="135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9" name="Text 7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تَسْتَرِيحُ</a:t>
            </a:r>
            <a:endParaRPr lang="ar-SA" sz="150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2" name="Text 7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أَسْتَرِيحُ</a:t>
            </a:r>
            <a:endParaRPr lang="ar-SA" sz="150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86" name="Shape 83"/>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88" name="Shape 8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9" name="Text 8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0" name="Text 8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يَنَامُ</a:t>
            </a:r>
            <a:endParaRPr lang="ar-SA" sz="3000" dirty="0"/>
          </a:p>
        </p:txBody>
      </p:sp>
      <p:sp>
        <p:nvSpPr>
          <p:cNvPr id="91" name="Text 8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sleeps</a:t>
            </a:r>
            <a:endParaRPr lang="en-US" sz="1350" dirty="0"/>
          </a:p>
          <a:p>
            <a:pPr indent="0" marL="0">
              <a:buNone/>
            </a:pPr>
            <a:r>
              <a:rPr lang="en-US" sz="1100" i="1" dirty="0">
                <a:solidFill>
                  <a:srgbClr val="5A6472"/>
                </a:solidFill>
                <a:latin typeface="Calibri" pitchFamily="34" charset="0"/>
                <a:cs typeface="Amiri" pitchFamily="2" charset="-78"/>
              </a:rPr>
              <a:t>ya-nā-mu</a:t>
            </a:r>
            <a:endParaRPr lang="en-US" sz="1350" dirty="0"/>
          </a:p>
        </p:txBody>
      </p:sp>
      <p:sp>
        <p:nvSpPr>
          <p:cNvPr id="92" name="Shape 8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94" name="Text 91"/>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يَنَامُونَ</a:t>
            </a:r>
            <a:endParaRPr lang="ar-SA" sz="1350" dirty="0"/>
          </a:p>
        </p:txBody>
      </p:sp>
      <p:sp>
        <p:nvSpPr>
          <p:cNvPr id="95" name="Shape 9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97" name="Text 9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تَنَامُ</a:t>
            </a:r>
            <a:endParaRPr lang="ar-SA" sz="1500" dirty="0"/>
          </a:p>
        </p:txBody>
      </p:sp>
      <p:sp>
        <p:nvSpPr>
          <p:cNvPr id="98" name="Shape 9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00" name="Text 9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أَنَامُ</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Feminine routine forms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تَسْتَيْقِظُ</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wakes up</a:t>
            </a:r>
            <a:endParaRPr lang="en-US" sz="1350" dirty="0"/>
          </a:p>
          <a:p>
            <a:pPr indent="0" marL="0">
              <a:buNone/>
            </a:pPr>
            <a:r>
              <a:rPr lang="en-US" sz="1100" i="1" dirty="0">
                <a:solidFill>
                  <a:srgbClr val="5A6472"/>
                </a:solidFill>
                <a:latin typeface="Calibri" pitchFamily="34" charset="0"/>
                <a:cs typeface="Amiri" pitchFamily="2" charset="-78"/>
              </a:rPr>
              <a:t>tas-tay-qi-ẓu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تَغْتَسِلُ</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showers</a:t>
            </a:r>
            <a:endParaRPr lang="en-US" sz="1350" dirty="0"/>
          </a:p>
          <a:p>
            <a:pPr indent="0" marL="0">
              <a:buNone/>
            </a:pPr>
            <a:r>
              <a:rPr lang="en-US" sz="1100" i="1" dirty="0">
                <a:solidFill>
                  <a:srgbClr val="5A6472"/>
                </a:solidFill>
                <a:latin typeface="Calibri" pitchFamily="34" charset="0"/>
                <a:cs typeface="Amiri" pitchFamily="2" charset="-78"/>
              </a:rPr>
              <a:t>tagh-ta-si-lu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تَرْتَدِي مَلَابِسَهَا</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gets dressed</a:t>
            </a:r>
            <a:endParaRPr lang="en-US" sz="1350" dirty="0"/>
          </a:p>
          <a:p>
            <a:pPr indent="0" marL="0">
              <a:buNone/>
            </a:pPr>
            <a:r>
              <a:rPr lang="en-US" sz="1100" i="1" dirty="0">
                <a:solidFill>
                  <a:srgbClr val="5A6472"/>
                </a:solidFill>
                <a:latin typeface="Calibri" pitchFamily="34" charset="0"/>
                <a:cs typeface="Amiri" pitchFamily="2" charset="-78"/>
              </a:rPr>
              <a:t>tar-ta-dī ma-lā-bi-sa-hā</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تَتَنَاوَلُ الإِفْطَارَ</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has breakfast</a:t>
            </a:r>
            <a:endParaRPr lang="en-US" sz="1350" dirty="0"/>
          </a:p>
          <a:p>
            <a:pPr indent="0" marL="0">
              <a:buNone/>
            </a:pPr>
            <a:r>
              <a:rPr lang="en-US" sz="1100" i="1" dirty="0">
                <a:solidFill>
                  <a:srgbClr val="5A6472"/>
                </a:solidFill>
                <a:latin typeface="Calibri" pitchFamily="34" charset="0"/>
                <a:cs typeface="Amiri" pitchFamily="2" charset="-78"/>
              </a:rPr>
              <a:t>ta-ta-nā-wa-lu al-if-ṭā-ra</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تَخْرُجُ مِنَ البَيْتِ</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leaves the house</a:t>
            </a:r>
            <a:endParaRPr lang="en-US" sz="1350" dirty="0"/>
          </a:p>
          <a:p>
            <a:pPr indent="0" marL="0">
              <a:buNone/>
            </a:pPr>
            <a:r>
              <a:rPr lang="en-US" sz="1100" i="1" dirty="0">
                <a:solidFill>
                  <a:srgbClr val="5A6472"/>
                </a:solidFill>
                <a:latin typeface="Calibri" pitchFamily="34" charset="0"/>
                <a:cs typeface="Amiri" pitchFamily="2" charset="-78"/>
              </a:rPr>
              <a:t>takh-ru-ju mi-na al-bay-ti</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Feminine routine forms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تَصِلُ إِلَى المَدْرَسَةِ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arrives at school</a:t>
            </a:r>
            <a:endParaRPr lang="en-US" sz="1350" dirty="0"/>
          </a:p>
          <a:p>
            <a:pPr indent="0" marL="0">
              <a:buNone/>
            </a:pPr>
            <a:r>
              <a:rPr lang="en-US" sz="1100" i="1" dirty="0">
                <a:solidFill>
                  <a:srgbClr val="5A6472"/>
                </a:solidFill>
                <a:latin typeface="Calibri" pitchFamily="34" charset="0"/>
                <a:cs typeface="Amiri" pitchFamily="2" charset="-78"/>
              </a:rPr>
              <a:t>ta-ṣi-lu i-lā al-mad-ra-sa-ti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تَرْجِعُ إِلَى البَيْتِ</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returns home</a:t>
            </a:r>
            <a:endParaRPr lang="en-US" sz="1350" dirty="0"/>
          </a:p>
          <a:p>
            <a:pPr indent="0" marL="0">
              <a:buNone/>
            </a:pPr>
            <a:r>
              <a:rPr lang="en-US" sz="1100" i="1" dirty="0">
                <a:solidFill>
                  <a:srgbClr val="5A6472"/>
                </a:solidFill>
                <a:latin typeface="Calibri" pitchFamily="34" charset="0"/>
                <a:cs typeface="Amiri" pitchFamily="2" charset="-78"/>
              </a:rPr>
              <a:t>tar-ji-ʿu i-lā al-bay-ti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تُرَاجِعُ دُرُوسَهَا</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revises her lessons</a:t>
            </a:r>
            <a:endParaRPr lang="en-US" sz="1350" dirty="0"/>
          </a:p>
          <a:p>
            <a:pPr indent="0" marL="0">
              <a:buNone/>
            </a:pPr>
            <a:r>
              <a:rPr lang="en-US" sz="1100" i="1" dirty="0">
                <a:solidFill>
                  <a:srgbClr val="5A6472"/>
                </a:solidFill>
                <a:latin typeface="Calibri" pitchFamily="34" charset="0"/>
                <a:cs typeface="Amiri" pitchFamily="2" charset="-78"/>
              </a:rPr>
              <a:t>tu-rā-ji-ʿu du-rū-sa-hā</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تَسْتَرِيحُ</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rests</a:t>
            </a:r>
            <a:endParaRPr lang="en-US" sz="1350" dirty="0"/>
          </a:p>
          <a:p>
            <a:pPr indent="0" marL="0">
              <a:buNone/>
            </a:pPr>
            <a:r>
              <a:rPr lang="en-US" sz="1100" i="1" dirty="0">
                <a:solidFill>
                  <a:srgbClr val="5A6472"/>
                </a:solidFill>
                <a:latin typeface="Calibri" pitchFamily="34" charset="0"/>
                <a:cs typeface="Amiri" pitchFamily="2" charset="-78"/>
              </a:rPr>
              <a:t>tas-ta-rī-ḥu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تَنَامُ</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sleeps</a:t>
            </a:r>
            <a:endParaRPr lang="en-US" sz="1350" dirty="0"/>
          </a:p>
          <a:p>
            <a:pPr indent="0" marL="0">
              <a:buNone/>
            </a:pPr>
            <a:r>
              <a:rPr lang="en-US" sz="1100" i="1" dirty="0">
                <a:solidFill>
                  <a:srgbClr val="5A6472"/>
                </a:solidFill>
                <a:latin typeface="Calibri" pitchFamily="34" charset="0"/>
                <a:cs typeface="Amiri" pitchFamily="2" charset="-78"/>
              </a:rPr>
              <a:t>ta-nā-mu</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Reference and comparison (1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pronouns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هُوَ</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t>
            </a:r>
            <a:endParaRPr lang="en-US" sz="1350" dirty="0"/>
          </a:p>
          <a:p>
            <a:pPr indent="0" marL="0">
              <a:buNone/>
            </a:pPr>
            <a:r>
              <a:rPr lang="en-US" sz="1100" i="1" dirty="0">
                <a:solidFill>
                  <a:srgbClr val="5A6472"/>
                </a:solidFill>
                <a:latin typeface="Calibri" pitchFamily="34" charset="0"/>
                <a:cs typeface="Amiri" pitchFamily="2" charset="-78"/>
              </a:rPr>
              <a:t>hu-wa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هِيَ</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both</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هُمَا</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هُمْ</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هِيَ</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a:t>
            </a:r>
            <a:endParaRPr lang="en-US" sz="1350" dirty="0"/>
          </a:p>
          <a:p>
            <a:pPr indent="0" marL="0">
              <a:buNone/>
            </a:pPr>
            <a:r>
              <a:rPr lang="en-US" sz="1100" i="1" dirty="0">
                <a:solidFill>
                  <a:srgbClr val="5A6472"/>
                </a:solidFill>
                <a:latin typeface="Calibri" pitchFamily="34" charset="0"/>
                <a:cs typeface="Amiri" pitchFamily="2" charset="-78"/>
              </a:rPr>
              <a:t>hi-ya</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3" name="Shape 40"/>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رُوتِينُهُ</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routine</a:t>
            </a:r>
            <a:endParaRPr lang="en-US" sz="1350" dirty="0"/>
          </a:p>
          <a:p>
            <a:pPr indent="0" marL="0">
              <a:buNone/>
            </a:pPr>
            <a:r>
              <a:rPr lang="en-US" sz="1100" i="1" dirty="0">
                <a:solidFill>
                  <a:srgbClr val="5A6472"/>
                </a:solidFill>
                <a:latin typeface="Calibri" pitchFamily="34" charset="0"/>
                <a:cs typeface="Amiri" pitchFamily="2" charset="-78"/>
              </a:rPr>
              <a:t>rū-tī-nu-hu</a:t>
            </a:r>
            <a:endParaRPr lang="en-US" sz="1350" dirty="0"/>
          </a:p>
        </p:txBody>
      </p:sp>
      <p:sp>
        <p:nvSpPr>
          <p:cNvPr id="49" name="Shape 46"/>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51" name="Text 48"/>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رُوتِينِي</a:t>
            </a:r>
            <a:endParaRPr lang="ar-SA" sz="1500" dirty="0"/>
          </a:p>
        </p:txBody>
      </p:sp>
      <p:sp>
        <p:nvSpPr>
          <p:cNvPr id="52" name="Shape 49"/>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54" name="Text 51"/>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رُوتِينُهُ</a:t>
            </a:r>
            <a:endParaRPr lang="ar-SA" sz="1500" dirty="0"/>
          </a:p>
        </p:txBody>
      </p:sp>
      <p:sp>
        <p:nvSpPr>
          <p:cNvPr id="55" name="Shape 52"/>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57" name="Text 54"/>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رُوتِينُهَا</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رُوتِينُهَا</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her routine</a:t>
            </a:r>
            <a:endParaRPr lang="en-US" sz="1350" dirty="0"/>
          </a:p>
          <a:p>
            <a:pPr indent="0" marL="0">
              <a:buNone/>
            </a:pPr>
            <a:r>
              <a:rPr lang="en-US" sz="1100" i="1" dirty="0">
                <a:solidFill>
                  <a:srgbClr val="5A6472"/>
                </a:solidFill>
                <a:latin typeface="Calibri" pitchFamily="34" charset="0"/>
                <a:cs typeface="Amiri" pitchFamily="2" charset="-78"/>
              </a:rPr>
              <a:t>rū-tī-nu-hā</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68" name="Text 6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أَمَّا هُوَ فَـ</a:t>
            </a:r>
            <a:endParaRPr lang="ar-SA" sz="3000" dirty="0"/>
          </a:p>
        </p:txBody>
      </p:sp>
      <p:sp>
        <p:nvSpPr>
          <p:cNvPr id="69" name="Text 6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for him...</a:t>
            </a:r>
            <a:endParaRPr lang="en-US" sz="1350" dirty="0"/>
          </a:p>
          <a:p>
            <a:pPr indent="0" marL="0">
              <a:buNone/>
            </a:pPr>
            <a:r>
              <a:rPr lang="en-US" sz="1100" i="1" dirty="0">
                <a:solidFill>
                  <a:srgbClr val="5A6472"/>
                </a:solidFill>
                <a:latin typeface="Calibri" pitchFamily="34" charset="0"/>
                <a:cs typeface="Amiri" pitchFamily="2" charset="-78"/>
              </a:rPr>
              <a:t>am-mā hu-wa fa</a:t>
            </a:r>
            <a:endParaRPr lang="en-US" sz="13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Reference and comparison (2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أَمَّا هِيَ فَـ</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for her...</a:t>
            </a:r>
            <a:endParaRPr lang="en-US" sz="1350" dirty="0"/>
          </a:p>
          <a:p>
            <a:pPr indent="0" marL="0">
              <a:buNone/>
            </a:pPr>
            <a:r>
              <a:rPr lang="en-US" sz="1100" i="1" dirty="0">
                <a:solidFill>
                  <a:srgbClr val="5A6472"/>
                </a:solidFill>
                <a:latin typeface="Calibri" pitchFamily="34" charset="0"/>
                <a:cs typeface="Amiri" pitchFamily="2" charset="-78"/>
              </a:rPr>
              <a:t>am-mā hi-ya fa</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بَيْنَمَا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كِلَاهُمَا</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both of them</a:t>
            </a:r>
            <a:endParaRPr lang="en-US" sz="1350" dirty="0"/>
          </a:p>
          <a:p>
            <a:pPr indent="0" marL="0">
              <a:buNone/>
            </a:pPr>
            <a:r>
              <a:rPr lang="en-US" sz="1100" i="1" dirty="0">
                <a:solidFill>
                  <a:srgbClr val="5A6472"/>
                </a:solidFill>
                <a:latin typeface="Calibri" pitchFamily="34" charset="0"/>
                <a:cs typeface="Amiri" pitchFamily="2" charset="-78"/>
              </a:rPr>
              <a:t>ki-lā-hu-mā</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أَبْكَرُ مِنْ</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earlier than</a:t>
            </a:r>
            <a:endParaRPr lang="en-US" sz="1350" dirty="0"/>
          </a:p>
          <a:p>
            <a:pPr indent="0" marL="0">
              <a:buNone/>
            </a:pPr>
            <a:r>
              <a:rPr lang="en-US" sz="1100" i="1" dirty="0">
                <a:solidFill>
                  <a:srgbClr val="5A6472"/>
                </a:solidFill>
                <a:latin typeface="Calibri" pitchFamily="34" charset="0"/>
                <a:cs typeface="Amiri" pitchFamily="2" charset="-78"/>
              </a:rPr>
              <a:t>ab-ka-ru min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أَكْثَرُ اِنْشِغَالًا مِنْ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busier than</a:t>
            </a:r>
            <a:endParaRPr lang="en-US" sz="1350" dirty="0"/>
          </a:p>
          <a:p>
            <a:pPr indent="0" marL="0">
              <a:buNone/>
            </a:pPr>
            <a:r>
              <a:rPr lang="en-US" sz="1100" i="1" dirty="0">
                <a:solidFill>
                  <a:srgbClr val="5A6472"/>
                </a:solidFill>
                <a:latin typeface="Calibri" pitchFamily="34" charset="0"/>
                <a:cs typeface="Amiri" pitchFamily="2" charset="-78"/>
              </a:rPr>
              <a:t>ak-tha-ru in-shi-ghā-lan min</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TWO THINGS MUST MATCH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Him or her? Prefix AND 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هُوَ أَمْ هِيَ؟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7" name="Text 14"/>
          <p:cNvSpPr txBox="1"/>
          <p:nvPr/>
        </p:nvSpPr>
        <p:spPr>
          <a:xfrm>
            <a:off x="659282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prefix</a:t>
            </a:r>
            <a:endParaRPr lang="en-US" sz="1100" dirty="0"/>
          </a:p>
        </p:txBody>
      </p:sp>
      <p:sp>
        <p:nvSpPr>
          <p:cNvPr id="18" name="Text 15"/>
          <p:cNvSpPr txBox="1"/>
          <p:nvPr/>
        </p:nvSpPr>
        <p:spPr>
          <a:xfrm>
            <a:off x="348386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 on nouns</a:t>
            </a:r>
            <a:endParaRPr lang="en-US" sz="1100" dirty="0"/>
          </a:p>
        </p:txBody>
      </p:sp>
      <p:sp>
        <p:nvSpPr>
          <p:cNvPr id="19" name="Text 16"/>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720072" y="2267712"/>
            <a:ext cx="19202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هُوَ · عَلِيٌّ · أَخِي</a:t>
            </a:r>
            <a:endParaRPr lang="ar-SA" sz="2600" dirty="0"/>
          </a:p>
        </p:txBody>
      </p:sp>
      <p:sp>
        <p:nvSpPr>
          <p:cNvPr id="22" name="Text 19"/>
          <p:cNvSpPr txBox="1"/>
          <p:nvPr/>
        </p:nvSpPr>
        <p:spPr>
          <a:xfrm>
            <a:off x="6611112" y="2286000"/>
            <a:ext cx="292608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يَ</a:t>
            </a:r>
            <a:pPr rtl="1" algn="ctr" indent="0" marL="0">
              <a:buNone/>
            </a:pPr>
            <a:r>
              <a:rPr lang="ar-SA" altLang="en-US" sz="2100" b="1" dirty="0">
                <a:solidFill>
                  <a:srgbClr val="1B3B6F"/>
                </a:solidFill>
                <a:latin typeface="Amiri" pitchFamily="2" charset="-78"/>
                <a:cs typeface="Amiri" pitchFamily="2" charset="-78"/>
              </a:rPr>
              <a:t>سْتَيْقِظُ</a:t>
            </a:r>
            <a:endParaRPr lang="ar-SA" sz="2100" dirty="0"/>
          </a:p>
        </p:txBody>
      </p:sp>
      <p:sp>
        <p:nvSpPr>
          <p:cNvPr id="23" name="Text 20"/>
          <p:cNvSpPr txBox="1"/>
          <p:nvPr/>
        </p:nvSpPr>
        <p:spPr>
          <a:xfrm>
            <a:off x="6565392" y="2706624"/>
            <a:ext cx="30175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wakes up</a:t>
            </a:r>
            <a:endParaRPr lang="en-US" sz="950" dirty="0"/>
          </a:p>
        </p:txBody>
      </p:sp>
      <p:sp>
        <p:nvSpPr>
          <p:cNvPr id="24" name="Text 21"/>
          <p:cNvSpPr txBox="1"/>
          <p:nvPr/>
        </p:nvSpPr>
        <p:spPr>
          <a:xfrm>
            <a:off x="3502152" y="2286000"/>
            <a:ext cx="29260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حَقِيبَتُ</a:t>
            </a:r>
            <a:pPr rtl="1" algn="ctr" indent="0" marL="0">
              <a:buNone/>
            </a:pPr>
            <a:r>
              <a:rPr lang="ar-SA" altLang="en-US" sz="2100" b="1" dirty="0">
                <a:solidFill>
                  <a:srgbClr val="1D5FBF"/>
                </a:solidFill>
                <a:latin typeface="Amiri" pitchFamily="2" charset="-78"/>
                <a:cs typeface="Amiri" pitchFamily="2" charset="-78"/>
              </a:rPr>
              <a:t>هُ</a:t>
            </a:r>
            <a:endParaRPr lang="ar-SA" sz="2100" dirty="0"/>
          </a:p>
        </p:txBody>
      </p:sp>
      <p:sp>
        <p:nvSpPr>
          <p:cNvPr id="25" name="Text 22"/>
          <p:cNvSpPr txBox="1"/>
          <p:nvPr/>
        </p:nvSpPr>
        <p:spPr>
          <a:xfrm>
            <a:off x="3456432" y="2706624"/>
            <a:ext cx="30175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his bag</a:t>
            </a:r>
            <a:endParaRPr lang="en-US" sz="950" dirty="0"/>
          </a:p>
        </p:txBody>
      </p:sp>
      <p:sp>
        <p:nvSpPr>
          <p:cNvPr id="26" name="Text 23"/>
          <p:cNvSpPr txBox="1"/>
          <p:nvPr/>
        </p:nvSpPr>
        <p:spPr>
          <a:xfrm>
            <a:off x="548640" y="2286000"/>
            <a:ext cx="277063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أَخِي </a:t>
            </a:r>
            <a:pPr rtl="1" algn="ctr" indent="0" marL="0">
              <a:buNone/>
            </a:pPr>
            <a:r>
              <a:rPr lang="ar-SA" altLang="en-US" sz="1800" b="1" dirty="0">
                <a:solidFill>
                  <a:srgbClr val="1D5FBF"/>
                </a:solidFill>
                <a:latin typeface="Amiri" pitchFamily="2" charset="-78"/>
                <a:cs typeface="Amiri" pitchFamily="2" charset="-78"/>
              </a:rPr>
              <a:t>يُ</a:t>
            </a:r>
            <a:pPr rtl="1" algn="ctr" indent="0" marL="0">
              <a:buNone/>
            </a:pPr>
            <a:r>
              <a:rPr lang="ar-SA" altLang="en-US" sz="1800" b="1" dirty="0">
                <a:solidFill>
                  <a:srgbClr val="1B3B6F"/>
                </a:solidFill>
                <a:latin typeface="Amiri" pitchFamily="2" charset="-78"/>
                <a:cs typeface="Amiri" pitchFamily="2" charset="-78"/>
              </a:rPr>
              <a:t>حَضِّرُ حَقِيبَتَ</a:t>
            </a:r>
            <a:pPr rtl="1" algn="ctr" indent="0" marL="0">
              <a:buNone/>
            </a:pPr>
            <a:r>
              <a:rPr lang="ar-SA" altLang="en-US" sz="1800" b="1" dirty="0">
                <a:solidFill>
                  <a:srgbClr val="1D5FBF"/>
                </a:solidFill>
                <a:latin typeface="Amiri" pitchFamily="2" charset="-78"/>
                <a:cs typeface="Amiri" pitchFamily="2" charset="-78"/>
              </a:rPr>
              <a:t>هُ</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27" name="Text 24"/>
          <p:cNvSpPr txBox="1"/>
          <p:nvPr/>
        </p:nvSpPr>
        <p:spPr>
          <a:xfrm>
            <a:off x="502920" y="2706624"/>
            <a:ext cx="28620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brother prepares his bag.</a:t>
            </a:r>
            <a:endParaRPr lang="en-US" sz="95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9720072" y="3054096"/>
            <a:ext cx="1920240" cy="731520"/>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cs typeface="Amiri" pitchFamily="2" charset="-78"/>
              </a:rPr>
              <a:t>هِيَ · مَرْيَمُ · أُخْتِي</a:t>
            </a:r>
            <a:endParaRPr lang="ar-SA" sz="2350" dirty="0"/>
          </a:p>
        </p:txBody>
      </p:sp>
      <p:sp>
        <p:nvSpPr>
          <p:cNvPr id="32" name="Text 29"/>
          <p:cNvSpPr txBox="1"/>
          <p:nvPr/>
        </p:nvSpPr>
        <p:spPr>
          <a:xfrm>
            <a:off x="6611112" y="3072384"/>
            <a:ext cx="292608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تَ</a:t>
            </a:r>
            <a:pPr rtl="1" algn="ctr" indent="0" marL="0">
              <a:buNone/>
            </a:pPr>
            <a:r>
              <a:rPr lang="ar-SA" altLang="en-US" sz="2100" b="1" dirty="0">
                <a:solidFill>
                  <a:srgbClr val="1B3B6F"/>
                </a:solidFill>
                <a:latin typeface="Amiri" pitchFamily="2" charset="-78"/>
                <a:cs typeface="Amiri" pitchFamily="2" charset="-78"/>
              </a:rPr>
              <a:t>سْتَيْقِظُ</a:t>
            </a:r>
            <a:endParaRPr lang="ar-SA" sz="2100" dirty="0"/>
          </a:p>
        </p:txBody>
      </p:sp>
      <p:sp>
        <p:nvSpPr>
          <p:cNvPr id="33" name="Text 30"/>
          <p:cNvSpPr txBox="1"/>
          <p:nvPr/>
        </p:nvSpPr>
        <p:spPr>
          <a:xfrm>
            <a:off x="6565392" y="3493008"/>
            <a:ext cx="30175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wakes up</a:t>
            </a:r>
            <a:endParaRPr lang="en-US" sz="950" dirty="0"/>
          </a:p>
        </p:txBody>
      </p:sp>
      <p:sp>
        <p:nvSpPr>
          <p:cNvPr id="34" name="Text 31"/>
          <p:cNvSpPr txBox="1"/>
          <p:nvPr/>
        </p:nvSpPr>
        <p:spPr>
          <a:xfrm>
            <a:off x="3502152" y="3072384"/>
            <a:ext cx="29260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حَقِيبَتُ</a:t>
            </a:r>
            <a:pPr rtl="1" algn="ctr" indent="0" marL="0">
              <a:buNone/>
            </a:pPr>
            <a:r>
              <a:rPr lang="ar-SA" altLang="en-US" sz="2100" b="1" dirty="0">
                <a:solidFill>
                  <a:srgbClr val="D6336C"/>
                </a:solidFill>
                <a:latin typeface="Amiri" pitchFamily="2" charset="-78"/>
                <a:cs typeface="Amiri" pitchFamily="2" charset="-78"/>
              </a:rPr>
              <a:t>هَا</a:t>
            </a:r>
            <a:endParaRPr lang="ar-SA" sz="2100" dirty="0"/>
          </a:p>
        </p:txBody>
      </p:sp>
      <p:sp>
        <p:nvSpPr>
          <p:cNvPr id="35" name="Text 32"/>
          <p:cNvSpPr txBox="1"/>
          <p:nvPr/>
        </p:nvSpPr>
        <p:spPr>
          <a:xfrm>
            <a:off x="3456432" y="3493008"/>
            <a:ext cx="30175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her bag</a:t>
            </a:r>
            <a:endParaRPr lang="en-US" sz="950" dirty="0"/>
          </a:p>
        </p:txBody>
      </p:sp>
      <p:sp>
        <p:nvSpPr>
          <p:cNvPr id="36" name="Text 33"/>
          <p:cNvSpPr txBox="1"/>
          <p:nvPr/>
        </p:nvSpPr>
        <p:spPr>
          <a:xfrm>
            <a:off x="548640" y="3072384"/>
            <a:ext cx="277063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أُخْتِي </a:t>
            </a:r>
            <a:pPr rtl="1" algn="ctr" indent="0" marL="0">
              <a:buNone/>
            </a:pPr>
            <a:r>
              <a:rPr lang="ar-SA" altLang="en-US" sz="1800" b="1" dirty="0">
                <a:solidFill>
                  <a:srgbClr val="D6336C"/>
                </a:solidFill>
                <a:latin typeface="Amiri" pitchFamily="2" charset="-78"/>
                <a:cs typeface="Amiri" pitchFamily="2" charset="-78"/>
              </a:rPr>
              <a:t>تُ</a:t>
            </a:r>
            <a:pPr rtl="1" algn="ctr" indent="0" marL="0">
              <a:buNone/>
            </a:pPr>
            <a:r>
              <a:rPr lang="ar-SA" altLang="en-US" sz="1800" b="1" dirty="0">
                <a:solidFill>
                  <a:srgbClr val="1B3B6F"/>
                </a:solidFill>
                <a:latin typeface="Amiri" pitchFamily="2" charset="-78"/>
                <a:cs typeface="Amiri" pitchFamily="2" charset="-78"/>
              </a:rPr>
              <a:t>حَضِّرُ حَقِيبَتَ</a:t>
            </a:r>
            <a:pPr rtl="1" algn="ctr" indent="0" marL="0">
              <a:buNone/>
            </a:pPr>
            <a:r>
              <a:rPr lang="ar-SA" altLang="en-US" sz="1800" b="1" dirty="0">
                <a:solidFill>
                  <a:srgbClr val="D6336C"/>
                </a:solidFill>
                <a:latin typeface="Amiri" pitchFamily="2" charset="-78"/>
                <a:cs typeface="Amiri" pitchFamily="2" charset="-78"/>
              </a:rPr>
              <a:t>هَا</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37" name="Text 34"/>
          <p:cNvSpPr txBox="1"/>
          <p:nvPr/>
        </p:nvSpPr>
        <p:spPr>
          <a:xfrm>
            <a:off x="502920" y="3493008"/>
            <a:ext cx="28620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sister prepares her bag.</a:t>
            </a:r>
            <a:endParaRPr lang="en-US" sz="950" dirty="0"/>
          </a:p>
        </p:txBody>
      </p:sp>
      <p:sp>
        <p:nvSpPr>
          <p:cNvPr id="38" name="Shape 3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1" name="Text 38"/>
          <p:cNvSpPr txBox="1"/>
          <p:nvPr/>
        </p:nvSpPr>
        <p:spPr>
          <a:xfrm>
            <a:off x="9720072" y="3840480"/>
            <a:ext cx="19202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أَنَا</a:t>
            </a:r>
            <a:endParaRPr lang="ar-SA" sz="2600" dirty="0"/>
          </a:p>
        </p:txBody>
      </p:sp>
      <p:sp>
        <p:nvSpPr>
          <p:cNvPr id="42" name="Text 39"/>
          <p:cNvSpPr txBox="1"/>
          <p:nvPr/>
        </p:nvSpPr>
        <p:spPr>
          <a:xfrm>
            <a:off x="6611112" y="3858768"/>
            <a:ext cx="292608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أَ</a:t>
            </a:r>
            <a:pPr rtl="1" algn="ctr" indent="0" marL="0">
              <a:buNone/>
            </a:pPr>
            <a:r>
              <a:rPr lang="ar-SA" altLang="en-US" sz="2100" b="1" dirty="0">
                <a:solidFill>
                  <a:srgbClr val="1B3B6F"/>
                </a:solidFill>
                <a:latin typeface="Amiri" pitchFamily="2" charset="-78"/>
                <a:cs typeface="Amiri" pitchFamily="2" charset="-78"/>
              </a:rPr>
              <a:t>سْتَيْقِظُ</a:t>
            </a:r>
            <a:endParaRPr lang="ar-SA" sz="2100" dirty="0"/>
          </a:p>
        </p:txBody>
      </p:sp>
      <p:sp>
        <p:nvSpPr>
          <p:cNvPr id="43" name="Text 40"/>
          <p:cNvSpPr txBox="1"/>
          <p:nvPr/>
        </p:nvSpPr>
        <p:spPr>
          <a:xfrm>
            <a:off x="6565392" y="4279392"/>
            <a:ext cx="30175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wake up</a:t>
            </a:r>
            <a:endParaRPr lang="en-US" sz="950" dirty="0"/>
          </a:p>
        </p:txBody>
      </p:sp>
      <p:sp>
        <p:nvSpPr>
          <p:cNvPr id="44" name="Text 41"/>
          <p:cNvSpPr txBox="1"/>
          <p:nvPr/>
        </p:nvSpPr>
        <p:spPr>
          <a:xfrm>
            <a:off x="3502152" y="3858768"/>
            <a:ext cx="29260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حَقِيبَتِ</a:t>
            </a:r>
            <a:pPr rtl="1" algn="ctr" indent="0" marL="0">
              <a:buNone/>
            </a:pPr>
            <a:r>
              <a:rPr lang="ar-SA" altLang="en-US" sz="2100" b="1" dirty="0">
                <a:solidFill>
                  <a:srgbClr val="0E7C86"/>
                </a:solidFill>
                <a:latin typeface="Amiri" pitchFamily="2" charset="-78"/>
                <a:cs typeface="Amiri" pitchFamily="2" charset="-78"/>
              </a:rPr>
              <a:t>ي</a:t>
            </a:r>
            <a:endParaRPr lang="ar-SA" sz="2100" dirty="0"/>
          </a:p>
        </p:txBody>
      </p:sp>
      <p:sp>
        <p:nvSpPr>
          <p:cNvPr id="45" name="Text 42"/>
          <p:cNvSpPr txBox="1"/>
          <p:nvPr/>
        </p:nvSpPr>
        <p:spPr>
          <a:xfrm>
            <a:off x="3456432" y="4279392"/>
            <a:ext cx="30175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bag</a:t>
            </a:r>
            <a:endParaRPr lang="en-US" sz="950" dirty="0"/>
          </a:p>
        </p:txBody>
      </p:sp>
      <p:sp>
        <p:nvSpPr>
          <p:cNvPr id="46" name="Text 43"/>
          <p:cNvSpPr txBox="1"/>
          <p:nvPr/>
        </p:nvSpPr>
        <p:spPr>
          <a:xfrm>
            <a:off x="548640" y="3858768"/>
            <a:ext cx="2770632" cy="453542"/>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cs typeface="Amiri" pitchFamily="2" charset="-78"/>
              </a:rPr>
              <a:t>أُ</a:t>
            </a:r>
            <a:pPr rtl="1" algn="ctr" indent="0" marL="0">
              <a:buNone/>
            </a:pPr>
            <a:r>
              <a:rPr lang="ar-SA" altLang="en-US" sz="1800" b="1" dirty="0">
                <a:solidFill>
                  <a:srgbClr val="1B3B6F"/>
                </a:solidFill>
                <a:latin typeface="Amiri" pitchFamily="2" charset="-78"/>
                <a:cs typeface="Amiri" pitchFamily="2" charset="-78"/>
              </a:rPr>
              <a:t>حَضِّرُ حَقِيبَتِ</a:t>
            </a:r>
            <a:pPr rtl="1" algn="ctr" indent="0" marL="0">
              <a:buNone/>
            </a:pPr>
            <a:r>
              <a:rPr lang="ar-SA" altLang="en-US" sz="1800" b="1" dirty="0">
                <a:solidFill>
                  <a:srgbClr val="0E7C86"/>
                </a:solidFill>
                <a:latin typeface="Amiri" pitchFamily="2" charset="-78"/>
                <a:cs typeface="Amiri" pitchFamily="2" charset="-78"/>
              </a:rPr>
              <a:t>ي</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47" name="Text 44"/>
          <p:cNvSpPr txBox="1"/>
          <p:nvPr/>
        </p:nvSpPr>
        <p:spPr>
          <a:xfrm>
            <a:off x="502920" y="4279392"/>
            <a:ext cx="28620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prepare my bag.</a:t>
            </a:r>
            <a:endParaRPr lang="en-US" sz="9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Watch the double t: she has breakfast = ta-ta-nā-wa-lu (one t is the pattern, one t is “she”).</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COMPARE WITHOUT LOSING THE SUBJECT (WEBSITE)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Whereas, as for, both of them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بَيْنَمَا · أَمَّا … فَـ · كِلَاهُمَا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CONTRAST · DEVELOP</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بَيْنَمَا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يَسْتَيْقِظُ عَلِيٌّ فِي السَّادِسَةِ، بَيْنَمَا تَسْتَيْقِظُ مَرْيَمُ فِي السَّابِعَةِ.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Ali wakes at six, whereas Maryam wakes at seven.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Each verb matches its own subject.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AS FOR · STRETCH</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أَمَّا … فَـ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cs typeface="Amiri" pitchFamily="2" charset="-78"/>
              </a:rPr>
              <a:t>أَمَّا هِيَ فَرُوتِينُهَا أَهْدَأُ.</a:t>
            </a:r>
            <a:endParaRPr lang="ar-SA" sz="31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As for her, her routine is calmer.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Pronoun + fa- + the comment.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23444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BOTH · STRETCH</a:t>
            </a:r>
            <a:endParaRPr lang="en-US" sz="850" dirty="0"/>
          </a:p>
        </p:txBody>
      </p:sp>
      <p:sp>
        <p:nvSpPr>
          <p:cNvPr id="34" name="Text 31"/>
          <p:cNvSpPr txBox="1"/>
          <p:nvPr/>
        </p:nvSpPr>
        <p:spPr>
          <a:xfrm>
            <a:off x="1874520"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كِلَاهُمَا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cs typeface="Amiri" pitchFamily="2" charset="-78"/>
              </a:rPr>
              <a:t>كِلَاهُمَا يَذْهَبُ إِلَى المَدْرَسَةِ.</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Both of them go to school.</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Followed by a singular he-verb.</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the ending must match the person.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cs typeface="Amiri" pitchFamily="2" charset="-78"/>
              </a:rPr>
              <a:t>عَلِيٌّ يُحَضِّرُ حَقِيبَتَهُ</a:t>
            </a:r>
            <a:endParaRPr lang="ar-SA" sz="21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2" charset="-78"/>
                <a:cs typeface="Amiri" pitchFamily="2" charset="-78"/>
              </a:rPr>
              <a:t>عَلِيٌّ يُحَضِّرُ حَقِيبَتَهَا</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Third-person present tense and clear reference</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00" b="1" dirty="0">
                <a:solidFill>
                  <a:srgbClr val="8A6D1E"/>
                </a:solidFill>
                <a:latin typeface="Amiri" pitchFamily="2" charset="-78"/>
                <a:cs typeface="Amiri" pitchFamily="2" charset="-78"/>
              </a:rPr>
              <a:t>الفِعْلُ المُضَارِعُ مَعَ هُوَ وَهِيَ وَوُضُوحُ المَرْجِعِ</a:t>
            </a:r>
            <a:endParaRPr lang="ar-SA" sz="23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Use </a:t>
            </a:r>
            <a:pPr algn="l" indent="0" marL="0">
              <a:buNone/>
            </a:pPr>
            <a:r>
              <a:rPr lang="ar-SA" altLang="en-US" sz="1650" b="1" dirty="0">
                <a:solidFill>
                  <a:srgbClr val="1B3B6F"/>
                </a:solidFill>
                <a:latin typeface="Amiri" pitchFamily="2" charset="-78"/>
                <a:cs typeface="Amiri" pitchFamily="2" charset="-78"/>
              </a:rPr>
              <a:t>يَـ</a:t>
            </a:r>
            <a:pPr algn="l" indent="0" marL="0">
              <a:buNone/>
            </a:pPr>
            <a:r>
              <a:rPr lang="en-US" sz="1250" b="1" dirty="0">
                <a:solidFill>
                  <a:srgbClr val="1B3B6F"/>
                </a:solidFill>
                <a:latin typeface="Calibri" pitchFamily="34" charset="0"/>
                <a:cs typeface="Amiri" pitchFamily="2" charset="-78"/>
              </a:rPr>
              <a:t> for a masculine singular subject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هُوَ / الاسم المذكر + يَـ</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عَلِيٌّ يَسْتَيْقِظُ مُبَكِّرًا.   ·   هُوَ يَتَنَاوَلُ الإِفْطَارَ.   ·   أَخِي يُرَاجِعُ دُرُوسَهُ.</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Use </a:t>
            </a:r>
            <a:pPr algn="l" indent="0" marL="0">
              <a:buNone/>
            </a:pPr>
            <a:r>
              <a:rPr lang="ar-SA" altLang="en-US" sz="1650" b="1" dirty="0">
                <a:solidFill>
                  <a:srgbClr val="1B3B6F"/>
                </a:solidFill>
                <a:latin typeface="Amiri" pitchFamily="2" charset="-78"/>
                <a:cs typeface="Amiri" pitchFamily="2" charset="-78"/>
              </a:rPr>
              <a:t>تَـ</a:t>
            </a:r>
            <a:pPr algn="l" indent="0" marL="0">
              <a:buNone/>
            </a:pPr>
            <a:r>
              <a:rPr lang="en-US" sz="1250" b="1" dirty="0">
                <a:solidFill>
                  <a:srgbClr val="1B3B6F"/>
                </a:solidFill>
                <a:latin typeface="Calibri" pitchFamily="34" charset="0"/>
                <a:cs typeface="Amiri" pitchFamily="2" charset="-78"/>
              </a:rPr>
              <a:t> for a feminine singular subject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هِيَ / الاسم المؤنث + تَـ</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مَرْيَمُ تَسْتَيْقِظُ مُبَكِّرًا.   ·   هِيَ تَتَنَاوَلُ الإِفْطَارَ.   ·   أُخْتِي تُرَاجِعُ دُرُوسَهَا.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Match the possessive suffix</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ـهُ</a:t>
            </a:r>
            <a:pPr algn="l" indent="0" marL="0">
              <a:buNone/>
            </a:pPr>
            <a:r>
              <a:rPr lang="en-US" sz="1050" dirty="0">
                <a:solidFill>
                  <a:srgbClr val="5A6472"/>
                </a:solidFill>
                <a:latin typeface="Calibri" pitchFamily="34" charset="0"/>
                <a:cs typeface="Amiri" pitchFamily="2" charset="-78"/>
              </a:rPr>
              <a:t> = his · </a:t>
            </a:r>
            <a:pPr algn="l" indent="0" marL="0">
              <a:buNone/>
            </a:pPr>
            <a:r>
              <a:rPr lang="ar-SA" altLang="en-US" sz="1350" dirty="0">
                <a:solidFill>
                  <a:srgbClr val="5A6472"/>
                </a:solidFill>
                <a:latin typeface="Amiri" pitchFamily="2" charset="-78"/>
                <a:cs typeface="Amiri" pitchFamily="2" charset="-78"/>
              </a:rPr>
              <a:t>ـهَا</a:t>
            </a:r>
            <a:pPr algn="l" indent="0" marL="0">
              <a:buNone/>
            </a:pPr>
            <a:r>
              <a:rPr lang="en-US" sz="1050" dirty="0">
                <a:solidFill>
                  <a:srgbClr val="5A6472"/>
                </a:solidFill>
                <a:latin typeface="Calibri" pitchFamily="34" charset="0"/>
                <a:cs typeface="Amiri" pitchFamily="2" charset="-78"/>
              </a:rPr>
              <a:t> = her</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يُحَضِّرُ حَقِيبَتَهُ.   ·   تُحَضِّرُ حَقِيبَتَهَا.   ·   يُنَظِّمُ وَقْتَهُ، وَتُنَظِّمُ وَقْتَهَا.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Compare without losing the subject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هُوَ ... بَيْنَمَا هِيَ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يَسْتَيْقِظُ عَلِيٌّ فِي السَّادِسَةِ، بَيْنَمَا تَسْتَيْقِظُ مَرْيَمُ فِي السَّابِعَةِ.   ·   أَمَّا هُوَ فَيَذْهَبُ بِالحَافِلَةِ، وَأَمَّا هِيَ فَتَمْشِي.</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wakes up”.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تَسْتَيْقِظُ</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أَسْتَيْقِظُ</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يَسْتَيْقِظُ</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breakfast”.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تَتَنَاوَلُ الإِفْطَارَ</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يَتَنَاوَلُ الإِفْطَارَ</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أَتَنَاوَلُ الإِفْطَارَ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فَاطِمَةُ تُحَضِّرُ ___.</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حَقِيبَتَهُ</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حَقِيبَتَهَا</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حَقِيبَتِي</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maintains feminine reference?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تَرْجِعُ مَرْيَمُ وَتُرَاجِعُ دُرُوسَهَا.</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تَرْجِعُ مَرْيَمُ وَيُرَاجِعُ دُرُوسَهُ.</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أَرْجِعُ مَرْيَمُ وَأُرَاجِعُ.</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wakes up”.</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تَسْتَيْقِظُ</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أَسْتَيْقِظُ</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يَسْتَيْقِظُ</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third person takes </a:t>
            </a:r>
            <a:pPr algn="l" indent="0" marL="0">
              <a:buNone/>
            </a:pPr>
            <a:r>
              <a:rPr lang="ar-SA" altLang="en-US" sz="1350" dirty="0">
                <a:solidFill>
                  <a:srgbClr val="8A6D1E"/>
                </a:solidFill>
                <a:latin typeface="Amiri" pitchFamily="2" charset="-78"/>
                <a:cs typeface="Amiri" pitchFamily="2" charset="-78"/>
              </a:rPr>
              <a:t>يَـ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breakfast”.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تَتَنَاوَلُ الإِفْطَارَ</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يَتَنَاوَلُ الإِفْطَارَ</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أَتَنَاوَلُ الإِفْطَارَ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form is </a:t>
            </a:r>
            <a:pPr algn="l" indent="0" marL="0">
              <a:buNone/>
            </a:pPr>
            <a:r>
              <a:rPr lang="ar-SA" altLang="en-US" sz="1350" dirty="0">
                <a:solidFill>
                  <a:srgbClr val="8A6D1E"/>
                </a:solidFill>
                <a:latin typeface="Amiri" pitchFamily="2" charset="-78"/>
                <a:cs typeface="Amiri" pitchFamily="2" charset="-78"/>
              </a:rPr>
              <a:t>تَتَنَاوَلُ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فَاطِمَةُ تُحَضِّرُ ___.</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حَقِيبَتَهُ</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حَقِيبَتَهَا</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حَقِيبَتِي</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possession belongs to a female.</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maintains feminine reference?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تَرْجِعُ مَرْيَمُ وَتُرَاجِعُ دُرُوسَهَا.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تَرْجِعُ مَرْيَمُ وَيُرَاجِعُ دُرُوسَهُ.</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أَرْجِعُ مَرْيَمُ وَأُرَاجِعُ.</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verb and suffix remain feminine.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Watch me describe my brother and sister</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Him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أَخِي </a:t>
            </a:r>
            <a:pPr rtl="1" algn="ctr" indent="0" marL="0">
              <a:buNone/>
            </a:pPr>
            <a:r>
              <a:rPr lang="ar-SA" altLang="en-US" sz="2200" b="1" dirty="0">
                <a:solidFill>
                  <a:srgbClr val="1D5FBF"/>
                </a:solidFill>
                <a:latin typeface="Amiri" pitchFamily="2" charset="-78"/>
                <a:cs typeface="Amiri" pitchFamily="2" charset="-78"/>
              </a:rPr>
              <a:t>يَ</a:t>
            </a:r>
            <a:pPr rtl="1" algn="ctr" indent="0" marL="0">
              <a:buNone/>
            </a:pPr>
            <a:r>
              <a:rPr lang="ar-SA" altLang="en-US" sz="2200" b="1" dirty="0">
                <a:solidFill>
                  <a:srgbClr val="1B3B6F"/>
                </a:solidFill>
                <a:latin typeface="Amiri" pitchFamily="2" charset="-78"/>
                <a:cs typeface="Amiri" pitchFamily="2" charset="-78"/>
              </a:rPr>
              <a:t>سْتَيْقِظُ فِي السَّادِسَةِ.</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My brother = he → ya-.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His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D5FBF"/>
                </a:solidFill>
                <a:latin typeface="Amiri" pitchFamily="2" charset="-78"/>
                <a:cs typeface="Amiri" pitchFamily="2" charset="-78"/>
              </a:rPr>
              <a:t>يُ</a:t>
            </a:r>
            <a:pPr rtl="1" algn="ctr" indent="0" marL="0">
              <a:buNone/>
            </a:pPr>
            <a:r>
              <a:rPr lang="ar-SA" altLang="en-US" sz="2700" b="1" dirty="0">
                <a:solidFill>
                  <a:srgbClr val="1B3B6F"/>
                </a:solidFill>
                <a:latin typeface="Amiri" pitchFamily="2" charset="-78"/>
                <a:cs typeface="Amiri" pitchFamily="2" charset="-78"/>
              </a:rPr>
              <a:t>حَضِّرُ حَقِيبَتَ</a:t>
            </a:r>
            <a:pPr rtl="1" algn="ctr" indent="0" marL="0">
              <a:buNone/>
            </a:pPr>
            <a:r>
              <a:rPr lang="ar-SA" altLang="en-US" sz="2700" b="1" dirty="0">
                <a:solidFill>
                  <a:srgbClr val="1D5FBF"/>
                </a:solidFill>
                <a:latin typeface="Amiri" pitchFamily="2" charset="-78"/>
                <a:cs typeface="Amiri" pitchFamily="2" charset="-78"/>
              </a:rPr>
              <a:t>هُ</a:t>
            </a:r>
            <a:pPr rtl="1" algn="ctr" indent="0" marL="0">
              <a:buNone/>
            </a:pPr>
            <a:r>
              <a:rPr lang="ar-SA" altLang="en-US" sz="2700" b="1" dirty="0">
                <a:solidFill>
                  <a:srgbClr val="1B3B6F"/>
                </a:solidFill>
                <a:latin typeface="Amiri" pitchFamily="2" charset="-78"/>
                <a:cs typeface="Amiri" pitchFamily="2" charset="-78"/>
              </a:rPr>
              <a:t> بِسُرْعَةٍ.</a:t>
            </a:r>
            <a:endParaRPr lang="ar-SA" sz="27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His bag → -hu.</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Her (contrast)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بَيْنَمَا </a:t>
            </a:r>
            <a:pPr rtl="1" algn="ctr" indent="0" marL="0">
              <a:lnSpc>
                <a:spcPct val="120000"/>
              </a:lnSpc>
              <a:buNone/>
            </a:pPr>
            <a:r>
              <a:rPr lang="ar-SA" altLang="en-US" sz="1750" b="1" dirty="0">
                <a:solidFill>
                  <a:srgbClr val="D6336C"/>
                </a:solidFill>
                <a:latin typeface="Amiri" pitchFamily="2" charset="-78"/>
                <a:cs typeface="Amiri" pitchFamily="2" charset="-78"/>
              </a:rPr>
              <a:t>تَ</a:t>
            </a:r>
            <a:pPr rtl="1" algn="ctr" indent="0" marL="0">
              <a:lnSpc>
                <a:spcPct val="120000"/>
              </a:lnSpc>
              <a:buNone/>
            </a:pPr>
            <a:r>
              <a:rPr lang="ar-SA" altLang="en-US" sz="1750" b="1" dirty="0">
                <a:solidFill>
                  <a:srgbClr val="1B3B6F"/>
                </a:solidFill>
                <a:latin typeface="Amiri" pitchFamily="2" charset="-78"/>
                <a:cs typeface="Amiri" pitchFamily="2" charset="-78"/>
              </a:rPr>
              <a:t>سْتَيْقِظُ أُخْتِي فِي السَّابِعَةِ.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New person, a girl → ta-.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Both</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0E7C86"/>
                </a:solidFill>
                <a:latin typeface="Amiri" pitchFamily="2" charset="-78"/>
                <a:cs typeface="Amiri" pitchFamily="2" charset="-78"/>
              </a:rPr>
              <a:t>كِلَاهُمَا</a:t>
            </a:r>
            <a:pPr rtl="1" algn="ctr" indent="0" marL="0">
              <a:lnSpc>
                <a:spcPct val="120000"/>
              </a:lnSpc>
              <a:buNone/>
            </a:pPr>
            <a:r>
              <a:rPr lang="ar-SA" altLang="en-US" sz="2000" b="1" dirty="0">
                <a:solidFill>
                  <a:srgbClr val="1B3B6F"/>
                </a:solidFill>
                <a:latin typeface="Amiri" pitchFamily="2" charset="-78"/>
                <a:cs typeface="Amiri" pitchFamily="2" charset="-78"/>
              </a:rPr>
              <a:t> يَذْهَبُ إِلَى المَدْرَسَةِ.</a:t>
            </a:r>
            <a:endParaRPr lang="ar-SA" sz="20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 he-verb.</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 / HIS</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 / HER</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BOTH</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أَخِي </a:t>
            </a:r>
            <a:pPr rtl="1" algn="r" indent="0" marL="0">
              <a:lnSpc>
                <a:spcPct val="120000"/>
              </a:lnSpc>
              <a:buNone/>
            </a:pPr>
            <a:r>
              <a:rPr lang="ar-SA" altLang="en-US" sz="1550" b="1" dirty="0">
                <a:solidFill>
                  <a:srgbClr val="1D5FBF"/>
                </a:solidFill>
                <a:latin typeface="Amiri" pitchFamily="2" charset="-78"/>
                <a:cs typeface="Amiri" pitchFamily="2" charset="-78"/>
              </a:rPr>
              <a:t>يَ</a:t>
            </a:r>
            <a:pPr rtl="1" algn="r" indent="0" marL="0">
              <a:lnSpc>
                <a:spcPct val="120000"/>
              </a:lnSpc>
              <a:buNone/>
            </a:pPr>
            <a:r>
              <a:rPr lang="ar-SA" altLang="en-US" sz="1550" b="1" dirty="0">
                <a:solidFill>
                  <a:srgbClr val="1B3B6F"/>
                </a:solidFill>
                <a:latin typeface="Amiri" pitchFamily="2" charset="-78"/>
                <a:cs typeface="Amiri" pitchFamily="2" charset="-78"/>
              </a:rPr>
              <a:t>سْتَيْقِظُ فِي السَّادِسَةِ وَ</a:t>
            </a:r>
            <a:pPr rtl="1" algn="r" indent="0" marL="0">
              <a:lnSpc>
                <a:spcPct val="120000"/>
              </a:lnSpc>
              <a:buNone/>
            </a:pPr>
            <a:r>
              <a:rPr lang="ar-SA" altLang="en-US" sz="1550" b="1" dirty="0">
                <a:solidFill>
                  <a:srgbClr val="1D5FBF"/>
                </a:solidFill>
                <a:latin typeface="Amiri" pitchFamily="2" charset="-78"/>
                <a:cs typeface="Amiri" pitchFamily="2" charset="-78"/>
              </a:rPr>
              <a:t>يُ</a:t>
            </a:r>
            <a:pPr rtl="1" algn="r" indent="0" marL="0">
              <a:lnSpc>
                <a:spcPct val="120000"/>
              </a:lnSpc>
              <a:buNone/>
            </a:pPr>
            <a:r>
              <a:rPr lang="ar-SA" altLang="en-US" sz="1550" b="1" dirty="0">
                <a:solidFill>
                  <a:srgbClr val="1B3B6F"/>
                </a:solidFill>
                <a:latin typeface="Amiri" pitchFamily="2" charset="-78"/>
                <a:cs typeface="Amiri" pitchFamily="2" charset="-78"/>
              </a:rPr>
              <a:t>حَضِّرُ حَقِيبَتَ</a:t>
            </a:r>
            <a:pPr rtl="1" algn="r" indent="0" marL="0">
              <a:lnSpc>
                <a:spcPct val="120000"/>
              </a:lnSpc>
              <a:buNone/>
            </a:pPr>
            <a:r>
              <a:rPr lang="ar-SA" altLang="en-US" sz="1550" b="1" dirty="0">
                <a:solidFill>
                  <a:srgbClr val="1D5FBF"/>
                </a:solidFill>
                <a:latin typeface="Amiri" pitchFamily="2" charset="-78"/>
                <a:cs typeface="Amiri" pitchFamily="2" charset="-78"/>
              </a:rPr>
              <a:t>هُ</a:t>
            </a:r>
            <a:pPr rtl="1" algn="r" indent="0" marL="0">
              <a:lnSpc>
                <a:spcPct val="120000"/>
              </a:lnSpc>
              <a:buNone/>
            </a:pPr>
            <a:r>
              <a:rPr lang="ar-SA" altLang="en-US" sz="1550" b="1" dirty="0">
                <a:solidFill>
                  <a:srgbClr val="1B3B6F"/>
                </a:solidFill>
                <a:latin typeface="Amiri" pitchFamily="2" charset="-78"/>
                <a:cs typeface="Amiri" pitchFamily="2" charset="-78"/>
              </a:rPr>
              <a:t> بِسُرْعَةٍ، بَيْنَمَا </a:t>
            </a:r>
            <a:pPr rtl="1" algn="r" indent="0" marL="0">
              <a:lnSpc>
                <a:spcPct val="120000"/>
              </a:lnSpc>
              <a:buNone/>
            </a:pPr>
            <a:r>
              <a:rPr lang="ar-SA" altLang="en-US" sz="1550" b="1" dirty="0">
                <a:solidFill>
                  <a:srgbClr val="D6336C"/>
                </a:solidFill>
                <a:latin typeface="Amiri" pitchFamily="2" charset="-78"/>
                <a:cs typeface="Amiri" pitchFamily="2" charset="-78"/>
              </a:rPr>
              <a:t>تَ</a:t>
            </a:r>
            <a:pPr rtl="1" algn="r" indent="0" marL="0">
              <a:lnSpc>
                <a:spcPct val="120000"/>
              </a:lnSpc>
              <a:buNone/>
            </a:pPr>
            <a:r>
              <a:rPr lang="ar-SA" altLang="en-US" sz="1550" b="1" dirty="0">
                <a:solidFill>
                  <a:srgbClr val="1B3B6F"/>
                </a:solidFill>
                <a:latin typeface="Amiri" pitchFamily="2" charset="-78"/>
                <a:cs typeface="Amiri" pitchFamily="2" charset="-78"/>
              </a:rPr>
              <a:t>سْتَيْقِظُ أُخْتِي فِي السَّابِعَةِ. أَمَّا هِيَ فَـ</a:t>
            </a:r>
            <a:pPr rtl="1" algn="r" indent="0" marL="0">
              <a:lnSpc>
                <a:spcPct val="120000"/>
              </a:lnSpc>
              <a:buNone/>
            </a:pPr>
            <a:r>
              <a:rPr lang="ar-SA" altLang="en-US" sz="1550" b="1" dirty="0">
                <a:solidFill>
                  <a:srgbClr val="D6336C"/>
                </a:solidFill>
                <a:latin typeface="Amiri" pitchFamily="2" charset="-78"/>
                <a:cs typeface="Amiri" pitchFamily="2" charset="-78"/>
              </a:rPr>
              <a:t>تَ</a:t>
            </a:r>
            <a:pPr rtl="1" algn="r" indent="0" marL="0">
              <a:lnSpc>
                <a:spcPct val="120000"/>
              </a:lnSpc>
              <a:buNone/>
            </a:pPr>
            <a:r>
              <a:rPr lang="ar-SA" altLang="en-US" sz="1550" b="1" dirty="0">
                <a:solidFill>
                  <a:srgbClr val="1B3B6F"/>
                </a:solidFill>
                <a:latin typeface="Amiri" pitchFamily="2" charset="-78"/>
                <a:cs typeface="Amiri" pitchFamily="2" charset="-78"/>
              </a:rPr>
              <a:t>تَنَاوَلُ إِفْطَارَ</a:t>
            </a:r>
            <a:pPr rtl="1" algn="r" indent="0" marL="0">
              <a:lnSpc>
                <a:spcPct val="120000"/>
              </a:lnSpc>
              <a:buNone/>
            </a:pPr>
            <a:r>
              <a:rPr lang="ar-SA" altLang="en-US" sz="1550" b="1" dirty="0">
                <a:solidFill>
                  <a:srgbClr val="D6336C"/>
                </a:solidFill>
                <a:latin typeface="Amiri" pitchFamily="2" charset="-78"/>
                <a:cs typeface="Amiri" pitchFamily="2" charset="-78"/>
              </a:rPr>
              <a:t>هَا</a:t>
            </a:r>
            <a:pPr rtl="1" algn="r" indent="0" marL="0">
              <a:lnSpc>
                <a:spcPct val="120000"/>
              </a:lnSpc>
              <a:buNone/>
            </a:pPr>
            <a:r>
              <a:rPr lang="ar-SA" altLang="en-US" sz="1550" b="1" dirty="0">
                <a:solidFill>
                  <a:srgbClr val="1B3B6F"/>
                </a:solidFill>
                <a:latin typeface="Amiri" pitchFamily="2" charset="-78"/>
                <a:cs typeface="Amiri" pitchFamily="2" charset="-78"/>
              </a:rPr>
              <a:t> مَعَ أُمِّي. </a:t>
            </a:r>
            <a:pPr rtl="1" algn="r" indent="0" marL="0">
              <a:lnSpc>
                <a:spcPct val="120000"/>
              </a:lnSpc>
              <a:buNone/>
            </a:pPr>
            <a:r>
              <a:rPr lang="ar-SA" altLang="en-US" sz="1550" b="1" dirty="0">
                <a:solidFill>
                  <a:srgbClr val="0E7C86"/>
                </a:solidFill>
                <a:latin typeface="Amiri" pitchFamily="2" charset="-78"/>
                <a:cs typeface="Amiri" pitchFamily="2" charset="-78"/>
              </a:rPr>
              <a:t>كِلَاهُمَا</a:t>
            </a:r>
            <a:pPr rtl="1" algn="r" indent="0" marL="0">
              <a:lnSpc>
                <a:spcPct val="120000"/>
              </a:lnSpc>
              <a:buNone/>
            </a:pPr>
            <a:r>
              <a:rPr lang="ar-SA" altLang="en-US" sz="1550" b="1" dirty="0">
                <a:solidFill>
                  <a:srgbClr val="1B3B6F"/>
                </a:solidFill>
                <a:latin typeface="Amiri" pitchFamily="2" charset="-78"/>
                <a:cs typeface="Amiri" pitchFamily="2" charset="-78"/>
              </a:rPr>
              <a:t> يَذْهَبُ إِلَى المَدْرَسَةِ بِالحَافِلَةِ.</a:t>
            </a:r>
            <a:endParaRPr lang="ar-SA" sz="15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My brother wakes up at six and prepares his bag quickly, whereas my sister wakes up at seven. As for her, she has her breakfast with my mother. Both of them go to school by bus.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يَسْتَيْقِظُ أَخِي قَبْلِي.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brother wakes before me.</a:t>
            </a:r>
            <a:endParaRPr lang="en-US" sz="1250" dirty="0"/>
          </a:p>
          <a:p>
            <a:pPr indent="0" marL="0">
              <a:buNone/>
            </a:pPr>
            <a:r>
              <a:rPr lang="en-US" sz="1050" i="1" dirty="0">
                <a:solidFill>
                  <a:srgbClr val="8A6D1E"/>
                </a:solidFill>
                <a:latin typeface="Calibri" pitchFamily="34" charset="0"/>
                <a:cs typeface="Amiri" pitchFamily="2" charset="-78"/>
              </a:rPr>
              <a:t>Masculine third-person prefix.</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تَتَنَاوَلُ أُخْتِي إِفْطَارَهَا مُبَكِّرًا.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sister has her breakfast early.</a:t>
            </a:r>
            <a:endParaRPr lang="en-US" sz="1250" dirty="0"/>
          </a:p>
          <a:p>
            <a:pPr indent="0" marL="0">
              <a:buNone/>
            </a:pPr>
            <a:r>
              <a:rPr lang="en-US" sz="1050" i="1" dirty="0">
                <a:solidFill>
                  <a:srgbClr val="8A6D1E"/>
                </a:solidFill>
                <a:latin typeface="Calibri" pitchFamily="34" charset="0"/>
                <a:cs typeface="Amiri" pitchFamily="2" charset="-78"/>
              </a:rPr>
              <a:t>Feminine verb plus feminine possession.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كِلَاهُمَا يَذْهَبُ إِلَى المَدْرَسَةِ.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Both go to school.</a:t>
            </a:r>
            <a:endParaRPr lang="en-US" sz="1250" dirty="0"/>
          </a:p>
          <a:p>
            <a:pPr indent="0" marL="0">
              <a:buNone/>
            </a:pPr>
            <a:r>
              <a:rPr lang="en-US" sz="1050" i="1" dirty="0">
                <a:solidFill>
                  <a:srgbClr val="8A6D1E"/>
                </a:solidFill>
                <a:latin typeface="Calibri" pitchFamily="34" charset="0"/>
                <a:cs typeface="Amiri" pitchFamily="2" charset="-78"/>
              </a:rPr>
              <a:t>كِلَاهُمَا is grammatically singular dual reference.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أَمَّا هِيَ فَرُوتِينُهَا أَهْدَأُ.</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As for her, her routine is calmer.</a:t>
            </a:r>
            <a:endParaRPr lang="en-US" sz="1250" dirty="0"/>
          </a:p>
          <a:p>
            <a:pPr indent="0" marL="0">
              <a:buNone/>
            </a:pPr>
            <a:r>
              <a:rPr lang="en-US" sz="1050" i="1" dirty="0">
                <a:solidFill>
                  <a:srgbClr val="8A6D1E"/>
                </a:solidFill>
                <a:latin typeface="Calibri" pitchFamily="34" charset="0"/>
                <a:cs typeface="Amiri" pitchFamily="2" charset="-78"/>
              </a:rPr>
              <a:t>Clear contrast and reference.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TRANSFORM THE WEBSITE PICTURE-GAME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 he → she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أَنَا ← هُوَ ← هِيَ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Change to “he”.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أَسْتَيْقِظُ صَبَاحًا.</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يَسْتَيْقِظُ صَبَاحًا.</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تَسْتَيْقِظُ صَبَاحًا.</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أَسْتَيْقِظُ صَبَاحًا.</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Change to “she”.</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أُنَظِّفُ أَسْنَانِي.</a:t>
            </a:r>
            <a:endParaRPr lang="ar-SA" sz="15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تُنَظِّفُ أَسْنَانَهُ.</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يُنَظِّفُ أَسْنَانَهَا.</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تُنَظِّفُ أَسْنَانَهَا.</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Change to “she”.</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أَتَنَاوَلُ الإِفْطَارَ.</a:t>
            </a:r>
            <a:endParaRPr lang="ar-SA" sz="15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يَتَنَاوَلُ الإِفْطَارَ.</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تَتَنَاوَلُ الإِفْطَارَ.</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تَنَاوَلُ الإِفْطَارَ.</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Change to “my brother”.</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أَذْهَبُ إِلَى المَدْرَسَةِ.</a:t>
            </a:r>
            <a:endParaRPr lang="ar-SA" sz="15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أَخِي تَذْهَبُ إِلَى المَدْرَسَةِ.</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أَخِي يَذْهَبُ إِلَى المَدْرَسَةِ.</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أَخِي أَذْهَبُ إِلَى المَدْرَسَةِ.</a:t>
            </a:r>
            <a:endParaRPr lang="ar-SA" sz="2050" dirty="0"/>
          </a:p>
        </p:txBody>
      </p:sp>
      <p:sp>
        <p:nvSpPr>
          <p:cNvPr id="71" name="Shape 68"/>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4" name="Text 71"/>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He → ya- + -hu (his)</a:t>
            </a:r>
            <a:endParaRPr lang="en-US" sz="1250" dirty="0"/>
          </a:p>
          <a:p>
            <a:pPr algn="l" indent="0" marL="0">
              <a:buNone/>
            </a:pPr>
            <a:r>
              <a:rPr lang="en-US" sz="1250" dirty="0">
                <a:solidFill>
                  <a:srgbClr val="1E6B52"/>
                </a:solidFill>
                <a:latin typeface="Calibri" pitchFamily="34" charset="0"/>
                <a:cs typeface="Amiri" pitchFamily="2" charset="-78"/>
              </a:rPr>
              <a:t>She → ta- + -hā (her)</a:t>
            </a:r>
            <a:endParaRPr lang="en-US" sz="12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TRANSFORM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 he → she: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Change to “he”.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أَسْتَيْقِظُ صَبَاحًا.</a:t>
            </a:r>
            <a:endParaRPr lang="ar-SA" sz="150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يَسْتَيْقِظُ صَبَاحًا.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تَسْتَيْقِظُ صَبَاحًا.</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أَسْتَيْقِظُ صَبَاحًا.</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 ya-.</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Change to “she”.</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أُنَظِّفُ أَسْنَانِي.</a:t>
            </a:r>
            <a:endParaRPr lang="ar-SA" sz="15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تُنَظِّفُ أَسْنَانَهُ.</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يُنَظِّفُ أَسْنَانَهَا.</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تُنَظِّفُ أَسْنَانَهَا.</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 tu- AND her → -hā.</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Change to “she”.</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أَتَنَاوَلُ الإِفْطَارَ.</a:t>
            </a:r>
            <a:endParaRPr lang="ar-SA" sz="15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يَتَنَاوَلُ الإِفْطَارَ.</a:t>
            </a:r>
            <a:endParaRPr lang="ar-SA" sz="1700" dirty="0"/>
          </a:p>
        </p:txBody>
      </p:sp>
      <p:sp>
        <p:nvSpPr>
          <p:cNvPr id="55" name="Shape 52"/>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86207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تَتَنَاوَلُ الإِفْطَارَ.</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تَنَاوَلُ الإِفْطَارَ.</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t’s: ta-ta-nā-wa-lu.</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Change to “my brother”.</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أَذْهَبُ إِلَى المَدْرَسَةِ.</a:t>
            </a:r>
            <a:endParaRPr lang="ar-SA" sz="15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أَخِي تَذْهَبُ إِلَى المَدْرَسَةِ.</a:t>
            </a:r>
            <a:endParaRPr lang="ar-SA" sz="170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أَخِي يَذْهَبُ إِلَى المَدْرَسَةِ.</a:t>
            </a:r>
            <a:endParaRPr lang="ar-SA" sz="170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أَخِي أَذْهَبُ إِلَى المَدْرَسَةِ.</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My brother = he.</a:t>
            </a:r>
            <a:endParaRPr lang="en-US" sz="1050" dirty="0"/>
          </a:p>
        </p:txBody>
      </p:sp>
      <p:sp>
        <p:nvSpPr>
          <p:cNvPr id="79" name="Shape 76"/>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2" name="Text 79"/>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He → ya- + -hu (his)</a:t>
            </a:r>
            <a:endParaRPr lang="en-US" sz="1250" dirty="0"/>
          </a:p>
          <a:p>
            <a:pPr algn="l" indent="0" marL="0">
              <a:buNone/>
            </a:pPr>
            <a:r>
              <a:rPr lang="en-US" sz="1250" dirty="0">
                <a:solidFill>
                  <a:srgbClr val="1E6B52"/>
                </a:solidFill>
                <a:latin typeface="Calibri" pitchFamily="34" charset="0"/>
                <a:cs typeface="Amiri" pitchFamily="2" charset="-78"/>
              </a:rPr>
              <a:t>She → ta- + -hā (her)</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Pronoun switch relay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يَسْتَيْقِظُ</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تَسْتَيْقِظُ</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حَقِيبَتُهُ</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حَقِيبَتُهَا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يُرَاجِعُ</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تُرَاجِعُ</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رُوتِينُهُ</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رُوتِينُهَا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He / masculine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She / feminine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He / masculine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يَسْتَيْقِظُ</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حَقِيبَتُهُ</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يُرَاجِعُ</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رُوتِينُهُ</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She / feminine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تَسْتَيْقِظُ</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حَقِيبَتُهَا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تُرَاجِعُ</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رُوتِينُهَا</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عَلِيٌّ ___ دُرُوسَهُ.</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تُرَاجِعُ</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أُرَاجِعُ</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يُرَاجِعُ</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comparison.</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تَسْتَيْقِظُ عَلِيٌّ، بَيْنَمَا يَسْتَيْقِظُ أُخْتُهُ.</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يَسْتَيْقِظُ عَلِيٌّ مُبَكِّرًا، بَيْنَمَا تَسْتَيْقِظُ أُخْتُهُ مُتَأَخِّرَةً.</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أَسْتَيْقِظُ عَلِيٌّ وَأُخْتُهُ.</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كِلَاهُمَا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of them</a:t>
            </a:r>
            <a:endParaRPr lang="en-US" sz="12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of them</a:t>
            </a:r>
            <a:endParaRPr lang="en-US" sz="12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 of them</a:t>
            </a:r>
            <a:endParaRPr lang="en-US" sz="12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routine”.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رُوتِينُهُ</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رُوتِينِي</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رُوتِينُهَا</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عَلِيٌّ ___ دُرُوسَهُ.</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تُرَاجِعُ</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أُرَاجِعُ</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يُرَاجِعُ</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subject takes </a:t>
            </a:r>
            <a:pPr algn="l" indent="0" marL="0">
              <a:buNone/>
            </a:pPr>
            <a:r>
              <a:rPr lang="ar-SA" altLang="en-US" sz="1350" dirty="0">
                <a:solidFill>
                  <a:srgbClr val="8A6D1E"/>
                </a:solidFill>
                <a:latin typeface="Amiri" pitchFamily="2" charset="-78"/>
                <a:cs typeface="Amiri" pitchFamily="2" charset="-78"/>
              </a:rPr>
              <a:t>يُـ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comparison.</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تَسْتَيْقِظُ عَلِيٌّ، بَيْنَمَا يَسْتَيْقِظُ أُخْتُهُ.</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يَسْتَيْقِظُ عَلِيٌّ مُبَكِّرًا، بَيْنَمَا تَسْتَيْقِظُ أُخْتُهُ مُتَأَخِّرَةً.</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أَسْتَيْقِظُ عَلِيٌّ وَأُخْتُهُ.</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Each verb agrees with its own subject.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كِلَاهُمَا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of them</a:t>
            </a:r>
            <a:endParaRPr lang="en-US" sz="12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 of them</a:t>
            </a:r>
            <a:endParaRPr lang="en-US" sz="12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 of them</a:t>
            </a:r>
            <a:endParaRPr lang="en-US" sz="12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كِلَاهُمَا</a:t>
            </a:r>
            <a:pPr algn="l" indent="0" marL="0">
              <a:buNone/>
            </a:pPr>
            <a:r>
              <a:rPr lang="en-US" sz="1050" i="1" dirty="0">
                <a:solidFill>
                  <a:srgbClr val="8A6D1E"/>
                </a:solidFill>
                <a:latin typeface="Calibri" pitchFamily="34" charset="0"/>
                <a:cs typeface="Amiri" pitchFamily="2" charset="-78"/>
              </a:rPr>
              <a:t> refers to two people.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routine”.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رُوتِينُهُ</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رُوتِينِي</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رُوتِينُهَا</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means her.</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مَرْيَمُ يَسْتَيْقِظُ.</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Maryam is a girl. Which prefix?</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عَلِيٌّ يُحَضِّرُ حَقِيبَتَهَا.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Ali is a boy. Whose bag?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هِيَ تَتَنَاوَلُ إِفْطَارَهُ.</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She is eating HER breakfast. Which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مَرْيَمُ يَسْتَيْقِظُ.</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مَرْيَمُ تَسْتَيْقِظُ.</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feminine subject takes </a:t>
            </a:r>
            <a:pPr algn="l" indent="0" marL="0">
              <a:buNone/>
            </a:pPr>
            <a:r>
              <a:rPr lang="ar-SA" altLang="en-US" sz="1500" b="1" dirty="0">
                <a:solidFill>
                  <a:srgbClr val="1B3B6F"/>
                </a:solidFill>
                <a:latin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عَلِيٌّ يُحَضِّرُ حَقِيبَتَهَا.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عَلِيٌّ يُحَضِّرُ حَقِيبَتَهُ.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masculine possession for Ali.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هِيَ تَتَنَاوَلُ إِفْطَارَهُ.</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هِيَ تَتَنَاوَلُ إِفْطَارَهَا.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suffix must match the female referent.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siblings, two routines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wakes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at the same time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Samer do quickly?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prepares Layla’s bag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eats with his mother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showers and gets dressed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Layla prepare first?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breakfast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brother’s clothes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bag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revises immediately after school?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both do around ten?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school</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سَامِرٌ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لَيْلَى</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كِلَاهُمَا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cs typeface="Amiri" pitchFamily="2" charset="-78"/>
              </a:rPr>
              <a:t>يَسْتَيْقِظُ سَامِرٌ فِي السَّادِسَةِ وَالرُّبْعِ، بَيْنَمَا تَسْتَيْقِظُ أُخْتُهُ لَيْلَى فِي السَّادِسَةِ وَالنِّصْفِ.</a:t>
            </a:r>
            <a:endParaRPr lang="ar-SA" sz="18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Samer wakes up at quarter past six, whereas his sister Layla wakes up at half past six.</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هُوَ يَغْتَسِلُ وَيَرْتَدِي مَلَابِسَهُ بِسُرْعَةٍ، ثُمَّ يَتَنَاوَلُ إِفْطَارَهُ فِي المَطْبَخِ.</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showers and gets dressed quickly, then has his breakfast in the kitchen.</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هِيَ فَتُحَضِّرُ حَقِيبَتَهَا أَوَّلًا، ثُمَّ تَتَنَاوَلُ الإِفْطَارَ مَعَ أُمِّهَا.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her, she prepares her bag first, then has breakfast with her mother.</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cs typeface="Amiri" pitchFamily="2" charset="-78"/>
              </a:rPr>
              <a:t>بَعْدَ المَدْرَسَةِ يُرَاجِعُ سَامِرٌ دُرُوسَهُ مُبَاشَرَةً، وَلٰكِنَّ لَيْلَى تَسْتَرِيحُ قَبْلَ أَنْ تَبْدَأَ وَاجِبَهَا.</a:t>
            </a:r>
            <a:endParaRPr lang="ar-SA" sz="18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school Samer revises his lessons straight away, but Layla rests before she starts her homework.</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كِلَاهُمَا يَنَامُ فِي العَاشِرَةِ تَقْرِيبًا.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of them sleep at about ten.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wakes first?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Samer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at the same time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Samer wakes at 6:15; Layla at 6:30.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Samer do quickly?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prepares Layla’s bag</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eats with his mother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showers and gets dressed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يَغْتَسِلُ وَيَرْتَدِي مَلَابِسَهُ بِسُرْعَةٍ.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Layla prepare first?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breakfast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brother’s clothes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bag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تُحَضِّرُ حَقِيبَتَهَا أَوَّلًا.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revises immediately after school?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Samer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يُرَاجِعُ سَامِرٌ ... مُبَاشَرَةً.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both do around ten?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sleep</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 school</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كِلَاهُمَا يَنَامُ فِي العَاشِرَةِ.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سَامِرٌ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لَيْلَى</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كِلَاهُمَا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Describe and compare two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رُوتِينَ أَخٍ أَوْ أُخْتٍ أَوْ صَدِيقٍ.</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يَسْتَيْقِظُ / تَسْتَيْقِظُ؟ مَاذَا يَفْعَلُ / تَفْعَلُ بَعْدَ المَدْرَسَةِ؟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قَارِنْ بَيْنَ رُوتِينِكَ وَرُوتِينِهِ / رُوتِينِهَا.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أَكْثَرُ تَنْظِيمًا؟ هَاتِ دَلِيلًا.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D5FBF"/>
                </a:solidFill>
                <a:latin typeface="Amiri" pitchFamily="2" charset="-78"/>
                <a:cs typeface="Amiri" pitchFamily="2" charset="-78"/>
              </a:rPr>
              <a:t>أَخِي يَـ ___ / أُخْتِي تَـ ___ فِي السَّاعَةِ ___ .</a:t>
            </a:r>
            <a:endParaRPr lang="ar-SA" sz="14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أَنَا ___ ، بَيْنَمَا هُوَ / هِيَ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رُوتِينُهُ / رُوتِينُهَا أَكْثَرُ تَنْظِيمًا لِأَنَّ ___ .</a:t>
            </a:r>
            <a:endParaRPr lang="ar-SA" sz="14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كِلَاهُمَا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 رُوتِينَ أُخْتِكَ.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your sister’s routine.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تَسْتَيْقِظُ فِي السَّابِعَةِ وَتَذْهَبُ إِلَى المَدْرَسَةِ مَشْيًا. بَعْدَ المَدْرَسَةِ تُرَاجِعُ دُرُوسَهَا قَبْلَ أَنْ تَسْتَرِيحَ.</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She wakes at seven and walks to school. After school she revises her lessons before she rests.</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one person with four third-person verbs.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person (brother, sister or friend): four he- or she-verbs and one “his / her routine”.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two people with clear pronoun and suffix reference.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people with whereas; match the endings (his bag / her bag) at least three times.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Sustain a comparison with evidence, contrast and a nuanced judgement.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your routine vs another person’s, with times, frequency, before/after and an evidence-based judgement.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______ ، بَيْنَمَا أَخِي يَـ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 whereas my brother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هِيَ فَـتَـ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her, she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كِلَاهُمَا يَـ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Both of them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هُوَ يَسْتَيْقِظُ أَبْكَرَ مِنِّي.</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wakes up earlier than me.</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رُوتِينُهُ أَكْثَرُ اِنْشِغَالًا مِنْ رُوتِينِهَا.</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routine is busier than hers.</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أَخِي يَسْتَيْقِظُ فِي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wakes up at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أُخْتِي تَسْتَيْقِظُ فِي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wakes up at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يَتَنَاوَلُ إِفْطَارَهُ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has his breakfast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تُرَاجِعُ دُرُوسَهَا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revises her lessons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يَنَامُ / تَنَامُ فِي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sleeps at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يَسْتَيْقِظُ  ·  تَسْتَيْقِظُ  ·  يَتَنَاوَلُ  ·  تَتَنَاوَلُ  ·  يَرْجِعُ  ·  تَرْجِعُ  ·  يُرَاجِعُ  ·  تُرَاجِعُ  ·  حَقِيبَتَهُ  ·  حَقِيبَتَهَا  ·  بَيْنَمَا  ·  كِلَاهُمَا</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words comparing your routine with another person’s routine.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four masculine or feminine third-person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cs typeface="Amiri" pitchFamily="2" charset="-78"/>
              </a:rPr>
              <a:t>ـهُ</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ـها</a:t>
            </a:r>
            <a:pPr algn="l" indent="0" marL="0">
              <a:buNone/>
            </a:pPr>
            <a:r>
              <a:rPr lang="en-US" sz="1200" dirty="0">
                <a:solidFill>
                  <a:srgbClr val="1F2A37"/>
                </a:solidFill>
                <a:latin typeface="Calibri" pitchFamily="34" charset="0"/>
                <a:cs typeface="Amiri" pitchFamily="2" charset="-78"/>
              </a:rPr>
              <a:t> accurately at least three times.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exact times, frequency and before/after.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أَمَّا</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cs typeface="Amiri" pitchFamily="2" charset="-78"/>
              </a:rPr>
              <a:t>فَـ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End with an evidence-based judgement.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تَتَأَكَّدُ مِنْ حَقِيبَتِهَا وَمَفَاتِيحِهَا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checks her bag and keys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يَسْتَيْقِظُ بَعْدَهَا بِنِصْفِ سَاعَةٍ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wakes half an hour after her</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 مَدْرَسَتَهُ أَبْعَدُ</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his school is further away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رُوتِينُهُ أَكْثَرُ اِنْشِغَالًا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routine is busier</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وَلٰكِنَّ رُوتِينَهَا أَكْثَرُ تَنْظِيمًا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her routine is more organised</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cs typeface="Amiri" pitchFamily="2" charset="-78"/>
              </a:rPr>
              <a:t>أَخِي يَسْتَيْقِظُ فِي السَّادِسَةِ، بَيْنَمَا أَسْتَيْقِظُ أَنَا فِي السَّادِسَةِ وَالنِّصْفِ. هُوَ يَغْتَسِلُ وَيَرْتَدِي مَلَابِسَهُ بِسُرْعَةٍ، ثُمَّ يَتَنَاوَلُ إِفْطَارَهُ. أَمَّا أَنَا فَأُحَضِّرُ حَقِيبَتِي قَبْلَ أَنْ أَتَنَاوَلَ الإِفْطَارَ. نَذْهَبُ إِلَى المَدْرَسَةِ مَعًا، وَلٰكِنَّنَا نَخْتَلِفُ بَعْدَ المَدْرَسَةِ. أَخِي يَتَمَرَّنُ ثَلَاثَ مَرَّاتٍ فِي الأُسْبُوعِ، وَيُرَاجِعُ دُرُوسَهُ فِي المَسَاءِ. أَنَا أُكْمِلُ وَاجِبِي مُبَاشَرَةً، ثُمَّ أَسْتَرِيحُ. فِي رَأْيِي، رُوتِينُهُ أَكْثَرُ اِنْشِغَالًا، أَمَّا رُوتِينِي فَأَكْثَرُ تَنْظِيمًا لِأَنَّنِي أُنْهِي وَاجِبِي مُبَكِّرًا.</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brother wakes up at six, whereas I wake up at half past six. He showers and gets dressed quickly, then has his breakfast. As for me, I prepare my bag before I have breakfast. We go to school together, but we differ after school. My brother trains three times a week and revises his lessons in the evening. I finish my homework straight away, then I rest. In my opinion, his routine is busier, whereas my routine is more organised because I finish my homework early.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he-verbs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words ending in -hu (his)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contrast with “as for”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judgement and its evidence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verb about HIM starts with ya- or yu-.</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verb about HER starts with ta- or tu-.</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endings match the person (his -hu, her -hā).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“whereas”, the new verb matches the new person.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ended with a judgement and evidence.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wakes”.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تَسْتَيْقِظُ</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يَسْتَيْقِظُ</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أَسْتَيْقِظُ</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دُرُوسَهَا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يُرَاجِعُ</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تُرَاجِعُ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أُرَاجِعُ</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keeps reference clear?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عَلِيٌّ يُحَضِّرُ حَقِيبَتَهُ.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عَلِيٌّ تُحَضِّرُ حَقِيبَتَهَا.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عَلِيٌّ أُحَضِّرُ حَقِيبَتِي.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wakes”.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تَسْتَيْقِظُ</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يَسْتَيْقِظُ</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أَسْتَيْقِظُ</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third person takes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دُرُوسَهَا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يُرَاجِعُ</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تُرَاجِعُ</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أُرَاجِعُ</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subject takes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keeps reference clear?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عَلِيٌّ يُحَضِّرُ حَقِيبَتَهُ.</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عَلِيٌّ تُحَضِّرُ حَقِيبَتَهَا.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عَلِيٌّ أُحَضِّرُ حَقِيبَتِي.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verb and suffix match Ali.</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Huda describes her cousin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اِبْنَةُ عَمِّي هُدَى طَالِبَةٌ مُنَظَّمَةٌ. تَسْتَيْقِظُ فِي السَّادِسَةِ وَعَشْرِ دَقَائِقَ، وَتُحَضِّرُ إِفْطَارَهَا بِنَفْسِهَا. قَبْلَ أَنْ تَخْرُجَ، تَتَأَكَّدُ مِنْ حَقِيبَتِهَا وَمَفَاتِيحِهَا. تَذْهَبُ إِلَى المَدْرَسَةِ مَشْيًا لِأَنَّهَا تَسْكُنُ قَرِيبًا. أَمَّا أَخُوهَا خَالِدٌ فَيَسْتَيْقِظُ بَعْدَهَا بِنِصْفِ سَاعَةٍ، وَيَسْتَقِلُّ الحَافِلَةَ لِأَنَّ مَدْرَسَتَهُ أَبْعَدُ. بَعْدَ المَدْرَسَةِ تُكْمِلُ هُدَى وَاجِبَهَا قَبْلَ أَنْ تَسْتَرِيحَ، بَيْنَمَا يَذْهَبُ خَالِدٌ إِلَى التَّدْرِيبِ أَوَّلًا. رُوتِينُهُ أَكْثَرُ اِنْشِغَالًا، وَلٰكِنَّ رُوتِينَهَا أَكْثَرُ تَنْظِيمًا.</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اِبْنَةُ عَمِّي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cousin (f.)</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طَالِبَةٌ مُنَظَّمَةٌ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organised student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بِنَفْسِهَا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by herself</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تَتَأَكَّدُ مِنْ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checks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مَفَاتِيحِهَا</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her keys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مَشْيًا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foot</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تَسْكُنُ قَرِيبًا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lives nearby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بَعْدَهَا</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after her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أَبْعَدُ</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further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التَّدْرِيبِ</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training</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Huda?</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sister</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cousin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teacher</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Huda travel?</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car</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Khalid take the bus?</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school is farther</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wakes first</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 uses the bus</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Huda do before resting?</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trains</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completes homework</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visits Khalid</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routine is busier?</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Khalid’s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routine is more organised?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Khalid’s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equally</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Huda’s</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Huda?</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writer’s sister</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writer’s cousin</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writer’s teacher</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اِبْنَةُ عَمِّي.</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Huda travel?</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bus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car</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foot</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تَذْهَبُ ... مَشْيًا.</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Khalid take the bus?</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 school is farther</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wakes first</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Huda uses the bus</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 مَدْرَسَتَهُ أَبْعَدُ.</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Huda do before resting?</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trains</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completes homework</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visits Khalid</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تُكْمِلُ ... قَبْلَ أَنْ تَسْتَرِيحَ.</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routine is busier?</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Khalid’s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Huda’s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رُوتِينُهُ أَكْثَرُ اِنْشِغَالًا.</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routine is more organised?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Khalid’s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equally</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Huda’s</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رُوتِينَهَا أَكْثَرُ تَنْظِيمًا.</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He-and-she transformation challenge</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Change </a:t>
            </a:r>
            <a:pPr algn="l" indent="0" marL="0">
              <a:buNone/>
            </a:pPr>
            <a:r>
              <a:rPr lang="ar-SA" altLang="en-US" sz="1650" b="1" dirty="0">
                <a:solidFill>
                  <a:srgbClr val="1B3B6F"/>
                </a:solidFill>
                <a:latin typeface="Amiri" pitchFamily="2" charset="-78"/>
                <a:cs typeface="Amiri" pitchFamily="2" charset="-78"/>
              </a:rPr>
              <a:t>أَنَا أَسْتَيْقِظُ مُبَكِّرًا</a:t>
            </a:r>
            <a:pPr algn="l" indent="0" marL="0">
              <a:buNone/>
            </a:pPr>
            <a:r>
              <a:rPr lang="en-US" sz="1250" b="1" dirty="0">
                <a:solidFill>
                  <a:srgbClr val="1B3B6F"/>
                </a:solidFill>
                <a:latin typeface="Calibri" pitchFamily="34" charset="0"/>
                <a:cs typeface="Amiri" pitchFamily="2" charset="-78"/>
              </a:rPr>
              <a:t> to “he”.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تَسْتَيْقِظُ مُبَكِّرًا.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يَسْتَيْقِظُ مُبَكِّرًا.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أَسْتَيْقِظُ مُبَكِّرًا.</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cs typeface="Amiri" pitchFamily="2" charset="-78"/>
              </a:rPr>
              <a:t>مَرْيَمُ ___ دُرُوسَهَا بَعْدَ المَدْرَسَةِ.</a:t>
            </a:r>
            <a:endParaRPr lang="ar-SA" sz="110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تُرَاجِعُ</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يُرَاجِعُ</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أُرَاجِعُ</a:t>
            </a:r>
            <a:endParaRPr lang="ar-SA" sz="20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meaning “Ali prepares his bag.”</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عَلِيٌّ تُحَضِّرُ حَقِيبَتَهَا.</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عَلِيٌّ يُحَضِّرُ حَقِيبَتِي.</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عَلِيٌّ يُحَضِّرُ حَقِيبَتَهُ.</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هُوَ تَمْشِي، بَيْنَمَا هِيَ يَسْتَقِلُّ الحَافِلَةَ.</a:t>
            </a:r>
            <a:endParaRPr lang="ar-SA" sz="180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هُوَ أَمْشِي، بَيْنَمَا هِيَ أَسْتَقِلُّ.</a:t>
            </a:r>
            <a:endParaRPr lang="ar-SA" sz="180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هُوَ يَمْشِي، بَيْنَمَا هِيَ تَسْتَقِلُّ الحَافِلَةَ.</a:t>
            </a:r>
            <a:endParaRPr lang="ar-SA" sz="180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74" name="Text 71"/>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يُرَاجِعُ خَالِدٌ دُرُوسَهُ، أَمَّا زَيْنَبُ فَتُحَضِّرُ حَقِيبَتَهَا</a:t>
            </a:r>
            <a:pPr algn="l" indent="0" marL="0">
              <a:buNone/>
            </a:pPr>
            <a:r>
              <a:rPr lang="en-US" sz="1000" b="1" dirty="0">
                <a:solidFill>
                  <a:srgbClr val="1F2A37"/>
                </a:solidFill>
                <a:latin typeface="Calibri" pitchFamily="34" charset="0"/>
                <a:cs typeface="Amiri" pitchFamily="2" charset="-78"/>
              </a:rPr>
              <a:t>. Who prepares her bag?</a:t>
            </a:r>
            <a:endParaRPr lang="en-US" sz="100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زَيْنَبُ</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خَالِدٌ</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كِلَاهُمَا</a:t>
            </a:r>
            <a:endParaRPr lang="ar-SA" sz="20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88" name="Text 85"/>
          <p:cNvSpPr txBox="1"/>
          <p:nvPr/>
        </p:nvSpPr>
        <p:spPr>
          <a:xfrm>
            <a:off x="10044989"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cs typeface="Amiri" pitchFamily="2" charset="-78"/>
              </a:rPr>
              <a:t>أُخْتِي يَتَنَاوَلُ الإِفْطَارَ فِي السَّابِعَةِ.</a:t>
            </a:r>
            <a:endParaRPr lang="ar-SA" sz="1000" dirty="0"/>
          </a:p>
        </p:txBody>
      </p:sp>
      <p:sp>
        <p:nvSpPr>
          <p:cNvPr id="89" name="Shape 86"/>
          <p:cNvSpPr/>
          <p:nvPr/>
        </p:nvSpPr>
        <p:spPr>
          <a:xfrm>
            <a:off x="8278368" y="48737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1" name="Text 88"/>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أُخْتِي أَتَنَاوَلُ الإِفْطَارَ فِي السَّابِعَةِ.</a:t>
            </a:r>
            <a:endParaRPr lang="ar-SA" sz="1850" dirty="0"/>
          </a:p>
        </p:txBody>
      </p:sp>
      <p:sp>
        <p:nvSpPr>
          <p:cNvPr id="92" name="Shape 89"/>
          <p:cNvSpPr/>
          <p:nvPr/>
        </p:nvSpPr>
        <p:spPr>
          <a:xfrm>
            <a:off x="8278368" y="53309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4" name="Text 91"/>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أُخْتِي تَتَنَاوَلُ الإِفْطَارَ فِي السَّابِعَةِ.</a:t>
            </a:r>
            <a:endParaRPr lang="ar-SA" sz="1850" dirty="0"/>
          </a:p>
        </p:txBody>
      </p:sp>
      <p:sp>
        <p:nvSpPr>
          <p:cNvPr id="95" name="Shape 92"/>
          <p:cNvSpPr/>
          <p:nvPr/>
        </p:nvSpPr>
        <p:spPr>
          <a:xfrm>
            <a:off x="8278368" y="5788152"/>
            <a:ext cx="256032" cy="256032"/>
          </a:xfrm>
          <a:prstGeom prst="ellipse">
            <a:avLst/>
          </a:prstGeom>
          <a:solidFill>
            <a:srgbClr val="F4F1EA"/>
          </a:solidFill>
          <a:ln w="12700">
            <a:solidFill>
              <a:srgbClr val="F4F1EA"/>
            </a:solidFill>
            <a:prstDash val="solid"/>
          </a:ln>
        </p:spPr>
      </p:sp>
      <p:sp>
        <p:nvSpPr>
          <p:cNvPr id="96" name="Text 93"/>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7" name="Text 94"/>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أُخْتِي نَتَنَاوَلُ الإِفْطَارَ فِي السَّابِعَةِ.</a:t>
            </a:r>
            <a:endParaRPr lang="ar-SA" sz="18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Change </a:t>
            </a:r>
            <a:pPr algn="l" indent="0" marL="0">
              <a:buNone/>
            </a:pPr>
            <a:r>
              <a:rPr lang="ar-SA" altLang="en-US" sz="1650" b="1" dirty="0">
                <a:solidFill>
                  <a:srgbClr val="1B3B6F"/>
                </a:solidFill>
                <a:latin typeface="Amiri" pitchFamily="2" charset="-78"/>
                <a:cs typeface="Amiri" pitchFamily="2" charset="-78"/>
              </a:rPr>
              <a:t>أَنَا أَسْتَيْقِظُ مُبَكِّرًا</a:t>
            </a:r>
            <a:pPr algn="l" indent="0" marL="0">
              <a:buNone/>
            </a:pPr>
            <a:r>
              <a:rPr lang="en-US" sz="1250" b="1" dirty="0">
                <a:solidFill>
                  <a:srgbClr val="1B3B6F"/>
                </a:solidFill>
                <a:latin typeface="Calibri" pitchFamily="34" charset="0"/>
                <a:cs typeface="Amiri" pitchFamily="2" charset="-78"/>
              </a:rPr>
              <a:t> to “he”.</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تَسْتَيْقِظُ مُبَكِّرًا.</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هُوَ يَسْتَيْقِظُ مُبَكِّرًا.</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أَسْتَيْقِظُ مُبَكِّرًا.</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third-person present verb begins with </a:t>
            </a:r>
            <a:pPr algn="l" indent="0" marL="0">
              <a:buNone/>
            </a:pPr>
            <a:r>
              <a:rPr lang="ar-SA" altLang="en-US" sz="1350" dirty="0">
                <a:solidFill>
                  <a:srgbClr val="8A6D1E"/>
                </a:solidFill>
                <a:latin typeface="Amiri" pitchFamily="2" charset="-78"/>
                <a:cs typeface="Amiri" pitchFamily="2" charset="-78"/>
              </a:rPr>
              <a:t>يَـ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cs typeface="Amiri" pitchFamily="2" charset="-78"/>
              </a:rPr>
              <a:t>يَسْتَيْقِظُ</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3"/>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cs typeface="Amiri" pitchFamily="2" charset="-78"/>
              </a:rPr>
              <a:t>مَرْيَمُ ___ دُرُوسَهَا بَعْدَ المَدْرَسَةِ.</a:t>
            </a:r>
            <a:endParaRPr lang="ar-SA" sz="110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تُرَاجِعُ</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يُرَاجِعُ</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أُرَاجِعُ</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subject </a:t>
            </a:r>
            <a:pPr algn="l" indent="0" marL="0">
              <a:buNone/>
            </a:pPr>
            <a:r>
              <a:rPr lang="ar-SA" altLang="en-US" sz="1350" dirty="0">
                <a:solidFill>
                  <a:srgbClr val="8A6D1E"/>
                </a:solidFill>
                <a:latin typeface="Amiri" pitchFamily="2" charset="-78"/>
                <a:cs typeface="Amiri" pitchFamily="2" charset="-78"/>
              </a:rPr>
              <a:t>مَرْيَمُ</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تُرَاجِعُ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meaning “Ali prepares his bag.”</a:t>
            </a:r>
            <a:endParaRPr lang="en-US"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عَلِيٌّ تُحَضِّرُ حَقِيبَتَهَا.</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عَلِيٌّ يُحَضِّرُ حَقِيبَتِي.</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عَلِيٌّ يُحَضِّرُ حَقِيبَتَهُ.</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is masculine and the suffix </a:t>
            </a:r>
            <a:pPr algn="l" indent="0" marL="0">
              <a:buNone/>
            </a:pPr>
            <a:r>
              <a:rPr lang="ar-SA" altLang="en-US" sz="1350" dirty="0">
                <a:solidFill>
                  <a:srgbClr val="8A6D1E"/>
                </a:solidFill>
                <a:latin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means “his”.</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تَمْشِي، بَيْنَمَا هِيَ يَسْتَقِلُّ الحَافِلَةَ.</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أَمْشِي، بَيْنَمَا هِيَ أَسْتَقِلُّ.</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هُوَ يَمْشِي، بَيْنَمَا هِيَ تَسْتَقِلُّ الحَافِلَةَ.</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Each clause needs its own subject agreement: </a:t>
            </a:r>
            <a:pPr algn="l" indent="0" marL="0">
              <a:buNone/>
            </a:pPr>
            <a:r>
              <a:rPr lang="ar-SA" altLang="en-US" sz="1350" dirty="0">
                <a:solidFill>
                  <a:srgbClr val="8A6D1E"/>
                </a:solidFill>
                <a:latin typeface="Amiri" pitchFamily="2" charset="-78"/>
                <a:cs typeface="Amiri" pitchFamily="2" charset="-78"/>
              </a:rPr>
              <a:t>هُوَ يَمْشِي</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هِيَ تَسْتَقِلُّ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81" name="Text 79"/>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يُرَاجِعُ خَالِدٌ دُرُوسَهُ، أَمَّا زَيْنَبُ فَتُحَضِّرُ حَقِيبَتَهَا</a:t>
            </a:r>
            <a:pPr algn="l" indent="0" marL="0">
              <a:buNone/>
            </a:pPr>
            <a:r>
              <a:rPr lang="en-US" sz="1000" b="1" dirty="0">
                <a:solidFill>
                  <a:srgbClr val="1F2A37"/>
                </a:solidFill>
                <a:latin typeface="Calibri" pitchFamily="34" charset="0"/>
                <a:cs typeface="Amiri" pitchFamily="2" charset="-78"/>
              </a:rPr>
              <a:t>. Who prepares her bag?</a:t>
            </a:r>
            <a:endParaRPr lang="en-US" sz="100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زَيْنَبُ</a:t>
            </a:r>
            <a:endParaRPr lang="ar-SA" sz="170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خَالِدٌ</a:t>
            </a:r>
            <a:endParaRPr lang="ar-SA" sz="170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كِلَاهُمَا</a:t>
            </a:r>
            <a:endParaRPr lang="ar-SA" sz="170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verb and suffix in </a:t>
            </a:r>
            <a:pPr algn="l" indent="0" marL="0">
              <a:buNone/>
            </a:pPr>
            <a:r>
              <a:rPr lang="ar-SA" altLang="en-US" sz="1350" dirty="0">
                <a:solidFill>
                  <a:srgbClr val="8A6D1E"/>
                </a:solidFill>
                <a:latin typeface="Amiri" pitchFamily="2" charset="-78"/>
                <a:cs typeface="Amiri" pitchFamily="2" charset="-78"/>
              </a:rPr>
              <a:t>فَتُحَضِّرُ حَقِيبَتَهَا</a:t>
            </a:r>
            <a:pPr algn="l" indent="0" marL="0">
              <a:buNone/>
            </a:pPr>
            <a:r>
              <a:rPr lang="en-US" sz="1050" i="1" dirty="0">
                <a:solidFill>
                  <a:srgbClr val="8A6D1E"/>
                </a:solidFill>
                <a:latin typeface="Calibri" pitchFamily="34" charset="0"/>
                <a:cs typeface="Amiri" pitchFamily="2" charset="-78"/>
              </a:rPr>
              <a:t> refer to Zaynab.</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97" name="Text 95"/>
          <p:cNvSpPr txBox="1"/>
          <p:nvPr/>
        </p:nvSpPr>
        <p:spPr>
          <a:xfrm>
            <a:off x="10044989"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cs typeface="Amiri" pitchFamily="2" charset="-78"/>
              </a:rPr>
              <a:t>أُخْتِي يَتَنَاوَلُ الإِفْطَارَ فِي السَّابِعَةِ.</a:t>
            </a:r>
            <a:endParaRPr lang="ar-SA" sz="1000" dirty="0"/>
          </a:p>
        </p:txBody>
      </p:sp>
      <p:sp>
        <p:nvSpPr>
          <p:cNvPr id="98" name="Shape 96"/>
          <p:cNvSpPr/>
          <p:nvPr/>
        </p:nvSpPr>
        <p:spPr>
          <a:xfrm>
            <a:off x="8278368" y="4831080"/>
            <a:ext cx="256032" cy="256032"/>
          </a:xfrm>
          <a:prstGeom prst="ellipse">
            <a:avLst/>
          </a:prstGeom>
          <a:solidFill>
            <a:srgbClr val="C9CED6"/>
          </a:solidFill>
          <a:ln w="12700">
            <a:solidFill>
              <a:srgbClr val="C9CED6"/>
            </a:solidFill>
            <a:prstDash val="solid"/>
          </a:ln>
        </p:spPr>
      </p:sp>
      <p:sp>
        <p:nvSpPr>
          <p:cNvPr id="99" name="Text 97"/>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0" name="Text 98"/>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أُخْتِي أَتَنَاوَلُ الإِفْطَارَ فِي السَّابِعَةِ.</a:t>
            </a:r>
            <a:endParaRPr lang="ar-SA" sz="1700" dirty="0"/>
          </a:p>
        </p:txBody>
      </p:sp>
      <p:sp>
        <p:nvSpPr>
          <p:cNvPr id="101" name="Shape 99"/>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2" name="Shape 100"/>
          <p:cNvSpPr/>
          <p:nvPr/>
        </p:nvSpPr>
        <p:spPr>
          <a:xfrm>
            <a:off x="8278368" y="5202936"/>
            <a:ext cx="256032" cy="256032"/>
          </a:xfrm>
          <a:prstGeom prst="ellipse">
            <a:avLst/>
          </a:prstGeom>
          <a:solidFill>
            <a:srgbClr val="2E8B57"/>
          </a:solidFill>
          <a:ln w="12700">
            <a:solidFill>
              <a:srgbClr val="2E8B57"/>
            </a:solidFill>
            <a:prstDash val="solid"/>
          </a:ln>
        </p:spPr>
      </p:sp>
      <p:sp>
        <p:nvSpPr>
          <p:cNvPr id="103" name="Text 101"/>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4" name="Text 102"/>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أُخْتِي تَتَنَاوَلُ الإِفْطَارَ فِي السَّابِعَةِ.</a:t>
            </a:r>
            <a:endParaRPr lang="ar-SA" sz="1700" dirty="0"/>
          </a:p>
        </p:txBody>
      </p:sp>
      <p:sp>
        <p:nvSpPr>
          <p:cNvPr id="105" name="Shape 103"/>
          <p:cNvSpPr/>
          <p:nvPr/>
        </p:nvSpPr>
        <p:spPr>
          <a:xfrm>
            <a:off x="8278368" y="5574792"/>
            <a:ext cx="256032" cy="256032"/>
          </a:xfrm>
          <a:prstGeom prst="ellipse">
            <a:avLst/>
          </a:prstGeom>
          <a:solidFill>
            <a:srgbClr val="C9CED6"/>
          </a:solidFill>
          <a:ln w="12700">
            <a:solidFill>
              <a:srgbClr val="C9CED6"/>
            </a:solidFill>
            <a:prstDash val="solid"/>
          </a:ln>
        </p:spPr>
      </p:sp>
      <p:sp>
        <p:nvSpPr>
          <p:cNvPr id="106" name="Text 104"/>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7" name="Text 105"/>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أُخْتِي نَتَنَاوَلُ الإِفْطَارَ فِي السَّابِعَةِ.</a:t>
            </a:r>
            <a:endParaRPr lang="ar-SA" sz="1700" dirty="0"/>
          </a:p>
        </p:txBody>
      </p:sp>
      <p:sp>
        <p:nvSpPr>
          <p:cNvPr id="108" name="Text 106"/>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third-person subject takes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 the Form VI pattern adds the second </a:t>
            </a:r>
            <a:pPr algn="l" indent="0" marL="0">
              <a:buNone/>
            </a:pPr>
            <a:r>
              <a:rPr lang="ar-SA" altLang="en-US" sz="1350" dirty="0">
                <a:solidFill>
                  <a:srgbClr val="8A6D1E"/>
                </a:solidFill>
                <a:latin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 in </a:t>
            </a:r>
            <a:pPr algn="l" indent="0" marL="0">
              <a:buNone/>
            </a:pPr>
            <a:r>
              <a:rPr lang="ar-SA" altLang="en-US" sz="1350" dirty="0">
                <a:solidFill>
                  <a:srgbClr val="8A6D1E"/>
                </a:solidFill>
                <a:latin typeface="Amiri" pitchFamily="2" charset="-78"/>
                <a:cs typeface="Amiri" pitchFamily="2" charset="-78"/>
              </a:rPr>
              <a:t>تَتَنَاوَلُ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9"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D1-L06 · He and She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D1-L07: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D1-L07 · Asking About Daily Routine — What Do You Do?</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مَاذَا تَفْعَلُ؟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what do you (m.) do?</a:t>
            </a:r>
            <a:pPr indent="0" marL="0">
              <a:buNone/>
            </a:pPr>
            <a:r>
              <a:rPr lang="en-US" sz="1000" i="1" dirty="0">
                <a:solidFill>
                  <a:srgbClr val="5A6472"/>
                </a:solidFill>
                <a:latin typeface="Calibri" pitchFamily="34" charset="0"/>
                <a:cs typeface="Amiri" pitchFamily="2" charset="-78"/>
              </a:rPr>
              <a:t>  f.: مَاذَا تَفْعَلِينَ؟</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مَتَى؟</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when?</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كَمْ مَرَّةً؟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how often?</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لِمَاذَا؟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why?</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 مَنْ؟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with whom?</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three questions you would like to ask a classmate about their day.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مَاذَا تَفْعَلُ بَعْدَ المَدْرَسَةِ؟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D1-L06: the sorter “Pronoun switch relay” and the final check.</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 sentences comparing your routine with a family member’s (</a:t>
            </a:r>
            <a:pPr algn="l" indent="0" marL="0">
              <a:buNone/>
            </a:pPr>
            <a:r>
              <a:rPr lang="ar-SA" altLang="en-US" sz="1550" dirty="0">
                <a:solidFill>
                  <a:srgbClr val="1F2A37"/>
                </a:solidFill>
                <a:latin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your routine vs another person’s.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D1-L07 · Asking About Daily Routine — What Do You Do?</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مَاذَا تَفْعَلُ؟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choose the verb by the person you DESCRIBE, not by who is speaking.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D1-L06 · He and She — Describing Someone Else’s Routine</dc:title>
  <dc:subject>PptxGenJS Presentation</dc:subject>
  <dc:creator>Al Madina Online School · Arabic Department</dc:creator>
  <cp:lastModifiedBy>Al Madina Online School · Arabic Department</cp:lastModifiedBy>
  <cp:revision>1</cp:revision>
  <dcterms:created xsi:type="dcterms:W3CDTF">2026-10-11T06:40:28Z</dcterms:created>
  <dcterms:modified xsi:type="dcterms:W3CDTF">2026-10-11T06:40:28Z</dcterms:modified>
</cp:coreProperties>
</file>