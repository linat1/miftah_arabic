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D1-L07. The website lesson “Asking About Daily Routine — What Do You Do?”: vocabulary, grammar rules and quiz, patterns, common mistakes, sorter, listening, reading, speaking prompts and model, writing task and model, differentiation, final check and the lesson mission. Picture match: website visual game “Asking About Daily Routine — What Do You Do?”.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questions learnt as chunks (مَاذَا تَفْعَلُ؟ مَتَى تَسْتَيْقِظُ؟ كَيْفَ تَذْهَبُ؟ كَمْ مَرَّةً؟ لِمَاذَا؟) + the girl-form ending -īna. Core students may read their questions from the frames slide during the interview.
• Develop: choose the form by the LISTENER (boy / girl / group) and ask one follow-up. Stretch: sustain a five-question interview and turn the notes into a he/she profile (recycles D1-L06).
• Online tip: pair students in breakout rooms; one interviews, one answers, then swap. The teacher visits rooms and listens for -īna.
• Urdu bridge: کیوں؟ is لِمَاذَا؟ — but کب؟ / کیسے؟ are not cognates; use the Arabic question words as new words. Cognates: وقت، مرتبہ (مَرَّةً)، سبب (reason), جواب، سوال.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D1-L06 (he/she) and D1-L05 (duration).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question word decides the answer. The ending decides who you are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سوال and جواب are Arabic words (سُؤَالٌ، جَوَابٌ / إِجَابَةٌ). مرتبہ (ایک مرتبہ = once) → مَرَّةً، كَمْ مَرَّةً؟ سبب (reason) → لِأَنَّ gives the سبب. Urdu question words (کیوں، کب، کیسے) are NOT Arabic — teach مَتَى، كَيْفَ، لِمَاذَا as new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Core question words (website vocabulary (1 of 2)). Hear → Say → See → Use. Transliteration is printed for Core students (cover it for Develop/Stretch).
Mime each question word: مَتَى (tap the wrist), كَيْفَ (open hands), لِمَاذَا (shrug), كَمْ مَرَّةً (count on fingers), مَعَ مَنْ (point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Core question words (website vocabulary (2 of 2)). Hear → Say → See → Use. Transliteration is printed for Core students (cover it for Develop/Stretch).
Mime each question word: مَتَى (tap the wrist), كَيْفَ (open hands), لِمَاذَا (shrug), كَمْ مَرَّةً (count on fingers), مَعَ مَنْ (point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Questions to a boy/man (website vocabulary). Hear → Say → See → Use. Transliteration is printed for Core students (cover it for Develop/Stretch).
Each card shows the girl-form (-īna) and the group-form (-ūna). The questions to a girl (group 3) are the same list with -īna: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Questions to a girl/woman (website vocabulary).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Interview management (website vocabulary).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“Ask a masculine listener” (no ـين) and “Ask a feminine listener” (add ـين). The group form (-ūna) is added for online classes, where teachers often ask the whole class.
Website warning: “Do not add ـين to a masculine question, and do not remove it from a feminine question.” Row 4: the ending on the NOUN changes too (أُسْرَتَكَ / أُسْرَتَكِ / أُسْرَتَكُمْ).
Quick-fire: the teacher names a student; the class asks them مَتَى تَسْتَيْقِظُ / تَسْتَيْقِظِينَ؟ — boy or girl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“Match the question word to the answer” and the website table (Information · Question · Answer shape). Row 5 recycles D1-L05 (لِمُدَّةِ).
Website common error: لِمَاذَا؟ — فِي السَّابِعَةِ ✗ (a time does not answer “why”).
Quick-fire: the teacher gives an ANSWER (مَرَّتَيْنِ / لِأَنَّنِي مُتْعَبٌ / بِالسَّيَّارَةِ); students type the question word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“Build a follow-up from the answer”: listen to the answer, select one new detail, then ask for time, frequency, cause or evaluation.
Useful interview phrases (website group 4, FLEX): أَخْبِرْنِي / أَخْبِرِينِي أَكْثَرَ (tell me more), مَاذَا تَقْصِدُ / تَقْصِدِينَ؟ (what do you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masculine singular present usually begins with تَـ and has no final يـن, while the feminine singular adds ـين. Question words select the information type and prevent vague answers.”
• Ask a masculine listener: Use the basic second-person form without ـين.
• Ask a feminine listener: Add ـين to the five-verb form when addressing one female.
• Match the question word to the answer: The expected answer must fit the information requested.
• Build a follow-up from the answer: Listen to the answer, select one new detail, then ask for time, frequency, cause or evaluation.
Website common error: Do not add ـين to a masculine question, and do not remove it from a feminine question. In connected speech, write the listener accurately even when the answer begins with أنا.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interviews a volunteer girl (or reads both parts), with a think-aloud, then turns the answers into a she-profile. Repeat quickly with a boy to show the ending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built from the website picture-game sentences (أَسْتَيْقِظُ صَبَاحًا، أَذْهَبُ إِلَى المَدْرَسَةِ، أَدْرُسُ بَعْدَ المَدْرَسَةِ، أَنَامُ لَيْلًا) with an added detail. Two decisions each time: the question word, then the listener.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a volunteer asks the question to a classmate on the mic and gets a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question by the information it requests.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question by the information it requests.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المُذِيعَةُ: مَتَى تَسْتَيْقِظُ يَا عُمَرُ؟ عُمَرُ: أَسْتَيْقِظُ فِي السَّادِسَةِ وَالنِّصْفِ. المُذِيعَةُ: وَكَيْفَ تَذْهَبُ إِلَى المَدْرَسَةِ؟ عُمَرُ: أَسْتَقِلُّ الحَافِلَةَ لِأَنَّ المَدْرَسَةَ بَعِيدَةٌ. المُذِيعَةُ: كَمْ مَرَّةً تَتَمَرَّنُ؟ عُمَرُ: مَرَّتَيْنِ فِي الأُسْبُوعِ، يَوْمَيِ الثُّلَاثَاءِ وَالخَمِيسِ. المُذِيعَةُ: مَاذَا تَفْعَلُ فِي المَسَاءِ؟ عُمَرُ: أُكْمِلُ وَاجِبِي، ثُمَّ أَقْرَأُ قَبْلَ أَنْ أَنَامَ. المُذِيعَةُ: مَا الجُزْءُ الَّذِي تُرِيدُ أَنْ تُحَسِّنَهُ؟ عُمَرُ: أُرِيدُ أَنْ أَقْضِيَ وَقْتًا أَقَلَّ عَلَى هَاتِفِي.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تُفَضِّلِينَ المَسَاءَ؟ (Relevant reason follow-up.)
B: لِأَنَّنِي أَكُونُ حُرَّةً بَعْدَ الوَاجِبِ. (Developed reason.)
Website prompts (1 and 2 merged for Core). Breakout rooms in pairs: A interviews B (2 min), then swap. Summarise: each student reports ONE answer in the third person (“he / she …”) — the bridge to the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Ask and answer four accurate questions. · Develop — Add relevant follow-ups and report the answers. · Stretch — Conduct a sustained interview and evaluate the evidence critically.
Website writing task (Stretch): Write a 100–120-word profile based on an imagined or real routine interview.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سَأَلْتُ / سَأَلْتُهُ · قَالَ إِنَّهُ · أَخْبَرَنِي أَنَّهُ · يَسْتَيْقِظُ، يَذْهَبُ، يَتَمَرَّنُ، يُكْمِلُ، يُحَضِّرُ · لِأَنَّهَا بَعِيدَةٌ · رُوتِينُهُ نَشِيطٌ، وَلٰكِنَّهُ يَحْتَاجُ إِلَى رَاحَةٍ أَكْثَرَ.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(D1-L08 · Weekend Routine — What Do You Do at the Weekend?) will spend class time USING this language, so students prepare it tonight — short, simple, easy to access (school guidance: “Simple, Short, Interesting, Relevant, Easy to access”). The five words come from the website D1-L08 vocabulary (weekend time and weekend activities).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Asking About Daily Routine — What Do You Do?</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السُّؤَالُ عَنِ الرُّوتِينِ اليَوْمِيِّ — مَاذَا تَفْعَلُ؟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routine questions to a boy (</a:t>
            </a:r>
            <a:pPr algn="l" indent="0" marL="0">
              <a:buNone/>
            </a:pPr>
            <a:r>
              <a:rPr lang="ar-SA" altLang="en-US" sz="1800" dirty="0">
                <a:solidFill>
                  <a:srgbClr val="C6D2E6"/>
                </a:solidFill>
                <a:latin typeface="Amiri" pitchFamily="2" charset="-78"/>
                <a:ea typeface="Amiri" pitchFamily="2" charset="-78"/>
                <a:cs typeface="Amiri" pitchFamily="2" charset="-78"/>
              </a:rPr>
              <a:t>تَفْعَلُ</a:t>
            </a:r>
            <a:pPr algn="l" indent="0" marL="0">
              <a:buNone/>
            </a:pPr>
            <a:r>
              <a:rPr lang="en-US" sz="1400" dirty="0">
                <a:solidFill>
                  <a:srgbClr val="C6D2E6"/>
                </a:solidFill>
                <a:latin typeface="Calibri" pitchFamily="34" charset="0"/>
                <a:cs typeface="Amiri" pitchFamily="2" charset="-78"/>
              </a:rPr>
              <a:t>), a girl (</a:t>
            </a:r>
            <a:pPr algn="l" indent="0" marL="0">
              <a:buNone/>
            </a:pPr>
            <a:r>
              <a:rPr lang="ar-SA" altLang="en-US" sz="1800" dirty="0">
                <a:solidFill>
                  <a:srgbClr val="C6D2E6"/>
                </a:solidFill>
                <a:latin typeface="Amiri" pitchFamily="2" charset="-78"/>
                <a:ea typeface="Amiri" pitchFamily="2" charset="-78"/>
                <a:cs typeface="Amiri" pitchFamily="2" charset="-78"/>
              </a:rPr>
              <a:t>تَفْعَلِينَ</a:t>
            </a:r>
            <a:pPr algn="l" indent="0" marL="0">
              <a:buNone/>
            </a:pPr>
            <a:r>
              <a:rPr lang="en-US" sz="1400" dirty="0">
                <a:solidFill>
                  <a:srgbClr val="C6D2E6"/>
                </a:solidFill>
                <a:latin typeface="Calibri" pitchFamily="34" charset="0"/>
                <a:cs typeface="Amiri" pitchFamily="2" charset="-78"/>
              </a:rPr>
              <a:t>) or a group (</a:t>
            </a:r>
            <a:pPr algn="l" indent="0" marL="0">
              <a:buNone/>
            </a:pPr>
            <a:r>
              <a:rPr lang="ar-SA" altLang="en-US" sz="1800" dirty="0">
                <a:solidFill>
                  <a:srgbClr val="C6D2E6"/>
                </a:solidFill>
                <a:latin typeface="Amiri" pitchFamily="2" charset="-78"/>
                <a:ea typeface="Amiri" pitchFamily="2" charset="-78"/>
                <a:cs typeface="Amiri" pitchFamily="2" charset="-78"/>
              </a:rPr>
              <a:t>تَفْعَلُونَ</a:t>
            </a:r>
            <a:pPr algn="l" indent="0" marL="0">
              <a:buNone/>
            </a:pPr>
            <a:r>
              <a:rPr lang="en-US" sz="1400" dirty="0">
                <a:solidFill>
                  <a:srgbClr val="C6D2E6"/>
                </a:solidFill>
                <a:latin typeface="Calibri" pitchFamily="34" charset="0"/>
                <a:cs typeface="Amiri" pitchFamily="2" charset="-78"/>
              </a:rPr>
              <a:t>), match each question word to the right answer, and keep an interview going with follow-up questions.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D1-L07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words → the right answer; boy, girl or group.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Statement → question, sort questions,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whom?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often?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prepares her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يُحَضِّرُ حَقِيبَتَهُ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تُحَضِّرُ حَقِيبَتَهُ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تُحَضِّرُ حَقِيبَتَهَا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يَسْتَيْقِظُ عَلِيٌّ مُبَكِّرًا، بَيْنَمَا يَسْتَيْقِظُ أُخْتُهُ مُتَأَخِّرَةً.</a:t>
            </a:r>
            <a:endParaRPr lang="ar-SA" sz="13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تَسْتَيْقِظُ عَلِيٌّ مُبَكِّرًا، بَيْنَمَا تَسْتَيْقِظُ أُخْتُهُ مُتَأَخِّرَةً.</a:t>
            </a:r>
            <a:endParaRPr lang="ar-SA" sz="13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يَسْتَيْقِظُ عَلِيٌّ مُبَكِّرًا، بَيْنَمَا تَسْتَيْقِظُ أُخْتُهُ مُتَأَخِّرَةً.</a:t>
            </a:r>
            <a:endParaRPr lang="ar-SA" sz="13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“for how long?”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لِمُدَّةِ سَاعَةٍ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 الخَامِسَةِ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whom?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كَمْ مَرَّةً؟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often?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time?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prepares her bag”.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يُحَضِّرُ حَقِيبَتَهُ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تُحَضِّرُ حَقِيبَتَهُ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تُحَضِّرُ حَقِيبَتَهَا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D1-L06: she → tu- + -hā.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يَسْتَيْقِظُ عَلِيٌّ مُبَكِّرًا، بَيْنَمَا يَسْتَيْقِظُ أُخْتُهُ مُتَأَخِّرَةً.</a:t>
            </a:r>
            <a:endParaRPr lang="ar-SA" sz="13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تَسْتَيْقِظُ عَلِيٌّ مُبَكِّرًا، بَيْنَمَا تَسْتَيْقِظُ أُخْتُهُ مُتَأَخِّرَةً.</a:t>
            </a:r>
            <a:endParaRPr lang="ar-SA" sz="13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يَسْتَيْقِظُ عَلِيٌّ مُبَكِّرًا، بَيْنَمَا تَسْتَيْقِظُ أُخْتُهُ مُتَأَخِّرَةً.</a:t>
            </a:r>
            <a:endParaRPr lang="ar-SA" sz="13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D1-L06: each verb matches its own subject.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“for how long?”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لِمُدَّةِ سَاعَةٍ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السَّاعَةِ الخَامِسَةِ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D1-L05 duration.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question word decides the answer. The ending decides who you are asking.</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algn="ctr" indent="0" marL="0">
              <a:buNone/>
            </a:pPr>
            <a:r>
              <a:rPr lang="ar-SA" altLang="en-US" sz="2850" b="1" dirty="0">
                <a:solidFill>
                  <a:srgbClr val="1B3B6F"/>
                </a:solidFill>
                <a:latin typeface="Amiri" pitchFamily="2" charset="-78"/>
                <a:ea typeface="Amiri" pitchFamily="2" charset="-78"/>
                <a:cs typeface="Amiri" pitchFamily="2" charset="-78"/>
              </a:rPr>
              <a:t>مَتَى تَسْتَيْقِظُ؟</a:t>
            </a:r>
            <a:pPr algn="ctr" indent="0" marL="0">
              <a:buNone/>
            </a:pPr>
            <a:r>
              <a:rPr lang="en-US" sz="2200" b="1" dirty="0">
                <a:solidFill>
                  <a:srgbClr val="1B3B6F"/>
                </a:solidFill>
                <a:latin typeface="Calibri" pitchFamily="34" charset="0"/>
                <a:cs typeface="Amiri" pitchFamily="2" charset="-78"/>
              </a:rPr>
              <a:t> (boy)  ·  </a:t>
            </a:r>
            <a:pPr algn="ctr" indent="0" marL="0">
              <a:buNone/>
            </a:pPr>
            <a:r>
              <a:rPr lang="ar-SA" altLang="en-US" sz="2850" b="1" dirty="0">
                <a:solidFill>
                  <a:srgbClr val="1B3B6F"/>
                </a:solidFill>
                <a:latin typeface="Amiri" pitchFamily="2" charset="-78"/>
                <a:ea typeface="Amiri" pitchFamily="2" charset="-78"/>
                <a:cs typeface="Amiri" pitchFamily="2" charset="-78"/>
              </a:rPr>
              <a:t>مَتَى تَسْتَيْقِظِينَ؟</a:t>
            </a:r>
            <a:pPr algn="ctr" indent="0" marL="0">
              <a:buNone/>
            </a:pPr>
            <a:r>
              <a:rPr lang="en-US" sz="2200" b="1" dirty="0">
                <a:solidFill>
                  <a:srgbClr val="1B3B6F"/>
                </a:solidFill>
                <a:latin typeface="Calibri" pitchFamily="34" charset="0"/>
                <a:cs typeface="Amiri" pitchFamily="2" charset="-78"/>
              </a:rPr>
              <a:t> (girl)</a:t>
            </a:r>
            <a:endParaRPr lang="en-US"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routine questions with </a:t>
            </a:r>
            <a:pPr algn="l" indent="0" marL="0">
              <a:buNone/>
            </a:pPr>
            <a:r>
              <a:rPr lang="ar-SA" altLang="en-US" sz="1700" dirty="0">
                <a:solidFill>
                  <a:srgbClr val="1F2A37"/>
                </a:solidFill>
                <a:latin typeface="Amiri" pitchFamily="2" charset="-78"/>
                <a:ea typeface="Amiri" pitchFamily="2" charset="-78"/>
                <a:cs typeface="Amiri" pitchFamily="2" charset="-78"/>
              </a:rPr>
              <a:t>مَاذَا، مَتَى، كَمْ مَرَّةً، كَيْفَ</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لِمَاذَا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masculine and feminine second-person present forms.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follow-up questions to sustain an interview.</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Convert interview notes into a coherent written profile.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five routine questions.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with a time or a frequency.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a:t>
            </a:r>
            <a:pPr algn="l" indent="0" marL="0">
              <a:buNone/>
            </a:pPr>
            <a:r>
              <a:rPr lang="ar-SA" altLang="en-US" sz="1700" b="1" dirty="0">
                <a:solidFill>
                  <a:srgbClr val="C9780A"/>
                </a:solidFill>
                <a:latin typeface="Amiri" pitchFamily="2" charset="-78"/>
                <a:ea typeface="Amiri" pitchFamily="2" charset="-78"/>
                <a:cs typeface="Amiri" pitchFamily="2" charset="-78"/>
              </a:rPr>
              <a:t>تَفْعَلُ</a:t>
            </a:r>
            <a:pPr algn="l" indent="0" marL="0">
              <a:buNone/>
            </a:pPr>
            <a:r>
              <a:rPr lang="en-US" sz="1300" b="1" dirty="0">
                <a:solidFill>
                  <a:srgbClr val="C9780A"/>
                </a:solidFill>
                <a:latin typeface="Calibri" pitchFamily="34" charset="0"/>
                <a:cs typeface="Amiri" pitchFamily="2" charset="-78"/>
              </a:rPr>
              <a:t>) or a girl (</a:t>
            </a:r>
            <a:pPr algn="l" indent="0" marL="0">
              <a:buNone/>
            </a:pPr>
            <a:r>
              <a:rPr lang="ar-SA" altLang="en-US" sz="1700" b="1" dirty="0">
                <a:solidFill>
                  <a:srgbClr val="C9780A"/>
                </a:solidFill>
                <a:latin typeface="Amiri" pitchFamily="2" charset="-78"/>
                <a:ea typeface="Amiri" pitchFamily="2" charset="-78"/>
                <a:cs typeface="Amiri" pitchFamily="2" charset="-78"/>
              </a:rPr>
              <a:t>تَفْعَلِينَ</a:t>
            </a:r>
            <a:pPr algn="l" indent="0" marL="0">
              <a:buNone/>
            </a:pPr>
            <a:r>
              <a:rPr lang="en-US" sz="1300" b="1" dirty="0">
                <a:solidFill>
                  <a:srgbClr val="C9780A"/>
                </a:solidFill>
                <a:latin typeface="Calibri" pitchFamily="34" charset="0"/>
                <a:cs typeface="Amiri" pitchFamily="2" charset="-78"/>
              </a:rPr>
              <a:t>)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one follow-up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sustain a five-question interview.</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the interview as a 100–120-word profile.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question words · 10</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Questions to a boy/man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Questions to a girl/woman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Interview management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لِمَاذَا؟</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‎کیوں؟‎ </a:t>
            </a:r>
            <a:pPr indent="0" marL="0">
              <a:buNone/>
            </a:pPr>
            <a:r>
              <a:rPr lang="en-US" sz="950" b="1" dirty="0">
                <a:solidFill>
                  <a:srgbClr val="2E8B57"/>
                </a:solidFill>
                <a:latin typeface="Calibri" pitchFamily="34" charset="0"/>
                <a:cs typeface="Amiri" pitchFamily="2" charset="-78"/>
              </a:rPr>
              <a:t> kyūn · why? (meaning only)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‎مرتبہ‎ </a:t>
            </a:r>
            <a:pPr indent="0" marL="0">
              <a:buNone/>
            </a:pPr>
            <a:r>
              <a:rPr lang="en-US" sz="950" b="1" dirty="0">
                <a:solidFill>
                  <a:srgbClr val="2E8B57"/>
                </a:solidFill>
                <a:latin typeface="Calibri" pitchFamily="34" charset="0"/>
                <a:cs typeface="Amiri" pitchFamily="2" charset="-78"/>
              </a:rPr>
              <a:t> martaba · time, occasion</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سُؤَالٌ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question</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جَوَابٌ / إِجَابَةٌ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‎جواب‎ </a:t>
            </a:r>
            <a:pPr indent="0" marL="0">
              <a:buNone/>
            </a:pPr>
            <a:r>
              <a:rPr lang="en-US" sz="950" b="1" dirty="0">
                <a:solidFill>
                  <a:srgbClr val="2E8B57"/>
                </a:solidFill>
                <a:latin typeface="Calibri" pitchFamily="34" charset="0"/>
                <a:cs typeface="Amiri" pitchFamily="2" charset="-78"/>
              </a:rPr>
              <a:t> jawāb · answer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السَّبَبُ</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reason</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Core question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a:t>
            </a:r>
            <a:endParaRPr lang="en-US" sz="1350" dirty="0"/>
          </a:p>
          <a:p>
            <a:pPr indent="0" marL="0">
              <a:buNone/>
            </a:pPr>
            <a:r>
              <a:rPr lang="en-US" sz="1100" i="1" dirty="0">
                <a:solidFill>
                  <a:srgbClr val="5A6472"/>
                </a:solidFill>
                <a:latin typeface="Calibri" pitchFamily="34" charset="0"/>
                <a:cs typeface="Amiri" pitchFamily="2" charset="-78"/>
              </a:rPr>
              <a:t>mā-dhā?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السَّاعَةُ؟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time?</a:t>
            </a:r>
            <a:endParaRPr lang="en-US" sz="1350" dirty="0"/>
          </a:p>
          <a:p>
            <a:pPr indent="0" marL="0">
              <a:buNone/>
            </a:pPr>
            <a:r>
              <a:rPr lang="en-US" sz="1100" i="1" dirty="0">
                <a:solidFill>
                  <a:srgbClr val="5A6472"/>
                </a:solidFill>
                <a:latin typeface="Calibri" pitchFamily="34" charset="0"/>
                <a:cs typeface="Amiri" pitchFamily="2" charset="-78"/>
              </a:rPr>
              <a:t>ka-mi as-sā-ʿa-tu?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مَرَّةً؟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times / how often?</a:t>
            </a:r>
            <a:endParaRPr lang="en-US" sz="1350" dirty="0"/>
          </a:p>
          <a:p>
            <a:pPr indent="0" marL="0">
              <a:buNone/>
            </a:pPr>
            <a:r>
              <a:rPr lang="en-US" sz="1100" i="1" dirty="0">
                <a:solidFill>
                  <a:srgbClr val="5A6472"/>
                </a:solidFill>
                <a:latin typeface="Calibri" pitchFamily="34" charset="0"/>
                <a:cs typeface="Amiri" pitchFamily="2" charset="-78"/>
              </a:rPr>
              <a:t>kam mar-ra-tan?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Core question words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مَنْ؟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whom?</a:t>
            </a:r>
            <a:endParaRPr lang="en-US" sz="1350" dirty="0"/>
          </a:p>
          <a:p>
            <a:pPr indent="0" marL="0">
              <a:buNone/>
            </a:pPr>
            <a:r>
              <a:rPr lang="en-US" sz="1100" i="1" dirty="0">
                <a:solidFill>
                  <a:srgbClr val="5A6472"/>
                </a:solidFill>
                <a:latin typeface="Calibri" pitchFamily="34" charset="0"/>
                <a:cs typeface="Amiri" pitchFamily="2" charset="-78"/>
              </a:rPr>
              <a:t>ma-ʿa man?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مِنَ الوَقْتِ؟</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time?</a:t>
            </a:r>
            <a:endParaRPr lang="en-US" sz="1350" dirty="0"/>
          </a:p>
          <a:p>
            <a:pPr indent="0" marL="0">
              <a:buNone/>
            </a:pPr>
            <a:r>
              <a:rPr lang="en-US" sz="1100" i="1" dirty="0">
                <a:solidFill>
                  <a:srgbClr val="5A6472"/>
                </a:solidFill>
                <a:latin typeface="Calibri" pitchFamily="34" charset="0"/>
                <a:cs typeface="Amiri" pitchFamily="2" charset="-78"/>
              </a:rPr>
              <a:t>kam mi-na al-waq-ti?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 يَوْمٍ؟</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day?</a:t>
            </a:r>
            <a:endParaRPr lang="en-US" sz="1350" dirty="0"/>
          </a:p>
          <a:p>
            <a:pPr indent="0" marL="0">
              <a:buNone/>
            </a:pPr>
            <a:r>
              <a:rPr lang="en-US" sz="1100" i="1" dirty="0">
                <a:solidFill>
                  <a:srgbClr val="5A6472"/>
                </a:solidFill>
                <a:latin typeface="Calibri" pitchFamily="34" charset="0"/>
                <a:cs typeface="Amiri" pitchFamily="2" charset="-78"/>
              </a:rPr>
              <a:t>ay-yu yaw-min?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to a boy/man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39354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تَفْعَلُ؟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do you do?</a:t>
            </a:r>
            <a:endParaRPr lang="en-US" sz="1350" dirty="0"/>
          </a:p>
          <a:p>
            <a:pPr indent="0" marL="0">
              <a:buNone/>
            </a:pPr>
            <a:r>
              <a:rPr lang="en-US" sz="1100" i="1" dirty="0">
                <a:solidFill>
                  <a:srgbClr val="5A6472"/>
                </a:solidFill>
                <a:latin typeface="Calibri" pitchFamily="34" charset="0"/>
                <a:cs typeface="Amiri" pitchFamily="2" charset="-78"/>
              </a:rPr>
              <a:t>mā-dhā taf-ʿa-lu?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تَفْعَلُونَ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تَفْعَلِينَ؟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تَفْعَلُ؟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4782312" y="1938528"/>
            <a:ext cx="139354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تَسْتَيْقِظُ؟</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do you wake up?</a:t>
            </a:r>
            <a:endParaRPr lang="en-US" sz="1350" dirty="0"/>
          </a:p>
          <a:p>
            <a:pPr indent="0" marL="0">
              <a:buNone/>
            </a:pPr>
            <a:r>
              <a:rPr lang="en-US" sz="1100" i="1" dirty="0">
                <a:solidFill>
                  <a:srgbClr val="5A6472"/>
                </a:solidFill>
                <a:latin typeface="Calibri" pitchFamily="34" charset="0"/>
                <a:cs typeface="Amiri" pitchFamily="2" charset="-78"/>
              </a:rPr>
              <a:t>ma-tā tas-tay-qi-ẓu?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تَسْتَيْقِظُونَ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تَسْتَيْقِظِينَ؟</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4" name="Shape 51"/>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تَذْهَبُ؟</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do you go?</a:t>
            </a:r>
            <a:endParaRPr lang="en-US" sz="1350" dirty="0"/>
          </a:p>
          <a:p>
            <a:pPr indent="0" marL="0">
              <a:buNone/>
            </a:pPr>
            <a:r>
              <a:rPr lang="en-US" sz="1100" i="1" dirty="0">
                <a:solidFill>
                  <a:srgbClr val="5A6472"/>
                </a:solidFill>
                <a:latin typeface="Calibri" pitchFamily="34" charset="0"/>
                <a:cs typeface="Amiri" pitchFamily="2" charset="-78"/>
              </a:rPr>
              <a:t>kay-fa tadh-ha-bu?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تَذْهَبُونَ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65" name="Text 62"/>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تَذْهَبِينَ؟</a:t>
            </a:r>
            <a:endParaRPr lang="ar-SA" sz="135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تَذْهَبُ؟</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72" name="Shape 69"/>
          <p:cNvSpPr/>
          <p:nvPr/>
        </p:nvSpPr>
        <p:spPr>
          <a:xfrm>
            <a:off x="8604504" y="4279392"/>
            <a:ext cx="1393546"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مَرَّةً تَتَمَرَّنُ؟</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often do you train?</a:t>
            </a:r>
            <a:endParaRPr lang="en-US" sz="1350" dirty="0"/>
          </a:p>
          <a:p>
            <a:pPr indent="0" marL="0">
              <a:buNone/>
            </a:pPr>
            <a:r>
              <a:rPr lang="en-US" sz="1100" i="1" dirty="0">
                <a:solidFill>
                  <a:srgbClr val="5A6472"/>
                </a:solidFill>
                <a:latin typeface="Calibri" pitchFamily="34" charset="0"/>
                <a:cs typeface="Amiri" pitchFamily="2" charset="-78"/>
              </a:rPr>
              <a:t>kam mar-ra-tan ta-ta-mar-ra-nu?</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78" name="Text 75"/>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تَتَمَرَّنُونَ</a:t>
            </a:r>
            <a:endParaRPr lang="ar-SA" sz="135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81" name="Text 78"/>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تَتَمَرَّنِينَ؟</a:t>
            </a:r>
            <a:endParaRPr lang="ar-SA" sz="135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تَتَمَرَّنُ؟</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88" name="Shape 85"/>
          <p:cNvSpPr/>
          <p:nvPr/>
        </p:nvSpPr>
        <p:spPr>
          <a:xfrm>
            <a:off x="4782312" y="4279392"/>
            <a:ext cx="1393546"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 تُفَضِّلُ ذٰلِكَ؟</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 do you prefer that?</a:t>
            </a:r>
            <a:endParaRPr lang="en-US" sz="1350" dirty="0"/>
          </a:p>
          <a:p>
            <a:pPr indent="0" marL="0">
              <a:buNone/>
            </a:pPr>
            <a:r>
              <a:rPr lang="en-US" sz="1100" i="1" dirty="0">
                <a:solidFill>
                  <a:srgbClr val="5A6472"/>
                </a:solidFill>
                <a:latin typeface="Calibri" pitchFamily="34" charset="0"/>
                <a:cs typeface="Amiri" pitchFamily="2" charset="-78"/>
              </a:rPr>
              <a:t>li-mā-dhā tu-faḍ-ḍi-lu dhā-li-ka?</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94" name="Text 91"/>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تُفَضِّلُونَ</a:t>
            </a:r>
            <a:endParaRPr lang="ar-SA" sz="135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97" name="Text 94"/>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تُفَضِّلِينَ</a:t>
            </a:r>
            <a:endParaRPr lang="ar-SA" sz="135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تُفَضِّلُ</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04" name="Shape 101"/>
          <p:cNvSpPr/>
          <p:nvPr/>
        </p:nvSpPr>
        <p:spPr>
          <a:xfrm>
            <a:off x="960120" y="4279392"/>
            <a:ext cx="1393546"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تُسَاعِدُ أُسْرَتَكَ؟</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help your family?</a:t>
            </a:r>
            <a:endParaRPr lang="en-US" sz="1350" dirty="0"/>
          </a:p>
          <a:p>
            <a:pPr indent="0" marL="0">
              <a:buNone/>
            </a:pPr>
            <a:r>
              <a:rPr lang="en-US" sz="1100" i="1" dirty="0">
                <a:solidFill>
                  <a:srgbClr val="5A6472"/>
                </a:solidFill>
                <a:latin typeface="Calibri" pitchFamily="34" charset="0"/>
                <a:cs typeface="Amiri" pitchFamily="2" charset="-78"/>
              </a:rPr>
              <a:t>hal tu-sā-ʿi-du us-ra-ta-ka?</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110" name="Text 107"/>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تُسَاعِدُونَ</a:t>
            </a:r>
            <a:endParaRPr lang="ar-SA" sz="135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113" name="Text 110"/>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تُسَاعِدِينَ</a:t>
            </a:r>
            <a:endParaRPr lang="ar-SA" sz="135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تُسَاعِدُ</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to a girl/woman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تَفْعَلِينَ؟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do you do?</a:t>
            </a:r>
            <a:endParaRPr lang="en-US" sz="1350" dirty="0"/>
          </a:p>
          <a:p>
            <a:pPr indent="0" marL="0">
              <a:buNone/>
            </a:pPr>
            <a:r>
              <a:rPr lang="en-US" sz="1100" i="1" dirty="0">
                <a:solidFill>
                  <a:srgbClr val="5A6472"/>
                </a:solidFill>
                <a:latin typeface="Calibri" pitchFamily="34" charset="0"/>
                <a:cs typeface="Amiri" pitchFamily="2" charset="-78"/>
              </a:rPr>
              <a:t>mā-dhā taf-ʿa-lī-na?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تَسْتَيْقِظِينَ؟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do you wake up?</a:t>
            </a:r>
            <a:endParaRPr lang="en-US" sz="1350" dirty="0"/>
          </a:p>
          <a:p>
            <a:pPr indent="0" marL="0">
              <a:buNone/>
            </a:pPr>
            <a:r>
              <a:rPr lang="en-US" sz="1100" i="1" dirty="0">
                <a:solidFill>
                  <a:srgbClr val="5A6472"/>
                </a:solidFill>
                <a:latin typeface="Calibri" pitchFamily="34" charset="0"/>
                <a:cs typeface="Amiri" pitchFamily="2" charset="-78"/>
              </a:rPr>
              <a:t>ma-tā tas-tay-qi-ẓī-na?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تَذْهَبِينَ؟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do you go?</a:t>
            </a:r>
            <a:endParaRPr lang="en-US" sz="1350" dirty="0"/>
          </a:p>
          <a:p>
            <a:pPr indent="0" marL="0">
              <a:buNone/>
            </a:pPr>
            <a:r>
              <a:rPr lang="en-US" sz="1100" i="1" dirty="0">
                <a:solidFill>
                  <a:srgbClr val="5A6472"/>
                </a:solidFill>
                <a:latin typeface="Calibri" pitchFamily="34" charset="0"/>
                <a:cs typeface="Amiri" pitchFamily="2" charset="-78"/>
              </a:rPr>
              <a:t>kay-fa tadh-ha-bī-na?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مَرَّةً تَتَمَرَّنِينَ؟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often do you train?</a:t>
            </a:r>
            <a:endParaRPr lang="en-US" sz="1350" dirty="0"/>
          </a:p>
          <a:p>
            <a:pPr indent="0" marL="0">
              <a:buNone/>
            </a:pPr>
            <a:r>
              <a:rPr lang="en-US" sz="1100" i="1" dirty="0">
                <a:solidFill>
                  <a:srgbClr val="5A6472"/>
                </a:solidFill>
                <a:latin typeface="Calibri" pitchFamily="34" charset="0"/>
                <a:cs typeface="Amiri" pitchFamily="2" charset="-78"/>
              </a:rPr>
              <a:t>kam mar-ra-tan ta-ta-mar-ra-nī-na?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 تُفَضِّلِينَ 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 do you prefer that?</a:t>
            </a:r>
            <a:endParaRPr lang="en-US" sz="1350" dirty="0"/>
          </a:p>
          <a:p>
            <a:pPr indent="0" marL="0">
              <a:buNone/>
            </a:pPr>
            <a:r>
              <a:rPr lang="en-US" sz="1100" i="1" dirty="0">
                <a:solidFill>
                  <a:srgbClr val="5A6472"/>
                </a:solidFill>
                <a:latin typeface="Calibri" pitchFamily="34" charset="0"/>
                <a:cs typeface="Amiri" pitchFamily="2" charset="-78"/>
              </a:rPr>
              <a:t>li-mā-dhā tu-faḍ-ḍi-lī-na 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تُسَاعِدِينَ أُسْرَتَكِ؟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help your family?</a:t>
            </a:r>
            <a:endParaRPr lang="en-US" sz="1350" dirty="0"/>
          </a:p>
          <a:p>
            <a:pPr indent="0" marL="0">
              <a:buNone/>
            </a:pPr>
            <a:r>
              <a:rPr lang="en-US" sz="1100" i="1" dirty="0">
                <a:solidFill>
                  <a:srgbClr val="5A6472"/>
                </a:solidFill>
                <a:latin typeface="Calibri" pitchFamily="34" charset="0"/>
                <a:cs typeface="Amiri" pitchFamily="2" charset="-78"/>
              </a:rPr>
              <a:t>hal tu-sā-ʿi-dī-na us-ra-ta-ki?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management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أَخْبِرْنِي أَكْثَرَ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tell me more — m.</a:t>
            </a:r>
            <a:endParaRPr lang="en-US" sz="1350" dirty="0"/>
          </a:p>
          <a:p>
            <a:pPr indent="0" marL="0">
              <a:buNone/>
            </a:pPr>
            <a:r>
              <a:rPr lang="en-US" sz="1100" i="1" dirty="0">
                <a:solidFill>
                  <a:srgbClr val="5A6472"/>
                </a:solidFill>
                <a:latin typeface="Calibri" pitchFamily="34" charset="0"/>
                <a:cs typeface="Amiri" pitchFamily="2" charset="-78"/>
              </a:rPr>
              <a:t>akh-bir-nī ak-tha-ra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أَخْبِرِينِي أَكْثَرَ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tell me more — f.</a:t>
            </a:r>
            <a:endParaRPr lang="en-US" sz="1350" dirty="0"/>
          </a:p>
          <a:p>
            <a:pPr indent="0" marL="0">
              <a:buNone/>
            </a:pPr>
            <a:r>
              <a:rPr lang="en-US" sz="1100" i="1" dirty="0">
                <a:solidFill>
                  <a:srgbClr val="5A6472"/>
                </a:solidFill>
                <a:latin typeface="Calibri" pitchFamily="34" charset="0"/>
                <a:cs typeface="Amiri" pitchFamily="2" charset="-78"/>
              </a:rPr>
              <a:t>akh-bi-rī-nī ak-tha-ra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تَقْصِدُ؟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do you mean? — m.</a:t>
            </a:r>
            <a:endParaRPr lang="en-US" sz="1350" dirty="0"/>
          </a:p>
          <a:p>
            <a:pPr indent="0" marL="0">
              <a:buNone/>
            </a:pPr>
            <a:r>
              <a:rPr lang="en-US" sz="1100" i="1" dirty="0">
                <a:solidFill>
                  <a:srgbClr val="5A6472"/>
                </a:solidFill>
                <a:latin typeface="Calibri" pitchFamily="34" charset="0"/>
                <a:cs typeface="Amiri" pitchFamily="2" charset="-78"/>
              </a:rPr>
              <a:t>mā-dhā taq-ṣi-du?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تَقْصِدِينَ؟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do you mean? — f.</a:t>
            </a:r>
            <a:endParaRPr lang="en-US" sz="1350" dirty="0"/>
          </a:p>
          <a:p>
            <a:pPr indent="0" marL="0">
              <a:buNone/>
            </a:pPr>
            <a:r>
              <a:rPr lang="en-US" sz="1100" i="1" dirty="0">
                <a:solidFill>
                  <a:srgbClr val="5A6472"/>
                </a:solidFill>
                <a:latin typeface="Calibri" pitchFamily="34" charset="0"/>
                <a:cs typeface="Amiri" pitchFamily="2" charset="-78"/>
              </a:rPr>
              <a:t>mā-dhā taq-ṣi-dī-na?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تُوَضِّحَ؟</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can you clarify? — m.</a:t>
            </a:r>
            <a:endParaRPr lang="en-US" sz="1350" dirty="0"/>
          </a:p>
          <a:p>
            <a:pPr indent="0" marL="0">
              <a:buNone/>
            </a:pPr>
            <a:r>
              <a:rPr lang="en-US" sz="1100" i="1" dirty="0">
                <a:solidFill>
                  <a:srgbClr val="5A6472"/>
                </a:solidFill>
                <a:latin typeface="Calibri" pitchFamily="34" charset="0"/>
                <a:cs typeface="Amiri" pitchFamily="2" charset="-78"/>
              </a:rPr>
              <a:t>hal yum-ki-nu-ka an tu-waḍ-ḍi-ḥa?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تُوَضِّحِي؟</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can you clarify? — f.</a:t>
            </a:r>
            <a:endParaRPr lang="en-US" sz="1350" dirty="0"/>
          </a:p>
          <a:p>
            <a:pPr indent="0" marL="0">
              <a:buNone/>
            </a:pPr>
            <a:r>
              <a:rPr lang="en-US" sz="1100" i="1" dirty="0">
                <a:solidFill>
                  <a:srgbClr val="5A6472"/>
                </a:solidFill>
                <a:latin typeface="Calibri" pitchFamily="34" charset="0"/>
                <a:cs typeface="Amiri" pitchFamily="2" charset="-78"/>
              </a:rPr>
              <a:t>hal yum-ki-nu-ki an tu-waḍ-ḍi-ḥī?</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WHO ARE YOU ASKING?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a boy, a girl or a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أَنْتَ · أَنْتِ · أَنْتُمْ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a:t>
            </a:r>
            <a:endParaRPr lang="en-US" sz="1100" dirty="0"/>
          </a:p>
        </p:txBody>
      </p:sp>
      <p:sp>
        <p:nvSpPr>
          <p:cNvPr id="17" name="Text 14"/>
          <p:cNvSpPr txBox="1"/>
          <p:nvPr/>
        </p:nvSpPr>
        <p:spPr>
          <a:xfrm>
            <a:off x="57698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a:t>
            </a:r>
            <a:endParaRPr lang="en-US" sz="1100" dirty="0"/>
          </a:p>
        </p:txBody>
      </p:sp>
      <p:sp>
        <p:nvSpPr>
          <p:cNvPr id="18" name="Text 15"/>
          <p:cNvSpPr txBox="1"/>
          <p:nvPr/>
        </p:nvSpPr>
        <p:spPr>
          <a:xfrm>
            <a:off x="275234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group</a:t>
            </a:r>
            <a:endParaRPr lang="en-US" sz="1100" dirty="0"/>
          </a:p>
        </p:txBody>
      </p:sp>
      <p:sp>
        <p:nvSpPr>
          <p:cNvPr id="19" name="Text 16"/>
          <p:cNvSpPr txBox="1"/>
          <p:nvPr/>
        </p:nvSpPr>
        <p:spPr>
          <a:xfrm>
            <a:off x="53035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9711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مَاذَا تَفْعَلُ؟</a:t>
            </a:r>
            <a:endParaRPr lang="ar-SA" sz="2100" dirty="0"/>
          </a:p>
        </p:txBody>
      </p:sp>
      <p:sp>
        <p:nvSpPr>
          <p:cNvPr id="22" name="Text 19"/>
          <p:cNvSpPr txBox="1"/>
          <p:nvPr/>
        </p:nvSpPr>
        <p:spPr>
          <a:xfrm>
            <a:off x="8851392" y="2706624"/>
            <a:ext cx="2834640" cy="277978"/>
          </a:xfrm>
          <a:prstGeom prst="rect">
            <a:avLst/>
          </a:prstGeom>
          <a:noFill/>
          <a:ln/>
        </p:spPr>
        <p:txBody>
          <a:bodyPr wrap="square" lIns="0" tIns="0" rIns="0" bIns="0" rtlCol="0" anchor="ctr"/>
          <a:lstStyle/>
          <a:p>
            <a:pPr algn="ctr" indent="0" marL="0">
              <a:buNone/>
            </a:pPr>
            <a:r>
              <a:rPr lang="ar-SA" altLang="en-US" sz="1250" dirty="0">
                <a:solidFill>
                  <a:srgbClr val="5A6472"/>
                </a:solidFill>
                <a:latin typeface="Amiri" pitchFamily="2" charset="-78"/>
                <a:ea typeface="Amiri" pitchFamily="2" charset="-78"/>
                <a:cs typeface="Amiri" pitchFamily="2" charset="-78"/>
              </a:rPr>
              <a:t>أَنْتَ</a:t>
            </a:r>
            <a:endParaRPr lang="en-US" sz="950" dirty="0"/>
          </a:p>
        </p:txBody>
      </p:sp>
      <p:sp>
        <p:nvSpPr>
          <p:cNvPr id="23" name="Text 20"/>
          <p:cNvSpPr txBox="1"/>
          <p:nvPr/>
        </p:nvSpPr>
        <p:spPr>
          <a:xfrm>
            <a:off x="5788152" y="2286000"/>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مَاذَا تَفْعَلِ</a:t>
            </a:r>
            <a:pPr rtl="1" algn="ctr" indent="0" marL="0">
              <a:buNone/>
            </a:pPr>
            <a:r>
              <a:rPr lang="ar-SA" altLang="en-US" sz="2100" b="1" dirty="0">
                <a:solidFill>
                  <a:srgbClr val="D6336C"/>
                </a:solidFill>
                <a:latin typeface="Amiri" pitchFamily="2" charset="-78"/>
                <a:ea typeface="Amiri" pitchFamily="2" charset="-78"/>
                <a:cs typeface="Amiri" pitchFamily="2" charset="-78"/>
              </a:rPr>
              <a:t>ينَ</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4" name="Text 21"/>
          <p:cNvSpPr txBox="1"/>
          <p:nvPr/>
        </p:nvSpPr>
        <p:spPr>
          <a:xfrm>
            <a:off x="5742432" y="2706624"/>
            <a:ext cx="3017520" cy="277978"/>
          </a:xfrm>
          <a:prstGeom prst="rect">
            <a:avLst/>
          </a:prstGeom>
          <a:noFill/>
          <a:ln/>
        </p:spPr>
        <p:txBody>
          <a:bodyPr wrap="square" lIns="0" tIns="0" rIns="0" bIns="0" rtlCol="0" anchor="ctr"/>
          <a:lstStyle/>
          <a:p>
            <a:pPr algn="ctr" indent="0" marL="0">
              <a:buNone/>
            </a:pPr>
            <a:r>
              <a:rPr lang="ar-SA" altLang="en-US" sz="1250" dirty="0">
                <a:solidFill>
                  <a:srgbClr val="5A6472"/>
                </a:solidFill>
                <a:latin typeface="Amiri" pitchFamily="2" charset="-78"/>
                <a:ea typeface="Amiri" pitchFamily="2" charset="-78"/>
                <a:cs typeface="Amiri" pitchFamily="2" charset="-78"/>
              </a:rPr>
              <a:t>أَنْتِ</a:t>
            </a:r>
            <a:endParaRPr lang="en-US" sz="950" dirty="0"/>
          </a:p>
        </p:txBody>
      </p:sp>
      <p:sp>
        <p:nvSpPr>
          <p:cNvPr id="25" name="Text 22"/>
          <p:cNvSpPr txBox="1"/>
          <p:nvPr/>
        </p:nvSpPr>
        <p:spPr>
          <a:xfrm>
            <a:off x="277063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مَاذَا تَفْعَلُ</a:t>
            </a:r>
            <a:pPr rtl="1" algn="ctr" indent="0" marL="0">
              <a:buNone/>
            </a:pPr>
            <a:r>
              <a:rPr lang="ar-SA" altLang="en-US" sz="2100" b="1" dirty="0">
                <a:solidFill>
                  <a:srgbClr val="0E7C86"/>
                </a:solidFill>
                <a:latin typeface="Amiri" pitchFamily="2" charset="-78"/>
                <a:ea typeface="Amiri" pitchFamily="2" charset="-78"/>
                <a:cs typeface="Amiri" pitchFamily="2" charset="-78"/>
              </a:rPr>
              <a:t>ونَ</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6" name="Text 23"/>
          <p:cNvSpPr txBox="1"/>
          <p:nvPr/>
        </p:nvSpPr>
        <p:spPr>
          <a:xfrm>
            <a:off x="2724912" y="2706624"/>
            <a:ext cx="2926080" cy="277978"/>
          </a:xfrm>
          <a:prstGeom prst="rect">
            <a:avLst/>
          </a:prstGeom>
          <a:noFill/>
          <a:ln/>
        </p:spPr>
        <p:txBody>
          <a:bodyPr wrap="square" lIns="0" tIns="0" rIns="0" bIns="0" rtlCol="0" anchor="ctr"/>
          <a:lstStyle/>
          <a:p>
            <a:pPr algn="ctr" indent="0" marL="0">
              <a:buNone/>
            </a:pPr>
            <a:r>
              <a:rPr lang="ar-SA" altLang="en-US" sz="1250" dirty="0">
                <a:solidFill>
                  <a:srgbClr val="5A6472"/>
                </a:solidFill>
                <a:latin typeface="Amiri" pitchFamily="2" charset="-78"/>
                <a:ea typeface="Amiri" pitchFamily="2" charset="-78"/>
                <a:cs typeface="Amiri" pitchFamily="2" charset="-78"/>
              </a:rPr>
              <a:t>أَنْتُمْ</a:t>
            </a:r>
            <a:endParaRPr lang="en-US" sz="950" dirty="0"/>
          </a:p>
        </p:txBody>
      </p:sp>
      <p:sp>
        <p:nvSpPr>
          <p:cNvPr id="27" name="Text 24"/>
          <p:cNvSpPr txBox="1"/>
          <p:nvPr/>
        </p:nvSpPr>
        <p:spPr>
          <a:xfrm>
            <a:off x="566928" y="2267712"/>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8897112" y="3054096"/>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مَتَى تَسْتَيْقِظُ؟</a:t>
            </a:r>
            <a:endParaRPr lang="ar-SA" sz="2600" dirty="0"/>
          </a:p>
        </p:txBody>
      </p:sp>
      <p:sp>
        <p:nvSpPr>
          <p:cNvPr id="32" name="Text 29"/>
          <p:cNvSpPr txBox="1"/>
          <p:nvPr/>
        </p:nvSpPr>
        <p:spPr>
          <a:xfrm>
            <a:off x="5788152" y="3054096"/>
            <a:ext cx="29260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مَتَى تَسْتَيْقِظِ</a:t>
            </a:r>
            <a:pPr rtl="1" algn="ctr" indent="0" marL="0">
              <a:buNone/>
            </a:pPr>
            <a:r>
              <a:rPr lang="ar-SA" altLang="en-US" sz="2600" b="1" dirty="0">
                <a:solidFill>
                  <a:srgbClr val="D6336C"/>
                </a:solidFill>
                <a:latin typeface="Amiri" pitchFamily="2" charset="-78"/>
                <a:ea typeface="Amiri" pitchFamily="2" charset="-78"/>
                <a:cs typeface="Amiri" pitchFamily="2" charset="-78"/>
              </a:rPr>
              <a:t>ينَ</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33" name="Text 30"/>
          <p:cNvSpPr txBox="1"/>
          <p:nvPr/>
        </p:nvSpPr>
        <p:spPr>
          <a:xfrm>
            <a:off x="2770632" y="3054096"/>
            <a:ext cx="28346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مَتَى تَسْتَيْقِظُ</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34" name="Text 31"/>
          <p:cNvSpPr txBox="1"/>
          <p:nvPr/>
        </p:nvSpPr>
        <p:spPr>
          <a:xfrm>
            <a:off x="566928" y="3054096"/>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8897112" y="3840480"/>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كَيْفَ تَذْهَبُ؟</a:t>
            </a:r>
            <a:endParaRPr lang="ar-SA" sz="2600" dirty="0"/>
          </a:p>
        </p:txBody>
      </p:sp>
      <p:sp>
        <p:nvSpPr>
          <p:cNvPr id="39" name="Text 36"/>
          <p:cNvSpPr txBox="1"/>
          <p:nvPr/>
        </p:nvSpPr>
        <p:spPr>
          <a:xfrm>
            <a:off x="5788152" y="3840480"/>
            <a:ext cx="29260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كَيْفَ تَذْهَبِ</a:t>
            </a:r>
            <a:pPr rtl="1" algn="ctr" indent="0" marL="0">
              <a:buNone/>
            </a:pPr>
            <a:r>
              <a:rPr lang="ar-SA" altLang="en-US" sz="2600" b="1" dirty="0">
                <a:solidFill>
                  <a:srgbClr val="D6336C"/>
                </a:solidFill>
                <a:latin typeface="Amiri" pitchFamily="2" charset="-78"/>
                <a:ea typeface="Amiri" pitchFamily="2" charset="-78"/>
                <a:cs typeface="Amiri" pitchFamily="2" charset="-78"/>
              </a:rPr>
              <a:t>ينَ</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40" name="Text 37"/>
          <p:cNvSpPr txBox="1"/>
          <p:nvPr/>
        </p:nvSpPr>
        <p:spPr>
          <a:xfrm>
            <a:off x="2770632" y="3840480"/>
            <a:ext cx="28346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كَيْفَ تَذْهَبُ</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41" name="Text 38"/>
          <p:cNvSpPr txBox="1"/>
          <p:nvPr/>
        </p:nvSpPr>
        <p:spPr>
          <a:xfrm>
            <a:off x="566928" y="3840480"/>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a:t>
            </a:r>
            <a:endParaRPr lang="en-US" sz="110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8897112" y="4626864"/>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هَلْ تُسَاعِدُ أُسْرَتَ</a:t>
            </a:r>
            <a:pPr rtl="1" algn="ctr" indent="0" marL="0">
              <a:buNone/>
            </a:pPr>
            <a:r>
              <a:rPr lang="ar-SA" altLang="en-US" sz="2600" b="1" dirty="0">
                <a:solidFill>
                  <a:srgbClr val="1D5FBF"/>
                </a:solidFill>
                <a:latin typeface="Amiri" pitchFamily="2" charset="-78"/>
                <a:ea typeface="Amiri" pitchFamily="2" charset="-78"/>
                <a:cs typeface="Amiri" pitchFamily="2" charset="-78"/>
              </a:rPr>
              <a:t>كَ</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44" name="Text 41"/>
          <p:cNvSpPr txBox="1"/>
          <p:nvPr/>
        </p:nvSpPr>
        <p:spPr>
          <a:xfrm>
            <a:off x="5788152" y="4626864"/>
            <a:ext cx="29260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هَلْ تُسَاعِدِ</a:t>
            </a:r>
            <a:pPr rtl="1" algn="ctr" indent="0" marL="0">
              <a:buNone/>
            </a:pPr>
            <a:r>
              <a:rPr lang="ar-SA" altLang="en-US" sz="2600" b="1" dirty="0">
                <a:solidFill>
                  <a:srgbClr val="D6336C"/>
                </a:solidFill>
                <a:latin typeface="Amiri" pitchFamily="2" charset="-78"/>
                <a:ea typeface="Amiri" pitchFamily="2" charset="-78"/>
                <a:cs typeface="Amiri" pitchFamily="2" charset="-78"/>
              </a:rPr>
              <a:t>ينَ</a:t>
            </a:r>
            <a:pPr rtl="1" algn="ctr" indent="0" marL="0">
              <a:buNone/>
            </a:pPr>
            <a:r>
              <a:rPr lang="ar-SA" altLang="en-US" sz="2600" b="1" dirty="0">
                <a:solidFill>
                  <a:srgbClr val="1B3B6F"/>
                </a:solidFill>
                <a:latin typeface="Amiri" pitchFamily="2" charset="-78"/>
                <a:ea typeface="Amiri" pitchFamily="2" charset="-78"/>
                <a:cs typeface="Amiri" pitchFamily="2" charset="-78"/>
              </a:rPr>
              <a:t> أُسْرَتَ</a:t>
            </a:r>
            <a:pPr rtl="1" algn="ctr" indent="0" marL="0">
              <a:buNone/>
            </a:pPr>
            <a:r>
              <a:rPr lang="ar-SA" altLang="en-US" sz="2600" b="1" dirty="0">
                <a:solidFill>
                  <a:srgbClr val="D6336C"/>
                </a:solidFill>
                <a:latin typeface="Amiri" pitchFamily="2" charset="-78"/>
                <a:ea typeface="Amiri" pitchFamily="2" charset="-78"/>
                <a:cs typeface="Amiri" pitchFamily="2" charset="-78"/>
              </a:rPr>
              <a:t>كِ</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45" name="Text 42"/>
          <p:cNvSpPr txBox="1"/>
          <p:nvPr/>
        </p:nvSpPr>
        <p:spPr>
          <a:xfrm>
            <a:off x="2770632" y="4626864"/>
            <a:ext cx="28346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هَلْ تُسَاعِدُ</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pPr rtl="1" algn="ctr" indent="0" marL="0">
              <a:buNone/>
            </a:pPr>
            <a:r>
              <a:rPr lang="ar-SA" altLang="en-US" sz="2600" b="1" dirty="0">
                <a:solidFill>
                  <a:srgbClr val="1B3B6F"/>
                </a:solidFill>
                <a:latin typeface="Amiri" pitchFamily="2" charset="-78"/>
                <a:ea typeface="Amiri" pitchFamily="2" charset="-78"/>
                <a:cs typeface="Amiri" pitchFamily="2" charset="-78"/>
              </a:rPr>
              <a:t> أُسْرَتَ</a:t>
            </a:r>
            <a:pPr rtl="1" algn="ctr" indent="0" marL="0">
              <a:buNone/>
            </a:pPr>
            <a:r>
              <a:rPr lang="ar-SA" altLang="en-US" sz="2600" b="1" dirty="0">
                <a:solidFill>
                  <a:srgbClr val="0E7C86"/>
                </a:solidFill>
                <a:latin typeface="Amiri" pitchFamily="2" charset="-78"/>
                <a:ea typeface="Amiri" pitchFamily="2" charset="-78"/>
                <a:cs typeface="Amiri" pitchFamily="2" charset="-78"/>
              </a:rPr>
              <a:t>كُمْ</a:t>
            </a:r>
            <a:pPr rtl="1" algn="ctr" indent="0" marL="0">
              <a:buNone/>
            </a:pPr>
            <a:r>
              <a:rPr lang="ar-SA" altLang="en-US" sz="2600" b="1" dirty="0">
                <a:solidFill>
                  <a:srgbClr val="1B3B6F"/>
                </a:solidFill>
                <a:latin typeface="Amiri" pitchFamily="2" charset="-78"/>
                <a:ea typeface="Amiri" pitchFamily="2" charset="-78"/>
                <a:cs typeface="Amiri" pitchFamily="2" charset="-78"/>
              </a:rPr>
              <a:t>؟</a:t>
            </a:r>
            <a:endParaRPr lang="ar-SA" sz="2600" dirty="0"/>
          </a:p>
        </p:txBody>
      </p:sp>
      <p:sp>
        <p:nvSpPr>
          <p:cNvPr id="46" name="Text 43"/>
          <p:cNvSpPr txBox="1"/>
          <p:nvPr/>
        </p:nvSpPr>
        <p:spPr>
          <a:xfrm>
            <a:off x="566928" y="4626864"/>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help your family?</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by the LISTENER, not by yourself: a boy asking a girl still says -īna.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2 · MATCH THE QUESTION WORD TO THE ANSWER (WEBSITE TABLE)</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Every question word wants a different answer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السُّؤَالُ وَالجَوَابُ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a:t>
            </a:r>
            <a:endParaRPr lang="en-US" sz="1100" dirty="0"/>
          </a:p>
        </p:txBody>
      </p:sp>
      <p:sp>
        <p:nvSpPr>
          <p:cNvPr id="17" name="Text 14"/>
          <p:cNvSpPr txBox="1"/>
          <p:nvPr/>
        </p:nvSpPr>
        <p:spPr>
          <a:xfrm>
            <a:off x="59527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 shape</a:t>
            </a:r>
            <a:endParaRPr lang="en-US" sz="1100" dirty="0"/>
          </a:p>
        </p:txBody>
      </p:sp>
      <p:sp>
        <p:nvSpPr>
          <p:cNvPr id="18" name="Text 15"/>
          <p:cNvSpPr txBox="1"/>
          <p:nvPr/>
        </p:nvSpPr>
        <p:spPr>
          <a:xfrm>
            <a:off x="266090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answer</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Asks for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79992" y="2286000"/>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مَتَى؟</a:t>
            </a:r>
            <a:endParaRPr lang="ar-SA" sz="1950" dirty="0"/>
          </a:p>
        </p:txBody>
      </p:sp>
      <p:sp>
        <p:nvSpPr>
          <p:cNvPr id="22" name="Text 19"/>
          <p:cNvSpPr txBox="1"/>
          <p:nvPr/>
        </p:nvSpPr>
        <p:spPr>
          <a:xfrm>
            <a:off x="9034272" y="2676997"/>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when?</a:t>
            </a:r>
            <a:endParaRPr lang="en-US" sz="950" dirty="0"/>
          </a:p>
        </p:txBody>
      </p:sp>
      <p:sp>
        <p:nvSpPr>
          <p:cNvPr id="23" name="Text 20"/>
          <p:cNvSpPr txBox="1"/>
          <p:nvPr/>
        </p:nvSpPr>
        <p:spPr>
          <a:xfrm>
            <a:off x="5971032"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السَّاعَةِ …</a:t>
            </a:r>
            <a:endParaRPr lang="ar-SA" sz="2400" dirty="0"/>
          </a:p>
        </p:txBody>
      </p:sp>
      <p:sp>
        <p:nvSpPr>
          <p:cNvPr id="24" name="Text 21"/>
          <p:cNvSpPr txBox="1"/>
          <p:nvPr/>
        </p:nvSpPr>
        <p:spPr>
          <a:xfrm>
            <a:off x="2679192" y="2286000"/>
            <a:ext cx="31089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السَّادِسَةِ وَالنِّصْفِ.</a:t>
            </a:r>
            <a:endParaRPr lang="ar-SA" sz="1950" dirty="0"/>
          </a:p>
        </p:txBody>
      </p:sp>
      <p:sp>
        <p:nvSpPr>
          <p:cNvPr id="25" name="Text 22"/>
          <p:cNvSpPr txBox="1"/>
          <p:nvPr/>
        </p:nvSpPr>
        <p:spPr>
          <a:xfrm>
            <a:off x="2633472" y="2676997"/>
            <a:ext cx="3200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half past six</a:t>
            </a:r>
            <a:endParaRPr lang="en-US" sz="950" dirty="0"/>
          </a:p>
        </p:txBody>
      </p:sp>
      <p:sp>
        <p:nvSpPr>
          <p:cNvPr id="26" name="Text 23"/>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time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079992" y="3023006"/>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كَمْ مَرَّةً؟</a:t>
            </a:r>
            <a:endParaRPr lang="ar-SA" sz="1950" dirty="0"/>
          </a:p>
        </p:txBody>
      </p:sp>
      <p:sp>
        <p:nvSpPr>
          <p:cNvPr id="31" name="Text 28"/>
          <p:cNvSpPr txBox="1"/>
          <p:nvPr/>
        </p:nvSpPr>
        <p:spPr>
          <a:xfrm>
            <a:off x="9034272" y="3414004"/>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often?</a:t>
            </a:r>
            <a:endParaRPr lang="en-US" sz="950" dirty="0"/>
          </a:p>
        </p:txBody>
      </p:sp>
      <p:sp>
        <p:nvSpPr>
          <p:cNvPr id="32" name="Text 29"/>
          <p:cNvSpPr txBox="1"/>
          <p:nvPr/>
        </p:nvSpPr>
        <p:spPr>
          <a:xfrm>
            <a:off x="5971032"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مَرَّةً / مَرَّتَيْنِ …</a:t>
            </a:r>
            <a:endParaRPr lang="ar-SA" sz="2400" dirty="0"/>
          </a:p>
        </p:txBody>
      </p:sp>
      <p:sp>
        <p:nvSpPr>
          <p:cNvPr id="33" name="Text 30"/>
          <p:cNvSpPr txBox="1"/>
          <p:nvPr/>
        </p:nvSpPr>
        <p:spPr>
          <a:xfrm>
            <a:off x="2679192" y="3023006"/>
            <a:ext cx="31089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مَرَّتَيْنِ فِي الأُسْبُوعِ.</a:t>
            </a:r>
            <a:endParaRPr lang="ar-SA" sz="1950" dirty="0"/>
          </a:p>
        </p:txBody>
      </p:sp>
      <p:sp>
        <p:nvSpPr>
          <p:cNvPr id="34" name="Text 31"/>
          <p:cNvSpPr txBox="1"/>
          <p:nvPr/>
        </p:nvSpPr>
        <p:spPr>
          <a:xfrm>
            <a:off x="2633472" y="3414004"/>
            <a:ext cx="3200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twice a week</a:t>
            </a:r>
            <a:endParaRPr lang="en-US" sz="950" dirty="0"/>
          </a:p>
        </p:txBody>
      </p:sp>
      <p:sp>
        <p:nvSpPr>
          <p:cNvPr id="35" name="Text 32"/>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frequency</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079992" y="3760013"/>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كَيْفَ؟</a:t>
            </a:r>
            <a:endParaRPr lang="ar-SA" sz="1950" dirty="0"/>
          </a:p>
        </p:txBody>
      </p:sp>
      <p:sp>
        <p:nvSpPr>
          <p:cNvPr id="40" name="Text 37"/>
          <p:cNvSpPr txBox="1"/>
          <p:nvPr/>
        </p:nvSpPr>
        <p:spPr>
          <a:xfrm>
            <a:off x="9034272" y="4151010"/>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a:t>
            </a:r>
            <a:endParaRPr lang="en-US" sz="950" dirty="0"/>
          </a:p>
        </p:txBody>
      </p:sp>
      <p:sp>
        <p:nvSpPr>
          <p:cNvPr id="41" name="Text 38"/>
          <p:cNvSpPr txBox="1"/>
          <p:nvPr/>
        </p:nvSpPr>
        <p:spPr>
          <a:xfrm>
            <a:off x="5971032"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بِـ … / مَشْيًا</a:t>
            </a:r>
            <a:endParaRPr lang="ar-SA" sz="2400" dirty="0"/>
          </a:p>
        </p:txBody>
      </p:sp>
      <p:sp>
        <p:nvSpPr>
          <p:cNvPr id="42" name="Text 39"/>
          <p:cNvSpPr txBox="1"/>
          <p:nvPr/>
        </p:nvSpPr>
        <p:spPr>
          <a:xfrm>
            <a:off x="2679192" y="3760013"/>
            <a:ext cx="31089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بِالحَافِلَةِ.</a:t>
            </a:r>
            <a:endParaRPr lang="ar-SA" sz="1950" dirty="0"/>
          </a:p>
        </p:txBody>
      </p:sp>
      <p:sp>
        <p:nvSpPr>
          <p:cNvPr id="43" name="Text 40"/>
          <p:cNvSpPr txBox="1"/>
          <p:nvPr/>
        </p:nvSpPr>
        <p:spPr>
          <a:xfrm>
            <a:off x="2633472" y="4151010"/>
            <a:ext cx="3200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by bus</a:t>
            </a:r>
            <a:endParaRPr lang="en-US" sz="950" dirty="0"/>
          </a:p>
        </p:txBody>
      </p:sp>
      <p:sp>
        <p:nvSpPr>
          <p:cNvPr id="44" name="Text 41"/>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method</a:t>
            </a:r>
            <a:endParaRPr lang="en-US" sz="1100" dirty="0"/>
          </a:p>
        </p:txBody>
      </p:sp>
      <p:sp>
        <p:nvSpPr>
          <p:cNvPr id="45" name="Shape 4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8" name="Text 45"/>
          <p:cNvSpPr txBox="1"/>
          <p:nvPr/>
        </p:nvSpPr>
        <p:spPr>
          <a:xfrm>
            <a:off x="9079992" y="4497019"/>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لِمَاذَا؟</a:t>
            </a:r>
            <a:endParaRPr lang="ar-SA" sz="1950" dirty="0"/>
          </a:p>
        </p:txBody>
      </p:sp>
      <p:sp>
        <p:nvSpPr>
          <p:cNvPr id="49" name="Text 46"/>
          <p:cNvSpPr txBox="1"/>
          <p:nvPr/>
        </p:nvSpPr>
        <p:spPr>
          <a:xfrm>
            <a:off x="9034272" y="4888017"/>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why?</a:t>
            </a:r>
            <a:endParaRPr lang="en-US" sz="950" dirty="0"/>
          </a:p>
        </p:txBody>
      </p:sp>
      <p:sp>
        <p:nvSpPr>
          <p:cNvPr id="50" name="Text 47"/>
          <p:cNvSpPr txBox="1"/>
          <p:nvPr/>
        </p:nvSpPr>
        <p:spPr>
          <a:xfrm>
            <a:off x="5971032"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لِأَنَّ …</a:t>
            </a:r>
            <a:endParaRPr lang="ar-SA" sz="2400" dirty="0"/>
          </a:p>
        </p:txBody>
      </p:sp>
      <p:sp>
        <p:nvSpPr>
          <p:cNvPr id="51" name="Text 48"/>
          <p:cNvSpPr txBox="1"/>
          <p:nvPr/>
        </p:nvSpPr>
        <p:spPr>
          <a:xfrm>
            <a:off x="2679192" y="4497019"/>
            <a:ext cx="31089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لِأَنَّ المَدْرَسَةَ بَعِيدَةٌ.</a:t>
            </a:r>
            <a:endParaRPr lang="ar-SA" sz="1950" dirty="0"/>
          </a:p>
        </p:txBody>
      </p:sp>
      <p:sp>
        <p:nvSpPr>
          <p:cNvPr id="52" name="Text 49"/>
          <p:cNvSpPr txBox="1"/>
          <p:nvPr/>
        </p:nvSpPr>
        <p:spPr>
          <a:xfrm>
            <a:off x="2633472" y="4888017"/>
            <a:ext cx="3200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school is far</a:t>
            </a:r>
            <a:endParaRPr lang="en-US" sz="950" dirty="0"/>
          </a:p>
        </p:txBody>
      </p:sp>
      <p:sp>
        <p:nvSpPr>
          <p:cNvPr id="53" name="Text 50"/>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reason</a:t>
            </a:r>
            <a:endParaRPr lang="en-US" sz="1100" dirty="0"/>
          </a:p>
        </p:txBody>
      </p:sp>
      <p:sp>
        <p:nvSpPr>
          <p:cNvPr id="54" name="Shape 5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Shape 5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7" name="Text 54"/>
          <p:cNvSpPr txBox="1"/>
          <p:nvPr/>
        </p:nvSpPr>
        <p:spPr>
          <a:xfrm>
            <a:off x="9079992" y="5234026"/>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كَمْ مِنَ الوَقْتِ؟</a:t>
            </a:r>
            <a:endParaRPr lang="ar-SA" sz="1950" dirty="0"/>
          </a:p>
        </p:txBody>
      </p:sp>
      <p:sp>
        <p:nvSpPr>
          <p:cNvPr id="58" name="Text 55"/>
          <p:cNvSpPr txBox="1"/>
          <p:nvPr/>
        </p:nvSpPr>
        <p:spPr>
          <a:xfrm>
            <a:off x="9034272" y="5625023"/>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long?</a:t>
            </a:r>
            <a:endParaRPr lang="en-US" sz="950" dirty="0"/>
          </a:p>
        </p:txBody>
      </p:sp>
      <p:sp>
        <p:nvSpPr>
          <p:cNvPr id="59" name="Text 56"/>
          <p:cNvSpPr txBox="1"/>
          <p:nvPr/>
        </p:nvSpPr>
        <p:spPr>
          <a:xfrm>
            <a:off x="5971032"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لِمُدَّةِ …</a:t>
            </a:r>
            <a:endParaRPr lang="ar-SA" sz="2400" dirty="0"/>
          </a:p>
        </p:txBody>
      </p:sp>
      <p:sp>
        <p:nvSpPr>
          <p:cNvPr id="60" name="Text 57"/>
          <p:cNvSpPr txBox="1"/>
          <p:nvPr/>
        </p:nvSpPr>
        <p:spPr>
          <a:xfrm>
            <a:off x="2679192" y="5234026"/>
            <a:ext cx="31089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لِمُدَّةِ سَاعَةٍ.</a:t>
            </a:r>
            <a:endParaRPr lang="ar-SA" sz="1950" dirty="0"/>
          </a:p>
        </p:txBody>
      </p:sp>
      <p:sp>
        <p:nvSpPr>
          <p:cNvPr id="61" name="Text 58"/>
          <p:cNvSpPr txBox="1"/>
          <p:nvPr/>
        </p:nvSpPr>
        <p:spPr>
          <a:xfrm>
            <a:off x="2633472" y="5625023"/>
            <a:ext cx="3200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 an hour</a:t>
            </a:r>
            <a:endParaRPr lang="en-US" sz="950" dirty="0"/>
          </a:p>
        </p:txBody>
      </p:sp>
      <p:sp>
        <p:nvSpPr>
          <p:cNvPr id="62" name="Text 59"/>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duration</a:t>
            </a:r>
            <a:endParaRPr lang="en-US" sz="11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in a full sentence: “I train twice a week because …” — not just “twice”.</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BUILD A FOLLOW-UP FROM THE ANSWER (WEBSITE)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pick one detail, ask again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سُؤَالُ المُتَابَعَةِ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 · DEVELOP</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كَمْ مَرَّةً؟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أَتَمَرَّنُ بَعْدَ المَدْرَسَةِ. — كَمْ مَرَّةً؟</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after school. — How often?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Detail: frequency.</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WHY?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لِمَاذَا؟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أَذْهَبُ بِالحَافِلَةِ. — لِمَاذَا لَا تَمْشِي؟</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go by bus. — Why don’t you walk?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Detail: reason.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EVALUATE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مَا أَصْعَبُ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رُوتِينِي مُزْدَحِمٌ. — مَا أَصْعَبُ جُزْءٍ فِيهِ؟</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routine is busy. — What is the hardest part?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Detail: opinion.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tip: a follow-up stays on the SAME topic.</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أَقْرَأُ كُلَّ مَسَاءٍ. — مَاذَا تَقْرَأُ؟</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أَقْرَأُ كُلَّ مَسَاءٍ. — أَيْنَ المَحَطَّةُ؟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Second-person present forms and question architecture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صِيَغُ المُخَاطَبِ وَبِنَاءُ السُّؤَالِ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Ask a masculine listener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أَنْتَ تَفْعَلُ / تَسْتَيْقِظُ / تَذْهَبُ</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مَاذَا تَفْعَلُ بَعْدَ المَدْرَسَةِ؟   ·   مَتَى تَسْتَيْقِظُ؟   ·   كَيْفَ تَذْهَبُ إِلَى المَدْرَسَةِ؟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a feminine listener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أَنْتِ تَفْعَلِينَ / تَسْتَيْقِظِينَ / تَذْهَبِينَ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مَاذَا تَفْعَلِينَ فِي المَسَاءِ؟   ·   كَمْ مَرَّةً تَتَمَرَّنِينَ؟   ·   مَتَى تَنَامِينَ؟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question word to the answer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مَتَى</a:t>
            </a:r>
            <a:pPr algn="l" indent="0" marL="0">
              <a:buNone/>
            </a:pPr>
            <a:r>
              <a:rPr lang="en-US" sz="1050" dirty="0">
                <a:solidFill>
                  <a:srgbClr val="5A6472"/>
                </a:solidFill>
                <a:latin typeface="Calibri" pitchFamily="34" charset="0"/>
                <a:cs typeface="Amiri" pitchFamily="2" charset="-78"/>
              </a:rPr>
              <a:t> → time · </a:t>
            </a:r>
            <a:pPr algn="l" indent="0" marL="0">
              <a:buNone/>
            </a:pPr>
            <a:r>
              <a:rPr lang="ar-SA" altLang="en-US" sz="1350" dirty="0">
                <a:solidFill>
                  <a:srgbClr val="5A6472"/>
                </a:solidFill>
                <a:latin typeface="Amiri" pitchFamily="2" charset="-78"/>
                <a:ea typeface="Amiri" pitchFamily="2" charset="-78"/>
                <a:cs typeface="Amiri" pitchFamily="2" charset="-78"/>
              </a:rPr>
              <a:t>كَمْ مَرَّةً</a:t>
            </a:r>
            <a:pPr algn="l" indent="0" marL="0">
              <a:buNone/>
            </a:pPr>
            <a:r>
              <a:rPr lang="en-US" sz="1050" dirty="0">
                <a:solidFill>
                  <a:srgbClr val="5A6472"/>
                </a:solidFill>
                <a:latin typeface="Calibri" pitchFamily="34" charset="0"/>
                <a:cs typeface="Amiri" pitchFamily="2" charset="-78"/>
              </a:rPr>
              <a:t> → frequency · </a:t>
            </a:r>
            <a:pPr algn="l" indent="0" marL="0">
              <a:buNone/>
            </a:pPr>
            <a:r>
              <a:rPr lang="ar-SA" altLang="en-US" sz="1350" dirty="0">
                <a:solidFill>
                  <a:srgbClr val="5A6472"/>
                </a:solidFill>
                <a:latin typeface="Amiri" pitchFamily="2" charset="-78"/>
                <a:ea typeface="Amiri" pitchFamily="2" charset="-78"/>
                <a:cs typeface="Amiri" pitchFamily="2" charset="-78"/>
              </a:rPr>
              <a:t>لِمَاذَا</a:t>
            </a:r>
            <a:pPr algn="l" indent="0" marL="0">
              <a:buNone/>
            </a:pPr>
            <a:r>
              <a:rPr lang="en-US" sz="1050" dirty="0">
                <a:solidFill>
                  <a:srgbClr val="5A6472"/>
                </a:solidFill>
                <a:latin typeface="Calibri" pitchFamily="34" charset="0"/>
                <a:cs typeface="Amiri" pitchFamily="2" charset="-78"/>
              </a:rPr>
              <a:t> → reason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مَتَى تَعُودُ؟ — فِي الرَّابِعَةِ.   ·   كَمْ مَرَّةً تَقْرَأِينَ؟ — مَرَّتَيْنِ.   ·   لِمَاذَا تَسْتَيْقِظُ مُبَكِّرًا؟ — لِأَنَّ...</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Build a follow-up from the answer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إِجَابَةٌ → سُؤَالُ تَفْصِيلٍ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أَتَمَرَّنُ بَعْدَ المَدْرَسَةِ. — كَمْ مَرَّةً؟   ·   أَذْهَبُ بِالحَافِلَةِ. — لِمَاذَا لَا تَمْشِي؟   ·   رُوتِينِي مُزْدَحِمٌ. — مَا أَصْعَبُ جُزْءٍ فِيهِ؟</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“What do you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يَفْعَلُ؟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“When do you wake up?”</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تَسْتَيْقِظِينَ؟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تَسْتَيْقِظُ؟</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يَسْتَيْقِظُ؟</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frequency?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تَتَمَرَّنُ؟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تَتَمَرَّنُ؟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تَتَمَرَّنُ؟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a:t>
            </a:r>
            <a:pPr algn="l" indent="0" marL="0">
              <a:buNone/>
            </a:pPr>
            <a:r>
              <a:rPr lang="ar-SA" altLang="en-US" sz="1650" b="1" dirty="0">
                <a:solidFill>
                  <a:srgbClr val="1B3B6F"/>
                </a:solidFill>
                <a:latin typeface="Amiri" pitchFamily="2" charset="-78"/>
                <a:ea typeface="Amiri" pitchFamily="2" charset="-78"/>
                <a:cs typeface="Amiri" pitchFamily="2" charset="-78"/>
              </a:rPr>
              <a:t>لِمَاذَا؟</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أُرِيدُ أَنْ أَكُونَ نَشِيطًا.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السَّادِسَةِ.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“What do you do?”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تَفْعَلِينَ؟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يَفْعَلُ؟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تَفْعَلُ؟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second-person form is </a:t>
            </a:r>
            <a:pPr algn="l" indent="0" marL="0">
              <a:buNone/>
            </a:pPr>
            <a:r>
              <a:rPr lang="ar-SA" altLang="en-US" sz="1350" dirty="0">
                <a:solidFill>
                  <a:srgbClr val="8A6D1E"/>
                </a:solidFill>
                <a:latin typeface="Amiri" pitchFamily="2" charset="-78"/>
                <a:ea typeface="Amiri" pitchFamily="2" charset="-78"/>
                <a:cs typeface="Amiri" pitchFamily="2" charset="-78"/>
              </a:rPr>
              <a:t>تَفْعَلُ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“When do you wake up?”</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مَتَى تَسْتَيْقِظِينَ؟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تَسْتَيْقِظُ؟</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يَسْتَيْقِظُ؟</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second-person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frequency?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تَتَمَرَّنُ؟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مَرَّةً تَتَمَرَّنُ؟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تَتَمَرَّنُ؟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how often.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a:t>
            </a:r>
            <a:pPr algn="l" indent="0" marL="0">
              <a:buNone/>
            </a:pPr>
            <a:r>
              <a:rPr lang="ar-SA" altLang="en-US" sz="1650" b="1" dirty="0">
                <a:solidFill>
                  <a:srgbClr val="1B3B6F"/>
                </a:solidFill>
                <a:latin typeface="Amiri" pitchFamily="2" charset="-78"/>
                <a:ea typeface="Amiri" pitchFamily="2" charset="-78"/>
                <a:cs typeface="Amiri" pitchFamily="2" charset="-78"/>
              </a:rPr>
              <a:t>لِمَاذَا؟</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لِأَنَّنِي أُرِيدُ أَنْ أَكُونَ نَشِيطًا.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السَّادِسَةِ.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مَرَّاتٍ.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لِمَاذَا</a:t>
            </a:r>
            <a:pPr algn="l" indent="0" marL="0">
              <a:buNone/>
            </a:pPr>
            <a:r>
              <a:rPr lang="en-US" sz="1050" i="1" dirty="0">
                <a:solidFill>
                  <a:srgbClr val="8A6D1E"/>
                </a:solidFill>
                <a:latin typeface="Calibri" pitchFamily="34" charset="0"/>
                <a:cs typeface="Amiri" pitchFamily="2" charset="-78"/>
              </a:rPr>
              <a:t> expects a reason.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interview a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مَتَى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تَسْتَيْقِظِ</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أَسْتَيْقِظُ فِي السَّادِسَةِ.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girl → -īna. When → a time.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Method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كَيْفَ</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تَذْهَبِ</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إِلَى المَدْرَسَةِ؟ — مَشْيًا.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 a method.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Follow-up</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لِمَاذَا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تَمْشِ</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لِأَنَّ المَدْرَسَةَ قَرِيبَةٌ.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detail → why?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تَسْتَيْقِظُ فِي السَّادِسَةِ وَتَمْشِي لِأَنَّ مَدْرَسَتَ</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قَرِيبَةٌ.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Profile: you → she (D1-L06).</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QUESTION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GIRL 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 HER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مَتَى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تَسْتَيْقِظِ</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 أَسْتَيْقِظُ فِي السَّادِسَةِ.  أ: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كَيْفَ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تَذْهَبِ</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إِلَى المَدْرَسَةِ؟  ب: أَمْشِي.  أ: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لِمَاذَا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 لِأَنَّ المَدْرَسَةَ قَرِيبَةٌ.  ← تَسْتَيْقِظُ سَلْمَى فِي السَّادِسَةِ، وَتَمْشِي إِلَى المَدْرَسَةِ لِأَنَّ مَدْرَسَتَ</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قَرِيبَةٌ.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When do you wake up? B: I wake up at six. A: How do you go to school? B: I walk. A: Why? B: Because school is near. → Salma wakes up at six and walks to school because her school is near.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مَتَى تَسْتَيْقِظِينَ فِي أَيَّامِ الدِّرَاسَةِ؟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When do you wake on school days? — to a girl</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ending ـين.</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مَرَّةً تَتَمَرَّنُ فِي الأُسْبُوعِ؟</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often do you train each week? — to a boy</a:t>
            </a:r>
            <a:endParaRPr lang="en-US" sz="1250" dirty="0"/>
          </a:p>
          <a:p>
            <a:pPr indent="0" marL="0">
              <a:buNone/>
            </a:pPr>
            <a:r>
              <a:rPr lang="en-US" sz="1050" i="1" dirty="0">
                <a:solidFill>
                  <a:srgbClr val="8A6D1E"/>
                </a:solidFill>
                <a:latin typeface="Calibri" pitchFamily="34" charset="0"/>
                <a:cs typeface="Amiri" pitchFamily="2" charset="-78"/>
              </a:rPr>
              <a:t>Frequency question.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أَخْبِرِينِي أَكْثَرَ عَنْ رُوتِينِكِ.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Tell me more about your routine — to a girl.</a:t>
            </a:r>
            <a:endParaRPr lang="en-US" sz="1250" dirty="0"/>
          </a:p>
          <a:p>
            <a:pPr indent="0" marL="0">
              <a:buNone/>
            </a:pPr>
            <a:r>
              <a:rPr lang="en-US" sz="1050" i="1" dirty="0">
                <a:solidFill>
                  <a:srgbClr val="8A6D1E"/>
                </a:solidFill>
                <a:latin typeface="Calibri" pitchFamily="34" charset="0"/>
                <a:cs typeface="Amiri" pitchFamily="2" charset="-78"/>
              </a:rPr>
              <a:t>Interview extension.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لِمَاذَا تُفَضِّلُ هٰذَا الوَقْتَ؟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Why do you prefer this time? — to a boy.</a:t>
            </a:r>
            <a:endParaRPr lang="en-US" sz="1250" dirty="0"/>
          </a:p>
          <a:p>
            <a:pPr indent="0" marL="0">
              <a:buNone/>
            </a:pPr>
            <a:r>
              <a:rPr lang="en-US" sz="1050" i="1" dirty="0">
                <a:solidFill>
                  <a:srgbClr val="8A6D1E"/>
                </a:solidFill>
                <a:latin typeface="Calibri" pitchFamily="34" charset="0"/>
                <a:cs typeface="Amiri" pitchFamily="2" charset="-78"/>
              </a:rPr>
              <a:t>Reason follow-up.</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TURN THE WEBSITE PICTURE-GAME SENTENCES INTO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Statement →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GIRL about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أَسْتَيْقِظُ فِي السَّادِسَةِ.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تَسْتَيْقِظُ؟</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تَسْتَيْقِظِينَ؟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تَسْتَيْقِظِينَ؟</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BOY about this.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أَذْهَبُ إِلَى المَدْرَسَةِ بِالحَافِلَةِ.</a:t>
            </a:r>
            <a:endParaRPr lang="ar-SA" sz="11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تَذْهَبِينَ إِلَى المَدْرَسَةِ؟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 إِلَى المَدْرَسَةِ؟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تَذْهَبُ إِلَى المَدْرَسَةِ؟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GIRL about this.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أَدْرُسُ بَعْدَ المَدْرَسَةِ ثَلَاثَ مَرَّاتٍ.</a:t>
            </a:r>
            <a:endParaRPr lang="ar-SA" sz="11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تَدْرُسُ بَعْدَ المَدْرَسَةِ؟</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تَدْرُسِينَ بَعْدَ المَدْرَسَةِ؟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مَنْ تَدْرُسِينَ؟</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BOY about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أَنَامُ مُبَكِّرًا لِأَنَّنِي مُتْعَبٌ.</a:t>
            </a:r>
            <a:endParaRPr lang="ar-SA" sz="14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تَنَامِينَ مُبَكِّرًا؟</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تَنَامُ؟</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تَنَامُ مُبَكِّرًا؟</a:t>
            </a:r>
            <a:endParaRPr lang="ar-SA" sz="2050" dirty="0"/>
          </a:p>
        </p:txBody>
      </p:sp>
      <p:sp>
        <p:nvSpPr>
          <p:cNvPr id="71" name="Shape 68"/>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4" name="Text 71"/>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Step 1: which information? (time, how, how often, why)</a:t>
            </a:r>
            <a:endParaRPr lang="en-US" sz="1250" dirty="0"/>
          </a:p>
          <a:p>
            <a:pPr algn="l" indent="0" marL="0">
              <a:buNone/>
            </a:pPr>
            <a:r>
              <a:rPr lang="en-US" sz="1250" dirty="0">
                <a:solidFill>
                  <a:srgbClr val="1E6B52"/>
                </a:solidFill>
                <a:latin typeface="Calibri" pitchFamily="34" charset="0"/>
                <a:cs typeface="Amiri" pitchFamily="2" charset="-78"/>
              </a:rPr>
              <a:t>Step 2: boy or girl? Girl → add -īna.</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STATEMENT → QUESTION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Statement → question: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GIRL about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أَسْتَيْقِظُ فِي السَّادِسَةِ.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تَسْتَيْقِظُ؟</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تَسْتَيْقِظِينَ؟</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مَتَى تَسْتَيْقِظِينَ؟</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Time → </a:t>
            </a:r>
            <a:pPr algn="l" indent="0" marL="0">
              <a:buNone/>
            </a:pPr>
            <a:r>
              <a:rPr lang="ar-SA" altLang="en-US" sz="1350" dirty="0">
                <a:solidFill>
                  <a:srgbClr val="8A6D1E"/>
                </a:solidFill>
                <a:latin typeface="Amiri" pitchFamily="2" charset="-78"/>
                <a:ea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girl → -īna.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BOY about this.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أَذْهَبُ إِلَى المَدْرَسَةِ بِالحَافِلَةِ.</a:t>
            </a:r>
            <a:endParaRPr lang="ar-SA" sz="11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تَذْهَبِينَ إِلَى المَدْرَسَةِ؟</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تَذْهَبُ إِلَى المَدْرَسَةِ؟</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تَذْهَبُ إِلَى المَدْرَسَةِ؟</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Method → </a:t>
            </a:r>
            <a:pPr algn="l" indent="0" marL="0">
              <a:buNone/>
            </a:pPr>
            <a:r>
              <a:rPr lang="ar-SA" altLang="en-US" sz="1350" dirty="0">
                <a:solidFill>
                  <a:srgbClr val="8A6D1E"/>
                </a:solidFill>
                <a:latin typeface="Amiri" pitchFamily="2" charset="-78"/>
                <a:ea typeface="Amiri" pitchFamily="2" charset="-78"/>
                <a:cs typeface="Amiri" pitchFamily="2" charset="-78"/>
              </a:rPr>
              <a:t>كَيْفَ</a:t>
            </a:r>
            <a:pPr algn="l" indent="0" marL="0">
              <a:buNone/>
            </a:pPr>
            <a:r>
              <a:rPr lang="en-US" sz="1050" i="1" dirty="0">
                <a:solidFill>
                  <a:srgbClr val="8A6D1E"/>
                </a:solidFill>
                <a:latin typeface="Calibri" pitchFamily="34" charset="0"/>
                <a:cs typeface="Amiri" pitchFamily="2" charset="-78"/>
              </a:rPr>
              <a:t>; boy → no ending.</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GIRL about this.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أَدْرُسُ بَعْدَ المَدْرَسَةِ ثَلَاثَ مَرَّاتٍ.</a:t>
            </a:r>
            <a:endParaRPr lang="ar-SA" sz="115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مَرَّةً تَدْرُسُ بَعْدَ المَدْرَسَةِ؟</a:t>
            </a:r>
            <a:endParaRPr lang="ar-SA" sz="170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مَرَّةً تَدْرُسِينَ بَعْدَ المَدْرَسَةِ؟</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مَنْ تَدْرُسِينَ؟</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Frequency → </a:t>
            </a:r>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Ask a BOY about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أَنَامُ مُبَكِّرًا لِأَنَّنِي مُتْعَبٌ.</a:t>
            </a:r>
            <a:endParaRPr lang="ar-SA" sz="14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تَنَامِينَ مُبَكِّرًا؟</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تَنَامُ؟</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لِمَاذَا تَنَامُ مُبَكِّرًا؟</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Reason → </a:t>
            </a:r>
            <a:pPr algn="l" indent="0" marL="0">
              <a:buNone/>
            </a:pPr>
            <a:r>
              <a:rPr lang="ar-SA" altLang="en-US" sz="1350" dirty="0">
                <a:solidFill>
                  <a:srgbClr val="8A6D1E"/>
                </a:solidFill>
                <a:latin typeface="Amiri" pitchFamily="2" charset="-78"/>
                <a:ea typeface="Amiri" pitchFamily="2" charset="-78"/>
                <a:cs typeface="Amiri" pitchFamily="2" charset="-78"/>
              </a:rPr>
              <a:t>لِمَاذَا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2" name="Text 79"/>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Step 1: which information? (time, how, how often, why)</a:t>
            </a:r>
            <a:endParaRPr lang="en-US" sz="1250" dirty="0"/>
          </a:p>
          <a:p>
            <a:pPr algn="l" indent="0" marL="0">
              <a:buNone/>
            </a:pPr>
            <a:r>
              <a:rPr lang="en-US" sz="1250" dirty="0">
                <a:solidFill>
                  <a:srgbClr val="1E6B52"/>
                </a:solidFill>
                <a:latin typeface="Calibri" pitchFamily="34" charset="0"/>
                <a:cs typeface="Amiri" pitchFamily="2" charset="-78"/>
              </a:rPr>
              <a:t>Step 2: boy or girl? Girl → add -īna.</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producer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تَعُودُ؟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مِنَ الوَقْتِ تَدْرُسِينَ؟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مَرَّةً تَتَمَرَّنُ؟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تَفْعَلِينَ ذٰلِكَ دَائِمًا؟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تُفَضِّلُ ذٰلِكَ؟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أَصْعَبُ جُزْءٍ؟</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تَنَامِينَ؟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رُوتِينُكَ مُنَظَّمٌ؟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 duration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Frequency</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 evaluation</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 duration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تَعُودُ؟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مِنَ الوَقْتِ تَدْرُسِينَ؟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تَنَامِينَ؟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Frequency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مَرَّةً تَتَمَرَّنُ؟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تَفْعَلِينَ ذٰلِكَ دَائِمًا؟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 evaluation</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تُفَضِّلُ ذٰلِكَ؟</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أَصْعَبُ جُزْءٍ؟</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رُوتِينُكَ مُنَظَّمٌ؟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useful follow-up after “I read every evening.”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السَّاعَةُ الآنَ؟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المَحَطَّةُ؟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تَقْرَأُ؟</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“Do you help your family?”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تُسَاعِدُ أُسْرَتَكَ؟</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تُسَاعِدِينَ أُسْرَتَكِ؟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تُسَاعِدُ أُسْرَتَهَا؟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duration?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تَذْهَبُ؟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مِنَ الوَقْتِ تَقْضِي؟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مَنْ تَذْهَبُ؟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interview pair.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تَعُودُ؟ — لِأَنَّنِي مُتْعَبٌ.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تَعُودِينَ؟ — فِي الرَّابِعَةِ.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تَعُودِينَ؟ — أَعُودُ فِي الرَّابِعَةِ.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useful follow-up after “I read every evening.”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السَّاعَةُ الآنَ؟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المَحَطَّةُ؟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تَقْرَأُ؟</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develops the same topic.</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“Do you help your family?”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تُسَاعِدُ أُسْرَتَكَ؟</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تُسَاعِدِينَ أُسْرَتَكِ؟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تُسَاعِدُ أُسْرَتَهَا؟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verb and possessive suffix both match the listener.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duration?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مَرَّةً تَذْهَبُ؟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مِنَ الوَقْتِ تَقْضِي؟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مَنْ تَذْهَبُ؟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مِنَ الوَقْتِ</a:t>
            </a:r>
            <a:pPr algn="l" indent="0" marL="0">
              <a:buNone/>
            </a:pPr>
            <a:r>
              <a:rPr lang="en-US" sz="1050" i="1" dirty="0">
                <a:solidFill>
                  <a:srgbClr val="8A6D1E"/>
                </a:solidFill>
                <a:latin typeface="Calibri" pitchFamily="34" charset="0"/>
                <a:cs typeface="Amiri" pitchFamily="2" charset="-78"/>
              </a:rPr>
              <a:t> asks how much time.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interview pair.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تَعُودُ؟ — لِأَنَّنِي مُتْعَبٌ.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تَعُودِينَ؟ — فِي الرَّابِعَةِ.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مَتَى تَعُودِينَ؟ — أَعُودُ فِي الرَّابِعَةِ.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matches a feminine time question.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مَاذَا تَفْعَلِينَ؟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question is to a BOY. Remove what?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تُسَاعِدُ أُسْرَتَكِ؟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question is to a GIRL: verb AND ending must match.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لِمَاذَا؟ — فِي السَّابِعَةِ.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time answers which question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مَاذَا تَفْعَلِينَ؟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مَاذَا تَفْعَلُ؟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Remove </a:t>
            </a:r>
            <a:pPr algn="l" indent="0" marL="0">
              <a:buNone/>
            </a:pPr>
            <a:r>
              <a:rPr lang="ar-SA" altLang="en-US" sz="1500" b="1" dirty="0">
                <a:solidFill>
                  <a:srgbClr val="1B3B6F"/>
                </a:solidFill>
                <a:latin typeface="Amiri" pitchFamily="2" charset="-78"/>
                <a:ea typeface="Amiri" pitchFamily="2" charset="-78"/>
                <a:cs typeface="Amiri" pitchFamily="2" charset="-78"/>
              </a:rPr>
              <a:t>ـين</a:t>
            </a:r>
            <a:pPr algn="l" indent="0" marL="0">
              <a:buNone/>
            </a:pPr>
            <a:r>
              <a:rPr lang="en-US" sz="1150" b="1" dirty="0">
                <a:solidFill>
                  <a:srgbClr val="1B3B6F"/>
                </a:solidFill>
                <a:latin typeface="Calibri" pitchFamily="34" charset="0"/>
                <a:cs typeface="Amiri" pitchFamily="2" charset="-78"/>
              </a:rPr>
              <a:t> for one masculine listener.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تُسَاعِدُ أُسْرَتَكِ؟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تُسَاعِدِينَ أُسْرَتَكِ؟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verb and possessive ending must match.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لِمَاذَا؟ — فِي السَّابِعَةِ.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مَتَى؟ — فِي السَّابِعَةِ.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Match the question word to the information.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student interview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information is requested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wake-up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 food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bedtime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Omar take the bus?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dislikes walking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free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far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sleeping?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the bus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want to improve?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wake later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reduce phone time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homework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مَتَى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قَبْلَ أَنْ أَنَامَ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المُذِيعَةُ: مَتَى تَسْتَيْقِظُ يَا عُمَرُ؟ عُمَرُ: أَسْتَيْقِظُ فِي السَّادِسَةِ وَالنِّصْفِ.</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Presenter: When do you wake up, Omar? Omar: I wake up at half past six.</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المُذِيعَةُ: وَكَيْفَ تَذْهَبُ إِلَى المَدْرَسَةِ؟ عُمَرُ: أَسْتَقِلُّ الحَافِلَةَ لِأَنَّ المَدْرَسَةَ بَعِيدَةٌ.</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how do you go to school? — I take the bus because school is far.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المُذِيعَةُ: كَمْ مَرَّةً تَتَمَرَّنُ؟ عُمَرُ: مَرَّتَيْنِ فِي الأُسْبُوعِ، يَوْمَيِ الثُّلَاثَاءِ وَالخَمِيسِ.</a:t>
            </a:r>
            <a:endParaRPr lang="ar-SA" sz="19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often do you train? — Twice a week, on Tuesdays and Thursdays.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المُذِيعَةُ: مَاذَا تَفْعَلُ فِي المَسَاءِ؟ عُمَرُ: أُكْمِلُ وَاجِبِي، ثُمَّ أَقْرَأُ قَبْلَ أَنْ أَنَامَ.</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do you do in the evening? — I finish my homework, then I read before I sleep.</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المُذِيعَةُ: مَا الجُزْءُ الَّذِي تُرِيدُ أَنْ تُحَسِّنَهُ؟ عُمَرُ: أُرِيدُ أَنْ أَقْضِيَ وَقْتًا أَقَلَّ عَلَى هَاتِفِي.</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Which part do you want to improve? — I want to spend less time on my phone.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information is requested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wake-up time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 food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bedtime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question is </a:t>
            </a:r>
            <a:pPr algn="l" indent="0" marL="0">
              <a:buNone/>
            </a:pPr>
            <a:r>
              <a:rPr lang="ar-SA" altLang="en-US" sz="1350" dirty="0">
                <a:solidFill>
                  <a:srgbClr val="8A6D1E"/>
                </a:solidFill>
                <a:latin typeface="Amiri" pitchFamily="2" charset="-78"/>
                <a:ea typeface="Amiri" pitchFamily="2" charset="-78"/>
                <a:cs typeface="Amiri" pitchFamily="2" charset="-78"/>
              </a:rPr>
              <a:t>مَتَى تَسْتَيْقِظُ؟</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Omar take the bus?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dislikes walking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is free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 is far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المَدْرَسَةَ بَعِيدَةٌ.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sleeping?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the bus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أَقْرَأُ قَبْلَ أَنْ أَنَامَ.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want to improve?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wake later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reduce phone time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homework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أَقْضِيَ وَقْتًا أَقَلَّ عَلَى هَاتِفِي.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مَتَى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قَبْلَ أَنْ أَنَامَ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Conduct a sustained routine interview</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عَنْ وَقْتِ الاِسْتِيقَاظِ وَعَنِ السَّفَرِ إِلَى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عَنِ التَّكْرَارِ.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عَنْ رُوتِينِ المَسَاءِ.</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سُؤَالَ مُتَابَعَةٍ عَنِ السَّبَبِ أَوِ التَّحْسِينِ.</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مَتَى تَسْتَيْقِظُ / تَسْتَيْقِظِينَ؟ كَيْفَ تَذْهَبُ / تَذْهَبِينَ؟</a:t>
            </a:r>
            <a:endParaRPr lang="ar-SA" sz="13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كَمْ مَرَّةً ___ فِي الأُسْبُوعِ؟</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لِمَاذَا ___ ؟ مَا أَصْعَبُ جُزْءٍ فِي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يَسْتَيْقِظُ / تَسْتَيْقِظُ ___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كَمْ مَرَّةً تَتَمَرَّنِينَ؟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often do you train? (to a girl)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أَتَمَرَّنُ مَرَّتَيْنِ فِي الأُسْبُوعِ.</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train twice a week.</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000" b="1" dirty="0">
                <a:solidFill>
                  <a:srgbClr val="2E8B57"/>
                </a:solidFill>
                <a:latin typeface="Cambria" pitchFamily="34" charset="0"/>
                <a:cs typeface="Amiri" pitchFamily="2" charset="-78"/>
              </a:rPr>
              <a:t>5 questions + answers</a:t>
            </a:r>
            <a:endParaRPr lang="en-US" sz="20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Ask and answer four accurate questions.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five questions to a boy OR a girl and your partner’s answers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relevant follow-ups and report the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questions, four answers with time, frequency or a reason, plus one follow-up question.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Conduct a sustained interview and evaluate the evidence critically.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profile from the interview — he/she forms, time, frequency, before/after, a reason and your judgement.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أَخْبِرْنِي / أَخْبِرِينِي أَكْثَرَ.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Tell me more (to a boy / girl).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whom do you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مِنَ الوَقْتِ تَقْضِي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time do you spend on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 صَدِيقِي / صَدِيقَتِي عَنْ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asked my friend about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إِنَّهُ / قَالَتْ إِنَّهَا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said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تَسْتَيْقِظُ؟ / مَتَى تَسْتَيْقِظِينَ؟</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do you wake up? (boy / girl)</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تَذْهَبُ / تَذْهَبِينَ إِلَى المَدْرَسَةِ؟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do you go to school?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تَتَمَرَّنُ / تَتَمَرَّنِينَ؟</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often do you train?</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 تَفْعَلِينَ فِي المَسَاءِ؟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do you do in the evening?</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 لِأَنَّ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مَاذَا  ·  مَتَى  ·  كَيْفَ  ·  كَمْ مَرَّةً  ·  لِمَاذَا  ·  مَعَ مَنْ  ·  أَيْنَ  ·  تَفْعَلُ  ·  تَفْعَلِينَ  ·  تَسْتَيْقِظِينَ  ·  لِأَنَّ  ·  أَخْبِرْنِي أَكْثَرَ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100–120-word profile based on an imagined or real routine interview.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State whom you interviewed.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Report at least four answers using he/she forms.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time, frequency, before/after and a reason.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clear pronoun and suffix reference.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Finish with your evidence-based judgement.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 زَمِيلَتِي عَنْ رُوتِينِهَا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asked my classmate about her routine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فَأَجَابَتْ 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she answered that she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سَأَلْتُهُ عَنِ الرِّيَاضَةِ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asked him about sport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أَخْبَرَنِي أَنَّهُ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told me that he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إِجَابَاتِهَا كَانَتْ دَقِيقَةً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her answers were precise</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سَأَلْتُ صَدِيقِي عَنْ رُوتِينِهِ اليَوْمِيِّ. أَوَّلًا سَأَلْتُهُ مَتَى يَسْتَيْقِظُ، فَقَالَ إِنَّهُ يَسْتَيْقِظُ فِي السَّادِسَةِ وَالنِّصْفِ. يَذْهَبُ إِلَى المَدْرَسَةِ بِالحَافِلَةِ لِأَنَّهَا بَعِيدَةٌ عَنْ بَيْتِهِ. عِنْدَمَا سَأَلْتُهُ عَنِ الرِّيَاضَةِ، أَخْبَرَنِي أَنَّهُ يَتَمَرَّنُ ثَلَاثَ مَرَّاتٍ فِي الأُسْبُوعِ. بَعْدَ المَدْرَسَةِ يُكْمِلُ وَاجِبَهُ قَبْلَ أَنْ يَخْرُجَ مَعَ أَصْدِقَائِهِ. فِي المَسَاءِ يُحَضِّرُ حَقِيبَتَهُ وَيَقْرَأُ قَلِيلًا. قَالَ إِنَّهُ يُرِيدُ أَنْ يَنَامَ مُبَكِّرًا. فِي رَأْيِي، رُوتِينُهُ نَشِيطٌ، وَلٰكِنَّهُ يَحْتَاجُ إِلَى رَاحَةٍ أَكْثَرَ.</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asked my friend about his daily routine. First I asked him when he wakes up, and he said that he wakes up at half past six. He goes to school by bus because it is far from his house. When I asked him about sport, he told me that he trains three times a week. After school he finishes his homework before he goes out with his friends. In the evening he prepares his bag and reads a little. He said that he wants to sleep early. In my opinion, his routine is active, but he needs more rest.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reporting verbs (asked, said, told)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he-verbs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reason with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five different question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answers fit the question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Questions to a girl end in -īna.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at least one follow-up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profile reports the answers with he/she.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يَفْعَلُ؟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a:t>
            </a:r>
            <a:pPr algn="l" indent="0" marL="0">
              <a:buNone/>
            </a:pPr>
            <a:r>
              <a:rPr lang="ar-SA" altLang="en-US" sz="1650" b="1" dirty="0">
                <a:solidFill>
                  <a:srgbClr val="1B3B6F"/>
                </a:solidFill>
                <a:latin typeface="Amiri" pitchFamily="2" charset="-78"/>
                <a:ea typeface="Amiri" pitchFamily="2" charset="-78"/>
                <a:cs typeface="Amiri" pitchFamily="2" charset="-78"/>
              </a:rPr>
              <a:t>متى؟</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مُتْعَبٌ.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السَّادِسَةِ.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do you go?”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تَذْهَبِينَ؟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يَذْهَبُ؟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مَاذَا تَفْعَلِينَ؟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تَفْعَلُ؟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يَفْعَلُ؟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second person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a:t>
            </a:r>
            <a:pPr algn="l" indent="0" marL="0">
              <a:buNone/>
            </a:pPr>
            <a:r>
              <a:rPr lang="ar-SA" altLang="en-US" sz="1650" b="1" dirty="0">
                <a:solidFill>
                  <a:srgbClr val="1B3B6F"/>
                </a:solidFill>
                <a:latin typeface="Amiri" pitchFamily="2" charset="-78"/>
                <a:ea typeface="Amiri" pitchFamily="2" charset="-78"/>
                <a:cs typeface="Amiri" pitchFamily="2" charset="-78"/>
              </a:rPr>
              <a:t>متى؟</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لِأَنَّنِي مُتْعَبٌ.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السَّادِسَةِ.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ثَلَاثَ مَرَّاتٍ.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for time.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do you go?”</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كَيْفَ تَذْهَبُ؟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تَذْهَبِينَ؟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يَذْهَبُ؟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second person has no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notes become a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سَأَلْتُ زَمِيلَتِي سَلْمَى عَنْ رُوتِينِهَا اليَوْمِيِّ. قُلْتُ لَهَا: «مَتَى تَسْتَيْقِظِينَ؟» فَأَجَابَتْ أَنَّهَا تَسْتَيْقِظُ فِي السَّادِسَةِ وَالرُّبْعِ. ثُمَّ سَأَلْتُهَا كَيْفَ تَذْهَبُ إِلَى المَدْرَسَةِ، فَقَالَتْ إِنَّهَا تَمْشِي مَعَ أُخْتِهَا. تَتَمَرَّنُ سَلْمَى ثَلَاثَ مَرَّاتٍ فِي الأُسْبُوعِ، وَتُفَضِّلُ التَّمْرِينَ بَعْدَ المَدْرَسَةِ لِأَنَّهُ يُسَاعِدُهَا عَلَى التَّرْكِيزِ. عِنْدَمَا سَأَلْتُهَا عَنْ المَسَاءِ، أَوْضَحَتْ أَنَّهَا تُرَاجِعُ دُرُوسَهَا قَبْلَ أَنْ تَسْتَعْمِلَ هَاتِفَهَا. فِي رَأْيِي، رُوتِينُهَا مُنَظَّمٌ لِأَنَّ إِجَابَاتِهَا كَانَتْ دَقِيقَةً وَمُتَوَازِنَةً.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سَأَلْتُ زَمِيلَتِي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asked my classmate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قُلْتُ لَهَا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said to her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فَأَجَابَتْ أَنَّهَا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she answered that she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فَقَالَتْ إِنَّهَا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she said that she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تَمْشِي مَعَ أُخْتِهَا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walks with her sister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تُفَضِّلُ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prefers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التَّرْكِيزِ</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concentration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أَوْضَحَتْ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explained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دَقِيقَةً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precise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مُتَوَازِنَةً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balanced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did the writer interview?</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 travel?</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a bus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cycles alone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walks with her sister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train?</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weekly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monthly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prefer after-school training?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free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helps concentration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sister insists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before phone use?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revision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the writer’s judgement?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late wake-up</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bus journey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precise, balanced answers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did the writer interview?</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Omar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زَمِيلَتِي سَلْمَى.</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 travel?</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a bus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cycles alone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walks with her sister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تَمْشِي مَعَ أُخْتِهَا.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train?</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weekly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monthly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prefer after-school training?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free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helps concentration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sister insists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يُسَاعِدُهَا عَلَى التَّرْكِيزِ.</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before phone use?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revision</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تُرَاجِعُ دُرُوسَهَا قَبْلَ أَنْ تَسْتَعْمِلَ هَاتِفَهَا.</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the writer’s judgement?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late wake-up</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bus journey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precise, balanced answers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إِجَابَاتُهَا كَانَتْ دَقِيقَةً وَمُتَوَازِنَةً.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Arabic interview response challenge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“What do you do after school?”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 بَعْدَ المَدْرَسَةِ؟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تَفْعَلِينَ بَعْدَ المَدْرَسَةِ؟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يَفْعَلُ بَعْدَ المَدْرَسَةِ؟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the question </a:t>
            </a:r>
            <a:pPr algn="l" indent="0" marL="0">
              <a:buNone/>
            </a:pPr>
            <a:r>
              <a:rPr lang="ar-SA" altLang="en-US" sz="1650" b="1" dirty="0">
                <a:solidFill>
                  <a:srgbClr val="1B3B6F"/>
                </a:solidFill>
                <a:latin typeface="Amiri" pitchFamily="2" charset="-78"/>
                <a:ea typeface="Amiri" pitchFamily="2" charset="-78"/>
                <a:cs typeface="Amiri" pitchFamily="2" charset="-78"/>
              </a:rPr>
              <a:t>مَتَى تَعُودُ إِلَى البَيْتِ؟</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الرَّابِعَةِ وَالنِّصْفِ.</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البَيْتَ قَرِيبٌ.</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 فِي الأُسْبُوعِ.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how often he exercises.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تَتَمَرَّنُ؟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تَتَمَرَّنِينَ؟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تَتَمَرَّنُ؟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answer is:</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أَذْهَبُ بِالحَافِلَةِ لِأَنَّ المَدْرَسَةَ بَعِيدَةٌ</a:t>
            </a:r>
            <a:pPr algn="l" indent="0" marL="0">
              <a:buNone/>
            </a:pPr>
            <a:r>
              <a:rPr lang="en-US" sz="1000" b="1" dirty="0">
                <a:solidFill>
                  <a:srgbClr val="1F2A37"/>
                </a:solidFill>
                <a:latin typeface="Calibri" pitchFamily="34" charset="0"/>
                <a:cs typeface="Amiri" pitchFamily="2" charset="-78"/>
              </a:rPr>
              <a:t>. Choose the best follow-up question.</a:t>
            </a:r>
            <a:endParaRPr lang="en-US" sz="10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تَذْهَبُ؟</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تَنَامُ؟</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لَا تَمْشِي؟</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matches the answer </a:t>
            </a:r>
            <a:pPr algn="l" indent="0" marL="0">
              <a:buNone/>
            </a:pPr>
            <a:r>
              <a:rPr lang="ar-SA" altLang="en-US" sz="1650" b="1" dirty="0">
                <a:solidFill>
                  <a:srgbClr val="1B3B6F"/>
                </a:solidFill>
                <a:latin typeface="Amiri" pitchFamily="2" charset="-78"/>
                <a:ea typeface="Amiri" pitchFamily="2" charset="-78"/>
                <a:cs typeface="Amiri" pitchFamily="2" charset="-78"/>
              </a:rPr>
              <a:t>ثَلَاثَ مَرَّاتٍ فِي الأُسْبُوعِ؟</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 تَتَمَرَّنُ؟</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تَعُودُ؟</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تُرَاجِعُ؟</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most developed interview response to </a:t>
            </a:r>
            <a:pPr algn="l" indent="0" marL="0">
              <a:buNone/>
            </a:pPr>
            <a:r>
              <a:rPr lang="ar-SA" altLang="en-US" sz="1550" b="1" dirty="0">
                <a:solidFill>
                  <a:srgbClr val="1B3B6F"/>
                </a:solidFill>
                <a:latin typeface="Amiri" pitchFamily="2" charset="-78"/>
                <a:ea typeface="Amiri" pitchFamily="2" charset="-78"/>
                <a:cs typeface="Amiri" pitchFamily="2" charset="-78"/>
              </a:rPr>
              <a:t>كَمْ مَرَّةً تَتَمَرَّنُ وَلِمَاذَا؟</a:t>
            </a:r>
            <a:endParaRPr lang="en-US" sz="120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مَرَّتَيْنِ.</a:t>
            </a:r>
            <a:endParaRPr lang="ar-SA" sz="1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أَتَمَرَّنُ مَرَّتَيْنِ فِي الأُسْبُوعِ لِأَنَّ الرِّيَاضَةَ تُسَاعِدُنِي عَلَى التَّرْكِيزِ.</a:t>
            </a:r>
            <a:endParaRPr lang="ar-SA" sz="1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رِيَاضَةٌ جَيِّدَةٌ.</a:t>
            </a:r>
            <a:endParaRPr lang="ar-SA" sz="1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“What do you do after school?”</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تَفْعَلُ بَعْدَ المَدْرَسَةِ؟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تَفْعَلِينَ بَعْدَ المَدْرَسَةِ؟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يَفْعَلُ بَعْدَ المَدْرَسَةِ؟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When addressing one female, the five-verb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تَفْعَلِينَ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fits the question </a:t>
            </a:r>
            <a:pPr algn="l" indent="0" marL="0">
              <a:buNone/>
            </a:pPr>
            <a:r>
              <a:rPr lang="ar-SA" altLang="en-US" sz="1650" b="1" dirty="0">
                <a:solidFill>
                  <a:srgbClr val="1B3B6F"/>
                </a:solidFill>
                <a:latin typeface="Amiri" pitchFamily="2" charset="-78"/>
                <a:ea typeface="Amiri" pitchFamily="2" charset="-78"/>
                <a:cs typeface="Amiri" pitchFamily="2" charset="-78"/>
              </a:rPr>
              <a:t>مَتَى تَعُودُ إِلَى البَيْتِ؟</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الرَّابِعَةِ وَالنِّصْفِ.</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البَيْتَ قَرِيبٌ.</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مَرَّاتٍ فِي الأُسْبُوعِ.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for time, so the answer must provide a time.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how often he exercises.</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تَتَمَرَّنُ؟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تَتَمَرَّنِينَ؟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مَرَّةً تَتَمَرَّنُ؟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frequency, and </a:t>
            </a:r>
            <a:pPr algn="l" indent="0" marL="0">
              <a:buNone/>
            </a:pPr>
            <a:r>
              <a:rPr lang="ar-SA" altLang="en-US" sz="1350" dirty="0">
                <a:solidFill>
                  <a:srgbClr val="8A6D1E"/>
                </a:solidFill>
                <a:latin typeface="Amiri" pitchFamily="2" charset="-78"/>
                <a:ea typeface="Amiri" pitchFamily="2" charset="-78"/>
                <a:cs typeface="Amiri" pitchFamily="2" charset="-78"/>
              </a:rPr>
              <a:t>تَتَمَرَّنُ</a:t>
            </a:r>
            <a:pPr algn="l" indent="0" marL="0">
              <a:buNone/>
            </a:pPr>
            <a:r>
              <a:rPr lang="en-US" sz="1050" i="1" dirty="0">
                <a:solidFill>
                  <a:srgbClr val="8A6D1E"/>
                </a:solidFill>
                <a:latin typeface="Calibri" pitchFamily="34" charset="0"/>
                <a:cs typeface="Amiri" pitchFamily="2" charset="-78"/>
              </a:rPr>
              <a:t> addresses one male.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answer is:</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أَذْهَبُ بِالحَافِلَةِ لِأَنَّ المَدْرَسَةَ بَعِيدَةٌ</a:t>
            </a:r>
            <a:pPr algn="l" indent="0" marL="0">
              <a:buNone/>
            </a:pPr>
            <a:r>
              <a:rPr lang="en-US" sz="1000" b="1" dirty="0">
                <a:solidFill>
                  <a:srgbClr val="1F2A37"/>
                </a:solidFill>
                <a:latin typeface="Calibri" pitchFamily="34" charset="0"/>
                <a:cs typeface="Amiri" pitchFamily="2" charset="-78"/>
              </a:rPr>
              <a:t>. Choose the best follow-up question.</a:t>
            </a:r>
            <a:endParaRPr lang="en-US" sz="10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مَرَّةً تَذْهَبُ؟</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تَنَامُ؟</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لِمَاذَا لَا تَمْشِي؟</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950" i="1" dirty="0">
                <a:solidFill>
                  <a:srgbClr val="8A6D1E"/>
                </a:solidFill>
                <a:latin typeface="Calibri" pitchFamily="34" charset="0"/>
                <a:cs typeface="Amiri" pitchFamily="2" charset="-78"/>
              </a:rPr>
              <a:t>The answer gives a transport choice and reason, so asking why the speaker does not walk is a relevant follow-up.</a:t>
            </a:r>
            <a:endParaRPr lang="en-US" sz="9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matches the answer </a:t>
            </a:r>
            <a:pPr algn="l" indent="0" marL="0">
              <a:buNone/>
            </a:pPr>
            <a:r>
              <a:rPr lang="ar-SA" altLang="en-US" sz="1650" b="1" dirty="0">
                <a:solidFill>
                  <a:srgbClr val="1B3B6F"/>
                </a:solidFill>
                <a:latin typeface="Amiri" pitchFamily="2" charset="-78"/>
                <a:ea typeface="Amiri" pitchFamily="2" charset="-78"/>
                <a:cs typeface="Amiri" pitchFamily="2" charset="-78"/>
              </a:rPr>
              <a:t>ثَلَاثَ مَرَّاتٍ فِي الأُسْبُوعِ؟</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مَرَّةً تَتَمَرَّنُ؟</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تَعُودُ؟</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تُرَاجِعُ؟</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states frequency, so it matches </a:t>
            </a:r>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most developed interview response to </a:t>
            </a:r>
            <a:pPr algn="l" indent="0" marL="0">
              <a:buNone/>
            </a:pPr>
            <a:r>
              <a:rPr lang="ar-SA" altLang="en-US" sz="1550" b="1" dirty="0">
                <a:solidFill>
                  <a:srgbClr val="1B3B6F"/>
                </a:solidFill>
                <a:latin typeface="Amiri" pitchFamily="2" charset="-78"/>
                <a:ea typeface="Amiri" pitchFamily="2" charset="-78"/>
                <a:cs typeface="Amiri" pitchFamily="2" charset="-78"/>
              </a:rPr>
              <a:t>كَمْ مَرَّةً تَتَمَرَّنُ وَلِمَاذَا؟</a:t>
            </a:r>
            <a:endParaRPr lang="en-US" sz="120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مَرَّتَيْنِ.</a:t>
            </a:r>
            <a:endParaRPr lang="ar-SA" sz="10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أَتَمَرَّنُ مَرَّتَيْنِ فِي الأُسْبُوعِ لِأَنَّ الرِّيَاضَةَ تُسَاعِدُنِي عَلَى التَّرْكِيزِ.</a:t>
            </a:r>
            <a:endParaRPr lang="ar-SA" sz="10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رِيَاضَةٌ جَيِّدَةٌ.</a:t>
            </a:r>
            <a:endParaRPr lang="ar-SA" sz="10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strong answer gives the action, exact frequency and a relevant reason.</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What Do You Do?</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D1-L08 · Weekend Routine — What Do You Do at the Weekend?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عُطْلَةُ نِهَايَةِ الأُسْبُوعِ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weekend (break)</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أَزُورُ أَقَارِبِي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visit my relatives</a:t>
            </a:r>
            <a:pPr indent="0" marL="0">
              <a:buNone/>
            </a:pPr>
            <a:r>
              <a:rPr lang="ar-SA" sz="1000" i="1" dirty="0">
                <a:solidFill>
                  <a:srgbClr val="5A6472"/>
                </a:solidFill>
                <a:latin typeface="Calibri" pitchFamily="34" charset="0"/>
                <a:ea typeface="Amiri" pitchFamily="2" charset="-78"/>
                <a:cs typeface="Amiri" pitchFamily="2" charset="-78"/>
              </a:rPr>
              <a:t>  relative: قَرِيبٌ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أَلْتَقِي بِأَصْدِقَائِي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meet my friends</a:t>
            </a:r>
            <a:pPr indent="0" marL="0">
              <a:buNone/>
            </a:pPr>
            <a:r>
              <a:rPr lang="ar-SA" sz="1000" i="1" dirty="0">
                <a:solidFill>
                  <a:srgbClr val="5A6472"/>
                </a:solidFill>
                <a:latin typeface="Calibri" pitchFamily="34" charset="0"/>
                <a:ea typeface="Amiri" pitchFamily="2" charset="-78"/>
                <a:cs typeface="Amiri" pitchFamily="2" charset="-78"/>
              </a:rPr>
              <a:t>  friend: صَدِيقٌ / صَدِيقَةٌ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أَتَسَوَّقُ</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go shopping</a:t>
            </a:r>
            <a:pPr indent="0" marL="0">
              <a:buNone/>
            </a:pPr>
            <a:r>
              <a:rPr lang="ar-SA" sz="1000" i="1" dirty="0">
                <a:solidFill>
                  <a:srgbClr val="5A6472"/>
                </a:solidFill>
                <a:latin typeface="Calibri" pitchFamily="34" charset="0"/>
                <a:ea typeface="Amiri" pitchFamily="2" charset="-78"/>
                <a:cs typeface="Amiri" pitchFamily="2" charset="-78"/>
              </a:rPr>
              <a:t>  he: يَتَسَوَّقُ</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وَقْتُ الفَرَاغِ</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free time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is your weekend different from a school day? Think of three differences.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تَفْعَلُ فِي نِهَايَةِ الأُسْبُوعِ؟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D1-L07: the vocabulary tab (questions to a boy / a girl) and the sorter “Interview producer”.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Interview a family member (4 questions + 1 follow-up) and write the answers.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profile from the interview.</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D1-L08 · Weekend Routine — What Do You Do at the Weekend?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رُوتِينُ عُطْلَةِ نِهَايَةِ الأُسْبُوعِ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listener decides the ending — girl → -īna.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D1-L07 · Asking About Daily Routine — What Do You Do?</dc:title>
  <dc:subject>PptxGenJS Presentation</dc:subject>
  <dc:creator>Al Madina Online School · Arabic Department</dc:creator>
  <cp:lastModifiedBy>Al Madina Online School · Arabic Department</cp:lastModifiedBy>
  <cp:revision>1</cp:revision>
  <dcterms:created xsi:type="dcterms:W3CDTF">2026-10-11T06:40:29Z</dcterms:created>
  <dcterms:modified xsi:type="dcterms:W3CDTF">2026-10-11T06:40:29Z</dcterms:modified>
</cp:coreProperties>
</file>