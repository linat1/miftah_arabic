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Development › D1 Daily Routine and Time › D1-L07. The website lesson “Asking About Daily Routine — What Do You Do?”: vocabulary, grammar rules and quiz, patterns, common mistakes, sorter, listening, reading, speaking prompts and model, writing task and model, differentiation, final check and the lesson mission. Picture match: website visual game “Asking About Daily Routine — What Do You Do?”.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FIVE questions learnt as chunks (مَاذَا تَفْعَلُ؟ مَتَى تَسْتَيْقِظُ؟ كَيْفَ تَذْهَبُ؟ كَمْ مَرَّةً؟ لِمَاذَا؟) + the girl-form ending -īna. Core students may read their questions from the frames slide during the interview.
• Develop: choose the form by the LISTENER (boy / girl / group) and ask one follow-up. Stretch: sustain a five-question interview and turn the notes into a he/she profile (recycles D1-L06).
• Online tip: pair students in breakout rooms; one interviews, one answers, then swap. The teacher visits rooms and listens for -īna.
• Urdu bridge: کیوں؟ is لِمَاذَا؟ — but کب؟ / کیسے؟ are not cognates; use the Arabic question words as new words. Cognates: وقت، مرتبہ (مَرَّةً)، سبب (reason), جواب،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retrieve D1-L06 (he/she) and D1-L05 (duration).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question word decides the answer. The ending decides who you are asking.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The route statements turn the website objectives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سوال and جواب are Arabic words (سُؤَالٌ، جَوَابٌ / إِجَابَةٌ). مرتبہ (ایک مرتبہ = once) → مَرَّةً، كَمْ مَرَّةً؟ سبب (reason) → لِأَنَّ gives the سبب. Urdu question words (کیوں، کب، کیسے) are NOT Arabic — teach مَتَى، كَيْفَ، لِمَاذَا as new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(1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Core question words (website vocabulary (2 of 2)). Hear → Say → See → Use. Transliteration is printed for Core students (cover it for Develop/Stretch).
Mime each question word: مَتَى (tap the wrist), كَيْفَ (open hands), لِمَاذَا (shrug), كَمْ مَرَّةً (count on fingers), مَعَ مَنْ (point to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boy/man (website vocabulary). Hear → Say → See → Use. Transliteration is printed for Core students (cover it for Develop/Stretch).
Each card shows the girl-form (-īna) and the group-form (-ūna). The questions to a girl (group 3) are the same list with -īna: FLEX.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Questions to a girl/woman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Interview management (website vocabulary). Hear → Say → See → Use. Transliteration is printed for Core students (cover it for Develop/Stretch).
FLEX: teach if time allows; otherwise these are on the website vocabulary tab for homework.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“Ask a masculine listener” (no ـين) and “Ask a feminine listener” (add ـين). The group form (-ūna) is added for online classes, where teachers often ask the whole class.
Website warning: “Do not add ـين to a masculine question, and do not remove it from a feminine question.” Row 4: the ending on the NOUN changes too (أُسْرَتَكَ / أُسْرَتَكِ / أُسْرَتَكُمْ).
Quick-fire: the teacher names a student; the class asks them مَتَى تَسْتَيْقِظُ / تَسْتَيْقِظِينَ؟ — boy or girl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rule “Match the question word to the answer” and the website table (Information · Question · Answer shape). Row 5 recycles D1-L05 (لِمُدَّةِ).
Website common error: لِمَاذَا؟ — فِي السَّابِعَةِ ✗ (a time does not answer “why”).
Quick-fire: the teacher gives an ANSWER (مَرَّتَيْنِ / لِأَنَّنِي مُتْعَبٌ / بِالسَّيَّارَةِ); students type the question word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“Build a follow-up from the answer”: listen to the answer, select one new detail, then ask for time, frequency, cause or evaluation.
Useful interview phrases (website group 4, FLEX): أَخْبِرْنِي / أَخْبِرِينِي أَكْثَرَ (tell me more), مَاذَا تَقْصِدُ / تَقْصِدِينَ؟ (what do you mean?).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masculine singular present usually begins with تَـ and has no final يـن, while the feminine singular adds ـين. Question words select the information type and prevent vague answers.”
• Ask a masculine listener: Use the basic second-person form without ـين.
• Ask a feminine listener: Add ـين to the five-verb form when addressing one female.
• Match the question word to the answer: The expected answer must fit the information requested.
• Build a follow-up from the answer: Listen to the answer, select one new detail, then ask for time, frequency, cause or evaluation.
Website common error: Do not add ـين to a masculine question, and do not remove it from a feminine question. In connected speech, write the listener accurately even when the answer begins with أنا.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3, 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teacher interviews a volunteer girl (or reads both parts), with a think-aloud, then turns the answers into a she-profile. Repeat quickly with a boy to show the ending disappear.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built from the website picture-game sentences (أَسْتَيْقِظُ صَبَاحًا، أَذْهَبُ إِلَى المَدْرَسَةِ، أَدْرُسُ بَعْدَ المَدْرَسَةِ، أَنَامُ لَيْلًا) with an added detail. Two decisions each time: the question word, then the listener.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then a volunteer asks the question to a classmate on the mic and gets a real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Classify each question by the information it requests.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5, 6,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3 and 4. Develop / Stretch: all 5.
Listen 1: just listen. Listen 2: note answers. Then chat the letters.
Support: after the second listening, show the read-along slide (Arabic + English, line by line) for Core students.
SCRIPT (read aloud):
المُذِيعَةُ: مَتَى تَسْتَيْقِظُ يَا عُمَرُ؟ عُمَرُ: أَسْتَيْقِظُ فِي السَّادِسَةِ وَالنِّصْفِ. المُذِيعَةُ: وَكَيْفَ تَذْهَبُ إِلَى المَدْرَسَةِ؟ عُمَرُ: أَسْتَقِلُّ الحَافِلَةَ لِأَنَّ المَدْرَسَةَ بَعِيدَةٌ. المُذِيعَةُ: كَمْ مَرَّةً تَتَمَرَّنُ؟ عُمَرُ: مَرَّتَيْنِ فِي الأُسْبُوعِ، يَوْمَيِ الثُّلَاثَاءِ وَالخَمِيسِ. المُذِيعَةُ: مَاذَا تَفْعَلُ فِي المَسَاءِ؟ عُمَرُ: أُكْمِلُ وَاجِبِي، ثُمَّ أَقْرَأُ قَبْلَ أَنْ أَنَامَ. المُذِيعَةُ: مَا الجُزْءُ الَّذِي تُرِيدُ أَنْ تُحَسِّنَهُ؟ عُمَرُ: أُرِيدُ أَنْ أَقْضِيَ وَقْتًا أَقَلَّ عَلَى هَاتِفِي.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وَلِمَاذَا تُفَضِّلِينَ المَسَاءَ؟ (Relevant reason follow-up.)
B: لِأَنَّنِي أَكُونُ حُرَّةً بَعْدَ الوَاجِبِ. (Developed reason.)
Website prompts (1 and 2 merged for Core). Breakout rooms in pairs: A interviews B (2 min), then swap. Summarise: each student reports ONE answer in the third person (“he / she …”) — the bridge to the writing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Ask and answer four accurate questions. · Develop — Add relevant follow-ups and report the answers. · Stretch — Conduct a sustained interview and evaluate the evidence critically.
Website writing task (Stretch): Write a 100–120-word profile based on an imagined or real routine interview.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Evidence: سَأَلْتُ / سَأَلْتُهُ · قَالَ إِنَّهُ · أَخْبَرَنِي أَنَّهُ · يَسْتَيْقِظُ، يَذْهَبُ، يَتَمَرَّنُ، يُكْمِلُ، يُحَضِّرُ · لِأَنَّهَا بَعِيدَةٌ · رُوتِينُهُ نَشِيطٌ، وَلٰكِنَّهُ يَحْتَاجُ إِلَى رَاحَةٍ أَكْثَرَ.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(D1-L08 · Weekend Routine — What Do You Do at the Weekend?) will spend class time USING this language, so students prepare it tonight — short, simple, easy to access (school guidance: “Simple, Short, Interesting, Relevant, Easy to access”). The five words come from the website D1-L08 vocabulary (weekend time and weekend activities).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D1-L07</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D1-L07</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Asking About Daily Routine — What Do You Do?</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السُّؤَالُ عَنِ الرُّوتِينِ اليَوْمِيِّ — مَاذَا تَفْعَلُ؟</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Ask routine questions to a boy (</a:t>
            </a:r>
            <a:pPr algn="l" indent="0" marL="0">
              <a:buNone/>
            </a:pPr>
            <a:r>
              <a:rPr lang="ar-SA" altLang="en-US" sz="1800" dirty="0">
                <a:solidFill>
                  <a:srgbClr val="C6D2E6"/>
                </a:solidFill>
                <a:latin typeface="Amiri" pitchFamily="34" charset="0"/>
                <a:ea typeface="Amiri" pitchFamily="34" charset="-122"/>
                <a:cs typeface="Amiri" pitchFamily="34" charset="-120"/>
              </a:rPr>
              <a:t>تَفْعَلُ</a:t>
            </a:r>
            <a:pPr algn="l" indent="0" marL="0">
              <a:buNone/>
            </a:pPr>
            <a:r>
              <a:rPr lang="en-US" sz="1400" dirty="0">
                <a:solidFill>
                  <a:srgbClr val="C6D2E6"/>
                </a:solidFill>
                <a:latin typeface="Calibri" pitchFamily="34" charset="0"/>
                <a:ea typeface="Calibri" pitchFamily="34" charset="-122"/>
                <a:cs typeface="Calibri" pitchFamily="34" charset="-120"/>
              </a:rPr>
              <a:t>), a girl (</a:t>
            </a:r>
            <a:pPr algn="l" indent="0" marL="0">
              <a:buNone/>
            </a:pPr>
            <a:r>
              <a:rPr lang="ar-SA" altLang="en-US" sz="1800" dirty="0">
                <a:solidFill>
                  <a:srgbClr val="C6D2E6"/>
                </a:solidFill>
                <a:latin typeface="Amiri" pitchFamily="34" charset="0"/>
                <a:ea typeface="Amiri" pitchFamily="34" charset="-122"/>
                <a:cs typeface="Amiri" pitchFamily="34" charset="-120"/>
              </a:rPr>
              <a:t>تَفْعَلِينَ</a:t>
            </a:r>
            <a:pPr algn="l" indent="0" marL="0">
              <a:buNone/>
            </a:pPr>
            <a:r>
              <a:rPr lang="en-US" sz="1400" dirty="0">
                <a:solidFill>
                  <a:srgbClr val="C6D2E6"/>
                </a:solidFill>
                <a:latin typeface="Calibri" pitchFamily="34" charset="0"/>
                <a:ea typeface="Calibri" pitchFamily="34" charset="-122"/>
                <a:cs typeface="Calibri" pitchFamily="34" charset="-120"/>
              </a:rPr>
              <a:t>) or a group (</a:t>
            </a:r>
            <a:pPr algn="l" indent="0" marL="0">
              <a:buNone/>
            </a:pPr>
            <a:r>
              <a:rPr lang="ar-SA" altLang="en-US" sz="1800" dirty="0">
                <a:solidFill>
                  <a:srgbClr val="C6D2E6"/>
                </a:solidFill>
                <a:latin typeface="Amiri" pitchFamily="34" charset="0"/>
                <a:ea typeface="Amiri" pitchFamily="34" charset="-122"/>
                <a:cs typeface="Amiri" pitchFamily="34" charset="-120"/>
              </a:rPr>
              <a:t>تَفْعَلُونَ</a:t>
            </a:r>
            <a:pPr algn="l" indent="0" marL="0">
              <a:buNone/>
            </a:pPr>
            <a:r>
              <a:rPr lang="en-US" sz="1400" dirty="0">
                <a:solidFill>
                  <a:srgbClr val="C6D2E6"/>
                </a:solidFill>
                <a:latin typeface="Calibri" pitchFamily="34" charset="0"/>
                <a:ea typeface="Calibri" pitchFamily="34" charset="-122"/>
                <a:cs typeface="Calibri" pitchFamily="34" charset="-120"/>
              </a:rPr>
              <a:t>), match each question word to the right answer, and keep an interview going with follow-up questions.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D1-L07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D1-L07</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46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Question words → the right answer; boy, girl or group.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Statement → question, sort questions, fix and listen.</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D1-L08.</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46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where?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whom?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often?</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time?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prepares her bag”.</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يُحَضِّرُ حَقِيبَتَهُ</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تُحَضِّرُ حَقِيبَتَهَا</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يَسْتَيْقِظُ عَلِيٌّ مُبَكِّرًا، بَيْنَمَا يَسْتَيْقِظُ أُخْتُهُ مُتَأَخِّرَةً.</a:t>
            </a:r>
            <a:endParaRPr lang="ar-SA" sz="13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تَسْتَيْقِظُ عَلِيٌّ مُبَكِّرًا، بَيْنَمَا تَسْتَيْقِظُ أُخْتُهُ مُتَأَخِّرَةً.</a:t>
            </a:r>
            <a:endParaRPr lang="ar-SA" sz="13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350"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3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“for how long?”</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لِمُدَّةِ سَاعَةٍ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السَّاعَةِ الخَامِسَةِ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مَرَّتَيْنِ</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46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مَعَ مَنْ؟</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where?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whom?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كَمْ مَرَّةً؟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how often?</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what time?</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how?</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prepares her bag”.</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يُحَضِّرُ حَقِيبَتَهُ</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تُحَضِّرُ حَقِيبَتَهُ</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تُحَضِّرُ حَقِيبَتَهَا</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she → tu- + -hā.</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يَسْتَيْقِظُ عَلِيٌّ مُبَكِّرًا، بَيْنَمَا يَسْتَيْقِظُ أُخْتُهُ مُتَأَخِّرَةً.</a:t>
            </a:r>
            <a:endParaRPr lang="ar-SA" sz="13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350" dirty="0">
                <a:solidFill>
                  <a:srgbClr val="9AA1AB"/>
                </a:solidFill>
                <a:latin typeface="Amiri" pitchFamily="34" charset="0"/>
                <a:ea typeface="Amiri" pitchFamily="34" charset="-122"/>
                <a:cs typeface="Amiri" pitchFamily="34" charset="-120"/>
              </a:rPr>
              <a:t>تَسْتَيْقِظُ عَلِيٌّ مُبَكِّرًا، بَيْنَمَا تَسْتَيْقِظُ أُخْتُهُ مُتَأَخِّرَةً.</a:t>
            </a:r>
            <a:endParaRPr lang="ar-SA" sz="13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350" b="1" dirty="0">
                <a:solidFill>
                  <a:srgbClr val="1F2A37"/>
                </a:solidFill>
                <a:latin typeface="Amiri" pitchFamily="34" charset="0"/>
                <a:ea typeface="Amiri" pitchFamily="34" charset="-122"/>
                <a:cs typeface="Amiri" pitchFamily="34" charset="-120"/>
              </a:rPr>
              <a:t>يَسْتَيْقِظُ عَلِيٌّ مُبَكِّرًا، بَيْنَمَا تَسْتَيْقِظُ أُخْتُهُ مُتَأَخِّرَةً.</a:t>
            </a:r>
            <a:endParaRPr lang="ar-SA" sz="13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D1-L06: each verb matches its own subject.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answers “for how long?”</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لِمُدَّةِ سَاعَةٍ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السَّاعَةِ الخَامِسَةِ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مَرَّتَيْنِ</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D1-L05 duration.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question word decides the answer. The ending decides who you are asking.</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2850" b="1" dirty="0">
                <a:solidFill>
                  <a:srgbClr val="1B3B6F"/>
                </a:solidFill>
                <a:latin typeface="Amiri" pitchFamily="34" charset="0"/>
                <a:ea typeface="Amiri" pitchFamily="34" charset="-122"/>
                <a:cs typeface="Amiri" pitchFamily="34" charset="-120"/>
              </a:rPr>
              <a:t>مَتَى تَسْتَيْقِظُ؟</a:t>
            </a:r>
            <a:pPr algn="ctr" indent="0" marL="0">
              <a:buNone/>
            </a:pPr>
            <a:r>
              <a:rPr lang="en-US" sz="2200" b="1" dirty="0">
                <a:solidFill>
                  <a:srgbClr val="1B3B6F"/>
                </a:solidFill>
                <a:latin typeface="Calibri" pitchFamily="34" charset="0"/>
                <a:ea typeface="Calibri" pitchFamily="34" charset="-122"/>
                <a:cs typeface="Calibri" pitchFamily="34" charset="-120"/>
              </a:rPr>
              <a:t> (boy)  ·  </a:t>
            </a:r>
            <a:pPr algn="ctr" indent="0" marL="0">
              <a:buNone/>
            </a:pPr>
            <a:r>
              <a:rPr lang="ar-SA" altLang="en-US" sz="2850" b="1" dirty="0">
                <a:solidFill>
                  <a:srgbClr val="1B3B6F"/>
                </a:solidFill>
                <a:latin typeface="Amiri" pitchFamily="34" charset="0"/>
                <a:ea typeface="Amiri" pitchFamily="34" charset="-122"/>
                <a:cs typeface="Amiri" pitchFamily="34" charset="-120"/>
              </a:rPr>
              <a:t>مَتَى تَسْتَيْقِظِينَ؟</a:t>
            </a:r>
            <a:pPr algn="ctr" indent="0" marL="0">
              <a:buNone/>
            </a:pPr>
            <a:r>
              <a:rPr lang="en-US" sz="2200" b="1" dirty="0">
                <a:solidFill>
                  <a:srgbClr val="1B3B6F"/>
                </a:solidFill>
                <a:latin typeface="Calibri" pitchFamily="34" charset="0"/>
                <a:ea typeface="Calibri" pitchFamily="34" charset="-122"/>
                <a:cs typeface="Calibri" pitchFamily="34" charset="-120"/>
              </a:rPr>
              <a:t> (girl)</a:t>
            </a:r>
            <a:endParaRPr lang="en-US" sz="22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46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Form routine questions with </a:t>
            </a:r>
            <a:pPr algn="l" indent="0" marL="0">
              <a:buNone/>
            </a:pPr>
            <a:r>
              <a:rPr lang="ar-SA" altLang="en-US" sz="1700" dirty="0">
                <a:solidFill>
                  <a:srgbClr val="1F2A37"/>
                </a:solidFill>
                <a:latin typeface="Amiri" pitchFamily="34" charset="0"/>
                <a:ea typeface="Amiri" pitchFamily="34" charset="-122"/>
                <a:cs typeface="Amiri" pitchFamily="34" charset="-120"/>
              </a:rPr>
              <a:t>مَاذَا، مَتَى، كَمْ مَرَّةً، كَيْفَ</a:t>
            </a:r>
            <a:pPr algn="l" indent="0" marL="0">
              <a:buNone/>
            </a:pPr>
            <a:r>
              <a:rPr lang="en-US" sz="1300" dirty="0">
                <a:solidFill>
                  <a:srgbClr val="1F2A37"/>
                </a:solidFill>
                <a:latin typeface="Calibri" pitchFamily="34" charset="0"/>
                <a:ea typeface="Calibri" pitchFamily="34" charset="-122"/>
                <a:cs typeface="Calibri" pitchFamily="34" charset="-120"/>
              </a:rPr>
              <a:t> and </a:t>
            </a:r>
            <a:pPr algn="l" indent="0" marL="0">
              <a:buNone/>
            </a:pPr>
            <a:r>
              <a:rPr lang="ar-SA" altLang="en-US" sz="1700" dirty="0">
                <a:solidFill>
                  <a:srgbClr val="1F2A37"/>
                </a:solidFill>
                <a:latin typeface="Amiri" pitchFamily="34" charset="0"/>
                <a:ea typeface="Amiri" pitchFamily="34" charset="-122"/>
                <a:cs typeface="Amiri" pitchFamily="34" charset="-120"/>
              </a:rPr>
              <a:t>لِمَاذَا</a:t>
            </a:r>
            <a:pPr algn="l" indent="0" marL="0">
              <a:buNone/>
            </a:pPr>
            <a:r>
              <a:rPr lang="en-US" sz="1300" dirty="0">
                <a:solidFill>
                  <a:srgbClr val="1F2A37"/>
                </a:solidFill>
                <a:latin typeface="Calibri" pitchFamily="34" charset="0"/>
                <a:ea typeface="Calibri" pitchFamily="34" charset="-122"/>
                <a:cs typeface="Calibri" pitchFamily="34" charset="-120"/>
              </a:rPr>
              <a:t>.</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Distinguish masculine and feminine second-person present forms.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follow-up questions to sustain an interview.</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Convert interview notes into a coherent written profile.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ask five routine questions.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answer with a time or a frequency.</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a:t>
            </a:r>
            <a:pPr algn="l" indent="0" marL="0">
              <a:buNone/>
            </a:pPr>
            <a:r>
              <a:rPr lang="ar-SA" altLang="en-US" sz="1700" b="1" dirty="0">
                <a:solidFill>
                  <a:srgbClr val="C9780A"/>
                </a:solidFill>
                <a:latin typeface="Amiri" pitchFamily="34" charset="0"/>
                <a:ea typeface="Amiri" pitchFamily="34" charset="-122"/>
                <a:cs typeface="Amiri" pitchFamily="34" charset="-120"/>
              </a:rPr>
              <a:t>تَفْعَلُ</a:t>
            </a:r>
            <a:pPr algn="l" indent="0" marL="0">
              <a:buNone/>
            </a:pPr>
            <a:r>
              <a:rPr lang="en-US" sz="1300" b="1" dirty="0">
                <a:solidFill>
                  <a:srgbClr val="C9780A"/>
                </a:solidFill>
                <a:latin typeface="Calibri" pitchFamily="34" charset="0"/>
                <a:ea typeface="Calibri" pitchFamily="34" charset="-122"/>
                <a:cs typeface="Calibri" pitchFamily="34" charset="-120"/>
              </a:rPr>
              <a:t>) or a girl (</a:t>
            </a:r>
            <a:pPr algn="l" indent="0" marL="0">
              <a:buNone/>
            </a:pPr>
            <a:r>
              <a:rPr lang="ar-SA" altLang="en-US" sz="1700" b="1" dirty="0">
                <a:solidFill>
                  <a:srgbClr val="C9780A"/>
                </a:solidFill>
                <a:latin typeface="Amiri" pitchFamily="34" charset="0"/>
                <a:ea typeface="Amiri" pitchFamily="34" charset="-122"/>
                <a:cs typeface="Amiri" pitchFamily="34" charset="-120"/>
              </a:rPr>
              <a:t>تَفْعَلِينَ</a:t>
            </a:r>
            <a:pPr algn="l" indent="0" marL="0">
              <a:buNone/>
            </a:pPr>
            <a:r>
              <a:rPr lang="en-US" sz="1300" b="1" dirty="0">
                <a:solidFill>
                  <a:srgbClr val="C9780A"/>
                </a:solidFill>
                <a:latin typeface="Calibri" pitchFamily="34" charset="0"/>
                <a:ea typeface="Calibri" pitchFamily="34" charset="-122"/>
                <a:cs typeface="Calibri" pitchFamily="34" charset="-120"/>
              </a:rPr>
              <a:t>) accurately.</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one follow-up question.</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sustain a five-question interview.</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report the interview as a 100–120-word profile.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46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28 words from the website in 4 groups. Learn the CORE words first. Hear it → say it → see it → use it.</a:t>
            </a:r>
            <a:endParaRPr lang="en-US" sz="1600" dirty="0"/>
          </a:p>
        </p:txBody>
      </p:sp>
      <p:sp>
        <p:nvSpPr>
          <p:cNvPr id="8" name="Shape 6"/>
          <p:cNvSpPr/>
          <p:nvPr/>
        </p:nvSpPr>
        <p:spPr>
          <a:xfrm>
            <a:off x="457200" y="4572000"/>
            <a:ext cx="186309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question words · 10</a:t>
            </a:r>
            <a:endParaRPr lang="en-US" sz="900" dirty="0"/>
          </a:p>
        </p:txBody>
      </p:sp>
      <p:sp>
        <p:nvSpPr>
          <p:cNvPr id="10" name="Shape 8"/>
          <p:cNvSpPr/>
          <p:nvPr/>
        </p:nvSpPr>
        <p:spPr>
          <a:xfrm>
            <a:off x="2457450" y="4572000"/>
            <a:ext cx="186309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25946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to a boy/man · 6</a:t>
            </a:r>
            <a:endParaRPr lang="en-US" sz="900" dirty="0"/>
          </a:p>
        </p:txBody>
      </p:sp>
      <p:sp>
        <p:nvSpPr>
          <p:cNvPr id="12" name="Shape 10"/>
          <p:cNvSpPr/>
          <p:nvPr/>
        </p:nvSpPr>
        <p:spPr>
          <a:xfrm>
            <a:off x="4457700" y="4572000"/>
            <a:ext cx="186309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459486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Questions to a girl/woman · 6</a:t>
            </a:r>
            <a:endParaRPr lang="en-US" sz="900" dirty="0"/>
          </a:p>
        </p:txBody>
      </p:sp>
      <p:sp>
        <p:nvSpPr>
          <p:cNvPr id="14" name="Shape 12"/>
          <p:cNvSpPr/>
          <p:nvPr/>
        </p:nvSpPr>
        <p:spPr>
          <a:xfrm>
            <a:off x="6457950" y="4572000"/>
            <a:ext cx="1863090" cy="960120"/>
          </a:xfrm>
          <a:prstGeom prst="roundRect">
            <a:avLst>
              <a:gd name="adj" fmla="val 7619"/>
            </a:avLst>
          </a:prstGeom>
          <a:solidFill>
            <a:srgbClr val="16335F"/>
          </a:solidFill>
          <a:ln w="12700">
            <a:solidFill>
              <a:srgbClr val="2A4B7C"/>
            </a:solidFill>
            <a:prstDash val="solid"/>
          </a:ln>
        </p:spPr>
      </p:sp>
      <p:sp>
        <p:nvSpPr>
          <p:cNvPr id="15" name="Text 13"/>
          <p:cNvSpPr txBox="1"/>
          <p:nvPr/>
        </p:nvSpPr>
        <p:spPr>
          <a:xfrm>
            <a:off x="6595110" y="4617720"/>
            <a:ext cx="158877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4</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Interview management · 6</a:t>
            </a:r>
            <a:endParaRPr lang="en-US" sz="900" dirty="0"/>
          </a:p>
        </p:txBody>
      </p:sp>
      <p:sp>
        <p:nvSpPr>
          <p:cNvPr id="16" name="Shape 14"/>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7" name="Text 15"/>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8" name="Text 16"/>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لِمَاذَا؟</a:t>
            </a:r>
            <a:endParaRPr lang="ar-SA" sz="1900" dirty="0"/>
          </a:p>
        </p:txBody>
      </p:sp>
      <p:sp>
        <p:nvSpPr>
          <p:cNvPr id="19" name="Text 17"/>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‎کیوں؟‎ </a:t>
            </a:r>
            <a:pPr indent="0" marL="0">
              <a:buNone/>
            </a:pPr>
            <a:r>
              <a:rPr lang="en-US" sz="950" b="1" dirty="0">
                <a:solidFill>
                  <a:srgbClr val="2E8B57"/>
                </a:solidFill>
                <a:latin typeface="Calibri" pitchFamily="34" charset="0"/>
                <a:ea typeface="Calibri" pitchFamily="34" charset="-122"/>
                <a:cs typeface="Calibri" pitchFamily="34" charset="-120"/>
              </a:rPr>
              <a:t> kyūn · why? (meaning only)</a:t>
            </a:r>
            <a:endParaRPr lang="en-US" sz="1400" dirty="0"/>
          </a:p>
        </p:txBody>
      </p:sp>
      <p:sp>
        <p:nvSpPr>
          <p:cNvPr id="20" name="Text 18"/>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مَرَّةً</a:t>
            </a:r>
            <a:endParaRPr lang="ar-SA" sz="1900" dirty="0"/>
          </a:p>
        </p:txBody>
      </p:sp>
      <p:sp>
        <p:nvSpPr>
          <p:cNvPr id="21" name="Text 19"/>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‎مرتبہ‎ </a:t>
            </a:r>
            <a:pPr indent="0" marL="0">
              <a:buNone/>
            </a:pPr>
            <a:r>
              <a:rPr lang="en-US" sz="950" b="1" dirty="0">
                <a:solidFill>
                  <a:srgbClr val="2E8B57"/>
                </a:solidFill>
                <a:latin typeface="Calibri" pitchFamily="34" charset="0"/>
                <a:ea typeface="Calibri" pitchFamily="34" charset="-122"/>
                <a:cs typeface="Calibri" pitchFamily="34" charset="-120"/>
              </a:rPr>
              <a:t> martaba · time, occasion</a:t>
            </a:r>
            <a:endParaRPr lang="en-US" sz="1400" dirty="0"/>
          </a:p>
        </p:txBody>
      </p:sp>
      <p:sp>
        <p:nvSpPr>
          <p:cNvPr id="22" name="Text 20"/>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23" name="Text 21"/>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4" name="Text 22"/>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جَوَابٌ / إِجَابَةٌ</a:t>
            </a:r>
            <a:endParaRPr lang="ar-SA" sz="1900" dirty="0"/>
          </a:p>
        </p:txBody>
      </p:sp>
      <p:sp>
        <p:nvSpPr>
          <p:cNvPr id="25" name="Text 23"/>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‎جواب‎ </a:t>
            </a:r>
            <a:pPr indent="0" marL="0">
              <a:buNone/>
            </a:pPr>
            <a:r>
              <a:rPr lang="en-US" sz="950" b="1" dirty="0">
                <a:solidFill>
                  <a:srgbClr val="2E8B57"/>
                </a:solidFill>
                <a:latin typeface="Calibri" pitchFamily="34" charset="0"/>
                <a:ea typeface="Calibri" pitchFamily="34" charset="-122"/>
                <a:cs typeface="Calibri" pitchFamily="34" charset="-120"/>
              </a:rPr>
              <a:t> jawāb · answer</a:t>
            </a:r>
            <a:endParaRPr lang="en-US" sz="1400" dirty="0"/>
          </a:p>
        </p:txBody>
      </p:sp>
      <p:sp>
        <p:nvSpPr>
          <p:cNvPr id="26" name="Text 24"/>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السَّبَبُ</a:t>
            </a:r>
            <a:endParaRPr lang="ar-SA" sz="1900" dirty="0"/>
          </a:p>
        </p:txBody>
      </p:sp>
      <p:sp>
        <p:nvSpPr>
          <p:cNvPr id="27" name="Text 25"/>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‎سبب‎ </a:t>
            </a:r>
            <a:pPr indent="0" marL="0">
              <a:buNone/>
            </a:pPr>
            <a:r>
              <a:rPr lang="en-US" sz="950" b="1" dirty="0">
                <a:solidFill>
                  <a:srgbClr val="2E8B57"/>
                </a:solidFill>
                <a:latin typeface="Calibri" pitchFamily="34" charset="0"/>
                <a:ea typeface="Calibri" pitchFamily="34" charset="-122"/>
                <a:cs typeface="Calibri" pitchFamily="34" charset="-120"/>
              </a:rPr>
              <a:t> sabab · reason</a:t>
            </a:r>
            <a:endParaRPr lang="en-US" sz="14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46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Core question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السَّاعَةُ؟</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ka-mi as-sā-ʿa-tu?</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37" name="Shape 3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a:t>
            </a:r>
            <a:endParaRPr lang="ar-SA" sz="3000" dirty="0"/>
          </a:p>
        </p:txBody>
      </p:sp>
      <p:sp>
        <p:nvSpPr>
          <p:cNvPr id="40" name="Text 37"/>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many times / how often?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a:t>
            </a:r>
            <a:endParaRPr lang="en-US" sz="1350" dirty="0"/>
          </a:p>
        </p:txBody>
      </p:sp>
      <p:sp>
        <p:nvSpPr>
          <p:cNvPr id="41" name="Shape 38"/>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4389120" y="4261104"/>
            <a:ext cx="310896" cy="310896"/>
          </a:xfrm>
          <a:prstGeom prst="ellipse">
            <a:avLst/>
          </a:prstGeom>
          <a:solidFill>
            <a:srgbClr val="F4F1EA"/>
          </a:solidFill>
          <a:ln w="12700">
            <a:solidFill>
              <a:srgbClr val="F4F1EA"/>
            </a:solidFill>
            <a:prstDash val="solid"/>
          </a:ln>
        </p:spPr>
      </p:sp>
      <p:sp>
        <p:nvSpPr>
          <p:cNvPr id="43" name="Text 40"/>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4" name="Shape 41"/>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a:t>
            </a:r>
            <a:endParaRPr lang="ar-SA" sz="3000" dirty="0"/>
          </a:p>
        </p:txBody>
      </p:sp>
      <p:sp>
        <p:nvSpPr>
          <p:cNvPr id="47" name="Text 44"/>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a:t>
            </a:r>
            <a:endParaRPr lang="en-US" sz="13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46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Core question words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where?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0" name="Shape 2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 مَنْ؟</a:t>
            </a:r>
            <a:endParaRPr lang="ar-SA" sz="3000" dirty="0"/>
          </a:p>
        </p:txBody>
      </p:sp>
      <p:sp>
        <p:nvSpPr>
          <p:cNvPr id="33" name="Text 3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with whom?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ma-ʿa man?</a:t>
            </a:r>
            <a:endParaRPr lang="en-US" sz="1350" dirty="0"/>
          </a:p>
        </p:txBody>
      </p:sp>
      <p:sp>
        <p:nvSpPr>
          <p:cNvPr id="34" name="Shape 31"/>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8211312" y="4261104"/>
            <a:ext cx="310896" cy="310896"/>
          </a:xfrm>
          <a:prstGeom prst="ellipse">
            <a:avLst/>
          </a:prstGeom>
          <a:solidFill>
            <a:srgbClr val="F4F1EA"/>
          </a:solidFill>
          <a:ln w="12700">
            <a:solidFill>
              <a:srgbClr val="F4F1EA"/>
            </a:solidFill>
            <a:prstDash val="solid"/>
          </a:ln>
        </p:spPr>
      </p:sp>
      <p:sp>
        <p:nvSpPr>
          <p:cNvPr id="36" name="Text 33"/>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37" name="Text 34"/>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مِنَ الوَقْتِ؟</a:t>
            </a:r>
            <a:endParaRPr lang="ar-SA" sz="3000" dirty="0"/>
          </a:p>
        </p:txBody>
      </p:sp>
      <p:sp>
        <p:nvSpPr>
          <p:cNvPr id="38" name="Text 35"/>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much time?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mi-na al-waq-ti?</a:t>
            </a:r>
            <a:endParaRPr lang="en-US" sz="1350" dirty="0"/>
          </a:p>
        </p:txBody>
      </p:sp>
      <p:sp>
        <p:nvSpPr>
          <p:cNvPr id="39" name="Shape 3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4389120"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42" name="Text 3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أَيُّ يَوْمٍ؟</a:t>
            </a:r>
            <a:endParaRPr lang="ar-SA" sz="3000" dirty="0"/>
          </a:p>
        </p:txBody>
      </p:sp>
      <p:sp>
        <p:nvSpPr>
          <p:cNvPr id="43" name="Text 4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which day?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ay-yu yaw-min?</a:t>
            </a:r>
            <a:endParaRPr lang="en-US" sz="13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46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to a boy/man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18" name="Shape 15"/>
          <p:cNvSpPr/>
          <p:nvPr/>
        </p:nvSpPr>
        <p:spPr>
          <a:xfrm>
            <a:off x="8604504" y="1938528"/>
            <a:ext cx="1393546"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تَفْعَلُ؟</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taf-ʿa-lu?</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تَفْعَلُونَ</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تَفْعَلِينَ؟</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تَفْعَلُ؟</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36" name="Shape 33"/>
          <p:cNvSpPr/>
          <p:nvPr/>
        </p:nvSpPr>
        <p:spPr>
          <a:xfrm>
            <a:off x="4782312" y="1938528"/>
            <a:ext cx="1393546"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38" name="Shape 35"/>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9" name="Text 36"/>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0" name="Text 37"/>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تَسْتَيْقِظُ؟</a:t>
            </a:r>
            <a:endParaRPr lang="ar-SA" sz="3000" dirty="0"/>
          </a:p>
        </p:txBody>
      </p:sp>
      <p:sp>
        <p:nvSpPr>
          <p:cNvPr id="41" name="Text 38"/>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do you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tas-tay-qi-ẓu?</a:t>
            </a:r>
            <a:endParaRPr lang="en-US" sz="1350" dirty="0"/>
          </a:p>
        </p:txBody>
      </p:sp>
      <p:sp>
        <p:nvSpPr>
          <p:cNvPr id="42" name="Shape 39"/>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44" name="Text 41"/>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تَسْتَيْقِظُونَ</a:t>
            </a:r>
            <a:endParaRPr lang="ar-SA" sz="1350" dirty="0"/>
          </a:p>
        </p:txBody>
      </p:sp>
      <p:sp>
        <p:nvSpPr>
          <p:cNvPr id="45" name="Shape 42"/>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47" name="Text 44"/>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تَسْتَيْقِظِينَ؟</a:t>
            </a:r>
            <a:endParaRPr lang="ar-SA" sz="1350" dirty="0"/>
          </a:p>
        </p:txBody>
      </p:sp>
      <p:sp>
        <p:nvSpPr>
          <p:cNvPr id="48" name="Shape 45"/>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50" name="Text 47"/>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تَسْتَيْقِظُ؟</a:t>
            </a:r>
            <a:endParaRPr lang="ar-SA" sz="1500" dirty="0"/>
          </a:p>
        </p:txBody>
      </p:sp>
      <p:sp>
        <p:nvSpPr>
          <p:cNvPr id="51" name="Shape 4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66928" y="1920240"/>
            <a:ext cx="310896" cy="310896"/>
          </a:xfrm>
          <a:prstGeom prst="ellipse">
            <a:avLst/>
          </a:prstGeom>
          <a:solidFill>
            <a:srgbClr val="F4F1EA"/>
          </a:solidFill>
          <a:ln w="12700">
            <a:solidFill>
              <a:srgbClr val="F4F1EA"/>
            </a:solidFill>
            <a:prstDash val="solid"/>
          </a:ln>
        </p:spPr>
      </p:sp>
      <p:sp>
        <p:nvSpPr>
          <p:cNvPr id="53" name="Text 5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54" name="Shape 51"/>
          <p:cNvSpPr/>
          <p:nvPr/>
        </p:nvSpPr>
        <p:spPr>
          <a:xfrm>
            <a:off x="960120" y="1938528"/>
            <a:ext cx="1393546"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960120" y="1938528"/>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56" name="Shape 5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8" name="Text 5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تَذْهَبُ؟</a:t>
            </a:r>
            <a:endParaRPr lang="ar-SA" sz="3000" dirty="0"/>
          </a:p>
        </p:txBody>
      </p:sp>
      <p:sp>
        <p:nvSpPr>
          <p:cNvPr id="59" name="Text 5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do you 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tadh-ha-bu?</a:t>
            </a:r>
            <a:endParaRPr lang="en-US" sz="1350" dirty="0"/>
          </a:p>
        </p:txBody>
      </p:sp>
      <p:sp>
        <p:nvSpPr>
          <p:cNvPr id="60" name="Shape 57"/>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62" name="Text 59"/>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تَذْهَبُونَ</a:t>
            </a:r>
            <a:endParaRPr lang="ar-SA" sz="1350" dirty="0"/>
          </a:p>
        </p:txBody>
      </p:sp>
      <p:sp>
        <p:nvSpPr>
          <p:cNvPr id="63" name="Shape 60"/>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65" name="Text 62"/>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تَذْهَبِينَ؟</a:t>
            </a:r>
            <a:endParaRPr lang="ar-SA" sz="1350" dirty="0"/>
          </a:p>
        </p:txBody>
      </p:sp>
      <p:sp>
        <p:nvSpPr>
          <p:cNvPr id="66" name="Shape 63"/>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68" name="Text 65"/>
          <p:cNvSpPr txBox="1"/>
          <p:nvPr/>
        </p:nvSpPr>
        <p:spPr>
          <a:xfrm>
            <a:off x="64008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تَذْهَبُ؟</a:t>
            </a:r>
            <a:endParaRPr lang="ar-SA" sz="1500" dirty="0"/>
          </a:p>
        </p:txBody>
      </p:sp>
      <p:sp>
        <p:nvSpPr>
          <p:cNvPr id="69" name="Shape 6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211312"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72" name="Shape 69"/>
          <p:cNvSpPr/>
          <p:nvPr/>
        </p:nvSpPr>
        <p:spPr>
          <a:xfrm>
            <a:off x="8604504" y="4279392"/>
            <a:ext cx="1393546"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8604504"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74" name="Text 7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 تَتَمَرَّنُ؟</a:t>
            </a:r>
            <a:endParaRPr lang="ar-SA" sz="3000" dirty="0"/>
          </a:p>
        </p:txBody>
      </p:sp>
      <p:sp>
        <p:nvSpPr>
          <p:cNvPr id="75" name="Text 7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often do you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 ta-ta-mar-ra-nu?</a:t>
            </a:r>
            <a:endParaRPr lang="en-US" sz="1350" dirty="0"/>
          </a:p>
        </p:txBody>
      </p:sp>
      <p:sp>
        <p:nvSpPr>
          <p:cNvPr id="76" name="Shape 7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78" name="Text 75"/>
          <p:cNvSpPr txBox="1"/>
          <p:nvPr/>
        </p:nvSpPr>
        <p:spPr>
          <a:xfrm>
            <a:off x="1058875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تَتَمَرَّنُونَ</a:t>
            </a:r>
            <a:endParaRPr lang="ar-SA" sz="1350" dirty="0"/>
          </a:p>
        </p:txBody>
      </p:sp>
      <p:sp>
        <p:nvSpPr>
          <p:cNvPr id="79" name="Shape 7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81" name="Text 7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تَتَمَرَّنِينَ؟</a:t>
            </a:r>
            <a:endParaRPr lang="ar-SA" sz="1350" dirty="0"/>
          </a:p>
        </p:txBody>
      </p:sp>
      <p:sp>
        <p:nvSpPr>
          <p:cNvPr id="82" name="Shape 7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84" name="Text 81"/>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تَتَمَرَّنُ؟</a:t>
            </a:r>
            <a:endParaRPr lang="ar-SA" sz="1500" dirty="0"/>
          </a:p>
        </p:txBody>
      </p:sp>
      <p:sp>
        <p:nvSpPr>
          <p:cNvPr id="85" name="Shape 8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4389120"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88" name="Shape 85"/>
          <p:cNvSpPr/>
          <p:nvPr/>
        </p:nvSpPr>
        <p:spPr>
          <a:xfrm>
            <a:off x="4782312" y="4279392"/>
            <a:ext cx="1393546"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4782312"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90" name="Text 8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 تُفَضِّلُ ذٰلِكَ؟</a:t>
            </a:r>
            <a:endParaRPr lang="ar-SA" sz="3000" dirty="0"/>
          </a:p>
        </p:txBody>
      </p:sp>
      <p:sp>
        <p:nvSpPr>
          <p:cNvPr id="91" name="Text 8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 do you prefer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 tu-faḍ-ḍi-lu dhā-li-ka?</a:t>
            </a:r>
            <a:endParaRPr lang="en-US" sz="1350" dirty="0"/>
          </a:p>
        </p:txBody>
      </p:sp>
      <p:sp>
        <p:nvSpPr>
          <p:cNvPr id="92" name="Shape 8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94" name="Text 91"/>
          <p:cNvSpPr txBox="1"/>
          <p:nvPr/>
        </p:nvSpPr>
        <p:spPr>
          <a:xfrm>
            <a:off x="676656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تُفَضِّلُونَ</a:t>
            </a:r>
            <a:endParaRPr lang="ar-SA" sz="1350" dirty="0"/>
          </a:p>
        </p:txBody>
      </p:sp>
      <p:sp>
        <p:nvSpPr>
          <p:cNvPr id="95" name="Shape 9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97" name="Text 9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تُفَضِّلِينَ</a:t>
            </a:r>
            <a:endParaRPr lang="ar-SA" sz="1350" dirty="0"/>
          </a:p>
        </p:txBody>
      </p:sp>
      <p:sp>
        <p:nvSpPr>
          <p:cNvPr id="98" name="Shape 9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100" name="Text 97"/>
          <p:cNvSpPr txBox="1"/>
          <p:nvPr/>
        </p:nvSpPr>
        <p:spPr>
          <a:xfrm>
            <a:off x="446227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تُفَضِّلُ</a:t>
            </a:r>
            <a:endParaRPr lang="ar-SA" sz="1500" dirty="0"/>
          </a:p>
        </p:txBody>
      </p:sp>
      <p:sp>
        <p:nvSpPr>
          <p:cNvPr id="101" name="Shape 9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2" name="Shape 99"/>
          <p:cNvSpPr/>
          <p:nvPr/>
        </p:nvSpPr>
        <p:spPr>
          <a:xfrm>
            <a:off x="566928" y="4261104"/>
            <a:ext cx="310896" cy="310896"/>
          </a:xfrm>
          <a:prstGeom prst="ellipse">
            <a:avLst/>
          </a:prstGeom>
          <a:solidFill>
            <a:srgbClr val="F4F1EA"/>
          </a:solidFill>
          <a:ln w="12700">
            <a:solidFill>
              <a:srgbClr val="F4F1EA"/>
            </a:solidFill>
            <a:prstDash val="solid"/>
          </a:ln>
        </p:spPr>
      </p:sp>
      <p:sp>
        <p:nvSpPr>
          <p:cNvPr id="103" name="Text 10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104" name="Shape 101"/>
          <p:cNvSpPr/>
          <p:nvPr/>
        </p:nvSpPr>
        <p:spPr>
          <a:xfrm>
            <a:off x="960120" y="4279392"/>
            <a:ext cx="1393546" cy="256032"/>
          </a:xfrm>
          <a:prstGeom prst="roundRect">
            <a:avLst>
              <a:gd name="adj" fmla="val 50000"/>
            </a:avLst>
          </a:prstGeom>
          <a:solidFill>
            <a:srgbClr val="EFE7D2"/>
          </a:solidFill>
          <a:ln w="12700">
            <a:solidFill>
              <a:srgbClr val="EFE7D2"/>
            </a:solidFill>
            <a:prstDash val="solid"/>
          </a:ln>
        </p:spPr>
      </p:sp>
      <p:sp>
        <p:nvSpPr>
          <p:cNvPr id="105" name="Text 102"/>
          <p:cNvSpPr txBox="1"/>
          <p:nvPr/>
        </p:nvSpPr>
        <p:spPr>
          <a:xfrm>
            <a:off x="960120" y="4279392"/>
            <a:ext cx="1393546"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boy · girl · group</a:t>
            </a:r>
            <a:endParaRPr lang="en-US" sz="800" dirty="0"/>
          </a:p>
        </p:txBody>
      </p:sp>
      <p:sp>
        <p:nvSpPr>
          <p:cNvPr id="106" name="Text 103"/>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تُسَاعِدُ أُسْرَتَكَ؟</a:t>
            </a:r>
            <a:endParaRPr lang="ar-SA" sz="3000" dirty="0"/>
          </a:p>
        </p:txBody>
      </p:sp>
      <p:sp>
        <p:nvSpPr>
          <p:cNvPr id="107" name="Text 104"/>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help your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tu-sā-ʿi-du us-ra-ta-ka?</a:t>
            </a:r>
            <a:endParaRPr lang="en-US" sz="1350" dirty="0"/>
          </a:p>
        </p:txBody>
      </p:sp>
      <p:sp>
        <p:nvSpPr>
          <p:cNvPr id="108" name="Shape 105"/>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109" name="Text 106"/>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group</a:t>
            </a:r>
            <a:endParaRPr lang="en-US" sz="700" dirty="0"/>
          </a:p>
        </p:txBody>
      </p:sp>
      <p:sp>
        <p:nvSpPr>
          <p:cNvPr id="110" name="Text 107"/>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تُسَاعِدُونَ</a:t>
            </a:r>
            <a:endParaRPr lang="ar-SA" sz="1350" dirty="0"/>
          </a:p>
        </p:txBody>
      </p:sp>
      <p:sp>
        <p:nvSpPr>
          <p:cNvPr id="111" name="Shape 108"/>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112" name="Text 109"/>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girl</a:t>
            </a:r>
            <a:endParaRPr lang="en-US" sz="700" dirty="0"/>
          </a:p>
        </p:txBody>
      </p:sp>
      <p:sp>
        <p:nvSpPr>
          <p:cNvPr id="113" name="Text 110"/>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تُسَاعِدِينَ</a:t>
            </a:r>
            <a:endParaRPr lang="ar-SA" sz="1350" dirty="0"/>
          </a:p>
        </p:txBody>
      </p:sp>
      <p:sp>
        <p:nvSpPr>
          <p:cNvPr id="114" name="Shape 111"/>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115" name="Text 112"/>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boy</a:t>
            </a:r>
            <a:endParaRPr lang="en-US" sz="750" dirty="0"/>
          </a:p>
        </p:txBody>
      </p:sp>
      <p:sp>
        <p:nvSpPr>
          <p:cNvPr id="116" name="Text 113"/>
          <p:cNvSpPr txBox="1"/>
          <p:nvPr/>
        </p:nvSpPr>
        <p:spPr>
          <a:xfrm>
            <a:off x="64008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تُسَاعِدُ</a:t>
            </a:r>
            <a:endParaRPr lang="ar-SA" sz="1500" dirty="0"/>
          </a:p>
        </p:txBody>
      </p:sp>
      <p:sp>
        <p:nvSpPr>
          <p:cNvPr id="117" name="Text 1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46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Questions to a girl/woman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تَفْعَلِينَ؟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do?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taf-ʿa-lī-na?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مَتَى تَسْتَيْقِظِينَ؟</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when do you wake up?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ma-tā tas-tay-qi-ẓī-na?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كَيْفَ تَذْهَبِينَ؟</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do you go?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kay-fa tadh-ha-bī-na?</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كَمْ مَرَّةً تَتَمَرَّنِينَ؟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how often do you train?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kam mar-ra-tan ta-ta-mar-ra-nī-na?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لِمَاذَا تُفَضِّلِينَ ذٰلِكَ؟</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why do you prefer that?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li-mā-dhā tu-faḍ-ḍi-lī-na dhā-li-ka?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تُسَاعِدِينَ أُسْرَتَكِ؟</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do you help your family?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tu-sā-ʿi-dī-na us-ra-ta-ki?</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46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4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management</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أَخْبِرْنِي أَكْثَرَ</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tell me more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akh-bir-nī ak-tha-ra</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أَخْبِرِينِي أَكْثَرَ</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tell me more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akh-bi-rī-nī ak-tha-ra</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تَقْصِدُ؟</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mean?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taq-ṣi-du?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26</a:t>
            </a:r>
            <a:endParaRPr lang="en-US" sz="1000" dirty="0"/>
          </a:p>
        </p:txBody>
      </p:sp>
      <p:sp>
        <p:nvSpPr>
          <p:cNvPr id="35" name="Text 32"/>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مَاذَا تَقْصِدِينَ؟</a:t>
            </a:r>
            <a:endParaRPr lang="ar-SA" sz="3000" dirty="0"/>
          </a:p>
        </p:txBody>
      </p:sp>
      <p:sp>
        <p:nvSpPr>
          <p:cNvPr id="36" name="Text 33"/>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do you mean?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mā-dhā taq-ṣi-dī-na?</a:t>
            </a:r>
            <a:endParaRPr lang="en-US" sz="1350" dirty="0"/>
          </a:p>
        </p:txBody>
      </p:sp>
      <p:sp>
        <p:nvSpPr>
          <p:cNvPr id="37" name="Shape 3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4389120" y="4261104"/>
            <a:ext cx="310896" cy="310896"/>
          </a:xfrm>
          <a:prstGeom prst="ellipse">
            <a:avLst/>
          </a:prstGeom>
          <a:solidFill>
            <a:srgbClr val="F4F1EA"/>
          </a:solidFill>
          <a:ln w="12700">
            <a:solidFill>
              <a:srgbClr val="F4F1EA"/>
            </a:solidFill>
            <a:prstDash val="solid"/>
          </a:ln>
        </p:spPr>
      </p:sp>
      <p:sp>
        <p:nvSpPr>
          <p:cNvPr id="39" name="Text 3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27</a:t>
            </a:r>
            <a:endParaRPr lang="en-US" sz="1000" dirty="0"/>
          </a:p>
        </p:txBody>
      </p:sp>
      <p:sp>
        <p:nvSpPr>
          <p:cNvPr id="40" name="Text 3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تُوَضِّحَ؟</a:t>
            </a:r>
            <a:endParaRPr lang="ar-SA" sz="3000" dirty="0"/>
          </a:p>
        </p:txBody>
      </p:sp>
      <p:sp>
        <p:nvSpPr>
          <p:cNvPr id="41" name="Text 3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 you clarify? —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yum-ki-nu-ka an tu-waḍ-ḍi-ḥa?</a:t>
            </a:r>
            <a:endParaRPr lang="en-US" sz="1350" dirty="0"/>
          </a:p>
        </p:txBody>
      </p:sp>
      <p:sp>
        <p:nvSpPr>
          <p:cNvPr id="42" name="Shape 3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66928" y="4261104"/>
            <a:ext cx="310896" cy="310896"/>
          </a:xfrm>
          <a:prstGeom prst="ellipse">
            <a:avLst/>
          </a:prstGeom>
          <a:solidFill>
            <a:srgbClr val="F4F1EA"/>
          </a:solidFill>
          <a:ln w="12700">
            <a:solidFill>
              <a:srgbClr val="F4F1EA"/>
            </a:solidFill>
            <a:prstDash val="solid"/>
          </a:ln>
        </p:spPr>
      </p:sp>
      <p:sp>
        <p:nvSpPr>
          <p:cNvPr id="44" name="Text 4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28</a:t>
            </a:r>
            <a:endParaRPr lang="en-US" sz="1000" dirty="0"/>
          </a:p>
        </p:txBody>
      </p:sp>
      <p:sp>
        <p:nvSpPr>
          <p:cNvPr id="45" name="Text 4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هَلْ يُمْكِنُكِ أَنْ تُوَضِّحِي؟</a:t>
            </a:r>
            <a:endParaRPr lang="ar-SA" sz="3000" dirty="0"/>
          </a:p>
        </p:txBody>
      </p:sp>
      <p:sp>
        <p:nvSpPr>
          <p:cNvPr id="46" name="Text 4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can you clarify? —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hal yum-ki-nu-ki an tu-waḍ-ḍi-ḥī?</a:t>
            </a:r>
            <a:endParaRPr lang="en-US" sz="1350" dirty="0"/>
          </a:p>
        </p:txBody>
      </p:sp>
      <p:sp>
        <p:nvSpPr>
          <p:cNvPr id="47"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46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1 · WHO ARE YOU ASKING? (WEBSITE RULES)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Asking a boy, a girl or a group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أَنْتَ · أَنْتِ · أَنْتُمْ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boy</a:t>
            </a:r>
            <a:endParaRPr lang="en-US" sz="1100" dirty="0"/>
          </a:p>
        </p:txBody>
      </p:sp>
      <p:sp>
        <p:nvSpPr>
          <p:cNvPr id="17" name="Text 14"/>
          <p:cNvSpPr txBox="1"/>
          <p:nvPr/>
        </p:nvSpPr>
        <p:spPr>
          <a:xfrm>
            <a:off x="57698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girl</a:t>
            </a:r>
            <a:endParaRPr lang="en-US" sz="1100" dirty="0"/>
          </a:p>
        </p:txBody>
      </p:sp>
      <p:sp>
        <p:nvSpPr>
          <p:cNvPr id="18" name="Text 15"/>
          <p:cNvSpPr txBox="1"/>
          <p:nvPr/>
        </p:nvSpPr>
        <p:spPr>
          <a:xfrm>
            <a:off x="275234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 a group</a:t>
            </a:r>
            <a:endParaRPr lang="en-US" sz="1100" dirty="0"/>
          </a:p>
        </p:txBody>
      </p:sp>
      <p:sp>
        <p:nvSpPr>
          <p:cNvPr id="19" name="Text 16"/>
          <p:cNvSpPr txBox="1"/>
          <p:nvPr/>
        </p:nvSpPr>
        <p:spPr>
          <a:xfrm>
            <a:off x="530352" y="1810512"/>
            <a:ext cx="20756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97112" y="2286000"/>
            <a:ext cx="27432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endParaRPr lang="ar-SA" sz="2100" dirty="0"/>
          </a:p>
        </p:txBody>
      </p:sp>
      <p:sp>
        <p:nvSpPr>
          <p:cNvPr id="22" name="Text 19"/>
          <p:cNvSpPr txBox="1"/>
          <p:nvPr/>
        </p:nvSpPr>
        <p:spPr>
          <a:xfrm>
            <a:off x="8851392" y="2706624"/>
            <a:ext cx="283464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a:t>
            </a:r>
            <a:endParaRPr lang="en-US" sz="950" dirty="0"/>
          </a:p>
        </p:txBody>
      </p:sp>
      <p:sp>
        <p:nvSpPr>
          <p:cNvPr id="23" name="Text 20"/>
          <p:cNvSpPr txBox="1"/>
          <p:nvPr/>
        </p:nvSpPr>
        <p:spPr>
          <a:xfrm>
            <a:off x="5788152" y="2286000"/>
            <a:ext cx="292608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pPr rtl="1" algn="ctr" indent="0" marL="0">
              <a:buNone/>
            </a:pPr>
            <a:r>
              <a:rPr lang="ar-SA" altLang="en-US" sz="2100" b="1" dirty="0">
                <a:solidFill>
                  <a:srgbClr val="D6336C"/>
                </a:solidFill>
                <a:latin typeface="Amiri" pitchFamily="34" charset="0"/>
                <a:ea typeface="Amiri" pitchFamily="34" charset="-122"/>
                <a:cs typeface="Amiri" pitchFamily="34" charset="-120"/>
              </a:rPr>
              <a:t>ينَ</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4" name="Text 21"/>
          <p:cNvSpPr txBox="1"/>
          <p:nvPr/>
        </p:nvSpPr>
        <p:spPr>
          <a:xfrm>
            <a:off x="5742432" y="2706624"/>
            <a:ext cx="301752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a:t>
            </a:r>
            <a:endParaRPr lang="en-US" sz="950" dirty="0"/>
          </a:p>
        </p:txBody>
      </p:sp>
      <p:sp>
        <p:nvSpPr>
          <p:cNvPr id="25" name="Text 22"/>
          <p:cNvSpPr txBox="1"/>
          <p:nvPr/>
        </p:nvSpPr>
        <p:spPr>
          <a:xfrm>
            <a:off x="2770632" y="2286000"/>
            <a:ext cx="283464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مَاذَا تَفْعَلُ</a:t>
            </a:r>
            <a:pPr rtl="1" algn="ctr" indent="0" marL="0">
              <a:buNone/>
            </a:pPr>
            <a:r>
              <a:rPr lang="ar-SA" altLang="en-US" sz="2100" b="1" dirty="0">
                <a:solidFill>
                  <a:srgbClr val="0E7C86"/>
                </a:solidFill>
                <a:latin typeface="Amiri" pitchFamily="34" charset="0"/>
                <a:ea typeface="Amiri" pitchFamily="34" charset="-122"/>
                <a:cs typeface="Amiri" pitchFamily="34" charset="-120"/>
              </a:rPr>
              <a:t>ونَ</a:t>
            </a:r>
            <a:pPr rtl="1" algn="ctr" indent="0" marL="0">
              <a:buNone/>
            </a:pPr>
            <a:r>
              <a:rPr lang="ar-SA" altLang="en-US" sz="2100" b="1" dirty="0">
                <a:solidFill>
                  <a:srgbClr val="1B3B6F"/>
                </a:solidFill>
                <a:latin typeface="Amiri" pitchFamily="34" charset="0"/>
                <a:ea typeface="Amiri" pitchFamily="34" charset="-122"/>
                <a:cs typeface="Amiri" pitchFamily="34" charset="-120"/>
              </a:rPr>
              <a:t>؟</a:t>
            </a:r>
            <a:endParaRPr lang="ar-SA" sz="2100" dirty="0"/>
          </a:p>
        </p:txBody>
      </p:sp>
      <p:sp>
        <p:nvSpPr>
          <p:cNvPr id="26" name="Text 23"/>
          <p:cNvSpPr txBox="1"/>
          <p:nvPr/>
        </p:nvSpPr>
        <p:spPr>
          <a:xfrm>
            <a:off x="2724912" y="2706624"/>
            <a:ext cx="2926080" cy="277978"/>
          </a:xfrm>
          <a:prstGeom prst="rect">
            <a:avLst/>
          </a:prstGeom>
          <a:noFill/>
          <a:ln/>
        </p:spPr>
        <p:txBody>
          <a:bodyPr wrap="square" lIns="0" tIns="0" rIns="0" bIns="0" rtlCol="0" anchor="ctr"/>
          <a:lstStyle/>
          <a:p>
            <a:pPr algn="ctr" indent="0" marL="0">
              <a:buNone/>
            </a:pPr>
            <a:r>
              <a:rPr lang="ar-SA" altLang="en-US" sz="1250" dirty="0">
                <a:solidFill>
                  <a:srgbClr val="5A6472"/>
                </a:solidFill>
                <a:latin typeface="Amiri" pitchFamily="34" charset="0"/>
                <a:ea typeface="Amiri" pitchFamily="34" charset="-122"/>
                <a:cs typeface="Amiri" pitchFamily="34" charset="-120"/>
              </a:rPr>
              <a:t>أَنْتُمْ</a:t>
            </a:r>
            <a:endParaRPr lang="en-US" sz="950" dirty="0"/>
          </a:p>
        </p:txBody>
      </p:sp>
      <p:sp>
        <p:nvSpPr>
          <p:cNvPr id="27" name="Text 24"/>
          <p:cNvSpPr txBox="1"/>
          <p:nvPr/>
        </p:nvSpPr>
        <p:spPr>
          <a:xfrm>
            <a:off x="566928" y="2267712"/>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What do you do?</a:t>
            </a:r>
            <a:endParaRPr lang="en-US" sz="1100" dirty="0"/>
          </a:p>
        </p:txBody>
      </p:sp>
      <p:sp>
        <p:nvSpPr>
          <p:cNvPr id="28" name="Shape 25"/>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0" name="Shape 27"/>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1" name="Text 28"/>
          <p:cNvSpPr txBox="1"/>
          <p:nvPr/>
        </p:nvSpPr>
        <p:spPr>
          <a:xfrm>
            <a:off x="8897112" y="3054096"/>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endParaRPr lang="ar-SA" sz="2600" dirty="0"/>
          </a:p>
        </p:txBody>
      </p:sp>
      <p:sp>
        <p:nvSpPr>
          <p:cNvPr id="32" name="Text 29"/>
          <p:cNvSpPr txBox="1"/>
          <p:nvPr/>
        </p:nvSpPr>
        <p:spPr>
          <a:xfrm>
            <a:off x="5788152" y="3054096"/>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33" name="Text 30"/>
          <p:cNvSpPr txBox="1"/>
          <p:nvPr/>
        </p:nvSpPr>
        <p:spPr>
          <a:xfrm>
            <a:off x="2770632" y="3054096"/>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مَتَى تَسْتَيْقِظُ</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34" name="Text 31"/>
          <p:cNvSpPr txBox="1"/>
          <p:nvPr/>
        </p:nvSpPr>
        <p:spPr>
          <a:xfrm>
            <a:off x="566928" y="3054096"/>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When do you wake up?</a:t>
            </a:r>
            <a:endParaRPr lang="en-US" sz="1100" dirty="0"/>
          </a:p>
        </p:txBody>
      </p:sp>
      <p:sp>
        <p:nvSpPr>
          <p:cNvPr id="35" name="Shape 32"/>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8" name="Text 35"/>
          <p:cNvSpPr txBox="1"/>
          <p:nvPr/>
        </p:nvSpPr>
        <p:spPr>
          <a:xfrm>
            <a:off x="8897112" y="3840480"/>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endParaRPr lang="ar-SA" sz="2600" dirty="0"/>
          </a:p>
        </p:txBody>
      </p:sp>
      <p:sp>
        <p:nvSpPr>
          <p:cNvPr id="39" name="Text 36"/>
          <p:cNvSpPr txBox="1"/>
          <p:nvPr/>
        </p:nvSpPr>
        <p:spPr>
          <a:xfrm>
            <a:off x="5788152" y="3840480"/>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0" name="Text 37"/>
          <p:cNvSpPr txBox="1"/>
          <p:nvPr/>
        </p:nvSpPr>
        <p:spPr>
          <a:xfrm>
            <a:off x="2770632" y="3840480"/>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كَيْفَ تَذْهَبُ</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1" name="Text 38"/>
          <p:cNvSpPr txBox="1"/>
          <p:nvPr/>
        </p:nvSpPr>
        <p:spPr>
          <a:xfrm>
            <a:off x="566928" y="3840480"/>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How do you go?</a:t>
            </a:r>
            <a:endParaRPr lang="en-US" sz="1100" dirty="0"/>
          </a:p>
        </p:txBody>
      </p:sp>
      <p:sp>
        <p:nvSpPr>
          <p:cNvPr id="42" name="Shape 39"/>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3" name="Text 40"/>
          <p:cNvSpPr txBox="1"/>
          <p:nvPr/>
        </p:nvSpPr>
        <p:spPr>
          <a:xfrm>
            <a:off x="8897112" y="4626864"/>
            <a:ext cx="27432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 أُسْرَتَ</a:t>
            </a:r>
            <a:pPr rtl="1" algn="ctr" indent="0" marL="0">
              <a:buNone/>
            </a:pPr>
            <a:r>
              <a:rPr lang="ar-SA" altLang="en-US" sz="2600" b="1" dirty="0">
                <a:solidFill>
                  <a:srgbClr val="1D5FBF"/>
                </a:solidFill>
                <a:latin typeface="Amiri" pitchFamily="34" charset="0"/>
                <a:ea typeface="Amiri" pitchFamily="34" charset="-122"/>
                <a:cs typeface="Amiri" pitchFamily="34" charset="-120"/>
              </a:rPr>
              <a:t>كَ</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4" name="Text 41"/>
          <p:cNvSpPr txBox="1"/>
          <p:nvPr/>
        </p:nvSpPr>
        <p:spPr>
          <a:xfrm>
            <a:off x="5788152" y="4626864"/>
            <a:ext cx="29260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a:t>
            </a:r>
            <a:pPr rtl="1" algn="ctr" indent="0" marL="0">
              <a:buNone/>
            </a:pPr>
            <a:r>
              <a:rPr lang="ar-SA" altLang="en-US" sz="2600" b="1" dirty="0">
                <a:solidFill>
                  <a:srgbClr val="D6336C"/>
                </a:solidFill>
                <a:latin typeface="Amiri" pitchFamily="34" charset="0"/>
                <a:ea typeface="Amiri" pitchFamily="34" charset="-122"/>
                <a:cs typeface="Amiri" pitchFamily="34" charset="-120"/>
              </a:rPr>
              <a:t>ينَ</a:t>
            </a:r>
            <a:pPr rtl="1" algn="ctr" indent="0" marL="0">
              <a:buNone/>
            </a:pPr>
            <a:r>
              <a:rPr lang="ar-SA" altLang="en-US" sz="2600" b="1" dirty="0">
                <a:solidFill>
                  <a:srgbClr val="1B3B6F"/>
                </a:solidFill>
                <a:latin typeface="Amiri" pitchFamily="34" charset="0"/>
                <a:ea typeface="Amiri" pitchFamily="34" charset="-122"/>
                <a:cs typeface="Amiri" pitchFamily="34" charset="-120"/>
              </a:rPr>
              <a:t> أُسْرَتَ</a:t>
            </a:r>
            <a:pPr rtl="1" algn="ctr" indent="0" marL="0">
              <a:buNone/>
            </a:pPr>
            <a:r>
              <a:rPr lang="ar-SA" altLang="en-US" sz="2600" b="1" dirty="0">
                <a:solidFill>
                  <a:srgbClr val="D6336C"/>
                </a:solidFill>
                <a:latin typeface="Amiri" pitchFamily="34" charset="0"/>
                <a:ea typeface="Amiri" pitchFamily="34" charset="-122"/>
                <a:cs typeface="Amiri" pitchFamily="34" charset="-120"/>
              </a:rPr>
              <a:t>كِ</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5" name="Text 42"/>
          <p:cNvSpPr txBox="1"/>
          <p:nvPr/>
        </p:nvSpPr>
        <p:spPr>
          <a:xfrm>
            <a:off x="2770632" y="4626864"/>
            <a:ext cx="283464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هَلْ تُسَاعِدُ</a:t>
            </a:r>
            <a:pPr rtl="1" algn="ctr" indent="0" marL="0">
              <a:buNone/>
            </a:pPr>
            <a:r>
              <a:rPr lang="ar-SA" altLang="en-US" sz="2600" b="1" dirty="0">
                <a:solidFill>
                  <a:srgbClr val="0E7C86"/>
                </a:solidFill>
                <a:latin typeface="Amiri" pitchFamily="34" charset="0"/>
                <a:ea typeface="Amiri" pitchFamily="34" charset="-122"/>
                <a:cs typeface="Amiri" pitchFamily="34" charset="-120"/>
              </a:rPr>
              <a:t>ونَ</a:t>
            </a:r>
            <a:pPr rtl="1" algn="ctr" indent="0" marL="0">
              <a:buNone/>
            </a:pPr>
            <a:r>
              <a:rPr lang="ar-SA" altLang="en-US" sz="2600" b="1" dirty="0">
                <a:solidFill>
                  <a:srgbClr val="1B3B6F"/>
                </a:solidFill>
                <a:latin typeface="Amiri" pitchFamily="34" charset="0"/>
                <a:ea typeface="Amiri" pitchFamily="34" charset="-122"/>
                <a:cs typeface="Amiri" pitchFamily="34" charset="-120"/>
              </a:rPr>
              <a:t> أُسْرَتَ</a:t>
            </a:r>
            <a:pPr rtl="1" algn="ctr" indent="0" marL="0">
              <a:buNone/>
            </a:pPr>
            <a:r>
              <a:rPr lang="ar-SA" altLang="en-US" sz="2600" b="1" dirty="0">
                <a:solidFill>
                  <a:srgbClr val="0E7C86"/>
                </a:solidFill>
                <a:latin typeface="Amiri" pitchFamily="34" charset="0"/>
                <a:ea typeface="Amiri" pitchFamily="34" charset="-122"/>
                <a:cs typeface="Amiri" pitchFamily="34" charset="-120"/>
              </a:rPr>
              <a:t>كُمْ</a:t>
            </a:r>
            <a:pPr rtl="1" algn="ctr" indent="0" marL="0">
              <a:buNone/>
            </a:pPr>
            <a:r>
              <a:rPr lang="ar-SA" altLang="en-US" sz="2600" b="1" dirty="0">
                <a:solidFill>
                  <a:srgbClr val="1B3B6F"/>
                </a:solidFill>
                <a:latin typeface="Amiri" pitchFamily="34" charset="0"/>
                <a:ea typeface="Amiri" pitchFamily="34" charset="-122"/>
                <a:cs typeface="Amiri" pitchFamily="34" charset="-120"/>
              </a:rPr>
              <a:t>؟</a:t>
            </a:r>
            <a:endParaRPr lang="ar-SA" sz="2600" dirty="0"/>
          </a:p>
        </p:txBody>
      </p:sp>
      <p:sp>
        <p:nvSpPr>
          <p:cNvPr id="46" name="Text 43"/>
          <p:cNvSpPr txBox="1"/>
          <p:nvPr/>
        </p:nvSpPr>
        <p:spPr>
          <a:xfrm>
            <a:off x="566928" y="4626864"/>
            <a:ext cx="2039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help your family?</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by the LISTENER, not by yourself: a boy asking a girl still says -īna.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46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ea typeface="Calibri" pitchFamily="34" charset="-122"/>
                <a:cs typeface="Calibri" pitchFamily="34" charset="-120"/>
              </a:rPr>
              <a:t>GRAMMAR FOCUS · PART 2 · MATCH THE QUESTION WORD TO THE ANSWER (WEBSITE TABLE)</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ea typeface="Cambria" pitchFamily="34" charset="-122"/>
                <a:cs typeface="Cambria" pitchFamily="34" charset="-120"/>
              </a:rPr>
              <a:t>Every question word wants a different answer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السُّؤَالُ وَالجَوَابُ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061704"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word</a:t>
            </a:r>
            <a:endParaRPr lang="en-US" sz="1100" dirty="0"/>
          </a:p>
        </p:txBody>
      </p:sp>
      <p:sp>
        <p:nvSpPr>
          <p:cNvPr id="17" name="Text 14"/>
          <p:cNvSpPr txBox="1"/>
          <p:nvPr/>
        </p:nvSpPr>
        <p:spPr>
          <a:xfrm>
            <a:off x="595274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 shape</a:t>
            </a:r>
            <a:endParaRPr lang="en-US" sz="1100" dirty="0"/>
          </a:p>
        </p:txBody>
      </p:sp>
      <p:sp>
        <p:nvSpPr>
          <p:cNvPr id="18" name="Text 15"/>
          <p:cNvSpPr txBox="1"/>
          <p:nvPr/>
        </p:nvSpPr>
        <p:spPr>
          <a:xfrm>
            <a:off x="2660904"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 answer</a:t>
            </a:r>
            <a:endParaRPr lang="en-US" sz="1100" dirty="0"/>
          </a:p>
        </p:txBody>
      </p:sp>
      <p:sp>
        <p:nvSpPr>
          <p:cNvPr id="19" name="Text 16"/>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Asks for</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9079992" y="2286000"/>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مَتَى؟</a:t>
            </a:r>
            <a:endParaRPr lang="ar-SA" sz="1950" dirty="0"/>
          </a:p>
        </p:txBody>
      </p:sp>
      <p:sp>
        <p:nvSpPr>
          <p:cNvPr id="22" name="Text 19"/>
          <p:cNvSpPr txBox="1"/>
          <p:nvPr/>
        </p:nvSpPr>
        <p:spPr>
          <a:xfrm>
            <a:off x="9034272" y="267699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when?</a:t>
            </a:r>
            <a:endParaRPr lang="en-US" sz="950" dirty="0"/>
          </a:p>
        </p:txBody>
      </p:sp>
      <p:sp>
        <p:nvSpPr>
          <p:cNvPr id="23" name="Text 20"/>
          <p:cNvSpPr txBox="1"/>
          <p:nvPr/>
        </p:nvSpPr>
        <p:spPr>
          <a:xfrm>
            <a:off x="5971032" y="2267712"/>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فِي السَّاعَةِ …</a:t>
            </a:r>
            <a:endParaRPr lang="ar-SA" sz="2400" dirty="0"/>
          </a:p>
        </p:txBody>
      </p:sp>
      <p:sp>
        <p:nvSpPr>
          <p:cNvPr id="24" name="Text 21"/>
          <p:cNvSpPr txBox="1"/>
          <p:nvPr/>
        </p:nvSpPr>
        <p:spPr>
          <a:xfrm>
            <a:off x="2679192" y="2286000"/>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فِي السَّادِسَةِ وَالنِّصْفِ.</a:t>
            </a:r>
            <a:endParaRPr lang="ar-SA" sz="1950" dirty="0"/>
          </a:p>
        </p:txBody>
      </p:sp>
      <p:sp>
        <p:nvSpPr>
          <p:cNvPr id="25" name="Text 22"/>
          <p:cNvSpPr txBox="1"/>
          <p:nvPr/>
        </p:nvSpPr>
        <p:spPr>
          <a:xfrm>
            <a:off x="2633472" y="267699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at half past six</a:t>
            </a:r>
            <a:endParaRPr lang="en-US" sz="950" dirty="0"/>
          </a:p>
        </p:txBody>
      </p:sp>
      <p:sp>
        <p:nvSpPr>
          <p:cNvPr id="26" name="Text 23"/>
          <p:cNvSpPr txBox="1"/>
          <p:nvPr/>
        </p:nvSpPr>
        <p:spPr>
          <a:xfrm>
            <a:off x="566928" y="2267712"/>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time</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079992" y="302300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كَمْ مَرَّةً؟</a:t>
            </a:r>
            <a:endParaRPr lang="ar-SA" sz="1950" dirty="0"/>
          </a:p>
        </p:txBody>
      </p:sp>
      <p:sp>
        <p:nvSpPr>
          <p:cNvPr id="31" name="Text 28"/>
          <p:cNvSpPr txBox="1"/>
          <p:nvPr/>
        </p:nvSpPr>
        <p:spPr>
          <a:xfrm>
            <a:off x="9034272" y="3414004"/>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often?</a:t>
            </a:r>
            <a:endParaRPr lang="en-US" sz="950" dirty="0"/>
          </a:p>
        </p:txBody>
      </p:sp>
      <p:sp>
        <p:nvSpPr>
          <p:cNvPr id="32" name="Text 29"/>
          <p:cNvSpPr txBox="1"/>
          <p:nvPr/>
        </p:nvSpPr>
        <p:spPr>
          <a:xfrm>
            <a:off x="5971032" y="300471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مَرَّةً / مَرَّتَيْنِ …</a:t>
            </a:r>
            <a:endParaRPr lang="ar-SA" sz="2400" dirty="0"/>
          </a:p>
        </p:txBody>
      </p:sp>
      <p:sp>
        <p:nvSpPr>
          <p:cNvPr id="33" name="Text 30"/>
          <p:cNvSpPr txBox="1"/>
          <p:nvPr/>
        </p:nvSpPr>
        <p:spPr>
          <a:xfrm>
            <a:off x="2679192" y="302300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مَرَّتَيْنِ فِي الأُسْبُوعِ.</a:t>
            </a:r>
            <a:endParaRPr lang="ar-SA" sz="1950" dirty="0"/>
          </a:p>
        </p:txBody>
      </p:sp>
      <p:sp>
        <p:nvSpPr>
          <p:cNvPr id="34" name="Text 31"/>
          <p:cNvSpPr txBox="1"/>
          <p:nvPr/>
        </p:nvSpPr>
        <p:spPr>
          <a:xfrm>
            <a:off x="2633472" y="3414004"/>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twice a week</a:t>
            </a:r>
            <a:endParaRPr lang="en-US" sz="950" dirty="0"/>
          </a:p>
        </p:txBody>
      </p:sp>
      <p:sp>
        <p:nvSpPr>
          <p:cNvPr id="35" name="Text 32"/>
          <p:cNvSpPr txBox="1"/>
          <p:nvPr/>
        </p:nvSpPr>
        <p:spPr>
          <a:xfrm>
            <a:off x="566928" y="300471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frequency</a:t>
            </a:r>
            <a:endParaRPr lang="en-US" sz="1100" dirty="0"/>
          </a:p>
        </p:txBody>
      </p:sp>
      <p:sp>
        <p:nvSpPr>
          <p:cNvPr id="36" name="Shape 3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9079992" y="3760013"/>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كَيْفَ؟</a:t>
            </a:r>
            <a:endParaRPr lang="ar-SA" sz="1950" dirty="0"/>
          </a:p>
        </p:txBody>
      </p:sp>
      <p:sp>
        <p:nvSpPr>
          <p:cNvPr id="40" name="Text 37"/>
          <p:cNvSpPr txBox="1"/>
          <p:nvPr/>
        </p:nvSpPr>
        <p:spPr>
          <a:xfrm>
            <a:off x="9034272" y="4151010"/>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a:t>
            </a:r>
            <a:endParaRPr lang="en-US" sz="950" dirty="0"/>
          </a:p>
        </p:txBody>
      </p:sp>
      <p:sp>
        <p:nvSpPr>
          <p:cNvPr id="41" name="Text 38"/>
          <p:cNvSpPr txBox="1"/>
          <p:nvPr/>
        </p:nvSpPr>
        <p:spPr>
          <a:xfrm>
            <a:off x="5971032" y="3741725"/>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بِـ … / مَشْيًا</a:t>
            </a:r>
            <a:endParaRPr lang="ar-SA" sz="2400" dirty="0"/>
          </a:p>
        </p:txBody>
      </p:sp>
      <p:sp>
        <p:nvSpPr>
          <p:cNvPr id="42" name="Text 39"/>
          <p:cNvSpPr txBox="1"/>
          <p:nvPr/>
        </p:nvSpPr>
        <p:spPr>
          <a:xfrm>
            <a:off x="2679192" y="3760013"/>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بِالحَافِلَةِ.</a:t>
            </a:r>
            <a:endParaRPr lang="ar-SA" sz="1950" dirty="0"/>
          </a:p>
        </p:txBody>
      </p:sp>
      <p:sp>
        <p:nvSpPr>
          <p:cNvPr id="43" name="Text 40"/>
          <p:cNvSpPr txBox="1"/>
          <p:nvPr/>
        </p:nvSpPr>
        <p:spPr>
          <a:xfrm>
            <a:off x="2633472" y="4151010"/>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by bus</a:t>
            </a:r>
            <a:endParaRPr lang="en-US" sz="950" dirty="0"/>
          </a:p>
        </p:txBody>
      </p:sp>
      <p:sp>
        <p:nvSpPr>
          <p:cNvPr id="44" name="Text 41"/>
          <p:cNvSpPr txBox="1"/>
          <p:nvPr/>
        </p:nvSpPr>
        <p:spPr>
          <a:xfrm>
            <a:off x="566928" y="3741725"/>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method</a:t>
            </a:r>
            <a:endParaRPr lang="en-US" sz="1100" dirty="0"/>
          </a:p>
        </p:txBody>
      </p:sp>
      <p:sp>
        <p:nvSpPr>
          <p:cNvPr id="45" name="Shape 4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6" name="Text 4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7" name="Shape 4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8" name="Text 45"/>
          <p:cNvSpPr txBox="1"/>
          <p:nvPr/>
        </p:nvSpPr>
        <p:spPr>
          <a:xfrm>
            <a:off x="9079992" y="4497019"/>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لِمَاذَا؟</a:t>
            </a:r>
            <a:endParaRPr lang="ar-SA" sz="1950" dirty="0"/>
          </a:p>
        </p:txBody>
      </p:sp>
      <p:sp>
        <p:nvSpPr>
          <p:cNvPr id="49" name="Text 46"/>
          <p:cNvSpPr txBox="1"/>
          <p:nvPr/>
        </p:nvSpPr>
        <p:spPr>
          <a:xfrm>
            <a:off x="9034272" y="4888017"/>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why?</a:t>
            </a:r>
            <a:endParaRPr lang="en-US" sz="950" dirty="0"/>
          </a:p>
        </p:txBody>
      </p:sp>
      <p:sp>
        <p:nvSpPr>
          <p:cNvPr id="50" name="Text 47"/>
          <p:cNvSpPr txBox="1"/>
          <p:nvPr/>
        </p:nvSpPr>
        <p:spPr>
          <a:xfrm>
            <a:off x="5971032" y="4478731"/>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لِأَنَّ …</a:t>
            </a:r>
            <a:endParaRPr lang="ar-SA" sz="2400" dirty="0"/>
          </a:p>
        </p:txBody>
      </p:sp>
      <p:sp>
        <p:nvSpPr>
          <p:cNvPr id="51" name="Text 48"/>
          <p:cNvSpPr txBox="1"/>
          <p:nvPr/>
        </p:nvSpPr>
        <p:spPr>
          <a:xfrm>
            <a:off x="2679192" y="4497019"/>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لِأَنَّ المَدْرَسَةَ بَعِيدَةٌ.</a:t>
            </a:r>
            <a:endParaRPr lang="ar-SA" sz="1950" dirty="0"/>
          </a:p>
        </p:txBody>
      </p:sp>
      <p:sp>
        <p:nvSpPr>
          <p:cNvPr id="52" name="Text 49"/>
          <p:cNvSpPr txBox="1"/>
          <p:nvPr/>
        </p:nvSpPr>
        <p:spPr>
          <a:xfrm>
            <a:off x="2633472" y="4888017"/>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because school is far</a:t>
            </a:r>
            <a:endParaRPr lang="en-US" sz="950" dirty="0"/>
          </a:p>
        </p:txBody>
      </p:sp>
      <p:sp>
        <p:nvSpPr>
          <p:cNvPr id="53" name="Text 50"/>
          <p:cNvSpPr txBox="1"/>
          <p:nvPr/>
        </p:nvSpPr>
        <p:spPr>
          <a:xfrm>
            <a:off x="566928" y="4478731"/>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reason</a:t>
            </a:r>
            <a:endParaRPr lang="en-US" sz="1100" dirty="0"/>
          </a:p>
        </p:txBody>
      </p:sp>
      <p:sp>
        <p:nvSpPr>
          <p:cNvPr id="54" name="Shape 51"/>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6" name="Shape 53"/>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7" name="Text 54"/>
          <p:cNvSpPr txBox="1"/>
          <p:nvPr/>
        </p:nvSpPr>
        <p:spPr>
          <a:xfrm>
            <a:off x="9079992" y="5234026"/>
            <a:ext cx="256032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كَمْ مِنَ الوَقْتِ؟</a:t>
            </a:r>
            <a:endParaRPr lang="ar-SA" sz="1950" dirty="0"/>
          </a:p>
        </p:txBody>
      </p:sp>
      <p:sp>
        <p:nvSpPr>
          <p:cNvPr id="58" name="Text 55"/>
          <p:cNvSpPr txBox="1"/>
          <p:nvPr/>
        </p:nvSpPr>
        <p:spPr>
          <a:xfrm>
            <a:off x="9034272" y="5625023"/>
            <a:ext cx="265176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how long?</a:t>
            </a:r>
            <a:endParaRPr lang="en-US" sz="950" dirty="0"/>
          </a:p>
        </p:txBody>
      </p:sp>
      <p:sp>
        <p:nvSpPr>
          <p:cNvPr id="59" name="Text 56"/>
          <p:cNvSpPr txBox="1"/>
          <p:nvPr/>
        </p:nvSpPr>
        <p:spPr>
          <a:xfrm>
            <a:off x="5971032" y="5215738"/>
            <a:ext cx="29260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لِمُدَّةِ …</a:t>
            </a:r>
            <a:endParaRPr lang="ar-SA" sz="2400" dirty="0"/>
          </a:p>
        </p:txBody>
      </p:sp>
      <p:sp>
        <p:nvSpPr>
          <p:cNvPr id="60" name="Text 57"/>
          <p:cNvSpPr txBox="1"/>
          <p:nvPr/>
        </p:nvSpPr>
        <p:spPr>
          <a:xfrm>
            <a:off x="2679192" y="5234026"/>
            <a:ext cx="3108960" cy="422928"/>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34" charset="0"/>
                <a:ea typeface="Amiri" pitchFamily="34" charset="-122"/>
                <a:cs typeface="Amiri" pitchFamily="34" charset="-120"/>
              </a:rPr>
              <a:t>لِمُدَّةِ سَاعَةٍ.</a:t>
            </a:r>
            <a:endParaRPr lang="ar-SA" sz="1950" dirty="0"/>
          </a:p>
        </p:txBody>
      </p:sp>
      <p:sp>
        <p:nvSpPr>
          <p:cNvPr id="61" name="Text 58"/>
          <p:cNvSpPr txBox="1"/>
          <p:nvPr/>
        </p:nvSpPr>
        <p:spPr>
          <a:xfrm>
            <a:off x="2633472" y="5625023"/>
            <a:ext cx="3200400"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for an hour</a:t>
            </a:r>
            <a:endParaRPr lang="en-US" sz="950" dirty="0"/>
          </a:p>
        </p:txBody>
      </p:sp>
      <p:sp>
        <p:nvSpPr>
          <p:cNvPr id="62" name="Text 59"/>
          <p:cNvSpPr txBox="1"/>
          <p:nvPr/>
        </p:nvSpPr>
        <p:spPr>
          <a:xfrm>
            <a:off x="566928" y="5215738"/>
            <a:ext cx="19476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duration</a:t>
            </a:r>
            <a:endParaRPr lang="en-US" sz="1100" dirty="0"/>
          </a:p>
        </p:txBody>
      </p:sp>
      <p:sp>
        <p:nvSpPr>
          <p:cNvPr id="63" name="Text 6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in a full sentence: “I train twice a week because …” — not just “twice”.</a:t>
            </a:r>
            <a:endParaRPr lang="en-US" sz="11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46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3 · BUILD A FOLLOW-UP FROM THE ANSWER (WEBSITE) · DEVELOP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 pick one detail, ask again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سُؤَالُ المُتَابَعَةِ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64592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6459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HOW OFTEN? · DEVELOP</a:t>
            </a:r>
            <a:endParaRPr lang="en-US" sz="850" dirty="0"/>
          </a:p>
        </p:txBody>
      </p:sp>
      <p:sp>
        <p:nvSpPr>
          <p:cNvPr id="18" name="Text 15"/>
          <p:cNvSpPr txBox="1"/>
          <p:nvPr/>
        </p:nvSpPr>
        <p:spPr>
          <a:xfrm>
            <a:off x="9924288" y="1874520"/>
            <a:ext cx="16703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كَمْ مَرَّةً؟</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34" charset="0"/>
                <a:ea typeface="Amiri" pitchFamily="34" charset="-122"/>
                <a:cs typeface="Amiri" pitchFamily="34" charset="-120"/>
              </a:rPr>
              <a:t>أَتَمَرَّنُ بَعْدَ المَدْرَسَةِ. — كَمْ مَرَّةً؟</a:t>
            </a:r>
            <a:endParaRPr lang="ar-SA" sz="23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train after school. — How often?</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frequency.</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234440" cy="274320"/>
          </a:xfrm>
          <a:prstGeom prst="roundRect">
            <a:avLst>
              <a:gd name="adj" fmla="val 50000"/>
            </a:avLst>
          </a:prstGeom>
          <a:solidFill>
            <a:srgbClr val="6B4C9A"/>
          </a:solidFill>
          <a:ln w="12700">
            <a:solidFill>
              <a:srgbClr val="6B4C9A"/>
            </a:solidFill>
            <a:prstDash val="solid"/>
          </a:ln>
        </p:spPr>
      </p:sp>
      <p:sp>
        <p:nvSpPr>
          <p:cNvPr id="25" name="Text 22"/>
          <p:cNvSpPr txBox="1"/>
          <p:nvPr/>
        </p:nvSpPr>
        <p:spPr>
          <a:xfrm>
            <a:off x="4413504" y="1920240"/>
            <a:ext cx="12344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WHY? · DEVELOP</a:t>
            </a:r>
            <a:endParaRPr lang="en-US" sz="850" dirty="0"/>
          </a:p>
        </p:txBody>
      </p:sp>
      <p:sp>
        <p:nvSpPr>
          <p:cNvPr id="26" name="Text 23"/>
          <p:cNvSpPr txBox="1"/>
          <p:nvPr/>
        </p:nvSpPr>
        <p:spPr>
          <a:xfrm>
            <a:off x="5693664" y="1874520"/>
            <a:ext cx="20817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لِمَاذَا؟</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أَذْهَبُ بِالحَافِلَةِ. — لِمَاذَا لَا تَمْشِي؟</a:t>
            </a:r>
            <a:endParaRPr lang="ar-SA" sz="21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 go by bus. — Why don’t you walk?</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reason.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508760" cy="274320"/>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594360" y="1920240"/>
            <a:ext cx="15087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EVALUATE · STRETCH</a:t>
            </a:r>
            <a:endParaRPr lang="en-US" sz="850" dirty="0"/>
          </a:p>
        </p:txBody>
      </p:sp>
      <p:sp>
        <p:nvSpPr>
          <p:cNvPr id="34" name="Text 31"/>
          <p:cNvSpPr txBox="1"/>
          <p:nvPr/>
        </p:nvSpPr>
        <p:spPr>
          <a:xfrm>
            <a:off x="2148840" y="1874520"/>
            <a:ext cx="18074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مَا أَصْعَبُ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رُوتِينِي مُزْدَحِمٌ. — مَا أَصْعَبُ جُزْءٍ فِيهِ؟</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My routine is busy. — What is the hardest part?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Detail: opinion.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tip: a follow-up stays on the SAME topic.</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أَقْرَأُ كُلَّ مَسَاءٍ. — مَاذَا تَقْرَأُ؟</a:t>
            </a:r>
            <a:endParaRPr lang="ar-SA" sz="165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أَقْرَأُ كُلَّ مَسَاءٍ. — أَيْنَ المَحَطَّةُ؟</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46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Second-person present forms and question architecture</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صِيَغُ المُخَاطَبِ وَبِنَاءُ السُّؤَالِ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Ask a masculine listener</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أَنْتَ تَفْعَلُ / تَسْتَيْقِظُ / تَذْهَبُ</a:t>
            </a:r>
            <a:endParaRPr lang="ar-SA" sz="13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مَاذَا تَفْعَلُ بَعْدَ المَدْرَسَةِ؟   ·   مَتَى تَسْتَيْقِظُ؟   ·   كَيْفَ تَذْهَبُ إِلَى المَدْرَسَةِ؟</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Ask a feminine listener</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أَنْتِ تَفْعَلِينَ / تَسْتَيْقِظِينَ / تَذْهَبِينَ</a:t>
            </a:r>
            <a:endParaRPr lang="ar-SA" sz="13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مَاذَا تَفْعَلِينَ فِي المَسَاءِ؟   ·   كَمْ مَرَّةً تَتَمَرَّنِينَ؟   ·   مَتَى تَنَامِينَ؟</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Match the question word to the answer</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34" charset="0"/>
                <a:ea typeface="Amiri" pitchFamily="34" charset="-122"/>
                <a:cs typeface="Amiri" pitchFamily="34" charset="-120"/>
              </a:rPr>
              <a:t>مَتَى</a:t>
            </a:r>
            <a:pPr algn="l" indent="0" marL="0">
              <a:buNone/>
            </a:pPr>
            <a:r>
              <a:rPr lang="en-US" sz="1050" dirty="0">
                <a:solidFill>
                  <a:srgbClr val="5A6472"/>
                </a:solidFill>
                <a:latin typeface="Calibri" pitchFamily="34" charset="0"/>
                <a:ea typeface="Calibri" pitchFamily="34" charset="-122"/>
                <a:cs typeface="Calibri" pitchFamily="34" charset="-120"/>
              </a:rPr>
              <a:t> → time · </a:t>
            </a:r>
            <a:pPr algn="l" indent="0" marL="0">
              <a:buNone/>
            </a:pPr>
            <a:r>
              <a:rPr lang="ar-SA" altLang="en-US" sz="1350" dirty="0">
                <a:solidFill>
                  <a:srgbClr val="5A6472"/>
                </a:solidFill>
                <a:latin typeface="Amiri" pitchFamily="34" charset="0"/>
                <a:ea typeface="Amiri" pitchFamily="34" charset="-122"/>
                <a:cs typeface="Amiri" pitchFamily="34" charset="-120"/>
              </a:rPr>
              <a:t>كَمْ مَرَّةً</a:t>
            </a:r>
            <a:pPr algn="l" indent="0" marL="0">
              <a:buNone/>
            </a:pPr>
            <a:r>
              <a:rPr lang="en-US" sz="1050" dirty="0">
                <a:solidFill>
                  <a:srgbClr val="5A6472"/>
                </a:solidFill>
                <a:latin typeface="Calibri" pitchFamily="34" charset="0"/>
                <a:ea typeface="Calibri" pitchFamily="34" charset="-122"/>
                <a:cs typeface="Calibri" pitchFamily="34" charset="-120"/>
              </a:rPr>
              <a:t> → frequency · </a:t>
            </a:r>
            <a:pPr algn="l" indent="0" marL="0">
              <a:buNone/>
            </a:pPr>
            <a:r>
              <a:rPr lang="ar-SA" altLang="en-US" sz="1350" dirty="0">
                <a:solidFill>
                  <a:srgbClr val="5A6472"/>
                </a:solidFill>
                <a:latin typeface="Amiri" pitchFamily="34" charset="0"/>
                <a:ea typeface="Amiri" pitchFamily="34" charset="-122"/>
                <a:cs typeface="Amiri" pitchFamily="34" charset="-120"/>
              </a:rPr>
              <a:t>لِمَاذَا</a:t>
            </a:r>
            <a:pPr algn="l" indent="0" marL="0">
              <a:buNone/>
            </a:pPr>
            <a:r>
              <a:rPr lang="en-US" sz="1050" dirty="0">
                <a:solidFill>
                  <a:srgbClr val="5A6472"/>
                </a:solidFill>
                <a:latin typeface="Calibri" pitchFamily="34" charset="0"/>
                <a:ea typeface="Calibri" pitchFamily="34" charset="-122"/>
                <a:cs typeface="Calibri" pitchFamily="34" charset="-120"/>
              </a:rPr>
              <a:t> → reason</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مَتَى تَعُودُ؟ — فِي الرَّابِعَةِ.   ·   كَمْ مَرَّةً تَقْرَأِينَ؟ — مَرَّتَيْنِ.   ·   لِمَاذَا تَسْتَيْقِظُ مُبَكِّرًا؟ — لِأَنَّ...</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Build a follow-up from the answer</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rtl="1" algn="r" indent="0" marL="0">
              <a:buNone/>
            </a:pPr>
            <a:r>
              <a:rPr lang="ar-SA" altLang="en-US" sz="1350" dirty="0">
                <a:solidFill>
                  <a:srgbClr val="5A6472"/>
                </a:solidFill>
                <a:latin typeface="Amiri" pitchFamily="34" charset="0"/>
                <a:ea typeface="Amiri" pitchFamily="34" charset="-122"/>
                <a:cs typeface="Amiri" pitchFamily="34" charset="-120"/>
              </a:rPr>
              <a:t>إِجَابَةٌ → سُؤَالُ تَفْصِيلٍ</a:t>
            </a:r>
            <a:endParaRPr lang="ar-SA" sz="13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أَتَمَرَّنُ بَعْدَ المَدْرَسَةِ. — كَمْ مَرَّةً؟   ·   أَذْهَبُ بِالحَافِلَةِ. — لِمَاذَا لَا تَمْشِي؟   ·   رُوتِينِي مُزْدَحِمٌ. — مَا أَصْعَبُ جُزْءٍ فِيهِ؟</a:t>
            </a:r>
            <a:endParaRPr lang="ar-SA" sz="18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46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“When do you wake up?”</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frequency?</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تَتَمَرَّنُ؟</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تَتَمَرَّنُ؟</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أُرِيدُ أَنْ أَكُونَ نَشِيطًا.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46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“What do you do?”</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تَفْعَلِينَ؟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masculine second-person form is </a:t>
            </a:r>
            <a:pPr algn="l" indent="0" marL="0">
              <a:buNone/>
            </a:pPr>
            <a:r>
              <a:rPr lang="ar-SA" altLang="en-US" sz="1350" dirty="0">
                <a:solidFill>
                  <a:srgbClr val="8A6D1E"/>
                </a:solidFill>
                <a:latin typeface="Amiri" pitchFamily="34" charset="0"/>
                <a:ea typeface="Amiri" pitchFamily="34" charset="-122"/>
                <a:cs typeface="Amiri" pitchFamily="34" charset="-120"/>
              </a:rPr>
              <a:t>تَفْعَلُ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“When do you wake up?”</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second-person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frequency?</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تَتَمَرَّنُ؟</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تَتَمَرَّنُ؟</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how often.</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لِمَاذَا؟</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لِأَنَّنِي أُرِيدُ أَنْ أَكُونَ نَشِيطًا.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السَّادِسَةِ.</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مَرَّاتٍ.</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 expects a reason.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46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interview a student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Fact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مَتَى</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تَسْتَيْقِظِ</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أَسْتَيْقِظُ فِي السَّادِسَةِ.</a:t>
            </a:r>
            <a:endParaRPr lang="ar-SA" sz="17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girl → -īna. When → a time.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Method</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كَيْفَ</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تَذْهَبِ</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إِلَى المَدْرَسَةِ؟ — مَشْيًا.</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How → a method.</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Follow-up</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0E7C86"/>
                </a:solidFill>
                <a:latin typeface="Amiri" pitchFamily="34" charset="0"/>
                <a:ea typeface="Amiri" pitchFamily="34" charset="-122"/>
                <a:cs typeface="Amiri" pitchFamily="34" charset="-120"/>
              </a:rPr>
              <a:t>لِمَاذَا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تَمْشِ</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ينَ</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 لِأَنَّ المَدْرَسَةَ قَرِيبَةٌ.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detail → why?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Report</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تَسْتَيْقِظُ فِي السَّادِسَةِ وَتَمْشِي لِأَنَّ مَدْرَسَتَ</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هَا</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قَرِيبَةٌ.</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Profile: you → she (D1-L06).</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QUESTION WORD</a:t>
            </a:r>
            <a:endParaRPr lang="en-US" sz="800" dirty="0"/>
          </a:p>
        </p:txBody>
      </p:sp>
      <p:sp>
        <p:nvSpPr>
          <p:cNvPr id="47" name="Shape 43"/>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GIRL ENDING</a:t>
            </a:r>
            <a:endParaRPr lang="en-US" sz="800" dirty="0"/>
          </a:p>
        </p:txBody>
      </p:sp>
      <p:sp>
        <p:nvSpPr>
          <p:cNvPr id="49" name="Shape 45"/>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REPORT: HER</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مَتَى</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تَسْتَيْقِظِ</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 أَسْتَيْقِظُ فِي السَّادِسَةِ.  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كَيْفَ</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تَذْهَبِ</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ينَ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إِلَى المَدْرَسَةِ؟  ب: أَمْشِي.  أ: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لِمَاذَا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 لِأَنَّ المَدْرَسَةَ قَرِيبَةٌ.  ← تَسْتَيْقِظُ سَلْمَى فِي السَّادِسَةِ، وَتَمْشِي إِلَى المَدْرَسَةِ لِأَنَّ مَدْرَسَتَ</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هَا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قَرِيبَةٌ.</a:t>
            </a:r>
            <a:endParaRPr lang="ar-SA" sz="140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A: When do you wake up? B: I wake up at six. A: How do you go to school? B: I walk. A: Why? B: Because school is near. → Salma wakes up at six and walks to school because her school is near.</a:t>
            </a:r>
            <a:endParaRPr lang="en-US" sz="110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46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مَتَى تَسْتَيْقِظِينَ فِي أَيَّامِ الدِّرَاسَةِ؟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When do you wake on school days? —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Feminine ending ـين.</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كَمْ مَرَّةً تَتَمَرَّنُ فِي الأُسْبُوعِ؟</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How often do you train each week? — to a boy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Frequency question.</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أَخْبِرِينِي أَكْثَرَ عَنْ رُوتِينِكِ.</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Tell me more about your routine — to a girl.</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Interview extension.</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لِمَاذَا تُفَضِّلُ هٰذَا الوَقْتَ؟</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Why do you prefer this time? — to a boy.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Reason follow-up.</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46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TURN THE WEBSITE PICTURE-GAME SENTENCES INTO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Statement → question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سُؤَالٍ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فِي السَّادِسَةِ.</a:t>
            </a:r>
            <a:endParaRPr lang="ar-SA" sz="15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تَسْتَيْقِظِينَ؟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أَذْهَبُ إِلَى المَدْرَسَةِ بِالحَافِلَةِ.</a:t>
            </a:r>
            <a:endParaRPr lang="ar-SA" sz="11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 إِلَى المَدْرَسَةِ؟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 إِلَى المَدْرَسَةِ؟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تَذْهَبُ إِلَى المَدْرَسَةِ؟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أَدْرُسُ بَعْدَ المَدْرَسَةِ ثَلَاثَ مَرَّاتٍ.</a:t>
            </a:r>
            <a:endParaRPr lang="ar-SA" sz="11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تَدْرُسُ بَعْدَ المَدْرَسَةِ؟</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تَدْرُسِينَ بَعْدَ المَدْرَسَةِ؟</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مَنْ تَدْرُسِينَ؟</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أَنَامُ مُبَكِّرًا لِأَنَّنِي مُتْعَبٌ.</a:t>
            </a:r>
            <a:endParaRPr lang="ar-SA" sz="14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تَنَامِينَ مُبَكِّرًا؟</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تَنَامُ؟</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تَنَامُ مُبَكِّرًا؟</a:t>
            </a:r>
            <a:endParaRPr lang="ar-SA" sz="2050" dirty="0"/>
          </a:p>
        </p:txBody>
      </p:sp>
      <p:sp>
        <p:nvSpPr>
          <p:cNvPr id="71" name="Shape 68"/>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73" name="Text 70"/>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4" name="Text 71"/>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which information? (time, how, how often,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boy or girl? Girl → add -īna.</a:t>
            </a:r>
            <a:endParaRPr lang="en-US" sz="12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46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STATEMENT → QUESTION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Statement → question: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أَسْتَيْقِظُ فِي السَّادِسَةِ.</a:t>
            </a:r>
            <a:endParaRPr lang="ar-SA" sz="15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تَسْتَيْقِظِينَ؟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Time → </a:t>
            </a:r>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girl → -īna.</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أَذْهَبُ إِلَى المَدْرَسَةِ بِالحَافِلَةِ.</a:t>
            </a:r>
            <a:endParaRPr lang="ar-SA" sz="11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كَيْفَ تَذْهَبِينَ إِلَى المَدْرَسَةِ؟</a:t>
            </a:r>
            <a:endParaRPr lang="ar-SA" sz="1700" dirty="0"/>
          </a:p>
        </p:txBody>
      </p:sp>
      <p:sp>
        <p:nvSpPr>
          <p:cNvPr id="39" name="Shape 36"/>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كَيْفَ تَذْهَبُ إِلَى المَدْرَسَةِ؟</a:t>
            </a:r>
            <a:endParaRPr lang="ar-SA" sz="1700" dirty="0"/>
          </a:p>
        </p:txBody>
      </p:sp>
      <p:sp>
        <p:nvSpPr>
          <p:cNvPr id="43"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تَذْهَبُ إِلَى المَدْرَسَةِ؟</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Method → </a:t>
            </a:r>
            <a:pPr algn="l" indent="0" marL="0">
              <a:buNone/>
            </a:pPr>
            <a:r>
              <a:rPr lang="ar-SA" altLang="en-US" sz="1350" dirty="0">
                <a:solidFill>
                  <a:srgbClr val="8A6D1E"/>
                </a:solidFill>
                <a:latin typeface="Amiri" pitchFamily="34" charset="0"/>
                <a:ea typeface="Amiri" pitchFamily="34" charset="-122"/>
                <a:cs typeface="Amiri" pitchFamily="34" charset="-120"/>
              </a:rPr>
              <a:t>كَيْفَ</a:t>
            </a:r>
            <a:pPr algn="l" indent="0" marL="0">
              <a:buNone/>
            </a:pPr>
            <a:r>
              <a:rPr lang="en-US" sz="1050" i="1" dirty="0">
                <a:solidFill>
                  <a:srgbClr val="8A6D1E"/>
                </a:solidFill>
                <a:latin typeface="Calibri" pitchFamily="34" charset="0"/>
                <a:ea typeface="Calibri" pitchFamily="34" charset="-122"/>
                <a:cs typeface="Calibri" pitchFamily="34" charset="-120"/>
              </a:rPr>
              <a:t>; boy → no ending.</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GIRL about this.</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أَدْرُسُ بَعْدَ المَدْرَسَةِ ثَلَاثَ مَرَّاتٍ.</a:t>
            </a:r>
            <a:endParaRPr lang="ar-SA" sz="1150" dirty="0"/>
          </a:p>
        </p:txBody>
      </p:sp>
      <p:sp>
        <p:nvSpPr>
          <p:cNvPr id="52"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تَدْرُسُ بَعْدَ المَدْرَسَةِ؟</a:t>
            </a:r>
            <a:endParaRPr lang="ar-SA" sz="1700" dirty="0"/>
          </a:p>
        </p:txBody>
      </p:sp>
      <p:sp>
        <p:nvSpPr>
          <p:cNvPr id="55" name="Shape 52"/>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2862072"/>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تَدْرُسِينَ بَعْدَ المَدْرَسَةِ؟</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مَنْ تَدْرُسِينَ؟</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Frequency → </a:t>
            </a:r>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Ask a BOY about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أَنَامُ مُبَكِّرًا لِأَنَّنِي مُتْعَبٌ.</a:t>
            </a:r>
            <a:endParaRPr lang="ar-SA" sz="14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تَنَامِينَ مُبَكِّرًا؟</a:t>
            </a:r>
            <a:endParaRPr lang="ar-SA" sz="1700" dirty="0"/>
          </a:p>
        </p:txBody>
      </p:sp>
      <p:sp>
        <p:nvSpPr>
          <p:cNvPr id="71" name="Shape 68"/>
          <p:cNvSpPr/>
          <p:nvPr/>
        </p:nvSpPr>
        <p:spPr>
          <a:xfrm>
            <a:off x="640080"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تَنَامُ؟</a:t>
            </a:r>
            <a:endParaRPr lang="ar-SA" sz="1700" dirty="0"/>
          </a:p>
        </p:txBody>
      </p:sp>
      <p:sp>
        <p:nvSpPr>
          <p:cNvPr id="74" name="Shape 71"/>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40080"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تَنَامُ مُبَكِّرًا؟</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Reason → </a:t>
            </a:r>
            <a:pPr algn="l" indent="0" marL="0">
              <a:buNone/>
            </a:pPr>
            <a:r>
              <a:rPr lang="ar-SA" altLang="en-US" sz="1350" dirty="0">
                <a:solidFill>
                  <a:srgbClr val="8A6D1E"/>
                </a:solidFill>
                <a:latin typeface="Amiri" pitchFamily="34" charset="0"/>
                <a:ea typeface="Amiri" pitchFamily="34" charset="-122"/>
                <a:cs typeface="Amiri" pitchFamily="34" charset="-120"/>
              </a:rPr>
              <a:t>لِمَاذَا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Shape 76"/>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898136"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4898136"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4477512"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Step 1: which information? (time, how, how often, why)</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Step 2: boy or girl? Girl → add -īna.</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46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producer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تَعُودُ؟</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مِنَ الوَقْتِ تَدْرُسِينَ؟</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مَرَّةً تَتَمَرَّنُ؟</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تَفْعَلِينَ ذٰلِكَ دَائِمًا؟</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 تُفَضِّلُ ذٰلِكَ؟</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أَصْعَبُ جُزْءٍ؟</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تَنَامِينَ؟</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رُوتِينُكَ مُنَظَّمٌ؟</a:t>
            </a:r>
            <a:endParaRPr lang="ar-SA" sz="1800" dirty="0"/>
          </a:p>
        </p:txBody>
      </p:sp>
      <p:sp>
        <p:nvSpPr>
          <p:cNvPr id="31" name="Shape 28"/>
          <p:cNvSpPr/>
          <p:nvPr/>
        </p:nvSpPr>
        <p:spPr>
          <a:xfrm>
            <a:off x="8095488" y="3017520"/>
            <a:ext cx="3636264"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8232648" y="3127248"/>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8232648"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 duration</a:t>
            </a:r>
            <a:endParaRPr lang="en-US" sz="950" dirty="0"/>
          </a:p>
        </p:txBody>
      </p:sp>
      <p:sp>
        <p:nvSpPr>
          <p:cNvPr id="34" name="Shape 31"/>
          <p:cNvSpPr/>
          <p:nvPr/>
        </p:nvSpPr>
        <p:spPr>
          <a:xfrm>
            <a:off x="4276344" y="3017520"/>
            <a:ext cx="3636264"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4413504" y="3127248"/>
            <a:ext cx="3361944"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4413504"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Frequency</a:t>
            </a:r>
            <a:endParaRPr lang="en-US" sz="950" dirty="0"/>
          </a:p>
        </p:txBody>
      </p:sp>
      <p:sp>
        <p:nvSpPr>
          <p:cNvPr id="37" name="Shape 34"/>
          <p:cNvSpPr/>
          <p:nvPr/>
        </p:nvSpPr>
        <p:spPr>
          <a:xfrm>
            <a:off x="457200" y="3017520"/>
            <a:ext cx="3636264" cy="3291840"/>
          </a:xfrm>
          <a:prstGeom prst="roundRect">
            <a:avLst>
              <a:gd name="adj" fmla="val 2222"/>
            </a:avLst>
          </a:prstGeom>
          <a:solidFill>
            <a:srgbClr val="EEF3FA"/>
          </a:solidFill>
          <a:ln w="9525">
            <a:solidFill>
              <a:srgbClr val="C9D6EA"/>
            </a:solidFill>
            <a:prstDash val="solid"/>
          </a:ln>
        </p:spPr>
      </p:sp>
      <p:sp>
        <p:nvSpPr>
          <p:cNvPr id="38" name="Shape 35"/>
          <p:cNvSpPr/>
          <p:nvPr/>
        </p:nvSpPr>
        <p:spPr>
          <a:xfrm>
            <a:off x="594360" y="3127248"/>
            <a:ext cx="3361944"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594360" y="3127248"/>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 evaluation</a:t>
            </a:r>
            <a:endParaRPr lang="en-US" sz="9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46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Time / duration</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تَعُودُ؟</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مِنَ الوَقْتِ تَدْرُسِينَ؟</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مَتَى تَنَامِينَ؟</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Frequency</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كَمْ مَرَّةً تَتَمَرَّنُ؟</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تَفْعَلِينَ ذٰلِكَ دَائِمًا؟</a:t>
            </a:r>
            <a:endParaRPr lang="ar-SA" sz="1800" dirty="0"/>
          </a:p>
        </p:txBody>
      </p:sp>
      <p:sp>
        <p:nvSpPr>
          <p:cNvPr id="31" name="Shape 28"/>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2" name="Shape 29"/>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Reason / evaluation</a:t>
            </a:r>
            <a:endParaRPr lang="en-US" sz="950" dirty="0"/>
          </a:p>
        </p:txBody>
      </p:sp>
      <p:sp>
        <p:nvSpPr>
          <p:cNvPr id="34" name="Shape 31"/>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لِمَاذَا تُفَضِّلُ ذٰلِكَ؟</a:t>
            </a:r>
            <a:endParaRPr lang="ar-SA" sz="1800" dirty="0"/>
          </a:p>
        </p:txBody>
      </p:sp>
      <p:sp>
        <p:nvSpPr>
          <p:cNvPr id="36" name="Shape 33"/>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أَصْعَبُ جُزْءٍ؟</a:t>
            </a:r>
            <a:endParaRPr lang="ar-SA" sz="1800" dirty="0"/>
          </a:p>
        </p:txBody>
      </p:sp>
      <p:sp>
        <p:nvSpPr>
          <p:cNvPr id="38" name="Shape 35"/>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هَلْ رُوتِينُكَ مُنَظَّمٌ؟</a:t>
            </a:r>
            <a:endParaRPr lang="ar-SA" sz="18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46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5, 6,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useful follow-up after “I read every evening.”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السَّاعَةُ الآنَ؟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أَيْنَ المَحَطَّةُ؟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تَقْرَأُ؟</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“Do you help your family?”</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 أُسْرَتَكَ؟</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تُسَاعِدِينَ أُسْرَتَكِ؟</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تُسَاعِدُ أُسْرَتَهَا؟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duration?</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مِنَ الوَقْتِ تَقْضِي؟</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مَنْ تَذْهَبُ؟</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interview pair.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 — لِأَنَّنِي مُتْعَبٌ.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تَعُودِينَ؟ — فِي الرَّابِعَةِ.</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تَعُودِينَ؟ — أَعُودُ فِي الرَّابِعَةِ.</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46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a useful follow-up after “I read every evening.”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السَّاعَةُ الآنَ؟</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أَيْنَ المَحَطَّةُ؟</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تَقْرَأُ؟</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develops the same topic.</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“Do you help your family?”</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تُسَاعِدُ أُسْرَتَكَ؟</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تُسَاعِدِينَ أُسْرَتَكِ؟</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تُسَاعِدُ أُسْرَتَهَا؟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verb and possessive suffix both match the listener.</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asks for duration?</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تَذْهَبُ؟</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مِنَ الوَقْتِ تَقْضِي؟</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مَنْ تَذْهَبُ؟</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مِنَ الوَقْتِ</a:t>
            </a:r>
            <a:pPr algn="l" indent="0" marL="0">
              <a:buNone/>
            </a:pPr>
            <a:r>
              <a:rPr lang="en-US" sz="1050" i="1" dirty="0">
                <a:solidFill>
                  <a:srgbClr val="8A6D1E"/>
                </a:solidFill>
                <a:latin typeface="Calibri" pitchFamily="34" charset="0"/>
                <a:ea typeface="Calibri" pitchFamily="34" charset="-122"/>
                <a:cs typeface="Calibri" pitchFamily="34" charset="-120"/>
              </a:rPr>
              <a:t> asks how much time.</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interview pair.</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تَعُودُ؟ — لِأَنَّنِي مُتْعَبٌ.</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تَعُودِينَ؟ — فِي الرَّابِعَةِ.</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تَعُودِينَ؟ — أَعُودُ فِي الرَّابِعَةِ.</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matches a feminine time question.</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46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مَاذَا تَفْعَلِينَ؟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This question is to a BOY. Remove what?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هَلْ تُسَاعِدُ أُسْرَتَكِ؟</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This question is to a GIRL: verb AND ending must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لِمَاذَا؟ — فِي السَّابِعَةِ.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A time answers which question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46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مَاذَا تَفْعَلِينَ؟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مَاذَا تَفْعَلُ؟</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Remove </a:t>
            </a:r>
            <a:pPr algn="l" indent="0" marL="0">
              <a:buNone/>
            </a:pPr>
            <a:r>
              <a:rPr lang="ar-SA" altLang="en-US" sz="1500" b="1" dirty="0">
                <a:solidFill>
                  <a:srgbClr val="1B3B6F"/>
                </a:solidFill>
                <a:latin typeface="Amiri" pitchFamily="34" charset="0"/>
                <a:ea typeface="Amiri" pitchFamily="34" charset="-122"/>
                <a:cs typeface="Amiri" pitchFamily="34" charset="-120"/>
              </a:rPr>
              <a:t>ـين</a:t>
            </a:r>
            <a:pPr algn="l" indent="0" marL="0">
              <a:buNone/>
            </a:pPr>
            <a:r>
              <a:rPr lang="en-US" sz="1150" b="1" dirty="0">
                <a:solidFill>
                  <a:srgbClr val="1B3B6F"/>
                </a:solidFill>
                <a:latin typeface="Calibri" pitchFamily="34" charset="0"/>
                <a:ea typeface="Calibri" pitchFamily="34" charset="-122"/>
                <a:cs typeface="Calibri" pitchFamily="34" charset="-120"/>
              </a:rPr>
              <a:t> for one masculine listener.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هَلْ تُسَاعِدُ أُسْرَتَكِ؟</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هَلْ تُسَاعِدِينَ أُسْرَتَكِ؟</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Both verb and possessive ending must match.</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لِمَاذَا؟ — فِي السَّابِعَةِ.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مَتَى؟ — فِي السَّابِعَةِ.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Match the question word to the information.</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46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 student interview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information is requested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 food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bedtime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take the bus?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dislikes walking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is free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far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sleeping?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reads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trains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the bus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want to improve?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 later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reduce phone time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stop homework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مَتَى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46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المُذِيعَةُ: مَتَى تَسْتَيْقِظُ يَا عُمَرُ؟ عُمَرُ: أَسْتَيْقِظُ فِي السَّادِسَةِ وَالنِّصْفِ.</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Presenter: When do you wake up, Omar? Omar: I wake up at half past six.</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المُذِيعَةُ: وَكَيْفَ تَذْهَبُ إِلَى المَدْرَسَةِ؟ عُمَرُ: أَسْتَقِلُّ الحَافِلَةَ لِأَنَّ المَدْرَسَةَ بَعِيدَةٌ.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how do you go to school? — I take the bus because school is far.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المُذِيعَةُ: كَمْ مَرَّةً تَتَمَرَّنُ؟ عُمَرُ: مَرَّتَيْنِ فِي الأُسْبُوعِ، يَوْمَيِ الثُّلَاثَاءِ وَالخَمِيسِ.</a:t>
            </a:r>
            <a:endParaRPr lang="ar-SA" sz="19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How often do you train? — Twice a week, on Tuesdays and Thursdays.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المُذِيعَةُ: مَاذَا تَفْعَلُ فِي المَسَاءِ؟ عُمَرُ: أُكْمِلُ وَاجِبِي، ثُمَّ أَقْرَأُ قَبْلَ أَنْ أَنَامَ.</a:t>
            </a:r>
            <a:endParaRPr lang="ar-SA" sz="19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do you do in the evening? — I finish my homework, then I read before I sleep.</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المُذِيعَةُ: مَا الجُزْءُ الَّذِي تُرِيدُ أَنْ تُحَسِّنَهُ؟ عُمَرُ: أُرِيدُ أَنْ أَقْضِيَ وَقْتًا أَقَلَّ عَلَى هَاتِفِي.</a:t>
            </a:r>
            <a:endParaRPr lang="ar-SA" sz="17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Which part do you want to improve? — I want to spend less time on my phone.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46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information is requested first?</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 food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bedtime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question is </a:t>
            </a:r>
            <a:pPr algn="l" indent="0" marL="0">
              <a:buNone/>
            </a:pPr>
            <a:r>
              <a:rPr lang="ar-SA" altLang="en-US" sz="1350" dirty="0">
                <a:solidFill>
                  <a:srgbClr val="8A6D1E"/>
                </a:solidFill>
                <a:latin typeface="Amiri" pitchFamily="34" charset="0"/>
                <a:ea typeface="Amiri" pitchFamily="34" charset="-122"/>
                <a:cs typeface="Amiri" pitchFamily="34" charset="-120"/>
              </a:rPr>
              <a:t>مَتَى تَسْتَيْقِظُ؟</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Omar take the bus?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dislikes walking</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is free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 is far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 المَدْرَسَةَ بَعِيدَةٌ.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he train?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مَرَّتَيْنِ فِي الأُسْبُوعِ.</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before sleeping?</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reads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trains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the bus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أَقْرَأُ قَبْلَ أَنْ أَنَامَ.</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want to improve?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wake later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reduce phone time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stop homework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أَقْضِيَ وَقْتًا أَقَلَّ عَلَى هَاتِفِي.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twice. Core: questions 1, 3 and 4.</a:t>
            </a:r>
            <a:endParaRPr lang="en-US" sz="1250" dirty="0"/>
          </a:p>
          <a:p>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Listen for: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مَتَى</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مَرَّتَيْنِ</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 · </a:t>
            </a:r>
            <a:pPr algn="l" indent="0" marL="0">
              <a:lnSpc>
                <a:spcPct val="115000"/>
              </a:lnSpc>
              <a:buNone/>
            </a:pPr>
            <a:r>
              <a:rPr lang="ar-SA" altLang="en-US" sz="1650" dirty="0">
                <a:solidFill>
                  <a:srgbClr val="1E6B52"/>
                </a:solidFill>
                <a:latin typeface="Amiri" pitchFamily="34" charset="0"/>
                <a:ea typeface="Amiri" pitchFamily="34" charset="-122"/>
                <a:cs typeface="Amiri" pitchFamily="34" charset="-120"/>
              </a:rPr>
              <a:t>قَبْلَ أَنْ أَنَامَ</a:t>
            </a:r>
            <a:pPr algn="l" indent="0" marL="0">
              <a:lnSpc>
                <a:spcPct val="115000"/>
              </a:lnSpc>
              <a:buNone/>
            </a:pPr>
            <a:r>
              <a:rPr lang="en-US" sz="1250" dirty="0">
                <a:solidFill>
                  <a:srgbClr val="1E6B52"/>
                </a:solidFill>
                <a:latin typeface="Calibri" pitchFamily="34" charset="0"/>
                <a:ea typeface="Calibri" pitchFamily="34" charset="-122"/>
                <a:cs typeface="Calibri" pitchFamily="34" charset="-120"/>
              </a:rPr>
              <a:t>.</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46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Conduct a sustained routine interview</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وَقْتِ الاِسْتِيقَاظِ وَعَنِ السَّفَرِ إِلَى المَدْرَسَةِ.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التَّكْرَارِ.</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عَنْ رُوتِينِ المَسَاءِ.</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اِسْأَلْ سُؤَالَ مُتَابَعَةٍ عَنِ السَّبَبِ أَوِ التَّحْسِينِ.</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300" b="1" dirty="0">
                <a:solidFill>
                  <a:srgbClr val="1D5FBF"/>
                </a:solidFill>
                <a:latin typeface="Amiri" pitchFamily="34" charset="0"/>
                <a:ea typeface="Amiri" pitchFamily="34" charset="-122"/>
                <a:cs typeface="Amiri" pitchFamily="34" charset="-120"/>
              </a:rPr>
              <a:t>مَتَى تَسْتَيْقِظُ / تَسْتَيْقِظِينَ؟ كَيْفَ تَذْهَبُ / تَذْهَبِينَ؟</a:t>
            </a:r>
            <a:endParaRPr lang="ar-SA" sz="13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كَمْ مَرَّةً ___ فِي الأُسْبُوعِ؟</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لِمَاذَا ___ ؟ مَا أَصْعَبُ جُزْءٍ فِي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يَسْتَيْقِظُ / تَسْتَيْقِظُ ___ فِي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كَمْ مَرَّةً تَتَمَرَّنِينَ؟</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How often do you train? (to a girl)</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أَتَمَرَّنُ مَرَّتَيْنِ فِي الأُسْبُوعِ.</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I train twice a week.</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46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000" b="1" dirty="0">
                <a:solidFill>
                  <a:srgbClr val="2E8B57"/>
                </a:solidFill>
                <a:latin typeface="Cambria" pitchFamily="34" charset="0"/>
                <a:ea typeface="Cambria" pitchFamily="34" charset="-122"/>
                <a:cs typeface="Cambria" pitchFamily="34" charset="-120"/>
              </a:rPr>
              <a:t>5 questions + answers</a:t>
            </a:r>
            <a:endParaRPr lang="en-US" sz="20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Ask and answer four accurate questions.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Write five questions to a boy OR a girl and your partner’s answers (use the Core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relevant follow-ups and report the answers.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Four questions, four answers with time, frequency or a reason, plus one follow-up question.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100–120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Conduct a sustained interview and evaluate the evidence critically.</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a profile from the interview — he/she forms, time, frequency, before/after, a reason and your judgement.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46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 أَخْبِرِينِي أَكْثَرَ.</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Tell me more (to a boy / girl).</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مَعَ مَنْ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With whom do you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مِنَ الوَقْتِ تَقْضِي فِي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much time do you spend on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سَأَلْتُ صَدِيقِي / صَدِيقَتِي عَنْ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asked my friend about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قَالَ إِنَّهُ / قَالَتْ إِنَّهَا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 / she said that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مَتَى تَسْتَيْقِظُ؟ / مَتَى تَسْتَيْقِظِينَ؟</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do you wake up? (boy / girl)</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تَذْهَبُ / تَذْهَبِينَ إِلَى المَدْرَسَةِ؟</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do you go to school?</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كَمْ مَرَّةً تَتَمَرَّنُ / تَتَمَرَّنِينَ؟</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How often do you train?</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تَفْعَلُ / تَفْعَلِينَ فِي المَسَاءِ؟</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do you do in the evening?</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لِمَاذَا؟ — لِأَنَّ ______ .</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Why?</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مَاذَا  ·  مَتَى  ·  كَيْفَ  ·  كَمْ مَرَّةً  ·  لِمَاذَا  ·  مَعَ مَنْ  ·  أَيْنَ  ·  تَفْعَلُ  ·  تَفْعَلِينَ  ·  تَسْتَيْقِظِينَ  ·  لِأَنَّ  ·  أَخْبِرْنِي أَكْثَرَ</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46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a 100–120-word profile based on an imagined or real routine interview.</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State whom you interviewed.</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Report at least four answers using he/she forms.</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Include time, frequency, before/after and a reason.</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Use clear pronoun and suffix reference.</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Finish with your evidence-based judgement.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سَأَلْتُ زَمِيلَتِي عَنْ رُوتِينِهَا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 asked my classmate about her routine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فَأَجَابَتْ أَنَّهَا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she answered that she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سَأَلْتُهُ عَنِ الرِّيَاضَةِ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asked him about sport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أَخْبَرَنِي أَنَّهُ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he told me that he …</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لِأَنَّ إِجَابَاتِهَا كَانَتْ دَقِيقَةً</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because her answers were precise</a:t>
            </a:r>
            <a:endParaRPr lang="en-US" sz="105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46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550" dirty="0">
                <a:solidFill>
                  <a:srgbClr val="1F2A37"/>
                </a:solidFill>
                <a:latin typeface="Amiri" pitchFamily="34" charset="0"/>
                <a:ea typeface="Amiri" pitchFamily="34" charset="-122"/>
                <a:cs typeface="Amiri" pitchFamily="34" charset="-120"/>
              </a:rPr>
              <a:t>سَأَلْتُ صَدِيقِي عَنْ رُوتِينِهِ اليَوْمِيِّ. أَوَّلًا سَأَلْتُهُ مَتَى يَسْتَيْقِظُ، فَقَالَ إِنَّهُ يَسْتَيْقِظُ فِي السَّادِسَةِ وَالنِّصْفِ. يَذْهَبُ إِلَى المَدْرَسَةِ بِالحَافِلَةِ لِأَنَّهَا بَعِيدَةٌ عَنْ بَيْتِهِ. عِنْدَمَا سَأَلْتُهُ عَنِ الرِّيَاضَةِ، أَخْبَرَنِي أَنَّهُ يَتَمَرَّنُ ثَلَاثَ مَرَّاتٍ فِي الأُسْبُوعِ. بَعْدَ المَدْرَسَةِ يُكْمِلُ وَاجِبَهُ قَبْلَ أَنْ يَخْرُجَ مَعَ أَصْدِقَائِهِ. فِي المَسَاءِ يُحَضِّرُ حَقِيبَتَهُ وَيَقْرَأُ قَلِيلًا. قَالَ إِنَّهُ يُرِيدُ أَنْ يَنَامَ مُبَكِّرًا. فِي رَأْيِي، رُوتِينُهُ نَشِيطٌ، وَلٰكِنَّهُ يَحْتَاجُ إِلَى رَاحَةٍ أَكْثَرَ.</a:t>
            </a:r>
            <a:endParaRPr lang="ar-SA" sz="255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I asked my friend about his daily routine. First I asked him when he wakes up, and he said that he wakes up at half past six. He goes to school by bus because it is far from his house. When I asked him about sport, he told me that he trains three times a week. After school he finishes his homework before he goes out with his friends. In the evening he prepares his bag and reads a little. He said that he wants to sleep early. In my opinion, his routine is active, but he needs more rest.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three reporting verbs (asked, said, told)</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four he-verbs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reason with لِأَنَّ</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judgement</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46</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five different question words.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answers fit the question word.</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Questions to a girl end in -īna.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at least one follow-up question.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profile reports the answers with he/she.</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46</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لِأَنَّنِي مُتْعَبٌ.</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do you go?”</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تَذْهَبِينَ؟</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كَيْفَ يَذْهَبُ؟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46</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girl “What do you do?”</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مَاذَا تَفْعَلِينَ؟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تَفْعَلُ؟</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مَاذَا يَفْعَلُ؟</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Feminine second person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a:t>
            </a:r>
            <a:pPr algn="l" indent="0" marL="0">
              <a:buNone/>
            </a:pPr>
            <a:r>
              <a:rPr lang="ar-SA" altLang="en-US" sz="1650" b="1" dirty="0">
                <a:solidFill>
                  <a:srgbClr val="1B3B6F"/>
                </a:solidFill>
                <a:latin typeface="Amiri" pitchFamily="34" charset="0"/>
                <a:ea typeface="Amiri" pitchFamily="34" charset="-122"/>
                <a:cs typeface="Amiri" pitchFamily="34" charset="-120"/>
              </a:rPr>
              <a:t>متى؟</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لِأَنَّنِي مُتْعَبٌ.</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السَّادِسَةِ.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ثَلَاثَ مَرَّاتٍ.</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for time.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a boy “How do you go?”</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كَيْفَ تَذْهَبُ؟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تَذْهَبِينَ؟</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كَيْفَ يَذْهَبُ؟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second person has no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46</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Interview notes become a profile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سَأَلْتُ زَمِيلَتِي سَلْمَى عَنْ رُوتِينِهَا اليَوْمِيِّ. قُلْتُ لَهَا: «مَتَى تَسْتَيْقِظِينَ؟» فَأَجَابَتْ أَنَّهَا تَسْتَيْقِظُ فِي السَّادِسَةِ وَالرُّبْعِ. ثُمَّ سَأَلْتُهَا كَيْفَ تَذْهَبُ إِلَى المَدْرَسَةِ، فَقَالَتْ إِنَّهَا تَمْشِي مَعَ أُخْتِهَا. تَتَمَرَّنُ سَلْمَى ثَلَاثَ مَرَّاتٍ فِي الأُسْبُوعِ، وَتُفَضِّلُ التَّمْرِينَ بَعْدَ المَدْرَسَةِ لِأَنَّهُ يُسَاعِدُهَا عَلَى التَّرْكِيزِ. عِنْدَمَا سَأَلْتُهَا عَنْ المَسَاءِ، أَوْضَحَتْ أَنَّهَا تُرَاجِعُ دُرُوسَهَا قَبْلَ أَنْ تَسْتَعْمِلَ هَاتِفَهَا. فِي رَأْيِي، رُوتِينُهَا مُنَظَّمٌ لِأَنَّ إِجَابَاتِهَا كَانَتْ دَقِيقَةً وَمُتَوَازِنَةً.</a:t>
            </a:r>
            <a:endParaRPr lang="ar-SA" sz="26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سَأَلْتُ زَمِيلَتِي</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asked my classmate</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قُلْتُ لَهَا</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 said to her</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فَأَجَابَتْ أَنَّهَا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answered that she</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فَقَالَتْ إِنَّهَا</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and she said that she</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تَمْشِي مَعَ أُخْتِهَا</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walks with her sister</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تُفَضِّلُ</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prefers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التَّرْكِيزِ</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concentration</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أَوْضَحَتْ</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she explained</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دَقِيقَةً</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precise</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مُتَوَازِنَةً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balanced</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46</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did the writer interview?</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Salma</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teacher</a:t>
            </a:r>
            <a:endParaRPr lang="en-US" sz="12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 travel?</a:t>
            </a:r>
            <a:endParaRPr lang="en-US" sz="1250" dirty="0"/>
          </a:p>
        </p:txBody>
      </p:sp>
      <p:sp>
        <p:nvSpPr>
          <p:cNvPr id="34" name="Shape 31"/>
          <p:cNvSpPr/>
          <p:nvPr/>
        </p:nvSpPr>
        <p:spPr>
          <a:xfrm>
            <a:off x="3504438"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takes a bus</a:t>
            </a:r>
            <a:endParaRPr lang="en-US" sz="1250" dirty="0"/>
          </a:p>
        </p:txBody>
      </p:sp>
      <p:sp>
        <p:nvSpPr>
          <p:cNvPr id="37" name="Shape 34"/>
          <p:cNvSpPr/>
          <p:nvPr/>
        </p:nvSpPr>
        <p:spPr>
          <a:xfrm>
            <a:off x="3504438"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cycles alone</a:t>
            </a:r>
            <a:endParaRPr lang="en-US" sz="1250" dirty="0"/>
          </a:p>
        </p:txBody>
      </p:sp>
      <p:sp>
        <p:nvSpPr>
          <p:cNvPr id="40" name="Shape 37"/>
          <p:cNvSpPr/>
          <p:nvPr/>
        </p:nvSpPr>
        <p:spPr>
          <a:xfrm>
            <a:off x="3504438"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walks with her sister</a:t>
            </a:r>
            <a:endParaRPr lang="en-US" sz="1250" dirty="0"/>
          </a:p>
        </p:txBody>
      </p:sp>
      <p:sp>
        <p:nvSpPr>
          <p:cNvPr id="43" name="Shape 40"/>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6313932"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train?</a:t>
            </a:r>
            <a:endParaRPr lang="en-US" sz="1250" dirty="0"/>
          </a:p>
        </p:txBody>
      </p:sp>
      <p:sp>
        <p:nvSpPr>
          <p:cNvPr id="47" name="Shape 44"/>
          <p:cNvSpPr/>
          <p:nvPr/>
        </p:nvSpPr>
        <p:spPr>
          <a:xfrm>
            <a:off x="6368796"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weekly</a:t>
            </a:r>
            <a:endParaRPr lang="en-US" sz="1250" dirty="0"/>
          </a:p>
        </p:txBody>
      </p:sp>
      <p:sp>
        <p:nvSpPr>
          <p:cNvPr id="50" name="Shape 47"/>
          <p:cNvSpPr/>
          <p:nvPr/>
        </p:nvSpPr>
        <p:spPr>
          <a:xfrm>
            <a:off x="6368796"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monthly</a:t>
            </a:r>
            <a:endParaRPr lang="en-US" sz="1250" dirty="0"/>
          </a:p>
        </p:txBody>
      </p:sp>
      <p:sp>
        <p:nvSpPr>
          <p:cNvPr id="53" name="Shape 50"/>
          <p:cNvSpPr/>
          <p:nvPr/>
        </p:nvSpPr>
        <p:spPr>
          <a:xfrm>
            <a:off x="6368796"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daily</a:t>
            </a:r>
            <a:endParaRPr lang="en-US" sz="1250" dirty="0"/>
          </a:p>
        </p:txBody>
      </p:sp>
      <p:sp>
        <p:nvSpPr>
          <p:cNvPr id="56" name="Shape 53"/>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9178290" y="1947672"/>
            <a:ext cx="310896" cy="310896"/>
          </a:xfrm>
          <a:prstGeom prst="ellipse">
            <a:avLst/>
          </a:prstGeom>
          <a:solidFill>
            <a:srgbClr val="1B3B6F"/>
          </a:solidFill>
          <a:ln w="12700">
            <a:solidFill>
              <a:srgbClr val="1B3B6F"/>
            </a:solidFill>
            <a:prstDash val="solid"/>
          </a:ln>
        </p:spPr>
      </p:sp>
      <p:sp>
        <p:nvSpPr>
          <p:cNvPr id="58" name="Text 55"/>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prefer after-school training?</a:t>
            </a:r>
            <a:endParaRPr lang="en-US" sz="1250" dirty="0"/>
          </a:p>
        </p:txBody>
      </p:sp>
      <p:sp>
        <p:nvSpPr>
          <p:cNvPr id="60" name="Shape 57"/>
          <p:cNvSpPr/>
          <p:nvPr/>
        </p:nvSpPr>
        <p:spPr>
          <a:xfrm>
            <a:off x="9233154" y="2532888"/>
            <a:ext cx="256032" cy="256032"/>
          </a:xfrm>
          <a:prstGeom prst="ellipse">
            <a:avLst/>
          </a:prstGeom>
          <a:solidFill>
            <a:srgbClr val="F4F1EA"/>
          </a:solidFill>
          <a:ln w="12700">
            <a:solidFill>
              <a:srgbClr val="F4F1EA"/>
            </a:solidFill>
            <a:prstDash val="solid"/>
          </a:ln>
        </p:spPr>
      </p:sp>
      <p:sp>
        <p:nvSpPr>
          <p:cNvPr id="61" name="Text 58"/>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free</a:t>
            </a:r>
            <a:endParaRPr lang="en-US" sz="1250" dirty="0"/>
          </a:p>
        </p:txBody>
      </p:sp>
      <p:sp>
        <p:nvSpPr>
          <p:cNvPr id="63" name="Shape 60"/>
          <p:cNvSpPr/>
          <p:nvPr/>
        </p:nvSpPr>
        <p:spPr>
          <a:xfrm>
            <a:off x="9233154" y="2990088"/>
            <a:ext cx="256032" cy="256032"/>
          </a:xfrm>
          <a:prstGeom prst="ellipse">
            <a:avLst/>
          </a:prstGeom>
          <a:solidFill>
            <a:srgbClr val="F4F1EA"/>
          </a:solidFill>
          <a:ln w="12700">
            <a:solidFill>
              <a:srgbClr val="F4F1EA"/>
            </a:solidFill>
            <a:prstDash val="solid"/>
          </a:ln>
        </p:spPr>
      </p:sp>
      <p:sp>
        <p:nvSpPr>
          <p:cNvPr id="64" name="Text 61"/>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66" name="Shape 63"/>
          <p:cNvSpPr/>
          <p:nvPr/>
        </p:nvSpPr>
        <p:spPr>
          <a:xfrm>
            <a:off x="9233154" y="3447288"/>
            <a:ext cx="256032" cy="256032"/>
          </a:xfrm>
          <a:prstGeom prst="ellipse">
            <a:avLst/>
          </a:prstGeom>
          <a:solidFill>
            <a:srgbClr val="F4F1EA"/>
          </a:solidFill>
          <a:ln w="12700">
            <a:solidFill>
              <a:srgbClr val="F4F1EA"/>
            </a:solidFill>
            <a:prstDash val="solid"/>
          </a:ln>
        </p:spPr>
      </p:sp>
      <p:sp>
        <p:nvSpPr>
          <p:cNvPr id="67" name="Text 64"/>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sister insists</a:t>
            </a:r>
            <a:endParaRPr lang="en-US" sz="1250" dirty="0"/>
          </a:p>
        </p:txBody>
      </p:sp>
      <p:sp>
        <p:nvSpPr>
          <p:cNvPr id="69" name="Shape 66"/>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585216"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before phone use?</a:t>
            </a:r>
            <a:endParaRPr lang="en-US" sz="1250" dirty="0"/>
          </a:p>
        </p:txBody>
      </p:sp>
      <p:sp>
        <p:nvSpPr>
          <p:cNvPr id="73" name="Shape 70"/>
          <p:cNvSpPr/>
          <p:nvPr/>
        </p:nvSpPr>
        <p:spPr>
          <a:xfrm>
            <a:off x="640080"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revision</a:t>
            </a:r>
            <a:endParaRPr lang="en-US" sz="1250" dirty="0"/>
          </a:p>
        </p:txBody>
      </p:sp>
      <p:sp>
        <p:nvSpPr>
          <p:cNvPr id="76" name="Shape 73"/>
          <p:cNvSpPr/>
          <p:nvPr/>
        </p:nvSpPr>
        <p:spPr>
          <a:xfrm>
            <a:off x="640080"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a:t>
            </a:r>
            <a:endParaRPr lang="en-US" sz="1250" dirty="0"/>
          </a:p>
        </p:txBody>
      </p:sp>
      <p:sp>
        <p:nvSpPr>
          <p:cNvPr id="79" name="Shape 76"/>
          <p:cNvSpPr/>
          <p:nvPr/>
        </p:nvSpPr>
        <p:spPr>
          <a:xfrm>
            <a:off x="640080"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82" name="Shape 7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344957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the writer’s judgement?</a:t>
            </a:r>
            <a:endParaRPr lang="en-US" sz="1250" dirty="0"/>
          </a:p>
        </p:txBody>
      </p:sp>
      <p:sp>
        <p:nvSpPr>
          <p:cNvPr id="86" name="Shape 83"/>
          <p:cNvSpPr/>
          <p:nvPr/>
        </p:nvSpPr>
        <p:spPr>
          <a:xfrm>
            <a:off x="350443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late wake-up</a:t>
            </a:r>
            <a:endParaRPr lang="en-US" sz="1250" dirty="0"/>
          </a:p>
        </p:txBody>
      </p:sp>
      <p:sp>
        <p:nvSpPr>
          <p:cNvPr id="89" name="Shape 86"/>
          <p:cNvSpPr/>
          <p:nvPr/>
        </p:nvSpPr>
        <p:spPr>
          <a:xfrm>
            <a:off x="350443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bus journey</a:t>
            </a:r>
            <a:endParaRPr lang="en-US" sz="1250" dirty="0"/>
          </a:p>
        </p:txBody>
      </p:sp>
      <p:sp>
        <p:nvSpPr>
          <p:cNvPr id="92" name="Shape 89"/>
          <p:cNvSpPr/>
          <p:nvPr/>
        </p:nvSpPr>
        <p:spPr>
          <a:xfrm>
            <a:off x="350443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precise, balanced answers</a:t>
            </a:r>
            <a:endParaRPr lang="en-US" sz="1250" dirty="0"/>
          </a:p>
        </p:txBody>
      </p:sp>
      <p:sp>
        <p:nvSpPr>
          <p:cNvPr id="95" name="Shape 92"/>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Text 9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7" name="Text 9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8" name="Text 9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46</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Whom did the writer interview?</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Omar</a:t>
            </a:r>
            <a:endParaRPr lang="en-US" sz="1250" dirty="0"/>
          </a:p>
        </p:txBody>
      </p:sp>
      <p:sp>
        <p:nvSpPr>
          <p:cNvPr id="24" name="Shape 21"/>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Salma</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teacher</a:t>
            </a:r>
            <a:endParaRPr lang="en-US" sz="1250" dirty="0"/>
          </a:p>
        </p:txBody>
      </p:sp>
      <p:sp>
        <p:nvSpPr>
          <p:cNvPr id="31" name="Text 28"/>
          <p:cNvSpPr txBox="1"/>
          <p:nvPr/>
        </p:nvSpPr>
        <p:spPr>
          <a:xfrm>
            <a:off x="585216"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زَمِيلَتِي سَلْمَى.</a:t>
            </a:r>
            <a:endParaRPr lang="ar-SA" sz="1350" dirty="0"/>
          </a:p>
        </p:txBody>
      </p:sp>
      <p:sp>
        <p:nvSpPr>
          <p:cNvPr id="32" name="Shape 29"/>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3449574"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Salma travel?</a:t>
            </a:r>
            <a:endParaRPr lang="en-US" sz="1250" dirty="0"/>
          </a:p>
        </p:txBody>
      </p:sp>
      <p:sp>
        <p:nvSpPr>
          <p:cNvPr id="36" name="Shape 33"/>
          <p:cNvSpPr/>
          <p:nvPr/>
        </p:nvSpPr>
        <p:spPr>
          <a:xfrm>
            <a:off x="3504438"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takes a bus</a:t>
            </a:r>
            <a:endParaRPr lang="en-US" sz="1250" dirty="0"/>
          </a:p>
        </p:txBody>
      </p:sp>
      <p:sp>
        <p:nvSpPr>
          <p:cNvPr id="39" name="Shape 36"/>
          <p:cNvSpPr/>
          <p:nvPr/>
        </p:nvSpPr>
        <p:spPr>
          <a:xfrm>
            <a:off x="3504438"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cycles alone</a:t>
            </a:r>
            <a:endParaRPr lang="en-US" sz="1250" dirty="0"/>
          </a:p>
        </p:txBody>
      </p:sp>
      <p:sp>
        <p:nvSpPr>
          <p:cNvPr id="42" name="Shape 39"/>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3504438"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walks with her sister</a:t>
            </a:r>
            <a:endParaRPr lang="en-US" sz="1250" dirty="0"/>
          </a:p>
        </p:txBody>
      </p:sp>
      <p:sp>
        <p:nvSpPr>
          <p:cNvPr id="46" name="Text 43"/>
          <p:cNvSpPr txBox="1"/>
          <p:nvPr/>
        </p:nvSpPr>
        <p:spPr>
          <a:xfrm>
            <a:off x="3449574"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تَمْشِي مَعَ أُخْتِهَا.</a:t>
            </a:r>
            <a:endParaRPr lang="ar-SA" sz="1350" dirty="0"/>
          </a:p>
        </p:txBody>
      </p:sp>
      <p:sp>
        <p:nvSpPr>
          <p:cNvPr id="47" name="Shape 44"/>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6313932"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train?</a:t>
            </a:r>
            <a:endParaRPr lang="en-US" sz="1250" dirty="0"/>
          </a:p>
        </p:txBody>
      </p:sp>
      <p:sp>
        <p:nvSpPr>
          <p:cNvPr id="51" name="Shape 48"/>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6368796"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weekly</a:t>
            </a:r>
            <a:endParaRPr lang="en-US" sz="1250" dirty="0"/>
          </a:p>
        </p:txBody>
      </p:sp>
      <p:sp>
        <p:nvSpPr>
          <p:cNvPr id="55" name="Shape 52"/>
          <p:cNvSpPr/>
          <p:nvPr/>
        </p:nvSpPr>
        <p:spPr>
          <a:xfrm>
            <a:off x="6368796"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monthly</a:t>
            </a:r>
            <a:endParaRPr lang="en-US" sz="1250" dirty="0"/>
          </a:p>
        </p:txBody>
      </p:sp>
      <p:sp>
        <p:nvSpPr>
          <p:cNvPr id="58" name="Shape 55"/>
          <p:cNvSpPr/>
          <p:nvPr/>
        </p:nvSpPr>
        <p:spPr>
          <a:xfrm>
            <a:off x="6368796"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daily</a:t>
            </a:r>
            <a:endParaRPr lang="en-US" sz="1250" dirty="0"/>
          </a:p>
        </p:txBody>
      </p:sp>
      <p:sp>
        <p:nvSpPr>
          <p:cNvPr id="61" name="Text 58"/>
          <p:cNvSpPr txBox="1"/>
          <p:nvPr/>
        </p:nvSpPr>
        <p:spPr>
          <a:xfrm>
            <a:off x="6313932"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ثَلَاثَ مَرَّاتٍ فِي الأُسْبُوعِ.</a:t>
            </a:r>
            <a:endParaRPr lang="ar-SA" sz="1350" dirty="0"/>
          </a:p>
        </p:txBody>
      </p:sp>
      <p:sp>
        <p:nvSpPr>
          <p:cNvPr id="62" name="Shape 59"/>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9178290" y="1947672"/>
            <a:ext cx="310896" cy="310896"/>
          </a:xfrm>
          <a:prstGeom prst="ellipse">
            <a:avLst/>
          </a:prstGeom>
          <a:solidFill>
            <a:srgbClr val="1B3B6F"/>
          </a:solidFill>
          <a:ln w="12700">
            <a:solidFill>
              <a:srgbClr val="1B3B6F"/>
            </a:solidFill>
            <a:prstDash val="solid"/>
          </a:ln>
        </p:spPr>
      </p:sp>
      <p:sp>
        <p:nvSpPr>
          <p:cNvPr id="64" name="Text 61"/>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does she prefer after-school training?</a:t>
            </a:r>
            <a:endParaRPr lang="en-US" sz="1250" dirty="0"/>
          </a:p>
        </p:txBody>
      </p:sp>
      <p:sp>
        <p:nvSpPr>
          <p:cNvPr id="66" name="Shape 63"/>
          <p:cNvSpPr/>
          <p:nvPr/>
        </p:nvSpPr>
        <p:spPr>
          <a:xfrm>
            <a:off x="9233154" y="2490216"/>
            <a:ext cx="256032" cy="256032"/>
          </a:xfrm>
          <a:prstGeom prst="ellipse">
            <a:avLst/>
          </a:prstGeom>
          <a:solidFill>
            <a:srgbClr val="C9CED6"/>
          </a:solidFill>
          <a:ln w="12700">
            <a:solidFill>
              <a:srgbClr val="C9CED6"/>
            </a:solidFill>
            <a:prstDash val="solid"/>
          </a:ln>
        </p:spPr>
      </p:sp>
      <p:sp>
        <p:nvSpPr>
          <p:cNvPr id="67" name="Text 64"/>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free</a:t>
            </a:r>
            <a:endParaRPr lang="en-US" sz="1250" dirty="0"/>
          </a:p>
        </p:txBody>
      </p:sp>
      <p:sp>
        <p:nvSpPr>
          <p:cNvPr id="69" name="Shape 66"/>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9233154" y="2862072"/>
            <a:ext cx="256032" cy="256032"/>
          </a:xfrm>
          <a:prstGeom prst="ellipse">
            <a:avLst/>
          </a:prstGeom>
          <a:solidFill>
            <a:srgbClr val="2E8B57"/>
          </a:solidFill>
          <a:ln w="12700">
            <a:solidFill>
              <a:srgbClr val="2E8B57"/>
            </a:solidFill>
            <a:prstDash val="solid"/>
          </a:ln>
        </p:spPr>
      </p:sp>
      <p:sp>
        <p:nvSpPr>
          <p:cNvPr id="71" name="Text 68"/>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it helps concentration</a:t>
            </a:r>
            <a:endParaRPr lang="en-US" sz="1250" dirty="0"/>
          </a:p>
        </p:txBody>
      </p:sp>
      <p:sp>
        <p:nvSpPr>
          <p:cNvPr id="73" name="Shape 70"/>
          <p:cNvSpPr/>
          <p:nvPr/>
        </p:nvSpPr>
        <p:spPr>
          <a:xfrm>
            <a:off x="9233154" y="3233928"/>
            <a:ext cx="256032" cy="256032"/>
          </a:xfrm>
          <a:prstGeom prst="ellipse">
            <a:avLst/>
          </a:prstGeom>
          <a:solidFill>
            <a:srgbClr val="C9CED6"/>
          </a:solidFill>
          <a:ln w="12700">
            <a:solidFill>
              <a:srgbClr val="C9CED6"/>
            </a:solidFill>
            <a:prstDash val="solid"/>
          </a:ln>
        </p:spPr>
      </p:sp>
      <p:sp>
        <p:nvSpPr>
          <p:cNvPr id="74" name="Text 71"/>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sister insists</a:t>
            </a:r>
            <a:endParaRPr lang="en-US" sz="1250" dirty="0"/>
          </a:p>
        </p:txBody>
      </p:sp>
      <p:sp>
        <p:nvSpPr>
          <p:cNvPr id="76" name="Text 73"/>
          <p:cNvSpPr txBox="1"/>
          <p:nvPr/>
        </p:nvSpPr>
        <p:spPr>
          <a:xfrm>
            <a:off x="9178290" y="3566160"/>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لِأَنَّهُ يُسَاعِدُهَا عَلَى التَّرْكِيزِ.</a:t>
            </a:r>
            <a:endParaRPr lang="ar-SA" sz="1350" dirty="0"/>
          </a:p>
        </p:txBody>
      </p:sp>
      <p:sp>
        <p:nvSpPr>
          <p:cNvPr id="77" name="Shape 7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585216"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before phone use?</a:t>
            </a:r>
            <a:endParaRPr lang="en-US" sz="1250" dirty="0"/>
          </a:p>
        </p:txBody>
      </p:sp>
      <p:sp>
        <p:nvSpPr>
          <p:cNvPr id="81" name="Shape 78"/>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640080"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revision</a:t>
            </a:r>
            <a:endParaRPr lang="en-US" sz="1250" dirty="0"/>
          </a:p>
        </p:txBody>
      </p:sp>
      <p:sp>
        <p:nvSpPr>
          <p:cNvPr id="85" name="Shape 82"/>
          <p:cNvSpPr/>
          <p:nvPr/>
        </p:nvSpPr>
        <p:spPr>
          <a:xfrm>
            <a:off x="640080"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a:t>
            </a:r>
            <a:endParaRPr lang="en-US" sz="1250" dirty="0"/>
          </a:p>
        </p:txBody>
      </p:sp>
      <p:sp>
        <p:nvSpPr>
          <p:cNvPr id="88" name="Shape 85"/>
          <p:cNvSpPr/>
          <p:nvPr/>
        </p:nvSpPr>
        <p:spPr>
          <a:xfrm>
            <a:off x="640080"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91" name="Text 88"/>
          <p:cNvSpPr txBox="1"/>
          <p:nvPr/>
        </p:nvSpPr>
        <p:spPr>
          <a:xfrm>
            <a:off x="585216"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تُرَاجِعُ دُرُوسَهَا قَبْلَ أَنْ تَسْتَعْمِلَ هَاتِفَهَا.</a:t>
            </a:r>
            <a:endParaRPr lang="ar-SA" sz="1350" dirty="0"/>
          </a:p>
        </p:txBody>
      </p:sp>
      <p:sp>
        <p:nvSpPr>
          <p:cNvPr id="92" name="Shape 89"/>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3449574" y="4288536"/>
            <a:ext cx="310896" cy="310896"/>
          </a:xfrm>
          <a:prstGeom prst="ellipse">
            <a:avLst/>
          </a:prstGeom>
          <a:solidFill>
            <a:srgbClr val="1B3B6F"/>
          </a:solidFill>
          <a:ln w="12700">
            <a:solidFill>
              <a:srgbClr val="1B3B6F"/>
            </a:solidFill>
            <a:prstDash val="solid"/>
          </a:ln>
        </p:spPr>
      </p:sp>
      <p:sp>
        <p:nvSpPr>
          <p:cNvPr id="94" name="Text 91"/>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2"/>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evidence supports the writer’s judgement?</a:t>
            </a:r>
            <a:endParaRPr lang="en-US" sz="1250" dirty="0"/>
          </a:p>
        </p:txBody>
      </p:sp>
      <p:sp>
        <p:nvSpPr>
          <p:cNvPr id="96" name="Shape 93"/>
          <p:cNvSpPr/>
          <p:nvPr/>
        </p:nvSpPr>
        <p:spPr>
          <a:xfrm>
            <a:off x="3504438" y="4831080"/>
            <a:ext cx="256032" cy="256032"/>
          </a:xfrm>
          <a:prstGeom prst="ellipse">
            <a:avLst/>
          </a:prstGeom>
          <a:solidFill>
            <a:srgbClr val="C9CED6"/>
          </a:solidFill>
          <a:ln w="12700">
            <a:solidFill>
              <a:srgbClr val="C9CED6"/>
            </a:solidFill>
            <a:prstDash val="solid"/>
          </a:ln>
        </p:spPr>
      </p:sp>
      <p:sp>
        <p:nvSpPr>
          <p:cNvPr id="97" name="Text 94"/>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5"/>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late wake-up</a:t>
            </a:r>
            <a:endParaRPr lang="en-US" sz="1250" dirty="0"/>
          </a:p>
        </p:txBody>
      </p:sp>
      <p:sp>
        <p:nvSpPr>
          <p:cNvPr id="99" name="Shape 96"/>
          <p:cNvSpPr/>
          <p:nvPr/>
        </p:nvSpPr>
        <p:spPr>
          <a:xfrm>
            <a:off x="3504438" y="5202936"/>
            <a:ext cx="256032" cy="256032"/>
          </a:xfrm>
          <a:prstGeom prst="ellipse">
            <a:avLst/>
          </a:prstGeom>
          <a:solidFill>
            <a:srgbClr val="C9CED6"/>
          </a:solidFill>
          <a:ln w="12700">
            <a:solidFill>
              <a:srgbClr val="C9CED6"/>
            </a:solidFill>
            <a:prstDash val="solid"/>
          </a:ln>
        </p:spPr>
      </p:sp>
      <p:sp>
        <p:nvSpPr>
          <p:cNvPr id="100" name="Text 97"/>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1" name="Text 98"/>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bus journey</a:t>
            </a:r>
            <a:endParaRPr lang="en-US" sz="1250" dirty="0"/>
          </a:p>
        </p:txBody>
      </p:sp>
      <p:sp>
        <p:nvSpPr>
          <p:cNvPr id="102" name="Shape 99"/>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3" name="Shape 100"/>
          <p:cNvSpPr/>
          <p:nvPr/>
        </p:nvSpPr>
        <p:spPr>
          <a:xfrm>
            <a:off x="3504438" y="5574792"/>
            <a:ext cx="256032" cy="256032"/>
          </a:xfrm>
          <a:prstGeom prst="ellipse">
            <a:avLst/>
          </a:prstGeom>
          <a:solidFill>
            <a:srgbClr val="2E8B57"/>
          </a:solidFill>
          <a:ln w="12700">
            <a:solidFill>
              <a:srgbClr val="2E8B57"/>
            </a:solidFill>
            <a:prstDash val="solid"/>
          </a:ln>
        </p:spPr>
      </p:sp>
      <p:sp>
        <p:nvSpPr>
          <p:cNvPr id="104" name="Text 101"/>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precise, balanced answers</a:t>
            </a:r>
            <a:endParaRPr lang="en-US" sz="1250" dirty="0"/>
          </a:p>
        </p:txBody>
      </p:sp>
      <p:sp>
        <p:nvSpPr>
          <p:cNvPr id="106" name="Text 103"/>
          <p:cNvSpPr txBox="1"/>
          <p:nvPr/>
        </p:nvSpPr>
        <p:spPr>
          <a:xfrm>
            <a:off x="3449574" y="5907024"/>
            <a:ext cx="2425446"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إِجَابَاتُهَا كَانَتْ دَقِيقَةً وَمُتَوَازِنَةً.</a:t>
            </a:r>
            <a:endParaRPr lang="ar-SA" sz="1350" dirty="0"/>
          </a:p>
        </p:txBody>
      </p:sp>
      <p:sp>
        <p:nvSpPr>
          <p:cNvPr id="107" name="Shape 104"/>
          <p:cNvSpPr/>
          <p:nvPr/>
        </p:nvSpPr>
        <p:spPr>
          <a:xfrm>
            <a:off x="6185916" y="4151376"/>
            <a:ext cx="2681478"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08" name="Text 105"/>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109" name="Text 106"/>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110" name="Text 10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46</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Arabic interview response challenge</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“What do you do after school?”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 بَعْدَ المَدْرَسَةِ؟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تَفْعَلِينَ بَعْدَ المَدْرَسَةِ؟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يَفْعَلُ بَعْدَ المَدْرَسَةِ؟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the 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تَعُودُ إِلَى البَيْتِ؟</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الرَّابِعَةِ وَالنِّصْفِ.</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لِأَنَّ البَيْتَ قَرِيبٌ.</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ثَلَاثَ مَرَّاتٍ فِي الأُسْبُوعِ.</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often he exercises.</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تَتَمَرَّنُ؟</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تَتَمَرَّنِينَ؟</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answer is:</a:t>
            </a:r>
            <a:endParaRPr lang="en-US" sz="1200" dirty="0"/>
          </a:p>
        </p:txBody>
      </p:sp>
      <p:sp>
        <p:nvSpPr>
          <p:cNvPr id="60" name="Text 57"/>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أَذْهَبُ بِالحَافِلَةِ لِأَنَّ المَدْرَسَةَ بَعِيدَةٌ</a:t>
            </a:r>
            <a:pPr algn="l" indent="0" marL="0">
              <a:buNone/>
            </a:pPr>
            <a:r>
              <a:rPr lang="en-US" sz="1000" b="1" dirty="0">
                <a:solidFill>
                  <a:srgbClr val="1F2A37"/>
                </a:solidFill>
                <a:latin typeface="Calibri" pitchFamily="34" charset="0"/>
                <a:ea typeface="Calibri" pitchFamily="34" charset="-122"/>
                <a:cs typeface="Calibri" pitchFamily="34" charset="-120"/>
              </a:rPr>
              <a:t>. Choose the best follow-up question.</a:t>
            </a:r>
            <a:endParaRPr lang="en-US" sz="100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تَذْهَبُ؟</a:t>
            </a:r>
            <a:endParaRPr lang="ar-SA" sz="20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تَنَامُ؟</a:t>
            </a:r>
            <a:endParaRPr lang="ar-SA" sz="20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لَا تَمْشِي؟</a:t>
            </a:r>
            <a:endParaRPr lang="ar-SA" sz="20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matches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 فِي الأُسْبُوعِ؟</a:t>
            </a:r>
            <a:endParaRPr lang="en-US" sz="1250" dirty="0"/>
          </a:p>
        </p:txBody>
      </p:sp>
      <p:sp>
        <p:nvSpPr>
          <p:cNvPr id="74" name="Shape 71"/>
          <p:cNvSpPr/>
          <p:nvPr/>
        </p:nvSpPr>
        <p:spPr>
          <a:xfrm>
            <a:off x="4459224" y="48737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كَمْ مَرَّةً تَتَمَرَّنُ؟</a:t>
            </a:r>
            <a:endParaRPr lang="ar-SA" sz="2050" dirty="0"/>
          </a:p>
        </p:txBody>
      </p:sp>
      <p:sp>
        <p:nvSpPr>
          <p:cNvPr id="77" name="Shape 74"/>
          <p:cNvSpPr/>
          <p:nvPr/>
        </p:nvSpPr>
        <p:spPr>
          <a:xfrm>
            <a:off x="4459224" y="53309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تَعُودُ؟</a:t>
            </a:r>
            <a:endParaRPr lang="ar-SA" sz="2050" dirty="0"/>
          </a:p>
        </p:txBody>
      </p:sp>
      <p:sp>
        <p:nvSpPr>
          <p:cNvPr id="80" name="Shape 77"/>
          <p:cNvSpPr/>
          <p:nvPr/>
        </p:nvSpPr>
        <p:spPr>
          <a:xfrm>
            <a:off x="4459224" y="5788152"/>
            <a:ext cx="256032" cy="256032"/>
          </a:xfrm>
          <a:prstGeom prst="ellipse">
            <a:avLst/>
          </a:prstGeom>
          <a:solidFill>
            <a:srgbClr val="F4F1EA"/>
          </a:solidFill>
          <a:ln w="12700">
            <a:solidFill>
              <a:srgbClr val="F4F1EA"/>
            </a:solidFill>
            <a:prstDash val="solid"/>
          </a:ln>
        </p:spPr>
      </p:sp>
      <p:sp>
        <p:nvSpPr>
          <p:cNvPr id="81" name="Text 78"/>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لِمَاذَا تُرَاجِعُ؟</a:t>
            </a:r>
            <a:endParaRPr lang="ar-SA" sz="2050" dirty="0"/>
          </a:p>
        </p:txBody>
      </p:sp>
      <p:sp>
        <p:nvSpPr>
          <p:cNvPr id="83" name="Shape 8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4" name="Shape 81"/>
          <p:cNvSpPr/>
          <p:nvPr/>
        </p:nvSpPr>
        <p:spPr>
          <a:xfrm>
            <a:off x="8223504" y="4288536"/>
            <a:ext cx="310896" cy="310896"/>
          </a:xfrm>
          <a:prstGeom prst="ellipse">
            <a:avLst/>
          </a:prstGeom>
          <a:solidFill>
            <a:srgbClr val="1B3B6F"/>
          </a:solidFill>
          <a:ln w="12700">
            <a:solidFill>
              <a:srgbClr val="1B3B6F"/>
            </a:solidFill>
            <a:prstDash val="solid"/>
          </a:ln>
        </p:spPr>
      </p:sp>
      <p:sp>
        <p:nvSpPr>
          <p:cNvPr id="85" name="Text 8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6" name="Text 8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most developed interview response to </a:t>
            </a:r>
            <a:pPr algn="l" indent="0" marL="0">
              <a:buNone/>
            </a:pPr>
            <a:r>
              <a:rPr lang="ar-SA" altLang="en-US" sz="1550" b="1" dirty="0">
                <a:solidFill>
                  <a:srgbClr val="1B3B6F"/>
                </a:solidFill>
                <a:latin typeface="Amiri" pitchFamily="34" charset="0"/>
                <a:ea typeface="Amiri" pitchFamily="34" charset="-122"/>
                <a:cs typeface="Amiri" pitchFamily="34" charset="-120"/>
              </a:rPr>
              <a:t>كَمْ مَرَّةً تَتَمَرَّنُ وَلِمَاذَا؟</a:t>
            </a:r>
            <a:endParaRPr lang="en-US" sz="1200" dirty="0"/>
          </a:p>
        </p:txBody>
      </p:sp>
      <p:sp>
        <p:nvSpPr>
          <p:cNvPr id="87" name="Shape 84"/>
          <p:cNvSpPr/>
          <p:nvPr/>
        </p:nvSpPr>
        <p:spPr>
          <a:xfrm>
            <a:off x="8278368" y="48737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9" name="Text 86"/>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مَرَّتَيْنِ.</a:t>
            </a:r>
            <a:endParaRPr lang="ar-SA" sz="1050" dirty="0"/>
          </a:p>
        </p:txBody>
      </p:sp>
      <p:sp>
        <p:nvSpPr>
          <p:cNvPr id="90" name="Shape 87"/>
          <p:cNvSpPr/>
          <p:nvPr/>
        </p:nvSpPr>
        <p:spPr>
          <a:xfrm>
            <a:off x="8278368" y="53309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2" name="Text 89"/>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أَتَمَرَّنُ مَرَّتَيْنِ فِي الأُسْبُوعِ لِأَنَّ الرِّيَاضَةَ تُسَاعِدُنِي عَلَى التَّرْكِيزِ.</a:t>
            </a:r>
            <a:endParaRPr lang="ar-SA" sz="1050" dirty="0"/>
          </a:p>
        </p:txBody>
      </p:sp>
      <p:sp>
        <p:nvSpPr>
          <p:cNvPr id="93" name="Shape 90"/>
          <p:cNvSpPr/>
          <p:nvPr/>
        </p:nvSpPr>
        <p:spPr>
          <a:xfrm>
            <a:off x="8278368" y="5788152"/>
            <a:ext cx="256032" cy="256032"/>
          </a:xfrm>
          <a:prstGeom prst="ellipse">
            <a:avLst/>
          </a:prstGeom>
          <a:solidFill>
            <a:srgbClr val="F4F1EA"/>
          </a:solidFill>
          <a:ln w="12700">
            <a:solidFill>
              <a:srgbClr val="F4F1EA"/>
            </a:solidFill>
            <a:prstDash val="solid"/>
          </a:ln>
        </p:spPr>
      </p:sp>
      <p:sp>
        <p:nvSpPr>
          <p:cNvPr id="94" name="Text 91"/>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5" name="Text 92"/>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050" dirty="0">
                <a:solidFill>
                  <a:srgbClr val="1F2A37"/>
                </a:solidFill>
                <a:latin typeface="Amiri" pitchFamily="34" charset="0"/>
                <a:ea typeface="Amiri" pitchFamily="34" charset="-122"/>
                <a:cs typeface="Amiri" pitchFamily="34" charset="-120"/>
              </a:rPr>
              <a:t>رِيَاضَةٌ جَيِّدَةٌ.</a:t>
            </a:r>
            <a:endParaRPr lang="ar-SA" sz="10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46</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“What do you do after school?”</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تَفْعَلُ بَعْدَ المَدْرَسَةِ؟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تَفْعَلِينَ بَعْدَ المَدْرَسَةِ؟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يَفْعَلُ بَعْدَ المَدْرَسَةِ؟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When addressing one female, the five-verb form ends in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تَفْعَلِينَ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answer fits the question </a:t>
            </a:r>
            <a:pPr algn="l" indent="0" marL="0">
              <a:buNone/>
            </a:pPr>
            <a:r>
              <a:rPr lang="ar-SA" altLang="en-US" sz="1650" b="1" dirty="0">
                <a:solidFill>
                  <a:srgbClr val="1B3B6F"/>
                </a:solidFill>
                <a:latin typeface="Amiri" pitchFamily="34" charset="0"/>
                <a:ea typeface="Amiri" pitchFamily="34" charset="-122"/>
                <a:cs typeface="Amiri" pitchFamily="34" charset="-120"/>
              </a:rPr>
              <a:t>مَتَى تَعُودُ إِلَى البَيْتِ؟</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الرَّابِعَةِ وَالنِّصْفِ.</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لِأَنَّ البَيْتَ قَرِيبٌ.</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ثَلَاثَ مَرَّاتٍ فِي الأُسْبُوعِ.</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مَتَى</a:t>
            </a:r>
            <a:pPr algn="l" indent="0" marL="0">
              <a:buNone/>
            </a:pPr>
            <a:r>
              <a:rPr lang="en-US" sz="1050" i="1" dirty="0">
                <a:solidFill>
                  <a:srgbClr val="8A6D1E"/>
                </a:solidFill>
                <a:latin typeface="Calibri" pitchFamily="34" charset="0"/>
                <a:ea typeface="Calibri" pitchFamily="34" charset="-122"/>
                <a:cs typeface="Calibri" pitchFamily="34" charset="-120"/>
              </a:rPr>
              <a:t> asks for time, so the answer must provide a time.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boy how often he exercises.</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تَتَمَرَّنُ؟</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تَتَمَرَّنِينَ؟</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 asks frequency, and </a:t>
            </a:r>
            <a:pPr algn="l" indent="0" marL="0">
              <a:buNone/>
            </a:pPr>
            <a:r>
              <a:rPr lang="ar-SA" altLang="en-US" sz="1350" dirty="0">
                <a:solidFill>
                  <a:srgbClr val="8A6D1E"/>
                </a:solidFill>
                <a:latin typeface="Amiri" pitchFamily="34" charset="0"/>
                <a:ea typeface="Amiri" pitchFamily="34" charset="-122"/>
                <a:cs typeface="Amiri" pitchFamily="34" charset="-120"/>
              </a:rPr>
              <a:t>تَتَمَرَّنُ</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The answer is:</a:t>
            </a:r>
            <a:endParaRPr lang="en-US" sz="1200" dirty="0"/>
          </a:p>
        </p:txBody>
      </p:sp>
      <p:sp>
        <p:nvSpPr>
          <p:cNvPr id="65" name="Text 63"/>
          <p:cNvSpPr txBox="1"/>
          <p:nvPr/>
        </p:nvSpPr>
        <p:spPr>
          <a:xfrm>
            <a:off x="2406701" y="4224528"/>
            <a:ext cx="1577035" cy="475488"/>
          </a:xfrm>
          <a:prstGeom prst="rect">
            <a:avLst/>
          </a:prstGeom>
          <a:noFill/>
          <a:ln/>
        </p:spPr>
        <p:txBody>
          <a:bodyPr wrap="square" lIns="0" tIns="0" rIns="0" bIns="0" rtlCol="0" anchor="ctr"/>
          <a:lstStyle/>
          <a:p>
            <a:pPr algn="l" indent="0" marL="0">
              <a:buNone/>
            </a:pPr>
            <a:r>
              <a:rPr lang="ar-SA" altLang="en-US" sz="1300" b="1" dirty="0">
                <a:solidFill>
                  <a:srgbClr val="1F2A37"/>
                </a:solidFill>
                <a:latin typeface="Amiri" pitchFamily="34" charset="0"/>
                <a:ea typeface="Amiri" pitchFamily="34" charset="-122"/>
                <a:cs typeface="Amiri" pitchFamily="34" charset="-120"/>
              </a:rPr>
              <a:t>أَذْهَبُ بِالحَافِلَةِ لِأَنَّ المَدْرَسَةَ بَعِيدَةٌ</a:t>
            </a:r>
            <a:pPr algn="l" indent="0" marL="0">
              <a:buNone/>
            </a:pPr>
            <a:r>
              <a:rPr lang="en-US" sz="1000" b="1" dirty="0">
                <a:solidFill>
                  <a:srgbClr val="1F2A37"/>
                </a:solidFill>
                <a:latin typeface="Calibri" pitchFamily="34" charset="0"/>
                <a:ea typeface="Calibri" pitchFamily="34" charset="-122"/>
                <a:cs typeface="Calibri" pitchFamily="34" charset="-120"/>
              </a:rPr>
              <a:t>. Choose the best follow-up question.</a:t>
            </a:r>
            <a:endParaRPr lang="en-US" sz="100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كَمْ مَرَّةً تَذْهَبُ؟</a:t>
            </a:r>
            <a:endParaRPr lang="ar-SA" sz="170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تَنَامُ؟</a:t>
            </a:r>
            <a:endParaRPr lang="ar-SA" sz="170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لِمَاذَا لَا تَمْشِي؟</a:t>
            </a:r>
            <a:endParaRPr lang="ar-SA" sz="170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950" i="1" dirty="0">
                <a:solidFill>
                  <a:srgbClr val="8A6D1E"/>
                </a:solidFill>
                <a:latin typeface="Calibri" pitchFamily="34" charset="0"/>
                <a:ea typeface="Calibri" pitchFamily="34" charset="-122"/>
                <a:cs typeface="Calibri" pitchFamily="34" charset="-120"/>
              </a:rPr>
              <a:t>The answer gives a transport choice and reason, so asking why the speaker does not walk is a relevant follow-up.</a:t>
            </a:r>
            <a:endParaRPr lang="en-US" sz="9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question matches the answer </a:t>
            </a:r>
            <a:pPr algn="l" indent="0" marL="0">
              <a:buNone/>
            </a:pPr>
            <a:r>
              <a:rPr lang="ar-SA" altLang="en-US" sz="1650" b="1" dirty="0">
                <a:solidFill>
                  <a:srgbClr val="1B3B6F"/>
                </a:solidFill>
                <a:latin typeface="Amiri" pitchFamily="34" charset="0"/>
                <a:ea typeface="Amiri" pitchFamily="34" charset="-122"/>
                <a:cs typeface="Amiri" pitchFamily="34" charset="-120"/>
              </a:rPr>
              <a:t>ثَلَاثَ مَرَّاتٍ فِي الأُسْبُوعِ؟</a:t>
            </a:r>
            <a:endParaRPr lang="en-US" sz="1250" dirty="0"/>
          </a:p>
        </p:txBody>
      </p:sp>
      <p:sp>
        <p:nvSpPr>
          <p:cNvPr id="81" name="Shape 79"/>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80"/>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كَمْ مَرَّةً تَتَمَرَّنُ؟</a:t>
            </a:r>
            <a:endParaRPr lang="ar-SA" sz="1700" dirty="0"/>
          </a:p>
        </p:txBody>
      </p:sp>
      <p:sp>
        <p:nvSpPr>
          <p:cNvPr id="85" name="Shape 83"/>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4"/>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5"/>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تَعُودُ؟</a:t>
            </a:r>
            <a:endParaRPr lang="ar-SA" sz="1700" dirty="0"/>
          </a:p>
        </p:txBody>
      </p:sp>
      <p:sp>
        <p:nvSpPr>
          <p:cNvPr id="88" name="Shape 86"/>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7"/>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8"/>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لِمَاذَا تُرَاجِعُ؟</a:t>
            </a:r>
            <a:endParaRPr lang="ar-SA" sz="1700" dirty="0"/>
          </a:p>
        </p:txBody>
      </p:sp>
      <p:sp>
        <p:nvSpPr>
          <p:cNvPr id="91" name="Text 89"/>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states frequency, so it matches </a:t>
            </a:r>
            <a:pPr algn="l" indent="0" marL="0">
              <a:buNone/>
            </a:pPr>
            <a:r>
              <a:rPr lang="ar-SA" altLang="en-US" sz="1350" dirty="0">
                <a:solidFill>
                  <a:srgbClr val="8A6D1E"/>
                </a:solidFill>
                <a:latin typeface="Amiri" pitchFamily="34" charset="0"/>
                <a:ea typeface="Amiri" pitchFamily="34" charset="-122"/>
                <a:cs typeface="Amiri" pitchFamily="34" charset="-120"/>
              </a:rPr>
              <a:t>كَمْ مَرَّةً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2" name="Shape 90"/>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3" name="Shape 91"/>
          <p:cNvSpPr/>
          <p:nvPr/>
        </p:nvSpPr>
        <p:spPr>
          <a:xfrm>
            <a:off x="8223504" y="4288536"/>
            <a:ext cx="310896" cy="310896"/>
          </a:xfrm>
          <a:prstGeom prst="ellipse">
            <a:avLst/>
          </a:prstGeom>
          <a:solidFill>
            <a:srgbClr val="1B3B6F"/>
          </a:solidFill>
          <a:ln w="12700">
            <a:solidFill>
              <a:srgbClr val="1B3B6F"/>
            </a:solidFill>
            <a:prstDash val="solid"/>
          </a:ln>
        </p:spPr>
      </p:sp>
      <p:sp>
        <p:nvSpPr>
          <p:cNvPr id="94" name="Text 92"/>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5" name="Text 93"/>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most developed interview response to </a:t>
            </a:r>
            <a:pPr algn="l" indent="0" marL="0">
              <a:buNone/>
            </a:pPr>
            <a:r>
              <a:rPr lang="ar-SA" altLang="en-US" sz="1550" b="1" dirty="0">
                <a:solidFill>
                  <a:srgbClr val="1B3B6F"/>
                </a:solidFill>
                <a:latin typeface="Amiri" pitchFamily="34" charset="0"/>
                <a:ea typeface="Amiri" pitchFamily="34" charset="-122"/>
                <a:cs typeface="Amiri" pitchFamily="34" charset="-120"/>
              </a:rPr>
              <a:t>كَمْ مَرَّةً تَتَمَرَّنُ وَلِمَاذَا؟</a:t>
            </a:r>
            <a:endParaRPr lang="en-US" sz="1200" dirty="0"/>
          </a:p>
        </p:txBody>
      </p:sp>
      <p:sp>
        <p:nvSpPr>
          <p:cNvPr id="96" name="Shape 94"/>
          <p:cNvSpPr/>
          <p:nvPr/>
        </p:nvSpPr>
        <p:spPr>
          <a:xfrm>
            <a:off x="8278368" y="4831080"/>
            <a:ext cx="256032" cy="256032"/>
          </a:xfrm>
          <a:prstGeom prst="ellipse">
            <a:avLst/>
          </a:prstGeom>
          <a:solidFill>
            <a:srgbClr val="C9CED6"/>
          </a:solidFill>
          <a:ln w="12700">
            <a:solidFill>
              <a:srgbClr val="C9CED6"/>
            </a:solidFill>
            <a:prstDash val="solid"/>
          </a:ln>
        </p:spPr>
      </p:sp>
      <p:sp>
        <p:nvSpPr>
          <p:cNvPr id="97" name="Text 95"/>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8" name="Text 96"/>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مَرَّتَيْنِ.</a:t>
            </a:r>
            <a:endParaRPr lang="ar-SA" sz="1050" dirty="0"/>
          </a:p>
        </p:txBody>
      </p:sp>
      <p:sp>
        <p:nvSpPr>
          <p:cNvPr id="99" name="Shape 97"/>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0" name="Shape 98"/>
          <p:cNvSpPr/>
          <p:nvPr/>
        </p:nvSpPr>
        <p:spPr>
          <a:xfrm>
            <a:off x="8278368" y="5202936"/>
            <a:ext cx="256032" cy="256032"/>
          </a:xfrm>
          <a:prstGeom prst="ellipse">
            <a:avLst/>
          </a:prstGeom>
          <a:solidFill>
            <a:srgbClr val="2E8B57"/>
          </a:solidFill>
          <a:ln w="12700">
            <a:solidFill>
              <a:srgbClr val="2E8B57"/>
            </a:solidFill>
            <a:prstDash val="solid"/>
          </a:ln>
        </p:spPr>
      </p:sp>
      <p:sp>
        <p:nvSpPr>
          <p:cNvPr id="101" name="Text 99"/>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2" name="Text 100"/>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050" b="1" dirty="0">
                <a:solidFill>
                  <a:srgbClr val="1F2A37"/>
                </a:solidFill>
                <a:latin typeface="Amiri" pitchFamily="34" charset="0"/>
                <a:ea typeface="Amiri" pitchFamily="34" charset="-122"/>
                <a:cs typeface="Amiri" pitchFamily="34" charset="-120"/>
              </a:rPr>
              <a:t>أَتَمَرَّنُ مَرَّتَيْنِ فِي الأُسْبُوعِ لِأَنَّ الرِّيَاضَةَ تُسَاعِدُنِي عَلَى التَّرْكِيزِ.</a:t>
            </a:r>
            <a:endParaRPr lang="ar-SA" sz="1050" dirty="0"/>
          </a:p>
        </p:txBody>
      </p:sp>
      <p:sp>
        <p:nvSpPr>
          <p:cNvPr id="103" name="Shape 101"/>
          <p:cNvSpPr/>
          <p:nvPr/>
        </p:nvSpPr>
        <p:spPr>
          <a:xfrm>
            <a:off x="8278368" y="5574792"/>
            <a:ext cx="256032" cy="256032"/>
          </a:xfrm>
          <a:prstGeom prst="ellipse">
            <a:avLst/>
          </a:prstGeom>
          <a:solidFill>
            <a:srgbClr val="C9CED6"/>
          </a:solidFill>
          <a:ln w="12700">
            <a:solidFill>
              <a:srgbClr val="C9CED6"/>
            </a:solidFill>
            <a:prstDash val="solid"/>
          </a:ln>
        </p:spPr>
      </p:sp>
      <p:sp>
        <p:nvSpPr>
          <p:cNvPr id="104" name="Text 102"/>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3"/>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050" dirty="0">
                <a:solidFill>
                  <a:srgbClr val="9AA1AB"/>
                </a:solidFill>
                <a:latin typeface="Amiri" pitchFamily="34" charset="0"/>
                <a:ea typeface="Amiri" pitchFamily="34" charset="-122"/>
                <a:cs typeface="Amiri" pitchFamily="34" charset="-120"/>
              </a:rPr>
              <a:t>رِيَاضَةٌ جَيِّدَةٌ.</a:t>
            </a:r>
            <a:endParaRPr lang="ar-SA" sz="1050" dirty="0"/>
          </a:p>
        </p:txBody>
      </p:sp>
      <p:sp>
        <p:nvSpPr>
          <p:cNvPr id="106" name="Text 104"/>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strong answer gives the action, exact frequency and a relevant reason.</a:t>
            </a:r>
            <a:endParaRPr lang="en-US" sz="1050" dirty="0"/>
          </a:p>
        </p:txBody>
      </p:sp>
      <p:sp>
        <p:nvSpPr>
          <p:cNvPr id="107"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46</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D1-L07 · What Do You Do?</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D1-L08: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D1-L07</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D1-L08 · Weekend Routine — What Do You Do at the Weekend?</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عُطْلَةُ نِهَايَةِ الأُسْبُوعِ</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weekend (break)</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أَزُورُ أَقَارِبِي</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visit my relatives</a:t>
            </a:r>
            <a:pPr indent="0" marL="0">
              <a:buNone/>
            </a:pPr>
            <a:r>
              <a:rPr lang="en-US" sz="1000" i="1" dirty="0">
                <a:solidFill>
                  <a:srgbClr val="5A6472"/>
                </a:solidFill>
                <a:latin typeface="Calibri" pitchFamily="34" charset="0"/>
                <a:ea typeface="Calibri" pitchFamily="34" charset="-122"/>
                <a:cs typeface="Calibri" pitchFamily="34" charset="-120"/>
              </a:rPr>
              <a:t>  relative: قَرِيبٌ</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أَلْتَقِي بِأَصْدِقَائِي</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meet my friends</a:t>
            </a:r>
            <a:pPr indent="0" marL="0">
              <a:buNone/>
            </a:pPr>
            <a:r>
              <a:rPr lang="en-US" sz="1000" i="1" dirty="0">
                <a:solidFill>
                  <a:srgbClr val="5A6472"/>
                </a:solidFill>
                <a:latin typeface="Calibri" pitchFamily="34" charset="0"/>
                <a:ea typeface="Calibri" pitchFamily="34" charset="-122"/>
                <a:cs typeface="Calibri" pitchFamily="34" charset="-120"/>
              </a:rPr>
              <a:t>  friend: صَدِيقٌ / صَدِيقَةٌ</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أَتَسَوَّقُ</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go shopping</a:t>
            </a:r>
            <a:pPr indent="0" marL="0">
              <a:buNone/>
            </a:pPr>
            <a:r>
              <a:rPr lang="en-US" sz="1000" i="1" dirty="0">
                <a:solidFill>
                  <a:srgbClr val="5A6472"/>
                </a:solidFill>
                <a:latin typeface="Calibri" pitchFamily="34" charset="0"/>
                <a:ea typeface="Calibri" pitchFamily="34" charset="-122"/>
                <a:cs typeface="Calibri" pitchFamily="34" charset="-120"/>
              </a:rPr>
              <a:t>  he: يَتَسَوَّقُ</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وَقْتُ الفَرَاغِ</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free time</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How is your weekend different from a school day? Think of three differences.</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تَفْعَلُ فِي نِهَايَةِ الأُسْبُوعِ؟</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D1-L07: the vocabulary tab (questions to a boy / a girl) and the sorter “Interview producer”.</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Interview a family member (4 questions + 1 follow-up) and write the answers.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a 100–120-word profile from the interview.</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46</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D1-L07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ea typeface="Cambria" pitchFamily="34" charset="-122"/>
                <a:cs typeface="Cambria" pitchFamily="34" charset="-120"/>
              </a:rPr>
              <a:t>D1-L08 · Weekend Routine — What Do You Do at the Weekend?</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رُوتِينُ عُطْلَةِ نِهَايَةِ الأُسْبُوعِ</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the listener decides the ending — girl → -īna.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D1-L07 · Asking About Daily Routine — What Do You Do?</dc:title>
  <dc:subject>PptxGenJS Presentation</dc:subject>
  <dc:creator>Al Madina Online School · Arabic Department</dc:creator>
  <cp:lastModifiedBy>Al Madina Online School · Arabic Department</cp:lastModifiedBy>
  <cp:revision>1</cp:revision>
  <dcterms:created xsi:type="dcterms:W3CDTF">2026-09-27T11:17:58Z</dcterms:created>
  <dcterms:modified xsi:type="dcterms:W3CDTF">2026-09-27T11:17:58Z</dcterms:modified>
</cp:coreProperties>
</file>