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D1-L07. The website lesson “Asking About Daily Routine — What Do You Do?”: vocabulary, grammar rules and quiz, patterns, common mistakes, sorter, listening, reading, speaking prompts and model, writing task and model, differentiation, final check and the lesson mission. Picture match: website visual game “Asking About Daily Routine — What Do You Do?”.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questions learnt as chunks (مَاذَا تَفْعَلُ؟ مَتَى تَسْتَيْقِظُ؟ كَيْفَ تَذْهَبُ؟ كَمْ مَرَّةً؟ لِمَاذَا؟) + the girl-form ending -īna. Core students may read their questions from the frames slide during the interview.
• Develop: choose the form by the LISTENER (boy / girl / group) and ask one follow-up. Stretch: sustain a five-question interview and turn the notes into a he/she profile (recycles D1-L06).
• Online tip: pair students in breakout rooms; one interviews, one answers, then swap. The teacher visits rooms and listens for -īna.
• Urdu bridge: کیوں؟ is لِمَاذَا؟ — but کب؟ / کیسے؟ are not cognates; use the Arabic question words as new words. Cognates: وقت، مرتبہ (مَرَّةً)، سبب (reason), جواب،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D1-L06 (he/she) and D1-L05 (duration).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question word decides the answer. The ending decides who you are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and جواب are Arabic words (سُؤَالٌ، جَوَابٌ / إِجَابَةٌ). مرتبہ (ایک مرتبہ = once) → مَرَّةً، كَمْ مَرَّةً؟ سبب (reason) → لِأَنَّ gives the سبب. Urdu question words (کیوں، کب، کیسے) are NOT Arabic — teach مَتَى، كَيْفَ، لِمَاذَا as new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question words (website vocabulary (1 of 2)). Hear → Say → See → Use. Transliteration is printed for Core students (cover it for Develop/Stretch).
Mime each question word: مَتَى (tap the wrist), كَيْفَ (open hands), لِمَاذَا (shrug), كَمْ مَرَّةً (count on fingers), مَعَ مَنْ (point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question words (website vocabulary (2 of 2)). Hear → Say → See → Use. Transliteration is printed for Core students (cover it for Develop/Stretch).
Mime each question word: مَتَى (tap the wrist), كَيْفَ (open hands), لِمَاذَا (shrug), كَمْ مَرَّةً (count on fingers), مَعَ مَنْ (point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to a boy/man (website vocabulary). Hear → Say → See → Use. Transliteration is printed for Core students (cover it for Develop/Stretch).
Each card shows the girl-form (-īna) and the group-form (-ūna). The questions to a girl (group 3) are the same list with -īna: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to a girl/woman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Interview management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“Ask a masculine listener” (no ـين) and “Ask a feminine listener” (add ـين). The group form (-ūna) is added for online classes, where teachers often ask the whole class.
Website warning: “Do not add ـين to a masculine question, and do not remove it from a feminine question.” Row 4: the ending on the NOUN changes too (أُسْرَتَكَ / أُسْرَتَكِ / أُسْرَتَكُمْ).
Quick-fire: the teacher names a student; the class asks them مَتَى تَسْتَيْقِظُ / تَسْتَيْقِظِينَ؟ — boy or girl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“Match the question word to the answer” and the website table (Information · Question · Answer shape). Row 5 recycles D1-L05 (لِمُدَّةِ).
Website common error: لِمَاذَا؟ — فِي السَّابِعَةِ ✗ (a time does not answer “why”).
Quick-fire: the teacher gives an ANSWER (مَرَّتَيْنِ / لِأَنَّنِي مُتْعَبٌ / بِالسَّيَّارَةِ); students type the question word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follow-up from the answer”: listen to the answer, select one new detail, then ask for time, frequency, cause or evaluation.
Useful interview phrases (website group 4, FLEX): أَخْبِرْنِي / أَخْبِرِينِي أَكْثَرَ (tell me more), مَاذَا تَقْصِدُ / تَقْصِدِينَ؟ (what do you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masculine singular present usually begins with تَـ and has no final يـن, while the feminine singular adds ـين. Question words select the information type and prevent vague answers.”
• Ask a masculine listener: Use the basic second-person form without ـين.
• Ask a feminine listener: Add ـين to the five-verb form when addressing one female.
• Match the question word to the answer: The expected answer must fit the information requested.
• Build a follow-up from the answer: Listen to the answer, select one new detail, then ask for time, frequency, cause or evaluation.
Website common error: Do not add ـين to a masculine question, and do not remove it from a feminine question. In connected speech, write the listener accurately even when the answer begins with أنا.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interviews a volunteer girl (or reads both parts), with a think-aloud, then turns the answers into a she-profile. Repeat quickly with a boy to show the ending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picture-game sentences (أَسْتَيْقِظُ صَبَاحًا، أَذْهَبُ إِلَى المَدْرَسَةِ، أَدْرُسُ بَعْدَ المَدْرَسَةِ، أَنَامُ لَيْلًا) with an added detail. Two decisions each time: the question word, then the listener.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a volunteer asks the question to a classmate on the mic and gets a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question by the information it requests.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question by the information it requests.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المُذِيعَةُ: مَتَى تَسْتَيْقِظُ يَا عُمَرُ؟ عُمَرُ: أَسْتَيْقِظُ فِي السَّادِسَةِ وَالنِّصْفِ. المُذِيعَةُ: وَكَيْفَ تَذْهَبُ إِلَى المَدْرَسَةِ؟ عُمَرُ: أَسْتَقِلُّ الحَافِلَةَ لِأَنَّ المَدْرَسَةَ بَعِيدَةٌ. المُذِيعَةُ: كَمْ مَرَّةً تَتَمَرَّنُ؟ عُمَرُ: مَرَّتَيْنِ فِي الأُسْبُوعِ، يَوْمَيِ الثُّلَاثَاءِ وَالخَمِيسِ. المُذِيعَةُ: مَاذَا تَفْعَلُ فِي المَسَاءِ؟ عُمَرُ: أُكْمِلُ وَاجِبِي، ثُمَّ أَقْرَأُ قَبْلَ أَنْ أَنَامَ. المُذِيعَةُ: مَا الجُزْءُ الَّذِي تُرِيدُ أَنْ تُحَسِّنَهُ؟ عُمَرُ: أُرِيدُ أَنْ أَقْضِيَ وَقْتًا أَقَلَّ عَلَى هَاتِفِي.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تُفَضِّلِينَ المَسَاءَ؟ (Relevant reason follow-up.)
B: لِأَنَّنِي أَكُونُ حُرَّةً بَعْدَ الوَاجِبِ. (Developed reason.)
Website prompts (1 and 2 merged for Core). Breakout rooms in pairs: A interviews B (2 min), then swap. Summarise: each student reports ONE answer in the third person (“he / she …”) — the bridge to the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and answer four accurate questions. · Develop — Add relevant follow-ups and report the answers. · Stretch — Conduct a sustained interview and evaluate the evidence critically.
Website writing task (Stretch): Write a 100–120-word profile based on an imagined or real routine interview.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سَأَلْتُ / سَأَلْتُهُ · قَالَ إِنَّهُ · أَخْبَرَنِي أَنَّهُ · يَسْتَيْقِظُ، يَذْهَبُ، يَتَمَرَّنُ، يُكْمِلُ، يُحَضِّرُ · لِأَنَّهَا بَعِيدَةٌ · رُوتِينُهُ نَشِيطٌ، وَلٰكِنَّهُ يَحْتَاجُ إِلَى رَاحَةٍ أَكْثَرَ.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(D1-L08 · Weekend Routine — What Do You Do at the Weekend?) will spend class time USING this language, so students prepare it tonight — short, simple, easy to access (school guidance: “Simple, Short, Interesting, Relevant, Easy to access”). The five words come from the website D1-L08 vocabulary (weekend time and weekend activities).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Asking About Daily Routine — What Do You Do?</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السُّؤَالُ عَنِ الرُّوتِينِ اليَوْمِيِّ — مَاذَا تَفْعَلُ؟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routine questions to a boy (</a:t>
            </a:r>
            <a:pPr algn="l" indent="0" marL="0">
              <a:buNone/>
            </a:pPr>
            <a:r>
              <a:rPr lang="ar-SA" altLang="en-US" sz="1800" dirty="0">
                <a:solidFill>
                  <a:srgbClr val="C6D2E6"/>
                </a:solidFill>
                <a:latin typeface="Amiri" pitchFamily="2" charset="-78"/>
                <a:cs typeface="Amiri" pitchFamily="2" charset="-78"/>
              </a:rPr>
              <a:t>تَفْعَلُ</a:t>
            </a:r>
            <a:pPr algn="l" indent="0" marL="0">
              <a:buNone/>
            </a:pPr>
            <a:r>
              <a:rPr lang="en-US" sz="1400" dirty="0">
                <a:solidFill>
                  <a:srgbClr val="C6D2E6"/>
                </a:solidFill>
                <a:latin typeface="Calibri" pitchFamily="34" charset="0"/>
                <a:cs typeface="Amiri" pitchFamily="2" charset="-78"/>
              </a:rPr>
              <a:t>), a girl (</a:t>
            </a:r>
            <a:pPr algn="l" indent="0" marL="0">
              <a:buNone/>
            </a:pPr>
            <a:r>
              <a:rPr lang="ar-SA" altLang="en-US" sz="1800" dirty="0">
                <a:solidFill>
                  <a:srgbClr val="C6D2E6"/>
                </a:solidFill>
                <a:latin typeface="Amiri" pitchFamily="2" charset="-78"/>
                <a:cs typeface="Amiri" pitchFamily="2" charset="-78"/>
              </a:rPr>
              <a:t>تَفْعَلِينَ</a:t>
            </a:r>
            <a:pPr algn="l" indent="0" marL="0">
              <a:buNone/>
            </a:pPr>
            <a:r>
              <a:rPr lang="en-US" sz="1400" dirty="0">
                <a:solidFill>
                  <a:srgbClr val="C6D2E6"/>
                </a:solidFill>
                <a:latin typeface="Calibri" pitchFamily="34" charset="0"/>
                <a:cs typeface="Amiri" pitchFamily="2" charset="-78"/>
              </a:rPr>
              <a:t>) or a group (</a:t>
            </a:r>
            <a:pPr algn="l" indent="0" marL="0">
              <a:buNone/>
            </a:pPr>
            <a:r>
              <a:rPr lang="ar-SA" altLang="en-US" sz="1800" dirty="0">
                <a:solidFill>
                  <a:srgbClr val="C6D2E6"/>
                </a:solidFill>
                <a:latin typeface="Amiri" pitchFamily="2" charset="-78"/>
                <a:cs typeface="Amiri" pitchFamily="2" charset="-78"/>
              </a:rPr>
              <a:t>تَفْعَلُونَ</a:t>
            </a:r>
            <a:pPr algn="l" indent="0" marL="0">
              <a:buNone/>
            </a:pPr>
            <a:r>
              <a:rPr lang="en-US" sz="1400" dirty="0">
                <a:solidFill>
                  <a:srgbClr val="C6D2E6"/>
                </a:solidFill>
                <a:latin typeface="Calibri" pitchFamily="34" charset="0"/>
                <a:cs typeface="Amiri" pitchFamily="2" charset="-78"/>
              </a:rPr>
              <a:t>), match each question word to the right answer, and keep an interview going with follow-up questions.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D1-L07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words → the right answer; boy, girl or group.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Statement → question, sort questions,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whom?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كَمْ مَرَّةً؟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often?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prepares her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تُحَضِّرُ حَقِيبَتَهُ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تُحَضِّرُ حَقِيبَتَهَا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يَسْتَيْقِظُ عَلِيٌّ مُبَكِّرًا، بَيْنَمَا يَسْتَيْقِظُ أُخْتُهُ مُتَأَخِّرَةً.</a:t>
            </a:r>
            <a:endParaRPr lang="ar-SA" sz="13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تَسْتَيْقِظُ عَلِيٌّ مُبَكِّرًا، بَيْنَمَا تَسْتَيْقِظُ أُخْتُهُ مُتَأَخِّرَةً.</a:t>
            </a:r>
            <a:endParaRPr lang="ar-SA" sz="13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يَسْتَيْقِظُ عَلِيٌّ مُبَكِّرًا، بَيْنَمَا تَسْتَيْقِظُ أُخْتُهُ مُتَأَخِّرَةً.</a:t>
            </a:r>
            <a:endParaRPr lang="ar-SA" sz="13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“for how long?”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لِمُدَّةِ سَاعَةٍ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السَّاعَةِ الخَامِسَةِ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 مَنْ؟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whom?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كَمْ مَرَّةً؟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often?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prepares her bag”.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يُحَضِّرُ حَقِيبَتَهُ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تُحَضِّرُ حَقِيبَتَهُ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تُحَضِّرُ حَقِيبَتَهَا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D1-L06: she → tu-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يَسْتَيْقِظُ عَلِيٌّ مُبَكِّرًا، بَيْنَمَا يَسْتَيْقِظُ أُخْتُهُ مُتَأَخِّرَةً.</a:t>
            </a:r>
            <a:endParaRPr lang="ar-SA" sz="13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تَسْتَيْقِظُ عَلِيٌّ مُبَكِّرًا، بَيْنَمَا تَسْتَيْقِظُ أُخْتُهُ مُتَأَخِّرَةً.</a:t>
            </a:r>
            <a:endParaRPr lang="ar-SA" sz="13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يَسْتَيْقِظُ عَلِيٌّ مُبَكِّرًا، بَيْنَمَا تَسْتَيْقِظُ أُخْتُهُ مُتَأَخِّرَةً.</a:t>
            </a:r>
            <a:endParaRPr lang="ar-SA" sz="13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D1-L06: each verb matches its own subject.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“for how long?”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لِمُدَّةِ سَاعَةٍ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السَّاعَةِ الخَامِسَةِ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D1-L05 duration.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question word decides the answer. The ending decides who you are asking.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2850" b="1" dirty="0">
                <a:solidFill>
                  <a:srgbClr val="1B3B6F"/>
                </a:solidFill>
                <a:latin typeface="Amiri" pitchFamily="2" charset="-78"/>
                <a:cs typeface="Amiri" pitchFamily="2" charset="-78"/>
              </a:rPr>
              <a:t>مَتَى تَسْتَيْقِظُ؟</a:t>
            </a:r>
            <a:pPr algn="ctr" indent="0" marL="0">
              <a:buNone/>
            </a:pPr>
            <a:r>
              <a:rPr lang="en-US" sz="2200" b="1" dirty="0">
                <a:solidFill>
                  <a:srgbClr val="1B3B6F"/>
                </a:solidFill>
                <a:latin typeface="Calibri" pitchFamily="34" charset="0"/>
                <a:cs typeface="Amiri" pitchFamily="2" charset="-78"/>
              </a:rPr>
              <a:t> (boy)  ·  </a:t>
            </a:r>
            <a:pPr algn="ctr" indent="0" marL="0">
              <a:buNone/>
            </a:pPr>
            <a:r>
              <a:rPr lang="ar-SA" altLang="en-US" sz="2850" b="1" dirty="0">
                <a:solidFill>
                  <a:srgbClr val="1B3B6F"/>
                </a:solidFill>
                <a:latin typeface="Amiri" pitchFamily="2" charset="-78"/>
                <a:cs typeface="Amiri" pitchFamily="2" charset="-78"/>
              </a:rPr>
              <a:t>مَتَى تَسْتَيْقِظِينَ؟</a:t>
            </a:r>
            <a:pPr algn="ctr" indent="0" marL="0">
              <a:buNone/>
            </a:pPr>
            <a:r>
              <a:rPr lang="en-US" sz="2200" b="1" dirty="0">
                <a:solidFill>
                  <a:srgbClr val="1B3B6F"/>
                </a:solidFill>
                <a:latin typeface="Calibri" pitchFamily="34" charset="0"/>
                <a:cs typeface="Amiri" pitchFamily="2" charset="-78"/>
              </a:rPr>
              <a:t> (girl)</a:t>
            </a:r>
            <a:endParaRPr lang="en-US"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routine questions with </a:t>
            </a:r>
            <a:pPr algn="l" indent="0" marL="0">
              <a:buNone/>
            </a:pPr>
            <a:r>
              <a:rPr lang="ar-SA" altLang="en-US" sz="1700" dirty="0">
                <a:solidFill>
                  <a:srgbClr val="1F2A37"/>
                </a:solidFill>
                <a:latin typeface="Amiri" pitchFamily="2" charset="-78"/>
                <a:cs typeface="Amiri" pitchFamily="2" charset="-78"/>
              </a:rPr>
              <a:t>مَاذَا، مَتَى، كَمْ مَرَّةً، كَيْفَ</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لِمَاذَا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masculine and feminine second-person present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follow-up questions to sustain an interview.</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Convert interview notes into a coherent written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five routine questions.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with a time or a frequency.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a:t>
            </a:r>
            <a:pPr algn="l" indent="0" marL="0">
              <a:buNone/>
            </a:pPr>
            <a:r>
              <a:rPr lang="ar-SA" altLang="en-US" sz="1700" b="1" dirty="0">
                <a:solidFill>
                  <a:srgbClr val="C9780A"/>
                </a:solidFill>
                <a:latin typeface="Amiri" pitchFamily="2" charset="-78"/>
                <a:cs typeface="Amiri" pitchFamily="2" charset="-78"/>
              </a:rPr>
              <a:t>تَفْعَلُ</a:t>
            </a:r>
            <a:pPr algn="l" indent="0" marL="0">
              <a:buNone/>
            </a:pPr>
            <a:r>
              <a:rPr lang="en-US" sz="1300" b="1" dirty="0">
                <a:solidFill>
                  <a:srgbClr val="C9780A"/>
                </a:solidFill>
                <a:latin typeface="Calibri" pitchFamily="34" charset="0"/>
                <a:cs typeface="Amiri" pitchFamily="2" charset="-78"/>
              </a:rPr>
              <a:t>) or a girl (</a:t>
            </a:r>
            <a:pPr algn="l" indent="0" marL="0">
              <a:buNone/>
            </a:pPr>
            <a:r>
              <a:rPr lang="ar-SA" altLang="en-US" sz="1700" b="1" dirty="0">
                <a:solidFill>
                  <a:srgbClr val="C9780A"/>
                </a:solidFill>
                <a:latin typeface="Amiri" pitchFamily="2" charset="-78"/>
                <a:cs typeface="Amiri" pitchFamily="2" charset="-78"/>
              </a:rPr>
              <a:t>تَفْعَلِينَ</a:t>
            </a:r>
            <a:pPr algn="l" indent="0" marL="0">
              <a:buNone/>
            </a:pPr>
            <a:r>
              <a:rPr lang="en-US" sz="1300" b="1" dirty="0">
                <a:solidFill>
                  <a:srgbClr val="C9780A"/>
                </a:solidFill>
                <a:latin typeface="Calibri" pitchFamily="34" charset="0"/>
                <a:cs typeface="Amiri" pitchFamily="2" charset="-78"/>
              </a:rPr>
              <a:t>)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one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sustain a five-question interview.</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the interview as a 100–120-word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question words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Questions to a boy/man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Questions to a girl/woman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Interview management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لِمَاذَا؟</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‎کیوں؟‎ </a:t>
            </a:r>
            <a:pPr indent="0" marL="0">
              <a:buNone/>
            </a:pPr>
            <a:r>
              <a:rPr lang="en-US" sz="950" b="1" dirty="0">
                <a:solidFill>
                  <a:srgbClr val="2E8B57"/>
                </a:solidFill>
                <a:latin typeface="Calibri" pitchFamily="34" charset="0"/>
                <a:cs typeface="Amiri" pitchFamily="2" charset="-78"/>
              </a:rPr>
              <a:t> kyūn · why? (meaning only)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‎مرتبہ‎ </a:t>
            </a:r>
            <a:pPr indent="0" marL="0">
              <a:buNone/>
            </a:pPr>
            <a:r>
              <a:rPr lang="en-US" sz="950" b="1" dirty="0">
                <a:solidFill>
                  <a:srgbClr val="2E8B57"/>
                </a:solidFill>
                <a:latin typeface="Calibri" pitchFamily="34" charset="0"/>
                <a:cs typeface="Amiri" pitchFamily="2" charset="-78"/>
              </a:rPr>
              <a:t> martaba · time, occasion</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سُؤَالٌ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question</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جَوَابٌ / إِجَابَةٌ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‎جواب‎ </a:t>
            </a:r>
            <a:pPr indent="0" marL="0">
              <a:buNone/>
            </a:pPr>
            <a:r>
              <a:rPr lang="en-US" sz="950" b="1" dirty="0">
                <a:solidFill>
                  <a:srgbClr val="2E8B57"/>
                </a:solidFill>
                <a:latin typeface="Calibri" pitchFamily="34" charset="0"/>
                <a:cs typeface="Amiri" pitchFamily="2" charset="-78"/>
              </a:rPr>
              <a:t> jawāb · answer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السَّبَبُ</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reason</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Core question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مَاذَا؟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a:t>
            </a:r>
            <a:endParaRPr lang="en-US" sz="1350" dirty="0"/>
          </a:p>
          <a:p>
            <a:pPr indent="0" marL="0">
              <a:buNone/>
            </a:pPr>
            <a:r>
              <a:rPr lang="en-US" sz="1100" i="1" dirty="0">
                <a:solidFill>
                  <a:srgbClr val="5A6472"/>
                </a:solidFill>
                <a:latin typeface="Calibri" pitchFamily="34" charset="0"/>
                <a:cs typeface="Amiri" pitchFamily="2" charset="-78"/>
              </a:rPr>
              <a:t>mā-dhā?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ma-tā?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السَّاعَةُ؟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time?</a:t>
            </a:r>
            <a:endParaRPr lang="en-US" sz="1350" dirty="0"/>
          </a:p>
          <a:p>
            <a:pPr indent="0" marL="0">
              <a:buNone/>
            </a:pPr>
            <a:r>
              <a:rPr lang="en-US" sz="1100" i="1" dirty="0">
                <a:solidFill>
                  <a:srgbClr val="5A6472"/>
                </a:solidFill>
                <a:latin typeface="Calibri" pitchFamily="34" charset="0"/>
                <a:cs typeface="Amiri" pitchFamily="2" charset="-78"/>
              </a:rPr>
              <a:t>ka-mi as-sā-ʿa-tu?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مَرَّةً؟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many times / how often?</a:t>
            </a:r>
            <a:endParaRPr lang="en-US" sz="1350" dirty="0"/>
          </a:p>
          <a:p>
            <a:pPr indent="0" marL="0">
              <a:buNone/>
            </a:pPr>
            <a:r>
              <a:rPr lang="en-US" sz="1100" i="1" dirty="0">
                <a:solidFill>
                  <a:srgbClr val="5A6472"/>
                </a:solidFill>
                <a:latin typeface="Calibri" pitchFamily="34" charset="0"/>
                <a:cs typeface="Amiri" pitchFamily="2" charset="-78"/>
              </a:rPr>
              <a:t>kam mar-ra-tan?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كَيْفَ؟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a:t>
            </a:r>
            <a:endParaRPr lang="en-US" sz="1350" dirty="0"/>
          </a:p>
          <a:p>
            <a:pPr indent="0" marL="0">
              <a:buNone/>
            </a:pPr>
            <a:r>
              <a:rPr lang="en-US" sz="1100" i="1" dirty="0">
                <a:solidFill>
                  <a:srgbClr val="5A6472"/>
                </a:solidFill>
                <a:latin typeface="Calibri" pitchFamily="34" charset="0"/>
                <a:cs typeface="Amiri" pitchFamily="2" charset="-78"/>
              </a:rPr>
              <a:t>kay-fa?</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Core question words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لِمَاذَا؟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a:t>
            </a:r>
            <a:endParaRPr lang="en-US" sz="1350" dirty="0"/>
          </a:p>
          <a:p>
            <a:pPr indent="0" marL="0">
              <a:buNone/>
            </a:pPr>
            <a:r>
              <a:rPr lang="en-US" sz="1100" i="1" dirty="0">
                <a:solidFill>
                  <a:srgbClr val="5A6472"/>
                </a:solidFill>
                <a:latin typeface="Calibri" pitchFamily="34" charset="0"/>
                <a:cs typeface="Amiri" pitchFamily="2" charset="-78"/>
              </a:rPr>
              <a:t>li-mā-dhā?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whom?</a:t>
            </a:r>
            <a:endParaRPr lang="en-US" sz="1350" dirty="0"/>
          </a:p>
          <a:p>
            <a:pPr indent="0" marL="0">
              <a:buNone/>
            </a:pPr>
            <a:r>
              <a:rPr lang="en-US" sz="1100" i="1" dirty="0">
                <a:solidFill>
                  <a:srgbClr val="5A6472"/>
                </a:solidFill>
                <a:latin typeface="Calibri" pitchFamily="34" charset="0"/>
                <a:cs typeface="Amiri" pitchFamily="2" charset="-78"/>
              </a:rPr>
              <a:t>ma-ʿa man?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مِنَ الوَقْتِ؟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time?</a:t>
            </a:r>
            <a:endParaRPr lang="en-US" sz="1350" dirty="0"/>
          </a:p>
          <a:p>
            <a:pPr indent="0" marL="0">
              <a:buNone/>
            </a:pPr>
            <a:r>
              <a:rPr lang="en-US" sz="1100" i="1" dirty="0">
                <a:solidFill>
                  <a:srgbClr val="5A6472"/>
                </a:solidFill>
                <a:latin typeface="Calibri" pitchFamily="34" charset="0"/>
                <a:cs typeface="Amiri" pitchFamily="2" charset="-78"/>
              </a:rPr>
              <a:t>kam mi-na al-waq-ti?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أَيُّ يَوْمٍ؟</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day?</a:t>
            </a:r>
            <a:endParaRPr lang="en-US" sz="1350" dirty="0"/>
          </a:p>
          <a:p>
            <a:pPr indent="0" marL="0">
              <a:buNone/>
            </a:pPr>
            <a:r>
              <a:rPr lang="en-US" sz="1100" i="1" dirty="0">
                <a:solidFill>
                  <a:srgbClr val="5A6472"/>
                </a:solidFill>
                <a:latin typeface="Calibri" pitchFamily="34" charset="0"/>
                <a:cs typeface="Amiri" pitchFamily="2" charset="-78"/>
              </a:rPr>
              <a:t>ay-yu yaw-min?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to a boy/man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39354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مَاذَا تَفْعَلُ؟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do you do?</a:t>
            </a:r>
            <a:endParaRPr lang="en-US" sz="1350" dirty="0"/>
          </a:p>
          <a:p>
            <a:pPr indent="0" marL="0">
              <a:buNone/>
            </a:pPr>
            <a:r>
              <a:rPr lang="en-US" sz="1100" i="1" dirty="0">
                <a:solidFill>
                  <a:srgbClr val="5A6472"/>
                </a:solidFill>
                <a:latin typeface="Calibri" pitchFamily="34" charset="0"/>
                <a:cs typeface="Amiri" pitchFamily="2" charset="-78"/>
              </a:rPr>
              <a:t>mā-dhā taf-ʿa-lu?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تَفْعَلُونَ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تَفْعَلِينَ؟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تَفْعَلُ؟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6" name="Shape 33"/>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مَتَى تَسْتَيْقِظُ؟</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do you wake up?</a:t>
            </a:r>
            <a:endParaRPr lang="en-US" sz="1350" dirty="0"/>
          </a:p>
          <a:p>
            <a:pPr indent="0" marL="0">
              <a:buNone/>
            </a:pPr>
            <a:r>
              <a:rPr lang="en-US" sz="1100" i="1" dirty="0">
                <a:solidFill>
                  <a:srgbClr val="5A6472"/>
                </a:solidFill>
                <a:latin typeface="Calibri" pitchFamily="34" charset="0"/>
                <a:cs typeface="Amiri" pitchFamily="2" charset="-78"/>
              </a:rPr>
              <a:t>ma-tā tas-tay-qi-ẓu?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تَسْتَيْقِظُونَ</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تَسْتَيْقِظِينَ؟</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تَسْتَيْقِظُ؟</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4" name="Shape 51"/>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كَيْفَ تَذْهَبُ؟</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do you go?</a:t>
            </a:r>
            <a:endParaRPr lang="en-US" sz="1350" dirty="0"/>
          </a:p>
          <a:p>
            <a:pPr indent="0" marL="0">
              <a:buNone/>
            </a:pPr>
            <a:r>
              <a:rPr lang="en-US" sz="1100" i="1" dirty="0">
                <a:solidFill>
                  <a:srgbClr val="5A6472"/>
                </a:solidFill>
                <a:latin typeface="Calibri" pitchFamily="34" charset="0"/>
                <a:cs typeface="Amiri" pitchFamily="2" charset="-78"/>
              </a:rPr>
              <a:t>kay-fa tadh-ha-bu?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تَذْهَبُونَ</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65" name="Text 62"/>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تَذْهَبِينَ؟</a:t>
            </a:r>
            <a:endParaRPr lang="ar-SA" sz="135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تَذْهَبُ؟</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72" name="Shape 69"/>
          <p:cNvSpPr/>
          <p:nvPr/>
        </p:nvSpPr>
        <p:spPr>
          <a:xfrm>
            <a:off x="8604504" y="4279392"/>
            <a:ext cx="1393546"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مَرَّةً تَتَمَرَّنُ؟</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often do you train?</a:t>
            </a:r>
            <a:endParaRPr lang="en-US" sz="1350" dirty="0"/>
          </a:p>
          <a:p>
            <a:pPr indent="0" marL="0">
              <a:buNone/>
            </a:pPr>
            <a:r>
              <a:rPr lang="en-US" sz="1100" i="1" dirty="0">
                <a:solidFill>
                  <a:srgbClr val="5A6472"/>
                </a:solidFill>
                <a:latin typeface="Calibri" pitchFamily="34" charset="0"/>
                <a:cs typeface="Amiri" pitchFamily="2" charset="-78"/>
              </a:rPr>
              <a:t>kam mar-ra-tan ta-ta-mar-ra-nu?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78" name="Text 75"/>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تَتَمَرَّنُونَ</a:t>
            </a:r>
            <a:endParaRPr lang="ar-SA" sz="135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81" name="Text 7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تَتَمَرَّنِينَ؟</a:t>
            </a:r>
            <a:endParaRPr lang="ar-SA" sz="135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تَتَمَرَّنُ؟</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88" name="Shape 85"/>
          <p:cNvSpPr/>
          <p:nvPr/>
        </p:nvSpPr>
        <p:spPr>
          <a:xfrm>
            <a:off x="4782312" y="4279392"/>
            <a:ext cx="1393546"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لِمَاذَا تُفَضِّلُ ذٰلِكَ؟</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 do you prefer that?</a:t>
            </a:r>
            <a:endParaRPr lang="en-US" sz="1350" dirty="0"/>
          </a:p>
          <a:p>
            <a:pPr indent="0" marL="0">
              <a:buNone/>
            </a:pPr>
            <a:r>
              <a:rPr lang="en-US" sz="1100" i="1" dirty="0">
                <a:solidFill>
                  <a:srgbClr val="5A6472"/>
                </a:solidFill>
                <a:latin typeface="Calibri" pitchFamily="34" charset="0"/>
                <a:cs typeface="Amiri" pitchFamily="2" charset="-78"/>
              </a:rPr>
              <a:t>li-mā-dhā tu-faḍ-ḍi-lu dhā-li-ka?</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تُفَضِّلُونَ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97" name="Text 94"/>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تُفَضِّلِينَ</a:t>
            </a:r>
            <a:endParaRPr lang="ar-SA" sz="135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تُفَضِّلُ</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04" name="Shape 101"/>
          <p:cNvSpPr/>
          <p:nvPr/>
        </p:nvSpPr>
        <p:spPr>
          <a:xfrm>
            <a:off x="960120" y="4279392"/>
            <a:ext cx="1393546"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boy · girl · group</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تُسَاعِدُ أُسْرَتَكَ؟</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help your family?</a:t>
            </a:r>
            <a:endParaRPr lang="en-US" sz="1350" dirty="0"/>
          </a:p>
          <a:p>
            <a:pPr indent="0" marL="0">
              <a:buNone/>
            </a:pPr>
            <a:r>
              <a:rPr lang="en-US" sz="1100" i="1" dirty="0">
                <a:solidFill>
                  <a:srgbClr val="5A6472"/>
                </a:solidFill>
                <a:latin typeface="Calibri" pitchFamily="34" charset="0"/>
                <a:cs typeface="Amiri" pitchFamily="2" charset="-78"/>
              </a:rPr>
              <a:t>hal tu-sā-ʿi-du us-ra-ta-ka?</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group</a:t>
            </a:r>
            <a:endParaRPr lang="en-US" sz="700" dirty="0"/>
          </a:p>
        </p:txBody>
      </p:sp>
      <p:sp>
        <p:nvSpPr>
          <p:cNvPr id="110" name="Text 107"/>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تُسَاعِدُونَ</a:t>
            </a:r>
            <a:endParaRPr lang="ar-SA" sz="135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113" name="Text 110"/>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تُسَاعِدِينَ</a:t>
            </a:r>
            <a:endParaRPr lang="ar-SA" sz="135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تُسَاعِدُ</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to a girl/woman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مَاذَا تَفْعَلِينَ؟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do you do?</a:t>
            </a:r>
            <a:endParaRPr lang="en-US" sz="1350" dirty="0"/>
          </a:p>
          <a:p>
            <a:pPr indent="0" marL="0">
              <a:buNone/>
            </a:pPr>
            <a:r>
              <a:rPr lang="en-US" sz="1100" i="1" dirty="0">
                <a:solidFill>
                  <a:srgbClr val="5A6472"/>
                </a:solidFill>
                <a:latin typeface="Calibri" pitchFamily="34" charset="0"/>
                <a:cs typeface="Amiri" pitchFamily="2" charset="-78"/>
              </a:rPr>
              <a:t>mā-dhā taf-ʿa-lī-na?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مَتَى تَسْتَيْقِظِينَ؟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 do you wake up?</a:t>
            </a:r>
            <a:endParaRPr lang="en-US" sz="1350" dirty="0"/>
          </a:p>
          <a:p>
            <a:pPr indent="0" marL="0">
              <a:buNone/>
            </a:pPr>
            <a:r>
              <a:rPr lang="en-US" sz="1100" i="1" dirty="0">
                <a:solidFill>
                  <a:srgbClr val="5A6472"/>
                </a:solidFill>
                <a:latin typeface="Calibri" pitchFamily="34" charset="0"/>
                <a:cs typeface="Amiri" pitchFamily="2" charset="-78"/>
              </a:rPr>
              <a:t>ma-tā tas-tay-qi-ẓī-na?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كَيْفَ تَذْهَبِينَ؟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do you go?</a:t>
            </a:r>
            <a:endParaRPr lang="en-US" sz="1350" dirty="0"/>
          </a:p>
          <a:p>
            <a:pPr indent="0" marL="0">
              <a:buNone/>
            </a:pPr>
            <a:r>
              <a:rPr lang="en-US" sz="1100" i="1" dirty="0">
                <a:solidFill>
                  <a:srgbClr val="5A6472"/>
                </a:solidFill>
                <a:latin typeface="Calibri" pitchFamily="34" charset="0"/>
                <a:cs typeface="Amiri" pitchFamily="2" charset="-78"/>
              </a:rPr>
              <a:t>kay-fa tadh-ha-bī-na?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مَرَّةً تَتَمَرَّنِينَ؟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often do you train?</a:t>
            </a:r>
            <a:endParaRPr lang="en-US" sz="1350" dirty="0"/>
          </a:p>
          <a:p>
            <a:pPr indent="0" marL="0">
              <a:buNone/>
            </a:pPr>
            <a:r>
              <a:rPr lang="en-US" sz="1100" i="1" dirty="0">
                <a:solidFill>
                  <a:srgbClr val="5A6472"/>
                </a:solidFill>
                <a:latin typeface="Calibri" pitchFamily="34" charset="0"/>
                <a:cs typeface="Amiri" pitchFamily="2" charset="-78"/>
              </a:rPr>
              <a:t>kam mar-ra-tan ta-ta-mar-ra-nī-na?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لِمَاذَا تُفَضِّلِينَ 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why do you prefer that?</a:t>
            </a:r>
            <a:endParaRPr lang="en-US" sz="1350" dirty="0"/>
          </a:p>
          <a:p>
            <a:pPr indent="0" marL="0">
              <a:buNone/>
            </a:pPr>
            <a:r>
              <a:rPr lang="en-US" sz="1100" i="1" dirty="0">
                <a:solidFill>
                  <a:srgbClr val="5A6472"/>
                </a:solidFill>
                <a:latin typeface="Calibri" pitchFamily="34" charset="0"/>
                <a:cs typeface="Amiri" pitchFamily="2" charset="-78"/>
              </a:rPr>
              <a:t>li-mā-dhā tu-faḍ-ḍi-lī-na 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تُسَاعِدِينَ أُسْرَتَكِ؟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help your family?</a:t>
            </a:r>
            <a:endParaRPr lang="en-US" sz="1350" dirty="0"/>
          </a:p>
          <a:p>
            <a:pPr indent="0" marL="0">
              <a:buNone/>
            </a:pPr>
            <a:r>
              <a:rPr lang="en-US" sz="1100" i="1" dirty="0">
                <a:solidFill>
                  <a:srgbClr val="5A6472"/>
                </a:solidFill>
                <a:latin typeface="Calibri" pitchFamily="34" charset="0"/>
                <a:cs typeface="Amiri" pitchFamily="2" charset="-78"/>
              </a:rPr>
              <a:t>hal tu-sā-ʿi-dī-na us-ra-ta-ki?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management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أَخْبِرْنِي أَكْثَرَ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tell me more — m.</a:t>
            </a:r>
            <a:endParaRPr lang="en-US" sz="1350" dirty="0"/>
          </a:p>
          <a:p>
            <a:pPr indent="0" marL="0">
              <a:buNone/>
            </a:pPr>
            <a:r>
              <a:rPr lang="en-US" sz="1100" i="1" dirty="0">
                <a:solidFill>
                  <a:srgbClr val="5A6472"/>
                </a:solidFill>
                <a:latin typeface="Calibri" pitchFamily="34" charset="0"/>
                <a:cs typeface="Amiri" pitchFamily="2" charset="-78"/>
              </a:rPr>
              <a:t>akh-bir-nī ak-tha-ra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أَخْبِرِينِي أَكْثَرَ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tell me more — f.</a:t>
            </a:r>
            <a:endParaRPr lang="en-US" sz="1350" dirty="0"/>
          </a:p>
          <a:p>
            <a:pPr indent="0" marL="0">
              <a:buNone/>
            </a:pPr>
            <a:r>
              <a:rPr lang="en-US" sz="1100" i="1" dirty="0">
                <a:solidFill>
                  <a:srgbClr val="5A6472"/>
                </a:solidFill>
                <a:latin typeface="Calibri" pitchFamily="34" charset="0"/>
                <a:cs typeface="Amiri" pitchFamily="2" charset="-78"/>
              </a:rPr>
              <a:t>akh-bi-rī-nī ak-tha-ra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مَاذَا تَقْصِدُ؟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do you mean? — m.</a:t>
            </a:r>
            <a:endParaRPr lang="en-US" sz="1350" dirty="0"/>
          </a:p>
          <a:p>
            <a:pPr indent="0" marL="0">
              <a:buNone/>
            </a:pPr>
            <a:r>
              <a:rPr lang="en-US" sz="1100" i="1" dirty="0">
                <a:solidFill>
                  <a:srgbClr val="5A6472"/>
                </a:solidFill>
                <a:latin typeface="Calibri" pitchFamily="34" charset="0"/>
                <a:cs typeface="Amiri" pitchFamily="2" charset="-78"/>
              </a:rPr>
              <a:t>mā-dhā taq-ṣi-du?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مَاذَا تَقْصِدِينَ؟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do you mean? — f.</a:t>
            </a:r>
            <a:endParaRPr lang="en-US" sz="1350" dirty="0"/>
          </a:p>
          <a:p>
            <a:pPr indent="0" marL="0">
              <a:buNone/>
            </a:pPr>
            <a:r>
              <a:rPr lang="en-US" sz="1100" i="1" dirty="0">
                <a:solidFill>
                  <a:srgbClr val="5A6472"/>
                </a:solidFill>
                <a:latin typeface="Calibri" pitchFamily="34" charset="0"/>
                <a:cs typeface="Amiri" pitchFamily="2" charset="-78"/>
              </a:rPr>
              <a:t>mā-dhā taq-ṣi-dī-na?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يُمْكِنُكَ أَنْ تُوَضِّحَ؟</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can you clarify? — m.</a:t>
            </a:r>
            <a:endParaRPr lang="en-US" sz="1350" dirty="0"/>
          </a:p>
          <a:p>
            <a:pPr indent="0" marL="0">
              <a:buNone/>
            </a:pPr>
            <a:r>
              <a:rPr lang="en-US" sz="1100" i="1" dirty="0">
                <a:solidFill>
                  <a:srgbClr val="5A6472"/>
                </a:solidFill>
                <a:latin typeface="Calibri" pitchFamily="34" charset="0"/>
                <a:cs typeface="Amiri" pitchFamily="2" charset="-78"/>
              </a:rPr>
              <a:t>hal yum-ki-nu-ka an tu-waḍ-ḍi-ḥa?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يُمْكِنُكِ أَنْ تُوَضِّحِي؟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can you clarify? — f.</a:t>
            </a:r>
            <a:endParaRPr lang="en-US" sz="1350" dirty="0"/>
          </a:p>
          <a:p>
            <a:pPr indent="0" marL="0">
              <a:buNone/>
            </a:pPr>
            <a:r>
              <a:rPr lang="en-US" sz="1100" i="1" dirty="0">
                <a:solidFill>
                  <a:srgbClr val="5A6472"/>
                </a:solidFill>
                <a:latin typeface="Calibri" pitchFamily="34" charset="0"/>
                <a:cs typeface="Amiri" pitchFamily="2" charset="-78"/>
              </a:rPr>
              <a:t>hal yum-ki-nu-ki an tu-waḍ-ḍi-ḥī?</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WHO ARE YOU ASKING?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Asking a boy, a girl or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أَنْتَ · أَنْتِ · أَنْتُمْ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a:t>
            </a:r>
            <a:endParaRPr lang="en-US" sz="1100" dirty="0"/>
          </a:p>
        </p:txBody>
      </p:sp>
      <p:sp>
        <p:nvSpPr>
          <p:cNvPr id="17" name="Text 14"/>
          <p:cNvSpPr txBox="1"/>
          <p:nvPr/>
        </p:nvSpPr>
        <p:spPr>
          <a:xfrm>
            <a:off x="57698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a:t>
            </a:r>
            <a:endParaRPr lang="en-US" sz="1100" dirty="0"/>
          </a:p>
        </p:txBody>
      </p:sp>
      <p:sp>
        <p:nvSpPr>
          <p:cNvPr id="18" name="Text 15"/>
          <p:cNvSpPr txBox="1"/>
          <p:nvPr/>
        </p:nvSpPr>
        <p:spPr>
          <a:xfrm>
            <a:off x="27523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group</a:t>
            </a:r>
            <a:endParaRPr lang="en-US" sz="1100" dirty="0"/>
          </a:p>
        </p:txBody>
      </p:sp>
      <p:sp>
        <p:nvSpPr>
          <p:cNvPr id="19" name="Text 16"/>
          <p:cNvSpPr txBox="1"/>
          <p:nvPr/>
        </p:nvSpPr>
        <p:spPr>
          <a:xfrm>
            <a:off x="53035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9711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مَاذَا تَفْعَلُ؟</a:t>
            </a:r>
            <a:endParaRPr lang="ar-SA" sz="2100" dirty="0"/>
          </a:p>
        </p:txBody>
      </p:sp>
      <p:sp>
        <p:nvSpPr>
          <p:cNvPr id="22" name="Text 19"/>
          <p:cNvSpPr txBox="1"/>
          <p:nvPr/>
        </p:nvSpPr>
        <p:spPr>
          <a:xfrm>
            <a:off x="8851392" y="2706624"/>
            <a:ext cx="283464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2" charset="-78"/>
                <a:cs typeface="Amiri" pitchFamily="2" charset="-78"/>
              </a:rPr>
              <a:t>أَنْتَ</a:t>
            </a:r>
            <a:endParaRPr lang="en-US" sz="950" dirty="0"/>
          </a:p>
        </p:txBody>
      </p:sp>
      <p:sp>
        <p:nvSpPr>
          <p:cNvPr id="23" name="Text 20"/>
          <p:cNvSpPr txBox="1"/>
          <p:nvPr/>
        </p:nvSpPr>
        <p:spPr>
          <a:xfrm>
            <a:off x="578815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مَاذَا تَفْعَلِ</a:t>
            </a:r>
            <a:pPr rtl="1" algn="ctr" indent="0" marL="0">
              <a:buNone/>
            </a:pPr>
            <a:r>
              <a:rPr lang="ar-SA" altLang="en-US" sz="2100" b="1" dirty="0">
                <a:solidFill>
                  <a:srgbClr val="D6336C"/>
                </a:solidFill>
                <a:latin typeface="Amiri" pitchFamily="2" charset="-78"/>
                <a:cs typeface="Amiri" pitchFamily="2" charset="-78"/>
              </a:rPr>
              <a:t>ينَ</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4" name="Text 21"/>
          <p:cNvSpPr txBox="1"/>
          <p:nvPr/>
        </p:nvSpPr>
        <p:spPr>
          <a:xfrm>
            <a:off x="5742432" y="2706624"/>
            <a:ext cx="301752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2" charset="-78"/>
                <a:cs typeface="Amiri" pitchFamily="2" charset="-78"/>
              </a:rPr>
              <a:t>أَنْتِ</a:t>
            </a:r>
            <a:endParaRPr lang="en-US" sz="950" dirty="0"/>
          </a:p>
        </p:txBody>
      </p:sp>
      <p:sp>
        <p:nvSpPr>
          <p:cNvPr id="25" name="Text 22"/>
          <p:cNvSpPr txBox="1"/>
          <p:nvPr/>
        </p:nvSpPr>
        <p:spPr>
          <a:xfrm>
            <a:off x="277063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مَاذَا تَفْعَلُ</a:t>
            </a:r>
            <a:pPr rtl="1" algn="ctr" indent="0" marL="0">
              <a:buNone/>
            </a:pPr>
            <a:r>
              <a:rPr lang="ar-SA" altLang="en-US" sz="2100" b="1" dirty="0">
                <a:solidFill>
                  <a:srgbClr val="0E7C86"/>
                </a:solidFill>
                <a:latin typeface="Amiri" pitchFamily="2" charset="-78"/>
                <a:cs typeface="Amiri" pitchFamily="2" charset="-78"/>
              </a:rPr>
              <a:t>ونَ</a:t>
            </a:r>
            <a:pPr rtl="1" algn="ctr" indent="0" marL="0">
              <a:buNone/>
            </a:pPr>
            <a:r>
              <a:rPr lang="ar-SA" altLang="en-US" sz="2100" b="1" dirty="0">
                <a:solidFill>
                  <a:srgbClr val="1B3B6F"/>
                </a:solidFill>
                <a:latin typeface="Amiri" pitchFamily="2" charset="-78"/>
                <a:cs typeface="Amiri" pitchFamily="2" charset="-78"/>
              </a:rPr>
              <a:t>؟</a:t>
            </a:r>
            <a:endParaRPr lang="ar-SA" sz="2100" dirty="0"/>
          </a:p>
        </p:txBody>
      </p:sp>
      <p:sp>
        <p:nvSpPr>
          <p:cNvPr id="26" name="Text 23"/>
          <p:cNvSpPr txBox="1"/>
          <p:nvPr/>
        </p:nvSpPr>
        <p:spPr>
          <a:xfrm>
            <a:off x="2724912" y="2706624"/>
            <a:ext cx="292608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2" charset="-78"/>
                <a:cs typeface="Amiri" pitchFamily="2" charset="-78"/>
              </a:rPr>
              <a:t>أَنْتُمْ</a:t>
            </a:r>
            <a:endParaRPr lang="en-US" sz="950" dirty="0"/>
          </a:p>
        </p:txBody>
      </p:sp>
      <p:sp>
        <p:nvSpPr>
          <p:cNvPr id="27" name="Text 24"/>
          <p:cNvSpPr txBox="1"/>
          <p:nvPr/>
        </p:nvSpPr>
        <p:spPr>
          <a:xfrm>
            <a:off x="56692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8897112" y="3054096"/>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مَتَى تَسْتَيْقِظُ؟</a:t>
            </a:r>
            <a:endParaRPr lang="ar-SA" sz="2600" dirty="0"/>
          </a:p>
        </p:txBody>
      </p:sp>
      <p:sp>
        <p:nvSpPr>
          <p:cNvPr id="32" name="Text 29"/>
          <p:cNvSpPr txBox="1"/>
          <p:nvPr/>
        </p:nvSpPr>
        <p:spPr>
          <a:xfrm>
            <a:off x="5788152" y="3054096"/>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مَتَى تَسْتَيْقِظِ</a:t>
            </a:r>
            <a:pPr rtl="1" algn="ctr" indent="0" marL="0">
              <a:buNone/>
            </a:pPr>
            <a:r>
              <a:rPr lang="ar-SA" altLang="en-US" sz="2600" b="1" dirty="0">
                <a:solidFill>
                  <a:srgbClr val="D6336C"/>
                </a:solidFill>
                <a:latin typeface="Amiri" pitchFamily="2" charset="-78"/>
                <a:cs typeface="Amiri" pitchFamily="2" charset="-78"/>
              </a:rPr>
              <a:t>ينَ</a:t>
            </a:r>
            <a:pPr rtl="1" algn="ct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33" name="Text 30"/>
          <p:cNvSpPr txBox="1"/>
          <p:nvPr/>
        </p:nvSpPr>
        <p:spPr>
          <a:xfrm>
            <a:off x="2770632" y="3054096"/>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مَتَى تَسْتَيْقِظُ</a:t>
            </a:r>
            <a:pPr rtl="1" algn="ctr" indent="0" marL="0">
              <a:buNone/>
            </a:pPr>
            <a:r>
              <a:rPr lang="ar-SA" altLang="en-US" sz="2600" b="1" dirty="0">
                <a:solidFill>
                  <a:srgbClr val="0E7C86"/>
                </a:solidFill>
                <a:latin typeface="Amiri" pitchFamily="2" charset="-78"/>
                <a:cs typeface="Amiri" pitchFamily="2" charset="-78"/>
              </a:rPr>
              <a:t>ونَ</a:t>
            </a:r>
            <a:pPr rtl="1" algn="ct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34" name="Text 31"/>
          <p:cNvSpPr txBox="1"/>
          <p:nvPr/>
        </p:nvSpPr>
        <p:spPr>
          <a:xfrm>
            <a:off x="56692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wake up?</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8897112" y="3840480"/>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كَيْفَ تَذْهَبُ؟</a:t>
            </a:r>
            <a:endParaRPr lang="ar-SA" sz="2600" dirty="0"/>
          </a:p>
        </p:txBody>
      </p:sp>
      <p:sp>
        <p:nvSpPr>
          <p:cNvPr id="39" name="Text 36"/>
          <p:cNvSpPr txBox="1"/>
          <p:nvPr/>
        </p:nvSpPr>
        <p:spPr>
          <a:xfrm>
            <a:off x="5788152" y="3840480"/>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كَيْفَ تَذْهَبِ</a:t>
            </a:r>
            <a:pPr rtl="1" algn="ctr" indent="0" marL="0">
              <a:buNone/>
            </a:pPr>
            <a:r>
              <a:rPr lang="ar-SA" altLang="en-US" sz="2600" b="1" dirty="0">
                <a:solidFill>
                  <a:srgbClr val="D6336C"/>
                </a:solidFill>
                <a:latin typeface="Amiri" pitchFamily="2" charset="-78"/>
                <a:cs typeface="Amiri" pitchFamily="2" charset="-78"/>
              </a:rPr>
              <a:t>ينَ</a:t>
            </a:r>
            <a:pPr rtl="1" algn="ct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40" name="Text 37"/>
          <p:cNvSpPr txBox="1"/>
          <p:nvPr/>
        </p:nvSpPr>
        <p:spPr>
          <a:xfrm>
            <a:off x="2770632" y="3840480"/>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كَيْفَ تَذْهَبُ</a:t>
            </a:r>
            <a:pPr rtl="1" algn="ctr" indent="0" marL="0">
              <a:buNone/>
            </a:pPr>
            <a:r>
              <a:rPr lang="ar-SA" altLang="en-US" sz="2600" b="1" dirty="0">
                <a:solidFill>
                  <a:srgbClr val="0E7C86"/>
                </a:solidFill>
                <a:latin typeface="Amiri" pitchFamily="2" charset="-78"/>
                <a:cs typeface="Amiri" pitchFamily="2" charset="-78"/>
              </a:rPr>
              <a:t>ونَ</a:t>
            </a:r>
            <a:pPr rtl="1" algn="ct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41" name="Text 38"/>
          <p:cNvSpPr txBox="1"/>
          <p:nvPr/>
        </p:nvSpPr>
        <p:spPr>
          <a:xfrm>
            <a:off x="56692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8897112" y="4626864"/>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هَلْ تُسَاعِدُ أُسْرَتَ</a:t>
            </a:r>
            <a:pPr rtl="1" algn="ctr" indent="0" marL="0">
              <a:buNone/>
            </a:pPr>
            <a:r>
              <a:rPr lang="ar-SA" altLang="en-US" sz="2600" b="1" dirty="0">
                <a:solidFill>
                  <a:srgbClr val="1D5FBF"/>
                </a:solidFill>
                <a:latin typeface="Amiri" pitchFamily="2" charset="-78"/>
                <a:cs typeface="Amiri" pitchFamily="2" charset="-78"/>
              </a:rPr>
              <a:t>كَ</a:t>
            </a:r>
            <a:pPr rtl="1" algn="ct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44" name="Text 41"/>
          <p:cNvSpPr txBox="1"/>
          <p:nvPr/>
        </p:nvSpPr>
        <p:spPr>
          <a:xfrm>
            <a:off x="5788152" y="4626864"/>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هَلْ تُسَاعِدِ</a:t>
            </a:r>
            <a:pPr rtl="1" algn="ctr" indent="0" marL="0">
              <a:buNone/>
            </a:pPr>
            <a:r>
              <a:rPr lang="ar-SA" altLang="en-US" sz="2600" b="1" dirty="0">
                <a:solidFill>
                  <a:srgbClr val="D6336C"/>
                </a:solidFill>
                <a:latin typeface="Amiri" pitchFamily="2" charset="-78"/>
                <a:cs typeface="Amiri" pitchFamily="2" charset="-78"/>
              </a:rPr>
              <a:t>ينَ</a:t>
            </a:r>
            <a:pPr rtl="1" algn="ctr" indent="0" marL="0">
              <a:buNone/>
            </a:pPr>
            <a:r>
              <a:rPr lang="ar-SA" altLang="en-US" sz="2600" b="1" dirty="0">
                <a:solidFill>
                  <a:srgbClr val="1B3B6F"/>
                </a:solidFill>
                <a:latin typeface="Amiri" pitchFamily="2" charset="-78"/>
                <a:cs typeface="Amiri" pitchFamily="2" charset="-78"/>
              </a:rPr>
              <a:t> أُسْرَتَ</a:t>
            </a:r>
            <a:pPr rtl="1" algn="ctr" indent="0" marL="0">
              <a:buNone/>
            </a:pPr>
            <a:r>
              <a:rPr lang="ar-SA" altLang="en-US" sz="2600" b="1" dirty="0">
                <a:solidFill>
                  <a:srgbClr val="D6336C"/>
                </a:solidFill>
                <a:latin typeface="Amiri" pitchFamily="2" charset="-78"/>
                <a:cs typeface="Amiri" pitchFamily="2" charset="-78"/>
              </a:rPr>
              <a:t>كِ</a:t>
            </a:r>
            <a:pPr rtl="1" algn="ct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45" name="Text 42"/>
          <p:cNvSpPr txBox="1"/>
          <p:nvPr/>
        </p:nvSpPr>
        <p:spPr>
          <a:xfrm>
            <a:off x="2770632" y="4626864"/>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هَلْ تُسَاعِدُ</a:t>
            </a:r>
            <a:pPr rtl="1" algn="ctr" indent="0" marL="0">
              <a:buNone/>
            </a:pPr>
            <a:r>
              <a:rPr lang="ar-SA" altLang="en-US" sz="2600" b="1" dirty="0">
                <a:solidFill>
                  <a:srgbClr val="0E7C86"/>
                </a:solidFill>
                <a:latin typeface="Amiri" pitchFamily="2" charset="-78"/>
                <a:cs typeface="Amiri" pitchFamily="2" charset="-78"/>
              </a:rPr>
              <a:t>ونَ</a:t>
            </a:r>
            <a:pPr rtl="1" algn="ctr" indent="0" marL="0">
              <a:buNone/>
            </a:pPr>
            <a:r>
              <a:rPr lang="ar-SA" altLang="en-US" sz="2600" b="1" dirty="0">
                <a:solidFill>
                  <a:srgbClr val="1B3B6F"/>
                </a:solidFill>
                <a:latin typeface="Amiri" pitchFamily="2" charset="-78"/>
                <a:cs typeface="Amiri" pitchFamily="2" charset="-78"/>
              </a:rPr>
              <a:t> أُسْرَتَ</a:t>
            </a:r>
            <a:pPr rtl="1" algn="ctr" indent="0" marL="0">
              <a:buNone/>
            </a:pPr>
            <a:r>
              <a:rPr lang="ar-SA" altLang="en-US" sz="2600" b="1" dirty="0">
                <a:solidFill>
                  <a:srgbClr val="0E7C86"/>
                </a:solidFill>
                <a:latin typeface="Amiri" pitchFamily="2" charset="-78"/>
                <a:cs typeface="Amiri" pitchFamily="2" charset="-78"/>
              </a:rPr>
              <a:t>كُمْ</a:t>
            </a:r>
            <a:pPr rtl="1" algn="ct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46" name="Text 43"/>
          <p:cNvSpPr txBox="1"/>
          <p:nvPr/>
        </p:nvSpPr>
        <p:spPr>
          <a:xfrm>
            <a:off x="56692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help your family?</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by the LISTENER, not by yourself: a boy asking a girl still says -īna.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2 · MATCH THE QUESTION WORD TO THE ANSWER (WEBSITE TABLE)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Every question word wants a different answer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السُّؤَالُ وَالجَوَابُ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word</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 shape</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answer</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Asks for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86000"/>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مَتَى؟</a:t>
            </a:r>
            <a:endParaRPr lang="ar-SA" sz="1950" dirty="0"/>
          </a:p>
        </p:txBody>
      </p:sp>
      <p:sp>
        <p:nvSpPr>
          <p:cNvPr id="22" name="Text 19"/>
          <p:cNvSpPr txBox="1"/>
          <p:nvPr/>
        </p:nvSpPr>
        <p:spPr>
          <a:xfrm>
            <a:off x="9034272" y="267699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when?</a:t>
            </a:r>
            <a:endParaRPr lang="en-US" sz="950" dirty="0"/>
          </a:p>
        </p:txBody>
      </p:sp>
      <p:sp>
        <p:nvSpPr>
          <p:cNvPr id="23" name="Text 20"/>
          <p:cNvSpPr txBox="1"/>
          <p:nvPr/>
        </p:nvSpPr>
        <p:spPr>
          <a:xfrm>
            <a:off x="5971032"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فِي السَّاعَةِ …</a:t>
            </a:r>
            <a:endParaRPr lang="ar-SA" sz="2400" dirty="0"/>
          </a:p>
        </p:txBody>
      </p:sp>
      <p:sp>
        <p:nvSpPr>
          <p:cNvPr id="24" name="Text 21"/>
          <p:cNvSpPr txBox="1"/>
          <p:nvPr/>
        </p:nvSpPr>
        <p:spPr>
          <a:xfrm>
            <a:off x="2679192" y="2286000"/>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فِي السَّادِسَةِ وَالنِّصْفِ.</a:t>
            </a:r>
            <a:endParaRPr lang="ar-SA" sz="1950" dirty="0"/>
          </a:p>
        </p:txBody>
      </p:sp>
      <p:sp>
        <p:nvSpPr>
          <p:cNvPr id="25" name="Text 22"/>
          <p:cNvSpPr txBox="1"/>
          <p:nvPr/>
        </p:nvSpPr>
        <p:spPr>
          <a:xfrm>
            <a:off x="2633472" y="2676997"/>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half past six</a:t>
            </a:r>
            <a:endParaRPr lang="en-US" sz="95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time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079992" y="302300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كَمْ مَرَّةً؟</a:t>
            </a:r>
            <a:endParaRPr lang="ar-SA" sz="1950" dirty="0"/>
          </a:p>
        </p:txBody>
      </p:sp>
      <p:sp>
        <p:nvSpPr>
          <p:cNvPr id="31" name="Text 28"/>
          <p:cNvSpPr txBox="1"/>
          <p:nvPr/>
        </p:nvSpPr>
        <p:spPr>
          <a:xfrm>
            <a:off x="9034272" y="3414004"/>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often?</a:t>
            </a:r>
            <a:endParaRPr lang="en-US" sz="950" dirty="0"/>
          </a:p>
        </p:txBody>
      </p:sp>
      <p:sp>
        <p:nvSpPr>
          <p:cNvPr id="32" name="Text 29"/>
          <p:cNvSpPr txBox="1"/>
          <p:nvPr/>
        </p:nvSpPr>
        <p:spPr>
          <a:xfrm>
            <a:off x="5971032"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مَرَّةً / مَرَّتَيْنِ …</a:t>
            </a:r>
            <a:endParaRPr lang="ar-SA" sz="2400" dirty="0"/>
          </a:p>
        </p:txBody>
      </p:sp>
      <p:sp>
        <p:nvSpPr>
          <p:cNvPr id="33" name="Text 30"/>
          <p:cNvSpPr txBox="1"/>
          <p:nvPr/>
        </p:nvSpPr>
        <p:spPr>
          <a:xfrm>
            <a:off x="2679192" y="3023006"/>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مَرَّتَيْنِ فِي الأُسْبُوعِ.</a:t>
            </a:r>
            <a:endParaRPr lang="ar-SA" sz="1950" dirty="0"/>
          </a:p>
        </p:txBody>
      </p:sp>
      <p:sp>
        <p:nvSpPr>
          <p:cNvPr id="34" name="Text 31"/>
          <p:cNvSpPr txBox="1"/>
          <p:nvPr/>
        </p:nvSpPr>
        <p:spPr>
          <a:xfrm>
            <a:off x="2633472" y="3414004"/>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twice a week</a:t>
            </a:r>
            <a:endParaRPr lang="en-US" sz="950" dirty="0"/>
          </a:p>
        </p:txBody>
      </p:sp>
      <p:sp>
        <p:nvSpPr>
          <p:cNvPr id="35" name="Text 32"/>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frequency</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079992" y="3760013"/>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كَيْفَ؟</a:t>
            </a:r>
            <a:endParaRPr lang="ar-SA" sz="1950" dirty="0"/>
          </a:p>
        </p:txBody>
      </p:sp>
      <p:sp>
        <p:nvSpPr>
          <p:cNvPr id="40" name="Text 37"/>
          <p:cNvSpPr txBox="1"/>
          <p:nvPr/>
        </p:nvSpPr>
        <p:spPr>
          <a:xfrm>
            <a:off x="9034272" y="4151010"/>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a:t>
            </a:r>
            <a:endParaRPr lang="en-US" sz="950" dirty="0"/>
          </a:p>
        </p:txBody>
      </p:sp>
      <p:sp>
        <p:nvSpPr>
          <p:cNvPr id="41" name="Text 38"/>
          <p:cNvSpPr txBox="1"/>
          <p:nvPr/>
        </p:nvSpPr>
        <p:spPr>
          <a:xfrm>
            <a:off x="5971032"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بِـ … / مَشْيًا</a:t>
            </a:r>
            <a:endParaRPr lang="ar-SA" sz="2400" dirty="0"/>
          </a:p>
        </p:txBody>
      </p:sp>
      <p:sp>
        <p:nvSpPr>
          <p:cNvPr id="42" name="Text 39"/>
          <p:cNvSpPr txBox="1"/>
          <p:nvPr/>
        </p:nvSpPr>
        <p:spPr>
          <a:xfrm>
            <a:off x="2679192" y="3760013"/>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بِالحَافِلَةِ.</a:t>
            </a:r>
            <a:endParaRPr lang="ar-SA" sz="1950" dirty="0"/>
          </a:p>
        </p:txBody>
      </p:sp>
      <p:sp>
        <p:nvSpPr>
          <p:cNvPr id="43" name="Text 40"/>
          <p:cNvSpPr txBox="1"/>
          <p:nvPr/>
        </p:nvSpPr>
        <p:spPr>
          <a:xfrm>
            <a:off x="2633472" y="4151010"/>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by bus</a:t>
            </a:r>
            <a:endParaRPr lang="en-US" sz="950" dirty="0"/>
          </a:p>
        </p:txBody>
      </p:sp>
      <p:sp>
        <p:nvSpPr>
          <p:cNvPr id="44" name="Text 41"/>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method</a:t>
            </a:r>
            <a:endParaRPr lang="en-US" sz="1100" dirty="0"/>
          </a:p>
        </p:txBody>
      </p:sp>
      <p:sp>
        <p:nvSpPr>
          <p:cNvPr id="45" name="Shape 4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7" name="Shape 4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8" name="Text 45"/>
          <p:cNvSpPr txBox="1"/>
          <p:nvPr/>
        </p:nvSpPr>
        <p:spPr>
          <a:xfrm>
            <a:off x="9079992" y="4497019"/>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لِمَاذَا؟</a:t>
            </a:r>
            <a:endParaRPr lang="ar-SA" sz="1950" dirty="0"/>
          </a:p>
        </p:txBody>
      </p:sp>
      <p:sp>
        <p:nvSpPr>
          <p:cNvPr id="49" name="Text 46"/>
          <p:cNvSpPr txBox="1"/>
          <p:nvPr/>
        </p:nvSpPr>
        <p:spPr>
          <a:xfrm>
            <a:off x="9034272" y="488801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why?</a:t>
            </a:r>
            <a:endParaRPr lang="en-US" sz="950" dirty="0"/>
          </a:p>
        </p:txBody>
      </p:sp>
      <p:sp>
        <p:nvSpPr>
          <p:cNvPr id="50" name="Text 47"/>
          <p:cNvSpPr txBox="1"/>
          <p:nvPr/>
        </p:nvSpPr>
        <p:spPr>
          <a:xfrm>
            <a:off x="5971032"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لِأَنَّ …</a:t>
            </a:r>
            <a:endParaRPr lang="ar-SA" sz="2400" dirty="0"/>
          </a:p>
        </p:txBody>
      </p:sp>
      <p:sp>
        <p:nvSpPr>
          <p:cNvPr id="51" name="Text 48"/>
          <p:cNvSpPr txBox="1"/>
          <p:nvPr/>
        </p:nvSpPr>
        <p:spPr>
          <a:xfrm>
            <a:off x="2679192" y="4497019"/>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لِأَنَّ المَدْرَسَةَ بَعِيدَةٌ.</a:t>
            </a:r>
            <a:endParaRPr lang="ar-SA" sz="1950" dirty="0"/>
          </a:p>
        </p:txBody>
      </p:sp>
      <p:sp>
        <p:nvSpPr>
          <p:cNvPr id="52" name="Text 49"/>
          <p:cNvSpPr txBox="1"/>
          <p:nvPr/>
        </p:nvSpPr>
        <p:spPr>
          <a:xfrm>
            <a:off x="2633472" y="4888017"/>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because school is far</a:t>
            </a:r>
            <a:endParaRPr lang="en-US" sz="950" dirty="0"/>
          </a:p>
        </p:txBody>
      </p:sp>
      <p:sp>
        <p:nvSpPr>
          <p:cNvPr id="53" name="Text 5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reason</a:t>
            </a:r>
            <a:endParaRPr lang="en-US" sz="1100" dirty="0"/>
          </a:p>
        </p:txBody>
      </p:sp>
      <p:sp>
        <p:nvSpPr>
          <p:cNvPr id="54" name="Shape 5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6" name="Shape 5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7" name="Text 54"/>
          <p:cNvSpPr txBox="1"/>
          <p:nvPr/>
        </p:nvSpPr>
        <p:spPr>
          <a:xfrm>
            <a:off x="9079992" y="523402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كَمْ مِنَ الوَقْتِ؟</a:t>
            </a:r>
            <a:endParaRPr lang="ar-SA" sz="1950" dirty="0"/>
          </a:p>
        </p:txBody>
      </p:sp>
      <p:sp>
        <p:nvSpPr>
          <p:cNvPr id="58" name="Text 55"/>
          <p:cNvSpPr txBox="1"/>
          <p:nvPr/>
        </p:nvSpPr>
        <p:spPr>
          <a:xfrm>
            <a:off x="9034272" y="5625023"/>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long?</a:t>
            </a:r>
            <a:endParaRPr lang="en-US" sz="950" dirty="0"/>
          </a:p>
        </p:txBody>
      </p:sp>
      <p:sp>
        <p:nvSpPr>
          <p:cNvPr id="59" name="Text 56"/>
          <p:cNvSpPr txBox="1"/>
          <p:nvPr/>
        </p:nvSpPr>
        <p:spPr>
          <a:xfrm>
            <a:off x="5971032"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لِمُدَّةِ …</a:t>
            </a:r>
            <a:endParaRPr lang="ar-SA" sz="2400" dirty="0"/>
          </a:p>
        </p:txBody>
      </p:sp>
      <p:sp>
        <p:nvSpPr>
          <p:cNvPr id="60" name="Text 57"/>
          <p:cNvSpPr txBox="1"/>
          <p:nvPr/>
        </p:nvSpPr>
        <p:spPr>
          <a:xfrm>
            <a:off x="2679192" y="5234026"/>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لِمُدَّةِ سَاعَةٍ.</a:t>
            </a:r>
            <a:endParaRPr lang="ar-SA" sz="1950" dirty="0"/>
          </a:p>
        </p:txBody>
      </p:sp>
      <p:sp>
        <p:nvSpPr>
          <p:cNvPr id="61" name="Text 58"/>
          <p:cNvSpPr txBox="1"/>
          <p:nvPr/>
        </p:nvSpPr>
        <p:spPr>
          <a:xfrm>
            <a:off x="2633472" y="5625023"/>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 an hour</a:t>
            </a:r>
            <a:endParaRPr lang="en-US" sz="950" dirty="0"/>
          </a:p>
        </p:txBody>
      </p:sp>
      <p:sp>
        <p:nvSpPr>
          <p:cNvPr id="62" name="Text 59"/>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duration</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in a full sentence: “I train twice a week because …” — not just “twice”.</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BUILD A FOLLOW-UP FROM THE ANSWER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 pick one detail, ask again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سُؤَالُ المُتَابَعَةِ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كَمْ مَرَّةً؟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أَتَمَرَّنُ بَعْدَ المَدْرَسَةِ. — كَمْ مَرَّةً؟</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train after school. — How often?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Detail: frequency.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أَذْهَبُ بِالحَافِلَةِ. — لِمَاذَا لَا تَمْشِي؟</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go by bus. — Why don’t you walk?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Detail: reason.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EVALUATE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مَا أَصْعَبُ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رُوتِينِي مُزْدَحِمٌ. — مَا أَصْعَبُ جُزْءٍ فِيهِ؟</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routine is busy. — What is the hardest part?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Detail: opinion.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tip: a follow-up stays on the SAME topic.</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أَقْرَأُ كُلَّ مَسَاءٍ. — مَاذَا تَقْرَأُ؟</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أَقْرَأُ كُلَّ مَسَاءٍ. — أَيْنَ المَحَطَّةُ؟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Second-person present forms and question architecture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صِيَغُ المُخَاطَبِ وَبِنَاءُ السُّؤَالِ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Ask a masculine listener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أَنْتَ تَفْعَلُ / تَسْتَيْقِظُ / تَذْهَبُ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مَاذَا تَفْعَلُ بَعْدَ المَدْرَسَةِ؟   ·   مَتَى تَسْتَيْقِظُ؟   ·   كَيْفَ تَذْهَبُ إِلَى المَدْرَسَةِ؟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a feminine listener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أَنْتِ تَفْعَلِينَ / تَسْتَيْقِظِينَ / تَذْهَبِينَ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مَاذَا تَفْعَلِينَ فِي المَسَاءِ؟   ·   كَمْ مَرَّةً تَتَمَرَّنِينَ؟   ·   مَتَى تَنَامِينَ؟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question word to the answer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مَتَى</a:t>
            </a:r>
            <a:pPr algn="l" indent="0" marL="0">
              <a:buNone/>
            </a:pPr>
            <a:r>
              <a:rPr lang="en-US" sz="1050" dirty="0">
                <a:solidFill>
                  <a:srgbClr val="5A6472"/>
                </a:solidFill>
                <a:latin typeface="Calibri" pitchFamily="34" charset="0"/>
                <a:cs typeface="Amiri" pitchFamily="2" charset="-78"/>
              </a:rPr>
              <a:t> → time · </a:t>
            </a:r>
            <a:pPr algn="l" indent="0" marL="0">
              <a:buNone/>
            </a:pPr>
            <a:r>
              <a:rPr lang="ar-SA" altLang="en-US" sz="1350" dirty="0">
                <a:solidFill>
                  <a:srgbClr val="5A6472"/>
                </a:solidFill>
                <a:latin typeface="Amiri" pitchFamily="2" charset="-78"/>
                <a:cs typeface="Amiri" pitchFamily="2" charset="-78"/>
              </a:rPr>
              <a:t>كَمْ مَرَّةً</a:t>
            </a:r>
            <a:pPr algn="l" indent="0" marL="0">
              <a:buNone/>
            </a:pPr>
            <a:r>
              <a:rPr lang="en-US" sz="1050" dirty="0">
                <a:solidFill>
                  <a:srgbClr val="5A6472"/>
                </a:solidFill>
                <a:latin typeface="Calibri" pitchFamily="34" charset="0"/>
                <a:cs typeface="Amiri" pitchFamily="2" charset="-78"/>
              </a:rPr>
              <a:t> → frequency · </a:t>
            </a:r>
            <a:pPr algn="l" indent="0" marL="0">
              <a:buNone/>
            </a:pPr>
            <a:r>
              <a:rPr lang="ar-SA" altLang="en-US" sz="1350" dirty="0">
                <a:solidFill>
                  <a:srgbClr val="5A6472"/>
                </a:solidFill>
                <a:latin typeface="Amiri" pitchFamily="2" charset="-78"/>
                <a:cs typeface="Amiri" pitchFamily="2" charset="-78"/>
              </a:rPr>
              <a:t>لِمَاذَا</a:t>
            </a:r>
            <a:pPr algn="l" indent="0" marL="0">
              <a:buNone/>
            </a:pPr>
            <a:r>
              <a:rPr lang="en-US" sz="1050" dirty="0">
                <a:solidFill>
                  <a:srgbClr val="5A6472"/>
                </a:solidFill>
                <a:latin typeface="Calibri" pitchFamily="34" charset="0"/>
                <a:cs typeface="Amiri" pitchFamily="2" charset="-78"/>
              </a:rPr>
              <a:t> → reason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مَتَى تَعُودُ؟ — فِي الرَّابِعَةِ.   ·   كَمْ مَرَّةً تَقْرَأِينَ؟ — مَرَّتَيْنِ.   ·   لِمَاذَا تَسْتَيْقِظُ مُبَكِّرًا؟ — لِأَنَّ...</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Build a follow-up from the answer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إِجَابَةٌ → سُؤَالُ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أَتَمَرَّنُ بَعْدَ المَدْرَسَةِ. — كَمْ مَرَّةً؟   ·   أَذْهَبُ بِالحَافِلَةِ. — لِمَاذَا لَا تَمْشِي؟   ·   رُوتِينِي مُزْدَحِمٌ. — مَا أَصْعَبُ جُزْءٍ فِيهِ؟</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“What do you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يَفْعَلُ؟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“When do you wake up?”</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تَسْتَيْقِظِينَ؟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تَسْتَيْقِظُ؟</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يَسْتَيْقِظُ؟</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frequency?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تَتَمَرَّنُ؟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مَرَّةً تَتَمَرَّنُ؟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تَتَمَرَّنُ؟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a:t>
            </a:r>
            <a:pPr algn="l" indent="0" marL="0">
              <a:buNone/>
            </a:pPr>
            <a:r>
              <a:rPr lang="ar-SA" altLang="en-US" sz="1650" b="1" dirty="0">
                <a:solidFill>
                  <a:srgbClr val="1B3B6F"/>
                </a:solidFill>
                <a:latin typeface="Amiri" pitchFamily="2" charset="-78"/>
                <a:cs typeface="Amiri" pitchFamily="2" charset="-78"/>
              </a:rPr>
              <a:t>لِمَاذَا؟</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 أُرِيدُ أَنْ أَكُونَ نَشِيطًا.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السَّادِسَةِ.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مَرَّاتٍ.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“What do you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تَفْعَلِينَ؟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يَفْعَلُ؟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تَفْعَلُ؟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second-person form is </a:t>
            </a:r>
            <a:pPr algn="l" indent="0" marL="0">
              <a:buNone/>
            </a:pPr>
            <a:r>
              <a:rPr lang="ar-SA" altLang="en-US" sz="1350" dirty="0">
                <a:solidFill>
                  <a:srgbClr val="8A6D1E"/>
                </a:solidFill>
                <a:latin typeface="Amiri" pitchFamily="2" charset="-78"/>
                <a:cs typeface="Amiri" pitchFamily="2" charset="-78"/>
              </a:rPr>
              <a:t>تَفْعَلُ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“When do you wake up?”</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مَتَى تَسْتَيْقِظِينَ؟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تَسْتَيْقِظُ؟</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يَسْتَيْقِظُ؟</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second-person form ends in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frequency?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تَتَمَرَّنُ؟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مَرَّةً تَتَمَرَّنُ؟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تَتَمَرَّنُ؟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how often.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a:t>
            </a:r>
            <a:pPr algn="l" indent="0" marL="0">
              <a:buNone/>
            </a:pPr>
            <a:r>
              <a:rPr lang="ar-SA" altLang="en-US" sz="1650" b="1" dirty="0">
                <a:solidFill>
                  <a:srgbClr val="1B3B6F"/>
                </a:solidFill>
                <a:latin typeface="Amiri" pitchFamily="2" charset="-78"/>
                <a:cs typeface="Amiri" pitchFamily="2" charset="-78"/>
              </a:rPr>
              <a:t>لِمَاذَا؟</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لِأَنَّنِي أُرِيدُ أَنْ أَكُونَ نَشِيطًا.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السَّادِسَةِ.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 مَرَّاتٍ.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 expects a reason.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interview a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مَتَى</a:t>
            </a:r>
            <a:pPr rtl="1" algn="ctr" indent="0" marL="0">
              <a:lnSpc>
                <a:spcPct val="120000"/>
              </a:lnSpc>
              <a:buNone/>
            </a:pPr>
            <a:r>
              <a:rPr lang="ar-SA" altLang="en-US" sz="1750" b="1" dirty="0">
                <a:solidFill>
                  <a:srgbClr val="1B3B6F"/>
                </a:solidFill>
                <a:latin typeface="Amiri" pitchFamily="2" charset="-78"/>
                <a:cs typeface="Amiri" pitchFamily="2" charset="-78"/>
              </a:rPr>
              <a:t> تَسْتَيْقِظِ</a:t>
            </a:r>
            <a:pPr rtl="1" algn="ctr" indent="0" marL="0">
              <a:lnSpc>
                <a:spcPct val="120000"/>
              </a:lnSpc>
              <a:buNone/>
            </a:pPr>
            <a:r>
              <a:rPr lang="ar-SA" altLang="en-US" sz="1750" b="1" dirty="0">
                <a:solidFill>
                  <a:srgbClr val="D6336C"/>
                </a:solidFill>
                <a:latin typeface="Amiri" pitchFamily="2" charset="-78"/>
                <a:cs typeface="Amiri" pitchFamily="2" charset="-78"/>
              </a:rPr>
              <a:t>ينَ</a:t>
            </a:r>
            <a:pPr rtl="1" algn="ctr" indent="0" marL="0">
              <a:lnSpc>
                <a:spcPct val="120000"/>
              </a:lnSpc>
              <a:buNone/>
            </a:pPr>
            <a:r>
              <a:rPr lang="ar-SA" altLang="en-US" sz="1750" b="1" dirty="0">
                <a:solidFill>
                  <a:srgbClr val="1B3B6F"/>
                </a:solidFill>
                <a:latin typeface="Amiri" pitchFamily="2" charset="-78"/>
                <a:cs typeface="Amiri" pitchFamily="2" charset="-78"/>
              </a:rPr>
              <a:t>؟ — أَسْتَيْقِظُ فِي السَّادِسَةِ.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girl → -īna. When → a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Method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كَيْفَ</a:t>
            </a:r>
            <a:pPr rtl="1" algn="ctr" indent="0" marL="0">
              <a:lnSpc>
                <a:spcPct val="120000"/>
              </a:lnSpc>
              <a:buNone/>
            </a:pPr>
            <a:r>
              <a:rPr lang="ar-SA" altLang="en-US" sz="1750" b="1" dirty="0">
                <a:solidFill>
                  <a:srgbClr val="1B3B6F"/>
                </a:solidFill>
                <a:latin typeface="Amiri" pitchFamily="2" charset="-78"/>
                <a:cs typeface="Amiri" pitchFamily="2" charset="-78"/>
              </a:rPr>
              <a:t> تَذْهَبِ</a:t>
            </a:r>
            <a:pPr rtl="1" algn="ctr" indent="0" marL="0">
              <a:lnSpc>
                <a:spcPct val="120000"/>
              </a:lnSpc>
              <a:buNone/>
            </a:pPr>
            <a:r>
              <a:rPr lang="ar-SA" altLang="en-US" sz="1750" b="1" dirty="0">
                <a:solidFill>
                  <a:srgbClr val="D6336C"/>
                </a:solidFill>
                <a:latin typeface="Amiri" pitchFamily="2" charset="-78"/>
                <a:cs typeface="Amiri" pitchFamily="2" charset="-78"/>
              </a:rPr>
              <a:t>ينَ</a:t>
            </a:r>
            <a:pPr rtl="1" algn="ctr" indent="0" marL="0">
              <a:lnSpc>
                <a:spcPct val="120000"/>
              </a:lnSpc>
              <a:buNone/>
            </a:pPr>
            <a:r>
              <a:rPr lang="ar-SA" altLang="en-US" sz="1750" b="1" dirty="0">
                <a:solidFill>
                  <a:srgbClr val="1B3B6F"/>
                </a:solidFill>
                <a:latin typeface="Amiri" pitchFamily="2" charset="-78"/>
                <a:cs typeface="Amiri" pitchFamily="2" charset="-78"/>
              </a:rPr>
              <a:t> إِلَى المَدْرَسَةِ؟ — مَشْيًا.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 a method.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Follow-up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cs typeface="Amiri" pitchFamily="2" charset="-78"/>
              </a:rPr>
              <a:t>لِمَاذَا</a:t>
            </a:r>
            <a:pPr rtl="1" algn="ctr" indent="0" marL="0">
              <a:lnSpc>
                <a:spcPct val="120000"/>
              </a:lnSpc>
              <a:buNone/>
            </a:pPr>
            <a:r>
              <a:rPr lang="ar-SA" altLang="en-US" sz="1750" b="1" dirty="0">
                <a:solidFill>
                  <a:srgbClr val="1B3B6F"/>
                </a:solidFill>
                <a:latin typeface="Amiri" pitchFamily="2" charset="-78"/>
                <a:cs typeface="Amiri" pitchFamily="2" charset="-78"/>
              </a:rPr>
              <a:t> تَمْشِ</a:t>
            </a:r>
            <a:pPr rtl="1" algn="ctr" indent="0" marL="0">
              <a:lnSpc>
                <a:spcPct val="120000"/>
              </a:lnSpc>
              <a:buNone/>
            </a:pPr>
            <a:r>
              <a:rPr lang="ar-SA" altLang="en-US" sz="1750" b="1" dirty="0">
                <a:solidFill>
                  <a:srgbClr val="D6336C"/>
                </a:solidFill>
                <a:latin typeface="Amiri" pitchFamily="2" charset="-78"/>
                <a:cs typeface="Amiri" pitchFamily="2" charset="-78"/>
              </a:rPr>
              <a:t>ينَ</a:t>
            </a:r>
            <a:pPr rtl="1" algn="ctr" indent="0" marL="0">
              <a:lnSpc>
                <a:spcPct val="120000"/>
              </a:lnSpc>
              <a:buNone/>
            </a:pPr>
            <a:r>
              <a:rPr lang="ar-SA" altLang="en-US" sz="1750" b="1" dirty="0">
                <a:solidFill>
                  <a:srgbClr val="1B3B6F"/>
                </a:solidFill>
                <a:latin typeface="Amiri" pitchFamily="2" charset="-78"/>
                <a:cs typeface="Amiri" pitchFamily="2" charset="-78"/>
              </a:rPr>
              <a:t>؟ — لِأَنَّ المَدْرَسَةَ قَرِيبَةٌ.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detail → why?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تَسْتَيْقِظُ فِي السَّادِسَةِ وَتَمْشِي لِأَنَّ مَدْرَسَتَ</a:t>
            </a:r>
            <a:pPr rtl="1" algn="ctr" indent="0" marL="0">
              <a:lnSpc>
                <a:spcPct val="120000"/>
              </a:lnSpc>
              <a:buNone/>
            </a:pPr>
            <a:r>
              <a:rPr lang="ar-SA" altLang="en-US" sz="1750" b="1" dirty="0">
                <a:solidFill>
                  <a:srgbClr val="1D5FBF"/>
                </a:solidFill>
                <a:latin typeface="Amiri" pitchFamily="2" charset="-78"/>
                <a:cs typeface="Amiri" pitchFamily="2" charset="-78"/>
              </a:rPr>
              <a:t>هَا</a:t>
            </a:r>
            <a:pPr rtl="1" algn="ctr" indent="0" marL="0">
              <a:lnSpc>
                <a:spcPct val="120000"/>
              </a:lnSpc>
              <a:buNone/>
            </a:pPr>
            <a:r>
              <a:rPr lang="ar-SA" altLang="en-US" sz="1750" b="1" dirty="0">
                <a:solidFill>
                  <a:srgbClr val="1B3B6F"/>
                </a:solidFill>
                <a:latin typeface="Amiri" pitchFamily="2" charset="-78"/>
                <a:cs typeface="Amiri" pitchFamily="2" charset="-78"/>
              </a:rPr>
              <a:t> قَرِيبَةٌ.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Profile: you → she (D1-L06).</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QUESTION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GIRL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 HER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 </a:t>
            </a:r>
            <a:pPr rtl="1" algn="r" indent="0" marL="0">
              <a:lnSpc>
                <a:spcPct val="120000"/>
              </a:lnSpc>
              <a:buNone/>
            </a:pPr>
            <a:r>
              <a:rPr lang="ar-SA" altLang="en-US" sz="1400" b="1" dirty="0">
                <a:solidFill>
                  <a:srgbClr val="0E7C86"/>
                </a:solidFill>
                <a:latin typeface="Amiri" pitchFamily="2" charset="-78"/>
                <a:cs typeface="Amiri" pitchFamily="2" charset="-78"/>
              </a:rPr>
              <a:t>مَتَى</a:t>
            </a:r>
            <a:pPr rtl="1" algn="r" indent="0" marL="0">
              <a:lnSpc>
                <a:spcPct val="120000"/>
              </a:lnSpc>
              <a:buNone/>
            </a:pPr>
            <a:r>
              <a:rPr lang="ar-SA" altLang="en-US" sz="1400" b="1" dirty="0">
                <a:solidFill>
                  <a:srgbClr val="1B3B6F"/>
                </a:solidFill>
                <a:latin typeface="Amiri" pitchFamily="2" charset="-78"/>
                <a:cs typeface="Amiri" pitchFamily="2" charset="-78"/>
              </a:rPr>
              <a:t> تَسْتَيْقِظِ</a:t>
            </a:r>
            <a:pPr rtl="1" algn="r" indent="0" marL="0">
              <a:lnSpc>
                <a:spcPct val="120000"/>
              </a:lnSpc>
              <a:buNone/>
            </a:pPr>
            <a:r>
              <a:rPr lang="ar-SA" altLang="en-US" sz="1400" b="1" dirty="0">
                <a:solidFill>
                  <a:srgbClr val="D6336C"/>
                </a:solidFill>
                <a:latin typeface="Amiri" pitchFamily="2" charset="-78"/>
                <a:cs typeface="Amiri" pitchFamily="2" charset="-78"/>
              </a:rPr>
              <a:t>ينَ</a:t>
            </a:r>
            <a:pPr rtl="1" algn="r" indent="0" marL="0">
              <a:lnSpc>
                <a:spcPct val="120000"/>
              </a:lnSpc>
              <a:buNone/>
            </a:pPr>
            <a:r>
              <a:rPr lang="ar-SA" altLang="en-US" sz="1400" b="1" dirty="0">
                <a:solidFill>
                  <a:srgbClr val="1B3B6F"/>
                </a:solidFill>
                <a:latin typeface="Amiri" pitchFamily="2" charset="-78"/>
                <a:cs typeface="Amiri" pitchFamily="2" charset="-78"/>
              </a:rPr>
              <a:t>؟  ب: أَسْتَيْقِظُ فِي السَّادِسَةِ.  أ: </a:t>
            </a:r>
            <a:pPr rtl="1" algn="r" indent="0" marL="0">
              <a:lnSpc>
                <a:spcPct val="120000"/>
              </a:lnSpc>
              <a:buNone/>
            </a:pPr>
            <a:r>
              <a:rPr lang="ar-SA" altLang="en-US" sz="1400" b="1" dirty="0">
                <a:solidFill>
                  <a:srgbClr val="0E7C86"/>
                </a:solidFill>
                <a:latin typeface="Amiri" pitchFamily="2" charset="-78"/>
                <a:cs typeface="Amiri" pitchFamily="2" charset="-78"/>
              </a:rPr>
              <a:t>كَيْفَ</a:t>
            </a:r>
            <a:pPr rtl="1" algn="r" indent="0" marL="0">
              <a:lnSpc>
                <a:spcPct val="120000"/>
              </a:lnSpc>
              <a:buNone/>
            </a:pPr>
            <a:r>
              <a:rPr lang="ar-SA" altLang="en-US" sz="1400" b="1" dirty="0">
                <a:solidFill>
                  <a:srgbClr val="1B3B6F"/>
                </a:solidFill>
                <a:latin typeface="Amiri" pitchFamily="2" charset="-78"/>
                <a:cs typeface="Amiri" pitchFamily="2" charset="-78"/>
              </a:rPr>
              <a:t> تَذْهَبِ</a:t>
            </a:r>
            <a:pPr rtl="1" algn="r" indent="0" marL="0">
              <a:lnSpc>
                <a:spcPct val="120000"/>
              </a:lnSpc>
              <a:buNone/>
            </a:pPr>
            <a:r>
              <a:rPr lang="ar-SA" altLang="en-US" sz="1400" b="1" dirty="0">
                <a:solidFill>
                  <a:srgbClr val="D6336C"/>
                </a:solidFill>
                <a:latin typeface="Amiri" pitchFamily="2" charset="-78"/>
                <a:cs typeface="Amiri" pitchFamily="2" charset="-78"/>
              </a:rPr>
              <a:t>ينَ</a:t>
            </a:r>
            <a:pPr rtl="1" algn="r" indent="0" marL="0">
              <a:lnSpc>
                <a:spcPct val="120000"/>
              </a:lnSpc>
              <a:buNone/>
            </a:pPr>
            <a:r>
              <a:rPr lang="ar-SA" altLang="en-US" sz="1400" b="1" dirty="0">
                <a:solidFill>
                  <a:srgbClr val="1B3B6F"/>
                </a:solidFill>
                <a:latin typeface="Amiri" pitchFamily="2" charset="-78"/>
                <a:cs typeface="Amiri" pitchFamily="2" charset="-78"/>
              </a:rPr>
              <a:t> إِلَى المَدْرَسَةِ؟  ب: أَمْشِي.  أ: </a:t>
            </a:r>
            <a:pPr rtl="1" algn="r" indent="0" marL="0">
              <a:lnSpc>
                <a:spcPct val="120000"/>
              </a:lnSpc>
              <a:buNone/>
            </a:pPr>
            <a:r>
              <a:rPr lang="ar-SA" altLang="en-US" sz="1400" b="1" dirty="0">
                <a:solidFill>
                  <a:srgbClr val="0E7C86"/>
                </a:solidFill>
                <a:latin typeface="Amiri" pitchFamily="2" charset="-78"/>
                <a:cs typeface="Amiri" pitchFamily="2" charset="-78"/>
              </a:rPr>
              <a:t>لِمَاذَا</a:t>
            </a:r>
            <a:pPr rtl="1" algn="r" indent="0" marL="0">
              <a:lnSpc>
                <a:spcPct val="120000"/>
              </a:lnSpc>
              <a:buNone/>
            </a:pPr>
            <a:r>
              <a:rPr lang="ar-SA" altLang="en-US" sz="1400" b="1" dirty="0">
                <a:solidFill>
                  <a:srgbClr val="1B3B6F"/>
                </a:solidFill>
                <a:latin typeface="Amiri" pitchFamily="2" charset="-78"/>
                <a:cs typeface="Amiri" pitchFamily="2" charset="-78"/>
              </a:rPr>
              <a:t>؟  ب: لِأَنَّ المَدْرَسَةَ قَرِيبَةٌ.  ← تَسْتَيْقِظُ سَلْمَى فِي السَّادِسَةِ، وَتَمْشِي إِلَى المَدْرَسَةِ لِأَنَّ مَدْرَسَتَ</a:t>
            </a:r>
            <a:pPr rtl="1" algn="r" indent="0" marL="0">
              <a:lnSpc>
                <a:spcPct val="120000"/>
              </a:lnSpc>
              <a:buNone/>
            </a:pPr>
            <a:r>
              <a:rPr lang="ar-SA" altLang="en-US" sz="1400" b="1" dirty="0">
                <a:solidFill>
                  <a:srgbClr val="1D5FBF"/>
                </a:solidFill>
                <a:latin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cs typeface="Amiri" pitchFamily="2" charset="-78"/>
              </a:rPr>
              <a:t> قَرِيبَةٌ.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 When do you wake up? B: I wake up at six. A: How do you go to school? B: I walk. A: Why? B: Because school is near. → Salma wakes up at six and walks to school because her school is near.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مَتَى تَسْتَيْقِظِينَ فِي أَيَّامِ الدِّرَاسَةِ؟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When do you wake on school days? — to a girl</a:t>
            </a:r>
            <a:endParaRPr lang="en-US" sz="1250" dirty="0"/>
          </a:p>
          <a:p>
            <a:pPr indent="0" marL="0">
              <a:buNone/>
            </a:pPr>
            <a:r>
              <a:rPr lang="en-US" sz="1050" i="1" dirty="0">
                <a:solidFill>
                  <a:srgbClr val="8A6D1E"/>
                </a:solidFill>
                <a:latin typeface="Calibri" pitchFamily="34" charset="0"/>
                <a:cs typeface="Amiri" pitchFamily="2" charset="-78"/>
              </a:rPr>
              <a:t>Feminine ending ـين.</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كَمْ مَرَّةً تَتَمَرَّنُ فِي الأُسْبُوعِ؟</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How often do you train each week? — to a boy</a:t>
            </a:r>
            <a:endParaRPr lang="en-US" sz="1250" dirty="0"/>
          </a:p>
          <a:p>
            <a:pPr indent="0" marL="0">
              <a:buNone/>
            </a:pPr>
            <a:r>
              <a:rPr lang="en-US" sz="1050" i="1" dirty="0">
                <a:solidFill>
                  <a:srgbClr val="8A6D1E"/>
                </a:solidFill>
                <a:latin typeface="Calibri" pitchFamily="34" charset="0"/>
                <a:cs typeface="Amiri" pitchFamily="2" charset="-78"/>
              </a:rPr>
              <a:t>Frequency question.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أَخْبِرِينِي أَكْثَرَ عَنْ رُوتِينِكِ.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Tell me more about your routine — to a girl.</a:t>
            </a:r>
            <a:endParaRPr lang="en-US" sz="1250" dirty="0"/>
          </a:p>
          <a:p>
            <a:pPr indent="0" marL="0">
              <a:buNone/>
            </a:pPr>
            <a:r>
              <a:rPr lang="en-US" sz="1050" i="1" dirty="0">
                <a:solidFill>
                  <a:srgbClr val="8A6D1E"/>
                </a:solidFill>
                <a:latin typeface="Calibri" pitchFamily="34" charset="0"/>
                <a:cs typeface="Amiri" pitchFamily="2" charset="-78"/>
              </a:rPr>
              <a:t>Interview extension.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لِمَاذَا تُفَضِّلُ هٰذَا الوَقْتَ؟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Why do you prefer this time? — to a boy.</a:t>
            </a:r>
            <a:endParaRPr lang="en-US" sz="1250" dirty="0"/>
          </a:p>
          <a:p>
            <a:pPr indent="0" marL="0">
              <a:buNone/>
            </a:pPr>
            <a:r>
              <a:rPr lang="en-US" sz="1050" i="1" dirty="0">
                <a:solidFill>
                  <a:srgbClr val="8A6D1E"/>
                </a:solidFill>
                <a:latin typeface="Calibri" pitchFamily="34" charset="0"/>
                <a:cs typeface="Amiri" pitchFamily="2" charset="-78"/>
              </a:rPr>
              <a:t>Reason follow-up.</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TURN THE WEBSITE PICTURE-GAME SENTENCES INTO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Statement →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حَوِّلْ إِلَى 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GIRL about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أَسْتَيْقِظُ فِي السَّادِسَةِ.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تَسْتَيْقِظُ؟</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تَسْتَيْقِظِينَ؟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تَسْتَيْقِظِينَ؟</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BOY about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أَذْهَبُ إِلَى المَدْرَسَةِ بِالحَافِلَةِ.</a:t>
            </a:r>
            <a:endParaRPr lang="ar-SA" sz="11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تَذْهَبِينَ إِلَى المَدْرَسَةِ؟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تَذْهَبُ إِلَى المَدْرَسَةِ؟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تَذْهَبُ إِلَى المَدْرَسَةِ؟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GIRL about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أَدْرُسُ بَعْدَ المَدْرَسَةِ ثَلَاثَ مَرَّاتٍ.</a:t>
            </a:r>
            <a:endParaRPr lang="ar-SA" sz="11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مَرَّةً تَدْرُسُ بَعْدَ المَدْرَسَةِ؟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مَرَّةً تَدْرُسِينَ بَعْدَ المَدْرَسَةِ؟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مَنْ تَدْرُسِينَ؟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BOY about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أَنَامُ مُبَكِّرًا لِأَنَّنِي مُتْعَبٌ.</a:t>
            </a:r>
            <a:endParaRPr lang="ar-SA" sz="14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تَنَامِينَ مُبَكِّرًا؟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تَنَامُ؟</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تَنَامُ مُبَكِّرًا؟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Step 1: which information? (time, how, how often, why)</a:t>
            </a:r>
            <a:endParaRPr lang="en-US" sz="1250" dirty="0"/>
          </a:p>
          <a:p>
            <a:pPr algn="l" indent="0" marL="0">
              <a:buNone/>
            </a:pPr>
            <a:r>
              <a:rPr lang="en-US" sz="1250" dirty="0">
                <a:solidFill>
                  <a:srgbClr val="1E6B52"/>
                </a:solidFill>
                <a:latin typeface="Calibri" pitchFamily="34" charset="0"/>
                <a:cs typeface="Amiri" pitchFamily="2" charset="-78"/>
              </a:rPr>
              <a:t>Step 2: boy or girl? Girl → add -īna.</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STATEMENT → QUESTION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Statement → question: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GIRL about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أَسْتَيْقِظُ فِي السَّادِسَةِ.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تَسْتَيْقِظُ؟</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لِمَاذَا تَسْتَيْقِظِينَ؟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مَتَى تَسْتَيْقِظِينَ؟</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Time → </a:t>
            </a:r>
            <a:pPr algn="l" indent="0" marL="0">
              <a:buNone/>
            </a:pPr>
            <a:r>
              <a:rPr lang="ar-SA" altLang="en-US" sz="1350" dirty="0">
                <a:solidFill>
                  <a:srgbClr val="8A6D1E"/>
                </a:solidFill>
                <a:latin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girl → -īna.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BOY about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أَذْهَبُ إِلَى المَدْرَسَةِ بِالحَافِلَةِ.</a:t>
            </a:r>
            <a:endParaRPr lang="ar-SA" sz="11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تَذْهَبِينَ إِلَى المَدْرَسَةِ؟</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تَذْهَبُ إِلَى المَدْرَسَةِ؟</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تَذْهَبُ إِلَى المَدْرَسَةِ؟</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Method → </a:t>
            </a:r>
            <a:pPr algn="l" indent="0" marL="0">
              <a:buNone/>
            </a:pPr>
            <a:r>
              <a:rPr lang="ar-SA" altLang="en-US" sz="1350" dirty="0">
                <a:solidFill>
                  <a:srgbClr val="8A6D1E"/>
                </a:solidFill>
                <a:latin typeface="Amiri" pitchFamily="2" charset="-78"/>
                <a:cs typeface="Amiri" pitchFamily="2" charset="-78"/>
              </a:rPr>
              <a:t>كَيْفَ</a:t>
            </a:r>
            <a:pPr algn="l" indent="0" marL="0">
              <a:buNone/>
            </a:pPr>
            <a:r>
              <a:rPr lang="en-US" sz="1050" i="1" dirty="0">
                <a:solidFill>
                  <a:srgbClr val="8A6D1E"/>
                </a:solidFill>
                <a:latin typeface="Calibri" pitchFamily="34" charset="0"/>
                <a:cs typeface="Amiri" pitchFamily="2" charset="-78"/>
              </a:rPr>
              <a:t>; boy → no ending.</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GIRL about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أَدْرُسُ بَعْدَ المَدْرَسَةِ ثَلَاثَ مَرَّاتٍ.</a:t>
            </a:r>
            <a:endParaRPr lang="ar-SA" sz="115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مَرَّةً تَدْرُسُ بَعْدَ المَدْرَسَةِ؟</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مَرَّةً تَدْرُسِينَ بَعْدَ المَدْرَسَةِ؟</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مَنْ تَدْرُسِينَ؟</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Frequency → </a:t>
            </a:r>
            <a:pPr algn="l" indent="0" marL="0">
              <a:buNone/>
            </a:pPr>
            <a:r>
              <a:rPr lang="ar-SA" altLang="en-US" sz="1350" dirty="0">
                <a:solidFill>
                  <a:srgbClr val="8A6D1E"/>
                </a:solidFill>
                <a:latin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Ask a BOY about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أَنَامُ مُبَكِّرًا لِأَنَّنِي مُتْعَبٌ.</a:t>
            </a:r>
            <a:endParaRPr lang="ar-SA" sz="14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لِمَاذَا تَنَامِينَ مُبَكِّرًا؟</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تَنَامُ؟</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لِمَاذَا تَنَامُ مُبَكِّرًا؟</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Reason → </a:t>
            </a:r>
            <a:pPr algn="l" indent="0" marL="0">
              <a:buNone/>
            </a:pPr>
            <a:r>
              <a:rPr lang="ar-SA" altLang="en-US" sz="1350" dirty="0">
                <a:solidFill>
                  <a:srgbClr val="8A6D1E"/>
                </a:solidFill>
                <a:latin typeface="Amiri" pitchFamily="2" charset="-78"/>
                <a:cs typeface="Amiri" pitchFamily="2" charset="-78"/>
              </a:rPr>
              <a:t>لِمَاذَا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Step 1: which information? (time, how, how often, why)</a:t>
            </a:r>
            <a:endParaRPr lang="en-US" sz="1250" dirty="0"/>
          </a:p>
          <a:p>
            <a:pPr algn="l" indent="0" marL="0">
              <a:buNone/>
            </a:pPr>
            <a:r>
              <a:rPr lang="en-US" sz="1250" dirty="0">
                <a:solidFill>
                  <a:srgbClr val="1E6B52"/>
                </a:solidFill>
                <a:latin typeface="Calibri" pitchFamily="34" charset="0"/>
                <a:cs typeface="Amiri" pitchFamily="2" charset="-78"/>
              </a:rPr>
              <a:t>Step 2: boy or girl? Girl → add -īna.</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producer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تَعُودُ؟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مِنَ الوَقْتِ تَدْرُسِينَ؟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مَرَّةً تَتَمَرَّنُ؟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تَفْعَلِينَ ذٰلِكَ دَائِمًا؟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لِمَاذَا تُفَضِّلُ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أَصْعَبُ جُزْءٍ؟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تَنَامِينَ؟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رُوتِينُكَ مُنَظَّمٌ؟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Frequency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 evaluation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Time /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تَعُودُ؟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مِنَ الوَقْتِ تَدْرُسِينَ؟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تَنَامِينَ؟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Frequency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مَرَّةً تَتَمَرَّنُ؟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تَفْعَلِينَ ذٰلِكَ دَائِمًا؟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Reason / evaluation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لِمَاذَا تُفَضِّلُ ذٰلِكَ؟</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أَصْعَبُ جُزْءٍ؟</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رُوتِينُكَ مُنَظَّمٌ؟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useful follow-up after “I read every evening.”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السَّاعَةُ الآنَ؟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المَحَطَّةُ؟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تَقْرَأُ؟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“Do you help your family?”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تُسَاعِدُ أُسْرَتَكَ؟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تُسَاعِدِينَ أُسْرَتَكِ؟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تُسَاعِدُ أُسْرَتَهَا؟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duration?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مَرَّةً تَذْهَبُ؟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مِنَ الوَقْتِ تَقْضِي؟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مَنْ تَذْهَبُ؟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interview pair.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تَعُودُ؟ — لِأَنَّنِي مُتْعَبٌ.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تَعُودِينَ؟ — فِي الرَّابِعَةِ.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تَعُودِينَ؟ — أَعُودُ فِي الرَّابِعَةِ.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useful follow-up after “I read every evening.”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السَّاعَةُ الآنَ؟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أَيْنَ المَحَطَّةُ؟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تَقْرَأُ؟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develops the same topic.</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“Do you help your family?”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تُسَاعِدُ أُسْرَتَكَ؟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تُسَاعِدِينَ أُسْرَتَكِ؟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تُسَاعِدُ أُسْرَتَهَا؟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verb and possessive suffix both match the listener.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for duration?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مَرَّةً تَذْهَبُ؟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مِنَ الوَقْتِ تَقْضِي؟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مَنْ تَذْهَبُ؟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مِنَ الوَقْتِ</a:t>
            </a:r>
            <a:pPr algn="l" indent="0" marL="0">
              <a:buNone/>
            </a:pPr>
            <a:r>
              <a:rPr lang="en-US" sz="1050" i="1" dirty="0">
                <a:solidFill>
                  <a:srgbClr val="8A6D1E"/>
                </a:solidFill>
                <a:latin typeface="Calibri" pitchFamily="34" charset="0"/>
                <a:cs typeface="Amiri" pitchFamily="2" charset="-78"/>
              </a:rPr>
              <a:t> asks how much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interview pair.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تَعُودُ؟ — لِأَنَّنِي مُتْعَبٌ.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لِمَاذَا تَعُودِينَ؟ — فِي الرَّابِعَةِ.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مَتَى تَعُودِينَ؟ — أَعُودُ فِي الرَّابِعَةِ.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matches a feminine time question.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مَاذَا تَفْعَلِينَ؟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This question is to a BOY. Remove what?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هَلْ تُسَاعِدُ أُسْرَتَكِ؟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This question is to a GIRL: verb AND ending must match.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لِمَاذَا؟ — فِي السَّابِعَةِ.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time answers which question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مَاذَا تَفْعَلِينَ؟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مَاذَا تَفْعَلُ؟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Remove </a:t>
            </a:r>
            <a:pPr algn="l" indent="0" marL="0">
              <a:buNone/>
            </a:pPr>
            <a:r>
              <a:rPr lang="ar-SA" altLang="en-US" sz="1500" b="1" dirty="0">
                <a:solidFill>
                  <a:srgbClr val="1B3B6F"/>
                </a:solidFill>
                <a:latin typeface="Amiri" pitchFamily="2" charset="-78"/>
                <a:cs typeface="Amiri" pitchFamily="2" charset="-78"/>
              </a:rPr>
              <a:t>ـين</a:t>
            </a:r>
            <a:pPr algn="l" indent="0" marL="0">
              <a:buNone/>
            </a:pPr>
            <a:r>
              <a:rPr lang="en-US" sz="1150" b="1" dirty="0">
                <a:solidFill>
                  <a:srgbClr val="1B3B6F"/>
                </a:solidFill>
                <a:latin typeface="Calibri" pitchFamily="34" charset="0"/>
                <a:cs typeface="Amiri" pitchFamily="2" charset="-78"/>
              </a:rPr>
              <a:t> for one masculine listener.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هَلْ تُسَاعِدُ أُسْرَتَكِ؟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هَلْ تُسَاعِدِينَ أُسْرَتَكِ؟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verb and possessive ending must match.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لِمَاذَا؟ — فِي السَّابِعَةِ.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مَتَى؟ — فِي السَّابِعَةِ.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Match the question word to the information.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student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information is requested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wake-up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bedtime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Omar take the bus?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dislikes walking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is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month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sleeping?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the bus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want to improve?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wake later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reduce phone time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homework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مَتَى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قَبْلَ أَنْ أَنَامَ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المُذِيعَةُ: مَتَى تَسْتَيْقِظُ يَا عُمَرُ؟ عُمَرُ: أَسْتَيْقِظُ فِي السَّادِسَةِ وَالنِّصْفِ.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Presenter: When do you wake up, Omar? Omar: I wake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المُذِيعَةُ: وَكَيْفَ تَذْهَبُ إِلَى المَدْرَسَةِ؟ عُمَرُ: أَسْتَقِلُّ الحَافِلَةَ لِأَنَّ المَدْرَسَةَ بَعِيدَةٌ.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how do you go to school? — I take the bus because school is far.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المُذِيعَةُ: كَمْ مَرَّةً تَتَمَرَّنُ؟ عُمَرُ: مَرَّتَيْنِ فِي الأُسْبُوعِ، يَوْمَيِ الثُّلَاثَاءِ وَالخَمِيسِ.</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often do you train? — Twice a week, on Tuesdays and Thursdays.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المُذِيعَةُ: مَاذَا تَفْعَلُ فِي المَسَاءِ؟ عُمَرُ: أُكْمِلُ وَاجِبِي، ثُمَّ أَقْرَأُ قَبْلَ أَنْ أَنَامَ.</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do you do in the evening? — I finish my homework, then I read before I sleep.</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cs typeface="Amiri" pitchFamily="2" charset="-78"/>
              </a:rPr>
              <a:t>المُذِيعَةُ: مَا الجُزْءُ الَّذِي تُرِيدُ أَنْ تُحَسِّنَهُ؟ عُمَرُ: أُرِيدُ أَنْ أَقْضِيَ وَقْتًا أَقَلَّ عَلَى هَاتِفِي.</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Which part do you want to improve? — I want to spend less time on my phone.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information is requested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wake-up time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bedtime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question is </a:t>
            </a:r>
            <a:pPr algn="l" indent="0" marL="0">
              <a:buNone/>
            </a:pPr>
            <a:r>
              <a:rPr lang="ar-SA" altLang="en-US" sz="1350" dirty="0">
                <a:solidFill>
                  <a:srgbClr val="8A6D1E"/>
                </a:solidFill>
                <a:latin typeface="Amiri" pitchFamily="2" charset="-78"/>
                <a:cs typeface="Amiri" pitchFamily="2" charset="-78"/>
              </a:rPr>
              <a:t>مَتَى تَسْتَيْقِظُ؟</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Omar take the bus?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dislikes walking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is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school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 المَدْرَسَةَ بَعِيدَةٌ.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month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do before sleeping?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the bus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أَقْرَأُ قَبْلَ أَنْ أَنَامَ.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want to improve?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wake later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reduce phone time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homework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أَقْضِيَ وَقْتًا أَقَلَّ عَلَى هَاتِفِي.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مَتَى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قَبْلَ أَنْ أَنَامَ</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Conduct a sustained routine interview</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اِسْأَلْ عَنْ وَقْتِ الاِسْتِيقَاظِ وَعَنِ السَّفَرِ إِلَى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اِسْأَلْ عَنِ التَّكْرَارِ.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اِسْأَلْ عَنْ رُوتِينِ المَسَاءِ.</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اِسْأَلْ سُؤَالَ مُتَابَعَةٍ عَنِ السَّبَبِ أَوِ التَّحْسِينِ.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cs typeface="Amiri" pitchFamily="2" charset="-78"/>
              </a:rPr>
              <a:t>مَتَى تَسْتَيْقِظُ / تَسْتَيْقِظِينَ؟ كَيْفَ تَذْهَبُ / تَذْهَبِينَ؟</a:t>
            </a:r>
            <a:endParaRPr lang="ar-SA" sz="13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كَمْ مَرَّةً ___ فِي الأُسْبُوعِ؟</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لِمَاذَا ___ ؟ مَا أَصْعَبُ جُزْءٍ 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يَسْتَيْقِظُ / تَسْتَيْقِظُ ___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كَمْ مَرَّةً تَتَمَرَّنِينَ؟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often do you train?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أَتَمَرَّنُ مَرَّتَيْنِ فِي الأُسْبُوعِ.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train twice a week.</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cs typeface="Amiri" pitchFamily="2" charset="-78"/>
              </a:rPr>
              <a:t>5 questions + answers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Ask and answer four accurate questions.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five questions to a boy OR a girl and your partner’s answers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relevant follow-ups and report the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questions, four answers with time, frequency or a reason, plus one follow-up question.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Conduct a sustained interview and evaluate the evidence critically.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profile from the interview — he/she forms, time, frequency, before/after, a reason and your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أَخْبِرْنِي / أَخْبِرِينِي أَكْثَرَ.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Tell me more (to a boy / girl).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With whom do you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مِنَ الوَقْتِ تَقْضِي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time do you spend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سَأَلْتُ صَدِيقِي / صَدِيقَتِي عَنْ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asked my friend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 إِنَّهُ / قَالَتْ إِنَّهَا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said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تَسْتَيْقِظُ؟ / مَتَى تَسْتَيْقِظِينَ؟</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do you wake up? (boy / girl)</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تَذْهَبُ / تَذْهَبِينَ إِلَى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do you go to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مَرَّةً تَتَمَرَّنُ / تَتَمَرَّنِينَ؟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often do you train?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 تَفْعَلِينَ فِي المَسَاءِ؟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do you do in the evening?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مَاذَا  ·  مَتَى  ·  كَيْفَ  ·  كَمْ مَرَّةً  ·  لِمَاذَا  ·  مَعَ مَنْ  ·  أَيْنَ  ·  تَفْعَلُ  ·  تَفْعَلِينَ  ·  تَسْتَيْقِظِينَ  ·  لِأَنَّ  ·  أَخْبِرْنِي أَكْثَرَ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100–120-word profile based on an imagined or real routine interview.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State whom you interviewed.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Report at least four answers using he/she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time, frequency, before/after and a reason.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clear pronoun and suffix reference.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Finish with your evidence-based judgement.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سَأَلْتُ زَمِيلَتِي عَنْ رُوتِينِهَا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asked my classmate about her routine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فَأَجَابَتْ أَنَّهَا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she answered that she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عِنْدَمَا سَأَلْتُهُ عَنِ الرِّيَاضَةِ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asked him about sport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أَخْبَرَنِي أَنَّهُ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told me that he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 إِجَابَاتِهَا كَانَتْ دَقِيقَةً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her answers were precise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سَأَلْتُ صَدِيقِي عَنْ رُوتِينِهِ اليَوْمِيِّ. أَوَّلًا سَأَلْتُهُ مَتَى يَسْتَيْقِظُ، فَقَالَ إِنَّهُ يَسْتَيْقِظُ فِي السَّادِسَةِ وَالنِّصْفِ. يَذْهَبُ إِلَى المَدْرَسَةِ بِالحَافِلَةِ لِأَنَّهَا بَعِيدَةٌ عَنْ بَيْتِهِ. عِنْدَمَا سَأَلْتُهُ عَنِ الرِّيَاضَةِ، أَخْبَرَنِي أَنَّهُ يَتَمَرَّنُ ثَلَاثَ مَرَّاتٍ فِي الأُسْبُوعِ. بَعْدَ المَدْرَسَةِ يُكْمِلُ وَاجِبَهُ قَبْلَ أَنْ يَخْرُجَ مَعَ أَصْدِقَائِهِ. فِي المَسَاءِ يُحَضِّرُ حَقِيبَتَهُ وَيَقْرَأُ قَلِيلًا. قَالَ إِنَّهُ يُرِيدُ أَنْ يَنَامَ مُبَكِّرًا. فِي رَأْيِي، رُوتِينُهُ نَشِيطٌ، وَلٰكِنَّهُ يَحْتَاجُ إِلَى رَاحَةٍ أَكْثَرَ.</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asked my friend about his daily routine. First I asked him when he wakes up, and he said that he wakes up at half past six. He goes to school by bus because it is far from his house. When I asked him about sport, he told me that he trains three times a week. After school he finishes his homework before he goes out with his friends. In the evening he prepares his bag and reads a little. He said that he wants to sleep early. In my opinion, his routine is active, but he needs more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reporting verbs (asked, said, told)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he-verbs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 with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five different question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answers fit the question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Questions to a girl end in -īna.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at least one follow-up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profile reports the answers with he/she.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يَفْعَلُ؟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a:t>
            </a:r>
            <a:pPr algn="l" indent="0" marL="0">
              <a:buNone/>
            </a:pPr>
            <a:r>
              <a:rPr lang="ar-SA" altLang="en-US" sz="1650" b="1" dirty="0">
                <a:solidFill>
                  <a:srgbClr val="1B3B6F"/>
                </a:solidFill>
                <a:latin typeface="Amiri" pitchFamily="2" charset="-78"/>
                <a:cs typeface="Amiri" pitchFamily="2" charset="-78"/>
              </a:rPr>
              <a:t>متى؟</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لِأَنَّنِي مُتْعَبٌ.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السَّادِسَةِ.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مَرَّاتٍ.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do you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تَذْهَبُ؟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تَذْهَبِينَ؟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يَذْهَبُ؟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do you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مَاذَا تَفْعَلِينَ؟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مَاذَا تَفْعَلُ؟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مَاذَا يَفْعَلُ؟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second person ends in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a:t>
            </a:r>
            <a:pPr algn="l" indent="0" marL="0">
              <a:buNone/>
            </a:pPr>
            <a:r>
              <a:rPr lang="ar-SA" altLang="en-US" sz="1650" b="1" dirty="0">
                <a:solidFill>
                  <a:srgbClr val="1B3B6F"/>
                </a:solidFill>
                <a:latin typeface="Amiri" pitchFamily="2" charset="-78"/>
                <a:cs typeface="Amiri" pitchFamily="2" charset="-78"/>
              </a:rPr>
              <a:t>متى؟</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لِأَنَّنِي مُتْعَبٌ.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السَّادِسَةِ.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ثَلَاثَ مَرَّاتٍ.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for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boy “How do you go?”</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كَيْفَ تَذْهَبُ؟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كَيْفَ تَذْهَبِينَ؟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كَيْفَ يَذْهَبُ؟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second person has no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Interview notes become a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سَأَلْتُ زَمِيلَتِي سَلْمَى عَنْ رُوتِينِهَا اليَوْمِيِّ. قُلْتُ لَهَا: «مَتَى تَسْتَيْقِظِينَ؟» فَأَجَابَتْ أَنَّهَا تَسْتَيْقِظُ فِي السَّادِسَةِ وَالرُّبْعِ. ثُمَّ سَأَلْتُهَا كَيْفَ تَذْهَبُ إِلَى المَدْرَسَةِ، فَقَالَتْ إِنَّهَا تَمْشِي مَعَ أُخْتِهَا. تَتَمَرَّنُ سَلْمَى ثَلَاثَ مَرَّاتٍ فِي الأُسْبُوعِ، وَتُفَضِّلُ التَّمْرِينَ بَعْدَ المَدْرَسَةِ لِأَنَّهُ يُسَاعِدُهَا عَلَى التَّرْكِيزِ. عِنْدَمَا سَأَلْتُهَا عَنْ المَسَاءِ، أَوْضَحَتْ أَنَّهَا تُرَاجِعُ دُرُوسَهَا قَبْلَ أَنْ تَسْتَعْمِلَ هَاتِفَهَا. فِي رَأْيِي، رُوتِينُهَا مُنَظَّمٌ لِأَنَّ إِجَابَاتِهَا كَانَتْ دَقِيقَةً وَمُتَوَازِنَةً.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سَأَلْتُ زَمِيلَتِي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asked my classmate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قُلْتُ لَهَا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said to her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فَأَجَابَتْ أَنَّهَا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she answered that she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فَقَالَتْ إِنَّهَا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she said that she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تَمْشِي مَعَ أُخْتِهَا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walks with her sister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تُفَضِّلُ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prefers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التَّرْكِيزِ</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concentration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أَوْضَحَتْ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explained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دَقِيقَةً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precise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مُتَوَازِنَةً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balanced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did the writer interview?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Salma</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 travel?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a bus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cycles alone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walks with her sister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train?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weekly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monthly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prefer after-school training?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free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helps concentration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 insists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before phone use?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revision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late wake-up</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bus journey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precise, balanced answers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did the writer interview?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Omar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Salma</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زَمِيلَتِي سَلْمَى.</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Salma travel?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a bus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cycles alone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walks with her sister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تَمْشِي مَعَ أُخْتِهَا.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she train?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 times weekly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monthly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ثَلَاثَ مَرَّاتٍ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prefer after-school training?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free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helps concentration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 insists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 يُسَاعِدُهَا عَلَى التَّرْكِيزِ.</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before phone use?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revision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تُرَاجِعُ دُرُوسَهَا قَبْلَ أَنْ تَسْتَعْمِلَ هَاتِفَهَا.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evidence supports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late wake-up</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bus journey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precise, balanced answers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إِجَابَاتُهَا كَانَتْ دَقِيقَةً وَمُتَوَازِنَةً.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Arabic interview response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“What do you do after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 بَعْدَ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تَفْعَلِينَ بَعْدَ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يَفْعَلُ بَعْدَ المَدْرَسَةِ؟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the question </a:t>
            </a:r>
            <a:pPr algn="l" indent="0" marL="0">
              <a:buNone/>
            </a:pPr>
            <a:r>
              <a:rPr lang="ar-SA" altLang="en-US" sz="1650" b="1" dirty="0">
                <a:solidFill>
                  <a:srgbClr val="1B3B6F"/>
                </a:solidFill>
                <a:latin typeface="Amiri" pitchFamily="2" charset="-78"/>
                <a:cs typeface="Amiri" pitchFamily="2" charset="-78"/>
              </a:rPr>
              <a:t>مَتَى تَعُودُ إِلَى البَيْتِ؟</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الرَّابِعَةِ وَالنِّصْفِ.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 البَيْتَ قَرِيبٌ.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مَرَّاتٍ فِي الأُسْبُوعِ.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how often he exercises.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تَتَمَرَّنُ؟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تَتَمَرَّنِينَ؟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مَرَّةً تَتَمَرَّنُ؟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answer is:</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أَذْهَبُ بِالحَافِلَةِ لِأَنَّ المَدْرَسَةَ بَعِيدَةٌ</a:t>
            </a:r>
            <a:pPr algn="l" indent="0" marL="0">
              <a:buNone/>
            </a:pPr>
            <a:r>
              <a:rPr lang="en-US" sz="1000" b="1" dirty="0">
                <a:solidFill>
                  <a:srgbClr val="1F2A37"/>
                </a:solidFill>
                <a:latin typeface="Calibri" pitchFamily="34" charset="0"/>
                <a:cs typeface="Amiri" pitchFamily="2" charset="-78"/>
              </a:rPr>
              <a:t>. Choose the best follow-up question.</a:t>
            </a:r>
            <a:endParaRPr lang="en-US"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مَرَّةً تَذْهَبُ؟</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تَنَامُ؟</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لَا تَمْشِي؟</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matches the answer </a:t>
            </a:r>
            <a:pPr algn="l" indent="0" marL="0">
              <a:buNone/>
            </a:pPr>
            <a:r>
              <a:rPr lang="ar-SA" altLang="en-US" sz="1650" b="1" dirty="0">
                <a:solidFill>
                  <a:srgbClr val="1B3B6F"/>
                </a:solidFill>
                <a:latin typeface="Amiri" pitchFamily="2" charset="-78"/>
                <a:cs typeface="Amiri" pitchFamily="2" charset="-78"/>
              </a:rPr>
              <a:t>ثَلَاثَ مَرَّاتٍ فِي الأُسْبُوعِ؟</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مَرَّةً تَتَمَرَّنُ؟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مَتَى تَعُودُ؟</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لِمَاذَا تُرَاجِعُ؟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most developed interview response to </a:t>
            </a:r>
            <a:pPr algn="l" indent="0" marL="0">
              <a:buNone/>
            </a:pPr>
            <a:r>
              <a:rPr lang="ar-SA" altLang="en-US" sz="1550" b="1" dirty="0">
                <a:solidFill>
                  <a:srgbClr val="1B3B6F"/>
                </a:solidFill>
                <a:latin typeface="Amiri" pitchFamily="2" charset="-78"/>
                <a:cs typeface="Amiri" pitchFamily="2" charset="-78"/>
              </a:rPr>
              <a:t>كَمْ مَرَّةً تَتَمَرَّنُ وَلِمَاذَا؟</a:t>
            </a:r>
            <a:endParaRPr lang="en-US" sz="12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مَرَّتَيْنِ.</a:t>
            </a:r>
            <a:endParaRPr lang="ar-SA" sz="1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أَتَمَرَّنُ مَرَّتَيْنِ فِي الأُسْبُوعِ لِأَنَّ الرِّيَاضَةَ تُسَاعِدُنِي عَلَى التَّرْكِيزِ.</a:t>
            </a:r>
            <a:endParaRPr lang="ar-SA" sz="1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رِيَاضَةٌ جَيِّدَةٌ.</a:t>
            </a:r>
            <a:endParaRPr lang="ar-SA" sz="1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girl: “What do you do after school?”</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تَفْعَلُ بَعْدَ المَدْرَسَةِ؟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تَفْعَلِينَ بَعْدَ المَدْرَسَةِ؟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يَفْعَلُ بَعْدَ المَدْرَسَةِ؟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When addressing one female, the five-verb form ends in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تَفْعَلِينَ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fits the question </a:t>
            </a:r>
            <a:pPr algn="l" indent="0" marL="0">
              <a:buNone/>
            </a:pPr>
            <a:r>
              <a:rPr lang="ar-SA" altLang="en-US" sz="1650" b="1" dirty="0">
                <a:solidFill>
                  <a:srgbClr val="1B3B6F"/>
                </a:solidFill>
                <a:latin typeface="Amiri" pitchFamily="2" charset="-78"/>
                <a:cs typeface="Amiri" pitchFamily="2" charset="-78"/>
              </a:rPr>
              <a:t>مَتَى تَعُودُ إِلَى البَيْتِ؟</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الرَّابِعَةِ وَالنِّصْفِ.</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 البَيْتَ قَرِيبٌ.</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 مَرَّاتٍ فِي الأُسْبُوعِ.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for time, so the answer must provide a time.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boy how often he exercises.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تَتَمَرَّنُ؟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لِمَاذَا تَتَمَرَّنِينَ؟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مَرَّةً تَتَمَرَّنُ؟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frequency, and </a:t>
            </a:r>
            <a:pPr algn="l" indent="0" marL="0">
              <a:buNone/>
            </a:pPr>
            <a:r>
              <a:rPr lang="ar-SA" altLang="en-US" sz="1350" dirty="0">
                <a:solidFill>
                  <a:srgbClr val="8A6D1E"/>
                </a:solidFill>
                <a:latin typeface="Amiri" pitchFamily="2" charset="-78"/>
                <a:cs typeface="Amiri" pitchFamily="2" charset="-78"/>
              </a:rPr>
              <a:t>تَتَمَرَّنُ</a:t>
            </a:r>
            <a:pPr algn="l" indent="0" marL="0">
              <a:buNone/>
            </a:pPr>
            <a:r>
              <a:rPr lang="en-US" sz="1050" i="1" dirty="0">
                <a:solidFill>
                  <a:srgbClr val="8A6D1E"/>
                </a:solidFill>
                <a:latin typeface="Calibri" pitchFamily="34" charset="0"/>
                <a:cs typeface="Amiri" pitchFamily="2" charset="-78"/>
              </a:rPr>
              <a:t> addresses one male.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answer is:</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أَذْهَبُ بِالحَافِلَةِ لِأَنَّ المَدْرَسَةَ بَعِيدَةٌ</a:t>
            </a:r>
            <a:pPr algn="l" indent="0" marL="0">
              <a:buNone/>
            </a:pPr>
            <a:r>
              <a:rPr lang="en-US" sz="1000" b="1" dirty="0">
                <a:solidFill>
                  <a:srgbClr val="1F2A37"/>
                </a:solidFill>
                <a:latin typeface="Calibri" pitchFamily="34" charset="0"/>
                <a:cs typeface="Amiri" pitchFamily="2" charset="-78"/>
              </a:rPr>
              <a:t>. Choose the best follow-up question.</a:t>
            </a:r>
            <a:endParaRPr lang="en-US"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مَرَّةً تَذْهَبُ؟</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تَنَامُ؟</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لِمَاذَا لَا تَمْشِي؟</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950" i="1" dirty="0">
                <a:solidFill>
                  <a:srgbClr val="8A6D1E"/>
                </a:solidFill>
                <a:latin typeface="Calibri" pitchFamily="34" charset="0"/>
                <a:cs typeface="Amiri" pitchFamily="2" charset="-78"/>
              </a:rPr>
              <a:t>The answer gives a transport choice and reason, so asking why the speaker does not walk is a relevant follow-up.</a:t>
            </a:r>
            <a:endParaRPr lang="en-US" sz="9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matches the answer </a:t>
            </a:r>
            <a:pPr algn="l" indent="0" marL="0">
              <a:buNone/>
            </a:pPr>
            <a:r>
              <a:rPr lang="ar-SA" altLang="en-US" sz="1650" b="1" dirty="0">
                <a:solidFill>
                  <a:srgbClr val="1B3B6F"/>
                </a:solidFill>
                <a:latin typeface="Amiri" pitchFamily="2" charset="-78"/>
                <a:cs typeface="Amiri" pitchFamily="2" charset="-78"/>
              </a:rPr>
              <a:t>ثَلَاثَ مَرَّاتٍ فِي الأُسْبُوعِ؟</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كَمْ مَرَّةً تَتَمَرَّنُ؟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مَتَى تَعُودُ؟</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لِمَاذَا تُرَاجِعُ؟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answer states frequency, so it matches </a:t>
            </a:r>
            <a:pPr algn="l" indent="0" marL="0">
              <a:buNone/>
            </a:pPr>
            <a:r>
              <a:rPr lang="ar-SA" altLang="en-US" sz="1350" dirty="0">
                <a:solidFill>
                  <a:srgbClr val="8A6D1E"/>
                </a:solidFill>
                <a:latin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most developed interview response to </a:t>
            </a:r>
            <a:pPr algn="l" indent="0" marL="0">
              <a:buNone/>
            </a:pPr>
            <a:r>
              <a:rPr lang="ar-SA" altLang="en-US" sz="1550" b="1" dirty="0">
                <a:solidFill>
                  <a:srgbClr val="1B3B6F"/>
                </a:solidFill>
                <a:latin typeface="Amiri" pitchFamily="2" charset="-78"/>
                <a:cs typeface="Amiri" pitchFamily="2" charset="-78"/>
              </a:rPr>
              <a:t>كَمْ مَرَّةً تَتَمَرَّنُ وَلِمَاذَا؟</a:t>
            </a:r>
            <a:endParaRPr lang="en-US" sz="12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مَرَّتَيْنِ.</a:t>
            </a:r>
            <a:endParaRPr lang="ar-SA" sz="10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أَتَمَرَّنُ مَرَّتَيْنِ فِي الأُسْبُوعِ لِأَنَّ الرِّيَاضَةَ تُسَاعِدُنِي عَلَى التَّرْكِيزِ.</a:t>
            </a:r>
            <a:endParaRPr lang="ar-SA" sz="10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رِيَاضَةٌ جَيِّدَةٌ.</a:t>
            </a:r>
            <a:endParaRPr lang="ar-SA" sz="10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strong answer gives the action, exact frequency and a relevant reason.</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D1-L08 · Weekend Routine — What Do You Do at the Weekend?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عُطْلَةُ نِهَايَةِ الأُسْبُوعِ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weekend (break)</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أَزُورُ أَقَارِبِي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visit my relatives</a:t>
            </a:r>
            <a:pPr indent="0" marL="0">
              <a:buNone/>
            </a:pPr>
            <a:r>
              <a:rPr lang="en-US" sz="1000" i="1" dirty="0">
                <a:solidFill>
                  <a:srgbClr val="5A6472"/>
                </a:solidFill>
                <a:latin typeface="Calibri" pitchFamily="34" charset="0"/>
                <a:cs typeface="Amiri" pitchFamily="2" charset="-78"/>
              </a:rPr>
              <a:t>  relative: قَرِيبٌ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أَلْتَقِي بِأَصْدِقَائِي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meet my friends</a:t>
            </a:r>
            <a:pPr indent="0" marL="0">
              <a:buNone/>
            </a:pPr>
            <a:r>
              <a:rPr lang="en-US" sz="1000" i="1" dirty="0">
                <a:solidFill>
                  <a:srgbClr val="5A6472"/>
                </a:solidFill>
                <a:latin typeface="Calibri" pitchFamily="34" charset="0"/>
                <a:cs typeface="Amiri" pitchFamily="2" charset="-78"/>
              </a:rPr>
              <a:t>  friend: صَدِيقٌ / صَدِيقَةٌ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أَتَسَوَّقُ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go shopping</a:t>
            </a:r>
            <a:pPr indent="0" marL="0">
              <a:buNone/>
            </a:pPr>
            <a:r>
              <a:rPr lang="en-US" sz="1000" i="1" dirty="0">
                <a:solidFill>
                  <a:srgbClr val="5A6472"/>
                </a:solidFill>
                <a:latin typeface="Calibri" pitchFamily="34" charset="0"/>
                <a:cs typeface="Amiri" pitchFamily="2" charset="-78"/>
              </a:rPr>
              <a:t>  he: يَتَسَوَّقُ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وَقْتُ الفَرَاغِ</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free time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is your weekend different from a school day? Think of three differences.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تَفْعَلُ فِي نِهَايَةِ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D1-L07: the vocabulary tab (questions to a boy / a girl) and the sorter “Interview producer”.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Interview a family member (4 questions + 1 follow-up) and write the answers.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profile from the interview.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D1-L08 · Weekend Routine — What Do You Do at the Weekend?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رُوتِينُ عُطْلَةِ نِهَايَةِ الأُسْبُوعِ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listener decides the ending — girl → -īna.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D1-L07 · Asking About Daily Routine — What Do You Do?</dc:title>
  <dc:subject>PptxGenJS Presentation</dc:subject>
  <dc:creator>Al Madina Online School · Arabic Department</dc:creator>
  <cp:lastModifiedBy>Al Madina Online School · Arabic Department</cp:lastModifiedBy>
  <cp:revision>1</cp:revision>
  <dcterms:created xsi:type="dcterms:W3CDTF">2026-10-11T06:40:29Z</dcterms:created>
  <dcterms:modified xsi:type="dcterms:W3CDTF">2026-10-11T06:40:29Z</dcterms:modified>
</cp:coreProperties>
</file>