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WORKSHOP AT A GLANCE — the third lesson of the week (Learn D1-L07 · Learn D1-L08 · Apply). 60 minutes on Teams: teacher-led in the main room for the short whole-class steps, pairs or breakout rooms of two or three for speaking, individual writing.
0–3 Welcome + plan · 3–6 What we learnt this week · PART 1 REMEMBER: word race (4) · which lesson? sort (4) · PART 2 SPEAK: new dialogue (5) · mixed question cards (6) · role-play card (7) · one minute talk (4) · PART 3 WRITE: sentence builder (3) · spot and fix (3) · connected writing (12) + buddy check (3) · CHECK YOURSELF: models + self-check (5).
PURPOSE: students APPLY the language of BOTH lessons in new contexts — the question cards, builder and common mistakes come from the two practice rooms; the dialogue, role-play, talk and writing task are new and join the lessons together.
CONTENT: D1-L07 (Asking About Daily Routine — What Do You Do?) and D1-L08 (Weekend Routine — What Do You Do at the Weekend?).
SET-UP: share this deck or its PDF in the chat. Pairs or breakout rooms for Part 2 (same-level rooms keep the routes simple). Everyone writes in their own book or document in Part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min). Apply = use what you learnt in D1-L07 and D1-L08 in a NEW situation. Point out the step number in the top-left of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WE LEARNT (3 min, main room). Ask: “What can you say after D1-L07? After D1-L08?” Take two answers in the chat for each lesson (one word or one sentence is enough). Then read objective 3 — today’s new situation that needs BOTH lessons. Students tick their route goals at the end of the lesson.
D1-L07 language: question words (mādhā · matā · kam marratan · kayfa · limādhā · maʿa man · ayna); addressing a boy (tafʿalu), a girl (tafʿalīna) or a group (tafʿalūna); hal for yes / no; follow-up questions to keep an interview going
D1-L08 language: contrast: ammā … fa- · baynamā · ʿalā ʿaks; condition with idhā + past verb (idhā kāna ʿindī waqtun …); flexible frequency (ghāliban mā · fī baʿḍi al-aḥyāni); comparatives (aṭwal · akthar); a judgement about balance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(4 min). Quick, energetic retrieval. Model one round with a student, then pairs race. Collect the best score in the chat. Listen for words students hesitate over and revisit them in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D1-L07.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D1-L08.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3 (5 min). A NEW dialogue that joins D1-L07 and D1-L08. Teacher reads it once with a confident student; then pairs. Ask: “Which lines are from D1-L07? Which from D1-L08?” Question forms to a girl (تَفْعَلِينَ · تَقْضِينَ) and to a group (تَفْعَلُونَ) come from D1-L07; أَمَّا … فَ… · غَالِبًا مَا · إِذَا كَانَ … from D1-L08.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(6 min, pairs or rooms). The questions come from the two practice rooms, now mixed so students switch between the lessons. Teacher: visit rooms and ask one Stretch follow-up question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5 (7 min). One NEW situation that needs both lessons: questions to a boy, a girl and a group, with follow-ups (D1-L07) and the weekend with contrast, frequency and إِذَا (D1-L08). FADED SUPPORT: tasks 1–2 show the plan; students write their own plan for 3–5. To a girl Partner A says: to a girl the reporter asks: مَتَى تَسْتَيْقِظِينَ؟ · مَاذَا تَفْعَلِينَ؟ — to a group: تَفْعَلُونَ.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(4 min). Fluency: one talk that uses BOTH lessons. Two volunteers speak to the whole class at the end (open mic).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D1-L07 and D1-L08 practice rooms. Read the English, choose the correct part from each column (start on the RIGHT). Pairs agree, then check. Students copy the correct sentences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D1-L07 and D1-L08 practice rooms. Read the English, choose the correct part from each column (start on the RIGHT). Pairs agree, then check. Students copy the correct sentences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support. Core: use the Core frames for every bullet. Develop: use the Develop frames only if stuck. Stretch: no frames — add reasons, a time phrase and an extra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(10 min writing, everyone on their own). Core: frames for every bullet (50–60 words). Develop: 80–100 words, frames only if stuck. Stretch: no frames, add reasons and another time frame. Teacher reads ONE sentence per student (in the chat or the shared document) and gives one live correction.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BUDDY CHECK (3 min). Pairs swap texts (or share screens). Then everyone returns to the main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YOURSELF (2 min, main room). Each student finds one task they answered less fully and says it again using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 (65 words). CHECK YOURSELF (2 min). Find each bullet point in the model, and one phrase from D1-L07 and one from D1-L08. Then each student copies ONE phrase from the model into their own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YEAR 8  ·  DEVELOPMENT D1  ·  D1-L07 + D1-L08 · APPLY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D1-W04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Apply Workshop — The Weekend Interview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التَّطْبِيقِ — مُقَابَلَةُ نِهَايَةِ الأُسْبُوعِ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Students join question forms with the weekend: as reporters for the school website they interview classmates (to a boy, a girl or a group) about their weekends, ask follow-up questions, handle “Plan B” answers with 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, and write up the interview with a third-person summary.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Apply workshop · D1-L07 + D1-L08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Development · A2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Pathways › Development › D1 › D1-L08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24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PLAN · LEARN, LEARN, APPLY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Two lessons — now use them together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خُطُوَاتُ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6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 learnt: D1-L07 and D1-L08.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تَعَلَّمْنَا؟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1 · Remember: word race and “which lesson?” sort.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2F6FB0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تَذَكَّرْ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22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2 · Speak: say the model dialogue · question cards · role-play card · short talk.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19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3 · Write: sentence builder · spot and fix · write your text · buddy check.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اكْتُبْ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5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Check yourself with the models.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HOW THE WORKSHOP RUNS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Today there is no new language: you USE the words and structures of the last two lessons together. Everybody speaks in every step and everybody writes their own text. Choose your route — Core, Develop or Stretch — and move up when you are ready.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24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WHAT WE LEARNT THIS WEEK · D1-L07 + D1-L08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This week’s two lessons — and today’s goal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نُطَبِّقُ مَا تَعَلَّمْنَا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4663440" cy="4315968"/>
          </a:xfrm>
          <a:prstGeom prst="roundRect">
            <a:avLst>
              <a:gd name="adj" fmla="val 1695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202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TODAY YOU WILL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83464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سَتَتَعَلَّمُ اليَوْمَ</a:t>
            </a:r>
            <a:endParaRPr lang="ar-SA" sz="1600" dirty="0"/>
          </a:p>
        </p:txBody>
      </p:sp>
      <p:sp>
        <p:nvSpPr>
          <p:cNvPr id="18" name="Shape 15"/>
          <p:cNvSpPr/>
          <p:nvPr/>
        </p:nvSpPr>
        <p:spPr>
          <a:xfrm>
            <a:off x="685800" y="2395728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2286000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D1-L07: Asking About Daily Routine — What Do You Do?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85800" y="3291840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3182112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D1-L08: Weekend Routine — What Do You Do at the Weekend?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4187952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4187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188720" y="4078224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Apply both: Interview card — the school website reporter · Interview write-up for the school website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349240" y="181051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32120" y="194767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532120" y="194767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766560" y="1947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Everyone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532120" y="228600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Answer questions from BOTH lessons in full sentences.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5532120" y="26974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Write the text using the frames.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349240" y="327355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532120" y="341071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532120" y="341071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766560" y="34107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Most of us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5532120" y="374904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Join both lessons in one conversation and a one minute talk.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5532120" y="416052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Write the text, frames only if stuck.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349240" y="473659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532120" y="48737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532120" y="487375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766560" y="48737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Aim high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5532120" y="52120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Speak without notes; add reasons and opinions.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5532120" y="562356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Use more than one tense; give and justify opinions.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1 · WORD RACE · 4 MINUTES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Word race: two lessons, one race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سِبَاقُ الكَلِمَاتِ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1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🏁  English → Arabic, from both lessons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next two slides show words from D1-L07 and D1-L08. Partner A says a word in ENGLISH; Partner B says it in ARABIC. One point for every correct answer in 90 seconds — then swap.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Teacher: first round together (3 words from each slide).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Pairs: 90 seconds each, as many as you can.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Mix the lessons: one word from slide 1, one from slide 2.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Last round: use two words — one from each lesson — in ONE sentence.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the Arabic word clearly.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the word, then a short sentence with it.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Join a word from each lesson in one sentence with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 or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 / دَوْرُكِ!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 (m. / f.)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correct!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حَاوِلْ مَرَّةً أُخْرَى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try again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نُقْطَةٌ لَكَ / لَكِ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point for you (m. / f.)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D1-L07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D1-L07 · Asking About Daily Routine — What Do You Do?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الدَّرْسِ الأَوَّلِ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مَاذَا؟</a:t>
            </a:r>
            <a:endParaRPr lang="ar-SA" sz="3000" dirty="0"/>
          </a:p>
        </p:txBody>
      </p:sp>
      <p:sp>
        <p:nvSpPr>
          <p:cNvPr id="21" name="Text 18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mā-dhā?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مَرَّةً؟</a:t>
            </a:r>
            <a:endParaRPr lang="ar-SA" sz="3000" dirty="0"/>
          </a:p>
        </p:txBody>
      </p:sp>
      <p:sp>
        <p:nvSpPr>
          <p:cNvPr id="28" name="Text 25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many times / how often?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kam mar-ra-tan?</a:t>
            </a:r>
            <a:endParaRPr lang="en-US" sz="1350" dirty="0"/>
          </a:p>
        </p:txBody>
      </p:sp>
      <p:sp>
        <p:nvSpPr>
          <p:cNvPr id="29" name="Shape 26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3000" dirty="0"/>
          </a:p>
        </p:txBody>
      </p:sp>
      <p:sp>
        <p:nvSpPr>
          <p:cNvPr id="35" name="Text 32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li-mā-dhā?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8604504" y="4279392"/>
            <a:ext cx="139354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04504" y="4279392"/>
            <a:ext cx="1393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boy · girl · group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3" name="Text 40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تَفْعَلُ؟</a:t>
            </a:r>
            <a:endParaRPr lang="ar-SA" sz="3000" dirty="0"/>
          </a:p>
        </p:txBody>
      </p:sp>
      <p:sp>
        <p:nvSpPr>
          <p:cNvPr id="44" name="Text 41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do you do?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mā-dhā taf-ʿa-lu?</a:t>
            </a:r>
            <a:endParaRPr lang="en-US" sz="1350" dirty="0"/>
          </a:p>
        </p:txBody>
      </p:sp>
      <p:sp>
        <p:nvSpPr>
          <p:cNvPr id="45" name="Shape 42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group</a:t>
            </a:r>
            <a:endParaRPr lang="en-US" sz="700" dirty="0"/>
          </a:p>
        </p:txBody>
      </p:sp>
      <p:sp>
        <p:nvSpPr>
          <p:cNvPr id="47" name="Text 44"/>
          <p:cNvSpPr txBox="1"/>
          <p:nvPr/>
        </p:nvSpPr>
        <p:spPr>
          <a:xfrm>
            <a:off x="10588752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تَفْعَلُونَ</a:t>
            </a:r>
            <a:endParaRPr lang="ar-SA" sz="1350" dirty="0"/>
          </a:p>
        </p:txBody>
      </p:sp>
      <p:sp>
        <p:nvSpPr>
          <p:cNvPr id="48" name="Shape 45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girl</a:t>
            </a:r>
            <a:endParaRPr lang="en-US" sz="700" dirty="0"/>
          </a:p>
        </p:txBody>
      </p:sp>
      <p:sp>
        <p:nvSpPr>
          <p:cNvPr id="50" name="Text 47"/>
          <p:cNvSpPr txBox="1"/>
          <p:nvPr/>
        </p:nvSpPr>
        <p:spPr>
          <a:xfrm>
            <a:off x="9436608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تَفْعَلِينَ؟</a:t>
            </a:r>
            <a:endParaRPr lang="ar-SA" sz="1350" dirty="0"/>
          </a:p>
        </p:txBody>
      </p:sp>
      <p:sp>
        <p:nvSpPr>
          <p:cNvPr id="51" name="Shape 48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boy</a:t>
            </a:r>
            <a:endParaRPr lang="en-US" sz="750" dirty="0"/>
          </a:p>
        </p:txBody>
      </p:sp>
      <p:sp>
        <p:nvSpPr>
          <p:cNvPr id="53" name="Text 50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تَفْعَلُ؟</a:t>
            </a:r>
            <a:endParaRPr lang="ar-SA" sz="1500" dirty="0"/>
          </a:p>
        </p:txBody>
      </p:sp>
      <p:sp>
        <p:nvSpPr>
          <p:cNvPr id="54" name="Shape 51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5" name="Shape 52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4782312" y="4279392"/>
            <a:ext cx="139354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4782312" y="4279392"/>
            <a:ext cx="1393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boy · girl · group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1" name="Text 58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تَذْهَبُ؟</a:t>
            </a:r>
            <a:endParaRPr lang="ar-SA" sz="3000" dirty="0"/>
          </a:p>
        </p:txBody>
      </p:sp>
      <p:sp>
        <p:nvSpPr>
          <p:cNvPr id="62" name="Text 59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do you go?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kay-fa tadh-ha-bu?</a:t>
            </a:r>
            <a:endParaRPr lang="en-US" sz="1350" dirty="0"/>
          </a:p>
        </p:txBody>
      </p:sp>
      <p:sp>
        <p:nvSpPr>
          <p:cNvPr id="63" name="Shape 60"/>
          <p:cNvSpPr/>
          <p:nvPr/>
        </p:nvSpPr>
        <p:spPr>
          <a:xfrm>
            <a:off x="672084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77570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group</a:t>
            </a:r>
            <a:endParaRPr lang="en-US" sz="700" dirty="0"/>
          </a:p>
        </p:txBody>
      </p:sp>
      <p:sp>
        <p:nvSpPr>
          <p:cNvPr id="65" name="Text 62"/>
          <p:cNvSpPr txBox="1"/>
          <p:nvPr/>
        </p:nvSpPr>
        <p:spPr>
          <a:xfrm>
            <a:off x="6766560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تَذْهَبُونَ</a:t>
            </a:r>
            <a:endParaRPr lang="ar-SA" sz="1350" dirty="0"/>
          </a:p>
        </p:txBody>
      </p:sp>
      <p:sp>
        <p:nvSpPr>
          <p:cNvPr id="66" name="Shape 63"/>
          <p:cNvSpPr/>
          <p:nvPr/>
        </p:nvSpPr>
        <p:spPr>
          <a:xfrm>
            <a:off x="5568696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5623560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girl</a:t>
            </a:r>
            <a:endParaRPr lang="en-US" sz="700" dirty="0"/>
          </a:p>
        </p:txBody>
      </p:sp>
      <p:sp>
        <p:nvSpPr>
          <p:cNvPr id="68" name="Text 65"/>
          <p:cNvSpPr txBox="1"/>
          <p:nvPr/>
        </p:nvSpPr>
        <p:spPr>
          <a:xfrm>
            <a:off x="5614416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تَذْهَبِينَ؟</a:t>
            </a:r>
            <a:endParaRPr lang="ar-SA" sz="1350" dirty="0"/>
          </a:p>
        </p:txBody>
      </p:sp>
      <p:sp>
        <p:nvSpPr>
          <p:cNvPr id="69" name="Shape 66"/>
          <p:cNvSpPr/>
          <p:nvPr/>
        </p:nvSpPr>
        <p:spPr>
          <a:xfrm>
            <a:off x="441655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447141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boy</a:t>
            </a:r>
            <a:endParaRPr lang="en-US" sz="750" dirty="0"/>
          </a:p>
        </p:txBody>
      </p:sp>
      <p:sp>
        <p:nvSpPr>
          <p:cNvPr id="71" name="Text 68"/>
          <p:cNvSpPr txBox="1"/>
          <p:nvPr/>
        </p:nvSpPr>
        <p:spPr>
          <a:xfrm>
            <a:off x="446227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تَذْهَبُ؟</a:t>
            </a:r>
            <a:endParaRPr lang="ar-SA" sz="1500" dirty="0"/>
          </a:p>
        </p:txBody>
      </p:sp>
      <p:sp>
        <p:nvSpPr>
          <p:cNvPr id="72" name="Shape 69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3" name="Shape 70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75" name="Text 72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أَيْنَ؟</a:t>
            </a:r>
            <a:endParaRPr lang="ar-SA" sz="3000" dirty="0"/>
          </a:p>
        </p:txBody>
      </p:sp>
      <p:sp>
        <p:nvSpPr>
          <p:cNvPr id="76" name="Text 73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where?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ay-na?</a:t>
            </a:r>
            <a:endParaRPr lang="en-US" sz="1350" dirty="0"/>
          </a:p>
        </p:txBody>
      </p:sp>
      <p:sp>
        <p:nvSpPr>
          <p:cNvPr id="77" name="Text 7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D1-L08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D1-L08 · Weekend Routine — What Do You Do at the Weekend?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الدَّرْسِ الثَّانِي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عُطْلَةُ نِهَايَةِ الأُسْبُوعِ</a:t>
            </a:r>
            <a:endParaRPr lang="ar-SA" sz="3000" dirty="0"/>
          </a:p>
        </p:txBody>
      </p:sp>
      <p:sp>
        <p:nvSpPr>
          <p:cNvPr id="21" name="Text 18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weekend break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ʿuṭ-la-tu ni-hā-ya-ti al-us-bū-ʿi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يَوْمُ الأَحَدِ</a:t>
            </a:r>
            <a:endParaRPr lang="ar-SA" sz="3000" dirty="0"/>
          </a:p>
        </p:txBody>
      </p:sp>
      <p:sp>
        <p:nvSpPr>
          <p:cNvPr id="28" name="Text 25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Sunday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yaw-mu al-a-ḥa-di</a:t>
            </a:r>
            <a:endParaRPr lang="en-US" sz="1350" dirty="0"/>
          </a:p>
        </p:txBody>
      </p:sp>
      <p:sp>
        <p:nvSpPr>
          <p:cNvPr id="29" name="Shape 26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960120" y="1938528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60120" y="1938528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· he · she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6" name="Text 33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أَنَامُ وَقْتًا أَطْوَلَ</a:t>
            </a:r>
            <a:endParaRPr lang="ar-SA" sz="3000" dirty="0"/>
          </a:p>
        </p:txBody>
      </p:sp>
      <p:sp>
        <p:nvSpPr>
          <p:cNvPr id="37" name="Text 34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sleep longer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a-nā-mu waq-tan aṭ-wa-la</a:t>
            </a:r>
            <a:endParaRPr lang="en-US" sz="1350" dirty="0"/>
          </a:p>
        </p:txBody>
      </p:sp>
      <p:sp>
        <p:nvSpPr>
          <p:cNvPr id="38" name="Shape 35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</a:t>
            </a:r>
            <a:endParaRPr lang="en-US" sz="750" dirty="0"/>
          </a:p>
        </p:txBody>
      </p:sp>
      <p:sp>
        <p:nvSpPr>
          <p:cNvPr id="40" name="Text 37"/>
          <p:cNvSpPr txBox="1"/>
          <p:nvPr/>
        </p:nvSpPr>
        <p:spPr>
          <a:xfrm>
            <a:off x="294436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نَنَامُ</a:t>
            </a:r>
            <a:endParaRPr lang="ar-SA" sz="1500" dirty="0"/>
          </a:p>
        </p:txBody>
      </p:sp>
      <p:sp>
        <p:nvSpPr>
          <p:cNvPr id="41" name="Shape 38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43" name="Text 40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تَنَامُ</a:t>
            </a:r>
            <a:endParaRPr lang="ar-SA" sz="1500" dirty="0"/>
          </a:p>
        </p:txBody>
      </p:sp>
      <p:sp>
        <p:nvSpPr>
          <p:cNvPr id="44" name="Shape 41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46" name="Text 43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يَنَامُ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8604504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8604504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 · f · pl</a:t>
            </a:r>
            <a:endParaRPr lang="en-US" sz="800" dirty="0"/>
          </a:p>
        </p:txBody>
      </p:sp>
      <p:sp>
        <p:nvSpPr>
          <p:cNvPr id="52" name="Shape 49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4" name="Text 51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أَلْتَقِي بِأَصْدِقَائِي</a:t>
            </a:r>
            <a:endParaRPr lang="ar-SA" sz="3000" dirty="0"/>
          </a:p>
        </p:txBody>
      </p:sp>
      <p:sp>
        <p:nvSpPr>
          <p:cNvPr id="55" name="Text 52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meet friends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al-ta-qī bi-ʾaṣ-di-qā-ʾī</a:t>
            </a:r>
            <a:endParaRPr lang="en-US" sz="1350" dirty="0"/>
          </a:p>
        </p:txBody>
      </p:sp>
      <p:sp>
        <p:nvSpPr>
          <p:cNvPr id="56" name="Shape 53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58" name="Text 55"/>
          <p:cNvSpPr txBox="1"/>
          <p:nvPr/>
        </p:nvSpPr>
        <p:spPr>
          <a:xfrm>
            <a:off x="1058875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أَصْدِقَاءُ</a:t>
            </a:r>
            <a:endParaRPr lang="ar-SA" sz="1500" dirty="0"/>
          </a:p>
        </p:txBody>
      </p:sp>
      <p:sp>
        <p:nvSpPr>
          <p:cNvPr id="59" name="Shape 56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61" name="Text 58"/>
          <p:cNvSpPr txBox="1"/>
          <p:nvPr/>
        </p:nvSpPr>
        <p:spPr>
          <a:xfrm>
            <a:off x="943660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صَدِيقَةٌ</a:t>
            </a:r>
            <a:endParaRPr lang="ar-SA" sz="1500" dirty="0"/>
          </a:p>
        </p:txBody>
      </p:sp>
      <p:sp>
        <p:nvSpPr>
          <p:cNvPr id="62" name="Shape 59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64" name="Text 61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صَدِيقٌ</a:t>
            </a:r>
            <a:endParaRPr lang="ar-SA" sz="1500" dirty="0"/>
          </a:p>
        </p:txBody>
      </p:sp>
      <p:sp>
        <p:nvSpPr>
          <p:cNvPr id="65" name="Shape 6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6" name="Shape 6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68" name="Shape 65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0" name="Text 67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أُسَاعِدُ فِي البَيْتِ</a:t>
            </a:r>
            <a:endParaRPr lang="ar-SA" sz="3000" dirty="0"/>
          </a:p>
        </p:txBody>
      </p:sp>
      <p:sp>
        <p:nvSpPr>
          <p:cNvPr id="71" name="Text 68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help at home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u-sā-ʿi-du fī al-bay-ti</a:t>
            </a:r>
            <a:endParaRPr lang="en-US" sz="1350" dirty="0"/>
          </a:p>
        </p:txBody>
      </p:sp>
      <p:sp>
        <p:nvSpPr>
          <p:cNvPr id="72" name="Shape 69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3" name="Shape 70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75" name="Text 72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صَبَاحُ السَّبْتِ</a:t>
            </a:r>
            <a:endParaRPr lang="ar-SA" sz="3000" dirty="0"/>
          </a:p>
        </p:txBody>
      </p:sp>
      <p:sp>
        <p:nvSpPr>
          <p:cNvPr id="76" name="Text 73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Saturday morning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ṣa-bā-ḥu as-sab-ti</a:t>
            </a:r>
            <a:endParaRPr lang="en-US" sz="1350" dirty="0"/>
          </a:p>
        </p:txBody>
      </p:sp>
      <p:sp>
        <p:nvSpPr>
          <p:cNvPr id="77" name="Text 7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2 · WHICH LESSON? · READ EACH CARD, THEN SORT IT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Which lesson does it come from?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أَيِّ دَرْسٍ؟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9015984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107424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تَسْتَيْقِظُ / تَسْتَيْقِظِينَ؟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6163056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254496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أَيَّامِ الدِّرَاسَةِ …، أَمَّا فِي نِهَايَةِ الأُسْبُوعِ فَ…</a:t>
            </a:r>
            <a:endParaRPr lang="ar-SA" sz="1150" dirty="0"/>
          </a:p>
        </p:txBody>
      </p:sp>
      <p:sp>
        <p:nvSpPr>
          <p:cNvPr id="19" name="Shape 16"/>
          <p:cNvSpPr/>
          <p:nvPr/>
        </p:nvSpPr>
        <p:spPr>
          <a:xfrm>
            <a:off x="3310128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401568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غَالِبًا مَا … · فِي بَعْضِ الأَحْيَانِ …</a:t>
            </a:r>
            <a:endParaRPr lang="ar-SA" sz="1700" dirty="0"/>
          </a:p>
        </p:txBody>
      </p:sp>
      <p:sp>
        <p:nvSpPr>
          <p:cNvPr id="21" name="Shape 18"/>
          <p:cNvSpPr/>
          <p:nvPr/>
        </p:nvSpPr>
        <p:spPr>
          <a:xfrm>
            <a:off x="457200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48640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 …؟ · لِمَاذَا …؟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9015984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107424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مَرَّةً …؟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6163056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254496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كَانَ الجَوُّ … ، …</a:t>
            </a:r>
            <a:endParaRPr lang="ar-SA" sz="1800" dirty="0"/>
          </a:p>
        </p:txBody>
      </p:sp>
      <p:sp>
        <p:nvSpPr>
          <p:cNvPr id="27" name="Shape 24"/>
          <p:cNvSpPr/>
          <p:nvPr/>
        </p:nvSpPr>
        <p:spPr>
          <a:xfrm>
            <a:off x="3310128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3401568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رَأْيِي أُسْبُوعِي مُتَوَازِنٌ لِأَنَّ …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457200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48640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بِاخْتِصَارٍ، هُوَ / هِيَ …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185916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323076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323076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D1-L07 · Asking About Daily Routine — What Do You Do?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57200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94360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94360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D1-L08 · Weekend Routine — What Do You Do at the Weekend?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2 · ANSWERS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Which lesson?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أَيِّ دَرْسٍ؟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185916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23076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23076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D1-L07 · Asking About Daily Routine — What Do You Do?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323076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14516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تَسْتَيْقِظُ / تَسْتَيْقِظِينَ؟</a:t>
            </a:r>
            <a:endParaRPr lang="ar-SA" sz="1800" dirty="0"/>
          </a:p>
        </p:txBody>
      </p:sp>
      <p:sp>
        <p:nvSpPr>
          <p:cNvPr id="20" name="Shape 17"/>
          <p:cNvSpPr/>
          <p:nvPr/>
        </p:nvSpPr>
        <p:spPr>
          <a:xfrm>
            <a:off x="6323076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14516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 …؟ · لِمَاذَا …؟</a:t>
            </a:r>
            <a:endParaRPr lang="ar-SA" sz="1800" dirty="0"/>
          </a:p>
        </p:txBody>
      </p:sp>
      <p:sp>
        <p:nvSpPr>
          <p:cNvPr id="22" name="Shape 19"/>
          <p:cNvSpPr/>
          <p:nvPr/>
        </p:nvSpPr>
        <p:spPr>
          <a:xfrm>
            <a:off x="6323076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14516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مَرَّةً …؟</a:t>
            </a:r>
            <a:endParaRPr lang="ar-SA" sz="1800" dirty="0"/>
          </a:p>
        </p:txBody>
      </p:sp>
      <p:sp>
        <p:nvSpPr>
          <p:cNvPr id="24" name="Shape 21"/>
          <p:cNvSpPr/>
          <p:nvPr/>
        </p:nvSpPr>
        <p:spPr>
          <a:xfrm>
            <a:off x="6323076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14516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بِاخْتِصَارٍ، هُوَ / هِيَ …</a:t>
            </a:r>
            <a:endParaRPr lang="ar-SA" sz="1800" dirty="0"/>
          </a:p>
        </p:txBody>
      </p:sp>
      <p:sp>
        <p:nvSpPr>
          <p:cNvPr id="26" name="Shape 23"/>
          <p:cNvSpPr/>
          <p:nvPr/>
        </p:nvSpPr>
        <p:spPr>
          <a:xfrm>
            <a:off x="457200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4360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D1-L08 · Weekend Routine — What Do You Do at the Weekend?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94360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أَيَّامِ الدِّرَاسَةِ …، أَمَّا فِي نِهَايَةِ الأُسْبُوعِ فَ…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594360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85800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غَالِبًا مَا … · فِي بَعْضِ الأَحْيَانِ …</a:t>
            </a:r>
            <a:endParaRPr lang="ar-SA" sz="1800" dirty="0"/>
          </a:p>
        </p:txBody>
      </p:sp>
      <p:sp>
        <p:nvSpPr>
          <p:cNvPr id="33" name="Shape 30"/>
          <p:cNvSpPr/>
          <p:nvPr/>
        </p:nvSpPr>
        <p:spPr>
          <a:xfrm>
            <a:off x="594360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85800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كَانَ الجَوُّ … ، …</a:t>
            </a:r>
            <a:endParaRPr lang="ar-SA" sz="1800" dirty="0"/>
          </a:p>
        </p:txBody>
      </p:sp>
      <p:sp>
        <p:nvSpPr>
          <p:cNvPr id="35" name="Shape 32"/>
          <p:cNvSpPr/>
          <p:nvPr/>
        </p:nvSpPr>
        <p:spPr>
          <a:xfrm>
            <a:off x="594360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رَأْيِي أُسْبُوعِي مُتَوَازِنٌ لِأَنَّ …</a:t>
            </a:r>
            <a:endParaRPr lang="ar-SA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24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4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2 · STEP 3 · SAY THE MODEL DIALOGUE · BOTH LESSONS IN ONE CONVERSATION</a:t>
            </a:r>
            <a:endParaRPr lang="en-US" sz="934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Reporter and guest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المُرَاسِلُ وَالضَّيْفَةُ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54112" y="1810512"/>
            <a:ext cx="3904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444752" y="1810512"/>
            <a:ext cx="6163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Say it in Arabic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Who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90688" y="226771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at the weekend? (to a girl)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226771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تَفْعَلِينَ فِي نِهَايَةِ الأُسْبُوعِ؟</a:t>
            </a:r>
            <a:endParaRPr lang="ar-SA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226771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90688" y="2881884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 school days I wake up early, but on Saturday I sleep until nine.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463040" y="2881884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أَيَّامِ الدِّرَاسَةِ أَسْتَيْقِظُ مُبَكِّرًا، أَمَّا يَوْمَ السَّبْتِ فَأَنَامُ حَتَّى التَّاسِعَةِ.</a:t>
            </a:r>
            <a:endParaRPr lang="ar-SA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881884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90688" y="3496056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who do you spend Sunday with?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463040" y="3496056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وَمَعَ مَنْ تَقْضِينَ يَوْمَ الأَحَدِ؟</a:t>
            </a:r>
            <a:endParaRPr lang="ar-SA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3496056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90688" y="4110228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With my family. We often visit my grandmother.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463040" y="4110228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عَائِلَتِي. غَالِبًا مَا نَزُورُ جَدَّتِي.</a:t>
            </a:r>
            <a:endParaRPr lang="ar-SA" sz="19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4110228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90688" y="4724400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what do you (all) do if the weather is rainy?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4724400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تَفْعَلُونَ إِذَا كَانَ الجَوُّ مُمْطِرًا؟</a:t>
            </a:r>
            <a:endParaRPr lang="ar-SA" sz="19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724400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90688" y="533857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the weather is rainy, we stay at home and cook together.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463040" y="533857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كَانَ الجَوُّ مُمْطِرًا، نَبْقَى فِي البَيْتِ وَنَطْبُخُ مَعًا.</a:t>
            </a:r>
            <a:endParaRPr lang="ar-SA" sz="19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533857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Round 1: read it in pairs (A and B). Round 2: swap letters. Round 3: cover the Arabic and say it from the English. Then change TWO details — one from each lesson — and say it again.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24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4 · QUESTION CARDS · QUESTIONS FROM BOTH LESSONS, MIXED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Mixed questions — answer, then add more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أَسْئِلَةٌ مِنَ الدَّرْسَيْنِ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720072" y="181051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Add more (Develop · Stretch)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976872" y="181051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your answer (Core)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9432" y="181051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asks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756648" y="226771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Follow-up: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226771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أَلْعَبُ / أُرَاجِعُ …</a:t>
            </a:r>
            <a:endParaRPr lang="ar-SA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4636008" y="2267712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after school? (boy)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69848" y="2267712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بَعْدَ المَدْرَسَةِ؟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 (to a boy)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26771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9" name="Shape 26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738360" y="2881884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أَمَّا فِي أَيَّامِ الدِّرَاسَةِ فَ…</a:t>
            </a:r>
            <a:endParaRPr lang="ar-SA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6995160" y="2881884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يَوْمَ السَّبْتِ أَسْتَيْقِظُ فِي …</a:t>
            </a:r>
            <a:endParaRPr lang="ar-SA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4636008" y="2881884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do you wake up on Saturday?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2881884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تَسْتَيْقِظُ يَوْمَ السَّبْتِ؟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881884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7" name="Shape 3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756648" y="3496056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Follow-up: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6995160" y="3496056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أَقْرَأُ / أُسَاعِدُ …</a:t>
            </a:r>
            <a:endParaRPr lang="ar-SA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4636008" y="3496056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after school? (girl)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069848" y="3496056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تَفْعَلِينَ بَعْدَ المَدْرَسَةِ؟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 (to a girl)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3496056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11091672" y="3541776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1091672" y="354177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5" name="Shape 42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738360" y="4110228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مَعَ …</a:t>
            </a:r>
            <a:endParaRPr lang="ar-SA" sz="1500" dirty="0"/>
          </a:p>
        </p:txBody>
      </p:sp>
      <p:sp>
        <p:nvSpPr>
          <p:cNvPr id="47" name="Text 44"/>
          <p:cNvSpPr txBox="1"/>
          <p:nvPr/>
        </p:nvSpPr>
        <p:spPr>
          <a:xfrm>
            <a:off x="6995160" y="4110228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كَانَ عِنْدِي وَقْتٌ …</a:t>
            </a:r>
            <a:endParaRPr lang="ar-SA" sz="1600" dirty="0"/>
          </a:p>
        </p:txBody>
      </p:sp>
      <p:sp>
        <p:nvSpPr>
          <p:cNvPr id="48" name="Text 45"/>
          <p:cNvSpPr txBox="1"/>
          <p:nvPr/>
        </p:nvSpPr>
        <p:spPr>
          <a:xfrm>
            <a:off x="4636008" y="4110228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if you have time?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1051560" y="4110228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إِذَا كَانَ عِنْدَكَ وَقْتٌ؟</a:t>
            </a:r>
            <a:endParaRPr lang="ar-SA" sz="1700" dirty="0"/>
          </a:p>
        </p:txBody>
      </p:sp>
      <p:sp>
        <p:nvSpPr>
          <p:cNvPr id="50" name="Text 47"/>
          <p:cNvSpPr txBox="1"/>
          <p:nvPr/>
        </p:nvSpPr>
        <p:spPr>
          <a:xfrm>
            <a:off x="566928" y="4110228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11091672" y="415594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1091672" y="41559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3" name="Shape 50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756648" y="4724400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Follow-up: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</a:t>
            </a:r>
            <a:endParaRPr lang="en-US" sz="1100" dirty="0"/>
          </a:p>
        </p:txBody>
      </p:sp>
      <p:sp>
        <p:nvSpPr>
          <p:cNvPr id="55" name="Text 52"/>
          <p:cNvSpPr txBox="1"/>
          <p:nvPr/>
        </p:nvSpPr>
        <p:spPr>
          <a:xfrm>
            <a:off x="6995160" y="4724400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نَلْعَبُ / نَأْكُلُ …</a:t>
            </a:r>
            <a:endParaRPr lang="ar-SA" sz="1600" dirty="0"/>
          </a:p>
        </p:txBody>
      </p:sp>
      <p:sp>
        <p:nvSpPr>
          <p:cNvPr id="56" name="Text 53"/>
          <p:cNvSpPr txBox="1"/>
          <p:nvPr/>
        </p:nvSpPr>
        <p:spPr>
          <a:xfrm>
            <a:off x="4636008" y="4724400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(all) do at break?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1069848" y="4724400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تَفْعَلُونَ فِي الاسْتِرَاحَةِ؟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 (to a group)</a:t>
            </a:r>
            <a:endParaRPr lang="en-US" sz="11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4724400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738360" y="533857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لِأَنَّ …</a:t>
            </a:r>
            <a:endParaRPr lang="ar-SA" sz="1500" dirty="0"/>
          </a:p>
        </p:txBody>
      </p:sp>
      <p:sp>
        <p:nvSpPr>
          <p:cNvPr id="61" name="Text 58"/>
          <p:cNvSpPr txBox="1"/>
          <p:nvPr/>
        </p:nvSpPr>
        <p:spPr>
          <a:xfrm>
            <a:off x="6995160" y="533857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كَانَ الجَوُّ مُمْطِرًا …</a:t>
            </a:r>
            <a:endParaRPr lang="ar-SA" sz="1600" dirty="0"/>
          </a:p>
        </p:txBody>
      </p:sp>
      <p:sp>
        <p:nvSpPr>
          <p:cNvPr id="62" name="Text 59"/>
          <p:cNvSpPr txBox="1"/>
          <p:nvPr/>
        </p:nvSpPr>
        <p:spPr>
          <a:xfrm>
            <a:off x="4636008" y="5338572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if it is rainy?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1051560" y="5338572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إِذَا كَانَ الجَوُّ مُمْطِرًا؟</a:t>
            </a:r>
            <a:endParaRPr lang="ar-SA" sz="1700" dirty="0"/>
          </a:p>
        </p:txBody>
      </p:sp>
      <p:sp>
        <p:nvSpPr>
          <p:cNvPr id="64" name="Text 61"/>
          <p:cNvSpPr txBox="1"/>
          <p:nvPr/>
        </p:nvSpPr>
        <p:spPr>
          <a:xfrm>
            <a:off x="566928" y="533857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Odd numbers come from D1-L07, even numbers from D1-L08. Core: a full sentence from the starter. Develop: add the “more” part. Stretch: link two answers with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‏,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 or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‏. Swap after each question.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24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7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4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5 · ROLE-PLAY CARD · PLANS FOR TASKS 1–2 ARE GIVEN — PLAN 3–5 YOURSELF</a:t>
            </a:r>
            <a:endParaRPr lang="en-US" sz="934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Interview card — the school website reporter</a:t>
            </a:r>
            <a:endParaRPr lang="en-US" sz="20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بِطَاقَةُ المُرَاسِلِ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57032" y="1810512"/>
            <a:ext cx="3401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Plan: first words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96519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Speaker’s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785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75320" y="2267712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← فِي … ، أَمَّا فِي أَيَّامِ الدِّرَاسَةِ فَ…</a:t>
            </a:r>
            <a:endParaRPr lang="ar-SA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5001768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the time and contrast it with school days.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تَسْتَيْقِظُ يَوْمَ السَّبْتِ؟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75320" y="300471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← غَالِبًا مَا … · فِي بَعْضِ الأَحْيَانِ …</a:t>
            </a:r>
            <a:endParaRPr lang="ar-SA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001768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Two activities with frequency.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غَالِبًا فِي نِهَايَةِ الأُسْبُوعِ؟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93608" y="3741725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______________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001768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who with and why.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مَنْ؟ وَلِمَاذَا مَعَهُمْ؟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293608" y="4478731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______________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5001768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Plan B with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وَإِذَا كَانَ الجَوُّ بَارِدًا جِدًّا؟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293608" y="521573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______________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5001768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the reporter two questions (correct form for a boy or a girl).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وَالآنَ اسْأَلْنِي أَنْتَ: سُؤَالَيْنِ عَنْ نِهَايَةِ أُسْبُوعِي.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Speaker = the classmate being interviewed · Partner A = the reporter. Write the plan for tasks 3–5 in your book first. Task ! is a surprise — Partner A reads it without warning. Then swap roles.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24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6 · SHORT TALK · ONE MINUTE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My weekend vs my school week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أُسْبُوعِي وَنِهَايَتُهُ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6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⏱  Talk for one minute — use both lessons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Talk for one minute about your weekend compared with the school week: four activities with times or frequency, who you spend it with, a Plan B with ‏</a:t>
            </a:r>
            <a:pPr algn="l" indent="0" marL="0">
              <a:buNone/>
            </a:pPr>
            <a:r>
              <a:rPr lang="ar-SA" altLang="en-US" sz="17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</a:t>
            </a:r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‏, and whether your week is balanced. Then your partner asks you two follow-up questions.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Think for 30 seconds: 2 key words from EACH lesson, no sentences.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Speaker talks; the partner times it.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Partner: one thing that went well + one thing to improve.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— then the teacher invites two volunteers.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نِهَايَةِ الأُسْبُوعِ … · أَسْتَيْقِظُ فِي …</a:t>
            </a:r>
            <a:endParaRPr lang="ar-SA" sz="14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Add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… فَ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…‏ and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غَالِبًا مَا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بَعْضِ الأَحْيَانِ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Add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كَانَ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…‏ and a judgement with a reason; answer follow-ups without notes.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ثُمَّ …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 … then …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… · لِذٰلِكَ …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… · so …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رَأْيِي …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my opinion …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الخِتَامِ …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 finish …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24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3 · STEP 7 · SENTENCE BUILDER ·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Build three correct sentences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الجُمْلَةَ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9180576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1 · start here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624828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2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069080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3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2011680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94360" y="2148840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943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" y="2121408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When do you (girl) go to bed?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180576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235440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500616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9180576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35440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9500616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</a:t>
            </a:r>
            <a:endParaRPr lang="ar-SA" sz="1800" dirty="0"/>
          </a:p>
        </p:txBody>
      </p:sp>
      <p:sp>
        <p:nvSpPr>
          <p:cNvPr id="28" name="Shape 25"/>
          <p:cNvSpPr/>
          <p:nvPr/>
        </p:nvSpPr>
        <p:spPr>
          <a:xfrm>
            <a:off x="6624828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79692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944868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تَذْهَبِينَ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624828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679692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6944868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تَذْهَبُ</a:t>
            </a:r>
            <a:endParaRPr lang="ar-SA" sz="1800" dirty="0"/>
          </a:p>
        </p:txBody>
      </p:sp>
      <p:sp>
        <p:nvSpPr>
          <p:cNvPr id="34" name="Shape 31"/>
          <p:cNvSpPr/>
          <p:nvPr/>
        </p:nvSpPr>
        <p:spPr>
          <a:xfrm>
            <a:off x="4069080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123944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4389120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إِلَى الفِرَاشِ؟</a:t>
            </a:r>
            <a:endParaRPr lang="ar-SA" sz="1800" dirty="0"/>
          </a:p>
        </p:txBody>
      </p:sp>
      <p:sp>
        <p:nvSpPr>
          <p:cNvPr id="37" name="Shape 34"/>
          <p:cNvSpPr/>
          <p:nvPr/>
        </p:nvSpPr>
        <p:spPr>
          <a:xfrm>
            <a:off x="4069080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123944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4389120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إِلَى الفِرَاشُ؟</a:t>
            </a:r>
            <a:endParaRPr lang="ar-SA" sz="1800" dirty="0"/>
          </a:p>
        </p:txBody>
      </p:sp>
      <p:sp>
        <p:nvSpPr>
          <p:cNvPr id="40" name="Shape 37"/>
          <p:cNvSpPr/>
          <p:nvPr/>
        </p:nvSpPr>
        <p:spPr>
          <a:xfrm>
            <a:off x="457200" y="3392424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94360" y="3529584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35295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3502152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As for Saturday, I sleep longer.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9180576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235440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9500616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يَوْمُ السَّبْتِ</a:t>
            </a:r>
            <a:endParaRPr lang="ar-SA" sz="1800" dirty="0"/>
          </a:p>
        </p:txBody>
      </p:sp>
      <p:sp>
        <p:nvSpPr>
          <p:cNvPr id="47" name="Shape 44"/>
          <p:cNvSpPr/>
          <p:nvPr/>
        </p:nvSpPr>
        <p:spPr>
          <a:xfrm>
            <a:off x="9180576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235440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9500616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يَوْمَ السَّبْتِ</a:t>
            </a:r>
            <a:endParaRPr lang="ar-SA" sz="1800" dirty="0"/>
          </a:p>
        </p:txBody>
      </p:sp>
      <p:sp>
        <p:nvSpPr>
          <p:cNvPr id="50" name="Shape 47"/>
          <p:cNvSpPr/>
          <p:nvPr/>
        </p:nvSpPr>
        <p:spPr>
          <a:xfrm>
            <a:off x="6624828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679692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6944868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فَأَنَامُ</a:t>
            </a:r>
            <a:endParaRPr lang="ar-SA" sz="1800" dirty="0"/>
          </a:p>
        </p:txBody>
      </p:sp>
      <p:sp>
        <p:nvSpPr>
          <p:cNvPr id="53" name="Shape 50"/>
          <p:cNvSpPr/>
          <p:nvPr/>
        </p:nvSpPr>
        <p:spPr>
          <a:xfrm>
            <a:off x="6624828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679692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6944868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أَنَامُ</a:t>
            </a:r>
            <a:endParaRPr lang="ar-SA" sz="1800" dirty="0"/>
          </a:p>
        </p:txBody>
      </p:sp>
      <p:sp>
        <p:nvSpPr>
          <p:cNvPr id="56" name="Shape 53"/>
          <p:cNvSpPr/>
          <p:nvPr/>
        </p:nvSpPr>
        <p:spPr>
          <a:xfrm>
            <a:off x="4069080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4123944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4389120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وَقْتًا أَطْوَلَ.</a:t>
            </a:r>
            <a:endParaRPr lang="ar-SA" sz="1800" dirty="0"/>
          </a:p>
        </p:txBody>
      </p:sp>
      <p:sp>
        <p:nvSpPr>
          <p:cNvPr id="59" name="Shape 56"/>
          <p:cNvSpPr/>
          <p:nvPr/>
        </p:nvSpPr>
        <p:spPr>
          <a:xfrm>
            <a:off x="4069080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123944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61" name="Text 58"/>
          <p:cNvSpPr txBox="1"/>
          <p:nvPr/>
        </p:nvSpPr>
        <p:spPr>
          <a:xfrm>
            <a:off x="4389120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وَقْتٌ أَطْوَلُ.</a:t>
            </a:r>
            <a:endParaRPr lang="ar-SA" sz="1800" dirty="0"/>
          </a:p>
        </p:txBody>
      </p:sp>
      <p:sp>
        <p:nvSpPr>
          <p:cNvPr id="62" name="Shape 59"/>
          <p:cNvSpPr/>
          <p:nvPr/>
        </p:nvSpPr>
        <p:spPr>
          <a:xfrm>
            <a:off x="457200" y="4773168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3" name="Shape 60"/>
          <p:cNvSpPr/>
          <p:nvPr/>
        </p:nvSpPr>
        <p:spPr>
          <a:xfrm>
            <a:off x="594360" y="4910328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9436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51560" y="4882896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With whom do you (group) eat lunch?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9180576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9235440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68" name="Text 65"/>
          <p:cNvSpPr txBox="1"/>
          <p:nvPr/>
        </p:nvSpPr>
        <p:spPr>
          <a:xfrm>
            <a:off x="9500616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</a:t>
            </a:r>
            <a:endParaRPr lang="ar-SA" sz="1800" dirty="0"/>
          </a:p>
        </p:txBody>
      </p:sp>
      <p:sp>
        <p:nvSpPr>
          <p:cNvPr id="69" name="Shape 66"/>
          <p:cNvSpPr/>
          <p:nvPr/>
        </p:nvSpPr>
        <p:spPr>
          <a:xfrm>
            <a:off x="9180576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9235440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1" name="Text 68"/>
          <p:cNvSpPr txBox="1"/>
          <p:nvPr/>
        </p:nvSpPr>
        <p:spPr>
          <a:xfrm>
            <a:off x="9500616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مَاذَا</a:t>
            </a:r>
            <a:endParaRPr lang="ar-SA" sz="1800" dirty="0"/>
          </a:p>
        </p:txBody>
      </p:sp>
      <p:sp>
        <p:nvSpPr>
          <p:cNvPr id="72" name="Shape 69"/>
          <p:cNvSpPr/>
          <p:nvPr/>
        </p:nvSpPr>
        <p:spPr>
          <a:xfrm>
            <a:off x="6624828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6679692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74" name="Text 71"/>
          <p:cNvSpPr txBox="1"/>
          <p:nvPr/>
        </p:nvSpPr>
        <p:spPr>
          <a:xfrm>
            <a:off x="6944868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تَتَغَدَّوْنَ</a:t>
            </a:r>
            <a:endParaRPr lang="ar-SA" sz="1800" dirty="0"/>
          </a:p>
        </p:txBody>
      </p:sp>
      <p:sp>
        <p:nvSpPr>
          <p:cNvPr id="75" name="Shape 72"/>
          <p:cNvSpPr/>
          <p:nvPr/>
        </p:nvSpPr>
        <p:spPr>
          <a:xfrm>
            <a:off x="6624828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6679692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7" name="Text 74"/>
          <p:cNvSpPr txBox="1"/>
          <p:nvPr/>
        </p:nvSpPr>
        <p:spPr>
          <a:xfrm>
            <a:off x="6944868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تَتَغَدَّى</a:t>
            </a:r>
            <a:endParaRPr lang="ar-SA" sz="1800" dirty="0"/>
          </a:p>
        </p:txBody>
      </p:sp>
      <p:sp>
        <p:nvSpPr>
          <p:cNvPr id="78" name="Shape 75"/>
          <p:cNvSpPr/>
          <p:nvPr/>
        </p:nvSpPr>
        <p:spPr>
          <a:xfrm>
            <a:off x="4069080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123944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4389120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المَدْرَسَةِ؟</a:t>
            </a:r>
            <a:endParaRPr lang="ar-SA" sz="1800" dirty="0"/>
          </a:p>
        </p:txBody>
      </p:sp>
      <p:sp>
        <p:nvSpPr>
          <p:cNvPr id="81" name="Shape 78"/>
          <p:cNvSpPr/>
          <p:nvPr/>
        </p:nvSpPr>
        <p:spPr>
          <a:xfrm>
            <a:off x="4069080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123944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83" name="Text 80"/>
          <p:cNvSpPr txBox="1"/>
          <p:nvPr/>
        </p:nvSpPr>
        <p:spPr>
          <a:xfrm>
            <a:off x="4389120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المَدْرَسَةَ؟</a:t>
            </a:r>
            <a:endParaRPr lang="ar-SA" sz="1800" dirty="0"/>
          </a:p>
        </p:txBody>
      </p:sp>
      <p:sp>
        <p:nvSpPr>
          <p:cNvPr id="84" name="Text 8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7 · CHECK YOUR SENTENCES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Sentence builder: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الجُمْلَةَ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47672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47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19019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When do you (girl) go to bed?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235915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143000" y="2633472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 a girl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تَذْهَبِينَ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0" y="1901952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تَذْهَبِينَ إِلَى الفِرَاشِ؟</a:t>
            </a:r>
            <a:endParaRPr lang="ar-SA" sz="2800" dirty="0"/>
          </a:p>
        </p:txBody>
      </p:sp>
      <p:sp>
        <p:nvSpPr>
          <p:cNvPr id="22" name="Shape 19"/>
          <p:cNvSpPr/>
          <p:nvPr/>
        </p:nvSpPr>
        <p:spPr>
          <a:xfrm>
            <a:off x="457200" y="3291840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40080" y="3429000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143000" y="3383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As for Saturday, I sleep longer.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1143000" y="38404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" y="411480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+ subject (-u), then fa-;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وَقْتًا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is accusative.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4572000" y="3383280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يَوْمُ السَّبْتِ فَأَنَامُ وَقْتًا أَطْوَلَ.</a:t>
            </a:r>
            <a:endParaRPr lang="ar-SA" sz="2800" dirty="0"/>
          </a:p>
        </p:txBody>
      </p:sp>
      <p:sp>
        <p:nvSpPr>
          <p:cNvPr id="29" name="Shape 26"/>
          <p:cNvSpPr/>
          <p:nvPr/>
        </p:nvSpPr>
        <p:spPr>
          <a:xfrm>
            <a:off x="457200" y="4773168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40080" y="4910328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1143000" y="4864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With whom do you (group) eat lunch?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" y="53218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" y="559612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With whom =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; to a group → -ūna (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تَتَغَدَّوْنَ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).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4572000" y="4864608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 تَتَغَدَّوْنَ فِي المَدْرَسَةِ؟</a:t>
            </a:r>
            <a:endParaRPr lang="ar-SA" sz="2800" dirty="0"/>
          </a:p>
        </p:txBody>
      </p:sp>
      <p:sp>
        <p:nvSpPr>
          <p:cNvPr id="36" name="Text 3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STEP 8 · SPOT AND FIX · MISTAKES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Find the mistake, fix it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1183112" y="2249424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1183112" y="2249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023360" y="1901952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يَا سَارَةُ، مَاذَا تَفْعَلُ بَعْدَ المَدْرَسَةِ؟</a:t>
            </a:r>
            <a:endParaRPr lang="ar-SA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1901952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Sara is a girl.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1183112" y="3694176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1183112" y="3694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023360" y="3346704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يَوْمُ الأَحَدِ أَزُورُ جَدِّي.</a:t>
            </a:r>
            <a:endParaRPr lang="ar-SA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3346704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7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</a:t>
            </a:r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needs its partner.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11183112" y="5138928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1183112" y="5138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023360" y="4791456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تَذْهَبُ؟ — فِي السَّابِعَةِ.</a:t>
            </a:r>
            <a:endParaRPr lang="ar-SA" sz="30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" y="4791456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Does the answer match the question word?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24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8 · CORRECTIONS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Spot and fix: corrections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503920" y="190195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يَا سَارَةُ، مَاذَا تَفْعَلُ بَعْدَ المَدْرَسَةِ؟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8641080" y="2459736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138160" y="1901952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3566160" y="1901952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يَا سَارَةُ، مَاذَا تَفْعَلِينَ بَعْدَ المَدْرَسَةِ؟</a:t>
            </a:r>
            <a:endParaRPr lang="ar-SA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1901952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To a girl → -īna.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503920" y="3346704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يَوْمُ الأَحَدِ أَزُورُ جَدِّي.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8641080" y="3904488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38160" y="3346704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3566160" y="3346704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يَوْمُ الأَحَدِ فَأَزُورُ جَدِّي.</a:t>
            </a:r>
            <a:endParaRPr lang="ar-SA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3346704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…‏ then fa-: 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فَأَزُورُ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503920" y="4791456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تَذْهَبُ؟ — فِي السَّابِعَةِ.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8641080" y="5349240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138160" y="4791456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3566160" y="4791456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تَذْهَبُ؟ — فِي السَّابِعَةِ.</a:t>
            </a:r>
            <a:endParaRPr lang="ar-SA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4791456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A time answers 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‏; 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 asks how.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WRITE YOUR TEXT · FRAMES IF YOU NEED THEM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Your writing frames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قَوَالِبُ الكِتَابَةِ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4360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2468880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فِي أَيَّامِ الدِّرَاسَةِ فَ ______ .</a:t>
            </a:r>
            <a:endParaRPr lang="ar-SA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But on school days …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2468880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كَانَ الجَوُّ مُمْطِرًا، ______ 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the weather is rainy, …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190488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10543032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543032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8202168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س: مَتَى تَسْتَيْقِظِينَ يَوْمَ السَّبْتِ؟ ج: ______ .</a:t>
            </a:r>
            <a:endParaRPr lang="ar-SA" sz="1750" dirty="0"/>
          </a:p>
        </p:txBody>
      </p:sp>
      <p:sp>
        <p:nvSpPr>
          <p:cNvPr id="26" name="Text 23"/>
          <p:cNvSpPr txBox="1"/>
          <p:nvPr/>
        </p:nvSpPr>
        <p:spPr>
          <a:xfrm>
            <a:off x="6327648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Q: When do you wake up on Saturday? A: …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202168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س: مَاذَا تَفْعَلِينَ غَالِبًا؟ ج: ______ .</a:t>
            </a:r>
            <a:endParaRPr lang="ar-SA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6327648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Q: What do you often do? A: …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202168" y="3383280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س: مَعَ مَنْ؟ ج: ______ لِأَنَّ ______ .</a:t>
            </a:r>
            <a:endParaRPr lang="ar-SA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327648" y="3383280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Q: With whom? A: … because …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202168" y="3950208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بِاخْتِصَارٍ، هِيَ / هُوَ ______ .</a:t>
            </a:r>
            <a:endParaRPr lang="ar-SA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6327648" y="3950208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short, she / he …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57200" y="5504688"/>
            <a:ext cx="11274552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640080" y="55412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WORD BANK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640080" y="5760720"/>
            <a:ext cx="10908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· مَتَى · مَعَ مَنْ  ·  كَمْ مَرَّةً · لِمَاذَا  ·  تَفْعَلُ · تَفْعَلِينَ · تَفْعَلُونَ  ·  غَالِبًا مَا  ·  فِي بَعْضِ الأَحْيَانِ  ·  أَمَّا … فَ…  ·  إِذَا كَانَ …  ·  بِاخْتِصَارٍ</a:t>
            </a:r>
            <a:endParaRPr lang="ar-SA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24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10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WRITE YOUR TEXT · ABOUT 70–90 WORDS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Interview write-up for the school website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المُقَابَلَةُ عَلَى مَوْقِعِ المَدْرَسَةِ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7784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38528"/>
            <a:ext cx="2061972" cy="292608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38528"/>
            <a:ext cx="20619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WRITING · DIRECTED TASK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3317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Write up your interview (about 70–90 words): five questions with different question words, each with a full answer about the weekend — using the correct form for a boy or a girl. Then add a short summary in the third person (‏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هُوَ … / هِيَ</a:t>
            </a:r>
            <a:pPr algn="l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…‏) with one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… فَ</a:t>
            </a:r>
            <a:pPr algn="l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…‏ and one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</a:t>
            </a:r>
            <a:pPr algn="l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 sentence.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3310128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All the bullet points, in order.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384048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Language from D1-L07 AND D1-L08.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85800" y="4370832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Linking words: ‏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ثُمَّ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901184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One opinion with a reason.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5431536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Buddy check, then fix one thing.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17920" y="1810512"/>
            <a:ext cx="55138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8412480" y="2231136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/ تَفْعَلِينَ …؟</a:t>
            </a:r>
            <a:endParaRPr lang="ar-SA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0" y="2560320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…? (boy / girl)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412480" y="2889504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 … ؟ · لِمَاذَا … ؟</a:t>
            </a:r>
            <a:endParaRPr lang="ar-SA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400800" y="3218688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with whom …? · why …?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8412480" y="3547872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فِي نِهَايَةِ الأُسْبُوعِ فَ…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400800" y="3877056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but at the weekend …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412480" y="4206240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كَانَ الجَوُّ … ، …</a:t>
            </a:r>
            <a:endParaRPr lang="ar-SA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6400800" y="4535424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the weather is …, …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24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BUDDY CHECK · SWAP AND READ YOUR BUDDY’S TEXT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Buddy check: five points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رَاجِعْ مَعَ زَمِيلِكَ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Line / example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455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65392" y="181051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Did the writer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882128" y="2267712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01968" y="2267712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EVERY bullet point?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300471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882128" y="300471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601968" y="300471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six different question words that match the answers?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741725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882128" y="3741725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601968" y="3741725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contrast with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… فَ… / بَيْنَمَا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 and use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كَانَ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…‏ correctly?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478731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882128" y="4478731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601968" y="4478731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linking words (‏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ثُمَّ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‏)?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521573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882128" y="521573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601968" y="521573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more than one tense and give an opinion with a reason?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Give back: one thing that went well + one thing to improve. The writer fixes ONE thing straight away.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24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ROLE-PLAY CARD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Role-play card: compare with a strong answer</a:t>
            </a:r>
            <a:endParaRPr lang="en-US" sz="20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 strong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أَسْتَيْقِظُ فِي التَّاسِعَةِ، أَمَّا فِي أَيَّامِ الدِّرَاسَةِ فَأَسْتَيْقِظُ فِي السَّادِسَةِ وَالنِّصْفِ.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wake up at nine, whereas on school days I wake up at half past six.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تَسْتَيْقِظُ يَوْمَ السَّبْتِ؟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غَالِبًا مَا أَلْعَبُ كُرَةَ القَدَمِ، وَفِي بَعْضِ الأَحْيَانِ أَذْهَبُ إِلَى السُّوقِ.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often play football, and sometimes I go to the market.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غَالِبًا فِي نِهَايَةِ الأُسْبُوعِ؟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أَبْنَاءِ عَمِّي، لِأَنَّهُمْ يَسْكُنُونَ قَرِيبًا مِنَّا.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With my cousins, because they live near us.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مَنْ؟ وَلِمَاذَا مَعَهُمْ؟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كَانَ الجَوُّ بَارِدًا جِدًّا، أَقْرَأُ أَوْ أَلْعَبُ أَلْعَابًا مَعَ أُخْتِي.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the weather is very cold, I read or play games with my sister.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وَإِذَا كَانَ الجَوُّ بَارِدًا جِدًّا؟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تَفْعَلِينَ يَوْمَ الأَحَدِ؟ وَهَلْ تَسْتَيْقِظِينَ مُبَكِّرًا؟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on Sunday? And do you wake up early? (to a female reporter)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وَالآنَ اسْأَلْنِي أَنْتَ: سُؤَالَيْنِ عَنْ نِهَايَةِ أُسْبُوعِي.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Did you answer every task in a full sentence? Find one phrase from each lesson in the models and say it aloud.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24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WRITE YOUR TEXT · A STRONG ANSWER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Writing: compare with a strong answer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38528"/>
            <a:ext cx="108173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9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س: مَتَى تَسْتَيْقِظِينَ يَوْمَ السَّبْتِ؟ ج: فِي التَّاسِعَةِ، لِأَنِّي أَتْعَبُ فِي الأُسْبُوعِ.</a:t>
            </a:r>
            <a:endParaRPr lang="ar-SA" sz="19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9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س: مَاذَا تَفْعَلِينَ غَالِبًا؟ ج: غَالِبًا مَا أَذْهَبُ إِلَى النَّادِي لِلسِّبَاحَةِ.</a:t>
            </a:r>
            <a:endParaRPr lang="ar-SA" sz="19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9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س: مَعَ مَنْ تَقْضِينَ يَوْمَ الأَحَدِ؟ ج: مَعَ عَائِلَتِي؛ نَزُورُ جَدَّتِي.</a:t>
            </a:r>
            <a:endParaRPr lang="ar-SA" sz="19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9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س: كَمْ مَرَّةً تَقْرَئِينَ؟ ج: كُلَّ مَسَاءٍ تَقْرِيبًا.</a:t>
            </a:r>
            <a:endParaRPr lang="ar-SA" sz="19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9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س: وَإِذَا كَانَ الجَوُّ مُمْطِرًا؟ ج: إِذَا كَانَ مُمْطِرًا، نَطْبُخُ مَعًا.</a:t>
            </a:r>
            <a:endParaRPr lang="ar-SA" sz="19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9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بِاخْتِصَارٍ، هِيَ تَسْتَرِيحُ فِي نِهَايَةِ الأُسْبُوعِ، أَمَّا فِي أَيَّامِ الدِّرَاسَةِ فَتَعْمَلُ كَثِيرًا.</a:t>
            </a:r>
            <a:endParaRPr lang="ar-SA" sz="1900" dirty="0"/>
          </a:p>
        </p:txBody>
      </p:sp>
      <p:sp>
        <p:nvSpPr>
          <p:cNvPr id="17" name="Shape 14"/>
          <p:cNvSpPr/>
          <p:nvPr/>
        </p:nvSpPr>
        <p:spPr>
          <a:xfrm>
            <a:off x="457200" y="5166360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5202936"/>
            <a:ext cx="1090879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“Q: When do you wake up on Saturday? A: At nine, because I get tired during the week. Q: What do you often do? A: I often go to the club to swim. Q: Who do you spend Sunday with? A: With my family; we visit my grandmother. Q: How often do you read? A: Almost every evening. Q: And if it is rainy? A: If it is rainy, we cook together. In short, she rests at the weekend, but on school days she works a lot.”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0533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FIND IN THE MODEL: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2697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D5FBF"/>
          </a:solidFill>
          <a:ln w="12700">
            <a:solidFill>
              <a:srgbClr val="1D5F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697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غَالِبًا مَا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983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983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 تَقْضِينَ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269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C77700"/>
          </a:solidFill>
          <a:ln w="12700">
            <a:solidFill>
              <a:srgbClr val="C7770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69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كَانَ مُمْطِرًا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555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 w="12700">
            <a:solidFill>
              <a:srgbClr val="7B3FA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555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فِي أَيَّامِ الدِّرَاسَةِ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24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D1 · Daily Routine and Time · D1-W04 · Apply workshop (D1-L07 + D1-L08)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questions from D1-L07 and D1-L08 in full sentences.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wrote a sentence for every bullet point.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language from BOTH lessons when I spoke and when I wrote.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buddy checked my text and I fixed one mistake.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more than one tense and gave opinions with reasons.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24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D1-W04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you used two lessons together!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LESSON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D1-L09 · Reading Daily Routines and Weekly Schedules</a:t>
            </a:r>
            <a:endParaRPr lang="en-US" sz="18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قِرَاءَةُ الرُّوتِينِ اليَوْمِيِّ وَالجَدَاوِلِ الأُسْبُوعِيَّةِ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keep using this week’s language — say it, then write it.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D1-W04 · Apply Workshop — The Weekend Interview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2026-10-26T15:24:13Z</dcterms:created>
  <dcterms:modified xsi:type="dcterms:W3CDTF">2026-10-26T15:24:13Z</dcterms:modified>
</cp:coreProperties>
</file>