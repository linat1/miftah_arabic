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D1-L07 · Learn D1-L08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one minute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D1-L07 (Asking About Daily Routine — What Do You Do?) and D1-L08 (Weekend Routine — What Do You Do at the Weekend?).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D1-L07 and D1-L08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D1-L07? After D1-L08?” Take two answers in the chat for each lesson (one word or one sentence is enough). Then read objective 3 — today’s new situation that needs BOTH lessons. Students tick their route goals at the end of the lesson.
D1-L07 language: question words (mādhā · matā · kam marratan · kayfa · limādhā · maʿa man · ayna); addressing a boy (tafʿalu), a girl (tafʿalīna) or a group (tafʿalūna); hal for yes / no; follow-up questions to keep an interview going
D1-L08 language: contrast: ammā … fa- · baynamā · ʿalā ʿaks; condition with idhā + past verb (idhā kāna ʿindī waqtun …); flexible frequency (ghāliban mā · fī baʿḍi al-aḥyāni); comparatives (aṭwal · akthar); a judgement about balance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D1-L07.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D1-L08.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D1-L07 and D1-L08. Teacher reads it once with a confident student; then pairs. Ask: “Which lines are from D1-L07? Which from D1-L08?” Question forms to a girl (تَفْعَلِينَ · تَقْضِينَ) and to a group (تَفْعَلُونَ) come from D1-L07; أَمَّا … فَ… · غَالِبًا مَا · إِذَا كَانَ … from D1-L08.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questions to a boy, a girl and a group, with follow-ups (D1-L07) and the weekend with contrast, frequency and إِذَا (D1-L08). FADED SUPPORT: tasks 1–2 show the plan; students write their own plan for 3–5. To a girl Partner A says: to a girl the reporter asks: مَتَى تَسْتَيْقِظِينَ؟ · مَاذَا تَفْعَلِينَ؟ — to a group: تَفْعَلُونَ.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D1-L07 and D1-L08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D1-L07 and D1-L08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(50–60 words). Develop: 80–100 words, frames only if stuck. Stretch: no frames, add reasons and another time frame.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(65 words). CHECK YOURSELF (2 min). Find each bullet point in the model, and one phrase from D1-L07 and one from D1-L08.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8  ·  DEVELOPMENT D1  ·  D1-L07 + D1-L08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D1-W04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The Weekend Interview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مُقَابَلَةُ نِهَايَةِ الأُسْبُوعِ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question forms with the weekend: as reporters for the school website they interview classmates (to a boy, a girl or a group) about their weekends, ask follow-up questions, handle “Plan B” answers with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, and write up the interview with a third-person summary.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D1-L07 + D1-L08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Development · A2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Development › D1 › D1-L08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D1-L07 and D1-L08.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D1-L07 + D1-L08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D1-L07: Asking About Daily Routine — What Do You Do?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D1-L08: Weekend Routine — What Do You Do at the Weekend?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Interview card — the school website reporter · Interview write-up for the school website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one minute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Use more than one tense; give and justify opinions.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D1-L07 and D1-L08.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D1-L07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D1-L07 · Asking About Daily Routine — What Do You Do?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مَاذَا؟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mā-dhā?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مَرَّةً؟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many times / how often?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kam mar-ra-tan?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li-mā-dhā?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604504" y="4279392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04504" y="4279392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boy · girl · group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تَفْعَلُ؟</a:t>
            </a:r>
            <a:endParaRPr lang="ar-SA" sz="3000" dirty="0"/>
          </a:p>
        </p:txBody>
      </p:sp>
      <p:sp>
        <p:nvSpPr>
          <p:cNvPr id="44" name="Text 4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do you do?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mā-dhā taf-ʿa-lu?</a:t>
            </a:r>
            <a:endParaRPr lang="en-US" sz="1350" dirty="0"/>
          </a:p>
        </p:txBody>
      </p:sp>
      <p:sp>
        <p:nvSpPr>
          <p:cNvPr id="45" name="Shape 42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group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تَفْعَلُونَ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girl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943660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تَفْعَلِينَ؟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boy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تَفْعَلُ؟</a:t>
            </a:r>
            <a:endParaRPr lang="ar-SA" sz="1500" dirty="0"/>
          </a:p>
        </p:txBody>
      </p:sp>
      <p:sp>
        <p:nvSpPr>
          <p:cNvPr id="54" name="Shape 5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4782312" y="4279392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782312" y="4279392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boy · girl · group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تَذْهَبُ؟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do you go?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kay-fa tadh-ha-bu?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group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676656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تَذْهَبُونَ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girl</a:t>
            </a:r>
            <a:endParaRPr lang="en-US" sz="700" dirty="0"/>
          </a:p>
        </p:txBody>
      </p:sp>
      <p:sp>
        <p:nvSpPr>
          <p:cNvPr id="68" name="Text 65"/>
          <p:cNvSpPr txBox="1"/>
          <p:nvPr/>
        </p:nvSpPr>
        <p:spPr>
          <a:xfrm>
            <a:off x="5614416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تَذْهَبِينَ؟</a:t>
            </a:r>
            <a:endParaRPr lang="ar-SA" sz="1350" dirty="0"/>
          </a:p>
        </p:txBody>
      </p:sp>
      <p:sp>
        <p:nvSpPr>
          <p:cNvPr id="69" name="Shape 66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تَذْهَبُ؟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5" name="Text 7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3000" dirty="0"/>
          </a:p>
        </p:txBody>
      </p:sp>
      <p:sp>
        <p:nvSpPr>
          <p:cNvPr id="76" name="Text 7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ay-na?</a:t>
            </a:r>
            <a:endParaRPr lang="en-US" sz="1350" dirty="0"/>
          </a:p>
        </p:txBody>
      </p:sp>
      <p:sp>
        <p:nvSpPr>
          <p:cNvPr id="77" name="Text 7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D1-L08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D1-L08 · Weekend Routine — What Do You Do at the Weekend?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عُطْلَةُ نِهَايَةِ الأُسْبُوعِ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weekend break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ʿuṭ-la-tu ni-hā-ya-ti al-us-bū-ʿi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يَوْمُ الأَحَدِ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Sunday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yaw-mu al-a-ḥa-di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960120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60120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he · she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 وَقْتًا أَطْوَلَ</a:t>
            </a:r>
            <a:endParaRPr lang="ar-SA" sz="30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sleep longer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a-nā-mu waq-tan aṭ-wa-la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نَنَامُ</a:t>
            </a:r>
            <a:endParaRPr lang="ar-SA" sz="1500" dirty="0"/>
          </a:p>
        </p:txBody>
      </p:sp>
      <p:sp>
        <p:nvSpPr>
          <p:cNvPr id="41" name="Shape 38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3" name="Text 40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تَنَامُ</a:t>
            </a:r>
            <a:endParaRPr lang="ar-SA" sz="1500" dirty="0"/>
          </a:p>
        </p:txBody>
      </p:sp>
      <p:sp>
        <p:nvSpPr>
          <p:cNvPr id="44" name="Shape 41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يَنَامُ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 · f · pl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أَلْتَقِي بِأَصْدِقَائِي</a:t>
            </a:r>
            <a:endParaRPr lang="ar-SA" sz="3000" dirty="0"/>
          </a:p>
        </p:txBody>
      </p:sp>
      <p:sp>
        <p:nvSpPr>
          <p:cNvPr id="55" name="Text 5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meet friends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al-ta-qī bi-ʾaṣ-di-qā-ʾī</a:t>
            </a:r>
            <a:endParaRPr lang="en-US" sz="1350" dirty="0"/>
          </a:p>
        </p:txBody>
      </p:sp>
      <p:sp>
        <p:nvSpPr>
          <p:cNvPr id="56" name="Shape 53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أَصْدِقَاءُ</a:t>
            </a:r>
            <a:endParaRPr lang="ar-SA" sz="1500" dirty="0"/>
          </a:p>
        </p:txBody>
      </p:sp>
      <p:sp>
        <p:nvSpPr>
          <p:cNvPr id="59" name="Shape 56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1" name="Text 58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صَدِيقَةٌ</a:t>
            </a:r>
            <a:endParaRPr lang="ar-SA" sz="1500" dirty="0"/>
          </a:p>
        </p:txBody>
      </p:sp>
      <p:sp>
        <p:nvSpPr>
          <p:cNvPr id="62" name="Shape 59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صَدِيقٌ</a:t>
            </a:r>
            <a:endParaRPr lang="ar-SA" sz="1500" dirty="0"/>
          </a:p>
        </p:txBody>
      </p:sp>
      <p:sp>
        <p:nvSpPr>
          <p:cNvPr id="65" name="Shape 6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أُسَاعِدُ فِي البَيْتِ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help at home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u-sā-ʿi-du fī al-bay-ti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5" name="Text 7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صَبَاحُ السَّبْتِ</a:t>
            </a:r>
            <a:endParaRPr lang="ar-SA" sz="3000" dirty="0"/>
          </a:p>
        </p:txBody>
      </p:sp>
      <p:sp>
        <p:nvSpPr>
          <p:cNvPr id="76" name="Text 7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Saturday morning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ṣa-bā-ḥu as-sab-ti</a:t>
            </a:r>
            <a:endParaRPr lang="en-US" sz="1350" dirty="0"/>
          </a:p>
        </p:txBody>
      </p:sp>
      <p:sp>
        <p:nvSpPr>
          <p:cNvPr id="77" name="Text 7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 / تَسْتَيْقِظِينَ؟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أَيَّامِ الدِّرَاسَةِ …، أَمَّا فِي نِهَايَةِ الأُسْبُوعِ فَ…</a:t>
            </a:r>
            <a:endParaRPr lang="ar-SA" sz="115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مَا … · فِي بَعْضِ الأَحْيَانِ …</a:t>
            </a:r>
            <a:endParaRPr lang="ar-SA" sz="17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…؟ · لِمَاذَا …؟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…؟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… ، …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أُسْبُوعِي مُتَوَازِنٌ لِأَنَّ …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بِاخْتِصَارٍ، هُوَ / هِيَ 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D1-L07 · Asking About Daily Routine — What Do You Do?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D1-L08 · Weekend Routine — What Do You Do at the Weekend?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D1-L07 · Asking About Daily Routine — What Do You Do?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 / تَسْتَيْقِظِينَ؟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…؟ · لِمَاذَا …؟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…؟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بِاخْتِصَارٍ، هُوَ / هِيَ …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D1-L08 · Weekend Routine — What Do You Do at the Weekend?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أَيَّامِ الدِّرَاسَةِ …، أَمَّا فِي نِهَايَةِ الأُسْبُوعِ فَ…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مَا … · فِي بَعْضِ الأَحْيَانِ …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… ، …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أُسْبُوعِي مُتَوَازِنٌ لِأَنَّ …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Reporter and guest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المُرَاسِلُ وَالضَّيْفَةُ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at the weekend? (to a girl)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تَفْعَلِينَ فِي نِهَايَةِ الأُسْبُوعِ؟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school days I wake up early, but on Saturday I sleep until nine.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أَيَّامِ الدِّرَاسَةِ أَسْتَيْقِظُ مُبَكِّرًا، أَمَّا يَوْمَ السَّبْتِ فَأَنَامُ حَتَّى التَّاسِعَةِ.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who do you spend Sunday with?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وَمَعَ مَنْ تَقْضِينَ يَوْمَ الأَحَدِ؟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my family. We often visit my grandmother.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عَائِلَتِي. غَالِبًا مَا نَزُورُ جَدَّتِي.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do you (all) do if the weather is rainy?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تَفْعَلُونَ إِذَا كَانَ الجَوُّ مُمْطِرًا؟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weather is rainy, we stay at home and cook together.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مُمْطِرًا، نَبْقَى فِي البَيْتِ وَنَطْبُخُ مَعًا.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56648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Follow-up: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 / أُرَاجِعُ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after school? (boy)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69848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بَعْدَ المَدْرَسَةِ؟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(to a boy)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أَمَّا فِي أَيَّامِ الدِّرَاسَةِ فَ…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السَّبْتِ أَسْتَيْقِظُ فِي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 you wake up on Saturday?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 يَوْمَ السَّبْتِ؟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56648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Follow-up: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أَقْرَأُ / أُسَاعِدُ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after school? (girl)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69848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تَفْعَلِينَ بَعْدَ المَدْرَسَةِ؟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(to a girl)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مَعَ …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عِنْدِي وَقْتٌ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if you have time?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إِذَا كَانَ عِنْدَكَ وَقْتٌ؟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56648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Follow-up: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نَلْعَبُ / نَأْكُلُ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(all) do at break?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69848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تَفْعَلُونَ فِي الاسْتِرَاحَةِ؟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(to a group)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 …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مُمْطِرًا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if it is rainy?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إِذَا كَانَ الجَوُّ مُمْطِرًا؟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D1-L07, even numbers from D1-L08. Core: a full sentence from the starter. Develop: add the “more” part. Stretch: link two answers with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PLANS FOR TASKS 1–2 ARE GIVEN — PLAN 3–5 YOURSELF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Interview card — the school website reporter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المُرَاسِلِ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فِي … ، أَمَّا فِي أَيَّامِ الدِّرَاسَةِ فَ…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time and contrast it with school days.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 يَوْمَ السَّبْتِ؟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غَالِبًا مَا … · فِي بَعْضِ الأَحْيَانِ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activities with frequency.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غَالِبًا فِي نِهَايَةِ الأُسْبُوعِ؟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with and why.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 وَلِمَاذَا مَعَهُمْ؟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Plan B with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كَانَ الجَوُّ بَارِدًا جِدًّا؟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reporter two questions (correct form for a boy or a girl).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وَالآنَ اسْأَلْنِي أَنْتَ: سُؤَالَيْنِ عَنْ نِهَايَةِ أُسْبُوعِي.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classmate being interviewed · Partner A = the reporter. Write the plan for tasks 3–5 in your book first. Task ! is a surprise — Partner A reads it without warning. Then swap roles.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ONE MINUTE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weekend vs my school week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أُسْبُوعِي وَنِهَايَتُهُ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one minute — use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one minute about your weekend compared with the school week: four activities with times or frequency, who you spend it with, a Plan B with ‏</a:t>
            </a:r>
            <a:pPr algn="l" indent="0" marL="0">
              <a:buNone/>
            </a:pPr>
            <a:r>
              <a:rPr lang="ar-SA" altLang="en-US" sz="17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</a:t>
            </a:r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‏, and whether your week is balanced. Then your partner asks you two follow-up questions.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نِهَايَةِ الأُسْبُوعِ … · أَسْتَيْقِظُ فِي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…‏ and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مَا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بَعْضِ الأَحْيَانِ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 and a judgement with a reason; answer follow-ups without notes.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… then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· لِذٰلِكَ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… · so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opinion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finish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When do you (girl) go to bed?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تَذْهَبِينَ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تَذْهَبُ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الفِرَاشِ؟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الفِرَاشُ؟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for Saturday, I sleep longer.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يَوْمُ السَّبْتِ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يَوْمَ السَّبْتِ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فَأَنَامُ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وَقْتًا أَطْوَلَ.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وَقْتٌ أَطْوَلُ.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With whom do you (group) eat lunch?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مَاذَا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تَتَغَدَّوْنَ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تَتَغَدَّى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المَدْرَسَةِ؟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المَدْرَسَةَ؟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When do you (girl) go to bed?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a girl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تَذْهَبِينَ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تَذْهَبِينَ إِلَى الفِرَاشِ؟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for Saturday, I sleep longer.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subject (-u), then fa-;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وَقْتًا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accusative.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يَوْمُ السَّبْتِ فَأَنَامُ وَقْتًا أَطْوَلَ.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With whom do you (group) eat lunch?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whom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to a group → -ūna (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تَتَغَدَّوْنَ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تَتَغَدَّوْنَ فِي المَدْرَسَةِ؟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يَا سَارَةُ، مَاذَا تَفْعَلُ بَعْدَ المَدْرَسَةِ؟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Sara is a girl.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يَوْمُ الأَحَدِ أَزُورُ جَدِّي.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needs its partner.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تَذْهَبُ؟ — فِي السَّابِعَةِ.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the answer match the question word?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يَا سَارَةُ، مَاذَا تَفْعَلُ بَعْدَ المَدْرَسَةِ؟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يَا سَارَةُ، مَاذَا تَفْعَلِينَ بَعْدَ المَدْرَسَةِ؟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 a girl → -īna.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يَوْمُ الأَحَدِ أَزُورُ جَدِّي.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يَوْمُ الأَحَدِ فَأَزُورُ جَدِّي.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…‏ then fa-: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فَأَزُورُ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تَذْهَبُ؟ — فِي السَّابِعَةِ.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تَذْهَبُ؟ — فِي السَّابِعَةِ.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 time answers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‏;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asks how.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فِي أَيَّامِ الدِّرَاسَةِ فَ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But on school days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مُمْطِرًا،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weather is rainy, …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مَتَى تَسْتَيْقِظِينَ يَوْمَ السَّبْتِ؟ ج: ______ 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Q: When do you wake up on Saturday? A: …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مَاذَا تَفْعَلِينَ غَالِبًا؟ ج: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Q: What do you often do? A: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مَعَ مَنْ؟ ج: ______ لِأَنَّ ______ 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Q: With whom? A: … because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بِاخْتِصَارٍ، هِيَ / هُوَ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short, she / he …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· مَتَى · مَعَ مَنْ  ·  كَمْ مَرَّةً · لِمَاذَا  ·  تَفْعَلُ · تَفْعَلِينَ · تَفْعَلُونَ  ·  غَالِبًا مَا  ·  فِي بَعْضِ الأَحْيَانِ  ·  أَمَّا … فَ…  ·  إِذَا كَانَ …  ·  بِاخْتِصَارٍ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60–80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Interview write-up for the school website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المُقَابَلَةُ عَلَى مَوْقِعِ المَدْرَسَةِ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2061972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2061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DIRECTED TASK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up your interview (about 60–80 words): five questions with different question words, each with a full answer about the weekend — using the correct form for a boy or a girl. Then add a short summary in the third person (‏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… / هِيَ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…‏) with one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…‏ and one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sentence.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All the bullet points, in order.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D1-L07 AND D1-L08.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Linking words: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One opinion with a reason.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/ تَفْعَلِينَ …؟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…? (boy / girl)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… ؟ · لِمَاذَا … ؟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whom …? · why …?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فِي نِهَايَةِ الأُسْبُوعِ فَ…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but at the weekend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… ،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weather is …,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six different question words that match the answers?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with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فَ… / بَيْنَمَا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and use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…‏ correctly?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more than one tense and give an opinion with a reason?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فِي التَّاسِعَةِ، أَمَّا فِي أَيَّامِ الدِّرَاسَةِ فَأَسْتَيْقِظُ فِي السَّادِسَةِ وَالنِّصْفِ.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wake up at nine, whereas on school days I wake up at half past six.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 يَوْمَ السَّبْتِ؟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مَا أَلْعَبُ كُرَةَ القَدَمِ، وَفِي بَعْضِ الأَحْيَانِ أَذْهَبُ إِلَى السُّوقِ.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often play football, and sometimes I go to the market.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غَالِبًا فِي نِهَايَةِ الأُسْبُوعِ؟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أَبْنَاءِ عَمِّي، لِأَنَّهُمْ يَسْكُنُونَ قَرِيبًا مِنَّا.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my cousins, because they live near us.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 وَلِمَاذَا مَعَهُمْ؟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بَارِدًا جِدًّا، أَقْرَأُ أَوْ أَلْعَبُ أَلْعَابًا مَعَ أُخْتِي.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weather is very cold, I read or play games with my sister.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كَانَ الجَوُّ بَارِدًا جِدًّا؟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تَفْعَلِينَ يَوْمَ الأَحَدِ؟ وَهَلْ تَسْتَيْقِظِينَ مُبَكِّرًا؟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on Sunday? And do you wake up early? (to a female reporter)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وَالآنَ اسْأَلْنِي أَنْتَ: سُؤَالَيْنِ عَنْ نِهَايَةِ أُسْبُوعِي.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مَتَى تَسْتَيْقِظِينَ يَوْمَ السَّبْتِ؟ ج: فِي التَّاسِعَةِ، لِأَنِّي أَتْعَبُ فِي الأُسْبُوعِ.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مَاذَا تَفْعَلِينَ غَالِبًا؟ ج: غَالِبًا مَا أَذْهَبُ إِلَى النَّادِي لِلسِّبَاحَةِ.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مَعَ مَنْ تَقْضِينَ يَوْمَ الأَحَدِ؟ ج: مَعَ عَائِلَتِي؛ نَزُورُ جَدَّتِي.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كَمْ مَرَّةً تَقْرَئِينَ؟ ج: كُلَّ مَسَاءٍ تَقْرِيبًا.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وَإِذَا كَانَ الجَوُّ مُمْطِرًا؟ ج: إِذَا كَانَ مُمْطِرًا، نَطْبُخُ مَعًا.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بِاخْتِصَارٍ، هِيَ تَسْتَرِيحُ فِي نِهَايَةِ الأُسْبُوعِ، أَمَّا فِي أَيَّامِ الدِّرَاسَةِ فَتَعْمَلُ كَثِيرًا.</a:t>
            </a:r>
            <a:endParaRPr lang="ar-SA" sz="19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“Q: When do you wake up on Saturday? A: At nine, because I get tired during the week. Q: What do you often do? A: I often go to the club to swim. Q: Who do you spend Sunday with? A: With my family; we visit my grandmother. Q: How often do you read? A: Almost every evening. Q: And if it is rainy? A: If it is rainy, we cook together. In short, she rests at the weekend, but on school days she works a lot.”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مَا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تَقْضِينَ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مُمْطِرًا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فِي أَيَّامِ الدِّرَاسَةِ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D1-L07 and D1-L08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more than one tense and gave opinions with reasons.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D1-W04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D1-L09 · Reading Daily Routines and Weekly Schedules</a:t>
            </a:r>
            <a:endParaRPr lang="en-US" sz="18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قِرَاءَةُ الرُّوتِينِ اليَوْمِيِّ وَالجَدَاوِلِ الأُسْبُوعِيَّةِ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D1-W04 · Apply Workshop — The Weekend Interview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2026-10-26T15:26:29Z</dcterms:created>
  <dcterms:modified xsi:type="dcterms:W3CDTF">2026-10-26T15:26:29Z</dcterms:modified>
</cp:coreProperties>
</file>