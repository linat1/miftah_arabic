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D1-L03 · Learn D1-L04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D1-L03 (How Often? — Frequency Adverbs in My Routine) and D1-L04 (Before and After — Sequencing My Day).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D1-L03 and D1-L04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D1-L03? After D1-L04?” Take two answers in the chat for each lesson (one word or one sentence is enough). Then read objective 3 — today’s new situation that needs BOTH lessons. Students tick their route goals at the end of the lesson.
D1-L03 language: frequency: dāʾiman · ʿādatan · ghāliban · aḥyānan · nādiran · lā … abadan · kathīran mā; marratan / marratayni / thalātha marrātin fī al-usbūʿi; yawmiyyan · usbūʿiyyan; comparing with baynamā · ammā … fa- · akthara min
D1-L04 language: qabla / baʿda + noun (genitive: qabla al-madrasati); qabla an / baʿda an + verb ending in -a (baʿda an ataghadda); ʿindamā · ḥīna · bi-mujarradi an · fawra an +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D1-L03 and D1-L04. Teacher reads it once with a confident student; then pairs. Ask: “Which lines are from D1-L03? Which from D1-L04?” Frequency (ثَلَاثَ مَرَّاتٍ · عَادَةً · لَا … أَبَدًا) and بَيْنَمَا come from D1-L03; قَبْلَ النَّوْمِ (noun) vs قَبْلَ أَنْ تَنَامَ / بَعْدَ أَنْ أَسْتَيْقِظَ (verb in -a) from D1-L04.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frequency expressions and comparisons (D1-L03) with qabla / baʿda + noun and qabla an / baʿda an + verb in -a (D1-L04). FADED SUPPORT: tasks 1–2 show the plan; students write their own plan for 3–5. To a girl Partner A says: كَمْ مَرَّةً تَأْكُلِينَ …؟ · مَاذَا تَفْعَلِينَ بَعْدَ أَنْ تَرْجِعِي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D1-L03 and D1-L04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D1-L03 and D1-L04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Find each bullet point in the model, and one phrase from D1-L03 and one from D1-L04.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D1-L03 + D1-L04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Wellbeing Week Survey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اسْتِبْيَانُ أُسْبُوعِ الرَّفَاهِيَةِ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frequency with sequencing: for the school’s wellbeing week they survey each other on how often they do healthy things and in what order (</a:t>
            </a:r>
            <a:pPr algn="l" indent="0" marL="0">
              <a:buNone/>
            </a:pPr>
            <a:r>
              <a:rPr lang="ar-SA" altLang="en-US" sz="1800" dirty="0">
                <a:solidFill>
                  <a:srgbClr val="C6D2E6"/>
                </a:solidFill>
                <a:latin typeface="Amiri" pitchFamily="2" charset="-78"/>
                <a:ea typeface="Amiri" pitchFamily="2" charset="-78"/>
                <a:cs typeface="Amiri" pitchFamily="2" charset="-78"/>
              </a:rPr>
              <a:t>قَبْلَ / بَعْدَ</a:t>
            </a:r>
            <a:pPr algn="l" indent="0" marL="0">
              <a:buNone/>
            </a:pPr>
            <a:r>
              <a:rPr lang="en-US" sz="1400" dirty="0">
                <a:solidFill>
                  <a:srgbClr val="C6D2E6"/>
                </a:solidFill>
                <a:latin typeface="Calibri" pitchFamily="34" charset="0"/>
                <a:cs typeface="Amiri" pitchFamily="2" charset="-78"/>
              </a:rPr>
              <a:t> + noun, </a:t>
            </a:r>
            <a:pPr algn="l" indent="0" marL="0">
              <a:buNone/>
            </a:pPr>
            <a:r>
              <a:rPr lang="ar-SA" altLang="en-US" sz="1800" dirty="0">
                <a:solidFill>
                  <a:srgbClr val="C6D2E6"/>
                </a:solidFill>
                <a:latin typeface="Amiri" pitchFamily="2" charset="-78"/>
                <a:ea typeface="Amiri" pitchFamily="2" charset="-78"/>
                <a:cs typeface="Amiri" pitchFamily="2" charset="-78"/>
              </a:rPr>
              <a:t>قَبْلَ أَنْ / بَعْدَ أَنْ</a:t>
            </a:r>
            <a:pPr algn="l" indent="0" marL="0">
              <a:buNone/>
            </a:pPr>
            <a:r>
              <a:rPr lang="en-US" sz="1400" dirty="0">
                <a:solidFill>
                  <a:srgbClr val="C6D2E6"/>
                </a:solidFill>
                <a:latin typeface="Calibri" pitchFamily="34" charset="0"/>
                <a:cs typeface="Amiri" pitchFamily="2" charset="-78"/>
              </a:rPr>
              <a:t> + verb), compare a busy day and a quiet day, and write a survey report.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D1-L03 + D1-L04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D1-L03 and D1-L04.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D1-L03 + D1-L04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D1-L03: How Often? — Frequency Adverbs in My Routine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D1-L04: Before and After — Sequencing My Day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wellbeing interview · Our wellbeing survey report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D1-L03 and D1-L04.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D1-L03 · How Often? — Frequency Adverbs in My Routine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أَيَّامُ الأُسْبُوعِ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days of the week</a:t>
            </a:r>
            <a:endParaRPr lang="en-US" sz="1350" dirty="0"/>
          </a:p>
          <a:p>
            <a:pPr indent="0" marL="0">
              <a:buNone/>
            </a:pPr>
            <a:r>
              <a:rPr lang="en-US" sz="1100" i="1" dirty="0">
                <a:solidFill>
                  <a:srgbClr val="5A6472"/>
                </a:solidFill>
                <a:latin typeface="Calibri" pitchFamily="34" charset="0"/>
                <a:cs typeface="Amiri" pitchFamily="2" charset="-78"/>
              </a:rPr>
              <a:t>ay-yā-mu al-us-bū-ʿi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مُزْدَحِمٌ</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busy day</a:t>
            </a:r>
            <a:endParaRPr lang="en-US" sz="1350" dirty="0"/>
          </a:p>
          <a:p>
            <a:pPr indent="0" marL="0">
              <a:buNone/>
            </a:pPr>
            <a:r>
              <a:rPr lang="en-US" sz="1100" i="1" dirty="0">
                <a:solidFill>
                  <a:srgbClr val="5A6472"/>
                </a:solidFill>
                <a:latin typeface="Calibri" pitchFamily="34" charset="0"/>
                <a:cs typeface="Amiri" pitchFamily="2" charset="-78"/>
              </a:rPr>
              <a:t>yaw-mun muz-da-ḥi-mun</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مُزْدَحِمٌ</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مُزْدَحِمَةٌ</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days</a:t>
            </a:r>
            <a:endParaRPr lang="en-US" sz="700" dirty="0"/>
          </a:p>
        </p:txBody>
      </p:sp>
      <p:sp>
        <p:nvSpPr>
          <p:cNvPr id="39" name="Text 36"/>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أَيَّامٌ مُزْدَحِمَةٌ</a:t>
            </a:r>
            <a:endParaRPr lang="ar-SA"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أُسْبُوعِيًّا</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a:t>
            </a:r>
            <a:endParaRPr lang="en-US" sz="1350" dirty="0"/>
          </a:p>
          <a:p>
            <a:pPr indent="0" marL="0">
              <a:buNone/>
            </a:pPr>
            <a:r>
              <a:rPr lang="en-US" sz="1100" i="1" dirty="0">
                <a:solidFill>
                  <a:srgbClr val="5A6472"/>
                </a:solidFill>
                <a:latin typeface="Calibri" pitchFamily="34" charset="0"/>
                <a:cs typeface="Amiri" pitchFamily="2" charset="-78"/>
              </a:rPr>
              <a:t>us-bū-ʿiy-yan</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كَثِيرًا مَا</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often</a:t>
            </a:r>
            <a:endParaRPr lang="en-US" sz="1350" dirty="0"/>
          </a:p>
          <a:p>
            <a:pPr indent="0" marL="0">
              <a:buNone/>
            </a:pPr>
            <a:r>
              <a:rPr lang="en-US" sz="1100" i="1" dirty="0">
                <a:solidFill>
                  <a:srgbClr val="5A6472"/>
                </a:solidFill>
                <a:latin typeface="Calibri" pitchFamily="34" charset="0"/>
                <a:cs typeface="Amiri" pitchFamily="2" charset="-78"/>
              </a:rPr>
              <a:t>ka-thī-ran mā</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الجَدْوَلُ الأُسْبُوعِيُّ</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 schedule</a:t>
            </a:r>
            <a:endParaRPr lang="en-US" sz="1350" dirty="0"/>
          </a:p>
          <a:p>
            <a:pPr indent="0" marL="0">
              <a:buNone/>
            </a:pPr>
            <a:r>
              <a:rPr lang="en-US" sz="1100" i="1" dirty="0">
                <a:solidFill>
                  <a:srgbClr val="5A6472"/>
                </a:solidFill>
                <a:latin typeface="Calibri" pitchFamily="34" charset="0"/>
                <a:cs typeface="Amiri" pitchFamily="2" charset="-78"/>
              </a:rPr>
              <a:t>al-jad-wa-lu al-us-bū-ʿiy-yu</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D1-L04 · Before and After — Sequencing My Day</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قَبْلَ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before + verb</a:t>
            </a:r>
            <a:endParaRPr lang="en-US" sz="1350" dirty="0"/>
          </a:p>
          <a:p>
            <a:pPr indent="0" marL="0">
              <a:buNone/>
            </a:pPr>
            <a:r>
              <a:rPr lang="en-US" sz="1100" i="1" dirty="0">
                <a:solidFill>
                  <a:srgbClr val="5A6472"/>
                </a:solidFill>
                <a:latin typeface="Calibri" pitchFamily="34" charset="0"/>
                <a:cs typeface="Amiri" pitchFamily="2" charset="-78"/>
              </a:rPr>
              <a:t>qab-la 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عِنْدَمَا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when</a:t>
            </a:r>
            <a:endParaRPr lang="en-US" sz="1350" dirty="0"/>
          </a:p>
          <a:p>
            <a:pPr indent="0" marL="0">
              <a:buNone/>
            </a:pPr>
            <a:r>
              <a:rPr lang="en-US" sz="1100" i="1" dirty="0">
                <a:solidFill>
                  <a:srgbClr val="5A6472"/>
                </a:solidFill>
                <a:latin typeface="Calibri" pitchFamily="34" charset="0"/>
                <a:cs typeface="Amiri" pitchFamily="2" charset="-78"/>
              </a:rPr>
              <a:t>ʿin-da-mā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end</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أُكْمِلُ وَاجِبِي</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complete my homework</a:t>
            </a:r>
            <a:endParaRPr lang="en-US" sz="1350" dirty="0"/>
          </a:p>
          <a:p>
            <a:pPr indent="0" marL="0">
              <a:buNone/>
            </a:pPr>
            <a:r>
              <a:rPr lang="en-US" sz="1100" i="1" dirty="0">
                <a:solidFill>
                  <a:srgbClr val="5A6472"/>
                </a:solidFill>
                <a:latin typeface="Calibri" pitchFamily="34" charset="0"/>
                <a:cs typeface="Amiri" pitchFamily="2" charset="-78"/>
              </a:rPr>
              <a:t>uk-mi-lu wā-ji-bī</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7" name="Text 44"/>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يُكْمِلُ</a:t>
            </a:r>
            <a:endParaRPr lang="ar-SA" sz="150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0" name="Text 47"/>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تُكْمِلُ</a:t>
            </a:r>
            <a:endParaRPr lang="ar-SA" sz="150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53" name="Text 50"/>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أُكْمِلَ</a:t>
            </a:r>
            <a:endParaRPr lang="ar-SA"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Shape 54"/>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9" name="Shape 56"/>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أَسْتَرِيحُ</a:t>
            </a:r>
            <a:endParaRPr lang="ar-SA" sz="3000" dirty="0"/>
          </a:p>
        </p:txBody>
      </p:sp>
      <p:sp>
        <p:nvSpPr>
          <p:cNvPr id="62" name="Text 59"/>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rest</a:t>
            </a:r>
            <a:endParaRPr lang="en-US" sz="1350" dirty="0"/>
          </a:p>
          <a:p>
            <a:pPr indent="0" marL="0">
              <a:buNone/>
            </a:pPr>
            <a:r>
              <a:rPr lang="en-US" sz="1100" i="1" dirty="0">
                <a:solidFill>
                  <a:srgbClr val="5A6472"/>
                </a:solidFill>
                <a:latin typeface="Calibri" pitchFamily="34" charset="0"/>
                <a:cs typeface="Amiri" pitchFamily="2" charset="-78"/>
              </a:rPr>
              <a:t>as-ta-rī-ḥu</a:t>
            </a:r>
            <a:endParaRPr lang="en-US" sz="1350" dirty="0"/>
          </a:p>
        </p:txBody>
      </p:sp>
      <p:sp>
        <p:nvSpPr>
          <p:cNvPr id="63" name="Shape 60"/>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5" name="Text 62"/>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يَسْتَرِيحُ</a:t>
            </a:r>
            <a:endParaRPr lang="ar-SA" sz="1500" dirty="0"/>
          </a:p>
        </p:txBody>
      </p:sp>
      <p:sp>
        <p:nvSpPr>
          <p:cNvPr id="66" name="Shape 63"/>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8" name="Text 65"/>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تَسْتَرِيحُ</a:t>
            </a:r>
            <a:endParaRPr lang="ar-SA" sz="1500" dirty="0"/>
          </a:p>
        </p:txBody>
      </p:sp>
      <p:sp>
        <p:nvSpPr>
          <p:cNvPr id="69" name="Shape 66"/>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after an</a:t>
            </a:r>
            <a:endParaRPr lang="en-US" sz="700" dirty="0"/>
          </a:p>
        </p:txBody>
      </p:sp>
      <p:sp>
        <p:nvSpPr>
          <p:cNvPr id="71" name="Text 68"/>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أَنْ أَسْتَرِيحَ</a:t>
            </a:r>
            <a:endParaRPr lang="ar-SA" sz="135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Text 7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بِمُجَرَّدِ أَنْ</a:t>
            </a:r>
            <a:endParaRPr lang="ar-SA" sz="3000" dirty="0"/>
          </a:p>
        </p:txBody>
      </p:sp>
      <p:sp>
        <p:nvSpPr>
          <p:cNvPr id="76" name="Text 7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soon as</a:t>
            </a:r>
            <a:endParaRPr lang="en-US" sz="1350" dirty="0"/>
          </a:p>
          <a:p>
            <a:pPr indent="0" marL="0">
              <a:buNone/>
            </a:pPr>
            <a:r>
              <a:rPr lang="en-US" sz="1100" i="1" dirty="0">
                <a:solidFill>
                  <a:srgbClr val="5A6472"/>
                </a:solidFill>
                <a:latin typeface="Calibri" pitchFamily="34" charset="0"/>
                <a:cs typeface="Amiri" pitchFamily="2" charset="-78"/>
              </a:rPr>
              <a:t>bi-mu-jar-ra-di an</a:t>
            </a:r>
            <a:endParaRPr lang="en-US"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يَوْمُ … مُزْدَحِمٌ، بَيْنَمَا يَوْمُ … هَادِئٌ</a:t>
            </a:r>
            <a:endParaRPr lang="ar-SA" sz="17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750" b="1" dirty="0">
                <a:solidFill>
                  <a:srgbClr val="1B3B6F"/>
                </a:solidFill>
                <a:latin typeface="Amiri" pitchFamily="2" charset="-78"/>
                <a:ea typeface="Amiri" pitchFamily="2" charset="-78"/>
                <a:cs typeface="Amiri" pitchFamily="2" charset="-78"/>
              </a:rPr>
              <a:t>قَبْلَ المَدْرَسَةِ … · بَعْدَ الغَدَاءِ …</a:t>
            </a:r>
            <a:endParaRPr lang="ar-SA" sz="175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أَنْ أَخْرُجَ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عَادَةً · غَالِبًا · أَحْيَانًا · نَادِرًا</a:t>
            </a:r>
            <a:endParaRPr lang="ar-SA" sz="17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 أَبَدًا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أَرْجِعَ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بِمُجَرَّدِ 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فِي … فَأَنَامُ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D1-L03 · How Often? — Frequency Adverbs in My Routine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D1-L04 · Before and After — Sequencing My Day</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D1-L03 · How Often? — Frequency Adverbs in My Routine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 مُزْدَحِمٌ، بَيْنَمَا يَوْمُ … هَادِئٌ</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 غَالِبًا · أَحْيَانًا · نَادِرًا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 أَبَدًا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فِي … فَأَنَامُ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D1-L04 · Before and After — Sequencing My Day</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المَدْرَسَةِ … · بَعْدَ الغَدَاءِ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أَنْ أَخْرُجَ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أَرْجِعَ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بِمُجَرَّدِ 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wellbeing survey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الرَّفَاهِيَةِ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times a week do you do sport?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كَمْ مَرَّةً تُمَارِسُ الرِّيَاضَةَ فِي الأُسْبُوعِ؟</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times a week, usually after school.</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ثَلَاثَ مَرَّاتٍ فِي الأُسْبُوعِ، عَادَةً بَعْدَ المَدْرَسَةِ.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 you do before you sleep?</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وَمَاذَا تَفْعَلُ قَبْلَ أَنْ تَنَامَ؟</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read a little, and I never use my phone before sleep.</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أَقْرَأُ قَلِيلًا، وَلَا أَسْتَعْمِلُ الهَاتِفَ أَبَدًا قَبْلَ النَّوْمِ.</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Monday like Saturday?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يَوْمُ الإِثْنَيْنِ مِثْلُ يَوْمِ السَّبْتِ؟</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Monday is busy, whereas Saturday is quiet. After I wake up on Saturday, I have breakfast slowly.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لَا! يَوْمُ الإِثْنَيْنِ مُزْدَحِمٌ، بَيْنَمَا يَوْمُ السَّبْتِ هَادِئٌ. بَعْدَ أَنْ أَسْتَيْقِظَ يَوْمَ السَّبْتِ، أَتَنَاوَلُ الفُطُورَ بِبُطْءٍ.</a:t>
            </a:r>
            <a:endParaRPr lang="ar-SA" sz="13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قَبْلَ الامْتِحَانِ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أُرَاجِعُ … ← يَوْمِيًّا / مَرَّتَيْنِ فِي الأُسْبُوعِ</a:t>
            </a:r>
            <a:endParaRPr lang="ar-SA" sz="145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do you revise?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تُرَاجِعُ دُرُوسَكَ؟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وَقَبْلَ أَنْ أَخْرُجَ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قَبْلَ المَدْرَسَةِ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before school?</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قَبْلَ المَدْرَسَةِ؟</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عَادَةً … / لَا … أَبَدًا</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always eat breakfast?</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تَأْكُلُ الإِفْطَارَ دَائِمًا؟</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بَعْدَ أَنْ أَتَغَدَّى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after you have lunch?</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بَعْدَ أَنْ تَتَغَدَّى؟</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نَادِرًا مَا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rarely do?</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تَفْعَلُهُ نَادِرًا؟</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أُرَاجِعُ … قَبْلَ / بَعْدَ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revise?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تُرَاجِعُ دُرُوسَكَ؟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D1-L03, even numbers from D1-L04.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the wellbeing interview</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الرَّفَاهِيَةِ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 مَرَّاتٍ فِي … / يَوْمِيًّا</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frequency expression.</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تَأْكُلُ الفَاكِهَةَ؟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قَبْلَ ← قَبْلَ المَدْرَسَةِ … ثُمَّ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actions with ‏</a:t>
            </a:r>
            <a:pPr algn="l" indent="0" marL="0">
              <a:buNone/>
            </a:pPr>
            <a:r>
              <a:rPr lang="ar-SA" altLang="en-US" sz="1450" dirty="0">
                <a:solidFill>
                  <a:srgbClr val="5A6472"/>
                </a:solidFill>
                <a:latin typeface="Amiri" pitchFamily="2" charset="-78"/>
                <a:ea typeface="Amiri" pitchFamily="2" charset="-78"/>
                <a:cs typeface="Amiri" pitchFamily="2" charset="-78"/>
              </a:rPr>
              <a:t>قَبْلَ</a:t>
            </a:r>
            <a:pPr algn="l" indent="0" marL="0">
              <a:buNone/>
            </a:pPr>
            <a:r>
              <a:rPr lang="en-US" sz="1100" dirty="0">
                <a:solidFill>
                  <a:srgbClr val="5A6472"/>
                </a:solidFill>
                <a:latin typeface="Calibri" pitchFamily="34" charset="0"/>
                <a:cs typeface="Amiri" pitchFamily="2" charset="-78"/>
              </a:rPr>
              <a:t>‏ + noun.</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قَبْلَ المَدْرَسَةِ؟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with ‏</a:t>
            </a:r>
            <a:pPr algn="l" indent="0" marL="0">
              <a:buNone/>
            </a:pPr>
            <a:r>
              <a:rPr lang="ar-SA" altLang="en-US" sz="1450" dirty="0">
                <a:solidFill>
                  <a:srgbClr val="5A6472"/>
                </a:solidFill>
                <a:latin typeface="Amiri" pitchFamily="2" charset="-78"/>
                <a:ea typeface="Amiri" pitchFamily="2" charset="-78"/>
                <a:cs typeface="Amiri" pitchFamily="2" charset="-78"/>
              </a:rPr>
              <a:t>بَعْدَ أَنْ</a:t>
            </a:r>
            <a:pPr algn="l" indent="0" marL="0">
              <a:buNone/>
            </a:pPr>
            <a:r>
              <a:rPr lang="en-US" sz="1100" dirty="0">
                <a:solidFill>
                  <a:srgbClr val="5A6472"/>
                </a:solidFill>
                <a:latin typeface="Calibri" pitchFamily="34" charset="0"/>
                <a:cs typeface="Amiri" pitchFamily="2" charset="-78"/>
              </a:rPr>
              <a:t>‏ + verb in -a.</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تَفْعَلُ بَعْدَ أَنْ تَرْجِعَ إِلَى البَيْتِ؟</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Never + a reason.</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الَّذِي لَا تَفْعَلُهُ أَبَدًا؟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 or ‏</a:t>
            </a:r>
            <a:pPr algn="l" indent="0" marL="0">
              <a:buNone/>
            </a:pPr>
            <a:r>
              <a:rPr lang="ar-SA" altLang="en-US" sz="1450" dirty="0">
                <a:solidFill>
                  <a:srgbClr val="5A6472"/>
                </a:solidFill>
                <a:latin typeface="Amiri" pitchFamily="2" charset="-78"/>
                <a:ea typeface="Amiri" pitchFamily="2" charset="-78"/>
                <a:cs typeface="Amiri" pitchFamily="2" charset="-78"/>
              </a:rPr>
              <a:t>أَمَّا … فَ</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يَوْمًا مُزْدَحِمًا بِيَوْمٍ هَادِئٍ.</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student · Partner A = the wellbeing officer.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healthy is my week?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أُسْبُوعِي 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week: four healthy habits with how often you do them, the order of your evening (‏</a:t>
            </a:r>
            <a:pPr algn="l" indent="0" marL="0">
              <a:buNone/>
            </a:pPr>
            <a:r>
              <a:rPr lang="ar-SA" altLang="en-US" sz="1750" dirty="0">
                <a:solidFill>
                  <a:srgbClr val="1F2A37"/>
                </a:solidFill>
                <a:latin typeface="Amiri" pitchFamily="2" charset="-78"/>
                <a:ea typeface="Amiri" pitchFamily="2" charset="-78"/>
                <a:cs typeface="Amiri" pitchFamily="2" charset="-78"/>
              </a:rPr>
              <a:t>قَبْلَ أَنْ</a:t>
            </a:r>
            <a:pPr algn="l" indent="0" marL="0">
              <a:buNone/>
            </a:pPr>
            <a:r>
              <a:rPr lang="en-US" sz="1350" dirty="0">
                <a:solidFill>
                  <a:srgbClr val="1F2A37"/>
                </a:solidFill>
                <a:latin typeface="Calibri" pitchFamily="34" charset="0"/>
                <a:cs typeface="Amiri" pitchFamily="2" charset="-78"/>
              </a:rPr>
              <a:t> … · </a:t>
            </a:r>
            <a:pPr algn="l" indent="0" marL="0">
              <a:buNone/>
            </a:pPr>
            <a:r>
              <a:rPr lang="ar-SA" altLang="en-US" sz="1750" dirty="0">
                <a:solidFill>
                  <a:srgbClr val="1F2A37"/>
                </a:solidFill>
                <a:latin typeface="Amiri" pitchFamily="2" charset="-78"/>
                <a:ea typeface="Amiri" pitchFamily="2" charset="-78"/>
                <a:cs typeface="Amiri" pitchFamily="2" charset="-78"/>
              </a:rPr>
              <a:t>بَعْدَ أَنْ</a:t>
            </a:r>
            <a:pPr algn="l" indent="0" marL="0">
              <a:buNone/>
            </a:pPr>
            <a:r>
              <a:rPr lang="en-US" sz="1350" dirty="0">
                <a:solidFill>
                  <a:srgbClr val="1F2A37"/>
                </a:solidFill>
                <a:latin typeface="Calibri" pitchFamily="34" charset="0"/>
                <a:cs typeface="Amiri" pitchFamily="2" charset="-78"/>
              </a:rPr>
              <a:t> …‏), one thing you never do, and a comparison between a busy day and a quiet day.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عَادَةً … · أَحْيَانًا … · قَبْلَ المَدْرَسَةِ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قَبْلَ أَنْ / بَعْدَ أَنْ</a:t>
            </a:r>
            <a:pPr algn="l" indent="0" marL="0">
              <a:buNone/>
            </a:pPr>
            <a:r>
              <a:rPr lang="en-US" sz="1150" dirty="0">
                <a:solidFill>
                  <a:srgbClr val="1F2A37"/>
                </a:solidFill>
                <a:latin typeface="Calibri" pitchFamily="34" charset="0"/>
                <a:cs typeface="Amiri" pitchFamily="2" charset="-78"/>
              </a:rPr>
              <a:t>‏ + verb in -a and ‏</a:t>
            </a:r>
            <a:pPr algn="l" indent="0" marL="0">
              <a:buNone/>
            </a:pPr>
            <a:r>
              <a:rPr lang="ar-SA" altLang="en-US" sz="1500" dirty="0">
                <a:solidFill>
                  <a:srgbClr val="1F2A37"/>
                </a:solidFill>
                <a:latin typeface="Amiri" pitchFamily="2" charset="-78"/>
                <a:ea typeface="Amiri" pitchFamily="2" charset="-78"/>
                <a:cs typeface="Amiri" pitchFamily="2" charset="-78"/>
              </a:rPr>
              <a:t>لَا … أَبَدًا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أَمَّا … فَ</a:t>
            </a:r>
            <a:pPr algn="l" indent="0" marL="0">
              <a:buNone/>
            </a:pPr>
            <a:r>
              <a:rPr lang="en-US" sz="1150" dirty="0">
                <a:solidFill>
                  <a:srgbClr val="1F2A37"/>
                </a:solidFill>
                <a:latin typeface="Calibri" pitchFamily="34" charset="0"/>
                <a:cs typeface="Amiri" pitchFamily="2" charset="-78"/>
              </a:rPr>
              <a:t>…‏ and a judgement: ‏</a:t>
            </a:r>
            <a:pPr algn="l" indent="0" marL="0">
              <a:buNone/>
            </a:pPr>
            <a:r>
              <a:rPr lang="ar-SA" altLang="en-US" sz="1500" dirty="0">
                <a:solidFill>
                  <a:srgbClr val="1F2A37"/>
                </a:solidFill>
                <a:latin typeface="Amiri" pitchFamily="2" charset="-78"/>
                <a:ea typeface="Amiri" pitchFamily="2" charset="-78"/>
                <a:cs typeface="Amiri" pitchFamily="2" charset="-78"/>
              </a:rPr>
              <a:t>هَلْ أُسْبُوعِي صِحِّيٌّ؟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usually revise every evening.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عَادَةً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دُرُوسِي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يُرَاجِعُ دُرُوسِي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مَسَاءٍ.</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revise before dinner.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دُرُوسِي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أُرَاجِعُ دُرُوسِيَ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العَشَاءِ.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العَشَاءُ.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never drink coffee.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أَشْرَبُ القَهْوَةَ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أَشْرَبُ القَهْوَةُ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دَائِمًا.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usually revise every evening.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Usually = </a:t>
            </a:r>
            <a:pPr algn="l" indent="0" marL="0">
              <a:buNone/>
            </a:pPr>
            <a:r>
              <a:rPr lang="ar-SA" altLang="en-US" sz="1350" dirty="0">
                <a:solidFill>
                  <a:srgbClr val="5A6472"/>
                </a:solidFill>
                <a:latin typeface="Amiri" pitchFamily="2" charset="-78"/>
                <a:ea typeface="Amiri" pitchFamily="2" charset="-78"/>
                <a:cs typeface="Amiri" pitchFamily="2" charset="-78"/>
              </a:rPr>
              <a:t>عَادَةً</a:t>
            </a:r>
            <a:pPr algn="l" indent="0" marL="0">
              <a:buNone/>
            </a:pPr>
            <a:r>
              <a:rPr lang="en-US" sz="1050" i="1" dirty="0">
                <a:solidFill>
                  <a:srgbClr val="5A6472"/>
                </a:solidFill>
                <a:latin typeface="Calibri" pitchFamily="34" charset="0"/>
                <a:cs typeface="Amiri" pitchFamily="2" charset="-78"/>
              </a:rPr>
              <a:t>; every evening = </a:t>
            </a:r>
            <a:pPr algn="l" indent="0" marL="0">
              <a:buNone/>
            </a:pPr>
            <a:r>
              <a:rPr lang="ar-SA" altLang="en-US" sz="1350" dirty="0">
                <a:solidFill>
                  <a:srgbClr val="5A6472"/>
                </a:solidFill>
                <a:latin typeface="Amiri" pitchFamily="2" charset="-78"/>
                <a:ea typeface="Amiri" pitchFamily="2" charset="-78"/>
                <a:cs typeface="Amiri" pitchFamily="2" charset="-78"/>
              </a:rPr>
              <a:t>كُلَّ مَسَاءٍ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عَادَةً أُرَاجِعُ دُرُوسِي كُلَّ مَسَاءٍ.</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revise before dinner.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قَبْلَ</a:t>
            </a:r>
            <a:pPr algn="l" indent="0" marL="0">
              <a:buNone/>
            </a:pPr>
            <a:r>
              <a:rPr lang="en-US" sz="1050" i="1" dirty="0">
                <a:solidFill>
                  <a:srgbClr val="5A6472"/>
                </a:solidFill>
                <a:latin typeface="Calibri" pitchFamily="34" charset="0"/>
                <a:cs typeface="Amiri" pitchFamily="2" charset="-78"/>
              </a:rPr>
              <a:t> + noun → genitive: </a:t>
            </a:r>
            <a:pPr algn="l" indent="0" marL="0">
              <a:buNone/>
            </a:pPr>
            <a:r>
              <a:rPr lang="ar-SA" altLang="en-US" sz="1350" dirty="0">
                <a:solidFill>
                  <a:srgbClr val="5A6472"/>
                </a:solidFill>
                <a:latin typeface="Amiri" pitchFamily="2" charset="-78"/>
                <a:ea typeface="Amiri" pitchFamily="2" charset="-78"/>
                <a:cs typeface="Amiri" pitchFamily="2" charset="-78"/>
              </a:rPr>
              <a:t>العَشَاءِ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أُرَاجِعُ دُرُوسِي قَبْلَ العَشَاءِ.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never drink coffee.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Never (present) = </a:t>
            </a:r>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verb … </a:t>
            </a:r>
            <a:pPr algn="l" indent="0" marL="0">
              <a:buNone/>
            </a:pPr>
            <a:r>
              <a:rPr lang="ar-SA" altLang="en-US" sz="1350" dirty="0">
                <a:solidFill>
                  <a:srgbClr val="5A6472"/>
                </a:solidFill>
                <a:latin typeface="Amiri" pitchFamily="2" charset="-78"/>
                <a:ea typeface="Amiri" pitchFamily="2" charset="-78"/>
                <a:cs typeface="Amiri" pitchFamily="2" charset="-78"/>
              </a:rPr>
              <a:t>أَبَدًا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أَشْرَبُ القَهْوَةَ أَبَدًا.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أَبَدًا أَسْهَرُ.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“never” needs two parts.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قَبْلَ أَنْ أَنَامُ أَقْرَأُ.</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أُخْتِي تَنَامُ مُبَكِّرًا.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أَمَّا</a:t>
            </a:r>
            <a:pPr algn="l" indent="0" marL="0">
              <a:buNone/>
            </a:pPr>
            <a:r>
              <a:rPr lang="en-US" sz="1300" i="1" dirty="0">
                <a:solidFill>
                  <a:srgbClr val="5A6472"/>
                </a:solidFill>
                <a:latin typeface="Calibri" pitchFamily="34" charset="0"/>
                <a:cs typeface="Amiri" pitchFamily="2" charset="-78"/>
              </a:rPr>
              <a:t> needs a partner.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أَبَدًا أَسْهَرُ.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أَسْهَرُ أَبَدًا.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Never =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 verb + ‏</a:t>
            </a:r>
            <a:pPr algn="l" indent="0" marL="0">
              <a:buNone/>
            </a:pPr>
            <a:r>
              <a:rPr lang="ar-SA" altLang="en-US" sz="1500" b="1" dirty="0">
                <a:solidFill>
                  <a:srgbClr val="1B3B6F"/>
                </a:solidFill>
                <a:latin typeface="Amiri" pitchFamily="2" charset="-78"/>
                <a:ea typeface="Amiri" pitchFamily="2" charset="-78"/>
                <a:cs typeface="Amiri" pitchFamily="2" charset="-78"/>
              </a:rPr>
              <a:t>أَبَدًا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قَبْلَ أَنْ أَنَامُ أَقْرَأُ.</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قَبْلَ أَنْ أَنَامَ أَقْرَأُ.</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ending in -a: ‏</a:t>
            </a:r>
            <a:pPr algn="l" indent="0" marL="0">
              <a:buNone/>
            </a:pPr>
            <a:r>
              <a:rPr lang="ar-SA" altLang="en-US" sz="1500" b="1" dirty="0">
                <a:solidFill>
                  <a:srgbClr val="1B3B6F"/>
                </a:solidFill>
                <a:latin typeface="Amiri" pitchFamily="2" charset="-78"/>
                <a:ea typeface="Amiri" pitchFamily="2" charset="-78"/>
                <a:cs typeface="Amiri" pitchFamily="2" charset="-78"/>
              </a:rPr>
              <a:t>أَنَامَ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أُخْتِي تَنَامُ مُبَكِّرًا.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أُخْتِي فَتَنَامُ مُبَكِّرًا.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 then add fa- to the next word: ‏</a:t>
            </a:r>
            <a:pPr algn="l" indent="0" marL="0">
              <a:buNone/>
            </a:pPr>
            <a:r>
              <a:rPr lang="ar-SA" altLang="en-US" sz="1500" b="1" dirty="0">
                <a:solidFill>
                  <a:srgbClr val="1B3B6F"/>
                </a:solidFill>
                <a:latin typeface="Amiri" pitchFamily="2" charset="-78"/>
                <a:ea typeface="Amiri" pitchFamily="2" charset="-78"/>
                <a:cs typeface="Amiri" pitchFamily="2" charset="-78"/>
              </a:rPr>
              <a:t>فَتَنَامُ</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زَمِيلِي / زَمِيلَتِي فَ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classmate, he / she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يَوْمُ ______ مُزْدَحِمٌ، بَيْنَمَا يَوْمُ ______ هَادِئٌ.</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busy, whereas … is quiet.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سَأُحَاوِلُ أَنْ ______ لِأَنَّ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try to … because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أُمَارِسُ الرِّيَاضَةَ ______ مَرَّاتٍ فِي الأُسْبُوعِ.</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sport … times a week.</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المَدْرَسَةِ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Before school I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أَنْ أَرْجِعَ إِلَى البَيْتِ،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I get home, I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______ أَبَدًا لِأَنَّ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never … because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دَائِمًا · عَادَةً · غَالِبًا  ·  أَحْيَانًا · نَادِرًا  ·  لَا … أَبَدًا  ·  مَرَّةً · مَرَّتَيْنِ  ·  قَبْلَ النَّوْمِ · بَعْدَ الغَدَاءِ  ·  قَبْلَ أَنْ · بَعْدَ أَنْ  ·  بَيْنَمَا  ·  أَمَّا … فَ…</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wellbeing survey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الاسْتِبْيَانِ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report (about 60–80 words) for the wellbeing week about your own habits and a partner’s. Include: • five frequency expressions • two qabla / baʿda + noun and two qabla an / baʿda an + verb • one thing you never do • a comparison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or ‏</a:t>
            </a:r>
            <a:pPr algn="l" indent="0" marL="0">
              <a:buNone/>
            </a:pPr>
            <a:r>
              <a:rPr lang="ar-SA" altLang="en-US" sz="1450" b="1" dirty="0">
                <a:solidFill>
                  <a:srgbClr val="1F2A37"/>
                </a:solidFill>
                <a:latin typeface="Amiri" pitchFamily="2" charset="-78"/>
                <a:ea typeface="Amiri" pitchFamily="2" charset="-78"/>
                <a:cs typeface="Amiri" pitchFamily="2" charset="-78"/>
              </a:rPr>
              <a:t>أَمَّا … فَ</a:t>
            </a:r>
            <a:pPr algn="l" indent="0" marL="0">
              <a:buNone/>
            </a:pPr>
            <a:r>
              <a:rPr lang="en-US" sz="1100" b="1" dirty="0">
                <a:solidFill>
                  <a:srgbClr val="1F2A37"/>
                </a:solidFill>
                <a:latin typeface="Calibri" pitchFamily="34" charset="0"/>
                <a:cs typeface="Amiri" pitchFamily="2" charset="-78"/>
              </a:rPr>
              <a:t>…‏ • a judgement: what will you change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D1-L03 AND D1-L04.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ثَلَاثَ مَرَّاتٍ فِي الأُسْبُوعِ · يَوْمِيًّا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three times a week · daily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النَّوْمِ · بَعْدَ الغَدَاءِ</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sleep · after lunch</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أَنْ أَنَامَ · بَعْدَ أَنْ أَرْجِعَ</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before I sleep · after I return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بَيْنَمَا · أَمَّا … فَ…</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whereas · as for … (then)</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four different frequency expressions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قَبْلَ أَنْ / بَعْدَ أَنْ</a:t>
            </a:r>
            <a:pPr algn="l" indent="0" marL="0">
              <a:buNone/>
            </a:pPr>
            <a:r>
              <a:rPr lang="en-US" sz="1100" dirty="0">
                <a:solidFill>
                  <a:srgbClr val="5A6472"/>
                </a:solidFill>
                <a:latin typeface="Calibri" pitchFamily="34" charset="0"/>
                <a:cs typeface="Amiri" pitchFamily="2" charset="-78"/>
              </a:rPr>
              <a:t>‏ + verb ending in -a?</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الفَاكِهَةَ يَوْمِيًّا، عَادَةً بَعْدَ الغَدَاءِ.</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eat fruit daily, usually after lunch.</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تَأْكُلُ الفَاكِهَةَ؟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قَبْلَ المَدْرَسَةِ أُصَلِّي، ثُمَّ أَمْشِي عَشْرَ دَقَائِقَ.</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Before school I pray, then I walk for ten minutes.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قَبْلَ المَدْرَسَةِ؟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بَعْدَ أَنْ أَرْجِعَ، أَسْتَرِيحُ نِصْفَ سَاعَةٍ، ثُمَّ أُكْمِلُ وَاجِبِي.</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I get back, I rest for half an hour, then I finish my homework.</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تَفْعَلُ بَعْدَ أَنْ تَرْجِعَ إِلَى البَيْتِ؟</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أَشْرَبُ المَشْرُوبَاتِ الغَازِيَّةَ أَبَدًا لِأَنَّهَا غَيْرُ صِحِّيَّةٍ.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never drink fizzy drinks because they are unhealthy.</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الَّذِي لَا تَفْعَلُهُ أَبَدًا؟</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الثُّلَاثَاءِ مُزْدَحِمٌ، بَيْنَمَا يَوْمُ الأَحَدِ هَادِئٌ؛ أَمَّا يَوْمُ الجُمُعَةِ فَأُصَلِّي فِي المَسْجِدِ.</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Tuesday is busy, whereas Sunday is quiet; as for Friday, I pray at the mosque.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قَارِنْ يَوْمًا مُزْدَحِمًا بِيَوْمٍ هَادِئٍ.</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أُمَارِسُ الرِّيَاضَةَ ثَلَاثَ مَرَّاتٍ فِي الأُسْبُوعِ، وَآكُلُ الفَاكِهَةَ يَوْمِيًّا. قَبْلَ المَدْرَسَةِ أَمْشِي عَشْرَ دَقَائِقَ، وَبَعْدَ الغَدَاءِ أَشْرَبُ مَاءً كَثِيرًا. بَعْدَ أَنْ أَرْجِعَ إِلَى البَيْتِ أَسْتَرِيحُ قَلِيلًا، وَقَبْلَ أَنْ أَنَامَ أَقْرَأُ. لَا أَسْتَعْمِلُ الهَاتِفَ أَبَدًا فِي السَّرِيرِ. أَمَّا زَمِيلِي سَامِي فَيَلْعَبُ أَلْعَابَ الفِيدْيُو كَثِيرًا، وَنَادِرًا مَا يَمْشِي. يَوْمُ الإِثْنَيْنِ مُزْدَحِمٌ عِنْدِي، بَيْنَمَا يَوْمُ السَّبْتِ هَادِئٌ. سَأُحَاوِلُ أَنْ أَنَامَ مُبَكِّرًا لِأَنَّ النَّوْمَ مُهِمٌّ لِلصِّحَّةِ.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do sport three times a week, and I eat fruit daily. Before school I walk for ten minutes, and after lunch I drink a lot of water. After I get home I rest a little, and before I sleep I read. I never use my phone in bed. As for my classmate Sami, he plays video games a lot and rarely walks. Monday is busy for me, whereas Saturday is quiet. I will try to sleep early because sleep is important for health.”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ثَلَاثَ مَرَّاتٍ فِي الأُسْبُوعِ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أَنْ أَرْجِعَ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أَسْتَعْمِلُ الهَاتِفَ أَبَدًا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يَوْمُ السَّبْتِ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D1-W02 · Apply workshop (D1-L03 + D1-L04)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D1-L03 and D1-L04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D1-L05 · After School and Evening Routine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بَعْدَ المَدْرَسَةِ وَرُوتِينُ المَسَاءِ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D1-W02 · Apply Workshop — The Wellbeing Week Survey</dc:title>
  <dc:subject>PptxGenJS Presentation</dc:subject>
  <dc:creator>Al Madina Online School · Arabic Department</dc:creator>
  <cp:lastModifiedBy>Al Madina Online School · Arabic Department</cp:lastModifiedBy>
  <cp:revision>1</cp:revision>
  <dcterms:created xsi:type="dcterms:W3CDTF">2026-10-26T15:47:50Z</dcterms:created>
  <dcterms:modified xsi:type="dcterms:W3CDTF">2026-10-26T15:47:50Z</dcterms:modified>
</cp:coreProperties>
</file>