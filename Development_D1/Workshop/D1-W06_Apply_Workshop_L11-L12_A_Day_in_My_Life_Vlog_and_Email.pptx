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D1-L11 · Learn D1-L12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D1-L11 (Speaking and Writing — My Daily Routine) and D1-L12 (Review and Unit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D1-L11 and D1-L12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D1-L11? After D1-L12?” Take two answers in the chat for each lesson (one word or one sentence is enough). Then read objective 3 — today’s new situation that needs BOTH lessons. Students tick their route goals at the end of the lesson.
D1-L11 language: extending every answer: Point + Reason (li-anna) + Example (ʿalā sabīl al-mithāl) + Contrast (maʿa dhālika · baynamā · ammā … fa-); person control (astayqiẓu / yastayqiẓu / tastayqiẓu); qabla an / baʿda an + verb in -a; frequency and exact clock time
D1-L12 language: D1 review: clock time with ordinals and fractions; frequency; qabla / baʿda (+ noun) and qabla an / baʿda an (+ verb in -a); li-muddati · li-kay; he / she / you forms; ammā … fa- · baynamā · idhā; past (ams) and future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D1-L11 and D1-L12. Teacher reads it once with a confident student; then pairs. Ask: “Which lines are from D1-L11? Which from D1-L12?” The PREC chain (Point · Reason with لِأَنَّ · Example with عَلَى سَبِيلِ المِثَالِ · Contrast with مَعَ ذٰلِكَ / أَمَّا … فَ…) comes from D1-L11; the content — times, قَبْلَ أَنْ, another person, past and future — is the D1-L12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every D1 structure under review (D1-L12), each answer extended with a reason, an example or a contrast (D1-L11). FADED SUPPORT: tasks 1–2 show the plan; students write their own plan for 3–5. To a girl Partner A says: صِفِي · مَاذَا تَفْعَلِينَ؟ · مَاذَا فَعَلْتِ؟ · مَاذَا سَتُغَيِّرِينَ؟.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D1-L11 and D1-L12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D1-L11 and D1-L12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CHECK YOURSELF (2 min). Find each bullet point in the model, and one phrase from D1-L11 and one from D1-L12.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D1-L11 + D1-L12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Day in My Life: Vlog and Email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 فِي حَيَاتِي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Students use all of D1 for one real purpose: they script and present a “day in my life” vlog for a partner school in Jordan — times, frequency, before and after, evening purposes, another person’s routine, last weekend and a future change — extending every answer with Point · Reason · Example · Contrast, then write the exam-style email.</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D1-L11 + D1-L12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D1-L11 and D1-L12.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D1-L11 + D1-L12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D1-L11: Speaking and Writing — My Daily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D1-L12: Review and Unit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partner school asks · Exam-style email: my daily life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D1-L11 and D1-L12.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D1-L11 · Speaking and Writing — My Daily Routine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a:t>
            </a:r>
            <a:endParaRPr lang="en-US" sz="1350" dirty="0"/>
          </a:p>
          <a:p>
            <a:pPr indent="0" marL="0">
              <a:buNone/>
            </a:pPr>
            <a:r>
              <a:rPr lang="en-US" sz="1100" i="1" dirty="0">
                <a:solidFill>
                  <a:srgbClr val="5A6472"/>
                </a:solidFill>
                <a:latin typeface="Calibri" pitchFamily="34" charset="0"/>
                <a:cs typeface="Amiri" pitchFamily="2" charset="-78"/>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المِثَالُ</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example</a:t>
            </a:r>
            <a:endParaRPr lang="en-US" sz="1350" dirty="0"/>
          </a:p>
          <a:p>
            <a:pPr indent="0" marL="0">
              <a:buNone/>
            </a:pPr>
            <a:r>
              <a:rPr lang="en-US" sz="1100" i="1" dirty="0">
                <a:solidFill>
                  <a:srgbClr val="5A6472"/>
                </a:solidFill>
                <a:latin typeface="Calibri" pitchFamily="34" charset="0"/>
                <a:cs typeface="Amiri" pitchFamily="2" charset="-78"/>
              </a:rPr>
              <a:t>al-mi-thā-lu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الأَمْثِلَةُ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المِثَالُ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مِثَالٌ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يَعْنِي أَنَّ</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means that</a:t>
            </a:r>
            <a:endParaRPr lang="en-US" sz="1350" dirty="0"/>
          </a:p>
          <a:p>
            <a:pPr indent="0" marL="0">
              <a:buNone/>
            </a:pPr>
            <a:r>
              <a:rPr lang="en-US" sz="1100" i="1" dirty="0">
                <a:solidFill>
                  <a:srgbClr val="5A6472"/>
                </a:solidFill>
                <a:latin typeface="Calibri" pitchFamily="34" charset="0"/>
                <a:cs typeface="Amiri" pitchFamily="2" charset="-78"/>
              </a:rPr>
              <a:t>hā-dhā yaʿ-nī an-na</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 / بَعْدَ أَنْ</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 + subjunctive</a:t>
            </a:r>
            <a:endParaRPr lang="en-US" sz="1350" dirty="0"/>
          </a:p>
          <a:p>
            <a:pPr indent="0" marL="0">
              <a:buNone/>
            </a:pPr>
            <a:r>
              <a:rPr lang="en-US" sz="1100" i="1" dirty="0">
                <a:solidFill>
                  <a:srgbClr val="5A6472"/>
                </a:solidFill>
                <a:latin typeface="Calibri" pitchFamily="34" charset="0"/>
                <a:cs typeface="Amiri" pitchFamily="2" charset="-78"/>
              </a:rPr>
              <a:t>qab-la an / baʿ-da an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span</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D1-L12 · Review and Unit Assessment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وَالرُّبْعُ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 three</a:t>
            </a:r>
            <a:endParaRPr lang="en-US" sz="1350" dirty="0"/>
          </a:p>
          <a:p>
            <a:pPr indent="0" marL="0">
              <a:buNone/>
            </a:pPr>
            <a:r>
              <a:rPr lang="en-US" sz="1100" i="1" dirty="0">
                <a:solidFill>
                  <a:srgbClr val="5A6472"/>
                </a:solidFill>
                <a:latin typeface="Calibri" pitchFamily="34" charset="0"/>
                <a:cs typeface="Amiri" pitchFamily="2" charset="-78"/>
              </a:rPr>
              <a:t>as-sā-ʿa-tu ath-thā-li-tha-tu wālr-rub-ʿu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 أَبَدًا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 أَنَامَ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I sleep</a:t>
            </a:r>
            <a:endParaRPr lang="en-US" sz="1350" dirty="0"/>
          </a:p>
          <a:p>
            <a:pPr indent="0" marL="0">
              <a:buNone/>
            </a:pPr>
            <a:r>
              <a:rPr lang="en-US" sz="1100" i="1" dirty="0">
                <a:solidFill>
                  <a:srgbClr val="5A6472"/>
                </a:solidFill>
                <a:latin typeface="Calibri" pitchFamily="34" charset="0"/>
                <a:cs typeface="Amiri" pitchFamily="2" charset="-78"/>
              </a:rPr>
              <a:t>qab-la an a-nā-ma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لِمُدَّةِ سَاعَةٍ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an hour</a:t>
            </a:r>
            <a:endParaRPr lang="en-US" sz="1350" dirty="0"/>
          </a:p>
          <a:p>
            <a:pPr indent="0" marL="0">
              <a:buNone/>
            </a:pPr>
            <a:r>
              <a:rPr lang="en-US" sz="1100" i="1" dirty="0">
                <a:solidFill>
                  <a:srgbClr val="5A6472"/>
                </a:solidFill>
                <a:latin typeface="Calibri" pitchFamily="34" charset="0"/>
                <a:cs typeface="Amiri" pitchFamily="2" charset="-78"/>
              </a:rPr>
              <a:t>li-mud-da-ti sā-ʿa-tin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Time and sequence, or extending an answer?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يَعْنِي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لِمُدَّةِ سَاعَةٍ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frequency and sequence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Extending an answer (PREC)</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frequency and sequence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لِمُدَّةِ سَاعَةٍ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Extending an answer (PREC)</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يَعْنِي أَنَّ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Vlog interview: one full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morning on a school day.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صَبَاحَكَ فِي يَوْمٍ مَدْرَسِيٍّ.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half past six, and before I go out I have breakfast because it gives me energy.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أَسْتَيْقِظُ فِي السَّادِسَةِ وَالنِّصْفِ، وَقَبْلَ أَنْ أَخْرُجَ أَتَنَاوَلُ الفُطُورَ لِأَنَّهُ يُعْطِينِي طَاقَةً.</a:t>
            </a:r>
            <a:endParaRPr lang="ar-SA" sz="17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example, I eat porridge with bananas.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عَلَى سَبِيلِ المِثَالِ، آكُلُ الشُّوفَانَ مَعَ المَوْزِ.</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for my brother, he never eats anything in the morning!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أَمَّا أَخِي فَلَا يَأْكُلُ شَيْئًا فِي الصَّبَاحِ أَبَدًا!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did you do last weekend?</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فَعَلْتَ فِي نِهَايَةِ الأُسْبُوعِ المَاضِيَةِ؟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visited my grandfather, and in future I will try to sleep early.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زُرْتُ جَدِّي، وَفِي المُسْتَقْبَلِ سَأُحَاوِلُ أَنْ أَنَامَ مُبَكِّرًا.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56648" y="226771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 E: ‏</a:t>
            </a:r>
            <a:pPr algn="l" indent="0" marL="0">
              <a:buNone/>
            </a:pPr>
            <a:r>
              <a:rPr lang="ar-SA" altLang="en-US" sz="1450" dirty="0">
                <a:solidFill>
                  <a:srgbClr val="5A6472"/>
                </a:solidFill>
                <a:latin typeface="Amiri" pitchFamily="2" charset="-78"/>
                <a:ea typeface="Amiri" pitchFamily="2" charset="-78"/>
                <a:cs typeface="Amiri" pitchFamily="2" charset="-78"/>
              </a:rPr>
              <a:t>عَلَى سَبِيلِ المِثَالِ</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3" name="Text 20"/>
          <p:cNvSpPr txBox="1"/>
          <p:nvPr/>
        </p:nvSpPr>
        <p:spPr>
          <a:xfrm>
            <a:off x="70134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أَسْتَيْقِظُ فِي … ثُمَّ</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morning on a school 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صَبَاحَكَ فِي يَوْمٍ مَدْرَسِيٍّ.</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أَيْ بَعْدَ … دَقِيقَةً</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السَّاعَةُ … وَتَنْتَهِي فِي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is it? When does the lesson end?</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الآنَ؟ وَمَتَى تَنْتَهِي الحِصَّةُ؟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a:t>
            </a:r>
            <a:pPr algn="l" indent="0" marL="0">
              <a:buNone/>
            </a:pPr>
            <a:r>
              <a:rPr lang="ar-SA" altLang="en-US" sz="1450" dirty="0">
                <a:solidFill>
                  <a:srgbClr val="5A6472"/>
                </a:solidFill>
                <a:latin typeface="Amiri" pitchFamily="2" charset="-78"/>
                <a:ea typeface="Amiri" pitchFamily="2" charset="-78"/>
                <a:cs typeface="Amiri" pitchFamily="2" charset="-78"/>
              </a:rPr>
              <a:t>مَعَ ذٰلِكَ … / بَيْنَمَا</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Text 36"/>
          <p:cNvSpPr txBox="1"/>
          <p:nvPr/>
        </p:nvSpPr>
        <p:spPr>
          <a:xfrm>
            <a:off x="70134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بَعْدَ أَنْ أَرْجِعَ</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usually do after school?</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 عَادَةً؟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 أَبَدًا قَبْلَ أَنْ أَنَامَ</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never do before sleeping?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لَا تَفْعَلُهُ أَبَدًا قَبْلَ النَّوْمِ؟</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E …</a:t>
            </a:r>
            <a:endParaRPr lang="en-US" sz="1100" dirty="0"/>
          </a:p>
        </p:txBody>
      </p:sp>
      <p:sp>
        <p:nvSpPr>
          <p:cNvPr id="55" name="Text 52"/>
          <p:cNvSpPr txBox="1"/>
          <p:nvPr/>
        </p:nvSpPr>
        <p:spPr>
          <a:xfrm>
            <a:off x="70134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أَنَا … بَيْنَمَا أَبِي / أُمِّي</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your routine different from a family member’s?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كَيْفَ يَخْتَلِفُ رُوتِينُكَ عَنْ رُوتِينِ أَحَدِ أَفْرَادِ أُسْرَتِكَ؟</a:t>
            </a:r>
            <a:endParaRPr lang="ar-SA" sz="155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أَنَا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يَسْتَيْقِظُ أَبِي / تَسْتَيْقِظُ أُمِّي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father’s or mother’s routine.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رُوتِينَ أَبِيكَ أَوْ أُمِّكَ.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D1-L11, even numbers from D1-L12.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partner school asks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تَسْأَلُ المَدْرَسَةُ الشَّقِيقَةُ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السَّاعَةُ … · تَنْتَهِي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exact times.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عِنْدَكُمُ الآنَ؟ وَمَتَى تَنْتَهِي المَدْرَسَةُ؟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مَاذَا ← بَعْدَ أَنْ أَرْجِعَ … لِأَنَّ … عَلَى سَبِيلِ المِثَالِ …</a:t>
            </a:r>
            <a:endParaRPr lang="ar-SA" sz="15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 + reason + example.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 عَادَةً؟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he / she verbs and a contrast.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رُوتِينَ أَبِيكَ أَوْ أُمِّكَ.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أَمَّا … فَ</a:t>
            </a:r>
            <a:pPr algn="l" indent="0" marL="0">
              <a:buNone/>
            </a:pPr>
            <a:r>
              <a:rPr lang="en-US" sz="1100" dirty="0">
                <a:solidFill>
                  <a:srgbClr val="5A6472"/>
                </a:solidFill>
                <a:latin typeface="Calibri" pitchFamily="34" charset="0"/>
                <a:cs typeface="Amiri" pitchFamily="2" charset="-78"/>
              </a:rPr>
              <a:t>…‏ and a frequency word.</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الأُسْبُوعِ وَنِهَايَتِهِ عِنْدَكَ؟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past sentence and one future plan.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أَمْسِ؟ وَمَاذَا سَتُغَيِّرُ؟</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vlogger · Partner A = a student in Jordan.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vlog: a day in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مُدَوَّنَتِي المُصَوَّرَةُ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your vlog for one minute without stopping: your school day with exact times, after school (with a duration and a purpose), one family member’s routine, how the weekend is different, what you did last weekend and one change you will make. Extend at least two points with PREC.</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 · بَعْدَ المَدْرَسَةِ … · فِي نِهَايَةِ الأُسْبُوعِ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قَبْلَ أَنْ / بَعْدَ أَنْ</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أَمَّا …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full PREC chains, a past sentence and a future plan — no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example, yesterday I revised for two hours.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سَبِيلِ المِثَالِ،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ذٰلِكَ،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 رَاجَعْتُ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 أُرَاجِعُ</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لِمُدَّةِ سَاعَتَيْنِ.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لِمُدَّةِ سَاعَتَانِ.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After I finish my homework, I go out for an hour.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أُنْهِيَ وَاجِبِي،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أُنْهِي وَاجِبِيَ،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أَخْرُجُ لِمُدَّةِ سَاعَةٍ.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أَخْرُجَ لِمُدَّةِ سَاعَةٍ.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However, I sleep longer at the weekend.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ذٰلِكَ،</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نِهَايَةِ الأُسْبُوعِ.</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نِهَايَةُ الأُسْبُوعِ.</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example, yesterday I revised for two hours.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 past; </a:t>
            </a:r>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i="1" dirty="0">
                <a:solidFill>
                  <a:srgbClr val="5A6472"/>
                </a:solidFill>
                <a:latin typeface="Calibri" pitchFamily="34" charset="0"/>
                <a:cs typeface="Amiri" pitchFamily="2" charset="-78"/>
              </a:rPr>
              <a:t> + genitive dual: </a:t>
            </a:r>
            <a:pPr algn="l" indent="0" marL="0">
              <a:buNone/>
            </a:pPr>
            <a:r>
              <a:rPr lang="ar-SA" altLang="en-US" sz="1350" dirty="0">
                <a:solidFill>
                  <a:srgbClr val="5A6472"/>
                </a:solidFill>
                <a:latin typeface="Amiri" pitchFamily="2" charset="-78"/>
                <a:ea typeface="Amiri" pitchFamily="2" charset="-78"/>
                <a:cs typeface="Amiri" pitchFamily="2" charset="-78"/>
              </a:rPr>
              <a:t>سَاعَتَيْنِ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عَلَى سَبِيلِ المِثَالِ، أَمْسِ رَاجَعْتُ لِمُدَّةِ سَاعَتَيْنِ.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After I finish my homework, I go out for an hour.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بَعْدَ أَنْ</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أُنْهِيَ</a:t>
            </a:r>
            <a:pPr algn="l" indent="0" marL="0">
              <a:buNone/>
            </a:pPr>
            <a:r>
              <a:rPr lang="en-US" sz="1050" i="1" dirty="0">
                <a:solidFill>
                  <a:srgbClr val="5A6472"/>
                </a:solidFill>
                <a:latin typeface="Calibri" pitchFamily="34" charset="0"/>
                <a:cs typeface="Amiri" pitchFamily="2" charset="-78"/>
              </a:rPr>
              <a:t>); main verb stays -u.</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بَعْدَ أَنْ أُنْهِيَ وَاجِبِي، أَخْرُجُ لِمُدَّةِ سَاعَةٍ.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However, I sleep longer at the weekend.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 </a:t>
            </a:r>
            <a:pPr algn="l" indent="0" marL="0">
              <a:buNone/>
            </a:pPr>
            <a:r>
              <a:rPr lang="ar-SA" altLang="en-US" sz="1350" dirty="0">
                <a:solidFill>
                  <a:srgbClr val="5A6472"/>
                </a:solidFill>
                <a:latin typeface="Amiri" pitchFamily="2" charset="-78"/>
                <a:ea typeface="Amiri" pitchFamily="2" charset="-78"/>
                <a:cs typeface="Amiri" pitchFamily="2" charset="-78"/>
              </a:rPr>
              <a:t>مَعَ ذٰلِكَ</a:t>
            </a:r>
            <a:pPr algn="l" indent="0" marL="0">
              <a:buNone/>
            </a:pPr>
            <a:r>
              <a:rPr lang="en-US" sz="1050" i="1" dirty="0">
                <a:solidFill>
                  <a:srgbClr val="5A6472"/>
                </a:solidFill>
                <a:latin typeface="Calibri" pitchFamily="34" charset="0"/>
                <a:cs typeface="Amiri" pitchFamily="2" charset="-78"/>
              </a:rPr>
              <a:t> (so = </a:t>
            </a:r>
            <a:pPr algn="l" indent="0" marL="0">
              <a:buNone/>
            </a:pPr>
            <a:r>
              <a:rPr lang="ar-SA" altLang="en-US" sz="1350" dirty="0">
                <a:solidFill>
                  <a:srgbClr val="5A6472"/>
                </a:solidFill>
                <a:latin typeface="Amiri" pitchFamily="2" charset="-78"/>
                <a:ea typeface="Amiri" pitchFamily="2" charset="-78"/>
                <a:cs typeface="Amiri" pitchFamily="2" charset="-78"/>
              </a:rPr>
              <a:t>لِذٰلِكَ</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مَعَ ذٰلِكَ، أَنَامُ وَقْتًا أَطْوَلَ فِي نِهَايَةِ الأُسْبُوعِ.</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أَسْتَيْقِظُ فِي السَّابِعَةِ.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time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أَرْبَعَةٌ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يَسْتَيْقِظُ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Person control.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أَسْتَيْقِظُ فِي السَّابِعَةِ.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اسْتَيْقَظْتُ فِي السَّابِعَةِ.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 ‏</a:t>
            </a:r>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 past tense.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أَرْبَعَةٌ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الرَّابِعَةُ إِلَّا 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Ordinal hour;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يَسْتَيْقِظُ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تَسْتَيْقِظُ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 she → ta-.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أَسْتَيْقِظُ فِي ______ ، وَقَبْلَ أَنْ أَخْرُجَ ______ .</a:t>
            </a:r>
            <a:endParaRPr lang="ar-SA" sz="16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wake up at …, and before I go out I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فِي المَسَاءِ أُرَاجِعُ لِمُدَّةِ ______ لِكَيْ ______ .</a:t>
            </a:r>
            <a:endParaRPr lang="ar-SA" sz="16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the evening I revise for … so that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at the weekend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Last weekend I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سَأُحَاوِلُ أَنْ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will try to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وَالرُّبْعِ · وَالنِّصْفِ · إِلَّا  ·  عَادَةً · غَالِبًا مَا  ·  قَبْلَ أَنْ · بَعْدَ أَنْ  ·  لِمُدَّةِ · لِكَيْ  ·  أَمَّا … فَ…  ·  لِأَنَّ · عَلَى سَبِيلِ المِثَالِ  ·  مَعَ ذٰلِكَ  ·  سَأُحَاوِلُ 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Exam-style email: my daily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حَيَاتِي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a new pen-friend in Jordan. Write an email (about 60–80 words). Answer ALL four bullets: • your school-day routine, with times • what you do in the evening and why • how your weekend is different • what you did last weekend, and one change you will make. Include at least one full PREC chain.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D1-L11 AND D1-L12.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وَقَبْلَ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and before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لِمُدَّةِ … لِكَيْ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for … so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at the weekend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نِهَايَةِ الأُسْبُوعِ المَاضِيَةِ … · سَأُحَاوِلُ أَنْ …</a:t>
            </a:r>
            <a:endParaRPr lang="ar-SA" sz="15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weekend … · I will try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Point + Reason for every part of the day?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past, present and future, plus ‏</a:t>
            </a:r>
            <a:pPr algn="l" indent="0" marL="0">
              <a:buNone/>
            </a:pPr>
            <a:r>
              <a:rPr lang="ar-SA" altLang="en-US" sz="1450" dirty="0">
                <a:solidFill>
                  <a:srgbClr val="5A6472"/>
                </a:solidFill>
                <a:latin typeface="Amiri" pitchFamily="2" charset="-78"/>
                <a:ea typeface="Amiri" pitchFamily="2" charset="-78"/>
                <a:cs typeface="Amiri" pitchFamily="2" charset="-78"/>
              </a:rPr>
              <a:t>قَبْلَ أَنْ / لِكَيْ</a:t>
            </a:r>
            <a:pPr algn="l" indent="0" marL="0">
              <a:buNone/>
            </a:pPr>
            <a:r>
              <a:rPr lang="en-US" sz="1100" dirty="0">
                <a:solidFill>
                  <a:srgbClr val="5A6472"/>
                </a:solidFill>
                <a:latin typeface="Calibri" pitchFamily="34" charset="0"/>
                <a:cs typeface="Amiri" pitchFamily="2" charset="-78"/>
              </a:rPr>
              <a:t>‏ with the -a ending?</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الآنَ العَاشِرَةُ وَالثُّلُثُ، وَتَنْتَهِي المَدْرَسَةُ فِي الثَّالِثَةِ وَالرُّبْعِ.</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now twenty past ten, and school ends at a quarter past three.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السَّاعَةُ عِنْدَكُمُ الآنَ؟ وَمَتَى تَنْتَهِي المَدْرَسَةُ؟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أَنْ أَرْجِعَ أُرَاجِعُ لِمُدَّةِ سَاعَةٍ لِأَنَّ الامْتِحَانَاتِ قَرِيبَةٌ؛ عَلَى سَبِيلِ المِثَالِ أُرَاجِعُ الرِّيَاضِيَّاتِ.</a:t>
            </a:r>
            <a:endParaRPr lang="ar-SA" sz="16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get back I revise for an hour because the exams are near; for example, I revise maths.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بَعْدَ المَدْرَسَةِ عَادَةً؟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تَسْتَيْقِظُ فِي الخَامِسَةِ وَتَعْمَلُ فِي المُسْتَشْفَى، بَيْنَمَا أَنَا أَنَامُ حَتَّى السَّادِسَةِ وَالنِّصْفِ.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wakes up at five and works at the hospital, whereas I sleep until half past six.</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رُوتِينَ أَبِيكَ أَوْ أُمِّكَ.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أَنَامُ مُبَكِّرًا، أَمَّا فِي نِهَايَتِهِ فَغَالِبًا مَا أَسْهَرُ قَلِيلًا.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During the week I sleep early, but at the weekend I often stay up a little.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الفَرْقُ بَيْنَ الأُسْبُوعِ وَنِهَايَتِهِ عِنْدَكَ؟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لَعِبْتُ كُرَةَ القَدَمِ، وَسَأُحَاوِلُ أَنْ أَسْتَعْمِلَ الهَاتِفَ أَقَلَّ.</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 I played football, and I will try to use my phone less.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 أَمْسِ؟ وَمَاذَا سَتُغَيِّرُ؟</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أَهْلًا يَا عُمَرُ! فِي أَيَّامِ المَدْرَسَةِ أَسْتَيْقِظُ فِي السَّادِسَةِ وَالنِّصْفِ، وَقَبْلَ أَنْ أَخْرُجَ أَتَنَاوَلُ الفُطُورَ. تَبْدَأُ المَدْرَسَةُ فِي الثَّامِنَةِ وَتَنْتَهِي فِي الثَّالِثَةِ وَالرُّبْعِ. فِي المَسَاءِ أُرَاجِعُ لِمُدَّةِ سَاعَةٍ لِكَيْ أَسْتَعِدَّ لِلِامْتِحَانَاتِ؛ عَلَى سَبِيلِ المِثَالِ، أُرَاجِعُ الكَلِمَاتِ العَرَبِيَّةَ. أَمَّا فِي نِهَايَةِ الأُسْبُوعِ فَأَنَامُ حَتَّى التَّاسِعَةِ، وَغَالِبًا مَا أَلْعَبُ مَعَ أَصْدِقَائِي. فِي نِهَايَةِ الأُسْبُوعِ المَاضِيَةِ زُرْتُ جَدِّي فِي بِرْمِنْغَهَام. مَعَ ذٰلِكَ، أَسْتَعْمِلُ الهَاتِفَ كَثِيرًا، لِذٰلِكَ سَأُحَاوِلُ أَنْ أَسْتَعْمِلَهُ أَقَلَّ.</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On school days I wake up at half past six, and before I go out I have breakfast. School starts at eight and ends at a quarter past three. In the evening I revise for an hour so that I am ready for the exams; for example, I revise Arabic words. But at the weekend I sleep until nine, and I often play with my friends. Last weekend I visited my grandfather in Birmingham. However, I use my phone a lot, so I will try to use it less.”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وَقَبْلَ أَنْ أَخْرُجَ</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لِمُدَّةِ سَاعَةٍ لِكَيْ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فِي نِهَايَةِ الأُسْبُوعِ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سَأُحَاوِلُ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D1-L11 and D1-L12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D1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D1-W06 · Apply Workshop — A Day in My Life: Vlog and Email</dc:title>
  <dc:subject>PptxGenJS Presentation</dc:subject>
  <dc:creator>Al Madina Online School · Arabic Department</dc:creator>
  <cp:lastModifiedBy>Al Madina Online School · Arabic Department</cp:lastModifiedBy>
  <cp:revision>1</cp:revision>
  <dcterms:created xsi:type="dcterms:W3CDTF">2026-10-26T15:47:54Z</dcterms:created>
  <dcterms:modified xsi:type="dcterms:W3CDTF">2026-10-26T15:47:54Z</dcterms:modified>
</cp:coreProperties>
</file>