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D1-L05 · Learn D1-L06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D1-L05 (After School and Evening Routine) and D1-L06 (He and She — Describing Someone Else’s Routine).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D1-L05 and D1-L06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D1-L05? After D1-L06?” Take two answers in the chat for each lesson (one word or one sentence is enough). Then read objective 3 — today’s new situation that needs BOTH lessons. Students tick their route goals at the end of the lesson.
D1-L05 language: three phases (afternoon · early evening · night); li-muddati + duration; purpose with li-kay / ḥattā + verb in -a; possessive and object suffixes (ghurfatī · usāʿiduhā · urattibuhā)
D1-L06 language: third person: ya- prefix for he (yastayqiẓu) and ta- for she (tastayqiẓu); possessive -hu / -hā on every noun (ḥaqībatuhu · ḥaqībatuhā); comparing with baynamā · amma … fa- · akthara min · mithla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D1-L05.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D1-L06.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D1-L05 and D1-L06. Teacher reads it once with a confident student; then pairs. Ask: “Which lines are from D1-L05? Which from D1-L06?” لِمُدَّةِ · لِكَيْ + verb in -a · object pronouns (أُسَاعِدُهَا) come from D1-L05; ta- verbs for “she” and بَيْنَمَا from D1-L06.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the afternoon and evening in phases with durations, purposes and object pronouns (D1-L05) with he / she verbs, -hu / -hā and comparisons (D1-L06). FADED SUPPORT: tasks 1–2 show the plan; students write their own plan for 3–5. To a girl Partner A says: مَاذَا تَفْعَلِينَ عِنْدَمَا تَرْجِعِينَ؟ · لِمَاذَا تُرَاجِعِينَ …؟ · كَيْفَ تُسَاعِدِينَ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D1-L05 and D1-L06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D1-L05 and D1-L06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(65 words). CHECK YOURSELF (2 min). Find each bullet point in the model, and one phrase from D1-L05 and one from D1-L06.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D1-L05 + D1-L06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My Evening and My Sister’s Evening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مَسَائِي وَمَسَاءُ أُخْتِي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join the evening routine with “he / she” forms: they describe their own afternoon and evening in three phases (with </a:t>
            </a:r>
            <a:pPr algn="l" indent="0" marL="0">
              <a:buNone/>
            </a:pPr>
            <a:r>
              <a:rPr lang="ar-SA" altLang="en-US" sz="1750" dirty="0">
                <a:solidFill>
                  <a:srgbClr val="C6D2E6"/>
                </a:solidFill>
                <a:latin typeface="Amiri" pitchFamily="2" charset="-78"/>
                <a:ea typeface="Amiri" pitchFamily="2" charset="-78"/>
                <a:cs typeface="Amiri" pitchFamily="2" charset="-78"/>
              </a:rPr>
              <a:t>لِمُدَّةِ</a:t>
            </a:r>
            <a:pPr algn="l" indent="0" marL="0">
              <a:buNone/>
            </a:pPr>
            <a:r>
              <a:rPr lang="en-US" sz="1350" dirty="0">
                <a:solidFill>
                  <a:srgbClr val="C6D2E6"/>
                </a:solidFill>
                <a:latin typeface="Calibri" pitchFamily="34" charset="0"/>
                <a:cs typeface="Amiri" pitchFamily="2" charset="-78"/>
              </a:rPr>
              <a:t>, </a:t>
            </a:r>
            <a:pPr algn="l" indent="0" marL="0">
              <a:buNone/>
            </a:pPr>
            <a:r>
              <a:rPr lang="ar-SA" altLang="en-US" sz="1750" dirty="0">
                <a:solidFill>
                  <a:srgbClr val="C6D2E6"/>
                </a:solidFill>
                <a:latin typeface="Amiri" pitchFamily="2" charset="-78"/>
                <a:ea typeface="Amiri" pitchFamily="2" charset="-78"/>
                <a:cs typeface="Amiri" pitchFamily="2" charset="-78"/>
              </a:rPr>
              <a:t>لِكَيْ</a:t>
            </a:r>
            <a:pPr algn="l" indent="0" marL="0">
              <a:buNone/>
            </a:pPr>
            <a:r>
              <a:rPr lang="en-US" sz="1350" dirty="0">
                <a:solidFill>
                  <a:srgbClr val="C6D2E6"/>
                </a:solidFill>
                <a:latin typeface="Calibri" pitchFamily="34" charset="0"/>
                <a:cs typeface="Amiri" pitchFamily="2" charset="-78"/>
              </a:rPr>
              <a:t> and object pronouns), then a family member’s evening (ya- / ta-, -hu / -hā), compare the two and write a family-magazine article.</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D1-L05 + D1-L06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D1-L05 and D1-L06.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D1-L05 + D1-L06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D1-L05: After School and Evening Routine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D1-L06: He and She — Describing Someone Else’s Routine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family magazine interview · Two evenings: an article for the family magazine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D1-L05 and D1-L06.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D1-L05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D1-L05 · After School and Evening Routine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أَرْجِعُ إِلَى البَيْتِ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return home</a:t>
            </a:r>
            <a:endParaRPr lang="en-US" sz="1350" dirty="0"/>
          </a:p>
          <a:p>
            <a:pPr indent="0" marL="0">
              <a:buNone/>
            </a:pPr>
            <a:r>
              <a:rPr lang="en-US" sz="1100" i="1" dirty="0">
                <a:solidFill>
                  <a:srgbClr val="5A6472"/>
                </a:solidFill>
                <a:latin typeface="Calibri" pitchFamily="34" charset="0"/>
                <a:cs typeface="Amiri" pitchFamily="2" charset="-78"/>
              </a:rPr>
              <a:t>ar-ji-ʿu i-lā al-bay-ti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 وَجْبَةً خَفِيفَةً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a snack</a:t>
            </a:r>
            <a:endParaRPr lang="en-US" sz="1350" dirty="0"/>
          </a:p>
          <a:p>
            <a:pPr indent="0" marL="0">
              <a:buNone/>
            </a:pPr>
            <a:r>
              <a:rPr lang="en-US" sz="1100" i="1" dirty="0">
                <a:solidFill>
                  <a:srgbClr val="5A6472"/>
                </a:solidFill>
                <a:latin typeface="Calibri" pitchFamily="34" charset="0"/>
                <a:cs typeface="Amiri" pitchFamily="2" charset="-78"/>
              </a:rPr>
              <a:t>a-ta-nā-wa-lu waj-ba-tan kha-fī-fa-tan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أُرَاجِعُ دُرُوسِي</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revise my lessons</a:t>
            </a:r>
            <a:endParaRPr lang="en-US" sz="1350" dirty="0"/>
          </a:p>
          <a:p>
            <a:pPr indent="0" marL="0">
              <a:buNone/>
            </a:pPr>
            <a:r>
              <a:rPr lang="en-US" sz="1100" i="1" dirty="0">
                <a:solidFill>
                  <a:srgbClr val="5A6472"/>
                </a:solidFill>
                <a:latin typeface="Calibri" pitchFamily="34" charset="0"/>
                <a:cs typeface="Amiri" pitchFamily="2" charset="-78"/>
              </a:rPr>
              <a:t>u-rā-ji-ʿu du-rū-sī</a:t>
            </a:r>
            <a:endParaRPr lang="en-US" sz="1350" dirty="0"/>
          </a:p>
        </p:txBody>
      </p:sp>
      <p:sp>
        <p:nvSpPr>
          <p:cNvPr id="38" name="Shape 3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0" name="Text 3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يُرَاجِعُ دُرُوسَهُ</a:t>
            </a:r>
            <a:endParaRPr lang="ar-SA" sz="1500" dirty="0"/>
          </a:p>
        </p:txBody>
      </p:sp>
      <p:sp>
        <p:nvSpPr>
          <p:cNvPr id="41" name="Shape 3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تُرَاجِعُ دُرُوسَهَا</a:t>
            </a:r>
            <a:endParaRPr lang="ar-SA" sz="1500" dirty="0"/>
          </a:p>
        </p:txBody>
      </p:sp>
      <p:sp>
        <p:nvSpPr>
          <p:cNvPr id="44" name="Shape 4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6" name="Text 4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نُرَاجِعُ دُرُوسَنَا</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أُسَاعِدُ أُسْرَتِي</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 my family</a:t>
            </a:r>
            <a:endParaRPr lang="en-US" sz="1350" dirty="0"/>
          </a:p>
          <a:p>
            <a:pPr indent="0" marL="0">
              <a:buNone/>
            </a:pPr>
            <a:r>
              <a:rPr lang="en-US" sz="1100" i="1" dirty="0">
                <a:solidFill>
                  <a:srgbClr val="5A6472"/>
                </a:solidFill>
                <a:latin typeface="Calibri" pitchFamily="34" charset="0"/>
                <a:cs typeface="Amiri" pitchFamily="2" charset="-78"/>
              </a:rPr>
              <a:t>u-sā-ʿi-du us-ra-tī</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 العَشَاءَ</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dinner</a:t>
            </a:r>
            <a:endParaRPr lang="en-US" sz="1350" dirty="0"/>
          </a:p>
          <a:p>
            <a:pPr indent="0" marL="0">
              <a:buNone/>
            </a:pPr>
            <a:r>
              <a:rPr lang="en-US" sz="1100" i="1" dirty="0">
                <a:solidFill>
                  <a:srgbClr val="5A6472"/>
                </a:solidFill>
                <a:latin typeface="Calibri" pitchFamily="34" charset="0"/>
                <a:cs typeface="Amiri" pitchFamily="2" charset="-78"/>
              </a:rPr>
              <a:t>a-ta-nā-wa-lu al-ʿa-shā-ʾa</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إِلَى الفِرَاشِ</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to bed</a:t>
            </a:r>
            <a:endParaRPr lang="en-US" sz="1350" dirty="0"/>
          </a:p>
          <a:p>
            <a:pPr indent="0" marL="0">
              <a:buNone/>
            </a:pPr>
            <a:r>
              <a:rPr lang="en-US" sz="1100" i="1" dirty="0">
                <a:solidFill>
                  <a:srgbClr val="5A6472"/>
                </a:solidFill>
                <a:latin typeface="Calibri" pitchFamily="34" charset="0"/>
                <a:cs typeface="Amiri" pitchFamily="2" charset="-78"/>
              </a:rPr>
              <a:t>adh-ha-bu i-lā al-fi-rā-shi</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D1-L06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D1-L06 · He and She — Describing Someone Else’s Routine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يَسْتَيْقِظُ</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wakes up</a:t>
            </a:r>
            <a:endParaRPr lang="en-US" sz="1350" dirty="0"/>
          </a:p>
          <a:p>
            <a:pPr indent="0" marL="0">
              <a:buNone/>
            </a:pPr>
            <a:r>
              <a:rPr lang="en-US" sz="1100" i="1" dirty="0">
                <a:solidFill>
                  <a:srgbClr val="5A6472"/>
                </a:solidFill>
                <a:latin typeface="Calibri" pitchFamily="34" charset="0"/>
                <a:cs typeface="Amiri" pitchFamily="2" charset="-78"/>
              </a:rPr>
              <a:t>yas-tay-qi-ẓu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يَسْتَيْقِظُونَ</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تَسْتَيْقِظُ</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أَسْتَيْقِظُ</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يَخْرُجُ مِنَ البَيْتِ</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leaves the house</a:t>
            </a:r>
            <a:endParaRPr lang="en-US" sz="1350" dirty="0"/>
          </a:p>
          <a:p>
            <a:pPr indent="0" marL="0">
              <a:buNone/>
            </a:pPr>
            <a:r>
              <a:rPr lang="en-US" sz="1100" i="1" dirty="0">
                <a:solidFill>
                  <a:srgbClr val="5A6472"/>
                </a:solidFill>
                <a:latin typeface="Calibri" pitchFamily="34" charset="0"/>
                <a:cs typeface="Amiri" pitchFamily="2" charset="-78"/>
              </a:rPr>
              <a:t>yakh-ru-ju mi-na al-bay-ti</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يَخْرُجُونَ</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تَخْرُجُ</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أَخْرُجُ</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they</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يُرَاجِعُ دُرُوسَهُ</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revises his lessons</a:t>
            </a:r>
            <a:endParaRPr lang="en-US" sz="1350" dirty="0"/>
          </a:p>
          <a:p>
            <a:pPr indent="0" marL="0">
              <a:buNone/>
            </a:pPr>
            <a:r>
              <a:rPr lang="en-US" sz="1100" i="1" dirty="0">
                <a:solidFill>
                  <a:srgbClr val="5A6472"/>
                </a:solidFill>
                <a:latin typeface="Calibri" pitchFamily="34" charset="0"/>
                <a:cs typeface="Amiri" pitchFamily="2" charset="-78"/>
              </a:rPr>
              <a:t>yu-rā-ji-ʿu du-rū-sa-hu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62" name="Text 59"/>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يُرَاجِعُونَ</a:t>
            </a:r>
            <a:endParaRPr lang="ar-SA" sz="135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تُرَاجِعُ</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أُرَاجِعُ</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pronouns</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t>
            </a:r>
            <a:endParaRPr lang="en-US" sz="1350" dirty="0"/>
          </a:p>
          <a:p>
            <a:pPr indent="0" marL="0">
              <a:buNone/>
            </a:pPr>
            <a:r>
              <a:rPr lang="en-US" sz="1100" i="1" dirty="0">
                <a:solidFill>
                  <a:srgbClr val="5A6472"/>
                </a:solidFill>
                <a:latin typeface="Calibri" pitchFamily="34" charset="0"/>
                <a:cs typeface="Amiri" pitchFamily="2" charset="-78"/>
              </a:rPr>
              <a:t>hu-wa</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هِيَ</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both</a:t>
            </a:r>
            <a:endParaRPr lang="en-US" sz="700" dirty="0"/>
          </a:p>
        </p:txBody>
      </p:sp>
      <p:sp>
        <p:nvSpPr>
          <p:cNvPr id="83" name="Text 80"/>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هُمَا</a:t>
            </a:r>
            <a:endParaRPr lang="ar-SA" sz="135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86" name="Text 83"/>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هُمْ</a:t>
            </a:r>
            <a:endParaRPr lang="ar-SA" sz="135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90" name="Shape 87"/>
          <p:cNvSpPr/>
          <p:nvPr/>
        </p:nvSpPr>
        <p:spPr>
          <a:xfrm>
            <a:off x="4782312" y="4279392"/>
            <a:ext cx="1144829"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رُوتِينُهُ</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routine</a:t>
            </a:r>
            <a:endParaRPr lang="en-US" sz="1350" dirty="0"/>
          </a:p>
          <a:p>
            <a:pPr indent="0" marL="0">
              <a:buNone/>
            </a:pPr>
            <a:r>
              <a:rPr lang="en-US" sz="1100" i="1" dirty="0">
                <a:solidFill>
                  <a:srgbClr val="5A6472"/>
                </a:solidFill>
                <a:latin typeface="Calibri" pitchFamily="34" charset="0"/>
                <a:cs typeface="Amiri" pitchFamily="2" charset="-78"/>
              </a:rPr>
              <a:t>rū-tī-nu-hu</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رُوتِينِي</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رُوتِينُهُ</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رُوتِينُهَا</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8" name="Shape 10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9" name="Text 10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0" name="Text 10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111" name="Text 10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112" name="Text 10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المَدْرَسَةِ … ، ثُمَّ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يَسْتَيْقِظُ … · تَسْتَيْقِظُ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عَمَلُهُ · مَدْرَسَتُهَا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أُرَاجِعُ لِمُدَّةِ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 · حَتَّى لَا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بَيْنَمَا هِيَ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يَوْمُهُ أَصْعَبُ لِأَنَّ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مَسَائِي مُتَوَازِنٌ لِأَنَّ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D1-L05 · After School and Evening Routine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D1-L06 · He and She — Describing Someone Else’s Routine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D1-L05 · After School and Evening Routine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المَدْرَسَةِ … ، ثُمَّ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أُرَاجِعُ لِمُدَّةِ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 · حَتَّى لَا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مَسَائِي مُتَوَازِنٌ لِأَنَّ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D1-L06 · He and She — Describing Someone Else’s Routine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يَسْتَيْقِظُ … · تَسْتَيْقِظُ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عَمَلُهُ · مَدْرَسَتُهَا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بَيْنَمَا هِيَ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يَوْمُهُ أَصْعَبُ لِأَنَّ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evenings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مَسَاءَانِ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after school?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تَفْعَلُ بَعْدَ المَدْرَسَةِ؟</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rest for half an hour, then I revise my lessons so that I am ready for tomorrow.</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أَسْتَرِيحُ لِمُدَّةِ نِصْفِ سَاعَةٍ، ثُمَّ أُرَاجِعُ دُرُوسِي لِكَيْ أَسْتَعِدَّ لِلْغَدِ.</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sister?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وَأُخْتُكَ؟</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sister comes back from university at five, and she helps my mother in the kitchen.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أُخْتِي تَرْجِعُ مِنَ الجَامِعَةِ فِي الخَامِسَةِ، وَتُسَاعِدُ أُمِّي فِي المَطْبَخِ.</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help her too?</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تُسَاعِدُهَا أَنْتَ أَيْضًا؟</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help her sometimes. She sleeps at eleven, whereas I sleep at half past nine.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نَعَمْ، أُسَاعِدُهَا أَحْيَانًا. هِيَ تَنَامُ فِي الحَادِيَةَ عَشْرَةَ، بَيْنَمَا أَنَا أَنَامُ فِي التَّاسِعَةِ وَالنِّصْفِ.</a:t>
            </a:r>
            <a:endParaRPr lang="ar-SA" sz="15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وَأَوَّلُ شَيْءٍ أَفْعَلُهُ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أَرْجِعُ فِي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get home?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تَرْجِعُ إِلَى البَيْتِ؟</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عَمَلَهُ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يَسْتَيْقِظُ أَبِي فِي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your father wake up?</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يَسْتَيْقِظُ أَبُوكَ؟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أَسْتَرِيحُ لِمُدَّةِ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do you rest?</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مِنَ الوَقْتِ تَسْتَرِيحُ؟</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تَعْمَلُ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أُمِّي تُحَضِّرُ … / تَذْهَبُ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mother do in the morning?</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أُمُّكَ فِي الصَّبَاحِ؟</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أُسَاعِدُهَا / أُسَاعِدُهُ لِأَنَّ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أُسَاعِدُ أُمِّي / أَبِي فِي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help your family?</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تُسَاعِدُ أُسْرَتَكَ؟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مَعَ أَخِيهِ</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يَذْهَبُ مَشْيًا / بِالسَّيَّارَةِ</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does your friend go to school?</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يَذْهَبُ صَدِيقُكَ إِلَى المَدْرَسَةِ؟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D1-L05, even numbers from D1-L06.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the family magazine interview</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مَجَلَّةِ 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أَسْتَرِيحُ لِمُدَّةِ … ثُمَّ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actions + a duration.</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عِنْدَمَا تَرْجِعُ إِلَى البَيْتِ؟</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لِكَيْ … / حَتَّى لَا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purpose with ‏</a:t>
            </a:r>
            <a:pPr algn="l" indent="0" marL="0">
              <a:buNone/>
            </a:pPr>
            <a:r>
              <a:rPr lang="ar-SA" altLang="en-US" sz="1450" dirty="0">
                <a:solidFill>
                  <a:srgbClr val="5A6472"/>
                </a:solidFill>
                <a:latin typeface="Amiri" pitchFamily="2" charset="-78"/>
                <a:ea typeface="Amiri" pitchFamily="2" charset="-78"/>
                <a:cs typeface="Amiri" pitchFamily="2" charset="-78"/>
              </a:rPr>
              <a:t>لِكَيْ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تُرَاجِعُ دُرُوسَكَ كُلَّ مَسَاءٍ؟</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an object pronoun.</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تُسَاعِدُ أُسْرَتَكَ فِي المَسَاءِ؟</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verbs for him or her, with times.</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مَسَاءَ شَخْصٍ آخَرَ فِي أُسْرَتِكَ.</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and give a reason.</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مَسَاؤُكَ أَمْ مَسَاؤُهُ: أَيُّهُمَا أَكْثَرُ تَوَازُنًا؟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 Partner A = the magazine reporter.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evenings in one minute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مَسَاءَانِ فِي 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your afternoon and evening in three phases (with two durations and one purpose), then the evening of one family member with “he” or “she”, and a comparison with ‏</a:t>
            </a:r>
            <a:pPr algn="l" indent="0" marL="0">
              <a:buNone/>
            </a:pPr>
            <a:r>
              <a:rPr lang="ar-SA" altLang="en-US" sz="1750" dirty="0">
                <a:solidFill>
                  <a:srgbClr val="1F2A37"/>
                </a:solidFill>
                <a:latin typeface="Amiri" pitchFamily="2" charset="-78"/>
                <a:ea typeface="Amiri" pitchFamily="2" charset="-78"/>
                <a:cs typeface="Amiri" pitchFamily="2" charset="-78"/>
              </a:rPr>
              <a:t>بَيْنَمَا</a:t>
            </a:r>
            <a:pPr algn="l" indent="0" marL="0">
              <a:buNone/>
            </a:pPr>
            <a:r>
              <a:rPr lang="en-US" sz="1350" dirty="0">
                <a:solidFill>
                  <a:srgbClr val="1F2A37"/>
                </a:solidFill>
                <a:latin typeface="Calibri" pitchFamily="34" charset="0"/>
                <a:cs typeface="Amiri" pitchFamily="2" charset="-78"/>
              </a:rPr>
              <a: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بَعْدَ المَدْرَسَةِ … · فِي المَسَاءِ … · أُخْتِي تَرْجِعُ … / أَخِي يَدْرُسُ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لِمُدَّةِ</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لِكَيْ</a:t>
            </a:r>
            <a:pPr algn="l" indent="0" marL="0">
              <a:buNone/>
            </a:pPr>
            <a:r>
              <a:rPr lang="en-US" sz="1150" dirty="0">
                <a:solidFill>
                  <a:srgbClr val="1F2A37"/>
                </a:solidFill>
                <a:latin typeface="Calibri" pitchFamily="34" charset="0"/>
                <a:cs typeface="Amiri" pitchFamily="2" charset="-78"/>
              </a:rPr>
              <a:t> …‏ and two object pronouns (‏</a:t>
            </a:r>
            <a:pPr algn="l" indent="0" marL="0">
              <a:buNone/>
            </a:pPr>
            <a:r>
              <a:rPr lang="ar-SA" altLang="en-US" sz="1500" dirty="0">
                <a:solidFill>
                  <a:srgbClr val="1F2A37"/>
                </a:solidFill>
                <a:latin typeface="Amiri" pitchFamily="2" charset="-78"/>
                <a:ea typeface="Amiri" pitchFamily="2" charset="-78"/>
                <a:cs typeface="Amiri" pitchFamily="2" charset="-78"/>
              </a:rPr>
              <a:t>أُسَاعِدُهَا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أُرَتِّبُهَا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-hu / -hā on three nouns (‏</a:t>
            </a:r>
            <a:pPr algn="l" indent="0" marL="0">
              <a:buNone/>
            </a:pPr>
            <a:r>
              <a:rPr lang="ar-SA" altLang="en-US" sz="1500" dirty="0">
                <a:solidFill>
                  <a:srgbClr val="1F2A37"/>
                </a:solidFill>
                <a:latin typeface="Amiri" pitchFamily="2" charset="-78"/>
                <a:ea typeface="Amiri" pitchFamily="2" charset="-78"/>
                <a:cs typeface="Amiri" pitchFamily="2" charset="-78"/>
              </a:rPr>
              <a:t>عَمَلُهُ</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جَامِعَتُهَا</a:t>
            </a:r>
            <a:pPr algn="l" indent="0" marL="0">
              <a:buNone/>
            </a:pPr>
            <a:r>
              <a:rPr lang="en-US" sz="1150" dirty="0">
                <a:solidFill>
                  <a:srgbClr val="1F2A37"/>
                </a:solidFill>
                <a:latin typeface="Calibri" pitchFamily="34" charset="0"/>
                <a:cs typeface="Amiri" pitchFamily="2" charset="-78"/>
              </a:rPr>
              <a:t>‏) and a judgement about balance.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revise for an hour to prepare for the exam.</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أُرَاجِعُ لِمُدَّةِ سَاعَةٍ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أُرَاجِعُ لِمُدَّةُ سَاعَةٌ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أَسْتَعِدَّ لِلِامْتِحَانِ.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أَسْتَعِدُّ لِلِامْتِحَانِ.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revises her lessons every evening.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تُرَاجِعُ</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يُرَاجِعُ</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دُرُوسَهَا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دُرُوسَهُ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tidy my room and clean it every evening.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أُرَتِّبُ غُرْفَتِي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أُرَتِّبُ غُرْفَتُكَ</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وَأُنَظِّفُهَا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وَأُنَظِّفُهُ</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revise for an hour to prepare for the exam.</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لِمُدَّةِ</a:t>
            </a:r>
            <a:pPr algn="l" indent="0" marL="0">
              <a:buNone/>
            </a:pPr>
            <a:r>
              <a:rPr lang="en-US" sz="1050" i="1" dirty="0">
                <a:solidFill>
                  <a:srgbClr val="5A6472"/>
                </a:solidFill>
                <a:latin typeface="Calibri" pitchFamily="34" charset="0"/>
                <a:cs typeface="Amiri" pitchFamily="2" charset="-78"/>
              </a:rPr>
              <a:t> + genitive; </a:t>
            </a:r>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i="1" dirty="0">
                <a:solidFill>
                  <a:srgbClr val="5A6472"/>
                </a:solidFill>
                <a:latin typeface="Calibri" pitchFamily="34" charset="0"/>
                <a:cs typeface="Amiri" pitchFamily="2" charset="-78"/>
              </a:rPr>
              <a:t> + verb in -a (</a:t>
            </a:r>
            <a:pPr algn="l" indent="0" marL="0">
              <a:buNone/>
            </a:pPr>
            <a:r>
              <a:rPr lang="ar-SA" altLang="en-US" sz="1350" dirty="0">
                <a:solidFill>
                  <a:srgbClr val="5A6472"/>
                </a:solidFill>
                <a:latin typeface="Amiri" pitchFamily="2" charset="-78"/>
                <a:ea typeface="Amiri" pitchFamily="2" charset="-78"/>
                <a:cs typeface="Amiri" pitchFamily="2" charset="-78"/>
              </a:rPr>
              <a:t>أَسْتَعِدَّ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أُرَاجِعُ لِمُدَّةِ سَاعَةٍ لِكَيْ أَسْتَعِدَّ لِلِامْتِحَانِ.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revises her lessons every evening.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ta- verb + -hā on the noun.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تُرَاجِعُ دُرُوسَهَا كُلَّ مَسَاءٍ.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tidy my room and clean it every evening.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غُرْفَةٌ</a:t>
            </a:r>
            <a:pPr algn="l" indent="0" marL="0">
              <a:buNone/>
            </a:pPr>
            <a:r>
              <a:rPr lang="en-US" sz="1050" i="1" dirty="0">
                <a:solidFill>
                  <a:srgbClr val="5A6472"/>
                </a:solidFill>
                <a:latin typeface="Calibri" pitchFamily="34" charset="0"/>
                <a:cs typeface="Amiri" pitchFamily="2" charset="-78"/>
              </a:rPr>
              <a:t> (f.) → object pronoun -hā: </a:t>
            </a:r>
            <a:pPr algn="l" indent="0" marL="0">
              <a:buNone/>
            </a:pPr>
            <a:r>
              <a:rPr lang="ar-SA" altLang="en-US" sz="1350" dirty="0">
                <a:solidFill>
                  <a:srgbClr val="5A6472"/>
                </a:solidFill>
                <a:latin typeface="Amiri" pitchFamily="2" charset="-78"/>
                <a:ea typeface="Amiri" pitchFamily="2" charset="-78"/>
                <a:cs typeface="Amiri" pitchFamily="2" charset="-78"/>
              </a:rPr>
              <a:t>أُنَظِّفُهَا</a:t>
            </a:r>
            <a:pPr algn="l" indent="0" marL="0">
              <a:buNone/>
            </a:pPr>
            <a:r>
              <a:rPr lang="en-US" sz="1050" i="1" dirty="0">
                <a:solidFill>
                  <a:srgbClr val="5A6472"/>
                </a:solidFill>
                <a:latin typeface="Calibri" pitchFamily="34" charset="0"/>
                <a:cs typeface="Amiri" pitchFamily="2" charset="-78"/>
              </a:rPr>
              <a:t>; every evening = </a:t>
            </a:r>
            <a:pPr algn="l" indent="0" marL="0">
              <a:buNone/>
            </a:pPr>
            <a:r>
              <a:rPr lang="ar-SA" altLang="en-US" sz="1350" dirty="0">
                <a:solidFill>
                  <a:srgbClr val="5A6472"/>
                </a:solidFill>
                <a:latin typeface="Amiri" pitchFamily="2" charset="-78"/>
                <a:ea typeface="Amiri" pitchFamily="2" charset="-78"/>
                <a:cs typeface="Amiri" pitchFamily="2" charset="-78"/>
              </a:rPr>
              <a:t>كُلَّ مَسَاءٍ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أُرَتِّبُ غُرْفَتِي وَأُنَظِّفُهَا كُلَّ مَسَاءٍ.</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أُرَاجِعُ لِكَيْ أَنْجَحُ.</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لِكَيْ</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يَعْمَلُ فِي المُسْتَشْفَى.</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the subject?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أُسَاعِدُ أُمِّي وَأُسَاعِدُهُ كُلَّ يَوْمٍ.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mother → which pronoun?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أُرَاجِعُ لِكَيْ أَنْجَحُ.</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أُرَاجِعُ لِكَيْ أَنْجَحَ.</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 verb ending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يَعْمَلُ فِي المُسْتَشْفَى.</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تَعْمَلُ فِي المُسْتَشْفَى.</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 ‏</a:t>
            </a:r>
            <a:pPr algn="l" indent="0" marL="0">
              <a:buNone/>
            </a:pPr>
            <a:r>
              <a:rPr lang="ar-SA" altLang="en-US" sz="1500" b="1" dirty="0">
                <a:solidFill>
                  <a:srgbClr val="1B3B6F"/>
                </a:solidFill>
                <a:latin typeface="Amiri" pitchFamily="2" charset="-78"/>
                <a:ea typeface="Amiri" pitchFamily="2" charset="-78"/>
                <a:cs typeface="Amiri" pitchFamily="2" charset="-78"/>
              </a:rPr>
              <a:t>تَعْمَلُ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أُسَاعِدُ أُمِّي وَأُسَاعِدُهُ كُلَّ يَوْمٍ.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أُسَاعِدُ أُمِّي، أُسَاعِدُهَا كُلَّ يَوْمٍ.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Her → -hā.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وَبَعْدَ العَشَاءِ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after dinner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فِي رَأْيِي مَسَاءُ ______ أَكْثَرُ تَوَازُنًا لِأَنَّ ______ .</a:t>
            </a:r>
            <a:endParaRPr lang="ar-SA" sz="15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…’s evening is more balanced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المَدْرَسَةِ أَسْتَرِيحُ لِمُدَّةِ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school I rest for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أُرَاجِعُ دُرُوسِي لِكَيْ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revise my lessons so that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المَسَاءِ أُسَاعِدُ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evening I help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 أَخِي ______ فِي السَّاعَةِ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 brother … at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أَنَا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I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لِمُدَّةِ  ·  لِكَيْ · حَتَّى لَا  ·  أُسَاعِدُهَا · أُرَتِّبُهَا  ·  يَرْجِعُ · تَرْجِعُ  ·  يَقْرَأُ · تَدْرُسُ  ·  عَمَلُهُ · جَامِعَتُهَا  ·  بَيْنَمَا  ·  أَكْثَرُ تَوَازُنًا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70–90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Two evenings: an article for the family magazine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مَسَاءَانِ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cs typeface="Amiri" pitchFamily="2" charset="-78"/>
              </a:rPr>
              <a:t>Write an article (about 70–90 words) comparing your evening with a family member’s. Include: • your afternoon and evening in three phases, with times • two durations (‏</a:t>
            </a:r>
            <a:pPr algn="l" indent="0" marL="0">
              <a:buNone/>
            </a:pPr>
            <a:r>
              <a:rPr lang="ar-SA" altLang="en-US" sz="1350" b="1" dirty="0">
                <a:solidFill>
                  <a:srgbClr val="1F2A37"/>
                </a:solidFill>
                <a:latin typeface="Amiri" pitchFamily="2" charset="-78"/>
                <a:ea typeface="Amiri" pitchFamily="2" charset="-78"/>
                <a:cs typeface="Amiri" pitchFamily="2" charset="-78"/>
              </a:rPr>
              <a:t>لِمُدَّةِ</a:t>
            </a:r>
            <a:pPr algn="l" indent="0" marL="0">
              <a:buNone/>
            </a:pPr>
            <a:r>
              <a:rPr lang="en-US" sz="1050" b="1" dirty="0">
                <a:solidFill>
                  <a:srgbClr val="1F2A37"/>
                </a:solidFill>
                <a:latin typeface="Calibri" pitchFamily="34" charset="0"/>
                <a:cs typeface="Amiri" pitchFamily="2" charset="-78"/>
              </a:rPr>
              <a:t> …‏) and one purpose (‏</a:t>
            </a:r>
            <a:pPr algn="l" indent="0" marL="0">
              <a:buNone/>
            </a:pPr>
            <a:r>
              <a:rPr lang="ar-SA" altLang="en-US" sz="1350" b="1" dirty="0">
                <a:solidFill>
                  <a:srgbClr val="1F2A37"/>
                </a:solidFill>
                <a:latin typeface="Amiri" pitchFamily="2" charset="-78"/>
                <a:ea typeface="Amiri" pitchFamily="2" charset="-78"/>
                <a:cs typeface="Amiri" pitchFamily="2" charset="-78"/>
              </a:rPr>
              <a:t>لِكَيْ</a:t>
            </a:r>
            <a:pPr algn="l" indent="0" marL="0">
              <a:buNone/>
            </a:pPr>
            <a:r>
              <a:rPr lang="en-US" sz="1050" b="1" dirty="0">
                <a:solidFill>
                  <a:srgbClr val="1F2A37"/>
                </a:solidFill>
                <a:latin typeface="Calibri" pitchFamily="34" charset="0"/>
                <a:cs typeface="Amiri" pitchFamily="2" charset="-78"/>
              </a:rPr>
              <a:t> …‏) • two object pronouns • three verbs for him or her, and -hu / -hā on two nouns • a comparison with ‏</a:t>
            </a:r>
            <a:pPr algn="l" indent="0" marL="0">
              <a:buNone/>
            </a:pPr>
            <a:r>
              <a:rPr lang="ar-SA" altLang="en-US" sz="1350" b="1" dirty="0">
                <a:solidFill>
                  <a:srgbClr val="1F2A37"/>
                </a:solidFill>
                <a:latin typeface="Amiri" pitchFamily="2" charset="-78"/>
                <a:ea typeface="Amiri" pitchFamily="2" charset="-78"/>
                <a:cs typeface="Amiri" pitchFamily="2" charset="-78"/>
              </a:rPr>
              <a:t>بَيْنَمَا</a:t>
            </a:r>
            <a:pPr algn="l" indent="0" marL="0">
              <a:buNone/>
            </a:pPr>
            <a:r>
              <a:rPr lang="en-US" sz="1050" b="1" dirty="0">
                <a:solidFill>
                  <a:srgbClr val="1F2A37"/>
                </a:solidFill>
                <a:latin typeface="Calibri" pitchFamily="34" charset="0"/>
                <a:cs typeface="Amiri" pitchFamily="2" charset="-78"/>
              </a:rPr>
              <a:t>‏ • your opinion: whose evening is more balanced, and why?</a:t>
            </a:r>
            <a:endParaRPr lang="en-US" sz="10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D1-L05 AND D1-L06.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أَسْتَرِيحُ لِمُدَّةِ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rest for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أُرَاجِعُ لِكَيْ … · حَتَّى لَا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revise so that … · so that … not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أُسَاعِدُهَا · أُرَتِّبُهَا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help her · I tidy it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يَرْجِعُ / تَرْجِعُ … بَيْنَمَا أَنَا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returns … whereas I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at least six evening actions with times?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-hu / -hā on nouns and compare with ‏</a:t>
            </a:r>
            <a:pPr algn="l" indent="0" marL="0">
              <a:buNone/>
            </a:pPr>
            <a:r>
              <a:rPr lang="ar-SA" altLang="en-US" sz="1450" dirty="0">
                <a:solidFill>
                  <a:srgbClr val="5A6472"/>
                </a:solidFill>
                <a:latin typeface="Amiri" pitchFamily="2" charset="-78"/>
                <a:ea typeface="Amiri" pitchFamily="2" charset="-78"/>
                <a:cs typeface="Amiri" pitchFamily="2" charset="-78"/>
              </a:rPr>
              <a:t>بَيْنَمَا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أَسْتَرِيحُ لِمُدَّةِ عِشْرِينَ دَقِيقَةً، ثُمَّ آكُلُ وَجْبَةً خَفِيفَةً.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rest for twenty minutes, then I eat a snack.</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تَفْعَلُ عِنْدَمَا تَرْجِعُ إِلَى البَيْتِ؟</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أَفْهَمَ الدَّرْسَ جَيِّدًا، وَحَتَّى لَا أَنْسَى الكَلِمَاتِ.</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 that I understand the lesson well, and so that I don’t forget the words.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تُرَاجِعُ دُرُوسَكَ كُلَّ مَسَاءٍ؟</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أُسَاعِدُ أُمِّي؛ أُرَتِّبُ المَائِدَةَ ثُمَّ أَغْسِلُهَا بَعْدَ العَشَاءِ.</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help my mother; I set the table and then clean it after dinner.</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تُسَاعِدُ أُسْرَتَكَ فِي المَسَاءِ؟</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يَرْجِعُ مِنْ عَمَلِهِ فِي السَّادِسَةِ، ثُمَّ يُصَلِّي وَيَقْرَأُ جَرِيدَتَهُ.</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father comes back from his work at six, then he prays and reads his newspaper.</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مَسَاءَ شَخْصٍ آخَرَ فِي أُسْرَتِكَ.</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مَسَائِي أَكْثَرُ تَوَازُنًا، لِأَنِّي أَسْتَرِيحُ وَأَدْرُسُ، بَيْنَمَا أَبِي يَعْمَلُ كَثِيرًا.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evening is more balanced, because I rest and study, whereas my father works a lot.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مَسَاؤُكَ أَمْ مَسَاؤُهُ: أَيُّهُمَا أَكْثَرُ تَوَازُنًا؟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بَعْدَ المَدْرَسَةِ أَسْتَرِيحُ لِمُدَّةِ نِصْفِ سَاعَةٍ، ثُمَّ أُرَاجِعُ دُرُوسِي لِمُدَّةِ سَاعَةٍ لِكَيْ أَسْتَعِدَّ لِلْغَدِ. فِي المَسَاءِ أُسَاعِدُ أُمِّي؛ أُرَتِّبُ المَائِدَةَ ثُمَّ أَغْسِلُ الصُّحُونَ. أُخْتِي الكُبْرَى تَرْجِعُ مِنْ جَامِعَتِهَا فِي الخَامِسَةِ، ثُمَّ تَدْرُسُ فِي غُرْفَتِهَا وَتَتَكَلَّمُ مَعَ صَدِيقَاتِهَا. هِيَ تَنَامُ فِي الحَادِيَةَ عَشْرَةَ، بَيْنَمَا أَنَا أَنَامُ فِي التَّاسِعَةِ وَالنِّصْفِ. فِي رَأْيِي مَسَائِي أَكْثَرُ تَوَازُنًا، لِأَنِّي أَسْتَرِيحُ وَأَنَامُ مُبَكِّرًا، لٰكِنَّ أُخْتِي تَعْمَلُ أَكْثَرَ مِنِّي لِأَنَّ دِرَاسَتَهَا صَعْبَةٌ.</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“After school I rest for half an hour, then I revise my lessons for an hour so that I am ready for tomorrow. In the evening I help my mother; I set the table and then wash the dishes. My older sister comes back from her university at five, then she studies in her room and talks with her friends. She sleeps at eleven, whereas I sleep at half past nine. In my opinion my evening is more balanced, because I rest and sleep early, but my sister works more than me because her studies are difficult.”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لِمُدَّةِ نِصْفِ سَاعَةٍ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أَسْتَعِدَّ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جَامِعَتِهَا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أَنَا أَنَامُ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D1-W03 · Apply workshop (D1-L05 + D1-L06)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D1-L05 and D1-L06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D1-L07 · Asking About Daily Routine — What Do You Do?</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السُّؤَالُ عَنِ الرُّوتِينِ اليَوْمِيِّ — مَاذَا تَفْعَلُ؟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D1-W03 · Apply Workshop — My Evening and My Sister’s Evening</dc:title>
  <dc:subject>PptxGenJS Presentation</dc:subject>
  <dc:creator>Al Madina Online School · Arabic Department</dc:creator>
  <cp:lastModifiedBy>Al Madina Online School · Arabic Department</cp:lastModifiedBy>
  <cp:revision>1</cp:revision>
  <dcterms:created xsi:type="dcterms:W3CDTF">2026-10-26T15:24:12Z</dcterms:created>
  <dcterms:modified xsi:type="dcterms:W3CDTF">2026-10-26T15:24:12Z</dcterms:modified>
</cp:coreProperties>
</file>