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APPLY WORKSHOP AT A GLANCE — the third lesson of the week (Learn D1-L05 · Learn D1-L06 · Apply). 60 minutes on Teams: teacher-led in the main room for the short whole-class steps, pairs or breakout rooms of two or three for speaking, individual writing.
0–3 Welcome + plan · 3–6 What we learnt this week · PART 1 REMEMBER: word race (4) · which lesson? sort (4) · PART 2 SPEAK: new dialogue (5) · mixed question cards (6) · role-play card (7) · one minute talk (4) · PART 3 WRITE: sentence builder (3) · spot and fix (3) · connected writing (12) + buddy check (3) · CHECK YOURSELF: models + self-check (5).
PURPOSE: students APPLY the language of BOTH lessons in new contexts — the question cards, builder and common mistakes come from the two practice rooms; the dialogue, role-play, talk and writing task are new and join the lessons together.
CONTENT: D1-L05 (After School and Evening Routine) and D1-L06 (He and She — Describing Someone Else’s Routine).
SET-UP: share this deck or its PDF in the chat. Pairs or breakout rooms for Part 2 (same-level rooms keep the routes simple). Everyone writes in their own book or document in Part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 Apply = use what you learnt in D1-L05 and D1-L06 in a NEW situation. Point out the step number in the top-left of each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WE LEARNT (3 min, main room). Ask: “What can you say after D1-L05? After D1-L06?” Take two answers in the chat for each lesson (one word or one sentence is enough). Then read objective 3 — today’s new situation that needs BOTH lessons. Students tick their route goals at the end of the lesson.
D1-L05 language: three phases (afternoon · early evening · night); li-muddati + duration; purpose with li-kay / ḥattā + verb in -a; possessive and object suffixes (ghurfatī · usāʿiduhā · urattibuhā)
D1-L06 language: third person: ya- prefix for he (yastayqiẓu) and ta- for she (tastayqiẓu); possessive -hu / -hā on every noun (ḥaqībatuhu · ḥaqībatuhā); comparing with baynamā · amma … fa- · akthara min · mithla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(4 min). Quick, energetic retrieval. Model one round with a student, then pairs race. Collect the best score in the chat. Listen for words students hesitate over and revisit them in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six words from D1-L05.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six words from D1-L06.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(4 min). Students read each card ALOUD (by invitation), then type its number in the chat with 1 or 2 (for example “card 3 → 2”). Then check the answer slide. Ask: “Which card could you use in BOTH lessons?” — this links the two lessons before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(4 min). Students read each card ALOUD (by invitation), then type its number in the chat with 1 or 2 (for example “card 3 → 2”). Then check the answer slide. Ask: “Which card could you use in BOTH lessons?” — this links the two lessons before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3 (5 min). A NEW dialogue that joins D1-L05 and D1-L06. Teacher reads it once with a confident student; then pairs. Ask: “Which lines are from D1-L05? Which from D1-L06?” لِمُدَّةِ · لِكَيْ + verb in -a · object pronouns (أُسَاعِدُهَا) come from D1-L05; ta- verbs for “she” and بَيْنَمَا from D1-L06.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4 (6 min, pairs or rooms). The questions come from the two practice rooms, now mixed so students switch between the lessons. Teacher: visit rooms and ask one Stretch follow-up question in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5 (7 min). One NEW situation that needs both lessons: the afternoon and evening in phases with durations, purposes and object pronouns (D1-L05) with he / she verbs, -hu / -hā and comparisons (D1-L06). FADED SUPPORT: tasks 1–2 show the plan; students write their own plan for 3–5. To a girl Partner A says: مَاذَا تَفْعَلِينَ عِنْدَمَا تَرْجِعِينَ؟ · لِمَاذَا تُرَاجِعِينَ …؟ · كَيْفَ تُسَاعِدِينَ …؟.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6 (4 min). Fluency: one talk that uses BOTH lessons. Two volunteers speak to the whole class at the end (open mic).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Rows come from the D1-L05 and D1-L06 practice rooms. Read the English, choose the correct part from each column (start on the RIGHT). Pairs agree, then check. Students copy the correct sentences — they help in Step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Rows come from the D1-L05 and D1-L06 practice rooms. Read the English, choose the correct part from each column (start on the RIGHT). Pairs agree, then check. Students copy the correct sentences — they help in Step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(3 min). Common mistakes from both lessons. Students type the corrected version in the chat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(3 min). Common mistakes from both lessons. Students type the corrected version in the chat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9 support. Core: use the Core frames for every bullet. Develop: use the Develop frames only if stuck. Stretch: no frames — add reasons, a time phrase and an extra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9 (10 min writing, everyone on their own). Core: frames for every bullet (50–60 words). Develop: 80–100 words, frames only if stuck. Stretch: no frames, add reasons and another time frame. Teacher reads ONE sentence per student (in the chat or the shared document) and gives one live correction.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BUDDY CHECK (3 min). Pairs swap texts (or share screens). Then everyone returns to the main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YOURSELF (2 min, main room). Each student finds one task they answered less fully and says it again using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(65 words). CHECK YOURSELF (2 min). Find each bullet point in the model, and one phrase from D1-L05 and one from D1-L06. Then each student copies ONE phrase from the model into their own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8  ·  DEVELOPMENT D1  ·  D1-L05 + D1-L06 · APPLY WORKSHOP</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D1-W03</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Apply Workshop — My Evening and My Sister’s Evening</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وَرْشَةُ التَّطْبِيقِ — مَسَائِي وَمَسَاءُ أُخْتِي</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350" dirty="0">
                <a:solidFill>
                  <a:srgbClr val="C6D2E6"/>
                </a:solidFill>
                <a:latin typeface="Calibri" pitchFamily="34" charset="0"/>
                <a:cs typeface="Amiri" pitchFamily="2" charset="-78"/>
              </a:rPr>
              <a:t>Students join the evening routine with “he / she” forms: they describe their own afternoon and evening in three phases (with </a:t>
            </a:r>
            <a:pPr algn="l" indent="0" marL="0">
              <a:buNone/>
            </a:pPr>
            <a:r>
              <a:rPr lang="ar-SA" altLang="en-US" sz="1750" dirty="0">
                <a:solidFill>
                  <a:srgbClr val="C6D2E6"/>
                </a:solidFill>
                <a:latin typeface="Amiri" pitchFamily="2" charset="-78"/>
                <a:ea typeface="Amiri" pitchFamily="2" charset="-78"/>
                <a:cs typeface="Amiri" pitchFamily="2" charset="-78"/>
              </a:rPr>
              <a:t>لِمُدَّةِ</a:t>
            </a:r>
            <a:pPr algn="l" indent="0" marL="0">
              <a:buNone/>
            </a:pPr>
            <a:r>
              <a:rPr lang="en-US" sz="1350" dirty="0">
                <a:solidFill>
                  <a:srgbClr val="C6D2E6"/>
                </a:solidFill>
                <a:latin typeface="Calibri" pitchFamily="34" charset="0"/>
                <a:cs typeface="Amiri" pitchFamily="2" charset="-78"/>
              </a:rPr>
              <a:t>, </a:t>
            </a:r>
            <a:pPr algn="l" indent="0" marL="0">
              <a:buNone/>
            </a:pPr>
            <a:r>
              <a:rPr lang="ar-SA" altLang="en-US" sz="1750" dirty="0">
                <a:solidFill>
                  <a:srgbClr val="C6D2E6"/>
                </a:solidFill>
                <a:latin typeface="Amiri" pitchFamily="2" charset="-78"/>
                <a:ea typeface="Amiri" pitchFamily="2" charset="-78"/>
                <a:cs typeface="Amiri" pitchFamily="2" charset="-78"/>
              </a:rPr>
              <a:t>لِكَيْ</a:t>
            </a:r>
            <a:pPr algn="l" indent="0" marL="0">
              <a:buNone/>
            </a:pPr>
            <a:r>
              <a:rPr lang="en-US" sz="1350" dirty="0">
                <a:solidFill>
                  <a:srgbClr val="C6D2E6"/>
                </a:solidFill>
                <a:latin typeface="Calibri" pitchFamily="34" charset="0"/>
                <a:cs typeface="Amiri" pitchFamily="2" charset="-78"/>
              </a:rPr>
              <a:t> and object pronouns), then a family member’s evening (ya- / ta-, -hu / -hā), compare the two and write a family-magazine article.</a:t>
            </a:r>
            <a:endParaRPr lang="en-US" sz="135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Apply workshop · D1-L05 + D1-L06</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Development › D1 › D1-L06</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D1-W03 · Apply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D1-W03 · Apply workshop (D1-L05 + D1-L06)</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24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D1-W03 · Apply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PLAN · LEARN, LEARN, APPLY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Two lessons — now use them together</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خُطُوَاتُ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D1-W03 · Apply workshop (D1-L05 + D1-L06)</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What we learnt: D1-L05 and D1-L06.</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مَاذَا تَعَلَّمْنَا؟</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2F6FB0"/>
          </a:solidFill>
          <a:ln w="12700">
            <a:solidFill>
              <a:srgbClr val="2F6FB0"/>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1 · Remember: word race and “which lesson?” sort.</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تَذَكَّرْ</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22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2 · Speak: say the model dialogue · question cards · role-play card · short talk.</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تَكَلَّمْ</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19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3 · Write: sentence builder · spot and fix · write your text · buddy check.</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اكْتُبْ</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Check yourself with the models.</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قَارِنْ</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HOW THE WORKSHOP RUNS</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Today there is no new language: you USE the words and structures of the last two lessons together. Everybody speaks in every step and everybody writes their own text. Choose your route — Core, Develop or Stretch — and move up when you are ready.</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24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D1-W03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WHAT WE LEARNT THIS WEEK · D1-L05 + D1-L06</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This week’s two lessons — and today’s goal</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نُطَبِّقُ مَا تَعَلَّمْنَا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D1-W03 · Apply workshop (D1-L05 + D1-L06)</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D1-L05: After School and Evening Routine</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D1-L06: He and She — Describing Someone Else’s Routine</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Apply both: the family magazine interview · Two evenings: an article for the family magazine</a:t>
            </a:r>
            <a:endParaRPr lang="en-US" sz="1300" dirty="0"/>
          </a:p>
        </p:txBody>
      </p:sp>
      <p:sp>
        <p:nvSpPr>
          <p:cNvPr id="27" name="Shape 24"/>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28" name="Shape 25"/>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0" name="Text 27"/>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1" name="Text 28"/>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Answer questions from BOTH lessons in full sentences.</a:t>
            </a:r>
            <a:endParaRPr lang="en-US" sz="1300" dirty="0"/>
          </a:p>
        </p:txBody>
      </p:sp>
      <p:sp>
        <p:nvSpPr>
          <p:cNvPr id="32" name="Text 29"/>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Write the text using the frames.</a:t>
            </a:r>
            <a:endParaRPr lang="en-US" sz="1300" dirty="0"/>
          </a:p>
        </p:txBody>
      </p:sp>
      <p:sp>
        <p:nvSpPr>
          <p:cNvPr id="33" name="Shape 30"/>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4" name="Shape 31"/>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5" name="Text 32"/>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6" name="Text 33"/>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37" name="Text 34"/>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Join both lessons in one conversation and a one minute talk.</a:t>
            </a:r>
            <a:endParaRPr lang="en-US" sz="1300" dirty="0"/>
          </a:p>
        </p:txBody>
      </p:sp>
      <p:sp>
        <p:nvSpPr>
          <p:cNvPr id="38" name="Text 35"/>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Write the text, frames only if stuck.</a:t>
            </a:r>
            <a:endParaRPr lang="en-US" sz="1300" dirty="0"/>
          </a:p>
        </p:txBody>
      </p:sp>
      <p:sp>
        <p:nvSpPr>
          <p:cNvPr id="39" name="Shape 36"/>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0" name="Shape 37"/>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1" name="Text 38"/>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2" name="Text 39"/>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3" name="Text 40"/>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Speak without notes; add reasons and opinions.</a:t>
            </a:r>
            <a:endParaRPr lang="en-US" sz="1300" dirty="0"/>
          </a:p>
        </p:txBody>
      </p:sp>
      <p:sp>
        <p:nvSpPr>
          <p:cNvPr id="44" name="Text 41"/>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Use more than one tense; give and justify opinions.</a:t>
            </a:r>
            <a:endParaRPr lang="en-US" sz="130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24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D1-W03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1 · STEP 1 · WORD RACE · 4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Word race: two lessons, one race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سِبَاقُ الكَلِمَاتِ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D1-W03 · Apply workshop (D1-L05 + D1-L06)</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1 · PAIRS</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English → Arabic, from both lessons</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The next two slides show words from D1-L05 and D1-L06. Partner A says a word in ENGLISH; Partner B says it in ARABIC. One point for every correct answer in 90 seconds — then swap.</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Teacher: first round together (3 words from each slide).</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Pairs: 90 seconds each, as many as you can.</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Mix the lessons: one word from slide 1, one from slide 2.</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Last round: use two words — one from each lesson — in ONE sentence.</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Arabic word clearly.</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word, then a short sentence with it.</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Join a word from each lesson in one sentence with ‏</a:t>
            </a:r>
            <a:pPr algn="l" indent="0" marL="0">
              <a:buNone/>
            </a:pPr>
            <a:r>
              <a:rPr lang="ar-SA" altLang="en-US" sz="1500" dirty="0">
                <a:solidFill>
                  <a:srgbClr val="1F2A37"/>
                </a:solidFill>
                <a:latin typeface="Amiri" pitchFamily="2" charset="-78"/>
                <a:ea typeface="Amiri" pitchFamily="2" charset="-78"/>
                <a:cs typeface="Amiri" pitchFamily="2" charset="-78"/>
              </a:rPr>
              <a:t>وَ</a:t>
            </a:r>
            <a:pPr algn="l" indent="0" marL="0">
              <a:buNone/>
            </a:pPr>
            <a:r>
              <a:rPr lang="en-US" sz="1150" dirty="0">
                <a:solidFill>
                  <a:srgbClr val="1F2A37"/>
                </a:solidFill>
                <a:latin typeface="Calibri" pitchFamily="34" charset="0"/>
                <a:cs typeface="Amiri" pitchFamily="2" charset="-78"/>
              </a:rPr>
              <a:t>‏ or ‏</a:t>
            </a:r>
            <a:pPr algn="l" indent="0" marL="0">
              <a:buNone/>
            </a:pPr>
            <a:r>
              <a:rPr lang="ar-SA" altLang="en-US" sz="1500" dirty="0">
                <a:solidFill>
                  <a:srgbClr val="1F2A37"/>
                </a:solidFill>
                <a:latin typeface="Amiri" pitchFamily="2" charset="-78"/>
                <a:ea typeface="Amiri" pitchFamily="2" charset="-78"/>
                <a:cs typeface="Amiri" pitchFamily="2" charset="-78"/>
              </a:rPr>
              <a:t>لِأَنَّ</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دَوْرُكَ! / دَوْرُكِ!</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your turn! (m. / f.)</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صَحِيحٌ!</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correct!</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حَاوِلْ مَرَّةً أُخْرَى</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try again</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نُقْطَةٌ لَكَ / لَكِ</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a point for you (m. / f.)</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24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D1-W03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WORDS FROM D1-L05</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D1-L05 · After School and Evening Routine</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 الأَوَّلِ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D1-W03 · Apply workshop (D1-L05 + D1-L06)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أَرْجِعُ إِلَى البَيْتِ</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return home</a:t>
            </a:r>
            <a:endParaRPr lang="en-US" sz="1350" dirty="0"/>
          </a:p>
          <a:p>
            <a:pPr indent="0" marL="0">
              <a:buNone/>
            </a:pPr>
            <a:r>
              <a:rPr lang="en-US" sz="1100" i="1" dirty="0">
                <a:solidFill>
                  <a:srgbClr val="5A6472"/>
                </a:solidFill>
                <a:latin typeface="Calibri" pitchFamily="34" charset="0"/>
                <a:cs typeface="Amiri" pitchFamily="2" charset="-78"/>
              </a:rPr>
              <a:t>ar-ji-ʿu i-lā al-bay-ti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أَتَنَاوَلُ وَجْبَةً خَفِيفَةً</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have a snack</a:t>
            </a:r>
            <a:endParaRPr lang="en-US" sz="1350" dirty="0"/>
          </a:p>
          <a:p>
            <a:pPr indent="0" marL="0">
              <a:buNone/>
            </a:pPr>
            <a:r>
              <a:rPr lang="en-US" sz="1100" i="1" dirty="0">
                <a:solidFill>
                  <a:srgbClr val="5A6472"/>
                </a:solidFill>
                <a:latin typeface="Calibri" pitchFamily="34" charset="0"/>
                <a:cs typeface="Amiri" pitchFamily="2" charset="-78"/>
              </a:rPr>
              <a:t>a-ta-nā-wa-lu waj-ba-tan kha-fī-fa-tan</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2" name="Shape 29"/>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33" name="Text 30"/>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أُرَاجِعُ دُرُوسِي</a:t>
            </a:r>
            <a:endParaRPr lang="ar-SA" sz="3000" dirty="0"/>
          </a:p>
        </p:txBody>
      </p:sp>
      <p:sp>
        <p:nvSpPr>
          <p:cNvPr id="37" name="Text 3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revise my lessons</a:t>
            </a:r>
            <a:endParaRPr lang="en-US" sz="1350" dirty="0"/>
          </a:p>
          <a:p>
            <a:pPr indent="0" marL="0">
              <a:buNone/>
            </a:pPr>
            <a:r>
              <a:rPr lang="en-US" sz="1100" i="1" dirty="0">
                <a:solidFill>
                  <a:srgbClr val="5A6472"/>
                </a:solidFill>
                <a:latin typeface="Calibri" pitchFamily="34" charset="0"/>
                <a:cs typeface="Amiri" pitchFamily="2" charset="-78"/>
              </a:rPr>
              <a:t>u-rā-ji-ʿu du-rū-sī</a:t>
            </a:r>
            <a:endParaRPr lang="en-US" sz="1350" dirty="0"/>
          </a:p>
        </p:txBody>
      </p:sp>
      <p:sp>
        <p:nvSpPr>
          <p:cNvPr id="38" name="Shape 35"/>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39" name="Text 36"/>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40" name="Text 37"/>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يُرَاجِعُ دُرُوسَهُ</a:t>
            </a:r>
            <a:endParaRPr lang="ar-SA" sz="1500" dirty="0"/>
          </a:p>
        </p:txBody>
      </p:sp>
      <p:sp>
        <p:nvSpPr>
          <p:cNvPr id="41" name="Shape 38"/>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43" name="Text 40"/>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تُرَاجِعُ دُرُوسَهَا</a:t>
            </a:r>
            <a:endParaRPr lang="ar-SA" sz="1500" dirty="0"/>
          </a:p>
        </p:txBody>
      </p:sp>
      <p:sp>
        <p:nvSpPr>
          <p:cNvPr id="44" name="Shape 41"/>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we</a:t>
            </a:r>
            <a:endParaRPr lang="en-US" sz="750" dirty="0"/>
          </a:p>
        </p:txBody>
      </p:sp>
      <p:sp>
        <p:nvSpPr>
          <p:cNvPr id="46" name="Text 43"/>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نُرَاجِعُ دُرُوسَنَا</a:t>
            </a:r>
            <a:endParaRPr lang="ar-SA" sz="1500" dirty="0"/>
          </a:p>
        </p:txBody>
      </p:sp>
      <p:sp>
        <p:nvSpPr>
          <p:cNvPr id="47" name="Shape 4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11312"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50" name="Shape 47"/>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أُسَاعِدُ أُسْرَتِي</a:t>
            </a:r>
            <a:endParaRPr lang="ar-SA" sz="3000" dirty="0"/>
          </a:p>
        </p:txBody>
      </p:sp>
      <p:sp>
        <p:nvSpPr>
          <p:cNvPr id="53" name="Text 50"/>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help my family</a:t>
            </a:r>
            <a:endParaRPr lang="en-US" sz="1350" dirty="0"/>
          </a:p>
          <a:p>
            <a:pPr indent="0" marL="0">
              <a:buNone/>
            </a:pPr>
            <a:r>
              <a:rPr lang="en-US" sz="1100" i="1" dirty="0">
                <a:solidFill>
                  <a:srgbClr val="5A6472"/>
                </a:solidFill>
                <a:latin typeface="Calibri" pitchFamily="34" charset="0"/>
                <a:cs typeface="Amiri" pitchFamily="2" charset="-78"/>
              </a:rPr>
              <a:t>u-sā-ʿi-du us-ra-tī</a:t>
            </a:r>
            <a:endParaRPr lang="en-US" sz="1350" dirty="0"/>
          </a:p>
        </p:txBody>
      </p:sp>
      <p:sp>
        <p:nvSpPr>
          <p:cNvPr id="54" name="Shape 51"/>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4389120" y="4261104"/>
            <a:ext cx="310896" cy="310896"/>
          </a:xfrm>
          <a:prstGeom prst="ellipse">
            <a:avLst/>
          </a:prstGeom>
          <a:solidFill>
            <a:srgbClr val="F4F1EA"/>
          </a:solidFill>
          <a:ln w="12700">
            <a:solidFill>
              <a:srgbClr val="F4F1EA"/>
            </a:solidFill>
            <a:prstDash val="solid"/>
          </a:ln>
        </p:spPr>
      </p:sp>
      <p:sp>
        <p:nvSpPr>
          <p:cNvPr id="56" name="Text 53"/>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7" name="Shape 54"/>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8" name="Text 55"/>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9" name="Text 56"/>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أَتَنَاوَلُ العَشَاءَ</a:t>
            </a:r>
            <a:endParaRPr lang="ar-SA" sz="3000" dirty="0"/>
          </a:p>
        </p:txBody>
      </p:sp>
      <p:sp>
        <p:nvSpPr>
          <p:cNvPr id="60" name="Text 57"/>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have dinner</a:t>
            </a:r>
            <a:endParaRPr lang="en-US" sz="1350" dirty="0"/>
          </a:p>
          <a:p>
            <a:pPr indent="0" marL="0">
              <a:buNone/>
            </a:pPr>
            <a:r>
              <a:rPr lang="en-US" sz="1100" i="1" dirty="0">
                <a:solidFill>
                  <a:srgbClr val="5A6472"/>
                </a:solidFill>
                <a:latin typeface="Calibri" pitchFamily="34" charset="0"/>
                <a:cs typeface="Amiri" pitchFamily="2" charset="-78"/>
              </a:rPr>
              <a:t>a-ta-nā-wa-lu al-ʿa-shā-ʾa</a:t>
            </a:r>
            <a:endParaRPr lang="en-US" sz="1350" dirty="0"/>
          </a:p>
        </p:txBody>
      </p:sp>
      <p:sp>
        <p:nvSpPr>
          <p:cNvPr id="61" name="Shape 58"/>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566928" y="4261104"/>
            <a:ext cx="310896" cy="310896"/>
          </a:xfrm>
          <a:prstGeom prst="ellipse">
            <a:avLst/>
          </a:prstGeom>
          <a:solidFill>
            <a:srgbClr val="F4F1EA"/>
          </a:solidFill>
          <a:ln w="12700">
            <a:solidFill>
              <a:srgbClr val="F4F1EA"/>
            </a:solidFill>
            <a:prstDash val="solid"/>
          </a:ln>
        </p:spPr>
      </p:sp>
      <p:sp>
        <p:nvSpPr>
          <p:cNvPr id="63" name="Text 60"/>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64" name="Shape 61"/>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65" name="Text 62"/>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6" name="Text 63"/>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أَذْهَبُ إِلَى الفِرَاشِ</a:t>
            </a:r>
            <a:endParaRPr lang="ar-SA" sz="3000" dirty="0"/>
          </a:p>
        </p:txBody>
      </p:sp>
      <p:sp>
        <p:nvSpPr>
          <p:cNvPr id="67" name="Text 64"/>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go to bed</a:t>
            </a:r>
            <a:endParaRPr lang="en-US" sz="1350" dirty="0"/>
          </a:p>
          <a:p>
            <a:pPr indent="0" marL="0">
              <a:buNone/>
            </a:pPr>
            <a:r>
              <a:rPr lang="en-US" sz="1100" i="1" dirty="0">
                <a:solidFill>
                  <a:srgbClr val="5A6472"/>
                </a:solidFill>
                <a:latin typeface="Calibri" pitchFamily="34" charset="0"/>
                <a:cs typeface="Amiri" pitchFamily="2" charset="-78"/>
              </a:rPr>
              <a:t>adh-ha-bu i-lā al-fi-rā-shi</a:t>
            </a:r>
            <a:endParaRPr lang="en-US" sz="13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24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D1-W03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WORDS FROM D1-L06</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D1-L06 · He and She — Describing Someone Else’s Routine</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 الثَّانِي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D1-W03 · Apply workshop (D1-L05 + D1-L06)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8604504" y="1938528"/>
            <a:ext cx="1144829"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she · they</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يَسْتَيْقِظُ</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he wakes up</a:t>
            </a:r>
            <a:endParaRPr lang="en-US" sz="1350" dirty="0"/>
          </a:p>
          <a:p>
            <a:pPr indent="0" marL="0">
              <a:buNone/>
            </a:pPr>
            <a:r>
              <a:rPr lang="en-US" sz="1100" i="1" dirty="0">
                <a:solidFill>
                  <a:srgbClr val="5A6472"/>
                </a:solidFill>
                <a:latin typeface="Calibri" pitchFamily="34" charset="0"/>
                <a:cs typeface="Amiri" pitchFamily="2" charset="-78"/>
              </a:rPr>
              <a:t>yas-tay-qi-ẓu</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they</a:t>
            </a:r>
            <a:endParaRPr lang="en-US" sz="700" dirty="0"/>
          </a:p>
        </p:txBody>
      </p:sp>
      <p:sp>
        <p:nvSpPr>
          <p:cNvPr id="26" name="Text 23"/>
          <p:cNvSpPr txBox="1"/>
          <p:nvPr/>
        </p:nvSpPr>
        <p:spPr>
          <a:xfrm>
            <a:off x="10588752"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يَسْتَيْقِظُونَ</a:t>
            </a:r>
            <a:endParaRPr lang="ar-SA" sz="135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تَسْتَيْقِظُ</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أَسْتَيْقِظُ</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6" name="Shape 33"/>
          <p:cNvSpPr/>
          <p:nvPr/>
        </p:nvSpPr>
        <p:spPr>
          <a:xfrm>
            <a:off x="4782312" y="1938528"/>
            <a:ext cx="1144829"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she · they</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يَخْرُجُ مِنَ البَيْتِ</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he leaves the house</a:t>
            </a:r>
            <a:endParaRPr lang="en-US" sz="1350" dirty="0"/>
          </a:p>
          <a:p>
            <a:pPr indent="0" marL="0">
              <a:buNone/>
            </a:pPr>
            <a:r>
              <a:rPr lang="en-US" sz="1100" i="1" dirty="0">
                <a:solidFill>
                  <a:srgbClr val="5A6472"/>
                </a:solidFill>
                <a:latin typeface="Calibri" pitchFamily="34" charset="0"/>
                <a:cs typeface="Amiri" pitchFamily="2" charset="-78"/>
              </a:rPr>
              <a:t>yakh-ru-ju mi-na al-bay-ti</a:t>
            </a:r>
            <a:endParaRPr lang="en-US" sz="1350" dirty="0"/>
          </a:p>
        </p:txBody>
      </p:sp>
      <p:sp>
        <p:nvSpPr>
          <p:cNvPr id="42" name="Shape 3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they</a:t>
            </a:r>
            <a:endParaRPr lang="en-US" sz="700" dirty="0"/>
          </a:p>
        </p:txBody>
      </p:sp>
      <p:sp>
        <p:nvSpPr>
          <p:cNvPr id="44" name="Text 41"/>
          <p:cNvSpPr txBox="1"/>
          <p:nvPr/>
        </p:nvSpPr>
        <p:spPr>
          <a:xfrm>
            <a:off x="6766560"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يَخْرُجُونَ</a:t>
            </a:r>
            <a:endParaRPr lang="ar-SA" sz="1350" dirty="0"/>
          </a:p>
        </p:txBody>
      </p:sp>
      <p:sp>
        <p:nvSpPr>
          <p:cNvPr id="45" name="Shape 4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47" name="Text 44"/>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تَخْرُجُ</a:t>
            </a:r>
            <a:endParaRPr lang="ar-SA" sz="1500" dirty="0"/>
          </a:p>
        </p:txBody>
      </p:sp>
      <p:sp>
        <p:nvSpPr>
          <p:cNvPr id="48" name="Shape 4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50" name="Text 47"/>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أَخْرُجُ</a:t>
            </a:r>
            <a:endParaRPr lang="ar-SA" sz="1500" dirty="0"/>
          </a:p>
        </p:txBody>
      </p:sp>
      <p:sp>
        <p:nvSpPr>
          <p:cNvPr id="51" name="Shape 4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1920240"/>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54" name="Shape 51"/>
          <p:cNvSpPr/>
          <p:nvPr/>
        </p:nvSpPr>
        <p:spPr>
          <a:xfrm>
            <a:off x="960120" y="1938528"/>
            <a:ext cx="1144829"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960120" y="1938528"/>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she · they</a:t>
            </a:r>
            <a:endParaRPr lang="en-US" sz="800" dirty="0"/>
          </a:p>
        </p:txBody>
      </p:sp>
      <p:sp>
        <p:nvSpPr>
          <p:cNvPr id="56" name="Shape 53"/>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8" name="Text 55"/>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يُرَاجِعُ دُرُوسَهُ</a:t>
            </a:r>
            <a:endParaRPr lang="ar-SA" sz="3000" dirty="0"/>
          </a:p>
        </p:txBody>
      </p:sp>
      <p:sp>
        <p:nvSpPr>
          <p:cNvPr id="59" name="Text 56"/>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he revises his lessons</a:t>
            </a:r>
            <a:endParaRPr lang="en-US" sz="1350" dirty="0"/>
          </a:p>
          <a:p>
            <a:pPr indent="0" marL="0">
              <a:buNone/>
            </a:pPr>
            <a:r>
              <a:rPr lang="en-US" sz="1100" i="1" dirty="0">
                <a:solidFill>
                  <a:srgbClr val="5A6472"/>
                </a:solidFill>
                <a:latin typeface="Calibri" pitchFamily="34" charset="0"/>
                <a:cs typeface="Amiri" pitchFamily="2" charset="-78"/>
              </a:rPr>
              <a:t>yu-rā-ji-ʿu du-rū-sa-hu</a:t>
            </a:r>
            <a:endParaRPr lang="en-US" sz="1350" dirty="0"/>
          </a:p>
        </p:txBody>
      </p:sp>
      <p:sp>
        <p:nvSpPr>
          <p:cNvPr id="60" name="Shape 57"/>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they</a:t>
            </a:r>
            <a:endParaRPr lang="en-US" sz="700" dirty="0"/>
          </a:p>
        </p:txBody>
      </p:sp>
      <p:sp>
        <p:nvSpPr>
          <p:cNvPr id="62" name="Text 59"/>
          <p:cNvSpPr txBox="1"/>
          <p:nvPr/>
        </p:nvSpPr>
        <p:spPr>
          <a:xfrm>
            <a:off x="2944368"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يُرَاجِعُونَ</a:t>
            </a:r>
            <a:endParaRPr lang="ar-SA" sz="1350" dirty="0"/>
          </a:p>
        </p:txBody>
      </p:sp>
      <p:sp>
        <p:nvSpPr>
          <p:cNvPr id="63" name="Shape 60"/>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65" name="Text 62"/>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تُرَاجِعُ</a:t>
            </a:r>
            <a:endParaRPr lang="ar-SA" sz="1500" dirty="0"/>
          </a:p>
        </p:txBody>
      </p:sp>
      <p:sp>
        <p:nvSpPr>
          <p:cNvPr id="66" name="Shape 63"/>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7" name="Text 64"/>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68" name="Text 65"/>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أُرَاجِعُ</a:t>
            </a:r>
            <a:endParaRPr lang="ar-SA" sz="1500" dirty="0"/>
          </a:p>
        </p:txBody>
      </p:sp>
      <p:sp>
        <p:nvSpPr>
          <p:cNvPr id="69" name="Shape 6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8211312" y="4261104"/>
            <a:ext cx="310896" cy="310896"/>
          </a:xfrm>
          <a:prstGeom prst="ellipse">
            <a:avLst/>
          </a:prstGeom>
          <a:solidFill>
            <a:srgbClr val="F4F1EA"/>
          </a:solidFill>
          <a:ln w="12700">
            <a:solidFill>
              <a:srgbClr val="F4F1EA"/>
            </a:solidFill>
            <a:prstDash val="solid"/>
          </a:ln>
        </p:spPr>
      </p:sp>
      <p:sp>
        <p:nvSpPr>
          <p:cNvPr id="71" name="Text 6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72" name="Shape 69"/>
          <p:cNvSpPr/>
          <p:nvPr/>
        </p:nvSpPr>
        <p:spPr>
          <a:xfrm>
            <a:off x="8604504" y="4279392"/>
            <a:ext cx="771754" cy="256032"/>
          </a:xfrm>
          <a:prstGeom prst="roundRect">
            <a:avLst>
              <a:gd name="adj" fmla="val 50000"/>
            </a:avLst>
          </a:prstGeom>
          <a:solidFill>
            <a:srgbClr val="EFE7D2"/>
          </a:solidFill>
          <a:ln w="12700">
            <a:solidFill>
              <a:srgbClr val="EFE7D2"/>
            </a:solidFill>
            <a:prstDash val="solid"/>
          </a:ln>
        </p:spPr>
      </p:sp>
      <p:sp>
        <p:nvSpPr>
          <p:cNvPr id="73" name="Text 70"/>
          <p:cNvSpPr txBox="1"/>
          <p:nvPr/>
        </p:nvSpPr>
        <p:spPr>
          <a:xfrm>
            <a:off x="8604504" y="4279392"/>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pronouns</a:t>
            </a:r>
            <a:endParaRPr lang="en-US" sz="800" dirty="0"/>
          </a:p>
        </p:txBody>
      </p:sp>
      <p:sp>
        <p:nvSpPr>
          <p:cNvPr id="74" name="Shape 71"/>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75" name="Text 72"/>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6" name="Text 73"/>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هُوَ</a:t>
            </a:r>
            <a:endParaRPr lang="ar-SA" sz="3000" dirty="0"/>
          </a:p>
        </p:txBody>
      </p:sp>
      <p:sp>
        <p:nvSpPr>
          <p:cNvPr id="77" name="Text 74"/>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he</a:t>
            </a:r>
            <a:endParaRPr lang="en-US" sz="1350" dirty="0"/>
          </a:p>
          <a:p>
            <a:pPr indent="0" marL="0">
              <a:buNone/>
            </a:pPr>
            <a:r>
              <a:rPr lang="en-US" sz="1100" i="1" dirty="0">
                <a:solidFill>
                  <a:srgbClr val="5A6472"/>
                </a:solidFill>
                <a:latin typeface="Calibri" pitchFamily="34" charset="0"/>
                <a:cs typeface="Amiri" pitchFamily="2" charset="-78"/>
              </a:rPr>
              <a:t>hu-wa</a:t>
            </a:r>
            <a:endParaRPr lang="en-US" sz="1350" dirty="0"/>
          </a:p>
        </p:txBody>
      </p:sp>
      <p:sp>
        <p:nvSpPr>
          <p:cNvPr id="78" name="Shape 75"/>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80" name="Text 77"/>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هِيَ</a:t>
            </a:r>
            <a:endParaRPr lang="ar-SA" sz="1500" dirty="0"/>
          </a:p>
        </p:txBody>
      </p:sp>
      <p:sp>
        <p:nvSpPr>
          <p:cNvPr id="81" name="Shape 78"/>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82" name="Text 79"/>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both</a:t>
            </a:r>
            <a:endParaRPr lang="en-US" sz="700" dirty="0"/>
          </a:p>
        </p:txBody>
      </p:sp>
      <p:sp>
        <p:nvSpPr>
          <p:cNvPr id="83" name="Text 80"/>
          <p:cNvSpPr txBox="1"/>
          <p:nvPr/>
        </p:nvSpPr>
        <p:spPr>
          <a:xfrm>
            <a:off x="9436608"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هُمَا</a:t>
            </a:r>
            <a:endParaRPr lang="ar-SA" sz="1350" dirty="0"/>
          </a:p>
        </p:txBody>
      </p:sp>
      <p:sp>
        <p:nvSpPr>
          <p:cNvPr id="84" name="Shape 81"/>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85" name="Text 82"/>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they</a:t>
            </a:r>
            <a:endParaRPr lang="en-US" sz="700" dirty="0"/>
          </a:p>
        </p:txBody>
      </p:sp>
      <p:sp>
        <p:nvSpPr>
          <p:cNvPr id="86" name="Text 83"/>
          <p:cNvSpPr txBox="1"/>
          <p:nvPr/>
        </p:nvSpPr>
        <p:spPr>
          <a:xfrm>
            <a:off x="8284464"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هُمْ</a:t>
            </a:r>
            <a:endParaRPr lang="ar-SA" sz="1350" dirty="0"/>
          </a:p>
        </p:txBody>
      </p:sp>
      <p:sp>
        <p:nvSpPr>
          <p:cNvPr id="87" name="Shape 8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8" name="Shape 85"/>
          <p:cNvSpPr/>
          <p:nvPr/>
        </p:nvSpPr>
        <p:spPr>
          <a:xfrm>
            <a:off x="4389120" y="4261104"/>
            <a:ext cx="310896" cy="310896"/>
          </a:xfrm>
          <a:prstGeom prst="ellipse">
            <a:avLst/>
          </a:prstGeom>
          <a:solidFill>
            <a:srgbClr val="F4F1EA"/>
          </a:solidFill>
          <a:ln w="12700">
            <a:solidFill>
              <a:srgbClr val="F4F1EA"/>
            </a:solidFill>
            <a:prstDash val="solid"/>
          </a:ln>
        </p:spPr>
      </p:sp>
      <p:sp>
        <p:nvSpPr>
          <p:cNvPr id="89" name="Text 8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90" name="Shape 87"/>
          <p:cNvSpPr/>
          <p:nvPr/>
        </p:nvSpPr>
        <p:spPr>
          <a:xfrm>
            <a:off x="4782312" y="4279392"/>
            <a:ext cx="1144829" cy="256032"/>
          </a:xfrm>
          <a:prstGeom prst="roundRect">
            <a:avLst>
              <a:gd name="adj" fmla="val 50000"/>
            </a:avLst>
          </a:prstGeom>
          <a:solidFill>
            <a:srgbClr val="EFE7D2"/>
          </a:solidFill>
          <a:ln w="12700">
            <a:solidFill>
              <a:srgbClr val="EFE7D2"/>
            </a:solidFill>
            <a:prstDash val="solid"/>
          </a:ln>
        </p:spPr>
      </p:sp>
      <p:sp>
        <p:nvSpPr>
          <p:cNvPr id="91" name="Text 88"/>
          <p:cNvSpPr txBox="1"/>
          <p:nvPr/>
        </p:nvSpPr>
        <p:spPr>
          <a:xfrm>
            <a:off x="4782312" y="4279392"/>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my · his · her</a:t>
            </a:r>
            <a:endParaRPr lang="en-US" sz="800" dirty="0"/>
          </a:p>
        </p:txBody>
      </p:sp>
      <p:sp>
        <p:nvSpPr>
          <p:cNvPr id="92" name="Shape 89"/>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93" name="Text 90"/>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94" name="Text 91"/>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رُوتِينُهُ</a:t>
            </a:r>
            <a:endParaRPr lang="ar-SA" sz="3000" dirty="0"/>
          </a:p>
        </p:txBody>
      </p:sp>
      <p:sp>
        <p:nvSpPr>
          <p:cNvPr id="95" name="Text 92"/>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his routine</a:t>
            </a:r>
            <a:endParaRPr lang="en-US" sz="1350" dirty="0"/>
          </a:p>
          <a:p>
            <a:pPr indent="0" marL="0">
              <a:buNone/>
            </a:pPr>
            <a:r>
              <a:rPr lang="en-US" sz="1100" i="1" dirty="0">
                <a:solidFill>
                  <a:srgbClr val="5A6472"/>
                </a:solidFill>
                <a:latin typeface="Calibri" pitchFamily="34" charset="0"/>
                <a:cs typeface="Amiri" pitchFamily="2" charset="-78"/>
              </a:rPr>
              <a:t>rū-tī-nu-hu</a:t>
            </a:r>
            <a:endParaRPr lang="en-US" sz="1350" dirty="0"/>
          </a:p>
        </p:txBody>
      </p:sp>
      <p:sp>
        <p:nvSpPr>
          <p:cNvPr id="96" name="Shape 93"/>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97" name="Text 94"/>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my</a:t>
            </a:r>
            <a:endParaRPr lang="en-US" sz="750" dirty="0"/>
          </a:p>
        </p:txBody>
      </p:sp>
      <p:sp>
        <p:nvSpPr>
          <p:cNvPr id="98" name="Text 95"/>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رُوتِينِي</a:t>
            </a:r>
            <a:endParaRPr lang="ar-SA" sz="1500" dirty="0"/>
          </a:p>
        </p:txBody>
      </p:sp>
      <p:sp>
        <p:nvSpPr>
          <p:cNvPr id="99" name="Shape 96"/>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100" name="Text 97"/>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his</a:t>
            </a:r>
            <a:endParaRPr lang="en-US" sz="750" dirty="0"/>
          </a:p>
        </p:txBody>
      </p:sp>
      <p:sp>
        <p:nvSpPr>
          <p:cNvPr id="101" name="Text 98"/>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رُوتِينُهُ</a:t>
            </a:r>
            <a:endParaRPr lang="ar-SA" sz="1500" dirty="0"/>
          </a:p>
        </p:txBody>
      </p:sp>
      <p:sp>
        <p:nvSpPr>
          <p:cNvPr id="102" name="Shape 99"/>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103" name="Text 100"/>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her</a:t>
            </a:r>
            <a:endParaRPr lang="en-US" sz="750" dirty="0"/>
          </a:p>
        </p:txBody>
      </p:sp>
      <p:sp>
        <p:nvSpPr>
          <p:cNvPr id="104" name="Text 101"/>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رُوتِينُهَا</a:t>
            </a:r>
            <a:endParaRPr lang="ar-SA" sz="1500" dirty="0"/>
          </a:p>
        </p:txBody>
      </p:sp>
      <p:sp>
        <p:nvSpPr>
          <p:cNvPr id="105" name="Shape 10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566928" y="4261104"/>
            <a:ext cx="310896" cy="310896"/>
          </a:xfrm>
          <a:prstGeom prst="ellipse">
            <a:avLst/>
          </a:prstGeom>
          <a:solidFill>
            <a:srgbClr val="F4F1EA"/>
          </a:solidFill>
          <a:ln w="12700">
            <a:solidFill>
              <a:srgbClr val="F4F1EA"/>
            </a:solidFill>
            <a:prstDash val="solid"/>
          </a:ln>
        </p:spPr>
      </p:sp>
      <p:sp>
        <p:nvSpPr>
          <p:cNvPr id="107" name="Text 10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108" name="Shape 10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109" name="Text 10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110" name="Text 10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بَيْنَمَا</a:t>
            </a:r>
            <a:endParaRPr lang="ar-SA" sz="3000" dirty="0"/>
          </a:p>
        </p:txBody>
      </p:sp>
      <p:sp>
        <p:nvSpPr>
          <p:cNvPr id="111" name="Text 10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whereas</a:t>
            </a:r>
            <a:endParaRPr lang="en-US" sz="1350" dirty="0"/>
          </a:p>
          <a:p>
            <a:pPr indent="0" marL="0">
              <a:buNone/>
            </a:pPr>
            <a:r>
              <a:rPr lang="en-US" sz="1100" i="1" dirty="0">
                <a:solidFill>
                  <a:srgbClr val="5A6472"/>
                </a:solidFill>
                <a:latin typeface="Calibri" pitchFamily="34" charset="0"/>
                <a:cs typeface="Amiri" pitchFamily="2" charset="-78"/>
              </a:rPr>
              <a:t>bay-na-mā</a:t>
            </a:r>
            <a:endParaRPr lang="en-US" sz="1350" dirty="0"/>
          </a:p>
        </p:txBody>
      </p:sp>
      <p:sp>
        <p:nvSpPr>
          <p:cNvPr id="112" name="Text 10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24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D1-W03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PART 1 · STEP 2 · WHICH LESSON? · READ EACH CARD, THEN SORT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lesson does it come from?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أَيِّ 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D1-W03 · Apply workshop (D1-L05 + D1-L06)</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بَعْدَ المَدْرَسَةِ … ، ثُمَّ …</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يَسْتَيْقِظُ … · تَسْتَيْقِظُ …</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عَمَلُهُ · مَدْرَسَتُهَا</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أُرَاجِعُ لِمُدَّةِ …</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لِكَيْ … · حَتَّى لَا …</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 بَيْنَمَا هِيَ …</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رَأْيِي يَوْمُهُ أَصْعَبُ لِأَنَّ …</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رَأْيِي مَسَائِي مُتَوَازِنٌ لِأَنَّ …</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D1-L05 · After School and Evening Routine</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D1-L06 · He and She — Describing Someone Else’s Routine</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24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D1-W03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2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lesson?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أَيِّ 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D1-W03 · Apply workshop (D1-L05 + D1-L06)</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D1-L05 · After School and Evening Routine</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بَعْدَ المَدْرَسَةِ … ، ثُمَّ …</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أُرَاجِعُ لِمُدَّةِ …</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لِكَيْ … · حَتَّى لَا …</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رَأْيِي مَسَائِي مُتَوَازِنٌ لِأَنَّ …</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D1-L06 · He and She — Describing Someone Else’s Routine</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يَسْتَيْقِظُ … · تَسْتَيْقِظُ …</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عَمَلُهُ · مَدْرَسَتُهَا</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 بَيْنَمَا هِيَ …</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رَأْيِي يَوْمُهُ أَصْعَبُ لِأَنَّ …</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24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D1-W03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2F6FB0"/>
                </a:solidFill>
                <a:latin typeface="Calibri" pitchFamily="34" charset="0"/>
                <a:cs typeface="Amiri" pitchFamily="2" charset="-78"/>
              </a:rPr>
              <a:t>PART 2 · STEP 3 · SAY THE MODEL DIALOGUE · BOTH LESSONS IN ONE CONVERSATION</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Two evenings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مَسَاءَانِ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D1-W03 · Apply workshop (D1-L05 + D1-L06)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754112" y="1810512"/>
            <a:ext cx="3904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1444752" y="1810512"/>
            <a:ext cx="6163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Say it in Arabic</a:t>
            </a:r>
            <a:endParaRPr lang="en-US" sz="1100" dirty="0"/>
          </a:p>
        </p:txBody>
      </p:sp>
      <p:sp>
        <p:nvSpPr>
          <p:cNvPr id="18" name="Text 15"/>
          <p:cNvSpPr txBox="1"/>
          <p:nvPr/>
        </p:nvSpPr>
        <p:spPr>
          <a:xfrm>
            <a:off x="5303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Who</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7790688" y="226771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do you do after school?</a:t>
            </a:r>
            <a:endParaRPr lang="en-US" sz="1100" dirty="0"/>
          </a:p>
        </p:txBody>
      </p:sp>
      <p:sp>
        <p:nvSpPr>
          <p:cNvPr id="21" name="Text 18"/>
          <p:cNvSpPr txBox="1"/>
          <p:nvPr/>
        </p:nvSpPr>
        <p:spPr>
          <a:xfrm>
            <a:off x="1463040" y="2267712"/>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مَاذَا تَفْعَلُ بَعْدَ المَدْرَسَةِ؟</a:t>
            </a:r>
            <a:endParaRPr lang="ar-SA" sz="1900" dirty="0"/>
          </a:p>
        </p:txBody>
      </p:sp>
      <p:sp>
        <p:nvSpPr>
          <p:cNvPr id="22" name="Text 19"/>
          <p:cNvSpPr txBox="1"/>
          <p:nvPr/>
        </p:nvSpPr>
        <p:spPr>
          <a:xfrm>
            <a:off x="566928" y="226771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23" name="Shape 20"/>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4" name="Text 21"/>
          <p:cNvSpPr txBox="1"/>
          <p:nvPr/>
        </p:nvSpPr>
        <p:spPr>
          <a:xfrm>
            <a:off x="7790688" y="2881884"/>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rest for half an hour, then I revise my lessons so that I am ready for tomorrow.</a:t>
            </a:r>
            <a:endParaRPr lang="en-US" sz="1100" dirty="0"/>
          </a:p>
        </p:txBody>
      </p:sp>
      <p:sp>
        <p:nvSpPr>
          <p:cNvPr id="25" name="Text 22"/>
          <p:cNvSpPr txBox="1"/>
          <p:nvPr/>
        </p:nvSpPr>
        <p:spPr>
          <a:xfrm>
            <a:off x="1463040" y="2881884"/>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أَسْتَرِيحُ لِمُدَّةِ نِصْفِ سَاعَةٍ، ثُمَّ أُرَاجِعُ دُرُوسِي لِكَيْ أَسْتَعِدَّ لِلْغَدِ.</a:t>
            </a:r>
            <a:endParaRPr lang="ar-SA" sz="1900" dirty="0"/>
          </a:p>
        </p:txBody>
      </p:sp>
      <p:sp>
        <p:nvSpPr>
          <p:cNvPr id="26" name="Text 23"/>
          <p:cNvSpPr txBox="1"/>
          <p:nvPr/>
        </p:nvSpPr>
        <p:spPr>
          <a:xfrm>
            <a:off x="566928" y="2881884"/>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27" name="Shape 2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28" name="Text 25"/>
          <p:cNvSpPr txBox="1"/>
          <p:nvPr/>
        </p:nvSpPr>
        <p:spPr>
          <a:xfrm>
            <a:off x="7790688" y="3496056"/>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And your sister?</a:t>
            </a:r>
            <a:endParaRPr lang="en-US" sz="1100" dirty="0"/>
          </a:p>
        </p:txBody>
      </p:sp>
      <p:sp>
        <p:nvSpPr>
          <p:cNvPr id="29" name="Text 26"/>
          <p:cNvSpPr txBox="1"/>
          <p:nvPr/>
        </p:nvSpPr>
        <p:spPr>
          <a:xfrm>
            <a:off x="1463040" y="3496056"/>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وَأُخْتُكَ؟</a:t>
            </a:r>
            <a:endParaRPr lang="ar-SA" sz="1900" dirty="0"/>
          </a:p>
        </p:txBody>
      </p:sp>
      <p:sp>
        <p:nvSpPr>
          <p:cNvPr id="30" name="Text 27"/>
          <p:cNvSpPr txBox="1"/>
          <p:nvPr/>
        </p:nvSpPr>
        <p:spPr>
          <a:xfrm>
            <a:off x="566928" y="3496056"/>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1" name="Shape 2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2" name="Text 29"/>
          <p:cNvSpPr txBox="1"/>
          <p:nvPr/>
        </p:nvSpPr>
        <p:spPr>
          <a:xfrm>
            <a:off x="7790688" y="4110228"/>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sister comes back from university at five, and she helps my mother in the kitchen.</a:t>
            </a:r>
            <a:endParaRPr lang="en-US" sz="1100" dirty="0"/>
          </a:p>
        </p:txBody>
      </p:sp>
      <p:sp>
        <p:nvSpPr>
          <p:cNvPr id="33" name="Text 30"/>
          <p:cNvSpPr txBox="1"/>
          <p:nvPr/>
        </p:nvSpPr>
        <p:spPr>
          <a:xfrm>
            <a:off x="1463040" y="4110228"/>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أُخْتِي تَرْجِعُ مِنَ الجَامِعَةِ فِي الخَامِسَةِ، وَتُسَاعِدُ أُمِّي فِي المَطْبَخِ.</a:t>
            </a:r>
            <a:endParaRPr lang="ar-SA" sz="1900" dirty="0"/>
          </a:p>
        </p:txBody>
      </p:sp>
      <p:sp>
        <p:nvSpPr>
          <p:cNvPr id="34" name="Text 31"/>
          <p:cNvSpPr txBox="1"/>
          <p:nvPr/>
        </p:nvSpPr>
        <p:spPr>
          <a:xfrm>
            <a:off x="566928" y="4110228"/>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35" name="Shape 32"/>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36" name="Text 33"/>
          <p:cNvSpPr txBox="1"/>
          <p:nvPr/>
        </p:nvSpPr>
        <p:spPr>
          <a:xfrm>
            <a:off x="7790688" y="4724400"/>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Do you help her too?</a:t>
            </a:r>
            <a:endParaRPr lang="en-US" sz="1100" dirty="0"/>
          </a:p>
        </p:txBody>
      </p:sp>
      <p:sp>
        <p:nvSpPr>
          <p:cNvPr id="37" name="Text 34"/>
          <p:cNvSpPr txBox="1"/>
          <p:nvPr/>
        </p:nvSpPr>
        <p:spPr>
          <a:xfrm>
            <a:off x="1463040" y="4724400"/>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هَلْ تُسَاعِدُهَا أَنْتَ أَيْضًا؟</a:t>
            </a:r>
            <a:endParaRPr lang="ar-SA" sz="1900" dirty="0"/>
          </a:p>
        </p:txBody>
      </p:sp>
      <p:sp>
        <p:nvSpPr>
          <p:cNvPr id="38" name="Text 35"/>
          <p:cNvSpPr txBox="1"/>
          <p:nvPr/>
        </p:nvSpPr>
        <p:spPr>
          <a:xfrm>
            <a:off x="566928" y="4724400"/>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9" name="Shape 3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7790688" y="533857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Yes, I help her sometimes. She sleeps at eleven, whereas I sleep at half past nine.</a:t>
            </a:r>
            <a:endParaRPr lang="en-US" sz="1100" dirty="0"/>
          </a:p>
        </p:txBody>
      </p:sp>
      <p:sp>
        <p:nvSpPr>
          <p:cNvPr id="41" name="Text 38"/>
          <p:cNvSpPr txBox="1"/>
          <p:nvPr/>
        </p:nvSpPr>
        <p:spPr>
          <a:xfrm>
            <a:off x="1463040" y="5338572"/>
            <a:ext cx="6126480"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نَعَمْ، أُسَاعِدُهَا أَحْيَانًا. هِيَ تَنَامُ فِي الحَادِيَةَ عَشْرَةَ، بَيْنَمَا أَنَا أَنَامُ فِي التَّاسِعَةِ وَالنِّصْفِ.</a:t>
            </a:r>
            <a:endParaRPr lang="ar-SA" sz="1500" dirty="0"/>
          </a:p>
        </p:txBody>
      </p:sp>
      <p:sp>
        <p:nvSpPr>
          <p:cNvPr id="42" name="Text 39"/>
          <p:cNvSpPr txBox="1"/>
          <p:nvPr/>
        </p:nvSpPr>
        <p:spPr>
          <a:xfrm>
            <a:off x="566928" y="533857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Round 1: read it in pairs (A and B). Round 2: swap letters. Round 3: cover the Arabic and say it from the English. Then change TWO details — one from each lesson — and say it again.</a:t>
            </a:r>
            <a:endParaRPr lang="en-US" sz="11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24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D1-W03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STEP 4 · QUESTION CARDS · QUESTIONS FROM BOTH LESSONS, MIXED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Mixed questions — answer, then add more</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مِنَ الدَّرْسَيْنِ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D1-W03 · Apply workshop (D1-L05 + D1-L06)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720072" y="1810512"/>
            <a:ext cx="1938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Add more (Develop · Stretch)</a:t>
            </a:r>
            <a:endParaRPr lang="en-US" sz="1100" dirty="0"/>
          </a:p>
        </p:txBody>
      </p:sp>
      <p:sp>
        <p:nvSpPr>
          <p:cNvPr id="17" name="Text 14"/>
          <p:cNvSpPr txBox="1"/>
          <p:nvPr/>
        </p:nvSpPr>
        <p:spPr>
          <a:xfrm>
            <a:off x="697687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Start your answer (Core)</a:t>
            </a:r>
            <a:endParaRPr lang="en-US" sz="1100" dirty="0"/>
          </a:p>
        </p:txBody>
      </p:sp>
      <p:sp>
        <p:nvSpPr>
          <p:cNvPr id="18" name="Text 15"/>
          <p:cNvSpPr txBox="1"/>
          <p:nvPr/>
        </p:nvSpPr>
        <p:spPr>
          <a:xfrm>
            <a:off x="459943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Text 16"/>
          <p:cNvSpPr txBox="1"/>
          <p:nvPr/>
        </p:nvSpPr>
        <p:spPr>
          <a:xfrm>
            <a:off x="1033272" y="1810512"/>
            <a:ext cx="3419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asks</a:t>
            </a:r>
            <a:endParaRPr lang="en-US" sz="1100" dirty="0"/>
          </a:p>
        </p:txBody>
      </p:sp>
      <p:sp>
        <p:nvSpPr>
          <p:cNvPr id="20" name="Text 17"/>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1" name="Shape 18"/>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2" name="Text 19"/>
          <p:cNvSpPr txBox="1"/>
          <p:nvPr/>
        </p:nvSpPr>
        <p:spPr>
          <a:xfrm>
            <a:off x="9738360" y="2267712"/>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وَأَوَّلُ شَيْءٍ أَفْعَلُهُ …</a:t>
            </a:r>
            <a:endParaRPr lang="ar-SA" sz="1500" dirty="0"/>
          </a:p>
        </p:txBody>
      </p:sp>
      <p:sp>
        <p:nvSpPr>
          <p:cNvPr id="23" name="Text 20"/>
          <p:cNvSpPr txBox="1"/>
          <p:nvPr/>
        </p:nvSpPr>
        <p:spPr>
          <a:xfrm>
            <a:off x="6995160" y="2267712"/>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أَرْجِعُ فِي …</a:t>
            </a:r>
            <a:endParaRPr lang="ar-SA" sz="1600" dirty="0"/>
          </a:p>
        </p:txBody>
      </p:sp>
      <p:sp>
        <p:nvSpPr>
          <p:cNvPr id="24" name="Text 21"/>
          <p:cNvSpPr txBox="1"/>
          <p:nvPr/>
        </p:nvSpPr>
        <p:spPr>
          <a:xfrm>
            <a:off x="4636008" y="226771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When do you get home?</a:t>
            </a:r>
            <a:endParaRPr lang="en-US" sz="1100" dirty="0"/>
          </a:p>
        </p:txBody>
      </p:sp>
      <p:sp>
        <p:nvSpPr>
          <p:cNvPr id="25" name="Text 22"/>
          <p:cNvSpPr txBox="1"/>
          <p:nvPr/>
        </p:nvSpPr>
        <p:spPr>
          <a:xfrm>
            <a:off x="1051560" y="2267712"/>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مَتَى تَرْجِعُ إِلَى البَيْتِ؟</a:t>
            </a:r>
            <a:endParaRPr lang="ar-SA" sz="1700" dirty="0"/>
          </a:p>
        </p:txBody>
      </p:sp>
      <p:sp>
        <p:nvSpPr>
          <p:cNvPr id="26" name="Text 23"/>
          <p:cNvSpPr txBox="1"/>
          <p:nvPr/>
        </p:nvSpPr>
        <p:spPr>
          <a:xfrm>
            <a:off x="566928" y="2267712"/>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30" name="Text 27"/>
          <p:cNvSpPr txBox="1"/>
          <p:nvPr/>
        </p:nvSpPr>
        <p:spPr>
          <a:xfrm>
            <a:off x="9738360" y="2881884"/>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لِأَنَّ عَمَلَهُ …</a:t>
            </a:r>
            <a:endParaRPr lang="ar-SA" sz="1500" dirty="0"/>
          </a:p>
        </p:txBody>
      </p:sp>
      <p:sp>
        <p:nvSpPr>
          <p:cNvPr id="31" name="Text 28"/>
          <p:cNvSpPr txBox="1"/>
          <p:nvPr/>
        </p:nvSpPr>
        <p:spPr>
          <a:xfrm>
            <a:off x="6995160" y="2881884"/>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يَسْتَيْقِظُ أَبِي فِي …</a:t>
            </a:r>
            <a:endParaRPr lang="ar-SA" sz="1600" dirty="0"/>
          </a:p>
        </p:txBody>
      </p:sp>
      <p:sp>
        <p:nvSpPr>
          <p:cNvPr id="32" name="Text 29"/>
          <p:cNvSpPr txBox="1"/>
          <p:nvPr/>
        </p:nvSpPr>
        <p:spPr>
          <a:xfrm>
            <a:off x="4636008" y="2881884"/>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When does your father wake up?</a:t>
            </a:r>
            <a:endParaRPr lang="en-US" sz="1100" dirty="0"/>
          </a:p>
        </p:txBody>
      </p:sp>
      <p:sp>
        <p:nvSpPr>
          <p:cNvPr id="33" name="Text 30"/>
          <p:cNvSpPr txBox="1"/>
          <p:nvPr/>
        </p:nvSpPr>
        <p:spPr>
          <a:xfrm>
            <a:off x="1051560" y="2881884"/>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مَتَى يَسْتَيْقِظُ أَبُوكَ؟</a:t>
            </a:r>
            <a:endParaRPr lang="ar-SA" sz="1700" dirty="0"/>
          </a:p>
        </p:txBody>
      </p:sp>
      <p:sp>
        <p:nvSpPr>
          <p:cNvPr id="34" name="Text 31"/>
          <p:cNvSpPr txBox="1"/>
          <p:nvPr/>
        </p:nvSpPr>
        <p:spPr>
          <a:xfrm>
            <a:off x="566928" y="2881884"/>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8" name="Text 35"/>
          <p:cNvSpPr txBox="1"/>
          <p:nvPr/>
        </p:nvSpPr>
        <p:spPr>
          <a:xfrm>
            <a:off x="9738360" y="3496056"/>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لِكَيْ …</a:t>
            </a:r>
            <a:endParaRPr lang="ar-SA" sz="1500" dirty="0"/>
          </a:p>
        </p:txBody>
      </p:sp>
      <p:sp>
        <p:nvSpPr>
          <p:cNvPr id="39" name="Text 36"/>
          <p:cNvSpPr txBox="1"/>
          <p:nvPr/>
        </p:nvSpPr>
        <p:spPr>
          <a:xfrm>
            <a:off x="6995160" y="3496056"/>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أَسْتَرِيحُ لِمُدَّةِ …</a:t>
            </a:r>
            <a:endParaRPr lang="ar-SA" sz="1600" dirty="0"/>
          </a:p>
        </p:txBody>
      </p:sp>
      <p:sp>
        <p:nvSpPr>
          <p:cNvPr id="40" name="Text 37"/>
          <p:cNvSpPr txBox="1"/>
          <p:nvPr/>
        </p:nvSpPr>
        <p:spPr>
          <a:xfrm>
            <a:off x="4636008" y="3496056"/>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long do you rest?</a:t>
            </a:r>
            <a:endParaRPr lang="en-US" sz="1100" dirty="0"/>
          </a:p>
        </p:txBody>
      </p:sp>
      <p:sp>
        <p:nvSpPr>
          <p:cNvPr id="41" name="Text 38"/>
          <p:cNvSpPr txBox="1"/>
          <p:nvPr/>
        </p:nvSpPr>
        <p:spPr>
          <a:xfrm>
            <a:off x="1051560" y="3496056"/>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كَمْ مِنَ الوَقْتِ تَسْتَرِيحُ؟</a:t>
            </a:r>
            <a:endParaRPr lang="ar-SA" sz="1700" dirty="0"/>
          </a:p>
        </p:txBody>
      </p:sp>
      <p:sp>
        <p:nvSpPr>
          <p:cNvPr id="42" name="Text 39"/>
          <p:cNvSpPr txBox="1"/>
          <p:nvPr/>
        </p:nvSpPr>
        <p:spPr>
          <a:xfrm>
            <a:off x="566928" y="3496056"/>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3" name="Shape 40"/>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Shape 4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9738360" y="4110228"/>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ثُمَّ تَعْمَلُ …</a:t>
            </a:r>
            <a:endParaRPr lang="ar-SA" sz="1500" dirty="0"/>
          </a:p>
        </p:txBody>
      </p:sp>
      <p:sp>
        <p:nvSpPr>
          <p:cNvPr id="47" name="Text 44"/>
          <p:cNvSpPr txBox="1"/>
          <p:nvPr/>
        </p:nvSpPr>
        <p:spPr>
          <a:xfrm>
            <a:off x="6995160" y="4110228"/>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أُمِّي تُحَضِّرُ … / تَذْهَبُ …</a:t>
            </a:r>
            <a:endParaRPr lang="ar-SA" sz="1600" dirty="0"/>
          </a:p>
        </p:txBody>
      </p:sp>
      <p:sp>
        <p:nvSpPr>
          <p:cNvPr id="48" name="Text 45"/>
          <p:cNvSpPr txBox="1"/>
          <p:nvPr/>
        </p:nvSpPr>
        <p:spPr>
          <a:xfrm>
            <a:off x="4636008" y="4110228"/>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does your mother do in the morning?</a:t>
            </a:r>
            <a:endParaRPr lang="en-US" sz="1100" dirty="0"/>
          </a:p>
        </p:txBody>
      </p:sp>
      <p:sp>
        <p:nvSpPr>
          <p:cNvPr id="49" name="Text 46"/>
          <p:cNvSpPr txBox="1"/>
          <p:nvPr/>
        </p:nvSpPr>
        <p:spPr>
          <a:xfrm>
            <a:off x="1051560" y="4110228"/>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مَاذَا تَفْعَلُ أُمُّكَ فِي الصَّبَاحِ؟</a:t>
            </a:r>
            <a:endParaRPr lang="ar-SA" sz="1700" dirty="0"/>
          </a:p>
        </p:txBody>
      </p:sp>
      <p:sp>
        <p:nvSpPr>
          <p:cNvPr id="50" name="Text 47"/>
          <p:cNvSpPr txBox="1"/>
          <p:nvPr/>
        </p:nvSpPr>
        <p:spPr>
          <a:xfrm>
            <a:off x="566928" y="4110228"/>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51" name="Shape 4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3" name="Shape 5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54" name="Text 51"/>
          <p:cNvSpPr txBox="1"/>
          <p:nvPr/>
        </p:nvSpPr>
        <p:spPr>
          <a:xfrm>
            <a:off x="9738360" y="4724400"/>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أُسَاعِدُهَا / أُسَاعِدُهُ لِأَنَّ …</a:t>
            </a:r>
            <a:endParaRPr lang="ar-SA" sz="1500" dirty="0"/>
          </a:p>
        </p:txBody>
      </p:sp>
      <p:sp>
        <p:nvSpPr>
          <p:cNvPr id="55" name="Text 52"/>
          <p:cNvSpPr txBox="1"/>
          <p:nvPr/>
        </p:nvSpPr>
        <p:spPr>
          <a:xfrm>
            <a:off x="6995160" y="4724400"/>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أُسَاعِدُ أُمِّي / أَبِي فِي …</a:t>
            </a:r>
            <a:endParaRPr lang="ar-SA" sz="1600" dirty="0"/>
          </a:p>
        </p:txBody>
      </p:sp>
      <p:sp>
        <p:nvSpPr>
          <p:cNvPr id="56" name="Text 53"/>
          <p:cNvSpPr txBox="1"/>
          <p:nvPr/>
        </p:nvSpPr>
        <p:spPr>
          <a:xfrm>
            <a:off x="4636008" y="4724400"/>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do you help your family?</a:t>
            </a:r>
            <a:endParaRPr lang="en-US" sz="1100" dirty="0"/>
          </a:p>
        </p:txBody>
      </p:sp>
      <p:sp>
        <p:nvSpPr>
          <p:cNvPr id="57" name="Text 54"/>
          <p:cNvSpPr txBox="1"/>
          <p:nvPr/>
        </p:nvSpPr>
        <p:spPr>
          <a:xfrm>
            <a:off x="1051560" y="4724400"/>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كَيْفَ تُسَاعِدُ أُسْرَتَكَ؟</a:t>
            </a:r>
            <a:endParaRPr lang="ar-SA" sz="1700" dirty="0"/>
          </a:p>
        </p:txBody>
      </p:sp>
      <p:sp>
        <p:nvSpPr>
          <p:cNvPr id="58" name="Text 55"/>
          <p:cNvSpPr txBox="1"/>
          <p:nvPr/>
        </p:nvSpPr>
        <p:spPr>
          <a:xfrm>
            <a:off x="566928" y="4724400"/>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9" name="Shape 5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60" name="Text 57"/>
          <p:cNvSpPr txBox="1"/>
          <p:nvPr/>
        </p:nvSpPr>
        <p:spPr>
          <a:xfrm>
            <a:off x="9738360" y="5338572"/>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مَعَ أَخِيهِ</a:t>
            </a:r>
            <a:endParaRPr lang="ar-SA" sz="1500" dirty="0"/>
          </a:p>
        </p:txBody>
      </p:sp>
      <p:sp>
        <p:nvSpPr>
          <p:cNvPr id="61" name="Text 58"/>
          <p:cNvSpPr txBox="1"/>
          <p:nvPr/>
        </p:nvSpPr>
        <p:spPr>
          <a:xfrm>
            <a:off x="6995160" y="5338572"/>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يَذْهَبُ مَشْيًا / بِالسَّيَّارَةِ</a:t>
            </a:r>
            <a:endParaRPr lang="ar-SA" sz="1600" dirty="0"/>
          </a:p>
        </p:txBody>
      </p:sp>
      <p:sp>
        <p:nvSpPr>
          <p:cNvPr id="62" name="Text 59"/>
          <p:cNvSpPr txBox="1"/>
          <p:nvPr/>
        </p:nvSpPr>
        <p:spPr>
          <a:xfrm>
            <a:off x="4636008" y="533857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does your friend go to school?</a:t>
            </a:r>
            <a:endParaRPr lang="en-US" sz="1100" dirty="0"/>
          </a:p>
        </p:txBody>
      </p:sp>
      <p:sp>
        <p:nvSpPr>
          <p:cNvPr id="63" name="Text 60"/>
          <p:cNvSpPr txBox="1"/>
          <p:nvPr/>
        </p:nvSpPr>
        <p:spPr>
          <a:xfrm>
            <a:off x="1051560" y="5338572"/>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كَيْفَ يَذْهَبُ صَدِيقُكَ إِلَى المَدْرَسَةِ؟</a:t>
            </a:r>
            <a:endParaRPr lang="ar-SA" sz="1700" dirty="0"/>
          </a:p>
        </p:txBody>
      </p:sp>
      <p:sp>
        <p:nvSpPr>
          <p:cNvPr id="64" name="Text 61"/>
          <p:cNvSpPr txBox="1"/>
          <p:nvPr/>
        </p:nvSpPr>
        <p:spPr>
          <a:xfrm>
            <a:off x="566928" y="5338572"/>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5" name="Text 6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Odd numbers come from D1-L05, even numbers from D1-L06. Core: a full sentence from the starter. Develop: add the “more” part. Stretch: link two answers with ‏</a:t>
            </a:r>
            <a:pPr algn="l" indent="0" marL="0">
              <a:buNone/>
            </a:pPr>
            <a:r>
              <a:rPr lang="ar-SA" altLang="en-US" sz="1450" b="1" dirty="0">
                <a:solidFill>
                  <a:srgbClr val="1B3B6F"/>
                </a:solidFill>
                <a:latin typeface="Amiri" pitchFamily="2" charset="-78"/>
                <a:ea typeface="Amiri" pitchFamily="2" charset="-78"/>
                <a:cs typeface="Amiri" pitchFamily="2" charset="-78"/>
              </a:rPr>
              <a:t>وَ</a:t>
            </a:r>
            <a:pPr algn="l" indent="0" marL="0">
              <a:buNone/>
            </a:pPr>
            <a:r>
              <a:rPr lang="en-US" sz="1100" b="1" dirty="0">
                <a:solidFill>
                  <a:srgbClr val="1B3B6F"/>
                </a:solidFill>
                <a:latin typeface="Calibri" pitchFamily="34" charset="0"/>
                <a:cs typeface="Amiri" pitchFamily="2" charset="-78"/>
              </a:rPr>
              <a:t>‏, ‏</a:t>
            </a:r>
            <a:pPr algn="l" indent="0" marL="0">
              <a:buNone/>
            </a:pPr>
            <a:r>
              <a:rPr lang="ar-SA" altLang="en-US" sz="1450" b="1" dirty="0">
                <a:solidFill>
                  <a:srgbClr val="1B3B6F"/>
                </a:solidFill>
                <a:latin typeface="Amiri" pitchFamily="2" charset="-78"/>
                <a:ea typeface="Amiri" pitchFamily="2" charset="-78"/>
                <a:cs typeface="Amiri" pitchFamily="2" charset="-78"/>
              </a:rPr>
              <a:t>لِأَنَّ</a:t>
            </a:r>
            <a:pPr algn="l" indent="0" marL="0">
              <a:buNone/>
            </a:pPr>
            <a:r>
              <a:rPr lang="en-US" sz="1100" b="1" dirty="0">
                <a:solidFill>
                  <a:srgbClr val="1B3B6F"/>
                </a:solidFill>
                <a:latin typeface="Calibri" pitchFamily="34" charset="0"/>
                <a:cs typeface="Amiri" pitchFamily="2" charset="-78"/>
              </a:rPr>
              <a:t>‏ or ‏</a:t>
            </a:r>
            <a:pPr algn="l" indent="0" marL="0">
              <a:buNone/>
            </a:pPr>
            <a:r>
              <a:rPr lang="ar-SA" altLang="en-US" sz="1450" b="1" dirty="0">
                <a:solidFill>
                  <a:srgbClr val="1B3B6F"/>
                </a:solidFill>
                <a:latin typeface="Amiri" pitchFamily="2" charset="-78"/>
                <a:ea typeface="Amiri" pitchFamily="2" charset="-78"/>
                <a:cs typeface="Amiri" pitchFamily="2" charset="-78"/>
              </a:rPr>
              <a:t>لٰكِنَّ</a:t>
            </a:r>
            <a:pPr algn="l" indent="0" marL="0">
              <a:buNone/>
            </a:pPr>
            <a:r>
              <a:rPr lang="en-US" sz="1100" b="1" dirty="0">
                <a:solidFill>
                  <a:srgbClr val="1B3B6F"/>
                </a:solidFill>
                <a:latin typeface="Calibri" pitchFamily="34" charset="0"/>
                <a:cs typeface="Amiri" pitchFamily="2" charset="-78"/>
              </a:rPr>
              <a:t>‏. Swap after each question.</a:t>
            </a:r>
            <a:endParaRPr lang="en-US" sz="1100" dirty="0"/>
          </a:p>
        </p:txBody>
      </p:sp>
      <p:sp>
        <p:nvSpPr>
          <p:cNvPr id="66" name="Text 6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24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D1-W03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1E6B52"/>
                </a:solidFill>
                <a:latin typeface="Calibri" pitchFamily="34" charset="0"/>
                <a:cs typeface="Amiri" pitchFamily="2" charset="-78"/>
              </a:rPr>
              <a:t>STEP 5 · ROLE-PLAY CARD · PLANS FOR TASKS 1–2 ARE GIVEN — PLAN 3–5 YOURSELF</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cs typeface="Amiri" pitchFamily="2" charset="-78"/>
              </a:rPr>
              <a:t>Role-play card — the family magazine interview</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مُقَابَلَةُ مَجَلَّةِ العَائِلَةِ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D1-W03 · Apply workshop (D1-L05 + D1-L06)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57032" y="1810512"/>
            <a:ext cx="34015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Plan: first words</a:t>
            </a:r>
            <a:endParaRPr lang="en-US" sz="1100" dirty="0"/>
          </a:p>
        </p:txBody>
      </p:sp>
      <p:sp>
        <p:nvSpPr>
          <p:cNvPr id="17" name="Text 14"/>
          <p:cNvSpPr txBox="1"/>
          <p:nvPr/>
        </p:nvSpPr>
        <p:spPr>
          <a:xfrm>
            <a:off x="496519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Speaker’s task</a:t>
            </a:r>
            <a:endParaRPr lang="en-US" sz="1100" dirty="0"/>
          </a:p>
        </p:txBody>
      </p:sp>
      <p:sp>
        <p:nvSpPr>
          <p:cNvPr id="18" name="Text 15"/>
          <p:cNvSpPr txBox="1"/>
          <p:nvPr/>
        </p:nvSpPr>
        <p:spPr>
          <a:xfrm>
            <a:off x="1033272"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reads</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275320" y="2267712"/>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مَاذَا ← أَسْتَرِيحُ لِمُدَّةِ … ثُمَّ …</a:t>
            </a:r>
            <a:endParaRPr lang="ar-SA" sz="1600" dirty="0"/>
          </a:p>
        </p:txBody>
      </p:sp>
      <p:sp>
        <p:nvSpPr>
          <p:cNvPr id="22" name="Text 19"/>
          <p:cNvSpPr txBox="1"/>
          <p:nvPr/>
        </p:nvSpPr>
        <p:spPr>
          <a:xfrm>
            <a:off x="5001768" y="2267712"/>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Two actions + a duration.</a:t>
            </a:r>
            <a:endParaRPr lang="en-US" sz="1100" dirty="0"/>
          </a:p>
        </p:txBody>
      </p:sp>
      <p:sp>
        <p:nvSpPr>
          <p:cNvPr id="23" name="Text 20"/>
          <p:cNvSpPr txBox="1"/>
          <p:nvPr/>
        </p:nvSpPr>
        <p:spPr>
          <a:xfrm>
            <a:off x="1051560" y="2267712"/>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مَاذَا تَفْعَلُ عِنْدَمَا تَرْجِعُ إِلَى البَيْتِ؟</a:t>
            </a:r>
            <a:endParaRPr lang="ar-SA" sz="1700" dirty="0"/>
          </a:p>
        </p:txBody>
      </p:sp>
      <p:sp>
        <p:nvSpPr>
          <p:cNvPr id="24" name="Text 21"/>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275320" y="3004718"/>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لِمَاذَا ← لِكَيْ … / حَتَّى لَا …</a:t>
            </a:r>
            <a:endParaRPr lang="ar-SA" sz="1600" dirty="0"/>
          </a:p>
        </p:txBody>
      </p:sp>
      <p:sp>
        <p:nvSpPr>
          <p:cNvPr id="29" name="Text 26"/>
          <p:cNvSpPr txBox="1"/>
          <p:nvPr/>
        </p:nvSpPr>
        <p:spPr>
          <a:xfrm>
            <a:off x="5001768" y="300471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Give a purpose with ‏</a:t>
            </a:r>
            <a:pPr algn="l" indent="0" marL="0">
              <a:buNone/>
            </a:pPr>
            <a:r>
              <a:rPr lang="ar-SA" altLang="en-US" sz="1450" dirty="0">
                <a:solidFill>
                  <a:srgbClr val="5A6472"/>
                </a:solidFill>
                <a:latin typeface="Amiri" pitchFamily="2" charset="-78"/>
                <a:ea typeface="Amiri" pitchFamily="2" charset="-78"/>
                <a:cs typeface="Amiri" pitchFamily="2" charset="-78"/>
              </a:rPr>
              <a:t>لِكَيْ</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30" name="Text 27"/>
          <p:cNvSpPr txBox="1"/>
          <p:nvPr/>
        </p:nvSpPr>
        <p:spPr>
          <a:xfrm>
            <a:off x="1051560" y="3004718"/>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لِمَاذَا تُرَاجِعُ دُرُوسَكَ كُلَّ مَسَاءٍ؟</a:t>
            </a:r>
            <a:endParaRPr lang="ar-SA" sz="1700" dirty="0"/>
          </a:p>
        </p:txBody>
      </p:sp>
      <p:sp>
        <p:nvSpPr>
          <p:cNvPr id="31" name="Text 28"/>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293608" y="3741725"/>
            <a:ext cx="33649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6" name="Text 33"/>
          <p:cNvSpPr txBox="1"/>
          <p:nvPr/>
        </p:nvSpPr>
        <p:spPr>
          <a:xfrm>
            <a:off x="5001768" y="3741725"/>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an object pronoun.</a:t>
            </a:r>
            <a:endParaRPr lang="en-US" sz="1100" dirty="0"/>
          </a:p>
        </p:txBody>
      </p:sp>
      <p:sp>
        <p:nvSpPr>
          <p:cNvPr id="37" name="Text 34"/>
          <p:cNvSpPr txBox="1"/>
          <p:nvPr/>
        </p:nvSpPr>
        <p:spPr>
          <a:xfrm>
            <a:off x="1051560" y="3741725"/>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كَيْفَ تُسَاعِدُ أُسْرَتَكَ فِي المَسَاءِ؟</a:t>
            </a:r>
            <a:endParaRPr lang="ar-SA" sz="1700" dirty="0"/>
          </a:p>
        </p:txBody>
      </p:sp>
      <p:sp>
        <p:nvSpPr>
          <p:cNvPr id="38" name="Text 35"/>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8293608" y="4478731"/>
            <a:ext cx="33649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1" name="Text 38"/>
          <p:cNvSpPr txBox="1"/>
          <p:nvPr/>
        </p:nvSpPr>
        <p:spPr>
          <a:xfrm>
            <a:off x="5001768" y="4478731"/>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Three verbs for him or her, with times.</a:t>
            </a:r>
            <a:endParaRPr lang="en-US" sz="1100" dirty="0"/>
          </a:p>
        </p:txBody>
      </p:sp>
      <p:sp>
        <p:nvSpPr>
          <p:cNvPr id="42" name="Text 39"/>
          <p:cNvSpPr txBox="1"/>
          <p:nvPr/>
        </p:nvSpPr>
        <p:spPr>
          <a:xfrm>
            <a:off x="1051560" y="4478731"/>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صِفْ مَسَاءَ شَخْصٍ آخَرَ فِي أُسْرَتِكَ.</a:t>
            </a:r>
            <a:endParaRPr lang="ar-SA" sz="1700" dirty="0"/>
          </a:p>
        </p:txBody>
      </p:sp>
      <p:sp>
        <p:nvSpPr>
          <p:cNvPr id="43" name="Text 40"/>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8293608" y="5215738"/>
            <a:ext cx="33649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6" name="Text 43"/>
          <p:cNvSpPr txBox="1"/>
          <p:nvPr/>
        </p:nvSpPr>
        <p:spPr>
          <a:xfrm>
            <a:off x="5001768" y="521573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Compare and give a reason.</a:t>
            </a:r>
            <a:endParaRPr lang="en-US" sz="1100" dirty="0"/>
          </a:p>
        </p:txBody>
      </p:sp>
      <p:sp>
        <p:nvSpPr>
          <p:cNvPr id="47" name="Text 44"/>
          <p:cNvSpPr txBox="1"/>
          <p:nvPr/>
        </p:nvSpPr>
        <p:spPr>
          <a:xfrm>
            <a:off x="1051560" y="5215738"/>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مَسَاؤُكَ أَمْ مَسَاؤُهُ: أَيُّهُمَا أَكْثَرُ تَوَازُنًا؟</a:t>
            </a:r>
            <a:endParaRPr lang="ar-SA" sz="1700" dirty="0"/>
          </a:p>
        </p:txBody>
      </p:sp>
      <p:sp>
        <p:nvSpPr>
          <p:cNvPr id="48" name="Text 45"/>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 !</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Speaker = the student · Partner A = the magazine reporter. Write the plan for tasks 3–5 in your book first. Task ! is a surprise — Partner A reads it without warning. Then swap roles.</a:t>
            </a:r>
            <a:endParaRPr lang="en-US" sz="110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24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D1-W03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6 · SHORT TALK · ONE MINUTE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Two evenings in one minute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مَسَاءَانِ فِي دَقِيقَةٍ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D1-W03 · Apply workshop (D1-L05 + D1-L06)</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6 · PAIRS</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Talk for one minute — use both lessons</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Talk for one minute: your afternoon and evening in three phases (with two durations and one purpose), then the evening of one family member with “he” or “she”, and a comparison with ‏</a:t>
            </a:r>
            <a:pPr algn="l" indent="0" marL="0">
              <a:buNone/>
            </a:pPr>
            <a:r>
              <a:rPr lang="ar-SA" altLang="en-US" sz="1750" dirty="0">
                <a:solidFill>
                  <a:srgbClr val="1F2A37"/>
                </a:solidFill>
                <a:latin typeface="Amiri" pitchFamily="2" charset="-78"/>
                <a:ea typeface="Amiri" pitchFamily="2" charset="-78"/>
                <a:cs typeface="Amiri" pitchFamily="2" charset="-78"/>
              </a:rPr>
              <a:t>بَيْنَمَا</a:t>
            </a:r>
            <a:pPr algn="l" indent="0" marL="0">
              <a:buNone/>
            </a:pPr>
            <a:r>
              <a:rPr lang="en-US" sz="1350" dirty="0">
                <a:solidFill>
                  <a:srgbClr val="1F2A37"/>
                </a:solidFill>
                <a:latin typeface="Calibri" pitchFamily="34" charset="0"/>
                <a:cs typeface="Amiri" pitchFamily="2" charset="-78"/>
              </a:rPr>
              <a:t>‏.</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Think for 30 seconds: 2 key words from EACH lesson, no sentences.</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Speaker talks; the partner times it.</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Partner: one thing that went well + one thing to improve.</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Swap — then the teacher invites two volunteers.</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2" charset="-78"/>
                <a:ea typeface="Amiri" pitchFamily="2" charset="-78"/>
                <a:cs typeface="Amiri" pitchFamily="2" charset="-78"/>
              </a:rPr>
              <a:t>بَعْدَ المَدْرَسَةِ … · فِي المَسَاءِ … · أُخْتِي تَرْجِعُ … / أَخِي يَدْرُسُ …</a:t>
            </a:r>
            <a:endParaRPr lang="ar-SA" sz="14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Add ‏</a:t>
            </a:r>
            <a:pPr algn="l" indent="0" marL="0">
              <a:buNone/>
            </a:pPr>
            <a:r>
              <a:rPr lang="ar-SA" altLang="en-US" sz="1500" dirty="0">
                <a:solidFill>
                  <a:srgbClr val="1F2A37"/>
                </a:solidFill>
                <a:latin typeface="Amiri" pitchFamily="2" charset="-78"/>
                <a:ea typeface="Amiri" pitchFamily="2" charset="-78"/>
                <a:cs typeface="Amiri" pitchFamily="2" charset="-78"/>
              </a:rPr>
              <a:t>لِمُدَّةِ</a:t>
            </a:r>
            <a:pPr algn="l" indent="0" marL="0">
              <a:buNone/>
            </a:pPr>
            <a:r>
              <a:rPr lang="en-US" sz="1150" dirty="0">
                <a:solidFill>
                  <a:srgbClr val="1F2A37"/>
                </a:solidFill>
                <a:latin typeface="Calibri" pitchFamily="34" charset="0"/>
                <a:cs typeface="Amiri" pitchFamily="2" charset="-78"/>
              </a:rPr>
              <a:t> … · </a:t>
            </a:r>
            <a:pPr algn="l" indent="0" marL="0">
              <a:buNone/>
            </a:pPr>
            <a:r>
              <a:rPr lang="ar-SA" altLang="en-US" sz="1500" dirty="0">
                <a:solidFill>
                  <a:srgbClr val="1F2A37"/>
                </a:solidFill>
                <a:latin typeface="Amiri" pitchFamily="2" charset="-78"/>
                <a:ea typeface="Amiri" pitchFamily="2" charset="-78"/>
                <a:cs typeface="Amiri" pitchFamily="2" charset="-78"/>
              </a:rPr>
              <a:t>لِكَيْ</a:t>
            </a:r>
            <a:pPr algn="l" indent="0" marL="0">
              <a:buNone/>
            </a:pPr>
            <a:r>
              <a:rPr lang="en-US" sz="1150" dirty="0">
                <a:solidFill>
                  <a:srgbClr val="1F2A37"/>
                </a:solidFill>
                <a:latin typeface="Calibri" pitchFamily="34" charset="0"/>
                <a:cs typeface="Amiri" pitchFamily="2" charset="-78"/>
              </a:rPr>
              <a:t> …‏ and two object pronouns (‏</a:t>
            </a:r>
            <a:pPr algn="l" indent="0" marL="0">
              <a:buNone/>
            </a:pPr>
            <a:r>
              <a:rPr lang="ar-SA" altLang="en-US" sz="1500" dirty="0">
                <a:solidFill>
                  <a:srgbClr val="1F2A37"/>
                </a:solidFill>
                <a:latin typeface="Amiri" pitchFamily="2" charset="-78"/>
                <a:ea typeface="Amiri" pitchFamily="2" charset="-78"/>
                <a:cs typeface="Amiri" pitchFamily="2" charset="-78"/>
              </a:rPr>
              <a:t>أُسَاعِدُهَا</a:t>
            </a:r>
            <a:pPr algn="l" indent="0" marL="0">
              <a:buNone/>
            </a:pPr>
            <a:r>
              <a:rPr lang="en-US" sz="1150" dirty="0">
                <a:solidFill>
                  <a:srgbClr val="1F2A37"/>
                </a:solidFill>
                <a:latin typeface="Calibri" pitchFamily="34" charset="0"/>
                <a:cs typeface="Amiri" pitchFamily="2" charset="-78"/>
              </a:rPr>
              <a:t> · </a:t>
            </a:r>
            <a:pPr algn="l" indent="0" marL="0">
              <a:buNone/>
            </a:pPr>
            <a:r>
              <a:rPr lang="ar-SA" altLang="en-US" sz="1500" dirty="0">
                <a:solidFill>
                  <a:srgbClr val="1F2A37"/>
                </a:solidFill>
                <a:latin typeface="Amiri" pitchFamily="2" charset="-78"/>
                <a:ea typeface="Amiri" pitchFamily="2" charset="-78"/>
                <a:cs typeface="Amiri" pitchFamily="2" charset="-78"/>
              </a:rPr>
              <a:t>أُرَتِّبُهَا</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Add -hu / -hā on three nouns (‏</a:t>
            </a:r>
            <a:pPr algn="l" indent="0" marL="0">
              <a:buNone/>
            </a:pPr>
            <a:r>
              <a:rPr lang="ar-SA" altLang="en-US" sz="1500" dirty="0">
                <a:solidFill>
                  <a:srgbClr val="1F2A37"/>
                </a:solidFill>
                <a:latin typeface="Amiri" pitchFamily="2" charset="-78"/>
                <a:ea typeface="Amiri" pitchFamily="2" charset="-78"/>
                <a:cs typeface="Amiri" pitchFamily="2" charset="-78"/>
              </a:rPr>
              <a:t>عَمَلُهُ</a:t>
            </a:r>
            <a:pPr algn="l" indent="0" marL="0">
              <a:buNone/>
            </a:pPr>
            <a:r>
              <a:rPr lang="en-US" sz="1150" dirty="0">
                <a:solidFill>
                  <a:srgbClr val="1F2A37"/>
                </a:solidFill>
                <a:latin typeface="Calibri" pitchFamily="34" charset="0"/>
                <a:cs typeface="Amiri" pitchFamily="2" charset="-78"/>
              </a:rPr>
              <a:t> · </a:t>
            </a:r>
            <a:pPr algn="l" indent="0" marL="0">
              <a:buNone/>
            </a:pPr>
            <a:r>
              <a:rPr lang="ar-SA" altLang="en-US" sz="1500" dirty="0">
                <a:solidFill>
                  <a:srgbClr val="1F2A37"/>
                </a:solidFill>
                <a:latin typeface="Amiri" pitchFamily="2" charset="-78"/>
                <a:ea typeface="Amiri" pitchFamily="2" charset="-78"/>
                <a:cs typeface="Amiri" pitchFamily="2" charset="-78"/>
              </a:rPr>
              <a:t>جَامِعَتُهَا</a:t>
            </a:r>
            <a:pPr algn="l" indent="0" marL="0">
              <a:buNone/>
            </a:pPr>
            <a:r>
              <a:rPr lang="en-US" sz="1150" dirty="0">
                <a:solidFill>
                  <a:srgbClr val="1F2A37"/>
                </a:solidFill>
                <a:latin typeface="Calibri" pitchFamily="34" charset="0"/>
                <a:cs typeface="Amiri" pitchFamily="2" charset="-78"/>
              </a:rPr>
              <a:t>‏) and a judgement about balance.</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أَوَّلًا … ثُمَّ …</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first … then …</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لِأَنَّ … · لِذٰلِكَ …</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because … · so …</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فِي رَأْيِي …</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in my opinion …</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فِي الخِتَامِ …</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to finish …</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24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D1-W03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3 · STEP 7 · SENTENCE BUILDER · FROM BOTH LESSONS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Build three correct sentences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D1-W03 · Apply workshop (D1-L05 + D1-L06)</a:t>
            </a:r>
            <a:endParaRPr lang="en-US" sz="850" dirty="0"/>
          </a:p>
        </p:txBody>
      </p:sp>
      <p:sp>
        <p:nvSpPr>
          <p:cNvPr id="15" name="Text 12"/>
          <p:cNvSpPr txBox="1"/>
          <p:nvPr/>
        </p:nvSpPr>
        <p:spPr>
          <a:xfrm>
            <a:off x="9180576"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1 · start here</a:t>
            </a:r>
            <a:endParaRPr lang="en-US" sz="1000" dirty="0"/>
          </a:p>
        </p:txBody>
      </p:sp>
      <p:sp>
        <p:nvSpPr>
          <p:cNvPr id="16" name="Text 13"/>
          <p:cNvSpPr txBox="1"/>
          <p:nvPr/>
        </p:nvSpPr>
        <p:spPr>
          <a:xfrm>
            <a:off x="6624828"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2</a:t>
            </a:r>
            <a:endParaRPr lang="en-US" sz="1000" dirty="0"/>
          </a:p>
        </p:txBody>
      </p:sp>
      <p:sp>
        <p:nvSpPr>
          <p:cNvPr id="17" name="Text 14"/>
          <p:cNvSpPr txBox="1"/>
          <p:nvPr/>
        </p:nvSpPr>
        <p:spPr>
          <a:xfrm>
            <a:off x="4069080"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3</a:t>
            </a:r>
            <a:endParaRPr lang="en-US" sz="1000" dirty="0"/>
          </a:p>
        </p:txBody>
      </p:sp>
      <p:sp>
        <p:nvSpPr>
          <p:cNvPr id="18" name="Shape 15"/>
          <p:cNvSpPr/>
          <p:nvPr/>
        </p:nvSpPr>
        <p:spPr>
          <a:xfrm>
            <a:off x="457200" y="2011680"/>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9" name="Shape 16"/>
          <p:cNvSpPr/>
          <p:nvPr/>
        </p:nvSpPr>
        <p:spPr>
          <a:xfrm>
            <a:off x="594360" y="2148840"/>
            <a:ext cx="365760" cy="365760"/>
          </a:xfrm>
          <a:prstGeom prst="ellipse">
            <a:avLst/>
          </a:prstGeom>
          <a:solidFill>
            <a:srgbClr val="2F6FB0"/>
          </a:solidFill>
          <a:ln w="12700">
            <a:solidFill>
              <a:srgbClr val="2F6FB0"/>
            </a:solidFill>
            <a:prstDash val="solid"/>
          </a:ln>
        </p:spPr>
      </p:sp>
      <p:sp>
        <p:nvSpPr>
          <p:cNvPr id="20" name="Text 17"/>
          <p:cNvSpPr txBox="1"/>
          <p:nvPr/>
        </p:nvSpPr>
        <p:spPr>
          <a:xfrm>
            <a:off x="594360" y="21488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1" name="Text 18"/>
          <p:cNvSpPr txBox="1"/>
          <p:nvPr/>
        </p:nvSpPr>
        <p:spPr>
          <a:xfrm>
            <a:off x="1051560" y="2121408"/>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I revise for an hour to prepare for the exam.</a:t>
            </a:r>
            <a:endParaRPr lang="en-US" sz="1400" dirty="0"/>
          </a:p>
        </p:txBody>
      </p:sp>
      <p:sp>
        <p:nvSpPr>
          <p:cNvPr id="22" name="Shape 19"/>
          <p:cNvSpPr/>
          <p:nvPr/>
        </p:nvSpPr>
        <p:spPr>
          <a:xfrm>
            <a:off x="9180576" y="2103120"/>
            <a:ext cx="2414016" cy="512064"/>
          </a:xfrm>
          <a:prstGeom prst="roundRect">
            <a:avLst>
              <a:gd name="adj" fmla="val 10714"/>
            </a:avLst>
          </a:prstGeom>
          <a:solidFill>
            <a:srgbClr val="EEF3FA"/>
          </a:solidFill>
          <a:ln w="9525">
            <a:solidFill>
              <a:srgbClr val="C9D6EA"/>
            </a:solidFill>
            <a:prstDash val="solid"/>
          </a:ln>
        </p:spPr>
      </p:sp>
      <p:sp>
        <p:nvSpPr>
          <p:cNvPr id="23" name="Text 20"/>
          <p:cNvSpPr txBox="1"/>
          <p:nvPr/>
        </p:nvSpPr>
        <p:spPr>
          <a:xfrm>
            <a:off x="9235440"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24" name="Text 21"/>
          <p:cNvSpPr txBox="1"/>
          <p:nvPr/>
        </p:nvSpPr>
        <p:spPr>
          <a:xfrm>
            <a:off x="9500616"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أُرَاجِعُ لِمُدَّةِ سَاعَةٍ</a:t>
            </a:r>
            <a:endParaRPr lang="ar-SA" sz="1800" dirty="0"/>
          </a:p>
        </p:txBody>
      </p:sp>
      <p:sp>
        <p:nvSpPr>
          <p:cNvPr id="25" name="Shape 22"/>
          <p:cNvSpPr/>
          <p:nvPr/>
        </p:nvSpPr>
        <p:spPr>
          <a:xfrm>
            <a:off x="9180576" y="2670048"/>
            <a:ext cx="2414016" cy="512064"/>
          </a:xfrm>
          <a:prstGeom prst="roundRect">
            <a:avLst>
              <a:gd name="adj" fmla="val 10714"/>
            </a:avLst>
          </a:prstGeom>
          <a:solidFill>
            <a:srgbClr val="EEF3FA"/>
          </a:solidFill>
          <a:ln w="9525">
            <a:solidFill>
              <a:srgbClr val="C9D6EA"/>
            </a:solidFill>
            <a:prstDash val="solid"/>
          </a:ln>
        </p:spPr>
      </p:sp>
      <p:sp>
        <p:nvSpPr>
          <p:cNvPr id="26" name="Text 23"/>
          <p:cNvSpPr txBox="1"/>
          <p:nvPr/>
        </p:nvSpPr>
        <p:spPr>
          <a:xfrm>
            <a:off x="9235440"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27" name="Text 24"/>
          <p:cNvSpPr txBox="1"/>
          <p:nvPr/>
        </p:nvSpPr>
        <p:spPr>
          <a:xfrm>
            <a:off x="9500616"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أُرَاجِعُ لِمُدَّةُ سَاعَةٌ</a:t>
            </a:r>
            <a:endParaRPr lang="ar-SA" sz="1800" dirty="0"/>
          </a:p>
        </p:txBody>
      </p:sp>
      <p:sp>
        <p:nvSpPr>
          <p:cNvPr id="28" name="Shape 25"/>
          <p:cNvSpPr/>
          <p:nvPr/>
        </p:nvSpPr>
        <p:spPr>
          <a:xfrm>
            <a:off x="6624828" y="2103120"/>
            <a:ext cx="2414016" cy="512064"/>
          </a:xfrm>
          <a:prstGeom prst="roundRect">
            <a:avLst>
              <a:gd name="adj" fmla="val 10714"/>
            </a:avLst>
          </a:prstGeom>
          <a:solidFill>
            <a:srgbClr val="EEF3FA"/>
          </a:solidFill>
          <a:ln w="9525">
            <a:solidFill>
              <a:srgbClr val="C9D6EA"/>
            </a:solidFill>
            <a:prstDash val="solid"/>
          </a:ln>
        </p:spPr>
      </p:sp>
      <p:sp>
        <p:nvSpPr>
          <p:cNvPr id="29" name="Text 26"/>
          <p:cNvSpPr txBox="1"/>
          <p:nvPr/>
        </p:nvSpPr>
        <p:spPr>
          <a:xfrm>
            <a:off x="6679692"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0" name="Text 27"/>
          <p:cNvSpPr txBox="1"/>
          <p:nvPr/>
        </p:nvSpPr>
        <p:spPr>
          <a:xfrm>
            <a:off x="6944868"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لِكَيْ</a:t>
            </a:r>
            <a:endParaRPr lang="ar-SA" sz="1800" dirty="0"/>
          </a:p>
        </p:txBody>
      </p:sp>
      <p:sp>
        <p:nvSpPr>
          <p:cNvPr id="31" name="Shape 28"/>
          <p:cNvSpPr/>
          <p:nvPr/>
        </p:nvSpPr>
        <p:spPr>
          <a:xfrm>
            <a:off x="6624828" y="2670048"/>
            <a:ext cx="2414016" cy="512064"/>
          </a:xfrm>
          <a:prstGeom prst="roundRect">
            <a:avLst>
              <a:gd name="adj" fmla="val 10714"/>
            </a:avLst>
          </a:prstGeom>
          <a:solidFill>
            <a:srgbClr val="EEF3FA"/>
          </a:solidFill>
          <a:ln w="9525">
            <a:solidFill>
              <a:srgbClr val="C9D6EA"/>
            </a:solidFill>
            <a:prstDash val="solid"/>
          </a:ln>
        </p:spPr>
      </p:sp>
      <p:sp>
        <p:nvSpPr>
          <p:cNvPr id="32" name="Text 29"/>
          <p:cNvSpPr txBox="1"/>
          <p:nvPr/>
        </p:nvSpPr>
        <p:spPr>
          <a:xfrm>
            <a:off x="6679692"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3" name="Text 30"/>
          <p:cNvSpPr txBox="1"/>
          <p:nvPr/>
        </p:nvSpPr>
        <p:spPr>
          <a:xfrm>
            <a:off x="6944868"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لِأَنَّ</a:t>
            </a:r>
            <a:endParaRPr lang="ar-SA" sz="1800" dirty="0"/>
          </a:p>
        </p:txBody>
      </p:sp>
      <p:sp>
        <p:nvSpPr>
          <p:cNvPr id="34" name="Shape 31"/>
          <p:cNvSpPr/>
          <p:nvPr/>
        </p:nvSpPr>
        <p:spPr>
          <a:xfrm>
            <a:off x="4069080" y="2103120"/>
            <a:ext cx="2414016" cy="512064"/>
          </a:xfrm>
          <a:prstGeom prst="roundRect">
            <a:avLst>
              <a:gd name="adj" fmla="val 10714"/>
            </a:avLst>
          </a:prstGeom>
          <a:solidFill>
            <a:srgbClr val="EEF3FA"/>
          </a:solidFill>
          <a:ln w="9525">
            <a:solidFill>
              <a:srgbClr val="C9D6EA"/>
            </a:solidFill>
            <a:prstDash val="solid"/>
          </a:ln>
        </p:spPr>
      </p:sp>
      <p:sp>
        <p:nvSpPr>
          <p:cNvPr id="35" name="Text 32"/>
          <p:cNvSpPr txBox="1"/>
          <p:nvPr/>
        </p:nvSpPr>
        <p:spPr>
          <a:xfrm>
            <a:off x="4123944"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6" name="Text 33"/>
          <p:cNvSpPr txBox="1"/>
          <p:nvPr/>
        </p:nvSpPr>
        <p:spPr>
          <a:xfrm>
            <a:off x="4389120"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أَسْتَعِدَّ لِلِامْتِحَانِ.</a:t>
            </a:r>
            <a:endParaRPr lang="ar-SA" sz="1800" dirty="0"/>
          </a:p>
        </p:txBody>
      </p:sp>
      <p:sp>
        <p:nvSpPr>
          <p:cNvPr id="37" name="Shape 34"/>
          <p:cNvSpPr/>
          <p:nvPr/>
        </p:nvSpPr>
        <p:spPr>
          <a:xfrm>
            <a:off x="4069080" y="2670048"/>
            <a:ext cx="2414016" cy="512064"/>
          </a:xfrm>
          <a:prstGeom prst="roundRect">
            <a:avLst>
              <a:gd name="adj" fmla="val 10714"/>
            </a:avLst>
          </a:prstGeom>
          <a:solidFill>
            <a:srgbClr val="EEF3FA"/>
          </a:solidFill>
          <a:ln w="9525">
            <a:solidFill>
              <a:srgbClr val="C9D6EA"/>
            </a:solidFill>
            <a:prstDash val="solid"/>
          </a:ln>
        </p:spPr>
      </p:sp>
      <p:sp>
        <p:nvSpPr>
          <p:cNvPr id="38" name="Text 35"/>
          <p:cNvSpPr txBox="1"/>
          <p:nvPr/>
        </p:nvSpPr>
        <p:spPr>
          <a:xfrm>
            <a:off x="4123944"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9" name="Text 36"/>
          <p:cNvSpPr txBox="1"/>
          <p:nvPr/>
        </p:nvSpPr>
        <p:spPr>
          <a:xfrm>
            <a:off x="4389120"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أَسْتَعِدُّ لِلِامْتِحَانِ.</a:t>
            </a:r>
            <a:endParaRPr lang="ar-SA" sz="1800" dirty="0"/>
          </a:p>
        </p:txBody>
      </p:sp>
      <p:sp>
        <p:nvSpPr>
          <p:cNvPr id="40" name="Shape 37"/>
          <p:cNvSpPr/>
          <p:nvPr/>
        </p:nvSpPr>
        <p:spPr>
          <a:xfrm>
            <a:off x="457200" y="3392424"/>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94360" y="3529584"/>
            <a:ext cx="365760" cy="365760"/>
          </a:xfrm>
          <a:prstGeom prst="ellipse">
            <a:avLst/>
          </a:prstGeom>
          <a:solidFill>
            <a:srgbClr val="2F6FB0"/>
          </a:solidFill>
          <a:ln w="12700">
            <a:solidFill>
              <a:srgbClr val="2F6FB0"/>
            </a:solidFill>
            <a:prstDash val="solid"/>
          </a:ln>
        </p:spPr>
      </p:sp>
      <p:sp>
        <p:nvSpPr>
          <p:cNvPr id="42" name="Text 39"/>
          <p:cNvSpPr txBox="1"/>
          <p:nvPr/>
        </p:nvSpPr>
        <p:spPr>
          <a:xfrm>
            <a:off x="594360" y="35295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43" name="Text 40"/>
          <p:cNvSpPr txBox="1"/>
          <p:nvPr/>
        </p:nvSpPr>
        <p:spPr>
          <a:xfrm>
            <a:off x="1051560" y="3502152"/>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She revises her lessons every evening.</a:t>
            </a:r>
            <a:endParaRPr lang="en-US" sz="1400" dirty="0"/>
          </a:p>
        </p:txBody>
      </p:sp>
      <p:sp>
        <p:nvSpPr>
          <p:cNvPr id="44" name="Shape 41"/>
          <p:cNvSpPr/>
          <p:nvPr/>
        </p:nvSpPr>
        <p:spPr>
          <a:xfrm>
            <a:off x="9180576" y="3483864"/>
            <a:ext cx="2414016" cy="512064"/>
          </a:xfrm>
          <a:prstGeom prst="roundRect">
            <a:avLst>
              <a:gd name="adj" fmla="val 10714"/>
            </a:avLst>
          </a:prstGeom>
          <a:solidFill>
            <a:srgbClr val="EEF3FA"/>
          </a:solidFill>
          <a:ln w="9525">
            <a:solidFill>
              <a:srgbClr val="C9D6EA"/>
            </a:solidFill>
            <a:prstDash val="solid"/>
          </a:ln>
        </p:spPr>
      </p:sp>
      <p:sp>
        <p:nvSpPr>
          <p:cNvPr id="45" name="Text 42"/>
          <p:cNvSpPr txBox="1"/>
          <p:nvPr/>
        </p:nvSpPr>
        <p:spPr>
          <a:xfrm>
            <a:off x="9235440"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46" name="Text 43"/>
          <p:cNvSpPr txBox="1"/>
          <p:nvPr/>
        </p:nvSpPr>
        <p:spPr>
          <a:xfrm>
            <a:off x="9500616"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تُرَاجِعُ</a:t>
            </a:r>
            <a:endParaRPr lang="ar-SA" sz="1800" dirty="0"/>
          </a:p>
        </p:txBody>
      </p:sp>
      <p:sp>
        <p:nvSpPr>
          <p:cNvPr id="47" name="Shape 44"/>
          <p:cNvSpPr/>
          <p:nvPr/>
        </p:nvSpPr>
        <p:spPr>
          <a:xfrm>
            <a:off x="9180576" y="4050792"/>
            <a:ext cx="2414016" cy="512064"/>
          </a:xfrm>
          <a:prstGeom prst="roundRect">
            <a:avLst>
              <a:gd name="adj" fmla="val 10714"/>
            </a:avLst>
          </a:prstGeom>
          <a:solidFill>
            <a:srgbClr val="EEF3FA"/>
          </a:solidFill>
          <a:ln w="9525">
            <a:solidFill>
              <a:srgbClr val="C9D6EA"/>
            </a:solidFill>
            <a:prstDash val="solid"/>
          </a:ln>
        </p:spPr>
      </p:sp>
      <p:sp>
        <p:nvSpPr>
          <p:cNvPr id="48" name="Text 45"/>
          <p:cNvSpPr txBox="1"/>
          <p:nvPr/>
        </p:nvSpPr>
        <p:spPr>
          <a:xfrm>
            <a:off x="9235440"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49" name="Text 46"/>
          <p:cNvSpPr txBox="1"/>
          <p:nvPr/>
        </p:nvSpPr>
        <p:spPr>
          <a:xfrm>
            <a:off x="9500616"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يُرَاجِعُ</a:t>
            </a:r>
            <a:endParaRPr lang="ar-SA" sz="1800" dirty="0"/>
          </a:p>
        </p:txBody>
      </p:sp>
      <p:sp>
        <p:nvSpPr>
          <p:cNvPr id="50" name="Shape 47"/>
          <p:cNvSpPr/>
          <p:nvPr/>
        </p:nvSpPr>
        <p:spPr>
          <a:xfrm>
            <a:off x="6624828" y="3483864"/>
            <a:ext cx="2414016" cy="512064"/>
          </a:xfrm>
          <a:prstGeom prst="roundRect">
            <a:avLst>
              <a:gd name="adj" fmla="val 10714"/>
            </a:avLst>
          </a:prstGeom>
          <a:solidFill>
            <a:srgbClr val="EEF3FA"/>
          </a:solidFill>
          <a:ln w="9525">
            <a:solidFill>
              <a:srgbClr val="C9D6EA"/>
            </a:solidFill>
            <a:prstDash val="solid"/>
          </a:ln>
        </p:spPr>
      </p:sp>
      <p:sp>
        <p:nvSpPr>
          <p:cNvPr id="51" name="Text 48"/>
          <p:cNvSpPr txBox="1"/>
          <p:nvPr/>
        </p:nvSpPr>
        <p:spPr>
          <a:xfrm>
            <a:off x="6679692"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2" name="Text 49"/>
          <p:cNvSpPr txBox="1"/>
          <p:nvPr/>
        </p:nvSpPr>
        <p:spPr>
          <a:xfrm>
            <a:off x="6944868"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دُرُوسَهَا</a:t>
            </a:r>
            <a:endParaRPr lang="ar-SA" sz="1800" dirty="0"/>
          </a:p>
        </p:txBody>
      </p:sp>
      <p:sp>
        <p:nvSpPr>
          <p:cNvPr id="53" name="Shape 50"/>
          <p:cNvSpPr/>
          <p:nvPr/>
        </p:nvSpPr>
        <p:spPr>
          <a:xfrm>
            <a:off x="6624828" y="4050792"/>
            <a:ext cx="2414016" cy="512064"/>
          </a:xfrm>
          <a:prstGeom prst="roundRect">
            <a:avLst>
              <a:gd name="adj" fmla="val 10714"/>
            </a:avLst>
          </a:prstGeom>
          <a:solidFill>
            <a:srgbClr val="EEF3FA"/>
          </a:solidFill>
          <a:ln w="9525">
            <a:solidFill>
              <a:srgbClr val="C9D6EA"/>
            </a:solidFill>
            <a:prstDash val="solid"/>
          </a:ln>
        </p:spPr>
      </p:sp>
      <p:sp>
        <p:nvSpPr>
          <p:cNvPr id="54" name="Text 51"/>
          <p:cNvSpPr txBox="1"/>
          <p:nvPr/>
        </p:nvSpPr>
        <p:spPr>
          <a:xfrm>
            <a:off x="6679692"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55" name="Text 52"/>
          <p:cNvSpPr txBox="1"/>
          <p:nvPr/>
        </p:nvSpPr>
        <p:spPr>
          <a:xfrm>
            <a:off x="6944868"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دُرُوسَهُ</a:t>
            </a:r>
            <a:endParaRPr lang="ar-SA" sz="1800" dirty="0"/>
          </a:p>
        </p:txBody>
      </p:sp>
      <p:sp>
        <p:nvSpPr>
          <p:cNvPr id="56" name="Shape 53"/>
          <p:cNvSpPr/>
          <p:nvPr/>
        </p:nvSpPr>
        <p:spPr>
          <a:xfrm>
            <a:off x="4069080" y="3483864"/>
            <a:ext cx="2414016" cy="512064"/>
          </a:xfrm>
          <a:prstGeom prst="roundRect">
            <a:avLst>
              <a:gd name="adj" fmla="val 10714"/>
            </a:avLst>
          </a:prstGeom>
          <a:solidFill>
            <a:srgbClr val="EEF3FA"/>
          </a:solidFill>
          <a:ln w="9525">
            <a:solidFill>
              <a:srgbClr val="C9D6EA"/>
            </a:solidFill>
            <a:prstDash val="solid"/>
          </a:ln>
        </p:spPr>
      </p:sp>
      <p:sp>
        <p:nvSpPr>
          <p:cNvPr id="57" name="Text 54"/>
          <p:cNvSpPr txBox="1"/>
          <p:nvPr/>
        </p:nvSpPr>
        <p:spPr>
          <a:xfrm>
            <a:off x="4123944"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8" name="Text 55"/>
          <p:cNvSpPr txBox="1"/>
          <p:nvPr/>
        </p:nvSpPr>
        <p:spPr>
          <a:xfrm>
            <a:off x="4389120"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كُلَّ مَسَاءٍ.</a:t>
            </a:r>
            <a:endParaRPr lang="ar-SA" sz="1800" dirty="0"/>
          </a:p>
        </p:txBody>
      </p:sp>
      <p:sp>
        <p:nvSpPr>
          <p:cNvPr id="59" name="Shape 56"/>
          <p:cNvSpPr/>
          <p:nvPr/>
        </p:nvSpPr>
        <p:spPr>
          <a:xfrm>
            <a:off x="4069080" y="4050792"/>
            <a:ext cx="2414016" cy="512064"/>
          </a:xfrm>
          <a:prstGeom prst="roundRect">
            <a:avLst>
              <a:gd name="adj" fmla="val 10714"/>
            </a:avLst>
          </a:prstGeom>
          <a:solidFill>
            <a:srgbClr val="EEF3FA"/>
          </a:solidFill>
          <a:ln w="9525">
            <a:solidFill>
              <a:srgbClr val="C9D6EA"/>
            </a:solidFill>
            <a:prstDash val="solid"/>
          </a:ln>
        </p:spPr>
      </p:sp>
      <p:sp>
        <p:nvSpPr>
          <p:cNvPr id="60" name="Text 57"/>
          <p:cNvSpPr txBox="1"/>
          <p:nvPr/>
        </p:nvSpPr>
        <p:spPr>
          <a:xfrm>
            <a:off x="4123944"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61" name="Text 58"/>
          <p:cNvSpPr txBox="1"/>
          <p:nvPr/>
        </p:nvSpPr>
        <p:spPr>
          <a:xfrm>
            <a:off x="4389120"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كُلُّ مَسَاءٍ.</a:t>
            </a:r>
            <a:endParaRPr lang="ar-SA" sz="1800" dirty="0"/>
          </a:p>
        </p:txBody>
      </p:sp>
      <p:sp>
        <p:nvSpPr>
          <p:cNvPr id="62" name="Shape 59"/>
          <p:cNvSpPr/>
          <p:nvPr/>
        </p:nvSpPr>
        <p:spPr>
          <a:xfrm>
            <a:off x="457200" y="4773168"/>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94360" y="4910328"/>
            <a:ext cx="365760" cy="365760"/>
          </a:xfrm>
          <a:prstGeom prst="ellipse">
            <a:avLst/>
          </a:prstGeom>
          <a:solidFill>
            <a:srgbClr val="2F6FB0"/>
          </a:solidFill>
          <a:ln w="12700">
            <a:solidFill>
              <a:srgbClr val="2F6FB0"/>
            </a:solidFill>
            <a:prstDash val="solid"/>
          </a:ln>
        </p:spPr>
      </p:sp>
      <p:sp>
        <p:nvSpPr>
          <p:cNvPr id="64" name="Text 61"/>
          <p:cNvSpPr txBox="1"/>
          <p:nvPr/>
        </p:nvSpPr>
        <p:spPr>
          <a:xfrm>
            <a:off x="59436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65" name="Text 62"/>
          <p:cNvSpPr txBox="1"/>
          <p:nvPr/>
        </p:nvSpPr>
        <p:spPr>
          <a:xfrm>
            <a:off x="1051560" y="4882896"/>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I tidy my room and clean it every evening.</a:t>
            </a:r>
            <a:endParaRPr lang="en-US" sz="1400" dirty="0"/>
          </a:p>
        </p:txBody>
      </p:sp>
      <p:sp>
        <p:nvSpPr>
          <p:cNvPr id="66" name="Shape 63"/>
          <p:cNvSpPr/>
          <p:nvPr/>
        </p:nvSpPr>
        <p:spPr>
          <a:xfrm>
            <a:off x="9180576" y="4864608"/>
            <a:ext cx="2414016" cy="512064"/>
          </a:xfrm>
          <a:prstGeom prst="roundRect">
            <a:avLst>
              <a:gd name="adj" fmla="val 10714"/>
            </a:avLst>
          </a:prstGeom>
          <a:solidFill>
            <a:srgbClr val="EEF3FA"/>
          </a:solidFill>
          <a:ln w="9525">
            <a:solidFill>
              <a:srgbClr val="C9D6EA"/>
            </a:solidFill>
            <a:prstDash val="solid"/>
          </a:ln>
        </p:spPr>
      </p:sp>
      <p:sp>
        <p:nvSpPr>
          <p:cNvPr id="67" name="Text 64"/>
          <p:cNvSpPr txBox="1"/>
          <p:nvPr/>
        </p:nvSpPr>
        <p:spPr>
          <a:xfrm>
            <a:off x="9235440"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68" name="Text 65"/>
          <p:cNvSpPr txBox="1"/>
          <p:nvPr/>
        </p:nvSpPr>
        <p:spPr>
          <a:xfrm>
            <a:off x="9500616"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أُرَتِّبُ غُرْفَتِي</a:t>
            </a:r>
            <a:endParaRPr lang="ar-SA" sz="1800" dirty="0"/>
          </a:p>
        </p:txBody>
      </p:sp>
      <p:sp>
        <p:nvSpPr>
          <p:cNvPr id="69" name="Shape 66"/>
          <p:cNvSpPr/>
          <p:nvPr/>
        </p:nvSpPr>
        <p:spPr>
          <a:xfrm>
            <a:off x="9180576" y="5431536"/>
            <a:ext cx="2414016" cy="512064"/>
          </a:xfrm>
          <a:prstGeom prst="roundRect">
            <a:avLst>
              <a:gd name="adj" fmla="val 10714"/>
            </a:avLst>
          </a:prstGeom>
          <a:solidFill>
            <a:srgbClr val="EEF3FA"/>
          </a:solidFill>
          <a:ln w="9525">
            <a:solidFill>
              <a:srgbClr val="C9D6EA"/>
            </a:solidFill>
            <a:prstDash val="solid"/>
          </a:ln>
        </p:spPr>
      </p:sp>
      <p:sp>
        <p:nvSpPr>
          <p:cNvPr id="70" name="Text 67"/>
          <p:cNvSpPr txBox="1"/>
          <p:nvPr/>
        </p:nvSpPr>
        <p:spPr>
          <a:xfrm>
            <a:off x="9235440"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1" name="Text 68"/>
          <p:cNvSpPr txBox="1"/>
          <p:nvPr/>
        </p:nvSpPr>
        <p:spPr>
          <a:xfrm>
            <a:off x="9500616"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أُرَتِّبُ غُرْفَتُكَ</a:t>
            </a:r>
            <a:endParaRPr lang="ar-SA" sz="1800" dirty="0"/>
          </a:p>
        </p:txBody>
      </p:sp>
      <p:sp>
        <p:nvSpPr>
          <p:cNvPr id="72" name="Shape 69"/>
          <p:cNvSpPr/>
          <p:nvPr/>
        </p:nvSpPr>
        <p:spPr>
          <a:xfrm>
            <a:off x="6624828" y="4864608"/>
            <a:ext cx="2414016" cy="512064"/>
          </a:xfrm>
          <a:prstGeom prst="roundRect">
            <a:avLst>
              <a:gd name="adj" fmla="val 10714"/>
            </a:avLst>
          </a:prstGeom>
          <a:solidFill>
            <a:srgbClr val="EEF3FA"/>
          </a:solidFill>
          <a:ln w="9525">
            <a:solidFill>
              <a:srgbClr val="C9D6EA"/>
            </a:solidFill>
            <a:prstDash val="solid"/>
          </a:ln>
        </p:spPr>
      </p:sp>
      <p:sp>
        <p:nvSpPr>
          <p:cNvPr id="73" name="Text 70"/>
          <p:cNvSpPr txBox="1"/>
          <p:nvPr/>
        </p:nvSpPr>
        <p:spPr>
          <a:xfrm>
            <a:off x="6679692"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74" name="Text 71"/>
          <p:cNvSpPr txBox="1"/>
          <p:nvPr/>
        </p:nvSpPr>
        <p:spPr>
          <a:xfrm>
            <a:off x="6944868"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وَأُنَظِّفُهَا</a:t>
            </a:r>
            <a:endParaRPr lang="ar-SA" sz="1800" dirty="0"/>
          </a:p>
        </p:txBody>
      </p:sp>
      <p:sp>
        <p:nvSpPr>
          <p:cNvPr id="75" name="Shape 72"/>
          <p:cNvSpPr/>
          <p:nvPr/>
        </p:nvSpPr>
        <p:spPr>
          <a:xfrm>
            <a:off x="6624828" y="5431536"/>
            <a:ext cx="2414016" cy="512064"/>
          </a:xfrm>
          <a:prstGeom prst="roundRect">
            <a:avLst>
              <a:gd name="adj" fmla="val 10714"/>
            </a:avLst>
          </a:prstGeom>
          <a:solidFill>
            <a:srgbClr val="EEF3FA"/>
          </a:solidFill>
          <a:ln w="9525">
            <a:solidFill>
              <a:srgbClr val="C9D6EA"/>
            </a:solidFill>
            <a:prstDash val="solid"/>
          </a:ln>
        </p:spPr>
      </p:sp>
      <p:sp>
        <p:nvSpPr>
          <p:cNvPr id="76" name="Text 73"/>
          <p:cNvSpPr txBox="1"/>
          <p:nvPr/>
        </p:nvSpPr>
        <p:spPr>
          <a:xfrm>
            <a:off x="6679692"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7" name="Text 74"/>
          <p:cNvSpPr txBox="1"/>
          <p:nvPr/>
        </p:nvSpPr>
        <p:spPr>
          <a:xfrm>
            <a:off x="6944868"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وَأُنَظِّفُهُ</a:t>
            </a:r>
            <a:endParaRPr lang="ar-SA" sz="1800" dirty="0"/>
          </a:p>
        </p:txBody>
      </p:sp>
      <p:sp>
        <p:nvSpPr>
          <p:cNvPr id="78" name="Shape 75"/>
          <p:cNvSpPr/>
          <p:nvPr/>
        </p:nvSpPr>
        <p:spPr>
          <a:xfrm>
            <a:off x="4069080" y="4864608"/>
            <a:ext cx="2414016" cy="512064"/>
          </a:xfrm>
          <a:prstGeom prst="roundRect">
            <a:avLst>
              <a:gd name="adj" fmla="val 10714"/>
            </a:avLst>
          </a:prstGeom>
          <a:solidFill>
            <a:srgbClr val="EEF3FA"/>
          </a:solidFill>
          <a:ln w="9525">
            <a:solidFill>
              <a:srgbClr val="C9D6EA"/>
            </a:solidFill>
            <a:prstDash val="solid"/>
          </a:ln>
        </p:spPr>
      </p:sp>
      <p:sp>
        <p:nvSpPr>
          <p:cNvPr id="79" name="Text 76"/>
          <p:cNvSpPr txBox="1"/>
          <p:nvPr/>
        </p:nvSpPr>
        <p:spPr>
          <a:xfrm>
            <a:off x="4123944"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80" name="Text 77"/>
          <p:cNvSpPr txBox="1"/>
          <p:nvPr/>
        </p:nvSpPr>
        <p:spPr>
          <a:xfrm>
            <a:off x="4389120"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كُلَّ مَسَاءٍ.</a:t>
            </a:r>
            <a:endParaRPr lang="ar-SA" sz="1800" dirty="0"/>
          </a:p>
        </p:txBody>
      </p:sp>
      <p:sp>
        <p:nvSpPr>
          <p:cNvPr id="81" name="Shape 78"/>
          <p:cNvSpPr/>
          <p:nvPr/>
        </p:nvSpPr>
        <p:spPr>
          <a:xfrm>
            <a:off x="4069080" y="5431536"/>
            <a:ext cx="2414016" cy="512064"/>
          </a:xfrm>
          <a:prstGeom prst="roundRect">
            <a:avLst>
              <a:gd name="adj" fmla="val 10714"/>
            </a:avLst>
          </a:prstGeom>
          <a:solidFill>
            <a:srgbClr val="EEF3FA"/>
          </a:solidFill>
          <a:ln w="9525">
            <a:solidFill>
              <a:srgbClr val="C9D6EA"/>
            </a:solidFill>
            <a:prstDash val="solid"/>
          </a:ln>
        </p:spPr>
      </p:sp>
      <p:sp>
        <p:nvSpPr>
          <p:cNvPr id="82" name="Text 79"/>
          <p:cNvSpPr txBox="1"/>
          <p:nvPr/>
        </p:nvSpPr>
        <p:spPr>
          <a:xfrm>
            <a:off x="4123944"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83" name="Text 80"/>
          <p:cNvSpPr txBox="1"/>
          <p:nvPr/>
        </p:nvSpPr>
        <p:spPr>
          <a:xfrm>
            <a:off x="4389120"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كُلُّ مَسَاءٌ.</a:t>
            </a:r>
            <a:endParaRPr lang="ar-SA" sz="180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24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D1-W03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7 · CHECK YOUR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builder: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D1-W03 · Apply workshop (D1-L05 + D1-L06)</a:t>
            </a:r>
            <a:endParaRPr lang="en-US" sz="850" dirty="0"/>
          </a:p>
        </p:txBody>
      </p:sp>
      <p:sp>
        <p:nvSpPr>
          <p:cNvPr id="15" name="Shape 12"/>
          <p:cNvSpPr/>
          <p:nvPr/>
        </p:nvSpPr>
        <p:spPr>
          <a:xfrm>
            <a:off x="457200" y="1810512"/>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47672"/>
            <a:ext cx="365760" cy="365760"/>
          </a:xfrm>
          <a:prstGeom prst="ellipse">
            <a:avLst/>
          </a:prstGeom>
          <a:solidFill>
            <a:srgbClr val="2E8B57"/>
          </a:solidFill>
          <a:ln w="12700">
            <a:solidFill>
              <a:srgbClr val="2E8B57"/>
            </a:solidFill>
            <a:prstDash val="solid"/>
          </a:ln>
        </p:spPr>
      </p:sp>
      <p:sp>
        <p:nvSpPr>
          <p:cNvPr id="17" name="Text 14"/>
          <p:cNvSpPr txBox="1"/>
          <p:nvPr/>
        </p:nvSpPr>
        <p:spPr>
          <a:xfrm>
            <a:off x="640080" y="1947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Text 15"/>
          <p:cNvSpPr txBox="1"/>
          <p:nvPr/>
        </p:nvSpPr>
        <p:spPr>
          <a:xfrm>
            <a:off x="1143000" y="1901952"/>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I revise for an hour to prepare for the exam.</a:t>
            </a:r>
            <a:endParaRPr lang="en-US" sz="1300" dirty="0"/>
          </a:p>
        </p:txBody>
      </p:sp>
      <p:sp>
        <p:nvSpPr>
          <p:cNvPr id="19" name="Text 16"/>
          <p:cNvSpPr txBox="1"/>
          <p:nvPr/>
        </p:nvSpPr>
        <p:spPr>
          <a:xfrm>
            <a:off x="1143000" y="2359152"/>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0" name="Text 17"/>
          <p:cNvSpPr txBox="1"/>
          <p:nvPr/>
        </p:nvSpPr>
        <p:spPr>
          <a:xfrm>
            <a:off x="1143000" y="2633472"/>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لِمُدَّةِ</a:t>
            </a:r>
            <a:pPr algn="l" indent="0" marL="0">
              <a:buNone/>
            </a:pPr>
            <a:r>
              <a:rPr lang="en-US" sz="1050" i="1" dirty="0">
                <a:solidFill>
                  <a:srgbClr val="5A6472"/>
                </a:solidFill>
                <a:latin typeface="Calibri" pitchFamily="34" charset="0"/>
                <a:cs typeface="Amiri" pitchFamily="2" charset="-78"/>
              </a:rPr>
              <a:t> + genitive; </a:t>
            </a:r>
            <a:pPr algn="l" indent="0" marL="0">
              <a:buNone/>
            </a:pPr>
            <a:r>
              <a:rPr lang="ar-SA" altLang="en-US" sz="1350" dirty="0">
                <a:solidFill>
                  <a:srgbClr val="5A6472"/>
                </a:solidFill>
                <a:latin typeface="Amiri" pitchFamily="2" charset="-78"/>
                <a:ea typeface="Amiri" pitchFamily="2" charset="-78"/>
                <a:cs typeface="Amiri" pitchFamily="2" charset="-78"/>
              </a:rPr>
              <a:t>لِكَيْ</a:t>
            </a:r>
            <a:pPr algn="l" indent="0" marL="0">
              <a:buNone/>
            </a:pPr>
            <a:r>
              <a:rPr lang="en-US" sz="1050" i="1" dirty="0">
                <a:solidFill>
                  <a:srgbClr val="5A6472"/>
                </a:solidFill>
                <a:latin typeface="Calibri" pitchFamily="34" charset="0"/>
                <a:cs typeface="Amiri" pitchFamily="2" charset="-78"/>
              </a:rPr>
              <a:t> + verb in -a (</a:t>
            </a:r>
            <a:pPr algn="l" indent="0" marL="0">
              <a:buNone/>
            </a:pPr>
            <a:r>
              <a:rPr lang="ar-SA" altLang="en-US" sz="1350" dirty="0">
                <a:solidFill>
                  <a:srgbClr val="5A6472"/>
                </a:solidFill>
                <a:latin typeface="Amiri" pitchFamily="2" charset="-78"/>
                <a:ea typeface="Amiri" pitchFamily="2" charset="-78"/>
                <a:cs typeface="Amiri" pitchFamily="2" charset="-78"/>
              </a:rPr>
              <a:t>أَسْتَعِدَّ</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21" name="Text 18"/>
          <p:cNvSpPr txBox="1"/>
          <p:nvPr/>
        </p:nvSpPr>
        <p:spPr>
          <a:xfrm>
            <a:off x="4572000" y="1901952"/>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أُرَاجِعُ لِمُدَّةِ سَاعَةٍ لِكَيْ أَسْتَعِدَّ لِلِامْتِحَانِ.</a:t>
            </a:r>
            <a:endParaRPr lang="ar-SA" sz="2800" dirty="0"/>
          </a:p>
        </p:txBody>
      </p:sp>
      <p:sp>
        <p:nvSpPr>
          <p:cNvPr id="22" name="Shape 19"/>
          <p:cNvSpPr/>
          <p:nvPr/>
        </p:nvSpPr>
        <p:spPr>
          <a:xfrm>
            <a:off x="457200" y="3291840"/>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640080" y="3429000"/>
            <a:ext cx="365760" cy="365760"/>
          </a:xfrm>
          <a:prstGeom prst="ellipse">
            <a:avLst/>
          </a:prstGeom>
          <a:solidFill>
            <a:srgbClr val="2E8B57"/>
          </a:solidFill>
          <a:ln w="12700">
            <a:solidFill>
              <a:srgbClr val="2E8B57"/>
            </a:solidFill>
            <a:prstDash val="solid"/>
          </a:ln>
        </p:spPr>
      </p:sp>
      <p:sp>
        <p:nvSpPr>
          <p:cNvPr id="24" name="Text 21"/>
          <p:cNvSpPr txBox="1"/>
          <p:nvPr/>
        </p:nvSpPr>
        <p:spPr>
          <a:xfrm>
            <a:off x="640080" y="342900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5" name="Text 22"/>
          <p:cNvSpPr txBox="1"/>
          <p:nvPr/>
        </p:nvSpPr>
        <p:spPr>
          <a:xfrm>
            <a:off x="1143000" y="3383280"/>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She revises her lessons every evening.</a:t>
            </a:r>
            <a:endParaRPr lang="en-US" sz="1300" dirty="0"/>
          </a:p>
        </p:txBody>
      </p:sp>
      <p:sp>
        <p:nvSpPr>
          <p:cNvPr id="26" name="Text 23"/>
          <p:cNvSpPr txBox="1"/>
          <p:nvPr/>
        </p:nvSpPr>
        <p:spPr>
          <a:xfrm>
            <a:off x="1143000" y="3840480"/>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7" name="Text 24"/>
          <p:cNvSpPr txBox="1"/>
          <p:nvPr/>
        </p:nvSpPr>
        <p:spPr>
          <a:xfrm>
            <a:off x="1143000" y="4114800"/>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She → ta- verb + -hā on the noun.</a:t>
            </a:r>
            <a:endParaRPr lang="en-US" sz="1050" dirty="0"/>
          </a:p>
        </p:txBody>
      </p:sp>
      <p:sp>
        <p:nvSpPr>
          <p:cNvPr id="28" name="Text 25"/>
          <p:cNvSpPr txBox="1"/>
          <p:nvPr/>
        </p:nvSpPr>
        <p:spPr>
          <a:xfrm>
            <a:off x="4572000" y="3383280"/>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تُرَاجِعُ دُرُوسَهَا كُلَّ مَسَاءٍ.</a:t>
            </a:r>
            <a:endParaRPr lang="ar-SA" sz="2800" dirty="0"/>
          </a:p>
        </p:txBody>
      </p:sp>
      <p:sp>
        <p:nvSpPr>
          <p:cNvPr id="29" name="Shape 26"/>
          <p:cNvSpPr/>
          <p:nvPr/>
        </p:nvSpPr>
        <p:spPr>
          <a:xfrm>
            <a:off x="457200" y="4773168"/>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40080" y="4910328"/>
            <a:ext cx="365760" cy="365760"/>
          </a:xfrm>
          <a:prstGeom prst="ellipse">
            <a:avLst/>
          </a:prstGeom>
          <a:solidFill>
            <a:srgbClr val="2E8B57"/>
          </a:solidFill>
          <a:ln w="12700">
            <a:solidFill>
              <a:srgbClr val="2E8B57"/>
            </a:solidFill>
            <a:prstDash val="solid"/>
          </a:ln>
        </p:spPr>
      </p:sp>
      <p:sp>
        <p:nvSpPr>
          <p:cNvPr id="31" name="Text 28"/>
          <p:cNvSpPr txBox="1"/>
          <p:nvPr/>
        </p:nvSpPr>
        <p:spPr>
          <a:xfrm>
            <a:off x="64008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2" name="Text 29"/>
          <p:cNvSpPr txBox="1"/>
          <p:nvPr/>
        </p:nvSpPr>
        <p:spPr>
          <a:xfrm>
            <a:off x="1143000" y="4864608"/>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I tidy my room and clean it every evening.</a:t>
            </a:r>
            <a:endParaRPr lang="en-US" sz="1300" dirty="0"/>
          </a:p>
        </p:txBody>
      </p:sp>
      <p:sp>
        <p:nvSpPr>
          <p:cNvPr id="33" name="Text 30"/>
          <p:cNvSpPr txBox="1"/>
          <p:nvPr/>
        </p:nvSpPr>
        <p:spPr>
          <a:xfrm>
            <a:off x="1143000" y="5321808"/>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34" name="Text 31"/>
          <p:cNvSpPr txBox="1"/>
          <p:nvPr/>
        </p:nvSpPr>
        <p:spPr>
          <a:xfrm>
            <a:off x="1143000" y="5596128"/>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غُرْفَةٌ</a:t>
            </a:r>
            <a:pPr algn="l" indent="0" marL="0">
              <a:buNone/>
            </a:pPr>
            <a:r>
              <a:rPr lang="en-US" sz="1050" i="1" dirty="0">
                <a:solidFill>
                  <a:srgbClr val="5A6472"/>
                </a:solidFill>
                <a:latin typeface="Calibri" pitchFamily="34" charset="0"/>
                <a:cs typeface="Amiri" pitchFamily="2" charset="-78"/>
              </a:rPr>
              <a:t> (f.) → object pronoun -hā: </a:t>
            </a:r>
            <a:pPr algn="l" indent="0" marL="0">
              <a:buNone/>
            </a:pPr>
            <a:r>
              <a:rPr lang="ar-SA" altLang="en-US" sz="1350" dirty="0">
                <a:solidFill>
                  <a:srgbClr val="5A6472"/>
                </a:solidFill>
                <a:latin typeface="Amiri" pitchFamily="2" charset="-78"/>
                <a:ea typeface="Amiri" pitchFamily="2" charset="-78"/>
                <a:cs typeface="Amiri" pitchFamily="2" charset="-78"/>
              </a:rPr>
              <a:t>أُنَظِّفُهَا</a:t>
            </a:r>
            <a:pPr algn="l" indent="0" marL="0">
              <a:buNone/>
            </a:pPr>
            <a:r>
              <a:rPr lang="en-US" sz="1050" i="1" dirty="0">
                <a:solidFill>
                  <a:srgbClr val="5A6472"/>
                </a:solidFill>
                <a:latin typeface="Calibri" pitchFamily="34" charset="0"/>
                <a:cs typeface="Amiri" pitchFamily="2" charset="-78"/>
              </a:rPr>
              <a:t>; every evening = </a:t>
            </a:r>
            <a:pPr algn="l" indent="0" marL="0">
              <a:buNone/>
            </a:pPr>
            <a:r>
              <a:rPr lang="ar-SA" altLang="en-US" sz="1350" dirty="0">
                <a:solidFill>
                  <a:srgbClr val="5A6472"/>
                </a:solidFill>
                <a:latin typeface="Amiri" pitchFamily="2" charset="-78"/>
                <a:ea typeface="Amiri" pitchFamily="2" charset="-78"/>
                <a:cs typeface="Amiri" pitchFamily="2" charset="-78"/>
              </a:rPr>
              <a:t>كُلَّ مَسَاءٍ</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35" name="Text 32"/>
          <p:cNvSpPr txBox="1"/>
          <p:nvPr/>
        </p:nvSpPr>
        <p:spPr>
          <a:xfrm>
            <a:off x="4572000" y="4864608"/>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أُرَتِّبُ غُرْفَتِي وَأُنَظِّفُهَا كُلَّ مَسَاءٍ.</a:t>
            </a:r>
            <a:endParaRPr lang="ar-SA" sz="2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24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D1-W03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STEP 8 · SPOT AND FIX · MISTAKES FROM BOTH LESSONS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Find the mistake, fix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D1-W03 · Apply workshop (D1-L05 + D1-L06)</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أُرَاجِعُ لِكَيْ أَنْجَحُ.</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After </a:t>
            </a:r>
            <a:pPr algn="l" indent="0" marL="0">
              <a:buNone/>
            </a:pPr>
            <a:r>
              <a:rPr lang="ar-SA" altLang="en-US" sz="1700" dirty="0">
                <a:solidFill>
                  <a:srgbClr val="5A6472"/>
                </a:solidFill>
                <a:latin typeface="Amiri" pitchFamily="2" charset="-78"/>
                <a:ea typeface="Amiri" pitchFamily="2" charset="-78"/>
                <a:cs typeface="Amiri" pitchFamily="2" charset="-78"/>
              </a:rPr>
              <a:t>لِكَيْ</a:t>
            </a:r>
            <a:pPr algn="l" indent="0" marL="0">
              <a:buNone/>
            </a:pPr>
            <a:r>
              <a:rPr lang="en-US" sz="1300" i="1" dirty="0">
                <a:solidFill>
                  <a:srgbClr val="5A6472"/>
                </a:solidFill>
                <a:latin typeface="Calibri" pitchFamily="34" charset="0"/>
                <a:cs typeface="Amiri" pitchFamily="2" charset="-78"/>
              </a:rPr>
              <a:t> …</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أُمِّي يَعْمَلُ فِي المُسْتَشْفَى.</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Who is the subject?</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أُسَاعِدُ أُمِّي وَأُسَاعِدُهُ كُلَّ يَوْمٍ.</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My mother → which pronoun?</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24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D1-W03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8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Spot and fix: corrections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D1-W03 · Apply workshop (D1-L05 + D1-L06)</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أُرَاجِعُ لِكَيْ أَنْجَحُ.</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أُرَاجِعُ لِكَيْ أَنْجَحَ.</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t>
            </a:r>
            <a:pPr algn="l" indent="0" marL="0">
              <a:buNone/>
            </a:pPr>
            <a:r>
              <a:rPr lang="ar-SA" altLang="en-US" sz="1500" b="1" dirty="0">
                <a:solidFill>
                  <a:srgbClr val="1B3B6F"/>
                </a:solidFill>
                <a:latin typeface="Amiri" pitchFamily="2" charset="-78"/>
                <a:ea typeface="Amiri" pitchFamily="2" charset="-78"/>
                <a:cs typeface="Amiri" pitchFamily="2" charset="-78"/>
              </a:rPr>
              <a:t>لِكَيْ</a:t>
            </a:r>
            <a:pPr algn="l" indent="0" marL="0">
              <a:buNone/>
            </a:pPr>
            <a:r>
              <a:rPr lang="en-US" sz="1150" b="1" dirty="0">
                <a:solidFill>
                  <a:srgbClr val="1B3B6F"/>
                </a:solidFill>
                <a:latin typeface="Calibri" pitchFamily="34" charset="0"/>
                <a:cs typeface="Amiri" pitchFamily="2" charset="-78"/>
              </a:rPr>
              <a:t>‏ + verb ending in -a.</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أُمِّي يَعْمَلُ فِي المُسْتَشْفَى.</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أُمِّي تَعْمَلُ فِي المُسْتَشْفَى.</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She → ta-: ‏</a:t>
            </a:r>
            <a:pPr algn="l" indent="0" marL="0">
              <a:buNone/>
            </a:pPr>
            <a:r>
              <a:rPr lang="ar-SA" altLang="en-US" sz="1500" b="1" dirty="0">
                <a:solidFill>
                  <a:srgbClr val="1B3B6F"/>
                </a:solidFill>
                <a:latin typeface="Amiri" pitchFamily="2" charset="-78"/>
                <a:ea typeface="Amiri" pitchFamily="2" charset="-78"/>
                <a:cs typeface="Amiri" pitchFamily="2" charset="-78"/>
              </a:rPr>
              <a:t>تَعْمَلُ</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أُسَاعِدُ أُمِّي وَأُسَاعِدُهُ كُلَّ يَوْمٍ.</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أُسَاعِدُ أُمِّي، أُسَاعِدُهَا كُلَّ يَوْمٍ.</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Her → -hā.</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24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D1-W03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WRITE YOUR TEXT · FRAMES IF YOU NEED THEM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Your writing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D1-W03 · Apply workshop (D1-L05 + D1-L06)</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وَبَعْدَ العَشَاءِ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And after dinner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500" b="1" dirty="0">
                <a:solidFill>
                  <a:srgbClr val="1B3B6F"/>
                </a:solidFill>
                <a:latin typeface="Amiri" pitchFamily="2" charset="-78"/>
                <a:ea typeface="Amiri" pitchFamily="2" charset="-78"/>
                <a:cs typeface="Amiri" pitchFamily="2" charset="-78"/>
              </a:rPr>
              <a:t>فِي رَأْيِي مَسَاءُ ______ أَكْثَرُ تَوَازُنًا لِأَنَّ ______ .</a:t>
            </a:r>
            <a:endParaRPr lang="ar-SA" sz="15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my opinion …’s evening is more balanced because …</a:t>
            </a:r>
            <a:endParaRPr lang="en-US" sz="1050" dirty="0"/>
          </a:p>
        </p:txBody>
      </p:sp>
      <p:sp>
        <p:nvSpPr>
          <p:cNvPr id="22" name="Shape 19"/>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5" name="Text 22"/>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بَعْدَ المَدْرَسَةِ أَسْتَرِيحُ لِمُدَّةِ ______ .</a:t>
            </a:r>
            <a:endParaRPr lang="ar-SA" sz="1800" dirty="0"/>
          </a:p>
        </p:txBody>
      </p:sp>
      <p:sp>
        <p:nvSpPr>
          <p:cNvPr id="26" name="Text 23"/>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After school I rest for …</a:t>
            </a:r>
            <a:endParaRPr lang="en-US" sz="1050" dirty="0"/>
          </a:p>
        </p:txBody>
      </p:sp>
      <p:sp>
        <p:nvSpPr>
          <p:cNvPr id="27" name="Text 24"/>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ثُمَّ أُرَاجِعُ دُرُوسِي لِكَيْ ______ .</a:t>
            </a:r>
            <a:endParaRPr lang="ar-SA" sz="1800" dirty="0"/>
          </a:p>
        </p:txBody>
      </p:sp>
      <p:sp>
        <p:nvSpPr>
          <p:cNvPr id="28" name="Text 25"/>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Then I revise my lessons so that …</a:t>
            </a:r>
            <a:endParaRPr lang="en-US" sz="1050" dirty="0"/>
          </a:p>
        </p:txBody>
      </p:sp>
      <p:sp>
        <p:nvSpPr>
          <p:cNvPr id="29" name="Text 26"/>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المَسَاءِ أُسَاعِدُ ______ .</a:t>
            </a:r>
            <a:endParaRPr lang="ar-SA" sz="1800" dirty="0"/>
          </a:p>
        </p:txBody>
      </p:sp>
      <p:sp>
        <p:nvSpPr>
          <p:cNvPr id="30" name="Text 27"/>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the evening I help …</a:t>
            </a:r>
            <a:endParaRPr lang="en-US" sz="1050" dirty="0"/>
          </a:p>
        </p:txBody>
      </p:sp>
      <p:sp>
        <p:nvSpPr>
          <p:cNvPr id="31" name="Text 28"/>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أُخْتِي / أَخِي ______ فِي السَّاعَةِ ______ .</a:t>
            </a:r>
            <a:endParaRPr lang="ar-SA" sz="1800" dirty="0"/>
          </a:p>
        </p:txBody>
      </p:sp>
      <p:sp>
        <p:nvSpPr>
          <p:cNvPr id="32" name="Text 29"/>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sister / brother … at …</a:t>
            </a:r>
            <a:endParaRPr lang="en-US" sz="1050" dirty="0"/>
          </a:p>
        </p:txBody>
      </p:sp>
      <p:sp>
        <p:nvSpPr>
          <p:cNvPr id="33" name="Text 30"/>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______ ، بَيْنَمَا أَنَا ______ .</a:t>
            </a:r>
            <a:endParaRPr lang="ar-SA" sz="1800" dirty="0"/>
          </a:p>
        </p:txBody>
      </p:sp>
      <p:sp>
        <p:nvSpPr>
          <p:cNvPr id="34" name="Text 31"/>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whereas I …</a:t>
            </a:r>
            <a:endParaRPr lang="en-US" sz="1050" dirty="0"/>
          </a:p>
        </p:txBody>
      </p:sp>
      <p:sp>
        <p:nvSpPr>
          <p:cNvPr id="35" name="Shape 32"/>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Text 33"/>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7" name="Text 34"/>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لِمُدَّةِ  ·  لِكَيْ · حَتَّى لَا  ·  أُسَاعِدُهَا · أُرَتِّبُهَا  ·  يَرْجِعُ · تَرْجِعُ  ·  يَقْرَأُ · تَدْرُسُ  ·  عَمَلُهُ · جَامِعَتُهَا  ·  بَيْنَمَا  ·  أَكْثَرُ تَوَازُنًا</a:t>
            </a:r>
            <a:endParaRPr lang="ar-SA" sz="160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24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D1-W03 · Apply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10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WRITE YOUR TEXT · ABOUT 60–80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50" b="1" dirty="0">
                <a:solidFill>
                  <a:srgbClr val="1B3B6F"/>
                </a:solidFill>
                <a:latin typeface="Cambria" pitchFamily="34" charset="0"/>
                <a:cs typeface="Amiri" pitchFamily="2" charset="-78"/>
              </a:rPr>
              <a:t>Two evenings: an article for the family magazine</a:t>
            </a:r>
            <a:endParaRPr lang="en-US" sz="19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مَسَاءَانِ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D1-W03 · Apply workshop (D1-L05 + D1-L06)</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2061972"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2061972"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WRITING · DIRECTED TASK</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050" b="1" dirty="0">
                <a:solidFill>
                  <a:srgbClr val="1F2A37"/>
                </a:solidFill>
                <a:latin typeface="Calibri" pitchFamily="34" charset="0"/>
                <a:cs typeface="Amiri" pitchFamily="2" charset="-78"/>
              </a:rPr>
              <a:t>Write an article (about 60–80 words) comparing your evening with a family member’s. Include: • your afternoon and evening in three phases, with times • two durations (‏</a:t>
            </a:r>
            <a:pPr algn="l" indent="0" marL="0">
              <a:buNone/>
            </a:pPr>
            <a:r>
              <a:rPr lang="ar-SA" altLang="en-US" sz="1350" b="1" dirty="0">
                <a:solidFill>
                  <a:srgbClr val="1F2A37"/>
                </a:solidFill>
                <a:latin typeface="Amiri" pitchFamily="2" charset="-78"/>
                <a:ea typeface="Amiri" pitchFamily="2" charset="-78"/>
                <a:cs typeface="Amiri" pitchFamily="2" charset="-78"/>
              </a:rPr>
              <a:t>لِمُدَّةِ</a:t>
            </a:r>
            <a:pPr algn="l" indent="0" marL="0">
              <a:buNone/>
            </a:pPr>
            <a:r>
              <a:rPr lang="en-US" sz="1050" b="1" dirty="0">
                <a:solidFill>
                  <a:srgbClr val="1F2A37"/>
                </a:solidFill>
                <a:latin typeface="Calibri" pitchFamily="34" charset="0"/>
                <a:cs typeface="Amiri" pitchFamily="2" charset="-78"/>
              </a:rPr>
              <a:t> …‏) and one purpose (‏</a:t>
            </a:r>
            <a:pPr algn="l" indent="0" marL="0">
              <a:buNone/>
            </a:pPr>
            <a:r>
              <a:rPr lang="ar-SA" altLang="en-US" sz="1350" b="1" dirty="0">
                <a:solidFill>
                  <a:srgbClr val="1F2A37"/>
                </a:solidFill>
                <a:latin typeface="Amiri" pitchFamily="2" charset="-78"/>
                <a:ea typeface="Amiri" pitchFamily="2" charset="-78"/>
                <a:cs typeface="Amiri" pitchFamily="2" charset="-78"/>
              </a:rPr>
              <a:t>لِكَيْ</a:t>
            </a:r>
            <a:pPr algn="l" indent="0" marL="0">
              <a:buNone/>
            </a:pPr>
            <a:r>
              <a:rPr lang="en-US" sz="1050" b="1" dirty="0">
                <a:solidFill>
                  <a:srgbClr val="1F2A37"/>
                </a:solidFill>
                <a:latin typeface="Calibri" pitchFamily="34" charset="0"/>
                <a:cs typeface="Amiri" pitchFamily="2" charset="-78"/>
              </a:rPr>
              <a:t> …‏) • two object pronouns • three verbs for him or her, and -hu / -hā on two nouns • a comparison with ‏</a:t>
            </a:r>
            <a:pPr algn="l" indent="0" marL="0">
              <a:buNone/>
            </a:pPr>
            <a:r>
              <a:rPr lang="ar-SA" altLang="en-US" sz="1350" b="1" dirty="0">
                <a:solidFill>
                  <a:srgbClr val="1F2A37"/>
                </a:solidFill>
                <a:latin typeface="Amiri" pitchFamily="2" charset="-78"/>
                <a:ea typeface="Amiri" pitchFamily="2" charset="-78"/>
                <a:cs typeface="Amiri" pitchFamily="2" charset="-78"/>
              </a:rPr>
              <a:t>بَيْنَمَا</a:t>
            </a:r>
            <a:pPr algn="l" indent="0" marL="0">
              <a:buNone/>
            </a:pPr>
            <a:r>
              <a:rPr lang="en-US" sz="1050" b="1" dirty="0">
                <a:solidFill>
                  <a:srgbClr val="1F2A37"/>
                </a:solidFill>
                <a:latin typeface="Calibri" pitchFamily="34" charset="0"/>
                <a:cs typeface="Amiri" pitchFamily="2" charset="-78"/>
              </a:rPr>
              <a:t>‏ • your opinion: whose evening is more balanced, and why?</a:t>
            </a:r>
            <a:endParaRPr lang="en-US" sz="10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the bullet points, in order.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Language from D1-L05 AND D1-L06.</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Linking words: ‏</a:t>
            </a:r>
            <a:pPr algn="l" indent="0" marL="0">
              <a:buNone/>
            </a:pPr>
            <a:r>
              <a:rPr lang="ar-SA" altLang="en-US" sz="1550" dirty="0">
                <a:solidFill>
                  <a:srgbClr val="1F2A37"/>
                </a:solidFill>
                <a:latin typeface="Amiri" pitchFamily="2" charset="-78"/>
                <a:ea typeface="Amiri" pitchFamily="2" charset="-78"/>
                <a:cs typeface="Amiri" pitchFamily="2" charset="-78"/>
              </a:rPr>
              <a:t>وَ</a:t>
            </a:r>
            <a:pPr algn="l" indent="0" marL="0">
              <a:buNone/>
            </a:pPr>
            <a:r>
              <a:rPr lang="en-US" sz="1200" dirty="0">
                <a:solidFill>
                  <a:srgbClr val="1F2A37"/>
                </a:solidFill>
                <a:latin typeface="Calibri" pitchFamily="34" charset="0"/>
                <a:cs typeface="Amiri" pitchFamily="2" charset="-78"/>
              </a:rPr>
              <a:t> · </a:t>
            </a:r>
            <a:pPr algn="l" indent="0" marL="0">
              <a:buNone/>
            </a:pPr>
            <a:r>
              <a:rPr lang="ar-SA" altLang="en-US" sz="1550" dirty="0">
                <a:solidFill>
                  <a:srgbClr val="1F2A37"/>
                </a:solidFill>
                <a:latin typeface="Amiri" pitchFamily="2" charset="-78"/>
                <a:ea typeface="Amiri" pitchFamily="2" charset="-78"/>
                <a:cs typeface="Amiri" pitchFamily="2" charset="-78"/>
              </a:rPr>
              <a:t>ثُمَّ</a:t>
            </a:r>
            <a:pPr algn="l" indent="0" marL="0">
              <a:buNone/>
            </a:pPr>
            <a:r>
              <a:rPr lang="en-US" sz="1200" dirty="0">
                <a:solidFill>
                  <a:srgbClr val="1F2A37"/>
                </a:solidFill>
                <a:latin typeface="Calibri" pitchFamily="34" charset="0"/>
                <a:cs typeface="Amiri" pitchFamily="2" charset="-78"/>
              </a:rPr>
              <a:t> · </a:t>
            </a:r>
            <a:pPr algn="l" indent="0" marL="0">
              <a:buNone/>
            </a:pPr>
            <a:r>
              <a:rPr lang="ar-SA" altLang="en-US" sz="1550" dirty="0">
                <a:solidFill>
                  <a:srgbClr val="1F2A37"/>
                </a:solidFill>
                <a:latin typeface="Amiri" pitchFamily="2" charset="-78"/>
                <a:ea typeface="Amiri" pitchFamily="2" charset="-78"/>
                <a:cs typeface="Amiri" pitchFamily="2" charset="-78"/>
              </a:rPr>
              <a:t>لِأَنَّ</a:t>
            </a:r>
            <a:pPr algn="l" indent="0" marL="0">
              <a:buNone/>
            </a:pPr>
            <a:r>
              <a:rPr lang="en-US" sz="1200" dirty="0">
                <a:solidFill>
                  <a:srgbClr val="1F2A37"/>
                </a:solidFill>
                <a:latin typeface="Calibri" pitchFamily="34" charset="0"/>
                <a:cs typeface="Amiri" pitchFamily="2" charset="-78"/>
              </a:rPr>
              <a:t> · </a:t>
            </a:r>
            <a:pPr algn="l" indent="0" marL="0">
              <a:buNone/>
            </a:pPr>
            <a:r>
              <a:rPr lang="ar-SA" altLang="en-US" sz="1550" dirty="0">
                <a:solidFill>
                  <a:srgbClr val="1F2A37"/>
                </a:solidFill>
                <a:latin typeface="Amiri" pitchFamily="2" charset="-78"/>
                <a:ea typeface="Amiri" pitchFamily="2" charset="-78"/>
                <a:cs typeface="Amiri" pitchFamily="2" charset="-78"/>
              </a:rPr>
              <a:t>لٰكِنَّ</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opinion with a reason.</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Buddy check, then fix one thing.</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أَسْتَرِيحُ لِمُدَّةِ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rest for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أُرَاجِعُ لِكَيْ … · حَتَّى لَا …</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revise so that … · so that … not</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أُسَاعِدُهَا · أُرَتِّبُهَا</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help her · I tidy it</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يَرْجِعُ / تَرْجِعُ … بَيْنَمَا أَنَا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he / she returns … whereas I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24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D1-W03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BUDDY CHECK · SWAP AND READ YOUR BUDDY’S TEXT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Buddy check: five points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رَاجِعْ مَعَ زَمِيلِكَ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D1-W03 · Apply workshop (D1-L05 + D1-L06)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Line / example</a:t>
            </a:r>
            <a:endParaRPr lang="en-US" sz="1100" dirty="0"/>
          </a:p>
        </p:txBody>
      </p:sp>
      <p:sp>
        <p:nvSpPr>
          <p:cNvPr id="17" name="Text 14"/>
          <p:cNvSpPr txBox="1"/>
          <p:nvPr/>
        </p:nvSpPr>
        <p:spPr>
          <a:xfrm>
            <a:off x="78455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 / ✗</a:t>
            </a:r>
            <a:endParaRPr lang="en-US" sz="1100" dirty="0"/>
          </a:p>
        </p:txBody>
      </p:sp>
      <p:sp>
        <p:nvSpPr>
          <p:cNvPr id="18" name="Text 15"/>
          <p:cNvSpPr txBox="1"/>
          <p:nvPr/>
        </p:nvSpPr>
        <p:spPr>
          <a:xfrm>
            <a:off x="656539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Route</a:t>
            </a:r>
            <a:endParaRPr lang="en-US" sz="1100" dirty="0"/>
          </a:p>
        </p:txBody>
      </p:sp>
      <p:sp>
        <p:nvSpPr>
          <p:cNvPr id="19" name="Text 16"/>
          <p:cNvSpPr txBox="1"/>
          <p:nvPr/>
        </p:nvSpPr>
        <p:spPr>
          <a:xfrm>
            <a:off x="5303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Did the writer …</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796528" y="2267712"/>
            <a:ext cx="2862072" cy="682142"/>
          </a:xfrm>
          <a:prstGeom prst="rect">
            <a:avLst/>
          </a:prstGeom>
          <a:noFill/>
          <a:ln/>
        </p:spPr>
        <p:txBody>
          <a:bodyPr wrap="square" lIns="0" tIns="0" rIns="0" bIns="0" rtlCol="0" anchor="ctr"/>
          <a:lstStyle/>
          <a:p>
            <a:pPr algn="l" indent="0" marL="0">
              <a:buNone/>
            </a:pPr>
            <a:endParaRPr lang="en-US" sz="1100" dirty="0"/>
          </a:p>
        </p:txBody>
      </p:sp>
      <p:sp>
        <p:nvSpPr>
          <p:cNvPr id="22" name="Text 19"/>
          <p:cNvSpPr txBox="1"/>
          <p:nvPr/>
        </p:nvSpPr>
        <p:spPr>
          <a:xfrm>
            <a:off x="7882128" y="2267712"/>
            <a:ext cx="731520" cy="682142"/>
          </a:xfrm>
          <a:prstGeom prst="rect">
            <a:avLst/>
          </a:prstGeom>
          <a:noFill/>
          <a:ln/>
        </p:spPr>
        <p:txBody>
          <a:bodyPr wrap="square" lIns="0" tIns="0" rIns="0" bIns="0" rtlCol="0" anchor="ctr"/>
          <a:lstStyle/>
          <a:p>
            <a:pPr algn="l" indent="0" marL="0">
              <a:buNone/>
            </a:pPr>
            <a:endParaRPr lang="en-US" sz="1100" dirty="0"/>
          </a:p>
        </p:txBody>
      </p:sp>
      <p:sp>
        <p:nvSpPr>
          <p:cNvPr id="23" name="Text 20"/>
          <p:cNvSpPr txBox="1"/>
          <p:nvPr/>
        </p:nvSpPr>
        <p:spPr>
          <a:xfrm>
            <a:off x="6601968" y="2267712"/>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24" name="Text 21"/>
          <p:cNvSpPr txBox="1"/>
          <p:nvPr/>
        </p:nvSpPr>
        <p:spPr>
          <a:xfrm>
            <a:off x="566928" y="2267712"/>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answer EVERY bullet point?</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796528" y="3004718"/>
            <a:ext cx="2862072" cy="682142"/>
          </a:xfrm>
          <a:prstGeom prst="rect">
            <a:avLst/>
          </a:prstGeom>
          <a:noFill/>
          <a:ln/>
        </p:spPr>
        <p:txBody>
          <a:bodyPr wrap="square" lIns="0" tIns="0" rIns="0" bIns="0" rtlCol="0" anchor="ctr"/>
          <a:lstStyle/>
          <a:p>
            <a:pPr algn="l" indent="0" marL="0">
              <a:buNone/>
            </a:pPr>
            <a:endParaRPr lang="en-US" sz="1100" dirty="0"/>
          </a:p>
        </p:txBody>
      </p:sp>
      <p:sp>
        <p:nvSpPr>
          <p:cNvPr id="29" name="Text 26"/>
          <p:cNvSpPr txBox="1"/>
          <p:nvPr/>
        </p:nvSpPr>
        <p:spPr>
          <a:xfrm>
            <a:off x="7882128" y="3004718"/>
            <a:ext cx="731520" cy="682142"/>
          </a:xfrm>
          <a:prstGeom prst="rect">
            <a:avLst/>
          </a:prstGeom>
          <a:noFill/>
          <a:ln/>
        </p:spPr>
        <p:txBody>
          <a:bodyPr wrap="square" lIns="0" tIns="0" rIns="0" bIns="0" rtlCol="0" anchor="ctr"/>
          <a:lstStyle/>
          <a:p>
            <a:pPr algn="l" indent="0" marL="0">
              <a:buNone/>
            </a:pPr>
            <a:endParaRPr lang="en-US" sz="1100" dirty="0"/>
          </a:p>
        </p:txBody>
      </p:sp>
      <p:sp>
        <p:nvSpPr>
          <p:cNvPr id="30" name="Text 27"/>
          <p:cNvSpPr txBox="1"/>
          <p:nvPr/>
        </p:nvSpPr>
        <p:spPr>
          <a:xfrm>
            <a:off x="6601968" y="300471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31" name="Text 28"/>
          <p:cNvSpPr txBox="1"/>
          <p:nvPr/>
        </p:nvSpPr>
        <p:spPr>
          <a:xfrm>
            <a:off x="566928" y="300471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give at least six evening actions with times?</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796528" y="3741725"/>
            <a:ext cx="2862072" cy="682142"/>
          </a:xfrm>
          <a:prstGeom prst="rect">
            <a:avLst/>
          </a:prstGeom>
          <a:noFill/>
          <a:ln/>
        </p:spPr>
        <p:txBody>
          <a:bodyPr wrap="square" lIns="0" tIns="0" rIns="0" bIns="0" rtlCol="0" anchor="ctr"/>
          <a:lstStyle/>
          <a:p>
            <a:pPr algn="l" indent="0" marL="0">
              <a:buNone/>
            </a:pPr>
            <a:endParaRPr lang="en-US" sz="1100" dirty="0"/>
          </a:p>
        </p:txBody>
      </p:sp>
      <p:sp>
        <p:nvSpPr>
          <p:cNvPr id="36" name="Text 33"/>
          <p:cNvSpPr txBox="1"/>
          <p:nvPr/>
        </p:nvSpPr>
        <p:spPr>
          <a:xfrm>
            <a:off x="7882128" y="3741725"/>
            <a:ext cx="731520" cy="682142"/>
          </a:xfrm>
          <a:prstGeom prst="rect">
            <a:avLst/>
          </a:prstGeom>
          <a:noFill/>
          <a:ln/>
        </p:spPr>
        <p:txBody>
          <a:bodyPr wrap="square" lIns="0" tIns="0" rIns="0" bIns="0" rtlCol="0" anchor="ctr"/>
          <a:lstStyle/>
          <a:p>
            <a:pPr algn="l" indent="0" marL="0">
              <a:buNone/>
            </a:pPr>
            <a:endParaRPr lang="en-US" sz="1100" dirty="0"/>
          </a:p>
        </p:txBody>
      </p:sp>
      <p:sp>
        <p:nvSpPr>
          <p:cNvPr id="37" name="Text 34"/>
          <p:cNvSpPr txBox="1"/>
          <p:nvPr/>
        </p:nvSpPr>
        <p:spPr>
          <a:xfrm>
            <a:off x="6601968" y="3741725"/>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38" name="Text 35"/>
          <p:cNvSpPr txBox="1"/>
          <p:nvPr/>
        </p:nvSpPr>
        <p:spPr>
          <a:xfrm>
            <a:off x="566928" y="3741725"/>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put -hu / -hā on nouns and compare with ‏</a:t>
            </a:r>
            <a:pPr algn="l" indent="0" marL="0">
              <a:buNone/>
            </a:pPr>
            <a:r>
              <a:rPr lang="ar-SA" altLang="en-US" sz="1450" dirty="0">
                <a:solidFill>
                  <a:srgbClr val="5A6472"/>
                </a:solidFill>
                <a:latin typeface="Amiri" pitchFamily="2" charset="-78"/>
                <a:ea typeface="Amiri" pitchFamily="2" charset="-78"/>
                <a:cs typeface="Amiri" pitchFamily="2" charset="-78"/>
              </a:rPr>
              <a:t>بَيْنَمَا</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8796528" y="4478731"/>
            <a:ext cx="2862072" cy="682142"/>
          </a:xfrm>
          <a:prstGeom prst="rect">
            <a:avLst/>
          </a:prstGeom>
          <a:noFill/>
          <a:ln/>
        </p:spPr>
        <p:txBody>
          <a:bodyPr wrap="square" lIns="0" tIns="0" rIns="0" bIns="0" rtlCol="0" anchor="ctr"/>
          <a:lstStyle/>
          <a:p>
            <a:pPr algn="l" indent="0" marL="0">
              <a:buNone/>
            </a:pPr>
            <a:endParaRPr lang="en-US" sz="1100" dirty="0"/>
          </a:p>
        </p:txBody>
      </p:sp>
      <p:sp>
        <p:nvSpPr>
          <p:cNvPr id="41" name="Text 38"/>
          <p:cNvSpPr txBox="1"/>
          <p:nvPr/>
        </p:nvSpPr>
        <p:spPr>
          <a:xfrm>
            <a:off x="7882128" y="4478731"/>
            <a:ext cx="731520" cy="682142"/>
          </a:xfrm>
          <a:prstGeom prst="rect">
            <a:avLst/>
          </a:prstGeom>
          <a:noFill/>
          <a:ln/>
        </p:spPr>
        <p:txBody>
          <a:bodyPr wrap="square" lIns="0" tIns="0" rIns="0" bIns="0" rtlCol="0" anchor="ctr"/>
          <a:lstStyle/>
          <a:p>
            <a:pPr algn="l" indent="0" marL="0">
              <a:buNone/>
            </a:pPr>
            <a:endParaRPr lang="en-US" sz="1100" dirty="0"/>
          </a:p>
        </p:txBody>
      </p:sp>
      <p:sp>
        <p:nvSpPr>
          <p:cNvPr id="42" name="Text 39"/>
          <p:cNvSpPr txBox="1"/>
          <p:nvPr/>
        </p:nvSpPr>
        <p:spPr>
          <a:xfrm>
            <a:off x="6601968" y="4478731"/>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43" name="Text 40"/>
          <p:cNvSpPr txBox="1"/>
          <p:nvPr/>
        </p:nvSpPr>
        <p:spPr>
          <a:xfrm>
            <a:off x="566928" y="4478731"/>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linking words (‏</a:t>
            </a:r>
            <a:pPr algn="l" indent="0" marL="0">
              <a:buNone/>
            </a:pPr>
            <a:r>
              <a:rPr lang="ar-SA" altLang="en-US" sz="1450" dirty="0">
                <a:solidFill>
                  <a:srgbClr val="5A6472"/>
                </a:solidFill>
                <a:latin typeface="Amiri" pitchFamily="2" charset="-78"/>
                <a:ea typeface="Amiri" pitchFamily="2" charset="-78"/>
                <a:cs typeface="Amiri" pitchFamily="2" charset="-78"/>
              </a:rPr>
              <a:t>وَ</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ثُمَّ</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لِأَنَّ</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لٰكِنَّ</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8796528" y="5215738"/>
            <a:ext cx="2862072" cy="682142"/>
          </a:xfrm>
          <a:prstGeom prst="rect">
            <a:avLst/>
          </a:prstGeom>
          <a:noFill/>
          <a:ln/>
        </p:spPr>
        <p:txBody>
          <a:bodyPr wrap="square" lIns="0" tIns="0" rIns="0" bIns="0" rtlCol="0" anchor="ctr"/>
          <a:lstStyle/>
          <a:p>
            <a:pPr algn="l" indent="0" marL="0">
              <a:buNone/>
            </a:pPr>
            <a:endParaRPr lang="en-US" sz="1100" dirty="0"/>
          </a:p>
        </p:txBody>
      </p:sp>
      <p:sp>
        <p:nvSpPr>
          <p:cNvPr id="46" name="Text 43"/>
          <p:cNvSpPr txBox="1"/>
          <p:nvPr/>
        </p:nvSpPr>
        <p:spPr>
          <a:xfrm>
            <a:off x="7882128" y="5215738"/>
            <a:ext cx="731520" cy="682142"/>
          </a:xfrm>
          <a:prstGeom prst="rect">
            <a:avLst/>
          </a:prstGeom>
          <a:noFill/>
          <a:ln/>
        </p:spPr>
        <p:txBody>
          <a:bodyPr wrap="square" lIns="0" tIns="0" rIns="0" bIns="0" rtlCol="0" anchor="ctr"/>
          <a:lstStyle/>
          <a:p>
            <a:pPr algn="l" indent="0" marL="0">
              <a:buNone/>
            </a:pPr>
            <a:endParaRPr lang="en-US" sz="1100" dirty="0"/>
          </a:p>
        </p:txBody>
      </p:sp>
      <p:sp>
        <p:nvSpPr>
          <p:cNvPr id="47" name="Text 44"/>
          <p:cNvSpPr txBox="1"/>
          <p:nvPr/>
        </p:nvSpPr>
        <p:spPr>
          <a:xfrm>
            <a:off x="6601968" y="521573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Stretch</a:t>
            </a:r>
            <a:endParaRPr lang="en-US" sz="1100" dirty="0"/>
          </a:p>
        </p:txBody>
      </p:sp>
      <p:sp>
        <p:nvSpPr>
          <p:cNvPr id="48" name="Text 45"/>
          <p:cNvSpPr txBox="1"/>
          <p:nvPr/>
        </p:nvSpPr>
        <p:spPr>
          <a:xfrm>
            <a:off x="566928" y="521573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more than one tense and give an opinion with a reason?</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Give back: one thing that went well + one thing to improve. The writer fixes ONE thing straight away.</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24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D1-W03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ROLE-PLAY CARD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Role-play card: compare with a strong answer</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D1-W03 · Apply workshop (D1-L05 + D1-L06)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782312" y="1810512"/>
            <a:ext cx="6876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 strong answer (with English)</a:t>
            </a:r>
            <a:endParaRPr lang="en-US" sz="1100" dirty="0"/>
          </a:p>
        </p:txBody>
      </p:sp>
      <p:sp>
        <p:nvSpPr>
          <p:cNvPr id="17" name="Text 14"/>
          <p:cNvSpPr txBox="1"/>
          <p:nvPr/>
        </p:nvSpPr>
        <p:spPr>
          <a:xfrm>
            <a:off x="1033272"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reads</a:t>
            </a:r>
            <a:endParaRPr lang="en-US" sz="1100" dirty="0"/>
          </a:p>
        </p:txBody>
      </p:sp>
      <p:sp>
        <p:nvSpPr>
          <p:cNvPr id="18" name="Text 15"/>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4800600" y="2286000"/>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أَسْتَرِيحُ لِمُدَّةِ عِشْرِينَ دَقِيقَةً، ثُمَّ آكُلُ وَجْبَةً خَفِيفَةً.</a:t>
            </a:r>
            <a:endParaRPr lang="ar-SA" sz="1800" dirty="0"/>
          </a:p>
        </p:txBody>
      </p:sp>
      <p:sp>
        <p:nvSpPr>
          <p:cNvPr id="21" name="Text 18"/>
          <p:cNvSpPr txBox="1"/>
          <p:nvPr/>
        </p:nvSpPr>
        <p:spPr>
          <a:xfrm>
            <a:off x="4754880" y="267699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rest for twenty minutes, then I eat a snack.</a:t>
            </a:r>
            <a:endParaRPr lang="en-US" sz="950" dirty="0"/>
          </a:p>
        </p:txBody>
      </p:sp>
      <p:sp>
        <p:nvSpPr>
          <p:cNvPr id="22" name="Text 19"/>
          <p:cNvSpPr txBox="1"/>
          <p:nvPr/>
        </p:nvSpPr>
        <p:spPr>
          <a:xfrm>
            <a:off x="1051560" y="2267712"/>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مَاذَا تَفْعَلُ عِنْدَمَا تَرْجِعُ إِلَى البَيْتِ؟</a:t>
            </a:r>
            <a:endParaRPr lang="ar-SA" sz="1600" dirty="0"/>
          </a:p>
        </p:txBody>
      </p:sp>
      <p:sp>
        <p:nvSpPr>
          <p:cNvPr id="23" name="Text 20"/>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4" name="Shape 21"/>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5" name="Text 22"/>
          <p:cNvSpPr txBox="1"/>
          <p:nvPr/>
        </p:nvSpPr>
        <p:spPr>
          <a:xfrm>
            <a:off x="4800600" y="3023006"/>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لِكَيْ أَفْهَمَ الدَّرْسَ جَيِّدًا، وَحَتَّى لَا أَنْسَى الكَلِمَاتِ.</a:t>
            </a:r>
            <a:endParaRPr lang="ar-SA" sz="1800" dirty="0"/>
          </a:p>
        </p:txBody>
      </p:sp>
      <p:sp>
        <p:nvSpPr>
          <p:cNvPr id="26" name="Text 23"/>
          <p:cNvSpPr txBox="1"/>
          <p:nvPr/>
        </p:nvSpPr>
        <p:spPr>
          <a:xfrm>
            <a:off x="4754880" y="3414004"/>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So that I understand the lesson well, and so that I don’t forget the words.</a:t>
            </a:r>
            <a:endParaRPr lang="en-US" sz="950" dirty="0"/>
          </a:p>
        </p:txBody>
      </p:sp>
      <p:sp>
        <p:nvSpPr>
          <p:cNvPr id="27" name="Text 24"/>
          <p:cNvSpPr txBox="1"/>
          <p:nvPr/>
        </p:nvSpPr>
        <p:spPr>
          <a:xfrm>
            <a:off x="1051560" y="3004718"/>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لِمَاذَا تُرَاجِعُ دُرُوسَكَ كُلَّ مَسَاءٍ؟</a:t>
            </a:r>
            <a:endParaRPr lang="ar-SA" sz="1600" dirty="0"/>
          </a:p>
        </p:txBody>
      </p:sp>
      <p:sp>
        <p:nvSpPr>
          <p:cNvPr id="28" name="Text 25"/>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29" name="Shape 26"/>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0" name="Text 27"/>
          <p:cNvSpPr txBox="1"/>
          <p:nvPr/>
        </p:nvSpPr>
        <p:spPr>
          <a:xfrm>
            <a:off x="4800600" y="3760013"/>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أُسَاعِدُ أُمِّي؛ أُرَتِّبُ المَائِدَةَ ثُمَّ أَغْسِلُهَا بَعْدَ العَشَاءِ.</a:t>
            </a:r>
            <a:endParaRPr lang="ar-SA" sz="1800" dirty="0"/>
          </a:p>
        </p:txBody>
      </p:sp>
      <p:sp>
        <p:nvSpPr>
          <p:cNvPr id="31" name="Text 28"/>
          <p:cNvSpPr txBox="1"/>
          <p:nvPr/>
        </p:nvSpPr>
        <p:spPr>
          <a:xfrm>
            <a:off x="4754880" y="4151010"/>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help my mother; I set the table and then clean it after dinner.</a:t>
            </a:r>
            <a:endParaRPr lang="en-US" sz="950" dirty="0"/>
          </a:p>
        </p:txBody>
      </p:sp>
      <p:sp>
        <p:nvSpPr>
          <p:cNvPr id="32" name="Text 29"/>
          <p:cNvSpPr txBox="1"/>
          <p:nvPr/>
        </p:nvSpPr>
        <p:spPr>
          <a:xfrm>
            <a:off x="1051560" y="3741725"/>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كَيْفَ تُسَاعِدُ أُسْرَتَكَ فِي المَسَاءِ؟</a:t>
            </a:r>
            <a:endParaRPr lang="ar-SA" sz="1600" dirty="0"/>
          </a:p>
        </p:txBody>
      </p:sp>
      <p:sp>
        <p:nvSpPr>
          <p:cNvPr id="33" name="Text 30"/>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4" name="Shape 31"/>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5" name="Text 32"/>
          <p:cNvSpPr txBox="1"/>
          <p:nvPr/>
        </p:nvSpPr>
        <p:spPr>
          <a:xfrm>
            <a:off x="4800600" y="4497019"/>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أَبِي يَرْجِعُ مِنْ عَمَلِهِ فِي السَّادِسَةِ، ثُمَّ يُصَلِّي وَيَقْرَأُ جَرِيدَتَهُ.</a:t>
            </a:r>
            <a:endParaRPr lang="ar-SA" sz="1800" dirty="0"/>
          </a:p>
        </p:txBody>
      </p:sp>
      <p:sp>
        <p:nvSpPr>
          <p:cNvPr id="36" name="Text 33"/>
          <p:cNvSpPr txBox="1"/>
          <p:nvPr/>
        </p:nvSpPr>
        <p:spPr>
          <a:xfrm>
            <a:off x="4754880" y="488801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My father comes back from his work at six, then he prays and reads his newspaper.</a:t>
            </a:r>
            <a:endParaRPr lang="en-US" sz="950" dirty="0"/>
          </a:p>
        </p:txBody>
      </p:sp>
      <p:sp>
        <p:nvSpPr>
          <p:cNvPr id="37" name="Text 34"/>
          <p:cNvSpPr txBox="1"/>
          <p:nvPr/>
        </p:nvSpPr>
        <p:spPr>
          <a:xfrm>
            <a:off x="1051560" y="4478731"/>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صِفْ مَسَاءَ شَخْصٍ آخَرَ فِي أُسْرَتِكَ.</a:t>
            </a:r>
            <a:endParaRPr lang="ar-SA" sz="1600" dirty="0"/>
          </a:p>
        </p:txBody>
      </p:sp>
      <p:sp>
        <p:nvSpPr>
          <p:cNvPr id="38" name="Text 35"/>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4800600" y="5234026"/>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مَسَائِي أَكْثَرُ تَوَازُنًا، لِأَنِّي أَسْتَرِيحُ وَأَدْرُسُ، بَيْنَمَا أَبِي يَعْمَلُ كَثِيرًا.</a:t>
            </a:r>
            <a:endParaRPr lang="ar-SA" sz="1800" dirty="0"/>
          </a:p>
        </p:txBody>
      </p:sp>
      <p:sp>
        <p:nvSpPr>
          <p:cNvPr id="41" name="Text 38"/>
          <p:cNvSpPr txBox="1"/>
          <p:nvPr/>
        </p:nvSpPr>
        <p:spPr>
          <a:xfrm>
            <a:off x="4754880" y="5625023"/>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My evening is more balanced, because I rest and study, whereas my father works a lot.</a:t>
            </a:r>
            <a:endParaRPr lang="en-US" sz="950" dirty="0"/>
          </a:p>
        </p:txBody>
      </p:sp>
      <p:sp>
        <p:nvSpPr>
          <p:cNvPr id="42" name="Text 39"/>
          <p:cNvSpPr txBox="1"/>
          <p:nvPr/>
        </p:nvSpPr>
        <p:spPr>
          <a:xfrm>
            <a:off x="1051560" y="5215738"/>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مَسَاؤُكَ أَمْ مَسَاؤُهُ: أَيُّهُمَا أَكْثَرُ تَوَازُنًا؟</a:t>
            </a:r>
            <a:endParaRPr lang="ar-SA" sz="1600" dirty="0"/>
          </a:p>
        </p:txBody>
      </p:sp>
      <p:sp>
        <p:nvSpPr>
          <p:cNvPr id="43" name="Text 40"/>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4" name="Text 4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Did you answer every task in a full sentence? Find one phrase from each lesson in the models and say it aloud.</a:t>
            </a:r>
            <a:endParaRPr lang="en-US" sz="11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24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D1-W03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WRITE YOUR TEXT · A STRONG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Writing: compare with a strong answer</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D1-W03 · Apply workshop (D1-L05 + D1-L06)</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550" dirty="0">
                <a:solidFill>
                  <a:srgbClr val="1F2A37"/>
                </a:solidFill>
                <a:latin typeface="Amiri" pitchFamily="2" charset="-78"/>
                <a:ea typeface="Amiri" pitchFamily="2" charset="-78"/>
                <a:cs typeface="Amiri" pitchFamily="2" charset="-78"/>
              </a:rPr>
              <a:t>بَعْدَ المَدْرَسَةِ أَسْتَرِيحُ لِمُدَّةِ نِصْفِ سَاعَةٍ، ثُمَّ أُرَاجِعُ دُرُوسِي لِمُدَّةِ سَاعَةٍ لِكَيْ أَسْتَعِدَّ لِلْغَدِ. فِي المَسَاءِ أُسَاعِدُ أُمِّي؛ أُرَتِّبُ المَائِدَةَ ثُمَّ أَغْسِلُ الصُّحُونَ. أُخْتِي الكُبْرَى تَرْجِعُ مِنْ جَامِعَتِهَا فِي الخَامِسَةِ، ثُمَّ تَدْرُسُ فِي غُرْفَتِهَا وَتَتَكَلَّمُ مَعَ صَدِيقَاتِهَا. هِيَ تَنَامُ فِي الحَادِيَةَ عَشْرَةَ، بَيْنَمَا أَنَا أَنَامُ فِي التَّاسِعَةِ وَالنِّصْفِ. فِي رَأْيِي مَسَائِي أَكْثَرُ تَوَازُنًا، لِأَنِّي أَسْتَرِيحُ وَأَنَامُ مُبَكِّرًا، لٰكِنَّ أُخْتِي تَعْمَلُ أَكْثَرَ مِنِّي لِأَنَّ دِرَاسَتَهَا صَعْبَةٌ.</a:t>
            </a:r>
            <a:endParaRPr lang="ar-SA" sz="25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“After school I rest for half an hour, then I revise my lessons for an hour so that I am ready for tomorrow. In the evening I help my mother; I set the table and then wash the dishes. My older sister comes back from her university at five, then she studies in her room and talks with her friends. She sleeps at eleven, whereas I sleep at half past nine. In my opinion my evening is more balanced, because I rest and sleep early, but my sister works more than me because her studies are difficult.”</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لِمُدَّةِ نِصْفِ سَاعَةٍ</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لِكَيْ أَسْتَعِدَّ</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مِنْ جَامِعَتِهَا</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بَيْنَمَا أَنَا أَنَامُ</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24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D1-W03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D1-W03 · Apply workshop (D1-L05 + D1-L06)</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answered questions from D1-L05 and D1-L06 in full sentences.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wrote a sentence for every bullet point.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language from BOTH lessons when I spoke and when I wrote.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buddy checked my text and I fixed one mistake.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more than one tense and gave opinions with reasons.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24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D1-W03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you used two lessons together!</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800" b="1" dirty="0">
                <a:solidFill>
                  <a:srgbClr val="FFFFFF"/>
                </a:solidFill>
                <a:latin typeface="Cambria" pitchFamily="34" charset="0"/>
                <a:cs typeface="Amiri" pitchFamily="2" charset="-78"/>
              </a:rPr>
              <a:t>D1-L07 · Asking About Daily Routine — What Do You Do?</a:t>
            </a:r>
            <a:endParaRPr lang="en-US" sz="1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السُّؤَالُ عَنِ الرُّوتِينِ اليَوْمِيِّ — مَاذَا تَفْعَلُ؟</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keep using this week’s language — say it, then write it.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D1-W03 · Apply Workshop — My Evening and My Sister’s Evening</dc:title>
  <dc:subject>PptxGenJS Presentation</dc:subject>
  <dc:creator>Al Madina Online School · Arabic Department</dc:creator>
  <cp:lastModifiedBy>Al Madina Online School · Arabic Department</cp:lastModifiedBy>
  <cp:revision>1</cp:revision>
  <dcterms:created xsi:type="dcterms:W3CDTF">2026-10-26T15:47:51Z</dcterms:created>
  <dcterms:modified xsi:type="dcterms:W3CDTF">2026-10-26T15:47:51Z</dcterms:modified>
</cp:coreProperties>
</file>