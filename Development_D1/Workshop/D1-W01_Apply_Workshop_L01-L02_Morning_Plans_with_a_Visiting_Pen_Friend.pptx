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D1-L01 · Learn D1-L02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D1-L01 (My Morning Routine) and D1-L02 (Telling the Time — What Time Is It?).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D1-L01 and D1-L02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D1-L01? After D1-L02?” Take two answers in the chat for each lesson (one word or one sentence is enough). Then read objective 3 — today’s new situation that needs BOTH lessons. Students tick their route goals at the end of the lesson.
D1-L01 language: present-tense “I” verbs (a- / u-); sequencing (awwalan · thumma · baʿda dhālika); times (fī al-sāʿati …); “he / she” forms for Stretch
D1-L02 language: kami al-sāʿatu?; al-sāʿatu + feminine ordinal + wa-l-rubʿ / wa-l-niṣf / wa-l-thulth / illā al-rubʿa; yabdaʾu / yantahī fī …; yastamirru … (lasts); 24-hour times on timetables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D1-L01 and D1-L02. Teacher reads it once with a confident student; then pairs. Ask: “Which lines are from D1-L01? Which from D1-L02?” The morning sequence (أَسْتَيْقِظُ · أُصَلِّي · نَخْرُجُ) comes from D1-L01; feminine ordinals with fractions (السَّابِعَةِ إِلَّا الرُّبْعَ · وَالثُّلُثِ) and يَسْتَمِرُّ from D1-L02.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morning actions in sequence and opinions (D1-L01) with exact times, fractions of the hour and durations (D1-L02). FADED SUPPORT: tasks 1–2 show the plan; students write their own plan for 3–5. To a girl Partner A says: مَتَى تَسْتَيْقِظِينَ؟ · هَلْ تُحِبِّينَ الصَّبَاحَ؟.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D1-L01 and D1-L02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D1-L01 and D1-L02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CHECK YOURSELF (2 min). Find each bullet point in the model, and one phrase from D1-L01 and one from D1-L02.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D1-L01 + D1-L02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Morning Plans with a Visiting Pen-Friend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صَبَاحٌ مَعَ صَدِيقِي الزَّائِرِ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the morning routine with precise clock times: a pen-friend from Morocco is staying for a week, so they plan the school morning minute by minute — waking, praying, breakfast, travel, the first lesson — with fractions of the hour and durations, then write a morning plan for the guest.</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D1-L01 + D1-L02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D1-L01 and D1-L02.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D1-L01 + D1-L02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D1-L01: My Morning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D1-L02: Telling the Time — What Time Is 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guest’s first morning · A morning plan for our guest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D1-L01 and D1-L02.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D1-L01 · My Morning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أَتَوَضَّأُ</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perform wudu</a:t>
            </a:r>
            <a:endParaRPr lang="en-US" sz="1350" dirty="0"/>
          </a:p>
          <a:p>
            <a:pPr indent="0" marL="0">
              <a:buNone/>
            </a:pPr>
            <a:r>
              <a:rPr lang="en-US" sz="1100" i="1" dirty="0">
                <a:solidFill>
                  <a:srgbClr val="5A6472"/>
                </a:solidFill>
                <a:latin typeface="Calibri" pitchFamily="34" charset="0"/>
                <a:cs typeface="Amiri" pitchFamily="2" charset="-78"/>
              </a:rPr>
              <a:t>a-ta-waḍ-ḍa-ʾu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أُنَظِّفُ أَسْنَانِي</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brush my teeth</a:t>
            </a:r>
            <a:endParaRPr lang="en-US" sz="1350" dirty="0"/>
          </a:p>
          <a:p>
            <a:pPr indent="0" marL="0">
              <a:buNone/>
            </a:pPr>
            <a:r>
              <a:rPr lang="en-US" sz="1100" i="1" dirty="0">
                <a:solidFill>
                  <a:srgbClr val="5A6472"/>
                </a:solidFill>
                <a:latin typeface="Calibri" pitchFamily="34" charset="0"/>
                <a:cs typeface="Amiri" pitchFamily="2" charset="-78"/>
              </a:rPr>
              <a:t>u-naẓ-ẓi-fu as-nā-nī</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leave the house</a:t>
            </a:r>
            <a:endParaRPr lang="en-US" sz="1350" dirty="0"/>
          </a:p>
          <a:p>
            <a:pPr indent="0" marL="0">
              <a:buNone/>
            </a:pPr>
            <a:r>
              <a:rPr lang="en-US" sz="1100" i="1" dirty="0">
                <a:solidFill>
                  <a:srgbClr val="5A6472"/>
                </a:solidFill>
                <a:latin typeface="Calibri" pitchFamily="34" charset="0"/>
                <a:cs typeface="Amiri" pitchFamily="2" charset="-78"/>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المَدْرَسَةِ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al-mad-ra-sa-ti</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D1-L02 · Telling the Time — What Time Is It?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7" name="Text 44"/>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50" name="Text 47"/>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التَّاسِعَةِ وَالرُّبْعِ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يَبْدَأُ فِي … وَيَنْتَهِي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وَأَشْرَبُ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 تَسْتَمِرُّ سَاعَةً وَنِصْفًا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حُرٌّ / حُرَّةٌ مِنَ … إِلَى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الصَّبَاحُ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D1-L01 · My Morning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D1-L02 · Telling the Time — What Time Is It?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D1-L01 · My Morning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وَأَشْرَبُ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الصَّبَاحُ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D1-L02 · Telling the Time — What Time Is It?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التَّاسِعَةِ وَالرُّبْعِ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يَبْدَأُ فِي … وَيَنْتَهِي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 تَسْتَمِرُّ سَاعَةً وَنِصْفًا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حُرٌّ / حُرَّةٌ مِنَ … إِلَى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time do we get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نَسْتَيْقِظُ؟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do we get up tomorrow?</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مَتَى نَسْتَيْقِظُ غَدًا؟</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usually wake up at half past six, then I pray Fajr.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أَسْتَيْقِظُ عَادَةً فِي السَّادِسَةِ وَالنِّصْفِ، ثُمَّ أُصَلِّي الفَجْرَ.</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when do we have breakfast?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وَمَتَى نَتَنَاوَلُ الفُطُورَ؟</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 quarter to seven. Breakfast lasts about twenty minutes.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السَّابِعَةِ إِلَّا الرُّبْعَ. يَسْتَمِرُّ الفُطُورُ عِشْرِينَ دَقِيقَةً تَقْرِيبًا.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do we go to school?</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نَذْهَبُ إِلَى المَدْرَسَةِ؟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leave at twenty past seven and go by bus, because the first lesson starts at eight.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نَخْرُجُ فِي السَّابِعَةِ وَالثُّلُثِ وَنَذْهَبُ بِالحَافِلَةِ، لِأَنَّ الحِصَّةَ الأُولَى تَبْدَأُ فِي الثَّامِنَةِ.</a:t>
            </a:r>
            <a:endParaRPr lang="ar-SA" sz="16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المَدْرَسَةَ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أَسْتَيْقِظُ فِي السَّاعَةِ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 on Monday?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الإِثْنَيْنِ؟</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تَقْرِيبًا</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السَّاعَةُ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is it now?</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السَّاعَةُ الآنَ؟</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 وَبَعْدَ ذٰلِكَ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أَوَّلًا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first?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أَوَّلًا؟</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أَيْ يَسْتَمِرُّ … سَاعَاتٍ</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يَبْدَأُ فِي … وَيَنْتَهِي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your school day start and end?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يَبْدَأُ يَوْمُكَ المَدْرَسِيُّ وَمَتَى يَنْتَهِي؟</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لَذِيذٌ / صِحِّيٌّ</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 وَأَشْرَبُ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فِي الإِفْطَارِ؟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حِصَّةَ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تَسْتَمِرُّ … دَقِيقَةً</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a lesson last?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تَسْتَمِرُّ الحِصَّةُ؟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D1-L01, even numbers from D1-L02.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guest’s first morning</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الصَّبَاحُ الأَوَّلُ لِلضَّيْفِ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أَسْتَيْقِظُ فِي … ، وَأَوَّلًا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exact time and your first action.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المَدْرَسَةِ؟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يَسْتَمِرُّ … ، آكُلُ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duration and what you eat.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يَسْتَمِرُّ الفُطُورُ عِنْدَكُمْ؟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time with a fraction and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نَخْرُجُ مِنَ البَيْتِ؟ وَلِمَاذَا فِي هٰذَا الوَقْتِ؟</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finish and duration.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تَبْدَأُ الحِصَّةُ الأُولَى وَمَتَى تَنْتَهِي؟</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with a reason and a contrast.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الصَّبَاحَ؟ لِمَاذَا؟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host · Partner A = the visiting pen-friend.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morning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صَبَاحِي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your school-day morning, from waking up to the first lesson: at least five actions in order, four exact times (one with ‏</a:t>
            </a:r>
            <a:pPr algn="l" indent="0" marL="0">
              <a:buNone/>
            </a:pPr>
            <a:r>
              <a:rPr lang="ar-SA" altLang="en-US" sz="1750" dirty="0">
                <a:solidFill>
                  <a:srgbClr val="1F2A37"/>
                </a:solidFill>
                <a:latin typeface="Amiri" pitchFamily="2" charset="-78"/>
                <a:ea typeface="Amiri" pitchFamily="2" charset="-78"/>
                <a:cs typeface="Amiri" pitchFamily="2" charset="-78"/>
              </a:rPr>
              <a:t>إِلَّا</a:t>
            </a:r>
            <a:pPr algn="l" indent="0" marL="0">
              <a:buNone/>
            </a:pPr>
            <a:r>
              <a:rPr lang="en-US" sz="1350" dirty="0">
                <a:solidFill>
                  <a:srgbClr val="1F2A37"/>
                </a:solidFill>
                <a:latin typeface="Calibri" pitchFamily="34" charset="0"/>
                <a:cs typeface="Amiri" pitchFamily="2" charset="-78"/>
              </a:rPr>
              <a:t>‏, one with ‏</a:t>
            </a:r>
            <a:pPr algn="l" indent="0" marL="0">
              <a:buNone/>
            </a:pPr>
            <a:r>
              <a:rPr lang="ar-SA" altLang="en-US" sz="1750" dirty="0">
                <a:solidFill>
                  <a:srgbClr val="1F2A37"/>
                </a:solidFill>
                <a:latin typeface="Amiri" pitchFamily="2" charset="-78"/>
                <a:ea typeface="Amiri" pitchFamily="2" charset="-78"/>
                <a:cs typeface="Amiri" pitchFamily="2" charset="-78"/>
              </a:rPr>
              <a:t>وَالثُّلُثِ</a:t>
            </a:r>
            <a:pPr algn="l" indent="0" marL="0">
              <a:buNone/>
            </a:pPr>
            <a:r>
              <a:rPr lang="en-US" sz="1350" dirty="0">
                <a:solidFill>
                  <a:srgbClr val="1F2A37"/>
                </a:solidFill>
                <a:latin typeface="Calibri" pitchFamily="34" charset="0"/>
                <a:cs typeface="Amiri" pitchFamily="2" charset="-78"/>
              </a:rPr>
              <a:t>‏ or ‏</a:t>
            </a:r>
            <a:pPr algn="l" indent="0" marL="0">
              <a:buNone/>
            </a:pPr>
            <a:r>
              <a:rPr lang="ar-SA" altLang="en-US" sz="1750" dirty="0">
                <a:solidFill>
                  <a:srgbClr val="1F2A37"/>
                </a:solidFill>
                <a:latin typeface="Amiri" pitchFamily="2" charset="-78"/>
                <a:ea typeface="Amiri" pitchFamily="2" charset="-78"/>
                <a:cs typeface="Amiri" pitchFamily="2" charset="-78"/>
              </a:rPr>
              <a:t>وَالرُّبْعِ</a:t>
            </a:r>
            <a:pPr algn="l" indent="0" marL="0">
              <a:buNone/>
            </a:pPr>
            <a:r>
              <a:rPr lang="en-US" sz="1350" dirty="0">
                <a:solidFill>
                  <a:srgbClr val="1F2A37"/>
                </a:solidFill>
                <a:latin typeface="Calibri" pitchFamily="34" charset="0"/>
                <a:cs typeface="Amiri" pitchFamily="2" charset="-78"/>
              </a:rPr>
              <a:t>‏), one duration and your opinion of mornings with a reason.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 · ثُمَّ … · أَذْهَبُ إِلَى المَدْرَسَةِ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fractions of the hour and a duration: ‏</a:t>
            </a:r>
            <a:pPr algn="l" indent="0" marL="0">
              <a:buNone/>
            </a:pPr>
            <a:r>
              <a:rPr lang="ar-SA" altLang="en-US" sz="1500" dirty="0">
                <a:solidFill>
                  <a:srgbClr val="1F2A37"/>
                </a:solidFill>
                <a:latin typeface="Amiri" pitchFamily="2" charset="-78"/>
                <a:ea typeface="Amiri" pitchFamily="2" charset="-78"/>
                <a:cs typeface="Amiri" pitchFamily="2" charset="-78"/>
              </a:rPr>
              <a:t>يَسْتَمِرُّ / تَسْتَمِرُّ</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“he / she” for one family member and a contrast: ‏</a:t>
            </a:r>
            <a:pPr algn="l" indent="0" marL="0">
              <a:buNone/>
            </a:pPr>
            <a:r>
              <a:rPr lang="ar-SA" altLang="en-US" sz="1500" dirty="0">
                <a:solidFill>
                  <a:srgbClr val="1F2A37"/>
                </a:solidFill>
                <a:latin typeface="Amiri" pitchFamily="2" charset="-78"/>
                <a:ea typeface="Amiri" pitchFamily="2" charset="-78"/>
                <a:cs typeface="Amiri" pitchFamily="2" charset="-78"/>
              </a:rPr>
              <a:t>أَمَّا أَخِي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wake up at six o’clock.</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أَسْتَيْقِظُ</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يَسْتَيْقِظُ</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السَّاعَةِ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السَّاعَةُ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السَّادِسَةِ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سِتَّةٌ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lesson starts at twenty past ten.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الحِصَّةُ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الحِصَّةُ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العَاشِرَةِ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عَشَرَةٍ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وَالثُّلُثِ.</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إِلَّا الثُّلُثَ.</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First I shower, then I get dressed.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أَوَّلًا أَغْتَسِلُ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أَوَّلًا تَغْتَسِلُ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أَرْتَدِي مَلَابِسِي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يَرْتَدِي مَلَابِسَهُ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wake up at six o’clock.</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a:t>
            </a:r>
            <a:pPr algn="l" indent="0" marL="0">
              <a:buNone/>
            </a:pPr>
            <a:r>
              <a:rPr lang="ar-SA" altLang="en-US" sz="1350" dirty="0">
                <a:solidFill>
                  <a:srgbClr val="5A6472"/>
                </a:solidFill>
                <a:latin typeface="Amiri" pitchFamily="2" charset="-78"/>
                <a:ea typeface="Amiri" pitchFamily="2" charset="-78"/>
                <a:cs typeface="Amiri" pitchFamily="2" charset="-78"/>
              </a:rPr>
              <a:t>أَسْتَيْقِظُ</a:t>
            </a:r>
            <a:pPr algn="l" indent="0" marL="0">
              <a:buNone/>
            </a:pPr>
            <a:r>
              <a:rPr lang="en-US" sz="1050" i="1" dirty="0">
                <a:solidFill>
                  <a:srgbClr val="5A6472"/>
                </a:solidFill>
                <a:latin typeface="Calibri" pitchFamily="34" charset="0"/>
                <a:cs typeface="Amiri" pitchFamily="2" charset="-78"/>
              </a:rPr>
              <a:t>; the time = </a:t>
            </a:r>
            <a:pPr algn="l" indent="0" marL="0">
              <a:buNone/>
            </a:pPr>
            <a:r>
              <a:rPr lang="ar-SA" altLang="en-US" sz="1350" dirty="0">
                <a:solidFill>
                  <a:srgbClr val="5A6472"/>
                </a:solidFill>
                <a:latin typeface="Amiri" pitchFamily="2" charset="-78"/>
                <a:ea typeface="Amiri" pitchFamily="2" charset="-78"/>
                <a:cs typeface="Amiri" pitchFamily="2" charset="-78"/>
              </a:rPr>
              <a:t>فِي السَّاعَةِ</a:t>
            </a:r>
            <a:pPr algn="l" indent="0" marL="0">
              <a:buNone/>
            </a:pPr>
            <a:r>
              <a:rPr lang="en-US" sz="1050" i="1" dirty="0">
                <a:solidFill>
                  <a:srgbClr val="5A6472"/>
                </a:solidFill>
                <a:latin typeface="Calibri" pitchFamily="34" charset="0"/>
                <a:cs typeface="Amiri" pitchFamily="2" charset="-78"/>
              </a:rPr>
              <a:t> + feminine ordinal (</a:t>
            </a:r>
            <a:pPr algn="l" indent="0" marL="0">
              <a:buNone/>
            </a:pPr>
            <a:r>
              <a:rPr lang="ar-SA" altLang="en-US" sz="1350" dirty="0">
                <a:solidFill>
                  <a:srgbClr val="5A6472"/>
                </a:solidFill>
                <a:latin typeface="Amiri" pitchFamily="2" charset="-78"/>
                <a:ea typeface="Amiri" pitchFamily="2" charset="-78"/>
                <a:cs typeface="Amiri" pitchFamily="2" charset="-78"/>
              </a:rPr>
              <a:t>السَّادِسَةِ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أَسْتَيْقِظُ فِي السَّاعَةِ السَّادِسَةِ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lesson starts at twenty past ten.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حِصَّةٌ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تَبْدَأُ</a:t>
            </a:r>
            <a:pPr algn="l" indent="0" marL="0">
              <a:buNone/>
            </a:pPr>
            <a:r>
              <a:rPr lang="en-US" sz="1050" i="1" dirty="0">
                <a:solidFill>
                  <a:srgbClr val="5A6472"/>
                </a:solidFill>
                <a:latin typeface="Calibri" pitchFamily="34" charset="0"/>
                <a:cs typeface="Amiri" pitchFamily="2" charset="-78"/>
              </a:rPr>
              <a:t>; twenty past = </a:t>
            </a:r>
            <a:pPr algn="l" indent="0" marL="0">
              <a:buNone/>
            </a:pPr>
            <a:r>
              <a:rPr lang="ar-SA" altLang="en-US" sz="1350" dirty="0">
                <a:solidFill>
                  <a:srgbClr val="5A6472"/>
                </a:solidFill>
                <a:latin typeface="Amiri" pitchFamily="2" charset="-78"/>
                <a:ea typeface="Amiri" pitchFamily="2" charset="-78"/>
                <a:cs typeface="Amiri" pitchFamily="2" charset="-78"/>
              </a:rPr>
              <a:t>وَالثُّلُثِ</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تَبْدَأُ الحِصَّةُ فِي العَاشِرَةِ وَالثُّلُثِ.</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First I shower, then I get dressed.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verbs are “I” verbs (a-); then = </a:t>
            </a:r>
            <a:pPr algn="l" indent="0" marL="0">
              <a:buNone/>
            </a:pPr>
            <a:r>
              <a:rPr lang="ar-SA" altLang="en-US" sz="1350" dirty="0">
                <a:solidFill>
                  <a:srgbClr val="5A6472"/>
                </a:solidFill>
                <a:latin typeface="Amiri" pitchFamily="2" charset="-78"/>
                <a:ea typeface="Amiri" pitchFamily="2" charset="-78"/>
                <a:cs typeface="Amiri" pitchFamily="2" charset="-78"/>
              </a:rPr>
              <a:t>ثُمَّ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أَوَّلًا أَغْتَسِلُ ثُمَّ أَرْتَدِي مَلَابِسِي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يَسْتَيْقِظُ فِي السَّابِعَةِ.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wakes up?</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ثَلَاثَةٌ وَالنِّصْفُ.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Clock times use the ordinal.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يَغْتَسِلُ فِي الصَّبَاحِ.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sister is a “she”.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يَسْتَيْقِظُ فِي السَّابِعَةِ.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أَسْتَيْقِظُ فِي السَّابِعَةِ.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verbs start with a- / u-: ‏</a:t>
            </a:r>
            <a:pPr algn="l" indent="0" marL="0">
              <a:buNone/>
            </a:pPr>
            <a:r>
              <a:rPr lang="ar-SA" altLang="en-US" sz="1500" b="1" dirty="0">
                <a:solidFill>
                  <a:srgbClr val="1B3B6F"/>
                </a:solidFill>
                <a:latin typeface="Amiri" pitchFamily="2" charset="-78"/>
                <a:ea typeface="Amiri" pitchFamily="2" charset="-78"/>
                <a:cs typeface="Amiri" pitchFamily="2" charset="-78"/>
              </a:rPr>
              <a:t>أَسْتَيْقِظُ</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ثَلَاثَةٌ وَالنِّصْفُ.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الثَّالِثَةُ وَالنِّصْفُ.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ordinal: ‏</a:t>
            </a:r>
            <a:pPr algn="l" indent="0" marL="0">
              <a:buNone/>
            </a:pPr>
            <a:r>
              <a:rPr lang="ar-SA" altLang="en-US" sz="1500" b="1" dirty="0">
                <a:solidFill>
                  <a:srgbClr val="1B3B6F"/>
                </a:solidFill>
                <a:latin typeface="Amiri" pitchFamily="2" charset="-78"/>
                <a:ea typeface="Amiri" pitchFamily="2" charset="-78"/>
                <a:cs typeface="Amiri" pitchFamily="2" charset="-78"/>
              </a:rPr>
              <a:t>الثَّالِثَةُ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يَغْتَسِلُ فِي الصَّبَاحِ.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تَغْتَسِلُ فِي الصَّبَاحِ.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verbs start with ta-: ‏</a:t>
            </a:r>
            <a:pPr algn="l" indent="0" marL="0">
              <a:buNone/>
            </a:pPr>
            <a:r>
              <a:rPr lang="ar-SA" altLang="en-US" sz="1500" b="1" dirty="0">
                <a:solidFill>
                  <a:srgbClr val="1B3B6F"/>
                </a:solidFill>
                <a:latin typeface="Amiri" pitchFamily="2" charset="-78"/>
                <a:ea typeface="Amiri" pitchFamily="2" charset="-78"/>
                <a:cs typeface="Amiri" pitchFamily="2" charset="-78"/>
              </a:rPr>
              <a:t>تَغْتَسِلُ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الصَّبَاحُ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morning is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نَصِيحَتِي 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tip for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أُمِّي 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mother, she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______ ، وَأَوَّلًا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 and first I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نَتَنَاوَلُ الفُطُورَ فِي ______ ، وَيَسْتَمِرُّ ______ .</a:t>
            </a:r>
            <a:endParaRPr lang="ar-SA" sz="16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have breakfast at …, and it lasts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نَخْرُجُ فِي ______ وَنَذْهَبُ ______ لِأَنَّ ______ .</a:t>
            </a:r>
            <a:endParaRPr lang="ar-SA" sz="165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leave at … and go … because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تَبْدَأُ الحِصَّةُ الأُولَى فِي ______ وَتَنْتَهِي فِي ______ .</a:t>
            </a:r>
            <a:endParaRPr lang="ar-SA" sz="145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starts at … and ends at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أُصَلِّي  ·  أَغْسِلُ · أَلْبَسُ  ·  أَتَنَاوَلُ الفُطُورَ  ·  وَالرُّبْعِ · وَالثُّلُثِ · وَالنِّصْفِ  ·  إِلَّا الرُّبْعَ  ·  يَسْتَمِرُّ · تَسْتَمِرُّ  ·  أَوَّلًا · ثُمَّ · بَعْدَ ذٰلِكَ  ·  لِأَنَّ · لٰكِنَّ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plan for our guest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الصَّبَاحِ لِضَيْفِنَا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Write a message (about 60–80 words) for your pen-friend, explaining the plan for a school morning during the visit. Include: • when you wake up and what you do first • breakfast: when, what and how long it lasts • when and how you leave for school, with a reason • when the first lesson starts and ends • at least five exact times (with fractions) • your opinion of mornings and one tip for the guest.</a:t>
            </a:r>
            <a:endParaRPr lang="en-US" sz="10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D1-L01 AND D1-L02.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 ، وَأَوَّلًا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at … and first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 · وَالثُّلُثِ</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quarter to seven · twenty past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الفُطُورُ … دَقِيقَةً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breakfast lasts … minutes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نَخْرُجُ فِي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leave at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“I” verbs that start with a- / u- (‏</a:t>
            </a:r>
            <a:pPr algn="l" indent="0" marL="0">
              <a:buNone/>
            </a:pPr>
            <a:r>
              <a:rPr lang="ar-SA" altLang="en-US" sz="1450" dirty="0">
                <a:solidFill>
                  <a:srgbClr val="5A6472"/>
                </a:solidFill>
                <a:latin typeface="Amiri" pitchFamily="2" charset="-78"/>
                <a:ea typeface="Amiri" pitchFamily="2" charset="-78"/>
                <a:cs typeface="Amiri" pitchFamily="2" charset="-78"/>
              </a:rPr>
              <a:t>أَسْتَيْقِظُ</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أُصَلِّي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fractions (‏</a:t>
            </a:r>
            <a:pPr algn="l" indent="0" marL="0">
              <a:buNone/>
            </a:pPr>
            <a:r>
              <a:rPr lang="ar-SA" altLang="en-US" sz="1450" dirty="0">
                <a:solidFill>
                  <a:srgbClr val="5A6472"/>
                </a:solidFill>
                <a:latin typeface="Amiri" pitchFamily="2" charset="-78"/>
                <a:ea typeface="Amiri" pitchFamily="2" charset="-78"/>
                <a:cs typeface="Amiri" pitchFamily="2" charset="-78"/>
              </a:rPr>
              <a:t>وَالثُّلُثُ</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إِلَّا الرُّبْعَ</a:t>
            </a:r>
            <a:pPr algn="l" indent="0" marL="0">
              <a:buNone/>
            </a:pPr>
            <a:r>
              <a:rPr lang="en-US" sz="1100" dirty="0">
                <a:solidFill>
                  <a:srgbClr val="5A6472"/>
                </a:solidFill>
                <a:latin typeface="Calibri" pitchFamily="34" charset="0"/>
                <a:cs typeface="Amiri" pitchFamily="2" charset="-78"/>
              </a:rPr>
              <a:t>‏) and durations (‏</a:t>
            </a:r>
            <a:pPr algn="l" indent="0" marL="0">
              <a:buNone/>
            </a:pPr>
            <a:r>
              <a:rPr lang="ar-SA" altLang="en-US" sz="1450" dirty="0">
                <a:solidFill>
                  <a:srgbClr val="5A6472"/>
                </a:solidFill>
                <a:latin typeface="Amiri" pitchFamily="2" charset="-78"/>
                <a:ea typeface="Amiri" pitchFamily="2" charset="-78"/>
                <a:cs typeface="Amiri" pitchFamily="2" charset="-78"/>
              </a:rPr>
              <a:t>يَسْتَمِرُّ</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السَّادِسَةِ وَالرُّبْعِ، وَأَوَّلًا أَغْسِلُ وَجْهِي وَأُصَلِّي.</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a quarter past six, and first I wash my face and pray.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تَسْتَيْقِظُ يَوْمَ المَدْرَسَةِ؟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يَسْتَمِرُّ رُبْعَ سَاعَةٍ؛ آكُلُ خُبْزًا وَبَيْضًا وَأَشْرَبُ الحَلِيبَ.</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lasts a quarter of an hour; I eat bread and eggs and drink milk.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يَسْتَمِرُّ الفُطُورُ عِنْدَكُمْ؟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نَخْرُجُ فِي السَّابِعَةِ وَالثُّلُثِ، لِأَنَّ الحَافِلَةَ تَأْتِي فِي السَّابِعَةِ وَالنِّصْفِ.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leave at twenty past seven, because the bus comes at half past seven.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نَخْرُجُ مِنَ البَيْتِ؟ وَلِمَاذَا فِي هٰذَا الوَقْتِ؟</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فِي الثَّامِنَةِ، وَتَنْتَهِي فِي التَّاسِعَةِ إِلَّا عَشْرَ دَقَائِقَ؛ تَسْتَمِرُّ خَمْسِينَ دَقِيقَةً.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starts at eight and ends at ten to nine; it lasts fifty minutes.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تَبْدَأُ الحِصَّةُ الأُولَى وَمَتَى تَنْتَهِي؟</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الاسْتِيقَاظَ مُبَكِّرًا، لٰكِنِّي أُحِبُّ الصَّبَاحَ لِأَنَّهُ هَادِئٌ.</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waking up early, but I like the morning because it is quiet.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تُحِبُّ الصَّبَاحَ؟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أَهْلًا يَا يُوسُفُ! فِي أَيَّامِ المَدْرَسَةِ أَسْتَيْقِظُ فِي السَّادِسَةِ وَالرُّبْعِ، وَأَوَّلًا أَغْسِلُ وَجْهِي وَأُصَلِّي الفَجْرَ. ثُمَّ نَتَنَاوَلُ الفُطُورَ فِي السَّابِعَةِ إِلَّا الرُّبْعَ، وَيَسْتَمِرُّ عِشْرِينَ دَقِيقَةً تَقْرِيبًا؛ عَادَةً آكُلُ خُبْزًا وَبَيْضًا. بَعْدَ ذٰلِكَ نَخْرُجُ فِي السَّابِعَةِ وَالثُّلُثِ وَنَذْهَبُ بِالحَافِلَةِ، لِأَنَّ المَدْرَسَةَ بَعِيدَةٌ. تَبْدَأُ الحِصَّةُ الأُولَى فِي الثَّامِنَةِ، وَتَنْتَهِي فِي التَّاسِعَةِ إِلَّا عَشْرَ دَقَائِقَ. فِي رَأْيِي الصَّبَاحُ صَعْبٌ قَلِيلًا، لٰكِنَّهُ هَادِئٌ وَجَمِيلٌ. نَصِيحَتِي لَكَ: نَمْ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On school days I wake up at a quarter past six, and first I wash my face and pray Fajr. Then we have breakfast at a quarter to seven, and it lasts about twenty minutes; I usually eat bread and eggs. After that we leave at twenty past seven and go by bus, because the school is far. The first lesson starts at eight and ends at ten to nine. In my opinion the morning is a little hard, but it is calm and lovely. My tip for you: go to bed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السَّادِسَةِ وَالرُّبْعِ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السَّابِعَةِ إِلَّا الرُّبْعَ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وَيَسْتَمِرُّ عِشْرِينَ دَقِيقَةً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المَدْرَسَةَ بَعِيدَةٌ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D1-W01 · Apply workshop (D1-L01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D1-L01 and D1-L02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D1-L03 · How Often? — Frequency Adverbs in My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مَرَّةً؟ — ظُرُوفُ التَّكْرَارِ فِي رُوتِينِي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D1-W01 · Apply Workshop — Morning Plans with a Visiting Pen-Friend</dc:title>
  <dc:subject>PptxGenJS Presentation</dc:subject>
  <dc:creator>Al Madina Online School · Arabic Department</dc:creator>
  <cp:lastModifiedBy>Al Madina Online School · Arabic Department</cp:lastModifiedBy>
  <cp:revision>1</cp:revision>
  <dcterms:created xsi:type="dcterms:W3CDTF">2026-10-26T15:26:26Z</dcterms:created>
  <dcterms:modified xsi:type="dcterms:W3CDTF">2026-10-26T15:26:26Z</dcterms:modified>
</cp:coreProperties>
</file>