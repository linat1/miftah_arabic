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D1-L09 · Learn D1-L10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D1-L09 (Reading Daily Routines and Weekly Schedules) and D1-L10 (Listening — Daily Routine and Time Details).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D1-L09 and D1-L10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D1-L09? After D1-L10?” Take two answers in the chat for each lesson (one word or one sentence is enough). Then read objective 3 — today’s new situation that needs BOTH lessons. Students tick their route goals at the end of the lesson.
D1-L09 language: reading a timetable: mawʿid al-badʾ · mawʿid al-intihāʾ · al-mudda; ḥasaba al-jadwal; 24-hour times; tracking WHO with prefixes and suffixes; matching numbers to events; turning a table into sentences
D1-L10 language: listening traps in routine texts: a time corrected after lākin / bal; negation (lā · laysa · lam); the person changing (ya- / ta- / na-); fractions of the hour; predicting the answer type before listening; checking on the second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D1-L09 and D1-L10. Teacher reads it once with a confident student; then pairs. Ask: “Which lines are from D1-L09? Which from D1-L10?” Reading the schedule (حَسَبَ الجَدْوَلِ · المُدَّةُ · 24-hour times) comes from D1-L09; the traps (لَيْسَ … بَلْ … · عَادَةً … لٰكِنْ هٰذَا الأُسْبُوعَ) from D1-L10.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listening for corrections, negation and a change of person (D1-L10), then checking the facts against the schedule (D1-L09). FADED SUPPORT: tasks 1–2 show the plan; students write their own plan for 3–5. To a girl Partner A says: to a girl: اقْرَئِي هٰذَا الوَقْتَ · اسْمَعِي.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D1-L09 and D1-L10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D1-L09 and D1-L10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and one phrase from D1-L09 and one from D1-L10.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D1-L09 + D1-L10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D1-W05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Activities Week: Schedule and Voicemail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أُسْبُوعُ الأَنْشِطَةِ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join reading a schedule with listening for traps: they read the activities-week timetable (start, finish, duration, 24-hour times), listen to a voicemail that changes the plan (</a:t>
            </a:r>
            <a:pPr algn="l" indent="0" marL="0">
              <a:buNone/>
            </a:pPr>
            <a:r>
              <a:rPr lang="ar-SA" altLang="en-US" sz="1700" dirty="0">
                <a:solidFill>
                  <a:srgbClr val="C6D2E6"/>
                </a:solidFill>
                <a:latin typeface="Amiri" pitchFamily="2" charset="-78"/>
                <a:ea typeface="Amiri" pitchFamily="2" charset="-78"/>
                <a:cs typeface="Amiri" pitchFamily="2" charset="-78"/>
              </a:rPr>
              <a:t>لٰكِنْ</a:t>
            </a:r>
            <a:pPr algn="l" indent="0" marL="0">
              <a:buNone/>
            </a:pPr>
            <a:r>
              <a:rPr lang="en-US" sz="1300" dirty="0">
                <a:solidFill>
                  <a:srgbClr val="C6D2E6"/>
                </a:solidFill>
                <a:latin typeface="Calibri" pitchFamily="34" charset="0"/>
                <a:cs typeface="Amiri" pitchFamily="2" charset="-78"/>
              </a:rPr>
              <a:t> · </a:t>
            </a:r>
            <a:pPr algn="l" indent="0" marL="0">
              <a:buNone/>
            </a:pPr>
            <a:r>
              <a:rPr lang="ar-SA" altLang="en-US" sz="1700" dirty="0">
                <a:solidFill>
                  <a:srgbClr val="C6D2E6"/>
                </a:solidFill>
                <a:latin typeface="Amiri" pitchFamily="2" charset="-78"/>
                <a:ea typeface="Amiri" pitchFamily="2" charset="-78"/>
                <a:cs typeface="Amiri" pitchFamily="2" charset="-78"/>
              </a:rPr>
              <a:t>بَلْ</a:t>
            </a:r>
            <a:pPr algn="l" indent="0" marL="0">
              <a:buNone/>
            </a:pPr>
            <a:r>
              <a:rPr lang="en-US" sz="1300" dirty="0">
                <a:solidFill>
                  <a:srgbClr val="C6D2E6"/>
                </a:solidFill>
                <a:latin typeface="Calibri" pitchFamily="34" charset="0"/>
                <a:cs typeface="Amiri" pitchFamily="2" charset="-78"/>
              </a:rPr>
              <a:t> · </a:t>
            </a:r>
            <a:pPr algn="l" indent="0" marL="0">
              <a:buNone/>
            </a:pPr>
            <a:r>
              <a:rPr lang="ar-SA" altLang="en-US" sz="1700" dirty="0">
                <a:solidFill>
                  <a:srgbClr val="C6D2E6"/>
                </a:solidFill>
                <a:latin typeface="Amiri" pitchFamily="2" charset="-78"/>
                <a:ea typeface="Amiri" pitchFamily="2" charset="-78"/>
                <a:cs typeface="Amiri" pitchFamily="2" charset="-78"/>
              </a:rPr>
              <a:t>لَا / لَيْسَ</a:t>
            </a:r>
            <a:pPr algn="l" indent="0" marL="0">
              <a:buNone/>
            </a:pPr>
            <a:r>
              <a:rPr lang="en-US" sz="1300" dirty="0">
                <a:solidFill>
                  <a:srgbClr val="C6D2E6"/>
                </a:solidFill>
                <a:latin typeface="Calibri" pitchFamily="34" charset="0"/>
                <a:cs typeface="Amiri" pitchFamily="2" charset="-78"/>
              </a:rPr>
              <a:t>), find the correct details, and write an updated schedule email for a new student.</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D1-L09 + D1-L10</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D1-L09 and D1-L10.</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D1-L09 + D1-L10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D1-L09: Reading Daily Routines and Weekly Schedules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D1-L10: Listening — Daily Routine and Time Details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Listening card — the voicemail · An updated schedule for the new student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D1-L09 and D1-L10.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D1-L09</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D1-L09 · Reading Daily Routines and Weekly Schedules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جَدْوَلٌ أُسْبُوعِيٌّ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jad-wa-lun us-bū-ʿiy-yun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جَدَاوِلُ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الجَدْوَلُ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جَدْوَلٌ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البَدْءِ</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start time</a:t>
            </a:r>
            <a:endParaRPr lang="en-US" sz="1350" dirty="0"/>
          </a:p>
          <a:p>
            <a:pPr indent="0" marL="0">
              <a:buNone/>
            </a:pPr>
            <a:r>
              <a:rPr lang="en-US" sz="1100" i="1" dirty="0">
                <a:solidFill>
                  <a:srgbClr val="5A6472"/>
                </a:solidFill>
                <a:latin typeface="Calibri" pitchFamily="34" charset="0"/>
                <a:cs typeface="Amiri" pitchFamily="2" charset="-78"/>
              </a:rPr>
              <a:t>maw-ʿi-du al-bad-ʾi</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المُدَّةُ</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duration</a:t>
            </a:r>
            <a:endParaRPr lang="en-US" sz="1350" dirty="0"/>
          </a:p>
          <a:p>
            <a:pPr indent="0" marL="0">
              <a:buNone/>
            </a:pPr>
            <a:r>
              <a:rPr lang="en-US" sz="1100" i="1" dirty="0">
                <a:solidFill>
                  <a:srgbClr val="5A6472"/>
                </a:solidFill>
                <a:latin typeface="Calibri" pitchFamily="34" charset="0"/>
                <a:cs typeface="Amiri" pitchFamily="2" charset="-78"/>
              </a:rPr>
              <a:t>al-mud-da-tu</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الدَّلِيلُ</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ad-da-lī-lu</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Shape 54"/>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النَّصِّ</a:t>
            </a:r>
            <a:endParaRPr lang="ar-SA" sz="3000" dirty="0"/>
          </a:p>
        </p:txBody>
      </p:sp>
      <p:sp>
        <p:nvSpPr>
          <p:cNvPr id="60" name="Text 5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from the text</a:t>
            </a:r>
            <a:endParaRPr lang="en-US" sz="1350" dirty="0"/>
          </a:p>
          <a:p>
            <a:pPr indent="0" marL="0">
              <a:buNone/>
            </a:pPr>
            <a:r>
              <a:rPr lang="en-US" sz="1100" i="1" dirty="0">
                <a:solidFill>
                  <a:srgbClr val="5A6472"/>
                </a:solidFill>
                <a:latin typeface="Calibri" pitchFamily="34" charset="0"/>
                <a:cs typeface="Amiri" pitchFamily="2" charset="-78"/>
              </a:rPr>
              <a:t>mi-na an-naṣ-ṣi</a:t>
            </a:r>
            <a:endParaRPr lang="en-US" sz="135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مُدَوَّنَةٌ</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blog</a:t>
            </a:r>
            <a:endParaRPr lang="en-US" sz="1350" dirty="0"/>
          </a:p>
          <a:p>
            <a:pPr indent="0" marL="0">
              <a:buNone/>
            </a:pPr>
            <a:r>
              <a:rPr lang="en-US" sz="1100" i="1" dirty="0">
                <a:solidFill>
                  <a:srgbClr val="5A6472"/>
                </a:solidFill>
                <a:latin typeface="Calibri" pitchFamily="34" charset="0"/>
                <a:cs typeface="Amiri" pitchFamily="2" charset="-78"/>
              </a:rPr>
              <a:t>mu-daw-wa-na-tun</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D1-L10</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D1-L10 · Listening — Daily Routine and Time Details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التَّوَقُّعُ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prediction</a:t>
            </a:r>
            <a:endParaRPr lang="en-US" sz="1350" dirty="0"/>
          </a:p>
          <a:p>
            <a:pPr indent="0" marL="0">
              <a:buNone/>
            </a:pPr>
            <a:r>
              <a:rPr lang="en-US" sz="1100" i="1" dirty="0">
                <a:solidFill>
                  <a:srgbClr val="5A6472"/>
                </a:solidFill>
                <a:latin typeface="Calibri" pitchFamily="34" charset="0"/>
                <a:cs typeface="Amiri" pitchFamily="2" charset="-78"/>
              </a:rPr>
              <a:t>at-ta-waq-qu-ʿu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مُشَتِّتٌ</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a:t>
            </a:r>
            <a:endParaRPr lang="en-US" sz="1350" dirty="0"/>
          </a:p>
          <a:p>
            <a:pPr indent="0" marL="0">
              <a:buNone/>
            </a:pPr>
            <a:r>
              <a:rPr lang="en-US" sz="1100" i="1" dirty="0">
                <a:solidFill>
                  <a:srgbClr val="5A6472"/>
                </a:solidFill>
                <a:latin typeface="Calibri" pitchFamily="34" charset="0"/>
                <a:cs typeface="Amiri" pitchFamily="2" charset="-78"/>
              </a:rPr>
              <a:t>mu-shat-ti-tun</a:t>
            </a:r>
            <a:endParaRPr lang="en-US" sz="1350" dirty="0"/>
          </a:p>
        </p:txBody>
      </p:sp>
      <p:sp>
        <p:nvSpPr>
          <p:cNvPr id="31" name="Shape 28"/>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مُشَتِّتَاتٌ</a:t>
            </a:r>
            <a:endParaRPr lang="ar-SA" sz="1500" dirty="0"/>
          </a:p>
        </p:txBody>
      </p:sp>
      <p:sp>
        <p:nvSpPr>
          <p:cNvPr id="34" name="Shape 31"/>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36" name="Text 33"/>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المُشَتِّتُ</a:t>
            </a:r>
            <a:endParaRPr lang="ar-SA" sz="1500" dirty="0"/>
          </a:p>
        </p:txBody>
      </p:sp>
      <p:sp>
        <p:nvSpPr>
          <p:cNvPr id="37" name="Shape 34"/>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9" name="Text 36"/>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مُشَتِّتٌ</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التَّفْصِيلُ الدَّقِيقُ</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precise detail</a:t>
            </a:r>
            <a:endParaRPr lang="en-US" sz="1350" dirty="0"/>
          </a:p>
          <a:p>
            <a:pPr indent="0" marL="0">
              <a:buNone/>
            </a:pPr>
            <a:r>
              <a:rPr lang="en-US" sz="1100" i="1" dirty="0">
                <a:solidFill>
                  <a:srgbClr val="5A6472"/>
                </a:solidFill>
                <a:latin typeface="Calibri" pitchFamily="34" charset="0"/>
                <a:cs typeface="Amiri" pitchFamily="2" charset="-78"/>
              </a:rPr>
              <a:t>at-taf-ṣī-lu ad-da-qī-qu</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0" name="Shape 47"/>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2" name="Shape 4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أَسْتَبْعِدُ</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eliminate</a:t>
            </a:r>
            <a:endParaRPr lang="en-US" sz="1350" dirty="0"/>
          </a:p>
          <a:p>
            <a:pPr indent="0" marL="0">
              <a:buNone/>
            </a:pPr>
            <a:r>
              <a:rPr lang="en-US" sz="1100" i="1" dirty="0">
                <a:solidFill>
                  <a:srgbClr val="5A6472"/>
                </a:solidFill>
                <a:latin typeface="Calibri" pitchFamily="34" charset="0"/>
                <a:cs typeface="Amiri" pitchFamily="2" charset="-78"/>
              </a:rPr>
              <a:t>as-tab-ʿi-du</a:t>
            </a:r>
            <a:endParaRPr lang="en-US" sz="1350" dirty="0"/>
          </a:p>
        </p:txBody>
      </p:sp>
      <p:sp>
        <p:nvSpPr>
          <p:cNvPr id="56" name="Shape 5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8" name="Text 5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تَسْتَبْعِدُ</a:t>
            </a:r>
            <a:endParaRPr lang="ar-SA" sz="1500" dirty="0"/>
          </a:p>
        </p:txBody>
      </p:sp>
      <p:sp>
        <p:nvSpPr>
          <p:cNvPr id="59" name="Shape 5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1" name="Text 58"/>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يَسْتَبْعِدُ</a:t>
            </a:r>
            <a:endParaRPr lang="ar-SA" sz="1500" dirty="0"/>
          </a:p>
        </p:txBody>
      </p:sp>
      <p:sp>
        <p:nvSpPr>
          <p:cNvPr id="62" name="Shape 5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4" name="Text 6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أَسْتَبْعِدُ</a:t>
            </a:r>
            <a:endParaRPr lang="ar-SA" sz="15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مُتْعَبٌ / مُرْهَقٌ</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tired / exhausted</a:t>
            </a:r>
            <a:endParaRPr lang="en-US" sz="1350" dirty="0"/>
          </a:p>
          <a:p>
            <a:pPr indent="0" marL="0">
              <a:buNone/>
            </a:pPr>
            <a:r>
              <a:rPr lang="en-US" sz="1100" i="1" dirty="0">
                <a:solidFill>
                  <a:srgbClr val="5A6472"/>
                </a:solidFill>
                <a:latin typeface="Calibri" pitchFamily="34" charset="0"/>
                <a:cs typeface="Amiri" pitchFamily="2" charset="-78"/>
              </a:rPr>
              <a:t>mut-ʿa-bun / mur-ha-qun</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يَنْتَهِي / يَخْتَتِمُ</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ends / concludes</a:t>
            </a:r>
            <a:endParaRPr lang="en-US" sz="1350" dirty="0"/>
          </a:p>
          <a:p>
            <a:pPr indent="0" marL="0">
              <a:buNone/>
            </a:pPr>
            <a:r>
              <a:rPr lang="en-US" sz="1100" i="1" dirty="0">
                <a:solidFill>
                  <a:srgbClr val="5A6472"/>
                </a:solidFill>
                <a:latin typeface="Calibri" pitchFamily="34" charset="0"/>
                <a:cs typeface="Amiri" pitchFamily="2" charset="-78"/>
              </a:rPr>
              <a:t>yan-ta-hī / yakh-ta-ti-mu</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Schedule language or listening trap?</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مَوْعِدُ البَدْءِ</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 هٰذَا الأُسْبُوعَ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يَوْمَ … بَلْ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المُدَّةُ سَاعَةٌ وَنِصْفٌ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حَسَبَ الجَدْوَلِ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يَحْضُرْ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أَخِي فَ…</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مَوْعِدُ الانْتِهَاءِ</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Reading a schedule · D1-L09</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Listening traps · D1-L10</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Reading a schedule · D1-L09</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مَوْعِدُ البَدْءِ</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المُدَّةُ سَاعَةٌ وَنِصْفٌ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حَسَبَ الجَدْوَلِ</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مَوْعِدُ الانْتِهَاءِ</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Listening traps · D1-L10</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 هٰذَا الأُسْبُوعَ</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يَوْمَ … بَلْ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يَحْضُرْ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 أَخِي فَ…</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voicemail changes the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الرِّسَالَةُ الصَّوْتِيَّةُ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According to the schedule, the robotics club starts on Tuesday at four.</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حَسَبَ الجَدْوَلِ، يَبْدَأُ نَادِي الرُّوبُوتَاتِ يَوْمَ الثُّلَاثَاءِ فِي الرَّابِعَةِ.</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listen to the message: “The club is not on Tuesday but on Wednesday.”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لٰكِنِ اسْمَعِ الرِّسَالَةَ: «النَّادِي لَيْسَ يَوْمَ الثُّلَاثَاءِ بَلْ يَوْمَ الأَرْبِعَاءِ».</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does it start at four too?</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وَهَلْ يَبْدَأُ فِي الرَّابِعَةِ أَيْضًا؟</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“Usually at four, but this week at half past four.”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«عَادَةً فِي الرَّابِعَةِ، لٰكِنْ هٰذَا الأُسْبُوعَ فِي الرَّابِعَةِ وَالنِّصْفِ».</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long is it?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وَكَمِ المُدَّةُ؟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lasts an hour and a half, so it ends at six — that is, 18:00.</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المُدَّةُ سَاعَةٌ وَنِصْفٌ، فَيَنْتَهِي فِي السَّادِسَةِ — أَيِ السَّاعَةِ ١٨:٠٠.</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تَبْدَأُ فِي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حَسَبَ الجَدْوَلِ، أَوَّلُ حِصَّةٍ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first lesson on Monday in your timetable?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أَوَّلُ حِصَّةٍ يَوْمَ الإِثْنَيْنِ فِي جَدْوَلِكَ؟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56648" y="2881884"/>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Prove it: «‏</a:t>
            </a:r>
            <a:pPr algn="l" indent="0" marL="0">
              <a:buNone/>
            </a:pPr>
            <a:r>
              <a:rPr lang="ar-SA" altLang="en-US" sz="1450" dirty="0">
                <a:solidFill>
                  <a:srgbClr val="5A6472"/>
                </a:solidFill>
                <a:latin typeface="Amiri" pitchFamily="2" charset="-78"/>
                <a:ea typeface="Amiri" pitchFamily="2" charset="-78"/>
                <a:cs typeface="Amiri" pitchFamily="2" charset="-78"/>
              </a:rPr>
              <a:t>لَا</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تَسْتَبْعِدُ</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 ← السَّابِعَةِ إِلَّا الرُّبْعَ</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wake up at quarter to seven, not seven.” — When?</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أَسْتَيْقِظُ فِي السَّابِعَةِ إِلَّا الرُّبْعَ، لَا فِي السَّابِعَةِ. — مَتَى يَسْتَيْقِظُ؟</a:t>
            </a:r>
            <a:endParaRPr lang="ar-SA" sz="12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 لِأَنَّ الاسْتِرَاحَةَ تَنْتَهِي فِي …</a:t>
            </a:r>
            <a:endParaRPr lang="ar-SA" sz="14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المُدَّةُ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is it between break and lunch?</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المُدَّةُ بَيْنَ الاسْتِرَاحَةِ وَالغَدَاءِ؟</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الحَافِلَةُ لِلْأُخْتِ</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يَمْشِي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sister goes by bus; as for me, I walk.” — How does the speaker go?</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أُخْتِي تَذْهَبُ بِالحَافِلَةِ، أَمَّا أَنَا فَأَمْشِي. — كَيْفَ يَذْهَبُ المُتَكَلِّمُ؟</a:t>
            </a:r>
            <a:endParaRPr lang="ar-SA" sz="12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بَيْنَمَا يَوْمَ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 عِنْدِي … حِصَصٍ</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 do you have the most lessons?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فِي أَيِّ يَوْمٍ عِنْدَكَ أَكْثَرُ حِصَصٍ؟</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Trap: ‏</a:t>
            </a:r>
            <a:pPr algn="l" indent="0" marL="0">
              <a:buNone/>
            </a:pPr>
            <a:r>
              <a:rPr lang="ar-SA" altLang="en-US" sz="1450" dirty="0">
                <a:solidFill>
                  <a:srgbClr val="5A6472"/>
                </a:solidFill>
                <a:latin typeface="Amiri" pitchFamily="2" charset="-78"/>
                <a:ea typeface="Amiri" pitchFamily="2" charset="-78"/>
                <a:cs typeface="Amiri" pitchFamily="2" charset="-78"/>
              </a:rPr>
              <a:t>٢٠</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الاسْتِرَاحَةُ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أَرْبَعِينَ دَقِيقَةً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lesson lasts forty minutes, the break twenty.” — How long is the lesson?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الحِصَّةُ تَسْتَمِرُّ أَرْبَعِينَ دَقِيقَةً، وَالاسْتِرَاحَةُ عِشْرِينَ. — كَمْ تَسْتَمِرُّ الحِصَّةُ؟</a:t>
            </a:r>
            <a:endParaRPr lang="ar-SA" sz="12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D1-L09, even numbers from D1-L10.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card — the voicemail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لٰكِنْ ← يَوْمَ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day is training this week?</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«التَّدْرِيبُ عَادَةً يَوْمَ الإِثْنَيْنِ، لٰكِنْ هٰذَا الأُسْبُوعَ يَوْمَ الخَمِيسِ».</a:t>
            </a:r>
            <a:endParaRPr lang="ar-SA" sz="13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 فِي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does the trip start?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«تَبْدَأُ الرِّحْلَةُ فِي السَّابِعَةِ إِلَّا الرُّبْعَ، لَا فِي السَّابِعَةِ».</a:t>
            </a:r>
            <a:endParaRPr lang="ar-SA" sz="145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the speaker go?</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«أُخْتِي تَذْهَبُ إِلَى المَسْبَحِ، أَمَّا أَنَا فَأَذْهَبُ إِلَى المَكْتَبَةِ».</a:t>
            </a:r>
            <a:endParaRPr lang="ar-SA" sz="145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is the workshop? And the break?</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«تَسْتَمِرُّ الوَرْشَةُ أَرْبَعِينَ دَقِيقَةً، وَالاسْتِرَاحَةُ عَشْرَ دَقَائِقَ».</a:t>
            </a:r>
            <a:endParaRPr lang="ar-SA" sz="145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the 24-hour time in words.</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الآنَ: اقْرَأْ هٰذَا الوَقْتَ بِالكَلِمَاتِ: ١٦:٤٥</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Partner A reads each message ONCE, then again. The listener answers with a short answer first, then a full sentence, and names the trap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لَا / لَيْسَ</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بَلْ</a:t>
            </a:r>
            <a:pPr algn="l" indent="0" marL="0">
              <a:buNone/>
            </a:pPr>
            <a:r>
              <a:rPr lang="en-US" sz="1100" b="1" dirty="0">
                <a:solidFill>
                  <a:srgbClr val="1B3B6F"/>
                </a:solidFill>
                <a:latin typeface="Calibri" pitchFamily="34" charset="0"/>
                <a:cs typeface="Amiri" pitchFamily="2" charset="-78"/>
              </a:rPr>
              <a:t>‏ · another person). Then swap.</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Record a voicemail with one trap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صَوْتِيَّةٌ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for one minute as if leaving a voicemail for a friend about the activities week: three activities with days, start times and durations — and one deliberate trap (a correction with ‏</a:t>
            </a:r>
            <a:pPr algn="l" indent="0" marL="0">
              <a:buNone/>
            </a:pPr>
            <a:r>
              <a:rPr lang="ar-SA" altLang="en-US" sz="1750" dirty="0">
                <a:solidFill>
                  <a:srgbClr val="1F2A37"/>
                </a:solidFill>
                <a:latin typeface="Amiri" pitchFamily="2" charset="-78"/>
                <a:ea typeface="Amiri" pitchFamily="2" charset="-78"/>
                <a:cs typeface="Amiri" pitchFamily="2" charset="-78"/>
              </a:rPr>
              <a:t>لٰكِنْ</a:t>
            </a:r>
            <a:pPr algn="l" indent="0" marL="0">
              <a:buNone/>
            </a:pPr>
            <a:r>
              <a:rPr lang="en-US" sz="1350" dirty="0">
                <a:solidFill>
                  <a:srgbClr val="1F2A37"/>
                </a:solidFill>
                <a:latin typeface="Calibri" pitchFamily="34" charset="0"/>
                <a:cs typeface="Amiri" pitchFamily="2" charset="-78"/>
              </a:rPr>
              <a:t>‏ or ‏</a:t>
            </a:r>
            <a:pPr algn="l" indent="0" marL="0">
              <a:buNone/>
            </a:pPr>
            <a:r>
              <a:rPr lang="ar-SA" altLang="en-US" sz="1750" dirty="0">
                <a:solidFill>
                  <a:srgbClr val="1F2A37"/>
                </a:solidFill>
                <a:latin typeface="Amiri" pitchFamily="2" charset="-78"/>
                <a:ea typeface="Amiri" pitchFamily="2" charset="-78"/>
                <a:cs typeface="Amiri" pitchFamily="2" charset="-78"/>
              </a:rPr>
              <a:t>بَلْ</a:t>
            </a:r>
            <a:pPr algn="l" indent="0" marL="0">
              <a:buNone/>
            </a:pPr>
            <a:r>
              <a:rPr lang="en-US" sz="1350" dirty="0">
                <a:solidFill>
                  <a:srgbClr val="1F2A37"/>
                </a:solidFill>
                <a:latin typeface="Calibri" pitchFamily="34" charset="0"/>
                <a:cs typeface="Amiri" pitchFamily="2" charset="-78"/>
              </a:rPr>
              <a:t>‏). Your partner listens and says the CORRECT details.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النَّادِي يَوْمَ … فِي السَّاعَةِ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durations (‏</a:t>
            </a:r>
            <a:pPr algn="l" indent="0" marL="0">
              <a:buNone/>
            </a:pPr>
            <a:r>
              <a:rPr lang="ar-SA" altLang="en-US" sz="1500" dirty="0">
                <a:solidFill>
                  <a:srgbClr val="1F2A37"/>
                </a:solidFill>
                <a:latin typeface="Amiri" pitchFamily="2" charset="-78"/>
                <a:ea typeface="Amiri" pitchFamily="2" charset="-78"/>
                <a:cs typeface="Amiri" pitchFamily="2" charset="-78"/>
              </a:rPr>
              <a:t>المُدَّةُ</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يَسْتَمِرُّ</a:t>
            </a:r>
            <a:pPr algn="l" indent="0" marL="0">
              <a:buNone/>
            </a:pPr>
            <a:r>
              <a:rPr lang="en-US" sz="1150" dirty="0">
                <a:solidFill>
                  <a:srgbClr val="1F2A37"/>
                </a:solidFill>
                <a:latin typeface="Calibri" pitchFamily="34" charset="0"/>
                <a:cs typeface="Amiri" pitchFamily="2" charset="-78"/>
              </a:rPr>
              <a:t> …‏) and one trap.</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traps, a 24-hour time in words and another person (‏</a:t>
            </a:r>
            <a:pPr algn="l" indent="0" marL="0">
              <a:buNone/>
            </a:pPr>
            <a:r>
              <a:rPr lang="ar-SA" altLang="en-US" sz="1500" dirty="0">
                <a:solidFill>
                  <a:srgbClr val="1F2A37"/>
                </a:solidFill>
                <a:latin typeface="Amiri" pitchFamily="2" charset="-78"/>
                <a:ea typeface="Amiri" pitchFamily="2" charset="-78"/>
                <a:cs typeface="Amiri" pitchFamily="2" charset="-78"/>
              </a:rPr>
              <a:t>أَمَّا أَخِي 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According to the timetable, maths starts at nine.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حَسَبَ الجَدْوَلِ،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حَسَبُ الجَدْوَلُ،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الرِّيَاضِيَّاتُ</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الرِّيَاضِيَّاتُ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التَّاسِعَةِ.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تِسْعَةٍ.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match isn’t on Friday, but on Saturday.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المُبَارَاةُ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المُبَارَاةُ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الجُمُعَةِ،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 يَوْمَ السَّبْتِ.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 يَوْمُ السَّبْتِ.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finish time is half past four.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مَوْعِدُ الانْتِهَاءِ</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مَوْعِدَ الانْتِهَاءِ</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الرَّابِعَةِ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الرَّابِعَةُ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وَالنِّصْفِ.</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وَنِصْفٌ.</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According to the timetable, maths starts at nine.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حَسَبَ</a:t>
            </a:r>
            <a:pPr algn="l" indent="0" marL="0">
              <a:buNone/>
            </a:pPr>
            <a:r>
              <a:rPr lang="en-US" sz="1050" i="1" dirty="0">
                <a:solidFill>
                  <a:srgbClr val="5A6472"/>
                </a:solidFill>
                <a:latin typeface="Calibri" pitchFamily="34" charset="0"/>
                <a:cs typeface="Amiri" pitchFamily="2" charset="-78"/>
              </a:rPr>
              <a:t> + genitive; plural subject (non-human) → feminine verb.</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حَسَبَ الجَدْوَلِ، تَبْدَأُ الرِّيَاضِيَّاتُ فِي التَّاسِعَةِ.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match isn’t on Friday, but on Saturday.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مُبَارَاةٌ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لَيْسَتْ</a:t>
            </a:r>
            <a:pPr algn="l" indent="0" marL="0">
              <a:buNone/>
            </a:pPr>
            <a:r>
              <a:rPr lang="en-US" sz="1050" i="1" dirty="0">
                <a:solidFill>
                  <a:srgbClr val="5A6472"/>
                </a:solidFill>
                <a:latin typeface="Calibri" pitchFamily="34" charset="0"/>
                <a:cs typeface="Amiri" pitchFamily="2" charset="-78"/>
              </a:rPr>
              <a:t>; time adverb </a:t>
            </a:r>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in the accusative.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لَيْسَتِ المُبَارَاةُ يَوْمَ الجُمُعَةِ، بَلْ يَوْمَ السَّبْتِ.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finish time is half past four.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Subject → -u; time phrase after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مَوْعِدُ الانْتِهَاءِ فِي الرَّابِعَةِ وَالنِّصْفِ.</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حَسَبَ الجَدْوَلُ، الدَّرْسُ يَوْمَ الأَحَدِ.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حَسَبَ</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lnSpc>
                <a:spcPct val="120000"/>
              </a:lnSpc>
              <a:buNone/>
            </a:pPr>
            <a:r>
              <a:rPr lang="ar-SA" altLang="en-US" sz="2400" b="1" dirty="0">
                <a:solidFill>
                  <a:srgbClr val="B83227"/>
                </a:solidFill>
                <a:latin typeface="Amiri" pitchFamily="2" charset="-78"/>
                <a:ea typeface="Amiri" pitchFamily="2" charset="-78"/>
                <a:cs typeface="Amiri" pitchFamily="2" charset="-78"/>
              </a:rPr>
              <a:t>يَبْدَأُ فِي الرَّابِعَةِ، لٰكِنِ اليَوْمَ فِي الخَامِسَةِ. ← الجَوَابُ: الرَّابِعَةُ.</a:t>
            </a:r>
            <a:endParaRPr lang="ar-SA" sz="24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Listen after </a:t>
            </a:r>
            <a:pPr algn="l" indent="0" marL="0">
              <a:buNone/>
            </a:pPr>
            <a:r>
              <a:rPr lang="ar-SA" altLang="en-US" sz="1700" dirty="0">
                <a:solidFill>
                  <a:srgbClr val="5A6472"/>
                </a:solidFill>
                <a:latin typeface="Amiri" pitchFamily="2" charset="-78"/>
                <a:ea typeface="Amiri" pitchFamily="2" charset="-78"/>
                <a:cs typeface="Amiri" pitchFamily="2" charset="-78"/>
              </a:rPr>
              <a:t>لٰكِنْ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يَبْدَأُ فِي ١٤:٣٠ أَيِ الرَّابِعَةِ وَالنِّصْفِ.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14:30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حَسَبَ الجَدْوَلُ، الدَّرْسُ يَوْمَ الأَحَدِ.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حَسَبَ الجَدْوَلِ، الدَّرْسُ يَوْمَ الأَحَدِ.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حَسَبَ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يَبْدَأُ فِي الرَّابِعَةِ، لٰكِنِ اليَوْمَ فِي الخَامِسَةِ. ← الجَوَابُ: الرَّابِعَةُ.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الجَوَابُ: الخَامِسَةُ.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information after ‏</a:t>
            </a:r>
            <a:pPr algn="l" indent="0" marL="0">
              <a:buNone/>
            </a:pPr>
            <a:r>
              <a:rPr lang="ar-SA" altLang="en-US" sz="1500" b="1" dirty="0">
                <a:solidFill>
                  <a:srgbClr val="1B3B6F"/>
                </a:solidFill>
                <a:latin typeface="Amiri" pitchFamily="2" charset="-78"/>
                <a:ea typeface="Amiri" pitchFamily="2" charset="-78"/>
                <a:cs typeface="Amiri" pitchFamily="2" charset="-78"/>
              </a:rPr>
              <a:t>لٰكِنْ / بَلْ</a:t>
            </a:r>
            <a:pPr algn="l" indent="0" marL="0">
              <a:buNone/>
            </a:pPr>
            <a:r>
              <a:rPr lang="en-US" sz="1150" b="1" dirty="0">
                <a:solidFill>
                  <a:srgbClr val="1B3B6F"/>
                </a:solidFill>
                <a:latin typeface="Calibri" pitchFamily="34" charset="0"/>
                <a:cs typeface="Amiri" pitchFamily="2" charset="-78"/>
              </a:rPr>
              <a:t>‏ replaces the first.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يَبْدَأُ فِي ١٤:٣٠ أَيِ الرَّابِعَةِ وَالنِّصْفِ.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يَبْدَأُ فِي ١٤:٣٠ أَيِ الثَّانِيَةِ وَالنِّصْفِ.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14:30 is half past two (pm).</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السَّاعَةُ ١٦:٣٠ يَعْنِي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16:30 means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بِنَادِي ______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recommend the … club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حَسَبَ الجَدْوَلِ الجَدِيدِ، ______ يَوْمَ ______ .</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the new schedule, … is on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فِي ______ وَيَنْتَهِي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starts at … and ends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lasts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انْتَبِهْ: النَّادِي لَيْسَ ______ بَلْ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Careful: the club is not … but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حَسَبَ الجَدْوَلِ  ·  مَوْعِدُ البَدْءِ  ·  مَوْعِدُ الانْتِهَاءِ  ·  المُدَّةُ  ·  يَسْتَمِرُّ · تَسْتَمِرُّ  ·  لٰكِنْ هٰذَا الأُسْبُوعَ  ·  لَيْسَ … بَلْ …  ·  أَنْصَحُكَ بِنَادِي …</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An updated schedule for the new student</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الجَدْوَلُ الجَدِيدُ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(about 60–80 words) to a new student with the UPDATED activities-week schedule. Include: • four activities with day, start time and finish time • two durations • one change you heard in the voicemail (use ‏</a:t>
            </a:r>
            <a:pPr algn="l" indent="0" marL="0">
              <a:buNone/>
            </a:pPr>
            <a:r>
              <a:rPr lang="ar-SA" altLang="en-US" sz="1450" b="1" dirty="0">
                <a:solidFill>
                  <a:srgbClr val="1F2A37"/>
                </a:solidFill>
                <a:latin typeface="Amiri" pitchFamily="2" charset="-78"/>
                <a:ea typeface="Amiri" pitchFamily="2" charset="-78"/>
                <a:cs typeface="Amiri" pitchFamily="2" charset="-78"/>
              </a:rPr>
              <a:t>لٰكِنْ</a:t>
            </a:r>
            <a:pPr algn="l" indent="0" marL="0">
              <a:buNone/>
            </a:pPr>
            <a:r>
              <a:rPr lang="en-US" sz="1100" b="1" dirty="0">
                <a:solidFill>
                  <a:srgbClr val="1F2A37"/>
                </a:solidFill>
                <a:latin typeface="Calibri" pitchFamily="34" charset="0"/>
                <a:cs typeface="Amiri" pitchFamily="2" charset="-78"/>
              </a:rPr>
              <a:t>‏ or ‏</a:t>
            </a:r>
            <a:pPr algn="l" indent="0" marL="0">
              <a:buNone/>
            </a:pPr>
            <a:r>
              <a:rPr lang="ar-SA" altLang="en-US" sz="1450" b="1" dirty="0">
                <a:solidFill>
                  <a:srgbClr val="1F2A37"/>
                </a:solidFill>
                <a:latin typeface="Amiri" pitchFamily="2" charset="-78"/>
                <a:ea typeface="Amiri" pitchFamily="2" charset="-78"/>
                <a:cs typeface="Amiri" pitchFamily="2" charset="-78"/>
              </a:rPr>
              <a:t>لَيْسَ … بَلْ</a:t>
            </a:r>
            <a:pPr algn="l" indent="0" marL="0">
              <a:buNone/>
            </a:pPr>
            <a:r>
              <a:rPr lang="en-US" sz="1100" b="1" dirty="0">
                <a:solidFill>
                  <a:srgbClr val="1F2A37"/>
                </a:solidFill>
                <a:latin typeface="Calibri" pitchFamily="34" charset="0"/>
                <a:cs typeface="Amiri" pitchFamily="2" charset="-78"/>
              </a:rPr>
              <a:t> …‏) • one 24-hour time written in words • which activity you recommend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D1-L09 AND D1-L10.</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حَسَبَ الجَدْوَلِ الجَدِيدِ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according to the new schedule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فِي … وَيَنْتَهِي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starts at … and ends at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يَوْمَ … بَلْ يَوْمَ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not on … but on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أَنْصَحُكَ بِنَادِي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recommend the … club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day, start and finish time for four activities?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hide and catch traps with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لَيْسَ</a:t>
            </a:r>
            <a:pPr algn="l" indent="0" marL="0">
              <a:buNone/>
            </a:pPr>
            <a:r>
              <a:rPr lang="en-US" sz="1100" dirty="0">
                <a:solidFill>
                  <a:srgbClr val="5A6472"/>
                </a:solidFill>
                <a:latin typeface="Calibri" pitchFamily="34" charset="0"/>
                <a:cs typeface="Amiri" pitchFamily="2" charset="-78"/>
              </a:rPr>
              <a:t>‏ and a person change?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الخَمِيسِ.</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Thursday.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«التَّدْرِيبُ عَادَةً يَوْمَ الإِثْنَيْنِ، لٰكِنْ هٰذَا الأُسْبُوعَ يَوْمَ الخَمِيسِ».</a:t>
            </a:r>
            <a:endParaRPr lang="ar-SA" sz="13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السَّابِعَةِ إِلَّا الرُّبْعَ، أَيِ ٦:٤٥.</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a quarter to seven — 6:45.</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«تَبْدَأُ الرِّحْلَةُ فِي السَّابِعَةِ إِلَّا الرُّبْعَ، لَا فِي السَّابِعَةِ».</a:t>
            </a:r>
            <a:endParaRPr lang="ar-SA" sz="14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المَكْتَبَةِ — لَيْسَ إِلَى المَسْبَحِ.</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the library — not to the pool (that is his sister).</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«أُخْتِي تَذْهَبُ إِلَى المَسْبَحِ، أَمَّا أَنَا فَأَذْهَبُ إِلَى المَكْتَبَةِ».</a:t>
            </a:r>
            <a:endParaRPr lang="ar-SA" sz="14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الوَرْشَةُ أَرْبَعُونَ دَقِيقَةً، وَالاسْتِرَاحَةُ عَشْرُ دَقَائِقَ.</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workshop is forty minutes, and the break ten minutes.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«تَسْتَمِرُّ الوَرْشَةُ أَرْبَعِينَ دَقِيقَةً، وَالاسْتِرَاحَةُ عَشْرَ دَقَائِقَ».</a:t>
            </a:r>
            <a:endParaRPr lang="ar-SA" sz="14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الخَامِسَةُ إِلَّا الرُّبْعَ بَعْدَ الظُّهْرِ.</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quarter to five in the afternoon.</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الآنَ: اقْرَأْ هٰذَا الوَقْتَ بِالكَلِمَاتِ: ١٦:٤٥</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أَهْلًا يَا رَامِي! هٰذَا جَدْوَلُ أُسْبُوعِ الأَنْشِطَةِ الجَدِيدُ. نَادِي الرُّوبُوتَاتِ لَيْسَ يَوْمَ الثُّلَاثَاءِ بَلْ يَوْمَ الأَرْبِعَاءِ؛ يَبْدَأُ فِي الرَّابِعَةِ وَالنِّصْفِ وَيَنْتَهِي فِي السَّادِسَةِ، أَيْ أَنَّ المُدَّةَ سَاعَةٌ وَنِصْفٌ. التَّدْرِيبُ عَادَةً يَوْمَ الإِثْنَيْنِ، لٰكِنْ هٰذَا الأُسْبُوعَ يَوْمَ الخَمِيسِ مِنَ الثَّالِثَةِ إِلَى الرَّابِعَةِ. وَوَرْشَةُ الفَنِّ يَوْمَ الأَحَدِ، وَتَسْتَمِرُّ أَرْبَعِينَ دَقِيقَةً. السَّاعَةُ ١٦:٣٠ تَعْنِي الرَّابِعَةَ وَالنِّصْفَ بَعْدَ الظُّهْرِ. أَنْصَحُكَ بِنَادِي الرُّوبُوتَاتِ لِأَنَّهُ مُمْتِعٌ وَمُفِيدٌ.</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Rami! Here is the new activities-week schedule. The robotics club is not on Tuesday but on Wednesday; it starts at half past four and ends at six, so it lasts an hour and a half. Training is usually on Monday, but this week it is on Thursday from three to four. And the art workshop is on Sunday, and it lasts forty minutes. 16:30 means half past four in the afternoon. I recommend the robotics club because it is fun and useful.”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يَوْمَ الثُّلَاثَاءِ بَلْ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المُدَّةَ سَاعَةٌ وَنِصْفٌ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هٰذَا الأُسْبُوعَ</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أَنْصَحُكَ بِنَادِي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D1-W05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D1-W05 · Apply workshop (D1-L09 + D1-L10)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D1-L09 and D1-L10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D1-W05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D1-L11 · Speaking and Writing — My Daily Routine</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التَّحَدُّثُ وَالكِتَابَةُ — رُوتِينِي اليَوْمِيُّ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D1-W05 · Apply Workshop — Activities Week: Schedule and Voicemail</dc:title>
  <dc:subject>PptxGenJS Presentation</dc:subject>
  <dc:creator>Al Madina Online School · Arabic Department</dc:creator>
  <cp:lastModifiedBy>Al Madina Online School · Arabic Department</cp:lastModifiedBy>
  <cp:revision>1</cp:revision>
  <dcterms:created xsi:type="dcterms:W3CDTF">2026-10-26T15:26:30Z</dcterms:created>
  <dcterms:modified xsi:type="dcterms:W3CDTF">2026-10-26T15:26:30Z</dcterms:modified>
</cp:coreProperties>
</file>