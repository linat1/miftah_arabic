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notesMasterIdLst>
    <p:notesMasterId r:id="rId2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notesMaster" Target="notesMasters/notesMaster1.xml"/><Relationship Id="rId29" Type="http://schemas.openxmlformats.org/officeDocument/2006/relationships/presProps" Target="presProps.xml"/><Relationship Id="rId30" Type="http://schemas.openxmlformats.org/officeDocument/2006/relationships/viewProps" Target="viewProps.xml"/><Relationship Id="rId31" Type="http://schemas.openxmlformats.org/officeDocument/2006/relationships/theme" Target="theme/theme1.xml"/><Relationship Id="rId3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2–7 Readiness check (not marked) · 7–8 Assessment map · 8–22 Listening (20: three texts) · 22–31 Reading (10) · 31–44 Writing (20: form + article) · 44–53 Speaking (10: role-play + topic conversation, pairs / one-to-one) · 53–56 Score profile, strength and D2 target.
FLEX slides are optional. Use them if the class is moving quickly; otherwise the same activities are on the website for homework.
Content source: Miftah Arabic website, Pathways › Development › D1 Daily Routine and Time › D1-L12. The website D1-L12 is a 60-mark Development profile (not an external exam paper): listening 20 (Maryam’s school day 8 · Yusuf and Huda 6 · interview with Samir 6) · reading 10 (a school-day and weekend routine) · writing 20 (routine form 5 + article or email 15, marked for task, range and accuracy) · speaking 10 (role-play 4 + topic conversation 6). The readiness check (12) and grammar laboratory (12) are practice and do not count. Every item, script, text and mark allocation is the website’s.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Everyone sits the same 60 marks. Access arrangements: extra time, questions read aloud in English, one section on screen at a time; speaking is one-to-one or in trusted pairs with the teacher listening (it can move to the start of the next lesson).
• The website allows the assessment over more than one session — if time is short: listening + reading in class; writing and speaking next lesson.
• Scripts: the website has recorded audio; if it is unavailable, read each text twice at natural pace. The scripts are in the notes of each listening slide — do NOT show them until the section is submitted.
• Answer slides follow each part — mark live, or hide them and mark later.
• The readiness check is the warm-up: students who score below 8/12 revise the D1 grammar vault (D1-L11) before writing.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Website structure: 01 Readiness check · 02 Language vault · 03 Grammar laboratory · 04 60-mark profile · 05 Listening · 06 Reading · 07 Writing · 08 Speaking · 09 Reflection and D2 readiness.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Five of the twelve website readiness-check questions (1 person prefix · 2 time with إِلَّا · 3 قَبْلَ أَنْ · 6 asking a girl · 7 أَمَّا … فَـ). Website: “This diagnostic is practice, not part of the 60 assessment marks.”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This warm-up does NOT count. It samples the D1 system: person · time · before/after · asking a girl · as for … fa-.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FLEX — six of the twelve website grammar-laboratory questions (person · after أَنْ · he / she · أَمَّا … فَـ · asking a girl · reference). Use it if the readiness check showed gaps; otherwise it is homework on the website.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ASSESSMENT MAP (website “Your 60-mark D1 profile”). The website saves marks per skill and generates guidance once all four components are complete.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TEXT 1 (website, 8 marks). Students read the questions (30 s). Read the script twice at natural pace.
SCRIPT: فِي أَيَّامِ الدِّرَاسَةِ أَسْتَيْقِظُ فِي السَّادِسَةِ وَالنِّصْفِ. أَوَّلًا أَغْتَسِلُ، ثُمَّ أَرْتَدِي مَلَابِسِي وَأَتَنَاوَلُ الإِفْطَارَ. أُحَضِّرُ حَقِيبَتِي قَبْلَ أَنْ أَخْرُجَ مِنَ البَيْتِ فِي الثَّامِنَةِ إِلَّا الرُّبْعَ. عَادَةً أَسْتَقِلُّ الحَافِلَةَ، وَيَبْدَأُ الدَّرْسُ الأَوَّلُ فِي الثَّامِنَةِ وَالثُّلُثِ. أَذْهَبُ إِلَى نَادِي المَدْرَسَةِ مَرَّتَيْنِ فِي الأُسْبُوعِ، يَوْمَ الثُّلَاثَاءِ وَيَوْمَ الخَمِيسِ. فِي المَسَاءِ أُكْمِلُ وَاجِبِي قَبْلَ أَنْ أَسْتَعْمِلَ هَاتِفِي، وَأَنَامُ عَادَةً فِي العَاشِرَةِ وَالنِّصْفِ.
Private chat: 1_ 2_ 3_ 4_ 5_ 6_ 7_ 8_</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/8. Watch Q3: الثَّامِنَةِ إِلَّا الرُّبْعَ = 7:45 (not 8:15). Q5: الثَّامِنَةِ وَالثُّلُثِ = 8:20.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TEXT 2 (website, 6 marks). Read twice.
SCRIPT: يَعُودُ يُوسُفُ إِلَى البَيْتِ فِي الثَّالِثَةِ وَالثُّلُثِ، أَمَّا هُدَى فَتَعُودُ فِي الرَّابِعَةِ. يَلْعَبُ يُوسُفُ كُرَةَ القَدَمِ ثَلَاثَ مَرَّاتٍ فِي الأُسْبُوعِ: يَوْمَ الاِثْنَيْنِ وَالأَرْبِعَاءِ وَالجُمُعَةِ. هُدَى تَدْرُسُ سَاعَةً قَبْلَ أَنْ تَتَنَاوَلَ العَشَاءَ، وَتَذْهَبُ إِلَى نَادِي اللُّغَةِ العَرَبِيَّةِ يَوْمَ الخَمِيسِ. قَبْلَ أَنْ يَنَامَا، يُحَضِّرُ كُلٌّ مِنْهُمَا حَقِيبَتَهُ وَمَلَابِسَهُ لِلْيَوْمِ التَّالِي. يَوْمَ السَّبْتِ يَزُورُ يُوسُفُ أَقَارِبَهُ، بَيْنَمَا تَلْتَقِي هُدَى بِصَدِيقَاتِهَا.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TEXT 3 (website, 6 marks). Read twice; use two voices if possible.
SCRIPT: المُحَاوِرُ: مَتَى تَسْتَيْقِظُ فِي أَيَّامِ الدِّرَاسَةِ يَا سَمِيرُ؟ سَمِيرٌ: أَسْتَيْقِظُ فِي السَّادِسَةِ وَالرُّبْعِ. المُحَاوِرُ: كَمْ مَرَّةً تَتَمَرَّنُ فِي الأُسْبُوعِ؟ سَمِيرٌ: أَتَمَرَّنُ أَرْبَعَ مَرَّاتٍ. يَوْمُ الثُّلَاثَاءِ مُخْتَلِفٌ لِأَنَّ نَادِي العُلُومِ يَنْتَهِي فِي الخَامِسَةِ وَالرُّبْعِ. بَعْدَ أَنْ أَعُودَ إِلَى البَيْتِ أَتَنَاوَلُ العَشَاءَ، ثُمَّ أُكْمِلُ وَاجِبِي. فِي نِهَايَةِ الأُسْبُوعِ أَسْتَيْقِظُ حَوَالَيْ الثَّامِنَةِ وَالنِّصْفِ. رُوتِينِي فِي أَيَّامِ الدِّرَاسَةِ مُنَظَّمٌ، أَمَّا فِي نِهَايَةِ الأُسْبُوعِ فَهُوَ أَكْثَرُ مَرُونَةً.
Listening total /20.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/6. Students add up Listening /20.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TEXT (website). Website instruction: “Read once for the overall pattern, then return to exact details, time expressions, references and contrasts.” No English support on assessment texts (access arrangement: questions may be read aloud in English).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1–5 (website). Show the text slide again whenever students 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/5. Q2: السَّادِسَةِ وَخَمْسٍ وَعِشْرِينَ دَقِيقَةً = 6:25.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6–10 (website). Reading total /10.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Mark /5. Students add up Reading /10.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WRITING (website, 20 marks). Three routes (website): type, write or draw on screen, or on paper.
MARK SCHEME (website): Form /5 — one mark for each field completed in Arabic with a precise word, phrase or sentence. Article /15 — Task 5 (all six content points with relevant detail) · Range 5 (time, frequency, sequence, questions or answers, person change, contrast) · Accuracy 5 (present-tense prefixes, feminine forms, possessive reference, verbs after أَنْ).
Core access: the D1-L11 sentence frames may be used for Question 1 only; Question 2 is independent. Teacher model on the next slide — show ONLY after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TEACHER MODEL (the website does not print a model for this task; this is the D1-L11 model, shortened). Students compare with their own writing and find ONE thing to add in green pen (self-assessment only — the mark stands).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(website, 10 marks). “Prepare key words only; do not memorise a full script.”
Development standard (website): respond directly, then add a precise time or frequency, reason, example and contrast where useful.
MARK SCHEME: Role-play /4 (one mark per task completed intelligibly). Topic conversation /6 — reward direct answers, precise detail, reasons/examples, a contrast and accuracy of person and time.
ORGANISATION: one-to-one with the teacher (others finish writing), or in trusted pairs with the teacher listening. Ask ONE unseen follow-up to Stretch students (وَلِمَاذَا؟ / أَعْطِ مِثَالًا).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SCORE PROFILE (website “Evidence · priority · next action — D1 reflection and D2 readiness”): “Use a result, sentence or speaking example — not a general feeling.”
The bands are a teacher guide in line with the F1 / F2 assessments (the website totals the four scores but does not print bands).
A precise action = rule + task + frequency (D1-L11), e.g. “Verb after an: five sentences every two days; check in D2-L03.”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(D2-L01 · Personality Adjectives — What Is He / She Like?) will spend class time USING this language, so students prepare it tonight — short, simple, easy to access (school guidance: “Simple, Short, Interesting, Relevant, Easy to access”). D2 begins with personality (website D2-L01 “Personality Adjectives — What Is He / She Like?”). Adjectives have m. and f. forms — the he/she skill from D1-L06 carries straight over.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YEAR 8  ·  DEVELOPMENT D1  ·  D1-L12</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D1-L12</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3800" b="1" dirty="0">
                <a:solidFill>
                  <a:srgbClr val="FFFFFF"/>
                </a:solidFill>
                <a:latin typeface="Cambria" pitchFamily="34" charset="0"/>
                <a:ea typeface="Cambria" pitchFamily="34" charset="-122"/>
                <a:cs typeface="Cambria" pitchFamily="34" charset="-120"/>
              </a:rPr>
              <a:t>Review and Unit Assessment</a:t>
            </a:r>
            <a:endParaRPr lang="en-US" sz="38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algn="l" indent="0" marL="0">
              <a:buNone/>
            </a:pPr>
            <a:r>
              <a:rPr lang="ar-SA" altLang="en-US" sz="4700" b="1" dirty="0">
                <a:solidFill>
                  <a:srgbClr val="D4AF37"/>
                </a:solidFill>
                <a:latin typeface="Amiri" pitchFamily="34" charset="0"/>
                <a:ea typeface="Amiri" pitchFamily="34" charset="-122"/>
                <a:cs typeface="Amiri" pitchFamily="34" charset="-120"/>
              </a:rPr>
              <a:t>مُرَاجَعَةُ</a:t>
            </a:r>
            <a:pPr algn="l" indent="0" marL="0">
              <a:buNone/>
            </a:pPr>
            <a:r>
              <a:rPr lang="en-US" sz="3600" b="1" dirty="0">
                <a:solidFill>
                  <a:srgbClr val="D4AF37"/>
                </a:solidFill>
                <a:latin typeface="Calibri" pitchFamily="34" charset="0"/>
                <a:ea typeface="Calibri" pitchFamily="34" charset="-122"/>
                <a:cs typeface="Calibri" pitchFamily="34" charset="-120"/>
              </a:rPr>
              <a:t> D1 </a:t>
            </a:r>
            <a:pPr algn="l" indent="0" marL="0">
              <a:buNone/>
            </a:pPr>
            <a:r>
              <a:rPr lang="ar-SA" altLang="en-US" sz="4700" b="1" dirty="0">
                <a:solidFill>
                  <a:srgbClr val="D4AF37"/>
                </a:solidFill>
                <a:latin typeface="Amiri" pitchFamily="34" charset="0"/>
                <a:ea typeface="Amiri" pitchFamily="34" charset="-122"/>
                <a:cs typeface="Amiri" pitchFamily="34" charset="-120"/>
              </a:rPr>
              <a:t>وَتَقْيِيمُ الوَحْدَةِ</a:t>
            </a:r>
            <a:endParaRPr lang="en-US"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Retrieve and repair the whole D1 language system, then show it across a 60-mark profile — listening, reading, writing and speaking — and set one precise target for D2.</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D1-L12 · Development D1 · Daily Routine and Time</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Development · end of unit D1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Pathways › Development › D1 › D1-L12</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D1-L12 · D1 Assessment</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D1-L12</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26</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D1-L12 · D1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assessment,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D1-L12</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Readiness check (not marked).</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الاِسْتِعْدَادُ</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The 60-mark map.</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خُطَّةُ التَّقْيِيمِ</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Listening: 20 marks.</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الاِسْتِمَاعُ</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Reading: 10 marks.</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القِرَاءَةُ</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Writing 20 + speaking 10.</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الكِتَابَةُ وَالتَّحَدُّثُ</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My profile, my strength, my D2 target.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الهَدَفُ</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for D2: personality.</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Each section starts with the easier questions. Leave a blank and come back. The readiness check does not count.</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26</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D1-L12 · D1 Assessment</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correct first-person sentence.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أَنَا يَسْتَيْقِظُ فِي السَّادِسَةِ.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أَنَا أَسْتَيْقِظُ فِي السَّادِسَةِ.</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أَنَا تَسْتَيْقِظُ فِي السَّادِسَةِ.</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6:45?</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السَّابِعَةُ إِلَّا الرُّبْعَ</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السَّادِسَةُ وَالرُّبْعُ</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السَّادِسَةُ وَالنِّصْفُ</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45" name="Text 42"/>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1150" b="1" dirty="0">
                <a:solidFill>
                  <a:srgbClr val="1F2A37"/>
                </a:solidFill>
                <a:latin typeface="Amiri" pitchFamily="34" charset="0"/>
                <a:ea typeface="Amiri" pitchFamily="34" charset="-122"/>
                <a:cs typeface="Amiri" pitchFamily="34" charset="-120"/>
              </a:rPr>
              <a:t>أَتَنَاوَلُ الإِفْطَارَ ___ أَنْ أَخْرُجَ.</a:t>
            </a:r>
            <a:endParaRPr lang="ar-SA" sz="1150" dirty="0"/>
          </a:p>
        </p:txBody>
      </p:sp>
      <p:sp>
        <p:nvSpPr>
          <p:cNvPr id="46" name="Shape 43"/>
          <p:cNvSpPr/>
          <p:nvPr/>
        </p:nvSpPr>
        <p:spPr>
          <a:xfrm>
            <a:off x="8278368" y="2532888"/>
            <a:ext cx="256032" cy="256032"/>
          </a:xfrm>
          <a:prstGeom prst="ellipse">
            <a:avLst/>
          </a:prstGeom>
          <a:solidFill>
            <a:srgbClr val="F4F1EA"/>
          </a:solidFill>
          <a:ln w="12700">
            <a:solidFill>
              <a:srgbClr val="F4F1EA"/>
            </a:solidFill>
            <a:prstDash val="solid"/>
          </a:ln>
        </p:spPr>
      </p:sp>
      <p:sp>
        <p:nvSpPr>
          <p:cNvPr id="47" name="Text 44"/>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8" name="Text 45"/>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بَعْدَ</a:t>
            </a:r>
            <a:endParaRPr lang="ar-SA" sz="2050" dirty="0"/>
          </a:p>
        </p:txBody>
      </p:sp>
      <p:sp>
        <p:nvSpPr>
          <p:cNvPr id="49" name="Shape 46"/>
          <p:cNvSpPr/>
          <p:nvPr/>
        </p:nvSpPr>
        <p:spPr>
          <a:xfrm>
            <a:off x="8278368" y="2990088"/>
            <a:ext cx="256032" cy="256032"/>
          </a:xfrm>
          <a:prstGeom prst="ellipse">
            <a:avLst/>
          </a:prstGeom>
          <a:solidFill>
            <a:srgbClr val="F4F1EA"/>
          </a:solidFill>
          <a:ln w="12700">
            <a:solidFill>
              <a:srgbClr val="F4F1EA"/>
            </a:solidFill>
            <a:prstDash val="solid"/>
          </a:ln>
        </p:spPr>
      </p:sp>
      <p:sp>
        <p:nvSpPr>
          <p:cNvPr id="50" name="Text 47"/>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1" name="Text 48"/>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أَحْيَانًا</a:t>
            </a:r>
            <a:endParaRPr lang="ar-SA" sz="2050" dirty="0"/>
          </a:p>
        </p:txBody>
      </p:sp>
      <p:sp>
        <p:nvSpPr>
          <p:cNvPr id="52" name="Shape 49"/>
          <p:cNvSpPr/>
          <p:nvPr/>
        </p:nvSpPr>
        <p:spPr>
          <a:xfrm>
            <a:off x="8278368" y="3447288"/>
            <a:ext cx="256032" cy="256032"/>
          </a:xfrm>
          <a:prstGeom prst="ellipse">
            <a:avLst/>
          </a:prstGeom>
          <a:solidFill>
            <a:srgbClr val="F4F1EA"/>
          </a:solidFill>
          <a:ln w="12700">
            <a:solidFill>
              <a:srgbClr val="F4F1EA"/>
            </a:solidFill>
            <a:prstDash val="solid"/>
          </a:ln>
        </p:spPr>
      </p:sp>
      <p:sp>
        <p:nvSpPr>
          <p:cNvPr id="53" name="Text 50"/>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4" name="Text 51"/>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قَبْلَ</a:t>
            </a:r>
            <a:endParaRPr lang="ar-SA" sz="2050" dirty="0"/>
          </a:p>
        </p:txBody>
      </p:sp>
      <p:sp>
        <p:nvSpPr>
          <p:cNvPr id="55" name="Shape 52"/>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85216"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8" name="Text 55"/>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correct question for a girl: “When do you wake up?”</a:t>
            </a:r>
            <a:endParaRPr lang="en-US" sz="1250" dirty="0"/>
          </a:p>
        </p:txBody>
      </p:sp>
      <p:sp>
        <p:nvSpPr>
          <p:cNvPr id="59" name="Shape 56"/>
          <p:cNvSpPr/>
          <p:nvPr/>
        </p:nvSpPr>
        <p:spPr>
          <a:xfrm>
            <a:off x="640080"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1" name="Text 58"/>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مَتَى تَسْتَيْقِظُ؟</a:t>
            </a:r>
            <a:endParaRPr lang="ar-SA" sz="2050" dirty="0"/>
          </a:p>
        </p:txBody>
      </p:sp>
      <p:sp>
        <p:nvSpPr>
          <p:cNvPr id="62" name="Shape 59"/>
          <p:cNvSpPr/>
          <p:nvPr/>
        </p:nvSpPr>
        <p:spPr>
          <a:xfrm>
            <a:off x="640080"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4" name="Text 61"/>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مَتَى يَسْتَيْقِظُ؟</a:t>
            </a:r>
            <a:endParaRPr lang="ar-SA" sz="2050" dirty="0"/>
          </a:p>
        </p:txBody>
      </p:sp>
      <p:sp>
        <p:nvSpPr>
          <p:cNvPr id="65" name="Shape 62"/>
          <p:cNvSpPr/>
          <p:nvPr/>
        </p:nvSpPr>
        <p:spPr>
          <a:xfrm>
            <a:off x="640080"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7" name="Text 64"/>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مَتَى تَسْتَيْقِظِينَ؟</a:t>
            </a:r>
            <a:endParaRPr lang="ar-SA" sz="2050" dirty="0"/>
          </a:p>
        </p:txBody>
      </p:sp>
      <p:sp>
        <p:nvSpPr>
          <p:cNvPr id="68" name="Shape 65"/>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9" name="Shape 66"/>
          <p:cNvSpPr/>
          <p:nvPr/>
        </p:nvSpPr>
        <p:spPr>
          <a:xfrm>
            <a:off x="4404360" y="4288536"/>
            <a:ext cx="310896" cy="310896"/>
          </a:xfrm>
          <a:prstGeom prst="ellipse">
            <a:avLst/>
          </a:prstGeom>
          <a:solidFill>
            <a:srgbClr val="1B3B6F"/>
          </a:solidFill>
          <a:ln w="12700">
            <a:solidFill>
              <a:srgbClr val="1B3B6F"/>
            </a:solidFill>
            <a:prstDash val="solid"/>
          </a:ln>
        </p:spPr>
      </p:sp>
      <p:sp>
        <p:nvSpPr>
          <p:cNvPr id="70" name="Text 67"/>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1" name="Text 68"/>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 the contrast:</a:t>
            </a:r>
            <a:endParaRPr lang="en-US" sz="1200" dirty="0"/>
          </a:p>
        </p:txBody>
      </p:sp>
      <p:sp>
        <p:nvSpPr>
          <p:cNvPr id="72" name="Text 69"/>
          <p:cNvSpPr txBox="1"/>
          <p:nvPr/>
        </p:nvSpPr>
        <p:spPr>
          <a:xfrm>
            <a:off x="6225845" y="4224528"/>
            <a:ext cx="1577035" cy="475488"/>
          </a:xfrm>
          <a:prstGeom prst="rect">
            <a:avLst/>
          </a:prstGeom>
          <a:noFill/>
          <a:ln/>
        </p:spPr>
        <p:txBody>
          <a:bodyPr wrap="square" lIns="0" tIns="0" rIns="0" bIns="0" rtlCol="0" anchor="ctr"/>
          <a:lstStyle/>
          <a:p>
            <a:pPr rtl="1" algn="r" indent="0" marL="0">
              <a:lnSpc>
                <a:spcPct val="120000"/>
              </a:lnSpc>
              <a:buNone/>
            </a:pPr>
            <a:r>
              <a:rPr lang="ar-SA" altLang="en-US" sz="1000" b="1" dirty="0">
                <a:solidFill>
                  <a:srgbClr val="1F2A37"/>
                </a:solidFill>
                <a:latin typeface="Amiri" pitchFamily="34" charset="0"/>
                <a:ea typeface="Amiri" pitchFamily="34" charset="-122"/>
                <a:cs typeface="Amiri" pitchFamily="34" charset="-120"/>
              </a:rPr>
              <a:t>أَدْرُسُ بَعْدَ المَدْرَسَةِ، ___ أَخِي فَيَلْعَبُ كُرَةَ القَدَمِ.</a:t>
            </a:r>
            <a:endParaRPr lang="ar-SA" sz="100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أَمَّا</a:t>
            </a:r>
            <a:endParaRPr lang="ar-SA" sz="20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ثُمَّ</a:t>
            </a:r>
            <a:endParaRPr lang="ar-SA" sz="20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قَبْلَ</a:t>
            </a:r>
            <a:endParaRPr lang="ar-SA" sz="2050" dirty="0"/>
          </a:p>
        </p:txBody>
      </p:sp>
      <p:sp>
        <p:nvSpPr>
          <p:cNvPr id="82" name="Shape 79"/>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4" name="Text 81"/>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5" name="Text 82"/>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6" name="Text 83"/>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7" name="Text 8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26</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D1-L12 · D1 Assessment</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correct first-person sentence.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أَنَا يَسْتَيْقِظُ فِي السَّادِسَةِ.</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أَنَا أَسْتَيْقِظُ فِي السَّادِسَةِ.</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أَنَا تَسْتَيْقِظُ فِي السَّادِسَةِ.</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أَنَا</a:t>
            </a:r>
            <a:pPr algn="l" indent="0" marL="0">
              <a:buNone/>
            </a:pPr>
            <a:r>
              <a:rPr lang="en-US" sz="1050" i="1" dirty="0">
                <a:solidFill>
                  <a:srgbClr val="8A6D1E"/>
                </a:solidFill>
                <a:latin typeface="Calibri" pitchFamily="34" charset="0"/>
                <a:ea typeface="Calibri" pitchFamily="34" charset="-122"/>
                <a:cs typeface="Calibri" pitchFamily="34" charset="-120"/>
              </a:rPr>
              <a:t> takes the first-person prefix </a:t>
            </a:r>
            <a:pPr algn="l" indent="0" marL="0">
              <a:buNone/>
            </a:pPr>
            <a:r>
              <a:rPr lang="ar-SA" altLang="en-US" sz="1350" dirty="0">
                <a:solidFill>
                  <a:srgbClr val="8A6D1E"/>
                </a:solidFill>
                <a:latin typeface="Amiri" pitchFamily="34" charset="0"/>
                <a:ea typeface="Amiri" pitchFamily="34" charset="-122"/>
                <a:cs typeface="Amiri" pitchFamily="34" charset="-120"/>
              </a:rPr>
              <a:t>أَـ</a:t>
            </a:r>
            <a:pPr algn="l" indent="0" marL="0">
              <a:buNone/>
            </a:pPr>
            <a:r>
              <a:rPr lang="en-US" sz="1050" i="1" dirty="0">
                <a:solidFill>
                  <a:srgbClr val="8A6D1E"/>
                </a:solidFill>
                <a:latin typeface="Calibri" pitchFamily="34" charset="0"/>
                <a:ea typeface="Calibri" pitchFamily="34" charset="-122"/>
                <a:cs typeface="Calibri" pitchFamily="34" charset="-120"/>
              </a:rPr>
              <a:t>: </a:t>
            </a:r>
            <a:pPr algn="l" indent="0" marL="0">
              <a:buNone/>
            </a:pPr>
            <a:r>
              <a:rPr lang="ar-SA" altLang="en-US" sz="1350" dirty="0">
                <a:solidFill>
                  <a:srgbClr val="8A6D1E"/>
                </a:solidFill>
                <a:latin typeface="Amiri" pitchFamily="34" charset="0"/>
                <a:ea typeface="Amiri" pitchFamily="34" charset="-122"/>
                <a:cs typeface="Amiri" pitchFamily="34" charset="-120"/>
              </a:rPr>
              <a:t>أَسْتَيْقِظُ</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6:45?</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السَّابِعَةُ إِلَّا الرُّبْعَ</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السَّادِسَةُ وَالرُّبْعُ</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السَّادِسَةُ وَالنِّصْفُ</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At 6:45, name the next hour: </a:t>
            </a:r>
            <a:pPr algn="l" indent="0" marL="0">
              <a:buNone/>
            </a:pPr>
            <a:r>
              <a:rPr lang="ar-SA" altLang="en-US" sz="1350" dirty="0">
                <a:solidFill>
                  <a:srgbClr val="8A6D1E"/>
                </a:solidFill>
                <a:latin typeface="Amiri" pitchFamily="34" charset="0"/>
                <a:ea typeface="Amiri" pitchFamily="34" charset="-122"/>
                <a:cs typeface="Amiri" pitchFamily="34" charset="-120"/>
              </a:rPr>
              <a:t>السَّابِعَةُ إِلَّا الرُّبْعَ</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49" name="Text 46"/>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1150" b="1" dirty="0">
                <a:solidFill>
                  <a:srgbClr val="1F2A37"/>
                </a:solidFill>
                <a:latin typeface="Amiri" pitchFamily="34" charset="0"/>
                <a:ea typeface="Amiri" pitchFamily="34" charset="-122"/>
                <a:cs typeface="Amiri" pitchFamily="34" charset="-120"/>
              </a:rPr>
              <a:t>أَتَنَاوَلُ الإِفْطَارَ ___ أَنْ أَخْرُجَ.</a:t>
            </a:r>
            <a:endParaRPr lang="ar-SA" sz="1150" dirty="0"/>
          </a:p>
        </p:txBody>
      </p:sp>
      <p:sp>
        <p:nvSpPr>
          <p:cNvPr id="50" name="Shape 47"/>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بَعْدَ</a:t>
            </a:r>
            <a:endParaRPr lang="ar-SA" sz="170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أَحْيَانًا</a:t>
            </a:r>
            <a:endParaRPr lang="ar-SA" sz="1700" dirty="0"/>
          </a:p>
        </p:txBody>
      </p:sp>
      <p:sp>
        <p:nvSpPr>
          <p:cNvPr id="56" name="Shape 53"/>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4"/>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5"/>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9" name="Text 56"/>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قَبْلَ</a:t>
            </a:r>
            <a:endParaRPr lang="ar-SA" sz="1700" dirty="0"/>
          </a:p>
        </p:txBody>
      </p:sp>
      <p:sp>
        <p:nvSpPr>
          <p:cNvPr id="60" name="Text 57"/>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قَبْلَ أَنْ</a:t>
            </a:r>
            <a:pPr algn="l" indent="0" marL="0">
              <a:buNone/>
            </a:pPr>
            <a:r>
              <a:rPr lang="en-US" sz="1050" i="1" dirty="0">
                <a:solidFill>
                  <a:srgbClr val="8A6D1E"/>
                </a:solidFill>
                <a:latin typeface="Calibri" pitchFamily="34" charset="0"/>
                <a:ea typeface="Calibri" pitchFamily="34" charset="-122"/>
                <a:cs typeface="Calibri" pitchFamily="34" charset="-120"/>
              </a:rPr>
              <a:t> means before doing something.</a:t>
            </a:r>
            <a:endParaRPr lang="en-US" sz="1050" dirty="0"/>
          </a:p>
        </p:txBody>
      </p:sp>
      <p:sp>
        <p:nvSpPr>
          <p:cNvPr id="61" name="Shape 58"/>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4" name="Text 61"/>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correct question for a girl: “When do you wake up?”</a:t>
            </a:r>
            <a:endParaRPr lang="en-US" sz="1250" dirty="0"/>
          </a:p>
        </p:txBody>
      </p:sp>
      <p:sp>
        <p:nvSpPr>
          <p:cNvPr id="65" name="Shape 62"/>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مَتَى تَسْتَيْقِظُ؟</a:t>
            </a:r>
            <a:endParaRPr lang="ar-SA" sz="170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مَتَى يَسْتَيْقِظُ؟</a:t>
            </a:r>
            <a:endParaRPr lang="ar-SA" sz="1700" dirty="0"/>
          </a:p>
        </p:txBody>
      </p:sp>
      <p:sp>
        <p:nvSpPr>
          <p:cNvPr id="71" name="Shape 68"/>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69"/>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0"/>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4" name="Text 71"/>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مَتَى تَسْتَيْقِظِينَ؟</a:t>
            </a:r>
            <a:endParaRPr lang="ar-SA" sz="1700" dirty="0"/>
          </a:p>
        </p:txBody>
      </p:sp>
      <p:sp>
        <p:nvSpPr>
          <p:cNvPr id="75" name="Text 72"/>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Addressing one girl requires </a:t>
            </a:r>
            <a:pPr algn="l" indent="0" marL="0">
              <a:buNone/>
            </a:pPr>
            <a:r>
              <a:rPr lang="ar-SA" altLang="en-US" sz="1350" dirty="0">
                <a:solidFill>
                  <a:srgbClr val="8A6D1E"/>
                </a:solidFill>
                <a:latin typeface="Amiri" pitchFamily="34" charset="0"/>
                <a:ea typeface="Amiri" pitchFamily="34" charset="-122"/>
                <a:cs typeface="Amiri" pitchFamily="34" charset="-120"/>
              </a:rPr>
              <a:t>تَـ</a:t>
            </a:r>
            <a:pPr algn="l" indent="0" marL="0">
              <a:buNone/>
            </a:pPr>
            <a:r>
              <a:rPr lang="en-US" sz="1050" i="1" dirty="0">
                <a:solidFill>
                  <a:srgbClr val="8A6D1E"/>
                </a:solidFill>
                <a:latin typeface="Calibri" pitchFamily="34" charset="0"/>
                <a:ea typeface="Calibri" pitchFamily="34" charset="-122"/>
                <a:cs typeface="Calibri" pitchFamily="34" charset="-120"/>
              </a:rPr>
              <a:t> and the ending </a:t>
            </a:r>
            <a:pPr algn="l" indent="0" marL="0">
              <a:buNone/>
            </a:pPr>
            <a:r>
              <a:rPr lang="ar-SA" altLang="en-US" sz="1350" dirty="0">
                <a:solidFill>
                  <a:srgbClr val="8A6D1E"/>
                </a:solidFill>
                <a:latin typeface="Amiri" pitchFamily="34" charset="0"/>
                <a:ea typeface="Amiri" pitchFamily="34" charset="-122"/>
                <a:cs typeface="Amiri" pitchFamily="34" charset="-120"/>
              </a:rPr>
              <a:t>ـينَ</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76" name="Shape 73"/>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4"/>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5"/>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9" name="Text 76"/>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 the contrast:</a:t>
            </a:r>
            <a:endParaRPr lang="en-US" sz="1200" dirty="0"/>
          </a:p>
        </p:txBody>
      </p:sp>
      <p:sp>
        <p:nvSpPr>
          <p:cNvPr id="80" name="Text 77"/>
          <p:cNvSpPr txBox="1"/>
          <p:nvPr/>
        </p:nvSpPr>
        <p:spPr>
          <a:xfrm>
            <a:off x="6225845" y="4224528"/>
            <a:ext cx="1577035" cy="475488"/>
          </a:xfrm>
          <a:prstGeom prst="rect">
            <a:avLst/>
          </a:prstGeom>
          <a:noFill/>
          <a:ln/>
        </p:spPr>
        <p:txBody>
          <a:bodyPr wrap="square" lIns="0" tIns="0" rIns="0" bIns="0" rtlCol="0" anchor="ctr"/>
          <a:lstStyle/>
          <a:p>
            <a:pPr rtl="1" algn="r" indent="0" marL="0">
              <a:lnSpc>
                <a:spcPct val="120000"/>
              </a:lnSpc>
              <a:buNone/>
            </a:pPr>
            <a:r>
              <a:rPr lang="ar-SA" altLang="en-US" sz="1000" b="1" dirty="0">
                <a:solidFill>
                  <a:srgbClr val="1F2A37"/>
                </a:solidFill>
                <a:latin typeface="Amiri" pitchFamily="34" charset="0"/>
                <a:ea typeface="Amiri" pitchFamily="34" charset="-122"/>
                <a:cs typeface="Amiri" pitchFamily="34" charset="-120"/>
              </a:rPr>
              <a:t>أَدْرُسُ بَعْدَ المَدْرَسَةِ، ___ أَخِي فَيَلْعَبُ كُرَةَ القَدَمِ.</a:t>
            </a:r>
            <a:endParaRPr lang="ar-SA" sz="100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أَمَّا</a:t>
            </a:r>
            <a:endParaRPr lang="ar-SA" sz="170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ثُمَّ</a:t>
            </a:r>
            <a:endParaRPr lang="ar-SA" sz="170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قَبْلَ</a:t>
            </a:r>
            <a:endParaRPr lang="ar-SA" sz="170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أَمَّا</a:t>
            </a:r>
            <a:pPr algn="l" indent="0" marL="0">
              <a:buNone/>
            </a:pPr>
            <a:r>
              <a:rPr lang="en-US" sz="1050" i="1" dirty="0">
                <a:solidFill>
                  <a:srgbClr val="8A6D1E"/>
                </a:solidFill>
                <a:latin typeface="Calibri" pitchFamily="34" charset="0"/>
                <a:ea typeface="Calibri" pitchFamily="34" charset="-122"/>
                <a:cs typeface="Calibri" pitchFamily="34" charset="-120"/>
              </a:rPr>
              <a:t> ... </a:t>
            </a:r>
            <a:pPr algn="l" indent="0" marL="0">
              <a:buNone/>
            </a:pPr>
            <a:r>
              <a:rPr lang="ar-SA" altLang="en-US" sz="1350" dirty="0">
                <a:solidFill>
                  <a:srgbClr val="8A6D1E"/>
                </a:solidFill>
                <a:latin typeface="Amiri" pitchFamily="34" charset="0"/>
                <a:ea typeface="Amiri" pitchFamily="34" charset="-122"/>
                <a:cs typeface="Amiri" pitchFamily="34" charset="-120"/>
              </a:rPr>
              <a:t>فَـ</a:t>
            </a:r>
            <a:pPr algn="l" indent="0" marL="0">
              <a:buNone/>
            </a:pPr>
            <a:r>
              <a:rPr lang="en-US" sz="1050" i="1" dirty="0">
                <a:solidFill>
                  <a:srgbClr val="8A6D1E"/>
                </a:solidFill>
                <a:latin typeface="Calibri" pitchFamily="34" charset="0"/>
                <a:ea typeface="Calibri" pitchFamily="34" charset="-122"/>
                <a:cs typeface="Calibri" pitchFamily="34" charset="-120"/>
              </a:rPr>
              <a:t> introduces a contrasting topic.</a:t>
            </a:r>
            <a:endParaRPr lang="en-US" sz="1050" dirty="0"/>
          </a:p>
        </p:txBody>
      </p:sp>
      <p:sp>
        <p:nvSpPr>
          <p:cNvPr id="92" name="Shape 89"/>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4" name="Text 91"/>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250" b="1" dirty="0">
                <a:solidFill>
                  <a:srgbClr val="1F2A37"/>
                </a:solidFill>
                <a:latin typeface="Calibri" pitchFamily="34" charset="0"/>
                <a:ea typeface="Calibri" pitchFamily="34" charset="-122"/>
                <a:cs typeface="Calibri" pitchFamily="34" charset="-120"/>
              </a:rPr>
              <a:t>This warm-up does NOT count. It samples the D1 system: person · time · before/after · asking a girl · as for … fa-.</a:t>
            </a:r>
            <a:endParaRPr lang="en-US" sz="1250" dirty="0"/>
          </a:p>
        </p:txBody>
      </p:sp>
      <p:sp>
        <p:nvSpPr>
          <p:cNvPr id="95" name="Text 92"/>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مُرَاجَعَةٌ ثُمَّ تَقْيِيمٌ</a:t>
            </a:r>
            <a:endParaRPr lang="ar-SA" sz="2400" dirty="0"/>
          </a:p>
        </p:txBody>
      </p:sp>
      <p:sp>
        <p:nvSpPr>
          <p:cNvPr id="96" name="Text 9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26</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D1-L12 · D1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REVISION · WEBSITE GRAMMAR LABORATORY · FLEX (NOT MARKED)</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Grammar laboratory</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مُخْتَبَرُ القَوَاعِدِ</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D1-L12</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“she has breakfast at half past seven”.</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1600" dirty="0">
                <a:solidFill>
                  <a:srgbClr val="1F2A37"/>
                </a:solidFill>
                <a:latin typeface="Amiri" pitchFamily="34" charset="0"/>
                <a:ea typeface="Amiri" pitchFamily="34" charset="-122"/>
                <a:cs typeface="Amiri" pitchFamily="34" charset="-120"/>
              </a:rPr>
              <a:t>هِيَ يَتَنَاوَلُ الإِفْطَارَ فِي السَّابِعَةِ وَالنِّصْفِ.</a:t>
            </a:r>
            <a:endParaRPr lang="ar-SA" sz="160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1600" dirty="0">
                <a:solidFill>
                  <a:srgbClr val="1F2A37"/>
                </a:solidFill>
                <a:latin typeface="Amiri" pitchFamily="34" charset="0"/>
                <a:ea typeface="Amiri" pitchFamily="34" charset="-122"/>
                <a:cs typeface="Amiri" pitchFamily="34" charset="-120"/>
              </a:rPr>
              <a:t>هِيَ تَتَنَاوَلُ الإِفْطَارَ فِي السَّابِعَةِ وَالنِّصْفِ.</a:t>
            </a:r>
            <a:endParaRPr lang="ar-SA" sz="160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1600" dirty="0">
                <a:solidFill>
                  <a:srgbClr val="1F2A37"/>
                </a:solidFill>
                <a:latin typeface="Amiri" pitchFamily="34" charset="0"/>
                <a:ea typeface="Amiri" pitchFamily="34" charset="-122"/>
                <a:cs typeface="Amiri" pitchFamily="34" charset="-120"/>
              </a:rPr>
              <a:t>هِيَ أَتَنَاوَلُ الإِفْطَارَ فِي السَّابِعَةِ وَالنِّصْفِ.</a:t>
            </a:r>
            <a:endParaRPr lang="ar-SA" sz="160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4" name="Text 31"/>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1200" b="1" dirty="0">
                <a:solidFill>
                  <a:srgbClr val="1F2A37"/>
                </a:solidFill>
                <a:latin typeface="Amiri" pitchFamily="34" charset="0"/>
                <a:ea typeface="Amiri" pitchFamily="34" charset="-122"/>
                <a:cs typeface="Amiri" pitchFamily="34" charset="-120"/>
              </a:rPr>
              <a:t>بَعْدَ أَنْ ___ وَاجِبِي، أَسْتَرِيحُ.</a:t>
            </a:r>
            <a:endParaRPr lang="ar-SA" sz="1200" dirty="0"/>
          </a:p>
        </p:txBody>
      </p:sp>
      <p:sp>
        <p:nvSpPr>
          <p:cNvPr id="35" name="Shape 32"/>
          <p:cNvSpPr/>
          <p:nvPr/>
        </p:nvSpPr>
        <p:spPr>
          <a:xfrm>
            <a:off x="4459224" y="25328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أُكْمِلَ</a:t>
            </a:r>
            <a:endParaRPr lang="ar-SA" sz="2050" dirty="0"/>
          </a:p>
        </p:txBody>
      </p:sp>
      <p:sp>
        <p:nvSpPr>
          <p:cNvPr id="38" name="Shape 35"/>
          <p:cNvSpPr/>
          <p:nvPr/>
        </p:nvSpPr>
        <p:spPr>
          <a:xfrm>
            <a:off x="4459224" y="29900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أُكْمِلُ</a:t>
            </a:r>
            <a:endParaRPr lang="ar-SA" sz="2050" dirty="0"/>
          </a:p>
        </p:txBody>
      </p:sp>
      <p:sp>
        <p:nvSpPr>
          <p:cNvPr id="41" name="Shape 38"/>
          <p:cNvSpPr/>
          <p:nvPr/>
        </p:nvSpPr>
        <p:spPr>
          <a:xfrm>
            <a:off x="4459224" y="3447288"/>
            <a:ext cx="256032" cy="256032"/>
          </a:xfrm>
          <a:prstGeom prst="ellipse">
            <a:avLst/>
          </a:prstGeom>
          <a:solidFill>
            <a:srgbClr val="F4F1EA"/>
          </a:solidFill>
          <a:ln w="12700">
            <a:solidFill>
              <a:srgbClr val="F4F1EA"/>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أَكْمَلْتُ</a:t>
            </a:r>
            <a:endParaRPr lang="ar-SA" sz="2050" dirty="0"/>
          </a:p>
        </p:txBody>
      </p:sp>
      <p:sp>
        <p:nvSpPr>
          <p:cNvPr id="44" name="Shape 41"/>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8223504" y="1947672"/>
            <a:ext cx="310896" cy="310896"/>
          </a:xfrm>
          <a:prstGeom prst="ellipse">
            <a:avLst/>
          </a:prstGeom>
          <a:solidFill>
            <a:srgbClr val="1B3B6F"/>
          </a:solidFill>
          <a:ln w="12700">
            <a:solidFill>
              <a:srgbClr val="1B3B6F"/>
            </a:solidFill>
            <a:prstDash val="solid"/>
          </a:ln>
        </p:spPr>
      </p:sp>
      <p:sp>
        <p:nvSpPr>
          <p:cNvPr id="46" name="Text 43"/>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7" name="Text 44"/>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correct sentence about Ali and his sister.</a:t>
            </a:r>
            <a:endParaRPr lang="en-US" sz="1250" dirty="0"/>
          </a:p>
        </p:txBody>
      </p:sp>
      <p:sp>
        <p:nvSpPr>
          <p:cNvPr id="48" name="Shape 45"/>
          <p:cNvSpPr/>
          <p:nvPr/>
        </p:nvSpPr>
        <p:spPr>
          <a:xfrm>
            <a:off x="8278368" y="25328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0" name="Text 47"/>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عَلِيٌّ تَدْرُسُ، وَأُخْتُهُ يَقْرَأُ.</a:t>
            </a:r>
            <a:endParaRPr lang="ar-SA" sz="2050" dirty="0"/>
          </a:p>
        </p:txBody>
      </p:sp>
      <p:sp>
        <p:nvSpPr>
          <p:cNvPr id="51" name="Shape 48"/>
          <p:cNvSpPr/>
          <p:nvPr/>
        </p:nvSpPr>
        <p:spPr>
          <a:xfrm>
            <a:off x="8278368" y="29900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3" name="Text 50"/>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عَلِيٌّ أَدْرُسُ، وَأُخْتُهُ نَقْرَأُ.</a:t>
            </a:r>
            <a:endParaRPr lang="ar-SA" sz="2050" dirty="0"/>
          </a:p>
        </p:txBody>
      </p:sp>
      <p:sp>
        <p:nvSpPr>
          <p:cNvPr id="54" name="Shape 51"/>
          <p:cNvSpPr/>
          <p:nvPr/>
        </p:nvSpPr>
        <p:spPr>
          <a:xfrm>
            <a:off x="8278368" y="3447288"/>
            <a:ext cx="256032" cy="256032"/>
          </a:xfrm>
          <a:prstGeom prst="ellipse">
            <a:avLst/>
          </a:prstGeom>
          <a:solidFill>
            <a:srgbClr val="F4F1EA"/>
          </a:solidFill>
          <a:ln w="12700">
            <a:solidFill>
              <a:srgbClr val="F4F1EA"/>
            </a:solidFill>
            <a:prstDash val="solid"/>
          </a:ln>
        </p:spPr>
      </p:sp>
      <p:sp>
        <p:nvSpPr>
          <p:cNvPr id="55" name="Text 52"/>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6" name="Text 53"/>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عَلِيٌّ يَدْرُسُ، وَأُخْتُهُ تَقْرَأُ.</a:t>
            </a:r>
            <a:endParaRPr lang="ar-SA" sz="2050" dirty="0"/>
          </a:p>
        </p:txBody>
      </p:sp>
      <p:sp>
        <p:nvSpPr>
          <p:cNvPr id="57" name="Shape 54"/>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585216" y="4288536"/>
            <a:ext cx="310896" cy="310896"/>
          </a:xfrm>
          <a:prstGeom prst="ellipse">
            <a:avLst/>
          </a:prstGeom>
          <a:solidFill>
            <a:srgbClr val="1B3B6F"/>
          </a:solidFill>
          <a:ln w="12700">
            <a:solidFill>
              <a:srgbClr val="1B3B6F"/>
            </a:solidFill>
            <a:prstDash val="solid"/>
          </a:ln>
        </p:spPr>
      </p:sp>
      <p:sp>
        <p:nvSpPr>
          <p:cNvPr id="59" name="Text 5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0" name="Text 57"/>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weekend comparison.</a:t>
            </a:r>
            <a:endParaRPr lang="en-US" sz="1250" dirty="0"/>
          </a:p>
        </p:txBody>
      </p:sp>
      <p:sp>
        <p:nvSpPr>
          <p:cNvPr id="61" name="Shape 58"/>
          <p:cNvSpPr/>
          <p:nvPr/>
        </p:nvSpPr>
        <p:spPr>
          <a:xfrm>
            <a:off x="640080" y="48737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3" name="Text 60"/>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1250" dirty="0">
                <a:solidFill>
                  <a:srgbClr val="1F2A37"/>
                </a:solidFill>
                <a:latin typeface="Amiri" pitchFamily="34" charset="0"/>
                <a:ea typeface="Amiri" pitchFamily="34" charset="-122"/>
                <a:cs typeface="Amiri" pitchFamily="34" charset="-120"/>
              </a:rPr>
              <a:t>فِي الأُسْبُوعِ أَدْرُسُ، أَمَّا يَوْمَ السَّبْتِ أَسْتَرِيحُ فَـ.</a:t>
            </a:r>
            <a:endParaRPr lang="ar-SA" sz="1250" dirty="0"/>
          </a:p>
        </p:txBody>
      </p:sp>
      <p:sp>
        <p:nvSpPr>
          <p:cNvPr id="64" name="Shape 61"/>
          <p:cNvSpPr/>
          <p:nvPr/>
        </p:nvSpPr>
        <p:spPr>
          <a:xfrm>
            <a:off x="640080" y="53309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6" name="Text 63"/>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1250" dirty="0">
                <a:solidFill>
                  <a:srgbClr val="1F2A37"/>
                </a:solidFill>
                <a:latin typeface="Amiri" pitchFamily="34" charset="0"/>
                <a:ea typeface="Amiri" pitchFamily="34" charset="-122"/>
                <a:cs typeface="Amiri" pitchFamily="34" charset="-120"/>
              </a:rPr>
              <a:t>أَمَّا أَدْرُسُ فِي السَّبْتِ كُلَّ يَوْمٍ.</a:t>
            </a:r>
            <a:endParaRPr lang="ar-SA" sz="1250" dirty="0"/>
          </a:p>
        </p:txBody>
      </p:sp>
      <p:sp>
        <p:nvSpPr>
          <p:cNvPr id="67" name="Shape 64"/>
          <p:cNvSpPr/>
          <p:nvPr/>
        </p:nvSpPr>
        <p:spPr>
          <a:xfrm>
            <a:off x="640080" y="5788152"/>
            <a:ext cx="256032" cy="256032"/>
          </a:xfrm>
          <a:prstGeom prst="ellipse">
            <a:avLst/>
          </a:prstGeom>
          <a:solidFill>
            <a:srgbClr val="F4F1EA"/>
          </a:solidFill>
          <a:ln w="12700">
            <a:solidFill>
              <a:srgbClr val="F4F1EA"/>
            </a:solidFill>
            <a:prstDash val="solid"/>
          </a:ln>
        </p:spPr>
      </p:sp>
      <p:sp>
        <p:nvSpPr>
          <p:cNvPr id="68" name="Text 6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9" name="Text 66"/>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1250" dirty="0">
                <a:solidFill>
                  <a:srgbClr val="1F2A37"/>
                </a:solidFill>
                <a:latin typeface="Amiri" pitchFamily="34" charset="0"/>
                <a:ea typeface="Amiri" pitchFamily="34" charset="-122"/>
                <a:cs typeface="Amiri" pitchFamily="34" charset="-120"/>
              </a:rPr>
              <a:t>فِي الأُسْبُوعِ أَدْرُسُ كُلَّ يَوْمٍ، أَمَّا يَوْمَ السَّبْتِ فَأَسْتَرِيحُ.</a:t>
            </a:r>
            <a:endParaRPr lang="ar-SA" sz="1250" dirty="0"/>
          </a:p>
        </p:txBody>
      </p:sp>
      <p:sp>
        <p:nvSpPr>
          <p:cNvPr id="70" name="Shape 67"/>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1" name="Shape 68"/>
          <p:cNvSpPr/>
          <p:nvPr/>
        </p:nvSpPr>
        <p:spPr>
          <a:xfrm>
            <a:off x="4404360" y="4288536"/>
            <a:ext cx="310896" cy="310896"/>
          </a:xfrm>
          <a:prstGeom prst="ellipse">
            <a:avLst/>
          </a:prstGeom>
          <a:solidFill>
            <a:srgbClr val="1B3B6F"/>
          </a:solidFill>
          <a:ln w="12700">
            <a:solidFill>
              <a:srgbClr val="1B3B6F"/>
            </a:solidFill>
            <a:prstDash val="solid"/>
          </a:ln>
        </p:spPr>
      </p:sp>
      <p:sp>
        <p:nvSpPr>
          <p:cNvPr id="72" name="Text 69"/>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3" name="Text 70"/>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Correct the error:</a:t>
            </a:r>
            <a:endParaRPr lang="en-US" sz="1200" dirty="0"/>
          </a:p>
        </p:txBody>
      </p:sp>
      <p:sp>
        <p:nvSpPr>
          <p:cNvPr id="74" name="Text 71"/>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1400" b="1" dirty="0">
                <a:solidFill>
                  <a:srgbClr val="1F2A37"/>
                </a:solidFill>
                <a:latin typeface="Amiri" pitchFamily="34" charset="0"/>
                <a:ea typeface="Amiri" pitchFamily="34" charset="-122"/>
                <a:cs typeface="Amiri" pitchFamily="34" charset="-120"/>
              </a:rPr>
              <a:t>أَنْتِ تَسْتَيْقِظُ فِي السَّابِعَةِ.</a:t>
            </a:r>
            <a:endParaRPr lang="ar-SA" sz="1400" dirty="0"/>
          </a:p>
        </p:txBody>
      </p:sp>
      <p:sp>
        <p:nvSpPr>
          <p:cNvPr id="75" name="Shape 72"/>
          <p:cNvSpPr/>
          <p:nvPr/>
        </p:nvSpPr>
        <p:spPr>
          <a:xfrm>
            <a:off x="4459224" y="4873752"/>
            <a:ext cx="256032" cy="256032"/>
          </a:xfrm>
          <a:prstGeom prst="ellipse">
            <a:avLst/>
          </a:prstGeom>
          <a:solidFill>
            <a:srgbClr val="F4F1EA"/>
          </a:solidFill>
          <a:ln w="12700">
            <a:solidFill>
              <a:srgbClr val="F4F1EA"/>
            </a:solidFill>
            <a:prstDash val="solid"/>
          </a:ln>
        </p:spPr>
      </p:sp>
      <p:sp>
        <p:nvSpPr>
          <p:cNvPr id="76" name="Text 73"/>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7" name="Text 74"/>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أَنْتِ تَسْتَيْقِظِينَ فِي السَّابِعَةِ.</a:t>
            </a:r>
            <a:endParaRPr lang="ar-SA" sz="2050" dirty="0"/>
          </a:p>
        </p:txBody>
      </p:sp>
      <p:sp>
        <p:nvSpPr>
          <p:cNvPr id="78" name="Shape 75"/>
          <p:cNvSpPr/>
          <p:nvPr/>
        </p:nvSpPr>
        <p:spPr>
          <a:xfrm>
            <a:off x="4459224" y="5330952"/>
            <a:ext cx="256032" cy="256032"/>
          </a:xfrm>
          <a:prstGeom prst="ellipse">
            <a:avLst/>
          </a:prstGeom>
          <a:solidFill>
            <a:srgbClr val="F4F1EA"/>
          </a:solidFill>
          <a:ln w="12700">
            <a:solidFill>
              <a:srgbClr val="F4F1EA"/>
            </a:solidFill>
            <a:prstDash val="solid"/>
          </a:ln>
        </p:spPr>
      </p:sp>
      <p:sp>
        <p:nvSpPr>
          <p:cNvPr id="79" name="Text 76"/>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0" name="Text 77"/>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أَنْتِ يَسْتَيْقِظُ فِي السَّابِعَةِ.</a:t>
            </a:r>
            <a:endParaRPr lang="ar-SA" sz="2050" dirty="0"/>
          </a:p>
        </p:txBody>
      </p:sp>
      <p:sp>
        <p:nvSpPr>
          <p:cNvPr id="81" name="Shape 78"/>
          <p:cNvSpPr/>
          <p:nvPr/>
        </p:nvSpPr>
        <p:spPr>
          <a:xfrm>
            <a:off x="4459224" y="5788152"/>
            <a:ext cx="256032" cy="256032"/>
          </a:xfrm>
          <a:prstGeom prst="ellipse">
            <a:avLst/>
          </a:prstGeom>
          <a:solidFill>
            <a:srgbClr val="F4F1EA"/>
          </a:solidFill>
          <a:ln w="12700">
            <a:solidFill>
              <a:srgbClr val="F4F1EA"/>
            </a:solidFill>
            <a:prstDash val="solid"/>
          </a:ln>
        </p:spPr>
      </p:sp>
      <p:sp>
        <p:nvSpPr>
          <p:cNvPr id="82" name="Text 79"/>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3" name="Text 80"/>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أَنْتِ أَسْتَيْقِظُ فِي السَّابِعَةِ.</a:t>
            </a:r>
            <a:endParaRPr lang="ar-SA" sz="2050" dirty="0"/>
          </a:p>
        </p:txBody>
      </p:sp>
      <p:sp>
        <p:nvSpPr>
          <p:cNvPr id="84" name="Shape 81"/>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5" name="Shape 82"/>
          <p:cNvSpPr/>
          <p:nvPr/>
        </p:nvSpPr>
        <p:spPr>
          <a:xfrm>
            <a:off x="8223504" y="4288536"/>
            <a:ext cx="310896" cy="310896"/>
          </a:xfrm>
          <a:prstGeom prst="ellipse">
            <a:avLst/>
          </a:prstGeom>
          <a:solidFill>
            <a:srgbClr val="1B3B6F"/>
          </a:solidFill>
          <a:ln w="12700">
            <a:solidFill>
              <a:srgbClr val="1B3B6F"/>
            </a:solidFill>
            <a:prstDash val="solid"/>
          </a:ln>
        </p:spPr>
      </p:sp>
      <p:sp>
        <p:nvSpPr>
          <p:cNvPr id="86" name="Text 83"/>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7" name="Text 84"/>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sentence with accurate sequence and reference.</a:t>
            </a:r>
            <a:endParaRPr lang="en-US" sz="1250" dirty="0"/>
          </a:p>
        </p:txBody>
      </p:sp>
      <p:sp>
        <p:nvSpPr>
          <p:cNvPr id="88" name="Shape 85"/>
          <p:cNvSpPr/>
          <p:nvPr/>
        </p:nvSpPr>
        <p:spPr>
          <a:xfrm>
            <a:off x="8278368" y="4873752"/>
            <a:ext cx="256032" cy="256032"/>
          </a:xfrm>
          <a:prstGeom prst="ellipse">
            <a:avLst/>
          </a:prstGeom>
          <a:solidFill>
            <a:srgbClr val="F4F1EA"/>
          </a:solidFill>
          <a:ln w="12700">
            <a:solidFill>
              <a:srgbClr val="F4F1EA"/>
            </a:solidFill>
            <a:prstDash val="solid"/>
          </a:ln>
        </p:spPr>
      </p:sp>
      <p:sp>
        <p:nvSpPr>
          <p:cNvPr id="89" name="Text 86"/>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0" name="Text 87"/>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1600" dirty="0">
                <a:solidFill>
                  <a:srgbClr val="1F2A37"/>
                </a:solidFill>
                <a:latin typeface="Amiri" pitchFamily="34" charset="0"/>
                <a:ea typeface="Amiri" pitchFamily="34" charset="-122"/>
                <a:cs typeface="Amiri" pitchFamily="34" charset="-120"/>
              </a:rPr>
              <a:t>يَعُودُ مَرْيَمُ إِلَى البَيْتِ، ثُمَّ يُكْمِلُ وَاجِبَهُ.</a:t>
            </a:r>
            <a:endParaRPr lang="ar-SA" sz="1600" dirty="0"/>
          </a:p>
        </p:txBody>
      </p:sp>
      <p:sp>
        <p:nvSpPr>
          <p:cNvPr id="91" name="Shape 88"/>
          <p:cNvSpPr/>
          <p:nvPr/>
        </p:nvSpPr>
        <p:spPr>
          <a:xfrm>
            <a:off x="8278368" y="5330952"/>
            <a:ext cx="256032" cy="256032"/>
          </a:xfrm>
          <a:prstGeom prst="ellipse">
            <a:avLst/>
          </a:prstGeom>
          <a:solidFill>
            <a:srgbClr val="F4F1EA"/>
          </a:solidFill>
          <a:ln w="12700">
            <a:solidFill>
              <a:srgbClr val="F4F1EA"/>
            </a:solidFill>
            <a:prstDash val="solid"/>
          </a:ln>
        </p:spPr>
      </p:sp>
      <p:sp>
        <p:nvSpPr>
          <p:cNvPr id="92" name="Text 89"/>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3" name="Text 90"/>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1600" dirty="0">
                <a:solidFill>
                  <a:srgbClr val="1F2A37"/>
                </a:solidFill>
                <a:latin typeface="Amiri" pitchFamily="34" charset="0"/>
                <a:ea typeface="Amiri" pitchFamily="34" charset="-122"/>
                <a:cs typeface="Amiri" pitchFamily="34" charset="-120"/>
              </a:rPr>
              <a:t>تَعُودُ مَرْيَمُ إِلَى البَيْتِ، ثُمَّ تُكْمِلُ وَاجِبَهَا.</a:t>
            </a:r>
            <a:endParaRPr lang="ar-SA" sz="1600" dirty="0"/>
          </a:p>
        </p:txBody>
      </p:sp>
      <p:sp>
        <p:nvSpPr>
          <p:cNvPr id="94" name="Shape 91"/>
          <p:cNvSpPr/>
          <p:nvPr/>
        </p:nvSpPr>
        <p:spPr>
          <a:xfrm>
            <a:off x="8278368" y="5788152"/>
            <a:ext cx="256032" cy="256032"/>
          </a:xfrm>
          <a:prstGeom prst="ellipse">
            <a:avLst/>
          </a:prstGeom>
          <a:solidFill>
            <a:srgbClr val="F4F1EA"/>
          </a:solidFill>
          <a:ln w="12700">
            <a:solidFill>
              <a:srgbClr val="F4F1EA"/>
            </a:solidFill>
            <a:prstDash val="solid"/>
          </a:ln>
        </p:spPr>
      </p:sp>
      <p:sp>
        <p:nvSpPr>
          <p:cNvPr id="95" name="Text 92"/>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6" name="Text 93"/>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1600" dirty="0">
                <a:solidFill>
                  <a:srgbClr val="1F2A37"/>
                </a:solidFill>
                <a:latin typeface="Amiri" pitchFamily="34" charset="0"/>
                <a:ea typeface="Amiri" pitchFamily="34" charset="-122"/>
                <a:cs typeface="Amiri" pitchFamily="34" charset="-120"/>
              </a:rPr>
              <a:t>تَعُودُ مَرْيَمُ، ثُمَّ أُكْمِلُ وَاجِبِي.</a:t>
            </a:r>
            <a:endParaRPr lang="ar-SA" sz="1600" dirty="0"/>
          </a:p>
        </p:txBody>
      </p:sp>
      <p:sp>
        <p:nvSpPr>
          <p:cNvPr id="97" name="Text 9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26</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D1-L12 · D1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REVISION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Grammar laboratory: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D1-L12</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“she has breakfast at half past seven”.</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600" dirty="0">
                <a:solidFill>
                  <a:srgbClr val="9AA1AB"/>
                </a:solidFill>
                <a:latin typeface="Amiri" pitchFamily="34" charset="0"/>
                <a:ea typeface="Amiri" pitchFamily="34" charset="-122"/>
                <a:cs typeface="Amiri" pitchFamily="34" charset="-120"/>
              </a:rPr>
              <a:t>هِيَ يَتَنَاوَلُ الإِفْطَارَ فِي السَّابِعَةِ وَالنِّصْفِ.</a:t>
            </a:r>
            <a:endParaRPr lang="ar-SA" sz="16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هِيَ تَتَنَاوَلُ الإِفْطَارَ فِي السَّابِعَةِ وَالنِّصْفِ.</a:t>
            </a:r>
            <a:endParaRPr lang="ar-SA" sz="16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600" dirty="0">
                <a:solidFill>
                  <a:srgbClr val="9AA1AB"/>
                </a:solidFill>
                <a:latin typeface="Amiri" pitchFamily="34" charset="0"/>
                <a:ea typeface="Amiri" pitchFamily="34" charset="-122"/>
                <a:cs typeface="Amiri" pitchFamily="34" charset="-120"/>
              </a:rPr>
              <a:t>هِيَ أَتَنَاوَلُ الإِفْطَارَ فِي السَّابِعَةِ وَالنِّصْفِ.</a:t>
            </a:r>
            <a:endParaRPr lang="ar-SA" sz="16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هِيَ</a:t>
            </a:r>
            <a:pPr algn="l" indent="0" marL="0">
              <a:buNone/>
            </a:pPr>
            <a:r>
              <a:rPr lang="en-US" sz="1050" i="1" dirty="0">
                <a:solidFill>
                  <a:srgbClr val="8A6D1E"/>
                </a:solidFill>
                <a:latin typeface="Calibri" pitchFamily="34" charset="0"/>
                <a:ea typeface="Calibri" pitchFamily="34" charset="-122"/>
                <a:cs typeface="Calibri" pitchFamily="34" charset="-120"/>
              </a:rPr>
              <a:t> requires </a:t>
            </a:r>
            <a:pPr algn="l" indent="0" marL="0">
              <a:buNone/>
            </a:pPr>
            <a:r>
              <a:rPr lang="ar-SA" altLang="en-US" sz="1350" dirty="0">
                <a:solidFill>
                  <a:srgbClr val="8A6D1E"/>
                </a:solidFill>
                <a:latin typeface="Amiri" pitchFamily="34" charset="0"/>
                <a:ea typeface="Amiri" pitchFamily="34" charset="-122"/>
                <a:cs typeface="Amiri" pitchFamily="34" charset="-120"/>
              </a:rPr>
              <a:t>تَتَنَاوَلُ</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2"/>
          <p:cNvSpPr txBox="1"/>
          <p:nvPr/>
        </p:nvSpPr>
        <p:spPr>
          <a:xfrm>
            <a:off x="4770120"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5" name="Text 33"/>
          <p:cNvSpPr txBox="1"/>
          <p:nvPr/>
        </p:nvSpPr>
        <p:spPr>
          <a:xfrm>
            <a:off x="6225845" y="1883664"/>
            <a:ext cx="1577035" cy="475488"/>
          </a:xfrm>
          <a:prstGeom prst="rect">
            <a:avLst/>
          </a:prstGeom>
          <a:noFill/>
          <a:ln/>
        </p:spPr>
        <p:txBody>
          <a:bodyPr wrap="square" lIns="0" tIns="0" rIns="0" bIns="0" rtlCol="0" anchor="ctr"/>
          <a:lstStyle/>
          <a:p>
            <a:pPr rtl="1" algn="r" indent="0" marL="0">
              <a:buNone/>
            </a:pPr>
            <a:r>
              <a:rPr lang="ar-SA" altLang="en-US" sz="1200" b="1" dirty="0">
                <a:solidFill>
                  <a:srgbClr val="1F2A37"/>
                </a:solidFill>
                <a:latin typeface="Amiri" pitchFamily="34" charset="0"/>
                <a:ea typeface="Amiri" pitchFamily="34" charset="-122"/>
                <a:cs typeface="Amiri" pitchFamily="34" charset="-120"/>
              </a:rPr>
              <a:t>بَعْدَ أَنْ ___ وَاجِبِي، أَسْتَرِيحُ.</a:t>
            </a:r>
            <a:endParaRPr lang="ar-SA" sz="1200" dirty="0"/>
          </a:p>
        </p:txBody>
      </p:sp>
      <p:sp>
        <p:nvSpPr>
          <p:cNvPr id="36" name="Shape 34"/>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7" name="Shape 35"/>
          <p:cNvSpPr/>
          <p:nvPr/>
        </p:nvSpPr>
        <p:spPr>
          <a:xfrm>
            <a:off x="4459224" y="2490216"/>
            <a:ext cx="256032" cy="256032"/>
          </a:xfrm>
          <a:prstGeom prst="ellipse">
            <a:avLst/>
          </a:prstGeom>
          <a:solidFill>
            <a:srgbClr val="2E8B57"/>
          </a:solidFill>
          <a:ln w="12700">
            <a:solidFill>
              <a:srgbClr val="2E8B57"/>
            </a:solidFill>
            <a:prstDash val="solid"/>
          </a:ln>
        </p:spPr>
      </p:sp>
      <p:sp>
        <p:nvSpPr>
          <p:cNvPr id="38" name="Text 36"/>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9" name="Text 37"/>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أُكْمِلَ</a:t>
            </a:r>
            <a:endParaRPr lang="ar-SA" sz="1700" dirty="0"/>
          </a:p>
        </p:txBody>
      </p:sp>
      <p:sp>
        <p:nvSpPr>
          <p:cNvPr id="40" name="Shape 38"/>
          <p:cNvSpPr/>
          <p:nvPr/>
        </p:nvSpPr>
        <p:spPr>
          <a:xfrm>
            <a:off x="4459224" y="2862072"/>
            <a:ext cx="256032" cy="256032"/>
          </a:xfrm>
          <a:prstGeom prst="ellipse">
            <a:avLst/>
          </a:prstGeom>
          <a:solidFill>
            <a:srgbClr val="C9CED6"/>
          </a:solidFill>
          <a:ln w="12700">
            <a:solidFill>
              <a:srgbClr val="C9CED6"/>
            </a:solidFill>
            <a:prstDash val="solid"/>
          </a:ln>
        </p:spPr>
      </p:sp>
      <p:sp>
        <p:nvSpPr>
          <p:cNvPr id="41" name="Text 39"/>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2" name="Text 40"/>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أُكْمِلُ</a:t>
            </a:r>
            <a:endParaRPr lang="ar-SA" sz="1700" dirty="0"/>
          </a:p>
        </p:txBody>
      </p:sp>
      <p:sp>
        <p:nvSpPr>
          <p:cNvPr id="43" name="Shape 41"/>
          <p:cNvSpPr/>
          <p:nvPr/>
        </p:nvSpPr>
        <p:spPr>
          <a:xfrm>
            <a:off x="4459224" y="3233928"/>
            <a:ext cx="256032" cy="256032"/>
          </a:xfrm>
          <a:prstGeom prst="ellipse">
            <a:avLst/>
          </a:prstGeom>
          <a:solidFill>
            <a:srgbClr val="C9CED6"/>
          </a:solidFill>
          <a:ln w="12700">
            <a:solidFill>
              <a:srgbClr val="C9CED6"/>
            </a:solidFill>
            <a:prstDash val="solid"/>
          </a:ln>
        </p:spPr>
      </p:sp>
      <p:sp>
        <p:nvSpPr>
          <p:cNvPr id="44" name="Text 42"/>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3"/>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أَكْمَلْتُ</a:t>
            </a:r>
            <a:endParaRPr lang="ar-SA" sz="1700" dirty="0"/>
          </a:p>
        </p:txBody>
      </p:sp>
      <p:sp>
        <p:nvSpPr>
          <p:cNvPr id="46" name="Text 44"/>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After </a:t>
            </a:r>
            <a:pPr algn="l" indent="0" marL="0">
              <a:buNone/>
            </a:pPr>
            <a:r>
              <a:rPr lang="ar-SA" altLang="en-US" sz="1350" dirty="0">
                <a:solidFill>
                  <a:srgbClr val="8A6D1E"/>
                </a:solidFill>
                <a:latin typeface="Amiri" pitchFamily="34" charset="0"/>
                <a:ea typeface="Amiri" pitchFamily="34" charset="-122"/>
                <a:cs typeface="Amiri" pitchFamily="34" charset="-120"/>
              </a:rPr>
              <a:t>أَنْ</a:t>
            </a:r>
            <a:pPr algn="l" indent="0" marL="0">
              <a:buNone/>
            </a:pPr>
            <a:r>
              <a:rPr lang="en-US" sz="1050" i="1" dirty="0">
                <a:solidFill>
                  <a:srgbClr val="8A6D1E"/>
                </a:solidFill>
                <a:latin typeface="Calibri" pitchFamily="34" charset="0"/>
                <a:ea typeface="Calibri" pitchFamily="34" charset="-122"/>
                <a:cs typeface="Calibri" pitchFamily="34" charset="-120"/>
              </a:rPr>
              <a:t>, the present verb is subjunctive: </a:t>
            </a:r>
            <a:pPr algn="l" indent="0" marL="0">
              <a:buNone/>
            </a:pPr>
            <a:r>
              <a:rPr lang="ar-SA" altLang="en-US" sz="1350" dirty="0">
                <a:solidFill>
                  <a:srgbClr val="8A6D1E"/>
                </a:solidFill>
                <a:latin typeface="Amiri" pitchFamily="34" charset="0"/>
                <a:ea typeface="Amiri" pitchFamily="34" charset="-122"/>
                <a:cs typeface="Amiri" pitchFamily="34" charset="-120"/>
              </a:rPr>
              <a:t>أُكْمِلَ</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7" name="Shape 45"/>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6"/>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7"/>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8"/>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correct sentence about Ali and his sister.</a:t>
            </a:r>
            <a:endParaRPr lang="en-US" sz="1250" dirty="0"/>
          </a:p>
        </p:txBody>
      </p:sp>
      <p:sp>
        <p:nvSpPr>
          <p:cNvPr id="51" name="Shape 49"/>
          <p:cNvSpPr/>
          <p:nvPr/>
        </p:nvSpPr>
        <p:spPr>
          <a:xfrm>
            <a:off x="8278368" y="2490216"/>
            <a:ext cx="256032" cy="256032"/>
          </a:xfrm>
          <a:prstGeom prst="ellipse">
            <a:avLst/>
          </a:prstGeom>
          <a:solidFill>
            <a:srgbClr val="C9CED6"/>
          </a:solidFill>
          <a:ln w="12700">
            <a:solidFill>
              <a:srgbClr val="C9CED6"/>
            </a:solidFill>
            <a:prstDash val="solid"/>
          </a:ln>
        </p:spPr>
      </p:sp>
      <p:sp>
        <p:nvSpPr>
          <p:cNvPr id="52"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3" name="Text 51"/>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عَلِيٌّ تَدْرُسُ، وَأُخْتُهُ يَقْرَأُ.</a:t>
            </a:r>
            <a:endParaRPr lang="ar-SA" sz="1700" dirty="0"/>
          </a:p>
        </p:txBody>
      </p:sp>
      <p:sp>
        <p:nvSpPr>
          <p:cNvPr id="54"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5"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6" name="Text 54"/>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عَلِيٌّ أَدْرُسُ، وَأُخْتُهُ نَقْرَأُ.</a:t>
            </a:r>
            <a:endParaRPr lang="ar-SA" sz="1700" dirty="0"/>
          </a:p>
        </p:txBody>
      </p:sp>
      <p:sp>
        <p:nvSpPr>
          <p:cNvPr id="57" name="Shape 55"/>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8" name="Shape 56"/>
          <p:cNvSpPr/>
          <p:nvPr/>
        </p:nvSpPr>
        <p:spPr>
          <a:xfrm>
            <a:off x="8278368" y="3233928"/>
            <a:ext cx="256032" cy="256032"/>
          </a:xfrm>
          <a:prstGeom prst="ellipse">
            <a:avLst/>
          </a:prstGeom>
          <a:solidFill>
            <a:srgbClr val="2E8B57"/>
          </a:solidFill>
          <a:ln w="12700">
            <a:solidFill>
              <a:srgbClr val="2E8B57"/>
            </a:solidFill>
            <a:prstDash val="solid"/>
          </a:ln>
        </p:spPr>
      </p:sp>
      <p:sp>
        <p:nvSpPr>
          <p:cNvPr id="59" name="Text 57"/>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60" name="Text 58"/>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عَلِيٌّ يَدْرُسُ، وَأُخْتُهُ تَقْرَأُ.</a:t>
            </a:r>
            <a:endParaRPr lang="ar-SA" sz="1700" dirty="0"/>
          </a:p>
        </p:txBody>
      </p:sp>
      <p:sp>
        <p:nvSpPr>
          <p:cNvPr id="61" name="Text 59"/>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Masculine singular uses </a:t>
            </a:r>
            <a:pPr algn="l" indent="0" marL="0">
              <a:buNone/>
            </a:pPr>
            <a:r>
              <a:rPr lang="ar-SA" altLang="en-US" sz="1350" dirty="0">
                <a:solidFill>
                  <a:srgbClr val="8A6D1E"/>
                </a:solidFill>
                <a:latin typeface="Amiri" pitchFamily="34" charset="0"/>
                <a:ea typeface="Amiri" pitchFamily="34" charset="-122"/>
                <a:cs typeface="Amiri" pitchFamily="34" charset="-120"/>
              </a:rPr>
              <a:t>يَـ</a:t>
            </a:r>
            <a:pPr algn="l" indent="0" marL="0">
              <a:buNone/>
            </a:pPr>
            <a:r>
              <a:rPr lang="en-US" sz="1050" i="1" dirty="0">
                <a:solidFill>
                  <a:srgbClr val="8A6D1E"/>
                </a:solidFill>
                <a:latin typeface="Calibri" pitchFamily="34" charset="0"/>
                <a:ea typeface="Calibri" pitchFamily="34" charset="-122"/>
                <a:cs typeface="Calibri" pitchFamily="34" charset="-120"/>
              </a:rPr>
              <a:t>; feminine singular uses </a:t>
            </a:r>
            <a:pPr algn="l" indent="0" marL="0">
              <a:buNone/>
            </a:pPr>
            <a:r>
              <a:rPr lang="ar-SA" altLang="en-US" sz="1350" dirty="0">
                <a:solidFill>
                  <a:srgbClr val="8A6D1E"/>
                </a:solidFill>
                <a:latin typeface="Amiri" pitchFamily="34" charset="0"/>
                <a:ea typeface="Amiri" pitchFamily="34" charset="-122"/>
                <a:cs typeface="Amiri" pitchFamily="34" charset="-120"/>
              </a:rPr>
              <a:t>تَـ</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2" name="Shape 60"/>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1"/>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3"/>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weekend comparison.</a:t>
            </a:r>
            <a:endParaRPr lang="en-US" sz="1250" dirty="0"/>
          </a:p>
        </p:txBody>
      </p:sp>
      <p:sp>
        <p:nvSpPr>
          <p:cNvPr id="66" name="Shape 64"/>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5"/>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6"/>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250" dirty="0">
                <a:solidFill>
                  <a:srgbClr val="9AA1AB"/>
                </a:solidFill>
                <a:latin typeface="Amiri" pitchFamily="34" charset="0"/>
                <a:ea typeface="Amiri" pitchFamily="34" charset="-122"/>
                <a:cs typeface="Amiri" pitchFamily="34" charset="-120"/>
              </a:rPr>
              <a:t>فِي الأُسْبُوعِ أَدْرُسُ، أَمَّا يَوْمَ السَّبْتِ أَسْتَرِيحُ فَـ.</a:t>
            </a:r>
            <a:endParaRPr lang="ar-SA" sz="1250" dirty="0"/>
          </a:p>
        </p:txBody>
      </p:sp>
      <p:sp>
        <p:nvSpPr>
          <p:cNvPr id="69" name="Shape 67"/>
          <p:cNvSpPr/>
          <p:nvPr/>
        </p:nvSpPr>
        <p:spPr>
          <a:xfrm>
            <a:off x="640080" y="5202936"/>
            <a:ext cx="256032" cy="256032"/>
          </a:xfrm>
          <a:prstGeom prst="ellipse">
            <a:avLst/>
          </a:prstGeom>
          <a:solidFill>
            <a:srgbClr val="C9CED6"/>
          </a:solidFill>
          <a:ln w="12700">
            <a:solidFill>
              <a:srgbClr val="C9CED6"/>
            </a:solidFill>
            <a:prstDash val="solid"/>
          </a:ln>
        </p:spPr>
      </p:sp>
      <p:sp>
        <p:nvSpPr>
          <p:cNvPr id="70"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9"/>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250" dirty="0">
                <a:solidFill>
                  <a:srgbClr val="9AA1AB"/>
                </a:solidFill>
                <a:latin typeface="Amiri" pitchFamily="34" charset="0"/>
                <a:ea typeface="Amiri" pitchFamily="34" charset="-122"/>
                <a:cs typeface="Amiri" pitchFamily="34" charset="-120"/>
              </a:rPr>
              <a:t>أَمَّا أَدْرُسُ فِي السَّبْتِ كُلَّ يَوْمٍ.</a:t>
            </a:r>
            <a:endParaRPr lang="ar-SA" sz="1250" dirty="0"/>
          </a:p>
        </p:txBody>
      </p:sp>
      <p:sp>
        <p:nvSpPr>
          <p:cNvPr id="72" name="Shape 70"/>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3" name="Shape 71"/>
          <p:cNvSpPr/>
          <p:nvPr/>
        </p:nvSpPr>
        <p:spPr>
          <a:xfrm>
            <a:off x="640080" y="5574792"/>
            <a:ext cx="256032" cy="256032"/>
          </a:xfrm>
          <a:prstGeom prst="ellipse">
            <a:avLst/>
          </a:prstGeom>
          <a:solidFill>
            <a:srgbClr val="2E8B57"/>
          </a:solidFill>
          <a:ln w="12700">
            <a:solidFill>
              <a:srgbClr val="2E8B57"/>
            </a:solidFill>
            <a:prstDash val="solid"/>
          </a:ln>
        </p:spPr>
      </p:sp>
      <p:sp>
        <p:nvSpPr>
          <p:cNvPr id="74" name="Text 72"/>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5" name="Text 73"/>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250" b="1" dirty="0">
                <a:solidFill>
                  <a:srgbClr val="1F2A37"/>
                </a:solidFill>
                <a:latin typeface="Amiri" pitchFamily="34" charset="0"/>
                <a:ea typeface="Amiri" pitchFamily="34" charset="-122"/>
                <a:cs typeface="Amiri" pitchFamily="34" charset="-120"/>
              </a:rPr>
              <a:t>فِي الأُسْبُوعِ أَدْرُسُ كُلَّ يَوْمٍ، أَمَّا يَوْمَ السَّبْتِ فَأَسْتَرِيحُ.</a:t>
            </a:r>
            <a:endParaRPr lang="ar-SA" sz="1250" dirty="0"/>
          </a:p>
        </p:txBody>
      </p:sp>
      <p:sp>
        <p:nvSpPr>
          <p:cNvPr id="76" name="Text 74"/>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أَمَّا</a:t>
            </a:r>
            <a:pPr algn="l" indent="0" marL="0">
              <a:buNone/>
            </a:pPr>
            <a:r>
              <a:rPr lang="en-US" sz="1050" i="1" dirty="0">
                <a:solidFill>
                  <a:srgbClr val="8A6D1E"/>
                </a:solidFill>
                <a:latin typeface="Calibri" pitchFamily="34" charset="0"/>
                <a:ea typeface="Calibri" pitchFamily="34" charset="-122"/>
                <a:cs typeface="Calibri" pitchFamily="34" charset="-120"/>
              </a:rPr>
              <a:t> introduces the topic and </a:t>
            </a:r>
            <a:pPr algn="l" indent="0" marL="0">
              <a:buNone/>
            </a:pPr>
            <a:r>
              <a:rPr lang="ar-SA" altLang="en-US" sz="1350" dirty="0">
                <a:solidFill>
                  <a:srgbClr val="8A6D1E"/>
                </a:solidFill>
                <a:latin typeface="Amiri" pitchFamily="34" charset="0"/>
                <a:ea typeface="Amiri" pitchFamily="34" charset="-122"/>
                <a:cs typeface="Amiri" pitchFamily="34" charset="-120"/>
              </a:rPr>
              <a:t>فَـ</a:t>
            </a:r>
            <a:pPr algn="l" indent="0" marL="0">
              <a:buNone/>
            </a:pPr>
            <a:r>
              <a:rPr lang="en-US" sz="1050" i="1" dirty="0">
                <a:solidFill>
                  <a:srgbClr val="8A6D1E"/>
                </a:solidFill>
                <a:latin typeface="Calibri" pitchFamily="34" charset="0"/>
                <a:ea typeface="Calibri" pitchFamily="34" charset="-122"/>
                <a:cs typeface="Calibri" pitchFamily="34" charset="-120"/>
              </a:rPr>
              <a:t> introduces the comment.</a:t>
            </a:r>
            <a:endParaRPr lang="en-US" sz="1050" dirty="0"/>
          </a:p>
        </p:txBody>
      </p:sp>
      <p:sp>
        <p:nvSpPr>
          <p:cNvPr id="77" name="Shape 75"/>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6"/>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7"/>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8"/>
          <p:cNvSpPr txBox="1"/>
          <p:nvPr/>
        </p:nvSpPr>
        <p:spPr>
          <a:xfrm>
            <a:off x="4770120" y="4224528"/>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Correct the error:</a:t>
            </a:r>
            <a:endParaRPr lang="en-US" sz="1200" dirty="0"/>
          </a:p>
        </p:txBody>
      </p:sp>
      <p:sp>
        <p:nvSpPr>
          <p:cNvPr id="81" name="Text 79"/>
          <p:cNvSpPr txBox="1"/>
          <p:nvPr/>
        </p:nvSpPr>
        <p:spPr>
          <a:xfrm>
            <a:off x="6225845" y="4224528"/>
            <a:ext cx="1577035" cy="475488"/>
          </a:xfrm>
          <a:prstGeom prst="rect">
            <a:avLst/>
          </a:prstGeom>
          <a:noFill/>
          <a:ln/>
        </p:spPr>
        <p:txBody>
          <a:bodyPr wrap="square" lIns="0" tIns="0" rIns="0" bIns="0" rtlCol="0" anchor="ctr"/>
          <a:lstStyle/>
          <a:p>
            <a:pPr rtl="1" algn="r" indent="0" marL="0">
              <a:buNone/>
            </a:pPr>
            <a:r>
              <a:rPr lang="ar-SA" altLang="en-US" sz="1400" b="1" dirty="0">
                <a:solidFill>
                  <a:srgbClr val="1F2A37"/>
                </a:solidFill>
                <a:latin typeface="Amiri" pitchFamily="34" charset="0"/>
                <a:ea typeface="Amiri" pitchFamily="34" charset="-122"/>
                <a:cs typeface="Amiri" pitchFamily="34" charset="-120"/>
              </a:rPr>
              <a:t>أَنْتِ تَسْتَيْقِظُ فِي السَّابِعَةِ.</a:t>
            </a:r>
            <a:endParaRPr lang="ar-SA" sz="1400" dirty="0"/>
          </a:p>
        </p:txBody>
      </p:sp>
      <p:sp>
        <p:nvSpPr>
          <p:cNvPr id="82" name="Shape 80"/>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3" name="Shape 81"/>
          <p:cNvSpPr/>
          <p:nvPr/>
        </p:nvSpPr>
        <p:spPr>
          <a:xfrm>
            <a:off x="4459224" y="4831080"/>
            <a:ext cx="256032" cy="256032"/>
          </a:xfrm>
          <a:prstGeom prst="ellipse">
            <a:avLst/>
          </a:prstGeom>
          <a:solidFill>
            <a:srgbClr val="2E8B57"/>
          </a:solidFill>
          <a:ln w="12700">
            <a:solidFill>
              <a:srgbClr val="2E8B57"/>
            </a:solidFill>
            <a:prstDash val="solid"/>
          </a:ln>
        </p:spPr>
      </p:sp>
      <p:sp>
        <p:nvSpPr>
          <p:cNvPr id="84" name="Text 82"/>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5" name="Text 83"/>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أَنْتِ تَسْتَيْقِظِينَ فِي السَّابِعَةِ.</a:t>
            </a:r>
            <a:endParaRPr lang="ar-SA" sz="1700" dirty="0"/>
          </a:p>
        </p:txBody>
      </p:sp>
      <p:sp>
        <p:nvSpPr>
          <p:cNvPr id="86" name="Shape 84"/>
          <p:cNvSpPr/>
          <p:nvPr/>
        </p:nvSpPr>
        <p:spPr>
          <a:xfrm>
            <a:off x="4459224" y="5202936"/>
            <a:ext cx="256032" cy="256032"/>
          </a:xfrm>
          <a:prstGeom prst="ellipse">
            <a:avLst/>
          </a:prstGeom>
          <a:solidFill>
            <a:srgbClr val="C9CED6"/>
          </a:solidFill>
          <a:ln w="12700">
            <a:solidFill>
              <a:srgbClr val="C9CED6"/>
            </a:solidFill>
            <a:prstDash val="solid"/>
          </a:ln>
        </p:spPr>
      </p:sp>
      <p:sp>
        <p:nvSpPr>
          <p:cNvPr id="87" name="Text 85"/>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8" name="Text 86"/>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أَنْتِ يَسْتَيْقِظُ فِي السَّابِعَةِ.</a:t>
            </a:r>
            <a:endParaRPr lang="ar-SA" sz="1700" dirty="0"/>
          </a:p>
        </p:txBody>
      </p:sp>
      <p:sp>
        <p:nvSpPr>
          <p:cNvPr id="89" name="Shape 87"/>
          <p:cNvSpPr/>
          <p:nvPr/>
        </p:nvSpPr>
        <p:spPr>
          <a:xfrm>
            <a:off x="4459224" y="5574792"/>
            <a:ext cx="256032" cy="256032"/>
          </a:xfrm>
          <a:prstGeom prst="ellipse">
            <a:avLst/>
          </a:prstGeom>
          <a:solidFill>
            <a:srgbClr val="C9CED6"/>
          </a:solidFill>
          <a:ln w="12700">
            <a:solidFill>
              <a:srgbClr val="C9CED6"/>
            </a:solidFill>
            <a:prstDash val="solid"/>
          </a:ln>
        </p:spPr>
      </p:sp>
      <p:sp>
        <p:nvSpPr>
          <p:cNvPr id="90" name="Text 88"/>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1" name="Text 89"/>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أَنْتِ أَسْتَيْقِظُ فِي السَّابِعَةِ.</a:t>
            </a:r>
            <a:endParaRPr lang="ar-SA" sz="1700" dirty="0"/>
          </a:p>
        </p:txBody>
      </p:sp>
      <p:sp>
        <p:nvSpPr>
          <p:cNvPr id="92" name="Text 90"/>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One female listener takes </a:t>
            </a:r>
            <a:pPr algn="l" indent="0" marL="0">
              <a:buNone/>
            </a:pPr>
            <a:r>
              <a:rPr lang="ar-SA" altLang="en-US" sz="1350" dirty="0">
                <a:solidFill>
                  <a:srgbClr val="8A6D1E"/>
                </a:solidFill>
                <a:latin typeface="Amiri" pitchFamily="34" charset="0"/>
                <a:ea typeface="Amiri" pitchFamily="34" charset="-122"/>
                <a:cs typeface="Amiri" pitchFamily="34" charset="-120"/>
              </a:rPr>
              <a:t>تَـ</a:t>
            </a:r>
            <a:pPr algn="l" indent="0" marL="0">
              <a:buNone/>
            </a:pPr>
            <a:r>
              <a:rPr lang="en-US" sz="1050" i="1" dirty="0">
                <a:solidFill>
                  <a:srgbClr val="8A6D1E"/>
                </a:solidFill>
                <a:latin typeface="Calibri" pitchFamily="34" charset="0"/>
                <a:ea typeface="Calibri" pitchFamily="34" charset="-122"/>
                <a:cs typeface="Calibri" pitchFamily="34" charset="-120"/>
              </a:rPr>
              <a:t>...</a:t>
            </a:r>
            <a:pPr algn="l" indent="0" marL="0">
              <a:buNone/>
            </a:pPr>
            <a:r>
              <a:rPr lang="ar-SA" altLang="en-US" sz="1350" dirty="0">
                <a:solidFill>
                  <a:srgbClr val="8A6D1E"/>
                </a:solidFill>
                <a:latin typeface="Amiri" pitchFamily="34" charset="0"/>
                <a:ea typeface="Amiri" pitchFamily="34" charset="-122"/>
                <a:cs typeface="Amiri" pitchFamily="34" charset="-120"/>
              </a:rPr>
              <a:t>ـينَ</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93" name="Shape 91"/>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4" name="Shape 92"/>
          <p:cNvSpPr/>
          <p:nvPr/>
        </p:nvSpPr>
        <p:spPr>
          <a:xfrm>
            <a:off x="8223504" y="4288536"/>
            <a:ext cx="310896" cy="310896"/>
          </a:xfrm>
          <a:prstGeom prst="ellipse">
            <a:avLst/>
          </a:prstGeom>
          <a:solidFill>
            <a:srgbClr val="1B3B6F"/>
          </a:solidFill>
          <a:ln w="12700">
            <a:solidFill>
              <a:srgbClr val="1B3B6F"/>
            </a:solidFill>
            <a:prstDash val="solid"/>
          </a:ln>
        </p:spPr>
      </p:sp>
      <p:sp>
        <p:nvSpPr>
          <p:cNvPr id="95" name="Text 93"/>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6" name="Text 94"/>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sentence with accurate sequence and reference.</a:t>
            </a:r>
            <a:endParaRPr lang="en-US" sz="1250" dirty="0"/>
          </a:p>
        </p:txBody>
      </p:sp>
      <p:sp>
        <p:nvSpPr>
          <p:cNvPr id="97" name="Shape 95"/>
          <p:cNvSpPr/>
          <p:nvPr/>
        </p:nvSpPr>
        <p:spPr>
          <a:xfrm>
            <a:off x="8278368" y="4831080"/>
            <a:ext cx="256032" cy="256032"/>
          </a:xfrm>
          <a:prstGeom prst="ellipse">
            <a:avLst/>
          </a:prstGeom>
          <a:solidFill>
            <a:srgbClr val="C9CED6"/>
          </a:solidFill>
          <a:ln w="12700">
            <a:solidFill>
              <a:srgbClr val="C9CED6"/>
            </a:solidFill>
            <a:prstDash val="solid"/>
          </a:ln>
        </p:spPr>
      </p:sp>
      <p:sp>
        <p:nvSpPr>
          <p:cNvPr id="98" name="Text 96"/>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9" name="Text 97"/>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600" dirty="0">
                <a:solidFill>
                  <a:srgbClr val="9AA1AB"/>
                </a:solidFill>
                <a:latin typeface="Amiri" pitchFamily="34" charset="0"/>
                <a:ea typeface="Amiri" pitchFamily="34" charset="-122"/>
                <a:cs typeface="Amiri" pitchFamily="34" charset="-120"/>
              </a:rPr>
              <a:t>يَعُودُ مَرْيَمُ إِلَى البَيْتِ، ثُمَّ يُكْمِلُ وَاجِبَهُ.</a:t>
            </a:r>
            <a:endParaRPr lang="ar-SA" sz="1600" dirty="0"/>
          </a:p>
        </p:txBody>
      </p:sp>
      <p:sp>
        <p:nvSpPr>
          <p:cNvPr id="100" name="Shape 98"/>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101" name="Shape 99"/>
          <p:cNvSpPr/>
          <p:nvPr/>
        </p:nvSpPr>
        <p:spPr>
          <a:xfrm>
            <a:off x="8278368" y="5202936"/>
            <a:ext cx="256032" cy="256032"/>
          </a:xfrm>
          <a:prstGeom prst="ellipse">
            <a:avLst/>
          </a:prstGeom>
          <a:solidFill>
            <a:srgbClr val="2E8B57"/>
          </a:solidFill>
          <a:ln w="12700">
            <a:solidFill>
              <a:srgbClr val="2E8B57"/>
            </a:solidFill>
            <a:prstDash val="solid"/>
          </a:ln>
        </p:spPr>
      </p:sp>
      <p:sp>
        <p:nvSpPr>
          <p:cNvPr id="102" name="Text 100"/>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103" name="Text 101"/>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تَعُودُ مَرْيَمُ إِلَى البَيْتِ، ثُمَّ تُكْمِلُ وَاجِبَهَا.</a:t>
            </a:r>
            <a:endParaRPr lang="ar-SA" sz="1600" dirty="0"/>
          </a:p>
        </p:txBody>
      </p:sp>
      <p:sp>
        <p:nvSpPr>
          <p:cNvPr id="104" name="Shape 102"/>
          <p:cNvSpPr/>
          <p:nvPr/>
        </p:nvSpPr>
        <p:spPr>
          <a:xfrm>
            <a:off x="8278368" y="5574792"/>
            <a:ext cx="256032" cy="256032"/>
          </a:xfrm>
          <a:prstGeom prst="ellipse">
            <a:avLst/>
          </a:prstGeom>
          <a:solidFill>
            <a:srgbClr val="C9CED6"/>
          </a:solidFill>
          <a:ln w="12700">
            <a:solidFill>
              <a:srgbClr val="C9CED6"/>
            </a:solidFill>
            <a:prstDash val="solid"/>
          </a:ln>
        </p:spPr>
      </p:sp>
      <p:sp>
        <p:nvSpPr>
          <p:cNvPr id="105" name="Text 103"/>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6" name="Text 104"/>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600" dirty="0">
                <a:solidFill>
                  <a:srgbClr val="9AA1AB"/>
                </a:solidFill>
                <a:latin typeface="Amiri" pitchFamily="34" charset="0"/>
                <a:ea typeface="Amiri" pitchFamily="34" charset="-122"/>
                <a:cs typeface="Amiri" pitchFamily="34" charset="-120"/>
              </a:rPr>
              <a:t>تَعُودُ مَرْيَمُ، ثُمَّ أُكْمِلُ وَاجِبِي.</a:t>
            </a:r>
            <a:endParaRPr lang="ar-SA" sz="1600" dirty="0"/>
          </a:p>
        </p:txBody>
      </p:sp>
      <p:sp>
        <p:nvSpPr>
          <p:cNvPr id="107" name="Text 105"/>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feminine subject and possessive suffix remain consistent.</a:t>
            </a:r>
            <a:endParaRPr lang="en-US" sz="1050" dirty="0"/>
          </a:p>
        </p:txBody>
      </p:sp>
      <p:sp>
        <p:nvSpPr>
          <p:cNvPr id="108" name="Text 10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26</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D1-L12 · D1 Assessment</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ASSESSMENT MAP (WEBSITE) · 60 MARKS IN TOTAL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Your 60-mark D1 profile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خُطَّةُ التَّقْيِيمِ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10524744" y="1810512"/>
            <a:ext cx="1133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Marks</a:t>
            </a:r>
            <a:endParaRPr lang="en-US" sz="1100" dirty="0"/>
          </a:p>
        </p:txBody>
      </p:sp>
      <p:sp>
        <p:nvSpPr>
          <p:cNvPr id="17" name="Text 14"/>
          <p:cNvSpPr txBox="1"/>
          <p:nvPr/>
        </p:nvSpPr>
        <p:spPr>
          <a:xfrm>
            <a:off x="3941064" y="1810512"/>
            <a:ext cx="64373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What you do</a:t>
            </a:r>
            <a:endParaRPr lang="en-US" sz="1100" dirty="0"/>
          </a:p>
        </p:txBody>
      </p:sp>
      <p:sp>
        <p:nvSpPr>
          <p:cNvPr id="18" name="Text 15"/>
          <p:cNvSpPr txBox="1"/>
          <p:nvPr/>
        </p:nvSpPr>
        <p:spPr>
          <a:xfrm>
            <a:off x="530352" y="1810512"/>
            <a:ext cx="32644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Skill</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10561320" y="2267712"/>
            <a:ext cx="10972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20</a:t>
            </a:r>
            <a:endParaRPr lang="en-US" sz="1100" dirty="0"/>
          </a:p>
        </p:txBody>
      </p:sp>
      <p:sp>
        <p:nvSpPr>
          <p:cNvPr id="21" name="Text 18"/>
          <p:cNvSpPr txBox="1"/>
          <p:nvPr/>
        </p:nvSpPr>
        <p:spPr>
          <a:xfrm>
            <a:off x="3977640" y="2267712"/>
            <a:ext cx="6400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Three texts, each heard twice: Maryam’s school day (8) · Yusuf and Huda (6) · an interview with Samir (6)</a:t>
            </a:r>
            <a:endParaRPr lang="en-US" sz="1100" dirty="0"/>
          </a:p>
        </p:txBody>
      </p:sp>
      <p:sp>
        <p:nvSpPr>
          <p:cNvPr id="22" name="Text 19"/>
          <p:cNvSpPr txBox="1"/>
          <p:nvPr/>
        </p:nvSpPr>
        <p:spPr>
          <a:xfrm>
            <a:off x="566928" y="2267712"/>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 Listening · </a:t>
            </a:r>
            <a:pPr algn="l" indent="0" marL="0">
              <a:buNone/>
            </a:pPr>
            <a:r>
              <a:rPr lang="ar-SA" altLang="en-US" sz="1450" dirty="0">
                <a:solidFill>
                  <a:srgbClr val="5A6472"/>
                </a:solidFill>
                <a:latin typeface="Amiri" pitchFamily="34" charset="0"/>
                <a:ea typeface="Amiri" pitchFamily="34" charset="-122"/>
                <a:cs typeface="Amiri" pitchFamily="34" charset="-120"/>
              </a:rPr>
              <a:t>الاِسْتِمَاعُ</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10561320" y="3054096"/>
            <a:ext cx="10972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10</a:t>
            </a:r>
            <a:endParaRPr lang="en-US" sz="1100" dirty="0"/>
          </a:p>
        </p:txBody>
      </p:sp>
      <p:sp>
        <p:nvSpPr>
          <p:cNvPr id="27" name="Text 24"/>
          <p:cNvSpPr txBox="1"/>
          <p:nvPr/>
        </p:nvSpPr>
        <p:spPr>
          <a:xfrm>
            <a:off x="3977640" y="3054096"/>
            <a:ext cx="6400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 school-day and weekend routine: ten questions — locate, interpret, prove</a:t>
            </a:r>
            <a:endParaRPr lang="en-US" sz="1100" dirty="0"/>
          </a:p>
        </p:txBody>
      </p:sp>
      <p:sp>
        <p:nvSpPr>
          <p:cNvPr id="28" name="Text 25"/>
          <p:cNvSpPr txBox="1"/>
          <p:nvPr/>
        </p:nvSpPr>
        <p:spPr>
          <a:xfrm>
            <a:off x="566928" y="3054096"/>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 Reading · </a:t>
            </a:r>
            <a:pPr algn="l" indent="0" marL="0">
              <a:buNone/>
            </a:pPr>
            <a:r>
              <a:rPr lang="ar-SA" altLang="en-US" sz="1450" dirty="0">
                <a:solidFill>
                  <a:srgbClr val="5A6472"/>
                </a:solidFill>
                <a:latin typeface="Amiri" pitchFamily="34" charset="0"/>
                <a:ea typeface="Amiri" pitchFamily="34" charset="-122"/>
                <a:cs typeface="Amiri" pitchFamily="34" charset="-120"/>
              </a:rPr>
              <a:t>القِرَاءَةُ</a:t>
            </a:r>
            <a:endParaRPr lang="en-US" sz="11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10561320" y="3840480"/>
            <a:ext cx="10972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20</a:t>
            </a:r>
            <a:endParaRPr lang="en-US" sz="1100" dirty="0"/>
          </a:p>
        </p:txBody>
      </p:sp>
      <p:sp>
        <p:nvSpPr>
          <p:cNvPr id="33" name="Text 30"/>
          <p:cNvSpPr txBox="1"/>
          <p:nvPr/>
        </p:nvSpPr>
        <p:spPr>
          <a:xfrm>
            <a:off x="3977640" y="3840480"/>
            <a:ext cx="6400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Routine form: five fields (5) · article or email, 100–120 words (15)</a:t>
            </a:r>
            <a:endParaRPr lang="en-US" sz="1100" dirty="0"/>
          </a:p>
        </p:txBody>
      </p:sp>
      <p:sp>
        <p:nvSpPr>
          <p:cNvPr id="34" name="Text 31"/>
          <p:cNvSpPr txBox="1"/>
          <p:nvPr/>
        </p:nvSpPr>
        <p:spPr>
          <a:xfrm>
            <a:off x="566928" y="3840480"/>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 Writing · </a:t>
            </a:r>
            <a:pPr algn="l" indent="0" marL="0">
              <a:buNone/>
            </a:pPr>
            <a:r>
              <a:rPr lang="ar-SA" altLang="en-US" sz="1450" dirty="0">
                <a:solidFill>
                  <a:srgbClr val="5A6472"/>
                </a:solidFill>
                <a:latin typeface="Amiri" pitchFamily="34" charset="0"/>
                <a:ea typeface="Amiri" pitchFamily="34" charset="-122"/>
                <a:cs typeface="Amiri" pitchFamily="34" charset="-120"/>
              </a:rPr>
              <a:t>الكِتَابَةُ</a:t>
            </a:r>
            <a:endParaRPr lang="en-US" sz="1100" dirty="0"/>
          </a:p>
        </p:txBody>
      </p:sp>
      <p:sp>
        <p:nvSpPr>
          <p:cNvPr id="35" name="Shape 32"/>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7" name="Shape 34"/>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8" name="Text 35"/>
          <p:cNvSpPr txBox="1"/>
          <p:nvPr/>
        </p:nvSpPr>
        <p:spPr>
          <a:xfrm>
            <a:off x="10561320" y="4626864"/>
            <a:ext cx="10972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10</a:t>
            </a:r>
            <a:endParaRPr lang="en-US" sz="1100" dirty="0"/>
          </a:p>
        </p:txBody>
      </p:sp>
      <p:sp>
        <p:nvSpPr>
          <p:cNvPr id="39" name="Text 36"/>
          <p:cNvSpPr txBox="1"/>
          <p:nvPr/>
        </p:nvSpPr>
        <p:spPr>
          <a:xfrm>
            <a:off x="3977640" y="4626864"/>
            <a:ext cx="640080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Role-play (4) · topic conversation (6) — prepare cue words only</a:t>
            </a:r>
            <a:endParaRPr lang="en-US" sz="1100" dirty="0"/>
          </a:p>
        </p:txBody>
      </p:sp>
      <p:sp>
        <p:nvSpPr>
          <p:cNvPr id="40" name="Text 37"/>
          <p:cNvSpPr txBox="1"/>
          <p:nvPr/>
        </p:nvSpPr>
        <p:spPr>
          <a:xfrm>
            <a:off x="566928" y="4626864"/>
            <a:ext cx="32278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 Speaking · </a:t>
            </a:r>
            <a:pPr algn="l" indent="0" marL="0">
              <a:buNone/>
            </a:pPr>
            <a:r>
              <a:rPr lang="ar-SA" altLang="en-US" sz="1450" dirty="0">
                <a:solidFill>
                  <a:srgbClr val="5A6472"/>
                </a:solidFill>
                <a:latin typeface="Amiri" pitchFamily="34" charset="0"/>
                <a:ea typeface="Amiri" pitchFamily="34" charset="-122"/>
                <a:cs typeface="Amiri" pitchFamily="34" charset="-120"/>
              </a:rPr>
              <a:t>التَّحَدُّثُ</a:t>
            </a:r>
            <a:endParaRPr lang="en-US" sz="1100" dirty="0"/>
          </a:p>
        </p:txBody>
      </p:sp>
      <p:sp>
        <p:nvSpPr>
          <p:cNvPr id="41" name="Shape 38"/>
          <p:cNvSpPr/>
          <p:nvPr/>
        </p:nvSpPr>
        <p:spPr>
          <a:xfrm>
            <a:off x="11091672" y="4672584"/>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6725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3" name="Text 4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26</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D1-L12 · D1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LISTENING · TEXT 1 · 8 MARKS · HEARD TWICE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ea typeface="Cambria" pitchFamily="34" charset="-122"/>
                <a:cs typeface="Cambria" pitchFamily="34" charset="-120"/>
              </a:rPr>
              <a:t>Text 1 · Maryam describes a school day</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 (١)</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D1-L12</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does Maryam wake on school days?</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6:10</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7:00</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6:30</a:t>
            </a:r>
            <a:endParaRPr lang="en-US" sz="1250" dirty="0"/>
          </a:p>
        </p:txBody>
      </p:sp>
      <p:sp>
        <p:nvSpPr>
          <p:cNvPr id="28" name="Shape 25"/>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3449574"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she do immediately after waking?</a:t>
            </a:r>
            <a:endParaRPr lang="en-US" sz="1250" dirty="0"/>
          </a:p>
        </p:txBody>
      </p:sp>
      <p:sp>
        <p:nvSpPr>
          <p:cNvPr id="32" name="Shape 29"/>
          <p:cNvSpPr/>
          <p:nvPr/>
        </p:nvSpPr>
        <p:spPr>
          <a:xfrm>
            <a:off x="3504438"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checks messages</a:t>
            </a:r>
            <a:endParaRPr lang="en-US" sz="1250" dirty="0"/>
          </a:p>
        </p:txBody>
      </p:sp>
      <p:sp>
        <p:nvSpPr>
          <p:cNvPr id="35" name="Shape 32"/>
          <p:cNvSpPr/>
          <p:nvPr/>
        </p:nvSpPr>
        <p:spPr>
          <a:xfrm>
            <a:off x="3504438"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showers</a:t>
            </a:r>
            <a:endParaRPr lang="en-US" sz="1250" dirty="0"/>
          </a:p>
        </p:txBody>
      </p:sp>
      <p:sp>
        <p:nvSpPr>
          <p:cNvPr id="38" name="Shape 35"/>
          <p:cNvSpPr/>
          <p:nvPr/>
        </p:nvSpPr>
        <p:spPr>
          <a:xfrm>
            <a:off x="3504438"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leaves home</a:t>
            </a:r>
            <a:endParaRPr lang="en-US" sz="1250" dirty="0"/>
          </a:p>
        </p:txBody>
      </p:sp>
      <p:sp>
        <p:nvSpPr>
          <p:cNvPr id="41" name="Shape 38"/>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313932"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time does she leave home?</a:t>
            </a:r>
            <a:endParaRPr lang="en-US" sz="1250" dirty="0"/>
          </a:p>
        </p:txBody>
      </p:sp>
      <p:sp>
        <p:nvSpPr>
          <p:cNvPr id="45" name="Shape 42"/>
          <p:cNvSpPr/>
          <p:nvPr/>
        </p:nvSpPr>
        <p:spPr>
          <a:xfrm>
            <a:off x="6368796"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7:15</a:t>
            </a:r>
            <a:endParaRPr lang="en-US" sz="1250" dirty="0"/>
          </a:p>
        </p:txBody>
      </p:sp>
      <p:sp>
        <p:nvSpPr>
          <p:cNvPr id="48" name="Shape 45"/>
          <p:cNvSpPr/>
          <p:nvPr/>
        </p:nvSpPr>
        <p:spPr>
          <a:xfrm>
            <a:off x="6368796"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7:45</a:t>
            </a:r>
            <a:endParaRPr lang="en-US" sz="1250" dirty="0"/>
          </a:p>
        </p:txBody>
      </p:sp>
      <p:sp>
        <p:nvSpPr>
          <p:cNvPr id="51" name="Shape 48"/>
          <p:cNvSpPr/>
          <p:nvPr/>
        </p:nvSpPr>
        <p:spPr>
          <a:xfrm>
            <a:off x="6368796"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7:30</a:t>
            </a:r>
            <a:endParaRPr lang="en-US" sz="1250" dirty="0"/>
          </a:p>
        </p:txBody>
      </p:sp>
      <p:sp>
        <p:nvSpPr>
          <p:cNvPr id="54" name="Shape 51"/>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9178290" y="1947672"/>
            <a:ext cx="310896" cy="310896"/>
          </a:xfrm>
          <a:prstGeom prst="ellipse">
            <a:avLst/>
          </a:prstGeom>
          <a:solidFill>
            <a:srgbClr val="1B3B6F"/>
          </a:solidFill>
          <a:ln w="12700">
            <a:solidFill>
              <a:srgbClr val="1B3B6F"/>
            </a:solidFill>
            <a:prstDash val="solid"/>
          </a:ln>
        </p:spPr>
      </p:sp>
      <p:sp>
        <p:nvSpPr>
          <p:cNvPr id="56" name="Text 53"/>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does she usually travel?</a:t>
            </a:r>
            <a:endParaRPr lang="en-US" sz="1250" dirty="0"/>
          </a:p>
        </p:txBody>
      </p:sp>
      <p:sp>
        <p:nvSpPr>
          <p:cNvPr id="58" name="Shape 55"/>
          <p:cNvSpPr/>
          <p:nvPr/>
        </p:nvSpPr>
        <p:spPr>
          <a:xfrm>
            <a:off x="9233154" y="2532888"/>
            <a:ext cx="256032" cy="256032"/>
          </a:xfrm>
          <a:prstGeom prst="ellipse">
            <a:avLst/>
          </a:prstGeom>
          <a:solidFill>
            <a:srgbClr val="F4F1EA"/>
          </a:solidFill>
          <a:ln w="12700">
            <a:solidFill>
              <a:srgbClr val="F4F1EA"/>
            </a:solidFill>
            <a:prstDash val="solid"/>
          </a:ln>
        </p:spPr>
      </p:sp>
      <p:sp>
        <p:nvSpPr>
          <p:cNvPr id="59" name="Text 56"/>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 foot</a:t>
            </a:r>
            <a:endParaRPr lang="en-US" sz="1250" dirty="0"/>
          </a:p>
        </p:txBody>
      </p:sp>
      <p:sp>
        <p:nvSpPr>
          <p:cNvPr id="61" name="Shape 58"/>
          <p:cNvSpPr/>
          <p:nvPr/>
        </p:nvSpPr>
        <p:spPr>
          <a:xfrm>
            <a:off x="9233154" y="2990088"/>
            <a:ext cx="256032" cy="256032"/>
          </a:xfrm>
          <a:prstGeom prst="ellipse">
            <a:avLst/>
          </a:prstGeom>
          <a:solidFill>
            <a:srgbClr val="F4F1EA"/>
          </a:solidFill>
          <a:ln w="12700">
            <a:solidFill>
              <a:srgbClr val="F4F1EA"/>
            </a:solidFill>
            <a:prstDash val="solid"/>
          </a:ln>
        </p:spPr>
      </p:sp>
      <p:sp>
        <p:nvSpPr>
          <p:cNvPr id="62" name="Text 59"/>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by train</a:t>
            </a:r>
            <a:endParaRPr lang="en-US" sz="1250" dirty="0"/>
          </a:p>
        </p:txBody>
      </p:sp>
      <p:sp>
        <p:nvSpPr>
          <p:cNvPr id="64" name="Shape 61"/>
          <p:cNvSpPr/>
          <p:nvPr/>
        </p:nvSpPr>
        <p:spPr>
          <a:xfrm>
            <a:off x="9233154" y="3447288"/>
            <a:ext cx="256032" cy="256032"/>
          </a:xfrm>
          <a:prstGeom prst="ellipse">
            <a:avLst/>
          </a:prstGeom>
          <a:solidFill>
            <a:srgbClr val="F4F1EA"/>
          </a:solidFill>
          <a:ln w="12700">
            <a:solidFill>
              <a:srgbClr val="F4F1EA"/>
            </a:solidFill>
            <a:prstDash val="solid"/>
          </a:ln>
        </p:spPr>
      </p:sp>
      <p:sp>
        <p:nvSpPr>
          <p:cNvPr id="65" name="Text 62"/>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by bus</a:t>
            </a:r>
            <a:endParaRPr lang="en-US" sz="1250" dirty="0"/>
          </a:p>
        </p:txBody>
      </p:sp>
      <p:sp>
        <p:nvSpPr>
          <p:cNvPr id="67" name="Shape 6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585216"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starts at 8:20?</a:t>
            </a:r>
            <a:endParaRPr lang="en-US" sz="1250" dirty="0"/>
          </a:p>
        </p:txBody>
      </p:sp>
      <p:sp>
        <p:nvSpPr>
          <p:cNvPr id="71" name="Shape 68"/>
          <p:cNvSpPr/>
          <p:nvPr/>
        </p:nvSpPr>
        <p:spPr>
          <a:xfrm>
            <a:off x="640080"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first lesson</a:t>
            </a:r>
            <a:endParaRPr lang="en-US" sz="1250" dirty="0"/>
          </a:p>
        </p:txBody>
      </p:sp>
      <p:sp>
        <p:nvSpPr>
          <p:cNvPr id="74" name="Shape 71"/>
          <p:cNvSpPr/>
          <p:nvPr/>
        </p:nvSpPr>
        <p:spPr>
          <a:xfrm>
            <a:off x="640080"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registration</a:t>
            </a:r>
            <a:endParaRPr lang="en-US" sz="1250" dirty="0"/>
          </a:p>
        </p:txBody>
      </p:sp>
      <p:sp>
        <p:nvSpPr>
          <p:cNvPr id="77" name="Shape 74"/>
          <p:cNvSpPr/>
          <p:nvPr/>
        </p:nvSpPr>
        <p:spPr>
          <a:xfrm>
            <a:off x="640080"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breakfast</a:t>
            </a:r>
            <a:endParaRPr lang="en-US" sz="1250" dirty="0"/>
          </a:p>
        </p:txBody>
      </p:sp>
      <p:sp>
        <p:nvSpPr>
          <p:cNvPr id="80" name="Shape 7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3449574" y="4288536"/>
            <a:ext cx="310896" cy="310896"/>
          </a:xfrm>
          <a:prstGeom prst="ellipse">
            <a:avLst/>
          </a:prstGeom>
          <a:solidFill>
            <a:srgbClr val="1B3B6F"/>
          </a:solidFill>
          <a:ln w="12700">
            <a:solidFill>
              <a:srgbClr val="1B3B6F"/>
            </a:solidFill>
            <a:prstDash val="solid"/>
          </a:ln>
        </p:spPr>
      </p:sp>
      <p:sp>
        <p:nvSpPr>
          <p:cNvPr id="82" name="Text 7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3" name="Text 8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often does she attend the school club?</a:t>
            </a:r>
            <a:endParaRPr lang="en-US" sz="1250" dirty="0"/>
          </a:p>
        </p:txBody>
      </p:sp>
      <p:sp>
        <p:nvSpPr>
          <p:cNvPr id="84" name="Shape 81"/>
          <p:cNvSpPr/>
          <p:nvPr/>
        </p:nvSpPr>
        <p:spPr>
          <a:xfrm>
            <a:off x="3504438" y="48737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6" name="Text 83"/>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every day</a:t>
            </a:r>
            <a:endParaRPr lang="en-US" sz="1250" dirty="0"/>
          </a:p>
        </p:txBody>
      </p:sp>
      <p:sp>
        <p:nvSpPr>
          <p:cNvPr id="87" name="Shape 84"/>
          <p:cNvSpPr/>
          <p:nvPr/>
        </p:nvSpPr>
        <p:spPr>
          <a:xfrm>
            <a:off x="3504438" y="53309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9" name="Text 86"/>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twice a week</a:t>
            </a:r>
            <a:endParaRPr lang="en-US" sz="1250" dirty="0"/>
          </a:p>
        </p:txBody>
      </p:sp>
      <p:sp>
        <p:nvSpPr>
          <p:cNvPr id="90" name="Shape 87"/>
          <p:cNvSpPr/>
          <p:nvPr/>
        </p:nvSpPr>
        <p:spPr>
          <a:xfrm>
            <a:off x="3504438" y="57881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2" name="Text 89"/>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once a month</a:t>
            </a:r>
            <a:endParaRPr lang="en-US" sz="1250" dirty="0"/>
          </a:p>
        </p:txBody>
      </p:sp>
      <p:sp>
        <p:nvSpPr>
          <p:cNvPr id="93" name="Shape 90"/>
          <p:cNvSpPr/>
          <p:nvPr/>
        </p:nvSpPr>
        <p:spPr>
          <a:xfrm>
            <a:off x="6185916"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4" name="Shape 91"/>
          <p:cNvSpPr/>
          <p:nvPr/>
        </p:nvSpPr>
        <p:spPr>
          <a:xfrm>
            <a:off x="6313932" y="4288536"/>
            <a:ext cx="310896" cy="310896"/>
          </a:xfrm>
          <a:prstGeom prst="ellipse">
            <a:avLst/>
          </a:prstGeom>
          <a:solidFill>
            <a:srgbClr val="1B3B6F"/>
          </a:solidFill>
          <a:ln w="12700">
            <a:solidFill>
              <a:srgbClr val="1B3B6F"/>
            </a:solidFill>
            <a:prstDash val="solid"/>
          </a:ln>
        </p:spPr>
      </p:sp>
      <p:sp>
        <p:nvSpPr>
          <p:cNvPr id="95" name="Text 92"/>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96" name="Text 93"/>
          <p:cNvSpPr txBox="1"/>
          <p:nvPr/>
        </p:nvSpPr>
        <p:spPr>
          <a:xfrm>
            <a:off x="6679692" y="4224528"/>
            <a:ext cx="2077974" cy="475488"/>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ea typeface="Calibri" pitchFamily="34" charset="-122"/>
                <a:cs typeface="Calibri" pitchFamily="34" charset="-120"/>
              </a:rPr>
              <a:t>What does she do before using her phone in the evening?</a:t>
            </a:r>
            <a:endParaRPr lang="en-US" sz="1100" dirty="0"/>
          </a:p>
        </p:txBody>
      </p:sp>
      <p:sp>
        <p:nvSpPr>
          <p:cNvPr id="97" name="Shape 94"/>
          <p:cNvSpPr/>
          <p:nvPr/>
        </p:nvSpPr>
        <p:spPr>
          <a:xfrm>
            <a:off x="6368796" y="4873752"/>
            <a:ext cx="256032" cy="256032"/>
          </a:xfrm>
          <a:prstGeom prst="ellipse">
            <a:avLst/>
          </a:prstGeom>
          <a:solidFill>
            <a:srgbClr val="F4F1EA"/>
          </a:solidFill>
          <a:ln w="12700">
            <a:solidFill>
              <a:srgbClr val="F4F1EA"/>
            </a:solidFill>
            <a:prstDash val="solid"/>
          </a:ln>
        </p:spPr>
      </p:sp>
      <p:sp>
        <p:nvSpPr>
          <p:cNvPr id="98" name="Text 95"/>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9" name="Text 96"/>
          <p:cNvSpPr txBox="1"/>
          <p:nvPr/>
        </p:nvSpPr>
        <p:spPr>
          <a:xfrm>
            <a:off x="6697980"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finishes homework</a:t>
            </a:r>
            <a:endParaRPr lang="en-US" sz="1250" dirty="0"/>
          </a:p>
        </p:txBody>
      </p:sp>
      <p:sp>
        <p:nvSpPr>
          <p:cNvPr id="100" name="Shape 97"/>
          <p:cNvSpPr/>
          <p:nvPr/>
        </p:nvSpPr>
        <p:spPr>
          <a:xfrm>
            <a:off x="6368796" y="5330952"/>
            <a:ext cx="256032" cy="256032"/>
          </a:xfrm>
          <a:prstGeom prst="ellipse">
            <a:avLst/>
          </a:prstGeom>
          <a:solidFill>
            <a:srgbClr val="F4F1EA"/>
          </a:solidFill>
          <a:ln w="12700">
            <a:solidFill>
              <a:srgbClr val="F4F1EA"/>
            </a:solidFill>
            <a:prstDash val="solid"/>
          </a:ln>
        </p:spPr>
      </p:sp>
      <p:sp>
        <p:nvSpPr>
          <p:cNvPr id="101" name="Text 98"/>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102" name="Text 99"/>
          <p:cNvSpPr txBox="1"/>
          <p:nvPr/>
        </p:nvSpPr>
        <p:spPr>
          <a:xfrm>
            <a:off x="6697980"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visits a friend</a:t>
            </a:r>
            <a:endParaRPr lang="en-US" sz="1250" dirty="0"/>
          </a:p>
        </p:txBody>
      </p:sp>
      <p:sp>
        <p:nvSpPr>
          <p:cNvPr id="103" name="Shape 100"/>
          <p:cNvSpPr/>
          <p:nvPr/>
        </p:nvSpPr>
        <p:spPr>
          <a:xfrm>
            <a:off x="6368796" y="5788152"/>
            <a:ext cx="256032" cy="256032"/>
          </a:xfrm>
          <a:prstGeom prst="ellipse">
            <a:avLst/>
          </a:prstGeom>
          <a:solidFill>
            <a:srgbClr val="F4F1EA"/>
          </a:solidFill>
          <a:ln w="12700">
            <a:solidFill>
              <a:srgbClr val="F4F1EA"/>
            </a:solidFill>
            <a:prstDash val="solid"/>
          </a:ln>
        </p:spPr>
      </p:sp>
      <p:sp>
        <p:nvSpPr>
          <p:cNvPr id="104" name="Text 101"/>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5" name="Text 102"/>
          <p:cNvSpPr txBox="1"/>
          <p:nvPr/>
        </p:nvSpPr>
        <p:spPr>
          <a:xfrm>
            <a:off x="6697980"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goes shopping</a:t>
            </a:r>
            <a:endParaRPr lang="en-US" sz="1250" dirty="0"/>
          </a:p>
        </p:txBody>
      </p:sp>
      <p:sp>
        <p:nvSpPr>
          <p:cNvPr id="106" name="Shape 103"/>
          <p:cNvSpPr/>
          <p:nvPr/>
        </p:nvSpPr>
        <p:spPr>
          <a:xfrm>
            <a:off x="9050274"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07" name="Shape 104"/>
          <p:cNvSpPr/>
          <p:nvPr/>
        </p:nvSpPr>
        <p:spPr>
          <a:xfrm>
            <a:off x="9178290" y="4288536"/>
            <a:ext cx="310896" cy="310896"/>
          </a:xfrm>
          <a:prstGeom prst="ellipse">
            <a:avLst/>
          </a:prstGeom>
          <a:solidFill>
            <a:srgbClr val="1B3B6F"/>
          </a:solidFill>
          <a:ln w="12700">
            <a:solidFill>
              <a:srgbClr val="1B3B6F"/>
            </a:solidFill>
            <a:prstDash val="solid"/>
          </a:ln>
        </p:spPr>
      </p:sp>
      <p:sp>
        <p:nvSpPr>
          <p:cNvPr id="108" name="Text 105"/>
          <p:cNvSpPr txBox="1"/>
          <p:nvPr/>
        </p:nvSpPr>
        <p:spPr>
          <a:xfrm>
            <a:off x="917829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109" name="Text 106"/>
          <p:cNvSpPr txBox="1"/>
          <p:nvPr/>
        </p:nvSpPr>
        <p:spPr>
          <a:xfrm>
            <a:off x="9544050"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does she usually sleep?</a:t>
            </a:r>
            <a:endParaRPr lang="en-US" sz="1250" dirty="0"/>
          </a:p>
        </p:txBody>
      </p:sp>
      <p:sp>
        <p:nvSpPr>
          <p:cNvPr id="110" name="Shape 107"/>
          <p:cNvSpPr/>
          <p:nvPr/>
        </p:nvSpPr>
        <p:spPr>
          <a:xfrm>
            <a:off x="9233154" y="4873752"/>
            <a:ext cx="256032" cy="256032"/>
          </a:xfrm>
          <a:prstGeom prst="ellipse">
            <a:avLst/>
          </a:prstGeom>
          <a:solidFill>
            <a:srgbClr val="F4F1EA"/>
          </a:solidFill>
          <a:ln w="12700">
            <a:solidFill>
              <a:srgbClr val="F4F1EA"/>
            </a:solidFill>
            <a:prstDash val="solid"/>
          </a:ln>
        </p:spPr>
      </p:sp>
      <p:sp>
        <p:nvSpPr>
          <p:cNvPr id="111" name="Text 108"/>
          <p:cNvSpPr txBox="1"/>
          <p:nvPr/>
        </p:nvSpPr>
        <p:spPr>
          <a:xfrm>
            <a:off x="923315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112" name="Text 109"/>
          <p:cNvSpPr txBox="1"/>
          <p:nvPr/>
        </p:nvSpPr>
        <p:spPr>
          <a:xfrm>
            <a:off x="9562338"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9:30</a:t>
            </a:r>
            <a:endParaRPr lang="en-US" sz="1250" dirty="0"/>
          </a:p>
        </p:txBody>
      </p:sp>
      <p:sp>
        <p:nvSpPr>
          <p:cNvPr id="113" name="Shape 110"/>
          <p:cNvSpPr/>
          <p:nvPr/>
        </p:nvSpPr>
        <p:spPr>
          <a:xfrm>
            <a:off x="9233154" y="5330952"/>
            <a:ext cx="256032" cy="256032"/>
          </a:xfrm>
          <a:prstGeom prst="ellipse">
            <a:avLst/>
          </a:prstGeom>
          <a:solidFill>
            <a:srgbClr val="F4F1EA"/>
          </a:solidFill>
          <a:ln w="12700">
            <a:solidFill>
              <a:srgbClr val="F4F1EA"/>
            </a:solidFill>
            <a:prstDash val="solid"/>
          </a:ln>
        </p:spPr>
      </p:sp>
      <p:sp>
        <p:nvSpPr>
          <p:cNvPr id="114" name="Text 111"/>
          <p:cNvSpPr txBox="1"/>
          <p:nvPr/>
        </p:nvSpPr>
        <p:spPr>
          <a:xfrm>
            <a:off x="923315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115" name="Text 112"/>
          <p:cNvSpPr txBox="1"/>
          <p:nvPr/>
        </p:nvSpPr>
        <p:spPr>
          <a:xfrm>
            <a:off x="9562338"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11:30</a:t>
            </a:r>
            <a:endParaRPr lang="en-US" sz="1250" dirty="0"/>
          </a:p>
        </p:txBody>
      </p:sp>
      <p:sp>
        <p:nvSpPr>
          <p:cNvPr id="116" name="Shape 113"/>
          <p:cNvSpPr/>
          <p:nvPr/>
        </p:nvSpPr>
        <p:spPr>
          <a:xfrm>
            <a:off x="9233154" y="5788152"/>
            <a:ext cx="256032" cy="256032"/>
          </a:xfrm>
          <a:prstGeom prst="ellipse">
            <a:avLst/>
          </a:prstGeom>
          <a:solidFill>
            <a:srgbClr val="F4F1EA"/>
          </a:solidFill>
          <a:ln w="12700">
            <a:solidFill>
              <a:srgbClr val="F4F1EA"/>
            </a:solidFill>
            <a:prstDash val="solid"/>
          </a:ln>
        </p:spPr>
      </p:sp>
      <p:sp>
        <p:nvSpPr>
          <p:cNvPr id="117" name="Text 114"/>
          <p:cNvSpPr txBox="1"/>
          <p:nvPr/>
        </p:nvSpPr>
        <p:spPr>
          <a:xfrm>
            <a:off x="923315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18" name="Text 115"/>
          <p:cNvSpPr txBox="1"/>
          <p:nvPr/>
        </p:nvSpPr>
        <p:spPr>
          <a:xfrm>
            <a:off x="9562338"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10:30</a:t>
            </a:r>
            <a:endParaRPr lang="en-US" sz="1250" dirty="0"/>
          </a:p>
        </p:txBody>
      </p:sp>
      <p:sp>
        <p:nvSpPr>
          <p:cNvPr id="119" name="Text 11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26</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D1-L12 · D1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LISTENING · TEXT 1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Text 1 ·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D1-L12</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does Maryam wake on school days?</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6:10</a:t>
            </a:r>
            <a:endParaRPr lang="en-US" sz="125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7:00</a:t>
            </a:r>
            <a:endParaRPr lang="en-US" sz="1250" dirty="0"/>
          </a:p>
        </p:txBody>
      </p:sp>
      <p:sp>
        <p:nvSpPr>
          <p:cNvPr id="25" name="Shape 22"/>
          <p:cNvSpPr/>
          <p:nvPr/>
        </p:nvSpPr>
        <p:spPr>
          <a:xfrm>
            <a:off x="548640" y="3197352"/>
            <a:ext cx="2498598"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6:30</a:t>
            </a:r>
            <a:endParaRPr lang="en-US" sz="1250" dirty="0"/>
          </a:p>
        </p:txBody>
      </p:sp>
      <p:sp>
        <p:nvSpPr>
          <p:cNvPr id="29" name="Text 26"/>
          <p:cNvSpPr txBox="1"/>
          <p:nvPr/>
        </p:nvSpPr>
        <p:spPr>
          <a:xfrm>
            <a:off x="585216"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She says </a:t>
            </a:r>
            <a:pPr algn="l" indent="0" marL="0">
              <a:buNone/>
            </a:pPr>
            <a:r>
              <a:rPr lang="ar-SA" altLang="en-US" sz="1350" dirty="0">
                <a:solidFill>
                  <a:srgbClr val="8A6D1E"/>
                </a:solidFill>
                <a:latin typeface="Amiri" pitchFamily="34" charset="0"/>
                <a:ea typeface="Amiri" pitchFamily="34" charset="-122"/>
                <a:cs typeface="Amiri" pitchFamily="34" charset="-120"/>
              </a:rPr>
              <a:t>فِي السَّادِسَةِ وَالنِّصْفِ</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she do immediately after waking?</a:t>
            </a:r>
            <a:endParaRPr lang="en-US" sz="1250" dirty="0"/>
          </a:p>
        </p:txBody>
      </p:sp>
      <p:sp>
        <p:nvSpPr>
          <p:cNvPr id="34" name="Shape 31"/>
          <p:cNvSpPr/>
          <p:nvPr/>
        </p:nvSpPr>
        <p:spPr>
          <a:xfrm>
            <a:off x="3504438"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checks messages</a:t>
            </a:r>
            <a:endParaRPr lang="en-US" sz="1250" dirty="0"/>
          </a:p>
        </p:txBody>
      </p:sp>
      <p:sp>
        <p:nvSpPr>
          <p:cNvPr id="37" name="Shape 34"/>
          <p:cNvSpPr/>
          <p:nvPr/>
        </p:nvSpPr>
        <p:spPr>
          <a:xfrm>
            <a:off x="3412998" y="2825496"/>
            <a:ext cx="2498598"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3504438" y="2862072"/>
            <a:ext cx="256032" cy="256032"/>
          </a:xfrm>
          <a:prstGeom prst="ellipse">
            <a:avLst/>
          </a:prstGeom>
          <a:solidFill>
            <a:srgbClr val="2E8B57"/>
          </a:solidFill>
          <a:ln w="12700">
            <a:solidFill>
              <a:srgbClr val="2E8B57"/>
            </a:solidFill>
            <a:prstDash val="solid"/>
          </a:ln>
        </p:spPr>
      </p:sp>
      <p:sp>
        <p:nvSpPr>
          <p:cNvPr id="39" name="Text 36"/>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showers</a:t>
            </a:r>
            <a:endParaRPr lang="en-US" sz="1250" dirty="0"/>
          </a:p>
        </p:txBody>
      </p:sp>
      <p:sp>
        <p:nvSpPr>
          <p:cNvPr id="41" name="Shape 38"/>
          <p:cNvSpPr/>
          <p:nvPr/>
        </p:nvSpPr>
        <p:spPr>
          <a:xfrm>
            <a:off x="3504438"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leaves home</a:t>
            </a:r>
            <a:endParaRPr lang="en-US" sz="1250" dirty="0"/>
          </a:p>
        </p:txBody>
      </p:sp>
      <p:sp>
        <p:nvSpPr>
          <p:cNvPr id="44" name="Text 41"/>
          <p:cNvSpPr txBox="1"/>
          <p:nvPr/>
        </p:nvSpPr>
        <p:spPr>
          <a:xfrm>
            <a:off x="3449574"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She showers before getting dressed.</a:t>
            </a:r>
            <a:endParaRPr lang="en-US" sz="1050" dirty="0"/>
          </a:p>
        </p:txBody>
      </p:sp>
      <p:sp>
        <p:nvSpPr>
          <p:cNvPr id="45" name="Shape 42"/>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6313932"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time does she leave home?</a:t>
            </a:r>
            <a:endParaRPr lang="en-US" sz="1250" dirty="0"/>
          </a:p>
        </p:txBody>
      </p:sp>
      <p:sp>
        <p:nvSpPr>
          <p:cNvPr id="49" name="Shape 46"/>
          <p:cNvSpPr/>
          <p:nvPr/>
        </p:nvSpPr>
        <p:spPr>
          <a:xfrm>
            <a:off x="6368796"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7:15</a:t>
            </a:r>
            <a:endParaRPr lang="en-US" sz="1250" dirty="0"/>
          </a:p>
        </p:txBody>
      </p:sp>
      <p:sp>
        <p:nvSpPr>
          <p:cNvPr id="52" name="Shape 49"/>
          <p:cNvSpPr/>
          <p:nvPr/>
        </p:nvSpPr>
        <p:spPr>
          <a:xfrm>
            <a:off x="6277356" y="2825496"/>
            <a:ext cx="2498598"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368796" y="2862072"/>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7:45</a:t>
            </a:r>
            <a:endParaRPr lang="en-US" sz="1250" dirty="0"/>
          </a:p>
        </p:txBody>
      </p:sp>
      <p:sp>
        <p:nvSpPr>
          <p:cNvPr id="56" name="Shape 53"/>
          <p:cNvSpPr/>
          <p:nvPr/>
        </p:nvSpPr>
        <p:spPr>
          <a:xfrm>
            <a:off x="6368796"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7:30</a:t>
            </a:r>
            <a:endParaRPr lang="en-US" sz="1250" dirty="0"/>
          </a:p>
        </p:txBody>
      </p:sp>
      <p:sp>
        <p:nvSpPr>
          <p:cNvPr id="59" name="Text 56"/>
          <p:cNvSpPr txBox="1"/>
          <p:nvPr/>
        </p:nvSpPr>
        <p:spPr>
          <a:xfrm>
            <a:off x="6313932"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She leaves at a quarter to eight.</a:t>
            </a:r>
            <a:endParaRPr lang="en-US" sz="1050" dirty="0"/>
          </a:p>
        </p:txBody>
      </p:sp>
      <p:sp>
        <p:nvSpPr>
          <p:cNvPr id="60" name="Shape 57"/>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9178290" y="1947672"/>
            <a:ext cx="310896" cy="310896"/>
          </a:xfrm>
          <a:prstGeom prst="ellipse">
            <a:avLst/>
          </a:prstGeom>
          <a:solidFill>
            <a:srgbClr val="1B3B6F"/>
          </a:solidFill>
          <a:ln w="12700">
            <a:solidFill>
              <a:srgbClr val="1B3B6F"/>
            </a:solidFill>
            <a:prstDash val="solid"/>
          </a:ln>
        </p:spPr>
      </p:sp>
      <p:sp>
        <p:nvSpPr>
          <p:cNvPr id="62" name="Text 59"/>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does she usually travel?</a:t>
            </a:r>
            <a:endParaRPr lang="en-US" sz="1250" dirty="0"/>
          </a:p>
        </p:txBody>
      </p:sp>
      <p:sp>
        <p:nvSpPr>
          <p:cNvPr id="64" name="Shape 61"/>
          <p:cNvSpPr/>
          <p:nvPr/>
        </p:nvSpPr>
        <p:spPr>
          <a:xfrm>
            <a:off x="9233154" y="2490216"/>
            <a:ext cx="256032" cy="256032"/>
          </a:xfrm>
          <a:prstGeom prst="ellipse">
            <a:avLst/>
          </a:prstGeom>
          <a:solidFill>
            <a:srgbClr val="C9CED6"/>
          </a:solidFill>
          <a:ln w="12700">
            <a:solidFill>
              <a:srgbClr val="C9CED6"/>
            </a:solidFill>
            <a:prstDash val="solid"/>
          </a:ln>
        </p:spPr>
      </p:sp>
      <p:sp>
        <p:nvSpPr>
          <p:cNvPr id="65" name="Text 62"/>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 foot</a:t>
            </a:r>
            <a:endParaRPr lang="en-US" sz="1250" dirty="0"/>
          </a:p>
        </p:txBody>
      </p:sp>
      <p:sp>
        <p:nvSpPr>
          <p:cNvPr id="67" name="Shape 64"/>
          <p:cNvSpPr/>
          <p:nvPr/>
        </p:nvSpPr>
        <p:spPr>
          <a:xfrm>
            <a:off x="9233154" y="2862072"/>
            <a:ext cx="256032" cy="256032"/>
          </a:xfrm>
          <a:prstGeom prst="ellipse">
            <a:avLst/>
          </a:prstGeom>
          <a:solidFill>
            <a:srgbClr val="C9CED6"/>
          </a:solidFill>
          <a:ln w="12700">
            <a:solidFill>
              <a:srgbClr val="C9CED6"/>
            </a:solidFill>
            <a:prstDash val="solid"/>
          </a:ln>
        </p:spPr>
      </p:sp>
      <p:sp>
        <p:nvSpPr>
          <p:cNvPr id="68" name="Text 65"/>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by train</a:t>
            </a:r>
            <a:endParaRPr lang="en-US" sz="1250" dirty="0"/>
          </a:p>
        </p:txBody>
      </p:sp>
      <p:sp>
        <p:nvSpPr>
          <p:cNvPr id="70" name="Shape 67"/>
          <p:cNvSpPr/>
          <p:nvPr/>
        </p:nvSpPr>
        <p:spPr>
          <a:xfrm>
            <a:off x="9141714" y="3197352"/>
            <a:ext cx="2498598"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9233154" y="3233928"/>
            <a:ext cx="256032" cy="256032"/>
          </a:xfrm>
          <a:prstGeom prst="ellipse">
            <a:avLst/>
          </a:prstGeom>
          <a:solidFill>
            <a:srgbClr val="2E8B57"/>
          </a:solidFill>
          <a:ln w="12700">
            <a:solidFill>
              <a:srgbClr val="2E8B57"/>
            </a:solidFill>
            <a:prstDash val="solid"/>
          </a:ln>
        </p:spPr>
      </p:sp>
      <p:sp>
        <p:nvSpPr>
          <p:cNvPr id="72" name="Text 69"/>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by bus</a:t>
            </a:r>
            <a:endParaRPr lang="en-US" sz="1250" dirty="0"/>
          </a:p>
        </p:txBody>
      </p:sp>
      <p:sp>
        <p:nvSpPr>
          <p:cNvPr id="74" name="Text 71"/>
          <p:cNvSpPr txBox="1"/>
          <p:nvPr/>
        </p:nvSpPr>
        <p:spPr>
          <a:xfrm>
            <a:off x="9178290"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She usually takes the bus.</a:t>
            </a:r>
            <a:endParaRPr lang="en-US" sz="1050" dirty="0"/>
          </a:p>
        </p:txBody>
      </p:sp>
      <p:sp>
        <p:nvSpPr>
          <p:cNvPr id="75" name="Shape 72"/>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585216"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starts at 8:20?</a:t>
            </a:r>
            <a:endParaRPr lang="en-US" sz="1250" dirty="0"/>
          </a:p>
        </p:txBody>
      </p:sp>
      <p:sp>
        <p:nvSpPr>
          <p:cNvPr id="79" name="Shape 76"/>
          <p:cNvSpPr/>
          <p:nvPr/>
        </p:nvSpPr>
        <p:spPr>
          <a:xfrm>
            <a:off x="548640" y="4794504"/>
            <a:ext cx="2498598"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640080"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first lesson</a:t>
            </a:r>
            <a:endParaRPr lang="en-US" sz="1250" dirty="0"/>
          </a:p>
        </p:txBody>
      </p:sp>
      <p:sp>
        <p:nvSpPr>
          <p:cNvPr id="83" name="Shape 80"/>
          <p:cNvSpPr/>
          <p:nvPr/>
        </p:nvSpPr>
        <p:spPr>
          <a:xfrm>
            <a:off x="640080"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registration</a:t>
            </a:r>
            <a:endParaRPr lang="en-US" sz="1250" dirty="0"/>
          </a:p>
        </p:txBody>
      </p:sp>
      <p:sp>
        <p:nvSpPr>
          <p:cNvPr id="86" name="Shape 83"/>
          <p:cNvSpPr/>
          <p:nvPr/>
        </p:nvSpPr>
        <p:spPr>
          <a:xfrm>
            <a:off x="640080"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breakfast</a:t>
            </a:r>
            <a:endParaRPr lang="en-US" sz="1250" dirty="0"/>
          </a:p>
        </p:txBody>
      </p:sp>
      <p:sp>
        <p:nvSpPr>
          <p:cNvPr id="89" name="Text 86"/>
          <p:cNvSpPr txBox="1"/>
          <p:nvPr/>
        </p:nvSpPr>
        <p:spPr>
          <a:xfrm>
            <a:off x="585216"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first lesson starts at twenty past eight.</a:t>
            </a:r>
            <a:endParaRPr lang="en-US" sz="1050" dirty="0"/>
          </a:p>
        </p:txBody>
      </p:sp>
      <p:sp>
        <p:nvSpPr>
          <p:cNvPr id="90" name="Shape 8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3449574" y="4288536"/>
            <a:ext cx="310896" cy="310896"/>
          </a:xfrm>
          <a:prstGeom prst="ellipse">
            <a:avLst/>
          </a:prstGeom>
          <a:solidFill>
            <a:srgbClr val="1B3B6F"/>
          </a:solidFill>
          <a:ln w="12700">
            <a:solidFill>
              <a:srgbClr val="1B3B6F"/>
            </a:solidFill>
            <a:prstDash val="solid"/>
          </a:ln>
        </p:spPr>
      </p:sp>
      <p:sp>
        <p:nvSpPr>
          <p:cNvPr id="92" name="Text 8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3" name="Text 9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often does she attend the school club?</a:t>
            </a:r>
            <a:endParaRPr lang="en-US" sz="1250" dirty="0"/>
          </a:p>
        </p:txBody>
      </p:sp>
      <p:sp>
        <p:nvSpPr>
          <p:cNvPr id="94" name="Shape 91"/>
          <p:cNvSpPr/>
          <p:nvPr/>
        </p:nvSpPr>
        <p:spPr>
          <a:xfrm>
            <a:off x="3504438" y="4831080"/>
            <a:ext cx="256032" cy="256032"/>
          </a:xfrm>
          <a:prstGeom prst="ellipse">
            <a:avLst/>
          </a:prstGeom>
          <a:solidFill>
            <a:srgbClr val="C9CED6"/>
          </a:solidFill>
          <a:ln w="12700">
            <a:solidFill>
              <a:srgbClr val="C9CED6"/>
            </a:solidFill>
            <a:prstDash val="solid"/>
          </a:ln>
        </p:spPr>
      </p:sp>
      <p:sp>
        <p:nvSpPr>
          <p:cNvPr id="95" name="Text 92"/>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6" name="Text 93"/>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every day</a:t>
            </a:r>
            <a:endParaRPr lang="en-US" sz="1250" dirty="0"/>
          </a:p>
        </p:txBody>
      </p:sp>
      <p:sp>
        <p:nvSpPr>
          <p:cNvPr id="97" name="Shape 94"/>
          <p:cNvSpPr/>
          <p:nvPr/>
        </p:nvSpPr>
        <p:spPr>
          <a:xfrm>
            <a:off x="3412998" y="5166360"/>
            <a:ext cx="2498598" cy="347472"/>
          </a:xfrm>
          <a:prstGeom prst="roundRect">
            <a:avLst>
              <a:gd name="adj" fmla="val 15789"/>
            </a:avLst>
          </a:prstGeom>
          <a:solidFill>
            <a:srgbClr val="E6F4EC"/>
          </a:solidFill>
          <a:ln w="9525">
            <a:solidFill>
              <a:srgbClr val="2E8B57"/>
            </a:solidFill>
            <a:prstDash val="solid"/>
          </a:ln>
        </p:spPr>
      </p:sp>
      <p:sp>
        <p:nvSpPr>
          <p:cNvPr id="98" name="Shape 95"/>
          <p:cNvSpPr/>
          <p:nvPr/>
        </p:nvSpPr>
        <p:spPr>
          <a:xfrm>
            <a:off x="3504438" y="5202936"/>
            <a:ext cx="256032" cy="256032"/>
          </a:xfrm>
          <a:prstGeom prst="ellipse">
            <a:avLst/>
          </a:prstGeom>
          <a:solidFill>
            <a:srgbClr val="2E8B57"/>
          </a:solidFill>
          <a:ln w="12700">
            <a:solidFill>
              <a:srgbClr val="2E8B57"/>
            </a:solidFill>
            <a:prstDash val="solid"/>
          </a:ln>
        </p:spPr>
      </p:sp>
      <p:sp>
        <p:nvSpPr>
          <p:cNvPr id="99" name="Text 96"/>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100" name="Text 97"/>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twice a week</a:t>
            </a:r>
            <a:endParaRPr lang="en-US" sz="1250" dirty="0"/>
          </a:p>
        </p:txBody>
      </p:sp>
      <p:sp>
        <p:nvSpPr>
          <p:cNvPr id="101" name="Shape 98"/>
          <p:cNvSpPr/>
          <p:nvPr/>
        </p:nvSpPr>
        <p:spPr>
          <a:xfrm>
            <a:off x="3504438" y="5574792"/>
            <a:ext cx="256032" cy="256032"/>
          </a:xfrm>
          <a:prstGeom prst="ellipse">
            <a:avLst/>
          </a:prstGeom>
          <a:solidFill>
            <a:srgbClr val="C9CED6"/>
          </a:solidFill>
          <a:ln w="12700">
            <a:solidFill>
              <a:srgbClr val="C9CED6"/>
            </a:solidFill>
            <a:prstDash val="solid"/>
          </a:ln>
        </p:spPr>
      </p:sp>
      <p:sp>
        <p:nvSpPr>
          <p:cNvPr id="102" name="Text 99"/>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3" name="Text 100"/>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once a month</a:t>
            </a:r>
            <a:endParaRPr lang="en-US" sz="1250" dirty="0"/>
          </a:p>
        </p:txBody>
      </p:sp>
      <p:sp>
        <p:nvSpPr>
          <p:cNvPr id="104" name="Text 101"/>
          <p:cNvSpPr txBox="1"/>
          <p:nvPr/>
        </p:nvSpPr>
        <p:spPr>
          <a:xfrm>
            <a:off x="3449574"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She attends on Tuesday and Thursday.</a:t>
            </a:r>
            <a:endParaRPr lang="en-US" sz="1050" dirty="0"/>
          </a:p>
        </p:txBody>
      </p:sp>
      <p:sp>
        <p:nvSpPr>
          <p:cNvPr id="105" name="Shape 102"/>
          <p:cNvSpPr/>
          <p:nvPr/>
        </p:nvSpPr>
        <p:spPr>
          <a:xfrm>
            <a:off x="6185916"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06" name="Shape 103"/>
          <p:cNvSpPr/>
          <p:nvPr/>
        </p:nvSpPr>
        <p:spPr>
          <a:xfrm>
            <a:off x="6313932" y="4288536"/>
            <a:ext cx="310896" cy="310896"/>
          </a:xfrm>
          <a:prstGeom prst="ellipse">
            <a:avLst/>
          </a:prstGeom>
          <a:solidFill>
            <a:srgbClr val="1B3B6F"/>
          </a:solidFill>
          <a:ln w="12700">
            <a:solidFill>
              <a:srgbClr val="1B3B6F"/>
            </a:solidFill>
            <a:prstDash val="solid"/>
          </a:ln>
        </p:spPr>
      </p:sp>
      <p:sp>
        <p:nvSpPr>
          <p:cNvPr id="107" name="Text 104"/>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108" name="Text 105"/>
          <p:cNvSpPr txBox="1"/>
          <p:nvPr/>
        </p:nvSpPr>
        <p:spPr>
          <a:xfrm>
            <a:off x="6679692" y="4224528"/>
            <a:ext cx="2077974" cy="475488"/>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ea typeface="Calibri" pitchFamily="34" charset="-122"/>
                <a:cs typeface="Calibri" pitchFamily="34" charset="-120"/>
              </a:rPr>
              <a:t>What does she do before using her phone in the evening?</a:t>
            </a:r>
            <a:endParaRPr lang="en-US" sz="1100" dirty="0"/>
          </a:p>
        </p:txBody>
      </p:sp>
      <p:sp>
        <p:nvSpPr>
          <p:cNvPr id="109" name="Shape 106"/>
          <p:cNvSpPr/>
          <p:nvPr/>
        </p:nvSpPr>
        <p:spPr>
          <a:xfrm>
            <a:off x="6277356" y="4794504"/>
            <a:ext cx="2498598" cy="347472"/>
          </a:xfrm>
          <a:prstGeom prst="roundRect">
            <a:avLst>
              <a:gd name="adj" fmla="val 15789"/>
            </a:avLst>
          </a:prstGeom>
          <a:solidFill>
            <a:srgbClr val="E6F4EC"/>
          </a:solidFill>
          <a:ln w="9525">
            <a:solidFill>
              <a:srgbClr val="2E8B57"/>
            </a:solidFill>
            <a:prstDash val="solid"/>
          </a:ln>
        </p:spPr>
      </p:sp>
      <p:sp>
        <p:nvSpPr>
          <p:cNvPr id="110" name="Shape 107"/>
          <p:cNvSpPr/>
          <p:nvPr/>
        </p:nvSpPr>
        <p:spPr>
          <a:xfrm>
            <a:off x="6368796" y="4831080"/>
            <a:ext cx="256032" cy="256032"/>
          </a:xfrm>
          <a:prstGeom prst="ellipse">
            <a:avLst/>
          </a:prstGeom>
          <a:solidFill>
            <a:srgbClr val="2E8B57"/>
          </a:solidFill>
          <a:ln w="12700">
            <a:solidFill>
              <a:srgbClr val="2E8B57"/>
            </a:solidFill>
            <a:prstDash val="solid"/>
          </a:ln>
        </p:spPr>
      </p:sp>
      <p:sp>
        <p:nvSpPr>
          <p:cNvPr id="111" name="Text 108"/>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112" name="Text 109"/>
          <p:cNvSpPr txBox="1"/>
          <p:nvPr/>
        </p:nvSpPr>
        <p:spPr>
          <a:xfrm>
            <a:off x="6697980" y="4773168"/>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finishes homework</a:t>
            </a:r>
            <a:endParaRPr lang="en-US" sz="1250" dirty="0"/>
          </a:p>
        </p:txBody>
      </p:sp>
      <p:sp>
        <p:nvSpPr>
          <p:cNvPr id="113" name="Shape 110"/>
          <p:cNvSpPr/>
          <p:nvPr/>
        </p:nvSpPr>
        <p:spPr>
          <a:xfrm>
            <a:off x="6368796" y="5202936"/>
            <a:ext cx="256032" cy="256032"/>
          </a:xfrm>
          <a:prstGeom prst="ellipse">
            <a:avLst/>
          </a:prstGeom>
          <a:solidFill>
            <a:srgbClr val="C9CED6"/>
          </a:solidFill>
          <a:ln w="12700">
            <a:solidFill>
              <a:srgbClr val="C9CED6"/>
            </a:solidFill>
            <a:prstDash val="solid"/>
          </a:ln>
        </p:spPr>
      </p:sp>
      <p:sp>
        <p:nvSpPr>
          <p:cNvPr id="114" name="Text 111"/>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115" name="Text 112"/>
          <p:cNvSpPr txBox="1"/>
          <p:nvPr/>
        </p:nvSpPr>
        <p:spPr>
          <a:xfrm>
            <a:off x="6697980"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visits a friend</a:t>
            </a:r>
            <a:endParaRPr lang="en-US" sz="1250" dirty="0"/>
          </a:p>
        </p:txBody>
      </p:sp>
      <p:sp>
        <p:nvSpPr>
          <p:cNvPr id="116" name="Shape 113"/>
          <p:cNvSpPr/>
          <p:nvPr/>
        </p:nvSpPr>
        <p:spPr>
          <a:xfrm>
            <a:off x="6368796" y="5574792"/>
            <a:ext cx="256032" cy="256032"/>
          </a:xfrm>
          <a:prstGeom prst="ellipse">
            <a:avLst/>
          </a:prstGeom>
          <a:solidFill>
            <a:srgbClr val="C9CED6"/>
          </a:solidFill>
          <a:ln w="12700">
            <a:solidFill>
              <a:srgbClr val="C9CED6"/>
            </a:solidFill>
            <a:prstDash val="solid"/>
          </a:ln>
        </p:spPr>
      </p:sp>
      <p:sp>
        <p:nvSpPr>
          <p:cNvPr id="117" name="Text 114"/>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18" name="Text 115"/>
          <p:cNvSpPr txBox="1"/>
          <p:nvPr/>
        </p:nvSpPr>
        <p:spPr>
          <a:xfrm>
            <a:off x="6697980"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goes shopping</a:t>
            </a:r>
            <a:endParaRPr lang="en-US" sz="1250" dirty="0"/>
          </a:p>
        </p:txBody>
      </p:sp>
      <p:sp>
        <p:nvSpPr>
          <p:cNvPr id="119" name="Text 116"/>
          <p:cNvSpPr txBox="1"/>
          <p:nvPr/>
        </p:nvSpPr>
        <p:spPr>
          <a:xfrm>
            <a:off x="6313932"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She completes homework first.</a:t>
            </a:r>
            <a:endParaRPr lang="en-US" sz="1050" dirty="0"/>
          </a:p>
        </p:txBody>
      </p:sp>
      <p:sp>
        <p:nvSpPr>
          <p:cNvPr id="120" name="Shape 117"/>
          <p:cNvSpPr/>
          <p:nvPr/>
        </p:nvSpPr>
        <p:spPr>
          <a:xfrm>
            <a:off x="9050274"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21" name="Shape 118"/>
          <p:cNvSpPr/>
          <p:nvPr/>
        </p:nvSpPr>
        <p:spPr>
          <a:xfrm>
            <a:off x="9178290" y="4288536"/>
            <a:ext cx="310896" cy="310896"/>
          </a:xfrm>
          <a:prstGeom prst="ellipse">
            <a:avLst/>
          </a:prstGeom>
          <a:solidFill>
            <a:srgbClr val="1B3B6F"/>
          </a:solidFill>
          <a:ln w="12700">
            <a:solidFill>
              <a:srgbClr val="1B3B6F"/>
            </a:solidFill>
            <a:prstDash val="solid"/>
          </a:ln>
        </p:spPr>
      </p:sp>
      <p:sp>
        <p:nvSpPr>
          <p:cNvPr id="122" name="Text 119"/>
          <p:cNvSpPr txBox="1"/>
          <p:nvPr/>
        </p:nvSpPr>
        <p:spPr>
          <a:xfrm>
            <a:off x="917829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123" name="Text 120"/>
          <p:cNvSpPr txBox="1"/>
          <p:nvPr/>
        </p:nvSpPr>
        <p:spPr>
          <a:xfrm>
            <a:off x="9544050"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does she usually sleep?</a:t>
            </a:r>
            <a:endParaRPr lang="en-US" sz="1250" dirty="0"/>
          </a:p>
        </p:txBody>
      </p:sp>
      <p:sp>
        <p:nvSpPr>
          <p:cNvPr id="124" name="Shape 121"/>
          <p:cNvSpPr/>
          <p:nvPr/>
        </p:nvSpPr>
        <p:spPr>
          <a:xfrm>
            <a:off x="9233154" y="4831080"/>
            <a:ext cx="256032" cy="256032"/>
          </a:xfrm>
          <a:prstGeom prst="ellipse">
            <a:avLst/>
          </a:prstGeom>
          <a:solidFill>
            <a:srgbClr val="C9CED6"/>
          </a:solidFill>
          <a:ln w="12700">
            <a:solidFill>
              <a:srgbClr val="C9CED6"/>
            </a:solidFill>
            <a:prstDash val="solid"/>
          </a:ln>
        </p:spPr>
      </p:sp>
      <p:sp>
        <p:nvSpPr>
          <p:cNvPr id="125" name="Text 122"/>
          <p:cNvSpPr txBox="1"/>
          <p:nvPr/>
        </p:nvSpPr>
        <p:spPr>
          <a:xfrm>
            <a:off x="923315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126" name="Text 123"/>
          <p:cNvSpPr txBox="1"/>
          <p:nvPr/>
        </p:nvSpPr>
        <p:spPr>
          <a:xfrm>
            <a:off x="9562338"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9:30</a:t>
            </a:r>
            <a:endParaRPr lang="en-US" sz="1250" dirty="0"/>
          </a:p>
        </p:txBody>
      </p:sp>
      <p:sp>
        <p:nvSpPr>
          <p:cNvPr id="127" name="Shape 124"/>
          <p:cNvSpPr/>
          <p:nvPr/>
        </p:nvSpPr>
        <p:spPr>
          <a:xfrm>
            <a:off x="9233154" y="5202936"/>
            <a:ext cx="256032" cy="256032"/>
          </a:xfrm>
          <a:prstGeom prst="ellipse">
            <a:avLst/>
          </a:prstGeom>
          <a:solidFill>
            <a:srgbClr val="C9CED6"/>
          </a:solidFill>
          <a:ln w="12700">
            <a:solidFill>
              <a:srgbClr val="C9CED6"/>
            </a:solidFill>
            <a:prstDash val="solid"/>
          </a:ln>
        </p:spPr>
      </p:sp>
      <p:sp>
        <p:nvSpPr>
          <p:cNvPr id="128" name="Text 125"/>
          <p:cNvSpPr txBox="1"/>
          <p:nvPr/>
        </p:nvSpPr>
        <p:spPr>
          <a:xfrm>
            <a:off x="923315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129" name="Text 126"/>
          <p:cNvSpPr txBox="1"/>
          <p:nvPr/>
        </p:nvSpPr>
        <p:spPr>
          <a:xfrm>
            <a:off x="9562338"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11:30</a:t>
            </a:r>
            <a:endParaRPr lang="en-US" sz="1250" dirty="0"/>
          </a:p>
        </p:txBody>
      </p:sp>
      <p:sp>
        <p:nvSpPr>
          <p:cNvPr id="130" name="Shape 127"/>
          <p:cNvSpPr/>
          <p:nvPr/>
        </p:nvSpPr>
        <p:spPr>
          <a:xfrm>
            <a:off x="9141714" y="5538216"/>
            <a:ext cx="2498598" cy="347472"/>
          </a:xfrm>
          <a:prstGeom prst="roundRect">
            <a:avLst>
              <a:gd name="adj" fmla="val 15789"/>
            </a:avLst>
          </a:prstGeom>
          <a:solidFill>
            <a:srgbClr val="E6F4EC"/>
          </a:solidFill>
          <a:ln w="9525">
            <a:solidFill>
              <a:srgbClr val="2E8B57"/>
            </a:solidFill>
            <a:prstDash val="solid"/>
          </a:ln>
        </p:spPr>
      </p:sp>
      <p:sp>
        <p:nvSpPr>
          <p:cNvPr id="131" name="Shape 128"/>
          <p:cNvSpPr/>
          <p:nvPr/>
        </p:nvSpPr>
        <p:spPr>
          <a:xfrm>
            <a:off x="9233154" y="5574792"/>
            <a:ext cx="256032" cy="256032"/>
          </a:xfrm>
          <a:prstGeom prst="ellipse">
            <a:avLst/>
          </a:prstGeom>
          <a:solidFill>
            <a:srgbClr val="2E8B57"/>
          </a:solidFill>
          <a:ln w="12700">
            <a:solidFill>
              <a:srgbClr val="2E8B57"/>
            </a:solidFill>
            <a:prstDash val="solid"/>
          </a:ln>
        </p:spPr>
      </p:sp>
      <p:sp>
        <p:nvSpPr>
          <p:cNvPr id="132" name="Text 129"/>
          <p:cNvSpPr txBox="1"/>
          <p:nvPr/>
        </p:nvSpPr>
        <p:spPr>
          <a:xfrm>
            <a:off x="9233154"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133" name="Text 130"/>
          <p:cNvSpPr txBox="1"/>
          <p:nvPr/>
        </p:nvSpPr>
        <p:spPr>
          <a:xfrm>
            <a:off x="9562338" y="551688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10:30</a:t>
            </a:r>
            <a:endParaRPr lang="en-US" sz="1250" dirty="0"/>
          </a:p>
        </p:txBody>
      </p:sp>
      <p:sp>
        <p:nvSpPr>
          <p:cNvPr id="134" name="Text 131"/>
          <p:cNvSpPr txBox="1"/>
          <p:nvPr/>
        </p:nvSpPr>
        <p:spPr>
          <a:xfrm>
            <a:off x="9178290"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She sleeps at half past ten.</a:t>
            </a:r>
            <a:endParaRPr lang="en-US" sz="1050" dirty="0"/>
          </a:p>
        </p:txBody>
      </p:sp>
      <p:sp>
        <p:nvSpPr>
          <p:cNvPr id="135" name="Text 1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26</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D1-L12 · D1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LISTENING · TEXT 2 · 6 MARKS · HEARD TWICE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950" b="1" dirty="0">
                <a:solidFill>
                  <a:srgbClr val="1B3B6F"/>
                </a:solidFill>
                <a:latin typeface="Cambria" pitchFamily="34" charset="0"/>
                <a:ea typeface="Cambria" pitchFamily="34" charset="-122"/>
                <a:cs typeface="Cambria" pitchFamily="34" charset="-120"/>
              </a:rPr>
              <a:t>Text 2 · Yusuf and Huda compare their routines</a:t>
            </a:r>
            <a:endParaRPr lang="en-US" sz="19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 (٢)</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D1-L12</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returns home earlier?</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Huda</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Yusuf</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both at the same time</a:t>
            </a:r>
            <a:endParaRPr lang="en-US" sz="1250" dirty="0"/>
          </a:p>
        </p:txBody>
      </p:sp>
      <p:sp>
        <p:nvSpPr>
          <p:cNvPr id="28" name="Shape 25"/>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3449574"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studies before eating?</a:t>
            </a:r>
            <a:endParaRPr lang="en-US" sz="1250" dirty="0"/>
          </a:p>
        </p:txBody>
      </p:sp>
      <p:sp>
        <p:nvSpPr>
          <p:cNvPr id="32" name="Shape 29"/>
          <p:cNvSpPr/>
          <p:nvPr/>
        </p:nvSpPr>
        <p:spPr>
          <a:xfrm>
            <a:off x="3504438"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Yusuf</a:t>
            </a:r>
            <a:endParaRPr lang="en-US" sz="1250" dirty="0"/>
          </a:p>
        </p:txBody>
      </p:sp>
      <p:sp>
        <p:nvSpPr>
          <p:cNvPr id="35" name="Shape 32"/>
          <p:cNvSpPr/>
          <p:nvPr/>
        </p:nvSpPr>
        <p:spPr>
          <a:xfrm>
            <a:off x="3504438"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Huda</a:t>
            </a:r>
            <a:endParaRPr lang="en-US" sz="1250" dirty="0"/>
          </a:p>
        </p:txBody>
      </p:sp>
      <p:sp>
        <p:nvSpPr>
          <p:cNvPr id="38" name="Shape 35"/>
          <p:cNvSpPr/>
          <p:nvPr/>
        </p:nvSpPr>
        <p:spPr>
          <a:xfrm>
            <a:off x="3504438"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both</a:t>
            </a:r>
            <a:endParaRPr lang="en-US" sz="1250" dirty="0"/>
          </a:p>
        </p:txBody>
      </p:sp>
      <p:sp>
        <p:nvSpPr>
          <p:cNvPr id="41" name="Shape 38"/>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313932"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often does Yusuf play football?</a:t>
            </a:r>
            <a:endParaRPr lang="en-US" sz="1250" dirty="0"/>
          </a:p>
        </p:txBody>
      </p:sp>
      <p:sp>
        <p:nvSpPr>
          <p:cNvPr id="45" name="Shape 42"/>
          <p:cNvSpPr/>
          <p:nvPr/>
        </p:nvSpPr>
        <p:spPr>
          <a:xfrm>
            <a:off x="6368796"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once a week</a:t>
            </a:r>
            <a:endParaRPr lang="en-US" sz="1250" dirty="0"/>
          </a:p>
        </p:txBody>
      </p:sp>
      <p:sp>
        <p:nvSpPr>
          <p:cNvPr id="48" name="Shape 45"/>
          <p:cNvSpPr/>
          <p:nvPr/>
        </p:nvSpPr>
        <p:spPr>
          <a:xfrm>
            <a:off x="6368796"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every evening</a:t>
            </a:r>
            <a:endParaRPr lang="en-US" sz="1250" dirty="0"/>
          </a:p>
        </p:txBody>
      </p:sp>
      <p:sp>
        <p:nvSpPr>
          <p:cNvPr id="51" name="Shape 48"/>
          <p:cNvSpPr/>
          <p:nvPr/>
        </p:nvSpPr>
        <p:spPr>
          <a:xfrm>
            <a:off x="6368796"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three times a week</a:t>
            </a:r>
            <a:endParaRPr lang="en-US" sz="1250" dirty="0"/>
          </a:p>
        </p:txBody>
      </p:sp>
      <p:sp>
        <p:nvSpPr>
          <p:cNvPr id="54" name="Shape 51"/>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9178290" y="1947672"/>
            <a:ext cx="310896" cy="310896"/>
          </a:xfrm>
          <a:prstGeom prst="ellipse">
            <a:avLst/>
          </a:prstGeom>
          <a:solidFill>
            <a:srgbClr val="1B3B6F"/>
          </a:solidFill>
          <a:ln w="12700">
            <a:solidFill>
              <a:srgbClr val="1B3B6F"/>
            </a:solidFill>
            <a:prstDash val="solid"/>
          </a:ln>
        </p:spPr>
      </p:sp>
      <p:sp>
        <p:nvSpPr>
          <p:cNvPr id="56" name="Text 53"/>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Huda do on Thursday?</a:t>
            </a:r>
            <a:endParaRPr lang="en-US" sz="1250" dirty="0"/>
          </a:p>
        </p:txBody>
      </p:sp>
      <p:sp>
        <p:nvSpPr>
          <p:cNvPr id="58" name="Shape 55"/>
          <p:cNvSpPr/>
          <p:nvPr/>
        </p:nvSpPr>
        <p:spPr>
          <a:xfrm>
            <a:off x="9233154" y="2532888"/>
            <a:ext cx="256032" cy="256032"/>
          </a:xfrm>
          <a:prstGeom prst="ellipse">
            <a:avLst/>
          </a:prstGeom>
          <a:solidFill>
            <a:srgbClr val="F4F1EA"/>
          </a:solidFill>
          <a:ln w="12700">
            <a:solidFill>
              <a:srgbClr val="F4F1EA"/>
            </a:solidFill>
            <a:prstDash val="solid"/>
          </a:ln>
        </p:spPr>
      </p:sp>
      <p:sp>
        <p:nvSpPr>
          <p:cNvPr id="59" name="Text 56"/>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attends an Arabic club</a:t>
            </a:r>
            <a:endParaRPr lang="en-US" sz="1250" dirty="0"/>
          </a:p>
        </p:txBody>
      </p:sp>
      <p:sp>
        <p:nvSpPr>
          <p:cNvPr id="61" name="Shape 58"/>
          <p:cNvSpPr/>
          <p:nvPr/>
        </p:nvSpPr>
        <p:spPr>
          <a:xfrm>
            <a:off x="9233154" y="2990088"/>
            <a:ext cx="256032" cy="256032"/>
          </a:xfrm>
          <a:prstGeom prst="ellipse">
            <a:avLst/>
          </a:prstGeom>
          <a:solidFill>
            <a:srgbClr val="F4F1EA"/>
          </a:solidFill>
          <a:ln w="12700">
            <a:solidFill>
              <a:srgbClr val="F4F1EA"/>
            </a:solidFill>
            <a:prstDash val="solid"/>
          </a:ln>
        </p:spPr>
      </p:sp>
      <p:sp>
        <p:nvSpPr>
          <p:cNvPr id="62" name="Text 59"/>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plays football</a:t>
            </a:r>
            <a:endParaRPr lang="en-US" sz="1250" dirty="0"/>
          </a:p>
        </p:txBody>
      </p:sp>
      <p:sp>
        <p:nvSpPr>
          <p:cNvPr id="64" name="Shape 61"/>
          <p:cNvSpPr/>
          <p:nvPr/>
        </p:nvSpPr>
        <p:spPr>
          <a:xfrm>
            <a:off x="9233154" y="3447288"/>
            <a:ext cx="256032" cy="256032"/>
          </a:xfrm>
          <a:prstGeom prst="ellipse">
            <a:avLst/>
          </a:prstGeom>
          <a:solidFill>
            <a:srgbClr val="F4F1EA"/>
          </a:solidFill>
          <a:ln w="12700">
            <a:solidFill>
              <a:srgbClr val="F4F1EA"/>
            </a:solidFill>
            <a:prstDash val="solid"/>
          </a:ln>
        </p:spPr>
      </p:sp>
      <p:sp>
        <p:nvSpPr>
          <p:cNvPr id="65" name="Text 62"/>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visits her grandmother</a:t>
            </a:r>
            <a:endParaRPr lang="en-US" sz="1250" dirty="0"/>
          </a:p>
        </p:txBody>
      </p:sp>
      <p:sp>
        <p:nvSpPr>
          <p:cNvPr id="67" name="Shape 6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585216"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gets ready for the next day before sleeping?</a:t>
            </a:r>
            <a:endParaRPr lang="en-US" sz="1250" dirty="0"/>
          </a:p>
        </p:txBody>
      </p:sp>
      <p:sp>
        <p:nvSpPr>
          <p:cNvPr id="71" name="Shape 68"/>
          <p:cNvSpPr/>
          <p:nvPr/>
        </p:nvSpPr>
        <p:spPr>
          <a:xfrm>
            <a:off x="640080"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Yusuf only</a:t>
            </a:r>
            <a:endParaRPr lang="en-US" sz="1250" dirty="0"/>
          </a:p>
        </p:txBody>
      </p:sp>
      <p:sp>
        <p:nvSpPr>
          <p:cNvPr id="74" name="Shape 71"/>
          <p:cNvSpPr/>
          <p:nvPr/>
        </p:nvSpPr>
        <p:spPr>
          <a:xfrm>
            <a:off x="640080"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both</a:t>
            </a:r>
            <a:endParaRPr lang="en-US" sz="1250" dirty="0"/>
          </a:p>
        </p:txBody>
      </p:sp>
      <p:sp>
        <p:nvSpPr>
          <p:cNvPr id="77" name="Shape 74"/>
          <p:cNvSpPr/>
          <p:nvPr/>
        </p:nvSpPr>
        <p:spPr>
          <a:xfrm>
            <a:off x="640080"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Huda only</a:t>
            </a:r>
            <a:endParaRPr lang="en-US" sz="1250" dirty="0"/>
          </a:p>
        </p:txBody>
      </p:sp>
      <p:sp>
        <p:nvSpPr>
          <p:cNvPr id="80" name="Shape 7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3449574" y="4288536"/>
            <a:ext cx="310896" cy="310896"/>
          </a:xfrm>
          <a:prstGeom prst="ellipse">
            <a:avLst/>
          </a:prstGeom>
          <a:solidFill>
            <a:srgbClr val="1B3B6F"/>
          </a:solidFill>
          <a:ln w="12700">
            <a:solidFill>
              <a:srgbClr val="1B3B6F"/>
            </a:solidFill>
            <a:prstDash val="solid"/>
          </a:ln>
        </p:spPr>
      </p:sp>
      <p:sp>
        <p:nvSpPr>
          <p:cNvPr id="82" name="Text 7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3" name="Text 8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What is the main difference between their weekends?</a:t>
            </a:r>
            <a:endParaRPr lang="en-US" sz="1200" dirty="0"/>
          </a:p>
        </p:txBody>
      </p:sp>
      <p:sp>
        <p:nvSpPr>
          <p:cNvPr id="84" name="Shape 81"/>
          <p:cNvSpPr/>
          <p:nvPr/>
        </p:nvSpPr>
        <p:spPr>
          <a:xfrm>
            <a:off x="3504438" y="48737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6" name="Text 83"/>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Yusuf visits family; Huda meets friends</a:t>
            </a:r>
            <a:endParaRPr lang="en-US" sz="1250" dirty="0"/>
          </a:p>
        </p:txBody>
      </p:sp>
      <p:sp>
        <p:nvSpPr>
          <p:cNvPr id="87" name="Shape 84"/>
          <p:cNvSpPr/>
          <p:nvPr/>
        </p:nvSpPr>
        <p:spPr>
          <a:xfrm>
            <a:off x="3504438" y="53309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9" name="Text 86"/>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Huda studies; Yusuf works</a:t>
            </a:r>
            <a:endParaRPr lang="en-US" sz="1250" dirty="0"/>
          </a:p>
        </p:txBody>
      </p:sp>
      <p:sp>
        <p:nvSpPr>
          <p:cNvPr id="90" name="Shape 87"/>
          <p:cNvSpPr/>
          <p:nvPr/>
        </p:nvSpPr>
        <p:spPr>
          <a:xfrm>
            <a:off x="3504438" y="57881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2" name="Text 89"/>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both stay home all weekend</a:t>
            </a:r>
            <a:endParaRPr lang="en-US" sz="1250" dirty="0"/>
          </a:p>
        </p:txBody>
      </p:sp>
      <p:sp>
        <p:nvSpPr>
          <p:cNvPr id="93" name="Shape 90"/>
          <p:cNvSpPr/>
          <p:nvPr/>
        </p:nvSpPr>
        <p:spPr>
          <a:xfrm>
            <a:off x="6185916" y="4151376"/>
            <a:ext cx="2681478" cy="2157984"/>
          </a:xfrm>
          <a:prstGeom prst="roundRect">
            <a:avLst>
              <a:gd name="adj" fmla="val 3390"/>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94" name="Text 91"/>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TWO PEOPLE</a:t>
            </a:r>
            <a:endParaRPr lang="en-US" sz="1000" dirty="0"/>
          </a:p>
        </p:txBody>
      </p:sp>
      <p:sp>
        <p:nvSpPr>
          <p:cNvPr id="95" name="Text 92"/>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Listen for ya- (Yusuf) and ta- (Huda).</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Chat: 1_ 2_ 3_ 4_ 5_ 6_</a:t>
            </a:r>
            <a:endParaRPr lang="en-US" sz="1250" dirty="0"/>
          </a:p>
        </p:txBody>
      </p:sp>
      <p:sp>
        <p:nvSpPr>
          <p:cNvPr id="96" name="Text 9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26</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D1-L12 · D1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LISTENING · TEXT 2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Text 2 ·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D1-L12</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returns home earlier?</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Huda</a:t>
            </a:r>
            <a:endParaRPr lang="en-US" sz="1250" dirty="0"/>
          </a:p>
        </p:txBody>
      </p:sp>
      <p:sp>
        <p:nvSpPr>
          <p:cNvPr id="22" name="Shape 19"/>
          <p:cNvSpPr/>
          <p:nvPr/>
        </p:nvSpPr>
        <p:spPr>
          <a:xfrm>
            <a:off x="548640" y="2825496"/>
            <a:ext cx="2498598"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Yusuf</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both at the same time</a:t>
            </a:r>
            <a:endParaRPr lang="en-US" sz="1250" dirty="0"/>
          </a:p>
        </p:txBody>
      </p:sp>
      <p:sp>
        <p:nvSpPr>
          <p:cNvPr id="29" name="Text 26"/>
          <p:cNvSpPr txBox="1"/>
          <p:nvPr/>
        </p:nvSpPr>
        <p:spPr>
          <a:xfrm>
            <a:off x="585216"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Yusuf returns at 3:20; Huda returns at 4:00.</a:t>
            </a:r>
            <a:endParaRPr lang="en-US" sz="10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studies before eating?</a:t>
            </a:r>
            <a:endParaRPr lang="en-US" sz="1250" dirty="0"/>
          </a:p>
        </p:txBody>
      </p:sp>
      <p:sp>
        <p:nvSpPr>
          <p:cNvPr id="34" name="Shape 31"/>
          <p:cNvSpPr/>
          <p:nvPr/>
        </p:nvSpPr>
        <p:spPr>
          <a:xfrm>
            <a:off x="3504438"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Yusuf</a:t>
            </a:r>
            <a:endParaRPr lang="en-US" sz="1250" dirty="0"/>
          </a:p>
        </p:txBody>
      </p:sp>
      <p:sp>
        <p:nvSpPr>
          <p:cNvPr id="37" name="Shape 34"/>
          <p:cNvSpPr/>
          <p:nvPr/>
        </p:nvSpPr>
        <p:spPr>
          <a:xfrm>
            <a:off x="3412998" y="2825496"/>
            <a:ext cx="2498598"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3504438" y="2862072"/>
            <a:ext cx="256032" cy="256032"/>
          </a:xfrm>
          <a:prstGeom prst="ellipse">
            <a:avLst/>
          </a:prstGeom>
          <a:solidFill>
            <a:srgbClr val="2E8B57"/>
          </a:solidFill>
          <a:ln w="12700">
            <a:solidFill>
              <a:srgbClr val="2E8B57"/>
            </a:solidFill>
            <a:prstDash val="solid"/>
          </a:ln>
        </p:spPr>
      </p:sp>
      <p:sp>
        <p:nvSpPr>
          <p:cNvPr id="39" name="Text 36"/>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Huda</a:t>
            </a:r>
            <a:endParaRPr lang="en-US" sz="1250" dirty="0"/>
          </a:p>
        </p:txBody>
      </p:sp>
      <p:sp>
        <p:nvSpPr>
          <p:cNvPr id="41" name="Shape 38"/>
          <p:cNvSpPr/>
          <p:nvPr/>
        </p:nvSpPr>
        <p:spPr>
          <a:xfrm>
            <a:off x="3504438"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both</a:t>
            </a:r>
            <a:endParaRPr lang="en-US" sz="1250" dirty="0"/>
          </a:p>
        </p:txBody>
      </p:sp>
      <p:sp>
        <p:nvSpPr>
          <p:cNvPr id="44" name="Text 41"/>
          <p:cNvSpPr txBox="1"/>
          <p:nvPr/>
        </p:nvSpPr>
        <p:spPr>
          <a:xfrm>
            <a:off x="3449574"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Huda studies for an hour before dinner.</a:t>
            </a:r>
            <a:endParaRPr lang="en-US" sz="1050" dirty="0"/>
          </a:p>
        </p:txBody>
      </p:sp>
      <p:sp>
        <p:nvSpPr>
          <p:cNvPr id="45" name="Shape 42"/>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6313932"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often does Yusuf play football?</a:t>
            </a:r>
            <a:endParaRPr lang="en-US" sz="1250" dirty="0"/>
          </a:p>
        </p:txBody>
      </p:sp>
      <p:sp>
        <p:nvSpPr>
          <p:cNvPr id="49" name="Shape 46"/>
          <p:cNvSpPr/>
          <p:nvPr/>
        </p:nvSpPr>
        <p:spPr>
          <a:xfrm>
            <a:off x="6368796"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once a week</a:t>
            </a:r>
            <a:endParaRPr lang="en-US" sz="1250" dirty="0"/>
          </a:p>
        </p:txBody>
      </p:sp>
      <p:sp>
        <p:nvSpPr>
          <p:cNvPr id="52" name="Shape 49"/>
          <p:cNvSpPr/>
          <p:nvPr/>
        </p:nvSpPr>
        <p:spPr>
          <a:xfrm>
            <a:off x="6368796"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every evening</a:t>
            </a:r>
            <a:endParaRPr lang="en-US" sz="1250" dirty="0"/>
          </a:p>
        </p:txBody>
      </p:sp>
      <p:sp>
        <p:nvSpPr>
          <p:cNvPr id="55" name="Shape 52"/>
          <p:cNvSpPr/>
          <p:nvPr/>
        </p:nvSpPr>
        <p:spPr>
          <a:xfrm>
            <a:off x="6277356" y="3197352"/>
            <a:ext cx="2498598"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6368796"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three times a week</a:t>
            </a:r>
            <a:endParaRPr lang="en-US" sz="1250" dirty="0"/>
          </a:p>
        </p:txBody>
      </p:sp>
      <p:sp>
        <p:nvSpPr>
          <p:cNvPr id="59" name="Text 56"/>
          <p:cNvSpPr txBox="1"/>
          <p:nvPr/>
        </p:nvSpPr>
        <p:spPr>
          <a:xfrm>
            <a:off x="6313932"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He plays on Monday, Wednesday and Friday.</a:t>
            </a:r>
            <a:endParaRPr lang="en-US" sz="1050" dirty="0"/>
          </a:p>
        </p:txBody>
      </p:sp>
      <p:sp>
        <p:nvSpPr>
          <p:cNvPr id="60" name="Shape 57"/>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9178290" y="1947672"/>
            <a:ext cx="310896" cy="310896"/>
          </a:xfrm>
          <a:prstGeom prst="ellipse">
            <a:avLst/>
          </a:prstGeom>
          <a:solidFill>
            <a:srgbClr val="1B3B6F"/>
          </a:solidFill>
          <a:ln w="12700">
            <a:solidFill>
              <a:srgbClr val="1B3B6F"/>
            </a:solidFill>
            <a:prstDash val="solid"/>
          </a:ln>
        </p:spPr>
      </p:sp>
      <p:sp>
        <p:nvSpPr>
          <p:cNvPr id="62" name="Text 59"/>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Huda do on Thursday?</a:t>
            </a:r>
            <a:endParaRPr lang="en-US" sz="1250" dirty="0"/>
          </a:p>
        </p:txBody>
      </p:sp>
      <p:sp>
        <p:nvSpPr>
          <p:cNvPr id="64" name="Shape 61"/>
          <p:cNvSpPr/>
          <p:nvPr/>
        </p:nvSpPr>
        <p:spPr>
          <a:xfrm>
            <a:off x="9141714" y="2453640"/>
            <a:ext cx="2498598"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9233154" y="2490216"/>
            <a:ext cx="256032" cy="256032"/>
          </a:xfrm>
          <a:prstGeom prst="ellipse">
            <a:avLst/>
          </a:prstGeom>
          <a:solidFill>
            <a:srgbClr val="2E8B57"/>
          </a:solidFill>
          <a:ln w="12700">
            <a:solidFill>
              <a:srgbClr val="2E8B57"/>
            </a:solidFill>
            <a:prstDash val="solid"/>
          </a:ln>
        </p:spPr>
      </p:sp>
      <p:sp>
        <p:nvSpPr>
          <p:cNvPr id="66" name="Text 63"/>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attends an Arabic club</a:t>
            </a:r>
            <a:endParaRPr lang="en-US" sz="1250" dirty="0"/>
          </a:p>
        </p:txBody>
      </p:sp>
      <p:sp>
        <p:nvSpPr>
          <p:cNvPr id="68" name="Shape 65"/>
          <p:cNvSpPr/>
          <p:nvPr/>
        </p:nvSpPr>
        <p:spPr>
          <a:xfrm>
            <a:off x="9233154" y="2862072"/>
            <a:ext cx="256032" cy="256032"/>
          </a:xfrm>
          <a:prstGeom prst="ellipse">
            <a:avLst/>
          </a:prstGeom>
          <a:solidFill>
            <a:srgbClr val="C9CED6"/>
          </a:solidFill>
          <a:ln w="12700">
            <a:solidFill>
              <a:srgbClr val="C9CED6"/>
            </a:solidFill>
            <a:prstDash val="solid"/>
          </a:ln>
        </p:spPr>
      </p:sp>
      <p:sp>
        <p:nvSpPr>
          <p:cNvPr id="69" name="Text 66"/>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plays football</a:t>
            </a:r>
            <a:endParaRPr lang="en-US" sz="1250" dirty="0"/>
          </a:p>
        </p:txBody>
      </p:sp>
      <p:sp>
        <p:nvSpPr>
          <p:cNvPr id="71" name="Shape 68"/>
          <p:cNvSpPr/>
          <p:nvPr/>
        </p:nvSpPr>
        <p:spPr>
          <a:xfrm>
            <a:off x="9233154" y="3233928"/>
            <a:ext cx="256032" cy="256032"/>
          </a:xfrm>
          <a:prstGeom prst="ellipse">
            <a:avLst/>
          </a:prstGeom>
          <a:solidFill>
            <a:srgbClr val="C9CED6"/>
          </a:solidFill>
          <a:ln w="12700">
            <a:solidFill>
              <a:srgbClr val="C9CED6"/>
            </a:solidFill>
            <a:prstDash val="solid"/>
          </a:ln>
        </p:spPr>
      </p:sp>
      <p:sp>
        <p:nvSpPr>
          <p:cNvPr id="72" name="Text 69"/>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visits her grandmother</a:t>
            </a:r>
            <a:endParaRPr lang="en-US" sz="1250" dirty="0"/>
          </a:p>
        </p:txBody>
      </p:sp>
      <p:sp>
        <p:nvSpPr>
          <p:cNvPr id="74" name="Text 71"/>
          <p:cNvSpPr txBox="1"/>
          <p:nvPr/>
        </p:nvSpPr>
        <p:spPr>
          <a:xfrm>
            <a:off x="9178290"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Thursday is her Arabic-club day.</a:t>
            </a:r>
            <a:endParaRPr lang="en-US" sz="1050" dirty="0"/>
          </a:p>
        </p:txBody>
      </p:sp>
      <p:sp>
        <p:nvSpPr>
          <p:cNvPr id="75" name="Shape 72"/>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585216"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gets ready for the next day before sleeping?</a:t>
            </a:r>
            <a:endParaRPr lang="en-US" sz="1250" dirty="0"/>
          </a:p>
        </p:txBody>
      </p:sp>
      <p:sp>
        <p:nvSpPr>
          <p:cNvPr id="79" name="Shape 76"/>
          <p:cNvSpPr/>
          <p:nvPr/>
        </p:nvSpPr>
        <p:spPr>
          <a:xfrm>
            <a:off x="640080"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Yusuf only</a:t>
            </a:r>
            <a:endParaRPr lang="en-US" sz="1250" dirty="0"/>
          </a:p>
        </p:txBody>
      </p:sp>
      <p:sp>
        <p:nvSpPr>
          <p:cNvPr id="82" name="Shape 79"/>
          <p:cNvSpPr/>
          <p:nvPr/>
        </p:nvSpPr>
        <p:spPr>
          <a:xfrm>
            <a:off x="548640" y="5166360"/>
            <a:ext cx="2498598"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640080"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both</a:t>
            </a:r>
            <a:endParaRPr lang="en-US" sz="1250" dirty="0"/>
          </a:p>
        </p:txBody>
      </p:sp>
      <p:sp>
        <p:nvSpPr>
          <p:cNvPr id="86" name="Shape 83"/>
          <p:cNvSpPr/>
          <p:nvPr/>
        </p:nvSpPr>
        <p:spPr>
          <a:xfrm>
            <a:off x="640080"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Huda only</a:t>
            </a:r>
            <a:endParaRPr lang="en-US" sz="1250" dirty="0"/>
          </a:p>
        </p:txBody>
      </p:sp>
      <p:sp>
        <p:nvSpPr>
          <p:cNvPr id="89" name="Text 86"/>
          <p:cNvSpPr txBox="1"/>
          <p:nvPr/>
        </p:nvSpPr>
        <p:spPr>
          <a:xfrm>
            <a:off x="585216"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Both prepare their bags and clothes.</a:t>
            </a:r>
            <a:endParaRPr lang="en-US" sz="1050" dirty="0"/>
          </a:p>
        </p:txBody>
      </p:sp>
      <p:sp>
        <p:nvSpPr>
          <p:cNvPr id="90" name="Shape 8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3449574" y="4288536"/>
            <a:ext cx="310896" cy="310896"/>
          </a:xfrm>
          <a:prstGeom prst="ellipse">
            <a:avLst/>
          </a:prstGeom>
          <a:solidFill>
            <a:srgbClr val="1B3B6F"/>
          </a:solidFill>
          <a:ln w="12700">
            <a:solidFill>
              <a:srgbClr val="1B3B6F"/>
            </a:solidFill>
            <a:prstDash val="solid"/>
          </a:ln>
        </p:spPr>
      </p:sp>
      <p:sp>
        <p:nvSpPr>
          <p:cNvPr id="92" name="Text 8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3" name="Text 9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What is the main difference between their weekends?</a:t>
            </a:r>
            <a:endParaRPr lang="en-US" sz="1200" dirty="0"/>
          </a:p>
        </p:txBody>
      </p:sp>
      <p:sp>
        <p:nvSpPr>
          <p:cNvPr id="94" name="Shape 91"/>
          <p:cNvSpPr/>
          <p:nvPr/>
        </p:nvSpPr>
        <p:spPr>
          <a:xfrm>
            <a:off x="3412998" y="4794504"/>
            <a:ext cx="2498598" cy="347472"/>
          </a:xfrm>
          <a:prstGeom prst="roundRect">
            <a:avLst>
              <a:gd name="adj" fmla="val 15789"/>
            </a:avLst>
          </a:prstGeom>
          <a:solidFill>
            <a:srgbClr val="E6F4EC"/>
          </a:solidFill>
          <a:ln w="9525">
            <a:solidFill>
              <a:srgbClr val="2E8B57"/>
            </a:solidFill>
            <a:prstDash val="solid"/>
          </a:ln>
        </p:spPr>
      </p:sp>
      <p:sp>
        <p:nvSpPr>
          <p:cNvPr id="95" name="Shape 92"/>
          <p:cNvSpPr/>
          <p:nvPr/>
        </p:nvSpPr>
        <p:spPr>
          <a:xfrm>
            <a:off x="3504438" y="4831080"/>
            <a:ext cx="256032" cy="256032"/>
          </a:xfrm>
          <a:prstGeom prst="ellipse">
            <a:avLst/>
          </a:prstGeom>
          <a:solidFill>
            <a:srgbClr val="2E8B57"/>
          </a:solidFill>
          <a:ln w="12700">
            <a:solidFill>
              <a:srgbClr val="2E8B57"/>
            </a:solidFill>
            <a:prstDash val="solid"/>
          </a:ln>
        </p:spPr>
      </p:sp>
      <p:sp>
        <p:nvSpPr>
          <p:cNvPr id="96" name="Text 93"/>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97" name="Text 94"/>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Yusuf visits family; Huda meets friends</a:t>
            </a:r>
            <a:endParaRPr lang="en-US" sz="1150" dirty="0"/>
          </a:p>
        </p:txBody>
      </p:sp>
      <p:sp>
        <p:nvSpPr>
          <p:cNvPr id="98" name="Shape 95"/>
          <p:cNvSpPr/>
          <p:nvPr/>
        </p:nvSpPr>
        <p:spPr>
          <a:xfrm>
            <a:off x="3504438" y="5202936"/>
            <a:ext cx="256032" cy="256032"/>
          </a:xfrm>
          <a:prstGeom prst="ellipse">
            <a:avLst/>
          </a:prstGeom>
          <a:solidFill>
            <a:srgbClr val="C9CED6"/>
          </a:solidFill>
          <a:ln w="12700">
            <a:solidFill>
              <a:srgbClr val="C9CED6"/>
            </a:solidFill>
            <a:prstDash val="solid"/>
          </a:ln>
        </p:spPr>
      </p:sp>
      <p:sp>
        <p:nvSpPr>
          <p:cNvPr id="99" name="Text 96"/>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100" name="Text 97"/>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00" dirty="0">
                <a:solidFill>
                  <a:srgbClr val="9AA1AB"/>
                </a:solidFill>
                <a:latin typeface="Calibri" pitchFamily="34" charset="0"/>
                <a:ea typeface="Calibri" pitchFamily="34" charset="-122"/>
                <a:cs typeface="Calibri" pitchFamily="34" charset="-120"/>
              </a:rPr>
              <a:t>Huda studies; Yusuf works</a:t>
            </a:r>
            <a:endParaRPr lang="en-US" sz="1200" dirty="0"/>
          </a:p>
        </p:txBody>
      </p:sp>
      <p:sp>
        <p:nvSpPr>
          <p:cNvPr id="101" name="Shape 98"/>
          <p:cNvSpPr/>
          <p:nvPr/>
        </p:nvSpPr>
        <p:spPr>
          <a:xfrm>
            <a:off x="3504438" y="5574792"/>
            <a:ext cx="256032" cy="256032"/>
          </a:xfrm>
          <a:prstGeom prst="ellipse">
            <a:avLst/>
          </a:prstGeom>
          <a:solidFill>
            <a:srgbClr val="C9CED6"/>
          </a:solidFill>
          <a:ln w="12700">
            <a:solidFill>
              <a:srgbClr val="C9CED6"/>
            </a:solidFill>
            <a:prstDash val="solid"/>
          </a:ln>
        </p:spPr>
      </p:sp>
      <p:sp>
        <p:nvSpPr>
          <p:cNvPr id="102" name="Text 99"/>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3" name="Text 100"/>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200" dirty="0">
                <a:solidFill>
                  <a:srgbClr val="9AA1AB"/>
                </a:solidFill>
                <a:latin typeface="Calibri" pitchFamily="34" charset="0"/>
                <a:ea typeface="Calibri" pitchFamily="34" charset="-122"/>
                <a:cs typeface="Calibri" pitchFamily="34" charset="-120"/>
              </a:rPr>
              <a:t>both stay home all weekend</a:t>
            </a:r>
            <a:endParaRPr lang="en-US" sz="1200" dirty="0"/>
          </a:p>
        </p:txBody>
      </p:sp>
      <p:sp>
        <p:nvSpPr>
          <p:cNvPr id="104" name="Text 101"/>
          <p:cNvSpPr txBox="1"/>
          <p:nvPr/>
        </p:nvSpPr>
        <p:spPr>
          <a:xfrm>
            <a:off x="3449574"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Their Saturday activities are different.</a:t>
            </a:r>
            <a:endParaRPr lang="en-US" sz="1050" dirty="0"/>
          </a:p>
        </p:txBody>
      </p:sp>
      <p:sp>
        <p:nvSpPr>
          <p:cNvPr id="105" name="Shape 102"/>
          <p:cNvSpPr/>
          <p:nvPr/>
        </p:nvSpPr>
        <p:spPr>
          <a:xfrm>
            <a:off x="6185916" y="4151376"/>
            <a:ext cx="2681478" cy="2157984"/>
          </a:xfrm>
          <a:prstGeom prst="roundRect">
            <a:avLst>
              <a:gd name="adj" fmla="val 3390"/>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06" name="Text 103"/>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TWO PEOPLE</a:t>
            </a:r>
            <a:endParaRPr lang="en-US" sz="1000" dirty="0"/>
          </a:p>
        </p:txBody>
      </p:sp>
      <p:sp>
        <p:nvSpPr>
          <p:cNvPr id="107" name="Text 104"/>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Listen for ya- (Yusuf) and ta- (Huda).</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Chat: 1_ 2_ 3_ 4_ 5_ 6_</a:t>
            </a:r>
            <a:endParaRPr lang="en-US" sz="1250" dirty="0"/>
          </a:p>
        </p:txBody>
      </p:sp>
      <p:sp>
        <p:nvSpPr>
          <p:cNvPr id="108" name="Text 10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26</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D1-L12 · D1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LISTENING · TEXT 3 · 6 MARKS · HEARD TWICE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50" b="1" dirty="0">
                <a:solidFill>
                  <a:srgbClr val="1B3B6F"/>
                </a:solidFill>
                <a:latin typeface="Cambria" pitchFamily="34" charset="0"/>
                <a:ea typeface="Cambria" pitchFamily="34" charset="-122"/>
                <a:cs typeface="Cambria" pitchFamily="34" charset="-120"/>
              </a:rPr>
              <a:t>Text 3 · Interview about routine and time</a:t>
            </a:r>
            <a:endParaRPr lang="en-US" sz="22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 (٣)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D1-L12</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interviewer ask first?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favourite subject</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wake-up time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home address</a:t>
            </a:r>
            <a:endParaRPr lang="en-US" sz="1250" dirty="0"/>
          </a:p>
        </p:txBody>
      </p:sp>
      <p:sp>
        <p:nvSpPr>
          <p:cNvPr id="28" name="Shape 25"/>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3449574"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often does Samir exercise?</a:t>
            </a:r>
            <a:endParaRPr lang="en-US" sz="1250" dirty="0"/>
          </a:p>
        </p:txBody>
      </p:sp>
      <p:sp>
        <p:nvSpPr>
          <p:cNvPr id="32" name="Shape 29"/>
          <p:cNvSpPr/>
          <p:nvPr/>
        </p:nvSpPr>
        <p:spPr>
          <a:xfrm>
            <a:off x="3504438"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350443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3833622"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twice a month</a:t>
            </a:r>
            <a:endParaRPr lang="en-US" sz="1250" dirty="0"/>
          </a:p>
        </p:txBody>
      </p:sp>
      <p:sp>
        <p:nvSpPr>
          <p:cNvPr id="35" name="Shape 32"/>
          <p:cNvSpPr/>
          <p:nvPr/>
        </p:nvSpPr>
        <p:spPr>
          <a:xfrm>
            <a:off x="3504438"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350443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3833622"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every morning</a:t>
            </a:r>
            <a:endParaRPr lang="en-US" sz="1250" dirty="0"/>
          </a:p>
        </p:txBody>
      </p:sp>
      <p:sp>
        <p:nvSpPr>
          <p:cNvPr id="38" name="Shape 35"/>
          <p:cNvSpPr/>
          <p:nvPr/>
        </p:nvSpPr>
        <p:spPr>
          <a:xfrm>
            <a:off x="3504438"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350443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3833622"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four times a week</a:t>
            </a:r>
            <a:endParaRPr lang="en-US" sz="1250" dirty="0"/>
          </a:p>
        </p:txBody>
      </p:sp>
      <p:sp>
        <p:nvSpPr>
          <p:cNvPr id="41" name="Shape 38"/>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313932"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is Tuesday different?</a:t>
            </a:r>
            <a:endParaRPr lang="en-US" sz="1250" dirty="0"/>
          </a:p>
        </p:txBody>
      </p:sp>
      <p:sp>
        <p:nvSpPr>
          <p:cNvPr id="45" name="Shape 42"/>
          <p:cNvSpPr/>
          <p:nvPr/>
        </p:nvSpPr>
        <p:spPr>
          <a:xfrm>
            <a:off x="6368796"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6697980"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 has a late science club</a:t>
            </a:r>
            <a:endParaRPr lang="en-US" sz="1250" dirty="0"/>
          </a:p>
        </p:txBody>
      </p:sp>
      <p:sp>
        <p:nvSpPr>
          <p:cNvPr id="48" name="Shape 45"/>
          <p:cNvSpPr/>
          <p:nvPr/>
        </p:nvSpPr>
        <p:spPr>
          <a:xfrm>
            <a:off x="6368796"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6697980"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school is closed</a:t>
            </a:r>
            <a:endParaRPr lang="en-US" sz="1250" dirty="0"/>
          </a:p>
        </p:txBody>
      </p:sp>
      <p:sp>
        <p:nvSpPr>
          <p:cNvPr id="51" name="Shape 48"/>
          <p:cNvSpPr/>
          <p:nvPr/>
        </p:nvSpPr>
        <p:spPr>
          <a:xfrm>
            <a:off x="6368796"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6697980"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 visits family</a:t>
            </a:r>
            <a:endParaRPr lang="en-US" sz="1250" dirty="0"/>
          </a:p>
        </p:txBody>
      </p:sp>
      <p:sp>
        <p:nvSpPr>
          <p:cNvPr id="54" name="Shape 51"/>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9178290" y="1947672"/>
            <a:ext cx="310896" cy="310896"/>
          </a:xfrm>
          <a:prstGeom prst="ellipse">
            <a:avLst/>
          </a:prstGeom>
          <a:solidFill>
            <a:srgbClr val="1B3B6F"/>
          </a:solidFill>
          <a:ln w="12700">
            <a:solidFill>
              <a:srgbClr val="1B3B6F"/>
            </a:solidFill>
            <a:prstDash val="solid"/>
          </a:ln>
        </p:spPr>
      </p:sp>
      <p:sp>
        <p:nvSpPr>
          <p:cNvPr id="56" name="Text 53"/>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he do after the club?</a:t>
            </a:r>
            <a:endParaRPr lang="en-US" sz="1250" dirty="0"/>
          </a:p>
        </p:txBody>
      </p:sp>
      <p:sp>
        <p:nvSpPr>
          <p:cNvPr id="58" name="Shape 55"/>
          <p:cNvSpPr/>
          <p:nvPr/>
        </p:nvSpPr>
        <p:spPr>
          <a:xfrm>
            <a:off x="9233154" y="2532888"/>
            <a:ext cx="256032" cy="256032"/>
          </a:xfrm>
          <a:prstGeom prst="ellipse">
            <a:avLst/>
          </a:prstGeom>
          <a:solidFill>
            <a:srgbClr val="F4F1EA"/>
          </a:solidFill>
          <a:ln w="12700">
            <a:solidFill>
              <a:srgbClr val="F4F1EA"/>
            </a:solidFill>
            <a:prstDash val="solid"/>
          </a:ln>
        </p:spPr>
      </p:sp>
      <p:sp>
        <p:nvSpPr>
          <p:cNvPr id="59" name="Text 56"/>
          <p:cNvSpPr txBox="1"/>
          <p:nvPr/>
        </p:nvSpPr>
        <p:spPr>
          <a:xfrm>
            <a:off x="923315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562338" y="24323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goes straight to sleep</a:t>
            </a:r>
            <a:endParaRPr lang="en-US" sz="1250" dirty="0"/>
          </a:p>
        </p:txBody>
      </p:sp>
      <p:sp>
        <p:nvSpPr>
          <p:cNvPr id="61" name="Shape 58"/>
          <p:cNvSpPr/>
          <p:nvPr/>
        </p:nvSpPr>
        <p:spPr>
          <a:xfrm>
            <a:off x="9233154" y="2990088"/>
            <a:ext cx="256032" cy="256032"/>
          </a:xfrm>
          <a:prstGeom prst="ellipse">
            <a:avLst/>
          </a:prstGeom>
          <a:solidFill>
            <a:srgbClr val="F4F1EA"/>
          </a:solidFill>
          <a:ln w="12700">
            <a:solidFill>
              <a:srgbClr val="F4F1EA"/>
            </a:solidFill>
            <a:prstDash val="solid"/>
          </a:ln>
        </p:spPr>
      </p:sp>
      <p:sp>
        <p:nvSpPr>
          <p:cNvPr id="62" name="Text 59"/>
          <p:cNvSpPr txBox="1"/>
          <p:nvPr/>
        </p:nvSpPr>
        <p:spPr>
          <a:xfrm>
            <a:off x="923315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562338" y="28895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eats, then completes homework</a:t>
            </a:r>
            <a:endParaRPr lang="en-US" sz="1250" dirty="0"/>
          </a:p>
        </p:txBody>
      </p:sp>
      <p:sp>
        <p:nvSpPr>
          <p:cNvPr id="64" name="Shape 61"/>
          <p:cNvSpPr/>
          <p:nvPr/>
        </p:nvSpPr>
        <p:spPr>
          <a:xfrm>
            <a:off x="9233154" y="3447288"/>
            <a:ext cx="256032" cy="256032"/>
          </a:xfrm>
          <a:prstGeom prst="ellipse">
            <a:avLst/>
          </a:prstGeom>
          <a:solidFill>
            <a:srgbClr val="F4F1EA"/>
          </a:solidFill>
          <a:ln w="12700">
            <a:solidFill>
              <a:srgbClr val="F4F1EA"/>
            </a:solidFill>
            <a:prstDash val="solid"/>
          </a:ln>
        </p:spPr>
      </p:sp>
      <p:sp>
        <p:nvSpPr>
          <p:cNvPr id="65" name="Text 62"/>
          <p:cNvSpPr txBox="1"/>
          <p:nvPr/>
        </p:nvSpPr>
        <p:spPr>
          <a:xfrm>
            <a:off x="923315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562338" y="3346704"/>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plays football</a:t>
            </a:r>
            <a:endParaRPr lang="en-US" sz="1250" dirty="0"/>
          </a:p>
        </p:txBody>
      </p:sp>
      <p:sp>
        <p:nvSpPr>
          <p:cNvPr id="67" name="Shape 64"/>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585216"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does he wake at the weekend?</a:t>
            </a:r>
            <a:endParaRPr lang="en-US" sz="1250" dirty="0"/>
          </a:p>
        </p:txBody>
      </p:sp>
      <p:sp>
        <p:nvSpPr>
          <p:cNvPr id="71" name="Shape 68"/>
          <p:cNvSpPr/>
          <p:nvPr/>
        </p:nvSpPr>
        <p:spPr>
          <a:xfrm>
            <a:off x="640080"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969264"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about 8:30</a:t>
            </a:r>
            <a:endParaRPr lang="en-US" sz="1250" dirty="0"/>
          </a:p>
        </p:txBody>
      </p:sp>
      <p:sp>
        <p:nvSpPr>
          <p:cNvPr id="74" name="Shape 71"/>
          <p:cNvSpPr/>
          <p:nvPr/>
        </p:nvSpPr>
        <p:spPr>
          <a:xfrm>
            <a:off x="640080"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969264"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6:00 exactly</a:t>
            </a:r>
            <a:endParaRPr lang="en-US" sz="1250" dirty="0"/>
          </a:p>
        </p:txBody>
      </p:sp>
      <p:sp>
        <p:nvSpPr>
          <p:cNvPr id="77" name="Shape 74"/>
          <p:cNvSpPr/>
          <p:nvPr/>
        </p:nvSpPr>
        <p:spPr>
          <a:xfrm>
            <a:off x="640080"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969264" y="56875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after midday</a:t>
            </a:r>
            <a:endParaRPr lang="en-US" sz="1250" dirty="0"/>
          </a:p>
        </p:txBody>
      </p:sp>
      <p:sp>
        <p:nvSpPr>
          <p:cNvPr id="80" name="Shape 7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3449574" y="4288536"/>
            <a:ext cx="310896" cy="310896"/>
          </a:xfrm>
          <a:prstGeom prst="ellipse">
            <a:avLst/>
          </a:prstGeom>
          <a:solidFill>
            <a:srgbClr val="1B3B6F"/>
          </a:solidFill>
          <a:ln w="12700">
            <a:solidFill>
              <a:srgbClr val="1B3B6F"/>
            </a:solidFill>
            <a:prstDash val="solid"/>
          </a:ln>
        </p:spPr>
      </p:sp>
      <p:sp>
        <p:nvSpPr>
          <p:cNvPr id="82" name="Text 7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3" name="Text 8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contrast does he make?</a:t>
            </a:r>
            <a:endParaRPr lang="en-US" sz="1250" dirty="0"/>
          </a:p>
        </p:txBody>
      </p:sp>
      <p:sp>
        <p:nvSpPr>
          <p:cNvPr id="84" name="Shape 81"/>
          <p:cNvSpPr/>
          <p:nvPr/>
        </p:nvSpPr>
        <p:spPr>
          <a:xfrm>
            <a:off x="3504438" y="4873752"/>
            <a:ext cx="256032" cy="256032"/>
          </a:xfrm>
          <a:prstGeom prst="ellipse">
            <a:avLst/>
          </a:prstGeom>
          <a:solidFill>
            <a:srgbClr val="F4F1EA"/>
          </a:solidFill>
          <a:ln w="12700">
            <a:solidFill>
              <a:srgbClr val="F4F1EA"/>
            </a:solidFill>
            <a:prstDash val="solid"/>
          </a:ln>
        </p:spPr>
      </p:sp>
      <p:sp>
        <p:nvSpPr>
          <p:cNvPr id="85" name="Text 82"/>
          <p:cNvSpPr txBox="1"/>
          <p:nvPr/>
        </p:nvSpPr>
        <p:spPr>
          <a:xfrm>
            <a:off x="350443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6" name="Text 83"/>
          <p:cNvSpPr txBox="1"/>
          <p:nvPr/>
        </p:nvSpPr>
        <p:spPr>
          <a:xfrm>
            <a:off x="3833622" y="47731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weekends are busier than school days</a:t>
            </a:r>
            <a:endParaRPr lang="en-US" sz="1250" dirty="0"/>
          </a:p>
        </p:txBody>
      </p:sp>
      <p:sp>
        <p:nvSpPr>
          <p:cNvPr id="87" name="Shape 84"/>
          <p:cNvSpPr/>
          <p:nvPr/>
        </p:nvSpPr>
        <p:spPr>
          <a:xfrm>
            <a:off x="3504438" y="5330952"/>
            <a:ext cx="256032" cy="256032"/>
          </a:xfrm>
          <a:prstGeom prst="ellipse">
            <a:avLst/>
          </a:prstGeom>
          <a:solidFill>
            <a:srgbClr val="F4F1EA"/>
          </a:solidFill>
          <a:ln w="12700">
            <a:solidFill>
              <a:srgbClr val="F4F1EA"/>
            </a:solidFill>
            <a:prstDash val="solid"/>
          </a:ln>
        </p:spPr>
      </p:sp>
      <p:sp>
        <p:nvSpPr>
          <p:cNvPr id="88" name="Text 85"/>
          <p:cNvSpPr txBox="1"/>
          <p:nvPr/>
        </p:nvSpPr>
        <p:spPr>
          <a:xfrm>
            <a:off x="350443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9" name="Text 86"/>
          <p:cNvSpPr txBox="1"/>
          <p:nvPr/>
        </p:nvSpPr>
        <p:spPr>
          <a:xfrm>
            <a:off x="3833622" y="5230368"/>
            <a:ext cx="2023110"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his routine never changes</a:t>
            </a:r>
            <a:endParaRPr lang="en-US" sz="1250" dirty="0"/>
          </a:p>
        </p:txBody>
      </p:sp>
      <p:sp>
        <p:nvSpPr>
          <p:cNvPr id="90" name="Shape 87"/>
          <p:cNvSpPr/>
          <p:nvPr/>
        </p:nvSpPr>
        <p:spPr>
          <a:xfrm>
            <a:off x="3504438" y="5788152"/>
            <a:ext cx="256032" cy="256032"/>
          </a:xfrm>
          <a:prstGeom prst="ellipse">
            <a:avLst/>
          </a:prstGeom>
          <a:solidFill>
            <a:srgbClr val="F4F1EA"/>
          </a:solidFill>
          <a:ln w="12700">
            <a:solidFill>
              <a:srgbClr val="F4F1EA"/>
            </a:solidFill>
            <a:prstDash val="solid"/>
          </a:ln>
        </p:spPr>
      </p:sp>
      <p:sp>
        <p:nvSpPr>
          <p:cNvPr id="91" name="Text 88"/>
          <p:cNvSpPr txBox="1"/>
          <p:nvPr/>
        </p:nvSpPr>
        <p:spPr>
          <a:xfrm>
            <a:off x="350443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2" name="Text 89"/>
          <p:cNvSpPr txBox="1"/>
          <p:nvPr/>
        </p:nvSpPr>
        <p:spPr>
          <a:xfrm>
            <a:off x="3833622" y="5687568"/>
            <a:ext cx="2023110" cy="45720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school days are organised; weekends are more flexible</a:t>
            </a:r>
            <a:endParaRPr lang="en-US" sz="1200" dirty="0"/>
          </a:p>
        </p:txBody>
      </p:sp>
      <p:sp>
        <p:nvSpPr>
          <p:cNvPr id="93" name="Shape 90"/>
          <p:cNvSpPr/>
          <p:nvPr/>
        </p:nvSpPr>
        <p:spPr>
          <a:xfrm>
            <a:off x="6185916" y="4151376"/>
            <a:ext cx="2681478" cy="2157984"/>
          </a:xfrm>
          <a:prstGeom prst="roundRect">
            <a:avLst>
              <a:gd name="adj" fmla="val 3390"/>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94" name="Text 91"/>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AN INTERVIEW</a:t>
            </a:r>
            <a:endParaRPr lang="en-US" sz="1000" dirty="0"/>
          </a:p>
        </p:txBody>
      </p:sp>
      <p:sp>
        <p:nvSpPr>
          <p:cNvPr id="95" name="Text 92"/>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Keep listening after “as for …”.</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Chat: 1_ 2_ 3_ 4_ 5_ 6_</a:t>
            </a:r>
            <a:endParaRPr lang="en-US" sz="1250" dirty="0"/>
          </a:p>
        </p:txBody>
      </p:sp>
      <p:sp>
        <p:nvSpPr>
          <p:cNvPr id="96" name="Text 9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26</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D1-L12 · D1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LISTENING · TEXT 3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Text 3 ·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D1-L12</a:t>
            </a:r>
            <a:endParaRPr lang="en-US" sz="850" dirty="0"/>
          </a:p>
        </p:txBody>
      </p:sp>
      <p:sp>
        <p:nvSpPr>
          <p:cNvPr id="15" name="Shape 12"/>
          <p:cNvSpPr/>
          <p:nvPr/>
        </p:nvSpPr>
        <p:spPr>
          <a:xfrm>
            <a:off x="457200"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interviewer ask first?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favourite subject</a:t>
            </a:r>
            <a:endParaRPr lang="en-US" sz="1250" dirty="0"/>
          </a:p>
        </p:txBody>
      </p:sp>
      <p:sp>
        <p:nvSpPr>
          <p:cNvPr id="22" name="Shape 19"/>
          <p:cNvSpPr/>
          <p:nvPr/>
        </p:nvSpPr>
        <p:spPr>
          <a:xfrm>
            <a:off x="548640" y="2825496"/>
            <a:ext cx="2498598"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wake-up time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home address</a:t>
            </a:r>
            <a:endParaRPr lang="en-US" sz="1250" dirty="0"/>
          </a:p>
        </p:txBody>
      </p:sp>
      <p:sp>
        <p:nvSpPr>
          <p:cNvPr id="29" name="Text 26"/>
          <p:cNvSpPr txBox="1"/>
          <p:nvPr/>
        </p:nvSpPr>
        <p:spPr>
          <a:xfrm>
            <a:off x="585216"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interview begins with </a:t>
            </a:r>
            <a:pPr algn="l" indent="0" marL="0">
              <a:buNone/>
            </a:pPr>
            <a:r>
              <a:rPr lang="ar-SA" altLang="en-US" sz="1350" dirty="0">
                <a:solidFill>
                  <a:srgbClr val="8A6D1E"/>
                </a:solidFill>
                <a:latin typeface="Amiri" pitchFamily="34" charset="0"/>
                <a:ea typeface="Amiri" pitchFamily="34" charset="-122"/>
                <a:cs typeface="Amiri" pitchFamily="34" charset="-120"/>
              </a:rPr>
              <a:t>مَتَى تَسْتَيْقِظُ؟</a:t>
            </a:r>
            <a:endParaRPr lang="en-US" sz="1050" dirty="0"/>
          </a:p>
        </p:txBody>
      </p:sp>
      <p:sp>
        <p:nvSpPr>
          <p:cNvPr id="30" name="Shape 27"/>
          <p:cNvSpPr/>
          <p:nvPr/>
        </p:nvSpPr>
        <p:spPr>
          <a:xfrm>
            <a:off x="3321558"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3449574"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344957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3815334"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often does Samir exercise?</a:t>
            </a:r>
            <a:endParaRPr lang="en-US" sz="1250" dirty="0"/>
          </a:p>
        </p:txBody>
      </p:sp>
      <p:sp>
        <p:nvSpPr>
          <p:cNvPr id="34" name="Shape 31"/>
          <p:cNvSpPr/>
          <p:nvPr/>
        </p:nvSpPr>
        <p:spPr>
          <a:xfrm>
            <a:off x="3504438"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350443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3833622"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twice a month</a:t>
            </a:r>
            <a:endParaRPr lang="en-US" sz="1250" dirty="0"/>
          </a:p>
        </p:txBody>
      </p:sp>
      <p:sp>
        <p:nvSpPr>
          <p:cNvPr id="37" name="Shape 34"/>
          <p:cNvSpPr/>
          <p:nvPr/>
        </p:nvSpPr>
        <p:spPr>
          <a:xfrm>
            <a:off x="3504438"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350443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3833622"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every morning</a:t>
            </a:r>
            <a:endParaRPr lang="en-US" sz="1250" dirty="0"/>
          </a:p>
        </p:txBody>
      </p:sp>
      <p:sp>
        <p:nvSpPr>
          <p:cNvPr id="40" name="Shape 37"/>
          <p:cNvSpPr/>
          <p:nvPr/>
        </p:nvSpPr>
        <p:spPr>
          <a:xfrm>
            <a:off x="3412998" y="3197352"/>
            <a:ext cx="2498598"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3504438"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350443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3833622" y="3176016"/>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four times a week</a:t>
            </a:r>
            <a:endParaRPr lang="en-US" sz="1250" dirty="0"/>
          </a:p>
        </p:txBody>
      </p:sp>
      <p:sp>
        <p:nvSpPr>
          <p:cNvPr id="44" name="Text 41"/>
          <p:cNvSpPr txBox="1"/>
          <p:nvPr/>
        </p:nvSpPr>
        <p:spPr>
          <a:xfrm>
            <a:off x="3449574"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He says </a:t>
            </a:r>
            <a:pPr algn="l" indent="0" marL="0">
              <a:buNone/>
            </a:pPr>
            <a:r>
              <a:rPr lang="ar-SA" altLang="en-US" sz="1350" dirty="0">
                <a:solidFill>
                  <a:srgbClr val="8A6D1E"/>
                </a:solidFill>
                <a:latin typeface="Amiri" pitchFamily="34" charset="0"/>
                <a:ea typeface="Amiri" pitchFamily="34" charset="-122"/>
                <a:cs typeface="Amiri" pitchFamily="34" charset="-120"/>
              </a:rPr>
              <a:t>أَرْبَعَ مَرَّاتٍ فِي الأُسْبُوعِ</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5" name="Shape 42"/>
          <p:cNvSpPr/>
          <p:nvPr/>
        </p:nvSpPr>
        <p:spPr>
          <a:xfrm>
            <a:off x="6185916"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6313932"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6679692"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is Tuesday different?</a:t>
            </a:r>
            <a:endParaRPr lang="en-US" sz="1250" dirty="0"/>
          </a:p>
        </p:txBody>
      </p:sp>
      <p:sp>
        <p:nvSpPr>
          <p:cNvPr id="49" name="Shape 46"/>
          <p:cNvSpPr/>
          <p:nvPr/>
        </p:nvSpPr>
        <p:spPr>
          <a:xfrm>
            <a:off x="6277356" y="2453640"/>
            <a:ext cx="2498598"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6368796"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6697980" y="2432304"/>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he has a late science club</a:t>
            </a:r>
            <a:endParaRPr lang="en-US" sz="1250" dirty="0"/>
          </a:p>
        </p:txBody>
      </p:sp>
      <p:sp>
        <p:nvSpPr>
          <p:cNvPr id="53" name="Shape 50"/>
          <p:cNvSpPr/>
          <p:nvPr/>
        </p:nvSpPr>
        <p:spPr>
          <a:xfrm>
            <a:off x="6368796"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6697980" y="280416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school is closed</a:t>
            </a:r>
            <a:endParaRPr lang="en-US" sz="1250" dirty="0"/>
          </a:p>
        </p:txBody>
      </p:sp>
      <p:sp>
        <p:nvSpPr>
          <p:cNvPr id="56" name="Shape 53"/>
          <p:cNvSpPr/>
          <p:nvPr/>
        </p:nvSpPr>
        <p:spPr>
          <a:xfrm>
            <a:off x="6368796"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6697980"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he visits family</a:t>
            </a:r>
            <a:endParaRPr lang="en-US" sz="1250" dirty="0"/>
          </a:p>
        </p:txBody>
      </p:sp>
      <p:sp>
        <p:nvSpPr>
          <p:cNvPr id="59" name="Text 56"/>
          <p:cNvSpPr txBox="1"/>
          <p:nvPr/>
        </p:nvSpPr>
        <p:spPr>
          <a:xfrm>
            <a:off x="6313932"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science club finishes at 5:15.</a:t>
            </a:r>
            <a:endParaRPr lang="en-US" sz="1050" dirty="0"/>
          </a:p>
        </p:txBody>
      </p:sp>
      <p:sp>
        <p:nvSpPr>
          <p:cNvPr id="60" name="Shape 57"/>
          <p:cNvSpPr/>
          <p:nvPr/>
        </p:nvSpPr>
        <p:spPr>
          <a:xfrm>
            <a:off x="9050274" y="1810512"/>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9178290" y="1947672"/>
            <a:ext cx="310896" cy="310896"/>
          </a:xfrm>
          <a:prstGeom prst="ellipse">
            <a:avLst/>
          </a:prstGeom>
          <a:solidFill>
            <a:srgbClr val="1B3B6F"/>
          </a:solidFill>
          <a:ln w="12700">
            <a:solidFill>
              <a:srgbClr val="1B3B6F"/>
            </a:solidFill>
            <a:prstDash val="solid"/>
          </a:ln>
        </p:spPr>
      </p:sp>
      <p:sp>
        <p:nvSpPr>
          <p:cNvPr id="62" name="Text 59"/>
          <p:cNvSpPr txBox="1"/>
          <p:nvPr/>
        </p:nvSpPr>
        <p:spPr>
          <a:xfrm>
            <a:off x="917829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44050" y="1883664"/>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he do after the club?</a:t>
            </a:r>
            <a:endParaRPr lang="en-US" sz="1250" dirty="0"/>
          </a:p>
        </p:txBody>
      </p:sp>
      <p:sp>
        <p:nvSpPr>
          <p:cNvPr id="64" name="Shape 61"/>
          <p:cNvSpPr/>
          <p:nvPr/>
        </p:nvSpPr>
        <p:spPr>
          <a:xfrm>
            <a:off x="9233154" y="2490216"/>
            <a:ext cx="256032" cy="256032"/>
          </a:xfrm>
          <a:prstGeom prst="ellipse">
            <a:avLst/>
          </a:prstGeom>
          <a:solidFill>
            <a:srgbClr val="C9CED6"/>
          </a:solidFill>
          <a:ln w="12700">
            <a:solidFill>
              <a:srgbClr val="C9CED6"/>
            </a:solidFill>
            <a:prstDash val="solid"/>
          </a:ln>
        </p:spPr>
      </p:sp>
      <p:sp>
        <p:nvSpPr>
          <p:cNvPr id="65" name="Text 62"/>
          <p:cNvSpPr txBox="1"/>
          <p:nvPr/>
        </p:nvSpPr>
        <p:spPr>
          <a:xfrm>
            <a:off x="923315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562338" y="243230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goes straight to sleep</a:t>
            </a:r>
            <a:endParaRPr lang="en-US" sz="1250" dirty="0"/>
          </a:p>
        </p:txBody>
      </p:sp>
      <p:sp>
        <p:nvSpPr>
          <p:cNvPr id="67" name="Shape 64"/>
          <p:cNvSpPr/>
          <p:nvPr/>
        </p:nvSpPr>
        <p:spPr>
          <a:xfrm>
            <a:off x="9141714" y="2825496"/>
            <a:ext cx="2498598"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9233154" y="2862072"/>
            <a:ext cx="256032" cy="256032"/>
          </a:xfrm>
          <a:prstGeom prst="ellipse">
            <a:avLst/>
          </a:prstGeom>
          <a:solidFill>
            <a:srgbClr val="2E8B57"/>
          </a:solidFill>
          <a:ln w="12700">
            <a:solidFill>
              <a:srgbClr val="2E8B57"/>
            </a:solidFill>
            <a:prstDash val="solid"/>
          </a:ln>
        </p:spPr>
      </p:sp>
      <p:sp>
        <p:nvSpPr>
          <p:cNvPr id="69" name="Text 66"/>
          <p:cNvSpPr txBox="1"/>
          <p:nvPr/>
        </p:nvSpPr>
        <p:spPr>
          <a:xfrm>
            <a:off x="923315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562338" y="2804160"/>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eats, then completes homework</a:t>
            </a:r>
            <a:endParaRPr lang="en-US" sz="1150" dirty="0"/>
          </a:p>
        </p:txBody>
      </p:sp>
      <p:sp>
        <p:nvSpPr>
          <p:cNvPr id="71" name="Shape 68"/>
          <p:cNvSpPr/>
          <p:nvPr/>
        </p:nvSpPr>
        <p:spPr>
          <a:xfrm>
            <a:off x="9233154" y="3233928"/>
            <a:ext cx="256032" cy="256032"/>
          </a:xfrm>
          <a:prstGeom prst="ellipse">
            <a:avLst/>
          </a:prstGeom>
          <a:solidFill>
            <a:srgbClr val="C9CED6"/>
          </a:solidFill>
          <a:ln w="12700">
            <a:solidFill>
              <a:srgbClr val="C9CED6"/>
            </a:solidFill>
            <a:prstDash val="solid"/>
          </a:ln>
        </p:spPr>
      </p:sp>
      <p:sp>
        <p:nvSpPr>
          <p:cNvPr id="72" name="Text 69"/>
          <p:cNvSpPr txBox="1"/>
          <p:nvPr/>
        </p:nvSpPr>
        <p:spPr>
          <a:xfrm>
            <a:off x="923315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562338" y="3176016"/>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plays football</a:t>
            </a:r>
            <a:endParaRPr lang="en-US" sz="1250" dirty="0"/>
          </a:p>
        </p:txBody>
      </p:sp>
      <p:sp>
        <p:nvSpPr>
          <p:cNvPr id="74" name="Text 71"/>
          <p:cNvSpPr txBox="1"/>
          <p:nvPr/>
        </p:nvSpPr>
        <p:spPr>
          <a:xfrm>
            <a:off x="9178290" y="3566160"/>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He eats first and then completes his homework.</a:t>
            </a:r>
            <a:endParaRPr lang="en-US" sz="1050" dirty="0"/>
          </a:p>
        </p:txBody>
      </p:sp>
      <p:sp>
        <p:nvSpPr>
          <p:cNvPr id="75" name="Shape 72"/>
          <p:cNvSpPr/>
          <p:nvPr/>
        </p:nvSpPr>
        <p:spPr>
          <a:xfrm>
            <a:off x="457200"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585216"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950976"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When does he wake at the weekend?</a:t>
            </a:r>
            <a:endParaRPr lang="en-US" sz="1250" dirty="0"/>
          </a:p>
        </p:txBody>
      </p:sp>
      <p:sp>
        <p:nvSpPr>
          <p:cNvPr id="79" name="Shape 76"/>
          <p:cNvSpPr/>
          <p:nvPr/>
        </p:nvSpPr>
        <p:spPr>
          <a:xfrm>
            <a:off x="548640" y="4794504"/>
            <a:ext cx="2498598"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640080"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969264" y="4773168"/>
            <a:ext cx="2023110"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about 8:30</a:t>
            </a:r>
            <a:endParaRPr lang="en-US" sz="1250" dirty="0"/>
          </a:p>
        </p:txBody>
      </p:sp>
      <p:sp>
        <p:nvSpPr>
          <p:cNvPr id="83" name="Shape 80"/>
          <p:cNvSpPr/>
          <p:nvPr/>
        </p:nvSpPr>
        <p:spPr>
          <a:xfrm>
            <a:off x="640080"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969264"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6:00 exactly</a:t>
            </a:r>
            <a:endParaRPr lang="en-US" sz="1250" dirty="0"/>
          </a:p>
        </p:txBody>
      </p:sp>
      <p:sp>
        <p:nvSpPr>
          <p:cNvPr id="86" name="Shape 83"/>
          <p:cNvSpPr/>
          <p:nvPr/>
        </p:nvSpPr>
        <p:spPr>
          <a:xfrm>
            <a:off x="640080"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969264" y="5516880"/>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after midday</a:t>
            </a:r>
            <a:endParaRPr lang="en-US" sz="1250" dirty="0"/>
          </a:p>
        </p:txBody>
      </p:sp>
      <p:sp>
        <p:nvSpPr>
          <p:cNvPr id="89" name="Text 86"/>
          <p:cNvSpPr txBox="1"/>
          <p:nvPr/>
        </p:nvSpPr>
        <p:spPr>
          <a:xfrm>
            <a:off x="585216"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He says </a:t>
            </a:r>
            <a:pPr algn="l" indent="0" marL="0">
              <a:buNone/>
            </a:pPr>
            <a:r>
              <a:rPr lang="ar-SA" altLang="en-US" sz="1350" dirty="0">
                <a:solidFill>
                  <a:srgbClr val="8A6D1E"/>
                </a:solidFill>
                <a:latin typeface="Amiri" pitchFamily="34" charset="0"/>
                <a:ea typeface="Amiri" pitchFamily="34" charset="-122"/>
                <a:cs typeface="Amiri" pitchFamily="34" charset="-120"/>
              </a:rPr>
              <a:t>حَوَالَيْ الثَّامِنَةِ وَالنِّصْفِ</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90" name="Shape 87"/>
          <p:cNvSpPr/>
          <p:nvPr/>
        </p:nvSpPr>
        <p:spPr>
          <a:xfrm>
            <a:off x="3321558" y="4151376"/>
            <a:ext cx="2681478"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3449574" y="4288536"/>
            <a:ext cx="310896" cy="310896"/>
          </a:xfrm>
          <a:prstGeom prst="ellipse">
            <a:avLst/>
          </a:prstGeom>
          <a:solidFill>
            <a:srgbClr val="1B3B6F"/>
          </a:solidFill>
          <a:ln w="12700">
            <a:solidFill>
              <a:srgbClr val="1B3B6F"/>
            </a:solidFill>
            <a:prstDash val="solid"/>
          </a:ln>
        </p:spPr>
      </p:sp>
      <p:sp>
        <p:nvSpPr>
          <p:cNvPr id="92" name="Text 89"/>
          <p:cNvSpPr txBox="1"/>
          <p:nvPr/>
        </p:nvSpPr>
        <p:spPr>
          <a:xfrm>
            <a:off x="344957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3" name="Text 90"/>
          <p:cNvSpPr txBox="1"/>
          <p:nvPr/>
        </p:nvSpPr>
        <p:spPr>
          <a:xfrm>
            <a:off x="3815334" y="4224528"/>
            <a:ext cx="2077974"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contrast does he make?</a:t>
            </a:r>
            <a:endParaRPr lang="en-US" sz="1250" dirty="0"/>
          </a:p>
        </p:txBody>
      </p:sp>
      <p:sp>
        <p:nvSpPr>
          <p:cNvPr id="94" name="Shape 91"/>
          <p:cNvSpPr/>
          <p:nvPr/>
        </p:nvSpPr>
        <p:spPr>
          <a:xfrm>
            <a:off x="3504438" y="4831080"/>
            <a:ext cx="256032" cy="256032"/>
          </a:xfrm>
          <a:prstGeom prst="ellipse">
            <a:avLst/>
          </a:prstGeom>
          <a:solidFill>
            <a:srgbClr val="C9CED6"/>
          </a:solidFill>
          <a:ln w="12700">
            <a:solidFill>
              <a:srgbClr val="C9CED6"/>
            </a:solidFill>
            <a:prstDash val="solid"/>
          </a:ln>
        </p:spPr>
      </p:sp>
      <p:sp>
        <p:nvSpPr>
          <p:cNvPr id="95" name="Text 92"/>
          <p:cNvSpPr txBox="1"/>
          <p:nvPr/>
        </p:nvSpPr>
        <p:spPr>
          <a:xfrm>
            <a:off x="350443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6" name="Text 93"/>
          <p:cNvSpPr txBox="1"/>
          <p:nvPr/>
        </p:nvSpPr>
        <p:spPr>
          <a:xfrm>
            <a:off x="3833622" y="4773168"/>
            <a:ext cx="2023110"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ea typeface="Calibri" pitchFamily="34" charset="-122"/>
                <a:cs typeface="Calibri" pitchFamily="34" charset="-120"/>
              </a:rPr>
              <a:t>weekends are busier than school days</a:t>
            </a:r>
            <a:endParaRPr lang="en-US" sz="1150" dirty="0"/>
          </a:p>
        </p:txBody>
      </p:sp>
      <p:sp>
        <p:nvSpPr>
          <p:cNvPr id="97" name="Shape 94"/>
          <p:cNvSpPr/>
          <p:nvPr/>
        </p:nvSpPr>
        <p:spPr>
          <a:xfrm>
            <a:off x="3504438" y="5202936"/>
            <a:ext cx="256032" cy="256032"/>
          </a:xfrm>
          <a:prstGeom prst="ellipse">
            <a:avLst/>
          </a:prstGeom>
          <a:solidFill>
            <a:srgbClr val="C9CED6"/>
          </a:solidFill>
          <a:ln w="12700">
            <a:solidFill>
              <a:srgbClr val="C9CED6"/>
            </a:solidFill>
            <a:prstDash val="solid"/>
          </a:ln>
        </p:spPr>
      </p:sp>
      <p:sp>
        <p:nvSpPr>
          <p:cNvPr id="98" name="Text 95"/>
          <p:cNvSpPr txBox="1"/>
          <p:nvPr/>
        </p:nvSpPr>
        <p:spPr>
          <a:xfrm>
            <a:off x="3504438"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9" name="Text 96"/>
          <p:cNvSpPr txBox="1"/>
          <p:nvPr/>
        </p:nvSpPr>
        <p:spPr>
          <a:xfrm>
            <a:off x="3833622" y="5145024"/>
            <a:ext cx="2023110"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his routine never changes</a:t>
            </a:r>
            <a:endParaRPr lang="en-US" sz="1250" dirty="0"/>
          </a:p>
        </p:txBody>
      </p:sp>
      <p:sp>
        <p:nvSpPr>
          <p:cNvPr id="100" name="Shape 97"/>
          <p:cNvSpPr/>
          <p:nvPr/>
        </p:nvSpPr>
        <p:spPr>
          <a:xfrm>
            <a:off x="3412998" y="5538216"/>
            <a:ext cx="2498598" cy="347472"/>
          </a:xfrm>
          <a:prstGeom prst="roundRect">
            <a:avLst>
              <a:gd name="adj" fmla="val 15789"/>
            </a:avLst>
          </a:prstGeom>
          <a:solidFill>
            <a:srgbClr val="E6F4EC"/>
          </a:solidFill>
          <a:ln w="9525">
            <a:solidFill>
              <a:srgbClr val="2E8B57"/>
            </a:solidFill>
            <a:prstDash val="solid"/>
          </a:ln>
        </p:spPr>
      </p:sp>
      <p:sp>
        <p:nvSpPr>
          <p:cNvPr id="101" name="Shape 98"/>
          <p:cNvSpPr/>
          <p:nvPr/>
        </p:nvSpPr>
        <p:spPr>
          <a:xfrm>
            <a:off x="3504438" y="5574792"/>
            <a:ext cx="256032" cy="256032"/>
          </a:xfrm>
          <a:prstGeom prst="ellipse">
            <a:avLst/>
          </a:prstGeom>
          <a:solidFill>
            <a:srgbClr val="2E8B57"/>
          </a:solidFill>
          <a:ln w="12700">
            <a:solidFill>
              <a:srgbClr val="2E8B57"/>
            </a:solidFill>
            <a:prstDash val="solid"/>
          </a:ln>
        </p:spPr>
      </p:sp>
      <p:sp>
        <p:nvSpPr>
          <p:cNvPr id="102" name="Text 99"/>
          <p:cNvSpPr txBox="1"/>
          <p:nvPr/>
        </p:nvSpPr>
        <p:spPr>
          <a:xfrm>
            <a:off x="3504438"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103" name="Text 100"/>
          <p:cNvSpPr txBox="1"/>
          <p:nvPr/>
        </p:nvSpPr>
        <p:spPr>
          <a:xfrm>
            <a:off x="3833622" y="5516880"/>
            <a:ext cx="2023110"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school days are organised; weekends are more flexible</a:t>
            </a:r>
            <a:endParaRPr lang="en-US" sz="1150" dirty="0"/>
          </a:p>
        </p:txBody>
      </p:sp>
      <p:sp>
        <p:nvSpPr>
          <p:cNvPr id="104" name="Text 101"/>
          <p:cNvSpPr txBox="1"/>
          <p:nvPr/>
        </p:nvSpPr>
        <p:spPr>
          <a:xfrm>
            <a:off x="3449574" y="5907024"/>
            <a:ext cx="2425446"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He contrasts an organised school routine with a more flexible weekend.</a:t>
            </a:r>
            <a:endParaRPr lang="en-US" sz="1050" dirty="0"/>
          </a:p>
        </p:txBody>
      </p:sp>
      <p:sp>
        <p:nvSpPr>
          <p:cNvPr id="105" name="Shape 102"/>
          <p:cNvSpPr/>
          <p:nvPr/>
        </p:nvSpPr>
        <p:spPr>
          <a:xfrm>
            <a:off x="6185916" y="4151376"/>
            <a:ext cx="2681478" cy="2157984"/>
          </a:xfrm>
          <a:prstGeom prst="roundRect">
            <a:avLst>
              <a:gd name="adj" fmla="val 3390"/>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06" name="Text 103"/>
          <p:cNvSpPr txBox="1"/>
          <p:nvPr/>
        </p:nvSpPr>
        <p:spPr>
          <a:xfrm>
            <a:off x="6368796" y="4279392"/>
            <a:ext cx="2315718"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AN INTERVIEW</a:t>
            </a:r>
            <a:endParaRPr lang="en-US" sz="1000" dirty="0"/>
          </a:p>
        </p:txBody>
      </p:sp>
      <p:sp>
        <p:nvSpPr>
          <p:cNvPr id="107" name="Text 104"/>
          <p:cNvSpPr txBox="1"/>
          <p:nvPr/>
        </p:nvSpPr>
        <p:spPr>
          <a:xfrm>
            <a:off x="6368796" y="4590288"/>
            <a:ext cx="2315718"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Keep listening after “as for …”.</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Chat: 1_ 2_ 3_ 4_ 5_ 6_</a:t>
            </a:r>
            <a:endParaRPr lang="en-US" sz="1250" dirty="0"/>
          </a:p>
        </p:txBody>
      </p:sp>
      <p:sp>
        <p:nvSpPr>
          <p:cNvPr id="108" name="Text 10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26</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D1-L12 · D1 Assessment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60" b="1" spc="150" kern="0" dirty="0">
                <a:solidFill>
                  <a:srgbClr val="2F6FB0"/>
                </a:solidFill>
                <a:latin typeface="Calibri" pitchFamily="34" charset="0"/>
                <a:ea typeface="Calibri" pitchFamily="34" charset="-122"/>
                <a:cs typeface="Calibri" pitchFamily="34" charset="-120"/>
              </a:rPr>
              <a:t>READING · 10 MARKS · READ ONCE FOR THE PATTERN, THEN FOR EXACT DETAILS (WEBSITE)</a:t>
            </a:r>
            <a:endParaRPr lang="en-US" sz="86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50" b="1" dirty="0">
                <a:solidFill>
                  <a:srgbClr val="1B3B6F"/>
                </a:solidFill>
                <a:latin typeface="Cambria" pitchFamily="34" charset="0"/>
                <a:ea typeface="Cambria" pitchFamily="34" charset="-122"/>
                <a:cs typeface="Cambria" pitchFamily="34" charset="-120"/>
              </a:rPr>
              <a:t>Reading · A school-day and weekend routine</a:t>
            </a:r>
            <a:endParaRPr lang="en-US" sz="21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D1-L12</a:t>
            </a:r>
            <a:endParaRPr lang="en-US" sz="850" dirty="0"/>
          </a:p>
        </p:txBody>
      </p:sp>
      <p:sp>
        <p:nvSpPr>
          <p:cNvPr id="15" name="Shape 12"/>
          <p:cNvSpPr/>
          <p:nvPr/>
        </p:nvSpPr>
        <p:spPr>
          <a:xfrm>
            <a:off x="457200" y="1810512"/>
            <a:ext cx="112745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10817352" cy="4206240"/>
          </a:xfrm>
          <a:prstGeom prst="rect">
            <a:avLst/>
          </a:prstGeom>
          <a:noFill/>
          <a:ln/>
        </p:spPr>
        <p:txBody>
          <a:bodyPr wrap="square" lIns="0" tIns="0" rIns="0" bIns="0" rtlCol="0" anchor="t"/>
          <a:lstStyle/>
          <a:p>
            <a:pPr rtl="1" algn="r" indent="0" marL="0">
              <a:lnSpc>
                <a:spcPct val="120000"/>
              </a:lnSpc>
              <a:buNone/>
            </a:pPr>
            <a:r>
              <a:rPr lang="ar-SA" altLang="en-US" sz="2250" dirty="0">
                <a:solidFill>
                  <a:srgbClr val="1F2A37"/>
                </a:solidFill>
                <a:latin typeface="Amiri" pitchFamily="34" charset="0"/>
                <a:ea typeface="Amiri" pitchFamily="34" charset="-122"/>
                <a:cs typeface="Amiri" pitchFamily="34" charset="-120"/>
              </a:rPr>
              <a:t>أَكْتُبُ عَنْ رُوتِينِي فِي أَيَّامِ الدِّرَاسَةِ وَفِي نِهَايَةِ الأُسْبُوعِ. مِنَ الاِثْنَيْنِ إِلَى الجُمُعَةِ أَسْتَيْقِظُ فِي السَّادِسَةِ وَخَمْسٍ وَعِشْرِينَ دَقِيقَةً. أَرْتَدِي مَلَابِسِي وَأُحَضِّرُ حَقِيبَتِي قَبْلَ أَنْ أَتَنَاوَلَ الإِفْطَارَ. أَخْرُجُ فِي السَّابِعَةِ وَالنِّصْفِ، وَتَسْتَغْرِقُ رِحْلَتِي إِلَى المَدْرَسَةِ حَوَالَيْ عِشْرِينَ دَقِيقَةً. بَعْدَ المَدْرَسَةِ أَذْهَبُ إِلَى السِّبَاحَةِ مَرَّتَيْنِ فِي الأُسْبُوعِ، يَوْمَ الاِثْنَيْنِ وَالأَرْبِعَاءِ. فِي الأَيَّامِ الأُخْرَى أُكْمِلُ وَاجِبِي فِي المَكْتَبَةِ، بَيْنَمَا يَلْعَبُ أَخِي أَلْعَابَ الحَاسُوبِ فِي البَيْتِ. يَوْمُ الخَمِيسِ مُخْتَلِفٌ لِأَنَّ لَدَيَّ دَرْسًا عَبْرَ الإِنْتَرْنِتِ فِي اللُّغَةِ العَرَبِيَّةِ، وَهُوَ يَبْدَأُ فِي السَّادِسَةِ وَيَنْتَهِي فِي السَّابِعَةِ إِلَّا الرُّبْعَ. أَمَّا يَوْمَ السَّبْتِ فَأَسْتَيْقِظُ مُتَأَخِّرًا، وَأُسَاعِدُ أُسْرَتِي فِي البَيْتِ قَبْلَ أَنْ أَلْتَقِيَ بِصَدِيقَاتِي. فِي رَأْيِي، التَّنْظِيمُ فِي أَيَّامِ الدِّرَاسَةِ يُسَاعِدُنِي عَلَى إِنْجَازِ عَمَلِي، وَلٰكِنَّ الوَقْتَ الأَكْثَرَ مَرُونَةً فِي نِهَايَةِ الأُسْبُوعِ مُهِمٌّ أَيْضًا، لِأَنَّهُ يَسْمَحُ لِي بِالرَّاحَةِ وَقَضَاءِ الوَقْتِ مَعَ الآخَرِينَ.</a:t>
            </a:r>
            <a:endParaRPr lang="ar-SA" sz="2250" dirty="0"/>
          </a:p>
        </p:txBody>
      </p:sp>
      <p:sp>
        <p:nvSpPr>
          <p:cNvPr id="17" name="Text 1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26</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D1-L12 · D1 Assessment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READING · QUESTIONS 1–5 · 5 MARKS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 Questions 1–5</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القِرَاءَةُ (١–٥)</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writer describing?</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holiday journey</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new town</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her school-day and weekend routines</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time does she wake on school days?</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6:25</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6:45</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7:15</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she do before breakfast?</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does homework</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gets dressed and prepares her bag</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meets friends</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long does the journey to school take?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about twenty minutes</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one hour</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five minutes</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after-school activity happens twice weekly?</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library study</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family visit</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swimming</a:t>
            </a:r>
            <a:endParaRPr lang="en-US" sz="1250" dirty="0"/>
          </a:p>
        </p:txBody>
      </p:sp>
      <p:sp>
        <p:nvSpPr>
          <p:cNvPr id="80" name="Shape 77"/>
          <p:cNvSpPr/>
          <p:nvPr/>
        </p:nvSpPr>
        <p:spPr>
          <a:xfrm>
            <a:off x="8095488" y="4151376"/>
            <a:ext cx="3636264" cy="2157984"/>
          </a:xfrm>
          <a:prstGeom prst="roundRect">
            <a:avLst>
              <a:gd name="adj" fmla="val 3390"/>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FIND THE EVIDENCE</a:t>
            </a:r>
            <a:endParaRPr lang="en-US" sz="1000" dirty="0"/>
          </a:p>
        </p:txBody>
      </p:sp>
      <p:sp>
        <p:nvSpPr>
          <p:cNvPr id="82" name="Text 7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Go back to the text for every answer.</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Chat: 1_ 2_ 3_ 4_ 5_</a:t>
            </a:r>
            <a:endParaRPr lang="en-US" sz="1250" dirty="0"/>
          </a:p>
        </p:txBody>
      </p:sp>
      <p:sp>
        <p:nvSpPr>
          <p:cNvPr id="83" name="Text 8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26</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D1-L12 · D1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READING · QUESTIONS 1–5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1–5 ·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writer describing?</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holiday journey</a:t>
            </a:r>
            <a:endParaRPr lang="en-US" sz="125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new town</a:t>
            </a:r>
            <a:endParaRPr lang="en-US" sz="1250" dirty="0"/>
          </a:p>
        </p:txBody>
      </p:sp>
      <p:sp>
        <p:nvSpPr>
          <p:cNvPr id="25" name="Shape 22"/>
          <p:cNvSpPr/>
          <p:nvPr/>
        </p:nvSpPr>
        <p:spPr>
          <a:xfrm>
            <a:off x="548640" y="3197352"/>
            <a:ext cx="3453384"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her school-day and weekend routines</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text compares two routine patterns.</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time does she wake on school days?</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6:25</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6:45</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7:15</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السَّادِسَةِ وَخَمْسٍ وَعِشْرِينَ دَقِيقَةً = 6:25.</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she do before breakfast?</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does homework</a:t>
            </a:r>
            <a:endParaRPr lang="en-US" sz="1250" dirty="0"/>
          </a:p>
        </p:txBody>
      </p:sp>
      <p:sp>
        <p:nvSpPr>
          <p:cNvPr id="52" name="Shape 49"/>
          <p:cNvSpPr/>
          <p:nvPr/>
        </p:nvSpPr>
        <p:spPr>
          <a:xfrm>
            <a:off x="8186928" y="2825496"/>
            <a:ext cx="3453384"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8278368" y="2862072"/>
            <a:ext cx="256032" cy="256032"/>
          </a:xfrm>
          <a:prstGeom prst="ellipse">
            <a:avLst/>
          </a:prstGeom>
          <a:solidFill>
            <a:srgbClr val="2E8B57"/>
          </a:solidFill>
          <a:ln w="12700">
            <a:solidFill>
              <a:srgbClr val="2E8B57"/>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gets dressed and prepares her bag</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meets friends</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Both actions happen before breakfast.</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long does the journey to school take?</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about twenty minutes</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one hour</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five minutes</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تَسْتَغْرِقُ الرِّحْلَةُ حَوَالَيْ عِشْرِينَ دَقِيقَةً.</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after-school activity happens twice weekly?</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library study</a:t>
            </a:r>
            <a:endParaRPr lang="en-US" sz="1250" dirty="0"/>
          </a:p>
        </p:txBody>
      </p:sp>
      <p:sp>
        <p:nvSpPr>
          <p:cNvPr id="82" name="Shape 79"/>
          <p:cNvSpPr/>
          <p:nvPr/>
        </p:nvSpPr>
        <p:spPr>
          <a:xfrm>
            <a:off x="4459224" y="5202936"/>
            <a:ext cx="256032" cy="256032"/>
          </a:xfrm>
          <a:prstGeom prst="ellipse">
            <a:avLst/>
          </a:prstGeom>
          <a:solidFill>
            <a:srgbClr val="C9CED6"/>
          </a:solidFill>
          <a:ln w="12700">
            <a:solidFill>
              <a:srgbClr val="C9CED6"/>
            </a:solidFill>
            <a:prstDash val="solid"/>
          </a:ln>
        </p:spPr>
      </p:sp>
      <p:sp>
        <p:nvSpPr>
          <p:cNvPr id="83" name="Text 80"/>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4" name="Text 81"/>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family visit</a:t>
            </a:r>
            <a:endParaRPr lang="en-US" sz="1250" dirty="0"/>
          </a:p>
        </p:txBody>
      </p:sp>
      <p:sp>
        <p:nvSpPr>
          <p:cNvPr id="85" name="Shape 82"/>
          <p:cNvSpPr/>
          <p:nvPr/>
        </p:nvSpPr>
        <p:spPr>
          <a:xfrm>
            <a:off x="4367784" y="5538216"/>
            <a:ext cx="3453384" cy="347472"/>
          </a:xfrm>
          <a:prstGeom prst="roundRect">
            <a:avLst>
              <a:gd name="adj" fmla="val 15789"/>
            </a:avLst>
          </a:prstGeom>
          <a:solidFill>
            <a:srgbClr val="E6F4EC"/>
          </a:solidFill>
          <a:ln w="9525">
            <a:solidFill>
              <a:srgbClr val="2E8B57"/>
            </a:solidFill>
            <a:prstDash val="solid"/>
          </a:ln>
        </p:spPr>
      </p:sp>
      <p:sp>
        <p:nvSpPr>
          <p:cNvPr id="86" name="Shape 83"/>
          <p:cNvSpPr/>
          <p:nvPr/>
        </p:nvSpPr>
        <p:spPr>
          <a:xfrm>
            <a:off x="4459224" y="5574792"/>
            <a:ext cx="256032" cy="256032"/>
          </a:xfrm>
          <a:prstGeom prst="ellipse">
            <a:avLst/>
          </a:prstGeom>
          <a:solidFill>
            <a:srgbClr val="2E8B57"/>
          </a:solidFill>
          <a:ln w="12700">
            <a:solidFill>
              <a:srgbClr val="2E8B57"/>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swimming</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She swims on Monday and Wednesday.</a:t>
            </a:r>
            <a:endParaRPr lang="en-US" sz="1050" dirty="0"/>
          </a:p>
        </p:txBody>
      </p:sp>
      <p:sp>
        <p:nvSpPr>
          <p:cNvPr id="90" name="Shape 87"/>
          <p:cNvSpPr/>
          <p:nvPr/>
        </p:nvSpPr>
        <p:spPr>
          <a:xfrm>
            <a:off x="8095488" y="4151376"/>
            <a:ext cx="3636264" cy="2157984"/>
          </a:xfrm>
          <a:prstGeom prst="roundRect">
            <a:avLst>
              <a:gd name="adj" fmla="val 3390"/>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FIND THE EVIDENCE</a:t>
            </a:r>
            <a:endParaRPr lang="en-US" sz="1000" dirty="0"/>
          </a:p>
        </p:txBody>
      </p:sp>
      <p:sp>
        <p:nvSpPr>
          <p:cNvPr id="92" name="Text 8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Go back to the text for every answer.</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Chat: 1_ 2_ 3_ 4_ 5_</a:t>
            </a:r>
            <a:endParaRPr lang="en-US" sz="1250" dirty="0"/>
          </a:p>
        </p:txBody>
      </p:sp>
      <p:sp>
        <p:nvSpPr>
          <p:cNvPr id="93" name="Text 9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26</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D1-L12 · D1 Assessment</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READING · QUESTIONS 6–10 · 5 MARKS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 Questions 6–10</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القِرَاءَةُ (٦–١٠)</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her brother do while she studies?</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plays computer games</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sleeps</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cooks dinner</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is Thursday evening different?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she finishes school early</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she attends an online Arabic lesson</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she works in a shop</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happens first on Saturday?</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she helps at home</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she meets friends</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she goes to school</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9</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هٰذَا</a:t>
            </a:r>
            <a:pPr algn="l" indent="0" marL="0">
              <a:buNone/>
            </a:pPr>
            <a:r>
              <a:rPr lang="en-US" sz="1250" b="1" dirty="0">
                <a:solidFill>
                  <a:srgbClr val="1B3B6F"/>
                </a:solidFill>
                <a:latin typeface="Calibri" pitchFamily="34" charset="0"/>
                <a:ea typeface="Calibri" pitchFamily="34" charset="-122"/>
                <a:cs typeface="Calibri" pitchFamily="34" charset="-120"/>
              </a:rPr>
              <a:t> refer to in the final paragraph?</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waking early for school</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bus journey</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having more flexible time at the weekend</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10</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statement best summarises her opinion?</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She dislikes every part of her routine.</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She wants the same timetable every day.</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She values organisation on school days and flexibility at weekends.</a:t>
            </a:r>
            <a:endParaRPr lang="en-US" sz="1250" dirty="0"/>
          </a:p>
        </p:txBody>
      </p:sp>
      <p:sp>
        <p:nvSpPr>
          <p:cNvPr id="80" name="Shape 77"/>
          <p:cNvSpPr/>
          <p:nvPr/>
        </p:nvSpPr>
        <p:spPr>
          <a:xfrm>
            <a:off x="8095488" y="4151376"/>
            <a:ext cx="3636264" cy="2157984"/>
          </a:xfrm>
          <a:prstGeom prst="roundRect">
            <a:avLst>
              <a:gd name="adj" fmla="val 3390"/>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FIND THE EVIDENCE</a:t>
            </a:r>
            <a:endParaRPr lang="en-US" sz="1000" dirty="0"/>
          </a:p>
        </p:txBody>
      </p:sp>
      <p:sp>
        <p:nvSpPr>
          <p:cNvPr id="82" name="Text 7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Q9: what does “this” refer to?</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Chat: 6_ 7_ 8_ 9_ 10_</a:t>
            </a:r>
            <a:endParaRPr lang="en-US" sz="1250" dirty="0"/>
          </a:p>
        </p:txBody>
      </p:sp>
      <p:sp>
        <p:nvSpPr>
          <p:cNvPr id="83" name="Text 8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26</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D1-L12 · D1 Assessment</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READING · QUESTIONS 6–10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6–10 ·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D1-L12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her brother do while she studies?</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plays computer games</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sleeps</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cooks dinner</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contrast is introduced by </a:t>
            </a:r>
            <a:pPr algn="l" indent="0" marL="0">
              <a:buNone/>
            </a:pPr>
            <a:r>
              <a:rPr lang="ar-SA" altLang="en-US" sz="1350" dirty="0">
                <a:solidFill>
                  <a:srgbClr val="8A6D1E"/>
                </a:solidFill>
                <a:latin typeface="Amiri" pitchFamily="34" charset="0"/>
                <a:ea typeface="Amiri" pitchFamily="34" charset="-122"/>
                <a:cs typeface="Amiri" pitchFamily="34" charset="-120"/>
              </a:rPr>
              <a:t>بَيْنَمَا</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is Thursday evening different?</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she finishes school early</a:t>
            </a:r>
            <a:endParaRPr lang="en-US" sz="1250" dirty="0"/>
          </a:p>
        </p:txBody>
      </p:sp>
      <p:sp>
        <p:nvSpPr>
          <p:cNvPr id="37" name="Shape 34"/>
          <p:cNvSpPr/>
          <p:nvPr/>
        </p:nvSpPr>
        <p:spPr>
          <a:xfrm>
            <a:off x="4367784" y="2825496"/>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862072"/>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she attends an online Arabic lesson</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she works in a shop</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online lesson changes the usual evening sequence.</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happens first on Saturday?</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she helps at home</a:t>
            </a:r>
            <a:endParaRPr lang="en-US" sz="12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she meets friends</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she goes to school</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She helps at home before going out.</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9</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هٰذَا</a:t>
            </a:r>
            <a:pPr algn="l" indent="0" marL="0">
              <a:buNone/>
            </a:pPr>
            <a:r>
              <a:rPr lang="en-US" sz="1250" b="1" dirty="0">
                <a:solidFill>
                  <a:srgbClr val="1B3B6F"/>
                </a:solidFill>
                <a:latin typeface="Calibri" pitchFamily="34" charset="0"/>
                <a:ea typeface="Calibri" pitchFamily="34" charset="-122"/>
                <a:cs typeface="Calibri" pitchFamily="34" charset="-120"/>
              </a:rPr>
              <a:t> refer to in the final paragraph?</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waking early for school</a:t>
            </a:r>
            <a:endParaRPr lang="en-US" sz="125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bus journey</a:t>
            </a:r>
            <a:endParaRPr lang="en-US" sz="125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having more flexible time at the weekend</a:t>
            </a:r>
            <a:endParaRPr lang="en-US" sz="11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demonstrative refers to the more flexible weekend routine.</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10</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statement best summarises her opinion?</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She dislikes every part of her routine.</a:t>
            </a:r>
            <a:endParaRPr lang="en-US" sz="1250" dirty="0"/>
          </a:p>
        </p:txBody>
      </p:sp>
      <p:sp>
        <p:nvSpPr>
          <p:cNvPr id="82" name="Shape 79"/>
          <p:cNvSpPr/>
          <p:nvPr/>
        </p:nvSpPr>
        <p:spPr>
          <a:xfrm>
            <a:off x="4459224" y="5202936"/>
            <a:ext cx="256032" cy="256032"/>
          </a:xfrm>
          <a:prstGeom prst="ellipse">
            <a:avLst/>
          </a:prstGeom>
          <a:solidFill>
            <a:srgbClr val="C9CED6"/>
          </a:solidFill>
          <a:ln w="12700">
            <a:solidFill>
              <a:srgbClr val="C9CED6"/>
            </a:solidFill>
            <a:prstDash val="solid"/>
          </a:ln>
        </p:spPr>
      </p:sp>
      <p:sp>
        <p:nvSpPr>
          <p:cNvPr id="83" name="Text 80"/>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4" name="Text 81"/>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ea typeface="Calibri" pitchFamily="34" charset="-122"/>
                <a:cs typeface="Calibri" pitchFamily="34" charset="-120"/>
              </a:rPr>
              <a:t>She wants the same timetable every day.</a:t>
            </a:r>
            <a:endParaRPr lang="en-US" sz="1150" dirty="0"/>
          </a:p>
        </p:txBody>
      </p:sp>
      <p:sp>
        <p:nvSpPr>
          <p:cNvPr id="85" name="Shape 82"/>
          <p:cNvSpPr/>
          <p:nvPr/>
        </p:nvSpPr>
        <p:spPr>
          <a:xfrm>
            <a:off x="4367784" y="5538216"/>
            <a:ext cx="3453384" cy="347472"/>
          </a:xfrm>
          <a:prstGeom prst="roundRect">
            <a:avLst>
              <a:gd name="adj" fmla="val 15789"/>
            </a:avLst>
          </a:prstGeom>
          <a:solidFill>
            <a:srgbClr val="E6F4EC"/>
          </a:solidFill>
          <a:ln w="9525">
            <a:solidFill>
              <a:srgbClr val="2E8B57"/>
            </a:solidFill>
            <a:prstDash val="solid"/>
          </a:ln>
        </p:spPr>
      </p:sp>
      <p:sp>
        <p:nvSpPr>
          <p:cNvPr id="86" name="Shape 83"/>
          <p:cNvSpPr/>
          <p:nvPr/>
        </p:nvSpPr>
        <p:spPr>
          <a:xfrm>
            <a:off x="4459224" y="5574792"/>
            <a:ext cx="256032" cy="256032"/>
          </a:xfrm>
          <a:prstGeom prst="ellipse">
            <a:avLst/>
          </a:prstGeom>
          <a:solidFill>
            <a:srgbClr val="2E8B57"/>
          </a:solidFill>
          <a:ln w="12700">
            <a:solidFill>
              <a:srgbClr val="2E8B57"/>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She values organisation on school days and flexibility at weekends.</a:t>
            </a:r>
            <a:endParaRPr lang="en-US" sz="11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Her conclusion is balanced and compares the benefits of both routines.</a:t>
            </a:r>
            <a:endParaRPr lang="en-US" sz="1050" dirty="0"/>
          </a:p>
        </p:txBody>
      </p:sp>
      <p:sp>
        <p:nvSpPr>
          <p:cNvPr id="90" name="Shape 87"/>
          <p:cNvSpPr/>
          <p:nvPr/>
        </p:nvSpPr>
        <p:spPr>
          <a:xfrm>
            <a:off x="8095488" y="4151376"/>
            <a:ext cx="3636264" cy="2157984"/>
          </a:xfrm>
          <a:prstGeom prst="roundRect">
            <a:avLst>
              <a:gd name="adj" fmla="val 3390"/>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FIND THE EVIDENCE</a:t>
            </a:r>
            <a:endParaRPr lang="en-US" sz="1000" dirty="0"/>
          </a:p>
        </p:txBody>
      </p:sp>
      <p:sp>
        <p:nvSpPr>
          <p:cNvPr id="92" name="Text 8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Q9: what does “this” refer to?</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Chat: 6_ 7_ 8_ 9_ 10_</a:t>
            </a:r>
            <a:endParaRPr lang="en-US" sz="1250" dirty="0"/>
          </a:p>
        </p:txBody>
      </p:sp>
      <p:sp>
        <p:nvSpPr>
          <p:cNvPr id="93" name="Text 9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26</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D1-L12 · D1 Assessment</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13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ea typeface="Calibri" pitchFamily="34" charset="-122"/>
                <a:cs typeface="Calibri" pitchFamily="34" charset="-120"/>
              </a:rPr>
              <a:t>WRITING · 20 MARKS · FORM (5) + ARTICLE OR EMAIL (15)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Writing assessment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تَقْيِيمُ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415784" y="1810512"/>
            <a:ext cx="42428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Question 1 · routine form (5)</a:t>
            </a:r>
            <a:endParaRPr lang="en-US" sz="1100" dirty="0"/>
          </a:p>
        </p:txBody>
      </p:sp>
      <p:sp>
        <p:nvSpPr>
          <p:cNvPr id="17" name="Text 14"/>
          <p:cNvSpPr txBox="1"/>
          <p:nvPr/>
        </p:nvSpPr>
        <p:spPr>
          <a:xfrm>
            <a:off x="530352" y="1810512"/>
            <a:ext cx="67391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Question 2 · article or email, 100–120 words (15)</a:t>
            </a:r>
            <a:endParaRPr lang="en-US" sz="1100" dirty="0"/>
          </a:p>
        </p:txBody>
      </p:sp>
      <p:sp>
        <p:nvSpPr>
          <p:cNvPr id="18" name="Shape 15"/>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19" name="Text 16"/>
          <p:cNvSpPr txBox="1"/>
          <p:nvPr/>
        </p:nvSpPr>
        <p:spPr>
          <a:xfrm>
            <a:off x="7434072" y="2267712"/>
            <a:ext cx="420624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وَقْتُ الاِسْتِيقَاظِ: ______</a:t>
            </a:r>
            <a:endParaRPr lang="ar-SA" sz="2200" dirty="0"/>
          </a:p>
        </p:txBody>
      </p:sp>
      <p:sp>
        <p:nvSpPr>
          <p:cNvPr id="20" name="Text 17"/>
          <p:cNvSpPr txBox="1"/>
          <p:nvPr/>
        </p:nvSpPr>
        <p:spPr>
          <a:xfrm>
            <a:off x="566928" y="2267712"/>
            <a:ext cx="67025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For a young Arabic-speaking reader, include: 1 a school-day routine</a:t>
            </a:r>
            <a:endParaRPr lang="en-US" sz="1100" dirty="0"/>
          </a:p>
        </p:txBody>
      </p:sp>
      <p:sp>
        <p:nvSpPr>
          <p:cNvPr id="21" name="Shape 18"/>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2" name="Text 19"/>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3" name="Shape 20"/>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4" name="Text 21"/>
          <p:cNvSpPr txBox="1"/>
          <p:nvPr/>
        </p:nvSpPr>
        <p:spPr>
          <a:xfrm>
            <a:off x="7434072" y="3004718"/>
            <a:ext cx="420624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مَاذَا تَفْعَلُ قَبْلَ الإِفْطَارِ؟ ______</a:t>
            </a:r>
            <a:endParaRPr lang="ar-SA" sz="2200" dirty="0"/>
          </a:p>
        </p:txBody>
      </p:sp>
      <p:sp>
        <p:nvSpPr>
          <p:cNvPr id="25" name="Text 22"/>
          <p:cNvSpPr txBox="1"/>
          <p:nvPr/>
        </p:nvSpPr>
        <p:spPr>
          <a:xfrm>
            <a:off x="566928" y="3004718"/>
            <a:ext cx="67025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2 exact times and frequency · 3 before and after school</a:t>
            </a:r>
            <a:endParaRPr lang="en-US" sz="1100" dirty="0"/>
          </a:p>
        </p:txBody>
      </p:sp>
      <p:sp>
        <p:nvSpPr>
          <p:cNvPr id="26" name="Shape 23"/>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8" name="Shape 25"/>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29" name="Text 26"/>
          <p:cNvSpPr txBox="1"/>
          <p:nvPr/>
        </p:nvSpPr>
        <p:spPr>
          <a:xfrm>
            <a:off x="7434072" y="3741725"/>
            <a:ext cx="420624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كَمْ مَرَّةً تَتَمَرَّنُ؟ ______</a:t>
            </a:r>
            <a:endParaRPr lang="ar-SA" sz="2200" dirty="0"/>
          </a:p>
        </p:txBody>
      </p:sp>
      <p:sp>
        <p:nvSpPr>
          <p:cNvPr id="30" name="Text 27"/>
          <p:cNvSpPr txBox="1"/>
          <p:nvPr/>
        </p:nvSpPr>
        <p:spPr>
          <a:xfrm>
            <a:off x="566928" y="3741725"/>
            <a:ext cx="67025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4 another person’s routine · 5 a weekend comparison</a:t>
            </a:r>
            <a:endParaRPr lang="en-US" sz="1100" dirty="0"/>
          </a:p>
        </p:txBody>
      </p:sp>
      <p:sp>
        <p:nvSpPr>
          <p:cNvPr id="31" name="Shape 28"/>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3" name="Shape 30"/>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4" name="Text 31"/>
          <p:cNvSpPr txBox="1"/>
          <p:nvPr/>
        </p:nvSpPr>
        <p:spPr>
          <a:xfrm>
            <a:off x="7434072" y="4478731"/>
            <a:ext cx="420624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مَاذَا تَفْعَلُ بَعْدَ المَدْرَسَةِ؟ ______</a:t>
            </a:r>
            <a:endParaRPr lang="ar-SA" sz="2200" dirty="0"/>
          </a:p>
        </p:txBody>
      </p:sp>
      <p:sp>
        <p:nvSpPr>
          <p:cNvPr id="35" name="Text 32"/>
          <p:cNvSpPr txBox="1"/>
          <p:nvPr/>
        </p:nvSpPr>
        <p:spPr>
          <a:xfrm>
            <a:off x="566928" y="4478731"/>
            <a:ext cx="67025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6 a reasoned opinion</a:t>
            </a:r>
            <a:endParaRPr lang="en-US" sz="1100" dirty="0"/>
          </a:p>
        </p:txBody>
      </p:sp>
      <p:sp>
        <p:nvSpPr>
          <p:cNvPr id="36" name="Shape 33"/>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37" name="Text 34"/>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8" name="Shape 35"/>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39" name="Text 36"/>
          <p:cNvSpPr txBox="1"/>
          <p:nvPr/>
        </p:nvSpPr>
        <p:spPr>
          <a:xfrm>
            <a:off x="7434072" y="5215738"/>
            <a:ext cx="420624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وَقْتُ النَّوْمِ: ______</a:t>
            </a:r>
            <a:endParaRPr lang="ar-SA" sz="2200" dirty="0"/>
          </a:p>
        </p:txBody>
      </p:sp>
      <p:sp>
        <p:nvSpPr>
          <p:cNvPr id="40" name="Text 37"/>
          <p:cNvSpPr txBox="1"/>
          <p:nvPr/>
        </p:nvSpPr>
        <p:spPr>
          <a:xfrm>
            <a:off x="566928" y="5215738"/>
            <a:ext cx="670255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Marked for Task (5) · Range (5) · Accuracy (5)</a:t>
            </a:r>
            <a:endParaRPr lang="en-US" sz="1100" dirty="0"/>
          </a:p>
        </p:txBody>
      </p:sp>
      <p:sp>
        <p:nvSpPr>
          <p:cNvPr id="41" name="Shape 38"/>
          <p:cNvSpPr/>
          <p:nvPr/>
        </p:nvSpPr>
        <p:spPr>
          <a:xfrm>
            <a:off x="11091672" y="5261458"/>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526145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Check before you finish: I / he / she prefixes · she → -hā · verb after “an” · past / to the hour.</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26</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D1-L12 · D1 Assessment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18" b="1" spc="150" kern="0" dirty="0">
                <a:solidFill>
                  <a:srgbClr val="8A6D1E"/>
                </a:solidFill>
                <a:latin typeface="Calibri" pitchFamily="34" charset="0"/>
                <a:ea typeface="Calibri" pitchFamily="34" charset="-122"/>
                <a:cs typeface="Calibri" pitchFamily="34" charset="-120"/>
              </a:rPr>
              <a:t>WRITING · A STRONG ANSWER (TEACHER MODEL, AS IN D1-L11) · SHOW AFTER WRITING</a:t>
            </a:r>
            <a:endParaRPr lang="en-US" sz="918"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article includes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إِجَابَةٍ قَوِيَّةٍ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D1-L12</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أَسْتَيْقِظُ فِي أَيَّامِ الدِّرَاسَةِ فِي السَّادِسَةِ وَالنِّصْفِ، وَأَتَنَاوَلُ الإِفْطَارَ قَبْلَ أَنْ أَخْرُجَ فِي السَّابِعَةِ وَالرُّبْعِ.</a:t>
            </a:r>
            <a:endParaRPr lang="ar-SA" sz="155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1–2 school-day routine · exact times · before + verb</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lnSpc>
                <a:spcPct val="120000"/>
              </a:lnSpc>
              <a:buNone/>
            </a:pPr>
            <a:r>
              <a:rPr lang="ar-SA" altLang="en-US" sz="1700" b="1" dirty="0">
                <a:solidFill>
                  <a:srgbClr val="1B3B6F"/>
                </a:solidFill>
                <a:latin typeface="Amiri" pitchFamily="34" charset="0"/>
                <a:ea typeface="Amiri" pitchFamily="34" charset="-122"/>
                <a:cs typeface="Amiri" pitchFamily="34" charset="-120"/>
              </a:rPr>
              <a:t>أَسْتَقِلُّ الحَافِلَةَ لِأَنَّ المَدْرَسَةَ بَعِيدَةٌ. بَعْدَ أَنْ أَعُودَ، أَسْتَرِيحُ نِصْفَ سَاعَةٍ، ثُمَّ أُكْمِلُ وَاجِبِي.</a:t>
            </a:r>
            <a:endParaRPr lang="ar-SA" sz="17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 after school · reason · after + verb</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أَتَمَرَّنُ مَرَّتَيْنِ فِي الأُسْبُوعِ، بَيْنَمَا تَتَمَرَّنُ أُخْتِي كُلَّ يَوْمٍ تَقْرِيبًا.</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2 frequency · 4 another person (ta-)</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أَمَّا فِي نِهَايَةِ الأُسْبُوعِ فَأَنَامُ وَقْتًا أَطْوَلَ، وَغَالِبًا مَا أَزُورُ أَقَارِبِي.</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5 weekend comparison</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فِي رَأْيِي، رُوتِينِي مُتَوَازِنٌ، وَلٰكِنَّنِي أُرِيدُ أَنْ أَنَامَ مُبَكِّرًا.</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6 reasoned opinion</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26</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D1-L12 · D1 Assessment</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ea typeface="Calibri" pitchFamily="34" charset="-122"/>
                <a:cs typeface="Calibri" pitchFamily="34" charset="-120"/>
              </a:rPr>
              <a:t>SPEAKING · 10 MARKS · ROLE-PLAY (4) + TOPIC CONVERSATION (6)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Speaking assessment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تَقْيِيمُ 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5312664" y="1810512"/>
            <a:ext cx="6345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Topic conversation · possible questions (6)</a:t>
            </a:r>
            <a:endParaRPr lang="en-US" sz="1100" dirty="0"/>
          </a:p>
        </p:txBody>
      </p:sp>
      <p:sp>
        <p:nvSpPr>
          <p:cNvPr id="17" name="Text 14"/>
          <p:cNvSpPr txBox="1"/>
          <p:nvPr/>
        </p:nvSpPr>
        <p:spPr>
          <a:xfrm>
            <a:off x="530352" y="1810512"/>
            <a:ext cx="46360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Role-play (4) · ask and answer about …</a:t>
            </a:r>
            <a:endParaRPr lang="en-US" sz="1100" dirty="0"/>
          </a:p>
        </p:txBody>
      </p:sp>
      <p:sp>
        <p:nvSpPr>
          <p:cNvPr id="18" name="Shape 15"/>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19" name="Text 16"/>
          <p:cNvSpPr txBox="1"/>
          <p:nvPr/>
        </p:nvSpPr>
        <p:spPr>
          <a:xfrm>
            <a:off x="5330952" y="2267712"/>
            <a:ext cx="63093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صِفْ رُوتِينَكَ فِي يَوْمٍ دِرَاسِيٍّ، وَاذْكُرْ أَوْقَاتًا دَقِيقَةً.</a:t>
            </a:r>
            <a:endParaRPr lang="ar-SA" sz="2000" dirty="0"/>
          </a:p>
        </p:txBody>
      </p:sp>
      <p:sp>
        <p:nvSpPr>
          <p:cNvPr id="20" name="Text 17"/>
          <p:cNvSpPr txBox="1"/>
          <p:nvPr/>
        </p:nvSpPr>
        <p:spPr>
          <a:xfrm>
            <a:off x="566928" y="2267712"/>
            <a:ext cx="45994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 · wake-up time</a:t>
            </a:r>
            <a:endParaRPr lang="en-US" sz="1100" dirty="0"/>
          </a:p>
        </p:txBody>
      </p:sp>
      <p:sp>
        <p:nvSpPr>
          <p:cNvPr id="21" name="Shape 18"/>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2" name="Text 19"/>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3" name="Shape 20"/>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4" name="Text 21"/>
          <p:cNvSpPr txBox="1"/>
          <p:nvPr/>
        </p:nvSpPr>
        <p:spPr>
          <a:xfrm>
            <a:off x="5330952" y="3054096"/>
            <a:ext cx="63093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مَاذَا يَفْعَلُ شَخْصٌ آخَرُ فِي أُسْرَتِكَ بَعْدَ المَدْرَسَةِ أَوِ العَمَلِ؟</a:t>
            </a:r>
            <a:endParaRPr lang="ar-SA" sz="2000" dirty="0"/>
          </a:p>
        </p:txBody>
      </p:sp>
      <p:sp>
        <p:nvSpPr>
          <p:cNvPr id="25" name="Text 22"/>
          <p:cNvSpPr txBox="1"/>
          <p:nvPr/>
        </p:nvSpPr>
        <p:spPr>
          <a:xfrm>
            <a:off x="566928" y="3054096"/>
            <a:ext cx="45994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2 · an after-school activity</a:t>
            </a:r>
            <a:endParaRPr lang="en-US" sz="1100" dirty="0"/>
          </a:p>
        </p:txBody>
      </p:sp>
      <p:sp>
        <p:nvSpPr>
          <p:cNvPr id="26" name="Shape 23"/>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8" name="Shape 25"/>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29" name="Text 26"/>
          <p:cNvSpPr txBox="1"/>
          <p:nvPr/>
        </p:nvSpPr>
        <p:spPr>
          <a:xfrm>
            <a:off x="5330952" y="3840480"/>
            <a:ext cx="63093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كَمْ مَرَّةً تَقُومُ بِنَشَاطٍ مُعَيَّنٍ فِي الأُسْبُوعِ، وَلِمَاذَا؟</a:t>
            </a:r>
            <a:endParaRPr lang="ar-SA" sz="2000" dirty="0"/>
          </a:p>
        </p:txBody>
      </p:sp>
      <p:sp>
        <p:nvSpPr>
          <p:cNvPr id="30" name="Text 27"/>
          <p:cNvSpPr txBox="1"/>
          <p:nvPr/>
        </p:nvSpPr>
        <p:spPr>
          <a:xfrm>
            <a:off x="566928" y="3840480"/>
            <a:ext cx="45994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3 · how often</a:t>
            </a:r>
            <a:endParaRPr lang="en-US" sz="1100" dirty="0"/>
          </a:p>
        </p:txBody>
      </p:sp>
      <p:sp>
        <p:nvSpPr>
          <p:cNvPr id="31" name="Shape 28"/>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3" name="Shape 30"/>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4" name="Text 31"/>
          <p:cNvSpPr txBox="1"/>
          <p:nvPr/>
        </p:nvSpPr>
        <p:spPr>
          <a:xfrm>
            <a:off x="5330952" y="4626864"/>
            <a:ext cx="6309360" cy="73152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قَارِنْ بَيْنَ رُوتِينِكَ فِي أَيَّامِ الدِّرَاسَةِ وَرُوتِينِكَ فِي نِهَايَةِ الأُسْبُوعِ.</a:t>
            </a:r>
            <a:endParaRPr lang="ar-SA" sz="2000" dirty="0"/>
          </a:p>
        </p:txBody>
      </p:sp>
      <p:sp>
        <p:nvSpPr>
          <p:cNvPr id="35" name="Text 32"/>
          <p:cNvSpPr txBox="1"/>
          <p:nvPr/>
        </p:nvSpPr>
        <p:spPr>
          <a:xfrm>
            <a:off x="566928" y="4626864"/>
            <a:ext cx="45994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4 · a changed timetable detail</a:t>
            </a:r>
            <a:endParaRPr lang="en-US" sz="1100" dirty="0"/>
          </a:p>
        </p:txBody>
      </p:sp>
      <p:sp>
        <p:nvSpPr>
          <p:cNvPr id="36" name="Shape 33"/>
          <p:cNvSpPr/>
          <p:nvPr/>
        </p:nvSpPr>
        <p:spPr>
          <a:xfrm>
            <a:off x="11091672" y="4672584"/>
            <a:ext cx="548640" cy="182880"/>
          </a:xfrm>
          <a:prstGeom prst="roundRect">
            <a:avLst>
              <a:gd name="adj" fmla="val 50000"/>
            </a:avLst>
          </a:prstGeom>
          <a:solidFill>
            <a:srgbClr val="2E8B57"/>
          </a:solidFill>
          <a:ln w="12700">
            <a:solidFill>
              <a:srgbClr val="2E8B57"/>
            </a:solidFill>
            <a:prstDash val="solid"/>
          </a:ln>
        </p:spPr>
      </p:sp>
      <p:sp>
        <p:nvSpPr>
          <p:cNvPr id="37" name="Text 34"/>
          <p:cNvSpPr txBox="1"/>
          <p:nvPr/>
        </p:nvSpPr>
        <p:spPr>
          <a:xfrm>
            <a:off x="11091672" y="46725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8" name="Text 35"/>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Prepare cue words only (website): direct answer + exact time · frequency + reason or example · another person + weekend contrast.</a:t>
            </a:r>
            <a:endParaRPr lang="en-US" sz="115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26</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D1-L12 · D1 Assessment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8A6D1E"/>
                </a:solidFill>
                <a:latin typeface="Calibri" pitchFamily="34" charset="0"/>
                <a:ea typeface="Calibri" pitchFamily="34" charset="-122"/>
                <a:cs typeface="Calibri" pitchFamily="34" charset="-120"/>
              </a:rPr>
              <a:t>RESULTS · RECORD YOUR PROFILE AND SET ONE D2 TARGET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My D1 score profile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سَجِّلْ دَرَجَتَكَ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D1-L12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5468112" y="1810512"/>
            <a:ext cx="6190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Guide (total /60) · teacher guide, not an exam grade</a:t>
            </a:r>
            <a:endParaRPr lang="en-US" sz="1100" dirty="0"/>
          </a:p>
        </p:txBody>
      </p:sp>
      <p:sp>
        <p:nvSpPr>
          <p:cNvPr id="17" name="Text 14"/>
          <p:cNvSpPr txBox="1"/>
          <p:nvPr/>
        </p:nvSpPr>
        <p:spPr>
          <a:xfrm>
            <a:off x="3639312" y="1810512"/>
            <a:ext cx="16824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My score</a:t>
            </a:r>
            <a:endParaRPr lang="en-US" sz="1100" dirty="0"/>
          </a:p>
        </p:txBody>
      </p:sp>
      <p:sp>
        <p:nvSpPr>
          <p:cNvPr id="18" name="Text 15"/>
          <p:cNvSpPr txBox="1"/>
          <p:nvPr/>
        </p:nvSpPr>
        <p:spPr>
          <a:xfrm>
            <a:off x="530352"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Skill</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5504688" y="2267712"/>
            <a:ext cx="61539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54–60 Excellent — secure D1 foundation</a:t>
            </a:r>
            <a:endParaRPr lang="en-US" sz="1100" dirty="0"/>
          </a:p>
        </p:txBody>
      </p:sp>
      <p:sp>
        <p:nvSpPr>
          <p:cNvPr id="21" name="Text 18"/>
          <p:cNvSpPr txBox="1"/>
          <p:nvPr/>
        </p:nvSpPr>
        <p:spPr>
          <a:xfrm>
            <a:off x="3675888" y="2267712"/>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/20</a:t>
            </a:r>
            <a:endParaRPr lang="en-US" sz="1100" dirty="0"/>
          </a:p>
        </p:txBody>
      </p:sp>
      <p:sp>
        <p:nvSpPr>
          <p:cNvPr id="22" name="Text 19"/>
          <p:cNvSpPr txBox="1"/>
          <p:nvPr/>
        </p:nvSpPr>
        <p:spPr>
          <a:xfrm>
            <a:off x="566928" y="2267712"/>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 Listening</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5504688" y="3054096"/>
            <a:ext cx="61539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42–53 Good — ready for D2 with one practice target</a:t>
            </a:r>
            <a:endParaRPr lang="en-US" sz="1100" dirty="0"/>
          </a:p>
        </p:txBody>
      </p:sp>
      <p:sp>
        <p:nvSpPr>
          <p:cNvPr id="27" name="Text 24"/>
          <p:cNvSpPr txBox="1"/>
          <p:nvPr/>
        </p:nvSpPr>
        <p:spPr>
          <a:xfrm>
            <a:off x="3675888" y="3054096"/>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/10</a:t>
            </a:r>
            <a:endParaRPr lang="en-US" sz="1100" dirty="0"/>
          </a:p>
        </p:txBody>
      </p:sp>
      <p:sp>
        <p:nvSpPr>
          <p:cNvPr id="28" name="Text 25"/>
          <p:cNvSpPr txBox="1"/>
          <p:nvPr/>
        </p:nvSpPr>
        <p:spPr>
          <a:xfrm>
            <a:off x="566928" y="3054096"/>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 Reading</a:t>
            </a:r>
            <a:endParaRPr lang="en-US" sz="11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5504688" y="3840480"/>
            <a:ext cx="61539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30–41 Satisfactory — targeted D1 retrieval early in D2</a:t>
            </a:r>
            <a:endParaRPr lang="en-US" sz="1100" dirty="0"/>
          </a:p>
        </p:txBody>
      </p:sp>
      <p:sp>
        <p:nvSpPr>
          <p:cNvPr id="33" name="Text 30"/>
          <p:cNvSpPr txBox="1"/>
          <p:nvPr/>
        </p:nvSpPr>
        <p:spPr>
          <a:xfrm>
            <a:off x="3675888" y="3840480"/>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/20</a:t>
            </a:r>
            <a:endParaRPr lang="en-US" sz="1100" dirty="0"/>
          </a:p>
        </p:txBody>
      </p:sp>
      <p:sp>
        <p:nvSpPr>
          <p:cNvPr id="34" name="Text 31"/>
          <p:cNvSpPr txBox="1"/>
          <p:nvPr/>
        </p:nvSpPr>
        <p:spPr>
          <a:xfrm>
            <a:off x="566928" y="3840480"/>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 Writing</a:t>
            </a:r>
            <a:endParaRPr lang="en-US" sz="1100" dirty="0"/>
          </a:p>
        </p:txBody>
      </p:sp>
      <p:sp>
        <p:nvSpPr>
          <p:cNvPr id="35" name="Shape 32"/>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7" name="Shape 34"/>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8" name="Text 35"/>
          <p:cNvSpPr txBox="1"/>
          <p:nvPr/>
        </p:nvSpPr>
        <p:spPr>
          <a:xfrm>
            <a:off x="5504688" y="4626864"/>
            <a:ext cx="615391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Below 30 — catch-up on the lowest skill before D2</a:t>
            </a:r>
            <a:endParaRPr lang="en-US" sz="1100" dirty="0"/>
          </a:p>
        </p:txBody>
      </p:sp>
      <p:sp>
        <p:nvSpPr>
          <p:cNvPr id="39" name="Text 36"/>
          <p:cNvSpPr txBox="1"/>
          <p:nvPr/>
        </p:nvSpPr>
        <p:spPr>
          <a:xfrm>
            <a:off x="3675888" y="4626864"/>
            <a:ext cx="164592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/10</a:t>
            </a:r>
            <a:endParaRPr lang="en-US" sz="1100" dirty="0"/>
          </a:p>
        </p:txBody>
      </p:sp>
      <p:sp>
        <p:nvSpPr>
          <p:cNvPr id="40" name="Text 37"/>
          <p:cNvSpPr txBox="1"/>
          <p:nvPr/>
        </p:nvSpPr>
        <p:spPr>
          <a:xfrm>
            <a:off x="566928" y="4626864"/>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 Speaking</a:t>
            </a:r>
            <a:endParaRPr lang="en-US" sz="1100" dirty="0"/>
          </a:p>
        </p:txBody>
      </p:sp>
      <p:sp>
        <p:nvSpPr>
          <p:cNvPr id="41" name="Shape 38"/>
          <p:cNvSpPr/>
          <p:nvPr/>
        </p:nvSpPr>
        <p:spPr>
          <a:xfrm>
            <a:off x="11091672" y="4672584"/>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6725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Write in your book (website reflection): My strongest D1 evidence was … · My precise next action is …</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26</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D1-L12 · D1 Assessment</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D1-L12</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describe my school day with exact times.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use I / he / she verbs correctly.</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use before/after + a verb with the correct ending.</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ask a boy or a girl about their routine.</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can compare school days and the weekend with a reason.</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26</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D1-L12 · D1 Assessment</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D2-L01: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Development D1 · Daily Routine and Time · D1-L12</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D2-L01 · Personality Adjectives — What Is He / She Like?</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وَدُودٌ / وَدُودَةٌ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friendly</a:t>
            </a:r>
            <a:pPr indent="0" marL="0">
              <a:buNone/>
            </a:pPr>
            <a:r>
              <a:rPr lang="en-US" sz="1000" i="1" dirty="0">
                <a:solidFill>
                  <a:srgbClr val="5A6472"/>
                </a:solidFill>
                <a:latin typeface="Calibri" pitchFamily="34" charset="0"/>
                <a:ea typeface="Calibri" pitchFamily="34" charset="-122"/>
                <a:cs typeface="Calibri" pitchFamily="34" charset="-120"/>
              </a:rPr>
              <a:t>  m. / f.</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صَادِقٌ / صَادِقَةٌ</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honest</a:t>
            </a:r>
            <a:pPr indent="0" marL="0">
              <a:buNone/>
            </a:pPr>
            <a:r>
              <a:rPr lang="en-US" sz="1000" i="1" dirty="0">
                <a:solidFill>
                  <a:srgbClr val="5A6472"/>
                </a:solidFill>
                <a:latin typeface="Calibri" pitchFamily="34" charset="0"/>
                <a:ea typeface="Calibri" pitchFamily="34" charset="-122"/>
                <a:cs typeface="Calibri" pitchFamily="34" charset="-120"/>
              </a:rPr>
              <a:t>  m. / f.</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صَبُورٌ / صَبُورَةٌ</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patient</a:t>
            </a:r>
            <a:pPr indent="0" marL="0">
              <a:buNone/>
            </a:pPr>
            <a:r>
              <a:rPr lang="en-US" sz="1000" i="1" dirty="0">
                <a:solidFill>
                  <a:srgbClr val="5A6472"/>
                </a:solidFill>
                <a:latin typeface="Calibri" pitchFamily="34" charset="0"/>
                <a:ea typeface="Calibri" pitchFamily="34" charset="-122"/>
                <a:cs typeface="Calibri" pitchFamily="34" charset="-120"/>
              </a:rPr>
              <a:t>  m. / f.</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مُجْتَهِدٌ / مُجْتَهِدَةٌ</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hard-working</a:t>
            </a:r>
            <a:pPr indent="0" marL="0">
              <a:buNone/>
            </a:pPr>
            <a:r>
              <a:rPr lang="en-US" sz="1000" i="1" dirty="0">
                <a:solidFill>
                  <a:srgbClr val="5A6472"/>
                </a:solidFill>
                <a:latin typeface="Calibri" pitchFamily="34" charset="0"/>
                <a:ea typeface="Calibri" pitchFamily="34" charset="-122"/>
                <a:cs typeface="Calibri" pitchFamily="34" charset="-120"/>
              </a:rPr>
              <a:t>  m. / f.</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هَادِئٌ / هَادِئَةٌ</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calm</a:t>
            </a:r>
            <a:pPr indent="0" marL="0">
              <a:buNone/>
            </a:pPr>
            <a:r>
              <a:rPr lang="en-US" sz="1000" i="1" dirty="0">
                <a:solidFill>
                  <a:srgbClr val="5A6472"/>
                </a:solidFill>
                <a:latin typeface="Calibri" pitchFamily="34" charset="0"/>
                <a:ea typeface="Calibri" pitchFamily="34" charset="-122"/>
                <a:cs typeface="Calibri" pitchFamily="34" charset="-120"/>
              </a:rPr>
              <a:t>  m. / f.</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Think of a friend or family member. Which two words describe their personality, and why?</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كَيْفَ هُوَ؟ كَيْفَ هِيَ؟</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Redo the D1-L12 readiness check on the website; learn the five D2 words (both forms).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Redo the assessment section with your lowest score on the website; then learn the D2 words.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Write your D1 reflection (strongest evidence + precise next action) and describe one person with the D2 words.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26</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D1-L12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750" b="1" dirty="0">
                <a:solidFill>
                  <a:srgbClr val="FFFFFF"/>
                </a:solidFill>
                <a:latin typeface="Cambria" pitchFamily="34" charset="0"/>
                <a:ea typeface="Cambria" pitchFamily="34" charset="-122"/>
                <a:cs typeface="Cambria" pitchFamily="34" charset="-120"/>
              </a:rPr>
              <a:t>D2-L01 · Personality Adjectives — What Is He / She Like?</a:t>
            </a:r>
            <a:endParaRPr lang="en-US" sz="17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الصِّفَاتُ الشَّخْصِيَّةُ</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D1 complete — well done! Learn 5 personality words for D2.</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26</Slides>
  <Notes>26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26</vt:i4>
      </vt:variant>
    </vt:vector>
  </HeadingPairs>
  <TitlesOfParts>
    <vt:vector size="2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D1-L12 · Review and Unit Assessment</dc:title>
  <dc:subject>PptxGenJS Presentation</dc:subject>
  <dc:creator>Al Madina Online School · Arabic Department</dc:creator>
  <cp:lastModifiedBy>Al Madina Online School · Arabic Department</cp:lastModifiedBy>
  <cp:revision>1</cp:revision>
  <dcterms:created xsi:type="dcterms:W3CDTF">2026-09-27T11:31:17Z</dcterms:created>
  <dcterms:modified xsi:type="dcterms:W3CDTF">2026-09-27T11:31:17Z</dcterms:modified>
</cp:coreProperties>
</file>