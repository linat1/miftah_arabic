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2–7 Readiness check (not marked) · 7–8 Assessment map · 8–22 Listening (20: three texts) · 22–31 Reading (10) · 31–44 Writing (20: form + article) · 44–53 Speaking (10: role-play + topic conversation, pairs / one-to-one) · 53–56 Score profile, strength and D2 target.
FLEX slides are optional. Use them if the class is moving quickly; otherwise the same activities are on the website for homework.
Content source: Miftah Arabic website, Pathways › Development › D1 Daily Routine and Time › D1-L12. The website D1-L12 is a 60-mark Development profile (not an external exam paper): listening 20 (Maryam’s school day 8 · Yusuf and Huda 6 · interview with Samir 6) · reading 10 (a school-day and weekend routine) · writing 20 (routine form 5 + article or email 15, marked for task, range and accuracy) · speaking 10 (role-play 4 + topic conversation 6). The readiness check (12) and grammar laboratory (12) are practice and do not count. Every item, script, text and mark allocation is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is one-to-one or in trusted pairs with the teacher listening (it can move to the start of the next lesson).
• The website allows the assessment over more than one session — if time is short: listening + reading in class; writing and speaking next lesson.
• Scripts: the website has recorded audio; if it is unavailable, read each text twice at natural pace. The scripts are in the notes of each listening slide — do NOT show them until the section is submitted.
• Answer slides follow each part — mark live, or hide them and mark later.
• The readiness check is the warm-up: students who score below 8/12 revise the D1 grammar vault (D1-L11) before writing.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structure: 01 Readiness check · 02 Language vault · 03 Grammar laboratory · 04 60-mark profile · 05 Listening · 06 Reading · 07 Writing · 08 Speaking · 09 Reflection and D2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Five of the twelve website readiness-check questions (1 person prefix · 2 time with إِلَّا · 3 قَبْلَ أَنْ · 6 asking a girl · 7 أَمَّا … فَـ). Website: “This diagnostic is practice, not part of the 60 assessment marks.”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It samples the D1 system: person · time · before/after · asking a girl · as for … 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six of the twelve website grammar-laboratory questions (person · after أَنْ · he / she · أَمَّا … فَـ · asking a girl · reference). Use it if the readiness check showed gaps; otherwise it is homework on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“Your 60-mark D1 profile”). The website saves marks per skill and generates guidance once all four components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(website, 8 marks). Students read the questions (30 s). Read the script twice at natural pace.
SCRIPT: فِي أَيَّامِ الدِّرَاسَةِ أَسْتَيْقِظُ فِي السَّادِسَةِ وَالنِّصْفِ. أَوَّلًا أَغْتَسِلُ، ثُمَّ أَرْتَدِي مَلَابِسِي وَأَتَنَاوَلُ الإِفْطَارَ. أُحَضِّرُ حَقِيبَتِي قَبْلَ أَنْ أَخْرُجَ مِنَ البَيْتِ فِي الثَّامِنَةِ إِلَّا الرُّبْعَ. عَادَةً أَسْتَقِلُّ الحَافِلَةَ، وَيَبْدَأُ الدَّرْسُ الأَوَّلُ فِي الثَّامِنَةِ وَالثُّلُثِ. أَذْهَبُ إِلَى نَادِي المَدْرَسَةِ مَرَّتَيْنِ فِي الأُسْبُوعِ، يَوْمَ الثُّلَاثَاءِ وَيَوْمَ الخَمِيسِ. فِي المَسَاءِ أُكْمِلُ وَاجِبِي قَبْلَ أَنْ أَسْتَعْمِلَ هَاتِفِي، وَأَنَامُ عَادَةً فِي العَاشِرَةِ وَالنِّصْفِ.
Private chat: 1_ 2_ 3_ 4_ 5_ 6_ 7_ 8_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/8. Watch Q3: الثَّامِنَةِ إِلَّا الرُّبْعَ = 7:45 (not 8:15). Q5: الثَّامِنَةِ وَالثُّلُثِ = 8:20.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2 (website, 6 marks). Read twice.
SCRIPT: يَعُودُ يُوسُفُ إِلَى البَيْتِ فِي الثَّالِثَةِ وَالثُّلُثِ، أَمَّا هُدَى فَتَعُودُ فِي الرَّابِعَةِ. يَلْعَبُ يُوسُفُ كُرَةَ القَدَمِ ثَلَاثَ مَرَّاتٍ فِي الأُسْبُوعِ: يَوْمَ الاِثْنَيْنِ وَالأَرْبِعَاءِ وَالجُمُعَةِ. هُدَى تَدْرُسُ سَاعَةً قَبْلَ أَنْ تَتَنَاوَلَ العَشَاءَ، وَتَذْهَبُ إِلَى نَادِي اللُّغَةِ العَرَبِيَّةِ يَوْمَ الخَمِيسِ. قَبْلَ أَنْ يَنَامَا، يُحَضِّرُ كُلٌّ مِنْهُمَا حَقِيبَتَهُ وَمَلَابِسَهُ لِلْيَوْمِ التَّالِي. يَوْمَ السَّبْتِ يَزُورُ يُوسُفُ أَقَارِبَهُ، بَيْنَمَا تَلْتَقِي هُدَى بِصَدِيقَاتِهَا.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3 (website, 6 marks). Read twice; use two voices if possible.
SCRIPT: المُحَاوِرُ: مَتَى تَسْتَيْقِظُ فِي أَيَّامِ الدِّرَاسَةِ يَا سَمِيرُ؟ سَمِيرٌ: أَسْتَيْقِظُ فِي السَّادِسَةِ وَالرُّبْعِ. المُحَاوِرُ: كَمْ مَرَّةً تَتَمَرَّنُ فِي الأُسْبُوعِ؟ سَمِيرٌ: أَتَمَرَّنُ أَرْبَعَ مَرَّاتٍ. يَوْمُ الثُّلَاثَاءِ مُخْتَلِفٌ لِأَنَّ نَادِي العُلُومِ يَنْتَهِي فِي الخَامِسَةِ وَالرُّبْعِ. بَعْدَ أَنْ أَعُودَ إِلَى البَيْتِ أَتَنَاوَلُ العَشَاءَ، ثُمَّ أُكْمِلُ وَاجِبِي. فِي نِهَايَةِ الأُسْبُوعِ أَسْتَيْقِظُ حَوَالَيْ الثَّامِنَةِ وَالنِّصْفِ. رُوتِينِي فِي أَيَّامِ الدِّرَاسَةِ مُنَظَّمٌ، أَمَّا فِي نِهَايَةِ الأُسْبُوعِ فَهُوَ أَكْثَرُ مَرُونَةً.
Listening total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Listening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Website instruction: “Read once for the overall pattern, then return to exact details, time expressions, references and contrasts.” No English support on assessment texts (access arrangement: questions may be read aloud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1–5 (website). Show the text slide again whenever students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Q2: السَّادِسَةِ وَخَمْسٍ وَعِشْرِينَ دَقِيقَةً = 6:25.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6–10 (website). Reading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Reading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(website, 20 marks). Three routes (website): type, write or draw on screen, or on paper.
MARK SCHEME (website): Form /5 — one mark for each field completed in Arabic with a precise word, phrase or sentence. Article /15 — Task 5 (all six content points with relevant detail) · Range 5 (time, frequency, sequence, questions or answers, person change, contrast) · Accuracy 5 (present-tense prefixes, feminine forms, possessive reference, verbs after أَنْ).
Core access: the D1-L11 sentence frames may be used for Question 1 only; Question 2 is independent. Teacher model on the next slide — show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(the website does not print a model for this task; this is the D1-L11 model, shortened). Students compare with their own writing and find ONE thing to add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(website, 10 marks). “Prepare key words only; do not memorise a full script.”
Development standard (website): respond directly, then add a precise time or frequency, reason, example and contrast where useful.
MARK SCHEME: Role-play /4 (one mark per task completed intelligibly). Topic conversation /6 — reward direct answers, precise detail, reasons/examples, a contrast and accuracy of person and time.
ORGANISATION: one-to-one with the teacher (others finish writing), or in trusted pairs with the teacher listening. Ask ONE unseen follow-up to Stretch students (وَلِمَاذَا؟ / أَعْطِ مِثَالًا).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“Evidence · priority · next action — D1 reflection and D2 readiness”): “Use a result, sentence or speaking example — not a general feeling.”
The bands are a teacher guide in line with the F1 / F2 assessments (the website totals the four scores but does not print bands).
A precise action = rule + task + frequency (D1-L11), e.g. “Verb after an: five sentences every two days; check in D2-L03.”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(D2-L01 · Personality Adjectives — What Is He / She Like?) will spend class time USING this language, so students prepare it tonight — short, simple, easy to access (school guidance: “Simple, Short, Interesting, Relevant, Easy to access”). D2 begins with personality (website D2-L01 “Personality Adjectives — What Is He / She Like?”). Adjectives have m. and f. forms — the he/she skill from D1-L06 carries straight over.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cs typeface="Amiri" pitchFamily="2" charset="-78"/>
              </a:rPr>
              <a:t>Review and Unit Assessment</a:t>
            </a:r>
            <a:endParaRPr lang="en-US" sz="3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algn="l" indent="0" marL="0">
              <a:buNone/>
            </a:pPr>
            <a:r>
              <a:rPr lang="ar-SA" altLang="en-US" sz="4700" b="1" dirty="0">
                <a:solidFill>
                  <a:srgbClr val="D4AF37"/>
                </a:solidFill>
                <a:latin typeface="Amiri" pitchFamily="2" charset="-78"/>
                <a:cs typeface="Amiri" pitchFamily="2" charset="-78"/>
              </a:rPr>
              <a:t>مُرَاجَعَةُ</a:t>
            </a:r>
            <a:pPr algn="l" indent="0" marL="0">
              <a:buNone/>
            </a:pPr>
            <a:r>
              <a:rPr lang="en-US" sz="3600" b="1" dirty="0">
                <a:solidFill>
                  <a:srgbClr val="D4AF37"/>
                </a:solidFill>
                <a:latin typeface="Calibri" pitchFamily="34" charset="0"/>
                <a:cs typeface="Amiri" pitchFamily="2" charset="-78"/>
              </a:rPr>
              <a:t> D1 </a:t>
            </a:r>
            <a:pPr algn="l" indent="0" marL="0">
              <a:buNone/>
            </a:pPr>
            <a:r>
              <a:rPr lang="ar-SA" altLang="en-US" sz="4700" b="1" dirty="0">
                <a:solidFill>
                  <a:srgbClr val="D4AF37"/>
                </a:solidFill>
                <a:latin typeface="Amiri" pitchFamily="2" charset="-78"/>
                <a:cs typeface="Amiri" pitchFamily="2" charset="-78"/>
              </a:rPr>
              <a:t>وَتَقْيِيمُ الوَحْدَةِ</a:t>
            </a:r>
            <a:endParaRPr lang="en-US"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Retrieve and repair the whole D1 language system, then show it across a 60-mark profile — listening, reading, writing and speaking — and set one precise target for D2.</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D1-L12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Readiness check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الاِسْتِعْدَادُ</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my strength, my D2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D2: personality.</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Each section starts with the easier questions. Leave a blank and come back. The readiness check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first-person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يَسْتَيْقِظُ فِي السَّادِسَةِ.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أَسْتَيْقِظُ فِي السَّادِسَةِ.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تَسْتَيْقِظُ فِي السَّادِسَةِ.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6:45?</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السَّابِعَةُ إِلَّا الرُّبْعَ</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السَّادِسَةُ وَالرُّبْعُ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السَّادِسَةُ وَالنِّصْفُ</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أَتَنَاوَلُ الإِفْطَارَ ___ أَنْ أَخْرُجَ.</a:t>
            </a:r>
            <a:endParaRPr lang="ar-SA" sz="11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أَحْيَانًا</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question for a girl: “When do you wake up?”</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تَسْتَيْقِظُ؟</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يَسْتَيْقِظُ؟</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تَسْتَيْقِظِينَ؟</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contrast:</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أَدْرُسُ بَعْدَ المَدْرَسَةِ، ___ أَخِي فَيَلْعَبُ كُرَةَ القَدَمِ.</a:t>
            </a:r>
            <a:endParaRPr lang="ar-SA" sz="10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first-person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يَسْتَيْقِظُ فِي السَّادِسَةِ.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أَسْتَيْقِظُ فِي السَّادِسَةِ.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تَسْتَيْقِظُ فِي السَّادِسَةِ.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takes the first-person prefix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6:45?</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السَّابِعَةُ إِلَّا الرُّبْعَ</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السَّادِسَةُ وَالرُّبْعُ</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السَّادِسَةُ وَالنِّصْفُ</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 6:45, name the next hour: </a:t>
            </a:r>
            <a:pPr algn="l" indent="0" marL="0">
              <a:buNone/>
            </a:pPr>
            <a:r>
              <a:rPr lang="ar-SA" altLang="en-US" sz="1350" dirty="0">
                <a:solidFill>
                  <a:srgbClr val="8A6D1E"/>
                </a:solidFill>
                <a:latin typeface="Amiri" pitchFamily="2" charset="-78"/>
                <a:cs typeface="Amiri" pitchFamily="2" charset="-78"/>
              </a:rPr>
              <a:t>السَّابِعَةُ إِلَّا الرُّبْعَ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أَتَنَاوَلُ الإِفْطَارَ ___ أَنْ أَخْرُجَ.</a:t>
            </a:r>
            <a:endParaRPr lang="ar-SA" sz="11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أَحْيَانًا</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قَبْلَ</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قَبْلَ أَنْ</a:t>
            </a:r>
            <a:pPr algn="l" indent="0" marL="0">
              <a:buNone/>
            </a:pPr>
            <a:r>
              <a:rPr lang="en-US" sz="1050" i="1" dirty="0">
                <a:solidFill>
                  <a:srgbClr val="8A6D1E"/>
                </a:solidFill>
                <a:latin typeface="Calibri" pitchFamily="34" charset="0"/>
                <a:cs typeface="Amiri" pitchFamily="2" charset="-78"/>
              </a:rPr>
              <a:t> means before doing something.</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question for a girl: “When do you wake up?”</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تَسْتَيْقِظُ؟</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يَسْتَيْقِظُ؟</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مَتَى تَسْتَيْقِظِينَ؟</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Addressing one girl requires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and the ending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contrast:</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أَدْرُسُ بَعْدَ المَدْرَسَةِ، ___ أَخِي فَيَلْعَبُ كُرَةَ القَدَمِ.</a:t>
            </a:r>
            <a:endParaRPr lang="ar-SA" sz="10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introduces a contrasting topic.</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This warm-up does NOT count. It samples the D1 system: person · time · before/after · asking a girl · as for … fa-.</a:t>
            </a:r>
            <a:endParaRPr lang="en-US" sz="125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مُرَاجَعَةٌ ثُمَّ تَقْيِيمٌ</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WEBSITE GRAMMAR LABORATORY · FLEX (NOT MARKED)</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مُخْتَبَرُ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 at half past seven”.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هِيَ يَتَنَاوَلُ الإِفْطَارَ فِي السَّابِعَةِ وَالنِّصْفِ.</a:t>
            </a:r>
            <a:endParaRPr lang="ar-SA" sz="160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هِيَ تَتَنَاوَلُ الإِفْطَارَ فِي السَّابِعَةِ وَالنِّصْفِ.</a:t>
            </a:r>
            <a:endParaRPr lang="ar-SA" sz="16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هِيَ أَتَنَاوَلُ الإِفْطَارَ فِي السَّابِعَةِ وَالنِّصْفِ.</a:t>
            </a:r>
            <a:endParaRPr lang="ar-SA" sz="16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بَعْدَ أَنْ ___ وَاجِبِي، أَسْتَرِيحُ.</a:t>
            </a:r>
            <a:endParaRPr lang="ar-SA" sz="12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أُكْمِلَ</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أُكْمِلُ</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أَكْمَلْتُ</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 about Ali and his sister.</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تَدْرُسُ، وَأُخْتُهُ يَقْرَأُ.</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أَدْرُسُ، وَأُخْتُهُ نَقْرَأُ.</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 يَدْرُسُ، وَأُخْتُهُ تَقْرَأُ.</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weekend comparison.</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فِي الأُسْبُوعِ أَدْرُسُ، أَمَّا يَوْمَ السَّبْتِ أَسْتَرِيحُ فَـ.</a:t>
            </a:r>
            <a:endParaRPr lang="ar-SA"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أَمَّا أَدْرُسُ فِي السَّبْتِ كُلَّ يَوْمٍ.</a:t>
            </a:r>
            <a:endParaRPr lang="ar-SA"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فِي الأُسْبُوعِ أَدْرُسُ كُلَّ يَوْمٍ، أَمَّا يَوْمَ السَّبْتِ فَأَسْتَرِيحُ.</a:t>
            </a:r>
            <a:endParaRPr lang="ar-SA"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 the error:</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أَنْتِ تَسْتَيْقِظُ فِي السَّابِعَةِ.</a:t>
            </a:r>
            <a:endParaRPr lang="ar-SA" sz="14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 تَسْتَيْقِظِينَ فِي السَّابِعَةِ.</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 يَسْتَيْقِظُ فِي السَّابِعَةِ.</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 أَسْتَيْقِظُ فِي السَّابِعَةِ.</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sequence and reference.</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يَعُودُ مَرْيَمُ إِلَى البَيْتِ، ثُمَّ يُكْمِلُ وَاجِبَهُ.</a:t>
            </a:r>
            <a:endParaRPr lang="ar-SA" sz="160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تَعُودُ مَرْيَمُ إِلَى البَيْتِ، ثُمَّ تُكْمِلُ وَاجِبَهَا.</a:t>
            </a:r>
            <a:endParaRPr lang="ar-SA" sz="160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تَعُودُ مَرْيَمُ، ثُمَّ أُكْمِلُ وَاجِبِي.</a:t>
            </a:r>
            <a:endParaRPr lang="ar-SA" sz="16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 at half past seven”.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هِيَ يَتَنَاوَلُ الإِفْطَارَ فِي السَّابِعَةِ وَالنِّصْفِ.</a:t>
            </a:r>
            <a:endParaRPr lang="ar-SA" sz="16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هِيَ تَتَنَاوَلُ الإِفْطَارَ فِي السَّابِعَةِ وَالنِّصْفِ.</a:t>
            </a:r>
            <a:endParaRPr lang="ar-SA" sz="16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هِيَ أَتَنَاوَلُ الإِفْطَارَ فِي السَّابِعَةِ وَالنِّصْفِ.</a:t>
            </a:r>
            <a:endParaRPr lang="ar-SA" sz="16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تَتَنَاوَلُ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بَعْدَ أَنْ ___ وَاجِبِي، أَسْتَرِيحُ.</a:t>
            </a:r>
            <a:endParaRPr lang="ar-SA" sz="12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أُكْمِلَ</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أُكْمِلُ</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أَكْمَلْتُ</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present verb is subjunctive: </a:t>
            </a:r>
            <a:pPr algn="l" indent="0" marL="0">
              <a:buNone/>
            </a:pPr>
            <a:r>
              <a:rPr lang="ar-SA" altLang="en-US" sz="1350" dirty="0">
                <a:solidFill>
                  <a:srgbClr val="8A6D1E"/>
                </a:solidFill>
                <a:latin typeface="Amiri" pitchFamily="2" charset="-78"/>
                <a:cs typeface="Amiri" pitchFamily="2" charset="-78"/>
              </a:rPr>
              <a:t>أُكْمِلَ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 about Ali and his sister.</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عَلِيٌّ تَدْرُسُ، وَأُخْتُهُ يَقْرَأُ.</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عَلِيٌّ أَدْرُسُ، وَأُخْتُهُ نَقْرَأُ.</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عَلِيٌّ يَدْرُسُ، وَأُخْتُهُ تَقْرَأُ.</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singular uses </a:t>
            </a:r>
            <a:pPr algn="l" indent="0" marL="0">
              <a:buNone/>
            </a:pPr>
            <a:r>
              <a:rPr lang="ar-SA" altLang="en-US" sz="1350" dirty="0">
                <a:solidFill>
                  <a:srgbClr val="8A6D1E"/>
                </a:solidFill>
                <a:latin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 feminine singular uses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weekend comparison.</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فِي الأُسْبُوعِ أَدْرُسُ، أَمَّا يَوْمَ السَّبْتِ أَسْتَرِيحُ فَـ.</a:t>
            </a:r>
            <a:endParaRPr lang="ar-SA" sz="125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أَمَّا أَدْرُسُ فِي السَّبْتِ كُلَّ يَوْمٍ.</a:t>
            </a:r>
            <a:endParaRPr lang="ar-SA" sz="125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فِي الأُسْبُوعِ أَدْرُسُ كُلَّ يَوْمٍ، أَمَّا يَوْمَ السَّبْتِ فَأَسْتَرِيحُ.</a:t>
            </a:r>
            <a:endParaRPr lang="ar-SA" sz="125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introduces the topic and </a:t>
            </a:r>
            <a:pPr algn="l" indent="0" marL="0">
              <a:buNone/>
            </a:pPr>
            <a:r>
              <a:rPr lang="ar-SA" altLang="en-US" sz="1350" dirty="0">
                <a:solidFill>
                  <a:srgbClr val="8A6D1E"/>
                </a:solidFill>
                <a:latin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introduces the comment.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 the error:</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أَنْتِ تَسْتَيْقِظُ فِي السَّابِعَةِ.</a:t>
            </a:r>
            <a:endParaRPr lang="ar-SA" sz="14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أَنْتِ تَسْتَيْقِظِينَ فِي السَّابِعَةِ.</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 يَسْتَيْقِظُ فِي السَّابِعَةِ.</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 أَسْتَيْقِظُ فِي السَّابِعَةِ.</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listener takes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sequence and reference.</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يَعُودُ مَرْيَمُ إِلَى البَيْتِ، ثُمَّ يُكْمِلُ وَاجِبَهُ.</a:t>
            </a:r>
            <a:endParaRPr lang="ar-SA" sz="16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تَعُودُ مَرْيَمُ إِلَى البَيْتِ، ثُمَّ تُكْمِلُ وَاجِبَهَا.</a:t>
            </a:r>
            <a:endParaRPr lang="ar-SA" sz="16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تَعُودُ مَرْيَمُ، ثُمَّ أُكْمِلُ وَاجِبِي.</a:t>
            </a:r>
            <a:endParaRPr lang="ar-SA" sz="16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and possessive suffix remain consistent.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60-mark D1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1" name="Text 18"/>
          <p:cNvSpPr txBox="1"/>
          <p:nvPr/>
        </p:nvSpPr>
        <p:spPr>
          <a:xfrm>
            <a:off x="3977640"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Maryam’s school day (8) · Yusuf and Huda (6) · an interview with Samir (6)</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 · </a:t>
            </a:r>
            <a:pPr algn="l" indent="0" marL="0">
              <a:buNone/>
            </a:pPr>
            <a:r>
              <a:rPr lang="ar-SA" altLang="en-US" sz="1450" dirty="0">
                <a:solidFill>
                  <a:srgbClr val="5A6472"/>
                </a:solidFill>
                <a:latin typeface="Amiri" pitchFamily="2" charset="-78"/>
                <a:cs typeface="Amiri" pitchFamily="2" charset="-78"/>
              </a:rPr>
              <a:t>الاِسْتِمَاعُ</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7" name="Text 24"/>
          <p:cNvSpPr txBox="1"/>
          <p:nvPr/>
        </p:nvSpPr>
        <p:spPr>
          <a:xfrm>
            <a:off x="3977640"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school-day and weekend routine: ten questions — locate, interpret, prove</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 · </a:t>
            </a:r>
            <a:pPr algn="l" indent="0" marL="0">
              <a:buNone/>
            </a:pPr>
            <a:r>
              <a:rPr lang="ar-SA" altLang="en-US" sz="1450" dirty="0">
                <a:solidFill>
                  <a:srgbClr val="5A6472"/>
                </a:solidFill>
                <a:latin typeface="Amiri" pitchFamily="2" charset="-78"/>
                <a:cs typeface="Amiri" pitchFamily="2" charset="-78"/>
              </a:rPr>
              <a:t>القِرَاءَةُ</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3" name="Text 30"/>
          <p:cNvSpPr txBox="1"/>
          <p:nvPr/>
        </p:nvSpPr>
        <p:spPr>
          <a:xfrm>
            <a:off x="3977640"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Routine form: five fields (5) · article or email, 100–120 words (15)</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 · </a:t>
            </a:r>
            <a:pPr algn="l" indent="0" marL="0">
              <a:buNone/>
            </a:pPr>
            <a:r>
              <a:rPr lang="ar-SA" altLang="en-US" sz="1450" dirty="0">
                <a:solidFill>
                  <a:srgbClr val="5A6472"/>
                </a:solidFill>
                <a:latin typeface="Amiri" pitchFamily="2" charset="-78"/>
                <a:cs typeface="Amiri" pitchFamily="2" charset="-78"/>
              </a:rPr>
              <a:t>الكِتَابَةُ</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9" name="Text 36"/>
          <p:cNvSpPr txBox="1"/>
          <p:nvPr/>
        </p:nvSpPr>
        <p:spPr>
          <a:xfrm>
            <a:off x="3977640"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Role-play (4) · topic conversation (6) — prepare cue words only</a:t>
            </a:r>
            <a:endParaRPr lang="en-US" sz="1100" dirty="0"/>
          </a:p>
        </p:txBody>
      </p:sp>
      <p:sp>
        <p:nvSpPr>
          <p:cNvPr id="40" name="Text 37"/>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 · </a:t>
            </a:r>
            <a:pPr algn="l" indent="0" marL="0">
              <a:buNone/>
            </a:pPr>
            <a:r>
              <a:rPr lang="ar-SA" altLang="en-US" sz="1450" dirty="0">
                <a:solidFill>
                  <a:srgbClr val="5A6472"/>
                </a:solidFill>
                <a:latin typeface="Amiri" pitchFamily="2" charset="-78"/>
                <a:cs typeface="Amiri" pitchFamily="2" charset="-78"/>
              </a:rPr>
              <a:t>التَّحَدُّثُ</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8 MARKS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Text 1 · Maryam describes a school day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 on school days?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6:10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immediately after waking?</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checks messages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showers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leaves home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leave home?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7:45</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usually travel?</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starts at 8:20?</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lesson</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registration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attend the school club?</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does she do before using her phone in the evening?</a:t>
            </a:r>
            <a:endParaRPr lang="en-US" sz="110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finishes homework</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a friend</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shopping</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usually sleep?</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9:30</a:t>
            </a:r>
            <a:endParaRPr lang="en-US" sz="12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11:30</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10:30</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 on school days?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6:10</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25" name="Shape 22"/>
          <p:cNvSpPr/>
          <p:nvPr/>
        </p:nvSpPr>
        <p:spPr>
          <a:xfrm>
            <a:off x="548640" y="3197352"/>
            <a:ext cx="2498598"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فِي السَّادِسَةِ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immediately after waking?</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checks messages</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showers</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leaves home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showers before getting dressed.</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leave home?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52" name="Shape 49"/>
          <p:cNvSpPr/>
          <p:nvPr/>
        </p:nvSpPr>
        <p:spPr>
          <a:xfrm>
            <a:off x="6277356" y="2825496"/>
            <a:ext cx="2498598"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368796"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7:45</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leaves at a quarter to eight.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usually travel?</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67" name="Shape 64"/>
          <p:cNvSpPr/>
          <p:nvPr/>
        </p:nvSpPr>
        <p:spPr>
          <a:xfrm>
            <a:off x="9233154" y="286207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train</a:t>
            </a:r>
            <a:endParaRPr lang="en-US" sz="1250" dirty="0"/>
          </a:p>
        </p:txBody>
      </p:sp>
      <p:sp>
        <p:nvSpPr>
          <p:cNvPr id="70" name="Shape 67"/>
          <p:cNvSpPr/>
          <p:nvPr/>
        </p:nvSpPr>
        <p:spPr>
          <a:xfrm>
            <a:off x="9141714" y="3197352"/>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9233154" y="3233928"/>
            <a:ext cx="256032" cy="256032"/>
          </a:xfrm>
          <a:prstGeom prst="ellipse">
            <a:avLst/>
          </a:prstGeom>
          <a:solidFill>
            <a:srgbClr val="2E8B57"/>
          </a:solidFill>
          <a:ln w="12700">
            <a:solidFill>
              <a:srgbClr val="2E8B57"/>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usually takes the bus.</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starts at 8:20?</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first lesson</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registration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breakfast</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lesson starts at twenty past eight.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attend the school club?</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97" name="Shape 94"/>
          <p:cNvSpPr/>
          <p:nvPr/>
        </p:nvSpPr>
        <p:spPr>
          <a:xfrm>
            <a:off x="3412998" y="5166360"/>
            <a:ext cx="2498598"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350443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attends on Tuesday and Thursday.</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does she do before using her phone in the evening?</a:t>
            </a:r>
            <a:endParaRPr lang="en-US" sz="1100" dirty="0"/>
          </a:p>
        </p:txBody>
      </p:sp>
      <p:sp>
        <p:nvSpPr>
          <p:cNvPr id="109" name="Shape 106"/>
          <p:cNvSpPr/>
          <p:nvPr/>
        </p:nvSpPr>
        <p:spPr>
          <a:xfrm>
            <a:off x="6277356" y="4794504"/>
            <a:ext cx="2498598" cy="347472"/>
          </a:xfrm>
          <a:prstGeom prst="roundRect">
            <a:avLst>
              <a:gd name="adj" fmla="val 15789"/>
            </a:avLst>
          </a:prstGeom>
          <a:solidFill>
            <a:srgbClr val="E6F4EC"/>
          </a:solidFill>
          <a:ln w="9525">
            <a:solidFill>
              <a:srgbClr val="2E8B57"/>
            </a:solidFill>
            <a:prstDash val="solid"/>
          </a:ln>
        </p:spPr>
      </p:sp>
      <p:sp>
        <p:nvSpPr>
          <p:cNvPr id="110" name="Shape 107"/>
          <p:cNvSpPr/>
          <p:nvPr/>
        </p:nvSpPr>
        <p:spPr>
          <a:xfrm>
            <a:off x="6368796" y="4831080"/>
            <a:ext cx="256032" cy="256032"/>
          </a:xfrm>
          <a:prstGeom prst="ellipse">
            <a:avLst/>
          </a:prstGeom>
          <a:solidFill>
            <a:srgbClr val="2E8B57"/>
          </a:solidFill>
          <a:ln w="12700">
            <a:solidFill>
              <a:srgbClr val="2E8B57"/>
            </a:solidFill>
            <a:prstDash val="solid"/>
          </a:ln>
        </p:spPr>
      </p:sp>
      <p:sp>
        <p:nvSpPr>
          <p:cNvPr id="111" name="Text 10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12" name="Text 109"/>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finishes homework</a:t>
            </a:r>
            <a:endParaRPr lang="en-US" sz="1250" dirty="0"/>
          </a:p>
        </p:txBody>
      </p:sp>
      <p:sp>
        <p:nvSpPr>
          <p:cNvPr id="113" name="Shape 110"/>
          <p:cNvSpPr/>
          <p:nvPr/>
        </p:nvSpPr>
        <p:spPr>
          <a:xfrm>
            <a:off x="6368796" y="5202936"/>
            <a:ext cx="256032" cy="256032"/>
          </a:xfrm>
          <a:prstGeom prst="ellipse">
            <a:avLst/>
          </a:prstGeom>
          <a:solidFill>
            <a:srgbClr val="C9CED6"/>
          </a:solidFill>
          <a:ln w="12700">
            <a:solidFill>
              <a:srgbClr val="C9CED6"/>
            </a:solidFill>
            <a:prstDash val="solid"/>
          </a:ln>
        </p:spPr>
      </p:sp>
      <p:sp>
        <p:nvSpPr>
          <p:cNvPr id="114" name="Text 11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a friend</a:t>
            </a:r>
            <a:endParaRPr lang="en-US" sz="1250" dirty="0"/>
          </a:p>
        </p:txBody>
      </p:sp>
      <p:sp>
        <p:nvSpPr>
          <p:cNvPr id="116" name="Shape 113"/>
          <p:cNvSpPr/>
          <p:nvPr/>
        </p:nvSpPr>
        <p:spPr>
          <a:xfrm>
            <a:off x="6368796" y="5574792"/>
            <a:ext cx="256032" cy="256032"/>
          </a:xfrm>
          <a:prstGeom prst="ellipse">
            <a:avLst/>
          </a:prstGeom>
          <a:solidFill>
            <a:srgbClr val="C9CED6"/>
          </a:solidFill>
          <a:ln w="12700">
            <a:solidFill>
              <a:srgbClr val="C9CED6"/>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shopping</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completes homework first.</a:t>
            </a:r>
            <a:endParaRPr lang="en-US" sz="10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usually sleep?</a:t>
            </a:r>
            <a:endParaRPr lang="en-US" sz="1250" dirty="0"/>
          </a:p>
        </p:txBody>
      </p:sp>
      <p:sp>
        <p:nvSpPr>
          <p:cNvPr id="124" name="Shape 121"/>
          <p:cNvSpPr/>
          <p:nvPr/>
        </p:nvSpPr>
        <p:spPr>
          <a:xfrm>
            <a:off x="9233154" y="4831080"/>
            <a:ext cx="256032" cy="256032"/>
          </a:xfrm>
          <a:prstGeom prst="ellipse">
            <a:avLst/>
          </a:prstGeom>
          <a:solidFill>
            <a:srgbClr val="C9CED6"/>
          </a:solidFill>
          <a:ln w="12700">
            <a:solidFill>
              <a:srgbClr val="C9CED6"/>
            </a:solidFill>
            <a:prstDash val="solid"/>
          </a:ln>
        </p:spPr>
      </p:sp>
      <p:sp>
        <p:nvSpPr>
          <p:cNvPr id="125" name="Text 122"/>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26" name="Text 123"/>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9:30</a:t>
            </a:r>
            <a:endParaRPr lang="en-US" sz="1250" dirty="0"/>
          </a:p>
        </p:txBody>
      </p:sp>
      <p:sp>
        <p:nvSpPr>
          <p:cNvPr id="127" name="Shape 124"/>
          <p:cNvSpPr/>
          <p:nvPr/>
        </p:nvSpPr>
        <p:spPr>
          <a:xfrm>
            <a:off x="9233154" y="5202936"/>
            <a:ext cx="256032" cy="256032"/>
          </a:xfrm>
          <a:prstGeom prst="ellipse">
            <a:avLst/>
          </a:prstGeom>
          <a:solidFill>
            <a:srgbClr val="C9CED6"/>
          </a:solidFill>
          <a:ln w="12700">
            <a:solidFill>
              <a:srgbClr val="C9CED6"/>
            </a:solidFill>
            <a:prstDash val="solid"/>
          </a:ln>
        </p:spPr>
      </p:sp>
      <p:sp>
        <p:nvSpPr>
          <p:cNvPr id="128" name="Text 125"/>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29" name="Text 126"/>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11:30</a:t>
            </a:r>
            <a:endParaRPr lang="en-US" sz="1250" dirty="0"/>
          </a:p>
        </p:txBody>
      </p:sp>
      <p:sp>
        <p:nvSpPr>
          <p:cNvPr id="130" name="Shape 127"/>
          <p:cNvSpPr/>
          <p:nvPr/>
        </p:nvSpPr>
        <p:spPr>
          <a:xfrm>
            <a:off x="9141714" y="5538216"/>
            <a:ext cx="2498598" cy="347472"/>
          </a:xfrm>
          <a:prstGeom prst="roundRect">
            <a:avLst>
              <a:gd name="adj" fmla="val 15789"/>
            </a:avLst>
          </a:prstGeom>
          <a:solidFill>
            <a:srgbClr val="E6F4EC"/>
          </a:solidFill>
          <a:ln w="9525">
            <a:solidFill>
              <a:srgbClr val="2E8B57"/>
            </a:solidFill>
            <a:prstDash val="solid"/>
          </a:ln>
        </p:spPr>
      </p:sp>
      <p:sp>
        <p:nvSpPr>
          <p:cNvPr id="131" name="Shape 128"/>
          <p:cNvSpPr/>
          <p:nvPr/>
        </p:nvSpPr>
        <p:spPr>
          <a:xfrm>
            <a:off x="9233154" y="5574792"/>
            <a:ext cx="256032" cy="256032"/>
          </a:xfrm>
          <a:prstGeom prst="ellipse">
            <a:avLst/>
          </a:prstGeom>
          <a:solidFill>
            <a:srgbClr val="2E8B57"/>
          </a:solidFill>
          <a:ln w="12700">
            <a:solidFill>
              <a:srgbClr val="2E8B57"/>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10:30</a:t>
            </a:r>
            <a:endParaRPr lang="en-US" sz="12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sleeps at half past ten.</a:t>
            </a:r>
            <a:endParaRPr lang="en-US" sz="10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MARKS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Text 2 · Yusuf and Huda compare their routines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returns home earlier?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at the same time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studies before eating?</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Yusuf play football?</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evening</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do on Thursday?</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attends an Arabic club</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her grandmother</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gets ready for the next day before sleeping?</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 only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only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the main difference between their weekends?</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 visits family; Huda meets friends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studies; Yusuf works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stay home all weekend</a:t>
            </a:r>
            <a:endParaRPr lang="en-US" sz="125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for ya- (Yusuf) and ta- (Huda).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returns home earlier?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at the same time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returns at 3:20; Huda returns at 4:00.</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studies before eating?</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Huda studies for an hour before dinner.</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Yusuf play football?</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evening</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plays on Monday, Wednesday and Friday.</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do on Thursday?</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attends an Arabic club</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her grandmother</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Thursday is her Arabic-club day.</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gets ready for the next day before sleeping?</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 only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 only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prepare their bags and clothes.</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the main difference between their weekends?</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Yusuf visits family; Huda meets friends</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Huda studies; Yusuf works</a:t>
            </a:r>
            <a:endParaRPr lang="en-US" sz="12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both stay home all weekend</a:t>
            </a:r>
            <a:endParaRPr lang="en-US" sz="12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Their Saturday activities are different.</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for ya- (Yusuf) and ta- (Huda).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MARKS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Text 3 · Interview about routine and time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interviewer ask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subject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wake-up time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 address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Samir exercise?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month</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morning</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times a week</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different?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has a late science club</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is closed</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visits family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club?</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straight to sleep</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then completes homework</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he wake at the weekend?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8:30</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 exactly</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midday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contrast does he make?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weekends are busier than school days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routine never changes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school days are organised; weekends are more flexible</a:t>
            </a:r>
            <a:endParaRPr lang="en-US" sz="120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AN INTERVIEW</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Keep listening after “as for …”.</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interviewer ask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favourite subject</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wake-up time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 address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interview begins with </a:t>
            </a:r>
            <a:pPr algn="l" indent="0" marL="0">
              <a:buNone/>
            </a:pPr>
            <a:r>
              <a:rPr lang="ar-SA" altLang="en-US" sz="1350" dirty="0">
                <a:solidFill>
                  <a:srgbClr val="8A6D1E"/>
                </a:solidFill>
                <a:latin typeface="Amiri" pitchFamily="2" charset="-78"/>
                <a:cs typeface="Amiri" pitchFamily="2" charset="-78"/>
              </a:rPr>
              <a:t>مَتَى تَسْتَيْقِظُ؟</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Samir exercise?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month</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morning</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 times a week</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أَرْبَعَ مَرَّاتٍ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different?</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has a late science club</a:t>
            </a:r>
            <a:endParaRPr lang="en-US" sz="12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is closed</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visits family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science club finishes at 5:15.</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club?</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straight to sleep</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eats, then completes homework</a:t>
            </a:r>
            <a:endParaRPr lang="en-US" sz="11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eats first and then completes his homework.</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he wake at the weekend?</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8:30</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6:00 exactly</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midday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حَوَالَيْ الثَّامِنَةِ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contrast does he make?</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weekends are busier than school days</a:t>
            </a:r>
            <a:endParaRPr lang="en-US" sz="11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routine never changes</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school days are organised; weekends are more flexible</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contrasts an organised school routine with a more flexible weekend.</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AN INTERVIEW</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Keep listening after “as for …”.</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2F6FB0"/>
                </a:solidFill>
                <a:latin typeface="Calibri" pitchFamily="34" charset="0"/>
                <a:cs typeface="Amiri" pitchFamily="2" charset="-78"/>
              </a:rPr>
              <a:t>READING · 10 MARKS · READ ONCE FOR THE PATTERN, THEN FOR EXACT DETAILS (WEBSITE)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Reading · A school-day and weekend routine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250" dirty="0">
                <a:solidFill>
                  <a:srgbClr val="1F2A37"/>
                </a:solidFill>
                <a:latin typeface="Amiri" pitchFamily="2" charset="-78"/>
                <a:cs typeface="Amiri" pitchFamily="2" charset="-78"/>
              </a:rPr>
              <a:t>أَكْتُبُ عَنْ رُوتِينِي فِي أَيَّامِ الدِّرَاسَةِ وَفِي نِهَايَةِ الأُسْبُوعِ. مِنَ الاِثْنَيْنِ إِلَى الجُمُعَةِ أَسْتَيْقِظُ فِي السَّادِسَةِ وَخَمْسٍ وَعِشْرِينَ دَقِيقَةً. أَرْتَدِي مَلَابِسِي وَأُحَضِّرُ حَقِيبَتِي قَبْلَ أَنْ أَتَنَاوَلَ الإِفْطَارَ. أَخْرُجُ فِي السَّابِعَةِ وَالنِّصْفِ، وَتَسْتَغْرِقُ رِحْلَتِي إِلَى المَدْرَسَةِ حَوَالَيْ عِشْرِينَ دَقِيقَةً. بَعْدَ المَدْرَسَةِ أَذْهَبُ إِلَى السِّبَاحَةِ مَرَّتَيْنِ فِي الأُسْبُوعِ، يَوْمَ الاِثْنَيْنِ وَالأَرْبِعَاءِ. فِي الأَيَّامِ الأُخْرَى أُكْمِلُ وَاجِبِي فِي المَكْتَبَةِ، بَيْنَمَا يَلْعَبُ أَخِي أَلْعَابَ الحَاسُوبِ فِي البَيْتِ. يَوْمُ الخَمِيسِ مُخْتَلِفٌ لِأَنَّ لَدَيَّ دَرْسًا عَبْرَ الإِنْتَرْنِتِ فِي اللُّغَةِ العَرَبِيَّةِ، وَهُوَ يَبْدَأُ فِي السَّادِسَةِ وَيَنْتَهِي فِي السَّابِعَةِ إِلَّا الرُّبْعَ. أَمَّا يَوْمَ السَّبْتِ فَأَسْتَيْقِظُ مُتَأَخِّرًا، وَأُسَاعِدُ أُسْرَتِي فِي البَيْتِ قَبْلَ أَنْ أَلْتَقِيَ بِصَدِيقَاتِي. فِي رَأْيِي، التَّنْظِيمُ فِي أَيَّامِ الدِّرَاسَةِ يُسَاعِدُنِي عَلَى إِنْجَازِ عَمَلِي، وَلٰكِنَّ الوَقْتَ الأَكْثَرَ مَرُونَةً فِي نِهَايَةِ الأُسْبُوعِ مُهِمٌّ أَيْضًا، لِأَنَّهُ يَسْمَحُ لِي بِالرَّاحَةِ وَقَضَاءِ الوَقْتِ مَعَ الآخَرِينَ.</a:t>
            </a:r>
            <a:endParaRPr lang="ar-SA" sz="225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(١–٥)</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describing?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holiday journey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town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school-day and weekend routines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wake on school days?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6:25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before breakfast?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does homework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gets dressed and prepares her bag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meets friends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journey to school take?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twenty minutes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 minutes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after-school activity happens twice weekly?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library study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visit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1–5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describing?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holiday journey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town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school-day and weekend routines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compares two routine patterns.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wake on school days?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6:25</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6:45</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السَّادِسَةِ وَخَمْسٍ وَعِشْرِينَ دَقِيقَةً = 6:25.</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before breakfast?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does homework</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gets dressed and prepares her bag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meets friends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actions happen before breakfast.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journey to school take?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twenty minutes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 minutes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تَسْتَغْرِقُ الرِّحْلَةُ حَوَالَيْ عِشْرِينَ دَقِيقَةً.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after-school activity happens twice weekly?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library study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visit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swimming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swims on Monday and Wednesday.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(٦–١٠)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her brother do while she studies?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computer games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cooks dinner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Thursday evening different?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finishes school early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attends an online Arabic lesson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works in a shop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first on Saturday?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helps at home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meets friends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goes to school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هٰذَا</a:t>
            </a:r>
            <a:pPr algn="l" indent="0" marL="0">
              <a:buNone/>
            </a:pPr>
            <a:r>
              <a:rPr lang="en-US" sz="1250" b="1" dirty="0">
                <a:solidFill>
                  <a:srgbClr val="1B3B6F"/>
                </a:solidFill>
                <a:latin typeface="Calibri" pitchFamily="34" charset="0"/>
                <a:cs typeface="Amiri" pitchFamily="2" charset="-78"/>
              </a:rPr>
              <a:t> refer to in the final paragraph?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waking early for school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journey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having more flexible time at the weekend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best summarises her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dislikes every part of her routine.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wants the same timetable every 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values organisation on school days and flexibility at weekends.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Q9: what does “this” refer to?</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6–10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her brother do while she studies?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plays computer games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cooks dinner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contrast is introduced by </a:t>
            </a:r>
            <a:pPr algn="l" indent="0" marL="0">
              <a:buNone/>
            </a:pPr>
            <a:r>
              <a:rPr lang="ar-SA" altLang="en-US" sz="1350" dirty="0">
                <a:solidFill>
                  <a:srgbClr val="8A6D1E"/>
                </a:solidFill>
                <a:latin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Thursday evening different?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finishes school early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attends an online Arabic lesson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works in a shop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online lesson changes the usual evening sequence.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first on Saturday?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helps at home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meets friends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goes to school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helps at home before going out.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هٰذَا</a:t>
            </a:r>
            <a:pPr algn="l" indent="0" marL="0">
              <a:buNone/>
            </a:pPr>
            <a:r>
              <a:rPr lang="en-US" sz="1250" b="1" dirty="0">
                <a:solidFill>
                  <a:srgbClr val="1B3B6F"/>
                </a:solidFill>
                <a:latin typeface="Calibri" pitchFamily="34" charset="0"/>
                <a:cs typeface="Amiri" pitchFamily="2" charset="-78"/>
              </a:rPr>
              <a:t> refer to in the final paragraph?</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waking early for school</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journey</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having more flexible time at the weekend</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demonstrative refers to the more flexible weekend routine.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best summarises her opinion?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dislikes every part of her routine.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She wants the same timetable every day.</a:t>
            </a:r>
            <a:endParaRPr lang="en-US" sz="11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values organisation on school days and flexibility at weekends.</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conclusion is balanced and compares the benefits of both routines.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Q9: what does “this” refer to?</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20 MARKS · FORM (5) + ARTICLE OR EMAIL (15)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تَقْيِيمُ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1578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1 · routine form (5)</a:t>
            </a:r>
            <a:endParaRPr lang="en-US" sz="1100" dirty="0"/>
          </a:p>
        </p:txBody>
      </p:sp>
      <p:sp>
        <p:nvSpPr>
          <p:cNvPr id="17" name="Text 14"/>
          <p:cNvSpPr txBox="1"/>
          <p:nvPr/>
        </p:nvSpPr>
        <p:spPr>
          <a:xfrm>
            <a:off x="53035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2 · article or email, 100–120 words (15)</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434072" y="2267712"/>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وَقْتُ الاِسْتِيقَاظِ: ______</a:t>
            </a:r>
            <a:endParaRPr lang="ar-SA" sz="2200" dirty="0"/>
          </a:p>
        </p:txBody>
      </p:sp>
      <p:sp>
        <p:nvSpPr>
          <p:cNvPr id="20" name="Text 17"/>
          <p:cNvSpPr txBox="1"/>
          <p:nvPr/>
        </p:nvSpPr>
        <p:spPr>
          <a:xfrm>
            <a:off x="566928" y="2267712"/>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a young Arabic-speaking reader, include: 1 a school-day routine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434072" y="300471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 تَفْعَلُ قَبْلَ الإِفْطَارِ؟ ______</a:t>
            </a:r>
            <a:endParaRPr lang="ar-SA" sz="2200" dirty="0"/>
          </a:p>
        </p:txBody>
      </p:sp>
      <p:sp>
        <p:nvSpPr>
          <p:cNvPr id="25" name="Text 22"/>
          <p:cNvSpPr txBox="1"/>
          <p:nvPr/>
        </p:nvSpPr>
        <p:spPr>
          <a:xfrm>
            <a:off x="566928" y="300471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exact times and frequency · 3 before and after school</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434072" y="3741725"/>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مَرَّةً تَتَمَرَّنُ؟ ______</a:t>
            </a:r>
            <a:endParaRPr lang="ar-SA" sz="2200" dirty="0"/>
          </a:p>
        </p:txBody>
      </p:sp>
      <p:sp>
        <p:nvSpPr>
          <p:cNvPr id="30" name="Text 27"/>
          <p:cNvSpPr txBox="1"/>
          <p:nvPr/>
        </p:nvSpPr>
        <p:spPr>
          <a:xfrm>
            <a:off x="566928" y="3741725"/>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another person’s routine · 5 a weekend comparison</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434072" y="4478731"/>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 تَفْعَلُ بَعْدَ المَدْرَسَةِ؟ ______</a:t>
            </a:r>
            <a:endParaRPr lang="ar-SA" sz="2200" dirty="0"/>
          </a:p>
        </p:txBody>
      </p:sp>
      <p:sp>
        <p:nvSpPr>
          <p:cNvPr id="35" name="Text 32"/>
          <p:cNvSpPr txBox="1"/>
          <p:nvPr/>
        </p:nvSpPr>
        <p:spPr>
          <a:xfrm>
            <a:off x="566928" y="4478731"/>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a reasoned opinion</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434072" y="521573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وَقْتُ النَّوْمِ: ______</a:t>
            </a:r>
            <a:endParaRPr lang="ar-SA" sz="2200" dirty="0"/>
          </a:p>
        </p:txBody>
      </p:sp>
      <p:sp>
        <p:nvSpPr>
          <p:cNvPr id="40" name="Text 37"/>
          <p:cNvSpPr txBox="1"/>
          <p:nvPr/>
        </p:nvSpPr>
        <p:spPr>
          <a:xfrm>
            <a:off x="566928" y="521573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Marked for Task (5) · Range (5) · Accuracy (5)</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Check before you finish: I / he / she prefixes · she → -hā · verb after “an” · past / to the hour.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8A6D1E"/>
                </a:solidFill>
                <a:latin typeface="Calibri" pitchFamily="34" charset="0"/>
                <a:cs typeface="Amiri" pitchFamily="2" charset="-78"/>
              </a:rPr>
              <a:t>WRITING · A STRONG ANSWER (TEACHER MODEL, AS IN D1-L11) · SHOW AFTER WRITING</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article includes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إِجَابَةٍ قَوِيَّةٍ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أَسْتَيْقِظُ فِي أَيَّامِ الدِّرَاسَةِ فِي السَّادِسَةِ وَالنِّصْفِ، وَأَتَنَاوَلُ الإِفْطَارَ قَبْلَ أَنْ أَخْرُجَ فِي السَّابِعَةِ وَالرُّبْعِ.</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school-day routine · exact times · before + verb</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أَسْتَقِلُّ الحَافِلَةَ لِأَنَّ المَدْرَسَةَ بَعِيدَةٌ. بَعْدَ أَنْ أَعُودَ، أَسْتَرِيحُ نِصْفَ سَاعَةٍ، ثُمَّ أُكْمِلُ وَاجِبِي.</a:t>
            </a:r>
            <a:endParaRPr lang="ar-SA" sz="17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after school · reason · after + verb</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أَتَمَرَّنُ مَرَّتَيْنِ فِي الأُسْبُوعِ، بَيْنَمَا تَتَمَرَّنُ أُخْتِي كُلَّ يَوْمٍ تَقْرِيبًا.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frequency · 4 another person (ta-)</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فِي نِهَايَةِ الأُسْبُوعِ فَأَنَامُ وَقْتًا أَطْوَلَ، وَغَالِبًا مَا أَزُورُ أَقَارِبِي.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weekend comparison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رَأْيِي، رُوتِينِي مُتَوَازِنٌ، وَلٰكِنَّنِي أُرِيدُ أَنْ أَنَامَ مُبَكِّرًا.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 reasoned opinion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SPEAKING · 10 MARKS · ROLE-PLAY (4) + TOPIC CONVERSATION (6)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تَقْيِيمُ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312664" y="1810512"/>
            <a:ext cx="6345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Topic conversation · possible questions (6)</a:t>
            </a:r>
            <a:endParaRPr lang="en-US" sz="1100" dirty="0"/>
          </a:p>
        </p:txBody>
      </p:sp>
      <p:sp>
        <p:nvSpPr>
          <p:cNvPr id="17" name="Text 14"/>
          <p:cNvSpPr txBox="1"/>
          <p:nvPr/>
        </p:nvSpPr>
        <p:spPr>
          <a:xfrm>
            <a:off x="53035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Role-play (4) · ask and answer about …</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5330952" y="2267712"/>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صِفْ رُوتِينَكَ فِي يَوْمٍ دِرَاسِيٍّ، وَاذْكُرْ أَوْقَاتًا دَقِيقَةً.</a:t>
            </a:r>
            <a:endParaRPr lang="ar-SA" sz="2000" dirty="0"/>
          </a:p>
        </p:txBody>
      </p:sp>
      <p:sp>
        <p:nvSpPr>
          <p:cNvPr id="20" name="Text 17"/>
          <p:cNvSpPr txBox="1"/>
          <p:nvPr/>
        </p:nvSpPr>
        <p:spPr>
          <a:xfrm>
            <a:off x="566928" y="2267712"/>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wake-up time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5330952" y="3054096"/>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مَاذَا يَفْعَلُ شَخْصٌ آخَرُ فِي أُسْرَتِكَ بَعْدَ المَدْرَسَةِ أَوِ العَمَلِ؟</a:t>
            </a:r>
            <a:endParaRPr lang="ar-SA" sz="2000" dirty="0"/>
          </a:p>
        </p:txBody>
      </p:sp>
      <p:sp>
        <p:nvSpPr>
          <p:cNvPr id="25" name="Text 22"/>
          <p:cNvSpPr txBox="1"/>
          <p:nvPr/>
        </p:nvSpPr>
        <p:spPr>
          <a:xfrm>
            <a:off x="566928" y="3054096"/>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an after-school activity</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5330952" y="3840480"/>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كَمْ مَرَّةً تَقُومُ بِنَشَاطٍ مُعَيَّنٍ فِي الأُسْبُوعِ، وَلِمَاذَا؟</a:t>
            </a:r>
            <a:endParaRPr lang="ar-SA" sz="2000" dirty="0"/>
          </a:p>
        </p:txBody>
      </p:sp>
      <p:sp>
        <p:nvSpPr>
          <p:cNvPr id="30" name="Text 27"/>
          <p:cNvSpPr txBox="1"/>
          <p:nvPr/>
        </p:nvSpPr>
        <p:spPr>
          <a:xfrm>
            <a:off x="566928" y="3840480"/>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how often</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5330952" y="4626864"/>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قَارِنْ بَيْنَ رُوتِينِكَ فِي أَيَّامِ الدِّرَاسَةِ وَرُوتِينِكَ فِي نِهَايَةِ الأُسْبُوعِ.</a:t>
            </a:r>
            <a:endParaRPr lang="ar-SA" sz="2000" dirty="0"/>
          </a:p>
        </p:txBody>
      </p:sp>
      <p:sp>
        <p:nvSpPr>
          <p:cNvPr id="35" name="Text 32"/>
          <p:cNvSpPr txBox="1"/>
          <p:nvPr/>
        </p:nvSpPr>
        <p:spPr>
          <a:xfrm>
            <a:off x="566928" y="4626864"/>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changed timetable detail</a:t>
            </a:r>
            <a:endParaRPr lang="en-US" sz="11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Prepare cue words only (website): direct answer + exact time · frequency + reason or example · another person + weekend contrast.</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RESULTS · RECORD YOUR PROFILE AND SET ONE D2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D1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سَجِّلْ دَرَجَتَكَ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Guide (total /60) · teacher guide, not an exam grade</a:t>
            </a:r>
            <a:endParaRPr lang="en-US" sz="1100" dirty="0"/>
          </a:p>
        </p:txBody>
      </p:sp>
      <p:sp>
        <p:nvSpPr>
          <p:cNvPr id="17" name="Text 14"/>
          <p:cNvSpPr txBox="1"/>
          <p:nvPr/>
        </p:nvSpPr>
        <p:spPr>
          <a:xfrm>
            <a:off x="36393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50468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D1 foundation</a:t>
            </a:r>
            <a:endParaRPr lang="en-US" sz="1100" dirty="0"/>
          </a:p>
        </p:txBody>
      </p:sp>
      <p:sp>
        <p:nvSpPr>
          <p:cNvPr id="21" name="Text 18"/>
          <p:cNvSpPr txBox="1"/>
          <p:nvPr/>
        </p:nvSpPr>
        <p:spPr>
          <a:xfrm>
            <a:off x="367588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50468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ready for D2 with one practice target</a:t>
            </a:r>
            <a:endParaRPr lang="en-US" sz="1100" dirty="0"/>
          </a:p>
        </p:txBody>
      </p:sp>
      <p:sp>
        <p:nvSpPr>
          <p:cNvPr id="27" name="Text 24"/>
          <p:cNvSpPr txBox="1"/>
          <p:nvPr/>
        </p:nvSpPr>
        <p:spPr>
          <a:xfrm>
            <a:off x="367588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50468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targeted D1 retrieval early in D2</a:t>
            </a:r>
            <a:endParaRPr lang="en-US" sz="1100" dirty="0"/>
          </a:p>
        </p:txBody>
      </p:sp>
      <p:sp>
        <p:nvSpPr>
          <p:cNvPr id="33" name="Text 30"/>
          <p:cNvSpPr txBox="1"/>
          <p:nvPr/>
        </p:nvSpPr>
        <p:spPr>
          <a:xfrm>
            <a:off x="367588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50468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on the lowest skill before D2</a:t>
            </a:r>
            <a:endParaRPr lang="en-US" sz="1100" dirty="0"/>
          </a:p>
        </p:txBody>
      </p:sp>
      <p:sp>
        <p:nvSpPr>
          <p:cNvPr id="39" name="Text 36"/>
          <p:cNvSpPr txBox="1"/>
          <p:nvPr/>
        </p:nvSpPr>
        <p:spPr>
          <a:xfrm>
            <a:off x="367588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in your book (website reflection): My strongest D1 evidence was … · My precise next action is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my school day with exact times.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I / he / she verbs correctly.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before/after + a verb with the correct ending.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ask a boy or a girl about their routine.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compare school days and the weekend with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D1-L12 · D1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D2-L01 · Personality Adjectives — What Is He / She Like?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وَدُودٌ / وَدُودَةٌ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friendly</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صَادِقٌ / صَادِقَةٌ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honest</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صَبُورٌ / صَبُورَةٌ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patient</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مُجْتَهِدٌ / مُجْتَهِدَةٌ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hard-working</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هَادِئٌ / هَادِئَةٌ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calm</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friend or family member. Which two words describe their personality,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كَيْفَ هُوَ؟ كَيْفَ هِيَ؟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D1-L12 readiness check on the website; learn the five D2 words (both forms).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 on the website; then learn the D2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D1 reflection (strongest evidence + precise next action) and describe one person with the D2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D2-L01 · Personality Adjectives — What Is He / She Like?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الصِّفَاتُ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D1 complete — well done! Learn 5 personality words for D2.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D1-L12 · Review and Unit Assessment</dc:title>
  <dc:subject>PptxGenJS Presentation</dc:subject>
  <dc:creator>Al Madina Online School · Arabic Department</dc:creator>
  <cp:lastModifiedBy>Al Madina Online School · Arabic Department</cp:lastModifiedBy>
  <cp:revision>1</cp:revision>
  <dcterms:created xsi:type="dcterms:W3CDTF">2026-10-11T06:40:32Z</dcterms:created>
  <dcterms:modified xsi:type="dcterms:W3CDTF">2026-10-11T06:40:32Z</dcterms:modified>
</cp:coreProperties>
</file>