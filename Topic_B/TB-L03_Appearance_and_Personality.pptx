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B · TB-L03 — Appearance and Personality. Website: Advanced Topics › Topic B (Personal and Social Life) › Lesson 3.
The website builds this lesson on the D2-L06 lesson engine, with the Topic focus “Build detailed, respectful descriptions and support character judgements with evidence.” (grammar: Adjective agreement; relative pronouns; ليس; skills: Reading · Writing) and the application challenge “Appearance and character match”.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B People, Relationships and Style › TB-L03. The website lesson “Describing Appearance — A Full Physical Portrait”: vocabulary, grammar rules and quiz, patterns, common mistakes, sorter, listening, reading, speaking prompts and model, writing task and model, differentiation, final check and the lesson mission. Picture match: website visual game “Describing Appearance — A Full Physical Portrait”.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portrait ORDER as four chunks — هُوَ / هِيَ طَوِيلُ / طَوِيلَةُ القَامَةِ · لَهُ / لَهَا شَعْرٌ … · عَيْنَاهُ / عَيْنَاهَا … · يَرْتَدِي / تَرْتَدِي … Develop: hair (masc.) and eyes (dual) agreement and الَّذِي / الَّتِي. Stretch: two people and a personality inference supported by behaviour (يَبْدُو … لِأَنَّهُ …).
• Respect is part of the success criteria (website rule 4 and quiz Q6): describe what you SEE, never judge (no “ugly / strange”). Use a picture, a character or a celebrity rather than a classmate.
• Two tricky points, taught visually: شَعْرٌ is masculine even for a girl (شَعْرُهَا طَوِيلٌ); eyes are TWO, feminine (عَيْنَانِ بُنِّيَّتَانِ).
• Urdu bridge: قد (height → القَامَةُ by meaning), شکل، عینک ≠ نَظَّارَةٌ, لباس، جسم.
• TEACHER-WRITTEN ITEMS: on the website this lesson’s patterns, mistakes, sorter, listening,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appearance words prepared at home. Questions 3–5 retrieve D2-L05 (website) (comparatives) and TB-L07 (هٰذِهِ).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 has → lahu. She has → lahā. Her hair is long → shaʿruhā ṭawīl (hair is masculine!).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قامت (as in قد و قامت) → طَوِيلُ القَامَةِ (tall). شکل → شَكْلٌ (كَيْفَ شَكْلُهُ؟ what does he look like?). لباس → لِبَاسٌ. جسم → جِسْمٌ / جِسْمِيَّةٌ. Urdu عینک is Persian; Arabic glasses = نَظَّارَةٌ (from نَظَرٌ, sight — Urdu نظر).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Height, hair and eyes (website vocabulary (1 of 2)). Hear → Say → See → Use. Transliteration is printed for Core students (cover it for Develop/Stretch).
Hair cards show his / her: the ADJECTIVE never changes (hair is masculine). Eye card: two eyes = عَيْنَانِ + a dual adjective (-atāni). Height uses a compound: طَوِيلُ القَامَةِ (m.) / طَوِيلَةُ القَامَةِ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Height, hair and eyes (website vocabulary (2 of 2)). Hear → Say → See → Use. Transliteration is printed for Core students (cover it for Develop/Stretch).
Hair cards show his / her: the ADJECTIVE never changes (hair is masculine). Eye card: two eyes = عَيْنَانِ + a dual adjective (-atāni). Height uses a compound: طَوِيلُ القَامَةِ (m.) / طَوِيلَةُ القَامَةِ (f.).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Clothes in a portrait (website vocabulary (1 of 2)). Hear → Say → See → Use. Transliteration is printed for Core students (cover it for Develop/Stretch).
FLEX: teach if time allows; otherwise these are on the website vocabulary tab for homework.
Clothes in a portrait (FLEX) — TB-L07 words; after يَرْتَدِي the item takes -an: يَرْتَدِي قَمِيصًا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Clothes in a portrait (website vocabulary (2 of 2)). Hear → Say → See → Use. Transliteration is printed for Core students (cover it for Develop/Stretch).
FLEX: teach if time allows; otherwise these are on the website vocabulary tab for homework.
Clothes in a portrait (FLEX) — TB-L07 words; after يَرْتَدِي the item takes -an: يَرْتَدِي قَمِيصًا أَبْيَضَ.</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personality detail (website vocabulary (1 of 2)). Hear → Say → See → Use. Transliteration is printed for Core students (cover it for Develop/Stretch).
FLEX: teach if time allows; otherwise these are on the website vocabulary tab for homework.
Style and personality detail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personality detail (website vocabulary (2 of 2)). Hear → Say → See → Use. Transliteration is printed for Core students (cover it for Develop/Stretch).
FLEX: teach if time allows; otherwise these are on the website vocabulary tab for homework.
Style and personality detail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“Possession with لَهُ / لَهَا”, “Body-feature agreement” (hair is masculine; eyes are dual feminine) and “Respectful portrait order” (height → hair → eyes → clothes), with the website table (Reference · Possession · Relative pronoun).
Website common error: “Do not treat عَيْنَانِ as a singular masculine noun” — عَيْنَاهَا بُنِّيٌّ ✗ → عَيْنَاهَا بُنِّيَّتَانِ ✓.
Stretch: dual of colours — blue زَرْقَاوَانِ, green خَضْرَاوَانِ, brown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 “Relative clause” (الَّذِي for masculine, الَّتِي for feminine antecedents) and the website model’s inference (يَبْدُو هَادِئًا لِأَنَّهُ …).
Game: show a class-picture (or a family photo from a textbook); students identify people: “مَنْ هِيَ؟ — هِيَ الفَتَاةُ الَّتِي تَرْتَدِي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“Create a coherent portrait using possession, dual body features, adjective agreement and الذي/التي clauses.”
• Possession with لَهُ / لَهَا: Use لَهُ for he has and لَهَا for she has.
• Body-feature agreement: Hair is masculine; eyes are dual feminine.
• Relative clause: Use الذي for masculine and التي for feminine antecedents.
• Respectful portrait order: Organise details and avoid judgemental language.
Website common error: Do not use التي after a masculine person or treat عَيْنَانِ as a singular masculine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girl from the website listening, described in the website order with a think-aloud. Then students describe the young man from the same script aloud (tall, short curly hair, glasses, white shirt).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Describing Appearance — A Full Physical Portrait”)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for homework: هِيَ قَصِيرَةٌ · شَعْرُهَا أَحْمَرُ (her hair is red — masc. colour!) · لَهُ عَيْنَانِ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Describing Appearance — A Full Physical Portrait”)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Other cards for homework: هِيَ قَصِيرَةٌ · شَعْرُهَا أَحْمَرُ (her hair is red — masc. colour!) · لَهُ عَيْنَانِ بُنِّيَّتَانِ.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person, the agreement and the relative pronoun.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Check the person, the agreement and the relative pronoun.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5. Develop / Stretch: all 6. (Questions are teacher-written: the website questions for this script are generic.)
Listen 1: just listen. Listen 2: note answers. Then chat the letters.
Support: after the second listening, show the read-along slide (Arabic + English, line by line) for Core students.
SCRIPT (read aloud):
يَصِفُ المُتَحَدِّثُ شَخْصَيْنِ فِي صُورَةٍ. الأَوَّلُ شَابٌّ طَوِيلُ القَامَةِ، لَهُ شَعْرٌ قَصِيرٌ وَمُجَعَّدٌ، وَيَرْتَدِي نَظَّارَةً وَقَمِيصًا أَبْيَضَ. الثَّانِيَةُ فَتَاةٌ مُتَوَسِّطَةُ القَامَةِ، لَهَا شَعْرٌ طَوِيلٌ مُسْتَقِيمٌ وَعَيْنَانِ بُنِّيَّتَانِ. هِيَ الفَتَاةُ الَّتِي تَرْتَدِي مِعْطَفًا أَزْرَقَ وَحَقِيبَةً سَوْدَاءَ.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B APPLICATION CHALLENGE (3 min — it takes the speaking-rehearsal slot; the website speaking slide after it is FLEX) — from the website Topic page: “Match physical-description cards to personality clues, then justify which details are facts and which are opinions using accurate adjective agreement.”
Cards to show: 1 طَوِيلٌ، شَعْرُهُ قَصِيرٌ، يَلْبَسُ نَظَّارَةً · 2 قَصِيرَةٌ، شَعْرُهَا طَوِيلٌ وَأَسْوَدُ · 3 نَحِيفٌ، عَيْنَاهُ خَضْرَاوَانِ. Clues: A يَقْرَأُ كَثِيرًا وَيُسَاعِدُ زُمَلَاءَهُ · B تَضْحَكُ دَائِمًا وَتُحِبُّ الحَفَلَاتِ · C هَادِئٌ وَخَجُولٌ قَلِيلًا. Any match is fine if justified — the point is FACT vs OPINION (website Topic B challenge “Appearance and character match”). Invented people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كَيْفَ مَظْهَرُهُ؟ (What does he look like?)
B: هُوَ طَوِيلُ القَامَةِ وَلَهُ شَعْرٌ قَصِيرٌ. (He is tall and has short hair.)
Website prompts (order changed for routes). Website model continues: A: كَيْفَ مَظْهَرُهُ؟ (What does he look like?) B: هُوَ طَوِيلُ القَامَةِ وَلَهُ شَعْرٌ قَصِيرٌ. Use a picture on screen (a family photo from a textbook, or a famous person) — not a classmate.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giving a respectful full portrait of two people. Organise height, hair, eyes, distinguishing features, clothes and one personality inference supported by behaviour.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طَوِيلُ القَامَةِ ← لَهُ شَعْرٌ … ← عَيْنَانِ بُنِّيَّتَانِ ← يَرْتَدِي … · الشَّخْصُ الَّذِي / الفَتَاةُ الَّتِي · يَبْدُو هَادِئًا لِأَنَّهُ يَسْتَمِعُ · الوَصْفُ الدَّقِيقُ يَحْتَرِمُ الشَّخْصَ.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(TB-L04 · My Home, Rooms and Garden) will spend class time USING this language, so students prepare it tonight — short, simple, easy to access (school guidance: “Simple, Short, Interesting, Relevant, Easy to access”). The five words come from the website F3-L03 home banks (the TB-L04 lesson engine).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B  ·  TB-L03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TB-L03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950" b="1" dirty="0">
                <a:solidFill>
                  <a:srgbClr val="FFFFFF"/>
                </a:solidFill>
                <a:latin typeface="Cambria" pitchFamily="34" charset="0"/>
                <a:cs typeface="Amiri" pitchFamily="2" charset="-78"/>
              </a:rPr>
              <a:t>Appearance and Personality</a:t>
            </a:r>
            <a:endParaRPr lang="en-US" sz="39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المَظْهَرُ وَالشَّخْصِيَّةُ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Build detailed, respectful descriptions and support character judgements with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TB-L03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B › TB-L03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He / she has …, hair and eyes agreement, who …</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accurate or not,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TB-L04.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شَعْرٌ مُجَعَّدٌ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straight hair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curly hair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hair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عَيْنَانِ بُنِّيَّتَانِ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 eyes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 eyes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الأَطْوَلَ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أَطْوَلُ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وَاثِقٌ</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وَاثِقٌ 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ثِقَةً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السُّتْرَةُ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السُّتْرَةُ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هٰذِهِ سُتْرَةٌ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شَعْرٌ مُجَعَّدٌ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straight hair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curly hair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hair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عَيْنَانِ بُنِّيَّتَانِ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brown eyes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 eyes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سَارَةُ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مِنْ 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طَوِيلَةٌ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الأَطْوَلَ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أَطْوَلُ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D2-L05 (website): comparative + min.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وَاثِقٌ</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وَاثِقٌ 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أَكْثَرُ ثِقَةً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D2-L05 (website): more + noun.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“this jacket”.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هٰذِهِ السُّتْرَةُ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السُّتْرَةُ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هٰذِهِ سُتْرَةٌ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TB-L07: hādhihi.</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He has → lahu. She has → lahā. Her hair is long → shaʿruhā ṭawīl (hair is masculine!).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لَهُ</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شَعْرٌ قَصِيرٌ ·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لَهَا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شَعْرٌ طَوِيلٌ · عَيْنَا</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هَا</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بُنِّيَّتَانِ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TB-L03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Physical description, possession and relative clauses.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describe height, hair and eyes in order.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he / she is wearing.</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hair and eyes agree correctly.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الَّذِي / الَّتِي</a:t>
            </a:r>
            <a:pPr algn="l" indent="0" marL="0">
              <a:buNone/>
            </a:pPr>
            <a:r>
              <a:rPr lang="en-US" sz="1300" b="1" dirty="0">
                <a:solidFill>
                  <a:srgbClr val="C9780A"/>
                </a:solidFill>
                <a:latin typeface="Calibri" pitchFamily="34" charset="0"/>
                <a:cs typeface="Amiri" pitchFamily="2" charset="-78"/>
              </a:rPr>
              <a:t> (the one who …).</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two people in a full, respectful portrait.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infer personality from behaviour (he seems … because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Height, hair and eyes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Clothes in a portrait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Style and personality detail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القَامَةُ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‎قامت / قد‎ </a:t>
            </a:r>
            <a:pPr indent="0" marL="0">
              <a:buNone/>
            </a:pPr>
            <a:r>
              <a:rPr lang="en-US" sz="950" b="1" dirty="0">
                <a:solidFill>
                  <a:srgbClr val="2E8B57"/>
                </a:solidFill>
                <a:latin typeface="Calibri" pitchFamily="34" charset="0"/>
                <a:cs typeface="Amiri" pitchFamily="2" charset="-78"/>
              </a:rPr>
              <a:t> qāmat · stature, height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شَكْلٌ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‎شکل‎ </a:t>
            </a:r>
            <a:pPr indent="0" marL="0">
              <a:buNone/>
            </a:pPr>
            <a:r>
              <a:rPr lang="en-US" sz="950" b="1" dirty="0">
                <a:solidFill>
                  <a:srgbClr val="2E8B57"/>
                </a:solidFill>
                <a:latin typeface="Calibri" pitchFamily="34" charset="0"/>
                <a:cs typeface="Amiri" pitchFamily="2" charset="-78"/>
              </a:rPr>
              <a:t> shakl · shape, appearance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لِبَاسٌ</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‎لباس‎ </a:t>
            </a:r>
            <a:pPr indent="0" marL="0">
              <a:buNone/>
            </a:pPr>
            <a:r>
              <a:rPr lang="en-US" sz="950" b="1" dirty="0">
                <a:solidFill>
                  <a:srgbClr val="2E8B57"/>
                </a:solidFill>
                <a:latin typeface="Calibri" pitchFamily="34" charset="0"/>
                <a:cs typeface="Amiri" pitchFamily="2" charset="-78"/>
              </a:rPr>
              <a:t> libās · clothing</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نَظَّارَةٌ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‎عینک‎ </a:t>
            </a:r>
            <a:pPr indent="0" marL="0">
              <a:buNone/>
            </a:pPr>
            <a:r>
              <a:rPr lang="en-US" sz="950" b="1" dirty="0">
                <a:solidFill>
                  <a:srgbClr val="2E8B57"/>
                </a:solidFill>
                <a:latin typeface="Calibri" pitchFamily="34" charset="0"/>
                <a:cs typeface="Amiri" pitchFamily="2" charset="-78"/>
              </a:rPr>
              <a:t> ainak · glasses (meaning only)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جِسْمِيَّةٌ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‎جسم‎ </a:t>
            </a:r>
            <a:pPr indent="0" marL="0">
              <a:buNone/>
            </a:pPr>
            <a:r>
              <a:rPr lang="en-US" sz="950" b="1" dirty="0">
                <a:solidFill>
                  <a:srgbClr val="2E8B57"/>
                </a:solidFill>
                <a:latin typeface="Calibri" pitchFamily="34" charset="0"/>
                <a:cs typeface="Amiri" pitchFamily="2" charset="-78"/>
              </a:rPr>
              <a:t> jism · body → physical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Height, hair and eyes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طَوِيلُ القَامَةِ / طَوِيلَةُ القَامَةِ</a:t>
            </a:r>
            <a:endParaRPr lang="ar-SA" sz="255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a:t>
            </a:r>
            <a:endParaRPr lang="en-US" sz="1350" dirty="0"/>
          </a:p>
          <a:p>
            <a:pPr indent="0" marL="0">
              <a:buNone/>
            </a:pPr>
            <a:r>
              <a:rPr lang="en-US" sz="1100" i="1" dirty="0">
                <a:solidFill>
                  <a:srgbClr val="5A6472"/>
                </a:solidFill>
                <a:latin typeface="Calibri" pitchFamily="34" charset="0"/>
                <a:cs typeface="Amiri" pitchFamily="2" charset="-78"/>
              </a:rPr>
              <a:t>ṭa-wī-lu al-qā-ma-ti / ṭa-wī-la-tu al-qā-ma-ti</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طَوِيلَةُ القَامَةِ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 القَامَةِ</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قَصِيرُ القَامَةِ / قَصِيرَةُ القَامَةِ</a:t>
            </a:r>
            <a:endParaRPr lang="ar-SA" sz="255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a:t>
            </a:r>
            <a:endParaRPr lang="en-US" sz="1350" dirty="0"/>
          </a:p>
          <a:p>
            <a:pPr indent="0" marL="0">
              <a:buNone/>
            </a:pPr>
            <a:r>
              <a:rPr lang="en-US" sz="1100" i="1" dirty="0">
                <a:solidFill>
                  <a:srgbClr val="5A6472"/>
                </a:solidFill>
                <a:latin typeface="Calibri" pitchFamily="34" charset="0"/>
                <a:cs typeface="Amiri" pitchFamily="2" charset="-78"/>
              </a:rPr>
              <a:t>qa-ṣī-ru al-qā-ma-ti / qa-ṣī-ra-tu al-qā-ma-ti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قَصِيرَةُ القَامَةِ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قَصِيرُ القَامَةِ</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ea typeface="Amiri" pitchFamily="2" charset="-78"/>
                <a:cs typeface="Amiri" pitchFamily="2" charset="-78"/>
              </a:rPr>
              <a:t>مُتَوَسِّطُ القَامَةِ / مُتَوَسِّطَةُ القَامَةِ</a:t>
            </a:r>
            <a:endParaRPr lang="ar-SA" sz="24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medium height</a:t>
            </a:r>
            <a:endParaRPr lang="en-US" sz="1350" dirty="0"/>
          </a:p>
          <a:p>
            <a:pPr indent="0" marL="0">
              <a:buNone/>
            </a:pPr>
            <a:r>
              <a:rPr lang="en-US" sz="1100" i="1" dirty="0">
                <a:solidFill>
                  <a:srgbClr val="5A6472"/>
                </a:solidFill>
                <a:latin typeface="Calibri" pitchFamily="34" charset="0"/>
                <a:cs typeface="Amiri" pitchFamily="2" charset="-78"/>
              </a:rPr>
              <a:t>mu-ta-was-si-ṭu al-qā-ma-ti / mu-ta-was-si-ṭa-tu al-qā-ma-ti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مُتَوَسِّطَةُ القَامَةِ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مُتَوَسِّطُ القَامَةِ</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طَوِيلٌ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hair</a:t>
            </a:r>
            <a:endParaRPr lang="en-US" sz="1350" dirty="0"/>
          </a:p>
          <a:p>
            <a:pPr indent="0" marL="0">
              <a:buNone/>
            </a:pPr>
            <a:r>
              <a:rPr lang="en-US" sz="1100" i="1" dirty="0">
                <a:solidFill>
                  <a:srgbClr val="5A6472"/>
                </a:solidFill>
                <a:latin typeface="Calibri" pitchFamily="34" charset="0"/>
                <a:cs typeface="Amiri" pitchFamily="2" charset="-78"/>
              </a:rPr>
              <a:t>shaʿ-run ṭa-wī-lun</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شَعْرُهَا طَوِيلٌ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 طَوِيلٌ</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قَصِيرٌ</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 hair</a:t>
            </a:r>
            <a:endParaRPr lang="en-US" sz="1350" dirty="0"/>
          </a:p>
          <a:p>
            <a:pPr indent="0" marL="0">
              <a:buNone/>
            </a:pPr>
            <a:r>
              <a:rPr lang="en-US" sz="1100" i="1" dirty="0">
                <a:solidFill>
                  <a:srgbClr val="5A6472"/>
                </a:solidFill>
                <a:latin typeface="Calibri" pitchFamily="34" charset="0"/>
                <a:cs typeface="Amiri" pitchFamily="2" charset="-78"/>
              </a:rPr>
              <a:t>shaʿ-run qa-ṣī-run</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شَعْرُهَا قَصِيرٌ</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 قَصِيرٌ</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مُجَعَّدٌ</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curly hair</a:t>
            </a:r>
            <a:endParaRPr lang="en-US" sz="1350" dirty="0"/>
          </a:p>
          <a:p>
            <a:pPr indent="0" marL="0">
              <a:buNone/>
            </a:pPr>
            <a:r>
              <a:rPr lang="en-US" sz="1100" i="1" dirty="0">
                <a:solidFill>
                  <a:srgbClr val="5A6472"/>
                </a:solidFill>
                <a:latin typeface="Calibri" pitchFamily="34" charset="0"/>
                <a:cs typeface="Amiri" pitchFamily="2" charset="-78"/>
              </a:rPr>
              <a:t>shaʿ-run mu-jaʿ-ʿa-dun</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شَعْرُهَا مُجَعَّدٌ</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 مُجَعَّدٌ</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Height, hair and eyes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his · her</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مُسْتَقِيمٌ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straight hair</a:t>
            </a:r>
            <a:endParaRPr lang="en-US" sz="1350" dirty="0"/>
          </a:p>
          <a:p>
            <a:pPr indent="0" marL="0">
              <a:buNone/>
            </a:pPr>
            <a:r>
              <a:rPr lang="en-US" sz="1100" i="1" dirty="0">
                <a:solidFill>
                  <a:srgbClr val="5A6472"/>
                </a:solidFill>
                <a:latin typeface="Calibri" pitchFamily="34" charset="0"/>
                <a:cs typeface="Amiri" pitchFamily="2" charset="-78"/>
              </a:rPr>
              <a:t>shaʿ-run mus-ta-qī-mun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her</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شَعْرُهَا مُسْتَقِيمٌ</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his</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شَعْرُهُ مُسْتَقِيمٌ</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one · two</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عَيْنَانِ بُنِّيَّتَانِ</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brown eyes</a:t>
            </a:r>
            <a:endParaRPr lang="en-US" sz="1350" dirty="0"/>
          </a:p>
          <a:p>
            <a:pPr indent="0" marL="0">
              <a:buNone/>
            </a:pPr>
            <a:r>
              <a:rPr lang="en-US" sz="1100" i="1" dirty="0">
                <a:solidFill>
                  <a:srgbClr val="5A6472"/>
                </a:solidFill>
                <a:latin typeface="Calibri" pitchFamily="34" charset="0"/>
                <a:cs typeface="Amiri" pitchFamily="2" charset="-78"/>
              </a:rPr>
              <a:t>ʿay-nā-ni bun-niy-ya-tā-ni</a:t>
            </a:r>
            <a:endParaRPr lang="en-US" sz="1350" dirty="0"/>
          </a:p>
        </p:txBody>
      </p:sp>
      <p:sp>
        <p:nvSpPr>
          <p:cNvPr id="39" name="Shape 36"/>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her eyes</a:t>
            </a:r>
            <a:endParaRPr lang="en-US" sz="700" dirty="0"/>
          </a:p>
        </p:txBody>
      </p:sp>
      <p:sp>
        <p:nvSpPr>
          <p:cNvPr id="41" name="Text 38"/>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عَيْنَاهَا</a:t>
            </a:r>
            <a:endParaRPr lang="ar-SA" sz="1350" dirty="0"/>
          </a:p>
        </p:txBody>
      </p:sp>
      <p:sp>
        <p:nvSpPr>
          <p:cNvPr id="42" name="Shape 39"/>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blue (2)</a:t>
            </a:r>
            <a:endParaRPr lang="en-US" sz="700" dirty="0"/>
          </a:p>
        </p:txBody>
      </p:sp>
      <p:sp>
        <p:nvSpPr>
          <p:cNvPr id="44" name="Text 41"/>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زَرْقَاوَانِ</a:t>
            </a:r>
            <a:endParaRPr lang="ar-SA" sz="1350" dirty="0"/>
          </a:p>
        </p:txBody>
      </p:sp>
      <p:sp>
        <p:nvSpPr>
          <p:cNvPr id="45" name="Shape 42"/>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7" name="Text 44"/>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عَيْنٌ بُنِّيَّةٌ</a:t>
            </a:r>
            <a:endParaRPr lang="ar-SA" sz="1500" dirty="0"/>
          </a:p>
        </p:txBody>
      </p:sp>
      <p:sp>
        <p:nvSpPr>
          <p:cNvPr id="48" name="Shape 4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1920240"/>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1" name="Shape 48"/>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3" name="Shape 50"/>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يَرْتَدِي نَظَّارَةً</a:t>
            </a:r>
            <a:endParaRPr lang="ar-SA" sz="3000" dirty="0"/>
          </a:p>
        </p:txBody>
      </p:sp>
      <p:sp>
        <p:nvSpPr>
          <p:cNvPr id="56" name="Text 53"/>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wears glasses</a:t>
            </a:r>
            <a:endParaRPr lang="en-US" sz="1350" dirty="0"/>
          </a:p>
          <a:p>
            <a:pPr indent="0" marL="0">
              <a:buNone/>
            </a:pPr>
            <a:r>
              <a:rPr lang="en-US" sz="1100" i="1" dirty="0">
                <a:solidFill>
                  <a:srgbClr val="5A6472"/>
                </a:solidFill>
                <a:latin typeface="Calibri" pitchFamily="34" charset="0"/>
                <a:cs typeface="Amiri" pitchFamily="2" charset="-78"/>
              </a:rPr>
              <a:t>yar-ta-dī naẓ-ẓā-ra-tan</a:t>
            </a:r>
            <a:endParaRPr lang="en-US" sz="1350" dirty="0"/>
          </a:p>
        </p:txBody>
      </p:sp>
      <p:sp>
        <p:nvSpPr>
          <p:cNvPr id="57" name="Shape 54"/>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نَظَّارَاتٌ</a:t>
            </a:r>
            <a:endParaRPr lang="ar-SA" sz="1500" dirty="0"/>
          </a:p>
        </p:txBody>
      </p:sp>
      <p:sp>
        <p:nvSpPr>
          <p:cNvPr id="60" name="Shape 57"/>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glasses</a:t>
            </a:r>
            <a:endParaRPr lang="en-US" sz="700" dirty="0"/>
          </a:p>
        </p:txBody>
      </p:sp>
      <p:sp>
        <p:nvSpPr>
          <p:cNvPr id="62" name="Text 59"/>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نَظَّارَةٌ</a:t>
            </a:r>
            <a:endParaRPr lang="ar-SA" sz="1350" dirty="0"/>
          </a:p>
        </p:txBody>
      </p:sp>
      <p:sp>
        <p:nvSpPr>
          <p:cNvPr id="63" name="Shape 60"/>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تَرْتَدِي</a:t>
            </a:r>
            <a:endParaRPr lang="ar-SA" sz="1500" dirty="0"/>
          </a:p>
        </p:txBody>
      </p:sp>
      <p:sp>
        <p:nvSpPr>
          <p:cNvPr id="66" name="Shape 6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8211312"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9" name="Shape 6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0" name="Text 6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1" name="Text 6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تَرْتَدِي نَظَّارَةً</a:t>
            </a:r>
            <a:endParaRPr lang="ar-SA" sz="3000" dirty="0"/>
          </a:p>
        </p:txBody>
      </p:sp>
      <p:sp>
        <p:nvSpPr>
          <p:cNvPr id="72" name="Text 6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she wears glasses</a:t>
            </a:r>
            <a:endParaRPr lang="en-US" sz="1350" dirty="0"/>
          </a:p>
          <a:p>
            <a:pPr indent="0" marL="0">
              <a:buNone/>
            </a:pPr>
            <a:r>
              <a:rPr lang="en-US" sz="1100" i="1" dirty="0">
                <a:solidFill>
                  <a:srgbClr val="5A6472"/>
                </a:solidFill>
                <a:latin typeface="Calibri" pitchFamily="34" charset="0"/>
                <a:cs typeface="Amiri" pitchFamily="2" charset="-78"/>
              </a:rPr>
              <a:t>tar-ta-dī naẓ-ẓā-ra-tan</a:t>
            </a:r>
            <a:endParaRPr lang="en-US" sz="135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6" name="Text 7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لَهُ لِحْيَةٌ</a:t>
            </a:r>
            <a:endParaRPr lang="ar-SA" sz="3000" dirty="0"/>
          </a:p>
        </p:txBody>
      </p:sp>
      <p:sp>
        <p:nvSpPr>
          <p:cNvPr id="77" name="Text 7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has a beard</a:t>
            </a:r>
            <a:endParaRPr lang="en-US" sz="1350" dirty="0"/>
          </a:p>
          <a:p>
            <a:pPr indent="0" marL="0">
              <a:buNone/>
            </a:pPr>
            <a:r>
              <a:rPr lang="en-US" sz="1100" i="1" dirty="0">
                <a:solidFill>
                  <a:srgbClr val="5A6472"/>
                </a:solidFill>
                <a:latin typeface="Calibri" pitchFamily="34" charset="0"/>
                <a:cs typeface="Amiri" pitchFamily="2" charset="-78"/>
              </a:rPr>
              <a:t>la-hu liḥ-ya-tun</a:t>
            </a:r>
            <a:endParaRPr lang="en-US" sz="1350" dirty="0"/>
          </a:p>
        </p:txBody>
      </p:sp>
      <p:sp>
        <p:nvSpPr>
          <p:cNvPr id="78" name="Shape 7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566928" y="4261104"/>
            <a:ext cx="310896" cy="310896"/>
          </a:xfrm>
          <a:prstGeom prst="ellipse">
            <a:avLst/>
          </a:prstGeom>
          <a:solidFill>
            <a:srgbClr val="F4F1EA"/>
          </a:solidFill>
          <a:ln w="12700">
            <a:solidFill>
              <a:srgbClr val="F4F1EA"/>
            </a:solidFill>
            <a:prstDash val="solid"/>
          </a:ln>
        </p:spPr>
      </p:sp>
      <p:sp>
        <p:nvSpPr>
          <p:cNvPr id="80" name="Text 7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1" name="Text 7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مَلَامِحُهُ هَادِئَةٌ</a:t>
            </a:r>
            <a:endParaRPr lang="ar-SA" sz="3000" dirty="0"/>
          </a:p>
        </p:txBody>
      </p:sp>
      <p:sp>
        <p:nvSpPr>
          <p:cNvPr id="82" name="Text 7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his features are calm</a:t>
            </a:r>
            <a:endParaRPr lang="en-US" sz="1350" dirty="0"/>
          </a:p>
          <a:p>
            <a:pPr indent="0" marL="0">
              <a:buNone/>
            </a:pPr>
            <a:r>
              <a:rPr lang="en-US" sz="1100" i="1" dirty="0">
                <a:solidFill>
                  <a:srgbClr val="5A6472"/>
                </a:solidFill>
                <a:latin typeface="Calibri" pitchFamily="34" charset="0"/>
                <a:cs typeface="Amiri" pitchFamily="2" charset="-78"/>
              </a:rPr>
              <a:t>ma-lā-mi-ḥu-hu hā-di-ʾa-tun</a:t>
            </a:r>
            <a:endParaRPr lang="en-US" sz="13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in a portrait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قَمِيصٌ</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shirt</a:t>
            </a:r>
            <a:endParaRPr lang="en-US" sz="1350" dirty="0"/>
          </a:p>
          <a:p>
            <a:pPr indent="0" marL="0">
              <a:buNone/>
            </a:pPr>
            <a:r>
              <a:rPr lang="en-US" sz="1100" i="1" dirty="0">
                <a:solidFill>
                  <a:srgbClr val="5A6472"/>
                </a:solidFill>
                <a:latin typeface="Calibri" pitchFamily="34" charset="0"/>
                <a:cs typeface="Amiri" pitchFamily="2" charset="-78"/>
              </a:rPr>
              <a:t>qa-mī-ṣun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قُمْصَانٌ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القَمِيصُ</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قَمِيصَةٌ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blouse</a:t>
            </a:r>
            <a:endParaRPr lang="en-US" sz="1350" dirty="0"/>
          </a:p>
          <a:p>
            <a:pPr indent="0" marL="0">
              <a:buNone/>
            </a:pPr>
            <a:r>
              <a:rPr lang="en-US" sz="1100" i="1" dirty="0">
                <a:solidFill>
                  <a:srgbClr val="5A6472"/>
                </a:solidFill>
                <a:latin typeface="Calibri" pitchFamily="34" charset="0"/>
                <a:cs typeface="Amiri" pitchFamily="2" charset="-78"/>
              </a:rPr>
              <a:t>qa-mī-ṣa-tun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قَمِيصَاتٌ</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القَمِيصَةُ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سِرْوَالٌ</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trousers</a:t>
            </a:r>
            <a:endParaRPr lang="en-US" sz="1350" dirty="0"/>
          </a:p>
          <a:p>
            <a:pPr indent="0" marL="0">
              <a:buNone/>
            </a:pPr>
            <a:r>
              <a:rPr lang="en-US" sz="1100" i="1" dirty="0">
                <a:solidFill>
                  <a:srgbClr val="5A6472"/>
                </a:solidFill>
                <a:latin typeface="Calibri" pitchFamily="34" charset="0"/>
                <a:cs typeface="Amiri" pitchFamily="2" charset="-78"/>
              </a:rPr>
              <a:t>sir-wā-lun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سَرَاوِيلُ</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السِّرْوَالُ</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تَنُّورَةٌ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skirt</a:t>
            </a:r>
            <a:endParaRPr lang="en-US" sz="1350" dirty="0"/>
          </a:p>
          <a:p>
            <a:pPr indent="0" marL="0">
              <a:buNone/>
            </a:pPr>
            <a:r>
              <a:rPr lang="en-US" sz="1100" i="1" dirty="0">
                <a:solidFill>
                  <a:srgbClr val="5A6472"/>
                </a:solidFill>
                <a:latin typeface="Calibri" pitchFamily="34" charset="0"/>
                <a:cs typeface="Amiri" pitchFamily="2" charset="-78"/>
              </a:rPr>
              <a:t>tan-nū-ra-tun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تَنَانِيرُ</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التَّنُّورَةُ</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فُسْتَانٌ</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dress</a:t>
            </a:r>
            <a:endParaRPr lang="en-US" sz="1350" dirty="0"/>
          </a:p>
          <a:p>
            <a:pPr indent="0" marL="0">
              <a:buNone/>
            </a:pPr>
            <a:r>
              <a:rPr lang="en-US" sz="1100" i="1" dirty="0">
                <a:solidFill>
                  <a:srgbClr val="5A6472"/>
                </a:solidFill>
                <a:latin typeface="Calibri" pitchFamily="34" charset="0"/>
                <a:cs typeface="Amiri" pitchFamily="2" charset="-78"/>
              </a:rPr>
              <a:t>fus-tā-nun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فَسَاتِينُ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3" name="Text 90"/>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الفُسْتَانُ</a:t>
            </a:r>
            <a:endParaRPr lang="ar-SA" sz="135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Clothes in a portrait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0" name="Shape 17"/>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مِعْطَفٌ</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coat</a:t>
            </a:r>
            <a:endParaRPr lang="en-US" sz="1350" dirty="0"/>
          </a:p>
          <a:p>
            <a:pPr indent="0" marL="0">
              <a:buNone/>
            </a:pPr>
            <a:r>
              <a:rPr lang="en-US" sz="1100" i="1" dirty="0">
                <a:solidFill>
                  <a:srgbClr val="5A6472"/>
                </a:solidFill>
                <a:latin typeface="Calibri" pitchFamily="34" charset="0"/>
                <a:cs typeface="Amiri" pitchFamily="2" charset="-78"/>
              </a:rPr>
              <a:t>miʿ-ṭa-fun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مَعَاطِفُ</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المِعْطَفُ</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6" name="Shape 33"/>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سُتْرَةٌ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jacket</a:t>
            </a:r>
            <a:endParaRPr lang="en-US" sz="1350" dirty="0"/>
          </a:p>
          <a:p>
            <a:pPr indent="0" marL="0">
              <a:buNone/>
            </a:pPr>
            <a:r>
              <a:rPr lang="en-US" sz="1100" i="1" dirty="0">
                <a:solidFill>
                  <a:srgbClr val="5A6472"/>
                </a:solidFill>
                <a:latin typeface="Calibri" pitchFamily="34" charset="0"/>
                <a:cs typeface="Amiri" pitchFamily="2" charset="-78"/>
              </a:rPr>
              <a:t>sut-ra-tun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سُتَرٌ</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45" name="Text 42"/>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السُّتْرَةُ</a:t>
            </a:r>
            <a:endParaRPr lang="ar-SA" sz="135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52" name="Shape 49"/>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حِذَاءٌ</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shoes</a:t>
            </a:r>
            <a:endParaRPr lang="en-US" sz="1350" dirty="0"/>
          </a:p>
          <a:p>
            <a:pPr indent="0" marL="0">
              <a:buNone/>
            </a:pPr>
            <a:r>
              <a:rPr lang="en-US" sz="1100" i="1" dirty="0">
                <a:solidFill>
                  <a:srgbClr val="5A6472"/>
                </a:solidFill>
                <a:latin typeface="Calibri" pitchFamily="34" charset="0"/>
                <a:cs typeface="Amiri" pitchFamily="2" charset="-78"/>
              </a:rPr>
              <a:t>ḥi-dhā-ʾun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أَحْذِيَةٌ</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61" name="Text 58"/>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الحِذَاءُ</a:t>
            </a:r>
            <a:endParaRPr lang="ar-SA" sz="135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8" name="Shape 6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حِجَابٌ</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headscarf</a:t>
            </a:r>
            <a:endParaRPr lang="en-US" sz="1350" dirty="0"/>
          </a:p>
          <a:p>
            <a:pPr indent="0" marL="0">
              <a:buNone/>
            </a:pPr>
            <a:r>
              <a:rPr lang="en-US" sz="1100" i="1" dirty="0">
                <a:solidFill>
                  <a:srgbClr val="5A6472"/>
                </a:solidFill>
                <a:latin typeface="Calibri" pitchFamily="34" charset="0"/>
                <a:cs typeface="Amiri" pitchFamily="2" charset="-78"/>
              </a:rPr>
              <a:t>ḥi-jā-bun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أَحْجِبَةٌ</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77" name="Text 74"/>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هٰذَا الحِجَابُ</a:t>
            </a:r>
            <a:endParaRPr lang="ar-SA" sz="135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مُذَكَّرٌ</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84" name="Shape 8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قُبَّعَةٌ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hat</a:t>
            </a:r>
            <a:endParaRPr lang="en-US" sz="1350" dirty="0"/>
          </a:p>
          <a:p>
            <a:pPr indent="0" marL="0">
              <a:buNone/>
            </a:pPr>
            <a:r>
              <a:rPr lang="en-US" sz="1100" i="1" dirty="0">
                <a:solidFill>
                  <a:srgbClr val="5A6472"/>
                </a:solidFill>
                <a:latin typeface="Calibri" pitchFamily="34" charset="0"/>
                <a:cs typeface="Amiri" pitchFamily="2" charset="-78"/>
              </a:rPr>
              <a:t>qub-ba-ʿa-tun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قُبَّعَاتٌ</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this</a:t>
            </a:r>
            <a:endParaRPr lang="en-US" sz="700" dirty="0"/>
          </a:p>
        </p:txBody>
      </p:sp>
      <p:sp>
        <p:nvSpPr>
          <p:cNvPr id="93" name="Text 90"/>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هٰذِهِ القُبَّعَةُ</a:t>
            </a:r>
            <a:endParaRPr lang="ar-SA" sz="135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مُؤَنَّثٌ</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Style and personality detail (1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a:t>
            </a:r>
            <a:endParaRPr lang="ar-SA" sz="150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Style and personality detail (2 of 2)</a:t>
            </a:r>
            <a:endParaRPr lang="en-US" sz="26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رَسْمِيٍّ / غَيْرُ رَسْمِيَّةٍ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مُحْتَشِمٌ / مُحْتَشِمَةٌ</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37" name="Shape 34"/>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9" name="Text 36"/>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مُحْتَشِمُونَ</a:t>
            </a:r>
            <a:endParaRPr lang="ar-SA" sz="1500" dirty="0"/>
          </a:p>
        </p:txBody>
      </p:sp>
      <p:sp>
        <p:nvSpPr>
          <p:cNvPr id="40" name="Shape 37"/>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2" name="Text 39"/>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مُحْتَشِمَةٌ</a:t>
            </a:r>
            <a:endParaRPr lang="ar-SA" sz="1500" dirty="0"/>
          </a:p>
        </p:txBody>
      </p:sp>
      <p:sp>
        <p:nvSpPr>
          <p:cNvPr id="43" name="Shape 40"/>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5" name="Text 42"/>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a:t>
            </a:r>
            <a:endParaRPr lang="ar-SA" sz="1500" dirty="0"/>
          </a:p>
        </p:txBody>
      </p:sp>
      <p:sp>
        <p:nvSpPr>
          <p:cNvPr id="46" name="Shape 4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66928" y="1920240"/>
            <a:ext cx="310896" cy="310896"/>
          </a:xfrm>
          <a:prstGeom prst="ellipse">
            <a:avLst/>
          </a:prstGeom>
          <a:solidFill>
            <a:srgbClr val="F4F1EA"/>
          </a:solidFill>
          <a:ln w="12700">
            <a:solidFill>
              <a:srgbClr val="F4F1EA"/>
            </a:solidFill>
            <a:prstDash val="solid"/>
          </a:ln>
        </p:spPr>
      </p:sp>
      <p:sp>
        <p:nvSpPr>
          <p:cNvPr id="48" name="Text 4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49" name="Shape 46"/>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1" name="Text 48"/>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مُلَوَّنٌ / مُلَوَّنَةٌ</a:t>
            </a:r>
            <a:endParaRPr lang="ar-SA" sz="3000" dirty="0"/>
          </a:p>
        </p:txBody>
      </p:sp>
      <p:sp>
        <p:nvSpPr>
          <p:cNvPr id="52" name="Text 49"/>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53" name="Shape 50"/>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5" name="Text 52"/>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مُلَوَّنَةٌ</a:t>
            </a:r>
            <a:endParaRPr lang="ar-SA" sz="1500" dirty="0"/>
          </a:p>
        </p:txBody>
      </p:sp>
      <p:sp>
        <p:nvSpPr>
          <p:cNvPr id="56" name="Shape 53"/>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مُلَوَّنَةٌ</a:t>
            </a:r>
            <a:endParaRPr lang="ar-SA" sz="1500" dirty="0"/>
          </a:p>
        </p:txBody>
      </p:sp>
      <p:sp>
        <p:nvSpPr>
          <p:cNvPr id="59" name="Shape 56"/>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1" name="Text 58"/>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65" name="Shape 6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بَسِيطٌ / بَسِيطَةٌ</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69" name="Shape 66"/>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1" name="Text 68"/>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بُسَطَاءُ</a:t>
            </a:r>
            <a:endParaRPr lang="ar-SA" sz="1500" dirty="0"/>
          </a:p>
        </p:txBody>
      </p:sp>
      <p:sp>
        <p:nvSpPr>
          <p:cNvPr id="72" name="Shape 69"/>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4" name="Text 71"/>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بَسِيطَةٌ</a:t>
            </a:r>
            <a:endParaRPr lang="ar-SA" sz="1500" dirty="0"/>
          </a:p>
        </p:txBody>
      </p:sp>
      <p:sp>
        <p:nvSpPr>
          <p:cNvPr id="75" name="Shape 72"/>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7" name="Text 74"/>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a:t>
            </a:r>
            <a:endParaRPr lang="ar-SA" sz="150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cs typeface="Amiri" pitchFamily="2" charset="-78"/>
              </a:rPr>
              <a:t>GRAMMAR FOCUS · PART 1 · THE PORTRAIT IN ORDER: HE VS SHE (WEBSITE RULES + TABLE)</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Height → hair → eyes → clothes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450" b="1" dirty="0">
                <a:solidFill>
                  <a:srgbClr val="8A6D1E"/>
                </a:solidFill>
                <a:latin typeface="Amiri" pitchFamily="2" charset="-78"/>
                <a:ea typeface="Amiri" pitchFamily="2" charset="-78"/>
                <a:cs typeface="Amiri" pitchFamily="2" charset="-78"/>
              </a:rPr>
              <a:t>القَامَةُ ← الشَّعْرُ ← العَيْنَانِ ← المَلَابِسُ</a:t>
            </a:r>
            <a:endParaRPr lang="ar-SA" sz="24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72984"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7" name="Text 14"/>
          <p:cNvSpPr txBox="1"/>
          <p:nvPr/>
        </p:nvSpPr>
        <p:spPr>
          <a:xfrm>
            <a:off x="375818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Step</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91272" y="2267712"/>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 طَوِيلُ القَامَةِ.</a:t>
            </a:r>
            <a:endParaRPr lang="ar-SA" sz="2400" dirty="0"/>
          </a:p>
        </p:txBody>
      </p:sp>
      <p:sp>
        <p:nvSpPr>
          <p:cNvPr id="21" name="Text 18"/>
          <p:cNvSpPr txBox="1"/>
          <p:nvPr/>
        </p:nvSpPr>
        <p:spPr>
          <a:xfrm>
            <a:off x="3776472" y="2267712"/>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هِيَ طَوِيلَ</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pPr rtl="1" algn="ctr" indent="0" marL="0">
              <a:buNone/>
            </a:pPr>
            <a:r>
              <a:rPr lang="ar-SA" altLang="en-US" sz="2400" b="1" dirty="0">
                <a:solidFill>
                  <a:srgbClr val="1B3B6F"/>
                </a:solidFill>
                <a:latin typeface="Amiri" pitchFamily="2" charset="-78"/>
                <a:ea typeface="Amiri" pitchFamily="2" charset="-78"/>
                <a:cs typeface="Amiri" pitchFamily="2" charset="-78"/>
              </a:rPr>
              <a:t> القَامَةِ.</a:t>
            </a:r>
            <a:endParaRPr lang="ar-SA" sz="2400" dirty="0"/>
          </a:p>
        </p:txBody>
      </p:sp>
      <p:sp>
        <p:nvSpPr>
          <p:cNvPr id="22" name="Text 19"/>
          <p:cNvSpPr txBox="1"/>
          <p:nvPr/>
        </p:nvSpPr>
        <p:spPr>
          <a:xfrm>
            <a:off x="566928" y="2267712"/>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height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891272" y="300471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لَهُ</a:t>
            </a:r>
            <a:pPr rtl="1" algn="ctr" indent="0" marL="0">
              <a:buNone/>
            </a:pPr>
            <a:r>
              <a:rPr lang="ar-SA" altLang="en-US" sz="2400" b="1" dirty="0">
                <a:solidFill>
                  <a:srgbClr val="1B3B6F"/>
                </a:solidFill>
                <a:latin typeface="Amiri" pitchFamily="2" charset="-78"/>
                <a:ea typeface="Amiri" pitchFamily="2" charset="-78"/>
                <a:cs typeface="Amiri" pitchFamily="2" charset="-78"/>
              </a:rPr>
              <a:t> شَعْرٌ قَصِيرٌ وَمُجَعَّدٌ.</a:t>
            </a:r>
            <a:endParaRPr lang="ar-SA" sz="2400" dirty="0"/>
          </a:p>
        </p:txBody>
      </p:sp>
      <p:sp>
        <p:nvSpPr>
          <p:cNvPr id="27" name="Text 24"/>
          <p:cNvSpPr txBox="1"/>
          <p:nvPr/>
        </p:nvSpPr>
        <p:spPr>
          <a:xfrm>
            <a:off x="3776472" y="300471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لَهَا</a:t>
            </a:r>
            <a:pPr rtl="1" algn="ctr" indent="0" marL="0">
              <a:buNone/>
            </a:pPr>
            <a:r>
              <a:rPr lang="ar-SA" altLang="en-US" sz="2400" b="1" dirty="0">
                <a:solidFill>
                  <a:srgbClr val="1B3B6F"/>
                </a:solidFill>
                <a:latin typeface="Amiri" pitchFamily="2" charset="-78"/>
                <a:ea typeface="Amiri" pitchFamily="2" charset="-78"/>
                <a:cs typeface="Amiri" pitchFamily="2" charset="-78"/>
              </a:rPr>
              <a:t> شَعْرٌ طَوِيلٌ مُسْتَقِيمٌ.</a:t>
            </a:r>
            <a:endParaRPr lang="ar-SA" sz="2400" dirty="0"/>
          </a:p>
        </p:txBody>
      </p:sp>
      <p:sp>
        <p:nvSpPr>
          <p:cNvPr id="28" name="Text 25"/>
          <p:cNvSpPr txBox="1"/>
          <p:nvPr/>
        </p:nvSpPr>
        <p:spPr>
          <a:xfrm>
            <a:off x="566928" y="300471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hair (he / she has)</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891272" y="3741725"/>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شَعْرُ</a:t>
            </a:r>
            <a:pPr rtl="1" algn="ctr" indent="0" marL="0">
              <a:buNone/>
            </a:pPr>
            <a:r>
              <a:rPr lang="ar-SA" altLang="en-US" sz="2400" b="1" dirty="0">
                <a:solidFill>
                  <a:srgbClr val="1D5FBF"/>
                </a:solidFill>
                <a:latin typeface="Amiri" pitchFamily="2" charset="-78"/>
                <a:ea typeface="Amiri" pitchFamily="2" charset="-78"/>
                <a:cs typeface="Amiri" pitchFamily="2" charset="-78"/>
              </a:rPr>
              <a:t>هُ</a:t>
            </a:r>
            <a:pPr rtl="1" algn="ctr" indent="0" marL="0">
              <a:buNone/>
            </a:pPr>
            <a:r>
              <a:rPr lang="ar-SA" altLang="en-US" sz="2400" b="1" dirty="0">
                <a:solidFill>
                  <a:srgbClr val="1B3B6F"/>
                </a:solidFill>
                <a:latin typeface="Amiri" pitchFamily="2" charset="-78"/>
                <a:ea typeface="Amiri" pitchFamily="2" charset="-78"/>
                <a:cs typeface="Amiri" pitchFamily="2" charset="-78"/>
              </a:rPr>
              <a:t> قَصِيرٌ.</a:t>
            </a:r>
            <a:endParaRPr lang="ar-SA" sz="2400" dirty="0"/>
          </a:p>
        </p:txBody>
      </p:sp>
      <p:sp>
        <p:nvSpPr>
          <p:cNvPr id="33" name="Text 30"/>
          <p:cNvSpPr txBox="1"/>
          <p:nvPr/>
        </p:nvSpPr>
        <p:spPr>
          <a:xfrm>
            <a:off x="3776472" y="3741725"/>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شَعْرُ</a:t>
            </a:r>
            <a:pPr rtl="1" algn="ctr" indent="0" marL="0">
              <a:buNone/>
            </a:pPr>
            <a:r>
              <a:rPr lang="ar-SA" altLang="en-US" sz="2400" b="1" dirty="0">
                <a:solidFill>
                  <a:srgbClr val="D6336C"/>
                </a:solidFill>
                <a:latin typeface="Amiri" pitchFamily="2" charset="-78"/>
                <a:ea typeface="Amiri" pitchFamily="2" charset="-78"/>
                <a:cs typeface="Amiri" pitchFamily="2" charset="-78"/>
              </a:rPr>
              <a:t>هَا</a:t>
            </a:r>
            <a:pPr rtl="1" algn="ctr" indent="0" marL="0">
              <a:buNone/>
            </a:pPr>
            <a:r>
              <a:rPr lang="ar-SA" altLang="en-US" sz="2400" b="1" dirty="0">
                <a:solidFill>
                  <a:srgbClr val="1B3B6F"/>
                </a:solidFill>
                <a:latin typeface="Amiri" pitchFamily="2" charset="-78"/>
                <a:ea typeface="Amiri" pitchFamily="2" charset="-78"/>
                <a:cs typeface="Amiri" pitchFamily="2" charset="-78"/>
              </a:rPr>
              <a:t> طَوِيلٌ.</a:t>
            </a:r>
            <a:endParaRPr lang="ar-SA" sz="2400" dirty="0"/>
          </a:p>
        </p:txBody>
      </p:sp>
      <p:sp>
        <p:nvSpPr>
          <p:cNvPr id="34" name="Text 31"/>
          <p:cNvSpPr txBox="1"/>
          <p:nvPr/>
        </p:nvSpPr>
        <p:spPr>
          <a:xfrm>
            <a:off x="566928" y="3741725"/>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his / her hair (masc. adjective!)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891272" y="4478731"/>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عَيْنَا</a:t>
            </a:r>
            <a:pPr rtl="1" algn="ctr" indent="0" marL="0">
              <a:buNone/>
            </a:pPr>
            <a:r>
              <a:rPr lang="ar-SA" altLang="en-US" sz="2400" b="1" dirty="0">
                <a:solidFill>
                  <a:srgbClr val="1D5FBF"/>
                </a:solidFill>
                <a:latin typeface="Amiri" pitchFamily="2" charset="-78"/>
                <a:ea typeface="Amiri" pitchFamily="2" charset="-78"/>
                <a:cs typeface="Amiri" pitchFamily="2" charset="-78"/>
              </a:rPr>
              <a:t>هُ</a:t>
            </a:r>
            <a:pPr rtl="1" algn="ctr" indent="0" marL="0">
              <a:buNone/>
            </a:pPr>
            <a:r>
              <a:rPr lang="ar-SA" altLang="en-US" sz="2400" b="1" dirty="0">
                <a:solidFill>
                  <a:srgbClr val="1B3B6F"/>
                </a:solidFill>
                <a:latin typeface="Amiri" pitchFamily="2" charset="-78"/>
                <a:ea typeface="Amiri" pitchFamily="2" charset="-78"/>
                <a:cs typeface="Amiri" pitchFamily="2" charset="-78"/>
              </a:rPr>
              <a:t> زَرْقَا</a:t>
            </a:r>
            <a:pPr rtl="1" algn="ctr" indent="0" marL="0">
              <a:buNone/>
            </a:pPr>
            <a:r>
              <a:rPr lang="ar-SA" altLang="en-US" sz="2400" b="1" dirty="0">
                <a:solidFill>
                  <a:srgbClr val="0E7C86"/>
                </a:solidFill>
                <a:latin typeface="Amiri" pitchFamily="2" charset="-78"/>
                <a:ea typeface="Amiri" pitchFamily="2" charset="-78"/>
                <a:cs typeface="Amiri" pitchFamily="2" charset="-78"/>
              </a:rPr>
              <a:t>وَانِ</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39" name="Text 36"/>
          <p:cNvSpPr txBox="1"/>
          <p:nvPr/>
        </p:nvSpPr>
        <p:spPr>
          <a:xfrm>
            <a:off x="3776472" y="4478731"/>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عَيْنَا</a:t>
            </a:r>
            <a:pPr rtl="1" algn="ctr" indent="0" marL="0">
              <a:buNone/>
            </a:pPr>
            <a:r>
              <a:rPr lang="ar-SA" altLang="en-US" sz="2400" b="1" dirty="0">
                <a:solidFill>
                  <a:srgbClr val="D6336C"/>
                </a:solidFill>
                <a:latin typeface="Amiri" pitchFamily="2" charset="-78"/>
                <a:ea typeface="Amiri" pitchFamily="2" charset="-78"/>
                <a:cs typeface="Amiri" pitchFamily="2" charset="-78"/>
              </a:rPr>
              <a:t>هَا</a:t>
            </a:r>
            <a:pPr rtl="1" algn="ctr" indent="0" marL="0">
              <a:buNone/>
            </a:pPr>
            <a:r>
              <a:rPr lang="ar-SA" altLang="en-US" sz="2400" b="1" dirty="0">
                <a:solidFill>
                  <a:srgbClr val="1B3B6F"/>
                </a:solidFill>
                <a:latin typeface="Amiri" pitchFamily="2" charset="-78"/>
                <a:ea typeface="Amiri" pitchFamily="2" charset="-78"/>
                <a:cs typeface="Amiri" pitchFamily="2" charset="-78"/>
              </a:rPr>
              <a:t> بُنِّيَّتَ</a:t>
            </a:r>
            <a:pPr rtl="1" algn="ctr" indent="0" marL="0">
              <a:buNone/>
            </a:pPr>
            <a:r>
              <a:rPr lang="ar-SA" altLang="en-US" sz="2400" b="1" dirty="0">
                <a:solidFill>
                  <a:srgbClr val="0E7C86"/>
                </a:solidFill>
                <a:latin typeface="Amiri" pitchFamily="2" charset="-78"/>
                <a:ea typeface="Amiri" pitchFamily="2" charset="-78"/>
                <a:cs typeface="Amiri" pitchFamily="2" charset="-78"/>
              </a:rPr>
              <a:t>انِ</a:t>
            </a:r>
            <a:pPr rtl="1" algn="ctr" indent="0" marL="0">
              <a:buNone/>
            </a:pPr>
            <a:r>
              <a:rPr lang="ar-SA" altLang="en-US" sz="2400" b="1" dirty="0">
                <a:solidFill>
                  <a:srgbClr val="1B3B6F"/>
                </a:solidFill>
                <a:latin typeface="Amiri" pitchFamily="2" charset="-78"/>
                <a:cs typeface="Amiri" pitchFamily="2" charset="-78"/>
              </a:rPr>
              <a:t>.</a:t>
            </a:r>
            <a:endParaRPr lang="ar-SA" sz="2400" dirty="0"/>
          </a:p>
        </p:txBody>
      </p:sp>
      <p:sp>
        <p:nvSpPr>
          <p:cNvPr id="40" name="Text 37"/>
          <p:cNvSpPr txBox="1"/>
          <p:nvPr/>
        </p:nvSpPr>
        <p:spPr>
          <a:xfrm>
            <a:off x="566928" y="4478731"/>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eyes (two, feminine)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891272" y="5215738"/>
            <a:ext cx="37490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يَرْتَدِي نَظَّارَةً وَقَمِيصًا أَبْيَضَ.</a:t>
            </a:r>
            <a:endParaRPr lang="ar-SA" sz="2400" dirty="0"/>
          </a:p>
        </p:txBody>
      </p:sp>
      <p:sp>
        <p:nvSpPr>
          <p:cNvPr id="43" name="Text 40"/>
          <p:cNvSpPr txBox="1"/>
          <p:nvPr/>
        </p:nvSpPr>
        <p:spPr>
          <a:xfrm>
            <a:off x="3776472" y="5215738"/>
            <a:ext cx="39319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تَرْتَدِي حِجَابًا أَزْرَقَ.</a:t>
            </a:r>
            <a:endParaRPr lang="ar-SA" sz="2400" dirty="0"/>
          </a:p>
        </p:txBody>
      </p:sp>
      <p:sp>
        <p:nvSpPr>
          <p:cNvPr id="44" name="Text 41"/>
          <p:cNvSpPr txBox="1"/>
          <p:nvPr/>
        </p:nvSpPr>
        <p:spPr>
          <a:xfrm>
            <a:off x="566928" y="5215738"/>
            <a:ext cx="30449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clothes (-an after “wears”)</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rule: organise the details and avoid judgemental language — describe, don’t judge.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1B3B6F"/>
                </a:solidFill>
                <a:latin typeface="Calibri" pitchFamily="34" charset="0"/>
                <a:cs typeface="Amiri" pitchFamily="2" charset="-78"/>
              </a:rPr>
              <a:t>GRAMMAR FOCUS · PART 2 · THE ONE WHO … (WEBSITE RULE) · DEVELOP / STRETCH</a:t>
            </a:r>
            <a:endParaRPr lang="en-US" sz="96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who in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الَّذِي · الَّتِي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773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MASCULINE · DEVELOP</a:t>
            </a:r>
            <a:endParaRPr lang="en-US" sz="850" dirty="0"/>
          </a:p>
        </p:txBody>
      </p:sp>
      <p:sp>
        <p:nvSpPr>
          <p:cNvPr id="18" name="Text 15"/>
          <p:cNvSpPr txBox="1"/>
          <p:nvPr/>
        </p:nvSpPr>
        <p:spPr>
          <a:xfrm>
            <a:off x="9855708"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الَّذِي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هُوَ الشَّابُّ الَّذِي يَرْتَدِي نَظَّارَةً.</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the young man who wears glasses.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Man / boy → alladhī + ya-.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B83227"/>
          </a:solidFill>
          <a:ln w="12700">
            <a:solidFill>
              <a:srgbClr val="B83227"/>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FEMININE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الَّتِي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هِيَ الفَتَاةُ الَّتِي لَهَا شَعْرٌ طَوِيلٌ.</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She is the girl who has long hair.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Woman / girl → allatī.</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INFERENCE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يَبْدُو / تَبْدُو</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يَبْدُو هَادِئًا لِأَنَّهُ يَسْتَمِعُ إِلَى الآخَرِينَ.</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seems calm because he listens to others.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Behaviour, not looks.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error: a masculine person takes alladhī.</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الوَلَدُ الَّذِي يَرْتَدِي نَظَّارَةً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الوَلَدُ الَّتِي تَرْتَدِي نَظَّارَةً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00" b="1" dirty="0">
                <a:solidFill>
                  <a:srgbClr val="1B3B6F"/>
                </a:solidFill>
                <a:latin typeface="Cambria" pitchFamily="34" charset="0"/>
                <a:cs typeface="Amiri" pitchFamily="2" charset="-78"/>
              </a:rPr>
              <a:t>Physical description, possession and relative clauses</a:t>
            </a:r>
            <a:endParaRPr lang="en-US" sz="1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2" charset="-78"/>
                <a:ea typeface="Amiri" pitchFamily="2" charset="-78"/>
                <a:cs typeface="Amiri" pitchFamily="2" charset="-78"/>
              </a:rPr>
              <a:t>وَصْفُ المَظْهَرِ وَالمِلْكِيَّةُ وَالجُمَلُ المَوْصُولَةُ</a:t>
            </a:r>
            <a:endParaRPr lang="ar-SA" sz="23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Possession with </a:t>
            </a:r>
            <a:pPr algn="l" indent="0" marL="0">
              <a:buNone/>
            </a:pPr>
            <a:r>
              <a:rPr lang="ar-SA" altLang="en-US" sz="1650" b="1" dirty="0">
                <a:solidFill>
                  <a:srgbClr val="1B3B6F"/>
                </a:solidFill>
                <a:latin typeface="Amiri" pitchFamily="2" charset="-78"/>
                <a:ea typeface="Amiri" pitchFamily="2" charset="-78"/>
                <a:cs typeface="Amiri" pitchFamily="2" charset="-78"/>
              </a:rPr>
              <a:t>لَهُ / لَهَا</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لَهُ / لَهَا + اِسْمٌ</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لَهُ شَعْرٌ قَصِيرٌ.   ·   لَهَا عَيْنَانِ بُنِّيَّتَانِ.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Body-feature agreement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اِسْمٌ + صِفَةٌ مُطَابِقَةٌ</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شَعْرُهَا طَوِيلٌ وَمُجَعَّدٌ.   ·   عَيْنَاهُ زَرْقَاوَانِ.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Relative clause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الشَّخْصُ الَّذِي / الفَتَاةُ الَّتِي</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هُوَ الشَّخْصُ الَّذِي يَرْتَدِي نَظَّارَةً.   ·   هِيَ الفَتَاةُ الَّتِي لَهَا شَعْرٌ طَوِيلٌ.</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Respectful portrait order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القَامَةُ ← الشَّعْرُ ← العَيْنَانِ ← المَلَابِسُ</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هِيَ مُتَوَسِّطَةُ القَامَةِ، وَلَهَا شَعْرٌ قَصِيرٌ، وَتَرْتَدِي مِعْطَفًا أَزْرَقَ.</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طَوِيلَةٌ.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شَعْرُهَا طَوِيلَةٌ.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شَعْرٌ طَوِيلٌ.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الَّذِي يَرْتَدِي نَظَّارَةً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الَّتِي تَرْتَدِي نَظَّارَةً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البِنْتُ الَّذِي يَرْتَدِي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عَيْنَاهَا ___.</a:t>
            </a:r>
            <a:endParaRPr lang="ar-SA" sz="15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بُنِّيَّتَانِ</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 قَصِيرٌ وَمُجَعَّدٌ.</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 قَصِيرَةٌ وَمُجَعَّدَةٌ.</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شَعْرُهَا قَصِيرًا.</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شَعْرٌ طَوِيلَةٌ.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شَعْرُهَا طَوِيلَةٌ.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لَهَا شَعْرٌ طَوِيلٌ.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لَهَا</a:t>
            </a:r>
            <a:pPr algn="l" indent="0" marL="0">
              <a:buNone/>
            </a:pPr>
            <a:r>
              <a:rPr lang="en-US" sz="1050" i="1" dirty="0">
                <a:solidFill>
                  <a:srgbClr val="8A6D1E"/>
                </a:solidFill>
                <a:latin typeface="Calibri" pitchFamily="34" charset="0"/>
                <a:cs typeface="Amiri" pitchFamily="2" charset="-78"/>
              </a:rPr>
              <a:t> + masculine </a:t>
            </a:r>
            <a:pPr algn="l" indent="0" marL="0">
              <a:buNone/>
            </a:pPr>
            <a:r>
              <a:rPr lang="ar-SA" altLang="en-US" sz="1350" dirty="0">
                <a:solidFill>
                  <a:srgbClr val="8A6D1E"/>
                </a:solidFill>
                <a:latin typeface="Amiri" pitchFamily="2" charset="-78"/>
                <a:ea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طَوِيلٌ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الوَلَدُ الَّذِي يَرْتَدِي نَظَّارَةً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الوَلَدُ الَّتِي تَرْتَدِي نَظَّارَةً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البِنْتُ الَّذِي يَرْتَدِي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antecedent takes </a:t>
            </a:r>
            <a:pPr algn="l" indent="0" marL="0">
              <a:buNone/>
            </a:pPr>
            <a:r>
              <a:rPr lang="ar-SA" altLang="en-US" sz="1350" dirty="0">
                <a:solidFill>
                  <a:srgbClr val="8A6D1E"/>
                </a:solidFill>
                <a:latin typeface="Amiri" pitchFamily="2" charset="-78"/>
                <a:ea typeface="Amiri" pitchFamily="2" charset="-78"/>
                <a:cs typeface="Amiri" pitchFamily="2" charset="-78"/>
              </a:rPr>
              <a:t>الذي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عَيْنَاهَا ___.</a:t>
            </a:r>
            <a:endParaRPr lang="ar-SA" sz="15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بُنِّيَّتَانِ</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feminine agreement.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شَعْرُهُ قَصِيرٌ وَمُجَعَّدٌ.</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شَعْرُهُ قَصِيرَةٌ وَمُجَعَّدَةٌ.</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شَعْرُهَا قَصِيرًا.</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Watch me describe a person in a picture</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Height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هِيَ مُتَوَسِّطَ</a:t>
            </a:r>
            <a:pPr rtl="1" algn="ctr" indent="0" marL="0">
              <a:buNone/>
            </a:pPr>
            <a:r>
              <a:rPr lang="ar-SA" altLang="en-US" sz="2800" b="1" dirty="0">
                <a:solidFill>
                  <a:srgbClr val="D6336C"/>
                </a:solidFill>
                <a:latin typeface="Amiri" pitchFamily="2" charset="-78"/>
                <a:ea typeface="Amiri" pitchFamily="2" charset="-78"/>
                <a:cs typeface="Amiri" pitchFamily="2" charset="-78"/>
              </a:rPr>
              <a:t>ةُ</a:t>
            </a:r>
            <a:pPr rtl="1" algn="ctr" indent="0" marL="0">
              <a:buNone/>
            </a:pPr>
            <a:r>
              <a:rPr lang="ar-SA" altLang="en-US" sz="2800" b="1" dirty="0">
                <a:solidFill>
                  <a:srgbClr val="1B3B6F"/>
                </a:solidFill>
                <a:latin typeface="Amiri" pitchFamily="2" charset="-78"/>
                <a:ea typeface="Amiri" pitchFamily="2" charset="-78"/>
                <a:cs typeface="Amiri" pitchFamily="2" charset="-78"/>
              </a:rPr>
              <a:t> القَامَةِ.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 -atu.</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Hair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2" charset="-78"/>
                <a:ea typeface="Amiri" pitchFamily="2" charset="-78"/>
                <a:cs typeface="Amiri" pitchFamily="2" charset="-78"/>
              </a:rPr>
              <a:t>لَهَا</a:t>
            </a:r>
            <a:pPr rtl="1" algn="ctr" indent="0" marL="0">
              <a:buNone/>
            </a:pPr>
            <a:r>
              <a:rPr lang="ar-SA" altLang="en-US" sz="2400" b="1" dirty="0">
                <a:solidFill>
                  <a:srgbClr val="1B3B6F"/>
                </a:solidFill>
                <a:latin typeface="Amiri" pitchFamily="2" charset="-78"/>
                <a:ea typeface="Amiri" pitchFamily="2" charset="-78"/>
                <a:cs typeface="Amiri" pitchFamily="2" charset="-78"/>
              </a:rPr>
              <a:t> شَعْرٌ طَوِيلٌ مُسْتَقِيمٌ.</a:t>
            </a:r>
            <a:endParaRPr lang="ar-SA" sz="24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She has … hair is masc.</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Eyes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عَيْنَا</a:t>
            </a:r>
            <a:pPr rtl="1" algn="ctr" indent="0" marL="0">
              <a:buNone/>
            </a:pPr>
            <a:r>
              <a:rPr lang="ar-SA" altLang="en-US" sz="2800" b="1" dirty="0">
                <a:solidFill>
                  <a:srgbClr val="D6336C"/>
                </a:solidFill>
                <a:latin typeface="Amiri" pitchFamily="2" charset="-78"/>
                <a:ea typeface="Amiri" pitchFamily="2" charset="-78"/>
                <a:cs typeface="Amiri" pitchFamily="2" charset="-78"/>
              </a:rPr>
              <a:t>هَا</a:t>
            </a:r>
            <a:pPr rtl="1" algn="ctr" indent="0" marL="0">
              <a:buNone/>
            </a:pPr>
            <a:r>
              <a:rPr lang="ar-SA" altLang="en-US" sz="2800" b="1" dirty="0">
                <a:solidFill>
                  <a:srgbClr val="1B3B6F"/>
                </a:solidFill>
                <a:latin typeface="Amiri" pitchFamily="2" charset="-78"/>
                <a:ea typeface="Amiri" pitchFamily="2" charset="-78"/>
                <a:cs typeface="Amiri" pitchFamily="2" charset="-78"/>
              </a:rPr>
              <a:t> بُنِّيَّتَ</a:t>
            </a:r>
            <a:pPr rtl="1" algn="ctr" indent="0" marL="0">
              <a:buNone/>
            </a:pPr>
            <a:r>
              <a:rPr lang="ar-SA" altLang="en-US" sz="2800" b="1" dirty="0">
                <a:solidFill>
                  <a:srgbClr val="0E7C86"/>
                </a:solidFill>
                <a:latin typeface="Amiri" pitchFamily="2" charset="-78"/>
                <a:ea typeface="Amiri" pitchFamily="2" charset="-78"/>
                <a:cs typeface="Amiri" pitchFamily="2" charset="-78"/>
              </a:rPr>
              <a:t>انِ</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eyes → dual.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Who + clothes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هِيَ الفَتَاةُ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الَّتِي</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تَرْتَدِي مِعْطَفًا أَزْرَقَ.</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Girl → allatī.</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SHE / HER</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DUAL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WHO</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هِيَ مُتَوَسِّطَ</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القَامَةِ، وَ</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لَهَا</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شَعْرٌ طَوِيلٌ مُسْتَقِيمٌ، وَعَيْنَا</a:t>
            </a:r>
            <a:pPr rtl="1" algn="r" indent="0" marL="0">
              <a:lnSpc>
                <a:spcPct val="120000"/>
              </a:lnSpc>
              <a:buNone/>
            </a:pPr>
            <a:r>
              <a:rPr lang="ar-SA" altLang="en-US" sz="1550" b="1" dirty="0">
                <a:solidFill>
                  <a:srgbClr val="D6336C"/>
                </a:solidFill>
                <a:latin typeface="Amiri" pitchFamily="2" charset="-78"/>
                <a:ea typeface="Amiri" pitchFamily="2" charset="-78"/>
                <a:cs typeface="Amiri" pitchFamily="2" charset="-78"/>
              </a:rPr>
              <a:t>هَا</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بُنِّيَّتَ</a:t>
            </a:r>
            <a:pPr rtl="1" algn="r" indent="0" marL="0">
              <a:lnSpc>
                <a:spcPct val="120000"/>
              </a:lnSpc>
              <a:buNone/>
            </a:pPr>
            <a:r>
              <a:rPr lang="ar-SA" altLang="en-US" sz="1550" b="1" dirty="0">
                <a:solidFill>
                  <a:srgbClr val="0E7C86"/>
                </a:solidFill>
                <a:latin typeface="Amiri" pitchFamily="2" charset="-78"/>
                <a:ea typeface="Amiri" pitchFamily="2" charset="-78"/>
                <a:cs typeface="Amiri" pitchFamily="2" charset="-78"/>
              </a:rPr>
              <a:t>انِ</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هِيَ الفَتَاةُ </a:t>
            </a:r>
            <a:pPr rtl="1" algn="r" indent="0" marL="0">
              <a:lnSpc>
                <a:spcPct val="120000"/>
              </a:lnSpc>
              <a:buNone/>
            </a:pPr>
            <a:r>
              <a:rPr lang="ar-SA" altLang="en-US" sz="1550" b="1" dirty="0">
                <a:solidFill>
                  <a:srgbClr val="1D5FBF"/>
                </a:solidFill>
                <a:latin typeface="Amiri" pitchFamily="2" charset="-78"/>
                <a:ea typeface="Amiri" pitchFamily="2" charset="-78"/>
                <a:cs typeface="Amiri" pitchFamily="2" charset="-78"/>
              </a:rPr>
              <a:t>الَّتِي</a:t>
            </a:r>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 تَرْتَدِي مِعْطَفًا أَزْرَقَ وَحَقِيبَةً سَوْدَاءَ. تَبْدُو وَاثِقَةً لِأَنَّهَا تَتَحَدَّثُ مَعَ الجَمِيعِ.</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She is of medium height, she has long straight hair, and her eyes are brown. She is the girl who is wearing a blue coat and a black bag. She seems confident because she talks to everyone.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لَهُ شَعْرٌ قَصِيرٌ.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has short hair.</a:t>
            </a:r>
            <a:endParaRPr lang="en-US" sz="1250" dirty="0"/>
          </a:p>
          <a:p>
            <a:pPr indent="0" marL="0">
              <a:buNone/>
            </a:pPr>
            <a:r>
              <a:rPr lang="en-US" sz="1050" i="1" dirty="0">
                <a:solidFill>
                  <a:srgbClr val="8A6D1E"/>
                </a:solidFill>
                <a:latin typeface="Calibri" pitchFamily="34" charset="0"/>
                <a:cs typeface="Amiri" pitchFamily="2" charset="-78"/>
              </a:rPr>
              <a:t>lahu = he has.</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لَهَا عَيْنَانِ بُنِّيَّتَانِ.</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has brown eyes.</a:t>
            </a:r>
            <a:endParaRPr lang="en-US" sz="1250" dirty="0"/>
          </a:p>
          <a:p>
            <a:pPr indent="0" marL="0">
              <a:buNone/>
            </a:pPr>
            <a:r>
              <a:rPr lang="en-US" sz="1050" i="1" dirty="0">
                <a:solidFill>
                  <a:srgbClr val="8A6D1E"/>
                </a:solidFill>
                <a:latin typeface="Calibri" pitchFamily="34" charset="0"/>
                <a:cs typeface="Amiri" pitchFamily="2" charset="-78"/>
              </a:rPr>
              <a:t>Dual feminine agreement.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هُوَ الشَّخْصُ الَّذِي يَرْتَدِي نَظَّارَةً.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the person who wears glasses.</a:t>
            </a:r>
            <a:endParaRPr lang="en-US" sz="1250" dirty="0"/>
          </a:p>
          <a:p>
            <a:pPr indent="0" marL="0">
              <a:buNone/>
            </a:pPr>
            <a:r>
              <a:rPr lang="en-US" sz="1050" i="1" dirty="0">
                <a:solidFill>
                  <a:srgbClr val="8A6D1E"/>
                </a:solidFill>
                <a:latin typeface="Calibri" pitchFamily="34" charset="0"/>
                <a:cs typeface="Amiri" pitchFamily="2" charset="-78"/>
              </a:rPr>
              <a:t>alladhī for a man.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500" b="1" dirty="0">
                <a:solidFill>
                  <a:srgbClr val="1B3B6F"/>
                </a:solidFill>
                <a:latin typeface="Amiri" pitchFamily="2" charset="-78"/>
                <a:ea typeface="Amiri" pitchFamily="2" charset="-78"/>
                <a:cs typeface="Amiri" pitchFamily="2" charset="-78"/>
              </a:rPr>
              <a:t>هِيَ مُتَوَسِّطَةُ القَامَةِ، وَلَهَا شَعْرٌ قَصِيرٌ، وَتَرْتَدِي مِعْطَفًا أَزْرَقَ.</a:t>
            </a:r>
            <a:endParaRPr lang="ar-SA" sz="25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is of medium height, has short hair and wears a blue coat.</a:t>
            </a:r>
            <a:endParaRPr lang="en-US" sz="1250" dirty="0"/>
          </a:p>
          <a:p>
            <a:pPr indent="0" marL="0">
              <a:buNone/>
            </a:pPr>
            <a:r>
              <a:rPr lang="en-US" sz="1050" i="1" dirty="0">
                <a:solidFill>
                  <a:srgbClr val="8A6D1E"/>
                </a:solidFill>
                <a:latin typeface="Calibri" pitchFamily="34" charset="0"/>
                <a:cs typeface="Amiri" pitchFamily="2" charset="-78"/>
              </a:rPr>
              <a:t>Portrait order.</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DESCRIBING APPEARANCE — A FULL PHYSICAL PORTRAIT”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tall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curly hair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glasses</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شَعْرُهُ مُجَعَّدٌ.</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تَلْبَسُ نَظَّارَةً.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هُوَ طَوِيلٌ.</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tall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هُوَ طَوِيلٌ.</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He is tall.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curly hair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شَعْرُهُ مُجَعَّدٌ.</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His hair is curly.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glasses</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هِيَ تَلْبَسُ نَظَّارَةً.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She wears glasses.</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Accurate portrait?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لَهَا شَعْرٌ طَوِيلٌ.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 زَرْقَاوَانِ.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الفَتَاةُ الَّتِي تَرْتَدِي حِجَابًا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طَوِيلَةُ القَامَةِ.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 شَعْرٌ طَوِيلَةٌ.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عَيْنَاهَا بُنِّيٌّ.</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الوَلَدُ الَّتِي تَرْتَدِي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طَوِيلَةُ القَامَةِ.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Accurate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لَهَا شَعْرٌ طَوِيلٌ.</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 زَرْقَاوَانِ.</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الفَتَاةُ الَّتِي تَرْتَدِي حِجَابًا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هِيَ طَوِيلَةُ القَامَةِ.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Inaccurate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 شَعْرٌ طَوِيلَةٌ.</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عَيْنَاهَا بُنِّيٌّ.</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الوَلَدُ الَّتِي تَرْتَدِي</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هُوَ طَوِيلَةُ القَامَةِ.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الَّذِي يَرْتَدِي حِجَابًا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الَّتِي تَرْتَدِي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الَّتِي تَرْتَدِي حِجَابًا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غَرِيبُ الشَّكْلِ.</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مُتَوَسِّطُ القَامَةِ وَلَهُ شَعْرٌ قَصِيرٌ.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شَكْلُهُ سَيِّئٌ.</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هِيَ ___ القَامَةِ.</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طَوِيلَةُ</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طَوِيلَةٌ مِنْ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consistent reference.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طَوِيلٌ وَعَيْنَاهَا خَضْرَاوَانِ.</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شَعْرٌ طَوِيلَةٌ.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شَعْرٌ طَوِيلٌ وَعَيْنَاهَا خَضْرَاوَانِ.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الفَتَاةُ الَّذِي يَرْتَدِي حِجَابًا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الوَلَدُ الَّتِي تَرْتَدِي</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الفَتَاةُ الَّتِي تَرْتَدِي حِجَابًا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antecedent takes </a:t>
            </a:r>
            <a:pPr algn="l" indent="0" marL="0">
              <a:buNone/>
            </a:pPr>
            <a:r>
              <a:rPr lang="ar-SA" altLang="en-US" sz="1350" dirty="0">
                <a:solidFill>
                  <a:srgbClr val="8A6D1E"/>
                </a:solidFill>
                <a:latin typeface="Amiri" pitchFamily="2" charset="-78"/>
                <a:ea typeface="Amiri" pitchFamily="2" charset="-78"/>
                <a:cs typeface="Amiri" pitchFamily="2" charset="-78"/>
              </a:rPr>
              <a:t>التي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غَرِيبُ الشَّكْلِ.</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مُتَوَسِّطُ القَامَةِ وَلَهُ شَعْرٌ قَصِيرٌ.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شَكْلُهُ سَيِّئٌ.</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describes observable details respectfully.</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هِيَ ___ القَامَةِ.</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طَوِيلُ</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طَوِيلَةُ</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طَوِيلَةٌ مِنْ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compound adjective agrees with feminine subject.</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consistent reference.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شَعْرٌ طَوِيلٌ وَعَيْنَاهَا خَضْرَاوَانِ.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لَهَا شَعْرٌ طَوِيلَةٌ.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لَهَا شَعْرٌ طَوِيلٌ وَعَيْنَاهَا خَضْرَاوَانِ.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All references and adjective agreement are consistent.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لَهَا شَعْرٌ طَوِيلَةٌ.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hair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الوَلَدُ الَّتِي يَرْتَدِي نَظَّارَةً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boy → alladhī or allatī?</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عَيْنَاهَا بُنِّيٌّ.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eyes → which ending?</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لَهَا شَعْرٌ طَوِيلَةٌ.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لَهَا شَعْرٌ طَوِيلٌ.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شَعْرٌ</a:t>
            </a:r>
            <a:pPr algn="l" indent="0" marL="0">
              <a:buNone/>
            </a:pPr>
            <a:r>
              <a:rPr lang="en-US" sz="1150" b="1" dirty="0">
                <a:solidFill>
                  <a:srgbClr val="1B3B6F"/>
                </a:solidFill>
                <a:latin typeface="Calibri" pitchFamily="34" charset="0"/>
                <a:cs typeface="Amiri" pitchFamily="2" charset="-78"/>
              </a:rPr>
              <a:t> is masculine, even for a girl.</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الوَلَدُ الَّتِي يَرْتَدِي نَظَّارَةً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الوَلَدُ الَّذِي يَرْتَدِي نَظَّارَةً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masculine person takes </a:t>
            </a:r>
            <a:pPr algn="l" indent="0" marL="0">
              <a:buNone/>
            </a:pPr>
            <a:r>
              <a:rPr lang="ar-SA" altLang="en-US" sz="1500" b="1" dirty="0">
                <a:solidFill>
                  <a:srgbClr val="1B3B6F"/>
                </a:solidFill>
                <a:latin typeface="Amiri" pitchFamily="2" charset="-78"/>
                <a:ea typeface="Amiri" pitchFamily="2" charset="-78"/>
                <a:cs typeface="Amiri" pitchFamily="2" charset="-78"/>
              </a:rPr>
              <a:t>الَّذِي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عَيْنَاهَا بُنِّيٌّ.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عَيْنَاهَا بُنِّيَّتَانِ.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Two eyes → dual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Listening focus: physical appearance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people are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tall is the young man?</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medium height</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hair like?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 and straight</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and straight</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and curly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wear?</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glasses and a white shirt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coat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black bag</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girl’s eyes?</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green</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can you recognise the girl?</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wears a blue coat and a black bag</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wears glasses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has short hair</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طَوِيلُ القَامَةِ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نَظَّارَةً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بُنِّيَّتَانِ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يَصِفُ المُتَحَدِّثُ شَخْصَيْنِ فِي صُورَةٍ.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speaker describes two people in a picture.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الأَوَّلُ شَابٌّ طَوِيلُ القَامَةِ، لَهُ شَعْرٌ قَصِيرٌ وَمُجَعَّدٌ،</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is a tall young man; he has short, curly hair,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وَيَرْتَدِي نَظَّارَةً وَقَمِيصًا أَبْيَضَ.</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he wears glasses and a white shirt.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الثَّانِيَةُ فَتَاةٌ مُتَوَسِّطَةُ القَامَةِ، لَهَا شَعْرٌ طَوِيلٌ مُسْتَقِيمٌ وَعَيْنَانِ بُنِّيَّتَانِ.</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is a girl of medium height; she has long straight hair and brown eyes.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هِيَ الفَتَاةُ الَّتِي تَرْتَدِي مِعْطَفًا أَزْرَقَ وَحَقِيبَةً سَوْدَاءَ.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is the girl who is wearing a blue coat and (has) a black bag.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people are described?</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يَصِفُ المُتَحَدِّثُ شَخْصَيْنِ.</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tall is the young man?</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medium height</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tall</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شَابٌّ طَوِيلُ القَامَةِ.</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hair like?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 and straight</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and straight</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short and curly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لَهُ شَعْرٌ قَصِيرٌ وَمُجَعَّدٌ.</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wear?</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glasses and a white shirt</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coat</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black bag</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يَرْتَدِي نَظَّارَةً وَقَمِيصًا أَبْيَضَ.</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are the girl’s eyes?</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brown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green</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عَيْنَانِ بُنِّيَّتَانِ.</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can you recognise the girl?</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she wears a blue coat and a black bag</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wears glasses</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she has short hair</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الَّتِي تَرْتَدِي مِعْطَفًا أَزْرَقَ وَحَقِيبَةً سَوْدَاءَ.</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طَوِيلُ القَامَةِ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نَظَّارَةً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بُنِّيَّتَانِ</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Appearance and character match</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Appearance and character match</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Match physical-description cards to personality clues, then justify which details are facts and which are opinions using accurate adjective agreement.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shows 3 description cards (appearance) and 3 personality clues on screen.</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match each appearance card to a personality clue (type 1-B, 2-A …).</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For each match, say ONE fact (appearance) and ONE opinion (personality).</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Check every adjective: m. / f. agreement.</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Match the cards; say one fact: “huwa ṭawīl / hiya ṭawīla”.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fact + an opinion with “I think” (a‘taqidu anna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Justify the opinion with evidence (li’annahu / li’annahā …) and use a relative clause (alladhī / allatī).</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طَوِيلٌ / طَوِيلَةٌ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tall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شَعْرُهَا أَسْوَدُ</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her hair is black</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أَعْتَقِدُ أَنَّهُ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think that he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الَّذِي / الَّتِي</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who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Developed speaking: physical appearance</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شَخْصًا فِي صُورَةٍ.</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مَلَابِسَ شَخْصٍ تَعْرِفُهُ.</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اِسْتَعْمِلِ الَّذِي أَوِ الَّتِي فِي وَصْفٍ.</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الفَرْقُ بَيْنَ وَصْفِ المَظْهَرِ وَالحُكْمِ عَلَى الشَّخْصِيَّةِ؟</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D5FBF"/>
                </a:solidFill>
                <a:latin typeface="Amiri" pitchFamily="2" charset="-78"/>
                <a:ea typeface="Amiri" pitchFamily="2" charset="-78"/>
                <a:cs typeface="Amiri" pitchFamily="2" charset="-78"/>
              </a:rPr>
              <a:t>هُوَ / هِيَ ___ القَامَةِ ، لَهُ / لَهَا شَعْرٌ ___ .</a:t>
            </a:r>
            <a:endParaRPr lang="ar-SA" sz="135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يَرْتَدِي / تَرْتَدِي ___ وَ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هُوَ الشَّخْصُ الَّذِي … / هِيَ الفَتَاةُ الَّتِي ___ .</a:t>
            </a:r>
            <a:endParaRPr lang="ar-SA" sz="14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يَبْدُو / تَبْدُو ___ لِأَنَّهُ / لِأَنَّهَا ___ .</a:t>
            </a:r>
            <a:endParaRPr lang="ar-SA" sz="155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هُوَ أَخُوكَ فِي الصُّورَةِ؟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 is your brother in the picture?</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هُوَ الشَّابُّ الَّذِي يَرْتَدِي نَظَّارَةً.</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He is the young man who wears glasses.</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person in order: height, hair, eyes, two items of clothing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Two people with his / her, eyes (dual) and one “the one who …” sentence.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 respectful full portrait of two people — height, hair, eyes, features, clothes and one personality inference from behaviour.</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شَعْرُهُ قَصِيرٌ وَمُجَعَّدٌ.</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hair is short and curly.</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شَعْرُهَا طَوِيلٌ وَمُسْتَقِيمٌ.</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Her hair is long and straight.</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الشَّخْصُ الَّذِي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is the person who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الفَتَاةُ الَّتِي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the girl who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يَبْدُو / تَبْدُو ______ لِأَنَّهُ / لِأَنَّهَا ______ .</a:t>
            </a:r>
            <a:endParaRPr lang="ar-SA" sz="165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seems … because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 هِيَ ______ القَامَةِ.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is tall / short / medium height.</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لَهُ شَعْرٌ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has … hair.</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لَهَا شَعْرٌ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has … hair.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عَيْنَاهُ / عَيْنَاهَا بُنِّيَّتَانِ.</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His / her eyes are brown.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يَرْتَدِي / تَرْتَدِي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she wears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طَوِيلُ القَامَةِ  ·  قَصِيرُ القَامَةِ  ·  مُتَوَسِّطُ القَامَةِ  ·  لَهُ  ·  لَهَا  ·  شَعْرٌ مُجَعَّدٌ  ·  شَعْرٌ مُسْتَقِيمٌ  ·  عَيْنَانِ بُنِّيَّتَانِ  ·  نَظَّارَةً  ·  الَّذِي  ·  الَّتِي  ·  يَبْدُو</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giving a respectful full portrait of two people. Organise height, hair, eyes, distinguishing features, clothes and one personality inference supported by behaviour.</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هٰذِهِ الصُّورَةِ شَخْصَانِ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this picture there are two people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يَبْدُو هَادِئًا لِأَنَّهُ يَسْتَمِعُ إِلَى الآخَرِينَ</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seems calm because he listens to others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تَبْدُو وَاثِقَةً وَمَرِحَةً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she seems confident and cheerful</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لِأَنَّهَا تَتَحَدَّثُ مَعَ الجَمِيعِ</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because she talks to everyone</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يَحْكُمُ عَلَيْهِ مِنْ مَظْهَرِهِ فَقَطْ</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does not judge him by his appearance alone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2" charset="-78"/>
                <a:ea typeface="Amiri" pitchFamily="2" charset="-78"/>
                <a:cs typeface="Amiri" pitchFamily="2" charset="-78"/>
              </a:rPr>
              <a:t>فِي هٰذِهِ الصُّورَةِ شَخْصَانِ. الأَوَّلُ شَابٌّ طَوِيلُ القَامَةِ، لَهُ شَعْرٌ قَصِيرٌ وَمُجَعَّدٌ وَعَيْنَانِ بُنِّيَّتَانِ. هُوَ الشَّخْصُ الَّذِي يَرْتَدِي نَظَّارَةً وَقَمِيصًا أَبْيَضَ وَسِرْوَالًا أَسْوَدَ. يَبْدُو هَادِئًا لِأَنَّهُ يَسْتَمِعُ إِلَى الآخَرِينَ. أَمَّا الفَتَاةُ فَهِيَ مُتَوَسِّطَةُ القَامَةِ، وَلَهَا شَعْرٌ طَوِيلٌ مُسْتَقِيمٌ. هِيَ الفَتَاةُ الَّتِي تَرْتَدِي حِجَابًا أَزْرَقَ وَمِعْطَفًا رَمَادِيًّا. تَبْدُو وَاثِقَةً وَمَرِحَةً لِأَنَّهَا تَتَحَدَّثُ مَعَ الجَمِيعِ. الوَصْفُ الدَّقِيقُ يَحْتَرِمُ الشَّخْصَ وَلَا يَحْكُمُ عَلَيْهِ مِنْ مَظْهَرِهِ فَقَطْ.</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this picture there are two people. The first is a tall young man; he has short, curly hair and brown eyes. He is the person who is wearing glasses, a white shirt and black trousers. He seems calm because he listens to others. As for the girl, she is of medium height and has long straight hair. She is the girl who is wearing a blue headscarf and a grey coat. She seems confident and cheerful because she talks to everyone. A precise description respects the person and does not judge them by their appearance alone.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portrait order for the young man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الَّذِي and الَّتِي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an inference with يَبْدُو … لِأَنَّ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respectful closing sentence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height, hair, eyes and clothes in order.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lahu for him and lahā for her.</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Hair adjectives are masculine; eyes are dual.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alladhī / allatī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inference is based on behaviour, not looks.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شَعْرٌ طَوِيلٌ.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طَوِيلَةٌ.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شَعْرُهَا طَوِيلَةٌ.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الَّتِي تَرْتَدِي نَظَّارَةً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الَّذِي يَرْتَدِي نَظَّارَةً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البِنْتُ الَّذِي يَرْتَدِي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عَيْنَاهَا</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بُنِّيَّتَانِ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لَهَا شَعْرٌ طَوِيلٌ.</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لَهُ شَعْرٌ طَوِيلَةٌ.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هِيَ شَعْرُهَا طَوِيلَةٌ.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لَهَا</a:t>
            </a:r>
            <a:pPr algn="l" indent="0" marL="0">
              <a:buNone/>
            </a:pPr>
            <a:r>
              <a:rPr lang="en-US" sz="1050" i="1" dirty="0">
                <a:solidFill>
                  <a:srgbClr val="8A6D1E"/>
                </a:solidFill>
                <a:latin typeface="Calibri" pitchFamily="34" charset="0"/>
                <a:cs typeface="Amiri" pitchFamily="2" charset="-78"/>
              </a:rPr>
              <a:t> + masculine </a:t>
            </a:r>
            <a:pPr algn="l" indent="0" marL="0">
              <a:buNone/>
            </a:pPr>
            <a:r>
              <a:rPr lang="ar-SA" altLang="en-US" sz="1350" dirty="0">
                <a:solidFill>
                  <a:srgbClr val="8A6D1E"/>
                </a:solidFill>
                <a:latin typeface="Amiri" pitchFamily="2" charset="-78"/>
                <a:ea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طَوِيلٌ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الوَلَدُ الَّتِي تَرْتَدِي نَظَّارَةً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الوَلَدُ الَّذِي يَرْتَدِي نَظَّارَةً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البِنْتُ الَّذِي يَرْتَدِي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antecedent takes </a:t>
            </a:r>
            <a:pPr algn="l" indent="0" marL="0">
              <a:buNone/>
            </a:pPr>
            <a:r>
              <a:rPr lang="ar-SA" altLang="en-US" sz="1350" dirty="0">
                <a:solidFill>
                  <a:srgbClr val="8A6D1E"/>
                </a:solidFill>
                <a:latin typeface="Amiri" pitchFamily="2" charset="-78"/>
                <a:ea typeface="Amiri" pitchFamily="2" charset="-78"/>
                <a:cs typeface="Amiri" pitchFamily="2" charset="-78"/>
              </a:rPr>
              <a:t>الذي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عَيْنَاهَا</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بُنِّيَّتَانِ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بُنِّيٌّ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بُنِّيَّةٌ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feminine agreement.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focus: physical appearance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الصُّورَةِ عَائِلَةٌ تَقِفُ أَمَامَ البَيْتِ. الأَبُ هُوَ الرَّجُلُ الَّذِي لَهُ لِحْيَةٌ قَصِيرَةٌ وَيَرْتَدِي سُتْرَةً رَمَادِيَّةً. الأُمُّ مُتَوَسِّطَةُ القَامَةِ، وَلَهَا شَعْرٌ طَوِيلٌ، وَتَرْتَدِي حِجَابًا أَخْضَرَ. البِنْتُ الَّتِي تَقِفُ عَلَى اليَمِينِ لَهَا عَيْنَانِ بُنِّيَّتَانِ وَتَرْتَدِي فُسْتَانًا أَزْرَقَ. أَمَّا الوَلَدُ فَهُوَ قَصِيرُ القَامَةِ وَيَرْتَدِي قَمِيصًا رِيَاضِيًّا.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الصُّورَةِ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the picture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تَقِفُ أَمَامَ</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standing in front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الرَّجُلُ</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man</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لِحْيَةٌ قَصِيرَةٌ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short beard</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رَمَادِيَّةً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grey</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حِجَابًا أَخْضَرَ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green headscarf</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البِنْتُ</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girl</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عَلَى اليَمِينِ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the right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الوَلَدُ</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boy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قَمِيصًا رِيَاضِيًّا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sports shirt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family standing?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park</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front of the house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recognise the father?</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glasses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dress</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beard and a grey jacket</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 described?</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medium height, long hair, a green headscarf</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with short hair</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wearing glasses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girl standing?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left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right</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middle</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girl wearing?</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dress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green headscarf</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sports shirt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boy described?</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with a beard</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wearing a grey jacket</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wearing a sports shirt</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family standing?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park</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front of the house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school</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تَقِفُ أَمَامَ البَيْتِ.</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 we recognise the father?</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glasses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dress</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short beard and a grey jacket</a:t>
            </a:r>
            <a:endParaRPr lang="en-US" sz="11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لَهُ لِحْيَةٌ قَصِيرَةٌ وَيَرْتَدِي سُتْرَةً رَمَادِيَّةً.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mother described?</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medium height, long hair, a green headscarf</a:t>
            </a:r>
            <a:endParaRPr lang="en-US" sz="11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 with short hair</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wearing glasses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مُتَوَسِّطَةُ القَامَةِ … حِجَابًا أَخْضَرَ.</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girl standing?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the left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right</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the middle</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البِنْتُ الَّتِي تَقِفُ عَلَى اليَمِينِ.</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girl wearing?</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blue dress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green headscarf</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sports shirt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تَرْتَدِي فُسْتَانًا أَزْرَقَ.</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boy described?</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 with a beard</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wearing a grey jacket</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short, wearing a sports shirt</a:t>
            </a:r>
            <a:endParaRPr lang="en-US" sz="11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قَصِيرُ القَامَةِ وَيَرْتَدِي قَمِيصًا رِيَاضِيًّا.</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physical appearance Arabic challenge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طَوِيلَةٌ.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شَعْرٌ طَوِيلٌ.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شَعْرُهَا طَوِيلَةٌ.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الَّذِي يَرْتَدِي نَظَّارَةً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الَّتِي تَرْتَدِي نَظَّارَةً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البِنْتُ الَّذِي يَرْتَدِي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عَيْنَاهَا ___.</a:t>
            </a:r>
            <a:endParaRPr lang="ar-SA" sz="15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بُنِّيَّتَانِ</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 قَصِيرَةٌ وَمُجَعَّدَةٌ.</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شَعْرُهَا قَصِيرًا.</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شَعْرُهُ قَصِيرٌ وَمُجَعَّدٌ.</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الَّتِي تَرْتَدِي حِجَابًا</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الَّذِي يَرْتَدِي حِجَابًا</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الَّتِي تَرْتَدِي</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هُوَ غَرِيبُ الشَّكْلِ.</a:t>
            </a:r>
            <a:endParaRPr lang="ar-SA" sz="200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هُوَ مُتَوَسِّطُ القَامَةِ وَلَهُ شَعْرٌ قَصِيرٌ.</a:t>
            </a:r>
            <a:endParaRPr lang="ar-SA" sz="200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شَكْلُهُ سَيِّئٌ.</a:t>
            </a:r>
            <a:endParaRPr lang="ar-SA" sz="20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شَعْرٌ طَوِيلَةٌ.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لَهَا شَعْرٌ طَوِيلٌ.</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شَعْرُهَا طَوِيلَةٌ.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لَهَا</a:t>
            </a:r>
            <a:pPr algn="l" indent="0" marL="0">
              <a:buNone/>
            </a:pPr>
            <a:r>
              <a:rPr lang="en-US" sz="1050" i="1" dirty="0">
                <a:solidFill>
                  <a:srgbClr val="8A6D1E"/>
                </a:solidFill>
                <a:latin typeface="Calibri" pitchFamily="34" charset="0"/>
                <a:cs typeface="Amiri" pitchFamily="2" charset="-78"/>
              </a:rPr>
              <a:t> + masculine </a:t>
            </a:r>
            <a:pPr algn="l" indent="0" marL="0">
              <a:buNone/>
            </a:pPr>
            <a:r>
              <a:rPr lang="ar-SA" altLang="en-US" sz="1350" dirty="0">
                <a:solidFill>
                  <a:srgbClr val="8A6D1E"/>
                </a:solidFill>
                <a:latin typeface="Amiri" pitchFamily="2" charset="-78"/>
                <a:ea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طَوِيلٌ</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boy who wears glasses”.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الوَلَدُ الَّذِي يَرْتَدِي نَظَّارَةً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الوَلَدُ الَّتِي تَرْتَدِي نَظَّارَةً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البِنْتُ الَّذِي يَرْتَدِي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antecedent takes </a:t>
            </a:r>
            <a:pPr algn="l" indent="0" marL="0">
              <a:buNone/>
            </a:pPr>
            <a:r>
              <a:rPr lang="ar-SA" altLang="en-US" sz="1350" dirty="0">
                <a:solidFill>
                  <a:srgbClr val="8A6D1E"/>
                </a:solidFill>
                <a:latin typeface="Amiri" pitchFamily="2" charset="-78"/>
                <a:ea typeface="Amiri" pitchFamily="2" charset="-78"/>
                <a:cs typeface="Amiri" pitchFamily="2" charset="-78"/>
              </a:rPr>
              <a:t>الذي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0"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عَيْنَاهَا ___.</a:t>
            </a:r>
            <a:endParaRPr lang="ar-SA" sz="150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بُنِّيَّةٌ</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بُنِّيَّتَانِ</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Dual feminine agreement.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accurate hair description.</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شَعْرُهُ قَصِيرَةٌ وَمُجَعَّدَةٌ.</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شَعْرُهَا قَصِيرًا.</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شَعْرُهُ قَصِيرٌ وَمُجَعَّدٌ.</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شَعْرٌ</a:t>
            </a:r>
            <a:pPr algn="l" indent="0" marL="0">
              <a:buNone/>
            </a:pPr>
            <a:r>
              <a:rPr lang="en-US" sz="1050" i="1" dirty="0">
                <a:solidFill>
                  <a:srgbClr val="8A6D1E"/>
                </a:solidFill>
                <a:latin typeface="Calibri" pitchFamily="34" charset="0"/>
                <a:cs typeface="Amiri" pitchFamily="2" charset="-78"/>
              </a:rPr>
              <a:t> is masculine.</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relative clause.</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الفَتَاةُ الَّتِي تَرْتَدِي حِجَابًا</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الفَتَاةُ الَّذِي يَرْتَدِي حِجَابًا</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الوَلَدُ الَّتِي تَرْتَدِي</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Feminine antecedent takes </a:t>
            </a:r>
            <a:pPr algn="l" indent="0" marL="0">
              <a:buNone/>
            </a:pPr>
            <a:r>
              <a:rPr lang="ar-SA" altLang="en-US" sz="1350" dirty="0">
                <a:solidFill>
                  <a:srgbClr val="8A6D1E"/>
                </a:solidFill>
                <a:latin typeface="Amiri" pitchFamily="2" charset="-78"/>
                <a:ea typeface="Amiri" pitchFamily="2" charset="-78"/>
                <a:cs typeface="Amiri" pitchFamily="2" charset="-78"/>
              </a:rPr>
              <a:t>التي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respectful and precise?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غَرِيبُ الشَّكْلِ.</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هُوَ مُتَوَسِّطُ القَامَةِ وَلَهُ شَعْرٌ قَصِيرٌ.</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شَكْلُهُ سَيِّئٌ.</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describes observable details respectfully.</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TB-L03 · Appearance and Personality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TB-L04: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B · Personal and Social Life · TB-L03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TB-L04 · My Home, Rooms and Garden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بَيْتٌ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house, a home</a:t>
            </a:r>
            <a:pPr indent="0" marL="0">
              <a:buNone/>
            </a:pPr>
            <a:r>
              <a:rPr lang="ar-SA" sz="1000" i="1" dirty="0">
                <a:solidFill>
                  <a:srgbClr val="5A6472"/>
                </a:solidFill>
                <a:latin typeface="Calibri" pitchFamily="34" charset="0"/>
                <a:ea typeface="Amiri" pitchFamily="2" charset="-78"/>
                <a:cs typeface="Amiri" pitchFamily="2" charset="-78"/>
              </a:rPr>
              <a:t>  pl. بُيُوتٌ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شَقَّةٌ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flat</a:t>
            </a:r>
            <a:pPr indent="0" marL="0">
              <a:buNone/>
            </a:pPr>
            <a:r>
              <a:rPr lang="ar-SA" sz="1000" i="1" dirty="0">
                <a:solidFill>
                  <a:srgbClr val="5A6472"/>
                </a:solidFill>
                <a:latin typeface="Calibri" pitchFamily="34" charset="0"/>
                <a:ea typeface="Amiri" pitchFamily="2" charset="-78"/>
                <a:cs typeface="Amiri" pitchFamily="2" charset="-78"/>
              </a:rPr>
              <a:t>  pl. شُقَقٌ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غُرْفَةٌ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room</a:t>
            </a:r>
            <a:pPr indent="0" marL="0">
              <a:buNone/>
            </a:pPr>
            <a:r>
              <a:rPr lang="ar-SA" sz="1000" i="1" dirty="0">
                <a:solidFill>
                  <a:srgbClr val="5A6472"/>
                </a:solidFill>
                <a:latin typeface="Calibri" pitchFamily="34" charset="0"/>
                <a:ea typeface="Amiri" pitchFamily="2" charset="-78"/>
                <a:cs typeface="Amiri" pitchFamily="2" charset="-78"/>
              </a:rPr>
              <a:t>  pl. غُرَفٌ</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مَطْبَخٌ</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kitchen</a:t>
            </a:r>
            <a:pPr indent="0" marL="0">
              <a:buNone/>
            </a:pPr>
            <a:r>
              <a:rPr lang="ar-SA" sz="1000" i="1" dirty="0">
                <a:solidFill>
                  <a:srgbClr val="5A6472"/>
                </a:solidFill>
                <a:latin typeface="Calibri" pitchFamily="34" charset="0"/>
                <a:ea typeface="Amiri" pitchFamily="2" charset="-78"/>
                <a:cs typeface="Amiri" pitchFamily="2" charset="-78"/>
              </a:rPr>
              <a:t>  pl. مَطَابِخُ</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حَدِيقَةٌ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garden</a:t>
            </a:r>
            <a:pPr indent="0" marL="0">
              <a:buNone/>
            </a:pPr>
            <a:r>
              <a:rPr lang="ar-SA" sz="1000" i="1" dirty="0">
                <a:solidFill>
                  <a:srgbClr val="5A6472"/>
                </a:solidFill>
                <a:latin typeface="Calibri" pitchFamily="34" charset="0"/>
                <a:ea typeface="Amiri" pitchFamily="2" charset="-78"/>
                <a:cs typeface="Amiri" pitchFamily="2" charset="-78"/>
              </a:rPr>
              <a:t>  pl. حَدَائِقُ</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Do you live in a house or a flat? Write one sentence in Arabic (a real or an invented home).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أَيْنَ تَسْكُنُ؟</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D2-L06: the picture game and the vocabulary tab — learn 8 description words (m. and f.).</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Describe a person (invented or a book character): appearance + personality with one piece of evidence.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on appearance and personality, with a fact / opinion contrast.</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TB-L03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600" b="1" dirty="0">
                <a:solidFill>
                  <a:srgbClr val="FFFFFF"/>
                </a:solidFill>
                <a:latin typeface="Cambria" pitchFamily="34" charset="0"/>
                <a:cs typeface="Amiri" pitchFamily="2" charset="-78"/>
              </a:rPr>
              <a:t>TB-L04 · My Home, Rooms and Garden</a:t>
            </a:r>
            <a:endParaRPr lang="en-US" sz="26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بَيْتِي وَغُرَفُهُ وَحَدِيقَتُهُ</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home words + where you live.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TB-L03 · Appearance and Personality</dc:title>
  <dc:subject>PptxGenJS Presentation</dc:subject>
  <dc:creator>Al Madina Online School · Arabic Department</dc:creator>
  <cp:lastModifiedBy>Al Madina Online School · Arabic Department</cp:lastModifiedBy>
  <cp:revision>1</cp:revision>
  <dcterms:created xsi:type="dcterms:W3CDTF">2026-10-11T06:43:49Z</dcterms:created>
  <dcterms:modified xsi:type="dcterms:W3CDTF">2026-10-11T06:43:49Z</dcterms:modified>
</cp:coreProperties>
</file>