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TB-L03 — Appearance and Personality. Website: Advanced Topics › Topic B (Personal and Social Life) › Lesson 3.
The website builds this lesson on the D2-L06 lesson engine, with the Topic focus “Build detailed, respectful descriptions and support character judgements with evidence.” (grammar: Adjective agreement; relative pronouns; ليس; skills: Reading · Writing) and the application challenge “Appearance and character match”.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TB-L03. The website lesson “Describing Appearance — A Full Physical Portrait”: vocabulary, grammar rules and quiz, patterns, common mistakes, sorter, listening, reading, speaking prompts and model, writing task and model, differentiation, final check and the lesson mission. Picture match: website visual game “Describing Appearance — A Full Physical Portrait”.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portrait ORDER as four chunks — هُوَ / هِيَ طَوِيلُ / طَوِيلَةُ القَامَةِ · لَهُ / لَهَا شَعْرٌ … · عَيْنَاهُ / عَيْنَاهَا … · يَرْتَدِي / تَرْتَدِي … Develop: hair (masc.) and eyes (dual) agreement and الَّذِي / الَّتِي. Stretch: two people and a personality inference supported by behaviour (يَبْدُو … لِأَنَّهُ …).
• Respect is part of the success criteria (website rule 4 and quiz Q6): describe what you SEE, never judge (no “ugly / strange”). Use a picture, a character or a celebrity rather than a classmate.
• Two tricky points, taught visually: شَعْرٌ is masculine even for a girl (شَعْرُهَا طَوِيلٌ); eyes are TWO, feminine (عَيْنَانِ بُنِّيَّتَانِ).
• Urdu bridge: قد (height → القَامَةُ by meaning), شکل، عینک ≠ نَظَّارَةٌ, لباس، جسم.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appearance words prepared at home. Questions 3–5 retrieve D2-L05 (website) (comparatives) and TB-L07 (هٰذِهِ).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 has → lahu. She has → lahā. Her hair is long → shaʿruhā ṭawīl (hair is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قامت (as in قد و قامت) → طَوِيلُ القَامَةِ (tall). شکل → شَكْلٌ (كَيْفَ شَكْلُهُ؟ what does he look like?). لباس → لِبَاسٌ. جسم → جِسْمٌ / جِسْمِيَّةٌ. Urdu عینک is Persian; Arabic glasses = نَظَّارَةٌ (from نَظَرٌ, sight — Urdu نظر).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(1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(2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(1 of 2)). Hear → Say → See → Use. Transliteration is printed for Core students (cover it for Develop/Stretch).
FLEX: teach if time allows; otherwise these are on the website vocabulary tab for homework.
Clothes in a portrait (FLEX) — TB-L07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(2 of 2)). Hear → Say → See → Use. Transliteration is printed for Core students (cover it for Develop/Stretch).
FLEX: teach if time allows; otherwise these are on the website vocabulary tab for homework.
Clothes in a portrait (FLEX) — TB-L07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(1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(2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“Possession with لَهُ / لَهَا”, “Body-feature agreement” (hair is masculine; eyes are dual feminine) and “Respectful portrait order” (height → hair → eyes → clothes), with the website table (Reference · Possession · Relative pronoun).
Website common error: “Do not treat عَيْنَانِ as a singular masculine noun” — عَيْنَاهَا بُنِّيٌّ ✗ → عَيْنَاهَا بُنِّيَّتَانِ ✓.
Stretch: dual of colours — blue زَرْقَاوَانِ, green خَضْرَاوَانِ, brown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“Relative clause” (الَّذِي for masculine, الَّتِي for feminine antecedents) and the website model’s inference (يَبْدُو هَادِئًا لِأَنَّهُ …).
Game: show a class-picture (or a family photo from a textbook); students identify people: “مَنْ هِيَ؟ — هِيَ الفَتَاةُ الَّتِي تَرْتَدِي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“Create a coherent portrait using possession, dual body features, adjective agreement and الذي/التي clauses.”
• Possession with لَهُ / لَهَا: Use لَهُ for he has and لَهَا for she has.
• Body-feature agreement: Hair is masculine; eyes are dual feminine.
• Relative clause: Use الذي for masculine and التي for feminine antecedents.
• Respectful portrait order: Organise details and avoid judgemental language.
Website common error: Do not use التي after a masculine person or treat عَيْنَانِ as a singular masculine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girl from the website listening, described in the website order with a think-aloud. Then students describe the young man from the same script aloud (tall, short curly hair, glasses, white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يَصِفُ المُتَحَدِّثُ شَخْصَيْنِ فِي صُورَةٍ. الأَوَّلُ شَابٌّ طَوِيلُ القَامَةِ، لَهُ شَعْرٌ قَصِيرٌ وَمُجَعَّدٌ، وَيَرْتَدِي نَظَّارَةً وَقَمِيصًا أَبْيَضَ. الثَّانِيَةُ فَتَاةٌ مُتَوَسِّطَةُ القَامَةِ، لَهَا شَعْرٌ طَوِيلٌ مُسْتَقِيمٌ وَعَيْنَانِ بُنِّيَّتَانِ. هِيَ الفَتَاةُ الَّتِي تَرْتَدِي مِعْطَفًا أَزْرَقَ وَحَقِيبَةً سَوْدَاءَ.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“Match physical-description cards to personality clues, then justify which details are facts and which are opinions using accurate adjective agreement.”
Cards to show: 1 طَوِيلٌ، شَعْرُهُ قَصِيرٌ، يَلْبَسُ نَظَّارَةً · 2 قَصِيرَةٌ، شَعْرُهَا طَوِيلٌ وَأَسْوَدُ · 3 نَحِيفٌ، عَيْنَاهُ خَضْرَاوَانِ. Clues: A يَقْرَأُ كَثِيرًا وَيُسَاعِدُ زُمَلَاءَهُ · B تَضْحَكُ دَائِمًا وَتُحِبُّ الحَفَلَاتِ · C هَادِئٌ وَخَجُولٌ قَلِيلًا. Any match is fine if justified — the point is FACT vs OPINION (website Topic B challenge “Appearance and character match”). Invented people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مَظْهَرُهُ؟ (What does he look like?)
B: هُوَ طَوِيلُ القَامَةِ وَلَهُ شَعْرٌ قَصِيرٌ. (He is tall and has short hair.)
Website prompts (order changed for routes). Website model continues: A: كَيْفَ مَظْهَرُهُ؟ (What does he look like?) B: هُوَ طَوِيلُ القَامَةِ وَلَهُ شَعْرٌ قَصِيرٌ. Use a picture on screen (a family photo from a textbook, or a famous person) — not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a respectful full portrait of two people. Organise height, hair, eyes, distinguishing features, clothes and one personality inference supported by behaviour.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طَوِيلُ القَامَةِ ← لَهُ شَعْرٌ … ← عَيْنَانِ بُنِّيَّتَانِ ← يَرْتَدِي … · الشَّخْصُ الَّذِي / الفَتَاةُ الَّتِي · يَبْدُو هَادِئًا لِأَنَّهُ يَسْتَمِعُ · الوَصْفُ الدَّقِيقُ يَحْتَرِمُ الشَّخْصَ.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(TB-L04 · My Home, Rooms and Garden) will spend class time USING this language, so students prepare it tonight — short, simple, easy to access (school guidance: “Simple, Short, Interesting, Relevant, Easy to access”). The five words come from the website F3-L03 home banks (the TB-L04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50" b="1" dirty="0">
                <a:solidFill>
                  <a:srgbClr val="FFFFFF"/>
                </a:solidFill>
                <a:latin typeface="Cambria" pitchFamily="34" charset="0"/>
                <a:cs typeface="Amiri" pitchFamily="2" charset="-78"/>
              </a:rPr>
              <a:t>Appearance and Personality</a:t>
            </a:r>
            <a:endParaRPr lang="en-US" sz="3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المَظْهَرُ وَالشَّخْصِيَّةُ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detailed, respectful descriptions and support character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TB-L03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He / she has …, hair and eyes agreement, who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 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curly hair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hair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وَاثِقٌ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وَاثِقٌ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ثِقَةً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سُتْرَةٌ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 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curly hair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hair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eyes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الأَطْوَلَ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أَطْوَلُ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(website): comparative + min.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وَاثِقٌ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وَاثِقٌ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ثِقَةً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(website): more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السُّتْرَةُ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السُّتْرَةُ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سُتْرَةٌ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TB-L07: hādhihi.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 has → lahu. She has → lahā. Her hair is long → shaʿruhā ṭawīl (hair is masculine!).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لَهُ</a:t>
            </a:r>
            <a:pPr rtl="1" algn="ctr" indent="0" marL="0">
              <a:lnSpc>
                <a:spcPct val="120000"/>
              </a:lnSpc>
              <a:buNone/>
            </a:pPr>
            <a:r>
              <a:rPr lang="ar-SA" altLang="en-US" sz="1950" b="1" dirty="0">
                <a:solidFill>
                  <a:srgbClr val="1B3B6F"/>
                </a:solidFill>
                <a:latin typeface="Amiri" pitchFamily="2" charset="-78"/>
                <a:cs typeface="Amiri" pitchFamily="2" charset="-78"/>
              </a:rPr>
              <a:t> شَعْرٌ قَصِيرٌ · </a:t>
            </a:r>
            <a:pPr rtl="1" algn="ctr" indent="0" marL="0">
              <a:lnSpc>
                <a:spcPct val="120000"/>
              </a:lnSpc>
              <a:buNone/>
            </a:pPr>
            <a:r>
              <a:rPr lang="ar-SA" altLang="en-US" sz="1950" b="1" dirty="0">
                <a:solidFill>
                  <a:srgbClr val="D6336C"/>
                </a:solidFill>
                <a:latin typeface="Amiri" pitchFamily="2" charset="-78"/>
                <a:cs typeface="Amiri" pitchFamily="2" charset="-78"/>
              </a:rPr>
              <a:t>لَهَا</a:t>
            </a:r>
            <a:pPr rtl="1" algn="ctr" indent="0" marL="0">
              <a:lnSpc>
                <a:spcPct val="120000"/>
              </a:lnSpc>
              <a:buNone/>
            </a:pPr>
            <a:r>
              <a:rPr lang="ar-SA" altLang="en-US" sz="1950" b="1" dirty="0">
                <a:solidFill>
                  <a:srgbClr val="1B3B6F"/>
                </a:solidFill>
                <a:latin typeface="Amiri" pitchFamily="2" charset="-78"/>
                <a:cs typeface="Amiri" pitchFamily="2" charset="-78"/>
              </a:rPr>
              <a:t> شَعْرٌ طَوِيلٌ · عَيْنَا</a:t>
            </a:r>
            <a:pPr rtl="1" algn="ctr" indent="0" marL="0">
              <a:lnSpc>
                <a:spcPct val="120000"/>
              </a:lnSpc>
              <a:buNone/>
            </a:pPr>
            <a:r>
              <a:rPr lang="ar-SA" altLang="en-US" sz="1950" b="1" dirty="0">
                <a:solidFill>
                  <a:srgbClr val="D6336C"/>
                </a:solidFill>
                <a:latin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cs typeface="Amiri" pitchFamily="2" charset="-78"/>
              </a:rPr>
              <a:t> بُنِّيَّتَانِ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TB-L03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Physical description, possession and relative clauses.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height, hair and eyes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he / she is wearing.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hair and eyes agree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الَّذِي / الَّتِي</a:t>
            </a:r>
            <a:pPr algn="l" indent="0" marL="0">
              <a:buNone/>
            </a:pPr>
            <a:r>
              <a:rPr lang="en-US" sz="1300" b="1" dirty="0">
                <a:solidFill>
                  <a:srgbClr val="C9780A"/>
                </a:solidFill>
                <a:latin typeface="Calibri" pitchFamily="34" charset="0"/>
                <a:cs typeface="Amiri" pitchFamily="2" charset="-78"/>
              </a:rPr>
              <a:t> (the one who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two people in a full, respectful portrait.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personality from behaviour (he seems … because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Height, hair and eyes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Clothes in a portrait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personality detail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القَامَةُ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‎قامت / قد‎ </a:t>
            </a:r>
            <a:pPr indent="0" marL="0">
              <a:buNone/>
            </a:pPr>
            <a:r>
              <a:rPr lang="en-US" sz="950" b="1" dirty="0">
                <a:solidFill>
                  <a:srgbClr val="2E8B57"/>
                </a:solidFill>
                <a:latin typeface="Calibri" pitchFamily="34" charset="0"/>
                <a:cs typeface="Amiri" pitchFamily="2" charset="-78"/>
              </a:rPr>
              <a:t> qāmat · stature, height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‎شکل‎ </a:t>
            </a:r>
            <a:pPr indent="0" marL="0">
              <a:buNone/>
            </a:pPr>
            <a:r>
              <a:rPr lang="en-US" sz="950" b="1" dirty="0">
                <a:solidFill>
                  <a:srgbClr val="2E8B57"/>
                </a:solidFill>
                <a:latin typeface="Calibri" pitchFamily="34" charset="0"/>
                <a:cs typeface="Amiri" pitchFamily="2" charset="-78"/>
              </a:rPr>
              <a:t> shakl · shape, appearance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نَظَّارَةٌ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‎عینک‎ </a:t>
            </a:r>
            <a:pPr indent="0" marL="0">
              <a:buNone/>
            </a:pPr>
            <a:r>
              <a:rPr lang="en-US" sz="950" b="1" dirty="0">
                <a:solidFill>
                  <a:srgbClr val="2E8B57"/>
                </a:solidFill>
                <a:latin typeface="Calibri" pitchFamily="34" charset="0"/>
                <a:cs typeface="Amiri" pitchFamily="2" charset="-78"/>
              </a:rPr>
              <a:t> ainak · glasses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جِسْمِيَّةٌ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 → physical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قَصِيرُ القَامَةِ / قَصِيرَةُ القَامَةِ</a:t>
            </a:r>
            <a:endParaRPr lang="ar-SA" sz="255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مُتَوَسِّطُ القَامَةِ / مُتَوَسِّطَةُ القَامَةِ</a:t>
            </a:r>
            <a:endParaRPr lang="ar-SA" sz="24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مُتَوَسِّطَةُ القَامَةِ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 القَامَةِ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طَوِيلٌ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قَصِيرٌ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مُجَعَّدٌ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مُجَعَّدٌ</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مُجَعَّدٌ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مُسْتَقِيمٌ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مُسْتَقِيمٌ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مُسْتَقِيمٌ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عَيْنَانِ بُنِّيَّتَانِ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her eyes</a:t>
            </a:r>
            <a:endParaRPr lang="en-US" sz="700" dirty="0"/>
          </a:p>
        </p:txBody>
      </p:sp>
      <p:sp>
        <p:nvSpPr>
          <p:cNvPr id="41" name="Text 3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عَيْنَاهَا</a:t>
            </a:r>
            <a:endParaRPr lang="ar-SA" sz="135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blue (2)</a:t>
            </a:r>
            <a:endParaRPr lang="en-US" sz="700" dirty="0"/>
          </a:p>
        </p:txBody>
      </p:sp>
      <p:sp>
        <p:nvSpPr>
          <p:cNvPr id="44" name="Text 4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زَرْقَاوَانِ</a:t>
            </a:r>
            <a:endParaRPr lang="ar-SA" sz="135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عَيْنٌ بُنِّيَّةٌ</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يَرْتَدِي نَظَّارَةً</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نَظَّارَاتٌ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glasses</a:t>
            </a:r>
            <a:endParaRPr lang="en-US" sz="700" dirty="0"/>
          </a:p>
        </p:txBody>
      </p:sp>
      <p:sp>
        <p:nvSpPr>
          <p:cNvPr id="62" name="Text 5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نَظَّارَةٌ</a:t>
            </a:r>
            <a:endParaRPr lang="ar-SA" sz="135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تَرْتَدِي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9" name="Shape 6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تَرْتَدِي نَظَّارَةً</a:t>
            </a:r>
            <a:endParaRPr lang="ar-SA" sz="3000" dirty="0"/>
          </a:p>
        </p:txBody>
      </p:sp>
      <p:sp>
        <p:nvSpPr>
          <p:cNvPr id="72" name="Text 6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wears glasses</a:t>
            </a:r>
            <a:endParaRPr lang="en-US" sz="1350" dirty="0"/>
          </a:p>
          <a:p>
            <a:pPr indent="0" marL="0">
              <a:buNone/>
            </a:pPr>
            <a:r>
              <a:rPr lang="en-US" sz="1100" i="1" dirty="0">
                <a:solidFill>
                  <a:srgbClr val="5A6472"/>
                </a:solidFill>
                <a:latin typeface="Calibri" pitchFamily="34" charset="0"/>
                <a:cs typeface="Amiri" pitchFamily="2" charset="-78"/>
              </a:rPr>
              <a:t>tar-ta-dī naẓ-ẓā-ra-tan</a:t>
            </a:r>
            <a:endParaRPr lang="en-US"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لَهُ لِحْيَةٌ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مَلَامِحُهُ هَادِئَةٌ</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features are calm</a:t>
            </a:r>
            <a:endParaRPr lang="en-US" sz="1350" dirty="0"/>
          </a:p>
          <a:p>
            <a:pPr indent="0" marL="0">
              <a:buNone/>
            </a:pPr>
            <a:r>
              <a:rPr lang="en-US" sz="1100" i="1" dirty="0">
                <a:solidFill>
                  <a:srgbClr val="5A6472"/>
                </a:solidFill>
                <a:latin typeface="Calibri" pitchFamily="34" charset="0"/>
                <a:cs typeface="Amiri" pitchFamily="2" charset="-78"/>
              </a:rPr>
              <a:t>ma-lā-mi-ḥu-hu hā-di-ʾa-tun</a:t>
            </a:r>
            <a:endParaRPr lang="en-US"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فُسْتَانٌ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فَسَاتِينُ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الفُسْتَانُ</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مِعْطَفٌ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مَعَاطِفُ</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المِعْطَفُ</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سُتْرَةٌ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سُتَرٌ</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السُّتْرَةُ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حِذَاءٌ</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أَحْذِيَةٌ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الحِذَاءُ</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حِجَابٌ</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أَحْجِبَةٌ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الحِجَابُ</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قُبَّعَةٌ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قُبَّعَاتٌ</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القُبَّعَةُ</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37" name="Shape 34"/>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40" name="Shape 37"/>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2" name="Text 39"/>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43" name="Shape 40"/>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5" name="Text 42"/>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46" name="Shape 4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1920240"/>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9" name="Shape 4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52" name="Text 4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53" name="Shape 50"/>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56" name="Shape 53"/>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59" name="Shape 56"/>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9" name="Shape 6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72" name="Shape 6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75" name="Shape 7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7" name="Text 7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THE PORTRAIT IN ORDER: HE VS SHE (WEBSITE RULES + TABLE)</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 hair → eyes → clothes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cs typeface="Amiri" pitchFamily="2" charset="-78"/>
              </a:rPr>
              <a:t>القَامَةُ ← الشَّعْرُ ← العَيْنَانِ ← المَلَابِسُ</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7" name="Text 14"/>
          <p:cNvSpPr txBox="1"/>
          <p:nvPr/>
        </p:nvSpPr>
        <p:spPr>
          <a:xfrm>
            <a:off x="37581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 طَوِيلُ القَامَةِ.</a:t>
            </a:r>
            <a:endParaRPr lang="ar-SA" sz="2400" dirty="0"/>
          </a:p>
        </p:txBody>
      </p:sp>
      <p:sp>
        <p:nvSpPr>
          <p:cNvPr id="21" name="Text 18"/>
          <p:cNvSpPr txBox="1"/>
          <p:nvPr/>
        </p:nvSpPr>
        <p:spPr>
          <a:xfrm>
            <a:off x="3776472"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 طَوِيلَ</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 القَامَةِ.</a:t>
            </a:r>
            <a:endParaRPr lang="ar-SA" sz="2400" dirty="0"/>
          </a:p>
        </p:txBody>
      </p:sp>
      <p:sp>
        <p:nvSpPr>
          <p:cNvPr id="22" name="Text 19"/>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height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لَهُ</a:t>
            </a:r>
            <a:pPr rtl="1" algn="ctr" indent="0" marL="0">
              <a:buNone/>
            </a:pPr>
            <a:r>
              <a:rPr lang="ar-SA" altLang="en-US" sz="2400" b="1" dirty="0">
                <a:solidFill>
                  <a:srgbClr val="1B3B6F"/>
                </a:solidFill>
                <a:latin typeface="Amiri" pitchFamily="2" charset="-78"/>
                <a:cs typeface="Amiri" pitchFamily="2" charset="-78"/>
              </a:rPr>
              <a:t> شَعْرٌ قَصِيرٌ وَمُجَعَّدٌ.</a:t>
            </a:r>
            <a:endParaRPr lang="ar-SA" sz="2400" dirty="0"/>
          </a:p>
        </p:txBody>
      </p:sp>
      <p:sp>
        <p:nvSpPr>
          <p:cNvPr id="27" name="Text 24"/>
          <p:cNvSpPr txBox="1"/>
          <p:nvPr/>
        </p:nvSpPr>
        <p:spPr>
          <a:xfrm>
            <a:off x="3776472"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لَهَا</a:t>
            </a:r>
            <a:pPr rtl="1" algn="ctr" indent="0" marL="0">
              <a:buNone/>
            </a:pPr>
            <a:r>
              <a:rPr lang="ar-SA" altLang="en-US" sz="2400" b="1" dirty="0">
                <a:solidFill>
                  <a:srgbClr val="1B3B6F"/>
                </a:solidFill>
                <a:latin typeface="Amiri" pitchFamily="2" charset="-78"/>
                <a:cs typeface="Amiri" pitchFamily="2" charset="-78"/>
              </a:rPr>
              <a:t> شَعْرٌ طَوِيلٌ مُسْتَقِيمٌ.</a:t>
            </a:r>
            <a:endParaRPr lang="ar-SA" sz="2400" dirty="0"/>
          </a:p>
        </p:txBody>
      </p:sp>
      <p:sp>
        <p:nvSpPr>
          <p:cNvPr id="28" name="Text 25"/>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hair (he / she has)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قَصِيرٌ.</a:t>
            </a:r>
            <a:endParaRPr lang="ar-SA" sz="2400" dirty="0"/>
          </a:p>
        </p:txBody>
      </p:sp>
      <p:sp>
        <p:nvSpPr>
          <p:cNvPr id="33" name="Text 30"/>
          <p:cNvSpPr txBox="1"/>
          <p:nvPr/>
        </p:nvSpPr>
        <p:spPr>
          <a:xfrm>
            <a:off x="3776472"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طَوِيلٌ.</a:t>
            </a:r>
            <a:endParaRPr lang="ar-SA" sz="2400" dirty="0"/>
          </a:p>
        </p:txBody>
      </p:sp>
      <p:sp>
        <p:nvSpPr>
          <p:cNvPr id="34" name="Text 31"/>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his / her hair (masc. adjective!)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عَيْنَا</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زَرْقَا</a:t>
            </a:r>
            <a:pPr rtl="1" algn="ctr" indent="0" marL="0">
              <a:buNone/>
            </a:pPr>
            <a:r>
              <a:rPr lang="ar-SA" altLang="en-US" sz="2400" b="1" dirty="0">
                <a:solidFill>
                  <a:srgbClr val="0E7C86"/>
                </a:solidFill>
                <a:latin typeface="Amiri" pitchFamily="2" charset="-78"/>
                <a:cs typeface="Amiri" pitchFamily="2" charset="-78"/>
              </a:rPr>
              <a:t>وَانِ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9" name="Text 36"/>
          <p:cNvSpPr txBox="1"/>
          <p:nvPr/>
        </p:nvSpPr>
        <p:spPr>
          <a:xfrm>
            <a:off x="3776472"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عَيْنَا</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بُنِّيَّتَ</a:t>
            </a:r>
            <a:pPr rtl="1" algn="ctr" indent="0" marL="0">
              <a:buNone/>
            </a:pPr>
            <a:r>
              <a:rPr lang="ar-SA" altLang="en-US" sz="2400" b="1" dirty="0">
                <a:solidFill>
                  <a:srgbClr val="0E7C86"/>
                </a:solidFill>
                <a:latin typeface="Amiri" pitchFamily="2" charset="-78"/>
                <a:cs typeface="Amiri" pitchFamily="2" charset="-78"/>
              </a:rPr>
              <a:t>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0" name="Text 37"/>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eyes (two, feminine)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يَرْتَدِي نَظَّارَةً وَقَمِيصًا أَبْيَضَ.</a:t>
            </a:r>
            <a:endParaRPr lang="ar-SA" sz="2400" dirty="0"/>
          </a:p>
        </p:txBody>
      </p:sp>
      <p:sp>
        <p:nvSpPr>
          <p:cNvPr id="43" name="Text 40"/>
          <p:cNvSpPr txBox="1"/>
          <p:nvPr/>
        </p:nvSpPr>
        <p:spPr>
          <a:xfrm>
            <a:off x="3776472"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تَرْتَدِي حِجَابًا أَزْرَقَ.</a:t>
            </a:r>
            <a:endParaRPr lang="ar-SA" sz="2400" dirty="0"/>
          </a:p>
        </p:txBody>
      </p:sp>
      <p:sp>
        <p:nvSpPr>
          <p:cNvPr id="44" name="Text 41"/>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clothes (-an after “wears”)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organise the details and avoid judgemental language — describe, don’t judge.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2 · THE ONE WHO … (WEBSITE RULE)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who in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الَّذِي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هُوَ الشَّابُّ الَّذِي يَرْتَدِي نَظَّارَةً.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the young man who wears glasses.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Man / boy → alladhī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هِيَ الفَتَاةُ الَّتِي لَهَا شَعْرٌ طَوِيلٌ.</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the girl who has long hair.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Woman / girl → allatī.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يَبْدُو / تَبْدُو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يَبْدُو هَادِئًا لِأَنَّهُ يَسْتَمِعُ إِلَى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seems calm because he listens to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looks.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masculine person takes alladhī.</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الوَلَدُ الَّذِي يَرْتَدِي نَظَّارَةً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الوَلَدُ الَّتِي تَرْتَدِي نَظَّارَةً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Physical description, possession and relative clauses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وَصْفُ المَظْهَرِ وَالمِلْكِيَّةُ وَالجُمَلُ المَوْصُولَةُ</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Possession with </a:t>
            </a:r>
            <a:pPr algn="l" indent="0" marL="0">
              <a:buNone/>
            </a:pPr>
            <a:r>
              <a:rPr lang="ar-SA" altLang="en-US" sz="1650" b="1" dirty="0">
                <a:solidFill>
                  <a:srgbClr val="1B3B6F"/>
                </a:solidFill>
                <a:latin typeface="Amiri" pitchFamily="2" charset="-78"/>
                <a:cs typeface="Amiri" pitchFamily="2" charset="-78"/>
              </a:rPr>
              <a:t>لَهُ / لَهَا</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لَهُ / لَهَا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لَهُ شَعْرٌ قَصِيرٌ.   ·   لَهَا عَيْنَانِ بُنِّيَّتَانِ.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Body-feature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شَعْرُهَا طَوِيلٌ وَمُجَعَّدٌ.   ·   عَيْنَاهُ زَرْقَاوَانِ.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Relative clause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الشَّخْصُ الَّذِي / الفَتَاةُ الَّتِي</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الشَّخْصُ الَّذِي يَرْتَدِي نَظَّارَةً.   ·   هِيَ الفَتَاةُ الَّتِي لَهَا شَعْرٌ طَوِيلٌ.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Respectful portrait order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القَامَةُ ← الشَّعْرُ ← العَيْنَانِ ← المَلَابِسُ</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مُتَوَسِّطَةُ القَامَةِ، وَلَهَا شَعْرٌ قَصِيرٌ، وَتَرْتَدِي مِعْطَفًا أَزْرَقَ.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الَّذِي يَرْتَدِي نَظَّارَةً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 نَظَّارَةً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 يَرْتَدِي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بُنِّيَّتَانِ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 وَمُجَعَّدٌ.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قَصِيرَةٌ وَمُجَعَّدَةٌ.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قَصِيرًا.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شَعْرُهَا طَوِيلَةٌ.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الوَلَدُ الَّذِي يَرْتَدِي نَظَّارَةً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 نَظَّارَةً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البِنْتُ الَّذِي يَرْتَدِي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بُنِّيَّتَانِ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شَعْرُهُ قَصِيرٌ وَمُجَعَّدٌ.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 قَصِيرَةٌ وَمُجَعَّدَةٌ.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شَعْرُهَا قَصِيرًا.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person in a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Height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هِيَ مُتَوَسِّطَ</a:t>
            </a:r>
            <a:pPr rtl="1" algn="ctr" indent="0" marL="0">
              <a:buNone/>
            </a:pPr>
            <a:r>
              <a:rPr lang="ar-SA" altLang="en-US" sz="2800" b="1" dirty="0">
                <a:solidFill>
                  <a:srgbClr val="D6336C"/>
                </a:solidFill>
                <a:latin typeface="Amiri" pitchFamily="2" charset="-78"/>
                <a:cs typeface="Amiri" pitchFamily="2" charset="-78"/>
              </a:rPr>
              <a:t>ةُ</a:t>
            </a:r>
            <a:pPr rtl="1" algn="ctr" indent="0" marL="0">
              <a:buNone/>
            </a:pPr>
            <a:r>
              <a:rPr lang="ar-SA" altLang="en-US" sz="2800" b="1" dirty="0">
                <a:solidFill>
                  <a:srgbClr val="1B3B6F"/>
                </a:solidFill>
                <a:latin typeface="Amiri" pitchFamily="2" charset="-78"/>
                <a:cs typeface="Amiri" pitchFamily="2" charset="-78"/>
              </a:rPr>
              <a:t> القَامَةِ.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لَهَا</a:t>
            </a:r>
            <a:pPr rtl="1" algn="ctr" indent="0" marL="0">
              <a:buNone/>
            </a:pPr>
            <a:r>
              <a:rPr lang="ar-SA" altLang="en-US" sz="2400" b="1" dirty="0">
                <a:solidFill>
                  <a:srgbClr val="1B3B6F"/>
                </a:solidFill>
                <a:latin typeface="Amiri" pitchFamily="2" charset="-78"/>
                <a:cs typeface="Amiri" pitchFamily="2" charset="-78"/>
              </a:rPr>
              <a:t> شَعْرٌ طَوِيلٌ مُسْتَقِيمٌ.</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has … hair is masc.</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Eyes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عَيْنَا</a:t>
            </a:r>
            <a:pPr rtl="1" algn="ctr" indent="0" marL="0">
              <a:buNone/>
            </a:pPr>
            <a:r>
              <a:rPr lang="ar-SA" altLang="en-US" sz="2800" b="1" dirty="0">
                <a:solidFill>
                  <a:srgbClr val="D6336C"/>
                </a:solidFill>
                <a:latin typeface="Amiri" pitchFamily="2" charset="-78"/>
                <a:cs typeface="Amiri" pitchFamily="2" charset="-78"/>
              </a:rPr>
              <a:t>هَا</a:t>
            </a:r>
            <a:pPr rtl="1" algn="ctr" indent="0" marL="0">
              <a:buNone/>
            </a:pPr>
            <a:r>
              <a:rPr lang="ar-SA" altLang="en-US" sz="2800" b="1" dirty="0">
                <a:solidFill>
                  <a:srgbClr val="1B3B6F"/>
                </a:solidFill>
                <a:latin typeface="Amiri" pitchFamily="2" charset="-78"/>
                <a:cs typeface="Amiri" pitchFamily="2" charset="-78"/>
              </a:rPr>
              <a:t> بُنِّيَّتَ</a:t>
            </a:r>
            <a:pPr rtl="1" algn="ctr" indent="0" marL="0">
              <a:buNone/>
            </a:pPr>
            <a:r>
              <a:rPr lang="ar-SA" altLang="en-US" sz="2800" b="1" dirty="0">
                <a:solidFill>
                  <a:srgbClr val="0E7C86"/>
                </a:solidFill>
                <a:latin typeface="Amiri" pitchFamily="2" charset="-78"/>
                <a:cs typeface="Amiri" pitchFamily="2" charset="-78"/>
              </a:rPr>
              <a:t>انِ</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eyes → dual.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 clothes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هِيَ الفَتَاةُ </a:t>
            </a:r>
            <a:pPr rtl="1" algn="ctr" indent="0" marL="0">
              <a:lnSpc>
                <a:spcPct val="120000"/>
              </a:lnSpc>
              <a:buNone/>
            </a:pPr>
            <a:r>
              <a:rPr lang="ar-SA" altLang="en-US" sz="1750" b="1" dirty="0">
                <a:solidFill>
                  <a:srgbClr val="1D5FBF"/>
                </a:solidFill>
                <a:latin typeface="Amiri" pitchFamily="2" charset="-78"/>
                <a:cs typeface="Amiri" pitchFamily="2" charset="-78"/>
              </a:rPr>
              <a:t>الَّتِي</a:t>
            </a:r>
            <a:pPr rtl="1" algn="ctr" indent="0" marL="0">
              <a:lnSpc>
                <a:spcPct val="120000"/>
              </a:lnSpc>
              <a:buNone/>
            </a:pPr>
            <a:r>
              <a:rPr lang="ar-SA" altLang="en-US" sz="1750" b="1" dirty="0">
                <a:solidFill>
                  <a:srgbClr val="1B3B6F"/>
                </a:solidFill>
                <a:latin typeface="Amiri" pitchFamily="2" charset="-78"/>
                <a:cs typeface="Amiri" pitchFamily="2" charset="-78"/>
              </a:rPr>
              <a:t> تَرْتَدِي مِعْطَفًا أَزْرَقَ.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Girl → allatī.</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هِيَ مُتَوَسِّطَ</a:t>
            </a:r>
            <a:pPr rtl="1" algn="r" indent="0" marL="0">
              <a:lnSpc>
                <a:spcPct val="120000"/>
              </a:lnSpc>
              <a:buNone/>
            </a:pPr>
            <a:r>
              <a:rPr lang="ar-SA" altLang="en-US" sz="1550" b="1" dirty="0">
                <a:solidFill>
                  <a:srgbClr val="D6336C"/>
                </a:solidFill>
                <a:latin typeface="Amiri" pitchFamily="2" charset="-78"/>
                <a:cs typeface="Amiri" pitchFamily="2" charset="-78"/>
              </a:rPr>
              <a:t>ةُ</a:t>
            </a:r>
            <a:pPr rtl="1" algn="r" indent="0" marL="0">
              <a:lnSpc>
                <a:spcPct val="120000"/>
              </a:lnSpc>
              <a:buNone/>
            </a:pPr>
            <a:r>
              <a:rPr lang="ar-SA" altLang="en-US" sz="1550" b="1" dirty="0">
                <a:solidFill>
                  <a:srgbClr val="1B3B6F"/>
                </a:solidFill>
                <a:latin typeface="Amiri" pitchFamily="2" charset="-78"/>
                <a:cs typeface="Amiri" pitchFamily="2" charset="-78"/>
              </a:rPr>
              <a:t> القَامَةِ، وَ</a:t>
            </a:r>
            <a:pPr rtl="1" algn="r" indent="0" marL="0">
              <a:lnSpc>
                <a:spcPct val="120000"/>
              </a:lnSpc>
              <a:buNone/>
            </a:pPr>
            <a:r>
              <a:rPr lang="ar-SA" altLang="en-US" sz="1550" b="1" dirty="0">
                <a:solidFill>
                  <a:srgbClr val="D6336C"/>
                </a:solidFill>
                <a:latin typeface="Amiri" pitchFamily="2" charset="-78"/>
                <a:cs typeface="Amiri" pitchFamily="2" charset="-78"/>
              </a:rPr>
              <a:t>لَهَا</a:t>
            </a:r>
            <a:pPr rtl="1" algn="r" indent="0" marL="0">
              <a:lnSpc>
                <a:spcPct val="120000"/>
              </a:lnSpc>
              <a:buNone/>
            </a:pPr>
            <a:r>
              <a:rPr lang="ar-SA" altLang="en-US" sz="1550" b="1" dirty="0">
                <a:solidFill>
                  <a:srgbClr val="1B3B6F"/>
                </a:solidFill>
                <a:latin typeface="Amiri" pitchFamily="2" charset="-78"/>
                <a:cs typeface="Amiri" pitchFamily="2" charset="-78"/>
              </a:rPr>
              <a:t> شَعْرٌ طَوِيلٌ مُسْتَقِيمٌ، وَعَيْنَا</a:t>
            </a:r>
            <a:pPr rtl="1" algn="r" indent="0" marL="0">
              <a:lnSpc>
                <a:spcPct val="120000"/>
              </a:lnSpc>
              <a:buNone/>
            </a:pPr>
            <a:r>
              <a:rPr lang="ar-SA" altLang="en-US" sz="1550" b="1" dirty="0">
                <a:solidFill>
                  <a:srgbClr val="D6336C"/>
                </a:solidFill>
                <a:latin typeface="Amiri" pitchFamily="2" charset="-78"/>
                <a:cs typeface="Amiri" pitchFamily="2" charset="-78"/>
              </a:rPr>
              <a:t>هَا</a:t>
            </a:r>
            <a:pPr rtl="1" algn="r" indent="0" marL="0">
              <a:lnSpc>
                <a:spcPct val="120000"/>
              </a:lnSpc>
              <a:buNone/>
            </a:pPr>
            <a:r>
              <a:rPr lang="ar-SA" altLang="en-US" sz="1550" b="1" dirty="0">
                <a:solidFill>
                  <a:srgbClr val="1B3B6F"/>
                </a:solidFill>
                <a:latin typeface="Amiri" pitchFamily="2" charset="-78"/>
                <a:cs typeface="Amiri" pitchFamily="2" charset="-78"/>
              </a:rPr>
              <a:t> بُنِّيَّتَ</a:t>
            </a:r>
            <a:pPr rtl="1" algn="r" indent="0" marL="0">
              <a:lnSpc>
                <a:spcPct val="120000"/>
              </a:lnSpc>
              <a:buNone/>
            </a:pPr>
            <a:r>
              <a:rPr lang="ar-SA" altLang="en-US" sz="1550" b="1" dirty="0">
                <a:solidFill>
                  <a:srgbClr val="0E7C86"/>
                </a:solidFill>
                <a:latin typeface="Amiri" pitchFamily="2" charset="-78"/>
                <a:cs typeface="Amiri" pitchFamily="2" charset="-78"/>
              </a:rPr>
              <a:t>انِ</a:t>
            </a:r>
            <a:pPr rtl="1" algn="r" indent="0" marL="0">
              <a:lnSpc>
                <a:spcPct val="120000"/>
              </a:lnSpc>
              <a:buNone/>
            </a:pPr>
            <a:r>
              <a:rPr lang="ar-SA" altLang="en-US" sz="1550" b="1" dirty="0">
                <a:solidFill>
                  <a:srgbClr val="1B3B6F"/>
                </a:solidFill>
                <a:latin typeface="Amiri" pitchFamily="2" charset="-78"/>
                <a:cs typeface="Amiri" pitchFamily="2" charset="-78"/>
              </a:rPr>
              <a:t>. هِيَ الفَتَاةُ </a:t>
            </a:r>
            <a:pPr rtl="1" algn="r" indent="0" marL="0">
              <a:lnSpc>
                <a:spcPct val="120000"/>
              </a:lnSpc>
              <a:buNone/>
            </a:pPr>
            <a:r>
              <a:rPr lang="ar-SA" altLang="en-US" sz="1550" b="1" dirty="0">
                <a:solidFill>
                  <a:srgbClr val="1D5FBF"/>
                </a:solidFill>
                <a:latin typeface="Amiri" pitchFamily="2" charset="-78"/>
                <a:cs typeface="Amiri" pitchFamily="2" charset="-78"/>
              </a:rPr>
              <a:t>الَّتِي</a:t>
            </a:r>
            <a:pPr rtl="1" algn="r" indent="0" marL="0">
              <a:lnSpc>
                <a:spcPct val="120000"/>
              </a:lnSpc>
              <a:buNone/>
            </a:pPr>
            <a:r>
              <a:rPr lang="ar-SA" altLang="en-US" sz="1550" b="1" dirty="0">
                <a:solidFill>
                  <a:srgbClr val="1B3B6F"/>
                </a:solidFill>
                <a:latin typeface="Amiri" pitchFamily="2" charset="-78"/>
                <a:cs typeface="Amiri" pitchFamily="2" charset="-78"/>
              </a:rPr>
              <a:t> تَرْتَدِي مِعْطَفًا أَزْرَقَ وَحَقِيبَةً سَوْدَاءَ. تَبْدُو وَاثِقَةً لِأَنَّهَا تَتَحَدَّثُ مَعَ الجَمِيعِ.</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She is of medium height, she has long straight hair, and her eyes are brown. She is the girl who is wearing a blue coat and a black bag. She seems confident because she talks to everyone.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لَهُ شَعْرٌ قَصِيرٌ.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has short hair.</a:t>
            </a:r>
            <a:endParaRPr lang="en-US" sz="1250" dirty="0"/>
          </a:p>
          <a:p>
            <a:pPr indent="0" marL="0">
              <a:buNone/>
            </a:pPr>
            <a:r>
              <a:rPr lang="en-US" sz="1050" i="1" dirty="0">
                <a:solidFill>
                  <a:srgbClr val="8A6D1E"/>
                </a:solidFill>
                <a:latin typeface="Calibri" pitchFamily="34" charset="0"/>
                <a:cs typeface="Amiri" pitchFamily="2" charset="-78"/>
              </a:rPr>
              <a:t>lahu = he has.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لَهَا عَيْنَانِ بُنِّيَّتَانِ.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has brown eyes.</a:t>
            </a:r>
            <a:endParaRPr lang="en-US" sz="1250" dirty="0"/>
          </a:p>
          <a:p>
            <a:pPr indent="0" marL="0">
              <a:buNone/>
            </a:pPr>
            <a:r>
              <a:rPr lang="en-US" sz="1050" i="1" dirty="0">
                <a:solidFill>
                  <a:srgbClr val="8A6D1E"/>
                </a:solidFill>
                <a:latin typeface="Calibri" pitchFamily="34" charset="0"/>
                <a:cs typeface="Amiri" pitchFamily="2" charset="-78"/>
              </a:rPr>
              <a:t>Dual 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الشَّخْصُ الَّذِي يَرْتَدِي نَظَّارَةً.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the person who wears glasses.</a:t>
            </a:r>
            <a:endParaRPr lang="en-US" sz="1250" dirty="0"/>
          </a:p>
          <a:p>
            <a:pPr indent="0" marL="0">
              <a:buNone/>
            </a:pPr>
            <a:r>
              <a:rPr lang="en-US" sz="1050" i="1" dirty="0">
                <a:solidFill>
                  <a:srgbClr val="8A6D1E"/>
                </a:solidFill>
                <a:latin typeface="Calibri" pitchFamily="34" charset="0"/>
                <a:cs typeface="Amiri" pitchFamily="2" charset="-78"/>
              </a:rPr>
              <a:t>alladhī for a man.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500" b="1" dirty="0">
                <a:solidFill>
                  <a:srgbClr val="1B3B6F"/>
                </a:solidFill>
                <a:latin typeface="Amiri" pitchFamily="2" charset="-78"/>
                <a:cs typeface="Amiri" pitchFamily="2" charset="-78"/>
              </a:rPr>
              <a:t>هِيَ مُتَوَسِّطَةُ القَامَةِ، وَلَهَا شَعْرٌ قَصِيرٌ، وَتَرْتَدِي مِعْطَفًا أَزْرَقَ.</a:t>
            </a:r>
            <a:endParaRPr lang="ar-SA" sz="25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of medium height, has short hair and wears a blue coat.</a:t>
            </a:r>
            <a:endParaRPr lang="en-US" sz="1250" dirty="0"/>
          </a:p>
          <a:p>
            <a:pPr indent="0" marL="0">
              <a:buNone/>
            </a:pPr>
            <a:r>
              <a:rPr lang="en-US" sz="1050" i="1" dirty="0">
                <a:solidFill>
                  <a:srgbClr val="8A6D1E"/>
                </a:solidFill>
                <a:latin typeface="Calibri" pitchFamily="34" charset="0"/>
                <a:cs typeface="Amiri" pitchFamily="2" charset="-78"/>
              </a:rPr>
              <a:t>Portrait order.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DESCRIBING APPEARANCE — A FULL PHYSICAL PORTRAIT”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شَعْرُهُ مُجَعَّدٌ.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تَلْبَسُ نَظَّارَةً.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طَوِيلٌ.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طَوِيلٌ.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tall.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شَعْرُهُ مُجَعَّدٌ.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His hair is curly.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تَلْبَسُ نَظَّارَةً.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wears glasses.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شَعْرٌ طَوِيلٌ.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 زَرْقَاوَانِ.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الفَتَاةُ الَّتِي تَرْتَدِي حِجَابًا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طَوِيلَةُ القَامَةِ.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عَيْنَاهَا بُنِّيٌّ.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الوَلَدُ الَّتِي تَرْتَدِي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طَوِيلَةُ القَامَةِ.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شَعْرٌ طَوِيلٌ.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 زَرْقَاوَانِ.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الفَتَاةُ الَّتِي تَرْتَدِي حِجَابًا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طَوِيلَةُ القَامَةِ.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طَوِيلَةٌ.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عَيْنَاهَا بُنِّيٌّ.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الوَلَدُ الَّتِي تَرْتَدِي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طَوِيلَةُ القَامَةِ.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يَرْتَدِي حِجَابًا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تَرْتَدِي حِجَابًا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غَرِيبُ الشَّكْلِ.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مُتَوَسِّطُ القَامَةِ وَلَهُ شَعْرٌ قَصِيرٌ.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شَكْلُهُ سَيِّئٌ.</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___ القَامَةِ.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 مِنْ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 وَعَيْنَاهَا خَضْرَاوَانِ.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 وَعَيْنَاهَا خَضْرَاوَانِ.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يَرْتَدِي حِجَابًا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تَرْتَدِي حِجَابًا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غَرِيبُ الشَّكْلِ.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مُتَوَسِّطُ القَامَةِ وَلَهُ شَعْرٌ قَصِيرٌ.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شَكْلُهُ سَيِّئٌ.</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___ القَامَةِ.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طَوِيلَةُ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 مِنْ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compound adjective agrees with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 وَعَيْنَاهَا خَضْرَاوَانِ.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 شَعْرٌ طَوِيلَةٌ.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 وَعَيْنَاهَا خَضْرَاوَانِ.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references and adjective agreement are consistent.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لَهَا شَعْرٌ طَوِيلَةٌ.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hair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الوَلَدُ الَّتِي يَرْتَدِي نَظَّارَةً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boy → alladhī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عَيْنَاهَا 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eyes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لَهَا شَعْرٌ طَوِيلَةٌ.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لَهَا شَعْرٌ طَوِيلٌ.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is masculine, even for a girl.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الوَلَدُ الَّتِي يَرْتَدِي نَظَّارَةً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الوَلَدُ الَّذِي يَرْتَدِي نَظَّارَةً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person takes </a:t>
            </a:r>
            <a:pPr algn="l" indent="0" marL="0">
              <a:buNone/>
            </a:pPr>
            <a:r>
              <a:rPr lang="ar-SA" altLang="en-US" sz="1500" b="1" dirty="0">
                <a:solidFill>
                  <a:srgbClr val="1B3B6F"/>
                </a:solidFill>
                <a:latin typeface="Amiri" pitchFamily="2" charset="-78"/>
                <a:cs typeface="Amiri" pitchFamily="2" charset="-78"/>
              </a:rPr>
              <a:t>الَّذِي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عَيْنَاهَا 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عَيْنَاهَا بُنِّيَّتَانِ.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eyes → dual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focus: physical appearance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and straight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straight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curly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 and a white shirt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bag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a blue coat and a black bag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glasses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short hair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يَصِفُ المُتَحَدِّثُ شَخْصَيْنِ فِي صُورَةٍ.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describes two people in a picture.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الأَوَّلُ شَابٌّ طَوِيلُ القَامَةِ، لَهُ شَعْرٌ قَصِيرٌ وَمُجَعَّدٌ،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a tall young man; he has short, curly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وَيَرْتَدِي نَظَّارَةً وَقَمِيصًا أَبْيَضَ.</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wears glasses and a white shirt.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الثَّانِيَةُ فَتَاةٌ مُتَوَسِّطَةُ القَامَةِ، لَهَا شَعْرٌ طَوِيلٌ مُسْتَقِيمٌ وَعَيْنَانِ بُنِّيَّتَانِ.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a girl of medium height; she has long straight hair and brown eyes.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الفَتَاةُ الَّتِي تَرْتَدِي مِعْطَفًا أَزْرَقَ وَحَقِيبَةً سَوْدَاءَ.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the girl who is wearing a blue coat and (has) a black bag.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يَصِفُ المُتَحَدِّثُ شَخْصَيْنِ.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 height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شَابٌّ طَوِيلُ القَامَةِ.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and straight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and straight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and curly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لَهُ شَعْرٌ قَصِيرٌ وَمُجَعَّدٌ.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glasses and a white shirt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bag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يَرْتَدِي نَظَّارَةً وَقَمِيصًا أَبْيَضَ.</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عَيْنَانِ بُنِّيَّتَانِ.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wears a blue coat and a black bag</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glasses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short hair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الَّتِي تَرْتَدِي مِعْطَفًا أَزْرَقَ وَحَقِيبَةً سَوْدَاءَ.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Appearance and character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Appearance and character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physical-description cards to personality clues, then justify which details are facts and which are opinions using accurate adjective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3 description cards (appearance) and 3 personality clues on screen.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match each appearance card to a personality clue (type 1-B, 2-A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each match, say ONE fact (appearance) and ONE opinion (personality).</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every adjective: m. / f. agreement.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say one fact: “huwa ṭawīl / hiya ṭawīla”.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fact + an opinion with “I think” (a‘taqidu anna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the opinion with evidence (li’annahu / li’annahā …) and use a relative clause (alladhī / allatī).</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طَوِيلٌ / طَوِيلَةٌ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tall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شَعْرُهَا أَسْوَدُ</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her hair is black</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أَعْتَقِدُ أَنَّهُ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think that he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الَّذِي / الَّتِي</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who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Developed speaking: physical appearance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شَخْصًا فِي صُورَةٍ.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مَلَابِسَ شَخْصٍ تَعْرِفُهُ.</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اِسْتَعْمِلِ الَّذِي أَوِ الَّتِي فِي وَصْفٍ.</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الفَرْقُ بَيْنَ وَصْفِ المَظْهَرِ وَالحُكْمِ عَلَى الشَّخْصِيَّةِ؟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cs typeface="Amiri" pitchFamily="2" charset="-78"/>
              </a:rPr>
              <a:t>هُوَ / هِيَ ___ القَامَةِ ، لَهُ / لَهَا شَعْرٌ ___ .</a:t>
            </a:r>
            <a:endParaRPr lang="ar-SA" sz="13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يَرْتَدِي / تَرْتَدِي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هُوَ الشَّخْصُ الَّذِي … / هِيَ الفَتَاةُ الَّتِي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يَبْدُو / تَبْدُو ___ لِأَنَّهُ / لِأَنَّهَا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هُوَ أَخُوكَ فِي الصُّورَةِ؟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your brother in the picture?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 الشَّابُّ الَّذِي يَرْتَدِي نَظَّارَةً.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the young man who wears glasses.</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person in order: height, hair, eyes, two items of clothing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his / her, eyes (dual) and one “the one who …”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respectful full portrait of two people — height, hair, eyes, features, clothes and one personality inference from behaviour.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شَعْرُهُ قَصِيرٌ وَمُجَعَّدٌ.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hair is short and curly.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شَعْرُهَا طَوِيلٌ وَمُسْتَقِيمٌ.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hair is long and straight.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الشَّخْصُ الَّذِي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the person who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الفَتَاةُ الَّتِي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the girl who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يَبْدُو / تَبْدُو ______ لِأَنَّهُ / لِأَنَّهَا ______ .</a:t>
            </a:r>
            <a:endParaRPr lang="ar-SA" sz="16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seems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______ القَامَةِ.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tall / short / medium height.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 شَعْرٌ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عَيْنَاهُ / عَيْنَاهَا بُنِّيَّتَانِ.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يَرْتَدِي / تَرْتَدِي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طَوِيلُ القَامَةِ  ·  قَصِيرُ القَامَةِ  ·  مُتَوَسِّطُ القَامَةِ  ·  لَهُ  ·  لَهَا  ·  شَعْرٌ مُجَعَّدٌ  ·  شَعْرٌ مُسْتَقِيمٌ  ·  عَيْنَانِ بُنِّيَّتَانِ  ·  نَظَّارَةً  ·  الَّذِي  ·  الَّتِي  ·  يَبْدُو</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giving a respectful full portrait of two people. Organise height, hair, eyes, distinguishing features, clothes and one personality inference supported by behaviour.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هٰذِهِ الصُّورَةِ شَخْصَانِ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this picture there are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يَبْدُو هَادِئًا لِأَنَّهُ يَسْتَمِعُ إِلَى الآخَرِينَ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seems calm because he listens to others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تَبْدُو وَاثِقَةً وَمَرِحَةً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seems confident and cheerful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لِأَنَّهَا تَتَحَدَّثُ مَعَ الجَمِيعِ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she talks to everyone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يَحْكُمُ عَلَيْهِ مِنْ مَظْهَرِهِ فَقَطْ</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judge him by his appearance alone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فِي هٰذِهِ الصُّورَةِ شَخْصَانِ. الأَوَّلُ شَابٌّ طَوِيلُ القَامَةِ، لَهُ شَعْرٌ قَصِيرٌ وَمُجَعَّدٌ وَعَيْنَانِ بُنِّيَّتَانِ. هُوَ الشَّخْصُ الَّذِي يَرْتَدِي نَظَّارَةً وَقَمِيصًا أَبْيَضَ وَسِرْوَالًا أَسْوَدَ. يَبْدُو هَادِئًا لِأَنَّهُ يَسْتَمِعُ إِلَى الآخَرِينَ. أَمَّا الفَتَاةُ فَهِيَ مُتَوَسِّطَةُ القَامَةِ، وَلَهَا شَعْرٌ طَوِيلٌ مُسْتَقِيمٌ. هِيَ الفَتَاةُ الَّتِي تَرْتَدِي حِجَابًا أَزْرَقَ وَمِعْطَفًا رَمَادِيًّا. تَبْدُو وَاثِقَةً وَمَرِحَةً لِأَنَّهَا تَتَحَدَّثُ مَعَ الجَمِيعِ. الوَصْفُ الدَّقِيقُ يَحْتَرِمُ الشَّخْصَ وَلَا يَحْكُمُ عَلَيْهِ مِنْ مَظْهَرِهِ فَقَطْ.</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this picture there are two people. The first is a tall young man; he has short, curly hair and brown eyes. He is the person who is wearing glasses, a white shirt and black trousers. He seems calm because he listens to others. As for the girl, she is of medium height and has long straight hair. She is the girl who is wearing a blue headscarf and a grey coat. She seems confident and cheerful because she talks to everyone. A precise description respects the person and does not judge them by their appearance alone.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portrait order for the young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and الَّتِي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inference with يَبْدُو …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respectful closing sentence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height, hair, eyes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lahu for him and lahā for her.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Hair adjectives are masculine; eyes are dual.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alladhī / allatī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inference is based on behaviour, not looks.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 نَظَّارَةً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الَّذِي يَرْتَدِي نَظَّارَةً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 يَرْتَدِي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بُنِّيَّتَانِ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لَهَا شَعْرٌ 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لَهُ شَعْرٌ طَوِيلَةٌ.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شَعْرُهَا طَوِيلَةٌ.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الوَلَدُ الَّتِي تَرْتَدِي نَظَّارَةً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الوَلَدُ الَّذِي يَرْتَدِي نَظَّارَةً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البِنْتُ الَّذِي يَرْتَدِي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بُنِّيَّتَانِ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focus: physical appearance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الصُّورَةِ عَائِلَةٌ تَقِفُ أَمَامَ البَيْتِ. الأَبُ هُوَ الرَّجُلُ الَّذِي لَهُ لِحْيَةٌ قَصِيرَةٌ وَيَرْتَدِي سُتْرَةً رَمَادِيَّةً. الأُمُّ مُتَوَسِّطَةُ القَامَةِ، وَلَهَا شَعْرٌ طَوِيلٌ، وَتَرْتَدِي حِجَابًا أَخْضَرَ. البِنْتُ الَّتِي تَقِفُ عَلَى اليَمِينِ لَهَا عَيْنَانِ بُنِّيَّتَانِ وَتَرْتَدِي فُسْتَانًا أَزْرَقَ. أَمَّا الوَلَدُ فَهُوَ قَصِيرُ القَامَةِ وَيَرْتَدِي قَمِيصًا رِيَاضِيًّا.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الصُّورَةِ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picture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تَقِفُ أَمَامَ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standing in front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الرَّجُلُ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لِحْيَةٌ قَصِيرَةٌ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beard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رَمَادِيَّةً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حِجَابًا أَخْضَرَ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green headscarf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البِنْتُ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girl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اليَمِينِ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right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الوَلَدُ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قَمِيصًا رِيَاضِيًّا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shirt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park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house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beard and a grey jacket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 long hair, a green headscarf</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short hair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glasses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headscarf</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shirt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a beard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grey jacket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a sports shirt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park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house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تَقِفُ أَمَامَ البَيْتِ.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dress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short beard and a grey jacket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لَهُ لِحْيَةٌ قَصِيرَةٌ وَيَرْتَدِي سُتْرَةً رَمَادِيَّةً.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medium height, long hair, a green headscarf</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short hair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wearing glasses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مُتَوَسِّطَةُ القَامَةِ … حِجَابًا أَخْضَرَ.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البِنْتُ الَّتِي تَقِفُ عَلَى اليَمِينِ.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dress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headscarf</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shirt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تَرْتَدِي فُسْتَانًا أَزْرَقَ.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a beard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grey jacket</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short, wearing a sports shirt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قَصِيرُ القَامَةِ وَيَرْتَدِي قَمِيصًا رِيَاضِيًّا.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physical appearance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الَّذِي يَرْتَدِي نَظَّارَةً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 نَظَّارَةً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 يَرْتَدِي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بُنِّيَّتَانِ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قَصِيرَةٌ وَمُجَعَّدَةٌ.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قَصِيرًا.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 وَمُجَعَّدٌ.</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تَرْتَدِي حِجَابًا</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يَرْتَدِي حِجَابًا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هُوَ غَرِيبُ الشَّكْلِ.</a:t>
            </a:r>
            <a:endParaRPr lang="ar-SA" sz="200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هُوَ مُتَوَسِّطُ القَامَةِ وَلَهُ شَعْرٌ قَصِيرٌ.</a:t>
            </a:r>
            <a:endParaRPr lang="ar-SA" sz="200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شَكْلُهُ سَيِّئٌ.</a:t>
            </a:r>
            <a:endParaRPr lang="ar-SA" sz="2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شَعْرُهَا طَوِيلَةٌ.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الوَلَدُ الَّذِي يَرْتَدِي نَظَّارَةً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 نَظَّارَةً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البِنْتُ الَّذِي يَرْتَدِي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بُنِّيَّتَانِ</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 قَصِيرَةٌ وَمُجَعَّدَةٌ.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شَعْرُهَا قَصِيرًا.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شَعْرُهُ قَصِيرٌ وَمُجَعَّدٌ.</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تَرْتَدِي حِجَابًا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يَرْتَدِي حِجَابًا</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غَرِيبُ الشَّكْلِ.</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مُتَوَسِّطُ القَامَةِ وَلَهُ شَعْرٌ قَصِيرٌ.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شَكْلُهُ سَيِّئٌ.</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TB-L04 · My Home, Rooms and Garden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house, a home</a:t>
            </a:r>
            <a:pPr indent="0" marL="0">
              <a:buNone/>
            </a:pPr>
            <a:r>
              <a:rPr lang="en-US" sz="1000" i="1" dirty="0">
                <a:solidFill>
                  <a:srgbClr val="5A6472"/>
                </a:solidFill>
                <a:latin typeface="Calibri" pitchFamily="34" charset="0"/>
                <a:cs typeface="Amiri" pitchFamily="2" charset="-78"/>
              </a:rPr>
              <a:t>  pl. بُيُوتٌ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flat</a:t>
            </a:r>
            <a:pPr indent="0" marL="0">
              <a:buNone/>
            </a:pPr>
            <a:r>
              <a:rPr lang="en-US" sz="1000" i="1" dirty="0">
                <a:solidFill>
                  <a:srgbClr val="5A6472"/>
                </a:solidFill>
                <a:latin typeface="Calibri" pitchFamily="34" charset="0"/>
                <a:cs typeface="Amiri" pitchFamily="2" charset="-78"/>
              </a:rPr>
              <a:t>  pl. شُقَقٌ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room</a:t>
            </a:r>
            <a:pPr indent="0" marL="0">
              <a:buNone/>
            </a:pPr>
            <a:r>
              <a:rPr lang="en-US" sz="1000" i="1" dirty="0">
                <a:solidFill>
                  <a:srgbClr val="5A6472"/>
                </a:solidFill>
                <a:latin typeface="Calibri" pitchFamily="34" charset="0"/>
                <a:cs typeface="Amiri" pitchFamily="2" charset="-78"/>
              </a:rPr>
              <a:t>  pl. غُرَفٌ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مَطْبَخٌ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kitchen</a:t>
            </a:r>
            <a:pPr indent="0" marL="0">
              <a:buNone/>
            </a:pPr>
            <a:r>
              <a:rPr lang="en-US" sz="1000" i="1" dirty="0">
                <a:solidFill>
                  <a:srgbClr val="5A6472"/>
                </a:solidFill>
                <a:latin typeface="Calibri" pitchFamily="34" charset="0"/>
                <a:cs typeface="Amiri" pitchFamily="2" charset="-78"/>
              </a:rPr>
              <a:t>  pl. مَطَابِخُ</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حَدِيقَةٌ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garden</a:t>
            </a:r>
            <a:pPr indent="0" marL="0">
              <a:buNone/>
            </a:pPr>
            <a:r>
              <a:rPr lang="en-US" sz="1000" i="1" dirty="0">
                <a:solidFill>
                  <a:srgbClr val="5A6472"/>
                </a:solidFill>
                <a:latin typeface="Calibri" pitchFamily="34" charset="0"/>
                <a:cs typeface="Amiri" pitchFamily="2" charset="-78"/>
              </a:rPr>
              <a:t>  pl. حَدَائِقُ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live in a house or a flat? Write one sentence in Arabic (a real or an invented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أَيْنَ تَسْكُنُ؟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D2-L06: the picture game and the vocabulary tab — learn 8 description words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person (invented or a book character): appearance + personality with one piece of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on appearance and personality, with a fact / opinion contrast.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TB-L04 · My Home, Rooms and Garden</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بَيْتِي وَغُرَفُهُ وَحَدِيقَتُهُ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home words + where you live.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TB-L03 · Appearance and Personality</dc:title>
  <dc:subject>PptxGenJS Presentation</dc:subject>
  <dc:creator>Al Madina Online School · Arabic Department</dc:creator>
  <cp:lastModifiedBy>Al Madina Online School · Arabic Department</cp:lastModifiedBy>
  <cp:revision>1</cp:revision>
  <dcterms:created xsi:type="dcterms:W3CDTF">2026-10-11T06:43:49Z</dcterms:created>
  <dcterms:modified xsi:type="dcterms:W3CDTF">2026-10-11T06:43:49Z</dcterms:modified>
</cp:coreProperties>
</file>