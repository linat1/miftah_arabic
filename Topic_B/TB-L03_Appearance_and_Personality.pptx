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Lst>
  <p:notesMasterIdLst>
    <p:notesMasterId r:id="rId4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notesMaster" Target="notesMasters/notesMaster1.xml"/><Relationship Id="rId50" Type="http://schemas.openxmlformats.org/officeDocument/2006/relationships/presProps" Target="presProps.xml"/><Relationship Id="rId51" Type="http://schemas.openxmlformats.org/officeDocument/2006/relationships/viewProps" Target="viewProps.xml"/><Relationship Id="rId52" Type="http://schemas.openxmlformats.org/officeDocument/2006/relationships/theme" Target="theme/theme1.xml"/><Relationship Id="rId5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ADVANCED TOPIC B · TB-L03 — Appearance and Personality. Website: Advanced Topics › Topic B (Personal and Social Life) › Lesson 3.
The website builds this lesson on the D2-L06 lesson engine, with the Topic focus “Build detailed, respectful descriptions and support character judgements with evidence.” (grammar: Adjective agreement; relative pronouns; ليس; skills: Reading · Writing) and the application challenge “Appearance and character match”. This deck follows the same engine, re-sequenced for Topic B: lesson references now point to Topic B codes (lessons outside Topic B keep their website code), and the challenge is added before the speaking task.
No year group: Topic lessons are taught to any class following the Advanced Topics route.
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Development › Topic B People, Relationships and Style › TB-L03. The website lesson “Describing Appearance — A Full Physical Portrait”: vocabulary, grammar rules and quiz, patterns, common mistakes, sorter, listening, reading, speaking prompts and model, writing task and model, differentiation, final check and the lesson mission. Picture match: website visual game “Describing Appearance — A Full Physical Portrait”.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Core: the portrait ORDER as four chunks — هُوَ / هِيَ طَوِيلُ / طَوِيلَةُ القَامَةِ · لَهُ / لَهَا شَعْرٌ … · عَيْنَاهُ / عَيْنَاهَا … · يَرْتَدِي / تَرْتَدِي … Develop: hair (masc.) and eyes (dual) agreement and الَّذِي / الَّتِي. Stretch: two people and a personality inference supported by behaviour (يَبْدُو … لِأَنَّهُ …).
• Respect is part of the success criteria (website rule 4 and quiz Q6): describe what you SEE, never judge (no “ugly / strange”). Use a picture, a character or a celebrity rather than a classmate.
• Two tricky points, taught visually: شَعْرٌ is masculine even for a girl (شَعْرُهَا طَوِيلٌ); eyes are TWO, feminine (عَيْنَانِ بُنِّيَّتَانِ).
• Urdu bridge: قد (height → القَامَةُ by meaning), شکل، عینک ≠ نَظَّارَةٌ, لباس، جسم.
• TEACHER-WRITTEN ITEMS: on the website this lesson’s patterns, mistakes, sorter, listening, reading items are generic placeholders, so the deck uses teacher-written questions and translations built on the website’s own script and text (flagged for the website editor).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1–2 test two of the five appearance words prepared at home. Questions 3–5 retrieve D2-L05 (website) (comparatives) and TB-L07 (هٰذِهِ).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He has → lahu. She has → lahā. Her hair is long → shaʿruhā ṭawīl (hair is masculine!).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قامت (as in قد و قامت) → طَوِيلُ القَامَةِ (tall). شکل → شَكْلٌ (كَيْفَ شَكْلُهُ؟ what does he look like?). لباس → لِبَاسٌ. جسم → جِسْمٌ / جِسْمِيَّةٌ. Urdu عینک is Persian; Arabic glasses = نَظَّارَةٌ (from نَظَرٌ, sight — Urdu نظر).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Height, hair and eyes (website vocabulary (1 of 2)). Hear → Say → See → Use. Transliteration is printed for Core students (cover it for Develop/Stretch).
Hair cards show his / her: the ADJECTIVE never changes (hair is masculine). Eye card: two eyes = عَيْنَانِ + a dual adjective (-atāni). Height uses a compound: طَوِيلُ القَامَةِ (m.) / طَوِيلَةُ القَامَةِ (f.).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Height, hair and eyes (website vocabulary (2 of 2)). Hear → Say → See → Use. Transliteration is printed for Core students (cover it for Develop/Stretch).
Hair cards show his / her: the ADJECTIVE never changes (hair is masculine). Eye card: two eyes = عَيْنَانِ + a dual adjective (-atāni). Height uses a compound: طَوِيلُ القَامَةِ (m.) / طَوِيلَةُ القَامَةِ (f.).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Clothes in a portrait (website vocabulary (1 of 2)). Hear → Say → See → Use. Transliteration is printed for Core students (cover it for Develop/Stretch).
FLEX: teach if time allows; otherwise these are on the website vocabulary tab for homework.
Clothes in a portrait (FLEX) — TB-L07 words; after يَرْتَدِي the item takes -an: يَرْتَدِي قَمِيصًا أَبْيَضَ.</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Clothes in a portrait (website vocabulary (2 of 2)). Hear → Say → See → Use. Transliteration is printed for Core students (cover it for Develop/Stretch).
FLEX: teach if time allows; otherwise these are on the website vocabulary tab for homework.
Clothes in a portrait (FLEX) — TB-L07 words; after يَرْتَدِي the item takes -an: يَرْتَدِي قَمِيصًا أَبْيَضَ.</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Style and personality detail (website vocabulary (1 of 2)). Hear → Say → See → Use. Transliteration is printed for Core students (cover it for Develop/Stretch).
FLEX: teach if time allows; otherwise these are on the website vocabulary tab for homework.
Style and personality detail (FLEX).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Style and personality detail (website vocabulary (2 of 2)). Hear → Say → See → Use. Transliteration is printed for Core students (cover it for Develop/Stretch).
FLEX: teach if time allows; otherwise these are on the website vocabulary tab for homework.
Style and personality detail (FLEX).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1 — website rules “Possession with لَهُ / لَهَا”, “Body-feature agreement” (hair is masculine; eyes are dual feminine) and “Respectful portrait order” (height → hair → eyes → clothes), with the website table (Reference · Possession · Relative pronoun).
Website common error: “Do not treat عَيْنَانِ as a singular masculine noun” — عَيْنَاهَا بُنِّيٌّ ✗ → عَيْنَاهَا بُنِّيَّتَانِ ✓.
Stretch: dual of colours — blue زَرْقَاوَانِ, green خَضْرَاوَانِ, brown بُنِّيَّتَانِ.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2 — website rule “Relative clause” (الَّذِي for masculine, الَّتِي for feminine antecedents) and the website model’s inference (يَبْدُو هَادِئًا لِأَنَّهُ …).
Game: show a class-picture (or a family photo from a textbook); students identify people: “مَنْ هِيَ؟ — هِيَ الفَتَاةُ الَّتِي تَرْتَدِي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GRAMMAR RULES AND EXAMPLES (FLEX — revision or homework). Website overview: “Create a coherent portrait using possession, dual body features, adjective agreement and الذي/التي clauses.”
• Possession with لَهُ / لَهَا: Use لَهُ for he has and لَهَا for she has.
• Body-feature agreement: Hair is masculine; eyes are dual feminine.
• Relative clause: Use الذي for masculine and التي for feminine antecedents.
• Respectful portrait order: Organise details and avoid judgemental language.
Website common error: Do not use التي after a masculine person or treat عَيْنَانِ as a singular masculine noun.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2, 3, 4.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the girl from the website listening, described in the website order with a think-aloud. Then students describe the young man from the same script aloud (tall, short curly hair, glasses, white shirt).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Describing Appearance — A Full Physical Portrait”)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Other cards for homework: هِيَ قَصِيرَةٌ · شَعْرُهَا أَحْمَرُ (her hair is red — masc. colour!) · لَهُ عَيْنَانِ بُنِّيَّتَانِ.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Describing Appearance — A Full Physical Portrait”)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Other cards for homework: هِيَ قَصِيرَةٌ · شَعْرُهَا أَحْمَرُ (her hair is red — masc. colour!) · لَهُ عَيْنَانِ بُنِّيَّتَانِ.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Check the person, the agreement and the relative pronoun.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Check the person, the agreement and the relative pronoun.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5, 6, 7,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 2 and 5. Develop / Stretch: all 6. (Questions are teacher-written: the website questions for this script are generic.)
Listen 1: just listen. Listen 2: note answers. Then chat the letters.
Support: after the second listening, show the read-along slide (Arabic + English, line by line) for Core students.
SCRIPT (read aloud):
يَصِفُ المُتَحَدِّثُ شَخْصَيْنِ فِي صُورَةٍ. الأَوَّلُ شَابٌّ طَوِيلُ القَامَةِ، لَهُ شَعْرٌ قَصِيرٌ وَمُجَعَّدٌ، وَيَرْتَدِي نَظَّارَةً وَقَمِيصًا أَبْيَضَ. الثَّانِيَةُ فَتَاةٌ مُتَوَسِّطَةُ القَامَةِ، لَهَا شَعْرٌ طَوِيلٌ مُسْتَقِيمٌ وَعَيْنَانِ بُنِّيَّتَانِ. هِيَ الفَتَاةُ الَّتِي تَرْتَدِي مِعْطَفًا أَزْرَقَ وَحَقِيبَةً سَوْدَاءَ.</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TOPIC B APPLICATION CHALLENGE (3 min — it takes the speaking-rehearsal slot; the website speaking slide after it is FLEX) — from the website Topic page: “Match physical-description cards to personality clues, then justify which details are facts and which are opinions using accurate adjective agreement.”
Cards to show: 1 طَوِيلٌ، شَعْرُهُ قَصِيرٌ، يَلْبَسُ نَظَّارَةً · 2 قَصِيرَةٌ، شَعْرُهَا طَوِيلٌ وَأَسْوَدُ · 3 نَحِيفٌ، عَيْنَاهُ خَضْرَاوَانِ. Clues: A يَقْرَأُ كَثِيرًا وَيُسَاعِدُ زُمَلَاءَهُ · B تَضْحَكُ دَائِمًا وَتُحِبُّ الحَفَلَاتِ · C هَادِئٌ وَخَجُولٌ قَلِيلًا. Any match is fine if justified — the point is FACT vs OPINION (website Topic B challenge “Appearance and character match”). Invented people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FLEX — the Topic B challenge before this slide is the main speaking task; use these website prompts if time allows or as homework rehearsal.
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كَيْفَ مَظْهَرُهُ؟ (What does he look like?)
B: هُوَ طَوِيلُ القَامَةِ وَلَهُ شَعْرٌ قَصِيرٌ. (He is tall and has short hair.)
Website prompts (order changed for routes). Website model continues: A: كَيْفَ مَظْهَرُهُ؟ (What does he look like?) B: هُوَ طَوِيلُ القَامَةِ وَلَهُ شَعْرٌ قَصِيرٌ. Use a picture on screen (a family photo from a textbook, or a famous person) — not a classmate.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Secure the main vocabulary and produce four accurate sentences using the taught frame. · Develop — Combine description, grammar and a reason in connected answers. · Stretch — Add comparison, contrast, precise evidence and an independently controlled relative clause.
Website writing task (Stretch): Write 100–120 Arabic words giving a respectful full portrait of two people. Organise height, hair, eyes, distinguishing features, clothes and one personality inference supported by behaviour.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Evidence: طَوِيلُ القَامَةِ ← لَهُ شَعْرٌ … ← عَيْنَانِ بُنِّيَّتَانِ ← يَرْتَدِي … · الشَّخْصُ الَّذِي / الفَتَاةُ الَّتِي · يَبْدُو هَادِئًا لِأَنَّهُ يَسْتَمِعُ · الوَصْفُ الدَّقِيقُ يَحْتَرِمُ الشَّخْصَ.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6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LESSON MISSION (FLEX) — fast finishers 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(TB-L04 · My Home, Rooms and Garden) will spend class time USING this language, so students prepare it tonight — short, simple, easy to access (school guidance: “Simple, Short, Interesting, Relevant, Easy to access”). The five words come from the website F3-L03 home banks (the TB-L04 lesson engine).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image" Target="../media/image-21-6.png"/><Relationship Id="rId7" Type="http://schemas.openxmlformats.org/officeDocument/2006/relationships/slideLayout" Target="../slideLayouts/slideLayout1.xml"/><Relationship Id="rId8"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image" Target="../media/image-22-5.png"/><Relationship Id="rId6" Type="http://schemas.openxmlformats.org/officeDocument/2006/relationships/image" Target="../media/image-22-6.png"/><Relationship Id="rId7" Type="http://schemas.openxmlformats.org/officeDocument/2006/relationships/slideLayout" Target="../slideLayouts/slideLayout1.xml"/><Relationship Id="rId8"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1.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1.xml"/><Relationship Id="rId3" Type="http://schemas.openxmlformats.org/officeDocument/2006/relationships/notesSlide" Target="../notesSlides/notesSlide4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CAMBRIDGE IGCSE ARABIC 0544  ·  ADVANCED TOPIC B  ·  TB-L03</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TB-L03</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3950" b="1" dirty="0">
                <a:solidFill>
                  <a:srgbClr val="FFFFFF"/>
                </a:solidFill>
                <a:latin typeface="Cambria" pitchFamily="34" charset="0"/>
                <a:ea typeface="Cambria" pitchFamily="34" charset="-122"/>
                <a:cs typeface="Cambria" pitchFamily="34" charset="-120"/>
              </a:rPr>
              <a:t>Appearance and Personality</a:t>
            </a:r>
            <a:endParaRPr lang="en-US" sz="39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34" charset="0"/>
                <a:ea typeface="Amiri" pitchFamily="34" charset="-122"/>
                <a:cs typeface="Amiri" pitchFamily="34" charset="-120"/>
              </a:rPr>
              <a:t>المَظْهَرُ وَالشَّخْصِيَّةُ</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Build detailed, respectful descriptions and support character judgements with evidence.</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TB-L03 · Advanced Topic B · Personal and Social Life</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Topic B · A1+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Advanced Topics › Topic B › TB-L03</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TB-L03 · Appearance and Personality</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B · Personal and Social Life · TB-L03</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47</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TB-L03 · Appearance and Personality</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B · Personal and Social Life · TB-L03</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He / she has …, hair and eyes agreement, who …</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Picture match, accurate or not, fix and listen.</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34" charset="0"/>
                <a:ea typeface="Amiri" pitchFamily="34" charset="-122"/>
                <a:cs typeface="Amiri" pitchFamily="34" charset="-120"/>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at home for TB-L04.</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47</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TB-L03 · Appearance and Personality</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B · Personal and Social Life · TB-L03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شَعْرٌ مُجَعَّدٌ</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straight hair</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curly hair</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short hair</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عَيْنَانِ بُنِّيَّتَانِ</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brown eyes</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blue eyes</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glasses</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سَارَةُ</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مِنْ أُخْتِهَا</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طَوِيلَةٌ</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الأَطْوَلَ</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أَطْوَلُ</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“more confident”.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أَكْثَرُ وَاثِقٌ</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وَاثِقٌ مِنْ</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أَكْثَرُ ثِقَةً</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“this jacket”.</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هٰذِهِ السُّتْرَةُ</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هٰذَا السُّتْرَةُ</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هٰذِهِ سُتْرَةٌ</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47</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TB-L03 · Appearance and Personality</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B · Personal and Social Life · TB-L03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شَعْرٌ مُجَعَّدٌ</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straight hair</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curly hair</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short hair</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عَيْنَانِ بُنِّيَّتَانِ</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brown eyes</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blue eyes</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glasses</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سَارَةُ</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مِنْ أُخْتِهَا</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طَوِيلَةٌ</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الأَطْوَلَ</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أَطْوَلُ</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D2-L05 (website): comparative + min.</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“more confident”.</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أَكْثَرُ وَاثِقٌ</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وَاثِقٌ مِنْ</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أَكْثَرُ ثِقَةً</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D2-L05 (website): more + noun.</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“this jacket”.</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هٰذِهِ السُّتْرَةُ</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هٰذَا السُّتْرَةُ</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هٰذِهِ سُتْرَةٌ</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TB-L07: hādhihi.</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ea typeface="Calibri" pitchFamily="34" charset="-122"/>
                <a:cs typeface="Calibri" pitchFamily="34" charset="-120"/>
              </a:rPr>
              <a:t>He has → lahu. She has → lahā. Her hair is long → shaʿruhā ṭawīl (hair is masculine!).</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1D5FBF"/>
                </a:solidFill>
                <a:latin typeface="Amiri" pitchFamily="34" charset="0"/>
                <a:ea typeface="Amiri" pitchFamily="34" charset="-122"/>
                <a:cs typeface="Amiri" pitchFamily="34" charset="-120"/>
              </a:rPr>
              <a:t>لَهُ</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 شَعْرٌ قَصِيرٌ · </a:t>
            </a:r>
            <a:pPr rtl="1" algn="ctr" indent="0" marL="0">
              <a:lnSpc>
                <a:spcPct val="120000"/>
              </a:lnSpc>
              <a:buNone/>
            </a:pPr>
            <a:r>
              <a:rPr lang="ar-SA" altLang="en-US" sz="1950" b="1" dirty="0">
                <a:solidFill>
                  <a:srgbClr val="D6336C"/>
                </a:solidFill>
                <a:latin typeface="Amiri" pitchFamily="34" charset="0"/>
                <a:ea typeface="Amiri" pitchFamily="34" charset="-122"/>
                <a:cs typeface="Amiri" pitchFamily="34" charset="-120"/>
              </a:rPr>
              <a:t>لَهَا</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 شَعْرٌ طَوِيلٌ · عَيْنَا</a:t>
            </a:r>
            <a:pPr rtl="1" algn="ctr" indent="0" marL="0">
              <a:lnSpc>
                <a:spcPct val="120000"/>
              </a:lnSpc>
              <a:buNone/>
            </a:pPr>
            <a:r>
              <a:rPr lang="ar-SA" altLang="en-US" sz="1950" b="1" dirty="0">
                <a:solidFill>
                  <a:srgbClr val="D6336C"/>
                </a:solidFill>
                <a:latin typeface="Amiri" pitchFamily="34" charset="0"/>
                <a:ea typeface="Amiri" pitchFamily="34" charset="-122"/>
                <a:cs typeface="Amiri" pitchFamily="34" charset="-120"/>
              </a:rPr>
              <a:t>هَا</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 بُنِّيَّتَانِ</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47</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TB-L03 · Appearance and Personality</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B · Personal and Social Life · TB-L03</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34" charset="0"/>
                <a:ea typeface="Amiri" pitchFamily="34" charset="-122"/>
                <a:cs typeface="Amiri" pitchFamily="34" charset="-120"/>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Control the key TB-L03 vocabulary in complete Arabic sentences.</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Understand and apply the target grammar: Physical description, possession and relative clauses.</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Extract precise evidence from an intermediate listening and reading text.</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Produce developed spoken and written Arabic with reasons and detail.</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ea typeface="Calibri" pitchFamily="34" charset="-122"/>
                <a:cs typeface="Calibri" pitchFamily="34" charset="-120"/>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describe height, hair and eyes in order.</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say what he / she is wearing.</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ea typeface="Calibri" pitchFamily="34" charset="-122"/>
                <a:cs typeface="Calibri" pitchFamily="34" charset="-120"/>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make hair and eyes agree correctly.</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use </a:t>
            </a:r>
            <a:pPr algn="l" indent="0" marL="0">
              <a:buNone/>
            </a:pPr>
            <a:r>
              <a:rPr lang="ar-SA" altLang="en-US" sz="1700" b="1" dirty="0">
                <a:solidFill>
                  <a:srgbClr val="C9780A"/>
                </a:solidFill>
                <a:latin typeface="Amiri" pitchFamily="34" charset="0"/>
                <a:ea typeface="Amiri" pitchFamily="34" charset="-122"/>
                <a:cs typeface="Amiri" pitchFamily="34" charset="-120"/>
              </a:rPr>
              <a:t>الَّذِي / الَّتِي</a:t>
            </a:r>
            <a:pPr algn="l" indent="0" marL="0">
              <a:buNone/>
            </a:pPr>
            <a:r>
              <a:rPr lang="en-US" sz="1300" b="1" dirty="0">
                <a:solidFill>
                  <a:srgbClr val="C9780A"/>
                </a:solidFill>
                <a:latin typeface="Calibri" pitchFamily="34" charset="0"/>
                <a:ea typeface="Calibri" pitchFamily="34" charset="-122"/>
                <a:cs typeface="Calibri" pitchFamily="34" charset="-120"/>
              </a:rPr>
              <a:t> (the one who …).</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ea typeface="Calibri" pitchFamily="34" charset="-122"/>
                <a:cs typeface="Calibri" pitchFamily="34" charset="-120"/>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describe two people in a full, respectful portrait.</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infer personality from behaviour (he seems … because …).</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47</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ea typeface="Calibri" pitchFamily="34" charset="-122"/>
                <a:cs typeface="Calibri" pitchFamily="34" charset="-120"/>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ea typeface="Cambria" pitchFamily="34" charset="-122"/>
                <a:cs typeface="Cambria" pitchFamily="34" charset="-120"/>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34" charset="0"/>
                <a:ea typeface="Amiri" pitchFamily="34" charset="-122"/>
                <a:cs typeface="Amiri" pitchFamily="34" charset="-120"/>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ea typeface="Calibri" pitchFamily="34" charset="-122"/>
                <a:cs typeface="Calibri" pitchFamily="34" charset="-120"/>
              </a:rPr>
              <a:t>30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1</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Height, hair and eyes · 12</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2</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Clothes in a portrait · 10</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3</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Style and personality detail · 8</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ea typeface="Calibri" pitchFamily="34" charset="-122"/>
                <a:cs typeface="Calibri" pitchFamily="34" charset="-120"/>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القَامَةُ</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‎قامت / قد‎ </a:t>
            </a:r>
            <a:pPr indent="0" marL="0">
              <a:buNone/>
            </a:pPr>
            <a:r>
              <a:rPr lang="en-US" sz="950" b="1" dirty="0">
                <a:solidFill>
                  <a:srgbClr val="2E8B57"/>
                </a:solidFill>
                <a:latin typeface="Calibri" pitchFamily="34" charset="0"/>
                <a:ea typeface="Calibri" pitchFamily="34" charset="-122"/>
                <a:cs typeface="Calibri" pitchFamily="34" charset="-120"/>
              </a:rPr>
              <a:t> qāmat · stature, height</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شَكْلٌ</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‎شکل‎ </a:t>
            </a:r>
            <a:pPr indent="0" marL="0">
              <a:buNone/>
            </a:pPr>
            <a:r>
              <a:rPr lang="en-US" sz="950" b="1" dirty="0">
                <a:solidFill>
                  <a:srgbClr val="2E8B57"/>
                </a:solidFill>
                <a:latin typeface="Calibri" pitchFamily="34" charset="0"/>
                <a:ea typeface="Calibri" pitchFamily="34" charset="-122"/>
                <a:cs typeface="Calibri" pitchFamily="34" charset="-120"/>
              </a:rPr>
              <a:t> shakl · shape, appearance</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لِبَاسٌ</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‎لباس‎ </a:t>
            </a:r>
            <a:pPr indent="0" marL="0">
              <a:buNone/>
            </a:pPr>
            <a:r>
              <a:rPr lang="en-US" sz="950" b="1" dirty="0">
                <a:solidFill>
                  <a:srgbClr val="2E8B57"/>
                </a:solidFill>
                <a:latin typeface="Calibri" pitchFamily="34" charset="0"/>
                <a:ea typeface="Calibri" pitchFamily="34" charset="-122"/>
                <a:cs typeface="Calibri" pitchFamily="34" charset="-120"/>
              </a:rPr>
              <a:t> libās · clothing</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نَظَّارَةٌ</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‎عینک‎ </a:t>
            </a:r>
            <a:pPr indent="0" marL="0">
              <a:buNone/>
            </a:pPr>
            <a:r>
              <a:rPr lang="en-US" sz="950" b="1" dirty="0">
                <a:solidFill>
                  <a:srgbClr val="2E8B57"/>
                </a:solidFill>
                <a:latin typeface="Calibri" pitchFamily="34" charset="0"/>
                <a:ea typeface="Calibri" pitchFamily="34" charset="-122"/>
                <a:cs typeface="Calibri" pitchFamily="34" charset="-120"/>
              </a:rPr>
              <a:t> ainak · glasses (meaning only)</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جِسْمِيَّةٌ</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‎جسم‎ </a:t>
            </a:r>
            <a:pPr indent="0" marL="0">
              <a:buNone/>
            </a:pPr>
            <a:r>
              <a:rPr lang="en-US" sz="950" b="1" dirty="0">
                <a:solidFill>
                  <a:srgbClr val="2E8B57"/>
                </a:solidFill>
                <a:latin typeface="Calibri" pitchFamily="34" charset="0"/>
                <a:ea typeface="Calibri" pitchFamily="34" charset="-122"/>
                <a:cs typeface="Calibri" pitchFamily="34" charset="-120"/>
              </a:rPr>
              <a:t> jism · body → physical</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47</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TB-L03 · Appearance and Personality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Height, hair and eyes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B · Personal and Social Life · TB-L03</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18" name="Shape 15"/>
          <p:cNvSpPr/>
          <p:nvPr/>
        </p:nvSpPr>
        <p:spPr>
          <a:xfrm>
            <a:off x="8604504" y="1938528"/>
            <a:ext cx="896112"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2550" b="1" dirty="0">
                <a:solidFill>
                  <a:srgbClr val="1B3B6F"/>
                </a:solidFill>
                <a:latin typeface="Amiri" pitchFamily="34" charset="0"/>
                <a:ea typeface="Amiri" pitchFamily="34" charset="-122"/>
                <a:cs typeface="Amiri" pitchFamily="34" charset="-120"/>
              </a:rPr>
              <a:t>طَوِيلُ القَامَةِ / طَوِيلَةُ القَامَةِ</a:t>
            </a:r>
            <a:endParaRPr lang="ar-SA" sz="255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tall</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ṭa-wī-lu al-qā-ma-ti / ṭa-wī-la-tu al-qā-ma-ti</a:t>
            </a:r>
            <a:endParaRPr lang="en-US" sz="1350" dirty="0"/>
          </a:p>
        </p:txBody>
      </p:sp>
      <p:sp>
        <p:nvSpPr>
          <p:cNvPr id="24" name="Shape 21"/>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26" name="Text 23"/>
          <p:cNvSpPr txBox="1"/>
          <p:nvPr/>
        </p:nvSpPr>
        <p:spPr>
          <a:xfrm>
            <a:off x="100126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طَوِيلَةُ القَامَةِ</a:t>
            </a:r>
            <a:endParaRPr lang="ar-SA" sz="1500" dirty="0"/>
          </a:p>
        </p:txBody>
      </p:sp>
      <p:sp>
        <p:nvSpPr>
          <p:cNvPr id="27" name="Shape 24"/>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29" name="Text 26"/>
          <p:cNvSpPr txBox="1"/>
          <p:nvPr/>
        </p:nvSpPr>
        <p:spPr>
          <a:xfrm>
            <a:off x="8284464"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طَوِيلُ القَامَةِ</a:t>
            </a:r>
            <a:endParaRPr lang="ar-SA" sz="1500" dirty="0"/>
          </a:p>
        </p:txBody>
      </p:sp>
      <p:sp>
        <p:nvSpPr>
          <p:cNvPr id="30" name="Shape 2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389120"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33" name="Shape 30"/>
          <p:cNvSpPr/>
          <p:nvPr/>
        </p:nvSpPr>
        <p:spPr>
          <a:xfrm>
            <a:off x="4782312" y="1938528"/>
            <a:ext cx="896112" cy="256032"/>
          </a:xfrm>
          <a:prstGeom prst="roundRect">
            <a:avLst>
              <a:gd name="adj" fmla="val 50000"/>
            </a:avLst>
          </a:prstGeom>
          <a:solidFill>
            <a:srgbClr val="EFE7D2"/>
          </a:solidFill>
          <a:ln w="12700">
            <a:solidFill>
              <a:srgbClr val="EFE7D2"/>
            </a:solidFill>
            <a:prstDash val="solid"/>
          </a:ln>
        </p:spPr>
      </p:sp>
      <p:sp>
        <p:nvSpPr>
          <p:cNvPr id="34" name="Text 31"/>
          <p:cNvSpPr txBox="1"/>
          <p:nvPr/>
        </p:nvSpPr>
        <p:spPr>
          <a:xfrm>
            <a:off x="4782312"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35" name="Shape 3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7" name="Text 34"/>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2550" b="1" dirty="0">
                <a:solidFill>
                  <a:srgbClr val="1B3B6F"/>
                </a:solidFill>
                <a:latin typeface="Amiri" pitchFamily="34" charset="0"/>
                <a:ea typeface="Amiri" pitchFamily="34" charset="-122"/>
                <a:cs typeface="Amiri" pitchFamily="34" charset="-120"/>
              </a:rPr>
              <a:t>قَصِيرُ القَامَةِ / قَصِيرَةُ القَامَةِ</a:t>
            </a:r>
            <a:endParaRPr lang="ar-SA" sz="2550" dirty="0"/>
          </a:p>
        </p:txBody>
      </p:sp>
      <p:sp>
        <p:nvSpPr>
          <p:cNvPr id="38" name="Text 35"/>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short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qa-ṣī-ru al-qā-ma-ti / qa-ṣī-ra-tu al-qā-ma-ti</a:t>
            </a:r>
            <a:endParaRPr lang="en-US" sz="1350" dirty="0"/>
          </a:p>
        </p:txBody>
      </p:sp>
      <p:sp>
        <p:nvSpPr>
          <p:cNvPr id="39" name="Shape 36"/>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40" name="Text 37"/>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41" name="Text 38"/>
          <p:cNvSpPr txBox="1"/>
          <p:nvPr/>
        </p:nvSpPr>
        <p:spPr>
          <a:xfrm>
            <a:off x="6190488"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قَصِيرَةُ القَامَةِ</a:t>
            </a:r>
            <a:endParaRPr lang="ar-SA" sz="1500" dirty="0"/>
          </a:p>
        </p:txBody>
      </p:sp>
      <p:sp>
        <p:nvSpPr>
          <p:cNvPr id="42" name="Shape 39"/>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44" name="Text 41"/>
          <p:cNvSpPr txBox="1"/>
          <p:nvPr/>
        </p:nvSpPr>
        <p:spPr>
          <a:xfrm>
            <a:off x="4462272"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قَصِيرُ القَامَةِ</a:t>
            </a:r>
            <a:endParaRPr lang="ar-SA" sz="1500" dirty="0"/>
          </a:p>
        </p:txBody>
      </p:sp>
      <p:sp>
        <p:nvSpPr>
          <p:cNvPr id="45" name="Shape 4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66928" y="1920240"/>
            <a:ext cx="310896" cy="310896"/>
          </a:xfrm>
          <a:prstGeom prst="ellipse">
            <a:avLst/>
          </a:prstGeom>
          <a:solidFill>
            <a:srgbClr val="F4F1EA"/>
          </a:solidFill>
          <a:ln w="12700">
            <a:solidFill>
              <a:srgbClr val="F4F1EA"/>
            </a:solidFill>
            <a:prstDash val="solid"/>
          </a:ln>
        </p:spPr>
      </p:sp>
      <p:sp>
        <p:nvSpPr>
          <p:cNvPr id="47" name="Text 4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48" name="Shape 45"/>
          <p:cNvSpPr/>
          <p:nvPr/>
        </p:nvSpPr>
        <p:spPr>
          <a:xfrm>
            <a:off x="960120" y="1938528"/>
            <a:ext cx="896112" cy="256032"/>
          </a:xfrm>
          <a:prstGeom prst="roundRect">
            <a:avLst>
              <a:gd name="adj" fmla="val 50000"/>
            </a:avLst>
          </a:prstGeom>
          <a:solidFill>
            <a:srgbClr val="EFE7D2"/>
          </a:solidFill>
          <a:ln w="12700">
            <a:solidFill>
              <a:srgbClr val="EFE7D2"/>
            </a:solidFill>
            <a:prstDash val="solid"/>
          </a:ln>
        </p:spPr>
      </p:sp>
      <p:sp>
        <p:nvSpPr>
          <p:cNvPr id="49" name="Text 46"/>
          <p:cNvSpPr txBox="1"/>
          <p:nvPr/>
        </p:nvSpPr>
        <p:spPr>
          <a:xfrm>
            <a:off x="960120"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50" name="Shape 47"/>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2" name="Text 49"/>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2400" b="1" dirty="0">
                <a:solidFill>
                  <a:srgbClr val="1B3B6F"/>
                </a:solidFill>
                <a:latin typeface="Amiri" pitchFamily="34" charset="0"/>
                <a:ea typeface="Amiri" pitchFamily="34" charset="-122"/>
                <a:cs typeface="Amiri" pitchFamily="34" charset="-120"/>
              </a:rPr>
              <a:t>مُتَوَسِّطُ القَامَةِ / مُتَوَسِّطَةُ القَامَةِ</a:t>
            </a:r>
            <a:endParaRPr lang="ar-SA" sz="2400" dirty="0"/>
          </a:p>
        </p:txBody>
      </p:sp>
      <p:sp>
        <p:nvSpPr>
          <p:cNvPr id="53" name="Text 50"/>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medium height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mu-ta-was-si-ṭu al-qā-ma-ti / mu-ta-was-si-ṭa-tu al-qā-ma-ti</a:t>
            </a:r>
            <a:endParaRPr lang="en-US" sz="1350" dirty="0"/>
          </a:p>
        </p:txBody>
      </p:sp>
      <p:sp>
        <p:nvSpPr>
          <p:cNvPr id="54" name="Shape 51"/>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55" name="Text 52"/>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56" name="Text 53"/>
          <p:cNvSpPr txBox="1"/>
          <p:nvPr/>
        </p:nvSpPr>
        <p:spPr>
          <a:xfrm>
            <a:off x="2368296"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مُتَوَسِّطَةُ القَامَةِ</a:t>
            </a:r>
            <a:endParaRPr lang="ar-SA" sz="1500" dirty="0"/>
          </a:p>
        </p:txBody>
      </p:sp>
      <p:sp>
        <p:nvSpPr>
          <p:cNvPr id="57" name="Shape 54"/>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58" name="Text 55"/>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59" name="Text 56"/>
          <p:cNvSpPr txBox="1"/>
          <p:nvPr/>
        </p:nvSpPr>
        <p:spPr>
          <a:xfrm>
            <a:off x="6400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مُتَوَسِّطُ القَامَةِ</a:t>
            </a:r>
            <a:endParaRPr lang="ar-SA" sz="1500" dirty="0"/>
          </a:p>
        </p:txBody>
      </p:sp>
      <p:sp>
        <p:nvSpPr>
          <p:cNvPr id="60" name="Shape 57"/>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8211312" y="4261104"/>
            <a:ext cx="310896" cy="310896"/>
          </a:xfrm>
          <a:prstGeom prst="ellipse">
            <a:avLst/>
          </a:prstGeom>
          <a:solidFill>
            <a:srgbClr val="F4F1EA"/>
          </a:solidFill>
          <a:ln w="12700">
            <a:solidFill>
              <a:srgbClr val="F4F1EA"/>
            </a:solidFill>
            <a:prstDash val="solid"/>
          </a:ln>
        </p:spPr>
      </p:sp>
      <p:sp>
        <p:nvSpPr>
          <p:cNvPr id="62" name="Text 59"/>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63" name="Shape 60"/>
          <p:cNvSpPr/>
          <p:nvPr/>
        </p:nvSpPr>
        <p:spPr>
          <a:xfrm>
            <a:off x="8604504" y="4279392"/>
            <a:ext cx="833933" cy="256032"/>
          </a:xfrm>
          <a:prstGeom prst="roundRect">
            <a:avLst>
              <a:gd name="adj" fmla="val 50000"/>
            </a:avLst>
          </a:prstGeom>
          <a:solidFill>
            <a:srgbClr val="EFE7D2"/>
          </a:solidFill>
          <a:ln w="12700">
            <a:solidFill>
              <a:srgbClr val="EFE7D2"/>
            </a:solidFill>
            <a:prstDash val="solid"/>
          </a:ln>
        </p:spPr>
      </p:sp>
      <p:sp>
        <p:nvSpPr>
          <p:cNvPr id="64" name="Text 61"/>
          <p:cNvSpPr txBox="1"/>
          <p:nvPr/>
        </p:nvSpPr>
        <p:spPr>
          <a:xfrm>
            <a:off x="8604504" y="4279392"/>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his · her</a:t>
            </a:r>
            <a:endParaRPr lang="en-US" sz="800" dirty="0"/>
          </a:p>
        </p:txBody>
      </p:sp>
      <p:sp>
        <p:nvSpPr>
          <p:cNvPr id="65" name="Shape 62"/>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66" name="Text 63"/>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67" name="Text 64"/>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شَعْرٌ طَوِيلٌ</a:t>
            </a:r>
            <a:endParaRPr lang="ar-SA" sz="3000" dirty="0"/>
          </a:p>
        </p:txBody>
      </p:sp>
      <p:sp>
        <p:nvSpPr>
          <p:cNvPr id="68" name="Text 65"/>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long hair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shaʿ-run ṭa-wī-lun</a:t>
            </a:r>
            <a:endParaRPr lang="en-US" sz="1350" dirty="0"/>
          </a:p>
        </p:txBody>
      </p:sp>
      <p:sp>
        <p:nvSpPr>
          <p:cNvPr id="69" name="Shape 66"/>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70" name="Text 67"/>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her</a:t>
            </a:r>
            <a:endParaRPr lang="en-US" sz="750" dirty="0"/>
          </a:p>
        </p:txBody>
      </p:sp>
      <p:sp>
        <p:nvSpPr>
          <p:cNvPr id="71" name="Text 68"/>
          <p:cNvSpPr txBox="1"/>
          <p:nvPr/>
        </p:nvSpPr>
        <p:spPr>
          <a:xfrm>
            <a:off x="100126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شَعْرُهَا طَوِيلٌ</a:t>
            </a:r>
            <a:endParaRPr lang="ar-SA" sz="1500" dirty="0"/>
          </a:p>
        </p:txBody>
      </p:sp>
      <p:sp>
        <p:nvSpPr>
          <p:cNvPr id="72" name="Shape 69"/>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73" name="Text 70"/>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his</a:t>
            </a:r>
            <a:endParaRPr lang="en-US" sz="750" dirty="0"/>
          </a:p>
        </p:txBody>
      </p:sp>
      <p:sp>
        <p:nvSpPr>
          <p:cNvPr id="74" name="Text 71"/>
          <p:cNvSpPr txBox="1"/>
          <p:nvPr/>
        </p:nvSpPr>
        <p:spPr>
          <a:xfrm>
            <a:off x="8284464"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شَعْرُهُ طَوِيلٌ</a:t>
            </a:r>
            <a:endParaRPr lang="ar-SA" sz="1500" dirty="0"/>
          </a:p>
        </p:txBody>
      </p:sp>
      <p:sp>
        <p:nvSpPr>
          <p:cNvPr id="75" name="Shape 72"/>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389120" y="4261104"/>
            <a:ext cx="310896" cy="310896"/>
          </a:xfrm>
          <a:prstGeom prst="ellipse">
            <a:avLst/>
          </a:prstGeom>
          <a:solidFill>
            <a:srgbClr val="F4F1EA"/>
          </a:solidFill>
          <a:ln w="12700">
            <a:solidFill>
              <a:srgbClr val="F4F1EA"/>
            </a:solidFill>
            <a:prstDash val="solid"/>
          </a:ln>
        </p:spPr>
      </p:sp>
      <p:sp>
        <p:nvSpPr>
          <p:cNvPr id="77" name="Text 74"/>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78" name="Shape 75"/>
          <p:cNvSpPr/>
          <p:nvPr/>
        </p:nvSpPr>
        <p:spPr>
          <a:xfrm>
            <a:off x="4782312" y="4279392"/>
            <a:ext cx="833933" cy="256032"/>
          </a:xfrm>
          <a:prstGeom prst="roundRect">
            <a:avLst>
              <a:gd name="adj" fmla="val 50000"/>
            </a:avLst>
          </a:prstGeom>
          <a:solidFill>
            <a:srgbClr val="EFE7D2"/>
          </a:solidFill>
          <a:ln w="12700">
            <a:solidFill>
              <a:srgbClr val="EFE7D2"/>
            </a:solidFill>
            <a:prstDash val="solid"/>
          </a:ln>
        </p:spPr>
      </p:sp>
      <p:sp>
        <p:nvSpPr>
          <p:cNvPr id="79" name="Text 76"/>
          <p:cNvSpPr txBox="1"/>
          <p:nvPr/>
        </p:nvSpPr>
        <p:spPr>
          <a:xfrm>
            <a:off x="4782312" y="4279392"/>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his · her</a:t>
            </a:r>
            <a:endParaRPr lang="en-US" sz="800" dirty="0"/>
          </a:p>
        </p:txBody>
      </p:sp>
      <p:sp>
        <p:nvSpPr>
          <p:cNvPr id="80" name="Shape 77"/>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81" name="Text 78"/>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82" name="Text 79"/>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شَعْرٌ قَصِيرٌ</a:t>
            </a:r>
            <a:endParaRPr lang="ar-SA" sz="3000" dirty="0"/>
          </a:p>
        </p:txBody>
      </p:sp>
      <p:sp>
        <p:nvSpPr>
          <p:cNvPr id="83" name="Text 80"/>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short hair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shaʿ-run qa-ṣī-run</a:t>
            </a:r>
            <a:endParaRPr lang="en-US" sz="1350" dirty="0"/>
          </a:p>
        </p:txBody>
      </p:sp>
      <p:sp>
        <p:nvSpPr>
          <p:cNvPr id="84" name="Shape 81"/>
          <p:cNvSpPr/>
          <p:nvPr/>
        </p:nvSpPr>
        <p:spPr>
          <a:xfrm>
            <a:off x="6144768" y="5779008"/>
            <a:ext cx="1636776" cy="438912"/>
          </a:xfrm>
          <a:prstGeom prst="roundRect">
            <a:avLst>
              <a:gd name="adj" fmla="val 10417"/>
            </a:avLst>
          </a:prstGeom>
          <a:solidFill>
            <a:srgbClr val="F4F1EA"/>
          </a:solidFill>
          <a:ln w="9525">
            <a:solidFill>
              <a:srgbClr val="F4F1EA"/>
            </a:solidFill>
            <a:prstDash val="solid"/>
          </a:ln>
        </p:spPr>
      </p:sp>
      <p:sp>
        <p:nvSpPr>
          <p:cNvPr id="85" name="Text 82"/>
          <p:cNvSpPr txBox="1"/>
          <p:nvPr/>
        </p:nvSpPr>
        <p:spPr>
          <a:xfrm>
            <a:off x="6199632"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her</a:t>
            </a:r>
            <a:endParaRPr lang="en-US" sz="750" dirty="0"/>
          </a:p>
        </p:txBody>
      </p:sp>
      <p:sp>
        <p:nvSpPr>
          <p:cNvPr id="86" name="Text 83"/>
          <p:cNvSpPr txBox="1"/>
          <p:nvPr/>
        </p:nvSpPr>
        <p:spPr>
          <a:xfrm>
            <a:off x="6190488"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شَعْرُهَا قَصِيرٌ</a:t>
            </a:r>
            <a:endParaRPr lang="ar-SA" sz="1500" dirty="0"/>
          </a:p>
        </p:txBody>
      </p:sp>
      <p:sp>
        <p:nvSpPr>
          <p:cNvPr id="87" name="Shape 84"/>
          <p:cNvSpPr/>
          <p:nvPr/>
        </p:nvSpPr>
        <p:spPr>
          <a:xfrm>
            <a:off x="4416552" y="5779008"/>
            <a:ext cx="1636776" cy="438912"/>
          </a:xfrm>
          <a:prstGeom prst="roundRect">
            <a:avLst>
              <a:gd name="adj" fmla="val 10417"/>
            </a:avLst>
          </a:prstGeom>
          <a:solidFill>
            <a:srgbClr val="F4F1EA"/>
          </a:solidFill>
          <a:ln w="9525">
            <a:solidFill>
              <a:srgbClr val="F4F1EA"/>
            </a:solidFill>
            <a:prstDash val="solid"/>
          </a:ln>
        </p:spPr>
      </p:sp>
      <p:sp>
        <p:nvSpPr>
          <p:cNvPr id="88" name="Text 85"/>
          <p:cNvSpPr txBox="1"/>
          <p:nvPr/>
        </p:nvSpPr>
        <p:spPr>
          <a:xfrm>
            <a:off x="4471416"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his</a:t>
            </a:r>
            <a:endParaRPr lang="en-US" sz="750" dirty="0"/>
          </a:p>
        </p:txBody>
      </p:sp>
      <p:sp>
        <p:nvSpPr>
          <p:cNvPr id="89" name="Text 86"/>
          <p:cNvSpPr txBox="1"/>
          <p:nvPr/>
        </p:nvSpPr>
        <p:spPr>
          <a:xfrm>
            <a:off x="4462272"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شَعْرُهُ قَصِيرٌ</a:t>
            </a:r>
            <a:endParaRPr lang="ar-SA" sz="1500" dirty="0"/>
          </a:p>
        </p:txBody>
      </p:sp>
      <p:sp>
        <p:nvSpPr>
          <p:cNvPr id="90" name="Shape 87"/>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566928" y="4261104"/>
            <a:ext cx="310896" cy="310896"/>
          </a:xfrm>
          <a:prstGeom prst="ellipse">
            <a:avLst/>
          </a:prstGeom>
          <a:solidFill>
            <a:srgbClr val="F4F1EA"/>
          </a:solidFill>
          <a:ln w="12700">
            <a:solidFill>
              <a:srgbClr val="F4F1EA"/>
            </a:solidFill>
            <a:prstDash val="solid"/>
          </a:ln>
        </p:spPr>
      </p:sp>
      <p:sp>
        <p:nvSpPr>
          <p:cNvPr id="92" name="Text 89"/>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93" name="Shape 90"/>
          <p:cNvSpPr/>
          <p:nvPr/>
        </p:nvSpPr>
        <p:spPr>
          <a:xfrm>
            <a:off x="960120" y="4279392"/>
            <a:ext cx="833933" cy="256032"/>
          </a:xfrm>
          <a:prstGeom prst="roundRect">
            <a:avLst>
              <a:gd name="adj" fmla="val 50000"/>
            </a:avLst>
          </a:prstGeom>
          <a:solidFill>
            <a:srgbClr val="EFE7D2"/>
          </a:solidFill>
          <a:ln w="12700">
            <a:solidFill>
              <a:srgbClr val="EFE7D2"/>
            </a:solidFill>
            <a:prstDash val="solid"/>
          </a:ln>
        </p:spPr>
      </p:sp>
      <p:sp>
        <p:nvSpPr>
          <p:cNvPr id="94" name="Text 91"/>
          <p:cNvSpPr txBox="1"/>
          <p:nvPr/>
        </p:nvSpPr>
        <p:spPr>
          <a:xfrm>
            <a:off x="960120" y="4279392"/>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his · her</a:t>
            </a:r>
            <a:endParaRPr lang="en-US" sz="800" dirty="0"/>
          </a:p>
        </p:txBody>
      </p:sp>
      <p:sp>
        <p:nvSpPr>
          <p:cNvPr id="95" name="Shape 92"/>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96" name="Text 93"/>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97" name="Text 94"/>
          <p:cNvSpPr txBox="1"/>
          <p:nvPr/>
        </p:nvSpPr>
        <p:spPr>
          <a:xfrm>
            <a:off x="566928"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شَعْرٌ مُجَعَّدٌ</a:t>
            </a:r>
            <a:endParaRPr lang="ar-SA" sz="3000" dirty="0"/>
          </a:p>
        </p:txBody>
      </p:sp>
      <p:sp>
        <p:nvSpPr>
          <p:cNvPr id="98" name="Text 95"/>
          <p:cNvSpPr txBox="1"/>
          <p:nvPr/>
        </p:nvSpPr>
        <p:spPr>
          <a:xfrm>
            <a:off x="594360"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curly hair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shaʿ-run mu-jaʿ-ʿa-dun</a:t>
            </a:r>
            <a:endParaRPr lang="en-US" sz="1350" dirty="0"/>
          </a:p>
        </p:txBody>
      </p:sp>
      <p:sp>
        <p:nvSpPr>
          <p:cNvPr id="99" name="Shape 96"/>
          <p:cNvSpPr/>
          <p:nvPr/>
        </p:nvSpPr>
        <p:spPr>
          <a:xfrm>
            <a:off x="2322576" y="5779008"/>
            <a:ext cx="1636776" cy="438912"/>
          </a:xfrm>
          <a:prstGeom prst="roundRect">
            <a:avLst>
              <a:gd name="adj" fmla="val 10417"/>
            </a:avLst>
          </a:prstGeom>
          <a:solidFill>
            <a:srgbClr val="F4F1EA"/>
          </a:solidFill>
          <a:ln w="9525">
            <a:solidFill>
              <a:srgbClr val="F4F1EA"/>
            </a:solidFill>
            <a:prstDash val="solid"/>
          </a:ln>
        </p:spPr>
      </p:sp>
      <p:sp>
        <p:nvSpPr>
          <p:cNvPr id="100" name="Text 97"/>
          <p:cNvSpPr txBox="1"/>
          <p:nvPr/>
        </p:nvSpPr>
        <p:spPr>
          <a:xfrm>
            <a:off x="2377440"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her</a:t>
            </a:r>
            <a:endParaRPr lang="en-US" sz="750" dirty="0"/>
          </a:p>
        </p:txBody>
      </p:sp>
      <p:sp>
        <p:nvSpPr>
          <p:cNvPr id="101" name="Text 98"/>
          <p:cNvSpPr txBox="1"/>
          <p:nvPr/>
        </p:nvSpPr>
        <p:spPr>
          <a:xfrm>
            <a:off x="2368296"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شَعْرُهَا مُجَعَّدٌ</a:t>
            </a:r>
            <a:endParaRPr lang="ar-SA" sz="1500" dirty="0"/>
          </a:p>
        </p:txBody>
      </p:sp>
      <p:sp>
        <p:nvSpPr>
          <p:cNvPr id="102" name="Shape 99"/>
          <p:cNvSpPr/>
          <p:nvPr/>
        </p:nvSpPr>
        <p:spPr>
          <a:xfrm>
            <a:off x="594360" y="5779008"/>
            <a:ext cx="1636776" cy="438912"/>
          </a:xfrm>
          <a:prstGeom prst="roundRect">
            <a:avLst>
              <a:gd name="adj" fmla="val 10417"/>
            </a:avLst>
          </a:prstGeom>
          <a:solidFill>
            <a:srgbClr val="F4F1EA"/>
          </a:solidFill>
          <a:ln w="9525">
            <a:solidFill>
              <a:srgbClr val="F4F1EA"/>
            </a:solidFill>
            <a:prstDash val="solid"/>
          </a:ln>
        </p:spPr>
      </p:sp>
      <p:sp>
        <p:nvSpPr>
          <p:cNvPr id="103" name="Text 100"/>
          <p:cNvSpPr txBox="1"/>
          <p:nvPr/>
        </p:nvSpPr>
        <p:spPr>
          <a:xfrm>
            <a:off x="6492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his</a:t>
            </a:r>
            <a:endParaRPr lang="en-US" sz="750" dirty="0"/>
          </a:p>
        </p:txBody>
      </p:sp>
      <p:sp>
        <p:nvSpPr>
          <p:cNvPr id="104" name="Text 101"/>
          <p:cNvSpPr txBox="1"/>
          <p:nvPr/>
        </p:nvSpPr>
        <p:spPr>
          <a:xfrm>
            <a:off x="6400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شَعْرُهُ مُجَعَّدٌ</a:t>
            </a:r>
            <a:endParaRPr lang="ar-SA" sz="1500" dirty="0"/>
          </a:p>
        </p:txBody>
      </p:sp>
      <p:sp>
        <p:nvSpPr>
          <p:cNvPr id="105" name="Text 10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47</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TB-L03 · Appearance and Personality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Height, hair and eyes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B · Personal and Social Life · TB-L03</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7</a:t>
            </a:r>
            <a:endParaRPr lang="en-US" sz="1000" dirty="0"/>
          </a:p>
        </p:txBody>
      </p:sp>
      <p:sp>
        <p:nvSpPr>
          <p:cNvPr id="18" name="Shape 15"/>
          <p:cNvSpPr/>
          <p:nvPr/>
        </p:nvSpPr>
        <p:spPr>
          <a:xfrm>
            <a:off x="8604504" y="1938528"/>
            <a:ext cx="833933"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his · her</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شَعْرٌ مُسْتَقِيمٌ</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straight hair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shaʿ-run mus-ta-qī-mun</a:t>
            </a:r>
            <a:endParaRPr lang="en-US" sz="1350" dirty="0"/>
          </a:p>
        </p:txBody>
      </p:sp>
      <p:sp>
        <p:nvSpPr>
          <p:cNvPr id="24" name="Shape 21"/>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her</a:t>
            </a:r>
            <a:endParaRPr lang="en-US" sz="750" dirty="0"/>
          </a:p>
        </p:txBody>
      </p:sp>
      <p:sp>
        <p:nvSpPr>
          <p:cNvPr id="26" name="Text 23"/>
          <p:cNvSpPr txBox="1"/>
          <p:nvPr/>
        </p:nvSpPr>
        <p:spPr>
          <a:xfrm>
            <a:off x="100126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شَعْرُهَا مُسْتَقِيمٌ</a:t>
            </a:r>
            <a:endParaRPr lang="ar-SA" sz="1500" dirty="0"/>
          </a:p>
        </p:txBody>
      </p:sp>
      <p:sp>
        <p:nvSpPr>
          <p:cNvPr id="27" name="Shape 24"/>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his</a:t>
            </a:r>
            <a:endParaRPr lang="en-US" sz="750" dirty="0"/>
          </a:p>
        </p:txBody>
      </p:sp>
      <p:sp>
        <p:nvSpPr>
          <p:cNvPr id="29" name="Text 26"/>
          <p:cNvSpPr txBox="1"/>
          <p:nvPr/>
        </p:nvSpPr>
        <p:spPr>
          <a:xfrm>
            <a:off x="8284464"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شَعْرُهُ مُسْتَقِيمٌ</a:t>
            </a:r>
            <a:endParaRPr lang="ar-SA" sz="1500" dirty="0"/>
          </a:p>
        </p:txBody>
      </p:sp>
      <p:sp>
        <p:nvSpPr>
          <p:cNvPr id="30" name="Shape 2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389120"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8</a:t>
            </a:r>
            <a:endParaRPr lang="en-US" sz="1000" dirty="0"/>
          </a:p>
        </p:txBody>
      </p:sp>
      <p:sp>
        <p:nvSpPr>
          <p:cNvPr id="33" name="Shape 30"/>
          <p:cNvSpPr/>
          <p:nvPr/>
        </p:nvSpPr>
        <p:spPr>
          <a:xfrm>
            <a:off x="4782312" y="1938528"/>
            <a:ext cx="833933" cy="256032"/>
          </a:xfrm>
          <a:prstGeom prst="roundRect">
            <a:avLst>
              <a:gd name="adj" fmla="val 50000"/>
            </a:avLst>
          </a:prstGeom>
          <a:solidFill>
            <a:srgbClr val="EFE7D2"/>
          </a:solidFill>
          <a:ln w="12700">
            <a:solidFill>
              <a:srgbClr val="EFE7D2"/>
            </a:solidFill>
            <a:prstDash val="solid"/>
          </a:ln>
        </p:spPr>
      </p:sp>
      <p:sp>
        <p:nvSpPr>
          <p:cNvPr id="34" name="Text 31"/>
          <p:cNvSpPr txBox="1"/>
          <p:nvPr/>
        </p:nvSpPr>
        <p:spPr>
          <a:xfrm>
            <a:off x="4782312" y="1938528"/>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one · two</a:t>
            </a:r>
            <a:endParaRPr lang="en-US" sz="800" dirty="0"/>
          </a:p>
        </p:txBody>
      </p:sp>
      <p:sp>
        <p:nvSpPr>
          <p:cNvPr id="35" name="Shape 3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7" name="Text 34"/>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عَيْنَانِ بُنِّيَّتَانِ</a:t>
            </a:r>
            <a:endParaRPr lang="ar-SA" sz="3000" dirty="0"/>
          </a:p>
        </p:txBody>
      </p:sp>
      <p:sp>
        <p:nvSpPr>
          <p:cNvPr id="38" name="Text 35"/>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brown eyes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ʿay-nā-ni bun-niy-ya-tā-ni</a:t>
            </a:r>
            <a:endParaRPr lang="en-US" sz="1350" dirty="0"/>
          </a:p>
        </p:txBody>
      </p:sp>
      <p:sp>
        <p:nvSpPr>
          <p:cNvPr id="39" name="Shape 36"/>
          <p:cNvSpPr/>
          <p:nvPr/>
        </p:nvSpPr>
        <p:spPr>
          <a:xfrm>
            <a:off x="6720840" y="3438144"/>
            <a:ext cx="1060704" cy="438912"/>
          </a:xfrm>
          <a:prstGeom prst="roundRect">
            <a:avLst>
              <a:gd name="adj" fmla="val 10417"/>
            </a:avLst>
          </a:prstGeom>
          <a:solidFill>
            <a:srgbClr val="F4F1EA"/>
          </a:solidFill>
          <a:ln w="9525">
            <a:solidFill>
              <a:srgbClr val="F4F1EA"/>
            </a:solidFill>
            <a:prstDash val="solid"/>
          </a:ln>
        </p:spPr>
      </p:sp>
      <p:sp>
        <p:nvSpPr>
          <p:cNvPr id="40" name="Text 37"/>
          <p:cNvSpPr txBox="1"/>
          <p:nvPr/>
        </p:nvSpPr>
        <p:spPr>
          <a:xfrm>
            <a:off x="6775704"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her eyes</a:t>
            </a:r>
            <a:endParaRPr lang="en-US" sz="700" dirty="0"/>
          </a:p>
        </p:txBody>
      </p:sp>
      <p:sp>
        <p:nvSpPr>
          <p:cNvPr id="41" name="Text 38"/>
          <p:cNvSpPr txBox="1"/>
          <p:nvPr/>
        </p:nvSpPr>
        <p:spPr>
          <a:xfrm>
            <a:off x="6766560"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عَيْنَاهَا</a:t>
            </a:r>
            <a:endParaRPr lang="ar-SA" sz="1350" dirty="0"/>
          </a:p>
        </p:txBody>
      </p:sp>
      <p:sp>
        <p:nvSpPr>
          <p:cNvPr id="42" name="Shape 39"/>
          <p:cNvSpPr/>
          <p:nvPr/>
        </p:nvSpPr>
        <p:spPr>
          <a:xfrm>
            <a:off x="5568696" y="3438144"/>
            <a:ext cx="1060704"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5623560"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blue (2)</a:t>
            </a:r>
            <a:endParaRPr lang="en-US" sz="700" dirty="0"/>
          </a:p>
        </p:txBody>
      </p:sp>
      <p:sp>
        <p:nvSpPr>
          <p:cNvPr id="44" name="Text 41"/>
          <p:cNvSpPr txBox="1"/>
          <p:nvPr/>
        </p:nvSpPr>
        <p:spPr>
          <a:xfrm>
            <a:off x="5614416"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زَرْقَاوَانِ</a:t>
            </a:r>
            <a:endParaRPr lang="ar-SA" sz="1350" dirty="0"/>
          </a:p>
        </p:txBody>
      </p:sp>
      <p:sp>
        <p:nvSpPr>
          <p:cNvPr id="45" name="Shape 42"/>
          <p:cNvSpPr/>
          <p:nvPr/>
        </p:nvSpPr>
        <p:spPr>
          <a:xfrm>
            <a:off x="4416552" y="3438144"/>
            <a:ext cx="1060704" cy="438912"/>
          </a:xfrm>
          <a:prstGeom prst="roundRect">
            <a:avLst>
              <a:gd name="adj" fmla="val 10417"/>
            </a:avLst>
          </a:prstGeom>
          <a:solidFill>
            <a:srgbClr val="F4F1EA"/>
          </a:solidFill>
          <a:ln w="9525">
            <a:solidFill>
              <a:srgbClr val="F4F1EA"/>
            </a:solidFill>
            <a:prstDash val="solid"/>
          </a:ln>
        </p:spPr>
      </p:sp>
      <p:sp>
        <p:nvSpPr>
          <p:cNvPr id="46" name="Text 43"/>
          <p:cNvSpPr txBox="1"/>
          <p:nvPr/>
        </p:nvSpPr>
        <p:spPr>
          <a:xfrm>
            <a:off x="447141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one</a:t>
            </a:r>
            <a:endParaRPr lang="en-US" sz="750" dirty="0"/>
          </a:p>
        </p:txBody>
      </p:sp>
      <p:sp>
        <p:nvSpPr>
          <p:cNvPr id="47" name="Text 44"/>
          <p:cNvSpPr txBox="1"/>
          <p:nvPr/>
        </p:nvSpPr>
        <p:spPr>
          <a:xfrm>
            <a:off x="446227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عَيْنٌ بُنِّيَّةٌ</a:t>
            </a:r>
            <a:endParaRPr lang="ar-SA" sz="1500" dirty="0"/>
          </a:p>
        </p:txBody>
      </p:sp>
      <p:sp>
        <p:nvSpPr>
          <p:cNvPr id="48" name="Shape 45"/>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9" name="Shape 46"/>
          <p:cNvSpPr/>
          <p:nvPr/>
        </p:nvSpPr>
        <p:spPr>
          <a:xfrm>
            <a:off x="566928" y="1920240"/>
            <a:ext cx="310896" cy="310896"/>
          </a:xfrm>
          <a:prstGeom prst="ellipse">
            <a:avLst/>
          </a:prstGeom>
          <a:solidFill>
            <a:srgbClr val="F4F1EA"/>
          </a:solidFill>
          <a:ln w="12700">
            <a:solidFill>
              <a:srgbClr val="F4F1EA"/>
            </a:solidFill>
            <a:prstDash val="solid"/>
          </a:ln>
        </p:spPr>
      </p:sp>
      <p:sp>
        <p:nvSpPr>
          <p:cNvPr id="50" name="Text 47"/>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9</a:t>
            </a:r>
            <a:endParaRPr lang="en-US" sz="1000" dirty="0"/>
          </a:p>
        </p:txBody>
      </p:sp>
      <p:sp>
        <p:nvSpPr>
          <p:cNvPr id="51" name="Shape 48"/>
          <p:cNvSpPr/>
          <p:nvPr/>
        </p:nvSpPr>
        <p:spPr>
          <a:xfrm>
            <a:off x="960120" y="1938528"/>
            <a:ext cx="709574" cy="256032"/>
          </a:xfrm>
          <a:prstGeom prst="roundRect">
            <a:avLst>
              <a:gd name="adj" fmla="val 50000"/>
            </a:avLst>
          </a:prstGeom>
          <a:solidFill>
            <a:srgbClr val="EFE7D2"/>
          </a:solidFill>
          <a:ln w="12700">
            <a:solidFill>
              <a:srgbClr val="EFE7D2"/>
            </a:solidFill>
            <a:prstDash val="solid"/>
          </a:ln>
        </p:spPr>
      </p:sp>
      <p:sp>
        <p:nvSpPr>
          <p:cNvPr id="52" name="Text 49"/>
          <p:cNvSpPr txBox="1"/>
          <p:nvPr/>
        </p:nvSpPr>
        <p:spPr>
          <a:xfrm>
            <a:off x="960120"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53" name="Shape 50"/>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5" name="Text 52"/>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يَرْتَدِي نَظَّارَةً</a:t>
            </a:r>
            <a:endParaRPr lang="ar-SA" sz="3000" dirty="0"/>
          </a:p>
        </p:txBody>
      </p:sp>
      <p:sp>
        <p:nvSpPr>
          <p:cNvPr id="56" name="Text 53"/>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he wears glasses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yar-ta-dī naẓ-ẓā-ra-tan</a:t>
            </a:r>
            <a:endParaRPr lang="en-US" sz="1350" dirty="0"/>
          </a:p>
        </p:txBody>
      </p:sp>
      <p:sp>
        <p:nvSpPr>
          <p:cNvPr id="57" name="Shape 54"/>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58" name="Text 55"/>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59" name="Text 56"/>
          <p:cNvSpPr txBox="1"/>
          <p:nvPr/>
        </p:nvSpPr>
        <p:spPr>
          <a:xfrm>
            <a:off x="294436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نَظَّارَاتٌ</a:t>
            </a:r>
            <a:endParaRPr lang="ar-SA" sz="1500" dirty="0"/>
          </a:p>
        </p:txBody>
      </p:sp>
      <p:sp>
        <p:nvSpPr>
          <p:cNvPr id="60" name="Shape 57"/>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61" name="Text 58"/>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glasses</a:t>
            </a:r>
            <a:endParaRPr lang="en-US" sz="700" dirty="0"/>
          </a:p>
        </p:txBody>
      </p:sp>
      <p:sp>
        <p:nvSpPr>
          <p:cNvPr id="62" name="Text 59"/>
          <p:cNvSpPr txBox="1"/>
          <p:nvPr/>
        </p:nvSpPr>
        <p:spPr>
          <a:xfrm>
            <a:off x="1792224"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نَظَّارَةٌ</a:t>
            </a:r>
            <a:endParaRPr lang="ar-SA" sz="1350" dirty="0"/>
          </a:p>
        </p:txBody>
      </p:sp>
      <p:sp>
        <p:nvSpPr>
          <p:cNvPr id="63" name="Shape 60"/>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64" name="Text 61"/>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65" name="Text 62"/>
          <p:cNvSpPr txBox="1"/>
          <p:nvPr/>
        </p:nvSpPr>
        <p:spPr>
          <a:xfrm>
            <a:off x="64008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تَرْتَدِي</a:t>
            </a:r>
            <a:endParaRPr lang="ar-SA" sz="1500" dirty="0"/>
          </a:p>
        </p:txBody>
      </p:sp>
      <p:sp>
        <p:nvSpPr>
          <p:cNvPr id="66" name="Shape 6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7" name="Shape 64"/>
          <p:cNvSpPr/>
          <p:nvPr/>
        </p:nvSpPr>
        <p:spPr>
          <a:xfrm>
            <a:off x="8211312" y="4261104"/>
            <a:ext cx="310896" cy="310896"/>
          </a:xfrm>
          <a:prstGeom prst="ellipse">
            <a:avLst/>
          </a:prstGeom>
          <a:solidFill>
            <a:srgbClr val="F4F1EA"/>
          </a:solidFill>
          <a:ln w="12700">
            <a:solidFill>
              <a:srgbClr val="F4F1EA"/>
            </a:solidFill>
            <a:prstDash val="solid"/>
          </a:ln>
        </p:spPr>
      </p:sp>
      <p:sp>
        <p:nvSpPr>
          <p:cNvPr id="68" name="Text 6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10</a:t>
            </a:r>
            <a:endParaRPr lang="en-US" sz="1000" dirty="0"/>
          </a:p>
        </p:txBody>
      </p:sp>
      <p:sp>
        <p:nvSpPr>
          <p:cNvPr id="69" name="Shape 66"/>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70" name="Text 67"/>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71" name="Text 68"/>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تَرْتَدِي نَظَّارَةً</a:t>
            </a:r>
            <a:endParaRPr lang="ar-SA" sz="3000" dirty="0"/>
          </a:p>
        </p:txBody>
      </p:sp>
      <p:sp>
        <p:nvSpPr>
          <p:cNvPr id="72" name="Text 69"/>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she wears glasses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tar-ta-dī naẓ-ẓā-ra-tan</a:t>
            </a:r>
            <a:endParaRPr lang="en-US" sz="1350" dirty="0"/>
          </a:p>
        </p:txBody>
      </p:sp>
      <p:sp>
        <p:nvSpPr>
          <p:cNvPr id="73" name="Shape 70"/>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4" name="Shape 71"/>
          <p:cNvSpPr/>
          <p:nvPr/>
        </p:nvSpPr>
        <p:spPr>
          <a:xfrm>
            <a:off x="4389120" y="4261104"/>
            <a:ext cx="310896" cy="310896"/>
          </a:xfrm>
          <a:prstGeom prst="ellipse">
            <a:avLst/>
          </a:prstGeom>
          <a:solidFill>
            <a:srgbClr val="F4F1EA"/>
          </a:solidFill>
          <a:ln w="12700">
            <a:solidFill>
              <a:srgbClr val="F4F1EA"/>
            </a:solidFill>
            <a:prstDash val="solid"/>
          </a:ln>
        </p:spPr>
      </p:sp>
      <p:sp>
        <p:nvSpPr>
          <p:cNvPr id="75" name="Text 72"/>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11</a:t>
            </a:r>
            <a:endParaRPr lang="en-US" sz="1000" dirty="0"/>
          </a:p>
        </p:txBody>
      </p:sp>
      <p:sp>
        <p:nvSpPr>
          <p:cNvPr id="76" name="Text 73"/>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لَهُ لِحْيَةٌ</a:t>
            </a:r>
            <a:endParaRPr lang="ar-SA" sz="3000" dirty="0"/>
          </a:p>
        </p:txBody>
      </p:sp>
      <p:sp>
        <p:nvSpPr>
          <p:cNvPr id="77" name="Text 74"/>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he has a beard</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la-hu liḥ-ya-tun</a:t>
            </a:r>
            <a:endParaRPr lang="en-US" sz="1350" dirty="0"/>
          </a:p>
        </p:txBody>
      </p:sp>
      <p:sp>
        <p:nvSpPr>
          <p:cNvPr id="78" name="Shape 75"/>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9" name="Shape 76"/>
          <p:cNvSpPr/>
          <p:nvPr/>
        </p:nvSpPr>
        <p:spPr>
          <a:xfrm>
            <a:off x="566928" y="4261104"/>
            <a:ext cx="310896" cy="310896"/>
          </a:xfrm>
          <a:prstGeom prst="ellipse">
            <a:avLst/>
          </a:prstGeom>
          <a:solidFill>
            <a:srgbClr val="F4F1EA"/>
          </a:solidFill>
          <a:ln w="12700">
            <a:solidFill>
              <a:srgbClr val="F4F1EA"/>
            </a:solidFill>
            <a:prstDash val="solid"/>
          </a:ln>
        </p:spPr>
      </p:sp>
      <p:sp>
        <p:nvSpPr>
          <p:cNvPr id="80" name="Text 77"/>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12</a:t>
            </a:r>
            <a:endParaRPr lang="en-US" sz="1000" dirty="0"/>
          </a:p>
        </p:txBody>
      </p:sp>
      <p:sp>
        <p:nvSpPr>
          <p:cNvPr id="81" name="Text 78"/>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مَلَامِحُهُ هَادِئَةٌ</a:t>
            </a:r>
            <a:endParaRPr lang="ar-SA" sz="3000" dirty="0"/>
          </a:p>
        </p:txBody>
      </p:sp>
      <p:sp>
        <p:nvSpPr>
          <p:cNvPr id="82" name="Text 79"/>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his features are calm</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ma-lā-mi-ḥu-hu hā-di-ʾa-tun</a:t>
            </a:r>
            <a:endParaRPr lang="en-US" sz="1350" dirty="0"/>
          </a:p>
        </p:txBody>
      </p:sp>
      <p:sp>
        <p:nvSpPr>
          <p:cNvPr id="83" name="Text 8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47</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TB-L03 · Appearance and Personality</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Clothes in a portrait (1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B · Personal and Social Life · TB-L03</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13</a:t>
            </a:r>
            <a:endParaRPr lang="en-US" sz="1000" dirty="0"/>
          </a:p>
        </p:txBody>
      </p:sp>
      <p:sp>
        <p:nvSpPr>
          <p:cNvPr id="20" name="Shape 17"/>
          <p:cNvSpPr/>
          <p:nvPr/>
        </p:nvSpPr>
        <p:spPr>
          <a:xfrm>
            <a:off x="8604504" y="1938528"/>
            <a:ext cx="709574"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pl</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قَمِيصٌ</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shirt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qa-mī-ṣun</a:t>
            </a:r>
            <a:endParaRPr lang="en-US" sz="1350" dirty="0"/>
          </a:p>
        </p:txBody>
      </p:sp>
      <p:sp>
        <p:nvSpPr>
          <p:cNvPr id="24" name="Shape 21"/>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26" name="Text 23"/>
          <p:cNvSpPr txBox="1"/>
          <p:nvPr/>
        </p:nvSpPr>
        <p:spPr>
          <a:xfrm>
            <a:off x="1058875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قُمْصَانٌ</a:t>
            </a:r>
            <a:endParaRPr lang="ar-SA" sz="1500" dirty="0"/>
          </a:p>
        </p:txBody>
      </p:sp>
      <p:sp>
        <p:nvSpPr>
          <p:cNvPr id="27" name="Shape 24"/>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this</a:t>
            </a:r>
            <a:endParaRPr lang="en-US" sz="700" dirty="0"/>
          </a:p>
        </p:txBody>
      </p:sp>
      <p:sp>
        <p:nvSpPr>
          <p:cNvPr id="29" name="Text 26"/>
          <p:cNvSpPr txBox="1"/>
          <p:nvPr/>
        </p:nvSpPr>
        <p:spPr>
          <a:xfrm>
            <a:off x="9436608"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هٰذَا القَمِيصُ</a:t>
            </a:r>
            <a:endParaRPr lang="ar-SA" sz="1350" dirty="0"/>
          </a:p>
        </p:txBody>
      </p:sp>
      <p:sp>
        <p:nvSpPr>
          <p:cNvPr id="30" name="Shape 27"/>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31" name="Text 28"/>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32" name="Text 29"/>
          <p:cNvSpPr txBox="1"/>
          <p:nvPr/>
        </p:nvSpPr>
        <p:spPr>
          <a:xfrm>
            <a:off x="828446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مُذَكَّرٌ</a:t>
            </a:r>
            <a:endParaRPr lang="ar-SA" sz="1500" dirty="0"/>
          </a:p>
        </p:txBody>
      </p:sp>
      <p:sp>
        <p:nvSpPr>
          <p:cNvPr id="33" name="Shape 3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4389120"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14</a:t>
            </a:r>
            <a:endParaRPr lang="en-US" sz="1000" dirty="0"/>
          </a:p>
        </p:txBody>
      </p:sp>
      <p:sp>
        <p:nvSpPr>
          <p:cNvPr id="36" name="Shape 33"/>
          <p:cNvSpPr/>
          <p:nvPr/>
        </p:nvSpPr>
        <p:spPr>
          <a:xfrm>
            <a:off x="4782312" y="1938528"/>
            <a:ext cx="709574" cy="256032"/>
          </a:xfrm>
          <a:prstGeom prst="roundRect">
            <a:avLst>
              <a:gd name="adj" fmla="val 50000"/>
            </a:avLst>
          </a:prstGeom>
          <a:solidFill>
            <a:srgbClr val="EFE7D2"/>
          </a:solidFill>
          <a:ln w="12700">
            <a:solidFill>
              <a:srgbClr val="EFE7D2"/>
            </a:solidFill>
            <a:prstDash val="solid"/>
          </a:ln>
        </p:spPr>
      </p:sp>
      <p:sp>
        <p:nvSpPr>
          <p:cNvPr id="37" name="Text 34"/>
          <p:cNvSpPr txBox="1"/>
          <p:nvPr/>
        </p:nvSpPr>
        <p:spPr>
          <a:xfrm>
            <a:off x="4782312"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f. · pl</a:t>
            </a:r>
            <a:endParaRPr lang="en-US" sz="800" dirty="0"/>
          </a:p>
        </p:txBody>
      </p:sp>
      <p:sp>
        <p:nvSpPr>
          <p:cNvPr id="38" name="Text 35"/>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قَمِيصَةٌ</a:t>
            </a:r>
            <a:endParaRPr lang="ar-SA" sz="3000" dirty="0"/>
          </a:p>
        </p:txBody>
      </p:sp>
      <p:sp>
        <p:nvSpPr>
          <p:cNvPr id="39" name="Text 36"/>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blouse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qa-mī-ṣa-tun</a:t>
            </a:r>
            <a:endParaRPr lang="en-US" sz="1350" dirty="0"/>
          </a:p>
        </p:txBody>
      </p:sp>
      <p:sp>
        <p:nvSpPr>
          <p:cNvPr id="40" name="Shape 37"/>
          <p:cNvSpPr/>
          <p:nvPr/>
        </p:nvSpPr>
        <p:spPr>
          <a:xfrm>
            <a:off x="6720840" y="3438144"/>
            <a:ext cx="1060704" cy="438912"/>
          </a:xfrm>
          <a:prstGeom prst="roundRect">
            <a:avLst>
              <a:gd name="adj" fmla="val 10417"/>
            </a:avLst>
          </a:prstGeom>
          <a:solidFill>
            <a:srgbClr val="F4F1EA"/>
          </a:solidFill>
          <a:ln w="9525">
            <a:solidFill>
              <a:srgbClr val="F4F1EA"/>
            </a:solidFill>
            <a:prstDash val="solid"/>
          </a:ln>
        </p:spPr>
      </p:sp>
      <p:sp>
        <p:nvSpPr>
          <p:cNvPr id="41" name="Text 38"/>
          <p:cNvSpPr txBox="1"/>
          <p:nvPr/>
        </p:nvSpPr>
        <p:spPr>
          <a:xfrm>
            <a:off x="677570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42" name="Text 39"/>
          <p:cNvSpPr txBox="1"/>
          <p:nvPr/>
        </p:nvSpPr>
        <p:spPr>
          <a:xfrm>
            <a:off x="676656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قَمِيصَاتٌ</a:t>
            </a:r>
            <a:endParaRPr lang="ar-SA" sz="1500" dirty="0"/>
          </a:p>
        </p:txBody>
      </p:sp>
      <p:sp>
        <p:nvSpPr>
          <p:cNvPr id="43" name="Shape 40"/>
          <p:cNvSpPr/>
          <p:nvPr/>
        </p:nvSpPr>
        <p:spPr>
          <a:xfrm>
            <a:off x="5568696" y="3438144"/>
            <a:ext cx="1060704" cy="438912"/>
          </a:xfrm>
          <a:prstGeom prst="roundRect">
            <a:avLst>
              <a:gd name="adj" fmla="val 10417"/>
            </a:avLst>
          </a:prstGeom>
          <a:solidFill>
            <a:srgbClr val="F4F1EA"/>
          </a:solidFill>
          <a:ln w="9525">
            <a:solidFill>
              <a:srgbClr val="F4F1EA"/>
            </a:solidFill>
            <a:prstDash val="solid"/>
          </a:ln>
        </p:spPr>
      </p:sp>
      <p:sp>
        <p:nvSpPr>
          <p:cNvPr id="44" name="Text 41"/>
          <p:cNvSpPr txBox="1"/>
          <p:nvPr/>
        </p:nvSpPr>
        <p:spPr>
          <a:xfrm>
            <a:off x="5623560"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this</a:t>
            </a:r>
            <a:endParaRPr lang="en-US" sz="700" dirty="0"/>
          </a:p>
        </p:txBody>
      </p:sp>
      <p:sp>
        <p:nvSpPr>
          <p:cNvPr id="45" name="Text 42"/>
          <p:cNvSpPr txBox="1"/>
          <p:nvPr/>
        </p:nvSpPr>
        <p:spPr>
          <a:xfrm>
            <a:off x="5614416"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هٰذِهِ القَمِيصَةُ</a:t>
            </a:r>
            <a:endParaRPr lang="ar-SA" sz="1350" dirty="0"/>
          </a:p>
        </p:txBody>
      </p:sp>
      <p:sp>
        <p:nvSpPr>
          <p:cNvPr id="46" name="Shape 43"/>
          <p:cNvSpPr/>
          <p:nvPr/>
        </p:nvSpPr>
        <p:spPr>
          <a:xfrm>
            <a:off x="4416552" y="3438144"/>
            <a:ext cx="1060704" cy="438912"/>
          </a:xfrm>
          <a:prstGeom prst="roundRect">
            <a:avLst>
              <a:gd name="adj" fmla="val 10417"/>
            </a:avLst>
          </a:prstGeom>
          <a:solidFill>
            <a:srgbClr val="F4F1EA"/>
          </a:solidFill>
          <a:ln w="9525">
            <a:solidFill>
              <a:srgbClr val="F4F1EA"/>
            </a:solidFill>
            <a:prstDash val="solid"/>
          </a:ln>
        </p:spPr>
      </p:sp>
      <p:sp>
        <p:nvSpPr>
          <p:cNvPr id="47" name="Text 44"/>
          <p:cNvSpPr txBox="1"/>
          <p:nvPr/>
        </p:nvSpPr>
        <p:spPr>
          <a:xfrm>
            <a:off x="447141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48" name="Text 45"/>
          <p:cNvSpPr txBox="1"/>
          <p:nvPr/>
        </p:nvSpPr>
        <p:spPr>
          <a:xfrm>
            <a:off x="446227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مُؤَنَّثٌ</a:t>
            </a:r>
            <a:endParaRPr lang="ar-SA" sz="1500" dirty="0"/>
          </a:p>
        </p:txBody>
      </p:sp>
      <p:sp>
        <p:nvSpPr>
          <p:cNvPr id="49" name="Shape 4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0" name="Shape 47"/>
          <p:cNvSpPr/>
          <p:nvPr/>
        </p:nvSpPr>
        <p:spPr>
          <a:xfrm>
            <a:off x="566928" y="1920240"/>
            <a:ext cx="310896" cy="310896"/>
          </a:xfrm>
          <a:prstGeom prst="ellipse">
            <a:avLst/>
          </a:prstGeom>
          <a:solidFill>
            <a:srgbClr val="F4F1EA"/>
          </a:solidFill>
          <a:ln w="12700">
            <a:solidFill>
              <a:srgbClr val="F4F1EA"/>
            </a:solidFill>
            <a:prstDash val="solid"/>
          </a:ln>
        </p:spPr>
      </p:sp>
      <p:sp>
        <p:nvSpPr>
          <p:cNvPr id="51" name="Text 4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15</a:t>
            </a:r>
            <a:endParaRPr lang="en-US" sz="1000" dirty="0"/>
          </a:p>
        </p:txBody>
      </p:sp>
      <p:sp>
        <p:nvSpPr>
          <p:cNvPr id="52" name="Shape 49"/>
          <p:cNvSpPr/>
          <p:nvPr/>
        </p:nvSpPr>
        <p:spPr>
          <a:xfrm>
            <a:off x="960120" y="1938528"/>
            <a:ext cx="709574" cy="256032"/>
          </a:xfrm>
          <a:prstGeom prst="roundRect">
            <a:avLst>
              <a:gd name="adj" fmla="val 50000"/>
            </a:avLst>
          </a:prstGeom>
          <a:solidFill>
            <a:srgbClr val="EFE7D2"/>
          </a:solidFill>
          <a:ln w="12700">
            <a:solidFill>
              <a:srgbClr val="EFE7D2"/>
            </a:solidFill>
            <a:prstDash val="solid"/>
          </a:ln>
        </p:spPr>
      </p:sp>
      <p:sp>
        <p:nvSpPr>
          <p:cNvPr id="53" name="Text 50"/>
          <p:cNvSpPr txBox="1"/>
          <p:nvPr/>
        </p:nvSpPr>
        <p:spPr>
          <a:xfrm>
            <a:off x="960120"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pl</a:t>
            </a:r>
            <a:endParaRPr lang="en-US" sz="800" dirty="0"/>
          </a:p>
        </p:txBody>
      </p:sp>
      <p:sp>
        <p:nvSpPr>
          <p:cNvPr id="54" name="Text 51"/>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سِرْوَالٌ</a:t>
            </a:r>
            <a:endParaRPr lang="ar-SA" sz="3000" dirty="0"/>
          </a:p>
        </p:txBody>
      </p:sp>
      <p:sp>
        <p:nvSpPr>
          <p:cNvPr id="55" name="Text 52"/>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trousers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sir-wā-lun</a:t>
            </a:r>
            <a:endParaRPr lang="en-US" sz="1350" dirty="0"/>
          </a:p>
        </p:txBody>
      </p:sp>
      <p:sp>
        <p:nvSpPr>
          <p:cNvPr id="56" name="Shape 53"/>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57" name="Text 54"/>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58" name="Text 55"/>
          <p:cNvSpPr txBox="1"/>
          <p:nvPr/>
        </p:nvSpPr>
        <p:spPr>
          <a:xfrm>
            <a:off x="294436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سَرَاوِيلُ</a:t>
            </a:r>
            <a:endParaRPr lang="ar-SA" sz="1500" dirty="0"/>
          </a:p>
        </p:txBody>
      </p:sp>
      <p:sp>
        <p:nvSpPr>
          <p:cNvPr id="59" name="Shape 56"/>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60" name="Text 57"/>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this</a:t>
            </a:r>
            <a:endParaRPr lang="en-US" sz="700" dirty="0"/>
          </a:p>
        </p:txBody>
      </p:sp>
      <p:sp>
        <p:nvSpPr>
          <p:cNvPr id="61" name="Text 58"/>
          <p:cNvSpPr txBox="1"/>
          <p:nvPr/>
        </p:nvSpPr>
        <p:spPr>
          <a:xfrm>
            <a:off x="1792224"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هٰذَا السِّرْوَالُ</a:t>
            </a:r>
            <a:endParaRPr lang="ar-SA" sz="1350" dirty="0"/>
          </a:p>
        </p:txBody>
      </p:sp>
      <p:sp>
        <p:nvSpPr>
          <p:cNvPr id="62" name="Shape 59"/>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63" name="Text 60"/>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64" name="Text 61"/>
          <p:cNvSpPr txBox="1"/>
          <p:nvPr/>
        </p:nvSpPr>
        <p:spPr>
          <a:xfrm>
            <a:off x="64008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مُذَكَّرٌ</a:t>
            </a:r>
            <a:endParaRPr lang="ar-SA" sz="1500" dirty="0"/>
          </a:p>
        </p:txBody>
      </p:sp>
      <p:sp>
        <p:nvSpPr>
          <p:cNvPr id="65" name="Shape 62"/>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6" name="Shape 63"/>
          <p:cNvSpPr/>
          <p:nvPr/>
        </p:nvSpPr>
        <p:spPr>
          <a:xfrm>
            <a:off x="8211312" y="4261104"/>
            <a:ext cx="310896" cy="310896"/>
          </a:xfrm>
          <a:prstGeom prst="ellipse">
            <a:avLst/>
          </a:prstGeom>
          <a:solidFill>
            <a:srgbClr val="F4F1EA"/>
          </a:solidFill>
          <a:ln w="12700">
            <a:solidFill>
              <a:srgbClr val="F4F1EA"/>
            </a:solidFill>
            <a:prstDash val="solid"/>
          </a:ln>
        </p:spPr>
      </p:sp>
      <p:sp>
        <p:nvSpPr>
          <p:cNvPr id="67" name="Text 64"/>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16</a:t>
            </a:r>
            <a:endParaRPr lang="en-US" sz="1000" dirty="0"/>
          </a:p>
        </p:txBody>
      </p:sp>
      <p:sp>
        <p:nvSpPr>
          <p:cNvPr id="68" name="Shape 65"/>
          <p:cNvSpPr/>
          <p:nvPr/>
        </p:nvSpPr>
        <p:spPr>
          <a:xfrm>
            <a:off x="8604504" y="4279392"/>
            <a:ext cx="709574" cy="256032"/>
          </a:xfrm>
          <a:prstGeom prst="roundRect">
            <a:avLst>
              <a:gd name="adj" fmla="val 50000"/>
            </a:avLst>
          </a:prstGeom>
          <a:solidFill>
            <a:srgbClr val="EFE7D2"/>
          </a:solidFill>
          <a:ln w="12700">
            <a:solidFill>
              <a:srgbClr val="EFE7D2"/>
            </a:solidFill>
            <a:prstDash val="solid"/>
          </a:ln>
        </p:spPr>
      </p:sp>
      <p:sp>
        <p:nvSpPr>
          <p:cNvPr id="69" name="Text 66"/>
          <p:cNvSpPr txBox="1"/>
          <p:nvPr/>
        </p:nvSpPr>
        <p:spPr>
          <a:xfrm>
            <a:off x="8604504"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f. · pl</a:t>
            </a:r>
            <a:endParaRPr lang="en-US" sz="800" dirty="0"/>
          </a:p>
        </p:txBody>
      </p:sp>
      <p:sp>
        <p:nvSpPr>
          <p:cNvPr id="70" name="Text 67"/>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تَنُّورَةٌ</a:t>
            </a:r>
            <a:endParaRPr lang="ar-SA" sz="3000" dirty="0"/>
          </a:p>
        </p:txBody>
      </p:sp>
      <p:sp>
        <p:nvSpPr>
          <p:cNvPr id="71" name="Text 68"/>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skirt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tan-nū-ra-tun</a:t>
            </a:r>
            <a:endParaRPr lang="en-US" sz="1350" dirty="0"/>
          </a:p>
        </p:txBody>
      </p:sp>
      <p:sp>
        <p:nvSpPr>
          <p:cNvPr id="72" name="Shape 69"/>
          <p:cNvSpPr/>
          <p:nvPr/>
        </p:nvSpPr>
        <p:spPr>
          <a:xfrm>
            <a:off x="10543032" y="5779008"/>
            <a:ext cx="1060704" cy="438912"/>
          </a:xfrm>
          <a:prstGeom prst="roundRect">
            <a:avLst>
              <a:gd name="adj" fmla="val 10417"/>
            </a:avLst>
          </a:prstGeom>
          <a:solidFill>
            <a:srgbClr val="F4F1EA"/>
          </a:solidFill>
          <a:ln w="9525">
            <a:solidFill>
              <a:srgbClr val="F4F1EA"/>
            </a:solidFill>
            <a:prstDash val="solid"/>
          </a:ln>
        </p:spPr>
      </p:sp>
      <p:sp>
        <p:nvSpPr>
          <p:cNvPr id="73" name="Text 70"/>
          <p:cNvSpPr txBox="1"/>
          <p:nvPr/>
        </p:nvSpPr>
        <p:spPr>
          <a:xfrm>
            <a:off x="1059789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74" name="Text 71"/>
          <p:cNvSpPr txBox="1"/>
          <p:nvPr/>
        </p:nvSpPr>
        <p:spPr>
          <a:xfrm>
            <a:off x="1058875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تَنَانِيرُ</a:t>
            </a:r>
            <a:endParaRPr lang="ar-SA" sz="1500" dirty="0"/>
          </a:p>
        </p:txBody>
      </p:sp>
      <p:sp>
        <p:nvSpPr>
          <p:cNvPr id="75" name="Shape 72"/>
          <p:cNvSpPr/>
          <p:nvPr/>
        </p:nvSpPr>
        <p:spPr>
          <a:xfrm>
            <a:off x="9390888" y="5779008"/>
            <a:ext cx="1060704" cy="438912"/>
          </a:xfrm>
          <a:prstGeom prst="roundRect">
            <a:avLst>
              <a:gd name="adj" fmla="val 10417"/>
            </a:avLst>
          </a:prstGeom>
          <a:solidFill>
            <a:srgbClr val="F4F1EA"/>
          </a:solidFill>
          <a:ln w="9525">
            <a:solidFill>
              <a:srgbClr val="F4F1EA"/>
            </a:solidFill>
            <a:prstDash val="solid"/>
          </a:ln>
        </p:spPr>
      </p:sp>
      <p:sp>
        <p:nvSpPr>
          <p:cNvPr id="76" name="Text 73"/>
          <p:cNvSpPr txBox="1"/>
          <p:nvPr/>
        </p:nvSpPr>
        <p:spPr>
          <a:xfrm>
            <a:off x="9445752" y="5788152"/>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this</a:t>
            </a:r>
            <a:endParaRPr lang="en-US" sz="700" dirty="0"/>
          </a:p>
        </p:txBody>
      </p:sp>
      <p:sp>
        <p:nvSpPr>
          <p:cNvPr id="77" name="Text 74"/>
          <p:cNvSpPr txBox="1"/>
          <p:nvPr/>
        </p:nvSpPr>
        <p:spPr>
          <a:xfrm>
            <a:off x="9436608" y="5916168"/>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هٰذِهِ التَّنُّورَةُ</a:t>
            </a:r>
            <a:endParaRPr lang="ar-SA" sz="1350" dirty="0"/>
          </a:p>
        </p:txBody>
      </p:sp>
      <p:sp>
        <p:nvSpPr>
          <p:cNvPr id="78" name="Shape 75"/>
          <p:cNvSpPr/>
          <p:nvPr/>
        </p:nvSpPr>
        <p:spPr>
          <a:xfrm>
            <a:off x="8238744" y="5779008"/>
            <a:ext cx="1060704" cy="438912"/>
          </a:xfrm>
          <a:prstGeom prst="roundRect">
            <a:avLst>
              <a:gd name="adj" fmla="val 10417"/>
            </a:avLst>
          </a:prstGeom>
          <a:solidFill>
            <a:srgbClr val="F4F1EA"/>
          </a:solidFill>
          <a:ln w="9525">
            <a:solidFill>
              <a:srgbClr val="F4F1EA"/>
            </a:solidFill>
            <a:prstDash val="solid"/>
          </a:ln>
        </p:spPr>
      </p:sp>
      <p:sp>
        <p:nvSpPr>
          <p:cNvPr id="79" name="Text 76"/>
          <p:cNvSpPr txBox="1"/>
          <p:nvPr/>
        </p:nvSpPr>
        <p:spPr>
          <a:xfrm>
            <a:off x="829360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80" name="Text 77"/>
          <p:cNvSpPr txBox="1"/>
          <p:nvPr/>
        </p:nvSpPr>
        <p:spPr>
          <a:xfrm>
            <a:off x="828446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مُؤَنَّثٌ</a:t>
            </a:r>
            <a:endParaRPr lang="ar-SA" sz="1500" dirty="0"/>
          </a:p>
        </p:txBody>
      </p:sp>
      <p:sp>
        <p:nvSpPr>
          <p:cNvPr id="81" name="Shape 78"/>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2" name="Shape 79"/>
          <p:cNvSpPr/>
          <p:nvPr/>
        </p:nvSpPr>
        <p:spPr>
          <a:xfrm>
            <a:off x="4389120" y="4261104"/>
            <a:ext cx="310896" cy="310896"/>
          </a:xfrm>
          <a:prstGeom prst="ellipse">
            <a:avLst/>
          </a:prstGeom>
          <a:solidFill>
            <a:srgbClr val="F4F1EA"/>
          </a:solidFill>
          <a:ln w="12700">
            <a:solidFill>
              <a:srgbClr val="F4F1EA"/>
            </a:solidFill>
            <a:prstDash val="solid"/>
          </a:ln>
        </p:spPr>
      </p:sp>
      <p:sp>
        <p:nvSpPr>
          <p:cNvPr id="83" name="Text 80"/>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17</a:t>
            </a:r>
            <a:endParaRPr lang="en-US" sz="1000" dirty="0"/>
          </a:p>
        </p:txBody>
      </p:sp>
      <p:sp>
        <p:nvSpPr>
          <p:cNvPr id="84" name="Shape 81"/>
          <p:cNvSpPr/>
          <p:nvPr/>
        </p:nvSpPr>
        <p:spPr>
          <a:xfrm>
            <a:off x="4782312" y="4279392"/>
            <a:ext cx="709574" cy="256032"/>
          </a:xfrm>
          <a:prstGeom prst="roundRect">
            <a:avLst>
              <a:gd name="adj" fmla="val 50000"/>
            </a:avLst>
          </a:prstGeom>
          <a:solidFill>
            <a:srgbClr val="EFE7D2"/>
          </a:solidFill>
          <a:ln w="12700">
            <a:solidFill>
              <a:srgbClr val="EFE7D2"/>
            </a:solidFill>
            <a:prstDash val="solid"/>
          </a:ln>
        </p:spPr>
      </p:sp>
      <p:sp>
        <p:nvSpPr>
          <p:cNvPr id="85" name="Text 82"/>
          <p:cNvSpPr txBox="1"/>
          <p:nvPr/>
        </p:nvSpPr>
        <p:spPr>
          <a:xfrm>
            <a:off x="4782312"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pl</a:t>
            </a:r>
            <a:endParaRPr lang="en-US" sz="800" dirty="0"/>
          </a:p>
        </p:txBody>
      </p:sp>
      <p:sp>
        <p:nvSpPr>
          <p:cNvPr id="86" name="Text 83"/>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فُسْتَانٌ</a:t>
            </a:r>
            <a:endParaRPr lang="ar-SA" sz="3000" dirty="0"/>
          </a:p>
        </p:txBody>
      </p:sp>
      <p:sp>
        <p:nvSpPr>
          <p:cNvPr id="87" name="Text 84"/>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dress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fus-tā-nun</a:t>
            </a:r>
            <a:endParaRPr lang="en-US" sz="1350" dirty="0"/>
          </a:p>
        </p:txBody>
      </p:sp>
      <p:sp>
        <p:nvSpPr>
          <p:cNvPr id="88" name="Shape 85"/>
          <p:cNvSpPr/>
          <p:nvPr/>
        </p:nvSpPr>
        <p:spPr>
          <a:xfrm>
            <a:off x="6720840" y="5779008"/>
            <a:ext cx="1060704" cy="438912"/>
          </a:xfrm>
          <a:prstGeom prst="roundRect">
            <a:avLst>
              <a:gd name="adj" fmla="val 10417"/>
            </a:avLst>
          </a:prstGeom>
          <a:solidFill>
            <a:srgbClr val="F4F1EA"/>
          </a:solidFill>
          <a:ln w="9525">
            <a:solidFill>
              <a:srgbClr val="F4F1EA"/>
            </a:solidFill>
            <a:prstDash val="solid"/>
          </a:ln>
        </p:spPr>
      </p:sp>
      <p:sp>
        <p:nvSpPr>
          <p:cNvPr id="89" name="Text 86"/>
          <p:cNvSpPr txBox="1"/>
          <p:nvPr/>
        </p:nvSpPr>
        <p:spPr>
          <a:xfrm>
            <a:off x="6775704"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90" name="Text 87"/>
          <p:cNvSpPr txBox="1"/>
          <p:nvPr/>
        </p:nvSpPr>
        <p:spPr>
          <a:xfrm>
            <a:off x="6766560"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فَسَاتِينُ</a:t>
            </a:r>
            <a:endParaRPr lang="ar-SA" sz="1500" dirty="0"/>
          </a:p>
        </p:txBody>
      </p:sp>
      <p:sp>
        <p:nvSpPr>
          <p:cNvPr id="91" name="Shape 88"/>
          <p:cNvSpPr/>
          <p:nvPr/>
        </p:nvSpPr>
        <p:spPr>
          <a:xfrm>
            <a:off x="5568696" y="5779008"/>
            <a:ext cx="1060704" cy="438912"/>
          </a:xfrm>
          <a:prstGeom prst="roundRect">
            <a:avLst>
              <a:gd name="adj" fmla="val 10417"/>
            </a:avLst>
          </a:prstGeom>
          <a:solidFill>
            <a:srgbClr val="F4F1EA"/>
          </a:solidFill>
          <a:ln w="9525">
            <a:solidFill>
              <a:srgbClr val="F4F1EA"/>
            </a:solidFill>
            <a:prstDash val="solid"/>
          </a:ln>
        </p:spPr>
      </p:sp>
      <p:sp>
        <p:nvSpPr>
          <p:cNvPr id="92" name="Text 89"/>
          <p:cNvSpPr txBox="1"/>
          <p:nvPr/>
        </p:nvSpPr>
        <p:spPr>
          <a:xfrm>
            <a:off x="5623560" y="5788152"/>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this</a:t>
            </a:r>
            <a:endParaRPr lang="en-US" sz="700" dirty="0"/>
          </a:p>
        </p:txBody>
      </p:sp>
      <p:sp>
        <p:nvSpPr>
          <p:cNvPr id="93" name="Text 90"/>
          <p:cNvSpPr txBox="1"/>
          <p:nvPr/>
        </p:nvSpPr>
        <p:spPr>
          <a:xfrm>
            <a:off x="5614416" y="5916168"/>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هٰذَا الفُسْتَانُ</a:t>
            </a:r>
            <a:endParaRPr lang="ar-SA" sz="1350" dirty="0"/>
          </a:p>
        </p:txBody>
      </p:sp>
      <p:sp>
        <p:nvSpPr>
          <p:cNvPr id="94" name="Shape 91"/>
          <p:cNvSpPr/>
          <p:nvPr/>
        </p:nvSpPr>
        <p:spPr>
          <a:xfrm>
            <a:off x="4416552" y="5779008"/>
            <a:ext cx="1060704" cy="438912"/>
          </a:xfrm>
          <a:prstGeom prst="roundRect">
            <a:avLst>
              <a:gd name="adj" fmla="val 10417"/>
            </a:avLst>
          </a:prstGeom>
          <a:solidFill>
            <a:srgbClr val="F4F1EA"/>
          </a:solidFill>
          <a:ln w="9525">
            <a:solidFill>
              <a:srgbClr val="F4F1EA"/>
            </a:solidFill>
            <a:prstDash val="solid"/>
          </a:ln>
        </p:spPr>
      </p:sp>
      <p:sp>
        <p:nvSpPr>
          <p:cNvPr id="95" name="Text 92"/>
          <p:cNvSpPr txBox="1"/>
          <p:nvPr/>
        </p:nvSpPr>
        <p:spPr>
          <a:xfrm>
            <a:off x="447141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96" name="Text 93"/>
          <p:cNvSpPr txBox="1"/>
          <p:nvPr/>
        </p:nvSpPr>
        <p:spPr>
          <a:xfrm>
            <a:off x="446227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مُذَكَّرٌ</a:t>
            </a:r>
            <a:endParaRPr lang="ar-SA" sz="1500" dirty="0"/>
          </a:p>
        </p:txBody>
      </p:sp>
      <p:sp>
        <p:nvSpPr>
          <p:cNvPr id="97" name="Text 9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47</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TB-L03 · Appearance and Personality</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Clothes in a portrait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B · Personal and Social Life · TB-L03</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18</a:t>
            </a:r>
            <a:endParaRPr lang="en-US" sz="1000" dirty="0"/>
          </a:p>
        </p:txBody>
      </p:sp>
      <p:sp>
        <p:nvSpPr>
          <p:cNvPr id="20" name="Shape 17"/>
          <p:cNvSpPr/>
          <p:nvPr/>
        </p:nvSpPr>
        <p:spPr>
          <a:xfrm>
            <a:off x="8604504" y="1938528"/>
            <a:ext cx="709574"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pl</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مِعْطَفٌ</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coat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miʿ-ṭa-fun</a:t>
            </a:r>
            <a:endParaRPr lang="en-US" sz="1350" dirty="0"/>
          </a:p>
        </p:txBody>
      </p:sp>
      <p:sp>
        <p:nvSpPr>
          <p:cNvPr id="24" name="Shape 21"/>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26" name="Text 23"/>
          <p:cNvSpPr txBox="1"/>
          <p:nvPr/>
        </p:nvSpPr>
        <p:spPr>
          <a:xfrm>
            <a:off x="1058875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مَعَاطِفُ</a:t>
            </a:r>
            <a:endParaRPr lang="ar-SA" sz="1500" dirty="0"/>
          </a:p>
        </p:txBody>
      </p:sp>
      <p:sp>
        <p:nvSpPr>
          <p:cNvPr id="27" name="Shape 24"/>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this</a:t>
            </a:r>
            <a:endParaRPr lang="en-US" sz="700" dirty="0"/>
          </a:p>
        </p:txBody>
      </p:sp>
      <p:sp>
        <p:nvSpPr>
          <p:cNvPr id="29" name="Text 26"/>
          <p:cNvSpPr txBox="1"/>
          <p:nvPr/>
        </p:nvSpPr>
        <p:spPr>
          <a:xfrm>
            <a:off x="9436608"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هٰذَا المِعْطَفُ</a:t>
            </a:r>
            <a:endParaRPr lang="ar-SA" sz="1350" dirty="0"/>
          </a:p>
        </p:txBody>
      </p:sp>
      <p:sp>
        <p:nvSpPr>
          <p:cNvPr id="30" name="Shape 27"/>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31" name="Text 28"/>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32" name="Text 29"/>
          <p:cNvSpPr txBox="1"/>
          <p:nvPr/>
        </p:nvSpPr>
        <p:spPr>
          <a:xfrm>
            <a:off x="828446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مُذَكَّرٌ</a:t>
            </a:r>
            <a:endParaRPr lang="ar-SA" sz="1500" dirty="0"/>
          </a:p>
        </p:txBody>
      </p:sp>
      <p:sp>
        <p:nvSpPr>
          <p:cNvPr id="33" name="Shape 3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4389120"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19</a:t>
            </a:r>
            <a:endParaRPr lang="en-US" sz="1000" dirty="0"/>
          </a:p>
        </p:txBody>
      </p:sp>
      <p:sp>
        <p:nvSpPr>
          <p:cNvPr id="36" name="Shape 33"/>
          <p:cNvSpPr/>
          <p:nvPr/>
        </p:nvSpPr>
        <p:spPr>
          <a:xfrm>
            <a:off x="4782312" y="1938528"/>
            <a:ext cx="709574" cy="256032"/>
          </a:xfrm>
          <a:prstGeom prst="roundRect">
            <a:avLst>
              <a:gd name="adj" fmla="val 50000"/>
            </a:avLst>
          </a:prstGeom>
          <a:solidFill>
            <a:srgbClr val="EFE7D2"/>
          </a:solidFill>
          <a:ln w="12700">
            <a:solidFill>
              <a:srgbClr val="EFE7D2"/>
            </a:solidFill>
            <a:prstDash val="solid"/>
          </a:ln>
        </p:spPr>
      </p:sp>
      <p:sp>
        <p:nvSpPr>
          <p:cNvPr id="37" name="Text 34"/>
          <p:cNvSpPr txBox="1"/>
          <p:nvPr/>
        </p:nvSpPr>
        <p:spPr>
          <a:xfrm>
            <a:off x="4782312"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f. · pl</a:t>
            </a:r>
            <a:endParaRPr lang="en-US" sz="800" dirty="0"/>
          </a:p>
        </p:txBody>
      </p:sp>
      <p:sp>
        <p:nvSpPr>
          <p:cNvPr id="38" name="Text 35"/>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سُتْرَةٌ</a:t>
            </a:r>
            <a:endParaRPr lang="ar-SA" sz="3000" dirty="0"/>
          </a:p>
        </p:txBody>
      </p:sp>
      <p:sp>
        <p:nvSpPr>
          <p:cNvPr id="39" name="Text 36"/>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jacket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sut-ra-tun</a:t>
            </a:r>
            <a:endParaRPr lang="en-US" sz="1350" dirty="0"/>
          </a:p>
        </p:txBody>
      </p:sp>
      <p:sp>
        <p:nvSpPr>
          <p:cNvPr id="40" name="Shape 37"/>
          <p:cNvSpPr/>
          <p:nvPr/>
        </p:nvSpPr>
        <p:spPr>
          <a:xfrm>
            <a:off x="6720840" y="3438144"/>
            <a:ext cx="1060704" cy="438912"/>
          </a:xfrm>
          <a:prstGeom prst="roundRect">
            <a:avLst>
              <a:gd name="adj" fmla="val 10417"/>
            </a:avLst>
          </a:prstGeom>
          <a:solidFill>
            <a:srgbClr val="F4F1EA"/>
          </a:solidFill>
          <a:ln w="9525">
            <a:solidFill>
              <a:srgbClr val="F4F1EA"/>
            </a:solidFill>
            <a:prstDash val="solid"/>
          </a:ln>
        </p:spPr>
      </p:sp>
      <p:sp>
        <p:nvSpPr>
          <p:cNvPr id="41" name="Text 38"/>
          <p:cNvSpPr txBox="1"/>
          <p:nvPr/>
        </p:nvSpPr>
        <p:spPr>
          <a:xfrm>
            <a:off x="677570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42" name="Text 39"/>
          <p:cNvSpPr txBox="1"/>
          <p:nvPr/>
        </p:nvSpPr>
        <p:spPr>
          <a:xfrm>
            <a:off x="676656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سُتَرٌ</a:t>
            </a:r>
            <a:endParaRPr lang="ar-SA" sz="1500" dirty="0"/>
          </a:p>
        </p:txBody>
      </p:sp>
      <p:sp>
        <p:nvSpPr>
          <p:cNvPr id="43" name="Shape 40"/>
          <p:cNvSpPr/>
          <p:nvPr/>
        </p:nvSpPr>
        <p:spPr>
          <a:xfrm>
            <a:off x="5568696" y="3438144"/>
            <a:ext cx="1060704" cy="438912"/>
          </a:xfrm>
          <a:prstGeom prst="roundRect">
            <a:avLst>
              <a:gd name="adj" fmla="val 10417"/>
            </a:avLst>
          </a:prstGeom>
          <a:solidFill>
            <a:srgbClr val="F4F1EA"/>
          </a:solidFill>
          <a:ln w="9525">
            <a:solidFill>
              <a:srgbClr val="F4F1EA"/>
            </a:solidFill>
            <a:prstDash val="solid"/>
          </a:ln>
        </p:spPr>
      </p:sp>
      <p:sp>
        <p:nvSpPr>
          <p:cNvPr id="44" name="Text 41"/>
          <p:cNvSpPr txBox="1"/>
          <p:nvPr/>
        </p:nvSpPr>
        <p:spPr>
          <a:xfrm>
            <a:off x="5623560"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this</a:t>
            </a:r>
            <a:endParaRPr lang="en-US" sz="700" dirty="0"/>
          </a:p>
        </p:txBody>
      </p:sp>
      <p:sp>
        <p:nvSpPr>
          <p:cNvPr id="45" name="Text 42"/>
          <p:cNvSpPr txBox="1"/>
          <p:nvPr/>
        </p:nvSpPr>
        <p:spPr>
          <a:xfrm>
            <a:off x="5614416"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هٰذِهِ السُّتْرَةُ</a:t>
            </a:r>
            <a:endParaRPr lang="ar-SA" sz="1350" dirty="0"/>
          </a:p>
        </p:txBody>
      </p:sp>
      <p:sp>
        <p:nvSpPr>
          <p:cNvPr id="46" name="Shape 43"/>
          <p:cNvSpPr/>
          <p:nvPr/>
        </p:nvSpPr>
        <p:spPr>
          <a:xfrm>
            <a:off x="4416552" y="3438144"/>
            <a:ext cx="1060704" cy="438912"/>
          </a:xfrm>
          <a:prstGeom prst="roundRect">
            <a:avLst>
              <a:gd name="adj" fmla="val 10417"/>
            </a:avLst>
          </a:prstGeom>
          <a:solidFill>
            <a:srgbClr val="F4F1EA"/>
          </a:solidFill>
          <a:ln w="9525">
            <a:solidFill>
              <a:srgbClr val="F4F1EA"/>
            </a:solidFill>
            <a:prstDash val="solid"/>
          </a:ln>
        </p:spPr>
      </p:sp>
      <p:sp>
        <p:nvSpPr>
          <p:cNvPr id="47" name="Text 44"/>
          <p:cNvSpPr txBox="1"/>
          <p:nvPr/>
        </p:nvSpPr>
        <p:spPr>
          <a:xfrm>
            <a:off x="447141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48" name="Text 45"/>
          <p:cNvSpPr txBox="1"/>
          <p:nvPr/>
        </p:nvSpPr>
        <p:spPr>
          <a:xfrm>
            <a:off x="446227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مُؤَنَّثٌ</a:t>
            </a:r>
            <a:endParaRPr lang="ar-SA" sz="1500" dirty="0"/>
          </a:p>
        </p:txBody>
      </p:sp>
      <p:sp>
        <p:nvSpPr>
          <p:cNvPr id="49" name="Shape 4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0" name="Shape 47"/>
          <p:cNvSpPr/>
          <p:nvPr/>
        </p:nvSpPr>
        <p:spPr>
          <a:xfrm>
            <a:off x="566928" y="1920240"/>
            <a:ext cx="310896" cy="310896"/>
          </a:xfrm>
          <a:prstGeom prst="ellipse">
            <a:avLst/>
          </a:prstGeom>
          <a:solidFill>
            <a:srgbClr val="F4F1EA"/>
          </a:solidFill>
          <a:ln w="12700">
            <a:solidFill>
              <a:srgbClr val="F4F1EA"/>
            </a:solidFill>
            <a:prstDash val="solid"/>
          </a:ln>
        </p:spPr>
      </p:sp>
      <p:sp>
        <p:nvSpPr>
          <p:cNvPr id="51" name="Text 4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20</a:t>
            </a:r>
            <a:endParaRPr lang="en-US" sz="1000" dirty="0"/>
          </a:p>
        </p:txBody>
      </p:sp>
      <p:sp>
        <p:nvSpPr>
          <p:cNvPr id="52" name="Shape 49"/>
          <p:cNvSpPr/>
          <p:nvPr/>
        </p:nvSpPr>
        <p:spPr>
          <a:xfrm>
            <a:off x="960120" y="1938528"/>
            <a:ext cx="709574" cy="256032"/>
          </a:xfrm>
          <a:prstGeom prst="roundRect">
            <a:avLst>
              <a:gd name="adj" fmla="val 50000"/>
            </a:avLst>
          </a:prstGeom>
          <a:solidFill>
            <a:srgbClr val="EFE7D2"/>
          </a:solidFill>
          <a:ln w="12700">
            <a:solidFill>
              <a:srgbClr val="EFE7D2"/>
            </a:solidFill>
            <a:prstDash val="solid"/>
          </a:ln>
        </p:spPr>
      </p:sp>
      <p:sp>
        <p:nvSpPr>
          <p:cNvPr id="53" name="Text 50"/>
          <p:cNvSpPr txBox="1"/>
          <p:nvPr/>
        </p:nvSpPr>
        <p:spPr>
          <a:xfrm>
            <a:off x="960120"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pl</a:t>
            </a:r>
            <a:endParaRPr lang="en-US" sz="800" dirty="0"/>
          </a:p>
        </p:txBody>
      </p:sp>
      <p:sp>
        <p:nvSpPr>
          <p:cNvPr id="54" name="Text 51"/>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حِذَاءٌ</a:t>
            </a:r>
            <a:endParaRPr lang="ar-SA" sz="3000" dirty="0"/>
          </a:p>
        </p:txBody>
      </p:sp>
      <p:sp>
        <p:nvSpPr>
          <p:cNvPr id="55" name="Text 52"/>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shoes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ḥi-dhā-ʾun</a:t>
            </a:r>
            <a:endParaRPr lang="en-US" sz="1350" dirty="0"/>
          </a:p>
        </p:txBody>
      </p:sp>
      <p:sp>
        <p:nvSpPr>
          <p:cNvPr id="56" name="Shape 53"/>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57" name="Text 54"/>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58" name="Text 55"/>
          <p:cNvSpPr txBox="1"/>
          <p:nvPr/>
        </p:nvSpPr>
        <p:spPr>
          <a:xfrm>
            <a:off x="294436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أَحْذِيَةٌ</a:t>
            </a:r>
            <a:endParaRPr lang="ar-SA" sz="1500" dirty="0"/>
          </a:p>
        </p:txBody>
      </p:sp>
      <p:sp>
        <p:nvSpPr>
          <p:cNvPr id="59" name="Shape 56"/>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60" name="Text 57"/>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this</a:t>
            </a:r>
            <a:endParaRPr lang="en-US" sz="700" dirty="0"/>
          </a:p>
        </p:txBody>
      </p:sp>
      <p:sp>
        <p:nvSpPr>
          <p:cNvPr id="61" name="Text 58"/>
          <p:cNvSpPr txBox="1"/>
          <p:nvPr/>
        </p:nvSpPr>
        <p:spPr>
          <a:xfrm>
            <a:off x="1792224"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هٰذَا الحِذَاءُ</a:t>
            </a:r>
            <a:endParaRPr lang="ar-SA" sz="1350" dirty="0"/>
          </a:p>
        </p:txBody>
      </p:sp>
      <p:sp>
        <p:nvSpPr>
          <p:cNvPr id="62" name="Shape 59"/>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63" name="Text 60"/>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64" name="Text 61"/>
          <p:cNvSpPr txBox="1"/>
          <p:nvPr/>
        </p:nvSpPr>
        <p:spPr>
          <a:xfrm>
            <a:off x="64008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مُذَكَّرٌ</a:t>
            </a:r>
            <a:endParaRPr lang="ar-SA" sz="1500" dirty="0"/>
          </a:p>
        </p:txBody>
      </p:sp>
      <p:sp>
        <p:nvSpPr>
          <p:cNvPr id="65" name="Shape 62"/>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6" name="Shape 63"/>
          <p:cNvSpPr/>
          <p:nvPr/>
        </p:nvSpPr>
        <p:spPr>
          <a:xfrm>
            <a:off x="8211312" y="4261104"/>
            <a:ext cx="310896" cy="310896"/>
          </a:xfrm>
          <a:prstGeom prst="ellipse">
            <a:avLst/>
          </a:prstGeom>
          <a:solidFill>
            <a:srgbClr val="F4F1EA"/>
          </a:solidFill>
          <a:ln w="12700">
            <a:solidFill>
              <a:srgbClr val="F4F1EA"/>
            </a:solidFill>
            <a:prstDash val="solid"/>
          </a:ln>
        </p:spPr>
      </p:sp>
      <p:sp>
        <p:nvSpPr>
          <p:cNvPr id="67" name="Text 64"/>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21</a:t>
            </a:r>
            <a:endParaRPr lang="en-US" sz="1000" dirty="0"/>
          </a:p>
        </p:txBody>
      </p:sp>
      <p:sp>
        <p:nvSpPr>
          <p:cNvPr id="68" name="Shape 65"/>
          <p:cNvSpPr/>
          <p:nvPr/>
        </p:nvSpPr>
        <p:spPr>
          <a:xfrm>
            <a:off x="8604504" y="4279392"/>
            <a:ext cx="709574" cy="256032"/>
          </a:xfrm>
          <a:prstGeom prst="roundRect">
            <a:avLst>
              <a:gd name="adj" fmla="val 50000"/>
            </a:avLst>
          </a:prstGeom>
          <a:solidFill>
            <a:srgbClr val="EFE7D2"/>
          </a:solidFill>
          <a:ln w="12700">
            <a:solidFill>
              <a:srgbClr val="EFE7D2"/>
            </a:solidFill>
            <a:prstDash val="solid"/>
          </a:ln>
        </p:spPr>
      </p:sp>
      <p:sp>
        <p:nvSpPr>
          <p:cNvPr id="69" name="Text 66"/>
          <p:cNvSpPr txBox="1"/>
          <p:nvPr/>
        </p:nvSpPr>
        <p:spPr>
          <a:xfrm>
            <a:off x="8604504"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pl</a:t>
            </a:r>
            <a:endParaRPr lang="en-US" sz="800" dirty="0"/>
          </a:p>
        </p:txBody>
      </p:sp>
      <p:sp>
        <p:nvSpPr>
          <p:cNvPr id="70" name="Text 67"/>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حِجَابٌ</a:t>
            </a:r>
            <a:endParaRPr lang="ar-SA" sz="3000" dirty="0"/>
          </a:p>
        </p:txBody>
      </p:sp>
      <p:sp>
        <p:nvSpPr>
          <p:cNvPr id="71" name="Text 68"/>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headscarf</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ḥi-jā-bun</a:t>
            </a:r>
            <a:endParaRPr lang="en-US" sz="1350" dirty="0"/>
          </a:p>
        </p:txBody>
      </p:sp>
      <p:sp>
        <p:nvSpPr>
          <p:cNvPr id="72" name="Shape 69"/>
          <p:cNvSpPr/>
          <p:nvPr/>
        </p:nvSpPr>
        <p:spPr>
          <a:xfrm>
            <a:off x="10543032" y="5779008"/>
            <a:ext cx="1060704" cy="438912"/>
          </a:xfrm>
          <a:prstGeom prst="roundRect">
            <a:avLst>
              <a:gd name="adj" fmla="val 10417"/>
            </a:avLst>
          </a:prstGeom>
          <a:solidFill>
            <a:srgbClr val="F4F1EA"/>
          </a:solidFill>
          <a:ln w="9525">
            <a:solidFill>
              <a:srgbClr val="F4F1EA"/>
            </a:solidFill>
            <a:prstDash val="solid"/>
          </a:ln>
        </p:spPr>
      </p:sp>
      <p:sp>
        <p:nvSpPr>
          <p:cNvPr id="73" name="Text 70"/>
          <p:cNvSpPr txBox="1"/>
          <p:nvPr/>
        </p:nvSpPr>
        <p:spPr>
          <a:xfrm>
            <a:off x="1059789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74" name="Text 71"/>
          <p:cNvSpPr txBox="1"/>
          <p:nvPr/>
        </p:nvSpPr>
        <p:spPr>
          <a:xfrm>
            <a:off x="1058875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أَحْجِبَةٌ</a:t>
            </a:r>
            <a:endParaRPr lang="ar-SA" sz="1500" dirty="0"/>
          </a:p>
        </p:txBody>
      </p:sp>
      <p:sp>
        <p:nvSpPr>
          <p:cNvPr id="75" name="Shape 72"/>
          <p:cNvSpPr/>
          <p:nvPr/>
        </p:nvSpPr>
        <p:spPr>
          <a:xfrm>
            <a:off x="9390888" y="5779008"/>
            <a:ext cx="1060704" cy="438912"/>
          </a:xfrm>
          <a:prstGeom prst="roundRect">
            <a:avLst>
              <a:gd name="adj" fmla="val 10417"/>
            </a:avLst>
          </a:prstGeom>
          <a:solidFill>
            <a:srgbClr val="F4F1EA"/>
          </a:solidFill>
          <a:ln w="9525">
            <a:solidFill>
              <a:srgbClr val="F4F1EA"/>
            </a:solidFill>
            <a:prstDash val="solid"/>
          </a:ln>
        </p:spPr>
      </p:sp>
      <p:sp>
        <p:nvSpPr>
          <p:cNvPr id="76" name="Text 73"/>
          <p:cNvSpPr txBox="1"/>
          <p:nvPr/>
        </p:nvSpPr>
        <p:spPr>
          <a:xfrm>
            <a:off x="9445752" y="5788152"/>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this</a:t>
            </a:r>
            <a:endParaRPr lang="en-US" sz="700" dirty="0"/>
          </a:p>
        </p:txBody>
      </p:sp>
      <p:sp>
        <p:nvSpPr>
          <p:cNvPr id="77" name="Text 74"/>
          <p:cNvSpPr txBox="1"/>
          <p:nvPr/>
        </p:nvSpPr>
        <p:spPr>
          <a:xfrm>
            <a:off x="9436608" y="5916168"/>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هٰذَا الحِجَابُ</a:t>
            </a:r>
            <a:endParaRPr lang="ar-SA" sz="1350" dirty="0"/>
          </a:p>
        </p:txBody>
      </p:sp>
      <p:sp>
        <p:nvSpPr>
          <p:cNvPr id="78" name="Shape 75"/>
          <p:cNvSpPr/>
          <p:nvPr/>
        </p:nvSpPr>
        <p:spPr>
          <a:xfrm>
            <a:off x="8238744" y="5779008"/>
            <a:ext cx="1060704" cy="438912"/>
          </a:xfrm>
          <a:prstGeom prst="roundRect">
            <a:avLst>
              <a:gd name="adj" fmla="val 10417"/>
            </a:avLst>
          </a:prstGeom>
          <a:solidFill>
            <a:srgbClr val="F4F1EA"/>
          </a:solidFill>
          <a:ln w="9525">
            <a:solidFill>
              <a:srgbClr val="F4F1EA"/>
            </a:solidFill>
            <a:prstDash val="solid"/>
          </a:ln>
        </p:spPr>
      </p:sp>
      <p:sp>
        <p:nvSpPr>
          <p:cNvPr id="79" name="Text 76"/>
          <p:cNvSpPr txBox="1"/>
          <p:nvPr/>
        </p:nvSpPr>
        <p:spPr>
          <a:xfrm>
            <a:off x="829360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80" name="Text 77"/>
          <p:cNvSpPr txBox="1"/>
          <p:nvPr/>
        </p:nvSpPr>
        <p:spPr>
          <a:xfrm>
            <a:off x="828446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مُذَكَّرٌ</a:t>
            </a:r>
            <a:endParaRPr lang="ar-SA" sz="1500" dirty="0"/>
          </a:p>
        </p:txBody>
      </p:sp>
      <p:sp>
        <p:nvSpPr>
          <p:cNvPr id="81" name="Shape 78"/>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2" name="Shape 79"/>
          <p:cNvSpPr/>
          <p:nvPr/>
        </p:nvSpPr>
        <p:spPr>
          <a:xfrm>
            <a:off x="4389120" y="4261104"/>
            <a:ext cx="310896" cy="310896"/>
          </a:xfrm>
          <a:prstGeom prst="ellipse">
            <a:avLst/>
          </a:prstGeom>
          <a:solidFill>
            <a:srgbClr val="F4F1EA"/>
          </a:solidFill>
          <a:ln w="12700">
            <a:solidFill>
              <a:srgbClr val="F4F1EA"/>
            </a:solidFill>
            <a:prstDash val="solid"/>
          </a:ln>
        </p:spPr>
      </p:sp>
      <p:sp>
        <p:nvSpPr>
          <p:cNvPr id="83" name="Text 80"/>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22</a:t>
            </a:r>
            <a:endParaRPr lang="en-US" sz="1000" dirty="0"/>
          </a:p>
        </p:txBody>
      </p:sp>
      <p:sp>
        <p:nvSpPr>
          <p:cNvPr id="84" name="Shape 81"/>
          <p:cNvSpPr/>
          <p:nvPr/>
        </p:nvSpPr>
        <p:spPr>
          <a:xfrm>
            <a:off x="4782312" y="4279392"/>
            <a:ext cx="709574" cy="256032"/>
          </a:xfrm>
          <a:prstGeom prst="roundRect">
            <a:avLst>
              <a:gd name="adj" fmla="val 50000"/>
            </a:avLst>
          </a:prstGeom>
          <a:solidFill>
            <a:srgbClr val="EFE7D2"/>
          </a:solidFill>
          <a:ln w="12700">
            <a:solidFill>
              <a:srgbClr val="EFE7D2"/>
            </a:solidFill>
            <a:prstDash val="solid"/>
          </a:ln>
        </p:spPr>
      </p:sp>
      <p:sp>
        <p:nvSpPr>
          <p:cNvPr id="85" name="Text 82"/>
          <p:cNvSpPr txBox="1"/>
          <p:nvPr/>
        </p:nvSpPr>
        <p:spPr>
          <a:xfrm>
            <a:off x="4782312"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f. · pl</a:t>
            </a:r>
            <a:endParaRPr lang="en-US" sz="800" dirty="0"/>
          </a:p>
        </p:txBody>
      </p:sp>
      <p:sp>
        <p:nvSpPr>
          <p:cNvPr id="86" name="Text 83"/>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قُبَّعَةٌ</a:t>
            </a:r>
            <a:endParaRPr lang="ar-SA" sz="3000" dirty="0"/>
          </a:p>
        </p:txBody>
      </p:sp>
      <p:sp>
        <p:nvSpPr>
          <p:cNvPr id="87" name="Text 84"/>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hat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qub-ba-ʿa-tun</a:t>
            </a:r>
            <a:endParaRPr lang="en-US" sz="1350" dirty="0"/>
          </a:p>
        </p:txBody>
      </p:sp>
      <p:sp>
        <p:nvSpPr>
          <p:cNvPr id="88" name="Shape 85"/>
          <p:cNvSpPr/>
          <p:nvPr/>
        </p:nvSpPr>
        <p:spPr>
          <a:xfrm>
            <a:off x="6720840" y="5779008"/>
            <a:ext cx="1060704" cy="438912"/>
          </a:xfrm>
          <a:prstGeom prst="roundRect">
            <a:avLst>
              <a:gd name="adj" fmla="val 10417"/>
            </a:avLst>
          </a:prstGeom>
          <a:solidFill>
            <a:srgbClr val="F4F1EA"/>
          </a:solidFill>
          <a:ln w="9525">
            <a:solidFill>
              <a:srgbClr val="F4F1EA"/>
            </a:solidFill>
            <a:prstDash val="solid"/>
          </a:ln>
        </p:spPr>
      </p:sp>
      <p:sp>
        <p:nvSpPr>
          <p:cNvPr id="89" name="Text 86"/>
          <p:cNvSpPr txBox="1"/>
          <p:nvPr/>
        </p:nvSpPr>
        <p:spPr>
          <a:xfrm>
            <a:off x="6775704"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90" name="Text 87"/>
          <p:cNvSpPr txBox="1"/>
          <p:nvPr/>
        </p:nvSpPr>
        <p:spPr>
          <a:xfrm>
            <a:off x="6766560"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قُبَّعَاتٌ</a:t>
            </a:r>
            <a:endParaRPr lang="ar-SA" sz="1500" dirty="0"/>
          </a:p>
        </p:txBody>
      </p:sp>
      <p:sp>
        <p:nvSpPr>
          <p:cNvPr id="91" name="Shape 88"/>
          <p:cNvSpPr/>
          <p:nvPr/>
        </p:nvSpPr>
        <p:spPr>
          <a:xfrm>
            <a:off x="5568696" y="5779008"/>
            <a:ext cx="1060704" cy="438912"/>
          </a:xfrm>
          <a:prstGeom prst="roundRect">
            <a:avLst>
              <a:gd name="adj" fmla="val 10417"/>
            </a:avLst>
          </a:prstGeom>
          <a:solidFill>
            <a:srgbClr val="F4F1EA"/>
          </a:solidFill>
          <a:ln w="9525">
            <a:solidFill>
              <a:srgbClr val="F4F1EA"/>
            </a:solidFill>
            <a:prstDash val="solid"/>
          </a:ln>
        </p:spPr>
      </p:sp>
      <p:sp>
        <p:nvSpPr>
          <p:cNvPr id="92" name="Text 89"/>
          <p:cNvSpPr txBox="1"/>
          <p:nvPr/>
        </p:nvSpPr>
        <p:spPr>
          <a:xfrm>
            <a:off x="5623560" y="5788152"/>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this</a:t>
            </a:r>
            <a:endParaRPr lang="en-US" sz="700" dirty="0"/>
          </a:p>
        </p:txBody>
      </p:sp>
      <p:sp>
        <p:nvSpPr>
          <p:cNvPr id="93" name="Text 90"/>
          <p:cNvSpPr txBox="1"/>
          <p:nvPr/>
        </p:nvSpPr>
        <p:spPr>
          <a:xfrm>
            <a:off x="5614416" y="5916168"/>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هٰذِهِ القُبَّعَةُ</a:t>
            </a:r>
            <a:endParaRPr lang="ar-SA" sz="1350" dirty="0"/>
          </a:p>
        </p:txBody>
      </p:sp>
      <p:sp>
        <p:nvSpPr>
          <p:cNvPr id="94" name="Shape 91"/>
          <p:cNvSpPr/>
          <p:nvPr/>
        </p:nvSpPr>
        <p:spPr>
          <a:xfrm>
            <a:off x="4416552" y="5779008"/>
            <a:ext cx="1060704" cy="438912"/>
          </a:xfrm>
          <a:prstGeom prst="roundRect">
            <a:avLst>
              <a:gd name="adj" fmla="val 10417"/>
            </a:avLst>
          </a:prstGeom>
          <a:solidFill>
            <a:srgbClr val="F4F1EA"/>
          </a:solidFill>
          <a:ln w="9525">
            <a:solidFill>
              <a:srgbClr val="F4F1EA"/>
            </a:solidFill>
            <a:prstDash val="solid"/>
          </a:ln>
        </p:spPr>
      </p:sp>
      <p:sp>
        <p:nvSpPr>
          <p:cNvPr id="95" name="Text 92"/>
          <p:cNvSpPr txBox="1"/>
          <p:nvPr/>
        </p:nvSpPr>
        <p:spPr>
          <a:xfrm>
            <a:off x="447141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96" name="Text 93"/>
          <p:cNvSpPr txBox="1"/>
          <p:nvPr/>
        </p:nvSpPr>
        <p:spPr>
          <a:xfrm>
            <a:off x="446227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مُؤَنَّثٌ</a:t>
            </a:r>
            <a:endParaRPr lang="ar-SA" sz="1500" dirty="0"/>
          </a:p>
        </p:txBody>
      </p:sp>
      <p:sp>
        <p:nvSpPr>
          <p:cNvPr id="97" name="Text 9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47</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TB-L03 · Appearance and Personality</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Style and personality detail (1 of 2)</a:t>
            </a:r>
            <a:endParaRPr lang="en-US" sz="26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B · Personal and Social Life · TB-L03</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23</a:t>
            </a:r>
            <a:endParaRPr lang="en-US" sz="1000" dirty="0"/>
          </a:p>
        </p:txBody>
      </p:sp>
      <p:sp>
        <p:nvSpPr>
          <p:cNvPr id="20" name="Shape 17"/>
          <p:cNvSpPr/>
          <p:nvPr/>
        </p:nvSpPr>
        <p:spPr>
          <a:xfrm>
            <a:off x="8604504" y="1938528"/>
            <a:ext cx="896112"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أَنِيقٌ / أَنِيقَةٌ</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elegant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a-nī-qun / a-nī-qa-tun</a:t>
            </a:r>
            <a:endParaRPr lang="en-US" sz="1350" dirty="0"/>
          </a:p>
        </p:txBody>
      </p:sp>
      <p:sp>
        <p:nvSpPr>
          <p:cNvPr id="24" name="Shape 21"/>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26" name="Text 23"/>
          <p:cNvSpPr txBox="1"/>
          <p:nvPr/>
        </p:nvSpPr>
        <p:spPr>
          <a:xfrm>
            <a:off x="1058875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أَنِيقُونَ</a:t>
            </a:r>
            <a:endParaRPr lang="ar-SA" sz="1500" dirty="0"/>
          </a:p>
        </p:txBody>
      </p:sp>
      <p:sp>
        <p:nvSpPr>
          <p:cNvPr id="27" name="Shape 24"/>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29" name="Text 26"/>
          <p:cNvSpPr txBox="1"/>
          <p:nvPr/>
        </p:nvSpPr>
        <p:spPr>
          <a:xfrm>
            <a:off x="943660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أَنِيقَةٌ</a:t>
            </a:r>
            <a:endParaRPr lang="ar-SA" sz="1500" dirty="0"/>
          </a:p>
        </p:txBody>
      </p:sp>
      <p:sp>
        <p:nvSpPr>
          <p:cNvPr id="30" name="Shape 27"/>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31" name="Text 28"/>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32" name="Text 29"/>
          <p:cNvSpPr txBox="1"/>
          <p:nvPr/>
        </p:nvSpPr>
        <p:spPr>
          <a:xfrm>
            <a:off x="828446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أَنِيقٌ</a:t>
            </a:r>
            <a:endParaRPr lang="ar-SA" sz="1500" dirty="0"/>
          </a:p>
        </p:txBody>
      </p:sp>
      <p:sp>
        <p:nvSpPr>
          <p:cNvPr id="33" name="Shape 3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4389120"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24</a:t>
            </a:r>
            <a:endParaRPr lang="en-US" sz="1000" dirty="0"/>
          </a:p>
        </p:txBody>
      </p:sp>
      <p:sp>
        <p:nvSpPr>
          <p:cNvPr id="36" name="Shape 33"/>
          <p:cNvSpPr/>
          <p:nvPr/>
        </p:nvSpPr>
        <p:spPr>
          <a:xfrm>
            <a:off x="4782312" y="1938528"/>
            <a:ext cx="896112" cy="256032"/>
          </a:xfrm>
          <a:prstGeom prst="roundRect">
            <a:avLst>
              <a:gd name="adj" fmla="val 50000"/>
            </a:avLst>
          </a:prstGeom>
          <a:solidFill>
            <a:srgbClr val="EFE7D2"/>
          </a:solidFill>
          <a:ln w="12700">
            <a:solidFill>
              <a:srgbClr val="EFE7D2"/>
            </a:solidFill>
            <a:prstDash val="solid"/>
          </a:ln>
        </p:spPr>
      </p:sp>
      <p:sp>
        <p:nvSpPr>
          <p:cNvPr id="37" name="Text 34"/>
          <p:cNvSpPr txBox="1"/>
          <p:nvPr/>
        </p:nvSpPr>
        <p:spPr>
          <a:xfrm>
            <a:off x="4782312"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38" name="Text 35"/>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عَصْرِيٌّ / عَصْرِيَّةٌ</a:t>
            </a:r>
            <a:endParaRPr lang="ar-SA" sz="3000" dirty="0"/>
          </a:p>
        </p:txBody>
      </p:sp>
      <p:sp>
        <p:nvSpPr>
          <p:cNvPr id="39" name="Text 36"/>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modern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ʿaṣ-riy-yun / ʿaṣ-riy-ya-tun</a:t>
            </a:r>
            <a:endParaRPr lang="en-US" sz="1350" dirty="0"/>
          </a:p>
        </p:txBody>
      </p:sp>
      <p:sp>
        <p:nvSpPr>
          <p:cNvPr id="40" name="Shape 37"/>
          <p:cNvSpPr/>
          <p:nvPr/>
        </p:nvSpPr>
        <p:spPr>
          <a:xfrm>
            <a:off x="6720840" y="3438144"/>
            <a:ext cx="1060704" cy="438912"/>
          </a:xfrm>
          <a:prstGeom prst="roundRect">
            <a:avLst>
              <a:gd name="adj" fmla="val 10417"/>
            </a:avLst>
          </a:prstGeom>
          <a:solidFill>
            <a:srgbClr val="F4F1EA"/>
          </a:solidFill>
          <a:ln w="9525">
            <a:solidFill>
              <a:srgbClr val="F4F1EA"/>
            </a:solidFill>
            <a:prstDash val="solid"/>
          </a:ln>
        </p:spPr>
      </p:sp>
      <p:sp>
        <p:nvSpPr>
          <p:cNvPr id="41" name="Text 38"/>
          <p:cNvSpPr txBox="1"/>
          <p:nvPr/>
        </p:nvSpPr>
        <p:spPr>
          <a:xfrm>
            <a:off x="677570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42" name="Text 39"/>
          <p:cNvSpPr txBox="1"/>
          <p:nvPr/>
        </p:nvSpPr>
        <p:spPr>
          <a:xfrm>
            <a:off x="676656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عَصْرِيُّونَ</a:t>
            </a:r>
            <a:endParaRPr lang="ar-SA" sz="1500" dirty="0"/>
          </a:p>
        </p:txBody>
      </p:sp>
      <p:sp>
        <p:nvSpPr>
          <p:cNvPr id="43" name="Shape 40"/>
          <p:cNvSpPr/>
          <p:nvPr/>
        </p:nvSpPr>
        <p:spPr>
          <a:xfrm>
            <a:off x="5568696" y="3438144"/>
            <a:ext cx="1060704" cy="438912"/>
          </a:xfrm>
          <a:prstGeom prst="roundRect">
            <a:avLst>
              <a:gd name="adj" fmla="val 10417"/>
            </a:avLst>
          </a:prstGeom>
          <a:solidFill>
            <a:srgbClr val="F4F1EA"/>
          </a:solidFill>
          <a:ln w="9525">
            <a:solidFill>
              <a:srgbClr val="F4F1EA"/>
            </a:solidFill>
            <a:prstDash val="solid"/>
          </a:ln>
        </p:spPr>
      </p:sp>
      <p:sp>
        <p:nvSpPr>
          <p:cNvPr id="44" name="Text 41"/>
          <p:cNvSpPr txBox="1"/>
          <p:nvPr/>
        </p:nvSpPr>
        <p:spPr>
          <a:xfrm>
            <a:off x="5623560"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45" name="Text 42"/>
          <p:cNvSpPr txBox="1"/>
          <p:nvPr/>
        </p:nvSpPr>
        <p:spPr>
          <a:xfrm>
            <a:off x="5614416"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عَصْرِيَّةٌ</a:t>
            </a:r>
            <a:endParaRPr lang="ar-SA" sz="1500" dirty="0"/>
          </a:p>
        </p:txBody>
      </p:sp>
      <p:sp>
        <p:nvSpPr>
          <p:cNvPr id="46" name="Shape 43"/>
          <p:cNvSpPr/>
          <p:nvPr/>
        </p:nvSpPr>
        <p:spPr>
          <a:xfrm>
            <a:off x="4416552" y="3438144"/>
            <a:ext cx="1060704" cy="438912"/>
          </a:xfrm>
          <a:prstGeom prst="roundRect">
            <a:avLst>
              <a:gd name="adj" fmla="val 10417"/>
            </a:avLst>
          </a:prstGeom>
          <a:solidFill>
            <a:srgbClr val="F4F1EA"/>
          </a:solidFill>
          <a:ln w="9525">
            <a:solidFill>
              <a:srgbClr val="F4F1EA"/>
            </a:solidFill>
            <a:prstDash val="solid"/>
          </a:ln>
        </p:spPr>
      </p:sp>
      <p:sp>
        <p:nvSpPr>
          <p:cNvPr id="47" name="Text 44"/>
          <p:cNvSpPr txBox="1"/>
          <p:nvPr/>
        </p:nvSpPr>
        <p:spPr>
          <a:xfrm>
            <a:off x="447141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48" name="Text 45"/>
          <p:cNvSpPr txBox="1"/>
          <p:nvPr/>
        </p:nvSpPr>
        <p:spPr>
          <a:xfrm>
            <a:off x="446227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عَصْرِيٌّ</a:t>
            </a:r>
            <a:endParaRPr lang="ar-SA" sz="1500" dirty="0"/>
          </a:p>
        </p:txBody>
      </p:sp>
      <p:sp>
        <p:nvSpPr>
          <p:cNvPr id="49" name="Shape 4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0" name="Shape 47"/>
          <p:cNvSpPr/>
          <p:nvPr/>
        </p:nvSpPr>
        <p:spPr>
          <a:xfrm>
            <a:off x="566928" y="1920240"/>
            <a:ext cx="310896" cy="310896"/>
          </a:xfrm>
          <a:prstGeom prst="ellipse">
            <a:avLst/>
          </a:prstGeom>
          <a:solidFill>
            <a:srgbClr val="F4F1EA"/>
          </a:solidFill>
          <a:ln w="12700">
            <a:solidFill>
              <a:srgbClr val="F4F1EA"/>
            </a:solidFill>
            <a:prstDash val="solid"/>
          </a:ln>
        </p:spPr>
      </p:sp>
      <p:sp>
        <p:nvSpPr>
          <p:cNvPr id="51" name="Text 4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25</a:t>
            </a:r>
            <a:endParaRPr lang="en-US" sz="1000" dirty="0"/>
          </a:p>
        </p:txBody>
      </p:sp>
      <p:sp>
        <p:nvSpPr>
          <p:cNvPr id="52" name="Shape 49"/>
          <p:cNvSpPr/>
          <p:nvPr/>
        </p:nvSpPr>
        <p:spPr>
          <a:xfrm>
            <a:off x="960120" y="1938528"/>
            <a:ext cx="896112" cy="256032"/>
          </a:xfrm>
          <a:prstGeom prst="roundRect">
            <a:avLst>
              <a:gd name="adj" fmla="val 50000"/>
            </a:avLst>
          </a:prstGeom>
          <a:solidFill>
            <a:srgbClr val="EFE7D2"/>
          </a:solidFill>
          <a:ln w="12700">
            <a:solidFill>
              <a:srgbClr val="EFE7D2"/>
            </a:solidFill>
            <a:prstDash val="solid"/>
          </a:ln>
        </p:spPr>
      </p:sp>
      <p:sp>
        <p:nvSpPr>
          <p:cNvPr id="53" name="Text 50"/>
          <p:cNvSpPr txBox="1"/>
          <p:nvPr/>
        </p:nvSpPr>
        <p:spPr>
          <a:xfrm>
            <a:off x="960120"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54" name="Text 51"/>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تَقْلِيدِيٌّ / تَقْلِيدِيَّةٌ</a:t>
            </a:r>
            <a:endParaRPr lang="ar-SA" sz="3000" dirty="0"/>
          </a:p>
        </p:txBody>
      </p:sp>
      <p:sp>
        <p:nvSpPr>
          <p:cNvPr id="55" name="Text 52"/>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traditional</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taq-lī-diy-yun / taq-lī-diy-ya-tun</a:t>
            </a:r>
            <a:endParaRPr lang="en-US" sz="1350" dirty="0"/>
          </a:p>
        </p:txBody>
      </p:sp>
      <p:sp>
        <p:nvSpPr>
          <p:cNvPr id="56" name="Shape 53"/>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57" name="Text 54"/>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58" name="Text 55"/>
          <p:cNvSpPr txBox="1"/>
          <p:nvPr/>
        </p:nvSpPr>
        <p:spPr>
          <a:xfrm>
            <a:off x="294436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تَقْلِيدِيُّونَ</a:t>
            </a:r>
            <a:endParaRPr lang="ar-SA" sz="1500" dirty="0"/>
          </a:p>
        </p:txBody>
      </p:sp>
      <p:sp>
        <p:nvSpPr>
          <p:cNvPr id="59" name="Shape 56"/>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60" name="Text 57"/>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61" name="Text 58"/>
          <p:cNvSpPr txBox="1"/>
          <p:nvPr/>
        </p:nvSpPr>
        <p:spPr>
          <a:xfrm>
            <a:off x="179222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تَقْلِيدِيَّةٌ</a:t>
            </a:r>
            <a:endParaRPr lang="ar-SA" sz="1500" dirty="0"/>
          </a:p>
        </p:txBody>
      </p:sp>
      <p:sp>
        <p:nvSpPr>
          <p:cNvPr id="62" name="Shape 59"/>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63" name="Text 60"/>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64" name="Text 61"/>
          <p:cNvSpPr txBox="1"/>
          <p:nvPr/>
        </p:nvSpPr>
        <p:spPr>
          <a:xfrm>
            <a:off x="64008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تَقْلِيدِيٌّ</a:t>
            </a:r>
            <a:endParaRPr lang="ar-SA" sz="1500" dirty="0"/>
          </a:p>
        </p:txBody>
      </p:sp>
      <p:sp>
        <p:nvSpPr>
          <p:cNvPr id="65" name="Shape 62"/>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6" name="Shape 63"/>
          <p:cNvSpPr/>
          <p:nvPr/>
        </p:nvSpPr>
        <p:spPr>
          <a:xfrm>
            <a:off x="8211312" y="4261104"/>
            <a:ext cx="310896" cy="310896"/>
          </a:xfrm>
          <a:prstGeom prst="ellipse">
            <a:avLst/>
          </a:prstGeom>
          <a:solidFill>
            <a:srgbClr val="F4F1EA"/>
          </a:solidFill>
          <a:ln w="12700">
            <a:solidFill>
              <a:srgbClr val="F4F1EA"/>
            </a:solidFill>
            <a:prstDash val="solid"/>
          </a:ln>
        </p:spPr>
      </p:sp>
      <p:sp>
        <p:nvSpPr>
          <p:cNvPr id="67" name="Text 64"/>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26</a:t>
            </a:r>
            <a:endParaRPr lang="en-US" sz="1000" dirty="0"/>
          </a:p>
        </p:txBody>
      </p:sp>
      <p:sp>
        <p:nvSpPr>
          <p:cNvPr id="68" name="Shape 65"/>
          <p:cNvSpPr/>
          <p:nvPr/>
        </p:nvSpPr>
        <p:spPr>
          <a:xfrm>
            <a:off x="8604504" y="4279392"/>
            <a:ext cx="896112" cy="256032"/>
          </a:xfrm>
          <a:prstGeom prst="roundRect">
            <a:avLst>
              <a:gd name="adj" fmla="val 50000"/>
            </a:avLst>
          </a:prstGeom>
          <a:solidFill>
            <a:srgbClr val="EFE7D2"/>
          </a:solidFill>
          <a:ln w="12700">
            <a:solidFill>
              <a:srgbClr val="EFE7D2"/>
            </a:solidFill>
            <a:prstDash val="solid"/>
          </a:ln>
        </p:spPr>
      </p:sp>
      <p:sp>
        <p:nvSpPr>
          <p:cNvPr id="69" name="Text 66"/>
          <p:cNvSpPr txBox="1"/>
          <p:nvPr/>
        </p:nvSpPr>
        <p:spPr>
          <a:xfrm>
            <a:off x="8604504"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70" name="Text 67"/>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رَسْمِيٌّ / رَسْمِيَّةٌ</a:t>
            </a:r>
            <a:endParaRPr lang="ar-SA" sz="3000" dirty="0"/>
          </a:p>
        </p:txBody>
      </p:sp>
      <p:sp>
        <p:nvSpPr>
          <p:cNvPr id="71" name="Text 68"/>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formal</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ras-miy-yun / ras-miy-ya-tun</a:t>
            </a:r>
            <a:endParaRPr lang="en-US" sz="1350" dirty="0"/>
          </a:p>
        </p:txBody>
      </p:sp>
      <p:sp>
        <p:nvSpPr>
          <p:cNvPr id="72" name="Shape 69"/>
          <p:cNvSpPr/>
          <p:nvPr/>
        </p:nvSpPr>
        <p:spPr>
          <a:xfrm>
            <a:off x="10543032" y="5779008"/>
            <a:ext cx="1060704" cy="438912"/>
          </a:xfrm>
          <a:prstGeom prst="roundRect">
            <a:avLst>
              <a:gd name="adj" fmla="val 10417"/>
            </a:avLst>
          </a:prstGeom>
          <a:solidFill>
            <a:srgbClr val="F4F1EA"/>
          </a:solidFill>
          <a:ln w="9525">
            <a:solidFill>
              <a:srgbClr val="F4F1EA"/>
            </a:solidFill>
            <a:prstDash val="solid"/>
          </a:ln>
        </p:spPr>
      </p:sp>
      <p:sp>
        <p:nvSpPr>
          <p:cNvPr id="73" name="Text 70"/>
          <p:cNvSpPr txBox="1"/>
          <p:nvPr/>
        </p:nvSpPr>
        <p:spPr>
          <a:xfrm>
            <a:off x="1059789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74" name="Text 71"/>
          <p:cNvSpPr txBox="1"/>
          <p:nvPr/>
        </p:nvSpPr>
        <p:spPr>
          <a:xfrm>
            <a:off x="1058875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رَسْمِيُّونَ</a:t>
            </a:r>
            <a:endParaRPr lang="ar-SA" sz="1500" dirty="0"/>
          </a:p>
        </p:txBody>
      </p:sp>
      <p:sp>
        <p:nvSpPr>
          <p:cNvPr id="75" name="Shape 72"/>
          <p:cNvSpPr/>
          <p:nvPr/>
        </p:nvSpPr>
        <p:spPr>
          <a:xfrm>
            <a:off x="9390888" y="5779008"/>
            <a:ext cx="1060704" cy="438912"/>
          </a:xfrm>
          <a:prstGeom prst="roundRect">
            <a:avLst>
              <a:gd name="adj" fmla="val 10417"/>
            </a:avLst>
          </a:prstGeom>
          <a:solidFill>
            <a:srgbClr val="F4F1EA"/>
          </a:solidFill>
          <a:ln w="9525">
            <a:solidFill>
              <a:srgbClr val="F4F1EA"/>
            </a:solidFill>
            <a:prstDash val="solid"/>
          </a:ln>
        </p:spPr>
      </p:sp>
      <p:sp>
        <p:nvSpPr>
          <p:cNvPr id="76" name="Text 73"/>
          <p:cNvSpPr txBox="1"/>
          <p:nvPr/>
        </p:nvSpPr>
        <p:spPr>
          <a:xfrm>
            <a:off x="944575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77" name="Text 74"/>
          <p:cNvSpPr txBox="1"/>
          <p:nvPr/>
        </p:nvSpPr>
        <p:spPr>
          <a:xfrm>
            <a:off x="943660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رَسْمِيَّةٌ</a:t>
            </a:r>
            <a:endParaRPr lang="ar-SA" sz="1500" dirty="0"/>
          </a:p>
        </p:txBody>
      </p:sp>
      <p:sp>
        <p:nvSpPr>
          <p:cNvPr id="78" name="Shape 75"/>
          <p:cNvSpPr/>
          <p:nvPr/>
        </p:nvSpPr>
        <p:spPr>
          <a:xfrm>
            <a:off x="8238744" y="5779008"/>
            <a:ext cx="1060704" cy="438912"/>
          </a:xfrm>
          <a:prstGeom prst="roundRect">
            <a:avLst>
              <a:gd name="adj" fmla="val 10417"/>
            </a:avLst>
          </a:prstGeom>
          <a:solidFill>
            <a:srgbClr val="F4F1EA"/>
          </a:solidFill>
          <a:ln w="9525">
            <a:solidFill>
              <a:srgbClr val="F4F1EA"/>
            </a:solidFill>
            <a:prstDash val="solid"/>
          </a:ln>
        </p:spPr>
      </p:sp>
      <p:sp>
        <p:nvSpPr>
          <p:cNvPr id="79" name="Text 76"/>
          <p:cNvSpPr txBox="1"/>
          <p:nvPr/>
        </p:nvSpPr>
        <p:spPr>
          <a:xfrm>
            <a:off x="829360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80" name="Text 77"/>
          <p:cNvSpPr txBox="1"/>
          <p:nvPr/>
        </p:nvSpPr>
        <p:spPr>
          <a:xfrm>
            <a:off x="828446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رَسْمِيٌّ</a:t>
            </a:r>
            <a:endParaRPr lang="ar-SA" sz="1500" dirty="0"/>
          </a:p>
        </p:txBody>
      </p:sp>
      <p:sp>
        <p:nvSpPr>
          <p:cNvPr id="81" name="Text 7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47</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TB-L03 · Appearance and Personality</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Style and personality detail (2 of 2)</a:t>
            </a:r>
            <a:endParaRPr lang="en-US" sz="26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B · Personal and Social Life · TB-L03</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27</a:t>
            </a:r>
            <a:endParaRPr lang="en-US" sz="1000" dirty="0"/>
          </a:p>
        </p:txBody>
      </p:sp>
      <p:sp>
        <p:nvSpPr>
          <p:cNvPr id="20" name="Shape 17"/>
          <p:cNvSpPr/>
          <p:nvPr/>
        </p:nvSpPr>
        <p:spPr>
          <a:xfrm>
            <a:off x="8604504" y="1938528"/>
            <a:ext cx="896112"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غَيْرُ رَسْمِيٍّ / غَيْرُ رَسْمِيَّةٍ</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casual</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ghay-ru ras-miy-yin / ghay-ru ras-miy-ya-tin</a:t>
            </a:r>
            <a:endParaRPr lang="en-US" sz="1350" dirty="0"/>
          </a:p>
        </p:txBody>
      </p:sp>
      <p:sp>
        <p:nvSpPr>
          <p:cNvPr id="24" name="Shape 21"/>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26" name="Text 23"/>
          <p:cNvSpPr txBox="1"/>
          <p:nvPr/>
        </p:nvSpPr>
        <p:spPr>
          <a:xfrm>
            <a:off x="100126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غَيْرُ رَسْمِيَّةٍ</a:t>
            </a:r>
            <a:endParaRPr lang="ar-SA" sz="1500" dirty="0"/>
          </a:p>
        </p:txBody>
      </p:sp>
      <p:sp>
        <p:nvSpPr>
          <p:cNvPr id="27" name="Shape 24"/>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29" name="Text 26"/>
          <p:cNvSpPr txBox="1"/>
          <p:nvPr/>
        </p:nvSpPr>
        <p:spPr>
          <a:xfrm>
            <a:off x="8284464"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غَيْرُ رَسْمِيٍّ</a:t>
            </a:r>
            <a:endParaRPr lang="ar-SA" sz="1500" dirty="0"/>
          </a:p>
        </p:txBody>
      </p:sp>
      <p:sp>
        <p:nvSpPr>
          <p:cNvPr id="30" name="Shape 2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389120"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28</a:t>
            </a:r>
            <a:endParaRPr lang="en-US" sz="1000" dirty="0"/>
          </a:p>
        </p:txBody>
      </p:sp>
      <p:sp>
        <p:nvSpPr>
          <p:cNvPr id="33" name="Shape 30"/>
          <p:cNvSpPr/>
          <p:nvPr/>
        </p:nvSpPr>
        <p:spPr>
          <a:xfrm>
            <a:off x="4782312" y="1938528"/>
            <a:ext cx="896112" cy="256032"/>
          </a:xfrm>
          <a:prstGeom prst="roundRect">
            <a:avLst>
              <a:gd name="adj" fmla="val 50000"/>
            </a:avLst>
          </a:prstGeom>
          <a:solidFill>
            <a:srgbClr val="EFE7D2"/>
          </a:solidFill>
          <a:ln w="12700">
            <a:solidFill>
              <a:srgbClr val="EFE7D2"/>
            </a:solidFill>
            <a:prstDash val="solid"/>
          </a:ln>
        </p:spPr>
      </p:sp>
      <p:sp>
        <p:nvSpPr>
          <p:cNvPr id="34" name="Text 31"/>
          <p:cNvSpPr txBox="1"/>
          <p:nvPr/>
        </p:nvSpPr>
        <p:spPr>
          <a:xfrm>
            <a:off x="4782312"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35" name="Text 32"/>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مُحْتَشِمٌ / مُحْتَشِمَةٌ</a:t>
            </a:r>
            <a:endParaRPr lang="ar-SA" sz="3000" dirty="0"/>
          </a:p>
        </p:txBody>
      </p:sp>
      <p:sp>
        <p:nvSpPr>
          <p:cNvPr id="36" name="Text 33"/>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modest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muḥ-ta-shi-mun / muḥ-ta-shi-ma-tun</a:t>
            </a:r>
            <a:endParaRPr lang="en-US" sz="1350" dirty="0"/>
          </a:p>
        </p:txBody>
      </p:sp>
      <p:sp>
        <p:nvSpPr>
          <p:cNvPr id="37" name="Shape 34"/>
          <p:cNvSpPr/>
          <p:nvPr/>
        </p:nvSpPr>
        <p:spPr>
          <a:xfrm>
            <a:off x="6720840" y="3438144"/>
            <a:ext cx="1060704" cy="438912"/>
          </a:xfrm>
          <a:prstGeom prst="roundRect">
            <a:avLst>
              <a:gd name="adj" fmla="val 10417"/>
            </a:avLst>
          </a:prstGeom>
          <a:solidFill>
            <a:srgbClr val="F4F1EA"/>
          </a:solidFill>
          <a:ln w="9525">
            <a:solidFill>
              <a:srgbClr val="F4F1EA"/>
            </a:solidFill>
            <a:prstDash val="solid"/>
          </a:ln>
        </p:spPr>
      </p:sp>
      <p:sp>
        <p:nvSpPr>
          <p:cNvPr id="38" name="Text 35"/>
          <p:cNvSpPr txBox="1"/>
          <p:nvPr/>
        </p:nvSpPr>
        <p:spPr>
          <a:xfrm>
            <a:off x="677570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39" name="Text 36"/>
          <p:cNvSpPr txBox="1"/>
          <p:nvPr/>
        </p:nvSpPr>
        <p:spPr>
          <a:xfrm>
            <a:off x="676656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مُحْتَشِمُونَ</a:t>
            </a:r>
            <a:endParaRPr lang="ar-SA" sz="1500" dirty="0"/>
          </a:p>
        </p:txBody>
      </p:sp>
      <p:sp>
        <p:nvSpPr>
          <p:cNvPr id="40" name="Shape 37"/>
          <p:cNvSpPr/>
          <p:nvPr/>
        </p:nvSpPr>
        <p:spPr>
          <a:xfrm>
            <a:off x="5568696" y="3438144"/>
            <a:ext cx="1060704" cy="438912"/>
          </a:xfrm>
          <a:prstGeom prst="roundRect">
            <a:avLst>
              <a:gd name="adj" fmla="val 10417"/>
            </a:avLst>
          </a:prstGeom>
          <a:solidFill>
            <a:srgbClr val="F4F1EA"/>
          </a:solidFill>
          <a:ln w="9525">
            <a:solidFill>
              <a:srgbClr val="F4F1EA"/>
            </a:solidFill>
            <a:prstDash val="solid"/>
          </a:ln>
        </p:spPr>
      </p:sp>
      <p:sp>
        <p:nvSpPr>
          <p:cNvPr id="41" name="Text 38"/>
          <p:cNvSpPr txBox="1"/>
          <p:nvPr/>
        </p:nvSpPr>
        <p:spPr>
          <a:xfrm>
            <a:off x="5623560"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42" name="Text 39"/>
          <p:cNvSpPr txBox="1"/>
          <p:nvPr/>
        </p:nvSpPr>
        <p:spPr>
          <a:xfrm>
            <a:off x="5614416"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مُحْتَشِمَةٌ</a:t>
            </a:r>
            <a:endParaRPr lang="ar-SA" sz="1500" dirty="0"/>
          </a:p>
        </p:txBody>
      </p:sp>
      <p:sp>
        <p:nvSpPr>
          <p:cNvPr id="43" name="Shape 40"/>
          <p:cNvSpPr/>
          <p:nvPr/>
        </p:nvSpPr>
        <p:spPr>
          <a:xfrm>
            <a:off x="4416552" y="3438144"/>
            <a:ext cx="1060704" cy="438912"/>
          </a:xfrm>
          <a:prstGeom prst="roundRect">
            <a:avLst>
              <a:gd name="adj" fmla="val 10417"/>
            </a:avLst>
          </a:prstGeom>
          <a:solidFill>
            <a:srgbClr val="F4F1EA"/>
          </a:solidFill>
          <a:ln w="9525">
            <a:solidFill>
              <a:srgbClr val="F4F1EA"/>
            </a:solidFill>
            <a:prstDash val="solid"/>
          </a:ln>
        </p:spPr>
      </p:sp>
      <p:sp>
        <p:nvSpPr>
          <p:cNvPr id="44" name="Text 41"/>
          <p:cNvSpPr txBox="1"/>
          <p:nvPr/>
        </p:nvSpPr>
        <p:spPr>
          <a:xfrm>
            <a:off x="447141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45" name="Text 42"/>
          <p:cNvSpPr txBox="1"/>
          <p:nvPr/>
        </p:nvSpPr>
        <p:spPr>
          <a:xfrm>
            <a:off x="446227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مُحْتَشِمٌ</a:t>
            </a:r>
            <a:endParaRPr lang="ar-SA" sz="1500" dirty="0"/>
          </a:p>
        </p:txBody>
      </p:sp>
      <p:sp>
        <p:nvSpPr>
          <p:cNvPr id="46" name="Shape 43"/>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4"/>
          <p:cNvSpPr/>
          <p:nvPr/>
        </p:nvSpPr>
        <p:spPr>
          <a:xfrm>
            <a:off x="566928" y="1920240"/>
            <a:ext cx="310896" cy="310896"/>
          </a:xfrm>
          <a:prstGeom prst="ellipse">
            <a:avLst/>
          </a:prstGeom>
          <a:solidFill>
            <a:srgbClr val="F4F1EA"/>
          </a:solidFill>
          <a:ln w="12700">
            <a:solidFill>
              <a:srgbClr val="F4F1EA"/>
            </a:solidFill>
            <a:prstDash val="solid"/>
          </a:ln>
        </p:spPr>
      </p:sp>
      <p:sp>
        <p:nvSpPr>
          <p:cNvPr id="48" name="Text 45"/>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29</a:t>
            </a:r>
            <a:endParaRPr lang="en-US" sz="1000" dirty="0"/>
          </a:p>
        </p:txBody>
      </p:sp>
      <p:sp>
        <p:nvSpPr>
          <p:cNvPr id="49" name="Shape 46"/>
          <p:cNvSpPr/>
          <p:nvPr/>
        </p:nvSpPr>
        <p:spPr>
          <a:xfrm>
            <a:off x="960120" y="1938528"/>
            <a:ext cx="896112" cy="256032"/>
          </a:xfrm>
          <a:prstGeom prst="roundRect">
            <a:avLst>
              <a:gd name="adj" fmla="val 50000"/>
            </a:avLst>
          </a:prstGeom>
          <a:solidFill>
            <a:srgbClr val="EFE7D2"/>
          </a:solidFill>
          <a:ln w="12700">
            <a:solidFill>
              <a:srgbClr val="EFE7D2"/>
            </a:solidFill>
            <a:prstDash val="solid"/>
          </a:ln>
        </p:spPr>
      </p:sp>
      <p:sp>
        <p:nvSpPr>
          <p:cNvPr id="50" name="Text 47"/>
          <p:cNvSpPr txBox="1"/>
          <p:nvPr/>
        </p:nvSpPr>
        <p:spPr>
          <a:xfrm>
            <a:off x="960120"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51" name="Text 48"/>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مُلَوَّنٌ / مُلَوَّنَةٌ</a:t>
            </a:r>
            <a:endParaRPr lang="ar-SA" sz="3000" dirty="0"/>
          </a:p>
        </p:txBody>
      </p:sp>
      <p:sp>
        <p:nvSpPr>
          <p:cNvPr id="52" name="Text 49"/>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colourful</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mu-law-wa-nun / mu-law-wa-na-tun</a:t>
            </a:r>
            <a:endParaRPr lang="en-US" sz="1350" dirty="0"/>
          </a:p>
        </p:txBody>
      </p:sp>
      <p:sp>
        <p:nvSpPr>
          <p:cNvPr id="53" name="Shape 50"/>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54" name="Text 51"/>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55" name="Text 52"/>
          <p:cNvSpPr txBox="1"/>
          <p:nvPr/>
        </p:nvSpPr>
        <p:spPr>
          <a:xfrm>
            <a:off x="294436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مَلَابِسُ مُلَوَّنَةٌ</a:t>
            </a:r>
            <a:endParaRPr lang="ar-SA" sz="1500" dirty="0"/>
          </a:p>
        </p:txBody>
      </p:sp>
      <p:sp>
        <p:nvSpPr>
          <p:cNvPr id="56" name="Shape 53"/>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57" name="Text 54"/>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58" name="Text 55"/>
          <p:cNvSpPr txBox="1"/>
          <p:nvPr/>
        </p:nvSpPr>
        <p:spPr>
          <a:xfrm>
            <a:off x="179222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مُلَوَّنَةٌ</a:t>
            </a:r>
            <a:endParaRPr lang="ar-SA" sz="1500" dirty="0"/>
          </a:p>
        </p:txBody>
      </p:sp>
      <p:sp>
        <p:nvSpPr>
          <p:cNvPr id="59" name="Shape 56"/>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60" name="Text 57"/>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61" name="Text 58"/>
          <p:cNvSpPr txBox="1"/>
          <p:nvPr/>
        </p:nvSpPr>
        <p:spPr>
          <a:xfrm>
            <a:off x="64008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مُلَوَّنٌ</a:t>
            </a:r>
            <a:endParaRPr lang="ar-SA" sz="1500" dirty="0"/>
          </a:p>
        </p:txBody>
      </p:sp>
      <p:sp>
        <p:nvSpPr>
          <p:cNvPr id="62" name="Shape 5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8211312" y="4261104"/>
            <a:ext cx="310896" cy="310896"/>
          </a:xfrm>
          <a:prstGeom prst="ellipse">
            <a:avLst/>
          </a:prstGeom>
          <a:solidFill>
            <a:srgbClr val="F4F1EA"/>
          </a:solidFill>
          <a:ln w="12700">
            <a:solidFill>
              <a:srgbClr val="F4F1EA"/>
            </a:solidFill>
            <a:prstDash val="solid"/>
          </a:ln>
        </p:spPr>
      </p:sp>
      <p:sp>
        <p:nvSpPr>
          <p:cNvPr id="64" name="Text 6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30</a:t>
            </a:r>
            <a:endParaRPr lang="en-US" sz="1000" dirty="0"/>
          </a:p>
        </p:txBody>
      </p:sp>
      <p:sp>
        <p:nvSpPr>
          <p:cNvPr id="65" name="Shape 62"/>
          <p:cNvSpPr/>
          <p:nvPr/>
        </p:nvSpPr>
        <p:spPr>
          <a:xfrm>
            <a:off x="8604504" y="4279392"/>
            <a:ext cx="896112" cy="256032"/>
          </a:xfrm>
          <a:prstGeom prst="roundRect">
            <a:avLst>
              <a:gd name="adj" fmla="val 50000"/>
            </a:avLst>
          </a:prstGeom>
          <a:solidFill>
            <a:srgbClr val="EFE7D2"/>
          </a:solidFill>
          <a:ln w="12700">
            <a:solidFill>
              <a:srgbClr val="EFE7D2"/>
            </a:solidFill>
            <a:prstDash val="solid"/>
          </a:ln>
        </p:spPr>
      </p:sp>
      <p:sp>
        <p:nvSpPr>
          <p:cNvPr id="66" name="Text 63"/>
          <p:cNvSpPr txBox="1"/>
          <p:nvPr/>
        </p:nvSpPr>
        <p:spPr>
          <a:xfrm>
            <a:off x="8604504"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67" name="Text 64"/>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بَسِيطٌ / بَسِيطَةٌ</a:t>
            </a:r>
            <a:endParaRPr lang="ar-SA" sz="3000" dirty="0"/>
          </a:p>
        </p:txBody>
      </p:sp>
      <p:sp>
        <p:nvSpPr>
          <p:cNvPr id="68" name="Text 65"/>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simple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ba-sī-ṭun / ba-sī-ṭa-tun</a:t>
            </a:r>
            <a:endParaRPr lang="en-US" sz="1350" dirty="0"/>
          </a:p>
        </p:txBody>
      </p:sp>
      <p:sp>
        <p:nvSpPr>
          <p:cNvPr id="69" name="Shape 66"/>
          <p:cNvSpPr/>
          <p:nvPr/>
        </p:nvSpPr>
        <p:spPr>
          <a:xfrm>
            <a:off x="10543032" y="5779008"/>
            <a:ext cx="1060704" cy="438912"/>
          </a:xfrm>
          <a:prstGeom prst="roundRect">
            <a:avLst>
              <a:gd name="adj" fmla="val 10417"/>
            </a:avLst>
          </a:prstGeom>
          <a:solidFill>
            <a:srgbClr val="F4F1EA"/>
          </a:solidFill>
          <a:ln w="9525">
            <a:solidFill>
              <a:srgbClr val="F4F1EA"/>
            </a:solidFill>
            <a:prstDash val="solid"/>
          </a:ln>
        </p:spPr>
      </p:sp>
      <p:sp>
        <p:nvSpPr>
          <p:cNvPr id="70" name="Text 67"/>
          <p:cNvSpPr txBox="1"/>
          <p:nvPr/>
        </p:nvSpPr>
        <p:spPr>
          <a:xfrm>
            <a:off x="1059789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71" name="Text 68"/>
          <p:cNvSpPr txBox="1"/>
          <p:nvPr/>
        </p:nvSpPr>
        <p:spPr>
          <a:xfrm>
            <a:off x="1058875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بُسَطَاءُ</a:t>
            </a:r>
            <a:endParaRPr lang="ar-SA" sz="1500" dirty="0"/>
          </a:p>
        </p:txBody>
      </p:sp>
      <p:sp>
        <p:nvSpPr>
          <p:cNvPr id="72" name="Shape 69"/>
          <p:cNvSpPr/>
          <p:nvPr/>
        </p:nvSpPr>
        <p:spPr>
          <a:xfrm>
            <a:off x="9390888" y="5779008"/>
            <a:ext cx="1060704" cy="438912"/>
          </a:xfrm>
          <a:prstGeom prst="roundRect">
            <a:avLst>
              <a:gd name="adj" fmla="val 10417"/>
            </a:avLst>
          </a:prstGeom>
          <a:solidFill>
            <a:srgbClr val="F4F1EA"/>
          </a:solidFill>
          <a:ln w="9525">
            <a:solidFill>
              <a:srgbClr val="F4F1EA"/>
            </a:solidFill>
            <a:prstDash val="solid"/>
          </a:ln>
        </p:spPr>
      </p:sp>
      <p:sp>
        <p:nvSpPr>
          <p:cNvPr id="73" name="Text 70"/>
          <p:cNvSpPr txBox="1"/>
          <p:nvPr/>
        </p:nvSpPr>
        <p:spPr>
          <a:xfrm>
            <a:off x="944575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74" name="Text 71"/>
          <p:cNvSpPr txBox="1"/>
          <p:nvPr/>
        </p:nvSpPr>
        <p:spPr>
          <a:xfrm>
            <a:off x="943660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بَسِيطَةٌ</a:t>
            </a:r>
            <a:endParaRPr lang="ar-SA" sz="1500" dirty="0"/>
          </a:p>
        </p:txBody>
      </p:sp>
      <p:sp>
        <p:nvSpPr>
          <p:cNvPr id="75" name="Shape 72"/>
          <p:cNvSpPr/>
          <p:nvPr/>
        </p:nvSpPr>
        <p:spPr>
          <a:xfrm>
            <a:off x="8238744" y="5779008"/>
            <a:ext cx="1060704" cy="438912"/>
          </a:xfrm>
          <a:prstGeom prst="roundRect">
            <a:avLst>
              <a:gd name="adj" fmla="val 10417"/>
            </a:avLst>
          </a:prstGeom>
          <a:solidFill>
            <a:srgbClr val="F4F1EA"/>
          </a:solidFill>
          <a:ln w="9525">
            <a:solidFill>
              <a:srgbClr val="F4F1EA"/>
            </a:solidFill>
            <a:prstDash val="solid"/>
          </a:ln>
        </p:spPr>
      </p:sp>
      <p:sp>
        <p:nvSpPr>
          <p:cNvPr id="76" name="Text 73"/>
          <p:cNvSpPr txBox="1"/>
          <p:nvPr/>
        </p:nvSpPr>
        <p:spPr>
          <a:xfrm>
            <a:off x="829360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77" name="Text 74"/>
          <p:cNvSpPr txBox="1"/>
          <p:nvPr/>
        </p:nvSpPr>
        <p:spPr>
          <a:xfrm>
            <a:off x="828446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بَسِيطٌ</a:t>
            </a:r>
            <a:endParaRPr lang="ar-SA" sz="150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47</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TB-L03 · Appearance and Personality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46" b="1" spc="150" kern="0" dirty="0">
                <a:solidFill>
                  <a:srgbClr val="1B3B6F"/>
                </a:solidFill>
                <a:latin typeface="Calibri" pitchFamily="34" charset="0"/>
                <a:ea typeface="Calibri" pitchFamily="34" charset="-122"/>
                <a:cs typeface="Calibri" pitchFamily="34" charset="-120"/>
              </a:rPr>
              <a:t>GRAMMAR FOCUS · PART 1 · THE PORTRAIT IN ORDER: HE VS SHE (WEBSITE RULES + TABLE)</a:t>
            </a:r>
            <a:endParaRPr lang="en-US" sz="846"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Height → hair → eyes → clothes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450" b="1" dirty="0">
                <a:solidFill>
                  <a:srgbClr val="8A6D1E"/>
                </a:solidFill>
                <a:latin typeface="Amiri" pitchFamily="34" charset="0"/>
                <a:ea typeface="Amiri" pitchFamily="34" charset="-122"/>
                <a:cs typeface="Amiri" pitchFamily="34" charset="-120"/>
              </a:rPr>
              <a:t>القَامَةُ ← الشَّعْرُ ← العَيْنَانِ ← المَلَابِسُ</a:t>
            </a:r>
            <a:endParaRPr lang="ar-SA" sz="245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B · Personal and Social Life · TB-L03</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872984" y="1810512"/>
            <a:ext cx="3785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He</a:t>
            </a:r>
            <a:endParaRPr lang="en-US" sz="1100" dirty="0"/>
          </a:p>
        </p:txBody>
      </p:sp>
      <p:sp>
        <p:nvSpPr>
          <p:cNvPr id="17" name="Text 14"/>
          <p:cNvSpPr txBox="1"/>
          <p:nvPr/>
        </p:nvSpPr>
        <p:spPr>
          <a:xfrm>
            <a:off x="3758184" y="1810512"/>
            <a:ext cx="39684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She</a:t>
            </a:r>
            <a:endParaRPr lang="en-US" sz="1100" dirty="0"/>
          </a:p>
        </p:txBody>
      </p:sp>
      <p:sp>
        <p:nvSpPr>
          <p:cNvPr id="18" name="Text 15"/>
          <p:cNvSpPr txBox="1"/>
          <p:nvPr/>
        </p:nvSpPr>
        <p:spPr>
          <a:xfrm>
            <a:off x="530352" y="1810512"/>
            <a:ext cx="30815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Step</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7891272" y="2267712"/>
            <a:ext cx="37490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هُوَ طَوِيلُ القَامَةِ.</a:t>
            </a:r>
            <a:endParaRPr lang="ar-SA" sz="2400" dirty="0"/>
          </a:p>
        </p:txBody>
      </p:sp>
      <p:sp>
        <p:nvSpPr>
          <p:cNvPr id="21" name="Text 18"/>
          <p:cNvSpPr txBox="1"/>
          <p:nvPr/>
        </p:nvSpPr>
        <p:spPr>
          <a:xfrm>
            <a:off x="3776472" y="2267712"/>
            <a:ext cx="393192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هِيَ طَوِيلَ</a:t>
            </a:r>
            <a:pPr rtl="1" algn="ctr" indent="0" marL="0">
              <a:buNone/>
            </a:pPr>
            <a:r>
              <a:rPr lang="ar-SA" altLang="en-US" sz="2400" b="1" dirty="0">
                <a:solidFill>
                  <a:srgbClr val="D6336C"/>
                </a:solidFill>
                <a:latin typeface="Amiri" pitchFamily="34" charset="0"/>
                <a:ea typeface="Amiri" pitchFamily="34" charset="-122"/>
                <a:cs typeface="Amiri" pitchFamily="34" charset="-120"/>
              </a:rPr>
              <a:t>ةُ</a:t>
            </a:r>
            <a:pPr rtl="1" algn="ctr" indent="0" marL="0">
              <a:buNone/>
            </a:pPr>
            <a:r>
              <a:rPr lang="ar-SA" altLang="en-US" sz="2400" b="1" dirty="0">
                <a:solidFill>
                  <a:srgbClr val="1B3B6F"/>
                </a:solidFill>
                <a:latin typeface="Amiri" pitchFamily="34" charset="0"/>
                <a:ea typeface="Amiri" pitchFamily="34" charset="-122"/>
                <a:cs typeface="Amiri" pitchFamily="34" charset="-120"/>
              </a:rPr>
              <a:t> القَامَةِ.</a:t>
            </a:r>
            <a:endParaRPr lang="ar-SA" sz="2400" dirty="0"/>
          </a:p>
        </p:txBody>
      </p:sp>
      <p:sp>
        <p:nvSpPr>
          <p:cNvPr id="22" name="Text 19"/>
          <p:cNvSpPr txBox="1"/>
          <p:nvPr/>
        </p:nvSpPr>
        <p:spPr>
          <a:xfrm>
            <a:off x="566928" y="2267712"/>
            <a:ext cx="30449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1 · height</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7891272" y="3004718"/>
            <a:ext cx="3749040" cy="682142"/>
          </a:xfrm>
          <a:prstGeom prst="rect">
            <a:avLst/>
          </a:prstGeom>
          <a:noFill/>
          <a:ln/>
        </p:spPr>
        <p:txBody>
          <a:bodyPr wrap="square" lIns="0" tIns="0" rIns="0" bIns="0" rtlCol="0" anchor="ctr"/>
          <a:lstStyle/>
          <a:p>
            <a:pPr rtl="1" algn="ctr" indent="0" marL="0">
              <a:buNone/>
            </a:pPr>
            <a:r>
              <a:rPr lang="ar-SA" altLang="en-US" sz="2400" b="1" dirty="0">
                <a:solidFill>
                  <a:srgbClr val="1D5FBF"/>
                </a:solidFill>
                <a:latin typeface="Amiri" pitchFamily="34" charset="0"/>
                <a:ea typeface="Amiri" pitchFamily="34" charset="-122"/>
                <a:cs typeface="Amiri" pitchFamily="34" charset="-120"/>
              </a:rPr>
              <a:t>لَهُ</a:t>
            </a:r>
            <a:pPr rtl="1" algn="ctr" indent="0" marL="0">
              <a:buNone/>
            </a:pPr>
            <a:r>
              <a:rPr lang="ar-SA" altLang="en-US" sz="2400" b="1" dirty="0">
                <a:solidFill>
                  <a:srgbClr val="1B3B6F"/>
                </a:solidFill>
                <a:latin typeface="Amiri" pitchFamily="34" charset="0"/>
                <a:ea typeface="Amiri" pitchFamily="34" charset="-122"/>
                <a:cs typeface="Amiri" pitchFamily="34" charset="-120"/>
              </a:rPr>
              <a:t> شَعْرٌ قَصِيرٌ وَمُجَعَّدٌ.</a:t>
            </a:r>
            <a:endParaRPr lang="ar-SA" sz="2400" dirty="0"/>
          </a:p>
        </p:txBody>
      </p:sp>
      <p:sp>
        <p:nvSpPr>
          <p:cNvPr id="27" name="Text 24"/>
          <p:cNvSpPr txBox="1"/>
          <p:nvPr/>
        </p:nvSpPr>
        <p:spPr>
          <a:xfrm>
            <a:off x="3776472" y="3004718"/>
            <a:ext cx="3931920" cy="682142"/>
          </a:xfrm>
          <a:prstGeom prst="rect">
            <a:avLst/>
          </a:prstGeom>
          <a:noFill/>
          <a:ln/>
        </p:spPr>
        <p:txBody>
          <a:bodyPr wrap="square" lIns="0" tIns="0" rIns="0" bIns="0" rtlCol="0" anchor="ctr"/>
          <a:lstStyle/>
          <a:p>
            <a:pPr rtl="1" algn="ctr" indent="0" marL="0">
              <a:buNone/>
            </a:pPr>
            <a:r>
              <a:rPr lang="ar-SA" altLang="en-US" sz="2400" b="1" dirty="0">
                <a:solidFill>
                  <a:srgbClr val="D6336C"/>
                </a:solidFill>
                <a:latin typeface="Amiri" pitchFamily="34" charset="0"/>
                <a:ea typeface="Amiri" pitchFamily="34" charset="-122"/>
                <a:cs typeface="Amiri" pitchFamily="34" charset="-120"/>
              </a:rPr>
              <a:t>لَهَا</a:t>
            </a:r>
            <a:pPr rtl="1" algn="ctr" indent="0" marL="0">
              <a:buNone/>
            </a:pPr>
            <a:r>
              <a:rPr lang="ar-SA" altLang="en-US" sz="2400" b="1" dirty="0">
                <a:solidFill>
                  <a:srgbClr val="1B3B6F"/>
                </a:solidFill>
                <a:latin typeface="Amiri" pitchFamily="34" charset="0"/>
                <a:ea typeface="Amiri" pitchFamily="34" charset="-122"/>
                <a:cs typeface="Amiri" pitchFamily="34" charset="-120"/>
              </a:rPr>
              <a:t> شَعْرٌ طَوِيلٌ مُسْتَقِيمٌ.</a:t>
            </a:r>
            <a:endParaRPr lang="ar-SA" sz="2400" dirty="0"/>
          </a:p>
        </p:txBody>
      </p:sp>
      <p:sp>
        <p:nvSpPr>
          <p:cNvPr id="28" name="Text 25"/>
          <p:cNvSpPr txBox="1"/>
          <p:nvPr/>
        </p:nvSpPr>
        <p:spPr>
          <a:xfrm>
            <a:off x="566928" y="3004718"/>
            <a:ext cx="30449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2 · hair (he / she has)</a:t>
            </a:r>
            <a:endParaRPr lang="en-US" sz="1100" dirty="0"/>
          </a:p>
        </p:txBody>
      </p:sp>
      <p:sp>
        <p:nvSpPr>
          <p:cNvPr id="29" name="Shape 26"/>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1" name="Shape 28"/>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2" name="Text 29"/>
          <p:cNvSpPr txBox="1"/>
          <p:nvPr/>
        </p:nvSpPr>
        <p:spPr>
          <a:xfrm>
            <a:off x="7891272" y="3741725"/>
            <a:ext cx="37490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شَعْرُ</a:t>
            </a:r>
            <a:pPr rtl="1" algn="ctr" indent="0" marL="0">
              <a:buNone/>
            </a:pPr>
            <a:r>
              <a:rPr lang="ar-SA" altLang="en-US" sz="2400" b="1" dirty="0">
                <a:solidFill>
                  <a:srgbClr val="1D5FBF"/>
                </a:solidFill>
                <a:latin typeface="Amiri" pitchFamily="34" charset="0"/>
                <a:ea typeface="Amiri" pitchFamily="34" charset="-122"/>
                <a:cs typeface="Amiri" pitchFamily="34" charset="-120"/>
              </a:rPr>
              <a:t>هُ</a:t>
            </a:r>
            <a:pPr rtl="1" algn="ctr" indent="0" marL="0">
              <a:buNone/>
            </a:pPr>
            <a:r>
              <a:rPr lang="ar-SA" altLang="en-US" sz="2400" b="1" dirty="0">
                <a:solidFill>
                  <a:srgbClr val="1B3B6F"/>
                </a:solidFill>
                <a:latin typeface="Amiri" pitchFamily="34" charset="0"/>
                <a:ea typeface="Amiri" pitchFamily="34" charset="-122"/>
                <a:cs typeface="Amiri" pitchFamily="34" charset="-120"/>
              </a:rPr>
              <a:t> قَصِيرٌ.</a:t>
            </a:r>
            <a:endParaRPr lang="ar-SA" sz="2400" dirty="0"/>
          </a:p>
        </p:txBody>
      </p:sp>
      <p:sp>
        <p:nvSpPr>
          <p:cNvPr id="33" name="Text 30"/>
          <p:cNvSpPr txBox="1"/>
          <p:nvPr/>
        </p:nvSpPr>
        <p:spPr>
          <a:xfrm>
            <a:off x="3776472" y="3741725"/>
            <a:ext cx="393192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شَعْرُ</a:t>
            </a:r>
            <a:pPr rtl="1" algn="ctr" indent="0" marL="0">
              <a:buNone/>
            </a:pPr>
            <a:r>
              <a:rPr lang="ar-SA" altLang="en-US" sz="2400" b="1" dirty="0">
                <a:solidFill>
                  <a:srgbClr val="D6336C"/>
                </a:solidFill>
                <a:latin typeface="Amiri" pitchFamily="34" charset="0"/>
                <a:ea typeface="Amiri" pitchFamily="34" charset="-122"/>
                <a:cs typeface="Amiri" pitchFamily="34" charset="-120"/>
              </a:rPr>
              <a:t>هَا</a:t>
            </a:r>
            <a:pPr rtl="1" algn="ctr" indent="0" marL="0">
              <a:buNone/>
            </a:pPr>
            <a:r>
              <a:rPr lang="ar-SA" altLang="en-US" sz="2400" b="1" dirty="0">
                <a:solidFill>
                  <a:srgbClr val="1B3B6F"/>
                </a:solidFill>
                <a:latin typeface="Amiri" pitchFamily="34" charset="0"/>
                <a:ea typeface="Amiri" pitchFamily="34" charset="-122"/>
                <a:cs typeface="Amiri" pitchFamily="34" charset="-120"/>
              </a:rPr>
              <a:t> طَوِيلٌ.</a:t>
            </a:r>
            <a:endParaRPr lang="ar-SA" sz="2400" dirty="0"/>
          </a:p>
        </p:txBody>
      </p:sp>
      <p:sp>
        <p:nvSpPr>
          <p:cNvPr id="34" name="Text 31"/>
          <p:cNvSpPr txBox="1"/>
          <p:nvPr/>
        </p:nvSpPr>
        <p:spPr>
          <a:xfrm>
            <a:off x="566928" y="3741725"/>
            <a:ext cx="30449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2 · his / her hair (masc. adjective!)</a:t>
            </a:r>
            <a:endParaRPr lang="en-US" sz="1100" dirty="0"/>
          </a:p>
        </p:txBody>
      </p:sp>
      <p:sp>
        <p:nvSpPr>
          <p:cNvPr id="35" name="Shape 32"/>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7" name="Shape 34"/>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8" name="Text 35"/>
          <p:cNvSpPr txBox="1"/>
          <p:nvPr/>
        </p:nvSpPr>
        <p:spPr>
          <a:xfrm>
            <a:off x="7891272" y="4478731"/>
            <a:ext cx="37490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عَيْنَا</a:t>
            </a:r>
            <a:pPr rtl="1" algn="ctr" indent="0" marL="0">
              <a:buNone/>
            </a:pPr>
            <a:r>
              <a:rPr lang="ar-SA" altLang="en-US" sz="2400" b="1" dirty="0">
                <a:solidFill>
                  <a:srgbClr val="1D5FBF"/>
                </a:solidFill>
                <a:latin typeface="Amiri" pitchFamily="34" charset="0"/>
                <a:ea typeface="Amiri" pitchFamily="34" charset="-122"/>
                <a:cs typeface="Amiri" pitchFamily="34" charset="-120"/>
              </a:rPr>
              <a:t>هُ</a:t>
            </a:r>
            <a:pPr rtl="1" algn="ctr" indent="0" marL="0">
              <a:buNone/>
            </a:pPr>
            <a:r>
              <a:rPr lang="ar-SA" altLang="en-US" sz="2400" b="1" dirty="0">
                <a:solidFill>
                  <a:srgbClr val="1B3B6F"/>
                </a:solidFill>
                <a:latin typeface="Amiri" pitchFamily="34" charset="0"/>
                <a:ea typeface="Amiri" pitchFamily="34" charset="-122"/>
                <a:cs typeface="Amiri" pitchFamily="34" charset="-120"/>
              </a:rPr>
              <a:t> زَرْقَا</a:t>
            </a:r>
            <a:pPr rtl="1" algn="ctr" indent="0" marL="0">
              <a:buNone/>
            </a:pPr>
            <a:r>
              <a:rPr lang="ar-SA" altLang="en-US" sz="2400" b="1" dirty="0">
                <a:solidFill>
                  <a:srgbClr val="0E7C86"/>
                </a:solidFill>
                <a:latin typeface="Amiri" pitchFamily="34" charset="0"/>
                <a:ea typeface="Amiri" pitchFamily="34" charset="-122"/>
                <a:cs typeface="Amiri" pitchFamily="34" charset="-120"/>
              </a:rPr>
              <a:t>وَانِ</a:t>
            </a:r>
            <a:pPr rtl="1" algn="ctr" indent="0" marL="0">
              <a:buNone/>
            </a:pPr>
            <a:r>
              <a:rPr lang="ar-SA" altLang="en-US" sz="2400" b="1" dirty="0">
                <a:solidFill>
                  <a:srgbClr val="1B3B6F"/>
                </a:solidFill>
                <a:latin typeface="Amiri" pitchFamily="34" charset="0"/>
                <a:ea typeface="Amiri" pitchFamily="34" charset="-122"/>
                <a:cs typeface="Amiri" pitchFamily="34" charset="-120"/>
              </a:rPr>
              <a:t>.</a:t>
            </a:r>
            <a:endParaRPr lang="ar-SA" sz="2400" dirty="0"/>
          </a:p>
        </p:txBody>
      </p:sp>
      <p:sp>
        <p:nvSpPr>
          <p:cNvPr id="39" name="Text 36"/>
          <p:cNvSpPr txBox="1"/>
          <p:nvPr/>
        </p:nvSpPr>
        <p:spPr>
          <a:xfrm>
            <a:off x="3776472" y="4478731"/>
            <a:ext cx="393192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عَيْنَا</a:t>
            </a:r>
            <a:pPr rtl="1" algn="ctr" indent="0" marL="0">
              <a:buNone/>
            </a:pPr>
            <a:r>
              <a:rPr lang="ar-SA" altLang="en-US" sz="2400" b="1" dirty="0">
                <a:solidFill>
                  <a:srgbClr val="D6336C"/>
                </a:solidFill>
                <a:latin typeface="Amiri" pitchFamily="34" charset="0"/>
                <a:ea typeface="Amiri" pitchFamily="34" charset="-122"/>
                <a:cs typeface="Amiri" pitchFamily="34" charset="-120"/>
              </a:rPr>
              <a:t>هَا</a:t>
            </a:r>
            <a:pPr rtl="1" algn="ctr" indent="0" marL="0">
              <a:buNone/>
            </a:pPr>
            <a:r>
              <a:rPr lang="ar-SA" altLang="en-US" sz="2400" b="1" dirty="0">
                <a:solidFill>
                  <a:srgbClr val="1B3B6F"/>
                </a:solidFill>
                <a:latin typeface="Amiri" pitchFamily="34" charset="0"/>
                <a:ea typeface="Amiri" pitchFamily="34" charset="-122"/>
                <a:cs typeface="Amiri" pitchFamily="34" charset="-120"/>
              </a:rPr>
              <a:t> بُنِّيَّتَ</a:t>
            </a:r>
            <a:pPr rtl="1" algn="ctr" indent="0" marL="0">
              <a:buNone/>
            </a:pPr>
            <a:r>
              <a:rPr lang="ar-SA" altLang="en-US" sz="2400" b="1" dirty="0">
                <a:solidFill>
                  <a:srgbClr val="0E7C86"/>
                </a:solidFill>
                <a:latin typeface="Amiri" pitchFamily="34" charset="0"/>
                <a:ea typeface="Amiri" pitchFamily="34" charset="-122"/>
                <a:cs typeface="Amiri" pitchFamily="34" charset="-120"/>
              </a:rPr>
              <a:t>انِ</a:t>
            </a:r>
            <a:pPr rtl="1" algn="ctr" indent="0" marL="0">
              <a:buNone/>
            </a:pPr>
            <a:r>
              <a:rPr lang="ar-SA" altLang="en-US" sz="2400" b="1" dirty="0">
                <a:solidFill>
                  <a:srgbClr val="1B3B6F"/>
                </a:solidFill>
                <a:latin typeface="Amiri" pitchFamily="34" charset="0"/>
                <a:ea typeface="Amiri" pitchFamily="34" charset="-122"/>
                <a:cs typeface="Amiri" pitchFamily="34" charset="-120"/>
              </a:rPr>
              <a:t>.</a:t>
            </a:r>
            <a:endParaRPr lang="ar-SA" sz="2400" dirty="0"/>
          </a:p>
        </p:txBody>
      </p:sp>
      <p:sp>
        <p:nvSpPr>
          <p:cNvPr id="40" name="Text 37"/>
          <p:cNvSpPr txBox="1"/>
          <p:nvPr/>
        </p:nvSpPr>
        <p:spPr>
          <a:xfrm>
            <a:off x="566928" y="4478731"/>
            <a:ext cx="30449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3 · eyes (two, feminine)</a:t>
            </a:r>
            <a:endParaRPr lang="en-US" sz="1100" dirty="0"/>
          </a:p>
        </p:txBody>
      </p:sp>
      <p:sp>
        <p:nvSpPr>
          <p:cNvPr id="41" name="Shape 38"/>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2" name="Text 39"/>
          <p:cNvSpPr txBox="1"/>
          <p:nvPr/>
        </p:nvSpPr>
        <p:spPr>
          <a:xfrm>
            <a:off x="7891272" y="5215738"/>
            <a:ext cx="37490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يَرْتَدِي نَظَّارَةً وَقَمِيصًا أَبْيَضَ.</a:t>
            </a:r>
            <a:endParaRPr lang="ar-SA" sz="2400" dirty="0"/>
          </a:p>
        </p:txBody>
      </p:sp>
      <p:sp>
        <p:nvSpPr>
          <p:cNvPr id="43" name="Text 40"/>
          <p:cNvSpPr txBox="1"/>
          <p:nvPr/>
        </p:nvSpPr>
        <p:spPr>
          <a:xfrm>
            <a:off x="3776472" y="5215738"/>
            <a:ext cx="393192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تَرْتَدِي حِجَابًا أَزْرَقَ.</a:t>
            </a:r>
            <a:endParaRPr lang="ar-SA" sz="2400" dirty="0"/>
          </a:p>
        </p:txBody>
      </p:sp>
      <p:sp>
        <p:nvSpPr>
          <p:cNvPr id="44" name="Text 41"/>
          <p:cNvSpPr txBox="1"/>
          <p:nvPr/>
        </p:nvSpPr>
        <p:spPr>
          <a:xfrm>
            <a:off x="566928" y="5215738"/>
            <a:ext cx="30449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4 · clothes (-an after “wears”)</a:t>
            </a:r>
            <a:endParaRPr lang="en-US" sz="1100" dirty="0"/>
          </a:p>
        </p:txBody>
      </p:sp>
      <p:sp>
        <p:nvSpPr>
          <p:cNvPr id="45" name="Text 4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Website rule: organise the details and avoid judgemental language — describe, don’t judge.</a:t>
            </a:r>
            <a:endParaRPr lang="en-US" sz="1150" dirty="0"/>
          </a:p>
        </p:txBody>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47</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TB-L03 · Appearance and Personality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66" b="1" spc="150" kern="0" dirty="0">
                <a:solidFill>
                  <a:srgbClr val="1B3B6F"/>
                </a:solidFill>
                <a:latin typeface="Calibri" pitchFamily="34" charset="0"/>
                <a:ea typeface="Calibri" pitchFamily="34" charset="-122"/>
                <a:cs typeface="Calibri" pitchFamily="34" charset="-120"/>
              </a:rPr>
              <a:t>GRAMMAR FOCUS · PART 2 · THE ONE WHO … (WEBSITE RULE) · DEVELOP / STRETCH</a:t>
            </a:r>
            <a:endParaRPr lang="en-US" sz="966"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Who is who in the picture?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الَّذِي · الَّتِي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B · Personal and Social Life · TB-L03</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577340" cy="274320"/>
          </a:xfrm>
          <a:prstGeom prst="roundRect">
            <a:avLst>
              <a:gd name="adj" fmla="val 50000"/>
            </a:avLst>
          </a:prstGeom>
          <a:solidFill>
            <a:srgbClr val="1D5FBF"/>
          </a:solidFill>
          <a:ln w="12700">
            <a:solidFill>
              <a:srgbClr val="1D5FBF"/>
            </a:solidFill>
            <a:prstDash val="solid"/>
          </a:ln>
        </p:spPr>
      </p:sp>
      <p:sp>
        <p:nvSpPr>
          <p:cNvPr id="17" name="Text 14"/>
          <p:cNvSpPr txBox="1"/>
          <p:nvPr/>
        </p:nvSpPr>
        <p:spPr>
          <a:xfrm>
            <a:off x="8232648" y="1920240"/>
            <a:ext cx="157734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MASCULINE · DEVELOP</a:t>
            </a:r>
            <a:endParaRPr lang="en-US" sz="850" dirty="0"/>
          </a:p>
        </p:txBody>
      </p:sp>
      <p:sp>
        <p:nvSpPr>
          <p:cNvPr id="18" name="Text 15"/>
          <p:cNvSpPr txBox="1"/>
          <p:nvPr/>
        </p:nvSpPr>
        <p:spPr>
          <a:xfrm>
            <a:off x="9855708" y="1874520"/>
            <a:ext cx="173888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الَّذِي</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buNone/>
            </a:pPr>
            <a:r>
              <a:rPr lang="ar-SA" altLang="en-US" sz="2550" b="1" dirty="0">
                <a:solidFill>
                  <a:srgbClr val="1B3B6F"/>
                </a:solidFill>
                <a:latin typeface="Amiri" pitchFamily="34" charset="0"/>
                <a:ea typeface="Amiri" pitchFamily="34" charset="-122"/>
                <a:cs typeface="Amiri" pitchFamily="34" charset="-120"/>
              </a:rPr>
              <a:t>هُوَ الشَّابُّ الَّذِي يَرْتَدِي نَظَّارَةً.</a:t>
            </a:r>
            <a:endParaRPr lang="ar-SA" sz="255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He is the young man who wears glasses.</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Man / boy → alladhī + ya-.</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508760" cy="274320"/>
          </a:xfrm>
          <a:prstGeom prst="roundRect">
            <a:avLst>
              <a:gd name="adj" fmla="val 50000"/>
            </a:avLst>
          </a:prstGeom>
          <a:solidFill>
            <a:srgbClr val="B83227"/>
          </a:solidFill>
          <a:ln w="12700">
            <a:solidFill>
              <a:srgbClr val="B83227"/>
            </a:solidFill>
            <a:prstDash val="solid"/>
          </a:ln>
        </p:spPr>
      </p:sp>
      <p:sp>
        <p:nvSpPr>
          <p:cNvPr id="25" name="Text 22"/>
          <p:cNvSpPr txBox="1"/>
          <p:nvPr/>
        </p:nvSpPr>
        <p:spPr>
          <a:xfrm>
            <a:off x="4413504" y="1920240"/>
            <a:ext cx="15087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FEMININE · DEVELOP</a:t>
            </a:r>
            <a:endParaRPr lang="en-US" sz="850" dirty="0"/>
          </a:p>
        </p:txBody>
      </p:sp>
      <p:sp>
        <p:nvSpPr>
          <p:cNvPr id="26" name="Text 23"/>
          <p:cNvSpPr txBox="1"/>
          <p:nvPr/>
        </p:nvSpPr>
        <p:spPr>
          <a:xfrm>
            <a:off x="5967984" y="1874520"/>
            <a:ext cx="180746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الَّتِي</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350" b="1" dirty="0">
                <a:solidFill>
                  <a:srgbClr val="1B3B6F"/>
                </a:solidFill>
                <a:latin typeface="Amiri" pitchFamily="34" charset="0"/>
                <a:ea typeface="Amiri" pitchFamily="34" charset="-122"/>
                <a:cs typeface="Amiri" pitchFamily="34" charset="-120"/>
              </a:rPr>
              <a:t>هِيَ الفَتَاةُ الَّتِي لَهَا شَعْرٌ طَوِيلٌ.</a:t>
            </a:r>
            <a:endParaRPr lang="ar-SA" sz="235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She is the girl who has long hair.</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Woman / girl → allatī.</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577340" cy="274320"/>
          </a:xfrm>
          <a:prstGeom prst="roundRect">
            <a:avLst>
              <a:gd name="adj" fmla="val 50000"/>
            </a:avLst>
          </a:prstGeom>
          <a:solidFill>
            <a:srgbClr val="6B4C9A"/>
          </a:solidFill>
          <a:ln w="12700">
            <a:solidFill>
              <a:srgbClr val="6B4C9A"/>
            </a:solidFill>
            <a:prstDash val="solid"/>
          </a:ln>
        </p:spPr>
      </p:sp>
      <p:sp>
        <p:nvSpPr>
          <p:cNvPr id="33" name="Text 30"/>
          <p:cNvSpPr txBox="1"/>
          <p:nvPr/>
        </p:nvSpPr>
        <p:spPr>
          <a:xfrm>
            <a:off x="594360" y="1920240"/>
            <a:ext cx="157734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INFERENCE · STRETCH</a:t>
            </a:r>
            <a:endParaRPr lang="en-US" sz="850" dirty="0"/>
          </a:p>
        </p:txBody>
      </p:sp>
      <p:sp>
        <p:nvSpPr>
          <p:cNvPr id="34" name="Text 31"/>
          <p:cNvSpPr txBox="1"/>
          <p:nvPr/>
        </p:nvSpPr>
        <p:spPr>
          <a:xfrm>
            <a:off x="2217420" y="1874520"/>
            <a:ext cx="173888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يَبْدُو / تَبْدُو</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34" charset="0"/>
                <a:ea typeface="Amiri" pitchFamily="34" charset="-122"/>
                <a:cs typeface="Amiri" pitchFamily="34" charset="-120"/>
              </a:rPr>
              <a:t>يَبْدُو هَادِئًا لِأَنَّهُ يَسْتَمِعُ إِلَى الآخَرِينَ.</a:t>
            </a:r>
            <a:endParaRPr lang="ar-SA" sz="21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He seems calm because he listens to others.</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Behaviour, not looks.</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ea typeface="Calibri" pitchFamily="34" charset="-122"/>
                <a:cs typeface="Calibri" pitchFamily="34" charset="-120"/>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ea typeface="Calibri" pitchFamily="34" charset="-122"/>
                <a:cs typeface="Calibri" pitchFamily="34" charset="-120"/>
              </a:rPr>
              <a:t>Website common error: a masculine person takes alladhī.</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1B3B6F"/>
                </a:solidFill>
                <a:latin typeface="Amiri" pitchFamily="34" charset="0"/>
                <a:ea typeface="Amiri" pitchFamily="34" charset="-122"/>
                <a:cs typeface="Amiri" pitchFamily="34" charset="-120"/>
              </a:rPr>
              <a:t>الوَلَدُ الَّذِي يَرْتَدِي نَظَّارَةً</a:t>
            </a:r>
            <a:endParaRPr lang="ar-SA" sz="165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B83227"/>
                </a:solidFill>
                <a:latin typeface="Amiri" pitchFamily="34" charset="0"/>
                <a:ea typeface="Amiri" pitchFamily="34" charset="-122"/>
                <a:cs typeface="Amiri" pitchFamily="34" charset="-120"/>
              </a:rPr>
              <a:t>الوَلَدُ الَّتِي تَرْتَدِي نَظَّارَةً</a:t>
            </a:r>
            <a:endParaRPr lang="ar-SA" sz="165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47</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TB-L03 · Appearance and Personality</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800" b="1" dirty="0">
                <a:solidFill>
                  <a:srgbClr val="1B3B6F"/>
                </a:solidFill>
                <a:latin typeface="Cambria" pitchFamily="34" charset="0"/>
                <a:ea typeface="Cambria" pitchFamily="34" charset="-122"/>
                <a:cs typeface="Cambria" pitchFamily="34" charset="-120"/>
              </a:rPr>
              <a:t>Physical description, possession and relative clauses</a:t>
            </a:r>
            <a:endParaRPr lang="en-US" sz="1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350" b="1" dirty="0">
                <a:solidFill>
                  <a:srgbClr val="8A6D1E"/>
                </a:solidFill>
                <a:latin typeface="Amiri" pitchFamily="34" charset="0"/>
                <a:ea typeface="Amiri" pitchFamily="34" charset="-122"/>
                <a:cs typeface="Amiri" pitchFamily="34" charset="-120"/>
              </a:rPr>
              <a:t>وَصْفُ المَظْهَرِ وَالمِلْكِيَّةُ وَالجُمَلُ المَوْصُولَةُ</a:t>
            </a:r>
            <a:endParaRPr lang="ar-SA" sz="235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B · Personal and Social Life · TB-L03</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1. Possession with </a:t>
            </a:r>
            <a:pPr algn="l" indent="0" marL="0">
              <a:buNone/>
            </a:pPr>
            <a:r>
              <a:rPr lang="ar-SA" altLang="en-US" sz="1650" b="1" dirty="0">
                <a:solidFill>
                  <a:srgbClr val="1B3B6F"/>
                </a:solidFill>
                <a:latin typeface="Amiri" pitchFamily="34" charset="0"/>
                <a:ea typeface="Amiri" pitchFamily="34" charset="-122"/>
                <a:cs typeface="Amiri" pitchFamily="34" charset="-120"/>
              </a:rPr>
              <a:t>لَهُ / لَهَا</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لَهُ / لَهَا + اِسْمٌ</a:t>
            </a:r>
            <a:endParaRPr lang="ar-SA" sz="13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لَهُ شَعْرٌ قَصِيرٌ.   ·   لَهَا عَيْنَانِ بُنِّيَّتَانِ.</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2. Body-feature agreement</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اِسْمٌ + صِفَةٌ مُطَابِقَةٌ</a:t>
            </a:r>
            <a:endParaRPr lang="ar-SA" sz="13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شَعْرُهَا طَوِيلٌ وَمُجَعَّدٌ.   ·   عَيْنَاهُ زَرْقَاوَانِ.</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3. Relative clause</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الشَّخْصُ الَّذِي / الفَتَاةُ الَّتِي</a:t>
            </a:r>
            <a:endParaRPr lang="ar-SA" sz="13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هُوَ الشَّخْصُ الَّذِي يَرْتَدِي نَظَّارَةً.   ·   هِيَ الفَتَاةُ الَّتِي لَهَا شَعْرٌ طَوِيلٌ.</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4. Respectful portrait order</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القَامَةُ ← الشَّعْرُ ← العَيْنَانِ ← المَلَابِسُ</a:t>
            </a:r>
            <a:endParaRPr lang="ar-SA" sz="13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هِيَ مُتَوَسِّطَةُ القَامَةِ، وَلَهَا شَعْرٌ قَصِيرٌ، وَتَرْتَدِي مِعْطَفًا أَزْرَقَ.</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47</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TB-L03 · Appearance and Personality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B · Personal and Social Life · TB-L03</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“She has long hair.”</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لَهُ شَعْرٌ طَوِيلَةٌ.</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هِيَ شَعْرُهَا طَوِيلَةٌ.</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لَهَا شَعْرٌ طَوِيلٌ.</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boy who wears glasses”.</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الوَلَدُ الَّذِي يَرْتَدِي نَظَّارَةً</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الوَلَدُ الَّتِي تَرْتَدِي نَظَّارَةً</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البِنْتُ الَّذِي يَرْتَدِي</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45" name="Text 42"/>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عَيْنَاهَا ___.</a:t>
            </a:r>
            <a:endParaRPr lang="ar-SA" sz="1500" dirty="0"/>
          </a:p>
        </p:txBody>
      </p:sp>
      <p:sp>
        <p:nvSpPr>
          <p:cNvPr id="46" name="Shape 43"/>
          <p:cNvSpPr/>
          <p:nvPr/>
        </p:nvSpPr>
        <p:spPr>
          <a:xfrm>
            <a:off x="640080" y="4873752"/>
            <a:ext cx="256032" cy="256032"/>
          </a:xfrm>
          <a:prstGeom prst="ellipse">
            <a:avLst/>
          </a:prstGeom>
          <a:solidFill>
            <a:srgbClr val="F4F1EA"/>
          </a:solidFill>
          <a:ln w="12700">
            <a:solidFill>
              <a:srgbClr val="F4F1EA"/>
            </a:solidFill>
            <a:prstDash val="solid"/>
          </a:ln>
        </p:spPr>
      </p:sp>
      <p:sp>
        <p:nvSpPr>
          <p:cNvPr id="47" name="Text 44"/>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8" name="Text 45"/>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بُنِّيٌّ</a:t>
            </a:r>
            <a:endParaRPr lang="ar-SA" sz="2050" dirty="0"/>
          </a:p>
        </p:txBody>
      </p:sp>
      <p:sp>
        <p:nvSpPr>
          <p:cNvPr id="49" name="Shape 46"/>
          <p:cNvSpPr/>
          <p:nvPr/>
        </p:nvSpPr>
        <p:spPr>
          <a:xfrm>
            <a:off x="640080" y="5330952"/>
            <a:ext cx="256032" cy="256032"/>
          </a:xfrm>
          <a:prstGeom prst="ellipse">
            <a:avLst/>
          </a:prstGeom>
          <a:solidFill>
            <a:srgbClr val="F4F1EA"/>
          </a:solidFill>
          <a:ln w="12700">
            <a:solidFill>
              <a:srgbClr val="F4F1EA"/>
            </a:solidFill>
            <a:prstDash val="solid"/>
          </a:ln>
        </p:spPr>
      </p:sp>
      <p:sp>
        <p:nvSpPr>
          <p:cNvPr id="50" name="Text 47"/>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1" name="Text 48"/>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بُنِّيَّتَانِ</a:t>
            </a:r>
            <a:endParaRPr lang="ar-SA" sz="2050" dirty="0"/>
          </a:p>
        </p:txBody>
      </p:sp>
      <p:sp>
        <p:nvSpPr>
          <p:cNvPr id="52" name="Shape 49"/>
          <p:cNvSpPr/>
          <p:nvPr/>
        </p:nvSpPr>
        <p:spPr>
          <a:xfrm>
            <a:off x="640080" y="5788152"/>
            <a:ext cx="256032" cy="256032"/>
          </a:xfrm>
          <a:prstGeom prst="ellipse">
            <a:avLst/>
          </a:prstGeom>
          <a:solidFill>
            <a:srgbClr val="F4F1EA"/>
          </a:solidFill>
          <a:ln w="12700">
            <a:solidFill>
              <a:srgbClr val="F4F1EA"/>
            </a:solidFill>
            <a:prstDash val="solid"/>
          </a:ln>
        </p:spPr>
      </p:sp>
      <p:sp>
        <p:nvSpPr>
          <p:cNvPr id="53" name="Text 50"/>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4" name="Text 51"/>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بُنِّيَّةٌ</a:t>
            </a:r>
            <a:endParaRPr lang="ar-SA" sz="2050" dirty="0"/>
          </a:p>
        </p:txBody>
      </p:sp>
      <p:sp>
        <p:nvSpPr>
          <p:cNvPr id="55" name="Shape 52"/>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6313932" y="4288536"/>
            <a:ext cx="310896" cy="310896"/>
          </a:xfrm>
          <a:prstGeom prst="ellipse">
            <a:avLst/>
          </a:prstGeom>
          <a:solidFill>
            <a:srgbClr val="1B3B6F"/>
          </a:solidFill>
          <a:ln w="12700">
            <a:solidFill>
              <a:srgbClr val="1B3B6F"/>
            </a:solidFill>
            <a:prstDash val="solid"/>
          </a:ln>
        </p:spPr>
      </p:sp>
      <p:sp>
        <p:nvSpPr>
          <p:cNvPr id="57" name="Text 54"/>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8" name="Text 55"/>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accurate hair description.</a:t>
            </a:r>
            <a:endParaRPr lang="en-US" sz="1250" dirty="0"/>
          </a:p>
        </p:txBody>
      </p:sp>
      <p:sp>
        <p:nvSpPr>
          <p:cNvPr id="59" name="Shape 56"/>
          <p:cNvSpPr/>
          <p:nvPr/>
        </p:nvSpPr>
        <p:spPr>
          <a:xfrm>
            <a:off x="6368796" y="4873752"/>
            <a:ext cx="256032" cy="256032"/>
          </a:xfrm>
          <a:prstGeom prst="ellipse">
            <a:avLst/>
          </a:prstGeom>
          <a:solidFill>
            <a:srgbClr val="F4F1EA"/>
          </a:solidFill>
          <a:ln w="12700">
            <a:solidFill>
              <a:srgbClr val="F4F1EA"/>
            </a:solidFill>
            <a:prstDash val="solid"/>
          </a:ln>
        </p:spPr>
      </p:sp>
      <p:sp>
        <p:nvSpPr>
          <p:cNvPr id="60" name="Text 57"/>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1" name="Text 58"/>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شَعْرُهُ قَصِيرٌ وَمُجَعَّدٌ.</a:t>
            </a:r>
            <a:endParaRPr lang="ar-SA" sz="2050" dirty="0"/>
          </a:p>
        </p:txBody>
      </p:sp>
      <p:sp>
        <p:nvSpPr>
          <p:cNvPr id="62" name="Shape 59"/>
          <p:cNvSpPr/>
          <p:nvPr/>
        </p:nvSpPr>
        <p:spPr>
          <a:xfrm>
            <a:off x="6368796" y="53309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4" name="Text 61"/>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شَعْرُهُ قَصِيرَةٌ وَمُجَعَّدَةٌ.</a:t>
            </a:r>
            <a:endParaRPr lang="ar-SA" sz="2050" dirty="0"/>
          </a:p>
        </p:txBody>
      </p:sp>
      <p:sp>
        <p:nvSpPr>
          <p:cNvPr id="65" name="Shape 62"/>
          <p:cNvSpPr/>
          <p:nvPr/>
        </p:nvSpPr>
        <p:spPr>
          <a:xfrm>
            <a:off x="6368796" y="57881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7" name="Text 64"/>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شَعْرُهَا قَصِيرًا.</a:t>
            </a:r>
            <a:endParaRPr lang="ar-SA" sz="2050" dirty="0"/>
          </a:p>
        </p:txBody>
      </p:sp>
      <p:sp>
        <p:nvSpPr>
          <p:cNvPr id="68" name="Text 6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47</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TB-L03 · Appearance and Personality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B · Personal and Social Life · TB-L03</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“She has long hair.”</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لَهُ شَعْرٌ طَوِيلَةٌ.</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هِيَ شَعْرُهَا طَوِيلَةٌ.</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لَهَا شَعْرٌ طَوِيلٌ.</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لَهَا</a:t>
            </a:r>
            <a:pPr algn="l" indent="0" marL="0">
              <a:buNone/>
            </a:pPr>
            <a:r>
              <a:rPr lang="en-US" sz="1050" i="1" dirty="0">
                <a:solidFill>
                  <a:srgbClr val="8A6D1E"/>
                </a:solidFill>
                <a:latin typeface="Calibri" pitchFamily="34" charset="0"/>
                <a:ea typeface="Calibri" pitchFamily="34" charset="-122"/>
                <a:cs typeface="Calibri" pitchFamily="34" charset="-120"/>
              </a:rPr>
              <a:t> + masculine </a:t>
            </a:r>
            <a:pPr algn="l" indent="0" marL="0">
              <a:buNone/>
            </a:pPr>
            <a:r>
              <a:rPr lang="ar-SA" altLang="en-US" sz="1350" dirty="0">
                <a:solidFill>
                  <a:srgbClr val="8A6D1E"/>
                </a:solidFill>
                <a:latin typeface="Amiri" pitchFamily="34" charset="0"/>
                <a:ea typeface="Amiri" pitchFamily="34" charset="-122"/>
                <a:cs typeface="Amiri" pitchFamily="34" charset="-120"/>
              </a:rPr>
              <a:t>شَعْرٌ</a:t>
            </a:r>
            <a:pPr algn="l" indent="0" marL="0">
              <a:buNone/>
            </a:pPr>
            <a:r>
              <a:rPr lang="en-US" sz="1050" i="1" dirty="0">
                <a:solidFill>
                  <a:srgbClr val="8A6D1E"/>
                </a:solidFill>
                <a:latin typeface="Calibri" pitchFamily="34" charset="0"/>
                <a:ea typeface="Calibri" pitchFamily="34" charset="-122"/>
                <a:cs typeface="Calibri" pitchFamily="34" charset="-120"/>
              </a:rPr>
              <a:t> + </a:t>
            </a:r>
            <a:pPr algn="l" indent="0" marL="0">
              <a:buNone/>
            </a:pPr>
            <a:r>
              <a:rPr lang="ar-SA" altLang="en-US" sz="1350" dirty="0">
                <a:solidFill>
                  <a:srgbClr val="8A6D1E"/>
                </a:solidFill>
                <a:latin typeface="Amiri" pitchFamily="34" charset="0"/>
                <a:ea typeface="Amiri" pitchFamily="34" charset="-122"/>
                <a:cs typeface="Amiri" pitchFamily="34" charset="-120"/>
              </a:rPr>
              <a:t>طَوِيلٌ</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boy who wears glasses”.</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الوَلَدُ الَّذِي يَرْتَدِي نَظَّارَةً</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الوَلَدُ الَّتِي تَرْتَدِي نَظَّارَةً</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البِنْتُ الَّذِي يَرْتَدِي</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Masculine antecedent takes </a:t>
            </a:r>
            <a:pPr algn="l" indent="0" marL="0">
              <a:buNone/>
            </a:pPr>
            <a:r>
              <a:rPr lang="ar-SA" altLang="en-US" sz="1350" dirty="0">
                <a:solidFill>
                  <a:srgbClr val="8A6D1E"/>
                </a:solidFill>
                <a:latin typeface="Amiri" pitchFamily="34" charset="0"/>
                <a:ea typeface="Amiri" pitchFamily="34" charset="-122"/>
                <a:cs typeface="Amiri" pitchFamily="34" charset="-120"/>
              </a:rPr>
              <a:t>الذي</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49" name="Text 46"/>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عَيْنَاهَا ___.</a:t>
            </a:r>
            <a:endParaRPr lang="ar-SA" sz="1500" dirty="0"/>
          </a:p>
        </p:txBody>
      </p:sp>
      <p:sp>
        <p:nvSpPr>
          <p:cNvPr id="50" name="Shape 47"/>
          <p:cNvSpPr/>
          <p:nvPr/>
        </p:nvSpPr>
        <p:spPr>
          <a:xfrm>
            <a:off x="640080" y="4831080"/>
            <a:ext cx="256032" cy="256032"/>
          </a:xfrm>
          <a:prstGeom prst="ellipse">
            <a:avLst/>
          </a:prstGeom>
          <a:solidFill>
            <a:srgbClr val="C9CED6"/>
          </a:solidFill>
          <a:ln w="12700">
            <a:solidFill>
              <a:srgbClr val="C9CED6"/>
            </a:solidFill>
            <a:prstDash val="solid"/>
          </a:ln>
        </p:spPr>
      </p:sp>
      <p:sp>
        <p:nvSpPr>
          <p:cNvPr id="51" name="Text 48"/>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بُنِّيٌّ</a:t>
            </a:r>
            <a:endParaRPr lang="ar-SA" sz="1700" dirty="0"/>
          </a:p>
        </p:txBody>
      </p:sp>
      <p:sp>
        <p:nvSpPr>
          <p:cNvPr id="53" name="Shape 50"/>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4" name="Shape 51"/>
          <p:cNvSpPr/>
          <p:nvPr/>
        </p:nvSpPr>
        <p:spPr>
          <a:xfrm>
            <a:off x="640080" y="5202936"/>
            <a:ext cx="256032" cy="256032"/>
          </a:xfrm>
          <a:prstGeom prst="ellipse">
            <a:avLst/>
          </a:prstGeom>
          <a:solidFill>
            <a:srgbClr val="2E8B57"/>
          </a:solidFill>
          <a:ln w="12700">
            <a:solidFill>
              <a:srgbClr val="2E8B57"/>
            </a:solidFill>
            <a:prstDash val="solid"/>
          </a:ln>
        </p:spPr>
      </p:sp>
      <p:sp>
        <p:nvSpPr>
          <p:cNvPr id="55" name="Text 52"/>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6" name="Text 53"/>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بُنِّيَّتَانِ</a:t>
            </a:r>
            <a:endParaRPr lang="ar-SA" sz="1700" dirty="0"/>
          </a:p>
        </p:txBody>
      </p:sp>
      <p:sp>
        <p:nvSpPr>
          <p:cNvPr id="57" name="Shape 54"/>
          <p:cNvSpPr/>
          <p:nvPr/>
        </p:nvSpPr>
        <p:spPr>
          <a:xfrm>
            <a:off x="640080" y="5574792"/>
            <a:ext cx="256032" cy="256032"/>
          </a:xfrm>
          <a:prstGeom prst="ellipse">
            <a:avLst/>
          </a:prstGeom>
          <a:solidFill>
            <a:srgbClr val="C9CED6"/>
          </a:solidFill>
          <a:ln w="12700">
            <a:solidFill>
              <a:srgbClr val="C9CED6"/>
            </a:solidFill>
            <a:prstDash val="solid"/>
          </a:ln>
        </p:spPr>
      </p:sp>
      <p:sp>
        <p:nvSpPr>
          <p:cNvPr id="58" name="Text 55"/>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9" name="Text 56"/>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بُنِّيَّةٌ</a:t>
            </a:r>
            <a:endParaRPr lang="ar-SA" sz="1700" dirty="0"/>
          </a:p>
        </p:txBody>
      </p:sp>
      <p:sp>
        <p:nvSpPr>
          <p:cNvPr id="60" name="Text 57"/>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Dual feminine agreement.</a:t>
            </a:r>
            <a:endParaRPr lang="en-US" sz="1050" dirty="0"/>
          </a:p>
        </p:txBody>
      </p:sp>
      <p:sp>
        <p:nvSpPr>
          <p:cNvPr id="61" name="Shape 58"/>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59"/>
          <p:cNvSpPr/>
          <p:nvPr/>
        </p:nvSpPr>
        <p:spPr>
          <a:xfrm>
            <a:off x="6313932" y="4288536"/>
            <a:ext cx="310896" cy="310896"/>
          </a:xfrm>
          <a:prstGeom prst="ellipse">
            <a:avLst/>
          </a:prstGeom>
          <a:solidFill>
            <a:srgbClr val="1B3B6F"/>
          </a:solidFill>
          <a:ln w="12700">
            <a:solidFill>
              <a:srgbClr val="1B3B6F"/>
            </a:solidFill>
            <a:prstDash val="solid"/>
          </a:ln>
        </p:spPr>
      </p:sp>
      <p:sp>
        <p:nvSpPr>
          <p:cNvPr id="63" name="Text 60"/>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4" name="Text 61"/>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accurate hair description.</a:t>
            </a:r>
            <a:endParaRPr lang="en-US" sz="1250" dirty="0"/>
          </a:p>
        </p:txBody>
      </p:sp>
      <p:sp>
        <p:nvSpPr>
          <p:cNvPr id="65" name="Shape 62"/>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6" name="Shape 63"/>
          <p:cNvSpPr/>
          <p:nvPr/>
        </p:nvSpPr>
        <p:spPr>
          <a:xfrm>
            <a:off x="6368796" y="4831080"/>
            <a:ext cx="256032" cy="256032"/>
          </a:xfrm>
          <a:prstGeom prst="ellipse">
            <a:avLst/>
          </a:prstGeom>
          <a:solidFill>
            <a:srgbClr val="2E8B57"/>
          </a:solidFill>
          <a:ln w="12700">
            <a:solidFill>
              <a:srgbClr val="2E8B57"/>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شَعْرُهُ قَصِيرٌ وَمُجَعَّدٌ.</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شَعْرُهُ قَصِيرَةٌ وَمُجَعَّدَةٌ.</a:t>
            </a:r>
            <a:endParaRPr lang="ar-SA" sz="1700" dirty="0"/>
          </a:p>
        </p:txBody>
      </p:sp>
      <p:sp>
        <p:nvSpPr>
          <p:cNvPr id="72" name="Shape 69"/>
          <p:cNvSpPr/>
          <p:nvPr/>
        </p:nvSpPr>
        <p:spPr>
          <a:xfrm>
            <a:off x="6368796" y="5574792"/>
            <a:ext cx="256032" cy="256032"/>
          </a:xfrm>
          <a:prstGeom prst="ellipse">
            <a:avLst/>
          </a:prstGeom>
          <a:solidFill>
            <a:srgbClr val="C9CED6"/>
          </a:solidFill>
          <a:ln w="12700">
            <a:solidFill>
              <a:srgbClr val="C9CED6"/>
            </a:solidFill>
            <a:prstDash val="solid"/>
          </a:ln>
        </p:spPr>
      </p:sp>
      <p:sp>
        <p:nvSpPr>
          <p:cNvPr id="73" name="Text 70"/>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4" name="Text 71"/>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شَعْرُهَا قَصِيرًا.</a:t>
            </a:r>
            <a:endParaRPr lang="ar-SA" sz="1700" dirty="0"/>
          </a:p>
        </p:txBody>
      </p:sp>
      <p:sp>
        <p:nvSpPr>
          <p:cNvPr id="75" name="Text 72"/>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شَعْرٌ</a:t>
            </a:r>
            <a:pPr algn="l" indent="0" marL="0">
              <a:buNone/>
            </a:pPr>
            <a:r>
              <a:rPr lang="en-US" sz="1050" i="1" dirty="0">
                <a:solidFill>
                  <a:srgbClr val="8A6D1E"/>
                </a:solidFill>
                <a:latin typeface="Calibri" pitchFamily="34" charset="0"/>
                <a:ea typeface="Calibri" pitchFamily="34" charset="-122"/>
                <a:cs typeface="Calibri" pitchFamily="34" charset="-120"/>
              </a:rPr>
              <a:t> is masculine.</a:t>
            </a:r>
            <a:endParaRPr lang="en-US" sz="1050" dirty="0"/>
          </a:p>
        </p:txBody>
      </p:sp>
      <p:sp>
        <p:nvSpPr>
          <p:cNvPr id="76" name="Text 7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47</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TB-L03 · Appearance and Personality</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50" b="1" dirty="0">
                <a:solidFill>
                  <a:srgbClr val="1B3B6F"/>
                </a:solidFill>
                <a:latin typeface="Cambria" pitchFamily="34" charset="0"/>
                <a:ea typeface="Cambria" pitchFamily="34" charset="-122"/>
                <a:cs typeface="Cambria" pitchFamily="34" charset="-120"/>
              </a:rPr>
              <a:t>Watch me describe a person in a picture</a:t>
            </a:r>
            <a:endParaRPr lang="en-US" sz="23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B · Personal and Social Life · TB-L03</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Height</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هِيَ مُتَوَسِّطَ</a:t>
            </a:r>
            <a:pPr rtl="1" algn="ctr" indent="0" marL="0">
              <a:buNone/>
            </a:pPr>
            <a:r>
              <a:rPr lang="ar-SA" altLang="en-US" sz="2800" b="1" dirty="0">
                <a:solidFill>
                  <a:srgbClr val="D6336C"/>
                </a:solidFill>
                <a:latin typeface="Amiri" pitchFamily="34" charset="0"/>
                <a:ea typeface="Amiri" pitchFamily="34" charset="-122"/>
                <a:cs typeface="Amiri" pitchFamily="34" charset="-120"/>
              </a:rPr>
              <a:t>ةُ</a:t>
            </a:r>
            <a:pPr rtl="1" algn="ctr" indent="0" marL="0">
              <a:buNone/>
            </a:pPr>
            <a:r>
              <a:rPr lang="ar-SA" altLang="en-US" sz="2800" b="1" dirty="0">
                <a:solidFill>
                  <a:srgbClr val="1B3B6F"/>
                </a:solidFill>
                <a:latin typeface="Amiri" pitchFamily="34" charset="0"/>
                <a:ea typeface="Amiri" pitchFamily="34" charset="-122"/>
                <a:cs typeface="Amiri" pitchFamily="34" charset="-120"/>
              </a:rPr>
              <a:t> القَامَةِ.</a:t>
            </a:r>
            <a:endParaRPr lang="ar-SA" sz="28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She → -atu.</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Hair</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400" b="1" dirty="0">
                <a:solidFill>
                  <a:srgbClr val="D6336C"/>
                </a:solidFill>
                <a:latin typeface="Amiri" pitchFamily="34" charset="0"/>
                <a:ea typeface="Amiri" pitchFamily="34" charset="-122"/>
                <a:cs typeface="Amiri" pitchFamily="34" charset="-120"/>
              </a:rPr>
              <a:t>لَهَا</a:t>
            </a:r>
            <a:pPr rtl="1" algn="ctr" indent="0" marL="0">
              <a:buNone/>
            </a:pPr>
            <a:r>
              <a:rPr lang="ar-SA" altLang="en-US" sz="2400" b="1" dirty="0">
                <a:solidFill>
                  <a:srgbClr val="1B3B6F"/>
                </a:solidFill>
                <a:latin typeface="Amiri" pitchFamily="34" charset="0"/>
                <a:ea typeface="Amiri" pitchFamily="34" charset="-122"/>
                <a:cs typeface="Amiri" pitchFamily="34" charset="-120"/>
              </a:rPr>
              <a:t> شَعْرٌ طَوِيلٌ مُسْتَقِيمٌ.</a:t>
            </a:r>
            <a:endParaRPr lang="ar-SA" sz="24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She has … hair is masc.</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Eyes</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عَيْنَا</a:t>
            </a:r>
            <a:pPr rtl="1" algn="ctr" indent="0" marL="0">
              <a:buNone/>
            </a:pPr>
            <a:r>
              <a:rPr lang="ar-SA" altLang="en-US" sz="2800" b="1" dirty="0">
                <a:solidFill>
                  <a:srgbClr val="D6336C"/>
                </a:solidFill>
                <a:latin typeface="Amiri" pitchFamily="34" charset="0"/>
                <a:ea typeface="Amiri" pitchFamily="34" charset="-122"/>
                <a:cs typeface="Amiri" pitchFamily="34" charset="-120"/>
              </a:rPr>
              <a:t>هَا</a:t>
            </a:r>
            <a:pPr rtl="1" algn="ctr" indent="0" marL="0">
              <a:buNone/>
            </a:pPr>
            <a:r>
              <a:rPr lang="ar-SA" altLang="en-US" sz="2800" b="1" dirty="0">
                <a:solidFill>
                  <a:srgbClr val="1B3B6F"/>
                </a:solidFill>
                <a:latin typeface="Amiri" pitchFamily="34" charset="0"/>
                <a:ea typeface="Amiri" pitchFamily="34" charset="-122"/>
                <a:cs typeface="Amiri" pitchFamily="34" charset="-120"/>
              </a:rPr>
              <a:t> بُنِّيَّتَ</a:t>
            </a:r>
            <a:pPr rtl="1" algn="ctr" indent="0" marL="0">
              <a:buNone/>
            </a:pPr>
            <a:r>
              <a:rPr lang="ar-SA" altLang="en-US" sz="2800" b="1" dirty="0">
                <a:solidFill>
                  <a:srgbClr val="0E7C86"/>
                </a:solidFill>
                <a:latin typeface="Amiri" pitchFamily="34" charset="0"/>
                <a:ea typeface="Amiri" pitchFamily="34" charset="-122"/>
                <a:cs typeface="Amiri" pitchFamily="34" charset="-120"/>
              </a:rPr>
              <a:t>انِ</a:t>
            </a:r>
            <a:pPr rtl="1" algn="ctr" indent="0" marL="0">
              <a:buNone/>
            </a:pPr>
            <a:r>
              <a:rPr lang="ar-SA" altLang="en-US" sz="2800" b="1" dirty="0">
                <a:solidFill>
                  <a:srgbClr val="1B3B6F"/>
                </a:solidFill>
                <a:latin typeface="Amiri" pitchFamily="34" charset="0"/>
                <a:ea typeface="Amiri" pitchFamily="34" charset="-122"/>
                <a:cs typeface="Amiri" pitchFamily="34" charset="-120"/>
              </a:rPr>
              <a:t>.</a:t>
            </a:r>
            <a:endParaRPr lang="ar-SA" sz="28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Two eyes → dual.</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Who + clothes</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هِيَ الفَتَاةُ </a:t>
            </a:r>
            <a:pPr rtl="1" algn="ctr" indent="0" marL="0">
              <a:lnSpc>
                <a:spcPct val="120000"/>
              </a:lnSpc>
              <a:buNone/>
            </a:pPr>
            <a:r>
              <a:rPr lang="ar-SA" altLang="en-US" sz="1750" b="1" dirty="0">
                <a:solidFill>
                  <a:srgbClr val="1D5FBF"/>
                </a:solidFill>
                <a:latin typeface="Amiri" pitchFamily="34" charset="0"/>
                <a:ea typeface="Amiri" pitchFamily="34" charset="-122"/>
                <a:cs typeface="Amiri" pitchFamily="34" charset="-120"/>
              </a:rPr>
              <a:t>الَّتِي</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 تَرْتَدِي مِعْطَفًا أَزْرَقَ.</a:t>
            </a:r>
            <a:endParaRPr lang="ar-SA" sz="175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Girl → allatī.</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ea typeface="Calibri" pitchFamily="34" charset="-122"/>
                <a:cs typeface="Calibri" pitchFamily="34" charset="-120"/>
              </a:rPr>
              <a:t>COPY THIS INTO YOUR BOOK</a:t>
            </a:r>
            <a:endParaRPr lang="en-US" sz="1200" dirty="0"/>
          </a:p>
        </p:txBody>
      </p:sp>
      <p:sp>
        <p:nvSpPr>
          <p:cNvPr id="45" name="Shape 41"/>
          <p:cNvSpPr/>
          <p:nvPr/>
        </p:nvSpPr>
        <p:spPr>
          <a:xfrm>
            <a:off x="8540496" y="4736592"/>
            <a:ext cx="914400" cy="237744"/>
          </a:xfrm>
          <a:prstGeom prst="roundRect">
            <a:avLst>
              <a:gd name="adj" fmla="val 50000"/>
            </a:avLst>
          </a:prstGeom>
          <a:solidFill>
            <a:srgbClr val="D6336C"/>
          </a:solidFill>
          <a:ln w="12700">
            <a:solidFill>
              <a:srgbClr val="D6336C"/>
            </a:solidFill>
            <a:prstDash val="solid"/>
          </a:ln>
        </p:spPr>
      </p:sp>
      <p:sp>
        <p:nvSpPr>
          <p:cNvPr id="46" name="Text 42"/>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SHE / HER</a:t>
            </a:r>
            <a:endParaRPr lang="en-US" sz="800" dirty="0"/>
          </a:p>
        </p:txBody>
      </p:sp>
      <p:sp>
        <p:nvSpPr>
          <p:cNvPr id="47" name="Shape 43"/>
          <p:cNvSpPr/>
          <p:nvPr/>
        </p:nvSpPr>
        <p:spPr>
          <a:xfrm>
            <a:off x="9528048" y="4736592"/>
            <a:ext cx="914400" cy="237744"/>
          </a:xfrm>
          <a:prstGeom prst="roundRect">
            <a:avLst>
              <a:gd name="adj" fmla="val 50000"/>
            </a:avLst>
          </a:prstGeom>
          <a:solidFill>
            <a:srgbClr val="0E7C86"/>
          </a:solidFill>
          <a:ln w="12700">
            <a:solidFill>
              <a:srgbClr val="0E7C86"/>
            </a:solidFill>
            <a:prstDash val="solid"/>
          </a:ln>
        </p:spPr>
      </p:sp>
      <p:sp>
        <p:nvSpPr>
          <p:cNvPr id="48" name="Text 44"/>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DUAL</a:t>
            </a:r>
            <a:endParaRPr lang="en-US" sz="800" dirty="0"/>
          </a:p>
        </p:txBody>
      </p:sp>
      <p:sp>
        <p:nvSpPr>
          <p:cNvPr id="49" name="Shape 45"/>
          <p:cNvSpPr/>
          <p:nvPr/>
        </p:nvSpPr>
        <p:spPr>
          <a:xfrm>
            <a:off x="10515600" y="4736592"/>
            <a:ext cx="914400" cy="237744"/>
          </a:xfrm>
          <a:prstGeom prst="roundRect">
            <a:avLst>
              <a:gd name="adj" fmla="val 50000"/>
            </a:avLst>
          </a:prstGeom>
          <a:solidFill>
            <a:srgbClr val="1D5FBF"/>
          </a:solidFill>
          <a:ln w="12700">
            <a:solidFill>
              <a:srgbClr val="1D5FBF"/>
            </a:solidFill>
            <a:prstDash val="solid"/>
          </a:ln>
        </p:spPr>
      </p:sp>
      <p:sp>
        <p:nvSpPr>
          <p:cNvPr id="50" name="Text 46"/>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WHO</a:t>
            </a:r>
            <a:endParaRPr lang="en-US" sz="800" dirty="0"/>
          </a:p>
        </p:txBody>
      </p:sp>
      <p:sp>
        <p:nvSpPr>
          <p:cNvPr id="51" name="Text 47"/>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34" charset="0"/>
                <a:ea typeface="Amiri" pitchFamily="34" charset="-122"/>
                <a:cs typeface="Amiri" pitchFamily="34" charset="-120"/>
              </a:rPr>
              <a:t>هِيَ مُتَوَسِّطَ</a:t>
            </a:r>
            <a:pPr rtl="1" algn="r" indent="0" marL="0">
              <a:lnSpc>
                <a:spcPct val="120000"/>
              </a:lnSpc>
              <a:buNone/>
            </a:pPr>
            <a:r>
              <a:rPr lang="ar-SA" altLang="en-US" sz="1550" b="1" dirty="0">
                <a:solidFill>
                  <a:srgbClr val="D6336C"/>
                </a:solidFill>
                <a:latin typeface="Amiri" pitchFamily="34" charset="0"/>
                <a:ea typeface="Amiri" pitchFamily="34" charset="-122"/>
                <a:cs typeface="Amiri" pitchFamily="34" charset="-120"/>
              </a:rPr>
              <a:t>ةُ</a:t>
            </a:r>
            <a:pPr rtl="1" algn="r" indent="0" marL="0">
              <a:lnSpc>
                <a:spcPct val="120000"/>
              </a:lnSpc>
              <a:buNone/>
            </a:pPr>
            <a:r>
              <a:rPr lang="ar-SA" altLang="en-US" sz="1550" b="1" dirty="0">
                <a:solidFill>
                  <a:srgbClr val="1B3B6F"/>
                </a:solidFill>
                <a:latin typeface="Amiri" pitchFamily="34" charset="0"/>
                <a:ea typeface="Amiri" pitchFamily="34" charset="-122"/>
                <a:cs typeface="Amiri" pitchFamily="34" charset="-120"/>
              </a:rPr>
              <a:t> القَامَةِ، وَ</a:t>
            </a:r>
            <a:pPr rtl="1" algn="r" indent="0" marL="0">
              <a:lnSpc>
                <a:spcPct val="120000"/>
              </a:lnSpc>
              <a:buNone/>
            </a:pPr>
            <a:r>
              <a:rPr lang="ar-SA" altLang="en-US" sz="1550" b="1" dirty="0">
                <a:solidFill>
                  <a:srgbClr val="D6336C"/>
                </a:solidFill>
                <a:latin typeface="Amiri" pitchFamily="34" charset="0"/>
                <a:ea typeface="Amiri" pitchFamily="34" charset="-122"/>
                <a:cs typeface="Amiri" pitchFamily="34" charset="-120"/>
              </a:rPr>
              <a:t>لَهَا</a:t>
            </a:r>
            <a:pPr rtl="1" algn="r" indent="0" marL="0">
              <a:lnSpc>
                <a:spcPct val="120000"/>
              </a:lnSpc>
              <a:buNone/>
            </a:pPr>
            <a:r>
              <a:rPr lang="ar-SA" altLang="en-US" sz="1550" b="1" dirty="0">
                <a:solidFill>
                  <a:srgbClr val="1B3B6F"/>
                </a:solidFill>
                <a:latin typeface="Amiri" pitchFamily="34" charset="0"/>
                <a:ea typeface="Amiri" pitchFamily="34" charset="-122"/>
                <a:cs typeface="Amiri" pitchFamily="34" charset="-120"/>
              </a:rPr>
              <a:t> شَعْرٌ طَوِيلٌ مُسْتَقِيمٌ، وَعَيْنَا</a:t>
            </a:r>
            <a:pPr rtl="1" algn="r" indent="0" marL="0">
              <a:lnSpc>
                <a:spcPct val="120000"/>
              </a:lnSpc>
              <a:buNone/>
            </a:pPr>
            <a:r>
              <a:rPr lang="ar-SA" altLang="en-US" sz="1550" b="1" dirty="0">
                <a:solidFill>
                  <a:srgbClr val="D6336C"/>
                </a:solidFill>
                <a:latin typeface="Amiri" pitchFamily="34" charset="0"/>
                <a:ea typeface="Amiri" pitchFamily="34" charset="-122"/>
                <a:cs typeface="Amiri" pitchFamily="34" charset="-120"/>
              </a:rPr>
              <a:t>هَا</a:t>
            </a:r>
            <a:pPr rtl="1" algn="r" indent="0" marL="0">
              <a:lnSpc>
                <a:spcPct val="120000"/>
              </a:lnSpc>
              <a:buNone/>
            </a:pPr>
            <a:r>
              <a:rPr lang="ar-SA" altLang="en-US" sz="1550" b="1" dirty="0">
                <a:solidFill>
                  <a:srgbClr val="1B3B6F"/>
                </a:solidFill>
                <a:latin typeface="Amiri" pitchFamily="34" charset="0"/>
                <a:ea typeface="Amiri" pitchFamily="34" charset="-122"/>
                <a:cs typeface="Amiri" pitchFamily="34" charset="-120"/>
              </a:rPr>
              <a:t> بُنِّيَّتَ</a:t>
            </a:r>
            <a:pPr rtl="1" algn="r" indent="0" marL="0">
              <a:lnSpc>
                <a:spcPct val="120000"/>
              </a:lnSpc>
              <a:buNone/>
            </a:pPr>
            <a:r>
              <a:rPr lang="ar-SA" altLang="en-US" sz="1550" b="1" dirty="0">
                <a:solidFill>
                  <a:srgbClr val="0E7C86"/>
                </a:solidFill>
                <a:latin typeface="Amiri" pitchFamily="34" charset="0"/>
                <a:ea typeface="Amiri" pitchFamily="34" charset="-122"/>
                <a:cs typeface="Amiri" pitchFamily="34" charset="-120"/>
              </a:rPr>
              <a:t>انِ</a:t>
            </a:r>
            <a:pPr rtl="1" algn="r" indent="0" marL="0">
              <a:lnSpc>
                <a:spcPct val="120000"/>
              </a:lnSpc>
              <a:buNone/>
            </a:pPr>
            <a:r>
              <a:rPr lang="ar-SA" altLang="en-US" sz="1550" b="1" dirty="0">
                <a:solidFill>
                  <a:srgbClr val="1B3B6F"/>
                </a:solidFill>
                <a:latin typeface="Amiri" pitchFamily="34" charset="0"/>
                <a:ea typeface="Amiri" pitchFamily="34" charset="-122"/>
                <a:cs typeface="Amiri" pitchFamily="34" charset="-120"/>
              </a:rPr>
              <a:t>. هِيَ الفَتَاةُ </a:t>
            </a:r>
            <a:pPr rtl="1" algn="r" indent="0" marL="0">
              <a:lnSpc>
                <a:spcPct val="120000"/>
              </a:lnSpc>
              <a:buNone/>
            </a:pPr>
            <a:r>
              <a:rPr lang="ar-SA" altLang="en-US" sz="1550" b="1" dirty="0">
                <a:solidFill>
                  <a:srgbClr val="1D5FBF"/>
                </a:solidFill>
                <a:latin typeface="Amiri" pitchFamily="34" charset="0"/>
                <a:ea typeface="Amiri" pitchFamily="34" charset="-122"/>
                <a:cs typeface="Amiri" pitchFamily="34" charset="-120"/>
              </a:rPr>
              <a:t>الَّتِي</a:t>
            </a:r>
            <a:pPr rtl="1" algn="r" indent="0" marL="0">
              <a:lnSpc>
                <a:spcPct val="120000"/>
              </a:lnSpc>
              <a:buNone/>
            </a:pPr>
            <a:r>
              <a:rPr lang="ar-SA" altLang="en-US" sz="1550" b="1" dirty="0">
                <a:solidFill>
                  <a:srgbClr val="1B3B6F"/>
                </a:solidFill>
                <a:latin typeface="Amiri" pitchFamily="34" charset="0"/>
                <a:ea typeface="Amiri" pitchFamily="34" charset="-122"/>
                <a:cs typeface="Amiri" pitchFamily="34" charset="-120"/>
              </a:rPr>
              <a:t> تَرْتَدِي مِعْطَفًا أَزْرَقَ وَحَقِيبَةً سَوْدَاءَ. تَبْدُو وَاثِقَةً لِأَنَّهَا تَتَحَدَّثُ مَعَ الجَمِيعِ.</a:t>
            </a:r>
            <a:endParaRPr lang="ar-SA" sz="1550" dirty="0"/>
          </a:p>
        </p:txBody>
      </p:sp>
      <p:sp>
        <p:nvSpPr>
          <p:cNvPr id="52" name="Text 48"/>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ea typeface="Calibri" pitchFamily="34" charset="-122"/>
                <a:cs typeface="Calibri" pitchFamily="34" charset="-120"/>
              </a:rPr>
              <a:t>She is of medium height, she has long straight hair, and her eyes are brown. She is the girl who is wearing a blue coat and a black bag. She seems confident because she talks to everyone.</a:t>
            </a:r>
            <a:endParaRPr lang="en-US" sz="1100" dirty="0"/>
          </a:p>
        </p:txBody>
      </p:sp>
      <p:sp>
        <p:nvSpPr>
          <p:cNvPr id="53"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47</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TB-L03 · Appearance and Personality</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B · Personal and Social Life · TB-L03</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لَهُ شَعْرٌ قَصِيرٌ.</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He has short hair.</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lahu = he has.</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لَهَا عَيْنَانِ بُنِّيَّتَانِ.</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She has brown eyes.</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Dual feminine agreement.</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هُوَ الشَّخْصُ الَّذِي يَرْتَدِي نَظَّارَةً.</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He is the person who wears glasses.</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alladhī for a man.</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500" b="1" dirty="0">
                <a:solidFill>
                  <a:srgbClr val="1B3B6F"/>
                </a:solidFill>
                <a:latin typeface="Amiri" pitchFamily="34" charset="0"/>
                <a:ea typeface="Amiri" pitchFamily="34" charset="-122"/>
                <a:cs typeface="Amiri" pitchFamily="34" charset="-120"/>
              </a:rPr>
              <a:t>هِيَ مُتَوَسِّطَةُ القَامَةِ، وَلَهَا شَعْرٌ قَصِيرٌ، وَتَرْتَدِي مِعْطَفًا أَزْرَقَ.</a:t>
            </a:r>
            <a:endParaRPr lang="ar-SA" sz="25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She is of medium height, has short hair and wears a blue coat.</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Portrait order.</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47</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TB-L03 · Appearance and Personality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2F6FB0"/>
                </a:solidFill>
                <a:latin typeface="Calibri" pitchFamily="34" charset="0"/>
                <a:ea typeface="Calibri" pitchFamily="34" charset="-122"/>
                <a:cs typeface="Calibri" pitchFamily="34" charset="-120"/>
              </a:rPr>
              <a:t>WE DO · PICTURE MATCH · WEBSITE GAME “VISUAL GAME — DESCRIBING APPEARANCE — A FULL PHYSICAL PORTRAIT”</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Who is it? Match the picture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صِفِ الشَّخْصَ</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B · Personal and Social Life · TB-L03</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tall</a:t>
            </a:r>
            <a:endParaRPr lang="en-US" sz="1100" dirty="0"/>
          </a:p>
        </p:txBody>
      </p:sp>
      <p:sp>
        <p:nvSpPr>
          <p:cNvPr id="23" name="Shape 18"/>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4404360" y="1938528"/>
            <a:ext cx="365760" cy="365760"/>
          </a:xfrm>
          <a:prstGeom prst="ellipse">
            <a:avLst/>
          </a:prstGeom>
          <a:solidFill>
            <a:srgbClr val="1B3B6F"/>
          </a:solidFill>
          <a:ln w="12700">
            <a:solidFill>
              <a:srgbClr val="1B3B6F"/>
            </a:solidFill>
            <a:prstDash val="solid"/>
          </a:ln>
        </p:spPr>
      </p:sp>
      <p:sp>
        <p:nvSpPr>
          <p:cNvPr id="25" name="Text 20"/>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26" name="Shape 21"/>
          <p:cNvSpPr/>
          <p:nvPr/>
        </p:nvSpPr>
        <p:spPr>
          <a:xfrm>
            <a:off x="4992624" y="2066544"/>
            <a:ext cx="1014984" cy="1014984"/>
          </a:xfrm>
          <a:prstGeom prst="ellipse">
            <a:avLst/>
          </a:prstGeom>
          <a:solidFill>
            <a:srgbClr val="F4F1EA"/>
          </a:solidFill>
          <a:ln w="12700">
            <a:solidFill>
              <a:srgbClr val="F4F1EA"/>
            </a:solidFill>
            <a:prstDash val="solid"/>
          </a:ln>
        </p:spPr>
      </p:sp>
      <p:pic>
        <p:nvPicPr>
          <p:cNvPr id="27"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28" name="Shape 22"/>
          <p:cNvSpPr/>
          <p:nvPr/>
        </p:nvSpPr>
        <p:spPr>
          <a:xfrm>
            <a:off x="6181344" y="2066544"/>
            <a:ext cx="1014984" cy="1014984"/>
          </a:xfrm>
          <a:prstGeom prst="ellipse">
            <a:avLst/>
          </a:prstGeom>
          <a:solidFill>
            <a:srgbClr val="F4F1EA"/>
          </a:solidFill>
          <a:ln w="12700">
            <a:solidFill>
              <a:srgbClr val="F4F1EA"/>
            </a:solidFill>
            <a:prstDash val="solid"/>
          </a:ln>
        </p:spPr>
      </p:sp>
      <p:pic>
        <p:nvPicPr>
          <p:cNvPr id="29"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0" name="Text 23"/>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curly hair</a:t>
            </a:r>
            <a:endParaRPr lang="en-US" sz="1100" dirty="0"/>
          </a:p>
        </p:txBody>
      </p:sp>
      <p:sp>
        <p:nvSpPr>
          <p:cNvPr id="31" name="Shape 2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5"/>
          <p:cNvSpPr/>
          <p:nvPr/>
        </p:nvSpPr>
        <p:spPr>
          <a:xfrm>
            <a:off x="585216" y="1938528"/>
            <a:ext cx="365760" cy="365760"/>
          </a:xfrm>
          <a:prstGeom prst="ellipse">
            <a:avLst/>
          </a:prstGeom>
          <a:solidFill>
            <a:srgbClr val="1B3B6F"/>
          </a:solidFill>
          <a:ln w="12700">
            <a:solidFill>
              <a:srgbClr val="1B3B6F"/>
            </a:solidFill>
            <a:prstDash val="solid"/>
          </a:ln>
        </p:spPr>
      </p:sp>
      <p:sp>
        <p:nvSpPr>
          <p:cNvPr id="33" name="Text 2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34" name="Shape 27"/>
          <p:cNvSpPr/>
          <p:nvPr/>
        </p:nvSpPr>
        <p:spPr>
          <a:xfrm>
            <a:off x="1173480" y="2066544"/>
            <a:ext cx="1014984" cy="1014984"/>
          </a:xfrm>
          <a:prstGeom prst="ellipse">
            <a:avLst/>
          </a:prstGeom>
          <a:solidFill>
            <a:srgbClr val="F4F1EA"/>
          </a:solidFill>
          <a:ln w="12700">
            <a:solidFill>
              <a:srgbClr val="F4F1EA"/>
            </a:solidFill>
            <a:prstDash val="solid"/>
          </a:ln>
        </p:spPr>
      </p:sp>
      <p:pic>
        <p:nvPicPr>
          <p:cNvPr id="3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36" name="Shape 28"/>
          <p:cNvSpPr/>
          <p:nvPr/>
        </p:nvSpPr>
        <p:spPr>
          <a:xfrm>
            <a:off x="2362200" y="2066544"/>
            <a:ext cx="1014984" cy="1014984"/>
          </a:xfrm>
          <a:prstGeom prst="ellipse">
            <a:avLst/>
          </a:prstGeom>
          <a:solidFill>
            <a:srgbClr val="F4F1EA"/>
          </a:solidFill>
          <a:ln w="12700">
            <a:solidFill>
              <a:srgbClr val="F4F1EA"/>
            </a:solidFill>
            <a:prstDash val="solid"/>
          </a:ln>
        </p:spPr>
      </p:sp>
      <p:pic>
        <p:nvPicPr>
          <p:cNvPr id="3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38" name="Text 2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glasses</a:t>
            </a:r>
            <a:endParaRPr lang="en-US" sz="1100" dirty="0"/>
          </a:p>
        </p:txBody>
      </p:sp>
      <p:sp>
        <p:nvSpPr>
          <p:cNvPr id="39" name="Shape 30"/>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40" name="Shape 31"/>
          <p:cNvSpPr/>
          <p:nvPr/>
        </p:nvSpPr>
        <p:spPr>
          <a:xfrm>
            <a:off x="11247120" y="3831336"/>
            <a:ext cx="292608" cy="292608"/>
          </a:xfrm>
          <a:prstGeom prst="ellipse">
            <a:avLst/>
          </a:prstGeom>
          <a:solidFill>
            <a:srgbClr val="2F6FB0"/>
          </a:solidFill>
          <a:ln w="12700">
            <a:solidFill>
              <a:srgbClr val="2F6FB0"/>
            </a:solidFill>
            <a:prstDash val="solid"/>
          </a:ln>
        </p:spPr>
      </p:sp>
      <p:sp>
        <p:nvSpPr>
          <p:cNvPr id="41" name="Text 32"/>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42" name="Text 33"/>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شَعْرُهُ مُجَعَّدٌ.</a:t>
            </a:r>
            <a:endParaRPr lang="ar-SA" sz="2000" dirty="0"/>
          </a:p>
        </p:txBody>
      </p:sp>
      <p:sp>
        <p:nvSpPr>
          <p:cNvPr id="43" name="Shape 34"/>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4" name="Shape 35"/>
          <p:cNvSpPr/>
          <p:nvPr/>
        </p:nvSpPr>
        <p:spPr>
          <a:xfrm>
            <a:off x="11247120" y="4398264"/>
            <a:ext cx="292608" cy="292608"/>
          </a:xfrm>
          <a:prstGeom prst="ellipse">
            <a:avLst/>
          </a:prstGeom>
          <a:solidFill>
            <a:srgbClr val="2F6FB0"/>
          </a:solidFill>
          <a:ln w="12700">
            <a:solidFill>
              <a:srgbClr val="2F6FB0"/>
            </a:solidFill>
            <a:prstDash val="solid"/>
          </a:ln>
        </p:spPr>
      </p:sp>
      <p:sp>
        <p:nvSpPr>
          <p:cNvPr id="45" name="Text 36"/>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46" name="Text 37"/>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هِيَ تَلْبَسُ نَظَّارَةً.</a:t>
            </a:r>
            <a:endParaRPr lang="ar-SA" sz="2000" dirty="0"/>
          </a:p>
        </p:txBody>
      </p:sp>
      <p:sp>
        <p:nvSpPr>
          <p:cNvPr id="47" name="Shape 38"/>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48" name="Shape 39"/>
          <p:cNvSpPr/>
          <p:nvPr/>
        </p:nvSpPr>
        <p:spPr>
          <a:xfrm>
            <a:off x="11247120" y="4965192"/>
            <a:ext cx="292608" cy="292608"/>
          </a:xfrm>
          <a:prstGeom prst="ellipse">
            <a:avLst/>
          </a:prstGeom>
          <a:solidFill>
            <a:srgbClr val="2F6FB0"/>
          </a:solidFill>
          <a:ln w="12700">
            <a:solidFill>
              <a:srgbClr val="2F6FB0"/>
            </a:solidFill>
            <a:prstDash val="solid"/>
          </a:ln>
        </p:spPr>
      </p:sp>
      <p:sp>
        <p:nvSpPr>
          <p:cNvPr id="49" name="Text 40"/>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C</a:t>
            </a:r>
            <a:endParaRPr lang="en-US" sz="1000" dirty="0"/>
          </a:p>
        </p:txBody>
      </p:sp>
      <p:sp>
        <p:nvSpPr>
          <p:cNvPr id="50" name="Text 41"/>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هُوَ طَوِيلٌ.</a:t>
            </a:r>
            <a:endParaRPr lang="ar-SA" sz="2000" dirty="0"/>
          </a:p>
        </p:txBody>
      </p:sp>
      <p:sp>
        <p:nvSpPr>
          <p:cNvPr id="51" name="Text 42"/>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ea typeface="Calibri" pitchFamily="34" charset="-122"/>
                <a:cs typeface="Calibri" pitchFamily="34" charset="-120"/>
              </a:rPr>
              <a:t>Match each picture to a sentence. Type in the chat: 1_  2_  3_</a:t>
            </a:r>
            <a:endParaRPr lang="en-US" sz="1250" dirty="0"/>
          </a:p>
        </p:txBody>
      </p:sp>
      <p:sp>
        <p:nvSpPr>
          <p:cNvPr id="52" name="Text 43"/>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ea typeface="Calibri" pitchFamily="34" charset="-122"/>
                <a:cs typeface="Calibri" pitchFamily="34" charset="-120"/>
              </a:rPr>
              <a:t>Core: find ONE key word you know in each sentence first.</a:t>
            </a:r>
            <a:endParaRPr lang="en-US" sz="1150" dirty="0"/>
          </a:p>
        </p:txBody>
      </p:sp>
      <p:sp>
        <p:nvSpPr>
          <p:cNvPr id="53"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21 / 47</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TB-L03 · Appearance and Personality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صِفِ الشَّخْصَ</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B · Personal and Social Life · TB-L03</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tall</a:t>
            </a:r>
            <a:endParaRPr lang="en-US" sz="1100" dirty="0"/>
          </a:p>
        </p:txBody>
      </p:sp>
      <p:sp>
        <p:nvSpPr>
          <p:cNvPr id="23" name="Shape 18"/>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11256264" y="3785616"/>
            <a:ext cx="329184" cy="329184"/>
          </a:xfrm>
          <a:prstGeom prst="ellipse">
            <a:avLst/>
          </a:prstGeom>
          <a:solidFill>
            <a:srgbClr val="2E8B57"/>
          </a:solidFill>
          <a:ln w="12700">
            <a:solidFill>
              <a:srgbClr val="2E8B57"/>
            </a:solidFill>
            <a:prstDash val="solid"/>
          </a:ln>
        </p:spPr>
      </p:sp>
      <p:sp>
        <p:nvSpPr>
          <p:cNvPr id="25" name="Text 20"/>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a:t>
            </a:r>
            <a:endParaRPr lang="en-US" sz="1100" dirty="0"/>
          </a:p>
        </p:txBody>
      </p:sp>
      <p:sp>
        <p:nvSpPr>
          <p:cNvPr id="26" name="Text 21"/>
          <p:cNvSpPr txBox="1"/>
          <p:nvPr/>
        </p:nvSpPr>
        <p:spPr>
          <a:xfrm>
            <a:off x="8232648"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هُوَ طَوِيلٌ.</a:t>
            </a:r>
            <a:endParaRPr lang="ar-SA" sz="2200" dirty="0"/>
          </a:p>
        </p:txBody>
      </p:sp>
      <p:sp>
        <p:nvSpPr>
          <p:cNvPr id="27" name="Text 22"/>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He is tall.</a:t>
            </a:r>
            <a:endParaRPr lang="en-US" sz="1200" dirty="0"/>
          </a:p>
        </p:txBody>
      </p:sp>
      <p:sp>
        <p:nvSpPr>
          <p:cNvPr id="28" name="Shape 23"/>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4"/>
          <p:cNvSpPr/>
          <p:nvPr/>
        </p:nvSpPr>
        <p:spPr>
          <a:xfrm>
            <a:off x="4404360" y="1938528"/>
            <a:ext cx="365760" cy="365760"/>
          </a:xfrm>
          <a:prstGeom prst="ellipse">
            <a:avLst/>
          </a:prstGeom>
          <a:solidFill>
            <a:srgbClr val="1B3B6F"/>
          </a:solidFill>
          <a:ln w="12700">
            <a:solidFill>
              <a:srgbClr val="1B3B6F"/>
            </a:solidFill>
            <a:prstDash val="solid"/>
          </a:ln>
        </p:spPr>
      </p:sp>
      <p:sp>
        <p:nvSpPr>
          <p:cNvPr id="30" name="Text 25"/>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31" name="Shape 26"/>
          <p:cNvSpPr/>
          <p:nvPr/>
        </p:nvSpPr>
        <p:spPr>
          <a:xfrm>
            <a:off x="4992624" y="2066544"/>
            <a:ext cx="1014984" cy="1014984"/>
          </a:xfrm>
          <a:prstGeom prst="ellipse">
            <a:avLst/>
          </a:prstGeom>
          <a:solidFill>
            <a:srgbClr val="F4F1EA"/>
          </a:solidFill>
          <a:ln w="12700">
            <a:solidFill>
              <a:srgbClr val="F4F1EA"/>
            </a:solidFill>
            <a:prstDash val="solid"/>
          </a:ln>
        </p:spPr>
      </p:sp>
      <p:pic>
        <p:nvPicPr>
          <p:cNvPr id="32"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33" name="Shape 27"/>
          <p:cNvSpPr/>
          <p:nvPr/>
        </p:nvSpPr>
        <p:spPr>
          <a:xfrm>
            <a:off x="6181344" y="2066544"/>
            <a:ext cx="1014984" cy="1014984"/>
          </a:xfrm>
          <a:prstGeom prst="ellipse">
            <a:avLst/>
          </a:prstGeom>
          <a:solidFill>
            <a:srgbClr val="F4F1EA"/>
          </a:solidFill>
          <a:ln w="12700">
            <a:solidFill>
              <a:srgbClr val="F4F1EA"/>
            </a:solidFill>
            <a:prstDash val="solid"/>
          </a:ln>
        </p:spPr>
      </p:sp>
      <p:pic>
        <p:nvPicPr>
          <p:cNvPr id="34"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5" name="Text 28"/>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curly hair</a:t>
            </a:r>
            <a:endParaRPr lang="en-US" sz="1100" dirty="0"/>
          </a:p>
        </p:txBody>
      </p:sp>
      <p:sp>
        <p:nvSpPr>
          <p:cNvPr id="36" name="Shape 29"/>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7" name="Shape 30"/>
          <p:cNvSpPr/>
          <p:nvPr/>
        </p:nvSpPr>
        <p:spPr>
          <a:xfrm>
            <a:off x="7437120" y="3785616"/>
            <a:ext cx="329184" cy="329184"/>
          </a:xfrm>
          <a:prstGeom prst="ellipse">
            <a:avLst/>
          </a:prstGeom>
          <a:solidFill>
            <a:srgbClr val="2E8B57"/>
          </a:solidFill>
          <a:ln w="12700">
            <a:solidFill>
              <a:srgbClr val="2E8B57"/>
            </a:solidFill>
            <a:prstDash val="solid"/>
          </a:ln>
        </p:spPr>
      </p:sp>
      <p:sp>
        <p:nvSpPr>
          <p:cNvPr id="38" name="Text 31"/>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a:t>
            </a:r>
            <a:endParaRPr lang="en-US" sz="1100" dirty="0"/>
          </a:p>
        </p:txBody>
      </p:sp>
      <p:sp>
        <p:nvSpPr>
          <p:cNvPr id="39" name="Text 32"/>
          <p:cNvSpPr txBox="1"/>
          <p:nvPr/>
        </p:nvSpPr>
        <p:spPr>
          <a:xfrm>
            <a:off x="4413504"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شَعْرُهُ مُجَعَّدٌ.</a:t>
            </a:r>
            <a:endParaRPr lang="ar-SA" sz="2200" dirty="0"/>
          </a:p>
        </p:txBody>
      </p:sp>
      <p:sp>
        <p:nvSpPr>
          <p:cNvPr id="40" name="Text 33"/>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His hair is curly.</a:t>
            </a:r>
            <a:endParaRPr lang="en-US" sz="1200" dirty="0"/>
          </a:p>
        </p:txBody>
      </p:sp>
      <p:sp>
        <p:nvSpPr>
          <p:cNvPr id="41" name="Shape 3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5"/>
          <p:cNvSpPr/>
          <p:nvPr/>
        </p:nvSpPr>
        <p:spPr>
          <a:xfrm>
            <a:off x="585216" y="1938528"/>
            <a:ext cx="365760" cy="365760"/>
          </a:xfrm>
          <a:prstGeom prst="ellipse">
            <a:avLst/>
          </a:prstGeom>
          <a:solidFill>
            <a:srgbClr val="1B3B6F"/>
          </a:solidFill>
          <a:ln w="12700">
            <a:solidFill>
              <a:srgbClr val="1B3B6F"/>
            </a:solidFill>
            <a:prstDash val="solid"/>
          </a:ln>
        </p:spPr>
      </p:sp>
      <p:sp>
        <p:nvSpPr>
          <p:cNvPr id="43" name="Text 3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44" name="Shape 37"/>
          <p:cNvSpPr/>
          <p:nvPr/>
        </p:nvSpPr>
        <p:spPr>
          <a:xfrm>
            <a:off x="1173480" y="2066544"/>
            <a:ext cx="1014984" cy="1014984"/>
          </a:xfrm>
          <a:prstGeom prst="ellipse">
            <a:avLst/>
          </a:prstGeom>
          <a:solidFill>
            <a:srgbClr val="F4F1EA"/>
          </a:solidFill>
          <a:ln w="12700">
            <a:solidFill>
              <a:srgbClr val="F4F1EA"/>
            </a:solidFill>
            <a:prstDash val="solid"/>
          </a:ln>
        </p:spPr>
      </p:sp>
      <p:pic>
        <p:nvPicPr>
          <p:cNvPr id="4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46" name="Shape 38"/>
          <p:cNvSpPr/>
          <p:nvPr/>
        </p:nvSpPr>
        <p:spPr>
          <a:xfrm>
            <a:off x="2362200" y="2066544"/>
            <a:ext cx="1014984" cy="1014984"/>
          </a:xfrm>
          <a:prstGeom prst="ellipse">
            <a:avLst/>
          </a:prstGeom>
          <a:solidFill>
            <a:srgbClr val="F4F1EA"/>
          </a:solidFill>
          <a:ln w="12700">
            <a:solidFill>
              <a:srgbClr val="F4F1EA"/>
            </a:solidFill>
            <a:prstDash val="solid"/>
          </a:ln>
        </p:spPr>
      </p:sp>
      <p:pic>
        <p:nvPicPr>
          <p:cNvPr id="4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48" name="Text 3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glasses</a:t>
            </a:r>
            <a:endParaRPr lang="en-US" sz="1100" dirty="0"/>
          </a:p>
        </p:txBody>
      </p:sp>
      <p:sp>
        <p:nvSpPr>
          <p:cNvPr id="49" name="Shape 40"/>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0" name="Shape 41"/>
          <p:cNvSpPr/>
          <p:nvPr/>
        </p:nvSpPr>
        <p:spPr>
          <a:xfrm>
            <a:off x="3617976" y="3785616"/>
            <a:ext cx="329184" cy="329184"/>
          </a:xfrm>
          <a:prstGeom prst="ellipse">
            <a:avLst/>
          </a:prstGeom>
          <a:solidFill>
            <a:srgbClr val="2E8B57"/>
          </a:solidFill>
          <a:ln w="12700">
            <a:solidFill>
              <a:srgbClr val="2E8B57"/>
            </a:solidFill>
            <a:prstDash val="solid"/>
          </a:ln>
        </p:spPr>
      </p:sp>
      <p:sp>
        <p:nvSpPr>
          <p:cNvPr id="51" name="Text 42"/>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a:t>
            </a:r>
            <a:endParaRPr lang="en-US" sz="1100" dirty="0"/>
          </a:p>
        </p:txBody>
      </p:sp>
      <p:sp>
        <p:nvSpPr>
          <p:cNvPr id="52" name="Text 43"/>
          <p:cNvSpPr txBox="1"/>
          <p:nvPr/>
        </p:nvSpPr>
        <p:spPr>
          <a:xfrm>
            <a:off x="594360"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هِيَ تَلْبَسُ نَظَّارَةً.</a:t>
            </a:r>
            <a:endParaRPr lang="ar-SA" sz="2200" dirty="0"/>
          </a:p>
        </p:txBody>
      </p:sp>
      <p:sp>
        <p:nvSpPr>
          <p:cNvPr id="53" name="Text 44"/>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She wears glasses.</a:t>
            </a:r>
            <a:endParaRPr lang="en-US" sz="1200" dirty="0"/>
          </a:p>
        </p:txBody>
      </p:sp>
      <p:sp>
        <p:nvSpPr>
          <p:cNvPr id="54"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22 / 47</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TB-L03 · Appearance and Personality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Accurate portrait?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B · Personal and Social Life · TB-L03</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لَهَا شَعْرٌ طَوِيلٌ.</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عَيْنَاهُ زَرْقَاوَانِ.</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الفَتَاةُ الَّتِي تَرْتَدِي حِجَابًا</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هِيَ طَوِيلَةُ القَامَةِ.</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لَهُ شَعْرٌ طَوِيلَةٌ.</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عَيْنَاهَا بُنِّيٌّ.</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الوَلَدُ الَّتِي تَرْتَدِي</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هُوَ طَوِيلَةُ القَامَةِ.</a:t>
            </a:r>
            <a:endParaRPr lang="ar-SA" sz="1800" dirty="0"/>
          </a:p>
        </p:txBody>
      </p:sp>
      <p:sp>
        <p:nvSpPr>
          <p:cNvPr id="31" name="Shape 28"/>
          <p:cNvSpPr/>
          <p:nvPr/>
        </p:nvSpPr>
        <p:spPr>
          <a:xfrm>
            <a:off x="6185916" y="3017520"/>
            <a:ext cx="5545836" cy="3291840"/>
          </a:xfrm>
          <a:prstGeom prst="roundRect">
            <a:avLst>
              <a:gd name="adj" fmla="val 2222"/>
            </a:avLst>
          </a:prstGeom>
          <a:solidFill>
            <a:srgbClr val="EEF3FA"/>
          </a:solidFill>
          <a:ln w="9525">
            <a:solidFill>
              <a:srgbClr val="C9D6EA"/>
            </a:solidFill>
            <a:prstDash val="solid"/>
          </a:ln>
        </p:spPr>
      </p:sp>
      <p:sp>
        <p:nvSpPr>
          <p:cNvPr id="32" name="Shape 29"/>
          <p:cNvSpPr/>
          <p:nvPr/>
        </p:nvSpPr>
        <p:spPr>
          <a:xfrm>
            <a:off x="6323076" y="3127248"/>
            <a:ext cx="5271516"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6323076"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Accurate</a:t>
            </a:r>
            <a:endParaRPr lang="en-US" sz="950" dirty="0"/>
          </a:p>
        </p:txBody>
      </p:sp>
      <p:sp>
        <p:nvSpPr>
          <p:cNvPr id="34" name="Shape 31"/>
          <p:cNvSpPr/>
          <p:nvPr/>
        </p:nvSpPr>
        <p:spPr>
          <a:xfrm>
            <a:off x="457200" y="3017520"/>
            <a:ext cx="5545836" cy="3291840"/>
          </a:xfrm>
          <a:prstGeom prst="roundRect">
            <a:avLst>
              <a:gd name="adj" fmla="val 2222"/>
            </a:avLst>
          </a:prstGeom>
          <a:solidFill>
            <a:srgbClr val="EEF3FA"/>
          </a:solidFill>
          <a:ln w="9525">
            <a:solidFill>
              <a:srgbClr val="C9D6EA"/>
            </a:solidFill>
            <a:prstDash val="solid"/>
          </a:ln>
        </p:spPr>
      </p:sp>
      <p:sp>
        <p:nvSpPr>
          <p:cNvPr id="35" name="Shape 32"/>
          <p:cNvSpPr/>
          <p:nvPr/>
        </p:nvSpPr>
        <p:spPr>
          <a:xfrm>
            <a:off x="594360" y="3127248"/>
            <a:ext cx="5271516"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594360"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Inaccurate</a:t>
            </a:r>
            <a:endParaRPr lang="en-US" sz="9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23 / 47</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TB-L03 · Appearance and Personality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B · Personal and Social Life · TB-L03</a:t>
            </a:r>
            <a:endParaRPr lang="en-US" sz="850" dirty="0"/>
          </a:p>
        </p:txBody>
      </p:sp>
      <p:sp>
        <p:nvSpPr>
          <p:cNvPr id="15" name="Shape 12"/>
          <p:cNvSpPr/>
          <p:nvPr/>
        </p:nvSpPr>
        <p:spPr>
          <a:xfrm>
            <a:off x="6185916" y="1810512"/>
            <a:ext cx="5545836" cy="4498848"/>
          </a:xfrm>
          <a:prstGeom prst="roundRect">
            <a:avLst>
              <a:gd name="adj" fmla="val 1626"/>
            </a:avLst>
          </a:prstGeom>
          <a:solidFill>
            <a:srgbClr val="EEF3FA"/>
          </a:solidFill>
          <a:ln w="9525">
            <a:solidFill>
              <a:srgbClr val="C9D6EA"/>
            </a:solidFill>
            <a:prstDash val="solid"/>
          </a:ln>
        </p:spPr>
      </p:sp>
      <p:sp>
        <p:nvSpPr>
          <p:cNvPr id="16" name="Shape 13"/>
          <p:cNvSpPr/>
          <p:nvPr/>
        </p:nvSpPr>
        <p:spPr>
          <a:xfrm>
            <a:off x="6323076" y="1920240"/>
            <a:ext cx="5271516"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6323076"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Accurate</a:t>
            </a:r>
            <a:endParaRPr lang="en-US" sz="950" dirty="0"/>
          </a:p>
        </p:txBody>
      </p:sp>
      <p:sp>
        <p:nvSpPr>
          <p:cNvPr id="18" name="Shape 15"/>
          <p:cNvSpPr/>
          <p:nvPr/>
        </p:nvSpPr>
        <p:spPr>
          <a:xfrm>
            <a:off x="6323076" y="2377440"/>
            <a:ext cx="5271516"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6414516"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لَهَا شَعْرٌ طَوِيلٌ.</a:t>
            </a:r>
            <a:endParaRPr lang="ar-SA" sz="1800" dirty="0"/>
          </a:p>
        </p:txBody>
      </p:sp>
      <p:sp>
        <p:nvSpPr>
          <p:cNvPr id="20" name="Shape 17"/>
          <p:cNvSpPr/>
          <p:nvPr/>
        </p:nvSpPr>
        <p:spPr>
          <a:xfrm>
            <a:off x="6323076" y="2889504"/>
            <a:ext cx="5271516"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6414516"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عَيْنَاهُ زَرْقَاوَانِ.</a:t>
            </a:r>
            <a:endParaRPr lang="ar-SA" sz="1800" dirty="0"/>
          </a:p>
        </p:txBody>
      </p:sp>
      <p:sp>
        <p:nvSpPr>
          <p:cNvPr id="22" name="Shape 19"/>
          <p:cNvSpPr/>
          <p:nvPr/>
        </p:nvSpPr>
        <p:spPr>
          <a:xfrm>
            <a:off x="6323076" y="3401568"/>
            <a:ext cx="5271516"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6414516"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الفَتَاةُ الَّتِي تَرْتَدِي حِجَابًا</a:t>
            </a:r>
            <a:endParaRPr lang="ar-SA" sz="1800" dirty="0"/>
          </a:p>
        </p:txBody>
      </p:sp>
      <p:sp>
        <p:nvSpPr>
          <p:cNvPr id="24" name="Shape 21"/>
          <p:cNvSpPr/>
          <p:nvPr/>
        </p:nvSpPr>
        <p:spPr>
          <a:xfrm>
            <a:off x="6323076" y="3913632"/>
            <a:ext cx="5271516" cy="438912"/>
          </a:xfrm>
          <a:prstGeom prst="roundRect">
            <a:avLst>
              <a:gd name="adj" fmla="val 12500"/>
            </a:avLst>
          </a:prstGeom>
          <a:solidFill>
            <a:srgbClr val="FFF4DC"/>
          </a:solidFill>
          <a:ln w="9525">
            <a:solidFill>
              <a:srgbClr val="E6C98A"/>
            </a:solidFill>
            <a:prstDash val="solid"/>
          </a:ln>
        </p:spPr>
      </p:sp>
      <p:sp>
        <p:nvSpPr>
          <p:cNvPr id="25" name="Text 22"/>
          <p:cNvSpPr txBox="1"/>
          <p:nvPr/>
        </p:nvSpPr>
        <p:spPr>
          <a:xfrm>
            <a:off x="6414516"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هِيَ طَوِيلَةُ القَامَةِ.</a:t>
            </a:r>
            <a:endParaRPr lang="ar-SA" sz="1800" dirty="0"/>
          </a:p>
        </p:txBody>
      </p:sp>
      <p:sp>
        <p:nvSpPr>
          <p:cNvPr id="26" name="Shape 23"/>
          <p:cNvSpPr/>
          <p:nvPr/>
        </p:nvSpPr>
        <p:spPr>
          <a:xfrm>
            <a:off x="457200" y="1810512"/>
            <a:ext cx="5545836" cy="4498848"/>
          </a:xfrm>
          <a:prstGeom prst="roundRect">
            <a:avLst>
              <a:gd name="adj" fmla="val 1626"/>
            </a:avLst>
          </a:prstGeom>
          <a:solidFill>
            <a:srgbClr val="EEF3FA"/>
          </a:solidFill>
          <a:ln w="9525">
            <a:solidFill>
              <a:srgbClr val="C9D6EA"/>
            </a:solidFill>
            <a:prstDash val="solid"/>
          </a:ln>
        </p:spPr>
      </p:sp>
      <p:sp>
        <p:nvSpPr>
          <p:cNvPr id="27" name="Shape 24"/>
          <p:cNvSpPr/>
          <p:nvPr/>
        </p:nvSpPr>
        <p:spPr>
          <a:xfrm>
            <a:off x="594360" y="1920240"/>
            <a:ext cx="5271516" cy="310896"/>
          </a:xfrm>
          <a:prstGeom prst="roundRect">
            <a:avLst>
              <a:gd name="adj" fmla="val 50000"/>
            </a:avLst>
          </a:prstGeom>
          <a:solidFill>
            <a:srgbClr val="2F6FB0"/>
          </a:solidFill>
          <a:ln w="12700">
            <a:solidFill>
              <a:srgbClr val="2F6FB0"/>
            </a:solidFill>
            <a:prstDash val="solid"/>
          </a:ln>
        </p:spPr>
      </p:sp>
      <p:sp>
        <p:nvSpPr>
          <p:cNvPr id="28" name="Text 25"/>
          <p:cNvSpPr txBox="1"/>
          <p:nvPr/>
        </p:nvSpPr>
        <p:spPr>
          <a:xfrm>
            <a:off x="594360"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Inaccurate</a:t>
            </a:r>
            <a:endParaRPr lang="en-US" sz="950" dirty="0"/>
          </a:p>
        </p:txBody>
      </p:sp>
      <p:sp>
        <p:nvSpPr>
          <p:cNvPr id="29" name="Shape 26"/>
          <p:cNvSpPr/>
          <p:nvPr/>
        </p:nvSpPr>
        <p:spPr>
          <a:xfrm>
            <a:off x="594360" y="2377440"/>
            <a:ext cx="5271516"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685800"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لَهُ شَعْرٌ طَوِيلَةٌ.</a:t>
            </a:r>
            <a:endParaRPr lang="ar-SA" sz="1800" dirty="0"/>
          </a:p>
        </p:txBody>
      </p:sp>
      <p:sp>
        <p:nvSpPr>
          <p:cNvPr id="31" name="Shape 28"/>
          <p:cNvSpPr/>
          <p:nvPr/>
        </p:nvSpPr>
        <p:spPr>
          <a:xfrm>
            <a:off x="594360" y="2889504"/>
            <a:ext cx="5271516"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685800"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عَيْنَاهَا بُنِّيٌّ.</a:t>
            </a:r>
            <a:endParaRPr lang="ar-SA" sz="1800" dirty="0"/>
          </a:p>
        </p:txBody>
      </p:sp>
      <p:sp>
        <p:nvSpPr>
          <p:cNvPr id="33" name="Shape 30"/>
          <p:cNvSpPr/>
          <p:nvPr/>
        </p:nvSpPr>
        <p:spPr>
          <a:xfrm>
            <a:off x="594360" y="3401568"/>
            <a:ext cx="5271516" cy="438912"/>
          </a:xfrm>
          <a:prstGeom prst="roundRect">
            <a:avLst>
              <a:gd name="adj" fmla="val 12500"/>
            </a:avLst>
          </a:prstGeom>
          <a:solidFill>
            <a:srgbClr val="FFF4DC"/>
          </a:solidFill>
          <a:ln w="9525">
            <a:solidFill>
              <a:srgbClr val="E6C98A"/>
            </a:solidFill>
            <a:prstDash val="solid"/>
          </a:ln>
        </p:spPr>
      </p:sp>
      <p:sp>
        <p:nvSpPr>
          <p:cNvPr id="34" name="Text 31"/>
          <p:cNvSpPr txBox="1"/>
          <p:nvPr/>
        </p:nvSpPr>
        <p:spPr>
          <a:xfrm>
            <a:off x="685800"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الوَلَدُ الَّتِي تَرْتَدِي</a:t>
            </a:r>
            <a:endParaRPr lang="ar-SA" sz="1800" dirty="0"/>
          </a:p>
        </p:txBody>
      </p:sp>
      <p:sp>
        <p:nvSpPr>
          <p:cNvPr id="35" name="Shape 32"/>
          <p:cNvSpPr/>
          <p:nvPr/>
        </p:nvSpPr>
        <p:spPr>
          <a:xfrm>
            <a:off x="594360" y="3913632"/>
            <a:ext cx="5271516" cy="438912"/>
          </a:xfrm>
          <a:prstGeom prst="roundRect">
            <a:avLst>
              <a:gd name="adj" fmla="val 12500"/>
            </a:avLst>
          </a:prstGeom>
          <a:solidFill>
            <a:srgbClr val="FFF4DC"/>
          </a:solidFill>
          <a:ln w="9525">
            <a:solidFill>
              <a:srgbClr val="E6C98A"/>
            </a:solidFill>
            <a:prstDash val="solid"/>
          </a:ln>
        </p:spPr>
      </p:sp>
      <p:sp>
        <p:nvSpPr>
          <p:cNvPr id="36" name="Text 33"/>
          <p:cNvSpPr txBox="1"/>
          <p:nvPr/>
        </p:nvSpPr>
        <p:spPr>
          <a:xfrm>
            <a:off x="685800"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هُوَ طَوِيلَةُ القَامَةِ.</a:t>
            </a:r>
            <a:endParaRPr lang="ar-SA" sz="180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24 / 47</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TB-L03 · Appearance and Personality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GUIDED PRACTICE · WEBSITE QUIZ QUESTIONS 5, 6, 7,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B · Personal and Social Life · TB-L03</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feminine relative clause.</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الفَتَاةُ الَّذِي يَرْتَدِي حِجَابًا</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الوَلَدُ الَّتِي تَرْتَدِي</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الفَتَاةُ الَّتِي تَرْتَدِي حِجَابًا</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respectful and precise?</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هُوَ غَرِيبُ الشَّكْلِ.</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هُوَ مُتَوَسِّطُ القَامَةِ وَلَهُ شَعْرٌ قَصِيرٌ.</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شَكْلُهُ سَيِّئٌ.</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46" name="Text 43"/>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47" name="Text 44"/>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هِيَ ___ القَامَةِ.</a:t>
            </a:r>
            <a:endParaRPr lang="ar-SA" sz="1500" dirty="0"/>
          </a:p>
        </p:txBody>
      </p:sp>
      <p:sp>
        <p:nvSpPr>
          <p:cNvPr id="48" name="Shape 45"/>
          <p:cNvSpPr/>
          <p:nvPr/>
        </p:nvSpPr>
        <p:spPr>
          <a:xfrm>
            <a:off x="640080" y="48737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0" name="Text 47"/>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طَوِيلُ</a:t>
            </a:r>
            <a:endParaRPr lang="ar-SA" sz="2050" dirty="0"/>
          </a:p>
        </p:txBody>
      </p:sp>
      <p:sp>
        <p:nvSpPr>
          <p:cNvPr id="51" name="Shape 48"/>
          <p:cNvSpPr/>
          <p:nvPr/>
        </p:nvSpPr>
        <p:spPr>
          <a:xfrm>
            <a:off x="640080" y="53309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3" name="Text 50"/>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طَوِيلَةُ</a:t>
            </a:r>
            <a:endParaRPr lang="ar-SA" sz="2050" dirty="0"/>
          </a:p>
        </p:txBody>
      </p:sp>
      <p:sp>
        <p:nvSpPr>
          <p:cNvPr id="54" name="Shape 51"/>
          <p:cNvSpPr/>
          <p:nvPr/>
        </p:nvSpPr>
        <p:spPr>
          <a:xfrm>
            <a:off x="640080" y="5788152"/>
            <a:ext cx="256032" cy="256032"/>
          </a:xfrm>
          <a:prstGeom prst="ellipse">
            <a:avLst/>
          </a:prstGeom>
          <a:solidFill>
            <a:srgbClr val="F4F1EA"/>
          </a:solidFill>
          <a:ln w="12700">
            <a:solidFill>
              <a:srgbClr val="F4F1EA"/>
            </a:solidFill>
            <a:prstDash val="solid"/>
          </a:ln>
        </p:spPr>
      </p:sp>
      <p:sp>
        <p:nvSpPr>
          <p:cNvPr id="55" name="Text 5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6" name="Text 53"/>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طَوِيلَةٌ مِنْ</a:t>
            </a:r>
            <a:endParaRPr lang="ar-SA" sz="2050" dirty="0"/>
          </a:p>
        </p:txBody>
      </p:sp>
      <p:sp>
        <p:nvSpPr>
          <p:cNvPr id="57" name="Shape 54"/>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6313932"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60" name="Text 57"/>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consistent reference.</a:t>
            </a:r>
            <a:endParaRPr lang="en-US" sz="1250" dirty="0"/>
          </a:p>
        </p:txBody>
      </p:sp>
      <p:sp>
        <p:nvSpPr>
          <p:cNvPr id="61" name="Shape 58"/>
          <p:cNvSpPr/>
          <p:nvPr/>
        </p:nvSpPr>
        <p:spPr>
          <a:xfrm>
            <a:off x="6368796" y="48737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3" name="Text 60"/>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لَهُ شَعْرٌ طَوِيلٌ وَعَيْنَاهَا خَضْرَاوَانِ.</a:t>
            </a:r>
            <a:endParaRPr lang="ar-SA" sz="2050" dirty="0"/>
          </a:p>
        </p:txBody>
      </p:sp>
      <p:sp>
        <p:nvSpPr>
          <p:cNvPr id="64" name="Shape 61"/>
          <p:cNvSpPr/>
          <p:nvPr/>
        </p:nvSpPr>
        <p:spPr>
          <a:xfrm>
            <a:off x="6368796" y="53309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6" name="Text 63"/>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لَهَا شَعْرٌ طَوِيلَةٌ.</a:t>
            </a:r>
            <a:endParaRPr lang="ar-SA" sz="2050" dirty="0"/>
          </a:p>
        </p:txBody>
      </p:sp>
      <p:sp>
        <p:nvSpPr>
          <p:cNvPr id="67" name="Shape 64"/>
          <p:cNvSpPr/>
          <p:nvPr/>
        </p:nvSpPr>
        <p:spPr>
          <a:xfrm>
            <a:off x="6368796" y="5788152"/>
            <a:ext cx="256032" cy="256032"/>
          </a:xfrm>
          <a:prstGeom prst="ellipse">
            <a:avLst/>
          </a:prstGeom>
          <a:solidFill>
            <a:srgbClr val="F4F1EA"/>
          </a:solidFill>
          <a:ln w="12700">
            <a:solidFill>
              <a:srgbClr val="F4F1EA"/>
            </a:solidFill>
            <a:prstDash val="solid"/>
          </a:ln>
        </p:spPr>
      </p:sp>
      <p:sp>
        <p:nvSpPr>
          <p:cNvPr id="68" name="Text 65"/>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9" name="Text 66"/>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لَهَا شَعْرٌ طَوِيلٌ وَعَيْنَاهَا خَضْرَاوَانِ.</a:t>
            </a:r>
            <a:endParaRPr lang="ar-SA" sz="20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25 / 47</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TB-L03 · Appearance and Personality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B · Personal and Social Life · TB-L03</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feminine relative clause.</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الفَتَاةُ الَّذِي يَرْتَدِي حِجَابًا</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الوَلَدُ الَّتِي تَرْتَدِي</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الفَتَاةُ الَّتِي تَرْتَدِي حِجَابًا</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Feminine antecedent takes </a:t>
            </a:r>
            <a:pPr algn="l" indent="0" marL="0">
              <a:buNone/>
            </a:pPr>
            <a:r>
              <a:rPr lang="ar-SA" altLang="en-US" sz="1350" dirty="0">
                <a:solidFill>
                  <a:srgbClr val="8A6D1E"/>
                </a:solidFill>
                <a:latin typeface="Amiri" pitchFamily="34" charset="0"/>
                <a:ea typeface="Amiri" pitchFamily="34" charset="-122"/>
                <a:cs typeface="Amiri" pitchFamily="34" charset="-120"/>
              </a:rPr>
              <a:t>التي</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respectful and precise?</a:t>
            </a:r>
            <a:endParaRPr lang="en-US" sz="1250" dirty="0"/>
          </a:p>
        </p:txBody>
      </p:sp>
      <p:sp>
        <p:nvSpPr>
          <p:cNvPr id="36" name="Shape 33"/>
          <p:cNvSpPr/>
          <p:nvPr/>
        </p:nvSpPr>
        <p:spPr>
          <a:xfrm>
            <a:off x="6368796"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هُوَ غَرِيبُ الشَّكْلِ.</a:t>
            </a:r>
            <a:endParaRPr lang="ar-SA" sz="1700" dirty="0"/>
          </a:p>
        </p:txBody>
      </p:sp>
      <p:sp>
        <p:nvSpPr>
          <p:cNvPr id="39" name="Shape 36"/>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هُوَ مُتَوَسِّطُ القَامَةِ وَلَهُ شَعْرٌ قَصِيرٌ.</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شَكْلُهُ سَيِّئٌ.</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It describes observable details respectfully.</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50" name="Text 47"/>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51" name="Text 48"/>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هِيَ ___ القَامَةِ.</a:t>
            </a:r>
            <a:endParaRPr lang="ar-SA" sz="1500" dirty="0"/>
          </a:p>
        </p:txBody>
      </p:sp>
      <p:sp>
        <p:nvSpPr>
          <p:cNvPr id="52" name="Shape 49"/>
          <p:cNvSpPr/>
          <p:nvPr/>
        </p:nvSpPr>
        <p:spPr>
          <a:xfrm>
            <a:off x="640080" y="4831080"/>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4" name="Text 51"/>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طَوِيلُ</a:t>
            </a:r>
            <a:endParaRPr lang="ar-SA" sz="1700" dirty="0"/>
          </a:p>
        </p:txBody>
      </p:sp>
      <p:sp>
        <p:nvSpPr>
          <p:cNvPr id="55" name="Shape 52"/>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40080" y="5202936"/>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8" name="Text 55"/>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طَوِيلَةُ</a:t>
            </a:r>
            <a:endParaRPr lang="ar-SA" sz="1700" dirty="0"/>
          </a:p>
        </p:txBody>
      </p:sp>
      <p:sp>
        <p:nvSpPr>
          <p:cNvPr id="59" name="Shape 56"/>
          <p:cNvSpPr/>
          <p:nvPr/>
        </p:nvSpPr>
        <p:spPr>
          <a:xfrm>
            <a:off x="640080" y="5574792"/>
            <a:ext cx="256032" cy="256032"/>
          </a:xfrm>
          <a:prstGeom prst="ellipse">
            <a:avLst/>
          </a:prstGeom>
          <a:solidFill>
            <a:srgbClr val="C9CED6"/>
          </a:solidFill>
          <a:ln w="12700">
            <a:solidFill>
              <a:srgbClr val="C9CED6"/>
            </a:solidFill>
            <a:prstDash val="solid"/>
          </a:ln>
        </p:spPr>
      </p:sp>
      <p:sp>
        <p:nvSpPr>
          <p:cNvPr id="60" name="Text 57"/>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1" name="Text 58"/>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طَوِيلَةٌ مِنْ</a:t>
            </a:r>
            <a:endParaRPr lang="ar-SA" sz="1700" dirty="0"/>
          </a:p>
        </p:txBody>
      </p:sp>
      <p:sp>
        <p:nvSpPr>
          <p:cNvPr id="62" name="Text 59"/>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compound adjective agrees with feminine subject.</a:t>
            </a:r>
            <a:endParaRPr lang="en-US" sz="1050" dirty="0"/>
          </a:p>
        </p:txBody>
      </p:sp>
      <p:sp>
        <p:nvSpPr>
          <p:cNvPr id="63" name="Shape 60"/>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6313932" y="4288536"/>
            <a:ext cx="310896" cy="310896"/>
          </a:xfrm>
          <a:prstGeom prst="ellipse">
            <a:avLst/>
          </a:prstGeom>
          <a:solidFill>
            <a:srgbClr val="1B3B6F"/>
          </a:solidFill>
          <a:ln w="12700">
            <a:solidFill>
              <a:srgbClr val="1B3B6F"/>
            </a:solidFill>
            <a:prstDash val="solid"/>
          </a:ln>
        </p:spPr>
      </p:sp>
      <p:sp>
        <p:nvSpPr>
          <p:cNvPr id="65" name="Text 62"/>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66" name="Text 63"/>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consistent reference.</a:t>
            </a:r>
            <a:endParaRPr lang="en-US" sz="1250" dirty="0"/>
          </a:p>
        </p:txBody>
      </p:sp>
      <p:sp>
        <p:nvSpPr>
          <p:cNvPr id="67" name="Shape 64"/>
          <p:cNvSpPr/>
          <p:nvPr/>
        </p:nvSpPr>
        <p:spPr>
          <a:xfrm>
            <a:off x="6368796" y="4831080"/>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9" name="Text 66"/>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لَهُ شَعْرٌ طَوِيلٌ وَعَيْنَاهَا خَضْرَاوَانِ.</a:t>
            </a:r>
            <a:endParaRPr lang="ar-SA" sz="1700" dirty="0"/>
          </a:p>
        </p:txBody>
      </p:sp>
      <p:sp>
        <p:nvSpPr>
          <p:cNvPr id="70" name="Shape 67"/>
          <p:cNvSpPr/>
          <p:nvPr/>
        </p:nvSpPr>
        <p:spPr>
          <a:xfrm>
            <a:off x="6368796" y="5202936"/>
            <a:ext cx="256032" cy="256032"/>
          </a:xfrm>
          <a:prstGeom prst="ellipse">
            <a:avLst/>
          </a:prstGeom>
          <a:solidFill>
            <a:srgbClr val="C9CED6"/>
          </a:solidFill>
          <a:ln w="12700">
            <a:solidFill>
              <a:srgbClr val="C9CED6"/>
            </a:solidFill>
            <a:prstDash val="solid"/>
          </a:ln>
        </p:spPr>
      </p:sp>
      <p:sp>
        <p:nvSpPr>
          <p:cNvPr id="71" name="Text 68"/>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2" name="Text 69"/>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لَهَا شَعْرٌ طَوِيلَةٌ.</a:t>
            </a:r>
            <a:endParaRPr lang="ar-SA" sz="1700" dirty="0"/>
          </a:p>
        </p:txBody>
      </p:sp>
      <p:sp>
        <p:nvSpPr>
          <p:cNvPr id="73" name="Shape 70"/>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4" name="Shape 71"/>
          <p:cNvSpPr/>
          <p:nvPr/>
        </p:nvSpPr>
        <p:spPr>
          <a:xfrm>
            <a:off x="6368796" y="5574792"/>
            <a:ext cx="256032" cy="256032"/>
          </a:xfrm>
          <a:prstGeom prst="ellipse">
            <a:avLst/>
          </a:prstGeom>
          <a:solidFill>
            <a:srgbClr val="2E8B57"/>
          </a:solidFill>
          <a:ln w="12700">
            <a:solidFill>
              <a:srgbClr val="2E8B57"/>
            </a:solidFill>
            <a:prstDash val="solid"/>
          </a:ln>
        </p:spPr>
      </p:sp>
      <p:sp>
        <p:nvSpPr>
          <p:cNvPr id="75" name="Text 72"/>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6" name="Text 73"/>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لَهَا شَعْرٌ طَوِيلٌ وَعَيْنَاهَا خَضْرَاوَانِ.</a:t>
            </a:r>
            <a:endParaRPr lang="ar-SA" sz="1700" dirty="0"/>
          </a:p>
        </p:txBody>
      </p:sp>
      <p:sp>
        <p:nvSpPr>
          <p:cNvPr id="77" name="Text 74"/>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All references and adjective agreement are consistent.</a:t>
            </a:r>
            <a:endParaRPr lang="en-US" sz="10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26 / 47</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TB-L03 · Appearance and Personality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B · Personal and Social Life · TB-L03</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لَهَا شَعْرٌ طَوِيلَةٌ.</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Is hair masculine or feminine?</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الوَلَدُ الَّتِي يَرْتَدِي نَظَّارَةً</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A boy → alladhī or allatī?</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عَيْنَاهَا بُنِّيٌّ.</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Two eyes → which ending?</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27 / 47</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TB-L03 · Appearance and Personality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B · Personal and Social Life · TB-L03</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لَهَا شَعْرٌ طَوِيلَةٌ.</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لَهَا شَعْرٌ طَوِيلٌ.</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34" charset="0"/>
                <a:ea typeface="Amiri" pitchFamily="34" charset="-122"/>
                <a:cs typeface="Amiri" pitchFamily="34" charset="-120"/>
              </a:rPr>
              <a:t>شَعْرٌ</a:t>
            </a:r>
            <a:pPr algn="l" indent="0" marL="0">
              <a:buNone/>
            </a:pPr>
            <a:r>
              <a:rPr lang="en-US" sz="1150" b="1" dirty="0">
                <a:solidFill>
                  <a:srgbClr val="1B3B6F"/>
                </a:solidFill>
                <a:latin typeface="Calibri" pitchFamily="34" charset="0"/>
                <a:ea typeface="Calibri" pitchFamily="34" charset="-122"/>
                <a:cs typeface="Calibri" pitchFamily="34" charset="-120"/>
              </a:rPr>
              <a:t> is masculine, even for a girl.</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الوَلَدُ الَّتِي يَرْتَدِي نَظَّارَةً</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الوَلَدُ الَّذِي يَرْتَدِي نَظَّارَةً</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A masculine person takes </a:t>
            </a:r>
            <a:pPr algn="l" indent="0" marL="0">
              <a:buNone/>
            </a:pPr>
            <a:r>
              <a:rPr lang="ar-SA" altLang="en-US" sz="1500" b="1" dirty="0">
                <a:solidFill>
                  <a:srgbClr val="1B3B6F"/>
                </a:solidFill>
                <a:latin typeface="Amiri" pitchFamily="34" charset="0"/>
                <a:ea typeface="Amiri" pitchFamily="34" charset="-122"/>
                <a:cs typeface="Amiri" pitchFamily="34" charset="-120"/>
              </a:rPr>
              <a:t>الَّذِي</a:t>
            </a:r>
            <a:pPr algn="l" indent="0" marL="0">
              <a:buNone/>
            </a:pPr>
            <a:r>
              <a:rPr lang="en-US" sz="1150" b="1" dirty="0">
                <a:solidFill>
                  <a:srgbClr val="1B3B6F"/>
                </a:solidFill>
                <a:latin typeface="Calibri" pitchFamily="34" charset="0"/>
                <a:ea typeface="Calibri" pitchFamily="34" charset="-122"/>
                <a:cs typeface="Calibri" pitchFamily="34" charset="-120"/>
              </a:rPr>
              <a:t>.</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عَيْنَاهَا بُنِّيٌّ.</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عَيْنَاهَا بُنِّيَّتَانِ.</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Two eyes → dual feminine.</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28 / 47</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TB-L03 · Appearance and Personality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ea typeface="Cambria" pitchFamily="34" charset="-122"/>
                <a:cs typeface="Cambria" pitchFamily="34" charset="-120"/>
              </a:rPr>
              <a:t>Listening focus: physical appearance</a:t>
            </a:r>
            <a:endParaRPr lang="en-US" sz="26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B · Personal and Social Life · TB-L03</a:t>
            </a:r>
            <a:endParaRPr lang="en-US" sz="850" dirty="0"/>
          </a:p>
        </p:txBody>
      </p:sp>
      <p:sp>
        <p:nvSpPr>
          <p:cNvPr id="15" name="Shape 12"/>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many people are described?</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two</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one</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three</a:t>
            </a:r>
            <a:endParaRPr lang="en-US" sz="1250" dirty="0"/>
          </a:p>
        </p:txBody>
      </p:sp>
      <p:sp>
        <p:nvSpPr>
          <p:cNvPr id="28" name="Shape 25"/>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3449574"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tall is the young man?</a:t>
            </a:r>
            <a:endParaRPr lang="en-US" sz="1250" dirty="0"/>
          </a:p>
        </p:txBody>
      </p:sp>
      <p:sp>
        <p:nvSpPr>
          <p:cNvPr id="32" name="Shape 29"/>
          <p:cNvSpPr/>
          <p:nvPr/>
        </p:nvSpPr>
        <p:spPr>
          <a:xfrm>
            <a:off x="3504438"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short</a:t>
            </a:r>
            <a:endParaRPr lang="en-US" sz="1250" dirty="0"/>
          </a:p>
        </p:txBody>
      </p:sp>
      <p:sp>
        <p:nvSpPr>
          <p:cNvPr id="35" name="Shape 32"/>
          <p:cNvSpPr/>
          <p:nvPr/>
        </p:nvSpPr>
        <p:spPr>
          <a:xfrm>
            <a:off x="3504438"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medium height</a:t>
            </a:r>
            <a:endParaRPr lang="en-US" sz="1250" dirty="0"/>
          </a:p>
        </p:txBody>
      </p:sp>
      <p:sp>
        <p:nvSpPr>
          <p:cNvPr id="38" name="Shape 35"/>
          <p:cNvSpPr/>
          <p:nvPr/>
        </p:nvSpPr>
        <p:spPr>
          <a:xfrm>
            <a:off x="3504438"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3833622"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tall</a:t>
            </a:r>
            <a:endParaRPr lang="en-US" sz="1250" dirty="0"/>
          </a:p>
        </p:txBody>
      </p:sp>
      <p:sp>
        <p:nvSpPr>
          <p:cNvPr id="41" name="Shape 38"/>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313932"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his hair like?</a:t>
            </a:r>
            <a:endParaRPr lang="en-US" sz="1250" dirty="0"/>
          </a:p>
        </p:txBody>
      </p:sp>
      <p:sp>
        <p:nvSpPr>
          <p:cNvPr id="45" name="Shape 42"/>
          <p:cNvSpPr/>
          <p:nvPr/>
        </p:nvSpPr>
        <p:spPr>
          <a:xfrm>
            <a:off x="6368796"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long and straight</a:t>
            </a:r>
            <a:endParaRPr lang="en-US" sz="1250" dirty="0"/>
          </a:p>
        </p:txBody>
      </p:sp>
      <p:sp>
        <p:nvSpPr>
          <p:cNvPr id="48" name="Shape 45"/>
          <p:cNvSpPr/>
          <p:nvPr/>
        </p:nvSpPr>
        <p:spPr>
          <a:xfrm>
            <a:off x="6368796"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short and straight</a:t>
            </a:r>
            <a:endParaRPr lang="en-US" sz="1250" dirty="0"/>
          </a:p>
        </p:txBody>
      </p:sp>
      <p:sp>
        <p:nvSpPr>
          <p:cNvPr id="51" name="Shape 48"/>
          <p:cNvSpPr/>
          <p:nvPr/>
        </p:nvSpPr>
        <p:spPr>
          <a:xfrm>
            <a:off x="6368796"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short and curly</a:t>
            </a:r>
            <a:endParaRPr lang="en-US" sz="1250" dirty="0"/>
          </a:p>
        </p:txBody>
      </p:sp>
      <p:sp>
        <p:nvSpPr>
          <p:cNvPr id="54" name="Shape 51"/>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9178290" y="1947672"/>
            <a:ext cx="310896" cy="310896"/>
          </a:xfrm>
          <a:prstGeom prst="ellipse">
            <a:avLst/>
          </a:prstGeom>
          <a:solidFill>
            <a:srgbClr val="1B3B6F"/>
          </a:solidFill>
          <a:ln w="12700">
            <a:solidFill>
              <a:srgbClr val="1B3B6F"/>
            </a:solidFill>
            <a:prstDash val="solid"/>
          </a:ln>
        </p:spPr>
      </p:sp>
      <p:sp>
        <p:nvSpPr>
          <p:cNvPr id="56" name="Text 53"/>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he wear?</a:t>
            </a:r>
            <a:endParaRPr lang="en-US" sz="1250" dirty="0"/>
          </a:p>
        </p:txBody>
      </p:sp>
      <p:sp>
        <p:nvSpPr>
          <p:cNvPr id="58" name="Shape 55"/>
          <p:cNvSpPr/>
          <p:nvPr/>
        </p:nvSpPr>
        <p:spPr>
          <a:xfrm>
            <a:off x="9233154" y="2532888"/>
            <a:ext cx="256032" cy="256032"/>
          </a:xfrm>
          <a:prstGeom prst="ellipse">
            <a:avLst/>
          </a:prstGeom>
          <a:solidFill>
            <a:srgbClr val="F4F1EA"/>
          </a:solidFill>
          <a:ln w="12700">
            <a:solidFill>
              <a:srgbClr val="F4F1EA"/>
            </a:solidFill>
            <a:prstDash val="solid"/>
          </a:ln>
        </p:spPr>
      </p:sp>
      <p:sp>
        <p:nvSpPr>
          <p:cNvPr id="59" name="Text 56"/>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glasses and a white shirt</a:t>
            </a:r>
            <a:endParaRPr lang="en-US" sz="1250" dirty="0"/>
          </a:p>
        </p:txBody>
      </p:sp>
      <p:sp>
        <p:nvSpPr>
          <p:cNvPr id="61" name="Shape 58"/>
          <p:cNvSpPr/>
          <p:nvPr/>
        </p:nvSpPr>
        <p:spPr>
          <a:xfrm>
            <a:off x="9233154" y="2990088"/>
            <a:ext cx="256032" cy="256032"/>
          </a:xfrm>
          <a:prstGeom prst="ellipse">
            <a:avLst/>
          </a:prstGeom>
          <a:solidFill>
            <a:srgbClr val="F4F1EA"/>
          </a:solidFill>
          <a:ln w="12700">
            <a:solidFill>
              <a:srgbClr val="F4F1EA"/>
            </a:solidFill>
            <a:prstDash val="solid"/>
          </a:ln>
        </p:spPr>
      </p:sp>
      <p:sp>
        <p:nvSpPr>
          <p:cNvPr id="62" name="Text 59"/>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blue coat</a:t>
            </a:r>
            <a:endParaRPr lang="en-US" sz="1250" dirty="0"/>
          </a:p>
        </p:txBody>
      </p:sp>
      <p:sp>
        <p:nvSpPr>
          <p:cNvPr id="64" name="Shape 61"/>
          <p:cNvSpPr/>
          <p:nvPr/>
        </p:nvSpPr>
        <p:spPr>
          <a:xfrm>
            <a:off x="9233154" y="3447288"/>
            <a:ext cx="256032" cy="256032"/>
          </a:xfrm>
          <a:prstGeom prst="ellipse">
            <a:avLst/>
          </a:prstGeom>
          <a:solidFill>
            <a:srgbClr val="F4F1EA"/>
          </a:solidFill>
          <a:ln w="12700">
            <a:solidFill>
              <a:srgbClr val="F4F1EA"/>
            </a:solidFill>
            <a:prstDash val="solid"/>
          </a:ln>
        </p:spPr>
      </p:sp>
      <p:sp>
        <p:nvSpPr>
          <p:cNvPr id="65" name="Text 62"/>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562338"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black bag</a:t>
            </a:r>
            <a:endParaRPr lang="en-US" sz="1250" dirty="0"/>
          </a:p>
        </p:txBody>
      </p:sp>
      <p:sp>
        <p:nvSpPr>
          <p:cNvPr id="67" name="Shape 6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585216"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colour are the girl’s eyes?</a:t>
            </a:r>
            <a:endParaRPr lang="en-US" sz="1250" dirty="0"/>
          </a:p>
        </p:txBody>
      </p:sp>
      <p:sp>
        <p:nvSpPr>
          <p:cNvPr id="71" name="Shape 68"/>
          <p:cNvSpPr/>
          <p:nvPr/>
        </p:nvSpPr>
        <p:spPr>
          <a:xfrm>
            <a:off x="640080"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blue</a:t>
            </a:r>
            <a:endParaRPr lang="en-US" sz="1250" dirty="0"/>
          </a:p>
        </p:txBody>
      </p:sp>
      <p:sp>
        <p:nvSpPr>
          <p:cNvPr id="74" name="Shape 71"/>
          <p:cNvSpPr/>
          <p:nvPr/>
        </p:nvSpPr>
        <p:spPr>
          <a:xfrm>
            <a:off x="640080"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brown</a:t>
            </a:r>
            <a:endParaRPr lang="en-US" sz="1250" dirty="0"/>
          </a:p>
        </p:txBody>
      </p:sp>
      <p:sp>
        <p:nvSpPr>
          <p:cNvPr id="77" name="Shape 74"/>
          <p:cNvSpPr/>
          <p:nvPr/>
        </p:nvSpPr>
        <p:spPr>
          <a:xfrm>
            <a:off x="640080"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969264"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green</a:t>
            </a:r>
            <a:endParaRPr lang="en-US" sz="1250" dirty="0"/>
          </a:p>
        </p:txBody>
      </p:sp>
      <p:sp>
        <p:nvSpPr>
          <p:cNvPr id="80" name="Shape 77"/>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3449574" y="4288536"/>
            <a:ext cx="310896" cy="310896"/>
          </a:xfrm>
          <a:prstGeom prst="ellipse">
            <a:avLst/>
          </a:prstGeom>
          <a:solidFill>
            <a:srgbClr val="1B3B6F"/>
          </a:solidFill>
          <a:ln w="12700">
            <a:solidFill>
              <a:srgbClr val="1B3B6F"/>
            </a:solidFill>
            <a:prstDash val="solid"/>
          </a:ln>
        </p:spPr>
      </p:sp>
      <p:sp>
        <p:nvSpPr>
          <p:cNvPr id="82" name="Text 79"/>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83" name="Text 80"/>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can you recognise the girl?</a:t>
            </a:r>
            <a:endParaRPr lang="en-US" sz="1250" dirty="0"/>
          </a:p>
        </p:txBody>
      </p:sp>
      <p:sp>
        <p:nvSpPr>
          <p:cNvPr id="84" name="Shape 81"/>
          <p:cNvSpPr/>
          <p:nvPr/>
        </p:nvSpPr>
        <p:spPr>
          <a:xfrm>
            <a:off x="3504438" y="4873752"/>
            <a:ext cx="256032" cy="256032"/>
          </a:xfrm>
          <a:prstGeom prst="ellipse">
            <a:avLst/>
          </a:prstGeom>
          <a:solidFill>
            <a:srgbClr val="F4F1EA"/>
          </a:solidFill>
          <a:ln w="12700">
            <a:solidFill>
              <a:srgbClr val="F4F1EA"/>
            </a:solidFill>
            <a:prstDash val="solid"/>
          </a:ln>
        </p:spPr>
      </p:sp>
      <p:sp>
        <p:nvSpPr>
          <p:cNvPr id="85" name="Text 82"/>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6" name="Text 83"/>
          <p:cNvSpPr txBox="1"/>
          <p:nvPr/>
        </p:nvSpPr>
        <p:spPr>
          <a:xfrm>
            <a:off x="3833622"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she wears a blue coat and a black bag</a:t>
            </a:r>
            <a:endParaRPr lang="en-US" sz="1250" dirty="0"/>
          </a:p>
        </p:txBody>
      </p:sp>
      <p:sp>
        <p:nvSpPr>
          <p:cNvPr id="87" name="Shape 84"/>
          <p:cNvSpPr/>
          <p:nvPr/>
        </p:nvSpPr>
        <p:spPr>
          <a:xfrm>
            <a:off x="3504438" y="5330952"/>
            <a:ext cx="256032" cy="256032"/>
          </a:xfrm>
          <a:prstGeom prst="ellipse">
            <a:avLst/>
          </a:prstGeom>
          <a:solidFill>
            <a:srgbClr val="F4F1EA"/>
          </a:solidFill>
          <a:ln w="12700">
            <a:solidFill>
              <a:srgbClr val="F4F1EA"/>
            </a:solidFill>
            <a:prstDash val="solid"/>
          </a:ln>
        </p:spPr>
      </p:sp>
      <p:sp>
        <p:nvSpPr>
          <p:cNvPr id="88" name="Text 85"/>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9" name="Text 86"/>
          <p:cNvSpPr txBox="1"/>
          <p:nvPr/>
        </p:nvSpPr>
        <p:spPr>
          <a:xfrm>
            <a:off x="3833622"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she wears glasses</a:t>
            </a:r>
            <a:endParaRPr lang="en-US" sz="1250" dirty="0"/>
          </a:p>
        </p:txBody>
      </p:sp>
      <p:sp>
        <p:nvSpPr>
          <p:cNvPr id="90" name="Shape 87"/>
          <p:cNvSpPr/>
          <p:nvPr/>
        </p:nvSpPr>
        <p:spPr>
          <a:xfrm>
            <a:off x="3504438" y="5788152"/>
            <a:ext cx="256032" cy="256032"/>
          </a:xfrm>
          <a:prstGeom prst="ellipse">
            <a:avLst/>
          </a:prstGeom>
          <a:solidFill>
            <a:srgbClr val="F4F1EA"/>
          </a:solidFill>
          <a:ln w="12700">
            <a:solidFill>
              <a:srgbClr val="F4F1EA"/>
            </a:solidFill>
            <a:prstDash val="solid"/>
          </a:ln>
        </p:spPr>
      </p:sp>
      <p:sp>
        <p:nvSpPr>
          <p:cNvPr id="91" name="Text 88"/>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2" name="Text 89"/>
          <p:cNvSpPr txBox="1"/>
          <p:nvPr/>
        </p:nvSpPr>
        <p:spPr>
          <a:xfrm>
            <a:off x="3833622"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she has short hair</a:t>
            </a:r>
            <a:endParaRPr lang="en-US" sz="1250" dirty="0"/>
          </a:p>
        </p:txBody>
      </p:sp>
      <p:sp>
        <p:nvSpPr>
          <p:cNvPr id="93" name="Shape 90"/>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4" name="Shape 91"/>
          <p:cNvSpPr/>
          <p:nvPr/>
        </p:nvSpPr>
        <p:spPr>
          <a:xfrm>
            <a:off x="6807708" y="4361688"/>
            <a:ext cx="914400" cy="274320"/>
          </a:xfrm>
          <a:prstGeom prst="roundRect">
            <a:avLst>
              <a:gd name="adj" fmla="val 50000"/>
            </a:avLst>
          </a:prstGeom>
          <a:solidFill>
            <a:srgbClr val="2E8B57"/>
          </a:solidFill>
          <a:ln w="12700">
            <a:solidFill>
              <a:srgbClr val="2E8B57"/>
            </a:solidFill>
            <a:prstDash val="solid"/>
          </a:ln>
        </p:spPr>
      </p:sp>
      <p:sp>
        <p:nvSpPr>
          <p:cNvPr id="95" name="Text 92"/>
          <p:cNvSpPr txBox="1"/>
          <p:nvPr/>
        </p:nvSpPr>
        <p:spPr>
          <a:xfrm>
            <a:off x="6807708"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96" name="Text 93"/>
          <p:cNvSpPr txBox="1"/>
          <p:nvPr/>
        </p:nvSpPr>
        <p:spPr>
          <a:xfrm>
            <a:off x="6387084" y="4791456"/>
            <a:ext cx="2315718"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twice. Core: questions 1, 2 and 5.</a:t>
            </a:r>
            <a:endParaRPr lang="en-US" sz="1250" dirty="0"/>
          </a:p>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for: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طَوِيلُ القَامَةِ</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نَظَّارَةً</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بُنِّيَّتَانِ</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a:t>
            </a:r>
            <a:endParaRPr lang="en-US" sz="1250" dirty="0"/>
          </a:p>
        </p:txBody>
      </p:sp>
      <p:sp>
        <p:nvSpPr>
          <p:cNvPr id="97" name="Text 9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29 / 47</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TB-L03 · Appearance and Personality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B · Personal and Social Life · TB-L03</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يَصِفُ المُتَحَدِّثُ شَخْصَيْنِ فِي صُورَةٍ.</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speaker describes two people in a picture.</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الأَوَّلُ شَابٌّ طَوِيلُ القَامَةِ، لَهُ شَعْرٌ قَصِيرٌ وَمُجَعَّدٌ،</a:t>
            </a:r>
            <a:endParaRPr lang="ar-SA" sz="20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first is a tall young man; he has short, curly hair,</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وَيَرْتَدِي نَظَّارَةً وَقَمِيصًا أَبْيَضَ.</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and he wears glasses and a white shirt.</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الثَّانِيَةُ فَتَاةٌ مُتَوَسِّطَةُ القَامَةِ، لَهَا شَعْرٌ طَوِيلٌ مُسْتَقِيمٌ وَعَيْنَانِ بُنِّيَّتَانِ.</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second is a girl of medium height; she has long straight hair and brown eyes.</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هِيَ الفَتَاةُ الَّتِي تَرْتَدِي مِعْطَفًا أَزْرَقَ وَحَقِيبَةً سَوْدَاءَ.</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She is the girl who is wearing a blue coat and (has) a black bag.</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30 / 47</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TB-L03 · Appearance and Personality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B · Personal and Social Life · TB-L03</a:t>
            </a:r>
            <a:endParaRPr lang="en-US" sz="850" dirty="0"/>
          </a:p>
        </p:txBody>
      </p:sp>
      <p:sp>
        <p:nvSpPr>
          <p:cNvPr id="15" name="Shape 12"/>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many people are described?</a:t>
            </a:r>
            <a:endParaRPr lang="en-US" sz="1250" dirty="0"/>
          </a:p>
        </p:txBody>
      </p:sp>
      <p:sp>
        <p:nvSpPr>
          <p:cNvPr id="19" name="Shape 16"/>
          <p:cNvSpPr/>
          <p:nvPr/>
        </p:nvSpPr>
        <p:spPr>
          <a:xfrm>
            <a:off x="548640" y="2453640"/>
            <a:ext cx="2498598"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two</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one</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three</a:t>
            </a:r>
            <a:endParaRPr lang="en-US" sz="1250" dirty="0"/>
          </a:p>
        </p:txBody>
      </p:sp>
      <p:sp>
        <p:nvSpPr>
          <p:cNvPr id="29" name="Text 26"/>
          <p:cNvSpPr txBox="1"/>
          <p:nvPr/>
        </p:nvSpPr>
        <p:spPr>
          <a:xfrm>
            <a:off x="585216"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يَصِفُ المُتَحَدِّثُ شَخْصَيْنِ.</a:t>
            </a:r>
            <a:endParaRPr lang="ar-SA" sz="13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tall is the young man?</a:t>
            </a:r>
            <a:endParaRPr lang="en-US" sz="1250" dirty="0"/>
          </a:p>
        </p:txBody>
      </p:sp>
      <p:sp>
        <p:nvSpPr>
          <p:cNvPr id="34" name="Shape 31"/>
          <p:cNvSpPr/>
          <p:nvPr/>
        </p:nvSpPr>
        <p:spPr>
          <a:xfrm>
            <a:off x="3504438"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3833622"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short</a:t>
            </a:r>
            <a:endParaRPr lang="en-US" sz="1250" dirty="0"/>
          </a:p>
        </p:txBody>
      </p:sp>
      <p:sp>
        <p:nvSpPr>
          <p:cNvPr id="37" name="Shape 34"/>
          <p:cNvSpPr/>
          <p:nvPr/>
        </p:nvSpPr>
        <p:spPr>
          <a:xfrm>
            <a:off x="3504438"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3833622"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medium height</a:t>
            </a:r>
            <a:endParaRPr lang="en-US" sz="1250" dirty="0"/>
          </a:p>
        </p:txBody>
      </p:sp>
      <p:sp>
        <p:nvSpPr>
          <p:cNvPr id="40" name="Shape 37"/>
          <p:cNvSpPr/>
          <p:nvPr/>
        </p:nvSpPr>
        <p:spPr>
          <a:xfrm>
            <a:off x="3412998" y="3197352"/>
            <a:ext cx="2498598"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3504438"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3833622"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tall</a:t>
            </a:r>
            <a:endParaRPr lang="en-US" sz="1250" dirty="0"/>
          </a:p>
        </p:txBody>
      </p:sp>
      <p:sp>
        <p:nvSpPr>
          <p:cNvPr id="44" name="Text 41"/>
          <p:cNvSpPr txBox="1"/>
          <p:nvPr/>
        </p:nvSpPr>
        <p:spPr>
          <a:xfrm>
            <a:off x="3449574"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شَابٌّ طَوِيلُ القَامَةِ.</a:t>
            </a:r>
            <a:endParaRPr lang="ar-SA" sz="1350" dirty="0"/>
          </a:p>
        </p:txBody>
      </p:sp>
      <p:sp>
        <p:nvSpPr>
          <p:cNvPr id="45" name="Shape 42"/>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6313932"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his hair like?</a:t>
            </a:r>
            <a:endParaRPr lang="en-US" sz="1250" dirty="0"/>
          </a:p>
        </p:txBody>
      </p:sp>
      <p:sp>
        <p:nvSpPr>
          <p:cNvPr id="49" name="Shape 46"/>
          <p:cNvSpPr/>
          <p:nvPr/>
        </p:nvSpPr>
        <p:spPr>
          <a:xfrm>
            <a:off x="6368796"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long and straight</a:t>
            </a:r>
            <a:endParaRPr lang="en-US" sz="1250" dirty="0"/>
          </a:p>
        </p:txBody>
      </p:sp>
      <p:sp>
        <p:nvSpPr>
          <p:cNvPr id="52" name="Shape 49"/>
          <p:cNvSpPr/>
          <p:nvPr/>
        </p:nvSpPr>
        <p:spPr>
          <a:xfrm>
            <a:off x="6368796"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short and straight</a:t>
            </a:r>
            <a:endParaRPr lang="en-US" sz="1250" dirty="0"/>
          </a:p>
        </p:txBody>
      </p:sp>
      <p:sp>
        <p:nvSpPr>
          <p:cNvPr id="55" name="Shape 52"/>
          <p:cNvSpPr/>
          <p:nvPr/>
        </p:nvSpPr>
        <p:spPr>
          <a:xfrm>
            <a:off x="6277356" y="3197352"/>
            <a:ext cx="2498598"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368796"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short and curly</a:t>
            </a:r>
            <a:endParaRPr lang="en-US" sz="1250" dirty="0"/>
          </a:p>
        </p:txBody>
      </p:sp>
      <p:sp>
        <p:nvSpPr>
          <p:cNvPr id="59" name="Text 56"/>
          <p:cNvSpPr txBox="1"/>
          <p:nvPr/>
        </p:nvSpPr>
        <p:spPr>
          <a:xfrm>
            <a:off x="6313932"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لَهُ شَعْرٌ قَصِيرٌ وَمُجَعَّدٌ.</a:t>
            </a:r>
            <a:endParaRPr lang="ar-SA" sz="1350" dirty="0"/>
          </a:p>
        </p:txBody>
      </p:sp>
      <p:sp>
        <p:nvSpPr>
          <p:cNvPr id="60" name="Shape 57"/>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9178290" y="1947672"/>
            <a:ext cx="310896" cy="310896"/>
          </a:xfrm>
          <a:prstGeom prst="ellipse">
            <a:avLst/>
          </a:prstGeom>
          <a:solidFill>
            <a:srgbClr val="1B3B6F"/>
          </a:solidFill>
          <a:ln w="12700">
            <a:solidFill>
              <a:srgbClr val="1B3B6F"/>
            </a:solidFill>
            <a:prstDash val="solid"/>
          </a:ln>
        </p:spPr>
      </p:sp>
      <p:sp>
        <p:nvSpPr>
          <p:cNvPr id="62" name="Text 59"/>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he wear?</a:t>
            </a:r>
            <a:endParaRPr lang="en-US" sz="1250" dirty="0"/>
          </a:p>
        </p:txBody>
      </p:sp>
      <p:sp>
        <p:nvSpPr>
          <p:cNvPr id="64" name="Shape 61"/>
          <p:cNvSpPr/>
          <p:nvPr/>
        </p:nvSpPr>
        <p:spPr>
          <a:xfrm>
            <a:off x="9141714" y="2453640"/>
            <a:ext cx="2498598"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9233154" y="2490216"/>
            <a:ext cx="256032" cy="256032"/>
          </a:xfrm>
          <a:prstGeom prst="ellipse">
            <a:avLst/>
          </a:prstGeom>
          <a:solidFill>
            <a:srgbClr val="2E8B57"/>
          </a:solidFill>
          <a:ln w="12700">
            <a:solidFill>
              <a:srgbClr val="2E8B57"/>
            </a:solidFill>
            <a:prstDash val="solid"/>
          </a:ln>
        </p:spPr>
      </p:sp>
      <p:sp>
        <p:nvSpPr>
          <p:cNvPr id="66" name="Text 63"/>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9562338" y="243230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glasses and a white shirt</a:t>
            </a:r>
            <a:endParaRPr lang="en-US" sz="1250" dirty="0"/>
          </a:p>
        </p:txBody>
      </p:sp>
      <p:sp>
        <p:nvSpPr>
          <p:cNvPr id="68" name="Shape 65"/>
          <p:cNvSpPr/>
          <p:nvPr/>
        </p:nvSpPr>
        <p:spPr>
          <a:xfrm>
            <a:off x="9233154" y="2862072"/>
            <a:ext cx="256032" cy="256032"/>
          </a:xfrm>
          <a:prstGeom prst="ellipse">
            <a:avLst/>
          </a:prstGeom>
          <a:solidFill>
            <a:srgbClr val="C9CED6"/>
          </a:solidFill>
          <a:ln w="12700">
            <a:solidFill>
              <a:srgbClr val="C9CED6"/>
            </a:solidFill>
            <a:prstDash val="solid"/>
          </a:ln>
        </p:spPr>
      </p:sp>
      <p:sp>
        <p:nvSpPr>
          <p:cNvPr id="69" name="Text 66"/>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562338"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blue coat</a:t>
            </a:r>
            <a:endParaRPr lang="en-US" sz="1250" dirty="0"/>
          </a:p>
        </p:txBody>
      </p:sp>
      <p:sp>
        <p:nvSpPr>
          <p:cNvPr id="71" name="Shape 68"/>
          <p:cNvSpPr/>
          <p:nvPr/>
        </p:nvSpPr>
        <p:spPr>
          <a:xfrm>
            <a:off x="9233154" y="3233928"/>
            <a:ext cx="256032" cy="256032"/>
          </a:xfrm>
          <a:prstGeom prst="ellipse">
            <a:avLst/>
          </a:prstGeom>
          <a:solidFill>
            <a:srgbClr val="C9CED6"/>
          </a:solidFill>
          <a:ln w="12700">
            <a:solidFill>
              <a:srgbClr val="C9CED6"/>
            </a:solidFill>
            <a:prstDash val="solid"/>
          </a:ln>
        </p:spPr>
      </p:sp>
      <p:sp>
        <p:nvSpPr>
          <p:cNvPr id="72" name="Text 69"/>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562338"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black bag</a:t>
            </a:r>
            <a:endParaRPr lang="en-US" sz="1250" dirty="0"/>
          </a:p>
        </p:txBody>
      </p:sp>
      <p:sp>
        <p:nvSpPr>
          <p:cNvPr id="74" name="Text 71"/>
          <p:cNvSpPr txBox="1"/>
          <p:nvPr/>
        </p:nvSpPr>
        <p:spPr>
          <a:xfrm>
            <a:off x="9178290"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يَرْتَدِي نَظَّارَةً وَقَمِيصًا أَبْيَضَ.</a:t>
            </a:r>
            <a:endParaRPr lang="ar-SA" sz="1350" dirty="0"/>
          </a:p>
        </p:txBody>
      </p:sp>
      <p:sp>
        <p:nvSpPr>
          <p:cNvPr id="75" name="Shape 72"/>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585216"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colour are the girl’s eyes?</a:t>
            </a:r>
            <a:endParaRPr lang="en-US" sz="1250" dirty="0"/>
          </a:p>
        </p:txBody>
      </p:sp>
      <p:sp>
        <p:nvSpPr>
          <p:cNvPr id="79" name="Shape 76"/>
          <p:cNvSpPr/>
          <p:nvPr/>
        </p:nvSpPr>
        <p:spPr>
          <a:xfrm>
            <a:off x="640080"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1" name="Text 78"/>
          <p:cNvSpPr txBox="1"/>
          <p:nvPr/>
        </p:nvSpPr>
        <p:spPr>
          <a:xfrm>
            <a:off x="969264" y="4773168"/>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blue</a:t>
            </a:r>
            <a:endParaRPr lang="en-US" sz="1250" dirty="0"/>
          </a:p>
        </p:txBody>
      </p:sp>
      <p:sp>
        <p:nvSpPr>
          <p:cNvPr id="82" name="Shape 79"/>
          <p:cNvSpPr/>
          <p:nvPr/>
        </p:nvSpPr>
        <p:spPr>
          <a:xfrm>
            <a:off x="548640" y="5166360"/>
            <a:ext cx="2498598"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640080"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969264" y="514502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brown</a:t>
            </a:r>
            <a:endParaRPr lang="en-US" sz="1250" dirty="0"/>
          </a:p>
        </p:txBody>
      </p:sp>
      <p:sp>
        <p:nvSpPr>
          <p:cNvPr id="86" name="Shape 83"/>
          <p:cNvSpPr/>
          <p:nvPr/>
        </p:nvSpPr>
        <p:spPr>
          <a:xfrm>
            <a:off x="640080"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969264"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green</a:t>
            </a:r>
            <a:endParaRPr lang="en-US" sz="1250" dirty="0"/>
          </a:p>
        </p:txBody>
      </p:sp>
      <p:sp>
        <p:nvSpPr>
          <p:cNvPr id="89" name="Text 86"/>
          <p:cNvSpPr txBox="1"/>
          <p:nvPr/>
        </p:nvSpPr>
        <p:spPr>
          <a:xfrm>
            <a:off x="585216"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عَيْنَانِ بُنِّيَّتَانِ.</a:t>
            </a:r>
            <a:endParaRPr lang="ar-SA" sz="1350" dirty="0"/>
          </a:p>
        </p:txBody>
      </p:sp>
      <p:sp>
        <p:nvSpPr>
          <p:cNvPr id="90" name="Shape 87"/>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3449574" y="4288536"/>
            <a:ext cx="310896" cy="310896"/>
          </a:xfrm>
          <a:prstGeom prst="ellipse">
            <a:avLst/>
          </a:prstGeom>
          <a:solidFill>
            <a:srgbClr val="1B3B6F"/>
          </a:solidFill>
          <a:ln w="12700">
            <a:solidFill>
              <a:srgbClr val="1B3B6F"/>
            </a:solidFill>
            <a:prstDash val="solid"/>
          </a:ln>
        </p:spPr>
      </p:sp>
      <p:sp>
        <p:nvSpPr>
          <p:cNvPr id="92" name="Text 89"/>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3" name="Text 90"/>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can you recognise the girl?</a:t>
            </a:r>
            <a:endParaRPr lang="en-US" sz="1250" dirty="0"/>
          </a:p>
        </p:txBody>
      </p:sp>
      <p:sp>
        <p:nvSpPr>
          <p:cNvPr id="94" name="Shape 91"/>
          <p:cNvSpPr/>
          <p:nvPr/>
        </p:nvSpPr>
        <p:spPr>
          <a:xfrm>
            <a:off x="3412998" y="4794504"/>
            <a:ext cx="2498598" cy="347472"/>
          </a:xfrm>
          <a:prstGeom prst="roundRect">
            <a:avLst>
              <a:gd name="adj" fmla="val 15789"/>
            </a:avLst>
          </a:prstGeom>
          <a:solidFill>
            <a:srgbClr val="E6F4EC"/>
          </a:solidFill>
          <a:ln w="9525">
            <a:solidFill>
              <a:srgbClr val="2E8B57"/>
            </a:solidFill>
            <a:prstDash val="solid"/>
          </a:ln>
        </p:spPr>
      </p:sp>
      <p:sp>
        <p:nvSpPr>
          <p:cNvPr id="95" name="Shape 92"/>
          <p:cNvSpPr/>
          <p:nvPr/>
        </p:nvSpPr>
        <p:spPr>
          <a:xfrm>
            <a:off x="3504438" y="4831080"/>
            <a:ext cx="256032" cy="256032"/>
          </a:xfrm>
          <a:prstGeom prst="ellipse">
            <a:avLst/>
          </a:prstGeom>
          <a:solidFill>
            <a:srgbClr val="2E8B57"/>
          </a:solidFill>
          <a:ln w="12700">
            <a:solidFill>
              <a:srgbClr val="2E8B57"/>
            </a:solidFill>
            <a:prstDash val="solid"/>
          </a:ln>
        </p:spPr>
      </p:sp>
      <p:sp>
        <p:nvSpPr>
          <p:cNvPr id="96" name="Text 93"/>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97" name="Text 94"/>
          <p:cNvSpPr txBox="1"/>
          <p:nvPr/>
        </p:nvSpPr>
        <p:spPr>
          <a:xfrm>
            <a:off x="3833622" y="4773168"/>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she wears a blue coat and a black bag</a:t>
            </a:r>
            <a:endParaRPr lang="en-US" sz="1150" dirty="0"/>
          </a:p>
        </p:txBody>
      </p:sp>
      <p:sp>
        <p:nvSpPr>
          <p:cNvPr id="98" name="Shape 95"/>
          <p:cNvSpPr/>
          <p:nvPr/>
        </p:nvSpPr>
        <p:spPr>
          <a:xfrm>
            <a:off x="3504438" y="5202936"/>
            <a:ext cx="256032" cy="256032"/>
          </a:xfrm>
          <a:prstGeom prst="ellipse">
            <a:avLst/>
          </a:prstGeom>
          <a:solidFill>
            <a:srgbClr val="C9CED6"/>
          </a:solidFill>
          <a:ln w="12700">
            <a:solidFill>
              <a:srgbClr val="C9CED6"/>
            </a:solidFill>
            <a:prstDash val="solid"/>
          </a:ln>
        </p:spPr>
      </p:sp>
      <p:sp>
        <p:nvSpPr>
          <p:cNvPr id="99" name="Text 96"/>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100" name="Text 97"/>
          <p:cNvSpPr txBox="1"/>
          <p:nvPr/>
        </p:nvSpPr>
        <p:spPr>
          <a:xfrm>
            <a:off x="3833622"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she wears glasses</a:t>
            </a:r>
            <a:endParaRPr lang="en-US" sz="1250" dirty="0"/>
          </a:p>
        </p:txBody>
      </p:sp>
      <p:sp>
        <p:nvSpPr>
          <p:cNvPr id="101" name="Shape 98"/>
          <p:cNvSpPr/>
          <p:nvPr/>
        </p:nvSpPr>
        <p:spPr>
          <a:xfrm>
            <a:off x="3504438" y="5574792"/>
            <a:ext cx="256032" cy="256032"/>
          </a:xfrm>
          <a:prstGeom prst="ellipse">
            <a:avLst/>
          </a:prstGeom>
          <a:solidFill>
            <a:srgbClr val="C9CED6"/>
          </a:solidFill>
          <a:ln w="12700">
            <a:solidFill>
              <a:srgbClr val="C9CED6"/>
            </a:solidFill>
            <a:prstDash val="solid"/>
          </a:ln>
        </p:spPr>
      </p:sp>
      <p:sp>
        <p:nvSpPr>
          <p:cNvPr id="102" name="Text 99"/>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103" name="Text 100"/>
          <p:cNvSpPr txBox="1"/>
          <p:nvPr/>
        </p:nvSpPr>
        <p:spPr>
          <a:xfrm>
            <a:off x="3833622"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she has short hair</a:t>
            </a:r>
            <a:endParaRPr lang="en-US" sz="1250" dirty="0"/>
          </a:p>
        </p:txBody>
      </p:sp>
      <p:sp>
        <p:nvSpPr>
          <p:cNvPr id="104" name="Text 101"/>
          <p:cNvSpPr txBox="1"/>
          <p:nvPr/>
        </p:nvSpPr>
        <p:spPr>
          <a:xfrm>
            <a:off x="3449574"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الَّتِي تَرْتَدِي مِعْطَفًا أَزْرَقَ وَحَقِيبَةً سَوْدَاءَ.</a:t>
            </a:r>
            <a:endParaRPr lang="ar-SA" sz="1350" dirty="0"/>
          </a:p>
        </p:txBody>
      </p:sp>
      <p:sp>
        <p:nvSpPr>
          <p:cNvPr id="105" name="Shape 102"/>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06" name="Shape 103"/>
          <p:cNvSpPr/>
          <p:nvPr/>
        </p:nvSpPr>
        <p:spPr>
          <a:xfrm>
            <a:off x="6807708" y="4361688"/>
            <a:ext cx="914400" cy="274320"/>
          </a:xfrm>
          <a:prstGeom prst="roundRect">
            <a:avLst>
              <a:gd name="adj" fmla="val 50000"/>
            </a:avLst>
          </a:prstGeom>
          <a:solidFill>
            <a:srgbClr val="2E8B57"/>
          </a:solidFill>
          <a:ln w="12700">
            <a:solidFill>
              <a:srgbClr val="2E8B57"/>
            </a:solidFill>
            <a:prstDash val="solid"/>
          </a:ln>
        </p:spPr>
      </p:sp>
      <p:sp>
        <p:nvSpPr>
          <p:cNvPr id="107" name="Text 104"/>
          <p:cNvSpPr txBox="1"/>
          <p:nvPr/>
        </p:nvSpPr>
        <p:spPr>
          <a:xfrm>
            <a:off x="6807708"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108" name="Text 105"/>
          <p:cNvSpPr txBox="1"/>
          <p:nvPr/>
        </p:nvSpPr>
        <p:spPr>
          <a:xfrm>
            <a:off x="6387084" y="4791456"/>
            <a:ext cx="2315718"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twice. Core: questions 1, 2 and 5.</a:t>
            </a:r>
            <a:endParaRPr lang="en-US" sz="1250" dirty="0"/>
          </a:p>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for: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طَوِيلُ القَامَةِ</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نَظَّارَةً</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بُنِّيَّتَانِ</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a:t>
            </a:r>
            <a:endParaRPr lang="en-US" sz="1250" dirty="0"/>
          </a:p>
        </p:txBody>
      </p:sp>
      <p:sp>
        <p:nvSpPr>
          <p:cNvPr id="109" name="Text 10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31 / 47</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TB-L03 · Appearance and Personality</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TOPIC B APPLICATION CHALLENGE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Appearance and character match</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تَحَدِّي التَّطْبِيقِ</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B · Personal and Social Life · TB-L03</a:t>
            </a:r>
            <a:endParaRPr lang="en-US" sz="850" dirty="0"/>
          </a:p>
        </p:txBody>
      </p:sp>
      <p:sp>
        <p:nvSpPr>
          <p:cNvPr id="15" name="Shape 12"/>
          <p:cNvSpPr/>
          <p:nvPr/>
        </p:nvSpPr>
        <p:spPr>
          <a:xfrm>
            <a:off x="457200" y="1810512"/>
            <a:ext cx="5715000" cy="4498848"/>
          </a:xfrm>
          <a:prstGeom prst="roundRect">
            <a:avLst>
              <a:gd name="adj" fmla="val 1626"/>
            </a:avLst>
          </a:prstGeom>
          <a:solidFill>
            <a:srgbClr val="F4F1EA"/>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20240"/>
            <a:ext cx="3108960" cy="292608"/>
          </a:xfrm>
          <a:prstGeom prst="roundRect">
            <a:avLst>
              <a:gd name="adj" fmla="val 50000"/>
            </a:avLst>
          </a:prstGeom>
          <a:solidFill>
            <a:srgbClr val="8A6D1E"/>
          </a:solidFill>
          <a:ln w="12700">
            <a:solidFill>
              <a:srgbClr val="8A6D1E"/>
            </a:solidFill>
            <a:prstDash val="solid"/>
          </a:ln>
        </p:spPr>
      </p:sp>
      <p:sp>
        <p:nvSpPr>
          <p:cNvPr id="17" name="Text 14"/>
          <p:cNvSpPr txBox="1"/>
          <p:nvPr/>
        </p:nvSpPr>
        <p:spPr>
          <a:xfrm>
            <a:off x="640080" y="1920240"/>
            <a:ext cx="3108960" cy="292608"/>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TOPIC B CHALLENGE · WEBSITE</a:t>
            </a:r>
            <a:endParaRPr lang="en-US" sz="900" dirty="0"/>
          </a:p>
        </p:txBody>
      </p:sp>
      <p:sp>
        <p:nvSpPr>
          <p:cNvPr id="18" name="Text 15"/>
          <p:cNvSpPr txBox="1"/>
          <p:nvPr/>
        </p:nvSpPr>
        <p:spPr>
          <a:xfrm>
            <a:off x="640080" y="2286000"/>
            <a:ext cx="5349240" cy="502920"/>
          </a:xfrm>
          <a:prstGeom prst="rect">
            <a:avLst/>
          </a:prstGeom>
          <a:noFill/>
          <a:ln/>
        </p:spPr>
        <p:txBody>
          <a:bodyPr wrap="square" lIns="0" tIns="0" rIns="0" bIns="0" rtlCol="0" anchor="ctr"/>
          <a:lstStyle/>
          <a:p>
            <a:pPr algn="l" indent="0" marL="0">
              <a:buNone/>
            </a:pPr>
            <a:r>
              <a:rPr lang="en-US" sz="2200" b="1" dirty="0">
                <a:solidFill>
                  <a:srgbClr val="1B3B6F"/>
                </a:solidFill>
                <a:latin typeface="Calibri" pitchFamily="34" charset="0"/>
                <a:ea typeface="Calibri" pitchFamily="34" charset="-122"/>
                <a:cs typeface="Calibri" pitchFamily="34" charset="-120"/>
              </a:rPr>
              <a:t>🧩  Appearance and character match</a:t>
            </a:r>
            <a:endParaRPr lang="en-US" sz="2200" dirty="0"/>
          </a:p>
        </p:txBody>
      </p:sp>
      <p:sp>
        <p:nvSpPr>
          <p:cNvPr id="19" name="Text 16"/>
          <p:cNvSpPr txBox="1"/>
          <p:nvPr/>
        </p:nvSpPr>
        <p:spPr>
          <a:xfrm>
            <a:off x="640080" y="2816352"/>
            <a:ext cx="5349240" cy="118872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Match physical-description cards to personality clues, then justify which details are facts and which are opinions using accurate adjective agreement.</a:t>
            </a:r>
            <a:endParaRPr lang="en-US" sz="1350" dirty="0"/>
          </a:p>
        </p:txBody>
      </p:sp>
      <p:sp>
        <p:nvSpPr>
          <p:cNvPr id="20" name="Text 17"/>
          <p:cNvSpPr txBox="1"/>
          <p:nvPr/>
        </p:nvSpPr>
        <p:spPr>
          <a:xfrm>
            <a:off x="640080" y="4041648"/>
            <a:ext cx="530352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HOW WE RUN IT ONLINE</a:t>
            </a:r>
            <a:endParaRPr lang="en-US" sz="950" dirty="0"/>
          </a:p>
        </p:txBody>
      </p:sp>
      <p:sp>
        <p:nvSpPr>
          <p:cNvPr id="21" name="Shape 18"/>
          <p:cNvSpPr/>
          <p:nvPr/>
        </p:nvSpPr>
        <p:spPr>
          <a:xfrm>
            <a:off x="658368" y="4407408"/>
            <a:ext cx="274320" cy="274320"/>
          </a:xfrm>
          <a:prstGeom prst="ellipse">
            <a:avLst/>
          </a:prstGeom>
          <a:solidFill>
            <a:srgbClr val="1B3B6F"/>
          </a:solidFill>
          <a:ln w="12700">
            <a:solidFill>
              <a:srgbClr val="1B3B6F"/>
            </a:solidFill>
            <a:prstDash val="solid"/>
          </a:ln>
        </p:spPr>
      </p:sp>
      <p:sp>
        <p:nvSpPr>
          <p:cNvPr id="22" name="Text 19"/>
          <p:cNvSpPr txBox="1"/>
          <p:nvPr/>
        </p:nvSpPr>
        <p:spPr>
          <a:xfrm>
            <a:off x="658368" y="44074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1</a:t>
            </a:r>
            <a:endParaRPr lang="en-US" sz="1000" dirty="0"/>
          </a:p>
        </p:txBody>
      </p:sp>
      <p:sp>
        <p:nvSpPr>
          <p:cNvPr id="23" name="Text 20"/>
          <p:cNvSpPr txBox="1"/>
          <p:nvPr/>
        </p:nvSpPr>
        <p:spPr>
          <a:xfrm>
            <a:off x="1024128" y="43342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Teacher shows 3 description cards (appearance) and 3 personality clues on screen.</a:t>
            </a:r>
            <a:endParaRPr lang="en-US" sz="1150" dirty="0"/>
          </a:p>
        </p:txBody>
      </p:sp>
      <p:sp>
        <p:nvSpPr>
          <p:cNvPr id="24" name="Shape 21"/>
          <p:cNvSpPr/>
          <p:nvPr/>
        </p:nvSpPr>
        <p:spPr>
          <a:xfrm>
            <a:off x="658368" y="4864608"/>
            <a:ext cx="274320" cy="274320"/>
          </a:xfrm>
          <a:prstGeom prst="ellipse">
            <a:avLst/>
          </a:prstGeom>
          <a:solidFill>
            <a:srgbClr val="1B3B6F"/>
          </a:solidFill>
          <a:ln w="12700">
            <a:solidFill>
              <a:srgbClr val="1B3B6F"/>
            </a:solidFill>
            <a:prstDash val="solid"/>
          </a:ln>
        </p:spPr>
      </p:sp>
      <p:sp>
        <p:nvSpPr>
          <p:cNvPr id="25" name="Text 22"/>
          <p:cNvSpPr txBox="1"/>
          <p:nvPr/>
        </p:nvSpPr>
        <p:spPr>
          <a:xfrm>
            <a:off x="658368" y="48646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2</a:t>
            </a:r>
            <a:endParaRPr lang="en-US" sz="1000" dirty="0"/>
          </a:p>
        </p:txBody>
      </p:sp>
      <p:sp>
        <p:nvSpPr>
          <p:cNvPr id="26" name="Text 23"/>
          <p:cNvSpPr txBox="1"/>
          <p:nvPr/>
        </p:nvSpPr>
        <p:spPr>
          <a:xfrm>
            <a:off x="1024128" y="47914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Pairs match each appearance card to a personality clue (type 1-B, 2-A …).</a:t>
            </a:r>
            <a:endParaRPr lang="en-US" sz="1150" dirty="0"/>
          </a:p>
        </p:txBody>
      </p:sp>
      <p:sp>
        <p:nvSpPr>
          <p:cNvPr id="27" name="Shape 24"/>
          <p:cNvSpPr/>
          <p:nvPr/>
        </p:nvSpPr>
        <p:spPr>
          <a:xfrm>
            <a:off x="658368" y="5321808"/>
            <a:ext cx="274320" cy="274320"/>
          </a:xfrm>
          <a:prstGeom prst="ellipse">
            <a:avLst/>
          </a:prstGeom>
          <a:solidFill>
            <a:srgbClr val="1B3B6F"/>
          </a:solidFill>
          <a:ln w="12700">
            <a:solidFill>
              <a:srgbClr val="1B3B6F"/>
            </a:solidFill>
            <a:prstDash val="solid"/>
          </a:ln>
        </p:spPr>
      </p:sp>
      <p:sp>
        <p:nvSpPr>
          <p:cNvPr id="28" name="Text 25"/>
          <p:cNvSpPr txBox="1"/>
          <p:nvPr/>
        </p:nvSpPr>
        <p:spPr>
          <a:xfrm>
            <a:off x="658368" y="53218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3</a:t>
            </a:r>
            <a:endParaRPr lang="en-US" sz="1000" dirty="0"/>
          </a:p>
        </p:txBody>
      </p:sp>
      <p:sp>
        <p:nvSpPr>
          <p:cNvPr id="29" name="Text 26"/>
          <p:cNvSpPr txBox="1"/>
          <p:nvPr/>
        </p:nvSpPr>
        <p:spPr>
          <a:xfrm>
            <a:off x="1024128" y="52486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For each match, say ONE fact (appearance) and ONE opinion (personality).</a:t>
            </a:r>
            <a:endParaRPr lang="en-US" sz="1150" dirty="0"/>
          </a:p>
        </p:txBody>
      </p:sp>
      <p:sp>
        <p:nvSpPr>
          <p:cNvPr id="30" name="Shape 27"/>
          <p:cNvSpPr/>
          <p:nvPr/>
        </p:nvSpPr>
        <p:spPr>
          <a:xfrm>
            <a:off x="658368" y="5779008"/>
            <a:ext cx="274320" cy="274320"/>
          </a:xfrm>
          <a:prstGeom prst="ellipse">
            <a:avLst/>
          </a:prstGeom>
          <a:solidFill>
            <a:srgbClr val="1B3B6F"/>
          </a:solidFill>
          <a:ln w="12700">
            <a:solidFill>
              <a:srgbClr val="1B3B6F"/>
            </a:solidFill>
            <a:prstDash val="solid"/>
          </a:ln>
        </p:spPr>
      </p:sp>
      <p:sp>
        <p:nvSpPr>
          <p:cNvPr id="31" name="Text 28"/>
          <p:cNvSpPr txBox="1"/>
          <p:nvPr/>
        </p:nvSpPr>
        <p:spPr>
          <a:xfrm>
            <a:off x="658368" y="57790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4</a:t>
            </a:r>
            <a:endParaRPr lang="en-US" sz="1000" dirty="0"/>
          </a:p>
        </p:txBody>
      </p:sp>
      <p:sp>
        <p:nvSpPr>
          <p:cNvPr id="32" name="Text 29"/>
          <p:cNvSpPr txBox="1"/>
          <p:nvPr/>
        </p:nvSpPr>
        <p:spPr>
          <a:xfrm>
            <a:off x="1024128" y="57058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Check every adjective: m. / f. agreement.</a:t>
            </a:r>
            <a:endParaRPr lang="en-US" sz="1150" dirty="0"/>
          </a:p>
        </p:txBody>
      </p:sp>
      <p:sp>
        <p:nvSpPr>
          <p:cNvPr id="33" name="Shape 30"/>
          <p:cNvSpPr/>
          <p:nvPr/>
        </p:nvSpPr>
        <p:spPr>
          <a:xfrm>
            <a:off x="6355080" y="1810512"/>
            <a:ext cx="5376672" cy="896112"/>
          </a:xfrm>
          <a:prstGeom prst="roundRect">
            <a:avLst>
              <a:gd name="adj" fmla="val 8163"/>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473952" y="1901952"/>
            <a:ext cx="105156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6473952" y="190195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3"/>
          <p:cNvSpPr txBox="1"/>
          <p:nvPr/>
        </p:nvSpPr>
        <p:spPr>
          <a:xfrm>
            <a:off x="6473952" y="217627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Match the cards; say one fact: “huwa ṭawīl / hiya ṭawīla”.</a:t>
            </a:r>
            <a:endParaRPr lang="en-US" sz="1150" dirty="0"/>
          </a:p>
        </p:txBody>
      </p:sp>
      <p:sp>
        <p:nvSpPr>
          <p:cNvPr id="37" name="Shape 34"/>
          <p:cNvSpPr/>
          <p:nvPr/>
        </p:nvSpPr>
        <p:spPr>
          <a:xfrm>
            <a:off x="6355080" y="2816352"/>
            <a:ext cx="5376672" cy="896112"/>
          </a:xfrm>
          <a:prstGeom prst="roundRect">
            <a:avLst>
              <a:gd name="adj" fmla="val 8163"/>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6473952" y="2907792"/>
            <a:ext cx="1051560" cy="256032"/>
          </a:xfrm>
          <a:prstGeom prst="roundRect">
            <a:avLst>
              <a:gd name="adj" fmla="val 50000"/>
            </a:avLst>
          </a:prstGeom>
          <a:solidFill>
            <a:srgbClr val="C9780A"/>
          </a:solidFill>
          <a:ln w="12700">
            <a:solidFill>
              <a:srgbClr val="C9780A"/>
            </a:solidFill>
            <a:prstDash val="solid"/>
          </a:ln>
        </p:spPr>
      </p:sp>
      <p:sp>
        <p:nvSpPr>
          <p:cNvPr id="39" name="Text 36"/>
          <p:cNvSpPr txBox="1"/>
          <p:nvPr/>
        </p:nvSpPr>
        <p:spPr>
          <a:xfrm>
            <a:off x="6473952" y="290779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7"/>
          <p:cNvSpPr txBox="1"/>
          <p:nvPr/>
        </p:nvSpPr>
        <p:spPr>
          <a:xfrm>
            <a:off x="6473952" y="318211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A fact + an opinion with “I think” (a‘taqidu anna …).</a:t>
            </a:r>
            <a:endParaRPr lang="en-US" sz="1150" dirty="0"/>
          </a:p>
        </p:txBody>
      </p:sp>
      <p:sp>
        <p:nvSpPr>
          <p:cNvPr id="41" name="Shape 38"/>
          <p:cNvSpPr/>
          <p:nvPr/>
        </p:nvSpPr>
        <p:spPr>
          <a:xfrm>
            <a:off x="6355080" y="3822192"/>
            <a:ext cx="5376672" cy="896112"/>
          </a:xfrm>
          <a:prstGeom prst="roundRect">
            <a:avLst>
              <a:gd name="adj" fmla="val 8163"/>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473952" y="3913632"/>
            <a:ext cx="1051560" cy="256032"/>
          </a:xfrm>
          <a:prstGeom prst="roundRect">
            <a:avLst>
              <a:gd name="adj" fmla="val 50000"/>
            </a:avLst>
          </a:prstGeom>
          <a:solidFill>
            <a:srgbClr val="B83227"/>
          </a:solidFill>
          <a:ln w="12700">
            <a:solidFill>
              <a:srgbClr val="B83227"/>
            </a:solidFill>
            <a:prstDash val="solid"/>
          </a:ln>
        </p:spPr>
      </p:sp>
      <p:sp>
        <p:nvSpPr>
          <p:cNvPr id="43" name="Text 40"/>
          <p:cNvSpPr txBox="1"/>
          <p:nvPr/>
        </p:nvSpPr>
        <p:spPr>
          <a:xfrm>
            <a:off x="6473952" y="391363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1"/>
          <p:cNvSpPr txBox="1"/>
          <p:nvPr/>
        </p:nvSpPr>
        <p:spPr>
          <a:xfrm>
            <a:off x="6473952" y="418795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Justify the opinion with evidence (li’annahu / li’annahā …) and use a relative clause (alladhī / allatī).</a:t>
            </a:r>
            <a:endParaRPr lang="en-US" sz="1150" dirty="0"/>
          </a:p>
        </p:txBody>
      </p:sp>
      <p:sp>
        <p:nvSpPr>
          <p:cNvPr id="45" name="Shape 42"/>
          <p:cNvSpPr/>
          <p:nvPr/>
        </p:nvSpPr>
        <p:spPr>
          <a:xfrm>
            <a:off x="6355080" y="4828032"/>
            <a:ext cx="5376672" cy="1481328"/>
          </a:xfrm>
          <a:prstGeom prst="roundRect">
            <a:avLst>
              <a:gd name="adj" fmla="val 493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Text 43"/>
          <p:cNvSpPr txBox="1"/>
          <p:nvPr/>
        </p:nvSpPr>
        <p:spPr>
          <a:xfrm>
            <a:off x="6492240" y="4882896"/>
            <a:ext cx="27432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USEFUL LANGUAGE</a:t>
            </a:r>
            <a:endParaRPr lang="en-US" sz="950" dirty="0"/>
          </a:p>
        </p:txBody>
      </p:sp>
      <p:sp>
        <p:nvSpPr>
          <p:cNvPr id="47" name="Text 44"/>
          <p:cNvSpPr txBox="1"/>
          <p:nvPr/>
        </p:nvSpPr>
        <p:spPr>
          <a:xfrm>
            <a:off x="8732520" y="5138928"/>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34" charset="0"/>
                <a:ea typeface="Amiri" pitchFamily="34" charset="-122"/>
                <a:cs typeface="Amiri" pitchFamily="34" charset="-120"/>
              </a:rPr>
              <a:t>طَوِيلٌ / طَوِيلَةٌ</a:t>
            </a:r>
            <a:endParaRPr lang="ar-SA" sz="1300" dirty="0"/>
          </a:p>
        </p:txBody>
      </p:sp>
      <p:sp>
        <p:nvSpPr>
          <p:cNvPr id="48" name="Text 45"/>
          <p:cNvSpPr txBox="1"/>
          <p:nvPr/>
        </p:nvSpPr>
        <p:spPr>
          <a:xfrm>
            <a:off x="6492240" y="5138928"/>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ea typeface="Calibri" pitchFamily="34" charset="-122"/>
                <a:cs typeface="Calibri" pitchFamily="34" charset="-120"/>
              </a:rPr>
              <a:t>tall (m. / f.)</a:t>
            </a:r>
            <a:endParaRPr lang="en-US" sz="1000" dirty="0"/>
          </a:p>
        </p:txBody>
      </p:sp>
      <p:sp>
        <p:nvSpPr>
          <p:cNvPr id="49" name="Text 46"/>
          <p:cNvSpPr txBox="1"/>
          <p:nvPr/>
        </p:nvSpPr>
        <p:spPr>
          <a:xfrm>
            <a:off x="8732520" y="5422392"/>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34" charset="0"/>
                <a:ea typeface="Amiri" pitchFamily="34" charset="-122"/>
                <a:cs typeface="Amiri" pitchFamily="34" charset="-120"/>
              </a:rPr>
              <a:t>شَعْرُهَا أَسْوَدُ</a:t>
            </a:r>
            <a:endParaRPr lang="ar-SA" sz="1300" dirty="0"/>
          </a:p>
        </p:txBody>
      </p:sp>
      <p:sp>
        <p:nvSpPr>
          <p:cNvPr id="50" name="Text 47"/>
          <p:cNvSpPr txBox="1"/>
          <p:nvPr/>
        </p:nvSpPr>
        <p:spPr>
          <a:xfrm>
            <a:off x="6492240" y="5422392"/>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ea typeface="Calibri" pitchFamily="34" charset="-122"/>
                <a:cs typeface="Calibri" pitchFamily="34" charset="-120"/>
              </a:rPr>
              <a:t>her hair is black</a:t>
            </a:r>
            <a:endParaRPr lang="en-US" sz="1000" dirty="0"/>
          </a:p>
        </p:txBody>
      </p:sp>
      <p:sp>
        <p:nvSpPr>
          <p:cNvPr id="51" name="Text 48"/>
          <p:cNvSpPr txBox="1"/>
          <p:nvPr/>
        </p:nvSpPr>
        <p:spPr>
          <a:xfrm>
            <a:off x="8732520" y="5705856"/>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34" charset="0"/>
                <a:ea typeface="Amiri" pitchFamily="34" charset="-122"/>
                <a:cs typeface="Amiri" pitchFamily="34" charset="-120"/>
              </a:rPr>
              <a:t>أَعْتَقِدُ أَنَّهُ …</a:t>
            </a:r>
            <a:endParaRPr lang="ar-SA" sz="1300" dirty="0"/>
          </a:p>
        </p:txBody>
      </p:sp>
      <p:sp>
        <p:nvSpPr>
          <p:cNvPr id="52" name="Text 49"/>
          <p:cNvSpPr txBox="1"/>
          <p:nvPr/>
        </p:nvSpPr>
        <p:spPr>
          <a:xfrm>
            <a:off x="6492240" y="5705856"/>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ea typeface="Calibri" pitchFamily="34" charset="-122"/>
                <a:cs typeface="Calibri" pitchFamily="34" charset="-120"/>
              </a:rPr>
              <a:t>I think that he …</a:t>
            </a:r>
            <a:endParaRPr lang="en-US" sz="1000" dirty="0"/>
          </a:p>
        </p:txBody>
      </p:sp>
      <p:sp>
        <p:nvSpPr>
          <p:cNvPr id="53" name="Text 50"/>
          <p:cNvSpPr txBox="1"/>
          <p:nvPr/>
        </p:nvSpPr>
        <p:spPr>
          <a:xfrm>
            <a:off x="8732520" y="5989320"/>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34" charset="0"/>
                <a:ea typeface="Amiri" pitchFamily="34" charset="-122"/>
                <a:cs typeface="Amiri" pitchFamily="34" charset="-120"/>
              </a:rPr>
              <a:t>الَّذِي / الَّتِي</a:t>
            </a:r>
            <a:endParaRPr lang="ar-SA" sz="1300" dirty="0"/>
          </a:p>
        </p:txBody>
      </p:sp>
      <p:sp>
        <p:nvSpPr>
          <p:cNvPr id="54" name="Text 51"/>
          <p:cNvSpPr txBox="1"/>
          <p:nvPr/>
        </p:nvSpPr>
        <p:spPr>
          <a:xfrm>
            <a:off x="6492240" y="5989320"/>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ea typeface="Calibri" pitchFamily="34" charset="-122"/>
                <a:cs typeface="Calibri" pitchFamily="34" charset="-120"/>
              </a:rPr>
              <a:t>who (m. / f.)</a:t>
            </a:r>
            <a:endParaRPr lang="en-US" sz="100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32 / 47</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TB-L03 · Appearance and Personality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SAY IT BEFORE YOU WRITE IT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50" b="1" dirty="0">
                <a:solidFill>
                  <a:srgbClr val="1B3B6F"/>
                </a:solidFill>
                <a:latin typeface="Cambria" pitchFamily="34" charset="0"/>
                <a:ea typeface="Cambria" pitchFamily="34" charset="-122"/>
                <a:cs typeface="Cambria" pitchFamily="34" charset="-120"/>
              </a:rPr>
              <a:t>Developed speaking: physical appearance</a:t>
            </a:r>
            <a:endParaRPr lang="en-US" sz="23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التَّحَدُّثُ</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B · Personal and Social Life · TB-L03</a:t>
            </a:r>
            <a:endParaRPr lang="en-US" sz="850" dirty="0"/>
          </a:p>
        </p:txBody>
      </p:sp>
      <p:sp>
        <p:nvSpPr>
          <p:cNvPr id="17" name="Shape 14"/>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8" name="Text 15"/>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19" name="Text 16"/>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Think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10 seconds</a:t>
            </a:r>
            <a:endParaRPr lang="en-US" sz="1050" dirty="0"/>
          </a:p>
        </p:txBody>
      </p:sp>
      <p:sp>
        <p:nvSpPr>
          <p:cNvPr id="20" name="Shape 17"/>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21" name="Text 18"/>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2" name="Text 19"/>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Rehearse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muted · 45 s</a:t>
            </a:r>
            <a:endParaRPr lang="en-US" sz="1050" dirty="0"/>
          </a:p>
        </p:txBody>
      </p:sp>
      <p:sp>
        <p:nvSpPr>
          <p:cNvPr id="23" name="Shape 20"/>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4" name="Text 21"/>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5" name="Text 22"/>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Pairs share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open mic</a:t>
            </a:r>
            <a:endParaRPr lang="en-US" sz="1050" dirty="0"/>
          </a:p>
        </p:txBody>
      </p:sp>
      <p:sp>
        <p:nvSpPr>
          <p:cNvPr id="26" name="Shape 23"/>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7" name="Text 24"/>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 ?</a:t>
            </a:r>
            <a:endParaRPr lang="en-US" sz="1800" dirty="0"/>
          </a:p>
        </p:txBody>
      </p:sp>
      <p:sp>
        <p:nvSpPr>
          <p:cNvPr id="28" name="Text 25"/>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Build / ask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in the chat</a:t>
            </a:r>
            <a:endParaRPr lang="en-US" sz="1050" dirty="0"/>
          </a:p>
        </p:txBody>
      </p:sp>
      <p:sp>
        <p:nvSpPr>
          <p:cNvPr id="29" name="Shape 26"/>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30" name="Text 27"/>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31" name="Text 28"/>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Summarise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he / she …</a:t>
            </a:r>
            <a:endParaRPr lang="en-US" sz="1050" dirty="0"/>
          </a:p>
        </p:txBody>
      </p:sp>
      <p:sp>
        <p:nvSpPr>
          <p:cNvPr id="32" name="Shape 29"/>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4" name="Text 31"/>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5" name="Text 32"/>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صِفْ شَخْصًا فِي صُورَةٍ.</a:t>
            </a:r>
            <a:endParaRPr lang="ar-SA" sz="1800" dirty="0"/>
          </a:p>
        </p:txBody>
      </p:sp>
      <p:sp>
        <p:nvSpPr>
          <p:cNvPr id="36" name="Shape 33"/>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9" name="Text 36"/>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صِفْ مَلَابِسَ شَخْصٍ تَعْرِفُهُ.</a:t>
            </a:r>
            <a:endParaRPr lang="ar-SA" sz="1800" dirty="0"/>
          </a:p>
        </p:txBody>
      </p:sp>
      <p:sp>
        <p:nvSpPr>
          <p:cNvPr id="40" name="Shape 37"/>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4846320" y="3886200"/>
            <a:ext cx="960120" cy="256032"/>
          </a:xfrm>
          <a:prstGeom prst="roundRect">
            <a:avLst>
              <a:gd name="adj" fmla="val 50000"/>
            </a:avLst>
          </a:prstGeom>
          <a:solidFill>
            <a:srgbClr val="C9780A"/>
          </a:solidFill>
          <a:ln w="12700">
            <a:solidFill>
              <a:srgbClr val="C9780A"/>
            </a:solidFill>
            <a:prstDash val="solid"/>
          </a:ln>
        </p:spPr>
      </p:sp>
      <p:sp>
        <p:nvSpPr>
          <p:cNvPr id="42" name="Text 39"/>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43" name="Text 40"/>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اِسْتَعْمِلِ الَّذِي أَوِ الَّتِي فِي وَصْفٍ.</a:t>
            </a:r>
            <a:endParaRPr lang="ar-SA" sz="1800" dirty="0"/>
          </a:p>
        </p:txBody>
      </p:sp>
      <p:sp>
        <p:nvSpPr>
          <p:cNvPr id="44" name="Shape 41"/>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4846320" y="4507992"/>
            <a:ext cx="960120" cy="256032"/>
          </a:xfrm>
          <a:prstGeom prst="roundRect">
            <a:avLst>
              <a:gd name="adj" fmla="val 50000"/>
            </a:avLst>
          </a:prstGeom>
          <a:solidFill>
            <a:srgbClr val="B83227"/>
          </a:solidFill>
          <a:ln w="12700">
            <a:solidFill>
              <a:srgbClr val="B83227"/>
            </a:solidFill>
            <a:prstDash val="solid"/>
          </a:ln>
        </p:spPr>
      </p:sp>
      <p:sp>
        <p:nvSpPr>
          <p:cNvPr id="46" name="Text 43"/>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7" name="Text 44"/>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 الفَرْقُ بَيْنَ وَصْفِ المَظْهَرِ وَالحُكْمِ عَلَى الشَّخْصِيَّةِ؟</a:t>
            </a:r>
            <a:endParaRPr lang="ar-SA" sz="1800" dirty="0"/>
          </a:p>
        </p:txBody>
      </p:sp>
      <p:sp>
        <p:nvSpPr>
          <p:cNvPr id="48" name="Shape 45"/>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9" name="Text 46"/>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SENTENCE STEMS</a:t>
            </a:r>
            <a:endParaRPr lang="en-US" sz="1000" dirty="0"/>
          </a:p>
        </p:txBody>
      </p:sp>
      <p:sp>
        <p:nvSpPr>
          <p:cNvPr id="50" name="Shape 47"/>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2" name="Text 49"/>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350" b="1" dirty="0">
                <a:solidFill>
                  <a:srgbClr val="1D5FBF"/>
                </a:solidFill>
                <a:latin typeface="Amiri" pitchFamily="34" charset="0"/>
                <a:ea typeface="Amiri" pitchFamily="34" charset="-122"/>
                <a:cs typeface="Amiri" pitchFamily="34" charset="-120"/>
              </a:rPr>
              <a:t>هُوَ / هِيَ ___ القَامَةِ ، لَهُ / لَهَا شَعْرٌ ___ .</a:t>
            </a:r>
            <a:endParaRPr lang="ar-SA" sz="1350" dirty="0"/>
          </a:p>
        </p:txBody>
      </p:sp>
      <p:sp>
        <p:nvSpPr>
          <p:cNvPr id="53" name="Shape 50"/>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54" name="Text 51"/>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55" name="Text 52"/>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يَرْتَدِي / تَرْتَدِي ___ وَ ___ .</a:t>
            </a:r>
            <a:endParaRPr lang="ar-SA" sz="1600" dirty="0"/>
          </a:p>
        </p:txBody>
      </p:sp>
      <p:sp>
        <p:nvSpPr>
          <p:cNvPr id="56" name="Shape 53"/>
          <p:cNvSpPr/>
          <p:nvPr/>
        </p:nvSpPr>
        <p:spPr>
          <a:xfrm>
            <a:off x="640080" y="4123944"/>
            <a:ext cx="1051560" cy="256032"/>
          </a:xfrm>
          <a:prstGeom prst="roundRect">
            <a:avLst>
              <a:gd name="adj" fmla="val 50000"/>
            </a:avLst>
          </a:prstGeom>
          <a:solidFill>
            <a:srgbClr val="C9780A"/>
          </a:solidFill>
          <a:ln w="12700">
            <a:solidFill>
              <a:srgbClr val="C9780A"/>
            </a:solidFill>
            <a:prstDash val="solid"/>
          </a:ln>
        </p:spPr>
      </p:sp>
      <p:sp>
        <p:nvSpPr>
          <p:cNvPr id="57" name="Text 54"/>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58" name="Text 55"/>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400" b="1" dirty="0">
                <a:solidFill>
                  <a:srgbClr val="1F2A37"/>
                </a:solidFill>
                <a:latin typeface="Amiri" pitchFamily="34" charset="0"/>
                <a:ea typeface="Amiri" pitchFamily="34" charset="-122"/>
                <a:cs typeface="Amiri" pitchFamily="34" charset="-120"/>
              </a:rPr>
              <a:t>هُوَ الشَّخْصُ الَّذِي … / هِيَ الفَتَاةُ الَّتِي ___ .</a:t>
            </a:r>
            <a:endParaRPr lang="ar-SA" sz="1400" dirty="0"/>
          </a:p>
        </p:txBody>
      </p:sp>
      <p:sp>
        <p:nvSpPr>
          <p:cNvPr id="59" name="Shape 56"/>
          <p:cNvSpPr/>
          <p:nvPr/>
        </p:nvSpPr>
        <p:spPr>
          <a:xfrm>
            <a:off x="640080" y="4681728"/>
            <a:ext cx="1051560" cy="256032"/>
          </a:xfrm>
          <a:prstGeom prst="roundRect">
            <a:avLst>
              <a:gd name="adj" fmla="val 50000"/>
            </a:avLst>
          </a:prstGeom>
          <a:solidFill>
            <a:srgbClr val="B83227"/>
          </a:solidFill>
          <a:ln w="12700">
            <a:solidFill>
              <a:srgbClr val="B83227"/>
            </a:solidFill>
            <a:prstDash val="solid"/>
          </a:ln>
        </p:spPr>
      </p:sp>
      <p:sp>
        <p:nvSpPr>
          <p:cNvPr id="60" name="Text 57"/>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61" name="Text 58"/>
          <p:cNvSpPr txBox="1"/>
          <p:nvPr/>
        </p:nvSpPr>
        <p:spPr>
          <a:xfrm>
            <a:off x="1783080" y="4526280"/>
            <a:ext cx="2697480" cy="557784"/>
          </a:xfrm>
          <a:prstGeom prst="rect">
            <a:avLst/>
          </a:prstGeom>
          <a:noFill/>
          <a:ln/>
        </p:spPr>
        <p:txBody>
          <a:bodyPr wrap="square" lIns="0" tIns="0" rIns="0" bIns="0" rtlCol="0" anchor="ctr"/>
          <a:lstStyle/>
          <a:p>
            <a:pPr rtl="1" algn="r" indent="0" marL="0">
              <a:buNone/>
            </a:pPr>
            <a:r>
              <a:rPr lang="ar-SA" altLang="en-US" sz="1550" b="1" dirty="0">
                <a:solidFill>
                  <a:srgbClr val="1F2A37"/>
                </a:solidFill>
                <a:latin typeface="Amiri" pitchFamily="34" charset="0"/>
                <a:ea typeface="Amiri" pitchFamily="34" charset="-122"/>
                <a:cs typeface="Amiri" pitchFamily="34" charset="-120"/>
              </a:rPr>
              <a:t>يَبْدُو / تَبْدُو ___ لِأَنَّهُ / لِأَنَّهَا ___ .</a:t>
            </a:r>
            <a:endParaRPr lang="ar-SA" sz="1550" dirty="0"/>
          </a:p>
        </p:txBody>
      </p:sp>
      <p:sp>
        <p:nvSpPr>
          <p:cNvPr id="62" name="Shape 59"/>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3" name="Text 60"/>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ea typeface="Calibri" pitchFamily="34" charset="-122"/>
                <a:cs typeface="Calibri" pitchFamily="34" charset="-120"/>
              </a:rPr>
              <a:t>MODEL (WEBSITE)</a:t>
            </a:r>
            <a:endParaRPr lang="en-US" sz="950" dirty="0"/>
          </a:p>
        </p:txBody>
      </p:sp>
      <p:sp>
        <p:nvSpPr>
          <p:cNvPr id="64" name="Shape 61"/>
          <p:cNvSpPr/>
          <p:nvPr/>
        </p:nvSpPr>
        <p:spPr>
          <a:xfrm>
            <a:off x="11274552" y="5559552"/>
            <a:ext cx="292608" cy="292608"/>
          </a:xfrm>
          <a:prstGeom prst="ellipse">
            <a:avLst/>
          </a:prstGeom>
          <a:solidFill>
            <a:srgbClr val="1E6B52"/>
          </a:solidFill>
          <a:ln w="12700">
            <a:solidFill>
              <a:srgbClr val="1E6B52"/>
            </a:solidFill>
            <a:prstDash val="solid"/>
          </a:ln>
        </p:spPr>
      </p:sp>
      <p:sp>
        <p:nvSpPr>
          <p:cNvPr id="65" name="Text 62"/>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66" name="Text 63"/>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مَنْ هُوَ أَخُوكَ فِي الصُّورَةِ؟</a:t>
            </a:r>
            <a:endParaRPr lang="ar-SA" sz="1550" dirty="0"/>
          </a:p>
        </p:txBody>
      </p:sp>
      <p:sp>
        <p:nvSpPr>
          <p:cNvPr id="67" name="Text 64"/>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Who is your brother in the picture?</a:t>
            </a:r>
            <a:endParaRPr lang="en-US" sz="950" dirty="0"/>
          </a:p>
        </p:txBody>
      </p:sp>
      <p:sp>
        <p:nvSpPr>
          <p:cNvPr id="68" name="Shape 65"/>
          <p:cNvSpPr/>
          <p:nvPr/>
        </p:nvSpPr>
        <p:spPr>
          <a:xfrm>
            <a:off x="11274552" y="5925312"/>
            <a:ext cx="292608" cy="292608"/>
          </a:xfrm>
          <a:prstGeom prst="ellipse">
            <a:avLst/>
          </a:prstGeom>
          <a:solidFill>
            <a:srgbClr val="1E6B52"/>
          </a:solidFill>
          <a:ln w="12700">
            <a:solidFill>
              <a:srgbClr val="1E6B52"/>
            </a:solidFill>
            <a:prstDash val="solid"/>
          </a:ln>
        </p:spPr>
      </p:sp>
      <p:sp>
        <p:nvSpPr>
          <p:cNvPr id="69" name="Text 66"/>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70" name="Text 67"/>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هُوَ الشَّابُّ الَّذِي يَرْتَدِي نَظَّارَةً.</a:t>
            </a:r>
            <a:endParaRPr lang="ar-SA" sz="1550" dirty="0"/>
          </a:p>
        </p:txBody>
      </p:sp>
      <p:sp>
        <p:nvSpPr>
          <p:cNvPr id="71" name="Text 68"/>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He is the young man who wears glasses.</a:t>
            </a:r>
            <a:endParaRPr lang="en-US" sz="950" dirty="0"/>
          </a:p>
        </p:txBody>
      </p:sp>
      <p:sp>
        <p:nvSpPr>
          <p:cNvPr id="72" name="Text 6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33 / 47</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TB-L03 · Appearance and Personality</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B · Personal and Social Life · TB-L03</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34" charset="0"/>
                <a:ea typeface="Amiri" pitchFamily="34" charset="-122"/>
                <a:cs typeface="Amiri" pitchFamily="34" charset="-120"/>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ea typeface="Cambria" pitchFamily="34" charset="-122"/>
                <a:cs typeface="Cambria" pitchFamily="34" charset="-120"/>
              </a:rPr>
              <a:t>5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Secure the main vocabulary and produce four accurate sentences using the taught frame.</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One person in order: height, hair, eyes, two items of clothing (use the Core frames).</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34" charset="0"/>
                <a:ea typeface="Amiri" pitchFamily="34" charset="-122"/>
                <a:cs typeface="Amiri" pitchFamily="34" charset="-120"/>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ea typeface="Cambria" pitchFamily="34" charset="-122"/>
                <a:cs typeface="Cambria" pitchFamily="34" charset="-120"/>
              </a:rPr>
              <a:t>8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Combine description, grammar and a reason in connected answers.</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Two people with his / her, eyes (dual) and one “the one who …” sentence.</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ea typeface="Cambria" pitchFamily="34" charset="-122"/>
                <a:cs typeface="Cambria" pitchFamily="34" charset="-120"/>
              </a:rPr>
              <a:t>100–120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Add comparison, contrast, precise evidence and an independently controlled relative clause.</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Website task: a respectful full portrait of two people — height, hair, eyes, features, clothes and one personality inference from behaviour.</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34 / 47</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TB-L03 · Appearance and Personality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B · Personal and Social Life · TB-L03</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شَعْرُهُ قَصِيرٌ وَمُجَعَّدٌ.</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His hair is short and curly.</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شَعْرُهَا طَوِيلٌ وَمُسْتَقِيمٌ.</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Her hair is long and straight.</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هُوَ الشَّخْصُ الَّذِي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He is the person who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هِيَ الفَتَاةُ الَّتِي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She is the girl who …</a:t>
            </a:r>
            <a:endParaRPr lang="en-US" sz="1050" dirty="0"/>
          </a:p>
        </p:txBody>
      </p:sp>
      <p:sp>
        <p:nvSpPr>
          <p:cNvPr id="26" name="Text 23"/>
          <p:cNvSpPr txBox="1"/>
          <p:nvPr/>
        </p:nvSpPr>
        <p:spPr>
          <a:xfrm>
            <a:off x="2468880" y="4517136"/>
            <a:ext cx="3383280" cy="538582"/>
          </a:xfrm>
          <a:prstGeom prst="rect">
            <a:avLst/>
          </a:prstGeom>
          <a:noFill/>
          <a:ln/>
        </p:spPr>
        <p:txBody>
          <a:bodyPr wrap="square" lIns="0" tIns="0" rIns="0" bIns="0" rtlCol="0" anchor="ctr"/>
          <a:lstStyle/>
          <a:p>
            <a:pPr rtl="1" algn="r" indent="0" marL="0">
              <a:buNone/>
            </a:pPr>
            <a:r>
              <a:rPr lang="ar-SA" altLang="en-US" sz="1650" b="1" dirty="0">
                <a:solidFill>
                  <a:srgbClr val="1B3B6F"/>
                </a:solidFill>
                <a:latin typeface="Amiri" pitchFamily="34" charset="0"/>
                <a:ea typeface="Amiri" pitchFamily="34" charset="-122"/>
                <a:cs typeface="Amiri" pitchFamily="34" charset="-120"/>
              </a:rPr>
              <a:t>يَبْدُو / تَبْدُو ______ لِأَنَّهُ / لِأَنَّهَا ______ .</a:t>
            </a:r>
            <a:endParaRPr lang="ar-SA" sz="1650" dirty="0"/>
          </a:p>
        </p:txBody>
      </p:sp>
      <p:sp>
        <p:nvSpPr>
          <p:cNvPr id="27" name="Text 24"/>
          <p:cNvSpPr txBox="1"/>
          <p:nvPr/>
        </p:nvSpPr>
        <p:spPr>
          <a:xfrm>
            <a:off x="594360"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He / she seems … because …</a:t>
            </a:r>
            <a:endParaRPr lang="en-US" sz="1050" dirty="0"/>
          </a:p>
        </p:txBody>
      </p:sp>
      <p:sp>
        <p:nvSpPr>
          <p:cNvPr id="28" name="Shape 25"/>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1" name="Text 28"/>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هُوَ / هِيَ ______ القَامَةِ.</a:t>
            </a:r>
            <a:endParaRPr lang="ar-SA" sz="1800" dirty="0"/>
          </a:p>
        </p:txBody>
      </p:sp>
      <p:sp>
        <p:nvSpPr>
          <p:cNvPr id="32" name="Text 29"/>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He / she is tall / short / medium height.</a:t>
            </a:r>
            <a:endParaRPr lang="en-US" sz="1050" dirty="0"/>
          </a:p>
        </p:txBody>
      </p:sp>
      <p:sp>
        <p:nvSpPr>
          <p:cNvPr id="33" name="Text 30"/>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لَهُ شَعْرٌ ______ .</a:t>
            </a:r>
            <a:endParaRPr lang="ar-SA" sz="1800" dirty="0"/>
          </a:p>
        </p:txBody>
      </p:sp>
      <p:sp>
        <p:nvSpPr>
          <p:cNvPr id="34" name="Text 31"/>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He has … hair.</a:t>
            </a:r>
            <a:endParaRPr lang="en-US" sz="1050" dirty="0"/>
          </a:p>
        </p:txBody>
      </p:sp>
      <p:sp>
        <p:nvSpPr>
          <p:cNvPr id="35" name="Text 32"/>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لَهَا شَعْرٌ ______ .</a:t>
            </a:r>
            <a:endParaRPr lang="ar-SA" sz="1800" dirty="0"/>
          </a:p>
        </p:txBody>
      </p:sp>
      <p:sp>
        <p:nvSpPr>
          <p:cNvPr id="36" name="Text 33"/>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She has … hair.</a:t>
            </a:r>
            <a:endParaRPr lang="en-US" sz="1050" dirty="0"/>
          </a:p>
        </p:txBody>
      </p:sp>
      <p:sp>
        <p:nvSpPr>
          <p:cNvPr id="37" name="Text 34"/>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عَيْنَاهُ / عَيْنَاهَا بُنِّيَّتَانِ.</a:t>
            </a:r>
            <a:endParaRPr lang="ar-SA" sz="1800" dirty="0"/>
          </a:p>
        </p:txBody>
      </p:sp>
      <p:sp>
        <p:nvSpPr>
          <p:cNvPr id="38" name="Text 35"/>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His / her eyes are brown.</a:t>
            </a:r>
            <a:endParaRPr lang="en-US" sz="1050" dirty="0"/>
          </a:p>
        </p:txBody>
      </p:sp>
      <p:sp>
        <p:nvSpPr>
          <p:cNvPr id="39" name="Text 36"/>
          <p:cNvSpPr txBox="1"/>
          <p:nvPr/>
        </p:nvSpPr>
        <p:spPr>
          <a:xfrm>
            <a:off x="8202168"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يَرْتَدِي / تَرْتَدِي ______ .</a:t>
            </a:r>
            <a:endParaRPr lang="ar-SA" sz="1800" dirty="0"/>
          </a:p>
        </p:txBody>
      </p:sp>
      <p:sp>
        <p:nvSpPr>
          <p:cNvPr id="40" name="Text 37"/>
          <p:cNvSpPr txBox="1"/>
          <p:nvPr/>
        </p:nvSpPr>
        <p:spPr>
          <a:xfrm>
            <a:off x="6327648"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He / she wears …</a:t>
            </a:r>
            <a:endParaRPr lang="en-US" sz="1050" dirty="0"/>
          </a:p>
        </p:txBody>
      </p:sp>
      <p:sp>
        <p:nvSpPr>
          <p:cNvPr id="41" name="Shape 38"/>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Text 39"/>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WORD BANK</a:t>
            </a:r>
            <a:endParaRPr lang="en-US" sz="950" dirty="0"/>
          </a:p>
        </p:txBody>
      </p:sp>
      <p:sp>
        <p:nvSpPr>
          <p:cNvPr id="43" name="Text 40"/>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طَوِيلُ القَامَةِ  ·  قَصِيرُ القَامَةِ  ·  مُتَوَسِّطُ القَامَةِ  ·  لَهُ  ·  لَهَا  ·  شَعْرٌ مُجَعَّدٌ  ·  شَعْرٌ مُسْتَقِيمٌ  ·  عَيْنَانِ بُنِّيَّتَانِ  ·  نَظَّارَةً  ·  الَّذِي  ·  الَّتِي  ·  يَبْدُو</a:t>
            </a:r>
            <a:endParaRPr lang="ar-SA" sz="16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35 / 47</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TB-L03 · Appearance and Personality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B · Personal and Social Life · TB-L03</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ea typeface="Calibri" pitchFamily="34" charset="-122"/>
                <a:cs typeface="Calibri" pitchFamily="34" charset="-120"/>
              </a:rPr>
              <a:t>Write 100–120 Arabic words giving a respectful full portrait of two people. Organise height, hair, eyes, distinguishing features, clothes and one personality inference supported by behaviour.</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Cover every requested content point.</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Use the target grammar accurately.</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Include precise vocabulary from this lesson.</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Add a reason, comparison or contrast.</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Review agreement, pronoun reference and connectors.</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ea typeface="Calibri" pitchFamily="34" charset="-122"/>
                <a:cs typeface="Calibri" pitchFamily="34" charset="-120"/>
              </a:rPr>
              <a:t>PHRASE BANK — FROM THE WEBSITE TEXTS</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فِي هٰذِهِ الصُّورَةِ شَخْصَانِ</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in this picture there are two people</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يَبْدُو هَادِئًا لِأَنَّهُ يَسْتَمِعُ إِلَى الآخَرِينَ</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he seems calm because he listens to others</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تَبْدُو وَاثِقَةً وَمَرِحَةً</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she seems confident and cheerful</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لِأَنَّهَا تَتَحَدَّثُ مَعَ الجَمِيعِ</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because she talks to everyone</a:t>
            </a:r>
            <a:endParaRPr lang="en-US" sz="1050" dirty="0"/>
          </a:p>
        </p:txBody>
      </p:sp>
      <p:sp>
        <p:nvSpPr>
          <p:cNvPr id="34" name="Text 31"/>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لَا يَحْكُمُ عَلَيْهِ مِنْ مَظْهَرِهِ فَقَطْ</a:t>
            </a:r>
            <a:endParaRPr lang="ar-SA" sz="1800" dirty="0"/>
          </a:p>
        </p:txBody>
      </p:sp>
      <p:sp>
        <p:nvSpPr>
          <p:cNvPr id="35" name="Text 32"/>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does not judge him by his appearance alone</a:t>
            </a:r>
            <a:endParaRPr lang="en-US" sz="105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36 / 47</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TB-L03 · Appearance and Personality</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B · Personal and Social Life · TB-L03</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550" dirty="0">
                <a:solidFill>
                  <a:srgbClr val="1F2A37"/>
                </a:solidFill>
                <a:latin typeface="Amiri" pitchFamily="34" charset="0"/>
                <a:ea typeface="Amiri" pitchFamily="34" charset="-122"/>
                <a:cs typeface="Amiri" pitchFamily="34" charset="-120"/>
              </a:rPr>
              <a:t>فِي هٰذِهِ الصُّورَةِ شَخْصَانِ. الأَوَّلُ شَابٌّ طَوِيلُ القَامَةِ، لَهُ شَعْرٌ قَصِيرٌ وَمُجَعَّدٌ وَعَيْنَانِ بُنِّيَّتَانِ. هُوَ الشَّخْصُ الَّذِي يَرْتَدِي نَظَّارَةً وَقَمِيصًا أَبْيَضَ وَسِرْوَالًا أَسْوَدَ. يَبْدُو هَادِئًا لِأَنَّهُ يَسْتَمِعُ إِلَى الآخَرِينَ. أَمَّا الفَتَاةُ فَهِيَ مُتَوَسِّطَةُ القَامَةِ، وَلَهَا شَعْرٌ طَوِيلٌ مُسْتَقِيمٌ. هِيَ الفَتَاةُ الَّتِي تَرْتَدِي حِجَابًا أَزْرَقَ وَمِعْطَفًا رَمَادِيًّا. تَبْدُو وَاثِقَةً وَمَرِحَةً لِأَنَّهَا تَتَحَدَّثُ مَعَ الجَمِيعِ. الوَصْفُ الدَّقِيقُ يَحْتَرِمُ الشَّخْصَ وَلَا يَحْكُمُ عَلَيْهِ مِنْ مَظْهَرِهِ فَقَطْ.</a:t>
            </a:r>
            <a:endParaRPr lang="ar-SA" sz="255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ea typeface="Calibri" pitchFamily="34" charset="-122"/>
                <a:cs typeface="Calibri" pitchFamily="34" charset="-120"/>
              </a:rPr>
              <a:t>In this picture there are two people. The first is a tall young man; he has short, curly hair and brown eyes. He is the person who is wearing glasses, a white shirt and black trousers. He seems calm because he listens to others. As for the girl, she is of medium height and has long straight hair. She is the girl who is wearing a blue headscarf and a grey coat. She seems confident and cheerful because she talks to everyone. A precise description respects the person and does not judge them by their appearance alone.</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the portrait order for the young man</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الَّذِي and الَّتِي</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an inference with يَبْدُو … لِأَنَّ</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the respectful closing sentence</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37 / 47</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TB-L03 · Appearance and Personality</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B · Personal and Social Life · TB-L03</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described height, hair, eyes and clothes in order.</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used lahu for him and lahā for her.</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Hair adjectives are masculine; eyes are dual.</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used alladhī / allatī correctly.</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My inference is based on behaviour, not looks.</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38 / 47</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TB-L03 · Appearance and Personality</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B · Personal and Social Life · TB-L03</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“She has long hair.”</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لَهَا شَعْرٌ طَوِيلٌ.</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لَهُ شَعْرٌ طَوِيلَةٌ.</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هِيَ شَعْرُهَا طَوِيلَةٌ.</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boy who wears glasses”.</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الوَلَدُ الَّتِي تَرْتَدِي نَظَّارَةً</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الوَلَدُ الَّذِي يَرْتَدِي نَظَّارَةً</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البِنْتُ الَّذِي يَرْتَدِي</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عَيْنَاهَا</a:t>
            </a:r>
            <a:pPr algn="l" indent="0" marL="0">
              <a:buNone/>
            </a:pPr>
            <a:r>
              <a:rPr lang="en-US" sz="1250" b="1" dirty="0">
                <a:solidFill>
                  <a:srgbClr val="1B3B6F"/>
                </a:solidFill>
                <a:latin typeface="Calibri" pitchFamily="34" charset="0"/>
                <a:ea typeface="Calibri" pitchFamily="34" charset="-122"/>
                <a:cs typeface="Calibri" pitchFamily="34" charset="-120"/>
              </a:rPr>
              <a:t> ___.</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بُنِّيَّتَانِ</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بُنِّيٌّ</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بُنِّيَّةٌ</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ea typeface="Calibri" pitchFamily="34" charset="-122"/>
                <a:cs typeface="Calibri" pitchFamily="34" charset="-120"/>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39 / 47</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TB-L03 · Appearance and Personality</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B · Personal and Social Life · TB-L03</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“She has long hair.”</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لَهَا شَعْرٌ طَوِيلٌ.</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لَهُ شَعْرٌ طَوِيلَةٌ.</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هِيَ شَعْرُهَا طَوِيلَةٌ.</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لَهَا</a:t>
            </a:r>
            <a:pPr algn="l" indent="0" marL="0">
              <a:buNone/>
            </a:pPr>
            <a:r>
              <a:rPr lang="en-US" sz="1050" i="1" dirty="0">
                <a:solidFill>
                  <a:srgbClr val="8A6D1E"/>
                </a:solidFill>
                <a:latin typeface="Calibri" pitchFamily="34" charset="0"/>
                <a:ea typeface="Calibri" pitchFamily="34" charset="-122"/>
                <a:cs typeface="Calibri" pitchFamily="34" charset="-120"/>
              </a:rPr>
              <a:t> + masculine </a:t>
            </a:r>
            <a:pPr algn="l" indent="0" marL="0">
              <a:buNone/>
            </a:pPr>
            <a:r>
              <a:rPr lang="ar-SA" altLang="en-US" sz="1350" dirty="0">
                <a:solidFill>
                  <a:srgbClr val="8A6D1E"/>
                </a:solidFill>
                <a:latin typeface="Amiri" pitchFamily="34" charset="0"/>
                <a:ea typeface="Amiri" pitchFamily="34" charset="-122"/>
                <a:cs typeface="Amiri" pitchFamily="34" charset="-120"/>
              </a:rPr>
              <a:t>شَعْرٌ</a:t>
            </a:r>
            <a:pPr algn="l" indent="0" marL="0">
              <a:buNone/>
            </a:pPr>
            <a:r>
              <a:rPr lang="en-US" sz="1050" i="1" dirty="0">
                <a:solidFill>
                  <a:srgbClr val="8A6D1E"/>
                </a:solidFill>
                <a:latin typeface="Calibri" pitchFamily="34" charset="0"/>
                <a:ea typeface="Calibri" pitchFamily="34" charset="-122"/>
                <a:cs typeface="Calibri" pitchFamily="34" charset="-120"/>
              </a:rPr>
              <a:t> + </a:t>
            </a:r>
            <a:pPr algn="l" indent="0" marL="0">
              <a:buNone/>
            </a:pPr>
            <a:r>
              <a:rPr lang="ar-SA" altLang="en-US" sz="1350" dirty="0">
                <a:solidFill>
                  <a:srgbClr val="8A6D1E"/>
                </a:solidFill>
                <a:latin typeface="Amiri" pitchFamily="34" charset="0"/>
                <a:ea typeface="Amiri" pitchFamily="34" charset="-122"/>
                <a:cs typeface="Amiri" pitchFamily="34" charset="-120"/>
              </a:rPr>
              <a:t>طَوِيلٌ</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boy who wears glasses”.</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الوَلَدُ الَّتِي تَرْتَدِي نَظَّارَةً</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الوَلَدُ الَّذِي يَرْتَدِي نَظَّارَةً</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البِنْتُ الَّذِي يَرْتَدِي</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Masculine antecedent takes </a:t>
            </a:r>
            <a:pPr algn="l" indent="0" marL="0">
              <a:buNone/>
            </a:pPr>
            <a:r>
              <a:rPr lang="ar-SA" altLang="en-US" sz="1350" dirty="0">
                <a:solidFill>
                  <a:srgbClr val="8A6D1E"/>
                </a:solidFill>
                <a:latin typeface="Amiri" pitchFamily="34" charset="0"/>
                <a:ea typeface="Amiri" pitchFamily="34" charset="-122"/>
                <a:cs typeface="Amiri" pitchFamily="34" charset="-120"/>
              </a:rPr>
              <a:t>الذي</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عَيْنَاهَا</a:t>
            </a:r>
            <a:pPr algn="l" indent="0" marL="0">
              <a:buNone/>
            </a:pPr>
            <a:r>
              <a:rPr lang="en-US" sz="1250" b="1" dirty="0">
                <a:solidFill>
                  <a:srgbClr val="1B3B6F"/>
                </a:solidFill>
                <a:latin typeface="Calibri" pitchFamily="34" charset="0"/>
                <a:ea typeface="Calibri" pitchFamily="34" charset="-122"/>
                <a:cs typeface="Calibri" pitchFamily="34" charset="-120"/>
              </a:rPr>
              <a:t> ___.</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بُنِّيَّتَانِ</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بُنِّيٌّ</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بُنِّيَّةٌ</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Dual feminine agreement.</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ea typeface="Calibri" pitchFamily="34" charset="-122"/>
                <a:cs typeface="Calibri" pitchFamily="34" charset="-120"/>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40 / 47</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TB-L03 · Appearance and Personality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ea typeface="Cambria" pitchFamily="34" charset="-122"/>
                <a:cs typeface="Cambria" pitchFamily="34" charset="-120"/>
              </a:rPr>
              <a:t>Reading focus: physical appearance</a:t>
            </a:r>
            <a:endParaRPr lang="en-US" sz="27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B · Personal and Social Life · TB-L03</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فِي الصُّورَةِ عَائِلَةٌ تَقِفُ أَمَامَ البَيْتِ. الأَبُ هُوَ الرَّجُلُ الَّذِي لَهُ لِحْيَةٌ قَصِيرَةٌ وَيَرْتَدِي سُتْرَةً رَمَادِيَّةً. الأُمُّ مُتَوَسِّطَةُ القَامَةِ، وَلَهَا شَعْرٌ طَوِيلٌ، وَتَرْتَدِي حِجَابًا أَخْضَرَ. البِنْتُ الَّتِي تَقِفُ عَلَى اليَمِينِ لَهَا عَيْنَانِ بُنِّيَّتَانِ وَتَرْتَدِي فُسْتَانًا أَزْرَقَ. أَمَّا الوَلَدُ فَهُوَ قَصِيرُ القَامَةِ وَيَرْتَدِي قَمِيصًا رِيَاضِيًّا.</a:t>
            </a:r>
            <a:endParaRPr lang="ar-SA" sz="26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فِي الصُّورَةِ</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in the picture</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تَقِفُ أَمَامَ</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standing in front of</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الرَّجُلُ</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man</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لِحْيَةٌ قَصِيرَةٌ</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a short beard</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رَمَادِيَّةً</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grey</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حِجَابًا أَخْضَرَ</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a green headscarf</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البِنْتُ</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girl</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عَلَى اليَمِينِ</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on the right</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الوَلَدُ</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boy</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قَمِيصًا رِيَاضِيًّا</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a sports shirt</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41 / 47</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TB-L03 · Appearance and Personality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B · Personal and Social Life · TB-L03</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Where is the family standing?</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 a park</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 front of the house</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at school</a:t>
            </a:r>
            <a:endParaRPr lang="en-US" sz="12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do we recognise the father?</a:t>
            </a:r>
            <a:endParaRPr lang="en-US" sz="1250" dirty="0"/>
          </a:p>
        </p:txBody>
      </p:sp>
      <p:sp>
        <p:nvSpPr>
          <p:cNvPr id="34" name="Shape 31"/>
          <p:cNvSpPr/>
          <p:nvPr/>
        </p:nvSpPr>
        <p:spPr>
          <a:xfrm>
            <a:off x="3504438"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glasses</a:t>
            </a:r>
            <a:endParaRPr lang="en-US" sz="1250" dirty="0"/>
          </a:p>
        </p:txBody>
      </p:sp>
      <p:sp>
        <p:nvSpPr>
          <p:cNvPr id="37" name="Shape 34"/>
          <p:cNvSpPr/>
          <p:nvPr/>
        </p:nvSpPr>
        <p:spPr>
          <a:xfrm>
            <a:off x="3504438"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blue dress</a:t>
            </a:r>
            <a:endParaRPr lang="en-US" sz="1250" dirty="0"/>
          </a:p>
        </p:txBody>
      </p:sp>
      <p:sp>
        <p:nvSpPr>
          <p:cNvPr id="40" name="Shape 37"/>
          <p:cNvSpPr/>
          <p:nvPr/>
        </p:nvSpPr>
        <p:spPr>
          <a:xfrm>
            <a:off x="3504438"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3833622"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short beard and a grey jacket</a:t>
            </a:r>
            <a:endParaRPr lang="en-US" sz="1250" dirty="0"/>
          </a:p>
        </p:txBody>
      </p:sp>
      <p:sp>
        <p:nvSpPr>
          <p:cNvPr id="43" name="Shape 40"/>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6313932"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is the mother described?</a:t>
            </a:r>
            <a:endParaRPr lang="en-US" sz="1250" dirty="0"/>
          </a:p>
        </p:txBody>
      </p:sp>
      <p:sp>
        <p:nvSpPr>
          <p:cNvPr id="47" name="Shape 44"/>
          <p:cNvSpPr/>
          <p:nvPr/>
        </p:nvSpPr>
        <p:spPr>
          <a:xfrm>
            <a:off x="6368796"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medium height, long hair, a green headscarf</a:t>
            </a:r>
            <a:endParaRPr lang="en-US" sz="1250" dirty="0"/>
          </a:p>
        </p:txBody>
      </p:sp>
      <p:sp>
        <p:nvSpPr>
          <p:cNvPr id="50" name="Shape 47"/>
          <p:cNvSpPr/>
          <p:nvPr/>
        </p:nvSpPr>
        <p:spPr>
          <a:xfrm>
            <a:off x="6368796"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tall with short hair</a:t>
            </a:r>
            <a:endParaRPr lang="en-US" sz="1250" dirty="0"/>
          </a:p>
        </p:txBody>
      </p:sp>
      <p:sp>
        <p:nvSpPr>
          <p:cNvPr id="53" name="Shape 50"/>
          <p:cNvSpPr/>
          <p:nvPr/>
        </p:nvSpPr>
        <p:spPr>
          <a:xfrm>
            <a:off x="6368796"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short, wearing glasses</a:t>
            </a:r>
            <a:endParaRPr lang="en-US" sz="1250" dirty="0"/>
          </a:p>
        </p:txBody>
      </p:sp>
      <p:sp>
        <p:nvSpPr>
          <p:cNvPr id="56" name="Shape 53"/>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9178290" y="1947672"/>
            <a:ext cx="310896" cy="310896"/>
          </a:xfrm>
          <a:prstGeom prst="ellipse">
            <a:avLst/>
          </a:prstGeom>
          <a:solidFill>
            <a:srgbClr val="1B3B6F"/>
          </a:solidFill>
          <a:ln w="12700">
            <a:solidFill>
              <a:srgbClr val="1B3B6F"/>
            </a:solidFill>
            <a:prstDash val="solid"/>
          </a:ln>
        </p:spPr>
      </p:sp>
      <p:sp>
        <p:nvSpPr>
          <p:cNvPr id="58" name="Text 55"/>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Where is the girl standing?</a:t>
            </a:r>
            <a:endParaRPr lang="en-US" sz="1250" dirty="0"/>
          </a:p>
        </p:txBody>
      </p:sp>
      <p:sp>
        <p:nvSpPr>
          <p:cNvPr id="60" name="Shape 57"/>
          <p:cNvSpPr/>
          <p:nvPr/>
        </p:nvSpPr>
        <p:spPr>
          <a:xfrm>
            <a:off x="9233154" y="2532888"/>
            <a:ext cx="256032" cy="256032"/>
          </a:xfrm>
          <a:prstGeom prst="ellipse">
            <a:avLst/>
          </a:prstGeom>
          <a:solidFill>
            <a:srgbClr val="F4F1EA"/>
          </a:solidFill>
          <a:ln w="12700">
            <a:solidFill>
              <a:srgbClr val="F4F1EA"/>
            </a:solidFill>
            <a:prstDash val="solid"/>
          </a:ln>
        </p:spPr>
      </p:sp>
      <p:sp>
        <p:nvSpPr>
          <p:cNvPr id="61" name="Text 58"/>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 the left</a:t>
            </a:r>
            <a:endParaRPr lang="en-US" sz="1250" dirty="0"/>
          </a:p>
        </p:txBody>
      </p:sp>
      <p:sp>
        <p:nvSpPr>
          <p:cNvPr id="63" name="Shape 60"/>
          <p:cNvSpPr/>
          <p:nvPr/>
        </p:nvSpPr>
        <p:spPr>
          <a:xfrm>
            <a:off x="9233154" y="2990088"/>
            <a:ext cx="256032" cy="256032"/>
          </a:xfrm>
          <a:prstGeom prst="ellipse">
            <a:avLst/>
          </a:prstGeom>
          <a:solidFill>
            <a:srgbClr val="F4F1EA"/>
          </a:solidFill>
          <a:ln w="12700">
            <a:solidFill>
              <a:srgbClr val="F4F1EA"/>
            </a:solidFill>
            <a:prstDash val="solid"/>
          </a:ln>
        </p:spPr>
      </p:sp>
      <p:sp>
        <p:nvSpPr>
          <p:cNvPr id="64" name="Text 61"/>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 the right</a:t>
            </a:r>
            <a:endParaRPr lang="en-US" sz="1250" dirty="0"/>
          </a:p>
        </p:txBody>
      </p:sp>
      <p:sp>
        <p:nvSpPr>
          <p:cNvPr id="66" name="Shape 63"/>
          <p:cNvSpPr/>
          <p:nvPr/>
        </p:nvSpPr>
        <p:spPr>
          <a:xfrm>
            <a:off x="9233154" y="3447288"/>
            <a:ext cx="256032" cy="256032"/>
          </a:xfrm>
          <a:prstGeom prst="ellipse">
            <a:avLst/>
          </a:prstGeom>
          <a:solidFill>
            <a:srgbClr val="F4F1EA"/>
          </a:solidFill>
          <a:ln w="12700">
            <a:solidFill>
              <a:srgbClr val="F4F1EA"/>
            </a:solidFill>
            <a:prstDash val="solid"/>
          </a:ln>
        </p:spPr>
      </p:sp>
      <p:sp>
        <p:nvSpPr>
          <p:cNvPr id="67" name="Text 64"/>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9562338"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 the middle</a:t>
            </a:r>
            <a:endParaRPr lang="en-US" sz="1250" dirty="0"/>
          </a:p>
        </p:txBody>
      </p:sp>
      <p:sp>
        <p:nvSpPr>
          <p:cNvPr id="69" name="Shape 66"/>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585216"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2" name="Text 69"/>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girl wearing?</a:t>
            </a:r>
            <a:endParaRPr lang="en-US" sz="1250" dirty="0"/>
          </a:p>
        </p:txBody>
      </p:sp>
      <p:sp>
        <p:nvSpPr>
          <p:cNvPr id="73" name="Shape 70"/>
          <p:cNvSpPr/>
          <p:nvPr/>
        </p:nvSpPr>
        <p:spPr>
          <a:xfrm>
            <a:off x="640080"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5" name="Text 72"/>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blue dress</a:t>
            </a:r>
            <a:endParaRPr lang="en-US" sz="1250" dirty="0"/>
          </a:p>
        </p:txBody>
      </p:sp>
      <p:sp>
        <p:nvSpPr>
          <p:cNvPr id="76" name="Shape 73"/>
          <p:cNvSpPr/>
          <p:nvPr/>
        </p:nvSpPr>
        <p:spPr>
          <a:xfrm>
            <a:off x="640080"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8" name="Text 75"/>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green headscarf</a:t>
            </a:r>
            <a:endParaRPr lang="en-US" sz="1250" dirty="0"/>
          </a:p>
        </p:txBody>
      </p:sp>
      <p:sp>
        <p:nvSpPr>
          <p:cNvPr id="79" name="Shape 76"/>
          <p:cNvSpPr/>
          <p:nvPr/>
        </p:nvSpPr>
        <p:spPr>
          <a:xfrm>
            <a:off x="640080"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1" name="Text 78"/>
          <p:cNvSpPr txBox="1"/>
          <p:nvPr/>
        </p:nvSpPr>
        <p:spPr>
          <a:xfrm>
            <a:off x="969264"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sports shirt</a:t>
            </a:r>
            <a:endParaRPr lang="en-US" sz="1250" dirty="0"/>
          </a:p>
        </p:txBody>
      </p:sp>
      <p:sp>
        <p:nvSpPr>
          <p:cNvPr id="82" name="Shape 7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344957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85" name="Text 8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is the boy described?</a:t>
            </a:r>
            <a:endParaRPr lang="en-US" sz="1250" dirty="0"/>
          </a:p>
        </p:txBody>
      </p:sp>
      <p:sp>
        <p:nvSpPr>
          <p:cNvPr id="86" name="Shape 83"/>
          <p:cNvSpPr/>
          <p:nvPr/>
        </p:nvSpPr>
        <p:spPr>
          <a:xfrm>
            <a:off x="350443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8" name="Text 85"/>
          <p:cNvSpPr txBox="1"/>
          <p:nvPr/>
        </p:nvSpPr>
        <p:spPr>
          <a:xfrm>
            <a:off x="3833622"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tall with a beard</a:t>
            </a:r>
            <a:endParaRPr lang="en-US" sz="1250" dirty="0"/>
          </a:p>
        </p:txBody>
      </p:sp>
      <p:sp>
        <p:nvSpPr>
          <p:cNvPr id="89" name="Shape 86"/>
          <p:cNvSpPr/>
          <p:nvPr/>
        </p:nvSpPr>
        <p:spPr>
          <a:xfrm>
            <a:off x="350443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91" name="Text 88"/>
          <p:cNvSpPr txBox="1"/>
          <p:nvPr/>
        </p:nvSpPr>
        <p:spPr>
          <a:xfrm>
            <a:off x="3833622"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wearing a grey jacket</a:t>
            </a:r>
            <a:endParaRPr lang="en-US" sz="1250" dirty="0"/>
          </a:p>
        </p:txBody>
      </p:sp>
      <p:sp>
        <p:nvSpPr>
          <p:cNvPr id="92" name="Shape 89"/>
          <p:cNvSpPr/>
          <p:nvPr/>
        </p:nvSpPr>
        <p:spPr>
          <a:xfrm>
            <a:off x="350443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4" name="Text 91"/>
          <p:cNvSpPr txBox="1"/>
          <p:nvPr/>
        </p:nvSpPr>
        <p:spPr>
          <a:xfrm>
            <a:off x="3833622"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short, wearing a sports shirt</a:t>
            </a:r>
            <a:endParaRPr lang="en-US" sz="1250" dirty="0"/>
          </a:p>
        </p:txBody>
      </p:sp>
      <p:sp>
        <p:nvSpPr>
          <p:cNvPr id="95" name="Shape 92"/>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6" name="Text 93"/>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97" name="Text 94"/>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98" name="Text 9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42 / 47</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TB-L03 · Appearance and Personality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B · Personal and Social Life · TB-L03</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Where is the family standing?</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in a park</a:t>
            </a:r>
            <a:endParaRPr lang="en-US" sz="1250" dirty="0"/>
          </a:p>
        </p:txBody>
      </p:sp>
      <p:sp>
        <p:nvSpPr>
          <p:cNvPr id="24" name="Shape 21"/>
          <p:cNvSpPr/>
          <p:nvPr/>
        </p:nvSpPr>
        <p:spPr>
          <a:xfrm>
            <a:off x="548640" y="2825496"/>
            <a:ext cx="2498598"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7" name="Text 24"/>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in front of the house</a:t>
            </a:r>
            <a:endParaRPr lang="en-US" sz="12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at school</a:t>
            </a:r>
            <a:endParaRPr lang="en-US" sz="1250" dirty="0"/>
          </a:p>
        </p:txBody>
      </p:sp>
      <p:sp>
        <p:nvSpPr>
          <p:cNvPr id="31" name="Text 28"/>
          <p:cNvSpPr txBox="1"/>
          <p:nvPr/>
        </p:nvSpPr>
        <p:spPr>
          <a:xfrm>
            <a:off x="585216"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تَقِفُ أَمَامَ البَيْتِ.</a:t>
            </a:r>
            <a:endParaRPr lang="ar-SA" sz="1350" dirty="0"/>
          </a:p>
        </p:txBody>
      </p:sp>
      <p:sp>
        <p:nvSpPr>
          <p:cNvPr id="32" name="Shape 29"/>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3449574"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5" name="Text 32"/>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do we recognise the father?</a:t>
            </a:r>
            <a:endParaRPr lang="en-US" sz="1250" dirty="0"/>
          </a:p>
        </p:txBody>
      </p:sp>
      <p:sp>
        <p:nvSpPr>
          <p:cNvPr id="36" name="Shape 33"/>
          <p:cNvSpPr/>
          <p:nvPr/>
        </p:nvSpPr>
        <p:spPr>
          <a:xfrm>
            <a:off x="3504438"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3833622"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glasses</a:t>
            </a:r>
            <a:endParaRPr lang="en-US" sz="1250" dirty="0"/>
          </a:p>
        </p:txBody>
      </p:sp>
      <p:sp>
        <p:nvSpPr>
          <p:cNvPr id="39" name="Shape 36"/>
          <p:cNvSpPr/>
          <p:nvPr/>
        </p:nvSpPr>
        <p:spPr>
          <a:xfrm>
            <a:off x="3504438"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8"/>
          <p:cNvSpPr txBox="1"/>
          <p:nvPr/>
        </p:nvSpPr>
        <p:spPr>
          <a:xfrm>
            <a:off x="3833622"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blue dress</a:t>
            </a:r>
            <a:endParaRPr lang="en-US" sz="1250" dirty="0"/>
          </a:p>
        </p:txBody>
      </p:sp>
      <p:sp>
        <p:nvSpPr>
          <p:cNvPr id="42" name="Shape 39"/>
          <p:cNvSpPr/>
          <p:nvPr/>
        </p:nvSpPr>
        <p:spPr>
          <a:xfrm>
            <a:off x="3412998" y="3197352"/>
            <a:ext cx="2498598"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3504438"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3833622" y="3176016"/>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a short beard and a grey jacket</a:t>
            </a:r>
            <a:endParaRPr lang="en-US" sz="1150" dirty="0"/>
          </a:p>
        </p:txBody>
      </p:sp>
      <p:sp>
        <p:nvSpPr>
          <p:cNvPr id="46" name="Text 43"/>
          <p:cNvSpPr txBox="1"/>
          <p:nvPr/>
        </p:nvSpPr>
        <p:spPr>
          <a:xfrm>
            <a:off x="3449574"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لَهُ لِحْيَةٌ قَصِيرَةٌ وَيَرْتَدِي سُتْرَةً رَمَادِيَّةً.</a:t>
            </a:r>
            <a:endParaRPr lang="ar-SA" sz="1350" dirty="0"/>
          </a:p>
        </p:txBody>
      </p:sp>
      <p:sp>
        <p:nvSpPr>
          <p:cNvPr id="47" name="Shape 44"/>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6313932"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7"/>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is the mother described?</a:t>
            </a:r>
            <a:endParaRPr lang="en-US" sz="1250" dirty="0"/>
          </a:p>
        </p:txBody>
      </p:sp>
      <p:sp>
        <p:nvSpPr>
          <p:cNvPr id="51" name="Shape 48"/>
          <p:cNvSpPr/>
          <p:nvPr/>
        </p:nvSpPr>
        <p:spPr>
          <a:xfrm>
            <a:off x="6277356" y="2453640"/>
            <a:ext cx="2498598"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6368796"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4" name="Text 51"/>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medium height, long hair, a green headscarf</a:t>
            </a:r>
            <a:endParaRPr lang="en-US" sz="1150" dirty="0"/>
          </a:p>
        </p:txBody>
      </p:sp>
      <p:sp>
        <p:nvSpPr>
          <p:cNvPr id="55" name="Shape 52"/>
          <p:cNvSpPr/>
          <p:nvPr/>
        </p:nvSpPr>
        <p:spPr>
          <a:xfrm>
            <a:off x="6368796"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tall with short hair</a:t>
            </a:r>
            <a:endParaRPr lang="en-US" sz="1250" dirty="0"/>
          </a:p>
        </p:txBody>
      </p:sp>
      <p:sp>
        <p:nvSpPr>
          <p:cNvPr id="58" name="Shape 55"/>
          <p:cNvSpPr/>
          <p:nvPr/>
        </p:nvSpPr>
        <p:spPr>
          <a:xfrm>
            <a:off x="6368796"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short, wearing glasses</a:t>
            </a:r>
            <a:endParaRPr lang="en-US" sz="1250" dirty="0"/>
          </a:p>
        </p:txBody>
      </p:sp>
      <p:sp>
        <p:nvSpPr>
          <p:cNvPr id="61" name="Text 58"/>
          <p:cNvSpPr txBox="1"/>
          <p:nvPr/>
        </p:nvSpPr>
        <p:spPr>
          <a:xfrm>
            <a:off x="6313932"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مُتَوَسِّطَةُ القَامَةِ … حِجَابًا أَخْضَرَ.</a:t>
            </a:r>
            <a:endParaRPr lang="ar-SA" sz="1350" dirty="0"/>
          </a:p>
        </p:txBody>
      </p:sp>
      <p:sp>
        <p:nvSpPr>
          <p:cNvPr id="62" name="Shape 59"/>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9178290" y="1947672"/>
            <a:ext cx="310896" cy="310896"/>
          </a:xfrm>
          <a:prstGeom prst="ellipse">
            <a:avLst/>
          </a:prstGeom>
          <a:solidFill>
            <a:srgbClr val="1B3B6F"/>
          </a:solidFill>
          <a:ln w="12700">
            <a:solidFill>
              <a:srgbClr val="1B3B6F"/>
            </a:solidFill>
            <a:prstDash val="solid"/>
          </a:ln>
        </p:spPr>
      </p:sp>
      <p:sp>
        <p:nvSpPr>
          <p:cNvPr id="64" name="Text 61"/>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5" name="Text 62"/>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Where is the girl standing?</a:t>
            </a:r>
            <a:endParaRPr lang="en-US" sz="1250" dirty="0"/>
          </a:p>
        </p:txBody>
      </p:sp>
      <p:sp>
        <p:nvSpPr>
          <p:cNvPr id="66" name="Shape 63"/>
          <p:cNvSpPr/>
          <p:nvPr/>
        </p:nvSpPr>
        <p:spPr>
          <a:xfrm>
            <a:off x="9233154" y="2490216"/>
            <a:ext cx="256032" cy="256032"/>
          </a:xfrm>
          <a:prstGeom prst="ellipse">
            <a:avLst/>
          </a:prstGeom>
          <a:solidFill>
            <a:srgbClr val="C9CED6"/>
          </a:solidFill>
          <a:ln w="12700">
            <a:solidFill>
              <a:srgbClr val="C9CED6"/>
            </a:solidFill>
            <a:prstDash val="solid"/>
          </a:ln>
        </p:spPr>
      </p:sp>
      <p:sp>
        <p:nvSpPr>
          <p:cNvPr id="67" name="Text 64"/>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9562338"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on the left</a:t>
            </a:r>
            <a:endParaRPr lang="en-US" sz="1250" dirty="0"/>
          </a:p>
        </p:txBody>
      </p:sp>
      <p:sp>
        <p:nvSpPr>
          <p:cNvPr id="69" name="Shape 66"/>
          <p:cNvSpPr/>
          <p:nvPr/>
        </p:nvSpPr>
        <p:spPr>
          <a:xfrm>
            <a:off x="9141714" y="2825496"/>
            <a:ext cx="2498598"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9233154" y="2862072"/>
            <a:ext cx="256032" cy="256032"/>
          </a:xfrm>
          <a:prstGeom prst="ellipse">
            <a:avLst/>
          </a:prstGeom>
          <a:solidFill>
            <a:srgbClr val="2E8B57"/>
          </a:solidFill>
          <a:ln w="12700">
            <a:solidFill>
              <a:srgbClr val="2E8B57"/>
            </a:solidFill>
            <a:prstDash val="solid"/>
          </a:ln>
        </p:spPr>
      </p:sp>
      <p:sp>
        <p:nvSpPr>
          <p:cNvPr id="71" name="Text 68"/>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2" name="Text 69"/>
          <p:cNvSpPr txBox="1"/>
          <p:nvPr/>
        </p:nvSpPr>
        <p:spPr>
          <a:xfrm>
            <a:off x="9562338" y="280416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on the right</a:t>
            </a:r>
            <a:endParaRPr lang="en-US" sz="1250" dirty="0"/>
          </a:p>
        </p:txBody>
      </p:sp>
      <p:sp>
        <p:nvSpPr>
          <p:cNvPr id="73" name="Shape 70"/>
          <p:cNvSpPr/>
          <p:nvPr/>
        </p:nvSpPr>
        <p:spPr>
          <a:xfrm>
            <a:off x="9233154" y="3233928"/>
            <a:ext cx="256032" cy="256032"/>
          </a:xfrm>
          <a:prstGeom prst="ellipse">
            <a:avLst/>
          </a:prstGeom>
          <a:solidFill>
            <a:srgbClr val="C9CED6"/>
          </a:solidFill>
          <a:ln w="12700">
            <a:solidFill>
              <a:srgbClr val="C9CED6"/>
            </a:solidFill>
            <a:prstDash val="solid"/>
          </a:ln>
        </p:spPr>
      </p:sp>
      <p:sp>
        <p:nvSpPr>
          <p:cNvPr id="74" name="Text 71"/>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9562338"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in the middle</a:t>
            </a:r>
            <a:endParaRPr lang="en-US" sz="1250" dirty="0"/>
          </a:p>
        </p:txBody>
      </p:sp>
      <p:sp>
        <p:nvSpPr>
          <p:cNvPr id="76" name="Text 73"/>
          <p:cNvSpPr txBox="1"/>
          <p:nvPr/>
        </p:nvSpPr>
        <p:spPr>
          <a:xfrm>
            <a:off x="9178290"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البِنْتُ الَّتِي تَقِفُ عَلَى اليَمِينِ.</a:t>
            </a:r>
            <a:endParaRPr lang="ar-SA" sz="1350" dirty="0"/>
          </a:p>
        </p:txBody>
      </p:sp>
      <p:sp>
        <p:nvSpPr>
          <p:cNvPr id="77" name="Shape 7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585216"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80" name="Text 7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girl wearing?</a:t>
            </a:r>
            <a:endParaRPr lang="en-US" sz="1250" dirty="0"/>
          </a:p>
        </p:txBody>
      </p:sp>
      <p:sp>
        <p:nvSpPr>
          <p:cNvPr id="81" name="Shape 78"/>
          <p:cNvSpPr/>
          <p:nvPr/>
        </p:nvSpPr>
        <p:spPr>
          <a:xfrm>
            <a:off x="548640" y="4794504"/>
            <a:ext cx="2498598"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640080"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4" name="Text 81"/>
          <p:cNvSpPr txBox="1"/>
          <p:nvPr/>
        </p:nvSpPr>
        <p:spPr>
          <a:xfrm>
            <a:off x="969264" y="4773168"/>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blue dress</a:t>
            </a:r>
            <a:endParaRPr lang="en-US" sz="1250" dirty="0"/>
          </a:p>
        </p:txBody>
      </p:sp>
      <p:sp>
        <p:nvSpPr>
          <p:cNvPr id="85" name="Shape 82"/>
          <p:cNvSpPr/>
          <p:nvPr/>
        </p:nvSpPr>
        <p:spPr>
          <a:xfrm>
            <a:off x="640080"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7" name="Text 84"/>
          <p:cNvSpPr txBox="1"/>
          <p:nvPr/>
        </p:nvSpPr>
        <p:spPr>
          <a:xfrm>
            <a:off x="969264"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green headscarf</a:t>
            </a:r>
            <a:endParaRPr lang="en-US" sz="1250" dirty="0"/>
          </a:p>
        </p:txBody>
      </p:sp>
      <p:sp>
        <p:nvSpPr>
          <p:cNvPr id="88" name="Shape 85"/>
          <p:cNvSpPr/>
          <p:nvPr/>
        </p:nvSpPr>
        <p:spPr>
          <a:xfrm>
            <a:off x="640080"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0" name="Text 87"/>
          <p:cNvSpPr txBox="1"/>
          <p:nvPr/>
        </p:nvSpPr>
        <p:spPr>
          <a:xfrm>
            <a:off x="969264"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sports shirt</a:t>
            </a:r>
            <a:endParaRPr lang="en-US" sz="1250" dirty="0"/>
          </a:p>
        </p:txBody>
      </p:sp>
      <p:sp>
        <p:nvSpPr>
          <p:cNvPr id="91" name="Text 88"/>
          <p:cNvSpPr txBox="1"/>
          <p:nvPr/>
        </p:nvSpPr>
        <p:spPr>
          <a:xfrm>
            <a:off x="585216"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تَرْتَدِي فُسْتَانًا أَزْرَقَ.</a:t>
            </a:r>
            <a:endParaRPr lang="ar-SA" sz="1350" dirty="0"/>
          </a:p>
        </p:txBody>
      </p:sp>
      <p:sp>
        <p:nvSpPr>
          <p:cNvPr id="92" name="Shape 8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3" name="Shape 90"/>
          <p:cNvSpPr/>
          <p:nvPr/>
        </p:nvSpPr>
        <p:spPr>
          <a:xfrm>
            <a:off x="3449574" y="4288536"/>
            <a:ext cx="310896" cy="310896"/>
          </a:xfrm>
          <a:prstGeom prst="ellipse">
            <a:avLst/>
          </a:prstGeom>
          <a:solidFill>
            <a:srgbClr val="1B3B6F"/>
          </a:solidFill>
          <a:ln w="12700">
            <a:solidFill>
              <a:srgbClr val="1B3B6F"/>
            </a:solidFill>
            <a:prstDash val="solid"/>
          </a:ln>
        </p:spPr>
      </p:sp>
      <p:sp>
        <p:nvSpPr>
          <p:cNvPr id="94" name="Text 9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5" name="Text 9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is the boy described?</a:t>
            </a:r>
            <a:endParaRPr lang="en-US" sz="1250" dirty="0"/>
          </a:p>
        </p:txBody>
      </p:sp>
      <p:sp>
        <p:nvSpPr>
          <p:cNvPr id="96" name="Shape 93"/>
          <p:cNvSpPr/>
          <p:nvPr/>
        </p:nvSpPr>
        <p:spPr>
          <a:xfrm>
            <a:off x="3504438" y="4831080"/>
            <a:ext cx="256032" cy="256032"/>
          </a:xfrm>
          <a:prstGeom prst="ellipse">
            <a:avLst/>
          </a:prstGeom>
          <a:solidFill>
            <a:srgbClr val="C9CED6"/>
          </a:solidFill>
          <a:ln w="12700">
            <a:solidFill>
              <a:srgbClr val="C9CED6"/>
            </a:solidFill>
            <a:prstDash val="solid"/>
          </a:ln>
        </p:spPr>
      </p:sp>
      <p:sp>
        <p:nvSpPr>
          <p:cNvPr id="97" name="Text 94"/>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98" name="Text 95"/>
          <p:cNvSpPr txBox="1"/>
          <p:nvPr/>
        </p:nvSpPr>
        <p:spPr>
          <a:xfrm>
            <a:off x="3833622" y="4773168"/>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tall with a beard</a:t>
            </a:r>
            <a:endParaRPr lang="en-US" sz="1250" dirty="0"/>
          </a:p>
        </p:txBody>
      </p:sp>
      <p:sp>
        <p:nvSpPr>
          <p:cNvPr id="99" name="Shape 96"/>
          <p:cNvSpPr/>
          <p:nvPr/>
        </p:nvSpPr>
        <p:spPr>
          <a:xfrm>
            <a:off x="3504438" y="5202936"/>
            <a:ext cx="256032" cy="256032"/>
          </a:xfrm>
          <a:prstGeom prst="ellipse">
            <a:avLst/>
          </a:prstGeom>
          <a:solidFill>
            <a:srgbClr val="C9CED6"/>
          </a:solidFill>
          <a:ln w="12700">
            <a:solidFill>
              <a:srgbClr val="C9CED6"/>
            </a:solidFill>
            <a:prstDash val="solid"/>
          </a:ln>
        </p:spPr>
      </p:sp>
      <p:sp>
        <p:nvSpPr>
          <p:cNvPr id="100" name="Text 97"/>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101" name="Text 98"/>
          <p:cNvSpPr txBox="1"/>
          <p:nvPr/>
        </p:nvSpPr>
        <p:spPr>
          <a:xfrm>
            <a:off x="3833622"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wearing a grey jacket</a:t>
            </a:r>
            <a:endParaRPr lang="en-US" sz="1250" dirty="0"/>
          </a:p>
        </p:txBody>
      </p:sp>
      <p:sp>
        <p:nvSpPr>
          <p:cNvPr id="102" name="Shape 99"/>
          <p:cNvSpPr/>
          <p:nvPr/>
        </p:nvSpPr>
        <p:spPr>
          <a:xfrm>
            <a:off x="3412998" y="5538216"/>
            <a:ext cx="2498598" cy="347472"/>
          </a:xfrm>
          <a:prstGeom prst="roundRect">
            <a:avLst>
              <a:gd name="adj" fmla="val 15789"/>
            </a:avLst>
          </a:prstGeom>
          <a:solidFill>
            <a:srgbClr val="E6F4EC"/>
          </a:solidFill>
          <a:ln w="9525">
            <a:solidFill>
              <a:srgbClr val="2E8B57"/>
            </a:solidFill>
            <a:prstDash val="solid"/>
          </a:ln>
        </p:spPr>
      </p:sp>
      <p:sp>
        <p:nvSpPr>
          <p:cNvPr id="103" name="Shape 100"/>
          <p:cNvSpPr/>
          <p:nvPr/>
        </p:nvSpPr>
        <p:spPr>
          <a:xfrm>
            <a:off x="3504438" y="5574792"/>
            <a:ext cx="256032" cy="256032"/>
          </a:xfrm>
          <a:prstGeom prst="ellipse">
            <a:avLst/>
          </a:prstGeom>
          <a:solidFill>
            <a:srgbClr val="2E8B57"/>
          </a:solidFill>
          <a:ln w="12700">
            <a:solidFill>
              <a:srgbClr val="2E8B57"/>
            </a:solidFill>
            <a:prstDash val="solid"/>
          </a:ln>
        </p:spPr>
      </p:sp>
      <p:sp>
        <p:nvSpPr>
          <p:cNvPr id="104" name="Text 101"/>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105" name="Text 102"/>
          <p:cNvSpPr txBox="1"/>
          <p:nvPr/>
        </p:nvSpPr>
        <p:spPr>
          <a:xfrm>
            <a:off x="3833622" y="5516880"/>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short, wearing a sports shirt</a:t>
            </a:r>
            <a:endParaRPr lang="en-US" sz="1150" dirty="0"/>
          </a:p>
        </p:txBody>
      </p:sp>
      <p:sp>
        <p:nvSpPr>
          <p:cNvPr id="106" name="Text 103"/>
          <p:cNvSpPr txBox="1"/>
          <p:nvPr/>
        </p:nvSpPr>
        <p:spPr>
          <a:xfrm>
            <a:off x="3449574"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قَصِيرُ القَامَةِ وَيَرْتَدِي قَمِيصًا رِيَاضِيًّا.</a:t>
            </a:r>
            <a:endParaRPr lang="ar-SA" sz="1350" dirty="0"/>
          </a:p>
        </p:txBody>
      </p:sp>
      <p:sp>
        <p:nvSpPr>
          <p:cNvPr id="107" name="Shape 104"/>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08" name="Text 105"/>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109" name="Text 106"/>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110" name="Text 10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43 / 47</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TB-L03 · Appearance and Personality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WEBSITE MISSION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ea typeface="Cambria" pitchFamily="34" charset="-122"/>
                <a:cs typeface="Cambria" pitchFamily="34" charset="-120"/>
              </a:rPr>
              <a:t>physical appearance Arabic challenge</a:t>
            </a:r>
            <a:endParaRPr lang="en-US" sz="26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المُهِمَّةُ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B · Personal and Social Life · TB-L03</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“She has long hair.”</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لَهُ شَعْرٌ طَوِيلَةٌ.</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لَهَا شَعْرٌ طَوِيلٌ.</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هِيَ شَعْرُهَا طَوِيلَةٌ.</a:t>
            </a:r>
            <a:endParaRPr lang="ar-SA" sz="2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boy who wears glasses”.</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الوَلَدُ الَّذِي يَرْتَدِي نَظَّارَةً</a:t>
            </a:r>
            <a:endParaRPr lang="ar-SA" sz="20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الوَلَدُ الَّتِي تَرْتَدِي نَظَّارَةً</a:t>
            </a:r>
            <a:endParaRPr lang="ar-SA" sz="20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البِنْتُ الَّذِي يَرْتَدِي</a:t>
            </a:r>
            <a:endParaRPr lang="ar-SA" sz="20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47" name="Text 44"/>
          <p:cNvSpPr txBox="1"/>
          <p:nvPr/>
        </p:nvSpPr>
        <p:spPr>
          <a:xfrm>
            <a:off x="10044989" y="1883664"/>
            <a:ext cx="1577035"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عَيْنَاهَا ___.</a:t>
            </a:r>
            <a:endParaRPr lang="ar-SA" sz="1500" dirty="0"/>
          </a:p>
        </p:txBody>
      </p:sp>
      <p:sp>
        <p:nvSpPr>
          <p:cNvPr id="48" name="Shape 45"/>
          <p:cNvSpPr/>
          <p:nvPr/>
        </p:nvSpPr>
        <p:spPr>
          <a:xfrm>
            <a:off x="8278368" y="25328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0" name="Text 47"/>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بُنِّيٌّ</a:t>
            </a:r>
            <a:endParaRPr lang="ar-SA" sz="2050" dirty="0"/>
          </a:p>
        </p:txBody>
      </p:sp>
      <p:sp>
        <p:nvSpPr>
          <p:cNvPr id="51" name="Shape 48"/>
          <p:cNvSpPr/>
          <p:nvPr/>
        </p:nvSpPr>
        <p:spPr>
          <a:xfrm>
            <a:off x="8278368" y="29900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3" name="Text 50"/>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بُنِّيَّةٌ</a:t>
            </a:r>
            <a:endParaRPr lang="ar-SA" sz="2050" dirty="0"/>
          </a:p>
        </p:txBody>
      </p:sp>
      <p:sp>
        <p:nvSpPr>
          <p:cNvPr id="54" name="Shape 51"/>
          <p:cNvSpPr/>
          <p:nvPr/>
        </p:nvSpPr>
        <p:spPr>
          <a:xfrm>
            <a:off x="8278368" y="3447288"/>
            <a:ext cx="256032" cy="256032"/>
          </a:xfrm>
          <a:prstGeom prst="ellipse">
            <a:avLst/>
          </a:prstGeom>
          <a:solidFill>
            <a:srgbClr val="F4F1EA"/>
          </a:solidFill>
          <a:ln w="12700">
            <a:solidFill>
              <a:srgbClr val="F4F1EA"/>
            </a:solidFill>
            <a:prstDash val="solid"/>
          </a:ln>
        </p:spPr>
      </p:sp>
      <p:sp>
        <p:nvSpPr>
          <p:cNvPr id="55" name="Text 52"/>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6" name="Text 53"/>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بُنِّيَّتَانِ</a:t>
            </a:r>
            <a:endParaRPr lang="ar-SA" sz="2050" dirty="0"/>
          </a:p>
        </p:txBody>
      </p:sp>
      <p:sp>
        <p:nvSpPr>
          <p:cNvPr id="57" name="Shape 54"/>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585216"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0" name="Text 57"/>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accurate hair description.</a:t>
            </a:r>
            <a:endParaRPr lang="en-US" sz="1250" dirty="0"/>
          </a:p>
        </p:txBody>
      </p:sp>
      <p:sp>
        <p:nvSpPr>
          <p:cNvPr id="61" name="Shape 58"/>
          <p:cNvSpPr/>
          <p:nvPr/>
        </p:nvSpPr>
        <p:spPr>
          <a:xfrm>
            <a:off x="640080" y="48737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3" name="Text 60"/>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شَعْرُهُ قَصِيرَةٌ وَمُجَعَّدَةٌ.</a:t>
            </a:r>
            <a:endParaRPr lang="ar-SA" sz="2050" dirty="0"/>
          </a:p>
        </p:txBody>
      </p:sp>
      <p:sp>
        <p:nvSpPr>
          <p:cNvPr id="64" name="Shape 61"/>
          <p:cNvSpPr/>
          <p:nvPr/>
        </p:nvSpPr>
        <p:spPr>
          <a:xfrm>
            <a:off x="640080" y="53309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6" name="Text 63"/>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شَعْرُهَا قَصِيرًا.</a:t>
            </a:r>
            <a:endParaRPr lang="ar-SA" sz="2050" dirty="0"/>
          </a:p>
        </p:txBody>
      </p:sp>
      <p:sp>
        <p:nvSpPr>
          <p:cNvPr id="67" name="Shape 64"/>
          <p:cNvSpPr/>
          <p:nvPr/>
        </p:nvSpPr>
        <p:spPr>
          <a:xfrm>
            <a:off x="640080" y="5788152"/>
            <a:ext cx="256032" cy="256032"/>
          </a:xfrm>
          <a:prstGeom prst="ellipse">
            <a:avLst/>
          </a:prstGeom>
          <a:solidFill>
            <a:srgbClr val="F4F1EA"/>
          </a:solidFill>
          <a:ln w="12700">
            <a:solidFill>
              <a:srgbClr val="F4F1EA"/>
            </a:solidFill>
            <a:prstDash val="solid"/>
          </a:ln>
        </p:spPr>
      </p:sp>
      <p:sp>
        <p:nvSpPr>
          <p:cNvPr id="68" name="Text 65"/>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9" name="Text 66"/>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شَعْرُهُ قَصِيرٌ وَمُجَعَّدٌ.</a:t>
            </a:r>
            <a:endParaRPr lang="ar-SA" sz="2050" dirty="0"/>
          </a:p>
        </p:txBody>
      </p:sp>
      <p:sp>
        <p:nvSpPr>
          <p:cNvPr id="70" name="Shape 67"/>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1" name="Shape 68"/>
          <p:cNvSpPr/>
          <p:nvPr/>
        </p:nvSpPr>
        <p:spPr>
          <a:xfrm>
            <a:off x="4404360" y="4288536"/>
            <a:ext cx="310896" cy="310896"/>
          </a:xfrm>
          <a:prstGeom prst="ellipse">
            <a:avLst/>
          </a:prstGeom>
          <a:solidFill>
            <a:srgbClr val="1B3B6F"/>
          </a:solidFill>
          <a:ln w="12700">
            <a:solidFill>
              <a:srgbClr val="1B3B6F"/>
            </a:solidFill>
            <a:prstDash val="solid"/>
          </a:ln>
        </p:spPr>
      </p:sp>
      <p:sp>
        <p:nvSpPr>
          <p:cNvPr id="72" name="Text 69"/>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3" name="Text 70"/>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feminine relative clause.</a:t>
            </a:r>
            <a:endParaRPr lang="en-US" sz="1250" dirty="0"/>
          </a:p>
        </p:txBody>
      </p:sp>
      <p:sp>
        <p:nvSpPr>
          <p:cNvPr id="74" name="Shape 71"/>
          <p:cNvSpPr/>
          <p:nvPr/>
        </p:nvSpPr>
        <p:spPr>
          <a:xfrm>
            <a:off x="4459224" y="48737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6" name="Text 73"/>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الفَتَاةُ الَّتِي تَرْتَدِي حِجَابًا</a:t>
            </a:r>
            <a:endParaRPr lang="ar-SA" sz="2050" dirty="0"/>
          </a:p>
        </p:txBody>
      </p:sp>
      <p:sp>
        <p:nvSpPr>
          <p:cNvPr id="77" name="Shape 74"/>
          <p:cNvSpPr/>
          <p:nvPr/>
        </p:nvSpPr>
        <p:spPr>
          <a:xfrm>
            <a:off x="4459224" y="53309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9" name="Text 76"/>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الفَتَاةُ الَّذِي يَرْتَدِي حِجَابًا</a:t>
            </a:r>
            <a:endParaRPr lang="ar-SA" sz="2050" dirty="0"/>
          </a:p>
        </p:txBody>
      </p:sp>
      <p:sp>
        <p:nvSpPr>
          <p:cNvPr id="80" name="Shape 77"/>
          <p:cNvSpPr/>
          <p:nvPr/>
        </p:nvSpPr>
        <p:spPr>
          <a:xfrm>
            <a:off x="4459224" y="5788152"/>
            <a:ext cx="256032" cy="256032"/>
          </a:xfrm>
          <a:prstGeom prst="ellipse">
            <a:avLst/>
          </a:prstGeom>
          <a:solidFill>
            <a:srgbClr val="F4F1EA"/>
          </a:solidFill>
          <a:ln w="12700">
            <a:solidFill>
              <a:srgbClr val="F4F1EA"/>
            </a:solidFill>
            <a:prstDash val="solid"/>
          </a:ln>
        </p:spPr>
      </p:sp>
      <p:sp>
        <p:nvSpPr>
          <p:cNvPr id="81" name="Text 78"/>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2" name="Text 79"/>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الوَلَدُ الَّتِي تَرْتَدِي</a:t>
            </a:r>
            <a:endParaRPr lang="ar-SA" sz="2050" dirty="0"/>
          </a:p>
        </p:txBody>
      </p:sp>
      <p:sp>
        <p:nvSpPr>
          <p:cNvPr id="83" name="Shape 80"/>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4" name="Shape 81"/>
          <p:cNvSpPr/>
          <p:nvPr/>
        </p:nvSpPr>
        <p:spPr>
          <a:xfrm>
            <a:off x="8223504" y="4288536"/>
            <a:ext cx="310896" cy="310896"/>
          </a:xfrm>
          <a:prstGeom prst="ellipse">
            <a:avLst/>
          </a:prstGeom>
          <a:solidFill>
            <a:srgbClr val="1B3B6F"/>
          </a:solidFill>
          <a:ln w="12700">
            <a:solidFill>
              <a:srgbClr val="1B3B6F"/>
            </a:solidFill>
            <a:prstDash val="solid"/>
          </a:ln>
        </p:spPr>
      </p:sp>
      <p:sp>
        <p:nvSpPr>
          <p:cNvPr id="85" name="Text 82"/>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86" name="Text 83"/>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respectful and precise?</a:t>
            </a:r>
            <a:endParaRPr lang="en-US" sz="1250" dirty="0"/>
          </a:p>
        </p:txBody>
      </p:sp>
      <p:sp>
        <p:nvSpPr>
          <p:cNvPr id="87" name="Shape 84"/>
          <p:cNvSpPr/>
          <p:nvPr/>
        </p:nvSpPr>
        <p:spPr>
          <a:xfrm>
            <a:off x="8278368" y="4873752"/>
            <a:ext cx="256032" cy="256032"/>
          </a:xfrm>
          <a:prstGeom prst="ellipse">
            <a:avLst/>
          </a:prstGeom>
          <a:solidFill>
            <a:srgbClr val="F4F1EA"/>
          </a:solidFill>
          <a:ln w="12700">
            <a:solidFill>
              <a:srgbClr val="F4F1EA"/>
            </a:solidFill>
            <a:prstDash val="solid"/>
          </a:ln>
        </p:spPr>
      </p:sp>
      <p:sp>
        <p:nvSpPr>
          <p:cNvPr id="88" name="Text 85"/>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9" name="Text 86"/>
          <p:cNvSpPr txBox="1"/>
          <p:nvPr/>
        </p:nvSpPr>
        <p:spPr>
          <a:xfrm>
            <a:off x="8607552" y="4773168"/>
            <a:ext cx="2977896" cy="457200"/>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34" charset="0"/>
                <a:ea typeface="Amiri" pitchFamily="34" charset="-122"/>
                <a:cs typeface="Amiri" pitchFamily="34" charset="-120"/>
              </a:rPr>
              <a:t>هُوَ غَرِيبُ الشَّكْلِ.</a:t>
            </a:r>
            <a:endParaRPr lang="ar-SA" sz="2000" dirty="0"/>
          </a:p>
        </p:txBody>
      </p:sp>
      <p:sp>
        <p:nvSpPr>
          <p:cNvPr id="90" name="Shape 87"/>
          <p:cNvSpPr/>
          <p:nvPr/>
        </p:nvSpPr>
        <p:spPr>
          <a:xfrm>
            <a:off x="8278368" y="5330952"/>
            <a:ext cx="256032" cy="256032"/>
          </a:xfrm>
          <a:prstGeom prst="ellipse">
            <a:avLst/>
          </a:prstGeom>
          <a:solidFill>
            <a:srgbClr val="F4F1EA"/>
          </a:solidFill>
          <a:ln w="12700">
            <a:solidFill>
              <a:srgbClr val="F4F1EA"/>
            </a:solidFill>
            <a:prstDash val="solid"/>
          </a:ln>
        </p:spPr>
      </p:sp>
      <p:sp>
        <p:nvSpPr>
          <p:cNvPr id="91" name="Text 88"/>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92" name="Text 89"/>
          <p:cNvSpPr txBox="1"/>
          <p:nvPr/>
        </p:nvSpPr>
        <p:spPr>
          <a:xfrm>
            <a:off x="8607552" y="5230368"/>
            <a:ext cx="2977896" cy="457200"/>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34" charset="0"/>
                <a:ea typeface="Amiri" pitchFamily="34" charset="-122"/>
                <a:cs typeface="Amiri" pitchFamily="34" charset="-120"/>
              </a:rPr>
              <a:t>هُوَ مُتَوَسِّطُ القَامَةِ وَلَهُ شَعْرٌ قَصِيرٌ.</a:t>
            </a:r>
            <a:endParaRPr lang="ar-SA" sz="2000" dirty="0"/>
          </a:p>
        </p:txBody>
      </p:sp>
      <p:sp>
        <p:nvSpPr>
          <p:cNvPr id="93" name="Shape 90"/>
          <p:cNvSpPr/>
          <p:nvPr/>
        </p:nvSpPr>
        <p:spPr>
          <a:xfrm>
            <a:off x="8278368" y="5788152"/>
            <a:ext cx="256032" cy="256032"/>
          </a:xfrm>
          <a:prstGeom prst="ellipse">
            <a:avLst/>
          </a:prstGeom>
          <a:solidFill>
            <a:srgbClr val="F4F1EA"/>
          </a:solidFill>
          <a:ln w="12700">
            <a:solidFill>
              <a:srgbClr val="F4F1EA"/>
            </a:solidFill>
            <a:prstDash val="solid"/>
          </a:ln>
        </p:spPr>
      </p:sp>
      <p:sp>
        <p:nvSpPr>
          <p:cNvPr id="94" name="Text 91"/>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5" name="Text 92"/>
          <p:cNvSpPr txBox="1"/>
          <p:nvPr/>
        </p:nvSpPr>
        <p:spPr>
          <a:xfrm>
            <a:off x="8607552" y="5687568"/>
            <a:ext cx="2977896" cy="457200"/>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34" charset="0"/>
                <a:ea typeface="Amiri" pitchFamily="34" charset="-122"/>
                <a:cs typeface="Amiri" pitchFamily="34" charset="-120"/>
              </a:rPr>
              <a:t>شَكْلُهُ سَيِّئٌ.</a:t>
            </a:r>
            <a:endParaRPr lang="ar-SA" sz="2000" dirty="0"/>
          </a:p>
        </p:txBody>
      </p:sp>
      <p:sp>
        <p:nvSpPr>
          <p:cNvPr id="96" name="Text 9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44 / 47</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TB-L03 · Appearance and Personality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MISSION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Mission: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B · Personal and Social Life · TB-L03</a:t>
            </a:r>
            <a:endParaRPr lang="en-US" sz="850" dirty="0"/>
          </a:p>
        </p:txBody>
      </p:sp>
      <p:sp>
        <p:nvSpPr>
          <p:cNvPr id="16"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7"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8"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9"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“She has long hair.”</a:t>
            </a:r>
            <a:endParaRPr lang="en-US" sz="1250" dirty="0"/>
          </a:p>
        </p:txBody>
      </p:sp>
      <p:sp>
        <p:nvSpPr>
          <p:cNvPr id="20"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2" name="Text 20"/>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لَهُ شَعْرٌ طَوِيلَةٌ.</a:t>
            </a:r>
            <a:endParaRPr lang="ar-SA" sz="1700" dirty="0"/>
          </a:p>
        </p:txBody>
      </p:sp>
      <p:sp>
        <p:nvSpPr>
          <p:cNvPr id="23"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4"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5"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6" name="Text 24"/>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لَهَا شَعْرٌ طَوِيلٌ.</a:t>
            </a:r>
            <a:endParaRPr lang="ar-SA" sz="1700" dirty="0"/>
          </a:p>
        </p:txBody>
      </p:sp>
      <p:sp>
        <p:nvSpPr>
          <p:cNvPr id="27"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7"/>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هِيَ شَعْرُهَا طَوِيلَةٌ.</a:t>
            </a:r>
            <a:endParaRPr lang="ar-SA" sz="1700" dirty="0"/>
          </a:p>
        </p:txBody>
      </p:sp>
      <p:sp>
        <p:nvSpPr>
          <p:cNvPr id="30" name="Text 28"/>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لَهَا</a:t>
            </a:r>
            <a:pPr algn="l" indent="0" marL="0">
              <a:buNone/>
            </a:pPr>
            <a:r>
              <a:rPr lang="en-US" sz="1050" i="1" dirty="0">
                <a:solidFill>
                  <a:srgbClr val="8A6D1E"/>
                </a:solidFill>
                <a:latin typeface="Calibri" pitchFamily="34" charset="0"/>
                <a:ea typeface="Calibri" pitchFamily="34" charset="-122"/>
                <a:cs typeface="Calibri" pitchFamily="34" charset="-120"/>
              </a:rPr>
              <a:t> + masculine </a:t>
            </a:r>
            <a:pPr algn="l" indent="0" marL="0">
              <a:buNone/>
            </a:pPr>
            <a:r>
              <a:rPr lang="ar-SA" altLang="en-US" sz="1350" dirty="0">
                <a:solidFill>
                  <a:srgbClr val="8A6D1E"/>
                </a:solidFill>
                <a:latin typeface="Amiri" pitchFamily="34" charset="0"/>
                <a:ea typeface="Amiri" pitchFamily="34" charset="-122"/>
                <a:cs typeface="Amiri" pitchFamily="34" charset="-120"/>
              </a:rPr>
              <a:t>شَعْرٌ</a:t>
            </a:r>
            <a:pPr algn="l" indent="0" marL="0">
              <a:buNone/>
            </a:pPr>
            <a:r>
              <a:rPr lang="en-US" sz="1050" i="1" dirty="0">
                <a:solidFill>
                  <a:srgbClr val="8A6D1E"/>
                </a:solidFill>
                <a:latin typeface="Calibri" pitchFamily="34" charset="0"/>
                <a:ea typeface="Calibri" pitchFamily="34" charset="-122"/>
                <a:cs typeface="Calibri" pitchFamily="34" charset="-120"/>
              </a:rPr>
              <a:t> + </a:t>
            </a:r>
            <a:pPr algn="l" indent="0" marL="0">
              <a:buNone/>
            </a:pPr>
            <a:r>
              <a:rPr lang="ar-SA" altLang="en-US" sz="1350" dirty="0">
                <a:solidFill>
                  <a:srgbClr val="8A6D1E"/>
                </a:solidFill>
                <a:latin typeface="Amiri" pitchFamily="34" charset="0"/>
                <a:ea typeface="Amiri" pitchFamily="34" charset="-122"/>
                <a:cs typeface="Amiri" pitchFamily="34" charset="-120"/>
              </a:rPr>
              <a:t>طَوِيلٌ</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1"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4"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boy who wears glasses”.</a:t>
            </a:r>
            <a:endParaRPr lang="en-US" sz="1250" dirty="0"/>
          </a:p>
        </p:txBody>
      </p:sp>
      <p:sp>
        <p:nvSpPr>
          <p:cNvPr id="35" name="Shape 33"/>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6" name="Shape 34"/>
          <p:cNvSpPr/>
          <p:nvPr/>
        </p:nvSpPr>
        <p:spPr>
          <a:xfrm>
            <a:off x="4459224" y="2490216"/>
            <a:ext cx="256032" cy="256032"/>
          </a:xfrm>
          <a:prstGeom prst="ellipse">
            <a:avLst/>
          </a:prstGeom>
          <a:solidFill>
            <a:srgbClr val="2E8B57"/>
          </a:solidFill>
          <a:ln w="12700">
            <a:solidFill>
              <a:srgbClr val="2E8B57"/>
            </a:solidFill>
            <a:prstDash val="solid"/>
          </a:ln>
        </p:spPr>
      </p:sp>
      <p:sp>
        <p:nvSpPr>
          <p:cNvPr id="37" name="Text 35"/>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8" name="Text 36"/>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الوَلَدُ الَّذِي يَرْتَدِي نَظَّارَةً</a:t>
            </a:r>
            <a:endParaRPr lang="ar-SA" sz="1700" dirty="0"/>
          </a:p>
        </p:txBody>
      </p:sp>
      <p:sp>
        <p:nvSpPr>
          <p:cNvPr id="39" name="Shape 37"/>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8"/>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9"/>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الوَلَدُ الَّتِي تَرْتَدِي نَظَّارَةً</a:t>
            </a:r>
            <a:endParaRPr lang="ar-SA" sz="1700" dirty="0"/>
          </a:p>
        </p:txBody>
      </p:sp>
      <p:sp>
        <p:nvSpPr>
          <p:cNvPr id="42" name="Shape 40"/>
          <p:cNvSpPr/>
          <p:nvPr/>
        </p:nvSpPr>
        <p:spPr>
          <a:xfrm>
            <a:off x="4459224" y="3233928"/>
            <a:ext cx="256032" cy="256032"/>
          </a:xfrm>
          <a:prstGeom prst="ellipse">
            <a:avLst/>
          </a:prstGeom>
          <a:solidFill>
            <a:srgbClr val="C9CED6"/>
          </a:solidFill>
          <a:ln w="12700">
            <a:solidFill>
              <a:srgbClr val="C9CED6"/>
            </a:solidFill>
            <a:prstDash val="solid"/>
          </a:ln>
        </p:spPr>
      </p:sp>
      <p:sp>
        <p:nvSpPr>
          <p:cNvPr id="43"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4" name="Text 42"/>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البِنْتُ الَّذِي يَرْتَدِي</a:t>
            </a:r>
            <a:endParaRPr lang="ar-SA" sz="1700" dirty="0"/>
          </a:p>
        </p:txBody>
      </p:sp>
      <p:sp>
        <p:nvSpPr>
          <p:cNvPr id="45" name="Text 43"/>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Masculine antecedent takes </a:t>
            </a:r>
            <a:pPr algn="l" indent="0" marL="0">
              <a:buNone/>
            </a:pPr>
            <a:r>
              <a:rPr lang="ar-SA" altLang="en-US" sz="1350" dirty="0">
                <a:solidFill>
                  <a:srgbClr val="8A6D1E"/>
                </a:solidFill>
                <a:latin typeface="Amiri" pitchFamily="34" charset="0"/>
                <a:ea typeface="Amiri" pitchFamily="34" charset="-122"/>
                <a:cs typeface="Amiri" pitchFamily="34" charset="-120"/>
              </a:rPr>
              <a:t>الذي</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46"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9" name="Text 47"/>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50" name="Text 48"/>
          <p:cNvSpPr txBox="1"/>
          <p:nvPr/>
        </p:nvSpPr>
        <p:spPr>
          <a:xfrm>
            <a:off x="10044989" y="1883664"/>
            <a:ext cx="1577035"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عَيْنَاهَا ___.</a:t>
            </a:r>
            <a:endParaRPr lang="ar-SA" sz="1500" dirty="0"/>
          </a:p>
        </p:txBody>
      </p:sp>
      <p:sp>
        <p:nvSpPr>
          <p:cNvPr id="51" name="Shape 49"/>
          <p:cNvSpPr/>
          <p:nvPr/>
        </p:nvSpPr>
        <p:spPr>
          <a:xfrm>
            <a:off x="8278368" y="2490216"/>
            <a:ext cx="256032" cy="256032"/>
          </a:xfrm>
          <a:prstGeom prst="ellipse">
            <a:avLst/>
          </a:prstGeom>
          <a:solidFill>
            <a:srgbClr val="C9CED6"/>
          </a:solidFill>
          <a:ln w="12700">
            <a:solidFill>
              <a:srgbClr val="C9CED6"/>
            </a:solidFill>
            <a:prstDash val="solid"/>
          </a:ln>
        </p:spPr>
      </p:sp>
      <p:sp>
        <p:nvSpPr>
          <p:cNvPr id="52" name="Text 50"/>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3" name="Text 51"/>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بُنِّيٌّ</a:t>
            </a:r>
            <a:endParaRPr lang="ar-SA" sz="1700" dirty="0"/>
          </a:p>
        </p:txBody>
      </p:sp>
      <p:sp>
        <p:nvSpPr>
          <p:cNvPr id="54" name="Shape 52"/>
          <p:cNvSpPr/>
          <p:nvPr/>
        </p:nvSpPr>
        <p:spPr>
          <a:xfrm>
            <a:off x="8278368" y="2862072"/>
            <a:ext cx="256032" cy="256032"/>
          </a:xfrm>
          <a:prstGeom prst="ellipse">
            <a:avLst/>
          </a:prstGeom>
          <a:solidFill>
            <a:srgbClr val="C9CED6"/>
          </a:solidFill>
          <a:ln w="12700">
            <a:solidFill>
              <a:srgbClr val="C9CED6"/>
            </a:solidFill>
            <a:prstDash val="solid"/>
          </a:ln>
        </p:spPr>
      </p:sp>
      <p:sp>
        <p:nvSpPr>
          <p:cNvPr id="55" name="Text 53"/>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6" name="Text 54"/>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بُنِّيَّةٌ</a:t>
            </a:r>
            <a:endParaRPr lang="ar-SA" sz="1700" dirty="0"/>
          </a:p>
        </p:txBody>
      </p:sp>
      <p:sp>
        <p:nvSpPr>
          <p:cNvPr id="57" name="Shape 55"/>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8" name="Shape 56"/>
          <p:cNvSpPr/>
          <p:nvPr/>
        </p:nvSpPr>
        <p:spPr>
          <a:xfrm>
            <a:off x="8278368" y="3233928"/>
            <a:ext cx="256032" cy="256032"/>
          </a:xfrm>
          <a:prstGeom prst="ellipse">
            <a:avLst/>
          </a:prstGeom>
          <a:solidFill>
            <a:srgbClr val="2E8B57"/>
          </a:solidFill>
          <a:ln w="12700">
            <a:solidFill>
              <a:srgbClr val="2E8B57"/>
            </a:solidFill>
            <a:prstDash val="solid"/>
          </a:ln>
        </p:spPr>
      </p:sp>
      <p:sp>
        <p:nvSpPr>
          <p:cNvPr id="59" name="Text 57"/>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60" name="Text 58"/>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بُنِّيَّتَانِ</a:t>
            </a:r>
            <a:endParaRPr lang="ar-SA" sz="1700" dirty="0"/>
          </a:p>
        </p:txBody>
      </p:sp>
      <p:sp>
        <p:nvSpPr>
          <p:cNvPr id="61" name="Text 59"/>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Dual feminine agreement.</a:t>
            </a:r>
            <a:endParaRPr lang="en-US" sz="1050" dirty="0"/>
          </a:p>
        </p:txBody>
      </p:sp>
      <p:sp>
        <p:nvSpPr>
          <p:cNvPr id="62" name="Shape 60"/>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1"/>
          <p:cNvSpPr/>
          <p:nvPr/>
        </p:nvSpPr>
        <p:spPr>
          <a:xfrm>
            <a:off x="585216" y="4288536"/>
            <a:ext cx="310896" cy="310896"/>
          </a:xfrm>
          <a:prstGeom prst="ellipse">
            <a:avLst/>
          </a:prstGeom>
          <a:solidFill>
            <a:srgbClr val="1B3B6F"/>
          </a:solidFill>
          <a:ln w="12700">
            <a:solidFill>
              <a:srgbClr val="1B3B6F"/>
            </a:solidFill>
            <a:prstDash val="solid"/>
          </a:ln>
        </p:spPr>
      </p:sp>
      <p:sp>
        <p:nvSpPr>
          <p:cNvPr id="64" name="Text 6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5" name="Text 63"/>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accurate hair description.</a:t>
            </a:r>
            <a:endParaRPr lang="en-US" sz="1250" dirty="0"/>
          </a:p>
        </p:txBody>
      </p:sp>
      <p:sp>
        <p:nvSpPr>
          <p:cNvPr id="66" name="Shape 64"/>
          <p:cNvSpPr/>
          <p:nvPr/>
        </p:nvSpPr>
        <p:spPr>
          <a:xfrm>
            <a:off x="640080" y="4831080"/>
            <a:ext cx="256032" cy="256032"/>
          </a:xfrm>
          <a:prstGeom prst="ellipse">
            <a:avLst/>
          </a:prstGeom>
          <a:solidFill>
            <a:srgbClr val="C9CED6"/>
          </a:solidFill>
          <a:ln w="12700">
            <a:solidFill>
              <a:srgbClr val="C9CED6"/>
            </a:solidFill>
            <a:prstDash val="solid"/>
          </a:ln>
        </p:spPr>
      </p:sp>
      <p:sp>
        <p:nvSpPr>
          <p:cNvPr id="67" name="Text 65"/>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6"/>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شَعْرُهُ قَصِيرَةٌ وَمُجَعَّدَةٌ.</a:t>
            </a:r>
            <a:endParaRPr lang="ar-SA" sz="1700" dirty="0"/>
          </a:p>
        </p:txBody>
      </p:sp>
      <p:sp>
        <p:nvSpPr>
          <p:cNvPr id="69" name="Shape 67"/>
          <p:cNvSpPr/>
          <p:nvPr/>
        </p:nvSpPr>
        <p:spPr>
          <a:xfrm>
            <a:off x="640080" y="5202936"/>
            <a:ext cx="256032" cy="256032"/>
          </a:xfrm>
          <a:prstGeom prst="ellipse">
            <a:avLst/>
          </a:prstGeom>
          <a:solidFill>
            <a:srgbClr val="C9CED6"/>
          </a:solidFill>
          <a:ln w="12700">
            <a:solidFill>
              <a:srgbClr val="C9CED6"/>
            </a:solidFill>
            <a:prstDash val="solid"/>
          </a:ln>
        </p:spPr>
      </p:sp>
      <p:sp>
        <p:nvSpPr>
          <p:cNvPr id="70" name="Text 68"/>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1" name="Text 69"/>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شَعْرُهَا قَصِيرًا.</a:t>
            </a:r>
            <a:endParaRPr lang="ar-SA" sz="1700" dirty="0"/>
          </a:p>
        </p:txBody>
      </p:sp>
      <p:sp>
        <p:nvSpPr>
          <p:cNvPr id="72" name="Shape 70"/>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3" name="Shape 71"/>
          <p:cNvSpPr/>
          <p:nvPr/>
        </p:nvSpPr>
        <p:spPr>
          <a:xfrm>
            <a:off x="640080" y="5574792"/>
            <a:ext cx="256032" cy="256032"/>
          </a:xfrm>
          <a:prstGeom prst="ellipse">
            <a:avLst/>
          </a:prstGeom>
          <a:solidFill>
            <a:srgbClr val="2E8B57"/>
          </a:solidFill>
          <a:ln w="12700">
            <a:solidFill>
              <a:srgbClr val="2E8B57"/>
            </a:solidFill>
            <a:prstDash val="solid"/>
          </a:ln>
        </p:spPr>
      </p:sp>
      <p:sp>
        <p:nvSpPr>
          <p:cNvPr id="74" name="Text 72"/>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5" name="Text 73"/>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شَعْرُهُ قَصِيرٌ وَمُجَعَّدٌ.</a:t>
            </a:r>
            <a:endParaRPr lang="ar-SA" sz="1700" dirty="0"/>
          </a:p>
        </p:txBody>
      </p:sp>
      <p:sp>
        <p:nvSpPr>
          <p:cNvPr id="76" name="Text 74"/>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شَعْرٌ</a:t>
            </a:r>
            <a:pPr algn="l" indent="0" marL="0">
              <a:buNone/>
            </a:pPr>
            <a:r>
              <a:rPr lang="en-US" sz="1050" i="1" dirty="0">
                <a:solidFill>
                  <a:srgbClr val="8A6D1E"/>
                </a:solidFill>
                <a:latin typeface="Calibri" pitchFamily="34" charset="0"/>
                <a:ea typeface="Calibri" pitchFamily="34" charset="-122"/>
                <a:cs typeface="Calibri" pitchFamily="34" charset="-120"/>
              </a:rPr>
              <a:t> is masculine.</a:t>
            </a:r>
            <a:endParaRPr lang="en-US" sz="1050" dirty="0"/>
          </a:p>
        </p:txBody>
      </p:sp>
      <p:sp>
        <p:nvSpPr>
          <p:cNvPr id="77" name="Shape 75"/>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6"/>
          <p:cNvSpPr/>
          <p:nvPr/>
        </p:nvSpPr>
        <p:spPr>
          <a:xfrm>
            <a:off x="4404360" y="4288536"/>
            <a:ext cx="310896" cy="310896"/>
          </a:xfrm>
          <a:prstGeom prst="ellipse">
            <a:avLst/>
          </a:prstGeom>
          <a:solidFill>
            <a:srgbClr val="1B3B6F"/>
          </a:solidFill>
          <a:ln w="12700">
            <a:solidFill>
              <a:srgbClr val="1B3B6F"/>
            </a:solidFill>
            <a:prstDash val="solid"/>
          </a:ln>
        </p:spPr>
      </p:sp>
      <p:sp>
        <p:nvSpPr>
          <p:cNvPr id="79" name="Text 77"/>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80" name="Text 78"/>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feminine relative clause.</a:t>
            </a:r>
            <a:endParaRPr lang="en-US" sz="1250" dirty="0"/>
          </a:p>
        </p:txBody>
      </p:sp>
      <p:sp>
        <p:nvSpPr>
          <p:cNvPr id="81" name="Shape 79"/>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2" name="Shape 80"/>
          <p:cNvSpPr/>
          <p:nvPr/>
        </p:nvSpPr>
        <p:spPr>
          <a:xfrm>
            <a:off x="4459224" y="4831080"/>
            <a:ext cx="256032" cy="256032"/>
          </a:xfrm>
          <a:prstGeom prst="ellipse">
            <a:avLst/>
          </a:prstGeom>
          <a:solidFill>
            <a:srgbClr val="2E8B57"/>
          </a:solidFill>
          <a:ln w="12700">
            <a:solidFill>
              <a:srgbClr val="2E8B57"/>
            </a:solidFill>
            <a:prstDash val="solid"/>
          </a:ln>
        </p:spPr>
      </p:sp>
      <p:sp>
        <p:nvSpPr>
          <p:cNvPr id="83" name="Text 81"/>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4" name="Text 82"/>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الفَتَاةُ الَّتِي تَرْتَدِي حِجَابًا</a:t>
            </a:r>
            <a:endParaRPr lang="ar-SA" sz="1700" dirty="0"/>
          </a:p>
        </p:txBody>
      </p:sp>
      <p:sp>
        <p:nvSpPr>
          <p:cNvPr id="85" name="Shape 83"/>
          <p:cNvSpPr/>
          <p:nvPr/>
        </p:nvSpPr>
        <p:spPr>
          <a:xfrm>
            <a:off x="4459224" y="5202936"/>
            <a:ext cx="256032" cy="256032"/>
          </a:xfrm>
          <a:prstGeom prst="ellipse">
            <a:avLst/>
          </a:prstGeom>
          <a:solidFill>
            <a:srgbClr val="C9CED6"/>
          </a:solidFill>
          <a:ln w="12700">
            <a:solidFill>
              <a:srgbClr val="C9CED6"/>
            </a:solidFill>
            <a:prstDash val="solid"/>
          </a:ln>
        </p:spPr>
      </p:sp>
      <p:sp>
        <p:nvSpPr>
          <p:cNvPr id="86" name="Text 84"/>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7" name="Text 85"/>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الفَتَاةُ الَّذِي يَرْتَدِي حِجَابًا</a:t>
            </a:r>
            <a:endParaRPr lang="ar-SA" sz="1700" dirty="0"/>
          </a:p>
        </p:txBody>
      </p:sp>
      <p:sp>
        <p:nvSpPr>
          <p:cNvPr id="88" name="Shape 86"/>
          <p:cNvSpPr/>
          <p:nvPr/>
        </p:nvSpPr>
        <p:spPr>
          <a:xfrm>
            <a:off x="4459224" y="5574792"/>
            <a:ext cx="256032" cy="256032"/>
          </a:xfrm>
          <a:prstGeom prst="ellipse">
            <a:avLst/>
          </a:prstGeom>
          <a:solidFill>
            <a:srgbClr val="C9CED6"/>
          </a:solidFill>
          <a:ln w="12700">
            <a:solidFill>
              <a:srgbClr val="C9CED6"/>
            </a:solidFill>
            <a:prstDash val="solid"/>
          </a:ln>
        </p:spPr>
      </p:sp>
      <p:sp>
        <p:nvSpPr>
          <p:cNvPr id="89" name="Text 87"/>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0" name="Text 88"/>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الوَلَدُ الَّتِي تَرْتَدِي</a:t>
            </a:r>
            <a:endParaRPr lang="ar-SA" sz="1700" dirty="0"/>
          </a:p>
        </p:txBody>
      </p:sp>
      <p:sp>
        <p:nvSpPr>
          <p:cNvPr id="91" name="Text 89"/>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Feminine antecedent takes </a:t>
            </a:r>
            <a:pPr algn="l" indent="0" marL="0">
              <a:buNone/>
            </a:pPr>
            <a:r>
              <a:rPr lang="ar-SA" altLang="en-US" sz="1350" dirty="0">
                <a:solidFill>
                  <a:srgbClr val="8A6D1E"/>
                </a:solidFill>
                <a:latin typeface="Amiri" pitchFamily="34" charset="0"/>
                <a:ea typeface="Amiri" pitchFamily="34" charset="-122"/>
                <a:cs typeface="Amiri" pitchFamily="34" charset="-120"/>
              </a:rPr>
              <a:t>التي</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92" name="Shape 90"/>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3" name="Shape 91"/>
          <p:cNvSpPr/>
          <p:nvPr/>
        </p:nvSpPr>
        <p:spPr>
          <a:xfrm>
            <a:off x="8223504" y="4288536"/>
            <a:ext cx="310896" cy="310896"/>
          </a:xfrm>
          <a:prstGeom prst="ellipse">
            <a:avLst/>
          </a:prstGeom>
          <a:solidFill>
            <a:srgbClr val="1B3B6F"/>
          </a:solidFill>
          <a:ln w="12700">
            <a:solidFill>
              <a:srgbClr val="1B3B6F"/>
            </a:solidFill>
            <a:prstDash val="solid"/>
          </a:ln>
        </p:spPr>
      </p:sp>
      <p:sp>
        <p:nvSpPr>
          <p:cNvPr id="94" name="Text 92"/>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5" name="Text 93"/>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respectful and precise?</a:t>
            </a:r>
            <a:endParaRPr lang="en-US" sz="1250" dirty="0"/>
          </a:p>
        </p:txBody>
      </p:sp>
      <p:sp>
        <p:nvSpPr>
          <p:cNvPr id="96" name="Shape 94"/>
          <p:cNvSpPr/>
          <p:nvPr/>
        </p:nvSpPr>
        <p:spPr>
          <a:xfrm>
            <a:off x="8278368" y="4831080"/>
            <a:ext cx="256032" cy="256032"/>
          </a:xfrm>
          <a:prstGeom prst="ellipse">
            <a:avLst/>
          </a:prstGeom>
          <a:solidFill>
            <a:srgbClr val="C9CED6"/>
          </a:solidFill>
          <a:ln w="12700">
            <a:solidFill>
              <a:srgbClr val="C9CED6"/>
            </a:solidFill>
            <a:prstDash val="solid"/>
          </a:ln>
        </p:spPr>
      </p:sp>
      <p:sp>
        <p:nvSpPr>
          <p:cNvPr id="97" name="Text 95"/>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98" name="Text 96"/>
          <p:cNvSpPr txBox="1"/>
          <p:nvPr/>
        </p:nvSpPr>
        <p:spPr>
          <a:xfrm>
            <a:off x="8607552"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هُوَ غَرِيبُ الشَّكْلِ.</a:t>
            </a:r>
            <a:endParaRPr lang="ar-SA" sz="1700" dirty="0"/>
          </a:p>
        </p:txBody>
      </p:sp>
      <p:sp>
        <p:nvSpPr>
          <p:cNvPr id="99" name="Shape 97"/>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100" name="Shape 98"/>
          <p:cNvSpPr/>
          <p:nvPr/>
        </p:nvSpPr>
        <p:spPr>
          <a:xfrm>
            <a:off x="8278368" y="5202936"/>
            <a:ext cx="256032" cy="256032"/>
          </a:xfrm>
          <a:prstGeom prst="ellipse">
            <a:avLst/>
          </a:prstGeom>
          <a:solidFill>
            <a:srgbClr val="2E8B57"/>
          </a:solidFill>
          <a:ln w="12700">
            <a:solidFill>
              <a:srgbClr val="2E8B57"/>
            </a:solidFill>
            <a:prstDash val="solid"/>
          </a:ln>
        </p:spPr>
      </p:sp>
      <p:sp>
        <p:nvSpPr>
          <p:cNvPr id="101" name="Text 99"/>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102" name="Text 100"/>
          <p:cNvSpPr txBox="1"/>
          <p:nvPr/>
        </p:nvSpPr>
        <p:spPr>
          <a:xfrm>
            <a:off x="8607552"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هُوَ مُتَوَسِّطُ القَامَةِ وَلَهُ شَعْرٌ قَصِيرٌ.</a:t>
            </a:r>
            <a:endParaRPr lang="ar-SA" sz="1700" dirty="0"/>
          </a:p>
        </p:txBody>
      </p:sp>
      <p:sp>
        <p:nvSpPr>
          <p:cNvPr id="103" name="Shape 101"/>
          <p:cNvSpPr/>
          <p:nvPr/>
        </p:nvSpPr>
        <p:spPr>
          <a:xfrm>
            <a:off x="8278368" y="5574792"/>
            <a:ext cx="256032" cy="256032"/>
          </a:xfrm>
          <a:prstGeom prst="ellipse">
            <a:avLst/>
          </a:prstGeom>
          <a:solidFill>
            <a:srgbClr val="C9CED6"/>
          </a:solidFill>
          <a:ln w="12700">
            <a:solidFill>
              <a:srgbClr val="C9CED6"/>
            </a:solidFill>
            <a:prstDash val="solid"/>
          </a:ln>
        </p:spPr>
      </p:sp>
      <p:sp>
        <p:nvSpPr>
          <p:cNvPr id="104" name="Text 102"/>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105" name="Text 103"/>
          <p:cNvSpPr txBox="1"/>
          <p:nvPr/>
        </p:nvSpPr>
        <p:spPr>
          <a:xfrm>
            <a:off x="8607552"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شَكْلُهُ سَيِّئٌ.</a:t>
            </a:r>
            <a:endParaRPr lang="ar-SA" sz="1700" dirty="0"/>
          </a:p>
        </p:txBody>
      </p:sp>
      <p:sp>
        <p:nvSpPr>
          <p:cNvPr id="106" name="Text 104"/>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It describes observable details respectfully.</a:t>
            </a:r>
            <a:endParaRPr lang="en-US" sz="1050" dirty="0"/>
          </a:p>
        </p:txBody>
      </p:sp>
      <p:sp>
        <p:nvSpPr>
          <p:cNvPr id="107" name="Text 10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45 / 47</a:t>
            </a:r>
            <a:endParaRPr lang="en-US" sz="8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TB-L03 · Appearance and Personality</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Before TB-L04: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B · Personal and Social Life · TB-L03</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TB-L04 · My Home, Rooms and Garden</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بَيْتٌ</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 house, a home</a:t>
            </a:r>
            <a:pPr indent="0" marL="0">
              <a:buNone/>
            </a:pPr>
            <a:r>
              <a:rPr lang="en-US" sz="1000" i="1" dirty="0">
                <a:solidFill>
                  <a:srgbClr val="5A6472"/>
                </a:solidFill>
                <a:latin typeface="Calibri" pitchFamily="34" charset="0"/>
                <a:ea typeface="Calibri" pitchFamily="34" charset="-122"/>
                <a:cs typeface="Calibri" pitchFamily="34" charset="-120"/>
              </a:rPr>
              <a:t>  pl. بُيُوتٌ</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شَقَّةٌ</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 flat</a:t>
            </a:r>
            <a:pPr indent="0" marL="0">
              <a:buNone/>
            </a:pPr>
            <a:r>
              <a:rPr lang="en-US" sz="1000" i="1" dirty="0">
                <a:solidFill>
                  <a:srgbClr val="5A6472"/>
                </a:solidFill>
                <a:latin typeface="Calibri" pitchFamily="34" charset="0"/>
                <a:ea typeface="Calibri" pitchFamily="34" charset="-122"/>
                <a:cs typeface="Calibri" pitchFamily="34" charset="-120"/>
              </a:rPr>
              <a:t>  pl. شُقَقٌ</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غُرْفَةٌ</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 room</a:t>
            </a:r>
            <a:pPr indent="0" marL="0">
              <a:buNone/>
            </a:pPr>
            <a:r>
              <a:rPr lang="en-US" sz="1000" i="1" dirty="0">
                <a:solidFill>
                  <a:srgbClr val="5A6472"/>
                </a:solidFill>
                <a:latin typeface="Calibri" pitchFamily="34" charset="0"/>
                <a:ea typeface="Calibri" pitchFamily="34" charset="-122"/>
                <a:cs typeface="Calibri" pitchFamily="34" charset="-120"/>
              </a:rPr>
              <a:t>  pl. غُرَفٌ</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مَطْبَخٌ</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 kitchen</a:t>
            </a:r>
            <a:pPr indent="0" marL="0">
              <a:buNone/>
            </a:pPr>
            <a:r>
              <a:rPr lang="en-US" sz="1000" i="1" dirty="0">
                <a:solidFill>
                  <a:srgbClr val="5A6472"/>
                </a:solidFill>
                <a:latin typeface="Calibri" pitchFamily="34" charset="0"/>
                <a:ea typeface="Calibri" pitchFamily="34" charset="-122"/>
                <a:cs typeface="Calibri" pitchFamily="34" charset="-120"/>
              </a:rPr>
              <a:t>  pl. مَطَابِخُ</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حَدِيقَةٌ</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 garden</a:t>
            </a:r>
            <a:pPr indent="0" marL="0">
              <a:buNone/>
            </a:pPr>
            <a:r>
              <a:rPr lang="en-US" sz="1000" i="1" dirty="0">
                <a:solidFill>
                  <a:srgbClr val="5A6472"/>
                </a:solidFill>
                <a:latin typeface="Calibri" pitchFamily="34" charset="0"/>
                <a:ea typeface="Calibri" pitchFamily="34" charset="-122"/>
                <a:cs typeface="Calibri" pitchFamily="34" charset="-120"/>
              </a:rPr>
              <a:t>  pl. حَدَائِقُ</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Do you live in a house or a flat? Write one sentence in Arabic (a real or an invented home).</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34" charset="0"/>
                <a:ea typeface="Amiri" pitchFamily="34" charset="-122"/>
                <a:cs typeface="Amiri" pitchFamily="34" charset="-120"/>
              </a:rPr>
              <a:t>أَيْنَ تَسْكُنُ؟</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D2-L06: the picture game and the vocabulary tab — learn 8 description words (m. and f.).</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Describe a person (invented or a book character): appearance + personality with one piece of evidence.</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writing task on appearance and personality, with a fact / opinion contrast.</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46 / 47</a:t>
            </a:r>
            <a:endParaRPr lang="en-US" sz="85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TB-L03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600" b="1" dirty="0">
                <a:solidFill>
                  <a:srgbClr val="FFFFFF"/>
                </a:solidFill>
                <a:latin typeface="Cambria" pitchFamily="34" charset="0"/>
                <a:ea typeface="Cambria" pitchFamily="34" charset="-122"/>
                <a:cs typeface="Cambria" pitchFamily="34" charset="-120"/>
              </a:rPr>
              <a:t>TB-L04 · My Home, Rooms and Garden</a:t>
            </a:r>
            <a:endParaRPr lang="en-US" sz="26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بَيْتِي وَغُرَفُهُ وَحَدِيقَتُهُ</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Remember: 5 home words + where you live.</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47</Slides>
  <Notes>47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47</vt:i4>
      </vt:variant>
    </vt:vector>
  </HeadingPairs>
  <TitlesOfParts>
    <vt:vector size="5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TB-L03 · Appearance and Personality</dc:title>
  <dc:subject>PptxGenJS Presentation</dc:subject>
  <dc:creator>Al Madina Online School · Arabic Department</dc:creator>
  <cp:lastModifiedBy>Al Madina Online School · Arabic Department</cp:lastModifiedBy>
  <cp:revision>1</cp:revision>
  <dcterms:created xsi:type="dcterms:W3CDTF">2026-09-27T13:01:25Z</dcterms:created>
  <dcterms:modified xsi:type="dcterms:W3CDTF">2026-09-27T13:01:25Z</dcterms:modified>
</cp:coreProperties>
</file>