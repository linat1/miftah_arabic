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TB-L10 — Topic B Listening and Reading Workshop. Website: Advanced Topics › Topic B (Personal and Social Life) › Lesson 10.
The website builds this lesson on the D2-L08 lesson engine, with the Topic focus “Interpret profiles, messages, descriptions and opinions across all Topic B content.” (grammar: Reference tracking; agreement; contextual deduction; skills: Listening · Reading) and the application challenge “Profile evidence hunt”.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TB-L10. The website lesson “Reading — Personality, Relationships and Fashion Texts”: vocabulary, grammar rules and quiz, patterns, common mistakes, sorter, listening, reading, speaking prompts and model, writing task and model, differentiation, final check and the lesson mission. Picture match: website visual game “Reading — Personality, Relationships and Fashion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article (“How do we judge people and style?”) is the main You Do task. Teaching focuses on the language of an argument text: the writer’s view, examples, contrast, conclusion.
• Core: questions 1–3 (the writer’s view and the first example) with the key-words panel. Develop: all 6. Stretch: the written response (agree / disagree with evidence).
• The grammar quiz on the website repeats D2-L07 (website) — here it is used as retrieval (quick check) only.
• Urdu bridge: مضمون ≠ مَقَالٌ, مثال، خلاصہ، رائے، ثبوت / دلیل.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revision words prepared at home. Questions 3–5 retrieve D2-L07 (website) (fact, opinion, inference) and TB-L03 (appearance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opinion article has four moves: the view → an example → a contrast → the conclusion. Find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(article, thesis) → مَقَالٌ; مثال → مِثَالٌ; خلاصہ (summary) shares the root of يَخْلُصُ إِلَى (he concludes) and خُلَاصَةٌ; کاتب (a scribe) → الكَاتِبُ (the writer). اِنْطِبَاعٌ (impression) has no Urdu cognate: الاِنْطِبَاعُ الأَوَّلُ = first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(1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(2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(1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(2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(3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(1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(2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(3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teacher-built from the website article, applying the website rules “Distinguish fact and opinion” and “Follow comparison and contrast”. Teacher script: “Articles are built like a sandwich: view – examples – conclusion. Find the bread first.”
Core: highlight rows 1 and 5 in the article (view and conclusion) before reading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reference” and “Infer from evidence”, plus the response language needed for the website writing task (summarise the view, use evidence, give your conclusion).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“Read profiles, messages and articles, tracking pronouns, comparisons and the writer’s supported viewpoint.”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reads the first sentence of the website article and thinks aloud; the answer matches the website speaking model (يَرَى أَنَّ المَظْهَرَ لَا يَكْفِي لِلْحُكْمِ عَلَى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4 (the inference). • Develop: copy sentences 2–3 and change the people. • Stretch: write one sentence with يَرَى الكَاتِبُ أَنَّ about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تُقْرَأُ ثَلَاثُ رِسَالَاتٍ قَصِيرَةٍ. الأُولَى مِنْ طَالِبَةٍ تَصِفُ صَدِيقَتَهَا المُتَعَاوِنَةَ. الثَّانِيَةُ مِنْ شَابٍّ يَشْرَحُ لِمَاذَا يُفَضِّلُ المَلَابِسَ العَمَلِيَّةَ. الثَّالِثَةُ تُقَارِنُ بَيْنَ عِلَاقَتَيْنِ وَتَذْكُرُ أَنَّ الاِحْتِرَامَ أَهَمُّ مِنَ التَّشَابُهِ التَّامِّ.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article “How do we judge people and style?”. First read: underline the VIEW (يَرَى) and the CONCLUSION (يَخْلُصُ). Second read: the two examples and the contrast.
Core: questions 1–3. Develop: all 6. Stretch: then the written response.
(Questions are teacher-written: the website questions for this text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“Read or listen to short Topic B profiles and messages. Find evidence for identity, relationship, opinion and time frame, then reject one distractor.”
Website Topic B challenge “Profile evidence hunt”. Teacher-written messages (Topic B language):
1. أَنَا سَارَةُ، أُخْتُ أَحْمَدَ الكُبْرَى. أَخِي هَادِئٌ وَلَكِنَّهُ مَرِحٌ مَعَ أَصْدِقَائِهِ. (identity: Sarah · relationship: Ahmad’s older sister · opinion: calm but cheerful · now)
2. زُرْنَا جَدَّتِي فِي الصَّيْفِ المَاضِي، وَكَانَ بَيْتُهَا كَبِيرًا وَجَمِيلًا. (relationship: grandmother · opinion: big and beautiful · past)
3. سَأَشْتَرِي فُسْتَانًا أَزْرَقَ لِحَفْلَةِ صَدِيقَتِي، لِأَنَّ الأَحْمَرَ غَالٍ جِدًّا. (relationship: friend · opinion: the red one is too expensive · future — distractor: “red” is mentioned but not bought)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يُقَدِّمُ مِثَالَيْنِ يُخَالِفُ فِيهِمَا المَظْهَرُ الشَّخْصِيَّةَ. (He gives two examples where appearance differs from personality.)
Website prompts (prompt 3 adapted to the article). Website model continues: A: مَا الدَّلِيلُ؟ (What is the evidence?) B: يُقَدِّمُ مِثَالَيْنِ يُخَالِفُ فِيهِمَا المَظْهَرُ الشَّخْصِيَّةَ. (He gives two examples in which appearance differs from personality.)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responding to an article about whether appearance shows personality. Summarise the view, use evidence, compare two examples and give your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يَرَى الكَاتِبُ أَنَّ … وَلٰكِنَّهَا لَا تَكْفِي · مِثَالًا لِشَابٍّ … / يَصِفُ فَتَاةً … · مَعَ أَنَّهُ / بَيْنَمَا هِيَ · أَتَّفِقُ مَعَ الكَاتِبِ لِأَنَّ … (Spelling note: the website model writes عَنْ العَلَاقَةِ; standard Arabic joins it as عَنِ العَلَاقَةِ.)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(TB-L11 · Topic B Speaking and Writing Workshop) will spend class time USING this language, so students prepare it tonight — short, simple, easy to access (school guidance: “Simple, Short, Interesting, Relevant, Easy to access”). TB-L11 is a topic conversation across the whole unit: these five questions (one from each key lesson) are the conversation starters.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Topic B Listening and Reading Workshop</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وَرْشَةُ الِاسْتِمَاعِ وَالقِرَاءَةِ لِلْمِحْوَرِ 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profiles, messages, descriptions and opinions across all Topic B content.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TB-L10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writer thinks … gives an example … but … concludes that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Find the writer’s moves,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expresses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classmate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مُتَعَاوِنٌ لِأَنَّ قَمِيصَهُ 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مُتَعَاوِنٌ بِلَا دَلِيلٍ.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مُتَعَاوِنٌ لِأَنَّهُ يُسَاعِدُ زُمَلَاءَهُ.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brown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عَيْنَانِ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عَيْنَانِ بُنِّيٌّ.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عَيْنٌ بُنِّيَّتَانِ.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compares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expresses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classmate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قَمِيصًا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D2-L07 (website): opinion signal.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مُتَعَاوِنٌ لِأَنَّ قَمِيصَهُ 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مُتَعَاوِنٌ بِلَا دَلِيلٍ.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مُتَعَاوِنٌ لِأَنَّهُ يُسَاعِدُ زُمَلَاءَهُ.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D2-L07 (website): behaviour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brown eyes.”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عَيْنَانِ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عَيْنَانِ بُنِّيٌّ.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عَيْنٌ بُنِّيَّتَانِ.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TB-L03: dual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An opinion article has four moves: the view → an example → a contrast → the conclusion. Find each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يَرَى الكَاتِبُ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يَذْكُرُ مِثَالًا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يَخْلُصُ إِلَى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TB-L10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Reading reference, evidence and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writer’s main view.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one example in the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contrast and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all six reading questions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the article in my own words.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agree or disagree,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evidence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relationships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Fashion and evaluation · 16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الكَاتِبُ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‎کاتب‎ </a:t>
            </a:r>
            <a:pPr indent="0" marL="0">
              <a:buNone/>
            </a:pPr>
            <a:r>
              <a:rPr lang="en-US" sz="950" b="1" dirty="0">
                <a:solidFill>
                  <a:srgbClr val="2E8B57"/>
                </a:solidFill>
                <a:latin typeface="Calibri" pitchFamily="34" charset="0"/>
                <a:ea typeface="Calibri" pitchFamily="34" charset="-122"/>
                <a:cs typeface="Calibri" pitchFamily="34" charset="-120"/>
              </a:rPr>
              <a:t> kātib · Urdu: scribe · Arabic: writer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اِنْطِبَاعٌ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‎تاثر‎ </a:t>
            </a:r>
            <a:pPr indent="0" marL="0">
              <a:buNone/>
            </a:pPr>
            <a:r>
              <a:rPr lang="en-US" sz="950" b="1" dirty="0">
                <a:solidFill>
                  <a:srgbClr val="2E8B57"/>
                </a:solidFill>
                <a:latin typeface="Calibri" pitchFamily="34" charset="0"/>
                <a:ea typeface="Calibri" pitchFamily="34" charset="-122"/>
                <a:cs typeface="Calibri" pitchFamily="34" charset="-120"/>
              </a:rPr>
              <a:t> tāssur · impression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relationships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relationships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أَتَفَاهَمُ مَعَ</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on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a-ta-fā-ha-mu ma-ʿa</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أَخْتَلِفُ مَعَ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disagree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akh-ta-li-fu ma-ʿa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relationships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أَثِقُ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a-thi-qu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أَحْتَرِمُ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aḥ-ta-ri-mu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yad-ʿa-mu-nī</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Fashion and evaluation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Fashion and evaluation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expresses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38</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Fashion and evaluation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أَجْمَلُ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beautiful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aj-ma-lu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 MOVES OF AN OPINION ARTICLE (FROM THE WEBSITE ARTICLE)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How the writer builds the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حَرَكَاتُ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the article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يَرَى الكَاتِبُ أَنَّ</a:t>
            </a:r>
            <a:endParaRPr lang="ar-SA" sz="2400" dirty="0"/>
          </a:p>
        </p:txBody>
      </p:sp>
      <p:sp>
        <p:nvSpPr>
          <p:cNvPr id="21" name="Text 18"/>
          <p:cNvSpPr txBox="1"/>
          <p:nvPr/>
        </p:nvSpPr>
        <p:spPr>
          <a:xfrm>
            <a:off x="3776472"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يَرَى الكَاتِبُ أَنَّ المَظْهَرَ يُقَدِّمُ مَعْلُومَاتٍ عَنِ الذَّوْقِ …</a:t>
            </a:r>
            <a:endParaRPr lang="ar-SA" sz="1950" dirty="0"/>
          </a:p>
        </p:txBody>
      </p:sp>
      <p:sp>
        <p:nvSpPr>
          <p:cNvPr id="22" name="Text 19"/>
          <p:cNvSpPr txBox="1"/>
          <p:nvPr/>
        </p:nvSpPr>
        <p:spPr>
          <a:xfrm>
            <a:off x="3730752"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writer thinks appearance gives information about taste …</a:t>
            </a:r>
            <a:endParaRPr lang="en-US" sz="950" dirty="0"/>
          </a:p>
        </p:txBody>
      </p:sp>
      <p:sp>
        <p:nvSpPr>
          <p:cNvPr id="23" name="Text 20"/>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VIEW</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وَلٰكِنَّهُ</a:t>
            </a:r>
            <a:endParaRPr lang="ar-SA" sz="2400" dirty="0"/>
          </a:p>
        </p:txBody>
      </p:sp>
      <p:sp>
        <p:nvSpPr>
          <p:cNvPr id="28" name="Text 25"/>
          <p:cNvSpPr txBox="1"/>
          <p:nvPr/>
        </p:nvSpPr>
        <p:spPr>
          <a:xfrm>
            <a:off x="3776472"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وَلٰكِنَّهُ لَا يَكْشِفُ الشَّخْصِيَّةَ كُلَّهَا.</a:t>
            </a:r>
            <a:endParaRPr lang="ar-SA" sz="1950" dirty="0"/>
          </a:p>
        </p:txBody>
      </p:sp>
      <p:sp>
        <p:nvSpPr>
          <p:cNvPr id="29" name="Text 26"/>
          <p:cNvSpPr txBox="1"/>
          <p:nvPr/>
        </p:nvSpPr>
        <p:spPr>
          <a:xfrm>
            <a:off x="3730752"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but it does not reveal the whole personality.</a:t>
            </a:r>
            <a:endParaRPr lang="en-US" sz="950" dirty="0"/>
          </a:p>
        </p:txBody>
      </p:sp>
      <p:sp>
        <p:nvSpPr>
          <p:cNvPr id="30" name="Text 27"/>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limit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يَذْكُرُ مِثَالًا</a:t>
            </a:r>
            <a:endParaRPr lang="ar-SA" sz="2400" dirty="0"/>
          </a:p>
        </p:txBody>
      </p:sp>
      <p:sp>
        <p:nvSpPr>
          <p:cNvPr id="35" name="Text 32"/>
          <p:cNvSpPr txBox="1"/>
          <p:nvPr/>
        </p:nvSpPr>
        <p:spPr>
          <a:xfrm>
            <a:off x="3776472"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يَذْكُرُ مِثَالًا لِشَابٍّ يَرْتَدِي مَلَابِسَ بَسِيطَةً …</a:t>
            </a:r>
            <a:endParaRPr lang="ar-SA" sz="1950" dirty="0"/>
          </a:p>
        </p:txBody>
      </p:sp>
      <p:sp>
        <p:nvSpPr>
          <p:cNvPr id="36" name="Text 33"/>
          <p:cNvSpPr txBox="1"/>
          <p:nvPr/>
        </p:nvSpPr>
        <p:spPr>
          <a:xfrm>
            <a:off x="3730752"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gives the example of a young man who wears simple clothes …</a:t>
            </a:r>
            <a:endParaRPr lang="en-US" sz="950" dirty="0"/>
          </a:p>
        </p:txBody>
      </p:sp>
      <p:sp>
        <p:nvSpPr>
          <p:cNvPr id="37" name="Text 34"/>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an EXAMPLE</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بَيْنَمَا</a:t>
            </a:r>
            <a:endParaRPr lang="ar-SA" sz="2400" dirty="0"/>
          </a:p>
        </p:txBody>
      </p:sp>
      <p:sp>
        <p:nvSpPr>
          <p:cNvPr id="40" name="Text 37"/>
          <p:cNvSpPr txBox="1"/>
          <p:nvPr/>
        </p:nvSpPr>
        <p:spPr>
          <a:xfrm>
            <a:off x="3776472"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تُفَضِّلُ الأُسْلُوبَ الرَّسْمِيَّ، بَيْنَمَا هِيَ مَرِحَةٌ …</a:t>
            </a:r>
            <a:endParaRPr lang="ar-SA" sz="1950" dirty="0"/>
          </a:p>
        </p:txBody>
      </p:sp>
      <p:sp>
        <p:nvSpPr>
          <p:cNvPr id="41" name="Text 38"/>
          <p:cNvSpPr txBox="1"/>
          <p:nvPr/>
        </p:nvSpPr>
        <p:spPr>
          <a:xfrm>
            <a:off x="3730752"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prefers a formal style, whereas she is cheerful …</a:t>
            </a:r>
            <a:endParaRPr lang="en-US" sz="950" dirty="0"/>
          </a:p>
        </p:txBody>
      </p:sp>
      <p:sp>
        <p:nvSpPr>
          <p:cNvPr id="42" name="Text 39"/>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 CONTRAST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يَخْلُصُ إِلَى أَنَّ</a:t>
            </a:r>
            <a:endParaRPr lang="ar-SA" sz="2400" dirty="0"/>
          </a:p>
        </p:txBody>
      </p:sp>
      <p:sp>
        <p:nvSpPr>
          <p:cNvPr id="45" name="Text 42"/>
          <p:cNvSpPr txBox="1"/>
          <p:nvPr/>
        </p:nvSpPr>
        <p:spPr>
          <a:xfrm>
            <a:off x="3776472"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يَخْلُصُ الكَاتِبُ إِلَى أَنَّ السُّلُوكَ … أَقْوَى مِنَ المَلَابِسِ.</a:t>
            </a:r>
            <a:endParaRPr lang="ar-SA" sz="1950" dirty="0"/>
          </a:p>
        </p:txBody>
      </p:sp>
      <p:sp>
        <p:nvSpPr>
          <p:cNvPr id="46" name="Text 43"/>
          <p:cNvSpPr txBox="1"/>
          <p:nvPr/>
        </p:nvSpPr>
        <p:spPr>
          <a:xfrm>
            <a:off x="3730752"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writer concludes that behaviour … is stronger than clothes.</a:t>
            </a:r>
            <a:endParaRPr lang="en-US" sz="950" dirty="0"/>
          </a:p>
        </p:txBody>
      </p:sp>
      <p:sp>
        <p:nvSpPr>
          <p:cNvPr id="47" name="Text 44"/>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the CONCLUSION</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 tip: the answer to “What is the writer’s view?” is usually in the first and the last sentence.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REFERENCE AND AGREEMENT IN A TEXT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does it refer to? Do I agree?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المَرْجِعُ · أَتَّفِقُ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REFERENCE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ـهُ / ـهَا / هِيَ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يَصِفُ فَتَاةً … بَيْنَمَا هِيَ مَرِحَةٌ مَعَ أَصْدِقَائِهَا.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describes a girl … whereas she is cheerful with her friends.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hiya / -hā = the girl.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AGREE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أَتَّفِقُ مَعَ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أَتَّفِقُ مَعَ الكَاتِبِ لِأَنَّ السُّلُوكَ أَقْوَى دَلِيلٍ.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agree with the writer because behaviour is the strongest evidence.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 + because.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أَتَّفِقُ تَمَامًا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لَا أَتَّفِقُ تَمَامًا، لِأَنَّ المَلَابِسَ تُعَبِّرُ أَحْيَانًا عَنِ الشَّخْصِيَّةِ.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don’t fully agree, because clothes sometimes express personality.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Qualify with “sometimes”.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warning: never answer from one familiar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أَقْرَأُ الجُمْلَةَ كُلَّهَا وَأَتَأَكَّدُ مِنَ المَرْجِعِ.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أَخْتَارُ أَوَّلَ كَلِمَةٍ أَعْرِفُهَا.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reference, evidence and implied attitude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مَهَارَاتُ القِرَاءَةِ: المَرْجِعُ وَالدَّلِيلُ وَالمَوْقِفُ</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find the writer’s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مَا رَأْيُ الكَاتِبِ فِي المَظْهَرِ؟</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Look for “the writer thinks”.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First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يَرَى الكَاتِبُ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المَظْهَرَ يُقَدِّمُ مَعْلُومَاتٍ عَنِ الذَّوْقِ،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Half the view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وَلٰكِنَّهُ</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لَا يَكْشِفُ الشَّخْصِيَّةَ كُلَّهَا.</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 and its limit.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المَظْهَرُ لَا يَكْفِي لِلْحُكْمِ عَلَى الشَّخْصِيَّةِ.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 my own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VIEW</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LIMIT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 ANSWER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السُّؤَالُ: مَا رَأْيُ الكَاتِبِ؟ ←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يَرَى الكَاتِبُ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المَظْهَرَ يُقَدِّمُ مَعْلُومَاتٍ عَنِ الذَّوْقِ،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وَلٰكِنَّهُ</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لَا يَكْشِفُ الشَّخْصِيَّةَ كُلَّهَا. ← الجَوَابُ: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المَظْهَرُ لَا يَكْفِي لِلْحُكْمِ عَلَى الشَّخْصِيَّةِ.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What is the writer’s view? → The writer thinks appearance gives information about taste, but it does not reveal the whole personality. → Answer: appearance is not enough to judge personality.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Maryam is wearing a coat, and it is blue.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my opinion, his style is elegant.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calm, whereas she is cheerful.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helps everyone, so he seems helpful.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مَلَابِسَ بَسِيطَةً.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تُفَضِّلُ الأُسْلُوبَ الرَّسْمِيَّ.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تُقْرَأُ ثَلَاثُ رِسَالَاتٍ.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يَرَى الكَاتِبُ أَنَّ المَظْهَرَ لَا يَكْفِي.</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الاِحْتِرَامُ أَهَمُّ مِنَ التَّشَابُهِ.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تَضْحَكُ مَعَ صَدِيقَاتِهَا؛ فَهِيَ مَرِحَةٌ.</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مَلَابِسَ بَسِيطَةً.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تُفَضِّلُ الأُسْلُوبَ الرَّسْمِيَّ.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تُقْرَأُ ثَلَاثُ رِسَالَاتٍ.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يَرَى الكَاتِبُ أَنَّ المَظْهَرَ لَا يَكْفِي.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الاِحْتِرَامُ أَهَمُّ مِنَ التَّشَابُهِ.</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تَضْحَكُ مَعَ صَدِيقَاتِهَا؛ فَهِيَ مَرِحَةٌ.</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يَرَى الكَاتِبُ أَنَّ المَلَابِسَ تَكْشِفُ الشَّخْصِيَّةَ كُلَّهَا.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Read to the end: is the verb positive or negative?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يَصِفُ فَتَاةً … بَيْنَمَا هُوَ مَرِحٌ.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hiya?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الشَّابُّ مُبْدِعٌ لِأَنَّهُ يَرْتَدِي مَلَابِسَ بَسِيطَةً.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Contrast or reason in the text?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يَرَى الكَاتِبُ أَنَّ المَلَابِسَ تَكْشِفُ الشَّخْصِيَّةَ كُلَّهَا.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يَرَى الكَاتِبُ أَنَّ المَلَابِسَ لَا تَكْشِفُ الشَّخْصِيَّةَ كُلَّهَا.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the whole clause — the verb is negative.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يَصِفُ فَتَاةً … بَيْنَمَا هُوَ مَرِحٌ.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يَصِفُ فَتَاةً …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pronoun refers to the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الشَّابُّ مُبْدِعٌ لِأَنَّهُ يَرْتَدِي مَلَابِسَ بَسِيطَةً.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الشَّابُّ يَرْتَدِي مَلَابِسَ بَسِيطَةً، وَلٰكِنَّهُ مُبْدِعٌ.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text shows a contrast, not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messages are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writes the first message?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young man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student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describe her friend?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elegant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helpful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young man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he prefers practical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he likes 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he argues with his brother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third message compare?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shirts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relationships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schools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more important than being exactly alike?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طَالِبَةٍ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الاِحْتِرَامَ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تُقْرَأُ ثَلَاثُ رِسَالَاتٍ قَصِيرَةٍ.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short messages are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الأُولَى مِنْ طَالِبَةٍ تَصِفُ صَدِيقَتَهَا المُتَعَاوِنَةَ.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is from a student describing her helpful friend.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الثَّانِيَةُ مِنْ شَابٍّ يَشْرَحُ لِمَاذَا يُفَضِّلُ المَلَابِسَ العَمَلِيَّةَ.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is from a young man explaining why he prefers practical clothes.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الثَّالِثَةُ تُقَارِنُ بَيْنَ عِلَاقَتَيْنِ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third compares two relationships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وَتَذْكُرُ أَنَّ الاِحْتِرَامَ أَهَمُّ مِنَ التَّشَابُهِ التَّامِّ.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says that respect is more important than being exactly alike.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messages are read?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تُقْرَأُ ثَلَاثُ رِسَالَاتٍ قَصِيرَةٍ.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writes the first message?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young man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student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الأُولَى مِنْ 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describe her friend?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elegant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helpful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صَدِيقَتَهَا المُتَعَاوِنَةَ.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young man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why he prefers practical clothes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why he likes 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why he argues with his brother</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يَشْرَحُ لِمَاذَا يُفَضِّلُ المَلَابِسَ العَمَلِيَّةَ.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third message compare?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shirts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relationships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schools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تُقَارِنُ بَيْنَ عَلَاقَتَيْنِ.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more important than being exactly alike?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money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الاِحْتِرَامَ أَهَمُّ مِنَ التَّشَابُهِ التَّامِّ.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طَالِبَةٍ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الاِحْتِرَامَ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مَقَالٌ: كَيْفَ نُقَيِّمُ الأَشْخَاصَ وَالأُسْلُوبَ؟ يَرَى الكَاتِبُ أَنَّ المَظْهَرَ يُقَدِّمُ مَعْلُومَاتٍ عَنِ الذَّوْقِ وَالمُنَاسَبَةِ، وَلٰكِنَّهُ لَا يَكْشِفُ الشَّخْصِيَّةَ كُلَّهَا. يَذْكُرُ مِثَالًا لِشَابٍّ يَرْتَدِي مَلَابِسَ بَسِيطَةً وَلٰكِنَّهُ وَاثِقٌ وَمُبْدِعٌ. وَيَصِفُ فَتَاةً تُفَضِّلُ الأُسْلُوبَ الرَّسْمِيَّ، بَيْنَمَا هِيَ مَرِحَةٌ مَعَ أَصْدِقَائِهَا. يَخْلُصُ الكَاتِبُ إِلَى أَنَّ السُّلُوكَ وَالعَلَاقَاتِ يُقَدِّمَانِ دَلِيلًا أَقْوَى مِنَ المَلَابِسِ وَحْدَهَا.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نُقَيِّمُ</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judge, evaluate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 مَعْلُومَاتٍ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information</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المُنَاسَبَةِ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occasion</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يَكْشِفُ</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does not reveal</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كُلَّهَا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of it</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يَذْكُرُ مِثَالًا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gives an example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مُبْدِعٌ</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creative</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يَخْلُصُ إِلَى أَنَّ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concludes that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السُّلُوكَ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behaviour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وَحْدَهَا</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alone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appearance give information about, according to the writer?</a:t>
            </a:r>
            <a:endParaRPr lang="en-US" sz="9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whole personality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taste and the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appearance NOT do?</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 taste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suit an occasion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reveal the whole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young man in the example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 clothes, but confident and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clothes and shy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clothes and selfish</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style does the girl prefer?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colourful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بَيْنَمَا هِيَ مَرِحَةٌ</a:t>
            </a:r>
            <a:pPr algn="l" indent="0" marL="0">
              <a:buNone/>
            </a:pPr>
            <a:r>
              <a:rPr lang="en-US" sz="1250" b="1" dirty="0">
                <a:solidFill>
                  <a:srgbClr val="1B3B6F"/>
                </a:solidFill>
                <a:latin typeface="Calibri" pitchFamily="34" charset="0"/>
                <a:ea typeface="Calibri" pitchFamily="34" charset="-122"/>
                <a:cs typeface="Calibri" pitchFamily="34" charset="-120"/>
              </a:rPr>
              <a:t>, who is cheerful?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girl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young man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 show everything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clothes are best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behaviour and relationships are stronger evidence than clothes</a:t>
            </a:r>
            <a:endParaRPr lang="en-US" sz="1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appearance give information about, according to the writer?</a:t>
            </a:r>
            <a:endParaRPr lang="en-US" sz="9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whole personality</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taste and the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money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 مَعْلُومَاتٍ عَنِ الذَّوْقِ وَالمُنَاسَبَةِ.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appearance NOT do?</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show taste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suit an occasion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reveal the whole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يَكْشِفُ الشَّخْصِيَّةَ كُلَّهَا.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young man in the example like?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simple clothes, but confident and creative</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clothes and shy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expensive clothes and selfish</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مَلَابِسَ بَسِيطَةً وَلٰكِنَّهُ وَاثِقٌ وَمُبْدِعٌ.</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style does the girl prefer?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colourful</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تُفَضِّلُ الأُسْلُوبَ الرَّسْمِيَّ.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بَيْنَمَا هِيَ مَرِحَةٌ</a:t>
            </a:r>
            <a:pPr algn="l" indent="0" marL="0">
              <a:buNone/>
            </a:pPr>
            <a:r>
              <a:rPr lang="en-US" sz="1250" b="1" dirty="0">
                <a:solidFill>
                  <a:srgbClr val="1B3B6F"/>
                </a:solidFill>
                <a:latin typeface="Calibri" pitchFamily="34" charset="0"/>
                <a:ea typeface="Calibri" pitchFamily="34" charset="-122"/>
                <a:cs typeface="Calibri" pitchFamily="34" charset="-120"/>
              </a:rPr>
              <a:t>, who is cheerful?</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girl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young man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the girl.</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 show everything</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clothes are best</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behaviour and relationships are stronger evidence than clothes</a:t>
            </a:r>
            <a:endParaRPr lang="en-US" sz="10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السُّلُوكَ وَالعَلَاقَاتِ يُقَدِّمَانِ دَلِيلًا أَقْوَى مِنَ المَلَابِسِ.</a:t>
            </a:r>
            <a:endParaRPr lang="ar-SA" sz="100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Profile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Profile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Read or listen to short Topic B profiles and messages. Find evidence for identity, relationship, opinion and time frame, then reject one distractor.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reads three short Topic B messages twice (script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each: find evidence for identity, relationship, opinion and time frame.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reject ONE distractor and say why it is wrong.</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Share one piece of evidence per group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Message 1 only: who is it and what is the relationship?</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 three messages: identity, relationship and opinion with evidence.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the time frame (past / now / future) and explain the distractor.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 مَا العَلَاقَةُ؟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who? · what relationship?</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رَأْيُهُ / رَأْيُهَا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his / her opinion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المَاضِي · الآنَ · المُسْتَقْبَلُ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past · now · future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الدَّلِيلُ: « …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evidence: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Developed speaking: reading personality, relationships and fashion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غَرَضُ النَّصِّ؟</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الدَّلِيلُ الَّذِي يُقَدِّمُهُ الكَاتِبُ؟</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مَنْ يَعُودُ الضَّمِيرُ «هِيَ»؟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تَتَّفِقُ مَعَ خُلَاصَةِ النَّصِّ؟</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النَّصُّ عَنْ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يَذْكُرُ الكَاتِبُ مِثَالًا لِـ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يَعُودُ الضَّمِيرُ «هِيَ» إِلَى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أَتَّفِقُ / لَا أَتَّفِقُ تَمَامًا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 الكَاتِبِ؟</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writer’s view?</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يَرَى أَنَّ المَظْهَرَ لَا يَكْفِي لِلْحُكْمِ عَلَى الشَّخْصِيَّةِ.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thinks that appearance is not enough to judge personality.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Summarise the article: the view, the young man, the girl, the conclusion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Summary + compare the two examples + say whether you agree, with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respond to the article — summarise the view, use evidence, compare two examples and give your own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وَلٰكِنَّهُ وَاثِقٌ.</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he is confident.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هِيَ مَرِحَةٌ.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she is cheerful.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أَتَّفِقُ مَعَ الكَاتِبِ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agree with the writer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أَتَّفِقُ تَمَامًا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fully agree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لَا نَعْتَمِدُ عَلَى الاِنْطِبَاعِ الأَوَّلِ.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we must not rely on first impressions.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مَقَالًا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an article about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thinks that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يَذْكُرُ مِثَالًا لِشَابٍّ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gives the example of a young man who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يَصِفُ فَتَاةً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describes a girl who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يَخْلُصُ الكَاتِبُ إِلَى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concludes that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مَقَالٌ  ·  الكَاتِبُ  ·  يَرَى أَنَّ  ·  يَذْكُرُ مِثَالًا  ·  يَصِفُ  ·  بَيْنَمَا  ·  وَلٰكِنَّهُ  ·  يَخْلُصُ إِلَى أَنَّ  ·  أَتَّفِقُ  ·  السُّلُوكُ  ·  المَظْهَرُ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responding to an article about whether appearance shows personality. Summarise the view, use evidence, compare two examples and give your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أَنَّهُ وَاثِقٌ وَمُبْدِعٌ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even though he is confident and creative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يَصِفُ فَتَاةً أُسْلُوبُهَا رَسْمِيٌّ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also describes a girl whose style is formal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السُّلُوكُ أَقْوَى دَلِيلٍ عَلَى الشَّخْصِيَّةِ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behaviour is the strongest evidence of personality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نَقْرَأُ المَعْلُومَاتِ بِدِقَّةٍ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read the information carefully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نَعْتَمِدُ عَلَى الاِنْطِبَاعِ الأَوَّلِ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do not rely on the first impression</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قَرَأْتُ مَقَالًا عَنْ العَلَاقَةِ بَيْنَ المَظْهَرِ وَالشَّخْصِيَّةِ. يَرَى الكَاتِبُ أَنَّ المَلَابِسَ قَدْ تُعَبِّرُ عَنِ الذَّوْقِ، وَلٰكِنَّهَا لَا تَكْفِي لِلْحُكْمِ عَلَى أَحَدٍ. يُقَدِّمُ مِثَالًا لِشَابٍّ يَرْتَدِي مَلَابِسَ بَسِيطَةً، مَعَ أَنَّهُ وَاثِقٌ وَمُبْدِعٌ. كَمَا يَصِفُ فَتَاةً أُسْلُوبُهَا رَسْمِيٌّ، بَيْنَمَا هِيَ مَرِحَةٌ مَعَ صَدِيقَاتِهَا. أَتَّفِقُ مَعَ الكَاتِبِ، لِأَنَّ السُّلُوكَ أَقْوَى دَلِيلٍ عَلَى الشَّخْصِيَّةِ. لِذٰلِكَ يَجِبُ أَنْ نَقْرَأَ المَعْلُومَاتِ بِدِقَّةٍ وَلَا نَعْتَمِدَ عَلَى الاِنْطِبَاعِ الأَوَّلِ.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read an article about the relationship between appearance and personality. The writer thinks that clothes may express taste, but they are not enough to judge anyone. He gives the example of a young man who wears simple clothes, even though he is confident and creative. He also describes a girl whose style is formal, whereas she is cheerful with her friends. I agree with the writer, because behaviour is the strongest evidence of personality. So we must read information carefully and not rely on first impressions.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writer’s view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two examples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student’s agreement and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found the writer’s view and the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example from the text.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pronouns refer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the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agreed or disagreed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وَلٰكِنَّ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لَهُ شَعْرٌ قَصِيرٌ.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ثَمَنُهُ خَمْسُونَ جُنَيْهًا.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personality, relationships and fashion Arabic challenge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uses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TB-L11 · Topic B Speaking and Writing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كَيْفَ هُوَ؟ / كَيْفَ هِيَ؟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he / she like?</a:t>
            </a:r>
            <a:pPr indent="0" marL="0">
              <a:buNone/>
            </a:pPr>
            <a:r>
              <a:rPr lang="en-US" sz="1000" i="1" dirty="0">
                <a:solidFill>
                  <a:srgbClr val="5A6472"/>
                </a:solidFill>
                <a:latin typeface="Calibri" pitchFamily="34" charset="0"/>
                <a:ea typeface="Calibri" pitchFamily="34" charset="-122"/>
                <a:cs typeface="Calibri" pitchFamily="34" charset="-120"/>
              </a:rPr>
              <a:t>  D2-L01 (website)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يَدْعَمُكَ؟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 supports you?</a:t>
            </a:r>
            <a:pPr indent="0" marL="0">
              <a:buNone/>
            </a:pPr>
            <a:r>
              <a:rPr lang="en-US" sz="1000" i="1" dirty="0">
                <a:solidFill>
                  <a:srgbClr val="5A6472"/>
                </a:solidFill>
                <a:latin typeface="Calibri" pitchFamily="34" charset="0"/>
                <a:ea typeface="Calibri" pitchFamily="34" charset="-122"/>
                <a:cs typeface="Calibri" pitchFamily="34" charset="-120"/>
              </a:rPr>
              <a:t>  TB-L02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أُسْلُوبُكَ؟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your style?</a:t>
            </a:r>
            <a:pPr indent="0" marL="0">
              <a:buNone/>
            </a:pPr>
            <a:r>
              <a:rPr lang="en-US" sz="1000" i="1" dirty="0">
                <a:solidFill>
                  <a:srgbClr val="5A6472"/>
                </a:solidFill>
                <a:latin typeface="Calibri" pitchFamily="34" charset="0"/>
                <a:ea typeface="Calibri" pitchFamily="34" charset="-122"/>
                <a:cs typeface="Calibri" pitchFamily="34" charset="-120"/>
              </a:rPr>
              <a:t>  D2-L04 (website)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أَيُّهُمَا تُفَضِّلُ؟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Which of the two do you prefer?</a:t>
            </a:r>
            <a:pPr indent="0" marL="0">
              <a:buNone/>
            </a:pPr>
            <a:r>
              <a:rPr lang="en-US" sz="1000" i="1" dirty="0">
                <a:solidFill>
                  <a:srgbClr val="5A6472"/>
                </a:solidFill>
                <a:latin typeface="Calibri" pitchFamily="34" charset="0"/>
                <a:ea typeface="Calibri" pitchFamily="34" charset="-122"/>
                <a:cs typeface="Calibri" pitchFamily="34" charset="-120"/>
              </a:rPr>
              <a:t>  D2-L05 (website)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تَتَّفِقُ؟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 you agree?</a:t>
            </a:r>
            <a:pPr indent="0" marL="0">
              <a:buNone/>
            </a:pPr>
            <a:r>
              <a:rPr lang="en-US" sz="1000" i="1" dirty="0">
                <a:solidFill>
                  <a:srgbClr val="5A6472"/>
                </a:solidFill>
                <a:latin typeface="Calibri" pitchFamily="34" charset="0"/>
                <a:ea typeface="Calibri" pitchFamily="34" charset="-122"/>
                <a:cs typeface="Calibri" pitchFamily="34" charset="-120"/>
              </a:rPr>
              <a:t>  TB-L10</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TB-L11 is a conversation lesson. Prepare 3–5 cue words (not a script) for: “Describe a person who is important to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شَخْصًا مُهِمًّا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TB-L10: re-read the article and answer the six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8-sentence summary of the article with your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response to the article.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TB-L11 · Topic B Speaking and Writing Workshop</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وَرْشَةُ التَّحَدُّثِ وَالكِتَابَةِ لِلْمِحْوَرِ 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view → example → contrast → conclusion. Find the moves first.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TB-L10 · Topic B Listening and Reading Workshop</dc:title>
  <dc:subject>PptxGenJS Presentation</dc:subject>
  <dc:creator>Al Madina Online School · Arabic Department</dc:creator>
  <cp:lastModifiedBy>Al Madina Online School · Arabic Department</cp:lastModifiedBy>
  <cp:revision>1</cp:revision>
  <dcterms:created xsi:type="dcterms:W3CDTF">2026-09-27T13:01:28Z</dcterms:created>
  <dcterms:modified xsi:type="dcterms:W3CDTF">2026-09-27T13:01:28Z</dcterms:modified>
</cp:coreProperties>
</file>