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notesMasterIdLst>
    <p:notesMasterId r:id="rId4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B · TB-L05 — Furniture, Furnishings and Appliances. Website: Advanced Topics › Topic B (Personal and Social Life) › Lesson 5.
The website builds this lesson on the F3-L04 lesson engine, with the Topic focus “Explain where household items are, what they are used for and what needs changing.” (grammar: Idāfa; attached pronouns; relative clauses; skills: Listening · Reading) and the application challenge “Household redesign”. This deck follows the same engine, re-sequenced for Topic B: lesson references now point to Topic B codes (lessons outside Topic B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B My Family &amp; Home › Lesson 4 (TB-L05). Website sections used: the eight-question room bridge, the core furniture bank (12 with plurals) and its 12-question check, appliances and bathroom items with the wider recognition bank (12-question check), the room sets and 12-question room sorter, يُوجَدُ / تُوجَدُ with non-human plurals and the 14-question grammar laboratory, the bedroom redesign, the Furniture Mission (14), Mariam’s three rooms (listening, 10), Samir’s bedroom and Layla’s kitchen (reading, 12), the room-tour studio (4 prompts), the 6–8-sentence writing task and the 16-question checkpoint. Picture match: website visual game “Furniture and Household Items”.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One decision all lesson: is the ITEM masculine or feminine? → يُوجَدُ (masc.) or تُوجَدُ (fem.). The room is only the place (website: “look at the item, not the room”).
• Core: 8 items + “in my room there is …” (the simpler verb-free pattern فِي غُرْفَتِي سَرِيرٌ is also correct — website). Develop: يُوجَدُ / تُوجَدُ and one plural. Stretch: colours, positions and non-human plural agreement (كَرَاسِي كَثِيرَةٌ).
• Privacy (website): use your own room only when comfortable — the model room or an invented room is always fine.
• Urdu bridge: کرسی ← كُرْسِيٌّ، میز (Persian) / طَاوِلَةٌ، الماری (Portuguese) / خِزَانَةٌ (Urdu خزانہ = treasury!), آئینہ (Persian) / مِرْآةٌ، قالین (Turkish) / سَجَّادَةٌ (Urdu سجادہ = prayer mat).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furniture words prepared at home at the end of TB-L04. Questions 3–5 are the website “room bridge” (room-name iḍāfa, room + adjective, in my room).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ITEM, not the room: masculine item → yūjadu; feminine item → tūjadu.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speaking checklist as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is the same word. مِصْبَاحٌ is in Surat an-Nūr (24:35: الْمِصْبَاحُ فِي زُجَاجَةٍ) — many students know it. CAREFUL: خزانہ in Urdu is a treasury and سجادہ is a prayer mat — in Arabic خِزَانَةٌ is a wardrobe / cupboard and سَجَّادَةٌ any rug. آئینہ، میز and الماری are not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1 (website “Core furniture bank”). Every card: the plural and the right “there is”. The tag is the gender — that is today’s decision. Chant: sarīr – asirra – yūjadu sarīr.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FURNITURE 2. مِرْآةٌ is feminine (ة); مِصْبَاحٌ and رَفٌّ are masculine. Website high-value plurals: كَرَاسِي، سَتَائِرُ، مَصَابِيحُ، رُفُوفٌ، مَرَايَا.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APPLIANCES (FLEX — they are the focus of F3-L06 (website)). Website wider recognition bank: فُرْنٌ (oven), غَسَّالَةُ صُحُونٍ (dishwasher), مُجَمِّدٌ (freezer), غَلَّايَةٌ (kettle), مِكْوَاةٌ (iron), مُكَيِّفٌ (air conditioner), مِرْوَحَةٌ (fan), حَاسُوبٌ (computer), سَاعَةٌ (clock), وِسَادَةٌ (pillow), بَطَّانِيَّةٌ (blanket).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 5 “Use يُوجَدُ and تُوجَدُ”: يُوجَدُ before a masculine singular; تُوجَدُ before a feminine singular; “look at the item, not the room”.
Row 4 = the website “useful simpler alternative”: فِي غُرْفَتِي سَرِيرٌ وَخِزَانَةٌ — the verb can be omitted. Core students may always use this pattern.
Quick-fire: say an item; students type ي or 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“High-value plurals” (سَرِيرٌ ← أَسِرَّةٌ · كُرْسِيٌّ ← كَرَاسِي · طَاوِلَةٌ ← طَاوِلَاتٌ · خِزَانَةٌ ← خَزَائِنُ · سِتَارَةٌ ← سَتَائِرُ · مِصْبَاحٌ ← مَصَابِيحُ · رَفٌّ ← رُفُوفٌ · مِرْآةٌ ← مَرَايَا · مَكْتَبٌ ← مَكَاتِبُ) and “Non-human plurals · Develop” (فِي الغُرْفَةِ تُوجَدُ كَرَاسِي كَثِيرَةٌ).
Positions from the website model: عَلَى المَكْتَبِ (on the desk), بِجَانِبِ النَّافِذَةِ (beside the window), فَوْقَ المَكْتَبِ (above the desk), عَلَى الأَرْضِيَّةِ (on the floor). Colours are next lesson (TB-L06).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“Fourteen-question grammar laboratory” questions 1, 2, 5 and 7.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“model description” of the bedroom scene (colours left out until TB-L06). Think aloud before every verb: “the ITEM is … masculine or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Furniture and Household Items”)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هٰذِهِ ثَلَّاجَةٌ? (ة → feminine). Other cards for homework: هٰذَا كُرْسِيٌّ، هٰذِهِ مِرْآةٌ، هٰذِهِ غَسَّالَةٌ.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Furniture Mission cards (room choice, masculine, feminine, plural,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decided it — the item or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5. Develop / Stretch: all 5.
Listen 1: just listen. Listen 2: note answers. Then chat the letters.
Support: after the second listening, show the read-along slide (Arabic + English, line by line) for Core students.
SCRIPT (read aloud):
أَهْلًا! أَنَا مَرْيَمُ، وَسَأَصِفُ ثَلَاثَ غُرَفٍ فِي بَيْتِنَا. فِي غُرْفَةِ نَوْمِي يُوجَدُ سَرِيرٌ أَبْيَضُ وَمَكْتَبٌ بُنِّيٌّ، وَتُوجَدُ خِزَانَةٌ كَبِيرَةٌ وَمِرْآةٌ صَغِيرَةٌ. عَلَى المَكْتَبِ يُوجَدُ حَاسُوبٌ وَمِصْبَاحٌ. فِي المَطْبَخِ تُوجَدُ ثَلَّاجَةٌ بَيْضَاءُ وَغَسَّالَةٌ، وَيُوجَدُ مَوْقِدٌ وَحَوْضٌ. هُنَاكَ أَيْضًا طَاوِلَةٌ وَأَرْبَعَةُ كَرَاسِي. أَمَّا غُرْفَةُ الجُلُوسِ فَفِيهَا أَرِيكَةٌ زَرْقَاءُ وَتِلْفَازٌ كَبِيرٌ وَسَجَّادَةٌ جَمِيلَةٌ. أُحِبُّ غُرْفَةَ الجُلُوسِ لِأَنَّهَا وَاسِعَةٌ وَمُرِيحَةٌ.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A (website, complete). Note لَا يُوجَدُ = there is no (website reading: “locate objects, negatives, quantities, places and opinions”). تُوجَدُ رُفُوفٌ = a plural of things with the feminine verb.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TEXT B (website, complete). Stretch: why لِأَنَّهُ here but لِأَنَّهَا in Text A? (مَطْبَخٌ is masculine, غُرْفَةٌ feminine.)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(Samir) and 9, 10 (Layla — Core may skip).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B APPLICATION CHALLENGE (3 min — it takes the speaking-rehearsal slot; the website speaking slide after it is FLEX) — from the website Topic page: “Choose furniture and appliances for a room, explain where each item belongs and justify one change using a relative clause or purpose phrase.”
Website Topic B challenge “Household redesign” (iḍāfa, attached pronouns and relative clauses). Model (Stretch): سَأَضَعُ المَكْتَبَ بِجَانِبِ النَّافِذَةِ لِلدِّرَاسَةِ، وَسَأُغَيِّرُ الخِزَانَةَ الَّتِي فِي الزَّاوِيَةِ لِأَنَّهَا كَبِيرَةٌ جِدًّا.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B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ROOM-TOUR STUDIO: name the room, list at least six items, describe colours or size, and give an opinion with a reason. Room cards (website):
• Bedroom: bed · wardrobe · desk · mirror · lamp · rug
• Kitchen: fridge · cooker · oven · sink · table · chairs
• Living room: sofa · television · rug · curtains · lamps · shelves
• Bathroom: sink · shower · mirror · cupboard · washing machine
Website checklist (listener ticks 1–6): room named · six objects · يُوجَدُ / تُوجَدُ · colours or size · reason with لِأَنَّ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Label eight items in one room and write four “in my room there is …” sentences. · Develop — Six to eight sentences with yūjadu / tūjadu, two descriptions and one plural. · Stretch — Add colours, positions (on, beside, above) and non-human plural agreement (kathīra).
Website writing task (Stretch): Website writing task: describe one room in 6–8 connected sentences — at least eight objects, two descriptions, one plural and an opinion with a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model description (bedroom scene). Stretch: find the two colours (بَيْضَاءُ، بُنِّيَّةٌ) — next lesson.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(TB-L06 · Colours and Accurate Description) will spend class time USING this language, so students prepare it tonight — short, simple, easy to access (school guidance: “Simple, Short, Interesting, Relevant, Easy to access”). The five words come from the website TB-L06 colour bank (masculine and feminine forms).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B  ·  TB-L05</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TB-L05</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900" b="1" dirty="0">
                <a:solidFill>
                  <a:srgbClr val="FFFFFF"/>
                </a:solidFill>
                <a:latin typeface="Cambria" pitchFamily="34" charset="0"/>
                <a:ea typeface="Cambria" pitchFamily="34" charset="-122"/>
                <a:cs typeface="Cambria" pitchFamily="34" charset="-120"/>
              </a:rPr>
              <a:t>Furniture, Furnishings and Appliances</a:t>
            </a:r>
            <a:endParaRPr lang="en-US" sz="29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الأَثَاثُ وَالمُفْرُوشَاتُ وَالأَجْهِزَةُ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where household items are, what they are used for and what needs changing.</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TB-L05 · Advanced Topic B · Personal and Social Life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B · A1+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B › TB-L05</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38</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Furniture and appliances, then “there is” for masculine and feminine items.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Furniture Mission, listen to Mariam, read two 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TB-L06.</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38</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سَرِيرٌ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chair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bed</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خِزَانَةٌ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wardrobe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sofa</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mirror</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الغُرْفَةُ الجُلُوسِ</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وَاسِعَاتٌ</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وَاسِعَةٌ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room”.</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غُرْفَتِهَا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 غُرْفَتِي</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38</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سَرِيرٌ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chair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bed</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(TB-L04).</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خِزَانَةٌ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wardrobe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sofa</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mirror</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(TB-L04).</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iḍāfa phrase.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الغُرْفَةُ الجُلُوسِ</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غُرْفَةٌ الجُلُوسُ</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الجُلُوسِ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noun has no definite article.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64" name="Text 61"/>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غُرْفَةٌ ___.</a:t>
            </a:r>
            <a:endParaRPr lang="ar-SA" sz="220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وَاسِعَاتٌ</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وَاسِعَةٌ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غُرْفَةٌ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the adjective is feminine.</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“in my room”.</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غُرْفَتِي</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غُرْفَتِهَا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 غُرْفَتِي</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 marks location and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Look at the ITEM, not the room: masculine item → yūjadu; feminine item → tūjadu.</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400" b="1" dirty="0">
                <a:solidFill>
                  <a:srgbClr val="1B3B6F"/>
                </a:solidFill>
                <a:latin typeface="Amiri" pitchFamily="34" charset="0"/>
                <a:ea typeface="Amiri" pitchFamily="34" charset="-122"/>
                <a:cs typeface="Amiri" pitchFamily="34" charset="-120"/>
              </a:rPr>
              <a:t> سَرِيرٌ · </a:t>
            </a:r>
            <a:pPr rtl="1" algn="ctr" indent="0" marL="0">
              <a:buNone/>
            </a:pPr>
            <a:r>
              <a:rPr lang="ar-SA" altLang="en-US" sz="24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400" b="1" dirty="0">
                <a:solidFill>
                  <a:srgbClr val="1B3B6F"/>
                </a:solidFill>
                <a:latin typeface="Amiri" pitchFamily="34" charset="0"/>
                <a:ea typeface="Amiri" pitchFamily="34" charset="-122"/>
                <a:cs typeface="Amiri" pitchFamily="34" charset="-120"/>
              </a:rPr>
              <a:t> خِزَانَةٌ</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38</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full core furniture and appliance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items in appropriate rooms.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a:t>
            </a:r>
            <a:pPr algn="l" indent="0" marL="0">
              <a:buNone/>
            </a:pPr>
            <a:r>
              <a:rPr lang="ar-SA" altLang="en-US" sz="1700" dirty="0">
                <a:solidFill>
                  <a:srgbClr val="1F2A37"/>
                </a:solidFill>
                <a:latin typeface="Amiri" pitchFamily="34" charset="0"/>
                <a:ea typeface="Amiri" pitchFamily="34" charset="-122"/>
                <a:cs typeface="Amiri" pitchFamily="34" charset="-120"/>
              </a:rPr>
              <a:t>يُوجَدُ / تُوجَدُ</a:t>
            </a:r>
            <a:pPr algn="l" indent="0" marL="0">
              <a:buNone/>
            </a:pPr>
            <a:r>
              <a:rPr lang="en-US" sz="1300" dirty="0">
                <a:solidFill>
                  <a:srgbClr val="1F2A37"/>
                </a:solidFill>
                <a:latin typeface="Calibri" pitchFamily="34" charset="0"/>
                <a:ea typeface="Calibri" pitchFamily="34" charset="-122"/>
                <a:cs typeface="Calibri" pitchFamily="34" charset="-120"/>
              </a:rPr>
              <a:t> accurately.</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one room in 6–8 connected sentences.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eight items of furniture.</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is in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choose yūjadu or tūjadu.</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use two useful plurals.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add colours and positions.</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make a plural of things agree (kathīra).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38</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12 furniture words and 6 appliances from the website, each with its plural. Core: bed, wardrobe, table, chair, sofa, television, lamp, mirror.</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Core furniture · 12</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Appliances and bathroom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Recognition bank · 12</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‎کرسی‎ </a:t>
            </a:r>
            <a:pPr indent="0" marL="0">
              <a:buNone/>
            </a:pPr>
            <a:r>
              <a:rPr lang="en-US" sz="950" b="1" dirty="0">
                <a:solidFill>
                  <a:srgbClr val="2E8B57"/>
                </a:solidFill>
                <a:latin typeface="Calibri" pitchFamily="34" charset="0"/>
                <a:ea typeface="Calibri" pitchFamily="34" charset="-122"/>
                <a:cs typeface="Calibri" pitchFamily="34" charset="-120"/>
              </a:rPr>
              <a:t> kursī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خِزَانَةٌ</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‎خزانہ‎ </a:t>
            </a:r>
            <a:pPr indent="0" marL="0">
              <a:buNone/>
            </a:pPr>
            <a:r>
              <a:rPr lang="en-US" sz="950" b="1" dirty="0">
                <a:solidFill>
                  <a:srgbClr val="2E8B57"/>
                </a:solidFill>
                <a:latin typeface="Calibri" pitchFamily="34" charset="0"/>
                <a:ea typeface="Calibri" pitchFamily="34" charset="-122"/>
                <a:cs typeface="Calibri" pitchFamily="34" charset="-120"/>
              </a:rPr>
              <a:t> khizāna · Arabic: wardrobe · Urdu: treasury</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سَجَّادَةٌ</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‎سجادہ‎ </a:t>
            </a:r>
            <a:pPr indent="0" marL="0">
              <a:buNone/>
            </a:pPr>
            <a:r>
              <a:rPr lang="en-US" sz="950" b="1" dirty="0">
                <a:solidFill>
                  <a:srgbClr val="2E8B57"/>
                </a:solidFill>
                <a:latin typeface="Calibri" pitchFamily="34" charset="0"/>
                <a:ea typeface="Calibri" pitchFamily="34" charset="-122"/>
                <a:cs typeface="Calibri" pitchFamily="34" charset="-120"/>
              </a:rPr>
              <a:t> sajjāda · Arabic: rug · Urdu: prayer mat</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مِصْبَاحٌ</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‎مصباح‎ </a:t>
            </a:r>
            <a:pPr indent="0" marL="0">
              <a:buNone/>
            </a:pPr>
            <a:r>
              <a:rPr lang="en-US" sz="950" b="1" dirty="0">
                <a:solidFill>
                  <a:srgbClr val="2E8B57"/>
                </a:solidFill>
                <a:latin typeface="Calibri" pitchFamily="34" charset="0"/>
                <a:ea typeface="Calibri" pitchFamily="34" charset="-122"/>
                <a:cs typeface="Calibri" pitchFamily="34" charset="-120"/>
              </a:rPr>
              <a:t> miṣbāḥ · lamp (Surat an-Nur!)</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مِرْآةٌ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‎آئینہ‎ </a:t>
            </a:r>
            <a:pPr indent="0" marL="0">
              <a:buNone/>
            </a:pPr>
            <a:r>
              <a:rPr lang="en-US" sz="950" b="1" dirty="0">
                <a:solidFill>
                  <a:srgbClr val="2E8B57"/>
                </a:solidFill>
                <a:latin typeface="Calibri" pitchFamily="34" charset="0"/>
                <a:ea typeface="Calibri" pitchFamily="34" charset="-122"/>
                <a:cs typeface="Calibri" pitchFamily="34" charset="-120"/>
              </a:rPr>
              <a:t> mirʾā · mirror (not cognate)</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38</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FURNITURE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Bed, wardrobe, table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sa-rīr</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أَسِرَّةٌ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خِزَانَةٌ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wardrobe / cupboard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khi-zā-na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خَزَائِنُ</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طَاوِلَةٌ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table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ṭā-wi-la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طَاوِلَاتٌ</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كُرْسِيٌّ</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chair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kur-siyy</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كَرَاسِي</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أَرِيكَةٌ / كَنَبَةٌ</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sofa / couch</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a-rī-ka / ka-na-ba</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أَرَائِكُ</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5" name="Shape 9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6" name="Text 9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97" name="Text 94"/>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تِلْفَازٌ</a:t>
            </a:r>
            <a:endParaRPr lang="ar-SA" sz="3000" dirty="0"/>
          </a:p>
        </p:txBody>
      </p:sp>
      <p:sp>
        <p:nvSpPr>
          <p:cNvPr id="98" name="Text 95"/>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television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til-fāz</a:t>
            </a:r>
            <a:endParaRPr lang="en-US" sz="1350" dirty="0"/>
          </a:p>
        </p:txBody>
      </p:sp>
      <p:sp>
        <p:nvSpPr>
          <p:cNvPr id="99" name="Shape 96"/>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100" name="Text 97"/>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101" name="Text 98"/>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تِلْفَازَاتٌ</a:t>
            </a:r>
            <a:endParaRPr lang="ar-SA" sz="1500" dirty="0"/>
          </a:p>
        </p:txBody>
      </p:sp>
      <p:sp>
        <p:nvSpPr>
          <p:cNvPr id="102" name="Shape 99"/>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3" name="Text 100"/>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104" name="Text 101"/>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105" name="Text 10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CORE FURNITURE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Rug, curtain, lamp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سَجَّادَةٌ</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rug / carpet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saj-jā-da</a:t>
            </a:r>
            <a:endParaRPr lang="en-US" sz="1350" dirty="0"/>
          </a:p>
        </p:txBody>
      </p:sp>
      <p:sp>
        <p:nvSpPr>
          <p:cNvPr id="22" name="Shape 19"/>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4" name="Text 21"/>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سَجَّادَاتٌ</a:t>
            </a:r>
            <a:endParaRPr lang="ar-SA" sz="1500" dirty="0"/>
          </a:p>
        </p:txBody>
      </p:sp>
      <p:sp>
        <p:nvSpPr>
          <p:cNvPr id="25" name="Shape 22"/>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27" name="Text 24"/>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28" name="Shape 25"/>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389120" y="1920240"/>
            <a:ext cx="310896" cy="310896"/>
          </a:xfrm>
          <a:prstGeom prst="ellipse">
            <a:avLst/>
          </a:prstGeom>
          <a:solidFill>
            <a:srgbClr val="F4F1EA"/>
          </a:solidFill>
          <a:ln w="12700">
            <a:solidFill>
              <a:srgbClr val="F4F1EA"/>
            </a:solidFill>
            <a:prstDash val="solid"/>
          </a:ln>
        </p:spPr>
      </p:sp>
      <p:sp>
        <p:nvSpPr>
          <p:cNvPr id="30" name="Text 27"/>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1" name="Shape 28"/>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2" name="Text 29"/>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3" name="Text 30"/>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سِتَارَةٌ</a:t>
            </a:r>
            <a:endParaRPr lang="ar-SA" sz="3000" dirty="0"/>
          </a:p>
        </p:txBody>
      </p:sp>
      <p:sp>
        <p:nvSpPr>
          <p:cNvPr id="34" name="Text 31"/>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curtain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si-tā-ra</a:t>
            </a:r>
            <a:endParaRPr lang="en-US" sz="1350" dirty="0"/>
          </a:p>
        </p:txBody>
      </p:sp>
      <p:sp>
        <p:nvSpPr>
          <p:cNvPr id="35" name="Shape 32"/>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6" name="Text 33"/>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7" name="Text 34"/>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سَتَائِرُ</a:t>
            </a:r>
            <a:endParaRPr lang="ar-SA" sz="1500" dirty="0"/>
          </a:p>
        </p:txBody>
      </p:sp>
      <p:sp>
        <p:nvSpPr>
          <p:cNvPr id="38" name="Shape 35"/>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40" name="Text 37"/>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41" name="Shape 3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66928" y="1920240"/>
            <a:ext cx="310896" cy="310896"/>
          </a:xfrm>
          <a:prstGeom prst="ellipse">
            <a:avLst/>
          </a:prstGeom>
          <a:solidFill>
            <a:srgbClr val="F4F1EA"/>
          </a:solidFill>
          <a:ln w="12700">
            <a:solidFill>
              <a:srgbClr val="F4F1EA"/>
            </a:solidFill>
            <a:prstDash val="solid"/>
          </a:ln>
        </p:spPr>
      </p:sp>
      <p:sp>
        <p:nvSpPr>
          <p:cNvPr id="43" name="Text 4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4" name="Shape 41"/>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5" name="Text 42"/>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46" name="Shape 43"/>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مِصْبَاحٌ</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lamp</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miṣ-bāḥ</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مَصَابِيحُ</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1" name="Text 58"/>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رَفٌّ</a:t>
            </a:r>
            <a:endParaRPr lang="ar-SA" sz="3000" dirty="0"/>
          </a:p>
        </p:txBody>
      </p:sp>
      <p:sp>
        <p:nvSpPr>
          <p:cNvPr id="62" name="Text 59"/>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shelf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raff</a:t>
            </a:r>
            <a:endParaRPr lang="en-US" sz="1350" dirty="0"/>
          </a:p>
        </p:txBody>
      </p:sp>
      <p:sp>
        <p:nvSpPr>
          <p:cNvPr id="63" name="Shape 60"/>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5" name="Text 62"/>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رُفُوفٌ</a:t>
            </a:r>
            <a:endParaRPr lang="ar-SA" sz="1500" dirty="0"/>
          </a:p>
        </p:txBody>
      </p:sp>
      <p:sp>
        <p:nvSpPr>
          <p:cNvPr id="66" name="Shape 63"/>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68" name="Text 65"/>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69" name="Shape 66"/>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389120" y="4261104"/>
            <a:ext cx="310896" cy="310896"/>
          </a:xfrm>
          <a:prstGeom prst="ellipse">
            <a:avLst/>
          </a:prstGeom>
          <a:solidFill>
            <a:srgbClr val="F4F1EA"/>
          </a:solidFill>
          <a:ln w="12700">
            <a:solidFill>
              <a:srgbClr val="F4F1EA"/>
            </a:solidFill>
            <a:prstDash val="solid"/>
          </a:ln>
        </p:spPr>
      </p:sp>
      <p:sp>
        <p:nvSpPr>
          <p:cNvPr id="71" name="Text 68"/>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2" name="Shape 69"/>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3" name="Text 70"/>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74" name="Text 71"/>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75" name="Text 72"/>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desk / study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t>
            </a:r>
            <a:endParaRPr lang="en-US" sz="1350" dirty="0"/>
          </a:p>
        </p:txBody>
      </p:sp>
      <p:sp>
        <p:nvSpPr>
          <p:cNvPr id="76" name="Shape 73"/>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7" name="Text 74"/>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8" name="Text 75"/>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مَكَاتِبُ</a:t>
            </a:r>
            <a:endParaRPr lang="ar-SA" sz="1500" dirty="0"/>
          </a:p>
        </p:txBody>
      </p:sp>
      <p:sp>
        <p:nvSpPr>
          <p:cNvPr id="79" name="Shape 76"/>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81" name="Text 78"/>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82" name="Shape 7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566928" y="4261104"/>
            <a:ext cx="310896" cy="310896"/>
          </a:xfrm>
          <a:prstGeom prst="ellipse">
            <a:avLst/>
          </a:prstGeom>
          <a:solidFill>
            <a:srgbClr val="F4F1EA"/>
          </a:solidFill>
          <a:ln w="12700">
            <a:solidFill>
              <a:srgbClr val="F4F1EA"/>
            </a:solidFill>
            <a:prstDash val="solid"/>
          </a:ln>
        </p:spPr>
      </p:sp>
      <p:sp>
        <p:nvSpPr>
          <p:cNvPr id="84" name="Text 8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5" name="Shape 82"/>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6" name="Text 83"/>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87" name="Shape 84"/>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88" name="Text 85"/>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9" name="Text 86"/>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مِرْآةٌ</a:t>
            </a:r>
            <a:endParaRPr lang="ar-SA" sz="3000" dirty="0"/>
          </a:p>
        </p:txBody>
      </p:sp>
      <p:sp>
        <p:nvSpPr>
          <p:cNvPr id="90" name="Text 87"/>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mirror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mir-ʾā</a:t>
            </a:r>
            <a:endParaRPr lang="en-US" sz="1350" dirty="0"/>
          </a:p>
        </p:txBody>
      </p:sp>
      <p:sp>
        <p:nvSpPr>
          <p:cNvPr id="91" name="Shape 88"/>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2" name="Text 89"/>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3" name="Text 90"/>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مَرَايَا</a:t>
            </a:r>
            <a:endParaRPr lang="ar-SA" sz="1500" dirty="0"/>
          </a:p>
        </p:txBody>
      </p:sp>
      <p:sp>
        <p:nvSpPr>
          <p:cNvPr id="94" name="Shape 91"/>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5" name="Text 92"/>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96" name="Text 93"/>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38</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2 · APPLIANCES AND BATHROOM (WEBSITE)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Fridge, cooker, shower …</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الأَجْهِزَةُ المَنْزِلِيَّةُ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20" name="Shape 17"/>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ثَلَّاجَةٌ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fridge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thal-lā-ja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ثَلَّاجَاتٌ</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Text 32"/>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مَوْقِدٌ</a:t>
            </a:r>
            <a:endParaRPr lang="ar-SA" sz="3000" dirty="0"/>
          </a:p>
        </p:txBody>
      </p:sp>
      <p:sp>
        <p:nvSpPr>
          <p:cNvPr id="36" name="Text 33"/>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cooker / stove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maw-qid</a:t>
            </a:r>
            <a:endParaRPr lang="en-US" sz="1350" dirty="0"/>
          </a:p>
        </p:txBody>
      </p:sp>
      <p:sp>
        <p:nvSpPr>
          <p:cNvPr id="37" name="Shape 34"/>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38" name="Text 35"/>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9" name="Text 36"/>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مَوَاقِدُ</a:t>
            </a:r>
            <a:endParaRPr lang="ar-SA" sz="1500" dirty="0"/>
          </a:p>
        </p:txBody>
      </p:sp>
      <p:sp>
        <p:nvSpPr>
          <p:cNvPr id="40" name="Shape 37"/>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42" name="Text 39"/>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43" name="Shape 40"/>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66928" y="1920240"/>
            <a:ext cx="310896" cy="310896"/>
          </a:xfrm>
          <a:prstGeom prst="ellipse">
            <a:avLst/>
          </a:prstGeom>
          <a:solidFill>
            <a:srgbClr val="F4F1EA"/>
          </a:solidFill>
          <a:ln w="12700">
            <a:solidFill>
              <a:srgbClr val="F4F1EA"/>
            </a:solidFill>
            <a:prstDash val="solid"/>
          </a:ln>
        </p:spPr>
      </p:sp>
      <p:sp>
        <p:nvSpPr>
          <p:cNvPr id="45" name="Text 42"/>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46" name="Shape 43"/>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7" name="Text 44"/>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48" name="Text 45"/>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غَسَّالَةٌ</a:t>
            </a:r>
            <a:endParaRPr lang="ar-SA" sz="3000" dirty="0"/>
          </a:p>
        </p:txBody>
      </p:sp>
      <p:sp>
        <p:nvSpPr>
          <p:cNvPr id="49" name="Text 46"/>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washing machine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ghas-sā-la</a:t>
            </a:r>
            <a:endParaRPr lang="en-US" sz="1350" dirty="0"/>
          </a:p>
        </p:txBody>
      </p:sp>
      <p:sp>
        <p:nvSpPr>
          <p:cNvPr id="50" name="Shape 47"/>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1" name="Text 48"/>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2" name="Text 49"/>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غَسَّالَاتٌ</a:t>
            </a:r>
            <a:endParaRPr lang="ar-SA" sz="1500" dirty="0"/>
          </a:p>
        </p:txBody>
      </p:sp>
      <p:sp>
        <p:nvSpPr>
          <p:cNvPr id="53" name="Shape 50"/>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4" name="Text 51"/>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55" name="Text 52"/>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تُوجَدُ</a:t>
            </a:r>
            <a:endParaRPr lang="ar-SA" sz="1350" dirty="0"/>
          </a:p>
        </p:txBody>
      </p:sp>
      <p:sp>
        <p:nvSpPr>
          <p:cNvPr id="56" name="Shape 5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8211312" y="4261104"/>
            <a:ext cx="310896" cy="310896"/>
          </a:xfrm>
          <a:prstGeom prst="ellipse">
            <a:avLst/>
          </a:prstGeom>
          <a:solidFill>
            <a:srgbClr val="F4F1EA"/>
          </a:solidFill>
          <a:ln w="12700">
            <a:solidFill>
              <a:srgbClr val="F4F1EA"/>
            </a:solidFill>
            <a:prstDash val="solid"/>
          </a:ln>
        </p:spPr>
      </p:sp>
      <p:sp>
        <p:nvSpPr>
          <p:cNvPr id="58" name="Text 5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59" name="Shape 56"/>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0" name="Text 57"/>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1" name="Text 5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مِكْنَسَةٌ كَهْرَبَائِيَّةٌ</a:t>
            </a:r>
            <a:endParaRPr lang="ar-SA" sz="3000" dirty="0"/>
          </a:p>
        </p:txBody>
      </p:sp>
      <p:sp>
        <p:nvSpPr>
          <p:cNvPr id="62" name="Text 5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vacuum cleaner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mik-na-sa kah-ra-bā-ʾiy-ya</a:t>
            </a:r>
            <a:endParaRPr lang="en-US" sz="135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حَوْضٌ</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sink / basin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ḥawḍ</a:t>
            </a:r>
            <a:endParaRPr lang="en-US" sz="1350" dirty="0"/>
          </a:p>
        </p:txBody>
      </p:sp>
      <p:sp>
        <p:nvSpPr>
          <p:cNvPr id="70" name="Shape 67"/>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2" name="Text 69"/>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أَحْوَاضٌ</a:t>
            </a:r>
            <a:endParaRPr lang="ar-SA" sz="1500" dirty="0"/>
          </a:p>
        </p:txBody>
      </p:sp>
      <p:sp>
        <p:nvSpPr>
          <p:cNvPr id="73" name="Shape 70"/>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74" name="Text 71"/>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75" name="Text 72"/>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76" name="Shape 7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566928" y="4261104"/>
            <a:ext cx="310896" cy="310896"/>
          </a:xfrm>
          <a:prstGeom prst="ellipse">
            <a:avLst/>
          </a:prstGeom>
          <a:solidFill>
            <a:srgbClr val="F4F1EA"/>
          </a:solidFill>
          <a:ln w="12700">
            <a:solidFill>
              <a:srgbClr val="F4F1EA"/>
            </a:solidFill>
            <a:prstDash val="solid"/>
          </a:ln>
        </p:spPr>
      </p:sp>
      <p:sp>
        <p:nvSpPr>
          <p:cNvPr id="78" name="Text 7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79" name="Shape 7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0" name="Text 7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1" name="Text 78"/>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دُشٌّ</a:t>
            </a:r>
            <a:endParaRPr lang="ar-SA" sz="3000" dirty="0"/>
          </a:p>
        </p:txBody>
      </p:sp>
      <p:sp>
        <p:nvSpPr>
          <p:cNvPr id="82" name="Text 79"/>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shower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dushsh</a:t>
            </a:r>
            <a:endParaRPr lang="en-US" sz="1350" dirty="0"/>
          </a:p>
        </p:txBody>
      </p:sp>
      <p:sp>
        <p:nvSpPr>
          <p:cNvPr id="83" name="Shape 80"/>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5" name="Text 82"/>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دُشُوشٌ</a:t>
            </a:r>
            <a:endParaRPr lang="ar-SA" sz="1500" dirty="0"/>
          </a:p>
        </p:txBody>
      </p:sp>
      <p:sp>
        <p:nvSpPr>
          <p:cNvPr id="86" name="Shape 83"/>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there is</a:t>
            </a:r>
            <a:endParaRPr lang="en-US" sz="700" dirty="0"/>
          </a:p>
        </p:txBody>
      </p:sp>
      <p:sp>
        <p:nvSpPr>
          <p:cNvPr id="88" name="Text 85"/>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يُوجَدُ</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38</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YŪJADU / TŪJADU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There is … (masculine or feminine item)</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يُوجَدُ · تُوجَدُ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87384" y="1810512"/>
            <a:ext cx="28712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Place</a:t>
            </a:r>
            <a:endParaRPr lang="en-US" sz="1100" dirty="0"/>
          </a:p>
        </p:txBody>
      </p:sp>
      <p:sp>
        <p:nvSpPr>
          <p:cNvPr id="17" name="Text 14"/>
          <p:cNvSpPr txBox="1"/>
          <p:nvPr/>
        </p:nvSpPr>
        <p:spPr>
          <a:xfrm>
            <a:off x="55869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Masculine item</a:t>
            </a:r>
            <a:endParaRPr lang="en-US" sz="1100" dirty="0"/>
          </a:p>
        </p:txBody>
      </p:sp>
      <p:sp>
        <p:nvSpPr>
          <p:cNvPr id="18" name="Text 15"/>
          <p:cNvSpPr txBox="1"/>
          <p:nvPr/>
        </p:nvSpPr>
        <p:spPr>
          <a:xfrm>
            <a:off x="2386584" y="1810512"/>
            <a:ext cx="3054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Feminine item</a:t>
            </a:r>
            <a:endParaRPr lang="en-US" sz="1100" dirty="0"/>
          </a:p>
        </p:txBody>
      </p:sp>
      <p:sp>
        <p:nvSpPr>
          <p:cNvPr id="19" name="Text 16"/>
          <p:cNvSpPr txBox="1"/>
          <p:nvPr/>
        </p:nvSpPr>
        <p:spPr>
          <a:xfrm>
            <a:off x="530352" y="1810512"/>
            <a:ext cx="17099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805672" y="2267712"/>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غُرْفَةِ النَّوْمِ</a:t>
            </a:r>
            <a:endParaRPr lang="ar-SA" sz="2200" dirty="0"/>
          </a:p>
        </p:txBody>
      </p:sp>
      <p:sp>
        <p:nvSpPr>
          <p:cNvPr id="22" name="Text 19"/>
          <p:cNvSpPr txBox="1"/>
          <p:nvPr/>
        </p:nvSpPr>
        <p:spPr>
          <a:xfrm>
            <a:off x="56052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سَرِيرٌ</a:t>
            </a:r>
            <a:endParaRPr lang="ar-SA" sz="2200" dirty="0"/>
          </a:p>
        </p:txBody>
      </p:sp>
      <p:sp>
        <p:nvSpPr>
          <p:cNvPr id="23" name="Text 20"/>
          <p:cNvSpPr txBox="1"/>
          <p:nvPr/>
        </p:nvSpPr>
        <p:spPr>
          <a:xfrm>
            <a:off x="2404872" y="2267712"/>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خِزَانَةٌ</a:t>
            </a:r>
            <a:endParaRPr lang="ar-SA" sz="2200" dirty="0"/>
          </a:p>
        </p:txBody>
      </p:sp>
      <p:sp>
        <p:nvSpPr>
          <p:cNvPr id="24" name="Text 21"/>
          <p:cNvSpPr txBox="1"/>
          <p:nvPr/>
        </p:nvSpPr>
        <p:spPr>
          <a:xfrm>
            <a:off x="566928" y="2267712"/>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bed · wardrobe</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805672" y="3054096"/>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غُرْفَةِ الجُلُوسِ</a:t>
            </a:r>
            <a:endParaRPr lang="ar-SA" sz="2200" dirty="0"/>
          </a:p>
        </p:txBody>
      </p:sp>
      <p:sp>
        <p:nvSpPr>
          <p:cNvPr id="29" name="Text 26"/>
          <p:cNvSpPr txBox="1"/>
          <p:nvPr/>
        </p:nvSpPr>
        <p:spPr>
          <a:xfrm>
            <a:off x="56052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تِلْفَازٌ</a:t>
            </a:r>
            <a:endParaRPr lang="ar-SA" sz="2200" dirty="0"/>
          </a:p>
        </p:txBody>
      </p:sp>
      <p:sp>
        <p:nvSpPr>
          <p:cNvPr id="30" name="Text 27"/>
          <p:cNvSpPr txBox="1"/>
          <p:nvPr/>
        </p:nvSpPr>
        <p:spPr>
          <a:xfrm>
            <a:off x="2404872" y="3054096"/>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أَرِيكَةٌ</a:t>
            </a:r>
            <a:endParaRPr lang="ar-SA" sz="2200" dirty="0"/>
          </a:p>
        </p:txBody>
      </p:sp>
      <p:sp>
        <p:nvSpPr>
          <p:cNvPr id="31" name="Text 28"/>
          <p:cNvSpPr txBox="1"/>
          <p:nvPr/>
        </p:nvSpPr>
        <p:spPr>
          <a:xfrm>
            <a:off x="566928" y="3054096"/>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TV · sofa</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805672" y="3840480"/>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الحَمَّامِ</a:t>
            </a:r>
            <a:endParaRPr lang="ar-SA" sz="2200" dirty="0"/>
          </a:p>
        </p:txBody>
      </p:sp>
      <p:sp>
        <p:nvSpPr>
          <p:cNvPr id="36" name="Text 33"/>
          <p:cNvSpPr txBox="1"/>
          <p:nvPr/>
        </p:nvSpPr>
        <p:spPr>
          <a:xfrm>
            <a:off x="56052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حَوْضٌ</a:t>
            </a:r>
            <a:endParaRPr lang="ar-SA" sz="2200" dirty="0"/>
          </a:p>
        </p:txBody>
      </p:sp>
      <p:sp>
        <p:nvSpPr>
          <p:cNvPr id="37" name="Text 34"/>
          <p:cNvSpPr txBox="1"/>
          <p:nvPr/>
        </p:nvSpPr>
        <p:spPr>
          <a:xfrm>
            <a:off x="2404872" y="3840480"/>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تُوجَدُ</a:t>
            </a:r>
            <a:pPr rtl="1" algn="ctr" indent="0" marL="0">
              <a:buNone/>
            </a:pPr>
            <a:r>
              <a:rPr lang="ar-SA" altLang="en-US" sz="2200" b="1" dirty="0">
                <a:solidFill>
                  <a:srgbClr val="1B3B6F"/>
                </a:solidFill>
                <a:latin typeface="Amiri" pitchFamily="34" charset="0"/>
                <a:ea typeface="Amiri" pitchFamily="34" charset="-122"/>
                <a:cs typeface="Amiri" pitchFamily="34" charset="-120"/>
              </a:rPr>
              <a:t> مِرْآةٌ</a:t>
            </a:r>
            <a:endParaRPr lang="ar-SA" sz="2200" dirty="0"/>
          </a:p>
        </p:txBody>
      </p:sp>
      <p:sp>
        <p:nvSpPr>
          <p:cNvPr id="38" name="Text 35"/>
          <p:cNvSpPr txBox="1"/>
          <p:nvPr/>
        </p:nvSpPr>
        <p:spPr>
          <a:xfrm>
            <a:off x="566928" y="3840480"/>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sink · mirror</a:t>
            </a:r>
            <a:endParaRPr lang="en-US" sz="1100" dirty="0"/>
          </a:p>
        </p:txBody>
      </p:sp>
      <p:sp>
        <p:nvSpPr>
          <p:cNvPr id="39" name="Shape 36"/>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0" name="Text 37"/>
          <p:cNvSpPr txBox="1"/>
          <p:nvPr/>
        </p:nvSpPr>
        <p:spPr>
          <a:xfrm>
            <a:off x="8805672" y="4626864"/>
            <a:ext cx="283464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فِي غُرْفَتِي</a:t>
            </a:r>
            <a:endParaRPr lang="ar-SA" sz="2200" dirty="0"/>
          </a:p>
        </p:txBody>
      </p:sp>
      <p:sp>
        <p:nvSpPr>
          <p:cNvPr id="41" name="Text 38"/>
          <p:cNvSpPr txBox="1"/>
          <p:nvPr/>
        </p:nvSpPr>
        <p:spPr>
          <a:xfrm>
            <a:off x="56052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سَرِيرٌ</a:t>
            </a:r>
            <a:endParaRPr lang="ar-SA" sz="2200" dirty="0"/>
          </a:p>
        </p:txBody>
      </p:sp>
      <p:sp>
        <p:nvSpPr>
          <p:cNvPr id="42" name="Text 39"/>
          <p:cNvSpPr txBox="1"/>
          <p:nvPr/>
        </p:nvSpPr>
        <p:spPr>
          <a:xfrm>
            <a:off x="2404872" y="4626864"/>
            <a:ext cx="3017520" cy="73152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وَخِزَانَةٌ</a:t>
            </a:r>
            <a:endParaRPr lang="ar-SA" sz="2200" dirty="0"/>
          </a:p>
        </p:txBody>
      </p:sp>
      <p:sp>
        <p:nvSpPr>
          <p:cNvPr id="43" name="Text 40"/>
          <p:cNvSpPr txBox="1"/>
          <p:nvPr/>
        </p:nvSpPr>
        <p:spPr>
          <a:xfrm>
            <a:off x="566928" y="4626864"/>
            <a:ext cx="167335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no verb — also correct</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verb agrees with the item after it. The room is only the place.</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38</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PLURALS AND DESCRIBING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One, many, and what they are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المُفْرَدُ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16586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1658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PLURAL · CORE</a:t>
            </a:r>
            <a:endParaRPr lang="en-US" sz="850" dirty="0"/>
          </a:p>
        </p:txBody>
      </p:sp>
      <p:sp>
        <p:nvSpPr>
          <p:cNvPr id="18" name="Text 15"/>
          <p:cNvSpPr txBox="1"/>
          <p:nvPr/>
        </p:nvSpPr>
        <p:spPr>
          <a:xfrm>
            <a:off x="9444228" y="1874520"/>
            <a:ext cx="21503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كَرَاسِي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2750" b="1" dirty="0">
                <a:solidFill>
                  <a:srgbClr val="1B3B6F"/>
                </a:solidFill>
                <a:latin typeface="Amiri" pitchFamily="34" charset="0"/>
                <a:ea typeface="Amiri" pitchFamily="34" charset="-122"/>
                <a:cs typeface="Amiri" pitchFamily="34" charset="-120"/>
              </a:rPr>
              <a:t>هُنَاكَ طَاوِلَةٌ وَأَرْبَعَةُ كَرَاسِي.</a:t>
            </a:r>
            <a:endParaRPr lang="ar-SA" sz="275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table and four chairs.</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Learn the plural with the word.</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things → f.</a:t>
            </a:r>
            <a:endParaRPr lang="en-US"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تُوجَدُ كَرَاسِي كَثِيرَةٌ.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are many chairs.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tūjadu + kathīra (not kathīrūn).</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7B4F"/>
          </a:solidFill>
          <a:ln w="12700">
            <a:solidFill>
              <a:srgbClr val="1E7B4F"/>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algn="l" indent="0" marL="0">
              <a:buNone/>
            </a:pPr>
            <a:r>
              <a:rPr lang="en-US" sz="1600" b="1" dirty="0">
                <a:solidFill>
                  <a:srgbClr val="8A6D1E"/>
                </a:solidFill>
                <a:latin typeface="Calibri" pitchFamily="34" charset="0"/>
                <a:ea typeface="Calibri" pitchFamily="34" charset="-122"/>
                <a:cs typeface="Calibri" pitchFamily="34" charset="-120"/>
              </a:rPr>
              <a:t>describe</a:t>
            </a:r>
            <a:endParaRPr lang="en-US"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تُوجَدُ خِزَانَةٌ بَيْضَاءُ بِجَانِبِ النَّافِذَةِ.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There is a white wardrobe beside the window.</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Colour + position.</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Furniture Mission: a lamp is masculine.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يُوجَدُ مِصْبَاحٌ.</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34" charset="0"/>
                <a:ea typeface="Amiri" pitchFamily="34" charset="-122"/>
                <a:cs typeface="Amiri" pitchFamily="34" charset="-120"/>
              </a:rPr>
              <a:t>تُوجَدُ مِصْبَاحٌ.</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38</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سَرِيرٌ.</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نُوجَدُ</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خِزَانَةٌ.</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أُوجَدُ</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also correct without a verb?</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 يُوجَدَ.</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غُرْفَتِي 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غُرْفَتِي فِي 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0" name="Text 57"/>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1" name="Shape 58"/>
          <p:cNvSpPr/>
          <p:nvPr/>
        </p:nvSpPr>
        <p:spPr>
          <a:xfrm>
            <a:off x="6368796"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a:t>
            </a:r>
            <a:endParaRPr lang="ar-SA" sz="2050" dirty="0"/>
          </a:p>
        </p:txBody>
      </p:sp>
      <p:sp>
        <p:nvSpPr>
          <p:cNvPr id="64" name="Shape 61"/>
          <p:cNvSpPr/>
          <p:nvPr/>
        </p:nvSpPr>
        <p:spPr>
          <a:xfrm>
            <a:off x="6368796"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كُرْسِيَّاتٌ</a:t>
            </a:r>
            <a:endParaRPr lang="ar-SA" sz="2050" dirty="0"/>
          </a:p>
        </p:txBody>
      </p:sp>
      <p:sp>
        <p:nvSpPr>
          <p:cNvPr id="67" name="Shape 64"/>
          <p:cNvSpPr/>
          <p:nvPr/>
        </p:nvSpPr>
        <p:spPr>
          <a:xfrm>
            <a:off x="6368796"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أَكْرُسٌ</a:t>
            </a:r>
            <a:endParaRPr lang="ar-SA" sz="2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38</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سَرِيرٌ.</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نُوجَدُ</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يُوجَدُ</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is masculine, so use </a:t>
            </a:r>
            <a:pPr algn="l" indent="0" marL="0">
              <a:buNone/>
            </a:pPr>
            <a:r>
              <a:rPr lang="ar-SA" altLang="en-US" sz="1350" dirty="0">
                <a:solidFill>
                  <a:srgbClr val="8A6D1E"/>
                </a:solidFill>
                <a:latin typeface="Amiri" pitchFamily="34" charset="0"/>
                <a:ea typeface="Amiri" pitchFamily="34" charset="-122"/>
                <a:cs typeface="Amiri" pitchFamily="34" charset="-120"/>
              </a:rPr>
              <a:t>يُوجَدُ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فِي الغُرْفَةِ ___ خِزَانَةٌ.</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أُوجَدُ</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خِزَانَةٌ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تُوجَدُ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is also correct without a verb?</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غُرْفَتِي يُوجَدَ.</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غُرْفَتِي 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غُرْفَتِي فِي 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simple Arabic location sentence may omit “there is”.</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6" name="Text 63"/>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7" name="Shape 64"/>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368796" y="4831080"/>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كَرَاسِي</a:t>
            </a:r>
            <a:endParaRPr lang="ar-SA" sz="170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كُرْسِيَّاتٌ</a:t>
            </a:r>
            <a:endParaRPr lang="ar-SA" sz="1700" dirty="0"/>
          </a:p>
        </p:txBody>
      </p:sp>
      <p:sp>
        <p:nvSpPr>
          <p:cNvPr id="74" name="Shape 71"/>
          <p:cNvSpPr/>
          <p:nvPr/>
        </p:nvSpPr>
        <p:spPr>
          <a:xfrm>
            <a:off x="6368796" y="5574792"/>
            <a:ext cx="256032" cy="256032"/>
          </a:xfrm>
          <a:prstGeom prst="ellipse">
            <a:avLst/>
          </a:prstGeom>
          <a:solidFill>
            <a:srgbClr val="C9CED6"/>
          </a:solidFill>
          <a:ln w="12700">
            <a:solidFill>
              <a:srgbClr val="C9CED6"/>
            </a:solidFill>
            <a:prstDash val="solid"/>
          </a:ln>
        </p:spPr>
      </p:sp>
      <p:sp>
        <p:nvSpPr>
          <p:cNvPr id="75" name="Text 72"/>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6" name="Text 73"/>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أَكْرُسٌ</a:t>
            </a:r>
            <a:endParaRPr lang="ar-SA" sz="1700" dirty="0"/>
          </a:p>
        </p:txBody>
      </p:sp>
      <p:sp>
        <p:nvSpPr>
          <p:cNvPr id="77" name="Text 74"/>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common plural is </a:t>
            </a:r>
            <a:pPr algn="l" indent="0" marL="0">
              <a:buNone/>
            </a:pPr>
            <a:r>
              <a:rPr lang="ar-SA" altLang="en-US" sz="1350" dirty="0">
                <a:solidFill>
                  <a:srgbClr val="8A6D1E"/>
                </a:solidFill>
                <a:latin typeface="Amiri" pitchFamily="34" charset="0"/>
                <a:ea typeface="Amiri" pitchFamily="34" charset="-122"/>
                <a:cs typeface="Amiri" pitchFamily="34" charset="-120"/>
              </a:rPr>
              <a:t>كَرَاسِي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38</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furnish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 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2000" b="1" dirty="0">
                <a:solidFill>
                  <a:srgbClr val="1B3B6F"/>
                </a:solidFill>
                <a:latin typeface="Amiri" pitchFamily="34" charset="0"/>
                <a:ea typeface="Amiri" pitchFamily="34" charset="-122"/>
                <a:cs typeface="Amiri" pitchFamily="34" charset="-120"/>
              </a:rPr>
              <a:t>غُرْفَةُ النَّوْمِ وَاسِعَةٌ وَمُرِيحَةٌ.</a:t>
            </a:r>
            <a:endParaRPr lang="ar-SA" sz="20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Room (f.) → -a adjectives.</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Masculine items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فِيهَا </a:t>
            </a:r>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سَرِيرٌ كَبِيرٌ وَمَكْتَبٌ صَغِيرٌ.</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Bed, desk → yūjadu.</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Feminine items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خِزَانَةٌ بِجَانِبِ النَّافِذَةِ، وَ</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تُوجَدُ</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سَجَّادَةٌ عَلَى الأَرْضِيَّةِ.</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Wardrobe, rug → tūjadu.</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أُحِبُّ هَذِهِ الغُرْفَةَ لِأَنَّهَا هَادِئَةٌ.</a:t>
            </a:r>
            <a:endParaRPr lang="ar-SA" sz="1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Because it (f.) is quiet.</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 ITEM</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 ITEM</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غُرْفَةُ النَّوْمِ وَاسِعَةٌ وَمُرِيحَةٌ. فِيهَا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سَرِيرٌ كَبِيرٌ وَمَكْتَبٌ صَغِيرٌ.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خِزَانَةٌ بِجَانِبِ النَّافِذَةِ، وَ</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تُوجَدُ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سَجَّادَةٌ عَلَى الأَرْضِيَّةِ. عَلَى المَكْتَبِ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يُوجَدُ</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مِصْبَاحٌ وَحَاسُوبٌ. أُحِبُّ هَذِهِ الغُرْفَةَ لِأَنَّهَا هَادِئَةٌ.</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The bedroom is spacious and comfortable. In it there is a big bed and a small desk. There is a wardrobe beside the window, and there is a rug on the floor. On the desk there is a lamp and a computer. I love this room because it is quiet.</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38</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33" b="1" spc="150" kern="0" dirty="0">
                <a:solidFill>
                  <a:srgbClr val="2F6FB0"/>
                </a:solidFill>
                <a:latin typeface="Calibri" pitchFamily="34" charset="0"/>
                <a:ea typeface="Calibri" pitchFamily="34" charset="-122"/>
                <a:cs typeface="Calibri" pitchFamily="34" charset="-120"/>
              </a:rPr>
              <a:t>WE DO · PICTURE MATCH · WEBSITE GAME “VISUAL GAME — FURNITURE AND HOUSEHOLD ITEMS”</a:t>
            </a:r>
            <a:endParaRPr lang="en-US" sz="833"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Where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17348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32" name="Shape 26"/>
          <p:cNvSpPr/>
          <p:nvPr/>
        </p:nvSpPr>
        <p:spPr>
          <a:xfrm>
            <a:off x="236220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fridge</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الأَرِيكَةُ فِي غُرْفَةِ الجُلُوسِ.</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ثَلَّاجَةٌ.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السَّرِيرُ فِي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38</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اِبْحَثْ عَنِ الأَثَاثِ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السَّرِيرُ فِي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bed is in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sofa</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الأَرِيكَةُ فِي غُرْفَةِ الجُلُوسِ.</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sofa is in the living room.</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356360" y="2249424"/>
            <a:ext cx="649224" cy="649224"/>
          </a:xfrm>
          <a:prstGeom prst="rect">
            <a:avLst/>
          </a:prstGeom>
        </p:spPr>
      </p:pic>
      <p:sp>
        <p:nvSpPr>
          <p:cNvPr id="42" name="Shape 36"/>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254508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fridge</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ثَلَّاجَةٌ.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fridge.</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38</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“FURNITURE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Furnish the home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تَأْثِيثِ البَيْتِ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أَرِيكَةٌ</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الحَمَّامُ</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المَطْبَخُ</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غُرْفَةُ الجُلُوسِ</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تِلْفَازٌ.</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7" name="Text 44"/>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سَجَّادَةٌ.</a:t>
            </a:r>
            <a:endParaRPr lang="ar-SA" sz="220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1" name="Text 58"/>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2" name="Shape 59"/>
          <p:cNvSpPr/>
          <p:nvPr/>
        </p:nvSpPr>
        <p:spPr>
          <a:xfrm>
            <a:off x="640080"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كُرْسِيَّاتٌ</a:t>
            </a:r>
            <a:endParaRPr lang="ar-SA" sz="2050" dirty="0"/>
          </a:p>
        </p:txBody>
      </p:sp>
      <p:sp>
        <p:nvSpPr>
          <p:cNvPr id="65" name="Shape 62"/>
          <p:cNvSpPr/>
          <p:nvPr/>
        </p:nvSpPr>
        <p:spPr>
          <a:xfrm>
            <a:off x="640080"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كَرَاسِي</a:t>
            </a:r>
            <a:endParaRPr lang="ar-SA" sz="2050" dirty="0"/>
          </a:p>
        </p:txBody>
      </p:sp>
      <p:sp>
        <p:nvSpPr>
          <p:cNvPr id="68" name="Shape 65"/>
          <p:cNvSpPr/>
          <p:nvPr/>
        </p:nvSpPr>
        <p:spPr>
          <a:xfrm>
            <a:off x="640080"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أَكْرُسٌ</a:t>
            </a:r>
            <a:endParaRPr lang="ar-SA" sz="2050" dirty="0"/>
          </a:p>
        </p:txBody>
      </p:sp>
      <p:sp>
        <p:nvSpPr>
          <p:cNvPr id="71" name="Shape 6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2" name="Shape 69"/>
          <p:cNvSpPr/>
          <p:nvPr/>
        </p:nvSpPr>
        <p:spPr>
          <a:xfrm>
            <a:off x="4404360" y="4288536"/>
            <a:ext cx="310896" cy="310896"/>
          </a:xfrm>
          <a:prstGeom prst="ellipse">
            <a:avLst/>
          </a:prstGeom>
          <a:solidFill>
            <a:srgbClr val="1B3B6F"/>
          </a:solidFill>
          <a:ln w="12700">
            <a:solidFill>
              <a:srgbClr val="1B3B6F"/>
            </a:solidFill>
            <a:prstDash val="solid"/>
          </a:ln>
        </p:spPr>
      </p:sp>
      <p:sp>
        <p:nvSpPr>
          <p:cNvPr id="73" name="Text 7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4" name="Text 71"/>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75" name="Text 72"/>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يُوجَدُ خِزَانَةٌ.</a:t>
            </a:r>
            <a:endParaRPr lang="ar-SA" sz="2200" dirty="0"/>
          </a:p>
        </p:txBody>
      </p:sp>
      <p:sp>
        <p:nvSpPr>
          <p:cNvPr id="76" name="Shape 73"/>
          <p:cNvSpPr/>
          <p:nvPr/>
        </p:nvSpPr>
        <p:spPr>
          <a:xfrm>
            <a:off x="4459224" y="48737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8" name="Text 75"/>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خِزَانَةٌ.</a:t>
            </a:r>
            <a:endParaRPr lang="ar-SA" sz="2050" dirty="0"/>
          </a:p>
        </p:txBody>
      </p:sp>
      <p:sp>
        <p:nvSpPr>
          <p:cNvPr id="79" name="Shape 76"/>
          <p:cNvSpPr/>
          <p:nvPr/>
        </p:nvSpPr>
        <p:spPr>
          <a:xfrm>
            <a:off x="4459224" y="53309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1" name="Text 78"/>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 خِزَانَةٌ.</a:t>
            </a:r>
            <a:endParaRPr lang="ar-SA" sz="2050" dirty="0"/>
          </a:p>
        </p:txBody>
      </p:sp>
      <p:sp>
        <p:nvSpPr>
          <p:cNvPr id="82" name="Shape 79"/>
          <p:cNvSpPr/>
          <p:nvPr/>
        </p:nvSpPr>
        <p:spPr>
          <a:xfrm>
            <a:off x="4459224" y="5788152"/>
            <a:ext cx="256032" cy="256032"/>
          </a:xfrm>
          <a:prstGeom prst="ellipse">
            <a:avLst/>
          </a:prstGeom>
          <a:solidFill>
            <a:srgbClr val="F4F1EA"/>
          </a:solidFill>
          <a:ln w="12700">
            <a:solidFill>
              <a:srgbClr val="F4F1EA"/>
            </a:solidFill>
            <a:prstDash val="solid"/>
          </a:ln>
        </p:spPr>
      </p:sp>
      <p:sp>
        <p:nvSpPr>
          <p:cNvPr id="83" name="Text 80"/>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4" name="Text 81"/>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 خِزَانٌ.</a:t>
            </a:r>
            <a:endParaRPr lang="ar-SA" sz="2050" dirty="0"/>
          </a:p>
        </p:txBody>
      </p:sp>
      <p:sp>
        <p:nvSpPr>
          <p:cNvPr id="85" name="Shape 8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7" name="Text 8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8" name="Text 8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Masculine item → yūjadu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Feminine item → tūjadu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the plural too</a:t>
            </a:r>
            <a:endParaRPr lang="en-US" sz="12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38</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Where does this normally belong?</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أَرِيكَةٌ</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الحَمَّامُ</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المَطْبَخُ</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غُرْفَةُ الجُلُوسِ</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 sofa normally belongs in the living room.</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تِلْفَازٌ.</a:t>
            </a:r>
            <a:endParaRPr lang="ar-SA" sz="220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a:t>
            </a:r>
            <a:endParaRPr lang="ar-SA" sz="170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يُوجَدُ</a:t>
            </a:r>
            <a:endParaRPr lang="ar-SA" sz="170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تِلْفَازٌ</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1" name="Text 48"/>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سَجَّادَةٌ.</a:t>
            </a:r>
            <a:endParaRPr lang="ar-SA" sz="2200" dirty="0"/>
          </a:p>
        </p:txBody>
      </p:sp>
      <p:sp>
        <p:nvSpPr>
          <p:cNvPr id="52" name="Shape 49"/>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49021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a:t>
            </a:r>
            <a:endParaRPr lang="ar-SA" sz="1700" dirty="0"/>
          </a:p>
        </p:txBody>
      </p:sp>
      <p:sp>
        <p:nvSpPr>
          <p:cNvPr id="56" name="Shape 53"/>
          <p:cNvSpPr/>
          <p:nvPr/>
        </p:nvSpPr>
        <p:spPr>
          <a:xfrm>
            <a:off x="8278368" y="286207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59" name="Shape 56"/>
          <p:cNvSpPr/>
          <p:nvPr/>
        </p:nvSpPr>
        <p:spPr>
          <a:xfrm>
            <a:off x="8278368" y="3233928"/>
            <a:ext cx="256032" cy="256032"/>
          </a:xfrm>
          <a:prstGeom prst="ellipse">
            <a:avLst/>
          </a:prstGeom>
          <a:solidFill>
            <a:srgbClr val="C9CED6"/>
          </a:solidFill>
          <a:ln w="12700">
            <a:solidFill>
              <a:srgbClr val="C9CED6"/>
            </a:solidFill>
            <a:prstDash val="solid"/>
          </a:ln>
        </p:spPr>
      </p:sp>
      <p:sp>
        <p:nvSpPr>
          <p:cNvPr id="60"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a:t>
            </a:r>
            <a:endParaRPr lang="ar-SA" sz="1700" dirty="0"/>
          </a:p>
        </p:txBody>
      </p:sp>
      <p:sp>
        <p:nvSpPr>
          <p:cNvPr id="62"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سَجَّادَةٌ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3"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5"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6" name="Text 63"/>
          <p:cNvSpPr txBox="1"/>
          <p:nvPr/>
        </p:nvSpPr>
        <p:spPr>
          <a:xfrm>
            <a:off x="950976"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67" name="Text 64"/>
          <p:cNvSpPr txBox="1"/>
          <p:nvPr/>
        </p:nvSpPr>
        <p:spPr>
          <a:xfrm>
            <a:off x="2406701"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كُرْسِيٌّ.</a:t>
            </a:r>
            <a:endParaRPr lang="ar-SA" sz="2200" dirty="0"/>
          </a:p>
        </p:txBody>
      </p:sp>
      <p:sp>
        <p:nvSpPr>
          <p:cNvPr id="68" name="Shape 65"/>
          <p:cNvSpPr/>
          <p:nvPr/>
        </p:nvSpPr>
        <p:spPr>
          <a:xfrm>
            <a:off x="640080"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كُرْسِيَّاتٌ</a:t>
            </a:r>
            <a:endParaRPr lang="ar-SA" sz="1700" dirty="0"/>
          </a:p>
        </p:txBody>
      </p:sp>
      <p:sp>
        <p:nvSpPr>
          <p:cNvPr id="71" name="Shape 6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202936"/>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4" name="Text 7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كَرَاسِي</a:t>
            </a:r>
            <a:endParaRPr lang="ar-SA" sz="1700" dirty="0"/>
          </a:p>
        </p:txBody>
      </p:sp>
      <p:sp>
        <p:nvSpPr>
          <p:cNvPr id="75" name="Shape 72"/>
          <p:cNvSpPr/>
          <p:nvPr/>
        </p:nvSpPr>
        <p:spPr>
          <a:xfrm>
            <a:off x="640080" y="5574792"/>
            <a:ext cx="256032" cy="256032"/>
          </a:xfrm>
          <a:prstGeom prst="ellipse">
            <a:avLst/>
          </a:prstGeom>
          <a:solidFill>
            <a:srgbClr val="C9CED6"/>
          </a:solidFill>
          <a:ln w="12700">
            <a:solidFill>
              <a:srgbClr val="C9CED6"/>
            </a:solidFill>
            <a:prstDash val="solid"/>
          </a:ln>
        </p:spPr>
      </p:sp>
      <p:sp>
        <p:nvSpPr>
          <p:cNvPr id="76" name="Text 7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أَكْرُسٌ</a:t>
            </a:r>
            <a:endParaRPr lang="ar-SA" sz="1700" dirty="0"/>
          </a:p>
        </p:txBody>
      </p:sp>
      <p:sp>
        <p:nvSpPr>
          <p:cNvPr id="78" name="Text 7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كَرَاسِي</a:t>
            </a:r>
            <a:pPr algn="l" indent="0" marL="0">
              <a:buNone/>
            </a:pPr>
            <a:r>
              <a:rPr lang="en-US" sz="1050" i="1" dirty="0">
                <a:solidFill>
                  <a:srgbClr val="8A6D1E"/>
                </a:solidFill>
                <a:latin typeface="Calibri" pitchFamily="34" charset="0"/>
                <a:ea typeface="Calibri" pitchFamily="34" charset="-122"/>
                <a:cs typeface="Calibri" pitchFamily="34" charset="-120"/>
              </a:rPr>
              <a:t> is the common plural.</a:t>
            </a:r>
            <a:endParaRPr lang="en-US" sz="1050" dirty="0"/>
          </a:p>
        </p:txBody>
      </p:sp>
      <p:sp>
        <p:nvSpPr>
          <p:cNvPr id="79" name="Shape 7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0" name="Shape 77"/>
          <p:cNvSpPr/>
          <p:nvPr/>
        </p:nvSpPr>
        <p:spPr>
          <a:xfrm>
            <a:off x="4404360" y="4288536"/>
            <a:ext cx="310896" cy="310896"/>
          </a:xfrm>
          <a:prstGeom prst="ellipse">
            <a:avLst/>
          </a:prstGeom>
          <a:solidFill>
            <a:srgbClr val="1B3B6F"/>
          </a:solidFill>
          <a:ln w="12700">
            <a:solidFill>
              <a:srgbClr val="1B3B6F"/>
            </a:solidFill>
            <a:prstDash val="solid"/>
          </a:ln>
        </p:spPr>
      </p:sp>
      <p:sp>
        <p:nvSpPr>
          <p:cNvPr id="81" name="Text 7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2" name="Text 79"/>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Repair:</a:t>
            </a:r>
            <a:endParaRPr lang="en-US" sz="1200" dirty="0"/>
          </a:p>
        </p:txBody>
      </p:sp>
      <p:sp>
        <p:nvSpPr>
          <p:cNvPr id="83" name="Text 80"/>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يُوجَدُ خِزَانَةٌ.</a:t>
            </a:r>
            <a:endParaRPr lang="ar-SA" sz="2200" dirty="0"/>
          </a:p>
        </p:txBody>
      </p:sp>
      <p:sp>
        <p:nvSpPr>
          <p:cNvPr id="84" name="Shape 81"/>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5" name="Shape 82"/>
          <p:cNvSpPr/>
          <p:nvPr/>
        </p:nvSpPr>
        <p:spPr>
          <a:xfrm>
            <a:off x="4459224" y="4831080"/>
            <a:ext cx="256032" cy="256032"/>
          </a:xfrm>
          <a:prstGeom prst="ellipse">
            <a:avLst/>
          </a:prstGeom>
          <a:solidFill>
            <a:srgbClr val="2E8B57"/>
          </a:solidFill>
          <a:ln w="12700">
            <a:solidFill>
              <a:srgbClr val="2E8B57"/>
            </a:solidFill>
            <a:prstDash val="solid"/>
          </a:ln>
        </p:spPr>
      </p:sp>
      <p:sp>
        <p:nvSpPr>
          <p:cNvPr id="86" name="Text 83"/>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7" name="Text 84"/>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تُوجَدُ خِزَانَةٌ.</a:t>
            </a:r>
            <a:endParaRPr lang="ar-SA" sz="1700" dirty="0"/>
          </a:p>
        </p:txBody>
      </p:sp>
      <p:sp>
        <p:nvSpPr>
          <p:cNvPr id="88" name="Shape 85"/>
          <p:cNvSpPr/>
          <p:nvPr/>
        </p:nvSpPr>
        <p:spPr>
          <a:xfrm>
            <a:off x="4459224" y="5202936"/>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0" name="Text 87"/>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يُوجَدُ خِزَانَةٌ.</a:t>
            </a:r>
            <a:endParaRPr lang="ar-SA" sz="1700" dirty="0"/>
          </a:p>
        </p:txBody>
      </p:sp>
      <p:sp>
        <p:nvSpPr>
          <p:cNvPr id="91" name="Shape 88"/>
          <p:cNvSpPr/>
          <p:nvPr/>
        </p:nvSpPr>
        <p:spPr>
          <a:xfrm>
            <a:off x="4459224" y="5574792"/>
            <a:ext cx="256032" cy="256032"/>
          </a:xfrm>
          <a:prstGeom prst="ellipse">
            <a:avLst/>
          </a:prstGeom>
          <a:solidFill>
            <a:srgbClr val="C9CED6"/>
          </a:solidFill>
          <a:ln w="12700">
            <a:solidFill>
              <a:srgbClr val="C9CED6"/>
            </a:solidFill>
            <a:prstDash val="solid"/>
          </a:ln>
        </p:spPr>
      </p:sp>
      <p:sp>
        <p:nvSpPr>
          <p:cNvPr id="92" name="Text 89"/>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3" name="Text 90"/>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تُوجَدُ خِزَانٌ.</a:t>
            </a:r>
            <a:endParaRPr lang="ar-SA" sz="1700" dirty="0"/>
          </a:p>
        </p:txBody>
      </p:sp>
      <p:sp>
        <p:nvSpPr>
          <p:cNvPr id="94" name="Text 91"/>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خِزَانَةٌ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95" name="Shape 92"/>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6" name="Shape 93"/>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8" name="Text 95"/>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Masculine item → yūjadu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Feminine item → tūjadu</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Learn the plural too</a:t>
            </a:r>
            <a:endParaRPr lang="en-US" sz="1250" dirty="0"/>
          </a:p>
        </p:txBody>
      </p:sp>
      <p:sp>
        <p:nvSpPr>
          <p:cNvPr id="99" name="Text 9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38</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فِي الغُرْفَةِ يُوجَدُ خِزَانَةٌ.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Wardrobe: masculine or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تُوجَدُ مِصْبَاحٌ.</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Lamp: masculine or feminine?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تُوجَدُ كَرَاسِي كَثِيرُونَ.</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Chairs are things, not people.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38</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فِي الغُرْفَةِ يُوجَدُ خِزَانَةٌ.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فِي الغُرْفَةِ تُوجَدُ خِزَانَةٌ.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Look at the ITEM, not the room: a wardrobe is feminine.</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تُوجَدُ مِصْبَاحٌ.</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يُوجَدُ مِصْبَاحٌ.</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lamp is masculine → yūjadu (website Furniture Mission).</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تُوجَدُ كَرَاسِي كَثِيرُونَ.</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تُوجَدُ كَرَاسِي كَثِيرَةٌ.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plural of things takes a feminine singular adjective.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38</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Mariam describes three rooms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items are on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mirror and clock</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television and shelf</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computer and lamp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in the kitchen?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sofa?</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room is Mariam’s favourite?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kitchen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living room</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bedroom</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bedroom · kitchen · living room.</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38</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أَهْلًا! أَنَا مَرْيَمُ، وَسَأَصِفُ ثَلَاثَ غُرَفٍ فِي بَيْتِنَا.</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I am Mariam, and I will describe three rooms in our house.</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فِي غُرْفَةِ نَوْمِي يُوجَدُ سَرِيرٌ أَبْيَضُ وَمَكْتَبٌ بُنِّيٌّ، وَتُوجَدُ خِزَانَةٌ كَبِيرَةٌ وَمِرْآةٌ صَغِيرَةٌ.</a:t>
            </a:r>
            <a:endParaRPr lang="ar-SA" sz="19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my bedroom there is a white bed and a brown desk, and a big wardrobe and a small mirror.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المَكْتَبِ يُوجَدُ حَاسُوبٌ وَمِصْبَاحٌ.</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there is a computer and a lamp.</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600" b="1" dirty="0">
                <a:solidFill>
                  <a:srgbClr val="1B3B6F"/>
                </a:solidFill>
                <a:latin typeface="Amiri" pitchFamily="34" charset="0"/>
                <a:ea typeface="Amiri" pitchFamily="34" charset="-122"/>
                <a:cs typeface="Amiri" pitchFamily="34" charset="-120"/>
              </a:rPr>
              <a:t>فِي المَطْبَخِ تُوجَدُ ثَلَّاجَةٌ بَيْضَاءُ وَغَسَّالَةٌ، وَيُوجَدُ مَوْقِدٌ وَحَوْضٌ. هُنَاكَ أَيْضًا طَاوِلَةٌ وَأَرْبَعَةُ كَرَاسِي.</a:t>
            </a:r>
            <a:endParaRPr lang="ar-SA" sz="16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kitchen there is a white fridge and a washing machine, a cooker and a sink. There is also a table and four chairs.</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أَمَّا غُرْفَةُ الجُلُوسِ فَفِيهَا أَرِيكَةٌ زَرْقَاءُ وَتِلْفَازٌ كَبِيرٌ وَسَجَّادَةٌ جَمِيلَةٌ. أُحِبُّ غُرْفَةَ الجُلُوسِ لِأَنَّهَا وَاسِعَةٌ وَمُرِيحَةٌ.</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As for the living room, it has a blue sofa, a big TV and a beautiful rug. I love the living room because it is spacious and comfortable.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38</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bed?</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سَرِيرٌ أَبْيَضُ.</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items are on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mirror and clock</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television and shelf</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computer and lamp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المَكْتَبِ يُوجَدُ حَاسُوبٌ وَمِصْبَاحٌ.</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in the kitchen?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six</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أَرْبَعَةُ كَرَاسِي.</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sofa?</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أَرِيكَةٌ زَرْقَاءُ.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room is Mariam’s favourite?</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kitchen</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living room</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bedroom</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أُحِبُّ غُرْفَةَ الجُلُوسِ</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Three columns: bedroom · kitchen · living room.</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38</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غُرْفَةُ نَوْمِ سَامِرٍ صَغِيرَةٌ وَلَكِنَّهَا مُرَتَّبَةٌ.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small but tidy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سَرِيرٌ وَخِزَانَةٌ وَمَكْتَبٌ.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Main items: bed · wardrobe · desk</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المَكْتَبِ يُوجَدُ حَاسُوبٌ وَمِصْبَاحٌ، وَفَوْقَ المَكْتَبِ تُوجَدُ رُفُوفٌ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computer, lamp · above it: shelves for books</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لَا يُوجَدُ تِلْفَازٌ فِي الغُرْفَةِ.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 in the room: a television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يُحِبُّ سَامِرٌ غُرْفَتَهُ لِأَنَّهَا 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he likes it — it is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38</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kitchen</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مَطْبَخُ لَيْلَى وَاسِعٌ وَحَدِيثٌ.</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Description: spacious and modern</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 ثَلَّاجَةٌ كَبِيرَةٌ وَفُرْنٌ وَمَوْقِدٌ وَغَسَّالَةُ صُحُونٍ.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Appliances: fridge · oven · cooker · dishwasher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تُوجَدُ خَزَائِنُ بَيْضَاءُ كَثِيرَةٌ،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Many white cupboards (plural of things)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وَفِي الوَسَطِ تُوجَدُ طَاوِلَةٌ مَعَ سِتَّةِ كَرَاسِي.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middle: a table with six chairs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تُحِبُّ لَيْلَى المَطْبَخَ لِأَنَّهُ مُضِيءٌ وَنَظِيفٌ.</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Opinion: bright and clean (kitchen m. → li’annahu)</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38</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Samir or Layla?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main items are in Samir’s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sofa, television and rug</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bed, wardrobe and desk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fridge, cooker and sink</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shelves?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bed</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the wardrobe</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above the desk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in Samir’s room?</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television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lamp</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computer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cupboards?</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white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brown</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around the table?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six</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eight</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Object? Negative? Number? Place?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Find the exact Arabic words.</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38</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three main items are in Samir’s room?</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sofa, television and rug</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bed, wardrobe and desk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fridge, cooker and sink</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فِيهَا سَرِيرٌ وَخِزَانَةٌ وَمَكْتَبٌ.</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are the shelves?</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under the bed</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beside the wardrobe</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above the desk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فَوْقَ المَكْتَبِ تُوجَدُ رُفُوفٌ.</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not in Samir’s room?</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television</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lamp</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computer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لَا يُوجَدُ تِلْفَازٌ.</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are the cupboards?</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white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brown</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خَزَائِنُ بَيْضَاءُ.</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chairs are around the table?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six</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eight</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سِتَّةِ كَرَاسِي.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Object? Negative? Number? Place?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Find the exact Arabic words.</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38</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B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Household redesign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B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Household redesign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Choose furniture and appliances for a room, explain where each item belongs and justify one change using a relative clause or purpose phrase.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chooses one room to redesign (bedroom, study or living room).</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5 items and say where each one goes.</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Justify ONE change with “so that” or “which”.</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students present on the mic; the class votes for the best room.</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items with yūjadu / tūjadu (or fī ghurfatī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Five items + positions (‘alā, bi-jānibi, fawqa).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One justified change with a relative clause (alladhī / allatī) or purpose (li-).</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سَأَضَعُ … بِجَانِبِ …</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 will put … next to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مَكْتَبٌ جَدِيدٌ لِلدِّرَاسَةِ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 new desk for studying</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الخِزَانَةُ الَّتِي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wardrobe which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لِأَنَّ الغُرْفَةَ صَغِيرَةٌ</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because the room is small</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38</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Give a guided room tour</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غُرْفَةِ النَّوْمِ؟</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المَطْبَخِ؟</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يُوجَدُ فِي غُرْفَةِ الجُلُوسِ؟</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غُرْفَتُكَ المُفَضَّلَةُ؟ صِفْهَا وَقُلْ 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غُرْفَةِ النَّوْمِ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يُوجَدُ ___ ، وَتُوجَدُ ___ .</a:t>
            </a:r>
            <a:endParaRPr lang="ar-SA" sz="160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هُنَاكَ ___ وَ ___ كَرَاسِي.</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أُحِبُّ ___ لِأَنَّهَا / لِأَنَّهُ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مَاذَا يُوجَدُ فِي غُرْفَةِ النَّوْمِ؟</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is there in the bedroom?</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غُرْفَةُ النَّوْمِ وَاسِعَةٌ وَهَادِئَةٌ. فِيهَا يُوجَدُ سَرِيرٌ كَبِيرٌ وَمَكْتَبٌ صَغِيرٌ.</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The bedroom is spacious and quiet. In it there is a big bed and a small desk.</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38</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4–5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Label eight items in one room and write four “in my room there is …”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Draw one room, label eight items, then four sentences: fī ghurfatī … (no verb needed).</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Six to eight sentences with yūjadu / tūjadu, two descriptions and one plural.</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Yūjadu / tūjadu for every item, two descriptions, one plural, an opinion.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colours, positions (on, beside, above) and non-human plural agreement (kathīra).</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colours (next lesson preview), positions (on, beside, above) and kathīra with a plural.</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38</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المَكْتَبِ يُوجَدُ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the desk there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 النَّافِذَةِ تُوجَدُ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Beside the window there is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كَرَاسِي كَثِيرَةٌ.</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are many chairs.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هُنَاكَ طَاوِلَةٌ وَأَرْبَعَةُ كَرَاسِي.</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table and four chairs.</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أُحِبُّ ______ لِأَنَّهَا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love … because it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غُرْفَتِي سَرِيرٌ.</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room there is a bed.</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يُوجَدُ 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desk (m.).</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تُوجَدُ خِزَانَةٌ.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a wardrobe (f.).</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لَا يُوجَدُ تِلْفَازٌ.</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There is no television.</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غُرْفَتِي كَبِيرَةٌ / صَغِيرَةٌ.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room is big / small.</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سَرِيرٌ  ·  خِزَانَةٌ  ·  طَاوِلَةٌ  ·  كُرْسِيٌّ / كَرَاسِي  ·  أَرِيكَةٌ  ·  تِلْفَازٌ  ·  مِصْبَاحٌ  ·  مِرْآةٌ  ·  رُفُوفٌ  ·  يُوجَدُ  ·  تُوجَدُ  ·  لِأَنَّ</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38</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غُرْفَةُ النَّوْمِ وَاسِعَةٌ وَمُرِيحَةٌ. فِيهَا يُوجَدُ سَرِيرٌ كَبِيرٌ وَمَكْتَبٌ صَغِيرٌ. تُوجَدُ خِزَانَةٌ بَيْضَاءُ بِجَانِبِ النَّافِذَةِ، وَتُوجَدُ سَجَّادَةٌ بُنِّيَّةٌ عَلَى الأَرْضِيَّةِ. عَلَى المَكْتَبِ يُوجَدُ مِصْبَاحٌ وَحَاسُوبٌ. أُحِبُّ هَذِهِ الغُرْفَةَ لِأَنَّهَا هَادِئَةٌ.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bedroom is spacious and comfortable. In it there is a big bed and a small desk. There is a white wardrobe beside the window, and there is a brown rug on the floor. On the desk there is a lamp and a computer. I love this room because it is quiet.</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يُوجَدُ + masculine item</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تُوجَدُ + feminine item</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position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لِأَنَّهَا</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38</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items.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wrote “in my room there is …”.</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Masculine item → yūjadu; feminine item → tūjadu.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one plural correctly.</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Plural of things → kathīra (f. sing.).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38</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سَرِيرٌ</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رَفٌّ</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حَوْضٌ</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سَرِيرٌ.</a:t>
            </a:r>
            <a:endParaRPr lang="ar-SA" sz="220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42" name="Shape 39"/>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مِرْآةٌ.</a:t>
            </a:r>
            <a:endParaRPr lang="ar-SA" sz="220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تُوجَدُ</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يُوجَدَ</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38</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“bed”.</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سَرِيرٌ</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رَفٌّ</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حَوْضٌ</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means bed.</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سَرِيرٌ.</a:t>
            </a:r>
            <a:endParaRPr lang="ar-SA" sz="2200" dirty="0"/>
          </a:p>
        </p:txBody>
      </p:sp>
      <p:sp>
        <p:nvSpPr>
          <p:cNvPr id="35" name="Shape 32"/>
          <p:cNvSpPr/>
          <p:nvPr/>
        </p:nvSpPr>
        <p:spPr>
          <a:xfrm>
            <a:off x="4459224" y="2532888"/>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a:t>
            </a:r>
            <a:endParaRPr lang="ar-SA" sz="2050" dirty="0"/>
          </a:p>
        </p:txBody>
      </p:sp>
      <p:sp>
        <p:nvSpPr>
          <p:cNvPr id="38" name="Shape 35"/>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9" name="Shape 36"/>
          <p:cNvSpPr/>
          <p:nvPr/>
        </p:nvSpPr>
        <p:spPr>
          <a:xfrm>
            <a:off x="4459224" y="2990088"/>
            <a:ext cx="256032" cy="256032"/>
          </a:xfrm>
          <a:prstGeom prst="ellipse">
            <a:avLst/>
          </a:prstGeom>
          <a:solidFill>
            <a:srgbClr val="2E8B57"/>
          </a:solidFill>
          <a:ln w="12700">
            <a:solidFill>
              <a:srgbClr val="2E8B57"/>
            </a:solidFill>
            <a:prstDash val="solid"/>
          </a:ln>
        </p:spPr>
      </p:sp>
      <p:sp>
        <p:nvSpPr>
          <p:cNvPr id="40" name="Text 37"/>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يُوجَدُ</a:t>
            </a:r>
            <a:endParaRPr lang="ar-SA" sz="2050" dirty="0"/>
          </a:p>
        </p:txBody>
      </p:sp>
      <p:sp>
        <p:nvSpPr>
          <p:cNvPr id="42" name="Shape 39"/>
          <p:cNvSpPr/>
          <p:nvPr/>
        </p:nvSpPr>
        <p:spPr>
          <a:xfrm>
            <a:off x="4459224" y="344728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تُوجَدَ</a:t>
            </a:r>
            <a:endParaRPr lang="ar-SA" sz="2050" dirty="0"/>
          </a:p>
        </p:txBody>
      </p:sp>
      <p:sp>
        <p:nvSpPr>
          <p:cNvPr id="45" name="Text 42"/>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سَرِيرٌ</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6" name="Shape 43"/>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 مِرْآةٌ.</a:t>
            </a:r>
            <a:endParaRPr lang="ar-SA" sz="220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تُوجَدُ</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يُوجَدَ</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مِرْآةٌ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38</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TB-L05 · Furniture</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TB-L06: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B · Personal and Social Life · TB-L05</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TB-L06 · Colours and Accurate Description</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أَحْمَرُ</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red</a:t>
            </a:r>
            <a:pPr indent="0" marL="0">
              <a:buNone/>
            </a:pPr>
            <a:r>
              <a:rPr lang="en-US" sz="1000" i="1" dirty="0">
                <a:solidFill>
                  <a:srgbClr val="5A6472"/>
                </a:solidFill>
                <a:latin typeface="Calibri" pitchFamily="34" charset="0"/>
                <a:ea typeface="Calibri" pitchFamily="34" charset="-122"/>
                <a:cs typeface="Calibri" pitchFamily="34" charset="-120"/>
              </a:rPr>
              <a:t>  f. حَمْرَاءُ</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أَزْرَقُ</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blue</a:t>
            </a:r>
            <a:pPr indent="0" marL="0">
              <a:buNone/>
            </a:pPr>
            <a:r>
              <a:rPr lang="en-US" sz="1000" i="1" dirty="0">
                <a:solidFill>
                  <a:srgbClr val="5A6472"/>
                </a:solidFill>
                <a:latin typeface="Calibri" pitchFamily="34" charset="0"/>
                <a:ea typeface="Calibri" pitchFamily="34" charset="-122"/>
                <a:cs typeface="Calibri" pitchFamily="34" charset="-120"/>
              </a:rPr>
              <a:t>  f. زَرْقَاءُ</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أَخْضَرُ</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green</a:t>
            </a:r>
            <a:pPr indent="0" marL="0">
              <a:buNone/>
            </a:pPr>
            <a:r>
              <a:rPr lang="en-US" sz="1000" i="1" dirty="0">
                <a:solidFill>
                  <a:srgbClr val="5A6472"/>
                </a:solidFill>
                <a:latin typeface="Calibri" pitchFamily="34" charset="0"/>
                <a:ea typeface="Calibri" pitchFamily="34" charset="-122"/>
                <a:cs typeface="Calibri" pitchFamily="34" charset="-120"/>
              </a:rPr>
              <a:t>  f. خَضْرَاءُ</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أَبْيَضُ</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white</a:t>
            </a:r>
            <a:pPr indent="0" marL="0">
              <a:buNone/>
            </a:pPr>
            <a:r>
              <a:rPr lang="en-US" sz="1000" i="1" dirty="0">
                <a:solidFill>
                  <a:srgbClr val="5A6472"/>
                </a:solidFill>
                <a:latin typeface="Calibri" pitchFamily="34" charset="0"/>
                <a:ea typeface="Calibri" pitchFamily="34" charset="-122"/>
                <a:cs typeface="Calibri" pitchFamily="34" charset="-120"/>
              </a:rPr>
              <a:t>  f. بَيْضَاءُ</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أَسْوَدُ</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black</a:t>
            </a:r>
            <a:pPr indent="0" marL="0">
              <a:buNone/>
            </a:pPr>
            <a:r>
              <a:rPr lang="en-US" sz="1000" i="1" dirty="0">
                <a:solidFill>
                  <a:srgbClr val="5A6472"/>
                </a:solidFill>
                <a:latin typeface="Calibri" pitchFamily="34" charset="0"/>
                <a:ea typeface="Calibri" pitchFamily="34" charset="-122"/>
                <a:cs typeface="Calibri" pitchFamily="34" charset="-120"/>
              </a:rPr>
              <a:t>  f. سَوْدَاءُ</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colour is your favourite thing at home? Write it in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 لَوْنُكَ المُفَضَّلُ؟</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TB-L05: the Furniture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describe one room in 6–8 sentences with yūjadu / tūjadu.</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Redesign a room: label eight items and write eight sentences with positions and a plural.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38</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TB-L05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300" b="1" dirty="0">
                <a:solidFill>
                  <a:srgbClr val="FFFFFF"/>
                </a:solidFill>
                <a:latin typeface="Cambria" pitchFamily="34" charset="0"/>
                <a:ea typeface="Cambria" pitchFamily="34" charset="-122"/>
                <a:cs typeface="Cambria" pitchFamily="34" charset="-120"/>
              </a:rPr>
              <a:t>TB-L06 · Colours and Accurate Description</a:t>
            </a:r>
            <a:endParaRPr lang="en-US" sz="23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الأَلْوَانُ وَالوَصْفُ الدَّقِيقُ</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look at the item — yūjadu (m.) · tūjadu (f.).</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38</Slides>
  <Notes>38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38</vt:i4>
      </vt:variant>
    </vt:vector>
  </HeadingPairs>
  <TitlesOfParts>
    <vt:vector size="4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TB-L05 · Furniture, Furnishings and Appliances</dc:title>
  <dc:subject>PptxGenJS Presentation</dc:subject>
  <dc:creator>Al Madina Online School · Arabic Department</dc:creator>
  <cp:lastModifiedBy>Al Madina Online School · Arabic Department</cp:lastModifiedBy>
  <cp:revision>1</cp:revision>
  <dcterms:created xsi:type="dcterms:W3CDTF">2026-09-27T13:01:26Z</dcterms:created>
  <dcterms:modified xsi:type="dcterms:W3CDTF">2026-09-27T13:01:26Z</dcterms:modified>
</cp:coreProperties>
</file>