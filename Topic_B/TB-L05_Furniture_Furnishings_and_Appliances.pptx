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B · TB-L05 — Furniture, Furnishings and Appliances. Website: Advanced Topics › Topic B (Personal and Social Life) › Lesson 5.
The website builds this lesson on the F3-L04 lesson engine, with the Topic focus “Explain where household items are, what they are used for and what needs changing.” (grammar: Idāfa; attached pronouns; relative clauses; skills: Listening · Reading) and the application challenge “Household redesign”.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Topic B My Family &amp; Home › Lesson 4 (TB-L05). Website sections used: the eight-question room bridge, the core furniture bank (12 with plurals) and its 12-question check, appliances and bathroom items with the wider recognition bank (12-question check), the room sets and 12-question room sorter, يُوجَدُ / تُوجَدُ with non-human plurals and the 14-question grammar laboratory, the bedroom redesign, the Furniture Mission (14), Mariam’s three rooms (listening, 10), Samir’s bedroom and Layla’s kitchen (reading, 12), the room-tour studio (4 prompts), the 6–8-sentence writing task and the 16-question checkpoint. Picture match: website visual game “Furniture and Household Items”.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One decision all lesson: is the ITEM masculine or feminine? → يُوجَدُ (masc.) or تُوجَدُ (fem.). The room is only the place (website: “look at the item, not the room”).
• Core: 8 items + “in my room there is …” (the simpler verb-free pattern فِي غُرْفَتِي سَرِيرٌ is also correct — website). Develop: يُوجَدُ / تُوجَدُ and one plural. Stretch: colours, positions and non-human plural agreement (كَرَاسِي كَثِيرَةٌ).
• Privacy (website): use your own room only when comfortable — the model room or an invented room is always fine.
• Urdu bridge: کرسی ← كُرْسِيٌّ، میز (Persian) / طَاوِلَةٌ، الماری (Portuguese) / خِزَانَةٌ (Urdu خزانہ = treasury!), آئینہ (Persian) / مِرْآةٌ، قالین (Turkish) / سَجَّادَةٌ (Urdu سجادہ = prayer mat).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furniture words prepared at home at the end of TB-L04. Questions 3–5 are the website “room bridge” (room-name iḍāfa, room + adjective, in my room).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Look at the ITEM, not the room: masculine item → yūjadu; feminine item → tūjadu.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speaking checklist as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کرسی is the same word. مِصْبَاحٌ is in Surat an-Nūr (24:35: الْمِصْبَاحُ فِي زُجَاجَةٍ) — many students know it. CAREFUL: خزانہ in Urdu is a treasury and سجادہ is a prayer mat — in Arabic خِزَانَةٌ is a wardrobe / cupboard and سَجَّادَةٌ any rug. آئینہ، میز and الماری are not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FURNITURE 1 (website “Core furniture bank”). Every card: the plural and the right “there is”. The tag is the gender — that is today’s decision. Chant: sarīr – asirra – yūjadu sarīr.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CORE FURNITURE 2. مِرْآةٌ is feminine (ة); مِصْبَاحٌ and رَفٌّ are masculine. Website high-value plurals: كَرَاسِي، سَتَائِرُ، مَصَابِيحُ، رُفُوفٌ، مَرَايَا.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APPLIANCES (FLEX — they are the focus of F3-L06, website). Website wider recognition bank: فُرْنٌ (oven), غَسَّالَةُ صُحُونٍ (dishwasher), مُجَمِّدٌ (freezer), غَلَّايَةٌ (kettle), مِكْوَاةٌ (iron), مُكَيِّفٌ (air conditioner), مِرْوَحَةٌ (fan), حَاسُوبٌ (computer), سَاعَةٌ (clock), وِسَادَةٌ (pillow), بَطَّانِيَّةٌ (blanket).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5 “Use يُوجَدُ and تُوجَدُ”: يُوجَدُ before a masculine singular; تُوجَدُ before a feminine singular; “look at the item, not the room”.
Row 4 = the website “useful simpler alternative”: فِي غُرْفَتِي سَرِيرٌ وَخِزَانَةٌ — the verb can be omitted. Core students may always use this pattern.
Quick-fire: say an item; students type ي or 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“High-value plurals” (سَرِيرٌ ← أَسِرَّةٌ · كُرْسِيٌّ ← كَرَاسِي · طَاوِلَةٌ ← طَاوِلَاتٌ · خِزَانَةٌ ← خَزَائِنُ · سِتَارَةٌ ← سَتَائِرُ · مِصْبَاحٌ ← مَصَابِيحُ · رَفٌّ ← رُفُوفٌ · مِرْآةٌ ← مَرَايَا · مَكْتَبٌ ← مَكَاتِبُ) and “Non-human plurals · Develop” (فِي الغُرْفَةِ تُوجَدُ كَرَاسِي كَثِيرَةٌ).
Positions from the website model: عَلَى المَكْتَبِ (on the desk), بِجَانِبِ النَّافِذَةِ (beside the window), فَوْقَ المَكْتَبِ (above the desk), عَلَى الأَرْضِيَّةِ (on the floor). Colours are next lesson (TB-L06).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“Fourteen-question grammar laboratory” questions 1, 2, 5 and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description” of the bedroom scene (colours left out until TB-L06). Think aloud before every verb: “the ITEM is …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Furniture and Household Items”)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ثَلَّاجَةٌ? (ة → feminine). Other cards for homework: هٰذَا كُرْسِيٌّ، هٰذِهِ مِرْآةٌ، هٰذِهِ غَسَّالَةٌ.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Furniture and Household Items”)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ثَلَّاجَةٌ? (ة → feminine). Other cards for homework: هٰذَا كُرْسِيٌّ، هٰذِهِ مِرْآةٌ، هٰذِهِ غَسَّالَةٌ.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Furniture Mission cards (room choice, masculine, feminine, plural, repair).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word decided it — the item or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Listen 1: just listen. Listen 2: note answers. Then chat the letters.
Support: after the second listening, show the read-along slide (Arabic + English, line by line) for Core students.
SCRIPT (read aloud):
أَهْلًا! أَنَا مَرْيَمُ، وَسَأَصِفُ ثَلَاثَ غُرَفٍ فِي بَيْتِنَا. فِي غُرْفَةِ نَوْمِي يُوجَدُ سَرِيرٌ أَبْيَضُ وَمَكْتَبٌ بُنِّيٌّ، وَتُوجَدُ خِزَانَةٌ كَبِيرَةٌ وَمِرْآةٌ صَغِيرَةٌ. عَلَى المَكْتَبِ يُوجَدُ حَاسُوبٌ وَمِصْبَاحٌ. فِي المَطْبَخِ تُوجَدُ ثَلَّاجَةٌ بَيْضَاءُ وَغَسَّالَةٌ، وَيُوجَدُ مَوْقِدٌ وَحَوْضٌ. هُنَاكَ أَيْضًا طَاوِلَةٌ وَأَرْبَعَةُ كَرَاسِي. أَمَّا غُرْفَةُ الجُلُوسِ فَفِيهَا أَرِيكَةٌ زَرْقَاءُ وَتِلْفَازٌ كَبِيرٌ وَسَجَّادَةٌ جَمِيلَةٌ. أُحِبُّ غُرْفَةَ الجُلُوسِ لِأَنَّهَا وَاسِعَةٌ وَمُرِيحَةٌ.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A (website, complete). Note لَا يُوجَدُ = there is no (website reading: “locate objects, negatives, quantities, places and opinions”). تُوجَدُ رُفُوفٌ = a plural of things with the feminine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B (website, complete). Stretch: why لِأَنَّهُ here but لِأَنَّهَا in Text A? (مَطْبَخٌ is masculine, غُرْفَةٌ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4, 5 (Samir) and 9, 10 (Layla — Core may skip).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B APPLICATION CHALLENGE (3 min — it takes the speaking-rehearsal slot; the website speaking slide after it is FLEX) — from the website Topic page: “Choose furniture and appliances for a room, explain where each item belongs and justify one change using a relative clause or purpose phrase.”
Website Topic B challenge “Household redesign” (iḍāfa, attached pronouns and relative clauses). Model (Stretch): سَأَضَعُ المَكْتَبَ بِجَانِبِ النَّافِذَةِ لِلدِّرَاسَةِ، وَسَأُغَيِّرُ الخِزَانَةَ الَّتِي فِي الزَّاوِيَةِ لِأَنَّهَا كَبِيرَةٌ جِدًّا.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ROOM-TOUR STUDIO: name the room, list at least six items, describe colours or size, and give an opinion with a reason. Room cards (website):
• Bedroom: bed · wardrobe · desk · mirror · lamp · rug
• Kitchen: fridge · cooker · oven · sink · table · chairs
• Living room: sofa · television · rug · curtains · lamps · shelves
• Bathroom: sink · shower · mirror · cupboard · washing machine
Website checklist (listener ticks 1–6): room named · six objects · يُوجَدُ / تُوجَدُ · colours or size · reason with لِأَنَّ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Label eight items in one room and write four “in my room there is …” sentences. · Develop — Six to eight sentences with yūjadu / tūjadu, two descriptions and one plural. · Stretch — Add colours, positions (on, beside, above) and non-human plural agreement (kathīra).
Website writing task (Stretch): Website writing task: describe one room in 6–8 connected sentences — at least eight objects, two descriptions, one plural and an opinion with a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model description (bedroom scene). Stretch: find the two colours (بَيْضَاءُ، بُنِّيَّةٌ) — next lesson.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(TB-L06 · Colours and Accurate Description) will spend class time USING this language, so students prepare it tonight — short, simple, easy to access (school guidance: “Simple, Short, Interesting, Relevant, Easy to access”). The five words come from the website TB-L06 colour bank (masculine and feminine forms).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TB-L05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cs typeface="Amiri" pitchFamily="2" charset="-78"/>
              </a:rPr>
              <a:t>Furniture, Furnishings and Appliances</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الأَثَاثُ وَالمُفْرُوشَاتُ وَالأَجْهِزَةُ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Explain where household items are, what they are used for and what needs changing.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TB-L05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Furniture and appliances, then “there is” for masculine and feminine items.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Furniture Mission, listen to Mariam, read two rooms.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TB-L06.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سَرِيرٌ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chair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table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خِزَانَةٌ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wardrobe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sofa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mirror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iḍāfa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الغُرْفَةُ الجُلُوسِ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الجُلُوسُ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الجُلُوسِ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غُرْفَةٌ ___.</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وَاسِعٌ</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وَاسِعَاتٌ</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وَاسِعَةٌ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my room”.</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غُرْفَتِي</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غُرْفَتِهَا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غُرْفَتِي</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سَرِيرٌ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chair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bed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table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(TB-L04).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خِزَانَةٌ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wardrobe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sofa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mirror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(TB-L04).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iḍāfa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الغُرْفَةُ الجُلُوسِ</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غُرْفَةٌ الجُلُوسُ</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غُرْفَةُ الجُلُوسِ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noun has no definite article.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غُرْفَةٌ ___.</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وَاسِعٌ</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وَاسِعَاتٌ</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وَاسِعَةٌ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the adjective is feminine.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my room”.</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غُرْفَتِي</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غُرْفَتِهَا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غُرْفَتِي</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marks location and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means my.</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Look at the ITEM, not the room: masculine item → yūjadu; feminine item → tūjadu.</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يُوجَدُ</a:t>
            </a:r>
            <a:pPr rtl="1" algn="ctr" indent="0" marL="0">
              <a:buNone/>
            </a:pPr>
            <a:r>
              <a:rPr lang="ar-SA" altLang="en-US" sz="2400" b="1" dirty="0">
                <a:solidFill>
                  <a:srgbClr val="1B3B6F"/>
                </a:solidFill>
                <a:latin typeface="Amiri" pitchFamily="2" charset="-78"/>
                <a:ea typeface="Amiri" pitchFamily="2" charset="-78"/>
                <a:cs typeface="Amiri" pitchFamily="2" charset="-78"/>
              </a:rPr>
              <a:t> سَرِيرٌ · </a:t>
            </a:r>
            <a:pPr rtl="1" algn="ctr" indent="0" marL="0">
              <a:buNone/>
            </a:pPr>
            <a:r>
              <a:rPr lang="ar-SA" altLang="en-US" sz="2400" b="1" dirty="0">
                <a:solidFill>
                  <a:srgbClr val="D6336C"/>
                </a:solidFill>
                <a:latin typeface="Amiri" pitchFamily="2" charset="-78"/>
                <a:ea typeface="Amiri" pitchFamily="2" charset="-78"/>
                <a:cs typeface="Amiri" pitchFamily="2" charset="-78"/>
              </a:rPr>
              <a:t>تُوجَدُ</a:t>
            </a:r>
            <a:pPr rtl="1" algn="ctr" indent="0" marL="0">
              <a:buNone/>
            </a:pPr>
            <a:r>
              <a:rPr lang="ar-SA" altLang="en-US" sz="2400" b="1" dirty="0">
                <a:solidFill>
                  <a:srgbClr val="1B3B6F"/>
                </a:solidFill>
                <a:latin typeface="Amiri" pitchFamily="2" charset="-78"/>
                <a:ea typeface="Amiri" pitchFamily="2" charset="-78"/>
                <a:cs typeface="Amiri" pitchFamily="2" charset="-78"/>
              </a:rPr>
              <a:t> خِزَانَةٌ</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full core furniture and appliance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Place items in appropriate rooms.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يُوجَدُ / تُوجَدُ</a:t>
            </a:r>
            <a:pPr algn="l" indent="0" marL="0">
              <a:buNone/>
            </a:pPr>
            <a:r>
              <a:rPr lang="en-US" sz="1300" dirty="0">
                <a:solidFill>
                  <a:srgbClr val="1F2A37"/>
                </a:solidFill>
                <a:latin typeface="Calibri" pitchFamily="34" charset="0"/>
                <a:cs typeface="Amiri" pitchFamily="2" charset="-78"/>
              </a:rPr>
              <a:t>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one room in 6–8 connected sentences.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items of furniture.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is in my room.</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choose yūjadu or tūjadu.</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two useful plurals.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colours and positions.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make a plural of things agree (kathīra).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12 furniture words and 6 appliances from the website, each with its plural. Core: bed, wardrobe, table, chair, sofa, television, lamp, mirror.</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Core furniture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Appliances and bathroom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Recognition bank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كُرْسِيٌّ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‎کرسی‎ </a:t>
            </a:r>
            <a:pPr indent="0" marL="0">
              <a:buNone/>
            </a:pPr>
            <a:r>
              <a:rPr lang="en-US" sz="950" b="1" dirty="0">
                <a:solidFill>
                  <a:srgbClr val="2E8B57"/>
                </a:solidFill>
                <a:latin typeface="Calibri" pitchFamily="34" charset="0"/>
                <a:cs typeface="Amiri" pitchFamily="2" charset="-78"/>
              </a:rPr>
              <a:t> kursī · chair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خِزَانَةٌ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‎خزانہ‎ </a:t>
            </a:r>
            <a:pPr indent="0" marL="0">
              <a:buNone/>
            </a:pPr>
            <a:r>
              <a:rPr lang="en-US" sz="950" b="1" dirty="0">
                <a:solidFill>
                  <a:srgbClr val="2E8B57"/>
                </a:solidFill>
                <a:latin typeface="Calibri" pitchFamily="34" charset="0"/>
                <a:cs typeface="Amiri" pitchFamily="2" charset="-78"/>
              </a:rPr>
              <a:t> khizāna · Arabic: wardrobe · Urdu: treasury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سَجَّادَةٌ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‎سجادہ‎ </a:t>
            </a:r>
            <a:pPr indent="0" marL="0">
              <a:buNone/>
            </a:pPr>
            <a:r>
              <a:rPr lang="en-US" sz="950" b="1" dirty="0">
                <a:solidFill>
                  <a:srgbClr val="2E8B57"/>
                </a:solidFill>
                <a:latin typeface="Calibri" pitchFamily="34" charset="0"/>
                <a:cs typeface="Amiri" pitchFamily="2" charset="-78"/>
              </a:rPr>
              <a:t> sajjāda · Arabic: rug · Urdu: prayer mat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مِصْبَاحٌ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‎مصباح‎ </a:t>
            </a:r>
            <a:pPr indent="0" marL="0">
              <a:buNone/>
            </a:pPr>
            <a:r>
              <a:rPr lang="en-US" sz="950" b="1" dirty="0">
                <a:solidFill>
                  <a:srgbClr val="2E8B57"/>
                </a:solidFill>
                <a:latin typeface="Calibri" pitchFamily="34" charset="0"/>
                <a:cs typeface="Amiri" pitchFamily="2" charset="-78"/>
              </a:rPr>
              <a:t> miṣbāḥ · lamp (Surat an-Nur!)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مِرْآةٌ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‎آئینہ‎ </a:t>
            </a:r>
            <a:pPr indent="0" marL="0">
              <a:buNone/>
            </a:pPr>
            <a:r>
              <a:rPr lang="en-US" sz="950" b="1" dirty="0">
                <a:solidFill>
                  <a:srgbClr val="2E8B57"/>
                </a:solidFill>
                <a:latin typeface="Calibri" pitchFamily="34" charset="0"/>
                <a:cs typeface="Amiri" pitchFamily="2" charset="-78"/>
              </a:rPr>
              <a:t> mirʾā · mirror (not cognate)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CORE FURNITURE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Bed, wardrobe, table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سَرِيرٌ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bed</a:t>
            </a:r>
            <a:endParaRPr lang="en-US" sz="1350" dirty="0"/>
          </a:p>
          <a:p>
            <a:pPr indent="0" marL="0">
              <a:buNone/>
            </a:pPr>
            <a:r>
              <a:rPr lang="en-US" sz="1100" i="1" dirty="0">
                <a:solidFill>
                  <a:srgbClr val="5A6472"/>
                </a:solidFill>
                <a:latin typeface="Calibri" pitchFamily="34" charset="0"/>
                <a:cs typeface="Amiri" pitchFamily="2" charset="-78"/>
              </a:rPr>
              <a:t>sa-rīr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أَسِرَّةٌ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خِزَانَةٌ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wardrobe / cupboard</a:t>
            </a:r>
            <a:endParaRPr lang="en-US" sz="1350" dirty="0"/>
          </a:p>
          <a:p>
            <a:pPr indent="0" marL="0">
              <a:buNone/>
            </a:pPr>
            <a:r>
              <a:rPr lang="en-US" sz="1100" i="1" dirty="0">
                <a:solidFill>
                  <a:srgbClr val="5A6472"/>
                </a:solidFill>
                <a:latin typeface="Calibri" pitchFamily="34" charset="0"/>
                <a:cs typeface="Amiri" pitchFamily="2" charset="-78"/>
              </a:rPr>
              <a:t>khi-zā-na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خَزَائِنُ</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طَاوِلَةٌ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table</a:t>
            </a:r>
            <a:endParaRPr lang="en-US" sz="1350" dirty="0"/>
          </a:p>
          <a:p>
            <a:pPr indent="0" marL="0">
              <a:buNone/>
            </a:pPr>
            <a:r>
              <a:rPr lang="en-US" sz="1100" i="1" dirty="0">
                <a:solidFill>
                  <a:srgbClr val="5A6472"/>
                </a:solidFill>
                <a:latin typeface="Calibri" pitchFamily="34" charset="0"/>
                <a:cs typeface="Amiri" pitchFamily="2" charset="-78"/>
              </a:rPr>
              <a:t>ṭā-wi-la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طَاوِلَاتٌ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كُرْسِيٌّ</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chair</a:t>
            </a:r>
            <a:endParaRPr lang="en-US" sz="1350" dirty="0"/>
          </a:p>
          <a:p>
            <a:pPr indent="0" marL="0">
              <a:buNone/>
            </a:pPr>
            <a:r>
              <a:rPr lang="en-US" sz="1100" i="1" dirty="0">
                <a:solidFill>
                  <a:srgbClr val="5A6472"/>
                </a:solidFill>
                <a:latin typeface="Calibri" pitchFamily="34" charset="0"/>
                <a:cs typeface="Amiri" pitchFamily="2" charset="-78"/>
              </a:rPr>
              <a:t>kur-siyy</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كَرَاسِي</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أَرِيكَةٌ / كَنَبَةٌ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sofa / couch</a:t>
            </a:r>
            <a:endParaRPr lang="en-US" sz="1350" dirty="0"/>
          </a:p>
          <a:p>
            <a:pPr indent="0" marL="0">
              <a:buNone/>
            </a:pPr>
            <a:r>
              <a:rPr lang="en-US" sz="1100" i="1" dirty="0">
                <a:solidFill>
                  <a:srgbClr val="5A6472"/>
                </a:solidFill>
                <a:latin typeface="Calibri" pitchFamily="34" charset="0"/>
                <a:cs typeface="Amiri" pitchFamily="2" charset="-78"/>
              </a:rPr>
              <a:t>a-rī-ka / ka-na-ba</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أَرَائِكُ</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تِلْفَازٌ</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television</a:t>
            </a:r>
            <a:endParaRPr lang="en-US" sz="1350" dirty="0"/>
          </a:p>
          <a:p>
            <a:pPr indent="0" marL="0">
              <a:buNone/>
            </a:pPr>
            <a:r>
              <a:rPr lang="en-US" sz="1100" i="1" dirty="0">
                <a:solidFill>
                  <a:srgbClr val="5A6472"/>
                </a:solidFill>
                <a:latin typeface="Calibri" pitchFamily="34" charset="0"/>
                <a:cs typeface="Amiri" pitchFamily="2" charset="-78"/>
              </a:rPr>
              <a:t>til-fāz</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تِلْفَازَاتٌ</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104" name="Text 10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CORE FURNITURE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Rug, curtain, lamp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سَجَّادَةٌ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rug / carpet</a:t>
            </a:r>
            <a:endParaRPr lang="en-US" sz="1350" dirty="0"/>
          </a:p>
          <a:p>
            <a:pPr indent="0" marL="0">
              <a:buNone/>
            </a:pPr>
            <a:r>
              <a:rPr lang="en-US" sz="1100" i="1" dirty="0">
                <a:solidFill>
                  <a:srgbClr val="5A6472"/>
                </a:solidFill>
                <a:latin typeface="Calibri" pitchFamily="34" charset="0"/>
                <a:cs typeface="Amiri" pitchFamily="2" charset="-78"/>
              </a:rPr>
              <a:t>saj-jā-da</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سَجَّادَاتٌ</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27" name="Text 24"/>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سِتَارَةٌ</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curtain</a:t>
            </a:r>
            <a:endParaRPr lang="en-US" sz="1350" dirty="0"/>
          </a:p>
          <a:p>
            <a:pPr indent="0" marL="0">
              <a:buNone/>
            </a:pPr>
            <a:r>
              <a:rPr lang="en-US" sz="1100" i="1" dirty="0">
                <a:solidFill>
                  <a:srgbClr val="5A6472"/>
                </a:solidFill>
                <a:latin typeface="Calibri" pitchFamily="34" charset="0"/>
                <a:cs typeface="Amiri" pitchFamily="2" charset="-78"/>
              </a:rPr>
              <a:t>si-tā-ra</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7" name="Text 34"/>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سَتَائِرُ</a:t>
            </a:r>
            <a:endParaRPr lang="ar-SA" sz="150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40" name="Text 37"/>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4" name="Shape 41"/>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6" name="Shape 4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مِصْبَاحٌ</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lamp</a:t>
            </a:r>
            <a:endParaRPr lang="en-US" sz="1350" dirty="0"/>
          </a:p>
          <a:p>
            <a:pPr indent="0" marL="0">
              <a:buNone/>
            </a:pPr>
            <a:r>
              <a:rPr lang="en-US" sz="1100" i="1" dirty="0">
                <a:solidFill>
                  <a:srgbClr val="5A6472"/>
                </a:solidFill>
                <a:latin typeface="Calibri" pitchFamily="34" charset="0"/>
                <a:cs typeface="Amiri" pitchFamily="2" charset="-78"/>
              </a:rPr>
              <a:t>miṣ-bāḥ</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مَصَابِيحُ</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55" name="Text 52"/>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9" name="Shape 5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رَفٌّ</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shelf</a:t>
            </a:r>
            <a:endParaRPr lang="en-US" sz="1350" dirty="0"/>
          </a:p>
          <a:p>
            <a:pPr indent="0" marL="0">
              <a:buNone/>
            </a:pPr>
            <a:r>
              <a:rPr lang="en-US" sz="1100" i="1" dirty="0">
                <a:solidFill>
                  <a:srgbClr val="5A6472"/>
                </a:solidFill>
                <a:latin typeface="Calibri" pitchFamily="34" charset="0"/>
                <a:cs typeface="Amiri" pitchFamily="2" charset="-78"/>
              </a:rPr>
              <a:t>raff</a:t>
            </a:r>
            <a:endParaRPr lang="en-US" sz="1350" dirty="0"/>
          </a:p>
        </p:txBody>
      </p:sp>
      <p:sp>
        <p:nvSpPr>
          <p:cNvPr id="63" name="Shape 6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رُفُوفٌ</a:t>
            </a:r>
            <a:endParaRPr lang="ar-SA" sz="1500" dirty="0"/>
          </a:p>
        </p:txBody>
      </p:sp>
      <p:sp>
        <p:nvSpPr>
          <p:cNvPr id="66" name="Shape 6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68" name="Text 65"/>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74" name="Text 7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مَكْتَبٌ</a:t>
            </a:r>
            <a:endParaRPr lang="ar-SA" sz="3000" dirty="0"/>
          </a:p>
        </p:txBody>
      </p:sp>
      <p:sp>
        <p:nvSpPr>
          <p:cNvPr id="75" name="Text 7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desk / study</a:t>
            </a:r>
            <a:endParaRPr lang="en-US" sz="1350" dirty="0"/>
          </a:p>
          <a:p>
            <a:pPr indent="0" marL="0">
              <a:buNone/>
            </a:pPr>
            <a:r>
              <a:rPr lang="en-US" sz="1100" i="1" dirty="0">
                <a:solidFill>
                  <a:srgbClr val="5A6472"/>
                </a:solidFill>
                <a:latin typeface="Calibri" pitchFamily="34" charset="0"/>
                <a:cs typeface="Amiri" pitchFamily="2" charset="-78"/>
              </a:rPr>
              <a:t>mak-tab</a:t>
            </a:r>
            <a:endParaRPr lang="en-US" sz="1350" dirty="0"/>
          </a:p>
        </p:txBody>
      </p:sp>
      <p:sp>
        <p:nvSpPr>
          <p:cNvPr id="76" name="Shape 7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مَكَاتِبُ</a:t>
            </a:r>
            <a:endParaRPr lang="ar-SA" sz="1500" dirty="0"/>
          </a:p>
        </p:txBody>
      </p:sp>
      <p:sp>
        <p:nvSpPr>
          <p:cNvPr id="79" name="Shape 7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81" name="Text 78"/>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82" name="Shape 7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566928" y="4261104"/>
            <a:ext cx="310896" cy="310896"/>
          </a:xfrm>
          <a:prstGeom prst="ellipse">
            <a:avLst/>
          </a:prstGeom>
          <a:solidFill>
            <a:srgbClr val="F4F1EA"/>
          </a:solidFill>
          <a:ln w="12700">
            <a:solidFill>
              <a:srgbClr val="F4F1EA"/>
            </a:solidFill>
            <a:prstDash val="solid"/>
          </a:ln>
        </p:spPr>
      </p:sp>
      <p:sp>
        <p:nvSpPr>
          <p:cNvPr id="84" name="Text 8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5" name="Shape 82"/>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6" name="Text 83"/>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7" name="Shape 8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8" name="Text 8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9" name="Text 8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مِرْآةٌ</a:t>
            </a:r>
            <a:endParaRPr lang="ar-SA" sz="3000" dirty="0"/>
          </a:p>
        </p:txBody>
      </p:sp>
      <p:sp>
        <p:nvSpPr>
          <p:cNvPr id="90" name="Text 8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mirror</a:t>
            </a:r>
            <a:endParaRPr lang="en-US" sz="1350" dirty="0"/>
          </a:p>
          <a:p>
            <a:pPr indent="0" marL="0">
              <a:buNone/>
            </a:pPr>
            <a:r>
              <a:rPr lang="en-US" sz="1100" i="1" dirty="0">
                <a:solidFill>
                  <a:srgbClr val="5A6472"/>
                </a:solidFill>
                <a:latin typeface="Calibri" pitchFamily="34" charset="0"/>
                <a:cs typeface="Amiri" pitchFamily="2" charset="-78"/>
              </a:rPr>
              <a:t>mir-ʾā</a:t>
            </a:r>
            <a:endParaRPr lang="en-US" sz="1350" dirty="0"/>
          </a:p>
        </p:txBody>
      </p:sp>
      <p:sp>
        <p:nvSpPr>
          <p:cNvPr id="91" name="Shape 88"/>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3" name="Text 90"/>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مَرَايَا</a:t>
            </a:r>
            <a:endParaRPr lang="ar-SA" sz="1500" dirty="0"/>
          </a:p>
        </p:txBody>
      </p:sp>
      <p:sp>
        <p:nvSpPr>
          <p:cNvPr id="94" name="Shape 91"/>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96" name="Text 93"/>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2 · APPLIANCES AND BATHROOM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Fridge, cooker, shower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الأَجْهِزَةُ المَنْزِلِيَّةُ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ثَلَّاجَةٌ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fridge</a:t>
            </a:r>
            <a:endParaRPr lang="en-US" sz="1350" dirty="0"/>
          </a:p>
          <a:p>
            <a:pPr indent="0" marL="0">
              <a:buNone/>
            </a:pPr>
            <a:r>
              <a:rPr lang="en-US" sz="1100" i="1" dirty="0">
                <a:solidFill>
                  <a:srgbClr val="5A6472"/>
                </a:solidFill>
                <a:latin typeface="Calibri" pitchFamily="34" charset="0"/>
                <a:cs typeface="Amiri" pitchFamily="2" charset="-78"/>
              </a:rPr>
              <a:t>thal-lā-ja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ثَلَّاجَاتٌ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مَوْقِدٌ</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cooker / stove</a:t>
            </a:r>
            <a:endParaRPr lang="en-US" sz="1350" dirty="0"/>
          </a:p>
          <a:p>
            <a:pPr indent="0" marL="0">
              <a:buNone/>
            </a:pPr>
            <a:r>
              <a:rPr lang="en-US" sz="1100" i="1" dirty="0">
                <a:solidFill>
                  <a:srgbClr val="5A6472"/>
                </a:solidFill>
                <a:latin typeface="Calibri" pitchFamily="34" charset="0"/>
                <a:cs typeface="Amiri" pitchFamily="2" charset="-78"/>
              </a:rPr>
              <a:t>maw-qid</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مَوَاقِدُ</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42" name="Text 39"/>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غَسَّالَةٌ</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washing machine</a:t>
            </a:r>
            <a:endParaRPr lang="en-US" sz="1350" dirty="0"/>
          </a:p>
          <a:p>
            <a:pPr indent="0" marL="0">
              <a:buNone/>
            </a:pPr>
            <a:r>
              <a:rPr lang="en-US" sz="1100" i="1" dirty="0">
                <a:solidFill>
                  <a:srgbClr val="5A6472"/>
                </a:solidFill>
                <a:latin typeface="Calibri" pitchFamily="34" charset="0"/>
                <a:cs typeface="Amiri" pitchFamily="2" charset="-78"/>
              </a:rPr>
              <a:t>ghas-sā-la</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غَسَّالَاتٌ</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55" name="Text 52"/>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9" name="Shape 5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مِكْنَسَةٌ كَهْرَبَائِيَّةٌ</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vacuum cleaner</a:t>
            </a:r>
            <a:endParaRPr lang="en-US" sz="1350" dirty="0"/>
          </a:p>
          <a:p>
            <a:pPr indent="0" marL="0">
              <a:buNone/>
            </a:pPr>
            <a:r>
              <a:rPr lang="en-US" sz="1100" i="1" dirty="0">
                <a:solidFill>
                  <a:srgbClr val="5A6472"/>
                </a:solidFill>
                <a:latin typeface="Calibri" pitchFamily="34" charset="0"/>
                <a:cs typeface="Amiri" pitchFamily="2" charset="-78"/>
              </a:rPr>
              <a:t>mik-na-sa kah-ra-bā-ʾiy-ya</a:t>
            </a:r>
            <a:endParaRPr lang="en-US"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حَوْضٌ</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sink / basin</a:t>
            </a:r>
            <a:endParaRPr lang="en-US" sz="1350" dirty="0"/>
          </a:p>
          <a:p>
            <a:pPr indent="0" marL="0">
              <a:buNone/>
            </a:pPr>
            <a:r>
              <a:rPr lang="en-US" sz="1100" i="1" dirty="0">
                <a:solidFill>
                  <a:srgbClr val="5A6472"/>
                </a:solidFill>
                <a:latin typeface="Calibri" pitchFamily="34" charset="0"/>
                <a:cs typeface="Amiri" pitchFamily="2" charset="-78"/>
              </a:rPr>
              <a:t>ḥawḍ</a:t>
            </a:r>
            <a:endParaRPr lang="en-US" sz="1350" dirty="0"/>
          </a:p>
        </p:txBody>
      </p:sp>
      <p:sp>
        <p:nvSpPr>
          <p:cNvPr id="70" name="Shape 6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2" name="Text 6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أَحْوَاضٌ</a:t>
            </a:r>
            <a:endParaRPr lang="ar-SA" sz="1500" dirty="0"/>
          </a:p>
        </p:txBody>
      </p:sp>
      <p:sp>
        <p:nvSpPr>
          <p:cNvPr id="73" name="Shape 7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75" name="Text 72"/>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76" name="Shape 7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566928"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79" name="Shape 7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0" name="Text 7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81" name="Text 7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دُشٌّ</a:t>
            </a:r>
            <a:endParaRPr lang="ar-SA" sz="3000" dirty="0"/>
          </a:p>
        </p:txBody>
      </p:sp>
      <p:sp>
        <p:nvSpPr>
          <p:cNvPr id="82" name="Text 7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shower</a:t>
            </a:r>
            <a:endParaRPr lang="en-US" sz="1350" dirty="0"/>
          </a:p>
          <a:p>
            <a:pPr indent="0" marL="0">
              <a:buNone/>
            </a:pPr>
            <a:r>
              <a:rPr lang="en-US" sz="1100" i="1" dirty="0">
                <a:solidFill>
                  <a:srgbClr val="5A6472"/>
                </a:solidFill>
                <a:latin typeface="Calibri" pitchFamily="34" charset="0"/>
                <a:cs typeface="Amiri" pitchFamily="2" charset="-78"/>
              </a:rPr>
              <a:t>dushsh</a:t>
            </a:r>
            <a:endParaRPr lang="en-US" sz="1350" dirty="0"/>
          </a:p>
        </p:txBody>
      </p:sp>
      <p:sp>
        <p:nvSpPr>
          <p:cNvPr id="83" name="Shape 8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5" name="Text 82"/>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دُشُوشٌ</a:t>
            </a:r>
            <a:endParaRPr lang="ar-SA" sz="1500" dirty="0"/>
          </a:p>
        </p:txBody>
      </p:sp>
      <p:sp>
        <p:nvSpPr>
          <p:cNvPr id="86" name="Shape 8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88" name="Text 85"/>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YŪJADU / TŪJADU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There is … (masculine or feminine item)</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يُوجَدُ · تُوجَدُ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Place</a:t>
            </a:r>
            <a:endParaRPr lang="en-US" sz="1100" dirty="0"/>
          </a:p>
        </p:txBody>
      </p:sp>
      <p:sp>
        <p:nvSpPr>
          <p:cNvPr id="17" name="Text 14"/>
          <p:cNvSpPr txBox="1"/>
          <p:nvPr/>
        </p:nvSpPr>
        <p:spPr>
          <a:xfrm>
            <a:off x="5586984"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item</a:t>
            </a:r>
            <a:endParaRPr lang="en-US" sz="1100" dirty="0"/>
          </a:p>
        </p:txBody>
      </p:sp>
      <p:sp>
        <p:nvSpPr>
          <p:cNvPr id="18" name="Text 15"/>
          <p:cNvSpPr txBox="1"/>
          <p:nvPr/>
        </p:nvSpPr>
        <p:spPr>
          <a:xfrm>
            <a:off x="2386584"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item</a:t>
            </a:r>
            <a:endParaRPr lang="en-US" sz="1100" dirty="0"/>
          </a:p>
        </p:txBody>
      </p:sp>
      <p:sp>
        <p:nvSpPr>
          <p:cNvPr id="19" name="Text 16"/>
          <p:cNvSpPr txBox="1"/>
          <p:nvPr/>
        </p:nvSpPr>
        <p:spPr>
          <a:xfrm>
            <a:off x="53035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67712"/>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غُرْفَةِ النَّوْمِ</a:t>
            </a:r>
            <a:endParaRPr lang="ar-SA" sz="2200" dirty="0"/>
          </a:p>
        </p:txBody>
      </p:sp>
      <p:sp>
        <p:nvSpPr>
          <p:cNvPr id="22" name="Text 19"/>
          <p:cNvSpPr txBox="1"/>
          <p:nvPr/>
        </p:nvSpPr>
        <p:spPr>
          <a:xfrm>
            <a:off x="5605272" y="2267712"/>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يُوجَدُ</a:t>
            </a:r>
            <a:pPr rtl="1" algn="ctr" indent="0" marL="0">
              <a:buNone/>
            </a:pPr>
            <a:r>
              <a:rPr lang="ar-SA" altLang="en-US" sz="2200" b="1" dirty="0">
                <a:solidFill>
                  <a:srgbClr val="1B3B6F"/>
                </a:solidFill>
                <a:latin typeface="Amiri" pitchFamily="2" charset="-78"/>
                <a:ea typeface="Amiri" pitchFamily="2" charset="-78"/>
                <a:cs typeface="Amiri" pitchFamily="2" charset="-78"/>
              </a:rPr>
              <a:t> سَرِيرٌ</a:t>
            </a:r>
            <a:endParaRPr lang="ar-SA" sz="2200" dirty="0"/>
          </a:p>
        </p:txBody>
      </p:sp>
      <p:sp>
        <p:nvSpPr>
          <p:cNvPr id="23" name="Text 20"/>
          <p:cNvSpPr txBox="1"/>
          <p:nvPr/>
        </p:nvSpPr>
        <p:spPr>
          <a:xfrm>
            <a:off x="2404872" y="2267712"/>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تُوجَدُ</a:t>
            </a:r>
            <a:pPr rtl="1" algn="ctr" indent="0" marL="0">
              <a:buNone/>
            </a:pPr>
            <a:r>
              <a:rPr lang="ar-SA" altLang="en-US" sz="2200" b="1" dirty="0">
                <a:solidFill>
                  <a:srgbClr val="1B3B6F"/>
                </a:solidFill>
                <a:latin typeface="Amiri" pitchFamily="2" charset="-78"/>
                <a:ea typeface="Amiri" pitchFamily="2" charset="-78"/>
                <a:cs typeface="Amiri" pitchFamily="2" charset="-78"/>
              </a:rPr>
              <a:t> خِزَانَةٌ</a:t>
            </a:r>
            <a:endParaRPr lang="ar-SA" sz="2200" dirty="0"/>
          </a:p>
        </p:txBody>
      </p:sp>
      <p:sp>
        <p:nvSpPr>
          <p:cNvPr id="24" name="Text 21"/>
          <p:cNvSpPr txBox="1"/>
          <p:nvPr/>
        </p:nvSpPr>
        <p:spPr>
          <a:xfrm>
            <a:off x="566928" y="2267712"/>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bed · wardrobe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805672" y="3054096"/>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غُرْفَةِ الجُلُوسِ</a:t>
            </a:r>
            <a:endParaRPr lang="ar-SA" sz="2200" dirty="0"/>
          </a:p>
        </p:txBody>
      </p:sp>
      <p:sp>
        <p:nvSpPr>
          <p:cNvPr id="29" name="Text 26"/>
          <p:cNvSpPr txBox="1"/>
          <p:nvPr/>
        </p:nvSpPr>
        <p:spPr>
          <a:xfrm>
            <a:off x="5605272" y="3054096"/>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يُوجَدُ</a:t>
            </a:r>
            <a:pPr rtl="1" algn="ctr" indent="0" marL="0">
              <a:buNone/>
            </a:pPr>
            <a:r>
              <a:rPr lang="ar-SA" altLang="en-US" sz="2200" b="1" dirty="0">
                <a:solidFill>
                  <a:srgbClr val="1B3B6F"/>
                </a:solidFill>
                <a:latin typeface="Amiri" pitchFamily="2" charset="-78"/>
                <a:ea typeface="Amiri" pitchFamily="2" charset="-78"/>
                <a:cs typeface="Amiri" pitchFamily="2" charset="-78"/>
              </a:rPr>
              <a:t> تِلْفَازٌ</a:t>
            </a:r>
            <a:endParaRPr lang="ar-SA" sz="2200" dirty="0"/>
          </a:p>
        </p:txBody>
      </p:sp>
      <p:sp>
        <p:nvSpPr>
          <p:cNvPr id="30" name="Text 27"/>
          <p:cNvSpPr txBox="1"/>
          <p:nvPr/>
        </p:nvSpPr>
        <p:spPr>
          <a:xfrm>
            <a:off x="2404872" y="3054096"/>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تُوجَدُ</a:t>
            </a:r>
            <a:pPr rtl="1" algn="ctr" indent="0" marL="0">
              <a:buNone/>
            </a:pPr>
            <a:r>
              <a:rPr lang="ar-SA" altLang="en-US" sz="2200" b="1" dirty="0">
                <a:solidFill>
                  <a:srgbClr val="1B3B6F"/>
                </a:solidFill>
                <a:latin typeface="Amiri" pitchFamily="2" charset="-78"/>
                <a:ea typeface="Amiri" pitchFamily="2" charset="-78"/>
                <a:cs typeface="Amiri" pitchFamily="2" charset="-78"/>
              </a:rPr>
              <a:t> أَرِيكَةٌ</a:t>
            </a:r>
            <a:endParaRPr lang="ar-SA" sz="2200" dirty="0"/>
          </a:p>
        </p:txBody>
      </p:sp>
      <p:sp>
        <p:nvSpPr>
          <p:cNvPr id="31" name="Text 28"/>
          <p:cNvSpPr txBox="1"/>
          <p:nvPr/>
        </p:nvSpPr>
        <p:spPr>
          <a:xfrm>
            <a:off x="566928" y="3054096"/>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TV · sofa</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805672" y="3840480"/>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الحَمَّامِ</a:t>
            </a:r>
            <a:endParaRPr lang="ar-SA" sz="2200" dirty="0"/>
          </a:p>
        </p:txBody>
      </p:sp>
      <p:sp>
        <p:nvSpPr>
          <p:cNvPr id="36" name="Text 33"/>
          <p:cNvSpPr txBox="1"/>
          <p:nvPr/>
        </p:nvSpPr>
        <p:spPr>
          <a:xfrm>
            <a:off x="5605272" y="3840480"/>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يُوجَدُ</a:t>
            </a:r>
            <a:pPr rtl="1" algn="ctr" indent="0" marL="0">
              <a:buNone/>
            </a:pPr>
            <a:r>
              <a:rPr lang="ar-SA" altLang="en-US" sz="2200" b="1" dirty="0">
                <a:solidFill>
                  <a:srgbClr val="1B3B6F"/>
                </a:solidFill>
                <a:latin typeface="Amiri" pitchFamily="2" charset="-78"/>
                <a:ea typeface="Amiri" pitchFamily="2" charset="-78"/>
                <a:cs typeface="Amiri" pitchFamily="2" charset="-78"/>
              </a:rPr>
              <a:t> حَوْضٌ</a:t>
            </a:r>
            <a:endParaRPr lang="ar-SA" sz="2200" dirty="0"/>
          </a:p>
        </p:txBody>
      </p:sp>
      <p:sp>
        <p:nvSpPr>
          <p:cNvPr id="37" name="Text 34"/>
          <p:cNvSpPr txBox="1"/>
          <p:nvPr/>
        </p:nvSpPr>
        <p:spPr>
          <a:xfrm>
            <a:off x="2404872" y="3840480"/>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تُوجَدُ</a:t>
            </a:r>
            <a:pPr rtl="1" algn="ctr" indent="0" marL="0">
              <a:buNone/>
            </a:pPr>
            <a:r>
              <a:rPr lang="ar-SA" altLang="en-US" sz="2200" b="1" dirty="0">
                <a:solidFill>
                  <a:srgbClr val="1B3B6F"/>
                </a:solidFill>
                <a:latin typeface="Amiri" pitchFamily="2" charset="-78"/>
                <a:ea typeface="Amiri" pitchFamily="2" charset="-78"/>
                <a:cs typeface="Amiri" pitchFamily="2" charset="-78"/>
              </a:rPr>
              <a:t> مِرْآةٌ</a:t>
            </a:r>
            <a:endParaRPr lang="ar-SA" sz="2200" dirty="0"/>
          </a:p>
        </p:txBody>
      </p:sp>
      <p:sp>
        <p:nvSpPr>
          <p:cNvPr id="38" name="Text 35"/>
          <p:cNvSpPr txBox="1"/>
          <p:nvPr/>
        </p:nvSpPr>
        <p:spPr>
          <a:xfrm>
            <a:off x="566928" y="3840480"/>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sink · mirror</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805672" y="4626864"/>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غُرْفَتِي</a:t>
            </a:r>
            <a:endParaRPr lang="ar-SA" sz="2200" dirty="0"/>
          </a:p>
        </p:txBody>
      </p:sp>
      <p:sp>
        <p:nvSpPr>
          <p:cNvPr id="41" name="Text 38"/>
          <p:cNvSpPr txBox="1"/>
          <p:nvPr/>
        </p:nvSpPr>
        <p:spPr>
          <a:xfrm>
            <a:off x="5605272" y="4626864"/>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سَرِيرٌ</a:t>
            </a:r>
            <a:endParaRPr lang="ar-SA" sz="2200" dirty="0"/>
          </a:p>
        </p:txBody>
      </p:sp>
      <p:sp>
        <p:nvSpPr>
          <p:cNvPr id="42" name="Text 39"/>
          <p:cNvSpPr txBox="1"/>
          <p:nvPr/>
        </p:nvSpPr>
        <p:spPr>
          <a:xfrm>
            <a:off x="2404872" y="4626864"/>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وَخِزَانَةٌ</a:t>
            </a:r>
            <a:endParaRPr lang="ar-SA" sz="2200" dirty="0"/>
          </a:p>
        </p:txBody>
      </p:sp>
      <p:sp>
        <p:nvSpPr>
          <p:cNvPr id="43" name="Text 40"/>
          <p:cNvSpPr txBox="1"/>
          <p:nvPr/>
        </p:nvSpPr>
        <p:spPr>
          <a:xfrm>
            <a:off x="566928" y="4626864"/>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verb — also correct</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agrees with the item after it. The room is only the place.</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PLURALS AND DESCRIBING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many, and what they are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المُفْرَدُ وَالجَمْعُ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PLURAL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كَرَاسِي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هُنَاكَ طَاوِلَةٌ وَأَرْبَعَةُ كَرَاسِي.</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is a table and four chairs.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Learn the plural with the word.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75438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26" name="Text 23"/>
          <p:cNvSpPr txBox="1"/>
          <p:nvPr/>
        </p:nvSpPr>
        <p:spPr>
          <a:xfrm>
            <a:off x="5213604"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things → f.</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تُوجَدُ كَرَاسِي كَثِيرَةٌ.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are many chairs.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tūjadu + kathīra (not kathīrūn).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describe</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تُوجَدُ خِزَانَةٌ بَيْضَاءُ بِجَانِبِ النَّافِذَةِ.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is a white wardrobe beside the window.</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Colour + position.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Furniture Mission: a lamp is masculine.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يُوجَدُ مِصْبَاحٌ.</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تُوجَدُ مِصْبَاحٌ.</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فِي الغُرْفَةِ ___ سَرِيرٌ.</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نُوجَدُ</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فِي الغُرْفَةِ ___ خِزَانَةٌ.</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أُوجَدُ</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also correct without a verb?</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غُرْفَتِي يُوجَدَ.</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غُرْفَتِي سَرِيرٌ.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غُرْفَتِي فِي سَرِيرٌ.</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كُرْسِيٌّ.</a:t>
            </a:r>
            <a:endParaRPr lang="ar-SA" sz="22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كَرَاسِي</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كُرْسِيَّاتٌ</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أَكْرُسٌ</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فِي الغُرْفَةِ ___ سَرِيرٌ.</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تُوجَدُ</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نُوجَدُ</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يُوجَدُ</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سَرِيرٌ</a:t>
            </a:r>
            <a:pPr algn="l" indent="0" marL="0">
              <a:buNone/>
            </a:pPr>
            <a:r>
              <a:rPr lang="en-US" sz="1050" i="1" dirty="0">
                <a:solidFill>
                  <a:srgbClr val="8A6D1E"/>
                </a:solidFill>
                <a:latin typeface="Calibri" pitchFamily="34" charset="0"/>
                <a:cs typeface="Amiri" pitchFamily="2" charset="-78"/>
              </a:rPr>
              <a:t> is masculine, so use </a:t>
            </a:r>
            <a:pPr algn="l" indent="0" marL="0">
              <a:buNone/>
            </a:pPr>
            <a:r>
              <a:rPr lang="ar-SA" altLang="en-US" sz="1350" dirty="0">
                <a:solidFill>
                  <a:srgbClr val="8A6D1E"/>
                </a:solidFill>
                <a:latin typeface="Amiri" pitchFamily="2" charset="-78"/>
                <a:ea typeface="Amiri" pitchFamily="2" charset="-78"/>
                <a:cs typeface="Amiri" pitchFamily="2" charset="-78"/>
              </a:rPr>
              <a:t>يُوجَدُ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فِي الغُرْفَةِ ___ خِزَانَةٌ.</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تُوجَدُ</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أُوجَدُ</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خِزَانَةٌ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تُوجَدُ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also correct without a verb?</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غُرْفَتِي يُوجَدَ.</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غُرْفَتِي سَرِيرٌ.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غُرْفَتِي فِي سَرِيرٌ.</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simple Arabic location sentence may omit “there is”.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كُرْسِيٌّ.</a:t>
            </a:r>
            <a:endParaRPr lang="ar-SA" sz="22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كَرَاسِي</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كُرْسِيَّاتٌ</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أَكْرُسٌ</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common plural is </a:t>
            </a:r>
            <a:pPr algn="l" indent="0" marL="0">
              <a:buNone/>
            </a:pPr>
            <a:r>
              <a:rPr lang="ar-SA" altLang="en-US" sz="1350" dirty="0">
                <a:solidFill>
                  <a:srgbClr val="8A6D1E"/>
                </a:solidFill>
                <a:latin typeface="Amiri" pitchFamily="2" charset="-78"/>
                <a:ea typeface="Amiri" pitchFamily="2" charset="-78"/>
                <a:cs typeface="Amiri" pitchFamily="2" charset="-78"/>
              </a:rPr>
              <a:t>كَرَاسِي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furnish a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room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غُرْفَةُ النَّوْمِ وَاسِعَةٌ وَمُرِيحَةٌ.</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Room (f.) → -a adjectives.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Masculine items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فِيهَا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يُوجَدُ</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سَرِيرٌ كَبِيرٌ وَمَكْتَبٌ صَغِيرٌ.</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Bed, desk → yūjadu.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Feminine items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تُوجَدُ</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خِزَانَةٌ بِجَانِبِ النَّافِذَةِ، وَ</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تُوجَدُ</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سَجَّادَةٌ عَلَى الأَرْضِيَّةِ.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Wardrobe, rug → tūjadu.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أُحِبُّ هَذِهِ الغُرْفَةَ لِأَنَّهَا هَادِئَةٌ.</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Because it (f.) is quiet.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 ITEM</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 ITEM</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غُرْفَةُ النَّوْمِ وَاسِعَةٌ وَمُرِيحَةٌ. فِيهَا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يُوجَدُ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سَرِيرٌ كَبِيرٌ وَمَكْتَبٌ صَغِيرٌ.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تُوجَدُ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خِزَانَةٌ بِجَانِبِ النَّافِذَةِ، وَ</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تُوجَدُ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سَجَّادَةٌ عَلَى الأَرْضِيَّةِ. عَلَى المَكْتَبِ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يُوجَدُ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مِصْبَاحٌ وَحَاسُوبٌ. أُحِبُّ هَذِهِ الغُرْفَةَ لِأَنَّهَا هَادِئَةٌ.</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bedroom is spacious and comfortable. In it there is a big bed and a small desk. There is a wardrobe beside the window, and there is a rug on the floor. On the desk there is a lamp and a computer. I love this room because it is quiet.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2F6FB0"/>
                </a:solidFill>
                <a:latin typeface="Calibri" pitchFamily="34" charset="0"/>
                <a:cs typeface="Amiri" pitchFamily="2" charset="-78"/>
              </a:rPr>
              <a:t>WE DO · PICTURE MATCH · WEBSITE GAME “VISUAL GAME — FURNITURE AND HOUSEHOLD ITEMS”</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اِبْحَثْ عَنِ 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bed</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sofa</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32"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fridge</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الأَرِيكَةُ فِي غُرْفَةِ الجُلُوسِ.</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ثَلَّاجَةٌ.</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السَّرِيرُ فِي غُرْفَةِ النَّوْمِ.</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اِبْحَثْ عَنِ 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bed</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السَّرِيرُ فِي غُرْفَةِ النَّوْمِ.</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bed is in the bedroom.</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sofa</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الأَرِيكَةُ فِي غُرْفَةِ الجُلُوسِ.</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sofa is in the living room.</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42"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fridge</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ثَلَّاجَةٌ.</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fridge.</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“FURNITURE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Furnish the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تَأْثِيثِ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Where does this normally belong?</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أَرِيكَةٌ</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الحَمَّامُ</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المَطْبَخُ</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الجُلُوسِ</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تِلْفَازٌ.</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سَجَّادَةٌ.</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كُرْسِيٌّ.</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كُرْسِيَّاتٌ</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كَرَاسِي</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أَكْرُسٌ</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يُوجَدُ خِزَانَةٌ.</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 خِزَانَةٌ.</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 خِزَانَةٌ.</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 خِزَانٌ.</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Masculine item → yūjadu</a:t>
            </a:r>
            <a:endParaRPr lang="en-US" sz="1250" dirty="0"/>
          </a:p>
          <a:p>
            <a:pPr algn="l" indent="0" marL="0">
              <a:buNone/>
            </a:pPr>
            <a:r>
              <a:rPr lang="en-US" sz="1250" dirty="0">
                <a:solidFill>
                  <a:srgbClr val="1E6B52"/>
                </a:solidFill>
                <a:latin typeface="Calibri" pitchFamily="34" charset="0"/>
                <a:cs typeface="Amiri" pitchFamily="2" charset="-78"/>
              </a:rPr>
              <a:t>Feminine item → tūjadu</a:t>
            </a:r>
            <a:endParaRPr lang="en-US" sz="1250" dirty="0"/>
          </a:p>
          <a:p>
            <a:pPr algn="l" indent="0" marL="0">
              <a:buNone/>
            </a:pPr>
            <a:r>
              <a:rPr lang="en-US" sz="1250" dirty="0">
                <a:solidFill>
                  <a:srgbClr val="1E6B52"/>
                </a:solidFill>
                <a:latin typeface="Calibri" pitchFamily="34" charset="0"/>
                <a:cs typeface="Amiri" pitchFamily="2" charset="-78"/>
              </a:rPr>
              <a:t>Learn the plural too</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Where does this normally belong?</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أَرِيكَةٌ</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الحَمَّامُ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المَطْبَخُ</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غُرْفَةُ الجُلُوسِ</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sofa normally belongs in the living room.</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تِلْفَازٌ.</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تُوجَدُ</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تُوجَدَ</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يُوجَدُ</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تِلْفَازٌ</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سَجَّادَةٌ.</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تُوجَدُ</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سَجَّادَةٌ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كُرْسِيٌّ.</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كُرْسِيَّاتٌ</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كَرَاسِي</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أَكْرُسٌ</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كَرَاسِي</a:t>
            </a:r>
            <a:pPr algn="l" indent="0" marL="0">
              <a:buNone/>
            </a:pPr>
            <a:r>
              <a:rPr lang="en-US" sz="1050" i="1" dirty="0">
                <a:solidFill>
                  <a:srgbClr val="8A6D1E"/>
                </a:solidFill>
                <a:latin typeface="Calibri" pitchFamily="34" charset="0"/>
                <a:cs typeface="Amiri" pitchFamily="2" charset="-78"/>
              </a:rPr>
              <a:t> is the common plural.</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يُوجَدُ خِزَانَةٌ.</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تُوجَدُ خِزَانَةٌ.</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 خِزَانَةٌ.</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تُوجَدُ خِزَانٌ.</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خِزَانَةٌ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Masculine item → yūjadu</a:t>
            </a:r>
            <a:endParaRPr lang="en-US" sz="1250" dirty="0"/>
          </a:p>
          <a:p>
            <a:pPr algn="l" indent="0" marL="0">
              <a:buNone/>
            </a:pPr>
            <a:r>
              <a:rPr lang="en-US" sz="1250" dirty="0">
                <a:solidFill>
                  <a:srgbClr val="1E6B52"/>
                </a:solidFill>
                <a:latin typeface="Calibri" pitchFamily="34" charset="0"/>
                <a:cs typeface="Amiri" pitchFamily="2" charset="-78"/>
              </a:rPr>
              <a:t>Feminine item → tūjadu</a:t>
            </a:r>
            <a:endParaRPr lang="en-US" sz="1250" dirty="0"/>
          </a:p>
          <a:p>
            <a:pPr algn="l" indent="0" marL="0">
              <a:buNone/>
            </a:pPr>
            <a:r>
              <a:rPr lang="en-US" sz="1250" dirty="0">
                <a:solidFill>
                  <a:srgbClr val="1E6B52"/>
                </a:solidFill>
                <a:latin typeface="Calibri" pitchFamily="34" charset="0"/>
                <a:cs typeface="Amiri" pitchFamily="2" charset="-78"/>
              </a:rPr>
              <a:t>Learn the plural too</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الغُرْفَةِ يُوجَدُ خِزَانَةٌ.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Wardrobe: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تُوجَدُ مِصْبَاحٌ.</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Lamp: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تُوجَدُ كَرَاسِي كَثِيرُونَ.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Chairs are things, not people.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فِي الغُرْفَةِ يُوجَدُ خِزَانَةٌ.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الغُرْفَةِ تُوجَدُ خِزَانَةٌ.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Look at the ITEM, not the room: a wardrobe is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تُوجَدُ مِصْبَاحٌ.</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يُوجَدُ مِصْبَاحٌ.</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lamp is masculine → yūjadu (website Furniture Mission).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تُوجَدُ كَرَاسِي كَثِيرُونَ.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تُوجَدُ كَرَاسِي كَثِيرَةٌ.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plural of things takes a feminine singular adjective.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Mariam describes three rooms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items are on the desk?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mirror and clock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television and shelf</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computer and lamp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chairs are in the kitchen?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sofa?</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room is Mariam’s favourite?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kitchen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living room</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bedroom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Three columns: bedroom · kitchen · living room.</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أَهْلًا! أَنَا مَرْيَمُ، وَسَأَصِفُ ثَلَاثَ غُرَفٍ فِي بَيْتِنَا.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 I am Mariam, and I will describe three rooms in our house.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فِي غُرْفَةِ نَوْمِي يُوجَدُ سَرِيرٌ أَبْيَضُ وَمَكْتَبٌ بُنِّيٌّ، وَتُوجَدُ خِزَانَةٌ كَبِيرَةٌ وَمِرْآةٌ صَغِيرَةٌ.</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my bedroom there is a white bed and a brown desk, and a big wardrobe and a small mirror.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المَكْتَبِ يُوجَدُ حَاسُوبٌ وَمِصْبَاحٌ.</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desk there is a computer and a lamp.</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فِي المَطْبَخِ تُوجَدُ ثَلَّاجَةٌ بَيْضَاءُ وَغَسَّالَةٌ، وَيُوجَدُ مَوْقِدٌ وَحَوْضٌ. هُنَاكَ أَيْضًا طَاوِلَةٌ وَأَرْبَعَةُ كَرَاسِي.</a:t>
            </a:r>
            <a:endParaRPr lang="ar-SA" sz="16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kitchen there is a white fridge and a washing machine, a cooker and a sink. There is also a table and four chairs.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أَمَّا غُرْفَةُ الجُلُوسِ فَفِيهَا أَرِيكَةٌ زَرْقَاءُ وَتِلْفَازٌ كَبِيرٌ وَسَجَّادَةٌ جَمِيلَةٌ. أُحِبُّ غُرْفَةَ الجُلُوسِ لِأَنَّهَا وَاسِعَةٌ وَمُرِيحَةٌ.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the living room, it has a blue sofa, a big TV and a beautiful rug. I love the living room because it is spacious and comfortable.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bed?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white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سَرِيرٌ أَبْيَضُ.</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items are on the desk?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mirror and clock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television and shelf</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computer and lamp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عَلَى المَكْتَبِ يُوجَدُ حَاسُوبٌ وَمِصْبَاحٌ.</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chairs are in the kitchen?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six</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أَرْبَعَةُ كَرَاسِي.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sofa?</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blue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أَرِيكَةٌ زَرْقَاءُ.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room is Mariam’s favourite?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kitchen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living room</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bedroom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أُحِبُّ غُرْفَةَ الجُلُوسِ</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Three columns: bedroom · kitchen · living room.</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Samir’s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غُرْفَةُ نَوْمِ سَامِرٍ صَغِيرَةٌ وَلَكِنَّهَا مُرَتَّبَةٌ.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small but tidy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فِيهَا سَرِيرٌ وَخِزَانَةٌ وَمَكْتَبٌ.</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Main items: bed · wardrobe · desk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المَكْتَبِ يُوجَدُ حَاسُوبٌ وَمِصْبَاحٌ، وَفَوْقَ المَكْتَبِ تُوجَدُ رُفُوفٌ لِلْكُتُبِ.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desk: computer, lamp · above it: shelves for books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يُوجَدُ تِلْفَازٌ فِي الغُرْفَةِ.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in the room: a television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يُحِبُّ سَامِرٌ غُرْفَتَهُ لِأَنَّهَا هَادِئَةٌ.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he likes it — it is quiet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Layla’s kitchen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مَطْبَخُ لَيْلَى وَاسِعٌ وَحَدِيثٌ.</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spacious and modern</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فِيهِ ثَلَّاجَةٌ كَبِيرَةٌ وَفُرْنٌ وَمَوْقِدٌ وَغَسَّالَةُ صُحُونٍ.</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Appliances: fridge · oven · cooker · dishwasher</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تُوجَدُ خَزَائِنُ بَيْضَاءُ كَثِيرَةٌ،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white cupboards (plural of things)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الوَسَطِ تُوجَدُ طَاوِلَةٌ مَعَ سِتَّةِ كَرَاسِي.</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middle: a table with six chairs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تُحِبُّ لَيْلَى المَطْبَخَ لِأَنَّهُ مُضِيءٌ وَنَظِيفٌ.</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bright and clean (kitchen m. → li’annahu)</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Samir or Layla?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three main items are in Samir’s room?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sofa, television and rug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bed, wardrobe and desk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fridge, cooker and sink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 shelves?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under the bed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beside the wardrobe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above the desk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in Samir’s room?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television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lamp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computer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the cupboards?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chairs are around the table?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eight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Object? Negative? Number? Place?</a:t>
            </a:r>
            <a:endParaRPr lang="en-US" sz="1250" dirty="0"/>
          </a:p>
          <a:p>
            <a:pPr algn="l" indent="0" marL="0">
              <a:buNone/>
            </a:pPr>
            <a:r>
              <a:rPr lang="en-US" sz="1250" dirty="0">
                <a:solidFill>
                  <a:srgbClr val="1F2A37"/>
                </a:solidFill>
                <a:latin typeface="Calibri" pitchFamily="34" charset="0"/>
                <a:cs typeface="Amiri" pitchFamily="2" charset="-78"/>
              </a:rPr>
              <a:t>Find the exact Arabic words.</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three main items are in Samir’s room?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sofa, television and rug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bed, wardrobe and desk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fridge, cooker and sink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فِيهَا سَرِيرٌ وَخِزَانَةٌ وَمَكْتَبٌ.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 shelves?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under the bed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beside the wardrobe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above the desk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فَوْقَ المَكْتَبِ تُوجَدُ رُفُوفٌ.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in Samir’s room?</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television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lamp</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computer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يُوجَدُ تِلْفَازٌ.</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the cupboards?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خَزَائِنُ بَيْضَاءُ.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chairs are around the table?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six</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eight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سِتَّةِ كَرَاسِي.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Object? Negative? Number? Place?</a:t>
            </a:r>
            <a:endParaRPr lang="en-US" sz="1250" dirty="0"/>
          </a:p>
          <a:p>
            <a:pPr algn="l" indent="0" marL="0">
              <a:buNone/>
            </a:pPr>
            <a:r>
              <a:rPr lang="en-US" sz="1250" dirty="0">
                <a:solidFill>
                  <a:srgbClr val="1F2A37"/>
                </a:solidFill>
                <a:latin typeface="Calibri" pitchFamily="34" charset="0"/>
                <a:cs typeface="Amiri" pitchFamily="2" charset="-78"/>
              </a:rPr>
              <a:t>Find the exact Arabic words.</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Household redesign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Household redesign</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Choose furniture and appliances for a room, explain where each item belongs and justify one change using a relative clause or purpose phrase.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Each student chooses one room to redesign (bedroom, study or living room).</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Choose 5 items and say where each one goes.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Justify ONE change with “so that” or “which”.</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students present on the mic; the class votes for the best room.</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Five items with yūjadu / tūjadu (or fī ghurfatī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Five items + positions (‘alā, bi-jānibi, fawqa).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justified change with a relative clause (alladhī / allatī) or purpose (li-).</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سَأَضَعُ … بِجَانِبِ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will put … next to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مَكْتَبٌ جَدِيدٌ لِلدِّرَاسَةِ</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new desk for studying</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الخِزَانَةُ الَّتِي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wardrobe which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الغُرْفَةَ صَغِيرَةٌ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the room is small</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Give a guided room tour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يُوجَدُ فِي غُرْفَةِ النَّوْمِ؟</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يُوجَدُ فِي المَطْبَخِ؟</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يُوجَدُ فِي غُرْفَةِ الجُلُوسِ؟</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غُرْفَتُكَ المُفَضَّلَةُ؟ صِفْهَا وَقُلْ لِمَاذَا.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غُرْفَةِ النَّوْمِ ___ وَ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يُوجَدُ ___ ، وَتُوجَدُ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هُنَاكَ ___ وَ ___ كَرَاسِي.</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أُحِبُّ ___ لِأَنَّهَا / لِأَنَّهُ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يُوجَدُ فِي غُرْفَةِ النَّوْمِ؟</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there in the bedroom?</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غُرْفَةُ النَّوْمِ وَاسِعَةٌ وَهَادِئَةٌ. فِيهَا يُوجَدُ سَرِيرٌ كَبِيرٌ وَمَكْتَبٌ صَغِيرٌ.</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 bedroom is spacious and quiet. In it there is a big bed and a small desk.</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Label eight items in one room and write four “in my room there is …”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Draw one room, label eight items, then four sentences: fī ghurfatī … (no verb needed).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to eight sentences with yūjadu / tūjadu, two descriptions and one plural.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Yūjadu / tūjadu for every item, two descriptions, one plural, an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colours, positions (on, beside, above) and non-human plural agreement (kathīra).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colours (next lesson preview), positions (on, beside, above) and kathīra with a plural.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المَكْتَبِ يُوجَدُ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desk there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بِجَانِبِ النَّافِذَةِ تُوجَدُ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Beside the window there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تُوجَدُ كَرَاسِي كَثِيرَةٌ.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are many chairs.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هُنَاكَ طَاوِلَةٌ وَأَرْبَعَةُ كَرَاسِي.</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table and four chairs.</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لِأَنَّهَا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 because it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غُرْفَتِي سَرِيرٌ.</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room there is a bed.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يُوجَدُ مَكْتَبٌ.</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desk (m.).</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تُوجَدُ خِزَانَةٌ.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wardrobe (f.).</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يُوجَدُ تِلْفَازٌ.</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no television.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كَبِيرَةٌ / صَغِيرَةٌ.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room is big / small.</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سَرِيرٌ  ·  خِزَانَةٌ  ·  طَاوِلَةٌ  ·  كُرْسِيٌّ / كَرَاسِي  ·  أَرِيكَةٌ  ·  تِلْفَازٌ  ·  مِصْبَاحٌ  ·  مِرْآةٌ  ·  رُفُوفٌ  ·  يُوجَدُ  ·  تُوجَدُ  ·  لِأَنَّ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غُرْفَةُ النَّوْمِ وَاسِعَةٌ وَمُرِيحَةٌ. فِيهَا يُوجَدُ سَرِيرٌ كَبِيرٌ وَمَكْتَبٌ صَغِيرٌ. تُوجَدُ خِزَانَةٌ بَيْضَاءُ بِجَانِبِ النَّافِذَةِ، وَتُوجَدُ سَجَّادَةٌ بُنِّيَّةٌ عَلَى الأَرْضِيَّةِ. عَلَى المَكْتَبِ يُوجَدُ مِصْبَاحٌ وَحَاسُوبٌ. أُحِبُّ هَذِهِ الغُرْفَةَ لِأَنَّهَا هَادِئَةٌ.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bedroom is spacious and comfortable. In it there is a big bed and a small desk. There is a white wardrobe beside the window, and there is a brown rug on the floor. On the desk there is a lamp and a computer. I love this room because it is quiet.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يُوجَدُ + masculine item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تُوجَدُ + feminine item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position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at least eight items.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“in my room there is …”.</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Masculine item → yūjadu; feminine item → tūjadu.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plural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Plural of things → kathīra (f. sing.).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سَرِيرٌ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حَوْضٌ</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سَرِيرٌ.</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مِرْآةٌ.</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سَرِيرٌ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رَفٌّ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حَوْضٌ</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سَرِيرٌ</a:t>
            </a:r>
            <a:pPr algn="l" indent="0" marL="0">
              <a:buNone/>
            </a:pPr>
            <a:r>
              <a:rPr lang="en-US" sz="1050" i="1" dirty="0">
                <a:solidFill>
                  <a:srgbClr val="8A6D1E"/>
                </a:solidFill>
                <a:latin typeface="Calibri" pitchFamily="34" charset="0"/>
                <a:cs typeface="Amiri" pitchFamily="2" charset="-78"/>
              </a:rPr>
              <a:t> means bed.</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سَرِيرٌ.</a:t>
            </a:r>
            <a:endParaRPr lang="ar-SA" sz="2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تُوجَدُ</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يُوجَدُ</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تُوجَدَ</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سَرِيرٌ</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مِرْآةٌ.</a:t>
            </a:r>
            <a:endParaRPr lang="ar-SA" sz="220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تُوجَدُ</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يُوجَدُ</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يُوجَدَ</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مِرْآةٌ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TB-L06: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TB-L06 · Colours and Accurate Description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أَحْمَرُ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red</a:t>
            </a:r>
            <a:pPr indent="0" marL="0">
              <a:buNone/>
            </a:pPr>
            <a:r>
              <a:rPr lang="ar-SA" sz="1000" i="1" dirty="0">
                <a:solidFill>
                  <a:srgbClr val="5A6472"/>
                </a:solidFill>
                <a:latin typeface="Calibri" pitchFamily="34" charset="0"/>
                <a:ea typeface="Amiri" pitchFamily="2" charset="-78"/>
                <a:cs typeface="Amiri" pitchFamily="2" charset="-78"/>
              </a:rPr>
              <a:t>  f. حَمْرَاءُ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أَزْرَقُ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blue</a:t>
            </a:r>
            <a:pPr indent="0" marL="0">
              <a:buNone/>
            </a:pPr>
            <a:r>
              <a:rPr lang="ar-SA" sz="1000" i="1" dirty="0">
                <a:solidFill>
                  <a:srgbClr val="5A6472"/>
                </a:solidFill>
                <a:latin typeface="Calibri" pitchFamily="34" charset="0"/>
                <a:ea typeface="Amiri" pitchFamily="2" charset="-78"/>
                <a:cs typeface="Amiri" pitchFamily="2" charset="-78"/>
              </a:rPr>
              <a:t>  f. زَرْقَاءُ</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أَخْضَرُ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green</a:t>
            </a:r>
            <a:pPr indent="0" marL="0">
              <a:buNone/>
            </a:pPr>
            <a:r>
              <a:rPr lang="ar-SA" sz="1000" i="1" dirty="0">
                <a:solidFill>
                  <a:srgbClr val="5A6472"/>
                </a:solidFill>
                <a:latin typeface="Calibri" pitchFamily="34" charset="0"/>
                <a:ea typeface="Amiri" pitchFamily="2" charset="-78"/>
                <a:cs typeface="Amiri" pitchFamily="2" charset="-78"/>
              </a:rPr>
              <a:t>  f. خَضْرَاءُ</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أَبْيَضُ</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white</a:t>
            </a:r>
            <a:pPr indent="0" marL="0">
              <a:buNone/>
            </a:pPr>
            <a:r>
              <a:rPr lang="ar-SA" sz="1000" i="1" dirty="0">
                <a:solidFill>
                  <a:srgbClr val="5A6472"/>
                </a:solidFill>
                <a:latin typeface="Calibri" pitchFamily="34" charset="0"/>
                <a:ea typeface="Amiri" pitchFamily="2" charset="-78"/>
                <a:cs typeface="Amiri" pitchFamily="2" charset="-78"/>
              </a:rPr>
              <a:t>  f. بَيْضَاءُ</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أَسْوَدُ</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black</a:t>
            </a:r>
            <a:pPr indent="0" marL="0">
              <a:buNone/>
            </a:pPr>
            <a:r>
              <a:rPr lang="ar-SA" sz="1000" i="1" dirty="0">
                <a:solidFill>
                  <a:srgbClr val="5A6472"/>
                </a:solidFill>
                <a:latin typeface="Calibri" pitchFamily="34" charset="0"/>
                <a:ea typeface="Amiri" pitchFamily="2" charset="-78"/>
                <a:cs typeface="Amiri" pitchFamily="2" charset="-78"/>
              </a:rPr>
              <a:t>  f. سَوْدَاءُ</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colour is your favourite thing at home? Write it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لَوْنُكَ المُفَضَّلُ؟</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TB-L05: the Furniture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describe one room in 6–8 sentences with yūjadu / tūjadu.</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Redesign a room: label eight items and write eight sentences with positions and a plural.</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38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TB-L06 · Colours and Accurate Description</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الأَلْوَانُ وَالوَصْفُ الدَّقِيقُ</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look at the item — yūjadu (m.) · tūjadu (f.).</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TB-L05 · Furniture, Furnishings and Appliances</dc:title>
  <dc:subject>PptxGenJS Presentation</dc:subject>
  <dc:creator>Al Madina Online School · Arabic Department</dc:creator>
  <cp:lastModifiedBy>Al Madina Online School · Arabic Department</cp:lastModifiedBy>
  <cp:revision>1</cp:revision>
  <dcterms:created xsi:type="dcterms:W3CDTF">2026-10-11T06:43:50Z</dcterms:created>
  <dcterms:modified xsi:type="dcterms:W3CDTF">2026-10-11T06:43:50Z</dcterms:modified>
</cp:coreProperties>
</file>