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TB-L04 — My Home, Rooms and Garden. Website: Advanced Topics › Topic B (Personal and Social Life) › Lesson 4.
The website builds this lesson on the F3-L03 lesson engine, with the Topic focus “Describe the layout, location and qualities of a home in connected language.” (grammar: يوجد/توجد; demonstratives; locative prepositions; skills: Speaking · Writing) and the application challenge “Room detective”.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3 (TB-L04). Website sections used: the eight-question Topic B bridge, types and parts of a home (16 words + three floors) and its 16-question check, the complete room bank (8) and its 12-question check, the room-name iḍāfa laboratory (10), the house plan, the three home frames with room counting and the 12-question grammar check, the House Tour Mission (14), Salma’s listening (10 questions), Omar’s flat and Huda’s house (12 questions), the house-tour speaking studio (4 prompts), the 6–8-sentence writing task and the 16-question checkpoint. Picture match: website visual game “My Home — Rooms and Parts of the House”.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From people (F3-L01 (website)–L02) to places. Core: 5 rooms + فِي بَيْتِي … and عِنْدِي …. Develop: floors, room counting (غُرْفَتَانِ، ثَلَاثُ غُرَفٍ) and agreement (بَيْتٌ كَبِيرٌ / غُرْفَةٌ كَبِيرَةٌ). Stretch: compare two rooms with وَلَكِنْ and لِأَنَّ.
• Privacy (website): students may describe their own home, a fictional home or the model house — no addresses or identifying details.
• Two big patterns only: room names are two nouns (غُرْفَةُ + النَّوْمِ), and the adjective follows the gender of the room (غُرْفَةٌ is feminine, بَيْتٌ is masculine).
• Urdu bridge: مکان (not Arabic for house!), کمرہ (Persian), باورچی خانہ (not Arabic), حمام، باغ / حدیقہ، دروازہ (Persian) / بَابٌ.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home words prepared at home at the end of F3-L02 (website). Questions 3–5 are the website “Topic B bridge” (my house, her room, room + adjective).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room is feminine (ghurfa), a house is masculine (bayt): the adjective follows. And “my” is -ī: baytī, ghurfatī.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حمام، باب and منزل are Arabic words already in Urdu (منزل in Urdu is also a storey — useful for الطَّابِقُ!). CAREFUL: Urdu مکان means a house, but Arabic مَكَانٌ just means a place — the Arabic for house is بَيْتٌ. کمرہ and باورچی خانہ are Persian; Arabic has غُرْفَةٌ and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HOUSE PARTS 1 (website “Types and parts of a home”). Every card shows the plural or “my”: ة becomes ت before an ending (شَقَّةٌ → شَقَّتِي — F3-L01 (website) possessives).
Hear → say → see → use: “fī baytī bābun kabīrun.”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HOUSE PARTS 2 (FLEX). Also on the website: مَنْزِلٌ (home), أَرْضِيَّةٌ (floor surface — not a storey!), زُجَاجٌ (glass). All appear in the House Tour Mission and the reading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ROOMS (website “complete room bank”). Three rooms are “room of …” phrases — the grammar focus in a moment. Extension on the website: غُرْفَةُ الأَطْفَالِ (children’s room).
FLOORS (Group 3): الطَّابِقُ الأَرْضِيُّ (ground floor) · الطَّابِقُ الأَوَّلُ (first floor) · الطَّابِقُ الثَّانِي (second floor) —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“Build ‘the room of…’ phrases”: غُرْفَةُ (room of) + النَّوْمِ (the sleeping) = غُرْفَةُ النَّوْمِ (the bedroom).
Website “Repair these”: الغُرْفَةُ النَّوْمِ ✗ · غُرْفَةُ نَوْمٌ ✗ → غُرْفَةُ النَّوْمِ ✓.
Teacher note (Stretch): the adjective after a room name follows the FIRST noun: غُرْفَةُ الجُلُوسِ كَبِيرَةٌ (website idafa question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6 “Say what your home contains”: فِي بَيْتِي (list), عِنْدِي (possession), هُنَاكَ (what exists).
Room counting (website): غُرْفَةٌ وَاحِدَةٌ · غُرْفَتَانِ · ثَلَاثُ غُرَفٍ · أَرْبَعُ غُرَفٍ · خَمْسُ غُرَفٍ · سِتُّ غُرَفٍ — “غُرْفَةٌ is feminine, so numbers 3–10 use the opposite, masculine form”.
Question bank (website): مَاذَا فِي بَيْتِكَ / بَيْتِكِ؟ · هَلْ عِنْدَكَ / عِنْدَكِ حَدِيقَةٌ؟ · كَمْ غُرْفَةً فِي بَيْتِكَ؟
Floors: الطَّابِقُ الأَرْضِيُّ / الأَوَّلُ /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home grammar check” questions 1, 2, 3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prompt “City flat” (second floor · two bedrooms · balcony · no garden) as a think-aloud. Then ask: “Now a HOUSE (بَيْتٌ) — what changes?” → صَغِيرٌ، جَمِيلٌ، فِيهِ، لِأَنَّهُ.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House Tour rounds (home type, iḍāfa, room count, agreement,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rule did you use — room name, gender or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اِسْمِي سَلْمَى. أَسْكُنُ مَعَ عَائِلَتِي فِي بَيْتٍ كَبِيرٍ وَجَدِيدٍ. بَيْتُنَا فِيهِ طَابِقَانِ وَسِتُّ غُرَفٍ وَحَمَّامَانِ. فِي الطَّابِقِ الأَرْضِيِّ مَدْخَلٌ وَغُرْفَةُ جُلُوسٍ وَمَطْبَخٌ وَغُرْفَةُ طَعَامٍ وَحَمَّامٌ. فِي الطَّابِقِ الأَوَّلِ ثَلَاثُ غُرَفِ نَوْمٍ وَحَمَّامٌ آخَرُ. عِنْدَنَا حَدِيقَةٌ صَغِيرَةٌ وَمَرْآبٌ. غُرْفَتِي فِي الطَّابِقِ الأَوَّلِ، وَفِيهَا نَافِذَةٌ كَبِيرَةٌ. أُحِبُّ بَيْتِي لِأَنَّهُ مُرِيحٌ وَهَادِئٌ.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The English column gives the CATEGORY. Website strategy: find exact evidence about house type, rooms, floors and opinions. Note غُرْفَتَا نَوْمٍ = two bedrooms (the dual in a room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compare with Text A — flat vs house, balcony vs garden, masculine لَكِنَّهُ (house) vs feminine لَكِنَّهَا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(Omar) and 7, 9 (Huda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“Describe a room, floor or garden using يوجد/توجد and location phrases. Your partner sketches the layout and checks it against the original.”
Website Topic B challenge “Room detective” (يوجد/توجد, demonstratives and locative prepositions). يُوجَدُ / تُوجَدُ is taught fully in the next lesson (TB-L05) — today Core may use فِي بَيْتِي … instead. Privacy: an invented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connected house tour” (45–60 seconds). Prompt cards (website):
• Family house: two floors · six rooms · garden · garage
• City flat: second floor · two bedrooms · balcony · no garden
• Old country home: ground floor · four rooms · roof · quiet garden
• Dream home: three floors · study · dining room · roof terrace
Website checklist (listener ticks 1–6): home type · at least five areas · فِي بَيْتِي / عِنْدِي / هُنَاكَ · adjectives match · two connectors · clear delivery.
Privacy: a fictional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rooms and use fī baytī (in my house) in five sentences. · Develop — Add floors, six or more rooms and accurate adjectives (50–70 words). · Stretch — Compare two rooms and justify a favourite using wa-lākin (but) and li-anna (because).
Website writing task (Stretch): Website writing task: 6–8 connected sentences describing your own home, the fictional Al-Nour home or a dream home — home type and size, floors, main rooms, other parts, favourite room and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(speaking prompt “Family house”). Develop: add one agreeing adjective to a room (غُرْفَةُ جُلُوسٍ كَبِيرَةٌ).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(TB-L05 · Furniture, Furnishings and Appliances) will spend class time USING this language, so students prepare it tonight — short, simple, easy to access (school guidance: “Simple, Short, Interesting, Relevant, Easy to access”). The five words come from the website TB-L05 core furniture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00" b="1" dirty="0">
                <a:solidFill>
                  <a:srgbClr val="FFFFFF"/>
                </a:solidFill>
                <a:latin typeface="Cambria" pitchFamily="34" charset="0"/>
                <a:cs typeface="Amiri" pitchFamily="2" charset="-78"/>
              </a:rPr>
              <a:t>My Home, Rooms and Garden</a:t>
            </a:r>
            <a:endParaRPr lang="en-US" sz="3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بَيْتِي وَغُرَفُهُ وَحَدِيقَتُهُ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layout, location and qualities of a home in connected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TB-L04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parts and rooms, then “the room of …” and in my house / I have.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Tour Mission, listen to Salma, read two homes.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كِبَارٌ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garden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room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ea typeface="Amiri" pitchFamily="2" charset="-78"/>
                <a:cs typeface="Amiri" pitchFamily="2" charset="-78"/>
              </a:rPr>
              <a:t>بَيْتِي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and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كِبَارٌ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كَبِيرَةٌ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room is feminine (ghurfa), a house is masculine (bayt): the adjective follows. And “my” is -ī: baytī, ghurfatī.</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كَبِيرٌ · غُرْفَتِ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كَبِيرَ</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lesson bank of rooms and house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room-name iḍāfa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فِي بَيْتِي، عِنْدِي، هُنَاكَ</a:t>
            </a:r>
            <a:pPr algn="l" indent="0" marL="0">
              <a:buNone/>
            </a:pPr>
            <a:r>
              <a:rPr lang="en-US" sz="1300" dirty="0">
                <a:solidFill>
                  <a:srgbClr val="1F2A37"/>
                </a:solidFill>
                <a:latin typeface="Calibri" pitchFamily="34" charset="0"/>
                <a:cs typeface="Amiri" pitchFamily="2" charset="-78"/>
              </a:rPr>
              <a:t> and room-counting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real, fictional or dream home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rooms.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house (fī baytī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count rooms and floors.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adjectives agree with house / room.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rooms.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my favourite room with because.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House parts, rooms and floors — all from the website. Core: the six rooms, house, flat and garden.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Types and parts of a home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Rooms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Floors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‎حمام‎ </a:t>
            </a:r>
            <a:pPr indent="0" marL="0">
              <a:buNone/>
            </a:pPr>
            <a:r>
              <a:rPr lang="en-US" sz="950" b="1" dirty="0">
                <a:solidFill>
                  <a:srgbClr val="2E8B57"/>
                </a:solidFill>
                <a:latin typeface="Calibri" pitchFamily="34" charset="0"/>
                <a:cs typeface="Amiri" pitchFamily="2" charset="-78"/>
              </a:rPr>
              <a:t> ḥammām · bathroom (Urdu: bath-house)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‎باب‎ </a:t>
            </a:r>
            <a:pPr indent="0" marL="0">
              <a:buNone/>
            </a:pPr>
            <a:r>
              <a:rPr lang="en-US" sz="950" b="1" dirty="0">
                <a:solidFill>
                  <a:srgbClr val="2E8B57"/>
                </a:solidFill>
                <a:latin typeface="Calibri" pitchFamily="34" charset="0"/>
                <a:cs typeface="Amiri" pitchFamily="2" charset="-78"/>
              </a:rPr>
              <a:t> bāb · door (Urdu: chapter / gate)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مَنْزِلٌ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‎منزل‎ </a:t>
            </a:r>
            <a:pPr indent="0" marL="0">
              <a:buNone/>
            </a:pPr>
            <a:r>
              <a:rPr lang="en-US" sz="950" b="1" dirty="0">
                <a:solidFill>
                  <a:srgbClr val="2E8B57"/>
                </a:solidFill>
                <a:latin typeface="Calibri" pitchFamily="34" charset="0"/>
                <a:cs typeface="Amiri" pitchFamily="2" charset="-78"/>
              </a:rPr>
              <a:t> manzil · home (Urdu: destination, storey)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حَدِيقَةٌ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‎حدیقہ‎ </a:t>
            </a:r>
            <a:pPr indent="0" marL="0">
              <a:buNone/>
            </a:pPr>
            <a:r>
              <a:rPr lang="ar-SA" sz="950" b="1" dirty="0">
                <a:solidFill>
                  <a:srgbClr val="2E8B57"/>
                </a:solidFill>
                <a:latin typeface="Calibri" pitchFamily="34" charset="0"/>
                <a:ea typeface="Amiri" pitchFamily="2" charset="-78"/>
                <a:cs typeface="Amiri" pitchFamily="2" charset="-78"/>
              </a:rPr>
              <a:t> ḥadīqa · garden (Urdu: باغ)</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‎مکان‎ </a:t>
            </a:r>
            <a:pPr indent="0" marL="0">
              <a:buNone/>
            </a:pPr>
            <a:r>
              <a:rPr lang="en-US" sz="950" b="1" dirty="0">
                <a:solidFill>
                  <a:srgbClr val="2E8B57"/>
                </a:solidFill>
                <a:latin typeface="Calibri" pitchFamily="34" charset="0"/>
                <a:cs typeface="Amiri" pitchFamily="2" charset="-78"/>
              </a:rPr>
              <a:t> makān · Arabic: place · Urdu: house!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TYPES AND PARTS OF A HOME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flat, door, window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المَسَاكِنِ وَأَجْزَاؤُهَا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house / home</a:t>
            </a:r>
            <a:endParaRPr lang="en-US" sz="1350" dirty="0"/>
          </a:p>
          <a:p>
            <a:pPr indent="0" marL="0">
              <a:buNone/>
            </a:pPr>
            <a:r>
              <a:rPr lang="en-US" sz="1100" i="1" dirty="0">
                <a:solidFill>
                  <a:srgbClr val="5A6472"/>
                </a:solidFill>
                <a:latin typeface="Calibri" pitchFamily="34" charset="0"/>
                <a:cs typeface="Amiri" pitchFamily="2" charset="-78"/>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شَقَّةٌ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flat / apartment</a:t>
            </a:r>
            <a:endParaRPr lang="en-US" sz="1350" dirty="0"/>
          </a:p>
          <a:p>
            <a:pPr indent="0" marL="0">
              <a:buNone/>
            </a:pPr>
            <a:r>
              <a:rPr lang="en-US" sz="1100" i="1" dirty="0">
                <a:solidFill>
                  <a:srgbClr val="5A6472"/>
                </a:solidFill>
                <a:latin typeface="Calibri" pitchFamily="34" charset="0"/>
                <a:cs typeface="Amiri" pitchFamily="2" charset="-78"/>
              </a:rPr>
              <a:t>shaq-qa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door</a:t>
            </a:r>
            <a:endParaRPr lang="en-US" sz="1350" dirty="0"/>
          </a:p>
          <a:p>
            <a:pPr indent="0" marL="0">
              <a:buNone/>
            </a:pPr>
            <a:r>
              <a:rPr lang="en-US" sz="1100" i="1" dirty="0">
                <a:solidFill>
                  <a:srgbClr val="5A6472"/>
                </a:solidFill>
                <a:latin typeface="Calibri" pitchFamily="34" charset="0"/>
                <a:cs typeface="Amiri" pitchFamily="2" charset="-78"/>
              </a:rPr>
              <a:t>bāb</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أَبْوَابٌ</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نَافِذَةٌ / شَبَّاكٌ</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window</a:t>
            </a:r>
            <a:endParaRPr lang="en-US" sz="1350" dirty="0"/>
          </a:p>
          <a:p>
            <a:pPr indent="0" marL="0">
              <a:buNone/>
            </a:pPr>
            <a:r>
              <a:rPr lang="en-US" sz="1100" i="1" dirty="0">
                <a:solidFill>
                  <a:srgbClr val="5A6472"/>
                </a:solidFill>
                <a:latin typeface="Calibri" pitchFamily="34" charset="0"/>
                <a:cs typeface="Amiri" pitchFamily="2" charset="-78"/>
              </a:rPr>
              <a:t>nā-fi-dha / shub-bāk</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نَوَافِذُ / شَبَابِيكُ</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garden</a:t>
            </a:r>
            <a:endParaRPr lang="en-US" sz="1350" dirty="0"/>
          </a:p>
          <a:p>
            <a:pPr indent="0" marL="0">
              <a:buNone/>
            </a:pPr>
            <a:r>
              <a:rPr lang="en-US" sz="1100" i="1" dirty="0">
                <a:solidFill>
                  <a:srgbClr val="5A6472"/>
                </a:solidFill>
                <a:latin typeface="Calibri" pitchFamily="34" charset="0"/>
                <a:cs typeface="Amiri" pitchFamily="2" charset="-78"/>
              </a:rPr>
              <a:t>ḥa-dī-qa</a:t>
            </a:r>
            <a:endParaRPr lang="en-US" sz="1350" dirty="0"/>
          </a:p>
        </p:txBody>
      </p:sp>
      <p:sp>
        <p:nvSpPr>
          <p:cNvPr id="78" name="Shape 7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مَرْآبٌ</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garage</a:t>
            </a:r>
            <a:endParaRPr lang="en-US" sz="1350" dirty="0"/>
          </a:p>
          <a:p>
            <a:pPr indent="0" marL="0">
              <a:buNone/>
            </a:pPr>
            <a:r>
              <a:rPr lang="en-US" sz="1100" i="1" dirty="0">
                <a:solidFill>
                  <a:srgbClr val="5A6472"/>
                </a:solidFill>
                <a:latin typeface="Calibri" pitchFamily="34" charset="0"/>
                <a:cs typeface="Amiri" pitchFamily="2" charset="-78"/>
              </a:rPr>
              <a:t>mar-ʾāb</a:t>
            </a:r>
            <a:endParaRPr lang="en-US" sz="1350" dirty="0"/>
          </a:p>
        </p:txBody>
      </p:sp>
      <p:sp>
        <p:nvSpPr>
          <p:cNvPr id="88" name="Shape 8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مَرَائِبُ</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MORE HOUSE PARTS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Stairs, walls, roof, balcony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مَدْخَلٌ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 / hall</a:t>
            </a:r>
            <a:endParaRPr lang="en-US" sz="1350" dirty="0"/>
          </a:p>
          <a:p>
            <a:pPr indent="0" marL="0">
              <a:buNone/>
            </a:pPr>
            <a:r>
              <a:rPr lang="en-US" sz="1100" i="1" dirty="0">
                <a:solidFill>
                  <a:srgbClr val="5A6472"/>
                </a:solidFill>
                <a:latin typeface="Calibri" pitchFamily="34" charset="0"/>
                <a:cs typeface="Amiri" pitchFamily="2" charset="-78"/>
              </a:rPr>
              <a:t>mad-khal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مَدَاخِلُ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 / سُلَّمٌ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stairs</a:t>
            </a:r>
            <a:endParaRPr lang="en-US" sz="1350" dirty="0"/>
          </a:p>
          <a:p>
            <a:pPr indent="0" marL="0">
              <a:buNone/>
            </a:pPr>
            <a:r>
              <a:rPr lang="en-US" sz="1100" i="1" dirty="0">
                <a:solidFill>
                  <a:srgbClr val="5A6472"/>
                </a:solidFill>
                <a:latin typeface="Calibri" pitchFamily="34" charset="0"/>
                <a:cs typeface="Amiri" pitchFamily="2" charset="-78"/>
              </a:rPr>
              <a:t>da-raj / sul-lam</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حَائِطٌ</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wall</a:t>
            </a:r>
            <a:endParaRPr lang="en-US" sz="1350" dirty="0"/>
          </a:p>
          <a:p>
            <a:pPr indent="0" marL="0">
              <a:buNone/>
            </a:pPr>
            <a:r>
              <a:rPr lang="en-US" sz="1100" i="1" dirty="0">
                <a:solidFill>
                  <a:srgbClr val="5A6472"/>
                </a:solidFill>
                <a:latin typeface="Calibri" pitchFamily="34" charset="0"/>
                <a:cs typeface="Amiri" pitchFamily="2" charset="-78"/>
              </a:rPr>
              <a:t>ḥā-ʾiṭ</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سَقْفٌ · سَطْحٌ</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ceiling · rooftop</a:t>
            </a:r>
            <a:endParaRPr lang="en-US" sz="1350" dirty="0"/>
          </a:p>
          <a:p>
            <a:pPr indent="0" marL="0">
              <a:buNone/>
            </a:pPr>
            <a:r>
              <a:rPr lang="en-US" sz="1100" i="1" dirty="0">
                <a:solidFill>
                  <a:srgbClr val="5A6472"/>
                </a:solidFill>
                <a:latin typeface="Calibri" pitchFamily="34" charset="0"/>
                <a:cs typeface="Amiri" pitchFamily="2" charset="-78"/>
              </a:rPr>
              <a:t>saqf · saṭḥ</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Do not confuse (website): </a:t>
            </a:r>
            <a:pPr algn="l" indent="0" marL="0">
              <a:buNone/>
            </a:pPr>
            <a:r>
              <a:rPr lang="ar-SA" altLang="en-US" sz="1150" dirty="0">
                <a:solidFill>
                  <a:srgbClr val="8A6D1E"/>
                </a:solidFill>
                <a:latin typeface="Amiri" pitchFamily="2" charset="-78"/>
                <a:ea typeface="Amiri" pitchFamily="2" charset="-78"/>
                <a:cs typeface="Amiri" pitchFamily="2" charset="-78"/>
              </a:rPr>
              <a:t>سَقْفٌ</a:t>
            </a:r>
            <a:pPr algn="l" indent="0" marL="0">
              <a:buNone/>
            </a:pPr>
            <a:r>
              <a:rPr lang="en-US" sz="900" i="1" dirty="0">
                <a:solidFill>
                  <a:srgbClr val="8A6D1E"/>
                </a:solidFill>
                <a:latin typeface="Calibri" pitchFamily="34" charset="0"/>
                <a:cs typeface="Amiri" pitchFamily="2" charset="-78"/>
              </a:rPr>
              <a:t> = ceiling / roof covering; </a:t>
            </a:r>
            <a:pPr algn="l" indent="0" marL="0">
              <a:buNone/>
            </a:pPr>
            <a:r>
              <a:rPr lang="ar-SA" altLang="en-US" sz="1150" dirty="0">
                <a:solidFill>
                  <a:srgbClr val="8A6D1E"/>
                </a:solidFill>
                <a:latin typeface="Amiri" pitchFamily="2" charset="-78"/>
                <a:ea typeface="Amiri" pitchFamily="2" charset="-78"/>
                <a:cs typeface="Amiri" pitchFamily="2" charset="-78"/>
              </a:rPr>
              <a:t>سَطْحٌ</a:t>
            </a:r>
            <a:pPr algn="l" indent="0" marL="0">
              <a:buNone/>
            </a:pPr>
            <a:r>
              <a:rPr lang="en-US" sz="900" i="1" dirty="0">
                <a:solidFill>
                  <a:srgbClr val="8A6D1E"/>
                </a:solidFill>
                <a:latin typeface="Calibri" pitchFamily="34" charset="0"/>
                <a:cs typeface="Amiri" pitchFamily="2" charset="-78"/>
              </a:rPr>
              <a:t> = flat rooftop.</a:t>
            </a:r>
            <a:endParaRPr lang="en-US" sz="9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corridor / hallway</a:t>
            </a:r>
            <a:endParaRPr lang="en-US" sz="1350" dirty="0"/>
          </a:p>
          <a:p>
            <a:pPr indent="0" marL="0">
              <a:buNone/>
            </a:pPr>
            <a:r>
              <a:rPr lang="en-US" sz="1100" i="1" dirty="0">
                <a:solidFill>
                  <a:srgbClr val="5A6472"/>
                </a:solidFill>
                <a:latin typeface="Calibri" pitchFamily="34" charset="0"/>
                <a:cs typeface="Amiri" pitchFamily="2" charset="-78"/>
              </a:rPr>
              <a:t>ma-marr</a:t>
            </a:r>
            <a:endParaRPr lang="en-US" sz="1350" dirty="0"/>
          </a:p>
        </p:txBody>
      </p:sp>
      <p:sp>
        <p:nvSpPr>
          <p:cNvPr id="59" name="Shape 56"/>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مَمَرَّاتٌ</a:t>
            </a:r>
            <a:endParaRPr lang="ar-SA" sz="150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Shape 6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7" name="Text 6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شُرْفَةٌ</a:t>
            </a:r>
            <a:endParaRPr lang="ar-SA" sz="3000" dirty="0"/>
          </a:p>
        </p:txBody>
      </p:sp>
      <p:sp>
        <p:nvSpPr>
          <p:cNvPr id="68" name="Text 6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balcony</a:t>
            </a:r>
            <a:endParaRPr lang="en-US" sz="1350" dirty="0"/>
          </a:p>
          <a:p>
            <a:pPr indent="0" marL="0">
              <a:buNone/>
            </a:pPr>
            <a:r>
              <a:rPr lang="en-US" sz="1100" i="1" dirty="0">
                <a:solidFill>
                  <a:srgbClr val="5A6472"/>
                </a:solidFill>
                <a:latin typeface="Calibri" pitchFamily="34" charset="0"/>
                <a:cs typeface="Amiri" pitchFamily="2" charset="-78"/>
              </a:rPr>
              <a:t>shur-fa</a:t>
            </a:r>
            <a:endParaRPr lang="en-US" sz="1350" dirty="0"/>
          </a:p>
        </p:txBody>
      </p:sp>
      <p:sp>
        <p:nvSpPr>
          <p:cNvPr id="69" name="Shape 66"/>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شُرُفَاتٌ</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COMPLETE ROOM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غُرَفُ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sleeping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n-nawm</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النَّوْمِ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غُرْفَةُ نَوْمِي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sitting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ghur-fa-tu l-ju-lūs</a:t>
            </a:r>
            <a:endParaRPr lang="en-US" sz="1350" dirty="0"/>
          </a:p>
        </p:txBody>
      </p:sp>
      <p:sp>
        <p:nvSpPr>
          <p:cNvPr id="39" name="Text 3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الصَّالَةُ</a:t>
            </a:r>
            <a:pPr algn="l" indent="0" marL="0">
              <a:buNone/>
            </a:pPr>
            <a:r>
              <a:rPr lang="en-US" sz="1000" i="1" dirty="0">
                <a:solidFill>
                  <a:srgbClr val="8A6D1E"/>
                </a:solidFill>
                <a:latin typeface="Calibri" pitchFamily="34" charset="0"/>
                <a:cs typeface="Amiri" pitchFamily="2" charset="-78"/>
              </a:rPr>
              <a:t> (lounge).</a:t>
            </a:r>
            <a:endParaRPr lang="en-US" sz="10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المَطْبَخُ</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kitchen</a:t>
            </a:r>
            <a:endParaRPr lang="en-US" sz="1350" dirty="0"/>
          </a:p>
          <a:p>
            <a:pPr indent="0" marL="0">
              <a:buNone/>
            </a:pPr>
            <a:r>
              <a:rPr lang="en-US" sz="1100" i="1" dirty="0">
                <a:solidFill>
                  <a:srgbClr val="5A6472"/>
                </a:solidFill>
                <a:latin typeface="Calibri" pitchFamily="34" charset="0"/>
                <a:cs typeface="Amiri" pitchFamily="2" charset="-78"/>
              </a:rPr>
              <a:t>al-maṭ-bakh</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مَطَابِخُ</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الحَمَّامُ</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bathroom</a:t>
            </a:r>
            <a:endParaRPr lang="en-US" sz="1350" dirty="0"/>
          </a:p>
          <a:p>
            <a:pPr indent="0" marL="0">
              <a:buNone/>
            </a:pPr>
            <a:r>
              <a:rPr lang="en-US" sz="1100" i="1" dirty="0">
                <a:solidFill>
                  <a:srgbClr val="5A6472"/>
                </a:solidFill>
                <a:latin typeface="Calibri" pitchFamily="34" charset="0"/>
                <a:cs typeface="Amiri" pitchFamily="2" charset="-78"/>
              </a:rPr>
              <a:t>al-ḥam-mām</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حَمَّامَاتٌ</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7" name="Shape 6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food</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الطَّعَامِ</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room</a:t>
            </a:r>
            <a:endParaRPr lang="en-US" sz="1350" dirty="0"/>
          </a:p>
          <a:p>
            <a:pPr indent="0" marL="0">
              <a:buNone/>
            </a:pPr>
            <a:r>
              <a:rPr lang="en-US" sz="1100" i="1" dirty="0">
                <a:solidFill>
                  <a:srgbClr val="5A6472"/>
                </a:solidFill>
                <a:latin typeface="Calibri" pitchFamily="34" charset="0"/>
                <a:cs typeface="Amiri" pitchFamily="2" charset="-78"/>
              </a:rPr>
              <a:t>ghur-fa-tu ṭ-ṭa-ʿām</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المَكْتَبُ</a:t>
            </a:r>
            <a:endParaRPr lang="ar-SA" sz="3000" dirty="0"/>
          </a:p>
        </p:txBody>
      </p:sp>
      <p:sp>
        <p:nvSpPr>
          <p:cNvPr id="79" name="Text 7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study / office</a:t>
            </a:r>
            <a:endParaRPr lang="en-US" sz="1350" dirty="0"/>
          </a:p>
          <a:p>
            <a:pPr indent="0" marL="0">
              <a:buNone/>
            </a:pPr>
            <a:r>
              <a:rPr lang="en-US" sz="1100" i="1" dirty="0">
                <a:solidFill>
                  <a:srgbClr val="5A6472"/>
                </a:solidFill>
                <a:latin typeface="Calibri" pitchFamily="34" charset="0"/>
                <a:cs typeface="Amiri" pitchFamily="2" charset="-78"/>
              </a:rPr>
              <a:t>al-mak-tab</a:t>
            </a:r>
            <a:endParaRPr lang="en-US" sz="1350" dirty="0"/>
          </a:p>
        </p:txBody>
      </p:sp>
      <p:sp>
        <p:nvSpPr>
          <p:cNvPr id="80" name="Text 7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 desk” — context decides (website).</a:t>
            </a:r>
            <a:endParaRPr lang="en-US" sz="10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ROOM OF …” (WEBSITE IḌĀFA)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 the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إِضَافَةُ أَسْمَاءِ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room of (no </a:t>
            </a:r>
            <a:pPr algn="ctr" indent="0" marL="0">
              <a:buNone/>
            </a:pPr>
            <a:r>
              <a:rPr lang="ar-SA" altLang="en-US" sz="1450" b="1" dirty="0">
                <a:solidFill>
                  <a:srgbClr val="FFFFFF"/>
                </a:solidFill>
                <a:latin typeface="Amiri" pitchFamily="2" charset="-78"/>
                <a:ea typeface="Amiri" pitchFamily="2" charset="-78"/>
                <a:cs typeface="Amiri" pitchFamily="2" charset="-78"/>
              </a:rPr>
              <a:t>الـ</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a:t>
            </a:r>
            <a:endParaRPr lang="en-US" sz="1100" dirty="0"/>
          </a:p>
        </p:txBody>
      </p:sp>
      <p:sp>
        <p:nvSpPr>
          <p:cNvPr id="18" name="Text 15"/>
          <p:cNvSpPr txBox="1"/>
          <p:nvPr/>
        </p:nvSpPr>
        <p:spPr>
          <a:xfrm>
            <a:off x="35753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room name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22" name="Text 19"/>
          <p:cNvSpPr txBox="1"/>
          <p:nvPr/>
        </p:nvSpPr>
        <p:spPr>
          <a:xfrm>
            <a:off x="706831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النَّوْمِ</a:t>
            </a:r>
            <a:endParaRPr lang="ar-SA" sz="2600" dirty="0"/>
          </a:p>
        </p:txBody>
      </p:sp>
      <p:sp>
        <p:nvSpPr>
          <p:cNvPr id="23" name="Text 20"/>
          <p:cNvSpPr txBox="1"/>
          <p:nvPr/>
        </p:nvSpPr>
        <p:spPr>
          <a:xfrm>
            <a:off x="3593592" y="2267712"/>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النَّوْمِ</a:t>
            </a:r>
            <a:endParaRPr lang="ar-SA" sz="2600" dirty="0"/>
          </a:p>
        </p:txBody>
      </p:sp>
      <p:sp>
        <p:nvSpPr>
          <p:cNvPr id="24" name="Text 21"/>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bedroom (room of the sleeping)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29" name="Text 26"/>
          <p:cNvSpPr txBox="1"/>
          <p:nvPr/>
        </p:nvSpPr>
        <p:spPr>
          <a:xfrm>
            <a:off x="706831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الجُلُوسِ</a:t>
            </a:r>
            <a:endParaRPr lang="ar-SA" sz="2600" dirty="0"/>
          </a:p>
        </p:txBody>
      </p:sp>
      <p:sp>
        <p:nvSpPr>
          <p:cNvPr id="30" name="Text 27"/>
          <p:cNvSpPr txBox="1"/>
          <p:nvPr/>
        </p:nvSpPr>
        <p:spPr>
          <a:xfrm>
            <a:off x="3593592" y="300471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الجُلُوسِ</a:t>
            </a:r>
            <a:endParaRPr lang="ar-SA" sz="2600" dirty="0"/>
          </a:p>
        </p:txBody>
      </p:sp>
      <p:sp>
        <p:nvSpPr>
          <p:cNvPr id="31" name="Text 28"/>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living room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36" name="Text 33"/>
          <p:cNvSpPr txBox="1"/>
          <p:nvPr/>
        </p:nvSpPr>
        <p:spPr>
          <a:xfrm>
            <a:off x="706831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الطَّعَامِ</a:t>
            </a:r>
            <a:endParaRPr lang="ar-SA" sz="2600" dirty="0"/>
          </a:p>
        </p:txBody>
      </p:sp>
      <p:sp>
        <p:nvSpPr>
          <p:cNvPr id="37" name="Text 34"/>
          <p:cNvSpPr txBox="1"/>
          <p:nvPr/>
        </p:nvSpPr>
        <p:spPr>
          <a:xfrm>
            <a:off x="3593592" y="3741725"/>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الطَّعَامِ</a:t>
            </a:r>
            <a:endParaRPr lang="ar-SA" sz="2600" dirty="0"/>
          </a:p>
        </p:txBody>
      </p:sp>
      <p:sp>
        <p:nvSpPr>
          <p:cNvPr id="38" name="Text 35"/>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dining room</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بَابُ</a:t>
            </a:r>
            <a:endParaRPr lang="ar-SA" sz="2600" dirty="0"/>
          </a:p>
        </p:txBody>
      </p:sp>
      <p:sp>
        <p:nvSpPr>
          <p:cNvPr id="43" name="Text 40"/>
          <p:cNvSpPr txBox="1"/>
          <p:nvPr/>
        </p:nvSpPr>
        <p:spPr>
          <a:xfrm>
            <a:off x="706831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البَيْتِ</a:t>
            </a:r>
            <a:endParaRPr lang="ar-SA" sz="2600" dirty="0"/>
          </a:p>
        </p:txBody>
      </p:sp>
      <p:sp>
        <p:nvSpPr>
          <p:cNvPr id="44" name="Text 41"/>
          <p:cNvSpPr txBox="1"/>
          <p:nvPr/>
        </p:nvSpPr>
        <p:spPr>
          <a:xfrm>
            <a:off x="3593592" y="4478731"/>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بَابُ</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البَيْتِ</a:t>
            </a:r>
            <a:endParaRPr lang="ar-SA" sz="2600" dirty="0"/>
          </a:p>
        </p:txBody>
      </p:sp>
      <p:sp>
        <p:nvSpPr>
          <p:cNvPr id="45" name="Text 42"/>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door</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نَافِذَةُ</a:t>
            </a:r>
            <a:endParaRPr lang="ar-SA" sz="2600" dirty="0"/>
          </a:p>
        </p:txBody>
      </p:sp>
      <p:sp>
        <p:nvSpPr>
          <p:cNvPr id="48" name="Text 45"/>
          <p:cNvSpPr txBox="1"/>
          <p:nvPr/>
        </p:nvSpPr>
        <p:spPr>
          <a:xfrm>
            <a:off x="706831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المَطْبَخِ</a:t>
            </a:r>
            <a:endParaRPr lang="ar-SA" sz="2600" dirty="0"/>
          </a:p>
        </p:txBody>
      </p:sp>
      <p:sp>
        <p:nvSpPr>
          <p:cNvPr id="49" name="Text 46"/>
          <p:cNvSpPr txBox="1"/>
          <p:nvPr/>
        </p:nvSpPr>
        <p:spPr>
          <a:xfrm>
            <a:off x="3593592" y="521573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نَافِذَةُ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المَطْبَخِ</a:t>
            </a:r>
            <a:endParaRPr lang="ar-SA" sz="2600" dirty="0"/>
          </a:p>
        </p:txBody>
      </p:sp>
      <p:sp>
        <p:nvSpPr>
          <p:cNvPr id="50" name="Text 47"/>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kitchen window</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nouns side by side: the first has no al- (and no -un); the second carries “the”.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THREE HOME FRAMES + COUNTING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my house · I have · there 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بَيْتِي · عِنْدِي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LIST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بَيْتِي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فِي بَيْتِي مَطْبَخٌ وَحَمَّامٌ.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house there is a kitchen and a bathroom.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the home contains.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HAVE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عِنْدِي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عِنْدِي غُرْفَةُ نَوْمٍ كَبِيرَةٌ.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a big bedroom.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Possession: ‘indī.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هُنَاكَ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هُنَاكَ ثَلَاثُ غُرَفٍ.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three rooms.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f. → thalāthu (not thalāthatu).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House m. · room f. — the adjective follows (website).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غُرْفَةٌ كَبِيرَةٌ وَجَدِيدَةٌ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غُرْفَةٌ كَبِيرٌ وَجَدِيدٌ</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بَيْتِي مَطْبَخٌ.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فِي مَطْبَخٌ.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مَطْبَخٌ.</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حَدِيقَةٌ.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حَدِيقَتِي.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عِنْدِي.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ثَلَاثَةُ غُرَفٍ.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 غُرَفٍ.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 غُرْفَةٍ.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شَقَّتِي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بَيْتِي مَطْبَخٌ.</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فِي مَطْبَخٌ.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 مَطْبَخٌ.</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بَيْتِي</a:t>
            </a:r>
            <a:pPr algn="l" indent="0" marL="0">
              <a:buNone/>
            </a:pPr>
            <a:r>
              <a:rPr lang="en-US" sz="1050" i="1" dirty="0">
                <a:solidFill>
                  <a:srgbClr val="8A6D1E"/>
                </a:solidFill>
                <a:latin typeface="Calibri" pitchFamily="34" charset="0"/>
                <a:cs typeface="Amiri" pitchFamily="2" charset="-78"/>
              </a:rPr>
              <a:t> introduces what is in the home.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حَدِيقَةٌ.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حَدِيقَتِي.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عِنْدِي.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expresses possession.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ثَلَاثَةُ غُرَفٍ.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هُنَاكَ ثَلَاثُ غُرَفٍ.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ثَلَاثُ غُرْفَةٍ.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with plural </a:t>
            </a:r>
            <a:pPr algn="l" indent="0" marL="0">
              <a:buNone/>
            </a:pPr>
            <a:r>
              <a:rPr lang="ar-SA" altLang="en-US" sz="1350" dirty="0">
                <a:solidFill>
                  <a:srgbClr val="8A6D1E"/>
                </a:solidFill>
                <a:latin typeface="Amiri" pitchFamily="2" charset="-78"/>
                <a:ea typeface="Amiri" pitchFamily="2" charset="-78"/>
                <a:cs typeface="Amiri" pitchFamily="2" charset="-78"/>
              </a:rPr>
              <a:t>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شَقَّتِي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tour a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فِي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شَقَّةٍ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الطَّابِقِ الثَّانِي.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on the 2nd floor.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شَقَّتِي صَغِيرَ</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وَلَكِنَّهَا جَمِيلَ</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is f. → -a on both adjectives.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فِيهَا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غُرْفَتَا نَوْمٍ وَ</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غُرْفَةُ جُلُوسٍ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bedrooms, living room, kitchen.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عِنْدَنَا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شُرْفَةٌ. أُحِبُّ شَقَّتِي لِأَنَّهَا مُرِيحَةٌ.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we have + because.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HOME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FRAME</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ROOM NAME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شَقَّةٍ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الطَّابِقِ الثَّانِي. شَقَّتِي صَغِيرَ</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وَلَكِنَّهَا جَمِيلَ</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فِيهَا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غُرْفَتَا نَوْمٍ وَ</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غُرْفَةُ جُلُوسٍ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وَمَطْبَخٌ وَحَمَّامٌ.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عِنْدَنَا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شُرْفَةٌ، وَلَكِنْ لَيْسَ عِنْدَنَا حَدِيقَةٌ. أُحِبُّ شَقَّتِي لِأَنَّهَا مُرِيحَةٌ.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flat on the second floor. My flat is small but beautiful. It has two bedrooms, a living room, a kitchen and a bathroom. We have a balcony, but we don’t have a garden. I like my flat because it is comfortable.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MY HOME — ROOMS AND PARTS OF THE HOUSE”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شَقَّةٍ.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غُرْفَةُ النَّوْمِ.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المَطْبَخُ.</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شَقَّةٍ.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a flat.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“HOUSE TOUR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 the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جَوْلَةِ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مَرْآبٌ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الطَّعَامِ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طَعَامٌ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الطَّعَامِ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كَبِيرٌ وَقَدِيمٌ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كَبِيرَةٌ وَقَدِيمَةٌ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كَبِيرٌ وَقَدِيمٌ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 مُرِيحٌ.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لِأَنَّهَا مُرِيحَةٌ.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لِأَنَّهَا مُرِيحَةٌ.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مَرْآبٌ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a flat/apartment.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الطَّعَامِ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طَعَامٌ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الطَّعَامِ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غُرَفٍ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غُرْفَةٍ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غُرَفٍ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 كَبِيرٌ وَقَدِيمٌ</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كَبِيرَةٌ وَقَدِيمَةٌ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كَبِيرٌ وَقَدِيمٌ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adjectives agree with masculine </a:t>
            </a:r>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غُرْفَتِي لِأَنَّهُ مُرِيحٌ.</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غُرْفَتِي لِأَنَّهَا مُرِيحَةٌ.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بَيْتِي لِأَنَّهَا مُرِيحَةٌ.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room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مُرِيحَةٌ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الغُرْفَةُ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name: which noun loses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هُنَاكَ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number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غُرْفَتِي كَبِيرٌ.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adjective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الغُرْفَةُ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غُرْفَةُ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a room name the first noun has no al- (website “Repair these”).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هُنَاكَ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هُنَاكَ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so 3–10 take the opposite (masculine)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غُرْفَتِي كَبِيرٌ.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غُرْفَتِي 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the adjective ends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two-floor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new house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old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old house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and garage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balcony and roof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 garden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 and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large roof.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سَلْمَى. أَسْكُنُ مَعَ عَائِلَتِي فِي بَيْتٍ كَبِيرٍ وَجَدِيدٍ.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Salma. I live with my family in a big, new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بَيْتُنَا فِيهِ طَابِقَانِ وَسِتُّ غُرَفٍ وَحَمَّامَانِ.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house has two floors, six rooms and two bathrooms.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مَدْخَلٌ وَغُرْفَةُ جُلُوسٍ وَمَطْبَخٌ وَغُرْفَةُ طَعَامٍ وَحَمَّامٌ.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 a hall, a living room, a kitchen, a dining room and a bathroom.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الأَوَّلِ ثَلَاثُ غُرَفِ نَوْمٍ وَحَمَّامٌ آخَرُ. عِنْدَنَا حَدِيقَةٌ صَغِيرَةٌ وَمَرْآبٌ.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 three bedrooms and another bathroom. We have a small garden and a garage.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غُرْفَتِي فِي الطَّابِقِ الأَوَّلِ، وَفِيهَا نَافِذَةٌ كَبِيرَةٌ. أُحِبُّ بَيْتِي لِأَنَّهُ مُرِيحٌ وَهَادِئٌ.</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room is on the first floor and has a big window. I love my house because it is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new house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 old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old house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بَيْتٍ كَبِيرٍ وَجَدِيدٍ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بَيْتُنَا فِيهِ طَابِقَانِ.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الطَّابِقِ الأَوَّلِ ثَلَاثُ غُرَفِ نَوْمٍ.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and garage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balcony and roof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 garden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عِنْدَنَا حَدِيقَةٌ صَغِيرَةٌ وَمَرْآبٌ.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 and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 large roof.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مُرِيحٌ وَهَادِئٌ.</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flat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عُمَرُ. أَسْكُنُ مَعَ أُسْرَتِي فِي شَقَّةٍ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 floor: a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شَقَّتُنَا صَغِيرَةٌ وَلَكِنَّهَا جَمِيلَةٌ وَنَظِيفَةٌ.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beautiful and clean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غُرْفَةُ جُلُوسٍ وَغُرْفَتَا نَوْمٍ وَمَطْبَخٌ وَحَمَّامٌ وَمَمَرٌّ صَغِيرٌ.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Rooms: living room · two bedrooms · kitchen · bathroom · hallway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عِنْدَنَا حَدِيقَةٌ وَلَا مَرْآبٌ، وَلَكِنْ عِنْدَنَا شُرْفَةٌ.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garden, garage · but: a balcony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غُرْفَةَ الجُلُوسِ لِأَنَّهَا وَاسِعَةٌ وَمُرِيحَةٌ.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the living room —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house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 بَيْتُنَا قَدِيمٌ وَلَكِنَّهُ كَبِيرٌ.</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old but big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 طَابِقٌ أَرْضِيٌّ وَطَابِقٌ أَوَّلُ.</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Floors: ground + first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مَطْبَخٌ وَغُرْفَةُ طَعَامٍ وَغُرْفَةُ جُلُوسٍ كَبِيرَةٌ.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 floor: kitchen · dining room · big living 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الطَّابِقِ الأَوَّلِ أَرْبَعُ غُرَفِ نَوْمٍ وَحَمَّامَانِ.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floor: four bedrooms · two bathrooms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عِنْدَنَا حَدِيقَةٌ وَمَرْآبٌ وَسَطْحٌ. أُحِبُّ الحَدِيقَةَ لِأَنَّهَا جَمِيلَةٌ وَهَادِئَةٌ.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Extras: garden · garage · rooftop — opinion: the garden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second floor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or garage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 or bathroom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but 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but 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narrow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ground floor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second floor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first floor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شَقَّةٍ فِي الطَّابِقِ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غُرْفَتَا نَوْمٍ</a:t>
            </a:r>
            <a:pPr algn="l" indent="0" marL="0">
              <a:buNone/>
            </a:pPr>
            <a:r>
              <a:rPr lang="en-US" sz="1050" i="1" dirty="0">
                <a:solidFill>
                  <a:srgbClr val="8A6D1E"/>
                </a:solidFill>
                <a:latin typeface="Calibri" pitchFamily="34" charset="0"/>
                <a:cs typeface="Amiri" pitchFamily="2" charset="-78"/>
              </a:rPr>
              <a:t> means two bedrooms.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or garage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 or bathroom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عِنْدَنَا حَدِيقَةٌ وَلَا مَرْآبٌ.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but small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but 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narrow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بَيْتُنَا قَدِيمٌ وَلَكِنَّهُ كَبِيرٌ.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الطَّابِقِ الأَوَّلِ أَرْبَعُ غُرَفِ 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Room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a room, floor or garden using </a:t>
            </a:r>
            <a:pPr algn="l" indent="0" marL="0">
              <a:buNone/>
            </a:pPr>
            <a:r>
              <a:rPr lang="ar-SA" altLang="en-US" sz="1750" dirty="0">
                <a:solidFill>
                  <a:srgbClr val="1F2A37"/>
                </a:solidFill>
                <a:latin typeface="Amiri" pitchFamily="2" charset="-78"/>
                <a:ea typeface="Amiri" pitchFamily="2" charset="-78"/>
                <a:cs typeface="Amiri" pitchFamily="2" charset="-78"/>
              </a:rPr>
              <a:t>يوجد/توجد</a:t>
            </a:r>
            <a:pPr algn="l" indent="0" marL="0">
              <a:buNone/>
            </a:pPr>
            <a:r>
              <a:rPr lang="en-US" sz="1350" dirty="0">
                <a:solidFill>
                  <a:srgbClr val="1F2A37"/>
                </a:solidFill>
                <a:latin typeface="Calibri" pitchFamily="34" charset="0"/>
                <a:cs typeface="Amiri" pitchFamily="2" charset="-78"/>
              </a:rPr>
              <a:t> and location phrases. Your partner sketches the layout and checks it against the original.</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A describes a room, a floor or a garden (real or invented) in 4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 sketches the layout on paper while listening — no questions yet.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 shows the sketch to the camera; A checks it against the description.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Fix one location phrase each time.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three things: “fī … yūjadu / tūjadu …” with a word bank.</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location phrases: next to, in front of, above (bi-jānibi, amāma, fawqa).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whole floor: rooms, positions and one demonstrative (hādhihi / hādhā).</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بِجَانِبِ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next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أَمَامَ … / خَلْفَ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front of … / behind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الطَّابِقِ الأَوَّلِ</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the first floor</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connected house tour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بَيْتِكَ؟ / مَاذَا فِي بَيْتِكِ؟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غُرْفَةً فِي بَيْتِكَ؟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حَدِيقَةٌ؟ / هَلْ عِنْدَكِ حَدِيقَةٌ؟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غُرْفَتُكَ المُفَضَّلَةُ؟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بَيْتِي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بَيْتِي ___ غُرَفٍ. / غُرْفَتَانِ.</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نَعَمْ، عِنْدِي ___ . / لَا، لَيْسَ عِنْدِي ___ .</a:t>
            </a:r>
            <a:endParaRPr lang="ar-SA" sz="14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___ لِأَنَّهَا ___ ، وَلَكِنَّ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فِي بَيْتِكَ؟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house?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أَسْكُنُ فِي بَيْتٍ كَبِيرٍ مَعَ عَائِلَتِي. فِي بَيْتِي طَابِقَانِ وَسِتُّ غُرَفٍ.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live in a big house with my family. In my house there are two floors and six rooms.</a:t>
            </a:r>
            <a:endParaRPr lang="en-US" sz="8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rooms and use fī baytī (in my house) in five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Model + word bank: home type, three rooms with fī baytī, one thing you have (‘indī).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floors, six or more rooms and accurate adjectives (50–70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Floors, six rooms with a number, two agreeing adjectives, a favourite room.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rooms and justify a favourite using wa-lākin (but) and li-anna (because).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rooms (wa-lākin) and justify your favourite (li-annahā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______ غُرَفٍ.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ground floor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الأَوَّلِ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first floor there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لَيْسَ عِنْدَنَا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we don’t have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house /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بَيْتِي كَبِيرٌ / صَغِيرٌ.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big / small.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  ·  شَقَّةٌ  ·  غُرْفَةُ النَّوْمِ  ·  غُرْفَةُ الجُلُوسِ  ·  المَطْبَخُ  ·  الحَمَّامُ  ·  غُرْفَةُ الطَّعَامِ  ·  حَدِيقَةٌ  ·  فِي بَيْتِي  ·  عِنْدِي  ·  هُنَاكَ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بَيْتٍ كَبِيرٍ مَعَ عَائِلَتِي. فِي بَيْتِي طَابِقَانِ وَسِتُّ غُرَفٍ. فِي الطَّابِقِ الأَرْضِيِّ مَطْبَخٌ وَغُرْفَةُ جُلُوسٍ وَحَمَّامٌ. وَفِي الطَّابِقِ الأَوَّلِ ثَلَاثُ غُرَفِ نَوْمٍ. عِنْدَنَا حَدِيقَةٌ وَمَرْآبٌ. أُحِبُّ بَيْتِي لِأَنَّهُ 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big house with my family. In my house there are two floors and six rooms. On the ground floor there is a kitchen, a living room and a bathroom. And on the first floor there are three bedrooms. We have a garden and a garage. I love my house because it is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بَيْتِي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count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name (iḍāfa)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five rooms or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fī baytī or ‘indī.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names: the first noun has no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(f.) → -a adjective; house (m.) → no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rooms and gave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الطَّعَامِ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الجُلُوسِ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الطَّعَامِ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الجُلُوسِ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 النَّوْمِ</a:t>
            </a:r>
            <a:pPr algn="l" indent="0" marL="0">
              <a:buNone/>
            </a:pPr>
            <a:r>
              <a:rPr lang="en-US" sz="1050" i="1" dirty="0">
                <a:solidFill>
                  <a:srgbClr val="8A6D1E"/>
                </a:solidFill>
                <a:latin typeface="Calibri" pitchFamily="34" charset="0"/>
                <a:cs typeface="Amiri" pitchFamily="2" charset="-78"/>
              </a:rPr>
              <a:t> is bedroom.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الغُرْفَةُ الجُلُوسِ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الجُلُوسُ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ثَلَاثُ 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ثَلَاثَةُ غُرَفٍ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number has opposite gender and the noun is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TB-L05 · Furniture, Furnishings and Appliances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bed</a:t>
            </a:r>
            <a:pPr indent="0" marL="0">
              <a:buNone/>
            </a:pPr>
            <a:r>
              <a:rPr lang="ar-SA" sz="1000" i="1" dirty="0">
                <a:solidFill>
                  <a:srgbClr val="5A6472"/>
                </a:solidFill>
                <a:latin typeface="Calibri" pitchFamily="34" charset="0"/>
                <a:ea typeface="Amiri" pitchFamily="2" charset="-78"/>
                <a:cs typeface="Amiri" pitchFamily="2" charset="-78"/>
              </a:rPr>
              <a:t>  pl. أَسِرَّةٌ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خِزَانَةٌ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wardrobe / cupboard</a:t>
            </a:r>
            <a:pPr indent="0" marL="0">
              <a:buNone/>
            </a:pPr>
            <a:r>
              <a:rPr lang="ar-SA" sz="1000" i="1" dirty="0">
                <a:solidFill>
                  <a:srgbClr val="5A6472"/>
                </a:solidFill>
                <a:latin typeface="Calibri" pitchFamily="34" charset="0"/>
                <a:ea typeface="Amiri" pitchFamily="2" charset="-78"/>
                <a:cs typeface="Amiri" pitchFamily="2" charset="-78"/>
              </a:rPr>
              <a:t>  pl. خَزَائِنُ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table</a:t>
            </a:r>
            <a:pPr indent="0" marL="0">
              <a:buNone/>
            </a:pPr>
            <a:r>
              <a:rPr lang="ar-SA" sz="1000" i="1" dirty="0">
                <a:solidFill>
                  <a:srgbClr val="5A6472"/>
                </a:solidFill>
                <a:latin typeface="Calibri" pitchFamily="34" charset="0"/>
                <a:ea typeface="Amiri" pitchFamily="2" charset="-78"/>
                <a:cs typeface="Amiri" pitchFamily="2" charset="-78"/>
              </a:rPr>
              <a:t>  pl. طَاوِلَاتٌ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كُرْسِيٌّ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chair</a:t>
            </a:r>
            <a:pPr indent="0" marL="0">
              <a:buNone/>
            </a:pPr>
            <a:r>
              <a:rPr lang="ar-SA" sz="1000" i="1" dirty="0">
                <a:solidFill>
                  <a:srgbClr val="5A6472"/>
                </a:solidFill>
                <a:latin typeface="Calibri" pitchFamily="34" charset="0"/>
                <a:ea typeface="Amiri" pitchFamily="2" charset="-78"/>
                <a:cs typeface="Amiri" pitchFamily="2" charset="-78"/>
              </a:rPr>
              <a:t>  pl. كَرَاسِي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أَرِيكَةٌ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sofa</a:t>
            </a:r>
            <a:pPr indent="0" marL="0">
              <a:buNone/>
            </a:pPr>
            <a:r>
              <a:rPr lang="ar-SA" sz="1000" i="1" dirty="0">
                <a:solidFill>
                  <a:srgbClr val="5A6472"/>
                </a:solidFill>
                <a:latin typeface="Calibri" pitchFamily="34" charset="0"/>
                <a:ea typeface="Amiri" pitchFamily="2" charset="-78"/>
                <a:cs typeface="Amiri" pitchFamily="2" charset="-78"/>
              </a:rPr>
              <a:t>  pl. أَرَائِكُ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room do you like most at home, and what is in it? Two items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فِي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TB-L04: the House Tour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6–8 sentences describing a home (your own, the Al-Nour home or a dream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a floor plan with eight rooms and parts, and write 50–70 words comparing two rooms.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TB-L05 · Furniture, Furnishings and Appliances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الأَثَاثُ وَالمُفْرُوشَاتُ وَالأَجْهِزَةُ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room of + the … · room (f.) → -a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TB-L04 · My Home, Rooms and Garden</dc:title>
  <dc:subject>PptxGenJS Presentation</dc:subject>
  <dc:creator>Al Madina Online School · Arabic Department</dc:creator>
  <cp:lastModifiedBy>Al Madina Online School · Arabic Department</cp:lastModifiedBy>
  <cp:revision>1</cp:revision>
  <dcterms:created xsi:type="dcterms:W3CDTF">2026-10-11T06:43:50Z</dcterms:created>
  <dcterms:modified xsi:type="dcterms:W3CDTF">2026-10-11T06:43:50Z</dcterms:modified>
</cp:coreProperties>
</file>