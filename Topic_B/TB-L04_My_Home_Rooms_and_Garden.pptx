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B · TB-L04 — My Home, Rooms and Garden. Website: Advanced Topics › Topic B (Personal and Social Life) › Lesson 4.
The website builds this lesson on the F3-L03 lesson engine, with the Topic focus “Describe the layout, location and qualities of a home in connected language.” (grammar: يوجد/توجد; demonstratives; locative prepositions; skills: Speaking · Writing) and the application challenge “Room detective”. This deck follows the same engine, re-sequenced for Topic B: lesson references now point to Topic B codes (lessons outside Topic B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Topic B My Family &amp; Home › Lesson 3 (TB-L04). Website sections used: the eight-question Topic B bridge, types and parts of a home (16 words + three floors) and its 16-question check, the complete room bank (8) and its 12-question check, the room-name iḍāfa laboratory (10), the house plan, the three home frames with room counting and the 12-question grammar check, the House Tour Mission (14), Salma’s listening (10 questions), Omar’s flat and Huda’s house (12 questions), the house-tour speaking studio (4 prompts), the 6–8-sentence writing task and the 16-question checkpoint. Picture match: website visual game “My Home — Rooms and Parts of the House”.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From people (F3-L01 (website)–L02) to places. Core: 5 rooms + فِي بَيْتِي … and عِنْدِي …. Develop: floors, room counting (غُرْفَتَانِ، ثَلَاثُ غُرَفٍ) and agreement (بَيْتٌ كَبِيرٌ / غُرْفَةٌ كَبِيرَةٌ). Stretch: compare two rooms with وَلَكِنْ and لِأَنَّ.
• Privacy (website): students may describe their own home, a fictional home or the model house — no addresses or identifying details.
• Two big patterns only: room names are two nouns (غُرْفَةُ + النَّوْمِ), and the adjective follows the gender of the room (غُرْفَةٌ is feminine, بَيْتٌ is masculine).
• Urdu bridge: مکان (not Arabic for house!), کمرہ (Persian), باورچی خانہ (not Arabic), حمام، باغ / حدیقہ، دروازہ (Persian) / بَابٌ.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home words prepared at home at the end of F3-L02 (website). Questions 3–5 are the website “Topic B bridge” (my house, her room, room + adjective).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room is feminine (ghurfa), a house is masculine (bayt): the adjective follows. And “my” is -ī: baytī, ghurfatī.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aims (left) and the website speaking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حمام، باب and منزل are Arabic words already in Urdu (منزل in Urdu is also a storey — useful for الطَّابِقُ!). CAREFUL: Urdu مکان means a house, but Arabic مَكَانٌ just means a place — the Arabic for house is بَيْتٌ. کمرہ and باورچی خانہ are Persian; Arabic has غُرْفَةٌ and مَطْبَخٌ.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 PARTS 1 (website “Types and parts of a home”). Every card shows the plural or “my”: ة becomes ت before an ending (شَقَّةٌ → شَقَّتِي — F3-L01 (website) possessives).
Hear → say → see → use: “fī baytī bābun kabīrun.”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 PARTS 2 (FLEX). Also on the website: مَنْزِلٌ (home), أَرْضِيَّةٌ (floor surface — not a storey!), زُجَاجٌ (glass). All appear in the House Tour Mission and the reading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ROOMS (website “complete room bank”). Three rooms are “room of …” phrases — the grammar focus in a moment. Extension on the website: غُرْفَةُ الأَطْفَالِ (children’s room).
FLOORS (Group 3): الطَّابِقُ الأَرْضِيُّ (ground floor) · الطَّابِقُ الأَوَّلُ (first floor) · الطَّابِقُ الثَّانِي (second floor) — on the grammar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section 4 “Build ‘the room of…’ phrases”: غُرْفَةُ (room of) + النَّوْمِ (the sleeping) = غُرْفَةُ النَّوْمِ (the bedroom).
Website “Repair these”: الغُرْفَةُ النَّوْمِ ✗ · غُرْفَةُ نَوْمٌ ✗ → غُرْفَةُ النَّوْمِ ✓.
Teacher note (Stretch): the adjective after a room name follows the FIRST noun: غُرْفَةُ الجُلُوسِ كَبِيرَةٌ (website idafa question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section 6 “Say what your home contains”: فِي بَيْتِي (list), عِنْدِي (possession), هُنَاكَ (what exists).
Room counting (website): غُرْفَةٌ وَاحِدَةٌ · غُرْفَتَانِ · ثَلَاثُ غُرَفٍ · أَرْبَعُ غُرَفٍ · خَمْسُ غُرَفٍ · سِتُّ غُرَفٍ — “غُرْفَةٌ is feminine, so numbers 3–10 use the opposite, masculine form”.
Question bank (website): مَاذَا فِي بَيْتِكَ / بَيْتِكِ؟ · هَلْ عِنْدَكَ / عِنْدَكِ حَدِيقَةٌ؟ · كَمْ غُرْفَةً فِي بَيْتِكَ؟
Floors: الطَّابِقُ الأَرْضِيُّ / الأَوَّلُ / الثَّانِي.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“Twelve-question home grammar check” questions 1, 2, 3 and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speaking prompt “City flat” (second floor · two bedrooms · balcony · no garden) as a think-aloud. Then ask: “Now a HOUSE (بَيْتٌ) — what changes?” → صَغِيرٌ، جَمِيلٌ، فِيهِ، لِأَنَّهُ.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My Home — Rooms and Parts of the House”)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هٰذِهِ for the bedroom but هٰذَا for the kitchen? (غُرْفَةٌ is feminine; مَطْبَخٌ is masculine.) Other cards for homework: هٰذِهِ غُرْفَةُ الجُلُوسِ، هٰذَا الحَمَّامُ، لِلْبَيْتِ حَدِيقَةٌ.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My Home — Rooms and Parts of the House”)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هٰذِهِ for the bedroom but هٰذَا for the kitchen? (غُرْفَةٌ is feminine; مَطْبَخٌ is masculine.) Other cards for homework: هٰذِهِ غُرْفَةُ الجُلُوسِ، هٰذَا الحَمَّامُ، لِلْبَيْتِ حَدِيقَةٌ.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House Tour rounds (home type, iḍāfa, room count, agreement, reason).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which rule did you use — room name, gender or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5. Develop / Stretch: all 5.
Listen 1: just listen. Listen 2: note answers. Then chat the letters.
Support: after the second listening, show the read-along slide (Arabic + English, line by line) for Core students.
SCRIPT (read aloud):
اِسْمِي سَلْمَى. أَسْكُنُ مَعَ عَائِلَتِي فِي بَيْتٍ كَبِيرٍ وَجَدِيدٍ. بَيْتُنَا فِيهِ طَابِقَانِ وَسِتُّ غُرَفٍ وَحَمَّامَانِ. فِي الطَّابِقِ الأَرْضِيِّ مَدْخَلٌ وَغُرْفَةُ جُلُوسٍ وَمَطْبَخٌ وَغُرْفَةُ طَعَامٍ وَحَمَّامٌ. فِي الطَّابِقِ الأَوَّلِ ثَلَاثُ غُرَفِ نَوْمٍ وَحَمَّامٌ آخَرُ. عِنْدَنَا حَدِيقَةٌ صَغِيرَةٌ وَمَرْآبٌ. غُرْفَتِي فِي الطَّابِقِ الأَوَّلِ، وَفِيهَا نَافِذَةٌ كَبِيرَةٌ. أُحِبُّ بَيْتِي لِأَنَّهُ مُرِيحٌ وَهَادِئٌ.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A (website, complete). The English column gives the CATEGORY. Website strategy: find exact evidence about house type, rooms, floors and opinions. Note غُرْفَتَا نَوْمٍ = two bedrooms (the dual in a room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B (website, complete). Stretch: compare with Text A — flat vs house, balcony vs garden, masculine لَكِنَّهُ (house) vs feminine لَكِنَّهَا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1, 3, 5 (Omar) and 7, 9 (Huda — Core may skip).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B APPLICATION CHALLENGE (3 min — it takes the speaking-rehearsal slot; the website speaking slide after it is FLEX) — from the website Topic page: “Describe a room, floor or garden using يوجد/توجد and location phrases. Your partner sketches the layout and checks it against the original.”
Website Topic B challenge “Room detective” (يوجد/توجد, demonstratives and locative prepositions). يُوجَدُ / تُوجَدُ is taught fully in the next lesson (TB-L05) — today Core may use فِي بَيْتِي … instead. Privacy: an invented or dream home is always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B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“Give a connected house tour” (45–60 seconds). Prompt cards (website):
• Family house: two floors · six rooms · garden · garage
• City flat: second floor · two bedrooms · balcony · no garden
• Old country home: ground floor · four rooms · roof · quiet garden
• Dream home: three floors · study · dining room · roof terrace
Website checklist (listener ticks 1–6): home type · at least five areas · فِي بَيْتِي / عِنْدِي / هُنَاكَ · adjectives match · two connectors · clear delivery.
Privacy: a fictional or dream home is always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Name five rooms and use fī baytī (in my house) in five sentences. · Develop — Add floors, six or more rooms and accurate adjectives (50–70 words). · Stretch — Compare two rooms and justify a favourite using wa-lākin (but) and li-anna (because).
Website writing task (Stretch): Website writing task: 6–8 connected sentences describing your own home, the fictional Al-Nour home or a dream home — home type and size, floors, main rooms, other parts, favourite room and reason.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model (speaking prompt “Family house”). Develop: add one agreeing adjective to a room (غُرْفَةُ جُلُوسٍ كَبِيرَةٌ).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(TB-L05 · Furniture, Furnishings and Appliances) will spend class time USING this language, so students prepare it tonight — short, simple, easy to access (school guidance: “Simple, Short, Interesting, Relevant, Easy to access”). The five words come from the website TB-L05 core furniture bank.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TB-L04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900" b="1" dirty="0">
                <a:solidFill>
                  <a:srgbClr val="FFFFFF"/>
                </a:solidFill>
                <a:latin typeface="Cambria" pitchFamily="34" charset="0"/>
                <a:cs typeface="Amiri" pitchFamily="2" charset="-78"/>
              </a:rPr>
              <a:t>My Home, Rooms and Garden</a:t>
            </a:r>
            <a:endParaRPr lang="en-US" sz="39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بَيْتِي وَغُرَفُهُ وَحَدِيقَتُهُ</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the layout, location and qualities of a home in connected language.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TB-L04 · Advanced Topic B · Personal and Social Life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House parts and rooms, then “the room of …” and in my house / I have.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House Tour Mission, listen to Salma, read two homes.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TB-L05.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شَقَّةٌ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room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flat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garden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غُرْفَةٌ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room</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kitchen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house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house”.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بَيْتُهَا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 room”.</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غُرْفَتُهُ</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غُرْفَتِي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غُرْفَتُهَا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71" name="Text 6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غُرْفَةٌ ___.</a:t>
            </a:r>
            <a:endParaRPr lang="ar-SA" sz="220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كَبِيرَةٌ</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كَبِيرٌ</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كِبَارٌ</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شَقَّةٌ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room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flat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garden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(F3-L02, website).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غُرْفَةٌ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room</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kitchen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house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(F3-L02, website).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house”.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بَيْتُهُ</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بَيْتُهَا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بَيْتِي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suffix </a:t>
            </a:r>
            <a:pPr algn="l" indent="0" marL="0">
              <a:buNone/>
            </a:pPr>
            <a:r>
              <a:rPr lang="ar-SA" altLang="en-US" sz="1350" dirty="0">
                <a:solidFill>
                  <a:srgbClr val="8A6D1E"/>
                </a:solidFill>
                <a:latin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means my: </a:t>
            </a:r>
            <a:pPr algn="l" indent="0" marL="0">
              <a:buNone/>
            </a:pPr>
            <a:r>
              <a:rPr lang="ar-SA" altLang="en-US" sz="1350" dirty="0">
                <a:solidFill>
                  <a:srgbClr val="8A6D1E"/>
                </a:solidFill>
                <a:latin typeface="Amiri" pitchFamily="2" charset="-78"/>
                <a:cs typeface="Amiri" pitchFamily="2" charset="-78"/>
              </a:rPr>
              <a:t>بَيْتِي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 room”.</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غُرْفَتُهُ</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غُرْفَتِي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غُرْفَتُهَا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means her, and </a:t>
            </a:r>
            <a:pPr algn="l" indent="0" marL="0">
              <a:buNone/>
            </a:pPr>
            <a:r>
              <a:rPr lang="ar-SA" altLang="en-US" sz="1350" dirty="0">
                <a:solidFill>
                  <a:srgbClr val="8A6D1E"/>
                </a:solidFill>
                <a:latin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 becomes </a:t>
            </a:r>
            <a:pPr algn="l" indent="0" marL="0">
              <a:buNone/>
            </a:pPr>
            <a:r>
              <a:rPr lang="ar-SA" altLang="en-US" sz="1350" dirty="0">
                <a:solidFill>
                  <a:srgbClr val="8A6D1E"/>
                </a:solidFill>
                <a:latin typeface="Amiri" pitchFamily="2" charset="-78"/>
                <a:cs typeface="Amiri" pitchFamily="2" charset="-78"/>
              </a:rPr>
              <a:t>ت</a:t>
            </a:r>
            <a:pPr algn="l" indent="0" marL="0">
              <a:buNone/>
            </a:pPr>
            <a:r>
              <a:rPr lang="en-US" sz="1050" i="1" dirty="0">
                <a:solidFill>
                  <a:srgbClr val="8A6D1E"/>
                </a:solidFill>
                <a:latin typeface="Calibri" pitchFamily="34" charset="0"/>
                <a:cs typeface="Amiri" pitchFamily="2" charset="-78"/>
              </a:rPr>
              <a:t> before the suffix.</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79" name="Text 76"/>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غُرْفَةٌ ___.</a:t>
            </a:r>
            <a:endParaRPr lang="ar-SA" sz="220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كَبِيرَةٌ</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كَبِيرٌ</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كِبَارٌ</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cs typeface="Amiri" pitchFamily="2" charset="-78"/>
              </a:rPr>
              <a:t>كَبِيرَةٌ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room is feminine (ghurfa), a house is masculine (bayt): the adjective follows. And “my” is -ī: baytī, ghurfatī.</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بَيْتِ</a:t>
            </a:r>
            <a:pPr rtl="1" algn="ctr" indent="0" marL="0">
              <a:buNone/>
            </a:pPr>
            <a:r>
              <a:rPr lang="ar-SA" altLang="en-US" sz="2400" b="1" dirty="0">
                <a:solidFill>
                  <a:srgbClr val="D6336C"/>
                </a:solidFill>
                <a:latin typeface="Amiri" pitchFamily="2" charset="-78"/>
                <a:cs typeface="Amiri" pitchFamily="2" charset="-78"/>
              </a:rPr>
              <a:t>ي</a:t>
            </a:r>
            <a:pPr rtl="1" algn="ctr" indent="0" marL="0">
              <a:buNone/>
            </a:pPr>
            <a:r>
              <a:rPr lang="ar-SA" altLang="en-US" sz="2400" b="1" dirty="0">
                <a:solidFill>
                  <a:srgbClr val="1B3B6F"/>
                </a:solidFill>
                <a:latin typeface="Amiri" pitchFamily="2" charset="-78"/>
                <a:cs typeface="Amiri" pitchFamily="2" charset="-78"/>
              </a:rPr>
              <a:t> كَبِيرٌ · غُرْفَتِ</a:t>
            </a:r>
            <a:pPr rtl="1" algn="ctr" indent="0" marL="0">
              <a:buNone/>
            </a:pPr>
            <a:r>
              <a:rPr lang="ar-SA" altLang="en-US" sz="2400" b="1" dirty="0">
                <a:solidFill>
                  <a:srgbClr val="D6336C"/>
                </a:solidFill>
                <a:latin typeface="Amiri" pitchFamily="2" charset="-78"/>
                <a:cs typeface="Amiri" pitchFamily="2" charset="-78"/>
              </a:rPr>
              <a:t>ي</a:t>
            </a:r>
            <a:pPr rtl="1" algn="ctr" indent="0" marL="0">
              <a:buNone/>
            </a:pPr>
            <a:r>
              <a:rPr lang="ar-SA" altLang="en-US" sz="2400" b="1" dirty="0">
                <a:solidFill>
                  <a:srgbClr val="1B3B6F"/>
                </a:solidFill>
                <a:latin typeface="Amiri" pitchFamily="2" charset="-78"/>
                <a:cs typeface="Amiri" pitchFamily="2" charset="-78"/>
              </a:rPr>
              <a:t> كَبِيرَ</a:t>
            </a:r>
            <a:pPr rtl="1" algn="ctr" indent="0" marL="0">
              <a:buNone/>
            </a:pPr>
            <a:r>
              <a:rPr lang="ar-SA" altLang="en-US" sz="2400" b="1" dirty="0">
                <a:solidFill>
                  <a:srgbClr val="D6336C"/>
                </a:solidFill>
                <a:latin typeface="Amiri" pitchFamily="2" charset="-78"/>
                <a:cs typeface="Amiri" pitchFamily="2" charset="-78"/>
              </a:rPr>
              <a:t>ةٌ</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full lesson bank of rooms and house parts.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room-name iḍāfa phrases.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cs typeface="Amiri" pitchFamily="2" charset="-78"/>
              </a:rPr>
              <a:t>فِي بَيْتِي، عِنْدِي، هُنَاكَ</a:t>
            </a:r>
            <a:pPr algn="l" indent="0" marL="0">
              <a:buNone/>
            </a:pPr>
            <a:r>
              <a:rPr lang="en-US" sz="1300" dirty="0">
                <a:solidFill>
                  <a:srgbClr val="1F2A37"/>
                </a:solidFill>
                <a:latin typeface="Calibri" pitchFamily="34" charset="0"/>
                <a:cs typeface="Amiri" pitchFamily="2" charset="-78"/>
              </a:rPr>
              <a:t> and room-counting patterns.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a real, fictional or dream home in connected Arabic.</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five rooms.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is in my house (fī baytī …).</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count rooms and floors.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adjectives agree with house / room.</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rooms.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justify my favourite room with because.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House parts, rooms and floors — all from the website. Core: the six rooms, house, flat and garden.</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Types and parts of a home · 16</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Rooms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Floors · 3</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حَمَّامٌ</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‎حمام‎ </a:t>
            </a:r>
            <a:pPr indent="0" marL="0">
              <a:buNone/>
            </a:pPr>
            <a:r>
              <a:rPr lang="en-US" sz="950" b="1" dirty="0">
                <a:solidFill>
                  <a:srgbClr val="2E8B57"/>
                </a:solidFill>
                <a:latin typeface="Calibri" pitchFamily="34" charset="0"/>
                <a:cs typeface="Amiri" pitchFamily="2" charset="-78"/>
              </a:rPr>
              <a:t> ḥammām · bathroom (Urdu: bath-house)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بَابٌ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‎باب‎ </a:t>
            </a:r>
            <a:pPr indent="0" marL="0">
              <a:buNone/>
            </a:pPr>
            <a:r>
              <a:rPr lang="en-US" sz="950" b="1" dirty="0">
                <a:solidFill>
                  <a:srgbClr val="2E8B57"/>
                </a:solidFill>
                <a:latin typeface="Calibri" pitchFamily="34" charset="0"/>
                <a:cs typeface="Amiri" pitchFamily="2" charset="-78"/>
              </a:rPr>
              <a:t> bāb · door (Urdu: chapter / gate)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مَنْزِلٌ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‎منزل‎ </a:t>
            </a:r>
            <a:pPr indent="0" marL="0">
              <a:buNone/>
            </a:pPr>
            <a:r>
              <a:rPr lang="en-US" sz="950" b="1" dirty="0">
                <a:solidFill>
                  <a:srgbClr val="2E8B57"/>
                </a:solidFill>
                <a:latin typeface="Calibri" pitchFamily="34" charset="0"/>
                <a:cs typeface="Amiri" pitchFamily="2" charset="-78"/>
              </a:rPr>
              <a:t> manzil · home (Urdu: destination, storey)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حَدِيقَةٌ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‎حدیقہ‎ </a:t>
            </a:r>
            <a:pPr indent="0" marL="0">
              <a:buNone/>
            </a:pPr>
            <a:r>
              <a:rPr lang="en-US" sz="950" b="1" dirty="0">
                <a:solidFill>
                  <a:srgbClr val="2E8B57"/>
                </a:solidFill>
                <a:latin typeface="Calibri" pitchFamily="34" charset="0"/>
                <a:cs typeface="Amiri" pitchFamily="2" charset="-78"/>
              </a:rPr>
              <a:t> ḥadīqa · garden (Urdu: باغ)</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مَكَانٌ</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‎مکان‎ </a:t>
            </a:r>
            <a:pPr indent="0" marL="0">
              <a:buNone/>
            </a:pPr>
            <a:r>
              <a:rPr lang="en-US" sz="950" b="1" dirty="0">
                <a:solidFill>
                  <a:srgbClr val="2E8B57"/>
                </a:solidFill>
                <a:latin typeface="Calibri" pitchFamily="34" charset="0"/>
                <a:cs typeface="Amiri" pitchFamily="2" charset="-78"/>
              </a:rPr>
              <a:t> makān · Arabic: place · Urdu: house!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TYPES AND PARTS OF A HOME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Home, flat, door, window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أَنْوَاعُ المَسَاكِنِ وَأَجْزَاؤُهَا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my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بَيْتٌ</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house / home</a:t>
            </a:r>
            <a:endParaRPr lang="en-US" sz="1350" dirty="0"/>
          </a:p>
          <a:p>
            <a:pPr indent="0" marL="0">
              <a:buNone/>
            </a:pPr>
            <a:r>
              <a:rPr lang="en-US" sz="1100" i="1" dirty="0">
                <a:solidFill>
                  <a:srgbClr val="5A6472"/>
                </a:solidFill>
                <a:latin typeface="Calibri" pitchFamily="34" charset="0"/>
                <a:cs typeface="Amiri" pitchFamily="2" charset="-78"/>
              </a:rPr>
              <a:t>bayt</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بُيُوتٌ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بَيْتِي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my</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شَقَّةٌ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flat / apartment</a:t>
            </a:r>
            <a:endParaRPr lang="en-US" sz="1350" dirty="0"/>
          </a:p>
          <a:p>
            <a:pPr indent="0" marL="0">
              <a:buNone/>
            </a:pPr>
            <a:r>
              <a:rPr lang="en-US" sz="1100" i="1" dirty="0">
                <a:solidFill>
                  <a:srgbClr val="5A6472"/>
                </a:solidFill>
                <a:latin typeface="Calibri" pitchFamily="34" charset="0"/>
                <a:cs typeface="Amiri" pitchFamily="2" charset="-78"/>
              </a:rPr>
              <a:t>shaq-qa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شُقَقٌ</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شَقَّتِي</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بَابٌ</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door</a:t>
            </a:r>
            <a:endParaRPr lang="en-US" sz="1350" dirty="0"/>
          </a:p>
          <a:p>
            <a:pPr indent="0" marL="0">
              <a:buNone/>
            </a:pPr>
            <a:r>
              <a:rPr lang="en-US" sz="1100" i="1" dirty="0">
                <a:solidFill>
                  <a:srgbClr val="5A6472"/>
                </a:solidFill>
                <a:latin typeface="Calibri" pitchFamily="34" charset="0"/>
                <a:cs typeface="Amiri" pitchFamily="2" charset="-78"/>
              </a:rPr>
              <a:t>bāb</a:t>
            </a:r>
            <a:endParaRPr lang="en-US" sz="1350" dirty="0"/>
          </a:p>
        </p:txBody>
      </p:sp>
      <p:sp>
        <p:nvSpPr>
          <p:cNvPr id="54" name="Shape 5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أَبْوَابٌ</a:t>
            </a:r>
            <a:endParaRPr lang="ar-SA" sz="1500" dirty="0"/>
          </a:p>
        </p:txBody>
      </p:sp>
      <p:sp>
        <p:nvSpPr>
          <p:cNvPr id="57" name="Shape 5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8211312"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0" name="Shape 57"/>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m.</a:t>
            </a:r>
            <a:endParaRPr lang="en-US" sz="800" dirty="0"/>
          </a:p>
        </p:txBody>
      </p:sp>
      <p:sp>
        <p:nvSpPr>
          <p:cNvPr id="62" name="Shape 5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نَافِذَةٌ / شَبَّاكٌ</a:t>
            </a:r>
            <a:endParaRPr lang="ar-SA" sz="3000" dirty="0"/>
          </a:p>
        </p:txBody>
      </p:sp>
      <p:sp>
        <p:nvSpPr>
          <p:cNvPr id="65" name="Text 6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window</a:t>
            </a:r>
            <a:endParaRPr lang="en-US" sz="1350" dirty="0"/>
          </a:p>
          <a:p>
            <a:pPr indent="0" marL="0">
              <a:buNone/>
            </a:pPr>
            <a:r>
              <a:rPr lang="en-US" sz="1100" i="1" dirty="0">
                <a:solidFill>
                  <a:srgbClr val="5A6472"/>
                </a:solidFill>
                <a:latin typeface="Calibri" pitchFamily="34" charset="0"/>
                <a:cs typeface="Amiri" pitchFamily="2" charset="-78"/>
              </a:rPr>
              <a:t>nā-fi-dha / shub-bāk</a:t>
            </a:r>
            <a:endParaRPr lang="en-US" sz="1350" dirty="0"/>
          </a:p>
        </p:txBody>
      </p:sp>
      <p:sp>
        <p:nvSpPr>
          <p:cNvPr id="66" name="Shape 6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8" name="Text 65"/>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نَوَافِذُ / شَبَابِيكُ</a:t>
            </a:r>
            <a:endParaRPr lang="ar-SA" sz="150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2" name="Shape 6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74" name="Shape 7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حَدِيقَةٌ</a:t>
            </a:r>
            <a:endParaRPr lang="ar-SA" sz="3000" dirty="0"/>
          </a:p>
        </p:txBody>
      </p:sp>
      <p:sp>
        <p:nvSpPr>
          <p:cNvPr id="77" name="Text 7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garden</a:t>
            </a:r>
            <a:endParaRPr lang="en-US" sz="1350" dirty="0"/>
          </a:p>
          <a:p>
            <a:pPr indent="0" marL="0">
              <a:buNone/>
            </a:pPr>
            <a:r>
              <a:rPr lang="en-US" sz="1100" i="1" dirty="0">
                <a:solidFill>
                  <a:srgbClr val="5A6472"/>
                </a:solidFill>
                <a:latin typeface="Calibri" pitchFamily="34" charset="0"/>
                <a:cs typeface="Amiri" pitchFamily="2" charset="-78"/>
              </a:rPr>
              <a:t>ḥa-dī-qa</a:t>
            </a:r>
            <a:endParaRPr lang="en-US" sz="1350" dirty="0"/>
          </a:p>
        </p:txBody>
      </p:sp>
      <p:sp>
        <p:nvSpPr>
          <p:cNvPr id="78" name="Shape 75"/>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حَدَائِقُ</a:t>
            </a:r>
            <a:endParaRPr lang="ar-SA" sz="1500" dirty="0"/>
          </a:p>
        </p:txBody>
      </p:sp>
      <p:sp>
        <p:nvSpPr>
          <p:cNvPr id="81" name="Shape 7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566928"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4" name="Shape 81"/>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86" name="Text 8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مَرْآبٌ</a:t>
            </a:r>
            <a:endParaRPr lang="ar-SA" sz="3000" dirty="0"/>
          </a:p>
        </p:txBody>
      </p:sp>
      <p:sp>
        <p:nvSpPr>
          <p:cNvPr id="87" name="Text 8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garage</a:t>
            </a:r>
            <a:endParaRPr lang="en-US" sz="1350" dirty="0"/>
          </a:p>
          <a:p>
            <a:pPr indent="0" marL="0">
              <a:buNone/>
            </a:pPr>
            <a:r>
              <a:rPr lang="en-US" sz="1100" i="1" dirty="0">
                <a:solidFill>
                  <a:srgbClr val="5A6472"/>
                </a:solidFill>
                <a:latin typeface="Calibri" pitchFamily="34" charset="0"/>
                <a:cs typeface="Amiri" pitchFamily="2" charset="-78"/>
              </a:rPr>
              <a:t>mar-ʾāb</a:t>
            </a:r>
            <a:endParaRPr lang="en-US" sz="1350" dirty="0"/>
          </a:p>
        </p:txBody>
      </p:sp>
      <p:sp>
        <p:nvSpPr>
          <p:cNvPr id="88" name="Shape 85"/>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مَرَائِبُ</a:t>
            </a:r>
            <a:endParaRPr lang="ar-SA" sz="150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MORE HOUSE PARTS (WEBSITE)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Stairs, walls, roof, balcony …</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أَجْزَاءُ البَيْتِ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مَدْخَلٌ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entrance / hall</a:t>
            </a:r>
            <a:endParaRPr lang="en-US" sz="1350" dirty="0"/>
          </a:p>
          <a:p>
            <a:pPr indent="0" marL="0">
              <a:buNone/>
            </a:pPr>
            <a:r>
              <a:rPr lang="en-US" sz="1100" i="1" dirty="0">
                <a:solidFill>
                  <a:srgbClr val="5A6472"/>
                </a:solidFill>
                <a:latin typeface="Calibri" pitchFamily="34" charset="0"/>
                <a:cs typeface="Amiri" pitchFamily="2" charset="-78"/>
              </a:rPr>
              <a:t>mad-khal</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مَدَاخِلُ</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دَرَجٌ / سُلَّمٌ</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stairs</a:t>
            </a:r>
            <a:endParaRPr lang="en-US" sz="1350" dirty="0"/>
          </a:p>
          <a:p>
            <a:pPr indent="0" marL="0">
              <a:buNone/>
            </a:pPr>
            <a:r>
              <a:rPr lang="en-US" sz="1100" i="1" dirty="0">
                <a:solidFill>
                  <a:srgbClr val="5A6472"/>
                </a:solidFill>
                <a:latin typeface="Calibri" pitchFamily="34" charset="0"/>
                <a:cs typeface="Amiri" pitchFamily="2" charset="-78"/>
              </a:rPr>
              <a:t>da-raj / sul-lam</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Shape 34"/>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حَائِطٌ</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wall</a:t>
            </a:r>
            <a:endParaRPr lang="en-US" sz="1350" dirty="0"/>
          </a:p>
          <a:p>
            <a:pPr indent="0" marL="0">
              <a:buNone/>
            </a:pPr>
            <a:r>
              <a:rPr lang="en-US" sz="1100" i="1" dirty="0">
                <a:solidFill>
                  <a:srgbClr val="5A6472"/>
                </a:solidFill>
                <a:latin typeface="Calibri" pitchFamily="34" charset="0"/>
                <a:cs typeface="Amiri" pitchFamily="2" charset="-78"/>
              </a:rPr>
              <a:t>ḥā-ʾiṭ</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حِيطَانٌ</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7" name="Shape 44"/>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سَقْفٌ · سَطْحٌ</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ceiling · rooftop</a:t>
            </a:r>
            <a:endParaRPr lang="en-US" sz="1350" dirty="0"/>
          </a:p>
          <a:p>
            <a:pPr indent="0" marL="0">
              <a:buNone/>
            </a:pPr>
            <a:r>
              <a:rPr lang="en-US" sz="1100" i="1" dirty="0">
                <a:solidFill>
                  <a:srgbClr val="5A6472"/>
                </a:solidFill>
                <a:latin typeface="Calibri" pitchFamily="34" charset="0"/>
                <a:cs typeface="Amiri" pitchFamily="2" charset="-78"/>
              </a:rPr>
              <a:t>saqf · saṭḥ</a:t>
            </a:r>
            <a:endParaRPr lang="en-US" sz="1350" dirty="0"/>
          </a:p>
        </p:txBody>
      </p:sp>
      <p:sp>
        <p:nvSpPr>
          <p:cNvPr id="51" name="Text 48"/>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900" i="1" dirty="0">
                <a:solidFill>
                  <a:srgbClr val="8A6D1E"/>
                </a:solidFill>
                <a:latin typeface="Calibri" pitchFamily="34" charset="0"/>
                <a:cs typeface="Amiri" pitchFamily="2" charset="-78"/>
              </a:rPr>
              <a:t>Do not confuse (website): </a:t>
            </a:r>
            <a:pPr algn="l" indent="0" marL="0">
              <a:buNone/>
            </a:pPr>
            <a:r>
              <a:rPr lang="ar-SA" altLang="en-US" sz="1150" dirty="0">
                <a:solidFill>
                  <a:srgbClr val="8A6D1E"/>
                </a:solidFill>
                <a:latin typeface="Amiri" pitchFamily="2" charset="-78"/>
                <a:cs typeface="Amiri" pitchFamily="2" charset="-78"/>
              </a:rPr>
              <a:t>سَقْفٌ</a:t>
            </a:r>
            <a:pPr algn="l" indent="0" marL="0">
              <a:buNone/>
            </a:pPr>
            <a:r>
              <a:rPr lang="en-US" sz="900" i="1" dirty="0">
                <a:solidFill>
                  <a:srgbClr val="8A6D1E"/>
                </a:solidFill>
                <a:latin typeface="Calibri" pitchFamily="34" charset="0"/>
                <a:cs typeface="Amiri" pitchFamily="2" charset="-78"/>
              </a:rPr>
              <a:t> = ceiling / roof covering; </a:t>
            </a:r>
            <a:pPr algn="l" indent="0" marL="0">
              <a:buNone/>
            </a:pPr>
            <a:r>
              <a:rPr lang="ar-SA" altLang="en-US" sz="1150" dirty="0">
                <a:solidFill>
                  <a:srgbClr val="8A6D1E"/>
                </a:solidFill>
                <a:latin typeface="Amiri" pitchFamily="2" charset="-78"/>
                <a:cs typeface="Amiri" pitchFamily="2" charset="-78"/>
              </a:rPr>
              <a:t>سَطْحٌ</a:t>
            </a:r>
            <a:pPr algn="l" indent="0" marL="0">
              <a:buNone/>
            </a:pPr>
            <a:r>
              <a:rPr lang="en-US" sz="900" i="1" dirty="0">
                <a:solidFill>
                  <a:srgbClr val="8A6D1E"/>
                </a:solidFill>
                <a:latin typeface="Calibri" pitchFamily="34" charset="0"/>
                <a:cs typeface="Amiri" pitchFamily="2" charset="-78"/>
              </a:rPr>
              <a:t> = flat rooftop.</a:t>
            </a:r>
            <a:endParaRPr lang="en-US" sz="900" dirty="0"/>
          </a:p>
        </p:txBody>
      </p:sp>
      <p:sp>
        <p:nvSpPr>
          <p:cNvPr id="52" name="Shape 4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4389120"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5" name="Shape 52"/>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7" name="Text 5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مَمَرٌّ</a:t>
            </a:r>
            <a:endParaRPr lang="ar-SA" sz="3000" dirty="0"/>
          </a:p>
        </p:txBody>
      </p:sp>
      <p:sp>
        <p:nvSpPr>
          <p:cNvPr id="58" name="Text 5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corridor / hallway</a:t>
            </a:r>
            <a:endParaRPr lang="en-US" sz="1350" dirty="0"/>
          </a:p>
          <a:p>
            <a:pPr indent="0" marL="0">
              <a:buNone/>
            </a:pPr>
            <a:r>
              <a:rPr lang="en-US" sz="1100" i="1" dirty="0">
                <a:solidFill>
                  <a:srgbClr val="5A6472"/>
                </a:solidFill>
                <a:latin typeface="Calibri" pitchFamily="34" charset="0"/>
                <a:cs typeface="Amiri" pitchFamily="2" charset="-78"/>
              </a:rPr>
              <a:t>ma-marr</a:t>
            </a:r>
            <a:endParaRPr lang="en-US" sz="1350" dirty="0"/>
          </a:p>
        </p:txBody>
      </p:sp>
      <p:sp>
        <p:nvSpPr>
          <p:cNvPr id="59" name="Shape 56"/>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1" name="Text 58"/>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مَمَرَّاتٌ</a:t>
            </a:r>
            <a:endParaRPr lang="ar-SA" sz="1500" dirty="0"/>
          </a:p>
        </p:txBody>
      </p:sp>
      <p:sp>
        <p:nvSpPr>
          <p:cNvPr id="62" name="Shape 5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66928"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5" name="Shape 62"/>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6" name="Text 63"/>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7" name="Text 6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شُرْفَةٌ</a:t>
            </a:r>
            <a:endParaRPr lang="ar-SA" sz="3000" dirty="0"/>
          </a:p>
        </p:txBody>
      </p:sp>
      <p:sp>
        <p:nvSpPr>
          <p:cNvPr id="68" name="Text 6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balcony</a:t>
            </a:r>
            <a:endParaRPr lang="en-US" sz="1350" dirty="0"/>
          </a:p>
          <a:p>
            <a:pPr indent="0" marL="0">
              <a:buNone/>
            </a:pPr>
            <a:r>
              <a:rPr lang="en-US" sz="1100" i="1" dirty="0">
                <a:solidFill>
                  <a:srgbClr val="5A6472"/>
                </a:solidFill>
                <a:latin typeface="Calibri" pitchFamily="34" charset="0"/>
                <a:cs typeface="Amiri" pitchFamily="2" charset="-78"/>
              </a:rPr>
              <a:t>shur-fa</a:t>
            </a:r>
            <a:endParaRPr lang="en-US" sz="1350" dirty="0"/>
          </a:p>
        </p:txBody>
      </p:sp>
      <p:sp>
        <p:nvSpPr>
          <p:cNvPr id="69" name="Shape 66"/>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1" name="Text 68"/>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شُرُفَاتٌ</a:t>
            </a:r>
            <a:endParaRPr lang="ar-SA" sz="150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THE COMPLETE ROOM BANK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rooms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غُرَفُ البَيْتِ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room of sleeping</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غُرْفَةُ النَّوْمِ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bedroom</a:t>
            </a:r>
            <a:endParaRPr lang="en-US" sz="1350" dirty="0"/>
          </a:p>
          <a:p>
            <a:pPr indent="0" marL="0">
              <a:buNone/>
            </a:pPr>
            <a:r>
              <a:rPr lang="en-US" sz="1100" i="1" dirty="0">
                <a:solidFill>
                  <a:srgbClr val="5A6472"/>
                </a:solidFill>
                <a:latin typeface="Calibri" pitchFamily="34" charset="0"/>
                <a:cs typeface="Amiri" pitchFamily="2" charset="-78"/>
              </a:rPr>
              <a:t>ghur-fa-tu n-nawm</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غُرَفُ النَّوْمِ</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غُرْفَةُ نَوْمِي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3" name="Shape 30"/>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room of sitting</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غُرْفَةُ الجُلُوسِ</a:t>
            </a:r>
            <a:endParaRPr lang="ar-SA" sz="3000" dirty="0"/>
          </a:p>
        </p:txBody>
      </p:sp>
      <p:sp>
        <p:nvSpPr>
          <p:cNvPr id="38" name="Text 3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living room</a:t>
            </a:r>
            <a:endParaRPr lang="en-US" sz="1350" dirty="0"/>
          </a:p>
          <a:p>
            <a:pPr indent="0" marL="0">
              <a:buNone/>
            </a:pPr>
            <a:r>
              <a:rPr lang="en-US" sz="1100" i="1" dirty="0">
                <a:solidFill>
                  <a:srgbClr val="5A6472"/>
                </a:solidFill>
                <a:latin typeface="Calibri" pitchFamily="34" charset="0"/>
                <a:cs typeface="Amiri" pitchFamily="2" charset="-78"/>
              </a:rPr>
              <a:t>ghur-fa-tu l-ju-lūs</a:t>
            </a:r>
            <a:endParaRPr lang="en-US" sz="1350" dirty="0"/>
          </a:p>
        </p:txBody>
      </p:sp>
      <p:sp>
        <p:nvSpPr>
          <p:cNvPr id="39" name="Text 36"/>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a:t>
            </a:r>
            <a:pPr algn="l" indent="0" marL="0">
              <a:buNone/>
            </a:pPr>
            <a:r>
              <a:rPr lang="ar-SA" altLang="en-US" sz="1300" dirty="0">
                <a:solidFill>
                  <a:srgbClr val="8A6D1E"/>
                </a:solidFill>
                <a:latin typeface="Amiri" pitchFamily="2" charset="-78"/>
                <a:cs typeface="Amiri" pitchFamily="2" charset="-78"/>
              </a:rPr>
              <a:t>الصَّالَةُ</a:t>
            </a:r>
            <a:pPr algn="l" indent="0" marL="0">
              <a:buNone/>
            </a:pPr>
            <a:r>
              <a:rPr lang="en-US" sz="1000" i="1" dirty="0">
                <a:solidFill>
                  <a:srgbClr val="8A6D1E"/>
                </a:solidFill>
                <a:latin typeface="Calibri" pitchFamily="34" charset="0"/>
                <a:cs typeface="Amiri" pitchFamily="2" charset="-78"/>
              </a:rPr>
              <a:t> (lounge).</a:t>
            </a:r>
            <a:endParaRPr lang="en-US" sz="10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3" name="Shape 40"/>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المَطْبَخُ</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kitchen</a:t>
            </a:r>
            <a:endParaRPr lang="en-US" sz="1350" dirty="0"/>
          </a:p>
          <a:p>
            <a:pPr indent="0" marL="0">
              <a:buNone/>
            </a:pPr>
            <a:r>
              <a:rPr lang="en-US" sz="1100" i="1" dirty="0">
                <a:solidFill>
                  <a:srgbClr val="5A6472"/>
                </a:solidFill>
                <a:latin typeface="Calibri" pitchFamily="34" charset="0"/>
                <a:cs typeface="Amiri" pitchFamily="2" charset="-78"/>
              </a:rPr>
              <a:t>al-maṭ-bakh</a:t>
            </a:r>
            <a:endParaRPr lang="en-US" sz="1350" dirty="0"/>
          </a:p>
        </p:txBody>
      </p:sp>
      <p:sp>
        <p:nvSpPr>
          <p:cNvPr id="49" name="Shape 46"/>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1" name="Text 48"/>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مَطَابِخُ</a:t>
            </a:r>
            <a:endParaRPr lang="ar-SA" sz="150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5" name="Shape 5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7" name="Shape 5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الحَمَّامُ</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bathroom</a:t>
            </a:r>
            <a:endParaRPr lang="en-US" sz="1350" dirty="0"/>
          </a:p>
          <a:p>
            <a:pPr indent="0" marL="0">
              <a:buNone/>
            </a:pPr>
            <a:r>
              <a:rPr lang="en-US" sz="1100" i="1" dirty="0">
                <a:solidFill>
                  <a:srgbClr val="5A6472"/>
                </a:solidFill>
                <a:latin typeface="Calibri" pitchFamily="34" charset="0"/>
                <a:cs typeface="Amiri" pitchFamily="2" charset="-78"/>
              </a:rPr>
              <a:t>al-ḥam-mām</a:t>
            </a:r>
            <a:endParaRPr lang="en-US" sz="1350" dirty="0"/>
          </a:p>
        </p:txBody>
      </p:sp>
      <p:sp>
        <p:nvSpPr>
          <p:cNvPr id="61" name="Shape 5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3" name="Text 60"/>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حَمَّامَاتٌ</a:t>
            </a:r>
            <a:endParaRPr lang="ar-SA" sz="1500" dirty="0"/>
          </a:p>
        </p:txBody>
      </p:sp>
      <p:sp>
        <p:nvSpPr>
          <p:cNvPr id="64" name="Shape 6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389120"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67" name="Shape 64"/>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room of food</a:t>
            </a:r>
            <a:endParaRPr lang="en-US" sz="800" dirty="0"/>
          </a:p>
        </p:txBody>
      </p:sp>
      <p:sp>
        <p:nvSpPr>
          <p:cNvPr id="69" name="Shape 6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غُرْفَةُ الطَّعَامِ</a:t>
            </a:r>
            <a:endParaRPr lang="ar-SA" sz="3000" dirty="0"/>
          </a:p>
        </p:txBody>
      </p:sp>
      <p:sp>
        <p:nvSpPr>
          <p:cNvPr id="72" name="Text 6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dining room</a:t>
            </a:r>
            <a:endParaRPr lang="en-US" sz="1350" dirty="0"/>
          </a:p>
          <a:p>
            <a:pPr indent="0" marL="0">
              <a:buNone/>
            </a:pPr>
            <a:r>
              <a:rPr lang="en-US" sz="1100" i="1" dirty="0">
                <a:solidFill>
                  <a:srgbClr val="5A6472"/>
                </a:solidFill>
                <a:latin typeface="Calibri" pitchFamily="34" charset="0"/>
                <a:cs typeface="Amiri" pitchFamily="2" charset="-78"/>
              </a:rPr>
              <a:t>ghur-fa-tu ṭ-ṭa-ʿām</a:t>
            </a:r>
            <a:endParaRPr lang="en-US" sz="1350" dirty="0"/>
          </a:p>
        </p:txBody>
      </p:sp>
      <p:sp>
        <p:nvSpPr>
          <p:cNvPr id="73" name="Shape 7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566928"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76" name="Shape 73"/>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8" name="Text 7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المَكْتَبُ</a:t>
            </a:r>
            <a:endParaRPr lang="ar-SA" sz="3000" dirty="0"/>
          </a:p>
        </p:txBody>
      </p:sp>
      <p:sp>
        <p:nvSpPr>
          <p:cNvPr id="79" name="Text 7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study / office</a:t>
            </a:r>
            <a:endParaRPr lang="en-US" sz="1350" dirty="0"/>
          </a:p>
          <a:p>
            <a:pPr indent="0" marL="0">
              <a:buNone/>
            </a:pPr>
            <a:r>
              <a:rPr lang="en-US" sz="1100" i="1" dirty="0">
                <a:solidFill>
                  <a:srgbClr val="5A6472"/>
                </a:solidFill>
                <a:latin typeface="Calibri" pitchFamily="34" charset="0"/>
                <a:cs typeface="Amiri" pitchFamily="2" charset="-78"/>
              </a:rPr>
              <a:t>al-mak-tab</a:t>
            </a:r>
            <a:endParaRPr lang="en-US" sz="1350" dirty="0"/>
          </a:p>
        </p:txBody>
      </p:sp>
      <p:sp>
        <p:nvSpPr>
          <p:cNvPr id="80" name="Text 77"/>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“a desk” — context decides (website).</a:t>
            </a:r>
            <a:endParaRPr lang="en-US" sz="100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“THE ROOM OF …” (WEBSITE IḌĀFA)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Room + the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إِضَافَةُ أَسْمَاءِ الغُرَفِ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room of (no </a:t>
            </a:r>
            <a:pPr algn="ctr" indent="0" marL="0">
              <a:buNone/>
            </a:pPr>
            <a:r>
              <a:rPr lang="ar-SA" altLang="en-US" sz="1450" b="1" dirty="0">
                <a:solidFill>
                  <a:srgbClr val="FFFFFF"/>
                </a:solidFill>
                <a:latin typeface="Amiri" pitchFamily="2" charset="-78"/>
                <a:cs typeface="Amiri" pitchFamily="2" charset="-78"/>
              </a:rPr>
              <a:t>الـ</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7" name="Text 14"/>
          <p:cNvSpPr txBox="1"/>
          <p:nvPr/>
        </p:nvSpPr>
        <p:spPr>
          <a:xfrm>
            <a:off x="705002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the …</a:t>
            </a:r>
            <a:endParaRPr lang="en-US" sz="1100" dirty="0"/>
          </a:p>
        </p:txBody>
      </p:sp>
      <p:sp>
        <p:nvSpPr>
          <p:cNvPr id="18" name="Text 15"/>
          <p:cNvSpPr txBox="1"/>
          <p:nvPr/>
        </p:nvSpPr>
        <p:spPr>
          <a:xfrm>
            <a:off x="3575304"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the room name</a:t>
            </a:r>
            <a:endParaRPr lang="en-US" sz="1100" dirty="0"/>
          </a:p>
        </p:txBody>
      </p:sp>
      <p:sp>
        <p:nvSpPr>
          <p:cNvPr id="19" name="Text 16"/>
          <p:cNvSpPr txBox="1"/>
          <p:nvPr/>
        </p:nvSpPr>
        <p:spPr>
          <a:xfrm>
            <a:off x="5303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445752" y="2267712"/>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cs typeface="Amiri" pitchFamily="2" charset="-78"/>
              </a:rPr>
              <a:t>غُرْفَةُ</a:t>
            </a:r>
            <a:endParaRPr lang="ar-SA" sz="2600" dirty="0"/>
          </a:p>
        </p:txBody>
      </p:sp>
      <p:sp>
        <p:nvSpPr>
          <p:cNvPr id="22" name="Text 19"/>
          <p:cNvSpPr txBox="1"/>
          <p:nvPr/>
        </p:nvSpPr>
        <p:spPr>
          <a:xfrm>
            <a:off x="7068312" y="2267712"/>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C77700"/>
                </a:solidFill>
                <a:latin typeface="Amiri" pitchFamily="2" charset="-78"/>
                <a:cs typeface="Amiri" pitchFamily="2" charset="-78"/>
              </a:rPr>
              <a:t>النَّوْمِ</a:t>
            </a:r>
            <a:endParaRPr lang="ar-SA" sz="2600" dirty="0"/>
          </a:p>
        </p:txBody>
      </p:sp>
      <p:sp>
        <p:nvSpPr>
          <p:cNvPr id="23" name="Text 20"/>
          <p:cNvSpPr txBox="1"/>
          <p:nvPr/>
        </p:nvSpPr>
        <p:spPr>
          <a:xfrm>
            <a:off x="3593592" y="2267712"/>
            <a:ext cx="329184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cs typeface="Amiri" pitchFamily="2" charset="-78"/>
              </a:rPr>
              <a:t>غُرْفَةُ</a:t>
            </a:r>
            <a:pPr rtl="1" algn="ctr" indent="0" marL="0">
              <a:buNone/>
            </a:pPr>
            <a:r>
              <a:rPr lang="ar-SA" altLang="en-US" sz="2600" b="1" dirty="0">
                <a:solidFill>
                  <a:srgbClr val="1B3B6F"/>
                </a:solidFill>
                <a:latin typeface="Amiri" pitchFamily="2" charset="-78"/>
                <a:cs typeface="Amiri" pitchFamily="2" charset="-78"/>
              </a:rPr>
              <a:t> </a:t>
            </a:r>
            <a:pPr rtl="1" algn="ctr" indent="0" marL="0">
              <a:buNone/>
            </a:pPr>
            <a:r>
              <a:rPr lang="ar-SA" altLang="en-US" sz="2600" b="1" dirty="0">
                <a:solidFill>
                  <a:srgbClr val="C77700"/>
                </a:solidFill>
                <a:latin typeface="Amiri" pitchFamily="2" charset="-78"/>
                <a:cs typeface="Amiri" pitchFamily="2" charset="-78"/>
              </a:rPr>
              <a:t>النَّوْمِ</a:t>
            </a:r>
            <a:endParaRPr lang="ar-SA" sz="2600" dirty="0"/>
          </a:p>
        </p:txBody>
      </p:sp>
      <p:sp>
        <p:nvSpPr>
          <p:cNvPr id="24" name="Text 21"/>
          <p:cNvSpPr txBox="1"/>
          <p:nvPr/>
        </p:nvSpPr>
        <p:spPr>
          <a:xfrm>
            <a:off x="566928" y="2267712"/>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bedroom (room of the sleeping)</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445752" y="3004718"/>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cs typeface="Amiri" pitchFamily="2" charset="-78"/>
              </a:rPr>
              <a:t>غُرْفَةُ</a:t>
            </a:r>
            <a:endParaRPr lang="ar-SA" sz="2600" dirty="0"/>
          </a:p>
        </p:txBody>
      </p:sp>
      <p:sp>
        <p:nvSpPr>
          <p:cNvPr id="29" name="Text 26"/>
          <p:cNvSpPr txBox="1"/>
          <p:nvPr/>
        </p:nvSpPr>
        <p:spPr>
          <a:xfrm>
            <a:off x="7068312" y="3004718"/>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C77700"/>
                </a:solidFill>
                <a:latin typeface="Amiri" pitchFamily="2" charset="-78"/>
                <a:cs typeface="Amiri" pitchFamily="2" charset="-78"/>
              </a:rPr>
              <a:t>الجُلُوسِ</a:t>
            </a:r>
            <a:endParaRPr lang="ar-SA" sz="2600" dirty="0"/>
          </a:p>
        </p:txBody>
      </p:sp>
      <p:sp>
        <p:nvSpPr>
          <p:cNvPr id="30" name="Text 27"/>
          <p:cNvSpPr txBox="1"/>
          <p:nvPr/>
        </p:nvSpPr>
        <p:spPr>
          <a:xfrm>
            <a:off x="3593592" y="3004718"/>
            <a:ext cx="329184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cs typeface="Amiri" pitchFamily="2" charset="-78"/>
              </a:rPr>
              <a:t>غُرْفَةُ</a:t>
            </a:r>
            <a:pPr rtl="1" algn="ctr" indent="0" marL="0">
              <a:buNone/>
            </a:pPr>
            <a:r>
              <a:rPr lang="ar-SA" altLang="en-US" sz="2600" b="1" dirty="0">
                <a:solidFill>
                  <a:srgbClr val="1B3B6F"/>
                </a:solidFill>
                <a:latin typeface="Amiri" pitchFamily="2" charset="-78"/>
                <a:cs typeface="Amiri" pitchFamily="2" charset="-78"/>
              </a:rPr>
              <a:t> </a:t>
            </a:r>
            <a:pPr rtl="1" algn="ctr" indent="0" marL="0">
              <a:buNone/>
            </a:pPr>
            <a:r>
              <a:rPr lang="ar-SA" altLang="en-US" sz="2600" b="1" dirty="0">
                <a:solidFill>
                  <a:srgbClr val="C77700"/>
                </a:solidFill>
                <a:latin typeface="Amiri" pitchFamily="2" charset="-78"/>
                <a:cs typeface="Amiri" pitchFamily="2" charset="-78"/>
              </a:rPr>
              <a:t>الجُلُوسِ</a:t>
            </a:r>
            <a:endParaRPr lang="ar-SA" sz="2600" dirty="0"/>
          </a:p>
        </p:txBody>
      </p:sp>
      <p:sp>
        <p:nvSpPr>
          <p:cNvPr id="31" name="Text 28"/>
          <p:cNvSpPr txBox="1"/>
          <p:nvPr/>
        </p:nvSpPr>
        <p:spPr>
          <a:xfrm>
            <a:off x="566928" y="300471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living room</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445752" y="3741725"/>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cs typeface="Amiri" pitchFamily="2" charset="-78"/>
              </a:rPr>
              <a:t>غُرْفَةُ</a:t>
            </a:r>
            <a:endParaRPr lang="ar-SA" sz="2600" dirty="0"/>
          </a:p>
        </p:txBody>
      </p:sp>
      <p:sp>
        <p:nvSpPr>
          <p:cNvPr id="36" name="Text 33"/>
          <p:cNvSpPr txBox="1"/>
          <p:nvPr/>
        </p:nvSpPr>
        <p:spPr>
          <a:xfrm>
            <a:off x="7068312" y="3741725"/>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C77700"/>
                </a:solidFill>
                <a:latin typeface="Amiri" pitchFamily="2" charset="-78"/>
                <a:cs typeface="Amiri" pitchFamily="2" charset="-78"/>
              </a:rPr>
              <a:t>الطَّعَامِ</a:t>
            </a:r>
            <a:endParaRPr lang="ar-SA" sz="2600" dirty="0"/>
          </a:p>
        </p:txBody>
      </p:sp>
      <p:sp>
        <p:nvSpPr>
          <p:cNvPr id="37" name="Text 34"/>
          <p:cNvSpPr txBox="1"/>
          <p:nvPr/>
        </p:nvSpPr>
        <p:spPr>
          <a:xfrm>
            <a:off x="3593592" y="3741725"/>
            <a:ext cx="329184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cs typeface="Amiri" pitchFamily="2" charset="-78"/>
              </a:rPr>
              <a:t>غُرْفَةُ</a:t>
            </a:r>
            <a:pPr rtl="1" algn="ctr" indent="0" marL="0">
              <a:buNone/>
            </a:pPr>
            <a:r>
              <a:rPr lang="ar-SA" altLang="en-US" sz="2600" b="1" dirty="0">
                <a:solidFill>
                  <a:srgbClr val="1B3B6F"/>
                </a:solidFill>
                <a:latin typeface="Amiri" pitchFamily="2" charset="-78"/>
                <a:cs typeface="Amiri" pitchFamily="2" charset="-78"/>
              </a:rPr>
              <a:t> </a:t>
            </a:r>
            <a:pPr rtl="1" algn="ctr" indent="0" marL="0">
              <a:buNone/>
            </a:pPr>
            <a:r>
              <a:rPr lang="ar-SA" altLang="en-US" sz="2600" b="1" dirty="0">
                <a:solidFill>
                  <a:srgbClr val="C77700"/>
                </a:solidFill>
                <a:latin typeface="Amiri" pitchFamily="2" charset="-78"/>
                <a:cs typeface="Amiri" pitchFamily="2" charset="-78"/>
              </a:rPr>
              <a:t>الطَّعَامِ</a:t>
            </a:r>
            <a:endParaRPr lang="ar-SA" sz="2600" dirty="0"/>
          </a:p>
        </p:txBody>
      </p:sp>
      <p:sp>
        <p:nvSpPr>
          <p:cNvPr id="38" name="Text 35"/>
          <p:cNvSpPr txBox="1"/>
          <p:nvPr/>
        </p:nvSpPr>
        <p:spPr>
          <a:xfrm>
            <a:off x="566928" y="3741725"/>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dining room</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445752" y="4478731"/>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cs typeface="Amiri" pitchFamily="2" charset="-78"/>
              </a:rPr>
              <a:t>بَابُ</a:t>
            </a:r>
            <a:endParaRPr lang="ar-SA" sz="2600" dirty="0"/>
          </a:p>
        </p:txBody>
      </p:sp>
      <p:sp>
        <p:nvSpPr>
          <p:cNvPr id="43" name="Text 40"/>
          <p:cNvSpPr txBox="1"/>
          <p:nvPr/>
        </p:nvSpPr>
        <p:spPr>
          <a:xfrm>
            <a:off x="7068312" y="4478731"/>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C77700"/>
                </a:solidFill>
                <a:latin typeface="Amiri" pitchFamily="2" charset="-78"/>
                <a:cs typeface="Amiri" pitchFamily="2" charset="-78"/>
              </a:rPr>
              <a:t>البَيْتِ</a:t>
            </a:r>
            <a:endParaRPr lang="ar-SA" sz="2600" dirty="0"/>
          </a:p>
        </p:txBody>
      </p:sp>
      <p:sp>
        <p:nvSpPr>
          <p:cNvPr id="44" name="Text 41"/>
          <p:cNvSpPr txBox="1"/>
          <p:nvPr/>
        </p:nvSpPr>
        <p:spPr>
          <a:xfrm>
            <a:off x="3593592" y="4478731"/>
            <a:ext cx="329184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cs typeface="Amiri" pitchFamily="2" charset="-78"/>
              </a:rPr>
              <a:t>بَابُ</a:t>
            </a:r>
            <a:pPr rtl="1" algn="ctr" indent="0" marL="0">
              <a:buNone/>
            </a:pPr>
            <a:r>
              <a:rPr lang="ar-SA" altLang="en-US" sz="2600" b="1" dirty="0">
                <a:solidFill>
                  <a:srgbClr val="1B3B6F"/>
                </a:solidFill>
                <a:latin typeface="Amiri" pitchFamily="2" charset="-78"/>
                <a:cs typeface="Amiri" pitchFamily="2" charset="-78"/>
              </a:rPr>
              <a:t> </a:t>
            </a:r>
            <a:pPr rtl="1" algn="ctr" indent="0" marL="0">
              <a:buNone/>
            </a:pPr>
            <a:r>
              <a:rPr lang="ar-SA" altLang="en-US" sz="2600" b="1" dirty="0">
                <a:solidFill>
                  <a:srgbClr val="C77700"/>
                </a:solidFill>
                <a:latin typeface="Amiri" pitchFamily="2" charset="-78"/>
                <a:cs typeface="Amiri" pitchFamily="2" charset="-78"/>
              </a:rPr>
              <a:t>البَيْتِ</a:t>
            </a:r>
            <a:endParaRPr lang="ar-SA" sz="2600" dirty="0"/>
          </a:p>
        </p:txBody>
      </p:sp>
      <p:sp>
        <p:nvSpPr>
          <p:cNvPr id="45" name="Text 42"/>
          <p:cNvSpPr txBox="1"/>
          <p:nvPr/>
        </p:nvSpPr>
        <p:spPr>
          <a:xfrm>
            <a:off x="566928" y="4478731"/>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house door</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9445752" y="5215738"/>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cs typeface="Amiri" pitchFamily="2" charset="-78"/>
              </a:rPr>
              <a:t>نَافِذَةُ</a:t>
            </a:r>
            <a:endParaRPr lang="ar-SA" sz="2600" dirty="0"/>
          </a:p>
        </p:txBody>
      </p:sp>
      <p:sp>
        <p:nvSpPr>
          <p:cNvPr id="48" name="Text 45"/>
          <p:cNvSpPr txBox="1"/>
          <p:nvPr/>
        </p:nvSpPr>
        <p:spPr>
          <a:xfrm>
            <a:off x="7068312" y="5215738"/>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C77700"/>
                </a:solidFill>
                <a:latin typeface="Amiri" pitchFamily="2" charset="-78"/>
                <a:cs typeface="Amiri" pitchFamily="2" charset="-78"/>
              </a:rPr>
              <a:t>المَطْبَخِ</a:t>
            </a:r>
            <a:endParaRPr lang="ar-SA" sz="2600" dirty="0"/>
          </a:p>
        </p:txBody>
      </p:sp>
      <p:sp>
        <p:nvSpPr>
          <p:cNvPr id="49" name="Text 46"/>
          <p:cNvSpPr txBox="1"/>
          <p:nvPr/>
        </p:nvSpPr>
        <p:spPr>
          <a:xfrm>
            <a:off x="3593592" y="5215738"/>
            <a:ext cx="329184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cs typeface="Amiri" pitchFamily="2" charset="-78"/>
              </a:rPr>
              <a:t>نَافِذَةُ</a:t>
            </a:r>
            <a:pPr rtl="1" algn="ctr" indent="0" marL="0">
              <a:buNone/>
            </a:pPr>
            <a:r>
              <a:rPr lang="ar-SA" altLang="en-US" sz="2600" b="1" dirty="0">
                <a:solidFill>
                  <a:srgbClr val="1B3B6F"/>
                </a:solidFill>
                <a:latin typeface="Amiri" pitchFamily="2" charset="-78"/>
                <a:cs typeface="Amiri" pitchFamily="2" charset="-78"/>
              </a:rPr>
              <a:t> </a:t>
            </a:r>
            <a:pPr rtl="1" algn="ctr" indent="0" marL="0">
              <a:buNone/>
            </a:pPr>
            <a:r>
              <a:rPr lang="ar-SA" altLang="en-US" sz="2600" b="1" dirty="0">
                <a:solidFill>
                  <a:srgbClr val="C77700"/>
                </a:solidFill>
                <a:latin typeface="Amiri" pitchFamily="2" charset="-78"/>
                <a:cs typeface="Amiri" pitchFamily="2" charset="-78"/>
              </a:rPr>
              <a:t>المَطْبَخِ</a:t>
            </a:r>
            <a:endParaRPr lang="ar-SA" sz="2600" dirty="0"/>
          </a:p>
        </p:txBody>
      </p:sp>
      <p:sp>
        <p:nvSpPr>
          <p:cNvPr id="50" name="Text 47"/>
          <p:cNvSpPr txBox="1"/>
          <p:nvPr/>
        </p:nvSpPr>
        <p:spPr>
          <a:xfrm>
            <a:off x="566928" y="521573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kitchen window</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Two nouns side by side: the first has no al- (and no -un); the second carries “the”.</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THREE HOME FRAMES + COUNTING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 my house · I have · there are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فِي بَيْتِي · عِنْدِي · هُنَاكَ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LIST · CORE</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فِي بَيْتِي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فِي بَيْتِي مَطْبَخٌ وَحَمَّامٌ.</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my house there is a kitchen and a bathroom.</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What the home contains.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2870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HAVE · CORE</a:t>
            </a:r>
            <a:endParaRPr lang="en-US" sz="850" dirty="0"/>
          </a:p>
        </p:txBody>
      </p:sp>
      <p:sp>
        <p:nvSpPr>
          <p:cNvPr id="26" name="Text 23"/>
          <p:cNvSpPr txBox="1"/>
          <p:nvPr/>
        </p:nvSpPr>
        <p:spPr>
          <a:xfrm>
            <a:off x="5487924"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عِنْدِي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عِنْدِي غُرْفَةُ نَوْمٍ كَبِيرَةٌ.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have a big bedroom.</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Possession: ‘indī.</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C77700"/>
          </a:solidFill>
          <a:ln w="12700">
            <a:solidFill>
              <a:srgbClr val="C77700"/>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COUNT · DEVELOP</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هُنَاكَ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هُنَاكَ ثَلَاثُ غُرَفٍ.</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There are three rooms.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Room f. → thalāthu (not thalāthatu).</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House m. · room f. — the adjective follows (website).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cs typeface="Amiri" pitchFamily="2" charset="-78"/>
              </a:rPr>
              <a:t>غُرْفَةٌ كَبِيرَةٌ وَجَدِيدَةٌ</a:t>
            </a:r>
            <a:endParaRPr lang="ar-SA" sz="19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150" b="1" dirty="0">
                <a:solidFill>
                  <a:srgbClr val="B83227"/>
                </a:solidFill>
                <a:latin typeface="Amiri" pitchFamily="2" charset="-78"/>
                <a:cs typeface="Amiri" pitchFamily="2" charset="-78"/>
              </a:rPr>
              <a:t>غُرْفَةٌ كَبِيرٌ وَجَدِيدٌ</a:t>
            </a:r>
            <a:endParaRPr lang="ar-SA" sz="21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my house there is a kitchen.”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بَيْتِي مَطْبَخٌ.</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عِنْدِي فِي مَطْبَخٌ.</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بَيْتِي مَطْبَخٌ.</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a garden.”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عِنْدِي حَدِيقَةٌ.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حَدِيقَتِي.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هُنَاكَ عِنْدِي.</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“There are three rooms.”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هُنَاكَ ثَلَاثَةُ غُرَفٍ.</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هُنَاكَ ثَلَاثُ غُرَفٍ.</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هُنَاكَ ثَلَاثُ غُرْفَةٍ.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شَقَّتِي ___.</a:t>
            </a:r>
            <a:endParaRPr lang="ar-SA" sz="22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جَدِيدَةٌ</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جَدِيدٌ</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جُدُدٌ</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my house there is a kitchen.”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بَيْتِي مَطْبَخٌ.</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عِنْدِي فِي مَطْبَخٌ.</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بَيْتِي مَطْبَخٌ.</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فِي بَيْتِي</a:t>
            </a:r>
            <a:pPr algn="l" indent="0" marL="0">
              <a:buNone/>
            </a:pPr>
            <a:r>
              <a:rPr lang="en-US" sz="1050" i="1" dirty="0">
                <a:solidFill>
                  <a:srgbClr val="8A6D1E"/>
                </a:solidFill>
                <a:latin typeface="Calibri" pitchFamily="34" charset="0"/>
                <a:cs typeface="Amiri" pitchFamily="2" charset="-78"/>
              </a:rPr>
              <a:t> introduces what is in the home.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a garden.”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عِنْدِي حَدِيقَةٌ.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حَدِيقَتِي.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هُنَاكَ عِنْدِي.</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عِنْدِي</a:t>
            </a:r>
            <a:pPr algn="l" indent="0" marL="0">
              <a:buNone/>
            </a:pPr>
            <a:r>
              <a:rPr lang="en-US" sz="1050" i="1" dirty="0">
                <a:solidFill>
                  <a:srgbClr val="8A6D1E"/>
                </a:solidFill>
                <a:latin typeface="Calibri" pitchFamily="34" charset="0"/>
                <a:cs typeface="Amiri" pitchFamily="2" charset="-78"/>
              </a:rPr>
              <a:t> expresses possession.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“There are three rooms.”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هُنَاكَ ثَلَاثَةُ غُرَفٍ.</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هُنَاكَ ثَلَاثُ غُرَفٍ.</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هُنَاكَ ثَلَاثُ غُرْفَةٍ.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 so use masculine </a:t>
            </a:r>
            <a:pPr algn="l" indent="0" marL="0">
              <a:buNone/>
            </a:pPr>
            <a:r>
              <a:rPr lang="ar-SA" altLang="en-US" sz="1350" dirty="0">
                <a:solidFill>
                  <a:srgbClr val="8A6D1E"/>
                </a:solidFill>
                <a:latin typeface="Amiri" pitchFamily="2" charset="-78"/>
                <a:cs typeface="Amiri" pitchFamily="2" charset="-78"/>
              </a:rPr>
              <a:t>ثَلَاثُ</a:t>
            </a:r>
            <a:pPr algn="l" indent="0" marL="0">
              <a:buNone/>
            </a:pPr>
            <a:r>
              <a:rPr lang="en-US" sz="1050" i="1" dirty="0">
                <a:solidFill>
                  <a:srgbClr val="8A6D1E"/>
                </a:solidFill>
                <a:latin typeface="Calibri" pitchFamily="34" charset="0"/>
                <a:cs typeface="Amiri" pitchFamily="2" charset="-78"/>
              </a:rPr>
              <a:t> with plural </a:t>
            </a:r>
            <a:pPr algn="l" indent="0" marL="0">
              <a:buNone/>
            </a:pPr>
            <a:r>
              <a:rPr lang="ar-SA" altLang="en-US" sz="1350" dirty="0">
                <a:solidFill>
                  <a:srgbClr val="8A6D1E"/>
                </a:solidFill>
                <a:latin typeface="Amiri" pitchFamily="2" charset="-78"/>
                <a:cs typeface="Amiri" pitchFamily="2" charset="-78"/>
              </a:rPr>
              <a:t>غُرَفٍ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شَقَّتِي ___.</a:t>
            </a:r>
            <a:endParaRPr lang="ar-SA" sz="22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جَدِيدَةٌ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جَدِيدٌ</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جُدُدٌ</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شَقَّةٌ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tour a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Type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أَسْكُنُ فِي </a:t>
            </a:r>
            <a:pPr rtl="1" algn="ctr" indent="0" marL="0">
              <a:lnSpc>
                <a:spcPct val="120000"/>
              </a:lnSpc>
              <a:buNone/>
            </a:pPr>
            <a:r>
              <a:rPr lang="ar-SA" altLang="en-US" sz="1750" b="1" dirty="0">
                <a:solidFill>
                  <a:srgbClr val="0E7C86"/>
                </a:solidFill>
                <a:latin typeface="Amiri" pitchFamily="2" charset="-78"/>
                <a:cs typeface="Amiri" pitchFamily="2" charset="-78"/>
              </a:rPr>
              <a:t>شَقَّةٍ</a:t>
            </a:r>
            <a:pPr rtl="1" algn="ctr" indent="0" marL="0">
              <a:lnSpc>
                <a:spcPct val="120000"/>
              </a:lnSpc>
              <a:buNone/>
            </a:pPr>
            <a:r>
              <a:rPr lang="ar-SA" altLang="en-US" sz="1750" b="1" dirty="0">
                <a:solidFill>
                  <a:srgbClr val="1B3B6F"/>
                </a:solidFill>
                <a:latin typeface="Amiri" pitchFamily="2" charset="-78"/>
                <a:cs typeface="Amiri" pitchFamily="2" charset="-78"/>
              </a:rPr>
              <a:t> فِي الطَّابِقِ الثَّانِي.</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Flat, on the 2nd floor.</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Size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cs typeface="Amiri" pitchFamily="2" charset="-78"/>
              </a:rPr>
              <a:t>شَقَّتِي صَغِيرَ</a:t>
            </a:r>
            <a:pPr rtl="1" algn="ctr" indent="0" marL="0">
              <a:lnSpc>
                <a:spcPct val="120000"/>
              </a:lnSpc>
              <a:buNone/>
            </a:pPr>
            <a:r>
              <a:rPr lang="ar-SA" altLang="en-US" sz="2000" b="1" dirty="0">
                <a:solidFill>
                  <a:srgbClr val="D6336C"/>
                </a:solidFill>
                <a:latin typeface="Amiri" pitchFamily="2" charset="-78"/>
                <a:cs typeface="Amiri" pitchFamily="2" charset="-78"/>
              </a:rPr>
              <a:t>ةٌ</a:t>
            </a:r>
            <a:pPr rtl="1" algn="ctr" indent="0" marL="0">
              <a:lnSpc>
                <a:spcPct val="120000"/>
              </a:lnSpc>
              <a:buNone/>
            </a:pPr>
            <a:r>
              <a:rPr lang="ar-SA" altLang="en-US" sz="2000" b="1" dirty="0">
                <a:solidFill>
                  <a:srgbClr val="1B3B6F"/>
                </a:solidFill>
                <a:latin typeface="Amiri" pitchFamily="2" charset="-78"/>
                <a:cs typeface="Amiri" pitchFamily="2" charset="-78"/>
              </a:rPr>
              <a:t> وَلَكِنَّهَا جَمِيلَ</a:t>
            </a:r>
            <a:pPr rtl="1" algn="ctr" indent="0" marL="0">
              <a:lnSpc>
                <a:spcPct val="120000"/>
              </a:lnSpc>
              <a:buNone/>
            </a:pPr>
            <a:r>
              <a:rPr lang="ar-SA" altLang="en-US" sz="2000" b="1" dirty="0">
                <a:solidFill>
                  <a:srgbClr val="D6336C"/>
                </a:solidFill>
                <a:latin typeface="Amiri" pitchFamily="2" charset="-78"/>
                <a:cs typeface="Amiri" pitchFamily="2" charset="-78"/>
              </a:rPr>
              <a:t>ةٌ</a:t>
            </a:r>
            <a:pPr rtl="1" algn="ctr" indent="0" marL="0">
              <a:lnSpc>
                <a:spcPct val="120000"/>
              </a:lnSpc>
              <a:buNone/>
            </a:pPr>
            <a:r>
              <a:rPr lang="ar-SA" altLang="en-US" sz="2000" b="1" dirty="0">
                <a:solidFill>
                  <a:srgbClr val="1B3B6F"/>
                </a:solidFill>
                <a:latin typeface="Amiri" pitchFamily="2" charset="-78"/>
                <a:cs typeface="Amiri" pitchFamily="2" charset="-78"/>
              </a:rPr>
              <a:t>.</a:t>
            </a:r>
            <a:endParaRPr lang="ar-SA" sz="20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Flat is f. → -a on both adjectives.</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Rooms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cs typeface="Amiri" pitchFamily="2" charset="-78"/>
              </a:rPr>
              <a:t>فِيهَا</a:t>
            </a:r>
            <a:pPr rtl="1" algn="ctr" indent="0" marL="0">
              <a:lnSpc>
                <a:spcPct val="120000"/>
              </a:lnSpc>
              <a:buNone/>
            </a:pPr>
            <a:r>
              <a:rPr lang="ar-SA" altLang="en-US" sz="1750" b="1" dirty="0">
                <a:solidFill>
                  <a:srgbClr val="1B3B6F"/>
                </a:solidFill>
                <a:latin typeface="Amiri" pitchFamily="2" charset="-78"/>
                <a:cs typeface="Amiri" pitchFamily="2" charset="-78"/>
              </a:rPr>
              <a:t> غُرْفَتَا نَوْمٍ وَ</a:t>
            </a:r>
            <a:pPr rtl="1" algn="ctr" indent="0" marL="0">
              <a:lnSpc>
                <a:spcPct val="120000"/>
              </a:lnSpc>
              <a:buNone/>
            </a:pPr>
            <a:r>
              <a:rPr lang="ar-SA" altLang="en-US" sz="1750" b="1" dirty="0">
                <a:solidFill>
                  <a:srgbClr val="C77700"/>
                </a:solidFill>
                <a:latin typeface="Amiri" pitchFamily="2" charset="-78"/>
                <a:cs typeface="Amiri" pitchFamily="2" charset="-78"/>
              </a:rPr>
              <a:t>غُرْفَةُ جُلُوسٍ</a:t>
            </a:r>
            <a:pPr rtl="1" algn="ctr" indent="0" marL="0">
              <a:lnSpc>
                <a:spcPct val="120000"/>
              </a:lnSpc>
              <a:buNone/>
            </a:pPr>
            <a:r>
              <a:rPr lang="ar-SA" altLang="en-US" sz="1750" b="1" dirty="0">
                <a:solidFill>
                  <a:srgbClr val="1B3B6F"/>
                </a:solidFill>
                <a:latin typeface="Amiri" pitchFamily="2" charset="-78"/>
                <a:cs typeface="Amiri" pitchFamily="2" charset="-78"/>
              </a:rPr>
              <a:t> وَمَطْبَخٌ.</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bedrooms, living room, kitchen.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Extra + opinion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cs typeface="Amiri" pitchFamily="2" charset="-78"/>
              </a:rPr>
              <a:t>عِنْدَنَا</a:t>
            </a:r>
            <a:pPr rtl="1" algn="ctr" indent="0" marL="0">
              <a:lnSpc>
                <a:spcPct val="120000"/>
              </a:lnSpc>
              <a:buNone/>
            </a:pPr>
            <a:r>
              <a:rPr lang="ar-SA" altLang="en-US" sz="1750" b="1" dirty="0">
                <a:solidFill>
                  <a:srgbClr val="1B3B6F"/>
                </a:solidFill>
                <a:latin typeface="Amiri" pitchFamily="2" charset="-78"/>
                <a:cs typeface="Amiri" pitchFamily="2" charset="-78"/>
              </a:rPr>
              <a:t> شُرْفَةٌ. أُحِبُّ شَقَّتِي لِأَنَّهَا مُرِيحَةٌ.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 we have + because.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HOME</a:t>
            </a:r>
            <a:endParaRPr lang="en-US" sz="800" dirty="0"/>
          </a:p>
        </p:txBody>
      </p:sp>
      <p:sp>
        <p:nvSpPr>
          <p:cNvPr id="47" name="Shape 43"/>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a:t>
            </a:r>
            <a:endParaRPr lang="en-US" sz="800" dirty="0"/>
          </a:p>
        </p:txBody>
      </p:sp>
      <p:sp>
        <p:nvSpPr>
          <p:cNvPr id="49" name="Shape 45"/>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FRAME</a:t>
            </a:r>
            <a:endParaRPr lang="en-US" sz="800" dirty="0"/>
          </a:p>
        </p:txBody>
      </p:sp>
      <p:sp>
        <p:nvSpPr>
          <p:cNvPr id="51" name="Shape 47"/>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ROOM NAME</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أَسْكُنُ فِي </a:t>
            </a:r>
            <a:pPr rtl="1" algn="r" indent="0" marL="0">
              <a:lnSpc>
                <a:spcPct val="120000"/>
              </a:lnSpc>
              <a:buNone/>
            </a:pPr>
            <a:r>
              <a:rPr lang="ar-SA" altLang="en-US" sz="1400" b="1" dirty="0">
                <a:solidFill>
                  <a:srgbClr val="0E7C86"/>
                </a:solidFill>
                <a:latin typeface="Amiri" pitchFamily="2" charset="-78"/>
                <a:cs typeface="Amiri" pitchFamily="2" charset="-78"/>
              </a:rPr>
              <a:t>شَقَّةٍ</a:t>
            </a:r>
            <a:pPr rtl="1" algn="r" indent="0" marL="0">
              <a:lnSpc>
                <a:spcPct val="120000"/>
              </a:lnSpc>
              <a:buNone/>
            </a:pPr>
            <a:r>
              <a:rPr lang="ar-SA" altLang="en-US" sz="1400" b="1" dirty="0">
                <a:solidFill>
                  <a:srgbClr val="1B3B6F"/>
                </a:solidFill>
                <a:latin typeface="Amiri" pitchFamily="2" charset="-78"/>
                <a:cs typeface="Amiri" pitchFamily="2" charset="-78"/>
              </a:rPr>
              <a:t> فِي الطَّابِقِ الثَّانِي. شَقَّتِي صَغِيرَ</a:t>
            </a:r>
            <a:pPr rtl="1" algn="r" indent="0" marL="0">
              <a:lnSpc>
                <a:spcPct val="120000"/>
              </a:lnSpc>
              <a:buNone/>
            </a:pPr>
            <a:r>
              <a:rPr lang="ar-SA" altLang="en-US" sz="1400" b="1" dirty="0">
                <a:solidFill>
                  <a:srgbClr val="D6336C"/>
                </a:solidFill>
                <a:latin typeface="Amiri" pitchFamily="2" charset="-78"/>
                <a:cs typeface="Amiri" pitchFamily="2" charset="-78"/>
              </a:rPr>
              <a:t>ةٌ</a:t>
            </a:r>
            <a:pPr rtl="1" algn="r" indent="0" marL="0">
              <a:lnSpc>
                <a:spcPct val="120000"/>
              </a:lnSpc>
              <a:buNone/>
            </a:pPr>
            <a:r>
              <a:rPr lang="ar-SA" altLang="en-US" sz="1400" b="1" dirty="0">
                <a:solidFill>
                  <a:srgbClr val="1B3B6F"/>
                </a:solidFill>
                <a:latin typeface="Amiri" pitchFamily="2" charset="-78"/>
                <a:cs typeface="Amiri" pitchFamily="2" charset="-78"/>
              </a:rPr>
              <a:t> وَلَكِنَّهَا جَمِيلَ</a:t>
            </a:r>
            <a:pPr rtl="1" algn="r" indent="0" marL="0">
              <a:lnSpc>
                <a:spcPct val="120000"/>
              </a:lnSpc>
              <a:buNone/>
            </a:pPr>
            <a:r>
              <a:rPr lang="ar-SA" altLang="en-US" sz="1400" b="1" dirty="0">
                <a:solidFill>
                  <a:srgbClr val="D6336C"/>
                </a:solidFill>
                <a:latin typeface="Amiri" pitchFamily="2" charset="-78"/>
                <a:cs typeface="Amiri" pitchFamily="2" charset="-78"/>
              </a:rPr>
              <a:t>ةٌ</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1D5FBF"/>
                </a:solidFill>
                <a:latin typeface="Amiri" pitchFamily="2" charset="-78"/>
                <a:cs typeface="Amiri" pitchFamily="2" charset="-78"/>
              </a:rPr>
              <a:t>فِيهَا</a:t>
            </a:r>
            <a:pPr rtl="1" algn="r" indent="0" marL="0">
              <a:lnSpc>
                <a:spcPct val="120000"/>
              </a:lnSpc>
              <a:buNone/>
            </a:pPr>
            <a:r>
              <a:rPr lang="ar-SA" altLang="en-US" sz="1400" b="1" dirty="0">
                <a:solidFill>
                  <a:srgbClr val="1B3B6F"/>
                </a:solidFill>
                <a:latin typeface="Amiri" pitchFamily="2" charset="-78"/>
                <a:cs typeface="Amiri" pitchFamily="2" charset="-78"/>
              </a:rPr>
              <a:t> غُرْفَتَا نَوْمٍ وَ</a:t>
            </a:r>
            <a:pPr rtl="1" algn="r" indent="0" marL="0">
              <a:lnSpc>
                <a:spcPct val="120000"/>
              </a:lnSpc>
              <a:buNone/>
            </a:pPr>
            <a:r>
              <a:rPr lang="ar-SA" altLang="en-US" sz="1400" b="1" dirty="0">
                <a:solidFill>
                  <a:srgbClr val="C77700"/>
                </a:solidFill>
                <a:latin typeface="Amiri" pitchFamily="2" charset="-78"/>
                <a:cs typeface="Amiri" pitchFamily="2" charset="-78"/>
              </a:rPr>
              <a:t>غُرْفَةُ جُلُوسٍ</a:t>
            </a:r>
            <a:pPr rtl="1" algn="r" indent="0" marL="0">
              <a:lnSpc>
                <a:spcPct val="120000"/>
              </a:lnSpc>
              <a:buNone/>
            </a:pPr>
            <a:r>
              <a:rPr lang="ar-SA" altLang="en-US" sz="1400" b="1" dirty="0">
                <a:solidFill>
                  <a:srgbClr val="1B3B6F"/>
                </a:solidFill>
                <a:latin typeface="Amiri" pitchFamily="2" charset="-78"/>
                <a:cs typeface="Amiri" pitchFamily="2" charset="-78"/>
              </a:rPr>
              <a:t> وَمَطْبَخٌ وَحَمَّامٌ. </a:t>
            </a:r>
            <a:pPr rtl="1" algn="r" indent="0" marL="0">
              <a:lnSpc>
                <a:spcPct val="120000"/>
              </a:lnSpc>
              <a:buNone/>
            </a:pPr>
            <a:r>
              <a:rPr lang="ar-SA" altLang="en-US" sz="1400" b="1" dirty="0">
                <a:solidFill>
                  <a:srgbClr val="1D5FBF"/>
                </a:solidFill>
                <a:latin typeface="Amiri" pitchFamily="2" charset="-78"/>
                <a:cs typeface="Amiri" pitchFamily="2" charset="-78"/>
              </a:rPr>
              <a:t>عِنْدَنَا</a:t>
            </a:r>
            <a:pPr rtl="1" algn="r" indent="0" marL="0">
              <a:lnSpc>
                <a:spcPct val="120000"/>
              </a:lnSpc>
              <a:buNone/>
            </a:pPr>
            <a:r>
              <a:rPr lang="ar-SA" altLang="en-US" sz="1400" b="1" dirty="0">
                <a:solidFill>
                  <a:srgbClr val="1B3B6F"/>
                </a:solidFill>
                <a:latin typeface="Amiri" pitchFamily="2" charset="-78"/>
                <a:cs typeface="Amiri" pitchFamily="2" charset="-78"/>
              </a:rPr>
              <a:t> شُرْفَةٌ، وَلَكِنْ لَيْسَ عِنْدَنَا حَدِيقَةٌ. أُحِبُّ شَقَّتِي لِأَنَّهَا مُرِيحَةٌ.</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live in a flat on the second floor. My flat is small but beautiful. It has two bedrooms, a living room, a kitchen and a bathroom. We have a balcony, but we don’t have a garden. I like my flat because it is comfortable.</a:t>
            </a:r>
            <a:endParaRPr lang="en-US" sz="11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MY HOME — ROOMS AND PARTS OF THE HOUSE”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room?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البَيْتُ وَالغُرَفُ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bed</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kitchen</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76784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2" name="Text 2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block of flats</a:t>
            </a:r>
            <a:endParaRPr lang="en-US" sz="1100" dirty="0"/>
          </a:p>
        </p:txBody>
      </p:sp>
      <p:sp>
        <p:nvSpPr>
          <p:cNvPr id="33"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4"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5"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6"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أَسْكُنُ فِي شَقَّةٍ.</a:t>
            </a:r>
            <a:endParaRPr lang="ar-SA" sz="2000" dirty="0"/>
          </a:p>
        </p:txBody>
      </p:sp>
      <p:sp>
        <p:nvSpPr>
          <p:cNvPr id="37"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8"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39"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0"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غُرْفَةُ النَّوْمِ.</a:t>
            </a:r>
            <a:endParaRPr lang="ar-SA" sz="2000" dirty="0"/>
          </a:p>
        </p:txBody>
      </p:sp>
      <p:sp>
        <p:nvSpPr>
          <p:cNvPr id="41"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2"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3"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4"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هٰذَا المَطْبَخُ.</a:t>
            </a:r>
            <a:endParaRPr lang="ar-SA" sz="2000" dirty="0"/>
          </a:p>
        </p:txBody>
      </p:sp>
      <p:sp>
        <p:nvSpPr>
          <p:cNvPr id="45"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6"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7"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البَيْتُ وَالغُرَفُ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bed</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غُرْفَةُ النَّوْمِ.</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the bedroom.</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kitchen</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المَطْبَخُ.</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the kitchen.</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76784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2" name="Text 3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block of flats</a:t>
            </a:r>
            <a:endParaRPr lang="en-US" sz="1100" dirty="0"/>
          </a:p>
        </p:txBody>
      </p:sp>
      <p:sp>
        <p:nvSpPr>
          <p:cNvPr id="43"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4"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5"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6"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أَسْكُنُ فِي شَقَّةٍ.</a:t>
            </a:r>
            <a:endParaRPr lang="ar-SA" sz="2200" dirty="0"/>
          </a:p>
        </p:txBody>
      </p:sp>
      <p:sp>
        <p:nvSpPr>
          <p:cNvPr id="47"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live in a flat.</a:t>
            </a:r>
            <a:endParaRPr lang="en-US" sz="1200" dirty="0"/>
          </a:p>
        </p:txBody>
      </p:sp>
      <p:sp>
        <p:nvSpPr>
          <p:cNvPr id="48"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“HOUSE TOUR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Tour the house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جَوْلَةِ البَيْتِ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flat/apartment. (one home inside a building)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شَقَّةٌ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مَرْآبٌ</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 (the dining room)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الغُرْفَةُ الطَّعَامِ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طَعَامٌ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الطَّعَامِ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number phrase. (three rooms)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ثَلَاثَةُ غُرَفٍ</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ثَلَاثُ غُرْفَةٍ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ثَلَاثُ غُرَفٍ</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 (a large old house)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 كَبِيرٌ وَقَدِيمٌ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 كَبِيرَةٌ وَقَدِيمَةٌ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كَبِيرٌ وَقَدِيمٌ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(favourite room)</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غُرْفَتِي لِأَنَّهُ مُرِيحٌ.</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غُرْفَتِي لِأَنَّهَا مُرِيحَةٌ.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بَيْتِي لِأَنَّهَا مُرِيحَةٌ.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Room of + the …</a:t>
            </a:r>
            <a:endParaRPr lang="en-US" sz="1250" dirty="0"/>
          </a:p>
          <a:p>
            <a:pPr algn="l" indent="0" marL="0">
              <a:buNone/>
            </a:pPr>
            <a:r>
              <a:rPr lang="en-US" sz="1250" dirty="0">
                <a:solidFill>
                  <a:srgbClr val="1E6B52"/>
                </a:solidFill>
                <a:latin typeface="Calibri" pitchFamily="34" charset="0"/>
                <a:cs typeface="Amiri" pitchFamily="2" charset="-78"/>
              </a:rPr>
              <a:t>room → -a adjective</a:t>
            </a:r>
            <a:endParaRPr lang="en-US" sz="1250" dirty="0"/>
          </a:p>
          <a:p>
            <a:pPr algn="l" indent="0" marL="0">
              <a:buNone/>
            </a:pPr>
            <a:r>
              <a:rPr lang="en-US" sz="1250" dirty="0">
                <a:solidFill>
                  <a:srgbClr val="1E6B52"/>
                </a:solidFill>
                <a:latin typeface="Calibri" pitchFamily="34" charset="0"/>
                <a:cs typeface="Amiri" pitchFamily="2" charset="-78"/>
              </a:rPr>
              <a:t>3 rooms = thalāthu ghuraf</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flat/apartment. (one home inside a building)</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شَقَّةٌ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مَرْآبٌ</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شَقَّةٌ</a:t>
            </a:r>
            <a:pPr algn="l" indent="0" marL="0">
              <a:buNone/>
            </a:pPr>
            <a:r>
              <a:rPr lang="en-US" sz="1050" i="1" dirty="0">
                <a:solidFill>
                  <a:srgbClr val="8A6D1E"/>
                </a:solidFill>
                <a:latin typeface="Calibri" pitchFamily="34" charset="0"/>
                <a:cs typeface="Amiri" pitchFamily="2" charset="-78"/>
              </a:rPr>
              <a:t> is a flat/apartment.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 (the dining room)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الغُرْفَةُ الطَّعَامِ</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غُرْفَةٌ طَعَامٌ</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غُرْفَةُ الطَّعَامِ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noun has no </a:t>
            </a:r>
            <a:pPr algn="l" indent="0" marL="0">
              <a:buNone/>
            </a:pPr>
            <a:r>
              <a:rPr lang="ar-SA" altLang="en-US" sz="1350" dirty="0">
                <a:solidFill>
                  <a:srgbClr val="8A6D1E"/>
                </a:solidFill>
                <a:latin typeface="Amiri" pitchFamily="2" charset="-78"/>
                <a:cs typeface="Amiri" pitchFamily="2" charset="-78"/>
              </a:rPr>
              <a:t>الـ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number phrase. (three rooms)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ثَلَاثَةُ غُرَفٍ</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ثَلَاثُ غُرْفَةٍ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ثَلَاثُ غُرَفٍ</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 so use masculine </a:t>
            </a:r>
            <a:pPr algn="l" indent="0" marL="0">
              <a:buNone/>
            </a:pPr>
            <a:r>
              <a:rPr lang="ar-SA" altLang="en-US" sz="1350" dirty="0">
                <a:solidFill>
                  <a:srgbClr val="8A6D1E"/>
                </a:solidFill>
                <a:latin typeface="Amiri" pitchFamily="2" charset="-78"/>
                <a:cs typeface="Amiri" pitchFamily="2" charset="-78"/>
              </a:rPr>
              <a:t>ثَلَاثُ</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 (a large old house)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بَيْتٌ كَبِيرٌ وَقَدِيمٌ</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بَيْتٌ كَبِيرَةٌ وَقَدِيمَةٌ</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غُرْفَةٌ كَبِيرٌ وَقَدِيمٌ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All adjectives agree with masculine </a:t>
            </a:r>
            <a:pPr algn="l" indent="0" marL="0">
              <a:buNone/>
            </a:pPr>
            <a:r>
              <a:rPr lang="ar-SA" altLang="en-US" sz="1350" dirty="0">
                <a:solidFill>
                  <a:srgbClr val="8A6D1E"/>
                </a:solidFill>
                <a:latin typeface="Amiri" pitchFamily="2" charset="-78"/>
                <a:cs typeface="Amiri" pitchFamily="2" charset="-78"/>
              </a:rPr>
              <a:t>بَيْتٌ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(favourite room)</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غُرْفَتِي لِأَنَّهُ مُرِيحٌ.</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أُحِبُّ غُرْفَتِي لِأَنَّهَا مُرِيحَةٌ.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بَيْتِي لِأَنَّهَا مُرِيحَةٌ.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room is feminine, so use </a:t>
            </a:r>
            <a:pPr algn="l" indent="0" marL="0">
              <a:buNone/>
            </a:pPr>
            <a:r>
              <a:rPr lang="ar-SA" altLang="en-US" sz="1350" dirty="0">
                <a:solidFill>
                  <a:srgbClr val="8A6D1E"/>
                </a:solidFill>
                <a:latin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cs typeface="Amiri" pitchFamily="2" charset="-78"/>
              </a:rPr>
              <a:t>مُرِيحَةٌ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Room of + the …</a:t>
            </a:r>
            <a:endParaRPr lang="en-US" sz="1250" dirty="0"/>
          </a:p>
          <a:p>
            <a:pPr algn="l" indent="0" marL="0">
              <a:buNone/>
            </a:pPr>
            <a:r>
              <a:rPr lang="en-US" sz="1250" dirty="0">
                <a:solidFill>
                  <a:srgbClr val="1E6B52"/>
                </a:solidFill>
                <a:latin typeface="Calibri" pitchFamily="34" charset="0"/>
                <a:cs typeface="Amiri" pitchFamily="2" charset="-78"/>
              </a:rPr>
              <a:t>room → -a adjective</a:t>
            </a:r>
            <a:endParaRPr lang="en-US" sz="1250" dirty="0"/>
          </a:p>
          <a:p>
            <a:pPr algn="l" indent="0" marL="0">
              <a:buNone/>
            </a:pPr>
            <a:r>
              <a:rPr lang="en-US" sz="1250" dirty="0">
                <a:solidFill>
                  <a:srgbClr val="1E6B52"/>
                </a:solidFill>
                <a:latin typeface="Calibri" pitchFamily="34" charset="0"/>
                <a:cs typeface="Amiri" pitchFamily="2" charset="-78"/>
              </a:rPr>
              <a:t>3 rooms = thalāthu ghuraf</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الغُرْفَةُ النَّوْمِ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Room name: which noun loses al-?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هُنَاكَ ثَلَاثَةُ غُرَفٍ.</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Room is feminine — which number form?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غُرْفَتِي كَبِيرٌ.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Room is feminine — which adjective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الغُرْفَةُ النَّوْمِ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غُرْفَةُ النَّوْمِ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a room name the first noun has no al- (website “Repair these”).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هُنَاكَ ثَلَاثَةُ غُرَفٍ.</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هُنَاكَ ثَلَاثُ غُرَفٍ.</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Ghurfa (room) is feminine, so 3–10 take the opposite (masculine) form.</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غُرْفَتِي كَبِيرٌ.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غُرْفَتِي كَبِيرَةٌ.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Ghurfa (room) is feminine: the adjective ends in -a.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Salma’s two-floor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type of home does Salma live 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large new house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small old flat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large old house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floors are in the house?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bedrooms are on the first floor?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outside/additional to the main rooms?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garden and garage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balcony and roof</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a garden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like the house?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near school.</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comfortable and quiet.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a large roof.</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Notes grid: home type · floors · rooms · garden / garage · opinion.</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اِسْمِي سَلْمَى. أَسْكُنُ مَعَ عَائِلَتِي فِي بَيْتٍ كَبِيرٍ وَجَدِيدٍ.</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name is Salma. I live with my family in a big, new house.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بَيْتُنَا فِيهِ طَابِقَانِ وَسِتُّ غُرَفٍ وَحَمَّامَانِ.</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Our house has two floors, six rooms and two bathrooms.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الطَّابِقِ الأَرْضِيِّ مَدْخَلٌ وَغُرْفَةُ جُلُوسٍ وَمَطْبَخٌ وَغُرْفَةُ طَعَامٍ وَحَمَّامٌ.</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ground floor: a hall, a living room, a kitchen, a dining room and a bathroom.</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الطَّابِقِ الأَوَّلِ ثَلَاثُ غُرَفِ نَوْمٍ وَحَمَّامٌ آخَرُ. عِنْدَنَا حَدِيقَةٌ صَغِيرَةٌ وَمَرْآبٌ.</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first floor: three bedrooms and another bathroom. We have a small garden and a garage.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cs typeface="Amiri" pitchFamily="2" charset="-78"/>
              </a:rPr>
              <a:t>غُرْفَتِي فِي الطَّابِقِ الأَوَّلِ، وَفِيهَا نَافِذَةٌ كَبِيرَةٌ. أُحِبُّ بَيْتِي لِأَنَّهُ مُرِيحٌ وَهَادِئٌ.</a:t>
            </a:r>
            <a:endParaRPr lang="ar-SA" sz="19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room is on the first floor and has a big window. I love my house because it is comfortable and quiet.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type of home does Salma live in?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large new house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small old flat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large old house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فِي بَيْتٍ كَبِيرٍ وَجَدِيدٍ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floors are in the house?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بَيْتُنَا فِيهِ طَابِقَانِ.</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bedrooms are on the first floor?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الطَّابِقِ الأَوَّلِ ثَلَاثُ غُرَفِ نَوْمٍ.</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outside/additional to the main rooms?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garden and garage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balcony and roof</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a garden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عِنْدَنَا حَدِيقَةٌ صَغِيرَةٌ وَمَرْآبٌ.</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like the house?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near school.</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comfortable and quiet.</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a large roof.</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لِأَنَّهُ مُرِيحٌ وَهَادِئٌ.</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Notes grid: home type · floors · rooms · garden / garage · opinion.</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Omar’s flat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النَّصُّ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اِسْمِي عُمَرُ. أَسْكُنُ مَعَ أُسْرَتِي فِي شَقَّةٍ فِي الطَّابِقِ الثَّانِي.</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Type + floor: a flat on the second floor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شَقَّتُنَا صَغِيرَةٌ وَلَكِنَّهَا جَمِيلَةٌ وَنَظِيفَةٌ.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Description: small but beautiful and clean</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فِيهَا غُرْفَةُ جُلُوسٍ وَغُرْفَتَا نَوْمٍ وَمَطْبَخٌ وَحَمَّامٌ وَمَمَرٌّ صَغِيرٌ.</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Rooms: living room · two bedrooms · kitchen · bathroom · hallway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لَا عِنْدَنَا حَدِيقَةٌ وَلَا مَرْآبٌ، وَلَكِنْ عِنْدَنَا شُرْفَةٌ.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garden, garage · but: a balcony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أُحِبُّ غُرْفَةَ الجُلُوسِ لِأَنَّهَا وَاسِعَةٌ وَمُرِيحَةٌ.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Opinion: the living room — spacious and comfortable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B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Huda’s house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النَّصُّ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اِسْمِي هُدَى. بَيْتُنَا قَدِيمٌ وَلَكِنَّهُ كَبِيرٌ.</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Description: old but big</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فِيهِ طَابِقٌ أَرْضِيٌّ وَطَابِقٌ أَوَّلُ.</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Floors: ground + first</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الطَّابِقِ الأَرْضِيِّ مَطْبَخٌ وَغُرْفَةُ طَعَامٍ وَغُرْفَةُ جُلُوسٍ كَبِيرَةٌ.</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Ground floor: kitchen · dining room · big living room</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وَفِي الطَّابِقِ الأَوَّلِ أَرْبَعُ غُرَفِ نَوْمٍ وَحَمَّامَانِ.</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First floor: four bedrooms · two bathrooms</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عِنْدَنَا حَدِيقَةٌ وَمَرْآبٌ وَسَطْحٌ. أُحِبُّ الحَدِيقَةَ لِأَنَّهَا جَمِيلَةٌ وَهَادِئَةٌ.</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Extras: garden · garage · rooftop — opinion: the garden</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READING QUESTIONS · USE EVIDENCE FROM BOTH TEXTS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Omar or Huda?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Omar’s flat?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ground floor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second floor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first floor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bedrooms does Omar’s flat have?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Omar not have?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garden or garage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kitchen or bathroom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living room</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Huda’s house described?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new but small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old but large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old and narrow</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bedrooms are upstairs?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Question → key word → the exact Arabic phrase.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Omar’s flat?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ground floor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the second floor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first floor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شَقَّةٍ فِي الطَّابِقِ الثَّانِي.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bedrooms does Omar’s flat have?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غُرْفَتَا نَوْمٍ</a:t>
            </a:r>
            <a:pPr algn="l" indent="0" marL="0">
              <a:buNone/>
            </a:pPr>
            <a:r>
              <a:rPr lang="en-US" sz="1050" i="1" dirty="0">
                <a:solidFill>
                  <a:srgbClr val="8A6D1E"/>
                </a:solidFill>
                <a:latin typeface="Calibri" pitchFamily="34" charset="0"/>
                <a:cs typeface="Amiri" pitchFamily="2" charset="-78"/>
              </a:rPr>
              <a:t> means two bedrooms.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Omar not have?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garden or garage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kitchen or bathroom</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living room</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عِنْدَنَا حَدِيقَةٌ وَلَا مَرْآبٌ.</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Huda’s house described?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new but small</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old but large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old and narrow</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بَيْتُنَا قَدِيمٌ وَلَكِنَّهُ كَبِيرٌ.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bedrooms are upstairs?</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وَفِي الطَّابِقِ الأَوَّلِ أَرْبَعُ غُرَفِ نَوْمٍ.</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Question → key word → the exact Arabic phrase.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B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Room detective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B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Room detective</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Describe a room, floor or garden using </a:t>
            </a:r>
            <a:pPr algn="l" indent="0" marL="0">
              <a:buNone/>
            </a:pPr>
            <a:r>
              <a:rPr lang="ar-SA" altLang="en-US" sz="1750" dirty="0">
                <a:solidFill>
                  <a:srgbClr val="1F2A37"/>
                </a:solidFill>
                <a:latin typeface="Amiri" pitchFamily="2" charset="-78"/>
                <a:cs typeface="Amiri" pitchFamily="2" charset="-78"/>
              </a:rPr>
              <a:t>يوجد/توجد</a:t>
            </a:r>
            <a:pPr algn="l" indent="0" marL="0">
              <a:buNone/>
            </a:pPr>
            <a:r>
              <a:rPr lang="en-US" sz="1350" dirty="0">
                <a:solidFill>
                  <a:srgbClr val="1F2A37"/>
                </a:solidFill>
                <a:latin typeface="Calibri" pitchFamily="34" charset="0"/>
                <a:cs typeface="Amiri" pitchFamily="2" charset="-78"/>
              </a:rPr>
              <a:t> and location phrases. Your partner sketches the layout and checks it against the original.</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A describes a room, a floor or a garden (real or invented) in 4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 sketches the layout on paper while listening — no questions yet.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 shows the sketch to the camera; A checks it against the description.</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Fix one location phrase each time.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Describe three things: “fī … yūjadu / tūjadu …” with a word bank.</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location phrases: next to, in front of, above (bi-jānibi, amāma, fawqa).</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whole floor: rooms, positions and one demonstrative (hādhihi / hādhā).</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يُوجَدُ / تُوجَدُ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there is …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بِجَانِبِ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next to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أَمَامَ … / خَلْفَ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front of … / behind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فِي الطَّابِقِ الأَوَّلِ</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 the first floor</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Give a connected house tour</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فِي بَيْتِكَ؟ / مَاذَا فِي بَيْتِكِ؟</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غُرْفَةً فِي بَيْتِكَ؟</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عِنْدَكَ حَدِيقَةٌ؟ / هَلْ عِنْدَكِ حَدِيقَةٌ؟</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غُرْفَتُكَ المُفَضَّلَةُ؟ وَلِمَاذَا؟</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فِي بَيْتِي ___ وَ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فِي بَيْتِي ___ غُرَفٍ. / غُرْفَتَانِ.</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نَعَمْ، عِنْدِي ___ . / لَا، لَيْسَ عِنْدِي ___ .</a:t>
            </a:r>
            <a:endParaRPr lang="ar-SA" sz="145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أُحِبُّ ___ لِأَنَّهَا ___ ، وَلَكِنَّ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فِي بَيْتِكَ؟</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in your house?</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أَسْكُنُ فِي بَيْتٍ كَبِيرٍ مَعَ عَائِلَتِي. فِي بَيْتِي طَابِقَانِ وَسِتُّ غُرَفٍ.</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cs typeface="Amiri" pitchFamily="2" charset="-78"/>
              </a:rPr>
              <a:t>I live in a big house with my family. In my house there are two floors and six rooms.</a:t>
            </a:r>
            <a:endParaRPr lang="en-US" sz="80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Name five rooms and use fī baytī (in my house) in five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Model + word bank: home type, three rooms with fī baytī, one thing you have (‘indī).</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floors, six or more rooms and accurate adjectives (50–70 words).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Floors, six rooms with a number, two agreeing adjectives, a favourite room.</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50–70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two rooms and justify a favourite using wa-lākin (but) and li-anna (because).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Compare two rooms (wa-lākin) and justify your favourite (li-annahā …).</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هُنَاكَ ______ غُرَفٍ.</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are … rooms.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الطَّابِقِ الأَرْضِيِّ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ground floor there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الطَّابِقِ الأَوَّلِ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first floor there are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وَلَكِنْ لَيْسَ عِنْدَنَا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we don’t have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أُحِبُّ ______ لِأَنَّهَا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 because it is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أَسْكُنُ فِي بَيْتٍ / شَقَّةٍ.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in a house / a flat.</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بَيْتِي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house there is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بَيْتِي كَبِيرٌ / صَغِيرٌ.</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house is big / small.</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غُرْفَتِي كَبِيرَةٌ / صَغِيرَةٌ.</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room is big / small.</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بَيْتٌ  ·  شَقَّةٌ  ·  غُرْفَةُ النَّوْمِ  ·  غُرْفَةُ الجُلُوسِ  ·  المَطْبَخُ  ·  الحَمَّامُ  ·  غُرْفَةُ الطَّعَامِ  ·  حَدِيقَةٌ  ·  فِي بَيْتِي  ·  عِنْدِي  ·  هُنَاكَ  ·  لِأَنَّ</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أَسْكُنُ فِي بَيْتٍ كَبِيرٍ مَعَ عَائِلَتِي. فِي بَيْتِي طَابِقَانِ وَسِتُّ غُرَفٍ. فِي الطَّابِقِ الأَرْضِيِّ مَطْبَخٌ وَغُرْفَةُ جُلُوسٍ وَحَمَّامٌ. وَفِي الطَّابِقِ الأَوَّلِ ثَلَاثُ غُرَفِ نَوْمٍ. عِنْدَنَا حَدِيقَةٌ وَمَرْآبٌ. أُحِبُّ بَيْتِي لِأَنَّهُ مُرِيحٌ.</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in a big house with my family. In my house there are two floors and six rooms. On the ground floor there is a kitchen, a living room and a bathroom. And on the first floor there are three bedrooms. We have a garden and a garage. I love my house because it is comfortable.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فِي بَيْتِي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room count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room name (iḍāfa)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لِأَنَّهُ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at least five rooms or parts.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fī baytī or ‘indī.</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Room names: the first noun has no al-.</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Room (f.) → -a adjective; house (m.) → no -a.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compared two rooms and gave a reason.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“bedroom”.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النَّوْمِ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الطَّعَامِ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الجُلُوسِ</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iḍāfa.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الغُرْفَةُ الجُلُوسِ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الجُلُوسِ</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الجُلُوسُ</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“three rooms”.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ثَلَاثُ غُرَفٍ</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ثَلَاثَةُ غُرَفٍ</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ثَلَاثُ غُرْفَةٍ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“bedroom”.</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غُرْفَةُ النَّوْمِ</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غُرْفَةُ الطَّعَامِ</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غُرْفَةُ الجُلُوسِ</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غُرْفَةُ النَّوْمِ</a:t>
            </a:r>
            <a:pPr algn="l" indent="0" marL="0">
              <a:buNone/>
            </a:pPr>
            <a:r>
              <a:rPr lang="en-US" sz="1050" i="1" dirty="0">
                <a:solidFill>
                  <a:srgbClr val="8A6D1E"/>
                </a:solidFill>
                <a:latin typeface="Calibri" pitchFamily="34" charset="0"/>
                <a:cs typeface="Amiri" pitchFamily="2" charset="-78"/>
              </a:rPr>
              <a:t> is bedroom.</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iḍāfa.</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الغُرْفَةُ الجُلُوسِ</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غُرْفَةُ الجُلُوسِ</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غُرْفَةٌ الجُلُوسُ</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noun has no definite article.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“three rooms”.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ثَلَاثُ غُرَفٍ</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ثَلَاثَةُ غُرَفٍ</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ثَلَاثُ غُرْفَةٍ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number has opposite gender and the noun is plural.</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38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My Home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TB-L05: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TB-L05 · Furniture, Furnishings and Appliances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سَرِيرٌ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bed</a:t>
            </a:r>
            <a:pPr indent="0" marL="0">
              <a:buNone/>
            </a:pPr>
            <a:r>
              <a:rPr lang="en-US" sz="1000" i="1" dirty="0">
                <a:solidFill>
                  <a:srgbClr val="5A6472"/>
                </a:solidFill>
                <a:latin typeface="Calibri" pitchFamily="34" charset="0"/>
                <a:cs typeface="Amiri" pitchFamily="2" charset="-78"/>
              </a:rPr>
              <a:t>  pl. أَسِرَّةٌ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خِزَانَةٌ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wardrobe / cupboard</a:t>
            </a:r>
            <a:pPr indent="0" marL="0">
              <a:buNone/>
            </a:pPr>
            <a:r>
              <a:rPr lang="en-US" sz="1000" i="1" dirty="0">
                <a:solidFill>
                  <a:srgbClr val="5A6472"/>
                </a:solidFill>
                <a:latin typeface="Calibri" pitchFamily="34" charset="0"/>
                <a:cs typeface="Amiri" pitchFamily="2" charset="-78"/>
              </a:rPr>
              <a:t>  pl. خَزَائِنُ</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طَاوِلَةٌ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table</a:t>
            </a:r>
            <a:pPr indent="0" marL="0">
              <a:buNone/>
            </a:pPr>
            <a:r>
              <a:rPr lang="en-US" sz="1000" i="1" dirty="0">
                <a:solidFill>
                  <a:srgbClr val="5A6472"/>
                </a:solidFill>
                <a:latin typeface="Calibri" pitchFamily="34" charset="0"/>
                <a:cs typeface="Amiri" pitchFamily="2" charset="-78"/>
              </a:rPr>
              <a:t>  pl. طَاوِلَاتٌ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كُرْسِيٌّ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chair</a:t>
            </a:r>
            <a:pPr indent="0" marL="0">
              <a:buNone/>
            </a:pPr>
            <a:r>
              <a:rPr lang="en-US" sz="1000" i="1" dirty="0">
                <a:solidFill>
                  <a:srgbClr val="5A6472"/>
                </a:solidFill>
                <a:latin typeface="Calibri" pitchFamily="34" charset="0"/>
                <a:cs typeface="Amiri" pitchFamily="2" charset="-78"/>
              </a:rPr>
              <a:t>  pl. كَرَاسِي</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أَرِيكَةٌ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sofa</a:t>
            </a:r>
            <a:pPr indent="0" marL="0">
              <a:buNone/>
            </a:pPr>
            <a:r>
              <a:rPr lang="en-US" sz="1000" i="1" dirty="0">
                <a:solidFill>
                  <a:srgbClr val="5A6472"/>
                </a:solidFill>
                <a:latin typeface="Calibri" pitchFamily="34" charset="0"/>
                <a:cs typeface="Amiri" pitchFamily="2" charset="-78"/>
              </a:rPr>
              <a:t>  pl. أَرَائِكُ</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room do you like most at home, and what is in it? Two items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مَاذَا فِي غُرْفَتِكَ؟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TB-L04: the House Tour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6–8 sentences describing a home (your own, the Al-Nour home or a dream home).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Label a floor plan with eight rooms and parts, and write 50–70 words comparing two rooms.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38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TB-L05 · Furniture, Furnishings and Appliances</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الأَثَاثُ وَالمُفْرُوشَاتُ وَالأَجْهِزَةُ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room of + the … · room (f.) → -a adjective.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TB-L04 · My Home, Rooms and Garden</dc:title>
  <dc:subject>PptxGenJS Presentation</dc:subject>
  <dc:creator>Al Madina Online School · Arabic Department</dc:creator>
  <cp:lastModifiedBy>Al Madina Online School · Arabic Department</cp:lastModifiedBy>
  <cp:revision>1</cp:revision>
  <dcterms:created xsi:type="dcterms:W3CDTF">2026-10-11T06:43:50Z</dcterms:created>
  <dcterms:modified xsi:type="dcterms:W3CDTF">2026-10-11T06:43:50Z</dcterms:modified>
</cp:coreProperties>
</file>