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ADVANCED TOPIC B · TB-L11 — Topic B Speaking and Writing Workshop. Website: Advanced Topics › Topic B (Personal and Social Life) › Lesson 11.
The website builds this lesson on the D2-L09 lesson engine, with the Topic focus “Develop personal answers through detail, reasons, comparisons and time frames.” (grammar: Cohesion; mixed tenses; accuracy editing; skills: Speaking · Writing) and the application challenge “Speak–upgrade–write”. This deck follows the same engine, re-sequenced for Topic B: lesson references now point to Topic B codes (lessons outside Topic B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Topic B People, Relationships and Style › TB-L11. The website lesson “Speaking — People, Relationships and Style Topic Conversation”: vocabulary, grammar rules and quiz, patterns, common mistakes, sorter, listening, reading, speaking prompts and model, writing task and model, differentiation, final check and the lesson mission. Picture match: website visual game “Speaking — People, Relationships and Style Topic Conversation”.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SPEAKING lesson: the main You Do is the paired topic conversation (website prompts). Everything before it builds the “answer ladder” and the follow-up / repair phrases.
• Core: answer three questions with Direct answer + Reason, reading from cue words. Develop: add an example or a comparison and ask one follow-up question. Stretch: 45–60 seconds per answer, spontaneous follow-ups, and self-repair.
• The website grammar and quiz for this lesson are copies of D2-L07 (website); the deck replaces them with the rules named in the website title (“Developing answers and follow-up questions”) — flagged for the website editor.
• Urdu bridge: سوال، جواب، مثال، مقابلہ ≠ مُقَارَنَةٌ, دوبارہ (→ إِعَادَةُ).
• TEACHER-WRITTEN ITEMS: on the website this lesson’s grammar, patterns, mistakes, sorter, final, mission, listening, reading items are generic placeholders, so the deck uses teacher-written questions and translations built on the website’s own script and text (flagged for the website editor).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conversation questions prepared at home. Questions 3–5 retrieve TB-L10, TB-L02 and D2-L05 (website).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“Yes” or “no” is never enough. Answer → reason → example or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سوال / جواب → سُؤَالٌ / جَوَابٌ; مثال → مِثَالٌ; اعادہ (repetition) → إِعَادَةُ السُّؤَالِ (repeat the question). CAREFUL: Urdu محاورہ = an idiom; Arabic مُحَاوَرَةٌ / مُحَادَثَةٌ = a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Conversation questions (website vocabulary (1 of 2)). Hear → Say → See → Use. Transliteration is printed for Core students (cover it for Develop/Stretch).
Conversation questions: every verb card also shows the QUESTION form (you: ta-). Students practise turning each into a question to 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Conversation questions (website vocabulary (2 of 2)). Hear → Say → See → Use. Transliteration is printed for Core students (cover it for Develop/Stretch).
Conversation questions: every verb card also shows the QUESTION form (you: ta-). Students practise turning each into a question to 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Description and comparison (website vocabulary (1 of 3)). Hear → Say → See → Use. Transliteration is printed for Core students (cover it for Develop/Stretch).
FLEX: teach if time allows; otherwise these are on the website vocabulary tab for homework.
Description and comparison (FLEX) — D2-L01 (website) and D2-L05 (website)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Description and comparison (website vocabulary (2 of 3)). Hear → Say → See → Use. Transliteration is printed for Core students (cover it for Develop/Stretch).
FLEX: teach if time allows; otherwise these are on the website vocabulary tab for homework.
Description and comparison (FLEX) — D2-L01 (website) and D2-L05 (website)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Description and comparison (website vocabulary (3 of 3)). Hear → Say → See → Use. Transliteration is printed for Core students (cover it for Develop/Stretch).
FLEX: teach if time allows; otherwise these are on the website vocabulary tab for homework.
Description and comparison (FLEX) — D2-L01 (website) and D2-L05 (website)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Style language (website vocabulary (1 of 2)). Hear → Say → See → Use. Transliteration is printed for Core students (cover it for Develop/Stretch).
FLEX: teach if time allows; otherwise these are on the website vocabulary tab for homework.
Style language (FLEX) — TB-L07/L04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Style language (website vocabulary (2 of 2)). Hear → Say → See → Use. Transliteration is printed for Core students (cover it for Develop/Stretch).
FLEX: teach if time allows; otherwise these are on the website vocabulary tab for homework.
Style language (FLEX) — TB-L07/L04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the website reading text for this lesson IS the rule: “A strong answer starts with a direct answer, then adds a description or reason, then an example or comparison.” Rows use the website model answers (Omar; style).
Practice: teacher asks the class a question; three students build ONE answer together, one step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repair phrases from the website reading text (هَلْ يُمْكِنُكَ إِعَادَةُ السُّؤَالِ؟ / مَاذَا تَقْصِدُ بِـ…؟) and the follow-up move from the website listening (“then he asks the interviewer a follow-up question”). Polite disagreement recycles D2-L04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“Turn short answers into a coherent topic conversation with description, evidence, comparison and natural follow-up.”
• Start with a direct answer: Answer the exact question in the first sentence.
• Add a reason or description: Develop the answer with a reason or more detail.
• Add an example or a comparison: Evidence and comparison make the answer convincing.
• Ask a follow-up and repair: Keep the conversation going; ask for help politely when you do not understand.
Website common error: Do not choose an answer from one familiar word; verify the complete clause and its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model conversation performed by the teacher (both parts, or with a confident student), thinking aloud about each rung. Then show how the SAME answer can shrink to Core size (rungs 1–2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built from the website prompts and reading text. After each reveal, a student gives their OWN answer to the question on the 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Volunteers answer the question for themselves, climbing at least two rungs.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phrase: direct answer, development (reason / example / comparison) or conversation (follow-up / repair).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phrase: direct answer, development (reason / example / comparison) or conversation (follow-up / repair).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3 and 6. Develop / Stretch: all 6. (Questions are teacher-written: the website questions for this script are generic.)
Listen 1: just listen. Listen 2: note answers. Then chat the letters.
Support: after the second listening, show the read-along slide (Arabic + English, line by line) for Core students.
SCRIPT (read aloud):
فِي مُحَادَثَةٍ، يُسْأَلُ الطَّالِبُ عَنْ أَقْرَبِ صَدِيقٍ لَهُ، وَمَا يُعْجِبُهُ فِي شَخْصِيَّتِهِ، وَكَيْفَ يَخْتَلِفُ أُسْلُوبُهُمَا فِي المَلَابِسِ. يُجِيبُ بِجُمَلٍ مُتَّصِلَةٍ وَيُقَدِّمُ دَلِيلًا وَمُقَارَنَةً، ثُمَّ يَسْأَلُ المُحَاوِرَ سُؤَالًا تَابِعًا.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TOPIC B APPLICATION CHALLENGE (3 min — it takes the speaking-rehearsal slot; the website speaking slide after it is FLEX) — from the website Topic page: “Give a 30-second Topic B response, improve it with a comparison and reason, then convert the strongest version into a connected written paragraph.”
Website Topic B challenge “Speak–upgrade–write”. Questions to offer: كَيْفَ تَقْضِي وَقْتَ فَرَاغِكَ؟ · صِفْ غُرْفَتَكَ المُفَضَّلَةَ. · مَنْ أَقْرَبُ شَخْصٍ إِلَيْكَ فِي عَائِلَتِكَ؟ · مَاذَا لَبِسْتَ فِي آخِرِ عِيدٍ؟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FLEX — the Topic B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كَيْفَ يَخْتَلِفُ أُسْلُبُكُمَا؟ (How does your style differ?)
B: هُوَ أَكْثَرُ رَسْمِيَّةً مِنِّي، بَيْنَمَا أُفَضِّلُ الأُسْلُوبَ العَمَلِيَّ. (He is more formal, while I prefer practical style.)
MAIN TASK OF THE LESSON (extend to 8–10 minutes). Pairs on the mic (or breakout rooms): A asks all four website prompts, B answers from cue words only, then swap. The listener must ask ONE follow-up per answer. Website model continues: A: كَيْفَ يَخْتَلِفُ أُسْلُوبُكُمَا؟ B: هُوَ أَكْثَرُ رَسْمِيَّةً مِنِّي، بَيْنَمَا أُفَضِّلُ الأُسْلُوبَ العَمَلِيَّ. (Website typo: أُسْلُبُكُمَا → أُسْلُوبُكُمَا.)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Secure the main vocabulary and produce four accurate sentences using the taught frame. · Develop — Combine description, grammar and a reason in connected answers. · Stretch — Add comparison, contrast, precise evidence and an independently controlled relative clause.
Website writing task (Stretch): Prepare a 100–120-word written rehearsal for a topic conversation about a person, relationship and personal style. Include possible questions and developed answers, but do not memorise it word for word.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لِأَنَّهُ يَسْتَمِعُ / لِأَنَّهُ يَبْنِي · بَيْنَمَا هُوَ أَكْثَرُ اهْتِمَامًا · فِي رَأْيِي · نَتَكَلَّمُ … وَنَتَصَالَحُ. Remind Stretch: turn this into CUE WORDS (عُمَرُ · وَدُودٌ · يَسْتَمِعُ · مَوْضَة · صِدْق) and speak from them.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(TB-L12 · Topic B Review and Four-Skills Assessment) · Speaking — Describing People and Personal Style) will spend class time USING this language, so students prepare it tonight — short, simple, easy to access (school guidance: “Simple, Short, Interesting, Relevant, Easy to access”). D2-L10 (website) is a speaking lesson describing people and style: these five structures (TB-L07, L04, L06) are its building blocks.
Follow-up: the next Do Now tests two of these words (Flipped Learning: keep it short AND follow up).
Homework by route (website tasks). No internet? Students copy the five words from this slide into their book now.
TOPIC B: the five words are the ones the TB-L12 Do Now tests (preparation list of the website D2-L11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TB-L11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Topic B Speaking and Writing Workshop</a:t>
            </a:r>
            <a:endParaRPr lang="en-US" sz="28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التَّحَدُّثِ وَالكِتَابَةِ لِلْمِحْوَرِ ب</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Develop personal answers through detail, reasons, comparisons and time frames.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TB-L11 · Advanced Topic B · Personal and Social Life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answer ladder, follow-ups and repair phrases.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Which answer is stronger? Sort,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TB-L12.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كَيْفَ هِيَ؟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Where is she?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What is she like?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Who is she?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أَيُّهُمَا تُفَضِّلُ؟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Which of the two do you prefer?</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Why do you prefer it?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 you agree?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gives the writer’s view?</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يَذْكُرُ مِثَالًا …</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بَيْنَمَا …</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يَرَى الكَاتِبُ أَنَّ …</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get on with my sister.”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أَتَفَاهَمُ أُخْتِي.</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يَتَفَاهَمُ مَعَ أُخْتِي.</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أَتَفَاهَمُ مَعَ أُخْتِي.</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comparison.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أَكْثَرُ رَسْمِيَّةً مِنِّي.</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رَسْمِيٌّ مِنِّي.</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أَكْثَرُ رَسْمِيٌّ مِنِّي.</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كَيْفَ هِيَ؟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Where is she?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What is she like?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Who is she?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(D2-L01, website).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أَيُّهُمَا تُفَضِّلُ؟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Which of the two do you prefer?</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Why do you prefer it?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Do you agree?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(D2-L05, website).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gives the writer’s view?</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يَذْكُرُ مِثَالًا …</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بَيْنَمَا …</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يَرَى الكَاتِبُ أَنَّ …</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TB-L10: the four moves.</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get on with my sister.”</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أَتَفَاهَمُ أُخْتِي.</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يَتَفَاهَمُ مَعَ أُخْتِي.</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أَتَفَاهَمُ مَعَ أُخْتِي.</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TB-L02.</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comparison.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هُوَ أَكْثَرُ رَسْمِيَّةً مِنِّي.</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رَسْمِيٌّ مِنِّي.</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أَكْثَرُ رَسْمِيٌّ مِنِّي.</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D2-L05 (website): more + noun.</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“Yes” or “no” is never enough. Answer → reason → example or comparison.</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هُوَ وَدُودٌ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لِأَنَّهُ</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يَسْتَمِعُ إِلَيَّ؛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مَثَلًا</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بَيْنَمَا</a:t>
            </a:r>
            <a:pPr rtl="1" algn="ctr" indent="0" marL="0">
              <a:lnSpc>
                <a:spcPct val="120000"/>
              </a:lnSpc>
              <a:buNone/>
            </a:pPr>
            <a:r>
              <a:rPr lang="ar-SA" altLang="en-US" sz="1950" b="1" dirty="0">
                <a:solidFill>
                  <a:srgbClr val="1B3B6F"/>
                </a:solidFill>
                <a:latin typeface="Amiri" pitchFamily="2" charset="-78"/>
                <a:cs typeface="Amiri" pitchFamily="2" charset="-78"/>
              </a:rPr>
              <a:t> …</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Control the key TB-L11 vocabulary in complete Arabic sentences.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and apply the target grammar: Developing answers and follow-up questions.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Extract precise evidence from an intermediate listening and reading text.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Produce developed spoken and written Arabic with reasons and detail.</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answer three questions with a reason.</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ask someone to repeat a question.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add an example or a comparison to each answer.</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ask one follow-up question.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speak for 45–60 seconds per answer without a script.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react to an unexpected follow-up question.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36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Conversation questions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Description and comparison · 14</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Style language · 10</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سُؤَالٌ تَابِعٌ</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‎سوال‎ </a:t>
            </a:r>
            <a:pPr indent="0" marL="0">
              <a:buNone/>
            </a:pPr>
            <a:r>
              <a:rPr lang="en-US" sz="950" b="1" dirty="0">
                <a:solidFill>
                  <a:srgbClr val="2E8B57"/>
                </a:solidFill>
                <a:latin typeface="Calibri" pitchFamily="34" charset="0"/>
                <a:cs typeface="Amiri" pitchFamily="2" charset="-78"/>
              </a:rPr>
              <a:t> sawāl · a (follow-up) question</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جَوَابٌ مُبَاشِرٌ</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‎جواب / براہ راست‎ </a:t>
            </a:r>
            <a:pPr indent="0" marL="0">
              <a:buNone/>
            </a:pPr>
            <a:r>
              <a:rPr lang="en-US" sz="950" b="1" dirty="0">
                <a:solidFill>
                  <a:srgbClr val="2E8B57"/>
                </a:solidFill>
                <a:latin typeface="Calibri" pitchFamily="34" charset="0"/>
                <a:cs typeface="Amiri" pitchFamily="2" charset="-78"/>
              </a:rPr>
              <a:t> jawāb · a direct answer</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مِثَالٌ</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‎مثال‎ </a:t>
            </a:r>
            <a:pPr indent="0" marL="0">
              <a:buNone/>
            </a:pPr>
            <a:r>
              <a:rPr lang="en-US" sz="950" b="1" dirty="0">
                <a:solidFill>
                  <a:srgbClr val="2E8B57"/>
                </a:solidFill>
                <a:latin typeface="Calibri" pitchFamily="34" charset="0"/>
                <a:cs typeface="Amiri" pitchFamily="2" charset="-78"/>
              </a:rPr>
              <a:t> misāl · example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إِعَادَةُ السُّؤَالِ</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‎اعادہ‎ </a:t>
            </a:r>
            <a:pPr indent="0" marL="0">
              <a:buNone/>
            </a:pPr>
            <a:r>
              <a:rPr lang="en-US" sz="950" b="1" dirty="0">
                <a:solidFill>
                  <a:srgbClr val="2E8B57"/>
                </a:solidFill>
                <a:latin typeface="Calibri" pitchFamily="34" charset="0"/>
                <a:cs typeface="Amiri" pitchFamily="2" charset="-78"/>
              </a:rPr>
              <a:t> iʿāda · repeating the question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مُحَادَثَةٌ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‎محاورہ‎ </a:t>
            </a:r>
            <a:pPr indent="0" marL="0">
              <a:buNone/>
            </a:pPr>
            <a:r>
              <a:rPr lang="ar-SA" sz="950" b="1" dirty="0">
                <a:solidFill>
                  <a:srgbClr val="2E8B57"/>
                </a:solidFill>
                <a:latin typeface="Calibri" pitchFamily="34" charset="0"/>
                <a:ea typeface="Amiri" pitchFamily="2" charset="-78"/>
                <a:cs typeface="Amiri" pitchFamily="2" charset="-78"/>
              </a:rPr>
              <a:t> muhāwara · Urdu: idiom · Arabic مُحَاوَرَةٌ: dialogue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Conversation questions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958291"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we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أَتَفَاهَمُ مَعَ</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get on with</a:t>
            </a:r>
            <a:endParaRPr lang="en-US" sz="1350" dirty="0"/>
          </a:p>
          <a:p>
            <a:pPr indent="0" marL="0">
              <a:buNone/>
            </a:pPr>
            <a:r>
              <a:rPr lang="en-US" sz="1100" i="1" dirty="0">
                <a:solidFill>
                  <a:srgbClr val="5A6472"/>
                </a:solidFill>
                <a:latin typeface="Calibri" pitchFamily="34" charset="0"/>
                <a:cs typeface="Amiri" pitchFamily="2" charset="-78"/>
              </a:rPr>
              <a:t>a-ta-fā-ha-mu ma-ʿa</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نَتَفَاهَمُ</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يَتَفَاهَمُ</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هَلْ تَتَفَاهَمُ …؟</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Text 3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أَخْتَلِفُ مَعَ</a:t>
            </a:r>
            <a:endParaRPr lang="ar-SA" sz="3000" dirty="0"/>
          </a:p>
        </p:txBody>
      </p:sp>
      <p:sp>
        <p:nvSpPr>
          <p:cNvPr id="37" name="Text 3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disagree with</a:t>
            </a:r>
            <a:endParaRPr lang="en-US" sz="1350" dirty="0"/>
          </a:p>
          <a:p>
            <a:pPr indent="0" marL="0">
              <a:buNone/>
            </a:pPr>
            <a:r>
              <a:rPr lang="en-US" sz="1100" i="1" dirty="0">
                <a:solidFill>
                  <a:srgbClr val="5A6472"/>
                </a:solidFill>
                <a:latin typeface="Calibri" pitchFamily="34" charset="0"/>
                <a:cs typeface="Amiri" pitchFamily="2" charset="-78"/>
              </a:rPr>
              <a:t>akh-ta-li-fu ma-ʿa</a:t>
            </a:r>
            <a:endParaRPr lang="en-US" sz="1350" dirty="0"/>
          </a:p>
        </p:txBody>
      </p:sp>
      <p:sp>
        <p:nvSpPr>
          <p:cNvPr id="38" name="Shape 3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566928" y="1920240"/>
            <a:ext cx="310896" cy="310896"/>
          </a:xfrm>
          <a:prstGeom prst="ellipse">
            <a:avLst/>
          </a:prstGeom>
          <a:solidFill>
            <a:srgbClr val="F4F1EA"/>
          </a:solidFill>
          <a:ln w="12700">
            <a:solidFill>
              <a:srgbClr val="F4F1EA"/>
            </a:solidFill>
            <a:prstDash val="solid"/>
          </a:ln>
        </p:spPr>
      </p:sp>
      <p:sp>
        <p:nvSpPr>
          <p:cNvPr id="40" name="Text 3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1" name="Shape 38"/>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42" name="Text 39"/>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you?</a:t>
            </a:r>
            <a:endParaRPr lang="en-US" sz="800" dirty="0"/>
          </a:p>
        </p:txBody>
      </p:sp>
      <p:sp>
        <p:nvSpPr>
          <p:cNvPr id="43" name="Shape 4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أَثِقُ بِـ</a:t>
            </a:r>
            <a:endParaRPr lang="ar-SA" sz="3000" dirty="0"/>
          </a:p>
        </p:txBody>
      </p:sp>
      <p:sp>
        <p:nvSpPr>
          <p:cNvPr id="46" name="Text 43"/>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trust</a:t>
            </a:r>
            <a:endParaRPr lang="en-US" sz="1350" dirty="0"/>
          </a:p>
          <a:p>
            <a:pPr indent="0" marL="0">
              <a:buNone/>
            </a:pPr>
            <a:r>
              <a:rPr lang="en-US" sz="1100" i="1" dirty="0">
                <a:solidFill>
                  <a:srgbClr val="5A6472"/>
                </a:solidFill>
                <a:latin typeface="Calibri" pitchFamily="34" charset="0"/>
                <a:cs typeface="Amiri" pitchFamily="2" charset="-78"/>
              </a:rPr>
              <a:t>a-thi-qu bi</a:t>
            </a:r>
            <a:endParaRPr lang="en-US" sz="1350" dirty="0"/>
          </a:p>
        </p:txBody>
      </p:sp>
      <p:sp>
        <p:nvSpPr>
          <p:cNvPr id="47" name="Shape 44"/>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him</a:t>
            </a:r>
            <a:endParaRPr lang="en-US" sz="750" dirty="0"/>
          </a:p>
        </p:txBody>
      </p:sp>
      <p:sp>
        <p:nvSpPr>
          <p:cNvPr id="49" name="Text 46"/>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أَثِقُ بِهِ</a:t>
            </a:r>
            <a:endParaRPr lang="ar-SA" sz="1500" dirty="0"/>
          </a:p>
        </p:txBody>
      </p:sp>
      <p:sp>
        <p:nvSpPr>
          <p:cNvPr id="50" name="Shape 47"/>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52" name="Text 49"/>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أَثِقُ بِهَا</a:t>
            </a:r>
            <a:endParaRPr lang="ar-SA" sz="1500" dirty="0"/>
          </a:p>
        </p:txBody>
      </p:sp>
      <p:sp>
        <p:nvSpPr>
          <p:cNvPr id="53" name="Shape 50"/>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a:t>
            </a:r>
            <a:endParaRPr lang="en-US" sz="700" dirty="0"/>
          </a:p>
        </p:txBody>
      </p:sp>
      <p:sp>
        <p:nvSpPr>
          <p:cNvPr id="55" name="Text 52"/>
          <p:cNvSpPr txBox="1"/>
          <p:nvPr/>
        </p:nvSpPr>
        <p:spPr>
          <a:xfrm>
            <a:off x="64008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هَلْ تَثِقُ بِـ …؟</a:t>
            </a:r>
            <a:endParaRPr lang="ar-SA" sz="1350" dirty="0"/>
          </a:p>
        </p:txBody>
      </p:sp>
      <p:sp>
        <p:nvSpPr>
          <p:cNvPr id="56" name="Shape 5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8211312"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9" name="Text 5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أَحْتَرِمُ</a:t>
            </a:r>
            <a:endParaRPr lang="ar-SA" sz="3000" dirty="0"/>
          </a:p>
        </p:txBody>
      </p:sp>
      <p:sp>
        <p:nvSpPr>
          <p:cNvPr id="60" name="Text 5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respect</a:t>
            </a:r>
            <a:endParaRPr lang="en-US" sz="1350" dirty="0"/>
          </a:p>
          <a:p>
            <a:pPr indent="0" marL="0">
              <a:buNone/>
            </a:pPr>
            <a:r>
              <a:rPr lang="en-US" sz="1100" i="1" dirty="0">
                <a:solidFill>
                  <a:srgbClr val="5A6472"/>
                </a:solidFill>
                <a:latin typeface="Calibri" pitchFamily="34" charset="0"/>
                <a:cs typeface="Amiri" pitchFamily="2" charset="-78"/>
              </a:rPr>
              <a:t>aḥ-ta-ri-mu</a:t>
            </a:r>
            <a:endParaRPr lang="en-US" sz="1350" dirty="0"/>
          </a:p>
        </p:txBody>
      </p:sp>
      <p:sp>
        <p:nvSpPr>
          <p:cNvPr id="61" name="Shape 5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389120"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4" name="Text 6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أُسَاعِدُ</a:t>
            </a:r>
            <a:endParaRPr lang="ar-SA" sz="3000" dirty="0"/>
          </a:p>
        </p:txBody>
      </p:sp>
      <p:sp>
        <p:nvSpPr>
          <p:cNvPr id="65" name="Text 6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help</a:t>
            </a:r>
            <a:endParaRPr lang="en-US" sz="1350" dirty="0"/>
          </a:p>
          <a:p>
            <a:pPr indent="0" marL="0">
              <a:buNone/>
            </a:pPr>
            <a:r>
              <a:rPr lang="en-US" sz="1100" i="1" dirty="0">
                <a:solidFill>
                  <a:srgbClr val="5A6472"/>
                </a:solidFill>
                <a:latin typeface="Calibri" pitchFamily="34" charset="0"/>
                <a:cs typeface="Amiri" pitchFamily="2" charset="-78"/>
              </a:rPr>
              <a:t>u-sā-ʿi-du</a:t>
            </a:r>
            <a:endParaRPr lang="en-US" sz="1350" dirty="0"/>
          </a:p>
        </p:txBody>
      </p:sp>
      <p:sp>
        <p:nvSpPr>
          <p:cNvPr id="66" name="Shape 6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566928"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9" name="Shape 66"/>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0" name="Text 67"/>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1" name="Text 6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يَدْعَمُنِي</a:t>
            </a:r>
            <a:endParaRPr lang="ar-SA" sz="3000" dirty="0"/>
          </a:p>
        </p:txBody>
      </p:sp>
      <p:sp>
        <p:nvSpPr>
          <p:cNvPr id="72" name="Text 6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supports me</a:t>
            </a:r>
            <a:endParaRPr lang="en-US" sz="1350" dirty="0"/>
          </a:p>
          <a:p>
            <a:pPr indent="0" marL="0">
              <a:buNone/>
            </a:pPr>
            <a:r>
              <a:rPr lang="en-US" sz="1100" i="1" dirty="0">
                <a:solidFill>
                  <a:srgbClr val="5A6472"/>
                </a:solidFill>
                <a:latin typeface="Calibri" pitchFamily="34" charset="0"/>
                <a:cs typeface="Amiri" pitchFamily="2" charset="-78"/>
              </a:rPr>
              <a:t>yad-ʿa-mu-nī</a:t>
            </a:r>
            <a:endParaRPr lang="en-US" sz="13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Conversation questions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لِذٰلِكَ</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therefore</a:t>
            </a:r>
            <a:endParaRPr lang="en-US" sz="1350" dirty="0"/>
          </a:p>
          <a:p>
            <a:pPr indent="0" marL="0">
              <a:buNone/>
            </a:pPr>
            <a:r>
              <a:rPr lang="en-US" sz="1100" i="1" dirty="0">
                <a:solidFill>
                  <a:srgbClr val="5A6472"/>
                </a:solidFill>
                <a:latin typeface="Calibri" pitchFamily="34" charset="0"/>
                <a:cs typeface="Amiri" pitchFamily="2" charset="-78"/>
              </a:rPr>
              <a:t>li-dhā-li-ka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وَلٰكِنَّ</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but/however</a:t>
            </a:r>
            <a:endParaRPr lang="en-US" sz="1350" dirty="0"/>
          </a:p>
          <a:p>
            <a:pPr indent="0" marL="0">
              <a:buNone/>
            </a:pPr>
            <a:r>
              <a:rPr lang="en-US" sz="1100" i="1" dirty="0">
                <a:solidFill>
                  <a:srgbClr val="5A6472"/>
                </a:solidFill>
                <a:latin typeface="Calibri" pitchFamily="34" charset="0"/>
                <a:cs typeface="Amiri" pitchFamily="2" charset="-78"/>
              </a:rPr>
              <a:t>wa-lā-kin-na</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whereas/while</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الرَّغْمِ مِنْ أَنَّ</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although</a:t>
            </a:r>
            <a:endParaRPr lang="en-US" sz="1350" dirty="0"/>
          </a:p>
          <a:p>
            <a:pPr indent="0" marL="0">
              <a:buNone/>
            </a:pPr>
            <a:r>
              <a:rPr lang="en-US" sz="1100" i="1" dirty="0">
                <a:solidFill>
                  <a:srgbClr val="5A6472"/>
                </a:solidFill>
                <a:latin typeface="Calibri" pitchFamily="34" charset="0"/>
                <a:cs typeface="Amiri" pitchFamily="2" charset="-78"/>
              </a:rPr>
              <a:t>ʿa-lā ar-ragh-mi min an-na</a:t>
            </a:r>
            <a:endParaRPr lang="en-US" sz="1350" dirty="0"/>
          </a:p>
        </p:txBody>
      </p:sp>
      <p:sp>
        <p:nvSpPr>
          <p:cNvPr id="46" name="Shape 4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66928"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9" name="Shape 46"/>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رَأْيِي</a:t>
            </a:r>
            <a:endParaRPr lang="ar-SA" sz="3000" dirty="0"/>
          </a:p>
        </p:txBody>
      </p:sp>
      <p:sp>
        <p:nvSpPr>
          <p:cNvPr id="52" name="Text 4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a:t>
            </a:r>
            <a:endParaRPr lang="en-US" sz="1350" dirty="0"/>
          </a:p>
          <a:p>
            <a:pPr indent="0" marL="0">
              <a:buNone/>
            </a:pPr>
            <a:r>
              <a:rPr lang="en-US" sz="1100" i="1" dirty="0">
                <a:solidFill>
                  <a:srgbClr val="5A6472"/>
                </a:solidFill>
                <a:latin typeface="Calibri" pitchFamily="34" charset="0"/>
                <a:cs typeface="Amiri" pitchFamily="2" charset="-78"/>
              </a:rPr>
              <a:t>fī raʾ-yī</a:t>
            </a:r>
            <a:endParaRPr lang="en-US" sz="13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Description and comparison (1 of 3)</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وَدُودٌ / وَدُودَةٌ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friendly</a:t>
            </a:r>
            <a:endParaRPr lang="en-US" sz="1350" dirty="0"/>
          </a:p>
          <a:p>
            <a:pPr indent="0" marL="0">
              <a:buNone/>
            </a:pPr>
            <a:r>
              <a:rPr lang="en-US" sz="1100" i="1" dirty="0">
                <a:solidFill>
                  <a:srgbClr val="5A6472"/>
                </a:solidFill>
                <a:latin typeface="Calibri" pitchFamily="34" charset="0"/>
                <a:cs typeface="Amiri" pitchFamily="2" charset="-78"/>
              </a:rPr>
              <a:t>wa-dū-dun / wa-dū-da-tun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صَادِقٌ / صَادِقَةٌ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honest</a:t>
            </a:r>
            <a:endParaRPr lang="en-US" sz="1350" dirty="0"/>
          </a:p>
          <a:p>
            <a:pPr indent="0" marL="0">
              <a:buNone/>
            </a:pPr>
            <a:r>
              <a:rPr lang="en-US" sz="1100" i="1" dirty="0">
                <a:solidFill>
                  <a:srgbClr val="5A6472"/>
                </a:solidFill>
                <a:latin typeface="Calibri" pitchFamily="34" charset="0"/>
                <a:cs typeface="Amiri" pitchFamily="2" charset="-78"/>
              </a:rPr>
              <a:t>ṣā-di-qun / ṣā-di-qa-tun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صَادِقُونَ</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52" name="Shape 4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صَبُورٌ / صَبُورَةٌ</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patient</a:t>
            </a:r>
            <a:endParaRPr lang="en-US" sz="1350" dirty="0"/>
          </a:p>
          <a:p>
            <a:pPr indent="0" marL="0">
              <a:buNone/>
            </a:pPr>
            <a:r>
              <a:rPr lang="en-US" sz="1100" i="1" dirty="0">
                <a:solidFill>
                  <a:srgbClr val="5A6472"/>
                </a:solidFill>
                <a:latin typeface="Calibri" pitchFamily="34" charset="0"/>
                <a:cs typeface="Amiri" pitchFamily="2" charset="-78"/>
              </a:rPr>
              <a:t>ṣa-bū-run / ṣa-bū-ra-tun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صَبُورُونَ</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68" name="Shape 6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مُتَعَاوِنٌ / مُتَعَاوِنَةٌ</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helpful/cooperative</a:t>
            </a:r>
            <a:endParaRPr lang="en-US" sz="1350" dirty="0"/>
          </a:p>
          <a:p>
            <a:pPr indent="0" marL="0">
              <a:buNone/>
            </a:pPr>
            <a:r>
              <a:rPr lang="en-US" sz="1100" i="1" dirty="0">
                <a:solidFill>
                  <a:srgbClr val="5A6472"/>
                </a:solidFill>
                <a:latin typeface="Calibri" pitchFamily="34" charset="0"/>
                <a:cs typeface="Amiri" pitchFamily="2" charset="-78"/>
              </a:rPr>
              <a:t>mu-ta-ʿā-wi-nun / mu-ta-ʿā-wi-na-tun</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مُتَعَاوِنُونَ</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7" name="Text 7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مُتَعَاوِنَةٌ</a:t>
            </a:r>
            <a:endParaRPr lang="ar-SA" sz="150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a:t>
            </a:r>
            <a:endParaRPr lang="ar-SA" sz="1500" dirty="0"/>
          </a:p>
        </p:txBody>
      </p:sp>
      <p:sp>
        <p:nvSpPr>
          <p:cNvPr id="81" name="Shape 7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4389120"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84" name="Shape 81"/>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86" name="Text 8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مُجْتَهِدٌ / مُجْتَهِدَةٌ</a:t>
            </a:r>
            <a:endParaRPr lang="ar-SA" sz="3000" dirty="0"/>
          </a:p>
        </p:txBody>
      </p:sp>
      <p:sp>
        <p:nvSpPr>
          <p:cNvPr id="87" name="Text 8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hard-working</a:t>
            </a:r>
            <a:endParaRPr lang="en-US" sz="1350" dirty="0"/>
          </a:p>
          <a:p>
            <a:pPr indent="0" marL="0">
              <a:buNone/>
            </a:pPr>
            <a:r>
              <a:rPr lang="en-US" sz="1100" i="1" dirty="0">
                <a:solidFill>
                  <a:srgbClr val="5A6472"/>
                </a:solidFill>
                <a:latin typeface="Calibri" pitchFamily="34" charset="0"/>
                <a:cs typeface="Amiri" pitchFamily="2" charset="-78"/>
              </a:rPr>
              <a:t>muj-ta-hi-dun / muj-ta-hi-da-tun</a:t>
            </a:r>
            <a:endParaRPr lang="en-US" sz="1350" dirty="0"/>
          </a:p>
        </p:txBody>
      </p:sp>
      <p:sp>
        <p:nvSpPr>
          <p:cNvPr id="88" name="Shape 85"/>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0" name="Text 87"/>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مُجْتَهِدُونَ</a:t>
            </a:r>
            <a:endParaRPr lang="ar-SA" sz="1500" dirty="0"/>
          </a:p>
        </p:txBody>
      </p:sp>
      <p:sp>
        <p:nvSpPr>
          <p:cNvPr id="91" name="Shape 88"/>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3" name="Text 90"/>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مُجْتَهِدَةٌ</a:t>
            </a:r>
            <a:endParaRPr lang="ar-SA" sz="1500" dirty="0"/>
          </a:p>
        </p:txBody>
      </p:sp>
      <p:sp>
        <p:nvSpPr>
          <p:cNvPr id="94" name="Shape 91"/>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6" name="Text 93"/>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a:t>
            </a:r>
            <a:endParaRPr lang="ar-SA" sz="150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Description and comparison (2 of 3)</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مَرِحٌ / مَرِحَةٌ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cheerful</a:t>
            </a:r>
            <a:endParaRPr lang="en-US" sz="1350" dirty="0"/>
          </a:p>
          <a:p>
            <a:pPr indent="0" marL="0">
              <a:buNone/>
            </a:pPr>
            <a:r>
              <a:rPr lang="en-US" sz="1100" i="1" dirty="0">
                <a:solidFill>
                  <a:srgbClr val="5A6472"/>
                </a:solidFill>
                <a:latin typeface="Calibri" pitchFamily="34" charset="0"/>
                <a:cs typeface="Amiri" pitchFamily="2" charset="-78"/>
              </a:rPr>
              <a:t>ma-ri-ḥun / ma-ri-ḥa-tun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هَادِئٌ / هَادِئَةٌ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calm</a:t>
            </a:r>
            <a:endParaRPr lang="en-US" sz="1350" dirty="0"/>
          </a:p>
          <a:p>
            <a:pPr indent="0" marL="0">
              <a:buNone/>
            </a:pPr>
            <a:r>
              <a:rPr lang="en-US" sz="1100" i="1" dirty="0">
                <a:solidFill>
                  <a:srgbClr val="5A6472"/>
                </a:solidFill>
                <a:latin typeface="Calibri" pitchFamily="34" charset="0"/>
                <a:cs typeface="Amiri" pitchFamily="2" charset="-78"/>
              </a:rPr>
              <a:t>hā-di-ʾun / hā-di-ʾa-tun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هَادِئُونَ</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52" name="Shape 4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خَجُولٌ / خَجُولَةٌ</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shy</a:t>
            </a:r>
            <a:endParaRPr lang="en-US" sz="1350" dirty="0"/>
          </a:p>
          <a:p>
            <a:pPr indent="0" marL="0">
              <a:buNone/>
            </a:pPr>
            <a:r>
              <a:rPr lang="en-US" sz="1100" i="1" dirty="0">
                <a:solidFill>
                  <a:srgbClr val="5A6472"/>
                </a:solidFill>
                <a:latin typeface="Calibri" pitchFamily="34" charset="0"/>
                <a:cs typeface="Amiri" pitchFamily="2" charset="-78"/>
              </a:rPr>
              <a:t>kha-jū-lun / kha-jū-la-tun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خَجُولُونَ</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خَجُولَةٌ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خَجُولٌ</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68" name="Text 6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أَكْثَرُ ... مِنْ</a:t>
            </a:r>
            <a:endParaRPr lang="ar-SA" sz="3000" dirty="0"/>
          </a:p>
        </p:txBody>
      </p:sp>
      <p:sp>
        <p:nvSpPr>
          <p:cNvPr id="69" name="Text 6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 than</a:t>
            </a:r>
            <a:endParaRPr lang="en-US" sz="1350" dirty="0"/>
          </a:p>
          <a:p>
            <a:pPr indent="0" marL="0">
              <a:buNone/>
            </a:pPr>
            <a:r>
              <a:rPr lang="en-US" sz="1100" i="1" dirty="0">
                <a:solidFill>
                  <a:srgbClr val="5A6472"/>
                </a:solidFill>
                <a:latin typeface="Calibri" pitchFamily="34" charset="0"/>
                <a:cs typeface="Amiri" pitchFamily="2" charset="-78"/>
              </a:rPr>
              <a:t>ak-tha-ru ... min</a:t>
            </a:r>
            <a:endParaRPr lang="en-US" sz="1350" dirty="0"/>
          </a:p>
        </p:txBody>
      </p:sp>
      <p:sp>
        <p:nvSpPr>
          <p:cNvPr id="70" name="Shape 6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389120" y="4261104"/>
            <a:ext cx="310896" cy="310896"/>
          </a:xfrm>
          <a:prstGeom prst="ellipse">
            <a:avLst/>
          </a:prstGeom>
          <a:solidFill>
            <a:srgbClr val="F4F1EA"/>
          </a:solidFill>
          <a:ln w="12700">
            <a:solidFill>
              <a:srgbClr val="F4F1EA"/>
            </a:solidFill>
            <a:prstDash val="solid"/>
          </a:ln>
        </p:spPr>
      </p:sp>
      <p:sp>
        <p:nvSpPr>
          <p:cNvPr id="72" name="Text 6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73" name="Text 7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أَقَلُّ ... مِنْ</a:t>
            </a:r>
            <a:endParaRPr lang="ar-SA" sz="3000" dirty="0"/>
          </a:p>
        </p:txBody>
      </p:sp>
      <p:sp>
        <p:nvSpPr>
          <p:cNvPr id="74" name="Text 7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less … than</a:t>
            </a:r>
            <a:endParaRPr lang="en-US" sz="1350" dirty="0"/>
          </a:p>
          <a:p>
            <a:pPr indent="0" marL="0">
              <a:buNone/>
            </a:pPr>
            <a:r>
              <a:rPr lang="en-US" sz="1100" i="1" dirty="0">
                <a:solidFill>
                  <a:srgbClr val="5A6472"/>
                </a:solidFill>
                <a:latin typeface="Calibri" pitchFamily="34" charset="0"/>
                <a:cs typeface="Amiri" pitchFamily="2" charset="-78"/>
              </a:rPr>
              <a:t>a-qal-lu ... min</a:t>
            </a:r>
            <a:endParaRPr lang="en-US" sz="13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Description and comparison (3 of 3)</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أَفْضَلُ مِنْ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better than</a:t>
            </a:r>
            <a:endParaRPr lang="en-US" sz="1350" dirty="0"/>
          </a:p>
          <a:p>
            <a:pPr indent="0" marL="0">
              <a:buNone/>
            </a:pPr>
            <a:r>
              <a:rPr lang="en-US" sz="1100" i="1" dirty="0">
                <a:solidFill>
                  <a:srgbClr val="5A6472"/>
                </a:solidFill>
                <a:latin typeface="Calibri" pitchFamily="34" charset="0"/>
                <a:cs typeface="Amiri" pitchFamily="2" charset="-78"/>
              </a:rPr>
              <a:t>af-ḍa-lu min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أَجْمَلُ مِنْ</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beautiful than</a:t>
            </a:r>
            <a:endParaRPr lang="en-US" sz="1350" dirty="0"/>
          </a:p>
          <a:p>
            <a:pPr indent="0" marL="0">
              <a:buNone/>
            </a:pPr>
            <a:r>
              <a:rPr lang="en-US" sz="1100" i="1" dirty="0">
                <a:solidFill>
                  <a:srgbClr val="5A6472"/>
                </a:solidFill>
                <a:latin typeface="Calibri" pitchFamily="34" charset="0"/>
                <a:cs typeface="Amiri" pitchFamily="2" charset="-78"/>
              </a:rPr>
              <a:t>aj-ma-lu min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أَرْخَصُ مِنْ</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cheaper than</a:t>
            </a:r>
            <a:endParaRPr lang="en-US" sz="1350" dirty="0"/>
          </a:p>
          <a:p>
            <a:pPr indent="0" marL="0">
              <a:buNone/>
            </a:pPr>
            <a:r>
              <a:rPr lang="en-US" sz="1100" i="1" dirty="0">
                <a:solidFill>
                  <a:srgbClr val="5A6472"/>
                </a:solidFill>
                <a:latin typeface="Calibri" pitchFamily="34" charset="0"/>
                <a:cs typeface="Amiri" pitchFamily="2" charset="-78"/>
              </a:rPr>
              <a:t>ar-kha-ṣu min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أَغْلَى مِنْ</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expensive than</a:t>
            </a:r>
            <a:endParaRPr lang="en-US" sz="1350" dirty="0"/>
          </a:p>
          <a:p>
            <a:pPr indent="0" marL="0">
              <a:buNone/>
            </a:pPr>
            <a:r>
              <a:rPr lang="en-US" sz="1100" i="1" dirty="0">
                <a:solidFill>
                  <a:srgbClr val="5A6472"/>
                </a:solidFill>
                <a:latin typeface="Calibri" pitchFamily="34" charset="0"/>
                <a:cs typeface="Amiri" pitchFamily="2" charset="-78"/>
              </a:rPr>
              <a:t>agh-lā min</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Style language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أَنِيقٌ / أَنِيقَةٌ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elegant</a:t>
            </a:r>
            <a:endParaRPr lang="en-US" sz="1350" dirty="0"/>
          </a:p>
          <a:p>
            <a:pPr indent="0" marL="0">
              <a:buNone/>
            </a:pPr>
            <a:r>
              <a:rPr lang="en-US" sz="1100" i="1" dirty="0">
                <a:solidFill>
                  <a:srgbClr val="5A6472"/>
                </a:solidFill>
                <a:latin typeface="Calibri" pitchFamily="34" charset="0"/>
                <a:cs typeface="Amiri" pitchFamily="2" charset="-78"/>
              </a:rPr>
              <a:t>a-nī-qun / a-nī-qa-tun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عَصْرِيٌّ / عَصْرِيَّةٌ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modern</a:t>
            </a:r>
            <a:endParaRPr lang="en-US" sz="1350" dirty="0"/>
          </a:p>
          <a:p>
            <a:pPr indent="0" marL="0">
              <a:buNone/>
            </a:pPr>
            <a:r>
              <a:rPr lang="en-US" sz="1100" i="1" dirty="0">
                <a:solidFill>
                  <a:srgbClr val="5A6472"/>
                </a:solidFill>
                <a:latin typeface="Calibri" pitchFamily="34" charset="0"/>
                <a:cs typeface="Amiri" pitchFamily="2" charset="-78"/>
              </a:rPr>
              <a:t>ʿaṣ-riy-yun / ʿaṣ-riy-ya-tun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عَصْرِيُّونَ</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52" name="Shape 4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تَقْلِيدِيٌّ / تَقْلِيدِيَّةٌ</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traditional</a:t>
            </a:r>
            <a:endParaRPr lang="en-US" sz="1350" dirty="0"/>
          </a:p>
          <a:p>
            <a:pPr indent="0" marL="0">
              <a:buNone/>
            </a:pPr>
            <a:r>
              <a:rPr lang="en-US" sz="1100" i="1" dirty="0">
                <a:solidFill>
                  <a:srgbClr val="5A6472"/>
                </a:solidFill>
                <a:latin typeface="Calibri" pitchFamily="34" charset="0"/>
                <a:cs typeface="Amiri" pitchFamily="2" charset="-78"/>
              </a:rPr>
              <a:t>taq-lī-diy-yun / taq-lī-diy-ya-tun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تَقْلِيدِيُّونَ</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تَقْلِيدِيَّةٌ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تَقْلِيدِيٌّ</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68" name="Shape 6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رَسْمِيٌّ / رَسْمِيَّةٌ</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formal</a:t>
            </a:r>
            <a:endParaRPr lang="en-US" sz="1350" dirty="0"/>
          </a:p>
          <a:p>
            <a:pPr indent="0" marL="0">
              <a:buNone/>
            </a:pPr>
            <a:r>
              <a:rPr lang="en-US" sz="1100" i="1" dirty="0">
                <a:solidFill>
                  <a:srgbClr val="5A6472"/>
                </a:solidFill>
                <a:latin typeface="Calibri" pitchFamily="34" charset="0"/>
                <a:cs typeface="Amiri" pitchFamily="2" charset="-78"/>
              </a:rPr>
              <a:t>ras-miy-yun / ras-miy-ya-tun</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رَسْمِيُّونَ</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7" name="Text 7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رَسْمِيَّةٌ</a:t>
            </a:r>
            <a:endParaRPr lang="ar-SA" sz="150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رَسْمِيٌّ</a:t>
            </a:r>
            <a:endParaRPr lang="ar-SA" sz="1500" dirty="0"/>
          </a:p>
        </p:txBody>
      </p:sp>
      <p:sp>
        <p:nvSpPr>
          <p:cNvPr id="81" name="Shape 7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4389120"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31</a:t>
            </a:r>
            <a:endParaRPr lang="en-US" sz="1000" dirty="0"/>
          </a:p>
        </p:txBody>
      </p:sp>
      <p:sp>
        <p:nvSpPr>
          <p:cNvPr id="84" name="Shape 81"/>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86" name="Text 8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غَيْرُ رَسْمِيٍّ / غَيْرُ رَسْمِيَّةٍ</a:t>
            </a:r>
            <a:endParaRPr lang="ar-SA" sz="3000" dirty="0"/>
          </a:p>
        </p:txBody>
      </p:sp>
      <p:sp>
        <p:nvSpPr>
          <p:cNvPr id="87" name="Text 8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casual</a:t>
            </a:r>
            <a:endParaRPr lang="en-US" sz="1350" dirty="0"/>
          </a:p>
          <a:p>
            <a:pPr indent="0" marL="0">
              <a:buNone/>
            </a:pPr>
            <a:r>
              <a:rPr lang="en-US" sz="1100" i="1" dirty="0">
                <a:solidFill>
                  <a:srgbClr val="5A6472"/>
                </a:solidFill>
                <a:latin typeface="Calibri" pitchFamily="34" charset="0"/>
                <a:cs typeface="Amiri" pitchFamily="2" charset="-78"/>
              </a:rPr>
              <a:t>ghay-ru ras-miy-yin / ghay-ru ras-miy-ya-tin</a:t>
            </a:r>
            <a:endParaRPr lang="en-US" sz="1350" dirty="0"/>
          </a:p>
        </p:txBody>
      </p:sp>
      <p:sp>
        <p:nvSpPr>
          <p:cNvPr id="88" name="Shape 85"/>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0" name="Text 87"/>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غَيْرُ رَسْمِيَّةٍ</a:t>
            </a:r>
            <a:endParaRPr lang="ar-SA" sz="1500" dirty="0"/>
          </a:p>
        </p:txBody>
      </p:sp>
      <p:sp>
        <p:nvSpPr>
          <p:cNvPr id="91" name="Shape 88"/>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3" name="Text 90"/>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غَيْرُ رَسْمِيٍّ</a:t>
            </a:r>
            <a:endParaRPr lang="ar-SA" sz="15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Style language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32</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مُحْتَشِمٌ / مُحْتَشِمَةٌ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modest</a:t>
            </a:r>
            <a:endParaRPr lang="en-US" sz="1350" dirty="0"/>
          </a:p>
          <a:p>
            <a:pPr indent="0" marL="0">
              <a:buNone/>
            </a:pPr>
            <a:r>
              <a:rPr lang="en-US" sz="1100" i="1" dirty="0">
                <a:solidFill>
                  <a:srgbClr val="5A6472"/>
                </a:solidFill>
                <a:latin typeface="Calibri" pitchFamily="34" charset="0"/>
                <a:cs typeface="Amiri" pitchFamily="2" charset="-78"/>
              </a:rPr>
              <a:t>muḥ-ta-shi-mun / muḥ-ta-shi-ma-tun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33</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مُلَوَّنٌ / مُلَوَّنَةٌ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colourful</a:t>
            </a:r>
            <a:endParaRPr lang="en-US" sz="1350" dirty="0"/>
          </a:p>
          <a:p>
            <a:pPr indent="0" marL="0">
              <a:buNone/>
            </a:pPr>
            <a:r>
              <a:rPr lang="en-US" sz="1100" i="1" dirty="0">
                <a:solidFill>
                  <a:srgbClr val="5A6472"/>
                </a:solidFill>
                <a:latin typeface="Calibri" pitchFamily="34" charset="0"/>
                <a:cs typeface="Amiri" pitchFamily="2" charset="-78"/>
              </a:rPr>
              <a:t>mu-law-wa-nun / mu-law-wa-na-tun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مَلَابِسُ مُلَوَّنَةٌ</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مُلَوَّنَةٌ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مُلَوَّنٌ</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34</a:t>
            </a:r>
            <a:endParaRPr lang="en-US" sz="1000" dirty="0"/>
          </a:p>
        </p:txBody>
      </p:sp>
      <p:sp>
        <p:nvSpPr>
          <p:cNvPr id="52" name="Shape 4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بَسِيطٌ / بَسِيطَةٌ</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simple</a:t>
            </a:r>
            <a:endParaRPr lang="en-US" sz="1350" dirty="0"/>
          </a:p>
          <a:p>
            <a:pPr indent="0" marL="0">
              <a:buNone/>
            </a:pPr>
            <a:r>
              <a:rPr lang="en-US" sz="1100" i="1" dirty="0">
                <a:solidFill>
                  <a:srgbClr val="5A6472"/>
                </a:solidFill>
                <a:latin typeface="Calibri" pitchFamily="34" charset="0"/>
                <a:cs typeface="Amiri" pitchFamily="2" charset="-78"/>
              </a:rPr>
              <a:t>ba-sī-ṭun / ba-sī-ṭa-tun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بُسَطَاءُ</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بَسِيطَةٌ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بَسِيطٌ</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35</a:t>
            </a:r>
            <a:endParaRPr lang="en-US" sz="1000" dirty="0"/>
          </a:p>
        </p:txBody>
      </p:sp>
      <p:sp>
        <p:nvSpPr>
          <p:cNvPr id="68" name="Shape 6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مُرِيحٌ / مُرِيحَةٌ</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comfortable</a:t>
            </a:r>
            <a:endParaRPr lang="en-US" sz="1350" dirty="0"/>
          </a:p>
          <a:p>
            <a:pPr indent="0" marL="0">
              <a:buNone/>
            </a:pPr>
            <a:r>
              <a:rPr lang="en-US" sz="1100" i="1" dirty="0">
                <a:solidFill>
                  <a:srgbClr val="5A6472"/>
                </a:solidFill>
                <a:latin typeface="Calibri" pitchFamily="34" charset="0"/>
                <a:cs typeface="Amiri" pitchFamily="2" charset="-78"/>
              </a:rPr>
              <a:t>mu-rī-ḥun / mu-rī-ḥa-tun</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مَلَابِسُ مُرِيحَةٌ</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7" name="Text 7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مُرِيحَةٌ</a:t>
            </a:r>
            <a:endParaRPr lang="ar-SA" sz="150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مُرِيحٌ</a:t>
            </a:r>
            <a:endParaRPr lang="ar-SA" sz="1500" dirty="0"/>
          </a:p>
        </p:txBody>
      </p:sp>
      <p:sp>
        <p:nvSpPr>
          <p:cNvPr id="81" name="Shape 7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4389120"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36</a:t>
            </a:r>
            <a:endParaRPr lang="en-US" sz="1000" dirty="0"/>
          </a:p>
        </p:txBody>
      </p:sp>
      <p:sp>
        <p:nvSpPr>
          <p:cNvPr id="84" name="Shape 81"/>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86" name="Text 8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عَمَلِيٌّ / عَمَلِيَّةٌ</a:t>
            </a:r>
            <a:endParaRPr lang="ar-SA" sz="3000" dirty="0"/>
          </a:p>
        </p:txBody>
      </p:sp>
      <p:sp>
        <p:nvSpPr>
          <p:cNvPr id="87" name="Text 8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practical</a:t>
            </a:r>
            <a:endParaRPr lang="en-US" sz="1350" dirty="0"/>
          </a:p>
          <a:p>
            <a:pPr indent="0" marL="0">
              <a:buNone/>
            </a:pPr>
            <a:r>
              <a:rPr lang="en-US" sz="1100" i="1" dirty="0">
                <a:solidFill>
                  <a:srgbClr val="5A6472"/>
                </a:solidFill>
                <a:latin typeface="Calibri" pitchFamily="34" charset="0"/>
                <a:cs typeface="Amiri" pitchFamily="2" charset="-78"/>
              </a:rPr>
              <a:t>ʿa-ma-liy-yun / ʿa-ma-liy-ya-tun</a:t>
            </a:r>
            <a:endParaRPr lang="en-US" sz="1350" dirty="0"/>
          </a:p>
        </p:txBody>
      </p:sp>
      <p:sp>
        <p:nvSpPr>
          <p:cNvPr id="88" name="Shape 85"/>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0" name="Text 87"/>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مَلَابِسُ عَمَلِيَّةٌ</a:t>
            </a:r>
            <a:endParaRPr lang="ar-SA" sz="1500" dirty="0"/>
          </a:p>
        </p:txBody>
      </p:sp>
      <p:sp>
        <p:nvSpPr>
          <p:cNvPr id="91" name="Shape 88"/>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3" name="Text 90"/>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عَمَلِيَّةٌ</a:t>
            </a:r>
            <a:endParaRPr lang="ar-SA" sz="1500" dirty="0"/>
          </a:p>
        </p:txBody>
      </p:sp>
      <p:sp>
        <p:nvSpPr>
          <p:cNvPr id="94" name="Shape 91"/>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6" name="Text 93"/>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عَمَلِيٌّ</a:t>
            </a:r>
            <a:endParaRPr lang="ar-SA" sz="150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66" b="1" spc="150" kern="0" dirty="0">
                <a:solidFill>
                  <a:srgbClr val="1B3B6F"/>
                </a:solidFill>
                <a:latin typeface="Calibri" pitchFamily="34" charset="0"/>
                <a:cs typeface="Amiri" pitchFamily="2" charset="-78"/>
              </a:rPr>
              <a:t>GRAMMAR FOCUS · PART 1 · THE ANSWER LADDER (WEBSITE READING TEXT + MODEL)</a:t>
            </a:r>
            <a:endParaRPr lang="en-US" sz="96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Answer → reason → example / comparison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سُلَّمُ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5" name="Text 12"/>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cs typeface="Amiri" pitchFamily="2" charset="-78"/>
              </a:rPr>
              <a:t>English meaning</a:t>
            </a:r>
            <a:endParaRPr lang="en-US" sz="1100" dirty="0"/>
          </a:p>
        </p:txBody>
      </p:sp>
      <p:sp>
        <p:nvSpPr>
          <p:cNvPr id="16" name="Shape 13"/>
          <p:cNvSpPr/>
          <p:nvPr/>
        </p:nvSpPr>
        <p:spPr>
          <a:xfrm>
            <a:off x="9089136" y="1810512"/>
            <a:ext cx="2642616" cy="566928"/>
          </a:xfrm>
          <a:prstGeom prst="roundRect">
            <a:avLst>
              <a:gd name="adj" fmla="val 9677"/>
            </a:avLst>
          </a:prstGeom>
          <a:solidFill>
            <a:srgbClr val="1D5FBF"/>
          </a:solidFill>
          <a:ln w="12700">
            <a:solidFill>
              <a:srgbClr val="1D5FBF"/>
            </a:solidFill>
            <a:prstDash val="solid"/>
          </a:ln>
        </p:spPr>
      </p:sp>
      <p:sp>
        <p:nvSpPr>
          <p:cNvPr id="17" name="Text 14"/>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جَوَابٌ مُبَاشِرٌ</a:t>
            </a:r>
            <a:endParaRPr lang="ar-SA" sz="1850" dirty="0"/>
          </a:p>
        </p:txBody>
      </p:sp>
      <p:sp>
        <p:nvSpPr>
          <p:cNvPr id="18" name="Text 15"/>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direct answer</a:t>
            </a:r>
            <a:endParaRPr lang="en-US" sz="900" dirty="0"/>
          </a:p>
        </p:txBody>
      </p:sp>
      <p:sp>
        <p:nvSpPr>
          <p:cNvPr id="19" name="Shape 16"/>
          <p:cNvSpPr/>
          <p:nvPr/>
        </p:nvSpPr>
        <p:spPr>
          <a:xfrm>
            <a:off x="6336792" y="1810512"/>
            <a:ext cx="2642616" cy="566928"/>
          </a:xfrm>
          <a:prstGeom prst="roundRect">
            <a:avLst>
              <a:gd name="adj" fmla="val 9677"/>
            </a:avLst>
          </a:prstGeom>
          <a:solidFill>
            <a:srgbClr val="1E7B4F"/>
          </a:solidFill>
          <a:ln w="12700">
            <a:solidFill>
              <a:srgbClr val="1E7B4F"/>
            </a:solidFill>
            <a:prstDash val="solid"/>
          </a:ln>
        </p:spPr>
      </p:sp>
      <p:sp>
        <p:nvSpPr>
          <p:cNvPr id="20" name="Text 17"/>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سَبَبٌ</a:t>
            </a:r>
            <a:endParaRPr lang="ar-SA" sz="1850" dirty="0"/>
          </a:p>
        </p:txBody>
      </p:sp>
      <p:sp>
        <p:nvSpPr>
          <p:cNvPr id="21" name="Text 18"/>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reason / description</a:t>
            </a:r>
            <a:endParaRPr lang="en-US" sz="900" dirty="0"/>
          </a:p>
        </p:txBody>
      </p:sp>
      <p:sp>
        <p:nvSpPr>
          <p:cNvPr id="22" name="Shape 19"/>
          <p:cNvSpPr/>
          <p:nvPr/>
        </p:nvSpPr>
        <p:spPr>
          <a:xfrm>
            <a:off x="3584448" y="1810512"/>
            <a:ext cx="2642616" cy="566928"/>
          </a:xfrm>
          <a:prstGeom prst="roundRect">
            <a:avLst>
              <a:gd name="adj" fmla="val 9677"/>
            </a:avLst>
          </a:prstGeom>
          <a:solidFill>
            <a:srgbClr val="6B4C9A"/>
          </a:solidFill>
          <a:ln w="12700">
            <a:solidFill>
              <a:srgbClr val="6B4C9A"/>
            </a:solidFill>
            <a:prstDash val="solid"/>
          </a:ln>
        </p:spPr>
      </p:sp>
      <p:sp>
        <p:nvSpPr>
          <p:cNvPr id="23" name="Text 20"/>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مِثَالٌ / مُقَارَنَةٌ</a:t>
            </a:r>
            <a:endParaRPr lang="ar-SA" sz="1850" dirty="0"/>
          </a:p>
        </p:txBody>
      </p:sp>
      <p:sp>
        <p:nvSpPr>
          <p:cNvPr id="24" name="Text 21"/>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example / comparison</a:t>
            </a:r>
            <a:endParaRPr lang="en-US" sz="900" dirty="0"/>
          </a:p>
        </p:txBody>
      </p:sp>
      <p:sp>
        <p:nvSpPr>
          <p:cNvPr id="25" name="Text 22"/>
          <p:cNvSpPr txBox="1"/>
          <p:nvPr/>
        </p:nvSpPr>
        <p:spPr>
          <a:xfrm>
            <a:off x="457200" y="2487168"/>
            <a:ext cx="2926080" cy="82296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My friend Omar is friendly and honest; I trust him because he listens to me; for example, he helps me with my homework.</a:t>
            </a:r>
            <a:endParaRPr lang="en-US" sz="1200" dirty="0"/>
          </a:p>
        </p:txBody>
      </p:sp>
      <p:sp>
        <p:nvSpPr>
          <p:cNvPr id="26" name="Shape 23"/>
          <p:cNvSpPr/>
          <p:nvPr/>
        </p:nvSpPr>
        <p:spPr>
          <a:xfrm>
            <a:off x="9089136" y="2487168"/>
            <a:ext cx="2642616" cy="822960"/>
          </a:xfrm>
          <a:prstGeom prst="roundRect">
            <a:avLst>
              <a:gd name="adj" fmla="val 6667"/>
            </a:avLst>
          </a:prstGeom>
          <a:solidFill>
            <a:srgbClr val="EEF3FA"/>
          </a:solidFill>
          <a:ln w="9525">
            <a:solidFill>
              <a:srgbClr val="EEF3FA"/>
            </a:solidFill>
            <a:prstDash val="solid"/>
          </a:ln>
        </p:spPr>
      </p:sp>
      <p:sp>
        <p:nvSpPr>
          <p:cNvPr id="27" name="Text 24"/>
          <p:cNvSpPr txBox="1"/>
          <p:nvPr/>
        </p:nvSpPr>
        <p:spPr>
          <a:xfrm>
            <a:off x="9162288" y="2487168"/>
            <a:ext cx="2496312" cy="822960"/>
          </a:xfrm>
          <a:prstGeom prst="rect">
            <a:avLst/>
          </a:prstGeom>
          <a:noFill/>
          <a:ln/>
        </p:spPr>
        <p:txBody>
          <a:bodyPr wrap="square" lIns="0" tIns="0" rIns="0" bIns="0" rtlCol="0" anchor="ctr"/>
          <a:lstStyle/>
          <a:p>
            <a:pPr rtl="1" algn="ctr" indent="0" marL="0">
              <a:buNone/>
            </a:pPr>
            <a:r>
              <a:rPr lang="ar-SA" altLang="en-US" sz="2350" b="1" dirty="0">
                <a:solidFill>
                  <a:srgbClr val="1B3B6F"/>
                </a:solidFill>
                <a:latin typeface="Amiri" pitchFamily="2" charset="-78"/>
                <a:ea typeface="Amiri" pitchFamily="2" charset="-78"/>
                <a:cs typeface="Amiri" pitchFamily="2" charset="-78"/>
              </a:rPr>
              <a:t>صَدِيقِي عُمَرُ وَدُودٌ وَصَادِقٌ،</a:t>
            </a:r>
            <a:endParaRPr lang="ar-SA" sz="2350" dirty="0"/>
          </a:p>
        </p:txBody>
      </p:sp>
      <p:sp>
        <p:nvSpPr>
          <p:cNvPr id="28" name="Shape 25"/>
          <p:cNvSpPr/>
          <p:nvPr/>
        </p:nvSpPr>
        <p:spPr>
          <a:xfrm>
            <a:off x="6336792" y="2487168"/>
            <a:ext cx="2642616" cy="822960"/>
          </a:xfrm>
          <a:prstGeom prst="roundRect">
            <a:avLst>
              <a:gd name="adj" fmla="val 6667"/>
            </a:avLst>
          </a:prstGeom>
          <a:solidFill>
            <a:srgbClr val="E8F4EC"/>
          </a:solidFill>
          <a:ln w="9525">
            <a:solidFill>
              <a:srgbClr val="E8F4EC"/>
            </a:solidFill>
            <a:prstDash val="solid"/>
          </a:ln>
        </p:spPr>
      </p:sp>
      <p:sp>
        <p:nvSpPr>
          <p:cNvPr id="29" name="Text 26"/>
          <p:cNvSpPr txBox="1"/>
          <p:nvPr/>
        </p:nvSpPr>
        <p:spPr>
          <a:xfrm>
            <a:off x="6409944" y="2487168"/>
            <a:ext cx="2496312" cy="82296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وَأَثِقُ بِهِ </a:t>
            </a:r>
            <a:pPr rtl="1" algn="ctr" indent="0" marL="0">
              <a:buNone/>
            </a:pPr>
            <a:r>
              <a:rPr lang="ar-SA" altLang="en-US" sz="2100" b="1" dirty="0">
                <a:solidFill>
                  <a:srgbClr val="0E7C86"/>
                </a:solidFill>
                <a:latin typeface="Amiri" pitchFamily="2" charset="-78"/>
                <a:ea typeface="Amiri" pitchFamily="2" charset="-78"/>
                <a:cs typeface="Amiri" pitchFamily="2" charset="-78"/>
              </a:rPr>
              <a:t>لِأَنَّهُ</a:t>
            </a:r>
            <a:pPr rtl="1" algn="ctr" indent="0" marL="0">
              <a:buNone/>
            </a:pPr>
            <a:r>
              <a:rPr lang="ar-SA" altLang="en-US" sz="2100" b="1" dirty="0">
                <a:solidFill>
                  <a:srgbClr val="1B3B6F"/>
                </a:solidFill>
                <a:latin typeface="Amiri" pitchFamily="2" charset="-78"/>
                <a:ea typeface="Amiri" pitchFamily="2" charset="-78"/>
                <a:cs typeface="Amiri" pitchFamily="2" charset="-78"/>
              </a:rPr>
              <a:t> يَسْتَمِعُ إِلَيَّ؛</a:t>
            </a:r>
            <a:endParaRPr lang="ar-SA" sz="2100" dirty="0"/>
          </a:p>
        </p:txBody>
      </p:sp>
      <p:sp>
        <p:nvSpPr>
          <p:cNvPr id="30" name="Shape 27"/>
          <p:cNvSpPr/>
          <p:nvPr/>
        </p:nvSpPr>
        <p:spPr>
          <a:xfrm>
            <a:off x="3584448" y="2487168"/>
            <a:ext cx="2642616" cy="822960"/>
          </a:xfrm>
          <a:prstGeom prst="roundRect">
            <a:avLst>
              <a:gd name="adj" fmla="val 6667"/>
            </a:avLst>
          </a:prstGeom>
          <a:solidFill>
            <a:srgbClr val="F1ECF7"/>
          </a:solidFill>
          <a:ln w="9525">
            <a:solidFill>
              <a:srgbClr val="F1ECF7"/>
            </a:solidFill>
            <a:prstDash val="solid"/>
          </a:ln>
        </p:spPr>
      </p:sp>
      <p:sp>
        <p:nvSpPr>
          <p:cNvPr id="31" name="Text 28"/>
          <p:cNvSpPr txBox="1"/>
          <p:nvPr/>
        </p:nvSpPr>
        <p:spPr>
          <a:xfrm>
            <a:off x="3657600" y="2487168"/>
            <a:ext cx="2496312" cy="822960"/>
          </a:xfrm>
          <a:prstGeom prst="rect">
            <a:avLst/>
          </a:prstGeom>
          <a:noFill/>
          <a:ln/>
        </p:spPr>
        <p:txBody>
          <a:bodyPr wrap="square" lIns="0" tIns="0" rIns="0" bIns="0" rtlCol="0" anchor="ctr"/>
          <a:lstStyle/>
          <a:p>
            <a:pPr rtl="1" algn="ctr" indent="0" marL="0">
              <a:buNone/>
            </a:pPr>
            <a:r>
              <a:rPr lang="ar-SA" altLang="en-US" sz="2050" b="1" dirty="0">
                <a:solidFill>
                  <a:srgbClr val="0E7C86"/>
                </a:solidFill>
                <a:latin typeface="Amiri" pitchFamily="2" charset="-78"/>
                <a:ea typeface="Amiri" pitchFamily="2" charset="-78"/>
                <a:cs typeface="Amiri" pitchFamily="2" charset="-78"/>
              </a:rPr>
              <a:t>مَثَلًا</a:t>
            </a:r>
            <a:pPr rtl="1" algn="ctr" indent="0" marL="0">
              <a:buNone/>
            </a:pPr>
            <a:r>
              <a:rPr lang="ar-SA" altLang="en-US" sz="2050" b="1" dirty="0">
                <a:solidFill>
                  <a:srgbClr val="1B3B6F"/>
                </a:solidFill>
                <a:latin typeface="Amiri" pitchFamily="2" charset="-78"/>
                <a:ea typeface="Amiri" pitchFamily="2" charset="-78"/>
                <a:cs typeface="Amiri" pitchFamily="2" charset="-78"/>
              </a:rPr>
              <a:t>، يُسَاعِدُنِي فِي الوَاجِبِ.</a:t>
            </a:r>
            <a:endParaRPr lang="ar-SA" sz="2050" dirty="0"/>
          </a:p>
        </p:txBody>
      </p:sp>
      <p:sp>
        <p:nvSpPr>
          <p:cNvPr id="32" name="Text 29"/>
          <p:cNvSpPr txBox="1"/>
          <p:nvPr/>
        </p:nvSpPr>
        <p:spPr>
          <a:xfrm>
            <a:off x="457200" y="3419856"/>
            <a:ext cx="2926080" cy="82296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I prefer simple clothes because I like comfort, whereas he is more interested in fashion than me.</a:t>
            </a:r>
            <a:endParaRPr lang="en-US" sz="1200" dirty="0"/>
          </a:p>
        </p:txBody>
      </p:sp>
      <p:sp>
        <p:nvSpPr>
          <p:cNvPr id="33" name="Shape 30"/>
          <p:cNvSpPr/>
          <p:nvPr/>
        </p:nvSpPr>
        <p:spPr>
          <a:xfrm>
            <a:off x="9089136" y="3419856"/>
            <a:ext cx="2642616" cy="822960"/>
          </a:xfrm>
          <a:prstGeom prst="roundRect">
            <a:avLst>
              <a:gd name="adj" fmla="val 6667"/>
            </a:avLst>
          </a:prstGeom>
          <a:solidFill>
            <a:srgbClr val="EEF3FA"/>
          </a:solidFill>
          <a:ln w="9525">
            <a:solidFill>
              <a:srgbClr val="EEF3FA"/>
            </a:solidFill>
            <a:prstDash val="solid"/>
          </a:ln>
        </p:spPr>
      </p:sp>
      <p:sp>
        <p:nvSpPr>
          <p:cNvPr id="34" name="Text 31"/>
          <p:cNvSpPr txBox="1"/>
          <p:nvPr/>
        </p:nvSpPr>
        <p:spPr>
          <a:xfrm>
            <a:off x="9162288" y="3419856"/>
            <a:ext cx="2496312" cy="82296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أُفَضِّلُ المَلَابِسَ البَسِيطَةَ</a:t>
            </a:r>
            <a:endParaRPr lang="ar-SA" sz="2400" dirty="0"/>
          </a:p>
        </p:txBody>
      </p:sp>
      <p:sp>
        <p:nvSpPr>
          <p:cNvPr id="35" name="Shape 32"/>
          <p:cNvSpPr/>
          <p:nvPr/>
        </p:nvSpPr>
        <p:spPr>
          <a:xfrm>
            <a:off x="6336792" y="3419856"/>
            <a:ext cx="2642616" cy="822960"/>
          </a:xfrm>
          <a:prstGeom prst="roundRect">
            <a:avLst>
              <a:gd name="adj" fmla="val 6667"/>
            </a:avLst>
          </a:prstGeom>
          <a:solidFill>
            <a:srgbClr val="E8F4EC"/>
          </a:solidFill>
          <a:ln w="9525">
            <a:solidFill>
              <a:srgbClr val="E8F4EC"/>
            </a:solidFill>
            <a:prstDash val="solid"/>
          </a:ln>
        </p:spPr>
      </p:sp>
      <p:sp>
        <p:nvSpPr>
          <p:cNvPr id="36" name="Text 33"/>
          <p:cNvSpPr txBox="1"/>
          <p:nvPr/>
        </p:nvSpPr>
        <p:spPr>
          <a:xfrm>
            <a:off x="6409944" y="3419856"/>
            <a:ext cx="2496312" cy="82296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لِأَنَّنِي</a:t>
            </a:r>
            <a:pPr rtl="1" algn="ctr" indent="0" marL="0">
              <a:buNone/>
            </a:pPr>
            <a:r>
              <a:rPr lang="ar-SA" altLang="en-US" sz="2400" b="1" dirty="0">
                <a:solidFill>
                  <a:srgbClr val="1B3B6F"/>
                </a:solidFill>
                <a:latin typeface="Amiri" pitchFamily="2" charset="-78"/>
                <a:ea typeface="Amiri" pitchFamily="2" charset="-78"/>
                <a:cs typeface="Amiri" pitchFamily="2" charset="-78"/>
              </a:rPr>
              <a:t> أُحِبُّ الرَّاحَةَ،</a:t>
            </a:r>
            <a:endParaRPr lang="ar-SA" sz="2400" dirty="0"/>
          </a:p>
        </p:txBody>
      </p:sp>
      <p:sp>
        <p:nvSpPr>
          <p:cNvPr id="37" name="Shape 34"/>
          <p:cNvSpPr/>
          <p:nvPr/>
        </p:nvSpPr>
        <p:spPr>
          <a:xfrm>
            <a:off x="3584448" y="3419856"/>
            <a:ext cx="2642616" cy="822960"/>
          </a:xfrm>
          <a:prstGeom prst="roundRect">
            <a:avLst>
              <a:gd name="adj" fmla="val 6667"/>
            </a:avLst>
          </a:prstGeom>
          <a:solidFill>
            <a:srgbClr val="F1ECF7"/>
          </a:solidFill>
          <a:ln w="9525">
            <a:solidFill>
              <a:srgbClr val="F1ECF7"/>
            </a:solidFill>
            <a:prstDash val="solid"/>
          </a:ln>
        </p:spPr>
      </p:sp>
      <p:sp>
        <p:nvSpPr>
          <p:cNvPr id="38" name="Text 35"/>
          <p:cNvSpPr txBox="1"/>
          <p:nvPr/>
        </p:nvSpPr>
        <p:spPr>
          <a:xfrm>
            <a:off x="3657600" y="3419856"/>
            <a:ext cx="2496312" cy="82296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0E7C86"/>
                </a:solidFill>
                <a:latin typeface="Amiri" pitchFamily="2" charset="-78"/>
                <a:ea typeface="Amiri" pitchFamily="2" charset="-78"/>
                <a:cs typeface="Amiri" pitchFamily="2" charset="-78"/>
              </a:rPr>
              <a:t>بَيْنَمَا</a:t>
            </a:r>
            <a:pPr rtl="1" algn="ct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 هُوَ أَكْثَرُ اهْتِمَامًا بِالمَوْضَةِ مِنِّي.</a:t>
            </a:r>
            <a:endParaRPr lang="ar-SA" sz="1550" dirty="0"/>
          </a:p>
        </p:txBody>
      </p:sp>
      <p:sp>
        <p:nvSpPr>
          <p:cNvPr id="39" name="Text 36"/>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cs typeface="Amiri" pitchFamily="2" charset="-78"/>
              </a:rPr>
              <a:t>Core: steps 1–2. Develop: all three. Stretch: all three + a follow-up question to your partner.</a:t>
            </a:r>
            <a:endParaRPr lang="en-US" sz="12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88" b="1" spc="150" kern="0" dirty="0">
                <a:solidFill>
                  <a:srgbClr val="1B3B6F"/>
                </a:solidFill>
                <a:latin typeface="Calibri" pitchFamily="34" charset="0"/>
                <a:cs typeface="Amiri" pitchFamily="2" charset="-78"/>
              </a:rPr>
              <a:t>GRAMMAR FOCUS · PART 2 · KEEP THE CONVERSATION GOING (WEBSITE READING + MODEL)</a:t>
            </a:r>
            <a:endParaRPr lang="en-US" sz="88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Follow up · repair · disagree politely</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اِسْأَلْ · اِطْلُبْ · نَاقِشْ</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7160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FOLLOW UP · CORE</a:t>
            </a:r>
            <a:endParaRPr lang="en-US" sz="850" dirty="0"/>
          </a:p>
        </p:txBody>
      </p:sp>
      <p:sp>
        <p:nvSpPr>
          <p:cNvPr id="18" name="Text 15"/>
          <p:cNvSpPr txBox="1"/>
          <p:nvPr/>
        </p:nvSpPr>
        <p:spPr>
          <a:xfrm>
            <a:off x="9649968"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وَأَنْتَ؟ · لِمَاذَا؟</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وَأَنْتِ، كَيْفَ أُسْلُوبُكِ؟</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And you (f.), what is your style like?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To a boy -ka, to a girl -ki.</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165860" cy="274320"/>
          </a:xfrm>
          <a:prstGeom prst="roundRect">
            <a:avLst>
              <a:gd name="adj" fmla="val 50000"/>
            </a:avLst>
          </a:prstGeom>
          <a:solidFill>
            <a:srgbClr val="1E7B4F"/>
          </a:solidFill>
          <a:ln w="12700">
            <a:solidFill>
              <a:srgbClr val="1E7B4F"/>
            </a:solidFill>
            <a:prstDash val="solid"/>
          </a:ln>
        </p:spPr>
      </p:sp>
      <p:sp>
        <p:nvSpPr>
          <p:cNvPr id="25" name="Text 22"/>
          <p:cNvSpPr txBox="1"/>
          <p:nvPr/>
        </p:nvSpPr>
        <p:spPr>
          <a:xfrm>
            <a:off x="4413504"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REPAIR · CORE</a:t>
            </a:r>
            <a:endParaRPr lang="en-US" sz="850" dirty="0"/>
          </a:p>
        </p:txBody>
      </p:sp>
      <p:sp>
        <p:nvSpPr>
          <p:cNvPr id="26" name="Text 23"/>
          <p:cNvSpPr txBox="1"/>
          <p:nvPr/>
        </p:nvSpPr>
        <p:spPr>
          <a:xfrm>
            <a:off x="5625084"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إِعَادَةُ السُّؤَالِ</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هَلْ يُمْكِنُكَ إِعَادَةُ السُّؤَالِ؟ مَاذَا تَقْصِدُ بِـ «مُحْتَشِمٌ»؟</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Can you repeat the question? What do you mean by “modest”?</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Never stay silent.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DISAGREE · STRETCH</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أَفْهَمُ رَأْيَكَ، وَلٰكِنَّ …</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أَفْهَمُ رَأْيَكَ، وَلٰكِنَّنِي أَرَى أَنَّ الرَّاحَةَ أَهَمُّ.</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understand your view, but I think comfort is more important.</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Acknowledge, then contrast.</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A one-word answer ends the conversation.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نَعَمْ، لِأَنَّهُ يُسَاعِدُنِي دَائِمًا. وَأَنْتَ؟</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نَعَمْ.</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Developing answers and follow-up questions</a:t>
            </a:r>
            <a:endParaRPr lang="en-US" sz="21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750" b="1" dirty="0">
                <a:solidFill>
                  <a:srgbClr val="8A6D1E"/>
                </a:solidFill>
                <a:latin typeface="Amiri" pitchFamily="2" charset="-78"/>
                <a:ea typeface="Amiri" pitchFamily="2" charset="-78"/>
                <a:cs typeface="Amiri" pitchFamily="2" charset="-78"/>
              </a:rPr>
              <a:t>تَطْوِيرُ الإِجَابَةِ وَطَرْحُ أَسْئِلَةٍ تَابِعَةٍ</a:t>
            </a:r>
            <a:endParaRPr lang="ar-SA" sz="27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Start with a direct answer</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السُّؤَالُ ← جَوَابٌ مُبَاشِرٌ</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صِفْ صَدِيقَكَ. ← صَدِيقِي عُمَرُ وَدُودٌ وَصَادِقٌ.</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Add a reason or description</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 لِأَنَّ … / … وَ …</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أَثِقُ بِهِ لِأَنَّهُ يَسْتَمِعُ إِلَيَّ.</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Add an example or a comparison</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مَثَلًا … / أَكْثَرُ … مِنْ / بَيْنَمَا</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هُوَ أَكْثَرُ رَسْمِيَّةً مِنِّي، بَيْنَمَا أُفَضِّلُ الأُسْلُوبَ العَمَلِيَّ.</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Ask a follow-up and repair</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وَأَنْتَ؟ · لِمَاذَا؟ · هَلْ يُمْكِنُكَ إِعَادَةُ السُّؤَالِ؟</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وَأَنْتِ، كَيْفَ أُسْلُوبُكِ؟   ·   مَاذَا تَقْصِدُ بِـ «مُحْتَشِمٌ»؟</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to </a:t>
            </a:r>
            <a:pPr algn="l" indent="0" marL="0">
              <a:buNone/>
            </a:pPr>
            <a:r>
              <a:rPr lang="ar-SA" altLang="en-US" sz="1650" b="1" dirty="0">
                <a:solidFill>
                  <a:srgbClr val="1B3B6F"/>
                </a:solidFill>
                <a:latin typeface="Amiri" pitchFamily="2" charset="-78"/>
                <a:ea typeface="Amiri" pitchFamily="2" charset="-78"/>
                <a:cs typeface="Amiri" pitchFamily="2" charset="-78"/>
              </a:rPr>
              <a:t>صِفْ صَدِيقَكَ</a:t>
            </a:r>
            <a:pPr algn="l" indent="0" marL="0">
              <a:buNone/>
            </a:pPr>
            <a:r>
              <a:rPr lang="en-US" sz="1250" b="1" dirty="0">
                <a:solidFill>
                  <a:srgbClr val="1B3B6F"/>
                </a:solidFill>
                <a:latin typeface="Calibri" pitchFamily="34" charset="0"/>
                <a:cs typeface="Amiri" pitchFamily="2" charset="-78"/>
              </a:rPr>
              <a:t> is strongest?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نَعَمْ.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صَدِيقِي.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وَدُودٌ وَأَثِقُ بِهِ لِأَنَّهُ يَسْتَمِعُ إِلَيَّ.</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follow-up question?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وَأَنْتَ، مَا أُسْلُوبُكَ؟</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شُكْرًا.</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طَالِبٌ.</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did not understand. What do you say?</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يُمْكِنُكَ إِعَادَةُ السُّؤَالِ؟</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لَا أَعْرِفُ شَيْئًا.</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adds a comparison?</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أَكْثَرُ رَسْمِيَّةً مِنِّي.</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رَسْمِيٌّ.</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هُنَا.</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to </a:t>
            </a:r>
            <a:pPr algn="l" indent="0" marL="0">
              <a:buNone/>
            </a:pPr>
            <a:r>
              <a:rPr lang="ar-SA" altLang="en-US" sz="1650" b="1" dirty="0">
                <a:solidFill>
                  <a:srgbClr val="1B3B6F"/>
                </a:solidFill>
                <a:latin typeface="Amiri" pitchFamily="2" charset="-78"/>
                <a:ea typeface="Amiri" pitchFamily="2" charset="-78"/>
                <a:cs typeface="Amiri" pitchFamily="2" charset="-78"/>
              </a:rPr>
              <a:t>صِفْ صَدِيقَكَ</a:t>
            </a:r>
            <a:pPr algn="l" indent="0" marL="0">
              <a:buNone/>
            </a:pPr>
            <a:r>
              <a:rPr lang="en-US" sz="1250" b="1" dirty="0">
                <a:solidFill>
                  <a:srgbClr val="1B3B6F"/>
                </a:solidFill>
                <a:latin typeface="Calibri" pitchFamily="34" charset="0"/>
                <a:cs typeface="Amiri" pitchFamily="2" charset="-78"/>
              </a:rPr>
              <a:t> is strongest?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نَعَمْ.</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صَدِيقِي.</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هُوَ وَدُودٌ وَأَثِقُ بِهِ لِأَنَّهُ يَسْتَمِعُ إِلَيَّ.</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Direct answer + reason.</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follow-up question?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وَأَنْتَ، مَا أُسْلُوبُكَ؟</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شُكْرًا.</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 طَالِبٌ.</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turns the question back to the partner.</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did not understand. What do you say?</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هَلْ يُمْكِنُكَ إِعَادَةُ السُّؤَالِ؟</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 لَا أَعْرِفُ شَيْئًا.</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polite repair phrase.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adds a comparison?</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هُوَ أَكْثَرُ رَسْمِيَّةً مِنِّي.</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رَسْمِيٌّ.</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هُنَا.</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أَكْثَرُ … مِنْ.</a:t>
            </a:r>
            <a:endParaRPr lang="ar-SA" sz="13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Watch me climb the answer ladder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Question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صِفْ صَدِيقَكَ المُقَرَّبَ.</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What exactly is asked?</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Direct answer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1D5FBF"/>
                </a:solidFill>
                <a:latin typeface="Amiri" pitchFamily="2" charset="-78"/>
                <a:ea typeface="Amiri" pitchFamily="2" charset="-78"/>
                <a:cs typeface="Amiri" pitchFamily="2" charset="-78"/>
              </a:rPr>
              <a:t>صَدِيقِي عُمَرُ وَدُودٌ وَصَادِقٌ.</a:t>
            </a:r>
            <a:endParaRPr lang="ar-SA" sz="23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Answer first.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Reason + comparison</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أَثِقُ بِهِ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لِأَنَّهُ</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يَسْتَمِعُ إِلَيَّ، </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وَ</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هُوَ </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أَكْثَرُ</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رَسْمِيَّةً </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مِنِّي</a:t>
            </a:r>
            <a:pPr rtl="1" algn="ctr" indent="0" marL="0">
              <a:lnSpc>
                <a:spcPct val="120000"/>
              </a:lnSpc>
              <a:buNone/>
            </a:pPr>
            <a:r>
              <a:rPr lang="ar-SA" altLang="en-US" sz="1750" b="1" dirty="0">
                <a:solidFill>
                  <a:srgbClr val="1B3B6F"/>
                </a:solidFill>
                <a:latin typeface="Amiri" pitchFamily="2" charset="-78"/>
                <a:cs typeface="Amiri" pitchFamily="2" charset="-78"/>
              </a:rPr>
              <a:t>.</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Build.</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Follow-up</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وَأَنْتَ، مَنْ صَدِيقُكَ المُقَرَّبُ؟</a:t>
            </a:r>
            <a:endParaRPr lang="ar-SA" sz="22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Pass the ball.</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ANSWER / FOLLOW-UP</a:t>
            </a:r>
            <a:endParaRPr lang="en-US" sz="800" dirty="0"/>
          </a:p>
        </p:txBody>
      </p:sp>
      <p:sp>
        <p:nvSpPr>
          <p:cNvPr id="47" name="Shape 43"/>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REASON</a:t>
            </a:r>
            <a:endParaRPr lang="en-US" sz="800" dirty="0"/>
          </a:p>
        </p:txBody>
      </p:sp>
      <p:sp>
        <p:nvSpPr>
          <p:cNvPr id="49" name="Shape 45"/>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COMPARISON</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أ: صِفْ صَدِيقَكَ المُقَرَّبَ.  ب: </a:t>
            </a:r>
            <a:pPr rtl="1" algn="r" indent="0" marL="0">
              <a:lnSpc>
                <a:spcPct val="120000"/>
              </a:lnSpc>
              <a:buNone/>
            </a:pPr>
            <a:r>
              <a:rPr lang="ar-SA" altLang="en-US" sz="1550" b="1" dirty="0">
                <a:solidFill>
                  <a:srgbClr val="1D5FBF"/>
                </a:solidFill>
                <a:latin typeface="Amiri" pitchFamily="2" charset="-78"/>
                <a:ea typeface="Amiri" pitchFamily="2" charset="-78"/>
                <a:cs typeface="Amiri" pitchFamily="2" charset="-78"/>
              </a:rPr>
              <a:t>صَدِيقِي عُمَرُ وَدُودٌ وَصَادِقٌ،</a:t>
            </a:r>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 وَأَثِقُ بِهِ </a:t>
            </a:r>
            <a:pPr rtl="1" algn="r" indent="0" marL="0">
              <a:lnSpc>
                <a:spcPct val="120000"/>
              </a:lnSpc>
              <a:buNone/>
            </a:pPr>
            <a:r>
              <a:rPr lang="ar-SA" altLang="en-US" sz="1550" b="1" dirty="0">
                <a:solidFill>
                  <a:srgbClr val="0E7C86"/>
                </a:solidFill>
                <a:latin typeface="Amiri" pitchFamily="2" charset="-78"/>
                <a:ea typeface="Amiri" pitchFamily="2" charset="-78"/>
                <a:cs typeface="Amiri" pitchFamily="2" charset="-78"/>
              </a:rPr>
              <a:t>لِأَنَّهُ</a:t>
            </a:r>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 يَسْتَمِعُ إِلَيَّ. هُوَ </a:t>
            </a:r>
            <a:pPr rtl="1" algn="r" indent="0" marL="0">
              <a:lnSpc>
                <a:spcPct val="120000"/>
              </a:lnSpc>
              <a:buNone/>
            </a:pPr>
            <a:r>
              <a:rPr lang="ar-SA" altLang="en-US" sz="1550" b="1" dirty="0">
                <a:solidFill>
                  <a:srgbClr val="D6336C"/>
                </a:solidFill>
                <a:latin typeface="Amiri" pitchFamily="2" charset="-78"/>
                <a:ea typeface="Amiri" pitchFamily="2" charset="-78"/>
                <a:cs typeface="Amiri" pitchFamily="2" charset="-78"/>
              </a:rPr>
              <a:t>أَكْثَرُ</a:t>
            </a:r>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 رَسْمِيَّةً </a:t>
            </a:r>
            <a:pPr rtl="1" algn="r" indent="0" marL="0">
              <a:lnSpc>
                <a:spcPct val="120000"/>
              </a:lnSpc>
              <a:buNone/>
            </a:pPr>
            <a:r>
              <a:rPr lang="ar-SA" altLang="en-US" sz="1550" b="1" dirty="0">
                <a:solidFill>
                  <a:srgbClr val="D6336C"/>
                </a:solidFill>
                <a:latin typeface="Amiri" pitchFamily="2" charset="-78"/>
                <a:ea typeface="Amiri" pitchFamily="2" charset="-78"/>
                <a:cs typeface="Amiri" pitchFamily="2" charset="-78"/>
              </a:rPr>
              <a:t>مِنِّي</a:t>
            </a:r>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 بَيْنَمَا أُفَضِّلُ الأُسْلُوبَ العَمَلِيَّ. </a:t>
            </a:r>
            <a:pPr rtl="1" algn="r" indent="0" marL="0">
              <a:lnSpc>
                <a:spcPct val="120000"/>
              </a:lnSpc>
              <a:buNone/>
            </a:pPr>
            <a:r>
              <a:rPr lang="ar-SA" altLang="en-US" sz="1550" b="1" dirty="0">
                <a:solidFill>
                  <a:srgbClr val="1D5FBF"/>
                </a:solidFill>
                <a:latin typeface="Amiri" pitchFamily="2" charset="-78"/>
                <a:ea typeface="Amiri" pitchFamily="2" charset="-78"/>
                <a:cs typeface="Amiri" pitchFamily="2" charset="-78"/>
              </a:rPr>
              <a:t>وَأَنْتَ، مَنْ صَدِيقُكَ المُقَرَّبُ؟</a:t>
            </a:r>
            <a:endParaRPr lang="ar-SA" sz="155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A: Describe your close friend. B: My friend Omar is friendly and honest, and I trust him because he listens to me. He is more formal than me, whereas I prefer a practical style. And you, who is your close friend?</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صَدِيقِي عُمَرُ وَدُودٌ وَصَادِقٌ.</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My friend Omar is friendly and honest.</a:t>
            </a:r>
            <a:endParaRPr lang="en-US" sz="1250" dirty="0"/>
          </a:p>
          <a:p>
            <a:pPr indent="0" marL="0">
              <a:buNone/>
            </a:pPr>
            <a:r>
              <a:rPr lang="en-US" sz="1050" i="1" dirty="0">
                <a:solidFill>
                  <a:srgbClr val="8A6D1E"/>
                </a:solidFill>
                <a:latin typeface="Calibri" pitchFamily="34" charset="0"/>
                <a:cs typeface="Amiri" pitchFamily="2" charset="-78"/>
              </a:rPr>
              <a:t>Direct answer.</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أَثِقُ بِهِ لِأَنَّهُ يَسْتَمِعُ إِلَيَّ.</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trust him because he listens to me.</a:t>
            </a:r>
            <a:endParaRPr lang="en-US" sz="1250" dirty="0"/>
          </a:p>
          <a:p>
            <a:pPr indent="0" marL="0">
              <a:buNone/>
            </a:pPr>
            <a:r>
              <a:rPr lang="en-US" sz="1050" i="1" dirty="0">
                <a:solidFill>
                  <a:srgbClr val="8A6D1E"/>
                </a:solidFill>
                <a:latin typeface="Calibri" pitchFamily="34" charset="0"/>
                <a:cs typeface="Amiri" pitchFamily="2" charset="-78"/>
              </a:rPr>
              <a:t>Reason.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هُوَ أَكْثَرُ اهْتِمَامًا بِالمَوْضَةِ مِنِّي.</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is more interested in fashion than me.</a:t>
            </a:r>
            <a:endParaRPr lang="en-US" sz="1250" dirty="0"/>
          </a:p>
          <a:p>
            <a:pPr indent="0" marL="0">
              <a:buNone/>
            </a:pPr>
            <a:r>
              <a:rPr lang="en-US" sz="1050" i="1" dirty="0">
                <a:solidFill>
                  <a:srgbClr val="8A6D1E"/>
                </a:solidFill>
                <a:latin typeface="Calibri" pitchFamily="34" charset="0"/>
                <a:cs typeface="Amiri" pitchFamily="2" charset="-78"/>
              </a:rPr>
              <a:t>Comparison.</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وَأَنْتَ، مَنْ صَدِيقُكَ المُقَرَّبُ؟</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And you, who is your close friend?</a:t>
            </a:r>
            <a:endParaRPr lang="en-US" sz="1250" dirty="0"/>
          </a:p>
          <a:p>
            <a:pPr indent="0" marL="0">
              <a:buNone/>
            </a:pPr>
            <a:r>
              <a:rPr lang="en-US" sz="1050" i="1" dirty="0">
                <a:solidFill>
                  <a:srgbClr val="8A6D1E"/>
                </a:solidFill>
                <a:latin typeface="Calibri" pitchFamily="34" charset="0"/>
                <a:cs typeface="Amiri" pitchFamily="2" charset="-78"/>
              </a:rPr>
              <a:t>Follow-up question.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WHICH ANSWER CLIMBS HIGHER?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Upgrade the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طَوِّرِ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Question: </a:t>
            </a:r>
            <a:pPr algn="l" indent="0" marL="0">
              <a:buNone/>
            </a:pPr>
            <a:r>
              <a:rPr lang="ar-SA" altLang="en-US" sz="1650" b="1" dirty="0">
                <a:solidFill>
                  <a:srgbClr val="1B3B6F"/>
                </a:solidFill>
                <a:latin typeface="Amiri" pitchFamily="2" charset="-78"/>
                <a:ea typeface="Amiri" pitchFamily="2" charset="-78"/>
                <a:cs typeface="Amiri" pitchFamily="2" charset="-78"/>
              </a:rPr>
              <a:t>كَيْفَ تَتَفَاهَمُ مَعَ أَصْدِقَائِكَ؟</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جَيِّدًا.</a:t>
            </a:r>
            <a:endParaRPr lang="ar-SA" sz="19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أَتَفَاهَمُ مَعَهُمْ لِأَنَّنَا نَحْتَرِمُ بَعْضَنَا.</a:t>
            </a:r>
            <a:endParaRPr lang="ar-SA" sz="19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أَصْدِقَائِي.</a:t>
            </a:r>
            <a:endParaRPr lang="ar-SA" sz="19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Question: </a:t>
            </a:r>
            <a:pPr algn="l" indent="0" marL="0">
              <a:buNone/>
            </a:pPr>
            <a:r>
              <a:rPr lang="ar-SA" altLang="en-US" sz="1650" b="1" dirty="0">
                <a:solidFill>
                  <a:srgbClr val="1B3B6F"/>
                </a:solidFill>
                <a:latin typeface="Amiri" pitchFamily="2" charset="-78"/>
                <a:ea typeface="Amiri" pitchFamily="2" charset="-78"/>
                <a:cs typeface="Amiri" pitchFamily="2" charset="-78"/>
              </a:rPr>
              <a:t>مَا أُسْلُوبُكَ فِي المَلَابِسِ؟</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350" dirty="0">
                <a:solidFill>
                  <a:srgbClr val="1F2A37"/>
                </a:solidFill>
                <a:latin typeface="Amiri" pitchFamily="2" charset="-78"/>
                <a:ea typeface="Amiri" pitchFamily="2" charset="-78"/>
                <a:cs typeface="Amiri" pitchFamily="2" charset="-78"/>
              </a:rPr>
              <a:t>بَسِيطٌ.</a:t>
            </a:r>
            <a:endParaRPr lang="ar-SA" sz="13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350" dirty="0">
                <a:solidFill>
                  <a:srgbClr val="1F2A37"/>
                </a:solidFill>
                <a:latin typeface="Amiri" pitchFamily="2" charset="-78"/>
                <a:ea typeface="Amiri" pitchFamily="2" charset="-78"/>
                <a:cs typeface="Amiri" pitchFamily="2" charset="-78"/>
              </a:rPr>
              <a:t>نَعَمْ.</a:t>
            </a:r>
            <a:endParaRPr lang="ar-SA" sz="13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350" dirty="0">
                <a:solidFill>
                  <a:srgbClr val="1F2A37"/>
                </a:solidFill>
                <a:latin typeface="Amiri" pitchFamily="2" charset="-78"/>
                <a:ea typeface="Amiri" pitchFamily="2" charset="-78"/>
                <a:cs typeface="Amiri" pitchFamily="2" charset="-78"/>
              </a:rPr>
              <a:t>أُسْلُوبِي بَسِيطٌ وَعَمَلِيٌّ، بَيْنَمَا أُخْتِي تُفَضِّلُ الأَلْوَانَ.</a:t>
            </a:r>
            <a:endParaRPr lang="ar-SA" sz="13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Your partner said: </a:t>
            </a:r>
            <a:pPr algn="l" indent="0" marL="0">
              <a:buNone/>
            </a:pPr>
            <a:r>
              <a:rPr lang="ar-SA" altLang="en-US" sz="1650" b="1" dirty="0">
                <a:solidFill>
                  <a:srgbClr val="1B3B6F"/>
                </a:solidFill>
                <a:latin typeface="Amiri" pitchFamily="2" charset="-78"/>
                <a:ea typeface="Amiri" pitchFamily="2" charset="-78"/>
                <a:cs typeface="Amiri" pitchFamily="2" charset="-78"/>
              </a:rPr>
              <a:t>أُحِبُّ المَوْضَةَ</a:t>
            </a:r>
            <a:pPr algn="l" indent="0" marL="0">
              <a:buNone/>
            </a:pPr>
            <a:r>
              <a:rPr lang="en-US" sz="1250" b="1" dirty="0">
                <a:solidFill>
                  <a:srgbClr val="1B3B6F"/>
                </a:solidFill>
                <a:latin typeface="Calibri" pitchFamily="34" charset="0"/>
                <a:cs typeface="Amiri" pitchFamily="2" charset="-78"/>
              </a:rPr>
              <a:t>. Best follow-up?</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لِمَاذَا؟ وَمَا أُسْلُوبُكَ المُفَضَّلُ؟</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شُكْرًا.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أَيْضًا.</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didn’t understand </a:t>
            </a:r>
            <a:pPr algn="l" indent="0" marL="0">
              <a:buNone/>
            </a:pPr>
            <a:r>
              <a:rPr lang="ar-SA" altLang="en-US" sz="1650" b="1" dirty="0">
                <a:solidFill>
                  <a:srgbClr val="1B3B6F"/>
                </a:solidFill>
                <a:latin typeface="Amiri" pitchFamily="2" charset="-78"/>
                <a:ea typeface="Amiri" pitchFamily="2" charset="-78"/>
                <a:cs typeface="Amiri" pitchFamily="2" charset="-78"/>
              </a:rPr>
              <a:t>مُحْتَشِمٌ</a:t>
            </a:r>
            <a:pPr algn="l" indent="0" marL="0">
              <a:buNone/>
            </a:pPr>
            <a:r>
              <a:rPr lang="en-US" sz="1250" b="1" dirty="0">
                <a:solidFill>
                  <a:srgbClr val="1B3B6F"/>
                </a:solidFill>
                <a:latin typeface="Calibri" pitchFamily="34" charset="0"/>
                <a:cs typeface="Amiri" pitchFamily="2" charset="-78"/>
              </a:rPr>
              <a:t>. You say …</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أَعْرِفُ.</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تَقْصِدُ بِـ «مُحْتَشِمٌ»؟</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نَعَمْ.</a:t>
            </a:r>
            <a:endParaRPr lang="ar-SA" sz="20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0" name="Text 67"/>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The stronger answer:</a:t>
            </a:r>
            <a:endParaRPr lang="en-US" sz="1250" dirty="0"/>
          </a:p>
          <a:p>
            <a:pPr algn="l" indent="0" marL="0">
              <a:buNone/>
            </a:pPr>
            <a:r>
              <a:rPr lang="en-US" sz="1250" dirty="0">
                <a:solidFill>
                  <a:srgbClr val="1E6B52"/>
                </a:solidFill>
                <a:latin typeface="Calibri" pitchFamily="34" charset="0"/>
                <a:cs typeface="Amiri" pitchFamily="2" charset="-78"/>
              </a:rPr>
              <a:t>1. answers the question</a:t>
            </a:r>
            <a:endParaRPr lang="en-US" sz="1250" dirty="0"/>
          </a:p>
          <a:p>
            <a:pPr algn="l" indent="0" marL="0">
              <a:buNone/>
            </a:pPr>
            <a:r>
              <a:rPr lang="en-US" sz="1250" dirty="0">
                <a:solidFill>
                  <a:srgbClr val="1E6B52"/>
                </a:solidFill>
                <a:latin typeface="Calibri" pitchFamily="34" charset="0"/>
                <a:cs typeface="Amiri" pitchFamily="2" charset="-78"/>
              </a:rPr>
              <a:t>2. says WHY</a:t>
            </a:r>
            <a:endParaRPr lang="en-US" sz="1250" dirty="0"/>
          </a:p>
          <a:p>
            <a:pPr algn="l" indent="0" marL="0">
              <a:buNone/>
            </a:pPr>
            <a:r>
              <a:rPr lang="en-US" sz="1250" dirty="0">
                <a:solidFill>
                  <a:srgbClr val="1E6B52"/>
                </a:solidFill>
                <a:latin typeface="Calibri" pitchFamily="34" charset="0"/>
                <a:cs typeface="Amiri" pitchFamily="2" charset="-78"/>
              </a:rPr>
              <a:t>Develop: + example / comparison</a:t>
            </a:r>
            <a:endParaRPr lang="en-US" sz="12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UPGRADE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Upgrade the answer: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Question: </a:t>
            </a:r>
            <a:pPr algn="l" indent="0" marL="0">
              <a:buNone/>
            </a:pPr>
            <a:r>
              <a:rPr lang="ar-SA" altLang="en-US" sz="1650" b="1" dirty="0">
                <a:solidFill>
                  <a:srgbClr val="1B3B6F"/>
                </a:solidFill>
                <a:latin typeface="Amiri" pitchFamily="2" charset="-78"/>
                <a:ea typeface="Amiri" pitchFamily="2" charset="-78"/>
                <a:cs typeface="Amiri" pitchFamily="2" charset="-78"/>
              </a:rPr>
              <a:t>كَيْفَ تَتَفَاهَمُ مَعَ أَصْدِقَائِكَ؟</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جَيِّدًا.</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أَتَفَاهَمُ مَعَهُمْ لِأَنَّنَا نَحْتَرِمُ بَعْضَنَا.</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أَصْدِقَائِي.</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Answer + reason.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Question: </a:t>
            </a:r>
            <a:pPr algn="l" indent="0" marL="0">
              <a:buNone/>
            </a:pPr>
            <a:r>
              <a:rPr lang="ar-SA" altLang="en-US" sz="1650" b="1" dirty="0">
                <a:solidFill>
                  <a:srgbClr val="1B3B6F"/>
                </a:solidFill>
                <a:latin typeface="Amiri" pitchFamily="2" charset="-78"/>
                <a:ea typeface="Amiri" pitchFamily="2" charset="-78"/>
                <a:cs typeface="Amiri" pitchFamily="2" charset="-78"/>
              </a:rPr>
              <a:t>مَا أُسْلُوبُكَ فِي المَلَابِسِ؟</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350" dirty="0">
                <a:solidFill>
                  <a:srgbClr val="9AA1AB"/>
                </a:solidFill>
                <a:latin typeface="Amiri" pitchFamily="2" charset="-78"/>
                <a:ea typeface="Amiri" pitchFamily="2" charset="-78"/>
                <a:cs typeface="Amiri" pitchFamily="2" charset="-78"/>
              </a:rPr>
              <a:t>بَسِيطٌ.</a:t>
            </a:r>
            <a:endParaRPr lang="ar-SA" sz="13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350" dirty="0">
                <a:solidFill>
                  <a:srgbClr val="9AA1AB"/>
                </a:solidFill>
                <a:latin typeface="Amiri" pitchFamily="2" charset="-78"/>
                <a:ea typeface="Amiri" pitchFamily="2" charset="-78"/>
                <a:cs typeface="Amiri" pitchFamily="2" charset="-78"/>
              </a:rPr>
              <a:t>نَعَمْ.</a:t>
            </a:r>
            <a:endParaRPr lang="ar-SA" sz="13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2" charset="-78"/>
                <a:ea typeface="Amiri" pitchFamily="2" charset="-78"/>
                <a:cs typeface="Amiri" pitchFamily="2" charset="-78"/>
              </a:rPr>
              <a:t>أُسْلُوبِي بَسِيطٌ وَعَمَلِيٌّ، بَيْنَمَا أُخْتِي تُفَضِّلُ الأَلْوَانَ.</a:t>
            </a:r>
            <a:endParaRPr lang="ar-SA" sz="13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Answer + comparison.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Your partner said: </a:t>
            </a:r>
            <a:pPr algn="l" indent="0" marL="0">
              <a:buNone/>
            </a:pPr>
            <a:r>
              <a:rPr lang="ar-SA" altLang="en-US" sz="1650" b="1" dirty="0">
                <a:solidFill>
                  <a:srgbClr val="1B3B6F"/>
                </a:solidFill>
                <a:latin typeface="Amiri" pitchFamily="2" charset="-78"/>
                <a:ea typeface="Amiri" pitchFamily="2" charset="-78"/>
                <a:cs typeface="Amiri" pitchFamily="2" charset="-78"/>
              </a:rPr>
              <a:t>أُحِبُّ المَوْضَةَ</a:t>
            </a:r>
            <a:pPr algn="l" indent="0" marL="0">
              <a:buNone/>
            </a:pPr>
            <a:r>
              <a:rPr lang="en-US" sz="1250" b="1" dirty="0">
                <a:solidFill>
                  <a:srgbClr val="1B3B6F"/>
                </a:solidFill>
                <a:latin typeface="Calibri" pitchFamily="34" charset="0"/>
                <a:cs typeface="Amiri" pitchFamily="2" charset="-78"/>
              </a:rPr>
              <a:t>. Best follow-up?</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لِمَاذَا؟ وَمَا أُسْلُوبُكَ المُفَضَّلُ؟</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شُكْرًا.</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 أَيْضًا.</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Ask why / ask for more.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didn’t understand </a:t>
            </a:r>
            <a:pPr algn="l" indent="0" marL="0">
              <a:buNone/>
            </a:pPr>
            <a:r>
              <a:rPr lang="ar-SA" altLang="en-US" sz="1650" b="1" dirty="0">
                <a:solidFill>
                  <a:srgbClr val="1B3B6F"/>
                </a:solidFill>
                <a:latin typeface="Amiri" pitchFamily="2" charset="-78"/>
                <a:ea typeface="Amiri" pitchFamily="2" charset="-78"/>
                <a:cs typeface="Amiri" pitchFamily="2" charset="-78"/>
              </a:rPr>
              <a:t>مُحْتَشِمٌ</a:t>
            </a:r>
            <a:pPr algn="l" indent="0" marL="0">
              <a:buNone/>
            </a:pPr>
            <a:r>
              <a:rPr lang="en-US" sz="1250" b="1" dirty="0">
                <a:solidFill>
                  <a:srgbClr val="1B3B6F"/>
                </a:solidFill>
                <a:latin typeface="Calibri" pitchFamily="34" charset="0"/>
                <a:cs typeface="Amiri" pitchFamily="2" charset="-78"/>
              </a:rPr>
              <a:t>. You say …</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أَعْرِفُ.</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مَاذَا تَقْصِدُ بِـ «مُحْتَشِمٌ»؟</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نَعَمْ.</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Repair politely.</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8" name="Text 75"/>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The stronger answer:</a:t>
            </a:r>
            <a:endParaRPr lang="en-US" sz="1250" dirty="0"/>
          </a:p>
          <a:p>
            <a:pPr algn="l" indent="0" marL="0">
              <a:buNone/>
            </a:pPr>
            <a:r>
              <a:rPr lang="en-US" sz="1250" dirty="0">
                <a:solidFill>
                  <a:srgbClr val="1E6B52"/>
                </a:solidFill>
                <a:latin typeface="Calibri" pitchFamily="34" charset="0"/>
                <a:cs typeface="Amiri" pitchFamily="2" charset="-78"/>
              </a:rPr>
              <a:t>1. answers the question</a:t>
            </a:r>
            <a:endParaRPr lang="en-US" sz="1250" dirty="0"/>
          </a:p>
          <a:p>
            <a:pPr algn="l" indent="0" marL="0">
              <a:buNone/>
            </a:pPr>
            <a:r>
              <a:rPr lang="en-US" sz="1250" dirty="0">
                <a:solidFill>
                  <a:srgbClr val="1E6B52"/>
                </a:solidFill>
                <a:latin typeface="Calibri" pitchFamily="34" charset="0"/>
                <a:cs typeface="Amiri" pitchFamily="2" charset="-78"/>
              </a:rPr>
              <a:t>2. says WHY</a:t>
            </a:r>
            <a:endParaRPr lang="en-US" sz="1250" dirty="0"/>
          </a:p>
          <a:p>
            <a:pPr algn="l" indent="0" marL="0">
              <a:buNone/>
            </a:pPr>
            <a:r>
              <a:rPr lang="en-US" sz="1250" dirty="0">
                <a:solidFill>
                  <a:srgbClr val="1E6B52"/>
                </a:solidFill>
                <a:latin typeface="Calibri" pitchFamily="34" charset="0"/>
                <a:cs typeface="Amiri" pitchFamily="2" charset="-78"/>
              </a:rPr>
              <a:t>Develop: + example / comparison</a:t>
            </a:r>
            <a:endParaRPr lang="en-US" sz="12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part of the answer ladder?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صَدِيقِي عُمَرُ وَدُودٌ.</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أُسْلُوبِي بَسِيطٌ.</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لِأَنَّهُ يَسْتَمِعُ إِلَيَّ.</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مَثَلًا، يُسَاعِدُنِي فِي الوَاجِبِ.</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أَكْثَرُ رَسْمِيَّةً مِنِّي.</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وَأَنْتَ؟</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هَلْ يُمْكِنُكَ إِعَادَةُ السُّؤَالِ؟</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تَقْصِدُ بِـ …؟</a:t>
            </a:r>
            <a:endParaRPr lang="ar-SA" sz="1800" dirty="0"/>
          </a:p>
        </p:txBody>
      </p:sp>
      <p:sp>
        <p:nvSpPr>
          <p:cNvPr id="31" name="Shape 28"/>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Direct answer</a:t>
            </a:r>
            <a:endParaRPr lang="en-US" sz="950" dirty="0"/>
          </a:p>
        </p:txBody>
      </p:sp>
      <p:sp>
        <p:nvSpPr>
          <p:cNvPr id="34" name="Shape 31"/>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Development</a:t>
            </a:r>
            <a:endParaRPr lang="en-US" sz="950" dirty="0"/>
          </a:p>
        </p:txBody>
      </p:sp>
      <p:sp>
        <p:nvSpPr>
          <p:cNvPr id="37" name="Shape 34"/>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8" name="Shape 35"/>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Follow-up or repair</a:t>
            </a:r>
            <a:endParaRPr lang="en-US" sz="9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Direct answer</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صَدِيقِي عُمَرُ وَدُودٌ.</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أُسْلُوبِي بَسِيطٌ.</a:t>
            </a:r>
            <a:endParaRPr lang="ar-SA" sz="1800" dirty="0"/>
          </a:p>
        </p:txBody>
      </p:sp>
      <p:sp>
        <p:nvSpPr>
          <p:cNvPr id="22" name="Shape 19"/>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3" name="Shape 20"/>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4" name="Text 21"/>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Development</a:t>
            </a:r>
            <a:endParaRPr lang="en-US" sz="950" dirty="0"/>
          </a:p>
        </p:txBody>
      </p:sp>
      <p:sp>
        <p:nvSpPr>
          <p:cNvPr id="25" name="Shape 22"/>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لِأَنَّهُ يَسْتَمِعُ إِلَيَّ.</a:t>
            </a:r>
            <a:endParaRPr lang="ar-SA" sz="1800" dirty="0"/>
          </a:p>
        </p:txBody>
      </p:sp>
      <p:sp>
        <p:nvSpPr>
          <p:cNvPr id="27" name="Shape 24"/>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مَثَلًا، يُسَاعِدُنِي فِي الوَاجِبِ.</a:t>
            </a:r>
            <a:endParaRPr lang="ar-SA" sz="1800" dirty="0"/>
          </a:p>
        </p:txBody>
      </p:sp>
      <p:sp>
        <p:nvSpPr>
          <p:cNvPr id="29" name="Shape 26"/>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أَكْثَرُ رَسْمِيَّةً مِنِّي.</a:t>
            </a:r>
            <a:endParaRPr lang="ar-SA" sz="1800" dirty="0"/>
          </a:p>
        </p:txBody>
      </p:sp>
      <p:sp>
        <p:nvSpPr>
          <p:cNvPr id="31" name="Shape 28"/>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2" name="Shape 29"/>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Follow-up or repair</a:t>
            </a:r>
            <a:endParaRPr lang="en-US" sz="950" dirty="0"/>
          </a:p>
        </p:txBody>
      </p:sp>
      <p:sp>
        <p:nvSpPr>
          <p:cNvPr id="34" name="Shape 31"/>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وَأَنْتَ؟</a:t>
            </a:r>
            <a:endParaRPr lang="ar-SA" sz="1800" dirty="0"/>
          </a:p>
        </p:txBody>
      </p:sp>
      <p:sp>
        <p:nvSpPr>
          <p:cNvPr id="36" name="Shape 33"/>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هَلْ يُمْكِنُكَ إِعَادَةُ السُّؤَالِ؟</a:t>
            </a:r>
            <a:endParaRPr lang="ar-SA" sz="1800" dirty="0"/>
          </a:p>
        </p:txBody>
      </p:sp>
      <p:sp>
        <p:nvSpPr>
          <p:cNvPr id="38" name="Shape 35"/>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تَقْصِدُ بِـ …؟</a:t>
            </a:r>
            <a:endParaRPr lang="ar-SA" sz="18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adds an example?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رَأْيِي.</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مَثَلًا، يُسَاعِدُنِي فِي الوَاجِبِ.</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GIRL about her style.</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أُسْلُوبُكَ؟</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أُسْلُوبُكِ؟</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أُسْلُوبُهُ؟</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asks for a reason?</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مَتَى؟</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لِمَاذَا؟</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shows you disagree politely?</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أَنْتَ مُخْطِئٌ.</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أُرِيدُ.</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أَفْهَمُ رَأْيَكَ، وَلٰكِنَّنِي أَرَى أَنَّ …</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adds an example?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رَأْيِي.</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مَثَلًا، يُسَاعِدُنِي فِي الوَاجِبِ.</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مَثَلًا</a:t>
            </a:r>
            <a:pPr algn="l" indent="0" marL="0">
              <a:buNone/>
            </a:pPr>
            <a:r>
              <a:rPr lang="en-US" sz="1050" i="1" dirty="0">
                <a:solidFill>
                  <a:srgbClr val="8A6D1E"/>
                </a:solidFill>
                <a:latin typeface="Calibri" pitchFamily="34" charset="0"/>
                <a:cs typeface="Amiri" pitchFamily="2" charset="-78"/>
              </a:rPr>
              <a:t> introduces an example.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GIRL about her style.</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 أُسْلُوبُكَ؟</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مَا أُسْلُوبُكِ؟</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 أُسْلُوبُهُ؟</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To a girl: -ki.</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asks for a reason?</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مَتَى؟</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لِمَاذَا؟</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أَيْنَ؟</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Why?</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shows you disagree politely?</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أَنْتَ مُخْطِئٌ.</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أُرِيدُ.</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أَفْهَمُ رَأْيَكَ، وَلٰكِنَّنِي أَرَى أَنَّ …</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Acknowledge, then contrast.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صِفْ صَدِيقَكَ. — نَعَمْ.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Did it answer the question? Why?</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أَنْتَ مُخْطِئٌ.</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Polite or rude?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مَا أُسْلُوبُكَ؟</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Talking to a girl: -ka or -ki?</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صِفْ صَدِيقَكَ. — نَعَمْ.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صِفْ صَدِيقَكَ. — صَدِيقِي وَدُودٌ لِأَنَّهُ يُسَاعِدُنِي.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Answer the question and add a reason.</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أَنْتَ مُخْطِئٌ.</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أَفْهَمُ رَأْيَكَ، وَلٰكِنَّنِي أَرَى أَنَّ …</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Disagree politely.</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مَا أُسْلُوبُكَ؟</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مَا أُسْلُوبُكِ؟</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To a girl: -ki.</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Listening focus: topic conversation</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student asked about first?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closest friend</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family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school</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else is he asked?</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where his friend lives</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friend’s age</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what he likes about his friend’s personality</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compared?</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their marks</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their families</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their styles of clothing</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he answer?</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connected sentences</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yes / no</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English</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add to his answers?</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joke</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evidence and a comparison</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price</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do at the end?</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asks the interviewer a follow-up question</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says goodbye</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stops talking</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6.</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أَقْرَبِ صَدِيقٍ</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المَلَابِسِ</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سُؤَالًا تَابِعًا</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مُحَادَثَةٍ، يُسْأَلُ الطَّالِبُ عَنْ أَقْرَبِ صَدِيقٍ لَهُ،</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conversation, the student is asked about his closest friend,</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وَمَا يُعْجِبُهُ فِي شَخْصِيَّتِهِ، وَكَيْفَ يَخْتَلِفُ أُسْلُوبُهُمَا فِي المَلَابِسِ.</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what he likes about his personality, and how their clothing styles differ.</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يُجِيبُ بِجُمَلٍ مُتَّصِلَةٍ وَيُقَدِّمُ دَلِيلًا وَمُقَارَنَةً،</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answers in connected sentences and gives evidence and a comparison,</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ثُمَّ يَسْأَلُ المُحَاوِرَ سُؤَالًا تَابِعًا.</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then asks the interviewer a follow-up question.</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student asked about first?</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his closest friend</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 family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 school</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يُسْأَلُ الطَّالِبُ عَنْ أَقْرَبِ صَدِيقٍ لَهُ.</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else is he asked?</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where his friend lives</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 friend’s age</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what he likes about his friend’s personality</a:t>
            </a:r>
            <a:endParaRPr lang="en-US" sz="11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وَمَا يُعْجِبُهُ فِي شَخْصِيَّتِهِ.</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compared?</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their marks</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their families</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their styles of clothing</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كَيْفَ يَخْتَلِفُ أُسْلُوبُهُمَا فِي المَلَابِسِ.</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he answer?</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connected sentences</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yes / no</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English</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يُجِيبُ بِجُمَلٍ مُتَّصِلَةٍ.</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add to his answers?</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joke</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evidence and a comparison</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price</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يُقَدِّمُ دَلِيلًا وَمُقَارَنَةً.</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do at the end?</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asks the interviewer a follow-up question</a:t>
            </a:r>
            <a:endParaRPr lang="en-US" sz="11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says goodbye</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stops talking</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ثُمَّ يَسْأَلُ المُحَاوِرَ سُؤَالًا تَابِعًا.</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6.</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أَقْرَبِ صَدِيقٍ</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المَلَابِسِ</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سُؤَالًا تَابِعًا</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TOPIC B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Speak–upgrade–write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B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Speak–upgrade–write</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Give a 30-second Topic B response, improve it with a comparison and reason, then convert the strongest version into a connected written paragraph.</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Choose a Topic B question (family, home, clothes or free time).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30 seconds: answer it aloud (muted rehearsal, then two on the mic).</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Upgrade: add ONE comparison and ONE reason.</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Write the upgraded answer as a connected paragraph (continues into the writing task).</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sentences: an answer, one detail and a reason (li’anna).</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comparison (akbaru min / aktharu min) and a connector.</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time frames: now, last year, next year — each clearly marked.</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أَكْبَرُ مِنْ / أَجْمَلُ مِنْ</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bigger than / more beautiful than</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العَامِ المَاضِي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last year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المُسْتَقْبَلِ سَـ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the future I will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Developed speaking: topic conversation</a:t>
            </a:r>
            <a:endParaRPr lang="en-US" sz="24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شَخْصًا مُهِمًّا فِي حَيَاتِكَ.</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تَتَفَاهَمُ مَعَ أَصْدِقَائِكَ؟</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أُسْلُوبُكَ فِي المَلَابِسِ؟</a:t>
            </a:r>
            <a:endParaRPr lang="ar-SA" sz="1800" dirty="0"/>
          </a:p>
        </p:txBody>
      </p:sp>
      <p:sp>
        <p:nvSpPr>
          <p:cNvPr id="44" name="Shape 41"/>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6" name="Text 43"/>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7" name="Text 44"/>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قَارِنْ بَيْنَكَ وَبَيْنَ شَخْصٍ آخَرَ.</a:t>
            </a:r>
            <a:endParaRPr lang="ar-SA" sz="1800" dirty="0"/>
          </a:p>
        </p:txBody>
      </p:sp>
      <p:sp>
        <p:nvSpPr>
          <p:cNvPr id="48" name="Shape 45"/>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50" name="Shape 47"/>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450" b="1" dirty="0">
                <a:solidFill>
                  <a:srgbClr val="1D5FBF"/>
                </a:solidFill>
                <a:latin typeface="Amiri" pitchFamily="2" charset="-78"/>
                <a:ea typeface="Amiri" pitchFamily="2" charset="-78"/>
                <a:cs typeface="Amiri" pitchFamily="2" charset="-78"/>
              </a:rPr>
              <a:t>___ مُهِمٌّ / مُهِمَّةٌ لِي لِأَنَّهُ / لِأَنَّهَا ___ .</a:t>
            </a:r>
            <a:endParaRPr lang="ar-SA" sz="1450" dirty="0"/>
          </a:p>
        </p:txBody>
      </p:sp>
      <p:sp>
        <p:nvSpPr>
          <p:cNvPr id="53" name="Shape 50"/>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4" name="Text 51"/>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5" name="Text 52"/>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أَتَفَاهَمُ مَعَ أَصْدِقَائِي لِأَنَّ ___ ؛ مَثَلًا ___ .</a:t>
            </a:r>
            <a:endParaRPr lang="ar-SA" sz="1400" dirty="0"/>
          </a:p>
        </p:txBody>
      </p:sp>
      <p:sp>
        <p:nvSpPr>
          <p:cNvPr id="56" name="Shape 53"/>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7" name="Text 54"/>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8" name="Text 55"/>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أُسْلُوبِي ___ ، بَيْنَمَا ___ .</a:t>
            </a:r>
            <a:endParaRPr lang="ar-SA" sz="1600" dirty="0"/>
          </a:p>
        </p:txBody>
      </p:sp>
      <p:sp>
        <p:nvSpPr>
          <p:cNvPr id="59" name="Shape 56"/>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60" name="Text 57"/>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61" name="Text 58"/>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أَنَا أَكْثَرُ ___ مِنْ ___ ، وَلٰكِنَّ ___ . وَأَنْتَ؟</a:t>
            </a:r>
            <a:endParaRPr lang="ar-SA" sz="1400" dirty="0"/>
          </a:p>
        </p:txBody>
      </p:sp>
      <p:sp>
        <p:nvSpPr>
          <p:cNvPr id="62" name="Shape 59"/>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4" name="Shape 61"/>
          <p:cNvSpPr/>
          <p:nvPr/>
        </p:nvSpPr>
        <p:spPr>
          <a:xfrm>
            <a:off x="11274552" y="5559552"/>
            <a:ext cx="292608" cy="292608"/>
          </a:xfrm>
          <a:prstGeom prst="ellipse">
            <a:avLst/>
          </a:prstGeom>
          <a:solidFill>
            <a:srgbClr val="1E6B52"/>
          </a:solidFill>
          <a:ln w="12700">
            <a:solidFill>
              <a:srgbClr val="1E6B52"/>
            </a:solidFill>
            <a:prstDash val="solid"/>
          </a:ln>
        </p:spPr>
      </p:sp>
      <p:sp>
        <p:nvSpPr>
          <p:cNvPr id="65" name="Text 62"/>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6" name="Text 63"/>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صِفْ صَدِيقَكَ المُقَرَّبَ.</a:t>
            </a:r>
            <a:endParaRPr lang="ar-SA" sz="1550" dirty="0"/>
          </a:p>
        </p:txBody>
      </p:sp>
      <p:sp>
        <p:nvSpPr>
          <p:cNvPr id="67" name="Text 64"/>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Describe your close friend.</a:t>
            </a:r>
            <a:endParaRPr lang="en-US" sz="950" dirty="0"/>
          </a:p>
        </p:txBody>
      </p:sp>
      <p:sp>
        <p:nvSpPr>
          <p:cNvPr id="68" name="Shape 65"/>
          <p:cNvSpPr/>
          <p:nvPr/>
        </p:nvSpPr>
        <p:spPr>
          <a:xfrm>
            <a:off x="11274552" y="5925312"/>
            <a:ext cx="292608" cy="292608"/>
          </a:xfrm>
          <a:prstGeom prst="ellipse">
            <a:avLst/>
          </a:prstGeom>
          <a:solidFill>
            <a:srgbClr val="1E6B52"/>
          </a:solidFill>
          <a:ln w="12700">
            <a:solidFill>
              <a:srgbClr val="1E6B52"/>
            </a:solidFill>
            <a:prstDash val="solid"/>
          </a:ln>
        </p:spPr>
      </p:sp>
      <p:sp>
        <p:nvSpPr>
          <p:cNvPr id="69" name="Text 66"/>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70" name="Text 67"/>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هُوَ وَدُودٌ وَصَادِقٌ، وَأَثِقُ بِهِ لِأَنَّهُ يَسْتَمِعُ إِلَيَّ.</a:t>
            </a:r>
            <a:endParaRPr lang="ar-SA" sz="1550" dirty="0"/>
          </a:p>
        </p:txBody>
      </p:sp>
      <p:sp>
        <p:nvSpPr>
          <p:cNvPr id="71" name="Text 68"/>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He is friendly and honest; I trust him because he listens to me.</a:t>
            </a:r>
            <a:endParaRPr lang="en-US" sz="9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Q + A</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Prepare cue cards: answer four conversation questions with a reason.</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Write answers to four questions: direct answer + reason each.</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 Q + A</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Build developed answers and follow-ups.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Answers with a reason and an example or comparison; add two follow-up questions.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then reduce to cue words.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 written rehearsal (questions + developed answers) — then reduce it to cue words. Do not memorise it.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مَثَلًا ،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For example,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 هِيَ أَكْثَرُ ______ مِنِّي.</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is more … than me.</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بَيْنَمَا أُفَضِّلُ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whereas I prefer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تَقْصِدُ بِـ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What do you mean by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أَفْهَمُ رَأْيَكَ، وَلٰكِنَّنِي أَرَى أَنَّ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understand your view, but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صَدِيقِي / صَدِيقَتِي ______ ______ وَ ______ .</a:t>
            </a:r>
            <a:endParaRPr lang="ar-SA" sz="17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 … is … and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أَثِقُ بِهِ / بِهَا لِأَنَّ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trust him / her because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أُسْلُوبِي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style is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وَأَنْتَ؟ / وَأَنْتِ؟</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you?</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يُمْكِنُكَ إِعَادَةُ السُّؤَالِ؟</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Can you repeat the question?</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وَدُودٌ  ·  صَادِقٌ  ·  أَثِقُ بِهِ  ·  يَدْعَمُنِي  ·  لِأَنَّ  ·  مَثَلًا  ·  أَكْثَرُ … مِنْ  ·  بَيْنَمَا  ·  وَأَنْتَ؟  ·  لِمَاذَا؟  ·  إِعَادَةُ السُّؤَالِ  ·  مَاذَا تَقْصِدُ؟</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46</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Prepare a 100–120-word written rehearsal for a topic conversation about a person, relationship and personal style. Include possible questions and developed answers, but do not memorise it word for word.</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Cover every requested content point.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the target grammar accurately.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precise vocabulary from this lesson.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a reason, comparison or contrast.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Review agreement, pronoun reference and connectors.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أَكْثَرُ اهْتِمَامًا بِالمَوْضَةِ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more interested in fashion</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الصِّدْقُ يَبْنِي الثِّقَةَ</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honesty builds trust</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نَتَكَلَّمُ بِهُدُوءٍ وَنَتَصَالَحُ</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talk calmly and make up</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أَفْهَمُ رَأْيَكَ، وَلٰكِنَّ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understand your view, but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سُؤَالٌ جَيِّدٌ! فِي رَأْيِي …</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that’s a good question! In my opinion …</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46</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س: صِفْ صَدِيقًا مُقَرَّبًا. ج: صَدِيقِي عُمَرُ وَدُودٌ وَصَادِقٌ، وَأَثِقُ بِهِ لِأَنَّهُ يَسْتَمِعُ إِلَيَّ. س: كَيْفَ يَخْتَلِفُ أُسْلُوبُكُمَا؟ ج: أَنَا أُفَضِّلُ المَلَابِسَ البَسِيطَةَ، بَيْنَمَا هُوَ أَكْثَرُ اهْتِمَامًا بِالمَوْضَةِ. س: مَا أَهَمُّ صِفَةٍ فِي الصَّدِيقِ؟ ج: فِي رَأْيِي، الصِّدْقُ أَهَمُّ صِفَةٍ لِأَنَّهُ يَبْنِي الثِّقَةَ. س: هَلْ يُمْكِنُ أَنْ تَخْتَلِفَا؟ ج: نَعَمْ، وَلٰكِنَّنَا نَتَكَلَّمُ بِهُدُوءٍ وَنَتَصَالَحُ.</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Q: Describe a close friend. A: My friend Omar is friendly and honest, and I trust him because he listens to me. Q: How do your styles differ? A: I prefer simple clothes, whereas he is more interested in fashion. Q: What is the most important quality in a friend? A: In my opinion, honesty is the most important quality because it builds trust. Q: Can you two disagree? A: Yes, but we talk calmly and make up.</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reason in each answer</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comparison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opinion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reciprocal “we” verbs</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46</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answer answers the question directly.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answer has a reason.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an example or a comparison.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asked at least one follow-up question.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spoke from cue words, not a script.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46</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is strongest?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أُسْلُوبِي بَسِيطٌ لِأَنَّنِي أُحِبُّ الرَّاحَةَ.</a:t>
            </a:r>
            <a:endParaRPr lang="ar-SA" sz="200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بَسِيطٌ.</a:t>
            </a:r>
            <a:endParaRPr lang="ar-SA" sz="200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نَعَمْ.</a:t>
            </a:r>
            <a:endParaRPr lang="ar-SA" sz="200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repair phrase?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وَأَنْتَ؟</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يُمْكِنُكَ إِعَادَةُ السُّؤَالِ؟</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مَثَلًا</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introduces an example?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مَثَلًا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بَيْنَمَا</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46</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is strongest?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أُسْلُوبِي بَسِيطٌ لِأَنَّنِي أُحِبُّ الرَّاحَةَ.</a:t>
            </a:r>
            <a:endParaRPr lang="ar-SA" sz="200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00" dirty="0">
                <a:solidFill>
                  <a:srgbClr val="9AA1AB"/>
                </a:solidFill>
                <a:latin typeface="Amiri" pitchFamily="2" charset="-78"/>
                <a:ea typeface="Amiri" pitchFamily="2" charset="-78"/>
                <a:cs typeface="Amiri" pitchFamily="2" charset="-78"/>
              </a:rPr>
              <a:t>بَسِيطٌ.</a:t>
            </a:r>
            <a:endParaRPr lang="ar-SA" sz="200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9AA1AB"/>
                </a:solidFill>
                <a:latin typeface="Amiri" pitchFamily="2" charset="-78"/>
                <a:ea typeface="Amiri" pitchFamily="2" charset="-78"/>
                <a:cs typeface="Amiri" pitchFamily="2" charset="-78"/>
              </a:rPr>
              <a:t>نَعَمْ.</a:t>
            </a:r>
            <a:endParaRPr lang="ar-SA" sz="200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Answer + reason.</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repair phrase?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وَأَنْتَ؟</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هَلْ يُمْكِنُكَ إِعَادَةُ السُّؤَالِ؟</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مَثَلًا</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asks for the question again.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introduces an example?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مَثَلًا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لِأَنَّ</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بَيْنَمَا</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mathalan = for example.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46</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focus: topic conversation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نَصٌّ تَدْرِيبِيٌّ لِمُحَادَثَةٍ: لَا تَكْفِي إِجَابَةُ «نَعَمْ» أَوْ «لَا». الإِجَابَةُ القَوِيَّةُ تَبْدَأُ بِجَوَابٍ مُبَاشِرٍ، ثُمَّ تُضِيفُ وَصْفًا أَوْ سَبَبًا، وَبَعْدَ ذٰلِكَ مِثَالًا أَوْ مُقَارَنَةً. عِنْدَمَا لَا تَفْهَمُ السُّؤَالَ، يُمْكِنُكَ أَنْ تَقُولَ: هَلْ يُمْكِنُكَ إِعَادَةُ السُّؤَالِ؟ أَوْ مَاذَا تَقْصِدُ بِـ...؟</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نَصٌّ تَدْرِيبِيٌّ</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practice text</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لَا تَكْفِي</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is not enough</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إِجَابَةُ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answer</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تَبْدَأُ بِـ</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starts with</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مُبَاشِرٍ</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direct</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تُضِيفُ</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adds</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وَصْفًا</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description</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عِنْدَمَا لَا تَفْهَمُ</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when you don’t understand</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إِعَادَةُ السُّؤَالِ</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repeating the question</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مَاذَا تَقْصِدُ بِـ</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what do you mean by</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46</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kind of text is this?</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story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practice guide for conversations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advert</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not enough?</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giving a reason</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giving an example</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answering “yes” or “no”</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a strong answer start?</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direct answer</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question</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an example</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comes next?</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goodbye</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description or a reason</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price</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And after that?</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example or a comparison</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same answer again</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silence</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can you say if you don’t understand?</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don’t want to answer.</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Can you repeat the question?</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46</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kind of text is this?</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story</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 practice guide for conversations</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advert</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نَصٌّ تَدْرِيبِيٌّ لِمُحَادَثَةٍ.</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not enough?</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giving a reason</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giving an example</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answering “yes” or “no”</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تَكْفِي إِجَابَةُ «نَعَمْ» أَوْ «لَا».</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a strong answer start?</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with a direct answer</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a question</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an example</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تَبْدَأُ بِجَوَابٍ مُبَاشِرٍ.</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comes next?</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goodbye</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description or a reason</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price</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ثُمَّ تُضِيفُ وَصْفًا أَوْ سَبَبًا.</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And after that?</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an example or a comparison</a:t>
            </a:r>
            <a:endParaRPr lang="en-US" sz="120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same answer again</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silence</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وَبَعْدَ ذٰلِكَ مِثَالًا أَوْ مُقَارَنَةً.</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can you say if you don’t understand?</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don’t want to answer.</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Can you repeat the question?</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هَلْ يُمْكِنُكَ إِعَادَةُ السُّؤَالِ؟</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46</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TB-L11 · Speaking and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TB-L12: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TB-L11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TB-L12 · Topic B Review and Four-Skills Assessment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تَقْيِيمٌ</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assessment</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دَرَجَةٌ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mark</a:t>
            </a:r>
            <a:pPr indent="0" marL="0">
              <a:buNone/>
            </a:pPr>
            <a:r>
              <a:rPr lang="ar-SA" sz="1000" i="1" dirty="0">
                <a:solidFill>
                  <a:srgbClr val="5A6472"/>
                </a:solidFill>
                <a:latin typeface="Calibri" pitchFamily="34" charset="0"/>
                <a:ea typeface="Amiri" pitchFamily="2" charset="-78"/>
                <a:cs typeface="Amiri" pitchFamily="2" charset="-78"/>
              </a:rPr>
              <a:t>  pl. دَرَجَاتٌ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نُقْطَةُ قُوَّةٍ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strength</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هَدَفٌ</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target</a:t>
            </a:r>
            <a:pPr indent="0" marL="0">
              <a:buNone/>
            </a:pPr>
            <a:r>
              <a:rPr lang="ar-SA" sz="1000" i="1" dirty="0">
                <a:solidFill>
                  <a:srgbClr val="5A6472"/>
                </a:solidFill>
                <a:latin typeface="Calibri" pitchFamily="34" charset="0"/>
                <a:ea typeface="Amiri" pitchFamily="2" charset="-78"/>
                <a:cs typeface="Amiri" pitchFamily="2" charset="-78"/>
              </a:rPr>
              <a:t>  pl. أَهْدَافٌ</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مُرَاجَعَةٌ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review, revision</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TB-L12 is the unit assessment. Which Topic B skill is your strongest, and which needs the most revision?</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مَا نُقْطَةُ قُوَّتِكَ؟</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cue cards (3–5 words) for each of the four conversation questions.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Record yourself answering two questions for 30 seconds each.</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100–120-word rehearsal, then reduce it to cue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46</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50" b="1" dirty="0">
                <a:solidFill>
                  <a:srgbClr val="FFFFFF"/>
                </a:solidFill>
                <a:latin typeface="Cambria" pitchFamily="34" charset="0"/>
                <a:cs typeface="Amiri" pitchFamily="2" charset="-78"/>
              </a:rPr>
              <a:t>TB-L12 · Topic B Review and Four-Skills Assessment</a:t>
            </a:r>
            <a:endParaRPr lang="en-US" sz="18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مُرَاجَعَةُ المِحْوَرِ ب وَتَقْيِيمُ المَهَارَاتِ الأَرْبَعِ</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answer → reason → example — then “And you?”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TB-L11 · Topic B Speaking and Writing Workshop</dc:title>
  <dc:subject>PptxGenJS Presentation</dc:subject>
  <dc:creator>Al Madina Online School · Arabic Department</dc:creator>
  <cp:lastModifiedBy>Al Madina Online School · Arabic Department</cp:lastModifiedBy>
  <cp:revision>1</cp:revision>
  <dcterms:created xsi:type="dcterms:W3CDTF">2026-10-11T06:43:54Z</dcterms:created>
  <dcterms:modified xsi:type="dcterms:W3CDTF">2026-10-11T06:43:54Z</dcterms:modified>
</cp:coreProperties>
</file>