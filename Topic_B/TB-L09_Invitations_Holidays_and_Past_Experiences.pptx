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TB-L09 — Invitations, Holidays and Past Experiences. Website: Advanced Topics › Topic B (Personal and Social Life) › Lesson 9.
The website builds this lesson on the D5-L07 lesson engine, with the Topic focus “Arrange social activities and narrate a memorable leisure or holiday experience.” (grammar: Past tense; future plans; sequencing; polite responses; skills: Listening · Writing) and the application challenge “Invitation-to-memory timeline”.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B › Lesson 9 (TB-L09), lesson engine Pathways › Development › D5 › TB-L09. The website lesson “Holidays and Travel — Past and Future”: vocabulary, grammar rules and quiz, patterns, common mistakes, sorter, listening, reading, speaking prompts and model, writing task and model, differentiation, final check and the lesson mission. Picture match: website visual game “Holidays and Travel — Past and Future”.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Three parts, one story: an invitation (Topic B), a past holiday or day out (website engine) and a future plan. Core: 6 past travel verbs in the “I” form + one future sentence with سَأَ…. Develop: hollow verbs (زُرْتُ، أَقَمْتُ، عُدْتُ), fixed prepositions (سَافَرْتُ إِلَى، أَقَمْتُ فِي، اسْتَمْتَعْتُ بِـ) and an evaluation. Stretch: a clean past → future switch and a past habit (كُنَّا نَمْشِي).
• Invitations and polite refusals are teacher-written frames (Topic B lesson focus).
• Sensitivity: a “holiday” can be a day out, a family visit or an imagined trip — no student needs to have travelled abroad.
• Links: AT-A-L09 transport (بِالقِطَارِ), AT-A-L11 past travel account (Petra), TB-L08 hobbies.
• TEACHER-WRITTEN ITEMS: the website TB-L09 model patterns have no English translation and the sorter has no title, so the deck adds teacher-written translations and a title (the Arabic and categories are the website’s). The invitation frames are also teacher-written (Topic B focus).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travel words prepared at home at the end of TB-L08. Questions 3–5 retrieve TB-L08 (collocation, frequency) and AT-A-L09 (transport).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Hollow verbs lose their long vowel before -tu: zāra → zurtu, aqāma → aqamtu. For the future, stick sa- on the present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زیارت، قیام، دعوت and تجربہ are all Arabic in origin — a strong bridge today. زیارت in Urdu is often a religious visit; Arabic زَارَ is any visit (a museum, a grandmother).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verbs in the past (website vocabulary (1 of 2)). Hear → Say → See → Use. Transliteration is printed for Core students (cover it for Develop/Stretch).
Every verb card shows he · I · we. Hollow verbs (زَارَ، أَقَامَ، عَادَ) SHORTEN in the I / we forms: زُرْتُ، أَقَمْنَا، عُدْنَا.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Travel verbs in the past (website vocabulary (2 of 2)). Hear → Say → See → Use. Transliteration is printed for Core students (cover it for Develop/Stretch).
Every verb card shows he · I · we. Hollow verbs (زَارَ، أَقَامَ، عَادَ) SHORTEN in the I / we forms: زُرْتُ، أَقَمْنَا، عُدْنَا.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Places and travel items (website vocabulary (1 of 2)). Hear → Say → See → Use. Transliteration is printed for Core students (cover it for Develop/Stretch).
FLEX: teach if time allows; otherwise these are on the website vocabulary tab for homework.
FLEX: places and travel items — most are known from AT-A-L09 and AT-A-L11.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Places and travel items (website vocabulary (2 of 2)). Hear → Say → See → Use. Transliteration is printed for Core students (cover it for Develop/Stretch).
FLEX: teach if time allows; otherwise these are on the website vocabulary tab for homework.
FLEX: places and travel items — most are known from AT-A-L09 and AT-A-L11.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Evaluating and looking ahead (website vocabulary (1 of 2)). Hear → Say → See → Use. Transliteration is printed for Core students (cover it for Develop/Stretch).
FLEX: teach if time allows; otherwise these are on the website vocabulary tab for homework.
FLEX: evaluation and the future — taught on the grammar slides (سَـ، سَوْفَ، كَانَ مِنْ أَجْمَلِ).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Evaluating and looking ahead (website vocabulary (2 of 2)). Hear → Say → See → Use. Transliteration is printed for Core students (cover it for Develop/Stretch).
FLEX: teach if time allows; otherwise these are on the website vocabulary tab for homework.
FLEX: evaluation and the future — taught on the grammar slides (سَـ، سَوْفَ، كَانَ مِنْ أَجْمَلِ).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LAYER (teacher-written) — the Topic B page lists “past tense; future plans; sequencing; polite responses” and the challenge begins with responding to an invitation; the D5 website unit has no invitation bank, so these frames are teacher-written (flag for the website editor).
Invite: هَلْ تُرِيدُ / تُرِيدِينَ أَنْ تَأْتِيَ مَعِي …؟ · مَا رَأْيُكَ فِي …؟ (what do you think of …?)
Accept: بِكُلِّ سُرُورٍ · فِكْرَةٌ رَائِعَةٌ! (great idea!) · مَتَى نَلْتَقِي؟ (when shall we meet?)
Decline politely: آسِفٌ / آسِفَةٌ، لَا أَسْتَطِيعُ لِأَنَّ … · شُكْرًا عَلَى الدَّعْوَةِ (thank you for the invitation).
The reason for declining naturally uses the FUTURE (سَأَزُورُ …) — the bridge to today’s website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“Hollow verbs in the past” (زَارَ → زُرْتُ · أَقَامَ → أَقَمْتُ · عَادَ → عُدْنَا) and “Fixed prepositions on travel verbs” (سَافَرَ إِلَى · أَقَامَ فِي · نَزَلَ فِي · اسْتَمْتَعَ بِـ), with the website table.
Website common error: زَارْتُ / أَقَامْتُ keeps the long vowel that Arabic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“Marking the future” (سَـ / سَوْفَ + present verb) and “Evaluating the trip” (كَانَ مِنْ أَجْمَلِ + genitive plural). Website teaching point: “One account, two tenses — examiners reward the contrast only when each tense stays where it belongs.”
Sequencing (Topic B focus): أَوَّلًا · ثُمَّ · بَعْدَ ذٰلِكَ · فِي النِّهَايَةِ (from Topic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“Travel verbs bring three challenges at once: hollow stems, fixed prepositions, and a clean switch to the future. Deal with them one at a time.”
• Hollow verbs in the past: Before a consonant suffix the long middle vowel shortens. The bare هُوَ form keeps the long vowel.
• Fixed prepositions on travel verbs: Each verb keeps its own preposition, and the noun after it is genitive.
• Marking the future: سَـ attaches directly to the verb; سَوْفَ stands separately and is slightly more emphatic.
• Evaluating the trip: مِنْ plus a superlative introduces the group the thing belongs to; the noun after the superlative is genitive.
Website common error: Writing زَارْتُ or أَقَامْتُ keeps the long vowel that Arabic drops. If a consonant suffix follows a hollow verb, the middle vowel must shorten.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accept an invitation to the beach, then tell a past trip (website speaking model and listening) and switch to the future. Think aloud at each verb: “past or future? hollow? which partner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Holidays and Travel — Past and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Find the hollow verb: أَقَمْتُ. Other cards for homework: ذَهَبْتُ إِلَى الجِبَالِ، زُرْتُ مَدِينَةً جَدِيدَةً، زُرْتُ أَمَاكِنَ سِيَاحِيَّةً.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Holidays and Travel — Past and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Find the hollow verb: أَقَمْتُ. Other cards for homework: ذَهَبْتُ إِلَى الجِبَالِ، زُرْتُ مَدِينَةً جَدِيدَةً، زُرْتُ أَمَاكِنَ سِيَاحِيَّةً.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Website sorter (the title is teacher-written). Then build one three-sentence account: one card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Website sorter (the title is teacher-written). Then build one three-sentence account: one card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2 and 5. Develop / Stretch: all 5.
Listen 1: just listen. Listen 2: note answers. Then chat the letters.
Support: after the second listening, show the read-along slide (Arabic + English, line by line) for Core students.
SCRIPT (read aloud):
فِي الصَّيْفِ المَاضِي سَافَرْنَا إِلَى مَدِينَةٍ سَاحِلِيَّةٍ. حَجَزْنَا التَّذَاكِرَ قَبْلَ شَهْرٍ، ثُمَّ رَكِبْنَا القِطَارَ مِنَ المَحَطَّةِ. أَقَمْنَا فِي فُنْدُقٍ صَغِيرٍ قَرِيبٍ مِنَ الشَّاطِئِ. فِي اليَوْمِ الأَوَّلِ زُرْنَا المَعَالِمَ السِّيَاحِيَّةَ وَاكْتَشَفْنَا سُوقًا قَدِيمًا جَمِيلًا. اسْتَمْتَعْتُ بِالرِّحْلَةِ كَثِيرًا، وَكَانَتْ مِنْ أَجْمَلِ الرِّحْلَاتِ. لِلْأَسَفِ نَسِيتُ حَقِيبَةَ السَّفَرِ فِي المَحَطَّةِ، وَلٰكِنْ لِحُسْنِ الحَظِّ وَجَدْنَاهَا. فِي المُسْتَقْبَلِ سَأَزُورُ تِلْكَ المَدِينَةَ مَرَّةً أُخْرَى، وَسَوْفَ نَحْجِزُ مُبَكِّرًا.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APPLICATION CHALLENGE (3 min — it takes the speaking-rehearsal slot; the website speaking slide after it is FLEX) — from the website Topic page: “Respond to an invitation, describe a past holiday or outing and finish with a future leisure plan using clear time markers and sequencing.”
Website Topic B challenge “Invitation-to-memory timeline”: respond to an invitation, describe a past holiday or outing and finish with a future leisure plan using clear time markers and sequencing. Invitation to paste: هَلْ تُرِيدُ / تُرِيدِينَ أَنْ تَأْتِيَ مَعِي إِلَى الشَّاطِئِ يَوْمَ السَّبْتِ؟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B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وَبِمَاذَا اسْتَمْتَعْتَ هُنَاكَ؟ (Follow-up with بِـ)
B: اسْتَمْتَعْتُ بِالشَّاطِئِ وَالسُّوقِ القَدِيمِ، وَفِي المُسْتَقْبَلِ سَأَزُورُهَا مَرَّةً أُخْرَى. (Evaluation and future switch)
Website prompts 2–4 (a holiday, then a plan); the Core invitation prompt is teacher-made (Topic B focus). A day out or a family visit counts as a “holiday”.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past sentences about a trip using the travel verbs and their prepositions. · Develop — Add an evaluation and a future sentence with سَـ. · Stretch — Include a past habit with كَانَ plus a present verb and keep every hollow stem accurate.
Website writing task (Stretch): Write ninety to one hundred words about a holiday. Narrate what you booked, where you stayed, what you visited and what you enjoyed, then close with a future plan using سَـ or سَوْفَ.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أَقَمْنَا · زُرْنَا · اسْتَمْتَعْتُ بِالرِّحْلَةِ · كَانَتْ مِنْ أَجْمَلِ الرِّحْلَاتِ · سَأَعُودُ … سَوْفَ أُقِيمُ. Stretch: كُنَّا نَمْشِي (past habit).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(TB-L10 · Topic B Listening and Reading Workshop) will spend class time USING this language, so students prepare it tonight — short, simple, easy to access (school guidance: “Simple, Short, Interesting, Relevant, Easy to access”). The five words come from the website D2-L07 (website) preparation list (tested in the TB-L10 Do Now).
Follow-up: the next Do Now tests two of these words (Flipped Learning: keep it short AND follow up).
Homework by route (website tasks). No internet? Students copy the five words from this slide into their book now.
TOPIC B: the five words are the ones the TB-L10 Do Now tests (preparation list of the website D2-L07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Invitations, Holidays and Past Experiences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الدَّعَوَاتُ وَالعُطَلُ وَالتَّجَارِبُ المَاضِيَةُ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Arrange social activities and narrate a memorable leisure or holiday experience.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TB-L09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Invitations, past travel verbs (zurtu!), then the future with sa-.</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past / future / evaluation,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travelled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visited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stayed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سَأَزُورُ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visit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visited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visiting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play the oud.”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العُودَ.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أُمَارِسُ العُودَ.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أَعْزِفُ عَلَى العُودِ.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“twice a week”.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مَرَّتَانِ فِي الأُسْبُوعِ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اثْنَانِ مَرَّةً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الأُسْبُوعِ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travelled by train.”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بِالقِطَارِ.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عَلَى القِطَارِ.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القِطَارَ.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زُرْتُ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travelled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visited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stayed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سَأَزُورُ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will visit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visited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visiting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play the oud.”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أَلْعَبُ العُودَ.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أُمَارِسُ العُودَ.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أَعْزِفُ عَلَى العُودِ.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TB-L08: instrument → ‘alā.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“twice a week”.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مَرَّتَانِ فِي الأُسْبُوعِ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اثْنَانِ مَرَّةً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مَرَّتَيْنِ فِي الأُسْبُوعِ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TB-L08: the dual.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travelled by train.”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سَافَرْتُ بِالقِطَارِ.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 عَلَى القِطَارِ.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 القِطَارَ.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AT-A-L09: bi- with vehicles.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Hollow verbs lose their long vowel before -tu: zāra → zurtu, aqāma → aqamtu. For the future, stick sa- on the present verb.</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زَارَ ← </a:t>
            </a:r>
            <a:pPr rtl="1" algn="ctr" indent="0" marL="0">
              <a:lnSpc>
                <a:spcPct val="120000"/>
              </a:lnSpc>
              <a:buNone/>
            </a:pPr>
            <a:r>
              <a:rPr lang="ar-SA" altLang="en-US" sz="2050" b="1" dirty="0">
                <a:solidFill>
                  <a:srgbClr val="1D5FBF"/>
                </a:solidFill>
                <a:latin typeface="Amiri" pitchFamily="2" charset="-78"/>
                <a:ea typeface="Amiri" pitchFamily="2" charset="-78"/>
                <a:cs typeface="Amiri" pitchFamily="2" charset="-78"/>
              </a:rPr>
              <a:t>زُرْتُ</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 · أَقَامَ ← </a:t>
            </a:r>
            <a:pPr rtl="1" algn="ctr" indent="0" marL="0">
              <a:lnSpc>
                <a:spcPct val="120000"/>
              </a:lnSpc>
              <a:buNone/>
            </a:pPr>
            <a:r>
              <a:rPr lang="ar-SA" altLang="en-US" sz="2050" b="1" dirty="0">
                <a:solidFill>
                  <a:srgbClr val="1D5FBF"/>
                </a:solidFill>
                <a:latin typeface="Amiri" pitchFamily="2" charset="-78"/>
                <a:ea typeface="Amiri" pitchFamily="2" charset="-78"/>
                <a:cs typeface="Amiri" pitchFamily="2" charset="-78"/>
              </a:rPr>
              <a:t>أَقَمْتُ</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0E7C86"/>
                </a:solidFill>
                <a:latin typeface="Amiri" pitchFamily="2" charset="-78"/>
                <a:ea typeface="Amiri" pitchFamily="2" charset="-78"/>
                <a:cs typeface="Amiri" pitchFamily="2" charset="-78"/>
              </a:rPr>
              <a:t>سَ</a:t>
            </a:r>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أَزُورُ</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past holiday using travel verbs including </a:t>
            </a:r>
            <a:pPr algn="l" indent="0" marL="0">
              <a:buNone/>
            </a:pPr>
            <a:r>
              <a:rPr lang="ar-SA" altLang="en-US" sz="1700" dirty="0">
                <a:solidFill>
                  <a:srgbClr val="1F2A37"/>
                </a:solidFill>
                <a:latin typeface="Amiri" pitchFamily="2" charset="-78"/>
                <a:ea typeface="Amiri" pitchFamily="2" charset="-78"/>
                <a:cs typeface="Amiri" pitchFamily="2" charset="-78"/>
              </a:rPr>
              <a:t>حَجَزَ</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أَقَامَ فِي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Handle hollow travel verbs in the past: </a:t>
            </a:r>
            <a:pPr algn="l" indent="0" marL="0">
              <a:buNone/>
            </a:pPr>
            <a:r>
              <a:rPr lang="ar-SA" altLang="en-US" sz="1700" dirty="0">
                <a:solidFill>
                  <a:srgbClr val="1F2A37"/>
                </a:solidFill>
                <a:latin typeface="Amiri" pitchFamily="2" charset="-78"/>
                <a:ea typeface="Amiri" pitchFamily="2" charset="-78"/>
                <a:cs typeface="Amiri" pitchFamily="2" charset="-78"/>
              </a:rPr>
              <a:t>زَارَ</a:t>
            </a:r>
            <a:pPr algn="l" indent="0" marL="0">
              <a:buNone/>
            </a:pPr>
            <a:r>
              <a:rPr lang="en-US" sz="1300" dirty="0">
                <a:solidFill>
                  <a:srgbClr val="1F2A37"/>
                </a:solidFill>
                <a:latin typeface="Calibri" pitchFamily="34" charset="0"/>
                <a:cs typeface="Amiri" pitchFamily="2" charset="-78"/>
              </a:rPr>
              <a:t> becomes </a:t>
            </a:r>
            <a:pPr algn="l" indent="0" marL="0">
              <a:buNone/>
            </a:pPr>
            <a:r>
              <a:rPr lang="ar-SA" altLang="en-US" sz="1700" dirty="0">
                <a:solidFill>
                  <a:srgbClr val="1F2A37"/>
                </a:solidFill>
                <a:latin typeface="Amiri" pitchFamily="2" charset="-78"/>
                <a:ea typeface="Amiri" pitchFamily="2" charset="-78"/>
                <a:cs typeface="Amiri" pitchFamily="2" charset="-78"/>
              </a:rPr>
              <a:t>زُرْتُ</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أَقَامَ</a:t>
            </a:r>
            <a:pPr algn="l" indent="0" marL="0">
              <a:buNone/>
            </a:pPr>
            <a:r>
              <a:rPr lang="en-US" sz="1300" dirty="0">
                <a:solidFill>
                  <a:srgbClr val="1F2A37"/>
                </a:solidFill>
                <a:latin typeface="Calibri" pitchFamily="34" charset="0"/>
                <a:cs typeface="Amiri" pitchFamily="2" charset="-78"/>
              </a:rPr>
              <a:t> becomes </a:t>
            </a:r>
            <a:pPr algn="l" indent="0" marL="0">
              <a:buNone/>
            </a:pPr>
            <a:r>
              <a:rPr lang="ar-SA" altLang="en-US" sz="1700" dirty="0">
                <a:solidFill>
                  <a:srgbClr val="1F2A37"/>
                </a:solidFill>
                <a:latin typeface="Amiri" pitchFamily="2" charset="-78"/>
                <a:ea typeface="Amiri" pitchFamily="2" charset="-78"/>
                <a:cs typeface="Amiri" pitchFamily="2" charset="-78"/>
              </a:rPr>
              <a:t>أَقَمْتُ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a past trip with a future plan using </a:t>
            </a:r>
            <a:pPr algn="l" indent="0" marL="0">
              <a:buNone/>
            </a:pPr>
            <a:r>
              <a:rPr lang="ar-SA" altLang="en-US" sz="1700" dirty="0">
                <a:solidFill>
                  <a:srgbClr val="1F2A37"/>
                </a:solidFill>
                <a:latin typeface="Amiri" pitchFamily="2" charset="-78"/>
                <a:ea typeface="Amiri" pitchFamily="2" charset="-78"/>
                <a:cs typeface="Amiri" pitchFamily="2" charset="-78"/>
              </a:rPr>
              <a:t>سَـ</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سَوْفَ</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dual-tense holiday account of ninety to one hundred words.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invite someone and answer an invitation.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where I went and what I visited.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hollow verbs and their prepositions.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future plan with sa-.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switch cleanly from past to future.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evaluate a trip (kānat min ajmali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holiday words from the website in 3 groups. Core: the 10 past travel verbs. Places and evaluation words are FLEX (many are known from Topic A).</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Travel verbs in the past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Places and travel items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Evaluating and looking ahead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سَافَرَ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‎سفر‎ </a:t>
            </a:r>
            <a:pPr indent="0" marL="0">
              <a:buNone/>
            </a:pPr>
            <a:r>
              <a:rPr lang="en-US" sz="950" b="1" dirty="0">
                <a:solidFill>
                  <a:srgbClr val="2E8B57"/>
                </a:solidFill>
                <a:latin typeface="Calibri" pitchFamily="34" charset="0"/>
                <a:cs typeface="Amiri" pitchFamily="2" charset="-78"/>
              </a:rPr>
              <a:t> sāfara · travelled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زِيَارَةٌ / زَارَ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‎زیارت‎ </a:t>
            </a:r>
            <a:pPr indent="0" marL="0">
              <a:buNone/>
            </a:pPr>
            <a:r>
              <a:rPr lang="en-US" sz="950" b="1" dirty="0">
                <a:solidFill>
                  <a:srgbClr val="2E8B57"/>
                </a:solidFill>
                <a:latin typeface="Calibri" pitchFamily="34" charset="0"/>
                <a:cs typeface="Amiri" pitchFamily="2" charset="-78"/>
              </a:rPr>
              <a:t> zāra · visited (Urdu: pilgrimage visit)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أَقَامَ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‎قیام / اقامت‎ </a:t>
            </a:r>
            <a:pPr indent="0" marL="0">
              <a:buNone/>
            </a:pPr>
            <a:r>
              <a:rPr lang="en-US" sz="950" b="1" dirty="0">
                <a:solidFill>
                  <a:srgbClr val="2E8B57"/>
                </a:solidFill>
                <a:latin typeface="Calibri" pitchFamily="34" charset="0"/>
                <a:cs typeface="Amiri" pitchFamily="2" charset="-78"/>
              </a:rPr>
              <a:t> aqāma · stayed (Urdu: stay, residence)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دَعْوَةٌ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‎دعوت‎ </a:t>
            </a:r>
            <a:pPr indent="0" marL="0">
              <a:buNone/>
            </a:pPr>
            <a:r>
              <a:rPr lang="en-US" sz="950" b="1" dirty="0">
                <a:solidFill>
                  <a:srgbClr val="2E8B57"/>
                </a:solidFill>
                <a:latin typeface="Calibri" pitchFamily="34" charset="0"/>
                <a:cs typeface="Amiri" pitchFamily="2" charset="-78"/>
              </a:rPr>
              <a:t> da‘wa · an invitation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تَجْرِبَةٌ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an experience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 in the past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سَافَرَ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travelled to</a:t>
            </a:r>
            <a:endParaRPr lang="en-US" sz="1350" dirty="0"/>
          </a:p>
          <a:p>
            <a:pPr indent="0" marL="0">
              <a:buNone/>
            </a:pPr>
            <a:r>
              <a:rPr lang="en-US" sz="1100" i="1" dirty="0">
                <a:solidFill>
                  <a:srgbClr val="5A6472"/>
                </a:solidFill>
                <a:latin typeface="Calibri" pitchFamily="34" charset="0"/>
                <a:cs typeface="Amiri" pitchFamily="2" charset="-78"/>
              </a:rPr>
              <a:t>sā-fa-ra i-lā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سَافَرْنَا</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سَافَرْتُ</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سَافَرَ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زَارَ / زُرْتُ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visited / I visited</a:t>
            </a:r>
            <a:endParaRPr lang="en-US" sz="1350" dirty="0"/>
          </a:p>
          <a:p>
            <a:pPr indent="0" marL="0">
              <a:buNone/>
            </a:pPr>
            <a:r>
              <a:rPr lang="en-US" sz="1100" i="1" dirty="0">
                <a:solidFill>
                  <a:srgbClr val="5A6472"/>
                </a:solidFill>
                <a:latin typeface="Calibri" pitchFamily="34" charset="0"/>
                <a:cs typeface="Amiri" pitchFamily="2" charset="-78"/>
              </a:rPr>
              <a:t>zā-ra / zur-tu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زُرْنَا</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زُرْتُ</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زَارَ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أَقَامَ فِي / أَقَمْتُ فِي</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in / I stayed in</a:t>
            </a:r>
            <a:endParaRPr lang="en-US" sz="1350" dirty="0"/>
          </a:p>
          <a:p>
            <a:pPr indent="0" marL="0">
              <a:buNone/>
            </a:pPr>
            <a:r>
              <a:rPr lang="en-US" sz="1100" i="1" dirty="0">
                <a:solidFill>
                  <a:srgbClr val="5A6472"/>
                </a:solidFill>
                <a:latin typeface="Calibri" pitchFamily="34" charset="0"/>
                <a:cs typeface="Amiri" pitchFamily="2" charset="-78"/>
              </a:rPr>
              <a:t>a-qā-ma fī / a-qam-tu fī</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أَقَمْنَا</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أَقَمْتُ</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أَقَامَ</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حَجَزَ</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booked</a:t>
            </a:r>
            <a:endParaRPr lang="en-US" sz="1350" dirty="0"/>
          </a:p>
          <a:p>
            <a:pPr indent="0" marL="0">
              <a:buNone/>
            </a:pPr>
            <a:r>
              <a:rPr lang="en-US" sz="1100" i="1" dirty="0">
                <a:solidFill>
                  <a:srgbClr val="5A6472"/>
                </a:solidFill>
                <a:latin typeface="Calibri" pitchFamily="34" charset="0"/>
                <a:cs typeface="Amiri" pitchFamily="2" charset="-78"/>
              </a:rPr>
              <a:t>ḥa-ja-za</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حَجَزْنَا</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حَجَزْتُ</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حَجَزَ</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رَكِبَ</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rode, took (transport)</a:t>
            </a:r>
            <a:endParaRPr lang="en-US" sz="1350" dirty="0"/>
          </a:p>
          <a:p>
            <a:pPr indent="0" marL="0">
              <a:buNone/>
            </a:pPr>
            <a:r>
              <a:rPr lang="en-US" sz="1100" i="1" dirty="0">
                <a:solidFill>
                  <a:srgbClr val="5A6472"/>
                </a:solidFill>
                <a:latin typeface="Calibri" pitchFamily="34" charset="0"/>
                <a:cs typeface="Amiri" pitchFamily="2" charset="-78"/>
              </a:rPr>
              <a:t>ra-ki-ba</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رَكِبْنَا</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رَكِبْتُ</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رَكِبَ</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 verbs in the past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نَزَلَ فِي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stayed at</a:t>
            </a:r>
            <a:endParaRPr lang="en-US" sz="1350" dirty="0"/>
          </a:p>
          <a:p>
            <a:pPr indent="0" marL="0">
              <a:buNone/>
            </a:pPr>
            <a:r>
              <a:rPr lang="en-US" sz="1100" i="1" dirty="0">
                <a:solidFill>
                  <a:srgbClr val="5A6472"/>
                </a:solidFill>
                <a:latin typeface="Calibri" pitchFamily="34" charset="0"/>
                <a:cs typeface="Amiri" pitchFamily="2" charset="-78"/>
              </a:rPr>
              <a:t>na-za-la fī</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اسْتَمْتَعَ بِـ</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enjoyed</a:t>
            </a:r>
            <a:endParaRPr lang="en-US" sz="1350" dirty="0"/>
          </a:p>
          <a:p>
            <a:pPr indent="0" marL="0">
              <a:buNone/>
            </a:pPr>
            <a:r>
              <a:rPr lang="en-US" sz="1100" i="1" dirty="0">
                <a:solidFill>
                  <a:srgbClr val="5A6472"/>
                </a:solidFill>
                <a:latin typeface="Calibri" pitchFamily="34" charset="0"/>
                <a:cs typeface="Amiri" pitchFamily="2" charset="-78"/>
              </a:rPr>
              <a:t>as-tam-ta-ʿa bi</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اسْتَمْتَعْنَا</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اسْتَمْتَعْتُ</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اسْتَمْتَعَ</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1" name="Shape 38"/>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اكْتَشَفَ</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discovered</a:t>
            </a:r>
            <a:endParaRPr lang="en-US" sz="1350" dirty="0"/>
          </a:p>
          <a:p>
            <a:pPr indent="0" marL="0">
              <a:buNone/>
            </a:pPr>
            <a:r>
              <a:rPr lang="en-US" sz="1100" i="1" dirty="0">
                <a:solidFill>
                  <a:srgbClr val="5A6472"/>
                </a:solidFill>
                <a:latin typeface="Calibri" pitchFamily="34" charset="0"/>
                <a:cs typeface="Amiri" pitchFamily="2" charset="-78"/>
              </a:rPr>
              <a:t>ak-ta-sha-fa</a:t>
            </a:r>
            <a:endParaRPr lang="en-US" sz="1350" dirty="0"/>
          </a:p>
        </p:txBody>
      </p:sp>
      <p:sp>
        <p:nvSpPr>
          <p:cNvPr id="45" name="Shape 42"/>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7" name="Text 44"/>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اكْتَشَفْنَا</a:t>
            </a:r>
            <a:endParaRPr lang="ar-SA" sz="1500" dirty="0"/>
          </a:p>
        </p:txBody>
      </p:sp>
      <p:sp>
        <p:nvSpPr>
          <p:cNvPr id="48" name="Shape 45"/>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اكْتَشَفْتُ</a:t>
            </a:r>
            <a:endParaRPr lang="ar-SA" sz="1500" dirty="0"/>
          </a:p>
        </p:txBody>
      </p:sp>
      <p:sp>
        <p:nvSpPr>
          <p:cNvPr id="51" name="Shape 48"/>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3" name="Text 50"/>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اكْتَشَفَ</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7" name="Shape 5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remembered</a:t>
            </a:r>
            <a:endParaRPr lang="en-US" sz="1350" dirty="0"/>
          </a:p>
          <a:p>
            <a:pPr indent="0" marL="0">
              <a:buNone/>
            </a:pPr>
            <a:r>
              <a:rPr lang="en-US" sz="1100" i="1" dirty="0">
                <a:solidFill>
                  <a:srgbClr val="5A6472"/>
                </a:solidFill>
                <a:latin typeface="Calibri" pitchFamily="34" charset="0"/>
                <a:cs typeface="Amiri" pitchFamily="2" charset="-78"/>
              </a:rPr>
              <a:t>ta-dhak-ka-ra</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4" name="Shape 61"/>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I · we</a:t>
            </a:r>
            <a:endParaRPr lang="en-US" sz="8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 / عُدْتُ</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returned / I returned</a:t>
            </a:r>
            <a:endParaRPr lang="en-US" sz="1350" dirty="0"/>
          </a:p>
          <a:p>
            <a:pPr indent="0" marL="0">
              <a:buNone/>
            </a:pPr>
            <a:r>
              <a:rPr lang="en-US" sz="1100" i="1" dirty="0">
                <a:solidFill>
                  <a:srgbClr val="5A6472"/>
                </a:solidFill>
                <a:latin typeface="Calibri" pitchFamily="34" charset="0"/>
                <a:cs typeface="Amiri" pitchFamily="2" charset="-78"/>
              </a:rPr>
              <a:t>ʿā-da / ʿud-tu</a:t>
            </a:r>
            <a:endParaRPr lang="en-US" sz="1350" dirty="0"/>
          </a:p>
        </p:txBody>
      </p:sp>
      <p:sp>
        <p:nvSpPr>
          <p:cNvPr id="70" name="Shape 6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72" name="Text 6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عُدْنَا</a:t>
            </a:r>
            <a:endParaRPr lang="ar-SA" sz="1500" dirty="0"/>
          </a:p>
        </p:txBody>
      </p:sp>
      <p:sp>
        <p:nvSpPr>
          <p:cNvPr id="73" name="Shape 7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5" name="Text 7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عُدْتُ</a:t>
            </a:r>
            <a:endParaRPr lang="ar-SA" sz="1500" dirty="0"/>
          </a:p>
        </p:txBody>
      </p:sp>
      <p:sp>
        <p:nvSpPr>
          <p:cNvPr id="76" name="Shape 7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8" name="Text 7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travel items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airport</a:t>
            </a:r>
            <a:endParaRPr lang="en-US" sz="1350" dirty="0"/>
          </a:p>
          <a:p>
            <a:pPr indent="0" marL="0">
              <a:buNone/>
            </a:pPr>
            <a:r>
              <a:rPr lang="en-US" sz="1100" i="1" dirty="0">
                <a:solidFill>
                  <a:srgbClr val="5A6472"/>
                </a:solidFill>
                <a:latin typeface="Calibri" pitchFamily="34" charset="0"/>
                <a:cs typeface="Amiri" pitchFamily="2" charset="-78"/>
              </a:rPr>
              <a:t>al-ma-ṭā-ru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الفُنْدُقُ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hotel</a:t>
            </a:r>
            <a:endParaRPr lang="en-US" sz="1350" dirty="0"/>
          </a:p>
          <a:p>
            <a:pPr indent="0" marL="0">
              <a:buNone/>
            </a:pPr>
            <a:r>
              <a:rPr lang="en-US" sz="1100" i="1" dirty="0">
                <a:solidFill>
                  <a:srgbClr val="5A6472"/>
                </a:solidFill>
                <a:latin typeface="Calibri" pitchFamily="34" charset="0"/>
                <a:cs typeface="Amiri" pitchFamily="2" charset="-78"/>
              </a:rPr>
              <a:t>al-fun-du-qu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الشَّاطِئُ</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beach</a:t>
            </a:r>
            <a:endParaRPr lang="en-US" sz="1350" dirty="0"/>
          </a:p>
          <a:p>
            <a:pPr indent="0" marL="0">
              <a:buNone/>
            </a:pPr>
            <a:r>
              <a:rPr lang="en-US" sz="1100" i="1" dirty="0">
                <a:solidFill>
                  <a:srgbClr val="5A6472"/>
                </a:solidFill>
                <a:latin typeface="Calibri" pitchFamily="34" charset="0"/>
                <a:cs typeface="Amiri" pitchFamily="2" charset="-78"/>
              </a:rPr>
              <a:t>ash-shā-ṭi-ʾu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المَعَالِمُ السِّيَاحِيَّةُ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tourist attractions</a:t>
            </a:r>
            <a:endParaRPr lang="en-US" sz="1350" dirty="0"/>
          </a:p>
          <a:p>
            <a:pPr indent="0" marL="0">
              <a:buNone/>
            </a:pPr>
            <a:r>
              <a:rPr lang="en-US" sz="1100" i="1" dirty="0">
                <a:solidFill>
                  <a:srgbClr val="5A6472"/>
                </a:solidFill>
                <a:latin typeface="Calibri" pitchFamily="34" charset="0"/>
                <a:cs typeface="Amiri" pitchFamily="2" charset="-78"/>
              </a:rPr>
              <a:t>al-ma-ʿā-li-mu as-si-yā-ḥiy-ya-tu</a:t>
            </a:r>
            <a:endParaRPr lang="en-US" sz="1350" dirty="0"/>
          </a:p>
        </p:txBody>
      </p:sp>
      <p:sp>
        <p:nvSpPr>
          <p:cNvPr id="37" name="Text 3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broken plural with a feminine adjective.</a:t>
            </a:r>
            <a:endParaRPr lang="en-US" sz="1000" dirty="0"/>
          </a:p>
        </p:txBody>
      </p:sp>
      <p:sp>
        <p:nvSpPr>
          <p:cNvPr id="38" name="Shape 3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389120"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1" name="Shape 3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43" name="Text 4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جَوَازُ السَّفَرِ</a:t>
            </a:r>
            <a:endParaRPr lang="ar-SA" sz="3000" dirty="0"/>
          </a:p>
        </p:txBody>
      </p:sp>
      <p:sp>
        <p:nvSpPr>
          <p:cNvPr id="44" name="Text 4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passport</a:t>
            </a:r>
            <a:endParaRPr lang="en-US" sz="1350" dirty="0"/>
          </a:p>
          <a:p>
            <a:pPr indent="0" marL="0">
              <a:buNone/>
            </a:pPr>
            <a:r>
              <a:rPr lang="en-US" sz="1100" i="1" dirty="0">
                <a:solidFill>
                  <a:srgbClr val="5A6472"/>
                </a:solidFill>
                <a:latin typeface="Calibri" pitchFamily="34" charset="0"/>
                <a:cs typeface="Amiri" pitchFamily="2" charset="-78"/>
              </a:rPr>
              <a:t>ja-wā-zu as-sa-fa-ri</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travel items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 السَّفَرِ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suitcase</a:t>
            </a:r>
            <a:endParaRPr lang="en-US" sz="1350" dirty="0"/>
          </a:p>
          <a:p>
            <a:pPr indent="0" marL="0">
              <a:buNone/>
            </a:pPr>
            <a:r>
              <a:rPr lang="en-US" sz="1100" i="1" dirty="0">
                <a:solidFill>
                  <a:srgbClr val="5A6472"/>
                </a:solidFill>
                <a:latin typeface="Calibri" pitchFamily="34" charset="0"/>
                <a:cs typeface="Amiri" pitchFamily="2" charset="-78"/>
              </a:rPr>
              <a:t>ḥa-qī-ba-tu as-sa-fa-ri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تَذْكِرَةٌ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ticket</a:t>
            </a:r>
            <a:endParaRPr lang="en-US" sz="1350" dirty="0"/>
          </a:p>
          <a:p>
            <a:pPr indent="0" marL="0">
              <a:buNone/>
            </a:pPr>
            <a:r>
              <a:rPr lang="en-US" sz="1100" i="1" dirty="0">
                <a:solidFill>
                  <a:srgbClr val="5A6472"/>
                </a:solidFill>
                <a:latin typeface="Calibri" pitchFamily="34" charset="0"/>
                <a:cs typeface="Amiri" pitchFamily="2" charset="-78"/>
              </a:rPr>
              <a:t>tadh-ki-ra-tun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trip</a:t>
            </a:r>
            <a:endParaRPr lang="en-US" sz="1350" dirty="0"/>
          </a:p>
          <a:p>
            <a:pPr indent="0" marL="0">
              <a:buNone/>
            </a:pPr>
            <a:r>
              <a:rPr lang="en-US" sz="1100" i="1" dirty="0">
                <a:solidFill>
                  <a:srgbClr val="5A6472"/>
                </a:solidFill>
                <a:latin typeface="Calibri" pitchFamily="34" charset="0"/>
                <a:cs typeface="Amiri" pitchFamily="2" charset="-78"/>
              </a:rPr>
              <a:t>riḥ-la-tun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المَحَطَّةُ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station</a:t>
            </a:r>
            <a:endParaRPr lang="en-US" sz="1350" dirty="0"/>
          </a:p>
          <a:p>
            <a:pPr indent="0" marL="0">
              <a:buNone/>
            </a:pPr>
            <a:r>
              <a:rPr lang="en-US" sz="1100" i="1" dirty="0">
                <a:solidFill>
                  <a:srgbClr val="5A6472"/>
                </a:solidFill>
                <a:latin typeface="Calibri" pitchFamily="34" charset="0"/>
                <a:cs typeface="Amiri" pitchFamily="2" charset="-78"/>
              </a:rPr>
              <a:t>al-ma-ḥaṭ-ṭa-tu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القِطَارُ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train</a:t>
            </a:r>
            <a:endParaRPr lang="en-US" sz="1350" dirty="0"/>
          </a:p>
          <a:p>
            <a:pPr indent="0" marL="0">
              <a:buNone/>
            </a:pPr>
            <a:r>
              <a:rPr lang="en-US" sz="1100" i="1" dirty="0">
                <a:solidFill>
                  <a:srgbClr val="5A6472"/>
                </a:solidFill>
                <a:latin typeface="Calibri" pitchFamily="34" charset="0"/>
                <a:cs typeface="Amiri" pitchFamily="2" charset="-78"/>
              </a:rPr>
              <a:t>al-qi-ṭā-ru</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Evaluating and looking ahead (1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رِحْلَةٌ لَا تُنْسَى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trip</a:t>
            </a:r>
            <a:endParaRPr lang="en-US" sz="1350" dirty="0"/>
          </a:p>
          <a:p>
            <a:pPr indent="0" marL="0">
              <a:buNone/>
            </a:pPr>
            <a:r>
              <a:rPr lang="en-US" sz="1100" i="1" dirty="0">
                <a:solidFill>
                  <a:srgbClr val="5A6472"/>
                </a:solidFill>
                <a:latin typeface="Calibri" pitchFamily="34" charset="0"/>
                <a:cs typeface="Amiri" pitchFamily="2" charset="-78"/>
              </a:rPr>
              <a:t>riḥ-la-tun lā tun-sā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present verb used as a description.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مِنْ أَجْمَلِ</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was one of the most beautiful</a:t>
            </a:r>
            <a:endParaRPr lang="en-US" sz="1350" dirty="0"/>
          </a:p>
          <a:p>
            <a:pPr indent="0" marL="0">
              <a:buNone/>
            </a:pPr>
            <a:r>
              <a:rPr lang="en-US" sz="1100" i="1" dirty="0">
                <a:solidFill>
                  <a:srgbClr val="5A6472"/>
                </a:solidFill>
                <a:latin typeface="Calibri" pitchFamily="34" charset="0"/>
                <a:cs typeface="Amiri" pitchFamily="2" charset="-78"/>
              </a:rPr>
              <a:t>kā-na min aj-ma-li</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a:t>
            </a:r>
            <a:pPr algn="l" indent="0" marL="0">
              <a:buNone/>
            </a:pPr>
            <a:r>
              <a:rPr lang="en-US" sz="1000" i="1" dirty="0">
                <a:solidFill>
                  <a:srgbClr val="8A6D1E"/>
                </a:solidFill>
                <a:latin typeface="Calibri" pitchFamily="34" charset="0"/>
                <a:cs typeface="Amiri" pitchFamily="2" charset="-78"/>
              </a:rPr>
              <a:t> plus a superlative in the genitive.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المُسْتَقْبَلِ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سَأَزُورُ مَرَّةً أُخْرَى</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visit again</a:t>
            </a:r>
            <a:endParaRPr lang="en-US" sz="1350" dirty="0"/>
          </a:p>
          <a:p>
            <a:pPr indent="0" marL="0">
              <a:buNone/>
            </a:pPr>
            <a:r>
              <a:rPr lang="en-US" sz="1100" i="1" dirty="0">
                <a:solidFill>
                  <a:srgbClr val="5A6472"/>
                </a:solidFill>
                <a:latin typeface="Calibri" pitchFamily="34" charset="0"/>
                <a:cs typeface="Amiri" pitchFamily="2" charset="-78"/>
              </a:rPr>
              <a:t>sa-ʾa-zū-ru mar-ra-tan ukh-rā</a:t>
            </a:r>
            <a:endParaRPr lang="en-US" sz="1350" dirty="0"/>
          </a:p>
        </p:txBody>
      </p:sp>
      <p:sp>
        <p:nvSpPr>
          <p:cNvPr id="39" name="Text 3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سَـ</a:t>
            </a:r>
            <a:pPr algn="l" indent="0" marL="0">
              <a:buNone/>
            </a:pPr>
            <a:r>
              <a:rPr lang="en-US" sz="1000" i="1" dirty="0">
                <a:solidFill>
                  <a:srgbClr val="8A6D1E"/>
                </a:solidFill>
                <a:latin typeface="Calibri" pitchFamily="34" charset="0"/>
                <a:cs typeface="Amiri" pitchFamily="2" charset="-78"/>
              </a:rPr>
              <a:t> attaches to the present verb.</a:t>
            </a:r>
            <a:endParaRPr lang="en-US"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Evaluating and looking ahead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سَوْفَ</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(emphatic future)</a:t>
            </a:r>
            <a:endParaRPr lang="en-US" sz="1350" dirty="0"/>
          </a:p>
          <a:p>
            <a:pPr indent="0" marL="0">
              <a:buNone/>
            </a:pPr>
            <a:r>
              <a:rPr lang="en-US" sz="1100" i="1" dirty="0">
                <a:solidFill>
                  <a:srgbClr val="5A6472"/>
                </a:solidFill>
                <a:latin typeface="Calibri" pitchFamily="34" charset="0"/>
                <a:cs typeface="Amiri" pitchFamily="2" charset="-78"/>
              </a:rPr>
              <a:t>saw-fa</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separate word before the verb.</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أَتَمَنَّى أَنْ</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2" name="Shape 29"/>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بِـ.</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أَنْصَحُ بِـ</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recommend</a:t>
            </a:r>
            <a:endParaRPr lang="en-US" sz="1350" dirty="0"/>
          </a:p>
          <a:p>
            <a:pPr indent="0" marL="0">
              <a:buNone/>
            </a:pPr>
            <a:r>
              <a:rPr lang="en-US" sz="1100" i="1" dirty="0">
                <a:solidFill>
                  <a:srgbClr val="5A6472"/>
                </a:solidFill>
                <a:latin typeface="Calibri" pitchFamily="34" charset="0"/>
                <a:cs typeface="Amiri" pitchFamily="2" charset="-78"/>
              </a:rPr>
              <a:t>an-ṣa-ḥu 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تَجْرِبَةٌ رَائِعَةٌ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wonderful experience</a:t>
            </a:r>
            <a:endParaRPr lang="en-US" sz="1350" dirty="0"/>
          </a:p>
          <a:p>
            <a:pPr indent="0" marL="0">
              <a:buNone/>
            </a:pPr>
            <a:r>
              <a:rPr lang="en-US" sz="1100" i="1" dirty="0">
                <a:solidFill>
                  <a:srgbClr val="5A6472"/>
                </a:solidFill>
                <a:latin typeface="Calibri" pitchFamily="34" charset="0"/>
                <a:cs typeface="Amiri" pitchFamily="2" charset="-78"/>
              </a:rPr>
              <a:t>taj-ri-ba-tun rā-ʾi-ʿa-tun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TOPIC B · INVITATIONS AND POLITE RESPONSES (TEACHER-WRITTEN: TOPIC B LESSON FOCUS)</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Would you like to come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الدَّعْوَةُ وَالرَّدُّ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INVITE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تُرِيدُ أَنْ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هَلْ تُرِيدُ أَنْ تَأْتِيَ مَعِي إِلَى الشَّاطِئِ يَوْمَ السَّبْتِ؟</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Would you like to come with me to the beach on Saturday?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girl: turīdīna an ta’tiya.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ACCEPT · CORE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بِكُلِّ سُرُورٍ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بِكُلِّ سُرُورٍ! فِي أَيِّ سَاعَةٍ؟</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With pleasure! At what time?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Add a question.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DECLINE · DEVELOP</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آسِفٌ، لَا أَسْتَطِيعُ</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آسِفَةٌ، لَا أَسْتَطِيعُ لِأَنَّنِي سَأَزُورُ جَدَّتِي.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Sorry (f.), I can’t because I will visit my grandmother.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Refuse + reason (future).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After “an” the verb ends in -a (as in AT-A-L08 advice).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تُرِيدُ أَنْ تَأْتِيَ؟</a:t>
            </a:r>
            <a:endParaRPr lang="ar-SA" sz="20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ea typeface="Amiri" pitchFamily="2" charset="-78"/>
                <a:cs typeface="Amiri" pitchFamily="2" charset="-78"/>
              </a:rPr>
              <a:t>هَلْ تُرِيدُ أَنْ تَأْتِي؟</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PAST TRAVEL VERBS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travelled, visited, stayed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سَرْدُ 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7" name="Text 14"/>
          <p:cNvSpPr txBox="1"/>
          <p:nvPr/>
        </p:nvSpPr>
        <p:spPr>
          <a:xfrm>
            <a:off x="72329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a:t>
            </a:r>
            <a:endParaRPr lang="en-US" sz="1100" dirty="0"/>
          </a:p>
        </p:txBody>
      </p:sp>
      <p:sp>
        <p:nvSpPr>
          <p:cNvPr id="18" name="Text 15"/>
          <p:cNvSpPr txBox="1"/>
          <p:nvPr/>
        </p:nvSpPr>
        <p:spPr>
          <a:xfrm>
            <a:off x="4855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a:t>
            </a:r>
            <a:endParaRPr lang="en-US" sz="1100" dirty="0"/>
          </a:p>
        </p:txBody>
      </p:sp>
      <p:sp>
        <p:nvSpPr>
          <p:cNvPr id="19" name="Text 16"/>
          <p:cNvSpPr txBox="1"/>
          <p:nvPr/>
        </p:nvSpPr>
        <p:spPr>
          <a:xfrm>
            <a:off x="311810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partner</a:t>
            </a:r>
            <a:endParaRPr lang="en-US" sz="1100" dirty="0"/>
          </a:p>
        </p:txBody>
      </p:sp>
      <p:sp>
        <p:nvSpPr>
          <p:cNvPr id="20" name="Text 17"/>
          <p:cNvSpPr txBox="1"/>
          <p:nvPr/>
        </p:nvSpPr>
        <p:spPr>
          <a:xfrm>
            <a:off x="5303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628632"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a:t>
            </a:r>
            <a:endParaRPr lang="ar-SA" sz="2400" dirty="0"/>
          </a:p>
        </p:txBody>
      </p:sp>
      <p:sp>
        <p:nvSpPr>
          <p:cNvPr id="23" name="Text 20"/>
          <p:cNvSpPr txBox="1"/>
          <p:nvPr/>
        </p:nvSpPr>
        <p:spPr>
          <a:xfrm>
            <a:off x="7251192"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24" name="Text 21"/>
          <p:cNvSpPr txBox="1"/>
          <p:nvPr/>
        </p:nvSpPr>
        <p:spPr>
          <a:xfrm>
            <a:off x="4873752"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سَافَرْ</a:t>
            </a:r>
            <a:pPr rtl="1" algn="ctr" indent="0" marL="0">
              <a:buNone/>
            </a:pPr>
            <a:r>
              <a:rPr lang="ar-SA" altLang="en-US" sz="2400" b="1" dirty="0">
                <a:solidFill>
                  <a:srgbClr val="1D5FBF"/>
                </a:solidFill>
                <a:latin typeface="Amiri" pitchFamily="2" charset="-78"/>
                <a:ea typeface="Amiri" pitchFamily="2" charset="-78"/>
                <a:cs typeface="Amiri" pitchFamily="2" charset="-78"/>
              </a:rPr>
              <a:t>نَا</a:t>
            </a:r>
            <a:endParaRPr lang="ar-SA" sz="2400" dirty="0"/>
          </a:p>
        </p:txBody>
      </p:sp>
      <p:sp>
        <p:nvSpPr>
          <p:cNvPr id="25" name="Text 22"/>
          <p:cNvSpPr txBox="1"/>
          <p:nvPr/>
        </p:nvSpPr>
        <p:spPr>
          <a:xfrm>
            <a:off x="3136392" y="2267712"/>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26" name="Text 23"/>
          <p:cNvSpPr txBox="1"/>
          <p:nvPr/>
        </p:nvSpPr>
        <p:spPr>
          <a:xfrm>
            <a:off x="566928" y="2267712"/>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travelled to</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628632"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a:t>
            </a:r>
            <a:pPr rtl="1" algn="ctr" indent="0" marL="0">
              <a:buNone/>
            </a:pPr>
            <a:r>
              <a:rPr lang="ar-SA" altLang="en-US" sz="2400" b="1" dirty="0">
                <a:solidFill>
                  <a:srgbClr val="C77700"/>
                </a:solidFill>
                <a:latin typeface="Amiri" pitchFamily="2" charset="-78"/>
                <a:ea typeface="Amiri" pitchFamily="2" charset="-78"/>
                <a:cs typeface="Amiri" pitchFamily="2" charset="-78"/>
              </a:rPr>
              <a:t>ا</a:t>
            </a:r>
            <a:pPr rtl="1" algn="ctr" indent="0" marL="0">
              <a:buNone/>
            </a:pPr>
            <a:r>
              <a:rPr lang="ar-SA" altLang="en-US" sz="2400" b="1" dirty="0">
                <a:solidFill>
                  <a:srgbClr val="1B3B6F"/>
                </a:solidFill>
                <a:latin typeface="Amiri" pitchFamily="2" charset="-78"/>
                <a:ea typeface="Amiri" pitchFamily="2" charset="-78"/>
                <a:cs typeface="Amiri" pitchFamily="2" charset="-78"/>
              </a:rPr>
              <a:t>رَ</a:t>
            </a:r>
            <a:endParaRPr lang="ar-SA" sz="2400" dirty="0"/>
          </a:p>
        </p:txBody>
      </p:sp>
      <p:sp>
        <p:nvSpPr>
          <p:cNvPr id="31" name="Text 28"/>
          <p:cNvSpPr txBox="1"/>
          <p:nvPr/>
        </p:nvSpPr>
        <p:spPr>
          <a:xfrm>
            <a:off x="7251192"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زُرْ</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32" name="Text 29"/>
          <p:cNvSpPr txBox="1"/>
          <p:nvPr/>
        </p:nvSpPr>
        <p:spPr>
          <a:xfrm>
            <a:off x="4873752"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زُرْ</a:t>
            </a:r>
            <a:pPr rtl="1" algn="ctr" indent="0" marL="0">
              <a:buNone/>
            </a:pPr>
            <a:r>
              <a:rPr lang="ar-SA" altLang="en-US" sz="2400" b="1" dirty="0">
                <a:solidFill>
                  <a:srgbClr val="1D5FBF"/>
                </a:solidFill>
                <a:latin typeface="Amiri" pitchFamily="2" charset="-78"/>
                <a:ea typeface="Amiri" pitchFamily="2" charset="-78"/>
                <a:cs typeface="Amiri" pitchFamily="2" charset="-78"/>
              </a:rPr>
              <a:t>نَا</a:t>
            </a:r>
            <a:endParaRPr lang="ar-SA" sz="2400" dirty="0"/>
          </a:p>
        </p:txBody>
      </p:sp>
      <p:sp>
        <p:nvSpPr>
          <p:cNvPr id="33" name="Text 30"/>
          <p:cNvSpPr txBox="1"/>
          <p:nvPr/>
        </p:nvSpPr>
        <p:spPr>
          <a:xfrm>
            <a:off x="3136392" y="3004718"/>
            <a:ext cx="1554480" cy="682142"/>
          </a:xfrm>
          <a:prstGeom prst="rect">
            <a:avLst/>
          </a:prstGeom>
          <a:noFill/>
          <a:ln/>
        </p:spPr>
        <p:txBody>
          <a:bodyPr wrap="square" lIns="0" tIns="0" rIns="0" bIns="0" rtlCol="0" anchor="ctr"/>
          <a:lstStyle/>
          <a:p>
            <a:pPr algn="ctr" indent="0" marL="0">
              <a:buNone/>
            </a:pPr>
            <a:r>
              <a:rPr lang="en-US" sz="2200" b="1" dirty="0">
                <a:solidFill>
                  <a:srgbClr val="1B3B6F"/>
                </a:solidFill>
                <a:latin typeface="Calibri" pitchFamily="34" charset="0"/>
                <a:cs typeface="Amiri" pitchFamily="2" charset="-78"/>
              </a:rPr>
              <a:t>—</a:t>
            </a:r>
            <a:endParaRPr lang="en-US" sz="2200" dirty="0"/>
          </a:p>
        </p:txBody>
      </p:sp>
      <p:sp>
        <p:nvSpPr>
          <p:cNvPr id="34" name="Text 31"/>
          <p:cNvSpPr txBox="1"/>
          <p:nvPr/>
        </p:nvSpPr>
        <p:spPr>
          <a:xfrm>
            <a:off x="566928" y="300471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visited (hollow!)</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628632"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a:t>
            </a:r>
            <a:pPr rtl="1" algn="ctr" indent="0" marL="0">
              <a:buNone/>
            </a:pPr>
            <a:r>
              <a:rPr lang="ar-SA" altLang="en-US" sz="2400" b="1" dirty="0">
                <a:solidFill>
                  <a:srgbClr val="C77700"/>
                </a:solidFill>
                <a:latin typeface="Amiri" pitchFamily="2" charset="-78"/>
                <a:ea typeface="Amiri" pitchFamily="2" charset="-78"/>
                <a:cs typeface="Amiri" pitchFamily="2" charset="-78"/>
              </a:rPr>
              <a:t>ا</a:t>
            </a:r>
            <a:pPr rtl="1" algn="ctr" indent="0" marL="0">
              <a:buNone/>
            </a:pPr>
            <a:r>
              <a:rPr lang="ar-SA" altLang="en-US" sz="2400" b="1" dirty="0">
                <a:solidFill>
                  <a:srgbClr val="1B3B6F"/>
                </a:solidFill>
                <a:latin typeface="Amiri" pitchFamily="2" charset="-78"/>
                <a:ea typeface="Amiri" pitchFamily="2" charset="-78"/>
                <a:cs typeface="Amiri" pitchFamily="2" charset="-78"/>
              </a:rPr>
              <a:t>مَ</a:t>
            </a:r>
            <a:endParaRPr lang="ar-SA" sz="2400" dirty="0"/>
          </a:p>
        </p:txBody>
      </p:sp>
      <p:sp>
        <p:nvSpPr>
          <p:cNvPr id="39" name="Text 36"/>
          <p:cNvSpPr txBox="1"/>
          <p:nvPr/>
        </p:nvSpPr>
        <p:spPr>
          <a:xfrm>
            <a:off x="7251192"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أَقَمْ</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40" name="Text 37"/>
          <p:cNvSpPr txBox="1"/>
          <p:nvPr/>
        </p:nvSpPr>
        <p:spPr>
          <a:xfrm>
            <a:off x="4873752"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أَقَمْ</a:t>
            </a:r>
            <a:pPr rtl="1" algn="ctr" indent="0" marL="0">
              <a:buNone/>
            </a:pPr>
            <a:r>
              <a:rPr lang="ar-SA" altLang="en-US" sz="2400" b="1" dirty="0">
                <a:solidFill>
                  <a:srgbClr val="1D5FBF"/>
                </a:solidFill>
                <a:latin typeface="Amiri" pitchFamily="2" charset="-78"/>
                <a:ea typeface="Amiri" pitchFamily="2" charset="-78"/>
                <a:cs typeface="Amiri" pitchFamily="2" charset="-78"/>
              </a:rPr>
              <a:t>نَا</a:t>
            </a:r>
            <a:endParaRPr lang="ar-SA" sz="2400" dirty="0"/>
          </a:p>
        </p:txBody>
      </p:sp>
      <p:sp>
        <p:nvSpPr>
          <p:cNvPr id="41" name="Text 38"/>
          <p:cNvSpPr txBox="1"/>
          <p:nvPr/>
        </p:nvSpPr>
        <p:spPr>
          <a:xfrm>
            <a:off x="3136392" y="3741725"/>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فِي</a:t>
            </a:r>
            <a:endParaRPr lang="ar-SA" sz="2200" dirty="0"/>
          </a:p>
        </p:txBody>
      </p:sp>
      <p:sp>
        <p:nvSpPr>
          <p:cNvPr id="42" name="Text 39"/>
          <p:cNvSpPr txBox="1"/>
          <p:nvPr/>
        </p:nvSpPr>
        <p:spPr>
          <a:xfrm>
            <a:off x="566928" y="3741725"/>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stayed in (hollow!)</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628632"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اسْتَمْتَعَ</a:t>
            </a:r>
            <a:endParaRPr lang="ar-SA" sz="2400" dirty="0"/>
          </a:p>
        </p:txBody>
      </p:sp>
      <p:sp>
        <p:nvSpPr>
          <p:cNvPr id="47" name="Text 44"/>
          <p:cNvSpPr txBox="1"/>
          <p:nvPr/>
        </p:nvSpPr>
        <p:spPr>
          <a:xfrm>
            <a:off x="7251192"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اسْتَمْتَعْ</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48" name="Text 45"/>
          <p:cNvSpPr txBox="1"/>
          <p:nvPr/>
        </p:nvSpPr>
        <p:spPr>
          <a:xfrm>
            <a:off x="4873752"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اسْتَمْتَعْ</a:t>
            </a:r>
            <a:pPr rtl="1" algn="ctr" indent="0" marL="0">
              <a:buNone/>
            </a:pPr>
            <a:r>
              <a:rPr lang="ar-SA" altLang="en-US" sz="2400" b="1" dirty="0">
                <a:solidFill>
                  <a:srgbClr val="1D5FBF"/>
                </a:solidFill>
                <a:latin typeface="Amiri" pitchFamily="2" charset="-78"/>
                <a:ea typeface="Amiri" pitchFamily="2" charset="-78"/>
                <a:cs typeface="Amiri" pitchFamily="2" charset="-78"/>
              </a:rPr>
              <a:t>نَا</a:t>
            </a:r>
            <a:endParaRPr lang="ar-SA" sz="2400" dirty="0"/>
          </a:p>
        </p:txBody>
      </p:sp>
      <p:sp>
        <p:nvSpPr>
          <p:cNvPr id="49" name="Text 46"/>
          <p:cNvSpPr txBox="1"/>
          <p:nvPr/>
        </p:nvSpPr>
        <p:spPr>
          <a:xfrm>
            <a:off x="3136392" y="4478731"/>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بِـ</a:t>
            </a:r>
            <a:endParaRPr lang="ar-SA" sz="2200" dirty="0"/>
          </a:p>
        </p:txBody>
      </p:sp>
      <p:sp>
        <p:nvSpPr>
          <p:cNvPr id="50" name="Text 47"/>
          <p:cNvSpPr txBox="1"/>
          <p:nvPr/>
        </p:nvSpPr>
        <p:spPr>
          <a:xfrm>
            <a:off x="566928" y="4478731"/>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enjoyed</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628632"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a:t>
            </a:r>
            <a:pPr rtl="1" algn="ctr" indent="0" marL="0">
              <a:buNone/>
            </a:pPr>
            <a:r>
              <a:rPr lang="ar-SA" altLang="en-US" sz="2400" b="1" dirty="0">
                <a:solidFill>
                  <a:srgbClr val="C77700"/>
                </a:solidFill>
                <a:latin typeface="Amiri" pitchFamily="2" charset="-78"/>
                <a:ea typeface="Amiri" pitchFamily="2" charset="-78"/>
                <a:cs typeface="Amiri" pitchFamily="2" charset="-78"/>
              </a:rPr>
              <a:t>ا</a:t>
            </a:r>
            <a:pPr rtl="1" algn="ctr" indent="0" marL="0">
              <a:buNone/>
            </a:pPr>
            <a:r>
              <a:rPr lang="ar-SA" altLang="en-US" sz="2400" b="1" dirty="0">
                <a:solidFill>
                  <a:srgbClr val="1B3B6F"/>
                </a:solidFill>
                <a:latin typeface="Amiri" pitchFamily="2" charset="-78"/>
                <a:ea typeface="Amiri" pitchFamily="2" charset="-78"/>
                <a:cs typeface="Amiri" pitchFamily="2" charset="-78"/>
              </a:rPr>
              <a:t>دَ</a:t>
            </a:r>
            <a:endParaRPr lang="ar-SA" sz="2400" dirty="0"/>
          </a:p>
        </p:txBody>
      </p:sp>
      <p:sp>
        <p:nvSpPr>
          <p:cNvPr id="53" name="Text 50"/>
          <p:cNvSpPr txBox="1"/>
          <p:nvPr/>
        </p:nvSpPr>
        <p:spPr>
          <a:xfrm>
            <a:off x="7251192"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عُدْ</a:t>
            </a:r>
            <a:pPr rtl="1" algn="ctr" indent="0" marL="0">
              <a:buNone/>
            </a:pPr>
            <a:r>
              <a:rPr lang="ar-SA" altLang="en-US" sz="2400" b="1" dirty="0">
                <a:solidFill>
                  <a:srgbClr val="1D5FBF"/>
                </a:solidFill>
                <a:latin typeface="Amiri" pitchFamily="2" charset="-78"/>
                <a:ea typeface="Amiri" pitchFamily="2" charset="-78"/>
                <a:cs typeface="Amiri" pitchFamily="2" charset="-78"/>
              </a:rPr>
              <a:t>تُ</a:t>
            </a:r>
            <a:endParaRPr lang="ar-SA" sz="2400" dirty="0"/>
          </a:p>
        </p:txBody>
      </p:sp>
      <p:sp>
        <p:nvSpPr>
          <p:cNvPr id="54" name="Text 51"/>
          <p:cNvSpPr txBox="1"/>
          <p:nvPr/>
        </p:nvSpPr>
        <p:spPr>
          <a:xfrm>
            <a:off x="4873752"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عُدْ</a:t>
            </a:r>
            <a:pPr rtl="1" algn="ctr" indent="0" marL="0">
              <a:buNone/>
            </a:pPr>
            <a:r>
              <a:rPr lang="ar-SA" altLang="en-US" sz="2400" b="1" dirty="0">
                <a:solidFill>
                  <a:srgbClr val="1D5FBF"/>
                </a:solidFill>
                <a:latin typeface="Amiri" pitchFamily="2" charset="-78"/>
                <a:ea typeface="Amiri" pitchFamily="2" charset="-78"/>
                <a:cs typeface="Amiri" pitchFamily="2" charset="-78"/>
              </a:rPr>
              <a:t>نَا</a:t>
            </a:r>
            <a:endParaRPr lang="ar-SA" sz="2400" dirty="0"/>
          </a:p>
        </p:txBody>
      </p:sp>
      <p:sp>
        <p:nvSpPr>
          <p:cNvPr id="55" name="Text 52"/>
          <p:cNvSpPr txBox="1"/>
          <p:nvPr/>
        </p:nvSpPr>
        <p:spPr>
          <a:xfrm>
            <a:off x="3136392" y="5215738"/>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56" name="Text 53"/>
          <p:cNvSpPr txBox="1"/>
          <p:nvPr/>
        </p:nvSpPr>
        <p:spPr>
          <a:xfrm>
            <a:off x="566928" y="521573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returned (hollow!)</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Hollow verbs: the long ā disappears before -tu / -nā (zāra → zurtu).</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FUTURE AND EVALUATING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will … It was one of the best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المُسْتَقْبَلُ وَالتَّقْيِيمُ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سَـ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سَأَزُورُ المَدِينَةَ مَرَّةً أُخْرَى.</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will visit the city again.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 sticks to the verb.</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سَوْفَ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سَوْفَ نَحْجِزُ مُبَكِّرًا.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will book early.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Separate word, more emphatic.</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EVALUATE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كَانَ مِنْ أَجْمَلِ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كَانَتْ مِنْ أَجْمَلِ الرِّحْلَاتِ.</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was one of the most beautiful trips.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Or: riḥlatun lā tunsā.</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sa- never goes on a past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سَأَزُورُ المَدِينَةَ غَدًا.</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سَزُرْتُ المَدِينَةَ غَدًا.</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narrative and future plans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سَرْدُ المَاضِي وَخُطَطُ المُسْتَقْبَلِ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Hollow verbs in the past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زَارَ → زُرْتُ · أَقَامَ → أَقَمْتُ · عَادَ → عُدْنَا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زُرْتُ المَعَالِمَ السِّيَاحِيَّةَ   ·   أَقَمْنَا فِي فُنْدُقٍ صَغِيرٍ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Fixed prepositions on travel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سَافَرَ إِلَى · أَقَامَ فِي · نَزَلَ فِي · اسْتَمْتَعَ بِـ</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سَافَرْنَا إِلَى مَدِينَةٍ سَاحِلِيَّةٍ   ·   اسْتَمْتَعْتُ بِالرِّحْلَةِ كَثِيرًا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Marking the future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سَـ</a:t>
            </a:r>
            <a:pPr algn="l" indent="0" marL="0">
              <a:buNone/>
            </a:pPr>
            <a:r>
              <a:rPr lang="en-US" sz="1050" dirty="0">
                <a:solidFill>
                  <a:srgbClr val="5A6472"/>
                </a:solidFill>
                <a:latin typeface="Calibri" pitchFamily="34" charset="0"/>
                <a:cs typeface="Amiri" pitchFamily="2" charset="-78"/>
              </a:rPr>
              <a:t> + present verb  /  </a:t>
            </a:r>
            <a:pPr algn="l" indent="0" marL="0">
              <a:buNone/>
            </a:pPr>
            <a:r>
              <a:rPr lang="ar-SA" altLang="en-US" sz="1350" dirty="0">
                <a:solidFill>
                  <a:srgbClr val="5A6472"/>
                </a:solidFill>
                <a:latin typeface="Amiri" pitchFamily="2" charset="-78"/>
                <a:ea typeface="Amiri" pitchFamily="2" charset="-78"/>
                <a:cs typeface="Amiri" pitchFamily="2" charset="-78"/>
              </a:rPr>
              <a:t>سَوْفَ</a:t>
            </a:r>
            <a:pPr algn="l" indent="0" marL="0">
              <a:buNone/>
            </a:pPr>
            <a:r>
              <a:rPr lang="en-US" sz="1050" dirty="0">
                <a:solidFill>
                  <a:srgbClr val="5A6472"/>
                </a:solidFill>
                <a:latin typeface="Calibri" pitchFamily="34" charset="0"/>
                <a:cs typeface="Amiri" pitchFamily="2" charset="-78"/>
              </a:rPr>
              <a:t> + present verb</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سَأَزُورُ المَدِينَةَ مَرَّةً أُخْرَى   ·   سَوْفَ نَحْجِزُ مُبَكِّرًا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Evaluating the trip</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كَانَ مِنْ أَجْمَلِ</a:t>
            </a:r>
            <a:pPr algn="l" indent="0" marL="0">
              <a:buNone/>
            </a:pPr>
            <a:r>
              <a:rPr lang="en-US" sz="1050" dirty="0">
                <a:solidFill>
                  <a:srgbClr val="5A6472"/>
                </a:solidFill>
                <a:latin typeface="Calibri" pitchFamily="34" charset="0"/>
                <a:cs typeface="Amiri" pitchFamily="2" charset="-78"/>
              </a:rPr>
              <a:t> + genitive plural</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مِنْ أَجْمَلِ الرِّحْلَاتِ   ·   كَانَ مِنْ أَفْضَلِ الأَيَّامِ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أَقَامَ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أَقَامْنَا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اسْتَمْتَعْتُ ___ الرِّحْلَةِ كَثِيرًا.</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هٰذِهِ المَدِينَةَ مَرَّةً أُخْرَى.</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سَزُرْتُ هٰذِهِ المَدِينَةَ مَرَّةً أُخْرَى.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هٰذِهِ المَدِينَةُ مَرَّةً أُخْرَى.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أَقَامَ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أَقَمْنَا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أَقَامْنَا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أُقِمْنَا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is hollow, so the stem becomes </a:t>
            </a:r>
            <a:pPr algn="l" indent="0" marL="0">
              <a:buNone/>
            </a:pPr>
            <a:r>
              <a:rPr lang="ar-SA" altLang="en-US" sz="1350" dirty="0">
                <a:solidFill>
                  <a:srgbClr val="8A6D1E"/>
                </a:solidFill>
                <a:latin typeface="Amiri" pitchFamily="2" charset="-78"/>
                <a:ea typeface="Amiri" pitchFamily="2" charset="-78"/>
                <a:cs typeface="Amiri" pitchFamily="2" charset="-78"/>
              </a:rPr>
              <a:t>أَقَمْـ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اسْتَمْتَعْتُ ___ الرِّحْلَةِ كَثِيرًا.</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سَأَزُورُ هٰذِهِ المَدِينَةَ مَرَّةً أُخْرَى.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سَزُرْتُ هٰذِهِ المَدِينَةَ مَرَّةً أُخْرَى.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 هٰذِهِ المَدِينَةُ مَرَّةً أُخْرَى.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attaches to a present verb, and the object stays accusative.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accept, remember and plan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Invitation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بِكُلِّ سُرُورٍ! أُحِبُّ البَحْرَ.</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Accept + a reason.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الصَّيْفِ المَاضِي </a:t>
            </a:r>
            <a:pPr rtl="1" algn="ct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سَافَرْتُ</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إِلَى مَدِينَةٍ سَاحِلِيَّةٍ، وَ</a:t>
            </a:r>
            <a:pPr rtl="1" algn="ct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أَقَمْتُ</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فِي فُنْدُقٍ صَغِيرٍ.</a:t>
            </a:r>
            <a:endParaRPr lang="ar-SA" sz="1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Hollow: aqamtu.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Evaluate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زُرْتُ</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المَعَالِمَ، وَكَانَتْ مِنْ أَجْمَلِ الرِّحْلَاتِ.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zurtu + min ajmali.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سَ</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أَزُورُهَا مَرَّةً أُخْرَى فِي المُسْتَقْبَلِ.</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Switch: sa- + present.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بِكُلِّ سُرُورٍ! أُحِبُّ البَحْرَ. فِي الصَّيْفِ المَاضِي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سَافَرْتُ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إِلَى مَدِينَةٍ سَاحِلِيَّةٍ،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أَقَمْتُ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فُنْدُقٍ صَغِيرٍ.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زُرْتُ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المَعَالِمَ السِّيَاحِيَّةَ،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اسْتَمْتَعْتُ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بِالشَّاطِئِ كَثِيرًا. كَانَتْ مِنْ أَجْمَلِ الرِّحْلَاتِ،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أَزُورُهَا مَرَّةً أُخْرَى.</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With pleasure! I love the sea. Last summer I travelled to a coastal city, and I stayed in a small hotel. I visited the tourist attractions and I enjoyed the beach a lot. It was one of the most beautiful trips, and I will visit it again.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زُرْتُ المَعَالِمَ السِّيَاحِيَّةَ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visited the tourist attractions</a:t>
            </a:r>
            <a:endParaRPr lang="en-US" sz="1250" dirty="0"/>
          </a:p>
          <a:p>
            <a:pPr indent="0" marL="0">
              <a:buNone/>
            </a:pPr>
            <a:r>
              <a:rPr lang="en-US" sz="1050" i="1" dirty="0">
                <a:solidFill>
                  <a:srgbClr val="8A6D1E"/>
                </a:solidFill>
                <a:latin typeface="Calibri" pitchFamily="34" charset="0"/>
                <a:cs typeface="Amiri" pitchFamily="2" charset="-78"/>
              </a:rPr>
              <a:t>zāra shortens to zur- before -tu.</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أَقَمْنَا فِي فُنْدُقٍ صَغِيرٍ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stayed in a small hotel</a:t>
            </a:r>
            <a:endParaRPr lang="en-US" sz="1250" dirty="0"/>
          </a:p>
          <a:p>
            <a:pPr indent="0" marL="0">
              <a:buNone/>
            </a:pPr>
            <a:r>
              <a:rPr lang="en-US" sz="1050" i="1" dirty="0">
                <a:solidFill>
                  <a:srgbClr val="8A6D1E"/>
                </a:solidFill>
                <a:latin typeface="Calibri" pitchFamily="34" charset="0"/>
                <a:cs typeface="Amiri" pitchFamily="2" charset="-78"/>
              </a:rPr>
              <a:t>aqāma shortens to aqam- and takes fī.</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سَأَزُورُ مَرَّةً أُخْرَى</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visit again</a:t>
            </a:r>
            <a:endParaRPr lang="en-US" sz="1250" dirty="0"/>
          </a:p>
          <a:p>
            <a:pPr indent="0" marL="0">
              <a:buNone/>
            </a:pPr>
            <a:r>
              <a:rPr lang="en-US" sz="1050" i="1" dirty="0">
                <a:solidFill>
                  <a:srgbClr val="8A6D1E"/>
                </a:solidFill>
                <a:latin typeface="Calibri" pitchFamily="34" charset="0"/>
                <a:cs typeface="Amiri" pitchFamily="2" charset="-78"/>
              </a:rPr>
              <a:t>sa- sticks to the present verb.</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كَانَتْ مِنْ أَجْمَلِ الرِّحْلَاتِ.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was one of the most beautiful trips.</a:t>
            </a:r>
            <a:endParaRPr lang="en-US" sz="1250" dirty="0"/>
          </a:p>
          <a:p>
            <a:pPr indent="0" marL="0">
              <a:buNone/>
            </a:pPr>
            <a:r>
              <a:rPr lang="en-US" sz="1050" i="1" dirty="0">
                <a:solidFill>
                  <a:srgbClr val="8A6D1E"/>
                </a:solidFill>
                <a:latin typeface="Calibri" pitchFamily="34" charset="0"/>
                <a:cs typeface="Amiri" pitchFamily="2" charset="-78"/>
              </a:rPr>
              <a:t>Evaluation: min + superlative.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HOLIDAYS AND TRAVEL — PAST AND FUTURE”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Where did they go? Match the picture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beach</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a suitcase</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hotel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أَقَمْتُ فِي فُنْدُقٍ.</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قَضَيْتُ العُطْلَةَ عَلَى الشَّاطِئِ.</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سَافَرْتُ بِالطَّائِرَةِ.</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مَشْهَدُ العُطْلَةِ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beach</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قَضَيْتُ العُطْلَةَ عَلَى الشَّاطِئِ.</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spent the holiday on the beach.</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plane, a suitcase</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سَافَرْتُ بِالطَّائِرَةِ.</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travelled by plane.</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hotel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أَقَمْتُ فِي فُنْدُقٍ.</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stayed in a hotel.</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future or evaluation?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حَجَزْنَا التَّذَاكِرَ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المَعَالِمَ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مَرَّةً أُخْرَى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 مُبَكِّرًا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أَتَمَنَّى أَنْ أَعُودَ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رِحْلَةٌ لَا تُنْسَى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أَنْصَحُ بِزِيَارَتِهَا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narrative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plan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narrative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حَجَزْنَا التَّذَاكِرَ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فِي فُنْدُقٍ</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المَعَالِمَ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Future plan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سَأَزُورُ مَرَّةً أُخْرَى</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 مُبَكِّرًا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أَتَمَنَّى أَنْ أَعُودَ</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Evaluation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رِحْلَةٌ لَا تُنْسَى</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أَنْصَحُ بِزِيَارَتِهَا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booking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التَّذَاكِرُ قَبْلَ شَهْرٍ.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التَّذَاكِرَ قَبْلَ شَهْرًا.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حَجَزْنَا التَّذَاكِرَ قَبْلَ شَهْرٍ.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evaluation.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مِنْ أَجْمَلُ الرِّحْلَاتِ.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مِنْ أَجْمَلِ الرِّحْلَاتِ.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مِنْ أَجْمَلِ الرِّحْلَاتُ.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keeps both tenses in place.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سَأَزُورُ المَتْحَفَ العَامَ المَاضِيَ، وَعُدْتُ إِلَيْهِ فِي المُسْتَقْبَلِ.</a:t>
            </a:r>
            <a:endParaRPr lang="ar-SA" sz="19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زُرْتُ المَتْحَفَ العَامَ المَاضِيَ، وَسَأَعُودُ إِلَيْهِ فِي المُسْتَقْبَلِ.</a:t>
            </a:r>
            <a:endParaRPr lang="ar-SA" sz="19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زُرْتُ المَتْحَفَ فِي المُسْتَقْبَلِ وَسَأَعُودُ العَامَ المَاضِيَ.</a:t>
            </a:r>
            <a:endParaRPr lang="ar-SA" sz="19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أَتَمَنَّى ___ أَزُورَ الأُرْدُنَّ.</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booking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حَجَزْنَا التَّذَاكِرُ قَبْلَ شَهْرٍ.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حَجَزْنَا التَّذَاكِرَ قَبْلَ شَهْرًا.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حَجَزْنَا التَّذَاكِرَ قَبْلَ شَهْرٍ.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is accusative and </a:t>
            </a:r>
            <a:pPr algn="l" indent="0" marL="0">
              <a:buNone/>
            </a:pPr>
            <a:r>
              <a:rPr lang="ar-SA" altLang="en-US" sz="1350" dirty="0">
                <a:solidFill>
                  <a:srgbClr val="8A6D1E"/>
                </a:solidFill>
                <a:latin typeface="Amiri" pitchFamily="2" charset="-78"/>
                <a:ea typeface="Amiri" pitchFamily="2" charset="-78"/>
                <a:cs typeface="Amiri" pitchFamily="2" charset="-78"/>
              </a:rPr>
              <a:t>قَبْلَ</a:t>
            </a:r>
            <a:pPr algn="l" indent="0" marL="0">
              <a:buNone/>
            </a:pPr>
            <a:r>
              <a:rPr lang="en-US" sz="1050" i="1" dirty="0">
                <a:solidFill>
                  <a:srgbClr val="8A6D1E"/>
                </a:solidFill>
                <a:latin typeface="Calibri" pitchFamily="34" charset="0"/>
                <a:cs typeface="Amiri" pitchFamily="2" charset="-78"/>
              </a:rPr>
              <a:t> takes the genitive.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evaluation.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مِنْ أَجْمَلُ الرِّحْلَاتِ.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مِنْ أَجْمَلِ الرِّحْلَاتِ.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مِنْ أَجْمَلِ الرِّحْلَاتُ.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takes the genitive, and the noun after the superlative is genitive too.</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keeps both tenses in place.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 المَتْحَفَ العَامَ المَاضِيَ، وَعُدْتُ إِلَيْهِ فِي المُسْتَقْبَلِ.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 المَتْحَفَ العَامَ المَاضِيَ، وَسَأَعُودُ إِلَيْهِ فِي المُسْتَقْبَلِ.</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المَتْحَفَ فِي المُسْتَقْبَلِ وَسَأَعُودُ العَامَ المَاضِيَ.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clause carries the past time phrase and the future clause carries the future one.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أَتَمَنَّى ___ أَزُورَ الأُرْدُنَّ.</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أَتَمَنَّى</a:t>
            </a:r>
            <a:pPr algn="l" indent="0" marL="0">
              <a:buNone/>
            </a:pPr>
            <a:r>
              <a:rPr lang="en-US" sz="1050" i="1" dirty="0">
                <a:solidFill>
                  <a:srgbClr val="8A6D1E"/>
                </a:solidFill>
                <a:latin typeface="Calibri" pitchFamily="34" charset="0"/>
                <a:cs typeface="Amiri" pitchFamily="2" charset="-78"/>
              </a:rPr>
              <a:t> is followed by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 subjunctive verb.</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المَدِينَةَ.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 before -tu: long or short?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اسْتَمْتَعْتُ الرِّحْلَةَ.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Enjoyed + which partner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سَزُرْتُ المَدِينَةَ غَدًا.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 goes on a past or a present verb?</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المَدِينَةَ.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المَدِينَةَ.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hollow verb shortens its middle vowel before a consonant suffix.</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اسْتَمْتَعْتُ الرِّحْلَةَ.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اسْتَمْتَعْتُ بِالرِّحْلَةِ.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اسْتَمْتَعَ</a:t>
            </a:r>
            <a:pPr algn="l" indent="0" marL="0">
              <a:buNone/>
            </a:pPr>
            <a:r>
              <a:rPr lang="en-US" sz="1150" b="1" dirty="0">
                <a:solidFill>
                  <a:srgbClr val="1B3B6F"/>
                </a:solidFill>
                <a:latin typeface="Calibri" pitchFamily="34" charset="0"/>
                <a:cs typeface="Amiri" pitchFamily="2" charset="-78"/>
              </a:rPr>
              <a:t> needs the preposition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سَزُرْتُ المَدِينَةَ غَدًا.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سَأَزُورُ المَدِينَةَ غَدًا.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attaches to a present verb, never to a past one.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last summer's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book the tickets?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month before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day before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arrival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they stay?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city-centre flat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hotel near the beach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discover?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museum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stadium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beautiful old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suitcase was left at the station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missed the train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hotel was full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plan?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to return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visit again and book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by plane instead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أَقَمْنَا فِي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سَأَزُورُ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سَوْفَ</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الصَّيْفِ المَاضِي سَافَرْنَا إِلَى مَدِينَةٍ سَاحِلِيَّةٍ. حَجَزْنَا التَّذَاكِرَ قَبْلَ شَهْرٍ، ثُمَّ رَكِبْنَا القِطَارَ مِنَ المَحَطَّةِ.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summer we travelled to a coastal city. We booked the tickets a month before, then took the train from the station.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أَقَمْنَا فِي فُنْدُقٍ صَغِيرٍ قَرِيبٍ مِنَ الشَّاطِئِ. فِي اليَوْمِ الأَوَّلِ زُرْنَا المَعَالِمَ السِّيَاحِيَّةَ وَاكْتَشَفْنَا سُوقًا قَدِيمًا جَمِيلًا.</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stayed in a small hotel near the beach. On the first day we visited the sights and discovered a beautiful old market.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اسْتَمْتَعْتُ بِالرِّحْلَةِ كَثِيرًا، وَكَانَتْ مِنْ أَجْمَلِ الرِّحْلَاتِ.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enjoyed the trip a lot, and it was one of the most beautiful trips.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لِلْأَسَفِ نَسِيتُ حَقِيبَةَ السَّفَرِ فِي المَحَطَّةِ، وَلٰكِنْ لِحُسْنِ الحَظِّ وَجَدْنَاهَا.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Unfortunately I forgot the suitcase at the station, but luckily we found it.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المُسْتَقْبَلِ سَأَزُورُ تِلْكَ المَدِينَةَ مَرَّةً أُخْرَى، وَسَوْفَ نَحْجِزُ مُبَكِّرًا.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future I will visit that city again, and we will book early.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book the tickets?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month before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day before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arrival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حَجَزْنَا التَّذَاكِرَ قَبْلَ شَهْرٍ.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they stay?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city-centre flat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hotel near the beach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أَقَمْنَا فِي فُنْدُقٍ صَغِيرٍ قَرِيبٍ مِنَ الشَّاطِئِ.</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discover?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museum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stadium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beautiful old market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اكْتَشَفْنَا سُوقًا قَدِيمًا جَمِيلًا.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suitcase was left at the station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missed the train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hotel was full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نَسِيتُ حَقِيبَةَ السَّفَرِ فِي المَحَطَّةِ.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plan?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to return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visit again and book early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by plane instead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سَأَزُورُ تِلْكَ المَدِينَةَ مَرَّةً أُخْرَى، وَسَوْفَ نَحْجِزُ مُبَكِّرًا.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أَقَمْنَا فِي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سَأَزُورُ</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سَوْفَ</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Invitation-to-memory timeline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Invitation-to-memory timeline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Respond to an invitation, describe a past holiday or outing and finish with a future leisure plan using clear time markers and sequencing.</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posts an invitation in the chat (to the park, the beach or a family meal).</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Everyone replies: accept or decline politely, with a reason.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build a timeline on paper: a past outing (3 steps) → a future plan (1 step).</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students tell their timeline on the mic using time markers.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Reply to the invitation + two past sentences (zurtu, istamta‘tu bi-).</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Reply + three past steps with awwalan / thumma + one plan with sa-.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Full timeline: past habit (kunnā …), evaluation (min ajmali) and a plan with sawfa.</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بِكُلِّ سُرُورٍ</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with pleasure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آسِفٌ، لَا أَسْتَطِيعُ لِأَنَّ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sorry, I can’t because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فِي النِّهَايَةِ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finally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العُطْلَةِ القَادِمَةِ سَـ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next holiday I will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holiday, then a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تُرِيدُ أَنْ تَأْتِيَ مَعِي إِلَى الحَدِيقَةِ يَوْمَ السَّبْتِ؟</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سَافَرْتَ فِي الإِجَازَةِ المَاضِيَةِ؟ وَأَيْنَ أَقَمْتَ؟</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زُرْتَ هُنَاكَ؟ وَبِمَاذَا اسْتَمْتَعْتَ؟</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سَتُسَافِرُ فِي المُسْتَقْبَلِ؟ وَلِمَاذَا؟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ea typeface="Amiri" pitchFamily="2" charset="-78"/>
                <a:cs typeface="Amiri" pitchFamily="2" charset="-78"/>
              </a:rPr>
              <a:t>بِكُلِّ سُرُورٍ! / آسِفٌ، لَا أَسْتَطِيعُ لِأَنَّ ___ .</a:t>
            </a:r>
            <a:endParaRPr lang="ar-SA" sz="145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سَافَرْتُ إِلَى ___ ، وَأَقَمْتُ فِي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زُرْتُ ___ ، وَاسْتَمْتَعْتُ بِـ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فِي المُسْتَقْبَلِ سَأُسَافِرُ إِلَى ___ لِأَنَّ ___ .</a:t>
            </a:r>
            <a:endParaRPr lang="ar-SA" sz="145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سَافَرْتَ فِي الإِجَازَةِ المَاضِيَةِ؟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did you travel in the last holiday?</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سَافَرْتُ إِلَى مَدِينَةٍ سَاحِلِيَّةٍ، وَأَقَمْتُ فِي فُنْدُقٍ صَغِيرٍ.</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travelled to a coastal city, and I stayed in a small hotel.</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six past sentences about a trip or a day out.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Travel verbs with their partner words: safartu ilā, zurtu, aqamtu fī, istamta‘tu bi-.</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Develop: add an evaluation and a future sentence with sa-.</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Begin with a reply to an invitation, then the past trip, then the plan.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holiday account with a future plan.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habit (kunnā namshī), every hollow stem accurate, a clean switch to the future.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اسْتَمْتَعْتُ بِـ ______ كَثِيرًا.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enjoyed … a lot.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أَوَّلًا ______ ، ثُمَّ ______ ، وَبَعْدَ ذٰلِكَ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 then …, after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مِنْ أَجْمَلِ الرِّحْلَاتِ.</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was one of the most beautiful trips.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سَأَزُورُ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visit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 بِزِيَارَةِ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recommend visiting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بِكُلِّ سُرُورٍ!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pleasure!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آسِفٌ / آسِفَةٌ، لَا أَسْتَطِيعُ لِأَنَّ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Sorry, I can’t because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سَافَرْتُ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travelled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أَقَمْتُ فِي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stayed in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سَافَرْتُ  ·  زُرْتُ  ·  أَقَمْتُ  ·  حَجَزْتُ  ·  رَكِبْتُ  ·  اسْتَمْتَعْتُ بِـ  ·  عُدْتُ  ·  الشَّاطِئُ  ·  الفُنْدُقُ  ·  سَأَزُورُ  ·  سَوْفَ  ·  بِكُلِّ سُرُورٍ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about a holiday. Narrate what you booked, where you stayed, what you visited and what you enjoyed, then close with a future plan using </a:t>
            </a:r>
            <a:pPr algn="l" indent="0" marL="0">
              <a:buNone/>
            </a:pPr>
            <a:r>
              <a:rPr lang="ar-SA" altLang="en-US" sz="1750" b="1" dirty="0">
                <a:solidFill>
                  <a:srgbClr val="1F2A37"/>
                </a:solidFill>
                <a:latin typeface="Amiri" pitchFamily="2" charset="-78"/>
                <a:ea typeface="Amiri" pitchFamily="2" charset="-78"/>
                <a:cs typeface="Amiri" pitchFamily="2" charset="-78"/>
              </a:rPr>
              <a:t>سَـ</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ea typeface="Amiri" pitchFamily="2" charset="-78"/>
                <a:cs typeface="Amiri" pitchFamily="2" charset="-78"/>
              </a:rPr>
              <a:t>سَوْفَ</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hollow travel verbs with correctly shortened stems.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travel verb with its own preposition: </a:t>
            </a:r>
            <a:pPr algn="l" indent="0" marL="0">
              <a:buNone/>
            </a:pPr>
            <a:r>
              <a:rPr lang="ar-SA" altLang="en-US" sz="1550" dirty="0">
                <a:solidFill>
                  <a:srgbClr val="1F2A37"/>
                </a:solidFill>
                <a:latin typeface="Amiri" pitchFamily="2" charset="-78"/>
                <a:ea typeface="Amiri" pitchFamily="2" charset="-78"/>
                <a:cs typeface="Amiri" pitchFamily="2" charset="-78"/>
              </a:rPr>
              <a:t>إِلَى، فِي،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evaluation using </a:t>
            </a:r>
            <a:pPr algn="l" indent="0" marL="0">
              <a:buNone/>
            </a:pPr>
            <a:r>
              <a:rPr lang="ar-SA" altLang="en-US" sz="1550" dirty="0">
                <a:solidFill>
                  <a:srgbClr val="1F2A37"/>
                </a:solidFill>
                <a:latin typeface="Amiri" pitchFamily="2" charset="-78"/>
                <a:ea typeface="Amiri" pitchFamily="2" charset="-78"/>
                <a:cs typeface="Amiri" pitchFamily="2" charset="-78"/>
              </a:rPr>
              <a:t>كَانَ مِنْ أَجْمَلِ</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رِحْلَةٌ لَا تُنْسَى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clean switch to the future with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نَمْشِي عَلَى الشَّاطِئِ كُلَّ صَبَاحٍ</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walk on the beach every morning</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لِلْأَسَفِ … وَلٰكِنْ لِحُسْنِ الحَظِّ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unfortunately … but luckily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رِحْلَةٌ لَا تُنْسَى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unforgettable trip</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أُقِيمُ هُنَاكَ أُسْبُوعَيْنِ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stay there for two weeks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أَتَمَنَّى أَنْ أَعُودَ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hope to return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الصَّيْفِ المَاضِي سَافَرْتُ مَعَ أُسْرَتِي إِلَى مَدِينَةٍ سَاحِلِيَّةٍ جَمِيلَةٍ. حَجَزْنَا التَّذَاكِرَ وَالفُنْدُقَ قَبْلَ شَهْرٍ، ثُمَّ رَكِبْنَا القِطَارَ مِنَ المَحَطَّةِ. أَقَمْنَا فِي فُنْدُقٍ بَسِيطٍ قَرِيبٍ مِنَ الشَّاطِئِ. فِي كُلِّ صَبَاحٍ كُنَّا نَمْشِي عَلَى الشَّاطِئِ، وَفِي المَسَاءِ زُرْنَا المَعَالِمَ السِّيَاحِيَّةَ وَاكْتَشَفْنَا سُوقًا قَدِيمًا. اسْتَمْتَعْتُ بِالرِّحْلَةِ كَثِيرًا، وَكَانَتْ مِنْ أَجْمَلِ الرِّحْلَاتِ. لِلْأَسَفِ نَسِيتُ حَقِيبَتِي فِي القِطَارِ، وَلٰكِنْ لِحُسْنِ الحَظِّ وَجَدْتُهَا. فِي المُسْتَقْبَلِ سَأَعُودُ إِلَى تِلْكَ المَدِينَةِ، وَسَوْفَ أُقِيمُ هُنَاكَ أُسْبُوعَيْنِ.</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I travelled with my family to a beautiful coastal city. We booked the tickets and the hotel a month before, then took the train from the station. We stayed in a simple hotel near the beach. Every morning we used to walk on the beach, and in the evening we visited the sights and discovered an old market. I enjoyed the trip a lot; it was one of the most beautiful trips. Unfortunately I forgot my bag on the train, but luckily I found it. In the future I will return to that city, and I will stay there for two weeks.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hollow verbs (zurnā, aqamnā)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istamta‘tu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min ajmali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future with sa- / sawfa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invitation politely.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past travel verbs.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Hollow verbs are short: zurtu, aqamtu, ‘udtu.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verb has its partner word (ilā, fī, bi-).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and future are clearly separated.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أَقَامْنَا فِي فُنْدُقٍ قَرِيبٍ.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اسْتَمْتَعْنَا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الجَوِّ الهَادِئِ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نَحْجِزُ مُبَكِّرًا.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حَجَزْنَا مُبَكِّرًا.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سَنَحْجِزْنَا مُبَكِّرًا.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أَقَمْنَا فِي فُنْدُقٍ قَرِيبٍ.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أَقَامْنَا فِي فُنْدُقٍ قَرِيبٍ.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أَقَمْنَا فِي فُنْدُقٌ قَرِيبٌ.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أَقَمْـ</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takes the genitive.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اسْتَمْتَعْنَا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الجَوِّ الهَادِئِ</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اسْتَمْتَعَ</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سَوْفَ نَحْجِزُ مُبَكِّرًا.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سَوْفَ حَجَزْنَا مُبَكِّرًا.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سَنَحْجِزْنَا مُبَكِّرًا.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 precedes a present-tense verb.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short travel review</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زُرْتُ هٰذِهِ المَدِينَةَ فِي الرَّبِيعِ المَاضِي مَعَ صَدِيقَيْنِ. حَجَزْنَا الفُنْدُقَ عَبْرَ الإِنْتِرْنِتْ، وَنَزَلْنَا فِي غُرْفَةٍ بَسِيطَةٍ وَنَظِيفَةٍ. كَانَ المَطَارُ بَعِيدًا قَلِيلًا، وَلٰكِنَّ القِطَارَ كَانَ سَرِيعًا وَرَخِيصًا. فِي الصَّبَاحِ كُنَّا نَمْشِي إِلَى الشَّاطِئِ، وَفِي المَسَاءِ كُنَّا نَتَنَاوَلُ العَشَاءَ فِي مَطَاعِمَ صَغِيرَةٍ. اكْتَشَفْنَا مَعَالِمَ سِيَاحِيَّةً كَثِيرَةً، وَاسْتَمْتَعْنَا بِالجَوِّ الهَادِئِ. كَانَتْ رِحْلَةً لَا تُنْسَى، وَأَنْصَحُ بِزِيَارَتِهَا فِي الرَّبِيعِ. فِي المُسْتَقْبَلِ سَوْفَ أَعُودُ مَعَ أُسْرَتِي.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الرَّبِيعِ المَاضِي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last spring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 صَدِيقَيْنِ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two friends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عَبْرَ الإِنْتِرْنِتْ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online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نَزَلْنَا 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stayed in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بَسِيطَةٍ وَنَظِيفَةٍ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simple and clean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بَعِيدًا قَلِيلًا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little far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سَرِيعًا وَرَخِيصًا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fast and cheap</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كُنَّا نَمْشِي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used to walk</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الجَوِّ الهَادِئِ</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calm atmosphere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أَنْصَحُ بِزِيَارَتِهَا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recommend visiting it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book the hotel?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telephone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arrival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train?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slow and expensive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cancelled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fast and cheap</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used to do in the mornings?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 to the beach</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museums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late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recommend?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the city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in spring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Travelling by plane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intention?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return with family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move there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to return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book the hotel?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telephone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Online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arrival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حَجَزْنَا الفُنْدُقَ عَبْرَ الإِنْتِرْنِتْ.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train?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slow and expensive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cancelled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was fast and cheap</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القِطَارُ سَرِيعًا وَرَخِيصًا.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used to do in the mornings?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Walk to the beach</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 museums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late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كُنَّا نَمْشِي إِلَى الشَّاطِئِ</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recommend?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the city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Visiting in spring</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Travelling by plane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أَنْصَحُ بِزِيَارَتِهَا فِي الرَّبِيعِ.</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intention?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return with family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move there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 to return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المُسْتَقْبَلِ سَوْفَ أَعُودُ مَعَ أُسْرَتِي.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Travel Mission — Hollow Verbs, Prepositions and Tense Switch</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عَادَ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عُدْنَا</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عَادْنَا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عِدْنَا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سَافَرْنَا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أَقَمْنَا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“passport”?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جَوَازُ السَّفَرِ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حَقِيبَةُ السَّفَرِ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تَذْكِرَةٌ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 أَمْسِ</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عَادَ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عُدْنَا</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عَادْنَا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عِدْنَا</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عَادَ</a:t>
            </a:r>
            <a:pPr algn="l" indent="0" marL="0">
              <a:buNone/>
            </a:pPr>
            <a:r>
              <a:rPr lang="en-US" sz="1050" i="1" dirty="0">
                <a:solidFill>
                  <a:srgbClr val="8A6D1E"/>
                </a:solidFill>
                <a:latin typeface="Calibri" pitchFamily="34" charset="0"/>
                <a:cs typeface="Amiri" pitchFamily="2" charset="-78"/>
              </a:rPr>
              <a:t> belongs to the u family, so the stem becomes </a:t>
            </a:r>
            <a:pPr algn="l" indent="0" marL="0">
              <a:buNone/>
            </a:pPr>
            <a:r>
              <a:rPr lang="ar-SA" altLang="en-US" sz="1350" dirty="0">
                <a:solidFill>
                  <a:srgbClr val="8A6D1E"/>
                </a:solidFill>
                <a:latin typeface="Amiri" pitchFamily="2" charset="-78"/>
                <a:ea typeface="Amiri" pitchFamily="2" charset="-78"/>
                <a:cs typeface="Amiri" pitchFamily="2" charset="-78"/>
              </a:rPr>
              <a:t>عُدْـ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سَافَرْنَا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سَافَرَ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أَقَمْنَا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فُنْدُقٍ 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أَقَامَ</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“passport”?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جَوَازُ السَّفَرِ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حَقِيبَةُ السَّفَرِ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تَذْكِرَةٌ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جَوَازُ السَّفَرِ</a:t>
            </a:r>
            <a:pPr algn="l" indent="0" marL="0">
              <a:buNone/>
            </a:pPr>
            <a:r>
              <a:rPr lang="en-US" sz="1050" i="1" dirty="0">
                <a:solidFill>
                  <a:srgbClr val="8A6D1E"/>
                </a:solidFill>
                <a:latin typeface="Calibri" pitchFamily="34" charset="0"/>
                <a:cs typeface="Amiri" pitchFamily="2" charset="-78"/>
              </a:rPr>
              <a:t> is a passport.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إِلَى 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سَأُسَافِرُ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 أَمْسِ</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needs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TB-L09 · Invitations and Holidays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TB-L10 · Topic B Listening and Reading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أَتَفَاهَمُ 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get on with</a:t>
            </a:r>
            <a:pPr indent="0" marL="0">
              <a:buNone/>
            </a:pPr>
            <a:r>
              <a:rPr lang="en-US" sz="1000" i="1" dirty="0">
                <a:solidFill>
                  <a:srgbClr val="5A6472"/>
                </a:solidFill>
                <a:latin typeface="Calibri" pitchFamily="34" charset="0"/>
                <a:cs typeface="Amiri" pitchFamily="2" charset="-78"/>
              </a:rPr>
              <a:t>  TB-L02</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صَدِيقٌ مُقَرَّبٌ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close friend</a:t>
            </a:r>
            <a:pPr indent="0" marL="0">
              <a:buNone/>
            </a:pPr>
            <a:r>
              <a:rPr lang="en-US" sz="1000" i="1" dirty="0">
                <a:solidFill>
                  <a:srgbClr val="5A6472"/>
                </a:solidFill>
                <a:latin typeface="Calibri" pitchFamily="34" charset="0"/>
                <a:cs typeface="Amiri" pitchFamily="2" charset="-78"/>
              </a:rPr>
              <a:t>  TB-L02</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الأُسْلُوبُ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style</a:t>
            </a:r>
            <a:pPr indent="0" marL="0">
              <a:buNone/>
            </a:pPr>
            <a:r>
              <a:rPr lang="en-US" sz="1000" i="1" dirty="0">
                <a:solidFill>
                  <a:srgbClr val="5A6472"/>
                </a:solidFill>
                <a:latin typeface="Calibri" pitchFamily="34" charset="0"/>
                <a:cs typeface="Amiri" pitchFamily="2" charset="-78"/>
              </a:rPr>
              <a:t>  D2-L04 (website)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يُعَبِّرُ عَنْ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expresses</a:t>
            </a:r>
            <a:pPr indent="0" marL="0">
              <a:buNone/>
            </a:pPr>
            <a:r>
              <a:rPr lang="en-US" sz="1000" i="1" dirty="0">
                <a:solidFill>
                  <a:srgbClr val="5A6472"/>
                </a:solidFill>
                <a:latin typeface="Calibri" pitchFamily="34" charset="0"/>
                <a:cs typeface="Amiri" pitchFamily="2" charset="-78"/>
              </a:rPr>
              <a:t>  D2-L04 (website)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الرَّغْمِ مِنْ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although</a:t>
            </a:r>
            <a:pPr indent="0" marL="0">
              <a:buNone/>
            </a:pPr>
            <a:r>
              <a:rPr lang="en-US" sz="1000" i="1" dirty="0">
                <a:solidFill>
                  <a:srgbClr val="5A6472"/>
                </a:solidFill>
                <a:latin typeface="Calibri" pitchFamily="34" charset="0"/>
                <a:cs typeface="Amiri" pitchFamily="2" charset="-78"/>
              </a:rPr>
              <a:t>  D2-L04 (website)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TB-L10 is a reading lesson on personality, relationships and fashion. Which of these three topics do you find easiest to read about,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أَيُّ مَوْضُوعٍ أَسْهَلُ 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TB-L09: the picture game and the sorter — learn the 10 past travel verbs.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invitation reply + 6 sentences about a trip or day out + 1 future plan.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90–100 words, past then future.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TB-L10 · Topic B Listening and Reading Workshop</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الِاسْتِمَاعِ وَالقِرَاءَةِ لِلْمِحْوَرِ 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zāra → zurtu · sa- + present for the future.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TB-L09 · Invitations, Holidays and Past Experiences</dc:title>
  <dc:subject>PptxGenJS Presentation</dc:subject>
  <dc:creator>Al Madina Online School · Arabic Department</dc:creator>
  <cp:lastModifiedBy>Al Madina Online School · Arabic Department</cp:lastModifiedBy>
  <cp:revision>1</cp:revision>
  <dcterms:created xsi:type="dcterms:W3CDTF">2026-10-11T06:43:53Z</dcterms:created>
  <dcterms:modified xsi:type="dcterms:W3CDTF">2026-10-11T06:43:53Z</dcterms:modified>
</cp:coreProperties>
</file>