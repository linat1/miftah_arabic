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TB-L09 — Invitations, Holidays and Past Experiences. Website: Advanced Topics › Topic B (Personal and Social Life) › Lesson 9.
The website builds this lesson on the D5-L07 lesson engine, with the Topic focus “Arrange social activities and narrate a memorable leisure or holiday experience.” (grammar: Past tense; future plans; sequencing; polite responses; skills: Listening · Writing) and the application challenge “Invitation-to-memory timeline”.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B › Lesson 9 (TB-L09), lesson engine Pathways › Development › D5 › TB-L09.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Three parts, one story: an invitation (Topic B), a past holiday or day out (website engine) and a future plan. Core: 6 past travel verbs in the “I” form + one future sentence with سَأَ…. Develop: hollow verbs (زُرْتُ، أَقَمْتُ، عُدْتُ), fixed prepositions (سَافَرْتُ إِلَى، أَقَمْتُ فِي، اسْتَمْتَعْتُ بِـ) and an evaluation. Stretch: a clean past → future switch and a past habit (كُنَّا نَمْشِي).
• Invitations and polite refusals are teacher-written frames (Topic B lesson focus).
• Sensitivity: a “holiday” can be a day out, a family visit or an imagined trip — no student needs to have travelled abroad.
• Links: AT-A-L09 transport (بِالقِطَارِ), AT-A-L11 past travel account (Petra), TB-L08 hobbies.
• TEACHER-WRITTEN ITEMS: the website TB-L09 model patterns have no English translation and the sorter has no title, so the deck adds teacher-written translations and a title (the Arabic and categories are the website’s). The invitation frames are also teacher-written (Topic B focus).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travel words prepared at home at the end of TB-L08. Questions 3–5 retrieve TB-L08 (collocation, frequency) and AT-A-L09 (transport).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Hollow verbs lose their long vowel before -tu: zāra → zurtu, aqāma → aqamtu. For the future, stick sa- on the present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زیارت، قیام، دعوت and تجربہ are all Arabic in origin — a strong bridge today. زیارت in Urdu is often a religious visit; Arabic زَارَ is any visit (a museum, a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(1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(2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(1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(2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(1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(2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LAYER (teacher-written) — the Topic B page lists “past tense; future plans; sequencing; polite responses” and the challenge begins with responding to an invitation; the D5 website unit has no invitation bank, so these frames are teacher-written (flag for the website editor).
Invite: هَلْ تُرِيدُ / تُرِيدِينَ أَنْ تَأْتِيَ مَعِي …؟ · مَا رَأْيُكَ فِي …؟ (what do you think of …?)
Accept: بِكُلِّ سُرُورٍ · فِكْرَةٌ رَائِعَةٌ! (great idea!) · مَتَى نَلْتَقِي؟ (when shall we meet?)
Decline politely: آسِفٌ / آسِفَةٌ، لَا أَسْتَطِيعُ لِأَنَّ … · شُكْرًا عَلَى الدَّعْوَةِ (thank you for the invitation).
The reason for declining naturally uses the FUTURE (سَأَزُورُ …) — the bridge to today’s website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“Hollow verbs in the past” (زَارَ → زُرْتُ · أَقَامَ → أَقَمْتُ · عَادَ → عُدْنَا) and “Fixed prepositions on travel verbs” (سَافَرَ إِلَى · أَقَامَ فِي · نَزَلَ فِي · اسْتَمْتَعَ بِـ), with the website table.
Website common error: زَارْتُ / أَقَامْتُ keeps the long vowel that Arabic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“Marking the future” (سَـ / سَوْفَ + present verb) and “Evaluating the trip” (كَانَ مِنْ أَجْمَلِ + genitive plural). Website teaching point: “One account, two tenses — examiners reward the contrast only when each tense stays where it belongs.”
Sequencing (Topic B focus): أَوَّلًا · ثُمَّ · بَعْدَ ذٰلِكَ · فِي النِّهَايَةِ (from Topic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accept an invitation to the beach, then tell a past trip (website speaking model and listening) and switch to the future. Think aloud at each verb: “past or future? hollow? which partner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5. Develop / Stretch: all 5.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“Respond to an invitation, describe a past holiday or outing and finish with a future leisure plan using clear time markers and sequencing.”
Website Topic B challenge “Invitation-to-memory timeline”: respond to an invitation, describe a past holiday or outing and finish with a future leisure plan using clear time markers and sequencing. Invitation to paste: هَلْ تُرِيدُ / تُرِيدِينَ أَنْ تَأْتِيَ مَعِي إِلَى الشَّاطِئِ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(Follow-up with بِـ)
B: اسْتَمْتَعْتُ بِالشَّاطِئِ وَالسُّوقِ القَدِيمِ، وَفِي المُسْتَقْبَلِ سَأَزُورُهَا مَرَّةً أُخْرَى. (Evaluation and future switch)
Website prompts 2–4 (a holiday, then a plan); the Core invitation prompt is teacher-made (Topic B focus). A day out or a family visit counts as a “holiday”.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أَقَمْنَا · زُرْنَا · اسْتَمْتَعْتُ بِالرِّحْلَةِ · كَانَتْ مِنْ أَجْمَلِ الرِّحْلَاتِ · سَأَعُودُ … سَوْفَ أُقِيمُ. Stretch: كُنَّا نَمْشِي (past habit).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(TB-L10 · Topic B Listening and Reading Workshop) will spend class time USING this language, so students prepare it tonight — short, simple, easy to access (school guidance: “Simple, Short, Interesting, Relevant, Easy to access”). The five words come from the website D2-L07 (website) preparation list (tested in the TB-L10 Do Now).
Follow-up: the next Do Now tests two of these words (Flipped Learning: keep it short AND follow up).
Homework by route (website tasks). No internet? Students copy the five words from this slide into their book now.
TOPIC B: the five words are the ones the TB-L10 Do Now tests (preparation list of the website D2-L07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Invitations, Holidays and Past Experiences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الدَّعَوَاتُ وَالعُطَلُ وَالتَّجَارِبُ المَاضِيَةُ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Arrange social activities and narrate a memorable leisure or holiday experience.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TB-L09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Invitations, past travel verbs (zurtu!), then the future with sa-.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past / future / evaluation,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travelled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stayed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سَأَزُورُ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visit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visiting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play the oud.”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العُودَ.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العُودَ.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عَلَى العُودِ.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“twice a week”.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travelled by train.”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بِالقِطَارِ.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عَلَى القِطَارِ.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القِطَارَ.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travelled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visited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stayed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سَأَزُورُ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will visit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visited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visiting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play the oud.”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 العُودَ.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العُودَ.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أَعْزِفُ عَلَى العُودِ.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TB-L08: instrument → ‘alā.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“twice a week”.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مَرَّتَانِ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الأُسْبُوعِ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TB-L08: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travelled by train.”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سَافَرْتُ بِالقِطَارِ.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 عَلَى القِطَارِ.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 القِطَارَ.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bi- with vehicles.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Hollow verbs lose their long vowel before -tu: zāra → zurtu, aqāma → aqamtu. For the future, stick sa- on the present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زَارَ ← </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زُرْتُ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أَقَامَ ← </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أَقَمْتُ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أَزُورُ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past holiday using travel verbs including </a:t>
            </a:r>
            <a:pPr algn="l" indent="0" marL="0">
              <a:buNone/>
            </a:pPr>
            <a:r>
              <a:rPr lang="ar-SA" altLang="en-US" sz="1700" dirty="0">
                <a:solidFill>
                  <a:srgbClr val="1F2A37"/>
                </a:solidFill>
                <a:latin typeface="Amiri" pitchFamily="34" charset="0"/>
                <a:ea typeface="Amiri" pitchFamily="34" charset="-122"/>
                <a:cs typeface="Amiri" pitchFamily="34" charset="-120"/>
              </a:rPr>
              <a:t>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أَقَامَ فِي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Handle hollow travel verbs in the past: </a:t>
            </a:r>
            <a:pPr algn="l" indent="0" marL="0">
              <a:buNone/>
            </a:pPr>
            <a:r>
              <a:rPr lang="ar-SA" altLang="en-US" sz="1700" dirty="0">
                <a:solidFill>
                  <a:srgbClr val="1F2A37"/>
                </a:solidFill>
                <a:latin typeface="Amiri" pitchFamily="34" charset="0"/>
                <a:ea typeface="Amiri" pitchFamily="34" charset="-122"/>
                <a:cs typeface="Amiri" pitchFamily="34" charset="-120"/>
              </a:rPr>
              <a:t>زَارَ</a:t>
            </a:r>
            <a:pPr algn="l" indent="0" marL="0">
              <a:buNone/>
            </a:pPr>
            <a:r>
              <a:rPr lang="en-US" sz="1300" dirty="0">
                <a:solidFill>
                  <a:srgbClr val="1F2A37"/>
                </a:solidFill>
                <a:latin typeface="Calibri" pitchFamily="34" charset="0"/>
                <a:ea typeface="Calibri" pitchFamily="34" charset="-122"/>
                <a:cs typeface="Calibri" pitchFamily="34" charset="-120"/>
              </a:rPr>
              <a:t> becomes </a:t>
            </a:r>
            <a:pPr algn="l" indent="0" marL="0">
              <a:buNone/>
            </a:pPr>
            <a:r>
              <a:rPr lang="ar-SA" altLang="en-US" sz="1700" dirty="0">
                <a:solidFill>
                  <a:srgbClr val="1F2A37"/>
                </a:solidFill>
                <a:latin typeface="Amiri" pitchFamily="34" charset="0"/>
                <a:ea typeface="Amiri" pitchFamily="34" charset="-122"/>
                <a:cs typeface="Amiri" pitchFamily="34" charset="-120"/>
              </a:rPr>
              <a:t>زُرْتُ</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أَقَامَ</a:t>
            </a:r>
            <a:pPr algn="l" indent="0" marL="0">
              <a:buNone/>
            </a:pPr>
            <a:r>
              <a:rPr lang="en-US" sz="1300" dirty="0">
                <a:solidFill>
                  <a:srgbClr val="1F2A37"/>
                </a:solidFill>
                <a:latin typeface="Calibri" pitchFamily="34" charset="0"/>
                <a:ea typeface="Calibri" pitchFamily="34" charset="-122"/>
                <a:cs typeface="Calibri" pitchFamily="34" charset="-120"/>
              </a:rPr>
              <a:t> becomes </a:t>
            </a:r>
            <a:pPr algn="l" indent="0" marL="0">
              <a:buNone/>
            </a:pPr>
            <a:r>
              <a:rPr lang="ar-SA" altLang="en-US" sz="1700" dirty="0">
                <a:solidFill>
                  <a:srgbClr val="1F2A37"/>
                </a:solidFill>
                <a:latin typeface="Amiri" pitchFamily="34" charset="0"/>
                <a:ea typeface="Amiri" pitchFamily="34" charset="-122"/>
                <a:cs typeface="Amiri" pitchFamily="34" charset="-120"/>
              </a:rPr>
              <a:t>أَقَمْتُ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a past trip with a future plan using </a:t>
            </a:r>
            <a:pPr algn="l" indent="0" marL="0">
              <a:buNone/>
            </a:pPr>
            <a:r>
              <a:rPr lang="ar-SA" altLang="en-US" sz="1700" dirty="0">
                <a:solidFill>
                  <a:srgbClr val="1F2A37"/>
                </a:solidFill>
                <a:latin typeface="Amiri" pitchFamily="34" charset="0"/>
                <a:ea typeface="Amiri" pitchFamily="34" charset="-122"/>
                <a:cs typeface="Amiri" pitchFamily="34" charset="-120"/>
              </a:rPr>
              <a:t>سَـ</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سَوْفَ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dual-tense holiday account of ninety to one hundred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invite someone and answer an invitation.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went and what I visited.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hollow verbs and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future plan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switch cleanly from past to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a trip (kānat min ajmali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holiday words from the website in 3 groups. Core: the 10 past travel verbs. Places and evaluation words are FLEX (many are known from Topic A).</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sāfara · travelled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زِيَارَةٌ / زَارَ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‎زیارت‎ </a:t>
            </a:r>
            <a:pPr indent="0" marL="0">
              <a:buNone/>
            </a:pPr>
            <a:r>
              <a:rPr lang="en-US" sz="950" b="1" dirty="0">
                <a:solidFill>
                  <a:srgbClr val="2E8B57"/>
                </a:solidFill>
                <a:latin typeface="Calibri" pitchFamily="34" charset="0"/>
                <a:ea typeface="Calibri" pitchFamily="34" charset="-122"/>
                <a:cs typeface="Calibri" pitchFamily="34" charset="-120"/>
              </a:rPr>
              <a:t> zāra · visited (Urdu: pilgrimage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‎قیام / اقامت‎ </a:t>
            </a:r>
            <a:pPr indent="0" marL="0">
              <a:buNone/>
            </a:pPr>
            <a:r>
              <a:rPr lang="en-US" sz="950" b="1" dirty="0">
                <a:solidFill>
                  <a:srgbClr val="2E8B57"/>
                </a:solidFill>
                <a:latin typeface="Calibri" pitchFamily="34" charset="0"/>
                <a:ea typeface="Calibri" pitchFamily="34" charset="-122"/>
                <a:cs typeface="Calibri" pitchFamily="34" charset="-120"/>
              </a:rPr>
              <a:t> aqāma · stayed (Urdu: stay, residence)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‎دعوت‎ </a:t>
            </a:r>
            <a:pPr indent="0" marL="0">
              <a:buNone/>
            </a:pPr>
            <a:r>
              <a:rPr lang="en-US" sz="950" b="1" dirty="0">
                <a:solidFill>
                  <a:srgbClr val="2E8B57"/>
                </a:solidFill>
                <a:latin typeface="Calibri" pitchFamily="34" charset="0"/>
                <a:ea typeface="Calibri" pitchFamily="34" charset="-122"/>
                <a:cs typeface="Calibri" pitchFamily="34" charset="-120"/>
              </a:rPr>
              <a:t> da‘wa · an invitation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an experience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travelled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sā-fa-ra i-lā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سَافَرْنَا</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سَافَرْتُ</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سَافَرَ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زَارَ / زُرْتُ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visited / I visited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zā-ra / zur-tu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زُرْنَا</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زُرْتُ</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زَارَ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أَقَامَ فِي / أَقَمْتُ فِي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stayed in / I stayed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a-qā-ma fī / a-qam-tu fī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أَقَمْنَا</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أَقَمْتُ</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أَقَامَ</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ḥa-ja-za</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حَجَزْنَا</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حَجَزْتُ</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رَكِبَ</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rode, took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ra-ki-ba</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رَكِبْنَا</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رَكِبْتُ</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رَكِبَ</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stayed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as-tam-ta-ʿa bi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اسْتَمْتَعْنَا</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اسْتَمْتَعْتُ</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اسْتَمْتَعَ</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1" name="Shape 38"/>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اكْتَشَفَ</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discovered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ak-ta-sha-fa</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اكْتَشَفْنَا</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اكْتَشَفْتُ</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اكْتَشَفَ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remembered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ta-dhak-ka-ra</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we</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 / عُدْتُ</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returned / I returned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 / ʿud-tu</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72" name="Text 6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عُدْنَا</a:t>
            </a:r>
            <a:endParaRPr lang="ar-SA" sz="150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5" name="Text 7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عُدْتُ</a:t>
            </a:r>
            <a:endParaRPr lang="ar-SA" sz="150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78" name="Text 7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and travel items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الفُنْدُقُ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al-fun-du-qu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الشَّاطِئُ</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ash-shā-ṭi-ʾu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المَعَالِمُ السِّيَاحِيَّةُ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tourist attractions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al-ma-ʿā-li-mu as-si-yā-ḥiy-ya-tu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broken plural with a feminine adjective.</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1" name="Shape 3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السَّفَرِ</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as-sa-fa-ri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and travel items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 السَّفَرِ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ḥa-qī-ba-tu as-sa-fa-ri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المَحَطَّةُ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al-ma-ḥaṭ-ṭa-tu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al-qi-ṭā-ru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Evaluating and looking ahead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trip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was one of the most beautiful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سَأَزُورُ مَرَّةً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visit again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sa-ʾa-zū-ru mar-ra-tan ukh-rā</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سَـ</a:t>
            </a:r>
            <a:pPr algn="l" indent="0" marL="0">
              <a:buNone/>
            </a:pPr>
            <a:r>
              <a:rPr lang="en-US" sz="1000" i="1" dirty="0">
                <a:solidFill>
                  <a:srgbClr val="8A6D1E"/>
                </a:solidFill>
                <a:latin typeface="Calibri" pitchFamily="34" charset="0"/>
                <a:ea typeface="Calibri" pitchFamily="34" charset="-122"/>
                <a:cs typeface="Calibri" pitchFamily="34" charset="-120"/>
              </a:rPr>
              <a:t> attaches to the present verb.</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Evaluating and looking ahead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(emphatic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separate word before the verb.</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بِـ.</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أَنْصَحُ بِـ</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recommend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an-ṣa-ḥu 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رَائِعَةٌ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wonderful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rā-ʾi-ʿa-tun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TOPIC B · INVITATIONS AND POLITE RESPONSES (TEACHER-WRITTEN: TOPIC B LESSON FOCUS)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Would you like to come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الدَّعْوَةُ وَالرَّدُّ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INVITE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تُرِيدُ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تُرِيدُ أَنْ تَأْتِيَ مَعِي إِلَى الشَّاطِئِ يَوْمَ السَّبْتِ؟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Would you like to come with me to the beach on Saturday?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turīdīna an ta’tiya.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ACCEPT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بِكُلِّ سُرُورٍ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بِكُلِّ سُرُورٍ! فِي أَيِّ سَاعَةٍ؟</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With pleasure! At what time?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 question.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DECLINE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آسِفٌ، لَا أَسْتَطِيعُ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آسِفَةٌ، لَا أَسْتَطِيعُ لِأَنَّنِي سَأَزُورُ جَدَّتِي.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Sorry (f.), I can’t because I will visit my grandmother.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Refuse + reason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“an” the verb ends in -a (as in AT-A-L08 advice).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تُرِيدُ أَنْ تَأْتِيَ؟</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هَلْ تُرِيدُ أَنْ تَأْتِي؟</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PAST TRAVEL VERBS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travelled, visited, stayed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سَرْدُ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7" name="Text 14"/>
          <p:cNvSpPr txBox="1"/>
          <p:nvPr/>
        </p:nvSpPr>
        <p:spPr>
          <a:xfrm>
            <a:off x="7232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8" name="Text 15"/>
          <p:cNvSpPr txBox="1"/>
          <p:nvPr/>
        </p:nvSpPr>
        <p:spPr>
          <a:xfrm>
            <a:off x="4855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a:t>
            </a:r>
            <a:endParaRPr lang="en-US" sz="1100" dirty="0"/>
          </a:p>
        </p:txBody>
      </p:sp>
      <p:sp>
        <p:nvSpPr>
          <p:cNvPr id="19" name="Text 16"/>
          <p:cNvSpPr txBox="1"/>
          <p:nvPr/>
        </p:nvSpPr>
        <p:spPr>
          <a:xfrm>
            <a:off x="3118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partner</a:t>
            </a:r>
            <a:endParaRPr lang="en-US" sz="1100" dirty="0"/>
          </a:p>
        </p:txBody>
      </p:sp>
      <p:sp>
        <p:nvSpPr>
          <p:cNvPr id="20" name="Text 17"/>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a:t>
            </a:r>
            <a:endParaRPr lang="ar-SA" sz="2400" dirty="0"/>
          </a:p>
        </p:txBody>
      </p:sp>
      <p:sp>
        <p:nvSpPr>
          <p:cNvPr id="23" name="Text 20"/>
          <p:cNvSpPr txBox="1"/>
          <p:nvPr/>
        </p:nvSpPr>
        <p:spPr>
          <a:xfrm>
            <a:off x="725119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24" name="Text 21"/>
          <p:cNvSpPr txBox="1"/>
          <p:nvPr/>
        </p:nvSpPr>
        <p:spPr>
          <a:xfrm>
            <a:off x="4873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a:t>
            </a:r>
            <a:pPr rtl="1" algn="ctr" indent="0" marL="0">
              <a:buNone/>
            </a:pPr>
            <a:r>
              <a:rPr lang="ar-SA" altLang="en-US" sz="2400" b="1" dirty="0">
                <a:solidFill>
                  <a:srgbClr val="1D5FBF"/>
                </a:solidFill>
                <a:latin typeface="Amiri" pitchFamily="34" charset="0"/>
                <a:ea typeface="Amiri" pitchFamily="34" charset="-122"/>
                <a:cs typeface="Amiri" pitchFamily="34" charset="-120"/>
              </a:rPr>
              <a:t>نَا</a:t>
            </a:r>
            <a:endParaRPr lang="ar-SA" sz="2400" dirty="0"/>
          </a:p>
        </p:txBody>
      </p:sp>
      <p:sp>
        <p:nvSpPr>
          <p:cNvPr id="25" name="Text 22"/>
          <p:cNvSpPr txBox="1"/>
          <p:nvPr/>
        </p:nvSpPr>
        <p:spPr>
          <a:xfrm>
            <a:off x="3136392"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26" name="Text 23"/>
          <p:cNvSpPr txBox="1"/>
          <p:nvPr/>
        </p:nvSpPr>
        <p:spPr>
          <a:xfrm>
            <a:off x="5669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travelled to</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a:t>
            </a:r>
            <a:pPr rtl="1" algn="ctr" indent="0" marL="0">
              <a:buNone/>
            </a:pPr>
            <a:r>
              <a:rPr lang="ar-SA" altLang="en-US" sz="2400" b="1" dirty="0">
                <a:solidFill>
                  <a:srgbClr val="C77700"/>
                </a:solidFill>
                <a:latin typeface="Amiri" pitchFamily="34" charset="0"/>
                <a:ea typeface="Amiri" pitchFamily="34" charset="-122"/>
                <a:cs typeface="Amiri" pitchFamily="34" charset="-120"/>
              </a:rPr>
              <a:t>ا</a:t>
            </a:r>
            <a:pPr rtl="1" algn="ctr" indent="0" marL="0">
              <a:buNone/>
            </a:pPr>
            <a:r>
              <a:rPr lang="ar-SA" altLang="en-US" sz="2400" b="1" dirty="0">
                <a:solidFill>
                  <a:srgbClr val="1B3B6F"/>
                </a:solidFill>
                <a:latin typeface="Amiri" pitchFamily="34" charset="0"/>
                <a:ea typeface="Amiri" pitchFamily="34" charset="-122"/>
                <a:cs typeface="Amiri" pitchFamily="34" charset="-120"/>
              </a:rPr>
              <a:t>رَ</a:t>
            </a:r>
            <a:endParaRPr lang="ar-SA" sz="2400" dirty="0"/>
          </a:p>
        </p:txBody>
      </p:sp>
      <p:sp>
        <p:nvSpPr>
          <p:cNvPr id="31" name="Text 28"/>
          <p:cNvSpPr txBox="1"/>
          <p:nvPr/>
        </p:nvSpPr>
        <p:spPr>
          <a:xfrm>
            <a:off x="7251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32" name="Text 29"/>
          <p:cNvSpPr txBox="1"/>
          <p:nvPr/>
        </p:nvSpPr>
        <p:spPr>
          <a:xfrm>
            <a:off x="4873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a:t>
            </a:r>
            <a:pPr rtl="1" algn="ctr" indent="0" marL="0">
              <a:buNone/>
            </a:pPr>
            <a:r>
              <a:rPr lang="ar-SA" altLang="en-US" sz="2400" b="1" dirty="0">
                <a:solidFill>
                  <a:srgbClr val="1D5FBF"/>
                </a:solidFill>
                <a:latin typeface="Amiri" pitchFamily="34" charset="0"/>
                <a:ea typeface="Amiri" pitchFamily="34" charset="-122"/>
                <a:cs typeface="Amiri" pitchFamily="34" charset="-120"/>
              </a:rPr>
              <a:t>نَا</a:t>
            </a:r>
            <a:endParaRPr lang="ar-SA" sz="2400" dirty="0"/>
          </a:p>
        </p:txBody>
      </p:sp>
      <p:sp>
        <p:nvSpPr>
          <p:cNvPr id="33" name="Text 30"/>
          <p:cNvSpPr txBox="1"/>
          <p:nvPr/>
        </p:nvSpPr>
        <p:spPr>
          <a:xfrm>
            <a:off x="3136392" y="3004718"/>
            <a:ext cx="1554480" cy="6821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ea typeface="Calibri" pitchFamily="34" charset="-122"/>
                <a:cs typeface="Calibri" pitchFamily="34" charset="-120"/>
              </a:rPr>
              <a:t>—</a:t>
            </a:r>
            <a:endParaRPr lang="en-US" sz="2200" dirty="0"/>
          </a:p>
        </p:txBody>
      </p:sp>
      <p:sp>
        <p:nvSpPr>
          <p:cNvPr id="34" name="Text 31"/>
          <p:cNvSpPr txBox="1"/>
          <p:nvPr/>
        </p:nvSpPr>
        <p:spPr>
          <a:xfrm>
            <a:off x="5669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visited (hollow!)</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a:t>
            </a:r>
            <a:pPr rtl="1" algn="ctr" indent="0" marL="0">
              <a:buNone/>
            </a:pPr>
            <a:r>
              <a:rPr lang="ar-SA" altLang="en-US" sz="2400" b="1" dirty="0">
                <a:solidFill>
                  <a:srgbClr val="C77700"/>
                </a:solidFill>
                <a:latin typeface="Amiri" pitchFamily="34" charset="0"/>
                <a:ea typeface="Amiri" pitchFamily="34" charset="-122"/>
                <a:cs typeface="Amiri" pitchFamily="34" charset="-120"/>
              </a:rPr>
              <a:t>ا</a:t>
            </a:r>
            <a:pPr rtl="1" algn="ctr" indent="0" marL="0">
              <a:buNone/>
            </a:pPr>
            <a:r>
              <a:rPr lang="ar-SA" altLang="en-US" sz="2400" b="1" dirty="0">
                <a:solidFill>
                  <a:srgbClr val="1B3B6F"/>
                </a:solidFill>
                <a:latin typeface="Amiri" pitchFamily="34" charset="0"/>
                <a:ea typeface="Amiri" pitchFamily="34" charset="-122"/>
                <a:cs typeface="Amiri" pitchFamily="34" charset="-120"/>
              </a:rPr>
              <a:t>مَ</a:t>
            </a:r>
            <a:endParaRPr lang="ar-SA" sz="2400" dirty="0"/>
          </a:p>
        </p:txBody>
      </p:sp>
      <p:sp>
        <p:nvSpPr>
          <p:cNvPr id="39" name="Text 36"/>
          <p:cNvSpPr txBox="1"/>
          <p:nvPr/>
        </p:nvSpPr>
        <p:spPr>
          <a:xfrm>
            <a:off x="7251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أَقَمْ</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40" name="Text 37"/>
          <p:cNvSpPr txBox="1"/>
          <p:nvPr/>
        </p:nvSpPr>
        <p:spPr>
          <a:xfrm>
            <a:off x="4873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أَقَمْ</a:t>
            </a:r>
            <a:pPr rtl="1" algn="ctr" indent="0" marL="0">
              <a:buNone/>
            </a:pPr>
            <a:r>
              <a:rPr lang="ar-SA" altLang="en-US" sz="2400" b="1" dirty="0">
                <a:solidFill>
                  <a:srgbClr val="1D5FBF"/>
                </a:solidFill>
                <a:latin typeface="Amiri" pitchFamily="34" charset="0"/>
                <a:ea typeface="Amiri" pitchFamily="34" charset="-122"/>
                <a:cs typeface="Amiri" pitchFamily="34" charset="-120"/>
              </a:rPr>
              <a:t>نَا</a:t>
            </a:r>
            <a:endParaRPr lang="ar-SA" sz="2400" dirty="0"/>
          </a:p>
        </p:txBody>
      </p:sp>
      <p:sp>
        <p:nvSpPr>
          <p:cNvPr id="41" name="Text 38"/>
          <p:cNvSpPr txBox="1"/>
          <p:nvPr/>
        </p:nvSpPr>
        <p:spPr>
          <a:xfrm>
            <a:off x="3136392"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فِي</a:t>
            </a:r>
            <a:endParaRPr lang="ar-SA" sz="2200" dirty="0"/>
          </a:p>
        </p:txBody>
      </p:sp>
      <p:sp>
        <p:nvSpPr>
          <p:cNvPr id="42" name="Text 39"/>
          <p:cNvSpPr txBox="1"/>
          <p:nvPr/>
        </p:nvSpPr>
        <p:spPr>
          <a:xfrm>
            <a:off x="5669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stayed in (hollow!)</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اسْتَمْتَعَ</a:t>
            </a:r>
            <a:endParaRPr lang="ar-SA" sz="2400" dirty="0"/>
          </a:p>
        </p:txBody>
      </p:sp>
      <p:sp>
        <p:nvSpPr>
          <p:cNvPr id="47" name="Text 44"/>
          <p:cNvSpPr txBox="1"/>
          <p:nvPr/>
        </p:nvSpPr>
        <p:spPr>
          <a:xfrm>
            <a:off x="7251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اسْتَمْتَعْ</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48" name="Text 45"/>
          <p:cNvSpPr txBox="1"/>
          <p:nvPr/>
        </p:nvSpPr>
        <p:spPr>
          <a:xfrm>
            <a:off x="4873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اسْتَمْتَعْ</a:t>
            </a:r>
            <a:pPr rtl="1" algn="ctr" indent="0" marL="0">
              <a:buNone/>
            </a:pPr>
            <a:r>
              <a:rPr lang="ar-SA" altLang="en-US" sz="2400" b="1" dirty="0">
                <a:solidFill>
                  <a:srgbClr val="1D5FBF"/>
                </a:solidFill>
                <a:latin typeface="Amiri" pitchFamily="34" charset="0"/>
                <a:ea typeface="Amiri" pitchFamily="34" charset="-122"/>
                <a:cs typeface="Amiri" pitchFamily="34" charset="-120"/>
              </a:rPr>
              <a:t>نَا</a:t>
            </a:r>
            <a:endParaRPr lang="ar-SA" sz="2400" dirty="0"/>
          </a:p>
        </p:txBody>
      </p:sp>
      <p:sp>
        <p:nvSpPr>
          <p:cNvPr id="49" name="Text 46"/>
          <p:cNvSpPr txBox="1"/>
          <p:nvPr/>
        </p:nvSpPr>
        <p:spPr>
          <a:xfrm>
            <a:off x="3136392"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بِـ</a:t>
            </a:r>
            <a:endParaRPr lang="ar-SA" sz="2200" dirty="0"/>
          </a:p>
        </p:txBody>
      </p:sp>
      <p:sp>
        <p:nvSpPr>
          <p:cNvPr id="50" name="Text 47"/>
          <p:cNvSpPr txBox="1"/>
          <p:nvPr/>
        </p:nvSpPr>
        <p:spPr>
          <a:xfrm>
            <a:off x="5669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enjoyed</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a:t>
            </a:r>
            <a:pPr rtl="1" algn="ctr" indent="0" marL="0">
              <a:buNone/>
            </a:pPr>
            <a:r>
              <a:rPr lang="ar-SA" altLang="en-US" sz="2400" b="1" dirty="0">
                <a:solidFill>
                  <a:srgbClr val="C77700"/>
                </a:solidFill>
                <a:latin typeface="Amiri" pitchFamily="34" charset="0"/>
                <a:ea typeface="Amiri" pitchFamily="34" charset="-122"/>
                <a:cs typeface="Amiri" pitchFamily="34" charset="-120"/>
              </a:rPr>
              <a:t>ا</a:t>
            </a:r>
            <a:pPr rtl="1" algn="ctr" indent="0" marL="0">
              <a:buNone/>
            </a:pPr>
            <a:r>
              <a:rPr lang="ar-SA" altLang="en-US" sz="2400" b="1" dirty="0">
                <a:solidFill>
                  <a:srgbClr val="1B3B6F"/>
                </a:solidFill>
                <a:latin typeface="Amiri" pitchFamily="34" charset="0"/>
                <a:ea typeface="Amiri" pitchFamily="34" charset="-122"/>
                <a:cs typeface="Amiri" pitchFamily="34" charset="-120"/>
              </a:rPr>
              <a:t>دَ</a:t>
            </a:r>
            <a:endParaRPr lang="ar-SA" sz="2400" dirty="0"/>
          </a:p>
        </p:txBody>
      </p:sp>
      <p:sp>
        <p:nvSpPr>
          <p:cNvPr id="53" name="Text 50"/>
          <p:cNvSpPr txBox="1"/>
          <p:nvPr/>
        </p:nvSpPr>
        <p:spPr>
          <a:xfrm>
            <a:off x="725119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عُدْ</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54" name="Text 51"/>
          <p:cNvSpPr txBox="1"/>
          <p:nvPr/>
        </p:nvSpPr>
        <p:spPr>
          <a:xfrm>
            <a:off x="4873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عُدْ</a:t>
            </a:r>
            <a:pPr rtl="1" algn="ctr" indent="0" marL="0">
              <a:buNone/>
            </a:pPr>
            <a:r>
              <a:rPr lang="ar-SA" altLang="en-US" sz="2400" b="1" dirty="0">
                <a:solidFill>
                  <a:srgbClr val="1D5FBF"/>
                </a:solidFill>
                <a:latin typeface="Amiri" pitchFamily="34" charset="0"/>
                <a:ea typeface="Amiri" pitchFamily="34" charset="-122"/>
                <a:cs typeface="Amiri" pitchFamily="34" charset="-120"/>
              </a:rPr>
              <a:t>نَا</a:t>
            </a:r>
            <a:endParaRPr lang="ar-SA" sz="2400" dirty="0"/>
          </a:p>
        </p:txBody>
      </p:sp>
      <p:sp>
        <p:nvSpPr>
          <p:cNvPr id="55" name="Text 52"/>
          <p:cNvSpPr txBox="1"/>
          <p:nvPr/>
        </p:nvSpPr>
        <p:spPr>
          <a:xfrm>
            <a:off x="3136392"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56" name="Text 53"/>
          <p:cNvSpPr txBox="1"/>
          <p:nvPr/>
        </p:nvSpPr>
        <p:spPr>
          <a:xfrm>
            <a:off x="5669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returned (hollow!)</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Hollow verbs: the long ā disappears before -tu / -nā (zāra → zurtu).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FUTURE AND EVALUATING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will … It was one of the best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المُسْتَقْبَلُ وَالتَّقْيِيمُ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سَأَزُورُ المَدِينَةَ مَرَّةً أُخْرَى.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visit the city again.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 sticks to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سَوْفَ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سَوْفَ نَحْجِزُ مُبَكِّرًا.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will book early.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Separate word, more emphatic.</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كَانَ مِنْ أَجْمَلِ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كَانَتْ مِنْ أَجْمَلِ الرِّحْلَاتِ.</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was one of the most beautiful trips.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Or: riḥlatun lā tunsā.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sa- never goes on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dirty="0">
                <a:solidFill>
                  <a:srgbClr val="5A6472"/>
                </a:solidFill>
                <a:latin typeface="Calibri" pitchFamily="34" charset="0"/>
                <a:ea typeface="Calibri" pitchFamily="34" charset="-122"/>
                <a:cs typeface="Calibri" pitchFamily="34" charset="-120"/>
              </a:rPr>
              <a:t> + present verb  /  </a:t>
            </a:r>
            <a:pPr algn="l" indent="0" marL="0">
              <a:buNone/>
            </a:pPr>
            <a:r>
              <a:rPr lang="ar-SA" altLang="en-US" sz="1350" dirty="0">
                <a:solidFill>
                  <a:srgbClr val="5A6472"/>
                </a:solidFill>
                <a:latin typeface="Amiri" pitchFamily="34" charset="0"/>
                <a:ea typeface="Amiri" pitchFamily="34" charset="-122"/>
                <a:cs typeface="Amiri" pitchFamily="34" charset="-120"/>
              </a:rPr>
              <a:t>سَوْفَ</a:t>
            </a:r>
            <a:pPr algn="l" indent="0" marL="0">
              <a:buNone/>
            </a:pPr>
            <a:r>
              <a:rPr lang="en-US" sz="1050" dirty="0">
                <a:solidFill>
                  <a:srgbClr val="5A6472"/>
                </a:solidFill>
                <a:latin typeface="Calibri" pitchFamily="34" charset="0"/>
                <a:ea typeface="Calibri" pitchFamily="34" charset="-122"/>
                <a:cs typeface="Calibri" pitchFamily="34" charset="-120"/>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 مِنْ أَجْمَلِ</a:t>
            </a:r>
            <a:pPr algn="l" indent="0" marL="0">
              <a:buNone/>
            </a:pPr>
            <a:r>
              <a:rPr lang="en-US" sz="1050" dirty="0">
                <a:solidFill>
                  <a:srgbClr val="5A6472"/>
                </a:solidFill>
                <a:latin typeface="Calibri" pitchFamily="34" charset="0"/>
                <a:ea typeface="Calibri" pitchFamily="34" charset="-122"/>
                <a:cs typeface="Calibri" pitchFamily="34" charset="-120"/>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أَقَامَ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أَقَامْنَا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اسْتَمْتَعْتُ ___ الرِّحْلَةِ كَثِيرًا.</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هٰذِهِ المَدِينَةَ مَرَّةً أُخْرَى.</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سَزُرْتُ هٰذِهِ المَدِينَةَ مَرَّةً أُخْرَى.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هٰذِهِ المَدِينَةُ مَرَّةً أُخْرَى.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أَقَامَ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أَقَامْنَا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أُقِمْنَا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أَقَمْـ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اسْتَمْتَعْتُ ___ الرِّحْلَةِ كَثِيرًا.</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سَأَزُورُ هٰذِهِ المَدِينَةَ مَرَّةً أُخْرَى.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سَزُرْتُ هٰذِهِ المَدِينَةَ مَرَّةً أُخْرَى.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 هٰذِهِ المَدِينَةُ مَرَّةً أُخْرَى.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attaches to a present verb, and the object stays accusative.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accept, remember and plan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Invitation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بِكُلِّ سُرُورٍ! أُحِبُّ البَحْرَ.</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Accept + a reason.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الصَّيْفِ المَاضِي </a:t>
            </a:r>
            <a:pPr rtl="1" algn="ct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سَافَرْتُ</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إِلَى مَدِينَةٍ سَاحِلِيَّةٍ، وَ</a:t>
            </a:r>
            <a:pPr rtl="1" algn="ct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أَقَمْتُ</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فِي فُنْدُقٍ صَغِيرٍ.</a:t>
            </a:r>
            <a:endParaRPr lang="ar-SA" sz="1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Hollow: aqamtu.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Evaluate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زُرْتُ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المَعَالِمَ، وَكَانَتْ مِنْ أَجْمَلِ الرِّحْلَاتِ.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zurtu + min ajmali.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أَزُورُهَا مَرَّةً أُخْرَى فِي المُسْتَقْبَلِ.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Switch: sa- + present.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بِكُلِّ سُرُورٍ! أُحِبُّ البَحْرَ. فِي الصَّيْفِ المَاضِي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سَافَرْتُ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مَدِينَةٍ سَاحِلِيَّةٍ،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أَقَمْتُ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فُنْدُقٍ صَغِيرٍ.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المَعَالِمَ السِّيَاحِيَّةَ،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اسْتَمْتَعْتُ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بِالشَّاطِئِ كَثِيرًا. كَانَتْ مِنْ أَجْمَلِ الرِّحْلَاتِ،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أَزُورُهَا مَرَّةً أُخْرَى.</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With pleasure! I love the sea. Last summer I travelled to a coastal city, and I stayed in a small hotel. I visited the tourist attractions and I enjoyed the beach a lot. It was one of the most beautiful trips, and I will visit it again.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زُرْتُ المَعَالِمَ السِّيَاحِيَّةَ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visited the tourist attractions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zāra shortens to zur- before -tu.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أَقَمْنَا فِي فُنْدُقٍ صَغِيرٍ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stayed in a small hotel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aqāma shortens to aqam- and takes fī.</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سَأَزُورُ مَرَّةً أُخْرَى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visit again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sticks to the present verb.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كَانَتْ مِنْ أَجْمَلِ الرِّحْلَاتِ.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was one of the most beautiful trips.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Evaluation: min + 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Where did they go?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beach</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a suitcase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hotel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أَقَمْتُ فِي فُنْدُقٍ.</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قَضَيْتُ العُطْلَةَ عَلَى الشَّاطِئِ.</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سَافَرْتُ بِالطَّائِرَةِ.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beach</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قَضَيْتُ العُطْلَةَ عَلَى الشَّاطِئِ.</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spent the holiday on the beach.</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a suitcase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سَافَرْتُ بِالطَّائِرَةِ.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by plane.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hotel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أَقَمْتُ فِي فُنْدُقٍ.</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stayed in a hotel.</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future or 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booking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التَّذَاكِرُ قَبْلَ شَهْرٍ.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التَّذَاكِرَ قَبْلَ شَهْرًا.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التَّذَاكِرَ قَبْلَ شَهْرٍ.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evaluation.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مِنْ أَجْمَلُ الرِّحْلَاتِ.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مِنْ أَجْمَلِ الرِّحْلَاتِ.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مِنْ أَجْمَلِ الرِّحْلَاتُ.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keeps both tenses in place.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سَأَزُورُ المَتْحَفَ العَامَ المَاضِيَ، وَعُدْتُ إِلَيْهِ فِي المُسْتَقْبَلِ.</a:t>
            </a:r>
            <a:endParaRPr lang="ar-SA" sz="19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زُرْتُ المَتْحَفَ العَامَ المَاضِيَ، وَسَأَعُودُ إِلَيْهِ فِي المُسْتَقْبَلِ.</a:t>
            </a:r>
            <a:endParaRPr lang="ar-SA" sz="19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زُرْتُ المَتْحَفَ فِي المُسْتَقْبَلِ وَسَأَعُودُ العَامَ المَاضِيَ.</a:t>
            </a:r>
            <a:endParaRPr lang="ar-SA" sz="19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booking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حَجَزْنَا التَّذَاكِرُ قَبْلَ شَهْرٍ.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حَجَزْنَا التَّذَاكِرَ قَبْلَ شَهْرًا.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حَجَزْنَا التَّذَاكِرَ قَبْلَ شَهْرٍ.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accusative and </a:t>
            </a:r>
            <a:pPr algn="l" indent="0" marL="0">
              <a:buNone/>
            </a:pPr>
            <a:r>
              <a:rPr lang="ar-SA" altLang="en-US" sz="1350" dirty="0">
                <a:solidFill>
                  <a:srgbClr val="8A6D1E"/>
                </a:solidFill>
                <a:latin typeface="Amiri" pitchFamily="34" charset="0"/>
                <a:ea typeface="Amiri" pitchFamily="34" charset="-122"/>
                <a:cs typeface="Amiri" pitchFamily="34" charset="-120"/>
              </a:rPr>
              <a:t>قَبْلَ</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evaluation.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مِنْ أَجْمَلُ الرِّحْلَاتِ.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مِنْ أَجْمَلِ الرِّحْلَاتِ.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مِنْ أَجْمَلِ الرِّحْلَاتُ.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 and the noun after the superlative is genitive too.</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keeps both tenses in place.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 المَتْحَفَ العَامَ المَاضِيَ، وَعُدْتُ إِلَيْهِ فِي المُسْتَقْبَلِ.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المَتْحَفَ العَامَ المَاضِيَ، وَسَأَعُودُ إِلَيْهِ فِي المُسْتَقْبَلِ.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المَتْحَفَ فِي المُسْتَقْبَلِ وَسَأَعُودُ العَامَ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clause carries the past time phrase and the future clause carries the future one.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أَتَمَنَّى</a:t>
            </a:r>
            <a:pPr algn="l" indent="0" marL="0">
              <a:buNone/>
            </a:pPr>
            <a:r>
              <a:rPr lang="en-US" sz="1050" i="1" dirty="0">
                <a:solidFill>
                  <a:srgbClr val="8A6D1E"/>
                </a:solidFill>
                <a:latin typeface="Calibri" pitchFamily="34" charset="0"/>
                <a:ea typeface="Calibri" pitchFamily="34" charset="-122"/>
                <a:cs typeface="Calibri" pitchFamily="34" charset="-120"/>
              </a:rPr>
              <a:t> is followed by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Hollow verb before -tu: long or short?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Enjoyed + which partner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goes on a past or a present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اسْتَمْتَعَ</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أَقَمْنَا 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سَأَزُورُ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سَوْفَ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enjoyed the trip a lot,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Unfortunately I forgot the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أَقَمْنَا 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سَأَزُورُ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سَوْفَ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Invitation-to-memory timeline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Invitation-to-memory timeline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Respond to an invitation, describe a past holiday or outing and finish with a future leisure plan using clear time markers and sequencing.</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posts an invitation in the chat (to the park, the beach or a family meal).</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replies: accept or decline politely, with a reason.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build a timeline on paper: a past outing (3 steps) → a future plan (1 step).</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tell their timeline on the mic using time markers.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Reply to the invitation + two past sentences (zurtu, istamta‘tu bi-).</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Reply + three past steps with awwalan / thumma + one plan with sa-.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Full timeline: past habit (kunnā …), evaluation (min ajmali) and a plan with sawfa.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بِكُلِّ سُرُورٍ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with pleasure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آسِفٌ، لَا أَسْتَطِيعُ لِأَنَّ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sorry, I can’t because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أَوَّلًا … ثُمَّ … فِي النِّهَايَةِ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first … then … finally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العُطْلَةِ القَادِمَةِ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next holiday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holiday, then a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تُرِيدُ أَنْ تَأْتِيَ مَعِي إِلَى الحَدِيقَةِ يَوْمَ السَّبْتِ؟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سَافَرْتَ فِي الإِجَازَةِ المَاضِيَةِ؟ وَأَيْنَ أَقَمْتَ؟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زُرْتَ هُنَاكَ؟ وَبِمَاذَا اسْتَمْتَعْتَ؟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سَتُسَافِرُ فِي المُسْتَقْبَلِ؟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بِكُلِّ سُرُورٍ! / آسِفٌ، لَا أَسْتَطِيعُ لِأَنَّ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سَافَرْتُ إِلَى ___ ، وَأَقَمْتُ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 وَاسْتَمْتَعْتُ بِـ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المُسْتَقْبَلِ سَأُسَافِرُ إِلَى ___ لِأَنَّ ___ .</a:t>
            </a:r>
            <a:endParaRPr lang="ar-SA" sz="14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سَافَرْتَ فِي الإِجَازَةِ المَاضِيَةِ؟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did you travel in the last holiday?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سَافَرْتُ إِلَى مَدِينَةٍ سَاحِلِيَّةٍ، وَأَقَمْتُ فِي فُنْدُقٍ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travelled to a coastal city, and I stayed in a small hotel.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six past sentences about a trip or a day out.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Travel verbs with their partner words: safartu ilā, zurtu, aqamtu fī, istamta‘tu 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add an evaluation and a future sentence with sa-.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Begin with a reply to an invitation, then the past trip, then the plan.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holiday account with a future plan.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habit (kunnā namshī), every hollow stem accurate, a clean switch to the future.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enjoyed … a lot.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أَوَّلًا ______ ، ثُمَّ ______ ، وَبَعْدَ ذٰلِكَ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 after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مِنْ أَجْمَلِ الرِّحْلَاتِ.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was one of the most beautiful trips.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سَأَزُورُ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visit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أَنْصَحُ بِزِيَارَةِ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recommend visiting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بِكُلِّ سُرُورٍ!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pleasure!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آسِفٌ / آسِفَةٌ، لَا أَسْتَطِيعُ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Sorry, I can’t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سَافَرْتُ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travelled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أَقَمْتُ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stayed in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  ·  زُرْتُ  ·  أَقَمْتُ  ·  حَجَزْتُ  ·  رَكِبْتُ  ·  اسْتَمْتَعْتُ بِـ  ·  عُدْتُ  ·  الشَّاطِئُ  ·  الفُنْدُقُ  ·  سَأَزُورُ  ·  سَوْفَ  ·  بِكُلِّ سُرُورٍ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34" charset="0"/>
                <a:ea typeface="Amiri" pitchFamily="34" charset="-122"/>
                <a:cs typeface="Amiri" pitchFamily="34" charset="-120"/>
              </a:rPr>
              <a:t>سَـ</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سَوْفَ</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Each travel verb with its own preposition: </a:t>
            </a:r>
            <a:pPr algn="l" indent="0" marL="0">
              <a:buNone/>
            </a:pPr>
            <a:r>
              <a:rPr lang="ar-SA" altLang="en-US" sz="1550" dirty="0">
                <a:solidFill>
                  <a:srgbClr val="1F2A37"/>
                </a:solidFill>
                <a:latin typeface="Amiri" pitchFamily="34" charset="0"/>
                <a:ea typeface="Amiri" pitchFamily="34" charset="-122"/>
                <a:cs typeface="Amiri" pitchFamily="34" charset="-120"/>
              </a:rPr>
              <a:t>إِلَى، فِي،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evaluation using </a:t>
            </a:r>
            <a:pPr algn="l" indent="0" marL="0">
              <a:buNone/>
            </a:pPr>
            <a:r>
              <a:rPr lang="ar-SA" altLang="en-US" sz="1550" dirty="0">
                <a:solidFill>
                  <a:srgbClr val="1F2A37"/>
                </a:solidFill>
                <a:latin typeface="Amiri" pitchFamily="34" charset="0"/>
                <a:ea typeface="Amiri" pitchFamily="34" charset="-122"/>
                <a:cs typeface="Amiri" pitchFamily="34" charset="-120"/>
              </a:rPr>
              <a:t>كَانَ مِنْ أَجْمَلِ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رِحْلَةٌ لَا تُنْسَى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clean switch to the future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كُنَّا نَمْشِي عَلَى الشَّاطِئِ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used to walk on the beach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لِلْأَسَفِ … وَلٰكِنْ لِحُسْنِ الحَظِّ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unfortunately … but luckily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رِحْلَةٌ لَا تُنْسَى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unforgettable trip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أَتَمَنَّى أَنْ أَعُودَ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hope to return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enjoyed the trip a lot;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hollow verbs (zurnā, aqamnā)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istamta‘tu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min ajmali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future with sa-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invitation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past travel verbs.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Hollow verbs are short: zurtu, aqamtu, ‘udtu.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verb has its partner word (ilā, fī,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and future are clearly separated.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اسْتَمْتَعْنَا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الجَوِّ الهَادِئِ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أَقَمْـ</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اسْتَمْتَعْنَا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الجَوِّ الهَادِئِ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 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بَسِيطَةٍ وَنَظِيفَةٍ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 and clean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سَرِيعًا وَرَخِيصًا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 and 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كُنَّا نَمْشِي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used to walk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أَنْصَحُ بِزِيَارَتِهَا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recommend visiting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كُنَّا نَمْشِي إِلَى الشَّاطِئِ</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عَادَ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أَقَمْنَا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عَادَ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عَادَ</a:t>
            </a:r>
            <a:pPr algn="l" indent="0" marL="0">
              <a:buNone/>
            </a:pPr>
            <a:r>
              <a:rPr lang="en-US" sz="1050" i="1" dirty="0">
                <a:solidFill>
                  <a:srgbClr val="8A6D1E"/>
                </a:solidFill>
                <a:latin typeface="Calibri" pitchFamily="34" charset="0"/>
                <a:ea typeface="Calibri" pitchFamily="34" charset="-122"/>
                <a:cs typeface="Calibri" pitchFamily="34" charset="-120"/>
              </a:rPr>
              <a:t> belongs to the u family, so the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عُدْـ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سَافَرَ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أَقَمْنَا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جَوَازُ السَّفَرِ</a:t>
            </a:r>
            <a:pPr algn="l" indent="0" marL="0">
              <a:buNone/>
            </a:pPr>
            <a:r>
              <a:rPr lang="en-US" sz="1050" i="1" dirty="0">
                <a:solidFill>
                  <a:srgbClr val="8A6D1E"/>
                </a:solidFill>
                <a:latin typeface="Calibri" pitchFamily="34" charset="0"/>
                <a:ea typeface="Calibri" pitchFamily="34" charset="-122"/>
                <a:cs typeface="Calibri" pitchFamily="34" charset="-120"/>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needs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TB-L10 · Topic B Listening and Reading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get on with</a:t>
            </a:r>
            <a:pPr indent="0" marL="0">
              <a:buNone/>
            </a:pPr>
            <a:r>
              <a:rPr lang="en-US" sz="1000" i="1" dirty="0">
                <a:solidFill>
                  <a:srgbClr val="5A6472"/>
                </a:solidFill>
                <a:latin typeface="Calibri" pitchFamily="34" charset="0"/>
                <a:ea typeface="Calibri" pitchFamily="34" charset="-122"/>
                <a:cs typeface="Calibri" pitchFamily="34" charset="-120"/>
              </a:rPr>
              <a:t>  TB-L02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close friend</a:t>
            </a:r>
            <a:pPr indent="0" marL="0">
              <a:buNone/>
            </a:pPr>
            <a:r>
              <a:rPr lang="en-US" sz="1000" i="1" dirty="0">
                <a:solidFill>
                  <a:srgbClr val="5A6472"/>
                </a:solidFill>
                <a:latin typeface="Calibri" pitchFamily="34" charset="0"/>
                <a:ea typeface="Calibri" pitchFamily="34" charset="-122"/>
                <a:cs typeface="Calibri" pitchFamily="34" charset="-120"/>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style</a:t>
            </a:r>
            <a:pPr indent="0" marL="0">
              <a:buNone/>
            </a:pPr>
            <a:r>
              <a:rPr lang="en-US" sz="1000" i="1" dirty="0">
                <a:solidFill>
                  <a:srgbClr val="5A6472"/>
                </a:solidFill>
                <a:latin typeface="Calibri" pitchFamily="34" charset="0"/>
                <a:ea typeface="Calibri" pitchFamily="34" charset="-122"/>
                <a:cs typeface="Calibri" pitchFamily="34" charset="-120"/>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expresses</a:t>
            </a:r>
            <a:pPr indent="0" marL="0">
              <a:buNone/>
            </a:pPr>
            <a:r>
              <a:rPr lang="en-US" sz="1000" i="1" dirty="0">
                <a:solidFill>
                  <a:srgbClr val="5A6472"/>
                </a:solidFill>
                <a:latin typeface="Calibri" pitchFamily="34" charset="0"/>
                <a:ea typeface="Calibri" pitchFamily="34" charset="-122"/>
                <a:cs typeface="Calibri" pitchFamily="34" charset="-120"/>
              </a:rPr>
              <a:t>  D2-L04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although</a:t>
            </a:r>
            <a:pPr indent="0" marL="0">
              <a:buNone/>
            </a:pPr>
            <a:r>
              <a:rPr lang="en-US" sz="1000" i="1" dirty="0">
                <a:solidFill>
                  <a:srgbClr val="5A6472"/>
                </a:solidFill>
                <a:latin typeface="Calibri" pitchFamily="34" charset="0"/>
                <a:ea typeface="Calibri" pitchFamily="34" charset="-122"/>
                <a:cs typeface="Calibri" pitchFamily="34" charset="-120"/>
              </a:rPr>
              <a:t>  D2-L04 (website)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TB-L10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TB-L09: the picture game and the sorter — learn the 10 past travel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invitation reply + 6 sentences about a trip or day out + 1 future plan.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past then future.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ea typeface="Cambria" pitchFamily="34" charset="-122"/>
                <a:cs typeface="Cambria" pitchFamily="34" charset="-120"/>
              </a:rPr>
              <a:t>TB-L10 · Topic B Listening and Reading Workshop</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الِاسْتِمَاعِ وَالقِرَاءَةِ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zāra → zurtu · sa- + present for the future.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TB-L09 · Invitations, Holidays and Past Experiences</dc:title>
  <dc:subject>PptxGenJS Presentation</dc:subject>
  <dc:creator>Al Madina Online School · Arabic Department</dc:creator>
  <cp:lastModifiedBy>Al Madina Online School · Arabic Department</cp:lastModifiedBy>
  <cp:revision>1</cp:revision>
  <dcterms:created xsi:type="dcterms:W3CDTF">2026-09-27T13:01:27Z</dcterms:created>
  <dcterms:modified xsi:type="dcterms:W3CDTF">2026-09-27T13:01:27Z</dcterms:modified>
</cp:coreProperties>
</file>