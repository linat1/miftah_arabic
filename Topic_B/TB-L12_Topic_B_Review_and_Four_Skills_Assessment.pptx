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B · TB-L12 — Topic B Review and Four-Skills Assessment. Website: Advanced Topics › Topic B (Personal and Social Life) › Lesson 12.
The website builds this lesson on the D2-L12 lesson engine, with the Topic focus “Demonstrate secure Topic B vocabulary, grammar and independent communication.” (grammar: Cumulative Topic B grammar; skills: All four skills) and the application challenge “Topic B four-skills relay”.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2–8 Grammar laboratory (not marked) · 8–9 Assessment map · 9–20 Listening (20: two texts) · 20–30 Reading (10) · 30–44 Writing (20: profile form + article) · 44–53 Speaking (10: portrait + conversation, pairs / one-to-one) · 53–56 Score profile, strength and next target.
FLEX slides are optional. Use them if the class is moving quickly; otherwise the same activities are on the website for homework.
Content source: Miftah Arabic website, Pathways › Development › Topic B People, Relationships and Style › TB-L12. The website TB-L12 is a 60-mark Development profile (not an external exam paper): listening 20 (a friend and her style · buying a coat — 12 questions) · reading 10 (Salma’s portrait) · writing 20 (person-profile form 5 + article or email 15: Task 5 · Range 5 · Accuracy 5) · speaking 10 (Communication 5 · Accuracy and range 5). The grammar laboratory (12) is practice. Every item, script, text and mark allocation is the website’s.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Listening: the website has 12 listening questions and reports the section out of 20. Mark each question out of 1, then scale ×5/3 and round (12/12 = 20) — or simply record /12 and convert at the end.
• Scripts: read each text twice at natural pace if the website audio is unavailable; scripts are in the slide notes — do not show them before the section is submitted.
• Answer slides follow each part — mark live, or hide them and mark later.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structure: 01 Language vault · 02 Grammar laboratory · 03 60-mark profile · 04 Listening · 05 Reading · 06 Writing · 07 Speaking · 08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Five of the twelve website grammar-laboratory questions (D2-L01 (website), L02, L03, L06). Students scoring below 3/5 revise the D2-L11 (website) personality bank before writing.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It samples Topic B: agreement · object pronouns · this (f.) · who (f.) · dual eyes.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six more website grammar-laboratory questions (comparison, evidence, balanced opinion, superlative, لِأَنَّنَا, developed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B APPLICATION CHALLENGE (3 min — it takes the speaking-rehearsal slot; the website speaking slide after it is FLEX) — from the website Topic page: “Rotate through identity, home, clothes and leisure stations. Retrieve vocabulary, grammar and one extended response before checking your weakest area.”
Website Topic B challenge “Topic B four-skills relay”: rotate through identity, home, clothes and leisure stations. In the assessment lesson this is FLEX (the D2-L12 assessment is the main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“Your 60-mark Topic B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(website). Students read the questions (30 s). Read the script twice.
SCRIPT: تَصِفُ هُدَى صَدِيقَتَهَا سَلْمَى. تَقُولُ إِنَّهَا صَبُورَةٌ وَمُتَعَاوِنَةٌ، لِأَنَّهَا تَشْرَحُ العَمَلَ لِلطَّالِبَاتِ الجَدِيدَاتِ. تَرْتَدِي سَلْمَى عَادَةً مَلَابِسَ بَسِيطَةً وَمُحْتَشِمَةً، بَيْنَمَا تُفَضِّلُ هُدَى أَلْوَانًا أَكْثَرَ زَهَاءً. فِي رَأْيِ هُدَى، اخْتِلَافُ الأُسْلُوبِ لَا يَمْنَعُ الصَّدَاقَةَ، لِأَنَّ كُلَّ شَخْصٍ يَخْتَارُ مَا يُنَاسِبُهُ.
Website note: Q5 “How does the speaker’s style differ?” — Huda prefers brighter colours (أَلْوَانًا أَكْثَرَ زَهَاءً).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(website). Read twice; two voices if possible.
SCRIPT: يَبْحَثُ عُمَرُ عَنْ مِعْطَفٍ جَدِيدٍ. يُجَرِّبُ مِعْطَفًا أَزْرَقَ، وَلٰكِنَّهُ ضَيِّقٌ. تُحْضِرُ البَائِعَةُ مَقَاسًا أَكْبَرَ وَتَقُولُ إِنَّ المِعْطَفَ الأَزْرَقَ أَرْخَصُ مِنَ الأَسْوَدِ. مَعَ ذٰلِكَ يَخْتَارُ عُمَرُ الأَسْوَدَ لِأَنَّهُ أَكْثَرُ أَنَاقَةً وَمُنَاسِبٌ لِلْمُنَاسَبَاتِ. يَقُولُ: سَآخُذُهُ، مِنْ فَضْلِكِ.
Listening total: /12 → ×5/3 = /20 (website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Students add up Listening /12 and convert to /20 (12 → 20, 9 → 15, 6 → 10, 3 →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Read once for the overall picture, then return for evidence, reference and contrast. No English support on assessment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1–5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6–10 (website). Reading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Students add up Reading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(website, 20 marks). Three routes (website): type, write or draw on screen, or on paper.
MARK SCHEME (website): Form /5 — one mark per field completed in Arabic. Article /15 — Task 5 · Range 5 · Accuracy 5.
Core access: the D2-L11 (website) frames may be used for Question 1 only. Teacher model on the next slide — show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website D2-L11 (website) writing model (the assessment page prints no model). Students compare and add ONE improvement in green pen (self-assessment only — the mark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(website, 10 marks: Communication /5 · Accuracy and range /5).
Follow-up questions for the conversation part: مَنْ يَدْعَمُكَ؟ · كَيْفَ تَتَفَاهَمَانِ؟ · مَا أَهَمُّ: الرَّاحَةُ أَمِ الأَنَاقَةُ؟ · أَيُّهُمَا تُفَضِّلُ وَلِمَاذَا؟
ORGANISATION: one-to-one (others finish writing) or trusted pairs with the teacher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PROFILE (website “Evidence · target · transfer — Topic B reflection”). The bands are a teacher guide in line with the other units (the website totals the four scores but prints no bands).
A precise action = rule + task + frequency, e.g. “Adjective agreement: five he / she pairs every two days; check in two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(TC-L01 · People, Places, Continents and Compass Points) will spend class time USING this language, so students prepare it tonight — short, simple, easy to access (school guidance: “Simple, Short, Interesting, Relevant, Easy to access”). Topic C begins with people, places, continents and compass points (TC-L01).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Topic B Review and Four-Skills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مُرَاجَعَةُ المِحْوَرِ ب وَتَقْيِيمُ المَهَارَاتِ الأَرْبَعِ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Demonstrate secure Topic B vocabulary, grammar and independent communication.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TB-L12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end of topic</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laboratory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المُرَاجَعَةُ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11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my strength, my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Topic C: places.</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Each section starts with the easier questions. Leave a blank and come back. The grammar laboratory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feminine personality agreement.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وَدُودٌ وَصَادِقٌ.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وَدُودَةٌ وَصَادِقَةٌ.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وَدُودَةٌ.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أَحْتَرِمُهَا.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أَحْتَرِمُهُ.</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تَحْتَرِمُنِي.</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السُّتْرَةُ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 who wears glasses”.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الَّذِي يَرْتَدِي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الَّتِي تَرْتَدِي نَظَّارَةً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dual-eye agreement.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عَيْنَاهَا بُنِّيَّتَانِ.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عَيْنَاهَا بُنِّيَّةٌ.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عَيْنَاهَا بُنِّيٌّ.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feminine personality agreement.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وَدُودٌ وَصَادِقٌ.</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وَدُودَةٌ وَصَادِقَةٌ.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وَدُودَةٌ.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subject requires feminine adjectives.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أَحْتَرِمُهَا.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أَحْتَرِمُهُ.</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تَحْتَرِمُنِي.</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refers to her.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السُّتْرَةُ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السُّتْرَةَ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السُّتْرَةُ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سُتْرَةٌ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 who wears glasses”.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الفَتَاةُ الَّذِي يَرْتَدِي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الوَلَدُ الَّتِي تَرْتَدِي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الفَتَاةُ الَّتِي تَرْتَدِي نَظَّارَةً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antecedent takes </a:t>
            </a:r>
            <a:pPr algn="l" indent="0" marL="0">
              <a:buNone/>
            </a:pPr>
            <a:r>
              <a:rPr lang="ar-SA" altLang="en-US" sz="1350" dirty="0">
                <a:solidFill>
                  <a:srgbClr val="8A6D1E"/>
                </a:solidFill>
                <a:latin typeface="Amiri" pitchFamily="2" charset="-78"/>
                <a:ea typeface="Amiri" pitchFamily="2" charset="-78"/>
                <a:cs typeface="Amiri" pitchFamily="2" charset="-78"/>
              </a:rPr>
              <a:t>التي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dual-eye agreement.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عَيْنَاهَا بُنِّيَّتَانِ.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عَيْنَاهَا بُنِّيَّةٌ.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عَيْنَاهَا بُنِّيٌّ.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feminine adjective is </a:t>
            </a:r>
            <a:pPr algn="l" indent="0" marL="0">
              <a:buNone/>
            </a:pPr>
            <a:r>
              <a:rPr lang="ar-SA" altLang="en-US" sz="1350" dirty="0">
                <a:solidFill>
                  <a:srgbClr val="8A6D1E"/>
                </a:solidFill>
                <a:latin typeface="Amiri" pitchFamily="2" charset="-78"/>
                <a:ea typeface="Amiri" pitchFamily="2" charset="-78"/>
                <a:cs typeface="Amiri" pitchFamily="2" charset="-78"/>
              </a:rPr>
              <a:t>بُنِّيَّتَانِ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This warm-up does NOT count. It samples Topic B: agreement · object pronouns · this (f.) · who (f.) · dual eyes.</a:t>
            </a:r>
            <a:endParaRPr lang="en-US" sz="12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مُرَاجَعَةٌ ثُمَّ تَقْيِيمٌ</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WEBSITE GRAMMAR LABORATORY · FLEX (NOT MARKED)</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laboratory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مُخْتَبَرُ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هٰذَا أَرْخَصُ ___ ذٰلِكَ.</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evidence for helpfulness?</a:t>
            </a:r>
            <a:endParaRPr lang="en-US" sz="125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مُتَعَاوِنَةٌ لِأَنَّهَا تُسَاعِدُ زَمِيلَاتِهَا.</a:t>
            </a:r>
            <a:endParaRPr lang="ar-SA" sz="180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مُتَعَاوِنَةٌ لِأَنَّ قَمِيصَهَا أَزْرَقُ.</a:t>
            </a:r>
            <a:endParaRPr lang="ar-SA" sz="180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مُتَعَاوِنَةٌ.</a:t>
            </a:r>
            <a:endParaRPr lang="ar-SA" sz="180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balanced style opinion.</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أُحِبُّ المَوْضَةَ لِأَنَّ.</a:t>
            </a:r>
            <a:endParaRPr lang="ar-SA" sz="160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المَوْضَةُ دَائِمًا صَحِيحَةٌ.</a:t>
            </a:r>
            <a:endParaRPr lang="ar-SA" sz="160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أُحِبُّ المَوْضَةَ، وَلٰكِنَّنِي أَخْتَارُ مَا يُنَاسِبُنِي.</a:t>
            </a:r>
            <a:endParaRPr lang="ar-SA" sz="160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superlative?</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أَفْضَلُ مِنْ ذٰلِكَ.</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جَيِّدٌ.</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الخِيَارُ الأَفْضَلُ.</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عَلَاقَتُنَا قَوِيَّةٌ ___ نَثِقُ بِبَعْضِنَا.</a:t>
            </a:r>
            <a:endParaRPr lang="ar-SA" sz="11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لِأَنَّنَا</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وَلٰكِنَّهَا</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developed answer.</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هٰذَا المِعْطَفُ.</a:t>
            </a:r>
            <a:endParaRPr lang="ar-SA" sz="15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أُفَضِّلُ هٰذَا المِعْطَفَ لِأَنَّهُ أَرْخَصُ وَأَكْثَرُ رَاحَةً.</a:t>
            </a:r>
            <a:endParaRPr lang="ar-SA" sz="15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a:t>
            </a:r>
            <a:endParaRPr lang="ar-SA" sz="15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laboratory: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هٰذَا أَرْخَصُ ___ ذٰلِكَ.</a:t>
            </a:r>
            <a:endParaRPr lang="ar-SA" sz="150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 takes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evidence for helpfulness?</a:t>
            </a:r>
            <a:endParaRPr lang="en-US" sz="125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مُتَعَاوِنَةٌ لِأَنَّهَا تُسَاعِدُ زَمِيلَاتِهَا.</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مُتَعَاوِنَةٌ لِأَنَّ قَمِيصَهَا أَزْرَقُ.</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مُتَعَاوِنَةٌ.</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behaviour proves the adjective.</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balanced style opinion.</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أُحِبُّ المَوْضَةَ لِأَنَّ.</a:t>
            </a:r>
            <a:endParaRPr lang="ar-SA" sz="16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المَوْضَةُ دَائِمًا صَحِيحَةٌ.</a:t>
            </a:r>
            <a:endParaRPr lang="ar-SA" sz="16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أُحِبُّ المَوْضَةَ، وَلٰكِنَّنِي أَخْتَارُ مَا يُنَاسِبُنِي.</a:t>
            </a:r>
            <a:endParaRPr lang="ar-SA" sz="16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gives contrast and personal judgement.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superlative?</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أَفْضَلُ مِنْ ذٰلِكَ.</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جَيِّدٌ.</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الخِيَارُ الأَفْضَلُ.</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a:t>
            </a:r>
            <a:pPr algn="l" indent="0" marL="0">
              <a:buNone/>
            </a:pPr>
            <a:r>
              <a:rPr lang="ar-SA" altLang="en-US" sz="1350" dirty="0">
                <a:solidFill>
                  <a:srgbClr val="8A6D1E"/>
                </a:solidFill>
                <a:latin typeface="Amiri" pitchFamily="2" charset="-78"/>
                <a:ea typeface="Amiri" pitchFamily="2" charset="-78"/>
                <a:cs typeface="Amiri" pitchFamily="2" charset="-78"/>
              </a:rPr>
              <a:t>الأَفْضَلُ</a:t>
            </a:r>
            <a:pPr algn="l" indent="0" marL="0">
              <a:buNone/>
            </a:pPr>
            <a:r>
              <a:rPr lang="en-US" sz="1050" i="1" dirty="0">
                <a:solidFill>
                  <a:srgbClr val="8A6D1E"/>
                </a:solidFill>
                <a:latin typeface="Calibri" pitchFamily="34" charset="0"/>
                <a:cs typeface="Amiri" pitchFamily="2" charset="-78"/>
              </a:rPr>
              <a:t> means the best.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81" name="Text 7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عَلَاقَتُنَا قَوِيَّةٌ ___ نَثِقُ بِبَعْضِنَا.</a:t>
            </a:r>
            <a:endParaRPr lang="ar-SA" sz="110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لِأَنَّنَا</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وَلٰكِنَّهَا</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is we: </a:t>
            </a:r>
            <a:pPr algn="l" indent="0" marL="0">
              <a:buNone/>
            </a:pPr>
            <a:r>
              <a:rPr lang="ar-SA" altLang="en-US" sz="1350" dirty="0">
                <a:solidFill>
                  <a:srgbClr val="8A6D1E"/>
                </a:solidFill>
                <a:latin typeface="Amiri" pitchFamily="2" charset="-78"/>
                <a:ea typeface="Amiri" pitchFamily="2" charset="-78"/>
                <a:cs typeface="Amiri" pitchFamily="2" charset="-78"/>
              </a:rPr>
              <a:t>لِأَنَّنَا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developed answer.</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هٰذَا المِعْطَفُ.</a:t>
            </a:r>
            <a:endParaRPr lang="ar-SA" sz="155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أُفَضِّلُ هٰذَا المِعْطَفَ لِأَنَّهُ أَرْخَصُ وَأَكْثَرُ رَاحَةً.</a:t>
            </a:r>
            <a:endParaRPr lang="ar-SA" sz="155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نَعَمْ.</a:t>
            </a:r>
            <a:endParaRPr lang="ar-SA" sz="155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includes preference, comparison and reason.</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TOPIC B APPLICATION CHALLENGE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B four-skills relay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7" name="Shape 14"/>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9" name="Text 16"/>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20" name="Text 17"/>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Topic B four-skills relay</a:t>
            </a:r>
            <a:endParaRPr lang="en-US" sz="2200" dirty="0"/>
          </a:p>
        </p:txBody>
      </p:sp>
      <p:sp>
        <p:nvSpPr>
          <p:cNvPr id="21" name="Text 18"/>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Rotate through identity, home, clothes and leisure stations. Retrieve vocabulary, grammar and one extended response before checking your weakest area.</a:t>
            </a:r>
            <a:endParaRPr lang="en-US" sz="1350" dirty="0"/>
          </a:p>
        </p:txBody>
      </p:sp>
      <p:sp>
        <p:nvSpPr>
          <p:cNvPr id="22" name="Text 19"/>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3" name="Shape 20"/>
          <p:cNvSpPr/>
          <p:nvPr/>
        </p:nvSpPr>
        <p:spPr>
          <a:xfrm>
            <a:off x="658368" y="4407408"/>
            <a:ext cx="274320" cy="274320"/>
          </a:xfrm>
          <a:prstGeom prst="ellipse">
            <a:avLst/>
          </a:prstGeom>
          <a:solidFill>
            <a:srgbClr val="1B3B6F"/>
          </a:solidFill>
          <a:ln w="12700">
            <a:solidFill>
              <a:srgbClr val="1B3B6F"/>
            </a:solidFill>
            <a:prstDash val="solid"/>
          </a:ln>
        </p:spPr>
      </p:sp>
      <p:sp>
        <p:nvSpPr>
          <p:cNvPr id="24" name="Text 21"/>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5" name="Text 22"/>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stations, 1 minute each: identity · home · clothes · leisure.</a:t>
            </a:r>
            <a:endParaRPr lang="en-US" sz="1150" dirty="0"/>
          </a:p>
        </p:txBody>
      </p:sp>
      <p:sp>
        <p:nvSpPr>
          <p:cNvPr id="26" name="Shape 23"/>
          <p:cNvSpPr/>
          <p:nvPr/>
        </p:nvSpPr>
        <p:spPr>
          <a:xfrm>
            <a:off x="658368" y="4864608"/>
            <a:ext cx="274320" cy="274320"/>
          </a:xfrm>
          <a:prstGeom prst="ellipse">
            <a:avLst/>
          </a:prstGeom>
          <a:solidFill>
            <a:srgbClr val="1B3B6F"/>
          </a:solidFill>
          <a:ln w="12700">
            <a:solidFill>
              <a:srgbClr val="1B3B6F"/>
            </a:solidFill>
            <a:prstDash val="solid"/>
          </a:ln>
        </p:spPr>
      </p:sp>
      <p:sp>
        <p:nvSpPr>
          <p:cNvPr id="27" name="Text 24"/>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8" name="Text 25"/>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At each station: retrieve 3 words, 1 grammar point and 1 extended sentence.</a:t>
            </a:r>
            <a:endParaRPr lang="en-US" sz="1150" dirty="0"/>
          </a:p>
        </p:txBody>
      </p:sp>
      <p:sp>
        <p:nvSpPr>
          <p:cNvPr id="29" name="Shape 26"/>
          <p:cNvSpPr/>
          <p:nvPr/>
        </p:nvSpPr>
        <p:spPr>
          <a:xfrm>
            <a:off x="658368" y="5321808"/>
            <a:ext cx="274320" cy="274320"/>
          </a:xfrm>
          <a:prstGeom prst="ellipse">
            <a:avLst/>
          </a:prstGeom>
          <a:solidFill>
            <a:srgbClr val="1B3B6F"/>
          </a:solidFill>
          <a:ln w="12700">
            <a:solidFill>
              <a:srgbClr val="1B3B6F"/>
            </a:solidFill>
            <a:prstDash val="solid"/>
          </a:ln>
        </p:spPr>
      </p:sp>
      <p:sp>
        <p:nvSpPr>
          <p:cNvPr id="30" name="Text 27"/>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31" name="Text 28"/>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Note your weakest station — that is your revision target.</a:t>
            </a:r>
            <a:endParaRPr lang="en-US" sz="1150" dirty="0"/>
          </a:p>
        </p:txBody>
      </p:sp>
      <p:sp>
        <p:nvSpPr>
          <p:cNvPr id="32" name="Shape 29"/>
          <p:cNvSpPr/>
          <p:nvPr/>
        </p:nvSpPr>
        <p:spPr>
          <a:xfrm>
            <a:off x="658368" y="5779008"/>
            <a:ext cx="274320" cy="274320"/>
          </a:xfrm>
          <a:prstGeom prst="ellipse">
            <a:avLst/>
          </a:prstGeom>
          <a:solidFill>
            <a:srgbClr val="1B3B6F"/>
          </a:solidFill>
          <a:ln w="12700">
            <a:solidFill>
              <a:srgbClr val="1B3B6F"/>
            </a:solidFill>
            <a:prstDash val="solid"/>
          </a:ln>
        </p:spPr>
      </p:sp>
      <p:sp>
        <p:nvSpPr>
          <p:cNvPr id="33" name="Text 30"/>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4" name="Text 31"/>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FLEX: use before the assessment or as the next lesson’s warm-up.</a:t>
            </a:r>
            <a:endParaRPr lang="en-US" sz="1150" dirty="0"/>
          </a:p>
        </p:txBody>
      </p:sp>
      <p:sp>
        <p:nvSpPr>
          <p:cNvPr id="35" name="Shape 32"/>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8" name="Text 35"/>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sentence per station using the frames.</a:t>
            </a:r>
            <a:endParaRPr lang="en-US" sz="1150" dirty="0"/>
          </a:p>
        </p:txBody>
      </p:sp>
      <p:sp>
        <p:nvSpPr>
          <p:cNvPr id="39" name="Shape 36"/>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41" name="Text 38"/>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2" name="Text 39"/>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per station, with agreement checked.</a:t>
            </a:r>
            <a:endParaRPr lang="en-US" sz="1150" dirty="0"/>
          </a:p>
        </p:txBody>
      </p:sp>
      <p:sp>
        <p:nvSpPr>
          <p:cNvPr id="43" name="Shape 40"/>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5" name="Text 42"/>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6" name="Text 43"/>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extended answer at each station with a reason and a time frame.</a:t>
            </a:r>
            <a:endParaRPr lang="en-US" sz="1150" dirty="0"/>
          </a:p>
        </p:txBody>
      </p:sp>
      <p:sp>
        <p:nvSpPr>
          <p:cNvPr id="47" name="Shape 44"/>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Text 45"/>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9" name="Text 46"/>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اِسْمُهَا … وَعُمْرُهَا …</a:t>
            </a:r>
            <a:endParaRPr lang="ar-SA" sz="1300" dirty="0"/>
          </a:p>
        </p:txBody>
      </p:sp>
      <p:sp>
        <p:nvSpPr>
          <p:cNvPr id="50" name="Text 47"/>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identity</a:t>
            </a:r>
            <a:endParaRPr lang="en-US" sz="1000" dirty="0"/>
          </a:p>
        </p:txBody>
      </p:sp>
      <p:sp>
        <p:nvSpPr>
          <p:cNvPr id="51" name="Text 48"/>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بَيْتِي … / تُوجَدُ …</a:t>
            </a:r>
            <a:endParaRPr lang="ar-SA" sz="1300" dirty="0"/>
          </a:p>
        </p:txBody>
      </p:sp>
      <p:sp>
        <p:nvSpPr>
          <p:cNvPr id="52" name="Text 49"/>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home</a:t>
            </a:r>
            <a:endParaRPr lang="en-US" sz="1000" dirty="0"/>
          </a:p>
        </p:txBody>
      </p:sp>
      <p:sp>
        <p:nvSpPr>
          <p:cNvPr id="53" name="Text 50"/>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قَمِيصٌ أَزْرَقُ / فُسْتَانٌ …</a:t>
            </a:r>
            <a:endParaRPr lang="ar-SA" sz="1300" dirty="0"/>
          </a:p>
        </p:txBody>
      </p:sp>
      <p:sp>
        <p:nvSpPr>
          <p:cNvPr id="54" name="Text 51"/>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clothes</a:t>
            </a:r>
            <a:endParaRPr lang="en-US" sz="1000" dirty="0"/>
          </a:p>
        </p:txBody>
      </p:sp>
      <p:sp>
        <p:nvSpPr>
          <p:cNvPr id="55" name="Text 52"/>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أُمَارِسُ … مَرَّتَيْنِ فِي الأُسْبُوعِ</a:t>
            </a:r>
            <a:endParaRPr lang="ar-SA" sz="1300" dirty="0"/>
          </a:p>
        </p:txBody>
      </p:sp>
      <p:sp>
        <p:nvSpPr>
          <p:cNvPr id="56" name="Text 53"/>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leisure</a:t>
            </a:r>
            <a:endParaRPr lang="en-US" sz="10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60-mark Topic B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3941064"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561320"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1" name="Text 18"/>
          <p:cNvSpPr txBox="1"/>
          <p:nvPr/>
        </p:nvSpPr>
        <p:spPr>
          <a:xfrm>
            <a:off x="3977640"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texts, each heard twice: a friend and her style · buying a coat (12 questions)</a:t>
            </a:r>
            <a:endParaRPr lang="en-US" sz="1100" dirty="0"/>
          </a:p>
        </p:txBody>
      </p:sp>
      <p:sp>
        <p:nvSpPr>
          <p:cNvPr id="22" name="Text 19"/>
          <p:cNvSpPr txBox="1"/>
          <p:nvPr/>
        </p:nvSpPr>
        <p:spPr>
          <a:xfrm>
            <a:off x="56692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Listening · </a:t>
            </a:r>
            <a:pPr algn="l" indent="0" marL="0">
              <a:buNone/>
            </a:pPr>
            <a:r>
              <a:rPr lang="ar-SA" altLang="en-US" sz="1450" dirty="0">
                <a:solidFill>
                  <a:srgbClr val="5A6472"/>
                </a:solidFill>
                <a:latin typeface="Amiri" pitchFamily="2" charset="-78"/>
                <a:ea typeface="Amiri" pitchFamily="2" charset="-78"/>
                <a:cs typeface="Amiri" pitchFamily="2" charset="-78"/>
              </a:rPr>
              <a:t>الاِسْتِمَاعُ</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561320"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7" name="Text 24"/>
          <p:cNvSpPr txBox="1"/>
          <p:nvPr/>
        </p:nvSpPr>
        <p:spPr>
          <a:xfrm>
            <a:off x="3977640"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Salma’s portrait: ten questions — evidence, reference, inference</a:t>
            </a:r>
            <a:endParaRPr lang="en-US" sz="1100" dirty="0"/>
          </a:p>
        </p:txBody>
      </p:sp>
      <p:sp>
        <p:nvSpPr>
          <p:cNvPr id="28" name="Text 25"/>
          <p:cNvSpPr txBox="1"/>
          <p:nvPr/>
        </p:nvSpPr>
        <p:spPr>
          <a:xfrm>
            <a:off x="56692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Reading · </a:t>
            </a:r>
            <a:pPr algn="l" indent="0" marL="0">
              <a:buNone/>
            </a:pPr>
            <a:r>
              <a:rPr lang="ar-SA" altLang="en-US" sz="1450" dirty="0">
                <a:solidFill>
                  <a:srgbClr val="5A6472"/>
                </a:solidFill>
                <a:latin typeface="Amiri" pitchFamily="2" charset="-78"/>
                <a:ea typeface="Amiri" pitchFamily="2" charset="-78"/>
                <a:cs typeface="Amiri" pitchFamily="2" charset="-78"/>
              </a:rPr>
              <a:t>القِرَاءَةُ</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561320"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3" name="Text 30"/>
          <p:cNvSpPr txBox="1"/>
          <p:nvPr/>
        </p:nvSpPr>
        <p:spPr>
          <a:xfrm>
            <a:off x="3977640"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Person-profile form (5) · article or email, 100–120 words (15)</a:t>
            </a:r>
            <a:endParaRPr lang="en-US" sz="1100" dirty="0"/>
          </a:p>
        </p:txBody>
      </p:sp>
      <p:sp>
        <p:nvSpPr>
          <p:cNvPr id="34" name="Text 31"/>
          <p:cNvSpPr txBox="1"/>
          <p:nvPr/>
        </p:nvSpPr>
        <p:spPr>
          <a:xfrm>
            <a:off x="56692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Writing · </a:t>
            </a:r>
            <a:pPr algn="l" indent="0" marL="0">
              <a:buNone/>
            </a:pPr>
            <a:r>
              <a:rPr lang="ar-SA" altLang="en-US" sz="1450" dirty="0">
                <a:solidFill>
                  <a:srgbClr val="5A6472"/>
                </a:solidFill>
                <a:latin typeface="Amiri" pitchFamily="2" charset="-78"/>
                <a:ea typeface="Amiri" pitchFamily="2" charset="-78"/>
                <a:cs typeface="Amiri" pitchFamily="2" charset="-78"/>
              </a:rPr>
              <a:t>الكِتَابَةُ</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561320"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39" name="Text 36"/>
          <p:cNvSpPr txBox="1"/>
          <p:nvPr/>
        </p:nvSpPr>
        <p:spPr>
          <a:xfrm>
            <a:off x="3977640"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Portrait + topic conversation — cue words only</a:t>
            </a:r>
            <a:endParaRPr lang="en-US" sz="1100" dirty="0"/>
          </a:p>
        </p:txBody>
      </p:sp>
      <p:sp>
        <p:nvSpPr>
          <p:cNvPr id="40" name="Text 37"/>
          <p:cNvSpPr txBox="1"/>
          <p:nvPr/>
        </p:nvSpPr>
        <p:spPr>
          <a:xfrm>
            <a:off x="56692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Speaking · </a:t>
            </a:r>
            <a:pPr algn="l" indent="0" marL="0">
              <a:buNone/>
            </a:pPr>
            <a:r>
              <a:rPr lang="ar-SA" altLang="en-US" sz="1450" dirty="0">
                <a:solidFill>
                  <a:srgbClr val="5A6472"/>
                </a:solidFill>
                <a:latin typeface="Amiri" pitchFamily="2" charset="-78"/>
                <a:ea typeface="Amiri" pitchFamily="2" charset="-78"/>
                <a:cs typeface="Amiri" pitchFamily="2" charset="-78"/>
              </a:rPr>
              <a:t>التَّحَدُّثُ</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HEARD TWICE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 A friend and her style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described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shop assistant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teacher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female friend</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she like?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selfish and nervous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patient and helpful</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quiet and dishonest</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usually wear?</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uniform</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simple modest clothes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sports kit only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supports helpfulness?</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buys expensive clothes.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has long hair.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explains work to new students.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speaker’s style differ?</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more colourful.</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more formal.</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identical.</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conclusion is given?</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Fashion is always bad.</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Different styles can suit different personalities.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Friends must dress alike.</a:t>
            </a:r>
            <a:endParaRPr lang="en-US" sz="1250" dirty="0"/>
          </a:p>
        </p:txBody>
      </p:sp>
      <p:sp>
        <p:nvSpPr>
          <p:cNvPr id="93" name="Shape 90"/>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TWO PEOPLE</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Huda speaks about Salma.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described first?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shop assistant</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teacher</a:t>
            </a:r>
            <a:endParaRPr lang="en-US" sz="1250" dirty="0"/>
          </a:p>
        </p:txBody>
      </p:sp>
      <p:sp>
        <p:nvSpPr>
          <p:cNvPr id="25" name="Shape 22"/>
          <p:cNvSpPr/>
          <p:nvPr/>
        </p:nvSpPr>
        <p:spPr>
          <a:xfrm>
            <a:off x="548640" y="3197352"/>
            <a:ext cx="2498598"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female friend</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begins with her friend.</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she like?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selfish and nervous</a:t>
            </a:r>
            <a:endParaRPr lang="en-US" sz="1250" dirty="0"/>
          </a:p>
        </p:txBody>
      </p:sp>
      <p:sp>
        <p:nvSpPr>
          <p:cNvPr id="37" name="Shape 34"/>
          <p:cNvSpPr/>
          <p:nvPr/>
        </p:nvSpPr>
        <p:spPr>
          <a:xfrm>
            <a:off x="3412998" y="2825496"/>
            <a:ext cx="2498598"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3504438"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patient and helpful</a:t>
            </a:r>
            <a:endParaRPr lang="en-US" sz="125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quiet and dishonest</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says </a:t>
            </a:r>
            <a:pPr algn="l" indent="0" marL="0">
              <a:buNone/>
            </a:pPr>
            <a:r>
              <a:rPr lang="ar-SA" altLang="en-US" sz="1350" dirty="0">
                <a:solidFill>
                  <a:srgbClr val="8A6D1E"/>
                </a:solidFill>
                <a:latin typeface="Amiri" pitchFamily="2" charset="-78"/>
                <a:ea typeface="Amiri" pitchFamily="2" charset="-78"/>
                <a:cs typeface="Amiri" pitchFamily="2" charset="-78"/>
              </a:rPr>
              <a:t>صَبُورَةٌ وَمُتَعَاوِنَةٌ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usually wear?</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uniform</a:t>
            </a:r>
            <a:endParaRPr lang="en-US" sz="1250" dirty="0"/>
          </a:p>
        </p:txBody>
      </p:sp>
      <p:sp>
        <p:nvSpPr>
          <p:cNvPr id="52" name="Shape 49"/>
          <p:cNvSpPr/>
          <p:nvPr/>
        </p:nvSpPr>
        <p:spPr>
          <a:xfrm>
            <a:off x="6277356" y="2825496"/>
            <a:ext cx="2498598"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368796"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simple modest clothes</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sports kit only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states simple, modest clothes.</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supports helpfulness?</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She buys expensive clothes.</a:t>
            </a:r>
            <a:endParaRPr lang="en-US" sz="1200" dirty="0"/>
          </a:p>
        </p:txBody>
      </p:sp>
      <p:sp>
        <p:nvSpPr>
          <p:cNvPr id="67" name="Shape 64"/>
          <p:cNvSpPr/>
          <p:nvPr/>
        </p:nvSpPr>
        <p:spPr>
          <a:xfrm>
            <a:off x="9233154" y="2862072"/>
            <a:ext cx="256032" cy="256032"/>
          </a:xfrm>
          <a:prstGeom prst="ellipse">
            <a:avLst/>
          </a:prstGeom>
          <a:solidFill>
            <a:srgbClr val="C9CED6"/>
          </a:solidFill>
          <a:ln w="12700">
            <a:solidFill>
              <a:srgbClr val="C9CED6"/>
            </a:solidFill>
            <a:prstDash val="solid"/>
          </a:ln>
        </p:spPr>
      </p:sp>
      <p:sp>
        <p:nvSpPr>
          <p:cNvPr id="68" name="Text 65"/>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has long hair.</a:t>
            </a:r>
            <a:endParaRPr lang="en-US" sz="1250" dirty="0"/>
          </a:p>
        </p:txBody>
      </p:sp>
      <p:sp>
        <p:nvSpPr>
          <p:cNvPr id="70" name="Shape 67"/>
          <p:cNvSpPr/>
          <p:nvPr/>
        </p:nvSpPr>
        <p:spPr>
          <a:xfrm>
            <a:off x="9141714" y="3197352"/>
            <a:ext cx="2498598"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9233154" y="3233928"/>
            <a:ext cx="256032" cy="256032"/>
          </a:xfrm>
          <a:prstGeom prst="ellipse">
            <a:avLst/>
          </a:prstGeom>
          <a:solidFill>
            <a:srgbClr val="2E8B57"/>
          </a:solidFill>
          <a:ln w="12700">
            <a:solidFill>
              <a:srgbClr val="2E8B57"/>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explains work to new students.</a:t>
            </a:r>
            <a:endParaRPr lang="en-US" sz="11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action supports the quality.</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speaker’s style differ?</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more colourful.</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more formal.</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identical.</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prefers more colourful clothes.</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conclusion is given?</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Fashion is always bad.</a:t>
            </a:r>
            <a:endParaRPr lang="en-US" sz="1250" dirty="0"/>
          </a:p>
        </p:txBody>
      </p:sp>
      <p:sp>
        <p:nvSpPr>
          <p:cNvPr id="97" name="Shape 94"/>
          <p:cNvSpPr/>
          <p:nvPr/>
        </p:nvSpPr>
        <p:spPr>
          <a:xfrm>
            <a:off x="3412998" y="5166360"/>
            <a:ext cx="2498598"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350443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Different styles can suit different personalities.</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Friends must dress alike.</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conclusion values individual suitability.</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TWO PEOPLE</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Huda speaks about Salma.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HEARD TWICE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 Buying a coat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item is the customer looking for?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shoes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is there with the first item?</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cheap.</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tight.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wrong colour only.</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assistant bring?</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smaller size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different bag</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larger size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coat is cheaper?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blue coat</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black coat</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cost the same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customer choose black?</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cheapest.</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more elegant and suitable.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lighter.</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language function is used at the end?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polite purchase decision</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asking directions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describing family</a:t>
            </a:r>
            <a:endParaRPr lang="en-US" sz="1250" dirty="0"/>
          </a:p>
        </p:txBody>
      </p:sp>
      <p:sp>
        <p:nvSpPr>
          <p:cNvPr id="93" name="Shape 90"/>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IN A SHOP</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past “however” (maʿa dhālika).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item is the customer looking for?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bag</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shoes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customer asks for a coat.</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is there with the first item?</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too cheap.</a:t>
            </a:r>
            <a:endParaRPr lang="en-US" sz="1250" dirty="0"/>
          </a:p>
        </p:txBody>
      </p:sp>
      <p:sp>
        <p:nvSpPr>
          <p:cNvPr id="37" name="Shape 34"/>
          <p:cNvSpPr/>
          <p:nvPr/>
        </p:nvSpPr>
        <p:spPr>
          <a:xfrm>
            <a:off x="3412998" y="2825496"/>
            <a:ext cx="2498598"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3504438"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too tight.</a:t>
            </a:r>
            <a:endParaRPr lang="en-US" sz="125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wrong colour only.</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coat is tight.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assistant bring?</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smaller size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different bag</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larger size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larger size is brought.</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coat is cheaper?</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blue coat</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black coat</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cost the same</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blue coat is cheaper.</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customer choose black?</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cheapest.</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more elegant and suitable.</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lighter.</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Elegance and suitability decide the choice.</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language function is used at the end?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polite purchase decision</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asking directions</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describing family</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customer confirms the purchase politely.</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IN A SHOP</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past “however” (maʿa dhālika).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10 MARKS · SALMA’S PORTRAIT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Salma, my close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سَلْمَى صَدِيقَتِي المُقَرَّبَةُ الَّتِي أَعْرِفُهَا مُنْذُ سِتِّ سَنَوَاتٍ. هِيَ مُتَوَسِّطَةُ القَامَةِ وَلَهَا شَعْرٌ قَصِيرٌ وَمُجَعَّدٌ. تَرْتَدِي عَادَةً مَلَابِسَ أَكْثَرَ رَسْمِيَّةً مِنْ مَلَابِسِي، بَيْنَمَا أُفَضِّلُ أَنَا الأُسْلُوبَ العَمَلِيَّ. سَلْمَى وَدُودَةٌ وَوَاثِقَةٌ؛ فَهِيَ تَتَحَدَّثُ أَمَامَ المَجْمُوعَاتِ دُونَ خَوْفٍ. وَهِيَ أَيْضًا مُتَعَاوِنَةٌ لِأَنَّهَا تُسَاعِدُ الطَّالِبَاتِ الجَدِيدَاتِ. أَثِقُ بِهَا لِأَنَّهَا صَادِقَةٌ وَتَسْتَمِعُ إِلَيَّ. فِي رَأْيِي، المَلَابِسُ قَدْ تُعَبِّرُ عَنِ الذَّوْقِ، وَلٰكِنَّ الشَّخْصِيَّةَ وَالسُّلُوكَ أَهَمُّ مِنَ المَظْهَرِ وَحْدَهُ.</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 (١–٥)</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relationship to Salma?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sister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close friend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quality is supported by helping new students?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cooperative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selfish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Salma’s style compare with the writer’s?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colourful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formal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exactly the same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الَّتِي</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coat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trust her?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buys gifts.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tall.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honest and listens.</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Go back to the text for every answer.</a:t>
            </a:r>
            <a:endParaRPr lang="en-US" sz="1250" dirty="0"/>
          </a:p>
          <a:p>
            <a:pPr algn="l" indent="0" marL="0">
              <a:buNone/>
            </a:pPr>
            <a:r>
              <a:rPr lang="en-US" sz="1250" dirty="0">
                <a:solidFill>
                  <a:srgbClr val="1F2A37"/>
                </a:solidFill>
                <a:latin typeface="Calibri" pitchFamily="34" charset="0"/>
                <a:cs typeface="Amiri" pitchFamily="2" charset="-78"/>
              </a:rPr>
              <a:t>Chat: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1–5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relationship to Salma?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sister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teacher</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close friend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صَدِيقَتِي المُقَرَّبَةُ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quality is supported by helping new students?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cooperative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selfish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Helping supports cooperation.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Salma’s style compare with the writer’s?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colourful</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more formal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exactly the same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states her style is more formal.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الَّتِي</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Salma</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coat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school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relative pronoun refers to Salma.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trust her?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buys gifts.</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tall.</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is honest and listens.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writer gives both behaviours as evidence.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Go back to the text for every answer.</a:t>
            </a:r>
            <a:endParaRPr lang="en-US" sz="1250" dirty="0"/>
          </a:p>
          <a:p>
            <a:pPr algn="l" indent="0" marL="0">
              <a:buNone/>
            </a:pPr>
            <a:r>
              <a:rPr lang="en-US" sz="1250" dirty="0">
                <a:solidFill>
                  <a:srgbClr val="1F2A37"/>
                </a:solidFill>
                <a:latin typeface="Calibri" pitchFamily="34" charset="0"/>
                <a:cs typeface="Amiri" pitchFamily="2" charset="-78"/>
              </a:rPr>
              <a:t>Chat: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 (٦–١٠)</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final judgement?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Character matters more than clothes alone.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Fashion determines personality.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Friends should dress alike.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contrast?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comparative is used?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رَسْمِيَّةً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رَسْمِيَّةٌ جِدًّا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الأَكْثَرُ رَسْمِيَّةً مِنْهَا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shows confidence?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has brown eyes.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wears blue.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speaks to groups without fear.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summary is best?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price list.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timetable.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balanced portrait combining appearance, style, relationship and evidence.</a:t>
            </a:r>
            <a:endParaRPr lang="en-US" sz="11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Q7–8: find the exact words.</a:t>
            </a:r>
            <a:endParaRPr lang="en-US" sz="1250" dirty="0"/>
          </a:p>
          <a:p>
            <a:pPr algn="l" indent="0" marL="0">
              <a:buNone/>
            </a:pPr>
            <a:r>
              <a:rPr lang="en-US" sz="1250" dirty="0">
                <a:solidFill>
                  <a:srgbClr val="1F2A37"/>
                </a:solidFill>
                <a:latin typeface="Calibri" pitchFamily="34" charset="0"/>
                <a:cs typeface="Amiri" pitchFamily="2" charset="-78"/>
              </a:rPr>
              <a:t>Chat: 6_ 7_ 8_ 9_ 10_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6–10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final judgement?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Character matters more than clothes alone.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Fashion determines personality.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Friends should dress alike.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conclusion prioritises character.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contrast?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بَيْنَمَا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contrasts two styles.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comparative is used?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أَكْثَرُ رَسْمِيَّةً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رَسْمِيَّةٌ جِدًّا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الأَكْثَرُ رَسْمِيَّةً مِنْهَا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uses </a:t>
            </a:r>
            <a:pPr algn="l" indent="0" marL="0">
              <a:buNone/>
            </a:pPr>
            <a:r>
              <a:rPr lang="ar-SA" altLang="en-US" sz="1350" dirty="0">
                <a:solidFill>
                  <a:srgbClr val="8A6D1E"/>
                </a:solidFill>
                <a:latin typeface="Amiri" pitchFamily="2" charset="-78"/>
                <a:ea typeface="Amiri" pitchFamily="2" charset="-78"/>
                <a:cs typeface="Amiri" pitchFamily="2" charset="-78"/>
              </a:rPr>
              <a:t>أَكْثَرُ رَسْمِيَّةً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shows confidence?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has brown eyes.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wears blue.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speaks to groups without fear.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behaviour supports confidence.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summary is best?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price list.</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timetable.</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balanced portrait combining appearance, style, relationship and evidence.</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integrates the unit themes.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Q7–8: find the exact words.</a:t>
            </a:r>
            <a:endParaRPr lang="en-US" sz="1250" dirty="0"/>
          </a:p>
          <a:p>
            <a:pPr algn="l" indent="0" marL="0">
              <a:buNone/>
            </a:pPr>
            <a:r>
              <a:rPr lang="en-US" sz="1250" dirty="0">
                <a:solidFill>
                  <a:srgbClr val="1F2A37"/>
                </a:solidFill>
                <a:latin typeface="Calibri" pitchFamily="34" charset="0"/>
                <a:cs typeface="Amiri" pitchFamily="2" charset="-78"/>
              </a:rPr>
              <a:t>Chat: 6_ 7_ 8_ 9_ 10_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WRITING · 20 MARKS · PROFILE FORM (5) + ARTICLE OR EMAIL (15)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15784"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1 · person profile (5)</a:t>
            </a:r>
            <a:endParaRPr lang="en-US" sz="1100" dirty="0"/>
          </a:p>
        </p:txBody>
      </p:sp>
      <p:sp>
        <p:nvSpPr>
          <p:cNvPr id="17" name="Text 14"/>
          <p:cNvSpPr txBox="1"/>
          <p:nvPr/>
        </p:nvSpPr>
        <p:spPr>
          <a:xfrm>
            <a:off x="530352" y="1810512"/>
            <a:ext cx="6739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2 · article or email, 100–120 words (15)</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7434072" y="2267712"/>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الاِسْمُ: ______</a:t>
            </a:r>
            <a:endParaRPr lang="ar-SA" sz="2200" dirty="0"/>
          </a:p>
        </p:txBody>
      </p:sp>
      <p:sp>
        <p:nvSpPr>
          <p:cNvPr id="20" name="Text 17"/>
          <p:cNvSpPr txBox="1"/>
          <p:nvPr/>
        </p:nvSpPr>
        <p:spPr>
          <a:xfrm>
            <a:off x="566928" y="2267712"/>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About a person: your relationship, their appearance and style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434072" y="300471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صِفَتَانِ شَخْصِيَّتَانِ: ______</a:t>
            </a:r>
            <a:endParaRPr lang="ar-SA" sz="2200" dirty="0"/>
          </a:p>
        </p:txBody>
      </p:sp>
      <p:sp>
        <p:nvSpPr>
          <p:cNvPr id="25" name="Text 22"/>
          <p:cNvSpPr txBox="1"/>
          <p:nvPr/>
        </p:nvSpPr>
        <p:spPr>
          <a:xfrm>
            <a:off x="566928" y="3004718"/>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Include: a comparison · evidence · a reasoned opinion</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7434072" y="3741725"/>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دَلِيلٌ عَلَى صِفَةٍ: ______</a:t>
            </a:r>
            <a:endParaRPr lang="ar-SA" sz="2200" dirty="0"/>
          </a:p>
        </p:txBody>
      </p:sp>
      <p:sp>
        <p:nvSpPr>
          <p:cNvPr id="30" name="Text 27"/>
          <p:cNvSpPr txBox="1"/>
          <p:nvPr/>
        </p:nvSpPr>
        <p:spPr>
          <a:xfrm>
            <a:off x="566928" y="3741725"/>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/5 — all content points developed</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7434072" y="4478731"/>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وَصْفُ المَظْهَرِ: ______</a:t>
            </a:r>
            <a:endParaRPr lang="ar-SA" sz="2200" dirty="0"/>
          </a:p>
        </p:txBody>
      </p:sp>
      <p:sp>
        <p:nvSpPr>
          <p:cNvPr id="35" name="Text 32"/>
          <p:cNvSpPr txBox="1"/>
          <p:nvPr/>
        </p:nvSpPr>
        <p:spPr>
          <a:xfrm>
            <a:off x="566928" y="4478731"/>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 — varied grammar and vocabulary</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7434072" y="521573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الأُسْلُوبُ فِي المَلَابِسِ: ______</a:t>
            </a:r>
            <a:endParaRPr lang="ar-SA" sz="2200" dirty="0"/>
          </a:p>
        </p:txBody>
      </p:sp>
      <p:sp>
        <p:nvSpPr>
          <p:cNvPr id="40" name="Text 37"/>
          <p:cNvSpPr txBox="1"/>
          <p:nvPr/>
        </p:nvSpPr>
        <p:spPr>
          <a:xfrm>
            <a:off x="566928" y="5215738"/>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 — agreement, reference and spelling</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Check before you finish: m. / f. adjectives · he / she all the way · hair masc., eyes dual · connectors.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8A6D1E"/>
                </a:solidFill>
                <a:latin typeface="Calibri" pitchFamily="34" charset="0"/>
                <a:cs typeface="Amiri" pitchFamily="2" charset="-78"/>
              </a:rPr>
              <a:t>WRITING · A STRONG ANSWER (WEBSITE D2-L11 (WEBSITE) MODEL) · SHOW AFTER WRITING</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article includes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إِجَابَةٍ قَوِيَّةٍ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سَأَكْتُبُ عَنْ صَدِيقَتِي سَلْمَى الَّتِي أَعْرِفُهَا مُنْذُ خَمْسِ سَنَوَاتٍ.</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person + relationship · relative clause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هِيَ مُتَوَسِّطَةُ القَامَةِ، وَلَهَا شَعْرٌ قَصِيرٌ وَمُجَعَّدٌ، وَتَرْتَدِي عَادَةً مَلَابِسَ بَسِيطَةً وَمُحْتَشِمَةً.</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appearance + style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سَلْمَى وَدُودَةٌ وَصَادِقَةٌ، وَأَثِقُ بِهَا لِأَنَّهَا تَسْتَمِعُ إِلَيَّ وَتَقُولُ الحَقَّ.</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qualities + evidence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أُسْلُوبُهَا أَكْثَرُ عَصْرِيَّةً مِنْ أُسْلُوبِي، بَيْنَمَا أُفَضِّلُ المَلَابِسَ العَمَلِيَّةَ.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comparison + contrast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رَأْيِي، أَفْضَلُ صِفَةٍ فِيهَا هِيَ صِدْقُهَا، لِأَنَّهُ يَجْعَلُ عَلَاقَتَنَا قَوِيَّةً.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reasoned opinion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SPEAKING · 10 MARKS · PORTRAIT + TOPIC CONVERSATION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312664" y="1810512"/>
            <a:ext cx="6345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Prepare concise cues (website)</a:t>
            </a:r>
            <a:endParaRPr lang="en-US" sz="1100" dirty="0"/>
          </a:p>
        </p:txBody>
      </p:sp>
      <p:sp>
        <p:nvSpPr>
          <p:cNvPr id="17" name="Text 14"/>
          <p:cNvSpPr txBox="1"/>
          <p:nvPr/>
        </p:nvSpPr>
        <p:spPr>
          <a:xfrm>
            <a:off x="530352" y="1810512"/>
            <a:ext cx="4636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Marked for</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5349240" y="2267712"/>
            <a:ext cx="6309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Describe a person and your relationship.</a:t>
            </a:r>
            <a:endParaRPr lang="en-US" sz="1100" dirty="0"/>
          </a:p>
        </p:txBody>
      </p:sp>
      <p:sp>
        <p:nvSpPr>
          <p:cNvPr id="20" name="Text 17"/>
          <p:cNvSpPr txBox="1"/>
          <p:nvPr/>
        </p:nvSpPr>
        <p:spPr>
          <a:xfrm>
            <a:off x="566928" y="2267712"/>
            <a:ext cx="4599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Communication /5 — clear, developed, relevant</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5349240" y="3004718"/>
            <a:ext cx="6309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Give appearance and clothing detail.</a:t>
            </a:r>
            <a:endParaRPr lang="en-US" sz="1100" dirty="0"/>
          </a:p>
        </p:txBody>
      </p:sp>
      <p:sp>
        <p:nvSpPr>
          <p:cNvPr id="25" name="Text 22"/>
          <p:cNvSpPr txBox="1"/>
          <p:nvPr/>
        </p:nvSpPr>
        <p:spPr>
          <a:xfrm>
            <a:off x="566928" y="3004718"/>
            <a:ext cx="4599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and range /5 — agreement, reference, variety</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5349240" y="3741725"/>
            <a:ext cx="6309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Give personality evidence.</a:t>
            </a:r>
            <a:endParaRPr lang="en-US" sz="1100" dirty="0"/>
          </a:p>
        </p:txBody>
      </p:sp>
      <p:sp>
        <p:nvSpPr>
          <p:cNvPr id="30" name="Text 27"/>
          <p:cNvSpPr txBox="1"/>
          <p:nvPr/>
        </p:nvSpPr>
        <p:spPr>
          <a:xfrm>
            <a:off x="566928" y="3741725"/>
            <a:ext cx="4599432" cy="682142"/>
          </a:xfrm>
          <a:prstGeom prst="rect">
            <a:avLst/>
          </a:prstGeom>
          <a:noFill/>
          <a:ln/>
        </p:spPr>
        <p:txBody>
          <a:bodyPr wrap="square" lIns="0" tIns="0" rIns="0" bIns="0" rtlCol="0" anchor="ctr"/>
          <a:lstStyle/>
          <a:p>
            <a:pPr algn="l" indent="0" marL="0">
              <a:buNone/>
            </a:pP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5349240" y="4478731"/>
            <a:ext cx="6309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Compare your styles.</a:t>
            </a:r>
            <a:endParaRPr lang="en-US" sz="1100" dirty="0"/>
          </a:p>
        </p:txBody>
      </p:sp>
      <p:sp>
        <p:nvSpPr>
          <p:cNvPr id="35" name="Text 32"/>
          <p:cNvSpPr txBox="1"/>
          <p:nvPr/>
        </p:nvSpPr>
        <p:spPr>
          <a:xfrm>
            <a:off x="566928" y="4478731"/>
            <a:ext cx="4599432" cy="682142"/>
          </a:xfrm>
          <a:prstGeom prst="rect">
            <a:avLst/>
          </a:prstGeom>
          <a:noFill/>
          <a:ln/>
        </p:spPr>
        <p:txBody>
          <a:bodyPr wrap="square" lIns="0" tIns="0" rIns="0" bIns="0" rtlCol="0" anchor="ctr"/>
          <a:lstStyle/>
          <a:p>
            <a:pPr algn="l" indent="0" marL="0">
              <a:buNone/>
            </a:pP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5349240" y="5215738"/>
            <a:ext cx="6309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Give and justify an opinion.</a:t>
            </a:r>
            <a:endParaRPr lang="en-US" sz="1100" dirty="0"/>
          </a:p>
        </p:txBody>
      </p:sp>
      <p:sp>
        <p:nvSpPr>
          <p:cNvPr id="40" name="Text 37"/>
          <p:cNvSpPr txBox="1"/>
          <p:nvPr/>
        </p:nvSpPr>
        <p:spPr>
          <a:xfrm>
            <a:off x="566928" y="5215738"/>
            <a:ext cx="4599432" cy="682142"/>
          </a:xfrm>
          <a:prstGeom prst="rect">
            <a:avLst/>
          </a:prstGeom>
          <a:noFill/>
          <a:ln/>
        </p:spPr>
        <p:txBody>
          <a:bodyPr wrap="square" lIns="0" tIns="0" rIns="0" bIns="0" rtlCol="0" anchor="ctr"/>
          <a:lstStyle/>
          <a:p>
            <a:pPr algn="l" indent="0" marL="0">
              <a:buNone/>
            </a:pP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Cue words only — one or two per stage (D2-L10, website). Then answer the teacher’s follow-up questions (TB-L11).</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8A6D1E"/>
                </a:solidFill>
                <a:latin typeface="Calibri" pitchFamily="34" charset="0"/>
                <a:cs typeface="Amiri" pitchFamily="2" charset="-78"/>
              </a:rPr>
              <a:t>RESULTS · RECORD YOUR PROFILE AND SET ONE TARGET (WEBSITE REFLECTION)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Topic B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سَجِّلْ دَرَجَتَكَ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46811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Guide (total /60) · teacher guide, not an exam grade</a:t>
            </a:r>
            <a:endParaRPr lang="en-US" sz="1100" dirty="0"/>
          </a:p>
        </p:txBody>
      </p:sp>
      <p:sp>
        <p:nvSpPr>
          <p:cNvPr id="17" name="Text 14"/>
          <p:cNvSpPr txBox="1"/>
          <p:nvPr/>
        </p:nvSpPr>
        <p:spPr>
          <a:xfrm>
            <a:off x="36393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50468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secure Topic B foundation</a:t>
            </a:r>
            <a:endParaRPr lang="en-US" sz="1100" dirty="0"/>
          </a:p>
        </p:txBody>
      </p:sp>
      <p:sp>
        <p:nvSpPr>
          <p:cNvPr id="21" name="Text 18"/>
          <p:cNvSpPr txBox="1"/>
          <p:nvPr/>
        </p:nvSpPr>
        <p:spPr>
          <a:xfrm>
            <a:off x="367588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Listening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50468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ready to move on with one practice target</a:t>
            </a:r>
            <a:endParaRPr lang="en-US" sz="1100" dirty="0"/>
          </a:p>
        </p:txBody>
      </p:sp>
      <p:sp>
        <p:nvSpPr>
          <p:cNvPr id="27" name="Text 24"/>
          <p:cNvSpPr txBox="1"/>
          <p:nvPr/>
        </p:nvSpPr>
        <p:spPr>
          <a:xfrm>
            <a:off x="367588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Reading</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550468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targeted Topic B retrieval early next unit</a:t>
            </a:r>
            <a:endParaRPr lang="en-US" sz="1100" dirty="0"/>
          </a:p>
        </p:txBody>
      </p:sp>
      <p:sp>
        <p:nvSpPr>
          <p:cNvPr id="33" name="Text 30"/>
          <p:cNvSpPr txBox="1"/>
          <p:nvPr/>
        </p:nvSpPr>
        <p:spPr>
          <a:xfrm>
            <a:off x="367588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Writing</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550468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catch-up on the lowest skill first</a:t>
            </a:r>
            <a:endParaRPr lang="en-US" sz="1100" dirty="0"/>
          </a:p>
        </p:txBody>
      </p:sp>
      <p:sp>
        <p:nvSpPr>
          <p:cNvPr id="39" name="Text 36"/>
          <p:cNvSpPr txBox="1"/>
          <p:nvPr/>
        </p:nvSpPr>
        <p:spPr>
          <a:xfrm>
            <a:off x="367588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Speaking</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in your book (website reflection): one secure language feature · one precise next action.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a person’s personality with m. / f. adjectives.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clothes with this / this (f.) and colours.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compare people and clothes (…-er than, more … than).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appearance: he / she has …, hair, eyes.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give a balanced opinion with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TB-L12 · Topic B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TC-L01 · People, Places, Continents and Compass Points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بَلَدٌ</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country</a:t>
            </a:r>
            <a:pPr indent="0" marL="0">
              <a:buNone/>
            </a:pPr>
            <a:r>
              <a:rPr lang="ar-SA" sz="1000" i="1" dirty="0">
                <a:solidFill>
                  <a:srgbClr val="5A6472"/>
                </a:solidFill>
                <a:latin typeface="Calibri" pitchFamily="34" charset="0"/>
                <a:ea typeface="Amiri" pitchFamily="2" charset="-78"/>
                <a:cs typeface="Amiri" pitchFamily="2" charset="-78"/>
              </a:rPr>
              <a:t>  pl. بُلْدَانٌ</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قَارَّةٌ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continent</a:t>
            </a:r>
            <a:pPr indent="0" marL="0">
              <a:buNone/>
            </a:pPr>
            <a:r>
              <a:rPr lang="ar-SA" sz="1000" i="1" dirty="0">
                <a:solidFill>
                  <a:srgbClr val="5A6472"/>
                </a:solidFill>
                <a:latin typeface="Calibri" pitchFamily="34" charset="0"/>
                <a:ea typeface="Amiri" pitchFamily="2" charset="-78"/>
                <a:cs typeface="Amiri" pitchFamily="2" charset="-78"/>
              </a:rPr>
              <a:t>  pl. قَارَّاتٌ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جِنْسِيَّةٌ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nationality</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لُغَةٌ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language</a:t>
            </a:r>
            <a:pPr indent="0" marL="0">
              <a:buNone/>
            </a:pPr>
            <a:r>
              <a:rPr lang="ar-SA" sz="1000" i="1" dirty="0">
                <a:solidFill>
                  <a:srgbClr val="5A6472"/>
                </a:solidFill>
                <a:latin typeface="Calibri" pitchFamily="34" charset="0"/>
                <a:ea typeface="Amiri" pitchFamily="2" charset="-78"/>
                <a:cs typeface="Amiri" pitchFamily="2" charset="-78"/>
              </a:rPr>
              <a:t>  pl. لُغَاتٌ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شَمَالٌ · جَنُوبٌ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north · south</a:t>
            </a:r>
            <a:pPr indent="0" marL="0">
              <a:buNone/>
            </a:pPr>
            <a:r>
              <a:rPr lang="ar-SA" sz="1000" i="1" dirty="0">
                <a:solidFill>
                  <a:srgbClr val="5A6472"/>
                </a:solidFill>
                <a:latin typeface="Calibri" pitchFamily="34" charset="0"/>
                <a:ea typeface="Amiri" pitchFamily="2" charset="-78"/>
                <a:cs typeface="Amiri" pitchFamily="2" charset="-78"/>
              </a:rPr>
              <a:t>  شَرْقٌ · غَرْبٌ = east · west</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country is your family from, and which continent is it in?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مِنْ أَيْنَ أَنْتَ؟</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Topic B readiness check on the website; learn the five Topic C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assessment section with your lowest score.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Topic B reflection (strongest evidence + one precise next action).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TC-L01 · People, Places, Continents and Compass Points</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النَّاسُ وَالأَمَاكِنُ وَالقَارَّاتُ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Topic B complete — well done! Learn 5 words for Topic C.</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TB-L12 · Topic B Review and Four-Skills Assessment</dc:title>
  <dc:subject>PptxGenJS Presentation</dc:subject>
  <dc:creator>Al Madina Online School · Arabic Department</dc:creator>
  <cp:lastModifiedBy>Al Madina Online School · Arabic Department</cp:lastModifiedBy>
  <cp:revision>1</cp:revision>
  <dcterms:created xsi:type="dcterms:W3CDTF">2026-10-11T06:43:55Z</dcterms:created>
  <dcterms:modified xsi:type="dcterms:W3CDTF">2026-10-11T06:43:55Z</dcterms:modified>
</cp:coreProperties>
</file>