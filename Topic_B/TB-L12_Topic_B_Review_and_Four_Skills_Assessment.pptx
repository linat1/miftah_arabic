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TB-L12 — Topic B Review and Four-Skills Assessment. Website: Advanced Topics › Topic B (Personal and Social Life) › Lesson 12.
The website builds this lesson on the D2-L12 lesson engine, with the Topic focus “Demonstrate secure Topic B vocabulary, grammar and independent communication.” (grammar: Cumulative Topic B grammar; skills: All four skills) and the application challenge “Topic B four-skills relay”.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2–8 Grammar laboratory (not marked) · 8–9 Assessment map · 9–20 Listening (20: two texts) · 20–30 Reading (10) · 30–44 Writing (20: profile form + article) · 44–53 Speaking (10: portrait + conversation, pairs / one-to-one) · 53–56 Score profile, strength and next target.
FLEX slides are optional. Use them if the class is moving quickly; otherwise the same activities are on the website for homework.
Content source: Miftah Arabic website, Pathways › Development › Topic B People, Relationships and Style › TB-L12. The website TB-L12 is a 60-mark Development profile (not an external exam paper): listening 20 (a friend and her style · buying a coat — 12 questions) · reading 10 (Salma’s portrait) · writing 20 (person-profile form 5 + article or email 15: Task 5 · Range 5 · Accuracy 5) · speaking 10 (Communication 5 · Accuracy and range 5). The grammar laboratory (12) is practice.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Listening: the website has 12 listening questions and reports the section out of 20. Mark each question out of 1, then scale ×5/3 and round (12/12 = 20) — or simply record /12 and convert at the end.
• Scripts: read each text twice at natural pace if the website audio is unavailable; scripts are in the slide notes — do not show them before the section is submitted.
• Answer slides follow each part — mark live, or hide them and mark later.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Language vault · 02 Grammar laboratory · 03 60-mark profile · 04 Listening · 05 Reading · 06 Writing · 07 Speaking · 08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Five of the twelve website grammar-laboratory questions (D2-L01 (website), L02, L03, L06). Students scoring below 3/5 revise the D2-L11 (website) personality bank before writing.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Topic B: agreement · object pronouns · this (f.) · who (f.) · dual eyes.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six more website grammar-laboratory questions (comparison, evidence, balanced opinion, superlative, لِأَنَّنَا, developed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“Rotate through identity, home, clothes and leisure stations. Retrieve vocabulary, grammar and one extended response before checking your weakest area.”
Website Topic B challenge “Topic B four-skills relay”: rotate through identity, home, clothes and leisure stations. In the assessment lesson this is FLEX (the D2-L12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Topic B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Students read the questions (30 s). Read the script twice.
SCRIPT: تَصِفُ هُدَى صَدِيقَتَهَا سَلْمَى. تَقُولُ إِنَّهَا صَبُورَةٌ وَمُتَعَاوِنَةٌ، لِأَنَّهَا تَشْرَحُ العَمَلَ لِلطَّالِبَاتِ الجَدِيدَاتِ. تَرْتَدِي سَلْمَى عَادَةً مَلَابِسَ بَسِيطَةً وَمُحْتَشِمَةً، بَيْنَمَا تُفَضِّلُ هُدَى أَلْوَانًا أَكْثَرَ زَهَاءً. فِي رَأْيِ هُدَى، اخْتِلَافُ الأُسْلُوبِ لَا يَمْنَعُ الصَّدَاقَةَ، لِأَنَّ كُلَّ شَخْصٍ يَخْتَارُ مَا يُنَاسِبُهُ.
Website note: Q5 “How does the speaker’s style differ?” — Huda prefers brighter colours (أَلْوَانًا أَكْثَرَ زَهَاءً).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Read twice; two voices if possible.
SCRIPT: يَبْحَثُ عُمَرُ عَنْ مِعْطَفٍ جَدِيدٍ. يُجَرِّبُ مِعْطَفًا أَزْرَقَ، وَلٰكِنَّهُ ضَيِّقٌ. تُحْضِرُ البَائِعَةُ مَقَاسًا أَكْبَرَ وَتَقُولُ إِنَّ المِعْطَفَ الأَزْرَقَ أَرْخَصُ مِنَ الأَسْوَدِ. مَعَ ذٰلِكَ يَخْتَارُ عُمَرُ الأَسْوَدَ لِأَنَّهُ أَكْثَرُ أَنَاقَةً وَمُنَاسِبٌ لِلْمُنَاسَبَاتِ. يَقُولُ: سَآخُذُهُ، مِنْ فَضْلِكِ.
Listening total: /12 → ×5/3 = /20 (website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/12 and convert to /20 (12 → 20, 9 → 15, 6 → 10, 3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Read once for the overall picture, then return for evidence, reference and contrast.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per field completed in Arabic. Article /15 — Task 5 · Range 5 · Accuracy 5.
Core access: the D2-L11 (website) frames may be used for Question 1 only.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website D2-L11 (website) writing model (the assessment page prints no model). Students compare and add ONE improvement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Communication /5 · Accuracy and range /5).
Follow-up questions for the conversation part: مَنْ يَدْعَمُكَ؟ · كَيْفَ تَتَفَاهَمَانِ؟ · مَا أَهَمُّ: الرَّاحَةُ أَمِ الأَنَاقَةُ؟ · أَيُّهُمَا تُفَضِّلُ وَلِمَاذَا؟
ORGANISATION: one-to-one (others finish writing) or trusted pairs with the teacher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target · transfer — Topic B reflection”). The bands are a teacher guide in line with the other units (the website totals the four scores but prints no bands).
A precise action = rule + task + frequency, e.g. “Adjective agreement: five he / she pairs every two days; check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(TC-L01 · People, Places, Continents and Compass Points) will spend class time USING this language, so students prepare it tonight — short, simple, easy to access (school guidance: “Simple, Short, Interesting, Relevant, Easy to access”). Topic C begins with people, places, continents and compass points (TC-L01).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B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المِحْوَرِ ب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Demonstrate secure Topic B vocabulary, grammar and independent communication.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TB-L12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23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my strength, my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Topic C: places.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Each section starts with the easier questions.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feminine personality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وَدُودٌ وَصَادِقٌ.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وَدُودَةٌ وَصَادِقَةٌ.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وَدُودَةٌ.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تَحْتَرِمُنِي.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wears glasses”.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الَّذِي يَرْتَدِي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تَرْتَدِي نَظَّارَةً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dual-eye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عَيْنَاهَا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عَيْنَاهَا بُنِّيَّةٌ.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عَيْنَاهَا بُنِّيٌّ.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feminine personality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وَدُودٌ وَصَادِقٌ.</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وَدُودَةٌ وَصَادِقَةٌ.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وَدُودَةٌ.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subject requires feminine adjectives.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respect 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أَحْتَرِمُهَا.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أَحْتَرِمُهُ.</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تَحْتَرِمُنِي.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refers to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السُّتْرَةَ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wears glasses”.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الَّذِي يَرْتَدِي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الفَتَاةُ الَّتِي تَرْتَدِي نَظَّارَةً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dual-eye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عَيْنَاهَا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عَيْنَاهَا بُنِّيَّةٌ.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عَيْنَاهَا بُنِّيٌّ.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feminine adjective is </a:t>
            </a:r>
            <a:pPr algn="l" indent="0" marL="0">
              <a:buNone/>
            </a:pPr>
            <a:r>
              <a:rPr lang="ar-SA" altLang="en-US" sz="1350" dirty="0">
                <a:solidFill>
                  <a:srgbClr val="8A6D1E"/>
                </a:solidFill>
                <a:latin typeface="Amiri" pitchFamily="34" charset="0"/>
                <a:ea typeface="Amiri" pitchFamily="34" charset="-122"/>
                <a:cs typeface="Amiri" pitchFamily="34" charset="-120"/>
              </a:rPr>
              <a:t>بُنِّيَّتَانِ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This warm-up does NOT count. It samples Topic B: agreement · object pronouns · this (f.) · who (f.) · dual eyes.</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مُرَاجَعَةٌ ثُمَّ تَقْيِيمٌ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هٰذَا أَرْخَصُ ___ ذٰلِكَ.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evidence for helpfulness?</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هِيَ مُتَعَاوِنَةٌ لِأَنَّهَا تُسَاعِدُ زَمِيلَاتِهَا.</a:t>
            </a:r>
            <a:endParaRPr lang="ar-SA" sz="18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هِيَ مُتَعَاوِنَةٌ لِأَنَّ قَمِيصَهَا أَزْرَقُ.</a:t>
            </a:r>
            <a:endParaRPr lang="ar-SA" sz="18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هِيَ مُتَعَاوِنَةٌ.</a:t>
            </a:r>
            <a:endParaRPr lang="ar-SA" sz="18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style opinion.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أُحِبُّ المَوْضَةَ لِأَنَّ.</a:t>
            </a:r>
            <a:endParaRPr lang="ar-SA" sz="16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المَوْضَةُ دَائِمًا صَحِيحَةٌ.</a:t>
            </a:r>
            <a:endParaRPr lang="ar-SA" sz="16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أُحِبُّ المَوْضَةَ، وَلٰكِنَّنِي أَخْتَارُ مَا يُنَاسِبُنِي.</a:t>
            </a:r>
            <a:endParaRPr lang="ar-SA" sz="16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superlative?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أَفْضَلُ مِنْ ذٰلِكَ.</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جَيِّدٌ.</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الخِيَارُ الأَفْضَلُ.</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عَلَاقَتُنَا قَوِيَّةٌ ___ نَثِقُ بِبَعْضِنَا.</a:t>
            </a:r>
            <a:endParaRPr lang="ar-SA" sz="11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لِأَنَّنَا</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developed answer.</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المِعْطَفُ.</a:t>
            </a:r>
            <a:endParaRPr lang="ar-SA" sz="15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هٰذَا المِعْطَفَ لِأَنَّهُ أَرْخَصُ وَأَكْثَرُ رَاحَةً.</a:t>
            </a:r>
            <a:endParaRPr lang="ar-SA" sz="15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a:t>
            </a:r>
            <a:endParaRPr lang="ar-SA" sz="15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هٰذَا أَرْخَصُ ___ ذٰلِكَ.</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evidence for helpfulness?</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مُتَعَاوِنَةٌ لِأَنَّهَا تُسَاعِدُ زَمِيلَاتِهَا.</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لِأَنَّ قَمِيصَهَا أَزْرَقُ.</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behaviour proves the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style opinion.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أُحِبُّ المَوْضَةَ لِأَنَّ.</a:t>
            </a:r>
            <a:endParaRPr lang="ar-SA" sz="16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المَوْضَةُ دَائِمًا صَحِيحَةٌ.</a:t>
            </a:r>
            <a:endParaRPr lang="ar-SA" sz="16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المَوْضَةَ، وَلٰكِنَّنِي أَخْتَارُ مَا يُنَاسِبُنِي.</a:t>
            </a:r>
            <a:endParaRPr lang="ar-SA" sz="16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contrast and personal judgement.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superlative?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أَفْضَلُ مِنْ ذٰلِكَ.</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جَيِّدٌ.</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الخِيَارُ الأَفْضَلُ.</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a:t>
            </a:r>
            <a:pPr algn="l" indent="0" marL="0">
              <a:buNone/>
            </a:pPr>
            <a:r>
              <a:rPr lang="ar-SA" altLang="en-US" sz="1350" dirty="0">
                <a:solidFill>
                  <a:srgbClr val="8A6D1E"/>
                </a:solidFill>
                <a:latin typeface="Amiri" pitchFamily="34" charset="0"/>
                <a:ea typeface="Amiri" pitchFamily="34" charset="-122"/>
                <a:cs typeface="Amiri" pitchFamily="34" charset="-120"/>
              </a:rPr>
              <a:t>الأَفْضَلُ</a:t>
            </a:r>
            <a:pPr algn="l" indent="0" marL="0">
              <a:buNone/>
            </a:pPr>
            <a:r>
              <a:rPr lang="en-US" sz="1050" i="1" dirty="0">
                <a:solidFill>
                  <a:srgbClr val="8A6D1E"/>
                </a:solidFill>
                <a:latin typeface="Calibri" pitchFamily="34" charset="0"/>
                <a:ea typeface="Calibri" pitchFamily="34" charset="-122"/>
                <a:cs typeface="Calibri" pitchFamily="34" charset="-120"/>
              </a:rPr>
              <a:t> means the best.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عَلَاقَتُنَا قَوِيَّةٌ ___ نَثِقُ بِبَعْضِنَا.</a:t>
            </a:r>
            <a:endParaRPr lang="ar-SA" sz="11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لِأَنَّنَا</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is we: </a:t>
            </a:r>
            <a:pPr algn="l" indent="0" marL="0">
              <a:buNone/>
            </a:pPr>
            <a:r>
              <a:rPr lang="ar-SA" altLang="en-US" sz="1350" dirty="0">
                <a:solidFill>
                  <a:srgbClr val="8A6D1E"/>
                </a:solidFill>
                <a:latin typeface="Amiri" pitchFamily="34" charset="0"/>
                <a:ea typeface="Amiri" pitchFamily="34" charset="-122"/>
                <a:cs typeface="Amiri" pitchFamily="34" charset="-120"/>
              </a:rPr>
              <a:t>لِأَنَّنَا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developed answer.</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هٰذَا المِعْطَفُ.</a:t>
            </a:r>
            <a:endParaRPr lang="ar-SA" sz="15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أُفَضِّلُ هٰذَا المِعْطَفَ لِأَنَّهُ أَرْخَصُ وَأَكْثَرُ رَاحَةً.</a:t>
            </a:r>
            <a:endParaRPr lang="ar-SA" sz="15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نَعَمْ.</a:t>
            </a:r>
            <a:endParaRPr lang="ar-SA" sz="15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includes preference, comparison and reason.</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TOPIC B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B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Topic B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Rotate through identity, home, clothes and leisure stations. Retrieve vocabulary, grammar and one extended response before checking your weakest area.</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stations, 1 minute each: identity · home · clothes · leisure.</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 each station: retrieve 3 words, 1 grammar point and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Note your weakest station — that is your revision target.</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FLEX: use before the assessment or as the next lesson’s warm-up.</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per station, with agreement checked.</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extended answer at each station with a reason and a time frame.</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اِسْمُهَا … وَعُمْرُهَا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identity</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بَيْتِي … / تُوجَدُ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home</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قَمِيصٌ أَزْرَقُ / فُسْتَانٌ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clothes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أُمَارِسُ … مَرَّتَيْنِ فِي الأُسْبُوعِ</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leisure</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60-mark Topic B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texts, each heard twice: a friend and her style · buying a coat (12 questions)</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 · </a:t>
            </a:r>
            <a:pPr algn="l" indent="0" marL="0">
              <a:buNone/>
            </a:pPr>
            <a:r>
              <a:rPr lang="ar-SA" altLang="en-US" sz="1450" dirty="0">
                <a:solidFill>
                  <a:srgbClr val="5A6472"/>
                </a:solidFill>
                <a:latin typeface="Amiri" pitchFamily="34" charset="0"/>
                <a:ea typeface="Amiri" pitchFamily="34" charset="-122"/>
                <a:cs typeface="Amiri" pitchFamily="34" charset="-120"/>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Salma’s portrait: ten questions — evidence, reference, inference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 · </a:t>
            </a:r>
            <a:pPr algn="l" indent="0" marL="0">
              <a:buNone/>
            </a:pPr>
            <a:r>
              <a:rPr lang="ar-SA" altLang="en-US" sz="1450" dirty="0">
                <a:solidFill>
                  <a:srgbClr val="5A6472"/>
                </a:solidFill>
                <a:latin typeface="Amiri" pitchFamily="34" charset="0"/>
                <a:ea typeface="Amiri" pitchFamily="34" charset="-122"/>
                <a:cs typeface="Amiri" pitchFamily="34" charset="-120"/>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Person-profile form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 · </a:t>
            </a:r>
            <a:pPr algn="l" indent="0" marL="0">
              <a:buNone/>
            </a:pPr>
            <a:r>
              <a:rPr lang="ar-SA" altLang="en-US" sz="1450" dirty="0">
                <a:solidFill>
                  <a:srgbClr val="5A6472"/>
                </a:solidFill>
                <a:latin typeface="Amiri" pitchFamily="34" charset="0"/>
                <a:ea typeface="Amiri" pitchFamily="34" charset="-122"/>
                <a:cs typeface="Amiri" pitchFamily="34" charset="-120"/>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Portrait + topic conversation —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 · </a:t>
            </a:r>
            <a:pPr algn="l" indent="0" marL="0">
              <a:buNone/>
            </a:pPr>
            <a:r>
              <a:rPr lang="ar-SA" altLang="en-US" sz="1450" dirty="0">
                <a:solidFill>
                  <a:srgbClr val="5A6472"/>
                </a:solidFill>
                <a:latin typeface="Amiri" pitchFamily="34" charset="0"/>
                <a:ea typeface="Amiri" pitchFamily="34" charset="-122"/>
                <a:cs typeface="Amiri" pitchFamily="34" charset="-120"/>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 friend and her style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described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 assistant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female friend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like?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selfish and nervous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patient and helpful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and dishonest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usually wear?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uniform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simple modest clothes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sports kit only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helpfulness?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buys expensive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long hair.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explains work to new students.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speaker’s style differ?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colourful.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formal.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conclusion is given?</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 is always bad.</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Different styles can suit different personalities.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Friends must dress alike.</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Huda speaks about Salma.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described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 assistant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female friend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begins with her friend.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like?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selfish and nervous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patient and helpful</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quiet and dishonest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صَبُورَةٌ وَمُتَعَاوِنَةٌ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usually wear?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uniform</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simple modest clothes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sports kit only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states simple, modest clothes.</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helpfulness?</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She buys expensive clothes.</a:t>
            </a:r>
            <a:endParaRPr lang="en-US" sz="120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long hair.</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explains work to new students.</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action supports the quality.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speaker’s style differ?</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more colourful.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more formal.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prefers more colourful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conclusion is given?</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 is always bad.</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Different styles can suit different personalities.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Friends must dress alike.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conclusion values individual suitability.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Huda speaks about Salma.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Buying a coat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item is the customer looking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there with the first item?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cheap.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tight.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wrong colour only.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smaller size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different bag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coat is cheaper?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coat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black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cost the same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customer choose black?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cheapest.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elegant and suitable.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lighter.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function is used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polite purchase decision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directions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describing family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IN A SHOP</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past “however” (maʿa dhālika).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item is the customer looking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bag</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customer asks for a coat.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there with the first item?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cheap.</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too tight.</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wrong colour only.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coat is tight.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smaller size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different bag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larger size is brought.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coat is cheaper?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blue coat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black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cost the same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blue coat is cheaper.</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customer choose black?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cheapest.</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more elegant and suitable.</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lighter.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Elegance and suitability decide the choice.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function is used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polite purchase decision</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directions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describing family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customer confirms the purchase politely.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IN A SHOP</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past “however” (maʿa dhālika).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10 MARKS · SALMA’S PORTRAIT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Salma, my close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سَلْمَى صَدِيقَتِي المُقَرَّبَةُ الَّتِي أَعْرِفُهَا مُنْذُ سِتِّ سَنَوَاتٍ. هِيَ مُتَوَسِّطَةُ القَامَةِ وَلَهَا شَعْرٌ قَصِيرٌ وَمُجَعَّدٌ. تَرْتَدِي عَادَةً مَلَابِسَ أَكْثَرَ رَسْمِيَّةً مِنْ مَلَابِسِي، بَيْنَمَا أُفَضِّلُ أَنَا الأُسْلُوبَ العَمَلِيَّ. سَلْمَى وَدُودَةٌ وَوَاثِقَةٌ؛ فَهِيَ تَتَحَدَّثُ أَمَامَ المَجْمُوعَاتِ دُونَ خَوْفٍ. وَهِيَ أَيْضًا مُتَعَاوِنَةٌ لِأَنَّهَا تُسَاعِدُ الطَّالِبَاتِ الجَدِيدَاتِ. أَثِقُ بِهَا لِأَنَّهَا صَادِقَةٌ وَتَسْتَمِعُ إِلَيَّ. فِي رَأْيِي، المَلَابِسُ قَدْ تُعَبِّرُ عَنِ الذَّوْقِ، وَلٰكِنَّ الشَّخْصِيَّةَ وَالسُّلُوكَ أَهَمُّ مِنَ المَظْهَرِ وَحْدَهُ.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relationship to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 friend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quality is supported by helping new students?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cooperative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Salma’s style compare with the writer’s?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colourful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formal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الَّتِي</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trust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buys gifts.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honest and listens.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relationship to Salma?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close friend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صَدِيقَتِي المُقَرَّبَةُ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quality is supported by helping new students?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cooperative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selfish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Helping supports cooperation.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Salma’s style compare with the writer’s?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colourful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more formal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states her style is more formal.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الَّتِي</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coat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relative pronoun refers to Salma.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trust her?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buys gifts.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tall.</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is honest and listens.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gives both behaviours as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final judgement?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Character matters more than clothes alone.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 determines personality.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Friends should dress alike.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comparative is used?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رَسْمِيَّةً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رَسْمِيَّةٌ جِدًّا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الأَكْثَرُ رَسْمِيَّةً 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shows confidence?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brown eyes.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wears blue.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speaks to groups without fear.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summary is best?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price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balanced portrait combining appearance, style, relationship and evidence.</a:t>
            </a:r>
            <a:endParaRPr lang="en-US" sz="11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Q7–8: find the exact words.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final judgement?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Character matters more than clothes alone.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 determines personality.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Friends should dress alike.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conclusion prioritises character.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contrast?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two styles.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comparative is used?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رَسْمِيَّةً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رَسْمِيَّةٌ جِدًّا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الأَكْثَرُ رَسْمِيَّةً 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uses </a:t>
            </a:r>
            <a:pPr algn="l" indent="0" marL="0">
              <a:buNone/>
            </a:pPr>
            <a:r>
              <a:rPr lang="ar-SA" altLang="en-US" sz="1350" dirty="0">
                <a:solidFill>
                  <a:srgbClr val="8A6D1E"/>
                </a:solidFill>
                <a:latin typeface="Amiri" pitchFamily="34" charset="0"/>
                <a:ea typeface="Amiri" pitchFamily="34" charset="-122"/>
                <a:cs typeface="Amiri" pitchFamily="34" charset="-120"/>
              </a:rPr>
              <a:t>أَكْثَرُ رَسْمِيَّةً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shows confidence?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brown eyes.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wears blue.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speaks to groups without fear.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behaviour supports confidence.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summary is best?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price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balanced portrait combining appearance, style, relationship and evidence.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integrates the unit themes.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Q7–8: find the exact words.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20 MARKS · PROFILE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1 · person profile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الاِسْمُ: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 a person: your relationship, their appearance and style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صِفَتَانِ شَخْصِيَّتَانِ: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Include: a comparison · evidence · a reasoned opinion</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دَلِيلٌ عَلَى صِفَةٍ: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/5 — all content points developed</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وَصْفُ المَظْهَرِ: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 — varied grammar and vocabulary</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الأُسْلُوبُ فِي المَلَابِسِ: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 — agreement, reference and spelling</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Check before you finish: m. / f. adjectives · he / she all the way · hair masc., eyes dual · connectors.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8A6D1E"/>
                </a:solidFill>
                <a:latin typeface="Calibri" pitchFamily="34" charset="0"/>
                <a:ea typeface="Calibri" pitchFamily="34" charset="-122"/>
                <a:cs typeface="Calibri" pitchFamily="34" charset="-120"/>
              </a:rPr>
              <a:t>WRITING · A STRONG ANSWER (WEBSITE D2-L11 (WEBSITE) MODEL) · SHOW AFTER WRITING</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سَأَكْتُبُ عَنْ صَدِيقَتِي سَلْمَى الَّتِي أَعْرِفُهَا مُنْذُ خَمْسِ سَنَوَاتٍ.</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 + relationship · relative clause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هِيَ مُتَوَسِّطَةُ القَامَةِ، وَلَهَا شَعْرٌ قَصِيرٌ وَمُجَعَّدٌ، وَتَرْتَدِي عَادَةً مَلَابِسَ بَسِيطَةً وَمُحْتَشِمَةً.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appearance + style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وَدُودَةٌ وَصَادِقَةٌ، وَأَثِقُ بِهَا لِأَنَّهَا تَسْتَمِعُ إِلَيَّ وَتَقُولُ الحَقَّ.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qualities + evidence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أُسْلُوبُهَا أَكْثَرُ عَصْرِيَّةً مِنْ أُسْلُوبِي، بَيْنَمَا أُفَضِّلُ المَلَابِسَ العَمَلِيَّةَ.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comparison + contrast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أَفْضَلُ صِفَةٍ فِيهَا هِيَ صِدْقُهَا، لِأَنَّهُ يَجْعَلُ عَلَاقَتَنَا قَوِيَّةً.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SPEAKING · 10 MARKS · PORTRAIT + TOPIC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Prepare concise cues (website)</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Marked for</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5349240" y="2267712"/>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Describe a person and your relationship.</a:t>
            </a:r>
            <a:endParaRPr lang="en-US" sz="1100" dirty="0"/>
          </a:p>
        </p:txBody>
      </p:sp>
      <p:sp>
        <p:nvSpPr>
          <p:cNvPr id="20" name="Text 17"/>
          <p:cNvSpPr txBox="1"/>
          <p:nvPr/>
        </p:nvSpPr>
        <p:spPr>
          <a:xfrm>
            <a:off x="566928" y="2267712"/>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 /5 — clear, developed, relevant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349240" y="300471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Give appearance and clothing detail.</a:t>
            </a:r>
            <a:endParaRPr lang="en-US" sz="1100" dirty="0"/>
          </a:p>
        </p:txBody>
      </p:sp>
      <p:sp>
        <p:nvSpPr>
          <p:cNvPr id="25" name="Text 22"/>
          <p:cNvSpPr txBox="1"/>
          <p:nvPr/>
        </p:nvSpPr>
        <p:spPr>
          <a:xfrm>
            <a:off x="566928" y="3004718"/>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and range /5 — agreement, reference, variety</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5349240" y="3741725"/>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Give personality evidence.</a:t>
            </a:r>
            <a:endParaRPr lang="en-US" sz="1100" dirty="0"/>
          </a:p>
        </p:txBody>
      </p:sp>
      <p:sp>
        <p:nvSpPr>
          <p:cNvPr id="30" name="Text 27"/>
          <p:cNvSpPr txBox="1"/>
          <p:nvPr/>
        </p:nvSpPr>
        <p:spPr>
          <a:xfrm>
            <a:off x="566928" y="3741725"/>
            <a:ext cx="4599432" cy="682142"/>
          </a:xfrm>
          <a:prstGeom prst="rect">
            <a:avLst/>
          </a:prstGeom>
          <a:noFill/>
          <a:ln/>
        </p:spPr>
        <p:txBody>
          <a:bodyPr wrap="square" lIns="0" tIns="0" rIns="0" bIns="0" rtlCol="0" anchor="ctr"/>
          <a:lstStyle/>
          <a:p>
            <a:pPr algn="l" indent="0" marL="0">
              <a:buNone/>
            </a:pP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5349240" y="4478731"/>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Compare your styles.</a:t>
            </a:r>
            <a:endParaRPr lang="en-US" sz="1100" dirty="0"/>
          </a:p>
        </p:txBody>
      </p:sp>
      <p:sp>
        <p:nvSpPr>
          <p:cNvPr id="35" name="Text 32"/>
          <p:cNvSpPr txBox="1"/>
          <p:nvPr/>
        </p:nvSpPr>
        <p:spPr>
          <a:xfrm>
            <a:off x="566928" y="4478731"/>
            <a:ext cx="4599432" cy="682142"/>
          </a:xfrm>
          <a:prstGeom prst="rect">
            <a:avLst/>
          </a:prstGeom>
          <a:noFill/>
          <a:ln/>
        </p:spPr>
        <p:txBody>
          <a:bodyPr wrap="square" lIns="0" tIns="0" rIns="0" bIns="0" rtlCol="0" anchor="ctr"/>
          <a:lstStyle/>
          <a:p>
            <a:pPr algn="l" indent="0" marL="0">
              <a:buNone/>
            </a:pP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5349240" y="521573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Give and justify an opinion.</a:t>
            </a:r>
            <a:endParaRPr lang="en-US" sz="1100" dirty="0"/>
          </a:p>
        </p:txBody>
      </p:sp>
      <p:sp>
        <p:nvSpPr>
          <p:cNvPr id="40" name="Text 37"/>
          <p:cNvSpPr txBox="1"/>
          <p:nvPr/>
        </p:nvSpPr>
        <p:spPr>
          <a:xfrm>
            <a:off x="566928" y="5215738"/>
            <a:ext cx="4599432" cy="682142"/>
          </a:xfrm>
          <a:prstGeom prst="rect">
            <a:avLst/>
          </a:prstGeom>
          <a:noFill/>
          <a:ln/>
        </p:spPr>
        <p:txBody>
          <a:bodyPr wrap="square" lIns="0" tIns="0" rIns="0" bIns="0" rtlCol="0" anchor="ctr"/>
          <a:lstStyle/>
          <a:p>
            <a:pPr algn="l" indent="0" marL="0">
              <a:buNone/>
            </a:pP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Cue words only — one or two per stage (D2-L10 (website)). Then answer the teacher’s follow-up questions (TB-L11).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RESULTS · RECORD YOUR PROFILE AND SET ONE TARGET (WEBSITE REFLECTION)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Topic B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Topic B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ready to move on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targeted Topic B retrieval early next unit</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on the lowest skill first</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in your book (website reflection): one secure language feature · one precise next action.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a person’s personality with m. / f. adjectives.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clothes with this / this (f.) and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compare people and clothes (…-er than, more … than).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appearance: he / she has …, hair, eyes.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 balanced opinion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TB-L12 · Topic B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TC-L01 · People, Places, Continents and Compass Points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بَلَدٌ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country</a:t>
            </a:r>
            <a:pPr indent="0" marL="0">
              <a:buNone/>
            </a:pPr>
            <a:r>
              <a:rPr lang="en-US" sz="1000" i="1" dirty="0">
                <a:solidFill>
                  <a:srgbClr val="5A6472"/>
                </a:solidFill>
                <a:latin typeface="Calibri" pitchFamily="34" charset="0"/>
                <a:ea typeface="Calibri" pitchFamily="34" charset="-122"/>
                <a:cs typeface="Calibri" pitchFamily="34" charset="-120"/>
              </a:rPr>
              <a:t>  pl. بُلْدَانٌ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continent</a:t>
            </a:r>
            <a:pPr indent="0" marL="0">
              <a:buNone/>
            </a:pPr>
            <a:r>
              <a:rPr lang="en-US" sz="1000" i="1" dirty="0">
                <a:solidFill>
                  <a:srgbClr val="5A6472"/>
                </a:solidFill>
                <a:latin typeface="Calibri" pitchFamily="34" charset="0"/>
                <a:ea typeface="Calibri" pitchFamily="34" charset="-122"/>
                <a:cs typeface="Calibri" pitchFamily="34" charset="-120"/>
              </a:rPr>
              <a:t>  pl. قَارَّاتٌ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nationality</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language</a:t>
            </a:r>
            <a:pPr indent="0" marL="0">
              <a:buNone/>
            </a:pPr>
            <a:r>
              <a:rPr lang="en-US" sz="1000" i="1" dirty="0">
                <a:solidFill>
                  <a:srgbClr val="5A6472"/>
                </a:solidFill>
                <a:latin typeface="Calibri" pitchFamily="34" charset="0"/>
                <a:ea typeface="Calibri" pitchFamily="34" charset="-122"/>
                <a:cs typeface="Calibri" pitchFamily="34" charset="-120"/>
              </a:rPr>
              <a:t>  pl. لُغَاتٌ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شَمَالٌ · جَنُوبٌ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north · south</a:t>
            </a:r>
            <a:pPr indent="0" marL="0">
              <a:buNone/>
            </a:pPr>
            <a:r>
              <a:rPr lang="en-US" sz="1000" i="1" dirty="0">
                <a:solidFill>
                  <a:srgbClr val="5A6472"/>
                </a:solidFill>
                <a:latin typeface="Calibri" pitchFamily="34" charset="0"/>
                <a:ea typeface="Calibri" pitchFamily="34" charset="-122"/>
                <a:cs typeface="Calibri" pitchFamily="34" charset="-120"/>
              </a:rPr>
              <a:t>  شَرْقٌ · غَرْبٌ = east · west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country is your family from, and which continent is it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أَيْنَ أَنْتَ؟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Topic B readiness check on the website; learn the five Topic C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Topic B reflection (strongest evidence + one precise next action).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TC-L01 · People, Places, Continents and Compass Points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النَّاسُ وَالأَمَاكِنُ وَالقَارَّاتُ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Topic B complete — well done! Learn 5 words for Topic 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TB-L12 · Topic B Review and Four-Skills Assessment</dc:title>
  <dc:subject>PptxGenJS Presentation</dc:subject>
  <dc:creator>Al Madina Online School · Arabic Department</dc:creator>
  <cp:lastModifiedBy>Al Madina Online School · Arabic Department</cp:lastModifiedBy>
  <cp:revision>1</cp:revision>
  <dcterms:created xsi:type="dcterms:W3CDTF">2026-09-27T13:01:39Z</dcterms:created>
  <dcterms:modified xsi:type="dcterms:W3CDTF">2026-09-27T13:01:39Z</dcterms:modified>
</cp:coreProperties>
</file>