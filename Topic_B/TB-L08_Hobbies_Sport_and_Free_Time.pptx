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TB-L08 — Hobbies, Sport and Free Time. Website: Advanced Topics › Topic B (Personal and Social Life) › Lesson 8.
The website builds this lesson on the D5-L01 lesson engine, with the Topic focus “Discuss regular activities, preferences, ability and the value of leisure.” (grammar: Present tense; verbal nouns; frequency; reasons; skills: Reading · Speaking) and the application challenge “Leisure survey showdown”.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B › Lesson 8 (TB-L08), lesson engine Pathways › Development › D5 › TB-L08. The website lesson “Hobbies and Free Time — Vocabulary and Present Habits”: vocabulary, grammar rules and quiz, patterns, common mistakes, sorter, listening, reading, speaking prompts and model, writing task and model, differentiation, final check and the lesson mission. Picture match: website visual game “Hobbies and Free Time — Vocabulary and Present Habits”.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hobbies + the right verb (أَلْعَبُ / أُمَارِسُ / أَعْزِفُ عَلَى / أَسْتَمِعُ إِلَى) + one frequency phrase. Develop: مَرَّةً / مَرَّتَيْنِ / ثَلَاثَ مَرَّاتٍ + a preference (أُفَضِّلُ … عَلَى …). Stretch: all three preference structures with a reason, and a partner’s habits in the third person (for the survey).
• The website’s big idea: learn the whole collocation (verb + preposition + noun), not the single verb — Arabic does not “play” swimming.
• Links: TB-L01–L02 (he / she forms for the survey report), AT-A-L03 frequency words (دَائِمًا، أَحْيَانًا) and the dual from Topic B.
• Urdu bridge: شوق (hobby, passion), مشق (practice) — ممارسة, موسیقی ← المُوسِيقَى, تصویر (picture) ← التَّصْوِيرُ, فلم ← فِيلْمٌ / أَفْلَامٌ.
• TEACHER-WRITTEN ITEMS: the website TB-L08 model patterns have no English translation, so the deck adds teacher-written translations (the Arabic is the website’s).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free-time words prepared at home at the end of TB-L07. Questions 3–5 retrieve TB-L06–L07 (colour agreement), TB-L01 (she-verbs) and a frequency word.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Learn the verb WITH its partner: play a ball game, practise an activity, play ON an instrument, listen TO music.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موسیقی and تصویر are the same words; ریاضت in Urdu is spiritual discipline or exercise — in Arabic الرِّيَاضَةُ is simply sport. مشق (practice) is the same idea as يُمَارِسُ but a different root.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(1 of 4)). Hear → Say → See → Use. Transliteration is printed for Core students (cover it for Develop/Stretch).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(2 of 4)). Hear → Say → See → Use. Transliteration is printed for Core students (cover it for Develop/Stretch).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(3 of 4)). Hear → Say → See → Use. Transliteration is printed for Core students (cover it for Develop/Stretch).
FLEX: teach if time allows; otherwise these are on the website vocabulary tab for homework.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Hobbies and activities (website vocabulary (4 of 4)). Hear → Say → See → Use. Transliteration is printed for Core students (cover it for Develop/Stretch).
FLEX: teach if time allows; otherwise these are on the website vocabulary tab for homework.
Every verb card shows I · he · she (for the survey report). The hobby noun after يَلْعَبُ / يُمَارِسُ ends in -a (object): أَلْعَبُ كُرَةَ القَدَمِ.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often (website vocabulary). Hear → Say → See → Use. Transliteration is printed for Core students (cover it for Develop/Stretch).
FLEX: teach if time allows; otherwise these are on the website vocabulary tab for homework.
FLEX: frequency — taught on the grammar slide (مَرَّةً، مَرَّتَيْنِ، ثَلَاثَ مَرَّاتٍ).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Saying what you prefer (website vocabulary). Hear → Say → See → Use. Transliteration is printed for Core students (cover it for Develop/Stretch).
FLEX: teach if time allows; otherwise these are on the website vocabulary tab for homework.
FLEX: preference — taught on the grammar slide (أُفَضِّلُ … عَلَى، أَسْتَمْتِعُ بِـ، أَهْوَى …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“يَلْعَبُ with ball games”, “يُمَارِسُ with an activity noun”, “يَعْزِفُ عَلَى with an instrument” and the website collocation table (with يَسْتَمِعُ إِلَى).
Website common error: choosing a sentence only because it contains the right hobby word — check verb, preposition and ending.
Quick-fire: say a hobby; students type the verb (كُرَةُ القَدَمِ → أَلْعَبُ · السِّبَاحَةُ → أُمَارِسُ · العُودُ → أَعْزِفُ عَلَى).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“Frequency after a number” (مَرَّةً / مَرَّتَيْنِ / ثَلَاثَ مَرَّاتٍ + فِي + period) and the website preference structures: أُفَضِّلُ … عَلَى … · أَسْتَمْتِعُ بِـ … أَكْثَرَ مِنْ … · أَهْوَى … حَقًّا (I am truly passionate about).
Other frequency words (website): يَوْمِيًّا (daily), نَادِرًا (rarely), فِي وَقْتِ فَرَاغِي (in my free time). Topic A link: دَائِمًا، أَحْيَانًا، لَا … أَبَدًا.
Reason: لِأَنَّهُ / لِأَنَّهَا مُمْتِعٌ / مُمْتِعَةٌ — the pronoun matches the hobby noun (السِّبَاحَةُ f. → لِأَنَّهَا).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systems carry this lesson: choosing the right verb for the activity, saying how often, and ranking two activities against each other. Study each in context and compare an accurate sentence with a plausible but wrong one.”
• يَلْعَبُ with ball games: يَلْعَبُ is used for games played with a ball or a board. The noun that follows is the direct object and therefore accusative.
• يُمَارِسُ with an activity noun: يُمَارِسُ suits a sustained activity or discipline rather than a game. The activity noun that follows is accusative.
• يَعْزِفُ عَلَى with an instrument: The preposition عَلَى is fixed with يَعْزِفُ, and the instrument after it is genitive. The Cambridge list also records the verbal noun form العَزْفُ بِـ, so recognise both.
• Frequency after a number: مَرَّةً is adverbial and accusative. مَرَّتَيْنِ is the dual. From three to ten the counted noun becomes a genitive plural: ثَلَاثَ مَرَّاتٍ.
Website common error: Do not choose a sentence only because it contains the right hobby word. Check that the verb matches the kind of activity, that the preposition is the fixed one, and that the ending on the noun follows from its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(Salma swims twice a week; Yusuf plays the oud daily and prefers music to sport). Think aloud before each verb: “ball game, activity, instrument or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turn each into “he / she” for the survey report (يُحِبُّ القِرَاءَةَ / تَسْتَمِعُ إِلَى المُوسِيقَى). Other cards for homework: أَلْعَبُ أَلْعَابَ الفِيدْيُو، أُحِبُّ السِّبَاحَةَ،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Hobbies and Free Time — Vocabulary and Present Habits”)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Stretch: turn each into “he / she” for the survey report (يُحِبُّ القِرَاءَةَ / تَسْتَمِعُ إِلَى المُوسِيقَى). Other cards for homework: أَلْعَبُ أَلْعَابَ الفِيدْيُو، أُحِبُّ السِّبَاحَةَ، أُحِبُّ المَشْيَ فِي الحَدِيقَةِ.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or instruction on the page; they are teacher-written here. Then: make one sentence from each column with a frequency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 website sorter has no title or instruction on the page; they are teacher-written here. Then: make one sentence from each column with a frequency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and 3. Develop / Stretch: all 5.
Listen 1: just listen. Listen 2: note answers. Then chat the letters.
Support: after the second listening, show the read-along slide (Arabic + English, line by line) for Core students.
SCRIPT (read aloud):
أَنَا سَلْمَى، وَأُمَارِسُ السِّبَاحَةَ مَرَّتَيْنِ فِي الأُسْبُوعِ لِأَنَّهَا تُرِيحُنِي بَعْدَ الدِّرَاسَةِ. وَفِي وَقْتِ فَرَاغِي أَقْرَأُ الرِّوَايَاتِ. أَمَّا أَخِي يُوسُفُ فَيَعْزِفُ عَلَى العُودِ يَوْمِيًّا، وَيَقُولُ إِنَّهُ يُفَضِّلُ المُوسِيقَى عَلَى الرِّيَاضَةِ. وَصَدِيقَتِي لَيْلَى تَلْعَبُ كُرَةَ السَّلَّةِ ثَلَاثَ مَرَّاتٍ فِي الشَّهْرِ فَقَطْ، لٰكِنَّهَا تَهْوَى التَّصْوِيرَ الفُوتُوغْرَافِيَّ حَقًّا.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“Survey hobbies and sport, rank the most popular activities and report frequency, ability and reasons in connected sentences.”
Website Topic B challenge “Leisure survey showdown”: survey hobbies and sport, rank the most popular activities and report frequency, ability and reasons. Ability (Topic B layer): يَسْتَطِيعُ / تَسْتَطِيعُ أَنْ + verb (he / she can …) — e.g. تَسْتَطِيعُ أَنْ تَسْبَحَ جَيِّدًا.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تُفَضِّلِينَهَا عَلَى القِرَاءَةِ؟ (Follow-up)
B: نَعَمْ، أُفَضِّلُ السِّبَاحَةَ عَلَى القِرَاءَةِ لِأَنَّهَا تُرِيحُنِي بَعْدَ الدِّرَاسَةِ. (Preference with a reason)
Website instruction: speak for thirty seconds about one hobby without notes — collocation, frequency, a preference structure and a reason with لِأَنَّ. Website prompts 2–4; the Core prompt is teacher-made.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vault and the sentence frames to produce six accurate sentences with one collocation and one frequency phrase each. · Develop — Link your sentences into a paragraph, adding a preference structure and a reason with لِأَنَّ. · Stretch — Compare two hobbies in one sentence, qualify your view with مَعَ ذٰلِكَ or أَمَّا … فَـ, and keep every case ending accurate.
Website writing task (Stretch): Write eight sentences about your hobbies. Use five different collocation verbs, four different frequency expressions and all three preference structures. Give a reason with لِأَنَّ for your favourite hobby.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أُمَارِسُ / أَلْعَبُ / أَعْزِفُ عَلَى / أَسْتَمْتِعُ بِـ / أَهْوَى · مَرَّتَيْنِ فِي الأُسْبُوعِ · أُفَضِّلُ الأَنْشِطَةَ الهَادِئَةَ عَلَى … · لِأَنَّ المُوسِيقَى تُرِيحُنِي.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(TB-L09 · Invitations, Holidays and Past Experiences) will spend class time USING this language, so students prepare it tonight — short, simple, easy to access (school guidance: “Simple, Short, Interesting, Relevant, Easy to access”). The five words come from the website TB-L09 vocabulary (the TB-L09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750" b="1" dirty="0">
                <a:solidFill>
                  <a:srgbClr val="FFFFFF"/>
                </a:solidFill>
                <a:latin typeface="Cambria" pitchFamily="34" charset="0"/>
                <a:ea typeface="Cambria" pitchFamily="34" charset="-122"/>
                <a:cs typeface="Cambria" pitchFamily="34" charset="-120"/>
              </a:rPr>
              <a:t>Hobbies, Sport and Free Time</a:t>
            </a:r>
            <a:endParaRPr lang="en-US" sz="37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الهِوَايَاتُ وَالرِّيَاضَةُ وَوَقْتُ الفَرَاغِ</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Discuss regular activities, preferences, ability and the value of leisure.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TB-L08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Hobbies with the right verb, then how often and which you prefer.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the verbs,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hobby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free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weekend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أَسْتَمِعُ إِلَى المُوسِيقَى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listen to music</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play music</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like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blue shirt”.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قَمِيصٌ زَرْقَاءُ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أَزْرَقُ قَمِيصٌ</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قَمِيصٌ أَزْرَقُ</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plays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يَلْعَبُ</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تَلْعَبُ</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أَحْيَانًا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sometimes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always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وَقْتُ الفَرَاغِ</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hobby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free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weekend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أَسْتَمِعُ إِلَى المُوسِيقَى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listen to music</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play music</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like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blue shirt”.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قَمِيصٌ زَرْقَاءُ</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أَزْرَقُ قَمِيصٌ</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قَمِيصٌ أَزْرَقُ</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TB-L06–L07: noun first, colour agrees.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plays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يَلْعَبُ</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تَلْعَبُ</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TB-L01: she → ta-.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أَحْيَانًا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sometimes</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always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AT-A-L03 / Topic A frequency.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Learn the verb WITH its partner: play a ball game, practise an activity, play ON an instrument, listen TO music.</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أَلْعَبُ</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كُرَةَ القَدَمِ · </a:t>
            </a:r>
            <a:pPr rtl="1" algn="ctr" indent="0" marL="0">
              <a:lnSpc>
                <a:spcPct val="120000"/>
              </a:lnSpc>
              <a:buNone/>
            </a:pPr>
            <a:r>
              <a:rPr lang="ar-SA" altLang="en-US" sz="1800" b="1" dirty="0">
                <a:solidFill>
                  <a:srgbClr val="1D5FBF"/>
                </a:solidFill>
                <a:latin typeface="Amiri" pitchFamily="34" charset="0"/>
                <a:ea typeface="Amiri" pitchFamily="34" charset="-122"/>
                <a:cs typeface="Amiri" pitchFamily="34" charset="-120"/>
              </a:rPr>
              <a:t>أُمَارِسُ</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السِّبَاحَةَ · أَعْزِفُ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عَلَى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العُودِ · أَسْتَمِعُ </a:t>
            </a:r>
            <a:pPr rtl="1" algn="ctr" indent="0" marL="0">
              <a:lnSpc>
                <a:spcPct val="120000"/>
              </a:lnSpc>
              <a:buNone/>
            </a:pPr>
            <a:r>
              <a:rPr lang="ar-SA" altLang="en-US" sz="180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 المُوسِيقَى</a:t>
            </a:r>
            <a:endParaRPr lang="ar-SA" sz="18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at least eighteen hobbies using the correct verb collocation.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how often you do a hobby using </a:t>
            </a:r>
            <a:pPr algn="l" indent="0" marL="0">
              <a:buNone/>
            </a:pPr>
            <a:r>
              <a:rPr lang="ar-SA" altLang="en-US" sz="1700" dirty="0">
                <a:solidFill>
                  <a:srgbClr val="1F2A37"/>
                </a:solidFill>
                <a:latin typeface="Amiri" pitchFamily="34" charset="0"/>
                <a:ea typeface="Amiri" pitchFamily="34" charset="-122"/>
                <a:cs typeface="Amiri" pitchFamily="34" charset="-120"/>
              </a:rPr>
              <a:t>مَرَّةً / مَرَّتَيْنِ / ثَلَاثَ مَرَّاتٍ</a:t>
            </a:r>
            <a:pPr algn="l" indent="0" marL="0">
              <a:buNone/>
            </a:pPr>
            <a:r>
              <a:rPr lang="en-US" sz="1300" dirty="0">
                <a:solidFill>
                  <a:srgbClr val="1F2A37"/>
                </a:solidFill>
                <a:latin typeface="Calibri" pitchFamily="34" charset="0"/>
                <a:ea typeface="Calibri" pitchFamily="34" charset="-122"/>
                <a:cs typeface="Calibri" pitchFamily="34" charset="-120"/>
              </a:rPr>
              <a:t> with a time period.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preference using </a:t>
            </a:r>
            <a:pPr algn="l" indent="0" marL="0">
              <a:buNone/>
            </a:pPr>
            <a:r>
              <a:rPr lang="ar-SA" altLang="en-US" sz="1700" dirty="0">
                <a:solidFill>
                  <a:srgbClr val="1F2A37"/>
                </a:solidFill>
                <a:latin typeface="Amiri" pitchFamily="34" charset="0"/>
                <a:ea typeface="Amiri" pitchFamily="34" charset="-122"/>
                <a:cs typeface="Amiri" pitchFamily="34" charset="-120"/>
              </a:rPr>
              <a:t>أُفَضِّلُ … عَلَى، أَسْتَمْتِعُ بِـ … أَكْثَرَ مِنْ،</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أَهْوَى … حَقًّا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Choose the right verb for the right activity instead of translating word by word.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10 hobbies with the right verb.</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how often I do one.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once / twice / three times a week.</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which hobby I prefer (ufaḍḍilu … ‘alā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three preference structures with a reason.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a partner’s habits (he / she).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32 free-time words from the website in 3 groups. Core: 10 hobbies with their verbs. The other hobbies, frequency and preference words are taught on the grammar slides and are on the website for homework.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Hobbies and activities · 20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How often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Saying what you prefer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هِوَايَةٌ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‎شوق‎ </a:t>
            </a:r>
            <a:pPr indent="0" marL="0">
              <a:buNone/>
            </a:pPr>
            <a:r>
              <a:rPr lang="en-US" sz="950" b="1" dirty="0">
                <a:solidFill>
                  <a:srgbClr val="2E8B57"/>
                </a:solidFill>
                <a:latin typeface="Calibri" pitchFamily="34" charset="0"/>
                <a:ea typeface="Calibri" pitchFamily="34" charset="-122"/>
                <a:cs typeface="Calibri" pitchFamily="34" charset="-120"/>
              </a:rPr>
              <a:t> hiwāya · hobby (Urdu: passion)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يُمَارِسُ</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‎مشق‎ </a:t>
            </a:r>
            <a:pPr indent="0" marL="0">
              <a:buNone/>
            </a:pPr>
            <a:r>
              <a:rPr lang="en-US" sz="950" b="1" dirty="0">
                <a:solidFill>
                  <a:srgbClr val="2E8B57"/>
                </a:solidFill>
                <a:latin typeface="Calibri" pitchFamily="34" charset="0"/>
                <a:ea typeface="Calibri" pitchFamily="34" charset="-122"/>
                <a:cs typeface="Calibri" pitchFamily="34" charset="-120"/>
              </a:rPr>
              <a:t> yumārisu · practises (Urdu: practice)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المُوسِيقَى</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‎موسیقی‎ </a:t>
            </a:r>
            <a:pPr indent="0" marL="0">
              <a:buNone/>
            </a:pPr>
            <a:r>
              <a:rPr lang="en-US" sz="950" b="1" dirty="0">
                <a:solidFill>
                  <a:srgbClr val="2E8B57"/>
                </a:solidFill>
                <a:latin typeface="Calibri" pitchFamily="34" charset="0"/>
                <a:ea typeface="Calibri" pitchFamily="34" charset="-122"/>
                <a:cs typeface="Calibri" pitchFamily="34" charset="-120"/>
              </a:rPr>
              <a:t> al-mūsīqā · music</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التَّصْوِيرُ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‎تصویر‎ </a:t>
            </a:r>
            <a:pPr indent="0" marL="0">
              <a:buNone/>
            </a:pPr>
            <a:r>
              <a:rPr lang="en-US" sz="950" b="1" dirty="0">
                <a:solidFill>
                  <a:srgbClr val="2E8B57"/>
                </a:solidFill>
                <a:latin typeface="Calibri" pitchFamily="34" charset="0"/>
                <a:ea typeface="Calibri" pitchFamily="34" charset="-122"/>
                <a:cs typeface="Calibri" pitchFamily="34" charset="-120"/>
              </a:rPr>
              <a:t> at-taṣwīr · photography (Urdu: picture)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الرِّيَاضَةُ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‎ریاضت‎ </a:t>
            </a:r>
            <a:pPr indent="0" marL="0">
              <a:buNone/>
            </a:pPr>
            <a:r>
              <a:rPr lang="en-US" sz="950" b="1" dirty="0">
                <a:solidFill>
                  <a:srgbClr val="2E8B57"/>
                </a:solidFill>
                <a:latin typeface="Calibri" pitchFamily="34" charset="0"/>
                <a:ea typeface="Calibri" pitchFamily="34" charset="-122"/>
                <a:cs typeface="Calibri" pitchFamily="34" charset="-120"/>
              </a:rPr>
              <a:t> ar-riyāḍa · sport (Urdu: discipline, exercise)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my · 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هِوَايَةٌ / هِوَايَاتٌ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hobby / hobbies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hi-wā-ya-tun / hi-wā-yā-tun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her</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هِوَايَتُهَا</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his</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هِوَايَتُهُ</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هِوَايَتِي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وَقْتُ الفَرَاغِ</a:t>
            </a:r>
            <a:endParaRPr lang="ar-SA" sz="3000" dirty="0"/>
          </a:p>
        </p:txBody>
      </p:sp>
      <p:sp>
        <p:nvSpPr>
          <p:cNvPr id="39" name="Text 3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waq-tu al-fa-rā-ghi</a:t>
            </a:r>
            <a:endParaRPr lang="en-US" sz="1350" dirty="0"/>
          </a:p>
        </p:txBody>
      </p:sp>
      <p:sp>
        <p:nvSpPr>
          <p:cNvPr id="40" name="Text 3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iḍāfa: no tanwīn on </a:t>
            </a:r>
            <a:pPr algn="l" indent="0" marL="0">
              <a:buNone/>
            </a:pPr>
            <a:r>
              <a:rPr lang="ar-SA" altLang="en-US" sz="1300" dirty="0">
                <a:solidFill>
                  <a:srgbClr val="8A6D1E"/>
                </a:solidFill>
                <a:latin typeface="Amiri" pitchFamily="34" charset="0"/>
                <a:ea typeface="Amiri" pitchFamily="34" charset="-122"/>
                <a:cs typeface="Amiri" pitchFamily="34" charset="-120"/>
              </a:rPr>
              <a:t>وَقْتُ</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4" name="Shape 4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يُمَارِسُ الرِّيَاضَةَ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practises 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yu-mā-ri-su ar-ri-yā-ḍa-ta</a:t>
            </a:r>
            <a:endParaRPr lang="en-US" sz="1350" dirty="0"/>
          </a:p>
        </p:txBody>
      </p:sp>
      <p:sp>
        <p:nvSpPr>
          <p:cNvPr id="50" name="Shape 4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تُمَارِسُ</a:t>
            </a:r>
            <a:endParaRPr lang="ar-SA" sz="1500" dirty="0"/>
          </a:p>
        </p:txBody>
      </p:sp>
      <p:sp>
        <p:nvSpPr>
          <p:cNvPr id="53" name="Shape 5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5" name="Text 5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يُمَارِسُ</a:t>
            </a:r>
            <a:endParaRPr lang="ar-SA" sz="1500" dirty="0"/>
          </a:p>
        </p:txBody>
      </p:sp>
      <p:sp>
        <p:nvSpPr>
          <p:cNvPr id="56" name="Shape 5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8" name="Text 5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أُمَارِسُ</a:t>
            </a:r>
            <a:endParaRPr lang="ar-SA" sz="1500" dirty="0"/>
          </a:p>
        </p:txBody>
      </p:sp>
      <p:sp>
        <p:nvSpPr>
          <p:cNvPr id="59" name="Shape 5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8211312"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2" name="Shape 5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4" name="Shape 6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6" name="Text 6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يَلْعَبُ كُرَةَ القَدَمِ</a:t>
            </a:r>
            <a:endParaRPr lang="ar-SA" sz="3000" dirty="0"/>
          </a:p>
        </p:txBody>
      </p:sp>
      <p:sp>
        <p:nvSpPr>
          <p:cNvPr id="67" name="Text 6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football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yal-ʿa-bu ku-ra-ta al-qa-da-mi</a:t>
            </a:r>
            <a:endParaRPr lang="en-US" sz="1350" dirty="0"/>
          </a:p>
        </p:txBody>
      </p:sp>
      <p:sp>
        <p:nvSpPr>
          <p:cNvPr id="68" name="Shape 6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0" name="Text 6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تَلْعَبُ</a:t>
            </a:r>
            <a:endParaRPr lang="ar-SA" sz="1500" dirty="0"/>
          </a:p>
        </p:txBody>
      </p:sp>
      <p:sp>
        <p:nvSpPr>
          <p:cNvPr id="71" name="Shape 6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73" name="Text 7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يَلْعَبُ</a:t>
            </a:r>
            <a:endParaRPr lang="ar-SA" sz="1500" dirty="0"/>
          </a:p>
        </p:txBody>
      </p:sp>
      <p:sp>
        <p:nvSpPr>
          <p:cNvPr id="74" name="Shape 7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6" name="Text 7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أَلْعَبُ</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0" name="Shape 77"/>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يَلْعَبُ كُرَةَ السَّلَّةِ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basketball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yal-ʿa-bu ku-ra-ta as-sal-la-ti</a:t>
            </a:r>
            <a:endParaRPr lang="en-US" sz="1350" dirty="0"/>
          </a:p>
        </p:txBody>
      </p:sp>
      <p:sp>
        <p:nvSpPr>
          <p:cNvPr id="84" name="Shape 8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6" name="Text 8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تَلْعَبُ</a:t>
            </a:r>
            <a:endParaRPr lang="ar-SA" sz="1500" dirty="0"/>
          </a:p>
        </p:txBody>
      </p:sp>
      <p:sp>
        <p:nvSpPr>
          <p:cNvPr id="87" name="Shape 8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9" name="Text 8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يَلْعَبُ</a:t>
            </a:r>
            <a:endParaRPr lang="ar-SA" sz="1500" dirty="0"/>
          </a:p>
        </p:txBody>
      </p:sp>
      <p:sp>
        <p:nvSpPr>
          <p:cNvPr id="90" name="Shape 8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92" name="Text 8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أَلْعَبُ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السِّبَاحَةُ / يَسْبَحُ</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swimming / swims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as-si-bā-ḥa-tu / yas-ba-ḥu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تَسْبَحُ</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يَسْبَحُ</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أَسْبَحُ</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Shape 3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الرَّسْمُ / يَرْسُمُ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drawing / draws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ar-ras-mu / yar-su-mu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تَرْسُمُ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يَرْسُمُ</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أَرْسُمُ</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54" name="Shape 5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يَعْزِفُ عَلَى البِيَانُو</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the piano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yaʿ-zi-fu ʿa-lā al-bi-yā-nū</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تَعْزِفُ</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يَعْزِفُ</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أَعْزِفُ</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70" name="Shape 67"/>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يَعْزِفُ عَلَى العُودِ</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plays the oud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yaʿ-zi-fu ʿa-lā al-ʿū-di</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8" name="Text 7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تَعْزِفُ</a:t>
            </a:r>
            <a:endParaRPr lang="ar-SA" sz="150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81" name="Text 78"/>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يَعْزِفُ</a:t>
            </a:r>
            <a:endParaRPr lang="ar-SA" sz="150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أَعْزِفُ</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88" name="Shape 85"/>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90" name="Shape 8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1" name="Text 8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2" name="Text 8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القِرَاءَةُ / يَقْرَأُ</a:t>
            </a:r>
            <a:endParaRPr lang="ar-SA" sz="3000" dirty="0"/>
          </a:p>
        </p:txBody>
      </p:sp>
      <p:sp>
        <p:nvSpPr>
          <p:cNvPr id="93" name="Text 9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reading / reads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al-qi-rā-ʾa-tu / yaq-ra-ʾu</a:t>
            </a:r>
            <a:endParaRPr lang="en-US" sz="1350" dirty="0"/>
          </a:p>
        </p:txBody>
      </p:sp>
      <p:sp>
        <p:nvSpPr>
          <p:cNvPr id="94" name="Shape 91"/>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6" name="Text 93"/>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تَقْرَأُ</a:t>
            </a:r>
            <a:endParaRPr lang="ar-SA" sz="1500" dirty="0"/>
          </a:p>
        </p:txBody>
      </p:sp>
      <p:sp>
        <p:nvSpPr>
          <p:cNvPr id="97" name="Shape 94"/>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99" name="Text 96"/>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يَقْرَأُ</a:t>
            </a:r>
            <a:endParaRPr lang="ar-SA" sz="1500" dirty="0"/>
          </a:p>
        </p:txBody>
      </p:sp>
      <p:sp>
        <p:nvSpPr>
          <p:cNvPr id="100" name="Shape 97"/>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2" name="Text 99"/>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أَقْرَأُ</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(3 of 4)</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التَّصْوِيرُ الفُوتُوغْرَافِيُّ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photography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at-taṣ-wī-ru al-fū-tūgh-rā-fiy-yu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adjective agrees with the masculine noun.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6" name="Shape 23"/>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8" name="Text 2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يَطْبُخُ</a:t>
            </a:r>
            <a:endParaRPr lang="ar-SA" sz="3000" dirty="0"/>
          </a:p>
        </p:txBody>
      </p:sp>
      <p:sp>
        <p:nvSpPr>
          <p:cNvPr id="29" name="Text 2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cooks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yaṭ-bu-khu</a:t>
            </a:r>
            <a:endParaRPr lang="en-US" sz="1350" dirty="0"/>
          </a:p>
        </p:txBody>
      </p:sp>
      <p:sp>
        <p:nvSpPr>
          <p:cNvPr id="30" name="Shape 2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2" name="Text 2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تَطْبُخُ</a:t>
            </a:r>
            <a:endParaRPr lang="ar-SA" sz="1500" dirty="0"/>
          </a:p>
        </p:txBody>
      </p:sp>
      <p:sp>
        <p:nvSpPr>
          <p:cNvPr id="33" name="Shape 3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34" name="Text 3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35" name="Text 3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يَطْبُخُ</a:t>
            </a:r>
            <a:endParaRPr lang="ar-SA" sz="1500" dirty="0"/>
          </a:p>
        </p:txBody>
      </p:sp>
      <p:sp>
        <p:nvSpPr>
          <p:cNvPr id="36" name="Shape 3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8" name="Text 3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أَطْبُخُ</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42" name="Shape 3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يُشَاهِدُ الأَفْلَامَ</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watches films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yu-shā-hi-du al-af-lā-ma</a:t>
            </a:r>
            <a:endParaRPr lang="en-US" sz="1350" dirty="0"/>
          </a:p>
        </p:txBody>
      </p:sp>
      <p:sp>
        <p:nvSpPr>
          <p:cNvPr id="46" name="Shape 4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8" name="Text 4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تُشَاهِدُ</a:t>
            </a:r>
            <a:endParaRPr lang="ar-SA" sz="1500" dirty="0"/>
          </a:p>
        </p:txBody>
      </p:sp>
      <p:sp>
        <p:nvSpPr>
          <p:cNvPr id="49" name="Shape 4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51" name="Text 4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يُشَاهِدُ</a:t>
            </a:r>
            <a:endParaRPr lang="ar-SA" sz="1500" dirty="0"/>
          </a:p>
        </p:txBody>
      </p:sp>
      <p:sp>
        <p:nvSpPr>
          <p:cNvPr id="52" name="Shape 4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4" name="Text 5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أُشَاهِدُ</a:t>
            </a:r>
            <a:endParaRPr lang="ar-SA" sz="15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58" name="Shape 55"/>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0" name="Text 5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يَسْتَمِعُ إِلَى المُوسِيقَى</a:t>
            </a:r>
            <a:endParaRPr lang="ar-SA" sz="3000" dirty="0"/>
          </a:p>
        </p:txBody>
      </p:sp>
      <p:sp>
        <p:nvSpPr>
          <p:cNvPr id="61" name="Text 5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listens to 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yas-ta-mi-ʿu i-lā al-mū-sī-qā</a:t>
            </a:r>
            <a:endParaRPr lang="en-US" sz="1350" dirty="0"/>
          </a:p>
        </p:txBody>
      </p:sp>
      <p:sp>
        <p:nvSpPr>
          <p:cNvPr id="62" name="Shape 5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4" name="Text 6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تَسْتَمِعُ</a:t>
            </a:r>
            <a:endParaRPr lang="ar-SA" sz="1500" dirty="0"/>
          </a:p>
        </p:txBody>
      </p:sp>
      <p:sp>
        <p:nvSpPr>
          <p:cNvPr id="65" name="Shape 6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67" name="Text 6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يَسْتَمِعُ</a:t>
            </a:r>
            <a:endParaRPr lang="ar-SA" sz="1500" dirty="0"/>
          </a:p>
        </p:txBody>
      </p:sp>
      <p:sp>
        <p:nvSpPr>
          <p:cNvPr id="68" name="Shape 6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أَسْتَمِعُ</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74" name="Text 7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تَسَلُّقُ الجِبَالِ</a:t>
            </a:r>
            <a:endParaRPr lang="ar-SA" sz="3000" dirty="0"/>
          </a:p>
        </p:txBody>
      </p:sp>
      <p:sp>
        <p:nvSpPr>
          <p:cNvPr id="75" name="Text 7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 climbing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ta-sal-lu-qu al-ji-bā-li</a:t>
            </a:r>
            <a:endParaRPr lang="en-US" sz="1350" dirty="0"/>
          </a:p>
        </p:txBody>
      </p:sp>
      <p:sp>
        <p:nvSpPr>
          <p:cNvPr id="76" name="Text 7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An iḍāfa: </a:t>
            </a:r>
            <a:pPr algn="l" indent="0" marL="0">
              <a:buNone/>
            </a:pPr>
            <a:r>
              <a:rPr lang="ar-SA" altLang="en-US" sz="1300" dirty="0">
                <a:solidFill>
                  <a:srgbClr val="8A6D1E"/>
                </a:solidFill>
                <a:latin typeface="Amiri" pitchFamily="34" charset="0"/>
                <a:ea typeface="Amiri" pitchFamily="34" charset="-122"/>
                <a:cs typeface="Amiri" pitchFamily="34" charset="-120"/>
              </a:rPr>
              <a:t>الجِبَالِ</a:t>
            </a:r>
            <a:pPr algn="l" indent="0" marL="0">
              <a:buNone/>
            </a:pPr>
            <a:r>
              <a:rPr lang="en-US" sz="1000" i="1" dirty="0">
                <a:solidFill>
                  <a:srgbClr val="8A6D1E"/>
                </a:solidFill>
                <a:latin typeface="Calibri" pitchFamily="34" charset="0"/>
                <a:ea typeface="Calibri" pitchFamily="34" charset="-122"/>
                <a:cs typeface="Calibri" pitchFamily="34" charset="-120"/>
              </a:rPr>
              <a:t> is genitive.</a:t>
            </a:r>
            <a:endParaRPr lang="en-US" sz="10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Hobbies and activities (4 of 4)</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يَتَطَوَّعُ</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volunteers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ya-ta-ṭaw-wa-ʿu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تَتَطَوَّعُ</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يَتَطَوَّعُ</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أَتَطَوَّعُ</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6" name="Text 3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الغِنَاءُ</a:t>
            </a:r>
            <a:endParaRPr lang="ar-SA" sz="3000" dirty="0"/>
          </a:p>
        </p:txBody>
      </p:sp>
      <p:sp>
        <p:nvSpPr>
          <p:cNvPr id="37" name="Text 3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singing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al-ghi-nā-ʾu</a:t>
            </a:r>
            <a:endParaRPr lang="en-US" sz="1350" dirty="0"/>
          </a:p>
        </p:txBody>
      </p:sp>
      <p:sp>
        <p:nvSpPr>
          <p:cNvPr id="38" name="Shape 3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66928" y="1920240"/>
            <a:ext cx="310896" cy="310896"/>
          </a:xfrm>
          <a:prstGeom prst="ellipse">
            <a:avLst/>
          </a:prstGeom>
          <a:solidFill>
            <a:srgbClr val="F4F1EA"/>
          </a:solidFill>
          <a:ln w="12700">
            <a:solidFill>
              <a:srgbClr val="F4F1EA"/>
            </a:solidFill>
            <a:prstDash val="solid"/>
          </a:ln>
        </p:spPr>
      </p:sp>
      <p:sp>
        <p:nvSpPr>
          <p:cNvPr id="40" name="Text 3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1" name="Text 3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رُكُوبُ الدَّرَّاجَةِ</a:t>
            </a:r>
            <a:endParaRPr lang="ar-SA" sz="3000" dirty="0"/>
          </a:p>
        </p:txBody>
      </p:sp>
      <p:sp>
        <p:nvSpPr>
          <p:cNvPr id="42" name="Text 3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cycling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ru-kū-bu ad-dar-rā-ja-ti</a:t>
            </a:r>
            <a:endParaRPr lang="en-US"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رِيَاضَةُ اليُوغَا</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yoga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ri-yā-ḍa-tu al-yū-ghā</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1" name="Text 4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الشِّطْرَنْجُ</a:t>
            </a:r>
            <a:endParaRPr lang="ar-SA" sz="3000" dirty="0"/>
          </a:p>
        </p:txBody>
      </p:sp>
      <p:sp>
        <p:nvSpPr>
          <p:cNvPr id="52" name="Text 4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ash-shiṭ-ran-ju</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often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مَرَّةً فِي الأُسْبُوعِ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mar-ra-tan fī al-us-bū-ʿi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مَرَّةً</a:t>
            </a:r>
            <a:pPr algn="l" indent="0" marL="0">
              <a:buNone/>
            </a:pPr>
            <a:r>
              <a:rPr lang="en-US" sz="1000" i="1" dirty="0">
                <a:solidFill>
                  <a:srgbClr val="8A6D1E"/>
                </a:solidFill>
                <a:latin typeface="Calibri" pitchFamily="34" charset="0"/>
                <a:ea typeface="Calibri" pitchFamily="34" charset="-122"/>
                <a:cs typeface="Calibri" pitchFamily="34" charset="-120"/>
              </a:rPr>
              <a:t> is adverbial, so it is accusative.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مَرَّتَيْنِ فِي الأُسْبُوعِ</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twice a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mar-ra-tay-ni fī al-us-bū-ʿi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مَرَّتَيْنِ</a:t>
            </a:r>
            <a:pPr algn="l" indent="0" marL="0">
              <a:buNone/>
            </a:pPr>
            <a:r>
              <a:rPr lang="en-US" sz="1000" i="1" dirty="0">
                <a:solidFill>
                  <a:srgbClr val="8A6D1E"/>
                </a:solidFill>
                <a:latin typeface="Calibri" pitchFamily="34" charset="0"/>
                <a:ea typeface="Calibri" pitchFamily="34" charset="-122"/>
                <a:cs typeface="Calibri" pitchFamily="34" charset="-120"/>
              </a:rPr>
              <a:t> is the dual — revise the dual from Topic B.</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ثَلَاثَ مَرَّاتٍ فِي الشَّهْرِ</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three times a month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tha-lā-tha mar-rā-tin fī ash-shah-ri</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Numbers 3–10 take a genitive plural: </a:t>
            </a:r>
            <a:pPr algn="l" indent="0" marL="0">
              <a:buNone/>
            </a:pPr>
            <a:r>
              <a:rPr lang="ar-SA" altLang="en-US" sz="1300" dirty="0">
                <a:solidFill>
                  <a:srgbClr val="8A6D1E"/>
                </a:solidFill>
                <a:latin typeface="Amiri" pitchFamily="34" charset="0"/>
                <a:ea typeface="Amiri" pitchFamily="34" charset="-122"/>
                <a:cs typeface="Amiri" pitchFamily="34" charset="-120"/>
              </a:rPr>
              <a:t>مَرَّاتٍ</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يَوْمِيًّا</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yaw-miy-yan</a:t>
            </a:r>
            <a:endParaRPr lang="en-US" sz="1350" dirty="0"/>
          </a:p>
        </p:txBody>
      </p:sp>
      <p:sp>
        <p:nvSpPr>
          <p:cNvPr id="40" name="Shape 3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389120"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43" name="Text 4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نَادِرًا</a:t>
            </a:r>
            <a:endParaRPr lang="ar-SA" sz="3000" dirty="0"/>
          </a:p>
        </p:txBody>
      </p:sp>
      <p:sp>
        <p:nvSpPr>
          <p:cNvPr id="44" name="Text 4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rarely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nā-di-ran</a:t>
            </a:r>
            <a:endParaRPr lang="en-US" sz="1350" dirty="0"/>
          </a:p>
        </p:txBody>
      </p:sp>
      <p:sp>
        <p:nvSpPr>
          <p:cNvPr id="45" name="Shape 4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48" name="Text 4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وَقْتِ فَرَاغِي</a:t>
            </a:r>
            <a:endParaRPr lang="ar-SA" sz="3000" dirty="0"/>
          </a:p>
        </p:txBody>
      </p:sp>
      <p:sp>
        <p:nvSpPr>
          <p:cNvPr id="49" name="Text 4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free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waq-ti fa-rā-ghī</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Saying what you prefer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أُفَضِّلُ … عَلَى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prefer … to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u-faḍ-ḍi-lu … ʿa-lā …</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thing preferred less follows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أَسْتَمْتِعُ بِـ …</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enjoy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as-tam-ti-ʿu bi …</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بِـ</a:t>
            </a:r>
            <a:pPr algn="l" indent="0" marL="0">
              <a:buNone/>
            </a:pPr>
            <a:r>
              <a:rPr lang="en-US" sz="1000" i="1" dirty="0">
                <a:solidFill>
                  <a:srgbClr val="8A6D1E"/>
                </a:solidFill>
                <a:latin typeface="Calibri" pitchFamily="34" charset="0"/>
                <a:ea typeface="Calibri" pitchFamily="34" charset="-122"/>
                <a:cs typeface="Calibri" pitchFamily="34" charset="-120"/>
              </a:rPr>
              <a:t> is followed by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32" name="Shape 29"/>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حَقًّا adds emphasis.</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أَهْوَى … حَقًّا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truly passionate about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ah-wā … ḥaq-qan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أَكْثَرَ مِنْ</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more than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ak-tha-ra min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46" name="Text 4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ea typeface="Calibri" pitchFamily="34" charset="-122"/>
                <a:cs typeface="Calibri" pitchFamily="34" charset="-120"/>
              </a:rPr>
              <a:t>Followed by a noun or attached pronoun in the accusative.</a:t>
            </a:r>
            <a:endParaRPr lang="en-US" sz="950" dirty="0"/>
          </a:p>
        </p:txBody>
      </p:sp>
      <p:sp>
        <p:nvSpPr>
          <p:cNvPr id="47" name="Shape 4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50" name="Text 4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 / مُمْتِعَةٌ</a:t>
            </a:r>
            <a:endParaRPr lang="ar-SA" sz="3000" dirty="0"/>
          </a:p>
        </p:txBody>
      </p:sp>
      <p:sp>
        <p:nvSpPr>
          <p:cNvPr id="51" name="Text 4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mum-ti-ʿun / mum-ti-ʿa-tun</a:t>
            </a:r>
            <a:endParaRPr lang="en-US" sz="1350" dirty="0"/>
          </a:p>
        </p:txBody>
      </p:sp>
      <p:sp>
        <p:nvSpPr>
          <p:cNvPr id="52" name="Text 4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adjective agrees with its noun.</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1 · THE RIGHT VERB FOR THE ACTIVITY (WEBSITE COLLOCATION TABLE)</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Play, practise, play on, listen 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التَّلَازُمُ اللَّفْظِيُّ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 (I)</a:t>
            </a:r>
            <a:endParaRPr lang="en-US" sz="1100" dirty="0"/>
          </a:p>
        </p:txBody>
      </p:sp>
      <p:sp>
        <p:nvSpPr>
          <p:cNvPr id="17" name="Text 14"/>
          <p:cNvSpPr txBox="1"/>
          <p:nvPr/>
        </p:nvSpPr>
        <p:spPr>
          <a:xfrm>
            <a:off x="659282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a:t>
            </a:r>
            <a:endParaRPr lang="en-US" sz="1100" dirty="0"/>
          </a:p>
        </p:txBody>
      </p:sp>
      <p:sp>
        <p:nvSpPr>
          <p:cNvPr id="18" name="Text 15"/>
          <p:cNvSpPr txBox="1"/>
          <p:nvPr/>
        </p:nvSpPr>
        <p:spPr>
          <a:xfrm>
            <a:off x="293522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2258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262872" y="2267712"/>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أَلْعَبُ</a:t>
            </a:r>
            <a:endParaRPr lang="ar-SA" sz="2400" dirty="0"/>
          </a:p>
        </p:txBody>
      </p:sp>
      <p:sp>
        <p:nvSpPr>
          <p:cNvPr id="22" name="Text 19"/>
          <p:cNvSpPr txBox="1"/>
          <p:nvPr/>
        </p:nvSpPr>
        <p:spPr>
          <a:xfrm>
            <a:off x="6629400" y="2267712"/>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ball / board game</a:t>
            </a:r>
            <a:endParaRPr lang="en-US" sz="1100" dirty="0"/>
          </a:p>
        </p:txBody>
      </p:sp>
      <p:sp>
        <p:nvSpPr>
          <p:cNvPr id="23" name="Text 20"/>
          <p:cNvSpPr txBox="1"/>
          <p:nvPr/>
        </p:nvSpPr>
        <p:spPr>
          <a:xfrm>
            <a:off x="2953512" y="2267712"/>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أَلْعَبُ</a:t>
            </a:r>
            <a:pPr rtl="1" algn="ctr" indent="0" marL="0">
              <a:buNone/>
            </a:pPr>
            <a:r>
              <a:rPr lang="ar-SA" altLang="en-US" sz="2400" b="1" dirty="0">
                <a:solidFill>
                  <a:srgbClr val="1B3B6F"/>
                </a:solidFill>
                <a:latin typeface="Amiri" pitchFamily="34" charset="0"/>
                <a:ea typeface="Amiri" pitchFamily="34" charset="-122"/>
                <a:cs typeface="Amiri" pitchFamily="34" charset="-120"/>
              </a:rPr>
              <a:t> كُرَةَ السَّلَّةِ</a:t>
            </a:r>
            <a:endParaRPr lang="ar-SA" sz="2400" dirty="0"/>
          </a:p>
        </p:txBody>
      </p:sp>
      <p:sp>
        <p:nvSpPr>
          <p:cNvPr id="24" name="Text 21"/>
          <p:cNvSpPr txBox="1"/>
          <p:nvPr/>
        </p:nvSpPr>
        <p:spPr>
          <a:xfrm>
            <a:off x="566928" y="2267712"/>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play basketball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262872" y="3054096"/>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أُمَارِسُ</a:t>
            </a:r>
            <a:endParaRPr lang="ar-SA" sz="2400" dirty="0"/>
          </a:p>
        </p:txBody>
      </p:sp>
      <p:sp>
        <p:nvSpPr>
          <p:cNvPr id="29" name="Text 26"/>
          <p:cNvSpPr txBox="1"/>
          <p:nvPr/>
        </p:nvSpPr>
        <p:spPr>
          <a:xfrm>
            <a:off x="6629400" y="3054096"/>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activity</a:t>
            </a:r>
            <a:endParaRPr lang="en-US" sz="1100" dirty="0"/>
          </a:p>
        </p:txBody>
      </p:sp>
      <p:sp>
        <p:nvSpPr>
          <p:cNvPr id="30" name="Text 27"/>
          <p:cNvSpPr txBox="1"/>
          <p:nvPr/>
        </p:nvSpPr>
        <p:spPr>
          <a:xfrm>
            <a:off x="2953512" y="3054096"/>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أُمَارِسُ</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السِّبَاحَةَ</a:t>
            </a:r>
            <a:endParaRPr lang="ar-SA" sz="2400" dirty="0"/>
          </a:p>
        </p:txBody>
      </p:sp>
      <p:sp>
        <p:nvSpPr>
          <p:cNvPr id="31" name="Text 28"/>
          <p:cNvSpPr txBox="1"/>
          <p:nvPr/>
        </p:nvSpPr>
        <p:spPr>
          <a:xfrm>
            <a:off x="566928" y="3054096"/>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go swimming</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262872" y="3840480"/>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أَعْزِفُ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endParaRPr lang="ar-SA" sz="2400" dirty="0"/>
          </a:p>
        </p:txBody>
      </p:sp>
      <p:sp>
        <p:nvSpPr>
          <p:cNvPr id="36" name="Text 33"/>
          <p:cNvSpPr txBox="1"/>
          <p:nvPr/>
        </p:nvSpPr>
        <p:spPr>
          <a:xfrm>
            <a:off x="6629400" y="3840480"/>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instrument</a:t>
            </a:r>
            <a:endParaRPr lang="en-US" sz="1100" dirty="0"/>
          </a:p>
        </p:txBody>
      </p:sp>
      <p:sp>
        <p:nvSpPr>
          <p:cNvPr id="37" name="Text 34"/>
          <p:cNvSpPr txBox="1"/>
          <p:nvPr/>
        </p:nvSpPr>
        <p:spPr>
          <a:xfrm>
            <a:off x="2953512" y="3840480"/>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أَعْزِفُ </a:t>
            </a:r>
            <a:pPr rtl="1" algn="ctr" indent="0" marL="0">
              <a:buNone/>
            </a:pPr>
            <a:r>
              <a:rPr lang="ar-SA" altLang="en-US" sz="24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البِيَانُو</a:t>
            </a:r>
            <a:endParaRPr lang="ar-SA" sz="2400" dirty="0"/>
          </a:p>
        </p:txBody>
      </p:sp>
      <p:sp>
        <p:nvSpPr>
          <p:cNvPr id="38" name="Text 35"/>
          <p:cNvSpPr txBox="1"/>
          <p:nvPr/>
        </p:nvSpPr>
        <p:spPr>
          <a:xfrm>
            <a:off x="566928" y="3840480"/>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play the piano</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262872" y="4626864"/>
            <a:ext cx="237744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أَسْتَمِعُ </a:t>
            </a:r>
            <a:pPr rtl="1" algn="ctr" indent="0" marL="0">
              <a:buNone/>
            </a:pPr>
            <a:r>
              <a:rPr lang="ar-SA" altLang="en-US" sz="2400" b="1" dirty="0">
                <a:solidFill>
                  <a:srgbClr val="0E7C86"/>
                </a:solidFill>
                <a:latin typeface="Amiri" pitchFamily="34" charset="0"/>
                <a:ea typeface="Amiri" pitchFamily="34" charset="-122"/>
                <a:cs typeface="Amiri" pitchFamily="34" charset="-120"/>
              </a:rPr>
              <a:t>إِلَى</a:t>
            </a:r>
            <a:endParaRPr lang="ar-SA" sz="2400" dirty="0"/>
          </a:p>
        </p:txBody>
      </p:sp>
      <p:sp>
        <p:nvSpPr>
          <p:cNvPr id="43" name="Text 40"/>
          <p:cNvSpPr txBox="1"/>
          <p:nvPr/>
        </p:nvSpPr>
        <p:spPr>
          <a:xfrm>
            <a:off x="6629400" y="4626864"/>
            <a:ext cx="24688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sound</a:t>
            </a:r>
            <a:endParaRPr lang="en-US" sz="1100" dirty="0"/>
          </a:p>
        </p:txBody>
      </p:sp>
      <p:sp>
        <p:nvSpPr>
          <p:cNvPr id="44" name="Text 41"/>
          <p:cNvSpPr txBox="1"/>
          <p:nvPr/>
        </p:nvSpPr>
        <p:spPr>
          <a:xfrm>
            <a:off x="2953512" y="4626864"/>
            <a:ext cx="34747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أَسْتَمِعُ </a:t>
            </a:r>
            <a:pPr rtl="1" algn="ctr" indent="0" marL="0">
              <a:buNone/>
            </a:pPr>
            <a:r>
              <a:rPr lang="ar-SA" altLang="en-US" sz="24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المُوسِيقَى</a:t>
            </a:r>
            <a:endParaRPr lang="ar-SA" sz="2400" dirty="0"/>
          </a:p>
        </p:txBody>
      </p:sp>
      <p:sp>
        <p:nvSpPr>
          <p:cNvPr id="45" name="Text 42"/>
          <p:cNvSpPr txBox="1"/>
          <p:nvPr/>
        </p:nvSpPr>
        <p:spPr>
          <a:xfrm>
            <a:off x="566928" y="4626864"/>
            <a:ext cx="2221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listen to music</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Store verb + preposition + noun as one unit (website). “I play swimming” does not exist in Arabic.</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HOW OFTEN AND WHICH YOU PREFER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Twice a week … I prefer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التَّكْرَارُ وَالتَّفْضِيلُ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مَرَّةً · مَرَّتَيْنِ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أُمَارِسُ السِّبَاحَةَ مَرَّتَيْنِ فِي الأُسْبُوعِ.</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swim twice a week.</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3–10: thalātha marrātin.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1E7B4F"/>
          </a:solidFill>
          <a:ln w="12700">
            <a:solidFill>
              <a:srgbClr val="1E7B4F"/>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PREFER · DEVELOP</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عَلَى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أُفَضِّلُ المُوسِيقَى عَلَى الرِّيَاضَةِ.</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prefer music to sport.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loser comes after ‘alā.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B83280"/>
          </a:solidFill>
          <a:ln w="12700">
            <a:solidFill>
              <a:srgbClr val="B83280"/>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ENJOY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أَسْتَمْتِعُ بِـ · أَهْوَى</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أَسْتَمْتِعُ بِالقِرَاءَةِ أَكْثَرَ مِنَ الغِنَاءِ.</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enjoy reading more than singing.</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bi- + the hobby.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common mistake: 3–10 take a plural — marrātin.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ثَلَاثَ مَرَّاتٍ فِي الشَّهْرِ</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ثَلَاثَ مَرَّةٍ فِي الشَّهْرِ</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Collocation, frequency and preference</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00" b="1" dirty="0">
                <a:solidFill>
                  <a:srgbClr val="8A6D1E"/>
                </a:solidFill>
                <a:latin typeface="Amiri" pitchFamily="34" charset="0"/>
                <a:ea typeface="Amiri" pitchFamily="34" charset="-122"/>
                <a:cs typeface="Amiri" pitchFamily="34" charset="-120"/>
              </a:rPr>
              <a:t>التَّلَازُمُ اللَّفْظِيُّ وَالتَّكْرَارُ وَالتَّفْضِيلُ</a:t>
            </a:r>
            <a:endParaRPr lang="ar-SA" sz="26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يَلْعَبُ</a:t>
            </a:r>
            <a:pPr algn="l" indent="0" marL="0">
              <a:buNone/>
            </a:pPr>
            <a:r>
              <a:rPr lang="en-US" sz="1250" b="1" dirty="0">
                <a:solidFill>
                  <a:srgbClr val="1B3B6F"/>
                </a:solidFill>
                <a:latin typeface="Calibri" pitchFamily="34" charset="0"/>
                <a:ea typeface="Calibri" pitchFamily="34" charset="-122"/>
                <a:cs typeface="Calibri" pitchFamily="34" charset="-120"/>
              </a:rPr>
              <a:t> with ball games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يَلْعَبُ</a:t>
            </a:r>
            <a:pPr algn="l" indent="0" marL="0">
              <a:buNone/>
            </a:pPr>
            <a:r>
              <a:rPr lang="en-US" sz="1050" dirty="0">
                <a:solidFill>
                  <a:srgbClr val="5A6472"/>
                </a:solidFill>
                <a:latin typeface="Calibri" pitchFamily="34" charset="0"/>
                <a:ea typeface="Calibri" pitchFamily="34" charset="-122"/>
                <a:cs typeface="Calibri" pitchFamily="34" charset="-120"/>
              </a:rPr>
              <a:t> + accusative ball-game noun</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يَلْعَبُ كُرَةَ القَدَمِ   ·   تَلْعَبُ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يُمَارِسُ</a:t>
            </a:r>
            <a:pPr algn="l" indent="0" marL="0">
              <a:buNone/>
            </a:pPr>
            <a:r>
              <a:rPr lang="en-US" sz="1250" b="1" dirty="0">
                <a:solidFill>
                  <a:srgbClr val="1B3B6F"/>
                </a:solidFill>
                <a:latin typeface="Calibri" pitchFamily="34" charset="0"/>
                <a:ea typeface="Calibri" pitchFamily="34" charset="-122"/>
                <a:cs typeface="Calibri" pitchFamily="34" charset="-120"/>
              </a:rPr>
              <a:t> with an activity noun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يُمَارِسُ</a:t>
            </a:r>
            <a:pPr algn="l" indent="0" marL="0">
              <a:buNone/>
            </a:pPr>
            <a:r>
              <a:rPr lang="en-US" sz="1050" dirty="0">
                <a:solidFill>
                  <a:srgbClr val="5A6472"/>
                </a:solidFill>
                <a:latin typeface="Calibri" pitchFamily="34" charset="0"/>
                <a:ea typeface="Calibri" pitchFamily="34" charset="-122"/>
                <a:cs typeface="Calibri" pitchFamily="34" charset="-120"/>
              </a:rPr>
              <a:t> + accusative activity noun</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يُمَارِسُ السِّبَاحَةَ   ·   تُمَارِسُ رِيَاضَةَ اليُوغَا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يَعْزِفُ عَلَى</a:t>
            </a:r>
            <a:pPr algn="l" indent="0" marL="0">
              <a:buNone/>
            </a:pPr>
            <a:r>
              <a:rPr lang="en-US" sz="1250" b="1" dirty="0">
                <a:solidFill>
                  <a:srgbClr val="1B3B6F"/>
                </a:solidFill>
                <a:latin typeface="Calibri" pitchFamily="34" charset="0"/>
                <a:ea typeface="Calibri" pitchFamily="34" charset="-122"/>
                <a:cs typeface="Calibri" pitchFamily="34" charset="-120"/>
              </a:rPr>
              <a:t> with an instrument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يَعْزِفُ عَلَى</a:t>
            </a:r>
            <a:pPr algn="l" indent="0" marL="0">
              <a:buNone/>
            </a:pPr>
            <a:r>
              <a:rPr lang="en-US" sz="1050" dirty="0">
                <a:solidFill>
                  <a:srgbClr val="5A6472"/>
                </a:solidFill>
                <a:latin typeface="Calibri" pitchFamily="34" charset="0"/>
                <a:ea typeface="Calibri" pitchFamily="34" charset="-122"/>
                <a:cs typeface="Calibri" pitchFamily="34" charset="-120"/>
              </a:rPr>
              <a:t> + genitive instrument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يَعْزِفُ عَلَى العُودِ   ·   تَعْزِفُ عَلَى البِيَانُو</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Frequency after a number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مَرَّةً / مَرَّتَيْنِ / ثَلَاثَ مَرَّاتٍ</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فِي</a:t>
            </a:r>
            <a:pPr algn="l" indent="0" marL="0">
              <a:buNone/>
            </a:pPr>
            <a:r>
              <a:rPr lang="en-US" sz="1050" dirty="0">
                <a:solidFill>
                  <a:srgbClr val="5A6472"/>
                </a:solidFill>
                <a:latin typeface="Calibri" pitchFamily="34" charset="0"/>
                <a:ea typeface="Calibri" pitchFamily="34" charset="-122"/>
                <a:cs typeface="Calibri" pitchFamily="34" charset="-120"/>
              </a:rPr>
              <a:t> + period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مَرَّتَيْنِ فِي الأُسْبُوعِ   ·   ثَلَاثَ مَرَّاتٍ فِي الشَّهْرِ</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football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كُرَةَ القَدَمِ مَرَّتَانِ فِي الأُسْبُوعِ.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 كُرَةَ القَدَمِ مَرَّتَيْنِ فِي الأُسْبُوعِ.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كُرَةَ القَدَمِ مَرَّتَيْنِ فِي الأُسْبُوعِ.</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swimming sentence.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السِّبَاحَةَ ثَلَاثَ مَرَّاتٍ فِي الأُسْبُوعِ.</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السِّبَاحَةَ ثَلَاثَ مَرَّاتٍ فِي الأُسْبُوعِ.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السِّبَاحَةُ ثَلَاثُ مَرَّاتٍ فِي الأُسْبُوعِ.</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instrument sentence.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العُودَ كُلَّ مَسَاءٍ.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عَلَى العُودِ كُلَّ مَسَاءٍ.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إِلَى العُودِ كُلَّ مَسَاءٍ.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الشَّهْرِ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ثَلَاثَةَ مَرَّاتٍ فِي الشَّهْرِ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مَرَّةٍ فِي الشَّهْرِ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football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كُرَةَ القَدَمِ مَرَّتَانِ فِي الأُسْبُوعِ.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 كُرَةَ القَدَمِ مَرَّتَيْنِ فِي الأُسْبُوعِ.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أَلْعَبُ كُرَةَ القَدَمِ مَرَّتَيْنِ فِي الأُسْبُوعِ.</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Ball games take </a:t>
            </a:r>
            <a:pPr algn="l" indent="0" marL="0">
              <a:buNone/>
            </a:pPr>
            <a:r>
              <a:rPr lang="ar-SA" altLang="en-US" sz="1350" dirty="0">
                <a:solidFill>
                  <a:srgbClr val="8A6D1E"/>
                </a:solidFill>
                <a:latin typeface="Amiri" pitchFamily="34" charset="0"/>
                <a:ea typeface="Amiri" pitchFamily="34" charset="-122"/>
                <a:cs typeface="Amiri" pitchFamily="34" charset="-120"/>
              </a:rPr>
              <a:t>يَلْعَبُ</a:t>
            </a:r>
            <a:pPr algn="l" indent="0" marL="0">
              <a:buNone/>
            </a:pPr>
            <a:r>
              <a:rPr lang="en-US" sz="1050" i="1" dirty="0">
                <a:solidFill>
                  <a:srgbClr val="8A6D1E"/>
                </a:solidFill>
                <a:latin typeface="Calibri" pitchFamily="34" charset="0"/>
                <a:ea typeface="Calibri" pitchFamily="34" charset="-122"/>
                <a:cs typeface="Calibri" pitchFamily="34" charset="-120"/>
              </a:rPr>
              <a:t>, and the dual after a preposition-free adverbial is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swimming sentence.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أُمَارِسُ السِّبَاحَةَ ثَلَاثَ مَرَّاتٍ فِي الأُسْبُوعِ.</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أَلْعَبُ السِّبَاحَةَ ثَلَاثَ مَرَّاتٍ فِي الأُسْبُوعِ.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السِّبَاحَةُ ثَلَاثُ مَرَّاتٍ فِي الأُسْبُوعِ.</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السِّبَاحَة</a:t>
            </a:r>
            <a:pPr algn="l" indent="0" marL="0">
              <a:buNone/>
            </a:pPr>
            <a:r>
              <a:rPr lang="en-US" sz="1050" i="1" dirty="0">
                <a:solidFill>
                  <a:srgbClr val="8A6D1E"/>
                </a:solidFill>
                <a:latin typeface="Calibri" pitchFamily="34" charset="0"/>
                <a:ea typeface="Calibri" pitchFamily="34" charset="-122"/>
                <a:cs typeface="Calibri" pitchFamily="34" charset="-120"/>
              </a:rPr>
              <a:t> is an activity noun, so it takes </a:t>
            </a:r>
            <a:pPr algn="l" indent="0" marL="0">
              <a:buNone/>
            </a:pPr>
            <a:r>
              <a:rPr lang="ar-SA" altLang="en-US" sz="1350" dirty="0">
                <a:solidFill>
                  <a:srgbClr val="8A6D1E"/>
                </a:solidFill>
                <a:latin typeface="Amiri" pitchFamily="34" charset="0"/>
                <a:ea typeface="Amiri" pitchFamily="34" charset="-122"/>
                <a:cs typeface="Amiri" pitchFamily="34" charset="-120"/>
              </a:rPr>
              <a:t>يُمَارِسُ</a:t>
            </a:r>
            <a:pPr algn="l" indent="0" marL="0">
              <a:buNone/>
            </a:pPr>
            <a:r>
              <a:rPr lang="en-US" sz="1050" i="1" dirty="0">
                <a:solidFill>
                  <a:srgbClr val="8A6D1E"/>
                </a:solidFill>
                <a:latin typeface="Calibri" pitchFamily="34" charset="0"/>
                <a:ea typeface="Calibri" pitchFamily="34" charset="-122"/>
                <a:cs typeface="Calibri" pitchFamily="34" charset="-120"/>
              </a:rPr>
              <a:t>, and as the object it is accusative.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instrument sentence.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تَعْزِفُ العُودَ كُلَّ مَسَاءٍ.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تَعْزِفُ عَلَى العُودِ كُلَّ مَسَاءٍ.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تَعْزِفُ إِلَى العُودِ كُلَّ مَسَاءٍ.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يَعْزِفُ</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and the instrument after it is genitive.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ثَلَاثَ مَرَّاتٍ فِي الشَّهْرِ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ثَلَاثَةَ مَرَّاتٍ فِي الشَّهْرِ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مَرَّةٍ فِي الشَّهْرِ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number drops the tāʾ, and 3–10 take the genitive plural </a:t>
            </a:r>
            <a:pPr algn="l" indent="0" marL="0">
              <a:buNone/>
            </a:pPr>
            <a:r>
              <a:rPr lang="ar-SA" altLang="en-US" sz="1350" dirty="0">
                <a:solidFill>
                  <a:srgbClr val="8A6D1E"/>
                </a:solidFill>
                <a:latin typeface="Amiri" pitchFamily="34" charset="0"/>
                <a:ea typeface="Amiri" pitchFamily="34" charset="-122"/>
                <a:cs typeface="Amiri" pitchFamily="34" charset="-120"/>
              </a:rPr>
              <a:t>مَرَّاتٍ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my free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Collocation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فِي وَقْتِ فَرَاغِي </a:t>
            </a:r>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أُمَارِسُ</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السِّبَاحَةَ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Swimming = activity → umārisu.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Frequency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مَرَّتَيْنِ</a:t>
            </a:r>
            <a:pPr rtl="1" algn="ctr" indent="0" marL="0">
              <a:buNone/>
            </a:pPr>
            <a:r>
              <a:rPr lang="ar-SA" altLang="en-US" sz="2800" b="1" dirty="0">
                <a:solidFill>
                  <a:srgbClr val="1B3B6F"/>
                </a:solidFill>
                <a:latin typeface="Amiri" pitchFamily="34" charset="0"/>
                <a:ea typeface="Amiri" pitchFamily="34" charset="-122"/>
                <a:cs typeface="Amiri" pitchFamily="34" charset="-120"/>
              </a:rPr>
              <a:t> فِي الأُسْبُوعِ</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Twice = the dual.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Instrument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وَأَعْزِفُ </a:t>
            </a:r>
            <a:pPr rtl="1" algn="ctr" indent="0" marL="0">
              <a:buNone/>
            </a:pPr>
            <a:r>
              <a:rPr lang="ar-SA" altLang="en-US" sz="2300" b="1" dirty="0">
                <a:solidFill>
                  <a:srgbClr val="0E7C86"/>
                </a:solidFill>
                <a:latin typeface="Amiri" pitchFamily="34" charset="0"/>
                <a:ea typeface="Amiri" pitchFamily="34" charset="-122"/>
                <a:cs typeface="Amiri" pitchFamily="34" charset="-120"/>
              </a:rPr>
              <a:t>عَلَى</a:t>
            </a:r>
            <a:pPr rtl="1" algn="ctr" indent="0" marL="0">
              <a:buNone/>
            </a:pPr>
            <a:r>
              <a:rPr lang="ar-SA" altLang="en-US" sz="2300" b="1" dirty="0">
                <a:solidFill>
                  <a:srgbClr val="1B3B6F"/>
                </a:solidFill>
                <a:latin typeface="Amiri" pitchFamily="34" charset="0"/>
                <a:ea typeface="Amiri" pitchFamily="34" charset="-122"/>
                <a:cs typeface="Amiri" pitchFamily="34" charset="-120"/>
              </a:rPr>
              <a:t> العُودِ يَوْمِيًّا</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Instrument → ‘alā.</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Preference +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أُفَضِّلُ</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المُوسِيقَى </a:t>
            </a:r>
            <a:pPr rtl="1" algn="ctr" indent="0" marL="0">
              <a:lnSpc>
                <a:spcPct val="120000"/>
              </a:lnSpc>
              <a:buNone/>
            </a:pPr>
            <a:r>
              <a:rPr lang="ar-SA" altLang="en-US" sz="1750" b="1" dirty="0">
                <a:solidFill>
                  <a:srgbClr val="C77700"/>
                </a:solidFill>
                <a:latin typeface="Amiri" pitchFamily="34" charset="0"/>
                <a:ea typeface="Amiri" pitchFamily="34" charset="-122"/>
                <a:cs typeface="Amiri" pitchFamily="34" charset="-120"/>
              </a:rPr>
              <a:t>عَلَى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الرِّيَاضَةِ لِأَنَّهَا تُرِيحُنِي.</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Music (f.) → li’annahā.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PARTNER WORD</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PREFERENCE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34" charset="0"/>
                <a:ea typeface="Amiri" pitchFamily="34" charset="-122"/>
                <a:cs typeface="Amiri" pitchFamily="34" charset="-120"/>
              </a:rPr>
              <a:t>فِي وَقْتِ فَرَاغِي </a:t>
            </a:r>
            <a:pPr rtl="1" algn="r" indent="0" marL="0">
              <a:buNone/>
            </a:pPr>
            <a:r>
              <a:rPr lang="ar-SA" altLang="en-US" sz="1750" b="1" dirty="0">
                <a:solidFill>
                  <a:srgbClr val="1D5FBF"/>
                </a:solidFill>
                <a:latin typeface="Amiri" pitchFamily="34" charset="0"/>
                <a:ea typeface="Amiri" pitchFamily="34" charset="-122"/>
                <a:cs typeface="Amiri" pitchFamily="34" charset="-120"/>
              </a:rPr>
              <a:t>أُمَارِسُ</a:t>
            </a:r>
            <a:pPr rtl="1" algn="r" indent="0" marL="0">
              <a:buNone/>
            </a:pPr>
            <a:r>
              <a:rPr lang="ar-SA" altLang="en-US" sz="1750" b="1" dirty="0">
                <a:solidFill>
                  <a:srgbClr val="1B3B6F"/>
                </a:solidFill>
                <a:latin typeface="Amiri" pitchFamily="34" charset="0"/>
                <a:ea typeface="Amiri" pitchFamily="34" charset="-122"/>
                <a:cs typeface="Amiri" pitchFamily="34" charset="-120"/>
              </a:rPr>
              <a:t> السِّبَاحَةَ </a:t>
            </a:r>
            <a:pPr rtl="1" algn="r" indent="0" marL="0">
              <a:buNone/>
            </a:pPr>
            <a:r>
              <a:rPr lang="ar-SA" altLang="en-US" sz="1750" b="1" dirty="0">
                <a:solidFill>
                  <a:srgbClr val="0E7C86"/>
                </a:solidFill>
                <a:latin typeface="Amiri" pitchFamily="34" charset="0"/>
                <a:ea typeface="Amiri" pitchFamily="34" charset="-122"/>
                <a:cs typeface="Amiri" pitchFamily="34" charset="-120"/>
              </a:rPr>
              <a:t>مَرَّتَيْنِ</a:t>
            </a:r>
            <a:pPr rtl="1" algn="r" indent="0" marL="0">
              <a:buNone/>
            </a:pPr>
            <a:r>
              <a:rPr lang="ar-SA" altLang="en-US" sz="1750" b="1" dirty="0">
                <a:solidFill>
                  <a:srgbClr val="1B3B6F"/>
                </a:solidFill>
                <a:latin typeface="Amiri" pitchFamily="34" charset="0"/>
                <a:ea typeface="Amiri" pitchFamily="34" charset="-122"/>
                <a:cs typeface="Amiri" pitchFamily="34" charset="-120"/>
              </a:rPr>
              <a:t> فِي الأُسْبُوعِ، وَأَعْزِفُ </a:t>
            </a:r>
            <a:pPr rtl="1" algn="r" indent="0" marL="0">
              <a:buNone/>
            </a:pPr>
            <a:r>
              <a:rPr lang="ar-SA" altLang="en-US" sz="1750" b="1" dirty="0">
                <a:solidFill>
                  <a:srgbClr val="0E7C86"/>
                </a:solidFill>
                <a:latin typeface="Amiri" pitchFamily="34" charset="0"/>
                <a:ea typeface="Amiri" pitchFamily="34" charset="-122"/>
                <a:cs typeface="Amiri" pitchFamily="34" charset="-120"/>
              </a:rPr>
              <a:t>عَلَى</a:t>
            </a:r>
            <a:pPr rtl="1" algn="r" indent="0" marL="0">
              <a:buNone/>
            </a:pPr>
            <a:r>
              <a:rPr lang="ar-SA" altLang="en-US" sz="1750" b="1" dirty="0">
                <a:solidFill>
                  <a:srgbClr val="1B3B6F"/>
                </a:solidFill>
                <a:latin typeface="Amiri" pitchFamily="34" charset="0"/>
                <a:ea typeface="Amiri" pitchFamily="34" charset="-122"/>
                <a:cs typeface="Amiri" pitchFamily="34" charset="-120"/>
              </a:rPr>
              <a:t> العُودِ يَوْمِيًّا. </a:t>
            </a:r>
            <a:pPr rtl="1" algn="r" indent="0" marL="0">
              <a:buNone/>
            </a:pPr>
            <a:r>
              <a:rPr lang="ar-SA" altLang="en-US" sz="1750" b="1" dirty="0">
                <a:solidFill>
                  <a:srgbClr val="C77700"/>
                </a:solidFill>
                <a:latin typeface="Amiri" pitchFamily="34" charset="0"/>
                <a:ea typeface="Amiri" pitchFamily="34" charset="-122"/>
                <a:cs typeface="Amiri" pitchFamily="34" charset="-120"/>
              </a:rPr>
              <a:t>أُفَضِّلُ</a:t>
            </a:r>
            <a:pPr rtl="1" algn="r" indent="0" marL="0">
              <a:buNone/>
            </a:pPr>
            <a:r>
              <a:rPr lang="ar-SA" altLang="en-US" sz="1750" b="1" dirty="0">
                <a:solidFill>
                  <a:srgbClr val="1B3B6F"/>
                </a:solidFill>
                <a:latin typeface="Amiri" pitchFamily="34" charset="0"/>
                <a:ea typeface="Amiri" pitchFamily="34" charset="-122"/>
                <a:cs typeface="Amiri" pitchFamily="34" charset="-120"/>
              </a:rPr>
              <a:t> المُوسِيقَى </a:t>
            </a:r>
            <a:pPr rtl="1" algn="r" indent="0" marL="0">
              <a:buNone/>
            </a:pPr>
            <a:r>
              <a:rPr lang="ar-SA" altLang="en-US" sz="1750" b="1" dirty="0">
                <a:solidFill>
                  <a:srgbClr val="C77700"/>
                </a:solidFill>
                <a:latin typeface="Amiri" pitchFamily="34" charset="0"/>
                <a:ea typeface="Amiri" pitchFamily="34" charset="-122"/>
                <a:cs typeface="Amiri" pitchFamily="34" charset="-120"/>
              </a:rPr>
              <a:t>عَلَى</a:t>
            </a:r>
            <a:pPr rtl="1" algn="r" indent="0" marL="0">
              <a:buNone/>
            </a:pPr>
            <a:r>
              <a:rPr lang="ar-SA" altLang="en-US" sz="1750" b="1" dirty="0">
                <a:solidFill>
                  <a:srgbClr val="1B3B6F"/>
                </a:solidFill>
                <a:latin typeface="Amiri" pitchFamily="34" charset="0"/>
                <a:ea typeface="Amiri" pitchFamily="34" charset="-122"/>
                <a:cs typeface="Amiri" pitchFamily="34" charset="-120"/>
              </a:rPr>
              <a:t> الرِّيَاضَةِ لِأَنَّهَا تُرِيحُنِي بَعْدَ الدِّرَاسَةِ.</a:t>
            </a:r>
            <a:endParaRPr lang="ar-SA" sz="17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In my free time I go swimming twice a week, and I play the oud every day. I prefer music to sport because it relaxes me after studying.</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يَلْعَبُ كُرَةَ القَدَمِ</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plays football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Ball game after yal‘abu; the object ends in -a.</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يَعْزِفُ عَلَى العُودِ</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plays the oud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‘alā is fixed with ya‘zifu.</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مَرَّتَيْنِ فِي الأُسْبُوعِ</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marratayni is the dual of marra.</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أُفَضِّلُ الرَّسْمَ عَلَى التَّصْوِيرِ.</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prefer drawing to photography.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less-preferred thing follows ‘alā.</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HOBBIES AND FREE TIME — VOCABULARY AND PRESENT HABITS”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What do they do?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headphones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أَسْتَمِعُ إِلَى المُوسِيقَى.</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القِرَاءَةَ فِي وَقْتِ الفَرَاغِ.</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الرَّسْمَ.</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وَقْتُ الفَرَاغِ</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book</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القِرَاءَةَ فِي وَقْتِ الفَرَاغِ.</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reading in my free time.</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الرَّسْمَ.</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like drawing.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headphones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أَسْتَمِعُ إِلَى المُوسِيقَى.</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listen to music.</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verb goes with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القَدَمِ</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السَّلَّةِ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الشِّطْرَنْجَ</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السِّبَاحَةَ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رِيَاضَةَ اليُوغَا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تَسَلُّقَ الجِبَالِ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العُودِ</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البِيَانُو</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الكَمَانِ</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play (a game): al‘abu</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practise: umārisu</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play on: a‘zifu ‘alā</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play (a game): al‘abu</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القَدَمِ</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كُرَةَ السَّلَّةِ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الشِّطْرَنْجَ</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practise: umārisu</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السِّبَاحَةَ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رِيَاضَةَ اليُوغَا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تَسَلُّقَ الجِبَالِ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play on: a‘zifu ‘alā</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العُودِ</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البِيَانُو</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الكَمَانِ</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أَسْتَمِعُ ___ المُوسِيقَى العَرَبِيَّةِ.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preference sentence.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الرَّسْمَ مِنَ التَّصْوِيرِ.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الرَّسْمَ عَلَى التَّصْوِيرِ.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الرَّسْمُ عَلَى التَّصْوِيرَ.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enjoyment sentence.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القِرَاءَةَ أَكْثَرَ مِنَ الغِنَاءِ.</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بِالقِرَاءَةِ أَكْثَرَ مِنَ الغِنَاءِ.</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بِالقِرَاءَةُ أَكْثَرَ مِنَ الغِنَاءِ.</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adds a reason accurately.</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أَهْوَى تَسَلُّقَ الجِبَالِ حَقًّا لِأَنَّهَا مُمْتِعٌ.</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أَهْوَى تَسَلُّقُ الجِبَالِ حَقًّا لِأَنَّهُ مُمْتِعَةٌ.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أَهْوَى تَسَلُّقَ الجِبَالِ حَقًّا لِأَنَّهُ مُمْتِعٌ.</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أَسْتَمِعُ ___ المُوسِيقَى العَرَبِيَّةِ.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يَسْتَمِعُ</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preference sentence.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الرَّسْمَ مِنَ التَّصْوِيرِ.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الرَّسْمَ عَلَى التَّصْوِيرِ.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الرَّسْمُ عَلَى التَّصْوِيرَ.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object, and the less-preferred thing follows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in the genitive.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enjoyment sentence.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القِرَاءَةَ أَكْثَرَ مِنَ الغِنَاءِ.</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أَسْتَمْتِعُ بِالقِرَاءَةِ أَكْثَرَ مِنَ الغِنَاءِ.</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بِالقِرَاءَةُ أَكْثَرَ مِنَ الغِنَاءِ.</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أَسْتَمْتِعُ</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and a noun after a preposition is genitive.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adds a reason accurately.</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أَهْوَى تَسَلُّقَ الجِبَالِ حَقًّا لِأَنَّهَا مُمْتِعٌ.</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أَهْوَى تَسَلُّقُ الجِبَالِ حَقًّا لِأَنَّهُ مُمْتِعَةٌ.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أَهْوَى تَسَلُّقَ الجِبَالِ حَقًّا لِأَنَّهُ مُمْتِعٌ.</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تَسَلُّق</a:t>
            </a:r>
            <a:pPr algn="l" indent="0" marL="0">
              <a:buNone/>
            </a:pPr>
            <a:r>
              <a:rPr lang="en-US" sz="1050" i="1" dirty="0">
                <a:solidFill>
                  <a:srgbClr val="8A6D1E"/>
                </a:solidFill>
                <a:latin typeface="Calibri" pitchFamily="34" charset="0"/>
                <a:ea typeface="Calibri" pitchFamily="34" charset="-122"/>
                <a:cs typeface="Calibri" pitchFamily="34" charset="-120"/>
              </a:rPr>
              <a:t> is masculine and is the object of </a:t>
            </a:r>
            <a:pPr algn="l" indent="0" marL="0">
              <a:buNone/>
            </a:pPr>
            <a:r>
              <a:rPr lang="ar-SA" altLang="en-US" sz="1350" dirty="0">
                <a:solidFill>
                  <a:srgbClr val="8A6D1E"/>
                </a:solidFill>
                <a:latin typeface="Amiri" pitchFamily="34" charset="0"/>
                <a:ea typeface="Amiri" pitchFamily="34" charset="-122"/>
                <a:cs typeface="Amiri" pitchFamily="34" charset="-120"/>
              </a:rPr>
              <a:t>أَهْوَى</a:t>
            </a:r>
            <a:pPr algn="l" indent="0" marL="0">
              <a:buNone/>
            </a:pPr>
            <a:r>
              <a:rPr lang="en-US" sz="1050" i="1" dirty="0">
                <a:solidFill>
                  <a:srgbClr val="8A6D1E"/>
                </a:solidFill>
                <a:latin typeface="Calibri" pitchFamily="34" charset="0"/>
                <a:ea typeface="Calibri" pitchFamily="34" charset="-122"/>
                <a:cs typeface="Calibri" pitchFamily="34" charset="-120"/>
              </a:rPr>
              <a:t>, so the pronoun and adjective are both masculine.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أَلْعَبُ السِّبَاحَةَ.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Swimming: game or activity?</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أَعْزِفُ البِيَانُو.</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Instrument → which partner word?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ثَلَاثَ مَرَّةٍ فِي الشَّهْرِ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three: marra or marrāt?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أَلْعَبُ السِّبَاحَةَ.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أُمَارِسُ السِّبَاحَةَ.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السِّبَاحَة</a:t>
            </a:r>
            <a:pPr algn="l" indent="0" marL="0">
              <a:buNone/>
            </a:pPr>
            <a:r>
              <a:rPr lang="en-US" sz="1150" b="1" dirty="0">
                <a:solidFill>
                  <a:srgbClr val="1B3B6F"/>
                </a:solidFill>
                <a:latin typeface="Calibri" pitchFamily="34" charset="0"/>
                <a:ea typeface="Calibri" pitchFamily="34" charset="-122"/>
                <a:cs typeface="Calibri" pitchFamily="34" charset="-120"/>
              </a:rPr>
              <a:t> is an activity, not a ball game, so it takes </a:t>
            </a:r>
            <a:pPr algn="l" indent="0" marL="0">
              <a:buNone/>
            </a:pPr>
            <a:r>
              <a:rPr lang="ar-SA" altLang="en-US" sz="1500" b="1" dirty="0">
                <a:solidFill>
                  <a:srgbClr val="1B3B6F"/>
                </a:solidFill>
                <a:latin typeface="Amiri" pitchFamily="34" charset="0"/>
                <a:ea typeface="Amiri" pitchFamily="34" charset="-122"/>
                <a:cs typeface="Amiri" pitchFamily="34" charset="-120"/>
              </a:rPr>
              <a:t>يُمَارِسُ</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أَعْزِفُ البِيَانُو.</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أَعْزِفُ عَلَى البِيَانُو.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يَعْزِفُ</a:t>
            </a:r>
            <a:pPr algn="l" indent="0" marL="0">
              <a:buNone/>
            </a:pPr>
            <a:r>
              <a:rPr lang="en-US" sz="1150" b="1" dirty="0">
                <a:solidFill>
                  <a:srgbClr val="1B3B6F"/>
                </a:solidFill>
                <a:latin typeface="Calibri" pitchFamily="34" charset="0"/>
                <a:ea typeface="Calibri" pitchFamily="34" charset="-122"/>
                <a:cs typeface="Calibri" pitchFamily="34" charset="-120"/>
              </a:rPr>
              <a:t> needs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عَلَى</a:t>
            </a:r>
            <a:pPr algn="l" indent="0" marL="0">
              <a:buNone/>
            </a:pPr>
            <a:r>
              <a:rPr lang="en-US" sz="1150" b="1" dirty="0">
                <a:solidFill>
                  <a:srgbClr val="1B3B6F"/>
                </a:solidFill>
                <a:latin typeface="Calibri" pitchFamily="34" charset="0"/>
                <a:ea typeface="Calibri" pitchFamily="34" charset="-122"/>
                <a:cs typeface="Calibri" pitchFamily="34" charset="-120"/>
              </a:rPr>
              <a:t> before the instrument.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ثَلَاثَ مَرَّةٍ فِي الشَّهْرِ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ثَلَاثَ مَرَّاتٍ فِي الشَّهْرِ</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from three to ten are followed by a genitive plural.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Listening: three students describe their free time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Salmā swim?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month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Salmā swim?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cheap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school requires it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relaxes her after study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do daily?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photographs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the oud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prefer?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 to sport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 to 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to music</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Laylā truly passionate about?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Basketball</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Photography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novels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يَوْمِيًّا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أَنَا سَلْمَى، وَأُمَارِسُ السِّبَاحَةَ مَرَّتَيْنِ فِي الأُسْبُوعِ لِأَنَّهَا تُرِيحُنِي بَعْدَ الدِّرَاسَةِ.</a:t>
            </a:r>
            <a:endParaRPr lang="ar-SA" sz="19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Salma, and I swim twice a week because it relaxes me after studying.</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وَقْتِ فَرَاغِي أَقْرَأُ الرِّوَايَاتِ.</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in my free time I read novels.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أَخِي يُوسُفُ فَيَعْزِفُ عَلَى العُودِ يَوْمِيًّا،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brother Yusuf, he plays the oud every day,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وَيَقُولُ إِنَّهُ يُفَضِّلُ المُوسِيقَى عَلَى الرِّيَاضَةِ.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he says that he prefers music to sport.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وَصَدِيقَتِي لَيْلَى تَلْعَبُ كُرَةَ السَّلَّةِ ثَلَاثَ مَرَّاتٍ فِي الشَّهْرِ فَقَطْ، لٰكِنَّهَا تَهْوَى التَّصْوِيرَ الفُوتُوغْرَافِيَّ حَقًّا.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my friend Layla plays basketball only three times a month, but she is truly passionate about photography.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Salmā swim?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 times a month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Salmā swim?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cheap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school requires it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relaxes her after study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gives the reason </a:t>
            </a:r>
            <a:pPr algn="l" indent="0" marL="0">
              <a:buNone/>
            </a:pPr>
            <a:r>
              <a:rPr lang="ar-SA" altLang="en-US" sz="1350" dirty="0">
                <a:solidFill>
                  <a:srgbClr val="8A6D1E"/>
                </a:solidFill>
                <a:latin typeface="Amiri" pitchFamily="34" charset="0"/>
                <a:ea typeface="Amiri" pitchFamily="34" charset="-122"/>
                <a:cs typeface="Amiri" pitchFamily="34" charset="-120"/>
              </a:rPr>
              <a:t>لِأَنَّهَا تُرِيحُنِي بَعْدَ الدِّرَاسَةِ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do daily?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Swims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photographs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Plays the oud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script says </a:t>
            </a:r>
            <a:pPr algn="l" indent="0" marL="0">
              <a:buNone/>
            </a:pPr>
            <a:r>
              <a:rPr lang="ar-SA" altLang="en-US" sz="1350" dirty="0">
                <a:solidFill>
                  <a:srgbClr val="8A6D1E"/>
                </a:solidFill>
                <a:latin typeface="Amiri" pitchFamily="34" charset="0"/>
                <a:ea typeface="Amiri" pitchFamily="34" charset="-122"/>
                <a:cs typeface="Amiri" pitchFamily="34" charset="-120"/>
              </a:rPr>
              <a:t>يَعْزِفُ عَلَى العُودِ يَوْمِيًّا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Yūsuf prefer?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Music to sport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 to 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to music</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يُفَضِّلُ المُوسِيقَى عَلَى الرِّيَاضَةِ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Laylā truly passionate about?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Basketball</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Photography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novels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plays basketball only occasionally but </a:t>
            </a:r>
            <a:pPr algn="l" indent="0" marL="0">
              <a:buNone/>
            </a:pPr>
            <a:r>
              <a:rPr lang="ar-SA" altLang="en-US" sz="1350" dirty="0">
                <a:solidFill>
                  <a:srgbClr val="8A6D1E"/>
                </a:solidFill>
                <a:latin typeface="Amiri" pitchFamily="34" charset="0"/>
                <a:ea typeface="Amiri" pitchFamily="34" charset="-122"/>
                <a:cs typeface="Amiri" pitchFamily="34" charset="-120"/>
              </a:rPr>
              <a:t>تَهْوَى التَّصْوِيرَ الفُوتُوغْرَافِيَّ حَقًّا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and 3.</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يَوْمِيًّا</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ثَلَاثَ مَرَّاتٍ</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Leisure survey showdown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Leisure survey showdown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Survey hobbies and sport, rank the most popular activities and report frequency, ability and reasons in connected sentences.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Survey: ask 3 classmates (on the mic or in the chat) about hobbies and sport.</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Record: the hobby, how often, and one reason.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Rank the most popular activities in the class (teacher tallies in the chat).</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back in the third person: he plays … twice a week because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Ask “mā hiwāyatuka?” and report one answer: “yal‘abu / tal‘abu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hobby + frequency + reason for two people.</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Report the class ranking with a comparison: “aktharu min …” and one ability (yastaṭī‘u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مَا هِوَايَتُكَ؟ / هِوَايَتُكِ؟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what is your hobby?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كَمْ مَرَّةً فِي الأُسْبُوعِ؟</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how many times a week?</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هِيَ تُمَارِسُ السِّبَاحَةَ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she goes swimming</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أَكْثَرُ هِوَايَةٍ شُهْرَةً هِيَ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most popular hobby is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Speaking: my hobby in thirty seconds</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وَقْتِ فَرَاغِكَ؟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هِوَايَتُكَ المُفَضَّلَةُ؟ وَكَمْ مَرَّةً تُمَارِسُهَا فِي الأُسْبُوعِ؟</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تُفَضِّلُ الرِّيَاضَةَ عَلَى المُوسِيقَى؟ لِمَاذَا؟</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فِي وَقْتِ فَرَاغِكَ مَعَ أَصْدِقَائِكَ؟</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وَقْتِ فَرَاغِي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34" charset="0"/>
                <a:ea typeface="Amiri" pitchFamily="34" charset="-122"/>
                <a:cs typeface="Amiri" pitchFamily="34" charset="-120"/>
              </a:rPr>
              <a:t>هِوَايَتِي المُفَضَّلَةُ ___ ، وَأُمَارِسُهَا ___ فِي الأُسْبُوعِ.</a:t>
            </a:r>
            <a:endParaRPr lang="ar-SA" sz="11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أُفَضِّلُ ___ عَلَى ___ لِأَنَّ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34" charset="0"/>
                <a:ea typeface="Amiri" pitchFamily="34" charset="-122"/>
                <a:cs typeface="Amiri" pitchFamily="34" charset="-120"/>
              </a:rPr>
              <a:t>مَعَ أَصْدِقَائِي ___ ، وَأَسْتَمْتِعُ بِـ ___ أَكْثَرَ مِنْ ___ .</a:t>
            </a:r>
            <a:endParaRPr lang="ar-SA" sz="12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هِوَايَتُكِ المُفَضَّلَةُ؟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(f.) favourite hobby?</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أُمَارِسُ السِّبَاحَةَ مَرَّتَيْنِ فِي الأُسْبُوعِ، وَأَسْتَمْتِعُ بِهَا كَثِيرًا.</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swim twice a week, and I enjoy it a lot.</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Core: six sentences with the vault and frames — one collocation and one frequency phrase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hobbies with the right verb, each with how often.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task: eight sentences about your free time.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Link them into a paragraph with a preference (ufaḍḍilu … ‘alā …) and a reason.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Stretch: compare two hobbies in one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Five collocation verbs, four frequency phrases, all three preference structures, amma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ثَلَاثَ مَرَّاتٍ فِي الشَّهْرِ.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three times a month.</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______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أَسْتَمْتِعُ بِـ ______ أَكْثَرَ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enjoy … more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أَهْوَى ______ حَقًّا.</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truly passionate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لِأَنَّهُ مُمْتِعٌ / لِأَنَّهَا مُمْتِعَةٌ.</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because it is enjoyable.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وَقْتِ فَرَاغِي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free time I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أَلْعَبُ كُرَةَ القَدَمِ.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play football.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أُمَارِسُ السِّبَاحَةَ.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go swimming.</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أَعْزِفُ عَلَى العُودِ.</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play the oud.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مَرَّةً / مَرَّتَيْنِ فِي الأُسْبُوعِ.</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once / twice a week.</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أَلْعَبُ  ·  أُمَارِسُ  ·  أَعْزِفُ عَلَى  ·  أَسْتَمِعُ إِلَى  ·  السِّبَاحَةَ  ·  الرَّسْمَ  ·  القِرَاءَةَ  ·  كُرَةَ القَدَمِ  ·  مَرَّةً  ·  مَرَّتَيْنِ  ·  يَوْمِيًّا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eight sentences about your hobbies. Use five different collocation verbs, four different frequency expressions and all three preference structures. Give a reason with </a:t>
            </a:r>
            <a:pPr algn="l" indent="0" marL="0">
              <a:buNone/>
            </a:pPr>
            <a:r>
              <a:rPr lang="ar-SA" altLang="en-US" sz="1750" b="1" dirty="0">
                <a:solidFill>
                  <a:srgbClr val="1F2A37"/>
                </a:solidFill>
                <a:latin typeface="Amiri" pitchFamily="34" charset="0"/>
                <a:ea typeface="Amiri" pitchFamily="34" charset="-122"/>
                <a:cs typeface="Amiri" pitchFamily="34" charset="-120"/>
              </a:rPr>
              <a:t>لِأَنَّ</a:t>
            </a:r>
            <a:pPr algn="l" indent="0" marL="0">
              <a:buNone/>
            </a:pPr>
            <a:r>
              <a:rPr lang="en-US" sz="1350" b="1" dirty="0">
                <a:solidFill>
                  <a:srgbClr val="1F2A37"/>
                </a:solidFill>
                <a:latin typeface="Calibri" pitchFamily="34" charset="0"/>
                <a:ea typeface="Calibri" pitchFamily="34" charset="-122"/>
                <a:cs typeface="Calibri" pitchFamily="34" charset="-120"/>
              </a:rPr>
              <a:t> for your favourite hobby.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Five different collocation verbs, each with the noun ending it requires.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different frequency expressions, including the dual </a:t>
            </a:r>
            <a:pPr algn="l" indent="0" marL="0">
              <a:buNone/>
            </a:pPr>
            <a:r>
              <a:rPr lang="ar-SA" altLang="en-US" sz="1550" dirty="0">
                <a:solidFill>
                  <a:srgbClr val="1F2A37"/>
                </a:solidFill>
                <a:latin typeface="Amiri" pitchFamily="34" charset="0"/>
                <a:ea typeface="Amiri" pitchFamily="34" charset="-122"/>
                <a:cs typeface="Amiri" pitchFamily="34" charset="-120"/>
              </a:rPr>
              <a:t>مَرَّتَيْنِ</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All three preference structures: </a:t>
            </a:r>
            <a:pPr algn="l" indent="0" marL="0">
              <a:buNone/>
            </a:pPr>
            <a:r>
              <a:rPr lang="ar-SA" altLang="en-US" sz="1550" dirty="0">
                <a:solidFill>
                  <a:srgbClr val="1F2A37"/>
                </a:solidFill>
                <a:latin typeface="Amiri" pitchFamily="34" charset="0"/>
                <a:ea typeface="Amiri" pitchFamily="34" charset="-122"/>
                <a:cs typeface="Amiri" pitchFamily="34" charset="-120"/>
              </a:rPr>
              <a:t>أُفَضِّلُ … عَلَى، أَسْتَمْتِعُ بِـ، أَهْوَى … حَقًّا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reason with </a:t>
            </a:r>
            <a:pPr algn="l" indent="0" marL="0">
              <a:buNone/>
            </a:pPr>
            <a:r>
              <a:rPr lang="ar-SA" altLang="en-US" sz="1550" dirty="0">
                <a:solidFill>
                  <a:srgbClr val="1F2A37"/>
                </a:solidFill>
                <a:latin typeface="Amiri" pitchFamily="34" charset="0"/>
                <a:ea typeface="Amiri" pitchFamily="34" charset="-122"/>
                <a:cs typeface="Amiri" pitchFamily="34" charset="-120"/>
              </a:rPr>
              <a:t>لِأَنَّ</a:t>
            </a:r>
            <a:pPr algn="l" indent="0" marL="0">
              <a:buNone/>
            </a:pPr>
            <a:r>
              <a:rPr lang="en-US" sz="1200" dirty="0">
                <a:solidFill>
                  <a:srgbClr val="1F2A37"/>
                </a:solidFill>
                <a:latin typeface="Calibri" pitchFamily="34" charset="0"/>
                <a:ea typeface="Calibri" pitchFamily="34" charset="-122"/>
                <a:cs typeface="Calibri" pitchFamily="34" charset="-120"/>
              </a:rPr>
              <a:t> where the pronoun matches its noun in gender.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أُفَضِّلُ الأَنْشِطَةَ الهَادِئَةَ عَلَى الأَلْعَابِ السَّرِيعَةِ</a:t>
            </a:r>
            <a:endParaRPr lang="ar-SA" sz="15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prefer quiet activities to fast games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وَمَعَ ذٰلِكَ أُشَاهِدُ المُبَارَاةَ أَحْيَانًا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even so, I sometimes watch the match</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هِوَايَتِي المُفَضَّلَةُ فَهِيَ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my favourite hobby, it is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وَأَهْوَاهُ حَقًّا لِأَنَّهُ يَجْعَلُنِي سَعِيدًا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I truly love it because it makes me happy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نَتَنَاقَشُ فِيهَا طَوِيلًا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discuss it for a long time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وَقْتِ فَرَاغِي أُمَارِسُ السِّبَاحَةَ مَرَّتَيْنِ فِي الأُسْبُوعِ، وَأَلْعَبُ كُرَةَ السَّلَّةِ مَرَّةً فِي الأُسْبُوعِ. وَأَعْزِفُ عَلَى العُودِ يَوْمِيًّا لِأَنَّ المُوسِيقَى تُرِيحُنِي. أُفَضِّلُ الأَنْشِطَةَ الهَادِئَةَ عَلَى الأَلْعَابِ السَّرِيعَةِ، وَأَسْتَمْتِعُ بِالقِرَاءَةِ أَكْثَرَ مِنْ مُشَاهَدَةِ الأَفْلَامِ. أَمَّا هِوَايَتِي المُفَضَّلَةُ فَهِيَ الرَّسْمُ، وَأَهْوَاهُ حَقًّا لِأَنَّهُ يَجْعَلُنِي سَعِيدًا.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In my free time I go swimming twice a week, and I play basketball once a week. And I play the oud every day because music relaxes me. I prefer quiet activities to fast games, and I enjoy reading more than watching films. As for my favourite hobby, it is drawing, and I am truly passionate about it because it makes me happy.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five collocation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dual marratayni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ufaḍḍilu … ‘alā …</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li’anna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hobby has the right verb.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how often.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Twice = marratayni; 3–10 = marrātin.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ufaḍḍilu … ‘alā …</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Three preference structures + a matching reason pronoun.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collocation.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يُمَارِسُ تَسَلُّقَ الجِبَالِ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يَلْعَبُ تَسَلُّقَ الجِبَالِ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يَعْزِفُ تَسَلُّقَ الجِبَالِ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frequency phrase.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مَرَّتَانِ فِي الشَّهْرِ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الشَّهْرِ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الشَّهْرِ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أَسْتَمِعُ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المُوسِيقَى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collocation.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يُمَارِسُ تَسَلُّقَ الجِبَالِ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يَلْعَبُ تَسَلُّقَ الجِبَالِ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يَعْزِفُ تَسَلُّقَ الجِبَالِ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Mountain climbing is a sustained activity, so it takes </a:t>
            </a:r>
            <a:pPr algn="l" indent="0" marL="0">
              <a:buNone/>
            </a:pPr>
            <a:r>
              <a:rPr lang="ar-SA" altLang="en-US" sz="1350" dirty="0">
                <a:solidFill>
                  <a:srgbClr val="8A6D1E"/>
                </a:solidFill>
                <a:latin typeface="Amiri" pitchFamily="34" charset="0"/>
                <a:ea typeface="Amiri" pitchFamily="34" charset="-122"/>
                <a:cs typeface="Amiri" pitchFamily="34" charset="-120"/>
              </a:rPr>
              <a:t>يُمَارِسُ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frequency phrase.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مَرَّتَانِ فِي الشَّهْرِ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مَرَّتَيْنِ فِي الشَّهْرِ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مَرَّتَيْنَ فِي الشَّهْرِ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in an adverbial accusative is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preposition: </a:t>
            </a:r>
            <a:pPr algn="l" indent="0" marL="0">
              <a:buNone/>
            </a:pPr>
            <a:r>
              <a:rPr lang="ar-SA" altLang="en-US" sz="1650" b="1" dirty="0">
                <a:solidFill>
                  <a:srgbClr val="1B3B6F"/>
                </a:solidFill>
                <a:latin typeface="Amiri" pitchFamily="34" charset="0"/>
                <a:ea typeface="Amiri" pitchFamily="34" charset="-122"/>
                <a:cs typeface="Amiri" pitchFamily="34" charset="-120"/>
              </a:rPr>
              <a:t>أَسْتَمِعُ</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المُوسِيقَى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بِـ</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يَسْتَمِعُ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free-time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وَقْتِ فَرَاغِي أُمَارِسُ رِيَاضَةَ اليُوغَا مَرَّةً فِي الأُسْبُوعِ، وَأَرْكَبُ الدَّرَّاجَةَ مَعَ أَصْدِقَائِي فِي نِهَايَةِ الأُسْبُوعِ. وَأَنَا أُفَضِّلُ الأَنْشِطَةَ الهَادِئَةَ عَلَى الأَلْعَابِ السَّرِيعَةِ، لِأَنَّنِي أَسْتَمْتِعُ بِالقِرَاءَةِ وَالرَّسْمِ أَكْثَرَ مِنَ المُبَارَيَاتِ. وَمَعَ ذٰلِكَ أُشَاهِدُ مُبَارَاةَ كُرَةِ القَدَمِ أَحْيَانًا مَعَ أَبِي، وَنَتَنَاقَشُ فِيهَا طَوِيلًا. أَمَّا هِوَايَتِي المُفَضَّلَةُ فَهِيَ الغِنَاءُ، وَأَهْوَاهُ حَقًّا لِأَنَّهُ يَجْعَلُنِي سَعِيدَةً.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وَقْتِ فَرَاغِي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my free time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أَرْكَبُ الدَّرَّاجَةَ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ride a bike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نِهَايَةِ الأُسْبُوعِ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at the weekend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الأَنْشِطَةَ الهَادِئَةَ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 activities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الأَلْعَابِ السَّرِيعَةِ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fast games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المُبَارَيَاتِ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matches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وَمَعَ ذٰلِكَ</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even so</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نَتَنَاقَشُ</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discuss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طَوِيلًا</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for a long time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يَجْعَلُنِي سَعِيدَةً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makes me happy (f.)</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writer do yoga?</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prefer?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Fast games to quiet activities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Team sport to reading</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Quiet activities to fast games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with her father?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Watches a football match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Cycles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her favourite hobby?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Yoga</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Singing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Drawing</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love it?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makes her happy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free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do it</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the writer do yoga?</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week</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says </a:t>
            </a:r>
            <a:pPr algn="l" indent="0" marL="0">
              <a:buNone/>
            </a:pPr>
            <a:r>
              <a:rPr lang="ar-SA" altLang="en-US" sz="1350" dirty="0">
                <a:solidFill>
                  <a:srgbClr val="8A6D1E"/>
                </a:solidFill>
                <a:latin typeface="Amiri" pitchFamily="34" charset="0"/>
                <a:ea typeface="Amiri" pitchFamily="34" charset="-122"/>
                <a:cs typeface="Amiri" pitchFamily="34" charset="-120"/>
              </a:rPr>
              <a:t>مَرَّةً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prefer?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Fast games to quiet activities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Team sport to reading</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Quiet activities to fast games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أُفَضِّلُ الأَنْشِطَةَ الهَادِئَةَ عَلَى الأَلْعَابِ السَّرِيعَةِ.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do with her father?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Watches a football match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Cycles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أُشَاهِدُ مُبَارَاةَ كُرَةِ القَدَمِ أَحْيَانًا مَعَ أَبِي.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her favourite hobby?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Yoga</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Singing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Drawing</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هِوَايَتِي المُفَضَّلَةُ فَهِيَ الغِنَاءُ.</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love it?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makes her happy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free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friends do it</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يَجْعَلُنِي سَعِيدَةً.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Free-Time Mission — Collocation, Frequency and Preference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football collocation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أُمَارِسُ كُرَةَ القَدَمِ فِي المَلْعَبِ.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أَلْعَبُ كُرَةَ القَدَمِ فِي المَلْعَبِ.</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أَعْزِفُ عَلَى كُرَةِ القَدَمِ.</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instrument collocation accurately?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عَلَى الكَمَانِ بِمَهَارَةٍ.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تَعْزِفُ الكَمَانَ بِمَهَارَةٍ.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تُمَارِسُ عَلَى الكَمَانِ بِمَهَارَةٍ.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 for “twice a week”?</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مَرَّتَانِ فِي الأُسْبُوعِ</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 فِي الأُسْبُوعِ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ranks two hobbies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الغِنَاءَ مِنَ الرَّسْمِ.</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الغِنَاءُ عَلَى الرَّسْمَ.</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أُفَضِّلُ الغِنَاءَ عَلَى الرَّسْمِ.</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أَسْتَمْتِعُ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بِرُكُوبِ الدَّرَّاجَةِ.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رُكُوبَ الدَّرَّاجَةِ.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أَسْتَمْتِعُ عَلَى رُكُوبِ الدَّرَّاجَةِ.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an activity, a frequency and a reason?</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أُمَارِسُ اليُوغَا لِأَنَّهَا.</a:t>
            </a:r>
            <a:endParaRPr lang="ar-SA" sz="14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أُمَارِسُ اليُوغَا مَرَّةً فِي الأُسْبُوعِ لِأَنَّهَا تُرِيحُنِي.</a:t>
            </a:r>
            <a:endParaRPr lang="ar-SA" sz="14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34" charset="0"/>
                <a:ea typeface="Amiri" pitchFamily="34" charset="-122"/>
                <a:cs typeface="Amiri" pitchFamily="34" charset="-120"/>
              </a:rPr>
              <a:t>اليُوغَا مَرَّةً أُمَارِسُ.</a:t>
            </a:r>
            <a:endParaRPr lang="ar-SA" sz="1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football collocation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أُمَارِسُ كُرَةَ القَدَمِ فِي المَلْعَبِ.</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أَلْعَبُ كُرَةَ القَدَمِ فِي المَلْعَبِ.</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أَعْزِفُ عَلَى كُرَةِ القَدَمِ.</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Ball games take </a:t>
            </a:r>
            <a:pPr algn="l" indent="0" marL="0">
              <a:buNone/>
            </a:pPr>
            <a:r>
              <a:rPr lang="ar-SA" altLang="en-US" sz="1350" dirty="0">
                <a:solidFill>
                  <a:srgbClr val="8A6D1E"/>
                </a:solidFill>
                <a:latin typeface="Amiri" pitchFamily="34" charset="0"/>
                <a:ea typeface="Amiri" pitchFamily="34" charset="-122"/>
                <a:cs typeface="Amiri" pitchFamily="34" charset="-120"/>
              </a:rPr>
              <a:t>يَلْعَبُ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the instrument collocation accurately?</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تَعْزِفُ عَلَى الكَمَانِ بِمَهَارَةٍ.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تَعْزِفُ الكَمَانَ بِمَهَارَةٍ.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تُمَارِسُ عَلَى الكَمَانِ بِمَهَارَةٍ.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يَعْزِفُ</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and the instrument is genitive.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frequency phrase is accurate for “twice a week”?</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مَرَّتَانِ فِي الأُسْبُوعِ</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مَرَّتَيْنِ فِي الأُسْبُوعُ</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مَرَّتَيْنِ فِي الأُسْبُوعِ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dual is </a:t>
            </a:r>
            <a:pPr algn="l" indent="0" marL="0">
              <a:buNone/>
            </a:pPr>
            <a:r>
              <a:rPr lang="ar-SA" altLang="en-US" sz="1350" dirty="0">
                <a:solidFill>
                  <a:srgbClr val="8A6D1E"/>
                </a:solidFill>
                <a:latin typeface="Amiri" pitchFamily="34" charset="0"/>
                <a:ea typeface="Amiri" pitchFamily="34" charset="-122"/>
                <a:cs typeface="Amiri" pitchFamily="34" charset="-120"/>
              </a:rPr>
              <a:t>مَرَّتَيْنِ</a:t>
            </a:r>
            <a:pPr algn="l" indent="0" marL="0">
              <a:buNone/>
            </a:pPr>
            <a:r>
              <a:rPr lang="en-US" sz="1050" i="1" dirty="0">
                <a:solidFill>
                  <a:srgbClr val="8A6D1E"/>
                </a:solidFill>
                <a:latin typeface="Calibri" pitchFamily="34" charset="0"/>
                <a:ea typeface="Calibri" pitchFamily="34" charset="-122"/>
                <a:cs typeface="Calibri" pitchFamily="34" charset="-120"/>
              </a:rPr>
              <a:t> and the noun after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is genitive.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ranks two hobbies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الغِنَاءَ مِنَ الرَّسْمِ.</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أُفَضِّلُ الغِنَاءُ عَلَى الرَّسْمَ.</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أُفَضِّلُ الغِنَاءَ عَلَى الرَّسْمِ.</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أُفَضِّلُ</a:t>
            </a:r>
            <a:pPr algn="l" indent="0" marL="0">
              <a:buNone/>
            </a:pPr>
            <a:r>
              <a:rPr lang="en-US" sz="1050" i="1" dirty="0">
                <a:solidFill>
                  <a:srgbClr val="8A6D1E"/>
                </a:solidFill>
                <a:latin typeface="Calibri" pitchFamily="34" charset="0"/>
                <a:ea typeface="Calibri" pitchFamily="34" charset="-122"/>
                <a:cs typeface="Calibri" pitchFamily="34" charset="-120"/>
              </a:rPr>
              <a:t> takes an accusative object and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with the genitive.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uses </a:t>
            </a:r>
            <a:pPr algn="l" indent="0" marL="0">
              <a:buNone/>
            </a:pPr>
            <a:r>
              <a:rPr lang="ar-SA" altLang="en-US" sz="1650" b="1" dirty="0">
                <a:solidFill>
                  <a:srgbClr val="1B3B6F"/>
                </a:solidFill>
                <a:latin typeface="Amiri" pitchFamily="34" charset="0"/>
                <a:ea typeface="Amiri" pitchFamily="34" charset="-122"/>
                <a:cs typeface="Amiri" pitchFamily="34" charset="-120"/>
              </a:rPr>
              <a:t>أَسْتَمْتِعُ</a:t>
            </a:r>
            <a:pPr algn="l" indent="0" marL="0">
              <a:buNone/>
            </a:pPr>
            <a:r>
              <a:rPr lang="en-US" sz="1250" b="1" dirty="0">
                <a:solidFill>
                  <a:srgbClr val="1B3B6F"/>
                </a:solidFill>
                <a:latin typeface="Calibri" pitchFamily="34" charset="0"/>
                <a:ea typeface="Calibri" pitchFamily="34" charset="-122"/>
                <a:cs typeface="Calibri" pitchFamily="34" charset="-120"/>
              </a:rPr>
              <a:t> accurately?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أَسْتَمْتِعُ بِرُكُوبِ الدَّرَّاجَةِ.</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رُكُوبَ الدَّرَّاجَةِ.</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أَسْتَمْتِعُ عَلَى رُكُوبِ الدَّرَّاجَةِ.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أَسْتَمْتِعُ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gives an activity, a frequency and a reason?</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أُمَارِسُ اليُوغَا لِأَنَّهَا.</a:t>
            </a:r>
            <a:endParaRPr lang="ar-SA" sz="14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أُمَارِسُ اليُوغَا مَرَّةً فِي الأُسْبُوعِ لِأَنَّهَا تُرِيحُنِي.</a:t>
            </a:r>
            <a:endParaRPr lang="ar-SA" sz="14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34" charset="0"/>
                <a:ea typeface="Amiri" pitchFamily="34" charset="-122"/>
                <a:cs typeface="Amiri" pitchFamily="34" charset="-120"/>
              </a:rPr>
              <a:t>اليُوغَا مَرَّةً أُمَارِسُ.</a:t>
            </a:r>
            <a:endParaRPr lang="ar-SA" sz="14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accurate answer names the activity, states how often and gives a reason.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TB-L08 · Hobbies and Free Time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TB-L09 · Invitations, Holidays and Past Experiences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سَافَرْتُ إِلَى</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travelled to</a:t>
            </a:r>
            <a:pPr indent="0" marL="0">
              <a:buNone/>
            </a:pPr>
            <a:r>
              <a:rPr lang="en-US" sz="1000" i="1" dirty="0">
                <a:solidFill>
                  <a:srgbClr val="5A6472"/>
                </a:solidFill>
                <a:latin typeface="Calibri" pitchFamily="34" charset="0"/>
                <a:ea typeface="Calibri" pitchFamily="34" charset="-122"/>
                <a:cs typeface="Calibri" pitchFamily="34" charset="-120"/>
              </a:rPr>
              <a:t>  he: سَافَرَ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زُرْتُ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visited</a:t>
            </a:r>
            <a:pPr indent="0" marL="0">
              <a:buNone/>
            </a:pPr>
            <a:r>
              <a:rPr lang="en-US" sz="1000" i="1" dirty="0">
                <a:solidFill>
                  <a:srgbClr val="5A6472"/>
                </a:solidFill>
                <a:latin typeface="Calibri" pitchFamily="34" charset="0"/>
                <a:ea typeface="Calibri" pitchFamily="34" charset="-122"/>
                <a:cs typeface="Calibri" pitchFamily="34" charset="-120"/>
              </a:rPr>
              <a:t>  he: زَارَ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أَقَمْتُ فِي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stayed in</a:t>
            </a:r>
            <a:pPr indent="0" marL="0">
              <a:buNone/>
            </a:pPr>
            <a:r>
              <a:rPr lang="en-US" sz="1000" i="1" dirty="0">
                <a:solidFill>
                  <a:srgbClr val="5A6472"/>
                </a:solidFill>
                <a:latin typeface="Calibri" pitchFamily="34" charset="0"/>
                <a:ea typeface="Calibri" pitchFamily="34" charset="-122"/>
                <a:cs typeface="Calibri" pitchFamily="34" charset="-120"/>
              </a:rPr>
              <a:t>  he: أَقَامَ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رِحْلَةٌ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trip</a:t>
            </a:r>
            <a:pPr indent="0" marL="0">
              <a:buNone/>
            </a:pPr>
            <a:r>
              <a:rPr lang="en-US" sz="1000" i="1" dirty="0">
                <a:solidFill>
                  <a:srgbClr val="5A6472"/>
                </a:solidFill>
                <a:latin typeface="Calibri" pitchFamily="34" charset="0"/>
                <a:ea typeface="Calibri" pitchFamily="34" charset="-122"/>
                <a:cs typeface="Calibri" pitchFamily="34" charset="-120"/>
              </a:rPr>
              <a:t>  pl. رِحْلَاتٌ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سَأَزُورُ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will visit</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Where did you go on your last holiday or day out? One sentence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أَيْنَ سَافَرْتَ فِي العُطْلَةِ؟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TB-L08: the picture game and the sorter — learn 10 hobbies with their verbs.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eight sentences about your free time.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Survey three people at home and write a report in the third person (he / she).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ea typeface="Cambria" pitchFamily="34" charset="-122"/>
                <a:cs typeface="Cambria" pitchFamily="34" charset="-120"/>
              </a:rPr>
              <a:t>TB-L09 · Invitations, Holidays and Past Experiences</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الدَّعَوَاتُ وَالعُطَلُ وَالتَّجَارِبُ المَاضِيَةُ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travel words — visited is zurtu!</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TB-L08 · Hobbies, Sport and Free Time</dc:title>
  <dc:subject>PptxGenJS Presentation</dc:subject>
  <dc:creator>Al Madina Online School · Arabic Department</dc:creator>
  <cp:lastModifiedBy>Al Madina Online School · Arabic Department</cp:lastModifiedBy>
  <cp:revision>1</cp:revision>
  <dcterms:created xsi:type="dcterms:W3CDTF">2026-09-27T12:59:18Z</dcterms:created>
  <dcterms:modified xsi:type="dcterms:W3CDTF">2026-09-27T12:59:18Z</dcterms:modified>
</cp:coreProperties>
</file>