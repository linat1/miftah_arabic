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ADVANCED TOPIC B · TB-L08 — Hobbies, Sport and Free Time. Website: Advanced Topics › Topic B (Personal and Social Life) › Lesson 8.
The website builds this lesson on the D5-L01 lesson engine, with the Topic focus “Discuss regular activities, preferences, ability and the value of leisure.” (grammar: Present tense; verbal nouns; frequency; reasons; skills: Reading · Speaking) and the application challenge “Leisure survey showdown”. This deck follows the same engine, re-sequenced for Topic B: lesson references now point to Topic B codes (lessons outside Topic B keep their website code), and the challenge is added before the speaking task.
No year group: Topic lessons are taught to any class following the Advanced Topics route.
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Advanced Topics › Topic B › Lesson 8 (TB-L08), lesson engine Pathways › Development › D5 › TB-L08. The website lesson “Hobbies and Free Time — Vocabulary and Present Habits”: vocabulary, grammar rules and quiz, patterns, common mistakes, sorter, listening, reading, speaking prompts and model, writing task and model, differentiation, final check and the lesson mission. Picture match: website visual game “Hobbies and Free Time — Vocabulary and Present Habits”.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10 hobbies + the right verb (أَلْعَبُ / أُمَارِسُ / أَعْزِفُ عَلَى / أَسْتَمِعُ إِلَى) + one frequency phrase. Develop: مَرَّةً / مَرَّتَيْنِ / ثَلَاثَ مَرَّاتٍ + a preference (أُفَضِّلُ … عَلَى …). Stretch: all three preference structures with a reason, and a partner’s habits in the third person (for the survey).
• The website’s big idea: learn the whole collocation (verb + preposition + noun), not the single verb — Arabic does not “play” swimming.
• Links: TB-L01–L02 (he / she forms for the survey report), AT-A-L03 frequency words (دَائِمًا، أَحْيَانًا) and the dual from Topic B.
• Urdu bridge: شوق (hobby, passion), مشق (practice) — ممارسة, موسیقی ← المُوسِيقَى, تصویر (picture) ← التَّصْوِيرُ, فلم ← فِيلْمٌ / أَفْلَامٌ.
• TEACHER-WRITTEN ITEMS: the website TB-L08 model patterns have no English translation, so the deck adds teacher-written translations (the Arabic is the website’s).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free-time words prepared at home at the end of TB-L07. Questions 3–5 retrieve TB-L06–L07 (colour agreement), TB-L01 (she-verbs) and a frequency word.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Learn the verb WITH its partner: play a ball game, practise an activity, play ON an instrument, listen TO music.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موسیقی and تصویر are the same words; ریاضت in Urdu is spiritual discipline or exercise — in Arabic الرِّيَاضَةُ is simply sport. مشق (practice) is the same idea as يُمَارِسُ but a different root.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Hobbies and activities (website vocabulary (1 of 4)). Hear → Say → See → Use. Transliteration is printed for Core students (cover it for Develop/Stretch).
Every verb card shows I · he · she (for the survey report). The hobby noun after يَلْعَبُ / يُمَارِسُ ends in -a (object): أَلْعَبُ كُرَةَ القَدَمِ.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Hobbies and activities (website vocabulary (2 of 4)). Hear → Say → See → Use. Transliteration is printed for Core students (cover it for Develop/Stretch).
Every verb card shows I · he · she (for the survey report). The hobby noun after يَلْعَبُ / يُمَارِسُ ends in -a (object): أَلْعَبُ كُرَةَ القَدَمِ.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Hobbies and activities (website vocabulary (3 of 4)). Hear → Say → See → Use. Transliteration is printed for Core students (cover it for Develop/Stretch).
FLEX: teach if time allows; otherwise these are on the website vocabulary tab for homework.
Every verb card shows I · he · she (for the survey report). The hobby noun after يَلْعَبُ / يُمَارِسُ ends in -a (object): أَلْعَبُ كُرَةَ القَدَمِ.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Hobbies and activities (website vocabulary (4 of 4)). Hear → Say → See → Use. Transliteration is printed for Core students (cover it for Develop/Stretch).
FLEX: teach if time allows; otherwise these are on the website vocabulary tab for homework.
Every verb card shows I · he · she (for the survey report). The hobby noun after يَلْعَبُ / يُمَارِسُ ends in -a (object): أَلْعَبُ كُرَةَ القَدَمِ.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often (website vocabulary). Hear → Say → See → Use. Transliteration is printed for Core students (cover it for Develop/Stretch).
FLEX: teach if time allows; otherwise these are on the website vocabulary tab for homework.
FLEX: frequency — taught on the grammar slide (مَرَّةً، مَرَّتَيْنِ، ثَلَاثَ مَرَّاتٍ).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Saying what you prefer (website vocabulary). Hear → Say → See → Use. Transliteration is printed for Core students (cover it for Develop/Stretch).
FLEX: teach if time allows; otherwise these are on the website vocabulary tab for homework.
FLEX: preference — taught on the grammar slide (أُفَضِّلُ … عَلَى، أَسْتَمْتِعُ بِـ، أَهْوَى … حَقًّا).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rules “يَلْعَبُ with ball games”, “يُمَارِسُ with an activity noun”, “يَعْزِفُ عَلَى with an instrument” and the website collocation table (with يَسْتَمِعُ إِلَى).
Website common error: choosing a sentence only because it contains the right hobby word — check verb, preposition and ending.
Quick-fire: say a hobby; students type the verb (كُرَةُ القَدَمِ → أَلْعَبُ · السِّبَاحَةُ → أُمَارِسُ · العُودُ → أَعْزِفُ عَلَى).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website rule “Frequency after a number” (مَرَّةً / مَرَّتَيْنِ / ثَلَاثَ مَرَّاتٍ + فِي + period) and the website preference structures: أُفَضِّلُ … عَلَى … · أَسْتَمْتِعُ بِـ … أَكْثَرَ مِنْ … · أَهْوَى … حَقًّا (I am truly passionate about).
Other frequency words (website): يَوْمِيًّا (daily), نَادِرًا (rarely), فِي وَقْتِ فَرَاغِي (in my free time). Topic A link: دَائِمًا، أَحْيَانًا، لَا … أَبَدًا.
Reason: لِأَنَّهُ / لِأَنَّهَا مُمْتِعٌ / مُمْتِعَةٌ — the pronoun matches the hobby noun (السِّبَاحَةُ f. → لِأَنَّهَا).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Website overview: “Three systems carry this lesson: choosing the right verb for the activity, saying how often, and ranking two activities against each other. Study each in context and compare an accurate sentence with a plausible but wrong one.”
• يَلْعَبُ with ball games: يَلْعَبُ is used for games played with a ball or a board. The noun that follows is the direct object and therefore accusative.
• يُمَارِسُ with an activity noun: يُمَارِسُ suits a sustained activity or discipline rather than a game. The activity noun that follows is accusative.
• يَعْزِفُ عَلَى with an instrument: The preposition عَلَى is fixed with يَعْزِفُ, and the instrument after it is genitive. The Cambridge list also records the verbal noun form العَزْفُ بِـ, so recognise both.
• Frequency after a number: مَرَّةً is adverbial and accusative. مَرَّتَيْنِ is the dual. From three to ten the counted noun becomes a genitive plural: ثَلَاثَ مَرَّاتٍ.
Website common error: Do not choose a sentence only because it contains the right hobby word. Check that the verb matches the kind of activity, that the preposition is the fixed one, and that the ending on the noun follows from its role.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built from the website listening (Salma swims twice a week; Yusuf plays the oud daily and prefers music to sport). Think aloud before each verb: “ball game, activity, instrument or sound?”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Hobbies and Free Time — Vocabulary and Present Habits”)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Stretch: turn each into “he / she” for the survey report (يُحِبُّ القِرَاءَةَ / تَسْتَمِعُ إِلَى المُوسِيقَى). Other cards for homework: أَلْعَبُ أَلْعَابَ الفِيدْيُو، أُحِبُّ السِّبَاحَةَ، أُحِبُّ المَشْيَ فِي الحَدِيقَةِ.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Hobbies and Free Time — Vocabulary and Present Habits”)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Stretch: turn each into “he / she” for the survey report (يُحِبُّ القِرَاءَةَ / تَسْتَمِعُ إِلَى المُوسِيقَى). Other cards for homework: أَلْعَبُ أَلْعَابَ الفِيدْيُو، أُحِبُّ السِّبَاحَةَ، أُحِبُّ المَشْيَ فِي الحَدِيقَةِ.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 website sorter has no title or instruction on the page; they are teacher-written here. Then: make one sentence from each column with a frequency phrase.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 website sorter has no title or instruction on the page; they are teacher-written here. Then: make one sentence from each column with a frequency phrase.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4,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and 3. Develop / Stretch: all 5.
Listen 1: just listen. Listen 2: note answers. Then chat the letters.
Support: after the second listening, show the read-along slide (Arabic + English, line by line) for Core students.
SCRIPT (read aloud):
أَنَا سَلْمَى، وَأُمَارِسُ السِّبَاحَةَ مَرَّتَيْنِ فِي الأُسْبُوعِ لِأَنَّهَا تُرِيحُنِي بَعْدَ الدِّرَاسَةِ. وَفِي وَقْتِ فَرَاغِي أَقْرَأُ الرِّوَايَاتِ. أَمَّا أَخِي يُوسُفُ فَيَعْزِفُ عَلَى العُودِ يَوْمِيًّا، وَيَقُولُ إِنَّهُ يُفَضِّلُ المُوسِيقَى عَلَى الرِّيَاضَةِ. وَصَدِيقَتِي لَيْلَى تَلْعَبُ كُرَةَ السَّلَّةِ ثَلَاثَ مَرَّاتٍ فِي الشَّهْرِ فَقَطْ، لٰكِنَّهَا تَهْوَى التَّصْوِيرَ الفُوتُوغْرَافِيَّ حَقًّا.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TOPIC B APPLICATION CHALLENGE (3 min — it takes the speaking-rehearsal slot; the website speaking slide after it is FLEX) — from the website Topic page: “Survey hobbies and sport, rank the most popular activities and report frequency, ability and reasons in connected sentences.”
Website Topic B challenge “Leisure survey showdown”: survey hobbies and sport, rank the most popular activities and report frequency, ability and reasons. Ability (Topic B layer): يَسْتَطِيعُ / تَسْتَطِيعُ أَنْ + verb (he / she can …) — e.g. تَسْتَطِيعُ أَنْ تَسْبَحَ جَيِّدًا.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FLEX — the Topic B challenge before this slide is the main speaking task; use these website prompts if time allows or as homework rehearsal.
SPEAKING REHEARSAL (3 min) — website speaking prompts (the Core prompt is teacher-made).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وَهَلْ تُفَضِّلِينَهَا عَلَى القِرَاءَةِ؟ (Follow-up)
B: نَعَمْ، أُفَضِّلُ السِّبَاحَةَ عَلَى القِرَاءَةِ لِأَنَّهَا تُرِيحُنِي بَعْدَ الدِّرَاسَةِ. (Preference with a reason)
Website instruction: speak for thirty seconds about one hobby without notes — collocation, frequency, a preference structure and a reason with لِأَنَّ. Website prompts 2–4; the Core prompt is teacher-made.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YOU DO (9 min writing). Steer routes using the Do Now and quick-check results.
Website differentiation tasks: Core — Use the vocabulary vault and the sentence frames to produce six accurate sentences with one collocation and one frequency phrase each. · Develop — Link your sentences into a paragraph, adding a preference structure and a reason with لِأَنَّ. · Stretch — Compare two hobbies in one sentence, qualify your view with مَعَ ذٰلِكَ or أَمَّا … فَـ, and keep every case ending accurate.
Website writing task (Stretch): Write eight sentences about your hobbies. Use five different collocation verbs, four different frequency expressions and all three preference structures. Give a reason with لِأَنَّ for your favourite hobby.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Evidence: أُمَارِسُ / أَلْعَبُ / أَعْزِفُ عَلَى / أَسْتَمْتِعُ بِـ / أَهْوَى · مَرَّتَيْنِ فِي الأُسْبُوعِ · أُفَضِّلُ الأَنْشِطَةَ الهَادِئَةَ عَلَى … · لِأَنَّ المُوسِيقَى تُرِيحُنِي.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(TB-L09 · Invitations, Holidays and Past Experiences) will spend class time USING this language, so students prepare it tonight — short, simple, easy to access (school guidance: “Simple, Short, Interesting, Relevant, Easy to access”). The five words come from the website TB-L09 vocabulary (the TB-L09 lesson engine).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1.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slideLayout" Target="../slideLayouts/slideLayout1.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B  ·  TB-L08</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TB-L08</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750" b="1" dirty="0">
                <a:solidFill>
                  <a:srgbClr val="FFFFFF"/>
                </a:solidFill>
                <a:latin typeface="Cambria" pitchFamily="34" charset="0"/>
                <a:cs typeface="Amiri" pitchFamily="2" charset="-78"/>
              </a:rPr>
              <a:t>Hobbies, Sport and Free Time</a:t>
            </a:r>
            <a:endParaRPr lang="en-US" sz="37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الهِوَايَاتُ وَالرِّيَاضَةُ وَوَقْتُ الفَرَاغِ</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Discuss regular activities, preferences, ability and the value of leisure.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TB-L08 · Advanced Topic B · Personal and Social Life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B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B › TB-L08</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TB-L08 · Hobbies and Free Time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TB-L08</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47</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TB-L08 · Hobbies and Free Time</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TB-L08</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Hobbies with the right verb, then how often and which you prefer.</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Picture match, sort the verbs, fix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TB-L09.</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47</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TB-L08 · Hobbies and Free Time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وَقْتُ الفَرَاغِ</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hobby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free time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weekend</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أَسْتَمِعُ إِلَى المُوسِيقَى</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listen to music</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play music</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like music</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blue shirt”.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قَمِيصٌ زَرْقَاءُ</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أَزْرَقُ قَمِيصٌ</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قَمِيصٌ أَزْرَقُ</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“She plays …”.</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يَلْعَبُ</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أَلْعَبُ</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تَلْعَبُ</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أَحْيَانًا</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sometimes</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always</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never</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47</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TB-L08 · Hobbies and Free Time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وَقْتُ الفَرَاغِ</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hobby</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free time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weekend</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(TB-L07).</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أَسْتَمِعُ إِلَى المُوسِيقَى</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 listen to music</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 play music</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 like music</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(TB-L07).</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blue shirt”.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قَمِيصٌ زَرْقَاءُ</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أَزْرَقُ قَمِيصٌ</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قَمِيصٌ أَزْرَقُ</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TB-L06–L07: noun first, colour agrees.</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“She plays …”.</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يَلْعَبُ</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أَلْعَبُ</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تَلْعَبُ</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TB-L01: she → ta-.</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أَحْيَانًا</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sometimes</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always</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never</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AT-A-L03 / Topic A frequency.</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Learn the verb WITH its partner: play a ball game, practise an activity, play ON an instrument, listen TO music.</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1D5FBF"/>
                </a:solidFill>
                <a:latin typeface="Amiri" pitchFamily="2" charset="-78"/>
                <a:ea typeface="Amiri" pitchFamily="2" charset="-78"/>
                <a:cs typeface="Amiri" pitchFamily="2" charset="-78"/>
              </a:rPr>
              <a:t>أَلْعَبُ</a:t>
            </a:r>
            <a:pPr rtl="1" algn="ctr" indent="0" marL="0">
              <a:lnSpc>
                <a:spcPct val="120000"/>
              </a:lnSpc>
              <a:buNone/>
            </a:pPr>
            <a:r>
              <a:rPr lang="ar-SA" altLang="en-US" sz="1800" b="1" dirty="0">
                <a:solidFill>
                  <a:srgbClr val="1B3B6F"/>
                </a:solidFill>
                <a:latin typeface="Amiri" pitchFamily="2" charset="-78"/>
                <a:ea typeface="Amiri" pitchFamily="2" charset="-78"/>
                <a:cs typeface="Amiri" pitchFamily="2" charset="-78"/>
              </a:rPr>
              <a:t> كُرَةَ القَدَمِ · </a:t>
            </a:r>
            <a:pPr rtl="1" algn="ctr" indent="0" marL="0">
              <a:lnSpc>
                <a:spcPct val="120000"/>
              </a:lnSpc>
              <a:buNone/>
            </a:pPr>
            <a:r>
              <a:rPr lang="ar-SA" altLang="en-US" sz="1800" b="1" dirty="0">
                <a:solidFill>
                  <a:srgbClr val="1D5FBF"/>
                </a:solidFill>
                <a:latin typeface="Amiri" pitchFamily="2" charset="-78"/>
                <a:ea typeface="Amiri" pitchFamily="2" charset="-78"/>
                <a:cs typeface="Amiri" pitchFamily="2" charset="-78"/>
              </a:rPr>
              <a:t>أُمَارِسُ</a:t>
            </a:r>
            <a:pPr rtl="1" algn="ctr" indent="0" marL="0">
              <a:lnSpc>
                <a:spcPct val="120000"/>
              </a:lnSpc>
              <a:buNone/>
            </a:pPr>
            <a:r>
              <a:rPr lang="ar-SA" altLang="en-US" sz="1800" b="1" dirty="0">
                <a:solidFill>
                  <a:srgbClr val="1B3B6F"/>
                </a:solidFill>
                <a:latin typeface="Amiri" pitchFamily="2" charset="-78"/>
                <a:ea typeface="Amiri" pitchFamily="2" charset="-78"/>
                <a:cs typeface="Amiri" pitchFamily="2" charset="-78"/>
              </a:rPr>
              <a:t> السِّبَاحَةَ · أَعْزِفُ </a:t>
            </a:r>
            <a:pPr rtl="1" algn="ctr" indent="0" marL="0">
              <a:lnSpc>
                <a:spcPct val="120000"/>
              </a:lnSpc>
              <a:buNone/>
            </a:pPr>
            <a:r>
              <a:rPr lang="ar-SA" altLang="en-US" sz="1800" b="1" dirty="0">
                <a:solidFill>
                  <a:srgbClr val="0E7C86"/>
                </a:solidFill>
                <a:latin typeface="Amiri" pitchFamily="2" charset="-78"/>
                <a:ea typeface="Amiri" pitchFamily="2" charset="-78"/>
                <a:cs typeface="Amiri" pitchFamily="2" charset="-78"/>
              </a:rPr>
              <a:t>عَلَى</a:t>
            </a:r>
            <a:pPr rtl="1" algn="ctr" indent="0" marL="0">
              <a:lnSpc>
                <a:spcPct val="120000"/>
              </a:lnSpc>
              <a:buNone/>
            </a:pPr>
            <a:r>
              <a:rPr lang="ar-SA" altLang="en-US" sz="1800" b="1" dirty="0">
                <a:solidFill>
                  <a:srgbClr val="1B3B6F"/>
                </a:solidFill>
                <a:latin typeface="Amiri" pitchFamily="2" charset="-78"/>
                <a:ea typeface="Amiri" pitchFamily="2" charset="-78"/>
                <a:cs typeface="Amiri" pitchFamily="2" charset="-78"/>
              </a:rPr>
              <a:t> العُودِ · أَسْتَمِعُ </a:t>
            </a:r>
            <a:pPr rtl="1" algn="ctr" indent="0" marL="0">
              <a:lnSpc>
                <a:spcPct val="120000"/>
              </a:lnSpc>
              <a:buNone/>
            </a:pPr>
            <a:r>
              <a:rPr lang="ar-SA" altLang="en-US" sz="1800" b="1" dirty="0">
                <a:solidFill>
                  <a:srgbClr val="0E7C86"/>
                </a:solidFill>
                <a:latin typeface="Amiri" pitchFamily="2" charset="-78"/>
                <a:ea typeface="Amiri" pitchFamily="2" charset="-78"/>
                <a:cs typeface="Amiri" pitchFamily="2" charset="-78"/>
              </a:rPr>
              <a:t>إِلَى</a:t>
            </a:r>
            <a:pPr rtl="1" algn="ctr" indent="0" marL="0">
              <a:lnSpc>
                <a:spcPct val="120000"/>
              </a:lnSpc>
              <a:buNone/>
            </a:pPr>
            <a:r>
              <a:rPr lang="ar-SA" altLang="en-US" sz="1800" b="1" dirty="0">
                <a:solidFill>
                  <a:srgbClr val="1B3B6F"/>
                </a:solidFill>
                <a:latin typeface="Amiri" pitchFamily="2" charset="-78"/>
                <a:ea typeface="Amiri" pitchFamily="2" charset="-78"/>
                <a:cs typeface="Amiri" pitchFamily="2" charset="-78"/>
              </a:rPr>
              <a:t> المُوسِيقَى</a:t>
            </a:r>
            <a:endParaRPr lang="ar-SA" sz="18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47</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TB-L08 · Hobbies and Free Time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TB-L08</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Name at least eighteen hobbies using the correct verb collocation.</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Describe how often you do a hobby using </a:t>
            </a:r>
            <a:pPr algn="l" indent="0" marL="0">
              <a:buNone/>
            </a:pPr>
            <a:r>
              <a:rPr lang="ar-SA" altLang="en-US" sz="1700" dirty="0">
                <a:solidFill>
                  <a:srgbClr val="1F2A37"/>
                </a:solidFill>
                <a:latin typeface="Amiri" pitchFamily="2" charset="-78"/>
                <a:ea typeface="Amiri" pitchFamily="2" charset="-78"/>
                <a:cs typeface="Amiri" pitchFamily="2" charset="-78"/>
              </a:rPr>
              <a:t>مَرَّةً / مَرَّتَيْنِ / ثَلَاثَ مَرَّاتٍ</a:t>
            </a:r>
            <a:pPr algn="l" indent="0" marL="0">
              <a:buNone/>
            </a:pPr>
            <a:r>
              <a:rPr lang="en-US" sz="1300" dirty="0">
                <a:solidFill>
                  <a:srgbClr val="1F2A37"/>
                </a:solidFill>
                <a:latin typeface="Calibri" pitchFamily="34" charset="0"/>
                <a:cs typeface="Amiri" pitchFamily="2" charset="-78"/>
              </a:rPr>
              <a:t> with a time period.</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Express preference using </a:t>
            </a:r>
            <a:pPr algn="l" indent="0" marL="0">
              <a:buNone/>
            </a:pPr>
            <a:r>
              <a:rPr lang="ar-SA" altLang="en-US" sz="1700" dirty="0">
                <a:solidFill>
                  <a:srgbClr val="1F2A37"/>
                </a:solidFill>
                <a:latin typeface="Amiri" pitchFamily="2" charset="-78"/>
                <a:ea typeface="Amiri" pitchFamily="2" charset="-78"/>
                <a:cs typeface="Amiri" pitchFamily="2" charset="-78"/>
              </a:rPr>
              <a:t>أُفَضِّلُ … عَلَى، أَسْتَمْتِعُ بِـ … أَكْثَرَ مِنْ،</a:t>
            </a:r>
            <a:pPr algn="l" indent="0" marL="0">
              <a:buNone/>
            </a:pPr>
            <a:r>
              <a:rPr lang="en-US" sz="1300" dirty="0">
                <a:solidFill>
                  <a:srgbClr val="1F2A37"/>
                </a:solidFill>
                <a:latin typeface="Calibri" pitchFamily="34" charset="0"/>
                <a:cs typeface="Amiri" pitchFamily="2" charset="-78"/>
              </a:rPr>
              <a:t> and </a:t>
            </a:r>
            <a:pPr algn="l" indent="0" marL="0">
              <a:buNone/>
            </a:pPr>
            <a:r>
              <a:rPr lang="ar-SA" altLang="en-US" sz="1700" dirty="0">
                <a:solidFill>
                  <a:srgbClr val="1F2A37"/>
                </a:solidFill>
                <a:latin typeface="Amiri" pitchFamily="2" charset="-78"/>
                <a:ea typeface="Amiri" pitchFamily="2" charset="-78"/>
                <a:cs typeface="Amiri" pitchFamily="2" charset="-78"/>
              </a:rPr>
              <a:t>أَهْوَى … حَقًّا</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Choose the right verb for the right activity instead of translating word by word.</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10 hobbies with the right verb.</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how often I do one.</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use once / twice / three times a week.</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say which hobby I prefer (ufaḍḍilu … ‘alā …).</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use three preference structures with a reason.</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report a partner’s habits (he / she).</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47</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32 free-time words from the website in 3 groups. Core: 10 hobbies with their verbs. The other hobbies, frequency and preference words are taught on the grammar slides and are on the website for homework.</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Hobbies and activities · 20</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How often · 6</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Saying what you prefer · 6</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هِوَايَةٌ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‎شوق‎ </a:t>
            </a:r>
            <a:pPr indent="0" marL="0">
              <a:buNone/>
            </a:pPr>
            <a:r>
              <a:rPr lang="en-US" sz="950" b="1" dirty="0">
                <a:solidFill>
                  <a:srgbClr val="2E8B57"/>
                </a:solidFill>
                <a:latin typeface="Calibri" pitchFamily="34" charset="0"/>
                <a:cs typeface="Amiri" pitchFamily="2" charset="-78"/>
              </a:rPr>
              <a:t> hiwāya · hobby (Urdu: passion)</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يُمَارِسُ</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‎مشق‎ </a:t>
            </a:r>
            <a:pPr indent="0" marL="0">
              <a:buNone/>
            </a:pPr>
            <a:r>
              <a:rPr lang="en-US" sz="950" b="1" dirty="0">
                <a:solidFill>
                  <a:srgbClr val="2E8B57"/>
                </a:solidFill>
                <a:latin typeface="Calibri" pitchFamily="34" charset="0"/>
                <a:cs typeface="Amiri" pitchFamily="2" charset="-78"/>
              </a:rPr>
              <a:t> yumārisu · practises (Urdu: practice)</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المُوسِيقَى</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‎موسیقی‎ </a:t>
            </a:r>
            <a:pPr indent="0" marL="0">
              <a:buNone/>
            </a:pPr>
            <a:r>
              <a:rPr lang="en-US" sz="950" b="1" dirty="0">
                <a:solidFill>
                  <a:srgbClr val="2E8B57"/>
                </a:solidFill>
                <a:latin typeface="Calibri" pitchFamily="34" charset="0"/>
                <a:cs typeface="Amiri" pitchFamily="2" charset="-78"/>
              </a:rPr>
              <a:t> al-mūsīqā · music</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التَّصْوِيرُ</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‎تصویر‎ </a:t>
            </a:r>
            <a:pPr indent="0" marL="0">
              <a:buNone/>
            </a:pPr>
            <a:r>
              <a:rPr lang="en-US" sz="950" b="1" dirty="0">
                <a:solidFill>
                  <a:srgbClr val="2E8B57"/>
                </a:solidFill>
                <a:latin typeface="Calibri" pitchFamily="34" charset="0"/>
                <a:cs typeface="Amiri" pitchFamily="2" charset="-78"/>
              </a:rPr>
              <a:t> at-taṣwīr · photography (Urdu: picture)</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الرِّيَاضَةُ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‎ریاضت‎ </a:t>
            </a:r>
            <a:pPr indent="0" marL="0">
              <a:buNone/>
            </a:pPr>
            <a:r>
              <a:rPr lang="en-US" sz="950" b="1" dirty="0">
                <a:solidFill>
                  <a:srgbClr val="2E8B57"/>
                </a:solidFill>
                <a:latin typeface="Calibri" pitchFamily="34" charset="0"/>
                <a:cs typeface="Amiri" pitchFamily="2" charset="-78"/>
              </a:rPr>
              <a:t> ar-riyāḍa · sport (Urdu: discipline, exercise)</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TB-L08 · Hobbies and Free Time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Hobbies and activities (1 of 4)</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1144829"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my · his · her</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هِوَايَةٌ / هِوَايَاتٌ</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hobby / hobbies</a:t>
            </a:r>
            <a:endParaRPr lang="en-US" sz="1350" dirty="0"/>
          </a:p>
          <a:p>
            <a:pPr indent="0" marL="0">
              <a:buNone/>
            </a:pPr>
            <a:r>
              <a:rPr lang="en-US" sz="1100" i="1" dirty="0">
                <a:solidFill>
                  <a:srgbClr val="5A6472"/>
                </a:solidFill>
                <a:latin typeface="Calibri" pitchFamily="34" charset="0"/>
                <a:cs typeface="Amiri" pitchFamily="2" charset="-78"/>
              </a:rPr>
              <a:t>hi-wā-ya-tun / hi-wā-yā-tun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her</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هِوَايَتُهَا</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his</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هِوَايَتُهُ</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my</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هِوَايَتِي</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6" name="Shape 3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8" name="Text 3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وَقْتُ الفَرَاغِ</a:t>
            </a:r>
            <a:endParaRPr lang="ar-SA" sz="3000" dirty="0"/>
          </a:p>
        </p:txBody>
      </p:sp>
      <p:sp>
        <p:nvSpPr>
          <p:cNvPr id="39" name="Text 3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free time</a:t>
            </a:r>
            <a:endParaRPr lang="en-US" sz="1350" dirty="0"/>
          </a:p>
          <a:p>
            <a:pPr indent="0" marL="0">
              <a:buNone/>
            </a:pPr>
            <a:r>
              <a:rPr lang="en-US" sz="1100" i="1" dirty="0">
                <a:solidFill>
                  <a:srgbClr val="5A6472"/>
                </a:solidFill>
                <a:latin typeface="Calibri" pitchFamily="34" charset="0"/>
                <a:cs typeface="Amiri" pitchFamily="2" charset="-78"/>
              </a:rPr>
              <a:t>waq-tu al-fa-rā-ghi</a:t>
            </a:r>
            <a:endParaRPr lang="en-US" sz="1350" dirty="0"/>
          </a:p>
        </p:txBody>
      </p:sp>
      <p:sp>
        <p:nvSpPr>
          <p:cNvPr id="40" name="Text 37"/>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An iḍāfa: no tanwīn on </a:t>
            </a:r>
            <a:pPr algn="l" indent="0" marL="0">
              <a:buNone/>
            </a:pPr>
            <a:r>
              <a:rPr lang="ar-SA" altLang="en-US" sz="1300" dirty="0">
                <a:solidFill>
                  <a:srgbClr val="8A6D1E"/>
                </a:solidFill>
                <a:latin typeface="Amiri" pitchFamily="2" charset="-78"/>
                <a:ea typeface="Amiri" pitchFamily="2" charset="-78"/>
                <a:cs typeface="Amiri" pitchFamily="2" charset="-78"/>
              </a:rPr>
              <a:t>وَقْتُ</a:t>
            </a:r>
            <a:pPr algn="l" indent="0" marL="0">
              <a:buNone/>
            </a:pPr>
            <a:r>
              <a:rPr lang="en-US" sz="1000" i="1" dirty="0">
                <a:solidFill>
                  <a:srgbClr val="8A6D1E"/>
                </a:solidFill>
                <a:latin typeface="Calibri" pitchFamily="34" charset="0"/>
                <a:cs typeface="Amiri" pitchFamily="2" charset="-78"/>
              </a:rPr>
              <a:t>.</a:t>
            </a:r>
            <a:endParaRPr lang="en-US" sz="1000" dirty="0"/>
          </a:p>
        </p:txBody>
      </p:sp>
      <p:sp>
        <p:nvSpPr>
          <p:cNvPr id="41" name="Shape 3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66928" y="1920240"/>
            <a:ext cx="310896" cy="310896"/>
          </a:xfrm>
          <a:prstGeom prst="ellipse">
            <a:avLst/>
          </a:prstGeom>
          <a:solidFill>
            <a:srgbClr val="F4F1EA"/>
          </a:solidFill>
          <a:ln w="12700">
            <a:solidFill>
              <a:srgbClr val="F4F1EA"/>
            </a:solidFill>
            <a:prstDash val="solid"/>
          </a:ln>
        </p:spPr>
      </p:sp>
      <p:sp>
        <p:nvSpPr>
          <p:cNvPr id="43" name="Text 4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4" name="Shape 41"/>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45" name="Text 42"/>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46" name="Shape 43"/>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8" name="Text 45"/>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يُمَارِسُ الرِّيَاضَةَ</a:t>
            </a:r>
            <a:endParaRPr lang="ar-SA" sz="3000" dirty="0"/>
          </a:p>
        </p:txBody>
      </p:sp>
      <p:sp>
        <p:nvSpPr>
          <p:cNvPr id="49" name="Text 46"/>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practises sport</a:t>
            </a:r>
            <a:endParaRPr lang="en-US" sz="1350" dirty="0"/>
          </a:p>
          <a:p>
            <a:pPr indent="0" marL="0">
              <a:buNone/>
            </a:pPr>
            <a:r>
              <a:rPr lang="en-US" sz="1100" i="1" dirty="0">
                <a:solidFill>
                  <a:srgbClr val="5A6472"/>
                </a:solidFill>
                <a:latin typeface="Calibri" pitchFamily="34" charset="0"/>
                <a:cs typeface="Amiri" pitchFamily="2" charset="-78"/>
              </a:rPr>
              <a:t>yu-mā-ri-su ar-ri-yā-ḍa-ta</a:t>
            </a:r>
            <a:endParaRPr lang="en-US" sz="1350" dirty="0"/>
          </a:p>
        </p:txBody>
      </p:sp>
      <p:sp>
        <p:nvSpPr>
          <p:cNvPr id="50" name="Shape 47"/>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1" name="Text 48"/>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52" name="Text 49"/>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تُمَارِسُ</a:t>
            </a:r>
            <a:endParaRPr lang="ar-SA" sz="1500" dirty="0"/>
          </a:p>
        </p:txBody>
      </p:sp>
      <p:sp>
        <p:nvSpPr>
          <p:cNvPr id="53" name="Shape 50"/>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54" name="Text 51"/>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55" name="Text 52"/>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يُمَارِسُ</a:t>
            </a:r>
            <a:endParaRPr lang="ar-SA" sz="1500" dirty="0"/>
          </a:p>
        </p:txBody>
      </p:sp>
      <p:sp>
        <p:nvSpPr>
          <p:cNvPr id="56" name="Shape 53"/>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58" name="Text 55"/>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أُمَارِسُ</a:t>
            </a:r>
            <a:endParaRPr lang="ar-SA" sz="1500" dirty="0"/>
          </a:p>
        </p:txBody>
      </p:sp>
      <p:sp>
        <p:nvSpPr>
          <p:cNvPr id="59" name="Shape 5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0" name="Shape 57"/>
          <p:cNvSpPr/>
          <p:nvPr/>
        </p:nvSpPr>
        <p:spPr>
          <a:xfrm>
            <a:off x="8211312" y="4261104"/>
            <a:ext cx="310896" cy="310896"/>
          </a:xfrm>
          <a:prstGeom prst="ellipse">
            <a:avLst/>
          </a:prstGeom>
          <a:solidFill>
            <a:srgbClr val="F4F1EA"/>
          </a:solidFill>
          <a:ln w="12700">
            <a:solidFill>
              <a:srgbClr val="F4F1EA"/>
            </a:solidFill>
            <a:prstDash val="solid"/>
          </a:ln>
        </p:spPr>
      </p:sp>
      <p:sp>
        <p:nvSpPr>
          <p:cNvPr id="61" name="Text 5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62" name="Shape 59"/>
          <p:cNvSpPr/>
          <p:nvPr/>
        </p:nvSpPr>
        <p:spPr>
          <a:xfrm>
            <a:off x="8604504" y="4279392"/>
            <a:ext cx="1020470" cy="256032"/>
          </a:xfrm>
          <a:prstGeom prst="roundRect">
            <a:avLst>
              <a:gd name="adj" fmla="val 50000"/>
            </a:avLst>
          </a:prstGeom>
          <a:solidFill>
            <a:srgbClr val="EFE7D2"/>
          </a:solidFill>
          <a:ln w="12700">
            <a:solidFill>
              <a:srgbClr val="EFE7D2"/>
            </a:solidFill>
            <a:prstDash val="solid"/>
          </a:ln>
        </p:spPr>
      </p:sp>
      <p:sp>
        <p:nvSpPr>
          <p:cNvPr id="63" name="Text 60"/>
          <p:cNvSpPr txBox="1"/>
          <p:nvPr/>
        </p:nvSpPr>
        <p:spPr>
          <a:xfrm>
            <a:off x="8604504"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64" name="Shape 61"/>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5" name="Text 62"/>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6" name="Text 63"/>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يَلْعَبُ كُرَةَ القَدَمِ</a:t>
            </a:r>
            <a:endParaRPr lang="ar-SA" sz="3000" dirty="0"/>
          </a:p>
        </p:txBody>
      </p:sp>
      <p:sp>
        <p:nvSpPr>
          <p:cNvPr id="67" name="Text 64"/>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plays football</a:t>
            </a:r>
            <a:endParaRPr lang="en-US" sz="1350" dirty="0"/>
          </a:p>
          <a:p>
            <a:pPr indent="0" marL="0">
              <a:buNone/>
            </a:pPr>
            <a:r>
              <a:rPr lang="en-US" sz="1100" i="1" dirty="0">
                <a:solidFill>
                  <a:srgbClr val="5A6472"/>
                </a:solidFill>
                <a:latin typeface="Calibri" pitchFamily="34" charset="0"/>
                <a:cs typeface="Amiri" pitchFamily="2" charset="-78"/>
              </a:rPr>
              <a:t>yal-ʿa-bu ku-ra-ta al-qa-da-mi</a:t>
            </a:r>
            <a:endParaRPr lang="en-US" sz="1350" dirty="0"/>
          </a:p>
        </p:txBody>
      </p:sp>
      <p:sp>
        <p:nvSpPr>
          <p:cNvPr id="68" name="Shape 65"/>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69" name="Text 66"/>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70" name="Text 67"/>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تَلْعَبُ</a:t>
            </a:r>
            <a:endParaRPr lang="ar-SA" sz="1500" dirty="0"/>
          </a:p>
        </p:txBody>
      </p:sp>
      <p:sp>
        <p:nvSpPr>
          <p:cNvPr id="71" name="Shape 68"/>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2" name="Text 69"/>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73" name="Text 70"/>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يَلْعَبُ</a:t>
            </a:r>
            <a:endParaRPr lang="ar-SA" sz="1500" dirty="0"/>
          </a:p>
        </p:txBody>
      </p:sp>
      <p:sp>
        <p:nvSpPr>
          <p:cNvPr id="74" name="Shape 71"/>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75" name="Text 72"/>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76" name="Text 73"/>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أَلْعَبُ</a:t>
            </a:r>
            <a:endParaRPr lang="ar-SA" sz="1500" dirty="0"/>
          </a:p>
        </p:txBody>
      </p:sp>
      <p:sp>
        <p:nvSpPr>
          <p:cNvPr id="77" name="Shape 7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389120" y="4261104"/>
            <a:ext cx="310896" cy="310896"/>
          </a:xfrm>
          <a:prstGeom prst="ellipse">
            <a:avLst/>
          </a:prstGeom>
          <a:solidFill>
            <a:srgbClr val="F4F1EA"/>
          </a:solidFill>
          <a:ln w="12700">
            <a:solidFill>
              <a:srgbClr val="F4F1EA"/>
            </a:solidFill>
            <a:prstDash val="solid"/>
          </a:ln>
        </p:spPr>
      </p:sp>
      <p:sp>
        <p:nvSpPr>
          <p:cNvPr id="79" name="Text 7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80" name="Shape 77"/>
          <p:cNvSpPr/>
          <p:nvPr/>
        </p:nvSpPr>
        <p:spPr>
          <a:xfrm>
            <a:off x="4782312" y="4279392"/>
            <a:ext cx="1020470" cy="256032"/>
          </a:xfrm>
          <a:prstGeom prst="roundRect">
            <a:avLst>
              <a:gd name="adj" fmla="val 50000"/>
            </a:avLst>
          </a:prstGeom>
          <a:solidFill>
            <a:srgbClr val="EFE7D2"/>
          </a:solidFill>
          <a:ln w="12700">
            <a:solidFill>
              <a:srgbClr val="EFE7D2"/>
            </a:solidFill>
            <a:prstDash val="solid"/>
          </a:ln>
        </p:spPr>
      </p:sp>
      <p:sp>
        <p:nvSpPr>
          <p:cNvPr id="81" name="Text 78"/>
          <p:cNvSpPr txBox="1"/>
          <p:nvPr/>
        </p:nvSpPr>
        <p:spPr>
          <a:xfrm>
            <a:off x="4782312"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82" name="Text 79"/>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يَلْعَبُ كُرَةَ السَّلَّةِ</a:t>
            </a:r>
            <a:endParaRPr lang="ar-SA" sz="3000" dirty="0"/>
          </a:p>
        </p:txBody>
      </p:sp>
      <p:sp>
        <p:nvSpPr>
          <p:cNvPr id="83" name="Text 80"/>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plays basketball</a:t>
            </a:r>
            <a:endParaRPr lang="en-US" sz="1350" dirty="0"/>
          </a:p>
          <a:p>
            <a:pPr indent="0" marL="0">
              <a:buNone/>
            </a:pPr>
            <a:r>
              <a:rPr lang="en-US" sz="1100" i="1" dirty="0">
                <a:solidFill>
                  <a:srgbClr val="5A6472"/>
                </a:solidFill>
                <a:latin typeface="Calibri" pitchFamily="34" charset="0"/>
                <a:cs typeface="Amiri" pitchFamily="2" charset="-78"/>
              </a:rPr>
              <a:t>yal-ʿa-bu ku-ra-ta as-sal-la-ti</a:t>
            </a:r>
            <a:endParaRPr lang="en-US" sz="1350" dirty="0"/>
          </a:p>
        </p:txBody>
      </p:sp>
      <p:sp>
        <p:nvSpPr>
          <p:cNvPr id="84" name="Shape 81"/>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85" name="Text 82"/>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86" name="Text 83"/>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تَلْعَبُ</a:t>
            </a:r>
            <a:endParaRPr lang="ar-SA" sz="1500" dirty="0"/>
          </a:p>
        </p:txBody>
      </p:sp>
      <p:sp>
        <p:nvSpPr>
          <p:cNvPr id="87" name="Shape 84"/>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88" name="Text 85"/>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89" name="Text 86"/>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يَلْعَبُ</a:t>
            </a:r>
            <a:endParaRPr lang="ar-SA" sz="1500" dirty="0"/>
          </a:p>
        </p:txBody>
      </p:sp>
      <p:sp>
        <p:nvSpPr>
          <p:cNvPr id="90" name="Shape 87"/>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91" name="Text 88"/>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92" name="Text 89"/>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أَلْعَبُ</a:t>
            </a:r>
            <a:endParaRPr lang="ar-SA" sz="150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47</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TB-L08 · Hobbies and Free Time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Hobbies and activities (2 of 4)</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18" name="Shape 15"/>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السِّبَاحَةُ / يَسْبَحُ</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swimming / swims</a:t>
            </a:r>
            <a:endParaRPr lang="en-US" sz="1350" dirty="0"/>
          </a:p>
          <a:p>
            <a:pPr indent="0" marL="0">
              <a:buNone/>
            </a:pPr>
            <a:r>
              <a:rPr lang="en-US" sz="1100" i="1" dirty="0">
                <a:solidFill>
                  <a:srgbClr val="5A6472"/>
                </a:solidFill>
                <a:latin typeface="Calibri" pitchFamily="34" charset="0"/>
                <a:cs typeface="Amiri" pitchFamily="2" charset="-78"/>
              </a:rPr>
              <a:t>as-si-bā-ḥa-tu / yas-ba-ḥu</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تَسْبَحُ</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يَسْبَحُ</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أَسْبَحُ</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36" name="Shape 33"/>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الرَّسْمُ / يَرْسُمُ</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drawing / draws</a:t>
            </a:r>
            <a:endParaRPr lang="en-US" sz="1350" dirty="0"/>
          </a:p>
          <a:p>
            <a:pPr indent="0" marL="0">
              <a:buNone/>
            </a:pPr>
            <a:r>
              <a:rPr lang="en-US" sz="1100" i="1" dirty="0">
                <a:solidFill>
                  <a:srgbClr val="5A6472"/>
                </a:solidFill>
                <a:latin typeface="Calibri" pitchFamily="34" charset="0"/>
                <a:cs typeface="Amiri" pitchFamily="2" charset="-78"/>
              </a:rPr>
              <a:t>ar-ras-mu / yar-su-mu</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44" name="Text 41"/>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تَرْسُمُ</a:t>
            </a:r>
            <a:endParaRPr lang="ar-SA" sz="150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47" name="Text 44"/>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يَرْسُمُ</a:t>
            </a:r>
            <a:endParaRPr lang="ar-SA" sz="150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50" name="Text 47"/>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أَرْسُمُ</a:t>
            </a:r>
            <a:endParaRPr lang="ar-SA" sz="150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54" name="Shape 51"/>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56" name="Text 5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يَعْزِفُ عَلَى البِيَانُو</a:t>
            </a:r>
            <a:endParaRPr lang="ar-SA" sz="3000" dirty="0"/>
          </a:p>
        </p:txBody>
      </p:sp>
      <p:sp>
        <p:nvSpPr>
          <p:cNvPr id="57" name="Text 5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plays the piano</a:t>
            </a:r>
            <a:endParaRPr lang="en-US" sz="1350" dirty="0"/>
          </a:p>
          <a:p>
            <a:pPr indent="0" marL="0">
              <a:buNone/>
            </a:pPr>
            <a:r>
              <a:rPr lang="en-US" sz="1100" i="1" dirty="0">
                <a:solidFill>
                  <a:srgbClr val="5A6472"/>
                </a:solidFill>
                <a:latin typeface="Calibri" pitchFamily="34" charset="0"/>
                <a:cs typeface="Amiri" pitchFamily="2" charset="-78"/>
              </a:rPr>
              <a:t>yaʿ-zi-fu ʿa-lā al-bi-yā-nū</a:t>
            </a:r>
            <a:endParaRPr lang="en-US" sz="1350" dirty="0"/>
          </a:p>
        </p:txBody>
      </p:sp>
      <p:sp>
        <p:nvSpPr>
          <p:cNvPr id="58" name="Shape 55"/>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9" name="Text 56"/>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60" name="Text 57"/>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تَعْزِفُ</a:t>
            </a:r>
            <a:endParaRPr lang="ar-SA" sz="1500" dirty="0"/>
          </a:p>
        </p:txBody>
      </p:sp>
      <p:sp>
        <p:nvSpPr>
          <p:cNvPr id="61" name="Shape 58"/>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2" name="Text 59"/>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63" name="Text 60"/>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يَعْزِفُ</a:t>
            </a:r>
            <a:endParaRPr lang="ar-SA" sz="1500" dirty="0"/>
          </a:p>
        </p:txBody>
      </p:sp>
      <p:sp>
        <p:nvSpPr>
          <p:cNvPr id="64" name="Shape 61"/>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5" name="Text 62"/>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66" name="Text 63"/>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أَعْزِفُ</a:t>
            </a:r>
            <a:endParaRPr lang="ar-SA" sz="1500" dirty="0"/>
          </a:p>
        </p:txBody>
      </p:sp>
      <p:sp>
        <p:nvSpPr>
          <p:cNvPr id="67" name="Shape 6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8211312" y="4261104"/>
            <a:ext cx="310896" cy="310896"/>
          </a:xfrm>
          <a:prstGeom prst="ellipse">
            <a:avLst/>
          </a:prstGeom>
          <a:solidFill>
            <a:srgbClr val="F4F1EA"/>
          </a:solidFill>
          <a:ln w="12700">
            <a:solidFill>
              <a:srgbClr val="F4F1EA"/>
            </a:solidFill>
            <a:prstDash val="solid"/>
          </a:ln>
        </p:spPr>
      </p:sp>
      <p:sp>
        <p:nvSpPr>
          <p:cNvPr id="69" name="Text 6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70" name="Shape 67"/>
          <p:cNvSpPr/>
          <p:nvPr/>
        </p:nvSpPr>
        <p:spPr>
          <a:xfrm>
            <a:off x="8604504" y="4279392"/>
            <a:ext cx="1020470" cy="256032"/>
          </a:xfrm>
          <a:prstGeom prst="roundRect">
            <a:avLst>
              <a:gd name="adj" fmla="val 50000"/>
            </a:avLst>
          </a:prstGeom>
          <a:solidFill>
            <a:srgbClr val="EFE7D2"/>
          </a:solidFill>
          <a:ln w="12700">
            <a:solidFill>
              <a:srgbClr val="EFE7D2"/>
            </a:solidFill>
            <a:prstDash val="solid"/>
          </a:ln>
        </p:spPr>
      </p:sp>
      <p:sp>
        <p:nvSpPr>
          <p:cNvPr id="71" name="Text 68"/>
          <p:cNvSpPr txBox="1"/>
          <p:nvPr/>
        </p:nvSpPr>
        <p:spPr>
          <a:xfrm>
            <a:off x="8604504"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72" name="Shape 6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73" name="Text 7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4" name="Text 71"/>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يَعْزِفُ عَلَى العُودِ</a:t>
            </a:r>
            <a:endParaRPr lang="ar-SA" sz="3000" dirty="0"/>
          </a:p>
        </p:txBody>
      </p:sp>
      <p:sp>
        <p:nvSpPr>
          <p:cNvPr id="75" name="Text 72"/>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plays the oud</a:t>
            </a:r>
            <a:endParaRPr lang="en-US" sz="1350" dirty="0"/>
          </a:p>
          <a:p>
            <a:pPr indent="0" marL="0">
              <a:buNone/>
            </a:pPr>
            <a:r>
              <a:rPr lang="en-US" sz="1100" i="1" dirty="0">
                <a:solidFill>
                  <a:srgbClr val="5A6472"/>
                </a:solidFill>
                <a:latin typeface="Calibri" pitchFamily="34" charset="0"/>
                <a:cs typeface="Amiri" pitchFamily="2" charset="-78"/>
              </a:rPr>
              <a:t>yaʿ-zi-fu ʿa-lā al-ʿū-di</a:t>
            </a:r>
            <a:endParaRPr lang="en-US" sz="1350" dirty="0"/>
          </a:p>
        </p:txBody>
      </p:sp>
      <p:sp>
        <p:nvSpPr>
          <p:cNvPr id="76" name="Shape 73"/>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7" name="Text 74"/>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78" name="Text 75"/>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تَعْزِفُ</a:t>
            </a:r>
            <a:endParaRPr lang="ar-SA" sz="1500" dirty="0"/>
          </a:p>
        </p:txBody>
      </p:sp>
      <p:sp>
        <p:nvSpPr>
          <p:cNvPr id="79" name="Shape 76"/>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80" name="Text 77"/>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81" name="Text 78"/>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يَعْزِفُ</a:t>
            </a:r>
            <a:endParaRPr lang="ar-SA" sz="1500" dirty="0"/>
          </a:p>
        </p:txBody>
      </p:sp>
      <p:sp>
        <p:nvSpPr>
          <p:cNvPr id="82" name="Shape 79"/>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83" name="Text 80"/>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84" name="Text 81"/>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أَعْزِفُ</a:t>
            </a:r>
            <a:endParaRPr lang="ar-SA" sz="1500" dirty="0"/>
          </a:p>
        </p:txBody>
      </p:sp>
      <p:sp>
        <p:nvSpPr>
          <p:cNvPr id="85" name="Shape 8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6" name="Shape 83"/>
          <p:cNvSpPr/>
          <p:nvPr/>
        </p:nvSpPr>
        <p:spPr>
          <a:xfrm>
            <a:off x="4389120" y="4261104"/>
            <a:ext cx="310896" cy="310896"/>
          </a:xfrm>
          <a:prstGeom prst="ellipse">
            <a:avLst/>
          </a:prstGeom>
          <a:solidFill>
            <a:srgbClr val="F4F1EA"/>
          </a:solidFill>
          <a:ln w="12700">
            <a:solidFill>
              <a:srgbClr val="F4F1EA"/>
            </a:solidFill>
            <a:prstDash val="solid"/>
          </a:ln>
        </p:spPr>
      </p:sp>
      <p:sp>
        <p:nvSpPr>
          <p:cNvPr id="87" name="Text 8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88" name="Shape 85"/>
          <p:cNvSpPr/>
          <p:nvPr/>
        </p:nvSpPr>
        <p:spPr>
          <a:xfrm>
            <a:off x="4782312" y="4279392"/>
            <a:ext cx="1020470" cy="256032"/>
          </a:xfrm>
          <a:prstGeom prst="roundRect">
            <a:avLst>
              <a:gd name="adj" fmla="val 50000"/>
            </a:avLst>
          </a:prstGeom>
          <a:solidFill>
            <a:srgbClr val="EFE7D2"/>
          </a:solidFill>
          <a:ln w="12700">
            <a:solidFill>
              <a:srgbClr val="EFE7D2"/>
            </a:solidFill>
            <a:prstDash val="solid"/>
          </a:ln>
        </p:spPr>
      </p:sp>
      <p:sp>
        <p:nvSpPr>
          <p:cNvPr id="89" name="Text 86"/>
          <p:cNvSpPr txBox="1"/>
          <p:nvPr/>
        </p:nvSpPr>
        <p:spPr>
          <a:xfrm>
            <a:off x="4782312"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90" name="Shape 8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91" name="Text 8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92" name="Text 89"/>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القِرَاءَةُ / يَقْرَأُ</a:t>
            </a:r>
            <a:endParaRPr lang="ar-SA" sz="3000" dirty="0"/>
          </a:p>
        </p:txBody>
      </p:sp>
      <p:sp>
        <p:nvSpPr>
          <p:cNvPr id="93" name="Text 90"/>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reading / reads</a:t>
            </a:r>
            <a:endParaRPr lang="en-US" sz="1350" dirty="0"/>
          </a:p>
          <a:p>
            <a:pPr indent="0" marL="0">
              <a:buNone/>
            </a:pPr>
            <a:r>
              <a:rPr lang="en-US" sz="1100" i="1" dirty="0">
                <a:solidFill>
                  <a:srgbClr val="5A6472"/>
                </a:solidFill>
                <a:latin typeface="Calibri" pitchFamily="34" charset="0"/>
                <a:cs typeface="Amiri" pitchFamily="2" charset="-78"/>
              </a:rPr>
              <a:t>al-qi-rā-ʾa-tu / yaq-ra-ʾu</a:t>
            </a:r>
            <a:endParaRPr lang="en-US" sz="1350" dirty="0"/>
          </a:p>
        </p:txBody>
      </p:sp>
      <p:sp>
        <p:nvSpPr>
          <p:cNvPr id="94" name="Shape 91"/>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95" name="Text 92"/>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96" name="Text 93"/>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تَقْرَأُ</a:t>
            </a:r>
            <a:endParaRPr lang="ar-SA" sz="1500" dirty="0"/>
          </a:p>
        </p:txBody>
      </p:sp>
      <p:sp>
        <p:nvSpPr>
          <p:cNvPr id="97" name="Shape 94"/>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98" name="Text 95"/>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99" name="Text 96"/>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يَقْرَأُ</a:t>
            </a:r>
            <a:endParaRPr lang="ar-SA" sz="1500" dirty="0"/>
          </a:p>
        </p:txBody>
      </p:sp>
      <p:sp>
        <p:nvSpPr>
          <p:cNvPr id="100" name="Shape 97"/>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101" name="Text 98"/>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102" name="Text 99"/>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أَقْرَأُ</a:t>
            </a:r>
            <a:endParaRPr lang="ar-SA" sz="1500" dirty="0"/>
          </a:p>
        </p:txBody>
      </p:sp>
      <p:sp>
        <p:nvSpPr>
          <p:cNvPr id="103" name="Text 10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47</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TB-L08 · Hobbies and Free Time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Hobbies and activities (3 of 4)</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TB-L08</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التَّصْوِيرُ الفُوتُوغْرَافِيُّ</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photography</a:t>
            </a:r>
            <a:endParaRPr lang="en-US" sz="1350" dirty="0"/>
          </a:p>
          <a:p>
            <a:pPr indent="0" marL="0">
              <a:buNone/>
            </a:pPr>
            <a:r>
              <a:rPr lang="en-US" sz="1100" i="1" dirty="0">
                <a:solidFill>
                  <a:srgbClr val="5A6472"/>
                </a:solidFill>
                <a:latin typeface="Calibri" pitchFamily="34" charset="0"/>
                <a:cs typeface="Amiri" pitchFamily="2" charset="-78"/>
              </a:rPr>
              <a:t>at-taṣ-wī-ru al-fū-tūgh-rā-fiy-yu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The adjective agrees with the masculine noun.</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26" name="Shape 23"/>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27" name="Text 24"/>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28" name="Text 25"/>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يَطْبُخُ</a:t>
            </a:r>
            <a:endParaRPr lang="ar-SA" sz="3000" dirty="0"/>
          </a:p>
        </p:txBody>
      </p:sp>
      <p:sp>
        <p:nvSpPr>
          <p:cNvPr id="29" name="Text 26"/>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cooks</a:t>
            </a:r>
            <a:endParaRPr lang="en-US" sz="1350" dirty="0"/>
          </a:p>
          <a:p>
            <a:pPr indent="0" marL="0">
              <a:buNone/>
            </a:pPr>
            <a:r>
              <a:rPr lang="en-US" sz="1100" i="1" dirty="0">
                <a:solidFill>
                  <a:srgbClr val="5A6472"/>
                </a:solidFill>
                <a:latin typeface="Calibri" pitchFamily="34" charset="0"/>
                <a:cs typeface="Amiri" pitchFamily="2" charset="-78"/>
              </a:rPr>
              <a:t>yaṭ-bu-khu</a:t>
            </a:r>
            <a:endParaRPr lang="en-US" sz="1350" dirty="0"/>
          </a:p>
        </p:txBody>
      </p:sp>
      <p:sp>
        <p:nvSpPr>
          <p:cNvPr id="30" name="Shape 27"/>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32" name="Text 29"/>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تَطْبُخُ</a:t>
            </a:r>
            <a:endParaRPr lang="ar-SA" sz="1500" dirty="0"/>
          </a:p>
        </p:txBody>
      </p:sp>
      <p:sp>
        <p:nvSpPr>
          <p:cNvPr id="33" name="Shape 30"/>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34" name="Text 31"/>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35" name="Text 32"/>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يَطْبُخُ</a:t>
            </a:r>
            <a:endParaRPr lang="ar-SA" sz="1500" dirty="0"/>
          </a:p>
        </p:txBody>
      </p:sp>
      <p:sp>
        <p:nvSpPr>
          <p:cNvPr id="36" name="Shape 33"/>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38" name="Text 35"/>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أَطْبُخُ</a:t>
            </a:r>
            <a:endParaRPr lang="ar-SA" sz="150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42" name="Shape 39"/>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44" name="Text 4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يُشَاهِدُ الأَفْلَامَ</a:t>
            </a:r>
            <a:endParaRPr lang="ar-SA" sz="3000" dirty="0"/>
          </a:p>
        </p:txBody>
      </p:sp>
      <p:sp>
        <p:nvSpPr>
          <p:cNvPr id="45" name="Text 4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watches films</a:t>
            </a:r>
            <a:endParaRPr lang="en-US" sz="1350" dirty="0"/>
          </a:p>
          <a:p>
            <a:pPr indent="0" marL="0">
              <a:buNone/>
            </a:pPr>
            <a:r>
              <a:rPr lang="en-US" sz="1100" i="1" dirty="0">
                <a:solidFill>
                  <a:srgbClr val="5A6472"/>
                </a:solidFill>
                <a:latin typeface="Calibri" pitchFamily="34" charset="0"/>
                <a:cs typeface="Amiri" pitchFamily="2" charset="-78"/>
              </a:rPr>
              <a:t>yu-shā-hi-du al-af-lā-ma</a:t>
            </a:r>
            <a:endParaRPr lang="en-US" sz="1350" dirty="0"/>
          </a:p>
        </p:txBody>
      </p:sp>
      <p:sp>
        <p:nvSpPr>
          <p:cNvPr id="46" name="Shape 43"/>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48" name="Text 45"/>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تُشَاهِدُ</a:t>
            </a:r>
            <a:endParaRPr lang="ar-SA" sz="1500" dirty="0"/>
          </a:p>
        </p:txBody>
      </p:sp>
      <p:sp>
        <p:nvSpPr>
          <p:cNvPr id="49" name="Shape 46"/>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50" name="Text 47"/>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51" name="Text 48"/>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يُشَاهِدُ</a:t>
            </a:r>
            <a:endParaRPr lang="ar-SA" sz="1500" dirty="0"/>
          </a:p>
        </p:txBody>
      </p:sp>
      <p:sp>
        <p:nvSpPr>
          <p:cNvPr id="52" name="Shape 49"/>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53" name="Text 50"/>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54" name="Text 51"/>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أُشَاهِدُ</a:t>
            </a:r>
            <a:endParaRPr lang="ar-SA" sz="1500" dirty="0"/>
          </a:p>
        </p:txBody>
      </p:sp>
      <p:sp>
        <p:nvSpPr>
          <p:cNvPr id="55" name="Shape 5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211312"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58" name="Shape 55"/>
          <p:cNvSpPr/>
          <p:nvPr/>
        </p:nvSpPr>
        <p:spPr>
          <a:xfrm>
            <a:off x="8604504" y="4279392"/>
            <a:ext cx="1020470" cy="256032"/>
          </a:xfrm>
          <a:prstGeom prst="roundRect">
            <a:avLst>
              <a:gd name="adj" fmla="val 50000"/>
            </a:avLst>
          </a:prstGeom>
          <a:solidFill>
            <a:srgbClr val="EFE7D2"/>
          </a:solidFill>
          <a:ln w="12700">
            <a:solidFill>
              <a:srgbClr val="EFE7D2"/>
            </a:solidFill>
            <a:prstDash val="solid"/>
          </a:ln>
        </p:spPr>
      </p:sp>
      <p:sp>
        <p:nvSpPr>
          <p:cNvPr id="59" name="Text 56"/>
          <p:cNvSpPr txBox="1"/>
          <p:nvPr/>
        </p:nvSpPr>
        <p:spPr>
          <a:xfrm>
            <a:off x="8604504"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60" name="Text 57"/>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يَسْتَمِعُ إِلَى المُوسِيقَى</a:t>
            </a:r>
            <a:endParaRPr lang="ar-SA" sz="3000" dirty="0"/>
          </a:p>
        </p:txBody>
      </p:sp>
      <p:sp>
        <p:nvSpPr>
          <p:cNvPr id="61" name="Text 58"/>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listens to music</a:t>
            </a:r>
            <a:endParaRPr lang="en-US" sz="1350" dirty="0"/>
          </a:p>
          <a:p>
            <a:pPr indent="0" marL="0">
              <a:buNone/>
            </a:pPr>
            <a:r>
              <a:rPr lang="en-US" sz="1100" i="1" dirty="0">
                <a:solidFill>
                  <a:srgbClr val="5A6472"/>
                </a:solidFill>
                <a:latin typeface="Calibri" pitchFamily="34" charset="0"/>
                <a:cs typeface="Amiri" pitchFamily="2" charset="-78"/>
              </a:rPr>
              <a:t>yas-ta-mi-ʿu i-lā al-mū-sī-qā</a:t>
            </a:r>
            <a:endParaRPr lang="en-US" sz="1350" dirty="0"/>
          </a:p>
        </p:txBody>
      </p:sp>
      <p:sp>
        <p:nvSpPr>
          <p:cNvPr id="62" name="Shape 59"/>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64" name="Text 61"/>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تَسْتَمِعُ</a:t>
            </a:r>
            <a:endParaRPr lang="ar-SA" sz="1500" dirty="0"/>
          </a:p>
        </p:txBody>
      </p:sp>
      <p:sp>
        <p:nvSpPr>
          <p:cNvPr id="65" name="Shape 62"/>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66" name="Text 63"/>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67" name="Text 64"/>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يَسْتَمِعُ</a:t>
            </a:r>
            <a:endParaRPr lang="ar-SA" sz="1500" dirty="0"/>
          </a:p>
        </p:txBody>
      </p:sp>
      <p:sp>
        <p:nvSpPr>
          <p:cNvPr id="68" name="Shape 65"/>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69" name="Text 66"/>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70" name="Text 67"/>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أَسْتَمِعُ</a:t>
            </a:r>
            <a:endParaRPr lang="ar-SA" sz="1500" dirty="0"/>
          </a:p>
        </p:txBody>
      </p:sp>
      <p:sp>
        <p:nvSpPr>
          <p:cNvPr id="71" name="Shape 6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2" name="Shape 69"/>
          <p:cNvSpPr/>
          <p:nvPr/>
        </p:nvSpPr>
        <p:spPr>
          <a:xfrm>
            <a:off x="4389120" y="4261104"/>
            <a:ext cx="310896" cy="310896"/>
          </a:xfrm>
          <a:prstGeom prst="ellipse">
            <a:avLst/>
          </a:prstGeom>
          <a:solidFill>
            <a:srgbClr val="F4F1EA"/>
          </a:solidFill>
          <a:ln w="12700">
            <a:solidFill>
              <a:srgbClr val="F4F1EA"/>
            </a:solidFill>
            <a:prstDash val="solid"/>
          </a:ln>
        </p:spPr>
      </p:sp>
      <p:sp>
        <p:nvSpPr>
          <p:cNvPr id="73" name="Text 7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74" name="Text 7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تَسَلُّقُ الجِبَالِ</a:t>
            </a:r>
            <a:endParaRPr lang="ar-SA" sz="3000" dirty="0"/>
          </a:p>
        </p:txBody>
      </p:sp>
      <p:sp>
        <p:nvSpPr>
          <p:cNvPr id="75" name="Text 7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mountain climbing</a:t>
            </a:r>
            <a:endParaRPr lang="en-US" sz="1350" dirty="0"/>
          </a:p>
          <a:p>
            <a:pPr indent="0" marL="0">
              <a:buNone/>
            </a:pPr>
            <a:r>
              <a:rPr lang="en-US" sz="1100" i="1" dirty="0">
                <a:solidFill>
                  <a:srgbClr val="5A6472"/>
                </a:solidFill>
                <a:latin typeface="Calibri" pitchFamily="34" charset="0"/>
                <a:cs typeface="Amiri" pitchFamily="2" charset="-78"/>
              </a:rPr>
              <a:t>ta-sal-lu-qu al-ji-bā-li</a:t>
            </a:r>
            <a:endParaRPr lang="en-US" sz="1350" dirty="0"/>
          </a:p>
        </p:txBody>
      </p:sp>
      <p:sp>
        <p:nvSpPr>
          <p:cNvPr id="76" name="Text 73"/>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An iḍāfa: </a:t>
            </a:r>
            <a:pPr algn="l" indent="0" marL="0">
              <a:buNone/>
            </a:pPr>
            <a:r>
              <a:rPr lang="ar-SA" altLang="en-US" sz="1300" dirty="0">
                <a:solidFill>
                  <a:srgbClr val="8A6D1E"/>
                </a:solidFill>
                <a:latin typeface="Amiri" pitchFamily="2" charset="-78"/>
                <a:ea typeface="Amiri" pitchFamily="2" charset="-78"/>
                <a:cs typeface="Amiri" pitchFamily="2" charset="-78"/>
              </a:rPr>
              <a:t>الجِبَالِ</a:t>
            </a:r>
            <a:pPr algn="l" indent="0" marL="0">
              <a:buNone/>
            </a:pPr>
            <a:r>
              <a:rPr lang="en-US" sz="1000" i="1" dirty="0">
                <a:solidFill>
                  <a:srgbClr val="8A6D1E"/>
                </a:solidFill>
                <a:latin typeface="Calibri" pitchFamily="34" charset="0"/>
                <a:cs typeface="Amiri" pitchFamily="2" charset="-78"/>
              </a:rPr>
              <a:t> is genitive.</a:t>
            </a:r>
            <a:endParaRPr lang="en-US" sz="100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TB-L08 · Hobbies and Free Time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Hobbies and activities (4 of 4)</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TB-L08</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20" name="Shape 17"/>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يَتَطَوَّعُ</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volunteers</a:t>
            </a:r>
            <a:endParaRPr lang="en-US" sz="1350" dirty="0"/>
          </a:p>
          <a:p>
            <a:pPr indent="0" marL="0">
              <a:buNone/>
            </a:pPr>
            <a:r>
              <a:rPr lang="en-US" sz="1100" i="1" dirty="0">
                <a:solidFill>
                  <a:srgbClr val="5A6472"/>
                </a:solidFill>
                <a:latin typeface="Calibri" pitchFamily="34" charset="0"/>
                <a:cs typeface="Amiri" pitchFamily="2" charset="-78"/>
              </a:rPr>
              <a:t>ya-ta-ṭaw-wa-ʿu</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تَتَطَوَّعُ</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يَتَطَوَّعُ</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أَتَطَوَّعُ</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36" name="Text 33"/>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الغِنَاءُ</a:t>
            </a:r>
            <a:endParaRPr lang="ar-SA" sz="3000" dirty="0"/>
          </a:p>
        </p:txBody>
      </p:sp>
      <p:sp>
        <p:nvSpPr>
          <p:cNvPr id="37" name="Text 34"/>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singing</a:t>
            </a:r>
            <a:endParaRPr lang="en-US" sz="1350" dirty="0"/>
          </a:p>
          <a:p>
            <a:pPr indent="0" marL="0">
              <a:buNone/>
            </a:pPr>
            <a:r>
              <a:rPr lang="en-US" sz="1100" i="1" dirty="0">
                <a:solidFill>
                  <a:srgbClr val="5A6472"/>
                </a:solidFill>
                <a:latin typeface="Calibri" pitchFamily="34" charset="0"/>
                <a:cs typeface="Amiri" pitchFamily="2" charset="-78"/>
              </a:rPr>
              <a:t>al-ghi-nā-ʾu</a:t>
            </a:r>
            <a:endParaRPr lang="en-US" sz="1350" dirty="0"/>
          </a:p>
        </p:txBody>
      </p:sp>
      <p:sp>
        <p:nvSpPr>
          <p:cNvPr id="38" name="Shape 35"/>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566928" y="1920240"/>
            <a:ext cx="310896" cy="310896"/>
          </a:xfrm>
          <a:prstGeom prst="ellipse">
            <a:avLst/>
          </a:prstGeom>
          <a:solidFill>
            <a:srgbClr val="F4F1EA"/>
          </a:solidFill>
          <a:ln w="12700">
            <a:solidFill>
              <a:srgbClr val="F4F1EA"/>
            </a:solidFill>
            <a:prstDash val="solid"/>
          </a:ln>
        </p:spPr>
      </p:sp>
      <p:sp>
        <p:nvSpPr>
          <p:cNvPr id="40" name="Text 37"/>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41" name="Text 38"/>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رُكُوبُ الدَّرَّاجَةِ</a:t>
            </a:r>
            <a:endParaRPr lang="ar-SA" sz="3000" dirty="0"/>
          </a:p>
        </p:txBody>
      </p:sp>
      <p:sp>
        <p:nvSpPr>
          <p:cNvPr id="42" name="Text 39"/>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cycling</a:t>
            </a:r>
            <a:endParaRPr lang="en-US" sz="1350" dirty="0"/>
          </a:p>
          <a:p>
            <a:pPr indent="0" marL="0">
              <a:buNone/>
            </a:pPr>
            <a:r>
              <a:rPr lang="en-US" sz="1100" i="1" dirty="0">
                <a:solidFill>
                  <a:srgbClr val="5A6472"/>
                </a:solidFill>
                <a:latin typeface="Calibri" pitchFamily="34" charset="0"/>
                <a:cs typeface="Amiri" pitchFamily="2" charset="-78"/>
              </a:rPr>
              <a:t>ru-kū-bu ad-dar-rā-ja-ti</a:t>
            </a:r>
            <a:endParaRPr lang="en-US" sz="1350" dirty="0"/>
          </a:p>
        </p:txBody>
      </p:sp>
      <p:sp>
        <p:nvSpPr>
          <p:cNvPr id="43" name="Shape 40"/>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11312"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46" name="Text 43"/>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رِيَاضَةُ اليُوغَا</a:t>
            </a:r>
            <a:endParaRPr lang="ar-SA" sz="3000" dirty="0"/>
          </a:p>
        </p:txBody>
      </p:sp>
      <p:sp>
        <p:nvSpPr>
          <p:cNvPr id="47" name="Text 44"/>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yoga</a:t>
            </a:r>
            <a:endParaRPr lang="en-US" sz="1350" dirty="0"/>
          </a:p>
          <a:p>
            <a:pPr indent="0" marL="0">
              <a:buNone/>
            </a:pPr>
            <a:r>
              <a:rPr lang="en-US" sz="1100" i="1" dirty="0">
                <a:solidFill>
                  <a:srgbClr val="5A6472"/>
                </a:solidFill>
                <a:latin typeface="Calibri" pitchFamily="34" charset="0"/>
                <a:cs typeface="Amiri" pitchFamily="2" charset="-78"/>
              </a:rPr>
              <a:t>ri-yā-ḍa-tu al-yū-ghā</a:t>
            </a:r>
            <a:endParaRPr lang="en-US" sz="1350" dirty="0"/>
          </a:p>
        </p:txBody>
      </p:sp>
      <p:sp>
        <p:nvSpPr>
          <p:cNvPr id="48" name="Shape 45"/>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4389120" y="4261104"/>
            <a:ext cx="310896" cy="310896"/>
          </a:xfrm>
          <a:prstGeom prst="ellipse">
            <a:avLst/>
          </a:prstGeom>
          <a:solidFill>
            <a:srgbClr val="F4F1EA"/>
          </a:solidFill>
          <a:ln w="12700">
            <a:solidFill>
              <a:srgbClr val="F4F1EA"/>
            </a:solidFill>
            <a:prstDash val="solid"/>
          </a:ln>
        </p:spPr>
      </p:sp>
      <p:sp>
        <p:nvSpPr>
          <p:cNvPr id="50" name="Text 47"/>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51" name="Text 48"/>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الشِّطْرَنْجُ</a:t>
            </a:r>
            <a:endParaRPr lang="ar-SA" sz="3000" dirty="0"/>
          </a:p>
        </p:txBody>
      </p:sp>
      <p:sp>
        <p:nvSpPr>
          <p:cNvPr id="52" name="Text 49"/>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chess</a:t>
            </a:r>
            <a:endParaRPr lang="en-US" sz="1350" dirty="0"/>
          </a:p>
          <a:p>
            <a:pPr indent="0" marL="0">
              <a:buNone/>
            </a:pPr>
            <a:r>
              <a:rPr lang="en-US" sz="1100" i="1" dirty="0">
                <a:solidFill>
                  <a:srgbClr val="5A6472"/>
                </a:solidFill>
                <a:latin typeface="Calibri" pitchFamily="34" charset="0"/>
                <a:cs typeface="Amiri" pitchFamily="2" charset="-78"/>
              </a:rPr>
              <a:t>ash-shiṭ-ran-ju</a:t>
            </a:r>
            <a:endParaRPr lang="en-US" sz="1350" dirty="0"/>
          </a:p>
        </p:txBody>
      </p:sp>
      <p:sp>
        <p:nvSpPr>
          <p:cNvPr id="53" name="Text 5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TB-L08 · Hobbies and Free Time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often</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TB-L08</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مَرَّةً فِي الأُسْبُوعِ</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once a week</a:t>
            </a:r>
            <a:endParaRPr lang="en-US" sz="1350" dirty="0"/>
          </a:p>
          <a:p>
            <a:pPr indent="0" marL="0">
              <a:buNone/>
            </a:pPr>
            <a:r>
              <a:rPr lang="en-US" sz="1100" i="1" dirty="0">
                <a:solidFill>
                  <a:srgbClr val="5A6472"/>
                </a:solidFill>
                <a:latin typeface="Calibri" pitchFamily="34" charset="0"/>
                <a:cs typeface="Amiri" pitchFamily="2" charset="-78"/>
              </a:rPr>
              <a:t>mar-ra-tan fī al-us-bū-ʿi</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2" charset="-78"/>
                <a:ea typeface="Amiri" pitchFamily="2" charset="-78"/>
                <a:cs typeface="Amiri" pitchFamily="2" charset="-78"/>
              </a:rPr>
              <a:t>مَرَّةً</a:t>
            </a:r>
            <a:pPr algn="l" indent="0" marL="0">
              <a:buNone/>
            </a:pPr>
            <a:r>
              <a:rPr lang="en-US" sz="1000" i="1" dirty="0">
                <a:solidFill>
                  <a:srgbClr val="8A6D1E"/>
                </a:solidFill>
                <a:latin typeface="Calibri" pitchFamily="34" charset="0"/>
                <a:cs typeface="Amiri" pitchFamily="2" charset="-78"/>
              </a:rPr>
              <a:t> is adverbial, so it is accusative.</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26" name="Text 23"/>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مَرَّتَيْنِ فِي الأُسْبُوعِ</a:t>
            </a:r>
            <a:endParaRPr lang="ar-SA" sz="3000" dirty="0"/>
          </a:p>
        </p:txBody>
      </p:sp>
      <p:sp>
        <p:nvSpPr>
          <p:cNvPr id="27" name="Text 24"/>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twice a week</a:t>
            </a:r>
            <a:endParaRPr lang="en-US" sz="1350" dirty="0"/>
          </a:p>
          <a:p>
            <a:pPr indent="0" marL="0">
              <a:buNone/>
            </a:pPr>
            <a:r>
              <a:rPr lang="en-US" sz="1100" i="1" dirty="0">
                <a:solidFill>
                  <a:srgbClr val="5A6472"/>
                </a:solidFill>
                <a:latin typeface="Calibri" pitchFamily="34" charset="0"/>
                <a:cs typeface="Amiri" pitchFamily="2" charset="-78"/>
              </a:rPr>
              <a:t>mar-ra-tay-ni fī al-us-bū-ʿi</a:t>
            </a:r>
            <a:endParaRPr lang="en-US" sz="1350" dirty="0"/>
          </a:p>
        </p:txBody>
      </p:sp>
      <p:sp>
        <p:nvSpPr>
          <p:cNvPr id="28" name="Text 25"/>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2" charset="-78"/>
                <a:ea typeface="Amiri" pitchFamily="2" charset="-78"/>
                <a:cs typeface="Amiri" pitchFamily="2" charset="-78"/>
              </a:rPr>
              <a:t>مَرَّتَيْنِ</a:t>
            </a:r>
            <a:pPr algn="l" indent="0" marL="0">
              <a:buNone/>
            </a:pPr>
            <a:r>
              <a:rPr lang="en-US" sz="1000" i="1" dirty="0">
                <a:solidFill>
                  <a:srgbClr val="8A6D1E"/>
                </a:solidFill>
                <a:latin typeface="Calibri" pitchFamily="34" charset="0"/>
                <a:cs typeface="Amiri" pitchFamily="2" charset="-78"/>
              </a:rPr>
              <a:t> is the dual — revise the dual from Topic B.</a:t>
            </a:r>
            <a:endParaRPr lang="en-US" sz="100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ثَلَاثَ مَرَّاتٍ فِي الشَّهْرِ</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three times a month</a:t>
            </a:r>
            <a:endParaRPr lang="en-US" sz="1350" dirty="0"/>
          </a:p>
          <a:p>
            <a:pPr indent="0" marL="0">
              <a:buNone/>
            </a:pPr>
            <a:r>
              <a:rPr lang="en-US" sz="1100" i="1" dirty="0">
                <a:solidFill>
                  <a:srgbClr val="5A6472"/>
                </a:solidFill>
                <a:latin typeface="Calibri" pitchFamily="34" charset="0"/>
                <a:cs typeface="Amiri" pitchFamily="2" charset="-78"/>
              </a:rPr>
              <a:t>tha-lā-tha mar-rā-tin fī ash-shah-ri</a:t>
            </a:r>
            <a:endParaRPr lang="en-US" sz="1350" dirty="0"/>
          </a:p>
        </p:txBody>
      </p:sp>
      <p:sp>
        <p:nvSpPr>
          <p:cNvPr id="34" name="Text 31"/>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Numbers 3–10 take a genitive plural: </a:t>
            </a:r>
            <a:pPr algn="l" indent="0" marL="0">
              <a:buNone/>
            </a:pPr>
            <a:r>
              <a:rPr lang="ar-SA" altLang="en-US" sz="1300" dirty="0">
                <a:solidFill>
                  <a:srgbClr val="8A6D1E"/>
                </a:solidFill>
                <a:latin typeface="Amiri" pitchFamily="2" charset="-78"/>
                <a:ea typeface="Amiri" pitchFamily="2" charset="-78"/>
                <a:cs typeface="Amiri" pitchFamily="2" charset="-78"/>
              </a:rPr>
              <a:t>مَرَّاتٍ</a:t>
            </a:r>
            <a:pPr algn="l" indent="0" marL="0">
              <a:buNone/>
            </a:pPr>
            <a:r>
              <a:rPr lang="en-US" sz="1000" i="1" dirty="0">
                <a:solidFill>
                  <a:srgbClr val="8A6D1E"/>
                </a:solidFill>
                <a:latin typeface="Calibri" pitchFamily="34" charset="0"/>
                <a:cs typeface="Amiri" pitchFamily="2" charset="-78"/>
              </a:rPr>
              <a:t>.</a:t>
            </a:r>
            <a:endParaRPr lang="en-US" sz="1000" dirty="0"/>
          </a:p>
        </p:txBody>
      </p:sp>
      <p:sp>
        <p:nvSpPr>
          <p:cNvPr id="35" name="Shape 3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8211312" y="4261104"/>
            <a:ext cx="310896" cy="310896"/>
          </a:xfrm>
          <a:prstGeom prst="ellipse">
            <a:avLst/>
          </a:prstGeom>
          <a:solidFill>
            <a:srgbClr val="F4F1EA"/>
          </a:solidFill>
          <a:ln w="12700">
            <a:solidFill>
              <a:srgbClr val="F4F1EA"/>
            </a:solidFill>
            <a:prstDash val="solid"/>
          </a:ln>
        </p:spPr>
      </p:sp>
      <p:sp>
        <p:nvSpPr>
          <p:cNvPr id="37" name="Text 3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38" name="Text 35"/>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يَوْمِيًّا</a:t>
            </a:r>
            <a:endParaRPr lang="ar-SA" sz="3000" dirty="0"/>
          </a:p>
        </p:txBody>
      </p:sp>
      <p:sp>
        <p:nvSpPr>
          <p:cNvPr id="39" name="Text 36"/>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daily</a:t>
            </a:r>
            <a:endParaRPr lang="en-US" sz="1350" dirty="0"/>
          </a:p>
          <a:p>
            <a:pPr indent="0" marL="0">
              <a:buNone/>
            </a:pPr>
            <a:r>
              <a:rPr lang="en-US" sz="1100" i="1" dirty="0">
                <a:solidFill>
                  <a:srgbClr val="5A6472"/>
                </a:solidFill>
                <a:latin typeface="Calibri" pitchFamily="34" charset="0"/>
                <a:cs typeface="Amiri" pitchFamily="2" charset="-78"/>
              </a:rPr>
              <a:t>yaw-miy-yan</a:t>
            </a:r>
            <a:endParaRPr lang="en-US" sz="1350" dirty="0"/>
          </a:p>
        </p:txBody>
      </p:sp>
      <p:sp>
        <p:nvSpPr>
          <p:cNvPr id="40" name="Shape 37"/>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4389120" y="4261104"/>
            <a:ext cx="310896" cy="310896"/>
          </a:xfrm>
          <a:prstGeom prst="ellipse">
            <a:avLst/>
          </a:prstGeom>
          <a:solidFill>
            <a:srgbClr val="F4F1EA"/>
          </a:solidFill>
          <a:ln w="12700">
            <a:solidFill>
              <a:srgbClr val="F4F1EA"/>
            </a:solidFill>
            <a:prstDash val="solid"/>
          </a:ln>
        </p:spPr>
      </p:sp>
      <p:sp>
        <p:nvSpPr>
          <p:cNvPr id="42" name="Text 39"/>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43" name="Text 40"/>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نَادِرًا</a:t>
            </a:r>
            <a:endParaRPr lang="ar-SA" sz="3000" dirty="0"/>
          </a:p>
        </p:txBody>
      </p:sp>
      <p:sp>
        <p:nvSpPr>
          <p:cNvPr id="44" name="Text 41"/>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rarely</a:t>
            </a:r>
            <a:endParaRPr lang="en-US" sz="1350" dirty="0"/>
          </a:p>
          <a:p>
            <a:pPr indent="0" marL="0">
              <a:buNone/>
            </a:pPr>
            <a:r>
              <a:rPr lang="en-US" sz="1100" i="1" dirty="0">
                <a:solidFill>
                  <a:srgbClr val="5A6472"/>
                </a:solidFill>
                <a:latin typeface="Calibri" pitchFamily="34" charset="0"/>
                <a:cs typeface="Amiri" pitchFamily="2" charset="-78"/>
              </a:rPr>
              <a:t>nā-di-ran</a:t>
            </a:r>
            <a:endParaRPr lang="en-US" sz="1350" dirty="0"/>
          </a:p>
        </p:txBody>
      </p:sp>
      <p:sp>
        <p:nvSpPr>
          <p:cNvPr id="45" name="Shape 4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4261104"/>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26</a:t>
            </a:r>
            <a:endParaRPr lang="en-US" sz="1000" dirty="0"/>
          </a:p>
        </p:txBody>
      </p:sp>
      <p:sp>
        <p:nvSpPr>
          <p:cNvPr id="48" name="Text 45"/>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فِي وَقْتِ فَرَاغِي</a:t>
            </a:r>
            <a:endParaRPr lang="ar-SA" sz="3000" dirty="0"/>
          </a:p>
        </p:txBody>
      </p:sp>
      <p:sp>
        <p:nvSpPr>
          <p:cNvPr id="49" name="Text 46"/>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my free time</a:t>
            </a:r>
            <a:endParaRPr lang="en-US" sz="1350" dirty="0"/>
          </a:p>
          <a:p>
            <a:pPr indent="0" marL="0">
              <a:buNone/>
            </a:pPr>
            <a:r>
              <a:rPr lang="en-US" sz="1100" i="1" dirty="0">
                <a:solidFill>
                  <a:srgbClr val="5A6472"/>
                </a:solidFill>
                <a:latin typeface="Calibri" pitchFamily="34" charset="0"/>
                <a:cs typeface="Amiri" pitchFamily="2" charset="-78"/>
              </a:rPr>
              <a:t>fī waq-ti fa-rā-ghī</a:t>
            </a:r>
            <a:endParaRPr lang="en-US" sz="13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47</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TB-L08 · Hobbies and Free Time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Saying what you prefer</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TB-L08</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27</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أُفَضِّلُ … عَلَى …</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prefer … to …</a:t>
            </a:r>
            <a:endParaRPr lang="en-US" sz="1350" dirty="0"/>
          </a:p>
          <a:p>
            <a:pPr indent="0" marL="0">
              <a:buNone/>
            </a:pPr>
            <a:r>
              <a:rPr lang="en-US" sz="1100" i="1" dirty="0">
                <a:solidFill>
                  <a:srgbClr val="5A6472"/>
                </a:solidFill>
                <a:latin typeface="Calibri" pitchFamily="34" charset="0"/>
                <a:cs typeface="Amiri" pitchFamily="2" charset="-78"/>
              </a:rPr>
              <a:t>u-faḍ-ḍi-lu … ʿa-lā …</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The thing preferred less follows </a:t>
            </a:r>
            <a:pPr algn="l" indent="0" marL="0">
              <a:buNone/>
            </a:pPr>
            <a:r>
              <a:rPr lang="ar-SA" altLang="en-US" sz="1300" dirty="0">
                <a:solidFill>
                  <a:srgbClr val="8A6D1E"/>
                </a:solidFill>
                <a:latin typeface="Amiri" pitchFamily="2" charset="-78"/>
                <a:ea typeface="Amiri" pitchFamily="2" charset="-78"/>
                <a:cs typeface="Amiri" pitchFamily="2" charset="-78"/>
              </a:rPr>
              <a:t>عَلَى</a:t>
            </a:r>
            <a:pPr algn="l" indent="0" marL="0">
              <a:buNone/>
            </a:pPr>
            <a:r>
              <a:rPr lang="en-US" sz="1000" i="1" dirty="0">
                <a:solidFill>
                  <a:srgbClr val="8A6D1E"/>
                </a:solidFill>
                <a:latin typeface="Calibri" pitchFamily="34" charset="0"/>
                <a:cs typeface="Amiri" pitchFamily="2" charset="-78"/>
              </a:rPr>
              <a:t>.</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28</a:t>
            </a:r>
            <a:endParaRPr lang="en-US" sz="1000" dirty="0"/>
          </a:p>
        </p:txBody>
      </p:sp>
      <p:sp>
        <p:nvSpPr>
          <p:cNvPr id="26" name="Text 23"/>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أَسْتَمْتِعُ بِـ …</a:t>
            </a:r>
            <a:endParaRPr lang="ar-SA" sz="3000" dirty="0"/>
          </a:p>
        </p:txBody>
      </p:sp>
      <p:sp>
        <p:nvSpPr>
          <p:cNvPr id="27" name="Text 24"/>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enjoy …</a:t>
            </a:r>
            <a:endParaRPr lang="en-US" sz="1350" dirty="0"/>
          </a:p>
          <a:p>
            <a:pPr indent="0" marL="0">
              <a:buNone/>
            </a:pPr>
            <a:r>
              <a:rPr lang="en-US" sz="1100" i="1" dirty="0">
                <a:solidFill>
                  <a:srgbClr val="5A6472"/>
                </a:solidFill>
                <a:latin typeface="Calibri" pitchFamily="34" charset="0"/>
                <a:cs typeface="Amiri" pitchFamily="2" charset="-78"/>
              </a:rPr>
              <a:t>as-tam-ti-ʿu bi …</a:t>
            </a:r>
            <a:endParaRPr lang="en-US" sz="1350" dirty="0"/>
          </a:p>
        </p:txBody>
      </p:sp>
      <p:sp>
        <p:nvSpPr>
          <p:cNvPr id="28" name="Text 25"/>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2" charset="-78"/>
                <a:ea typeface="Amiri" pitchFamily="2" charset="-78"/>
                <a:cs typeface="Amiri" pitchFamily="2" charset="-78"/>
              </a:rPr>
              <a:t>بِـ</a:t>
            </a:r>
            <a:pPr algn="l" indent="0" marL="0">
              <a:buNone/>
            </a:pPr>
            <a:r>
              <a:rPr lang="en-US" sz="1000" i="1" dirty="0">
                <a:solidFill>
                  <a:srgbClr val="8A6D1E"/>
                </a:solidFill>
                <a:latin typeface="Calibri" pitchFamily="34" charset="0"/>
                <a:cs typeface="Amiri" pitchFamily="2" charset="-78"/>
              </a:rPr>
              <a:t> is followed by the genitive.</a:t>
            </a:r>
            <a:endParaRPr lang="en-US" sz="100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29</a:t>
            </a:r>
            <a:endParaRPr lang="en-US" sz="1000" dirty="0"/>
          </a:p>
        </p:txBody>
      </p:sp>
      <p:sp>
        <p:nvSpPr>
          <p:cNvPr id="32" name="Shape 29"/>
          <p:cNvSpPr/>
          <p:nvPr/>
        </p:nvSpPr>
        <p:spPr>
          <a:xfrm>
            <a:off x="960120" y="1938528"/>
            <a:ext cx="1580083" cy="256032"/>
          </a:xfrm>
          <a:prstGeom prst="roundRect">
            <a:avLst>
              <a:gd name="adj" fmla="val 50000"/>
            </a:avLst>
          </a:prstGeom>
          <a:solidFill>
            <a:srgbClr val="EFE7D2"/>
          </a:solidFill>
          <a:ln w="12700">
            <a:solidFill>
              <a:srgbClr val="EFE7D2"/>
            </a:solidFill>
            <a:prstDash val="solid"/>
          </a:ln>
        </p:spPr>
      </p:sp>
      <p:sp>
        <p:nvSpPr>
          <p:cNvPr id="33" name="Text 30"/>
          <p:cNvSpPr txBox="1"/>
          <p:nvPr/>
        </p:nvSpPr>
        <p:spPr>
          <a:xfrm>
            <a:off x="960120" y="1938528"/>
            <a:ext cx="1580083" cy="256032"/>
          </a:xfrm>
          <a:prstGeom prst="rect">
            <a:avLst/>
          </a:prstGeom>
          <a:noFill/>
          <a:ln/>
        </p:spPr>
        <p:txBody>
          <a:bodyPr wrap="square" lIns="0" tIns="0" rIns="0" bIns="0" rtlCol="0" anchor="ctr"/>
          <a:lstStyle/>
          <a:p>
            <a:pPr algn="ctr" indent="0" marL="0">
              <a:buNone/>
            </a:pPr>
            <a:r>
              <a:rPr lang="ar-SA" sz="800" b="1" dirty="0">
                <a:solidFill>
                  <a:srgbClr val="8A6D1E"/>
                </a:solidFill>
                <a:latin typeface="Calibri" pitchFamily="34" charset="0"/>
                <a:ea typeface="Amiri" pitchFamily="2" charset="-78"/>
                <a:cs typeface="Amiri" pitchFamily="2" charset="-78"/>
              </a:rPr>
              <a:t>حَقًّا adds emphasis.</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أَهْوَى … حَقًّا</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am truly passionate about …</a:t>
            </a:r>
            <a:endParaRPr lang="en-US" sz="1350" dirty="0"/>
          </a:p>
          <a:p>
            <a:pPr indent="0" marL="0">
              <a:buNone/>
            </a:pPr>
            <a:r>
              <a:rPr lang="en-US" sz="1100" i="1" dirty="0">
                <a:solidFill>
                  <a:srgbClr val="5A6472"/>
                </a:solidFill>
                <a:latin typeface="Calibri" pitchFamily="34" charset="0"/>
                <a:cs typeface="Amiri" pitchFamily="2" charset="-78"/>
              </a:rPr>
              <a:t>ah-wā … ḥaq-qan</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30</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أَكْثَرَ مِنْ</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more than</a:t>
            </a:r>
            <a:endParaRPr lang="en-US" sz="1350" dirty="0"/>
          </a:p>
          <a:p>
            <a:pPr indent="0" marL="0">
              <a:buNone/>
            </a:pPr>
            <a:r>
              <a:rPr lang="en-US" sz="1100" i="1" dirty="0">
                <a:solidFill>
                  <a:srgbClr val="5A6472"/>
                </a:solidFill>
                <a:latin typeface="Calibri" pitchFamily="34" charset="0"/>
                <a:cs typeface="Amiri" pitchFamily="2" charset="-78"/>
              </a:rPr>
              <a:t>ak-tha-ra min</a:t>
            </a:r>
            <a:endParaRPr lang="en-US" sz="1350" dirty="0"/>
          </a:p>
        </p:txBody>
      </p:sp>
      <p:sp>
        <p:nvSpPr>
          <p:cNvPr id="41" name="Shape 3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4389120"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31</a:t>
            </a:r>
            <a:endParaRPr lang="en-US" sz="1000" dirty="0"/>
          </a:p>
        </p:txBody>
      </p:sp>
      <p:sp>
        <p:nvSpPr>
          <p:cNvPr id="44" name="Text 4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لِأَنَّ</a:t>
            </a:r>
            <a:endParaRPr lang="ar-SA" sz="3000" dirty="0"/>
          </a:p>
        </p:txBody>
      </p:sp>
      <p:sp>
        <p:nvSpPr>
          <p:cNvPr id="45" name="Text 4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because</a:t>
            </a:r>
            <a:endParaRPr lang="en-US" sz="1350" dirty="0"/>
          </a:p>
          <a:p>
            <a:pPr indent="0" marL="0">
              <a:buNone/>
            </a:pPr>
            <a:r>
              <a:rPr lang="en-US" sz="1100" i="1" dirty="0">
                <a:solidFill>
                  <a:srgbClr val="5A6472"/>
                </a:solidFill>
                <a:latin typeface="Calibri" pitchFamily="34" charset="0"/>
                <a:cs typeface="Amiri" pitchFamily="2" charset="-78"/>
              </a:rPr>
              <a:t>li-ʾan-na</a:t>
            </a:r>
            <a:endParaRPr lang="en-US" sz="1350" dirty="0"/>
          </a:p>
        </p:txBody>
      </p:sp>
      <p:sp>
        <p:nvSpPr>
          <p:cNvPr id="46" name="Text 43"/>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en-US" sz="950" i="1" dirty="0">
                <a:solidFill>
                  <a:srgbClr val="8A6D1E"/>
                </a:solidFill>
                <a:latin typeface="Calibri" pitchFamily="34" charset="0"/>
                <a:cs typeface="Amiri" pitchFamily="2" charset="-78"/>
              </a:rPr>
              <a:t>Followed by a noun or attached pronoun in the accusative.</a:t>
            </a:r>
            <a:endParaRPr lang="en-US" sz="950" dirty="0"/>
          </a:p>
        </p:txBody>
      </p:sp>
      <p:sp>
        <p:nvSpPr>
          <p:cNvPr id="47" name="Shape 44"/>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66928"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32</a:t>
            </a:r>
            <a:endParaRPr lang="en-US" sz="1000" dirty="0"/>
          </a:p>
        </p:txBody>
      </p:sp>
      <p:sp>
        <p:nvSpPr>
          <p:cNvPr id="50" name="Text 4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مُمْتِعٌ / مُمْتِعَةٌ</a:t>
            </a:r>
            <a:endParaRPr lang="ar-SA" sz="3000" dirty="0"/>
          </a:p>
        </p:txBody>
      </p:sp>
      <p:sp>
        <p:nvSpPr>
          <p:cNvPr id="51" name="Text 4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enjoyable</a:t>
            </a:r>
            <a:endParaRPr lang="en-US" sz="1350" dirty="0"/>
          </a:p>
          <a:p>
            <a:pPr indent="0" marL="0">
              <a:buNone/>
            </a:pPr>
            <a:r>
              <a:rPr lang="en-US" sz="1100" i="1" dirty="0">
                <a:solidFill>
                  <a:srgbClr val="5A6472"/>
                </a:solidFill>
                <a:latin typeface="Calibri" pitchFamily="34" charset="0"/>
                <a:cs typeface="Amiri" pitchFamily="2" charset="-78"/>
              </a:rPr>
              <a:t>mum-ti-ʿun / mum-ti-ʿa-tun</a:t>
            </a:r>
            <a:endParaRPr lang="en-US" sz="1350" dirty="0"/>
          </a:p>
        </p:txBody>
      </p:sp>
      <p:sp>
        <p:nvSpPr>
          <p:cNvPr id="52" name="Text 49"/>
          <p:cNvSpPr txBox="1"/>
          <p:nvPr/>
        </p:nvSpPr>
        <p:spPr>
          <a:xfrm>
            <a:off x="594360"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The adjective agrees with its noun.</a:t>
            </a:r>
            <a:endParaRPr lang="en-US" sz="1000" dirty="0"/>
          </a:p>
        </p:txBody>
      </p:sp>
      <p:sp>
        <p:nvSpPr>
          <p:cNvPr id="53" name="Text 5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47</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TB-L08 · Hobbies and Free Time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7" b="1" spc="150" kern="0" dirty="0">
                <a:solidFill>
                  <a:srgbClr val="1B3B6F"/>
                </a:solidFill>
                <a:latin typeface="Calibri" pitchFamily="34" charset="0"/>
                <a:cs typeface="Amiri" pitchFamily="2" charset="-78"/>
              </a:rPr>
              <a:t>GRAMMAR FOCUS · PART 1 · THE RIGHT VERB FOR THE ACTIVITY (WEBSITE COLLOCATION TABLE)</a:t>
            </a:r>
            <a:endParaRPr lang="en-US" sz="807"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Play, practise, play on, listen to</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التَّلَازُمُ اللَّفْظِيُّ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244584"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 (I)</a:t>
            </a:r>
            <a:endParaRPr lang="en-US" sz="1100" dirty="0"/>
          </a:p>
        </p:txBody>
      </p:sp>
      <p:sp>
        <p:nvSpPr>
          <p:cNvPr id="17" name="Text 14"/>
          <p:cNvSpPr txBox="1"/>
          <p:nvPr/>
        </p:nvSpPr>
        <p:spPr>
          <a:xfrm>
            <a:off x="6592824" y="1810512"/>
            <a:ext cx="25054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follows</a:t>
            </a:r>
            <a:endParaRPr lang="en-US" sz="1100" dirty="0"/>
          </a:p>
        </p:txBody>
      </p:sp>
      <p:sp>
        <p:nvSpPr>
          <p:cNvPr id="18" name="Text 15"/>
          <p:cNvSpPr txBox="1"/>
          <p:nvPr/>
        </p:nvSpPr>
        <p:spPr>
          <a:xfrm>
            <a:off x="2935224"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a:t>
            </a:r>
            <a:endParaRPr lang="en-US" sz="1100" dirty="0"/>
          </a:p>
        </p:txBody>
      </p:sp>
      <p:sp>
        <p:nvSpPr>
          <p:cNvPr id="19" name="Text 16"/>
          <p:cNvSpPr txBox="1"/>
          <p:nvPr/>
        </p:nvSpPr>
        <p:spPr>
          <a:xfrm>
            <a:off x="530352" y="1810512"/>
            <a:ext cx="22585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9262872" y="2267712"/>
            <a:ext cx="237744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ea typeface="Amiri" pitchFamily="2" charset="-78"/>
                <a:cs typeface="Amiri" pitchFamily="2" charset="-78"/>
              </a:rPr>
              <a:t>أَلْعَبُ</a:t>
            </a:r>
            <a:endParaRPr lang="ar-SA" sz="2400" dirty="0"/>
          </a:p>
        </p:txBody>
      </p:sp>
      <p:sp>
        <p:nvSpPr>
          <p:cNvPr id="22" name="Text 19"/>
          <p:cNvSpPr txBox="1"/>
          <p:nvPr/>
        </p:nvSpPr>
        <p:spPr>
          <a:xfrm>
            <a:off x="6629400" y="2267712"/>
            <a:ext cx="24688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ball / board game</a:t>
            </a:r>
            <a:endParaRPr lang="en-US" sz="1100" dirty="0"/>
          </a:p>
        </p:txBody>
      </p:sp>
      <p:sp>
        <p:nvSpPr>
          <p:cNvPr id="23" name="Text 20"/>
          <p:cNvSpPr txBox="1"/>
          <p:nvPr/>
        </p:nvSpPr>
        <p:spPr>
          <a:xfrm>
            <a:off x="2953512" y="2267712"/>
            <a:ext cx="347472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ea typeface="Amiri" pitchFamily="2" charset="-78"/>
                <a:cs typeface="Amiri" pitchFamily="2" charset="-78"/>
              </a:rPr>
              <a:t>أَلْعَبُ</a:t>
            </a:r>
            <a:pPr rtl="1" algn="ctr" indent="0" marL="0">
              <a:buNone/>
            </a:pPr>
            <a:r>
              <a:rPr lang="ar-SA" altLang="en-US" sz="2400" b="1" dirty="0">
                <a:solidFill>
                  <a:srgbClr val="1B3B6F"/>
                </a:solidFill>
                <a:latin typeface="Amiri" pitchFamily="2" charset="-78"/>
                <a:ea typeface="Amiri" pitchFamily="2" charset="-78"/>
                <a:cs typeface="Amiri" pitchFamily="2" charset="-78"/>
              </a:rPr>
              <a:t> كُرَةَ السَّلَّةِ</a:t>
            </a:r>
            <a:endParaRPr lang="ar-SA" sz="2400" dirty="0"/>
          </a:p>
        </p:txBody>
      </p:sp>
      <p:sp>
        <p:nvSpPr>
          <p:cNvPr id="24" name="Text 21"/>
          <p:cNvSpPr txBox="1"/>
          <p:nvPr/>
        </p:nvSpPr>
        <p:spPr>
          <a:xfrm>
            <a:off x="566928" y="2267712"/>
            <a:ext cx="22219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play basketball</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9262872" y="3054096"/>
            <a:ext cx="237744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ea typeface="Amiri" pitchFamily="2" charset="-78"/>
                <a:cs typeface="Amiri" pitchFamily="2" charset="-78"/>
              </a:rPr>
              <a:t>أُمَارِسُ</a:t>
            </a:r>
            <a:endParaRPr lang="ar-SA" sz="2400" dirty="0"/>
          </a:p>
        </p:txBody>
      </p:sp>
      <p:sp>
        <p:nvSpPr>
          <p:cNvPr id="29" name="Text 26"/>
          <p:cNvSpPr txBox="1"/>
          <p:nvPr/>
        </p:nvSpPr>
        <p:spPr>
          <a:xfrm>
            <a:off x="6629400" y="3054096"/>
            <a:ext cx="24688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 activity</a:t>
            </a:r>
            <a:endParaRPr lang="en-US" sz="1100" dirty="0"/>
          </a:p>
        </p:txBody>
      </p:sp>
      <p:sp>
        <p:nvSpPr>
          <p:cNvPr id="30" name="Text 27"/>
          <p:cNvSpPr txBox="1"/>
          <p:nvPr/>
        </p:nvSpPr>
        <p:spPr>
          <a:xfrm>
            <a:off x="2953512" y="3054096"/>
            <a:ext cx="347472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ea typeface="Amiri" pitchFamily="2" charset="-78"/>
                <a:cs typeface="Amiri" pitchFamily="2" charset="-78"/>
              </a:rPr>
              <a:t>أُمَارِسُ</a:t>
            </a:r>
            <a:pPr rtl="1" algn="ctr" indent="0" marL="0">
              <a:buNone/>
            </a:pPr>
            <a:r>
              <a:rPr lang="ar-SA" altLang="en-US" sz="2400" b="1" dirty="0">
                <a:solidFill>
                  <a:srgbClr val="1B3B6F"/>
                </a:solidFill>
                <a:latin typeface="Amiri" pitchFamily="2" charset="-78"/>
                <a:ea typeface="Amiri" pitchFamily="2" charset="-78"/>
                <a:cs typeface="Amiri" pitchFamily="2" charset="-78"/>
              </a:rPr>
              <a:t> السِّبَاحَةَ</a:t>
            </a:r>
            <a:endParaRPr lang="ar-SA" sz="2400" dirty="0"/>
          </a:p>
        </p:txBody>
      </p:sp>
      <p:sp>
        <p:nvSpPr>
          <p:cNvPr id="31" name="Text 28"/>
          <p:cNvSpPr txBox="1"/>
          <p:nvPr/>
        </p:nvSpPr>
        <p:spPr>
          <a:xfrm>
            <a:off x="566928" y="3054096"/>
            <a:ext cx="22219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go swimming</a:t>
            </a:r>
            <a:endParaRPr lang="en-US" sz="1100" dirty="0"/>
          </a:p>
        </p:txBody>
      </p:sp>
      <p:sp>
        <p:nvSpPr>
          <p:cNvPr id="32" name="Shape 29"/>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5" name="Text 32"/>
          <p:cNvSpPr txBox="1"/>
          <p:nvPr/>
        </p:nvSpPr>
        <p:spPr>
          <a:xfrm>
            <a:off x="9262872" y="3840480"/>
            <a:ext cx="237744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أَعْزِفُ </a:t>
            </a:r>
            <a:pPr rtl="1" algn="ctr" indent="0" marL="0">
              <a:buNone/>
            </a:pPr>
            <a:r>
              <a:rPr lang="ar-SA" altLang="en-US" sz="2400" b="1" dirty="0">
                <a:solidFill>
                  <a:srgbClr val="0E7C86"/>
                </a:solidFill>
                <a:latin typeface="Amiri" pitchFamily="2" charset="-78"/>
                <a:ea typeface="Amiri" pitchFamily="2" charset="-78"/>
                <a:cs typeface="Amiri" pitchFamily="2" charset="-78"/>
              </a:rPr>
              <a:t>عَلَى</a:t>
            </a:r>
            <a:endParaRPr lang="ar-SA" sz="2400" dirty="0"/>
          </a:p>
        </p:txBody>
      </p:sp>
      <p:sp>
        <p:nvSpPr>
          <p:cNvPr id="36" name="Text 33"/>
          <p:cNvSpPr txBox="1"/>
          <p:nvPr/>
        </p:nvSpPr>
        <p:spPr>
          <a:xfrm>
            <a:off x="6629400" y="3840480"/>
            <a:ext cx="24688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 instrument</a:t>
            </a:r>
            <a:endParaRPr lang="en-US" sz="1100" dirty="0"/>
          </a:p>
        </p:txBody>
      </p:sp>
      <p:sp>
        <p:nvSpPr>
          <p:cNvPr id="37" name="Text 34"/>
          <p:cNvSpPr txBox="1"/>
          <p:nvPr/>
        </p:nvSpPr>
        <p:spPr>
          <a:xfrm>
            <a:off x="2953512" y="3840480"/>
            <a:ext cx="347472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أَعْزِفُ </a:t>
            </a:r>
            <a:pPr rtl="1" algn="ctr" indent="0" marL="0">
              <a:buNone/>
            </a:pPr>
            <a:r>
              <a:rPr lang="ar-SA" altLang="en-US" sz="2400" b="1" dirty="0">
                <a:solidFill>
                  <a:srgbClr val="0E7C86"/>
                </a:solidFill>
                <a:latin typeface="Amiri" pitchFamily="2" charset="-78"/>
                <a:ea typeface="Amiri" pitchFamily="2" charset="-78"/>
                <a:cs typeface="Amiri" pitchFamily="2" charset="-78"/>
              </a:rPr>
              <a:t>عَلَى</a:t>
            </a:r>
            <a:pPr rtl="1" algn="ctr" indent="0" marL="0">
              <a:buNone/>
            </a:pPr>
            <a:r>
              <a:rPr lang="ar-SA" altLang="en-US" sz="2400" b="1" dirty="0">
                <a:solidFill>
                  <a:srgbClr val="1B3B6F"/>
                </a:solidFill>
                <a:latin typeface="Amiri" pitchFamily="2" charset="-78"/>
                <a:ea typeface="Amiri" pitchFamily="2" charset="-78"/>
                <a:cs typeface="Amiri" pitchFamily="2" charset="-78"/>
              </a:rPr>
              <a:t> البِيَانُو</a:t>
            </a:r>
            <a:endParaRPr lang="ar-SA" sz="2400" dirty="0"/>
          </a:p>
        </p:txBody>
      </p:sp>
      <p:sp>
        <p:nvSpPr>
          <p:cNvPr id="38" name="Text 35"/>
          <p:cNvSpPr txBox="1"/>
          <p:nvPr/>
        </p:nvSpPr>
        <p:spPr>
          <a:xfrm>
            <a:off x="566928" y="3840480"/>
            <a:ext cx="22219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play the piano</a:t>
            </a:r>
            <a:endParaRPr lang="en-US" sz="1100" dirty="0"/>
          </a:p>
        </p:txBody>
      </p:sp>
      <p:sp>
        <p:nvSpPr>
          <p:cNvPr id="39" name="Shape 36"/>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2" name="Text 39"/>
          <p:cNvSpPr txBox="1"/>
          <p:nvPr/>
        </p:nvSpPr>
        <p:spPr>
          <a:xfrm>
            <a:off x="9262872" y="4626864"/>
            <a:ext cx="237744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أَسْتَمِعُ </a:t>
            </a:r>
            <a:pPr rtl="1" algn="ctr" indent="0" marL="0">
              <a:buNone/>
            </a:pPr>
            <a:r>
              <a:rPr lang="ar-SA" altLang="en-US" sz="2400" b="1" dirty="0">
                <a:solidFill>
                  <a:srgbClr val="0E7C86"/>
                </a:solidFill>
                <a:latin typeface="Amiri" pitchFamily="2" charset="-78"/>
                <a:ea typeface="Amiri" pitchFamily="2" charset="-78"/>
                <a:cs typeface="Amiri" pitchFamily="2" charset="-78"/>
              </a:rPr>
              <a:t>إِلَى</a:t>
            </a:r>
            <a:endParaRPr lang="ar-SA" sz="2400" dirty="0"/>
          </a:p>
        </p:txBody>
      </p:sp>
      <p:sp>
        <p:nvSpPr>
          <p:cNvPr id="43" name="Text 40"/>
          <p:cNvSpPr txBox="1"/>
          <p:nvPr/>
        </p:nvSpPr>
        <p:spPr>
          <a:xfrm>
            <a:off x="6629400" y="4626864"/>
            <a:ext cx="24688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sound</a:t>
            </a:r>
            <a:endParaRPr lang="en-US" sz="1100" dirty="0"/>
          </a:p>
        </p:txBody>
      </p:sp>
      <p:sp>
        <p:nvSpPr>
          <p:cNvPr id="44" name="Text 41"/>
          <p:cNvSpPr txBox="1"/>
          <p:nvPr/>
        </p:nvSpPr>
        <p:spPr>
          <a:xfrm>
            <a:off x="2953512" y="4626864"/>
            <a:ext cx="347472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أَسْتَمِعُ </a:t>
            </a:r>
            <a:pPr rtl="1" algn="ctr" indent="0" marL="0">
              <a:buNone/>
            </a:pPr>
            <a:r>
              <a:rPr lang="ar-SA" altLang="en-US" sz="2400" b="1" dirty="0">
                <a:solidFill>
                  <a:srgbClr val="0E7C86"/>
                </a:solidFill>
                <a:latin typeface="Amiri" pitchFamily="2" charset="-78"/>
                <a:ea typeface="Amiri" pitchFamily="2" charset="-78"/>
                <a:cs typeface="Amiri" pitchFamily="2" charset="-78"/>
              </a:rPr>
              <a:t>إِلَى</a:t>
            </a:r>
            <a:pPr rtl="1" algn="ctr" indent="0" marL="0">
              <a:buNone/>
            </a:pPr>
            <a:r>
              <a:rPr lang="ar-SA" altLang="en-US" sz="2400" b="1" dirty="0">
                <a:solidFill>
                  <a:srgbClr val="1B3B6F"/>
                </a:solidFill>
                <a:latin typeface="Amiri" pitchFamily="2" charset="-78"/>
                <a:ea typeface="Amiri" pitchFamily="2" charset="-78"/>
                <a:cs typeface="Amiri" pitchFamily="2" charset="-78"/>
              </a:rPr>
              <a:t> المُوسِيقَى</a:t>
            </a:r>
            <a:endParaRPr lang="ar-SA" sz="2400" dirty="0"/>
          </a:p>
        </p:txBody>
      </p:sp>
      <p:sp>
        <p:nvSpPr>
          <p:cNvPr id="45" name="Text 42"/>
          <p:cNvSpPr txBox="1"/>
          <p:nvPr/>
        </p:nvSpPr>
        <p:spPr>
          <a:xfrm>
            <a:off x="566928" y="4626864"/>
            <a:ext cx="22219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listen to music</a:t>
            </a:r>
            <a:endParaRPr lang="en-US" sz="1100" dirty="0"/>
          </a:p>
        </p:txBody>
      </p:sp>
      <p:sp>
        <p:nvSpPr>
          <p:cNvPr id="46" name="Text 4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Store verb + preposition + noun as one unit (website). “I play swimming” does not exist in Arabic.</a:t>
            </a:r>
            <a:endParaRPr lang="en-US" sz="11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47</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TB-L08 · Hobbies and Free Time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2 · HOW OFTEN AND WHICH YOU PREFER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Twice a week … I prefer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التَّكْرَارُ وَالتَّفْضِيلُ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TB-L08</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37160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3716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HOW OFTEN · CORE</a:t>
            </a:r>
            <a:endParaRPr lang="en-US" sz="850" dirty="0"/>
          </a:p>
        </p:txBody>
      </p:sp>
      <p:sp>
        <p:nvSpPr>
          <p:cNvPr id="18" name="Text 15"/>
          <p:cNvSpPr txBox="1"/>
          <p:nvPr/>
        </p:nvSpPr>
        <p:spPr>
          <a:xfrm>
            <a:off x="9649968" y="1874520"/>
            <a:ext cx="19446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مَرَّةً · مَرَّتَيْنِ</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أُمَارِسُ السِّبَاحَةَ مَرَّتَيْنِ فِي الأُسْبُوعِ.</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swim twice a week.</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3–10: thalātha marrātin.</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371600" cy="274320"/>
          </a:xfrm>
          <a:prstGeom prst="roundRect">
            <a:avLst>
              <a:gd name="adj" fmla="val 50000"/>
            </a:avLst>
          </a:prstGeom>
          <a:solidFill>
            <a:srgbClr val="1E7B4F"/>
          </a:solidFill>
          <a:ln w="12700">
            <a:solidFill>
              <a:srgbClr val="1E7B4F"/>
            </a:solidFill>
            <a:prstDash val="solid"/>
          </a:ln>
        </p:spPr>
      </p:sp>
      <p:sp>
        <p:nvSpPr>
          <p:cNvPr id="25" name="Text 22"/>
          <p:cNvSpPr txBox="1"/>
          <p:nvPr/>
        </p:nvSpPr>
        <p:spPr>
          <a:xfrm>
            <a:off x="4413504" y="1920240"/>
            <a:ext cx="13716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PREFER · DEVELOP</a:t>
            </a:r>
            <a:endParaRPr lang="en-US" sz="850" dirty="0"/>
          </a:p>
        </p:txBody>
      </p:sp>
      <p:sp>
        <p:nvSpPr>
          <p:cNvPr id="26" name="Text 23"/>
          <p:cNvSpPr txBox="1"/>
          <p:nvPr/>
        </p:nvSpPr>
        <p:spPr>
          <a:xfrm>
            <a:off x="5830824" y="1874520"/>
            <a:ext cx="19446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أُفَضِّلُ … عَلَى …</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2" charset="-78"/>
                <a:ea typeface="Amiri" pitchFamily="2" charset="-78"/>
                <a:cs typeface="Amiri" pitchFamily="2" charset="-78"/>
              </a:rPr>
              <a:t>أُفَضِّلُ المُوسِيقَى عَلَى الرِّيَاضَةِ.</a:t>
            </a:r>
            <a:endParaRPr lang="ar-SA" sz="25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prefer music to sport.</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The loser comes after ‘alā.</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303020" cy="274320"/>
          </a:xfrm>
          <a:prstGeom prst="roundRect">
            <a:avLst>
              <a:gd name="adj" fmla="val 50000"/>
            </a:avLst>
          </a:prstGeom>
          <a:solidFill>
            <a:srgbClr val="B83280"/>
          </a:solidFill>
          <a:ln w="12700">
            <a:solidFill>
              <a:srgbClr val="B83280"/>
            </a:solidFill>
            <a:prstDash val="solid"/>
          </a:ln>
        </p:spPr>
      </p:sp>
      <p:sp>
        <p:nvSpPr>
          <p:cNvPr id="33" name="Text 30"/>
          <p:cNvSpPr txBox="1"/>
          <p:nvPr/>
        </p:nvSpPr>
        <p:spPr>
          <a:xfrm>
            <a:off x="594360" y="1920240"/>
            <a:ext cx="13030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ENJOY · STRETCH</a:t>
            </a:r>
            <a:endParaRPr lang="en-US" sz="850" dirty="0"/>
          </a:p>
        </p:txBody>
      </p:sp>
      <p:sp>
        <p:nvSpPr>
          <p:cNvPr id="34" name="Text 31"/>
          <p:cNvSpPr txBox="1"/>
          <p:nvPr/>
        </p:nvSpPr>
        <p:spPr>
          <a:xfrm>
            <a:off x="1943100" y="1874520"/>
            <a:ext cx="20132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أَسْتَمْتِعُ بِـ · أَهْوَى</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أَسْتَمْتِعُ بِالقِرَاءَةِ أَكْثَرَ مِنَ الغِنَاءِ.</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enjoy reading more than singing.</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bi- + the hobby.</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common mistake: 3–10 take a plural — marrātin.</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1B3B6F"/>
                </a:solidFill>
                <a:latin typeface="Amiri" pitchFamily="2" charset="-78"/>
                <a:ea typeface="Amiri" pitchFamily="2" charset="-78"/>
                <a:cs typeface="Amiri" pitchFamily="2" charset="-78"/>
              </a:rPr>
              <a:t>ثَلَاثَ مَرَّاتٍ فِي الشَّهْرِ</a:t>
            </a:r>
            <a:endParaRPr lang="ar-SA" sz="18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B83227"/>
                </a:solidFill>
                <a:latin typeface="Amiri" pitchFamily="2" charset="-78"/>
                <a:ea typeface="Amiri" pitchFamily="2" charset="-78"/>
                <a:cs typeface="Amiri" pitchFamily="2" charset="-78"/>
              </a:rPr>
              <a:t>ثَلَاثَ مَرَّةٍ فِي الشَّهْرِ</a:t>
            </a:r>
            <a:endParaRPr lang="ar-SA" sz="19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47</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TB-L08 · Hobbies and Free Time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Collocation, frequency and preference</a:t>
            </a:r>
            <a:endParaRPr lang="en-US" sz="24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600" b="1" dirty="0">
                <a:solidFill>
                  <a:srgbClr val="8A6D1E"/>
                </a:solidFill>
                <a:latin typeface="Amiri" pitchFamily="2" charset="-78"/>
                <a:ea typeface="Amiri" pitchFamily="2" charset="-78"/>
                <a:cs typeface="Amiri" pitchFamily="2" charset="-78"/>
              </a:rPr>
              <a:t>التَّلَازُمُ اللَّفْظِيُّ وَالتَّكْرَارُ وَالتَّفْضِيلُ</a:t>
            </a:r>
            <a:endParaRPr lang="ar-SA" sz="26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TB-L08</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a:t>
            </a:r>
            <a:pPr algn="l" indent="0" marL="0">
              <a:buNone/>
            </a:pPr>
            <a:r>
              <a:rPr lang="ar-SA" altLang="en-US" sz="1650" b="1" dirty="0">
                <a:solidFill>
                  <a:srgbClr val="1B3B6F"/>
                </a:solidFill>
                <a:latin typeface="Amiri" pitchFamily="2" charset="-78"/>
                <a:ea typeface="Amiri" pitchFamily="2" charset="-78"/>
                <a:cs typeface="Amiri" pitchFamily="2" charset="-78"/>
              </a:rPr>
              <a:t>يَلْعَبُ</a:t>
            </a:r>
            <a:pPr algn="l" indent="0" marL="0">
              <a:buNone/>
            </a:pPr>
            <a:r>
              <a:rPr lang="en-US" sz="1250" b="1" dirty="0">
                <a:solidFill>
                  <a:srgbClr val="1B3B6F"/>
                </a:solidFill>
                <a:latin typeface="Calibri" pitchFamily="34" charset="0"/>
                <a:cs typeface="Amiri" pitchFamily="2" charset="-78"/>
              </a:rPr>
              <a:t> with ball games</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يَلْعَبُ</a:t>
            </a:r>
            <a:pPr algn="l" indent="0" marL="0">
              <a:buNone/>
            </a:pPr>
            <a:r>
              <a:rPr lang="en-US" sz="1050" dirty="0">
                <a:solidFill>
                  <a:srgbClr val="5A6472"/>
                </a:solidFill>
                <a:latin typeface="Calibri" pitchFamily="34" charset="0"/>
                <a:cs typeface="Amiri" pitchFamily="2" charset="-78"/>
              </a:rPr>
              <a:t> + accusative ball-game noun</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يَلْعَبُ كُرَةَ القَدَمِ   ·   تَلْعَبُ كُرَةَ السَّلَّةِ</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a:t>
            </a:r>
            <a:pPr algn="l" indent="0" marL="0">
              <a:buNone/>
            </a:pPr>
            <a:r>
              <a:rPr lang="ar-SA" altLang="en-US" sz="1650" b="1" dirty="0">
                <a:solidFill>
                  <a:srgbClr val="1B3B6F"/>
                </a:solidFill>
                <a:latin typeface="Amiri" pitchFamily="2" charset="-78"/>
                <a:ea typeface="Amiri" pitchFamily="2" charset="-78"/>
                <a:cs typeface="Amiri" pitchFamily="2" charset="-78"/>
              </a:rPr>
              <a:t>يُمَارِسُ</a:t>
            </a:r>
            <a:pPr algn="l" indent="0" marL="0">
              <a:buNone/>
            </a:pPr>
            <a:r>
              <a:rPr lang="en-US" sz="1250" b="1" dirty="0">
                <a:solidFill>
                  <a:srgbClr val="1B3B6F"/>
                </a:solidFill>
                <a:latin typeface="Calibri" pitchFamily="34" charset="0"/>
                <a:cs typeface="Amiri" pitchFamily="2" charset="-78"/>
              </a:rPr>
              <a:t> with an activity noun</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يُمَارِسُ</a:t>
            </a:r>
            <a:pPr algn="l" indent="0" marL="0">
              <a:buNone/>
            </a:pPr>
            <a:r>
              <a:rPr lang="en-US" sz="1050" dirty="0">
                <a:solidFill>
                  <a:srgbClr val="5A6472"/>
                </a:solidFill>
                <a:latin typeface="Calibri" pitchFamily="34" charset="0"/>
                <a:cs typeface="Amiri" pitchFamily="2" charset="-78"/>
              </a:rPr>
              <a:t> + accusative activity noun</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يُمَارِسُ السِّبَاحَةَ   ·   تُمَارِسُ رِيَاضَةَ اليُوغَا</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a:t>
            </a:r>
            <a:pPr algn="l" indent="0" marL="0">
              <a:buNone/>
            </a:pPr>
            <a:r>
              <a:rPr lang="ar-SA" altLang="en-US" sz="1650" b="1" dirty="0">
                <a:solidFill>
                  <a:srgbClr val="1B3B6F"/>
                </a:solidFill>
                <a:latin typeface="Amiri" pitchFamily="2" charset="-78"/>
                <a:ea typeface="Amiri" pitchFamily="2" charset="-78"/>
                <a:cs typeface="Amiri" pitchFamily="2" charset="-78"/>
              </a:rPr>
              <a:t>يَعْزِفُ عَلَى</a:t>
            </a:r>
            <a:pPr algn="l" indent="0" marL="0">
              <a:buNone/>
            </a:pPr>
            <a:r>
              <a:rPr lang="en-US" sz="1250" b="1" dirty="0">
                <a:solidFill>
                  <a:srgbClr val="1B3B6F"/>
                </a:solidFill>
                <a:latin typeface="Calibri" pitchFamily="34" charset="0"/>
                <a:cs typeface="Amiri" pitchFamily="2" charset="-78"/>
              </a:rPr>
              <a:t> with an instrument</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يَعْزِفُ عَلَى</a:t>
            </a:r>
            <a:pPr algn="l" indent="0" marL="0">
              <a:buNone/>
            </a:pPr>
            <a:r>
              <a:rPr lang="en-US" sz="1050" dirty="0">
                <a:solidFill>
                  <a:srgbClr val="5A6472"/>
                </a:solidFill>
                <a:latin typeface="Calibri" pitchFamily="34" charset="0"/>
                <a:cs typeface="Amiri" pitchFamily="2" charset="-78"/>
              </a:rPr>
              <a:t> + genitive instrument</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يَعْزِفُ عَلَى العُودِ   ·   تَعْزِفُ عَلَى البِيَانُو</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Frequency after a number</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مَرَّةً / مَرَّتَيْنِ / ثَلَاثَ مَرَّاتٍ</a:t>
            </a:r>
            <a:pPr algn="l" indent="0" marL="0">
              <a:buNone/>
            </a:pPr>
            <a:r>
              <a:rPr lang="en-US" sz="1050" dirty="0">
                <a:solidFill>
                  <a:srgbClr val="5A6472"/>
                </a:solidFill>
                <a:latin typeface="Calibri" pitchFamily="34" charset="0"/>
                <a:cs typeface="Amiri" pitchFamily="2" charset="-78"/>
              </a:rPr>
              <a:t> + </a:t>
            </a:r>
            <a:pPr algn="l" indent="0" marL="0">
              <a:buNone/>
            </a:pPr>
            <a:r>
              <a:rPr lang="ar-SA" altLang="en-US" sz="1350" dirty="0">
                <a:solidFill>
                  <a:srgbClr val="5A6472"/>
                </a:solidFill>
                <a:latin typeface="Amiri" pitchFamily="2" charset="-78"/>
                <a:ea typeface="Amiri" pitchFamily="2" charset="-78"/>
                <a:cs typeface="Amiri" pitchFamily="2" charset="-78"/>
              </a:rPr>
              <a:t>فِي</a:t>
            </a:r>
            <a:pPr algn="l" indent="0" marL="0">
              <a:buNone/>
            </a:pPr>
            <a:r>
              <a:rPr lang="en-US" sz="1050" dirty="0">
                <a:solidFill>
                  <a:srgbClr val="5A6472"/>
                </a:solidFill>
                <a:latin typeface="Calibri" pitchFamily="34" charset="0"/>
                <a:cs typeface="Amiri" pitchFamily="2" charset="-78"/>
              </a:rPr>
              <a:t> + period</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مَرَّتَيْنِ فِي الأُسْبُوعِ   ·   ثَلَاثَ مَرَّاتٍ فِي الشَّهْرِ</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47</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TB-L08 · Hobbies and Free Time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TB-L08</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football sentence.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أُمَارِسُ كُرَةَ القَدَمِ مَرَّتَانِ فِي الأُسْبُوعِ.</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أَعْزِفُ كُرَةَ القَدَمِ مَرَّتَيْنِ فِي الأُسْبُوعِ.</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أَلْعَبُ كُرَةَ القَدَمِ مَرَّتَيْنِ فِي الأُسْبُوعِ.</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swimming sentence.</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أُمَارِسُ السِّبَاحَةَ ثَلَاثَ مَرَّاتٍ فِي الأُسْبُوعِ.</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أَلْعَبُ السِّبَاحَةَ ثَلَاثَ مَرَّاتٍ فِي الأُسْبُوعِ.</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أُمَارِسُ السِّبَاحَةُ ثَلَاثُ مَرَّاتٍ فِي الأُسْبُوعِ.</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instrument sentence.</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تَعْزِفُ العُودَ كُلَّ مَسَاءٍ.</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تَعْزِفُ عَلَى العُودِ كُلَّ مَسَاءٍ.</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تَعْزِفُ إِلَى العُودِ كُلَّ مَسَاءٍ.</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frequency phrase is accurate?</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ثَلَاثَ مَرَّاتٍ فِي الشَّهْرِ</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ثَلَاثَةَ مَرَّاتٍ فِي الشَّهْرِ</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ثَلَاثَ مَرَّةٍ فِي الشَّهْرِ</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TB-L08 · Hobbies and Free Time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TB-L08</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football sentence.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أُمَارِسُ كُرَةَ القَدَمِ مَرَّتَانِ فِي الأُسْبُوعِ.</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أَعْزِفُ كُرَةَ القَدَمِ مَرَّتَيْنِ فِي الأُسْبُوعِ.</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أَلْعَبُ كُرَةَ القَدَمِ مَرَّتَيْنِ فِي الأُسْبُوعِ.</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Ball games take </a:t>
            </a:r>
            <a:pPr algn="l" indent="0" marL="0">
              <a:buNone/>
            </a:pPr>
            <a:r>
              <a:rPr lang="ar-SA" altLang="en-US" sz="1350" dirty="0">
                <a:solidFill>
                  <a:srgbClr val="8A6D1E"/>
                </a:solidFill>
                <a:latin typeface="Amiri" pitchFamily="2" charset="-78"/>
                <a:ea typeface="Amiri" pitchFamily="2" charset="-78"/>
                <a:cs typeface="Amiri" pitchFamily="2" charset="-78"/>
              </a:rPr>
              <a:t>يَلْعَبُ</a:t>
            </a:r>
            <a:pPr algn="l" indent="0" marL="0">
              <a:buNone/>
            </a:pPr>
            <a:r>
              <a:rPr lang="en-US" sz="1050" i="1" dirty="0">
                <a:solidFill>
                  <a:srgbClr val="8A6D1E"/>
                </a:solidFill>
                <a:latin typeface="Calibri" pitchFamily="34" charset="0"/>
                <a:cs typeface="Amiri" pitchFamily="2" charset="-78"/>
              </a:rPr>
              <a:t>, and the dual after a preposition-free adverbial is </a:t>
            </a:r>
            <a:pPr algn="l" indent="0" marL="0">
              <a:buNone/>
            </a:pPr>
            <a:r>
              <a:rPr lang="ar-SA" altLang="en-US" sz="1350" dirty="0">
                <a:solidFill>
                  <a:srgbClr val="8A6D1E"/>
                </a:solidFill>
                <a:latin typeface="Amiri" pitchFamily="2" charset="-78"/>
                <a:ea typeface="Amiri" pitchFamily="2" charset="-78"/>
                <a:cs typeface="Amiri" pitchFamily="2" charset="-78"/>
              </a:rPr>
              <a:t>مَرَّتَيْنِ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swimming sentence.</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أُمَارِسُ السِّبَاحَةَ ثَلَاثَ مَرَّاتٍ فِي الأُسْبُوعِ.</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أَلْعَبُ السِّبَاحَةَ ثَلَاثَ مَرَّاتٍ فِي الأُسْبُوعِ.</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أُمَارِسُ السِّبَاحَةُ ثَلَاثُ مَرَّاتٍ فِي الأُسْبُوعِ.</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السِّبَاحَة</a:t>
            </a:r>
            <a:pPr algn="l" indent="0" marL="0">
              <a:buNone/>
            </a:pPr>
            <a:r>
              <a:rPr lang="en-US" sz="1050" i="1" dirty="0">
                <a:solidFill>
                  <a:srgbClr val="8A6D1E"/>
                </a:solidFill>
                <a:latin typeface="Calibri" pitchFamily="34" charset="0"/>
                <a:cs typeface="Amiri" pitchFamily="2" charset="-78"/>
              </a:rPr>
              <a:t> is an activity noun, so it takes </a:t>
            </a:r>
            <a:pPr algn="l" indent="0" marL="0">
              <a:buNone/>
            </a:pPr>
            <a:r>
              <a:rPr lang="ar-SA" altLang="en-US" sz="1350" dirty="0">
                <a:solidFill>
                  <a:srgbClr val="8A6D1E"/>
                </a:solidFill>
                <a:latin typeface="Amiri" pitchFamily="2" charset="-78"/>
                <a:ea typeface="Amiri" pitchFamily="2" charset="-78"/>
                <a:cs typeface="Amiri" pitchFamily="2" charset="-78"/>
              </a:rPr>
              <a:t>يُمَارِسُ</a:t>
            </a:r>
            <a:pPr algn="l" indent="0" marL="0">
              <a:buNone/>
            </a:pPr>
            <a:r>
              <a:rPr lang="en-US" sz="1050" i="1" dirty="0">
                <a:solidFill>
                  <a:srgbClr val="8A6D1E"/>
                </a:solidFill>
                <a:latin typeface="Calibri" pitchFamily="34" charset="0"/>
                <a:cs typeface="Amiri" pitchFamily="2" charset="-78"/>
              </a:rPr>
              <a:t>, and as the object it is accusative.</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instrument sentence.</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تَعْزِفُ العُودَ كُلَّ مَسَاءٍ.</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تَعْزِفُ عَلَى العُودِ كُلَّ مَسَاءٍ.</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تَعْزِفُ إِلَى العُودِ كُلَّ مَسَاءٍ.</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يَعْزِفُ</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عَلَى</a:t>
            </a:r>
            <a:pPr algn="l" indent="0" marL="0">
              <a:buNone/>
            </a:pPr>
            <a:r>
              <a:rPr lang="en-US" sz="1050" i="1" dirty="0">
                <a:solidFill>
                  <a:srgbClr val="8A6D1E"/>
                </a:solidFill>
                <a:latin typeface="Calibri" pitchFamily="34" charset="0"/>
                <a:cs typeface="Amiri" pitchFamily="2" charset="-78"/>
              </a:rPr>
              <a:t>, and the instrument after it is genitive.</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frequency phrase is accurate?</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ثَلَاثَ مَرَّاتٍ فِي الشَّهْرِ</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ثَلَاثَةَ مَرَّاتٍ فِي الشَّهْرِ</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ثَلَاثَ مَرَّةٍ فِي الشَّهْرِ</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مَرَّة</a:t>
            </a:r>
            <a:pPr algn="l" indent="0" marL="0">
              <a:buNone/>
            </a:pPr>
            <a:r>
              <a:rPr lang="en-US" sz="1050" i="1" dirty="0">
                <a:solidFill>
                  <a:srgbClr val="8A6D1E"/>
                </a:solidFill>
                <a:latin typeface="Calibri" pitchFamily="34" charset="0"/>
                <a:cs typeface="Amiri" pitchFamily="2" charset="-78"/>
              </a:rPr>
              <a:t> is feminine, so the number drops the tāʾ, and 3–10 take the genitive plural </a:t>
            </a:r>
            <a:pPr algn="l" indent="0" marL="0">
              <a:buNone/>
            </a:pPr>
            <a:r>
              <a:rPr lang="ar-SA" altLang="en-US" sz="1350" dirty="0">
                <a:solidFill>
                  <a:srgbClr val="8A6D1E"/>
                </a:solidFill>
                <a:latin typeface="Amiri" pitchFamily="2" charset="-78"/>
                <a:ea typeface="Amiri" pitchFamily="2" charset="-78"/>
                <a:cs typeface="Amiri" pitchFamily="2" charset="-78"/>
              </a:rPr>
              <a:t>مَرَّاتٍ</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47</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TB-L08 · Hobbies and Free Time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describe my free time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TB-L08</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Collocation</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50" b="1" dirty="0">
                <a:solidFill>
                  <a:srgbClr val="1B3B6F"/>
                </a:solidFill>
                <a:latin typeface="Amiri" pitchFamily="2" charset="-78"/>
                <a:ea typeface="Amiri" pitchFamily="2" charset="-78"/>
                <a:cs typeface="Amiri" pitchFamily="2" charset="-78"/>
              </a:rPr>
              <a:t>فِي وَقْتِ فَرَاغِي </a:t>
            </a:r>
            <a:pPr rtl="1" algn="ctr" indent="0" marL="0">
              <a:lnSpc>
                <a:spcPct val="120000"/>
              </a:lnSpc>
              <a:buNone/>
            </a:pPr>
            <a:r>
              <a:rPr lang="ar-SA" altLang="en-US" sz="1850" b="1" dirty="0">
                <a:solidFill>
                  <a:srgbClr val="1D5FBF"/>
                </a:solidFill>
                <a:latin typeface="Amiri" pitchFamily="2" charset="-78"/>
                <a:ea typeface="Amiri" pitchFamily="2" charset="-78"/>
                <a:cs typeface="Amiri" pitchFamily="2" charset="-78"/>
              </a:rPr>
              <a:t>أُمَارِسُ</a:t>
            </a:r>
            <a:pPr rtl="1" algn="ctr" indent="0" marL="0">
              <a:lnSpc>
                <a:spcPct val="120000"/>
              </a:lnSpc>
              <a:buNone/>
            </a:pPr>
            <a:r>
              <a:rPr lang="ar-SA" altLang="en-US" sz="1850" b="1" dirty="0">
                <a:solidFill>
                  <a:srgbClr val="1B3B6F"/>
                </a:solidFill>
                <a:latin typeface="Amiri" pitchFamily="2" charset="-78"/>
                <a:ea typeface="Amiri" pitchFamily="2" charset="-78"/>
                <a:cs typeface="Amiri" pitchFamily="2" charset="-78"/>
              </a:rPr>
              <a:t> السِّبَاحَةَ</a:t>
            </a:r>
            <a:endParaRPr lang="ar-SA" sz="18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Swimming = activity → umārisu.</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Frequency</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0E7C86"/>
                </a:solidFill>
                <a:latin typeface="Amiri" pitchFamily="2" charset="-78"/>
                <a:ea typeface="Amiri" pitchFamily="2" charset="-78"/>
                <a:cs typeface="Amiri" pitchFamily="2" charset="-78"/>
              </a:rPr>
              <a:t>مَرَّتَيْنِ</a:t>
            </a:r>
            <a:pPr rtl="1" algn="ctr" indent="0" marL="0">
              <a:buNone/>
            </a:pPr>
            <a:r>
              <a:rPr lang="ar-SA" altLang="en-US" sz="2800" b="1" dirty="0">
                <a:solidFill>
                  <a:srgbClr val="1B3B6F"/>
                </a:solidFill>
                <a:latin typeface="Amiri" pitchFamily="2" charset="-78"/>
                <a:ea typeface="Amiri" pitchFamily="2" charset="-78"/>
                <a:cs typeface="Amiri" pitchFamily="2" charset="-78"/>
              </a:rPr>
              <a:t> فِي الأُسْبُوعِ</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Twice = the dual.</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Instrument</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300" b="1" dirty="0">
                <a:solidFill>
                  <a:srgbClr val="1B3B6F"/>
                </a:solidFill>
                <a:latin typeface="Amiri" pitchFamily="2" charset="-78"/>
                <a:ea typeface="Amiri" pitchFamily="2" charset="-78"/>
                <a:cs typeface="Amiri" pitchFamily="2" charset="-78"/>
              </a:rPr>
              <a:t>وَأَعْزِفُ </a:t>
            </a:r>
            <a:pPr rtl="1" algn="ctr" indent="0" marL="0">
              <a:buNone/>
            </a:pPr>
            <a:r>
              <a:rPr lang="ar-SA" altLang="en-US" sz="2300" b="1" dirty="0">
                <a:solidFill>
                  <a:srgbClr val="0E7C86"/>
                </a:solidFill>
                <a:latin typeface="Amiri" pitchFamily="2" charset="-78"/>
                <a:ea typeface="Amiri" pitchFamily="2" charset="-78"/>
                <a:cs typeface="Amiri" pitchFamily="2" charset="-78"/>
              </a:rPr>
              <a:t>عَلَى</a:t>
            </a:r>
            <a:pPr rtl="1" algn="ctr" indent="0" marL="0">
              <a:buNone/>
            </a:pPr>
            <a:r>
              <a:rPr lang="ar-SA" altLang="en-US" sz="2300" b="1" dirty="0">
                <a:solidFill>
                  <a:srgbClr val="1B3B6F"/>
                </a:solidFill>
                <a:latin typeface="Amiri" pitchFamily="2" charset="-78"/>
                <a:ea typeface="Amiri" pitchFamily="2" charset="-78"/>
                <a:cs typeface="Amiri" pitchFamily="2" charset="-78"/>
              </a:rPr>
              <a:t> العُودِ يَوْمِيًّا</a:t>
            </a:r>
            <a:endParaRPr lang="ar-SA" sz="23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Instrument → ‘alā.</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Preference + reason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C77700"/>
                </a:solidFill>
                <a:latin typeface="Amiri" pitchFamily="2" charset="-78"/>
                <a:ea typeface="Amiri" pitchFamily="2" charset="-78"/>
                <a:cs typeface="Amiri" pitchFamily="2" charset="-78"/>
              </a:rPr>
              <a:t>أُفَضِّلُ</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المُوسِيقَى </a:t>
            </a:r>
            <a:pPr rtl="1" algn="ctr" indent="0" marL="0">
              <a:lnSpc>
                <a:spcPct val="120000"/>
              </a:lnSpc>
              <a:buNone/>
            </a:pPr>
            <a:r>
              <a:rPr lang="ar-SA" altLang="en-US" sz="1750" b="1" dirty="0">
                <a:solidFill>
                  <a:srgbClr val="C77700"/>
                </a:solidFill>
                <a:latin typeface="Amiri" pitchFamily="2" charset="-78"/>
                <a:ea typeface="Amiri" pitchFamily="2" charset="-78"/>
                <a:cs typeface="Amiri" pitchFamily="2" charset="-78"/>
              </a:rPr>
              <a:t>عَلَى</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الرِّيَاضَةِ لِأَنَّهَا تُرِيحُنِي.</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Music (f.) → li’annahā.</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VERB</a:t>
            </a:r>
            <a:endParaRPr lang="en-US" sz="800" dirty="0"/>
          </a:p>
        </p:txBody>
      </p:sp>
      <p:sp>
        <p:nvSpPr>
          <p:cNvPr id="47" name="Shape 43"/>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PARTNER WORD</a:t>
            </a:r>
            <a:endParaRPr lang="en-US" sz="800" dirty="0"/>
          </a:p>
        </p:txBody>
      </p:sp>
      <p:sp>
        <p:nvSpPr>
          <p:cNvPr id="49" name="Shape 45"/>
          <p:cNvSpPr/>
          <p:nvPr/>
        </p:nvSpPr>
        <p:spPr>
          <a:xfrm>
            <a:off x="10515600" y="4736592"/>
            <a:ext cx="914400" cy="237744"/>
          </a:xfrm>
          <a:prstGeom prst="roundRect">
            <a:avLst>
              <a:gd name="adj" fmla="val 50000"/>
            </a:avLst>
          </a:prstGeom>
          <a:solidFill>
            <a:srgbClr val="C77700"/>
          </a:solidFill>
          <a:ln w="12700">
            <a:solidFill>
              <a:srgbClr val="C77700"/>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PREFERENCE</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2" charset="-78"/>
                <a:ea typeface="Amiri" pitchFamily="2" charset="-78"/>
                <a:cs typeface="Amiri" pitchFamily="2" charset="-78"/>
              </a:rPr>
              <a:t>فِي وَقْتِ فَرَاغِي </a:t>
            </a:r>
            <a:pPr rtl="1" algn="r" indent="0" marL="0">
              <a:buNone/>
            </a:pPr>
            <a:r>
              <a:rPr lang="ar-SA" altLang="en-US" sz="1750" b="1" dirty="0">
                <a:solidFill>
                  <a:srgbClr val="1D5FBF"/>
                </a:solidFill>
                <a:latin typeface="Amiri" pitchFamily="2" charset="-78"/>
                <a:ea typeface="Amiri" pitchFamily="2" charset="-78"/>
                <a:cs typeface="Amiri" pitchFamily="2" charset="-78"/>
              </a:rPr>
              <a:t>أُمَارِسُ</a:t>
            </a:r>
            <a:pPr rtl="1" algn="r" indent="0" marL="0">
              <a:buNone/>
            </a:pPr>
            <a:r>
              <a:rPr lang="ar-SA" altLang="en-US" sz="1750" b="1" dirty="0">
                <a:solidFill>
                  <a:srgbClr val="1B3B6F"/>
                </a:solidFill>
                <a:latin typeface="Amiri" pitchFamily="2" charset="-78"/>
                <a:ea typeface="Amiri" pitchFamily="2" charset="-78"/>
                <a:cs typeface="Amiri" pitchFamily="2" charset="-78"/>
              </a:rPr>
              <a:t> السِّبَاحَةَ </a:t>
            </a:r>
            <a:pPr rtl="1" algn="r" indent="0" marL="0">
              <a:buNone/>
            </a:pPr>
            <a:r>
              <a:rPr lang="ar-SA" altLang="en-US" sz="1750" b="1" dirty="0">
                <a:solidFill>
                  <a:srgbClr val="0E7C86"/>
                </a:solidFill>
                <a:latin typeface="Amiri" pitchFamily="2" charset="-78"/>
                <a:ea typeface="Amiri" pitchFamily="2" charset="-78"/>
                <a:cs typeface="Amiri" pitchFamily="2" charset="-78"/>
              </a:rPr>
              <a:t>مَرَّتَيْنِ</a:t>
            </a:r>
            <a:pPr rtl="1" algn="r" indent="0" marL="0">
              <a:buNone/>
            </a:pPr>
            <a:r>
              <a:rPr lang="ar-SA" altLang="en-US" sz="1750" b="1" dirty="0">
                <a:solidFill>
                  <a:srgbClr val="1B3B6F"/>
                </a:solidFill>
                <a:latin typeface="Amiri" pitchFamily="2" charset="-78"/>
                <a:ea typeface="Amiri" pitchFamily="2" charset="-78"/>
                <a:cs typeface="Amiri" pitchFamily="2" charset="-78"/>
              </a:rPr>
              <a:t> فِي الأُسْبُوعِ، وَأَعْزِفُ </a:t>
            </a:r>
            <a:pPr rtl="1" algn="r" indent="0" marL="0">
              <a:buNone/>
            </a:pPr>
            <a:r>
              <a:rPr lang="ar-SA" altLang="en-US" sz="1750" b="1" dirty="0">
                <a:solidFill>
                  <a:srgbClr val="0E7C86"/>
                </a:solidFill>
                <a:latin typeface="Amiri" pitchFamily="2" charset="-78"/>
                <a:ea typeface="Amiri" pitchFamily="2" charset="-78"/>
                <a:cs typeface="Amiri" pitchFamily="2" charset="-78"/>
              </a:rPr>
              <a:t>عَلَى</a:t>
            </a:r>
            <a:pPr rtl="1" algn="r" indent="0" marL="0">
              <a:buNone/>
            </a:pPr>
            <a:r>
              <a:rPr lang="ar-SA" altLang="en-US" sz="1750" b="1" dirty="0">
                <a:solidFill>
                  <a:srgbClr val="1B3B6F"/>
                </a:solidFill>
                <a:latin typeface="Amiri" pitchFamily="2" charset="-78"/>
                <a:ea typeface="Amiri" pitchFamily="2" charset="-78"/>
                <a:cs typeface="Amiri" pitchFamily="2" charset="-78"/>
              </a:rPr>
              <a:t> العُودِ يَوْمِيًّا. </a:t>
            </a:r>
            <a:pPr rtl="1" algn="r" indent="0" marL="0">
              <a:buNone/>
            </a:pPr>
            <a:r>
              <a:rPr lang="ar-SA" altLang="en-US" sz="1750" b="1" dirty="0">
                <a:solidFill>
                  <a:srgbClr val="C77700"/>
                </a:solidFill>
                <a:latin typeface="Amiri" pitchFamily="2" charset="-78"/>
                <a:ea typeface="Amiri" pitchFamily="2" charset="-78"/>
                <a:cs typeface="Amiri" pitchFamily="2" charset="-78"/>
              </a:rPr>
              <a:t>أُفَضِّلُ</a:t>
            </a:r>
            <a:pPr rtl="1" algn="r" indent="0" marL="0">
              <a:buNone/>
            </a:pPr>
            <a:r>
              <a:rPr lang="ar-SA" altLang="en-US" sz="1750" b="1" dirty="0">
                <a:solidFill>
                  <a:srgbClr val="1B3B6F"/>
                </a:solidFill>
                <a:latin typeface="Amiri" pitchFamily="2" charset="-78"/>
                <a:ea typeface="Amiri" pitchFamily="2" charset="-78"/>
                <a:cs typeface="Amiri" pitchFamily="2" charset="-78"/>
              </a:rPr>
              <a:t> المُوسِيقَى </a:t>
            </a:r>
            <a:pPr rtl="1" algn="r" indent="0" marL="0">
              <a:buNone/>
            </a:pPr>
            <a:r>
              <a:rPr lang="ar-SA" altLang="en-US" sz="1750" b="1" dirty="0">
                <a:solidFill>
                  <a:srgbClr val="C77700"/>
                </a:solidFill>
                <a:latin typeface="Amiri" pitchFamily="2" charset="-78"/>
                <a:ea typeface="Amiri" pitchFamily="2" charset="-78"/>
                <a:cs typeface="Amiri" pitchFamily="2" charset="-78"/>
              </a:rPr>
              <a:t>عَلَى</a:t>
            </a:r>
            <a:pPr rtl="1" algn="r" indent="0" marL="0">
              <a:buNone/>
            </a:pPr>
            <a:r>
              <a:rPr lang="ar-SA" altLang="en-US" sz="1750" b="1" dirty="0">
                <a:solidFill>
                  <a:srgbClr val="1B3B6F"/>
                </a:solidFill>
                <a:latin typeface="Amiri" pitchFamily="2" charset="-78"/>
                <a:ea typeface="Amiri" pitchFamily="2" charset="-78"/>
                <a:cs typeface="Amiri" pitchFamily="2" charset="-78"/>
              </a:rPr>
              <a:t> الرِّيَاضَةِ لِأَنَّهَا تُرِيحُنِي بَعْدَ الدِّرَاسَةِ.</a:t>
            </a:r>
            <a:endParaRPr lang="ar-SA" sz="175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cs typeface="Amiri" pitchFamily="2" charset="-78"/>
              </a:rPr>
              <a:t>In my free time I go swimming twice a week, and I play the oud every day. I prefer music to sport because it relaxes me after studying.</a:t>
            </a:r>
            <a:endParaRPr lang="en-US" sz="13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47</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TB-L08 · Hobbies and Free Time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TB-L08</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يَلْعَبُ كُرَةَ القَدَمِ</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he plays football</a:t>
            </a:r>
            <a:endParaRPr lang="en-US" sz="1250" dirty="0"/>
          </a:p>
          <a:p>
            <a:pPr indent="0" marL="0">
              <a:buNone/>
            </a:pPr>
            <a:r>
              <a:rPr lang="en-US" sz="1050" i="1" dirty="0">
                <a:solidFill>
                  <a:srgbClr val="8A6D1E"/>
                </a:solidFill>
                <a:latin typeface="Calibri" pitchFamily="34" charset="0"/>
                <a:cs typeface="Amiri" pitchFamily="2" charset="-78"/>
              </a:rPr>
              <a:t>Ball game after yal‘abu; the object ends in -a.</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يَعْزِفُ عَلَى العُودِ</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he plays the oud</a:t>
            </a:r>
            <a:endParaRPr lang="en-US" sz="1250" dirty="0"/>
          </a:p>
          <a:p>
            <a:pPr indent="0" marL="0">
              <a:buNone/>
            </a:pPr>
            <a:r>
              <a:rPr lang="en-US" sz="1050" i="1" dirty="0">
                <a:solidFill>
                  <a:srgbClr val="8A6D1E"/>
                </a:solidFill>
                <a:latin typeface="Calibri" pitchFamily="34" charset="0"/>
                <a:cs typeface="Amiri" pitchFamily="2" charset="-78"/>
              </a:rPr>
              <a:t>‘alā is fixed with ya‘zifu.</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مَرَّتَيْنِ فِي الأُسْبُوعِ</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twice a week</a:t>
            </a:r>
            <a:endParaRPr lang="en-US" sz="1250" dirty="0"/>
          </a:p>
          <a:p>
            <a:pPr indent="0" marL="0">
              <a:buNone/>
            </a:pPr>
            <a:r>
              <a:rPr lang="en-US" sz="1050" i="1" dirty="0">
                <a:solidFill>
                  <a:srgbClr val="8A6D1E"/>
                </a:solidFill>
                <a:latin typeface="Calibri" pitchFamily="34" charset="0"/>
                <a:cs typeface="Amiri" pitchFamily="2" charset="-78"/>
              </a:rPr>
              <a:t>marratayni is the dual of marra.</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أُفَضِّلُ الرَّسْمَ عَلَى التَّصْوِيرِ.</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prefer drawing to photography.</a:t>
            </a:r>
            <a:endParaRPr lang="en-US" sz="1250" dirty="0"/>
          </a:p>
          <a:p>
            <a:pPr indent="0" marL="0">
              <a:buNone/>
            </a:pPr>
            <a:r>
              <a:rPr lang="en-US" sz="1050" i="1" dirty="0">
                <a:solidFill>
                  <a:srgbClr val="8A6D1E"/>
                </a:solidFill>
                <a:latin typeface="Calibri" pitchFamily="34" charset="0"/>
                <a:cs typeface="Amiri" pitchFamily="2" charset="-78"/>
              </a:rPr>
              <a:t>The less-preferred thing follows ‘alā.</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47</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TB-L08 · Hobbies and Free Time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PICTURE MATCH · WEBSITE GAME “VISUAL GAME — HOBBIES AND FREE TIME — VOCABULARY AND PRESENT HABITS”</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What do they do? Match the picture</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وَقْتُ الفَرَاغِ</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TB-L08</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book</a:t>
            </a:r>
            <a:endParaRPr lang="en-US" sz="1100" dirty="0"/>
          </a:p>
        </p:txBody>
      </p:sp>
      <p:sp>
        <p:nvSpPr>
          <p:cNvPr id="21" name="Shape 17"/>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4404360" y="1938528"/>
            <a:ext cx="365760" cy="365760"/>
          </a:xfrm>
          <a:prstGeom prst="ellipse">
            <a:avLst/>
          </a:prstGeom>
          <a:solidFill>
            <a:srgbClr val="1B3B6F"/>
          </a:solidFill>
          <a:ln w="12700">
            <a:solidFill>
              <a:srgbClr val="1B3B6F"/>
            </a:solidFill>
            <a:prstDash val="solid"/>
          </a:ln>
        </p:spPr>
      </p:sp>
      <p:sp>
        <p:nvSpPr>
          <p:cNvPr id="23" name="Text 19"/>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4" name="Shape 20"/>
          <p:cNvSpPr/>
          <p:nvPr/>
        </p:nvSpPr>
        <p:spPr>
          <a:xfrm>
            <a:off x="5586984" y="2066544"/>
            <a:ext cx="1014984" cy="1014984"/>
          </a:xfrm>
          <a:prstGeom prst="ellipse">
            <a:avLst/>
          </a:prstGeom>
          <a:solidFill>
            <a:srgbClr val="F4F1EA"/>
          </a:solidFill>
          <a:ln w="12700">
            <a:solidFill>
              <a:srgbClr val="F4F1EA"/>
            </a:solidFill>
            <a:prstDash val="solid"/>
          </a:ln>
        </p:spPr>
      </p:sp>
      <p:pic>
        <p:nvPicPr>
          <p:cNvPr id="25" name="Image 1" descr="preencoded.png">    </p:cNvPr>
          <p:cNvPicPr>
            <a:picLocks noChangeAspect="1"/>
          </p:cNvPicPr>
          <p:nvPr/>
        </p:nvPicPr>
        <p:blipFill>
          <a:blip r:embed="rId2"/>
          <a:stretch>
            <a:fillRect/>
          </a:stretch>
        </p:blipFill>
        <p:spPr>
          <a:xfrm>
            <a:off x="5769864" y="2249424"/>
            <a:ext cx="649224" cy="649224"/>
          </a:xfrm>
          <a:prstGeom prst="rect">
            <a:avLst/>
          </a:prstGeom>
        </p:spPr>
      </p:pic>
      <p:sp>
        <p:nvSpPr>
          <p:cNvPr id="26" name="Text 21"/>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palette</a:t>
            </a:r>
            <a:endParaRPr lang="en-US" sz="1100" dirty="0"/>
          </a:p>
        </p:txBody>
      </p:sp>
      <p:sp>
        <p:nvSpPr>
          <p:cNvPr id="27" name="Shape 22"/>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3"/>
          <p:cNvSpPr/>
          <p:nvPr/>
        </p:nvSpPr>
        <p:spPr>
          <a:xfrm>
            <a:off x="585216" y="1938528"/>
            <a:ext cx="365760" cy="365760"/>
          </a:xfrm>
          <a:prstGeom prst="ellipse">
            <a:avLst/>
          </a:prstGeom>
          <a:solidFill>
            <a:srgbClr val="1B3B6F"/>
          </a:solidFill>
          <a:ln w="12700">
            <a:solidFill>
              <a:srgbClr val="1B3B6F"/>
            </a:solidFill>
            <a:prstDash val="solid"/>
          </a:ln>
        </p:spPr>
      </p:sp>
      <p:sp>
        <p:nvSpPr>
          <p:cNvPr id="29" name="Text 24"/>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0" name="Shape 25"/>
          <p:cNvSpPr/>
          <p:nvPr/>
        </p:nvSpPr>
        <p:spPr>
          <a:xfrm>
            <a:off x="1767840" y="2066544"/>
            <a:ext cx="1014984" cy="1014984"/>
          </a:xfrm>
          <a:prstGeom prst="ellipse">
            <a:avLst/>
          </a:prstGeom>
          <a:solidFill>
            <a:srgbClr val="F4F1EA"/>
          </a:solidFill>
          <a:ln w="12700">
            <a:solidFill>
              <a:srgbClr val="F4F1EA"/>
            </a:solidFill>
            <a:prstDash val="solid"/>
          </a:ln>
        </p:spPr>
      </p:sp>
      <p:pic>
        <p:nvPicPr>
          <p:cNvPr id="31" name="Image 2" descr="preencoded.png">    </p:cNvPr>
          <p:cNvPicPr>
            <a:picLocks noChangeAspect="1"/>
          </p:cNvPicPr>
          <p:nvPr/>
        </p:nvPicPr>
        <p:blipFill>
          <a:blip r:embed="rId3"/>
          <a:stretch>
            <a:fillRect/>
          </a:stretch>
        </p:blipFill>
        <p:spPr>
          <a:xfrm>
            <a:off x="1950720" y="2249424"/>
            <a:ext cx="649224" cy="649224"/>
          </a:xfrm>
          <a:prstGeom prst="rect">
            <a:avLst/>
          </a:prstGeom>
        </p:spPr>
      </p:pic>
      <p:sp>
        <p:nvSpPr>
          <p:cNvPr id="32" name="Text 26"/>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headphones</a:t>
            </a:r>
            <a:endParaRPr lang="en-US" sz="1100" dirty="0"/>
          </a:p>
        </p:txBody>
      </p:sp>
      <p:sp>
        <p:nvSpPr>
          <p:cNvPr id="33" name="Shape 27"/>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34" name="Shape 28"/>
          <p:cNvSpPr/>
          <p:nvPr/>
        </p:nvSpPr>
        <p:spPr>
          <a:xfrm>
            <a:off x="11247120" y="3831336"/>
            <a:ext cx="292608" cy="292608"/>
          </a:xfrm>
          <a:prstGeom prst="ellipse">
            <a:avLst/>
          </a:prstGeom>
          <a:solidFill>
            <a:srgbClr val="2F6FB0"/>
          </a:solidFill>
          <a:ln w="12700">
            <a:solidFill>
              <a:srgbClr val="2F6FB0"/>
            </a:solidFill>
            <a:prstDash val="solid"/>
          </a:ln>
        </p:spPr>
      </p:sp>
      <p:sp>
        <p:nvSpPr>
          <p:cNvPr id="35" name="Text 29"/>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36" name="Text 30"/>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أَسْتَمِعُ إِلَى المُوسِيقَى.</a:t>
            </a:r>
            <a:endParaRPr lang="ar-SA" sz="2000" dirty="0"/>
          </a:p>
        </p:txBody>
      </p:sp>
      <p:sp>
        <p:nvSpPr>
          <p:cNvPr id="37" name="Shape 31"/>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38" name="Shape 32"/>
          <p:cNvSpPr/>
          <p:nvPr/>
        </p:nvSpPr>
        <p:spPr>
          <a:xfrm>
            <a:off x="11247120" y="4398264"/>
            <a:ext cx="292608" cy="292608"/>
          </a:xfrm>
          <a:prstGeom prst="ellipse">
            <a:avLst/>
          </a:prstGeom>
          <a:solidFill>
            <a:srgbClr val="2F6FB0"/>
          </a:solidFill>
          <a:ln w="12700">
            <a:solidFill>
              <a:srgbClr val="2F6FB0"/>
            </a:solidFill>
            <a:prstDash val="solid"/>
          </a:ln>
        </p:spPr>
      </p:sp>
      <p:sp>
        <p:nvSpPr>
          <p:cNvPr id="39" name="Text 33"/>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0" name="Text 34"/>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أُحِبُّ القِرَاءَةَ فِي وَقْتِ الفَرَاغِ.</a:t>
            </a:r>
            <a:endParaRPr lang="ar-SA" sz="2000" dirty="0"/>
          </a:p>
        </p:txBody>
      </p:sp>
      <p:sp>
        <p:nvSpPr>
          <p:cNvPr id="41" name="Shape 35"/>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2" name="Shape 36"/>
          <p:cNvSpPr/>
          <p:nvPr/>
        </p:nvSpPr>
        <p:spPr>
          <a:xfrm>
            <a:off x="11247120" y="4965192"/>
            <a:ext cx="292608" cy="292608"/>
          </a:xfrm>
          <a:prstGeom prst="ellipse">
            <a:avLst/>
          </a:prstGeom>
          <a:solidFill>
            <a:srgbClr val="2F6FB0"/>
          </a:solidFill>
          <a:ln w="12700">
            <a:solidFill>
              <a:srgbClr val="2F6FB0"/>
            </a:solidFill>
            <a:prstDash val="solid"/>
          </a:ln>
        </p:spPr>
      </p:sp>
      <p:sp>
        <p:nvSpPr>
          <p:cNvPr id="43" name="Text 37"/>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44" name="Text 38"/>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أُحِبُّ الرَّسْمَ.</a:t>
            </a:r>
            <a:endParaRPr lang="ar-SA" sz="2000" dirty="0"/>
          </a:p>
        </p:txBody>
      </p:sp>
      <p:sp>
        <p:nvSpPr>
          <p:cNvPr id="45" name="Text 39"/>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46" name="Text 40"/>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47"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47</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TB-L08 · Hobbies and Free Time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وَقْتُ الفَرَاغِ</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TB-L08</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book</a:t>
            </a:r>
            <a:endParaRPr lang="en-US" sz="1100" dirty="0"/>
          </a:p>
        </p:txBody>
      </p:sp>
      <p:sp>
        <p:nvSpPr>
          <p:cNvPr id="21" name="Shape 17"/>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11256264" y="3785616"/>
            <a:ext cx="329184" cy="329184"/>
          </a:xfrm>
          <a:prstGeom prst="ellipse">
            <a:avLst/>
          </a:prstGeom>
          <a:solidFill>
            <a:srgbClr val="2E8B57"/>
          </a:solidFill>
          <a:ln w="12700">
            <a:solidFill>
              <a:srgbClr val="2E8B57"/>
            </a:solidFill>
            <a:prstDash val="solid"/>
          </a:ln>
        </p:spPr>
      </p:sp>
      <p:sp>
        <p:nvSpPr>
          <p:cNvPr id="23" name="Text 19"/>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24" name="Text 20"/>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أُحِبُّ القِرَاءَةَ فِي وَقْتِ الفَرَاغِ.</a:t>
            </a:r>
            <a:endParaRPr lang="ar-SA" sz="2200" dirty="0"/>
          </a:p>
        </p:txBody>
      </p:sp>
      <p:sp>
        <p:nvSpPr>
          <p:cNvPr id="25" name="Text 21"/>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like reading in my free time.</a:t>
            </a:r>
            <a:endParaRPr lang="en-US" sz="1200" dirty="0"/>
          </a:p>
        </p:txBody>
      </p:sp>
      <p:sp>
        <p:nvSpPr>
          <p:cNvPr id="26" name="Shape 22"/>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7" name="Shape 23"/>
          <p:cNvSpPr/>
          <p:nvPr/>
        </p:nvSpPr>
        <p:spPr>
          <a:xfrm>
            <a:off x="4404360" y="1938528"/>
            <a:ext cx="365760" cy="365760"/>
          </a:xfrm>
          <a:prstGeom prst="ellipse">
            <a:avLst/>
          </a:prstGeom>
          <a:solidFill>
            <a:srgbClr val="1B3B6F"/>
          </a:solidFill>
          <a:ln w="12700">
            <a:solidFill>
              <a:srgbClr val="1B3B6F"/>
            </a:solidFill>
            <a:prstDash val="solid"/>
          </a:ln>
        </p:spPr>
      </p:sp>
      <p:sp>
        <p:nvSpPr>
          <p:cNvPr id="28" name="Text 24"/>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9" name="Shape 25"/>
          <p:cNvSpPr/>
          <p:nvPr/>
        </p:nvSpPr>
        <p:spPr>
          <a:xfrm>
            <a:off x="5586984" y="2066544"/>
            <a:ext cx="1014984" cy="1014984"/>
          </a:xfrm>
          <a:prstGeom prst="ellipse">
            <a:avLst/>
          </a:prstGeom>
          <a:solidFill>
            <a:srgbClr val="F4F1EA"/>
          </a:solidFill>
          <a:ln w="12700">
            <a:solidFill>
              <a:srgbClr val="F4F1EA"/>
            </a:solidFill>
            <a:prstDash val="solid"/>
          </a:ln>
        </p:spPr>
      </p:sp>
      <p:pic>
        <p:nvPicPr>
          <p:cNvPr id="30" name="Image 1" descr="preencoded.png">    </p:cNvPr>
          <p:cNvPicPr>
            <a:picLocks noChangeAspect="1"/>
          </p:cNvPicPr>
          <p:nvPr/>
        </p:nvPicPr>
        <p:blipFill>
          <a:blip r:embed="rId2"/>
          <a:stretch>
            <a:fillRect/>
          </a:stretch>
        </p:blipFill>
        <p:spPr>
          <a:xfrm>
            <a:off x="5769864" y="2249424"/>
            <a:ext cx="649224" cy="649224"/>
          </a:xfrm>
          <a:prstGeom prst="rect">
            <a:avLst/>
          </a:prstGeom>
        </p:spPr>
      </p:pic>
      <p:sp>
        <p:nvSpPr>
          <p:cNvPr id="31" name="Text 26"/>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palette</a:t>
            </a:r>
            <a:endParaRPr lang="en-US" sz="1100" dirty="0"/>
          </a:p>
        </p:txBody>
      </p:sp>
      <p:sp>
        <p:nvSpPr>
          <p:cNvPr id="32" name="Shape 27"/>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3" name="Shape 28"/>
          <p:cNvSpPr/>
          <p:nvPr/>
        </p:nvSpPr>
        <p:spPr>
          <a:xfrm>
            <a:off x="7437120" y="3785616"/>
            <a:ext cx="329184" cy="329184"/>
          </a:xfrm>
          <a:prstGeom prst="ellipse">
            <a:avLst/>
          </a:prstGeom>
          <a:solidFill>
            <a:srgbClr val="2E8B57"/>
          </a:solidFill>
          <a:ln w="12700">
            <a:solidFill>
              <a:srgbClr val="2E8B57"/>
            </a:solidFill>
            <a:prstDash val="solid"/>
          </a:ln>
        </p:spPr>
      </p:sp>
      <p:sp>
        <p:nvSpPr>
          <p:cNvPr id="34" name="Text 29"/>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35" name="Text 30"/>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أُحِبُّ الرَّسْمَ.</a:t>
            </a:r>
            <a:endParaRPr lang="ar-SA" sz="2200" dirty="0"/>
          </a:p>
        </p:txBody>
      </p:sp>
      <p:sp>
        <p:nvSpPr>
          <p:cNvPr id="36" name="Text 31"/>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like drawing.</a:t>
            </a:r>
            <a:endParaRPr lang="en-US" sz="1200" dirty="0"/>
          </a:p>
        </p:txBody>
      </p:sp>
      <p:sp>
        <p:nvSpPr>
          <p:cNvPr id="37" name="Shape 32"/>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3"/>
          <p:cNvSpPr/>
          <p:nvPr/>
        </p:nvSpPr>
        <p:spPr>
          <a:xfrm>
            <a:off x="585216" y="1938528"/>
            <a:ext cx="365760" cy="365760"/>
          </a:xfrm>
          <a:prstGeom prst="ellipse">
            <a:avLst/>
          </a:prstGeom>
          <a:solidFill>
            <a:srgbClr val="1B3B6F"/>
          </a:solidFill>
          <a:ln w="12700">
            <a:solidFill>
              <a:srgbClr val="1B3B6F"/>
            </a:solidFill>
            <a:prstDash val="solid"/>
          </a:ln>
        </p:spPr>
      </p:sp>
      <p:sp>
        <p:nvSpPr>
          <p:cNvPr id="39" name="Text 34"/>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0" name="Shape 35"/>
          <p:cNvSpPr/>
          <p:nvPr/>
        </p:nvSpPr>
        <p:spPr>
          <a:xfrm>
            <a:off x="1767840" y="2066544"/>
            <a:ext cx="1014984" cy="1014984"/>
          </a:xfrm>
          <a:prstGeom prst="ellipse">
            <a:avLst/>
          </a:prstGeom>
          <a:solidFill>
            <a:srgbClr val="F4F1EA"/>
          </a:solidFill>
          <a:ln w="12700">
            <a:solidFill>
              <a:srgbClr val="F4F1EA"/>
            </a:solidFill>
            <a:prstDash val="solid"/>
          </a:ln>
        </p:spPr>
      </p:sp>
      <p:pic>
        <p:nvPicPr>
          <p:cNvPr id="41" name="Image 2" descr="preencoded.png">    </p:cNvPr>
          <p:cNvPicPr>
            <a:picLocks noChangeAspect="1"/>
          </p:cNvPicPr>
          <p:nvPr/>
        </p:nvPicPr>
        <p:blipFill>
          <a:blip r:embed="rId3"/>
          <a:stretch>
            <a:fillRect/>
          </a:stretch>
        </p:blipFill>
        <p:spPr>
          <a:xfrm>
            <a:off x="1950720" y="2249424"/>
            <a:ext cx="649224" cy="649224"/>
          </a:xfrm>
          <a:prstGeom prst="rect">
            <a:avLst/>
          </a:prstGeom>
        </p:spPr>
      </p:pic>
      <p:sp>
        <p:nvSpPr>
          <p:cNvPr id="42" name="Text 36"/>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headphones</a:t>
            </a:r>
            <a:endParaRPr lang="en-US" sz="1100" dirty="0"/>
          </a:p>
        </p:txBody>
      </p:sp>
      <p:sp>
        <p:nvSpPr>
          <p:cNvPr id="43" name="Shape 37"/>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4" name="Shape 38"/>
          <p:cNvSpPr/>
          <p:nvPr/>
        </p:nvSpPr>
        <p:spPr>
          <a:xfrm>
            <a:off x="3617976" y="3785616"/>
            <a:ext cx="329184" cy="329184"/>
          </a:xfrm>
          <a:prstGeom prst="ellipse">
            <a:avLst/>
          </a:prstGeom>
          <a:solidFill>
            <a:srgbClr val="2E8B57"/>
          </a:solidFill>
          <a:ln w="12700">
            <a:solidFill>
              <a:srgbClr val="2E8B57"/>
            </a:solidFill>
            <a:prstDash val="solid"/>
          </a:ln>
        </p:spPr>
      </p:sp>
      <p:sp>
        <p:nvSpPr>
          <p:cNvPr id="45" name="Text 39"/>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46" name="Text 40"/>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أَسْتَمِعُ إِلَى المُوسِيقَى.</a:t>
            </a:r>
            <a:endParaRPr lang="ar-SA" sz="2200" dirty="0"/>
          </a:p>
        </p:txBody>
      </p:sp>
      <p:sp>
        <p:nvSpPr>
          <p:cNvPr id="47" name="Text 41"/>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listen to music.</a:t>
            </a:r>
            <a:endParaRPr lang="en-US" sz="1200" dirty="0"/>
          </a:p>
        </p:txBody>
      </p:sp>
      <p:sp>
        <p:nvSpPr>
          <p:cNvPr id="48"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47</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TB-L08 · Hobbies and Free Time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verb goes with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TB-L08</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كُرَةَ القَدَمِ</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كُرَةَ السَّلَّةِ</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الشِّطْرَنْجَ</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السِّبَاحَةَ</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رِيَاضَةَ اليُوغَا</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تَسَلُّقَ الجِبَالِ</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العُودِ</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البِيَانُو</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الكَمَانِ</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play (a game): al‘abu</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practise: umārisu</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play on: a‘zifu ‘alā</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47</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TB-L08 · Hobbies and Free Time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TB-L08</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play (a game): al‘abu</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كُرَةَ القَدَمِ</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كُرَةَ السَّلَّةِ</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الشِّطْرَنْجَ</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practise: umārisu</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السِّبَاحَةَ</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رِيَاضَةَ اليُوغَا</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تَسَلُّقَ الجِبَالِ</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play on: a‘zifu ‘alā</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العُودِ</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البِيَانُو</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الكَمَانِ</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47</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TB-L08 · Hobbies and Free Time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4,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TB-L08</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أَسْتَمِعُ ___ المُوسِيقَى العَرَبِيَّةِ.</a:t>
            </a:r>
            <a:endParaRPr lang="ar-SA" sz="150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4" name="Text 31"/>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preference sentence.</a:t>
            </a:r>
            <a:endParaRPr lang="en-US" sz="125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أُفَضِّلُ الرَّسْمَ مِنَ التَّصْوِيرِ.</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أُفَضِّلُ الرَّسْمَ عَلَى التَّصْوِيرِ.</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أُفَضِّلُ الرَّسْمُ عَلَى التَّصْوِيرَ.</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enjoyment sentence.</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أَسْتَمْتِعُ القِرَاءَةَ أَكْثَرَ مِنَ الغِنَاءِ.</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أَسْتَمْتِعُ بِالقِرَاءَةِ أَكْثَرَ مِنَ الغِنَاءِ.</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أَسْتَمْتِعُ بِالقِرَاءَةُ أَكْثَرَ مِنَ الغِنَاءِ.</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sentence that adds a reason accurately.</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أَهْوَى تَسَلُّقَ الجِبَالِ حَقًّا لِأَنَّهَا مُمْتِعٌ.</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أَهْوَى تَسَلُّقُ الجِبَالِ حَقًّا لِأَنَّهُ مُمْتِعَةٌ.</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أَهْوَى تَسَلُّقَ الجِبَالِ حَقًّا لِأَنَّهُ مُمْتِعٌ.</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47</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TB-L08 · Hobbies and Free Time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TB-L08</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أَسْتَمِعُ ___ المُوسِيقَى العَرَبِيَّةِ.</a:t>
            </a:r>
            <a:endParaRPr lang="ar-SA" sz="1500" dirty="0"/>
          </a:p>
        </p:txBody>
      </p:sp>
      <p:sp>
        <p:nvSpPr>
          <p:cNvPr id="22"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25" name="Shape 22"/>
          <p:cNvSpPr/>
          <p:nvPr/>
        </p:nvSpPr>
        <p:spPr>
          <a:xfrm>
            <a:off x="640080" y="2862072"/>
            <a:ext cx="256032" cy="256032"/>
          </a:xfrm>
          <a:prstGeom prst="ellipse">
            <a:avLst/>
          </a:prstGeom>
          <a:solidFill>
            <a:srgbClr val="C9CED6"/>
          </a:solidFill>
          <a:ln w="12700">
            <a:solidFill>
              <a:srgbClr val="C9CED6"/>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بِـ</a:t>
            </a:r>
            <a:endParaRPr lang="ar-SA" sz="1700" dirty="0"/>
          </a:p>
        </p:txBody>
      </p:sp>
      <p:sp>
        <p:nvSpPr>
          <p:cNvPr id="28" name="Shape 25"/>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9" name="Shape 26"/>
          <p:cNvSpPr/>
          <p:nvPr/>
        </p:nvSpPr>
        <p:spPr>
          <a:xfrm>
            <a:off x="640080" y="3233928"/>
            <a:ext cx="256032" cy="256032"/>
          </a:xfrm>
          <a:prstGeom prst="ellipse">
            <a:avLst/>
          </a:prstGeom>
          <a:solidFill>
            <a:srgbClr val="2E8B57"/>
          </a:solidFill>
          <a:ln w="12700">
            <a:solidFill>
              <a:srgbClr val="2E8B57"/>
            </a:solidFill>
            <a:prstDash val="solid"/>
          </a:ln>
        </p:spPr>
      </p:sp>
      <p:sp>
        <p:nvSpPr>
          <p:cNvPr id="30"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1" name="Text 28"/>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إِلَى</a:t>
            </a:r>
            <a:endParaRPr lang="ar-SA" sz="1700" dirty="0"/>
          </a:p>
        </p:txBody>
      </p:sp>
      <p:sp>
        <p:nvSpPr>
          <p:cNvPr id="32" name="Text 29"/>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يَسْتَمِعُ</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ea typeface="Amiri" pitchFamily="2" charset="-78"/>
                <a:cs typeface="Amiri" pitchFamily="2" charset="-78"/>
              </a:rPr>
              <a:t>إِلَى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3" name="Shape 30"/>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313932" y="1947672"/>
            <a:ext cx="310896" cy="310896"/>
          </a:xfrm>
          <a:prstGeom prst="ellipse">
            <a:avLst/>
          </a:prstGeom>
          <a:solidFill>
            <a:srgbClr val="1B3B6F"/>
          </a:solidFill>
          <a:ln w="12700">
            <a:solidFill>
              <a:srgbClr val="1B3B6F"/>
            </a:solidFill>
            <a:prstDash val="solid"/>
          </a:ln>
        </p:spPr>
      </p:sp>
      <p:sp>
        <p:nvSpPr>
          <p:cNvPr id="35" name="Text 3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6" name="Text 33"/>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preference sentence.</a:t>
            </a:r>
            <a:endParaRPr lang="en-US" sz="125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أُفَضِّلُ الرَّسْمَ مِنَ التَّصْوِيرِ.</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أُفَضِّلُ الرَّسْمَ عَلَى التَّصْوِيرِ.</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أُفَضِّلُ الرَّسْمُ عَلَى التَّصْوِيرَ.</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أُفَضِّلُ</a:t>
            </a:r>
            <a:pPr algn="l" indent="0" marL="0">
              <a:buNone/>
            </a:pPr>
            <a:r>
              <a:rPr lang="en-US" sz="1050" i="1" dirty="0">
                <a:solidFill>
                  <a:srgbClr val="8A6D1E"/>
                </a:solidFill>
                <a:latin typeface="Calibri" pitchFamily="34" charset="0"/>
                <a:cs typeface="Amiri" pitchFamily="2" charset="-78"/>
              </a:rPr>
              <a:t> takes an accusative object, and the less-preferred thing follows </a:t>
            </a:r>
            <a:pPr algn="l" indent="0" marL="0">
              <a:buNone/>
            </a:pPr>
            <a:r>
              <a:rPr lang="ar-SA" altLang="en-US" sz="1350" dirty="0">
                <a:solidFill>
                  <a:srgbClr val="8A6D1E"/>
                </a:solidFill>
                <a:latin typeface="Amiri" pitchFamily="2" charset="-78"/>
                <a:ea typeface="Amiri" pitchFamily="2" charset="-78"/>
                <a:cs typeface="Amiri" pitchFamily="2" charset="-78"/>
              </a:rPr>
              <a:t>عَلَى</a:t>
            </a:r>
            <a:pPr algn="l" indent="0" marL="0">
              <a:buNone/>
            </a:pPr>
            <a:r>
              <a:rPr lang="en-US" sz="1050" i="1" dirty="0">
                <a:solidFill>
                  <a:srgbClr val="8A6D1E"/>
                </a:solidFill>
                <a:latin typeface="Calibri" pitchFamily="34" charset="0"/>
                <a:cs typeface="Amiri" pitchFamily="2" charset="-78"/>
              </a:rPr>
              <a:t> in the genitive.</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enjoyment sentence.</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أَسْتَمْتِعُ القِرَاءَةَ أَكْثَرَ مِنَ الغِنَاءِ.</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أَسْتَمْتِعُ بِالقِرَاءَةِ أَكْثَرَ مِنَ الغِنَاءِ.</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أَسْتَمْتِعُ بِالقِرَاءَةُ أَكْثَرَ مِنَ الغِنَاءِ.</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أَسْتَمْتِعُ</a:t>
            </a:r>
            <a:pPr algn="l" indent="0" marL="0">
              <a:buNone/>
            </a:pPr>
            <a:r>
              <a:rPr lang="en-US" sz="1050" i="1" dirty="0">
                <a:solidFill>
                  <a:srgbClr val="8A6D1E"/>
                </a:solidFill>
                <a:latin typeface="Calibri" pitchFamily="34" charset="0"/>
                <a:cs typeface="Amiri" pitchFamily="2" charset="-78"/>
              </a:rPr>
              <a:t> requires </a:t>
            </a:r>
            <a:pPr algn="l" indent="0" marL="0">
              <a:buNone/>
            </a:pPr>
            <a:r>
              <a:rPr lang="ar-SA" altLang="en-US" sz="1350" dirty="0">
                <a:solidFill>
                  <a:srgbClr val="8A6D1E"/>
                </a:solidFill>
                <a:latin typeface="Amiri" pitchFamily="2" charset="-78"/>
                <a:ea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 and a noun after a preposition is genitive.</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sentence that adds a reason accurately.</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أَهْوَى تَسَلُّقَ الجِبَالِ حَقًّا لِأَنَّهَا مُمْتِعٌ.</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أَهْوَى تَسَلُّقُ الجِبَالِ حَقًّا لِأَنَّهُ مُمْتِعَةٌ.</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أَهْوَى تَسَلُّقَ الجِبَالِ حَقًّا لِأَنَّهُ مُمْتِعٌ.</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تَسَلُّق</a:t>
            </a:r>
            <a:pPr algn="l" indent="0" marL="0">
              <a:buNone/>
            </a:pPr>
            <a:r>
              <a:rPr lang="en-US" sz="1050" i="1" dirty="0">
                <a:solidFill>
                  <a:srgbClr val="8A6D1E"/>
                </a:solidFill>
                <a:latin typeface="Calibri" pitchFamily="34" charset="0"/>
                <a:cs typeface="Amiri" pitchFamily="2" charset="-78"/>
              </a:rPr>
              <a:t> is masculine and is the object of </a:t>
            </a:r>
            <a:pPr algn="l" indent="0" marL="0">
              <a:buNone/>
            </a:pPr>
            <a:r>
              <a:rPr lang="ar-SA" altLang="en-US" sz="1350" dirty="0">
                <a:solidFill>
                  <a:srgbClr val="8A6D1E"/>
                </a:solidFill>
                <a:latin typeface="Amiri" pitchFamily="2" charset="-78"/>
                <a:ea typeface="Amiri" pitchFamily="2" charset="-78"/>
                <a:cs typeface="Amiri" pitchFamily="2" charset="-78"/>
              </a:rPr>
              <a:t>أَهْوَى</a:t>
            </a:r>
            <a:pPr algn="l" indent="0" marL="0">
              <a:buNone/>
            </a:pPr>
            <a:r>
              <a:rPr lang="en-US" sz="1050" i="1" dirty="0">
                <a:solidFill>
                  <a:srgbClr val="8A6D1E"/>
                </a:solidFill>
                <a:latin typeface="Calibri" pitchFamily="34" charset="0"/>
                <a:cs typeface="Amiri" pitchFamily="2" charset="-78"/>
              </a:rPr>
              <a:t>, so the pronoun and adjective are both masculine.</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47</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TB-L08 · Hobbies and Free Time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TB-L08</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أَلْعَبُ السِّبَاحَةَ.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Swimming: game or activity?</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أَعْزِفُ البِيَانُو.</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Instrument → which partner word?</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ثَلَاثَ مَرَّةٍ فِي الشَّهْرِ</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After three: marra or marrāt?</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47</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TB-L08 · Hobbies and Free Time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TB-L08</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أَلْعَبُ السِّبَاحَةَ.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أُمَارِسُ السِّبَاحَةَ.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السِّبَاحَة</a:t>
            </a:r>
            <a:pPr algn="l" indent="0" marL="0">
              <a:buNone/>
            </a:pPr>
            <a:r>
              <a:rPr lang="en-US" sz="1150" b="1" dirty="0">
                <a:solidFill>
                  <a:srgbClr val="1B3B6F"/>
                </a:solidFill>
                <a:latin typeface="Calibri" pitchFamily="34" charset="0"/>
                <a:cs typeface="Amiri" pitchFamily="2" charset="-78"/>
              </a:rPr>
              <a:t> is an activity, not a ball game, so it takes </a:t>
            </a:r>
            <a:pPr algn="l" indent="0" marL="0">
              <a:buNone/>
            </a:pPr>
            <a:r>
              <a:rPr lang="ar-SA" altLang="en-US" sz="1500" b="1" dirty="0">
                <a:solidFill>
                  <a:srgbClr val="1B3B6F"/>
                </a:solidFill>
                <a:latin typeface="Amiri" pitchFamily="2" charset="-78"/>
                <a:ea typeface="Amiri" pitchFamily="2" charset="-78"/>
                <a:cs typeface="Amiri" pitchFamily="2" charset="-78"/>
              </a:rPr>
              <a:t>يُمَارِسُ</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أَعْزِفُ البِيَانُو.</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أَعْزِفُ عَلَى البِيَانُو.</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يَعْزِفُ</a:t>
            </a:r>
            <a:pPr algn="l" indent="0" marL="0">
              <a:buNone/>
            </a:pPr>
            <a:r>
              <a:rPr lang="en-US" sz="1150" b="1" dirty="0">
                <a:solidFill>
                  <a:srgbClr val="1B3B6F"/>
                </a:solidFill>
                <a:latin typeface="Calibri" pitchFamily="34" charset="0"/>
                <a:cs typeface="Amiri" pitchFamily="2" charset="-78"/>
              </a:rPr>
              <a:t> needs the preposition </a:t>
            </a:r>
            <a:pPr algn="l" indent="0" marL="0">
              <a:buNone/>
            </a:pPr>
            <a:r>
              <a:rPr lang="ar-SA" altLang="en-US" sz="1500" b="1" dirty="0">
                <a:solidFill>
                  <a:srgbClr val="1B3B6F"/>
                </a:solidFill>
                <a:latin typeface="Amiri" pitchFamily="2" charset="-78"/>
                <a:ea typeface="Amiri" pitchFamily="2" charset="-78"/>
                <a:cs typeface="Amiri" pitchFamily="2" charset="-78"/>
              </a:rPr>
              <a:t>عَلَى</a:t>
            </a:r>
            <a:pPr algn="l" indent="0" marL="0">
              <a:buNone/>
            </a:pPr>
            <a:r>
              <a:rPr lang="en-US" sz="1150" b="1" dirty="0">
                <a:solidFill>
                  <a:srgbClr val="1B3B6F"/>
                </a:solidFill>
                <a:latin typeface="Calibri" pitchFamily="34" charset="0"/>
                <a:cs typeface="Amiri" pitchFamily="2" charset="-78"/>
              </a:rPr>
              <a:t> before the instrument.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ثَلَاثَ مَرَّةٍ فِي الشَّهْرِ</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ثَلَاثَ مَرَّاتٍ فِي الشَّهْرِ</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Numbers from three to ten are followed by a genitive plural.</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47</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TB-L08 · Hobbies and Free Time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50" b="1" dirty="0">
                <a:solidFill>
                  <a:srgbClr val="1B3B6F"/>
                </a:solidFill>
                <a:latin typeface="Cambria" pitchFamily="34" charset="0"/>
                <a:cs typeface="Amiri" pitchFamily="2" charset="-78"/>
              </a:rPr>
              <a:t>Listening: three students describe their free time</a:t>
            </a:r>
            <a:endParaRPr lang="en-US" sz="18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often does Salmā swim?</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Twice a week</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Daily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Three times a month</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Salmā swim?</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cheap</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Her school requires it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relaxes her after study</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Yūsuf do daily?</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Swims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Takes photographs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Plays the oud</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Yūsuf prefer?</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Music to sport</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Sport to music</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Reading to music</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Laylā truly passionate about?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Basketball</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Photography</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Reading novels</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and 3.</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مَرَّتَيْنِ</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يَوْمِيًّا</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ثَلَاثَ مَرَّاتٍ</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47</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TB-L08 · Hobbies and Free Time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TB-L08</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1950" b="1" dirty="0">
                <a:solidFill>
                  <a:srgbClr val="1B3B6F"/>
                </a:solidFill>
                <a:latin typeface="Amiri" pitchFamily="2" charset="-78"/>
                <a:ea typeface="Amiri" pitchFamily="2" charset="-78"/>
                <a:cs typeface="Amiri" pitchFamily="2" charset="-78"/>
              </a:rPr>
              <a:t>أَنَا سَلْمَى، وَأُمَارِسُ السِّبَاحَةَ مَرَّتَيْنِ فِي الأُسْبُوعِ لِأَنَّهَا تُرِيحُنِي بَعْدَ الدِّرَاسَةِ.</a:t>
            </a:r>
            <a:endParaRPr lang="ar-SA" sz="195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am Salma, and I swim twice a week because it relaxes me after studying.</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وَفِي وَقْتِ فَرَاغِي أَقْرَأُ الرِّوَايَاتِ.</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And in my free time I read novels.</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أَمَّا أَخِي يُوسُفُ فَيَعْزِفُ عَلَى العُودِ يَوْمِيًّا،</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As for my brother Yusuf, he plays the oud every day,</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وَيَقُولُ إِنَّهُ يُفَضِّلُ المُوسِيقَى عَلَى الرِّيَاضَةِ.</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and he says that he prefers music to sport.</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وَصَدِيقَتِي لَيْلَى تَلْعَبُ كُرَةَ السَّلَّةِ ثَلَاثَ مَرَّاتٍ فِي الشَّهْرِ فَقَطْ، لٰكِنَّهَا تَهْوَى التَّصْوِيرَ الفُوتُوغْرَافِيَّ حَقًّا.</a:t>
            </a:r>
            <a:endParaRPr lang="ar-SA" sz="155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And my friend Layla plays basketball only three times a month, but she is truly passionate about photography.</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47</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TB-L08 · Hobbies and Free Time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often does Salmā swim?</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Twice a week</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Daily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Three times a month</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says </a:t>
            </a:r>
            <a:pPr algn="l" indent="0" marL="0">
              <a:buNone/>
            </a:pPr>
            <a:r>
              <a:rPr lang="ar-SA" altLang="en-US" sz="1350" dirty="0">
                <a:solidFill>
                  <a:srgbClr val="8A6D1E"/>
                </a:solidFill>
                <a:latin typeface="Amiri" pitchFamily="2" charset="-78"/>
                <a:ea typeface="Amiri" pitchFamily="2" charset="-78"/>
                <a:cs typeface="Amiri" pitchFamily="2" charset="-78"/>
              </a:rPr>
              <a:t>مَرَّتَيْنِ فِي الأُسْبُوعِ</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Salmā swim?</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cheap</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Her school requires it</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relaxes her after study</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gives the reason </a:t>
            </a:r>
            <a:pPr algn="l" indent="0" marL="0">
              <a:buNone/>
            </a:pPr>
            <a:r>
              <a:rPr lang="ar-SA" altLang="en-US" sz="1350" dirty="0">
                <a:solidFill>
                  <a:srgbClr val="8A6D1E"/>
                </a:solidFill>
                <a:latin typeface="Amiri" pitchFamily="2" charset="-78"/>
                <a:ea typeface="Amiri" pitchFamily="2" charset="-78"/>
                <a:cs typeface="Amiri" pitchFamily="2" charset="-78"/>
              </a:rPr>
              <a:t>لِأَنَّهَا تُرِيحُنِي بَعْدَ الدِّرَاسَةِ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Yūsuf do daily?</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Swims</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Takes photographs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Plays the oud</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script says </a:t>
            </a:r>
            <a:pPr algn="l" indent="0" marL="0">
              <a:buNone/>
            </a:pPr>
            <a:r>
              <a:rPr lang="ar-SA" altLang="en-US" sz="1350" dirty="0">
                <a:solidFill>
                  <a:srgbClr val="8A6D1E"/>
                </a:solidFill>
                <a:latin typeface="Amiri" pitchFamily="2" charset="-78"/>
                <a:ea typeface="Amiri" pitchFamily="2" charset="-78"/>
                <a:cs typeface="Amiri" pitchFamily="2" charset="-78"/>
              </a:rPr>
              <a:t>يَعْزِفُ عَلَى العُودِ يَوْمِيًّا</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Yūsuf prefer?</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Music to sport</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Sport to music</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Reading to music</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 says </a:t>
            </a:r>
            <a:pPr algn="l" indent="0" marL="0">
              <a:buNone/>
            </a:pPr>
            <a:r>
              <a:rPr lang="ar-SA" altLang="en-US" sz="1350" dirty="0">
                <a:solidFill>
                  <a:srgbClr val="8A6D1E"/>
                </a:solidFill>
                <a:latin typeface="Amiri" pitchFamily="2" charset="-78"/>
                <a:ea typeface="Amiri" pitchFamily="2" charset="-78"/>
                <a:cs typeface="Amiri" pitchFamily="2" charset="-78"/>
              </a:rPr>
              <a:t>يُفَضِّلُ المُوسِيقَى عَلَى الرِّيَاضَةِ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Laylā truly passionate about?</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Basketball</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Photography</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Reading novels</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plays basketball only occasionally but </a:t>
            </a:r>
            <a:pPr algn="l" indent="0" marL="0">
              <a:buNone/>
            </a:pPr>
            <a:r>
              <a:rPr lang="ar-SA" altLang="en-US" sz="1350" dirty="0">
                <a:solidFill>
                  <a:srgbClr val="8A6D1E"/>
                </a:solidFill>
                <a:latin typeface="Amiri" pitchFamily="2" charset="-78"/>
                <a:ea typeface="Amiri" pitchFamily="2" charset="-78"/>
                <a:cs typeface="Amiri" pitchFamily="2" charset="-78"/>
              </a:rPr>
              <a:t>تَهْوَى التَّصْوِيرَ الفُوتُوغْرَافِيَّ حَقًّا</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and 3.</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مَرَّتَيْنِ</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يَوْمِيًّا</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ثَلَاثَ مَرَّاتٍ</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47</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TB-L08 · Hobbies and Free Time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TOPIC B APPLICATION CHALLENGE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Leisure survey showdown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تَحَدِّي التَّطْبِيقِ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TB-L08</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TOPIC B CHALLENGE · WEBSITE</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Leisure survey showdown</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Survey hobbies and sport, rank the most popular activities and report frequency, ability and reasons in connected sentences.</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Survey: ask 3 classmates (on the mic or in the chat) about hobbies and sport.</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Record: the hobby, how often, and one reason.</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Rank the most popular activities in the class (teacher tallies in the chat).</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Report back in the third person: he plays … twice a week because …</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Ask “mā hiwāyatuka?” and report one answer: “yal‘abu / tal‘abu …”.</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Report hobby + frequency + reason for two people.</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Report the class ranking with a comparison: “aktharu min …” and one ability (yastaṭī‘u …).</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مَا هِوَايَتُكَ؟ / هِوَايَتُكِ؟</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what is your hobby? (m. / f.)</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كَمْ مَرَّةً فِي الأُسْبُوعِ؟</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how many times a week?</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هِيَ تُمَارِسُ السِّبَاحَةَ</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she goes swimming</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أَكْثَرُ هِوَايَةٍ شُهْرَةً هِيَ …</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the most popular hobby is …</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47</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TB-L08 · Hobbies and Free Time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Speaking: my hobby in thirty seconds</a:t>
            </a:r>
            <a:endParaRPr lang="en-US" sz="26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TB-L08</a:t>
            </a:r>
            <a:endParaRPr lang="en-US" sz="850" dirty="0"/>
          </a:p>
        </p:txBody>
      </p:sp>
      <p:sp>
        <p:nvSpPr>
          <p:cNvPr id="17" name="Shape 14"/>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8" name="Text 15"/>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9" name="Text 16"/>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20" name="Shape 17"/>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21" name="Text 18"/>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2" name="Text 19"/>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3" name="Shape 20"/>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4" name="Text 21"/>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5" name="Text 22"/>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6" name="Shape 23"/>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7" name="Text 24"/>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8" name="Text 25"/>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9" name="Shape 26"/>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30" name="Text 27"/>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31" name="Text 28"/>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2" name="Shape 29"/>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5" name="Text 32"/>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تَفْعَلُ فِي وَقْتِ فَرَاغِكَ؟</a:t>
            </a:r>
            <a:endParaRPr lang="ar-SA" sz="1800" dirty="0"/>
          </a:p>
        </p:txBody>
      </p:sp>
      <p:sp>
        <p:nvSpPr>
          <p:cNvPr id="36" name="Shape 33"/>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9" name="Text 36"/>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هِوَايَتُكَ المُفَضَّلَةُ؟ وَكَمْ مَرَّةً تُمَارِسُهَا فِي الأُسْبُوعِ؟</a:t>
            </a:r>
            <a:endParaRPr lang="ar-SA" sz="1800" dirty="0"/>
          </a:p>
        </p:txBody>
      </p:sp>
      <p:sp>
        <p:nvSpPr>
          <p:cNvPr id="40" name="Shape 37"/>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2" name="Text 39"/>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3" name="Text 40"/>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هَلْ تُفَضِّلُ الرِّيَاضَةَ عَلَى المُوسِيقَى؟ لِمَاذَا؟</a:t>
            </a:r>
            <a:endParaRPr lang="ar-SA" sz="1800" dirty="0"/>
          </a:p>
        </p:txBody>
      </p:sp>
      <p:sp>
        <p:nvSpPr>
          <p:cNvPr id="44" name="Shape 41"/>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6" name="Text 43"/>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7" name="Text 44"/>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تَفْعَلُ فِي وَقْتِ فَرَاغِكَ مَعَ أَصْدِقَائِكَ؟</a:t>
            </a:r>
            <a:endParaRPr lang="ar-SA" sz="1800" dirty="0"/>
          </a:p>
        </p:txBody>
      </p:sp>
      <p:sp>
        <p:nvSpPr>
          <p:cNvPr id="48" name="Shape 45"/>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9" name="Text 46"/>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50" name="Shape 47"/>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فِي وَقْتِ فَرَاغِي ___ .</a:t>
            </a:r>
            <a:endParaRPr lang="ar-SA" sz="1600" dirty="0"/>
          </a:p>
        </p:txBody>
      </p:sp>
      <p:sp>
        <p:nvSpPr>
          <p:cNvPr id="53" name="Shape 50"/>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4" name="Text 51"/>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5" name="Text 52"/>
          <p:cNvSpPr txBox="1"/>
          <p:nvPr/>
        </p:nvSpPr>
        <p:spPr>
          <a:xfrm>
            <a:off x="1783080" y="3410712"/>
            <a:ext cx="2697480" cy="557784"/>
          </a:xfrm>
          <a:prstGeom prst="rect">
            <a:avLst/>
          </a:prstGeom>
          <a:noFill/>
          <a:ln/>
        </p:spPr>
        <p:txBody>
          <a:bodyPr wrap="square" lIns="0" tIns="0" rIns="0" bIns="0" rtlCol="0" anchor="ctr"/>
          <a:lstStyle/>
          <a:p>
            <a:pPr rtl="1" algn="r" indent="0" marL="0">
              <a:lnSpc>
                <a:spcPct val="120000"/>
              </a:lnSpc>
              <a:buNone/>
            </a:pPr>
            <a:r>
              <a:rPr lang="ar-SA" altLang="en-US" sz="1150" b="1" dirty="0">
                <a:solidFill>
                  <a:srgbClr val="1F2A37"/>
                </a:solidFill>
                <a:latin typeface="Amiri" pitchFamily="2" charset="-78"/>
                <a:ea typeface="Amiri" pitchFamily="2" charset="-78"/>
                <a:cs typeface="Amiri" pitchFamily="2" charset="-78"/>
              </a:rPr>
              <a:t>هِوَايَتِي المُفَضَّلَةُ ___ ، وَأُمَارِسُهَا ___ فِي الأُسْبُوعِ.</a:t>
            </a:r>
            <a:endParaRPr lang="ar-SA" sz="1150" dirty="0"/>
          </a:p>
        </p:txBody>
      </p:sp>
      <p:sp>
        <p:nvSpPr>
          <p:cNvPr id="56" name="Shape 53"/>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7" name="Text 54"/>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8" name="Text 55"/>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أُفَضِّلُ ___ عَلَى ___ لِأَنَّ ___ .</a:t>
            </a:r>
            <a:endParaRPr lang="ar-SA" sz="1600" dirty="0"/>
          </a:p>
        </p:txBody>
      </p:sp>
      <p:sp>
        <p:nvSpPr>
          <p:cNvPr id="59" name="Shape 56"/>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60" name="Text 57"/>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61" name="Text 58"/>
          <p:cNvSpPr txBox="1"/>
          <p:nvPr/>
        </p:nvSpPr>
        <p:spPr>
          <a:xfrm>
            <a:off x="1783080" y="4526280"/>
            <a:ext cx="2697480" cy="557784"/>
          </a:xfrm>
          <a:prstGeom prst="rect">
            <a:avLst/>
          </a:prstGeom>
          <a:noFill/>
          <a:ln/>
        </p:spPr>
        <p:txBody>
          <a:bodyPr wrap="square" lIns="0" tIns="0" rIns="0" bIns="0" rtlCol="0" anchor="ctr"/>
          <a:lstStyle/>
          <a:p>
            <a:pPr rtl="1" algn="r" indent="0" marL="0">
              <a:lnSpc>
                <a:spcPct val="120000"/>
              </a:lnSpc>
              <a:buNone/>
            </a:pPr>
            <a:r>
              <a:rPr lang="ar-SA" altLang="en-US" sz="1200" b="1" dirty="0">
                <a:solidFill>
                  <a:srgbClr val="1F2A37"/>
                </a:solidFill>
                <a:latin typeface="Amiri" pitchFamily="2" charset="-78"/>
                <a:ea typeface="Amiri" pitchFamily="2" charset="-78"/>
                <a:cs typeface="Amiri" pitchFamily="2" charset="-78"/>
              </a:rPr>
              <a:t>مَعَ أَصْدِقَائِي ___ ، وَأَسْتَمْتِعُ بِـ ___ أَكْثَرَ مِنْ ___ .</a:t>
            </a:r>
            <a:endParaRPr lang="ar-SA" sz="1200" dirty="0"/>
          </a:p>
        </p:txBody>
      </p:sp>
      <p:sp>
        <p:nvSpPr>
          <p:cNvPr id="62" name="Shape 59"/>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3" name="Text 60"/>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4" name="Shape 61"/>
          <p:cNvSpPr/>
          <p:nvPr/>
        </p:nvSpPr>
        <p:spPr>
          <a:xfrm>
            <a:off x="11274552" y="5559552"/>
            <a:ext cx="292608" cy="292608"/>
          </a:xfrm>
          <a:prstGeom prst="ellipse">
            <a:avLst/>
          </a:prstGeom>
          <a:solidFill>
            <a:srgbClr val="1E6B52"/>
          </a:solidFill>
          <a:ln w="12700">
            <a:solidFill>
              <a:srgbClr val="1E6B52"/>
            </a:solidFill>
            <a:prstDash val="solid"/>
          </a:ln>
        </p:spPr>
      </p:sp>
      <p:sp>
        <p:nvSpPr>
          <p:cNvPr id="65" name="Text 62"/>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6" name="Text 63"/>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مَا هِوَايَتُكِ المُفَضَّلَةُ؟</a:t>
            </a:r>
            <a:endParaRPr lang="ar-SA" sz="1550" dirty="0"/>
          </a:p>
        </p:txBody>
      </p:sp>
      <p:sp>
        <p:nvSpPr>
          <p:cNvPr id="67" name="Text 64"/>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is your (f.) favourite hobby?</a:t>
            </a:r>
            <a:endParaRPr lang="en-US" sz="950" dirty="0"/>
          </a:p>
        </p:txBody>
      </p:sp>
      <p:sp>
        <p:nvSpPr>
          <p:cNvPr id="68" name="Shape 65"/>
          <p:cNvSpPr/>
          <p:nvPr/>
        </p:nvSpPr>
        <p:spPr>
          <a:xfrm>
            <a:off x="11274552" y="5925312"/>
            <a:ext cx="292608" cy="292608"/>
          </a:xfrm>
          <a:prstGeom prst="ellipse">
            <a:avLst/>
          </a:prstGeom>
          <a:solidFill>
            <a:srgbClr val="1E6B52"/>
          </a:solidFill>
          <a:ln w="12700">
            <a:solidFill>
              <a:srgbClr val="1E6B52"/>
            </a:solidFill>
            <a:prstDash val="solid"/>
          </a:ln>
        </p:spPr>
      </p:sp>
      <p:sp>
        <p:nvSpPr>
          <p:cNvPr id="69" name="Text 66"/>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70" name="Text 67"/>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أُمَارِسُ السِّبَاحَةَ مَرَّتَيْنِ فِي الأُسْبُوعِ، وَأَسْتَمْتِعُ بِهَا كَثِيرًا.</a:t>
            </a:r>
            <a:endParaRPr lang="ar-SA" sz="1550" dirty="0"/>
          </a:p>
        </p:txBody>
      </p:sp>
      <p:sp>
        <p:nvSpPr>
          <p:cNvPr id="71" name="Text 68"/>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I swim twice a week, and I enjoy it a lot.</a:t>
            </a:r>
            <a:endParaRPr lang="en-US" sz="95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47</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TB-L08 · Hobbies and Free Time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TB-L08</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Website Core: six sentences with the vault and frames — one collocation and one frequency phrase each.</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Three hobbies with the right verb, each with how often.</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Website task: eight sentences about your free time.</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Link them into a paragraph with a preference (ufaḍḍilu … ‘alā …) and a reason.</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8+ sentences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Website Stretch: compare two hobbies in one sentence.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Five collocation verbs, four frequency phrases, all three preference structures, amma … fa-.</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47</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TB-L08 · Hobbies and Free Time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TB-L08</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______ ثَلَاثَ مَرَّاتٍ فِي الشَّهْرِ.</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three times a month.</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أُفَضِّلُ ______ عَلَى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prefer … to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أَسْتَمْتِعُ بِـ ______ أَكْثَرَ مِنْ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enjoy … more than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أَهْوَى ______ حَقًّا.</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am truly passionate about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______ لِأَنَّهُ مُمْتِعٌ / لِأَنَّهَا مُمْتِعَةٌ.</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because it is enjoyable.</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وَقْتِ فَرَاغِي ______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my free time I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أَلْعَبُ كُرَةَ القَدَمِ.</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play football.</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أُمَارِسُ السِّبَاحَةَ.</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go swimming.</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أَعْزِفُ عَلَى العُودِ.</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play the oud.</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______ مَرَّةً / مَرَّتَيْنِ فِي الأُسْبُوعِ.</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once / twice a week.</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أَلْعَبُ  ·  أُمَارِسُ  ·  أَعْزِفُ عَلَى  ·  أَسْتَمِعُ إِلَى  ·  السِّبَاحَةَ  ·  الرَّسْمَ  ·  القِرَاءَةَ  ·  كُرَةَ القَدَمِ  ·  مَرَّةً  ·  مَرَّتَيْنِ  ·  يَوْمِيًّا  ·  لِأَنَّ</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47</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TB-L08 · Hobbies and Free Time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TB-L08</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eight sentences about your hobbies. Use five different collocation verbs, four different frequency expressions and all three preference structures. Give a reason with </a:t>
            </a:r>
            <a:pPr algn="l" indent="0" marL="0">
              <a:buNone/>
            </a:pPr>
            <a:r>
              <a:rPr lang="ar-SA" altLang="en-US" sz="1750" b="1" dirty="0">
                <a:solidFill>
                  <a:srgbClr val="1F2A37"/>
                </a:solidFill>
                <a:latin typeface="Amiri" pitchFamily="2" charset="-78"/>
                <a:ea typeface="Amiri" pitchFamily="2" charset="-78"/>
                <a:cs typeface="Amiri" pitchFamily="2" charset="-78"/>
              </a:rPr>
              <a:t>لِأَنَّ</a:t>
            </a:r>
            <a:pPr algn="l" indent="0" marL="0">
              <a:buNone/>
            </a:pPr>
            <a:r>
              <a:rPr lang="en-US" sz="1350" b="1" dirty="0">
                <a:solidFill>
                  <a:srgbClr val="1F2A37"/>
                </a:solidFill>
                <a:latin typeface="Calibri" pitchFamily="34" charset="0"/>
                <a:cs typeface="Amiri" pitchFamily="2" charset="-78"/>
              </a:rPr>
              <a:t> for your favourite hobby.</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Five different collocation verbs, each with the noun ending it requires.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Four different frequency expressions, including the dual </a:t>
            </a:r>
            <a:pPr algn="l" indent="0" marL="0">
              <a:buNone/>
            </a:pPr>
            <a:r>
              <a:rPr lang="ar-SA" altLang="en-US" sz="1550" dirty="0">
                <a:solidFill>
                  <a:srgbClr val="1F2A37"/>
                </a:solidFill>
                <a:latin typeface="Amiri" pitchFamily="2" charset="-78"/>
                <a:ea typeface="Amiri" pitchFamily="2" charset="-78"/>
                <a:cs typeface="Amiri" pitchFamily="2" charset="-78"/>
              </a:rPr>
              <a:t>مَرَّتَيْنِ</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three preference structures: </a:t>
            </a:r>
            <a:pPr algn="l" indent="0" marL="0">
              <a:buNone/>
            </a:pPr>
            <a:r>
              <a:rPr lang="ar-SA" altLang="en-US" sz="1550" dirty="0">
                <a:solidFill>
                  <a:srgbClr val="1F2A37"/>
                </a:solidFill>
                <a:latin typeface="Amiri" pitchFamily="2" charset="-78"/>
                <a:ea typeface="Amiri" pitchFamily="2" charset="-78"/>
                <a:cs typeface="Amiri" pitchFamily="2" charset="-78"/>
              </a:rPr>
              <a:t>أُفَضِّلُ … عَلَى، أَسْتَمْتِعُ بِـ، أَهْوَى … حَقًّا</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reason with </a:t>
            </a:r>
            <a:pPr algn="l" indent="0" marL="0">
              <a:buNone/>
            </a:pPr>
            <a:r>
              <a:rPr lang="ar-SA" altLang="en-US" sz="1550" dirty="0">
                <a:solidFill>
                  <a:srgbClr val="1F2A37"/>
                </a:solidFill>
                <a:latin typeface="Amiri" pitchFamily="2" charset="-78"/>
                <a:ea typeface="Amiri" pitchFamily="2" charset="-78"/>
                <a:cs typeface="Amiri" pitchFamily="2" charset="-78"/>
              </a:rPr>
              <a:t>لِأَنَّ</a:t>
            </a:r>
            <a:pPr algn="l" indent="0" marL="0">
              <a:buNone/>
            </a:pPr>
            <a:r>
              <a:rPr lang="en-US" sz="1200" dirty="0">
                <a:solidFill>
                  <a:srgbClr val="1F2A37"/>
                </a:solidFill>
                <a:latin typeface="Calibri" pitchFamily="34" charset="0"/>
                <a:cs typeface="Amiri" pitchFamily="2" charset="-78"/>
              </a:rPr>
              <a:t> where the pronoun matches its noun in gender.</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2" charset="-78"/>
                <a:ea typeface="Amiri" pitchFamily="2" charset="-78"/>
                <a:cs typeface="Amiri" pitchFamily="2" charset="-78"/>
              </a:rPr>
              <a:t>أُفَضِّلُ الأَنْشِطَةَ الهَادِئَةَ عَلَى الأَلْعَابِ السَّرِيعَةِ</a:t>
            </a:r>
            <a:endParaRPr lang="ar-SA" sz="155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prefer quiet activities to fast games</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وَمَعَ ذٰلِكَ أُشَاهِدُ المُبَارَاةَ أَحْيَانًا</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even so, I sometimes watch the match</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أَمَّا هِوَايَتِي المُفَضَّلَةُ فَهِيَ …</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as for my favourite hobby, it is …</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وَأَهْوَاهُ حَقًّا لِأَنَّهُ يَجْعَلُنِي سَعِيدًا</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and I truly love it because it makes me happy</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نَتَنَاقَشُ فِيهَا طَوِيلًا</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we discuss it for a long time</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47</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TB-L08 · Hobbies and Free Time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TB-L08</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فِي وَقْتِ فَرَاغِي أُمَارِسُ السِّبَاحَةَ مَرَّتَيْنِ فِي الأُسْبُوعِ، وَأَلْعَبُ كُرَةَ السَّلَّةِ مَرَّةً فِي الأُسْبُوعِ. وَأَعْزِفُ عَلَى العُودِ يَوْمِيًّا لِأَنَّ المُوسِيقَى تُرِيحُنِي. أُفَضِّلُ الأَنْشِطَةَ الهَادِئَةَ عَلَى الأَلْعَابِ السَّرِيعَةِ، وَأَسْتَمْتِعُ بِالقِرَاءَةِ أَكْثَرَ مِنْ مُشَاهَدَةِ الأَفْلَامِ. أَمَّا هِوَايَتِي المُفَضَّلَةُ فَهِيَ الرَّسْمُ، وَأَهْوَاهُ حَقًّا لِأَنَّهُ يَجْعَلُنِي سَعِيدًا.</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In my free time I go swimming twice a week, and I play basketball once a week. And I play the oud every day because music relaxes me. I prefer quiet activities to fast games, and I enjoy reading more than watching films. As for my favourite hobby, it is drawing, and I am truly passionate about it because it makes me happy.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five collocation verbs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the dual marratayni</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ufaḍḍilu … ‘alā …</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reason with li’anna</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47</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TB-L08 · Hobbies and Free Time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TB-L08</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Every hobby has the right verb.</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said how often.</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Twice = marratayni; 3–10 = marrātin.</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ufaḍḍilu … ‘alā …</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Three preference structures + a matching reason pronoun.</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47</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TB-L08 · Hobbies and Free Time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TB-L08</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collocation.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يُمَارِسُ تَسَلُّقَ الجِبَالِ</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يَلْعَبُ تَسَلُّقَ الجِبَالِ</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يَعْزِفُ تَسَلُّقَ الجِبَالِ</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frequency phrase.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مَرَّتَانِ فِي الشَّهْرِ</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مَرَّتَيْنِ فِي الشَّهْرِ</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مَرَّتَيْنَ فِي الشَّهْرِ</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preposition: </a:t>
            </a:r>
            <a:pPr algn="l" indent="0" marL="0">
              <a:buNone/>
            </a:pPr>
            <a:r>
              <a:rPr lang="ar-SA" altLang="en-US" sz="1650" b="1" dirty="0">
                <a:solidFill>
                  <a:srgbClr val="1B3B6F"/>
                </a:solidFill>
                <a:latin typeface="Amiri" pitchFamily="2" charset="-78"/>
                <a:ea typeface="Amiri" pitchFamily="2" charset="-78"/>
                <a:cs typeface="Amiri" pitchFamily="2" charset="-78"/>
              </a:rPr>
              <a:t>أَسْتَمِعُ</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المُوسِيقَى</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47</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TB-L08 · Hobbies and Free Time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TB-L08</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collocation.</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يُمَارِسُ تَسَلُّقَ الجِبَالِ</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يَلْعَبُ تَسَلُّقَ الجِبَالِ</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يَعْزِفُ تَسَلُّقَ الجِبَالِ</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Mountain climbing is a sustained activity, so it takes </a:t>
            </a:r>
            <a:pPr algn="l" indent="0" marL="0">
              <a:buNone/>
            </a:pPr>
            <a:r>
              <a:rPr lang="ar-SA" altLang="en-US" sz="1350" dirty="0">
                <a:solidFill>
                  <a:srgbClr val="8A6D1E"/>
                </a:solidFill>
                <a:latin typeface="Amiri" pitchFamily="2" charset="-78"/>
                <a:ea typeface="Amiri" pitchFamily="2" charset="-78"/>
                <a:cs typeface="Amiri" pitchFamily="2" charset="-78"/>
              </a:rPr>
              <a:t>يُمَارِسُ</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frequency phrase.</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مَرَّتَانِ فِي الشَّهْرِ</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مَرَّتَيْنِ فِي الشَّهْرِ</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مَرَّتَيْنَ فِي الشَّهْرِ</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dual in an adverbial accusative is </a:t>
            </a:r>
            <a:pPr algn="l" indent="0" marL="0">
              <a:buNone/>
            </a:pPr>
            <a:r>
              <a:rPr lang="ar-SA" altLang="en-US" sz="1350" dirty="0">
                <a:solidFill>
                  <a:srgbClr val="8A6D1E"/>
                </a:solidFill>
                <a:latin typeface="Amiri" pitchFamily="2" charset="-78"/>
                <a:ea typeface="Amiri" pitchFamily="2" charset="-78"/>
                <a:cs typeface="Amiri" pitchFamily="2" charset="-78"/>
              </a:rPr>
              <a:t>مَرَّتَيْنِ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preposition: </a:t>
            </a:r>
            <a:pPr algn="l" indent="0" marL="0">
              <a:buNone/>
            </a:pPr>
            <a:r>
              <a:rPr lang="ar-SA" altLang="en-US" sz="1650" b="1" dirty="0">
                <a:solidFill>
                  <a:srgbClr val="1B3B6F"/>
                </a:solidFill>
                <a:latin typeface="Amiri" pitchFamily="2" charset="-78"/>
                <a:ea typeface="Amiri" pitchFamily="2" charset="-78"/>
                <a:cs typeface="Amiri" pitchFamily="2" charset="-78"/>
              </a:rPr>
              <a:t>أَسْتَمِعُ</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المُوسِيقَى</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إِلَى</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بِـ</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عَلَى</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يَسْتَمِعُ</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إِلَى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47</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TB-L08 · Hobbies and Free Time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 free-time profile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TB-L08</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فِي وَقْتِ فَرَاغِي أُمَارِسُ رِيَاضَةَ اليُوغَا مَرَّةً فِي الأُسْبُوعِ، وَأَرْكَبُ الدَّرَّاجَةَ مَعَ أَصْدِقَائِي فِي نِهَايَةِ الأُسْبُوعِ. وَأَنَا أُفَضِّلُ الأَنْشِطَةَ الهَادِئَةَ عَلَى الأَلْعَابِ السَّرِيعَةِ، لِأَنَّنِي أَسْتَمْتِعُ بِالقِرَاءَةِ وَالرَّسْمِ أَكْثَرَ مِنَ المُبَارَيَاتِ. وَمَعَ ذٰلِكَ أُشَاهِدُ مُبَارَاةَ كُرَةِ القَدَمِ أَحْيَانًا مَعَ أَبِي، وَنَتَنَاقَشُ فِيهَا طَوِيلًا. أَمَّا هِوَايَتِي المُفَضَّلَةُ فَهِيَ الغِنَاءُ، وَأَهْوَاهُ حَقًّا لِأَنَّهُ يَجْعَلُنِي سَعِيدَةً.</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فِي وَقْتِ فَرَاغِي</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in my free time</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أَرْكَبُ الدَّرَّاجَةَ</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ride a bike</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فِي نِهَايَةِ الأُسْبُوعِ</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at the weekend</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الأَنْشِطَةَ الهَادِئَةَ</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quiet activities</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الأَلْعَابِ السَّرِيعَةِ</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fast games</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المُبَارَيَاتِ</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matches</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وَمَعَ ذٰلِكَ</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even so</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نَتَنَاقَشُ</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we discuss</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طَوِيلًا</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for a long time</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يَجْعَلُنِي سَعِيدَةً</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makes me happy (f.)</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47</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TB-L08 · Hobbies and Free Time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TB-L08</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often does the writer do yoga?</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Twice a week</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Once a week</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Daily</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writer prefer?</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Fast games to quiet activities</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Team sport to reading</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Quiet activities to fast games</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writer do with her father?</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Watches a football match</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Cycles</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Sings</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her favourite hobby?</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Yoga</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Singing</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Drawing</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she love it?</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makes her happy</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free</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Her friends do it</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47</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TB-L08 · Hobbies and Free Time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TB-L08</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often does the writer do yoga?</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Twice a week</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Once a week</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Daily</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text says </a:t>
            </a:r>
            <a:pPr algn="l" indent="0" marL="0">
              <a:buNone/>
            </a:pPr>
            <a:r>
              <a:rPr lang="ar-SA" altLang="en-US" sz="1350" dirty="0">
                <a:solidFill>
                  <a:srgbClr val="8A6D1E"/>
                </a:solidFill>
                <a:latin typeface="Amiri" pitchFamily="2" charset="-78"/>
                <a:ea typeface="Amiri" pitchFamily="2" charset="-78"/>
                <a:cs typeface="Amiri" pitchFamily="2" charset="-78"/>
              </a:rPr>
              <a:t>مَرَّةً فِي الأُسْبُوعِ</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writer prefer?</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Fast games to quiet activities</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Team sport to reading</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Quiet activities to fast games</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أُفَضِّلُ الأَنْشِطَةَ الهَادِئَةَ عَلَى الأَلْعَابِ السَّرِيعَةِ.</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writer do with her father?</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Watches a football match</a:t>
            </a:r>
            <a:endParaRPr lang="en-US" sz="12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Cycles</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Sings</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أُشَاهِدُ مُبَارَاةَ كُرَةِ القَدَمِ أَحْيَانًا مَعَ أَبِي.</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her favourite hobby?</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Yoga</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Singing</a:t>
            </a:r>
            <a:endParaRPr lang="en-US" sz="12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Drawing</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هِوَايَتِي المُفَضَّلَةُ فَهِيَ الغِنَاءُ.</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she love it?</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makes her happy</a:t>
            </a:r>
            <a:endParaRPr lang="en-US" sz="12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free</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Her friends do it</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لِأَنَّهُ يَجْعَلُنِي سَعِيدَةً.</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47</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TB-L08 · Hobbies and Free Time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Free-Time Mission — Collocation, Frequency and Preference</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TB-L08</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uses the football collocation accurately?</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أُمَارِسُ كُرَةَ القَدَمِ فِي المَلْعَبِ.</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أَلْعَبُ كُرَةَ القَدَمِ فِي المَلْعَبِ.</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أَعْزِفُ عَلَى كُرَةِ القَدَمِ.</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uses the instrument collocation accurately?</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تَعْزِفُ عَلَى الكَمَانِ بِمَهَارَةٍ.</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تَعْزِفُ الكَمَانَ بِمَهَارَةٍ.</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تُمَارِسُ عَلَى الكَمَانِ بِمَهَارَةٍ.</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frequency phrase is accurate for “twice a week”?</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مَرَّتَانِ فِي الأُسْبُوعِ</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مَرَّتَيْنِ فِي الأُسْبُوعُ</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مَرَّتَيْنِ فِي الأُسْبُوعِ</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ranks two hobbies accurately?</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أُفَضِّلُ الغِنَاءَ مِنَ الرَّسْمِ.</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أُفَضِّلُ الغِنَاءُ عَلَى الرَّسْمَ.</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أُفَضِّلُ الغِنَاءَ عَلَى الرَّسْمِ.</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uses </a:t>
            </a:r>
            <a:pPr algn="l" indent="0" marL="0">
              <a:buNone/>
            </a:pPr>
            <a:r>
              <a:rPr lang="ar-SA" altLang="en-US" sz="1650" b="1" dirty="0">
                <a:solidFill>
                  <a:srgbClr val="1B3B6F"/>
                </a:solidFill>
                <a:latin typeface="Amiri" pitchFamily="2" charset="-78"/>
                <a:ea typeface="Amiri" pitchFamily="2" charset="-78"/>
                <a:cs typeface="Amiri" pitchFamily="2" charset="-78"/>
              </a:rPr>
              <a:t>أَسْتَمْتِعُ</a:t>
            </a:r>
            <a:pPr algn="l" indent="0" marL="0">
              <a:buNone/>
            </a:pPr>
            <a:r>
              <a:rPr lang="en-US" sz="1250" b="1" dirty="0">
                <a:solidFill>
                  <a:srgbClr val="1B3B6F"/>
                </a:solidFill>
                <a:latin typeface="Calibri" pitchFamily="34" charset="0"/>
                <a:cs typeface="Amiri" pitchFamily="2" charset="-78"/>
              </a:rPr>
              <a:t> accurately?</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أَسْتَمْتِعُ بِرُكُوبِ الدَّرَّاجَةِ.</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أَسْتَمْتِعُ رُكُوبَ الدَّرَّاجَةِ.</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أَسْتَمْتِعُ عَلَى رُكُوبِ الدَّرَّاجَةِ.</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answer gives an activity, a frequency and a reason?</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1400" dirty="0">
                <a:solidFill>
                  <a:srgbClr val="1F2A37"/>
                </a:solidFill>
                <a:latin typeface="Amiri" pitchFamily="2" charset="-78"/>
                <a:ea typeface="Amiri" pitchFamily="2" charset="-78"/>
                <a:cs typeface="Amiri" pitchFamily="2" charset="-78"/>
              </a:rPr>
              <a:t>أُمَارِسُ اليُوغَا لِأَنَّهَا.</a:t>
            </a:r>
            <a:endParaRPr lang="ar-SA" sz="140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1400" dirty="0">
                <a:solidFill>
                  <a:srgbClr val="1F2A37"/>
                </a:solidFill>
                <a:latin typeface="Amiri" pitchFamily="2" charset="-78"/>
                <a:ea typeface="Amiri" pitchFamily="2" charset="-78"/>
                <a:cs typeface="Amiri" pitchFamily="2" charset="-78"/>
              </a:rPr>
              <a:t>أُمَارِسُ اليُوغَا مَرَّةً فِي الأُسْبُوعِ لِأَنَّهَا تُرِيحُنِي.</a:t>
            </a:r>
            <a:endParaRPr lang="ar-SA" sz="140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1400" dirty="0">
                <a:solidFill>
                  <a:srgbClr val="1F2A37"/>
                </a:solidFill>
                <a:latin typeface="Amiri" pitchFamily="2" charset="-78"/>
                <a:ea typeface="Amiri" pitchFamily="2" charset="-78"/>
                <a:cs typeface="Amiri" pitchFamily="2" charset="-78"/>
              </a:rPr>
              <a:t>اليُوغَا مَرَّةً أُمَارِسُ.</a:t>
            </a:r>
            <a:endParaRPr lang="ar-SA" sz="140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47</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TB-L08 · Hobbies and Free Time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TB-L08</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uses the football collocation accurately?</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أُمَارِسُ كُرَةَ القَدَمِ فِي المَلْعَبِ.</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أَلْعَبُ كُرَةَ القَدَمِ فِي المَلْعَبِ.</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أَعْزِفُ عَلَى كُرَةِ القَدَمِ.</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Ball games take </a:t>
            </a:r>
            <a:pPr algn="l" indent="0" marL="0">
              <a:buNone/>
            </a:pPr>
            <a:r>
              <a:rPr lang="ar-SA" altLang="en-US" sz="1350" dirty="0">
                <a:solidFill>
                  <a:srgbClr val="8A6D1E"/>
                </a:solidFill>
                <a:latin typeface="Amiri" pitchFamily="2" charset="-78"/>
                <a:ea typeface="Amiri" pitchFamily="2" charset="-78"/>
                <a:cs typeface="Amiri" pitchFamily="2" charset="-78"/>
              </a:rPr>
              <a:t>يَلْعَبُ</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uses the instrument collocation accurately?</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تَعْزِفُ عَلَى الكَمَانِ بِمَهَارَةٍ.</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تَعْزِفُ الكَمَانَ بِمَهَارَةٍ.</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تُمَارِسُ عَلَى الكَمَانِ بِمَهَارَةٍ.</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يَعْزِفُ</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ea typeface="Amiri" pitchFamily="2" charset="-78"/>
                <a:cs typeface="Amiri" pitchFamily="2" charset="-78"/>
              </a:rPr>
              <a:t>عَلَى</a:t>
            </a:r>
            <a:pPr algn="l" indent="0" marL="0">
              <a:buNone/>
            </a:pPr>
            <a:r>
              <a:rPr lang="en-US" sz="1050" i="1" dirty="0">
                <a:solidFill>
                  <a:srgbClr val="8A6D1E"/>
                </a:solidFill>
                <a:latin typeface="Calibri" pitchFamily="34" charset="0"/>
                <a:cs typeface="Amiri" pitchFamily="2" charset="-78"/>
              </a:rPr>
              <a:t>, and the instrument is genitive.</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frequency phrase is accurate for “twice a week”?</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مَرَّتَانِ فِي الأُسْبُوعِ</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مَرَّتَيْنِ فِي الأُسْبُوعُ</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مَرَّتَيْنِ فِي الأُسْبُوعِ</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dual is </a:t>
            </a:r>
            <a:pPr algn="l" indent="0" marL="0">
              <a:buNone/>
            </a:pPr>
            <a:r>
              <a:rPr lang="ar-SA" altLang="en-US" sz="1350" dirty="0">
                <a:solidFill>
                  <a:srgbClr val="8A6D1E"/>
                </a:solidFill>
                <a:latin typeface="Amiri" pitchFamily="2" charset="-78"/>
                <a:ea typeface="Amiri" pitchFamily="2" charset="-78"/>
                <a:cs typeface="Amiri" pitchFamily="2" charset="-78"/>
              </a:rPr>
              <a:t>مَرَّتَيْنِ</a:t>
            </a:r>
            <a:pPr algn="l" indent="0" marL="0">
              <a:buNone/>
            </a:pPr>
            <a:r>
              <a:rPr lang="en-US" sz="1050" i="1" dirty="0">
                <a:solidFill>
                  <a:srgbClr val="8A6D1E"/>
                </a:solidFill>
                <a:latin typeface="Calibri" pitchFamily="34" charset="0"/>
                <a:cs typeface="Amiri" pitchFamily="2" charset="-78"/>
              </a:rPr>
              <a:t> and the noun after </a:t>
            </a:r>
            <a:pPr algn="l" indent="0" marL="0">
              <a:buNone/>
            </a:pPr>
            <a:r>
              <a:rPr lang="ar-SA" altLang="en-US" sz="1350" dirty="0">
                <a:solidFill>
                  <a:srgbClr val="8A6D1E"/>
                </a:solidFill>
                <a:latin typeface="Amiri" pitchFamily="2" charset="-78"/>
                <a:ea typeface="Amiri" pitchFamily="2" charset="-78"/>
                <a:cs typeface="Amiri" pitchFamily="2" charset="-78"/>
              </a:rPr>
              <a:t>فِي</a:t>
            </a:r>
            <a:pPr algn="l" indent="0" marL="0">
              <a:buNone/>
            </a:pPr>
            <a:r>
              <a:rPr lang="en-US" sz="1050" i="1" dirty="0">
                <a:solidFill>
                  <a:srgbClr val="8A6D1E"/>
                </a:solidFill>
                <a:latin typeface="Calibri" pitchFamily="34" charset="0"/>
                <a:cs typeface="Amiri" pitchFamily="2" charset="-78"/>
              </a:rPr>
              <a:t> is genitive.</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ranks two hobbies accurately?</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أُفَضِّلُ الغِنَاءَ مِنَ الرَّسْمِ.</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أُفَضِّلُ الغِنَاءُ عَلَى الرَّسْمَ.</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أُفَضِّلُ الغِنَاءَ عَلَى الرَّسْمِ.</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أُفَضِّلُ</a:t>
            </a:r>
            <a:pPr algn="l" indent="0" marL="0">
              <a:buNone/>
            </a:pPr>
            <a:r>
              <a:rPr lang="en-US" sz="1050" i="1" dirty="0">
                <a:solidFill>
                  <a:srgbClr val="8A6D1E"/>
                </a:solidFill>
                <a:latin typeface="Calibri" pitchFamily="34" charset="0"/>
                <a:cs typeface="Amiri" pitchFamily="2" charset="-78"/>
              </a:rPr>
              <a:t> takes an accusative object and </a:t>
            </a:r>
            <a:pPr algn="l" indent="0" marL="0">
              <a:buNone/>
            </a:pPr>
            <a:r>
              <a:rPr lang="ar-SA" altLang="en-US" sz="1350" dirty="0">
                <a:solidFill>
                  <a:srgbClr val="8A6D1E"/>
                </a:solidFill>
                <a:latin typeface="Amiri" pitchFamily="2" charset="-78"/>
                <a:ea typeface="Amiri" pitchFamily="2" charset="-78"/>
                <a:cs typeface="Amiri" pitchFamily="2" charset="-78"/>
              </a:rPr>
              <a:t>عَلَى</a:t>
            </a:r>
            <a:pPr algn="l" indent="0" marL="0">
              <a:buNone/>
            </a:pPr>
            <a:r>
              <a:rPr lang="en-US" sz="1050" i="1" dirty="0">
                <a:solidFill>
                  <a:srgbClr val="8A6D1E"/>
                </a:solidFill>
                <a:latin typeface="Calibri" pitchFamily="34" charset="0"/>
                <a:cs typeface="Amiri" pitchFamily="2" charset="-78"/>
              </a:rPr>
              <a:t> with the genitive.</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uses </a:t>
            </a:r>
            <a:pPr algn="l" indent="0" marL="0">
              <a:buNone/>
            </a:pPr>
            <a:r>
              <a:rPr lang="ar-SA" altLang="en-US" sz="1650" b="1" dirty="0">
                <a:solidFill>
                  <a:srgbClr val="1B3B6F"/>
                </a:solidFill>
                <a:latin typeface="Amiri" pitchFamily="2" charset="-78"/>
                <a:ea typeface="Amiri" pitchFamily="2" charset="-78"/>
                <a:cs typeface="Amiri" pitchFamily="2" charset="-78"/>
              </a:rPr>
              <a:t>أَسْتَمْتِعُ</a:t>
            </a:r>
            <a:pPr algn="l" indent="0" marL="0">
              <a:buNone/>
            </a:pPr>
            <a:r>
              <a:rPr lang="en-US" sz="1250" b="1" dirty="0">
                <a:solidFill>
                  <a:srgbClr val="1B3B6F"/>
                </a:solidFill>
                <a:latin typeface="Calibri" pitchFamily="34" charset="0"/>
                <a:cs typeface="Amiri" pitchFamily="2" charset="-78"/>
              </a:rPr>
              <a:t> accurately?</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أَسْتَمْتِعُ بِرُكُوبِ الدَّرَّاجَةِ.</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أَسْتَمْتِعُ رُكُوبَ الدَّرَّاجَةِ.</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أَسْتَمْتِعُ عَلَى رُكُوبِ الدَّرَّاجَةِ.</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أَسْتَمْتِعُ</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answer gives an activity, a frequency and a reason?</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400" dirty="0">
                <a:solidFill>
                  <a:srgbClr val="9AA1AB"/>
                </a:solidFill>
                <a:latin typeface="Amiri" pitchFamily="2" charset="-78"/>
                <a:ea typeface="Amiri" pitchFamily="2" charset="-78"/>
                <a:cs typeface="Amiri" pitchFamily="2" charset="-78"/>
              </a:rPr>
              <a:t>أُمَارِسُ اليُوغَا لِأَنَّهَا.</a:t>
            </a:r>
            <a:endParaRPr lang="ar-SA" sz="14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2" charset="-78"/>
                <a:ea typeface="Amiri" pitchFamily="2" charset="-78"/>
                <a:cs typeface="Amiri" pitchFamily="2" charset="-78"/>
              </a:rPr>
              <a:t>أُمَارِسُ اليُوغَا مَرَّةً فِي الأُسْبُوعِ لِأَنَّهَا تُرِيحُنِي.</a:t>
            </a:r>
            <a:endParaRPr lang="ar-SA" sz="14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400" dirty="0">
                <a:solidFill>
                  <a:srgbClr val="9AA1AB"/>
                </a:solidFill>
                <a:latin typeface="Amiri" pitchFamily="2" charset="-78"/>
                <a:ea typeface="Amiri" pitchFamily="2" charset="-78"/>
                <a:cs typeface="Amiri" pitchFamily="2" charset="-78"/>
              </a:rPr>
              <a:t>اليُوغَا مَرَّةً أُمَارِسُ.</a:t>
            </a:r>
            <a:endParaRPr lang="ar-SA" sz="14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accurate answer names the activity, states how often and gives a reason.</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47</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TB-L08 · Hobbies and Free Time</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TB-L09: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TB-L08</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TB-L09 · Invitations, Holidays and Past Experiences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سَافَرْتُ إِلَى</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 travelled to</a:t>
            </a:r>
            <a:pPr indent="0" marL="0">
              <a:buNone/>
            </a:pPr>
            <a:r>
              <a:rPr lang="ar-SA" sz="1000" i="1" dirty="0">
                <a:solidFill>
                  <a:srgbClr val="5A6472"/>
                </a:solidFill>
                <a:latin typeface="Calibri" pitchFamily="34" charset="0"/>
                <a:ea typeface="Amiri" pitchFamily="2" charset="-78"/>
                <a:cs typeface="Amiri" pitchFamily="2" charset="-78"/>
              </a:rPr>
              <a:t>  he: سَافَرَ</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زُرْتُ</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 visited</a:t>
            </a:r>
            <a:pPr indent="0" marL="0">
              <a:buNone/>
            </a:pPr>
            <a:r>
              <a:rPr lang="ar-SA" sz="1000" i="1" dirty="0">
                <a:solidFill>
                  <a:srgbClr val="5A6472"/>
                </a:solidFill>
                <a:latin typeface="Calibri" pitchFamily="34" charset="0"/>
                <a:ea typeface="Amiri" pitchFamily="2" charset="-78"/>
                <a:cs typeface="Amiri" pitchFamily="2" charset="-78"/>
              </a:rPr>
              <a:t>  he: زَارَ</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أَقَمْتُ فِي</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 stayed in</a:t>
            </a:r>
            <a:pPr indent="0" marL="0">
              <a:buNone/>
            </a:pPr>
            <a:r>
              <a:rPr lang="ar-SA" sz="1000" i="1" dirty="0">
                <a:solidFill>
                  <a:srgbClr val="5A6472"/>
                </a:solidFill>
                <a:latin typeface="Calibri" pitchFamily="34" charset="0"/>
                <a:ea typeface="Amiri" pitchFamily="2" charset="-78"/>
                <a:cs typeface="Amiri" pitchFamily="2" charset="-78"/>
              </a:rPr>
              <a:t>  he: أَقَامَ</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رِحْلَةٌ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trip</a:t>
            </a:r>
            <a:pPr indent="0" marL="0">
              <a:buNone/>
            </a:pPr>
            <a:r>
              <a:rPr lang="ar-SA" sz="1000" i="1" dirty="0">
                <a:solidFill>
                  <a:srgbClr val="5A6472"/>
                </a:solidFill>
                <a:latin typeface="Calibri" pitchFamily="34" charset="0"/>
                <a:ea typeface="Amiri" pitchFamily="2" charset="-78"/>
                <a:cs typeface="Amiri" pitchFamily="2" charset="-78"/>
              </a:rPr>
              <a:t>  pl. رِحْلَاتٌ</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سَأَزُورُ</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 will visit</a:t>
            </a:r>
            <a:pPr indent="0" marL="0">
              <a:buNone/>
            </a:pP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Where did you go on your last holiday or day out? One sentence in Arabic.</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أَيْنَ سَافَرْتَ فِي العُطْلَةِ؟</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TB-L08: the picture game and the sorter — learn 10 hobbies with their verbs.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eight sentences about your free time.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Survey three people at home and write a report in the third person (he / she).</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46 / 47</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TB-L08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900" b="1" dirty="0">
                <a:solidFill>
                  <a:srgbClr val="FFFFFF"/>
                </a:solidFill>
                <a:latin typeface="Cambria" pitchFamily="34" charset="0"/>
                <a:cs typeface="Amiri" pitchFamily="2" charset="-78"/>
              </a:rPr>
              <a:t>TB-L09 · Invitations, Holidays and Past Experiences</a:t>
            </a:r>
            <a:endParaRPr lang="en-US" sz="19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الدَّعَوَاتُ وَالعُطَلُ وَالتَّجَارِبُ المَاضِيَةُ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5 travel words — visited is zurtu!</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TB-L08 · Hobbies, Sport and Free Time</dc:title>
  <dc:subject>PptxGenJS Presentation</dc:subject>
  <dc:creator>Al Madina Online School · Arabic Department</dc:creator>
  <cp:lastModifiedBy>Al Madina Online School · Arabic Department</cp:lastModifiedBy>
  <cp:revision>1</cp:revision>
  <dcterms:created xsi:type="dcterms:W3CDTF">2026-10-11T06:43:52Z</dcterms:created>
  <dcterms:modified xsi:type="dcterms:W3CDTF">2026-10-11T06:43:52Z</dcterms:modified>
</cp:coreProperties>
</file>