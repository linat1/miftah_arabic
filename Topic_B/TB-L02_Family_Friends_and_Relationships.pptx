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TB-L02 — Family, Friends and Relationships. Website: Advanced Topics › Topic B (Personal and Social Life) › Lesson 2.
The website builds this lesson on the D2-L02 lesson engine, with the Topic focus “Explain family links, friendship and changing relationships with precise vocabulary.” (grammar: Possessive endings; idāfa; dual and plural; skills: Listening · Speaking) and the application challenge “Family-tree challenge”.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TB-L02. The website lesson “Relationships — Family, Friends and How We Get On”: vocabulary, grammar rules and quiz, patterns, common mistakes, sorter, listening, reading, speaking prompts and model, writing task and model, differentiation, final check and the lesson mission. Picture match: website visual game “Relationships — Family, Friends and How We Get 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chunks learnt whole — أَتَفَاهَمُ مَعَ … (I get on with) · … يَدْعَمُنِي (… supports me) · نَتَشَاجَرُ ثُمَّ نَتَصَالَحُ (we argue, then make up) — plus one reason (because …).
• Develop: object endings (أُسَاعِدُهُ / أَحْتَرِمُهَا) — the same endings as D1-L05 (website) — and لِأَنَّنَا for “because we”. Stretch: a strong and a difficult relationship compared, with how problems are solved.
• Sensitivity: family situations differ. Students may describe a friend, a cousin or an invented person; “sometimes difficult” should stay light (computer, TV, chores).
• Urdu bridge: تعلقات، احترام، اعتماد (→ ثقة), مدد (→ أُسَاعِدُ by meaning), صلح.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D2-L01 (website) (agreement, لِأَنَّهَا) and D1-L05 (website) (object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on the verb shows who RECEIVES the action: -nī me · -hu him · -hā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تعلق / تعلقات → عَلَاقَةٌ (same root ع-ل-ق). احترام → أَحْتَرِمُ (I respect). وثوق (trust, formal Urdu) → أَثِقُ بِـ. صلح (peace, reconciliation) → نَتَصَالَحُ (we make up). قوی (strong) → قَوِيٌّ / قَوِيَّةٌ.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Relationship actions (website vocabulary (1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Relationship actions (website vocabulary (2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Relationship outcomes (website vocabulary). Hear → Say → See → Use. Transliteration is printed for Core students (cover it for Develop/Stretch).
نَتَصَالَحُ and نَتَشَاجَرُ start with na- = we: things we do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(1 of 2)). Hear → Say → See → Use. Transliteration is printed for Core students (cover it for Develop/Stretch).
FLEX: teach if time allows; otherwise these are on the website vocabulary tab for homework.
Reasons and contrast (FLEX) — the same connectors in every Topic B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(2 of 2)). Hear → Say → See → Use. Transliteration is printed for Core students (cover it for Develop/Stretch).
FLEX: teach if time allows; otherwise these are on the website vocabulary tab for homework.
Reasons and contrast (FLEX) — the same connectors in every Topic B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“Object pronouns” (the suffix shows who receives the action) and the website table (With noun · With pronoun). Recycles D1-L05 (website) (أُسَاعِدُهَا).
Website common error: attaching the wrong gender — أَحْتَرِمُهُ for a woman ✗ → أَحْتَرِمُهَا ✓.
Quick-fire: teacher says a person (أُمِّي / أَخِي / أَصْدِقَائِي); students answer أَحْتَرِمُهَا / أَحْتَرِمُهُ / أَحْتَرِمُهُمْ.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“Get on with / disagree with” (use مَعَ), “Reciprocal actions” (the نَـ form: what we do together or to one another) and “Explain the relationship” (give a reason, not just a label).
Reason forms to learn: لِأَنَّهُ (because he) · لِأَنَّهَا (because she) · لِأَنَّنَا (because we) · لِأَنَّنِي (because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“Describe how people treat one another, who receives an action and why a relationship succeeds or becomes difficult.”
• Get on with / disagree with: Use مَعَ after these relationship verbs.
• Object pronouns: The suffix shows who receives the action.
• Reciprocal actions: The نَـ form can describe what we do together or to one another.
• Explain the relationship: Give a reason, not merely a positive or negative label.
Website common error: Do not omit مَعَ after أَتَفَاهَمُ or attach the wrong object-pronoun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the website writing model condensed into one strong and one difficult relationship, with a think-aloud (“who does it? who receives it?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لَدَيَّ أَخٌ أَكْبَرُ يُسَمَّى سَامِرًا. أَتَفَاهَمُ مَعَهُ عَادَةً لِأَنَّهُ يَسْتَمِعُ إِلَيَّ وَيَدْعَمُنِي فِي دِرَاسَتِي. وَلٰكِنَّنَا نَخْتَلِفُ أَحْيَانًا حَوْلَ اسْتِخْدَامِ الحَاسُوبِ. عِنْدَمَا نَتَشَاجَرُ، نَتَكَلَّمُ بَعْدَ ذٰلِكَ وَنَتَصَالَحُ سَرِيعًا. أَحْتَرِمُهُ لِأَنَّهُ صَادِقٌ وَمُتَعَاوِنٌ.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“Build a mini family tree from clues, then explain at least four relationships using possessive endings or idāfa without pointing at the answer.”
Clues to paste: خَالِدٌ وَمَرْيَمُ زَوْجَانِ. لَهُمَا ابْنٌ اسْمُهُ أَحْمَدُ وَبِنْتٌ اسْمُهَا سَلْمَى. أَحْمَدُ أَكْبَرُ مِنْ سَلْمَى. جَدَّةُ أَحْمَدَ اسْمُهَا فَاطِمَةُ، وَهِيَ أُمُّ خَالِدٍ. سَلْمَى تَتَفَاهَمُ مَعَ جَدَّتِهَا جَيِّدًا. → Tree: Fatima → Khalid + Maryam → Ahmad (older), Salma. Website Topic B challenge “Family-tree challenge” (possessive endings or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تَخْتَلِفَانِ أَحْيَانًا؟ (Do you sometimes disagree?)
B: نَعَمْ، وَلٰكِنَّنَا نَتَصَالَحُ سَرِيعًا. (Yes, but we make up quickly.)
Website prompts (order changed for routes). Website model continues: A: هَلْ تَخْتَلِفَانِ أَحْيَانًا؟ (Do you two sometimes disagree?) B: نَعَمْ، وَلٰكِنَّنَا نَتَصَالَحُ سَرِيعًا. (Yes, but we make up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two relationships: one strong and one sometimes difficult. Explain actions, feelings, object pronouns, reasons and how problems are resolved.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تَدْعَمُنِي، أُسَاعِدُهَا · نَتَفَاهَمُ، نَثِقُ، نَتَشَاجَرُ، نَتَصَالَحُ · لِأَنَّنَا نَتَفَاهَمُ، لِأَنَّنَا نَخْتَلِفُ · فِي رَأْيِي، الاِحْتِرَامُ وَالاِسْتِمَاعُ أَهَمُّ شَيْئَيْنِ. (Website spelling note: the model writes عِلَاقَة in two places; the standard spelling is عَلَاقَة, as in the vocabulary.)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(TB-L03 · Appearance and Personality) will spend class time USING this language, so students prepare it tonight — short, simple, easy to access (school guidance: “Simple, Short, Interesting, Relevant, Easy to access”). The five words come from the website TB-L07 vocabulary (clothes and accessories).
Follow-up: the next Do Now tests two of these words (Flipped Learning: keep it short AND follow up).
Homework by route (website tasks). No internet? Students copy the five words from this slide into their book now.
TOPIC B: the five words are the ones the TB-L03 Do Now tests (preparation list of the website D2-L05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Family, Friends and Relationships</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العَائِلَةُ وَالأَصْدِقَاءُ وَالعَلَاقَاتُ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family links, friendship and changing relationships with precise vocabulary.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TB-L02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on with, supports me, we argue — and why.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decide accurate / inaccurate,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أَتَفَاهَمُ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disagree with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get on with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trust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relative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 كَرِيمَةٌ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الآخَرِينَ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أَتَفَاهَمُ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disagree with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get on with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trust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relative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patient.”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صَبُورَةٌ.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صَبُورَةٌ.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 كَرِيمَةٌ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الآخَرِينَ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because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(website) object endings.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ending on the verb shows who RECEIVES the action: -nī me · -hu him · -hā 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أَبِي يَدْعَمُ</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نِي</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أَحْتَرِمُ</a:t>
            </a:r>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أُسَاعِدُ</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هَا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TB-L02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Relationship verbs, object pronouns and reciprocity.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who I get on with and who supports 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one reason with “because”.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object endings (supports me, I respect her).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what we do together (we argue / we make 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a strong and a difficult relationship.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how a problem is solved.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Relationship actions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Relationship outcomes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Reasons and contrast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‎تعلق‎ </a:t>
            </a:r>
            <a:pPr indent="0" marL="0">
              <a:buNone/>
            </a:pPr>
            <a:r>
              <a:rPr lang="en-US" sz="950" b="1" dirty="0">
                <a:solidFill>
                  <a:srgbClr val="2E8B57"/>
                </a:solidFill>
                <a:latin typeface="Calibri" pitchFamily="34" charset="0"/>
                <a:ea typeface="Calibri" pitchFamily="34" charset="-122"/>
                <a:cs typeface="Calibri" pitchFamily="34" charset="-120"/>
              </a:rPr>
              <a:t> taʿalluq · connection, relationship</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أَحْتَرِمُ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ihtirām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أَثِقُ بِـ</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‎وثوق‎ </a:t>
            </a:r>
            <a:pPr indent="0" marL="0">
              <a:buNone/>
            </a:pPr>
            <a:r>
              <a:rPr lang="en-US" sz="950" b="1" dirty="0">
                <a:solidFill>
                  <a:srgbClr val="2E8B57"/>
                </a:solidFill>
                <a:latin typeface="Calibri" pitchFamily="34" charset="0"/>
                <a:ea typeface="Calibri" pitchFamily="34" charset="-122"/>
                <a:cs typeface="Calibri" pitchFamily="34" charset="-120"/>
              </a:rPr>
              <a:t> wusūq · confidence, trust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نَتَصَالَحُ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‎صلح‎ </a:t>
            </a:r>
            <a:pPr indent="0" marL="0">
              <a:buNone/>
            </a:pPr>
            <a:r>
              <a:rPr lang="en-US" sz="950" b="1" dirty="0">
                <a:solidFill>
                  <a:srgbClr val="2E8B57"/>
                </a:solidFill>
                <a:latin typeface="Calibri" pitchFamily="34" charset="0"/>
                <a:ea typeface="Calibri" pitchFamily="34" charset="-122"/>
                <a:cs typeface="Calibri" pitchFamily="34" charset="-120"/>
              </a:rPr>
              <a:t> sulah · reconciliation → we make up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‎قوی‎ </a:t>
            </a:r>
            <a:pPr indent="0" marL="0">
              <a:buNone/>
            </a:pPr>
            <a:r>
              <a:rPr lang="en-US" sz="950" b="1" dirty="0">
                <a:solidFill>
                  <a:srgbClr val="2E8B57"/>
                </a:solidFill>
                <a:latin typeface="Calibri" pitchFamily="34" charset="0"/>
                <a:ea typeface="Calibri" pitchFamily="34" charset="-122"/>
                <a:cs typeface="Calibri" pitchFamily="34" charset="-120"/>
              </a:rPr>
              <a:t> qavī · strong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 actions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on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يَتَفَاهَمُ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أَخْتَلِفُ مَعَ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disagree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akh-ta-li-fu ma-ʿa</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نَخْتَلِفُ</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تَخْتَلِفُ</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يَخْتَلِفُ</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أَثِقُ بِـ</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a-thi-qu bi</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نَثِقُ</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تَثِقُ</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him · her · them</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أَحْتَرِمُ</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aḥ-ta-ri-mu</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them</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أَحْتَرِمُهُمْ</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أَحْتَرِمُهَا</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أَحْتَرِمُهُ</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 actions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him · her · them</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them</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أُسَاعِدُهُمْ</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أُسَاعِدُهَا</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أُسَاعِدُهُ</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 · us · him</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يَدْعَمُنِي</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yad-ʿa-mu-nī</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يَدْعَمُهُ</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يَدْعَمُنَا</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يَدْعَمُنِي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تَدْعَمُنِي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tad-ʿa-mu-nī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نَتَشَاجَرُ</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argue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na-ta-shā-ja-ru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 outcomes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نَتَصَالَحُ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make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na-ta-ṣā-la-ḥu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نَقْضِي الوَقْتَ مَعًا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spend time together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naq-ḍī al-waq-ta ma-ʿan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صَدِيقٌ مُقَرَّبٌ</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close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ṣa-dī-qun mu-qar-ra-bun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أَصْدِقَاءُ مُقَرَّبُونَ</a:t>
            </a:r>
            <a:endParaRPr lang="ar-SA" sz="14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 مُقَرَّبَةٌ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 مُقَرَّبٌ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عَلَاقَةٌ قَوِيَّةٌ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strong relationship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ʿa-lā-qa-tun qa-wiy-ya-tun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عَلَاقَاتٌ قَوِيَّةٌ</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weak</a:t>
            </a:r>
            <a:endParaRPr lang="en-US" sz="700" dirty="0"/>
          </a:p>
        </p:txBody>
      </p:sp>
      <p:sp>
        <p:nvSpPr>
          <p:cNvPr id="57" name="Text 5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عَلَاقَةٌ ضَعِيفَةٌ</a:t>
            </a:r>
            <a:endParaRPr lang="ar-SA" sz="135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عَلَاقَةٌ قَوِيَّةٌ</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Reasons and contrast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Reasons and contrast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OBJECT PRONOUNS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receives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noun</a:t>
            </a:r>
            <a:endParaRPr lang="en-US" sz="1100" dirty="0"/>
          </a:p>
        </p:txBody>
      </p:sp>
      <p:sp>
        <p:nvSpPr>
          <p:cNvPr id="17" name="Text 14"/>
          <p:cNvSpPr txBox="1"/>
          <p:nvPr/>
        </p:nvSpPr>
        <p:spPr>
          <a:xfrm>
            <a:off x="46725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an ending</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8271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أَحْتَرِمُ أَخِي.</a:t>
            </a:r>
            <a:endParaRPr lang="ar-SA" sz="1950" dirty="0"/>
          </a:p>
        </p:txBody>
      </p:sp>
      <p:sp>
        <p:nvSpPr>
          <p:cNvPr id="21" name="Text 18"/>
          <p:cNvSpPr txBox="1"/>
          <p:nvPr/>
        </p:nvSpPr>
        <p:spPr>
          <a:xfrm>
            <a:off x="793699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respect my brother.</a:t>
            </a:r>
            <a:endParaRPr lang="en-US" sz="950" dirty="0"/>
          </a:p>
        </p:txBody>
      </p:sp>
      <p:sp>
        <p:nvSpPr>
          <p:cNvPr id="22" name="Text 19"/>
          <p:cNvSpPr txBox="1"/>
          <p:nvPr/>
        </p:nvSpPr>
        <p:spPr>
          <a:xfrm>
            <a:off x="4690872"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أَحْتَرِمُ</a:t>
            </a:r>
            <a:pPr rtl="1" algn="ctr" indent="0" marL="0">
              <a:buNone/>
            </a:pPr>
            <a:r>
              <a:rPr lang="ar-SA" altLang="en-US" sz="2600" b="1" dirty="0">
                <a:solidFill>
                  <a:srgbClr val="1D5FBF"/>
                </a:solidFill>
                <a:latin typeface="Amiri" pitchFamily="34" charset="0"/>
                <a:ea typeface="Amiri" pitchFamily="34" charset="-122"/>
                <a:cs typeface="Amiri" pitchFamily="34" charset="-120"/>
              </a:rPr>
              <a:t>هُ</a:t>
            </a:r>
            <a:endParaRPr lang="ar-SA" sz="2600" dirty="0"/>
          </a:p>
        </p:txBody>
      </p:sp>
      <p:sp>
        <p:nvSpPr>
          <p:cNvPr id="23" name="Text 20"/>
          <p:cNvSpPr txBox="1"/>
          <p:nvPr/>
        </p:nvSpPr>
        <p:spPr>
          <a:xfrm>
            <a:off x="56692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respect him.</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798271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أَحْتَرِمُ أُمِّي.</a:t>
            </a:r>
            <a:endParaRPr lang="ar-SA" sz="1950" dirty="0"/>
          </a:p>
        </p:txBody>
      </p:sp>
      <p:sp>
        <p:nvSpPr>
          <p:cNvPr id="28" name="Text 25"/>
          <p:cNvSpPr txBox="1"/>
          <p:nvPr/>
        </p:nvSpPr>
        <p:spPr>
          <a:xfrm>
            <a:off x="793699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respect my mother.</a:t>
            </a:r>
            <a:endParaRPr lang="en-US" sz="950" dirty="0"/>
          </a:p>
        </p:txBody>
      </p:sp>
      <p:sp>
        <p:nvSpPr>
          <p:cNvPr id="29" name="Text 26"/>
          <p:cNvSpPr txBox="1"/>
          <p:nvPr/>
        </p:nvSpPr>
        <p:spPr>
          <a:xfrm>
            <a:off x="4690872"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أَحْتَرِمُ</a:t>
            </a:r>
            <a:pPr rtl="1" algn="ctr" indent="0" marL="0">
              <a:buNone/>
            </a:pPr>
            <a:r>
              <a:rPr lang="ar-SA" altLang="en-US" sz="2600" b="1" dirty="0">
                <a:solidFill>
                  <a:srgbClr val="D6336C"/>
                </a:solidFill>
                <a:latin typeface="Amiri" pitchFamily="34" charset="0"/>
                <a:ea typeface="Amiri" pitchFamily="34" charset="-122"/>
                <a:cs typeface="Amiri" pitchFamily="34" charset="-120"/>
              </a:rPr>
              <a:t>هَا</a:t>
            </a:r>
            <a:endParaRPr lang="ar-SA" sz="2600" dirty="0"/>
          </a:p>
        </p:txBody>
      </p:sp>
      <p:sp>
        <p:nvSpPr>
          <p:cNvPr id="30" name="Text 27"/>
          <p:cNvSpPr txBox="1"/>
          <p:nvPr/>
        </p:nvSpPr>
        <p:spPr>
          <a:xfrm>
            <a:off x="56692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respect her.</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798271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أَبِي يَدْعَمُ ابْنَهُ.</a:t>
            </a:r>
            <a:endParaRPr lang="ar-SA" sz="1950" dirty="0"/>
          </a:p>
        </p:txBody>
      </p:sp>
      <p:sp>
        <p:nvSpPr>
          <p:cNvPr id="35" name="Text 32"/>
          <p:cNvSpPr txBox="1"/>
          <p:nvPr/>
        </p:nvSpPr>
        <p:spPr>
          <a:xfrm>
            <a:off x="793699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father supports his son.</a:t>
            </a:r>
            <a:endParaRPr lang="en-US" sz="950" dirty="0"/>
          </a:p>
        </p:txBody>
      </p:sp>
      <p:sp>
        <p:nvSpPr>
          <p:cNvPr id="36" name="Text 33"/>
          <p:cNvSpPr txBox="1"/>
          <p:nvPr/>
        </p:nvSpPr>
        <p:spPr>
          <a:xfrm>
            <a:off x="4690872"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أَبِي يَدْعَمُ</a:t>
            </a:r>
            <a:pPr rtl="1" algn="ctr" indent="0" marL="0">
              <a:buNone/>
            </a:pPr>
            <a:r>
              <a:rPr lang="ar-SA" altLang="en-US" sz="2600" b="1" dirty="0">
                <a:solidFill>
                  <a:srgbClr val="0E7C86"/>
                </a:solidFill>
                <a:latin typeface="Amiri" pitchFamily="34" charset="0"/>
                <a:ea typeface="Amiri" pitchFamily="34" charset="-122"/>
                <a:cs typeface="Amiri" pitchFamily="34" charset="-120"/>
              </a:rPr>
              <a:t>نِي</a:t>
            </a:r>
            <a:endParaRPr lang="ar-SA" sz="2600" dirty="0"/>
          </a:p>
        </p:txBody>
      </p:sp>
      <p:sp>
        <p:nvSpPr>
          <p:cNvPr id="37" name="Text 34"/>
          <p:cNvSpPr txBox="1"/>
          <p:nvPr/>
        </p:nvSpPr>
        <p:spPr>
          <a:xfrm>
            <a:off x="56692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father supports me.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798271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أُخْتِي تُسَاعِدُ أَخَاهَا.</a:t>
            </a:r>
            <a:endParaRPr lang="ar-SA" sz="1950" dirty="0"/>
          </a:p>
        </p:txBody>
      </p:sp>
      <p:sp>
        <p:nvSpPr>
          <p:cNvPr id="42" name="Text 39"/>
          <p:cNvSpPr txBox="1"/>
          <p:nvPr/>
        </p:nvSpPr>
        <p:spPr>
          <a:xfrm>
            <a:off x="793699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sister helps her brother.</a:t>
            </a:r>
            <a:endParaRPr lang="en-US" sz="950" dirty="0"/>
          </a:p>
        </p:txBody>
      </p:sp>
      <p:sp>
        <p:nvSpPr>
          <p:cNvPr id="43" name="Text 40"/>
          <p:cNvSpPr txBox="1"/>
          <p:nvPr/>
        </p:nvSpPr>
        <p:spPr>
          <a:xfrm>
            <a:off x="4690872"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أُخْتِي تُسَاعِدُ</a:t>
            </a:r>
            <a:pPr rtl="1" algn="ctr" indent="0" marL="0">
              <a:buNone/>
            </a:pPr>
            <a:r>
              <a:rPr lang="ar-SA" altLang="en-US" sz="2600" b="1" dirty="0">
                <a:solidFill>
                  <a:srgbClr val="0E7C86"/>
                </a:solidFill>
                <a:latin typeface="Amiri" pitchFamily="34" charset="0"/>
                <a:ea typeface="Amiri" pitchFamily="34" charset="-122"/>
                <a:cs typeface="Amiri" pitchFamily="34" charset="-120"/>
              </a:rPr>
              <a:t>نِي</a:t>
            </a:r>
            <a:endParaRPr lang="ar-SA" sz="2600" dirty="0"/>
          </a:p>
        </p:txBody>
      </p:sp>
      <p:sp>
        <p:nvSpPr>
          <p:cNvPr id="44" name="Text 41"/>
          <p:cNvSpPr txBox="1"/>
          <p:nvPr/>
        </p:nvSpPr>
        <p:spPr>
          <a:xfrm>
            <a:off x="56692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sister helps me.</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798271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نَتَفَاهَمُ مَعَ أَصْدِقَائِنَا.</a:t>
            </a:r>
            <a:endParaRPr lang="ar-SA" sz="1950" dirty="0"/>
          </a:p>
        </p:txBody>
      </p:sp>
      <p:sp>
        <p:nvSpPr>
          <p:cNvPr id="47" name="Text 44"/>
          <p:cNvSpPr txBox="1"/>
          <p:nvPr/>
        </p:nvSpPr>
        <p:spPr>
          <a:xfrm>
            <a:off x="793699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get on with our friends.</a:t>
            </a:r>
            <a:endParaRPr lang="en-US" sz="950" dirty="0"/>
          </a:p>
        </p:txBody>
      </p:sp>
      <p:sp>
        <p:nvSpPr>
          <p:cNvPr id="48" name="Text 45"/>
          <p:cNvSpPr txBox="1"/>
          <p:nvPr/>
        </p:nvSpPr>
        <p:spPr>
          <a:xfrm>
            <a:off x="4690872"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نَتَفَاهَمُ مَعَ</a:t>
            </a:r>
            <a:pPr rtl="1" algn="ctr" indent="0" marL="0">
              <a:buNone/>
            </a:pPr>
            <a:r>
              <a:rPr lang="ar-SA" altLang="en-US" sz="2600" b="1" dirty="0">
                <a:solidFill>
                  <a:srgbClr val="1D5FBF"/>
                </a:solidFill>
                <a:latin typeface="Amiri" pitchFamily="34" charset="0"/>
                <a:ea typeface="Amiri" pitchFamily="34" charset="-122"/>
                <a:cs typeface="Amiri" pitchFamily="34" charset="-120"/>
              </a:rPr>
              <a:t>هُمْ</a:t>
            </a:r>
            <a:endParaRPr lang="ar-SA" sz="2600" dirty="0"/>
          </a:p>
        </p:txBody>
      </p:sp>
      <p:sp>
        <p:nvSpPr>
          <p:cNvPr id="49" name="Text 46"/>
          <p:cNvSpPr txBox="1"/>
          <p:nvPr/>
        </p:nvSpPr>
        <p:spPr>
          <a:xfrm>
            <a:off x="56692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get on with them.</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Front of the verb = WHO does it (ya- he · ta- she). End of the verb = WHO receives it (-nī me · -hu him · -hā her).</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WITH, TOGETHER, AND WHY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Get on with · we argue · because we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 · نَتَـ · لِأَنَّنَا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WITH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أَتَفَاهَمُ مَعَ أُخْتِي، وَأَخْتَلِفُ مَعَ أَخِي أَحْيَانًا.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get on with my sister, and I sometimes disagree with my brother.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drop maʿa.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TOGETHER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نَتَشَاجَرُ ثُمَّ نَتَصَالَحُ.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argue, then we make up.</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 = we, to each other.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DEVELOP</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لِأَنَّنَا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نَتَفَاهَمُ لِأَنَّنَا نَسْتَمِعُ إِلَى بَعْضِنَا.</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get on because we listen to each 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Because we = li-annanā.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drop maʿa after “I get 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أَتَفَاهَمُ مَعَ أُخْتِي.</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أَتَفَاهَمُ أُخْتِي.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Relationship verbs, object pronouns and reciprocity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أَفْعَالُ العَلَاقَاتِ وَضَمَائِرُ المَفْعُولِ وَالتَّبَادُلُ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Get on with / disagree with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أَتَفَاهَمُ مَعَ / أَخْتَلِفُ مَعَ + شَخْصٍ</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أَتَفَاهَمُ مَعَ أُخْتِي.   ·   أَخْتَلِفُ مَعَ صَدِيقِي أَحْيَانًا.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Object pronouns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يَدْعَمُنِي / أُسَاعِدُهُ / أَحْتَرِمُهَا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أَبِي يَدْعَمُنِي.   ·   أَنَا أَحْتَرِمُهَا.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Reciprocal actions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نَتَعَاوَنُ / نَتَشَاجَرُ / نَتَصَالَحُ</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نَتَعَاوَنُ فِي البَيْتِ.   ·   نَتَشَاجَرُ ثُمَّ نَتَصَالَحُ.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Explain the relationship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نَتَفَاهَمُ لِأَنَّنَا ... / نَخْتَلِفُ لِأَنَّ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نَتَفَاهَمُ لِأَنَّنَا نَسْتَمِعُ إِلَى بَعْضِنَا.   ·   نَخْتَلِفُ لِأَنَّ آرَاءَنَا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نَتَفَاهَمُ ___ نَسْتَمِعُ إِلَى بَعْضِنَا.</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أَتَفَاهَمُ 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ـني</a:t>
            </a:r>
            <a:pPr algn="l" indent="0" marL="0">
              <a:buNone/>
            </a:pPr>
            <a:r>
              <a:rPr lang="en-US" sz="1050" i="1" dirty="0">
                <a:solidFill>
                  <a:srgbClr val="8A6D1E"/>
                </a:solidFill>
                <a:latin typeface="Calibri" pitchFamily="34" charset="0"/>
                <a:ea typeface="Calibri" pitchFamily="34" charset="-122"/>
                <a:cs typeface="Calibri" pitchFamily="34" charset="-120"/>
              </a:rPr>
              <a:t> means 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أَحْتَرِمُهَا.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تَحْتَرِمُنِي.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نَتَفَاهَمُ ___ نَسْتَمِعُ إِلَى بَعْضِنَا.</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we: </a:t>
            </a:r>
            <a:pPr algn="l" indent="0" marL="0">
              <a:buNone/>
            </a:pPr>
            <a:r>
              <a:rPr lang="ar-SA" altLang="en-US" sz="1350" dirty="0">
                <a:solidFill>
                  <a:srgbClr val="8A6D1E"/>
                </a:solidFill>
                <a:latin typeface="Amiri" pitchFamily="34" charset="0"/>
                <a:ea typeface="Amiri" pitchFamily="34" charset="-122"/>
                <a:cs typeface="Amiri" pitchFamily="34" charset="-120"/>
              </a:rPr>
              <a:t>لِأَنَّنَا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describe two relationships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أَتَفَاهَمُ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a:t>
            </a:r>
            <a:pPr rtl="1" algn="ctr" indent="0" marL="0">
              <a:buNone/>
            </a:pPr>
            <a:r>
              <a:rPr lang="ar-SA" altLang="en-US" sz="2400" b="1" dirty="0">
                <a:solidFill>
                  <a:srgbClr val="1B3B6F"/>
                </a:solidFill>
                <a:latin typeface="Amiri" pitchFamily="34" charset="0"/>
                <a:ea typeface="Amiri" pitchFamily="34" charset="-122"/>
                <a:cs typeface="Amiri" pitchFamily="34" charset="-120"/>
              </a:rPr>
              <a:t> أُخْتِي جَيِّدًا.</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Get on WITH.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هِيَ تَدْعَمُ</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نِي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عِنْدَمَا أَكُونُ قَلِقًا.</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(ta-) … me (-nī).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Difficult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أَخْتَلِفُ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ابْنِ عَمِّي، وَأَحْيَانًا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تَشَاجَرُ.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 →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وَلٰكِنَّنَا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تَصَالَحُ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لِأَنَّنَا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نَحْتَرِمُ بَعْضَنَا.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WITH / BECAUSE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 (NA-)</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أَتَفَاهَمُ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أُخْتِي جَيِّدًا؛ هِيَ تَدْعَمُ</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عِنْدَمَا أَكُونُ قَلِقًا، وَأَنَا أُسَاعِدُ</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وَاجِبِهَا. أَمَّا ابْنُ عَمِّي فَأَخْتَلِفُ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أَحْيَانًا،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تَشَاجَرُ حَوْلَ الحَاسُوبِ، وَلٰكِنَّنَا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تَصَالَحُ سَرِيعًا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نَحْتَرِمُ بَعْضَنَا.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get on well with my sister; she supports me when I am worried, and I help her with her homework. As for my cousin, I sometimes disagree with him, and we argue about the computer, but we make up quickly because we respect each other.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أَتَفَاهَمُ مَعَ أُخْتِي.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get on with my sister.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Get on WITH (مَعَ).</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أَبِي يَدْعَمُنِي.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father supports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ending: -nī = 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نَتَعَاوَنُ فِي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cooperate at home.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Reciprocal: na- = we.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نَتَفَاهَمُ لِأَنَّنَا نَسْتَمِعُ إِلَى بَعْضِنَا.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get on because we listen to each other.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 because we.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RELATIONSHIPS — FAMILY, FRIENDS AND HOW WE GET 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How do they get on?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getting on well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disagreeing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helping each other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نَخْتَلِفُ أَحْيَانًا.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نُسَاعِدُ بَعْضَنَا بَعْضًا.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هُمَا يَتَفَاهَمَانِ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getting on well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هُمَا يَتَفَاهَمَانِ جَيِّدًا.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They (two) get on well.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disagreeing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نَخْتَلِفُ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disagree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helping each other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نُسَاعِدُ بَعْضَنَا بَعْضًا.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help each 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مَعَ أُخْتِي.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أَبِي يَدْعَمُنِي.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أَحْتَرِمُهَا.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نَتَشَاجَرُ ثُمَّ نَتَصَالَحُ.</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أُخْتِي.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يَدْعَمُنِي.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نَتَفَاهَمُ لِأَنَّهُ نَسْتَمِعُ.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يَحْتَرِمُهَا.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مَعَ أُخْتِي.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أَبِي يَدْعَمُنِي.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أَحْتَرِمُهَا.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نَتَشَاجَرُ ثُمَّ نَتَصَالَحُ.</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أُخْتِي.</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يَدْعَمُنِي.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نَتَفَاهَمُ لِأَنَّهُ نَسْتَمِعُ.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يَحْتَرِمُهَا.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نَتَصَالَحُ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نَتَشَاجَرُ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يُسَاعِدُنِي.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developed answer.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عَلَاقَتُنَا.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عَلَاقَتُنَا قَوِيَّةٌ لِأَنَّنَا نَثِقُ بِبَعْضِنَا.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بَعْدَ أَنْ نَتَشَاجَرَ، ___ سَرِيعًا.</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يَدْعَمُنِي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نَتَصَالَحُ</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نَتَصَالَحُ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نَتَعَاوَنُ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نَتَشَاجَرُ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نَتَشَاجَرُ</a:t>
            </a:r>
            <a:pPr algn="l" indent="0" marL="0">
              <a:buNone/>
            </a:pPr>
            <a:r>
              <a:rPr lang="en-US" sz="1050" i="1" dirty="0">
                <a:solidFill>
                  <a:srgbClr val="8A6D1E"/>
                </a:solidFill>
                <a:latin typeface="Calibri" pitchFamily="34" charset="0"/>
                <a:ea typeface="Calibri" pitchFamily="34" charset="-122"/>
                <a:cs typeface="Calibri" pitchFamily="34" charset="-120"/>
              </a:rPr>
              <a:t> = we argue.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يُسَاعِدُنِي.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to him.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developed answer.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عَلَاقَتُنَا.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عَلَاقَتُنَا قَوِيَّةٌ لِأَنَّنَا نَثِقُ بِبَعْضِنَا.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a judgement and reason.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بَعْدَ أَنْ نَتَشَاجَرَ، ___ سَرِيعًا.</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يَدْعَمُنِي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نَتَصَالَحُ</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 make up after arguing.</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أَتَفَاهَمُ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Get on … WITH?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أُمِّي يَدْعَمُنِي.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My mother = he or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أَحْتَرِمُ أُمِّي؛ أَحْتَرِمُهُ.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Mother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أَتَفَاهَمُ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أَتَفَاهَمُ مَعَ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أَتَفَاهَمُ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أُمِّي يَدْعَمُنِي.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أُمِّي تَدْعَمُنِي.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mother = she →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أَحْتَرِمُ أُمِّي؛ أَحْتَرِمُهُ.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أَحْتَرِمُ أُمِّي؛ أَحْتَرِمُهَا.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 refers to her.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focus: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Samer?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older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classmate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cousin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usually get on with him?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buys presents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very quiet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listens and supports the speaker’s studies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sometimes disagree about?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computer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they argue?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talk and make up quickly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stop speaking for days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mother decides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respect him?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older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honest and helpful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funny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أَحْتَرِمُهُ</a:t>
            </a:r>
            <a:pPr algn="l" indent="0" marL="0">
              <a:buNone/>
            </a:pPr>
            <a:r>
              <a:rPr lang="en-US" sz="1250" b="1" dirty="0">
                <a:solidFill>
                  <a:srgbClr val="1B3B6F"/>
                </a:solidFill>
                <a:latin typeface="Calibri" pitchFamily="34" charset="0"/>
                <a:ea typeface="Calibri" pitchFamily="34" charset="-122"/>
                <a:cs typeface="Calibri" pitchFamily="34" charset="-120"/>
              </a:rPr>
              <a:t>, who is respected?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(me)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 (her)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أَخٌ أَكْبَرُ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الحَاسُوبِ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نَتَصَالَحُ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أَخٌ أَكْبَرُ يُسَمَّى سَامِرًا.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have an older brother called Samer.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أَتَفَاهَمُ مَعَهُ عَادَةً لِأَنَّهُ يَسْتَمِعُ إِلَيَّ وَيَدْعَمُنِي فِي دِرَاسَتِي.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get on with him because he listens to me and supports me in my studies.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وَلٰكِنَّنَا نَخْتَلِفُ أَحْيَانًا حَوْلَ اسْتِخْدَامِ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we sometimes disagree about using the computer.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نَتَشَاجَرُ، نَتَكَلَّمُ بَعْدَ ذٰلِكَ وَنَتَصَالَحُ سَرِيعًا.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we argue, we talk afterwards and make up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أَحْتَرِمُهُ لِأَنَّهُ صَادِقٌ وَمُتَعَاوِنٌ.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respect him because he is honest and helpful.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Samer?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speaker’s older brother</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classmate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cousin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لَدَيَّ أَخٌ أَكْبَرُ يُسَمَّى سَامِرًا.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usually get on with him?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buys presents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very quiet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listens and supports the speaker’s studies</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يَسْتَمِعُ إِلَيَّ وَيَدْعَمُنِي فِي دِرَاسَتِي.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sometimes disagree about?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football</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homework</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the computer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نَخْتَلِفُ أَحْيَانًا حَوْلَ اسْتِخْدَامِ الحَاسُوبِ.</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they argue?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talk and make up quickly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stop speaking for days</a:t>
            </a:r>
            <a:endParaRPr lang="en-US" sz="120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mother decides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نَتَكَلَّمُ بَعْدَ ذٰلِكَ وَنَتَصَالَحُ سَرِيعًا.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respect him?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older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honest and helpful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funny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أَحْتَرِمُهُ لِأَنَّهُ صَادِقٌ وَمُتَعَاوِنٌ.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أَحْتَرِمُهُ</a:t>
            </a:r>
            <a:pPr algn="l" indent="0" marL="0">
              <a:buNone/>
            </a:pPr>
            <a:r>
              <a:rPr lang="en-US" sz="1250" b="1" dirty="0">
                <a:solidFill>
                  <a:srgbClr val="1B3B6F"/>
                </a:solidFill>
                <a:latin typeface="Calibri" pitchFamily="34" charset="0"/>
                <a:ea typeface="Calibri" pitchFamily="34" charset="-122"/>
                <a:cs typeface="Calibri" pitchFamily="34" charset="-120"/>
              </a:rPr>
              <a:t>, who is respected?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(me)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 (her)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 = him.</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أَخٌ أَكْبَرُ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الحَاسُوبِ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نَتَصَالَحُ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Family-tree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Family-tree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Build a mini family tree from clues, then explain at least four relationships using possessive endings or idāfa without pointing at the answer.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posts 5 clues about an invented family (in Arabic,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Students draw the mini family tree in their books (2 minutes).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explain four relationships WITHOUT pointing: “Ahmad is Salma’s brother”.</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Show the tree to the camera; the class checks it.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two relationships with “my” (akhī, ukhtī, ummī).</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relationships with iḍāfa (akhū Salmā) or -hu / -hā.</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relationships + one sentence about how two people get on (yatafāhamāni).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أَخُو سَلْمَى</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Salma’s brother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أُخْتُهُ / أُخْتُهَا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his / her sister</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جَدُّهُمَا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their (two) grandfather</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يَتَفَاهَمَانِ جَيِّدًا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they (two) get on well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Developed speaking: relationships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عَلَاقَتَكَ بِصَدِيقٍ مُقَرَّبٍ.</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يَدْعَمُكَ وَكَيْفَ؟</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تَخْتَلِفُ مَعَ أَحَدٍ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يَجْعَلُ العَلَاقَةَ قَوِيَّةً؟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أَتَفَاهَمُ مَعَ ___ لِأَنَّ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يَدْعَمُنِي / تَدْعَمُنِي عِنْدَمَا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نَتَشَاجَرُ أَحْيَانًا حَوْلَ ___ ، وَلٰكِنَّنَا ___ .</a:t>
            </a:r>
            <a:endParaRPr lang="ar-SA" sz="14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العَلَاقَةُ القَوِيَّةُ تَحْتَاجُ إِلَى ___ لِأَنَّ ___ .</a:t>
            </a:r>
            <a:endParaRPr lang="ar-SA" sz="14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يَدْعَمُكَ فِي دِرَاسَتِكَ؟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supports you in your studies?</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أُخْتِي تَدْعَمُنِي وَتُسَاعِدُنِي.</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sister supports and helps me.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relationship: get on with … · … supports me · one reason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relationships with object endings (him / her / me) and “we argue … we make up”.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strong and one sometimes difficult relationship — actions, feelings, reasons and how problems are resolved.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أَتَفَاهَمُ مَعَ ______ لِأَنَّهُ / لِأَنَّهَا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on with … because he / she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أَخْتَلِفُ مَعَ ______ أَحْيَانًا حَوْلَ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sometimes disagree with …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أُسَاعِدُهُ / أُسَاعِدُهَا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him / her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نَتَفَاهَمُ لِأَنَّنَا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get on because we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أَنَّنَا نَخْتَلِفُ ،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we disagree,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أَتَفَاهَمُ مَعَ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on with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يَدْعَمُنِي / تَدْعَمُنِي.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supports me (he / she).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أَحْتَرِمُهُ / أَحْتَرِمُهَا.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respect him / her.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نَتَشَاجَرُ.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sometimes argue.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نَتَصَالَحُ.</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we make up.</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أَتَفَاهَمُ مَعَ  ·  أَخْتَلِفُ مَعَ  ·  أَثِقُ بِـ  ·  أَحْتَرِمُهُ / أَحْتَرِمُهَا  ·  يَدْعَمُنِي  ·  تَدْعَمُنِي  ·  نَتَشَاجَرُ  ·  نَتَصَالَحُ  ·  صَدِيقٌ مُقَرَّبٌ  ·  عَلَاقَةٌ قَوِيَّةٌ  ·  لِأَنَّنَا  ·  وَلٰكِنَّنَا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two relationships: one strong and one sometimes difficult. Explain actions, feelings, object pronouns, reasons and how problems are resolved.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نَثِقُ بِبَعْضِنَا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trust each other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أَكُونُ قَلِقًا / قَلِقَةً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am worried (m. / 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نَوْعًا 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somewhat more difficult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نَتَكَلَّمُ بِهُدُوءٍ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talk calmly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يُسَاعِدَانِ النَّاسَ عَلَى فَهْمِ بَعْضِهِمْ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help people understand each other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عَلَاقَتِي بِأُخْتِي قَوِيَّةٌ لِأَنَّنَا نَتَفَاهَمُ وَنَثِقُ بِبَعْضِنَا. هِيَ تَدْعَمُنِي عِنْدَمَا أَكُونُ قَلِقًا، وَأَنَا أُسَاعِدُهَا فِي وَاجِبِهَا. أَمَّا عِلَاقَتِي بِابْنِ عَمِّي فَهِيَ أَصْعَبُ نَوْعًا مَا، لِأَنَّنَا نَخْتَلِفُ حَوْلَ أَلْعَابِ الحَاسُوبِ. أَحْيَانًا نَتَشَاجَرُ، وَلٰكِنَّنَا نَتَكَلَّمُ بِهُدُوءٍ وَنَتَصَالَحُ بَعْدَ ذٰلِكَ. فِي رَأْيِي، الاِحْتِرَامُ وَالاِسْتِمَاعُ أَهَمُّ شَيْئَيْنِ فِي أَيِّ عِلَاقَةٍ، لِأَنَّهُمَا يُسَاعِدَانِ النَّاسَ عَلَى فَهْمِ بَعْضِهِمْ.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relationship with my sister is strong because we get on and trust each other. She supports me when I am worried, and I help her with her homework. As for my relationship with my cousin, it is somewhat more difficult, because we disagree about computer games. Sometimes we argue, but we talk calmly and make up afterwards. In my opinion, respect and listening are the two most important things in any relationship, because they help people understand each 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object endings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reciprocal “we”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“get on WITH” (maʿa).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reason with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object endings match the person (-hu / -hā / -nī).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“we” verb (we argue / we make up).</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how a problem is solved.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أَتَفَاهَمُ أُخْتِي.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يَتَفَاهَمُ مَعَ أُخْتِي.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أَتَفَاهَمُ 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ـني</a:t>
            </a:r>
            <a:pPr algn="l" indent="0" marL="0">
              <a:buNone/>
            </a:pPr>
            <a:r>
              <a:rPr lang="en-US" sz="1050" i="1" dirty="0">
                <a:solidFill>
                  <a:srgbClr val="8A6D1E"/>
                </a:solidFill>
                <a:latin typeface="Calibri" pitchFamily="34" charset="0"/>
                <a:ea typeface="Calibri" pitchFamily="34" charset="-122"/>
                <a:cs typeface="Calibri" pitchFamily="34" charset="-120"/>
              </a:rPr>
              <a:t> means 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أَحْتَرِمُهَا.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أَحْتَرِمُهُ.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تَحْتَرِمُنِي.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relationships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تَكْتُبُ لَيْلَى عَنْ صَدِيقَتِهَا هِنْدٍ. تَقُولُ إِنَّ عَلَاقَتَهُمَا قَوِيَّةٌ لِأَنَّهُمَا تَثِقَانِ بِبَعْضِهِمَا وَتَقْضِيَانِ الوَقْتَ مَعًا. هِنْدٌ تَدْعَمُ لَيْلَى عِنْدَمَا تَكُونُ قَلِقَةً، وَلَيْلَى تُسَاعِدُهَا فِي الدِّرَاسَةِ. عَلَى الرَّغْمِ مِنْ أَنَّهُمَا تَخْتَلِفَانِ فِي بَعْضِ الآرَاءِ، فَإِنَّهُمَا تَسْتَمِعَانِ إِلَى بَعْضِهِمَا وَتَحْتَرِمَانِ الاِخْتِلَافَ.</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تَكْتُبُ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writes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عَلَاقَتَهُمَا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(two) relationship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تَثِقَانِ بِبَعْضِهِمَا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trust each other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تَقْضِيَانِ الوَقْتَ مَعًا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spend time together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worried (f.)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تُسَاعِدُهَا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helps 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تَخْتَلِفَانِ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differ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الآرَاءِ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opinions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تَسْتَمِعَانِ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listen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الاِخْتِلَافَ</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difference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friend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their relationship strong?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live in the same house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disagree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trust each other and spend time together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Hind help Layla?</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her when she is worried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cooks for 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drives her to school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Layla help Hind?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shopping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her studies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sport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 they always agree?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they differ in some opinions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does not say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do about their differences?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argue every day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talking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to each other and respect the difference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Layla’s friend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صَدِيقَتِهَا هِنْدٍ.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their relationship strong?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live in the same house</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disagree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trust each other and spend time together</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تَثِقَانِ بِبَعْضِهِمَا وَتَقْضِيَانِ الوَقْتَ مَعًا.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Hind help Layla?</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supports her when she is worried</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cooks for her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drives her to school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تَدْعَمُ لَيْلَى عِنْدَمَا تَكُونُ قَلِقَةً.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Layla help Hind?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shopping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her studies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sport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تُسَاعِدُهَا فِي الدِّرَاسَةِ.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 they always agree?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they differ in some opinions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does not say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تَخْتَلِفَانِ فِي بَعْضِ الآرَاءِ.</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do about their differences?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argue every day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talking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listen to each other and respect the difference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تَسْتَمِعَانِ … وَتَحْتَرِمَانِ الاِخْتِلَافَ.</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relationships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نَتَفَاهَمُ ___ نَسْتَمِعُ إِلَى بَعْضِنَا.</a:t>
            </a:r>
            <a:endParaRPr lang="ar-SA" sz="11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نَتَشَاجَرُ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نَتَصَالَحُ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نَتَعَاوَنُ</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يُسَاعِدُنِي.</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أُخْتِي.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أُخْتِي.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أَتَفَاهَمُ 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ـني</a:t>
            </a:r>
            <a:pPr algn="l" indent="0" marL="0">
              <a:buNone/>
            </a:pPr>
            <a:r>
              <a:rPr lang="en-US" sz="1050" i="1" dirty="0">
                <a:solidFill>
                  <a:srgbClr val="8A6D1E"/>
                </a:solidFill>
                <a:latin typeface="Calibri" pitchFamily="34" charset="0"/>
                <a:ea typeface="Calibri" pitchFamily="34" charset="-122"/>
                <a:cs typeface="Calibri" pitchFamily="34" charset="-120"/>
              </a:rPr>
              <a:t> means 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تَحْتَرِمُنِي.</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أَحْتَرِمُهَا.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نَتَفَاهَمُ ___ نَسْتَمِعُ إِلَى بَعْضِنَا.</a:t>
            </a:r>
            <a:endParaRPr lang="ar-SA" sz="11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we: </a:t>
            </a:r>
            <a:pPr algn="l" indent="0" marL="0">
              <a:buNone/>
            </a:pPr>
            <a:r>
              <a:rPr lang="ar-SA" altLang="en-US" sz="1350" dirty="0">
                <a:solidFill>
                  <a:srgbClr val="8A6D1E"/>
                </a:solidFill>
                <a:latin typeface="Amiri" pitchFamily="34" charset="0"/>
                <a:ea typeface="Amiri" pitchFamily="34" charset="-122"/>
                <a:cs typeface="Amiri" pitchFamily="34" charset="-120"/>
              </a:rPr>
              <a:t>لِأَنَّنَا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نَتَشَاجَرُ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نَتَصَالَحُ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نَتَعَاوَنُ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نَتَشَاجَرُ</a:t>
            </a:r>
            <a:pPr algn="l" indent="0" marL="0">
              <a:buNone/>
            </a:pPr>
            <a:r>
              <a:rPr lang="en-US" sz="1050" i="1" dirty="0">
                <a:solidFill>
                  <a:srgbClr val="8A6D1E"/>
                </a:solidFill>
                <a:latin typeface="Calibri" pitchFamily="34" charset="0"/>
                <a:ea typeface="Calibri" pitchFamily="34" charset="-122"/>
                <a:cs typeface="Calibri" pitchFamily="34" charset="-120"/>
              </a:rPr>
              <a:t> = we argue.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يُسَاعِدُنِي.</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to him.</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TB-L03 · Appearance and Personality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طَوِيلُ / طَوِيلَةُ القَامَةِ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tall (m. / f.)</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قَصِيرُ / قَصِيرَةُ القَامَةِ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short (m. / f.)</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شَعْرٌ مُجَعَّدٌ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curly hair</a:t>
            </a:r>
            <a:pPr indent="0" marL="0">
              <a:buNone/>
            </a:pPr>
            <a:r>
              <a:rPr lang="en-US" sz="1000" i="1" dirty="0">
                <a:solidFill>
                  <a:srgbClr val="5A6472"/>
                </a:solidFill>
                <a:latin typeface="Calibri" pitchFamily="34" charset="0"/>
                <a:ea typeface="Calibri" pitchFamily="34" charset="-122"/>
                <a:cs typeface="Calibri" pitchFamily="34" charset="-120"/>
              </a:rPr>
              <a:t>  straight: مُسْتَقِيمٌ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عَيْنَانِ بُنِّيَّتَانِ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brown eyes</a:t>
            </a:r>
            <a:pPr indent="0" marL="0">
              <a:buNone/>
            </a:pPr>
            <a:r>
              <a:rPr lang="en-US" sz="1000" i="1" dirty="0">
                <a:solidFill>
                  <a:srgbClr val="5A6472"/>
                </a:solidFill>
                <a:latin typeface="Calibri" pitchFamily="34" charset="0"/>
                <a:ea typeface="Calibri" pitchFamily="34" charset="-122"/>
                <a:cs typeface="Calibri" pitchFamily="34" charset="-120"/>
              </a:rPr>
              <a:t>  one eye: عَيْنٌ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يَرْتَدِي / تَرْتَدِي نَظَّارَةً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 wears glasses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famous person or a character from a book. How would you describe their appearance?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شَكْلُهُ؟ كَيْفَ شَكْلُهَا؟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TB-L02: the picture game and the vocabulary tab (relationship actions).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two relationships with object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 one strong and one difficult relationship.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TB-L03 · Appearance and Personality</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المَظْهَرُ وَالشَّخْصِيَّةُ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front of the verb = who does it; end of the verb = who receives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TB-L02 · Family, Friends and Relationships</dc:title>
  <dc:subject>PptxGenJS Presentation</dc:subject>
  <dc:creator>Al Madina Online School · Arabic Department</dc:creator>
  <cp:lastModifiedBy>Al Madina Online School · Arabic Department</cp:lastModifiedBy>
  <cp:revision>1</cp:revision>
  <dcterms:created xsi:type="dcterms:W3CDTF">2026-09-27T13:01:25Z</dcterms:created>
  <dcterms:modified xsi:type="dcterms:W3CDTF">2026-09-27T13:01:25Z</dcterms:modified>
</cp:coreProperties>
</file>