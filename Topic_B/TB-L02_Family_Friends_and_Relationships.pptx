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B · TB-L02 — Family, Friends and Relationships. Website: Advanced Topics › Topic B (Personal and Social Life) › Lesson 2.
The website builds this lesson on the D2-L02 lesson engine, with the Topic focus “Explain family links, friendship and changing relationships with precise vocabulary.” (grammar: Possessive endings; idāfa; dual and plural; skills: Listening · Speaking) and the application challenge “Family-tree challenge”. This deck follows the same engine, re-sequenced for Topic B: lesson references now point to Topic B codes (lessons outside Topic B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B People, Relationships and Style › TB-L02. The website lesson “Relationships — Family, Friends and How We Get On”: vocabulary, grammar rules and quiz, patterns, common mistakes, sorter, listening, reading, speaking prompts and model, writing task and model, differentiation, final check and the lesson mission. Picture match: website visual game “Relationships — Family, Friends and How We Get 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three chunks learnt whole — أَتَفَاهَمُ مَعَ … (I get on with) · … يَدْعَمُنِي (… supports me) · نَتَشَاجَرُ ثُمَّ نَتَصَالَحُ (we argue, then make up) — plus one reason (because …).
• Develop: object endings (أُسَاعِدُهُ / أَحْتَرِمُهَا) — the same endings as D1-L05 (website) — and لِأَنَّنَا for “because we”. Stretch: a strong and a difficult relationship compared, with how problems are solved.
• Sensitivity: family situations differ. Students may describe a friend, a cousin or an invented person; “sometimes difficult” should stay light (computer, TV, chores).
• Urdu bridge: تعلقات، احترام، اعتماد (→ ثقة), مدد (→ أُسَاعِدُ by meaning), صلح.
• TEACHER-WRITTEN ITEMS: on the website this lesson’s patterns, mistakes, sorter,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retrieve D2-L01 (website) (agreement, لِأَنَّهَا) and D1-L05 (website) (object endings).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ending on the verb shows who RECEIVES the action: -nī me · -hu him · -hā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تعلق / تعلقات → عَلَاقَةٌ (same root ع-ل-ق). احترام → أَحْتَرِمُ (I respect). وثوق (trust, formal Urdu) → أَثِقُ بِـ. صلح (peace, reconciliation) → نَتَصَالَحُ (we make up). قوی (strong) → قَوِيٌّ / قَوِيَّةٌ.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Relationship actions (website vocabulary (1 of 2)). Hear → Say → See → Use. Transliteration is printed for Core students (cover it for Develop/Stretch).
يَدْعَمُنِي vs تَدْعَمُنِي: the FRONT tells you who supports (he / she); the END (-nī) tells you it is me. Ask: “who is doing it, who receives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Relationship actions (website vocabulary (2 of 2)). Hear → Say → See → Use. Transliteration is printed for Core students (cover it for Develop/Stretch).
يَدْعَمُنِي vs تَدْعَمُنِي: the FRONT tells you who supports (he / she); the END (-nī) tells you it is me. Ask: “who is doing it, who receives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Relationship outcomes (website vocabulary). Hear → Say → See → Use. Transliteration is printed for Core students (cover it for Develop/Stretch).
نَتَصَالَحُ and نَتَشَاجَرُ start with na- = we: things we do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Reasons and contrast (website vocabulary (1 of 2)). Hear → Say → See → Use. Transliteration is printed for Core students (cover it for Develop/Stretch).
FLEX: teach if time allows; otherwise these are on the website vocabulary tab for homework.
Reasons and contrast (FLEX) — the same connectors in every Topic B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Reasons and contrast (website vocabulary (2 of 2)). Hear → Say → See → Use. Transliteration is printed for Core students (cover it for Develop/Stretch).
FLEX: teach if time allows; otherwise these are on the website vocabulary tab for homework.
Reasons and contrast (FLEX) — the same connectors in every Topic B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“Object pronouns” (the suffix shows who receives the action) and the website table (With noun · With pronoun). Recycles D1-L05 (website) (أُسَاعِدُهَا).
Website common error: attaching the wrong gender — أَحْتَرِمُهُ for a woman ✗ → أَحْتَرِمُهَا ✓.
Quick-fire: teacher says a person (أُمِّي / أَخِي / أَصْدِقَائِي); students answer أَحْتَرِمُهَا / أَحْتَرِمُهُ / أَحْتَرِمُهُمْ.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“Get on with / disagree with” (use مَعَ), “Reciprocal actions” (the نَـ form: what we do together or to one another) and “Explain the relationship” (give a reason, not just a label).
Reason forms to learn: لِأَنَّهُ (because he) · لِأَنَّهَا (because she) · لِأَنَّنَا (because we) · لِأَنَّنِي (because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“Describe how people treat one another, who receives an action and why a relationship succeeds or becomes difficult.”
• Get on with / disagree with: Use مَعَ after these relationship verbs.
• Object pronouns: The suffix shows who receives the action.
• Reciprocal actions: The نَـ form can describe what we do together or to one another.
• Explain the relationship: Give a reason, not merely a positive or negative label.
Website common error: Do not omit مَعَ after أَتَفَاهَمُ or attach the wrong object-pronoun gender.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patterns and the website writing model condensed into one strong and one difficult relationship, with a think-aloud (“who does it? who receives it?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Relationships — Family, Friends and How We Get 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Stretch: يَتَفَاهَمَانِ is the DUAL (they two) — the -āni ending. Other cards for homework: صَدِيقَتَانِ مُقَرَّبَتَانِ (two close friends, f.), عَلَاقَتِي بِعَائِلَتِي جَيِّدَةٌ, نَتَحَدَّثُ كَثِيرًا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Relationships — Family, Friends and How We Get 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Stretch: يَتَفَاهَمَانِ is the DUAL (they two) — the -āni ending. Other cards for homework: صَدِيقَتَانِ مُقَرَّبَتَانِ (two close friends, f.), عَلَاقَتِي بِعَائِلَتِي جَيِّدَةٌ, نَتَحَدَّثُ كَثِيرًا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whether each Arabic sentence is accurate (right preposition, right ending, right person).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whether each Arabic sentence is accurate (right preposition, right ending, right person).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لَدَيَّ أَخٌ أَكْبَرُ يُسَمَّى سَامِرًا. أَتَفَاهَمُ مَعَهُ عَادَةً لِأَنَّهُ يَسْتَمِعُ إِلَيَّ وَيَدْعَمُنِي فِي دِرَاسَتِي. وَلٰكِنَّنَا نَخْتَلِفُ أَحْيَانًا حَوْلَ اسْتِخْدَامِ الحَاسُوبِ. عِنْدَمَا نَتَشَاجَرُ، نَتَكَلَّمُ بَعْدَ ذٰلِكَ وَنَتَصَالَحُ سَرِيعًا. أَحْتَرِمُهُ لِأَنَّهُ صَادِقٌ وَمُتَعَاوِنٌ.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B APPLICATION CHALLENGE (3 min — it takes the speaking-rehearsal slot; the website speaking slide after it is FLEX) — from the website Topic page: “Build a mini family tree from clues, then explain at least four relationships using possessive endings or idāfa without pointing at the answer.”
Clues to paste: خَالِدٌ وَمَرْيَمُ زَوْجَانِ. لَهُمَا ابْنٌ اسْمُهُ أَحْمَدُ وَبِنْتٌ اسْمُهَا سَلْمَى. أَحْمَدُ أَكْبَرُ مِنْ سَلْمَى. جَدَّةُ أَحْمَدَ اسْمُهَا فَاطِمَةُ، وَهِيَ أُمُّ خَالِدٍ. سَلْمَى تَتَفَاهَمُ مَعَ جَدَّتِهَا جَيِّدًا. → Tree: Fatima → Khalid + Maryam → Ahmad (older), Salma. Website Topic B challenge “Family-tree challenge” (possessive endings or iḍāfa).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B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هَلْ تَخْتَلِفَانِ أَحْيَانًا؟ (Do you sometimes disagree?)
B: نَعَمْ، وَلٰكِنَّنَا نَتَصَالَحُ سَرِيعًا. (Yes, but we make up quickly.)
Website prompts (order changed for routes). Website model continues: A: هَلْ تَخْتَلِفَانِ أَحْيَانًا؟ (Do you two sometimes disagree?) B: نَعَمْ، وَلٰكِنَّنَا نَتَصَالَحُ سَرِيعًا. (Yes, but we make up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100–120 Arabic words about two relationships: one strong and one sometimes difficult. Explain actions, feelings, object pronouns, reasons and how problems are resolved.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تَدْعَمُنِي، أُسَاعِدُهَا · نَتَفَاهَمُ، نَثِقُ، نَتَشَاجَرُ، نَتَصَالَحُ · لِأَنَّنَا نَتَفَاهَمُ، لِأَنَّنَا نَخْتَلِفُ · فِي رَأْيِي، الاِحْتِرَامُ وَالاِسْتِمَاعُ أَهَمُّ شَيْئَيْنِ. (Website spelling note: the model writes عِلَاقَة in two places; the standard spelling is عَلَاقَة, as in the vocabulary.)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(TB-L03 · Appearance and Personality) will spend class time USING this language, so students prepare it tonight — short, simple, easy to access (school guidance: “Simple, Short, Interesting, Relevant, Easy to access”). The five words come from the website TB-L07 vocabulary (clothes and accessories).
Follow-up: the next Do Now tests two of these words (Flipped Learning: keep it short AND follow up).
Homework by route (website tasks). No internet? Students copy the five words from this slide into their book now.
TOPIC B: the five words are the ones the TB-L03 Do Now tests (preparation list of the website D2-L05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TB-L02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300" b="1" dirty="0">
                <a:solidFill>
                  <a:srgbClr val="FFFFFF"/>
                </a:solidFill>
                <a:latin typeface="Cambria" pitchFamily="34" charset="0"/>
                <a:cs typeface="Amiri" pitchFamily="2" charset="-78"/>
              </a:rPr>
              <a:t>Family, Friends and Relationships</a:t>
            </a:r>
            <a:endParaRPr lang="en-US" sz="33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العَائِلَةُ وَالأَصْدِقَاءُ وَالعَلَاقَاتُ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Explain family links, friendship and changing relationships with precise vocabulary.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TB-L02 · Advanced Topic B · Personal and Social Life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on with, supports me, we argue — and why.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decide accurate / inaccurate,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TB-L03.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أَتَفَاهَمُ مَعَ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disagree with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get on with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trust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صَدِيقٌ مُقَرَّبٌ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close friend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friend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relative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patient.”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صَبُورٌ.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صَبُورَةٌ.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صَبُورَةٌ.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هِيَ كَرِيمَةٌ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تُسَاعِدُ الآخَرِينَ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وَلٰكِنَّهُ</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help her”.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تُسَاعِدُنِي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أَتَفَاهَمُ مَعَ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disagree with</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get on with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trust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صَدِيقٌ مُقَرَّبٌ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close friend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friend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relative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patient.”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هِيَ صَبُورٌ.</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صَبُورَةٌ.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 صَبُورَةٌ.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D2-L01 (website): she → -a(tun).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هِيَ كَرِيمَةٌ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تُسَاعِدُ الآخَرِينَ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وَلٰكِنَّهُ</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لِأَنَّهَا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D2-L01 (website): because SHE.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help her”.</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أُسَاعِدُهَا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أُسَاعِدُهُ</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تُسَاعِدُنِي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D1-L05 (website) object endings.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ending on the verb shows who RECEIVES the action: -nī me · -hu him · -hā her.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أَبِي يَدْعَمُ</a:t>
            </a:r>
            <a:pPr rtl="1" algn="ctr" indent="0" marL="0">
              <a:lnSpc>
                <a:spcPct val="120000"/>
              </a:lnSpc>
              <a:buNone/>
            </a:pPr>
            <a:r>
              <a:rPr lang="ar-SA" altLang="en-US" sz="2200" b="1" dirty="0">
                <a:solidFill>
                  <a:srgbClr val="D6336C"/>
                </a:solidFill>
                <a:latin typeface="Amiri" pitchFamily="2" charset="-78"/>
                <a:cs typeface="Amiri" pitchFamily="2" charset="-78"/>
              </a:rPr>
              <a:t>نِي</a:t>
            </a:r>
            <a:pPr rtl="1" algn="ctr" indent="0" marL="0">
              <a:lnSpc>
                <a:spcPct val="120000"/>
              </a:lnSpc>
              <a:buNone/>
            </a:pPr>
            <a:r>
              <a:rPr lang="ar-SA" altLang="en-US" sz="2200" b="1" dirty="0">
                <a:solidFill>
                  <a:srgbClr val="1B3B6F"/>
                </a:solidFill>
                <a:latin typeface="Amiri" pitchFamily="2" charset="-78"/>
                <a:cs typeface="Amiri" pitchFamily="2" charset="-78"/>
              </a:rPr>
              <a:t>  ·  أَحْتَرِمُ</a:t>
            </a:r>
            <a:pPr rtl="1" algn="ctr" indent="0" marL="0">
              <a:lnSpc>
                <a:spcPct val="120000"/>
              </a:lnSpc>
              <a:buNone/>
            </a:pPr>
            <a:r>
              <a:rPr lang="ar-SA" altLang="en-US" sz="2200" b="1" dirty="0">
                <a:solidFill>
                  <a:srgbClr val="1D5FBF"/>
                </a:solidFill>
                <a:latin typeface="Amiri" pitchFamily="2" charset="-78"/>
                <a:cs typeface="Amiri" pitchFamily="2" charset="-78"/>
              </a:rPr>
              <a:t>هُ</a:t>
            </a:r>
            <a:pPr rtl="1" algn="ctr" indent="0" marL="0">
              <a:lnSpc>
                <a:spcPct val="120000"/>
              </a:lnSpc>
              <a:buNone/>
            </a:pPr>
            <a:r>
              <a:rPr lang="ar-SA" altLang="en-US" sz="2200" b="1" dirty="0">
                <a:solidFill>
                  <a:srgbClr val="1B3B6F"/>
                </a:solidFill>
                <a:latin typeface="Amiri" pitchFamily="2" charset="-78"/>
                <a:cs typeface="Amiri" pitchFamily="2" charset="-78"/>
              </a:rPr>
              <a:t>  ·  أُسَاعِدُ</a:t>
            </a:r>
            <a:pPr rtl="1" algn="ctr" indent="0" marL="0">
              <a:lnSpc>
                <a:spcPct val="120000"/>
              </a:lnSpc>
              <a:buNone/>
            </a:pPr>
            <a:r>
              <a:rPr lang="ar-SA" altLang="en-US" sz="2200" b="1" dirty="0">
                <a:solidFill>
                  <a:srgbClr val="0E7C86"/>
                </a:solidFill>
                <a:latin typeface="Amiri" pitchFamily="2" charset="-78"/>
                <a:cs typeface="Amiri" pitchFamily="2" charset="-78"/>
              </a:rPr>
              <a:t>هَا</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TB-L02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Relationship verbs, object pronouns and reciprocity.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who I get on with and who supports me.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one reason with “because”.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object endings (supports me, I respect her).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describe what we do together (we argue / we make up).</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a strong and a difficult relationship.</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how a problem is solved.</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Relationship actions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Relationship outcomes · 4</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Reasons and contrast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عَلَاقَةٌ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‎تعلق‎ </a:t>
            </a:r>
            <a:pPr indent="0" marL="0">
              <a:buNone/>
            </a:pPr>
            <a:r>
              <a:rPr lang="en-US" sz="950" b="1" dirty="0">
                <a:solidFill>
                  <a:srgbClr val="2E8B57"/>
                </a:solidFill>
                <a:latin typeface="Calibri" pitchFamily="34" charset="0"/>
                <a:cs typeface="Amiri" pitchFamily="2" charset="-78"/>
              </a:rPr>
              <a:t> taʿalluq · connection, relationship</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أَحْتَرِمُ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‎احترام‎ </a:t>
            </a:r>
            <a:pPr indent="0" marL="0">
              <a:buNone/>
            </a:pPr>
            <a:r>
              <a:rPr lang="en-US" sz="950" b="1" dirty="0">
                <a:solidFill>
                  <a:srgbClr val="2E8B57"/>
                </a:solidFill>
                <a:latin typeface="Calibri" pitchFamily="34" charset="0"/>
                <a:cs typeface="Amiri" pitchFamily="2" charset="-78"/>
              </a:rPr>
              <a:t> ihtirām · respect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أَثِقُ بِـ</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‎وثوق‎ </a:t>
            </a:r>
            <a:pPr indent="0" marL="0">
              <a:buNone/>
            </a:pPr>
            <a:r>
              <a:rPr lang="en-US" sz="950" b="1" dirty="0">
                <a:solidFill>
                  <a:srgbClr val="2E8B57"/>
                </a:solidFill>
                <a:latin typeface="Calibri" pitchFamily="34" charset="0"/>
                <a:cs typeface="Amiri" pitchFamily="2" charset="-78"/>
              </a:rPr>
              <a:t> wusūq · confidence, trust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نَتَصَالَحُ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‎صلح‎ </a:t>
            </a:r>
            <a:pPr indent="0" marL="0">
              <a:buNone/>
            </a:pPr>
            <a:r>
              <a:rPr lang="en-US" sz="950" b="1" dirty="0">
                <a:solidFill>
                  <a:srgbClr val="2E8B57"/>
                </a:solidFill>
                <a:latin typeface="Calibri" pitchFamily="34" charset="0"/>
                <a:cs typeface="Amiri" pitchFamily="2" charset="-78"/>
              </a:rPr>
              <a:t> sulah · reconciliation → we make up</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قَوِيَّةٌ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‎قوی‎ </a:t>
            </a:r>
            <a:pPr indent="0" marL="0">
              <a:buNone/>
            </a:pPr>
            <a:r>
              <a:rPr lang="en-US" sz="950" b="1" dirty="0">
                <a:solidFill>
                  <a:srgbClr val="2E8B57"/>
                </a:solidFill>
                <a:latin typeface="Calibri" pitchFamily="34" charset="0"/>
                <a:cs typeface="Amiri" pitchFamily="2" charset="-78"/>
              </a:rPr>
              <a:t> qavī · strong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Relationship actions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أَتَفَاهَمُ مَعَ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on with</a:t>
            </a:r>
            <a:endParaRPr lang="en-US" sz="1350" dirty="0"/>
          </a:p>
          <a:p>
            <a:pPr indent="0" marL="0">
              <a:buNone/>
            </a:pPr>
            <a:r>
              <a:rPr lang="en-US" sz="1100" i="1" dirty="0">
                <a:solidFill>
                  <a:srgbClr val="5A6472"/>
                </a:solidFill>
                <a:latin typeface="Calibri" pitchFamily="34" charset="0"/>
                <a:cs typeface="Amiri" pitchFamily="2" charset="-78"/>
              </a:rPr>
              <a:t>a-ta-fā-ha-mu ma-ʿa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نَتَفَاهَمُ</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تَتَفَاهَمُ</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يَتَفَاهَمُ</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we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أَخْتَلِفُ مَعَ</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disagree with</a:t>
            </a:r>
            <a:endParaRPr lang="en-US" sz="1350" dirty="0"/>
          </a:p>
          <a:p>
            <a:pPr indent="0" marL="0">
              <a:buNone/>
            </a:pPr>
            <a:r>
              <a:rPr lang="en-US" sz="1100" i="1" dirty="0">
                <a:solidFill>
                  <a:srgbClr val="5A6472"/>
                </a:solidFill>
                <a:latin typeface="Calibri" pitchFamily="34" charset="0"/>
                <a:cs typeface="Amiri" pitchFamily="2" charset="-78"/>
              </a:rPr>
              <a:t>akh-ta-li-fu ma-ʿa</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نَخْتَلِفُ</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تَخْتَلِفُ</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يَخْتَلِفُ</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we</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أَثِقُ بِـ</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trust</a:t>
            </a:r>
            <a:endParaRPr lang="en-US" sz="1350" dirty="0"/>
          </a:p>
          <a:p>
            <a:pPr indent="0" marL="0">
              <a:buNone/>
            </a:pPr>
            <a:r>
              <a:rPr lang="en-US" sz="1100" i="1" dirty="0">
                <a:solidFill>
                  <a:srgbClr val="5A6472"/>
                </a:solidFill>
                <a:latin typeface="Calibri" pitchFamily="34" charset="0"/>
                <a:cs typeface="Amiri" pitchFamily="2" charset="-78"/>
              </a:rPr>
              <a:t>a-thi-qu bi</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نَثِقُ</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تَثِقُ</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يَثِقُ</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him · her · them</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أَحْتَرِمُ</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respect</a:t>
            </a:r>
            <a:endParaRPr lang="en-US" sz="1350" dirty="0"/>
          </a:p>
          <a:p>
            <a:pPr indent="0" marL="0">
              <a:buNone/>
            </a:pPr>
            <a:r>
              <a:rPr lang="en-US" sz="1100" i="1" dirty="0">
                <a:solidFill>
                  <a:srgbClr val="5A6472"/>
                </a:solidFill>
                <a:latin typeface="Calibri" pitchFamily="34" charset="0"/>
                <a:cs typeface="Amiri" pitchFamily="2" charset="-78"/>
              </a:rPr>
              <a:t>aḥ-ta-ri-mu</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them</a:t>
            </a:r>
            <a:endParaRPr lang="en-US" sz="700" dirty="0"/>
          </a:p>
        </p:txBody>
      </p:sp>
      <p:sp>
        <p:nvSpPr>
          <p:cNvPr id="80" name="Text 77"/>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أَحْتَرِمُهُمْ</a:t>
            </a:r>
            <a:endParaRPr lang="ar-SA" sz="135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أَحْتَرِمُهَا</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أَحْتَرِمُهُ</a:t>
            </a:r>
            <a:endParaRPr lang="ar-SA" sz="15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Relationship actions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him · her · them</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أُسَاعِدُ</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help</a:t>
            </a:r>
            <a:endParaRPr lang="en-US" sz="1350" dirty="0"/>
          </a:p>
          <a:p>
            <a:pPr indent="0" marL="0">
              <a:buNone/>
            </a:pPr>
            <a:r>
              <a:rPr lang="en-US" sz="1100" i="1" dirty="0">
                <a:solidFill>
                  <a:srgbClr val="5A6472"/>
                </a:solidFill>
                <a:latin typeface="Calibri" pitchFamily="34" charset="0"/>
                <a:cs typeface="Amiri" pitchFamily="2" charset="-78"/>
              </a:rPr>
              <a:t>u-sā-ʿi-du</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them</a:t>
            </a:r>
            <a:endParaRPr lang="en-US" sz="700" dirty="0"/>
          </a:p>
        </p:txBody>
      </p:sp>
      <p:sp>
        <p:nvSpPr>
          <p:cNvPr id="24" name="Text 21"/>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أُسَاعِدُهُمْ</a:t>
            </a:r>
            <a:endParaRPr lang="ar-SA" sz="135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أُسَاعِدُهَا</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أُسَاعِدُهُ</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4" name="Shape 31"/>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me · us · him</a:t>
            </a:r>
            <a:endParaRPr lang="en-US" sz="8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يَدْعَمُنِي</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supports me</a:t>
            </a:r>
            <a:endParaRPr lang="en-US" sz="1350" dirty="0"/>
          </a:p>
          <a:p>
            <a:pPr indent="0" marL="0">
              <a:buNone/>
            </a:pPr>
            <a:r>
              <a:rPr lang="en-US" sz="1100" i="1" dirty="0">
                <a:solidFill>
                  <a:srgbClr val="5A6472"/>
                </a:solidFill>
                <a:latin typeface="Calibri" pitchFamily="34" charset="0"/>
                <a:cs typeface="Amiri" pitchFamily="2" charset="-78"/>
              </a:rPr>
              <a:t>yad-ʿa-mu-nī</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him</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يَدْعَمُهُ</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يَدْعَمُنَا</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me</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يَدْعَمُنِي</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تَدْعَمُنِي</a:t>
            </a:r>
            <a:endParaRPr lang="ar-SA" sz="3000" dirty="0"/>
          </a:p>
        </p:txBody>
      </p:sp>
      <p:sp>
        <p:nvSpPr>
          <p:cNvPr id="55" name="Text 5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supports me</a:t>
            </a:r>
            <a:endParaRPr lang="en-US" sz="1350" dirty="0"/>
          </a:p>
          <a:p>
            <a:pPr indent="0" marL="0">
              <a:buNone/>
            </a:pPr>
            <a:r>
              <a:rPr lang="en-US" sz="1100" i="1" dirty="0">
                <a:solidFill>
                  <a:srgbClr val="5A6472"/>
                </a:solidFill>
                <a:latin typeface="Calibri" pitchFamily="34" charset="0"/>
                <a:cs typeface="Amiri" pitchFamily="2" charset="-78"/>
              </a:rPr>
              <a:t>tad-ʿa-mu-nī</a:t>
            </a:r>
            <a:endParaRPr lang="en-US"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9" name="Shape 5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نَتَشَاجَرُ</a:t>
            </a:r>
            <a:endParaRPr lang="ar-SA" sz="3000" dirty="0"/>
          </a:p>
        </p:txBody>
      </p:sp>
      <p:sp>
        <p:nvSpPr>
          <p:cNvPr id="62" name="Text 5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argue</a:t>
            </a:r>
            <a:endParaRPr lang="en-US" sz="1350" dirty="0"/>
          </a:p>
          <a:p>
            <a:pPr indent="0" marL="0">
              <a:buNone/>
            </a:pPr>
            <a:r>
              <a:rPr lang="en-US" sz="1100" i="1" dirty="0">
                <a:solidFill>
                  <a:srgbClr val="5A6472"/>
                </a:solidFill>
                <a:latin typeface="Calibri" pitchFamily="34" charset="0"/>
                <a:cs typeface="Amiri" pitchFamily="2" charset="-78"/>
              </a:rPr>
              <a:t>na-ta-shā-ja-ru</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Relationship outcomes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نَتَصَالَحُ</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make up</a:t>
            </a:r>
            <a:endParaRPr lang="en-US" sz="1350" dirty="0"/>
          </a:p>
          <a:p>
            <a:pPr indent="0" marL="0">
              <a:buNone/>
            </a:pPr>
            <a:r>
              <a:rPr lang="en-US" sz="1100" i="1" dirty="0">
                <a:solidFill>
                  <a:srgbClr val="5A6472"/>
                </a:solidFill>
                <a:latin typeface="Calibri" pitchFamily="34" charset="0"/>
                <a:cs typeface="Amiri" pitchFamily="2" charset="-78"/>
              </a:rPr>
              <a:t>na-ta-ṣā-la-ḥu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نَقْضِي الوَقْتَ مَعًا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spend time together</a:t>
            </a:r>
            <a:endParaRPr lang="en-US" sz="1350" dirty="0"/>
          </a:p>
          <a:p>
            <a:pPr indent="0" marL="0">
              <a:buNone/>
            </a:pPr>
            <a:r>
              <a:rPr lang="en-US" sz="1100" i="1" dirty="0">
                <a:solidFill>
                  <a:srgbClr val="5A6472"/>
                </a:solidFill>
                <a:latin typeface="Calibri" pitchFamily="34" charset="0"/>
                <a:cs typeface="Amiri" pitchFamily="2" charset="-78"/>
              </a:rPr>
              <a:t>naq-ḍī al-waq-ta ma-ʿan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0" name="Shape 2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صَدِيقٌ مُقَرَّبٌ</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close friend</a:t>
            </a:r>
            <a:endParaRPr lang="en-US" sz="1350" dirty="0"/>
          </a:p>
          <a:p>
            <a:pPr indent="0" marL="0">
              <a:buNone/>
            </a:pPr>
            <a:r>
              <a:rPr lang="en-US" sz="1100" i="1" dirty="0">
                <a:solidFill>
                  <a:srgbClr val="5A6472"/>
                </a:solidFill>
                <a:latin typeface="Calibri" pitchFamily="34" charset="0"/>
                <a:cs typeface="Amiri" pitchFamily="2" charset="-78"/>
              </a:rPr>
              <a:t>ṣa-dī-qun mu-qar-ra-bun</a:t>
            </a:r>
            <a:endParaRPr lang="en-US" sz="1350" dirty="0"/>
          </a:p>
        </p:txBody>
      </p:sp>
      <p:sp>
        <p:nvSpPr>
          <p:cNvPr id="36" name="Shape 3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cs typeface="Amiri" pitchFamily="2" charset="-78"/>
              </a:rPr>
              <a:t>أَصْدِقَاءُ مُقَرَّبُونَ</a:t>
            </a:r>
            <a:endParaRPr lang="ar-SA" sz="1450" dirty="0"/>
          </a:p>
        </p:txBody>
      </p:sp>
      <p:sp>
        <p:nvSpPr>
          <p:cNvPr id="39" name="Shape 3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صَدِيقَةٌ مُقَرَّبَةٌ</a:t>
            </a:r>
            <a:endParaRPr lang="ar-SA" sz="1500" dirty="0"/>
          </a:p>
        </p:txBody>
      </p:sp>
      <p:sp>
        <p:nvSpPr>
          <p:cNvPr id="42" name="Shape 3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صَدِيقٌ مُقَرَّبٌ</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8" name="Shape 4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0" name="Text 4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عَلَاقَةٌ قَوِيَّةٌ</a:t>
            </a:r>
            <a:endParaRPr lang="ar-SA" sz="3000" dirty="0"/>
          </a:p>
        </p:txBody>
      </p:sp>
      <p:sp>
        <p:nvSpPr>
          <p:cNvPr id="51" name="Text 4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strong relationship</a:t>
            </a:r>
            <a:endParaRPr lang="en-US" sz="1350" dirty="0"/>
          </a:p>
          <a:p>
            <a:pPr indent="0" marL="0">
              <a:buNone/>
            </a:pPr>
            <a:r>
              <a:rPr lang="en-US" sz="1100" i="1" dirty="0">
                <a:solidFill>
                  <a:srgbClr val="5A6472"/>
                </a:solidFill>
                <a:latin typeface="Calibri" pitchFamily="34" charset="0"/>
                <a:cs typeface="Amiri" pitchFamily="2" charset="-78"/>
              </a:rPr>
              <a:t>ʿa-lā-qa-tun qa-wiy-ya-tun</a:t>
            </a:r>
            <a:endParaRPr lang="en-US" sz="1350" dirty="0"/>
          </a:p>
        </p:txBody>
      </p:sp>
      <p:sp>
        <p:nvSpPr>
          <p:cNvPr id="52" name="Shape 4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عَلَاقَاتٌ قَوِيَّةٌ</a:t>
            </a:r>
            <a:endParaRPr lang="ar-SA" sz="1500" dirty="0"/>
          </a:p>
        </p:txBody>
      </p:sp>
      <p:sp>
        <p:nvSpPr>
          <p:cNvPr id="55" name="Shape 5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weak</a:t>
            </a:r>
            <a:endParaRPr lang="en-US" sz="700" dirty="0"/>
          </a:p>
        </p:txBody>
      </p:sp>
      <p:sp>
        <p:nvSpPr>
          <p:cNvPr id="57" name="Text 54"/>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عَلَاقَةٌ ضَعِيفَةٌ</a:t>
            </a:r>
            <a:endParaRPr lang="ar-SA" sz="1350" dirty="0"/>
          </a:p>
        </p:txBody>
      </p:sp>
      <p:sp>
        <p:nvSpPr>
          <p:cNvPr id="58" name="Shape 5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0" name="Text 5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عَلَاقَةٌ قَوِيَّةٌ</a:t>
            </a:r>
            <a:endParaRPr lang="ar-SA" sz="15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Reasons and contrast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Reasons and contrast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الرَّغْمِ مِنْ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رَأْيِي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 أُخْرَى</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OBJECT PRONOUNS (WEBSITE RULE +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receives the action?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ضَمَائِرُ المَفْعُولِ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9644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a noun</a:t>
            </a:r>
            <a:endParaRPr lang="en-US" sz="1100" dirty="0"/>
          </a:p>
        </p:txBody>
      </p:sp>
      <p:sp>
        <p:nvSpPr>
          <p:cNvPr id="17" name="Text 14"/>
          <p:cNvSpPr txBox="1"/>
          <p:nvPr/>
        </p:nvSpPr>
        <p:spPr>
          <a:xfrm>
            <a:off x="467258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an ending</a:t>
            </a:r>
            <a:endParaRPr lang="en-US" sz="1100" dirty="0"/>
          </a:p>
        </p:txBody>
      </p:sp>
      <p:sp>
        <p:nvSpPr>
          <p:cNvPr id="18" name="Text 15"/>
          <p:cNvSpPr txBox="1"/>
          <p:nvPr/>
        </p:nvSpPr>
        <p:spPr>
          <a:xfrm>
            <a:off x="53035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982712" y="2286000"/>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أَحْتَرِمُ أَخِي.</a:t>
            </a:r>
            <a:endParaRPr lang="ar-SA" sz="1950" dirty="0"/>
          </a:p>
        </p:txBody>
      </p:sp>
      <p:sp>
        <p:nvSpPr>
          <p:cNvPr id="21" name="Text 18"/>
          <p:cNvSpPr txBox="1"/>
          <p:nvPr/>
        </p:nvSpPr>
        <p:spPr>
          <a:xfrm>
            <a:off x="7936992" y="2676997"/>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respect my brother.</a:t>
            </a:r>
            <a:endParaRPr lang="en-US" sz="950" dirty="0"/>
          </a:p>
        </p:txBody>
      </p:sp>
      <p:sp>
        <p:nvSpPr>
          <p:cNvPr id="22" name="Text 19"/>
          <p:cNvSpPr txBox="1"/>
          <p:nvPr/>
        </p:nvSpPr>
        <p:spPr>
          <a:xfrm>
            <a:off x="4690872" y="2267712"/>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أَحْتَرِمُ</a:t>
            </a:r>
            <a:pPr rtl="1" algn="ctr" indent="0" marL="0">
              <a:buNone/>
            </a:pPr>
            <a:r>
              <a:rPr lang="ar-SA" altLang="en-US" sz="2600" b="1" dirty="0">
                <a:solidFill>
                  <a:srgbClr val="1D5FBF"/>
                </a:solidFill>
                <a:latin typeface="Amiri" pitchFamily="2" charset="-78"/>
                <a:cs typeface="Amiri" pitchFamily="2" charset="-78"/>
              </a:rPr>
              <a:t>هُ</a:t>
            </a:r>
            <a:endParaRPr lang="ar-SA" sz="2600" dirty="0"/>
          </a:p>
        </p:txBody>
      </p:sp>
      <p:sp>
        <p:nvSpPr>
          <p:cNvPr id="23" name="Text 20"/>
          <p:cNvSpPr txBox="1"/>
          <p:nvPr/>
        </p:nvSpPr>
        <p:spPr>
          <a:xfrm>
            <a:off x="566928" y="2267712"/>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respect him.</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7982712" y="3023006"/>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أَحْتَرِمُ أُمِّي.</a:t>
            </a:r>
            <a:endParaRPr lang="ar-SA" sz="1950" dirty="0"/>
          </a:p>
        </p:txBody>
      </p:sp>
      <p:sp>
        <p:nvSpPr>
          <p:cNvPr id="28" name="Text 25"/>
          <p:cNvSpPr txBox="1"/>
          <p:nvPr/>
        </p:nvSpPr>
        <p:spPr>
          <a:xfrm>
            <a:off x="7936992" y="3414004"/>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respect my mother.</a:t>
            </a:r>
            <a:endParaRPr lang="en-US" sz="950" dirty="0"/>
          </a:p>
        </p:txBody>
      </p:sp>
      <p:sp>
        <p:nvSpPr>
          <p:cNvPr id="29" name="Text 26"/>
          <p:cNvSpPr txBox="1"/>
          <p:nvPr/>
        </p:nvSpPr>
        <p:spPr>
          <a:xfrm>
            <a:off x="4690872" y="3004718"/>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أَحْتَرِمُ</a:t>
            </a:r>
            <a:pPr rtl="1" algn="ctr" indent="0" marL="0">
              <a:buNone/>
            </a:pPr>
            <a:r>
              <a:rPr lang="ar-SA" altLang="en-US" sz="2600" b="1" dirty="0">
                <a:solidFill>
                  <a:srgbClr val="D6336C"/>
                </a:solidFill>
                <a:latin typeface="Amiri" pitchFamily="2" charset="-78"/>
                <a:cs typeface="Amiri" pitchFamily="2" charset="-78"/>
              </a:rPr>
              <a:t>هَا</a:t>
            </a:r>
            <a:endParaRPr lang="ar-SA" sz="2600" dirty="0"/>
          </a:p>
        </p:txBody>
      </p:sp>
      <p:sp>
        <p:nvSpPr>
          <p:cNvPr id="30" name="Text 27"/>
          <p:cNvSpPr txBox="1"/>
          <p:nvPr/>
        </p:nvSpPr>
        <p:spPr>
          <a:xfrm>
            <a:off x="566928" y="300471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respect her.</a:t>
            </a:r>
            <a:endParaRPr lang="en-US" sz="11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7982712" y="3760013"/>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أَبِي يَدْعَمُ ابْنَهُ.</a:t>
            </a:r>
            <a:endParaRPr lang="ar-SA" sz="1950" dirty="0"/>
          </a:p>
        </p:txBody>
      </p:sp>
      <p:sp>
        <p:nvSpPr>
          <p:cNvPr id="35" name="Text 32"/>
          <p:cNvSpPr txBox="1"/>
          <p:nvPr/>
        </p:nvSpPr>
        <p:spPr>
          <a:xfrm>
            <a:off x="7936992" y="4151010"/>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father supports his son.</a:t>
            </a:r>
            <a:endParaRPr lang="en-US" sz="950" dirty="0"/>
          </a:p>
        </p:txBody>
      </p:sp>
      <p:sp>
        <p:nvSpPr>
          <p:cNvPr id="36" name="Text 33"/>
          <p:cNvSpPr txBox="1"/>
          <p:nvPr/>
        </p:nvSpPr>
        <p:spPr>
          <a:xfrm>
            <a:off x="4690872" y="3741725"/>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أَبِي يَدْعَمُ</a:t>
            </a:r>
            <a:pPr rtl="1" algn="ctr" indent="0" marL="0">
              <a:buNone/>
            </a:pPr>
            <a:r>
              <a:rPr lang="ar-SA" altLang="en-US" sz="2600" b="1" dirty="0">
                <a:solidFill>
                  <a:srgbClr val="0E7C86"/>
                </a:solidFill>
                <a:latin typeface="Amiri" pitchFamily="2" charset="-78"/>
                <a:cs typeface="Amiri" pitchFamily="2" charset="-78"/>
              </a:rPr>
              <a:t>نِي</a:t>
            </a:r>
            <a:endParaRPr lang="ar-SA" sz="2600" dirty="0"/>
          </a:p>
        </p:txBody>
      </p:sp>
      <p:sp>
        <p:nvSpPr>
          <p:cNvPr id="37" name="Text 34"/>
          <p:cNvSpPr txBox="1"/>
          <p:nvPr/>
        </p:nvSpPr>
        <p:spPr>
          <a:xfrm>
            <a:off x="566928" y="3741725"/>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father supports me.</a:t>
            </a:r>
            <a:endParaRPr lang="en-US" sz="11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7982712" y="4497019"/>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أُخْتِي تُسَاعِدُ أَخَاهَا.</a:t>
            </a:r>
            <a:endParaRPr lang="ar-SA" sz="1950" dirty="0"/>
          </a:p>
        </p:txBody>
      </p:sp>
      <p:sp>
        <p:nvSpPr>
          <p:cNvPr id="42" name="Text 39"/>
          <p:cNvSpPr txBox="1"/>
          <p:nvPr/>
        </p:nvSpPr>
        <p:spPr>
          <a:xfrm>
            <a:off x="7936992" y="4888017"/>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sister helps her brother.</a:t>
            </a:r>
            <a:endParaRPr lang="en-US" sz="950" dirty="0"/>
          </a:p>
        </p:txBody>
      </p:sp>
      <p:sp>
        <p:nvSpPr>
          <p:cNvPr id="43" name="Text 40"/>
          <p:cNvSpPr txBox="1"/>
          <p:nvPr/>
        </p:nvSpPr>
        <p:spPr>
          <a:xfrm>
            <a:off x="4690872" y="4478731"/>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أُخْتِي تُسَاعِدُ</a:t>
            </a:r>
            <a:pPr rtl="1" algn="ctr" indent="0" marL="0">
              <a:buNone/>
            </a:pPr>
            <a:r>
              <a:rPr lang="ar-SA" altLang="en-US" sz="2600" b="1" dirty="0">
                <a:solidFill>
                  <a:srgbClr val="0E7C86"/>
                </a:solidFill>
                <a:latin typeface="Amiri" pitchFamily="2" charset="-78"/>
                <a:cs typeface="Amiri" pitchFamily="2" charset="-78"/>
              </a:rPr>
              <a:t>نِي</a:t>
            </a:r>
            <a:endParaRPr lang="ar-SA" sz="2600" dirty="0"/>
          </a:p>
        </p:txBody>
      </p:sp>
      <p:sp>
        <p:nvSpPr>
          <p:cNvPr id="44" name="Text 41"/>
          <p:cNvSpPr txBox="1"/>
          <p:nvPr/>
        </p:nvSpPr>
        <p:spPr>
          <a:xfrm>
            <a:off x="566928" y="4478731"/>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sister helps me.</a:t>
            </a:r>
            <a:endParaRPr lang="en-US" sz="110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7982712" y="5234026"/>
            <a:ext cx="36576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نَتَفَاهَمُ مَعَ أَصْدِقَائِنَا.</a:t>
            </a:r>
            <a:endParaRPr lang="ar-SA" sz="1950" dirty="0"/>
          </a:p>
        </p:txBody>
      </p:sp>
      <p:sp>
        <p:nvSpPr>
          <p:cNvPr id="47" name="Text 44"/>
          <p:cNvSpPr txBox="1"/>
          <p:nvPr/>
        </p:nvSpPr>
        <p:spPr>
          <a:xfrm>
            <a:off x="7936992" y="5625023"/>
            <a:ext cx="37490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get on with our friends.</a:t>
            </a:r>
            <a:endParaRPr lang="en-US" sz="950" dirty="0"/>
          </a:p>
        </p:txBody>
      </p:sp>
      <p:sp>
        <p:nvSpPr>
          <p:cNvPr id="48" name="Text 45"/>
          <p:cNvSpPr txBox="1"/>
          <p:nvPr/>
        </p:nvSpPr>
        <p:spPr>
          <a:xfrm>
            <a:off x="4690872" y="5215738"/>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نَتَفَاهَمُ مَعَ</a:t>
            </a:r>
            <a:pPr rtl="1" algn="ctr" indent="0" marL="0">
              <a:buNone/>
            </a:pPr>
            <a:r>
              <a:rPr lang="ar-SA" altLang="en-US" sz="2600" b="1" dirty="0">
                <a:solidFill>
                  <a:srgbClr val="1D5FBF"/>
                </a:solidFill>
                <a:latin typeface="Amiri" pitchFamily="2" charset="-78"/>
                <a:cs typeface="Amiri" pitchFamily="2" charset="-78"/>
              </a:rPr>
              <a:t>هُمْ</a:t>
            </a:r>
            <a:endParaRPr lang="ar-SA" sz="2600" dirty="0"/>
          </a:p>
        </p:txBody>
      </p:sp>
      <p:sp>
        <p:nvSpPr>
          <p:cNvPr id="49" name="Text 46"/>
          <p:cNvSpPr txBox="1"/>
          <p:nvPr/>
        </p:nvSpPr>
        <p:spPr>
          <a:xfrm>
            <a:off x="566928" y="521573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get on with them.</a:t>
            </a:r>
            <a:endParaRPr lang="en-US" sz="11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Front of the verb = WHO does it (ya- he · ta- she). End of the verb = WHO receives it (-nī me · -hu him · -hā her).</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WITH, TOGETHER, AND WHY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Get on with · we argue · because we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مَعَ · نَتَـ · لِأَنَّنَا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WITH · CORE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مَعَ</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أَتَفَاهَمُ مَعَ أُخْتِي، وَأَخْتَلِفُ مَعَ أَخِي أَحْيَانًا.</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get on with my sister, and I sometimes disagree with my brother.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Never drop maʿa.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TOGETHER · DEVELOP</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نَتَـ…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نَتَشَاجَرُ ثُمَّ نَتَصَالَحُ.</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argue, then we make up.</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na- = we, to each other.</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16586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WHY · DEVELOP</a:t>
            </a:r>
            <a:endParaRPr lang="en-US" sz="850" dirty="0"/>
          </a:p>
        </p:txBody>
      </p:sp>
      <p:sp>
        <p:nvSpPr>
          <p:cNvPr id="34" name="Text 31"/>
          <p:cNvSpPr txBox="1"/>
          <p:nvPr/>
        </p:nvSpPr>
        <p:spPr>
          <a:xfrm>
            <a:off x="1805940"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لِأَنَّنَا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نَتَفَاهَمُ لِأَنَّنَا نَسْتَمِعُ إِلَى بَعْضِنَا.</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get on because we listen to each other.</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Because we = li-annanā.</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do not drop maʿa after “I get on”.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cs typeface="Amiri" pitchFamily="2" charset="-78"/>
              </a:rPr>
              <a:t>أَتَفَاهَمُ مَعَ أُخْتِي.</a:t>
            </a:r>
            <a:endParaRPr lang="ar-SA" sz="21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أَتَفَاهَمُ أُخْتِي.</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Relationship verbs, object pronouns and reciprocity</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00" b="1" dirty="0">
                <a:solidFill>
                  <a:srgbClr val="8A6D1E"/>
                </a:solidFill>
                <a:latin typeface="Amiri" pitchFamily="2" charset="-78"/>
                <a:cs typeface="Amiri" pitchFamily="2" charset="-78"/>
              </a:rPr>
              <a:t>أَفْعَالُ العَلَاقَاتِ وَضَمَائِرُ المَفْعُولِ وَالتَّبَادُلُ</a:t>
            </a:r>
            <a:endParaRPr lang="ar-SA" sz="22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Get on with / disagree with</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أَتَفَاهَمُ مَعَ / أَخْتَلِفُ مَعَ + شَخْصٍ</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أَتَفَاهَمُ مَعَ أُخْتِي.   ·   أَخْتَلِفُ مَعَ صَدِيقِي أَحْيَانًا.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Object pronouns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يَدْعَمُنِي / أُسَاعِدُهُ / أَحْتَرِمُهَا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أَبِي يَدْعَمُنِي.   ·   أَنَا أَحْتَرِمُهَا.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Reciprocal actions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نَتَعَاوَنُ / نَتَشَاجَرُ / نَتَصَالَحُ</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نَتَعَاوَنُ فِي البَيْتِ.   ·   نَتَشَاجَرُ ثُمَّ نَتَصَالَحُ.</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Explain the relationship</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نَتَفَاهَمُ لِأَنَّنَا ... / نَخْتَلِفُ لِأَنَّ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نَتَفَاهَمُ لِأَنَّنَا نَسْتَمِعُ إِلَى بَعْضِنَا.   ·   نَخْتَلِفُ لِأَنَّ آرَاءَنَا مُخْتَلِفَةٌ.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أُخْتِي.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يَتَفَاهَمُ مَعَ أُخْتِي.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مَعَ أُخْتِي.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supports me</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support him</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supports us</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تَحْتَرِمُنِي.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نَتَفَاهَمُ ___ نَسْتَمِعُ إِلَى بَعْضِنَا.</a:t>
            </a:r>
            <a:endParaRPr lang="ar-SA" sz="15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لِأَنَّنَا</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وَلٰكِنَّهَا</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أَتَفَاهَمُ أُخْتِي.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يَتَفَاهَمُ مَعَ أُخْتِي.</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أَتَفَاهَمُ مَعَ أُخْتِي.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أَتَفَاهَمُ 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supports me</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support him</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supports us</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ـني</a:t>
            </a:r>
            <a:pPr algn="l" indent="0" marL="0">
              <a:buNone/>
            </a:pPr>
            <a:r>
              <a:rPr lang="en-US" sz="1050" i="1" dirty="0">
                <a:solidFill>
                  <a:srgbClr val="8A6D1E"/>
                </a:solidFill>
                <a:latin typeface="Calibri" pitchFamily="34" charset="0"/>
                <a:cs typeface="Amiri" pitchFamily="2" charset="-78"/>
              </a:rPr>
              <a:t> means me.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أَحْتَرِمُهُ.</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أَحْتَرِمُهَا.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تَحْتَرِمُنِي.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refers to her.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نَتَفَاهَمُ ___ نَسْتَمِعُ إِلَى بَعْضِنَا.</a:t>
            </a:r>
            <a:endParaRPr lang="ar-SA" sz="15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لِأَنَّنَا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وَلٰكِنَّهَا</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subject is we: </a:t>
            </a:r>
            <a:pPr algn="l" indent="0" marL="0">
              <a:buNone/>
            </a:pPr>
            <a:r>
              <a:rPr lang="ar-SA" altLang="en-US" sz="1350" dirty="0">
                <a:solidFill>
                  <a:srgbClr val="8A6D1E"/>
                </a:solidFill>
                <a:latin typeface="Amiri" pitchFamily="2" charset="-78"/>
                <a:cs typeface="Amiri" pitchFamily="2" charset="-78"/>
              </a:rPr>
              <a:t>لِأَنَّنَا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describe two relationships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Strong</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أَتَفَاهَمُ </a:t>
            </a:r>
            <a:pPr rtl="1" algn="ctr" indent="0" marL="0">
              <a:buNone/>
            </a:pPr>
            <a:r>
              <a:rPr lang="ar-SA" altLang="en-US" sz="2400" b="1" dirty="0">
                <a:solidFill>
                  <a:srgbClr val="0E7C86"/>
                </a:solidFill>
                <a:latin typeface="Amiri" pitchFamily="2" charset="-78"/>
                <a:cs typeface="Amiri" pitchFamily="2" charset="-78"/>
              </a:rPr>
              <a:t>مَعَ</a:t>
            </a:r>
            <a:pPr rtl="1" algn="ctr" indent="0" marL="0">
              <a:buNone/>
            </a:pPr>
            <a:r>
              <a:rPr lang="ar-SA" altLang="en-US" sz="2400" b="1" dirty="0">
                <a:solidFill>
                  <a:srgbClr val="1B3B6F"/>
                </a:solidFill>
                <a:latin typeface="Amiri" pitchFamily="2" charset="-78"/>
                <a:cs typeface="Amiri" pitchFamily="2" charset="-78"/>
              </a:rPr>
              <a:t> أُخْتِي جَيِّدًا.</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Get on WITH.</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Proof</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cs typeface="Amiri" pitchFamily="2" charset="-78"/>
              </a:rPr>
              <a:t>هِيَ تَدْعَمُ</a:t>
            </a:r>
            <a:pPr rtl="1" algn="ctr" indent="0" marL="0">
              <a:lnSpc>
                <a:spcPct val="120000"/>
              </a:lnSpc>
              <a:buNone/>
            </a:pPr>
            <a:r>
              <a:rPr lang="ar-SA" altLang="en-US" sz="1850" b="1" dirty="0">
                <a:solidFill>
                  <a:srgbClr val="D6336C"/>
                </a:solidFill>
                <a:latin typeface="Amiri" pitchFamily="2" charset="-78"/>
                <a:cs typeface="Amiri" pitchFamily="2" charset="-78"/>
              </a:rPr>
              <a:t>نِي</a:t>
            </a:r>
            <a:pPr rtl="1" algn="ctr" indent="0" marL="0">
              <a:lnSpc>
                <a:spcPct val="120000"/>
              </a:lnSpc>
              <a:buNone/>
            </a:pPr>
            <a:r>
              <a:rPr lang="ar-SA" altLang="en-US" sz="1850" b="1" dirty="0">
                <a:solidFill>
                  <a:srgbClr val="1B3B6F"/>
                </a:solidFill>
                <a:latin typeface="Amiri" pitchFamily="2" charset="-78"/>
                <a:cs typeface="Amiri" pitchFamily="2" charset="-78"/>
              </a:rPr>
              <a:t> عِنْدَمَا أَكُونُ قَلِقًا.</a:t>
            </a:r>
            <a:endParaRPr lang="ar-SA" sz="18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(ta-) … me (-nī).</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Difficult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أَخْتَلِفُ </a:t>
            </a:r>
            <a:pPr rtl="1" algn="ctr" indent="0" marL="0">
              <a:lnSpc>
                <a:spcPct val="120000"/>
              </a:lnSpc>
              <a:buNone/>
            </a:pPr>
            <a:r>
              <a:rPr lang="ar-SA" altLang="en-US" sz="1750" b="1" dirty="0">
                <a:solidFill>
                  <a:srgbClr val="0E7C86"/>
                </a:solidFill>
                <a:latin typeface="Amiri" pitchFamily="2" charset="-78"/>
                <a:cs typeface="Amiri" pitchFamily="2" charset="-78"/>
              </a:rPr>
              <a:t>مَعَ</a:t>
            </a:r>
            <a:pPr rtl="1" algn="ctr" indent="0" marL="0">
              <a:lnSpc>
                <a:spcPct val="120000"/>
              </a:lnSpc>
              <a:buNone/>
            </a:pPr>
            <a:r>
              <a:rPr lang="ar-SA" altLang="en-US" sz="1750" b="1" dirty="0">
                <a:solidFill>
                  <a:srgbClr val="1B3B6F"/>
                </a:solidFill>
                <a:latin typeface="Amiri" pitchFamily="2" charset="-78"/>
                <a:cs typeface="Amiri" pitchFamily="2" charset="-78"/>
              </a:rPr>
              <a:t> ابْنِ عَمِّي، وَأَحْيَانًا </a:t>
            </a:r>
            <a:pPr rtl="1" algn="ctr" indent="0" marL="0">
              <a:lnSpc>
                <a:spcPct val="120000"/>
              </a:lnSpc>
              <a:buNone/>
            </a:pPr>
            <a:r>
              <a:rPr lang="ar-SA" altLang="en-US" sz="1750" b="1" dirty="0">
                <a:solidFill>
                  <a:srgbClr val="1D5FBF"/>
                </a:solidFill>
                <a:latin typeface="Amiri" pitchFamily="2" charset="-78"/>
                <a:cs typeface="Amiri" pitchFamily="2" charset="-78"/>
              </a:rPr>
              <a:t>نَ</a:t>
            </a:r>
            <a:pPr rtl="1" algn="ctr" indent="0" marL="0">
              <a:lnSpc>
                <a:spcPct val="120000"/>
              </a:lnSpc>
              <a:buNone/>
            </a:pPr>
            <a:r>
              <a:rPr lang="ar-SA" altLang="en-US" sz="1750" b="1" dirty="0">
                <a:solidFill>
                  <a:srgbClr val="1B3B6F"/>
                </a:solidFill>
                <a:latin typeface="Amiri" pitchFamily="2" charset="-78"/>
                <a:cs typeface="Amiri" pitchFamily="2" charset="-78"/>
              </a:rPr>
              <a:t>تَشَاجَرُ.</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We → na-.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Solution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وَلٰكِنَّنَا </a:t>
            </a:r>
            <a:pPr rtl="1" algn="ctr" indent="0" marL="0">
              <a:lnSpc>
                <a:spcPct val="120000"/>
              </a:lnSpc>
              <a:buNone/>
            </a:pPr>
            <a:r>
              <a:rPr lang="ar-SA" altLang="en-US" sz="1750" b="1" dirty="0">
                <a:solidFill>
                  <a:srgbClr val="1D5FBF"/>
                </a:solidFill>
                <a:latin typeface="Amiri" pitchFamily="2" charset="-78"/>
                <a:cs typeface="Amiri" pitchFamily="2" charset="-78"/>
              </a:rPr>
              <a:t>نَ</a:t>
            </a:r>
            <a:pPr rtl="1" algn="ctr" indent="0" marL="0">
              <a:lnSpc>
                <a:spcPct val="120000"/>
              </a:lnSpc>
              <a:buNone/>
            </a:pPr>
            <a:r>
              <a:rPr lang="ar-SA" altLang="en-US" sz="1750" b="1" dirty="0">
                <a:solidFill>
                  <a:srgbClr val="1B3B6F"/>
                </a:solidFill>
                <a:latin typeface="Amiri" pitchFamily="2" charset="-78"/>
                <a:cs typeface="Amiri" pitchFamily="2" charset="-78"/>
              </a:rPr>
              <a:t>تَصَالَحُ </a:t>
            </a:r>
            <a:pPr rtl="1" algn="ctr" indent="0" marL="0">
              <a:lnSpc>
                <a:spcPct val="120000"/>
              </a:lnSpc>
              <a:buNone/>
            </a:pPr>
            <a:r>
              <a:rPr lang="ar-SA" altLang="en-US" sz="1750" b="1" dirty="0">
                <a:solidFill>
                  <a:srgbClr val="0E7C86"/>
                </a:solidFill>
                <a:latin typeface="Amiri" pitchFamily="2" charset="-78"/>
                <a:cs typeface="Amiri" pitchFamily="2" charset="-78"/>
              </a:rPr>
              <a:t>لِأَنَّنَا</a:t>
            </a:r>
            <a:pPr rtl="1" algn="ctr" indent="0" marL="0">
              <a:lnSpc>
                <a:spcPct val="120000"/>
              </a:lnSpc>
              <a:buNone/>
            </a:pPr>
            <a:r>
              <a:rPr lang="ar-SA" altLang="en-US" sz="1750" b="1" dirty="0">
                <a:solidFill>
                  <a:srgbClr val="1B3B6F"/>
                </a:solidFill>
                <a:latin typeface="Amiri" pitchFamily="2" charset="-78"/>
                <a:cs typeface="Amiri" pitchFamily="2" charset="-78"/>
              </a:rPr>
              <a:t> نَحْتَرِمُ بَعْضَنَا.</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Because we …</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WITH / BECAUSE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OBJECT ENDING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WE (NA-)</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أَتَفَاهَمُ </a:t>
            </a:r>
            <a:pPr rtl="1" algn="r" indent="0" marL="0">
              <a:lnSpc>
                <a:spcPct val="120000"/>
              </a:lnSpc>
              <a:buNone/>
            </a:pPr>
            <a:r>
              <a:rPr lang="ar-SA" altLang="en-US" sz="1400" b="1" dirty="0">
                <a:solidFill>
                  <a:srgbClr val="0E7C86"/>
                </a:solidFill>
                <a:latin typeface="Amiri" pitchFamily="2" charset="-78"/>
                <a:cs typeface="Amiri" pitchFamily="2" charset="-78"/>
              </a:rPr>
              <a:t>مَعَ</a:t>
            </a:r>
            <a:pPr rtl="1" algn="r" indent="0" marL="0">
              <a:lnSpc>
                <a:spcPct val="120000"/>
              </a:lnSpc>
              <a:buNone/>
            </a:pPr>
            <a:r>
              <a:rPr lang="ar-SA" altLang="en-US" sz="1400" b="1" dirty="0">
                <a:solidFill>
                  <a:srgbClr val="1B3B6F"/>
                </a:solidFill>
                <a:latin typeface="Amiri" pitchFamily="2" charset="-78"/>
                <a:cs typeface="Amiri" pitchFamily="2" charset="-78"/>
              </a:rPr>
              <a:t> أُخْتِي جَيِّدًا؛ هِيَ تَدْعَمُ</a:t>
            </a:r>
            <a:pPr rtl="1" algn="r" indent="0" marL="0">
              <a:lnSpc>
                <a:spcPct val="120000"/>
              </a:lnSpc>
              <a:buNone/>
            </a:pPr>
            <a:r>
              <a:rPr lang="ar-SA" altLang="en-US" sz="1400" b="1" dirty="0">
                <a:solidFill>
                  <a:srgbClr val="D6336C"/>
                </a:solidFill>
                <a:latin typeface="Amiri" pitchFamily="2" charset="-78"/>
                <a:cs typeface="Amiri" pitchFamily="2" charset="-78"/>
              </a:rPr>
              <a:t>نِي</a:t>
            </a:r>
            <a:pPr rtl="1" algn="r" indent="0" marL="0">
              <a:lnSpc>
                <a:spcPct val="120000"/>
              </a:lnSpc>
              <a:buNone/>
            </a:pPr>
            <a:r>
              <a:rPr lang="ar-SA" altLang="en-US" sz="1400" b="1" dirty="0">
                <a:solidFill>
                  <a:srgbClr val="1B3B6F"/>
                </a:solidFill>
                <a:latin typeface="Amiri" pitchFamily="2" charset="-78"/>
                <a:cs typeface="Amiri" pitchFamily="2" charset="-78"/>
              </a:rPr>
              <a:t> عِنْدَمَا أَكُونُ قَلِقًا، وَأَنَا أُسَاعِدُ</a:t>
            </a:r>
            <a:pPr rtl="1" algn="r" indent="0" marL="0">
              <a:lnSpc>
                <a:spcPct val="120000"/>
              </a:lnSpc>
              <a:buNone/>
            </a:pPr>
            <a:r>
              <a:rPr lang="ar-SA" altLang="en-US" sz="1400" b="1" dirty="0">
                <a:solidFill>
                  <a:srgbClr val="D6336C"/>
                </a:solidFill>
                <a:latin typeface="Amiri" pitchFamily="2" charset="-78"/>
                <a:cs typeface="Amiri" pitchFamily="2" charset="-78"/>
              </a:rPr>
              <a:t>هَا</a:t>
            </a:r>
            <a:pPr rtl="1" algn="r" indent="0" marL="0">
              <a:lnSpc>
                <a:spcPct val="120000"/>
              </a:lnSpc>
              <a:buNone/>
            </a:pPr>
            <a:r>
              <a:rPr lang="ar-SA" altLang="en-US" sz="1400" b="1" dirty="0">
                <a:solidFill>
                  <a:srgbClr val="1B3B6F"/>
                </a:solidFill>
                <a:latin typeface="Amiri" pitchFamily="2" charset="-78"/>
                <a:cs typeface="Amiri" pitchFamily="2" charset="-78"/>
              </a:rPr>
              <a:t> فِي وَاجِبِهَا. أَمَّا ابْنُ عَمِّي فَأَخْتَلِفُ </a:t>
            </a:r>
            <a:pPr rtl="1" algn="r" indent="0" marL="0">
              <a:lnSpc>
                <a:spcPct val="120000"/>
              </a:lnSpc>
              <a:buNone/>
            </a:pPr>
            <a:r>
              <a:rPr lang="ar-SA" altLang="en-US" sz="1400" b="1" dirty="0">
                <a:solidFill>
                  <a:srgbClr val="0E7C86"/>
                </a:solidFill>
                <a:latin typeface="Amiri" pitchFamily="2" charset="-78"/>
                <a:cs typeface="Amiri" pitchFamily="2" charset="-78"/>
              </a:rPr>
              <a:t>مَعَهُ</a:t>
            </a:r>
            <a:pPr rtl="1" algn="r" indent="0" marL="0">
              <a:lnSpc>
                <a:spcPct val="120000"/>
              </a:lnSpc>
              <a:buNone/>
            </a:pPr>
            <a:r>
              <a:rPr lang="ar-SA" altLang="en-US" sz="1400" b="1" dirty="0">
                <a:solidFill>
                  <a:srgbClr val="1B3B6F"/>
                </a:solidFill>
                <a:latin typeface="Amiri" pitchFamily="2" charset="-78"/>
                <a:cs typeface="Amiri" pitchFamily="2" charset="-78"/>
              </a:rPr>
              <a:t> أَحْيَانًا، وَ</a:t>
            </a:r>
            <a:pPr rtl="1" algn="r" indent="0" marL="0">
              <a:lnSpc>
                <a:spcPct val="120000"/>
              </a:lnSpc>
              <a:buNone/>
            </a:pPr>
            <a:r>
              <a:rPr lang="ar-SA" altLang="en-US" sz="1400" b="1" dirty="0">
                <a:solidFill>
                  <a:srgbClr val="1D5FBF"/>
                </a:solidFill>
                <a:latin typeface="Amiri" pitchFamily="2" charset="-78"/>
                <a:cs typeface="Amiri" pitchFamily="2" charset="-78"/>
              </a:rPr>
              <a:t>نَ</a:t>
            </a:r>
            <a:pPr rtl="1" algn="r" indent="0" marL="0">
              <a:lnSpc>
                <a:spcPct val="120000"/>
              </a:lnSpc>
              <a:buNone/>
            </a:pPr>
            <a:r>
              <a:rPr lang="ar-SA" altLang="en-US" sz="1400" b="1" dirty="0">
                <a:solidFill>
                  <a:srgbClr val="1B3B6F"/>
                </a:solidFill>
                <a:latin typeface="Amiri" pitchFamily="2" charset="-78"/>
                <a:cs typeface="Amiri" pitchFamily="2" charset="-78"/>
              </a:rPr>
              <a:t>تَشَاجَرُ حَوْلَ الحَاسُوبِ، وَلٰكِنَّنَا </a:t>
            </a:r>
            <a:pPr rtl="1" algn="r" indent="0" marL="0">
              <a:lnSpc>
                <a:spcPct val="120000"/>
              </a:lnSpc>
              <a:buNone/>
            </a:pPr>
            <a:r>
              <a:rPr lang="ar-SA" altLang="en-US" sz="1400" b="1" dirty="0">
                <a:solidFill>
                  <a:srgbClr val="1D5FBF"/>
                </a:solidFill>
                <a:latin typeface="Amiri" pitchFamily="2" charset="-78"/>
                <a:cs typeface="Amiri" pitchFamily="2" charset="-78"/>
              </a:rPr>
              <a:t>نَ</a:t>
            </a:r>
            <a:pPr rtl="1" algn="r" indent="0" marL="0">
              <a:lnSpc>
                <a:spcPct val="120000"/>
              </a:lnSpc>
              <a:buNone/>
            </a:pPr>
            <a:r>
              <a:rPr lang="ar-SA" altLang="en-US" sz="1400" b="1" dirty="0">
                <a:solidFill>
                  <a:srgbClr val="1B3B6F"/>
                </a:solidFill>
                <a:latin typeface="Amiri" pitchFamily="2" charset="-78"/>
                <a:cs typeface="Amiri" pitchFamily="2" charset="-78"/>
              </a:rPr>
              <a:t>تَصَالَحُ سَرِيعًا </a:t>
            </a:r>
            <a:pPr rtl="1" algn="r" indent="0" marL="0">
              <a:lnSpc>
                <a:spcPct val="120000"/>
              </a:lnSpc>
              <a:buNone/>
            </a:pPr>
            <a:r>
              <a:rPr lang="ar-SA" altLang="en-US" sz="1400" b="1" dirty="0">
                <a:solidFill>
                  <a:srgbClr val="0E7C86"/>
                </a:solidFill>
                <a:latin typeface="Amiri" pitchFamily="2" charset="-78"/>
                <a:cs typeface="Amiri" pitchFamily="2" charset="-78"/>
              </a:rPr>
              <a:t>لِأَنَّنَا</a:t>
            </a:r>
            <a:pPr rtl="1" algn="r" indent="0" marL="0">
              <a:lnSpc>
                <a:spcPct val="120000"/>
              </a:lnSpc>
              <a:buNone/>
            </a:pPr>
            <a:r>
              <a:rPr lang="ar-SA" altLang="en-US" sz="1400" b="1" dirty="0">
                <a:solidFill>
                  <a:srgbClr val="1B3B6F"/>
                </a:solidFill>
                <a:latin typeface="Amiri" pitchFamily="2" charset="-78"/>
                <a:cs typeface="Amiri" pitchFamily="2" charset="-78"/>
              </a:rPr>
              <a:t> نَحْتَرِمُ بَعْضَنَا.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get on well with my sister; she supports me when I am worried, and I help her with her homework. As for my cousin, I sometimes disagree with him, and we argue about the computer, but we make up quickly because we respect each other.</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أَتَفَاهَمُ مَعَ أُخْتِي.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get on with my sister.</a:t>
            </a:r>
            <a:endParaRPr lang="en-US" sz="1250" dirty="0"/>
          </a:p>
          <a:p>
            <a:pPr indent="0" marL="0">
              <a:buNone/>
            </a:pPr>
            <a:r>
              <a:rPr lang="en-US" sz="1050" i="1" dirty="0">
                <a:solidFill>
                  <a:srgbClr val="8A6D1E"/>
                </a:solidFill>
                <a:latin typeface="Calibri" pitchFamily="34" charset="0"/>
                <a:cs typeface="Amiri" pitchFamily="2" charset="-78"/>
              </a:rPr>
              <a:t>Get on WITH (مَعَ).</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أَبِي يَدْعَمُنِي.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father supports me.</a:t>
            </a:r>
            <a:endParaRPr lang="en-US" sz="1250" dirty="0"/>
          </a:p>
          <a:p>
            <a:pPr indent="0" marL="0">
              <a:buNone/>
            </a:pPr>
            <a:r>
              <a:rPr lang="en-US" sz="1050" i="1" dirty="0">
                <a:solidFill>
                  <a:srgbClr val="8A6D1E"/>
                </a:solidFill>
                <a:latin typeface="Calibri" pitchFamily="34" charset="0"/>
                <a:cs typeface="Amiri" pitchFamily="2" charset="-78"/>
              </a:rPr>
              <a:t>Object ending: -nī = me.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نَتَعَاوَنُ فِي البَيْتِ.</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cooperate at home.</a:t>
            </a:r>
            <a:endParaRPr lang="en-US" sz="1250" dirty="0"/>
          </a:p>
          <a:p>
            <a:pPr indent="0" marL="0">
              <a:buNone/>
            </a:pPr>
            <a:r>
              <a:rPr lang="en-US" sz="1050" i="1" dirty="0">
                <a:solidFill>
                  <a:srgbClr val="8A6D1E"/>
                </a:solidFill>
                <a:latin typeface="Calibri" pitchFamily="34" charset="0"/>
                <a:cs typeface="Amiri" pitchFamily="2" charset="-78"/>
              </a:rPr>
              <a:t>Reciprocal: na- = we.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نَتَفَاهَمُ لِأَنَّنَا نَسْتَمِعُ إِلَى بَعْضِنَا.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get on because we listen to each other.</a:t>
            </a:r>
            <a:endParaRPr lang="en-US" sz="1250" dirty="0"/>
          </a:p>
          <a:p>
            <a:pPr indent="0" marL="0">
              <a:buNone/>
            </a:pPr>
            <a:r>
              <a:rPr lang="en-US" sz="1050" i="1" dirty="0">
                <a:solidFill>
                  <a:srgbClr val="8A6D1E"/>
                </a:solidFill>
                <a:latin typeface="Calibri" pitchFamily="34" charset="0"/>
                <a:cs typeface="Amiri" pitchFamily="2" charset="-78"/>
              </a:rPr>
              <a:t>Reason: because we.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RELATIONSHIPS — FAMILY, FRIENDS AND HOW WE GET ON”</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How do they get on? Match the picture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العَلَاقَاتِ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getting on well</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disagreeing</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helping each other</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نَخْتَلِفُ أَحْيَانًا.</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نُسَاعِدُ بَعْضَنَا بَعْضًا.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هُمَا يَتَفَاهَمَانِ جَيِّدًا.</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العَلَاقَاتِ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getting on well</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هُمَا يَتَفَاهَمَانِ جَيِّدًا.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They (two) get on well.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disagreeing</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نَخْتَلِفُ أَحْيَانًا.</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disagree sometimes.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helping each other</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نُسَاعِدُ بَعْضَنَا بَعْضًا.</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help each other.</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Accurate or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أَتَفَاهَمُ مَعَ أُخْتِي.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أَبِي يَدْعَمُنِي.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أَحْتَرِمُهَا.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نَتَشَاجَرُ ثُمَّ نَتَصَالَحُ.</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أَتَفَاهَمُ أُخْتِي.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أُمِّي يَدْعَمُنِي.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نَتَفَاهَمُ لِأَنَّهُ نَسْتَمِعُ.</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أَنَا يَحْتَرِمُهَا.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أَتَفَاهَمُ مَعَ أُخْتِي.</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أَبِي يَدْعَمُنِي.</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أَحْتَرِمُهَا.</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نَتَشَاجَرُ ثُمَّ نَتَصَالَحُ.</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أَتَفَاهَمُ أُخْتِي.</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أُمِّي يَدْعَمُنِي.</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نَتَفَاهَمُ لِأَنَّهُ نَسْتَمِعُ.</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أَنَا يَحْتَرِمُهَا.</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“we argue”?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نَتَصَالَحُ</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نَتَعَاوَنُ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نَتَشَاجَرُ</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pronoun reference to “my brother”.</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يُسَاعِدُنِي.</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developed answer.</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عَلَاقَتُنَا.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عَلَاقَتُنَا قَوِيَّةٌ لِأَنَّنَا نَثِقُ بِبَعْضِنَا.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نَعَمْ.</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بَعْدَ أَنْ نَتَشَاجَرَ، ___ سَرِيعًا.</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أَتَفَاهَمُهُ</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يَدْعَمُنِي</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نَتَصَالَحُ</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“we argue”?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نَتَصَالَحُ</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نَتَعَاوَنُ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نَتَشَاجَرُ</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نَتَشَاجَرُ</a:t>
            </a:r>
            <a:pPr algn="l" indent="0" marL="0">
              <a:buNone/>
            </a:pPr>
            <a:r>
              <a:rPr lang="en-US" sz="1050" i="1" dirty="0">
                <a:solidFill>
                  <a:srgbClr val="8A6D1E"/>
                </a:solidFill>
                <a:latin typeface="Calibri" pitchFamily="34" charset="0"/>
                <a:cs typeface="Amiri" pitchFamily="2" charset="-78"/>
              </a:rPr>
              <a:t> = we argue.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pronoun reference to “my brother”.</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أُسَاعِدُهَا.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أُسَاعِدُهُ.</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يُسَاعِدُنِي.</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refers to him.</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developed answer.</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عَلَاقَتُنَا.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عَلَاقَتُنَا قَوِيَّةٌ لِأَنَّنَا نَثِقُ بِبَعْضِنَا.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نَعَمْ.</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gives a judgement and reason.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بَعْدَ أَنْ نَتَشَاجَرَ، ___ سَرِيعًا.</a:t>
            </a:r>
            <a:endParaRPr lang="ar-SA" sz="150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أَتَفَاهَمُهُ</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يَدْعَمُنِي</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نَتَصَالَحُ</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 make up after arguing.</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أَتَفَاهَمُ أُخْتِي.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Get on … WITH?</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أُمِّي يَدْعَمُنِي.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mother = he or she?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أَحْتَرِمُ أُمِّي؛ أَحْتَرِمُهُ.</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Mother → which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أَتَفَاهَمُ أُخْتِي.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أَتَفَاهَمُ مَعَ أُخْتِي.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cs typeface="Amiri" pitchFamily="2" charset="-78"/>
              </a:rPr>
              <a:t>مَعَ</a:t>
            </a:r>
            <a:pPr algn="l" indent="0" marL="0">
              <a:buNone/>
            </a:pPr>
            <a:r>
              <a:rPr lang="en-US" sz="1150" b="1" dirty="0">
                <a:solidFill>
                  <a:srgbClr val="1B3B6F"/>
                </a:solidFill>
                <a:latin typeface="Calibri" pitchFamily="34" charset="0"/>
                <a:cs typeface="Amiri" pitchFamily="2" charset="-78"/>
              </a:rPr>
              <a:t> after </a:t>
            </a:r>
            <a:pPr algn="l" indent="0" marL="0">
              <a:buNone/>
            </a:pPr>
            <a:r>
              <a:rPr lang="ar-SA" altLang="en-US" sz="1500" b="1" dirty="0">
                <a:solidFill>
                  <a:srgbClr val="1B3B6F"/>
                </a:solidFill>
                <a:latin typeface="Amiri" pitchFamily="2" charset="-78"/>
                <a:cs typeface="Amiri" pitchFamily="2" charset="-78"/>
              </a:rPr>
              <a:t>أَتَفَاهَمُ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أُمِّي يَدْعَمُنِي.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أُمِّي تَدْعَمُنِي.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My mother = she → </a:t>
            </a:r>
            <a:pPr algn="l" indent="0" marL="0">
              <a:buNone/>
            </a:pPr>
            <a:r>
              <a:rPr lang="ar-SA" altLang="en-US" sz="1500" b="1" dirty="0">
                <a:solidFill>
                  <a:srgbClr val="1B3B6F"/>
                </a:solidFill>
                <a:latin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أَحْتَرِمُ أُمِّي؛ أَحْتَرِمُهُ.</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أَحْتَرِمُ أُمِّي؛ أَحْتَرِمُهَا.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ـهَا</a:t>
            </a:r>
            <a:pPr algn="l" indent="0" marL="0">
              <a:buNone/>
            </a:pPr>
            <a:r>
              <a:rPr lang="en-US" sz="1150" b="1" dirty="0">
                <a:solidFill>
                  <a:srgbClr val="1B3B6F"/>
                </a:solidFill>
                <a:latin typeface="Calibri" pitchFamily="34" charset="0"/>
                <a:cs typeface="Amiri" pitchFamily="2" charset="-78"/>
              </a:rPr>
              <a:t> refers to her.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focus: relationships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Samer?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older brother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classmate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cousin</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speaker usually get on with him?</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buys presents</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very quiet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listens and supports the speaker’s studies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they sometimes disagree about?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football</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homework</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the computer</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after they argue?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talk and make up quickly</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stop speaking for days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mother decides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speaker respect him?</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older</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honest and helpful</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funny</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أَحْتَرِمُهُ</a:t>
            </a:r>
            <a:pPr algn="l" indent="0" marL="0">
              <a:buNone/>
            </a:pPr>
            <a:r>
              <a:rPr lang="en-US" sz="1250" b="1" dirty="0">
                <a:solidFill>
                  <a:srgbClr val="1B3B6F"/>
                </a:solidFill>
                <a:latin typeface="Calibri" pitchFamily="34" charset="0"/>
                <a:cs typeface="Amiri" pitchFamily="2" charset="-78"/>
              </a:rPr>
              <a:t>, who is respected?</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Samer (him)</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(me)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mother (her)</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أَخٌ أَكْبَرُ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الحَاسُوبِ</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نَتَصَالَحُ</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لَدَيَّ أَخٌ أَكْبَرُ يُسَمَّى سَامِرًا.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have an older brother called Samer.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أَتَفَاهَمُ مَعَهُ عَادَةً لِأَنَّهُ يَسْتَمِعُ إِلَيَّ وَيَدْعَمُنِي فِي دِرَاسَتِي.</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usually get on with him because he listens to me and supports me in my studies.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وَلٰكِنَّنَا نَخْتَلِفُ أَحْيَانًا حَوْلَ اسْتِخْدَامِ الحَاسُوبِ.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we sometimes disagree about using the computer.</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عِنْدَمَا نَتَشَاجَرُ، نَتَكَلَّمُ بَعْدَ ذٰلِكَ وَنَتَصَالَحُ سَرِيعًا.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we argue, we talk afterwards and make up quickly.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أَحْتَرِمُهُ لِأَنَّهُ صَادِقٌ وَمُتَعَاوِنٌ.</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respect him because he is honest and helpful.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Samer?</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the speaker’s older brother</a:t>
            </a:r>
            <a:endParaRPr lang="en-US" sz="12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classmate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cousin</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لَدَيَّ أَخٌ أَكْبَرُ يُسَمَّى سَامِرًا.</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speaker usually get on with him?</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buys presents</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is very quiet</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 listens and supports the speaker’s studies</a:t>
            </a:r>
            <a:endParaRPr lang="en-US" sz="11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لِأَنَّهُ يَسْتَمِعُ إِلَيَّ وَيَدْعَمُنِي فِي دِرَاسَتِي.</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they sometimes disagree about?</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football</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homework</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using the computer</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نَخْتَلِفُ أَحْيَانًا حَوْلَ اسْتِخْدَامِ الحَاسُوبِ.</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after they argue?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talk and make up quickly</a:t>
            </a:r>
            <a:endParaRPr lang="en-US" sz="11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they stop speaking for days</a:t>
            </a:r>
            <a:endParaRPr lang="en-US" sz="120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their mother decides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نَتَكَلَّمُ بَعْدَ ذٰلِكَ وَنَتَصَالَحُ سَرِيعًا.</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speaker respect him?</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is older</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is honest and helpful</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is funny</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أَحْتَرِمُهُ لِأَنَّهُ صَادِقٌ وَمُتَعَاوِنٌ.</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أَحْتَرِمُهُ</a:t>
            </a:r>
            <a:pPr algn="l" indent="0" marL="0">
              <a:buNone/>
            </a:pPr>
            <a:r>
              <a:rPr lang="en-US" sz="1250" b="1" dirty="0">
                <a:solidFill>
                  <a:srgbClr val="1B3B6F"/>
                </a:solidFill>
                <a:latin typeface="Calibri" pitchFamily="34" charset="0"/>
                <a:cs typeface="Amiri" pitchFamily="2" charset="-78"/>
              </a:rPr>
              <a:t>, who is respected?</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Samer (him)</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 (me)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mother (her)</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 = him.</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أَخٌ أَكْبَرُ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الحَاسُوبِ</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نَتَصَالَحُ</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B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Family-tree challenge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B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Family-tree challenge</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Build a mini family tree from clues, then explain at least four relationships using possessive endings or idāfa without pointing at the answer.</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posts 5 clues about an invented family (in Arabic, in the chat).</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Students draw the mini family tree in their books (2 minutes).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Then explain four relationships WITHOUT pointing: “Ahmad is Salma’s brother”.</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Show the tree to the camera; the class checks it.</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Name two relationships with “my” (akhī, ukhtī, ummī).</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relationships with iḍāfa (akhū Salmā) or -hu / -hā.</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relationships + one sentence about how two people get on (yatafāhamāni).</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أَخُو سَلْمَى</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Salma’s brother</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أُخْتُهُ / أُخْتُهَا</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his / her sister</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جَدُّهُمَا</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their (two) grandfather</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يَتَفَاهَمَانِ جَيِّدًا</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they (two) get on well</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Developed speaking: relationships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عَلَاقَتَكَ بِصَدِيقٍ مُقَرَّبٍ.</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يَدْعَمُكَ وَكَيْفَ؟</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تَخْتَلِفُ مَعَ أَحَدٍ فِي أُسْرَتِكَ؟</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الَّذِي يَجْعَلُ العَلَاقَةَ قَوِيَّةً؟</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أَتَفَاهَمُ مَعَ ___ لِأَنَّ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___ يَدْعَمُنِي / تَدْعَمُنِي عِنْدَمَا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نَتَشَاجَرُ أَحْيَانًا حَوْلَ ___ ، وَلٰكِنَّنَا ___ .</a:t>
            </a:r>
            <a:endParaRPr lang="ar-SA" sz="145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العَلَاقَةُ القَوِيَّةُ تَحْتَاجُ إِلَى ___ لِأَنَّ ___ .</a:t>
            </a:r>
            <a:endParaRPr lang="ar-SA" sz="14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مَنْ يَدْعَمُكَ فِي دِرَاسَتِكَ؟</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supports you in your studies?</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أُخْتِي تَدْعَمُنِي وَتُسَاعِدُنِي.</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My sister supports and helps me.</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relationship: get on with … · … supports me · one reason (because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relationships with object endings (him / her / me) and “we argue … we make up”.</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an independently controlled relative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one strong and one sometimes difficult relationship — actions, feelings, reasons and how problems are resolved.</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أَتَفَاهَمُ مَعَ ______ لِأَنَّهُ / لِأَنَّهَا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get on with … because he / she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أَخْتَلِفُ مَعَ ______ أَحْيَانًا حَوْلَ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sometimes disagree with … about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أُسَاعِدُهُ / أُسَاعِدُهَا فِي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help him / her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نَتَفَاهَمُ لِأَنَّنَا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get on because we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الرَّغْمِ مِنْ أَنَّنَا نَخْتَلِفُ ،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we disagree,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أَتَفَاهَمُ مَعَ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get on with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يَدْعَمُنِي / تَدْعَمُنِي.</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supports me (he / she).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أَحْتَرِمُهُ / أَحْتَرِمُهَا.</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respect him / her.</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أَحْيَانًا نَتَشَاجَرُ.</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sometimes argue.</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ثُمَّ نَتَصَالَحُ.</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we make up.</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أَتَفَاهَمُ مَعَ  ·  أَخْتَلِفُ مَعَ  ·  أَثِقُ بِـ  ·  أَحْتَرِمُهُ / أَحْتَرِمُهَا  ·  يَدْعَمُنِي  ·  تَدْعَمُنِي  ·  نَتَشَاجَرُ  ·  نَتَصَالَحُ  ·  صَدِيقٌ مُقَرَّبٌ  ·  عَلَاقَةٌ قَوِيَّةٌ  ·  لِأَنَّنَا  ·  وَلٰكِنَّنَا</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about two relationships: one strong and one sometimes difficult. Explain actions, feelings, object pronouns, reasons and how problems are resolved.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نَثِقُ بِبَعْضِنَا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trust each other</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عِنْدَمَا أَكُونُ قَلِقًا / قَلِقَةً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I am worried (m. / f.)</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أَصْعَبُ نَوْعًا مَا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somewhat more difficult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نَتَكَلَّمُ بِهُدُوءٍ</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talk calmly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يُسَاعِدَانِ النَّاسَ عَلَى فَهْمِ بَعْضِهِمْ</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help people understand each other</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عَلَاقَتِي بِأُخْتِي قَوِيَّةٌ لِأَنَّنَا نَتَفَاهَمُ وَنَثِقُ بِبَعْضِنَا. هِيَ تَدْعَمُنِي عِنْدَمَا أَكُونُ قَلِقًا، وَأَنَا أُسَاعِدُهَا فِي وَاجِبِهَا. أَمَّا عِلَاقَتِي بِابْنِ عَمِّي فَهِيَ أَصْعَبُ نَوْعًا مَا، لِأَنَّنَا نَخْتَلِفُ حَوْلَ أَلْعَابِ الحَاسُوبِ. أَحْيَانًا نَتَشَاجَرُ، وَلٰكِنَّنَا نَتَكَلَّمُ بِهُدُوءٍ وَنَتَصَالَحُ بَعْدَ ذٰلِكَ. فِي رَأْيِي، الاِحْتِرَامُ وَالاِسْتِمَاعُ أَهَمُّ شَيْئَيْنِ فِي أَيِّ عِلَاقَةٍ، لِأَنَّهُمَا يُسَاعِدَانِ النَّاسَ عَلَى فَهْمِ بَعْضِهِمْ.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relationship with my sister is strong because we get on and trust each other. She supports me when I am worried, and I help her with her homework. As for my relationship with my cousin, it is somewhat more difficult, because we disagree about computer games. Sometimes we argue, but we talk calmly and make up afterwards. In my opinion, respect and listening are the two most important things in any relationship, because they help people understand each other.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object endings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reciprocal “we” verb</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reason with لِأَنَّنَا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opinion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“get on WITH” (maʿa).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 reason with “because”.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object endings match the person (-hu / -hā / -nī).</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“we” verb (we argue / we make up).</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how a problem is solved.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مَعَ أُخْتِي.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أُخْتِي.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يَتَفَاهَمُ مَعَ أُخْتِي.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support him</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supports me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supports us</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تَحْتَرِمُنِي.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أَتَفَاهَمُ مَعَ أُخْتِي.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أَتَفَاهَمُ أُخْتِي.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يَتَفَاهَمُ مَعَ أُخْتِي.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أَتَفَاهَمُ 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support him</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supports me</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supports us</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ـني</a:t>
            </a:r>
            <a:pPr algn="l" indent="0" marL="0">
              <a:buNone/>
            </a:pPr>
            <a:r>
              <a:rPr lang="en-US" sz="1050" i="1" dirty="0">
                <a:solidFill>
                  <a:srgbClr val="8A6D1E"/>
                </a:solidFill>
                <a:latin typeface="Calibri" pitchFamily="34" charset="0"/>
                <a:cs typeface="Amiri" pitchFamily="2" charset="-78"/>
              </a:rPr>
              <a:t> means me.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أَحْتَرِمُهَا.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أَحْتَرِمُهُ.</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تَحْتَرِمُنِي.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refers to her.</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focus: relationships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تَكْتُبُ لَيْلَى عَنْ صَدِيقَتِهَا هِنْدٍ. تَقُولُ إِنَّ عَلَاقَتَهُمَا قَوِيَّةٌ لِأَنَّهُمَا تَثِقَانِ بِبَعْضِهِمَا وَتَقْضِيَانِ الوَقْتَ مَعًا. هِنْدٌ تَدْعَمُ لَيْلَى عِنْدَمَا تَكُونُ قَلِقَةً، وَلَيْلَى تُسَاعِدُهَا فِي الدِّرَاسَةِ. عَلَى الرَّغْمِ مِنْ أَنَّهُمَا تَخْتَلِفَانِ فِي بَعْضِ الآرَاءِ، فَإِنَّهُمَا تَسْتَمِعَانِ إِلَى بَعْضِهِمَا وَتَحْتَرِمَانِ الاِخْتِلَافَ.</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تَكْتُبُ</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writes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عَلَاقَتَهُمَا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their (two) relationship</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تَثِقَانِ بِبَعْضِهِمَا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(two) trust each other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تَقْضِيَانِ الوَقْتَ مَعًا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(two) spend time together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قَلِقَةً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worried (f.)</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تُسَاعِدُهَا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helps her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تَخْتَلِفَانِ</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(two) differ</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الآرَاءِ</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opinions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تَسْتَمِعَانِ</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(two) listen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الاِخْتِلَافَ</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difference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Hind?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 sister</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 friend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 teacher</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their relationship strong?</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live in the same house</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never disagree</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trust each other and spend time together</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Hind help Layla?</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supports her when she is worried</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cooks for her</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drives her to school</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Layla help Hind?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shopping</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her studies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sport</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 they always agree?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they differ in some opinions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always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text does not say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they do about their differences?</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argue every day</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 talking</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 to each other and respect the difference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Hind?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Layla’s sister</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Layla’s friend</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Layla’s teacher</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صَدِيقَتِهَا هِنْدٍ.</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their relationship strong?</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they live in the same house</a:t>
            </a:r>
            <a:endParaRPr lang="en-US" sz="120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never disagree</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trust each other and spend time together</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تَثِقَانِ بِبَعْضِهِمَا وَتَقْضِيَانِ الوَقْتَ مَعًا.</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Hind help Layla?</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supports her when she is worried</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cooks for her</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drives her to school</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تَدْعَمُ لَيْلَى عِنْدَمَا تَكُونُ قَلِقَةً.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Layla help Hind?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shopping</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her studies</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sport</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لَيْلَى تُسَاعِدُهَا فِي الدِّرَاسَةِ.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 they always agree?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no — they differ in some opinions</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always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text does not say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تَخْتَلِفَانِ فِي بَعْضِ الآرَاءِ.</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they do about their differences?</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argue every day</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 talking</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listen to each other and respect the difference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تَسْتَمِعَانِ … وَتَحْتَرِمَانِ الاِخْتِلَافَ.</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relationships Arabic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أُخْتِي.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أَتَفَاهَمُ مَعَ أُخْتِي.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يَتَفَاهَمُ مَعَ أُخْتِي.</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supports me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support him</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supports us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تَحْتَرِمُنِي.</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أَحْتَرِمُهَا.</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cs typeface="Amiri" pitchFamily="2" charset="-78"/>
              </a:rPr>
              <a:t>نَتَفَاهَمُ ___ نَسْتَمِعُ إِلَى بَعْضِنَا.</a:t>
            </a:r>
            <a:endParaRPr lang="ar-SA" sz="11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وَلٰكِنَّهَا</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لِأَنَّنَا</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“we argue”?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نَتَشَاجَرُ</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نَتَصَالَحُ</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نَتَعَاوَنُ</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pronoun reference to “my brother”.</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أُسَاعِدُهَا.</a:t>
            </a:r>
            <a:endParaRPr lang="ar-SA" sz="2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أُسَاعِدُهُ.</a:t>
            </a:r>
            <a:endParaRPr lang="ar-SA" sz="2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يُسَاعِدُنِي.</a:t>
            </a:r>
            <a:endParaRPr lang="ar-SA" sz="2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أَتَفَاهَمُ أُخْتِي.</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أَتَفَاهَمُ مَعَ أُخْتِي.</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يَتَفَاهَمُ مَعَ أُخْتِي.</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أَتَفَاهَمُ 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supports me</a:t>
            </a:r>
            <a:endParaRPr lang="en-US" sz="12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support him</a:t>
            </a:r>
            <a:endParaRPr lang="en-US" sz="12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supports us</a:t>
            </a:r>
            <a:endParaRPr lang="en-US" sz="12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ـني</a:t>
            </a:r>
            <a:pPr algn="l" indent="0" marL="0">
              <a:buNone/>
            </a:pPr>
            <a:r>
              <a:rPr lang="en-US" sz="1050" i="1" dirty="0">
                <a:solidFill>
                  <a:srgbClr val="8A6D1E"/>
                </a:solidFill>
                <a:latin typeface="Calibri" pitchFamily="34" charset="0"/>
                <a:cs typeface="Amiri" pitchFamily="2" charset="-78"/>
              </a:rPr>
              <a:t> means me.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أَحْتَرِمُهُ.</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تَحْتَرِمُنِي.</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أَحْتَرِمُهَا.</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refers to her.</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3"/>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cs typeface="Amiri" pitchFamily="2" charset="-78"/>
              </a:rPr>
              <a:t>نَتَفَاهَمُ ___ نَسْتَمِعُ إِلَى بَعْضِنَا.</a:t>
            </a:r>
            <a:endParaRPr lang="ar-SA" sz="11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وَلٰكِنَّهَا</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لِأَنَّنَا</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subject is we: </a:t>
            </a:r>
            <a:pPr algn="l" indent="0" marL="0">
              <a:buNone/>
            </a:pPr>
            <a:r>
              <a:rPr lang="ar-SA" altLang="en-US" sz="1350" dirty="0">
                <a:solidFill>
                  <a:srgbClr val="8A6D1E"/>
                </a:solidFill>
                <a:latin typeface="Amiri" pitchFamily="2" charset="-78"/>
                <a:cs typeface="Amiri" pitchFamily="2" charset="-78"/>
              </a:rPr>
              <a:t>لِأَنَّنَا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“we argue”?</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نَتَشَاجَرُ</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نَتَصَالَحُ</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نَتَعَاوَنُ</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نَتَشَاجَرُ</a:t>
            </a:r>
            <a:pPr algn="l" indent="0" marL="0">
              <a:buNone/>
            </a:pPr>
            <a:r>
              <a:rPr lang="en-US" sz="1050" i="1" dirty="0">
                <a:solidFill>
                  <a:srgbClr val="8A6D1E"/>
                </a:solidFill>
                <a:latin typeface="Calibri" pitchFamily="34" charset="0"/>
                <a:cs typeface="Amiri" pitchFamily="2" charset="-78"/>
              </a:rPr>
              <a:t> = we argue.</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pronoun reference to “my brother”.</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أُسَاعِدُهَا.</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أُسَاعِدُهُ.</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يُسَاعِدُنِي.</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refers to him.</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TB-L02 · Family and Friends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TB-L03: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TB-L03 · Appearance and Personality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طَوِيلُ / طَوِيلَةُ القَامَةِ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tall (m. / f.)</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قَصِيرُ / قَصِيرَةُ القَامَةِ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short (m. / f.)</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شَعْرٌ مُجَعَّدٌ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curly hair</a:t>
            </a:r>
            <a:pPr indent="0" marL="0">
              <a:buNone/>
            </a:pPr>
            <a:r>
              <a:rPr lang="en-US" sz="1000" i="1" dirty="0">
                <a:solidFill>
                  <a:srgbClr val="5A6472"/>
                </a:solidFill>
                <a:latin typeface="Calibri" pitchFamily="34" charset="0"/>
                <a:cs typeface="Amiri" pitchFamily="2" charset="-78"/>
              </a:rPr>
              <a:t>  straight: مُسْتَقِيمٌ</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عَيْنَانِ بُنِّيَّتَانِ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brown eyes</a:t>
            </a:r>
            <a:pPr indent="0" marL="0">
              <a:buNone/>
            </a:pPr>
            <a:r>
              <a:rPr lang="en-US" sz="1000" i="1" dirty="0">
                <a:solidFill>
                  <a:srgbClr val="5A6472"/>
                </a:solidFill>
                <a:latin typeface="Calibri" pitchFamily="34" charset="0"/>
                <a:cs typeface="Amiri" pitchFamily="2" charset="-78"/>
              </a:rPr>
              <a:t>  one eye: عَيْنٌ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يَرْتَدِي / تَرْتَدِي نَظَّارَةً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 she wears glasses</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a famous person or a character from a book. How would you describe their appearance?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كَيْفَ شَكْلُهُ؟ كَيْفَ شَكْلُهَا؟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TB-L02: the picture game and the vocabulary tab (relationship actions).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 sentences about two relationships with object endings.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 one strong and one difficult relationship.</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TB-L03 · Appearance and Personality</a:t>
            </a:r>
            <a:endParaRPr lang="en-US" sz="2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المَظْهَرُ وَالشَّخْصِيَّةُ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front of the verb = who does it; end of the verb = who receives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TB-L02 · Family, Friends and Relationships</dc:title>
  <dc:subject>PptxGenJS Presentation</dc:subject>
  <dc:creator>Al Madina Online School · Arabic Department</dc:creator>
  <cp:lastModifiedBy>Al Madina Online School · Arabic Department</cp:lastModifiedBy>
  <cp:revision>1</cp:revision>
  <dcterms:created xsi:type="dcterms:W3CDTF">2026-10-11T06:43:48Z</dcterms:created>
  <dcterms:modified xsi:type="dcterms:W3CDTF">2026-10-11T06:43:48Z</dcterms:modified>
</cp:coreProperties>
</file>