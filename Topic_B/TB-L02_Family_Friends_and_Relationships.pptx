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Lst>
  <p:notesMasterIdLst>
    <p:notesMasterId r:id="rId48"/>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notesMaster" Target="notesMasters/notesMaster1.xml"/><Relationship Id="rId49" Type="http://schemas.openxmlformats.org/officeDocument/2006/relationships/presProps" Target="presProps.xml"/><Relationship Id="rId50" Type="http://schemas.openxmlformats.org/officeDocument/2006/relationships/viewProps" Target="viewProps.xml"/><Relationship Id="rId51" Type="http://schemas.openxmlformats.org/officeDocument/2006/relationships/theme" Target="theme/theme1.xml"/><Relationship Id="rId52"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ADVANCED TOPIC B · TB-L02 — Family, Friends and Relationships. Website: Advanced Topics › Topic B (Personal and Social Life) › Lesson 2.
The website builds this lesson on the D2-L02 lesson engine, with the Topic focus “Explain family links, friendship and changing relationships with precise vocabulary.” (grammar: Possessive endings; idāfa; dual and plural; skills: Listening · Speaking) and the application challenge “Family-tree challenge”. This deck follows the same engine, re-sequenced for Topic B: lesson references now point to Topic B codes (lessons outside Topic B keep their website code), and the challenge is added before the speaking task.
No year group: Topic lessons are taught to any class following the Advanced Topics route.
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Development › Topic B People, Relationships and Style › TB-L02. The website lesson “Relationships — Family, Friends and How We Get On”: vocabulary, grammar rules and quiz, patterns, common mistakes, sorter, listening, reading, speaking prompts and model, writing task and model, differentiation, final check and the lesson mission. Picture match: website visual game “Relationships — Family, Friends and How We Get On”.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Core: three chunks learnt whole — أَتَفَاهَمُ مَعَ … (I get on with) · … يَدْعَمُنِي (… supports me) · نَتَشَاجَرُ ثُمَّ نَتَصَالَحُ (we argue, then make up) — plus one reason (because …).
• Develop: object endings (أُسَاعِدُهُ / أَحْتَرِمُهَا) — the same endings as D1-L05 (website) — and لِأَنَّنَا for “because we”. Stretch: a strong and a difficult relationship compared, with how problems are solved.
• Sensitivity: family situations differ. Students may describe a friend, a cousin or an invented person; “sometimes difficult” should stay light (computer, TV, chores).
• Urdu bridge: تعلقات، احترام، اعتماد (→ ثقة), مدد (→ أُسَاعِدُ by meaning), صلح.
• TEACHER-WRITTEN ITEMS: on the website this lesson’s patterns, mistakes, sorter, listening, reading items are generic placeholders, so the deck uses teacher-written questions and translations built on the website’s own script and text (flagged for the website editor).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DO NOW (5 min independent + 2 min going through answers).
Questions 1–2 test two of the five words prepared at home. Questions 3–5 retrieve D2-L01 (website) (agreement, لِأَنَّهَا) and D1-L05 (website) (object endings).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The ending on the verb shows who RECEIVES the action: -nī me · -hu him · -hā 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The route statements turn the website objectives into this lesson’s concrete targets.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تعلق / تعلقات → عَلَاقَةٌ (same root ع-ل-ق). احترام → أَحْتَرِمُ (I respect). وثوق (trust, formal Urdu) → أَثِقُ بِـ. صلح (peace, reconciliation) → نَتَصَالَحُ (we make up). قوی (strong) → قَوِيٌّ / قَوِيَّةٌ.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Relationship actions (website vocabulary (1 of 2)). Hear → Say → See → Use. Transliteration is printed for Core students (cover it for Develop/Stretch).
يَدْعَمُنِي vs تَدْعَمُنِي: the FRONT tells you who supports (he / she); the END (-nī) tells you it is me. Ask: “who is doing it, who receives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Relationship actions (website vocabulary (2 of 2)). Hear → Say → See → Use. Transliteration is printed for Core students (cover it for Develop/Stretch).
يَدْعَمُنِي vs تَدْعَمُنِي: the FRONT tells you who supports (he / she); the END (-nī) tells you it is me. Ask: “who is doing it, who receives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Relationship outcomes (website vocabulary). Hear → Say → See → Use. Transliteration is printed for Core students (cover it for Develop/Stretch).
نَتَصَالَحُ and نَتَشَاجَرُ start with na- = we: things we do TO EACH OTHER.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Reasons and contrast (website vocabulary (1 of 2)). Hear → Say → See → Use. Transliteration is printed for Core students (cover it for Develop/Stretch).
FLEX: teach if time allows; otherwise these are on the website vocabulary tab for homework.
Reasons and contrast (FLEX) — the same connectors in every Topic B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Reasons and contrast (website vocabulary (2 of 2)). Hear → Say → See → Use. Transliteration is printed for Core students (cover it for Develop/Stretch).
FLEX: teach if time allows; otherwise these are on the website vocabulary tab for homework.
Reasons and contrast (FLEX) — the same connectors in every Topic B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PART 1 — website rule “Object pronouns” (the suffix shows who receives the action) and the website table (With noun · With pronoun). Recycles D1-L05 (website) (أُسَاعِدُهَا).
Website common error: attaching the wrong gender — أَحْتَرِمُهُ for a woman ✗ → أَحْتَرِمُهَا ✓.
Quick-fire: teacher says a person (أُمِّي / أَخِي / أَصْدِقَائِي); students answer أَحْتَرِمُهَا / أَحْتَرِمُهُ / أَحْتَرِمُهُمْ.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PART 2 — website rules “Get on with / disagree with” (use مَعَ), “Reciprocal actions” (the نَـ form: what we do together or to one another) and “Explain the relationship” (give a reason, not just a label).
Reason forms to learn: لِأَنَّهُ (because he) · لِأَنَّهَا (because she) · لِأَنَّنَا (because we) · لِأَنَّنِي (because 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WEBSITE GRAMMAR RULES AND EXAMPLES (FLEX — revision or homework). Website overview: “Describe how people treat one another, who receives an action and why a relationship succeeds or becomes difficult.”
• Get on with / disagree with: Use مَعَ after these relationship verbs.
• Object pronouns: The suffix shows who receives the action.
• Reciprocal actions: The نَـ form can describe what we do together or to one another.
• Explain the relationship: Give a reason, not merely a positive or negative label.
Website common error: Do not omit مَعَ after أَتَفَاهَمُ or attach the wrong object-pronoun gender.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 2, 3, 4.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website patterns and the website writing model condensed into one strong and one difficult relationship, with a think-aloud (“who does it? who receives it? why?”).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patterns. Students copy TWO that are useful for them.
• Core: copy one and change one word. • Develop: copy two and change the subject. • Stretch: combine two into one longer sentence with a connector.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 the website’s interactive lesson game (“Visual game — Relationships — Family, Friends and How We Get On”)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Stretch: يَتَفَاهَمَانِ is the DUAL (they two) — the -āni ending. Other cards for homework: صَدِيقَتَانِ مُقَرَّبَتَانِ (two close friends, f.), عَلَاقَتِي بِعَائِلَتِي جَيِّدَةٌ, نَتَحَدَّثُ كَثِيرًا مَعًا.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 the website’s interactive lesson game (“Visual game — Relationships — Family, Friends and How We Get On”)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Stretch: يَتَفَاهَمَانِ is the DUAL (they two) — the -āni ending. Other cards for homework: صَدِيقَتَانِ مُقَرَّبَتَانِ (two close friends, f.), عَلَاقَتِي بِعَائِلَتِي جَيِّدَةٌ, نَتَحَدَّثُ كَثِيرًا مَعًا.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Decide whether each Arabic sentence is accurate (right preposition, right ending, right person).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Decide whether each Arabic sentence is accurate (right preposition, right ending, right person).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questions 5, 6, 7, 8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LISTENING (4 min) — website script. Read it aloud yourself, twice, at natural speed with pauses.
Before listening: students read the questions (● 30s). Core: questions 1, 3 and 4. Develop / Stretch: all 6. (Questions are teacher-written: the website questions for this script are generic.)
Listen 1: just listen. Listen 2: note answers. Then chat the letters.
Support: after the second listening, show the read-along slide (Arabic + English, line by line) for Core students.
SCRIPT (read aloud):
لَدَيَّ أَخٌ أَكْبَرُ يُسَمَّى سَامِرًا. أَتَفَاهَمُ مَعَهُ عَادَةً لِأَنَّهُ يَسْتَمِعُ إِلَيَّ وَيَدْعَمُنِي فِي دِرَاسَتِي. وَلٰكِنَّنَا نَخْتَلِفُ أَحْيَانًا حَوْلَ اسْتِخْدَامِ الحَاسُوبِ. عِنْدَمَا نَتَشَاجَرُ، نَتَكَلَّمُ بَعْدَ ذٰلِكَ وَنَتَصَالَحُ سَرِيعًا. أَحْتَرِمُهُ لِأَنَّهُ صَادِقٌ وَمُتَعَاوِنٌ.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TOPIC B APPLICATION CHALLENGE (3 min — it takes the speaking-rehearsal slot; the website speaking slide after it is FLEX) — from the website Topic page: “Build a mini family tree from clues, then explain at least four relationships using possessive endings or idāfa without pointing at the answer.”
Clues to paste: خَالِدٌ وَمَرْيَمُ زَوْجَانِ. لَهُمَا ابْنٌ اسْمُهُ أَحْمَدُ وَبِنْتٌ اسْمُهَا سَلْمَى. أَحْمَدُ أَكْبَرُ مِنْ سَلْمَى. جَدَّةُ أَحْمَدَ اسْمُهَا فَاطِمَةُ، وَهِيَ أُمُّ خَالِدٍ. سَلْمَى تَتَفَاهَمُ مَعَ جَدَّتِهَا جَيِّدًا. → Tree: Fatima → Khalid + Maryam → Ahmad (older), Salma. Website Topic B challenge “Family-tree challenge” (possessive endings or iḍāfa).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FLEX — the Topic B challenge before this slide is the main speaking task; use these website prompts if time allows or as homework rehearsal.
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A: هَلْ تَخْتَلِفَانِ أَحْيَانًا؟ (Do you sometimes disagree?)
B: نَعَمْ، وَلٰكِنَّنَا نَتَصَالَحُ سَرِيعًا. (Yes, but we make up quickly.)
Website prompts (order changed for routes). Website model continues: A: هَلْ تَخْتَلِفَانِ أَحْيَانًا؟ (Do you two sometimes disagree?) B: نَعَمْ، وَلٰكِنَّنَا نَتَصَالَحُ سَرِيعًا. (Yes, but we make up quickly.)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Secure the main vocabulary and produce four accurate sentences using the taught frame. · Develop — Combine description, grammar and a reason in connected answers. · Stretch — Add comparison, contrast, precise evidence and an independently controlled relative clause.
Website writing task (Stretch): Write 100–120 Arabic words about two relationships: one strong and one sometimes difficult. Explain actions, feelings, object pronouns, reasons and how problems are resolved.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FEEDBACK (1 min) — website model answer, with an English translation for Core students.
Students find in the model (● 20s → ◎) the four items on the chips. Evidence: تَدْعَمُنِي، أُسَاعِدُهَا · نَتَفَاهَمُ، نَثِقُ، نَتَشَاجَرُ، نَتَصَالَحُ · لِأَنَّنَا نَتَفَاهَمُ، لِأَنَّنَا نَخْتَلِفُ · فِي رَأْيِي، الاِحْتِرَامُ وَالاِسْتِمَاعُ أَهَمُّ شَيْئَيْنِ. (Website spelling note: the model writes عِلَاقَة in two places; the standard spelling is عَلَاقَة, as in the vocabulary.)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6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EXTENSION — website reading text. For fast finishers during You Do, or Stretch homework. “You don’t need every word; find the words the question asks about.”
The green key-words panel is a teacher-made glossary so Develop students can also attempt it.
SEND reading strategy (Toolkit 1): cover the text with a piece of paper and uncover one sentence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LESSON MISSION (FLEX) — fast finishers or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(TB-L03 · Appearance and Personality) will spend class time USING this language, so students prepare it tonight — short, simple, easy to access (school guidance: “Simple, Short, Interesting, Relevant, Easy to access”). The five words come from the website TB-L07 vocabulary (clothes and accessories).
Follow-up: the next Do Now tests two of these words (Flipped Learning: keep it short AND follow up).
Homework by route (website tasks). No internet? Students copy the five words from this slide into their book now.
TOPIC B: the five words are the ones the TB-L03 Do Now tests (preparation list of the website D2-L05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image" Target="../media/image-20-5.png"/><Relationship Id="rId6" Type="http://schemas.openxmlformats.org/officeDocument/2006/relationships/image" Target="../media/image-20-6.png"/><Relationship Id="rId7" Type="http://schemas.openxmlformats.org/officeDocument/2006/relationships/slideLayout" Target="../slideLayouts/slideLayout1.xml"/><Relationship Id="rId8"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image" Target="../media/image-21-5.png"/><Relationship Id="rId6" Type="http://schemas.openxmlformats.org/officeDocument/2006/relationships/image" Target="../media/image-21-6.png"/><Relationship Id="rId7" Type="http://schemas.openxmlformats.org/officeDocument/2006/relationships/slideLayout" Target="../slideLayouts/slideLayout1.xml"/><Relationship Id="rId8"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1.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1.xml"/><Relationship Id="rId3" Type="http://schemas.openxmlformats.org/officeDocument/2006/relationships/notesSlide" Target="../notesSlides/notesSlide4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ADVANCED TOPIC B  ·  TB-L02</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TB-L02</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3300" b="1" dirty="0">
                <a:solidFill>
                  <a:srgbClr val="FFFFFF"/>
                </a:solidFill>
                <a:latin typeface="Cambria" pitchFamily="34" charset="0"/>
                <a:cs typeface="Amiri" pitchFamily="2" charset="-78"/>
              </a:rPr>
              <a:t>Family, Friends and Relationships</a:t>
            </a:r>
            <a:endParaRPr lang="en-US" sz="330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ea typeface="Amiri" pitchFamily="2" charset="-78"/>
                <a:cs typeface="Amiri" pitchFamily="2" charset="-78"/>
              </a:rPr>
              <a:t>العَائِلَةُ وَالأَصْدِقَاءُ وَالعَلَاقَاتُ</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Explain family links, friendship and changing relationships with precise vocabulary.</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TB-L02 · Advanced Topic B · Personal and Social Life</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Topic B · A1+ → B1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Advanced Topics › Topic B › TB-L02</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TB-L02 · Family and Friends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TB-L02</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46</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TB-L02 · Family and Friends</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TB-L02</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ea typeface="Amiri" pitchFamily="2" charset="-78"/>
                <a:cs typeface="Amiri" pitchFamily="2" charset="-78"/>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on with, supports me, we argue — and why.</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ea typeface="Amiri" pitchFamily="2" charset="-78"/>
                <a:cs typeface="Amiri" pitchFamily="2" charset="-78"/>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Picture match, decide accurate / inaccurate, fix and listen.</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ea typeface="Amiri" pitchFamily="2" charset="-78"/>
                <a:cs typeface="Amiri" pitchFamily="2" charset="-78"/>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at home for TB-L03.</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ea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46</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TB-L02 · Family and Friends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أَتَفَاهَمُ مَعَ</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 disagree with</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 get on with</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 trust</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صَدِيقٌ مُقَرَّبٌ</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close friend</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new friend</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relative</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“She is patient.”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هِيَ صَبُورٌ.</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هُوَ صَبُورَةٌ.</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هِيَ صَبُورَةٌ.</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هِيَ كَرِيمَةٌ</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تُسَاعِدُ الآخَرِينَ</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لِأَنَّهُ</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وَلٰكِنَّهُ</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لِأَنَّهَا</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“I help her”.</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أُسَاعِدُهَا</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أُسَاعِدُهُ</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تُسَاعِدُنِي</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46</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TB-L02 · Family and Friends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أَتَفَاهَمُ مَعَ</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 disagree with</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I get on with</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 trust</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صَدِيقٌ مُقَرَّبٌ</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close friend</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new friend</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relative</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“She is patient.”</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هِيَ صَبُورٌ.</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هُوَ صَبُورَةٌ.</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هِيَ صَبُورَةٌ.</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D2-L01 (website): she → -a(tun).</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هِيَ كَرِيمَةٌ</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تُسَاعِدُ الآخَرِينَ</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لِأَنَّهُ</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وَلٰكِنَّهُ</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لِأَنَّهَا</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D2-L01 (website): because SHE.</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“I help her”.</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أُسَاعِدُهَا</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أُسَاعِدُهُ</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تُسَاعِدُنِي</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D1-L05 (website) object endings.</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cs typeface="Amiri" pitchFamily="2" charset="-78"/>
              </a:rPr>
              <a:t>The ending on the verb shows who RECEIVES the action: -nī me · -hu him · -hā her.</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2200" b="1" dirty="0">
                <a:solidFill>
                  <a:srgbClr val="1B3B6F"/>
                </a:solidFill>
                <a:latin typeface="Amiri" pitchFamily="2" charset="-78"/>
                <a:ea typeface="Amiri" pitchFamily="2" charset="-78"/>
                <a:cs typeface="Amiri" pitchFamily="2" charset="-78"/>
              </a:rPr>
              <a:t>أَبِي يَدْعَمُ</a:t>
            </a:r>
            <a:pPr rtl="1" algn="ctr" indent="0" marL="0">
              <a:lnSpc>
                <a:spcPct val="120000"/>
              </a:lnSpc>
              <a:buNone/>
            </a:pPr>
            <a:r>
              <a:rPr lang="ar-SA" altLang="en-US" sz="2200" b="1" dirty="0">
                <a:solidFill>
                  <a:srgbClr val="D6336C"/>
                </a:solidFill>
                <a:latin typeface="Amiri" pitchFamily="2" charset="-78"/>
                <a:ea typeface="Amiri" pitchFamily="2" charset="-78"/>
                <a:cs typeface="Amiri" pitchFamily="2" charset="-78"/>
              </a:rPr>
              <a:t>نِي</a:t>
            </a:r>
            <a:pPr rtl="1" algn="ctr" indent="0" marL="0">
              <a:lnSpc>
                <a:spcPct val="120000"/>
              </a:lnSpc>
              <a:buNone/>
            </a:pPr>
            <a:r>
              <a:rPr lang="ar-SA" altLang="en-US" sz="2200" b="1" dirty="0">
                <a:solidFill>
                  <a:srgbClr val="1B3B6F"/>
                </a:solidFill>
                <a:latin typeface="Amiri" pitchFamily="2" charset="-78"/>
                <a:ea typeface="Amiri" pitchFamily="2" charset="-78"/>
                <a:cs typeface="Amiri" pitchFamily="2" charset="-78"/>
              </a:rPr>
              <a:t>  ·  أَحْتَرِمُ</a:t>
            </a:r>
            <a:pPr rtl="1" algn="ctr" indent="0" marL="0">
              <a:lnSpc>
                <a:spcPct val="120000"/>
              </a:lnSpc>
              <a:buNone/>
            </a:pPr>
            <a:r>
              <a:rPr lang="ar-SA" altLang="en-US" sz="2200" b="1" dirty="0">
                <a:solidFill>
                  <a:srgbClr val="1D5FBF"/>
                </a:solidFill>
                <a:latin typeface="Amiri" pitchFamily="2" charset="-78"/>
                <a:ea typeface="Amiri" pitchFamily="2" charset="-78"/>
                <a:cs typeface="Amiri" pitchFamily="2" charset="-78"/>
              </a:rPr>
              <a:t>هُ</a:t>
            </a:r>
            <a:pPr rtl="1" algn="ctr" indent="0" marL="0">
              <a:lnSpc>
                <a:spcPct val="120000"/>
              </a:lnSpc>
              <a:buNone/>
            </a:pPr>
            <a:r>
              <a:rPr lang="ar-SA" altLang="en-US" sz="2200" b="1" dirty="0">
                <a:solidFill>
                  <a:srgbClr val="1B3B6F"/>
                </a:solidFill>
                <a:latin typeface="Amiri" pitchFamily="2" charset="-78"/>
                <a:ea typeface="Amiri" pitchFamily="2" charset="-78"/>
                <a:cs typeface="Amiri" pitchFamily="2" charset="-78"/>
              </a:rPr>
              <a:t>  ·  أُسَاعِدُ</a:t>
            </a:r>
            <a:pPr rtl="1" algn="ctr" indent="0" marL="0">
              <a:lnSpc>
                <a:spcPct val="120000"/>
              </a:lnSpc>
              <a:buNone/>
            </a:pPr>
            <a:r>
              <a:rPr lang="ar-SA" altLang="en-US" sz="2200" b="1" dirty="0">
                <a:solidFill>
                  <a:srgbClr val="0E7C86"/>
                </a:solidFill>
                <a:latin typeface="Amiri" pitchFamily="2" charset="-78"/>
                <a:ea typeface="Amiri" pitchFamily="2" charset="-78"/>
                <a:cs typeface="Amiri" pitchFamily="2" charset="-78"/>
              </a:rPr>
              <a:t>هَا</a:t>
            </a:r>
            <a:endParaRPr lang="ar-SA" sz="220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46</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TB-L02 · Family and Friends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TB-L02</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ea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Control the key TB-L02 vocabulary in complete Arabic sentences.</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Understand and apply the target grammar: Relationship verbs, object pronouns and reciprocity.</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Extract precise evidence from an intermediate listening and reading text.</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Produce developed spoken and written Arabic with reasons and detail.</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say who I get on with and who supports me.</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give one reason with “because”.</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use object endings (supports me, I respect her).</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describe what we do together (we argue / we make up).</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compare a strong and a difficult relationship.</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explain how a problem is solved.</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46</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cs typeface="Amiri" pitchFamily="2" charset="-78"/>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cs typeface="Amiri" pitchFamily="2" charset="-78"/>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2" charset="-78"/>
                <a:ea typeface="Amiri" pitchFamily="2" charset="-78"/>
                <a:cs typeface="Amiri" pitchFamily="2" charset="-78"/>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cs typeface="Amiri" pitchFamily="2" charset="-78"/>
              </a:rPr>
              <a:t>20 words from the website in 3 groups. Learn the CORE words first. Hear it → say it → see it → use it.</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1</a:t>
            </a:r>
            <a:endParaRPr lang="en-US" sz="900" dirty="0"/>
          </a:p>
          <a:p>
            <a:pPr indent="0" marL="0">
              <a:buNone/>
            </a:pPr>
            <a:r>
              <a:rPr lang="en-US" sz="1200" b="1" dirty="0">
                <a:solidFill>
                  <a:srgbClr val="FFFFFF"/>
                </a:solidFill>
                <a:latin typeface="Calibri" pitchFamily="34" charset="0"/>
                <a:cs typeface="Amiri" pitchFamily="2" charset="-78"/>
              </a:rPr>
              <a:t>Relationship actions · 8</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2</a:t>
            </a:r>
            <a:endParaRPr lang="en-US" sz="900" dirty="0"/>
          </a:p>
          <a:p>
            <a:pPr indent="0" marL="0">
              <a:buNone/>
            </a:pPr>
            <a:r>
              <a:rPr lang="en-US" sz="1200" b="1" dirty="0">
                <a:solidFill>
                  <a:srgbClr val="FFFFFF"/>
                </a:solidFill>
                <a:latin typeface="Calibri" pitchFamily="34" charset="0"/>
                <a:cs typeface="Amiri" pitchFamily="2" charset="-78"/>
              </a:rPr>
              <a:t>Relationship outcomes · 4</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3</a:t>
            </a:r>
            <a:endParaRPr lang="en-US" sz="900" dirty="0"/>
          </a:p>
          <a:p>
            <a:pPr indent="0" marL="0">
              <a:buNone/>
            </a:pPr>
            <a:r>
              <a:rPr lang="en-US" sz="1200" b="1" dirty="0">
                <a:solidFill>
                  <a:srgbClr val="FFFFFF"/>
                </a:solidFill>
                <a:latin typeface="Calibri" pitchFamily="34" charset="0"/>
                <a:cs typeface="Amiri" pitchFamily="2" charset="-78"/>
              </a:rPr>
              <a:t>Reasons and contrast · 8</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cs typeface="Amiri" pitchFamily="2" charset="-78"/>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عَلَاقَةٌ</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‎تعلق‎ </a:t>
            </a:r>
            <a:pPr indent="0" marL="0">
              <a:buNone/>
            </a:pPr>
            <a:r>
              <a:rPr lang="en-US" sz="950" b="1" dirty="0">
                <a:solidFill>
                  <a:srgbClr val="2E8B57"/>
                </a:solidFill>
                <a:latin typeface="Calibri" pitchFamily="34" charset="0"/>
                <a:cs typeface="Amiri" pitchFamily="2" charset="-78"/>
              </a:rPr>
              <a:t> taʿalluq · connection, relationship</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أَحْتَرِمُ</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‎احترام‎ </a:t>
            </a:r>
            <a:pPr indent="0" marL="0">
              <a:buNone/>
            </a:pPr>
            <a:r>
              <a:rPr lang="en-US" sz="950" b="1" dirty="0">
                <a:solidFill>
                  <a:srgbClr val="2E8B57"/>
                </a:solidFill>
                <a:latin typeface="Calibri" pitchFamily="34" charset="0"/>
                <a:cs typeface="Amiri" pitchFamily="2" charset="-78"/>
              </a:rPr>
              <a:t> ihtirām · respect</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أَثِقُ بِـ</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‎وثوق‎ </a:t>
            </a:r>
            <a:pPr indent="0" marL="0">
              <a:buNone/>
            </a:pPr>
            <a:r>
              <a:rPr lang="en-US" sz="950" b="1" dirty="0">
                <a:solidFill>
                  <a:srgbClr val="2E8B57"/>
                </a:solidFill>
                <a:latin typeface="Calibri" pitchFamily="34" charset="0"/>
                <a:cs typeface="Amiri" pitchFamily="2" charset="-78"/>
              </a:rPr>
              <a:t> wusūq · confidence, trust</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نَتَصَالَحُ</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‎صلح‎ </a:t>
            </a:r>
            <a:pPr indent="0" marL="0">
              <a:buNone/>
            </a:pPr>
            <a:r>
              <a:rPr lang="en-US" sz="950" b="1" dirty="0">
                <a:solidFill>
                  <a:srgbClr val="2E8B57"/>
                </a:solidFill>
                <a:latin typeface="Calibri" pitchFamily="34" charset="0"/>
                <a:cs typeface="Amiri" pitchFamily="2" charset="-78"/>
              </a:rPr>
              <a:t> sulah · reconciliation → we make up</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قَوِيَّةٌ</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‎قوی‎ </a:t>
            </a:r>
            <a:pPr indent="0" marL="0">
              <a:buNone/>
            </a:pPr>
            <a:r>
              <a:rPr lang="en-US" sz="950" b="1" dirty="0">
                <a:solidFill>
                  <a:srgbClr val="2E8B57"/>
                </a:solidFill>
                <a:latin typeface="Calibri" pitchFamily="34" charset="0"/>
                <a:cs typeface="Amiri" pitchFamily="2" charset="-78"/>
              </a:rPr>
              <a:t> qavī · strong</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46</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TB-L02 · Family and Friends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Relationship actions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TB-L02</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8604504" y="1938528"/>
            <a:ext cx="1082650"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108265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he · she · we</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أَتَفَاهَمُ مَعَ</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 get on with</a:t>
            </a:r>
            <a:endParaRPr lang="en-US" sz="1350" dirty="0"/>
          </a:p>
          <a:p>
            <a:pPr indent="0" marL="0">
              <a:buNone/>
            </a:pPr>
            <a:r>
              <a:rPr lang="en-US" sz="1100" i="1" dirty="0">
                <a:solidFill>
                  <a:srgbClr val="5A6472"/>
                </a:solidFill>
                <a:latin typeface="Calibri" pitchFamily="34" charset="0"/>
                <a:cs typeface="Amiri" pitchFamily="2" charset="-78"/>
              </a:rPr>
              <a:t>a-ta-fā-ha-mu ma-ʿa</a:t>
            </a:r>
            <a:endParaRPr lang="en-US" sz="1350" dirty="0"/>
          </a:p>
        </p:txBody>
      </p:sp>
      <p:sp>
        <p:nvSpPr>
          <p:cNvPr id="24" name="Shape 21"/>
          <p:cNvSpPr/>
          <p:nvPr/>
        </p:nvSpPr>
        <p:spPr>
          <a:xfrm>
            <a:off x="10543032" y="3438144"/>
            <a:ext cx="1060704"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59789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we</a:t>
            </a:r>
            <a:endParaRPr lang="en-US" sz="750" dirty="0"/>
          </a:p>
        </p:txBody>
      </p:sp>
      <p:sp>
        <p:nvSpPr>
          <p:cNvPr id="26" name="Text 23"/>
          <p:cNvSpPr txBox="1"/>
          <p:nvPr/>
        </p:nvSpPr>
        <p:spPr>
          <a:xfrm>
            <a:off x="1058875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نَتَفَاهَمُ</a:t>
            </a:r>
            <a:endParaRPr lang="ar-SA" sz="1500" dirty="0"/>
          </a:p>
        </p:txBody>
      </p:sp>
      <p:sp>
        <p:nvSpPr>
          <p:cNvPr id="27" name="Shape 24"/>
          <p:cNvSpPr/>
          <p:nvPr/>
        </p:nvSpPr>
        <p:spPr>
          <a:xfrm>
            <a:off x="9390888" y="3438144"/>
            <a:ext cx="1060704"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944575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29" name="Text 26"/>
          <p:cNvSpPr txBox="1"/>
          <p:nvPr/>
        </p:nvSpPr>
        <p:spPr>
          <a:xfrm>
            <a:off x="943660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تَتَفَاهَمُ</a:t>
            </a:r>
            <a:endParaRPr lang="ar-SA" sz="1500" dirty="0"/>
          </a:p>
        </p:txBody>
      </p:sp>
      <p:sp>
        <p:nvSpPr>
          <p:cNvPr id="30" name="Shape 27"/>
          <p:cNvSpPr/>
          <p:nvPr/>
        </p:nvSpPr>
        <p:spPr>
          <a:xfrm>
            <a:off x="8238744" y="3438144"/>
            <a:ext cx="1060704" cy="438912"/>
          </a:xfrm>
          <a:prstGeom prst="roundRect">
            <a:avLst>
              <a:gd name="adj" fmla="val 10417"/>
            </a:avLst>
          </a:prstGeom>
          <a:solidFill>
            <a:srgbClr val="F4F1EA"/>
          </a:solidFill>
          <a:ln w="9525">
            <a:solidFill>
              <a:srgbClr val="F4F1EA"/>
            </a:solidFill>
            <a:prstDash val="solid"/>
          </a:ln>
        </p:spPr>
      </p:sp>
      <p:sp>
        <p:nvSpPr>
          <p:cNvPr id="31" name="Text 28"/>
          <p:cNvSpPr txBox="1"/>
          <p:nvPr/>
        </p:nvSpPr>
        <p:spPr>
          <a:xfrm>
            <a:off x="829360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he</a:t>
            </a:r>
            <a:endParaRPr lang="en-US" sz="750" dirty="0"/>
          </a:p>
        </p:txBody>
      </p:sp>
      <p:sp>
        <p:nvSpPr>
          <p:cNvPr id="32" name="Text 29"/>
          <p:cNvSpPr txBox="1"/>
          <p:nvPr/>
        </p:nvSpPr>
        <p:spPr>
          <a:xfrm>
            <a:off x="828446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يَتَفَاهَمُ</a:t>
            </a:r>
            <a:endParaRPr lang="ar-SA" sz="1500" dirty="0"/>
          </a:p>
        </p:txBody>
      </p:sp>
      <p:sp>
        <p:nvSpPr>
          <p:cNvPr id="33" name="Shape 3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4389120" y="1920240"/>
            <a:ext cx="310896" cy="310896"/>
          </a:xfrm>
          <a:prstGeom prst="ellipse">
            <a:avLst/>
          </a:prstGeom>
          <a:solidFill>
            <a:srgbClr val="F4F1EA"/>
          </a:solidFill>
          <a:ln w="12700">
            <a:solidFill>
              <a:srgbClr val="F4F1EA"/>
            </a:solidFill>
            <a:prstDash val="solid"/>
          </a:ln>
        </p:spPr>
      </p:sp>
      <p:sp>
        <p:nvSpPr>
          <p:cNvPr id="35" name="Text 3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36" name="Shape 33"/>
          <p:cNvSpPr/>
          <p:nvPr/>
        </p:nvSpPr>
        <p:spPr>
          <a:xfrm>
            <a:off x="4782312" y="1938528"/>
            <a:ext cx="1082650" cy="256032"/>
          </a:xfrm>
          <a:prstGeom prst="roundRect">
            <a:avLst>
              <a:gd name="adj" fmla="val 50000"/>
            </a:avLst>
          </a:prstGeom>
          <a:solidFill>
            <a:srgbClr val="EFE7D2"/>
          </a:solidFill>
          <a:ln w="12700">
            <a:solidFill>
              <a:srgbClr val="EFE7D2"/>
            </a:solidFill>
            <a:prstDash val="solid"/>
          </a:ln>
        </p:spPr>
      </p:sp>
      <p:sp>
        <p:nvSpPr>
          <p:cNvPr id="37" name="Text 34"/>
          <p:cNvSpPr txBox="1"/>
          <p:nvPr/>
        </p:nvSpPr>
        <p:spPr>
          <a:xfrm>
            <a:off x="4782312" y="1938528"/>
            <a:ext cx="108265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he · she · we</a:t>
            </a:r>
            <a:endParaRPr lang="en-US" sz="800" dirty="0"/>
          </a:p>
        </p:txBody>
      </p:sp>
      <p:sp>
        <p:nvSpPr>
          <p:cNvPr id="38" name="Shape 35"/>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9" name="Text 36"/>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0" name="Text 37"/>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أَخْتَلِفُ مَعَ</a:t>
            </a:r>
            <a:endParaRPr lang="ar-SA" sz="3000" dirty="0"/>
          </a:p>
        </p:txBody>
      </p:sp>
      <p:sp>
        <p:nvSpPr>
          <p:cNvPr id="41" name="Text 38"/>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 disagree with</a:t>
            </a:r>
            <a:endParaRPr lang="en-US" sz="1350" dirty="0"/>
          </a:p>
          <a:p>
            <a:pPr indent="0" marL="0">
              <a:buNone/>
            </a:pPr>
            <a:r>
              <a:rPr lang="en-US" sz="1100" i="1" dirty="0">
                <a:solidFill>
                  <a:srgbClr val="5A6472"/>
                </a:solidFill>
                <a:latin typeface="Calibri" pitchFamily="34" charset="0"/>
                <a:cs typeface="Amiri" pitchFamily="2" charset="-78"/>
              </a:rPr>
              <a:t>akh-ta-li-fu ma-ʿa</a:t>
            </a:r>
            <a:endParaRPr lang="en-US" sz="1350" dirty="0"/>
          </a:p>
        </p:txBody>
      </p:sp>
      <p:sp>
        <p:nvSpPr>
          <p:cNvPr id="42" name="Shape 39"/>
          <p:cNvSpPr/>
          <p:nvPr/>
        </p:nvSpPr>
        <p:spPr>
          <a:xfrm>
            <a:off x="6720840" y="3438144"/>
            <a:ext cx="1060704"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677570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we</a:t>
            </a:r>
            <a:endParaRPr lang="en-US" sz="750" dirty="0"/>
          </a:p>
        </p:txBody>
      </p:sp>
      <p:sp>
        <p:nvSpPr>
          <p:cNvPr id="44" name="Text 41"/>
          <p:cNvSpPr txBox="1"/>
          <p:nvPr/>
        </p:nvSpPr>
        <p:spPr>
          <a:xfrm>
            <a:off x="676656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نَخْتَلِفُ</a:t>
            </a:r>
            <a:endParaRPr lang="ar-SA" sz="1500" dirty="0"/>
          </a:p>
        </p:txBody>
      </p:sp>
      <p:sp>
        <p:nvSpPr>
          <p:cNvPr id="45" name="Shape 42"/>
          <p:cNvSpPr/>
          <p:nvPr/>
        </p:nvSpPr>
        <p:spPr>
          <a:xfrm>
            <a:off x="5568696" y="3438144"/>
            <a:ext cx="1060704" cy="438912"/>
          </a:xfrm>
          <a:prstGeom prst="roundRect">
            <a:avLst>
              <a:gd name="adj" fmla="val 10417"/>
            </a:avLst>
          </a:prstGeom>
          <a:solidFill>
            <a:srgbClr val="F4F1EA"/>
          </a:solidFill>
          <a:ln w="9525">
            <a:solidFill>
              <a:srgbClr val="F4F1EA"/>
            </a:solidFill>
            <a:prstDash val="solid"/>
          </a:ln>
        </p:spPr>
      </p:sp>
      <p:sp>
        <p:nvSpPr>
          <p:cNvPr id="46" name="Text 43"/>
          <p:cNvSpPr txBox="1"/>
          <p:nvPr/>
        </p:nvSpPr>
        <p:spPr>
          <a:xfrm>
            <a:off x="5623560"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47" name="Text 44"/>
          <p:cNvSpPr txBox="1"/>
          <p:nvPr/>
        </p:nvSpPr>
        <p:spPr>
          <a:xfrm>
            <a:off x="5614416"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تَخْتَلِفُ</a:t>
            </a:r>
            <a:endParaRPr lang="ar-SA" sz="1500" dirty="0"/>
          </a:p>
        </p:txBody>
      </p:sp>
      <p:sp>
        <p:nvSpPr>
          <p:cNvPr id="48" name="Shape 45"/>
          <p:cNvSpPr/>
          <p:nvPr/>
        </p:nvSpPr>
        <p:spPr>
          <a:xfrm>
            <a:off x="4416552" y="3438144"/>
            <a:ext cx="1060704" cy="438912"/>
          </a:xfrm>
          <a:prstGeom prst="roundRect">
            <a:avLst>
              <a:gd name="adj" fmla="val 10417"/>
            </a:avLst>
          </a:prstGeom>
          <a:solidFill>
            <a:srgbClr val="F4F1EA"/>
          </a:solidFill>
          <a:ln w="9525">
            <a:solidFill>
              <a:srgbClr val="F4F1EA"/>
            </a:solidFill>
            <a:prstDash val="solid"/>
          </a:ln>
        </p:spPr>
      </p:sp>
      <p:sp>
        <p:nvSpPr>
          <p:cNvPr id="49" name="Text 46"/>
          <p:cNvSpPr txBox="1"/>
          <p:nvPr/>
        </p:nvSpPr>
        <p:spPr>
          <a:xfrm>
            <a:off x="447141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he</a:t>
            </a:r>
            <a:endParaRPr lang="en-US" sz="750" dirty="0"/>
          </a:p>
        </p:txBody>
      </p:sp>
      <p:sp>
        <p:nvSpPr>
          <p:cNvPr id="50" name="Text 47"/>
          <p:cNvSpPr txBox="1"/>
          <p:nvPr/>
        </p:nvSpPr>
        <p:spPr>
          <a:xfrm>
            <a:off x="446227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يَخْتَلِفُ</a:t>
            </a:r>
            <a:endParaRPr lang="ar-SA" sz="1500" dirty="0"/>
          </a:p>
        </p:txBody>
      </p:sp>
      <p:sp>
        <p:nvSpPr>
          <p:cNvPr id="51" name="Shape 4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2" name="Shape 49"/>
          <p:cNvSpPr/>
          <p:nvPr/>
        </p:nvSpPr>
        <p:spPr>
          <a:xfrm>
            <a:off x="566928" y="1920240"/>
            <a:ext cx="310896" cy="310896"/>
          </a:xfrm>
          <a:prstGeom prst="ellipse">
            <a:avLst/>
          </a:prstGeom>
          <a:solidFill>
            <a:srgbClr val="F4F1EA"/>
          </a:solidFill>
          <a:ln w="12700">
            <a:solidFill>
              <a:srgbClr val="F4F1EA"/>
            </a:solidFill>
            <a:prstDash val="solid"/>
          </a:ln>
        </p:spPr>
      </p:sp>
      <p:sp>
        <p:nvSpPr>
          <p:cNvPr id="53" name="Text 5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54" name="Shape 51"/>
          <p:cNvSpPr/>
          <p:nvPr/>
        </p:nvSpPr>
        <p:spPr>
          <a:xfrm>
            <a:off x="960120" y="1938528"/>
            <a:ext cx="1082650" cy="256032"/>
          </a:xfrm>
          <a:prstGeom prst="roundRect">
            <a:avLst>
              <a:gd name="adj" fmla="val 50000"/>
            </a:avLst>
          </a:prstGeom>
          <a:solidFill>
            <a:srgbClr val="EFE7D2"/>
          </a:solidFill>
          <a:ln w="12700">
            <a:solidFill>
              <a:srgbClr val="EFE7D2"/>
            </a:solidFill>
            <a:prstDash val="solid"/>
          </a:ln>
        </p:spPr>
      </p:sp>
      <p:sp>
        <p:nvSpPr>
          <p:cNvPr id="55" name="Text 52"/>
          <p:cNvSpPr txBox="1"/>
          <p:nvPr/>
        </p:nvSpPr>
        <p:spPr>
          <a:xfrm>
            <a:off x="960120" y="1938528"/>
            <a:ext cx="108265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he · she · we</a:t>
            </a:r>
            <a:endParaRPr lang="en-US" sz="800" dirty="0"/>
          </a:p>
        </p:txBody>
      </p:sp>
      <p:sp>
        <p:nvSpPr>
          <p:cNvPr id="56" name="Shape 53"/>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57" name="Text 54"/>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8" name="Text 55"/>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أَثِقُ بِـ</a:t>
            </a:r>
            <a:endParaRPr lang="ar-SA" sz="3000" dirty="0"/>
          </a:p>
        </p:txBody>
      </p:sp>
      <p:sp>
        <p:nvSpPr>
          <p:cNvPr id="59" name="Text 56"/>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 trust</a:t>
            </a:r>
            <a:endParaRPr lang="en-US" sz="1350" dirty="0"/>
          </a:p>
          <a:p>
            <a:pPr indent="0" marL="0">
              <a:buNone/>
            </a:pPr>
            <a:r>
              <a:rPr lang="en-US" sz="1100" i="1" dirty="0">
                <a:solidFill>
                  <a:srgbClr val="5A6472"/>
                </a:solidFill>
                <a:latin typeface="Calibri" pitchFamily="34" charset="0"/>
                <a:cs typeface="Amiri" pitchFamily="2" charset="-78"/>
              </a:rPr>
              <a:t>a-thi-qu bi</a:t>
            </a:r>
            <a:endParaRPr lang="en-US" sz="1350" dirty="0"/>
          </a:p>
        </p:txBody>
      </p:sp>
      <p:sp>
        <p:nvSpPr>
          <p:cNvPr id="60" name="Shape 57"/>
          <p:cNvSpPr/>
          <p:nvPr/>
        </p:nvSpPr>
        <p:spPr>
          <a:xfrm>
            <a:off x="2898648" y="3438144"/>
            <a:ext cx="1060704" cy="438912"/>
          </a:xfrm>
          <a:prstGeom prst="roundRect">
            <a:avLst>
              <a:gd name="adj" fmla="val 10417"/>
            </a:avLst>
          </a:prstGeom>
          <a:solidFill>
            <a:srgbClr val="F4F1EA"/>
          </a:solidFill>
          <a:ln w="9525">
            <a:solidFill>
              <a:srgbClr val="F4F1EA"/>
            </a:solidFill>
            <a:prstDash val="solid"/>
          </a:ln>
        </p:spPr>
      </p:sp>
      <p:sp>
        <p:nvSpPr>
          <p:cNvPr id="61" name="Text 58"/>
          <p:cNvSpPr txBox="1"/>
          <p:nvPr/>
        </p:nvSpPr>
        <p:spPr>
          <a:xfrm>
            <a:off x="295351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we</a:t>
            </a:r>
            <a:endParaRPr lang="en-US" sz="750" dirty="0"/>
          </a:p>
        </p:txBody>
      </p:sp>
      <p:sp>
        <p:nvSpPr>
          <p:cNvPr id="62" name="Text 59"/>
          <p:cNvSpPr txBox="1"/>
          <p:nvPr/>
        </p:nvSpPr>
        <p:spPr>
          <a:xfrm>
            <a:off x="294436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نَثِقُ</a:t>
            </a:r>
            <a:endParaRPr lang="ar-SA" sz="1500" dirty="0"/>
          </a:p>
        </p:txBody>
      </p:sp>
      <p:sp>
        <p:nvSpPr>
          <p:cNvPr id="63" name="Shape 60"/>
          <p:cNvSpPr/>
          <p:nvPr/>
        </p:nvSpPr>
        <p:spPr>
          <a:xfrm>
            <a:off x="1746504" y="3438144"/>
            <a:ext cx="1060704" cy="438912"/>
          </a:xfrm>
          <a:prstGeom prst="roundRect">
            <a:avLst>
              <a:gd name="adj" fmla="val 10417"/>
            </a:avLst>
          </a:prstGeom>
          <a:solidFill>
            <a:srgbClr val="F4F1EA"/>
          </a:solidFill>
          <a:ln w="9525">
            <a:solidFill>
              <a:srgbClr val="F4F1EA"/>
            </a:solidFill>
            <a:prstDash val="solid"/>
          </a:ln>
        </p:spPr>
      </p:sp>
      <p:sp>
        <p:nvSpPr>
          <p:cNvPr id="64" name="Text 61"/>
          <p:cNvSpPr txBox="1"/>
          <p:nvPr/>
        </p:nvSpPr>
        <p:spPr>
          <a:xfrm>
            <a:off x="180136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65" name="Text 62"/>
          <p:cNvSpPr txBox="1"/>
          <p:nvPr/>
        </p:nvSpPr>
        <p:spPr>
          <a:xfrm>
            <a:off x="179222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تَثِقُ</a:t>
            </a:r>
            <a:endParaRPr lang="ar-SA" sz="1500" dirty="0"/>
          </a:p>
        </p:txBody>
      </p:sp>
      <p:sp>
        <p:nvSpPr>
          <p:cNvPr id="66" name="Shape 63"/>
          <p:cNvSpPr/>
          <p:nvPr/>
        </p:nvSpPr>
        <p:spPr>
          <a:xfrm>
            <a:off x="594360" y="3438144"/>
            <a:ext cx="1060704" cy="438912"/>
          </a:xfrm>
          <a:prstGeom prst="roundRect">
            <a:avLst>
              <a:gd name="adj" fmla="val 10417"/>
            </a:avLst>
          </a:prstGeom>
          <a:solidFill>
            <a:srgbClr val="F4F1EA"/>
          </a:solidFill>
          <a:ln w="9525">
            <a:solidFill>
              <a:srgbClr val="F4F1EA"/>
            </a:solidFill>
            <a:prstDash val="solid"/>
          </a:ln>
        </p:spPr>
      </p:sp>
      <p:sp>
        <p:nvSpPr>
          <p:cNvPr id="67" name="Text 64"/>
          <p:cNvSpPr txBox="1"/>
          <p:nvPr/>
        </p:nvSpPr>
        <p:spPr>
          <a:xfrm>
            <a:off x="64922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he</a:t>
            </a:r>
            <a:endParaRPr lang="en-US" sz="750" dirty="0"/>
          </a:p>
        </p:txBody>
      </p:sp>
      <p:sp>
        <p:nvSpPr>
          <p:cNvPr id="68" name="Text 65"/>
          <p:cNvSpPr txBox="1"/>
          <p:nvPr/>
        </p:nvSpPr>
        <p:spPr>
          <a:xfrm>
            <a:off x="64008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يَثِقُ</a:t>
            </a:r>
            <a:endParaRPr lang="ar-SA" sz="1500" dirty="0"/>
          </a:p>
        </p:txBody>
      </p:sp>
      <p:sp>
        <p:nvSpPr>
          <p:cNvPr id="69" name="Shape 66"/>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8211312" y="4261104"/>
            <a:ext cx="310896" cy="310896"/>
          </a:xfrm>
          <a:prstGeom prst="ellipse">
            <a:avLst/>
          </a:prstGeom>
          <a:solidFill>
            <a:srgbClr val="F4F1EA"/>
          </a:solidFill>
          <a:ln w="12700">
            <a:solidFill>
              <a:srgbClr val="F4F1EA"/>
            </a:solidFill>
            <a:prstDash val="solid"/>
          </a:ln>
        </p:spPr>
      </p:sp>
      <p:sp>
        <p:nvSpPr>
          <p:cNvPr id="71" name="Text 68"/>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72" name="Shape 69"/>
          <p:cNvSpPr/>
          <p:nvPr/>
        </p:nvSpPr>
        <p:spPr>
          <a:xfrm>
            <a:off x="8604504" y="4279392"/>
            <a:ext cx="1269187" cy="256032"/>
          </a:xfrm>
          <a:prstGeom prst="roundRect">
            <a:avLst>
              <a:gd name="adj" fmla="val 50000"/>
            </a:avLst>
          </a:prstGeom>
          <a:solidFill>
            <a:srgbClr val="EFE7D2"/>
          </a:solidFill>
          <a:ln w="12700">
            <a:solidFill>
              <a:srgbClr val="EFE7D2"/>
            </a:solidFill>
            <a:prstDash val="solid"/>
          </a:ln>
        </p:spPr>
      </p:sp>
      <p:sp>
        <p:nvSpPr>
          <p:cNvPr id="73" name="Text 70"/>
          <p:cNvSpPr txBox="1"/>
          <p:nvPr/>
        </p:nvSpPr>
        <p:spPr>
          <a:xfrm>
            <a:off x="8604504" y="4279392"/>
            <a:ext cx="1269187"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him · her · them</a:t>
            </a:r>
            <a:endParaRPr lang="en-US" sz="800" dirty="0"/>
          </a:p>
        </p:txBody>
      </p:sp>
      <p:sp>
        <p:nvSpPr>
          <p:cNvPr id="74" name="Shape 71"/>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75" name="Text 72"/>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76" name="Text 73"/>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أَحْتَرِمُ</a:t>
            </a:r>
            <a:endParaRPr lang="ar-SA" sz="3000" dirty="0"/>
          </a:p>
        </p:txBody>
      </p:sp>
      <p:sp>
        <p:nvSpPr>
          <p:cNvPr id="77" name="Text 74"/>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 respect</a:t>
            </a:r>
            <a:endParaRPr lang="en-US" sz="1350" dirty="0"/>
          </a:p>
          <a:p>
            <a:pPr indent="0" marL="0">
              <a:buNone/>
            </a:pPr>
            <a:r>
              <a:rPr lang="en-US" sz="1100" i="1" dirty="0">
                <a:solidFill>
                  <a:srgbClr val="5A6472"/>
                </a:solidFill>
                <a:latin typeface="Calibri" pitchFamily="34" charset="0"/>
                <a:cs typeface="Amiri" pitchFamily="2" charset="-78"/>
              </a:rPr>
              <a:t>aḥ-ta-ri-mu</a:t>
            </a:r>
            <a:endParaRPr lang="en-US" sz="1350" dirty="0"/>
          </a:p>
        </p:txBody>
      </p:sp>
      <p:sp>
        <p:nvSpPr>
          <p:cNvPr id="78" name="Shape 75"/>
          <p:cNvSpPr/>
          <p:nvPr/>
        </p:nvSpPr>
        <p:spPr>
          <a:xfrm>
            <a:off x="10543032" y="5779008"/>
            <a:ext cx="1060704" cy="438912"/>
          </a:xfrm>
          <a:prstGeom prst="roundRect">
            <a:avLst>
              <a:gd name="adj" fmla="val 10417"/>
            </a:avLst>
          </a:prstGeom>
          <a:solidFill>
            <a:srgbClr val="F4F1EA"/>
          </a:solidFill>
          <a:ln w="9525">
            <a:solidFill>
              <a:srgbClr val="F4F1EA"/>
            </a:solidFill>
            <a:prstDash val="solid"/>
          </a:ln>
        </p:spPr>
      </p:sp>
      <p:sp>
        <p:nvSpPr>
          <p:cNvPr id="79" name="Text 76"/>
          <p:cNvSpPr txBox="1"/>
          <p:nvPr/>
        </p:nvSpPr>
        <p:spPr>
          <a:xfrm>
            <a:off x="10597896" y="5788152"/>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them</a:t>
            </a:r>
            <a:endParaRPr lang="en-US" sz="700" dirty="0"/>
          </a:p>
        </p:txBody>
      </p:sp>
      <p:sp>
        <p:nvSpPr>
          <p:cNvPr id="80" name="Text 77"/>
          <p:cNvSpPr txBox="1"/>
          <p:nvPr/>
        </p:nvSpPr>
        <p:spPr>
          <a:xfrm>
            <a:off x="10588752" y="5916168"/>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أَحْتَرِمُهُمْ</a:t>
            </a:r>
            <a:endParaRPr lang="ar-SA" sz="1350" dirty="0"/>
          </a:p>
        </p:txBody>
      </p:sp>
      <p:sp>
        <p:nvSpPr>
          <p:cNvPr id="81" name="Shape 78"/>
          <p:cNvSpPr/>
          <p:nvPr/>
        </p:nvSpPr>
        <p:spPr>
          <a:xfrm>
            <a:off x="9390888" y="5779008"/>
            <a:ext cx="1060704" cy="438912"/>
          </a:xfrm>
          <a:prstGeom prst="roundRect">
            <a:avLst>
              <a:gd name="adj" fmla="val 10417"/>
            </a:avLst>
          </a:prstGeom>
          <a:solidFill>
            <a:srgbClr val="F4F1EA"/>
          </a:solidFill>
          <a:ln w="9525">
            <a:solidFill>
              <a:srgbClr val="F4F1EA"/>
            </a:solidFill>
            <a:prstDash val="solid"/>
          </a:ln>
        </p:spPr>
      </p:sp>
      <p:sp>
        <p:nvSpPr>
          <p:cNvPr id="82" name="Text 79"/>
          <p:cNvSpPr txBox="1"/>
          <p:nvPr/>
        </p:nvSpPr>
        <p:spPr>
          <a:xfrm>
            <a:off x="9445752"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her</a:t>
            </a:r>
            <a:endParaRPr lang="en-US" sz="750" dirty="0"/>
          </a:p>
        </p:txBody>
      </p:sp>
      <p:sp>
        <p:nvSpPr>
          <p:cNvPr id="83" name="Text 80"/>
          <p:cNvSpPr txBox="1"/>
          <p:nvPr/>
        </p:nvSpPr>
        <p:spPr>
          <a:xfrm>
            <a:off x="9436608"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أَحْتَرِمُهَا</a:t>
            </a:r>
            <a:endParaRPr lang="ar-SA" sz="1500" dirty="0"/>
          </a:p>
        </p:txBody>
      </p:sp>
      <p:sp>
        <p:nvSpPr>
          <p:cNvPr id="84" name="Shape 81"/>
          <p:cNvSpPr/>
          <p:nvPr/>
        </p:nvSpPr>
        <p:spPr>
          <a:xfrm>
            <a:off x="8238744" y="5779008"/>
            <a:ext cx="1060704" cy="438912"/>
          </a:xfrm>
          <a:prstGeom prst="roundRect">
            <a:avLst>
              <a:gd name="adj" fmla="val 10417"/>
            </a:avLst>
          </a:prstGeom>
          <a:solidFill>
            <a:srgbClr val="F4F1EA"/>
          </a:solidFill>
          <a:ln w="9525">
            <a:solidFill>
              <a:srgbClr val="F4F1EA"/>
            </a:solidFill>
            <a:prstDash val="solid"/>
          </a:ln>
        </p:spPr>
      </p:sp>
      <p:sp>
        <p:nvSpPr>
          <p:cNvPr id="85" name="Text 82"/>
          <p:cNvSpPr txBox="1"/>
          <p:nvPr/>
        </p:nvSpPr>
        <p:spPr>
          <a:xfrm>
            <a:off x="8293608"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him</a:t>
            </a:r>
            <a:endParaRPr lang="en-US" sz="750" dirty="0"/>
          </a:p>
        </p:txBody>
      </p:sp>
      <p:sp>
        <p:nvSpPr>
          <p:cNvPr id="86" name="Text 83"/>
          <p:cNvSpPr txBox="1"/>
          <p:nvPr/>
        </p:nvSpPr>
        <p:spPr>
          <a:xfrm>
            <a:off x="8284464"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أَحْتَرِمُهُ</a:t>
            </a:r>
            <a:endParaRPr lang="ar-SA" sz="1500" dirty="0"/>
          </a:p>
        </p:txBody>
      </p:sp>
      <p:sp>
        <p:nvSpPr>
          <p:cNvPr id="87" name="Text 8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46</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TB-L02 · Family and Friends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Relationship actions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TB-L02</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18" name="Shape 15"/>
          <p:cNvSpPr/>
          <p:nvPr/>
        </p:nvSpPr>
        <p:spPr>
          <a:xfrm>
            <a:off x="8604504" y="1938528"/>
            <a:ext cx="1269187"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1269187"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him · her · them</a:t>
            </a:r>
            <a:endParaRPr lang="en-US" sz="800" dirty="0"/>
          </a:p>
        </p:txBody>
      </p:sp>
      <p:sp>
        <p:nvSpPr>
          <p:cNvPr id="20" name="Text 17"/>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أُسَاعِدُ</a:t>
            </a:r>
            <a:endParaRPr lang="ar-SA" sz="3000" dirty="0"/>
          </a:p>
        </p:txBody>
      </p:sp>
      <p:sp>
        <p:nvSpPr>
          <p:cNvPr id="21" name="Text 18"/>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 help</a:t>
            </a:r>
            <a:endParaRPr lang="en-US" sz="1350" dirty="0"/>
          </a:p>
          <a:p>
            <a:pPr indent="0" marL="0">
              <a:buNone/>
            </a:pPr>
            <a:r>
              <a:rPr lang="en-US" sz="1100" i="1" dirty="0">
                <a:solidFill>
                  <a:srgbClr val="5A6472"/>
                </a:solidFill>
                <a:latin typeface="Calibri" pitchFamily="34" charset="0"/>
                <a:cs typeface="Amiri" pitchFamily="2" charset="-78"/>
              </a:rPr>
              <a:t>u-sā-ʿi-du</a:t>
            </a:r>
            <a:endParaRPr lang="en-US" sz="1350" dirty="0"/>
          </a:p>
        </p:txBody>
      </p:sp>
      <p:sp>
        <p:nvSpPr>
          <p:cNvPr id="22" name="Shape 19"/>
          <p:cNvSpPr/>
          <p:nvPr/>
        </p:nvSpPr>
        <p:spPr>
          <a:xfrm>
            <a:off x="10543032" y="3438144"/>
            <a:ext cx="1060704" cy="438912"/>
          </a:xfrm>
          <a:prstGeom prst="roundRect">
            <a:avLst>
              <a:gd name="adj" fmla="val 10417"/>
            </a:avLst>
          </a:prstGeom>
          <a:solidFill>
            <a:srgbClr val="F4F1EA"/>
          </a:solidFill>
          <a:ln w="9525">
            <a:solidFill>
              <a:srgbClr val="F4F1EA"/>
            </a:solidFill>
            <a:prstDash val="solid"/>
          </a:ln>
        </p:spPr>
      </p:sp>
      <p:sp>
        <p:nvSpPr>
          <p:cNvPr id="23" name="Text 20"/>
          <p:cNvSpPr txBox="1"/>
          <p:nvPr/>
        </p:nvSpPr>
        <p:spPr>
          <a:xfrm>
            <a:off x="10597896"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them</a:t>
            </a:r>
            <a:endParaRPr lang="en-US" sz="700" dirty="0"/>
          </a:p>
        </p:txBody>
      </p:sp>
      <p:sp>
        <p:nvSpPr>
          <p:cNvPr id="24" name="Text 21"/>
          <p:cNvSpPr txBox="1"/>
          <p:nvPr/>
        </p:nvSpPr>
        <p:spPr>
          <a:xfrm>
            <a:off x="10588752"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أُسَاعِدُهُمْ</a:t>
            </a:r>
            <a:endParaRPr lang="ar-SA" sz="1350" dirty="0"/>
          </a:p>
        </p:txBody>
      </p:sp>
      <p:sp>
        <p:nvSpPr>
          <p:cNvPr id="25" name="Shape 22"/>
          <p:cNvSpPr/>
          <p:nvPr/>
        </p:nvSpPr>
        <p:spPr>
          <a:xfrm>
            <a:off x="9390888" y="3438144"/>
            <a:ext cx="1060704" cy="438912"/>
          </a:xfrm>
          <a:prstGeom prst="roundRect">
            <a:avLst>
              <a:gd name="adj" fmla="val 10417"/>
            </a:avLst>
          </a:prstGeom>
          <a:solidFill>
            <a:srgbClr val="F4F1EA"/>
          </a:solidFill>
          <a:ln w="9525">
            <a:solidFill>
              <a:srgbClr val="F4F1EA"/>
            </a:solidFill>
            <a:prstDash val="solid"/>
          </a:ln>
        </p:spPr>
      </p:sp>
      <p:sp>
        <p:nvSpPr>
          <p:cNvPr id="26" name="Text 23"/>
          <p:cNvSpPr txBox="1"/>
          <p:nvPr/>
        </p:nvSpPr>
        <p:spPr>
          <a:xfrm>
            <a:off x="944575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her</a:t>
            </a:r>
            <a:endParaRPr lang="en-US" sz="750" dirty="0"/>
          </a:p>
        </p:txBody>
      </p:sp>
      <p:sp>
        <p:nvSpPr>
          <p:cNvPr id="27" name="Text 24"/>
          <p:cNvSpPr txBox="1"/>
          <p:nvPr/>
        </p:nvSpPr>
        <p:spPr>
          <a:xfrm>
            <a:off x="943660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أُسَاعِدُهَا</a:t>
            </a:r>
            <a:endParaRPr lang="ar-SA" sz="1500" dirty="0"/>
          </a:p>
        </p:txBody>
      </p:sp>
      <p:sp>
        <p:nvSpPr>
          <p:cNvPr id="28" name="Shape 25"/>
          <p:cNvSpPr/>
          <p:nvPr/>
        </p:nvSpPr>
        <p:spPr>
          <a:xfrm>
            <a:off x="8238744" y="3438144"/>
            <a:ext cx="1060704" cy="438912"/>
          </a:xfrm>
          <a:prstGeom prst="roundRect">
            <a:avLst>
              <a:gd name="adj" fmla="val 10417"/>
            </a:avLst>
          </a:prstGeom>
          <a:solidFill>
            <a:srgbClr val="F4F1EA"/>
          </a:solidFill>
          <a:ln w="9525">
            <a:solidFill>
              <a:srgbClr val="F4F1EA"/>
            </a:solidFill>
            <a:prstDash val="solid"/>
          </a:ln>
        </p:spPr>
      </p:sp>
      <p:sp>
        <p:nvSpPr>
          <p:cNvPr id="29" name="Text 26"/>
          <p:cNvSpPr txBox="1"/>
          <p:nvPr/>
        </p:nvSpPr>
        <p:spPr>
          <a:xfrm>
            <a:off x="829360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him</a:t>
            </a:r>
            <a:endParaRPr lang="en-US" sz="750" dirty="0"/>
          </a:p>
        </p:txBody>
      </p:sp>
      <p:sp>
        <p:nvSpPr>
          <p:cNvPr id="30" name="Text 27"/>
          <p:cNvSpPr txBox="1"/>
          <p:nvPr/>
        </p:nvSpPr>
        <p:spPr>
          <a:xfrm>
            <a:off x="828446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أُسَاعِدُهُ</a:t>
            </a:r>
            <a:endParaRPr lang="ar-SA" sz="1500" dirty="0"/>
          </a:p>
        </p:txBody>
      </p:sp>
      <p:sp>
        <p:nvSpPr>
          <p:cNvPr id="31" name="Shape 28"/>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4389120" y="1920240"/>
            <a:ext cx="310896" cy="310896"/>
          </a:xfrm>
          <a:prstGeom prst="ellipse">
            <a:avLst/>
          </a:prstGeom>
          <a:solidFill>
            <a:srgbClr val="F4F1EA"/>
          </a:solidFill>
          <a:ln w="12700">
            <a:solidFill>
              <a:srgbClr val="F4F1EA"/>
            </a:solidFill>
            <a:prstDash val="solid"/>
          </a:ln>
        </p:spPr>
      </p:sp>
      <p:sp>
        <p:nvSpPr>
          <p:cNvPr id="33" name="Text 30"/>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34" name="Shape 31"/>
          <p:cNvSpPr/>
          <p:nvPr/>
        </p:nvSpPr>
        <p:spPr>
          <a:xfrm>
            <a:off x="4782312" y="1938528"/>
            <a:ext cx="1082650" cy="256032"/>
          </a:xfrm>
          <a:prstGeom prst="roundRect">
            <a:avLst>
              <a:gd name="adj" fmla="val 50000"/>
            </a:avLst>
          </a:prstGeom>
          <a:solidFill>
            <a:srgbClr val="EFE7D2"/>
          </a:solidFill>
          <a:ln w="12700">
            <a:solidFill>
              <a:srgbClr val="EFE7D2"/>
            </a:solidFill>
            <a:prstDash val="solid"/>
          </a:ln>
        </p:spPr>
      </p:sp>
      <p:sp>
        <p:nvSpPr>
          <p:cNvPr id="35" name="Text 32"/>
          <p:cNvSpPr txBox="1"/>
          <p:nvPr/>
        </p:nvSpPr>
        <p:spPr>
          <a:xfrm>
            <a:off x="4782312" y="1938528"/>
            <a:ext cx="108265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me · us · him</a:t>
            </a:r>
            <a:endParaRPr lang="en-US" sz="800" dirty="0"/>
          </a:p>
        </p:txBody>
      </p:sp>
      <p:sp>
        <p:nvSpPr>
          <p:cNvPr id="36" name="Shape 33"/>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7" name="Text 34"/>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8" name="Text 35"/>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يَدْعَمُنِي</a:t>
            </a:r>
            <a:endParaRPr lang="ar-SA" sz="3000" dirty="0"/>
          </a:p>
        </p:txBody>
      </p:sp>
      <p:sp>
        <p:nvSpPr>
          <p:cNvPr id="39" name="Text 36"/>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he supports me</a:t>
            </a:r>
            <a:endParaRPr lang="en-US" sz="1350" dirty="0"/>
          </a:p>
          <a:p>
            <a:pPr indent="0" marL="0">
              <a:buNone/>
            </a:pPr>
            <a:r>
              <a:rPr lang="en-US" sz="1100" i="1" dirty="0">
                <a:solidFill>
                  <a:srgbClr val="5A6472"/>
                </a:solidFill>
                <a:latin typeface="Calibri" pitchFamily="34" charset="0"/>
                <a:cs typeface="Amiri" pitchFamily="2" charset="-78"/>
              </a:rPr>
              <a:t>yad-ʿa-mu-nī</a:t>
            </a:r>
            <a:endParaRPr lang="en-US" sz="1350" dirty="0"/>
          </a:p>
        </p:txBody>
      </p:sp>
      <p:sp>
        <p:nvSpPr>
          <p:cNvPr id="40" name="Shape 37"/>
          <p:cNvSpPr/>
          <p:nvPr/>
        </p:nvSpPr>
        <p:spPr>
          <a:xfrm>
            <a:off x="6720840" y="3438144"/>
            <a:ext cx="1060704" cy="438912"/>
          </a:xfrm>
          <a:prstGeom prst="roundRect">
            <a:avLst>
              <a:gd name="adj" fmla="val 10417"/>
            </a:avLst>
          </a:prstGeom>
          <a:solidFill>
            <a:srgbClr val="F4F1EA"/>
          </a:solidFill>
          <a:ln w="9525">
            <a:solidFill>
              <a:srgbClr val="F4F1EA"/>
            </a:solidFill>
            <a:prstDash val="solid"/>
          </a:ln>
        </p:spPr>
      </p:sp>
      <p:sp>
        <p:nvSpPr>
          <p:cNvPr id="41" name="Text 38"/>
          <p:cNvSpPr txBox="1"/>
          <p:nvPr/>
        </p:nvSpPr>
        <p:spPr>
          <a:xfrm>
            <a:off x="677570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him</a:t>
            </a:r>
            <a:endParaRPr lang="en-US" sz="750" dirty="0"/>
          </a:p>
        </p:txBody>
      </p:sp>
      <p:sp>
        <p:nvSpPr>
          <p:cNvPr id="42" name="Text 39"/>
          <p:cNvSpPr txBox="1"/>
          <p:nvPr/>
        </p:nvSpPr>
        <p:spPr>
          <a:xfrm>
            <a:off x="676656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يَدْعَمُهُ</a:t>
            </a:r>
            <a:endParaRPr lang="ar-SA" sz="1500" dirty="0"/>
          </a:p>
        </p:txBody>
      </p:sp>
      <p:sp>
        <p:nvSpPr>
          <p:cNvPr id="43" name="Shape 40"/>
          <p:cNvSpPr/>
          <p:nvPr/>
        </p:nvSpPr>
        <p:spPr>
          <a:xfrm>
            <a:off x="5568696" y="3438144"/>
            <a:ext cx="1060704" cy="438912"/>
          </a:xfrm>
          <a:prstGeom prst="roundRect">
            <a:avLst>
              <a:gd name="adj" fmla="val 10417"/>
            </a:avLst>
          </a:prstGeom>
          <a:solidFill>
            <a:srgbClr val="F4F1EA"/>
          </a:solidFill>
          <a:ln w="9525">
            <a:solidFill>
              <a:srgbClr val="F4F1EA"/>
            </a:solidFill>
            <a:prstDash val="solid"/>
          </a:ln>
        </p:spPr>
      </p:sp>
      <p:sp>
        <p:nvSpPr>
          <p:cNvPr id="44" name="Text 41"/>
          <p:cNvSpPr txBox="1"/>
          <p:nvPr/>
        </p:nvSpPr>
        <p:spPr>
          <a:xfrm>
            <a:off x="5623560"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us</a:t>
            </a:r>
            <a:endParaRPr lang="en-US" sz="750" dirty="0"/>
          </a:p>
        </p:txBody>
      </p:sp>
      <p:sp>
        <p:nvSpPr>
          <p:cNvPr id="45" name="Text 42"/>
          <p:cNvSpPr txBox="1"/>
          <p:nvPr/>
        </p:nvSpPr>
        <p:spPr>
          <a:xfrm>
            <a:off x="5614416"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يَدْعَمُنَا</a:t>
            </a:r>
            <a:endParaRPr lang="ar-SA" sz="1500" dirty="0"/>
          </a:p>
        </p:txBody>
      </p:sp>
      <p:sp>
        <p:nvSpPr>
          <p:cNvPr id="46" name="Shape 43"/>
          <p:cNvSpPr/>
          <p:nvPr/>
        </p:nvSpPr>
        <p:spPr>
          <a:xfrm>
            <a:off x="4416552" y="3438144"/>
            <a:ext cx="1060704" cy="438912"/>
          </a:xfrm>
          <a:prstGeom prst="roundRect">
            <a:avLst>
              <a:gd name="adj" fmla="val 10417"/>
            </a:avLst>
          </a:prstGeom>
          <a:solidFill>
            <a:srgbClr val="F4F1EA"/>
          </a:solidFill>
          <a:ln w="9525">
            <a:solidFill>
              <a:srgbClr val="F4F1EA"/>
            </a:solidFill>
            <a:prstDash val="solid"/>
          </a:ln>
        </p:spPr>
      </p:sp>
      <p:sp>
        <p:nvSpPr>
          <p:cNvPr id="47" name="Text 44"/>
          <p:cNvSpPr txBox="1"/>
          <p:nvPr/>
        </p:nvSpPr>
        <p:spPr>
          <a:xfrm>
            <a:off x="447141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me</a:t>
            </a:r>
            <a:endParaRPr lang="en-US" sz="750" dirty="0"/>
          </a:p>
        </p:txBody>
      </p:sp>
      <p:sp>
        <p:nvSpPr>
          <p:cNvPr id="48" name="Text 45"/>
          <p:cNvSpPr txBox="1"/>
          <p:nvPr/>
        </p:nvSpPr>
        <p:spPr>
          <a:xfrm>
            <a:off x="446227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يَدْعَمُنِي</a:t>
            </a:r>
            <a:endParaRPr lang="ar-SA" sz="1500" dirty="0"/>
          </a:p>
        </p:txBody>
      </p:sp>
      <p:sp>
        <p:nvSpPr>
          <p:cNvPr id="49" name="Shape 4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0" name="Shape 47"/>
          <p:cNvSpPr/>
          <p:nvPr/>
        </p:nvSpPr>
        <p:spPr>
          <a:xfrm>
            <a:off x="566928" y="1920240"/>
            <a:ext cx="310896" cy="310896"/>
          </a:xfrm>
          <a:prstGeom prst="ellipse">
            <a:avLst/>
          </a:prstGeom>
          <a:solidFill>
            <a:srgbClr val="F4F1EA"/>
          </a:solidFill>
          <a:ln w="12700">
            <a:solidFill>
              <a:srgbClr val="F4F1EA"/>
            </a:solidFill>
            <a:prstDash val="solid"/>
          </a:ln>
        </p:spPr>
      </p:sp>
      <p:sp>
        <p:nvSpPr>
          <p:cNvPr id="51" name="Text 4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7</a:t>
            </a:r>
            <a:endParaRPr lang="en-US" sz="1000" dirty="0"/>
          </a:p>
        </p:txBody>
      </p:sp>
      <p:sp>
        <p:nvSpPr>
          <p:cNvPr id="52" name="Shape 49"/>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53" name="Text 50"/>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4" name="Text 51"/>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تَدْعَمُنِي</a:t>
            </a:r>
            <a:endParaRPr lang="ar-SA" sz="3000" dirty="0"/>
          </a:p>
        </p:txBody>
      </p:sp>
      <p:sp>
        <p:nvSpPr>
          <p:cNvPr id="55" name="Text 52"/>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she supports me</a:t>
            </a:r>
            <a:endParaRPr lang="en-US" sz="1350" dirty="0"/>
          </a:p>
          <a:p>
            <a:pPr indent="0" marL="0">
              <a:buNone/>
            </a:pPr>
            <a:r>
              <a:rPr lang="en-US" sz="1100" i="1" dirty="0">
                <a:solidFill>
                  <a:srgbClr val="5A6472"/>
                </a:solidFill>
                <a:latin typeface="Calibri" pitchFamily="34" charset="0"/>
                <a:cs typeface="Amiri" pitchFamily="2" charset="-78"/>
              </a:rPr>
              <a:t>tad-ʿa-mu-nī</a:t>
            </a:r>
            <a:endParaRPr lang="en-US" sz="1350" dirty="0"/>
          </a:p>
        </p:txBody>
      </p:sp>
      <p:sp>
        <p:nvSpPr>
          <p:cNvPr id="56" name="Shape 5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8211312" y="4261104"/>
            <a:ext cx="310896" cy="310896"/>
          </a:xfrm>
          <a:prstGeom prst="ellipse">
            <a:avLst/>
          </a:prstGeom>
          <a:solidFill>
            <a:srgbClr val="F4F1EA"/>
          </a:solidFill>
          <a:ln w="12700">
            <a:solidFill>
              <a:srgbClr val="F4F1EA"/>
            </a:solidFill>
            <a:prstDash val="solid"/>
          </a:ln>
        </p:spPr>
      </p:sp>
      <p:sp>
        <p:nvSpPr>
          <p:cNvPr id="58" name="Text 5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8</a:t>
            </a:r>
            <a:endParaRPr lang="en-US" sz="1000" dirty="0"/>
          </a:p>
        </p:txBody>
      </p:sp>
      <p:sp>
        <p:nvSpPr>
          <p:cNvPr id="59" name="Shape 56"/>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60" name="Text 57"/>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61" name="Text 58"/>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نَتَشَاجَرُ</a:t>
            </a:r>
            <a:endParaRPr lang="ar-SA" sz="3000" dirty="0"/>
          </a:p>
        </p:txBody>
      </p:sp>
      <p:sp>
        <p:nvSpPr>
          <p:cNvPr id="62" name="Text 59"/>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we argue</a:t>
            </a:r>
            <a:endParaRPr lang="en-US" sz="1350" dirty="0"/>
          </a:p>
          <a:p>
            <a:pPr indent="0" marL="0">
              <a:buNone/>
            </a:pPr>
            <a:r>
              <a:rPr lang="en-US" sz="1100" i="1" dirty="0">
                <a:solidFill>
                  <a:srgbClr val="5A6472"/>
                </a:solidFill>
                <a:latin typeface="Calibri" pitchFamily="34" charset="0"/>
                <a:cs typeface="Amiri" pitchFamily="2" charset="-78"/>
              </a:rPr>
              <a:t>na-ta-shā-ja-ru</a:t>
            </a:r>
            <a:endParaRPr lang="en-US" sz="13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46</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TB-L02 · Family and Friends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Relationship outcomes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TB-L02</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9</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نَتَصَالَحُ</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we make up</a:t>
            </a:r>
            <a:endParaRPr lang="en-US" sz="1350" dirty="0"/>
          </a:p>
          <a:p>
            <a:pPr indent="0" marL="0">
              <a:buNone/>
            </a:pPr>
            <a:r>
              <a:rPr lang="en-US" sz="1100" i="1" dirty="0">
                <a:solidFill>
                  <a:srgbClr val="5A6472"/>
                </a:solidFill>
                <a:latin typeface="Calibri" pitchFamily="34" charset="0"/>
                <a:cs typeface="Amiri" pitchFamily="2" charset="-78"/>
              </a:rPr>
              <a:t>na-ta-ṣā-la-ḥu</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10</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نَقْضِي الوَقْتَ مَعًا</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we spend time together</a:t>
            </a:r>
            <a:endParaRPr lang="en-US" sz="1350" dirty="0"/>
          </a:p>
          <a:p>
            <a:pPr indent="0" marL="0">
              <a:buNone/>
            </a:pPr>
            <a:r>
              <a:rPr lang="en-US" sz="1100" i="1" dirty="0">
                <a:solidFill>
                  <a:srgbClr val="5A6472"/>
                </a:solidFill>
                <a:latin typeface="Calibri" pitchFamily="34" charset="0"/>
                <a:cs typeface="Amiri" pitchFamily="2" charset="-78"/>
              </a:rPr>
              <a:t>naq-ḍī al-waq-ta ma-ʿan</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11</a:t>
            </a:r>
            <a:endParaRPr lang="en-US" sz="1000" dirty="0"/>
          </a:p>
        </p:txBody>
      </p:sp>
      <p:sp>
        <p:nvSpPr>
          <p:cNvPr id="30" name="Shape 27"/>
          <p:cNvSpPr/>
          <p:nvPr/>
        </p:nvSpPr>
        <p:spPr>
          <a:xfrm>
            <a:off x="960120" y="1938528"/>
            <a:ext cx="896112" cy="256032"/>
          </a:xfrm>
          <a:prstGeom prst="roundRect">
            <a:avLst>
              <a:gd name="adj" fmla="val 50000"/>
            </a:avLst>
          </a:prstGeom>
          <a:solidFill>
            <a:srgbClr val="EFE7D2"/>
          </a:solidFill>
          <a:ln w="12700">
            <a:solidFill>
              <a:srgbClr val="EFE7D2"/>
            </a:solidFill>
            <a:prstDash val="solid"/>
          </a:ln>
        </p:spPr>
      </p:sp>
      <p:sp>
        <p:nvSpPr>
          <p:cNvPr id="31" name="Text 28"/>
          <p:cNvSpPr txBox="1"/>
          <p:nvPr/>
        </p:nvSpPr>
        <p:spPr>
          <a:xfrm>
            <a:off x="960120"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32" name="Shape 29"/>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4" name="Text 31"/>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صَدِيقٌ مُقَرَّبٌ</a:t>
            </a:r>
            <a:endParaRPr lang="ar-SA" sz="3000" dirty="0"/>
          </a:p>
        </p:txBody>
      </p:sp>
      <p:sp>
        <p:nvSpPr>
          <p:cNvPr id="35" name="Text 32"/>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close friend</a:t>
            </a:r>
            <a:endParaRPr lang="en-US" sz="1350" dirty="0"/>
          </a:p>
          <a:p>
            <a:pPr indent="0" marL="0">
              <a:buNone/>
            </a:pPr>
            <a:r>
              <a:rPr lang="en-US" sz="1100" i="1" dirty="0">
                <a:solidFill>
                  <a:srgbClr val="5A6472"/>
                </a:solidFill>
                <a:latin typeface="Calibri" pitchFamily="34" charset="0"/>
                <a:cs typeface="Amiri" pitchFamily="2" charset="-78"/>
              </a:rPr>
              <a:t>ṣa-dī-qun mu-qar-ra-bun</a:t>
            </a:r>
            <a:endParaRPr lang="en-US" sz="1350" dirty="0"/>
          </a:p>
        </p:txBody>
      </p:sp>
      <p:sp>
        <p:nvSpPr>
          <p:cNvPr id="36" name="Shape 33"/>
          <p:cNvSpPr/>
          <p:nvPr/>
        </p:nvSpPr>
        <p:spPr>
          <a:xfrm>
            <a:off x="2898648" y="3438144"/>
            <a:ext cx="1060704" cy="438912"/>
          </a:xfrm>
          <a:prstGeom prst="roundRect">
            <a:avLst>
              <a:gd name="adj" fmla="val 10417"/>
            </a:avLst>
          </a:prstGeom>
          <a:solidFill>
            <a:srgbClr val="F4F1EA"/>
          </a:solidFill>
          <a:ln w="9525">
            <a:solidFill>
              <a:srgbClr val="F4F1EA"/>
            </a:solidFill>
            <a:prstDash val="solid"/>
          </a:ln>
        </p:spPr>
      </p:sp>
      <p:sp>
        <p:nvSpPr>
          <p:cNvPr id="37" name="Text 34"/>
          <p:cNvSpPr txBox="1"/>
          <p:nvPr/>
        </p:nvSpPr>
        <p:spPr>
          <a:xfrm>
            <a:off x="295351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38" name="Text 35"/>
          <p:cNvSpPr txBox="1"/>
          <p:nvPr/>
        </p:nvSpPr>
        <p:spPr>
          <a:xfrm>
            <a:off x="2944368" y="3483864"/>
            <a:ext cx="969264" cy="384048"/>
          </a:xfrm>
          <a:prstGeom prst="rect">
            <a:avLst/>
          </a:prstGeom>
          <a:noFill/>
          <a:ln/>
        </p:spPr>
        <p:txBody>
          <a:bodyPr wrap="square" lIns="0" tIns="0" rIns="0" bIns="0" rtlCol="0" anchor="ctr"/>
          <a:lstStyle/>
          <a:p>
            <a:pPr rtl="1" algn="ctr" indent="0" marL="0">
              <a:buNone/>
            </a:pPr>
            <a:r>
              <a:rPr lang="ar-SA" altLang="en-US" sz="1450" b="1" dirty="0">
                <a:solidFill>
                  <a:srgbClr val="1B3B6F"/>
                </a:solidFill>
                <a:latin typeface="Amiri" pitchFamily="2" charset="-78"/>
                <a:ea typeface="Amiri" pitchFamily="2" charset="-78"/>
                <a:cs typeface="Amiri" pitchFamily="2" charset="-78"/>
              </a:rPr>
              <a:t>أَصْدِقَاءُ مُقَرَّبُونَ</a:t>
            </a:r>
            <a:endParaRPr lang="ar-SA" sz="1450" dirty="0"/>
          </a:p>
        </p:txBody>
      </p:sp>
      <p:sp>
        <p:nvSpPr>
          <p:cNvPr id="39" name="Shape 36"/>
          <p:cNvSpPr/>
          <p:nvPr/>
        </p:nvSpPr>
        <p:spPr>
          <a:xfrm>
            <a:off x="1746504" y="3438144"/>
            <a:ext cx="1060704" cy="438912"/>
          </a:xfrm>
          <a:prstGeom prst="roundRect">
            <a:avLst>
              <a:gd name="adj" fmla="val 10417"/>
            </a:avLst>
          </a:prstGeom>
          <a:solidFill>
            <a:srgbClr val="F4F1EA"/>
          </a:solidFill>
          <a:ln w="9525">
            <a:solidFill>
              <a:srgbClr val="F4F1EA"/>
            </a:solidFill>
            <a:prstDash val="solid"/>
          </a:ln>
        </p:spPr>
      </p:sp>
      <p:sp>
        <p:nvSpPr>
          <p:cNvPr id="40" name="Text 37"/>
          <p:cNvSpPr txBox="1"/>
          <p:nvPr/>
        </p:nvSpPr>
        <p:spPr>
          <a:xfrm>
            <a:off x="180136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41" name="Text 38"/>
          <p:cNvSpPr txBox="1"/>
          <p:nvPr/>
        </p:nvSpPr>
        <p:spPr>
          <a:xfrm>
            <a:off x="179222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صَدِيقَةٌ مُقَرَّبَةٌ</a:t>
            </a:r>
            <a:endParaRPr lang="ar-SA" sz="1500" dirty="0"/>
          </a:p>
        </p:txBody>
      </p:sp>
      <p:sp>
        <p:nvSpPr>
          <p:cNvPr id="42" name="Shape 39"/>
          <p:cNvSpPr/>
          <p:nvPr/>
        </p:nvSpPr>
        <p:spPr>
          <a:xfrm>
            <a:off x="594360" y="3438144"/>
            <a:ext cx="1060704"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64922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44" name="Text 41"/>
          <p:cNvSpPr txBox="1"/>
          <p:nvPr/>
        </p:nvSpPr>
        <p:spPr>
          <a:xfrm>
            <a:off x="64008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صَدِيقٌ مُقَرَّبٌ</a:t>
            </a:r>
            <a:endParaRPr lang="ar-SA" sz="1500" dirty="0"/>
          </a:p>
        </p:txBody>
      </p:sp>
      <p:sp>
        <p:nvSpPr>
          <p:cNvPr id="45" name="Shape 42"/>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11312" y="4261104"/>
            <a:ext cx="310896" cy="310896"/>
          </a:xfrm>
          <a:prstGeom prst="ellipse">
            <a:avLst/>
          </a:prstGeom>
          <a:solidFill>
            <a:srgbClr val="F4F1EA"/>
          </a:solidFill>
          <a:ln w="12700">
            <a:solidFill>
              <a:srgbClr val="F4F1EA"/>
            </a:solidFill>
            <a:prstDash val="solid"/>
          </a:ln>
        </p:spPr>
      </p:sp>
      <p:sp>
        <p:nvSpPr>
          <p:cNvPr id="47" name="Text 44"/>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12</a:t>
            </a:r>
            <a:endParaRPr lang="en-US" sz="1000" dirty="0"/>
          </a:p>
        </p:txBody>
      </p:sp>
      <p:sp>
        <p:nvSpPr>
          <p:cNvPr id="48" name="Shape 45"/>
          <p:cNvSpPr/>
          <p:nvPr/>
        </p:nvSpPr>
        <p:spPr>
          <a:xfrm>
            <a:off x="8604504" y="4279392"/>
            <a:ext cx="709574" cy="256032"/>
          </a:xfrm>
          <a:prstGeom prst="roundRect">
            <a:avLst>
              <a:gd name="adj" fmla="val 50000"/>
            </a:avLst>
          </a:prstGeom>
          <a:solidFill>
            <a:srgbClr val="EFE7D2"/>
          </a:solidFill>
          <a:ln w="12700">
            <a:solidFill>
              <a:srgbClr val="EFE7D2"/>
            </a:solidFill>
            <a:prstDash val="solid"/>
          </a:ln>
        </p:spPr>
      </p:sp>
      <p:sp>
        <p:nvSpPr>
          <p:cNvPr id="49" name="Text 46"/>
          <p:cNvSpPr txBox="1"/>
          <p:nvPr/>
        </p:nvSpPr>
        <p:spPr>
          <a:xfrm>
            <a:off x="8604504" y="4279392"/>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50" name="Text 47"/>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عَلَاقَةٌ قَوِيَّةٌ</a:t>
            </a:r>
            <a:endParaRPr lang="ar-SA" sz="3000" dirty="0"/>
          </a:p>
        </p:txBody>
      </p:sp>
      <p:sp>
        <p:nvSpPr>
          <p:cNvPr id="51" name="Text 48"/>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strong relationship</a:t>
            </a:r>
            <a:endParaRPr lang="en-US" sz="1350" dirty="0"/>
          </a:p>
          <a:p>
            <a:pPr indent="0" marL="0">
              <a:buNone/>
            </a:pPr>
            <a:r>
              <a:rPr lang="en-US" sz="1100" i="1" dirty="0">
                <a:solidFill>
                  <a:srgbClr val="5A6472"/>
                </a:solidFill>
                <a:latin typeface="Calibri" pitchFamily="34" charset="0"/>
                <a:cs typeface="Amiri" pitchFamily="2" charset="-78"/>
              </a:rPr>
              <a:t>ʿa-lā-qa-tun qa-wiy-ya-tun</a:t>
            </a:r>
            <a:endParaRPr lang="en-US" sz="1350" dirty="0"/>
          </a:p>
        </p:txBody>
      </p:sp>
      <p:sp>
        <p:nvSpPr>
          <p:cNvPr id="52" name="Shape 49"/>
          <p:cNvSpPr/>
          <p:nvPr/>
        </p:nvSpPr>
        <p:spPr>
          <a:xfrm>
            <a:off x="10543032" y="5779008"/>
            <a:ext cx="1060704" cy="438912"/>
          </a:xfrm>
          <a:prstGeom prst="roundRect">
            <a:avLst>
              <a:gd name="adj" fmla="val 10417"/>
            </a:avLst>
          </a:prstGeom>
          <a:solidFill>
            <a:srgbClr val="F4F1EA"/>
          </a:solidFill>
          <a:ln w="9525">
            <a:solidFill>
              <a:srgbClr val="F4F1EA"/>
            </a:solidFill>
            <a:prstDash val="solid"/>
          </a:ln>
        </p:spPr>
      </p:sp>
      <p:sp>
        <p:nvSpPr>
          <p:cNvPr id="53" name="Text 50"/>
          <p:cNvSpPr txBox="1"/>
          <p:nvPr/>
        </p:nvSpPr>
        <p:spPr>
          <a:xfrm>
            <a:off x="1059789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54" name="Text 51"/>
          <p:cNvSpPr txBox="1"/>
          <p:nvPr/>
        </p:nvSpPr>
        <p:spPr>
          <a:xfrm>
            <a:off x="1058875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عَلَاقَاتٌ قَوِيَّةٌ</a:t>
            </a:r>
            <a:endParaRPr lang="ar-SA" sz="1500" dirty="0"/>
          </a:p>
        </p:txBody>
      </p:sp>
      <p:sp>
        <p:nvSpPr>
          <p:cNvPr id="55" name="Shape 52"/>
          <p:cNvSpPr/>
          <p:nvPr/>
        </p:nvSpPr>
        <p:spPr>
          <a:xfrm>
            <a:off x="9390888" y="5779008"/>
            <a:ext cx="1060704" cy="438912"/>
          </a:xfrm>
          <a:prstGeom prst="roundRect">
            <a:avLst>
              <a:gd name="adj" fmla="val 10417"/>
            </a:avLst>
          </a:prstGeom>
          <a:solidFill>
            <a:srgbClr val="F4F1EA"/>
          </a:solidFill>
          <a:ln w="9525">
            <a:solidFill>
              <a:srgbClr val="F4F1EA"/>
            </a:solidFill>
            <a:prstDash val="solid"/>
          </a:ln>
        </p:spPr>
      </p:sp>
      <p:sp>
        <p:nvSpPr>
          <p:cNvPr id="56" name="Text 53"/>
          <p:cNvSpPr txBox="1"/>
          <p:nvPr/>
        </p:nvSpPr>
        <p:spPr>
          <a:xfrm>
            <a:off x="9445752" y="5788152"/>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weak</a:t>
            </a:r>
            <a:endParaRPr lang="en-US" sz="700" dirty="0"/>
          </a:p>
        </p:txBody>
      </p:sp>
      <p:sp>
        <p:nvSpPr>
          <p:cNvPr id="57" name="Text 54"/>
          <p:cNvSpPr txBox="1"/>
          <p:nvPr/>
        </p:nvSpPr>
        <p:spPr>
          <a:xfrm>
            <a:off x="9436608" y="5916168"/>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عَلَاقَةٌ ضَعِيفَةٌ</a:t>
            </a:r>
            <a:endParaRPr lang="ar-SA" sz="1350" dirty="0"/>
          </a:p>
        </p:txBody>
      </p:sp>
      <p:sp>
        <p:nvSpPr>
          <p:cNvPr id="58" name="Shape 55"/>
          <p:cNvSpPr/>
          <p:nvPr/>
        </p:nvSpPr>
        <p:spPr>
          <a:xfrm>
            <a:off x="8238744" y="5779008"/>
            <a:ext cx="1060704" cy="438912"/>
          </a:xfrm>
          <a:prstGeom prst="roundRect">
            <a:avLst>
              <a:gd name="adj" fmla="val 10417"/>
            </a:avLst>
          </a:prstGeom>
          <a:solidFill>
            <a:srgbClr val="F4F1EA"/>
          </a:solidFill>
          <a:ln w="9525">
            <a:solidFill>
              <a:srgbClr val="F4F1EA"/>
            </a:solidFill>
            <a:prstDash val="solid"/>
          </a:ln>
        </p:spPr>
      </p:sp>
      <p:sp>
        <p:nvSpPr>
          <p:cNvPr id="59" name="Text 56"/>
          <p:cNvSpPr txBox="1"/>
          <p:nvPr/>
        </p:nvSpPr>
        <p:spPr>
          <a:xfrm>
            <a:off x="8293608"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one</a:t>
            </a:r>
            <a:endParaRPr lang="en-US" sz="750" dirty="0"/>
          </a:p>
        </p:txBody>
      </p:sp>
      <p:sp>
        <p:nvSpPr>
          <p:cNvPr id="60" name="Text 57"/>
          <p:cNvSpPr txBox="1"/>
          <p:nvPr/>
        </p:nvSpPr>
        <p:spPr>
          <a:xfrm>
            <a:off x="8284464"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عَلَاقَةٌ قَوِيَّةٌ</a:t>
            </a:r>
            <a:endParaRPr lang="ar-SA" sz="1500" dirty="0"/>
          </a:p>
        </p:txBody>
      </p:sp>
      <p:sp>
        <p:nvSpPr>
          <p:cNvPr id="61" name="Text 5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46</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TB-L02 · Family and Friends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Reasons and contrast (1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TB-L02</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13</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لِأَنَّ</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because</a:t>
            </a:r>
            <a:endParaRPr lang="en-US" sz="1350" dirty="0"/>
          </a:p>
          <a:p>
            <a:pPr indent="0" marL="0">
              <a:buNone/>
            </a:pPr>
            <a:r>
              <a:rPr lang="en-US" sz="1100" i="1" dirty="0">
                <a:solidFill>
                  <a:srgbClr val="5A6472"/>
                </a:solidFill>
                <a:latin typeface="Calibri" pitchFamily="34" charset="0"/>
                <a:cs typeface="Amiri" pitchFamily="2" charset="-78"/>
              </a:rPr>
              <a:t>li-ʾan-na</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14</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لِذٰلِكَ</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therefore</a:t>
            </a:r>
            <a:endParaRPr lang="en-US" sz="1350" dirty="0"/>
          </a:p>
          <a:p>
            <a:pPr indent="0" marL="0">
              <a:buNone/>
            </a:pPr>
            <a:r>
              <a:rPr lang="en-US" sz="1100" i="1" dirty="0">
                <a:solidFill>
                  <a:srgbClr val="5A6472"/>
                </a:solidFill>
                <a:latin typeface="Calibri" pitchFamily="34" charset="0"/>
                <a:cs typeface="Amiri" pitchFamily="2" charset="-78"/>
              </a:rPr>
              <a:t>li-dhā-li-ka</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15</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وَلٰكِنَّ</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but/however</a:t>
            </a:r>
            <a:endParaRPr lang="en-US" sz="1350" dirty="0"/>
          </a:p>
          <a:p>
            <a:pPr indent="0" marL="0">
              <a:buNone/>
            </a:pPr>
            <a:r>
              <a:rPr lang="en-US" sz="1100" i="1" dirty="0">
                <a:solidFill>
                  <a:srgbClr val="5A6472"/>
                </a:solidFill>
                <a:latin typeface="Calibri" pitchFamily="34" charset="0"/>
                <a:cs typeface="Amiri" pitchFamily="2" charset="-78"/>
              </a:rPr>
              <a:t>wa-lā-kin-na</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16</a:t>
            </a:r>
            <a:endParaRPr lang="en-US" sz="1000" dirty="0"/>
          </a:p>
        </p:txBody>
      </p:sp>
      <p:sp>
        <p:nvSpPr>
          <p:cNvPr id="35" name="Text 3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بَيْنَمَا</a:t>
            </a:r>
            <a:endParaRPr lang="ar-SA" sz="3000" dirty="0"/>
          </a:p>
        </p:txBody>
      </p:sp>
      <p:sp>
        <p:nvSpPr>
          <p:cNvPr id="36" name="Text 3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whereas/while</a:t>
            </a:r>
            <a:endParaRPr lang="en-US" sz="1350" dirty="0"/>
          </a:p>
          <a:p>
            <a:pPr indent="0" marL="0">
              <a:buNone/>
            </a:pPr>
            <a:r>
              <a:rPr lang="en-US" sz="1100" i="1" dirty="0">
                <a:solidFill>
                  <a:srgbClr val="5A6472"/>
                </a:solidFill>
                <a:latin typeface="Calibri" pitchFamily="34" charset="0"/>
                <a:cs typeface="Amiri" pitchFamily="2" charset="-78"/>
              </a:rPr>
              <a:t>bay-na-mā</a:t>
            </a:r>
            <a:endParaRPr lang="en-US" sz="13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46</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TB-L02 · Family and Friends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Reasons and contrast (2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TB-L02</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17</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عَلَى الرَّغْمِ مِنْ أَنَّ</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although</a:t>
            </a:r>
            <a:endParaRPr lang="en-US" sz="1350" dirty="0"/>
          </a:p>
          <a:p>
            <a:pPr indent="0" marL="0">
              <a:buNone/>
            </a:pPr>
            <a:r>
              <a:rPr lang="en-US" sz="1100" i="1" dirty="0">
                <a:solidFill>
                  <a:srgbClr val="5A6472"/>
                </a:solidFill>
                <a:latin typeface="Calibri" pitchFamily="34" charset="0"/>
                <a:cs typeface="Amiri" pitchFamily="2" charset="-78"/>
              </a:rPr>
              <a:t>ʿa-lā ar-ragh-mi min an-na</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18</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فِي رَأْيِي</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in my opinion</a:t>
            </a:r>
            <a:endParaRPr lang="en-US" sz="1350" dirty="0"/>
          </a:p>
          <a:p>
            <a:pPr indent="0" marL="0">
              <a:buNone/>
            </a:pPr>
            <a:r>
              <a:rPr lang="en-US" sz="1100" i="1" dirty="0">
                <a:solidFill>
                  <a:srgbClr val="5A6472"/>
                </a:solidFill>
                <a:latin typeface="Calibri" pitchFamily="34" charset="0"/>
                <a:cs typeface="Amiri" pitchFamily="2" charset="-78"/>
              </a:rPr>
              <a:t>fī raʾ-yī</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19</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مِنْ جِهَةٍ</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on one hand</a:t>
            </a:r>
            <a:endParaRPr lang="en-US" sz="1350" dirty="0"/>
          </a:p>
          <a:p>
            <a:pPr indent="0" marL="0">
              <a:buNone/>
            </a:pPr>
            <a:r>
              <a:rPr lang="en-US" sz="1100" i="1" dirty="0">
                <a:solidFill>
                  <a:srgbClr val="5A6472"/>
                </a:solidFill>
                <a:latin typeface="Calibri" pitchFamily="34" charset="0"/>
                <a:cs typeface="Amiri" pitchFamily="2" charset="-78"/>
              </a:rPr>
              <a:t>min ji-ha-tin</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20</a:t>
            </a:r>
            <a:endParaRPr lang="en-US" sz="1000" dirty="0"/>
          </a:p>
        </p:txBody>
      </p:sp>
      <p:sp>
        <p:nvSpPr>
          <p:cNvPr id="35" name="Text 3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مِنْ جِهَةٍ أُخْرَى</a:t>
            </a:r>
            <a:endParaRPr lang="ar-SA" sz="3000" dirty="0"/>
          </a:p>
        </p:txBody>
      </p:sp>
      <p:sp>
        <p:nvSpPr>
          <p:cNvPr id="36" name="Text 3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on the other hand</a:t>
            </a:r>
            <a:endParaRPr lang="en-US" sz="1350" dirty="0"/>
          </a:p>
          <a:p>
            <a:pPr indent="0" marL="0">
              <a:buNone/>
            </a:pPr>
            <a:r>
              <a:rPr lang="en-US" sz="1100" i="1" dirty="0">
                <a:solidFill>
                  <a:srgbClr val="5A6472"/>
                </a:solidFill>
                <a:latin typeface="Calibri" pitchFamily="34" charset="0"/>
                <a:cs typeface="Amiri" pitchFamily="2" charset="-78"/>
              </a:rPr>
              <a:t>min ji-ha-tin ukh-rā</a:t>
            </a:r>
            <a:endParaRPr lang="en-US" sz="13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46</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TB-L02 · Family and Friends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cs typeface="Amiri" pitchFamily="2" charset="-78"/>
              </a:rPr>
              <a:t>GRAMMAR FOCUS · PART 1 · OBJECT PRONOUNS (WEBSITE RULE + TABLE)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Who receives the action?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ضَمَائِرُ المَفْعُولِ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964424" y="1810512"/>
            <a:ext cx="36941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With a noun</a:t>
            </a:r>
            <a:endParaRPr lang="en-US" sz="1100" dirty="0"/>
          </a:p>
        </p:txBody>
      </p:sp>
      <p:sp>
        <p:nvSpPr>
          <p:cNvPr id="17" name="Text 14"/>
          <p:cNvSpPr txBox="1"/>
          <p:nvPr/>
        </p:nvSpPr>
        <p:spPr>
          <a:xfrm>
            <a:off x="4672584" y="1810512"/>
            <a:ext cx="3145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With an ending</a:t>
            </a:r>
            <a:endParaRPr lang="en-US" sz="1100" dirty="0"/>
          </a:p>
        </p:txBody>
      </p:sp>
      <p:sp>
        <p:nvSpPr>
          <p:cNvPr id="18" name="Text 15"/>
          <p:cNvSpPr txBox="1"/>
          <p:nvPr/>
        </p:nvSpPr>
        <p:spPr>
          <a:xfrm>
            <a:off x="530352" y="1810512"/>
            <a:ext cx="39959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7982712" y="2286000"/>
            <a:ext cx="3657600" cy="422928"/>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2" charset="-78"/>
                <a:ea typeface="Amiri" pitchFamily="2" charset="-78"/>
                <a:cs typeface="Amiri" pitchFamily="2" charset="-78"/>
              </a:rPr>
              <a:t>أَحْتَرِمُ أَخِي.</a:t>
            </a:r>
            <a:endParaRPr lang="ar-SA" sz="1950" dirty="0"/>
          </a:p>
        </p:txBody>
      </p:sp>
      <p:sp>
        <p:nvSpPr>
          <p:cNvPr id="21" name="Text 18"/>
          <p:cNvSpPr txBox="1"/>
          <p:nvPr/>
        </p:nvSpPr>
        <p:spPr>
          <a:xfrm>
            <a:off x="7936992" y="2676997"/>
            <a:ext cx="374904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I respect my brother.</a:t>
            </a:r>
            <a:endParaRPr lang="en-US" sz="950" dirty="0"/>
          </a:p>
        </p:txBody>
      </p:sp>
      <p:sp>
        <p:nvSpPr>
          <p:cNvPr id="22" name="Text 19"/>
          <p:cNvSpPr txBox="1"/>
          <p:nvPr/>
        </p:nvSpPr>
        <p:spPr>
          <a:xfrm>
            <a:off x="4690872" y="2267712"/>
            <a:ext cx="3108960" cy="682142"/>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أَحْتَرِمُ</a:t>
            </a:r>
            <a:pPr rtl="1" algn="ctr" indent="0" marL="0">
              <a:buNone/>
            </a:pPr>
            <a:r>
              <a:rPr lang="ar-SA" altLang="en-US" sz="2600" b="1" dirty="0">
                <a:solidFill>
                  <a:srgbClr val="1D5FBF"/>
                </a:solidFill>
                <a:latin typeface="Amiri" pitchFamily="2" charset="-78"/>
                <a:ea typeface="Amiri" pitchFamily="2" charset="-78"/>
                <a:cs typeface="Amiri" pitchFamily="2" charset="-78"/>
              </a:rPr>
              <a:t>هُ</a:t>
            </a:r>
            <a:endParaRPr lang="ar-SA" sz="2600" dirty="0"/>
          </a:p>
        </p:txBody>
      </p:sp>
      <p:sp>
        <p:nvSpPr>
          <p:cNvPr id="23" name="Text 20"/>
          <p:cNvSpPr txBox="1"/>
          <p:nvPr/>
        </p:nvSpPr>
        <p:spPr>
          <a:xfrm>
            <a:off x="566928" y="2267712"/>
            <a:ext cx="39593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 respect him.</a:t>
            </a:r>
            <a:endParaRPr lang="en-US" sz="1100" dirty="0"/>
          </a:p>
        </p:txBody>
      </p:sp>
      <p:sp>
        <p:nvSpPr>
          <p:cNvPr id="24" name="Shape 21"/>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5" name="Text 22"/>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6" name="Shape 23"/>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7" name="Text 24"/>
          <p:cNvSpPr txBox="1"/>
          <p:nvPr/>
        </p:nvSpPr>
        <p:spPr>
          <a:xfrm>
            <a:off x="7982712" y="3023006"/>
            <a:ext cx="3657600" cy="422928"/>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2" charset="-78"/>
                <a:ea typeface="Amiri" pitchFamily="2" charset="-78"/>
                <a:cs typeface="Amiri" pitchFamily="2" charset="-78"/>
              </a:rPr>
              <a:t>أَحْتَرِمُ أُمِّي.</a:t>
            </a:r>
            <a:endParaRPr lang="ar-SA" sz="1950" dirty="0"/>
          </a:p>
        </p:txBody>
      </p:sp>
      <p:sp>
        <p:nvSpPr>
          <p:cNvPr id="28" name="Text 25"/>
          <p:cNvSpPr txBox="1"/>
          <p:nvPr/>
        </p:nvSpPr>
        <p:spPr>
          <a:xfrm>
            <a:off x="7936992" y="3414004"/>
            <a:ext cx="374904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I respect my mother.</a:t>
            </a:r>
            <a:endParaRPr lang="en-US" sz="950" dirty="0"/>
          </a:p>
        </p:txBody>
      </p:sp>
      <p:sp>
        <p:nvSpPr>
          <p:cNvPr id="29" name="Text 26"/>
          <p:cNvSpPr txBox="1"/>
          <p:nvPr/>
        </p:nvSpPr>
        <p:spPr>
          <a:xfrm>
            <a:off x="4690872" y="3004718"/>
            <a:ext cx="3108960" cy="682142"/>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أَحْتَرِمُ</a:t>
            </a:r>
            <a:pPr rtl="1" algn="ctr" indent="0" marL="0">
              <a:buNone/>
            </a:pPr>
            <a:r>
              <a:rPr lang="ar-SA" altLang="en-US" sz="2600" b="1" dirty="0">
                <a:solidFill>
                  <a:srgbClr val="D6336C"/>
                </a:solidFill>
                <a:latin typeface="Amiri" pitchFamily="2" charset="-78"/>
                <a:ea typeface="Amiri" pitchFamily="2" charset="-78"/>
                <a:cs typeface="Amiri" pitchFamily="2" charset="-78"/>
              </a:rPr>
              <a:t>هَا</a:t>
            </a:r>
            <a:endParaRPr lang="ar-SA" sz="2600" dirty="0"/>
          </a:p>
        </p:txBody>
      </p:sp>
      <p:sp>
        <p:nvSpPr>
          <p:cNvPr id="30" name="Text 27"/>
          <p:cNvSpPr txBox="1"/>
          <p:nvPr/>
        </p:nvSpPr>
        <p:spPr>
          <a:xfrm>
            <a:off x="566928" y="3004718"/>
            <a:ext cx="39593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 respect her.</a:t>
            </a:r>
            <a:endParaRPr lang="en-US" sz="1100" dirty="0"/>
          </a:p>
        </p:txBody>
      </p:sp>
      <p:sp>
        <p:nvSpPr>
          <p:cNvPr id="31" name="Shape 28"/>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3" name="Shape 30"/>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4" name="Text 31"/>
          <p:cNvSpPr txBox="1"/>
          <p:nvPr/>
        </p:nvSpPr>
        <p:spPr>
          <a:xfrm>
            <a:off x="7982712" y="3760013"/>
            <a:ext cx="3657600" cy="422928"/>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2" charset="-78"/>
                <a:ea typeface="Amiri" pitchFamily="2" charset="-78"/>
                <a:cs typeface="Amiri" pitchFamily="2" charset="-78"/>
              </a:rPr>
              <a:t>أَبِي يَدْعَمُ ابْنَهُ.</a:t>
            </a:r>
            <a:endParaRPr lang="ar-SA" sz="1950" dirty="0"/>
          </a:p>
        </p:txBody>
      </p:sp>
      <p:sp>
        <p:nvSpPr>
          <p:cNvPr id="35" name="Text 32"/>
          <p:cNvSpPr txBox="1"/>
          <p:nvPr/>
        </p:nvSpPr>
        <p:spPr>
          <a:xfrm>
            <a:off x="7936992" y="4151010"/>
            <a:ext cx="374904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My father supports his son.</a:t>
            </a:r>
            <a:endParaRPr lang="en-US" sz="950" dirty="0"/>
          </a:p>
        </p:txBody>
      </p:sp>
      <p:sp>
        <p:nvSpPr>
          <p:cNvPr id="36" name="Text 33"/>
          <p:cNvSpPr txBox="1"/>
          <p:nvPr/>
        </p:nvSpPr>
        <p:spPr>
          <a:xfrm>
            <a:off x="4690872" y="3741725"/>
            <a:ext cx="3108960" cy="682142"/>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أَبِي يَدْعَمُ</a:t>
            </a:r>
            <a:pPr rtl="1" algn="ctr" indent="0" marL="0">
              <a:buNone/>
            </a:pPr>
            <a:r>
              <a:rPr lang="ar-SA" altLang="en-US" sz="2600" b="1" dirty="0">
                <a:solidFill>
                  <a:srgbClr val="0E7C86"/>
                </a:solidFill>
                <a:latin typeface="Amiri" pitchFamily="2" charset="-78"/>
                <a:ea typeface="Amiri" pitchFamily="2" charset="-78"/>
                <a:cs typeface="Amiri" pitchFamily="2" charset="-78"/>
              </a:rPr>
              <a:t>نِي</a:t>
            </a:r>
            <a:endParaRPr lang="ar-SA" sz="2600" dirty="0"/>
          </a:p>
        </p:txBody>
      </p:sp>
      <p:sp>
        <p:nvSpPr>
          <p:cNvPr id="37" name="Text 34"/>
          <p:cNvSpPr txBox="1"/>
          <p:nvPr/>
        </p:nvSpPr>
        <p:spPr>
          <a:xfrm>
            <a:off x="566928" y="3741725"/>
            <a:ext cx="39593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My father supports me.</a:t>
            </a:r>
            <a:endParaRPr lang="en-US" sz="1100" dirty="0"/>
          </a:p>
        </p:txBody>
      </p:sp>
      <p:sp>
        <p:nvSpPr>
          <p:cNvPr id="38" name="Shape 35"/>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39" name="Text 36"/>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0" name="Shape 37"/>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1" name="Text 38"/>
          <p:cNvSpPr txBox="1"/>
          <p:nvPr/>
        </p:nvSpPr>
        <p:spPr>
          <a:xfrm>
            <a:off x="7982712" y="4497019"/>
            <a:ext cx="3657600" cy="422928"/>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2" charset="-78"/>
                <a:ea typeface="Amiri" pitchFamily="2" charset="-78"/>
                <a:cs typeface="Amiri" pitchFamily="2" charset="-78"/>
              </a:rPr>
              <a:t>أُخْتِي تُسَاعِدُ أَخَاهَا.</a:t>
            </a:r>
            <a:endParaRPr lang="ar-SA" sz="1950" dirty="0"/>
          </a:p>
        </p:txBody>
      </p:sp>
      <p:sp>
        <p:nvSpPr>
          <p:cNvPr id="42" name="Text 39"/>
          <p:cNvSpPr txBox="1"/>
          <p:nvPr/>
        </p:nvSpPr>
        <p:spPr>
          <a:xfrm>
            <a:off x="7936992" y="4888017"/>
            <a:ext cx="374904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My sister helps her brother.</a:t>
            </a:r>
            <a:endParaRPr lang="en-US" sz="950" dirty="0"/>
          </a:p>
        </p:txBody>
      </p:sp>
      <p:sp>
        <p:nvSpPr>
          <p:cNvPr id="43" name="Text 40"/>
          <p:cNvSpPr txBox="1"/>
          <p:nvPr/>
        </p:nvSpPr>
        <p:spPr>
          <a:xfrm>
            <a:off x="4690872" y="4478731"/>
            <a:ext cx="3108960" cy="682142"/>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أُخْتِي تُسَاعِدُ</a:t>
            </a:r>
            <a:pPr rtl="1" algn="ctr" indent="0" marL="0">
              <a:buNone/>
            </a:pPr>
            <a:r>
              <a:rPr lang="ar-SA" altLang="en-US" sz="2600" b="1" dirty="0">
                <a:solidFill>
                  <a:srgbClr val="0E7C86"/>
                </a:solidFill>
                <a:latin typeface="Amiri" pitchFamily="2" charset="-78"/>
                <a:ea typeface="Amiri" pitchFamily="2" charset="-78"/>
                <a:cs typeface="Amiri" pitchFamily="2" charset="-78"/>
              </a:rPr>
              <a:t>نِي</a:t>
            </a:r>
            <a:endParaRPr lang="ar-SA" sz="2600" dirty="0"/>
          </a:p>
        </p:txBody>
      </p:sp>
      <p:sp>
        <p:nvSpPr>
          <p:cNvPr id="44" name="Text 41"/>
          <p:cNvSpPr txBox="1"/>
          <p:nvPr/>
        </p:nvSpPr>
        <p:spPr>
          <a:xfrm>
            <a:off x="566928" y="4478731"/>
            <a:ext cx="39593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My sister helps me.</a:t>
            </a:r>
            <a:endParaRPr lang="en-US" sz="1100" dirty="0"/>
          </a:p>
        </p:txBody>
      </p:sp>
      <p:sp>
        <p:nvSpPr>
          <p:cNvPr id="45" name="Shape 42"/>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6" name="Text 43"/>
          <p:cNvSpPr txBox="1"/>
          <p:nvPr/>
        </p:nvSpPr>
        <p:spPr>
          <a:xfrm>
            <a:off x="7982712" y="5234026"/>
            <a:ext cx="3657600" cy="422928"/>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2" charset="-78"/>
                <a:ea typeface="Amiri" pitchFamily="2" charset="-78"/>
                <a:cs typeface="Amiri" pitchFamily="2" charset="-78"/>
              </a:rPr>
              <a:t>نَتَفَاهَمُ مَعَ أَصْدِقَائِنَا.</a:t>
            </a:r>
            <a:endParaRPr lang="ar-SA" sz="1950" dirty="0"/>
          </a:p>
        </p:txBody>
      </p:sp>
      <p:sp>
        <p:nvSpPr>
          <p:cNvPr id="47" name="Text 44"/>
          <p:cNvSpPr txBox="1"/>
          <p:nvPr/>
        </p:nvSpPr>
        <p:spPr>
          <a:xfrm>
            <a:off x="7936992" y="5625023"/>
            <a:ext cx="374904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We get on with our friends.</a:t>
            </a:r>
            <a:endParaRPr lang="en-US" sz="950" dirty="0"/>
          </a:p>
        </p:txBody>
      </p:sp>
      <p:sp>
        <p:nvSpPr>
          <p:cNvPr id="48" name="Text 45"/>
          <p:cNvSpPr txBox="1"/>
          <p:nvPr/>
        </p:nvSpPr>
        <p:spPr>
          <a:xfrm>
            <a:off x="4690872" y="5215738"/>
            <a:ext cx="3108960" cy="682142"/>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نَتَفَاهَمُ مَعَ</a:t>
            </a:r>
            <a:pPr rtl="1" algn="ctr" indent="0" marL="0">
              <a:buNone/>
            </a:pPr>
            <a:r>
              <a:rPr lang="ar-SA" altLang="en-US" sz="2600" b="1" dirty="0">
                <a:solidFill>
                  <a:srgbClr val="1D5FBF"/>
                </a:solidFill>
                <a:latin typeface="Amiri" pitchFamily="2" charset="-78"/>
                <a:ea typeface="Amiri" pitchFamily="2" charset="-78"/>
                <a:cs typeface="Amiri" pitchFamily="2" charset="-78"/>
              </a:rPr>
              <a:t>هُمْ</a:t>
            </a:r>
            <a:endParaRPr lang="ar-SA" sz="2600" dirty="0"/>
          </a:p>
        </p:txBody>
      </p:sp>
      <p:sp>
        <p:nvSpPr>
          <p:cNvPr id="49" name="Text 46"/>
          <p:cNvSpPr txBox="1"/>
          <p:nvPr/>
        </p:nvSpPr>
        <p:spPr>
          <a:xfrm>
            <a:off x="566928" y="5215738"/>
            <a:ext cx="39593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We get on with them.</a:t>
            </a:r>
            <a:endParaRPr lang="en-US" sz="1100" dirty="0"/>
          </a:p>
        </p:txBody>
      </p:sp>
      <p:sp>
        <p:nvSpPr>
          <p:cNvPr id="50" name="Text 47"/>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Front of the verb = WHO does it (ya- he · ta- she). End of the verb = WHO receives it (-nī me · -hu him · -hā her).</a:t>
            </a:r>
            <a:endParaRPr lang="en-US" sz="1150" dirty="0"/>
          </a:p>
        </p:txBody>
      </p:sp>
      <p:sp>
        <p:nvSpPr>
          <p:cNvPr id="51" name="Text 4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46</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TB-L02 · Family and Friends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cs typeface="Amiri" pitchFamily="2" charset="-78"/>
              </a:rPr>
              <a:t>GRAMMAR FOCUS · PART 2 · WITH, TOGETHER, AND WHY (WEBSITE RULES)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50" b="1" dirty="0">
                <a:solidFill>
                  <a:srgbClr val="1B3B6F"/>
                </a:solidFill>
                <a:latin typeface="Cambria" pitchFamily="34" charset="0"/>
                <a:cs typeface="Amiri" pitchFamily="2" charset="-78"/>
              </a:rPr>
              <a:t>Get on with · we argue · because we</a:t>
            </a:r>
            <a:endParaRPr lang="en-US" sz="25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مَعَ · نَتَـ · لِأَنَّنَا</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TB-L02</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028700" cy="274320"/>
          </a:xfrm>
          <a:prstGeom prst="roundRect">
            <a:avLst>
              <a:gd name="adj" fmla="val 50000"/>
            </a:avLst>
          </a:prstGeom>
          <a:solidFill>
            <a:srgbClr val="1D5FBF"/>
          </a:solidFill>
          <a:ln w="12700">
            <a:solidFill>
              <a:srgbClr val="1D5FBF"/>
            </a:solidFill>
            <a:prstDash val="solid"/>
          </a:ln>
        </p:spPr>
      </p:sp>
      <p:sp>
        <p:nvSpPr>
          <p:cNvPr id="17" name="Text 14"/>
          <p:cNvSpPr txBox="1"/>
          <p:nvPr/>
        </p:nvSpPr>
        <p:spPr>
          <a:xfrm>
            <a:off x="8232648" y="1920240"/>
            <a:ext cx="10287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WITH · CORE</a:t>
            </a:r>
            <a:endParaRPr lang="en-US" sz="850" dirty="0"/>
          </a:p>
        </p:txBody>
      </p:sp>
      <p:sp>
        <p:nvSpPr>
          <p:cNvPr id="18" name="Text 15"/>
          <p:cNvSpPr txBox="1"/>
          <p:nvPr/>
        </p:nvSpPr>
        <p:spPr>
          <a:xfrm>
            <a:off x="9307068" y="1874520"/>
            <a:ext cx="228752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مَعَ</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2" charset="-78"/>
                <a:ea typeface="Amiri" pitchFamily="2" charset="-78"/>
                <a:cs typeface="Amiri" pitchFamily="2" charset="-78"/>
              </a:rPr>
              <a:t>أَتَفَاهَمُ مَعَ أُخْتِي، وَأَخْتَلِفُ مَعَ أَخِي أَحْيَانًا.</a:t>
            </a:r>
            <a:endParaRPr lang="ar-SA" sz="210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I get on with my sister, and I sometimes disagree with my brother.</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Never drop maʿa.</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508760" cy="274320"/>
          </a:xfrm>
          <a:prstGeom prst="roundRect">
            <a:avLst>
              <a:gd name="adj" fmla="val 50000"/>
            </a:avLst>
          </a:prstGeom>
          <a:solidFill>
            <a:srgbClr val="6B4C9A"/>
          </a:solidFill>
          <a:ln w="12700">
            <a:solidFill>
              <a:srgbClr val="6B4C9A"/>
            </a:solidFill>
            <a:prstDash val="solid"/>
          </a:ln>
        </p:spPr>
      </p:sp>
      <p:sp>
        <p:nvSpPr>
          <p:cNvPr id="25" name="Text 22"/>
          <p:cNvSpPr txBox="1"/>
          <p:nvPr/>
        </p:nvSpPr>
        <p:spPr>
          <a:xfrm>
            <a:off x="4413504" y="1920240"/>
            <a:ext cx="15087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TOGETHER · DEVELOP</a:t>
            </a:r>
            <a:endParaRPr lang="en-US" sz="850" dirty="0"/>
          </a:p>
        </p:txBody>
      </p:sp>
      <p:sp>
        <p:nvSpPr>
          <p:cNvPr id="26" name="Text 23"/>
          <p:cNvSpPr txBox="1"/>
          <p:nvPr/>
        </p:nvSpPr>
        <p:spPr>
          <a:xfrm>
            <a:off x="5967984" y="1874520"/>
            <a:ext cx="180746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نَتَـ…</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2" charset="-78"/>
                <a:ea typeface="Amiri" pitchFamily="2" charset="-78"/>
                <a:cs typeface="Amiri" pitchFamily="2" charset="-78"/>
              </a:rPr>
              <a:t>نَتَشَاجَرُ ثُمَّ نَتَصَالَحُ.</a:t>
            </a:r>
            <a:endParaRPr lang="ar-SA" sz="320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We argue, then we make up.</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na- = we, to each other.</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165860" cy="274320"/>
          </a:xfrm>
          <a:prstGeom prst="roundRect">
            <a:avLst>
              <a:gd name="adj" fmla="val 50000"/>
            </a:avLst>
          </a:prstGeom>
          <a:solidFill>
            <a:srgbClr val="1E7B4F"/>
          </a:solidFill>
          <a:ln w="12700">
            <a:solidFill>
              <a:srgbClr val="1E7B4F"/>
            </a:solidFill>
            <a:prstDash val="solid"/>
          </a:ln>
        </p:spPr>
      </p:sp>
      <p:sp>
        <p:nvSpPr>
          <p:cNvPr id="33" name="Text 30"/>
          <p:cNvSpPr txBox="1"/>
          <p:nvPr/>
        </p:nvSpPr>
        <p:spPr>
          <a:xfrm>
            <a:off x="594360" y="1920240"/>
            <a:ext cx="11658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WHY · DEVELOP</a:t>
            </a:r>
            <a:endParaRPr lang="en-US" sz="850" dirty="0"/>
          </a:p>
        </p:txBody>
      </p:sp>
      <p:sp>
        <p:nvSpPr>
          <p:cNvPr id="34" name="Text 31"/>
          <p:cNvSpPr txBox="1"/>
          <p:nvPr/>
        </p:nvSpPr>
        <p:spPr>
          <a:xfrm>
            <a:off x="1805940" y="1874520"/>
            <a:ext cx="215036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لِأَنَّنَا</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250" b="1" dirty="0">
                <a:solidFill>
                  <a:srgbClr val="1B3B6F"/>
                </a:solidFill>
                <a:latin typeface="Amiri" pitchFamily="2" charset="-78"/>
                <a:ea typeface="Amiri" pitchFamily="2" charset="-78"/>
                <a:cs typeface="Amiri" pitchFamily="2" charset="-78"/>
              </a:rPr>
              <a:t>نَتَفَاهَمُ لِأَنَّنَا نَسْتَمِعُ إِلَى بَعْضِنَا.</a:t>
            </a:r>
            <a:endParaRPr lang="ar-SA" sz="225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We get on because we listen to each other.</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Because we = li-annanā.</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cs typeface="Amiri" pitchFamily="2" charset="-78"/>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cs typeface="Amiri" pitchFamily="2" charset="-78"/>
              </a:rPr>
              <a:t>Website common error: do not drop maʿa after “I get on”.</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buNone/>
            </a:pPr>
            <a:r>
              <a:rPr lang="ar-SA" altLang="en-US" sz="2150" b="1" dirty="0">
                <a:solidFill>
                  <a:srgbClr val="1B3B6F"/>
                </a:solidFill>
                <a:latin typeface="Amiri" pitchFamily="2" charset="-78"/>
                <a:ea typeface="Amiri" pitchFamily="2" charset="-78"/>
                <a:cs typeface="Amiri" pitchFamily="2" charset="-78"/>
              </a:rPr>
              <a:t>أَتَفَاهَمُ مَعَ أُخْتِي.</a:t>
            </a:r>
            <a:endParaRPr lang="ar-SA" sz="215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buNone/>
            </a:pPr>
            <a:r>
              <a:rPr lang="ar-SA" altLang="en-US" sz="2600" b="1" dirty="0">
                <a:solidFill>
                  <a:srgbClr val="B83227"/>
                </a:solidFill>
                <a:latin typeface="Amiri" pitchFamily="2" charset="-78"/>
                <a:ea typeface="Amiri" pitchFamily="2" charset="-78"/>
                <a:cs typeface="Amiri" pitchFamily="2" charset="-78"/>
              </a:rPr>
              <a:t>أَتَفَاهَمُ أُخْتِي.</a:t>
            </a:r>
            <a:endParaRPr lang="ar-SA" sz="260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46</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TB-L02 · Family and Friends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FOCUS · THE WEBSITE RULES WITH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800" b="1" dirty="0">
                <a:solidFill>
                  <a:srgbClr val="1B3B6F"/>
                </a:solidFill>
                <a:latin typeface="Cambria" pitchFamily="34" charset="0"/>
                <a:cs typeface="Amiri" pitchFamily="2" charset="-78"/>
              </a:rPr>
              <a:t>Relationship verbs, object pronouns and reciprocity</a:t>
            </a:r>
            <a:endParaRPr lang="en-US" sz="1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200" b="1" dirty="0">
                <a:solidFill>
                  <a:srgbClr val="8A6D1E"/>
                </a:solidFill>
                <a:latin typeface="Amiri" pitchFamily="2" charset="-78"/>
                <a:ea typeface="Amiri" pitchFamily="2" charset="-78"/>
                <a:cs typeface="Amiri" pitchFamily="2" charset="-78"/>
              </a:rPr>
              <a:t>أَفْعَالُ العَلَاقَاتِ وَضَمَائِرُ المَفْعُولِ وَالتَّبَادُلُ</a:t>
            </a:r>
            <a:endParaRPr lang="ar-SA" sz="22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TB-L02</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1. Get on with / disagree with</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ea typeface="Amiri" pitchFamily="2" charset="-78"/>
                <a:cs typeface="Amiri" pitchFamily="2" charset="-78"/>
              </a:rPr>
              <a:t>أَتَفَاهَمُ مَعَ / أَخْتَلِفُ مَعَ + شَخْصٍ</a:t>
            </a:r>
            <a:endParaRPr lang="ar-SA" sz="13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أَتَفَاهَمُ مَعَ أُخْتِي.   ·   أَخْتَلِفُ مَعَ صَدِيقِي أَحْيَانًا.</a:t>
            </a:r>
            <a:endParaRPr lang="ar-SA" sz="200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2. Object pronouns</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ea typeface="Amiri" pitchFamily="2" charset="-78"/>
                <a:cs typeface="Amiri" pitchFamily="2" charset="-78"/>
              </a:rPr>
              <a:t>يَدْعَمُنِي / أُسَاعِدُهُ / أَحْتَرِمُهَا</a:t>
            </a:r>
            <a:endParaRPr lang="ar-SA" sz="13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أَبِي يَدْعَمُنِي.   ·   أَنَا أَحْتَرِمُهَا.</a:t>
            </a:r>
            <a:endParaRPr lang="ar-SA" sz="20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3. Reciprocal actions</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ea typeface="Amiri" pitchFamily="2" charset="-78"/>
                <a:cs typeface="Amiri" pitchFamily="2" charset="-78"/>
              </a:rPr>
              <a:t>نَتَعَاوَنُ / نَتَشَاجَرُ / نَتَصَالَحُ</a:t>
            </a:r>
            <a:endParaRPr lang="ar-SA" sz="13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نَتَعَاوَنُ فِي البَيْتِ.   ·   نَتَشَاجَرُ ثُمَّ نَتَصَالَحُ.</a:t>
            </a:r>
            <a:endParaRPr lang="ar-SA" sz="200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4. Explain the relationship</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ea typeface="Amiri" pitchFamily="2" charset="-78"/>
                <a:cs typeface="Amiri" pitchFamily="2" charset="-78"/>
              </a:rPr>
              <a:t>نَتَفَاهَمُ لِأَنَّنَا ... / نَخْتَلِفُ لِأَنَّ ...</a:t>
            </a:r>
            <a:endParaRPr lang="ar-SA" sz="13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نَتَفَاهَمُ لِأَنَّنَا نَسْتَمِعُ إِلَى بَعْضِنَا.   ·   نَخْتَلِفُ لِأَنَّ آرَاءَنَا مُخْتَلِفَةٌ.</a:t>
            </a:r>
            <a:endParaRPr lang="ar-SA" sz="200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46</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TB-L02 · Family and Friends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TB-L02</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“I get on with my sister.”</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أَتَفَاهَمُ أُخْتِي.</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يَتَفَاهَمُ مَعَ أُخْتِي.</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أَتَفَاهَمُ مَعَ أُخْتِي.</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يَدْعَمُنِي</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 supports me</a:t>
            </a:r>
            <a:endParaRPr lang="en-US" sz="12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 support him</a:t>
            </a:r>
            <a:endParaRPr lang="en-US" sz="12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she supports us</a:t>
            </a:r>
            <a:endParaRPr lang="en-US" sz="12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“I respect her.”</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أَحْتَرِمُهُ.</a:t>
            </a:r>
            <a:endParaRPr lang="ar-SA" sz="20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أَحْتَرِمُهَا.</a:t>
            </a:r>
            <a:endParaRPr lang="ar-SA" sz="20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تَحْتَرِمُنِي.</a:t>
            </a:r>
            <a:endParaRPr lang="ar-SA" sz="20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6679692"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58" name="Text 55"/>
          <p:cNvSpPr txBox="1"/>
          <p:nvPr/>
        </p:nvSpPr>
        <p:spPr>
          <a:xfrm>
            <a:off x="9052011"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نَتَفَاهَمُ ___ نَسْتَمِعُ إِلَى بَعْضِنَا.</a:t>
            </a:r>
            <a:endParaRPr lang="ar-SA" sz="1500" dirty="0"/>
          </a:p>
        </p:txBody>
      </p:sp>
      <p:sp>
        <p:nvSpPr>
          <p:cNvPr id="59" name="Shape 56"/>
          <p:cNvSpPr/>
          <p:nvPr/>
        </p:nvSpPr>
        <p:spPr>
          <a:xfrm>
            <a:off x="6368796" y="4873752"/>
            <a:ext cx="256032" cy="256032"/>
          </a:xfrm>
          <a:prstGeom prst="ellipse">
            <a:avLst/>
          </a:prstGeom>
          <a:solidFill>
            <a:srgbClr val="F4F1EA"/>
          </a:solidFill>
          <a:ln w="12700">
            <a:solidFill>
              <a:srgbClr val="F4F1EA"/>
            </a:solidFill>
            <a:prstDash val="solid"/>
          </a:ln>
        </p:spPr>
      </p:sp>
      <p:sp>
        <p:nvSpPr>
          <p:cNvPr id="60" name="Text 57"/>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1" name="Text 58"/>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لِأَنَّنَا</a:t>
            </a:r>
            <a:endParaRPr lang="ar-SA" sz="2050" dirty="0"/>
          </a:p>
        </p:txBody>
      </p:sp>
      <p:sp>
        <p:nvSpPr>
          <p:cNvPr id="62" name="Shape 59"/>
          <p:cNvSpPr/>
          <p:nvPr/>
        </p:nvSpPr>
        <p:spPr>
          <a:xfrm>
            <a:off x="6368796" y="53309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4" name="Text 61"/>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لِأَنَّهُ</a:t>
            </a:r>
            <a:endParaRPr lang="ar-SA" sz="2050" dirty="0"/>
          </a:p>
        </p:txBody>
      </p:sp>
      <p:sp>
        <p:nvSpPr>
          <p:cNvPr id="65" name="Shape 62"/>
          <p:cNvSpPr/>
          <p:nvPr/>
        </p:nvSpPr>
        <p:spPr>
          <a:xfrm>
            <a:off x="6368796" y="57881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7" name="Text 64"/>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وَلٰكِنَّهَا</a:t>
            </a:r>
            <a:endParaRPr lang="ar-SA" sz="2050" dirty="0"/>
          </a:p>
        </p:txBody>
      </p:sp>
      <p:sp>
        <p:nvSpPr>
          <p:cNvPr id="68" name="Text 6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46</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TB-L02 · Family and Friends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TB-L02</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“I get on with my sister.”</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أَتَفَاهَمُ أُخْتِي.</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يَتَفَاهَمُ مَعَ أُخْتِي.</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أَتَفَاهَمُ مَعَ أُخْتِي.</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Use </a:t>
            </a:r>
            <a:pPr algn="l" indent="0" marL="0">
              <a:buNone/>
            </a:pPr>
            <a:r>
              <a:rPr lang="ar-SA" altLang="en-US" sz="1350" dirty="0">
                <a:solidFill>
                  <a:srgbClr val="8A6D1E"/>
                </a:solidFill>
                <a:latin typeface="Amiri" pitchFamily="2" charset="-78"/>
                <a:ea typeface="Amiri" pitchFamily="2" charset="-78"/>
                <a:cs typeface="Amiri" pitchFamily="2" charset="-78"/>
              </a:rPr>
              <a:t>أَتَفَاهَمُ مَعَ</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يَدْعَمُنِي</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he supports me</a:t>
            </a:r>
            <a:endParaRPr lang="en-US" sz="125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 support him</a:t>
            </a:r>
            <a:endParaRPr lang="en-US" sz="125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she supports us</a:t>
            </a:r>
            <a:endParaRPr lang="en-US" sz="125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ـني</a:t>
            </a:r>
            <a:pPr algn="l" indent="0" marL="0">
              <a:buNone/>
            </a:pPr>
            <a:r>
              <a:rPr lang="en-US" sz="1050" i="1" dirty="0">
                <a:solidFill>
                  <a:srgbClr val="8A6D1E"/>
                </a:solidFill>
                <a:latin typeface="Calibri" pitchFamily="34" charset="0"/>
                <a:cs typeface="Amiri" pitchFamily="2" charset="-78"/>
              </a:rPr>
              <a:t> means me.</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“I respect her.”</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أَحْتَرِمُهُ.</a:t>
            </a:r>
            <a:endParaRPr lang="ar-SA" sz="170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أَحْتَرِمُهَا.</a:t>
            </a:r>
            <a:endParaRPr lang="ar-SA" sz="170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تَحْتَرِمُنِي.</a:t>
            </a:r>
            <a:endParaRPr lang="ar-SA" sz="170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ـها</a:t>
            </a:r>
            <a:pPr algn="l" indent="0" marL="0">
              <a:buNone/>
            </a:pPr>
            <a:r>
              <a:rPr lang="en-US" sz="1050" i="1" dirty="0">
                <a:solidFill>
                  <a:srgbClr val="8A6D1E"/>
                </a:solidFill>
                <a:latin typeface="Calibri" pitchFamily="34" charset="0"/>
                <a:cs typeface="Amiri" pitchFamily="2" charset="-78"/>
              </a:rPr>
              <a:t> refers to her.</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6679692"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64" name="Text 61"/>
          <p:cNvSpPr txBox="1"/>
          <p:nvPr/>
        </p:nvSpPr>
        <p:spPr>
          <a:xfrm>
            <a:off x="9052011"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نَتَفَاهَمُ ___ نَسْتَمِعُ إِلَى بَعْضِنَا.</a:t>
            </a:r>
            <a:endParaRPr lang="ar-SA" sz="1500" dirty="0"/>
          </a:p>
        </p:txBody>
      </p:sp>
      <p:sp>
        <p:nvSpPr>
          <p:cNvPr id="65" name="Shape 62"/>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6" name="Shape 63"/>
          <p:cNvSpPr/>
          <p:nvPr/>
        </p:nvSpPr>
        <p:spPr>
          <a:xfrm>
            <a:off x="6368796" y="4831080"/>
            <a:ext cx="256032" cy="256032"/>
          </a:xfrm>
          <a:prstGeom prst="ellipse">
            <a:avLst/>
          </a:prstGeom>
          <a:solidFill>
            <a:srgbClr val="2E8B57"/>
          </a:solidFill>
          <a:ln w="12700">
            <a:solidFill>
              <a:srgbClr val="2E8B57"/>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لِأَنَّنَا</a:t>
            </a:r>
            <a:endParaRPr lang="ar-SA" sz="170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لِأَنَّهُ</a:t>
            </a:r>
            <a:endParaRPr lang="ar-SA" sz="1700" dirty="0"/>
          </a:p>
        </p:txBody>
      </p:sp>
      <p:sp>
        <p:nvSpPr>
          <p:cNvPr id="72" name="Shape 69"/>
          <p:cNvSpPr/>
          <p:nvPr/>
        </p:nvSpPr>
        <p:spPr>
          <a:xfrm>
            <a:off x="6368796" y="5574792"/>
            <a:ext cx="256032" cy="256032"/>
          </a:xfrm>
          <a:prstGeom prst="ellipse">
            <a:avLst/>
          </a:prstGeom>
          <a:solidFill>
            <a:srgbClr val="C9CED6"/>
          </a:solidFill>
          <a:ln w="12700">
            <a:solidFill>
              <a:srgbClr val="C9CED6"/>
            </a:solidFill>
            <a:prstDash val="solid"/>
          </a:ln>
        </p:spPr>
      </p:sp>
      <p:sp>
        <p:nvSpPr>
          <p:cNvPr id="73" name="Text 70"/>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4" name="Text 71"/>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وَلٰكِنَّهَا</a:t>
            </a:r>
            <a:endParaRPr lang="ar-SA" sz="1700" dirty="0"/>
          </a:p>
        </p:txBody>
      </p:sp>
      <p:sp>
        <p:nvSpPr>
          <p:cNvPr id="75" name="Text 72"/>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subject is we: </a:t>
            </a:r>
            <a:pPr algn="l" indent="0" marL="0">
              <a:buNone/>
            </a:pPr>
            <a:r>
              <a:rPr lang="ar-SA" altLang="en-US" sz="1350" dirty="0">
                <a:solidFill>
                  <a:srgbClr val="8A6D1E"/>
                </a:solidFill>
                <a:latin typeface="Amiri" pitchFamily="2" charset="-78"/>
                <a:ea typeface="Amiri" pitchFamily="2" charset="-78"/>
                <a:cs typeface="Amiri" pitchFamily="2" charset="-78"/>
              </a:rPr>
              <a:t>لِأَنَّنَا</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76" name="Text 7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46</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TB-L02 · Family and Friends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50" b="1" dirty="0">
                <a:solidFill>
                  <a:srgbClr val="1B3B6F"/>
                </a:solidFill>
                <a:latin typeface="Cambria" pitchFamily="34" charset="0"/>
                <a:cs typeface="Amiri" pitchFamily="2" charset="-78"/>
              </a:rPr>
              <a:t>Watch me describe two relationships</a:t>
            </a:r>
            <a:endParaRPr lang="en-US" sz="25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TB-L02</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Strong</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أَتَفَاهَمُ </a:t>
            </a:r>
            <a:pPr rtl="1" algn="ctr" indent="0" marL="0">
              <a:buNone/>
            </a:pPr>
            <a:r>
              <a:rPr lang="ar-SA" altLang="en-US" sz="2400" b="1" dirty="0">
                <a:solidFill>
                  <a:srgbClr val="0E7C86"/>
                </a:solidFill>
                <a:latin typeface="Amiri" pitchFamily="2" charset="-78"/>
                <a:ea typeface="Amiri" pitchFamily="2" charset="-78"/>
                <a:cs typeface="Amiri" pitchFamily="2" charset="-78"/>
              </a:rPr>
              <a:t>مَعَ</a:t>
            </a:r>
            <a:pPr rtl="1" algn="ctr" indent="0" marL="0">
              <a:buNone/>
            </a:pPr>
            <a:r>
              <a:rPr lang="ar-SA" altLang="en-US" sz="2400" b="1" dirty="0">
                <a:solidFill>
                  <a:srgbClr val="1B3B6F"/>
                </a:solidFill>
                <a:latin typeface="Amiri" pitchFamily="2" charset="-78"/>
                <a:ea typeface="Amiri" pitchFamily="2" charset="-78"/>
                <a:cs typeface="Amiri" pitchFamily="2" charset="-78"/>
              </a:rPr>
              <a:t> أُخْتِي جَيِّدًا.</a:t>
            </a:r>
            <a:endParaRPr lang="ar-SA" sz="24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Get on WITH.</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Proof</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850" b="1" dirty="0">
                <a:solidFill>
                  <a:srgbClr val="1B3B6F"/>
                </a:solidFill>
                <a:latin typeface="Amiri" pitchFamily="2" charset="-78"/>
                <a:ea typeface="Amiri" pitchFamily="2" charset="-78"/>
                <a:cs typeface="Amiri" pitchFamily="2" charset="-78"/>
              </a:rPr>
              <a:t>هِيَ تَدْعَمُ</a:t>
            </a:r>
            <a:pPr rtl="1" algn="ctr" indent="0" marL="0">
              <a:lnSpc>
                <a:spcPct val="120000"/>
              </a:lnSpc>
              <a:buNone/>
            </a:pPr>
            <a:r>
              <a:rPr lang="ar-SA" altLang="en-US" sz="1850" b="1" dirty="0">
                <a:solidFill>
                  <a:srgbClr val="D6336C"/>
                </a:solidFill>
                <a:latin typeface="Amiri" pitchFamily="2" charset="-78"/>
                <a:ea typeface="Amiri" pitchFamily="2" charset="-78"/>
                <a:cs typeface="Amiri" pitchFamily="2" charset="-78"/>
              </a:rPr>
              <a:t>نِي</a:t>
            </a:r>
            <a:pPr rtl="1" algn="ctr" indent="0" marL="0">
              <a:lnSpc>
                <a:spcPct val="120000"/>
              </a:lnSpc>
              <a:buNone/>
            </a:pPr>
            <a:r>
              <a:rPr lang="ar-SA" altLang="en-US" sz="1850" b="1" dirty="0">
                <a:solidFill>
                  <a:srgbClr val="1B3B6F"/>
                </a:solidFill>
                <a:latin typeface="Amiri" pitchFamily="2" charset="-78"/>
                <a:ea typeface="Amiri" pitchFamily="2" charset="-78"/>
                <a:cs typeface="Amiri" pitchFamily="2" charset="-78"/>
              </a:rPr>
              <a:t> عِنْدَمَا أَكُونُ قَلِقًا.</a:t>
            </a:r>
            <a:endParaRPr lang="ar-SA" sz="185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She (ta-) … me (-nī).</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Difficult</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B3B6F"/>
                </a:solidFill>
                <a:latin typeface="Amiri" pitchFamily="2" charset="-78"/>
                <a:ea typeface="Amiri" pitchFamily="2" charset="-78"/>
                <a:cs typeface="Amiri" pitchFamily="2" charset="-78"/>
              </a:rPr>
              <a:t>أَخْتَلِفُ </a:t>
            </a:r>
            <a:pPr rtl="1" algn="ctr" indent="0" marL="0">
              <a:lnSpc>
                <a:spcPct val="120000"/>
              </a:lnSpc>
              <a:buNone/>
            </a:pPr>
            <a:r>
              <a:rPr lang="ar-SA" altLang="en-US" sz="1750" b="1" dirty="0">
                <a:solidFill>
                  <a:srgbClr val="0E7C86"/>
                </a:solidFill>
                <a:latin typeface="Amiri" pitchFamily="2" charset="-78"/>
                <a:ea typeface="Amiri" pitchFamily="2" charset="-78"/>
                <a:cs typeface="Amiri" pitchFamily="2" charset="-78"/>
              </a:rPr>
              <a:t>مَعَ</a:t>
            </a:r>
            <a:pPr rtl="1" algn="ctr" indent="0" marL="0">
              <a:lnSpc>
                <a:spcPct val="120000"/>
              </a:lnSpc>
              <a:buNone/>
            </a:pPr>
            <a:r>
              <a:rPr lang="ar-SA" altLang="en-US" sz="1750" b="1" dirty="0">
                <a:solidFill>
                  <a:srgbClr val="1B3B6F"/>
                </a:solidFill>
                <a:latin typeface="Amiri" pitchFamily="2" charset="-78"/>
                <a:ea typeface="Amiri" pitchFamily="2" charset="-78"/>
                <a:cs typeface="Amiri" pitchFamily="2" charset="-78"/>
              </a:rPr>
              <a:t> ابْنِ عَمِّي، وَأَحْيَانًا </a:t>
            </a:r>
            <a:pPr rtl="1" algn="ctr" indent="0" marL="0">
              <a:lnSpc>
                <a:spcPct val="120000"/>
              </a:lnSpc>
              <a:buNone/>
            </a:pPr>
            <a:r>
              <a:rPr lang="ar-SA" altLang="en-US" sz="1750" b="1" dirty="0">
                <a:solidFill>
                  <a:srgbClr val="1D5FBF"/>
                </a:solidFill>
                <a:latin typeface="Amiri" pitchFamily="2" charset="-78"/>
                <a:ea typeface="Amiri" pitchFamily="2" charset="-78"/>
                <a:cs typeface="Amiri" pitchFamily="2" charset="-78"/>
              </a:rPr>
              <a:t>نَ</a:t>
            </a:r>
            <a:pPr rtl="1" algn="ctr" indent="0" marL="0">
              <a:lnSpc>
                <a:spcPct val="120000"/>
              </a:lnSpc>
              <a:buNone/>
            </a:pPr>
            <a:r>
              <a:rPr lang="ar-SA" altLang="en-US" sz="1750" b="1" dirty="0">
                <a:solidFill>
                  <a:srgbClr val="1B3B6F"/>
                </a:solidFill>
                <a:latin typeface="Amiri" pitchFamily="2" charset="-78"/>
                <a:ea typeface="Amiri" pitchFamily="2" charset="-78"/>
                <a:cs typeface="Amiri" pitchFamily="2" charset="-78"/>
              </a:rPr>
              <a:t>تَشَاجَرُ.</a:t>
            </a:r>
            <a:endParaRPr lang="ar-SA" sz="175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We → na-.</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Solution</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B3B6F"/>
                </a:solidFill>
                <a:latin typeface="Amiri" pitchFamily="2" charset="-78"/>
                <a:ea typeface="Amiri" pitchFamily="2" charset="-78"/>
                <a:cs typeface="Amiri" pitchFamily="2" charset="-78"/>
              </a:rPr>
              <a:t>وَلٰكِنَّنَا </a:t>
            </a:r>
            <a:pPr rtl="1" algn="ctr" indent="0" marL="0">
              <a:lnSpc>
                <a:spcPct val="120000"/>
              </a:lnSpc>
              <a:buNone/>
            </a:pPr>
            <a:r>
              <a:rPr lang="ar-SA" altLang="en-US" sz="1750" b="1" dirty="0">
                <a:solidFill>
                  <a:srgbClr val="1D5FBF"/>
                </a:solidFill>
                <a:latin typeface="Amiri" pitchFamily="2" charset="-78"/>
                <a:ea typeface="Amiri" pitchFamily="2" charset="-78"/>
                <a:cs typeface="Amiri" pitchFamily="2" charset="-78"/>
              </a:rPr>
              <a:t>نَ</a:t>
            </a:r>
            <a:pPr rtl="1" algn="ctr" indent="0" marL="0">
              <a:lnSpc>
                <a:spcPct val="120000"/>
              </a:lnSpc>
              <a:buNone/>
            </a:pPr>
            <a:r>
              <a:rPr lang="ar-SA" altLang="en-US" sz="1750" b="1" dirty="0">
                <a:solidFill>
                  <a:srgbClr val="1B3B6F"/>
                </a:solidFill>
                <a:latin typeface="Amiri" pitchFamily="2" charset="-78"/>
                <a:ea typeface="Amiri" pitchFamily="2" charset="-78"/>
                <a:cs typeface="Amiri" pitchFamily="2" charset="-78"/>
              </a:rPr>
              <a:t>تَصَالَحُ </a:t>
            </a:r>
            <a:pPr rtl="1" algn="ctr" indent="0" marL="0">
              <a:lnSpc>
                <a:spcPct val="120000"/>
              </a:lnSpc>
              <a:buNone/>
            </a:pPr>
            <a:r>
              <a:rPr lang="ar-SA" altLang="en-US" sz="1750" b="1" dirty="0">
                <a:solidFill>
                  <a:srgbClr val="0E7C86"/>
                </a:solidFill>
                <a:latin typeface="Amiri" pitchFamily="2" charset="-78"/>
                <a:ea typeface="Amiri" pitchFamily="2" charset="-78"/>
                <a:cs typeface="Amiri" pitchFamily="2" charset="-78"/>
              </a:rPr>
              <a:t>لِأَنَّنَا</a:t>
            </a:r>
            <a:pPr rtl="1" algn="ctr" indent="0" marL="0">
              <a:lnSpc>
                <a:spcPct val="120000"/>
              </a:lnSpc>
              <a:buNone/>
            </a:pPr>
            <a:r>
              <a:rPr lang="ar-SA" altLang="en-US" sz="1750" b="1" dirty="0">
                <a:solidFill>
                  <a:srgbClr val="1B3B6F"/>
                </a:solidFill>
                <a:latin typeface="Amiri" pitchFamily="2" charset="-78"/>
                <a:ea typeface="Amiri" pitchFamily="2" charset="-78"/>
                <a:cs typeface="Amiri" pitchFamily="2" charset="-78"/>
              </a:rPr>
              <a:t> نَحْتَرِمُ بَعْضَنَا.</a:t>
            </a:r>
            <a:endParaRPr lang="ar-SA" sz="175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Because we …</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cs typeface="Amiri" pitchFamily="2" charset="-78"/>
              </a:rPr>
              <a:t>COPY THIS INTO YOUR BOOK</a:t>
            </a:r>
            <a:endParaRPr lang="en-US" sz="1200" dirty="0"/>
          </a:p>
        </p:txBody>
      </p:sp>
      <p:sp>
        <p:nvSpPr>
          <p:cNvPr id="45" name="Shape 41"/>
          <p:cNvSpPr/>
          <p:nvPr/>
        </p:nvSpPr>
        <p:spPr>
          <a:xfrm>
            <a:off x="8540496" y="4736592"/>
            <a:ext cx="914400" cy="237744"/>
          </a:xfrm>
          <a:prstGeom prst="roundRect">
            <a:avLst>
              <a:gd name="adj" fmla="val 50000"/>
            </a:avLst>
          </a:prstGeom>
          <a:solidFill>
            <a:srgbClr val="0E7C86"/>
          </a:solidFill>
          <a:ln w="12700">
            <a:solidFill>
              <a:srgbClr val="0E7C86"/>
            </a:solidFill>
            <a:prstDash val="solid"/>
          </a:ln>
        </p:spPr>
      </p:sp>
      <p:sp>
        <p:nvSpPr>
          <p:cNvPr id="46" name="Text 42"/>
          <p:cNvSpPr txBox="1"/>
          <p:nvPr/>
        </p:nvSpPr>
        <p:spPr>
          <a:xfrm>
            <a:off x="8540496"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WITH / BECAUSE</a:t>
            </a:r>
            <a:endParaRPr lang="en-US" sz="800" dirty="0"/>
          </a:p>
        </p:txBody>
      </p:sp>
      <p:sp>
        <p:nvSpPr>
          <p:cNvPr id="47" name="Shape 43"/>
          <p:cNvSpPr/>
          <p:nvPr/>
        </p:nvSpPr>
        <p:spPr>
          <a:xfrm>
            <a:off x="9528048" y="4736592"/>
            <a:ext cx="914400" cy="237744"/>
          </a:xfrm>
          <a:prstGeom prst="roundRect">
            <a:avLst>
              <a:gd name="adj" fmla="val 50000"/>
            </a:avLst>
          </a:prstGeom>
          <a:solidFill>
            <a:srgbClr val="D6336C"/>
          </a:solidFill>
          <a:ln w="12700">
            <a:solidFill>
              <a:srgbClr val="D6336C"/>
            </a:solidFill>
            <a:prstDash val="solid"/>
          </a:ln>
        </p:spPr>
      </p:sp>
      <p:sp>
        <p:nvSpPr>
          <p:cNvPr id="48" name="Text 44"/>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OBJECT ENDING</a:t>
            </a:r>
            <a:endParaRPr lang="en-US" sz="800" dirty="0"/>
          </a:p>
        </p:txBody>
      </p:sp>
      <p:sp>
        <p:nvSpPr>
          <p:cNvPr id="49" name="Shape 45"/>
          <p:cNvSpPr/>
          <p:nvPr/>
        </p:nvSpPr>
        <p:spPr>
          <a:xfrm>
            <a:off x="10515600" y="4736592"/>
            <a:ext cx="914400" cy="237744"/>
          </a:xfrm>
          <a:prstGeom prst="roundRect">
            <a:avLst>
              <a:gd name="adj" fmla="val 50000"/>
            </a:avLst>
          </a:prstGeom>
          <a:solidFill>
            <a:srgbClr val="1D5FBF"/>
          </a:solidFill>
          <a:ln w="12700">
            <a:solidFill>
              <a:srgbClr val="1D5FBF"/>
            </a:solidFill>
            <a:prstDash val="solid"/>
          </a:ln>
        </p:spPr>
      </p:sp>
      <p:sp>
        <p:nvSpPr>
          <p:cNvPr id="50" name="Text 46"/>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WE (NA-)</a:t>
            </a:r>
            <a:endParaRPr lang="en-US" sz="800" dirty="0"/>
          </a:p>
        </p:txBody>
      </p:sp>
      <p:sp>
        <p:nvSpPr>
          <p:cNvPr id="51" name="Text 47"/>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أَتَفَاهَمُ </a:t>
            </a:r>
            <a:pPr rtl="1" algn="r" indent="0" marL="0">
              <a:lnSpc>
                <a:spcPct val="120000"/>
              </a:lnSpc>
              <a:buNone/>
            </a:pPr>
            <a:r>
              <a:rPr lang="ar-SA" altLang="en-US" sz="1400" b="1" dirty="0">
                <a:solidFill>
                  <a:srgbClr val="0E7C86"/>
                </a:solidFill>
                <a:latin typeface="Amiri" pitchFamily="2" charset="-78"/>
                <a:ea typeface="Amiri" pitchFamily="2" charset="-78"/>
                <a:cs typeface="Amiri" pitchFamily="2" charset="-78"/>
              </a:rPr>
              <a:t>مَعَ</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أُخْتِي جَيِّدًا؛ هِيَ تَدْعَمُ</a:t>
            </a:r>
            <a:pPr rtl="1" algn="r" indent="0" marL="0">
              <a:lnSpc>
                <a:spcPct val="120000"/>
              </a:lnSpc>
              <a:buNone/>
            </a:pPr>
            <a:r>
              <a:rPr lang="ar-SA" altLang="en-US" sz="1400" b="1" dirty="0">
                <a:solidFill>
                  <a:srgbClr val="D6336C"/>
                </a:solidFill>
                <a:latin typeface="Amiri" pitchFamily="2" charset="-78"/>
                <a:ea typeface="Amiri" pitchFamily="2" charset="-78"/>
                <a:cs typeface="Amiri" pitchFamily="2" charset="-78"/>
              </a:rPr>
              <a:t>نِي</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عِنْدَمَا أَكُونُ قَلِقًا، وَأَنَا أُسَاعِدُ</a:t>
            </a:r>
            <a:pPr rtl="1" algn="r" indent="0" marL="0">
              <a:lnSpc>
                <a:spcPct val="120000"/>
              </a:lnSpc>
              <a:buNone/>
            </a:pPr>
            <a:r>
              <a:rPr lang="ar-SA" altLang="en-US" sz="1400" b="1" dirty="0">
                <a:solidFill>
                  <a:srgbClr val="D6336C"/>
                </a:solidFill>
                <a:latin typeface="Amiri" pitchFamily="2" charset="-78"/>
                <a:ea typeface="Amiri" pitchFamily="2" charset="-78"/>
                <a:cs typeface="Amiri" pitchFamily="2" charset="-78"/>
              </a:rPr>
              <a:t>هَا</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فِي وَاجِبِهَا. أَمَّا ابْنُ عَمِّي فَأَخْتَلِفُ </a:t>
            </a:r>
            <a:pPr rtl="1" algn="r" indent="0" marL="0">
              <a:lnSpc>
                <a:spcPct val="120000"/>
              </a:lnSpc>
              <a:buNone/>
            </a:pPr>
            <a:r>
              <a:rPr lang="ar-SA" altLang="en-US" sz="1400" b="1" dirty="0">
                <a:solidFill>
                  <a:srgbClr val="0E7C86"/>
                </a:solidFill>
                <a:latin typeface="Amiri" pitchFamily="2" charset="-78"/>
                <a:ea typeface="Amiri" pitchFamily="2" charset="-78"/>
                <a:cs typeface="Amiri" pitchFamily="2" charset="-78"/>
              </a:rPr>
              <a:t>مَعَهُ</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أَحْيَانًا، وَ</a:t>
            </a:r>
            <a:pPr rtl="1" algn="r" indent="0" marL="0">
              <a:lnSpc>
                <a:spcPct val="120000"/>
              </a:lnSpc>
              <a:buNone/>
            </a:pPr>
            <a:r>
              <a:rPr lang="ar-SA" altLang="en-US" sz="1400" b="1" dirty="0">
                <a:solidFill>
                  <a:srgbClr val="1D5FBF"/>
                </a:solidFill>
                <a:latin typeface="Amiri" pitchFamily="2" charset="-78"/>
                <a:ea typeface="Amiri" pitchFamily="2" charset="-78"/>
                <a:cs typeface="Amiri" pitchFamily="2" charset="-78"/>
              </a:rPr>
              <a:t>نَ</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تَشَاجَرُ حَوْلَ الحَاسُوبِ، وَلٰكِنَّنَا </a:t>
            </a:r>
            <a:pPr rtl="1" algn="r" indent="0" marL="0">
              <a:lnSpc>
                <a:spcPct val="120000"/>
              </a:lnSpc>
              <a:buNone/>
            </a:pPr>
            <a:r>
              <a:rPr lang="ar-SA" altLang="en-US" sz="1400" b="1" dirty="0">
                <a:solidFill>
                  <a:srgbClr val="1D5FBF"/>
                </a:solidFill>
                <a:latin typeface="Amiri" pitchFamily="2" charset="-78"/>
                <a:ea typeface="Amiri" pitchFamily="2" charset="-78"/>
                <a:cs typeface="Amiri" pitchFamily="2" charset="-78"/>
              </a:rPr>
              <a:t>نَ</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تَصَالَحُ سَرِيعًا </a:t>
            </a:r>
            <a:pPr rtl="1" algn="r" indent="0" marL="0">
              <a:lnSpc>
                <a:spcPct val="120000"/>
              </a:lnSpc>
              <a:buNone/>
            </a:pPr>
            <a:r>
              <a:rPr lang="ar-SA" altLang="en-US" sz="1400" b="1" dirty="0">
                <a:solidFill>
                  <a:srgbClr val="0E7C86"/>
                </a:solidFill>
                <a:latin typeface="Amiri" pitchFamily="2" charset="-78"/>
                <a:ea typeface="Amiri" pitchFamily="2" charset="-78"/>
                <a:cs typeface="Amiri" pitchFamily="2" charset="-78"/>
              </a:rPr>
              <a:t>لِأَنَّنَا</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نَحْتَرِمُ بَعْضَنَا.</a:t>
            </a:r>
            <a:endParaRPr lang="ar-SA" sz="1400" dirty="0"/>
          </a:p>
        </p:txBody>
      </p:sp>
      <p:sp>
        <p:nvSpPr>
          <p:cNvPr id="52" name="Text 48"/>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cs typeface="Amiri" pitchFamily="2" charset="-78"/>
              </a:rPr>
              <a:t>I get on well with my sister; she supports me when I am worried, and I help her with her homework. As for my cousin, I sometimes disagree with him, and we argue about the computer, but we make up quickly because we respect each other.</a:t>
            </a:r>
            <a:endParaRPr lang="en-US" sz="1100" dirty="0"/>
          </a:p>
        </p:txBody>
      </p:sp>
      <p:sp>
        <p:nvSpPr>
          <p:cNvPr id="53"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46</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TB-L02 · Family and Friends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MODEL SENTENCES FROM THE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TB-L02</a:t>
            </a:r>
            <a:endParaRPr lang="en-US" sz="850" dirty="0"/>
          </a:p>
        </p:txBody>
      </p:sp>
      <p:sp>
        <p:nvSpPr>
          <p:cNvPr id="15" name="Shape 12"/>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123694"/>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12369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572000" y="1847088"/>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أَتَفَاهَمُ مَعَ أُخْتِي.</a:t>
            </a:r>
            <a:endParaRPr lang="ar-SA" sz="2600" dirty="0"/>
          </a:p>
        </p:txBody>
      </p:sp>
      <p:sp>
        <p:nvSpPr>
          <p:cNvPr id="19" name="Text 16"/>
          <p:cNvSpPr txBox="1"/>
          <p:nvPr/>
        </p:nvSpPr>
        <p:spPr>
          <a:xfrm>
            <a:off x="685800" y="1856232"/>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I get on with my sister.</a:t>
            </a:r>
            <a:endParaRPr lang="en-US" sz="1250" dirty="0"/>
          </a:p>
          <a:p>
            <a:pPr indent="0" marL="0">
              <a:buNone/>
            </a:pPr>
            <a:r>
              <a:rPr lang="ar-SA" sz="1050" i="1" dirty="0">
                <a:solidFill>
                  <a:srgbClr val="8A6D1E"/>
                </a:solidFill>
                <a:latin typeface="Calibri" pitchFamily="34" charset="0"/>
                <a:ea typeface="Amiri" pitchFamily="2" charset="-78"/>
                <a:cs typeface="Amiri" pitchFamily="2" charset="-78"/>
              </a:rPr>
              <a:t>Get on WITH (مَعَ).</a:t>
            </a:r>
            <a:endParaRPr lang="en-US" sz="1250" dirty="0"/>
          </a:p>
        </p:txBody>
      </p:sp>
      <p:sp>
        <p:nvSpPr>
          <p:cNvPr id="20" name="Shape 17"/>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280410"/>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28041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572000" y="3003804"/>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أَبِي يَدْعَمُنِي.</a:t>
            </a:r>
            <a:endParaRPr lang="ar-SA" sz="2600" dirty="0"/>
          </a:p>
        </p:txBody>
      </p:sp>
      <p:sp>
        <p:nvSpPr>
          <p:cNvPr id="24" name="Text 21"/>
          <p:cNvSpPr txBox="1"/>
          <p:nvPr/>
        </p:nvSpPr>
        <p:spPr>
          <a:xfrm>
            <a:off x="685800" y="3012948"/>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My father supports me.</a:t>
            </a:r>
            <a:endParaRPr lang="en-US" sz="1250" dirty="0"/>
          </a:p>
          <a:p>
            <a:pPr indent="0" marL="0">
              <a:buNone/>
            </a:pPr>
            <a:r>
              <a:rPr lang="en-US" sz="1050" i="1" dirty="0">
                <a:solidFill>
                  <a:srgbClr val="8A6D1E"/>
                </a:solidFill>
                <a:latin typeface="Calibri" pitchFamily="34" charset="0"/>
                <a:cs typeface="Amiri" pitchFamily="2" charset="-78"/>
              </a:rPr>
              <a:t>Object ending: -nī = me.</a:t>
            </a:r>
            <a:endParaRPr lang="en-US" sz="125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443712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443712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572000" y="4160520"/>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نَتَعَاوَنُ فِي البَيْتِ.</a:t>
            </a:r>
            <a:endParaRPr lang="ar-SA" sz="2600" dirty="0"/>
          </a:p>
        </p:txBody>
      </p:sp>
      <p:sp>
        <p:nvSpPr>
          <p:cNvPr id="29" name="Text 26"/>
          <p:cNvSpPr txBox="1"/>
          <p:nvPr/>
        </p:nvSpPr>
        <p:spPr>
          <a:xfrm>
            <a:off x="685800" y="4169664"/>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We cooperate at home.</a:t>
            </a:r>
            <a:endParaRPr lang="en-US" sz="1250" dirty="0"/>
          </a:p>
          <a:p>
            <a:pPr indent="0" marL="0">
              <a:buNone/>
            </a:pPr>
            <a:r>
              <a:rPr lang="en-US" sz="1050" i="1" dirty="0">
                <a:solidFill>
                  <a:srgbClr val="8A6D1E"/>
                </a:solidFill>
                <a:latin typeface="Calibri" pitchFamily="34" charset="0"/>
                <a:cs typeface="Amiri" pitchFamily="2" charset="-78"/>
              </a:rPr>
              <a:t>Reciprocal: na- = we.</a:t>
            </a:r>
            <a:endParaRPr lang="en-US" sz="1250" dirty="0"/>
          </a:p>
        </p:txBody>
      </p:sp>
      <p:sp>
        <p:nvSpPr>
          <p:cNvPr id="30" name="Shape 27"/>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11201400" y="5593842"/>
            <a:ext cx="402336" cy="402336"/>
          </a:xfrm>
          <a:prstGeom prst="ellipse">
            <a:avLst/>
          </a:prstGeom>
          <a:solidFill>
            <a:srgbClr val="1B3B6F"/>
          </a:solidFill>
          <a:ln w="12700">
            <a:solidFill>
              <a:srgbClr val="1B3B6F"/>
            </a:solidFill>
            <a:prstDash val="solid"/>
          </a:ln>
        </p:spPr>
      </p:sp>
      <p:sp>
        <p:nvSpPr>
          <p:cNvPr id="32" name="Text 29"/>
          <p:cNvSpPr txBox="1"/>
          <p:nvPr/>
        </p:nvSpPr>
        <p:spPr>
          <a:xfrm>
            <a:off x="11201400" y="559384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4</a:t>
            </a:r>
            <a:endParaRPr lang="en-US" sz="1300" dirty="0"/>
          </a:p>
        </p:txBody>
      </p:sp>
      <p:sp>
        <p:nvSpPr>
          <p:cNvPr id="33" name="Text 30"/>
          <p:cNvSpPr txBox="1"/>
          <p:nvPr/>
        </p:nvSpPr>
        <p:spPr>
          <a:xfrm>
            <a:off x="4572000" y="5317236"/>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نَتَفَاهَمُ لِأَنَّنَا نَسْتَمِعُ إِلَى بَعْضِنَا.</a:t>
            </a:r>
            <a:endParaRPr lang="ar-SA" sz="2600" dirty="0"/>
          </a:p>
        </p:txBody>
      </p:sp>
      <p:sp>
        <p:nvSpPr>
          <p:cNvPr id="34" name="Text 31"/>
          <p:cNvSpPr txBox="1"/>
          <p:nvPr/>
        </p:nvSpPr>
        <p:spPr>
          <a:xfrm>
            <a:off x="685800" y="5326380"/>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We get on because we listen to each other.</a:t>
            </a:r>
            <a:endParaRPr lang="en-US" sz="1250" dirty="0"/>
          </a:p>
          <a:p>
            <a:pPr indent="0" marL="0">
              <a:buNone/>
            </a:pPr>
            <a:r>
              <a:rPr lang="en-US" sz="1050" i="1" dirty="0">
                <a:solidFill>
                  <a:srgbClr val="8A6D1E"/>
                </a:solidFill>
                <a:latin typeface="Calibri" pitchFamily="34" charset="0"/>
                <a:cs typeface="Amiri" pitchFamily="2" charset="-78"/>
              </a:rPr>
              <a:t>Reason: because we.</a:t>
            </a:r>
            <a:endParaRPr lang="en-US" sz="12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46</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TB-L02 · Family and Friends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2F6FB0"/>
                </a:solidFill>
                <a:latin typeface="Calibri" pitchFamily="34" charset="0"/>
                <a:cs typeface="Amiri" pitchFamily="2" charset="-78"/>
              </a:rPr>
              <a:t>WE DO · PICTURE MATCH · WEBSITE GAME “VISUAL GAME — RELATIONSHIPS — FAMILY, FRIENDS AND HOW WE GET ON”</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00" b="1" dirty="0">
                <a:solidFill>
                  <a:srgbClr val="1B3B6F"/>
                </a:solidFill>
                <a:latin typeface="Cambria" pitchFamily="34" charset="0"/>
                <a:cs typeface="Amiri" pitchFamily="2" charset="-78"/>
              </a:rPr>
              <a:t>How do they get on? Match the picture</a:t>
            </a:r>
            <a:endParaRPr lang="en-US" sz="24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مَشْهَدُ العَلَاقَاتِ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TB-L02</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getting on well</a:t>
            </a:r>
            <a:endParaRPr lang="en-US" sz="1100" dirty="0"/>
          </a:p>
        </p:txBody>
      </p:sp>
      <p:sp>
        <p:nvSpPr>
          <p:cNvPr id="23" name="Shape 18"/>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4404360" y="1938528"/>
            <a:ext cx="365760" cy="365760"/>
          </a:xfrm>
          <a:prstGeom prst="ellipse">
            <a:avLst/>
          </a:prstGeom>
          <a:solidFill>
            <a:srgbClr val="1B3B6F"/>
          </a:solidFill>
          <a:ln w="12700">
            <a:solidFill>
              <a:srgbClr val="1B3B6F"/>
            </a:solidFill>
            <a:prstDash val="solid"/>
          </a:ln>
        </p:spPr>
      </p:sp>
      <p:sp>
        <p:nvSpPr>
          <p:cNvPr id="25" name="Text 20"/>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26" name="Shape 21"/>
          <p:cNvSpPr/>
          <p:nvPr/>
        </p:nvSpPr>
        <p:spPr>
          <a:xfrm>
            <a:off x="4992624" y="2066544"/>
            <a:ext cx="1014984" cy="1014984"/>
          </a:xfrm>
          <a:prstGeom prst="ellipse">
            <a:avLst/>
          </a:prstGeom>
          <a:solidFill>
            <a:srgbClr val="F4F1EA"/>
          </a:solidFill>
          <a:ln w="12700">
            <a:solidFill>
              <a:srgbClr val="F4F1EA"/>
            </a:solidFill>
            <a:prstDash val="solid"/>
          </a:ln>
        </p:spPr>
      </p:sp>
      <p:pic>
        <p:nvPicPr>
          <p:cNvPr id="27"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28" name="Shape 22"/>
          <p:cNvSpPr/>
          <p:nvPr/>
        </p:nvSpPr>
        <p:spPr>
          <a:xfrm>
            <a:off x="6181344" y="2066544"/>
            <a:ext cx="1014984" cy="1014984"/>
          </a:xfrm>
          <a:prstGeom prst="ellipse">
            <a:avLst/>
          </a:prstGeom>
          <a:solidFill>
            <a:srgbClr val="F4F1EA"/>
          </a:solidFill>
          <a:ln w="12700">
            <a:solidFill>
              <a:srgbClr val="F4F1EA"/>
            </a:solidFill>
            <a:prstDash val="solid"/>
          </a:ln>
        </p:spPr>
      </p:sp>
      <p:pic>
        <p:nvPicPr>
          <p:cNvPr id="29"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0" name="Text 23"/>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disagreeing</a:t>
            </a:r>
            <a:endParaRPr lang="en-US" sz="1100" dirty="0"/>
          </a:p>
        </p:txBody>
      </p:sp>
      <p:sp>
        <p:nvSpPr>
          <p:cNvPr id="31" name="Shape 2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5"/>
          <p:cNvSpPr/>
          <p:nvPr/>
        </p:nvSpPr>
        <p:spPr>
          <a:xfrm>
            <a:off x="585216" y="1938528"/>
            <a:ext cx="365760" cy="365760"/>
          </a:xfrm>
          <a:prstGeom prst="ellipse">
            <a:avLst/>
          </a:prstGeom>
          <a:solidFill>
            <a:srgbClr val="1B3B6F"/>
          </a:solidFill>
          <a:ln w="12700">
            <a:solidFill>
              <a:srgbClr val="1B3B6F"/>
            </a:solidFill>
            <a:prstDash val="solid"/>
          </a:ln>
        </p:spPr>
      </p:sp>
      <p:sp>
        <p:nvSpPr>
          <p:cNvPr id="33" name="Text 2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34" name="Shape 27"/>
          <p:cNvSpPr/>
          <p:nvPr/>
        </p:nvSpPr>
        <p:spPr>
          <a:xfrm>
            <a:off x="1173480" y="2066544"/>
            <a:ext cx="1014984" cy="1014984"/>
          </a:xfrm>
          <a:prstGeom prst="ellipse">
            <a:avLst/>
          </a:prstGeom>
          <a:solidFill>
            <a:srgbClr val="F4F1EA"/>
          </a:solidFill>
          <a:ln w="12700">
            <a:solidFill>
              <a:srgbClr val="F4F1EA"/>
            </a:solidFill>
            <a:prstDash val="solid"/>
          </a:ln>
        </p:spPr>
      </p:sp>
      <p:pic>
        <p:nvPicPr>
          <p:cNvPr id="3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36" name="Shape 28"/>
          <p:cNvSpPr/>
          <p:nvPr/>
        </p:nvSpPr>
        <p:spPr>
          <a:xfrm>
            <a:off x="2362200" y="2066544"/>
            <a:ext cx="1014984" cy="1014984"/>
          </a:xfrm>
          <a:prstGeom prst="ellipse">
            <a:avLst/>
          </a:prstGeom>
          <a:solidFill>
            <a:srgbClr val="F4F1EA"/>
          </a:solidFill>
          <a:ln w="12700">
            <a:solidFill>
              <a:srgbClr val="F4F1EA"/>
            </a:solidFill>
            <a:prstDash val="solid"/>
          </a:ln>
        </p:spPr>
      </p:sp>
      <p:pic>
        <p:nvPicPr>
          <p:cNvPr id="3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38" name="Text 2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helping each other</a:t>
            </a:r>
            <a:endParaRPr lang="en-US" sz="1100" dirty="0"/>
          </a:p>
        </p:txBody>
      </p:sp>
      <p:sp>
        <p:nvSpPr>
          <p:cNvPr id="39" name="Shape 30"/>
          <p:cNvSpPr/>
          <p:nvPr/>
        </p:nvSpPr>
        <p:spPr>
          <a:xfrm>
            <a:off x="457200" y="3730752"/>
            <a:ext cx="11274552" cy="493776"/>
          </a:xfrm>
          <a:prstGeom prst="roundRect">
            <a:avLst>
              <a:gd name="adj" fmla="val 11111"/>
            </a:avLst>
          </a:prstGeom>
          <a:solidFill>
            <a:srgbClr val="EEF3FA"/>
          </a:solidFill>
          <a:ln w="9525">
            <a:solidFill>
              <a:srgbClr val="C9D6EA"/>
            </a:solidFill>
            <a:prstDash val="solid"/>
          </a:ln>
        </p:spPr>
      </p:sp>
      <p:sp>
        <p:nvSpPr>
          <p:cNvPr id="40" name="Shape 31"/>
          <p:cNvSpPr/>
          <p:nvPr/>
        </p:nvSpPr>
        <p:spPr>
          <a:xfrm>
            <a:off x="11247120" y="3831336"/>
            <a:ext cx="292608" cy="292608"/>
          </a:xfrm>
          <a:prstGeom prst="ellipse">
            <a:avLst/>
          </a:prstGeom>
          <a:solidFill>
            <a:srgbClr val="2F6FB0"/>
          </a:solidFill>
          <a:ln w="12700">
            <a:solidFill>
              <a:srgbClr val="2F6FB0"/>
            </a:solidFill>
            <a:prstDash val="solid"/>
          </a:ln>
        </p:spPr>
      </p:sp>
      <p:sp>
        <p:nvSpPr>
          <p:cNvPr id="41" name="Text 32"/>
          <p:cNvSpPr txBox="1"/>
          <p:nvPr/>
        </p:nvSpPr>
        <p:spPr>
          <a:xfrm>
            <a:off x="11247120" y="38313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42" name="Text 33"/>
          <p:cNvSpPr txBox="1"/>
          <p:nvPr/>
        </p:nvSpPr>
        <p:spPr>
          <a:xfrm>
            <a:off x="731520" y="3730752"/>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نَخْتَلِفُ أَحْيَانًا.</a:t>
            </a:r>
            <a:endParaRPr lang="ar-SA" sz="2000" dirty="0"/>
          </a:p>
        </p:txBody>
      </p:sp>
      <p:sp>
        <p:nvSpPr>
          <p:cNvPr id="43" name="Shape 34"/>
          <p:cNvSpPr/>
          <p:nvPr/>
        </p:nvSpPr>
        <p:spPr>
          <a:xfrm>
            <a:off x="457200" y="4297680"/>
            <a:ext cx="11274552" cy="493776"/>
          </a:xfrm>
          <a:prstGeom prst="roundRect">
            <a:avLst>
              <a:gd name="adj" fmla="val 11111"/>
            </a:avLst>
          </a:prstGeom>
          <a:solidFill>
            <a:srgbClr val="EEF3FA"/>
          </a:solidFill>
          <a:ln w="9525">
            <a:solidFill>
              <a:srgbClr val="C9D6EA"/>
            </a:solidFill>
            <a:prstDash val="solid"/>
          </a:ln>
        </p:spPr>
      </p:sp>
      <p:sp>
        <p:nvSpPr>
          <p:cNvPr id="44" name="Shape 35"/>
          <p:cNvSpPr/>
          <p:nvPr/>
        </p:nvSpPr>
        <p:spPr>
          <a:xfrm>
            <a:off x="11247120" y="4398264"/>
            <a:ext cx="292608" cy="292608"/>
          </a:xfrm>
          <a:prstGeom prst="ellipse">
            <a:avLst/>
          </a:prstGeom>
          <a:solidFill>
            <a:srgbClr val="2F6FB0"/>
          </a:solidFill>
          <a:ln w="12700">
            <a:solidFill>
              <a:srgbClr val="2F6FB0"/>
            </a:solidFill>
            <a:prstDash val="solid"/>
          </a:ln>
        </p:spPr>
      </p:sp>
      <p:sp>
        <p:nvSpPr>
          <p:cNvPr id="45" name="Text 36"/>
          <p:cNvSpPr txBox="1"/>
          <p:nvPr/>
        </p:nvSpPr>
        <p:spPr>
          <a:xfrm>
            <a:off x="11247120" y="43982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46" name="Text 37"/>
          <p:cNvSpPr txBox="1"/>
          <p:nvPr/>
        </p:nvSpPr>
        <p:spPr>
          <a:xfrm>
            <a:off x="731520" y="4297680"/>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نُسَاعِدُ بَعْضَنَا بَعْضًا.</a:t>
            </a:r>
            <a:endParaRPr lang="ar-SA" sz="2000" dirty="0"/>
          </a:p>
        </p:txBody>
      </p:sp>
      <p:sp>
        <p:nvSpPr>
          <p:cNvPr id="47" name="Shape 38"/>
          <p:cNvSpPr/>
          <p:nvPr/>
        </p:nvSpPr>
        <p:spPr>
          <a:xfrm>
            <a:off x="457200" y="4864608"/>
            <a:ext cx="11274552" cy="493776"/>
          </a:xfrm>
          <a:prstGeom prst="roundRect">
            <a:avLst>
              <a:gd name="adj" fmla="val 11111"/>
            </a:avLst>
          </a:prstGeom>
          <a:solidFill>
            <a:srgbClr val="EEF3FA"/>
          </a:solidFill>
          <a:ln w="9525">
            <a:solidFill>
              <a:srgbClr val="C9D6EA"/>
            </a:solidFill>
            <a:prstDash val="solid"/>
          </a:ln>
        </p:spPr>
      </p:sp>
      <p:sp>
        <p:nvSpPr>
          <p:cNvPr id="48" name="Shape 39"/>
          <p:cNvSpPr/>
          <p:nvPr/>
        </p:nvSpPr>
        <p:spPr>
          <a:xfrm>
            <a:off x="11247120" y="4965192"/>
            <a:ext cx="292608" cy="292608"/>
          </a:xfrm>
          <a:prstGeom prst="ellipse">
            <a:avLst/>
          </a:prstGeom>
          <a:solidFill>
            <a:srgbClr val="2F6FB0"/>
          </a:solidFill>
          <a:ln w="12700">
            <a:solidFill>
              <a:srgbClr val="2F6FB0"/>
            </a:solidFill>
            <a:prstDash val="solid"/>
          </a:ln>
        </p:spPr>
      </p:sp>
      <p:sp>
        <p:nvSpPr>
          <p:cNvPr id="49" name="Text 40"/>
          <p:cNvSpPr txBox="1"/>
          <p:nvPr/>
        </p:nvSpPr>
        <p:spPr>
          <a:xfrm>
            <a:off x="11247120" y="4965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C</a:t>
            </a:r>
            <a:endParaRPr lang="en-US" sz="1000" dirty="0"/>
          </a:p>
        </p:txBody>
      </p:sp>
      <p:sp>
        <p:nvSpPr>
          <p:cNvPr id="50" name="Text 41"/>
          <p:cNvSpPr txBox="1"/>
          <p:nvPr/>
        </p:nvSpPr>
        <p:spPr>
          <a:xfrm>
            <a:off x="731520" y="4864608"/>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هُمَا يَتَفَاهَمَانِ جَيِّدًا.</a:t>
            </a:r>
            <a:endParaRPr lang="ar-SA" sz="2000" dirty="0"/>
          </a:p>
        </p:txBody>
      </p:sp>
      <p:sp>
        <p:nvSpPr>
          <p:cNvPr id="51" name="Text 42"/>
          <p:cNvSpPr txBox="1"/>
          <p:nvPr/>
        </p:nvSpPr>
        <p:spPr>
          <a:xfrm>
            <a:off x="457200" y="5468112"/>
            <a:ext cx="11274552" cy="365760"/>
          </a:xfrm>
          <a:prstGeom prst="rect">
            <a:avLst/>
          </a:prstGeom>
          <a:noFill/>
          <a:ln/>
        </p:spPr>
        <p:txBody>
          <a:bodyPr wrap="square" lIns="0" tIns="0" rIns="0" bIns="0" rtlCol="0" anchor="ctr"/>
          <a:lstStyle/>
          <a:p>
            <a:pPr algn="l" indent="0" marL="0">
              <a:buNone/>
            </a:pPr>
            <a:r>
              <a:rPr lang="en-US" sz="1250" b="1" dirty="0">
                <a:solidFill>
                  <a:srgbClr val="2F6FB0"/>
                </a:solidFill>
                <a:latin typeface="Calibri" pitchFamily="34" charset="0"/>
                <a:cs typeface="Amiri" pitchFamily="2" charset="-78"/>
              </a:rPr>
              <a:t>Match each picture to a sentence. Type in the chat: 1_  2_  3_</a:t>
            </a:r>
            <a:endParaRPr lang="en-US" sz="1250" dirty="0"/>
          </a:p>
        </p:txBody>
      </p:sp>
      <p:sp>
        <p:nvSpPr>
          <p:cNvPr id="52" name="Text 43"/>
          <p:cNvSpPr txBox="1"/>
          <p:nvPr/>
        </p:nvSpPr>
        <p:spPr>
          <a:xfrm>
            <a:off x="457200" y="5852160"/>
            <a:ext cx="11274552" cy="36576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cs typeface="Amiri" pitchFamily="2" charset="-78"/>
              </a:rPr>
              <a:t>Core: find ONE key word you know in each sentence first.</a:t>
            </a:r>
            <a:endParaRPr lang="en-US" sz="1150" dirty="0"/>
          </a:p>
        </p:txBody>
      </p:sp>
      <p:sp>
        <p:nvSpPr>
          <p:cNvPr id="53"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46</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TB-L02 · Family and Friends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PICTURE MATCH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Picture match: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مَشْهَدُ العَلَاقَاتِ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TB-L02</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getting on well</a:t>
            </a:r>
            <a:endParaRPr lang="en-US" sz="1100" dirty="0"/>
          </a:p>
        </p:txBody>
      </p:sp>
      <p:sp>
        <p:nvSpPr>
          <p:cNvPr id="23" name="Shape 18"/>
          <p:cNvSpPr/>
          <p:nvPr/>
        </p:nvSpPr>
        <p:spPr>
          <a:xfrm>
            <a:off x="8095488"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11256264" y="3785616"/>
            <a:ext cx="329184" cy="329184"/>
          </a:xfrm>
          <a:prstGeom prst="ellipse">
            <a:avLst/>
          </a:prstGeom>
          <a:solidFill>
            <a:srgbClr val="2E8B57"/>
          </a:solidFill>
          <a:ln w="12700">
            <a:solidFill>
              <a:srgbClr val="2E8B57"/>
            </a:solidFill>
            <a:prstDash val="solid"/>
          </a:ln>
        </p:spPr>
      </p:sp>
      <p:sp>
        <p:nvSpPr>
          <p:cNvPr id="25" name="Text 20"/>
          <p:cNvSpPr txBox="1"/>
          <p:nvPr/>
        </p:nvSpPr>
        <p:spPr>
          <a:xfrm>
            <a:off x="11256264"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a:t>
            </a:r>
            <a:endParaRPr lang="en-US" sz="1100" dirty="0"/>
          </a:p>
        </p:txBody>
      </p:sp>
      <p:sp>
        <p:nvSpPr>
          <p:cNvPr id="26" name="Text 21"/>
          <p:cNvSpPr txBox="1"/>
          <p:nvPr/>
        </p:nvSpPr>
        <p:spPr>
          <a:xfrm>
            <a:off x="8232648"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هُمَا يَتَفَاهَمَانِ جَيِّدًا.</a:t>
            </a:r>
            <a:endParaRPr lang="ar-SA" sz="2200" dirty="0"/>
          </a:p>
        </p:txBody>
      </p:sp>
      <p:sp>
        <p:nvSpPr>
          <p:cNvPr id="27" name="Text 22"/>
          <p:cNvSpPr txBox="1"/>
          <p:nvPr/>
        </p:nvSpPr>
        <p:spPr>
          <a:xfrm>
            <a:off x="8232648"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They (two) get on well.</a:t>
            </a:r>
            <a:endParaRPr lang="en-US" sz="1200" dirty="0"/>
          </a:p>
        </p:txBody>
      </p:sp>
      <p:sp>
        <p:nvSpPr>
          <p:cNvPr id="28" name="Shape 23"/>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4"/>
          <p:cNvSpPr/>
          <p:nvPr/>
        </p:nvSpPr>
        <p:spPr>
          <a:xfrm>
            <a:off x="4404360" y="1938528"/>
            <a:ext cx="365760" cy="365760"/>
          </a:xfrm>
          <a:prstGeom prst="ellipse">
            <a:avLst/>
          </a:prstGeom>
          <a:solidFill>
            <a:srgbClr val="1B3B6F"/>
          </a:solidFill>
          <a:ln w="12700">
            <a:solidFill>
              <a:srgbClr val="1B3B6F"/>
            </a:solidFill>
            <a:prstDash val="solid"/>
          </a:ln>
        </p:spPr>
      </p:sp>
      <p:sp>
        <p:nvSpPr>
          <p:cNvPr id="30" name="Text 25"/>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31" name="Shape 26"/>
          <p:cNvSpPr/>
          <p:nvPr/>
        </p:nvSpPr>
        <p:spPr>
          <a:xfrm>
            <a:off x="4992624" y="2066544"/>
            <a:ext cx="1014984" cy="1014984"/>
          </a:xfrm>
          <a:prstGeom prst="ellipse">
            <a:avLst/>
          </a:prstGeom>
          <a:solidFill>
            <a:srgbClr val="F4F1EA"/>
          </a:solidFill>
          <a:ln w="12700">
            <a:solidFill>
              <a:srgbClr val="F4F1EA"/>
            </a:solidFill>
            <a:prstDash val="solid"/>
          </a:ln>
        </p:spPr>
      </p:sp>
      <p:pic>
        <p:nvPicPr>
          <p:cNvPr id="32"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33" name="Shape 27"/>
          <p:cNvSpPr/>
          <p:nvPr/>
        </p:nvSpPr>
        <p:spPr>
          <a:xfrm>
            <a:off x="6181344" y="2066544"/>
            <a:ext cx="1014984" cy="1014984"/>
          </a:xfrm>
          <a:prstGeom prst="ellipse">
            <a:avLst/>
          </a:prstGeom>
          <a:solidFill>
            <a:srgbClr val="F4F1EA"/>
          </a:solidFill>
          <a:ln w="12700">
            <a:solidFill>
              <a:srgbClr val="F4F1EA"/>
            </a:solidFill>
            <a:prstDash val="solid"/>
          </a:ln>
        </p:spPr>
      </p:sp>
      <p:pic>
        <p:nvPicPr>
          <p:cNvPr id="34"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5" name="Text 28"/>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disagreeing</a:t>
            </a:r>
            <a:endParaRPr lang="en-US" sz="1100" dirty="0"/>
          </a:p>
        </p:txBody>
      </p:sp>
      <p:sp>
        <p:nvSpPr>
          <p:cNvPr id="36" name="Shape 29"/>
          <p:cNvSpPr/>
          <p:nvPr/>
        </p:nvSpPr>
        <p:spPr>
          <a:xfrm>
            <a:off x="4276344"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7" name="Shape 30"/>
          <p:cNvSpPr/>
          <p:nvPr/>
        </p:nvSpPr>
        <p:spPr>
          <a:xfrm>
            <a:off x="7437120" y="3785616"/>
            <a:ext cx="329184" cy="329184"/>
          </a:xfrm>
          <a:prstGeom prst="ellipse">
            <a:avLst/>
          </a:prstGeom>
          <a:solidFill>
            <a:srgbClr val="2E8B57"/>
          </a:solidFill>
          <a:ln w="12700">
            <a:solidFill>
              <a:srgbClr val="2E8B57"/>
            </a:solidFill>
            <a:prstDash val="solid"/>
          </a:ln>
        </p:spPr>
      </p:sp>
      <p:sp>
        <p:nvSpPr>
          <p:cNvPr id="38" name="Text 31"/>
          <p:cNvSpPr txBox="1"/>
          <p:nvPr/>
        </p:nvSpPr>
        <p:spPr>
          <a:xfrm>
            <a:off x="7437120"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a:t>
            </a:r>
            <a:endParaRPr lang="en-US" sz="1100" dirty="0"/>
          </a:p>
        </p:txBody>
      </p:sp>
      <p:sp>
        <p:nvSpPr>
          <p:cNvPr id="39" name="Text 32"/>
          <p:cNvSpPr txBox="1"/>
          <p:nvPr/>
        </p:nvSpPr>
        <p:spPr>
          <a:xfrm>
            <a:off x="4413504"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نَخْتَلِفُ أَحْيَانًا.</a:t>
            </a:r>
            <a:endParaRPr lang="ar-SA" sz="2200" dirty="0"/>
          </a:p>
        </p:txBody>
      </p:sp>
      <p:sp>
        <p:nvSpPr>
          <p:cNvPr id="40" name="Text 33"/>
          <p:cNvSpPr txBox="1"/>
          <p:nvPr/>
        </p:nvSpPr>
        <p:spPr>
          <a:xfrm>
            <a:off x="4413504"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We disagree sometimes.</a:t>
            </a:r>
            <a:endParaRPr lang="en-US" sz="1200" dirty="0"/>
          </a:p>
        </p:txBody>
      </p:sp>
      <p:sp>
        <p:nvSpPr>
          <p:cNvPr id="41" name="Shape 3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5"/>
          <p:cNvSpPr/>
          <p:nvPr/>
        </p:nvSpPr>
        <p:spPr>
          <a:xfrm>
            <a:off x="585216" y="1938528"/>
            <a:ext cx="365760" cy="365760"/>
          </a:xfrm>
          <a:prstGeom prst="ellipse">
            <a:avLst/>
          </a:prstGeom>
          <a:solidFill>
            <a:srgbClr val="1B3B6F"/>
          </a:solidFill>
          <a:ln w="12700">
            <a:solidFill>
              <a:srgbClr val="1B3B6F"/>
            </a:solidFill>
            <a:prstDash val="solid"/>
          </a:ln>
        </p:spPr>
      </p:sp>
      <p:sp>
        <p:nvSpPr>
          <p:cNvPr id="43" name="Text 3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44" name="Shape 37"/>
          <p:cNvSpPr/>
          <p:nvPr/>
        </p:nvSpPr>
        <p:spPr>
          <a:xfrm>
            <a:off x="1173480" y="2066544"/>
            <a:ext cx="1014984" cy="1014984"/>
          </a:xfrm>
          <a:prstGeom prst="ellipse">
            <a:avLst/>
          </a:prstGeom>
          <a:solidFill>
            <a:srgbClr val="F4F1EA"/>
          </a:solidFill>
          <a:ln w="12700">
            <a:solidFill>
              <a:srgbClr val="F4F1EA"/>
            </a:solidFill>
            <a:prstDash val="solid"/>
          </a:ln>
        </p:spPr>
      </p:sp>
      <p:pic>
        <p:nvPicPr>
          <p:cNvPr id="4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46" name="Shape 38"/>
          <p:cNvSpPr/>
          <p:nvPr/>
        </p:nvSpPr>
        <p:spPr>
          <a:xfrm>
            <a:off x="2362200" y="2066544"/>
            <a:ext cx="1014984" cy="1014984"/>
          </a:xfrm>
          <a:prstGeom prst="ellipse">
            <a:avLst/>
          </a:prstGeom>
          <a:solidFill>
            <a:srgbClr val="F4F1EA"/>
          </a:solidFill>
          <a:ln w="12700">
            <a:solidFill>
              <a:srgbClr val="F4F1EA"/>
            </a:solidFill>
            <a:prstDash val="solid"/>
          </a:ln>
        </p:spPr>
      </p:sp>
      <p:pic>
        <p:nvPicPr>
          <p:cNvPr id="4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48" name="Text 3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helping each other</a:t>
            </a:r>
            <a:endParaRPr lang="en-US" sz="1100" dirty="0"/>
          </a:p>
        </p:txBody>
      </p:sp>
      <p:sp>
        <p:nvSpPr>
          <p:cNvPr id="49" name="Shape 40"/>
          <p:cNvSpPr/>
          <p:nvPr/>
        </p:nvSpPr>
        <p:spPr>
          <a:xfrm>
            <a:off x="457200"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0" name="Shape 41"/>
          <p:cNvSpPr/>
          <p:nvPr/>
        </p:nvSpPr>
        <p:spPr>
          <a:xfrm>
            <a:off x="3617976" y="3785616"/>
            <a:ext cx="329184" cy="329184"/>
          </a:xfrm>
          <a:prstGeom prst="ellipse">
            <a:avLst/>
          </a:prstGeom>
          <a:solidFill>
            <a:srgbClr val="2E8B57"/>
          </a:solidFill>
          <a:ln w="12700">
            <a:solidFill>
              <a:srgbClr val="2E8B57"/>
            </a:solidFill>
            <a:prstDash val="solid"/>
          </a:ln>
        </p:spPr>
      </p:sp>
      <p:sp>
        <p:nvSpPr>
          <p:cNvPr id="51" name="Text 42"/>
          <p:cNvSpPr txBox="1"/>
          <p:nvPr/>
        </p:nvSpPr>
        <p:spPr>
          <a:xfrm>
            <a:off x="3617976"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a:t>
            </a:r>
            <a:endParaRPr lang="en-US" sz="1100" dirty="0"/>
          </a:p>
        </p:txBody>
      </p:sp>
      <p:sp>
        <p:nvSpPr>
          <p:cNvPr id="52" name="Text 43"/>
          <p:cNvSpPr txBox="1"/>
          <p:nvPr/>
        </p:nvSpPr>
        <p:spPr>
          <a:xfrm>
            <a:off x="594360"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نُسَاعِدُ بَعْضَنَا بَعْضًا.</a:t>
            </a:r>
            <a:endParaRPr lang="ar-SA" sz="2200" dirty="0"/>
          </a:p>
        </p:txBody>
      </p:sp>
      <p:sp>
        <p:nvSpPr>
          <p:cNvPr id="53" name="Text 44"/>
          <p:cNvSpPr txBox="1"/>
          <p:nvPr/>
        </p:nvSpPr>
        <p:spPr>
          <a:xfrm>
            <a:off x="594360"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We help each other.</a:t>
            </a:r>
            <a:endParaRPr lang="en-US" sz="1200" dirty="0"/>
          </a:p>
        </p:txBody>
      </p:sp>
      <p:sp>
        <p:nvSpPr>
          <p:cNvPr id="54"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46</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TB-L02 · Family and Friends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WEBSITE SORTER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Accurate or not?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TB-L02</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أَتَفَاهَمُ مَعَ أُخْتِي.</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أَبِي يَدْعَمُنِي.</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أَحْتَرِمُهَا.</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نَتَشَاجَرُ ثُمَّ نَتَصَالَحُ.</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أَتَفَاهَمُ أُخْتِي.</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أُمِّي يَدْعَمُنِي.</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نَتَفَاهَمُ لِأَنَّهُ نَسْتَمِعُ.</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أَنَا يَحْتَرِمُهَا.</a:t>
            </a:r>
            <a:endParaRPr lang="ar-SA" sz="1800" dirty="0"/>
          </a:p>
        </p:txBody>
      </p:sp>
      <p:sp>
        <p:nvSpPr>
          <p:cNvPr id="31" name="Shape 28"/>
          <p:cNvSpPr/>
          <p:nvPr/>
        </p:nvSpPr>
        <p:spPr>
          <a:xfrm>
            <a:off x="6185916" y="3017520"/>
            <a:ext cx="5545836" cy="3291840"/>
          </a:xfrm>
          <a:prstGeom prst="roundRect">
            <a:avLst>
              <a:gd name="adj" fmla="val 2222"/>
            </a:avLst>
          </a:prstGeom>
          <a:solidFill>
            <a:srgbClr val="EEF3FA"/>
          </a:solidFill>
          <a:ln w="9525">
            <a:solidFill>
              <a:srgbClr val="C9D6EA"/>
            </a:solidFill>
            <a:prstDash val="solid"/>
          </a:ln>
        </p:spPr>
      </p:sp>
      <p:sp>
        <p:nvSpPr>
          <p:cNvPr id="32" name="Shape 29"/>
          <p:cNvSpPr/>
          <p:nvPr/>
        </p:nvSpPr>
        <p:spPr>
          <a:xfrm>
            <a:off x="6323076" y="3127248"/>
            <a:ext cx="5271516" cy="310896"/>
          </a:xfrm>
          <a:prstGeom prst="roundRect">
            <a:avLst>
              <a:gd name="adj" fmla="val 50000"/>
            </a:avLst>
          </a:prstGeom>
          <a:solidFill>
            <a:srgbClr val="2F6FB0"/>
          </a:solidFill>
          <a:ln w="12700">
            <a:solidFill>
              <a:srgbClr val="2F6FB0"/>
            </a:solidFill>
            <a:prstDash val="solid"/>
          </a:ln>
        </p:spPr>
      </p:sp>
      <p:sp>
        <p:nvSpPr>
          <p:cNvPr id="33" name="Text 30"/>
          <p:cNvSpPr txBox="1"/>
          <p:nvPr/>
        </p:nvSpPr>
        <p:spPr>
          <a:xfrm>
            <a:off x="6323076"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Accurate</a:t>
            </a:r>
            <a:endParaRPr lang="en-US" sz="950" dirty="0"/>
          </a:p>
        </p:txBody>
      </p:sp>
      <p:sp>
        <p:nvSpPr>
          <p:cNvPr id="34" name="Shape 31"/>
          <p:cNvSpPr/>
          <p:nvPr/>
        </p:nvSpPr>
        <p:spPr>
          <a:xfrm>
            <a:off x="457200" y="3017520"/>
            <a:ext cx="5545836" cy="3291840"/>
          </a:xfrm>
          <a:prstGeom prst="roundRect">
            <a:avLst>
              <a:gd name="adj" fmla="val 2222"/>
            </a:avLst>
          </a:prstGeom>
          <a:solidFill>
            <a:srgbClr val="EEF3FA"/>
          </a:solidFill>
          <a:ln w="9525">
            <a:solidFill>
              <a:srgbClr val="C9D6EA"/>
            </a:solidFill>
            <a:prstDash val="solid"/>
          </a:ln>
        </p:spPr>
      </p:sp>
      <p:sp>
        <p:nvSpPr>
          <p:cNvPr id="35" name="Shape 32"/>
          <p:cNvSpPr/>
          <p:nvPr/>
        </p:nvSpPr>
        <p:spPr>
          <a:xfrm>
            <a:off x="594360" y="3127248"/>
            <a:ext cx="5271516" cy="310896"/>
          </a:xfrm>
          <a:prstGeom prst="roundRect">
            <a:avLst>
              <a:gd name="adj" fmla="val 50000"/>
            </a:avLst>
          </a:prstGeom>
          <a:solidFill>
            <a:srgbClr val="2F6FB0"/>
          </a:solidFill>
          <a:ln w="12700">
            <a:solidFill>
              <a:srgbClr val="2F6FB0"/>
            </a:solidFill>
            <a:prstDash val="solid"/>
          </a:ln>
        </p:spPr>
      </p:sp>
      <p:sp>
        <p:nvSpPr>
          <p:cNvPr id="36" name="Text 33"/>
          <p:cNvSpPr txBox="1"/>
          <p:nvPr/>
        </p:nvSpPr>
        <p:spPr>
          <a:xfrm>
            <a:off x="594360"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Inaccurate</a:t>
            </a:r>
            <a:endParaRPr lang="en-US" sz="9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46</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TB-L02 · Family and Friends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TB-L02</a:t>
            </a:r>
            <a:endParaRPr lang="en-US" sz="850" dirty="0"/>
          </a:p>
        </p:txBody>
      </p:sp>
      <p:sp>
        <p:nvSpPr>
          <p:cNvPr id="15" name="Shape 12"/>
          <p:cNvSpPr/>
          <p:nvPr/>
        </p:nvSpPr>
        <p:spPr>
          <a:xfrm>
            <a:off x="6185916" y="1810512"/>
            <a:ext cx="5545836" cy="4498848"/>
          </a:xfrm>
          <a:prstGeom prst="roundRect">
            <a:avLst>
              <a:gd name="adj" fmla="val 1626"/>
            </a:avLst>
          </a:prstGeom>
          <a:solidFill>
            <a:srgbClr val="EEF3FA"/>
          </a:solidFill>
          <a:ln w="9525">
            <a:solidFill>
              <a:srgbClr val="C9D6EA"/>
            </a:solidFill>
            <a:prstDash val="solid"/>
          </a:ln>
        </p:spPr>
      </p:sp>
      <p:sp>
        <p:nvSpPr>
          <p:cNvPr id="16" name="Shape 13"/>
          <p:cNvSpPr/>
          <p:nvPr/>
        </p:nvSpPr>
        <p:spPr>
          <a:xfrm>
            <a:off x="6323076" y="1920240"/>
            <a:ext cx="5271516"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6323076"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Accurate</a:t>
            </a:r>
            <a:endParaRPr lang="en-US" sz="950" dirty="0"/>
          </a:p>
        </p:txBody>
      </p:sp>
      <p:sp>
        <p:nvSpPr>
          <p:cNvPr id="18" name="Shape 15"/>
          <p:cNvSpPr/>
          <p:nvPr/>
        </p:nvSpPr>
        <p:spPr>
          <a:xfrm>
            <a:off x="6323076" y="2377440"/>
            <a:ext cx="5271516"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6414516"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أَتَفَاهَمُ مَعَ أُخْتِي.</a:t>
            </a:r>
            <a:endParaRPr lang="ar-SA" sz="1800" dirty="0"/>
          </a:p>
        </p:txBody>
      </p:sp>
      <p:sp>
        <p:nvSpPr>
          <p:cNvPr id="20" name="Shape 17"/>
          <p:cNvSpPr/>
          <p:nvPr/>
        </p:nvSpPr>
        <p:spPr>
          <a:xfrm>
            <a:off x="6323076" y="2889504"/>
            <a:ext cx="5271516"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6414516"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أَبِي يَدْعَمُنِي.</a:t>
            </a:r>
            <a:endParaRPr lang="ar-SA" sz="1800" dirty="0"/>
          </a:p>
        </p:txBody>
      </p:sp>
      <p:sp>
        <p:nvSpPr>
          <p:cNvPr id="22" name="Shape 19"/>
          <p:cNvSpPr/>
          <p:nvPr/>
        </p:nvSpPr>
        <p:spPr>
          <a:xfrm>
            <a:off x="6323076" y="3401568"/>
            <a:ext cx="5271516"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6414516"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أَحْتَرِمُهَا.</a:t>
            </a:r>
            <a:endParaRPr lang="ar-SA" sz="1800" dirty="0"/>
          </a:p>
        </p:txBody>
      </p:sp>
      <p:sp>
        <p:nvSpPr>
          <p:cNvPr id="24" name="Shape 21"/>
          <p:cNvSpPr/>
          <p:nvPr/>
        </p:nvSpPr>
        <p:spPr>
          <a:xfrm>
            <a:off x="6323076" y="3913632"/>
            <a:ext cx="5271516" cy="438912"/>
          </a:xfrm>
          <a:prstGeom prst="roundRect">
            <a:avLst>
              <a:gd name="adj" fmla="val 12500"/>
            </a:avLst>
          </a:prstGeom>
          <a:solidFill>
            <a:srgbClr val="FFF4DC"/>
          </a:solidFill>
          <a:ln w="9525">
            <a:solidFill>
              <a:srgbClr val="E6C98A"/>
            </a:solidFill>
            <a:prstDash val="solid"/>
          </a:ln>
        </p:spPr>
      </p:sp>
      <p:sp>
        <p:nvSpPr>
          <p:cNvPr id="25" name="Text 22"/>
          <p:cNvSpPr txBox="1"/>
          <p:nvPr/>
        </p:nvSpPr>
        <p:spPr>
          <a:xfrm>
            <a:off x="6414516"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نَتَشَاجَرُ ثُمَّ نَتَصَالَحُ.</a:t>
            </a:r>
            <a:endParaRPr lang="ar-SA" sz="1800" dirty="0"/>
          </a:p>
        </p:txBody>
      </p:sp>
      <p:sp>
        <p:nvSpPr>
          <p:cNvPr id="26" name="Shape 23"/>
          <p:cNvSpPr/>
          <p:nvPr/>
        </p:nvSpPr>
        <p:spPr>
          <a:xfrm>
            <a:off x="457200" y="1810512"/>
            <a:ext cx="5545836" cy="4498848"/>
          </a:xfrm>
          <a:prstGeom prst="roundRect">
            <a:avLst>
              <a:gd name="adj" fmla="val 1626"/>
            </a:avLst>
          </a:prstGeom>
          <a:solidFill>
            <a:srgbClr val="EEF3FA"/>
          </a:solidFill>
          <a:ln w="9525">
            <a:solidFill>
              <a:srgbClr val="C9D6EA"/>
            </a:solidFill>
            <a:prstDash val="solid"/>
          </a:ln>
        </p:spPr>
      </p:sp>
      <p:sp>
        <p:nvSpPr>
          <p:cNvPr id="27" name="Shape 24"/>
          <p:cNvSpPr/>
          <p:nvPr/>
        </p:nvSpPr>
        <p:spPr>
          <a:xfrm>
            <a:off x="594360" y="1920240"/>
            <a:ext cx="5271516" cy="310896"/>
          </a:xfrm>
          <a:prstGeom prst="roundRect">
            <a:avLst>
              <a:gd name="adj" fmla="val 50000"/>
            </a:avLst>
          </a:prstGeom>
          <a:solidFill>
            <a:srgbClr val="2F6FB0"/>
          </a:solidFill>
          <a:ln w="12700">
            <a:solidFill>
              <a:srgbClr val="2F6FB0"/>
            </a:solidFill>
            <a:prstDash val="solid"/>
          </a:ln>
        </p:spPr>
      </p:sp>
      <p:sp>
        <p:nvSpPr>
          <p:cNvPr id="28" name="Text 25"/>
          <p:cNvSpPr txBox="1"/>
          <p:nvPr/>
        </p:nvSpPr>
        <p:spPr>
          <a:xfrm>
            <a:off x="594360"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Inaccurate</a:t>
            </a:r>
            <a:endParaRPr lang="en-US" sz="950" dirty="0"/>
          </a:p>
        </p:txBody>
      </p:sp>
      <p:sp>
        <p:nvSpPr>
          <p:cNvPr id="29" name="Shape 26"/>
          <p:cNvSpPr/>
          <p:nvPr/>
        </p:nvSpPr>
        <p:spPr>
          <a:xfrm>
            <a:off x="594360" y="2377440"/>
            <a:ext cx="5271516"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685800"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أَتَفَاهَمُ أُخْتِي.</a:t>
            </a:r>
            <a:endParaRPr lang="ar-SA" sz="1800" dirty="0"/>
          </a:p>
        </p:txBody>
      </p:sp>
      <p:sp>
        <p:nvSpPr>
          <p:cNvPr id="31" name="Shape 28"/>
          <p:cNvSpPr/>
          <p:nvPr/>
        </p:nvSpPr>
        <p:spPr>
          <a:xfrm>
            <a:off x="594360" y="2889504"/>
            <a:ext cx="5271516"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685800"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أُمِّي يَدْعَمُنِي.</a:t>
            </a:r>
            <a:endParaRPr lang="ar-SA" sz="1800" dirty="0"/>
          </a:p>
        </p:txBody>
      </p:sp>
      <p:sp>
        <p:nvSpPr>
          <p:cNvPr id="33" name="Shape 30"/>
          <p:cNvSpPr/>
          <p:nvPr/>
        </p:nvSpPr>
        <p:spPr>
          <a:xfrm>
            <a:off x="594360" y="3401568"/>
            <a:ext cx="5271516" cy="438912"/>
          </a:xfrm>
          <a:prstGeom prst="roundRect">
            <a:avLst>
              <a:gd name="adj" fmla="val 12500"/>
            </a:avLst>
          </a:prstGeom>
          <a:solidFill>
            <a:srgbClr val="FFF4DC"/>
          </a:solidFill>
          <a:ln w="9525">
            <a:solidFill>
              <a:srgbClr val="E6C98A"/>
            </a:solidFill>
            <a:prstDash val="solid"/>
          </a:ln>
        </p:spPr>
      </p:sp>
      <p:sp>
        <p:nvSpPr>
          <p:cNvPr id="34" name="Text 31"/>
          <p:cNvSpPr txBox="1"/>
          <p:nvPr/>
        </p:nvSpPr>
        <p:spPr>
          <a:xfrm>
            <a:off x="685800"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نَتَفَاهَمُ لِأَنَّهُ نَسْتَمِعُ.</a:t>
            </a:r>
            <a:endParaRPr lang="ar-SA" sz="1800" dirty="0"/>
          </a:p>
        </p:txBody>
      </p:sp>
      <p:sp>
        <p:nvSpPr>
          <p:cNvPr id="35" name="Shape 32"/>
          <p:cNvSpPr/>
          <p:nvPr/>
        </p:nvSpPr>
        <p:spPr>
          <a:xfrm>
            <a:off x="594360" y="3913632"/>
            <a:ext cx="5271516" cy="438912"/>
          </a:xfrm>
          <a:prstGeom prst="roundRect">
            <a:avLst>
              <a:gd name="adj" fmla="val 12500"/>
            </a:avLst>
          </a:prstGeom>
          <a:solidFill>
            <a:srgbClr val="FFF4DC"/>
          </a:solidFill>
          <a:ln w="9525">
            <a:solidFill>
              <a:srgbClr val="E6C98A"/>
            </a:solidFill>
            <a:prstDash val="solid"/>
          </a:ln>
        </p:spPr>
      </p:sp>
      <p:sp>
        <p:nvSpPr>
          <p:cNvPr id="36" name="Text 33"/>
          <p:cNvSpPr txBox="1"/>
          <p:nvPr/>
        </p:nvSpPr>
        <p:spPr>
          <a:xfrm>
            <a:off x="685800"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أَنَا يَحْتَرِمُهَا.</a:t>
            </a:r>
            <a:endParaRPr lang="ar-SA" sz="180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46</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TB-L02 · Family and Friends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GUIDED PRACTICE · WEBSITE QUIZ QUESTIONS 5, 6, 7, 8</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TB-L02</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means “we argue”?</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نَتَصَالَحُ</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نَتَعَاوَنُ</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نَتَشَاجَرُ</a:t>
            </a:r>
            <a:endParaRPr lang="ar-SA" sz="2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accurate pronoun reference to “my brother”.</a:t>
            </a:r>
            <a:endParaRPr lang="en-US" sz="125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أُسَاعِدُهَا.</a:t>
            </a:r>
            <a:endParaRPr lang="ar-SA" sz="20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أُسَاعِدُهُ.</a:t>
            </a:r>
            <a:endParaRPr lang="ar-SA" sz="20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يُسَاعِدُنِي.</a:t>
            </a:r>
            <a:endParaRPr lang="ar-SA" sz="20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46" name="Text 43"/>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developed answer.</a:t>
            </a:r>
            <a:endParaRPr lang="en-US" sz="1250" dirty="0"/>
          </a:p>
        </p:txBody>
      </p:sp>
      <p:sp>
        <p:nvSpPr>
          <p:cNvPr id="47" name="Shape 44"/>
          <p:cNvSpPr/>
          <p:nvPr/>
        </p:nvSpPr>
        <p:spPr>
          <a:xfrm>
            <a:off x="640080" y="4873752"/>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عَلَاقَتُنَا.</a:t>
            </a:r>
            <a:endParaRPr lang="ar-SA" sz="2050" dirty="0"/>
          </a:p>
        </p:txBody>
      </p:sp>
      <p:sp>
        <p:nvSpPr>
          <p:cNvPr id="50" name="Shape 47"/>
          <p:cNvSpPr/>
          <p:nvPr/>
        </p:nvSpPr>
        <p:spPr>
          <a:xfrm>
            <a:off x="640080" y="5330952"/>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عَلَاقَتُنَا قَوِيَّةٌ لِأَنَّنَا نَثِقُ بِبَعْضِنَا.</a:t>
            </a:r>
            <a:endParaRPr lang="ar-SA" sz="2050" dirty="0"/>
          </a:p>
        </p:txBody>
      </p:sp>
      <p:sp>
        <p:nvSpPr>
          <p:cNvPr id="53" name="Shape 50"/>
          <p:cNvSpPr/>
          <p:nvPr/>
        </p:nvSpPr>
        <p:spPr>
          <a:xfrm>
            <a:off x="640080" y="5788152"/>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نَعَمْ.</a:t>
            </a:r>
            <a:endParaRPr lang="ar-SA" sz="2050" dirty="0"/>
          </a:p>
        </p:txBody>
      </p:sp>
      <p:sp>
        <p:nvSpPr>
          <p:cNvPr id="56" name="Shape 53"/>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6313932"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59" name="Text 56"/>
          <p:cNvSpPr txBox="1"/>
          <p:nvPr/>
        </p:nvSpPr>
        <p:spPr>
          <a:xfrm>
            <a:off x="6679692"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60" name="Text 57"/>
          <p:cNvSpPr txBox="1"/>
          <p:nvPr/>
        </p:nvSpPr>
        <p:spPr>
          <a:xfrm>
            <a:off x="9052011"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بَعْدَ أَنْ نَتَشَاجَرَ، ___ سَرِيعًا.</a:t>
            </a:r>
            <a:endParaRPr lang="ar-SA" sz="1500" dirty="0"/>
          </a:p>
        </p:txBody>
      </p:sp>
      <p:sp>
        <p:nvSpPr>
          <p:cNvPr id="61" name="Shape 58"/>
          <p:cNvSpPr/>
          <p:nvPr/>
        </p:nvSpPr>
        <p:spPr>
          <a:xfrm>
            <a:off x="6368796" y="48737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3" name="Text 60"/>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أَتَفَاهَمُهُ</a:t>
            </a:r>
            <a:endParaRPr lang="ar-SA" sz="2050" dirty="0"/>
          </a:p>
        </p:txBody>
      </p:sp>
      <p:sp>
        <p:nvSpPr>
          <p:cNvPr id="64" name="Shape 61"/>
          <p:cNvSpPr/>
          <p:nvPr/>
        </p:nvSpPr>
        <p:spPr>
          <a:xfrm>
            <a:off x="6368796" y="53309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6" name="Text 63"/>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يَدْعَمُنِي</a:t>
            </a:r>
            <a:endParaRPr lang="ar-SA" sz="2050" dirty="0"/>
          </a:p>
        </p:txBody>
      </p:sp>
      <p:sp>
        <p:nvSpPr>
          <p:cNvPr id="67" name="Shape 64"/>
          <p:cNvSpPr/>
          <p:nvPr/>
        </p:nvSpPr>
        <p:spPr>
          <a:xfrm>
            <a:off x="6368796" y="5788152"/>
            <a:ext cx="256032" cy="256032"/>
          </a:xfrm>
          <a:prstGeom prst="ellipse">
            <a:avLst/>
          </a:prstGeom>
          <a:solidFill>
            <a:srgbClr val="F4F1EA"/>
          </a:solidFill>
          <a:ln w="12700">
            <a:solidFill>
              <a:srgbClr val="F4F1EA"/>
            </a:solidFill>
            <a:prstDash val="solid"/>
          </a:ln>
        </p:spPr>
      </p:sp>
      <p:sp>
        <p:nvSpPr>
          <p:cNvPr id="68" name="Text 65"/>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9" name="Text 66"/>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نَتَصَالَحُ</a:t>
            </a:r>
            <a:endParaRPr lang="ar-SA" sz="20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46</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TB-L02 · Family and Friends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TB-L02</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means “we argue”?</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نَتَصَالَحُ</a:t>
            </a:r>
            <a:endParaRPr lang="ar-SA" sz="170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نَتَعَاوَنُ</a:t>
            </a:r>
            <a:endParaRPr lang="ar-SA" sz="170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نَتَشَاجَرُ</a:t>
            </a:r>
            <a:endParaRPr lang="ar-SA" sz="170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نَتَشَاجَرُ</a:t>
            </a:r>
            <a:pPr algn="l" indent="0" marL="0">
              <a:buNone/>
            </a:pPr>
            <a:r>
              <a:rPr lang="en-US" sz="1050" i="1" dirty="0">
                <a:solidFill>
                  <a:srgbClr val="8A6D1E"/>
                </a:solidFill>
                <a:latin typeface="Calibri" pitchFamily="34" charset="0"/>
                <a:cs typeface="Amiri" pitchFamily="2" charset="-78"/>
              </a:rPr>
              <a:t> = we argue.</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5" name="Text 32"/>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accurate pronoun reference to “my brother”.</a:t>
            </a:r>
            <a:endParaRPr lang="en-US" sz="1250" dirty="0"/>
          </a:p>
        </p:txBody>
      </p:sp>
      <p:sp>
        <p:nvSpPr>
          <p:cNvPr id="36" name="Shape 33"/>
          <p:cNvSpPr/>
          <p:nvPr/>
        </p:nvSpPr>
        <p:spPr>
          <a:xfrm>
            <a:off x="6368796"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أُسَاعِدُهَا.</a:t>
            </a:r>
            <a:endParaRPr lang="ar-SA" sz="1700" dirty="0"/>
          </a:p>
        </p:txBody>
      </p:sp>
      <p:sp>
        <p:nvSpPr>
          <p:cNvPr id="39" name="Shape 36"/>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6368796" y="2862072"/>
            <a:ext cx="256032" cy="256032"/>
          </a:xfrm>
          <a:prstGeom prst="ellipse">
            <a:avLst/>
          </a:prstGeom>
          <a:solidFill>
            <a:srgbClr val="2E8B57"/>
          </a:solidFill>
          <a:ln w="12700">
            <a:solidFill>
              <a:srgbClr val="2E8B57"/>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أُسَاعِدُهُ.</a:t>
            </a:r>
            <a:endParaRPr lang="ar-SA" sz="170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يُسَاعِدُنِي.</a:t>
            </a:r>
            <a:endParaRPr lang="ar-SA" sz="170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ـه</a:t>
            </a:r>
            <a:pPr algn="l" indent="0" marL="0">
              <a:buNone/>
            </a:pPr>
            <a:r>
              <a:rPr lang="en-US" sz="1050" i="1" dirty="0">
                <a:solidFill>
                  <a:srgbClr val="8A6D1E"/>
                </a:solidFill>
                <a:latin typeface="Calibri" pitchFamily="34" charset="0"/>
                <a:cs typeface="Amiri" pitchFamily="2" charset="-78"/>
              </a:rPr>
              <a:t> refers to him.</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50" name="Text 47"/>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developed answer.</a:t>
            </a:r>
            <a:endParaRPr lang="en-US" sz="1250" dirty="0"/>
          </a:p>
        </p:txBody>
      </p:sp>
      <p:sp>
        <p:nvSpPr>
          <p:cNvPr id="51" name="Shape 48"/>
          <p:cNvSpPr/>
          <p:nvPr/>
        </p:nvSpPr>
        <p:spPr>
          <a:xfrm>
            <a:off x="640080" y="4831080"/>
            <a:ext cx="256032" cy="256032"/>
          </a:xfrm>
          <a:prstGeom prst="ellipse">
            <a:avLst/>
          </a:prstGeom>
          <a:solidFill>
            <a:srgbClr val="C9CED6"/>
          </a:solidFill>
          <a:ln w="12700">
            <a:solidFill>
              <a:srgbClr val="C9CED6"/>
            </a:solidFill>
            <a:prstDash val="solid"/>
          </a:ln>
        </p:spPr>
      </p:sp>
      <p:sp>
        <p:nvSpPr>
          <p:cNvPr id="52" name="Text 49"/>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3" name="Text 50"/>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عَلَاقَتُنَا.</a:t>
            </a:r>
            <a:endParaRPr lang="ar-SA" sz="1700" dirty="0"/>
          </a:p>
        </p:txBody>
      </p:sp>
      <p:sp>
        <p:nvSpPr>
          <p:cNvPr id="54" name="Shape 51"/>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640080" y="5202936"/>
            <a:ext cx="256032" cy="256032"/>
          </a:xfrm>
          <a:prstGeom prst="ellipse">
            <a:avLst/>
          </a:prstGeom>
          <a:solidFill>
            <a:srgbClr val="2E8B57"/>
          </a:solidFill>
          <a:ln w="12700">
            <a:solidFill>
              <a:srgbClr val="2E8B57"/>
            </a:solidFill>
            <a:prstDash val="solid"/>
          </a:ln>
        </p:spPr>
      </p:sp>
      <p:sp>
        <p:nvSpPr>
          <p:cNvPr id="56" name="Text 5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7" name="Text 54"/>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عَلَاقَتُنَا قَوِيَّةٌ لِأَنَّنَا نَثِقُ بِبَعْضِنَا.</a:t>
            </a:r>
            <a:endParaRPr lang="ar-SA" sz="1700" dirty="0"/>
          </a:p>
        </p:txBody>
      </p:sp>
      <p:sp>
        <p:nvSpPr>
          <p:cNvPr id="58" name="Shape 55"/>
          <p:cNvSpPr/>
          <p:nvPr/>
        </p:nvSpPr>
        <p:spPr>
          <a:xfrm>
            <a:off x="640080" y="5574792"/>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نَعَمْ.</a:t>
            </a:r>
            <a:endParaRPr lang="ar-SA" sz="1700" dirty="0"/>
          </a:p>
        </p:txBody>
      </p:sp>
      <p:sp>
        <p:nvSpPr>
          <p:cNvPr id="61" name="Text 58"/>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It gives a judgement and reason.</a:t>
            </a:r>
            <a:endParaRPr lang="en-US" sz="1050" dirty="0"/>
          </a:p>
        </p:txBody>
      </p:sp>
      <p:sp>
        <p:nvSpPr>
          <p:cNvPr id="62" name="Shape 59"/>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6313932"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65" name="Text 62"/>
          <p:cNvSpPr txBox="1"/>
          <p:nvPr/>
        </p:nvSpPr>
        <p:spPr>
          <a:xfrm>
            <a:off x="6679692"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66" name="Text 63"/>
          <p:cNvSpPr txBox="1"/>
          <p:nvPr/>
        </p:nvSpPr>
        <p:spPr>
          <a:xfrm>
            <a:off x="9052011"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بَعْدَ أَنْ نَتَشَاجَرَ، ___ سَرِيعًا.</a:t>
            </a:r>
            <a:endParaRPr lang="ar-SA" sz="1500" dirty="0"/>
          </a:p>
        </p:txBody>
      </p:sp>
      <p:sp>
        <p:nvSpPr>
          <p:cNvPr id="67" name="Shape 64"/>
          <p:cNvSpPr/>
          <p:nvPr/>
        </p:nvSpPr>
        <p:spPr>
          <a:xfrm>
            <a:off x="6368796" y="4831080"/>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9" name="Text 66"/>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أَتَفَاهَمُهُ</a:t>
            </a:r>
            <a:endParaRPr lang="ar-SA" sz="1700" dirty="0"/>
          </a:p>
        </p:txBody>
      </p:sp>
      <p:sp>
        <p:nvSpPr>
          <p:cNvPr id="70" name="Shape 67"/>
          <p:cNvSpPr/>
          <p:nvPr/>
        </p:nvSpPr>
        <p:spPr>
          <a:xfrm>
            <a:off x="6368796" y="5202936"/>
            <a:ext cx="256032" cy="256032"/>
          </a:xfrm>
          <a:prstGeom prst="ellipse">
            <a:avLst/>
          </a:prstGeom>
          <a:solidFill>
            <a:srgbClr val="C9CED6"/>
          </a:solidFill>
          <a:ln w="12700">
            <a:solidFill>
              <a:srgbClr val="C9CED6"/>
            </a:solidFill>
            <a:prstDash val="solid"/>
          </a:ln>
        </p:spPr>
      </p:sp>
      <p:sp>
        <p:nvSpPr>
          <p:cNvPr id="71" name="Text 68"/>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2" name="Text 69"/>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يَدْعَمُنِي</a:t>
            </a:r>
            <a:endParaRPr lang="ar-SA" sz="1700" dirty="0"/>
          </a:p>
        </p:txBody>
      </p:sp>
      <p:sp>
        <p:nvSpPr>
          <p:cNvPr id="73" name="Shape 70"/>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4" name="Shape 71"/>
          <p:cNvSpPr/>
          <p:nvPr/>
        </p:nvSpPr>
        <p:spPr>
          <a:xfrm>
            <a:off x="6368796" y="5574792"/>
            <a:ext cx="256032" cy="256032"/>
          </a:xfrm>
          <a:prstGeom prst="ellipse">
            <a:avLst/>
          </a:prstGeom>
          <a:solidFill>
            <a:srgbClr val="2E8B57"/>
          </a:solidFill>
          <a:ln w="12700">
            <a:solidFill>
              <a:srgbClr val="2E8B57"/>
            </a:solidFill>
            <a:prstDash val="solid"/>
          </a:ln>
        </p:spPr>
      </p:sp>
      <p:sp>
        <p:nvSpPr>
          <p:cNvPr id="75" name="Text 72"/>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6" name="Text 73"/>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نَتَصَالَحُ</a:t>
            </a:r>
            <a:endParaRPr lang="ar-SA" sz="1700" dirty="0"/>
          </a:p>
        </p:txBody>
      </p:sp>
      <p:sp>
        <p:nvSpPr>
          <p:cNvPr id="77" name="Text 74"/>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We make up after arguing.</a:t>
            </a:r>
            <a:endParaRPr lang="en-US" sz="10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46</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TB-L02 · Family and Friends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TB-L02</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أَتَفَاهَمُ أُخْتِي.</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Get on … WITH?</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أُمِّي يَدْعَمُنِي.</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My mother = he or she?</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أَحْتَرِمُ أُمِّي؛ أَحْتَرِمُهُ.</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Mother → which ending?</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46</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TB-L02 · Family and Friends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TB-L02</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أَتَفَاهَمُ أُخْتِي.</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أَتَفَاهَمُ مَعَ أُخْتِي.</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Use </a:t>
            </a:r>
            <a:pPr algn="l" indent="0" marL="0">
              <a:buNone/>
            </a:pPr>
            <a:r>
              <a:rPr lang="ar-SA" altLang="en-US" sz="1500" b="1" dirty="0">
                <a:solidFill>
                  <a:srgbClr val="1B3B6F"/>
                </a:solidFill>
                <a:latin typeface="Amiri" pitchFamily="2" charset="-78"/>
                <a:ea typeface="Amiri" pitchFamily="2" charset="-78"/>
                <a:cs typeface="Amiri" pitchFamily="2" charset="-78"/>
              </a:rPr>
              <a:t>مَعَ</a:t>
            </a:r>
            <a:pPr algn="l" indent="0" marL="0">
              <a:buNone/>
            </a:pPr>
            <a:r>
              <a:rPr lang="en-US" sz="1150" b="1" dirty="0">
                <a:solidFill>
                  <a:srgbClr val="1B3B6F"/>
                </a:solidFill>
                <a:latin typeface="Calibri" pitchFamily="34" charset="0"/>
                <a:cs typeface="Amiri" pitchFamily="2" charset="-78"/>
              </a:rPr>
              <a:t> after </a:t>
            </a:r>
            <a:pPr algn="l" indent="0" marL="0">
              <a:buNone/>
            </a:pPr>
            <a:r>
              <a:rPr lang="ar-SA" altLang="en-US" sz="1500" b="1" dirty="0">
                <a:solidFill>
                  <a:srgbClr val="1B3B6F"/>
                </a:solidFill>
                <a:latin typeface="Amiri" pitchFamily="2" charset="-78"/>
                <a:ea typeface="Amiri" pitchFamily="2" charset="-78"/>
                <a:cs typeface="Amiri" pitchFamily="2" charset="-78"/>
              </a:rPr>
              <a:t>أَتَفَاهَمُ</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أُمِّي يَدْعَمُنِي.</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أُمِّي تَدْعَمُنِي.</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My mother = she → </a:t>
            </a:r>
            <a:pPr algn="l" indent="0" marL="0">
              <a:buNone/>
            </a:pPr>
            <a:r>
              <a:rPr lang="ar-SA" altLang="en-US" sz="1500" b="1" dirty="0">
                <a:solidFill>
                  <a:srgbClr val="1B3B6F"/>
                </a:solidFill>
                <a:latin typeface="Amiri" pitchFamily="2" charset="-78"/>
                <a:ea typeface="Amiri" pitchFamily="2" charset="-78"/>
                <a:cs typeface="Amiri" pitchFamily="2" charset="-78"/>
              </a:rPr>
              <a:t>تَـ</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أَحْتَرِمُ أُمِّي؛ أَحْتَرِمُهُ.</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أَحْتَرِمُ أُمِّي؛ أَحْتَرِمُهَا.</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2" charset="-78"/>
                <a:ea typeface="Amiri" pitchFamily="2" charset="-78"/>
                <a:cs typeface="Amiri" pitchFamily="2" charset="-78"/>
              </a:rPr>
              <a:t>ـهَا</a:t>
            </a:r>
            <a:pPr algn="l" indent="0" marL="0">
              <a:buNone/>
            </a:pPr>
            <a:r>
              <a:rPr lang="en-US" sz="1150" b="1" dirty="0">
                <a:solidFill>
                  <a:srgbClr val="1B3B6F"/>
                </a:solidFill>
                <a:latin typeface="Calibri" pitchFamily="34" charset="0"/>
                <a:cs typeface="Amiri" pitchFamily="2" charset="-78"/>
              </a:rPr>
              <a:t> refers to her.</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46</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TB-L02 · Family and Friends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Listening focus: relationships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TB-L02</a:t>
            </a:r>
            <a:endParaRPr lang="en-US" sz="850" dirty="0"/>
          </a:p>
        </p:txBody>
      </p:sp>
      <p:sp>
        <p:nvSpPr>
          <p:cNvPr id="15" name="Shape 12"/>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is Samer?</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speaker’s older brother</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classmate</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cousin</a:t>
            </a:r>
            <a:endParaRPr lang="en-US" sz="1250" dirty="0"/>
          </a:p>
        </p:txBody>
      </p:sp>
      <p:sp>
        <p:nvSpPr>
          <p:cNvPr id="28" name="Shape 25"/>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3449574"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does the speaker usually get on with him?</a:t>
            </a:r>
            <a:endParaRPr lang="en-US" sz="1250" dirty="0"/>
          </a:p>
        </p:txBody>
      </p:sp>
      <p:sp>
        <p:nvSpPr>
          <p:cNvPr id="32" name="Shape 29"/>
          <p:cNvSpPr/>
          <p:nvPr/>
        </p:nvSpPr>
        <p:spPr>
          <a:xfrm>
            <a:off x="3504438"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350443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3833622"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 buys presents</a:t>
            </a:r>
            <a:endParaRPr lang="en-US" sz="1250" dirty="0"/>
          </a:p>
        </p:txBody>
      </p:sp>
      <p:sp>
        <p:nvSpPr>
          <p:cNvPr id="35" name="Shape 32"/>
          <p:cNvSpPr/>
          <p:nvPr/>
        </p:nvSpPr>
        <p:spPr>
          <a:xfrm>
            <a:off x="3504438"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350443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3833622"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 is very quiet</a:t>
            </a:r>
            <a:endParaRPr lang="en-US" sz="1250" dirty="0"/>
          </a:p>
        </p:txBody>
      </p:sp>
      <p:sp>
        <p:nvSpPr>
          <p:cNvPr id="38" name="Shape 35"/>
          <p:cNvSpPr/>
          <p:nvPr/>
        </p:nvSpPr>
        <p:spPr>
          <a:xfrm>
            <a:off x="3504438"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350443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3833622"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 listens and supports the speaker’s studies</a:t>
            </a:r>
            <a:endParaRPr lang="en-US" sz="1250" dirty="0"/>
          </a:p>
        </p:txBody>
      </p:sp>
      <p:sp>
        <p:nvSpPr>
          <p:cNvPr id="41" name="Shape 38"/>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313932"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 they sometimes disagree about?</a:t>
            </a:r>
            <a:endParaRPr lang="en-US" sz="1250" dirty="0"/>
          </a:p>
        </p:txBody>
      </p:sp>
      <p:sp>
        <p:nvSpPr>
          <p:cNvPr id="45" name="Shape 42"/>
          <p:cNvSpPr/>
          <p:nvPr/>
        </p:nvSpPr>
        <p:spPr>
          <a:xfrm>
            <a:off x="6368796"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6697980"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football</a:t>
            </a:r>
            <a:endParaRPr lang="en-US" sz="1250" dirty="0"/>
          </a:p>
        </p:txBody>
      </p:sp>
      <p:sp>
        <p:nvSpPr>
          <p:cNvPr id="48" name="Shape 45"/>
          <p:cNvSpPr/>
          <p:nvPr/>
        </p:nvSpPr>
        <p:spPr>
          <a:xfrm>
            <a:off x="6368796"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6697980"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homework</a:t>
            </a:r>
            <a:endParaRPr lang="en-US" sz="1250" dirty="0"/>
          </a:p>
        </p:txBody>
      </p:sp>
      <p:sp>
        <p:nvSpPr>
          <p:cNvPr id="51" name="Shape 48"/>
          <p:cNvSpPr/>
          <p:nvPr/>
        </p:nvSpPr>
        <p:spPr>
          <a:xfrm>
            <a:off x="6368796"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6697980"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using the computer</a:t>
            </a:r>
            <a:endParaRPr lang="en-US" sz="1250" dirty="0"/>
          </a:p>
        </p:txBody>
      </p:sp>
      <p:sp>
        <p:nvSpPr>
          <p:cNvPr id="54" name="Shape 51"/>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9178290" y="1947672"/>
            <a:ext cx="310896" cy="310896"/>
          </a:xfrm>
          <a:prstGeom prst="ellipse">
            <a:avLst/>
          </a:prstGeom>
          <a:solidFill>
            <a:srgbClr val="1B3B6F"/>
          </a:solidFill>
          <a:ln w="12700">
            <a:solidFill>
              <a:srgbClr val="1B3B6F"/>
            </a:solidFill>
            <a:prstDash val="solid"/>
          </a:ln>
        </p:spPr>
      </p:sp>
      <p:sp>
        <p:nvSpPr>
          <p:cNvPr id="56" name="Text 53"/>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happens after they argue?</a:t>
            </a:r>
            <a:endParaRPr lang="en-US" sz="1250" dirty="0"/>
          </a:p>
        </p:txBody>
      </p:sp>
      <p:sp>
        <p:nvSpPr>
          <p:cNvPr id="58" name="Shape 55"/>
          <p:cNvSpPr/>
          <p:nvPr/>
        </p:nvSpPr>
        <p:spPr>
          <a:xfrm>
            <a:off x="9233154" y="2532888"/>
            <a:ext cx="256032" cy="256032"/>
          </a:xfrm>
          <a:prstGeom prst="ellipse">
            <a:avLst/>
          </a:prstGeom>
          <a:solidFill>
            <a:srgbClr val="F4F1EA"/>
          </a:solidFill>
          <a:ln w="12700">
            <a:solidFill>
              <a:srgbClr val="F4F1EA"/>
            </a:solidFill>
            <a:prstDash val="solid"/>
          </a:ln>
        </p:spPr>
      </p:sp>
      <p:sp>
        <p:nvSpPr>
          <p:cNvPr id="59" name="Text 56"/>
          <p:cNvSpPr txBox="1"/>
          <p:nvPr/>
        </p:nvSpPr>
        <p:spPr>
          <a:xfrm>
            <a:off x="923315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562338"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they talk and make up quickly</a:t>
            </a:r>
            <a:endParaRPr lang="en-US" sz="1250" dirty="0"/>
          </a:p>
        </p:txBody>
      </p:sp>
      <p:sp>
        <p:nvSpPr>
          <p:cNvPr id="61" name="Shape 58"/>
          <p:cNvSpPr/>
          <p:nvPr/>
        </p:nvSpPr>
        <p:spPr>
          <a:xfrm>
            <a:off x="9233154" y="2990088"/>
            <a:ext cx="256032" cy="256032"/>
          </a:xfrm>
          <a:prstGeom prst="ellipse">
            <a:avLst/>
          </a:prstGeom>
          <a:solidFill>
            <a:srgbClr val="F4F1EA"/>
          </a:solidFill>
          <a:ln w="12700">
            <a:solidFill>
              <a:srgbClr val="F4F1EA"/>
            </a:solidFill>
            <a:prstDash val="solid"/>
          </a:ln>
        </p:spPr>
      </p:sp>
      <p:sp>
        <p:nvSpPr>
          <p:cNvPr id="62" name="Text 59"/>
          <p:cNvSpPr txBox="1"/>
          <p:nvPr/>
        </p:nvSpPr>
        <p:spPr>
          <a:xfrm>
            <a:off x="923315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562338"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they stop speaking for days</a:t>
            </a:r>
            <a:endParaRPr lang="en-US" sz="1250" dirty="0"/>
          </a:p>
        </p:txBody>
      </p:sp>
      <p:sp>
        <p:nvSpPr>
          <p:cNvPr id="64" name="Shape 61"/>
          <p:cNvSpPr/>
          <p:nvPr/>
        </p:nvSpPr>
        <p:spPr>
          <a:xfrm>
            <a:off x="9233154" y="3447288"/>
            <a:ext cx="256032" cy="256032"/>
          </a:xfrm>
          <a:prstGeom prst="ellipse">
            <a:avLst/>
          </a:prstGeom>
          <a:solidFill>
            <a:srgbClr val="F4F1EA"/>
          </a:solidFill>
          <a:ln w="12700">
            <a:solidFill>
              <a:srgbClr val="F4F1EA"/>
            </a:solidFill>
            <a:prstDash val="solid"/>
          </a:ln>
        </p:spPr>
      </p:sp>
      <p:sp>
        <p:nvSpPr>
          <p:cNvPr id="65" name="Text 62"/>
          <p:cNvSpPr txBox="1"/>
          <p:nvPr/>
        </p:nvSpPr>
        <p:spPr>
          <a:xfrm>
            <a:off x="923315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562338"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their mother decides</a:t>
            </a:r>
            <a:endParaRPr lang="en-US" sz="1250" dirty="0"/>
          </a:p>
        </p:txBody>
      </p:sp>
      <p:sp>
        <p:nvSpPr>
          <p:cNvPr id="67" name="Shape 64"/>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585216"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does the speaker respect him?</a:t>
            </a:r>
            <a:endParaRPr lang="en-US" sz="1250" dirty="0"/>
          </a:p>
        </p:txBody>
      </p:sp>
      <p:sp>
        <p:nvSpPr>
          <p:cNvPr id="71" name="Shape 68"/>
          <p:cNvSpPr/>
          <p:nvPr/>
        </p:nvSpPr>
        <p:spPr>
          <a:xfrm>
            <a:off x="640080"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969264"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 is older</a:t>
            </a:r>
            <a:endParaRPr lang="en-US" sz="1250" dirty="0"/>
          </a:p>
        </p:txBody>
      </p:sp>
      <p:sp>
        <p:nvSpPr>
          <p:cNvPr id="74" name="Shape 71"/>
          <p:cNvSpPr/>
          <p:nvPr/>
        </p:nvSpPr>
        <p:spPr>
          <a:xfrm>
            <a:off x="640080"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969264"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 is honest and helpful</a:t>
            </a:r>
            <a:endParaRPr lang="en-US" sz="1250" dirty="0"/>
          </a:p>
        </p:txBody>
      </p:sp>
      <p:sp>
        <p:nvSpPr>
          <p:cNvPr id="77" name="Shape 74"/>
          <p:cNvSpPr/>
          <p:nvPr/>
        </p:nvSpPr>
        <p:spPr>
          <a:xfrm>
            <a:off x="640080"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969264"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 is funny</a:t>
            </a:r>
            <a:endParaRPr lang="en-US" sz="1250" dirty="0"/>
          </a:p>
        </p:txBody>
      </p:sp>
      <p:sp>
        <p:nvSpPr>
          <p:cNvPr id="80" name="Shape 77"/>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3449574" y="4288536"/>
            <a:ext cx="310896" cy="310896"/>
          </a:xfrm>
          <a:prstGeom prst="ellipse">
            <a:avLst/>
          </a:prstGeom>
          <a:solidFill>
            <a:srgbClr val="1B3B6F"/>
          </a:solidFill>
          <a:ln w="12700">
            <a:solidFill>
              <a:srgbClr val="1B3B6F"/>
            </a:solidFill>
            <a:prstDash val="solid"/>
          </a:ln>
        </p:spPr>
      </p:sp>
      <p:sp>
        <p:nvSpPr>
          <p:cNvPr id="82" name="Text 79"/>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83" name="Text 80"/>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In </a:t>
            </a:r>
            <a:pPr algn="l" indent="0" marL="0">
              <a:buNone/>
            </a:pPr>
            <a:r>
              <a:rPr lang="ar-SA" altLang="en-US" sz="1650" b="1" dirty="0">
                <a:solidFill>
                  <a:srgbClr val="1B3B6F"/>
                </a:solidFill>
                <a:latin typeface="Amiri" pitchFamily="2" charset="-78"/>
                <a:ea typeface="Amiri" pitchFamily="2" charset="-78"/>
                <a:cs typeface="Amiri" pitchFamily="2" charset="-78"/>
              </a:rPr>
              <a:t>أَحْتَرِمُهُ</a:t>
            </a:r>
            <a:pPr algn="l" indent="0" marL="0">
              <a:buNone/>
            </a:pPr>
            <a:r>
              <a:rPr lang="en-US" sz="1250" b="1" dirty="0">
                <a:solidFill>
                  <a:srgbClr val="1B3B6F"/>
                </a:solidFill>
                <a:latin typeface="Calibri" pitchFamily="34" charset="0"/>
                <a:cs typeface="Amiri" pitchFamily="2" charset="-78"/>
              </a:rPr>
              <a:t>, who is respected?</a:t>
            </a:r>
            <a:endParaRPr lang="en-US" sz="1250" dirty="0"/>
          </a:p>
        </p:txBody>
      </p:sp>
      <p:sp>
        <p:nvSpPr>
          <p:cNvPr id="84" name="Shape 81"/>
          <p:cNvSpPr/>
          <p:nvPr/>
        </p:nvSpPr>
        <p:spPr>
          <a:xfrm>
            <a:off x="3504438" y="4873752"/>
            <a:ext cx="256032" cy="256032"/>
          </a:xfrm>
          <a:prstGeom prst="ellipse">
            <a:avLst/>
          </a:prstGeom>
          <a:solidFill>
            <a:srgbClr val="F4F1EA"/>
          </a:solidFill>
          <a:ln w="12700">
            <a:solidFill>
              <a:srgbClr val="F4F1EA"/>
            </a:solidFill>
            <a:prstDash val="solid"/>
          </a:ln>
        </p:spPr>
      </p:sp>
      <p:sp>
        <p:nvSpPr>
          <p:cNvPr id="85" name="Text 82"/>
          <p:cNvSpPr txBox="1"/>
          <p:nvPr/>
        </p:nvSpPr>
        <p:spPr>
          <a:xfrm>
            <a:off x="350443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6" name="Text 83"/>
          <p:cNvSpPr txBox="1"/>
          <p:nvPr/>
        </p:nvSpPr>
        <p:spPr>
          <a:xfrm>
            <a:off x="3833622"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Samer (him)</a:t>
            </a:r>
            <a:endParaRPr lang="en-US" sz="1250" dirty="0"/>
          </a:p>
        </p:txBody>
      </p:sp>
      <p:sp>
        <p:nvSpPr>
          <p:cNvPr id="87" name="Shape 84"/>
          <p:cNvSpPr/>
          <p:nvPr/>
        </p:nvSpPr>
        <p:spPr>
          <a:xfrm>
            <a:off x="3504438" y="5330952"/>
            <a:ext cx="256032" cy="256032"/>
          </a:xfrm>
          <a:prstGeom prst="ellipse">
            <a:avLst/>
          </a:prstGeom>
          <a:solidFill>
            <a:srgbClr val="F4F1EA"/>
          </a:solidFill>
          <a:ln w="12700">
            <a:solidFill>
              <a:srgbClr val="F4F1EA"/>
            </a:solidFill>
            <a:prstDash val="solid"/>
          </a:ln>
        </p:spPr>
      </p:sp>
      <p:sp>
        <p:nvSpPr>
          <p:cNvPr id="88" name="Text 85"/>
          <p:cNvSpPr txBox="1"/>
          <p:nvPr/>
        </p:nvSpPr>
        <p:spPr>
          <a:xfrm>
            <a:off x="350443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9" name="Text 86"/>
          <p:cNvSpPr txBox="1"/>
          <p:nvPr/>
        </p:nvSpPr>
        <p:spPr>
          <a:xfrm>
            <a:off x="3833622"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speaker (me)</a:t>
            </a:r>
            <a:endParaRPr lang="en-US" sz="1250" dirty="0"/>
          </a:p>
        </p:txBody>
      </p:sp>
      <p:sp>
        <p:nvSpPr>
          <p:cNvPr id="90" name="Shape 87"/>
          <p:cNvSpPr/>
          <p:nvPr/>
        </p:nvSpPr>
        <p:spPr>
          <a:xfrm>
            <a:off x="3504438" y="5788152"/>
            <a:ext cx="256032" cy="256032"/>
          </a:xfrm>
          <a:prstGeom prst="ellipse">
            <a:avLst/>
          </a:prstGeom>
          <a:solidFill>
            <a:srgbClr val="F4F1EA"/>
          </a:solidFill>
          <a:ln w="12700">
            <a:solidFill>
              <a:srgbClr val="F4F1EA"/>
            </a:solidFill>
            <a:prstDash val="solid"/>
          </a:ln>
        </p:spPr>
      </p:sp>
      <p:sp>
        <p:nvSpPr>
          <p:cNvPr id="91" name="Text 88"/>
          <p:cNvSpPr txBox="1"/>
          <p:nvPr/>
        </p:nvSpPr>
        <p:spPr>
          <a:xfrm>
            <a:off x="350443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2" name="Text 89"/>
          <p:cNvSpPr txBox="1"/>
          <p:nvPr/>
        </p:nvSpPr>
        <p:spPr>
          <a:xfrm>
            <a:off x="3833622"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mother (her)</a:t>
            </a:r>
            <a:endParaRPr lang="en-US" sz="1250" dirty="0"/>
          </a:p>
        </p:txBody>
      </p:sp>
      <p:sp>
        <p:nvSpPr>
          <p:cNvPr id="93" name="Shape 90"/>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4" name="Shape 91"/>
          <p:cNvSpPr/>
          <p:nvPr/>
        </p:nvSpPr>
        <p:spPr>
          <a:xfrm>
            <a:off x="6807708" y="4361688"/>
            <a:ext cx="914400" cy="274320"/>
          </a:xfrm>
          <a:prstGeom prst="roundRect">
            <a:avLst>
              <a:gd name="adj" fmla="val 50000"/>
            </a:avLst>
          </a:prstGeom>
          <a:solidFill>
            <a:srgbClr val="2E8B57"/>
          </a:solidFill>
          <a:ln w="12700">
            <a:solidFill>
              <a:srgbClr val="2E8B57"/>
            </a:solidFill>
            <a:prstDash val="solid"/>
          </a:ln>
        </p:spPr>
      </p:sp>
      <p:sp>
        <p:nvSpPr>
          <p:cNvPr id="95" name="Text 92"/>
          <p:cNvSpPr txBox="1"/>
          <p:nvPr/>
        </p:nvSpPr>
        <p:spPr>
          <a:xfrm>
            <a:off x="6807708"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96" name="Text 93"/>
          <p:cNvSpPr txBox="1"/>
          <p:nvPr/>
        </p:nvSpPr>
        <p:spPr>
          <a:xfrm>
            <a:off x="6387084" y="4791456"/>
            <a:ext cx="2315718"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cs typeface="Amiri" pitchFamily="2" charset="-78"/>
              </a:rPr>
              <a:t>Listen twice. Core: questions 1, 3 and 4.</a:t>
            </a:r>
            <a:endParaRPr lang="en-US" sz="1250" dirty="0"/>
          </a:p>
          <a:p>
            <a:pPr algn="l" indent="0" marL="0">
              <a:lnSpc>
                <a:spcPct val="115000"/>
              </a:lnSpc>
              <a:buNone/>
            </a:pPr>
            <a:r>
              <a:rPr lang="en-US" sz="1250" dirty="0">
                <a:solidFill>
                  <a:srgbClr val="1E6B52"/>
                </a:solidFill>
                <a:latin typeface="Calibri" pitchFamily="34" charset="0"/>
                <a:cs typeface="Amiri" pitchFamily="2" charset="-78"/>
              </a:rPr>
              <a:t>Listen for: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أَخٌ أَكْبَرُ</a:t>
            </a:r>
            <a:pPr algn="l" indent="0" marL="0">
              <a:lnSpc>
                <a:spcPct val="115000"/>
              </a:lnSpc>
              <a:buNone/>
            </a:pPr>
            <a:r>
              <a:rPr lang="en-US" sz="1250" dirty="0">
                <a:solidFill>
                  <a:srgbClr val="1E6B52"/>
                </a:solidFill>
                <a:latin typeface="Calibri" pitchFamily="34" charset="0"/>
                <a:cs typeface="Amiri" pitchFamily="2" charset="-78"/>
              </a:rPr>
              <a:t> ·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الحَاسُوبِ</a:t>
            </a:r>
            <a:pPr algn="l" indent="0" marL="0">
              <a:lnSpc>
                <a:spcPct val="115000"/>
              </a:lnSpc>
              <a:buNone/>
            </a:pPr>
            <a:r>
              <a:rPr lang="en-US" sz="1250" dirty="0">
                <a:solidFill>
                  <a:srgbClr val="1E6B52"/>
                </a:solidFill>
                <a:latin typeface="Calibri" pitchFamily="34" charset="0"/>
                <a:cs typeface="Amiri" pitchFamily="2" charset="-78"/>
              </a:rPr>
              <a:t> ·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نَتَصَالَحُ</a:t>
            </a:r>
            <a:pPr algn="l" indent="0" marL="0">
              <a:lnSpc>
                <a:spcPct val="115000"/>
              </a:lnSpc>
              <a:buNone/>
            </a:pPr>
            <a:r>
              <a:rPr lang="en-US" sz="1250" dirty="0">
                <a:solidFill>
                  <a:srgbClr val="1E6B52"/>
                </a:solidFill>
                <a:latin typeface="Calibri" pitchFamily="34" charset="0"/>
                <a:cs typeface="Amiri" pitchFamily="2" charset="-78"/>
              </a:rPr>
              <a:t>.</a:t>
            </a:r>
            <a:endParaRPr lang="en-US" sz="1250" dirty="0"/>
          </a:p>
        </p:txBody>
      </p:sp>
      <p:sp>
        <p:nvSpPr>
          <p:cNvPr id="97" name="Text 9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28 / 46</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TB-L02 · Family and Friends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TB-L02</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لَدَيَّ أَخٌ أَكْبَرُ يُسَمَّى سَامِرًا.</a:t>
            </a:r>
            <a:endParaRPr lang="ar-SA" sz="200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 have an older brother called Samer.</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أَتَفَاهَمُ مَعَهُ عَادَةً لِأَنَّهُ يَسْتَمِعُ إِلَيَّ وَيَدْعَمُنِي فِي دِرَاسَتِي.</a:t>
            </a:r>
            <a:endParaRPr lang="ar-SA" sz="200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 usually get on with him because he listens to me and supports me in my studies.</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وَلٰكِنَّنَا نَخْتَلِفُ أَحْيَانًا حَوْلَ اسْتِخْدَامِ الحَاسُوبِ.</a:t>
            </a:r>
            <a:endParaRPr lang="ar-SA" sz="200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But we sometimes disagree about using the computer.</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عِنْدَمَا نَتَشَاجَرُ، نَتَكَلَّمُ بَعْدَ ذٰلِكَ وَنَتَصَالَحُ سَرِيعًا.</a:t>
            </a:r>
            <a:endParaRPr lang="ar-SA" sz="200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When we argue, we talk afterwards and make up quickly.</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أَحْتَرِمُهُ لِأَنَّهُ صَادِقٌ وَمُتَعَاوِنٌ.</a:t>
            </a:r>
            <a:endParaRPr lang="ar-SA" sz="200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 respect him because he is honest and helpful.</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29 / 46</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TB-L02 · Family and Friends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TB-L02</a:t>
            </a:r>
            <a:endParaRPr lang="en-US" sz="850" dirty="0"/>
          </a:p>
        </p:txBody>
      </p:sp>
      <p:sp>
        <p:nvSpPr>
          <p:cNvPr id="15" name="Shape 12"/>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is Samer?</a:t>
            </a:r>
            <a:endParaRPr lang="en-US" sz="1250" dirty="0"/>
          </a:p>
        </p:txBody>
      </p:sp>
      <p:sp>
        <p:nvSpPr>
          <p:cNvPr id="19" name="Shape 16"/>
          <p:cNvSpPr/>
          <p:nvPr/>
        </p:nvSpPr>
        <p:spPr>
          <a:xfrm>
            <a:off x="548640" y="2453640"/>
            <a:ext cx="2498598"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023110" cy="371856"/>
          </a:xfrm>
          <a:prstGeom prst="rect">
            <a:avLst/>
          </a:prstGeom>
          <a:noFill/>
          <a:ln/>
        </p:spPr>
        <p:txBody>
          <a:bodyPr wrap="square" lIns="0" tIns="0" rIns="0" bIns="0" rtlCol="0" anchor="ctr"/>
          <a:lstStyle/>
          <a:p>
            <a:pPr algn="l" indent="0" marL="0">
              <a:buNone/>
            </a:pPr>
            <a:r>
              <a:rPr lang="en-US" sz="1200" b="1" dirty="0">
                <a:solidFill>
                  <a:srgbClr val="1F2A37"/>
                </a:solidFill>
                <a:latin typeface="Calibri" pitchFamily="34" charset="0"/>
                <a:cs typeface="Amiri" pitchFamily="2" charset="-78"/>
              </a:rPr>
              <a:t>the speaker’s older brother</a:t>
            </a:r>
            <a:endParaRPr lang="en-US" sz="120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classmate</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cousin</a:t>
            </a:r>
            <a:endParaRPr lang="en-US" sz="1250" dirty="0"/>
          </a:p>
        </p:txBody>
      </p:sp>
      <p:sp>
        <p:nvSpPr>
          <p:cNvPr id="29" name="Text 26"/>
          <p:cNvSpPr txBox="1"/>
          <p:nvPr/>
        </p:nvSpPr>
        <p:spPr>
          <a:xfrm>
            <a:off x="585216"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لَدَيَّ أَخٌ أَكْبَرُ يُسَمَّى سَامِرًا.</a:t>
            </a:r>
            <a:endParaRPr lang="ar-SA" sz="1350" dirty="0"/>
          </a:p>
        </p:txBody>
      </p:sp>
      <p:sp>
        <p:nvSpPr>
          <p:cNvPr id="30" name="Shape 27"/>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3449574"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does the speaker usually get on with him?</a:t>
            </a:r>
            <a:endParaRPr lang="en-US" sz="1250" dirty="0"/>
          </a:p>
        </p:txBody>
      </p:sp>
      <p:sp>
        <p:nvSpPr>
          <p:cNvPr id="34" name="Shape 31"/>
          <p:cNvSpPr/>
          <p:nvPr/>
        </p:nvSpPr>
        <p:spPr>
          <a:xfrm>
            <a:off x="3504438"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350443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3833622"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he buys presents</a:t>
            </a:r>
            <a:endParaRPr lang="en-US" sz="1250" dirty="0"/>
          </a:p>
        </p:txBody>
      </p:sp>
      <p:sp>
        <p:nvSpPr>
          <p:cNvPr id="37" name="Shape 34"/>
          <p:cNvSpPr/>
          <p:nvPr/>
        </p:nvSpPr>
        <p:spPr>
          <a:xfrm>
            <a:off x="3504438"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350443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3833622"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he is very quiet</a:t>
            </a:r>
            <a:endParaRPr lang="en-US" sz="1250" dirty="0"/>
          </a:p>
        </p:txBody>
      </p:sp>
      <p:sp>
        <p:nvSpPr>
          <p:cNvPr id="40" name="Shape 37"/>
          <p:cNvSpPr/>
          <p:nvPr/>
        </p:nvSpPr>
        <p:spPr>
          <a:xfrm>
            <a:off x="3412998" y="3197352"/>
            <a:ext cx="2498598"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3504438"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350443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3833622" y="3176016"/>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he listens and supports the speaker’s studies</a:t>
            </a:r>
            <a:endParaRPr lang="en-US" sz="1150" dirty="0"/>
          </a:p>
        </p:txBody>
      </p:sp>
      <p:sp>
        <p:nvSpPr>
          <p:cNvPr id="44" name="Text 41"/>
          <p:cNvSpPr txBox="1"/>
          <p:nvPr/>
        </p:nvSpPr>
        <p:spPr>
          <a:xfrm>
            <a:off x="3449574"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لِأَنَّهُ يَسْتَمِعُ إِلَيَّ وَيَدْعَمُنِي فِي دِرَاسَتِي.</a:t>
            </a:r>
            <a:endParaRPr lang="ar-SA" sz="1350" dirty="0"/>
          </a:p>
        </p:txBody>
      </p:sp>
      <p:sp>
        <p:nvSpPr>
          <p:cNvPr id="45" name="Shape 42"/>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6313932"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 they sometimes disagree about?</a:t>
            </a:r>
            <a:endParaRPr lang="en-US" sz="1250" dirty="0"/>
          </a:p>
        </p:txBody>
      </p:sp>
      <p:sp>
        <p:nvSpPr>
          <p:cNvPr id="49" name="Shape 46"/>
          <p:cNvSpPr/>
          <p:nvPr/>
        </p:nvSpPr>
        <p:spPr>
          <a:xfrm>
            <a:off x="6368796"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6697980"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football</a:t>
            </a:r>
            <a:endParaRPr lang="en-US" sz="1250" dirty="0"/>
          </a:p>
        </p:txBody>
      </p:sp>
      <p:sp>
        <p:nvSpPr>
          <p:cNvPr id="52" name="Shape 49"/>
          <p:cNvSpPr/>
          <p:nvPr/>
        </p:nvSpPr>
        <p:spPr>
          <a:xfrm>
            <a:off x="6368796"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6697980"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homework</a:t>
            </a:r>
            <a:endParaRPr lang="en-US" sz="1250" dirty="0"/>
          </a:p>
        </p:txBody>
      </p:sp>
      <p:sp>
        <p:nvSpPr>
          <p:cNvPr id="55" name="Shape 52"/>
          <p:cNvSpPr/>
          <p:nvPr/>
        </p:nvSpPr>
        <p:spPr>
          <a:xfrm>
            <a:off x="6277356" y="3197352"/>
            <a:ext cx="2498598"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6368796"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6697980" y="3176016"/>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using the computer</a:t>
            </a:r>
            <a:endParaRPr lang="en-US" sz="1250" dirty="0"/>
          </a:p>
        </p:txBody>
      </p:sp>
      <p:sp>
        <p:nvSpPr>
          <p:cNvPr id="59" name="Text 56"/>
          <p:cNvSpPr txBox="1"/>
          <p:nvPr/>
        </p:nvSpPr>
        <p:spPr>
          <a:xfrm>
            <a:off x="6313932"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نَخْتَلِفُ أَحْيَانًا حَوْلَ اسْتِخْدَامِ الحَاسُوبِ.</a:t>
            </a:r>
            <a:endParaRPr lang="ar-SA" sz="1350" dirty="0"/>
          </a:p>
        </p:txBody>
      </p:sp>
      <p:sp>
        <p:nvSpPr>
          <p:cNvPr id="60" name="Shape 57"/>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9178290" y="1947672"/>
            <a:ext cx="310896" cy="310896"/>
          </a:xfrm>
          <a:prstGeom prst="ellipse">
            <a:avLst/>
          </a:prstGeom>
          <a:solidFill>
            <a:srgbClr val="1B3B6F"/>
          </a:solidFill>
          <a:ln w="12700">
            <a:solidFill>
              <a:srgbClr val="1B3B6F"/>
            </a:solidFill>
            <a:prstDash val="solid"/>
          </a:ln>
        </p:spPr>
      </p:sp>
      <p:sp>
        <p:nvSpPr>
          <p:cNvPr id="62" name="Text 59"/>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happens after they argue?</a:t>
            </a:r>
            <a:endParaRPr lang="en-US" sz="1250" dirty="0"/>
          </a:p>
        </p:txBody>
      </p:sp>
      <p:sp>
        <p:nvSpPr>
          <p:cNvPr id="64" name="Shape 61"/>
          <p:cNvSpPr/>
          <p:nvPr/>
        </p:nvSpPr>
        <p:spPr>
          <a:xfrm>
            <a:off x="9141714" y="2453640"/>
            <a:ext cx="2498598"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9233154" y="2490216"/>
            <a:ext cx="256032" cy="256032"/>
          </a:xfrm>
          <a:prstGeom prst="ellipse">
            <a:avLst/>
          </a:prstGeom>
          <a:solidFill>
            <a:srgbClr val="2E8B57"/>
          </a:solidFill>
          <a:ln w="12700">
            <a:solidFill>
              <a:srgbClr val="2E8B57"/>
            </a:solidFill>
            <a:prstDash val="solid"/>
          </a:ln>
        </p:spPr>
      </p:sp>
      <p:sp>
        <p:nvSpPr>
          <p:cNvPr id="66" name="Text 63"/>
          <p:cNvSpPr txBox="1"/>
          <p:nvPr/>
        </p:nvSpPr>
        <p:spPr>
          <a:xfrm>
            <a:off x="923315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9562338" y="2432304"/>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they talk and make up quickly</a:t>
            </a:r>
            <a:endParaRPr lang="en-US" sz="1150" dirty="0"/>
          </a:p>
        </p:txBody>
      </p:sp>
      <p:sp>
        <p:nvSpPr>
          <p:cNvPr id="68" name="Shape 65"/>
          <p:cNvSpPr/>
          <p:nvPr/>
        </p:nvSpPr>
        <p:spPr>
          <a:xfrm>
            <a:off x="9233154" y="2862072"/>
            <a:ext cx="256032" cy="256032"/>
          </a:xfrm>
          <a:prstGeom prst="ellipse">
            <a:avLst/>
          </a:prstGeom>
          <a:solidFill>
            <a:srgbClr val="C9CED6"/>
          </a:solidFill>
          <a:ln w="12700">
            <a:solidFill>
              <a:srgbClr val="C9CED6"/>
            </a:solidFill>
            <a:prstDash val="solid"/>
          </a:ln>
        </p:spPr>
      </p:sp>
      <p:sp>
        <p:nvSpPr>
          <p:cNvPr id="69" name="Text 66"/>
          <p:cNvSpPr txBox="1"/>
          <p:nvPr/>
        </p:nvSpPr>
        <p:spPr>
          <a:xfrm>
            <a:off x="923315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9562338" y="2804160"/>
            <a:ext cx="2023110" cy="371856"/>
          </a:xfrm>
          <a:prstGeom prst="rect">
            <a:avLst/>
          </a:prstGeom>
          <a:noFill/>
          <a:ln/>
        </p:spPr>
        <p:txBody>
          <a:bodyPr wrap="square" lIns="0" tIns="0" rIns="0" bIns="0" rtlCol="0" anchor="ctr"/>
          <a:lstStyle/>
          <a:p>
            <a:pPr algn="l" indent="0" marL="0">
              <a:buNone/>
            </a:pPr>
            <a:r>
              <a:rPr lang="en-US" sz="1200" dirty="0">
                <a:solidFill>
                  <a:srgbClr val="9AA1AB"/>
                </a:solidFill>
                <a:latin typeface="Calibri" pitchFamily="34" charset="0"/>
                <a:cs typeface="Amiri" pitchFamily="2" charset="-78"/>
              </a:rPr>
              <a:t>they stop speaking for days</a:t>
            </a:r>
            <a:endParaRPr lang="en-US" sz="1200" dirty="0"/>
          </a:p>
        </p:txBody>
      </p:sp>
      <p:sp>
        <p:nvSpPr>
          <p:cNvPr id="71" name="Shape 68"/>
          <p:cNvSpPr/>
          <p:nvPr/>
        </p:nvSpPr>
        <p:spPr>
          <a:xfrm>
            <a:off x="9233154" y="3233928"/>
            <a:ext cx="256032" cy="256032"/>
          </a:xfrm>
          <a:prstGeom prst="ellipse">
            <a:avLst/>
          </a:prstGeom>
          <a:solidFill>
            <a:srgbClr val="C9CED6"/>
          </a:solidFill>
          <a:ln w="12700">
            <a:solidFill>
              <a:srgbClr val="C9CED6"/>
            </a:solidFill>
            <a:prstDash val="solid"/>
          </a:ln>
        </p:spPr>
      </p:sp>
      <p:sp>
        <p:nvSpPr>
          <p:cNvPr id="72" name="Text 69"/>
          <p:cNvSpPr txBox="1"/>
          <p:nvPr/>
        </p:nvSpPr>
        <p:spPr>
          <a:xfrm>
            <a:off x="923315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562338"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their mother decides</a:t>
            </a:r>
            <a:endParaRPr lang="en-US" sz="1250" dirty="0"/>
          </a:p>
        </p:txBody>
      </p:sp>
      <p:sp>
        <p:nvSpPr>
          <p:cNvPr id="74" name="Text 71"/>
          <p:cNvSpPr txBox="1"/>
          <p:nvPr/>
        </p:nvSpPr>
        <p:spPr>
          <a:xfrm>
            <a:off x="9178290"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نَتَكَلَّمُ بَعْدَ ذٰلِكَ وَنَتَصَالَحُ سَرِيعًا.</a:t>
            </a:r>
            <a:endParaRPr lang="ar-SA" sz="1350" dirty="0"/>
          </a:p>
        </p:txBody>
      </p:sp>
      <p:sp>
        <p:nvSpPr>
          <p:cNvPr id="75" name="Shape 72"/>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585216"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does the speaker respect him?</a:t>
            </a:r>
            <a:endParaRPr lang="en-US" sz="1250" dirty="0"/>
          </a:p>
        </p:txBody>
      </p:sp>
      <p:sp>
        <p:nvSpPr>
          <p:cNvPr id="79" name="Shape 76"/>
          <p:cNvSpPr/>
          <p:nvPr/>
        </p:nvSpPr>
        <p:spPr>
          <a:xfrm>
            <a:off x="640080"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1" name="Text 78"/>
          <p:cNvSpPr txBox="1"/>
          <p:nvPr/>
        </p:nvSpPr>
        <p:spPr>
          <a:xfrm>
            <a:off x="969264" y="4773168"/>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he is older</a:t>
            </a:r>
            <a:endParaRPr lang="en-US" sz="1250" dirty="0"/>
          </a:p>
        </p:txBody>
      </p:sp>
      <p:sp>
        <p:nvSpPr>
          <p:cNvPr id="82" name="Shape 79"/>
          <p:cNvSpPr/>
          <p:nvPr/>
        </p:nvSpPr>
        <p:spPr>
          <a:xfrm>
            <a:off x="548640" y="5166360"/>
            <a:ext cx="2498598"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640080"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85" name="Text 82"/>
          <p:cNvSpPr txBox="1"/>
          <p:nvPr/>
        </p:nvSpPr>
        <p:spPr>
          <a:xfrm>
            <a:off x="969264" y="5145024"/>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he is honest and helpful</a:t>
            </a:r>
            <a:endParaRPr lang="en-US" sz="1250" dirty="0"/>
          </a:p>
        </p:txBody>
      </p:sp>
      <p:sp>
        <p:nvSpPr>
          <p:cNvPr id="86" name="Shape 83"/>
          <p:cNvSpPr/>
          <p:nvPr/>
        </p:nvSpPr>
        <p:spPr>
          <a:xfrm>
            <a:off x="640080"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969264"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he is funny</a:t>
            </a:r>
            <a:endParaRPr lang="en-US" sz="1250" dirty="0"/>
          </a:p>
        </p:txBody>
      </p:sp>
      <p:sp>
        <p:nvSpPr>
          <p:cNvPr id="89" name="Text 86"/>
          <p:cNvSpPr txBox="1"/>
          <p:nvPr/>
        </p:nvSpPr>
        <p:spPr>
          <a:xfrm>
            <a:off x="585216"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أَحْتَرِمُهُ لِأَنَّهُ صَادِقٌ وَمُتَعَاوِنٌ.</a:t>
            </a:r>
            <a:endParaRPr lang="ar-SA" sz="1350" dirty="0"/>
          </a:p>
        </p:txBody>
      </p:sp>
      <p:sp>
        <p:nvSpPr>
          <p:cNvPr id="90" name="Shape 87"/>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3449574" y="4288536"/>
            <a:ext cx="310896" cy="310896"/>
          </a:xfrm>
          <a:prstGeom prst="ellipse">
            <a:avLst/>
          </a:prstGeom>
          <a:solidFill>
            <a:srgbClr val="1B3B6F"/>
          </a:solidFill>
          <a:ln w="12700">
            <a:solidFill>
              <a:srgbClr val="1B3B6F"/>
            </a:solidFill>
            <a:prstDash val="solid"/>
          </a:ln>
        </p:spPr>
      </p:sp>
      <p:sp>
        <p:nvSpPr>
          <p:cNvPr id="92" name="Text 89"/>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93" name="Text 90"/>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In </a:t>
            </a:r>
            <a:pPr algn="l" indent="0" marL="0">
              <a:buNone/>
            </a:pPr>
            <a:r>
              <a:rPr lang="ar-SA" altLang="en-US" sz="1650" b="1" dirty="0">
                <a:solidFill>
                  <a:srgbClr val="1B3B6F"/>
                </a:solidFill>
                <a:latin typeface="Amiri" pitchFamily="2" charset="-78"/>
                <a:ea typeface="Amiri" pitchFamily="2" charset="-78"/>
                <a:cs typeface="Amiri" pitchFamily="2" charset="-78"/>
              </a:rPr>
              <a:t>أَحْتَرِمُهُ</a:t>
            </a:r>
            <a:pPr algn="l" indent="0" marL="0">
              <a:buNone/>
            </a:pPr>
            <a:r>
              <a:rPr lang="en-US" sz="1250" b="1" dirty="0">
                <a:solidFill>
                  <a:srgbClr val="1B3B6F"/>
                </a:solidFill>
                <a:latin typeface="Calibri" pitchFamily="34" charset="0"/>
                <a:cs typeface="Amiri" pitchFamily="2" charset="-78"/>
              </a:rPr>
              <a:t>, who is respected?</a:t>
            </a:r>
            <a:endParaRPr lang="en-US" sz="1250" dirty="0"/>
          </a:p>
        </p:txBody>
      </p:sp>
      <p:sp>
        <p:nvSpPr>
          <p:cNvPr id="94" name="Shape 91"/>
          <p:cNvSpPr/>
          <p:nvPr/>
        </p:nvSpPr>
        <p:spPr>
          <a:xfrm>
            <a:off x="3412998" y="4794504"/>
            <a:ext cx="2498598" cy="347472"/>
          </a:xfrm>
          <a:prstGeom prst="roundRect">
            <a:avLst>
              <a:gd name="adj" fmla="val 15789"/>
            </a:avLst>
          </a:prstGeom>
          <a:solidFill>
            <a:srgbClr val="E6F4EC"/>
          </a:solidFill>
          <a:ln w="9525">
            <a:solidFill>
              <a:srgbClr val="2E8B57"/>
            </a:solidFill>
            <a:prstDash val="solid"/>
          </a:ln>
        </p:spPr>
      </p:sp>
      <p:sp>
        <p:nvSpPr>
          <p:cNvPr id="95" name="Shape 92"/>
          <p:cNvSpPr/>
          <p:nvPr/>
        </p:nvSpPr>
        <p:spPr>
          <a:xfrm>
            <a:off x="3504438" y="4831080"/>
            <a:ext cx="256032" cy="256032"/>
          </a:xfrm>
          <a:prstGeom prst="ellipse">
            <a:avLst/>
          </a:prstGeom>
          <a:solidFill>
            <a:srgbClr val="2E8B57"/>
          </a:solidFill>
          <a:ln w="12700">
            <a:solidFill>
              <a:srgbClr val="2E8B57"/>
            </a:solidFill>
            <a:prstDash val="solid"/>
          </a:ln>
        </p:spPr>
      </p:sp>
      <p:sp>
        <p:nvSpPr>
          <p:cNvPr id="96" name="Text 93"/>
          <p:cNvSpPr txBox="1"/>
          <p:nvPr/>
        </p:nvSpPr>
        <p:spPr>
          <a:xfrm>
            <a:off x="3504438"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97" name="Text 94"/>
          <p:cNvSpPr txBox="1"/>
          <p:nvPr/>
        </p:nvSpPr>
        <p:spPr>
          <a:xfrm>
            <a:off x="3833622" y="4773168"/>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Samer (him)</a:t>
            </a:r>
            <a:endParaRPr lang="en-US" sz="1250" dirty="0"/>
          </a:p>
        </p:txBody>
      </p:sp>
      <p:sp>
        <p:nvSpPr>
          <p:cNvPr id="98" name="Shape 95"/>
          <p:cNvSpPr/>
          <p:nvPr/>
        </p:nvSpPr>
        <p:spPr>
          <a:xfrm>
            <a:off x="3504438" y="5202936"/>
            <a:ext cx="256032" cy="256032"/>
          </a:xfrm>
          <a:prstGeom prst="ellipse">
            <a:avLst/>
          </a:prstGeom>
          <a:solidFill>
            <a:srgbClr val="C9CED6"/>
          </a:solidFill>
          <a:ln w="12700">
            <a:solidFill>
              <a:srgbClr val="C9CED6"/>
            </a:solidFill>
            <a:prstDash val="solid"/>
          </a:ln>
        </p:spPr>
      </p:sp>
      <p:sp>
        <p:nvSpPr>
          <p:cNvPr id="99" name="Text 96"/>
          <p:cNvSpPr txBox="1"/>
          <p:nvPr/>
        </p:nvSpPr>
        <p:spPr>
          <a:xfrm>
            <a:off x="3504438"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100" name="Text 97"/>
          <p:cNvSpPr txBox="1"/>
          <p:nvPr/>
        </p:nvSpPr>
        <p:spPr>
          <a:xfrm>
            <a:off x="3833622"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speaker (me)</a:t>
            </a:r>
            <a:endParaRPr lang="en-US" sz="1250" dirty="0"/>
          </a:p>
        </p:txBody>
      </p:sp>
      <p:sp>
        <p:nvSpPr>
          <p:cNvPr id="101" name="Shape 98"/>
          <p:cNvSpPr/>
          <p:nvPr/>
        </p:nvSpPr>
        <p:spPr>
          <a:xfrm>
            <a:off x="3504438" y="5574792"/>
            <a:ext cx="256032" cy="256032"/>
          </a:xfrm>
          <a:prstGeom prst="ellipse">
            <a:avLst/>
          </a:prstGeom>
          <a:solidFill>
            <a:srgbClr val="C9CED6"/>
          </a:solidFill>
          <a:ln w="12700">
            <a:solidFill>
              <a:srgbClr val="C9CED6"/>
            </a:solidFill>
            <a:prstDash val="solid"/>
          </a:ln>
        </p:spPr>
      </p:sp>
      <p:sp>
        <p:nvSpPr>
          <p:cNvPr id="102" name="Text 99"/>
          <p:cNvSpPr txBox="1"/>
          <p:nvPr/>
        </p:nvSpPr>
        <p:spPr>
          <a:xfrm>
            <a:off x="350443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103" name="Text 100"/>
          <p:cNvSpPr txBox="1"/>
          <p:nvPr/>
        </p:nvSpPr>
        <p:spPr>
          <a:xfrm>
            <a:off x="3833622"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mother (her)</a:t>
            </a:r>
            <a:endParaRPr lang="en-US" sz="1250" dirty="0"/>
          </a:p>
        </p:txBody>
      </p:sp>
      <p:sp>
        <p:nvSpPr>
          <p:cNvPr id="104" name="Text 101"/>
          <p:cNvSpPr txBox="1"/>
          <p:nvPr/>
        </p:nvSpPr>
        <p:spPr>
          <a:xfrm>
            <a:off x="3449574" y="5907024"/>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-hu = him.</a:t>
            </a:r>
            <a:endParaRPr lang="en-US" sz="1050" dirty="0"/>
          </a:p>
        </p:txBody>
      </p:sp>
      <p:sp>
        <p:nvSpPr>
          <p:cNvPr id="105" name="Shape 102"/>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06" name="Shape 103"/>
          <p:cNvSpPr/>
          <p:nvPr/>
        </p:nvSpPr>
        <p:spPr>
          <a:xfrm>
            <a:off x="6807708" y="4361688"/>
            <a:ext cx="914400" cy="274320"/>
          </a:xfrm>
          <a:prstGeom prst="roundRect">
            <a:avLst>
              <a:gd name="adj" fmla="val 50000"/>
            </a:avLst>
          </a:prstGeom>
          <a:solidFill>
            <a:srgbClr val="2E8B57"/>
          </a:solidFill>
          <a:ln w="12700">
            <a:solidFill>
              <a:srgbClr val="2E8B57"/>
            </a:solidFill>
            <a:prstDash val="solid"/>
          </a:ln>
        </p:spPr>
      </p:sp>
      <p:sp>
        <p:nvSpPr>
          <p:cNvPr id="107" name="Text 104"/>
          <p:cNvSpPr txBox="1"/>
          <p:nvPr/>
        </p:nvSpPr>
        <p:spPr>
          <a:xfrm>
            <a:off x="6807708"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108" name="Text 105"/>
          <p:cNvSpPr txBox="1"/>
          <p:nvPr/>
        </p:nvSpPr>
        <p:spPr>
          <a:xfrm>
            <a:off x="6387084" y="4791456"/>
            <a:ext cx="2315718"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cs typeface="Amiri" pitchFamily="2" charset="-78"/>
              </a:rPr>
              <a:t>Listen twice. Core: questions 1, 3 and 4.</a:t>
            </a:r>
            <a:endParaRPr lang="en-US" sz="1250" dirty="0"/>
          </a:p>
          <a:p>
            <a:pPr algn="l" indent="0" marL="0">
              <a:lnSpc>
                <a:spcPct val="115000"/>
              </a:lnSpc>
              <a:buNone/>
            </a:pPr>
            <a:r>
              <a:rPr lang="en-US" sz="1250" dirty="0">
                <a:solidFill>
                  <a:srgbClr val="1E6B52"/>
                </a:solidFill>
                <a:latin typeface="Calibri" pitchFamily="34" charset="0"/>
                <a:cs typeface="Amiri" pitchFamily="2" charset="-78"/>
              </a:rPr>
              <a:t>Listen for: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أَخٌ أَكْبَرُ</a:t>
            </a:r>
            <a:pPr algn="l" indent="0" marL="0">
              <a:lnSpc>
                <a:spcPct val="115000"/>
              </a:lnSpc>
              <a:buNone/>
            </a:pPr>
            <a:r>
              <a:rPr lang="en-US" sz="1250" dirty="0">
                <a:solidFill>
                  <a:srgbClr val="1E6B52"/>
                </a:solidFill>
                <a:latin typeface="Calibri" pitchFamily="34" charset="0"/>
                <a:cs typeface="Amiri" pitchFamily="2" charset="-78"/>
              </a:rPr>
              <a:t> ·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الحَاسُوبِ</a:t>
            </a:r>
            <a:pPr algn="l" indent="0" marL="0">
              <a:lnSpc>
                <a:spcPct val="115000"/>
              </a:lnSpc>
              <a:buNone/>
            </a:pPr>
            <a:r>
              <a:rPr lang="en-US" sz="1250" dirty="0">
                <a:solidFill>
                  <a:srgbClr val="1E6B52"/>
                </a:solidFill>
                <a:latin typeface="Calibri" pitchFamily="34" charset="0"/>
                <a:cs typeface="Amiri" pitchFamily="2" charset="-78"/>
              </a:rPr>
              <a:t> ·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نَتَصَالَحُ</a:t>
            </a:r>
            <a:pPr algn="l" indent="0" marL="0">
              <a:lnSpc>
                <a:spcPct val="115000"/>
              </a:lnSpc>
              <a:buNone/>
            </a:pPr>
            <a:r>
              <a:rPr lang="en-US" sz="1250" dirty="0">
                <a:solidFill>
                  <a:srgbClr val="1E6B52"/>
                </a:solidFill>
                <a:latin typeface="Calibri" pitchFamily="34" charset="0"/>
                <a:cs typeface="Amiri" pitchFamily="2" charset="-78"/>
              </a:rPr>
              <a:t>.</a:t>
            </a:r>
            <a:endParaRPr lang="en-US" sz="1250" dirty="0"/>
          </a:p>
        </p:txBody>
      </p:sp>
      <p:sp>
        <p:nvSpPr>
          <p:cNvPr id="109" name="Text 10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30 / 46</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TB-L02 · Family and Friends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TOPIC B APPLICATION CHALLENGE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Family-tree challenge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تَحَدِّي التَّطْبِيقِ</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TB-L02</a:t>
            </a:r>
            <a:endParaRPr lang="en-US" sz="850" dirty="0"/>
          </a:p>
        </p:txBody>
      </p:sp>
      <p:sp>
        <p:nvSpPr>
          <p:cNvPr id="15" name="Shape 12"/>
          <p:cNvSpPr/>
          <p:nvPr/>
        </p:nvSpPr>
        <p:spPr>
          <a:xfrm>
            <a:off x="457200" y="1810512"/>
            <a:ext cx="5715000" cy="4498848"/>
          </a:xfrm>
          <a:prstGeom prst="roundRect">
            <a:avLst>
              <a:gd name="adj" fmla="val 1626"/>
            </a:avLst>
          </a:prstGeom>
          <a:solidFill>
            <a:srgbClr val="F4F1EA"/>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20240"/>
            <a:ext cx="3108960" cy="292608"/>
          </a:xfrm>
          <a:prstGeom prst="roundRect">
            <a:avLst>
              <a:gd name="adj" fmla="val 50000"/>
            </a:avLst>
          </a:prstGeom>
          <a:solidFill>
            <a:srgbClr val="8A6D1E"/>
          </a:solidFill>
          <a:ln w="12700">
            <a:solidFill>
              <a:srgbClr val="8A6D1E"/>
            </a:solidFill>
            <a:prstDash val="solid"/>
          </a:ln>
        </p:spPr>
      </p:sp>
      <p:sp>
        <p:nvSpPr>
          <p:cNvPr id="17" name="Text 14"/>
          <p:cNvSpPr txBox="1"/>
          <p:nvPr/>
        </p:nvSpPr>
        <p:spPr>
          <a:xfrm>
            <a:off x="640080" y="1920240"/>
            <a:ext cx="3108960" cy="292608"/>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TOPIC B CHALLENGE · WEBSITE</a:t>
            </a:r>
            <a:endParaRPr lang="en-US" sz="900" dirty="0"/>
          </a:p>
        </p:txBody>
      </p:sp>
      <p:sp>
        <p:nvSpPr>
          <p:cNvPr id="18" name="Text 15"/>
          <p:cNvSpPr txBox="1"/>
          <p:nvPr/>
        </p:nvSpPr>
        <p:spPr>
          <a:xfrm>
            <a:off x="640080" y="2286000"/>
            <a:ext cx="5349240" cy="502920"/>
          </a:xfrm>
          <a:prstGeom prst="rect">
            <a:avLst/>
          </a:prstGeom>
          <a:noFill/>
          <a:ln/>
        </p:spPr>
        <p:txBody>
          <a:bodyPr wrap="square" lIns="0" tIns="0" rIns="0" bIns="0" rtlCol="0" anchor="ctr"/>
          <a:lstStyle/>
          <a:p>
            <a:pPr algn="l" indent="0" marL="0">
              <a:buNone/>
            </a:pPr>
            <a:r>
              <a:rPr lang="en-US" sz="2200" b="1" dirty="0">
                <a:solidFill>
                  <a:srgbClr val="1B3B6F"/>
                </a:solidFill>
                <a:latin typeface="Calibri" pitchFamily="34" charset="0"/>
                <a:cs typeface="Amiri" pitchFamily="2" charset="-78"/>
              </a:rPr>
              <a:t>👨‍👩‍👧‍👦  Family-tree challenge</a:t>
            </a:r>
            <a:endParaRPr lang="en-US" sz="2200" dirty="0"/>
          </a:p>
        </p:txBody>
      </p:sp>
      <p:sp>
        <p:nvSpPr>
          <p:cNvPr id="19" name="Text 16"/>
          <p:cNvSpPr txBox="1"/>
          <p:nvPr/>
        </p:nvSpPr>
        <p:spPr>
          <a:xfrm>
            <a:off x="640080" y="2816352"/>
            <a:ext cx="5349240" cy="118872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Build a mini family tree from clues, then explain at least four relationships using possessive endings or idāfa without pointing at the answer.</a:t>
            </a:r>
            <a:endParaRPr lang="en-US" sz="1350" dirty="0"/>
          </a:p>
        </p:txBody>
      </p:sp>
      <p:sp>
        <p:nvSpPr>
          <p:cNvPr id="20" name="Text 17"/>
          <p:cNvSpPr txBox="1"/>
          <p:nvPr/>
        </p:nvSpPr>
        <p:spPr>
          <a:xfrm>
            <a:off x="640080" y="4041648"/>
            <a:ext cx="530352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HOW WE RUN IT ONLINE</a:t>
            </a:r>
            <a:endParaRPr lang="en-US" sz="950" dirty="0"/>
          </a:p>
        </p:txBody>
      </p:sp>
      <p:sp>
        <p:nvSpPr>
          <p:cNvPr id="21" name="Shape 18"/>
          <p:cNvSpPr/>
          <p:nvPr/>
        </p:nvSpPr>
        <p:spPr>
          <a:xfrm>
            <a:off x="658368" y="4407408"/>
            <a:ext cx="274320" cy="274320"/>
          </a:xfrm>
          <a:prstGeom prst="ellipse">
            <a:avLst/>
          </a:prstGeom>
          <a:solidFill>
            <a:srgbClr val="1B3B6F"/>
          </a:solidFill>
          <a:ln w="12700">
            <a:solidFill>
              <a:srgbClr val="1B3B6F"/>
            </a:solidFill>
            <a:prstDash val="solid"/>
          </a:ln>
        </p:spPr>
      </p:sp>
      <p:sp>
        <p:nvSpPr>
          <p:cNvPr id="22" name="Text 19"/>
          <p:cNvSpPr txBox="1"/>
          <p:nvPr/>
        </p:nvSpPr>
        <p:spPr>
          <a:xfrm>
            <a:off x="658368" y="44074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1</a:t>
            </a:r>
            <a:endParaRPr lang="en-US" sz="1000" dirty="0"/>
          </a:p>
        </p:txBody>
      </p:sp>
      <p:sp>
        <p:nvSpPr>
          <p:cNvPr id="23" name="Text 20"/>
          <p:cNvSpPr txBox="1"/>
          <p:nvPr/>
        </p:nvSpPr>
        <p:spPr>
          <a:xfrm>
            <a:off x="1024128" y="43342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Teacher posts 5 clues about an invented family (in Arabic, in the chat).</a:t>
            </a:r>
            <a:endParaRPr lang="en-US" sz="1150" dirty="0"/>
          </a:p>
        </p:txBody>
      </p:sp>
      <p:sp>
        <p:nvSpPr>
          <p:cNvPr id="24" name="Shape 21"/>
          <p:cNvSpPr/>
          <p:nvPr/>
        </p:nvSpPr>
        <p:spPr>
          <a:xfrm>
            <a:off x="658368" y="4864608"/>
            <a:ext cx="274320" cy="274320"/>
          </a:xfrm>
          <a:prstGeom prst="ellipse">
            <a:avLst/>
          </a:prstGeom>
          <a:solidFill>
            <a:srgbClr val="1B3B6F"/>
          </a:solidFill>
          <a:ln w="12700">
            <a:solidFill>
              <a:srgbClr val="1B3B6F"/>
            </a:solidFill>
            <a:prstDash val="solid"/>
          </a:ln>
        </p:spPr>
      </p:sp>
      <p:sp>
        <p:nvSpPr>
          <p:cNvPr id="25" name="Text 22"/>
          <p:cNvSpPr txBox="1"/>
          <p:nvPr/>
        </p:nvSpPr>
        <p:spPr>
          <a:xfrm>
            <a:off x="658368" y="48646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2</a:t>
            </a:r>
            <a:endParaRPr lang="en-US" sz="1000" dirty="0"/>
          </a:p>
        </p:txBody>
      </p:sp>
      <p:sp>
        <p:nvSpPr>
          <p:cNvPr id="26" name="Text 23"/>
          <p:cNvSpPr txBox="1"/>
          <p:nvPr/>
        </p:nvSpPr>
        <p:spPr>
          <a:xfrm>
            <a:off x="1024128" y="47914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Students draw the mini family tree in their books (2 minutes).</a:t>
            </a:r>
            <a:endParaRPr lang="en-US" sz="1150" dirty="0"/>
          </a:p>
        </p:txBody>
      </p:sp>
      <p:sp>
        <p:nvSpPr>
          <p:cNvPr id="27" name="Shape 24"/>
          <p:cNvSpPr/>
          <p:nvPr/>
        </p:nvSpPr>
        <p:spPr>
          <a:xfrm>
            <a:off x="658368" y="5321808"/>
            <a:ext cx="274320" cy="274320"/>
          </a:xfrm>
          <a:prstGeom prst="ellipse">
            <a:avLst/>
          </a:prstGeom>
          <a:solidFill>
            <a:srgbClr val="1B3B6F"/>
          </a:solidFill>
          <a:ln w="12700">
            <a:solidFill>
              <a:srgbClr val="1B3B6F"/>
            </a:solidFill>
            <a:prstDash val="solid"/>
          </a:ln>
        </p:spPr>
      </p:sp>
      <p:sp>
        <p:nvSpPr>
          <p:cNvPr id="28" name="Text 25"/>
          <p:cNvSpPr txBox="1"/>
          <p:nvPr/>
        </p:nvSpPr>
        <p:spPr>
          <a:xfrm>
            <a:off x="658368" y="53218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3</a:t>
            </a:r>
            <a:endParaRPr lang="en-US" sz="1000" dirty="0"/>
          </a:p>
        </p:txBody>
      </p:sp>
      <p:sp>
        <p:nvSpPr>
          <p:cNvPr id="29" name="Text 26"/>
          <p:cNvSpPr txBox="1"/>
          <p:nvPr/>
        </p:nvSpPr>
        <p:spPr>
          <a:xfrm>
            <a:off x="1024128" y="52486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Then explain four relationships WITHOUT pointing: “Ahmad is Salma’s brother”.</a:t>
            </a:r>
            <a:endParaRPr lang="en-US" sz="1150" dirty="0"/>
          </a:p>
        </p:txBody>
      </p:sp>
      <p:sp>
        <p:nvSpPr>
          <p:cNvPr id="30" name="Shape 27"/>
          <p:cNvSpPr/>
          <p:nvPr/>
        </p:nvSpPr>
        <p:spPr>
          <a:xfrm>
            <a:off x="658368" y="5779008"/>
            <a:ext cx="274320" cy="274320"/>
          </a:xfrm>
          <a:prstGeom prst="ellipse">
            <a:avLst/>
          </a:prstGeom>
          <a:solidFill>
            <a:srgbClr val="1B3B6F"/>
          </a:solidFill>
          <a:ln w="12700">
            <a:solidFill>
              <a:srgbClr val="1B3B6F"/>
            </a:solidFill>
            <a:prstDash val="solid"/>
          </a:ln>
        </p:spPr>
      </p:sp>
      <p:sp>
        <p:nvSpPr>
          <p:cNvPr id="31" name="Text 28"/>
          <p:cNvSpPr txBox="1"/>
          <p:nvPr/>
        </p:nvSpPr>
        <p:spPr>
          <a:xfrm>
            <a:off x="658368" y="57790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4</a:t>
            </a:r>
            <a:endParaRPr lang="en-US" sz="1000" dirty="0"/>
          </a:p>
        </p:txBody>
      </p:sp>
      <p:sp>
        <p:nvSpPr>
          <p:cNvPr id="32" name="Text 29"/>
          <p:cNvSpPr txBox="1"/>
          <p:nvPr/>
        </p:nvSpPr>
        <p:spPr>
          <a:xfrm>
            <a:off x="1024128" y="57058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Show the tree to the camera; the class checks it.</a:t>
            </a:r>
            <a:endParaRPr lang="en-US" sz="1150" dirty="0"/>
          </a:p>
        </p:txBody>
      </p:sp>
      <p:sp>
        <p:nvSpPr>
          <p:cNvPr id="33" name="Shape 30"/>
          <p:cNvSpPr/>
          <p:nvPr/>
        </p:nvSpPr>
        <p:spPr>
          <a:xfrm>
            <a:off x="6355080" y="1810512"/>
            <a:ext cx="5376672" cy="896112"/>
          </a:xfrm>
          <a:prstGeom prst="roundRect">
            <a:avLst>
              <a:gd name="adj" fmla="val 8163"/>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6473952" y="1901952"/>
            <a:ext cx="105156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6473952" y="190195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3"/>
          <p:cNvSpPr txBox="1"/>
          <p:nvPr/>
        </p:nvSpPr>
        <p:spPr>
          <a:xfrm>
            <a:off x="6473952" y="217627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Name two relationships with “my” (akhī, ukhtī, ummī).</a:t>
            </a:r>
            <a:endParaRPr lang="en-US" sz="1150" dirty="0"/>
          </a:p>
        </p:txBody>
      </p:sp>
      <p:sp>
        <p:nvSpPr>
          <p:cNvPr id="37" name="Shape 34"/>
          <p:cNvSpPr/>
          <p:nvPr/>
        </p:nvSpPr>
        <p:spPr>
          <a:xfrm>
            <a:off x="6355080" y="2816352"/>
            <a:ext cx="5376672" cy="896112"/>
          </a:xfrm>
          <a:prstGeom prst="roundRect">
            <a:avLst>
              <a:gd name="adj" fmla="val 8163"/>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6473952" y="2907792"/>
            <a:ext cx="1051560" cy="256032"/>
          </a:xfrm>
          <a:prstGeom prst="roundRect">
            <a:avLst>
              <a:gd name="adj" fmla="val 50000"/>
            </a:avLst>
          </a:prstGeom>
          <a:solidFill>
            <a:srgbClr val="C9780A"/>
          </a:solidFill>
          <a:ln w="12700">
            <a:solidFill>
              <a:srgbClr val="C9780A"/>
            </a:solidFill>
            <a:prstDash val="solid"/>
          </a:ln>
        </p:spPr>
      </p:sp>
      <p:sp>
        <p:nvSpPr>
          <p:cNvPr id="39" name="Text 36"/>
          <p:cNvSpPr txBox="1"/>
          <p:nvPr/>
        </p:nvSpPr>
        <p:spPr>
          <a:xfrm>
            <a:off x="6473952" y="290779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7"/>
          <p:cNvSpPr txBox="1"/>
          <p:nvPr/>
        </p:nvSpPr>
        <p:spPr>
          <a:xfrm>
            <a:off x="6473952" y="318211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Four relationships with iḍāfa (akhū Salmā) or -hu / -hā.</a:t>
            </a:r>
            <a:endParaRPr lang="en-US" sz="1150" dirty="0"/>
          </a:p>
        </p:txBody>
      </p:sp>
      <p:sp>
        <p:nvSpPr>
          <p:cNvPr id="41" name="Shape 38"/>
          <p:cNvSpPr/>
          <p:nvPr/>
        </p:nvSpPr>
        <p:spPr>
          <a:xfrm>
            <a:off x="6355080" y="3822192"/>
            <a:ext cx="5376672" cy="896112"/>
          </a:xfrm>
          <a:prstGeom prst="roundRect">
            <a:avLst>
              <a:gd name="adj" fmla="val 8163"/>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473952" y="3913632"/>
            <a:ext cx="1051560" cy="256032"/>
          </a:xfrm>
          <a:prstGeom prst="roundRect">
            <a:avLst>
              <a:gd name="adj" fmla="val 50000"/>
            </a:avLst>
          </a:prstGeom>
          <a:solidFill>
            <a:srgbClr val="B83227"/>
          </a:solidFill>
          <a:ln w="12700">
            <a:solidFill>
              <a:srgbClr val="B83227"/>
            </a:solidFill>
            <a:prstDash val="solid"/>
          </a:ln>
        </p:spPr>
      </p:sp>
      <p:sp>
        <p:nvSpPr>
          <p:cNvPr id="43" name="Text 40"/>
          <p:cNvSpPr txBox="1"/>
          <p:nvPr/>
        </p:nvSpPr>
        <p:spPr>
          <a:xfrm>
            <a:off x="6473952" y="391363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1"/>
          <p:cNvSpPr txBox="1"/>
          <p:nvPr/>
        </p:nvSpPr>
        <p:spPr>
          <a:xfrm>
            <a:off x="6473952" y="418795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Four relationships + one sentence about how two people get on (yatafāhamāni).</a:t>
            </a:r>
            <a:endParaRPr lang="en-US" sz="1150" dirty="0"/>
          </a:p>
        </p:txBody>
      </p:sp>
      <p:sp>
        <p:nvSpPr>
          <p:cNvPr id="45" name="Shape 42"/>
          <p:cNvSpPr/>
          <p:nvPr/>
        </p:nvSpPr>
        <p:spPr>
          <a:xfrm>
            <a:off x="6355080" y="4828032"/>
            <a:ext cx="5376672" cy="1481328"/>
          </a:xfrm>
          <a:prstGeom prst="roundRect">
            <a:avLst>
              <a:gd name="adj" fmla="val 493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Text 43"/>
          <p:cNvSpPr txBox="1"/>
          <p:nvPr/>
        </p:nvSpPr>
        <p:spPr>
          <a:xfrm>
            <a:off x="6492240" y="4882896"/>
            <a:ext cx="27432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USEFUL LANGUAGE</a:t>
            </a:r>
            <a:endParaRPr lang="en-US" sz="950" dirty="0"/>
          </a:p>
        </p:txBody>
      </p:sp>
      <p:sp>
        <p:nvSpPr>
          <p:cNvPr id="47" name="Text 44"/>
          <p:cNvSpPr txBox="1"/>
          <p:nvPr/>
        </p:nvSpPr>
        <p:spPr>
          <a:xfrm>
            <a:off x="8732520" y="5138928"/>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أَخُو سَلْمَى</a:t>
            </a:r>
            <a:endParaRPr lang="ar-SA" sz="1300" dirty="0"/>
          </a:p>
        </p:txBody>
      </p:sp>
      <p:sp>
        <p:nvSpPr>
          <p:cNvPr id="48" name="Text 45"/>
          <p:cNvSpPr txBox="1"/>
          <p:nvPr/>
        </p:nvSpPr>
        <p:spPr>
          <a:xfrm>
            <a:off x="6492240" y="5138928"/>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Salma’s brother</a:t>
            </a:r>
            <a:endParaRPr lang="en-US" sz="1000" dirty="0"/>
          </a:p>
        </p:txBody>
      </p:sp>
      <p:sp>
        <p:nvSpPr>
          <p:cNvPr id="49" name="Text 46"/>
          <p:cNvSpPr txBox="1"/>
          <p:nvPr/>
        </p:nvSpPr>
        <p:spPr>
          <a:xfrm>
            <a:off x="8732520" y="5422392"/>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أُخْتُهُ / أُخْتُهَا</a:t>
            </a:r>
            <a:endParaRPr lang="ar-SA" sz="1300" dirty="0"/>
          </a:p>
        </p:txBody>
      </p:sp>
      <p:sp>
        <p:nvSpPr>
          <p:cNvPr id="50" name="Text 47"/>
          <p:cNvSpPr txBox="1"/>
          <p:nvPr/>
        </p:nvSpPr>
        <p:spPr>
          <a:xfrm>
            <a:off x="6492240" y="5422392"/>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his / her sister</a:t>
            </a:r>
            <a:endParaRPr lang="en-US" sz="1000" dirty="0"/>
          </a:p>
        </p:txBody>
      </p:sp>
      <p:sp>
        <p:nvSpPr>
          <p:cNvPr id="51" name="Text 48"/>
          <p:cNvSpPr txBox="1"/>
          <p:nvPr/>
        </p:nvSpPr>
        <p:spPr>
          <a:xfrm>
            <a:off x="8732520" y="5705856"/>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جَدُّهُمَا</a:t>
            </a:r>
            <a:endParaRPr lang="ar-SA" sz="1300" dirty="0"/>
          </a:p>
        </p:txBody>
      </p:sp>
      <p:sp>
        <p:nvSpPr>
          <p:cNvPr id="52" name="Text 49"/>
          <p:cNvSpPr txBox="1"/>
          <p:nvPr/>
        </p:nvSpPr>
        <p:spPr>
          <a:xfrm>
            <a:off x="6492240" y="5705856"/>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their (two) grandfather</a:t>
            </a:r>
            <a:endParaRPr lang="en-US" sz="1000" dirty="0"/>
          </a:p>
        </p:txBody>
      </p:sp>
      <p:sp>
        <p:nvSpPr>
          <p:cNvPr id="53" name="Text 50"/>
          <p:cNvSpPr txBox="1"/>
          <p:nvPr/>
        </p:nvSpPr>
        <p:spPr>
          <a:xfrm>
            <a:off x="8732520" y="5989320"/>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يَتَفَاهَمَانِ جَيِّدًا</a:t>
            </a:r>
            <a:endParaRPr lang="ar-SA" sz="1300" dirty="0"/>
          </a:p>
        </p:txBody>
      </p:sp>
      <p:sp>
        <p:nvSpPr>
          <p:cNvPr id="54" name="Text 51"/>
          <p:cNvSpPr txBox="1"/>
          <p:nvPr/>
        </p:nvSpPr>
        <p:spPr>
          <a:xfrm>
            <a:off x="6492240" y="5989320"/>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they (two) get on well</a:t>
            </a:r>
            <a:endParaRPr lang="en-US" sz="1000" dirty="0"/>
          </a:p>
        </p:txBody>
      </p:sp>
      <p:sp>
        <p:nvSpPr>
          <p:cNvPr id="55" name="Text 5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31 / 46</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TB-L02 · Family and Friends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SAY IT BEFORE YOU WRITE IT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Developed speaking: relationships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التَّحَدُّثُ</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TB-L02</a:t>
            </a:r>
            <a:endParaRPr lang="en-US" sz="850" dirty="0"/>
          </a:p>
        </p:txBody>
      </p:sp>
      <p:sp>
        <p:nvSpPr>
          <p:cNvPr id="17" name="Shape 14"/>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8" name="Text 15"/>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19" name="Text 16"/>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Think</a:t>
            </a:r>
            <a:endParaRPr lang="en-US" sz="1050" dirty="0"/>
          </a:p>
          <a:p>
            <a:pPr indent="0" marL="0">
              <a:buNone/>
            </a:pPr>
            <a:r>
              <a:rPr lang="en-US" sz="950" dirty="0">
                <a:solidFill>
                  <a:srgbClr val="5A6472"/>
                </a:solidFill>
                <a:latin typeface="Calibri" pitchFamily="34" charset="0"/>
                <a:cs typeface="Amiri" pitchFamily="2" charset="-78"/>
              </a:rPr>
              <a:t>10 seconds</a:t>
            </a:r>
            <a:endParaRPr lang="en-US" sz="1050" dirty="0"/>
          </a:p>
        </p:txBody>
      </p:sp>
      <p:sp>
        <p:nvSpPr>
          <p:cNvPr id="20" name="Shape 17"/>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21" name="Text 18"/>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2" name="Text 19"/>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Rehearse</a:t>
            </a:r>
            <a:endParaRPr lang="en-US" sz="1050" dirty="0"/>
          </a:p>
          <a:p>
            <a:pPr indent="0" marL="0">
              <a:buNone/>
            </a:pPr>
            <a:r>
              <a:rPr lang="en-US" sz="950" dirty="0">
                <a:solidFill>
                  <a:srgbClr val="5A6472"/>
                </a:solidFill>
                <a:latin typeface="Calibri" pitchFamily="34" charset="0"/>
                <a:cs typeface="Amiri" pitchFamily="2" charset="-78"/>
              </a:rPr>
              <a:t>muted · 45 s</a:t>
            </a:r>
            <a:endParaRPr lang="en-US" sz="1050" dirty="0"/>
          </a:p>
        </p:txBody>
      </p:sp>
      <p:sp>
        <p:nvSpPr>
          <p:cNvPr id="23" name="Shape 20"/>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4" name="Text 21"/>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5" name="Text 22"/>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Pairs share</a:t>
            </a:r>
            <a:endParaRPr lang="en-US" sz="1050" dirty="0"/>
          </a:p>
          <a:p>
            <a:pPr indent="0" marL="0">
              <a:buNone/>
            </a:pPr>
            <a:r>
              <a:rPr lang="en-US" sz="950" dirty="0">
                <a:solidFill>
                  <a:srgbClr val="5A6472"/>
                </a:solidFill>
                <a:latin typeface="Calibri" pitchFamily="34" charset="0"/>
                <a:cs typeface="Amiri" pitchFamily="2" charset="-78"/>
              </a:rPr>
              <a:t>open mic</a:t>
            </a:r>
            <a:endParaRPr lang="en-US" sz="1050" dirty="0"/>
          </a:p>
        </p:txBody>
      </p:sp>
      <p:sp>
        <p:nvSpPr>
          <p:cNvPr id="26" name="Shape 23"/>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7" name="Text 24"/>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 ?</a:t>
            </a:r>
            <a:endParaRPr lang="en-US" sz="1800" dirty="0"/>
          </a:p>
        </p:txBody>
      </p:sp>
      <p:sp>
        <p:nvSpPr>
          <p:cNvPr id="28" name="Text 25"/>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Build / ask</a:t>
            </a:r>
            <a:endParaRPr lang="en-US" sz="1050" dirty="0"/>
          </a:p>
          <a:p>
            <a:pPr indent="0" marL="0">
              <a:buNone/>
            </a:pPr>
            <a:r>
              <a:rPr lang="en-US" sz="950" dirty="0">
                <a:solidFill>
                  <a:srgbClr val="5A6472"/>
                </a:solidFill>
                <a:latin typeface="Calibri" pitchFamily="34" charset="0"/>
                <a:cs typeface="Amiri" pitchFamily="2" charset="-78"/>
              </a:rPr>
              <a:t>in the chat</a:t>
            </a:r>
            <a:endParaRPr lang="en-US" sz="1050" dirty="0"/>
          </a:p>
        </p:txBody>
      </p:sp>
      <p:sp>
        <p:nvSpPr>
          <p:cNvPr id="29" name="Shape 26"/>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30" name="Text 27"/>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31" name="Text 28"/>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Summarise</a:t>
            </a:r>
            <a:endParaRPr lang="en-US" sz="1050" dirty="0"/>
          </a:p>
          <a:p>
            <a:pPr indent="0" marL="0">
              <a:buNone/>
            </a:pPr>
            <a:r>
              <a:rPr lang="en-US" sz="950" dirty="0">
                <a:solidFill>
                  <a:srgbClr val="5A6472"/>
                </a:solidFill>
                <a:latin typeface="Calibri" pitchFamily="34" charset="0"/>
                <a:cs typeface="Amiri" pitchFamily="2" charset="-78"/>
              </a:rPr>
              <a:t>he / she …</a:t>
            </a:r>
            <a:endParaRPr lang="en-US" sz="1050" dirty="0"/>
          </a:p>
        </p:txBody>
      </p:sp>
      <p:sp>
        <p:nvSpPr>
          <p:cNvPr id="32" name="Shape 29"/>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4" name="Text 31"/>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5" name="Text 32"/>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صِفْ عَلَاقَتَكَ بِصَدِيقٍ مُقَرَّبٍ.</a:t>
            </a:r>
            <a:endParaRPr lang="ar-SA" sz="1800" dirty="0"/>
          </a:p>
        </p:txBody>
      </p:sp>
      <p:sp>
        <p:nvSpPr>
          <p:cNvPr id="36" name="Shape 33"/>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9" name="Text 36"/>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مَنْ يَدْعَمُكَ وَكَيْفَ؟</a:t>
            </a:r>
            <a:endParaRPr lang="ar-SA" sz="1800" dirty="0"/>
          </a:p>
        </p:txBody>
      </p:sp>
      <p:sp>
        <p:nvSpPr>
          <p:cNvPr id="40" name="Shape 37"/>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1" name="Shape 38"/>
          <p:cNvSpPr/>
          <p:nvPr/>
        </p:nvSpPr>
        <p:spPr>
          <a:xfrm>
            <a:off x="4846320" y="3886200"/>
            <a:ext cx="960120" cy="256032"/>
          </a:xfrm>
          <a:prstGeom prst="roundRect">
            <a:avLst>
              <a:gd name="adj" fmla="val 50000"/>
            </a:avLst>
          </a:prstGeom>
          <a:solidFill>
            <a:srgbClr val="C9780A"/>
          </a:solidFill>
          <a:ln w="12700">
            <a:solidFill>
              <a:srgbClr val="C9780A"/>
            </a:solidFill>
            <a:prstDash val="solid"/>
          </a:ln>
        </p:spPr>
      </p:sp>
      <p:sp>
        <p:nvSpPr>
          <p:cNvPr id="42" name="Text 39"/>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43" name="Text 40"/>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مَتَى تَخْتَلِفُ مَعَ أَحَدٍ فِي أُسْرَتِكَ؟</a:t>
            </a:r>
            <a:endParaRPr lang="ar-SA" sz="1800" dirty="0"/>
          </a:p>
        </p:txBody>
      </p:sp>
      <p:sp>
        <p:nvSpPr>
          <p:cNvPr id="44" name="Shape 41"/>
          <p:cNvSpPr/>
          <p:nvPr/>
        </p:nvSpPr>
        <p:spPr>
          <a:xfrm>
            <a:off x="4754880" y="4352544"/>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4846320" y="4507992"/>
            <a:ext cx="960120" cy="256032"/>
          </a:xfrm>
          <a:prstGeom prst="roundRect">
            <a:avLst>
              <a:gd name="adj" fmla="val 50000"/>
            </a:avLst>
          </a:prstGeom>
          <a:solidFill>
            <a:srgbClr val="B83227"/>
          </a:solidFill>
          <a:ln w="12700">
            <a:solidFill>
              <a:srgbClr val="B83227"/>
            </a:solidFill>
            <a:prstDash val="solid"/>
          </a:ln>
        </p:spPr>
      </p:sp>
      <p:sp>
        <p:nvSpPr>
          <p:cNvPr id="46" name="Text 43"/>
          <p:cNvSpPr txBox="1"/>
          <p:nvPr/>
        </p:nvSpPr>
        <p:spPr>
          <a:xfrm>
            <a:off x="4846320" y="4507992"/>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7" name="Text 44"/>
          <p:cNvSpPr txBox="1"/>
          <p:nvPr/>
        </p:nvSpPr>
        <p:spPr>
          <a:xfrm>
            <a:off x="5897880" y="4352544"/>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مَا الَّذِي يَجْعَلُ العَلَاقَةَ قَوِيَّةً؟</a:t>
            </a:r>
            <a:endParaRPr lang="ar-SA" sz="1800" dirty="0"/>
          </a:p>
        </p:txBody>
      </p:sp>
      <p:sp>
        <p:nvSpPr>
          <p:cNvPr id="48" name="Shape 45"/>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9" name="Text 46"/>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SENTENCE STEMS</a:t>
            </a:r>
            <a:endParaRPr lang="en-US" sz="1000" dirty="0"/>
          </a:p>
        </p:txBody>
      </p:sp>
      <p:sp>
        <p:nvSpPr>
          <p:cNvPr id="50" name="Shape 47"/>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2" name="Text 49"/>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2" charset="-78"/>
                <a:ea typeface="Amiri" pitchFamily="2" charset="-78"/>
                <a:cs typeface="Amiri" pitchFamily="2" charset="-78"/>
              </a:rPr>
              <a:t>أَتَفَاهَمُ مَعَ ___ لِأَنَّ ___ .</a:t>
            </a:r>
            <a:endParaRPr lang="ar-SA" sz="1600" dirty="0"/>
          </a:p>
        </p:txBody>
      </p:sp>
      <p:sp>
        <p:nvSpPr>
          <p:cNvPr id="53" name="Shape 50"/>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54" name="Text 51"/>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55" name="Text 52"/>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___ يَدْعَمُنِي / تَدْعَمُنِي عِنْدَمَا ___ .</a:t>
            </a:r>
            <a:endParaRPr lang="ar-SA" sz="1600" dirty="0"/>
          </a:p>
        </p:txBody>
      </p:sp>
      <p:sp>
        <p:nvSpPr>
          <p:cNvPr id="56" name="Shape 53"/>
          <p:cNvSpPr/>
          <p:nvPr/>
        </p:nvSpPr>
        <p:spPr>
          <a:xfrm>
            <a:off x="640080" y="4123944"/>
            <a:ext cx="1051560" cy="256032"/>
          </a:xfrm>
          <a:prstGeom prst="roundRect">
            <a:avLst>
              <a:gd name="adj" fmla="val 50000"/>
            </a:avLst>
          </a:prstGeom>
          <a:solidFill>
            <a:srgbClr val="C9780A"/>
          </a:solidFill>
          <a:ln w="12700">
            <a:solidFill>
              <a:srgbClr val="C9780A"/>
            </a:solidFill>
            <a:prstDash val="solid"/>
          </a:ln>
        </p:spPr>
      </p:sp>
      <p:sp>
        <p:nvSpPr>
          <p:cNvPr id="57" name="Text 54"/>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58" name="Text 55"/>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450" b="1" dirty="0">
                <a:solidFill>
                  <a:srgbClr val="1F2A37"/>
                </a:solidFill>
                <a:latin typeface="Amiri" pitchFamily="2" charset="-78"/>
                <a:ea typeface="Amiri" pitchFamily="2" charset="-78"/>
                <a:cs typeface="Amiri" pitchFamily="2" charset="-78"/>
              </a:rPr>
              <a:t>نَتَشَاجَرُ أَحْيَانًا حَوْلَ ___ ، وَلٰكِنَّنَا ___ .</a:t>
            </a:r>
            <a:endParaRPr lang="ar-SA" sz="1450" dirty="0"/>
          </a:p>
        </p:txBody>
      </p:sp>
      <p:sp>
        <p:nvSpPr>
          <p:cNvPr id="59" name="Shape 56"/>
          <p:cNvSpPr/>
          <p:nvPr/>
        </p:nvSpPr>
        <p:spPr>
          <a:xfrm>
            <a:off x="640080" y="4681728"/>
            <a:ext cx="1051560" cy="256032"/>
          </a:xfrm>
          <a:prstGeom prst="roundRect">
            <a:avLst>
              <a:gd name="adj" fmla="val 50000"/>
            </a:avLst>
          </a:prstGeom>
          <a:solidFill>
            <a:srgbClr val="B83227"/>
          </a:solidFill>
          <a:ln w="12700">
            <a:solidFill>
              <a:srgbClr val="B83227"/>
            </a:solidFill>
            <a:prstDash val="solid"/>
          </a:ln>
        </p:spPr>
      </p:sp>
      <p:sp>
        <p:nvSpPr>
          <p:cNvPr id="60" name="Text 57"/>
          <p:cNvSpPr txBox="1"/>
          <p:nvPr/>
        </p:nvSpPr>
        <p:spPr>
          <a:xfrm>
            <a:off x="640080" y="4681728"/>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61" name="Text 58"/>
          <p:cNvSpPr txBox="1"/>
          <p:nvPr/>
        </p:nvSpPr>
        <p:spPr>
          <a:xfrm>
            <a:off x="1783080" y="4526280"/>
            <a:ext cx="2697480" cy="557784"/>
          </a:xfrm>
          <a:prstGeom prst="rect">
            <a:avLst/>
          </a:prstGeom>
          <a:noFill/>
          <a:ln/>
        </p:spPr>
        <p:txBody>
          <a:bodyPr wrap="square" lIns="0" tIns="0" rIns="0" bIns="0" rtlCol="0" anchor="ctr"/>
          <a:lstStyle/>
          <a:p>
            <a:pPr rtl="1" algn="r" indent="0" marL="0">
              <a:buNone/>
            </a:pPr>
            <a:r>
              <a:rPr lang="ar-SA" altLang="en-US" sz="1400" b="1" dirty="0">
                <a:solidFill>
                  <a:srgbClr val="1F2A37"/>
                </a:solidFill>
                <a:latin typeface="Amiri" pitchFamily="2" charset="-78"/>
                <a:ea typeface="Amiri" pitchFamily="2" charset="-78"/>
                <a:cs typeface="Amiri" pitchFamily="2" charset="-78"/>
              </a:rPr>
              <a:t>العَلَاقَةُ القَوِيَّةُ تَحْتَاجُ إِلَى ___ لِأَنَّ ___ .</a:t>
            </a:r>
            <a:endParaRPr lang="ar-SA" sz="1400" dirty="0"/>
          </a:p>
        </p:txBody>
      </p:sp>
      <p:sp>
        <p:nvSpPr>
          <p:cNvPr id="62" name="Shape 59"/>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63" name="Text 60"/>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cs typeface="Amiri" pitchFamily="2" charset="-78"/>
              </a:rPr>
              <a:t>MODEL (WEBSITE)</a:t>
            </a:r>
            <a:endParaRPr lang="en-US" sz="950" dirty="0"/>
          </a:p>
        </p:txBody>
      </p:sp>
      <p:sp>
        <p:nvSpPr>
          <p:cNvPr id="64" name="Shape 61"/>
          <p:cNvSpPr/>
          <p:nvPr/>
        </p:nvSpPr>
        <p:spPr>
          <a:xfrm>
            <a:off x="11274552" y="5559552"/>
            <a:ext cx="292608" cy="292608"/>
          </a:xfrm>
          <a:prstGeom prst="ellipse">
            <a:avLst/>
          </a:prstGeom>
          <a:solidFill>
            <a:srgbClr val="1E6B52"/>
          </a:solidFill>
          <a:ln w="12700">
            <a:solidFill>
              <a:srgbClr val="1E6B52"/>
            </a:solidFill>
            <a:prstDash val="solid"/>
          </a:ln>
        </p:spPr>
      </p:sp>
      <p:sp>
        <p:nvSpPr>
          <p:cNvPr id="65" name="Text 62"/>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66" name="Text 63"/>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مَنْ يَدْعَمُكَ فِي دِرَاسَتِكَ؟</a:t>
            </a:r>
            <a:endParaRPr lang="ar-SA" sz="1550" dirty="0"/>
          </a:p>
        </p:txBody>
      </p:sp>
      <p:sp>
        <p:nvSpPr>
          <p:cNvPr id="67" name="Text 64"/>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Who supports you in your studies?</a:t>
            </a:r>
            <a:endParaRPr lang="en-US" sz="950" dirty="0"/>
          </a:p>
        </p:txBody>
      </p:sp>
      <p:sp>
        <p:nvSpPr>
          <p:cNvPr id="68" name="Shape 65"/>
          <p:cNvSpPr/>
          <p:nvPr/>
        </p:nvSpPr>
        <p:spPr>
          <a:xfrm>
            <a:off x="11274552" y="5925312"/>
            <a:ext cx="292608" cy="292608"/>
          </a:xfrm>
          <a:prstGeom prst="ellipse">
            <a:avLst/>
          </a:prstGeom>
          <a:solidFill>
            <a:srgbClr val="1E6B52"/>
          </a:solidFill>
          <a:ln w="12700">
            <a:solidFill>
              <a:srgbClr val="1E6B52"/>
            </a:solidFill>
            <a:prstDash val="solid"/>
          </a:ln>
        </p:spPr>
      </p:sp>
      <p:sp>
        <p:nvSpPr>
          <p:cNvPr id="69" name="Text 66"/>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70" name="Text 67"/>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أُخْتِي تَدْعَمُنِي وَتُسَاعِدُنِي.</a:t>
            </a:r>
            <a:endParaRPr lang="ar-SA" sz="1550" dirty="0"/>
          </a:p>
        </p:txBody>
      </p:sp>
      <p:sp>
        <p:nvSpPr>
          <p:cNvPr id="71" name="Text 68"/>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My sister supports and helps me.</a:t>
            </a:r>
            <a:endParaRPr lang="en-US" sz="950" dirty="0"/>
          </a:p>
        </p:txBody>
      </p:sp>
      <p:sp>
        <p:nvSpPr>
          <p:cNvPr id="72" name="Text 6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32 / 46</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TB-L02 · Family and Friends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TB-L02</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2" charset="-78"/>
                <a:ea typeface="Amiri" pitchFamily="2" charset="-78"/>
                <a:cs typeface="Amiri" pitchFamily="2" charset="-78"/>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cs typeface="Amiri" pitchFamily="2" charset="-78"/>
              </a:rPr>
              <a:t>5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Secure the main vocabulary and produce four accurate sentences using the taught frame.</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One relationship: get on with … · … supports me · one reason (because …).</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2" charset="-78"/>
                <a:ea typeface="Amiri" pitchFamily="2" charset="-78"/>
                <a:cs typeface="Amiri" pitchFamily="2" charset="-78"/>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cs typeface="Amiri" pitchFamily="2" charset="-78"/>
              </a:rPr>
              <a:t>8 sentences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Combine description, grammar and a reason in connected answers.</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Two relationships with object endings (him / her / me) and “we argue … we make up”.</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cs typeface="Amiri" pitchFamily="2" charset="-78"/>
              </a:rPr>
              <a:t>100–120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Add comparison, contrast, precise evidence and an independently controlled relative clause.</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Website task: one strong and one sometimes difficult relationship — actions, feelings, reasons and how problems are resolved.</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33 / 46</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TB-L02 · Family and Friends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TB-L02</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750" b="1" dirty="0">
                <a:solidFill>
                  <a:srgbClr val="1B3B6F"/>
                </a:solidFill>
                <a:latin typeface="Amiri" pitchFamily="2" charset="-78"/>
                <a:ea typeface="Amiri" pitchFamily="2" charset="-78"/>
                <a:cs typeface="Amiri" pitchFamily="2" charset="-78"/>
              </a:rPr>
              <a:t>أَتَفَاهَمُ مَعَ ______ لِأَنَّهُ / لِأَنَّهَا ______ .</a:t>
            </a:r>
            <a:endParaRPr lang="ar-SA" sz="175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get on with … because he / she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أَخْتَلِفُ مَعَ ______ أَحْيَانًا حَوْلَ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sometimes disagree with … about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أُسَاعِدُهُ / أُسَاعِدُهَا فِي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help him / her with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نَتَفَاهَمُ لِأَنَّنَا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We get on because we …</a:t>
            </a:r>
            <a:endParaRPr lang="en-US" sz="1050" dirty="0"/>
          </a:p>
        </p:txBody>
      </p:sp>
      <p:sp>
        <p:nvSpPr>
          <p:cNvPr id="26" name="Text 23"/>
          <p:cNvSpPr txBox="1"/>
          <p:nvPr/>
        </p:nvSpPr>
        <p:spPr>
          <a:xfrm>
            <a:off x="2468880"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عَلَى الرَّغْمِ مِنْ أَنَّنَا نَخْتَلِفُ ، ______ .</a:t>
            </a:r>
            <a:endParaRPr lang="ar-SA" sz="1800" dirty="0"/>
          </a:p>
        </p:txBody>
      </p:sp>
      <p:sp>
        <p:nvSpPr>
          <p:cNvPr id="27" name="Text 24"/>
          <p:cNvSpPr txBox="1"/>
          <p:nvPr/>
        </p:nvSpPr>
        <p:spPr>
          <a:xfrm>
            <a:off x="594360"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Although we disagree, …</a:t>
            </a:r>
            <a:endParaRPr lang="en-US" sz="1050" dirty="0"/>
          </a:p>
        </p:txBody>
      </p:sp>
      <p:sp>
        <p:nvSpPr>
          <p:cNvPr id="28" name="Shape 25"/>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1" name="Text 28"/>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أَتَفَاهَمُ مَعَ ______ .</a:t>
            </a:r>
            <a:endParaRPr lang="ar-SA" sz="1800" dirty="0"/>
          </a:p>
        </p:txBody>
      </p:sp>
      <p:sp>
        <p:nvSpPr>
          <p:cNvPr id="32" name="Text 29"/>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get on with …</a:t>
            </a:r>
            <a:endParaRPr lang="en-US" sz="1050" dirty="0"/>
          </a:p>
        </p:txBody>
      </p:sp>
      <p:sp>
        <p:nvSpPr>
          <p:cNvPr id="33" name="Text 30"/>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______ يَدْعَمُنِي / تَدْعَمُنِي.</a:t>
            </a:r>
            <a:endParaRPr lang="ar-SA" sz="1800" dirty="0"/>
          </a:p>
        </p:txBody>
      </p:sp>
      <p:sp>
        <p:nvSpPr>
          <p:cNvPr id="34" name="Text 31"/>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 supports me (he / she).</a:t>
            </a:r>
            <a:endParaRPr lang="en-US" sz="1050" dirty="0"/>
          </a:p>
        </p:txBody>
      </p:sp>
      <p:sp>
        <p:nvSpPr>
          <p:cNvPr id="35" name="Text 32"/>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أَحْتَرِمُهُ / أَحْتَرِمُهَا.</a:t>
            </a:r>
            <a:endParaRPr lang="ar-SA" sz="1800" dirty="0"/>
          </a:p>
        </p:txBody>
      </p:sp>
      <p:sp>
        <p:nvSpPr>
          <p:cNvPr id="36" name="Text 33"/>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respect him / her.</a:t>
            </a:r>
            <a:endParaRPr lang="en-US" sz="1050" dirty="0"/>
          </a:p>
        </p:txBody>
      </p:sp>
      <p:sp>
        <p:nvSpPr>
          <p:cNvPr id="37" name="Text 34"/>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أَحْيَانًا نَتَشَاجَرُ.</a:t>
            </a:r>
            <a:endParaRPr lang="ar-SA" sz="1800" dirty="0"/>
          </a:p>
        </p:txBody>
      </p:sp>
      <p:sp>
        <p:nvSpPr>
          <p:cNvPr id="38" name="Text 35"/>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We sometimes argue.</a:t>
            </a:r>
            <a:endParaRPr lang="en-US" sz="1050" dirty="0"/>
          </a:p>
        </p:txBody>
      </p:sp>
      <p:sp>
        <p:nvSpPr>
          <p:cNvPr id="39" name="Text 36"/>
          <p:cNvSpPr txBox="1"/>
          <p:nvPr/>
        </p:nvSpPr>
        <p:spPr>
          <a:xfrm>
            <a:off x="8202168"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ثُمَّ نَتَصَالَحُ.</a:t>
            </a:r>
            <a:endParaRPr lang="ar-SA" sz="1800" dirty="0"/>
          </a:p>
        </p:txBody>
      </p:sp>
      <p:sp>
        <p:nvSpPr>
          <p:cNvPr id="40" name="Text 37"/>
          <p:cNvSpPr txBox="1"/>
          <p:nvPr/>
        </p:nvSpPr>
        <p:spPr>
          <a:xfrm>
            <a:off x="6327648"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Then we make up.</a:t>
            </a:r>
            <a:endParaRPr lang="en-US" sz="1050" dirty="0"/>
          </a:p>
        </p:txBody>
      </p:sp>
      <p:sp>
        <p:nvSpPr>
          <p:cNvPr id="41" name="Shape 38"/>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Text 39"/>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43" name="Text 40"/>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أَتَفَاهَمُ مَعَ  ·  أَخْتَلِفُ مَعَ  ·  أَثِقُ بِـ  ·  أَحْتَرِمُهُ / أَحْتَرِمُهَا  ·  يَدْعَمُنِي  ·  تَدْعَمُنِي  ·  نَتَشَاجَرُ  ·  نَتَصَالَحُ  ·  صَدِيقٌ مُقَرَّبٌ  ·  عَلَاقَةٌ قَوِيَّةٌ  ·  لِأَنَّنَا  ·  وَلٰكِنَّنَا</a:t>
            </a:r>
            <a:endParaRPr lang="ar-SA" sz="16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34 / 46</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TB-L02 · Family and Friends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TB-L02</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cs typeface="Amiri" pitchFamily="2" charset="-78"/>
              </a:rPr>
              <a:t>Write 100–120 Arabic words about two relationships: one strong and one sometimes difficult. Explain actions, feelings, object pronouns, reasons and how problems are resolved.</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Cover every requested content point.</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Use the target grammar accurately.</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Include precise vocabulary from this lesson.</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Add a reason, comparison or contrast.</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Review agreement, pronoun reference and connectors.</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PHRASE BANK — FROM THE WEBSITE TEXTS</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نَثِقُ بِبَعْضِنَا</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we trust each other</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عِنْدَمَا أَكُونُ قَلِقًا / قَلِقَةً</a:t>
            </a:r>
            <a:endParaRPr lang="ar-SA" sz="18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when I am worried (m. / f.)</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أَصْعَبُ نَوْعًا مَا</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somewhat more difficult</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نَتَكَلَّمُ بِهُدُوءٍ</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we talk calmly</a:t>
            </a:r>
            <a:endParaRPr lang="en-US" sz="1050" dirty="0"/>
          </a:p>
        </p:txBody>
      </p:sp>
      <p:sp>
        <p:nvSpPr>
          <p:cNvPr id="34" name="Text 31"/>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يُسَاعِدَانِ النَّاسَ عَلَى فَهْمِ بَعْضِهِمْ</a:t>
            </a:r>
            <a:endParaRPr lang="ar-SA" sz="1800" dirty="0"/>
          </a:p>
        </p:txBody>
      </p:sp>
      <p:sp>
        <p:nvSpPr>
          <p:cNvPr id="35" name="Text 32"/>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they help people understand each other</a:t>
            </a:r>
            <a:endParaRPr lang="en-US" sz="105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35 / 46</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TB-L02 · Family and Friends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TB-L02</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2" charset="-78"/>
                <a:ea typeface="Amiri" pitchFamily="2" charset="-78"/>
                <a:cs typeface="Amiri" pitchFamily="2" charset="-78"/>
              </a:rPr>
              <a:t>عَلَاقَتِي بِأُخْتِي قَوِيَّةٌ لِأَنَّنَا نَتَفَاهَمُ وَنَثِقُ بِبَعْضِنَا. هِيَ تَدْعَمُنِي عِنْدَمَا أَكُونُ قَلِقًا، وَأَنَا أُسَاعِدُهَا فِي وَاجِبِهَا. أَمَّا عِلَاقَتِي بِابْنِ عَمِّي فَهِيَ أَصْعَبُ نَوْعًا مَا، لِأَنَّنَا نَخْتَلِفُ حَوْلَ أَلْعَابِ الحَاسُوبِ. أَحْيَانًا نَتَشَاجَرُ، وَلٰكِنَّنَا نَتَكَلَّمُ بِهُدُوءٍ وَنَتَصَالَحُ بَعْدَ ذٰلِكَ. فِي رَأْيِي، الاِحْتِرَامُ وَالاِسْتِمَاعُ أَهَمُّ شَيْئَيْنِ فِي أَيِّ عِلَاقَةٍ، لِأَنَّهُمَا يُسَاعِدَانِ النَّاسَ عَلَى فَهْمِ بَعْضِهِمْ.</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My relationship with my sister is strong because we get on and trust each other. She supports me when I am worried, and I help her with her homework. As for my relationship with my cousin, it is somewhat more difficult, because we disagree about computer games. Sometimes we argue, but we talk calmly and make up afterwards. In my opinion, respect and listening are the two most important things in any relationship, because they help people understand each other.</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two object endings</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 reciprocal “we” verb</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a reason with لِأَنَّنَا</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the opinion</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36 / 46</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TB-L02 · Family and Friends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TB-L02</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wrote “get on WITH” (maʿa).</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gave a reason with “because”.</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My object endings match the person (-hu / -hā / -nī).</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a “we” verb (we argue / we make up).</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explained how a problem is solved.</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37 / 46</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TB-L02 · Family and Friends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TB-L02</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“I get on with my sister.”</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أَتَفَاهَمُ مَعَ أُخْتِي.</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أَتَفَاهَمُ أُخْتِي.</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يَتَفَاهَمُ مَعَ أُخْتِي.</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يَدْعَمُنِي</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 support him</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 supports me</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she supports us</a:t>
            </a:r>
            <a:endParaRPr lang="en-US" sz="12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“I respect her.”</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أَحْتَرِمُهَا.</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أَحْتَرِمُهُ.</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تَحْتَرِمُنِي.</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cs typeface="Amiri" pitchFamily="2" charset="-78"/>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38 / 46</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TB-L02 · Family and Friends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TB-L02</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“I get on with my sister.”</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أَتَفَاهَمُ مَعَ أُخْتِي.</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أَتَفَاهَمُ أُخْتِي.</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يَتَفَاهَمُ مَعَ أُخْتِي.</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Use </a:t>
            </a:r>
            <a:pPr algn="l" indent="0" marL="0">
              <a:buNone/>
            </a:pPr>
            <a:r>
              <a:rPr lang="ar-SA" altLang="en-US" sz="1350" dirty="0">
                <a:solidFill>
                  <a:srgbClr val="8A6D1E"/>
                </a:solidFill>
                <a:latin typeface="Amiri" pitchFamily="2" charset="-78"/>
                <a:ea typeface="Amiri" pitchFamily="2" charset="-78"/>
                <a:cs typeface="Amiri" pitchFamily="2" charset="-78"/>
              </a:rPr>
              <a:t>أَتَفَاهَمُ مَعَ</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يَدْعَمُنِي</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 support him</a:t>
            </a:r>
            <a:endParaRPr lang="en-US" sz="12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he supports me</a:t>
            </a:r>
            <a:endParaRPr lang="en-US" sz="12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she supports us</a:t>
            </a:r>
            <a:endParaRPr lang="en-US" sz="12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ـني</a:t>
            </a:r>
            <a:pPr algn="l" indent="0" marL="0">
              <a:buNone/>
            </a:pPr>
            <a:r>
              <a:rPr lang="en-US" sz="1050" i="1" dirty="0">
                <a:solidFill>
                  <a:srgbClr val="8A6D1E"/>
                </a:solidFill>
                <a:latin typeface="Calibri" pitchFamily="34" charset="0"/>
                <a:cs typeface="Amiri" pitchFamily="2" charset="-78"/>
              </a:rPr>
              <a:t> means me.</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“I respect her.”</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أَحْتَرِمُهَا.</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أَحْتَرِمُهُ.</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تَحْتَرِمُنِي.</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ـها</a:t>
            </a:r>
            <a:pPr algn="l" indent="0" marL="0">
              <a:buNone/>
            </a:pPr>
            <a:r>
              <a:rPr lang="en-US" sz="1050" i="1" dirty="0">
                <a:solidFill>
                  <a:srgbClr val="8A6D1E"/>
                </a:solidFill>
                <a:latin typeface="Calibri" pitchFamily="34" charset="0"/>
                <a:cs typeface="Amiri" pitchFamily="2" charset="-78"/>
              </a:rPr>
              <a:t> refers to her.</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cs typeface="Amiri" pitchFamily="2" charset="-78"/>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39 / 46</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TB-L02 · Family and Friends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FAST FINISHERS OR HOMEWORK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focus: relationships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TB-L02</a:t>
            </a:r>
            <a:endParaRPr lang="en-US" sz="850" dirty="0"/>
          </a:p>
        </p:txBody>
      </p:sp>
      <p:sp>
        <p:nvSpPr>
          <p:cNvPr id="17" name="Shape 14"/>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2" charset="-78"/>
                <a:ea typeface="Amiri" pitchFamily="2" charset="-78"/>
                <a:cs typeface="Amiri" pitchFamily="2" charset="-78"/>
              </a:rPr>
              <a:t>تَكْتُبُ لَيْلَى عَنْ صَدِيقَتِهَا هِنْدٍ. تَقُولُ إِنَّ عَلَاقَتَهُمَا قَوِيَّةٌ لِأَنَّهُمَا تَثِقَانِ بِبَعْضِهِمَا وَتَقْضِيَانِ الوَقْتَ مَعًا. هِنْدٌ تَدْعَمُ لَيْلَى عِنْدَمَا تَكُونُ قَلِقَةً، وَلَيْلَى تُسَاعِدُهَا فِي الدِّرَاسَةِ. عَلَى الرَّغْمِ مِنْ أَنَّهُمَا تَخْتَلِفَانِ فِي بَعْضِ الآرَاءِ، فَإِنَّهُمَا تَسْتَمِعَانِ إِلَى بَعْضِهِمَا وَتَحْتَرِمَانِ الاِخْتِلَافَ.</a:t>
            </a:r>
            <a:endParaRPr lang="ar-SA" sz="2600" dirty="0"/>
          </a:p>
        </p:txBody>
      </p:sp>
      <p:sp>
        <p:nvSpPr>
          <p:cNvPr id="19" name="Shape 1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KEY WORDS</a:t>
            </a:r>
            <a:endParaRPr lang="en-US" sz="1000" dirty="0"/>
          </a:p>
        </p:txBody>
      </p:sp>
      <p:sp>
        <p:nvSpPr>
          <p:cNvPr id="21" name="Text 18"/>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تَكْتُبُ</a:t>
            </a:r>
            <a:endParaRPr lang="ar-SA" sz="1600" dirty="0"/>
          </a:p>
        </p:txBody>
      </p:sp>
      <p:sp>
        <p:nvSpPr>
          <p:cNvPr id="22" name="Text 19"/>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she writes</a:t>
            </a:r>
            <a:endParaRPr lang="en-US" sz="1050" dirty="0"/>
          </a:p>
        </p:txBody>
      </p:sp>
      <p:sp>
        <p:nvSpPr>
          <p:cNvPr id="23" name="Text 20"/>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عَلَاقَتَهُمَا</a:t>
            </a:r>
            <a:endParaRPr lang="ar-SA" sz="1600" dirty="0"/>
          </a:p>
        </p:txBody>
      </p:sp>
      <p:sp>
        <p:nvSpPr>
          <p:cNvPr id="24" name="Text 21"/>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their (two) relationship</a:t>
            </a:r>
            <a:endParaRPr lang="en-US" sz="1050" dirty="0"/>
          </a:p>
        </p:txBody>
      </p:sp>
      <p:sp>
        <p:nvSpPr>
          <p:cNvPr id="25" name="Text 22"/>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تَثِقَانِ بِبَعْضِهِمَا</a:t>
            </a:r>
            <a:endParaRPr lang="ar-SA" sz="1600" dirty="0"/>
          </a:p>
        </p:txBody>
      </p:sp>
      <p:sp>
        <p:nvSpPr>
          <p:cNvPr id="26" name="Text 23"/>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they (two) trust each other</a:t>
            </a:r>
            <a:endParaRPr lang="en-US" sz="1050" dirty="0"/>
          </a:p>
        </p:txBody>
      </p:sp>
      <p:sp>
        <p:nvSpPr>
          <p:cNvPr id="27" name="Text 24"/>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تَقْضِيَانِ الوَقْتَ مَعًا</a:t>
            </a:r>
            <a:endParaRPr lang="ar-SA" sz="1600" dirty="0"/>
          </a:p>
        </p:txBody>
      </p:sp>
      <p:sp>
        <p:nvSpPr>
          <p:cNvPr id="28" name="Text 25"/>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they (two) spend time together</a:t>
            </a:r>
            <a:endParaRPr lang="en-US" sz="1050" dirty="0"/>
          </a:p>
        </p:txBody>
      </p:sp>
      <p:sp>
        <p:nvSpPr>
          <p:cNvPr id="29" name="Text 26"/>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قَلِقَةً</a:t>
            </a:r>
            <a:endParaRPr lang="ar-SA" sz="1600" dirty="0"/>
          </a:p>
        </p:txBody>
      </p:sp>
      <p:sp>
        <p:nvSpPr>
          <p:cNvPr id="30" name="Text 27"/>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worried (f.)</a:t>
            </a:r>
            <a:endParaRPr lang="en-US" sz="1050" dirty="0"/>
          </a:p>
        </p:txBody>
      </p:sp>
      <p:sp>
        <p:nvSpPr>
          <p:cNvPr id="31" name="Text 28"/>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تُسَاعِدُهَا</a:t>
            </a:r>
            <a:endParaRPr lang="ar-SA" sz="1600" dirty="0"/>
          </a:p>
        </p:txBody>
      </p:sp>
      <p:sp>
        <p:nvSpPr>
          <p:cNvPr id="32" name="Text 29"/>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she helps her</a:t>
            </a:r>
            <a:endParaRPr lang="en-US" sz="1050" dirty="0"/>
          </a:p>
        </p:txBody>
      </p:sp>
      <p:sp>
        <p:nvSpPr>
          <p:cNvPr id="33" name="Text 30"/>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تَخْتَلِفَانِ</a:t>
            </a:r>
            <a:endParaRPr lang="ar-SA" sz="1600" dirty="0"/>
          </a:p>
        </p:txBody>
      </p:sp>
      <p:sp>
        <p:nvSpPr>
          <p:cNvPr id="34" name="Text 31"/>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they (two) differ</a:t>
            </a:r>
            <a:endParaRPr lang="en-US" sz="1050" dirty="0"/>
          </a:p>
        </p:txBody>
      </p:sp>
      <p:sp>
        <p:nvSpPr>
          <p:cNvPr id="35" name="Text 32"/>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الآرَاءِ</a:t>
            </a:r>
            <a:endParaRPr lang="ar-SA" sz="1600" dirty="0"/>
          </a:p>
        </p:txBody>
      </p:sp>
      <p:sp>
        <p:nvSpPr>
          <p:cNvPr id="36" name="Text 33"/>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opinions</a:t>
            </a:r>
            <a:endParaRPr lang="en-US" sz="1050" dirty="0"/>
          </a:p>
        </p:txBody>
      </p:sp>
      <p:sp>
        <p:nvSpPr>
          <p:cNvPr id="37" name="Text 34"/>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تَسْتَمِعَانِ</a:t>
            </a:r>
            <a:endParaRPr lang="ar-SA" sz="1600" dirty="0"/>
          </a:p>
        </p:txBody>
      </p:sp>
      <p:sp>
        <p:nvSpPr>
          <p:cNvPr id="38" name="Text 35"/>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they (two) listen</a:t>
            </a:r>
            <a:endParaRPr lang="en-US" sz="1050" dirty="0"/>
          </a:p>
        </p:txBody>
      </p:sp>
      <p:sp>
        <p:nvSpPr>
          <p:cNvPr id="39" name="Text 36"/>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الاِخْتِلَافَ</a:t>
            </a:r>
            <a:endParaRPr lang="ar-SA" sz="1600" dirty="0"/>
          </a:p>
        </p:txBody>
      </p:sp>
      <p:sp>
        <p:nvSpPr>
          <p:cNvPr id="40" name="Text 37"/>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difference</a:t>
            </a:r>
            <a:endParaRPr lang="en-US" sz="10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40 / 46</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TB-L02 · Family and Friends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QUESTIONS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questions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أَسْئِلَةُ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TB-L02</a:t>
            </a:r>
            <a:endParaRPr lang="en-US" sz="850" dirty="0"/>
          </a:p>
        </p:txBody>
      </p:sp>
      <p:sp>
        <p:nvSpPr>
          <p:cNvPr id="17" name="Shape 14"/>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is Hind?</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Layla’s sister</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Layla’s friend</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Layla’s teacher</a:t>
            </a:r>
            <a:endParaRPr lang="en-US" sz="1250" dirty="0"/>
          </a:p>
        </p:txBody>
      </p:sp>
      <p:sp>
        <p:nvSpPr>
          <p:cNvPr id="30" name="Shape 27"/>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3449574"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is their relationship strong?</a:t>
            </a:r>
            <a:endParaRPr lang="en-US" sz="1250" dirty="0"/>
          </a:p>
        </p:txBody>
      </p:sp>
      <p:sp>
        <p:nvSpPr>
          <p:cNvPr id="34" name="Shape 31"/>
          <p:cNvSpPr/>
          <p:nvPr/>
        </p:nvSpPr>
        <p:spPr>
          <a:xfrm>
            <a:off x="3504438"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350443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3833622"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they live in the same house</a:t>
            </a:r>
            <a:endParaRPr lang="en-US" sz="1250" dirty="0"/>
          </a:p>
        </p:txBody>
      </p:sp>
      <p:sp>
        <p:nvSpPr>
          <p:cNvPr id="37" name="Shape 34"/>
          <p:cNvSpPr/>
          <p:nvPr/>
        </p:nvSpPr>
        <p:spPr>
          <a:xfrm>
            <a:off x="3504438"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350443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3833622"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they never disagree</a:t>
            </a:r>
            <a:endParaRPr lang="en-US" sz="1250" dirty="0"/>
          </a:p>
        </p:txBody>
      </p:sp>
      <p:sp>
        <p:nvSpPr>
          <p:cNvPr id="40" name="Shape 37"/>
          <p:cNvSpPr/>
          <p:nvPr/>
        </p:nvSpPr>
        <p:spPr>
          <a:xfrm>
            <a:off x="3504438"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350443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3833622"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they trust each other and spend time together</a:t>
            </a:r>
            <a:endParaRPr lang="en-US" sz="1250" dirty="0"/>
          </a:p>
        </p:txBody>
      </p:sp>
      <p:sp>
        <p:nvSpPr>
          <p:cNvPr id="43" name="Shape 40"/>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6313932"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does Hind help Layla?</a:t>
            </a:r>
            <a:endParaRPr lang="en-US" sz="1250" dirty="0"/>
          </a:p>
        </p:txBody>
      </p:sp>
      <p:sp>
        <p:nvSpPr>
          <p:cNvPr id="47" name="Shape 44"/>
          <p:cNvSpPr/>
          <p:nvPr/>
        </p:nvSpPr>
        <p:spPr>
          <a:xfrm>
            <a:off x="6368796"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6697980"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she supports her when she is worried</a:t>
            </a:r>
            <a:endParaRPr lang="en-US" sz="1250" dirty="0"/>
          </a:p>
        </p:txBody>
      </p:sp>
      <p:sp>
        <p:nvSpPr>
          <p:cNvPr id="50" name="Shape 47"/>
          <p:cNvSpPr/>
          <p:nvPr/>
        </p:nvSpPr>
        <p:spPr>
          <a:xfrm>
            <a:off x="6368796"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6697980"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she cooks for her</a:t>
            </a:r>
            <a:endParaRPr lang="en-US" sz="1250" dirty="0"/>
          </a:p>
        </p:txBody>
      </p:sp>
      <p:sp>
        <p:nvSpPr>
          <p:cNvPr id="53" name="Shape 50"/>
          <p:cNvSpPr/>
          <p:nvPr/>
        </p:nvSpPr>
        <p:spPr>
          <a:xfrm>
            <a:off x="6368796"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6697980"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she drives her to school</a:t>
            </a:r>
            <a:endParaRPr lang="en-US" sz="1250" dirty="0"/>
          </a:p>
        </p:txBody>
      </p:sp>
      <p:sp>
        <p:nvSpPr>
          <p:cNvPr id="56" name="Shape 53"/>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9178290" y="1947672"/>
            <a:ext cx="310896" cy="310896"/>
          </a:xfrm>
          <a:prstGeom prst="ellipse">
            <a:avLst/>
          </a:prstGeom>
          <a:solidFill>
            <a:srgbClr val="1B3B6F"/>
          </a:solidFill>
          <a:ln w="12700">
            <a:solidFill>
              <a:srgbClr val="1B3B6F"/>
            </a:solidFill>
            <a:prstDash val="solid"/>
          </a:ln>
        </p:spPr>
      </p:sp>
      <p:sp>
        <p:nvSpPr>
          <p:cNvPr id="58" name="Text 55"/>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does Layla help Hind?</a:t>
            </a:r>
            <a:endParaRPr lang="en-US" sz="1250" dirty="0"/>
          </a:p>
        </p:txBody>
      </p:sp>
      <p:sp>
        <p:nvSpPr>
          <p:cNvPr id="60" name="Shape 57"/>
          <p:cNvSpPr/>
          <p:nvPr/>
        </p:nvSpPr>
        <p:spPr>
          <a:xfrm>
            <a:off x="9233154" y="2532888"/>
            <a:ext cx="256032" cy="256032"/>
          </a:xfrm>
          <a:prstGeom prst="ellipse">
            <a:avLst/>
          </a:prstGeom>
          <a:solidFill>
            <a:srgbClr val="F4F1EA"/>
          </a:solidFill>
          <a:ln w="12700">
            <a:solidFill>
              <a:srgbClr val="F4F1EA"/>
            </a:solidFill>
            <a:prstDash val="solid"/>
          </a:ln>
        </p:spPr>
      </p:sp>
      <p:sp>
        <p:nvSpPr>
          <p:cNvPr id="61" name="Text 58"/>
          <p:cNvSpPr txBox="1"/>
          <p:nvPr/>
        </p:nvSpPr>
        <p:spPr>
          <a:xfrm>
            <a:off x="923315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9562338"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with shopping</a:t>
            </a:r>
            <a:endParaRPr lang="en-US" sz="1250" dirty="0"/>
          </a:p>
        </p:txBody>
      </p:sp>
      <p:sp>
        <p:nvSpPr>
          <p:cNvPr id="63" name="Shape 60"/>
          <p:cNvSpPr/>
          <p:nvPr/>
        </p:nvSpPr>
        <p:spPr>
          <a:xfrm>
            <a:off x="9233154" y="2990088"/>
            <a:ext cx="256032" cy="256032"/>
          </a:xfrm>
          <a:prstGeom prst="ellipse">
            <a:avLst/>
          </a:prstGeom>
          <a:solidFill>
            <a:srgbClr val="F4F1EA"/>
          </a:solidFill>
          <a:ln w="12700">
            <a:solidFill>
              <a:srgbClr val="F4F1EA"/>
            </a:solidFill>
            <a:prstDash val="solid"/>
          </a:ln>
        </p:spPr>
      </p:sp>
      <p:sp>
        <p:nvSpPr>
          <p:cNvPr id="64" name="Text 61"/>
          <p:cNvSpPr txBox="1"/>
          <p:nvPr/>
        </p:nvSpPr>
        <p:spPr>
          <a:xfrm>
            <a:off x="923315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9562338"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with her studies</a:t>
            </a:r>
            <a:endParaRPr lang="en-US" sz="1250" dirty="0"/>
          </a:p>
        </p:txBody>
      </p:sp>
      <p:sp>
        <p:nvSpPr>
          <p:cNvPr id="66" name="Shape 63"/>
          <p:cNvSpPr/>
          <p:nvPr/>
        </p:nvSpPr>
        <p:spPr>
          <a:xfrm>
            <a:off x="9233154" y="3447288"/>
            <a:ext cx="256032" cy="256032"/>
          </a:xfrm>
          <a:prstGeom prst="ellipse">
            <a:avLst/>
          </a:prstGeom>
          <a:solidFill>
            <a:srgbClr val="F4F1EA"/>
          </a:solidFill>
          <a:ln w="12700">
            <a:solidFill>
              <a:srgbClr val="F4F1EA"/>
            </a:solidFill>
            <a:prstDash val="solid"/>
          </a:ln>
        </p:spPr>
      </p:sp>
      <p:sp>
        <p:nvSpPr>
          <p:cNvPr id="67" name="Text 64"/>
          <p:cNvSpPr txBox="1"/>
          <p:nvPr/>
        </p:nvSpPr>
        <p:spPr>
          <a:xfrm>
            <a:off x="923315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9562338"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with sport</a:t>
            </a:r>
            <a:endParaRPr lang="en-US" sz="1250" dirty="0"/>
          </a:p>
        </p:txBody>
      </p:sp>
      <p:sp>
        <p:nvSpPr>
          <p:cNvPr id="69" name="Shape 66"/>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585216"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2" name="Text 69"/>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Do they always agree?</a:t>
            </a:r>
            <a:endParaRPr lang="en-US" sz="1250" dirty="0"/>
          </a:p>
        </p:txBody>
      </p:sp>
      <p:sp>
        <p:nvSpPr>
          <p:cNvPr id="73" name="Shape 70"/>
          <p:cNvSpPr/>
          <p:nvPr/>
        </p:nvSpPr>
        <p:spPr>
          <a:xfrm>
            <a:off x="640080"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5" name="Text 72"/>
          <p:cNvSpPr txBox="1"/>
          <p:nvPr/>
        </p:nvSpPr>
        <p:spPr>
          <a:xfrm>
            <a:off x="969264"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no — they differ in some opinions</a:t>
            </a:r>
            <a:endParaRPr lang="en-US" sz="1250" dirty="0"/>
          </a:p>
        </p:txBody>
      </p:sp>
      <p:sp>
        <p:nvSpPr>
          <p:cNvPr id="76" name="Shape 73"/>
          <p:cNvSpPr/>
          <p:nvPr/>
        </p:nvSpPr>
        <p:spPr>
          <a:xfrm>
            <a:off x="640080"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8" name="Text 75"/>
          <p:cNvSpPr txBox="1"/>
          <p:nvPr/>
        </p:nvSpPr>
        <p:spPr>
          <a:xfrm>
            <a:off x="969264"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yes, always</a:t>
            </a:r>
            <a:endParaRPr lang="en-US" sz="1250" dirty="0"/>
          </a:p>
        </p:txBody>
      </p:sp>
      <p:sp>
        <p:nvSpPr>
          <p:cNvPr id="79" name="Shape 76"/>
          <p:cNvSpPr/>
          <p:nvPr/>
        </p:nvSpPr>
        <p:spPr>
          <a:xfrm>
            <a:off x="640080"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1" name="Text 78"/>
          <p:cNvSpPr txBox="1"/>
          <p:nvPr/>
        </p:nvSpPr>
        <p:spPr>
          <a:xfrm>
            <a:off x="969264"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text does not say</a:t>
            </a:r>
            <a:endParaRPr lang="en-US" sz="1250" dirty="0"/>
          </a:p>
        </p:txBody>
      </p:sp>
      <p:sp>
        <p:nvSpPr>
          <p:cNvPr id="82" name="Shape 79"/>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3" name="Shape 80"/>
          <p:cNvSpPr/>
          <p:nvPr/>
        </p:nvSpPr>
        <p:spPr>
          <a:xfrm>
            <a:off x="3449574" y="4288536"/>
            <a:ext cx="310896" cy="310896"/>
          </a:xfrm>
          <a:prstGeom prst="ellipse">
            <a:avLst/>
          </a:prstGeom>
          <a:solidFill>
            <a:srgbClr val="1B3B6F"/>
          </a:solidFill>
          <a:ln w="12700">
            <a:solidFill>
              <a:srgbClr val="1B3B6F"/>
            </a:solidFill>
            <a:prstDash val="solid"/>
          </a:ln>
        </p:spPr>
      </p:sp>
      <p:sp>
        <p:nvSpPr>
          <p:cNvPr id="84" name="Text 81"/>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85" name="Text 82"/>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 they do about their differences?</a:t>
            </a:r>
            <a:endParaRPr lang="en-US" sz="1250" dirty="0"/>
          </a:p>
        </p:txBody>
      </p:sp>
      <p:sp>
        <p:nvSpPr>
          <p:cNvPr id="86" name="Shape 83"/>
          <p:cNvSpPr/>
          <p:nvPr/>
        </p:nvSpPr>
        <p:spPr>
          <a:xfrm>
            <a:off x="3504438" y="4873752"/>
            <a:ext cx="256032" cy="256032"/>
          </a:xfrm>
          <a:prstGeom prst="ellipse">
            <a:avLst/>
          </a:prstGeom>
          <a:solidFill>
            <a:srgbClr val="F4F1EA"/>
          </a:solidFill>
          <a:ln w="12700">
            <a:solidFill>
              <a:srgbClr val="F4F1EA"/>
            </a:solidFill>
            <a:prstDash val="solid"/>
          </a:ln>
        </p:spPr>
      </p:sp>
      <p:sp>
        <p:nvSpPr>
          <p:cNvPr id="87" name="Text 84"/>
          <p:cNvSpPr txBox="1"/>
          <p:nvPr/>
        </p:nvSpPr>
        <p:spPr>
          <a:xfrm>
            <a:off x="350443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8" name="Text 85"/>
          <p:cNvSpPr txBox="1"/>
          <p:nvPr/>
        </p:nvSpPr>
        <p:spPr>
          <a:xfrm>
            <a:off x="3833622"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argue every day</a:t>
            </a:r>
            <a:endParaRPr lang="en-US" sz="1250" dirty="0"/>
          </a:p>
        </p:txBody>
      </p:sp>
      <p:sp>
        <p:nvSpPr>
          <p:cNvPr id="89" name="Shape 86"/>
          <p:cNvSpPr/>
          <p:nvPr/>
        </p:nvSpPr>
        <p:spPr>
          <a:xfrm>
            <a:off x="3504438" y="5330952"/>
            <a:ext cx="256032" cy="256032"/>
          </a:xfrm>
          <a:prstGeom prst="ellipse">
            <a:avLst/>
          </a:prstGeom>
          <a:solidFill>
            <a:srgbClr val="F4F1EA"/>
          </a:solidFill>
          <a:ln w="12700">
            <a:solidFill>
              <a:srgbClr val="F4F1EA"/>
            </a:solidFill>
            <a:prstDash val="solid"/>
          </a:ln>
        </p:spPr>
      </p:sp>
      <p:sp>
        <p:nvSpPr>
          <p:cNvPr id="90" name="Text 87"/>
          <p:cNvSpPr txBox="1"/>
          <p:nvPr/>
        </p:nvSpPr>
        <p:spPr>
          <a:xfrm>
            <a:off x="350443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91" name="Text 88"/>
          <p:cNvSpPr txBox="1"/>
          <p:nvPr/>
        </p:nvSpPr>
        <p:spPr>
          <a:xfrm>
            <a:off x="3833622"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stop talking</a:t>
            </a:r>
            <a:endParaRPr lang="en-US" sz="1250" dirty="0"/>
          </a:p>
        </p:txBody>
      </p:sp>
      <p:sp>
        <p:nvSpPr>
          <p:cNvPr id="92" name="Shape 89"/>
          <p:cNvSpPr/>
          <p:nvPr/>
        </p:nvSpPr>
        <p:spPr>
          <a:xfrm>
            <a:off x="3504438" y="5788152"/>
            <a:ext cx="256032" cy="256032"/>
          </a:xfrm>
          <a:prstGeom prst="ellipse">
            <a:avLst/>
          </a:prstGeom>
          <a:solidFill>
            <a:srgbClr val="F4F1EA"/>
          </a:solidFill>
          <a:ln w="12700">
            <a:solidFill>
              <a:srgbClr val="F4F1EA"/>
            </a:solidFill>
            <a:prstDash val="solid"/>
          </a:ln>
        </p:spPr>
      </p:sp>
      <p:sp>
        <p:nvSpPr>
          <p:cNvPr id="93" name="Text 90"/>
          <p:cNvSpPr txBox="1"/>
          <p:nvPr/>
        </p:nvSpPr>
        <p:spPr>
          <a:xfrm>
            <a:off x="350443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4" name="Text 91"/>
          <p:cNvSpPr txBox="1"/>
          <p:nvPr/>
        </p:nvSpPr>
        <p:spPr>
          <a:xfrm>
            <a:off x="3833622"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listen to each other and respect the difference</a:t>
            </a:r>
            <a:endParaRPr lang="en-US" sz="1250" dirty="0"/>
          </a:p>
        </p:txBody>
      </p:sp>
      <p:sp>
        <p:nvSpPr>
          <p:cNvPr id="95" name="Shape 92"/>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6" name="Text 93"/>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97" name="Text 94"/>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98" name="Text 9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41 / 46</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TB-L02 · Family and Friends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TB-L02</a:t>
            </a:r>
            <a:endParaRPr lang="en-US" sz="850" dirty="0"/>
          </a:p>
        </p:txBody>
      </p:sp>
      <p:sp>
        <p:nvSpPr>
          <p:cNvPr id="17" name="Shape 14"/>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is Hind?</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Layla’s sister</a:t>
            </a:r>
            <a:endParaRPr lang="en-US" sz="1250" dirty="0"/>
          </a:p>
        </p:txBody>
      </p:sp>
      <p:sp>
        <p:nvSpPr>
          <p:cNvPr id="24" name="Shape 21"/>
          <p:cNvSpPr/>
          <p:nvPr/>
        </p:nvSpPr>
        <p:spPr>
          <a:xfrm>
            <a:off x="548640" y="2825496"/>
            <a:ext cx="2498598" cy="347472"/>
          </a:xfrm>
          <a:prstGeom prst="roundRect">
            <a:avLst>
              <a:gd name="adj" fmla="val 15789"/>
            </a:avLst>
          </a:prstGeom>
          <a:solidFill>
            <a:srgbClr val="E6F4EC"/>
          </a:solidFill>
          <a:ln w="9525">
            <a:solidFill>
              <a:srgbClr val="2E8B57"/>
            </a:solidFill>
            <a:prstDash val="solid"/>
          </a:ln>
        </p:spPr>
      </p:sp>
      <p:sp>
        <p:nvSpPr>
          <p:cNvPr id="25"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7" name="Text 24"/>
          <p:cNvSpPr txBox="1"/>
          <p:nvPr/>
        </p:nvSpPr>
        <p:spPr>
          <a:xfrm>
            <a:off x="969264" y="280416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Layla’s friend</a:t>
            </a:r>
            <a:endParaRPr lang="en-US" sz="1250" dirty="0"/>
          </a:p>
        </p:txBody>
      </p:sp>
      <p:sp>
        <p:nvSpPr>
          <p:cNvPr id="28"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30" name="Text 27"/>
          <p:cNvSpPr txBox="1"/>
          <p:nvPr/>
        </p:nvSpPr>
        <p:spPr>
          <a:xfrm>
            <a:off x="969264"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Layla’s teacher</a:t>
            </a:r>
            <a:endParaRPr lang="en-US" sz="1250" dirty="0"/>
          </a:p>
        </p:txBody>
      </p:sp>
      <p:sp>
        <p:nvSpPr>
          <p:cNvPr id="31" name="Text 28"/>
          <p:cNvSpPr txBox="1"/>
          <p:nvPr/>
        </p:nvSpPr>
        <p:spPr>
          <a:xfrm>
            <a:off x="585216"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صَدِيقَتِهَا هِنْدٍ.</a:t>
            </a:r>
            <a:endParaRPr lang="ar-SA" sz="1350" dirty="0"/>
          </a:p>
        </p:txBody>
      </p:sp>
      <p:sp>
        <p:nvSpPr>
          <p:cNvPr id="32" name="Shape 29"/>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3449574"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5" name="Text 32"/>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is their relationship strong?</a:t>
            </a:r>
            <a:endParaRPr lang="en-US" sz="1250" dirty="0"/>
          </a:p>
        </p:txBody>
      </p:sp>
      <p:sp>
        <p:nvSpPr>
          <p:cNvPr id="36" name="Shape 33"/>
          <p:cNvSpPr/>
          <p:nvPr/>
        </p:nvSpPr>
        <p:spPr>
          <a:xfrm>
            <a:off x="3504438"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350443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3833622" y="2432304"/>
            <a:ext cx="2023110" cy="371856"/>
          </a:xfrm>
          <a:prstGeom prst="rect">
            <a:avLst/>
          </a:prstGeom>
          <a:noFill/>
          <a:ln/>
        </p:spPr>
        <p:txBody>
          <a:bodyPr wrap="square" lIns="0" tIns="0" rIns="0" bIns="0" rtlCol="0" anchor="ctr"/>
          <a:lstStyle/>
          <a:p>
            <a:pPr algn="l" indent="0" marL="0">
              <a:buNone/>
            </a:pPr>
            <a:r>
              <a:rPr lang="en-US" sz="1200" dirty="0">
                <a:solidFill>
                  <a:srgbClr val="9AA1AB"/>
                </a:solidFill>
                <a:latin typeface="Calibri" pitchFamily="34" charset="0"/>
                <a:cs typeface="Amiri" pitchFamily="2" charset="-78"/>
              </a:rPr>
              <a:t>they live in the same house</a:t>
            </a:r>
            <a:endParaRPr lang="en-US" sz="1200" dirty="0"/>
          </a:p>
        </p:txBody>
      </p:sp>
      <p:sp>
        <p:nvSpPr>
          <p:cNvPr id="39" name="Shape 36"/>
          <p:cNvSpPr/>
          <p:nvPr/>
        </p:nvSpPr>
        <p:spPr>
          <a:xfrm>
            <a:off x="3504438"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350443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8"/>
          <p:cNvSpPr txBox="1"/>
          <p:nvPr/>
        </p:nvSpPr>
        <p:spPr>
          <a:xfrm>
            <a:off x="3833622"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they never disagree</a:t>
            </a:r>
            <a:endParaRPr lang="en-US" sz="1250" dirty="0"/>
          </a:p>
        </p:txBody>
      </p:sp>
      <p:sp>
        <p:nvSpPr>
          <p:cNvPr id="42" name="Shape 39"/>
          <p:cNvSpPr/>
          <p:nvPr/>
        </p:nvSpPr>
        <p:spPr>
          <a:xfrm>
            <a:off x="3412998" y="3197352"/>
            <a:ext cx="2498598"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3504438"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350443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5" name="Text 42"/>
          <p:cNvSpPr txBox="1"/>
          <p:nvPr/>
        </p:nvSpPr>
        <p:spPr>
          <a:xfrm>
            <a:off x="3833622" y="3176016"/>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they trust each other and spend time together</a:t>
            </a:r>
            <a:endParaRPr lang="en-US" sz="1150" dirty="0"/>
          </a:p>
        </p:txBody>
      </p:sp>
      <p:sp>
        <p:nvSpPr>
          <p:cNvPr id="46" name="Text 43"/>
          <p:cNvSpPr txBox="1"/>
          <p:nvPr/>
        </p:nvSpPr>
        <p:spPr>
          <a:xfrm>
            <a:off x="3449574"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تَثِقَانِ بِبَعْضِهِمَا وَتَقْضِيَانِ الوَقْتَ مَعًا.</a:t>
            </a:r>
            <a:endParaRPr lang="ar-SA" sz="1350" dirty="0"/>
          </a:p>
        </p:txBody>
      </p:sp>
      <p:sp>
        <p:nvSpPr>
          <p:cNvPr id="47" name="Shape 44"/>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6313932"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does Hind help Layla?</a:t>
            </a:r>
            <a:endParaRPr lang="en-US" sz="1250" dirty="0"/>
          </a:p>
        </p:txBody>
      </p:sp>
      <p:sp>
        <p:nvSpPr>
          <p:cNvPr id="51" name="Shape 48"/>
          <p:cNvSpPr/>
          <p:nvPr/>
        </p:nvSpPr>
        <p:spPr>
          <a:xfrm>
            <a:off x="6277356" y="2453640"/>
            <a:ext cx="2498598"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6368796" y="2490216"/>
            <a:ext cx="256032" cy="256032"/>
          </a:xfrm>
          <a:prstGeom prst="ellipse">
            <a:avLst/>
          </a:prstGeom>
          <a:solidFill>
            <a:srgbClr val="2E8B57"/>
          </a:solidFill>
          <a:ln w="12700">
            <a:solidFill>
              <a:srgbClr val="2E8B57"/>
            </a:solidFill>
            <a:prstDash val="solid"/>
          </a:ln>
        </p:spPr>
      </p:sp>
      <p:sp>
        <p:nvSpPr>
          <p:cNvPr id="53" name="Text 50"/>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4" name="Text 51"/>
          <p:cNvSpPr txBox="1"/>
          <p:nvPr/>
        </p:nvSpPr>
        <p:spPr>
          <a:xfrm>
            <a:off x="6697980" y="2432304"/>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she supports her when she is worried</a:t>
            </a:r>
            <a:endParaRPr lang="en-US" sz="1150" dirty="0"/>
          </a:p>
        </p:txBody>
      </p:sp>
      <p:sp>
        <p:nvSpPr>
          <p:cNvPr id="55" name="Shape 52"/>
          <p:cNvSpPr/>
          <p:nvPr/>
        </p:nvSpPr>
        <p:spPr>
          <a:xfrm>
            <a:off x="6368796"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7" name="Text 54"/>
          <p:cNvSpPr txBox="1"/>
          <p:nvPr/>
        </p:nvSpPr>
        <p:spPr>
          <a:xfrm>
            <a:off x="6697980"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she cooks for her</a:t>
            </a:r>
            <a:endParaRPr lang="en-US" sz="1250" dirty="0"/>
          </a:p>
        </p:txBody>
      </p:sp>
      <p:sp>
        <p:nvSpPr>
          <p:cNvPr id="58" name="Shape 55"/>
          <p:cNvSpPr/>
          <p:nvPr/>
        </p:nvSpPr>
        <p:spPr>
          <a:xfrm>
            <a:off x="6368796"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6697980"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she drives her to school</a:t>
            </a:r>
            <a:endParaRPr lang="en-US" sz="1250" dirty="0"/>
          </a:p>
        </p:txBody>
      </p:sp>
      <p:sp>
        <p:nvSpPr>
          <p:cNvPr id="61" name="Text 58"/>
          <p:cNvSpPr txBox="1"/>
          <p:nvPr/>
        </p:nvSpPr>
        <p:spPr>
          <a:xfrm>
            <a:off x="6313932"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تَدْعَمُ لَيْلَى عِنْدَمَا تَكُونُ قَلِقَةً.</a:t>
            </a:r>
            <a:endParaRPr lang="ar-SA" sz="1350" dirty="0"/>
          </a:p>
        </p:txBody>
      </p:sp>
      <p:sp>
        <p:nvSpPr>
          <p:cNvPr id="62" name="Shape 59"/>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9178290" y="1947672"/>
            <a:ext cx="310896" cy="310896"/>
          </a:xfrm>
          <a:prstGeom prst="ellipse">
            <a:avLst/>
          </a:prstGeom>
          <a:solidFill>
            <a:srgbClr val="1B3B6F"/>
          </a:solidFill>
          <a:ln w="12700">
            <a:solidFill>
              <a:srgbClr val="1B3B6F"/>
            </a:solidFill>
            <a:prstDash val="solid"/>
          </a:ln>
        </p:spPr>
      </p:sp>
      <p:sp>
        <p:nvSpPr>
          <p:cNvPr id="64" name="Text 61"/>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5" name="Text 62"/>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does Layla help Hind?</a:t>
            </a:r>
            <a:endParaRPr lang="en-US" sz="1250" dirty="0"/>
          </a:p>
        </p:txBody>
      </p:sp>
      <p:sp>
        <p:nvSpPr>
          <p:cNvPr id="66" name="Shape 63"/>
          <p:cNvSpPr/>
          <p:nvPr/>
        </p:nvSpPr>
        <p:spPr>
          <a:xfrm>
            <a:off x="9233154" y="2490216"/>
            <a:ext cx="256032" cy="256032"/>
          </a:xfrm>
          <a:prstGeom prst="ellipse">
            <a:avLst/>
          </a:prstGeom>
          <a:solidFill>
            <a:srgbClr val="C9CED6"/>
          </a:solidFill>
          <a:ln w="12700">
            <a:solidFill>
              <a:srgbClr val="C9CED6"/>
            </a:solidFill>
            <a:prstDash val="solid"/>
          </a:ln>
        </p:spPr>
      </p:sp>
      <p:sp>
        <p:nvSpPr>
          <p:cNvPr id="67" name="Text 64"/>
          <p:cNvSpPr txBox="1"/>
          <p:nvPr/>
        </p:nvSpPr>
        <p:spPr>
          <a:xfrm>
            <a:off x="923315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5"/>
          <p:cNvSpPr txBox="1"/>
          <p:nvPr/>
        </p:nvSpPr>
        <p:spPr>
          <a:xfrm>
            <a:off x="9562338"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with shopping</a:t>
            </a:r>
            <a:endParaRPr lang="en-US" sz="1250" dirty="0"/>
          </a:p>
        </p:txBody>
      </p:sp>
      <p:sp>
        <p:nvSpPr>
          <p:cNvPr id="69" name="Shape 66"/>
          <p:cNvSpPr/>
          <p:nvPr/>
        </p:nvSpPr>
        <p:spPr>
          <a:xfrm>
            <a:off x="9141714" y="2825496"/>
            <a:ext cx="2498598" cy="347472"/>
          </a:xfrm>
          <a:prstGeom prst="roundRect">
            <a:avLst>
              <a:gd name="adj" fmla="val 15789"/>
            </a:avLst>
          </a:prstGeom>
          <a:solidFill>
            <a:srgbClr val="E6F4EC"/>
          </a:solidFill>
          <a:ln w="9525">
            <a:solidFill>
              <a:srgbClr val="2E8B57"/>
            </a:solidFill>
            <a:prstDash val="solid"/>
          </a:ln>
        </p:spPr>
      </p:sp>
      <p:sp>
        <p:nvSpPr>
          <p:cNvPr id="70" name="Shape 67"/>
          <p:cNvSpPr/>
          <p:nvPr/>
        </p:nvSpPr>
        <p:spPr>
          <a:xfrm>
            <a:off x="9233154" y="2862072"/>
            <a:ext cx="256032" cy="256032"/>
          </a:xfrm>
          <a:prstGeom prst="ellipse">
            <a:avLst/>
          </a:prstGeom>
          <a:solidFill>
            <a:srgbClr val="2E8B57"/>
          </a:solidFill>
          <a:ln w="12700">
            <a:solidFill>
              <a:srgbClr val="2E8B57"/>
            </a:solidFill>
            <a:prstDash val="solid"/>
          </a:ln>
        </p:spPr>
      </p:sp>
      <p:sp>
        <p:nvSpPr>
          <p:cNvPr id="71" name="Text 68"/>
          <p:cNvSpPr txBox="1"/>
          <p:nvPr/>
        </p:nvSpPr>
        <p:spPr>
          <a:xfrm>
            <a:off x="9233154"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2" name="Text 69"/>
          <p:cNvSpPr txBox="1"/>
          <p:nvPr/>
        </p:nvSpPr>
        <p:spPr>
          <a:xfrm>
            <a:off x="9562338" y="280416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with her studies</a:t>
            </a:r>
            <a:endParaRPr lang="en-US" sz="1250" dirty="0"/>
          </a:p>
        </p:txBody>
      </p:sp>
      <p:sp>
        <p:nvSpPr>
          <p:cNvPr id="73" name="Shape 70"/>
          <p:cNvSpPr/>
          <p:nvPr/>
        </p:nvSpPr>
        <p:spPr>
          <a:xfrm>
            <a:off x="9233154" y="3233928"/>
            <a:ext cx="256032" cy="256032"/>
          </a:xfrm>
          <a:prstGeom prst="ellipse">
            <a:avLst/>
          </a:prstGeom>
          <a:solidFill>
            <a:srgbClr val="C9CED6"/>
          </a:solidFill>
          <a:ln w="12700">
            <a:solidFill>
              <a:srgbClr val="C9CED6"/>
            </a:solidFill>
            <a:prstDash val="solid"/>
          </a:ln>
        </p:spPr>
      </p:sp>
      <p:sp>
        <p:nvSpPr>
          <p:cNvPr id="74" name="Text 71"/>
          <p:cNvSpPr txBox="1"/>
          <p:nvPr/>
        </p:nvSpPr>
        <p:spPr>
          <a:xfrm>
            <a:off x="923315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5" name="Text 72"/>
          <p:cNvSpPr txBox="1"/>
          <p:nvPr/>
        </p:nvSpPr>
        <p:spPr>
          <a:xfrm>
            <a:off x="9562338"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with sport</a:t>
            </a:r>
            <a:endParaRPr lang="en-US" sz="1250" dirty="0"/>
          </a:p>
        </p:txBody>
      </p:sp>
      <p:sp>
        <p:nvSpPr>
          <p:cNvPr id="76" name="Text 73"/>
          <p:cNvSpPr txBox="1"/>
          <p:nvPr/>
        </p:nvSpPr>
        <p:spPr>
          <a:xfrm>
            <a:off x="9178290"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لَيْلَى تُسَاعِدُهَا فِي الدِّرَاسَةِ.</a:t>
            </a:r>
            <a:endParaRPr lang="ar-SA" sz="1350" dirty="0"/>
          </a:p>
        </p:txBody>
      </p:sp>
      <p:sp>
        <p:nvSpPr>
          <p:cNvPr id="77" name="Shape 74"/>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585216"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80" name="Text 77"/>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Do they always agree?</a:t>
            </a:r>
            <a:endParaRPr lang="en-US" sz="1250" dirty="0"/>
          </a:p>
        </p:txBody>
      </p:sp>
      <p:sp>
        <p:nvSpPr>
          <p:cNvPr id="81" name="Shape 78"/>
          <p:cNvSpPr/>
          <p:nvPr/>
        </p:nvSpPr>
        <p:spPr>
          <a:xfrm>
            <a:off x="548640" y="4794504"/>
            <a:ext cx="2498598"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640080"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4" name="Text 81"/>
          <p:cNvSpPr txBox="1"/>
          <p:nvPr/>
        </p:nvSpPr>
        <p:spPr>
          <a:xfrm>
            <a:off x="969264" y="4773168"/>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no — they differ in some opinions</a:t>
            </a:r>
            <a:endParaRPr lang="en-US" sz="1150" dirty="0"/>
          </a:p>
        </p:txBody>
      </p:sp>
      <p:sp>
        <p:nvSpPr>
          <p:cNvPr id="85" name="Shape 82"/>
          <p:cNvSpPr/>
          <p:nvPr/>
        </p:nvSpPr>
        <p:spPr>
          <a:xfrm>
            <a:off x="640080"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7" name="Text 84"/>
          <p:cNvSpPr txBox="1"/>
          <p:nvPr/>
        </p:nvSpPr>
        <p:spPr>
          <a:xfrm>
            <a:off x="969264"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yes, always</a:t>
            </a:r>
            <a:endParaRPr lang="en-US" sz="1250" dirty="0"/>
          </a:p>
        </p:txBody>
      </p:sp>
      <p:sp>
        <p:nvSpPr>
          <p:cNvPr id="88" name="Shape 85"/>
          <p:cNvSpPr/>
          <p:nvPr/>
        </p:nvSpPr>
        <p:spPr>
          <a:xfrm>
            <a:off x="640080"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0" name="Text 87"/>
          <p:cNvSpPr txBox="1"/>
          <p:nvPr/>
        </p:nvSpPr>
        <p:spPr>
          <a:xfrm>
            <a:off x="969264"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text does not say</a:t>
            </a:r>
            <a:endParaRPr lang="en-US" sz="1250" dirty="0"/>
          </a:p>
        </p:txBody>
      </p:sp>
      <p:sp>
        <p:nvSpPr>
          <p:cNvPr id="91" name="Text 88"/>
          <p:cNvSpPr txBox="1"/>
          <p:nvPr/>
        </p:nvSpPr>
        <p:spPr>
          <a:xfrm>
            <a:off x="585216"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تَخْتَلِفَانِ فِي بَعْضِ الآرَاءِ.</a:t>
            </a:r>
            <a:endParaRPr lang="ar-SA" sz="1350" dirty="0"/>
          </a:p>
        </p:txBody>
      </p:sp>
      <p:sp>
        <p:nvSpPr>
          <p:cNvPr id="92" name="Shape 89"/>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3" name="Shape 90"/>
          <p:cNvSpPr/>
          <p:nvPr/>
        </p:nvSpPr>
        <p:spPr>
          <a:xfrm>
            <a:off x="3449574" y="4288536"/>
            <a:ext cx="310896" cy="310896"/>
          </a:xfrm>
          <a:prstGeom prst="ellipse">
            <a:avLst/>
          </a:prstGeom>
          <a:solidFill>
            <a:srgbClr val="1B3B6F"/>
          </a:solidFill>
          <a:ln w="12700">
            <a:solidFill>
              <a:srgbClr val="1B3B6F"/>
            </a:solidFill>
            <a:prstDash val="solid"/>
          </a:ln>
        </p:spPr>
      </p:sp>
      <p:sp>
        <p:nvSpPr>
          <p:cNvPr id="94" name="Text 91"/>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95" name="Text 92"/>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 they do about their differences?</a:t>
            </a:r>
            <a:endParaRPr lang="en-US" sz="1250" dirty="0"/>
          </a:p>
        </p:txBody>
      </p:sp>
      <p:sp>
        <p:nvSpPr>
          <p:cNvPr id="96" name="Shape 93"/>
          <p:cNvSpPr/>
          <p:nvPr/>
        </p:nvSpPr>
        <p:spPr>
          <a:xfrm>
            <a:off x="3504438" y="4831080"/>
            <a:ext cx="256032" cy="256032"/>
          </a:xfrm>
          <a:prstGeom prst="ellipse">
            <a:avLst/>
          </a:prstGeom>
          <a:solidFill>
            <a:srgbClr val="C9CED6"/>
          </a:solidFill>
          <a:ln w="12700">
            <a:solidFill>
              <a:srgbClr val="C9CED6"/>
            </a:solidFill>
            <a:prstDash val="solid"/>
          </a:ln>
        </p:spPr>
      </p:sp>
      <p:sp>
        <p:nvSpPr>
          <p:cNvPr id="97" name="Text 94"/>
          <p:cNvSpPr txBox="1"/>
          <p:nvPr/>
        </p:nvSpPr>
        <p:spPr>
          <a:xfrm>
            <a:off x="350443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98" name="Text 95"/>
          <p:cNvSpPr txBox="1"/>
          <p:nvPr/>
        </p:nvSpPr>
        <p:spPr>
          <a:xfrm>
            <a:off x="3833622" y="4773168"/>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argue every day</a:t>
            </a:r>
            <a:endParaRPr lang="en-US" sz="1250" dirty="0"/>
          </a:p>
        </p:txBody>
      </p:sp>
      <p:sp>
        <p:nvSpPr>
          <p:cNvPr id="99" name="Shape 96"/>
          <p:cNvSpPr/>
          <p:nvPr/>
        </p:nvSpPr>
        <p:spPr>
          <a:xfrm>
            <a:off x="3504438" y="5202936"/>
            <a:ext cx="256032" cy="256032"/>
          </a:xfrm>
          <a:prstGeom prst="ellipse">
            <a:avLst/>
          </a:prstGeom>
          <a:solidFill>
            <a:srgbClr val="C9CED6"/>
          </a:solidFill>
          <a:ln w="12700">
            <a:solidFill>
              <a:srgbClr val="C9CED6"/>
            </a:solidFill>
            <a:prstDash val="solid"/>
          </a:ln>
        </p:spPr>
      </p:sp>
      <p:sp>
        <p:nvSpPr>
          <p:cNvPr id="100" name="Text 97"/>
          <p:cNvSpPr txBox="1"/>
          <p:nvPr/>
        </p:nvSpPr>
        <p:spPr>
          <a:xfrm>
            <a:off x="3504438"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101" name="Text 98"/>
          <p:cNvSpPr txBox="1"/>
          <p:nvPr/>
        </p:nvSpPr>
        <p:spPr>
          <a:xfrm>
            <a:off x="3833622"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stop talking</a:t>
            </a:r>
            <a:endParaRPr lang="en-US" sz="1250" dirty="0"/>
          </a:p>
        </p:txBody>
      </p:sp>
      <p:sp>
        <p:nvSpPr>
          <p:cNvPr id="102" name="Shape 99"/>
          <p:cNvSpPr/>
          <p:nvPr/>
        </p:nvSpPr>
        <p:spPr>
          <a:xfrm>
            <a:off x="3412998" y="5538216"/>
            <a:ext cx="2498598" cy="347472"/>
          </a:xfrm>
          <a:prstGeom prst="roundRect">
            <a:avLst>
              <a:gd name="adj" fmla="val 15789"/>
            </a:avLst>
          </a:prstGeom>
          <a:solidFill>
            <a:srgbClr val="E6F4EC"/>
          </a:solidFill>
          <a:ln w="9525">
            <a:solidFill>
              <a:srgbClr val="2E8B57"/>
            </a:solidFill>
            <a:prstDash val="solid"/>
          </a:ln>
        </p:spPr>
      </p:sp>
      <p:sp>
        <p:nvSpPr>
          <p:cNvPr id="103" name="Shape 100"/>
          <p:cNvSpPr/>
          <p:nvPr/>
        </p:nvSpPr>
        <p:spPr>
          <a:xfrm>
            <a:off x="3504438" y="5574792"/>
            <a:ext cx="256032" cy="256032"/>
          </a:xfrm>
          <a:prstGeom prst="ellipse">
            <a:avLst/>
          </a:prstGeom>
          <a:solidFill>
            <a:srgbClr val="2E8B57"/>
          </a:solidFill>
          <a:ln w="12700">
            <a:solidFill>
              <a:srgbClr val="2E8B57"/>
            </a:solidFill>
            <a:prstDash val="solid"/>
          </a:ln>
        </p:spPr>
      </p:sp>
      <p:sp>
        <p:nvSpPr>
          <p:cNvPr id="104" name="Text 101"/>
          <p:cNvSpPr txBox="1"/>
          <p:nvPr/>
        </p:nvSpPr>
        <p:spPr>
          <a:xfrm>
            <a:off x="3504438"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105" name="Text 102"/>
          <p:cNvSpPr txBox="1"/>
          <p:nvPr/>
        </p:nvSpPr>
        <p:spPr>
          <a:xfrm>
            <a:off x="3833622" y="5516880"/>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listen to each other and respect the difference</a:t>
            </a:r>
            <a:endParaRPr lang="en-US" sz="1150" dirty="0"/>
          </a:p>
        </p:txBody>
      </p:sp>
      <p:sp>
        <p:nvSpPr>
          <p:cNvPr id="106" name="Text 103"/>
          <p:cNvSpPr txBox="1"/>
          <p:nvPr/>
        </p:nvSpPr>
        <p:spPr>
          <a:xfrm>
            <a:off x="3449574"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تَسْتَمِعَانِ … وَتَحْتَرِمَانِ الاِخْتِلَافَ.</a:t>
            </a:r>
            <a:endParaRPr lang="ar-SA" sz="1350" dirty="0"/>
          </a:p>
        </p:txBody>
      </p:sp>
      <p:sp>
        <p:nvSpPr>
          <p:cNvPr id="107" name="Shape 104"/>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08" name="Text 105"/>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109" name="Text 106"/>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110" name="Text 10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42 / 46</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TB-L02 · Family and Friends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WEBSITE MISSION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relationships Arabic challenge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المُهِمَّةُ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TB-L02</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“I get on with my sister.”</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أَتَفَاهَمُ أُخْتِي.</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أَتَفَاهَمُ مَعَ أُخْتِي.</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يَتَفَاهَمُ مَعَ أُخْتِي.</a:t>
            </a:r>
            <a:endParaRPr lang="ar-SA" sz="2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يَدْعَمُنِي</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 supports me</a:t>
            </a:r>
            <a:endParaRPr lang="en-US" sz="12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 support him</a:t>
            </a:r>
            <a:endParaRPr lang="en-US" sz="12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she supports us</a:t>
            </a:r>
            <a:endParaRPr lang="en-US" sz="12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“I respect her.”</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أَحْتَرِمُهُ.</a:t>
            </a:r>
            <a:endParaRPr lang="ar-SA" sz="20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تَحْتَرِمُنِي.</a:t>
            </a:r>
            <a:endParaRPr lang="ar-SA" sz="20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أَحْتَرِمُهَا.</a:t>
            </a:r>
            <a:endParaRPr lang="ar-SA" sz="20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950976"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60" name="Text 57"/>
          <p:cNvSpPr txBox="1"/>
          <p:nvPr/>
        </p:nvSpPr>
        <p:spPr>
          <a:xfrm>
            <a:off x="2406701" y="4224528"/>
            <a:ext cx="1577035" cy="475488"/>
          </a:xfrm>
          <a:prstGeom prst="rect">
            <a:avLst/>
          </a:prstGeom>
          <a:noFill/>
          <a:ln/>
        </p:spPr>
        <p:txBody>
          <a:bodyPr wrap="square" lIns="0" tIns="0" rIns="0" bIns="0" rtlCol="0" anchor="ctr"/>
          <a:lstStyle/>
          <a:p>
            <a:pPr rtl="1" algn="r" indent="0" marL="0">
              <a:buNone/>
            </a:pPr>
            <a:r>
              <a:rPr lang="ar-SA" altLang="en-US" sz="1150" b="1" dirty="0">
                <a:solidFill>
                  <a:srgbClr val="1F2A37"/>
                </a:solidFill>
                <a:latin typeface="Amiri" pitchFamily="2" charset="-78"/>
                <a:ea typeface="Amiri" pitchFamily="2" charset="-78"/>
                <a:cs typeface="Amiri" pitchFamily="2" charset="-78"/>
              </a:rPr>
              <a:t>نَتَفَاهَمُ ___ نَسْتَمِعُ إِلَى بَعْضِنَا.</a:t>
            </a:r>
            <a:endParaRPr lang="ar-SA" sz="1150" dirty="0"/>
          </a:p>
        </p:txBody>
      </p:sp>
      <p:sp>
        <p:nvSpPr>
          <p:cNvPr id="61" name="Shape 58"/>
          <p:cNvSpPr/>
          <p:nvPr/>
        </p:nvSpPr>
        <p:spPr>
          <a:xfrm>
            <a:off x="640080" y="48737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3" name="Text 60"/>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لِأَنَّهُ</a:t>
            </a:r>
            <a:endParaRPr lang="ar-SA" sz="2050" dirty="0"/>
          </a:p>
        </p:txBody>
      </p:sp>
      <p:sp>
        <p:nvSpPr>
          <p:cNvPr id="64" name="Shape 61"/>
          <p:cNvSpPr/>
          <p:nvPr/>
        </p:nvSpPr>
        <p:spPr>
          <a:xfrm>
            <a:off x="640080" y="53309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6" name="Text 63"/>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وَلٰكِنَّهَا</a:t>
            </a:r>
            <a:endParaRPr lang="ar-SA" sz="2050" dirty="0"/>
          </a:p>
        </p:txBody>
      </p:sp>
      <p:sp>
        <p:nvSpPr>
          <p:cNvPr id="67" name="Shape 64"/>
          <p:cNvSpPr/>
          <p:nvPr/>
        </p:nvSpPr>
        <p:spPr>
          <a:xfrm>
            <a:off x="640080" y="5788152"/>
            <a:ext cx="256032" cy="256032"/>
          </a:xfrm>
          <a:prstGeom prst="ellipse">
            <a:avLst/>
          </a:prstGeom>
          <a:solidFill>
            <a:srgbClr val="F4F1EA"/>
          </a:solidFill>
          <a:ln w="12700">
            <a:solidFill>
              <a:srgbClr val="F4F1EA"/>
            </a:solidFill>
            <a:prstDash val="solid"/>
          </a:ln>
        </p:spPr>
      </p:sp>
      <p:sp>
        <p:nvSpPr>
          <p:cNvPr id="68" name="Text 65"/>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9" name="Text 66"/>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لِأَنَّنَا</a:t>
            </a:r>
            <a:endParaRPr lang="ar-SA" sz="2050" dirty="0"/>
          </a:p>
        </p:txBody>
      </p:sp>
      <p:sp>
        <p:nvSpPr>
          <p:cNvPr id="70" name="Shape 67"/>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1" name="Shape 68"/>
          <p:cNvSpPr/>
          <p:nvPr/>
        </p:nvSpPr>
        <p:spPr>
          <a:xfrm>
            <a:off x="4404360" y="4288536"/>
            <a:ext cx="310896" cy="310896"/>
          </a:xfrm>
          <a:prstGeom prst="ellipse">
            <a:avLst/>
          </a:prstGeom>
          <a:solidFill>
            <a:srgbClr val="1B3B6F"/>
          </a:solidFill>
          <a:ln w="12700">
            <a:solidFill>
              <a:srgbClr val="1B3B6F"/>
            </a:solidFill>
            <a:prstDash val="solid"/>
          </a:ln>
        </p:spPr>
      </p:sp>
      <p:sp>
        <p:nvSpPr>
          <p:cNvPr id="72" name="Text 69"/>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3" name="Text 70"/>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means “we argue”?</a:t>
            </a:r>
            <a:endParaRPr lang="en-US" sz="1250" dirty="0"/>
          </a:p>
        </p:txBody>
      </p:sp>
      <p:sp>
        <p:nvSpPr>
          <p:cNvPr id="74" name="Shape 71"/>
          <p:cNvSpPr/>
          <p:nvPr/>
        </p:nvSpPr>
        <p:spPr>
          <a:xfrm>
            <a:off x="4459224" y="48737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6" name="Text 73"/>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نَتَشَاجَرُ</a:t>
            </a:r>
            <a:endParaRPr lang="ar-SA" sz="2050" dirty="0"/>
          </a:p>
        </p:txBody>
      </p:sp>
      <p:sp>
        <p:nvSpPr>
          <p:cNvPr id="77" name="Shape 74"/>
          <p:cNvSpPr/>
          <p:nvPr/>
        </p:nvSpPr>
        <p:spPr>
          <a:xfrm>
            <a:off x="4459224" y="53309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9" name="Text 76"/>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نَتَصَالَحُ</a:t>
            </a:r>
            <a:endParaRPr lang="ar-SA" sz="2050" dirty="0"/>
          </a:p>
        </p:txBody>
      </p:sp>
      <p:sp>
        <p:nvSpPr>
          <p:cNvPr id="80" name="Shape 77"/>
          <p:cNvSpPr/>
          <p:nvPr/>
        </p:nvSpPr>
        <p:spPr>
          <a:xfrm>
            <a:off x="4459224" y="5788152"/>
            <a:ext cx="256032" cy="256032"/>
          </a:xfrm>
          <a:prstGeom prst="ellipse">
            <a:avLst/>
          </a:prstGeom>
          <a:solidFill>
            <a:srgbClr val="F4F1EA"/>
          </a:solidFill>
          <a:ln w="12700">
            <a:solidFill>
              <a:srgbClr val="F4F1EA"/>
            </a:solidFill>
            <a:prstDash val="solid"/>
          </a:ln>
        </p:spPr>
      </p:sp>
      <p:sp>
        <p:nvSpPr>
          <p:cNvPr id="81" name="Text 78"/>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2" name="Text 79"/>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نَتَعَاوَنُ</a:t>
            </a:r>
            <a:endParaRPr lang="ar-SA" sz="2050" dirty="0"/>
          </a:p>
        </p:txBody>
      </p:sp>
      <p:sp>
        <p:nvSpPr>
          <p:cNvPr id="83" name="Shape 80"/>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4" name="Shape 81"/>
          <p:cNvSpPr/>
          <p:nvPr/>
        </p:nvSpPr>
        <p:spPr>
          <a:xfrm>
            <a:off x="8223504" y="4288536"/>
            <a:ext cx="310896" cy="310896"/>
          </a:xfrm>
          <a:prstGeom prst="ellipse">
            <a:avLst/>
          </a:prstGeom>
          <a:solidFill>
            <a:srgbClr val="1B3B6F"/>
          </a:solidFill>
          <a:ln w="12700">
            <a:solidFill>
              <a:srgbClr val="1B3B6F"/>
            </a:solidFill>
            <a:prstDash val="solid"/>
          </a:ln>
        </p:spPr>
      </p:sp>
      <p:sp>
        <p:nvSpPr>
          <p:cNvPr id="85" name="Text 82"/>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86" name="Text 83"/>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accurate pronoun reference to “my brother”.</a:t>
            </a:r>
            <a:endParaRPr lang="en-US" sz="1250" dirty="0"/>
          </a:p>
        </p:txBody>
      </p:sp>
      <p:sp>
        <p:nvSpPr>
          <p:cNvPr id="87" name="Shape 84"/>
          <p:cNvSpPr/>
          <p:nvPr/>
        </p:nvSpPr>
        <p:spPr>
          <a:xfrm>
            <a:off x="8278368" y="4873752"/>
            <a:ext cx="256032" cy="256032"/>
          </a:xfrm>
          <a:prstGeom prst="ellipse">
            <a:avLst/>
          </a:prstGeom>
          <a:solidFill>
            <a:srgbClr val="F4F1EA"/>
          </a:solidFill>
          <a:ln w="12700">
            <a:solidFill>
              <a:srgbClr val="F4F1EA"/>
            </a:solidFill>
            <a:prstDash val="solid"/>
          </a:ln>
        </p:spPr>
      </p:sp>
      <p:sp>
        <p:nvSpPr>
          <p:cNvPr id="88" name="Text 85"/>
          <p:cNvSpPr txBox="1"/>
          <p:nvPr/>
        </p:nvSpPr>
        <p:spPr>
          <a:xfrm>
            <a:off x="827836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9" name="Text 86"/>
          <p:cNvSpPr txBox="1"/>
          <p:nvPr/>
        </p:nvSpPr>
        <p:spPr>
          <a:xfrm>
            <a:off x="8607552"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أُسَاعِدُهَا.</a:t>
            </a:r>
            <a:endParaRPr lang="ar-SA" sz="2050" dirty="0"/>
          </a:p>
        </p:txBody>
      </p:sp>
      <p:sp>
        <p:nvSpPr>
          <p:cNvPr id="90" name="Shape 87"/>
          <p:cNvSpPr/>
          <p:nvPr/>
        </p:nvSpPr>
        <p:spPr>
          <a:xfrm>
            <a:off x="8278368" y="5330952"/>
            <a:ext cx="256032" cy="256032"/>
          </a:xfrm>
          <a:prstGeom prst="ellipse">
            <a:avLst/>
          </a:prstGeom>
          <a:solidFill>
            <a:srgbClr val="F4F1EA"/>
          </a:solidFill>
          <a:ln w="12700">
            <a:solidFill>
              <a:srgbClr val="F4F1EA"/>
            </a:solidFill>
            <a:prstDash val="solid"/>
          </a:ln>
        </p:spPr>
      </p:sp>
      <p:sp>
        <p:nvSpPr>
          <p:cNvPr id="91" name="Text 88"/>
          <p:cNvSpPr txBox="1"/>
          <p:nvPr/>
        </p:nvSpPr>
        <p:spPr>
          <a:xfrm>
            <a:off x="827836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92" name="Text 89"/>
          <p:cNvSpPr txBox="1"/>
          <p:nvPr/>
        </p:nvSpPr>
        <p:spPr>
          <a:xfrm>
            <a:off x="8607552"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أُسَاعِدُهُ.</a:t>
            </a:r>
            <a:endParaRPr lang="ar-SA" sz="2050" dirty="0"/>
          </a:p>
        </p:txBody>
      </p:sp>
      <p:sp>
        <p:nvSpPr>
          <p:cNvPr id="93" name="Shape 90"/>
          <p:cNvSpPr/>
          <p:nvPr/>
        </p:nvSpPr>
        <p:spPr>
          <a:xfrm>
            <a:off x="8278368" y="5788152"/>
            <a:ext cx="256032" cy="256032"/>
          </a:xfrm>
          <a:prstGeom prst="ellipse">
            <a:avLst/>
          </a:prstGeom>
          <a:solidFill>
            <a:srgbClr val="F4F1EA"/>
          </a:solidFill>
          <a:ln w="12700">
            <a:solidFill>
              <a:srgbClr val="F4F1EA"/>
            </a:solidFill>
            <a:prstDash val="solid"/>
          </a:ln>
        </p:spPr>
      </p:sp>
      <p:sp>
        <p:nvSpPr>
          <p:cNvPr id="94" name="Text 91"/>
          <p:cNvSpPr txBox="1"/>
          <p:nvPr/>
        </p:nvSpPr>
        <p:spPr>
          <a:xfrm>
            <a:off x="827836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5" name="Text 92"/>
          <p:cNvSpPr txBox="1"/>
          <p:nvPr/>
        </p:nvSpPr>
        <p:spPr>
          <a:xfrm>
            <a:off x="8607552"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يُسَاعِدُنِي.</a:t>
            </a:r>
            <a:endParaRPr lang="ar-SA" sz="2050" dirty="0"/>
          </a:p>
        </p:txBody>
      </p:sp>
      <p:sp>
        <p:nvSpPr>
          <p:cNvPr id="96" name="Text 9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43 / 46</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TB-L02 · Family and Friends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MISSION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Mission: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TB-L02</a:t>
            </a:r>
            <a:endParaRPr lang="en-US" sz="850" dirty="0"/>
          </a:p>
        </p:txBody>
      </p:sp>
      <p:sp>
        <p:nvSpPr>
          <p:cNvPr id="16"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7"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8"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9"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“I get on with my sister.”</a:t>
            </a:r>
            <a:endParaRPr lang="en-US" sz="1250" dirty="0"/>
          </a:p>
        </p:txBody>
      </p:sp>
      <p:sp>
        <p:nvSpPr>
          <p:cNvPr id="20"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20"/>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أَتَفَاهَمُ أُخْتِي.</a:t>
            </a:r>
            <a:endParaRPr lang="ar-SA" sz="1700" dirty="0"/>
          </a:p>
        </p:txBody>
      </p:sp>
      <p:sp>
        <p:nvSpPr>
          <p:cNvPr id="23"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4"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5"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6" name="Text 24"/>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أَتَفَاهَمُ مَعَ أُخْتِي.</a:t>
            </a:r>
            <a:endParaRPr lang="ar-SA" sz="1700" dirty="0"/>
          </a:p>
        </p:txBody>
      </p:sp>
      <p:sp>
        <p:nvSpPr>
          <p:cNvPr id="27"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8"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7"/>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يَتَفَاهَمُ مَعَ أُخْتِي.</a:t>
            </a:r>
            <a:endParaRPr lang="ar-SA" sz="1700" dirty="0"/>
          </a:p>
        </p:txBody>
      </p:sp>
      <p:sp>
        <p:nvSpPr>
          <p:cNvPr id="30" name="Text 28"/>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Use </a:t>
            </a:r>
            <a:pPr algn="l" indent="0" marL="0">
              <a:buNone/>
            </a:pPr>
            <a:r>
              <a:rPr lang="ar-SA" altLang="en-US" sz="1350" dirty="0">
                <a:solidFill>
                  <a:srgbClr val="8A6D1E"/>
                </a:solidFill>
                <a:latin typeface="Amiri" pitchFamily="2" charset="-78"/>
                <a:ea typeface="Amiri" pitchFamily="2" charset="-78"/>
                <a:cs typeface="Amiri" pitchFamily="2" charset="-78"/>
              </a:rPr>
              <a:t>أَتَفَاهَمُ مَعَ</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1"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4"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يَدْعَمُنِي</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5" name="Shape 33"/>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6" name="Shape 34"/>
          <p:cNvSpPr/>
          <p:nvPr/>
        </p:nvSpPr>
        <p:spPr>
          <a:xfrm>
            <a:off x="4459224" y="2490216"/>
            <a:ext cx="256032" cy="256032"/>
          </a:xfrm>
          <a:prstGeom prst="ellipse">
            <a:avLst/>
          </a:prstGeom>
          <a:solidFill>
            <a:srgbClr val="2E8B57"/>
          </a:solidFill>
          <a:ln w="12700">
            <a:solidFill>
              <a:srgbClr val="2E8B57"/>
            </a:solidFill>
            <a:prstDash val="solid"/>
          </a:ln>
        </p:spPr>
      </p:sp>
      <p:sp>
        <p:nvSpPr>
          <p:cNvPr id="37" name="Text 35"/>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8" name="Text 36"/>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he supports me</a:t>
            </a:r>
            <a:endParaRPr lang="en-US" sz="1250" dirty="0"/>
          </a:p>
        </p:txBody>
      </p:sp>
      <p:sp>
        <p:nvSpPr>
          <p:cNvPr id="39" name="Shape 37"/>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8"/>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9"/>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 support him</a:t>
            </a:r>
            <a:endParaRPr lang="en-US" sz="1250" dirty="0"/>
          </a:p>
        </p:txBody>
      </p:sp>
      <p:sp>
        <p:nvSpPr>
          <p:cNvPr id="42" name="Shape 40"/>
          <p:cNvSpPr/>
          <p:nvPr/>
        </p:nvSpPr>
        <p:spPr>
          <a:xfrm>
            <a:off x="4459224" y="3233928"/>
            <a:ext cx="256032" cy="256032"/>
          </a:xfrm>
          <a:prstGeom prst="ellipse">
            <a:avLst/>
          </a:prstGeom>
          <a:solidFill>
            <a:srgbClr val="C9CED6"/>
          </a:solidFill>
          <a:ln w="12700">
            <a:solidFill>
              <a:srgbClr val="C9CED6"/>
            </a:solidFill>
            <a:prstDash val="solid"/>
          </a:ln>
        </p:spPr>
      </p:sp>
      <p:sp>
        <p:nvSpPr>
          <p:cNvPr id="43"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4" name="Text 42"/>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she supports us</a:t>
            </a:r>
            <a:endParaRPr lang="en-US" sz="1250" dirty="0"/>
          </a:p>
        </p:txBody>
      </p:sp>
      <p:sp>
        <p:nvSpPr>
          <p:cNvPr id="45" name="Text 43"/>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ـني</a:t>
            </a:r>
            <a:pPr algn="l" indent="0" marL="0">
              <a:buNone/>
            </a:pPr>
            <a:r>
              <a:rPr lang="en-US" sz="1050" i="1" dirty="0">
                <a:solidFill>
                  <a:srgbClr val="8A6D1E"/>
                </a:solidFill>
                <a:latin typeface="Calibri" pitchFamily="34" charset="0"/>
                <a:cs typeface="Amiri" pitchFamily="2" charset="-78"/>
              </a:rPr>
              <a:t> means me.</a:t>
            </a:r>
            <a:endParaRPr lang="en-US" sz="1050" dirty="0"/>
          </a:p>
        </p:txBody>
      </p:sp>
      <p:sp>
        <p:nvSpPr>
          <p:cNvPr id="46"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8"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9"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“I respect her.”</a:t>
            </a:r>
            <a:endParaRPr lang="en-US" sz="1250" dirty="0"/>
          </a:p>
        </p:txBody>
      </p:sp>
      <p:sp>
        <p:nvSpPr>
          <p:cNvPr id="50" name="Shape 48"/>
          <p:cNvSpPr/>
          <p:nvPr/>
        </p:nvSpPr>
        <p:spPr>
          <a:xfrm>
            <a:off x="8278368" y="2490216"/>
            <a:ext cx="256032" cy="256032"/>
          </a:xfrm>
          <a:prstGeom prst="ellipse">
            <a:avLst/>
          </a:prstGeom>
          <a:solidFill>
            <a:srgbClr val="C9CED6"/>
          </a:solidFill>
          <a:ln w="12700">
            <a:solidFill>
              <a:srgbClr val="C9CED6"/>
            </a:solidFill>
            <a:prstDash val="solid"/>
          </a:ln>
        </p:spPr>
      </p:sp>
      <p:sp>
        <p:nvSpPr>
          <p:cNvPr id="51" name="Text 49"/>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2" name="Text 50"/>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أَحْتَرِمُهُ.</a:t>
            </a:r>
            <a:endParaRPr lang="ar-SA" sz="1700" dirty="0"/>
          </a:p>
        </p:txBody>
      </p:sp>
      <p:sp>
        <p:nvSpPr>
          <p:cNvPr id="53" name="Shape 51"/>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2"/>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3"/>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تَحْتَرِمُنِي.</a:t>
            </a:r>
            <a:endParaRPr lang="ar-SA" sz="1700" dirty="0"/>
          </a:p>
        </p:txBody>
      </p:sp>
      <p:sp>
        <p:nvSpPr>
          <p:cNvPr id="56" name="Shape 54"/>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7" name="Shape 55"/>
          <p:cNvSpPr/>
          <p:nvPr/>
        </p:nvSpPr>
        <p:spPr>
          <a:xfrm>
            <a:off x="8278368" y="3233928"/>
            <a:ext cx="256032" cy="256032"/>
          </a:xfrm>
          <a:prstGeom prst="ellipse">
            <a:avLst/>
          </a:prstGeom>
          <a:solidFill>
            <a:srgbClr val="2E8B57"/>
          </a:solidFill>
          <a:ln w="12700">
            <a:solidFill>
              <a:srgbClr val="2E8B57"/>
            </a:solidFill>
            <a:prstDash val="solid"/>
          </a:ln>
        </p:spPr>
      </p:sp>
      <p:sp>
        <p:nvSpPr>
          <p:cNvPr id="58"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9" name="Text 57"/>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أَحْتَرِمُهَا.</a:t>
            </a:r>
            <a:endParaRPr lang="ar-SA" sz="1700" dirty="0"/>
          </a:p>
        </p:txBody>
      </p:sp>
      <p:sp>
        <p:nvSpPr>
          <p:cNvPr id="60" name="Text 58"/>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ـها</a:t>
            </a:r>
            <a:pPr algn="l" indent="0" marL="0">
              <a:buNone/>
            </a:pPr>
            <a:r>
              <a:rPr lang="en-US" sz="1050" i="1" dirty="0">
                <a:solidFill>
                  <a:srgbClr val="8A6D1E"/>
                </a:solidFill>
                <a:latin typeface="Calibri" pitchFamily="34" charset="0"/>
                <a:cs typeface="Amiri" pitchFamily="2" charset="-78"/>
              </a:rPr>
              <a:t> refers to her.</a:t>
            </a:r>
            <a:endParaRPr lang="en-US" sz="1050" dirty="0"/>
          </a:p>
        </p:txBody>
      </p:sp>
      <p:sp>
        <p:nvSpPr>
          <p:cNvPr id="61"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3"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4" name="Text 62"/>
          <p:cNvSpPr txBox="1"/>
          <p:nvPr/>
        </p:nvSpPr>
        <p:spPr>
          <a:xfrm>
            <a:off x="950976"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65" name="Text 63"/>
          <p:cNvSpPr txBox="1"/>
          <p:nvPr/>
        </p:nvSpPr>
        <p:spPr>
          <a:xfrm>
            <a:off x="2406701" y="4224528"/>
            <a:ext cx="1577035" cy="475488"/>
          </a:xfrm>
          <a:prstGeom prst="rect">
            <a:avLst/>
          </a:prstGeom>
          <a:noFill/>
          <a:ln/>
        </p:spPr>
        <p:txBody>
          <a:bodyPr wrap="square" lIns="0" tIns="0" rIns="0" bIns="0" rtlCol="0" anchor="ctr"/>
          <a:lstStyle/>
          <a:p>
            <a:pPr rtl="1" algn="r" indent="0" marL="0">
              <a:buNone/>
            </a:pPr>
            <a:r>
              <a:rPr lang="ar-SA" altLang="en-US" sz="1150" b="1" dirty="0">
                <a:solidFill>
                  <a:srgbClr val="1F2A37"/>
                </a:solidFill>
                <a:latin typeface="Amiri" pitchFamily="2" charset="-78"/>
                <a:ea typeface="Amiri" pitchFamily="2" charset="-78"/>
                <a:cs typeface="Amiri" pitchFamily="2" charset="-78"/>
              </a:rPr>
              <a:t>نَتَفَاهَمُ ___ نَسْتَمِعُ إِلَى بَعْضِنَا.</a:t>
            </a:r>
            <a:endParaRPr lang="ar-SA" sz="1150" dirty="0"/>
          </a:p>
        </p:txBody>
      </p:sp>
      <p:sp>
        <p:nvSpPr>
          <p:cNvPr id="66" name="Shape 64"/>
          <p:cNvSpPr/>
          <p:nvPr/>
        </p:nvSpPr>
        <p:spPr>
          <a:xfrm>
            <a:off x="640080" y="4831080"/>
            <a:ext cx="256032" cy="256032"/>
          </a:xfrm>
          <a:prstGeom prst="ellipse">
            <a:avLst/>
          </a:prstGeom>
          <a:solidFill>
            <a:srgbClr val="C9CED6"/>
          </a:solidFill>
          <a:ln w="12700">
            <a:solidFill>
              <a:srgbClr val="C9CED6"/>
            </a:solidFill>
            <a:prstDash val="solid"/>
          </a:ln>
        </p:spPr>
      </p:sp>
      <p:sp>
        <p:nvSpPr>
          <p:cNvPr id="67" name="Text 65"/>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6"/>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لِأَنَّهُ</a:t>
            </a:r>
            <a:endParaRPr lang="ar-SA" sz="1700" dirty="0"/>
          </a:p>
        </p:txBody>
      </p:sp>
      <p:sp>
        <p:nvSpPr>
          <p:cNvPr id="69" name="Shape 67"/>
          <p:cNvSpPr/>
          <p:nvPr/>
        </p:nvSpPr>
        <p:spPr>
          <a:xfrm>
            <a:off x="640080" y="5202936"/>
            <a:ext cx="256032" cy="256032"/>
          </a:xfrm>
          <a:prstGeom prst="ellipse">
            <a:avLst/>
          </a:prstGeom>
          <a:solidFill>
            <a:srgbClr val="C9CED6"/>
          </a:solidFill>
          <a:ln w="12700">
            <a:solidFill>
              <a:srgbClr val="C9CED6"/>
            </a:solidFill>
            <a:prstDash val="solid"/>
          </a:ln>
        </p:spPr>
      </p:sp>
      <p:sp>
        <p:nvSpPr>
          <p:cNvPr id="70" name="Text 68"/>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1" name="Text 69"/>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وَلٰكِنَّهَا</a:t>
            </a:r>
            <a:endParaRPr lang="ar-SA" sz="1700" dirty="0"/>
          </a:p>
        </p:txBody>
      </p:sp>
      <p:sp>
        <p:nvSpPr>
          <p:cNvPr id="72" name="Shape 70"/>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3" name="Shape 71"/>
          <p:cNvSpPr/>
          <p:nvPr/>
        </p:nvSpPr>
        <p:spPr>
          <a:xfrm>
            <a:off x="640080" y="5574792"/>
            <a:ext cx="256032" cy="256032"/>
          </a:xfrm>
          <a:prstGeom prst="ellipse">
            <a:avLst/>
          </a:prstGeom>
          <a:solidFill>
            <a:srgbClr val="2E8B57"/>
          </a:solidFill>
          <a:ln w="12700">
            <a:solidFill>
              <a:srgbClr val="2E8B57"/>
            </a:solidFill>
            <a:prstDash val="solid"/>
          </a:ln>
        </p:spPr>
      </p:sp>
      <p:sp>
        <p:nvSpPr>
          <p:cNvPr id="74" name="Text 72"/>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5" name="Text 73"/>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لِأَنَّنَا</a:t>
            </a:r>
            <a:endParaRPr lang="ar-SA" sz="1700" dirty="0"/>
          </a:p>
        </p:txBody>
      </p:sp>
      <p:sp>
        <p:nvSpPr>
          <p:cNvPr id="76" name="Text 74"/>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subject is we: </a:t>
            </a:r>
            <a:pPr algn="l" indent="0" marL="0">
              <a:buNone/>
            </a:pPr>
            <a:r>
              <a:rPr lang="ar-SA" altLang="en-US" sz="1350" dirty="0">
                <a:solidFill>
                  <a:srgbClr val="8A6D1E"/>
                </a:solidFill>
                <a:latin typeface="Amiri" pitchFamily="2" charset="-78"/>
                <a:ea typeface="Amiri" pitchFamily="2" charset="-78"/>
                <a:cs typeface="Amiri" pitchFamily="2" charset="-78"/>
              </a:rPr>
              <a:t>لِأَنَّنَا</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77" name="Shape 75"/>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6"/>
          <p:cNvSpPr/>
          <p:nvPr/>
        </p:nvSpPr>
        <p:spPr>
          <a:xfrm>
            <a:off x="4404360" y="4288536"/>
            <a:ext cx="310896" cy="310896"/>
          </a:xfrm>
          <a:prstGeom prst="ellipse">
            <a:avLst/>
          </a:prstGeom>
          <a:solidFill>
            <a:srgbClr val="1B3B6F"/>
          </a:solidFill>
          <a:ln w="12700">
            <a:solidFill>
              <a:srgbClr val="1B3B6F"/>
            </a:solidFill>
            <a:prstDash val="solid"/>
          </a:ln>
        </p:spPr>
      </p:sp>
      <p:sp>
        <p:nvSpPr>
          <p:cNvPr id="79" name="Text 77"/>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80" name="Text 78"/>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means “we argue”?</a:t>
            </a:r>
            <a:endParaRPr lang="en-US" sz="1250" dirty="0"/>
          </a:p>
        </p:txBody>
      </p:sp>
      <p:sp>
        <p:nvSpPr>
          <p:cNvPr id="81" name="Shape 79"/>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2" name="Shape 80"/>
          <p:cNvSpPr/>
          <p:nvPr/>
        </p:nvSpPr>
        <p:spPr>
          <a:xfrm>
            <a:off x="4459224" y="4831080"/>
            <a:ext cx="256032" cy="256032"/>
          </a:xfrm>
          <a:prstGeom prst="ellipse">
            <a:avLst/>
          </a:prstGeom>
          <a:solidFill>
            <a:srgbClr val="2E8B57"/>
          </a:solidFill>
          <a:ln w="12700">
            <a:solidFill>
              <a:srgbClr val="2E8B57"/>
            </a:solidFill>
            <a:prstDash val="solid"/>
          </a:ln>
        </p:spPr>
      </p:sp>
      <p:sp>
        <p:nvSpPr>
          <p:cNvPr id="83" name="Text 81"/>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4" name="Text 82"/>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نَتَشَاجَرُ</a:t>
            </a:r>
            <a:endParaRPr lang="ar-SA" sz="1700" dirty="0"/>
          </a:p>
        </p:txBody>
      </p:sp>
      <p:sp>
        <p:nvSpPr>
          <p:cNvPr id="85" name="Shape 83"/>
          <p:cNvSpPr/>
          <p:nvPr/>
        </p:nvSpPr>
        <p:spPr>
          <a:xfrm>
            <a:off x="4459224" y="5202936"/>
            <a:ext cx="256032" cy="256032"/>
          </a:xfrm>
          <a:prstGeom prst="ellipse">
            <a:avLst/>
          </a:prstGeom>
          <a:solidFill>
            <a:srgbClr val="C9CED6"/>
          </a:solidFill>
          <a:ln w="12700">
            <a:solidFill>
              <a:srgbClr val="C9CED6"/>
            </a:solidFill>
            <a:prstDash val="solid"/>
          </a:ln>
        </p:spPr>
      </p:sp>
      <p:sp>
        <p:nvSpPr>
          <p:cNvPr id="86" name="Text 84"/>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7" name="Text 85"/>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نَتَصَالَحُ</a:t>
            </a:r>
            <a:endParaRPr lang="ar-SA" sz="1700" dirty="0"/>
          </a:p>
        </p:txBody>
      </p:sp>
      <p:sp>
        <p:nvSpPr>
          <p:cNvPr id="88" name="Shape 86"/>
          <p:cNvSpPr/>
          <p:nvPr/>
        </p:nvSpPr>
        <p:spPr>
          <a:xfrm>
            <a:off x="4459224" y="5574792"/>
            <a:ext cx="256032" cy="256032"/>
          </a:xfrm>
          <a:prstGeom prst="ellipse">
            <a:avLst/>
          </a:prstGeom>
          <a:solidFill>
            <a:srgbClr val="C9CED6"/>
          </a:solidFill>
          <a:ln w="12700">
            <a:solidFill>
              <a:srgbClr val="C9CED6"/>
            </a:solidFill>
            <a:prstDash val="solid"/>
          </a:ln>
        </p:spPr>
      </p:sp>
      <p:sp>
        <p:nvSpPr>
          <p:cNvPr id="89" name="Text 87"/>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0" name="Text 88"/>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نَتَعَاوَنُ</a:t>
            </a:r>
            <a:endParaRPr lang="ar-SA" sz="1700" dirty="0"/>
          </a:p>
        </p:txBody>
      </p:sp>
      <p:sp>
        <p:nvSpPr>
          <p:cNvPr id="91" name="Text 89"/>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نَتَشَاجَرُ</a:t>
            </a:r>
            <a:pPr algn="l" indent="0" marL="0">
              <a:buNone/>
            </a:pPr>
            <a:r>
              <a:rPr lang="en-US" sz="1050" i="1" dirty="0">
                <a:solidFill>
                  <a:srgbClr val="8A6D1E"/>
                </a:solidFill>
                <a:latin typeface="Calibri" pitchFamily="34" charset="0"/>
                <a:cs typeface="Amiri" pitchFamily="2" charset="-78"/>
              </a:rPr>
              <a:t> = we argue.</a:t>
            </a:r>
            <a:endParaRPr lang="en-US" sz="1050" dirty="0"/>
          </a:p>
        </p:txBody>
      </p:sp>
      <p:sp>
        <p:nvSpPr>
          <p:cNvPr id="92" name="Shape 90"/>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3" name="Shape 91"/>
          <p:cNvSpPr/>
          <p:nvPr/>
        </p:nvSpPr>
        <p:spPr>
          <a:xfrm>
            <a:off x="8223504" y="4288536"/>
            <a:ext cx="310896" cy="310896"/>
          </a:xfrm>
          <a:prstGeom prst="ellipse">
            <a:avLst/>
          </a:prstGeom>
          <a:solidFill>
            <a:srgbClr val="1B3B6F"/>
          </a:solidFill>
          <a:ln w="12700">
            <a:solidFill>
              <a:srgbClr val="1B3B6F"/>
            </a:solidFill>
            <a:prstDash val="solid"/>
          </a:ln>
        </p:spPr>
      </p:sp>
      <p:sp>
        <p:nvSpPr>
          <p:cNvPr id="94" name="Text 92"/>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95" name="Text 93"/>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accurate pronoun reference to “my brother”.</a:t>
            </a:r>
            <a:endParaRPr lang="en-US" sz="1250" dirty="0"/>
          </a:p>
        </p:txBody>
      </p:sp>
      <p:sp>
        <p:nvSpPr>
          <p:cNvPr id="96" name="Shape 94"/>
          <p:cNvSpPr/>
          <p:nvPr/>
        </p:nvSpPr>
        <p:spPr>
          <a:xfrm>
            <a:off x="8278368" y="4831080"/>
            <a:ext cx="256032" cy="256032"/>
          </a:xfrm>
          <a:prstGeom prst="ellipse">
            <a:avLst/>
          </a:prstGeom>
          <a:solidFill>
            <a:srgbClr val="C9CED6"/>
          </a:solidFill>
          <a:ln w="12700">
            <a:solidFill>
              <a:srgbClr val="C9CED6"/>
            </a:solidFill>
            <a:prstDash val="solid"/>
          </a:ln>
        </p:spPr>
      </p:sp>
      <p:sp>
        <p:nvSpPr>
          <p:cNvPr id="97" name="Text 95"/>
          <p:cNvSpPr txBox="1"/>
          <p:nvPr/>
        </p:nvSpPr>
        <p:spPr>
          <a:xfrm>
            <a:off x="827836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98" name="Text 96"/>
          <p:cNvSpPr txBox="1"/>
          <p:nvPr/>
        </p:nvSpPr>
        <p:spPr>
          <a:xfrm>
            <a:off x="8607552"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أُسَاعِدُهَا.</a:t>
            </a:r>
            <a:endParaRPr lang="ar-SA" sz="1700" dirty="0"/>
          </a:p>
        </p:txBody>
      </p:sp>
      <p:sp>
        <p:nvSpPr>
          <p:cNvPr id="99" name="Shape 97"/>
          <p:cNvSpPr/>
          <p:nvPr/>
        </p:nvSpPr>
        <p:spPr>
          <a:xfrm>
            <a:off x="8186928" y="5166360"/>
            <a:ext cx="3453384" cy="347472"/>
          </a:xfrm>
          <a:prstGeom prst="roundRect">
            <a:avLst>
              <a:gd name="adj" fmla="val 15789"/>
            </a:avLst>
          </a:prstGeom>
          <a:solidFill>
            <a:srgbClr val="E6F4EC"/>
          </a:solidFill>
          <a:ln w="9525">
            <a:solidFill>
              <a:srgbClr val="2E8B57"/>
            </a:solidFill>
            <a:prstDash val="solid"/>
          </a:ln>
        </p:spPr>
      </p:sp>
      <p:sp>
        <p:nvSpPr>
          <p:cNvPr id="100" name="Shape 98"/>
          <p:cNvSpPr/>
          <p:nvPr/>
        </p:nvSpPr>
        <p:spPr>
          <a:xfrm>
            <a:off x="8278368" y="5202936"/>
            <a:ext cx="256032" cy="256032"/>
          </a:xfrm>
          <a:prstGeom prst="ellipse">
            <a:avLst/>
          </a:prstGeom>
          <a:solidFill>
            <a:srgbClr val="2E8B57"/>
          </a:solidFill>
          <a:ln w="12700">
            <a:solidFill>
              <a:srgbClr val="2E8B57"/>
            </a:solidFill>
            <a:prstDash val="solid"/>
          </a:ln>
        </p:spPr>
      </p:sp>
      <p:sp>
        <p:nvSpPr>
          <p:cNvPr id="101" name="Text 99"/>
          <p:cNvSpPr txBox="1"/>
          <p:nvPr/>
        </p:nvSpPr>
        <p:spPr>
          <a:xfrm>
            <a:off x="8278368"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102" name="Text 100"/>
          <p:cNvSpPr txBox="1"/>
          <p:nvPr/>
        </p:nvSpPr>
        <p:spPr>
          <a:xfrm>
            <a:off x="8607552"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أُسَاعِدُهُ.</a:t>
            </a:r>
            <a:endParaRPr lang="ar-SA" sz="1700" dirty="0"/>
          </a:p>
        </p:txBody>
      </p:sp>
      <p:sp>
        <p:nvSpPr>
          <p:cNvPr id="103" name="Shape 101"/>
          <p:cNvSpPr/>
          <p:nvPr/>
        </p:nvSpPr>
        <p:spPr>
          <a:xfrm>
            <a:off x="8278368" y="5574792"/>
            <a:ext cx="256032" cy="256032"/>
          </a:xfrm>
          <a:prstGeom prst="ellipse">
            <a:avLst/>
          </a:prstGeom>
          <a:solidFill>
            <a:srgbClr val="C9CED6"/>
          </a:solidFill>
          <a:ln w="12700">
            <a:solidFill>
              <a:srgbClr val="C9CED6"/>
            </a:solidFill>
            <a:prstDash val="solid"/>
          </a:ln>
        </p:spPr>
      </p:sp>
      <p:sp>
        <p:nvSpPr>
          <p:cNvPr id="104" name="Text 102"/>
          <p:cNvSpPr txBox="1"/>
          <p:nvPr/>
        </p:nvSpPr>
        <p:spPr>
          <a:xfrm>
            <a:off x="827836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105" name="Text 103"/>
          <p:cNvSpPr txBox="1"/>
          <p:nvPr/>
        </p:nvSpPr>
        <p:spPr>
          <a:xfrm>
            <a:off x="8607552"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يُسَاعِدُنِي.</a:t>
            </a:r>
            <a:endParaRPr lang="ar-SA" sz="1700" dirty="0"/>
          </a:p>
        </p:txBody>
      </p:sp>
      <p:sp>
        <p:nvSpPr>
          <p:cNvPr id="106" name="Text 104"/>
          <p:cNvSpPr txBox="1"/>
          <p:nvPr/>
        </p:nvSpPr>
        <p:spPr>
          <a:xfrm>
            <a:off x="8223504"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ـه</a:t>
            </a:r>
            <a:pPr algn="l" indent="0" marL="0">
              <a:buNone/>
            </a:pPr>
            <a:r>
              <a:rPr lang="en-US" sz="1050" i="1" dirty="0">
                <a:solidFill>
                  <a:srgbClr val="8A6D1E"/>
                </a:solidFill>
                <a:latin typeface="Calibri" pitchFamily="34" charset="0"/>
                <a:cs typeface="Amiri" pitchFamily="2" charset="-78"/>
              </a:rPr>
              <a:t> refers to him.</a:t>
            </a:r>
            <a:endParaRPr lang="en-US" sz="1050" dirty="0"/>
          </a:p>
        </p:txBody>
      </p:sp>
      <p:sp>
        <p:nvSpPr>
          <p:cNvPr id="107" name="Text 10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44 / 46</a:t>
            </a:r>
            <a:endParaRPr lang="en-US" sz="8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TB-L02 · Family and Friends</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Before TB-L03: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TB-L02</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TB-L03 · Appearance and Personality</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طَوِيلُ / طَوِيلَةُ القَامَةِ</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tall (m. / f.)</a:t>
            </a:r>
            <a:pPr indent="0" marL="0">
              <a:buNone/>
            </a:pP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قَصِيرُ / قَصِيرَةُ القَامَةِ</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short (m. / f.)</a:t>
            </a:r>
            <a:pPr indent="0" marL="0">
              <a:buNone/>
            </a:pP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شَعْرٌ مُجَعَّدٌ</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curly hair</a:t>
            </a:r>
            <a:pPr indent="0" marL="0">
              <a:buNone/>
            </a:pPr>
            <a:r>
              <a:rPr lang="ar-SA" sz="1000" i="1" dirty="0">
                <a:solidFill>
                  <a:srgbClr val="5A6472"/>
                </a:solidFill>
                <a:latin typeface="Calibri" pitchFamily="34" charset="0"/>
                <a:ea typeface="Amiri" pitchFamily="2" charset="-78"/>
                <a:cs typeface="Amiri" pitchFamily="2" charset="-78"/>
              </a:rPr>
              <a:t>  straight: مُسْتَقِيمٌ</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عَيْنَانِ بُنِّيَّتَانِ</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brown eyes</a:t>
            </a:r>
            <a:pPr indent="0" marL="0">
              <a:buNone/>
            </a:pPr>
            <a:r>
              <a:rPr lang="ar-SA" sz="1000" i="1" dirty="0">
                <a:solidFill>
                  <a:srgbClr val="5A6472"/>
                </a:solidFill>
                <a:latin typeface="Calibri" pitchFamily="34" charset="0"/>
                <a:ea typeface="Amiri" pitchFamily="2" charset="-78"/>
                <a:cs typeface="Amiri" pitchFamily="2" charset="-78"/>
              </a:rPr>
              <a:t>  one eye: عَيْنٌ</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يَرْتَدِي / تَرْتَدِي نَظَّارَةً</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he / she wears glasses</a:t>
            </a:r>
            <a:pPr indent="0" marL="0">
              <a:buNone/>
            </a:pP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Think of a famous person or a character from a book. How would you describe their appearance?</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2" charset="-78"/>
                <a:ea typeface="Amiri" pitchFamily="2" charset="-78"/>
                <a:cs typeface="Amiri" pitchFamily="2" charset="-78"/>
              </a:rPr>
              <a:t>كَيْفَ شَكْلُهُ؟ كَيْفَ شَكْلُهَا؟</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TB-L02: the picture game and the vocabulary tab (relationship actions).</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Write 8 sentences about two relationships with object endings.</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writing task: 100–120 words — one strong and one difficult relationship.</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45 / 46</a:t>
            </a:r>
            <a:endParaRPr lang="en-US" sz="8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TB-L02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cs typeface="Amiri" pitchFamily="2" charset="-78"/>
              </a:rPr>
              <a:t>TB-L03 · Appearance and Personality</a:t>
            </a:r>
            <a:endParaRPr lang="en-US" sz="26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المَظْهَرُ وَالشَّخْصِيَّةُ</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front of the verb = who does it; end of the verb = who receives it.</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46</Slides>
  <Notes>46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46</vt:i4>
      </vt:variant>
    </vt:vector>
  </HeadingPairs>
  <TitlesOfParts>
    <vt:vector size="4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TB-L02 · Family, Friends and Relationships</dc:title>
  <dc:subject>PptxGenJS Presentation</dc:subject>
  <dc:creator>Al Madina Online School · Arabic Department</dc:creator>
  <cp:lastModifiedBy>Al Madina Online School · Arabic Department</cp:lastModifiedBy>
  <cp:revision>1</cp:revision>
  <dcterms:created xsi:type="dcterms:W3CDTF">2026-10-11T06:43:48Z</dcterms:created>
  <dcterms:modified xsi:type="dcterms:W3CDTF">2026-10-11T06:43:48Z</dcterms:modified>
</cp:coreProperties>
</file>