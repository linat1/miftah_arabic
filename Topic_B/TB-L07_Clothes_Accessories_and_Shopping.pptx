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TB-L07 — Clothes, Accessories and Shopping. Website: Advanced Topics › Topic B (Personal and Social Life) › Lesson 7.
The website builds this lesson on the D2-L03 lesson engine, with the Topic focus “Choose, compare and buy clothes while discussing size, material, colour and price.” (grammar: Comparatives; numbers; demonstratives; object pronouns; skills: Listening · Speaking) and the application challenge “Clothes-shop role-play”.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TB-L07. The website lesson “Clothes and Accessories — Vocabulary and Shopping”: vocabulary, grammar rules and quiz, patterns, common mistakes, sorter, listening, reading, speaking prompts and model, writing task and model, differentiation, final check and the lesson mission. Picture match: website visual game “Clothes and Accessories — Vocabulary and Shopping”.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clothes words with هٰذَا / هٰذِهِ + three colours + two shop phrases (كَمْ ثَمَنُهُ؟ · أُرِيدُ أَنْ أُجَرِّبَ …). Develop: colour agreement with feminine items and size problems (ضَيِّقٌ / وَاسِعٌ). Stretch: a full shop role-play and a written shopping trip in the past.
• Decision routine for every item: masculine or feminine? (ـةٌ → feminine) → هٰذَا / هٰذِهِ → colour form → ثَمَنُهُ / ثَمَنُهَا.
• حِجَابٌ, مُحْتَشِمٌ: modest dress is a normal topic here — keep the focus on vocabulary and personal preference, never on judging others.
• Urdu bridge: قمیص، جراب / حجاب، کوٹ (→ coat is مِعْطَفٌ), قیمت (≠ ثَمَنٌ), رنگ (colour is لَوْنٌ).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clothes words prepared at home. Questions 3–5 retrieve TB-L02 (object endings, مَعَ) and D2-L01 (website)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Masculine item → هٰذَا + masculine colour. Feminine item (ـةٌ) → هٰذِهِ + feminine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قمیص (as in shalwar qamīz) → قَمِيصٌ (shirt). حجاب → حِجَابٌ. مناسب → مُنَاسِبٌ (suitable / fits). قیمت is Arabic قِيمَةٌ (value); for “price” Arabic prefers ثَمَنٌ → كَمْ ثَمَنُهُ؟ Colours: Urdu رنگ is Persian — the Arabic is 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accessories (website vocabulary (1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accessories (website vocabulary (2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language (website vocabulary (1 of 2)). Hear → Say → See → Use. Transliteration is printed for Core students (cover it for Develop/Stretch).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language (website vocabulary (2 of 2)). Hear → Say → See → Use. Transliteration is printed for Core students (cover it for Develop/Stretch).
FLEX: teach if time allows; otherwise these are on the website vocabulary tab for homework.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(1 of 2)). Hear → Say → See → Use. Transliteration is printed for Core students (cover it for Develop/Stretch).
FLEX: teach if time allows; otherwise these are on the website vocabulary tab for homework.
Style adjectives (FLEX here — taught fully in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(2 of 2)). Hear → Say → See → Use. Transliteration is printed for Core students (cover it for Develop/Stretch).
FLEX: teach if time allows; otherwise these are on the website vocabulary tab for homework.
Style adjectives (FLEX here — taught fully in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“This item” (the demonstrative agrees with the noun) and “Colour and size agreement” (adjectives follow the noun and agree in gender and definiteness). Colours from the website quiz and picture game.
Website common error: هٰذَا السُّتْرَةُ ✗ → هٰذِهِ السُّتْرَةُ ✓.
Colour pattern (Stretch): أَفْعَلُ → فَعْلَاءُ (أَزْرَقُ / زَرْقَاءُ, أَخْضَرُ / خَضْرَاءُ, أَصْفَرُ / صَفْرَاءُ).
Quick-fire: show an item on camera; students say هٰذَا / هٰذِهِ + the item +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price with pronoun” (the suffix refers back to the item) and “Polite request” (أُرِيدُ أَنْ أُجَرِّبَ / هَلْ لَدَيْكُمْ …؟). أَنْ + subjunctive recycles D1-L04 (website).
Prices: the website uses جُنَيْهًا (pound) — students may use جُنَيْهًا إِسْتَرْلِينِيًّا or just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“Select the correct demonstrative, make colour and size agree, ask about price and request an item politely.”
• This item: The demonstrative agrees with the noun.
• Colour and size agreement: Adjectives follow the noun and agree in gender and definiteness.
• Ask price with pronoun: The suffix refers back to the item.
• Polite request: Use a complete polite request in a shop.
Website common error: Do not use هٰذَا with a feminine item or leave the adjective in the wrong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plays the customer (website listening scene: Sara buys a jacket), thinking aloud about gender at every step. Then repeat with a masculine item (مِعْطَفٌ أَسْوَدُ) and students call out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دَخَلَتْ سَارَةُ مَتْجَرَ المَلَابِسِ وَقَالَتْ: أُرِيدُ أَنْ أُجَرِّبَ هٰذِهِ السُّتْرَةَ الزَّرْقَاءَ. سَأَلَتْ عَنِ المَقَاسِ لِأَنَّهَا كَانَتْ ضَيِّقَةً نَوْعًا مَا. أَحْضَرَتِ البَائِعَةُ مَقَاسًا أَكْبَرَ، وَكَانَتِ السُّتْرَةُ مُنَاسِبَةً وَمُرِيحَةً. سَأَلَتْ سَارَةُ: كَمْ ثَمَنُهَا؟ فَقَالَتِ البَائِعَةُ إِنَّ عَلَيْهَا تَخْفِيضًا وَثَمَنَهَا خَمْسَةٌ وَثَلَاثُونَ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“Ask for an item by size, colour and material, compare alternatives and prices, then decide what to buy and explain the choice.”
Website Topic B challenge “Clothes-shop role-play” (comparatives, numbers, demonstratives, object pronouns). Reuses AT-A-L05 café politeness (مِنْ فَضْلِكَ / كِ). Stretch object pronoun: سَآخُذُهُ / سَآخُذُهَا (I will take it —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تُرِيدُ أَنْ تُجَرِّبَهُ؟ (Do you want to try it on?)
B: نَعَمْ، وَأُرِيدُ مَقَاسًا أَكْبَرَ. (Yes, and I want a larger size.)
Website prompts (order changed for routes). Website model continues: A: هَلْ تُرِيدُ أَنْ تُجَرِّبَهُ؟ (Do you want to try it on?) B: نَعَمْ، وَأُرِيدُ مَقَاسًا أَكْبَرَ. (Yes, and I want a bigger size.) — pairs can extend it into a full shop role-play (customer +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a shopping trip for clothes. Describe what you need, colours, sizes, prices, what you try on, what you buy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هَلْ لَدَيْكُمْ هٰذَا المِعْطَفُ بِمَقَاسٍ أَكْبَرَ؟ · أَسْوَدَ، بُنِّيًّا · كَمْ ثَمَنُهُ؟ · اشْتَرَيْتُ … لِأَنَّهُمَا عَمَلِيَّانِ. Stretch: the model is in the PAST (ذَهَبْتُ، رَأَيْتُ، جَرَّبْتُ، اشْتَرَيْتُ) — a good challenge for confident writers.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(TB-L08 · Hobbies, Sport and Free Time) will spend class time USING this language, so students prepare it tonight — short, simple, easy to access (school guidance: “Simple, Short, Interesting, Relevant, Easy to access”). The five words come from the website D5-L01 vocabulary (the TB-L08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Clothes, Accessories and Shopping</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المَلَابِسُ وَالإِكْسِسْوَارَاتُ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Choose, compare and buy clothes while discussing size, material, colour and price.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TB-L07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This / this (f.) + colour agreement, then shop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فُسْتَانٌ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shirt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حِذَاءٌ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trousers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belt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elegant and calm.”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أَنِيقٌ وَهَادِئٌ.</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أَنِيقَةٌ وَهَادِئَةٌ.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أَنِيقَةٌ وَهَادِئَةٌ.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brother.”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فُسْتَانٌ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shirt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حِذَاءٌ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trousers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belt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TB-L02: -nī = 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elegant and calm.”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أَنِيقٌ وَهَادِئٌ.</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أَنِيقَةٌ وَهَادِئَةٌ.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أَنِيقَةٌ وَهَادِئَةٌ.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she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brother.”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TB-L02: with = maʿa.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Masculine item → </a:t>
            </a:r>
            <a:pPr algn="l" indent="0" marL="0">
              <a:buNone/>
            </a:pPr>
            <a:r>
              <a:rPr lang="ar-SA" altLang="en-US" sz="1700" b="1" dirty="0">
                <a:solidFill>
                  <a:srgbClr val="1F2A37"/>
                </a:solidFill>
                <a:latin typeface="Amiri" pitchFamily="34" charset="0"/>
                <a:ea typeface="Amiri" pitchFamily="34" charset="-122"/>
                <a:cs typeface="Amiri" pitchFamily="34" charset="-120"/>
              </a:rPr>
              <a:t>هٰذَا</a:t>
            </a:r>
            <a:pPr algn="l" indent="0" marL="0">
              <a:buNone/>
            </a:pPr>
            <a:r>
              <a:rPr lang="en-US" sz="1300" b="1" dirty="0">
                <a:solidFill>
                  <a:srgbClr val="1F2A37"/>
                </a:solidFill>
                <a:latin typeface="Calibri" pitchFamily="34" charset="0"/>
                <a:ea typeface="Calibri" pitchFamily="34" charset="-122"/>
                <a:cs typeface="Calibri" pitchFamily="34" charset="-120"/>
              </a:rPr>
              <a:t> + masculine colour. Feminine item (</a:t>
            </a:r>
            <a:pPr algn="l" indent="0" marL="0">
              <a:buNone/>
            </a:pPr>
            <a:r>
              <a:rPr lang="ar-SA" altLang="en-US" sz="1700" b="1" dirty="0">
                <a:solidFill>
                  <a:srgbClr val="1F2A37"/>
                </a:solidFill>
                <a:latin typeface="Amiri" pitchFamily="34" charset="0"/>
                <a:ea typeface="Amiri" pitchFamily="34" charset="-122"/>
                <a:cs typeface="Amiri" pitchFamily="34" charset="-120"/>
              </a:rPr>
              <a:t>ـةٌ</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هٰذِهِ</a:t>
            </a:r>
            <a:pPr algn="l" indent="0" marL="0">
              <a:buNone/>
            </a:pPr>
            <a:r>
              <a:rPr lang="en-US" sz="1300" b="1" dirty="0">
                <a:solidFill>
                  <a:srgbClr val="1F2A37"/>
                </a:solidFill>
                <a:latin typeface="Calibri" pitchFamily="34" charset="0"/>
                <a:ea typeface="Calibri" pitchFamily="34" charset="-122"/>
                <a:cs typeface="Calibri" pitchFamily="34" charset="-120"/>
              </a:rPr>
              <a:t> + feminine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القَمِيصُ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الأَزْرَقُ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السُّتْرَةُ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الزَّرْقَاءُ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TB-L07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Demonstratives, adjective agreement and polite shopping.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clothes and accessories.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“How much is it?” and “Can I try it 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هٰذَا / هٰذِهِ</a:t>
            </a:r>
            <a:pPr algn="l" indent="0" marL="0">
              <a:buNone/>
            </a:pPr>
            <a:r>
              <a:rPr lang="en-US" sz="1300" b="1" dirty="0">
                <a:solidFill>
                  <a:srgbClr val="C9780A"/>
                </a:solidFill>
                <a:latin typeface="Calibri" pitchFamily="34" charset="0"/>
                <a:ea typeface="Calibri" pitchFamily="34" charset="-122"/>
                <a:cs typeface="Calibri" pitchFamily="34" charset="-120"/>
              </a:rPr>
              <a:t> and make colours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something is too tight or too loose.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run a complete shop conversation.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shopping trip in the past and explain my choice.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Clothes and accessories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Shopping language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and suitability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قَمِيصٌ</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‎قمیص‎ </a:t>
            </a:r>
            <a:pPr indent="0" marL="0">
              <a:buNone/>
            </a:pPr>
            <a:r>
              <a:rPr lang="en-US" sz="950" b="1" dirty="0">
                <a:solidFill>
                  <a:srgbClr val="2E8B57"/>
                </a:solidFill>
                <a:latin typeface="Calibri" pitchFamily="34" charset="0"/>
                <a:ea typeface="Calibri" pitchFamily="34" charset="-122"/>
                <a:cs typeface="Calibri" pitchFamily="34" charset="-120"/>
              </a:rPr>
              <a:t> qamīz · shirt, tunic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حِجَابٌ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‎حجاب‎ </a:t>
            </a:r>
            <a:pPr indent="0" marL="0">
              <a:buNone/>
            </a:pPr>
            <a:r>
              <a:rPr lang="en-US" sz="950" b="1" dirty="0">
                <a:solidFill>
                  <a:srgbClr val="2E8B57"/>
                </a:solidFill>
                <a:latin typeface="Calibri" pitchFamily="34" charset="0"/>
                <a:ea typeface="Calibri" pitchFamily="34" charset="-122"/>
                <a:cs typeface="Calibri" pitchFamily="34" charset="-120"/>
              </a:rPr>
              <a:t> hijāb · headscarf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price (Arabic qīma = value)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‎رنگ‎ </a:t>
            </a:r>
            <a:pPr indent="0" marL="0">
              <a:buNone/>
            </a:pPr>
            <a:r>
              <a:rPr lang="en-US" sz="950" b="1" dirty="0">
                <a:solidFill>
                  <a:srgbClr val="2E8B57"/>
                </a:solidFill>
                <a:latin typeface="Calibri" pitchFamily="34" charset="0"/>
                <a:ea typeface="Calibri" pitchFamily="34" charset="-122"/>
                <a:cs typeface="Calibri" pitchFamily="34" charset="-120"/>
              </a:rPr>
              <a:t> rang · colour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مُنَاسِبٌ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‎مناسب‎ </a:t>
            </a:r>
            <a:pPr indent="0" marL="0">
              <a:buNone/>
            </a:pPr>
            <a:r>
              <a:rPr lang="en-US" sz="950" b="1" dirty="0">
                <a:solidFill>
                  <a:srgbClr val="2E8B57"/>
                </a:solidFill>
                <a:latin typeface="Calibri" pitchFamily="34" charset="0"/>
                <a:ea typeface="Calibri" pitchFamily="34" charset="-122"/>
                <a:cs typeface="Calibri" pitchFamily="34" charset="-120"/>
              </a:rPr>
              <a:t> munāsib · suitable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and accessories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سِرْوَالٌ</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trousers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sir-wā-lun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سَرَاوِيلُ</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السِّرْوَالُ</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تَنُّورَةٌ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tan-nū-ra-tun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تَنَانِيرُ</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التَّنُّورَةُ</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8" name="Shape 8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فُسْتَانٌ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fus-tā-nun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فَسَاتِينُ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9" name="Text 96"/>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الفُسْتَانُ</a:t>
            </a:r>
            <a:endParaRPr lang="ar-SA" sz="135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6" name="Shape 103"/>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مِعْطَفٌ</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miʿ-ṭa-fun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مَعَاطِفُ</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17" name="Text 114"/>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المِعْطَفُ</a:t>
            </a:r>
            <a:endParaRPr lang="ar-SA" sz="135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and accessories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jacket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sut-ra-tun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السُّتْرَةُ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أَحْذِيَةٌ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الحِذَاءُ</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حِجَابٌ</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headscarf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ḥi-jā-bun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أَحْجِبَةٌ</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الحِجَابُ</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قُبَّعَةٌ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qub-ba-ʿa-tun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قُبَّعَاتٌ</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القُبَّعَةُ</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6" name="Shape 8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حِزَامٌ</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ḥi-zā-mun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أَحْزِمَةٌ</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5" name="Text 9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الحِزَامُ</a:t>
            </a:r>
            <a:endParaRPr lang="ar-SA" sz="135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2" name="Shape 9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الحَقِيبَةُ</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Shopping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size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القِيَاسِ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al-qi-yā-si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tha-ma-nun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تَخْفِيضٌ</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takh-fī-ḍun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مُنَاسِبٌ / مُنَاسِبَةٌ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suitable/fits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mu-nā-si-bun / mu-nā-si-ba-tun</a:t>
            </a:r>
            <a:endParaRPr lang="en-US" sz="1350" dirty="0"/>
          </a:p>
        </p:txBody>
      </p:sp>
      <p:sp>
        <p:nvSpPr>
          <p:cNvPr id="46" name="Shape 4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مُنَاسِبُونَ</a:t>
            </a:r>
            <a:endParaRPr lang="ar-SA" sz="1500" dirty="0"/>
          </a:p>
        </p:txBody>
      </p:sp>
      <p:sp>
        <p:nvSpPr>
          <p:cNvPr id="49" name="Shape 4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1" name="Text 4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مُنَاسِبَةٌ</a:t>
            </a:r>
            <a:endParaRPr lang="ar-SA" sz="1500" dirty="0"/>
          </a:p>
        </p:txBody>
      </p:sp>
      <p:sp>
        <p:nvSpPr>
          <p:cNvPr id="52" name="Shape 4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4" name="Text 5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مُنَاسِبٌ</a:t>
            </a:r>
            <a:endParaRPr lang="ar-SA" sz="15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8" name="Shape 5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0" name="Text 5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وَاسِعٌ / وَاسِعَةٌ</a:t>
            </a:r>
            <a:endParaRPr lang="ar-SA" sz="3000" dirty="0"/>
          </a:p>
        </p:txBody>
      </p:sp>
      <p:sp>
        <p:nvSpPr>
          <p:cNvPr id="61" name="Text 5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loose/wide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wā-si-ʿun / wā-si-ʿa-tun</a:t>
            </a:r>
            <a:endParaRPr lang="en-US" sz="1350" dirty="0"/>
          </a:p>
        </p:txBody>
      </p:sp>
      <p:sp>
        <p:nvSpPr>
          <p:cNvPr id="62" name="Shape 5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وَاسِعَةٌ</a:t>
            </a:r>
            <a:endParaRPr lang="ar-SA" sz="1500" dirty="0"/>
          </a:p>
        </p:txBody>
      </p:sp>
      <p:sp>
        <p:nvSpPr>
          <p:cNvPr id="65" name="Shape 6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وَاسِعَةٌ</a:t>
            </a:r>
            <a:endParaRPr lang="ar-SA" sz="1500" dirty="0"/>
          </a:p>
        </p:txBody>
      </p:sp>
      <p:sp>
        <p:nvSpPr>
          <p:cNvPr id="68" name="Shape 6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وَاسِعٌ</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Shopping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ضَيِّقٌ / ضَيِّقَةٌ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tight/narrow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ḍay-yi-qun / ḍay-yi-qa-tun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ضَيِّقَةٌ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أُجَرِّبَ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try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u-jar-ri-ba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لَدَيْكُمْ...؟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la-day-kum...?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ثَمَنُهُ / ثَمَنُهَا؟</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tha-ma-nu-hu / tha-ma-nu-hā?</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أَبْحَثُ عَنْ</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looking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ab-ḥa-thu ʿan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سَأَشْتَرِي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sa-ʾash-ta-rī</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and suitability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and suitability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THIS + COLOUR AGREEMENT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blue shirt · this blue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item</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item</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Colour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القَمِيصُ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الأَزْرَقُ</a:t>
            </a:r>
            <a:endParaRPr lang="ar-SA" sz="24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السُّتْرَةُ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الزَّرْقَاءُ</a:t>
            </a:r>
            <a:endParaRPr lang="ar-SA" sz="24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blue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المِعْطَفُ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الأَسْوَدُ</a:t>
            </a:r>
            <a:endParaRPr lang="ar-SA" sz="24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الحَقِيبَةُ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السَّوْدَاءُ</a:t>
            </a:r>
            <a:endParaRPr lang="ar-SA" sz="24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black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الحِذَاءُ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الأَبْيَضُ</a:t>
            </a:r>
            <a:endParaRPr lang="ar-SA" sz="24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التَّنُّورَةُ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البَيْضَاءُ</a:t>
            </a:r>
            <a:endParaRPr lang="ar-SA" sz="24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white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الفُسْتَانُ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الأَحْمَرُ</a:t>
            </a:r>
            <a:endParaRPr lang="ar-SA" sz="2400" dirty="0"/>
          </a:p>
        </p:txBody>
      </p:sp>
      <p:sp>
        <p:nvSpPr>
          <p:cNvPr id="39" name="Text 36"/>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القُبَّعَةُ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الحَمْرَاءُ</a:t>
            </a:r>
            <a:endParaRPr lang="ar-SA" sz="2400" dirty="0"/>
          </a:p>
        </p:txBody>
      </p:sp>
      <p:sp>
        <p:nvSpPr>
          <p:cNvPr id="40" name="Text 37"/>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الحِزَامُ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البُنِّيُّ</a:t>
            </a:r>
            <a:endParaRPr lang="ar-SA" sz="24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الحَقِيبَةُ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البُنِّيَّةُ</a:t>
            </a:r>
            <a:endParaRPr lang="ar-SA" sz="24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brown (+ -a)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Main colours change shape for feminine: aḥmar → ḥamrāʾ. Other colours just add -a: bunnī → bunniyya.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POLITE SHOPPING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المَتْجَرِ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TRY 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أُجَرِّبَ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أُرِيدُ أَنْ أُجَرِّبَ هٰذَا المِعْطَفَ.</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to try on this coat.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fatḥa (D1-L04 (website)).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SIZE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لَدَيْكُمْ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لَدَيْكُمْ مَقَاسٌ أَكْبَرُ؟ هٰذِهِ السُّتْرَةُ ضَيِّقَةٌ.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have a bigger size? This jacket is tight.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Tight / loose agree too.</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PRICE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ثَمَنُهُ / ثَمَنُهَا؟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كَمْ ثَمَنُهَا؟ — الحَقِيبَةُ بِأَرْبَعِينَ جُنَيْهًا.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it? — The bag is forty pounds.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-hu for m., -hā for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ask the price with the right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الحَقِيبَةُ: كَمْ ثَمَنُهَا؟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الحَقِيبَةُ: كَمْ ثَمَنُهُ؟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Demonstratives, adjective agreement and polite shopping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100" b="1" dirty="0">
                <a:solidFill>
                  <a:srgbClr val="8A6D1E"/>
                </a:solidFill>
                <a:latin typeface="Amiri" pitchFamily="34" charset="0"/>
                <a:ea typeface="Amiri" pitchFamily="34" charset="-122"/>
                <a:cs typeface="Amiri" pitchFamily="34" charset="-120"/>
              </a:rPr>
              <a:t>أَسْمَاءُ الإِشَارَةِ وَمُطَابَقَةُ الصِّفَةِ وَلُغَةُ التَّسَوُّقِ</a:t>
            </a:r>
            <a:endParaRPr lang="ar-SA" sz="21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This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هٰذَا + مُذَكَّرٌ / هٰذِهِ +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القَمِيصُ جَمِيلٌ.   ·   هٰذِهِ السُّتْرَةُ جَمِيلَةٌ.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Colour and size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القَمِيصُ الأَبْيَضُ   ·   الحَقِيبَةُ السَّوْدَاءُ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Ask price with pronoun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ثَمَنُهُ؟ / كَمْ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ثَمَنُهُ؟ القَمِيصُ بِثَلَاثِينَ جُنَيْهًا.   ·   كَمْ ثَمَنُهَا؟ الحَقِيبَةُ بِأَرْبَعِينَ جُنَيْهًا.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Polite request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أَنْ أُجَرِّبَ / هَلْ لَدَيْكُمْ...؟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أَنْ أُجَرِّبَ هٰذَا المِعْطَفَ.   ·   هَلْ لَدَيْكُمْ هٰذِهِ السُّتْرَةُ بِمَقَاسٍ أَكْبَرَ؟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الأَزْرَقُ</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الزَّرْقَاءُ</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أُجَرِّبَ هٰذَا الحِذَاءَ.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أُجَرِّبُ هٰذَا.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جَرِّبْ أَنَا الحِذَاءَ.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الأَزْرَقُ</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الزَّرْقَاءُ</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definite noun takes masculine definite adjective.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مَقَاسُهُ؟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أُجَرِّبَ هٰذَا الحِذَاءَ.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أُجَرِّبُ هٰذَا.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جَرِّبْ أَنَا الحِذَاءَ.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verb.</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buy a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هَلْ لَدَيْكُمْ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السُّتْرَةُ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الزَّرْقَاءُ</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Sutra ends in -a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Try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أُرِيدُ أَنْ أُجَرِّبَ</a:t>
            </a:r>
            <a:pPr rtl="1" algn="ctr" indent="0" marL="0">
              <a:buNone/>
            </a:pPr>
            <a:r>
              <a:rPr lang="ar-SA" altLang="en-US" sz="2800" b="1" dirty="0">
                <a:solidFill>
                  <a:srgbClr val="1D5FBF"/>
                </a:solidFill>
                <a:latin typeface="Amiri" pitchFamily="34" charset="0"/>
                <a:ea typeface="Amiri" pitchFamily="34" charset="-122"/>
                <a:cs typeface="Amiri" pitchFamily="34" charset="-120"/>
              </a:rPr>
              <a:t>هَا</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fatḥa; -hā = it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ضَيِّقَ</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نَوْعًا مَا؛ هَلْ لَدَيْكُمْ مَقَاسٌ أَكْبَرُ؟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Tight agrees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كَمْ ثَمَنُ</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خَمْسَةٌ وَثَلَاثُونَ جُنَيْهًا.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item → thamanuhā.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(-HĀ = IT)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لَدَيْكُمْ </a:t>
            </a:r>
            <a:pPr rtl="1" algn="r" indent="0" marL="0">
              <a:buNone/>
            </a:pPr>
            <a:r>
              <a:rPr lang="ar-SA" altLang="en-US" sz="1800" b="1" dirty="0">
                <a:solidFill>
                  <a:srgbClr val="D6336C"/>
                </a:solidFill>
                <a:latin typeface="Amiri" pitchFamily="34" charset="0"/>
                <a:ea typeface="Amiri" pitchFamily="34" charset="-122"/>
                <a:cs typeface="Amiri" pitchFamily="34" charset="-120"/>
              </a:rPr>
              <a:t>هٰذِهِ</a:t>
            </a:r>
            <a:pPr rtl="1" algn="r" indent="0" marL="0">
              <a:buNone/>
            </a:pPr>
            <a:r>
              <a:rPr lang="ar-SA" altLang="en-US" sz="1800" b="1" dirty="0">
                <a:solidFill>
                  <a:srgbClr val="1B3B6F"/>
                </a:solidFill>
                <a:latin typeface="Amiri" pitchFamily="34" charset="0"/>
                <a:ea typeface="Amiri" pitchFamily="34" charset="-122"/>
                <a:cs typeface="Amiri" pitchFamily="34" charset="-120"/>
              </a:rPr>
              <a:t> السُّتْرَةُ </a:t>
            </a:r>
            <a:pPr rtl="1" algn="r" indent="0" marL="0">
              <a:buNone/>
            </a:pPr>
            <a:r>
              <a:rPr lang="ar-SA" altLang="en-US" sz="1800" b="1" dirty="0">
                <a:solidFill>
                  <a:srgbClr val="D6336C"/>
                </a:solidFill>
                <a:latin typeface="Amiri" pitchFamily="34" charset="0"/>
                <a:ea typeface="Amiri" pitchFamily="34" charset="-122"/>
                <a:cs typeface="Amiri" pitchFamily="34" charset="-120"/>
              </a:rPr>
              <a:t>الزَّرْقَاءُ</a:t>
            </a:r>
            <a:pPr rtl="1" algn="r" indent="0" marL="0">
              <a:buNone/>
            </a:pPr>
            <a:r>
              <a:rPr lang="ar-SA" altLang="en-US" sz="1800" b="1" dirty="0">
                <a:solidFill>
                  <a:srgbClr val="1B3B6F"/>
                </a:solidFill>
                <a:latin typeface="Amiri" pitchFamily="34" charset="0"/>
                <a:ea typeface="Amiri" pitchFamily="34" charset="-122"/>
                <a:cs typeface="Amiri" pitchFamily="34" charset="-120"/>
              </a:rPr>
              <a:t>؟ أُرِيدُ أَنْ أُجَرِّبَ</a:t>
            </a:r>
            <a:pPr rtl="1" algn="r" indent="0" marL="0">
              <a:buNone/>
            </a:pPr>
            <a:r>
              <a:rPr lang="ar-SA" altLang="en-US" sz="1800" b="1" dirty="0">
                <a:solidFill>
                  <a:srgbClr val="1D5FBF"/>
                </a:solidFill>
                <a:latin typeface="Amiri" pitchFamily="34" charset="0"/>
                <a:ea typeface="Amiri" pitchFamily="34" charset="-122"/>
                <a:cs typeface="Amiri" pitchFamily="34" charset="-120"/>
              </a:rPr>
              <a:t>هَا</a:t>
            </a:r>
            <a:pPr rtl="1" algn="r" indent="0" marL="0">
              <a:buNone/>
            </a:pPr>
            <a:r>
              <a:rPr lang="ar-SA" altLang="en-US" sz="1800" b="1" dirty="0">
                <a:solidFill>
                  <a:srgbClr val="1B3B6F"/>
                </a:solidFill>
                <a:latin typeface="Amiri" pitchFamily="34" charset="0"/>
                <a:ea typeface="Amiri" pitchFamily="34" charset="-122"/>
                <a:cs typeface="Amiri" pitchFamily="34" charset="-120"/>
              </a:rPr>
              <a:t>. … </a:t>
            </a:r>
            <a:pPr rtl="1" algn="r" indent="0" marL="0">
              <a:buNone/>
            </a:pPr>
            <a:r>
              <a:rPr lang="ar-SA" altLang="en-US" sz="1800" b="1" dirty="0">
                <a:solidFill>
                  <a:srgbClr val="D6336C"/>
                </a:solidFill>
                <a:latin typeface="Amiri" pitchFamily="34" charset="0"/>
                <a:ea typeface="Amiri" pitchFamily="34" charset="-122"/>
                <a:cs typeface="Amiri" pitchFamily="34" charset="-120"/>
              </a:rPr>
              <a:t>هِيَ</a:t>
            </a:r>
            <a:pPr rtl="1" algn="r" indent="0" marL="0">
              <a:buNone/>
            </a:pPr>
            <a:r>
              <a:rPr lang="ar-SA" altLang="en-US" sz="1800" b="1" dirty="0">
                <a:solidFill>
                  <a:srgbClr val="1B3B6F"/>
                </a:solidFill>
                <a:latin typeface="Amiri" pitchFamily="34" charset="0"/>
                <a:ea typeface="Amiri" pitchFamily="34" charset="-122"/>
                <a:cs typeface="Amiri" pitchFamily="34" charset="-120"/>
              </a:rPr>
              <a:t> ضَيِّقَ</a:t>
            </a:r>
            <a:pPr rtl="1" algn="r" indent="0" marL="0">
              <a:buNone/>
            </a:pPr>
            <a:r>
              <a:rPr lang="ar-SA" altLang="en-US" sz="1800" b="1" dirty="0">
                <a:solidFill>
                  <a:srgbClr val="D6336C"/>
                </a:solidFill>
                <a:latin typeface="Amiri" pitchFamily="34" charset="0"/>
                <a:ea typeface="Amiri" pitchFamily="34" charset="-122"/>
                <a:cs typeface="Amiri" pitchFamily="34" charset="-120"/>
              </a:rPr>
              <a:t>ةٌ</a:t>
            </a:r>
            <a:pPr rtl="1" algn="r" indent="0" marL="0">
              <a:buNone/>
            </a:pPr>
            <a:r>
              <a:rPr lang="ar-SA" altLang="en-US" sz="1800" b="1" dirty="0">
                <a:solidFill>
                  <a:srgbClr val="1B3B6F"/>
                </a:solidFill>
                <a:latin typeface="Amiri" pitchFamily="34" charset="0"/>
                <a:ea typeface="Amiri" pitchFamily="34" charset="-122"/>
                <a:cs typeface="Amiri" pitchFamily="34" charset="-120"/>
              </a:rPr>
              <a:t> نَوْعًا مَا؛ هَلْ لَدَيْكُمْ مَقَاسٌ أَكْبَرُ؟ … الآنَ هِيَ مُنَاسِبَ</a:t>
            </a:r>
            <a:pPr rtl="1" algn="r" indent="0" marL="0">
              <a:buNone/>
            </a:pPr>
            <a:r>
              <a:rPr lang="ar-SA" altLang="en-US" sz="1800" b="1" dirty="0">
                <a:solidFill>
                  <a:srgbClr val="D6336C"/>
                </a:solidFill>
                <a:latin typeface="Amiri" pitchFamily="34" charset="0"/>
                <a:ea typeface="Amiri" pitchFamily="34" charset="-122"/>
                <a:cs typeface="Amiri" pitchFamily="34" charset="-120"/>
              </a:rPr>
              <a:t>ةٌ</a:t>
            </a:r>
            <a:pPr rtl="1" algn="r" indent="0" marL="0">
              <a:buNone/>
            </a:pPr>
            <a:r>
              <a:rPr lang="ar-SA" altLang="en-US" sz="1800" b="1" dirty="0">
                <a:solidFill>
                  <a:srgbClr val="1B3B6F"/>
                </a:solidFill>
                <a:latin typeface="Amiri" pitchFamily="34" charset="0"/>
                <a:ea typeface="Amiri" pitchFamily="34" charset="-122"/>
                <a:cs typeface="Amiri" pitchFamily="34" charset="-120"/>
              </a:rPr>
              <a:t> وَمُرِيحَ</a:t>
            </a:r>
            <a:pPr rtl="1" algn="r" indent="0" marL="0">
              <a:buNone/>
            </a:pPr>
            <a:r>
              <a:rPr lang="ar-SA" altLang="en-US" sz="1800" b="1" dirty="0">
                <a:solidFill>
                  <a:srgbClr val="D6336C"/>
                </a:solidFill>
                <a:latin typeface="Amiri" pitchFamily="34" charset="0"/>
                <a:ea typeface="Amiri" pitchFamily="34" charset="-122"/>
                <a:cs typeface="Amiri" pitchFamily="34" charset="-120"/>
              </a:rPr>
              <a:t>ةٌ</a:t>
            </a:r>
            <a:pPr rtl="1" algn="r" indent="0" marL="0">
              <a:buNone/>
            </a:pPr>
            <a:r>
              <a:rPr lang="ar-SA" altLang="en-US" sz="1800" b="1" dirty="0">
                <a:solidFill>
                  <a:srgbClr val="1B3B6F"/>
                </a:solidFill>
                <a:latin typeface="Amiri" pitchFamily="34" charset="0"/>
                <a:ea typeface="Amiri" pitchFamily="34" charset="-122"/>
                <a:cs typeface="Amiri" pitchFamily="34" charset="-120"/>
              </a:rPr>
              <a:t>. كَمْ ثَمَنُ</a:t>
            </a:r>
            <a:pPr rtl="1" algn="r" indent="0" marL="0">
              <a:buNone/>
            </a:pPr>
            <a:r>
              <a:rPr lang="ar-SA" altLang="en-US" sz="1800" b="1" dirty="0">
                <a:solidFill>
                  <a:srgbClr val="D6336C"/>
                </a:solidFill>
                <a:latin typeface="Amiri" pitchFamily="34" charset="0"/>
                <a:ea typeface="Amiri" pitchFamily="34" charset="-122"/>
                <a:cs typeface="Amiri" pitchFamily="34" charset="-120"/>
              </a:rPr>
              <a:t>هَا</a:t>
            </a:r>
            <a:pPr rtl="1" algn="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Do you have this blue jacket? I would like to try it on. … It is somewhat tight; do you have a bigger size? … Now it fits and is comfortable. How much is it?</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القَمِيصُ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shirt is beautiful.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hādhā + masculine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القَمِيصُ الأَبْيَضُ</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white shirt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Colour after the noun, with 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ثَمَنُهُ؟ القَمِيصُ بِثَلَاثِينَ جُنَيْهًا.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much is it? The shirt is thirty pounds.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thamanuhu for a masculine item.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أُجَرِّبَ هٰذَا المِعْطَفَ.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to try on this coat.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Polite request: an +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CLOTHES AND ACCESSORIES — VOCABULARY AND SHOPPING”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What are they wearing?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blue shirt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brown bag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تَلْبَسُ فُسْتَانًا أَحْمَرَ.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حَقِيبَةٌ بُنِّيَّةٌ.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يَلْبَسُ قَمِيصًا أَزْرَقَ.</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blue shirt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يَلْبَسُ قَمِيصًا أَزْرَقَ.</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wearing a blue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تَلْبَسُ فُسْتَانًا أَحْمَرَ.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wearing a red dress.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brown bag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حَقِيبَةٌ بُنِّيَّةٌ.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brown bag.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هٰذِهِ السُّتْرَةُ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الأَزْرَقُ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أُجَرِّبَ هٰذَا الحِذَاءَ.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السُّتْرَةُ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الزَّرْقَاءُ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أُجَرِّبُ هٰذَا.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هٰذِهِ السُّتْرَةُ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الأَزْرَقُ</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أُجَرِّبَ هٰذَا الحِذَاءَ.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السُّتْرَةُ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أُجَرِّبُ هٰذَا.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الحِذَاءُ؟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لَدَيْكُمْ مَقَاسٌ أَكْبَرُ؟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بُنِّيًّا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السِّرْوَالُ ___ جِدًّا.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shop response.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القَمِيصُ صَادِقٌ.</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المَدْرَسَةِ.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غُرْفَةُ القِيَاسِ عَلَى اليَسَارِ.</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الحِذَاءُ؟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لَدَيْكُمْ مَقَاسٌ أَكْبَرُ؟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asks about size.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البُنِّيُّ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الحَقِيبَةُ البُنِّيَّةُ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بُنِّيًّا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and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السِّرْوَالُ ___ جِدًّا.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وَاسِعٌ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سِرْوَالٌ</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shop response.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القَمِيصُ صَادِقٌ.</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 غُرْفَةُ القِيَاسِ عَلَى اليَسَارِ.</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answers a shopping context.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السُّتْرَةُ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Sutra ends in -a: this (m.) or this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القَمِيصُ الزَّرْقَاءُ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Shirt is masculine: which colour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الحَقِيبَةُ: كَمْ ثَمَنُهُ؟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Bag is feminine: which price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السُّتْرَةُ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السُّتْرَةُ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سُتْرَةٌ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القَمِيصُ الزَّرْقَاءُ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القَمِيصُ الأَزْرَقُ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item takes the masculine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الحَقِيبَةُ: كَمْ ثَمَنُهُ؟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الحَقِيبَةُ: كَمْ ثَمَنُهَا؟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حَقِيبَةٌ</a:t>
            </a:r>
            <a:pPr algn="l" indent="0" marL="0">
              <a:buNone/>
            </a:pPr>
            <a:r>
              <a:rPr lang="en-US" sz="1150" b="1" dirty="0">
                <a:solidFill>
                  <a:srgbClr val="1B3B6F"/>
                </a:solidFill>
                <a:latin typeface="Calibri" pitchFamily="34" charset="0"/>
                <a:ea typeface="Calibri" pitchFamily="34" charset="-122"/>
                <a:cs typeface="Calibri" pitchFamily="34" charset="-120"/>
              </a:rPr>
              <a:t> is feminine → </a:t>
            </a:r>
            <a:pPr algn="l" indent="0" marL="0">
              <a:buNone/>
            </a:pPr>
            <a:r>
              <a:rPr lang="ar-SA" altLang="en-US" sz="1500" b="1" dirty="0">
                <a:solidFill>
                  <a:srgbClr val="1B3B6F"/>
                </a:solidFill>
                <a:latin typeface="Amiri" pitchFamily="34" charset="0"/>
                <a:ea typeface="Amiri" pitchFamily="34" charset="-122"/>
                <a:cs typeface="Amiri" pitchFamily="34" charset="-120"/>
              </a:rPr>
              <a:t>ثَمَنُهَا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focus: clothes shopping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Sara want to try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jacket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red 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problem?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too long</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the wrong colour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somewhat tight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shop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different colour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cheaper jacket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the new jacket?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suitable and comfortable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still tight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big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it cheaper?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second-hand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had a discount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a small size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it cost?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 pounds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 pounds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pounds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الزَّرْقَاءَ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ضَيِّقَةً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خَمْسَةٌ وَثَلَاثُونَ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دَخَلَتْ سَارَةُ مَتْجَرَ المَلَابِسِ وَقَالَتْ: أُرِيدُ أَنْ أُجَرِّبَ هٰذِهِ السُّتْرَةَ الزَّرْقَاءَ.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 went into the clothes shop and said: I would like to try on this blue jacket.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سَأَلَتْ عَنِ المَقَاسِ لِأَنَّهَا كَانَتْ ضَيِّقَةً نَوْعًا مَا.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asked about the size because it was somewhat tight.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أَحْضَرَتِ البَائِعَةُ مَقَاسًا أَكْبَرَ، وَكَانَتِ السُّتْرَةُ مُنَاسِبَةً وَمُرِيحَةً.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shop assistant brought a bigger size, and the jacket fitted and was comfortable.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سَأَلَتْ سَارَةُ: كَمْ ثَمَنُهَا؟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 asked: How much is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فَقَالَتِ البَائِعَةُ إِنَّ عَلَيْهَا تَخْفِيضًا وَثَمَنَهَا خَمْسَةٌ وَثَلَاثُونَ جُنَيْهًا.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assistant said it was reduced and its price was thirty-five pounds.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Sara want to try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blue jacket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black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red 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أُرِيدُ أَنْ أُجَرِّبَ هٰذِهِ السُّتْرَةَ الزَّرْقَاءَ.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problem?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too long</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the wrong colour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was somewhat tight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ضَيِّقَةً نَوْعًا 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shop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different colour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cheaper jacket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bigger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أَحْضَرَتِ البَائِعَةُ مَقَاسًا أَكْبَرَ.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the new jacket?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suitable and comfortable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still tight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big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مُنَاسِبَةً وَمُرِيحَةً.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it cheaper?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second-hand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had a discount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a small size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عَلَيْهَا تَخْفِيضًا.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it cost?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 pounds</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 pounds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 pounds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خَمْسَةٌ وَثَلَاثُونَ جُنَيْهًا.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الزَّرْقَاءَ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ضَيِّقَةً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خَمْسَةٌ وَثَلَاثُونَ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Clothes-shop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Clothes-shop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Ask for an item by size, colour and material, compare alternatives and prices, then decide what to buy and explain the choice.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A is the customer, B the shop assistant (then swap).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Customer asks for an item by size, colour and material.</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Assistant offers two alternatives with prices; customer compares them.</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Customer decides and explains the choice. Two pairs perform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for one item with a colour: “urīdu qamīṣan azraq, min faḍlika”.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size and price: “bi-kam hādhā?” and compare two items.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with a comparative (arkhaṣu min, a‘jabu) and justify the decision.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أُرِيدُ … مِنْ فَضْلِكَ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would like …, please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مَقَاسٌ كَبِيرٌ / صَغِيرٌ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 large / small size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بِكَمْ هٰذَا؟ / بِكَمْ هٰذِهِ؟</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how much is this?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هٰذَا أَرْخَصُ مِنْ ذٰلِكَ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this is cheaper than that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Developed speaking: clothes shopping</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لَوْنُكَ وَمَقَاسُكَ المُفَضَّلَانِ؟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تَلْبَسُ فِي مُنَاسَبَةٍ خَاصَّةٍ؟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آخِرَ رِحْلَةٍ إِلَى مَتْجَرِ المَلَابِسِ.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الشِّرَاءَ مِنَ المَتْجَرِ أَمْ عَبْرَ الإِنْتَرْنِتِ؟</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لَوْنِي المُفَضَّلُ ___ ، وَمَقَاسِي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مُنَاسَبَةٍ خَاصَّةٍ أَلْبَسُ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ذَهَبْتُ إِلَى المَتْجَرِ وَجَرَّبْتُ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الشِّرَاءَ ___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تَبْحَثُ عَنْهُ؟</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you looking for?</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أَبْحَثُ عَنْ مِعْطَفٍ أَسْوَدَ.</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looking for a black coat.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Describe an outfit: five items with this / this (f.) and a colour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shop conversation: what you are looking for, size, trying on, price.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shopping trip — what you needed, colours, sizes, prices, what you tried, what you bought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لَدَيْكُمْ ______ بِمَقَاسٍ أَكْبَرَ؟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 in a bigger size?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ضَيِّقٌ / وَاسِعٌ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somewhat tight / loose.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غُرْفَةُ القِيَاسِ؟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the changing room?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سَأَشْتَرِي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buy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مُنَاسِبٌ وَمُرِيحٌ. / هِيَ مُنَاسِبَةٌ وَمُرِيحَةٌ.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suitable and comfortable.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القَمِيصُ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shirt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السُّتْرَةُ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jacket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looking for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أُجَرِّبَ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to try on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ثَمَنُهُ؟ / كَمْ ثَمَنُهَا؟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it?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  هٰذِهِ  ·  قَمِيصٌ  ·  سُتْرَةٌ  ·  فُسْتَانٌ  ·  حِذَاءٌ  ·  حَقِيبَةٌ  ·  مَقَاسٌ  ·  ضَيِّقٌ / ضَيِّقَةٌ  ·  وَاسِعٌ / وَاسِعَةٌ  ·  كَمْ ثَمَنُهُ؟  ·  تَخْفِيضٌ</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a shopping trip for clothes. Describe what you need, colours, sizes, prices, what you try on, what you buy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أَبْحَثُ عَنْ مِعْطَفٍ جَدِيدٍ لِلشِّتَاءِ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looking for a new winter coat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 كَانَ ضَيِّقًا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was tight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لِي مِعْطَفًا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brought me another coat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عَلَيْهِ تَخْفِيضٌ</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was reduced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اشْتَرَيْتُهُمَا لِأَنَّهُمَا عَمَلِيَّانِ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bought them (two) because they are practical</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ذَهَبْتُ إِلَى المَتْجَرِ لِأَنَّنِي كُنْتُ أَبْحَثُ عَنْ مِعْطَفٍ جَدِيدٍ لِلشِّتَاءِ. رَأَيْتُ مِعْطَفًا أَسْوَدَ أَنِيقًا، وَلٰكِنَّهُ كَانَ ضَيِّقًا. قُلْتُ لِلْبَائِعِ: هَلْ لَدَيْكُمْ هٰذَا المِعْطَفُ بِمَقَاسٍ أَكْبَرَ؟ أَحْضَرَ لِي مِعْطَفًا آخَرَ وَكَانَ مُرِيحًا وَمُنَاسِبًا. سَأَلْتُ: كَمْ ثَمَنُهُ؟ كَانَ ثَمَنُهُ سِتِّينَ جُنَيْهًا، وَلٰكِنَّ عَلَيْهِ تَخْفِيضًا. جَرَّبْتُ أَيْضًا حِذَاءً بُنِّيًّا وَحَقِيبَةً صَغِيرَةً. فِي النِّهَايَةِ اشْتَرَيْتُ المِعْطَفَ وَالحِذَاءَ لِأَنَّهُمَا عَمَلِيَّانِ.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went to the shop because I was looking for a new winter coat. I saw an elegant black coat, but it was tight. I said to the shop assistant: Do you have this coat in a bigger size? He brought me another coat and it was comfortable and fitted. I asked: How much is it? Its price was sixty pounds, but it was reduced. I also tried on brown shoes and a small bag. In the end I bought the coat and the shoes because they are practical.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polite question in the shop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colour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price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reason for the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this (hādhā) and this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the price and asked to try something 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colours agree with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the size (tight / loose / fits).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I bought and why.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القَمِيصُ</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السُّتْرَةُ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السُّتْرَةَ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القَمِيصُ</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الزَّرْقَاءُ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الأَزْرَقُ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أَزْرَقَ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definite noun takes masculine definite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ثَمَنُهَا؟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مَقَاسُهُ؟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clothes shopping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مِنْ مَتْجَرٍ جَدِيدٍ: لَدَيْنَا مَلَابِسُ عَصْرِيَّةٌ وَمُحْتَشِمَةٌ لِلشَّبَابِ. القُمُصُ القُطْنِيَّةُ مُتَوَفِّرَةٌ بِأَلْوَانٍ مُخْتَلِفَةٍ، وَالسَّرَاوِيلُ مُرِيحَةٌ وَعَمَلِيَّةٌ. هُنَاكَ تَخْفِيضٌ خَاصٌّ عَلَى المَعَاطِفِ وَالحَقَائِبِ حَتَّى نِهَايَةِ الأُسْبُوعِ. يُمْكِنُكُمْ تَجْرِبَةُ المَلَابِسِ فِي غُرْفَةِ القِيَاسِ، وَيُمْكِنُ اسْتِبْدَالُ المَقَاسِ خِلَالَ أُسْبُوعٍ.</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إِعْلَانٌ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advert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مَتْجَرٍ جَدِيدٍ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new shop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لِلشَّبَابِ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young people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القُمُصُ القُطْنِيَّةُ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cotton shirts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مُتَوَفِّرَةٌ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available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السَّرَاوِيلُ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trousers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مُرِيحَةٌ وَعَمَلِيَّةٌ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comfortable and practical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تَخْفِيضٌ خَاصٌّ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special discount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تَجْرِبَةُ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trying 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اسْتِبْدَالُ المَقَاسِ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exchanging the size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letter from a friend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 from a new shop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timetable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clothes does the shop sell?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formal suits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sports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modest clothes for young people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cotton shirts?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come in different colours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all white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very expensive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trousers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tight and formal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comfortable and practical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colourful and cheap</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special discount until the end of the week?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coats and bags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shirts and trousers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customers do within a week?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everything for free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order online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exchange the size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letter from a friend</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 advert from a new shop</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timetable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إِعْلَانٌ مِنْ مَتْجَرٍ جَدِيدٍ.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clothes does the shop sell?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formal suits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sports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modern, modest clothes for young people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مَلَابِسُ عَصْرِيَّةٌ وَمُحْتَشِمَةٌ لِلشَّبَابِ.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cotton shirts?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come in different colours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all white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very expensive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مُتَوَفِّرَةٌ بِأَلْوَانٍ مُخْتَلِفَةٍ.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trousers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tight and formal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comfortable and practical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colourful and cheap</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مُرِيحَةٌ وَعَمَلِيَّةٌ.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special discount until the end of the week?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coats and bags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shirts and trousers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تَخْفِيضٌ خَاصٌّ عَلَى المَعَاطِفِ وَالحَقَائِبِ.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customers do within a week?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return everything for free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order online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exchange the size</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يُمْكِنُ اسْتِبْدَالُ المَقَاسِ خِلَالَ أُسْبُوعٍ.</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shopping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الأَزْرَقُ</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الزَّرْقَاءُ</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أُجَرِّبُ هٰذَا.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جَرِّبْ أَنَا الحِذَاءَ.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أُجَرِّبَ هٰذَا الحِذَاءَ.</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لَدَيْكُمْ مَقَاسٌ أَكْبَرُ؟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الحِذَاءُ؟</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بُنِّيًّا</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الأَزْرَقُ</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الزَّرْقَاءُ</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definite noun takes masculine definite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مَقَاسُهُ؟</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أُجَرِّبُ هٰذَا.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جَرِّبْ أَنَا الحِذَاءَ.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أُجَرِّبَ هٰذَا الحِذَاءَ.</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لَدَيْكُمْ مَقَاسٌ أَكْبَرُ؟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الحِذَاءُ؟</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asks about size.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البُنِّيُّ</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الحَقِيبَةُ البُنِّيَّةُ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بُنِّيًّا</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and adjective.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TB-L08 · Hobbies, Sport and Free Time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hobby</a:t>
            </a:r>
            <a:pPr indent="0" marL="0">
              <a:buNone/>
            </a:pPr>
            <a:r>
              <a:rPr lang="en-US" sz="1000" i="1" dirty="0">
                <a:solidFill>
                  <a:srgbClr val="5A6472"/>
                </a:solidFill>
                <a:latin typeface="Calibri" pitchFamily="34" charset="0"/>
                <a:ea typeface="Calibri" pitchFamily="34" charset="-122"/>
                <a:cs typeface="Calibri" pitchFamily="34" charset="-120"/>
              </a:rPr>
              <a:t>  pl. هِوَايَاتٌ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وَقْتُ الفَرَاغِ</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free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يُمَارِسُ الرِّيَاضَةَ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does sport</a:t>
            </a:r>
            <a:pPr indent="0" marL="0">
              <a:buNone/>
            </a:pPr>
            <a:r>
              <a:rPr lang="en-US" sz="1000" i="1" dirty="0">
                <a:solidFill>
                  <a:srgbClr val="5A6472"/>
                </a:solidFill>
                <a:latin typeface="Calibri" pitchFamily="34" charset="0"/>
                <a:ea typeface="Calibri" pitchFamily="34" charset="-122"/>
                <a:cs typeface="Calibri" pitchFamily="34" charset="-120"/>
              </a:rPr>
              <a:t>  I: أُمَارِسُ</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يَلْعَبُ كُرَةَ القَدَمِ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plays football</a:t>
            </a:r>
            <a:pPr indent="0" marL="0">
              <a:buNone/>
            </a:pPr>
            <a:r>
              <a:rPr lang="en-US" sz="1000" i="1" dirty="0">
                <a:solidFill>
                  <a:srgbClr val="5A6472"/>
                </a:solidFill>
                <a:latin typeface="Calibri" pitchFamily="34" charset="0"/>
                <a:ea typeface="Calibri" pitchFamily="34" charset="-122"/>
                <a:cs typeface="Calibri" pitchFamily="34" charset="-120"/>
              </a:rPr>
              <a:t>  I: أَلْعَبُ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يَسْتَمِعُ إِلَى المُوسِيقَى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listens to music</a:t>
            </a:r>
            <a:pPr indent="0" marL="0">
              <a:buNone/>
            </a:pPr>
            <a:r>
              <a:rPr lang="en-US" sz="1000" i="1" dirty="0">
                <a:solidFill>
                  <a:srgbClr val="5A6472"/>
                </a:solidFill>
                <a:latin typeface="Calibri" pitchFamily="34" charset="0"/>
                <a:ea typeface="Calibri" pitchFamily="34" charset="-122"/>
                <a:cs typeface="Calibri" pitchFamily="34" charset="-120"/>
              </a:rPr>
              <a:t>  I: أَسْتَمِعُ</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in your free time? Write one sentence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فِي وَقْتِ فَرَاغِكَ؟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D2-L03: the picture game and the vocabulary tab — learn 8 clothes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6-line shop dialogue with size, colour and price.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on clothes and shopping, with a comparison and a decision.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ea typeface="Cambria" pitchFamily="34" charset="-122"/>
                <a:cs typeface="Cambria" pitchFamily="34" charset="-120"/>
              </a:rPr>
              <a:t>TB-L08 · Hobbies, Sport and Free Time</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الهِوَايَاتُ وَالرِّيَاضَةُ وَوَقْتُ الفَرَاغِ</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free-time words + your hobby.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TB-L07 · Clothes, Accessories and Shopping</dc:title>
  <dc:subject>PptxGenJS Presentation</dc:subject>
  <dc:creator>Al Madina Online School · Arabic Department</dc:creator>
  <cp:lastModifiedBy>Al Madina Online School · Arabic Department</cp:lastModifiedBy>
  <cp:revision>1</cp:revision>
  <dcterms:created xsi:type="dcterms:W3CDTF">2026-09-27T13:01:27Z</dcterms:created>
  <dcterms:modified xsi:type="dcterms:W3CDTF">2026-09-27T13:01:27Z</dcterms:modified>
</cp:coreProperties>
</file>