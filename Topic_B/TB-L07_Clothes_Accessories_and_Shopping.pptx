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TOPIC B · TB-L07 — Clothes, Accessories and Shopping. Website: Advanced Topics › Topic B (Personal and Social Life) › Lesson 7.
The website builds this lesson on the D2-L03 lesson engine, with the Topic focus “Choose, compare and buy clothes while discussing size, material, colour and price.” (grammar: Comparatives; numbers; demonstratives; object pronouns; skills: Listening · Speaking) and the application challenge “Clothes-shop role-play”. This deck follows the same engine, re-sequenced for Topic B: lesson references now point to Topic B codes (lessons outside Topic B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Topic B People, Relationships and Style › TB-L07. The website lesson “Clothes and Accessories — Vocabulary and Shopping”: vocabulary, grammar rules and quiz, patterns, common mistakes, sorter, listening, reading, speaking prompts and model, writing task and model, differentiation, final check and the lesson mission. Picture match: website visual game “Clothes and Accessories — Vocabulary and Shopping”.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8 clothes words with هٰذَا / هٰذِهِ + three colours + two shop phrases (كَمْ ثَمَنُهُ؟ · أُرِيدُ أَنْ أُجَرِّبَ …). Develop: colour agreement with feminine items and size problems (ضَيِّقٌ / وَاسِعٌ). Stretch: a full shop role-play and a written shopping trip in the past.
• Decision routine for every item: masculine or feminine? (ـةٌ → feminine) → هٰذَا / هٰذِهِ → colour form → ثَمَنُهُ / ثَمَنُهَا.
• حِجَابٌ, مُحْتَشِمٌ: modest dress is a normal topic here — keep the focus on vocabulary and personal preference, never on judging others.
• Urdu bridge: قمیص، جراب / حجاب، کوٹ (→ coat is مِعْطَفٌ), قیمت (≠ ثَمَنٌ), رنگ (colour is لَوْنٌ).
• TEACHER-WRITTEN ITEMS: on the website this lesson’s patterns, mistakes, sorter, listening, reading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clothes words prepared at home. Questions 3–5 retrieve TB-L02 (object endings, مَعَ) and D2-L01 (website) (agreement).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Masculine item → هٰذَا + masculine colour. Feminine item (ـةٌ) → هٰذِهِ + feminine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قمیص (as in shalwar qamīz) → قَمِيصٌ (shirt). حجاب → حِجَابٌ. مناسب → مُنَاسِبٌ (suitable / fits). قیمت is Arabic قِيمَةٌ (value); for “price” Arabic prefers ثَمَنٌ → كَمْ ثَمَنُهُ؟ Colours: Urdu رنگ is Persian — the Arabic is لَوْنٌ.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Clothes and accessories (website vocabulary (1 of 2)). Hear → Say → See → Use. Transliteration is printed for Core students (cover it for Develop/Stretch).
Each card shows the plural and the demonstrative (this). Words ending in ـةٌ are feminine → هٰذِهِ. Note: فُسْتَانٌ (dress) is MASCULINE → هٰذَا الفُسْتَانُ.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Clothes and accessories (website vocabulary (2 of 2)). Hear → Say → See → Use. Transliteration is printed for Core students (cover it for Develop/Stretch).
Each card shows the plural and the demonstrative (this). Words ending in ـةٌ are feminine → هٰذِهِ. Note: فُسْتَانٌ (dress) is MASCULINE → هٰذَا الفُسْتَانُ.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Shopping language (website vocabulary (1 of 2)). Hear → Say → See → Use. Transliteration is printed for Core students (cover it for Develop/Stretch).
Shop language: learn كَمْ ثَمَنُهُ؟ (masc. item) and كَمْ ثَمَنُهَا؟ (fem. item) as a pair. Plurals of THINGS take a feminine singular adjective: أَحْذِيَةٌ وَاسِعَةٌ.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Shopping language (website vocabulary (2 of 2)). Hear → Say → See → Use. Transliteration is printed for Core students (cover it for Develop/Stretch).
FLEX: teach if time allows; otherwise these are on the website vocabulary tab for homework.
Shop language: learn كَمْ ثَمَنُهُ؟ (masc. item) and كَمْ ثَمَنُهَا؟ (fem. item) as a pair. Plurals of THINGS take a feminine singular adjective: أَحْذِيَةٌ وَاسِعَةٌ.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Style and suitability (website vocabulary (1 of 2)). Hear → Say → See → Use. Transliteration is printed for Core students (cover it for Develop/Stretch).
FLEX: teach if time allows; otherwise these are on the website vocabulary tab for homework.
Style adjectives (FLEX here — taught fully in D2-L04,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Style and suitability (website vocabulary (2 of 2)). Hear → Say → See → Use. Transliteration is printed for Core students (cover it for Develop/Stretch).
FLEX: teach if time allows; otherwise these are on the website vocabulary tab for homework.
Style adjectives (FLEX here — taught fully in D2-L04,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“This item” (the demonstrative agrees with the noun) and “Colour and size agreement” (adjectives follow the noun and agree in gender and definiteness). Colours from the website quiz and picture game.
Website common error: هٰذَا السُّتْرَةُ ✗ → هٰذِهِ السُّتْرَةُ ✓.
Colour pattern (Stretch): أَفْعَلُ → فَعْلَاءُ (أَزْرَقُ / زَرْقَاءُ, أَخْضَرُ / خَضْرَاءُ, أَصْفَرُ / صَفْرَاءُ).
Quick-fire: show an item on camera; students say هٰذَا / هٰذِهِ + the item + its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“Ask price with pronoun” (the suffix refers back to the item) and “Polite request” (أُرِيدُ أَنْ أُجَرِّبَ / هَلْ لَدَيْكُمْ …؟). أَنْ + subjunctive recycles D1-L04 (website).
Prices: the website uses جُنَيْهًا (pound) — students may use جُنَيْهًا إِسْتَرْلِينِيًّا or just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“Select the correct demonstrative, make colour and size agree, ask about price and request an item politely.”
• This item: The demonstrative agrees with the noun.
• Colour and size agreement: Adjectives follow the noun and agree in gender and definiteness.
• Ask price with pronoun: The suffix refers back to the item.
• Polite request: Use a complete polite request in a shop.
Website common error: Do not use هٰذَا with a feminine item or leave the adjective in the wrong gender.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teacher plays the customer (website listening scene: Sara buys a jacket), thinking aloud about gender at every step. Then repeat with a masculine item (مِعْطَفٌ أَسْوَدُ) and students call out the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Clothes and Accessories — Vocabulary and Shopping”)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After يَلْبَسُ the item takes -an (accusative): قَمِيصًا أَزْرَقَ, فُسْتَانًا أَحْمَرَ — recognition only. Other cards for homework: سِرْوَالًا أَسْوَدَ, مِعْطَفًا أَخْضَرَ, حِذَاءً رِيَاضِيًّا أَبْيَضَ.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Clothes and Accessories — Vocabulary and Shopping”)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After يَلْبَسُ the item takes -an (accusative): قَمِيصًا أَزْرَقَ, فُسْتَانًا أَحْمَرَ — recognition only. Other cards for homework: سِرْوَالًا أَسْوَدَ, مِعْطَفًا أَخْضَرَ, حِذَاءً رِيَاضِيًّا أَبْيَضَ.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Check the demonstrative, the colour and the price question against the item.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Check the demonstrative, the colour and the price question against the item.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6. Develop / Stretch: all 6. (Questions are teacher-written: the website questions for this script are generic.)
Listen 1: just listen. Listen 2: note answers. Then chat the letters.
Support: after the second listening, show the read-along slide (Arabic + English, line by line) for Core students.
SCRIPT (read aloud):
دَخَلَتْ سَارَةُ مَتْجَرَ المَلَابِسِ وَقَالَتْ: أُرِيدُ أَنْ أُجَرِّبَ هٰذِهِ السُّتْرَةَ الزَّرْقَاءَ. سَأَلَتْ عَنِ المَقَاسِ لِأَنَّهَا كَانَتْ ضَيِّقَةً نَوْعًا مَا. أَحْضَرَتِ البَائِعَةُ مَقَاسًا أَكْبَرَ، وَكَانَتِ السُّتْرَةُ مُنَاسِبَةً وَمُرِيحَةً. سَأَلَتْ سَارَةُ: كَمْ ثَمَنُهَا؟ فَقَالَتِ البَائِعَةُ إِنَّ عَلَيْهَا تَخْفِيضًا وَثَمَنَهَا خَمْسَةٌ وَثَلَاثُونَ جُنَيْهًا.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B APPLICATION CHALLENGE (3 min — it takes the speaking-rehearsal slot; the website speaking slide after it is FLEX) — from the website Topic page: “Ask for an item by size, colour and material, compare alternatives and prices, then decide what to buy and explain the choice.”
Website Topic B challenge “Clothes-shop role-play” (comparatives, numbers, demonstratives, object pronouns). Reuses AT-A-L05 café politeness (مِنْ فَضْلِكَ / كِ). Stretch object pronoun: سَآخُذُهُ / سَآخُذُهَا (I will take it — m. /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the Topic B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هَلْ تُرِيدُ أَنْ تُجَرِّبَهُ؟ (Do you want to try it on?)
B: نَعَمْ، وَأُرِيدُ مَقَاسًا أَكْبَرَ. (Yes, and I want a larger size.)
Website prompts (order changed for routes). Website model continues: A: هَلْ تُرِيدُ أَنْ تُجَرِّبَهُ؟ (Do you want to try it on?) B: نَعَمْ، وَأُرِيدُ مَقَاسًا أَكْبَرَ. (Yes, and I want a bigger size.) — pairs can extend it into a full shop role-play (customer +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an independently controlled relative clause.
Website writing task (Stretch): Write 100–120 Arabic words about a shopping trip for clothes. Describe what you need, colours, sizes, prices, what you try on, what you buy and why.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هَلْ لَدَيْكُمْ هٰذَا المِعْطَفُ بِمَقَاسٍ أَكْبَرَ؟ · أَسْوَدَ، بُنِّيًّا · كَمْ ثَمَنُهُ؟ · اشْتَرَيْتُ … لِأَنَّهُمَا عَمَلِيَّانِ. Stretch: the model is in the PAST (ذَهَبْتُ، رَأَيْتُ، جَرَّبْتُ، اشْتَرَيْتُ) — a good challenge for confident writers.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(TB-L08 · Hobbies, Sport and Free Time) will spend class time USING this language, so students prepare it tonight — short, simple, easy to access (school guidance: “Simple, Short, Interesting, Relevant, Easy to access”). The five words come from the website D5-L01 vocabulary (the TB-L08 lesson engine).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TB-L07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cs typeface="Amiri" pitchFamily="2" charset="-78"/>
              </a:rPr>
              <a:t>Clothes, Accessories and Shopping</a:t>
            </a:r>
            <a:endParaRPr lang="en-US" sz="32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المَلَابِسُ وَالإِكْسِسْوَارَاتُ وَالتَّسَوُّقُ</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Choose, compare and buy clothes while discussing size, material, colour and price.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TB-L07 · Advanced Topic B · Personal and Social Life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This / this (f.) + colour agreement, then shop phrases.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accurate or not,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TB-L08.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فُسْتَانٌ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coat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dress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shirt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حِذَاءٌ</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trousers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belt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يَدْعَمُنِي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support him</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supports us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supports me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is elegant and calm.”</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 أَنِيقٌ وَهَادِئٌ.</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أَنِيقَةٌ وَهَادِئَةٌ.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 أَنِيقَةٌ وَهَادِئَةٌ.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get on with my brother.”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أَتَفَاهَمُ مَعَ أَخِي.</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أَتَفَاهَمُ أَخِي.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يَتَفَاهَمُ مَعَ أَخِي.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فُسْتَانٌ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coat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dress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shirt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حِذَاءٌ</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shoes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trousers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belt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يَدْعَمُنِي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support him</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supports us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supports me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TB-L02: -nī = me.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is elegant and calm.”</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هِيَ أَنِيقٌ وَهَادِئٌ.</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 أَنِيقَةٌ وَهَادِئَةٌ.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هِيَ أَنِيقَةٌ وَهَادِئَةٌ.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D2-L01 (website): she → -a(tun).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get on with my brother.”</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أَتَفَاهَمُ مَعَ أَخِي.</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أَتَفَاهَمُ أَخِي.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يَتَفَاهَمُ مَعَ أَخِي.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TB-L02: with = maʿa.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Masculine item → </a:t>
            </a:r>
            <a:pPr algn="l" indent="0" marL="0">
              <a:buNone/>
            </a:pPr>
            <a:r>
              <a:rPr lang="ar-SA" altLang="en-US" sz="1700" b="1" dirty="0">
                <a:solidFill>
                  <a:srgbClr val="1F2A37"/>
                </a:solidFill>
                <a:latin typeface="Amiri" pitchFamily="2" charset="-78"/>
                <a:cs typeface="Amiri" pitchFamily="2" charset="-78"/>
              </a:rPr>
              <a:t>هٰذَا</a:t>
            </a:r>
            <a:pPr algn="l" indent="0" marL="0">
              <a:buNone/>
            </a:pPr>
            <a:r>
              <a:rPr lang="en-US" sz="1300" b="1" dirty="0">
                <a:solidFill>
                  <a:srgbClr val="1F2A37"/>
                </a:solidFill>
                <a:latin typeface="Calibri" pitchFamily="34" charset="0"/>
                <a:cs typeface="Amiri" pitchFamily="2" charset="-78"/>
              </a:rPr>
              <a:t> + masculine colour. Feminine item (</a:t>
            </a:r>
            <a:pPr algn="l" indent="0" marL="0">
              <a:buNone/>
            </a:pPr>
            <a:r>
              <a:rPr lang="ar-SA" altLang="en-US" sz="1700" b="1" dirty="0">
                <a:solidFill>
                  <a:srgbClr val="1F2A37"/>
                </a:solidFill>
                <a:latin typeface="Amiri" pitchFamily="2" charset="-78"/>
                <a:cs typeface="Amiri" pitchFamily="2" charset="-78"/>
              </a:rPr>
              <a:t>ـةٌ</a:t>
            </a:r>
            <a:pPr algn="l" indent="0" marL="0">
              <a:buNone/>
            </a:pPr>
            <a:r>
              <a:rPr lang="en-US" sz="1300" b="1" dirty="0">
                <a:solidFill>
                  <a:srgbClr val="1F2A37"/>
                </a:solidFill>
                <a:latin typeface="Calibri" pitchFamily="34" charset="0"/>
                <a:cs typeface="Amiri" pitchFamily="2" charset="-78"/>
              </a:rPr>
              <a:t>) → </a:t>
            </a:r>
            <a:pPr algn="l" indent="0" marL="0">
              <a:buNone/>
            </a:pPr>
            <a:r>
              <a:rPr lang="ar-SA" altLang="en-US" sz="1700" b="1" dirty="0">
                <a:solidFill>
                  <a:srgbClr val="1F2A37"/>
                </a:solidFill>
                <a:latin typeface="Amiri" pitchFamily="2" charset="-78"/>
                <a:cs typeface="Amiri" pitchFamily="2" charset="-78"/>
              </a:rPr>
              <a:t>هٰذِهِ</a:t>
            </a:r>
            <a:pPr algn="l" indent="0" marL="0">
              <a:buNone/>
            </a:pPr>
            <a:r>
              <a:rPr lang="en-US" sz="1300" b="1" dirty="0">
                <a:solidFill>
                  <a:srgbClr val="1F2A37"/>
                </a:solidFill>
                <a:latin typeface="Calibri" pitchFamily="34" charset="0"/>
                <a:cs typeface="Amiri" pitchFamily="2" charset="-78"/>
              </a:rPr>
              <a:t> + feminine colour.</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cs typeface="Amiri" pitchFamily="2" charset="-78"/>
              </a:rPr>
              <a:t>هٰذَا</a:t>
            </a:r>
            <a:pPr rtl="1" algn="ctr" indent="0" marL="0">
              <a:lnSpc>
                <a:spcPct val="120000"/>
              </a:lnSpc>
              <a:buNone/>
            </a:pPr>
            <a:r>
              <a:rPr lang="ar-SA" altLang="en-US" sz="1950" b="1" dirty="0">
                <a:solidFill>
                  <a:srgbClr val="1B3B6F"/>
                </a:solidFill>
                <a:latin typeface="Amiri" pitchFamily="2" charset="-78"/>
                <a:cs typeface="Amiri" pitchFamily="2" charset="-78"/>
              </a:rPr>
              <a:t> القَمِيصُ </a:t>
            </a:r>
            <a:pPr rtl="1" algn="ctr" indent="0" marL="0">
              <a:lnSpc>
                <a:spcPct val="120000"/>
              </a:lnSpc>
              <a:buNone/>
            </a:pPr>
            <a:r>
              <a:rPr lang="ar-SA" altLang="en-US" sz="1950" b="1" dirty="0">
                <a:solidFill>
                  <a:srgbClr val="1D5FBF"/>
                </a:solidFill>
                <a:latin typeface="Amiri" pitchFamily="2" charset="-78"/>
                <a:cs typeface="Amiri" pitchFamily="2" charset="-78"/>
              </a:rPr>
              <a:t>الأَزْرَقُ</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cs typeface="Amiri" pitchFamily="2" charset="-78"/>
              </a:rPr>
              <a:t>هٰذِهِ</a:t>
            </a:r>
            <a:pPr rtl="1" algn="ctr" indent="0" marL="0">
              <a:lnSpc>
                <a:spcPct val="120000"/>
              </a:lnSpc>
              <a:buNone/>
            </a:pPr>
            <a:r>
              <a:rPr lang="ar-SA" altLang="en-US" sz="1950" b="1" dirty="0">
                <a:solidFill>
                  <a:srgbClr val="1B3B6F"/>
                </a:solidFill>
                <a:latin typeface="Amiri" pitchFamily="2" charset="-78"/>
                <a:cs typeface="Amiri" pitchFamily="2" charset="-78"/>
              </a:rPr>
              <a:t> السُّتْرَةُ </a:t>
            </a:r>
            <a:pPr rtl="1" algn="ctr" indent="0" marL="0">
              <a:lnSpc>
                <a:spcPct val="120000"/>
              </a:lnSpc>
              <a:buNone/>
            </a:pPr>
            <a:r>
              <a:rPr lang="ar-SA" altLang="en-US" sz="1950" b="1" dirty="0">
                <a:solidFill>
                  <a:srgbClr val="D6336C"/>
                </a:solidFill>
                <a:latin typeface="Amiri" pitchFamily="2" charset="-78"/>
                <a:cs typeface="Amiri" pitchFamily="2" charset="-78"/>
              </a:rPr>
              <a:t>الزَّرْقَاءُ</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Control the key TB-L07 vocabulary in complete Arabic sentences.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and apply the target grammar: Demonstratives, adjective agreement and polite shopping.</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Extract precise evidence from an intermediate listening and reading text.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Produce developed spoken and written Arabic with reasons and detail.</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eight clothes and accessories.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ask “How much is it?” and “Can I try it on?”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t>
            </a:r>
            <a:pPr algn="l" indent="0" marL="0">
              <a:buNone/>
            </a:pPr>
            <a:r>
              <a:rPr lang="ar-SA" altLang="en-US" sz="1700" b="1" dirty="0">
                <a:solidFill>
                  <a:srgbClr val="C9780A"/>
                </a:solidFill>
                <a:latin typeface="Amiri" pitchFamily="2" charset="-78"/>
                <a:cs typeface="Amiri" pitchFamily="2" charset="-78"/>
              </a:rPr>
              <a:t>هٰذَا / هٰذِهِ</a:t>
            </a:r>
            <a:pPr algn="l" indent="0" marL="0">
              <a:buNone/>
            </a:pPr>
            <a:r>
              <a:rPr lang="en-US" sz="1300" b="1" dirty="0">
                <a:solidFill>
                  <a:srgbClr val="C9780A"/>
                </a:solidFill>
                <a:latin typeface="Calibri" pitchFamily="34" charset="0"/>
                <a:cs typeface="Amiri" pitchFamily="2" charset="-78"/>
              </a:rPr>
              <a:t> and make colours agree.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something is too tight or too loose.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run a complete shop conversation.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describe a shopping trip in the past and explain my choice.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32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Clothes and accessories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Shopping language · 12</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Style and suitability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قَمِيصٌ</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‎قمیص‎ </a:t>
            </a:r>
            <a:pPr indent="0" marL="0">
              <a:buNone/>
            </a:pPr>
            <a:r>
              <a:rPr lang="en-US" sz="950" b="1" dirty="0">
                <a:solidFill>
                  <a:srgbClr val="2E8B57"/>
                </a:solidFill>
                <a:latin typeface="Calibri" pitchFamily="34" charset="0"/>
                <a:cs typeface="Amiri" pitchFamily="2" charset="-78"/>
              </a:rPr>
              <a:t> qamīz · shirt, tunic</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حِجَابٌ</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‎حجاب‎ </a:t>
            </a:r>
            <a:pPr indent="0" marL="0">
              <a:buNone/>
            </a:pPr>
            <a:r>
              <a:rPr lang="en-US" sz="950" b="1" dirty="0">
                <a:solidFill>
                  <a:srgbClr val="2E8B57"/>
                </a:solidFill>
                <a:latin typeface="Calibri" pitchFamily="34" charset="0"/>
                <a:cs typeface="Amiri" pitchFamily="2" charset="-78"/>
              </a:rPr>
              <a:t> hijāb · headscarf</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ثَمَنٌ</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‎قیمت‎ </a:t>
            </a:r>
            <a:pPr indent="0" marL="0">
              <a:buNone/>
            </a:pPr>
            <a:r>
              <a:rPr lang="en-US" sz="950" b="1" dirty="0">
                <a:solidFill>
                  <a:srgbClr val="2E8B57"/>
                </a:solidFill>
                <a:latin typeface="Calibri" pitchFamily="34" charset="0"/>
                <a:cs typeface="Amiri" pitchFamily="2" charset="-78"/>
              </a:rPr>
              <a:t> qīmat · price (Arabic qīma = value)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لَوْنٌ</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‎رنگ‎ </a:t>
            </a:r>
            <a:pPr indent="0" marL="0">
              <a:buNone/>
            </a:pPr>
            <a:r>
              <a:rPr lang="en-US" sz="950" b="1" dirty="0">
                <a:solidFill>
                  <a:srgbClr val="2E8B57"/>
                </a:solidFill>
                <a:latin typeface="Calibri" pitchFamily="34" charset="0"/>
                <a:cs typeface="Amiri" pitchFamily="2" charset="-78"/>
              </a:rPr>
              <a:t> rang · colour (meaning only)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مُنَاسِبٌ</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‎مناسب‎ </a:t>
            </a:r>
            <a:pPr indent="0" marL="0">
              <a:buNone/>
            </a:pPr>
            <a:r>
              <a:rPr lang="en-US" sz="950" b="1" dirty="0">
                <a:solidFill>
                  <a:srgbClr val="2E8B57"/>
                </a:solidFill>
                <a:latin typeface="Calibri" pitchFamily="34" charset="0"/>
                <a:cs typeface="Amiri" pitchFamily="2" charset="-78"/>
              </a:rPr>
              <a:t> munāsib · suitable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Clothes and accessories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قَمِيصٌ</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shirt</a:t>
            </a:r>
            <a:endParaRPr lang="en-US" sz="1350" dirty="0"/>
          </a:p>
          <a:p>
            <a:pPr indent="0" marL="0">
              <a:buNone/>
            </a:pPr>
            <a:r>
              <a:rPr lang="en-US" sz="1100" i="1" dirty="0">
                <a:solidFill>
                  <a:srgbClr val="5A6472"/>
                </a:solidFill>
                <a:latin typeface="Calibri" pitchFamily="34" charset="0"/>
                <a:cs typeface="Amiri" pitchFamily="2" charset="-78"/>
              </a:rPr>
              <a:t>qa-mī-ṣun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قُمْصَانٌ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هٰذَا القَمِيصُ</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مُذَكَّرٌ</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قَمِيصَةٌ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blouse</a:t>
            </a:r>
            <a:endParaRPr lang="en-US" sz="1350" dirty="0"/>
          </a:p>
          <a:p>
            <a:pPr indent="0" marL="0">
              <a:buNone/>
            </a:pPr>
            <a:r>
              <a:rPr lang="en-US" sz="1100" i="1" dirty="0">
                <a:solidFill>
                  <a:srgbClr val="5A6472"/>
                </a:solidFill>
                <a:latin typeface="Calibri" pitchFamily="34" charset="0"/>
                <a:cs typeface="Amiri" pitchFamily="2" charset="-78"/>
              </a:rPr>
              <a:t>qa-mī-ṣa-tun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قَمِيصَاتٌ</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45" name="Text 42"/>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هٰذِهِ القَمِيصَةُ</a:t>
            </a:r>
            <a:endParaRPr lang="ar-SA" sz="135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مُؤَنَّثٌ</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2" name="Shape 4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54" name="Shape 5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سِرْوَالٌ</a:t>
            </a:r>
            <a:endParaRPr lang="ar-SA" sz="3000" dirty="0"/>
          </a:p>
        </p:txBody>
      </p:sp>
      <p:sp>
        <p:nvSpPr>
          <p:cNvPr id="57" name="Text 5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trousers</a:t>
            </a:r>
            <a:endParaRPr lang="en-US" sz="1350" dirty="0"/>
          </a:p>
          <a:p>
            <a:pPr indent="0" marL="0">
              <a:buNone/>
            </a:pPr>
            <a:r>
              <a:rPr lang="en-US" sz="1100" i="1" dirty="0">
                <a:solidFill>
                  <a:srgbClr val="5A6472"/>
                </a:solidFill>
                <a:latin typeface="Calibri" pitchFamily="34" charset="0"/>
                <a:cs typeface="Amiri" pitchFamily="2" charset="-78"/>
              </a:rPr>
              <a:t>sir-wā-lun</a:t>
            </a:r>
            <a:endParaRPr lang="en-US" sz="1350" dirty="0"/>
          </a:p>
        </p:txBody>
      </p:sp>
      <p:sp>
        <p:nvSpPr>
          <p:cNvPr id="58" name="Shape 5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0" name="Text 5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سَرَاوِيلُ</a:t>
            </a:r>
            <a:endParaRPr lang="ar-SA" sz="1500" dirty="0"/>
          </a:p>
        </p:txBody>
      </p:sp>
      <p:sp>
        <p:nvSpPr>
          <p:cNvPr id="61" name="Shape 5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63" name="Text 60"/>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هٰذَا السِّرْوَالُ</a:t>
            </a:r>
            <a:endParaRPr lang="ar-SA" sz="1350" dirty="0"/>
          </a:p>
        </p:txBody>
      </p:sp>
      <p:sp>
        <p:nvSpPr>
          <p:cNvPr id="64" name="Shape 6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6" name="Text 6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مُذَكَّرٌ</a:t>
            </a:r>
            <a:endParaRPr lang="ar-SA" sz="1500" dirty="0"/>
          </a:p>
        </p:txBody>
      </p:sp>
      <p:sp>
        <p:nvSpPr>
          <p:cNvPr id="67" name="Shape 6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8211312"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0" name="Shape 67"/>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72" name="Shape 6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4" name="Text 7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تَنُّورَةٌ</a:t>
            </a:r>
            <a:endParaRPr lang="ar-SA" sz="3000" dirty="0"/>
          </a:p>
        </p:txBody>
      </p:sp>
      <p:sp>
        <p:nvSpPr>
          <p:cNvPr id="75" name="Text 7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skirt</a:t>
            </a:r>
            <a:endParaRPr lang="en-US" sz="1350" dirty="0"/>
          </a:p>
          <a:p>
            <a:pPr indent="0" marL="0">
              <a:buNone/>
            </a:pPr>
            <a:r>
              <a:rPr lang="en-US" sz="1100" i="1" dirty="0">
                <a:solidFill>
                  <a:srgbClr val="5A6472"/>
                </a:solidFill>
                <a:latin typeface="Calibri" pitchFamily="34" charset="0"/>
                <a:cs typeface="Amiri" pitchFamily="2" charset="-78"/>
              </a:rPr>
              <a:t>tan-nū-ra-tun</a:t>
            </a:r>
            <a:endParaRPr lang="en-US" sz="1350" dirty="0"/>
          </a:p>
        </p:txBody>
      </p:sp>
      <p:sp>
        <p:nvSpPr>
          <p:cNvPr id="76" name="Shape 73"/>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8" name="Text 75"/>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تَنَانِيرُ</a:t>
            </a:r>
            <a:endParaRPr lang="ar-SA" sz="1500" dirty="0"/>
          </a:p>
        </p:txBody>
      </p:sp>
      <p:sp>
        <p:nvSpPr>
          <p:cNvPr id="79" name="Shape 76"/>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81" name="Text 78"/>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هٰذِهِ التَّنُّورَةُ</a:t>
            </a:r>
            <a:endParaRPr lang="ar-SA" sz="1350" dirty="0"/>
          </a:p>
        </p:txBody>
      </p:sp>
      <p:sp>
        <p:nvSpPr>
          <p:cNvPr id="82" name="Shape 79"/>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4" name="Text 81"/>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مُؤَنَّثٌ</a:t>
            </a:r>
            <a:endParaRPr lang="ar-SA" sz="1500" dirty="0"/>
          </a:p>
        </p:txBody>
      </p:sp>
      <p:sp>
        <p:nvSpPr>
          <p:cNvPr id="85" name="Shape 8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4389120" y="4261104"/>
            <a:ext cx="310896" cy="310896"/>
          </a:xfrm>
          <a:prstGeom prst="ellipse">
            <a:avLst/>
          </a:prstGeom>
          <a:solidFill>
            <a:srgbClr val="F4F1EA"/>
          </a:solidFill>
          <a:ln w="12700">
            <a:solidFill>
              <a:srgbClr val="F4F1EA"/>
            </a:solidFill>
            <a:prstDash val="solid"/>
          </a:ln>
        </p:spPr>
      </p:sp>
      <p:sp>
        <p:nvSpPr>
          <p:cNvPr id="87" name="Text 8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88" name="Shape 85"/>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89" name="Text 86"/>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90" name="Shape 8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1" name="Text 8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2" name="Text 8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فُسْتَانٌ</a:t>
            </a:r>
            <a:endParaRPr lang="ar-SA" sz="3000" dirty="0"/>
          </a:p>
        </p:txBody>
      </p:sp>
      <p:sp>
        <p:nvSpPr>
          <p:cNvPr id="93" name="Text 9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dress</a:t>
            </a:r>
            <a:endParaRPr lang="en-US" sz="1350" dirty="0"/>
          </a:p>
          <a:p>
            <a:pPr indent="0" marL="0">
              <a:buNone/>
            </a:pPr>
            <a:r>
              <a:rPr lang="en-US" sz="1100" i="1" dirty="0">
                <a:solidFill>
                  <a:srgbClr val="5A6472"/>
                </a:solidFill>
                <a:latin typeface="Calibri" pitchFamily="34" charset="0"/>
                <a:cs typeface="Amiri" pitchFamily="2" charset="-78"/>
              </a:rPr>
              <a:t>fus-tā-nun</a:t>
            </a:r>
            <a:endParaRPr lang="en-US" sz="1350" dirty="0"/>
          </a:p>
        </p:txBody>
      </p:sp>
      <p:sp>
        <p:nvSpPr>
          <p:cNvPr id="94" name="Shape 91"/>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6" name="Text 93"/>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فَسَاتِينُ</a:t>
            </a:r>
            <a:endParaRPr lang="ar-SA" sz="1500" dirty="0"/>
          </a:p>
        </p:txBody>
      </p:sp>
      <p:sp>
        <p:nvSpPr>
          <p:cNvPr id="97" name="Shape 94"/>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8" name="Text 95"/>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99" name="Text 96"/>
          <p:cNvSpPr txBox="1"/>
          <p:nvPr/>
        </p:nvSpPr>
        <p:spPr>
          <a:xfrm>
            <a:off x="5614416"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هٰذَا الفُسْتَانُ</a:t>
            </a:r>
            <a:endParaRPr lang="ar-SA" sz="1350" dirty="0"/>
          </a:p>
        </p:txBody>
      </p:sp>
      <p:sp>
        <p:nvSpPr>
          <p:cNvPr id="100" name="Shape 97"/>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1" name="Text 98"/>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2" name="Text 99"/>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مُذَكَّرٌ</a:t>
            </a:r>
            <a:endParaRPr lang="ar-SA" sz="1500" dirty="0"/>
          </a:p>
        </p:txBody>
      </p:sp>
      <p:sp>
        <p:nvSpPr>
          <p:cNvPr id="103" name="Shape 10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4" name="Shape 101"/>
          <p:cNvSpPr/>
          <p:nvPr/>
        </p:nvSpPr>
        <p:spPr>
          <a:xfrm>
            <a:off x="566928" y="4261104"/>
            <a:ext cx="310896" cy="310896"/>
          </a:xfrm>
          <a:prstGeom prst="ellipse">
            <a:avLst/>
          </a:prstGeom>
          <a:solidFill>
            <a:srgbClr val="F4F1EA"/>
          </a:solidFill>
          <a:ln w="12700">
            <a:solidFill>
              <a:srgbClr val="F4F1EA"/>
            </a:solidFill>
            <a:prstDash val="solid"/>
          </a:ln>
        </p:spPr>
      </p:sp>
      <p:sp>
        <p:nvSpPr>
          <p:cNvPr id="105" name="Text 10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06" name="Shape 103"/>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107" name="Text 104"/>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108" name="Shape 10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09" name="Text 10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10" name="Text 107"/>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مِعْطَفٌ</a:t>
            </a:r>
            <a:endParaRPr lang="ar-SA" sz="3000" dirty="0"/>
          </a:p>
        </p:txBody>
      </p:sp>
      <p:sp>
        <p:nvSpPr>
          <p:cNvPr id="111" name="Text 108"/>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coat</a:t>
            </a:r>
            <a:endParaRPr lang="en-US" sz="1350" dirty="0"/>
          </a:p>
          <a:p>
            <a:pPr indent="0" marL="0">
              <a:buNone/>
            </a:pPr>
            <a:r>
              <a:rPr lang="en-US" sz="1100" i="1" dirty="0">
                <a:solidFill>
                  <a:srgbClr val="5A6472"/>
                </a:solidFill>
                <a:latin typeface="Calibri" pitchFamily="34" charset="0"/>
                <a:cs typeface="Amiri" pitchFamily="2" charset="-78"/>
              </a:rPr>
              <a:t>miʿ-ṭa-fun</a:t>
            </a:r>
            <a:endParaRPr lang="en-US" sz="1350" dirty="0"/>
          </a:p>
        </p:txBody>
      </p:sp>
      <p:sp>
        <p:nvSpPr>
          <p:cNvPr id="112" name="Shape 109"/>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13" name="Text 110"/>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14" name="Text 111"/>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مَعَاطِفُ</a:t>
            </a:r>
            <a:endParaRPr lang="ar-SA" sz="1500" dirty="0"/>
          </a:p>
        </p:txBody>
      </p:sp>
      <p:sp>
        <p:nvSpPr>
          <p:cNvPr id="115" name="Shape 112"/>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6" name="Text 113"/>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117" name="Text 114"/>
          <p:cNvSpPr txBox="1"/>
          <p:nvPr/>
        </p:nvSpPr>
        <p:spPr>
          <a:xfrm>
            <a:off x="179222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هٰذَا المِعْطَفُ</a:t>
            </a:r>
            <a:endParaRPr lang="ar-SA" sz="1350" dirty="0"/>
          </a:p>
        </p:txBody>
      </p:sp>
      <p:sp>
        <p:nvSpPr>
          <p:cNvPr id="118" name="Shape 115"/>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9" name="Text 116"/>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20" name="Text 117"/>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مُذَكَّرٌ</a:t>
            </a:r>
            <a:endParaRPr lang="ar-SA" sz="1500" dirty="0"/>
          </a:p>
        </p:txBody>
      </p:sp>
      <p:sp>
        <p:nvSpPr>
          <p:cNvPr id="121" name="Text 11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Clothes and accessories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سُتْرَةٌ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jacket</a:t>
            </a:r>
            <a:endParaRPr lang="en-US" sz="1350" dirty="0"/>
          </a:p>
          <a:p>
            <a:pPr indent="0" marL="0">
              <a:buNone/>
            </a:pPr>
            <a:r>
              <a:rPr lang="en-US" sz="1100" i="1" dirty="0">
                <a:solidFill>
                  <a:srgbClr val="5A6472"/>
                </a:solidFill>
                <a:latin typeface="Calibri" pitchFamily="34" charset="0"/>
                <a:cs typeface="Amiri" pitchFamily="2" charset="-78"/>
              </a:rPr>
              <a:t>sut-ra-tun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سُتَرٌ</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هٰذِهِ السُّتْرَةُ</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مُؤَنَّثٌ</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حِذَاءٌ</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shoes</a:t>
            </a:r>
            <a:endParaRPr lang="en-US" sz="1350" dirty="0"/>
          </a:p>
          <a:p>
            <a:pPr indent="0" marL="0">
              <a:buNone/>
            </a:pPr>
            <a:r>
              <a:rPr lang="en-US" sz="1100" i="1" dirty="0">
                <a:solidFill>
                  <a:srgbClr val="5A6472"/>
                </a:solidFill>
                <a:latin typeface="Calibri" pitchFamily="34" charset="0"/>
                <a:cs typeface="Amiri" pitchFamily="2" charset="-78"/>
              </a:rPr>
              <a:t>ḥi-dhā-ʾun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أَحْذِيَةٌ</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47" name="Text 44"/>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هٰذَا الحِذَاءُ</a:t>
            </a:r>
            <a:endParaRPr lang="ar-SA" sz="135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مُذَكَّرٌ</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4" name="Shape 51"/>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56" name="Text 5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حِجَابٌ</a:t>
            </a:r>
            <a:endParaRPr lang="ar-SA" sz="3000" dirty="0"/>
          </a:p>
        </p:txBody>
      </p:sp>
      <p:sp>
        <p:nvSpPr>
          <p:cNvPr id="57" name="Text 5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headscarf</a:t>
            </a:r>
            <a:endParaRPr lang="en-US" sz="1350" dirty="0"/>
          </a:p>
          <a:p>
            <a:pPr indent="0" marL="0">
              <a:buNone/>
            </a:pPr>
            <a:r>
              <a:rPr lang="en-US" sz="1100" i="1" dirty="0">
                <a:solidFill>
                  <a:srgbClr val="5A6472"/>
                </a:solidFill>
                <a:latin typeface="Calibri" pitchFamily="34" charset="0"/>
                <a:cs typeface="Amiri" pitchFamily="2" charset="-78"/>
              </a:rPr>
              <a:t>ḥi-jā-bun</a:t>
            </a:r>
            <a:endParaRPr lang="en-US" sz="1350" dirty="0"/>
          </a:p>
        </p:txBody>
      </p:sp>
      <p:sp>
        <p:nvSpPr>
          <p:cNvPr id="58" name="Shape 5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0" name="Text 5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أَحْجِبَةٌ</a:t>
            </a:r>
            <a:endParaRPr lang="ar-SA" sz="1500" dirty="0"/>
          </a:p>
        </p:txBody>
      </p:sp>
      <p:sp>
        <p:nvSpPr>
          <p:cNvPr id="61" name="Shape 5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63" name="Text 60"/>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هٰذَا الحِجَابُ</a:t>
            </a:r>
            <a:endParaRPr lang="ar-SA" sz="1350" dirty="0"/>
          </a:p>
        </p:txBody>
      </p:sp>
      <p:sp>
        <p:nvSpPr>
          <p:cNvPr id="64" name="Shape 6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6" name="Text 6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مُذَكَّرٌ</a:t>
            </a:r>
            <a:endParaRPr lang="ar-SA" sz="1500" dirty="0"/>
          </a:p>
        </p:txBody>
      </p:sp>
      <p:sp>
        <p:nvSpPr>
          <p:cNvPr id="67" name="Shape 6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8211312"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70" name="Shape 67"/>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72" name="Text 6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قُبَّعَةٌ</a:t>
            </a:r>
            <a:endParaRPr lang="ar-SA" sz="3000" dirty="0"/>
          </a:p>
        </p:txBody>
      </p:sp>
      <p:sp>
        <p:nvSpPr>
          <p:cNvPr id="73" name="Text 7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hat</a:t>
            </a:r>
            <a:endParaRPr lang="en-US" sz="1350" dirty="0"/>
          </a:p>
          <a:p>
            <a:pPr indent="0" marL="0">
              <a:buNone/>
            </a:pPr>
            <a:r>
              <a:rPr lang="en-US" sz="1100" i="1" dirty="0">
                <a:solidFill>
                  <a:srgbClr val="5A6472"/>
                </a:solidFill>
                <a:latin typeface="Calibri" pitchFamily="34" charset="0"/>
                <a:cs typeface="Amiri" pitchFamily="2" charset="-78"/>
              </a:rPr>
              <a:t>qub-ba-ʿa-tun</a:t>
            </a:r>
            <a:endParaRPr lang="en-US" sz="1350" dirty="0"/>
          </a:p>
        </p:txBody>
      </p:sp>
      <p:sp>
        <p:nvSpPr>
          <p:cNvPr id="74" name="Shape 71"/>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6" name="Text 73"/>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قُبَّعَاتٌ</a:t>
            </a:r>
            <a:endParaRPr lang="ar-SA" sz="1500" dirty="0"/>
          </a:p>
        </p:txBody>
      </p:sp>
      <p:sp>
        <p:nvSpPr>
          <p:cNvPr id="77" name="Shape 74"/>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79" name="Text 76"/>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هٰذِهِ القُبَّعَةُ</a:t>
            </a:r>
            <a:endParaRPr lang="ar-SA" sz="1350" dirty="0"/>
          </a:p>
        </p:txBody>
      </p:sp>
      <p:sp>
        <p:nvSpPr>
          <p:cNvPr id="80" name="Shape 77"/>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2" name="Text 79"/>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مُؤَنَّثٌ</a:t>
            </a:r>
            <a:endParaRPr lang="ar-SA" sz="1500" dirty="0"/>
          </a:p>
        </p:txBody>
      </p:sp>
      <p:sp>
        <p:nvSpPr>
          <p:cNvPr id="83" name="Shape 8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4389120"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86" name="Shape 83"/>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87" name="Text 84"/>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88" name="Text 8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حِزَامٌ</a:t>
            </a:r>
            <a:endParaRPr lang="ar-SA" sz="3000" dirty="0"/>
          </a:p>
        </p:txBody>
      </p:sp>
      <p:sp>
        <p:nvSpPr>
          <p:cNvPr id="89" name="Text 8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belt</a:t>
            </a:r>
            <a:endParaRPr lang="en-US" sz="1350" dirty="0"/>
          </a:p>
          <a:p>
            <a:pPr indent="0" marL="0">
              <a:buNone/>
            </a:pPr>
            <a:r>
              <a:rPr lang="en-US" sz="1100" i="1" dirty="0">
                <a:solidFill>
                  <a:srgbClr val="5A6472"/>
                </a:solidFill>
                <a:latin typeface="Calibri" pitchFamily="34" charset="0"/>
                <a:cs typeface="Amiri" pitchFamily="2" charset="-78"/>
              </a:rPr>
              <a:t>ḥi-zā-mun</a:t>
            </a:r>
            <a:endParaRPr lang="en-US" sz="1350" dirty="0"/>
          </a:p>
        </p:txBody>
      </p:sp>
      <p:sp>
        <p:nvSpPr>
          <p:cNvPr id="90" name="Shape 87"/>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2" name="Text 89"/>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أَحْزِمَةٌ</a:t>
            </a:r>
            <a:endParaRPr lang="ar-SA" sz="1500" dirty="0"/>
          </a:p>
        </p:txBody>
      </p:sp>
      <p:sp>
        <p:nvSpPr>
          <p:cNvPr id="93" name="Shape 90"/>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95" name="Text 92"/>
          <p:cNvSpPr txBox="1"/>
          <p:nvPr/>
        </p:nvSpPr>
        <p:spPr>
          <a:xfrm>
            <a:off x="5614416"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هٰذَا الحِزَامُ</a:t>
            </a:r>
            <a:endParaRPr lang="ar-SA" sz="1350" dirty="0"/>
          </a:p>
        </p:txBody>
      </p:sp>
      <p:sp>
        <p:nvSpPr>
          <p:cNvPr id="96" name="Shape 93"/>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8" name="Text 95"/>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مُذَكَّرٌ</a:t>
            </a:r>
            <a:endParaRPr lang="ar-SA" sz="1500" dirty="0"/>
          </a:p>
        </p:txBody>
      </p:sp>
      <p:sp>
        <p:nvSpPr>
          <p:cNvPr id="99" name="Shape 9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0" name="Shape 97"/>
          <p:cNvSpPr/>
          <p:nvPr/>
        </p:nvSpPr>
        <p:spPr>
          <a:xfrm>
            <a:off x="566928" y="4261104"/>
            <a:ext cx="310896" cy="310896"/>
          </a:xfrm>
          <a:prstGeom prst="ellipse">
            <a:avLst/>
          </a:prstGeom>
          <a:solidFill>
            <a:srgbClr val="F4F1EA"/>
          </a:solidFill>
          <a:ln w="12700">
            <a:solidFill>
              <a:srgbClr val="F4F1EA"/>
            </a:solidFill>
            <a:prstDash val="solid"/>
          </a:ln>
        </p:spPr>
      </p:sp>
      <p:sp>
        <p:nvSpPr>
          <p:cNvPr id="101" name="Text 9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102" name="Shape 99"/>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103" name="Text 100"/>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104" name="Shape 10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05" name="Text 10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06" name="Text 103"/>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حَقِيبَةٌ</a:t>
            </a:r>
            <a:endParaRPr lang="ar-SA" sz="3000" dirty="0"/>
          </a:p>
        </p:txBody>
      </p:sp>
      <p:sp>
        <p:nvSpPr>
          <p:cNvPr id="107" name="Text 104"/>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bag</a:t>
            </a:r>
            <a:endParaRPr lang="en-US" sz="1350" dirty="0"/>
          </a:p>
          <a:p>
            <a:pPr indent="0" marL="0">
              <a:buNone/>
            </a:pPr>
            <a:r>
              <a:rPr lang="en-US" sz="1100" i="1" dirty="0">
                <a:solidFill>
                  <a:srgbClr val="5A6472"/>
                </a:solidFill>
                <a:latin typeface="Calibri" pitchFamily="34" charset="0"/>
                <a:cs typeface="Amiri" pitchFamily="2" charset="-78"/>
              </a:rPr>
              <a:t>ḥa-qī-ba-tun</a:t>
            </a:r>
            <a:endParaRPr lang="en-US" sz="1350" dirty="0"/>
          </a:p>
        </p:txBody>
      </p:sp>
      <p:sp>
        <p:nvSpPr>
          <p:cNvPr id="108" name="Shape 105"/>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09" name="Text 106"/>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10" name="Text 107"/>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حَقَائِبُ</a:t>
            </a:r>
            <a:endParaRPr lang="ar-SA" sz="1500" dirty="0"/>
          </a:p>
        </p:txBody>
      </p:sp>
      <p:sp>
        <p:nvSpPr>
          <p:cNvPr id="111" name="Shape 108"/>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2" name="Text 109"/>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113" name="Text 110"/>
          <p:cNvSpPr txBox="1"/>
          <p:nvPr/>
        </p:nvSpPr>
        <p:spPr>
          <a:xfrm>
            <a:off x="179222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هٰذِهِ الحَقِيبَةُ</a:t>
            </a:r>
            <a:endParaRPr lang="ar-SA" sz="1350" dirty="0"/>
          </a:p>
        </p:txBody>
      </p:sp>
      <p:sp>
        <p:nvSpPr>
          <p:cNvPr id="114" name="Shape 111"/>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5" name="Text 112"/>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16" name="Text 113"/>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مُؤَنَّثٌ</a:t>
            </a:r>
            <a:endParaRPr lang="ar-SA" sz="1500" dirty="0"/>
          </a:p>
        </p:txBody>
      </p:sp>
      <p:sp>
        <p:nvSpPr>
          <p:cNvPr id="117" name="Text 1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Shopping language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مَقَاسٌ</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size</a:t>
            </a:r>
            <a:endParaRPr lang="en-US" sz="1350" dirty="0"/>
          </a:p>
          <a:p>
            <a:pPr indent="0" marL="0">
              <a:buNone/>
            </a:pPr>
            <a:r>
              <a:rPr lang="en-US" sz="1100" i="1" dirty="0">
                <a:solidFill>
                  <a:srgbClr val="5A6472"/>
                </a:solidFill>
                <a:latin typeface="Calibri" pitchFamily="34" charset="0"/>
                <a:cs typeface="Amiri" pitchFamily="2" charset="-78"/>
              </a:rPr>
              <a:t>ma-qā-sun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غُرْفَةُ القِيَاسِ</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changing room</a:t>
            </a:r>
            <a:endParaRPr lang="en-US" sz="1350" dirty="0"/>
          </a:p>
          <a:p>
            <a:pPr indent="0" marL="0">
              <a:buNone/>
            </a:pPr>
            <a:r>
              <a:rPr lang="en-US" sz="1100" i="1" dirty="0">
                <a:solidFill>
                  <a:srgbClr val="5A6472"/>
                </a:solidFill>
                <a:latin typeface="Calibri" pitchFamily="34" charset="0"/>
                <a:cs typeface="Amiri" pitchFamily="2" charset="-78"/>
              </a:rPr>
              <a:t>ghur-fa-tu al-qi-yā-si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ثَمَنٌ</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price</a:t>
            </a:r>
            <a:endParaRPr lang="en-US" sz="1350" dirty="0"/>
          </a:p>
          <a:p>
            <a:pPr indent="0" marL="0">
              <a:buNone/>
            </a:pPr>
            <a:r>
              <a:rPr lang="en-US" sz="1100" i="1" dirty="0">
                <a:solidFill>
                  <a:srgbClr val="5A6472"/>
                </a:solidFill>
                <a:latin typeface="Calibri" pitchFamily="34" charset="0"/>
                <a:cs typeface="Amiri" pitchFamily="2" charset="-78"/>
              </a:rPr>
              <a:t>tha-ma-nun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تَخْفِيضٌ</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discount</a:t>
            </a:r>
            <a:endParaRPr lang="en-US" sz="1350" dirty="0"/>
          </a:p>
          <a:p>
            <a:pPr indent="0" marL="0">
              <a:buNone/>
            </a:pPr>
            <a:r>
              <a:rPr lang="en-US" sz="1100" i="1" dirty="0">
                <a:solidFill>
                  <a:srgbClr val="5A6472"/>
                </a:solidFill>
                <a:latin typeface="Calibri" pitchFamily="34" charset="0"/>
                <a:cs typeface="Amiri" pitchFamily="2" charset="-78"/>
              </a:rPr>
              <a:t>takh-fī-ḍun</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2" name="Shape 39"/>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4" name="Text 4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مُنَاسِبٌ / مُنَاسِبَةٌ</a:t>
            </a:r>
            <a:endParaRPr lang="ar-SA" sz="3000" dirty="0"/>
          </a:p>
        </p:txBody>
      </p:sp>
      <p:sp>
        <p:nvSpPr>
          <p:cNvPr id="45" name="Text 4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suitable/fits</a:t>
            </a:r>
            <a:endParaRPr lang="en-US" sz="1350" dirty="0"/>
          </a:p>
          <a:p>
            <a:pPr indent="0" marL="0">
              <a:buNone/>
            </a:pPr>
            <a:r>
              <a:rPr lang="en-US" sz="1100" i="1" dirty="0">
                <a:solidFill>
                  <a:srgbClr val="5A6472"/>
                </a:solidFill>
                <a:latin typeface="Calibri" pitchFamily="34" charset="0"/>
                <a:cs typeface="Amiri" pitchFamily="2" charset="-78"/>
              </a:rPr>
              <a:t>mu-nā-si-bun / mu-nā-si-ba-tun</a:t>
            </a:r>
            <a:endParaRPr lang="en-US" sz="1350" dirty="0"/>
          </a:p>
        </p:txBody>
      </p:sp>
      <p:sp>
        <p:nvSpPr>
          <p:cNvPr id="46" name="Shape 43"/>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8" name="Text 45"/>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مُنَاسِبُونَ</a:t>
            </a:r>
            <a:endParaRPr lang="ar-SA" sz="1500" dirty="0"/>
          </a:p>
        </p:txBody>
      </p:sp>
      <p:sp>
        <p:nvSpPr>
          <p:cNvPr id="49" name="Shape 46"/>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1" name="Text 48"/>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مُنَاسِبَةٌ</a:t>
            </a:r>
            <a:endParaRPr lang="ar-SA" sz="1500" dirty="0"/>
          </a:p>
        </p:txBody>
      </p:sp>
      <p:sp>
        <p:nvSpPr>
          <p:cNvPr id="52" name="Shape 49"/>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4" name="Text 51"/>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مُنَاسِبٌ</a:t>
            </a:r>
            <a:endParaRPr lang="ar-SA" sz="15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58" name="Shape 55"/>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60" name="Text 57"/>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وَاسِعٌ / وَاسِعَةٌ</a:t>
            </a:r>
            <a:endParaRPr lang="ar-SA" sz="3000" dirty="0"/>
          </a:p>
        </p:txBody>
      </p:sp>
      <p:sp>
        <p:nvSpPr>
          <p:cNvPr id="61" name="Text 58"/>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loose/wide</a:t>
            </a:r>
            <a:endParaRPr lang="en-US" sz="1350" dirty="0"/>
          </a:p>
          <a:p>
            <a:pPr indent="0" marL="0">
              <a:buNone/>
            </a:pPr>
            <a:r>
              <a:rPr lang="en-US" sz="1100" i="1" dirty="0">
                <a:solidFill>
                  <a:srgbClr val="5A6472"/>
                </a:solidFill>
                <a:latin typeface="Calibri" pitchFamily="34" charset="0"/>
                <a:cs typeface="Amiri" pitchFamily="2" charset="-78"/>
              </a:rPr>
              <a:t>wā-si-ʿun / wā-si-ʿa-tun</a:t>
            </a:r>
            <a:endParaRPr lang="en-US" sz="1350" dirty="0"/>
          </a:p>
        </p:txBody>
      </p:sp>
      <p:sp>
        <p:nvSpPr>
          <p:cNvPr id="62" name="Shape 59"/>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4" name="Text 61"/>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مَلَابِسُ وَاسِعَةٌ</a:t>
            </a:r>
            <a:endParaRPr lang="ar-SA" sz="1500" dirty="0"/>
          </a:p>
        </p:txBody>
      </p:sp>
      <p:sp>
        <p:nvSpPr>
          <p:cNvPr id="65" name="Shape 62"/>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7" name="Text 64"/>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وَاسِعَةٌ</a:t>
            </a:r>
            <a:endParaRPr lang="ar-SA" sz="1500" dirty="0"/>
          </a:p>
        </p:txBody>
      </p:sp>
      <p:sp>
        <p:nvSpPr>
          <p:cNvPr id="68" name="Shape 65"/>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0" name="Text 67"/>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وَاسِعٌ</a:t>
            </a:r>
            <a:endParaRPr lang="ar-SA" sz="150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Shopping language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ضَيِّقٌ / ضَيِّقَةٌ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tight/narrow</a:t>
            </a:r>
            <a:endParaRPr lang="en-US" sz="1350" dirty="0"/>
          </a:p>
          <a:p>
            <a:pPr indent="0" marL="0">
              <a:buNone/>
            </a:pPr>
            <a:r>
              <a:rPr lang="en-US" sz="1100" i="1" dirty="0">
                <a:solidFill>
                  <a:srgbClr val="5A6472"/>
                </a:solidFill>
                <a:latin typeface="Calibri" pitchFamily="34" charset="0"/>
                <a:cs typeface="Amiri" pitchFamily="2" charset="-78"/>
              </a:rPr>
              <a:t>ḍay-yi-qun / ḍay-yi-qa-tun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مَلَابِسُ ضَيِّقَةٌ</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ضَيِّقَةٌ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ضَيِّقٌ</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أُرِيدُ أَنْ أُجَرِّبَ</a:t>
            </a:r>
            <a:endParaRPr lang="ar-SA" sz="3000" dirty="0"/>
          </a:p>
        </p:txBody>
      </p:sp>
      <p:sp>
        <p:nvSpPr>
          <p:cNvPr id="39" name="Text 3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want to try on</a:t>
            </a:r>
            <a:endParaRPr lang="en-US" sz="1350" dirty="0"/>
          </a:p>
          <a:p>
            <a:pPr indent="0" marL="0">
              <a:buNone/>
            </a:pPr>
            <a:r>
              <a:rPr lang="en-US" sz="1100" i="1" dirty="0">
                <a:solidFill>
                  <a:srgbClr val="5A6472"/>
                </a:solidFill>
                <a:latin typeface="Calibri" pitchFamily="34" charset="0"/>
                <a:cs typeface="Amiri" pitchFamily="2" charset="-78"/>
              </a:rPr>
              <a:t>u-rī-du an u-jar-ri-ba</a:t>
            </a:r>
            <a:endParaRPr lang="en-US"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43" name="Text 4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هَلْ لَدَيْكُمْ...؟</a:t>
            </a:r>
            <a:endParaRPr lang="ar-SA" sz="3000" dirty="0"/>
          </a:p>
        </p:txBody>
      </p:sp>
      <p:sp>
        <p:nvSpPr>
          <p:cNvPr id="44" name="Text 4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 you have…?</a:t>
            </a:r>
            <a:endParaRPr lang="en-US" sz="1350" dirty="0"/>
          </a:p>
          <a:p>
            <a:pPr indent="0" marL="0">
              <a:buNone/>
            </a:pPr>
            <a:r>
              <a:rPr lang="en-US" sz="1100" i="1" dirty="0">
                <a:solidFill>
                  <a:srgbClr val="5A6472"/>
                </a:solidFill>
                <a:latin typeface="Calibri" pitchFamily="34" charset="0"/>
                <a:cs typeface="Amiri" pitchFamily="2" charset="-78"/>
              </a:rPr>
              <a:t>hal la-day-kum...?</a:t>
            </a:r>
            <a:endParaRPr lang="en-US" sz="135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48" name="Shape 45"/>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كَمْ ثَمَنُهُ / ثَمَنُهَا؟</a:t>
            </a:r>
            <a:endParaRPr lang="ar-SA" sz="3000" dirty="0"/>
          </a:p>
        </p:txBody>
      </p:sp>
      <p:sp>
        <p:nvSpPr>
          <p:cNvPr id="51" name="Text 4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much is it?</a:t>
            </a:r>
            <a:endParaRPr lang="en-US" sz="1350" dirty="0"/>
          </a:p>
          <a:p>
            <a:pPr indent="0" marL="0">
              <a:buNone/>
            </a:pPr>
            <a:r>
              <a:rPr lang="en-US" sz="1100" i="1" dirty="0">
                <a:solidFill>
                  <a:srgbClr val="5A6472"/>
                </a:solidFill>
                <a:latin typeface="Calibri" pitchFamily="34" charset="0"/>
                <a:cs typeface="Amiri" pitchFamily="2" charset="-78"/>
              </a:rPr>
              <a:t>kam tha-ma-nu-hu / tha-ma-nu-hā?</a:t>
            </a:r>
            <a:endParaRPr lang="en-US" sz="1350" dirty="0"/>
          </a:p>
        </p:txBody>
      </p:sp>
      <p:sp>
        <p:nvSpPr>
          <p:cNvPr id="52" name="Shape 4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4389120"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55" name="Text 5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أَبْحَثُ عَنْ</a:t>
            </a:r>
            <a:endParaRPr lang="ar-SA" sz="3000" dirty="0"/>
          </a:p>
        </p:txBody>
      </p:sp>
      <p:sp>
        <p:nvSpPr>
          <p:cNvPr id="56" name="Text 5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looking for</a:t>
            </a:r>
            <a:endParaRPr lang="en-US" sz="1350" dirty="0"/>
          </a:p>
          <a:p>
            <a:pPr indent="0" marL="0">
              <a:buNone/>
            </a:pPr>
            <a:r>
              <a:rPr lang="en-US" sz="1100" i="1" dirty="0">
                <a:solidFill>
                  <a:srgbClr val="5A6472"/>
                </a:solidFill>
                <a:latin typeface="Calibri" pitchFamily="34" charset="0"/>
                <a:cs typeface="Amiri" pitchFamily="2" charset="-78"/>
              </a:rPr>
              <a:t>ab-ḥa-thu ʿan</a:t>
            </a:r>
            <a:endParaRPr lang="en-US" sz="1350" dirty="0"/>
          </a:p>
        </p:txBody>
      </p:sp>
      <p:sp>
        <p:nvSpPr>
          <p:cNvPr id="57" name="Shape 5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66928"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سَأَشْتَرِي</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buy</a:t>
            </a:r>
            <a:endParaRPr lang="en-US" sz="1350" dirty="0"/>
          </a:p>
          <a:p>
            <a:pPr indent="0" marL="0">
              <a:buNone/>
            </a:pPr>
            <a:r>
              <a:rPr lang="en-US" sz="1100" i="1" dirty="0">
                <a:solidFill>
                  <a:srgbClr val="5A6472"/>
                </a:solidFill>
                <a:latin typeface="Calibri" pitchFamily="34" charset="0"/>
                <a:cs typeface="Amiri" pitchFamily="2" charset="-78"/>
              </a:rPr>
              <a:t>sa-ʾash-ta-rī</a:t>
            </a:r>
            <a:endParaRPr lang="en-US" sz="13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Style and suitability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أَنِيقٌ / أَنِيقَةٌ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elegant</a:t>
            </a:r>
            <a:endParaRPr lang="en-US" sz="1350" dirty="0"/>
          </a:p>
          <a:p>
            <a:pPr indent="0" marL="0">
              <a:buNone/>
            </a:pPr>
            <a:r>
              <a:rPr lang="en-US" sz="1100" i="1" dirty="0">
                <a:solidFill>
                  <a:srgbClr val="5A6472"/>
                </a:solidFill>
                <a:latin typeface="Calibri" pitchFamily="34" charset="0"/>
                <a:cs typeface="Amiri" pitchFamily="2" charset="-78"/>
              </a:rPr>
              <a:t>a-nī-qun / a-nī-qa-tun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أَنِيقُونَ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أَنِيقَةٌ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أَنِيقٌ</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عَصْرِيٌّ / عَصْرِيَّةٌ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modern</a:t>
            </a:r>
            <a:endParaRPr lang="en-US" sz="1350" dirty="0"/>
          </a:p>
          <a:p>
            <a:pPr indent="0" marL="0">
              <a:buNone/>
            </a:pPr>
            <a:r>
              <a:rPr lang="en-US" sz="1100" i="1" dirty="0">
                <a:solidFill>
                  <a:srgbClr val="5A6472"/>
                </a:solidFill>
                <a:latin typeface="Calibri" pitchFamily="34" charset="0"/>
                <a:cs typeface="Amiri" pitchFamily="2" charset="-78"/>
              </a:rPr>
              <a:t>ʿaṣ-riy-yun / ʿaṣ-riy-ya-tun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عَصْرِيُّونَ</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عَصْرِيَّةٌ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عَصْرِيٌّ</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تَقْلِيدِيٌّ / تَقْلِيدِيَّةٌ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traditional</a:t>
            </a:r>
            <a:endParaRPr lang="en-US" sz="1350" dirty="0"/>
          </a:p>
          <a:p>
            <a:pPr indent="0" marL="0">
              <a:buNone/>
            </a:pPr>
            <a:r>
              <a:rPr lang="en-US" sz="1100" i="1" dirty="0">
                <a:solidFill>
                  <a:srgbClr val="5A6472"/>
                </a:solidFill>
                <a:latin typeface="Calibri" pitchFamily="34" charset="0"/>
                <a:cs typeface="Amiri" pitchFamily="2" charset="-78"/>
              </a:rPr>
              <a:t>taq-lī-diy-yun / taq-lī-diy-ya-tun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تَقْلِيدِيُّونَ</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تَقْلِيدِيَّةٌ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تَقْلِيدِيٌّ</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رَسْمِيٌّ / رَسْمِيَّةٌ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formal</a:t>
            </a:r>
            <a:endParaRPr lang="en-US" sz="1350" dirty="0"/>
          </a:p>
          <a:p>
            <a:pPr indent="0" marL="0">
              <a:buNone/>
            </a:pPr>
            <a:r>
              <a:rPr lang="en-US" sz="1100" i="1" dirty="0">
                <a:solidFill>
                  <a:srgbClr val="5A6472"/>
                </a:solidFill>
                <a:latin typeface="Calibri" pitchFamily="34" charset="0"/>
                <a:cs typeface="Amiri" pitchFamily="2" charset="-78"/>
              </a:rPr>
              <a:t>ras-miy-yun / ras-miy-ya-tun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رَسْمِيُّونَ</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رَسْمِيَّةٌ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رَسْمِيٌّ</a:t>
            </a:r>
            <a:endParaRPr lang="ar-SA" sz="150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Style and suitability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غَيْرُ رَسْمِيٍّ / غَيْرُ رَسْمِيَّةٍ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casual</a:t>
            </a:r>
            <a:endParaRPr lang="en-US" sz="1350" dirty="0"/>
          </a:p>
          <a:p>
            <a:pPr indent="0" marL="0">
              <a:buNone/>
            </a:pPr>
            <a:r>
              <a:rPr lang="en-US" sz="1100" i="1" dirty="0">
                <a:solidFill>
                  <a:srgbClr val="5A6472"/>
                </a:solidFill>
                <a:latin typeface="Calibri" pitchFamily="34" charset="0"/>
                <a:cs typeface="Amiri" pitchFamily="2" charset="-78"/>
              </a:rPr>
              <a:t>ghay-ru ras-miy-yin / ghay-ru ras-miy-ya-tin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25" name="Shape 22"/>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مُحْتَشِمٌ / مُحْتَشِمَةٌ</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modest</a:t>
            </a:r>
            <a:endParaRPr lang="en-US" sz="1350" dirty="0"/>
          </a:p>
          <a:p>
            <a:pPr indent="0" marL="0">
              <a:buNone/>
            </a:pPr>
            <a:r>
              <a:rPr lang="en-US" sz="1100" i="1" dirty="0">
                <a:solidFill>
                  <a:srgbClr val="5A6472"/>
                </a:solidFill>
                <a:latin typeface="Calibri" pitchFamily="34" charset="0"/>
                <a:cs typeface="Amiri" pitchFamily="2" charset="-78"/>
              </a:rPr>
              <a:t>muḥ-ta-shi-mun / muḥ-ta-shi-ma-tun</a:t>
            </a:r>
            <a:endParaRPr lang="en-US" sz="1350" dirty="0"/>
          </a:p>
        </p:txBody>
      </p:sp>
      <p:sp>
        <p:nvSpPr>
          <p:cNvPr id="29" name="Shape 26"/>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1" name="Text 28"/>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مُحْتَشِمُونَ</a:t>
            </a:r>
            <a:endParaRPr lang="ar-SA" sz="1500" dirty="0"/>
          </a:p>
        </p:txBody>
      </p:sp>
      <p:sp>
        <p:nvSpPr>
          <p:cNvPr id="32" name="Shape 29"/>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34" name="Text 31"/>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مُحْتَشِمَةٌ</a:t>
            </a:r>
            <a:endParaRPr lang="ar-SA" sz="1500" dirty="0"/>
          </a:p>
        </p:txBody>
      </p:sp>
      <p:sp>
        <p:nvSpPr>
          <p:cNvPr id="35" name="Shape 32"/>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7" name="Text 34"/>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مُحْتَشِمٌ</a:t>
            </a:r>
            <a:endParaRPr lang="ar-SA" sz="1500" dirty="0"/>
          </a:p>
        </p:txBody>
      </p:sp>
      <p:sp>
        <p:nvSpPr>
          <p:cNvPr id="38" name="Shape 3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566928" y="1920240"/>
            <a:ext cx="310896" cy="310896"/>
          </a:xfrm>
          <a:prstGeom prst="ellipse">
            <a:avLst/>
          </a:prstGeom>
          <a:solidFill>
            <a:srgbClr val="F4F1EA"/>
          </a:solidFill>
          <a:ln w="12700">
            <a:solidFill>
              <a:srgbClr val="F4F1EA"/>
            </a:solidFill>
            <a:prstDash val="solid"/>
          </a:ln>
        </p:spPr>
      </p:sp>
      <p:sp>
        <p:nvSpPr>
          <p:cNvPr id="40" name="Text 3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41" name="Shape 38"/>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2" name="Text 39"/>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3" name="Text 40"/>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مُلَوَّنٌ / مُلَوَّنَةٌ</a:t>
            </a:r>
            <a:endParaRPr lang="ar-SA" sz="3000" dirty="0"/>
          </a:p>
        </p:txBody>
      </p:sp>
      <p:sp>
        <p:nvSpPr>
          <p:cNvPr id="44" name="Text 41"/>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colourful</a:t>
            </a:r>
            <a:endParaRPr lang="en-US" sz="1350" dirty="0"/>
          </a:p>
          <a:p>
            <a:pPr indent="0" marL="0">
              <a:buNone/>
            </a:pPr>
            <a:r>
              <a:rPr lang="en-US" sz="1100" i="1" dirty="0">
                <a:solidFill>
                  <a:srgbClr val="5A6472"/>
                </a:solidFill>
                <a:latin typeface="Calibri" pitchFamily="34" charset="0"/>
                <a:cs typeface="Amiri" pitchFamily="2" charset="-78"/>
              </a:rPr>
              <a:t>mu-law-wa-nun / mu-law-wa-na-tun</a:t>
            </a:r>
            <a:endParaRPr lang="en-US" sz="1350" dirty="0"/>
          </a:p>
        </p:txBody>
      </p:sp>
      <p:sp>
        <p:nvSpPr>
          <p:cNvPr id="45" name="Shape 42"/>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7" name="Text 44"/>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مَلَابِسُ مُلَوَّنَةٌ</a:t>
            </a:r>
            <a:endParaRPr lang="ar-SA" sz="1500" dirty="0"/>
          </a:p>
        </p:txBody>
      </p:sp>
      <p:sp>
        <p:nvSpPr>
          <p:cNvPr id="48" name="Shape 45"/>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0" name="Text 47"/>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مُلَوَّنَةٌ</a:t>
            </a:r>
            <a:endParaRPr lang="ar-SA" sz="1500" dirty="0"/>
          </a:p>
        </p:txBody>
      </p:sp>
      <p:sp>
        <p:nvSpPr>
          <p:cNvPr id="51" name="Shape 48"/>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3" name="Text 50"/>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مُلَوَّنٌ</a:t>
            </a:r>
            <a:endParaRPr lang="ar-SA" sz="1500" dirty="0"/>
          </a:p>
        </p:txBody>
      </p:sp>
      <p:sp>
        <p:nvSpPr>
          <p:cNvPr id="54" name="Shape 5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8211312"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57" name="Shape 54"/>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9" name="Text 5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بَسِيطٌ / بَسِيطَةٌ</a:t>
            </a:r>
            <a:endParaRPr lang="ar-SA" sz="3000" dirty="0"/>
          </a:p>
        </p:txBody>
      </p:sp>
      <p:sp>
        <p:nvSpPr>
          <p:cNvPr id="60" name="Text 5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simple</a:t>
            </a:r>
            <a:endParaRPr lang="en-US" sz="1350" dirty="0"/>
          </a:p>
          <a:p>
            <a:pPr indent="0" marL="0">
              <a:buNone/>
            </a:pPr>
            <a:r>
              <a:rPr lang="en-US" sz="1100" i="1" dirty="0">
                <a:solidFill>
                  <a:srgbClr val="5A6472"/>
                </a:solidFill>
                <a:latin typeface="Calibri" pitchFamily="34" charset="0"/>
                <a:cs typeface="Amiri" pitchFamily="2" charset="-78"/>
              </a:rPr>
              <a:t>ba-sī-ṭun / ba-sī-ṭa-tun</a:t>
            </a:r>
            <a:endParaRPr lang="en-US" sz="1350" dirty="0"/>
          </a:p>
        </p:txBody>
      </p:sp>
      <p:sp>
        <p:nvSpPr>
          <p:cNvPr id="61" name="Shape 58"/>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3" name="Text 60"/>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بُسَطَاءُ</a:t>
            </a:r>
            <a:endParaRPr lang="ar-SA" sz="1500" dirty="0"/>
          </a:p>
        </p:txBody>
      </p:sp>
      <p:sp>
        <p:nvSpPr>
          <p:cNvPr id="64" name="Shape 61"/>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6" name="Text 63"/>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بَسِيطَةٌ</a:t>
            </a:r>
            <a:endParaRPr lang="ar-SA" sz="1500" dirty="0"/>
          </a:p>
        </p:txBody>
      </p:sp>
      <p:sp>
        <p:nvSpPr>
          <p:cNvPr id="67" name="Shape 64"/>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9" name="Text 66"/>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بَسِيطٌ</a:t>
            </a:r>
            <a:endParaRPr lang="ar-SA" sz="15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THIS + COLOUR AGREEMENT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This blue shirt · this blue jacket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هٰذَا · هٰذِهِ · الأَلْوَانُ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72984"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Masculine item</a:t>
            </a:r>
            <a:endParaRPr lang="en-US" sz="1100" dirty="0"/>
          </a:p>
        </p:txBody>
      </p:sp>
      <p:sp>
        <p:nvSpPr>
          <p:cNvPr id="17" name="Text 14"/>
          <p:cNvSpPr txBox="1"/>
          <p:nvPr/>
        </p:nvSpPr>
        <p:spPr>
          <a:xfrm>
            <a:off x="366674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Feminine item</a:t>
            </a:r>
            <a:endParaRPr lang="en-US" sz="1100" dirty="0"/>
          </a:p>
        </p:txBody>
      </p:sp>
      <p:sp>
        <p:nvSpPr>
          <p:cNvPr id="18" name="Text 15"/>
          <p:cNvSpPr txBox="1"/>
          <p:nvPr/>
        </p:nvSpPr>
        <p:spPr>
          <a:xfrm>
            <a:off x="530352" y="1810512"/>
            <a:ext cx="2990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Colour</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91272" y="2267712"/>
            <a:ext cx="374904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هٰذَا</a:t>
            </a:r>
            <a:pPr rtl="1" algn="ctr" indent="0" marL="0">
              <a:buNone/>
            </a:pPr>
            <a:r>
              <a:rPr lang="ar-SA" altLang="en-US" sz="2400" b="1" dirty="0">
                <a:solidFill>
                  <a:srgbClr val="1B3B6F"/>
                </a:solidFill>
                <a:latin typeface="Amiri" pitchFamily="2" charset="-78"/>
                <a:cs typeface="Amiri" pitchFamily="2" charset="-78"/>
              </a:rPr>
              <a:t> القَمِيصُ </a:t>
            </a:r>
            <a:pPr rtl="1" algn="ctr" indent="0" marL="0">
              <a:buNone/>
            </a:pPr>
            <a:r>
              <a:rPr lang="ar-SA" altLang="en-US" sz="2400" b="1" dirty="0">
                <a:solidFill>
                  <a:srgbClr val="1D5FBF"/>
                </a:solidFill>
                <a:latin typeface="Amiri" pitchFamily="2" charset="-78"/>
                <a:cs typeface="Amiri" pitchFamily="2" charset="-78"/>
              </a:rPr>
              <a:t>الأَزْرَقُ</a:t>
            </a:r>
            <a:endParaRPr lang="ar-SA" sz="2400" dirty="0"/>
          </a:p>
        </p:txBody>
      </p:sp>
      <p:sp>
        <p:nvSpPr>
          <p:cNvPr id="21" name="Text 18"/>
          <p:cNvSpPr txBox="1"/>
          <p:nvPr/>
        </p:nvSpPr>
        <p:spPr>
          <a:xfrm>
            <a:off x="3685032" y="2267712"/>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cs typeface="Amiri" pitchFamily="2" charset="-78"/>
              </a:rPr>
              <a:t>هٰذِهِ</a:t>
            </a:r>
            <a:pPr rtl="1" algn="ctr" indent="0" marL="0">
              <a:buNone/>
            </a:pPr>
            <a:r>
              <a:rPr lang="ar-SA" altLang="en-US" sz="2400" b="1" dirty="0">
                <a:solidFill>
                  <a:srgbClr val="1B3B6F"/>
                </a:solidFill>
                <a:latin typeface="Amiri" pitchFamily="2" charset="-78"/>
                <a:cs typeface="Amiri" pitchFamily="2" charset="-78"/>
              </a:rPr>
              <a:t> السُّتْرَةُ </a:t>
            </a:r>
            <a:pPr rtl="1" algn="ctr" indent="0" marL="0">
              <a:buNone/>
            </a:pPr>
            <a:r>
              <a:rPr lang="ar-SA" altLang="en-US" sz="2400" b="1" dirty="0">
                <a:solidFill>
                  <a:srgbClr val="D6336C"/>
                </a:solidFill>
                <a:latin typeface="Amiri" pitchFamily="2" charset="-78"/>
                <a:cs typeface="Amiri" pitchFamily="2" charset="-78"/>
              </a:rPr>
              <a:t>الزَّرْقَاءُ</a:t>
            </a:r>
            <a:endParaRPr lang="ar-SA" sz="2400" dirty="0"/>
          </a:p>
        </p:txBody>
      </p:sp>
      <p:sp>
        <p:nvSpPr>
          <p:cNvPr id="22" name="Text 19"/>
          <p:cNvSpPr txBox="1"/>
          <p:nvPr/>
        </p:nvSpPr>
        <p:spPr>
          <a:xfrm>
            <a:off x="566928" y="2267712"/>
            <a:ext cx="29535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blue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891272" y="3004718"/>
            <a:ext cx="374904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هٰذَا</a:t>
            </a:r>
            <a:pPr rtl="1" algn="ctr" indent="0" marL="0">
              <a:buNone/>
            </a:pPr>
            <a:r>
              <a:rPr lang="ar-SA" altLang="en-US" sz="2400" b="1" dirty="0">
                <a:solidFill>
                  <a:srgbClr val="1B3B6F"/>
                </a:solidFill>
                <a:latin typeface="Amiri" pitchFamily="2" charset="-78"/>
                <a:cs typeface="Amiri" pitchFamily="2" charset="-78"/>
              </a:rPr>
              <a:t> المِعْطَفُ </a:t>
            </a:r>
            <a:pPr rtl="1" algn="ctr" indent="0" marL="0">
              <a:buNone/>
            </a:pPr>
            <a:r>
              <a:rPr lang="ar-SA" altLang="en-US" sz="2400" b="1" dirty="0">
                <a:solidFill>
                  <a:srgbClr val="1D5FBF"/>
                </a:solidFill>
                <a:latin typeface="Amiri" pitchFamily="2" charset="-78"/>
                <a:cs typeface="Amiri" pitchFamily="2" charset="-78"/>
              </a:rPr>
              <a:t>الأَسْوَدُ</a:t>
            </a:r>
            <a:endParaRPr lang="ar-SA" sz="2400" dirty="0"/>
          </a:p>
        </p:txBody>
      </p:sp>
      <p:sp>
        <p:nvSpPr>
          <p:cNvPr id="27" name="Text 24"/>
          <p:cNvSpPr txBox="1"/>
          <p:nvPr/>
        </p:nvSpPr>
        <p:spPr>
          <a:xfrm>
            <a:off x="3685032" y="3004718"/>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cs typeface="Amiri" pitchFamily="2" charset="-78"/>
              </a:rPr>
              <a:t>هٰذِهِ</a:t>
            </a:r>
            <a:pPr rtl="1" algn="ctr" indent="0" marL="0">
              <a:buNone/>
            </a:pPr>
            <a:r>
              <a:rPr lang="ar-SA" altLang="en-US" sz="2400" b="1" dirty="0">
                <a:solidFill>
                  <a:srgbClr val="1B3B6F"/>
                </a:solidFill>
                <a:latin typeface="Amiri" pitchFamily="2" charset="-78"/>
                <a:cs typeface="Amiri" pitchFamily="2" charset="-78"/>
              </a:rPr>
              <a:t> الحَقِيبَةُ </a:t>
            </a:r>
            <a:pPr rtl="1" algn="ctr" indent="0" marL="0">
              <a:buNone/>
            </a:pPr>
            <a:r>
              <a:rPr lang="ar-SA" altLang="en-US" sz="2400" b="1" dirty="0">
                <a:solidFill>
                  <a:srgbClr val="D6336C"/>
                </a:solidFill>
                <a:latin typeface="Amiri" pitchFamily="2" charset="-78"/>
                <a:cs typeface="Amiri" pitchFamily="2" charset="-78"/>
              </a:rPr>
              <a:t>السَّوْدَاءُ</a:t>
            </a:r>
            <a:endParaRPr lang="ar-SA" sz="2400" dirty="0"/>
          </a:p>
        </p:txBody>
      </p:sp>
      <p:sp>
        <p:nvSpPr>
          <p:cNvPr id="28" name="Text 25"/>
          <p:cNvSpPr txBox="1"/>
          <p:nvPr/>
        </p:nvSpPr>
        <p:spPr>
          <a:xfrm>
            <a:off x="566928" y="3004718"/>
            <a:ext cx="29535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black</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891272" y="3741725"/>
            <a:ext cx="374904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هٰذَا</a:t>
            </a:r>
            <a:pPr rtl="1" algn="ctr" indent="0" marL="0">
              <a:buNone/>
            </a:pPr>
            <a:r>
              <a:rPr lang="ar-SA" altLang="en-US" sz="2400" b="1" dirty="0">
                <a:solidFill>
                  <a:srgbClr val="1B3B6F"/>
                </a:solidFill>
                <a:latin typeface="Amiri" pitchFamily="2" charset="-78"/>
                <a:cs typeface="Amiri" pitchFamily="2" charset="-78"/>
              </a:rPr>
              <a:t> الحِذَاءُ </a:t>
            </a:r>
            <a:pPr rtl="1" algn="ctr" indent="0" marL="0">
              <a:buNone/>
            </a:pPr>
            <a:r>
              <a:rPr lang="ar-SA" altLang="en-US" sz="2400" b="1" dirty="0">
                <a:solidFill>
                  <a:srgbClr val="1D5FBF"/>
                </a:solidFill>
                <a:latin typeface="Amiri" pitchFamily="2" charset="-78"/>
                <a:cs typeface="Amiri" pitchFamily="2" charset="-78"/>
              </a:rPr>
              <a:t>الأَبْيَضُ</a:t>
            </a:r>
            <a:endParaRPr lang="ar-SA" sz="2400" dirty="0"/>
          </a:p>
        </p:txBody>
      </p:sp>
      <p:sp>
        <p:nvSpPr>
          <p:cNvPr id="33" name="Text 30"/>
          <p:cNvSpPr txBox="1"/>
          <p:nvPr/>
        </p:nvSpPr>
        <p:spPr>
          <a:xfrm>
            <a:off x="3685032" y="3741725"/>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cs typeface="Amiri" pitchFamily="2" charset="-78"/>
              </a:rPr>
              <a:t>هٰذِهِ</a:t>
            </a:r>
            <a:pPr rtl="1" algn="ctr" indent="0" marL="0">
              <a:buNone/>
            </a:pPr>
            <a:r>
              <a:rPr lang="ar-SA" altLang="en-US" sz="2400" b="1" dirty="0">
                <a:solidFill>
                  <a:srgbClr val="1B3B6F"/>
                </a:solidFill>
                <a:latin typeface="Amiri" pitchFamily="2" charset="-78"/>
                <a:cs typeface="Amiri" pitchFamily="2" charset="-78"/>
              </a:rPr>
              <a:t> التَّنُّورَةُ </a:t>
            </a:r>
            <a:pPr rtl="1" algn="ctr" indent="0" marL="0">
              <a:buNone/>
            </a:pPr>
            <a:r>
              <a:rPr lang="ar-SA" altLang="en-US" sz="2400" b="1" dirty="0">
                <a:solidFill>
                  <a:srgbClr val="D6336C"/>
                </a:solidFill>
                <a:latin typeface="Amiri" pitchFamily="2" charset="-78"/>
                <a:cs typeface="Amiri" pitchFamily="2" charset="-78"/>
              </a:rPr>
              <a:t>البَيْضَاءُ</a:t>
            </a:r>
            <a:endParaRPr lang="ar-SA" sz="2400" dirty="0"/>
          </a:p>
        </p:txBody>
      </p:sp>
      <p:sp>
        <p:nvSpPr>
          <p:cNvPr id="34" name="Text 31"/>
          <p:cNvSpPr txBox="1"/>
          <p:nvPr/>
        </p:nvSpPr>
        <p:spPr>
          <a:xfrm>
            <a:off x="566928" y="3741725"/>
            <a:ext cx="29535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white</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891272" y="4478731"/>
            <a:ext cx="374904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هٰذَا</a:t>
            </a:r>
            <a:pPr rtl="1" algn="ctr" indent="0" marL="0">
              <a:buNone/>
            </a:pPr>
            <a:r>
              <a:rPr lang="ar-SA" altLang="en-US" sz="2400" b="1" dirty="0">
                <a:solidFill>
                  <a:srgbClr val="1B3B6F"/>
                </a:solidFill>
                <a:latin typeface="Amiri" pitchFamily="2" charset="-78"/>
                <a:cs typeface="Amiri" pitchFamily="2" charset="-78"/>
              </a:rPr>
              <a:t> الفُسْتَانُ </a:t>
            </a:r>
            <a:pPr rtl="1" algn="ctr" indent="0" marL="0">
              <a:buNone/>
            </a:pPr>
            <a:r>
              <a:rPr lang="ar-SA" altLang="en-US" sz="2400" b="1" dirty="0">
                <a:solidFill>
                  <a:srgbClr val="1D5FBF"/>
                </a:solidFill>
                <a:latin typeface="Amiri" pitchFamily="2" charset="-78"/>
                <a:cs typeface="Amiri" pitchFamily="2" charset="-78"/>
              </a:rPr>
              <a:t>الأَحْمَرُ</a:t>
            </a:r>
            <a:endParaRPr lang="ar-SA" sz="2400" dirty="0"/>
          </a:p>
        </p:txBody>
      </p:sp>
      <p:sp>
        <p:nvSpPr>
          <p:cNvPr id="39" name="Text 36"/>
          <p:cNvSpPr txBox="1"/>
          <p:nvPr/>
        </p:nvSpPr>
        <p:spPr>
          <a:xfrm>
            <a:off x="3685032" y="4478731"/>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cs typeface="Amiri" pitchFamily="2" charset="-78"/>
              </a:rPr>
              <a:t>هٰذِهِ</a:t>
            </a:r>
            <a:pPr rtl="1" algn="ctr" indent="0" marL="0">
              <a:buNone/>
            </a:pPr>
            <a:r>
              <a:rPr lang="ar-SA" altLang="en-US" sz="2400" b="1" dirty="0">
                <a:solidFill>
                  <a:srgbClr val="1B3B6F"/>
                </a:solidFill>
                <a:latin typeface="Amiri" pitchFamily="2" charset="-78"/>
                <a:cs typeface="Amiri" pitchFamily="2" charset="-78"/>
              </a:rPr>
              <a:t> القُبَّعَةُ </a:t>
            </a:r>
            <a:pPr rtl="1" algn="ctr" indent="0" marL="0">
              <a:buNone/>
            </a:pPr>
            <a:r>
              <a:rPr lang="ar-SA" altLang="en-US" sz="2400" b="1" dirty="0">
                <a:solidFill>
                  <a:srgbClr val="D6336C"/>
                </a:solidFill>
                <a:latin typeface="Amiri" pitchFamily="2" charset="-78"/>
                <a:cs typeface="Amiri" pitchFamily="2" charset="-78"/>
              </a:rPr>
              <a:t>الحَمْرَاءُ</a:t>
            </a:r>
            <a:endParaRPr lang="ar-SA" sz="2400" dirty="0"/>
          </a:p>
        </p:txBody>
      </p:sp>
      <p:sp>
        <p:nvSpPr>
          <p:cNvPr id="40" name="Text 37"/>
          <p:cNvSpPr txBox="1"/>
          <p:nvPr/>
        </p:nvSpPr>
        <p:spPr>
          <a:xfrm>
            <a:off x="566928" y="4478731"/>
            <a:ext cx="29535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red</a:t>
            </a:r>
            <a:endParaRPr lang="en-US" sz="11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7891272" y="5215738"/>
            <a:ext cx="374904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هٰذَا</a:t>
            </a:r>
            <a:pPr rtl="1" algn="ctr" indent="0" marL="0">
              <a:buNone/>
            </a:pPr>
            <a:r>
              <a:rPr lang="ar-SA" altLang="en-US" sz="2400" b="1" dirty="0">
                <a:solidFill>
                  <a:srgbClr val="1B3B6F"/>
                </a:solidFill>
                <a:latin typeface="Amiri" pitchFamily="2" charset="-78"/>
                <a:cs typeface="Amiri" pitchFamily="2" charset="-78"/>
              </a:rPr>
              <a:t> الحِزَامُ </a:t>
            </a:r>
            <a:pPr rtl="1" algn="ctr" indent="0" marL="0">
              <a:buNone/>
            </a:pPr>
            <a:r>
              <a:rPr lang="ar-SA" altLang="en-US" sz="2400" b="1" dirty="0">
                <a:solidFill>
                  <a:srgbClr val="1D5FBF"/>
                </a:solidFill>
                <a:latin typeface="Amiri" pitchFamily="2" charset="-78"/>
                <a:cs typeface="Amiri" pitchFamily="2" charset="-78"/>
              </a:rPr>
              <a:t>البُنِّيُّ</a:t>
            </a:r>
            <a:endParaRPr lang="ar-SA" sz="2400" dirty="0"/>
          </a:p>
        </p:txBody>
      </p:sp>
      <p:sp>
        <p:nvSpPr>
          <p:cNvPr id="43" name="Text 40"/>
          <p:cNvSpPr txBox="1"/>
          <p:nvPr/>
        </p:nvSpPr>
        <p:spPr>
          <a:xfrm>
            <a:off x="3685032" y="5215738"/>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cs typeface="Amiri" pitchFamily="2" charset="-78"/>
              </a:rPr>
              <a:t>هٰذِهِ</a:t>
            </a:r>
            <a:pPr rtl="1" algn="ctr" indent="0" marL="0">
              <a:buNone/>
            </a:pPr>
            <a:r>
              <a:rPr lang="ar-SA" altLang="en-US" sz="2400" b="1" dirty="0">
                <a:solidFill>
                  <a:srgbClr val="1B3B6F"/>
                </a:solidFill>
                <a:latin typeface="Amiri" pitchFamily="2" charset="-78"/>
                <a:cs typeface="Amiri" pitchFamily="2" charset="-78"/>
              </a:rPr>
              <a:t> الحَقِيبَةُ </a:t>
            </a:r>
            <a:pPr rtl="1" algn="ctr" indent="0" marL="0">
              <a:buNone/>
            </a:pPr>
            <a:r>
              <a:rPr lang="ar-SA" altLang="en-US" sz="2400" b="1" dirty="0">
                <a:solidFill>
                  <a:srgbClr val="D6336C"/>
                </a:solidFill>
                <a:latin typeface="Amiri" pitchFamily="2" charset="-78"/>
                <a:cs typeface="Amiri" pitchFamily="2" charset="-78"/>
              </a:rPr>
              <a:t>البُنِّيَّةُ</a:t>
            </a:r>
            <a:endParaRPr lang="ar-SA" sz="2400" dirty="0"/>
          </a:p>
        </p:txBody>
      </p:sp>
      <p:sp>
        <p:nvSpPr>
          <p:cNvPr id="44" name="Text 41"/>
          <p:cNvSpPr txBox="1"/>
          <p:nvPr/>
        </p:nvSpPr>
        <p:spPr>
          <a:xfrm>
            <a:off x="566928" y="5215738"/>
            <a:ext cx="29535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brown (+ -a)</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Main colours change shape for feminine: aḥmar → ḥamrāʾ. Other colours just add -a: bunnī → bunniyya.</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POLITE SHOPPING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 the shop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فِي المَتْجَرِ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1658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TRY ON · CORE</a:t>
            </a:r>
            <a:endParaRPr lang="en-US" sz="850" dirty="0"/>
          </a:p>
        </p:txBody>
      </p:sp>
      <p:sp>
        <p:nvSpPr>
          <p:cNvPr id="18" name="Text 15"/>
          <p:cNvSpPr txBox="1"/>
          <p:nvPr/>
        </p:nvSpPr>
        <p:spPr>
          <a:xfrm>
            <a:off x="9444228"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أُرِيدُ أَنْ أُجَرِّبَ</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cs typeface="Amiri" pitchFamily="2" charset="-78"/>
              </a:rPr>
              <a:t>أُرِيدُ أَنْ أُجَرِّبَ هٰذَا المِعْطَفَ.</a:t>
            </a:r>
            <a:endParaRPr lang="ar-SA" sz="27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would like to try on this coat.</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 + fatḥa (D1-L04, website).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234440" cy="274320"/>
          </a:xfrm>
          <a:prstGeom prst="roundRect">
            <a:avLst>
              <a:gd name="adj" fmla="val 50000"/>
            </a:avLst>
          </a:prstGeom>
          <a:solidFill>
            <a:srgbClr val="1E7B4F"/>
          </a:solidFill>
          <a:ln w="12700">
            <a:solidFill>
              <a:srgbClr val="1E7B4F"/>
            </a:solidFill>
            <a:prstDash val="solid"/>
          </a:ln>
        </p:spPr>
      </p:sp>
      <p:sp>
        <p:nvSpPr>
          <p:cNvPr id="25" name="Text 22"/>
          <p:cNvSpPr txBox="1"/>
          <p:nvPr/>
        </p:nvSpPr>
        <p:spPr>
          <a:xfrm>
            <a:off x="4413504"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SIZE · DEVELOP</a:t>
            </a:r>
            <a:endParaRPr lang="en-US" sz="850" dirty="0"/>
          </a:p>
        </p:txBody>
      </p:sp>
      <p:sp>
        <p:nvSpPr>
          <p:cNvPr id="26" name="Text 23"/>
          <p:cNvSpPr txBox="1"/>
          <p:nvPr/>
        </p:nvSpPr>
        <p:spPr>
          <a:xfrm>
            <a:off x="5693664"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هَلْ لَدَيْكُمْ …؟</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هَلْ لَدَيْكُمْ مَقَاسٌ أَكْبَرُ؟ هٰذِهِ السُّتْرَةُ ضَيِّقَةٌ.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Do you have a bigger size? This jacket is tight.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Tight / loose agree too.</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09728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PRICE · CORE</a:t>
            </a:r>
            <a:endParaRPr lang="en-US" sz="850" dirty="0"/>
          </a:p>
        </p:txBody>
      </p:sp>
      <p:sp>
        <p:nvSpPr>
          <p:cNvPr id="34" name="Text 31"/>
          <p:cNvSpPr txBox="1"/>
          <p:nvPr/>
        </p:nvSpPr>
        <p:spPr>
          <a:xfrm>
            <a:off x="1737360"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كَمْ ثَمَنُهُ / ثَمَنُهَا؟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كَمْ ثَمَنُهَا؟ — الحَقِيبَةُ بِأَرْبَعِينَ جُنَيْهًا.</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How much is it? — The bag is forty pounds.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-hu for m., -hā for f.</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ask the price with the right ending.</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cs typeface="Amiri" pitchFamily="2" charset="-78"/>
              </a:rPr>
              <a:t>الحَقِيبَةُ: كَمْ ثَمَنُهَا؟</a:t>
            </a:r>
            <a:endParaRPr lang="ar-SA" sz="18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B83227"/>
                </a:solidFill>
                <a:latin typeface="Amiri" pitchFamily="2" charset="-78"/>
                <a:cs typeface="Amiri" pitchFamily="2" charset="-78"/>
              </a:rPr>
              <a:t>الحَقِيبَةُ: كَمْ ثَمَنُهُ؟</a:t>
            </a:r>
            <a:endParaRPr lang="ar-SA" sz="19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Demonstratives, adjective agreement and polite shopping</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100" b="1" dirty="0">
                <a:solidFill>
                  <a:srgbClr val="8A6D1E"/>
                </a:solidFill>
                <a:latin typeface="Amiri" pitchFamily="2" charset="-78"/>
                <a:cs typeface="Amiri" pitchFamily="2" charset="-78"/>
              </a:rPr>
              <a:t>أَسْمَاءُ الإِشَارَةِ وَمُطَابَقَةُ الصِّفَةِ وَلُغَةُ التَّسَوُّقِ</a:t>
            </a:r>
            <a:endParaRPr lang="ar-SA" sz="21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This item</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هٰذَا + مُذَكَّرٌ / هٰذِهِ + مُؤَنَّثٌ</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هٰذَا القَمِيصُ جَمِيلٌ.   ·   هٰذِهِ السُّتْرَةُ جَمِيلَةٌ.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Colour and size agreement</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اِسْمٌ + صِفَةٌ مُطَابِقَةٌ</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القَمِيصُ الأَبْيَضُ   ·   الحَقِيبَةُ السَّوْدَاءُ</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Ask price with pronoun</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كَمْ ثَمَنُهُ؟ / كَمْ ثَمَنُهَا؟</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كَمْ ثَمَنُهُ؟ القَمِيصُ بِثَلَاثِينَ جُنَيْهًا.   ·   كَمْ ثَمَنُهَا؟ الحَقِيبَةُ بِأَرْبَعِينَ جُنَيْهًا.</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Polite request</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أُرِيدُ أَنْ أُجَرِّبَ / هَلْ لَدَيْكُمْ...؟</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أُرِيدُ أَنْ أُجَرِّبَ هٰذَا المِعْطَفَ.   ·   هَلْ لَدَيْكُمْ هٰذِهِ السُّتْرَةُ بِمَقَاسٍ أَكْبَرَ؟</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jacket”.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السُّتْرَةُ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 السُّتْرَةَ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 السُّتْرَةُ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القَمِيصُ ___.</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الأَزْرَقُ</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الزَّرْقَاءُ</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أَزْرَقَ</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the price of a bag.</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ثَمَنُهُ؟</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ثَمَنُهَا؟</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مَقَاسُهُ؟</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polite request.</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أُرِيدُ أَنْ أُجَرِّبَ هٰذَا الحِذَاءَ.</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أُرِيدُ أُجَرِّبُ هٰذَا.</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جَرِّبْ أَنَا الحِذَاءَ.</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jacket”.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هٰذَا السُّتْرَةُ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هٰذِهِ السُّتْرَةَ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هٰذِهِ السُّتْرَةُ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سُتْرَةٌ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القَمِيصُ ___.</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الأَزْرَقُ</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الزَّرْقَاءُ</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أَزْرَقَ</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definite noun takes masculine definite adjective.</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the price of a bag.</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ثَمَنُهُ؟</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كَمْ ثَمَنُهَا؟</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 مَقَاسُهُ؟</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حَقِيبَةٌ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polite request.</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أُرِيدُ أَنْ أُجَرِّبَ هٰذَا الحِذَاءَ.</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أُرِيدُ أُجَرِّبُ هٰذَا.</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جَرِّبْ أَنَا الحِذَاءَ.</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أُرِيدُ أَنْ</a:t>
            </a:r>
            <a:pPr algn="l" indent="0" marL="0">
              <a:buNone/>
            </a:pPr>
            <a:r>
              <a:rPr lang="en-US" sz="1050" i="1" dirty="0">
                <a:solidFill>
                  <a:srgbClr val="8A6D1E"/>
                </a:solidFill>
                <a:latin typeface="Calibri" pitchFamily="34" charset="0"/>
                <a:cs typeface="Amiri" pitchFamily="2" charset="-78"/>
              </a:rPr>
              <a:t> + subjunctive verb.</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buy a jacket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Ask</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هَلْ لَدَيْكُمْ </a:t>
            </a:r>
            <a:pPr rtl="1" algn="ctr" indent="0" marL="0">
              <a:lnSpc>
                <a:spcPct val="120000"/>
              </a:lnSpc>
              <a:buNone/>
            </a:pPr>
            <a:r>
              <a:rPr lang="ar-SA" altLang="en-US" sz="1750" b="1" dirty="0">
                <a:solidFill>
                  <a:srgbClr val="D6336C"/>
                </a:solidFill>
                <a:latin typeface="Amiri" pitchFamily="2" charset="-78"/>
                <a:cs typeface="Amiri" pitchFamily="2" charset="-78"/>
              </a:rPr>
              <a:t>هٰذِهِ</a:t>
            </a:r>
            <a:pPr rtl="1" algn="ctr" indent="0" marL="0">
              <a:lnSpc>
                <a:spcPct val="120000"/>
              </a:lnSpc>
              <a:buNone/>
            </a:pPr>
            <a:r>
              <a:rPr lang="ar-SA" altLang="en-US" sz="1750" b="1" dirty="0">
                <a:solidFill>
                  <a:srgbClr val="1B3B6F"/>
                </a:solidFill>
                <a:latin typeface="Amiri" pitchFamily="2" charset="-78"/>
                <a:cs typeface="Amiri" pitchFamily="2" charset="-78"/>
              </a:rPr>
              <a:t> السُّتْرَةُ </a:t>
            </a:r>
            <a:pPr rtl="1" algn="ctr" indent="0" marL="0">
              <a:lnSpc>
                <a:spcPct val="120000"/>
              </a:lnSpc>
              <a:buNone/>
            </a:pPr>
            <a:r>
              <a:rPr lang="ar-SA" altLang="en-US" sz="1750" b="1" dirty="0">
                <a:solidFill>
                  <a:srgbClr val="D6336C"/>
                </a:solidFill>
                <a:latin typeface="Amiri" pitchFamily="2" charset="-78"/>
                <a:cs typeface="Amiri" pitchFamily="2" charset="-78"/>
              </a:rPr>
              <a:t>الزَّرْقَاءُ</a:t>
            </a:r>
            <a:pPr rtl="1" algn="ctr" indent="0" marL="0">
              <a:lnSpc>
                <a:spcPct val="120000"/>
              </a:lnSpc>
              <a:buNone/>
            </a:pPr>
            <a:r>
              <a:rPr lang="ar-SA" altLang="en-US" sz="1750" b="1" dirty="0">
                <a:solidFill>
                  <a:srgbClr val="1B3B6F"/>
                </a:solidFill>
                <a:latin typeface="Amiri" pitchFamily="2" charset="-78"/>
                <a:cs typeface="Amiri" pitchFamily="2" charset="-78"/>
              </a:rPr>
              <a:t>؟</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Sutra ends in -a → hādhihi.</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Try on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أُرِيدُ أَنْ أُجَرِّبَ</a:t>
            </a:r>
            <a:pPr rtl="1" algn="ctr" indent="0" marL="0">
              <a:buNone/>
            </a:pPr>
            <a:r>
              <a:rPr lang="ar-SA" altLang="en-US" sz="2800" b="1" dirty="0">
                <a:solidFill>
                  <a:srgbClr val="1D5FBF"/>
                </a:solidFill>
                <a:latin typeface="Amiri" pitchFamily="2" charset="-78"/>
                <a:cs typeface="Amiri" pitchFamily="2" charset="-78"/>
              </a:rPr>
              <a:t>هَا</a:t>
            </a:r>
            <a:pPr rtl="1" algn="ctr" indent="0" marL="0">
              <a:buNone/>
            </a:pPr>
            <a:r>
              <a:rPr lang="ar-SA" altLang="en-US" sz="2800" b="1" dirty="0">
                <a:solidFill>
                  <a:srgbClr val="1B3B6F"/>
                </a:solidFill>
                <a:latin typeface="Amiri" pitchFamily="2" charset="-78"/>
                <a:cs typeface="Amiri" pitchFamily="2" charset="-78"/>
              </a:rPr>
              <a:t>.</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 + fatḥa; -hā = it (f.).</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Problem</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D6336C"/>
                </a:solidFill>
                <a:latin typeface="Amiri" pitchFamily="2" charset="-78"/>
                <a:cs typeface="Amiri" pitchFamily="2" charset="-78"/>
              </a:rPr>
              <a:t>هِيَ</a:t>
            </a:r>
            <a:pPr rtl="1" algn="ctr" indent="0" marL="0">
              <a:lnSpc>
                <a:spcPct val="120000"/>
              </a:lnSpc>
              <a:buNone/>
            </a:pPr>
            <a:r>
              <a:rPr lang="ar-SA" altLang="en-US" sz="1750" b="1" dirty="0">
                <a:solidFill>
                  <a:srgbClr val="1B3B6F"/>
                </a:solidFill>
                <a:latin typeface="Amiri" pitchFamily="2" charset="-78"/>
                <a:cs typeface="Amiri" pitchFamily="2" charset="-78"/>
              </a:rPr>
              <a:t> ضَيِّقَ</a:t>
            </a:r>
            <a:pPr rtl="1" algn="ctr" indent="0" marL="0">
              <a:lnSpc>
                <a:spcPct val="120000"/>
              </a:lnSpc>
              <a:buNone/>
            </a:pPr>
            <a:r>
              <a:rPr lang="ar-SA" altLang="en-US" sz="1750" b="1" dirty="0">
                <a:solidFill>
                  <a:srgbClr val="D6336C"/>
                </a:solidFill>
                <a:latin typeface="Amiri" pitchFamily="2" charset="-78"/>
                <a:cs typeface="Amiri" pitchFamily="2" charset="-78"/>
              </a:rPr>
              <a:t>ةٌ</a:t>
            </a:r>
            <a:pPr rtl="1" algn="ctr" indent="0" marL="0">
              <a:lnSpc>
                <a:spcPct val="120000"/>
              </a:lnSpc>
              <a:buNone/>
            </a:pPr>
            <a:r>
              <a:rPr lang="ar-SA" altLang="en-US" sz="1750" b="1" dirty="0">
                <a:solidFill>
                  <a:srgbClr val="1B3B6F"/>
                </a:solidFill>
                <a:latin typeface="Amiri" pitchFamily="2" charset="-78"/>
                <a:cs typeface="Amiri" pitchFamily="2" charset="-78"/>
              </a:rPr>
              <a:t> نَوْعًا مَا؛ هَلْ لَدَيْكُمْ مَقَاسٌ أَكْبَرُ؟</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Tight agrees too.</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Price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كَمْ ثَمَنُ</a:t>
            </a:r>
            <a:pPr rtl="1" algn="ctr" indent="0" marL="0">
              <a:lnSpc>
                <a:spcPct val="120000"/>
              </a:lnSpc>
              <a:buNone/>
            </a:pPr>
            <a:r>
              <a:rPr lang="ar-SA" altLang="en-US" sz="1750" b="1" dirty="0">
                <a:solidFill>
                  <a:srgbClr val="D6336C"/>
                </a:solidFill>
                <a:latin typeface="Amiri" pitchFamily="2" charset="-78"/>
                <a:cs typeface="Amiri" pitchFamily="2" charset="-78"/>
              </a:rPr>
              <a:t>هَا</a:t>
            </a:r>
            <a:pPr rtl="1" algn="ctr" indent="0" marL="0">
              <a:lnSpc>
                <a:spcPct val="120000"/>
              </a:lnSpc>
              <a:buNone/>
            </a:pPr>
            <a:r>
              <a:rPr lang="ar-SA" altLang="en-US" sz="1750" b="1" dirty="0">
                <a:solidFill>
                  <a:srgbClr val="1B3B6F"/>
                </a:solidFill>
                <a:latin typeface="Amiri" pitchFamily="2" charset="-78"/>
                <a:cs typeface="Amiri" pitchFamily="2" charset="-78"/>
              </a:rPr>
              <a:t>؟ — خَمْسَةٌ وَثَلَاثُونَ جُنَيْهًا.</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Feminine item → thamanuhā.</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 ITEM</a:t>
            </a:r>
            <a:endParaRPr lang="en-US" sz="800" dirty="0"/>
          </a:p>
        </p:txBody>
      </p:sp>
      <p:sp>
        <p:nvSpPr>
          <p:cNvPr id="47" name="Shape 43"/>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OBJECT (-HĀ = IT)</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لَدَيْكُمْ </a:t>
            </a:r>
            <a:pPr rtl="1" algn="r" indent="0" marL="0">
              <a:buNone/>
            </a:pPr>
            <a:r>
              <a:rPr lang="ar-SA" altLang="en-US" sz="1800" b="1" dirty="0">
                <a:solidFill>
                  <a:srgbClr val="D6336C"/>
                </a:solidFill>
                <a:latin typeface="Amiri" pitchFamily="2" charset="-78"/>
                <a:cs typeface="Amiri" pitchFamily="2" charset="-78"/>
              </a:rPr>
              <a:t>هٰذِهِ</a:t>
            </a:r>
            <a:pPr rtl="1" algn="r" indent="0" marL="0">
              <a:buNone/>
            </a:pPr>
            <a:r>
              <a:rPr lang="ar-SA" altLang="en-US" sz="1800" b="1" dirty="0">
                <a:solidFill>
                  <a:srgbClr val="1B3B6F"/>
                </a:solidFill>
                <a:latin typeface="Amiri" pitchFamily="2" charset="-78"/>
                <a:cs typeface="Amiri" pitchFamily="2" charset="-78"/>
              </a:rPr>
              <a:t> السُّتْرَةُ </a:t>
            </a:r>
            <a:pPr rtl="1" algn="r" indent="0" marL="0">
              <a:buNone/>
            </a:pPr>
            <a:r>
              <a:rPr lang="ar-SA" altLang="en-US" sz="1800" b="1" dirty="0">
                <a:solidFill>
                  <a:srgbClr val="D6336C"/>
                </a:solidFill>
                <a:latin typeface="Amiri" pitchFamily="2" charset="-78"/>
                <a:cs typeface="Amiri" pitchFamily="2" charset="-78"/>
              </a:rPr>
              <a:t>الزَّرْقَاءُ</a:t>
            </a:r>
            <a:pPr rtl="1" algn="r" indent="0" marL="0">
              <a:buNone/>
            </a:pPr>
            <a:r>
              <a:rPr lang="ar-SA" altLang="en-US" sz="1800" b="1" dirty="0">
                <a:solidFill>
                  <a:srgbClr val="1B3B6F"/>
                </a:solidFill>
                <a:latin typeface="Amiri" pitchFamily="2" charset="-78"/>
                <a:cs typeface="Amiri" pitchFamily="2" charset="-78"/>
              </a:rPr>
              <a:t>؟ أُرِيدُ أَنْ أُجَرِّبَ</a:t>
            </a:r>
            <a:pPr rtl="1" algn="r" indent="0" marL="0">
              <a:buNone/>
            </a:pPr>
            <a:r>
              <a:rPr lang="ar-SA" altLang="en-US" sz="1800" b="1" dirty="0">
                <a:solidFill>
                  <a:srgbClr val="1D5FBF"/>
                </a:solidFill>
                <a:latin typeface="Amiri" pitchFamily="2" charset="-78"/>
                <a:cs typeface="Amiri" pitchFamily="2" charset="-78"/>
              </a:rPr>
              <a:t>هَا</a:t>
            </a:r>
            <a:pPr rtl="1" algn="r" indent="0" marL="0">
              <a:buNone/>
            </a:pPr>
            <a:r>
              <a:rPr lang="ar-SA" altLang="en-US" sz="1800" b="1" dirty="0">
                <a:solidFill>
                  <a:srgbClr val="1B3B6F"/>
                </a:solidFill>
                <a:latin typeface="Amiri" pitchFamily="2" charset="-78"/>
                <a:cs typeface="Amiri" pitchFamily="2" charset="-78"/>
              </a:rPr>
              <a:t>. … </a:t>
            </a:r>
            <a:pPr rtl="1" algn="r" indent="0" marL="0">
              <a:buNone/>
            </a:pPr>
            <a:r>
              <a:rPr lang="ar-SA" altLang="en-US" sz="1800" b="1" dirty="0">
                <a:solidFill>
                  <a:srgbClr val="D6336C"/>
                </a:solidFill>
                <a:latin typeface="Amiri" pitchFamily="2" charset="-78"/>
                <a:cs typeface="Amiri" pitchFamily="2" charset="-78"/>
              </a:rPr>
              <a:t>هِيَ</a:t>
            </a:r>
            <a:pPr rtl="1" algn="r" indent="0" marL="0">
              <a:buNone/>
            </a:pPr>
            <a:r>
              <a:rPr lang="ar-SA" altLang="en-US" sz="1800" b="1" dirty="0">
                <a:solidFill>
                  <a:srgbClr val="1B3B6F"/>
                </a:solidFill>
                <a:latin typeface="Amiri" pitchFamily="2" charset="-78"/>
                <a:cs typeface="Amiri" pitchFamily="2" charset="-78"/>
              </a:rPr>
              <a:t> ضَيِّقَ</a:t>
            </a:r>
            <a:pPr rtl="1" algn="r" indent="0" marL="0">
              <a:buNone/>
            </a:pPr>
            <a:r>
              <a:rPr lang="ar-SA" altLang="en-US" sz="1800" b="1" dirty="0">
                <a:solidFill>
                  <a:srgbClr val="D6336C"/>
                </a:solidFill>
                <a:latin typeface="Amiri" pitchFamily="2" charset="-78"/>
                <a:cs typeface="Amiri" pitchFamily="2" charset="-78"/>
              </a:rPr>
              <a:t>ةٌ</a:t>
            </a:r>
            <a:pPr rtl="1" algn="r" indent="0" marL="0">
              <a:buNone/>
            </a:pPr>
            <a:r>
              <a:rPr lang="ar-SA" altLang="en-US" sz="1800" b="1" dirty="0">
                <a:solidFill>
                  <a:srgbClr val="1B3B6F"/>
                </a:solidFill>
                <a:latin typeface="Amiri" pitchFamily="2" charset="-78"/>
                <a:cs typeface="Amiri" pitchFamily="2" charset="-78"/>
              </a:rPr>
              <a:t> نَوْعًا مَا؛ هَلْ لَدَيْكُمْ مَقَاسٌ أَكْبَرُ؟ … الآنَ هِيَ مُنَاسِبَ</a:t>
            </a:r>
            <a:pPr rtl="1" algn="r" indent="0" marL="0">
              <a:buNone/>
            </a:pPr>
            <a:r>
              <a:rPr lang="ar-SA" altLang="en-US" sz="1800" b="1" dirty="0">
                <a:solidFill>
                  <a:srgbClr val="D6336C"/>
                </a:solidFill>
                <a:latin typeface="Amiri" pitchFamily="2" charset="-78"/>
                <a:cs typeface="Amiri" pitchFamily="2" charset="-78"/>
              </a:rPr>
              <a:t>ةٌ</a:t>
            </a:r>
            <a:pPr rtl="1" algn="r" indent="0" marL="0">
              <a:buNone/>
            </a:pPr>
            <a:r>
              <a:rPr lang="ar-SA" altLang="en-US" sz="1800" b="1" dirty="0">
                <a:solidFill>
                  <a:srgbClr val="1B3B6F"/>
                </a:solidFill>
                <a:latin typeface="Amiri" pitchFamily="2" charset="-78"/>
                <a:cs typeface="Amiri" pitchFamily="2" charset="-78"/>
              </a:rPr>
              <a:t> وَمُرِيحَ</a:t>
            </a:r>
            <a:pPr rtl="1" algn="r" indent="0" marL="0">
              <a:buNone/>
            </a:pPr>
            <a:r>
              <a:rPr lang="ar-SA" altLang="en-US" sz="1800" b="1" dirty="0">
                <a:solidFill>
                  <a:srgbClr val="D6336C"/>
                </a:solidFill>
                <a:latin typeface="Amiri" pitchFamily="2" charset="-78"/>
                <a:cs typeface="Amiri" pitchFamily="2" charset="-78"/>
              </a:rPr>
              <a:t>ةٌ</a:t>
            </a:r>
            <a:pPr rtl="1" algn="r" indent="0" marL="0">
              <a:buNone/>
            </a:pPr>
            <a:r>
              <a:rPr lang="ar-SA" altLang="en-US" sz="1800" b="1" dirty="0">
                <a:solidFill>
                  <a:srgbClr val="1B3B6F"/>
                </a:solidFill>
                <a:latin typeface="Amiri" pitchFamily="2" charset="-78"/>
                <a:cs typeface="Amiri" pitchFamily="2" charset="-78"/>
              </a:rPr>
              <a:t>. كَمْ ثَمَنُ</a:t>
            </a:r>
            <a:pPr rtl="1" algn="r" indent="0" marL="0">
              <a:buNone/>
            </a:pPr>
            <a:r>
              <a:rPr lang="ar-SA" altLang="en-US" sz="1800" b="1" dirty="0">
                <a:solidFill>
                  <a:srgbClr val="D6336C"/>
                </a:solidFill>
                <a:latin typeface="Amiri" pitchFamily="2" charset="-78"/>
                <a:cs typeface="Amiri" pitchFamily="2" charset="-78"/>
              </a:rPr>
              <a:t>هَا</a:t>
            </a:r>
            <a:pPr rtl="1" algn="r" indent="0" marL="0">
              <a:buNone/>
            </a:pPr>
            <a:r>
              <a:rPr lang="ar-SA" altLang="en-US" sz="1800" b="1" dirty="0">
                <a:solidFill>
                  <a:srgbClr val="1B3B6F"/>
                </a:solidFill>
                <a:latin typeface="Amiri" pitchFamily="2" charset="-78"/>
                <a:cs typeface="Amiri" pitchFamily="2" charset="-78"/>
              </a:rPr>
              <a:t>؟</a:t>
            </a:r>
            <a:endParaRPr lang="ar-SA" sz="18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50" i="1" dirty="0">
                <a:solidFill>
                  <a:srgbClr val="5A6472"/>
                </a:solidFill>
                <a:latin typeface="Calibri" pitchFamily="34" charset="0"/>
                <a:cs typeface="Amiri" pitchFamily="2" charset="-78"/>
              </a:rPr>
              <a:t>Do you have this blue jacket? I would like to try it on. … It is somewhat tight; do you have a bigger size? … Now it fits and is comfortable. How much is it?</a:t>
            </a:r>
            <a:endParaRPr lang="en-US" sz="115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هٰذَا القَمِيصُ جَمِيلٌ.</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shirt is beautiful.</a:t>
            </a:r>
            <a:endParaRPr lang="en-US" sz="1250" dirty="0"/>
          </a:p>
          <a:p>
            <a:pPr indent="0" marL="0">
              <a:buNone/>
            </a:pPr>
            <a:r>
              <a:rPr lang="en-US" sz="1050" i="1" dirty="0">
                <a:solidFill>
                  <a:srgbClr val="8A6D1E"/>
                </a:solidFill>
                <a:latin typeface="Calibri" pitchFamily="34" charset="0"/>
                <a:cs typeface="Amiri" pitchFamily="2" charset="-78"/>
              </a:rPr>
              <a:t>hādhā + masculine item.</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القَمِيصُ الأَبْيَضُ</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white shirt</a:t>
            </a:r>
            <a:endParaRPr lang="en-US" sz="1250" dirty="0"/>
          </a:p>
          <a:p>
            <a:pPr indent="0" marL="0">
              <a:buNone/>
            </a:pPr>
            <a:r>
              <a:rPr lang="en-US" sz="1050" i="1" dirty="0">
                <a:solidFill>
                  <a:srgbClr val="8A6D1E"/>
                </a:solidFill>
                <a:latin typeface="Calibri" pitchFamily="34" charset="0"/>
                <a:cs typeface="Amiri" pitchFamily="2" charset="-78"/>
              </a:rPr>
              <a:t>Colour after the noun, with al-.</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كَمْ ثَمَنُهُ؟ القَمِيصُ بِثَلَاثِينَ جُنَيْهًا.</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How much is it? The shirt is thirty pounds.</a:t>
            </a:r>
            <a:endParaRPr lang="en-US" sz="1250" dirty="0"/>
          </a:p>
          <a:p>
            <a:pPr indent="0" marL="0">
              <a:buNone/>
            </a:pPr>
            <a:r>
              <a:rPr lang="en-US" sz="1050" i="1" dirty="0">
                <a:solidFill>
                  <a:srgbClr val="8A6D1E"/>
                </a:solidFill>
                <a:latin typeface="Calibri" pitchFamily="34" charset="0"/>
                <a:cs typeface="Amiri" pitchFamily="2" charset="-78"/>
              </a:rPr>
              <a:t>thamanuhu for a masculine item.</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أُرِيدُ أَنْ أُجَرِّبَ هٰذَا المِعْطَفَ.</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would like to try on this coat.</a:t>
            </a:r>
            <a:endParaRPr lang="en-US" sz="1250" dirty="0"/>
          </a:p>
          <a:p>
            <a:pPr indent="0" marL="0">
              <a:buNone/>
            </a:pPr>
            <a:r>
              <a:rPr lang="en-US" sz="1050" i="1" dirty="0">
                <a:solidFill>
                  <a:srgbClr val="8A6D1E"/>
                </a:solidFill>
                <a:latin typeface="Calibri" pitchFamily="34" charset="0"/>
                <a:cs typeface="Amiri" pitchFamily="2" charset="-78"/>
              </a:rPr>
              <a:t>Polite request: an + fatḥa.</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CLOTHES AND ACCESSORIES — VOCABULARY AND SHOPPING”</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What are they wearing? Match the picture</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المَلَابِسُ وَالأَلْوَانُ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blue shirt</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red dress</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brown bag</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هِيَ تَلْبَسُ فُسْتَانًا أَحْمَرَ.</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هٰذِهِ حَقِيبَةٌ بُنِّيَّةٌ.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هُوَ يَلْبَسُ قَمِيصًا أَزْرَقَ.</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المَلَابِسُ وَالأَلْوَانُ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blue shirt</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هُوَ يَلْبَسُ قَمِيصًا أَزْرَقَ.</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He is wearing a blue shirt.</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red dress</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هِيَ تَلْبَسُ فُسْتَانًا أَحْمَرَ.</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She is wearing a red dress.</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brown bag</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هٰذِهِ حَقِيبَةٌ بُنِّيَّةٌ.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brown bag.</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Accurate or not?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هٰذِهِ السُّتْرَةُ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القَمِيصُ الأَزْرَقُ</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الحَقِيبَةُ: كَمْ ثَمَنُهَا؟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أُرِيدُ أَنْ أُجَرِّبَ هٰذَا الحِذَاءَ.</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هٰذَا السُّتْرَةُ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القَمِيصُ الزَّرْقَاءُ</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الحَقِيبَةُ: كَمْ ثَمَنُهُ؟</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أُرِيدُ أُجَرِّبُ هٰذَا.</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Accurate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Inaccurate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Accurate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هٰذِهِ السُّتْرَةُ</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القَمِيصُ الأَزْرَقُ</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الحَقِيبَةُ: كَمْ ثَمَنُهَا؟</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أُرِيدُ أَنْ أُجَرِّبَ هٰذَا الحِذَاءَ.</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Inaccurate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هٰذَا السُّتْرَةُ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القَمِيصُ الزَّرْقَاءُ</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الحَقِيبَةُ: كَمْ ثَمَنُهُ؟</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أُرِيدُ أُجَرِّبُ هٰذَا.</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“Do you have a larger size?”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ثَمَنُهُ؟</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 الحِذَاءُ؟</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لَدَيْكُمْ مَقَاسٌ أَكْبَرُ؟</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agreement.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الحَقِيبَةُ البُنِّيُّ</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الحَقِيبَةُ البُنِّيَّةُ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الحَقِيبَةُ بُنِّيًّا</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هٰذَا السِّرْوَالُ ___ جِدًّا.</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وَاسِعَةٌ</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وَاسِعٌ</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وَاسِعًا</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shop response.</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القَمِيصُ صَادِقٌ.</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أَذْهَبُ إِلَى المَدْرَسَةِ.</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نَعَمْ، غُرْفَةُ القِيَاسِ عَلَى اليَسَارِ.</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“Do you have a larger size?”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ثَمَنُهُ؟</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أَيْنَ الحِذَاءُ؟</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هَلْ لَدَيْكُمْ مَقَاسٌ أَكْبَرُ؟</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This asks about size.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agreement.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الحَقِيبَةُ البُنِّيُّ</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الحَقِيبَةُ البُنِّيَّةُ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الحَقِيبَةُ بُنِّيًّا</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noun and adjective.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هٰذَا السِّرْوَالُ ___ جِدًّا.</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وَاسِعَةٌ</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وَاسِعٌ</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وَاسِعًا</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سِرْوَالٌ</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shop response.</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القَمِيصُ صَادِقٌ.</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أَذْهَبُ إِلَى المَدْرَسَةِ.</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نَعَمْ، غُرْفَةُ القِيَاسِ عَلَى اليَسَارِ.</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answers a shopping context.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هٰذَا السُّتْرَةُ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Sutra ends in -a: this (m.) or this (f.)?</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القَمِيصُ الزَّرْقَاءُ</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Shirt is masculine: which colour form?</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الحَقِيبَةُ: كَمْ ثَمَنُهُ؟</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Bag is feminine: which price question?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هٰذَا السُّتْرَةُ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هٰذِهِ السُّتْرَةُ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سُتْرَةٌ</a:t>
            </a:r>
            <a:pPr algn="l" indent="0" marL="0">
              <a:buNone/>
            </a:pPr>
            <a:r>
              <a:rPr lang="en-US" sz="1150" b="1" dirty="0">
                <a:solidFill>
                  <a:srgbClr val="1B3B6F"/>
                </a:solidFill>
                <a:latin typeface="Calibri" pitchFamily="34" charset="0"/>
                <a:cs typeface="Amiri" pitchFamily="2" charset="-78"/>
              </a:rPr>
              <a:t> is feminine.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القَمِيصُ الزَّرْقَاءُ</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القَمِيصُ الأَزْرَقُ</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masculine item takes the masculine colour.</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الحَقِيبَةُ: كَمْ ثَمَنُهُ؟</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الحَقِيبَةُ: كَمْ ثَمَنُهَا؟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حَقِيبَةٌ</a:t>
            </a:r>
            <a:pPr algn="l" indent="0" marL="0">
              <a:buNone/>
            </a:pPr>
            <a:r>
              <a:rPr lang="en-US" sz="1150" b="1" dirty="0">
                <a:solidFill>
                  <a:srgbClr val="1B3B6F"/>
                </a:solidFill>
                <a:latin typeface="Calibri" pitchFamily="34" charset="0"/>
                <a:cs typeface="Amiri" pitchFamily="2" charset="-78"/>
              </a:rPr>
              <a:t> is feminine → </a:t>
            </a:r>
            <a:pPr algn="l" indent="0" marL="0">
              <a:buNone/>
            </a:pPr>
            <a:r>
              <a:rPr lang="ar-SA" altLang="en-US" sz="1500" b="1" dirty="0">
                <a:solidFill>
                  <a:srgbClr val="1B3B6F"/>
                </a:solidFill>
                <a:latin typeface="Amiri" pitchFamily="2" charset="-78"/>
                <a:cs typeface="Amiri" pitchFamily="2" charset="-78"/>
              </a:rPr>
              <a:t>ثَمَنُهَا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focus: clothes shopping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Sara want to try 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blue jacket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black coat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red dress</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problem?</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was too long</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was the wrong colour</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was somewhat tight</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shop assistant bring?</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different colour</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cheaper jacket</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bigger size</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was the new jacket?</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suitable and comfortable</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still tight</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too big</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was it cheaper?</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was second-hand</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had a discount</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was a small size</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did it cost?</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35 pounds</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53 pounds</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30 pounds</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6.</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الزَّرْقَاءَ</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ضَيِّقَةً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خَمْسَةٌ وَثَلَاثُونَ</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دَخَلَتْ سَارَةُ مَتْجَرَ المَلَابِسِ وَقَالَتْ: أُرِيدُ أَنْ أُجَرِّبَ هٰذِهِ السُّتْرَةَ الزَّرْقَاءَ.</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Sara went into the clothes shop and said: I would like to try on this blue jacket.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سَأَلَتْ عَنِ المَقَاسِ لِأَنَّهَا كَانَتْ ضَيِّقَةً نَوْعًا مَا.</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asked about the size because it was somewhat tight.</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أَحْضَرَتِ البَائِعَةُ مَقَاسًا أَكْبَرَ، وَكَانَتِ السُّتْرَةُ مُنَاسِبَةً وَمُرِيحَةً.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shop assistant brought a bigger size, and the jacket fitted and was comfortable.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سَأَلَتْ سَارَةُ: كَمْ ثَمَنُهَا؟</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Sara asked: How much is it?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فَقَالَتِ البَائِعَةُ إِنَّ عَلَيْهَا تَخْفِيضًا وَثَمَنَهَا خَمْسَةٌ وَثَلَاثُونَ جُنَيْهًا.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assistant said it was reduced and its price was thirty-five pounds.</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Sara want to try on?</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blue jacket</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black coat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red dress</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أُرِيدُ أَنْ أُجَرِّبَ هٰذِهِ السُّتْرَةَ الزَّرْقَاءَ.</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problem?</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was too long</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was the wrong colour</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was somewhat tight</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كَانَتْ ضَيِّقَةً نَوْعًا مَا.</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shop assistant bring?</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different colour</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cheaper jacket</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bigger size</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أَحْضَرَتِ البَائِعَةُ مَقَاسًا أَكْبَرَ.</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was the new jacket?</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suitable and comfortable</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still tight</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too big</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مُنَاسِبَةً وَمُرِيحَةً.</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was it cheaper?</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was second-hand</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had a discount</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was a small size</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عَلَيْهَا تَخْفِيضًا.</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did it cost?</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35 pounds</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53 pounds</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30 pounds</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خَمْسَةٌ وَثَلَاثُونَ جُنَيْهًا.</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6.</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الزَّرْقَاءَ</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ضَيِّقَةً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خَمْسَةٌ وَثَلَاثُونَ</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B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Clothes-shop role-play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B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Clothes-shop role-play</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Ask for an item by size, colour and material, compare alternatives and prices, then decide what to buy and explain the choice.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A is the customer, B the shop assistant (then swap).</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Customer asks for an item by size, colour and material.</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Assistant offers two alternatives with prices; customer compares them.</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Customer decides and explains the choice. Two pairs perform on the mic.</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Ask for one item with a colour: “urīdu qamīṣan azraq, min faḍlika”.</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size and price: “bi-kam hādhā?” and compare two items.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Compare with a comparative (arkhaṣu min, a‘jabu) and justify the decision.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أُرِيدُ … مِنْ فَضْلِكَ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would like …, please</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مَقَاسٌ كَبِيرٌ / صَغِيرٌ</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large / small size</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بِكَمْ هٰذَا؟ / بِكَمْ هٰذِهِ؟</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how much is this?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هٰذَا أَرْخَصُ مِنْ ذٰلِكَ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this is cheaper than that</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Developed speaking: clothes shopping</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لَوْنُكَ وَمَقَاسُكَ المُفَضَّلَانِ؟</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تَلْبَسُ فِي مُنَاسَبَةٍ خَاصَّةٍ؟</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آخِرَ رِحْلَةٍ إِلَى مَتْجَرِ المَلَابِسِ.</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تُفَضِّلُ الشِّرَاءَ مِنَ المَتْجَرِ أَمْ عَبْرَ الإِنْتَرْنِتِ؟</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لَوْنِي المُفَضَّلُ ___ ، وَمَقَاسِي ___ .</a:t>
            </a:r>
            <a:endParaRPr lang="ar-SA" sz="1600" dirty="0"/>
          </a:p>
        </p:txBody>
      </p:sp>
      <p:sp>
        <p:nvSpPr>
          <p:cNvPr id="53" name="Shape 50"/>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فِي مُنَاسَبَةٍ خَاصَّةٍ أَلْبَسُ ___ .</a:t>
            </a:r>
            <a:endParaRPr lang="ar-SA" sz="1600" dirty="0"/>
          </a:p>
        </p:txBody>
      </p:sp>
      <p:sp>
        <p:nvSpPr>
          <p:cNvPr id="56" name="Shape 53"/>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ذَهَبْتُ إِلَى المَتْجَرِ وَجَرَّبْتُ ___ .</a:t>
            </a:r>
            <a:endParaRPr lang="ar-SA" sz="1600" dirty="0"/>
          </a:p>
        </p:txBody>
      </p:sp>
      <p:sp>
        <p:nvSpPr>
          <p:cNvPr id="59" name="Shape 56"/>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أُفَضِّلُ الشِّرَاءَ ___ لِأَنَّ ___ .</a:t>
            </a:r>
            <a:endParaRPr lang="ar-SA" sz="160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مَاذَا تَبْحَثُ عَنْهُ؟</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are you looking for?</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أَبْحَثُ عَنْ مِعْطَفٍ أَسْوَدَ.</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am looking for a black coat.</a:t>
            </a:r>
            <a:endParaRPr lang="en-US" sz="9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Describe an outfit: five items with this / this (f.) and a colour each.</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shop conversation: what you are looking for, size, trying on, price.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comparison, contrast, precise evidence and an independently controlled relative clause.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shopping trip — what you needed, colours, sizes, prices, what you tried, what you bought and why.</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لَدَيْكُمْ ______ بِمَقَاسٍ أَكْبَرَ؟</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Do you have … in a bigger size?</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هُوَ / هِيَ ضَيِّقٌ / وَاسِعٌ نَوْعًا مَا.</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somewhat tight / loose.</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أَيْنَ غُرْفَةُ القِيَاسِ؟</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Where is the changing room?</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سَأَشْتَرِي ______ لِأَنَّ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buy … because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هُوَ مُنَاسِبٌ وَمُرِيحٌ. / هِيَ مُنَاسِبَةٌ وَمُرِيحَةٌ.</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suitable and comfortable.</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هٰذَا القَمِيصُ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shirt is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هٰذِهِ السُّتْرَةُ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jacket is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أَبْحَثُ عَنْ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looking for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أُرِيدُ أَنْ أُجَرِّبَ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would like to try on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كَمْ ثَمَنُهُ؟ / كَمْ ثَمَنُهَا؟</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much is it? (m. / f.)</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هٰذَا  ·  هٰذِهِ  ·  قَمِيصٌ  ·  سُتْرَةٌ  ·  فُسْتَانٌ  ·  حِذَاءٌ  ·  حَقِيبَةٌ  ·  مَقَاسٌ  ·  ضَيِّقٌ / ضَيِّقَةٌ  ·  وَاسِعٌ / وَاسِعَةٌ  ·  كَمْ ثَمَنُهُ؟  ·  تَخْفِيضٌ</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100–120 Arabic words about a shopping trip for clothes. Describe what you need, colours, sizes, prices, what you try on, what you buy and why.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Cover every requested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the target grammar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precise vocabulary from this lesson.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a reason, comparison or contrast.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Review agreement, pronoun reference and connectors.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كُنْتُ أَبْحَثُ عَنْ مِعْطَفٍ جَدِيدٍ لِلشِّتَاءِ</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was looking for a new winter coat</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وَلٰكِنَّهُ كَانَ ضَيِّقًا</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it was tight</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أَحْضَرَ لِي مِعْطَفًا آخَرَ</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brought me another coat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كَانَ عَلَيْهِ تَخْفِيضٌ</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was reduced</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اشْتَرَيْتُهُمَا لِأَنَّهُمَا عَمَلِيَّانِ</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bought them (two) because they are practical</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ذَهَبْتُ إِلَى المَتْجَرِ لِأَنَّنِي كُنْتُ أَبْحَثُ عَنْ مِعْطَفٍ جَدِيدٍ لِلشِّتَاءِ. رَأَيْتُ مِعْطَفًا أَسْوَدَ أَنِيقًا، وَلٰكِنَّهُ كَانَ ضَيِّقًا. قُلْتُ لِلْبَائِعِ: هَلْ لَدَيْكُمْ هٰذَا المِعْطَفُ بِمَقَاسٍ أَكْبَرَ؟ أَحْضَرَ لِي مِعْطَفًا آخَرَ وَكَانَ مُرِيحًا وَمُنَاسِبًا. سَأَلْتُ: كَمْ ثَمَنُهُ؟ كَانَ ثَمَنُهُ سِتِّينَ جُنَيْهًا، وَلٰكِنَّ عَلَيْهِ تَخْفِيضًا. جَرَّبْتُ أَيْضًا حِذَاءً بُنِّيًّا وَحَقِيبَةً صَغِيرَةً. فِي النِّهَايَةِ اشْتَرَيْتُ المِعْطَفَ وَالحِذَاءَ لِأَنَّهُمَا عَمَلِيَّانِ.</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went to the shop because I was looking for a new winter coat. I saw an elegant black coat, but it was tight. I said to the shop assistant: Do you have this coat in a bigger size? He brought me another coat and it was comfortable and fitted. I asked: How much is it? Its price was sixty pounds, but it was reduced. I also tried on brown shoes and a small bag. In the end I bought the coat and the shoes because they are practical.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polite question in the shop</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colour adjectives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price question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reason for the choice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this (hādhā) and this (hādhihi) correctly.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asked the price and asked to try something on.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colours agree with the item.</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described the size (tight / loose / fits).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explained what I bought and why.</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jacket”.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 السُّتْرَةُ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السُّتْرَةُ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 السُّتْرَةَ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القَمِيصُ</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الزَّرْقَاءُ</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الأَزْرَقُ</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أَزْرَقَ</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the price of a bag.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ثَمَنُهَا؟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ثَمَنُهُ؟</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مَقَاسُهُ؟</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jacket”.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هٰذِهِ السُّتْرَةُ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هٰذَا السُّتْرَةُ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هٰذِهِ السُّتْرَةَ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سُتْرَةٌ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القَمِيصُ</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الزَّرْقَاءُ</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الأَزْرَقُ</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أَزْرَقَ</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definite noun takes masculine definite adjective.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the price of a bag.</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كَمْ ثَمَنُهَا؟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كَمْ ثَمَنُهُ؟</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مَا مَقَاسُهُ؟</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حَقِيبَةٌ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focus: clothes shopping</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إِعْلَانٌ مِنْ مَتْجَرٍ جَدِيدٍ: لَدَيْنَا مَلَابِسُ عَصْرِيَّةٌ وَمُحْتَشِمَةٌ لِلشَّبَابِ. القُمُصُ القُطْنِيَّةُ مُتَوَفِّرَةٌ بِأَلْوَانٍ مُخْتَلِفَةٍ، وَالسَّرَاوِيلُ مُرِيحَةٌ وَعَمَلِيَّةٌ. هُنَاكَ تَخْفِيضٌ خَاصٌّ عَلَى المَعَاطِفِ وَالحَقَائِبِ حَتَّى نِهَايَةِ الأُسْبُوعِ. يُمْكِنُكُمْ تَجْرِبَةُ المَلَابِسِ فِي غُرْفَةِ القِيَاسِ، وَيُمْكِنُ اسْتِبْدَالُ المَقَاسِ خِلَالَ أُسْبُوعٍ.</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إِعْلَانٌ</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 advert</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مَتْجَرٍ جَدِيدٍ</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new shop</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لِلشَّبَابِ</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 young people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القُمُصُ القُطْنِيَّةُ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cotton shirts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مُتَوَفِّرَةٌ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available</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السَّرَاوِيلُ</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trousers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مُرِيحَةٌ وَعَمَلِيَّةٌ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comfortable and practical</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تَخْفِيضٌ خَاصٌّ</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special discount</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تَجْرِبَةُ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trying on</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اسْتِبْدَالُ المَقَاسِ</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exchanging the size</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text is this?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letter from a friend</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advert from a new shop</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school timetable</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clothes does the shop sell?</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formal suits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sports clothes</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modern, modest clothes for young people</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said about the cotton shirts?</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come in different colours</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all white</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very expensive</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the trousers described?</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tight and formal</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comfortable and practical</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colourful and cheap</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has a special discount until the end of the week?</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coats and bags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shirts and trousers</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shoes</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can customers do within a week?</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return everything for free</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order online</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exchange the size</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text is this?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letter from a friend</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an advert from a new shop</a:t>
            </a:r>
            <a:endParaRPr lang="en-US" sz="120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school timetable</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إِعْلَانٌ مِنْ مَتْجَرٍ جَدِيدٍ.</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clothes does the shop sell?</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formal suits</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sports clothes</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modern, modest clothes for young people</a:t>
            </a:r>
            <a:endParaRPr lang="en-US" sz="11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مَلَابِسُ عَصْرِيَّةٌ وَمُحْتَشِمَةٌ لِلشَّبَابِ.</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said about the cotton shirts?</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they come in different colours</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all white</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very expensive</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مُتَوَفِّرَةٌ بِأَلْوَانٍ مُخْتَلِفَةٍ.</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the trousers described?</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tight and formal</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comfortable and practical</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colourful and cheap</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مُرِيحَةٌ وَعَمَلِيَّةٌ.</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has a special discount until the end of the week?</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coats and bags</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shirts and trousers</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shoes</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تَخْفِيضٌ خَاصٌّ عَلَى المَعَاطِفِ وَالحَقَائِبِ.</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can customers do within a week?</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return everything for free</a:t>
            </a:r>
            <a:endParaRPr lang="en-US" sz="120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order online</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exchange the size</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يُمْكِنُ اسْتِبْدَالُ المَقَاسِ خِلَالَ أُسْبُوعٍ.</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clothes shopping Arabic challenge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jacket”.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السُّتْرَةُ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 السُّتْرَةُ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 السُّتْرَةَ</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القَمِيصُ ___.</a:t>
            </a:r>
            <a:endParaRPr lang="ar-SA" sz="1500" dirty="0"/>
          </a:p>
        </p:txBody>
      </p:sp>
      <p:sp>
        <p:nvSpPr>
          <p:cNvPr id="35" name="Shape 32"/>
          <p:cNvSpPr/>
          <p:nvPr/>
        </p:nvSpPr>
        <p:spPr>
          <a:xfrm>
            <a:off x="4459224"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الأَزْرَقُ</a:t>
            </a:r>
            <a:endParaRPr lang="ar-SA" sz="2050" dirty="0"/>
          </a:p>
        </p:txBody>
      </p:sp>
      <p:sp>
        <p:nvSpPr>
          <p:cNvPr id="38" name="Shape 35"/>
          <p:cNvSpPr/>
          <p:nvPr/>
        </p:nvSpPr>
        <p:spPr>
          <a:xfrm>
            <a:off x="4459224"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الزَّرْقَاءُ</a:t>
            </a:r>
            <a:endParaRPr lang="ar-SA" sz="2050" dirty="0"/>
          </a:p>
        </p:txBody>
      </p:sp>
      <p:sp>
        <p:nvSpPr>
          <p:cNvPr id="41" name="Shape 38"/>
          <p:cNvSpPr/>
          <p:nvPr/>
        </p:nvSpPr>
        <p:spPr>
          <a:xfrm>
            <a:off x="4459224"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أَزْرَقَ</a:t>
            </a:r>
            <a:endParaRPr lang="ar-SA" sz="2050" dirty="0"/>
          </a:p>
        </p:txBody>
      </p:sp>
      <p:sp>
        <p:nvSpPr>
          <p:cNvPr id="44" name="Shape 41"/>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23504" y="1947672"/>
            <a:ext cx="310896" cy="310896"/>
          </a:xfrm>
          <a:prstGeom prst="ellipse">
            <a:avLst/>
          </a:prstGeom>
          <a:solidFill>
            <a:srgbClr val="1B3B6F"/>
          </a:solidFill>
          <a:ln w="12700">
            <a:solidFill>
              <a:srgbClr val="1B3B6F"/>
            </a:solidFill>
            <a:prstDash val="solid"/>
          </a:ln>
        </p:spPr>
      </p:sp>
      <p:sp>
        <p:nvSpPr>
          <p:cNvPr id="46" name="Text 43"/>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7" name="Text 44"/>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the price of a bag.</a:t>
            </a:r>
            <a:endParaRPr lang="en-US" sz="125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ثَمَنُهُ؟</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مَقَاسُهُ؟</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ثَمَنُهَا؟</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polite request.</a:t>
            </a:r>
            <a:endParaRPr lang="en-US" sz="125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أُرِيدُ أُجَرِّبُ هٰذَا.</a:t>
            </a:r>
            <a:endParaRPr lang="ar-SA" sz="20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جَرِّبْ أَنَا الحِذَاءَ.</a:t>
            </a:r>
            <a:endParaRPr lang="ar-SA" sz="20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أُرِيدُ أَنْ أُجَرِّبَ هٰذَا الحِذَاءَ.</a:t>
            </a:r>
            <a:endParaRPr lang="ar-SA" sz="20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“Do you have a larger size?”</a:t>
            </a:r>
            <a:endParaRPr lang="en-US" sz="125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لَدَيْكُمْ مَقَاسٌ أَكْبَرُ؟</a:t>
            </a:r>
            <a:endParaRPr lang="ar-SA" sz="205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ثَمَنُهُ؟</a:t>
            </a:r>
            <a:endParaRPr lang="ar-SA" sz="205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 الحِذَاءُ؟</a:t>
            </a:r>
            <a:endParaRPr lang="ar-SA" sz="2050" dirty="0"/>
          </a:p>
        </p:txBody>
      </p:sp>
      <p:sp>
        <p:nvSpPr>
          <p:cNvPr id="83" name="Shape 8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8223504" y="4288536"/>
            <a:ext cx="310896" cy="310896"/>
          </a:xfrm>
          <a:prstGeom prst="ellipse">
            <a:avLst/>
          </a:prstGeom>
          <a:solidFill>
            <a:srgbClr val="1B3B6F"/>
          </a:solidFill>
          <a:ln w="12700">
            <a:solidFill>
              <a:srgbClr val="1B3B6F"/>
            </a:solidFill>
            <a:prstDash val="solid"/>
          </a:ln>
        </p:spPr>
      </p:sp>
      <p:sp>
        <p:nvSpPr>
          <p:cNvPr id="85" name="Text 8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6" name="Text 8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agreement.</a:t>
            </a:r>
            <a:endParaRPr lang="en-US" sz="1250" dirty="0"/>
          </a:p>
        </p:txBody>
      </p:sp>
      <p:sp>
        <p:nvSpPr>
          <p:cNvPr id="87" name="Shape 84"/>
          <p:cNvSpPr/>
          <p:nvPr/>
        </p:nvSpPr>
        <p:spPr>
          <a:xfrm>
            <a:off x="8278368" y="48737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9" name="Text 86"/>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الحَقِيبَةُ البُنِّيُّ</a:t>
            </a:r>
            <a:endParaRPr lang="ar-SA" sz="2050" dirty="0"/>
          </a:p>
        </p:txBody>
      </p:sp>
      <p:sp>
        <p:nvSpPr>
          <p:cNvPr id="90" name="Shape 87"/>
          <p:cNvSpPr/>
          <p:nvPr/>
        </p:nvSpPr>
        <p:spPr>
          <a:xfrm>
            <a:off x="8278368" y="53309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2" name="Text 89"/>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الحَقِيبَةُ البُنِّيَّةُ</a:t>
            </a:r>
            <a:endParaRPr lang="ar-SA" sz="2050" dirty="0"/>
          </a:p>
        </p:txBody>
      </p:sp>
      <p:sp>
        <p:nvSpPr>
          <p:cNvPr id="93" name="Shape 90"/>
          <p:cNvSpPr/>
          <p:nvPr/>
        </p:nvSpPr>
        <p:spPr>
          <a:xfrm>
            <a:off x="8278368" y="5788152"/>
            <a:ext cx="256032" cy="256032"/>
          </a:xfrm>
          <a:prstGeom prst="ellipse">
            <a:avLst/>
          </a:prstGeom>
          <a:solidFill>
            <a:srgbClr val="F4F1EA"/>
          </a:solidFill>
          <a:ln w="12700">
            <a:solidFill>
              <a:srgbClr val="F4F1EA"/>
            </a:solidFill>
            <a:prstDash val="solid"/>
          </a:ln>
        </p:spPr>
      </p:sp>
      <p:sp>
        <p:nvSpPr>
          <p:cNvPr id="94" name="Text 91"/>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5" name="Text 92"/>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الحَقِيبَةُ بُنِّيًّا</a:t>
            </a:r>
            <a:endParaRPr lang="ar-SA" sz="20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jacket”.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هٰذَا السُّتْرَةُ</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هٰذِهِ السُّتْرَةُ</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هٰذِهِ السُّتْرَةَ</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سُتْرَةٌ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3"/>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القَمِيصُ ___.</a:t>
            </a:r>
            <a:endParaRPr lang="ar-SA" sz="1500" dirty="0"/>
          </a:p>
        </p:txBody>
      </p:sp>
      <p:sp>
        <p:nvSpPr>
          <p:cNvPr id="36" name="Shape 34"/>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5"/>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6"/>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7"/>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الأَزْرَقُ</a:t>
            </a:r>
            <a:endParaRPr lang="ar-SA" sz="1700" dirty="0"/>
          </a:p>
        </p:txBody>
      </p:sp>
      <p:sp>
        <p:nvSpPr>
          <p:cNvPr id="40" name="Shape 38"/>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9"/>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40"/>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الزَّرْقَاءُ</a:t>
            </a:r>
            <a:endParaRPr lang="ar-SA" sz="1700" dirty="0"/>
          </a:p>
        </p:txBody>
      </p:sp>
      <p:sp>
        <p:nvSpPr>
          <p:cNvPr id="43" name="Shape 41"/>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2"/>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3"/>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أَزْرَقَ</a:t>
            </a:r>
            <a:endParaRPr lang="ar-SA" sz="1700" dirty="0"/>
          </a:p>
        </p:txBody>
      </p:sp>
      <p:sp>
        <p:nvSpPr>
          <p:cNvPr id="46" name="Text 44"/>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definite noun takes masculine definite adjective.</a:t>
            </a:r>
            <a:endParaRPr lang="en-US" sz="1050" dirty="0"/>
          </a:p>
        </p:txBody>
      </p:sp>
      <p:sp>
        <p:nvSpPr>
          <p:cNvPr id="47" name="Shape 4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6"/>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the price of a bag.</a:t>
            </a:r>
            <a:endParaRPr lang="en-US" sz="1250" dirty="0"/>
          </a:p>
        </p:txBody>
      </p:sp>
      <p:sp>
        <p:nvSpPr>
          <p:cNvPr id="51"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ثَمَنُهُ؟</a:t>
            </a:r>
            <a:endParaRPr lang="ar-SA" sz="1700" dirty="0"/>
          </a:p>
        </p:txBody>
      </p:sp>
      <p:sp>
        <p:nvSpPr>
          <p:cNvPr id="54"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 مَقَاسُهُ؟</a:t>
            </a:r>
            <a:endParaRPr lang="ar-SA" sz="1700" dirty="0"/>
          </a:p>
        </p:txBody>
      </p:sp>
      <p:sp>
        <p:nvSpPr>
          <p:cNvPr id="57" name="Shape 55"/>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6"/>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0"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كَمْ ثَمَنُهَا؟</a:t>
            </a:r>
            <a:endParaRPr lang="ar-SA" sz="1700" dirty="0"/>
          </a:p>
        </p:txBody>
      </p:sp>
      <p:sp>
        <p:nvSpPr>
          <p:cNvPr id="61"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حَقِيبَةٌ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62"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3"/>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polite request.</a:t>
            </a:r>
            <a:endParaRPr lang="en-US" sz="125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أُرِيدُ أُجَرِّبُ هٰذَا.</a:t>
            </a:r>
            <a:endParaRPr lang="ar-SA" sz="170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جَرِّبْ أَنَا الحِذَاءَ.</a:t>
            </a:r>
            <a:endParaRPr lang="ar-SA" sz="170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أُرِيدُ أَنْ أُجَرِّبَ هٰذَا الحِذَاءَ.</a:t>
            </a:r>
            <a:endParaRPr lang="ar-SA" sz="170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أُرِيدُ أَنْ</a:t>
            </a:r>
            <a:pPr algn="l" indent="0" marL="0">
              <a:buNone/>
            </a:pPr>
            <a:r>
              <a:rPr lang="en-US" sz="1050" i="1" dirty="0">
                <a:solidFill>
                  <a:srgbClr val="8A6D1E"/>
                </a:solidFill>
                <a:latin typeface="Calibri" pitchFamily="34" charset="0"/>
                <a:cs typeface="Amiri" pitchFamily="2" charset="-78"/>
              </a:rPr>
              <a:t> + subjunctive verb.</a:t>
            </a:r>
            <a:endParaRPr lang="en-US" sz="10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“Do you have a larger size?”</a:t>
            </a:r>
            <a:endParaRPr lang="en-US" sz="1250" dirty="0"/>
          </a:p>
        </p:txBody>
      </p:sp>
      <p:sp>
        <p:nvSpPr>
          <p:cNvPr id="81" name="Shape 79"/>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80"/>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هَلْ لَدَيْكُمْ مَقَاسٌ أَكْبَرُ؟</a:t>
            </a:r>
            <a:endParaRPr lang="ar-SA" sz="1700" dirty="0"/>
          </a:p>
        </p:txBody>
      </p:sp>
      <p:sp>
        <p:nvSpPr>
          <p:cNvPr id="85"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5"/>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ثَمَنُهُ؟</a:t>
            </a:r>
            <a:endParaRPr lang="ar-SA" sz="1700" dirty="0"/>
          </a:p>
        </p:txBody>
      </p:sp>
      <p:sp>
        <p:nvSpPr>
          <p:cNvPr id="88" name="Shape 86"/>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8"/>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أَيْنَ الحِذَاءُ؟</a:t>
            </a:r>
            <a:endParaRPr lang="ar-SA" sz="1700" dirty="0"/>
          </a:p>
        </p:txBody>
      </p:sp>
      <p:sp>
        <p:nvSpPr>
          <p:cNvPr id="91"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This asks about size.</a:t>
            </a:r>
            <a:endParaRPr lang="en-US" sz="1050" dirty="0"/>
          </a:p>
        </p:txBody>
      </p:sp>
      <p:sp>
        <p:nvSpPr>
          <p:cNvPr id="92" name="Shape 9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1"/>
          <p:cNvSpPr/>
          <p:nvPr/>
        </p:nvSpPr>
        <p:spPr>
          <a:xfrm>
            <a:off x="8223504" y="4288536"/>
            <a:ext cx="310896" cy="310896"/>
          </a:xfrm>
          <a:prstGeom prst="ellipse">
            <a:avLst/>
          </a:prstGeom>
          <a:solidFill>
            <a:srgbClr val="1B3B6F"/>
          </a:solidFill>
          <a:ln w="12700">
            <a:solidFill>
              <a:srgbClr val="1B3B6F"/>
            </a:solidFill>
            <a:prstDash val="solid"/>
          </a:ln>
        </p:spPr>
      </p:sp>
      <p:sp>
        <p:nvSpPr>
          <p:cNvPr id="94" name="Text 9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agreement.</a:t>
            </a:r>
            <a:endParaRPr lang="en-US" sz="1250" dirty="0"/>
          </a:p>
        </p:txBody>
      </p:sp>
      <p:sp>
        <p:nvSpPr>
          <p:cNvPr id="96" name="Shape 94"/>
          <p:cNvSpPr/>
          <p:nvPr/>
        </p:nvSpPr>
        <p:spPr>
          <a:xfrm>
            <a:off x="8278368" y="4831080"/>
            <a:ext cx="256032" cy="256032"/>
          </a:xfrm>
          <a:prstGeom prst="ellipse">
            <a:avLst/>
          </a:prstGeom>
          <a:solidFill>
            <a:srgbClr val="C9CED6"/>
          </a:solidFill>
          <a:ln w="12700">
            <a:solidFill>
              <a:srgbClr val="C9CED6"/>
            </a:solidFill>
            <a:prstDash val="solid"/>
          </a:ln>
        </p:spPr>
      </p:sp>
      <p:sp>
        <p:nvSpPr>
          <p:cNvPr id="97" name="Text 95"/>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6"/>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الحَقِيبَةُ البُنِّيُّ</a:t>
            </a:r>
            <a:endParaRPr lang="ar-SA" sz="1700" dirty="0"/>
          </a:p>
        </p:txBody>
      </p:sp>
      <p:sp>
        <p:nvSpPr>
          <p:cNvPr id="99" name="Shape 97"/>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0" name="Shape 98"/>
          <p:cNvSpPr/>
          <p:nvPr/>
        </p:nvSpPr>
        <p:spPr>
          <a:xfrm>
            <a:off x="8278368" y="5202936"/>
            <a:ext cx="256032" cy="256032"/>
          </a:xfrm>
          <a:prstGeom prst="ellipse">
            <a:avLst/>
          </a:prstGeom>
          <a:solidFill>
            <a:srgbClr val="2E8B57"/>
          </a:solidFill>
          <a:ln w="12700">
            <a:solidFill>
              <a:srgbClr val="2E8B57"/>
            </a:solidFill>
            <a:prstDash val="solid"/>
          </a:ln>
        </p:spPr>
      </p:sp>
      <p:sp>
        <p:nvSpPr>
          <p:cNvPr id="101" name="Text 99"/>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2" name="Text 100"/>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الحَقِيبَةُ البُنِّيَّةُ</a:t>
            </a:r>
            <a:endParaRPr lang="ar-SA" sz="1700" dirty="0"/>
          </a:p>
        </p:txBody>
      </p:sp>
      <p:sp>
        <p:nvSpPr>
          <p:cNvPr id="103" name="Shape 101"/>
          <p:cNvSpPr/>
          <p:nvPr/>
        </p:nvSpPr>
        <p:spPr>
          <a:xfrm>
            <a:off x="8278368" y="5574792"/>
            <a:ext cx="256032" cy="256032"/>
          </a:xfrm>
          <a:prstGeom prst="ellipse">
            <a:avLst/>
          </a:prstGeom>
          <a:solidFill>
            <a:srgbClr val="C9CED6"/>
          </a:solidFill>
          <a:ln w="12700">
            <a:solidFill>
              <a:srgbClr val="C9CED6"/>
            </a:solidFill>
            <a:prstDash val="solid"/>
          </a:ln>
        </p:spPr>
      </p:sp>
      <p:sp>
        <p:nvSpPr>
          <p:cNvPr id="104" name="Text 102"/>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5" name="Text 103"/>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الحَقِيبَةُ بُنِّيًّا</a:t>
            </a:r>
            <a:endParaRPr lang="ar-SA" sz="1700" dirty="0"/>
          </a:p>
        </p:txBody>
      </p:sp>
      <p:sp>
        <p:nvSpPr>
          <p:cNvPr id="106" name="Text 104"/>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noun and adjective.</a:t>
            </a:r>
            <a:endParaRPr lang="en-US" sz="1050" dirty="0"/>
          </a:p>
        </p:txBody>
      </p:sp>
      <p:sp>
        <p:nvSpPr>
          <p:cNvPr id="107"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Clothes and Shopping</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TB-L08: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TB-L07</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TB-L08 · Hobbies, Sport and Free Time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هِوَايَةٌ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hobby</a:t>
            </a:r>
            <a:pPr indent="0" marL="0">
              <a:buNone/>
            </a:pPr>
            <a:r>
              <a:rPr lang="en-US" sz="1000" i="1" dirty="0">
                <a:solidFill>
                  <a:srgbClr val="5A6472"/>
                </a:solidFill>
                <a:latin typeface="Calibri" pitchFamily="34" charset="0"/>
                <a:cs typeface="Amiri" pitchFamily="2" charset="-78"/>
              </a:rPr>
              <a:t>  pl. هِوَايَاتٌ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وَقْتُ الفَرَاغِ</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free time</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يُمَارِسُ الرِّيَاضَةَ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does sport</a:t>
            </a:r>
            <a:pPr indent="0" marL="0">
              <a:buNone/>
            </a:pPr>
            <a:r>
              <a:rPr lang="en-US" sz="1000" i="1" dirty="0">
                <a:solidFill>
                  <a:srgbClr val="5A6472"/>
                </a:solidFill>
                <a:latin typeface="Calibri" pitchFamily="34" charset="0"/>
                <a:cs typeface="Amiri" pitchFamily="2" charset="-78"/>
              </a:rPr>
              <a:t>  I: أُمَارِسُ</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يَلْعَبُ كُرَةَ القَدَمِ</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plays football</a:t>
            </a:r>
            <a:pPr indent="0" marL="0">
              <a:buNone/>
            </a:pPr>
            <a:r>
              <a:rPr lang="en-US" sz="1000" i="1" dirty="0">
                <a:solidFill>
                  <a:srgbClr val="5A6472"/>
                </a:solidFill>
                <a:latin typeface="Calibri" pitchFamily="34" charset="0"/>
                <a:cs typeface="Amiri" pitchFamily="2" charset="-78"/>
              </a:rPr>
              <a:t>  I: أَلْعَبُ</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يَسْتَمِعُ إِلَى المُوسِيقَى</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listens to music</a:t>
            </a:r>
            <a:pPr indent="0" marL="0">
              <a:buNone/>
            </a:pPr>
            <a:r>
              <a:rPr lang="en-US" sz="1000" i="1" dirty="0">
                <a:solidFill>
                  <a:srgbClr val="5A6472"/>
                </a:solidFill>
                <a:latin typeface="Calibri" pitchFamily="34" charset="0"/>
                <a:cs typeface="Amiri" pitchFamily="2" charset="-78"/>
              </a:rPr>
              <a:t>  I: أَسْتَمِعُ</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do you do in your free time? Write one sentence in Arabic.</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مَاذَا تَفْعَلُ فِي وَقْتِ فَرَاغِكَ؟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D2-L03: the picture game and the vocabulary tab — learn 8 clothes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6-line shop dialogue with size, colour and price.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on clothes and shopping, with a comparison and a decision.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550" b="1" dirty="0">
                <a:solidFill>
                  <a:srgbClr val="FFFFFF"/>
                </a:solidFill>
                <a:latin typeface="Cambria" pitchFamily="34" charset="0"/>
                <a:cs typeface="Amiri" pitchFamily="2" charset="-78"/>
              </a:rPr>
              <a:t>TB-L08 · Hobbies, Sport and Free Time</a:t>
            </a:r>
            <a:endParaRPr lang="en-US" sz="25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الهِوَايَاتُ وَالرِّيَاضَةُ وَوَقْتُ الفَرَاغِ</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free-time words + your hobby.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TB-L07 · Clothes, Accessories and Shopping</dc:title>
  <dc:subject>PptxGenJS Presentation</dc:subject>
  <dc:creator>Al Madina Online School · Arabic Department</dc:creator>
  <cp:lastModifiedBy>Al Madina Online School · Arabic Department</cp:lastModifiedBy>
  <cp:revision>1</cp:revision>
  <dcterms:created xsi:type="dcterms:W3CDTF">2026-10-11T06:43:52Z</dcterms:created>
  <dcterms:modified xsi:type="dcterms:W3CDTF">2026-10-11T06:43:52Z</dcterms:modified>
</cp:coreProperties>
</file>