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6 (Colours and Accurate Description, TB-L06).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7: nujūm (non-human pl.) → ṣafrāʾ. Box 8: masculine daftar aḥmar, feminine miqlama khaḍrāʾ.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كَيْفَ (how) · صِفِي (describe — to a girl) · مَا (what) · لِمَاذَا (why) · مَتَى (when) — bullet 2 asks for COLOUR and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(80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(114 words). Core model: non-human plurals with faʿlāʾ, colour + shade, regular colours (bunniyy), a past paragraph with accusative colours, an opinion and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law … la-, relative clauses with kāna + present, an idāfa of colour (azraqu l-baḥr), aṣbaḥa + accusative colour, lam taʿud, a concession and li- of purpose.
ENGLISH SUMMARY (read aloud or paste in the chat for Core students): If you asked me the colour of my childhood, I would say blue: the sea I saw from my grandfather’s window in Alexandria, and the old wooden door my grandmother painted every summer → today I live in a British town of red brick under a mostly grey sky, so I bring colour into my life — clothes, notebooks, yellow flowers on my window, even striped socks my friends laugh at → last summer I went back after a long absence and found the door faded brown because Grandma can no longer paint it; I bought a tin of blue paint and spent a whole day restoring its colour, while Grandma sat beside me telling the house’s stories → it is true colours seem simple, but they carry our memories and feelings; when I have a home, I’ll paint its door the same blue “so that my grandmother’s house stays with me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nādiran mā, colours as nouns with reasons, baynamā, ammā … fa-, kānat + accusative colour, alladhīna, a concession and a conditional.
ENGLISH SUMMARY (read aloud or paste in the chat for Core students): We rarely think about colour’s effect: companies choose carefully — red for fast food (appetite), blue for banks (trust), green for natural products, black for luxury goods → meanings differ between cultures: white is joy at Western weddings, whereas it is linked to mourning in parts of Asia; as for green, it has a special place in Islamic culture → I saw it myself when my school repainted its library last year: from gloomy grey to light green and yellow; within a month the number of students reading there at break doubled, and the librarian said it became calmer and nicer → it is true the effect varies from person to person, but it is real and can’t be ignored; “if schools and hospitals cared about their wall colours, people there would feel much more at ease, and their wellbeing would improve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Colours and Accurate Description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الأَلْوَانُ وَالوَصْفُ</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lost-property form, write an email describing birthday presents precisely, and write an extended piece about colours in your life or about the power of colour.</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TB-L06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describing presents.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afʿal for masculine, faʿlāʾ for feminine and for non-human plurals (azhār ḥamrāʾ); no tanwīn on these colours; regular colours take -iyy / -iyya; colours after kāna / laysa / a verb go accusative (kāna azraqa).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فُسْتَانٌ أَزْرَقُ فَاتِحٌ مَصْنُوعٌ مِنَ الحَرِيرِ</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light blue silk dress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حَقِيبَةٌ جِلْدِيَّةٌ سَوْدَاءُ</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black leather bag</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عَلَيْهِ زُهُورٌ بَيْضَاءُ صَغِيرَةٌ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with small white flowers on it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Lost-property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عَنْ شَيْءٍ مَفْقُودٍ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lost item</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الشَّيْءُ المَفْقُودُ</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اللَّوْنُ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Size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الحَجْمُ</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Made of …</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مَصْنُوعٌ مِنْ …</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and when you lost it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وَمَتَى فَقَدْتَهُ؟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distinguishing mark</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عَلَامَةٌ مُمَيِّزَةٌ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was inside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كَانَ فِيهَا؟</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every colour must agree with the item.</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Lost-property report: model answers</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Hassan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مَرْيَمُ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rucksack</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 ظَهْرٍ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الشَّيْءُ المَفْقُودُ</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dark blue</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زَرْقَاءُ غَامِقَةٌ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اللَّوْنُ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large</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كَبِيرَةٌ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الحَجْمُ</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fabric</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القُمَاشِ</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مَصْنُوعٌ مِنْ …</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bus, Monday morning</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الحَافِلَةِ، صَبَاحَ الإِثْنَيْنِ</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وَمَتَى فَقَدْتَهُ؟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yellow stars on it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عَلَيْهَا نُجُومٌ صَفْرَاءُ صَغِيرَةٌ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عَلَامَةٌ مُمَيِّزَةٌ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Inside were a red notebook, a green pencil case and my phone.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فِيهَا دَفْتَرٌ أَحْمَرُ وَمِقْلَمَةٌ خَضْرَاءُ وَهَاتِفِي.</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كَانَ فِيهَا؟</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birthday presents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هَدَايَايَ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You had your birthday yesterday. Write an email in Arabic to your friend of about 80–90 words. You must include: • how you celebrated • the presents you received — describe them precisely (colour, material) • your favourite present, and why • when you will use or wear it.</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Colours that agree with each noun.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material (maṣnūʿ min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أَعْطَتْنِي أُمِّي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mum gave me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مَصْنُوعٌ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made of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لِأَنَّ لَوْنَهُ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love … because its colour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سَأَلْبَسُهُ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wear it 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was your birthday yesterday: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 أَمْسِ عِيدُ مِيلَادِكِ.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celebrated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احْتَفَلْتِ؟</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presents precisely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الهَدَايَا بِدِقَّةٍ (اللَّوْنُ، المَادَّةُ).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present, and why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هَدِيَّتُكِ المُفَضَّلَةُ؟ وَلِمَاذَا؟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will use or wear it</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مَتَى سَتَسْتَعْمِلِينَهَا أَوْ تَلْبَسِينَهَا؟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was my birthday, and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كَانَ عِيدُ مِيلَادِي، وَ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Mum gave me a … …, made of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أَعْطَتْنِي أُمِّي ______ ______ ، مَصْنُوعًا مِنَ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love … a lot, because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______ كَثِيرًا، لِأَنَّ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will wear / use it at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سَأَلْبَسُهُ / سَأَسْتَعْمِلُهَا فِي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جُودُ،</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أَمْسِ كَانَ عِيدُ مِيلَادِي، وَأَخَذْتُ هَدَايَا جَمِيلَةً. أَعْطَتْنِي أُمِّي فُسْتَانًا أَزْرَقَ فَاتِحًا، وَهُوَ مَصْنُوعٌ مِنَ الحَرِيرِ. أَعْطَانِي أَبِي حَقِيبَةً سَوْدَاءَ صَغِيرَةً. أَمَّا أُخْتِي فَأَعْطَتْنِي أَسَاوِرَ مُلَوَّنَةً: حَمْرَاءَ وَخَضْرَاءَ وَصَفْرَاءَ. أُحِبُّ الفُسْتَانَ كَثِيرًا، لِأَنَّ لَوْنَهُ هَادِئٌ وَجَمِيلٌ. فِي المَسَاءِ أَكَلْنَا كَعْكَةً بَيْضَاءَ وَوَرْدِيَّةً. فِي نِهَايَةِ الأُسْبُوعِ سَأَلْبَسُ الفُسْتَانَ فِي حَفْلَةِ خَالَتِي.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Joud, how are you? Yesterday was my birthday and I got lovely presents. Mum gave me a light blue dress made of silk. Dad gave me a small black bag. As for my sister, she gave me colourful bracelets: red, green and yellow. I love the dress a lot, because its colour is calm and pretty. In the evening we ate a white and pink cake. At the weekend I will wear the dress at my aunt’s party.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فُسْتَانًا أَزْرَقَ فَاتِحًا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حَقِيبَةً سَوْدَاءَ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أَسَاوِرَ … حَمْرَاءَ</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سَأَلْبَسُ</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جُودُ،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طَيِّبَةً، وَبَعْدُ، فَقَدِ احْتَفَلْنَا أَمْسِ بِعِيدِ مِيلَادِي الخَامِسَ عَشَرَ، وَكَانَتِ الهَدَايَا أَجْمَلَ مِمَّا تَوَقَّعْتُ. أَعْطَتْنِي أُمِّي فُسْتَانًا أَزْرَقَ فَاتِحًا مَصْنُوعًا مِنَ الحَرِيرِ، عَلَيْهِ زُهُورٌ بَيْضَاءُ صَغِيرَةٌ، أَمَّا أَبِي فَاشْتَرَى لِي حَقِيبَةً جِلْدِيَّةً سَوْدَاءَ تَتَّسِعُ لِكُتُبِي كُلِّهَا. وَصَنَعَتْ لِي أُخْتِي الصَّغِيرَةُ بِيَدِهَا أَسَاوِرَ مُلَوَّنَةً، فَتَأَثَّرْتُ كَثِيرًا. أَمَّا الكَعْكَةُ فَكَانَتْ وَرْدِيَّةً بِطَبَقَةٍ مِنَ الشُّوكُولَاتَةِ الغَامِقَةِ. صَحِيحٌ أَنِّي لَا أَلْبَسُ الأَزْرَقَ عَادَةً، غَيْرَ أَنَّ هٰذَا الفُسْتَانَ غَيَّرَ رَأْيِي. سَأَلْبَسُهُ فِي حَفْلَةِ خَالَتِي يَوْمَ الجُمُعَةِ، وَسَأُرْسِلُ لَكِ صُورَةً!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Joud, greetings. Yesterday we celebrated my fifteenth birthday, and the presents were lovelier than I expected. Mum gave me a light blue silk dress with small white flowers on it; as for Dad, he bought me a black leather bag big enough for all my books. My little sister made me colourful bracelets by hand, which really touched me. As for the cake, it was pink with a layer of dark chocolate. It is true I don’t usually wear blue, but this dress changed my mind. I will wear it at my aunt’s party on Friday and send you a photo! With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أَجْمَلَ مِمَّا تَوَقَّعْتُ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زُهُورٌ بَيْضَاءُ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حَقِيبَةً جِلْدِيَّةً سَوْدَاءَ</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أَنِّي … غَيْرَ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Colours in my life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الأَلْوَانُ فِي حَيَاتِي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colours of your town or home · your favourite colour and why · a memory linked to a colour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صِفْ أَلْوَانَ مَدِينَتِكَ أَوْ بَيْتِكَ · لَوْنُكَ المُفَضَّلُ وَلِمَاذَا · ذِكْرَى مُرْتَبِطَةٌ بِلَوْنٍ · رَأْيُكَ وَخُطَطُكَ</a:t>
            </a:r>
            <a:endParaRPr lang="ar-SA" sz="15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power of colour</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قُوَّةُ الأَلْوَانِ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companies use colour · colours in different cultures · an experience where you noticed a colour’s effect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كَيْفَ تَسْتَعْمِلُ الشَّرِكَاتُ الأَلْوَانَ؟ · الأَلْوَانُ فِي الثَّقَافَاتِ المُخْتَلِفَةِ · تَجْرِبَةٌ لَاحَظْتَ فِيهَا تَأْثِيرَ لَوْنٍ · رَأْيُكَ وَاقْتِرَاحُكَ</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Describe — places and things with colours that agree; non-human plurals with faʿlāʾ.</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Favourite colour — li-annahu …, yudhakkirunī bi- …; shades and materials.</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memory — kāna / kānat + accusative colour; fa- for results.</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fī raʾyī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البُيُوتُ بَيْضَاءُ، وَأَبْوَابُهَا زَرْقَاءُ.</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the houses are white, and their doors are blue.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كَانَتِ السَّمَاءُ حَمْرَاءَ وَقْتَ الغُرُوبِ.</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sky was red at sunset.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سَأَدْهَنُ البَابَ بِاللَّوْنِ الأَزْرَقِ.</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paint the door blue.</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مَدِينَتِي مَلِيئَةٌ بِالأَلْوَانِ. فِي وَسَطِ المَدِينَةِ سُوقٌ كَبِيرٌ، فِيهِ فَوَاكِهُ حَمْرَاءُ وَصَفْرَاءُ وَخَضْرَاءُ. البُيُوتُ القَدِيمَةُ بَيْضَاءُ، وَأَبْوَابُهَا زَرْقَاءُ. السَّمَاءُ زَرْقَاءُ صَافِيَةٌ فِي الصَّيْفِ، لٰكِنَّهَا رَمَادِيَّةٌ فِي الشِّتَاءِ. الحَافِلَاتُ فِي مَدِينَتِي حَمْرَاءُ، وَسَيَّارَاتُ الأُجْرَةِ سَوْدَاءُ.</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لَوْنِيَ المُفَضَّلُ هُوَ الأَخْضَرُ، لِأَنَّهُ لَوْنُ الطَّبِيعَةِ. غُرْفَتِي خَضْرَاءُ فَاتِحَةٌ، وَسَتَائِرُهَا بَيْضَاءُ، وَسَرِيرِي بُنِّيٌّ. أَلْبَسُ الأَلْوَانَ الغَامِقَةَ فِي الشِّتَاءِ، وَالأَلْوَانَ الفَاتِحَةَ فِي الصَّيْفِ، لِأَنَّهَا أَبْرَدُ. حَقِيبَتِيَ المَدْرَسِيَّةُ خَضْرَاءُ أَيْضًا!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الرَّبِيعِ المَاضِي زُرْتُ حَدِيقَةً كَبِيرَةً مَعَ أُسْرَتِي. رَأَيْنَا أَزْهَارًا حَمْرَاءَ وَوَرْدِيَّةً وَبَنَفْسَجِيَّةً، وَأَشْجَارًا خَضْرَاءَ عَالِيَةً. أَخَذْتُ صُوَرًا كَثِيرَةً، وَرَسَمْتُ لَوْحَةً لِلْحَدِيقَةِ فِي البَيْتِ. عَلَّقَتْ أُمِّي اللَّوْحَةَ فِي غُرْفَةِ الجُلُوسِ، وَكُنْتُ سَعِيدًا جِدًّا.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الأَلْوَانُ تَجْعَلُ الحَيَاةَ جَمِيلَةً، وَتُغَيِّرُ مَشَاعِرَنَا. فِي المُسْتَقْبَلِ أُرِيدُ أَنْ أَدْرُسَ الفَنَّ، وَسَأَرْسُمُ لَوْحَاتٍ مُلَوَّنَةً لِمَدِينَتِي.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town is full of colour: a big market of red, yellow and green fruit; old white houses with blue doors; clear blue summer sky but grey in winter; red buses and black taxis → favourite colour green (nature): a light green room, white curtains, brown bed; dark colours in winter, light in summer (cooler); a green school bag too! → last spring a big park with my family: red, pink and purple flowers, tall green trees; lots of photos and a painting at home, which Mum hung in the living room — I was very happy → colours make life beautiful and change our feelings; I want to study art and will paint colourful pictures of my town.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فَوَاكِهُ حَمْرَاءُ</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أَبْوَابُهَا زَرْقَاءُ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خَضْرَاءُ فَاتِحَةٌ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سَأَرْسُمُ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لَوْ سَأَلْتَنِي عَنْ لَوْنِ طُفُولَتِي، لَقُلْتُ إِنَّهُ أَزْرَقُ: أَزْرَقُ البَحْرِ الَّذِي كُنْتُ أَرَاهُ مِنْ نَافِذَةِ بَيْتِ جَدِّي فِي الإِسْكَنْدَرِيَّةِ، وَأَزْرَقُ البَابِ الخَشَبِيِّ القَدِيمِ الَّذِي كَانَتْ جَدَّتِي تَدْهَنُهُ كُلَّ صَيْفٍ.</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اليَوْمَ أَسْكُنُ فِي مَدِينَةٍ بِرِيطَانِيَّةٍ أَغْلَبُ مَبَانِيهَا مِنَ الطُّوبِ الأَحْمَرِ، وَسَمَاؤُهَا رَمَادِيَّةٌ مُعْظَمَ أَيَّامِ السَّنَةِ، وَلِذٰلِكَ أُحَاوِلُ أَنْ أُدْخِلَ الأَلْوَانَ إِلَى حَيَاتِي: فِي مَلَابِسِي، وَفِي دَفَاتِرِي، وَفِي الأَزْهَارِ الصَّفْرَاءِ عَلَى نَافِذَتِي، وَحَتَّى فِي جَوَارِبِي المُخَطَّطَةِ الَّتِي يَضْحَكُ مِنْهَا أَصْدِقَائِي.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الصَّيْفِ المَاضِي رَجَعْتُ إِلَى الإِسْكَنْدَرِيَّةِ بَعْدَ غِيَابٍ طَوِيلٍ، فَوَجَدْتُ البَابَ قَدْ أَصْبَحَ بُنِّيًّا بَاهِتًا، لِأَنَّ جَدَّتِي لَمْ تَعُدْ تَسْتَطِيعُ أَنْ تَدْهَنَهُ. فَاشْتَرَيْتُ عُلْبَةَ دِهَانٍ زَرْقَاءَ، وَقَضَيْتُ يَوْمًا كَامِلًا أُعِيدُ إِلَيْهِ لَوْنَهُ، بَيْنَمَا كَانَتْ جَدَّتِي تَجْلِسُ بِجَانِبِي وَتَحْكِي لِي قِصَصَ البَيْتِ.</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الأَلْوَانَ تَبْدُو شَيْئًا بَسِيطًا، غَيْرَ أَنَّهَا تَحْمِلُ ذِكْرَيَاتِنَا وَمَشَاعِرَنَا. وَفِي المُسْتَقْبَلِ، عِنْدَمَا يَكُونُ لِي بَيْتٌ، سَأَدْهَنُ بَابَهُ بِالأَزْرَقِ نَفْسِهِ، لِيَبْقَى بَيْتُ جَدَّتِي مَعِي دَائِمًا.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سَأَلْتَنِي … لَقُلْتُ</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الَّذِي كَانَتْ جَدَّتِي تَدْهَنُهُ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قَدْ أَصْبَحَ بُنِّيًّا بَاهِتًا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تَعُدْ تَسْتَطِيعُ</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Q3 (</a:t>
            </a:r>
            <a:pPr algn="l" indent="0" marL="0">
              <a:buNone/>
            </a:pPr>
            <a:r>
              <a:rPr lang="ar-SA" altLang="en-US" sz="2800" b="1" dirty="0">
                <a:solidFill>
                  <a:srgbClr val="1B3B6F"/>
                </a:solidFill>
                <a:latin typeface="Amiri" pitchFamily="2" charset="-78"/>
                <a:ea typeface="Amiri" pitchFamily="2" charset="-78"/>
                <a:cs typeface="Amiri" pitchFamily="2" charset="-78"/>
              </a:rPr>
              <a:t>ب</a:t>
            </a:r>
            <a:pPr algn="l" indent="0" marL="0">
              <a:buNone/>
            </a:pPr>
            <a:r>
              <a:rPr lang="en-US" sz="2150" b="1" dirty="0">
                <a:solidFill>
                  <a:srgbClr val="1B3B6F"/>
                </a:solidFill>
                <a:latin typeface="Cambria" pitchFamily="34" charset="0"/>
                <a:cs typeface="Amiri" pitchFamily="2" charset="-78"/>
              </a:rPr>
              <a:t>) full-mark model: the power of colour</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نَعِيشُ فِي عَالَمٍ مِنَ الأَلْوَانِ، لٰكِنَّنَا نَادِرًا مَا نُفَكِّرُ فِي تَأْثِيرِهَا فِينَا. فَالشَّرِكَاتُ تَخْتَارُ أَلْوَانَ مُنْتَجَاتِهَا بِعِنَايَةٍ: الأَحْمَرُ لِلْمَطَاعِمِ السَّرِيعَةِ لِأَنَّهُ يَفْتَحُ الشَّهِيَّةَ، وَالأَزْرَقُ لِلْبُنُوكِ لِأَنَّهُ يُوحِي بِالثِّقَةِ، وَالأَخْضَرُ لِلْمُنْتَجَاتِ الطَّبِيعِيَّةِ، وَالأَسْوَدُ لِلسِّلَعِ الفَاخِرَةِ الغَالِيَةِ.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وَتَخْتَلِفُ مَعَانِي الأَلْوَانِ بَيْنَ الثَّقَافَاتِ أَيْضًا؛ فَالأَبْيَضُ لَوْنُ الفَرَحِ فِي الأَعْرَاسِ الغَرْبِيَّةِ، بَيْنَمَا يَرْتَبِطُ بِالحُزْنِ فِي بَعْضِ ثَقَافَاتِ آسْيَا، أَمَّا الأَخْضَرُ فَلَهُ مَكَانَةٌ خَاصَّةٌ فِي الثَّقَافَةِ الإِسْلَامِيَّةِ.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لَاحَظْتُ تَأْثِيرَ الأَلْوَانِ بِنَفْسِي عِنْدَمَا دَهَنَتْ مَدْرَسَتُنَا مَكْتَبَتَهَا فِي السَّنَةِ المَاضِيَةِ؛ كَانَتْ جُدْرَانُهَا رَمَادِيَّةً كَئِيبَةً، فَأَصْبَحَتْ خَضْرَاءَ فَاتِحَةً وَصَفْرَاءَ. وَبَعْدَ شَهْرٍ وَاحِدٍ تَضَاعَفَ عَدَدُ الطُّلَّابِ الَّذِينَ يَقْرَؤُونَ فِيهَا فِي الاسْتِرَاحَةِ، وَقَالَتْ أَمِينَةُ المَكْتَبَةِ إِنَّ المَكَانَ صَارَ أَهْدَأَ وَأَجْمَلَ.</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تَأْثِيرَ الأَلْوَانِ يَخْتَلِفُ مِنْ شَخْصٍ إِلَى آخَرَ، غَيْرَ أَنَّهُ حَقِيقِيٌّ وَلَا يُمْكِنُ تَجَاهُلُهُ. وَلَوِ اهْتَمَّتِ المَدَارِسُ وَالمُسْتَشْفَيَاتُ بِأَلْوَانِ جُدْرَانِهَا، لَشَعَرَ النَّاسُ فِيهَا بِرَاحَةٍ أَكْبَرَ، وَلَتَحَسَّنَتْ حَالَتُهُمُ النَّفْسِيَّةُ كَثِيرًا.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نَادِرًا مَا نُفَكِّرُ</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يَرْتَبِطُ</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الأَخْضَرُ فَلَهُ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اهْتَمَّتْ … لَشَعَرَ</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colour agrees with its item (m. / f.).</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shade or material, and faʿlāʾ with a non-human plural.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accusative colours after kāna, a concession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TB-L07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TB-L06 · Writing Workshop — Colours and Accurate Description</dc:title>
  <dc:subject>PptxGenJS Presentation</dc:subject>
  <dc:creator>Al Madina Online School · Arabic Department</dc:creator>
  <cp:lastModifiedBy>Al Madina Online School · Arabic Department</cp:lastModifiedBy>
  <cp:revision>1</cp:revision>
  <dcterms:created xsi:type="dcterms:W3CDTF">2026-10-11T09:03:47Z</dcterms:created>
  <dcterms:modified xsi:type="dcterms:W3CDTF">2026-10-11T09:03:47Z</dcterms:modified>
</cp:coreProperties>
</file>