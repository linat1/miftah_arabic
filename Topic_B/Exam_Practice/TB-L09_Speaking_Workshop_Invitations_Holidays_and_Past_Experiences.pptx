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B, Lesson 9 (Invitations, Holidays and Past Experiences, TB-L09), using that lesson’s language (past tense; future plans (sa-); sequencing (awwalan, thumma, baʿda dhālika); polite accepting and declining).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inviting: أَدْعُوكَ إِلَى … / هَلْ تُحِبُّ أَنْ تَأْتِيَ؟ Accepting: بِكُلِّ سُرُورٍ · شُكْرًا عَلَى الدَّعْوَةِ. Declining politely: آسِفٌ جِدًّا، لَا أَسْتَطِيعُ لِأَنَّ … · إِنْ شَاءَ اللّٰهُ مَرَّةً أُخْرَى.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past “we” verbs end in -nā: احْتَفَلْنَا · قَضَيْنَا · الْتَقَيْنَا. Never forget: لَمْ أَنْسَ (past) · لَنْ أَنْسَى (future). Sequence every story: أَوَّلًا · ثُمَّ · بَعْدَ ذٰلِكَ · أَخِيرًا.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birthday invitation.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to a girl friend: أَدْعُوكِ · أُرِيدُ أَنْ تَأْتِيَ (same) — and she asks: مَاذَا تُرِيدِينَ هَدِيَّةً؟.
Core: inviting (adʿūka ilā), time, place, the future with sa- (we-forms), an an + subjunctive wish.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declining politely.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the candidate (a girl): آسِفَةٌ جِدًّا · حَضَرْتِ (examiner).
Task 2: lā nastaṭīʿu an + subjunctive, li-annanā + future. Task 4: mā raʾyuki an (to a woman). Polite formulae: alfu mabrūk · lā baʾs.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after the holiday.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فَعَلْتُمْ (pl. same) · كُنْتِ مَرِيضَةً · تُحِبِّينَ أَنْ تَأْتِي مَعَ أُسْرَتِكِ.
Develop: kānat + accusative, sequencing, a superlative + ʿindamā, lam yakun, a follow-up question, the future + an invitation.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culture podcast.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نَظَّمْتِ · تَنْسَيْنَهُ.
Stretch: lan ansā, fa-qad, sequencing, kāna + present vs ammā … fa-, a concession, an example, law … la- with ṭalabtu … 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sequencing and a reason.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B · EXAM PRACTICE  ·  TB-L09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TB-L09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Invitations and Past Experiences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الدَّعَوَاتُ وَالتَّجَارِبُ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invite, accept and decline politely, make arrangements, and tell the story of a memorable occasion in the past with clear sequencing.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Advanced Topic B · Personal and Social Life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B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B › TB-L09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INVITE, ACCEPT, DECLINE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Would you like to come?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أَنْ تَأْتِيَ؟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inviting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أَدْعُوكَ إِلَى حَفْلَتِي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invite you to my party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ad-ʿū-ka i-lā ḥaf-la-tī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دَعَوْتُ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أَدْعُوكُمْ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أَدْعُوكِ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accepting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بِكُلِّ سُرُورٍ!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with pleasure!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bi-kul-li su-rū-rin!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960120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60120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declining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آسِفٌ، لَا أَسْتَطِيعُ لِأَنَّ …</a:t>
            </a:r>
            <a:endParaRPr lang="ar-SA" sz="3000" dirty="0"/>
          </a:p>
        </p:txBody>
      </p:sp>
      <p:sp>
        <p:nvSpPr>
          <p:cNvPr id="50" name="Text 47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sorry, I can’t because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ā-si-fun, lā as-ta-ṭī-ʿu li-ʾan-na …</a:t>
            </a:r>
            <a:endParaRPr lang="en-US" sz="1350" dirty="0"/>
          </a:p>
        </p:txBody>
      </p:sp>
      <p:sp>
        <p:nvSpPr>
          <p:cNvPr id="51" name="Shape 48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640080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آسِفَةٌ</a:t>
            </a:r>
            <a:endParaRPr lang="ar-SA" sz="1500" dirty="0"/>
          </a:p>
        </p:txBody>
      </p:sp>
      <p:sp>
        <p:nvSpPr>
          <p:cNvPr id="54" name="Shape 51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8604504" y="4279392"/>
            <a:ext cx="151790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604504" y="427939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 · birthday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1" name="Text 58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حَفْلَةٌ</a:t>
            </a:r>
            <a:endParaRPr lang="ar-SA" sz="3000" dirty="0"/>
          </a:p>
        </p:txBody>
      </p:sp>
      <p:sp>
        <p:nvSpPr>
          <p:cNvPr id="62" name="Text 59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party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ḥaf-la-tun</a:t>
            </a:r>
            <a:endParaRPr lang="en-US" sz="1350" dirty="0"/>
          </a:p>
        </p:txBody>
      </p:sp>
      <p:sp>
        <p:nvSpPr>
          <p:cNvPr id="63" name="Shape 60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birthday</a:t>
            </a:r>
            <a:endParaRPr lang="en-US" sz="700" dirty="0"/>
          </a:p>
        </p:txBody>
      </p:sp>
      <p:sp>
        <p:nvSpPr>
          <p:cNvPr id="65" name="Text 62"/>
          <p:cNvSpPr txBox="1"/>
          <p:nvPr/>
        </p:nvSpPr>
        <p:spPr>
          <a:xfrm>
            <a:off x="10588752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حَفْلَةُ عِيدِ مِيلَادٍ</a:t>
            </a:r>
            <a:endParaRPr lang="ar-SA" sz="1350" dirty="0"/>
          </a:p>
        </p:txBody>
      </p:sp>
      <p:sp>
        <p:nvSpPr>
          <p:cNvPr id="66" name="Shape 63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حَفَلَاتٌ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حَفْلَةٌ</a:t>
            </a:r>
            <a:endParaRPr lang="ar-SA" sz="1500" dirty="0"/>
          </a:p>
        </p:txBody>
      </p:sp>
      <p:sp>
        <p:nvSpPr>
          <p:cNvPr id="72" name="Shape 69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3" name="Shape 70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800" dirty="0"/>
          </a:p>
        </p:txBody>
      </p:sp>
      <p:sp>
        <p:nvSpPr>
          <p:cNvPr id="77" name="Shape 74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9" name="Text 76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زِفَافٌ · عُرْسٌ</a:t>
            </a:r>
            <a:endParaRPr lang="ar-SA" sz="3000" dirty="0"/>
          </a:p>
        </p:txBody>
      </p:sp>
      <p:sp>
        <p:nvSpPr>
          <p:cNvPr id="80" name="Text 77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wedding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zi-fā-fun · ʿur-sun</a:t>
            </a:r>
            <a:endParaRPr lang="en-US" sz="1350" dirty="0"/>
          </a:p>
        </p:txBody>
      </p:sp>
      <p:sp>
        <p:nvSpPr>
          <p:cNvPr id="81" name="Shape 78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4462272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أَعْرَاسٌ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960120" y="4279392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960120" y="4279392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· past · future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1" name="Text 88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نَلْتَقِي</a:t>
            </a:r>
            <a:endParaRPr lang="ar-SA" sz="3000" dirty="0"/>
          </a:p>
        </p:txBody>
      </p:sp>
      <p:sp>
        <p:nvSpPr>
          <p:cNvPr id="92" name="Text 89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meet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nal-ta-qī</a:t>
            </a:r>
            <a:endParaRPr lang="en-US" sz="1350" dirty="0"/>
          </a:p>
        </p:txBody>
      </p:sp>
      <p:sp>
        <p:nvSpPr>
          <p:cNvPr id="93" name="Shape 90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future</a:t>
            </a:r>
            <a:endParaRPr lang="en-US" sz="700" dirty="0"/>
          </a:p>
        </p:txBody>
      </p:sp>
      <p:sp>
        <p:nvSpPr>
          <p:cNvPr id="95" name="Text 92"/>
          <p:cNvSpPr txBox="1"/>
          <p:nvPr/>
        </p:nvSpPr>
        <p:spPr>
          <a:xfrm>
            <a:off x="294436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سَنَلْتَقِي</a:t>
            </a:r>
            <a:endParaRPr lang="ar-SA" sz="1350" dirty="0"/>
          </a:p>
        </p:txBody>
      </p:sp>
      <p:sp>
        <p:nvSpPr>
          <p:cNvPr id="96" name="Shape 93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98" name="Text 95"/>
          <p:cNvSpPr txBox="1"/>
          <p:nvPr/>
        </p:nvSpPr>
        <p:spPr>
          <a:xfrm>
            <a:off x="1792224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الْتَقَيْنَا</a:t>
            </a:r>
            <a:endParaRPr lang="ar-SA" sz="1350" dirty="0"/>
          </a:p>
        </p:txBody>
      </p:sp>
      <p:sp>
        <p:nvSpPr>
          <p:cNvPr id="99" name="Shape 96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أَلْتَقِي</a:t>
            </a:r>
            <a:endParaRPr lang="ar-SA" sz="1500" dirty="0"/>
          </a:p>
        </p:txBody>
      </p:sp>
      <p:sp>
        <p:nvSpPr>
          <p:cNvPr id="102" name="Text 99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TELLING THE STORY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First, then, finally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 أَخِيرًا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· he · they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احْتَفَلْنَا بِالعِيدِ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celebrated Eid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aḥ-ta-fal-nā bil-ʿī-di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احْتَفَلُوا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احْتَفَلَ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احْتَفَلْتُ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· she · they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قَضَيْنَا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spent (time)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qa-ḍay-nā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قَضَوْا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قَضَتْ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قَضَيْتُ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sequencing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· ثُمَّ · بَعْدَ ذٰلِكَ · أَخِيرًا</a:t>
            </a:r>
            <a:endParaRPr lang="ar-SA" sz="245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first · then · after that · finally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aw-wa-lan · thum-ma · baʿ-da dhā-li-ka · a-khī-ran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 · future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أَنْسَى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will never forget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lā an-sā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future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لَنْ أَنْسَى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لَمْ أَنْسَ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مُفَاجَأَةٌ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surprise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mu-fā-ja-ʾa-tun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مُفَاجَآتٌ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مُفَاجَأَةٌ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رَائِعٌ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wonderful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rā-ʾi-ʿun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294436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رَائِعُونَ</a:t>
            </a:r>
            <a:endParaRPr lang="ar-SA" sz="1500" dirty="0"/>
          </a:p>
        </p:txBody>
      </p:sp>
      <p:sp>
        <p:nvSpPr>
          <p:cNvPr id="102" name="Shape 99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179222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رَائِعَةٌ</a:t>
            </a:r>
            <a:endParaRPr lang="ar-SA" sz="150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رَائِعٌ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BIRTHDAY INVITATION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Inviting a friend to your party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دَعْوَةٌ إِلَى حَفْلَةٍ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أَدْعُوكَ إِلَى حَفْلَةِ عِيدِ مِيلَادِي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Invite your friend to your party.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مَا الأَخْبَارُ؟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السَّاعَةِ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time.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رَائِعٌ! فِي أَيِّ سَاعَةٍ؟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… قَرِيبٌ مِنْ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place.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وَأَيْنَ؟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سَنَأْكُلُ … وَسَنَلْعَبُ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two things you will do.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سَنَفْعَلُ فِي الحَفْلَةِ؟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تُحْضِرْ شَيْئًا … / أُحِبُّ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تُرِيدُ هَدِيَّةً؟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your friend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DECLINING POLITELY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Saying no to a wedding invitation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أَعْتَذِرُ عَنِ الدَّعْوَةِ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 عَلَى … مَبْرُوكٌ!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them and congratulate them.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نَدْعُوكُمْ إِلَى زِفَافِ ابْنَتِنَا يَوْمَ الجُمُعَةِ.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آسِفٌ جِدًّا، لَا نَسْتَطِيعُ لِأَنَّ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Decline politely with a reason.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سَتَأْتُونَ؟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سَنَرْجِعُ بَعْدَ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when you will return.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لِلْأَسَفِ! وَمَتَى سَتَرْجِعُونَ؟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رَأْيُكِ أَنْ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another meeting.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بَأْسَ، إِنْ شَاءَ اللّٰهُ تَزُورُونَنَا بَعْدَ ذٰلِكَ.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حَضَرْتُ … وَكَانَ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حَضَرْتَ زِفَافًا عَرَبِيًّا مِنْ قَبْلُ؟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family friend on the phone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AFTER THE HOLIDAY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A memorable day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يَوْمٌ لَا أَنْسَاهُ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general opinion with a reason.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كَانَتِ العُطْلَةُ؟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 بَعْدَ ذٰلِكَ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Tell the day in order (three steps).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فَعَلْتُمْ يَوْمَ العِيدِ؟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أَجْمَلُ لَحْظَةٍ كَانَتْ عِنْدَمَا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best moment.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أَجْمَلُ لَحْظَةٍ؟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 هَلْ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why, and show interest.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أَنَا بَقِيتُ فِي البَيْتِ.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سَنَحْتَفِلُ … هَلْ تُحِبُّ أَنْ …؟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invitation).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سَتَفْعَلُ فِي العِيدِ القَادِمِ؟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classmate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CULTURE PODCAST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Celebrations then and now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الاحْتِفَالَاتُ بَيْنَ الأَمْسِ وَاليَوْمِ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لَنْ أَنْسَى … فَقَدْ … ثُمَّ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Tell a short story with sequencing.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لَنَا احْتِفَالًا عَائِلِيًّا لَا تَنْسَاهُ.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… أَمَّا اليَوْمَ فَتَكُونُ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تَغَيَّرَتِ الأَعْرَاسُ عَنِ المَاضِي؟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الحَفَلَاتُ الكَبِيرَةُ ضَرُورِيَّةٌ؟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أَصْبَحَ النَّاسُ … فَمَثَلًا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effect with an example.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تُغَيِّرُ وَسَائِلُ التَّوَاصُلِ احْتِفَالَاتِنَا؟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نَظَّمْتُ …، لَجَعَلْتُهَا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نَظَّمْتَ حَفْلَةً مِثَالِيَّةً، كَيْفَ تَكُونُ؟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guest  ·  The examiner is: a podcast host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invited, accepted or declined politely, with a time and a place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told a past event with sequencing words and gave a reason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أَدْعُوكَ إِلَى حَفْلَةِ عِيدِ مِيلَادِي يَوْمَ السَّبْتِ!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inviting you to my birthday party on Saturday!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مَا الأَخْبَارُ؟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السَّاعَةِ الرَّابِعَةِ بَعْدَ الظُّهْرِ.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 four in the afternoon.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رَائِعٌ! فِي أَيِّ سَاعَةٍ؟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بَيْتِي، وَهُوَ قَرِيبٌ مِنَ المَسْجِدِ الكَبِيرِ.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 my house — it is near the big mosque.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وَأَيْنَ؟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سَنَأْكُلُ البِيتْزَا وَالكَعْكَ، وَسَنَلْعَبُ أَلْعَابًا فِي الحَدِيقَةِ.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We’ll eat pizza and cake, and play games in the garden.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سَنَفْعَلُ فِي الحَفْلَةِ؟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شَيْءَ، أُرِيدُ أَنْ تَأْتِيَ فَقَطْ! لٰكِنِّي أُحِبُّ الكُتُبَ.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Nothing, I just want you to come! But I do like books.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تُرِيدُ هَدِيَّةً؟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 جَزِيلًا عَلَى الدَّعْوَةِ، وَأَلْفُ مَبْرُوكٍ!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you very much for the invitation, and many congratulations!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نَدْعُوكُمْ إِلَى زِفَافِ ابْنَتِنَا يَوْمَ الجُمُعَةِ.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آسِفٌ جِدًّا، لَا نَسْتَطِيعُ أَنْ نَأْتِيَ، لِأَنَّنَا سَنُسَافِرُ إِلَى مِصْرَ يَوْمَ الخَمِيسِ.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very sorry, we can’t come, because we are travelling to Egypt on Thursday.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سَتَأْتُونَ؟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سَنَرْجِعُ بَعْدَ أُسْبُوعَيْنِ، فِي بِدَايَةِ الشَّهْرِ القَادِمِ.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will come back in two weeks, at the start of next month.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لِلْأَسَفِ! وَمَتَى سَتَرْجِعُونَ؟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بِكُلِّ سُرُورٍ! مَا رَأْيُكِ أَنْ نَزُورَكُمْ فِي أَوَّلِ جُمُعَةٍ بَعْدَ رُجُوعِنَا؟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With pleasure! How about we visit you on the first Friday after we get back?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بَأْسَ، إِنْ شَاءَ اللّٰهُ تَزُورُونَنَا بَعْدَ ذٰلِكَ.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حَضَرْتُ زِفَافَ خَالِي فِي عَمَّانَ، وَكَانَ رَائِعًا، وَرَقَصْنَا الدَّبْكَةَ حَتَّى الفَجْرِ!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went to my uncle’s wedding in Amman — it was wonderful, and we danced the dabke till dawn!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حَضَرْتَ زِفَافًا عَرَبِيًّا مِنْ قَبْلُ؟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رَائِعَةً، لِأَنَّنَا احْتَفَلْنَا بِعِيدِ الفِطْرِ مَعَ كُلِّ العَائِلَةِ فِي بَيْتِ جَدِّي.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was wonderful, because we celebrated Eid al-Fitr with the whole family at my grandfather’s house.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كَانَتِ العُطْلَةُ؟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صَلَّيْنَا صَلَاةَ العِيدِ، ثُمَّ زُرْنَا الأَقَارِبَ، وَبَعْدَ ذٰلِكَ تَغَدَّيْنَا مَعًا فِي الحَدِيقَةِ.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we prayed the Eid prayer, then we visited relatives, and after that we had lunch together in the garden.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فَعَلْتُمْ يَوْمَ العِيدِ؟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أَجْمَلُ لَحْظَةٍ كَانَتْ عِنْدَمَا وَصَلَ عَمِّي مِنْ كَنَدَا مُفَاجَأَةً، وَلَمْ يَكُنْ أَحَدٌ يَعْرِفُ!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best moment was when my uncle arrived from Canada as a surprise — nobody knew!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أَجْمَلُ لَحْظَةٍ؟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 هَلْ كُنْتَ مَرِيضًا؟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 Were you ill?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أَنَا بَقِيتُ فِي البَيْتِ.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سَنَحْتَفِلُ فِي بَيْتِنَا هٰذِهِ المَرَّةَ، فَهَلْ تُحِبُّ أَنْ تَأْتِيَ مَعَ أُسْرَتِكَ؟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will celebrate at our house this time — would you like to come with your family?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سَتَفْعَلُ فِي العِيدِ القَادِمِ؟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لَنْ أَنْسَى زِفَافَ أُخْتِي؛ فَقَدِ اجْتَمَعَ أَكْثَرُ مِنْ مِئَتَيْ شَخْصٍ، ثُمَّ غَنَّتْ جَدَّتِي أُغْنِيَةً قَدِيمَةً فَبَكَى الجَمِيعُ.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never forget my sister’s wedding: over two hundred people gathered, then my grandmother sang an old song and everyone cried.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لَنَا احْتِفَالًا عَائِلِيًّا لَا تَنْسَاهُ.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كَانَتِ الأَعْرَاسُ تَسْتَمِرُّ سَبْعَةَ أَيَّامٍ فِي القَرْيَةِ، أَمَّا اليَوْمَ فَتَكُونُ لَيْلَةً وَاحِدَةً فِي قَاعَةٍ فَاخِرَةٍ.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Weddings used to last seven days in the village; today they are one night in a luxury hall.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تَغَيَّرَتِ الأَعْرَاسُ عَنِ المَاضِي؟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أَنَّهَا تَجْمَعُ العَائِلَةَ، غَيْرَ أَنَّهَا مُكْلِفَةٌ جِدًّا، وَبَعْضُ الأُسَرِ تَقْتَرِضُ المَالَ لِأَجْلِهَا.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they bring the family together, but they are very costly, and some families borrow money for them.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الحَفَلَاتُ الكَبِيرَةُ ضَرُورِيَّةٌ؟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أَصْبَحَ النَّاسُ يُصَوِّرُونَ كُلَّ شَيْءٍ؛ فَمَثَلًا فِي آخِرِ عِيدِ مِيلَادٍ حَضَرْتُهُ، كَانَ الجَمِيعُ يَنْظُرُونَ إِلَى هَوَاتِفِهِمْ بَدَلًا مِنَ الكَعْكَةِ!</a:t>
            </a:r>
            <a:endParaRPr lang="ar-SA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People now film everything — at the last birthday I went to, everyone was looking at their phones instead of the cake!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تُغَيِّرُ وَسَائِلُ التَّوَاصُلِ احْتِفَالَاتِنَا؟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نَظَّمْتُ حَفْلَةً مِثَالِيَّةً، لَجَعَلْتُهَا فِي الهَوَاءِ الطَّلْقِ، وَلَطَلَبْتُ مِنَ الضُّيُوفِ أَنْ يَتْرُكُوا هَوَاتِفَهُمْ عِنْدَ البَابِ.</a:t>
            </a:r>
            <a:endParaRPr lang="ar-SA" sz="14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organised a perfect party, I would hold it outdoors and ask guests to leave their phones at the door.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نَظَّمْتَ حَفْلَةً مِثَالِيَّةً، كَيْفَ تَكُونُ؟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sequenced story, past vs present, ṣaḥīḥun anna … ghayra anna, badalan min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المُنَاسَبَاتُ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عِيدُ مِيلَادِي فِي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is your birthday, and how do you celebrate?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عِيدُ مِيلَادِكَ؟ وَكَيْفَ تَحْتَفِلُ بِهِ؟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قَضَيْتُ عُطْلَتِي 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did you spend your last holiday?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قَضَيْتَ عُطْلَتَكَ الأَخِيرَةَ؟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لَا، لِأَنَّ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parties?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الحَفَلَاتِ؟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العِيدِ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at Eid?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فِي العِيدِ؟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سَأَزُورُ … / سَأَذْهَبُ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will you do next holiday?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سَتَفْعَلُ فِي العُطْلَةِ القَادِمَةِ؟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تَجَارِبِي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إِلَى … أَوَّلًا … ثُمَّ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last party you went to.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آخِرَ حَفْلَةٍ ذَهَبْتَ إِلَيْهَا.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أَشْكُرُهُ أَوَّلًا، ثُمَّ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decline an invitation politely?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تَعْتَذِرُ عَنْ دَعْوَةٍ بِأَدَبٍ؟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أَجْمَلُ عُطْلَةٍ كَانَتْ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best holiday you have had? Why?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أَجْمَلُ عُطْلَةٍ قَضَيْتَهَا؟ لِمَاذَا؟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… عِنْدَمَا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Has a nice surprise ever happened to you?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حَدَثَتْ لَكَ مُفَاجَأَةٌ جَمِيلَةٌ؟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سَأَعْمَلُ … ثُمَّ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your plans for the summer?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خُطَطُكَ لِلصَّيْفِ؟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sequencing, a superlative, a reason and future plans.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المُنَاسَبَاتُ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… وَلِأَنَّ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are family occasions important?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تُعْتَبَرُ المُنَاسَبَاتُ العَائِلِيَّةُ مُهِمَّةً؟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expensive presents better than simple ones?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الهَدَايَا الغَالِيَةُ أَفْضَلُ مِنَ البَسِيطَةِ؟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كَانُوا … أَمَّا نَحْنُ فَنَشْتَرِي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your grandparents celebrate Eid?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أَجْدَادُكَ يَحْتَفِلُونَ بِالعِيدِ؟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… فَهِمْتُ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an experience that changed your view of something.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تَجْرِبَةً غَيَّرَتْ نَظْرَتَكَ إِلَى شَيْءٍ.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دَعَوْتُ …، لَدَعَوْتُ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invited three famous people to dinner, who would you invite?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دَعَوْتَ ثَلَاثَةَ أَشْخَاصٍ مَشْهُورِينَ إِلَى العَشَاءِ، مَنْ تَدْعُو؟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two reasons, a concession, kānū + present vs ammā … fa-, ʿindamā … fahimtu anna,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عِيدُ مِيلَادِي فِي مَايُو، وَنَأْكُلُ الكَعْكَ مَعَ الأُسْرَةِ.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birthday is in May, and we eat cake with the family.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عِيدُ مِيلَادِكَ؟ وَكَيْفَ تَحْتَفِلُ بِهِ؟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قَضَيْتُ عُطْلَتِي فِي وِيلْزَ مَعَ أُسْرَتِي.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spent my holiday in Wales with my family.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قَضَيْتَ عُطْلَتَكَ الأَخِيرَةَ؟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أُحِبُّهَا، لِأَنِّي أَلْتَقِي بِأَصْدِقَائِي.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like them, because I meet my friends.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الحَفَلَاتِ؟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العِيدِ نُصَلِّي، ثُمَّ نَزُورُ الأَقَارِبَ.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 Eid we pray, then visit relatives.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فِي العِيدِ؟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سَأَزُورُ جَدَّتِي فِي المَغْرِبِ.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visit my grandmother in Morocco.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سَتَفْعَلُ فِي العُطْلَةِ القَادِمَةِ؟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the right time frame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إِلَى حَفْلَةِ صَدِيقِي؛ أَوَّلًا أَكَلْنَا، ثُمَّ لَعِبْنَا كُرَةَ القَدَمِ، وَأَخِيرًا قَطَعْنَا الكَعْكَةَ.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went to my friend’s party: first we ate, then played football, and finally cut the cake.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آخِرَ حَفْلَةٍ ذَهَبْتَ إِلَيْهَا.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أَشْكُرُهُ أَوَّلًا عَلَى الدَّعْوَةِ، ثُمَّ أَشْرَحُ السَّبَبَ، وَأَقْتَرِحُ مَوْعِدًا آخَرَ.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I thank him for the invitation, then explain why, and suggest another time.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تَعْتَذِرُ عَنْ دَعْوَةٍ بِأَدَبٍ؟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أَجْمَلُ عُطْلَةٍ كَانَتْ فِي تُرْكِيَا، لِأَنَّنَا رَكِبْنَا مِنْطَادًا فَوْقَ الجِبَالِ فِي الفَجْرِ.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best holiday was in Turkey, because we rode a hot-air balloon over the mountains at dawn.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أَجْمَلُ عُطْلَةٍ قَضَيْتَهَا؟ لِمَاذَا؟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عِيدِ مِيلَادِي الرَّابِعَ عَشَرَ، نَظَّمَ أَصْدِقَائِي حَفْلَةً سِرِّيَّةً، وَلَمْ أَعْرِفْ شَيْئًا!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on my fourteenth birthday my friends organised a secret party, and I knew nothing!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حَدَثَتْ لَكَ مُفَاجَأَةٌ جَمِيلَةٌ؟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سَأَعْمَلُ فِي مَحَلِّ عَمِّي، ثُمَّ سَنُسَافِرُ إِلَى الأُرْدُنِّ لِحُضُورِ زِفَافِ ابْنِ خَالِي.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I will work in my uncle’s shop, then we will travel to Jordan for my cousin’s wedding.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خُطَطُكَ لِلصَّيْفِ؟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 sequenced story + a reason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تَجْمَعُ أَفْرَادَ العَائِلَةِ الَّذِينَ يَعِيشُونَ بَعِيدًا، وَلِأَنَّهَا تَنْقُلُ التَّقَالِيدَ مِنْ جِيلٍ إِلَى جِيلٍ.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they gather family members who live far away, and pass traditions from one generation to the next.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تُعْتَبَرُ المُنَاسَبَاتُ العَائِلِيَّةُ مُهِمَّةً؟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الهَدَايَا الغَالِيَةَ جَمِيلَةٌ، غَيْرَ أَنَّ رِسَالَةً مَكْتُوبَةً بِاليَدِ قَدْ تَبْقَى فِي القَلْبِ أَطْوَلَ.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expensive presents are nice, but a handwritten letter may stay in the heart longer.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الهَدَايَا الغَالِيَةُ أَفْضَلُ مِنَ البَسِيطَةِ؟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كَانُوا يَخْبِزُونَ الكَعْكَ مَعًا لَيْلَةَ العِيدِ، وَيَزُورُونَ كُلَّ بُيُوتِ القَرْيَةِ، أَمَّا نَحْنُ فَنَشْتَرِي الحَلَوِيَّاتِ وَنُرْسِلُ التَّهَانِيَ بِالهَاتِفِ.</a:t>
            </a:r>
            <a:endParaRPr lang="ar-SA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baked biscuits together on Eid eve and visited every house in the village; we buy sweets and send greetings by phone.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أَجْدَادُكَ يَحْتَفِلُونَ بِالعِيدِ؟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alladhīna, ṣaḥīḥun anna … ghayra anna, past vs present, fahimtu anna,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تَطَوَّعْتُ فِي مَطْبَخٍ خَيْرِيٍّ فِي رَمَضَانَ، فَهِمْتُ أَنَّ العَطَاءَ يُفْرِحُ أَكْثَرَ مِنَ الأَخْذِ.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 volunteered in a charity kitchen in Ramadan, I understood that giving brings more joy than receiving.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تَجْرِبَةً غَيَّرَتْ نَظْرَتَكَ إِلَى شَيْءٍ.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دَعَوْتُ ثَلَاثَةَ أَشْخَاصٍ، لَدَعَوْتُ ابْنَ بَطُّوطَةَ وَمُحَمَّدَ صَلَاحٍ وَعَالِمَةَ فَضَاءٍ، لِأَسْمَعَ قِصَصَ رِحْلَاتِهِمْ.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invited three people, I would invite Ibn Battuta, Mohamed Salah and a space scientist, to hear their travel stories.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دَعَوْتَ ثَلَاثَةَ أَشْخَاصٍ مَشْهُورِينَ إِلَى العَشَاءِ، مَنْ تَدْعُو؟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alladhīna, ṣaḥīḥun anna … ghayra anna, past vs present, fahimtu anna,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invited, accepted or declined politely.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day, a time and a place.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told a past event with awwalan … thumma … akhīran.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reason for declining (li-anna …).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past and present, conceded or used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TB-L09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TB-L09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TB-L09 · Speaking Workshop — Invitations and Past Experiences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2026-10-11T09:14:57Z</dcterms:created>
  <dcterms:modified xsi:type="dcterms:W3CDTF">2026-10-11T09:14:57Z</dcterms:modified>
</cp:coreProperties>
</file>