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12 (Topic B Review — mock exam practice, TB-L12).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A girl’s model (biriṭāniyya, qaṣīra, hādiʾa); box 2 and box 7 use 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مَتَى (when) · أَيْنَ (where) · صِفْ (describe) · مَنْ (who) · مَاذَا (what) · اطْلُبْ (ask) — bullet 2 is FUTURE, bullet 3 is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(113 words). Core model (a girl writing): every Topic B area — nisba, appearance, personality, home, a dual, colours, hobbies with frequency, a sequenced occasion, an opinion and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law … la-, nisba, relative clauses, ammā … fa-, al-awwal / ath-thāniya, a vivid memory, a concession with lā … bal, aḥlumu bi-an.
ENGLISH SUMMARY (read aloud or paste in the chat for Core students): If asked to describe myself in three words: daughter, sister, artist; Salma, British of Sudanese origin, living with my parents and three siblings in a small flat full of laughter and the smell of Sudanese coffee → I share my room with my little sister; we painted it light pink together and hung pictures I drew; as for free time, drawing and basketball — the first rests my mind, the second my body — school team three times a week → my best memory: my aunt’s wedding in Khartoum last summer; I saw my grandmother for the first time in five years; she taught me old songs and we danced till dawn under the stars, and I wore a green dress she sewed for me by hand → it is true I live between two cultures, but I feel not confusion but richness; I’ll study art and dream of an exhibition joining Khartoum’s colours and London’s 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(135 words). Full-mark model for the Stretch title: a relative clause with kāna + present, the dual (al-wālidāni), ammā … fa-, ʿindamā … li-taʿīsha, a concession and a conditional with mimmā.
ENGLISH SUMMARY (read aloud or paste in the chat for Core students): Family life has changed within one generation: the big family that lived in one house and ate from one dish is now spread across towns and countries, keeping in touch by phone and perhaps meeting only once a year → in the past grandparents raised grandchildren and occasions gathered everyone for days; as for today, both parents work long hours and children spend their time in their rooms on screens, even messaging each other from room to room! → in my family: when my grandmother moved in last year, the whole house changed — dinner together every evening, her childhood stories, and I learned cooking and patience from her, and my brother now puts down his phone to play chess with her → it is true modern life gave young people more freedom and opportunity, but it took part of the family’s warmth; “if every family set aside daily time together without screens, it would regain much of what it has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Writing Workshop — Topic B Mock Exam</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امْتِحَانٌ تَجْرِيبِيٌّ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 full Paper 4 mock on the whole of Topic B: a personal profile form, an invitation email, and an extended piece about who you are or about how family life is changing.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TB-L12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invitation email.</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every Topic B structure you use: gender (nisba, colours, personality), the dual, iḍāfa, -hu / -hā, yūjadu / tūjadu, prices and comparatives, an / allā + verb in -a, sequencing and polite formulae.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يُسْعِدُنِي أَنْ أَدْعُوَكَ إِلَى …</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am delighted to invite you to …</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بَيْتُنَا الَّذِي يَقَعُ بِجَانِبِ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our house, which is next to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أَرْجُو أَلَّا تُحْضِرَ هَدِيَّةً</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please don’t bring a present</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Pen-friend club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مَلَفُّ نَادِي المُرَاسَلَةِ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age and nationality</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 وَالعُمْرُ وَالجِنْسِيَّةُ</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members</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أَفْرَادُ الأُسْرَةِ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words for your looks</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صِفَتَانِ لِشَكْلِكَ</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words for your personality</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صِفَتَانِ لِشَخْصِيَّتِكَ</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colour</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لَوْنُكَ المُفَضَّلُ</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hobbies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هِوَايَتَانِ</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description of your room</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وَصْفُ غُرْفَتِكَ</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the best occasion you have attended</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أَجْمَلُ مُنَاسَبَةٍ حَضَرْتَهَا</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past sentence. Every box recycles a Topic B lesson.</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Pen-friend club profile: model answers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Salma, fifteen, British</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سَلْمَى، خَمْسَ عَشْرَةَ سَنَةً، بِرِيطَانِيَّةٌ</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 وَالعُمْرُ وَالجِنْسِيَّةُ</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parents, two brothers and a sister</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وَالِدَايَ وَأَخَوَانِ وَأُخْتٌ</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أَفْرَادُ الأُسْرَةِ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short, black hair</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قَصِيرَةٌ، شَعْرِي أَسْوَدُ</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صِفَتَانِ لِشَكْلِكَ</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calm and cheerful</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هَادِئَةٌ وَمَرِحَةٌ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صِفَتَانِ لِشَخْصِيَّتِكَ</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green</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الأَخْضَرُ</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لَوْنُكَ المُفَضَّلُ</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drawing and basketball</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الرَّسْمُ وَكُرَةُ السَّلَّةِ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هِوَايَتَانِ</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pink, with two beds</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وَرْدِيَّةٌ، فِيهَا سَرِيرَانِ</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وَصْفُ غُرْفَتِكَ</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The best occasion was my aunt’s wedding in Khartoum last summer.</a:t>
            </a:r>
            <a:endParaRPr lang="en-US" sz="10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أَجْمَلُ مُنَاسَبَةٍ كَانَتْ زِفَافَ خَالَتِي فِي الخُرْطُومِ فِي الصَّيْفِ المَاضِي.</a:t>
            </a:r>
            <a:endParaRPr lang="ar-SA" sz="14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أَجْمَلُ مُنَاسَبَةٍ حَضَرْتَهَا</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Question 2: an invitation to my party</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دَعْوَةٍ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 are having a birthday party. Write an email in Arabic to your friend of about 80–90 words. You must include: • the day, time and place (describe your home) • who will come and what you will do • what you did yesterday to prepare • a request, and what to do if your friend cannot come.</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description with a preposition and a colour.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AND future sentences.</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polite request (allā / arjū an …).</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أَدْعُوكَ إِلَى … يَوْمَ … فِي السَّاعَةِ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invite you to … on …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بَيْتُنَا بِجَانِبِ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our house is next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أَمْسِ اشْتَرَيْتُ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I bought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لَمْ تَسْتَطِعْ، فَأَخْبِرْنِي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you can’t, let me know</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are having a birthday party: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عِنْدَكَ حَفْلَةُ عِيدِ مِيلَادٍ. اكْتُبْ رِسَالَةً إِلَى صَدِيقِكَ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 time, place; describe your home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مَتَى وَأَيْنَ الحَفْلَةُ؟ صِفْ بَيْتَكَ.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will come; what you will do</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سَيَحْضُرُ؟ وَمَاذَا سَتَفْعَلُونَ؟</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yesterday to prepare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أَمْسِ لِتَسْتَعِدَّ؟</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request; what to do if he can’t come</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اطْلُبْ مِنْهُ طَلَبًا. وَمَاذَا يَفْعَلُ إِذَا لَمْ يَسْتَطِعِ الحُضُورَ؟</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Dear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عَزِيزِي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invite you to my party on … at … Our house is next to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أَدْعُوكَ إِلَى حَفْلَتِي يَوْمَ ______ فِي السَّاعَةِ ______ . بَيْتُنَا بِجَانِبِ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will come. We will eat …, then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سَيَأْتِي ______ . سَنَأْكُلُ ______ ، ثُمَّ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bought a … … for the party.</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اشْتَرَيْتُ ______ ______ لِلْحَفْلَةِ.</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Don’t bring … If you can’t, call me.</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تُحْضِرْ ______ . إِذَا لَمْ تَسْتَطِعْ، فَاتَّصِلْ بِي.</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عَزِيزِي مَالِكٌ،</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أَدْعُوكَ إِلَى حَفْلَةِ عِيدِ مِيلَادِي السَّادِسَ عَشَرَ يَوْمَ السَّبْتِ فِي السَّاعَةِ الخَامِسَةِ. الحَفْلَةُ فِي بَيْتِنَا الجَدِيدِ، وَهُوَ بِجَانِبِ المَكْتَبَةِ العَامَّةِ. سَيَأْتِي أَصْدِقَائِي مِنَ المَدْرَسَةِ وَأَوْلَادُ عَمِّي أَيْضًا. سَنَأْكُلُ البِيتْزَا، ثُمَّ سَنَلْعَبُ كُرَةَ القَدَمِ فِي الحَدِيقَةِ. أَمْسِ اشْتَرَيْتُ قَمِيصًا أَزْرَقَ جَدِيدًا لِلْحَفْلَةِ. لَا تُحْضِرْ هَدِيَّةً، أُرِيدُ أَنْ تَأْتِيَ فَقَطْ! إِذَا لَمْ تَسْتَطِعْ، فَاتَّصِلْ بِي.</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يُوسُفُ</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Malik, how are you? I’m inviting you to my sixteenth birthday party on Saturday at five. The party is at our new house, next to the public library. My school friends and my cousins will come too. We’ll eat pizza, then play football in the garden. Yesterday I bought a new blue shirt for the party. Don’t bring a present — I just want you to come! If you can’t, call me. Goodbye,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أَدْعُوكَ إِلَى</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بِجَانِبِ المَكْتَبَةِ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قَمِيصًا أَزْرَقَ</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لَمْ تَسْتَطِعْ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عَزِيزِي مَالِكٌ،</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تَحِيَّةً طَيِّبَةً، وَبَعْدُ، فَيُسْعِدُنِي أَنْ أَدْعُوَكَ إِلَى حَفْلَةِ عِيدِ مِيلَادِيَ السَّادِسَ عَشَرَ، يَوْمَ السَّبْتِ القَادِمِ فِي السَّاعَةِ الخَامِسَةِ مَسَاءً. سَتَكُونُ الحَفْلَةُ فِي بَيْتِنَا الجَدِيدِ، الَّذِي يَقَعُ بِجَانِبِ المَكْتَبَةِ العَامَّةِ، وَفِيهِ حَدِيقَةٌ وَاسِعَةٌ تَكْفِي لِمُبَارَاةٍ صَغِيرَةٍ! سَيَحْضُرُ زُمَلَاؤُنَا فِي الصَّفِّ، بِالإِضَافَةِ إِلَى أَوْلَادِ عَمِّي القَادِمِينَ مِنْ لِيدْزَ. أَمْسِ قَضَيْتُ اليَوْمَ مَعَ أُمِّي فِي التَّسَوُّقِ، فَاشْتَرَيْنَا الزِّينَةَ وَالأَطْبَاقَ، وَاخْتَرْتُ قَمِيصًا أَزْرَقَ غَامِقًا لِلْحَفْلَةِ. أَرْجُو أَلَّا تُحْضِرَ هَدِيَّةً، فَحُضُورُكَ يَكْفِينِي، وَإِذَا لَمْ تَسْتَطِعِ المَجِيءَ، فَأَخْبِرْنِي قَبْلَ يَوْمِ الخَمِيسِ.</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أَطْيَبِ التَّحِيَّاتِ،</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يُوسُفُ</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Malik, greetings. I am delighted to invite you to my sixteenth birthday party next Saturday at 5 p.m. It will be at our new house, which is next to the public library and has a garden big enough for a little match! Our classmates will come, as well as my cousins coming from Leeds. Yesterday I spent the day shopping with my mum: we bought decorations and plates, and I chose a dark blue shirt for the party. Please don’t bring a present — your being there is enough, and if you can’t come, let me know before Thursday. Best wishes,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يُسْعِدُنِي أَنْ أَدْعُوَكَ</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الَّذِي يَقَعُ بِجَانِبِ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بِالإِضَافَةِ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أَرْجُو أَلَّا تُحْضِرَ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هٰذِهِ أَنَا</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details, looks and personality · family, home and hobbies · your best memory · your plans and dreams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cs typeface="Amiri" pitchFamily="2" charset="-78"/>
              </a:rPr>
              <a:t>مَعْلُومَاتُكَ وَشَكْلُكَ وَشَخْصِيَّتُكَ · أُسْرَتُكَ وَبَيْتُكَ وَهِوَايَاتُكَ · أَجْمَلُ ذِكْرَى · خُطَطُكَ وَأَحْلَامُكَ</a:t>
            </a:r>
            <a:endParaRPr lang="ar-SA" sz="16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life is changing</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الحَيَاةُ العَائِلِيَّةُ تَتَغَيَّرُ</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the family has changed · past and present · an experience from your family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كَيْفَ تَغَيَّرَتِ العَائِلَةُ؟ · المَاضِي وَالحَاضِرُ · تَجْرِبَةٌ مِنْ أُسْرَتِكَ · رَأْيُكَ وَاقْتِرَاحُكَ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Who you are — identity, looks, personality (TB-L01, L03); agreement for a girl / a boy.</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world — family (dual, iḍāfa), home and room (yūjadu, colours), hobbies (TB-L02, L04–L08).</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Best memory — an occasion in the past with sequencing (TB-L09).</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Future + opinion — sa- / aḥlumu bi-an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أُشَارِكُ غُرْفَتِي مَعَ أُخْتِي الصَّغِيرَةِ.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share my room with my little sister.</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أَوَّلًا اشْتَرَيْتُ فُسْتَانًا، ثُمَّ سَافَرْنَا.</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first I bought a dress, then we travelled.</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سَأَدْرُسُ الفَنَّ فِي الجَامِعَةِ.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study art at university.</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اسْمِي سَلْمَى، وَعُمْرِي خَمْسَ عَشْرَةَ سَنَةً. أَنَا بِرِيطَانِيَّةٌ، وَأَصْلِي مِنَ السُّودَانِ. أَنَا قَصِيرَةٌ، وَشَعْرِي أَسْوَدُ طَوِيلٌ. أَنَا هَادِئَةٌ وَمُجْتَهِدَةٌ، لٰكِنِّي مَرِحَةٌ مَعَ أَصْدِقَائِي. يَقُولُ أَصْدِقَائِي إِنِّي صَبُورَةٌ وَكَرِيمَةٌ.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أَسْكُنُ مَعَ أُسْرَتِي فِي شَقَّةٍ فِي الطَّابِقِ الثَّالِثِ. عِنْدِي أَخَوَانِ وَأُخْتٌ صَغِيرَةٌ. أُشَارِكُ غُرْفَتِي مَعَ أُخْتِي، وَغُرْفَتُنَا وَرْدِيَّةٌ، فِيهَا سَرِيرَانِ وَمَكْتَبٌ أَبْيَضُ. أُحِبُّ القِرَاءَةَ وَالرَّسْمَ، وَأَلْعَبُ كُرَةَ السَّلَّةِ مَرَّتَيْنِ فِي الأُسْبُوعِ.</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الصَّيْفِ المَاضِي سَافَرْتُ مَعَ أُسْرَتِي إِلَى الخُرْطُومِ لِحُضُورِ زِفَافِ خَالَتِي. أَوَّلًا اشْتَرَيْتُ فُسْتَانًا أَخْضَرَ جَمِيلًا، ثُمَّ سَافَرْنَا بِالطَّائِرَةِ. فِي الزِّفَافِ رَقَصْنَا وَأَكَلْنَا كَثِيرًا، وَتَعَرَّفْتُ عَلَى أَقَارِبَ جُدُدٍ. كَانَتْ أَجْمَلَ رِحْلَةٍ فِي 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رَأْيِي، الأُسْرَةُ أَهَمُّ شَيْءٍ فِي الحَيَاةِ. فِي المُسْتَقْبَلِ أُرِيدُ أَنْ أَدْرُسَ الفَنَّ، وَسَأَزُورُ السُّودَانَ مَرَّةً أُخْرَى، لِأَنِّي أُحِبُّ جَدَّتِي كَثِيرًا.</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Salma, 15, British with Sudanese roots; short, long black hair; calm and hard-working but fun with friends, who say I’m patient and generous → a third-floor flat; two brothers and a little sister; I share a pink room with two beds and a white desk; reading, drawing, basketball twice a week → last summer to Khartoum for my aunt’s wedding: first a pretty green dress, then the flight; dancing, eating and new relatives — the best trip of my life → family matters most; I want to study art and will visit Sudan again because I love my grandmother.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أَنَا بِرِيطَانِيَّةٌ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عِنْدِي أَخَوَانِ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أَوَّلًا … ثُمَّ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لَوْ طَلَبَ مِنِّي أَحَدٌ أَنْ أَصِفَ نَفْسِي بِثَلَاثِ كَلِمَاتٍ، لَقُلْتُ: بِنْتٌ، وَأُخْتٌ، وَفَنَّانَةٌ. اسْمِي سَلْمَى، وَأَنَا بِرِيطَانِيَّةٌ مِنْ أَصْلٍ سُودَانِيٍّ، أَعِيشُ مَعَ وَالِدَيَّ وَإِخْوَتِي الثَّلَاثَةِ فِي شَقَّةٍ صَغِيرَةٍ لٰكِنَّهَا مَلِيئَةٌ بِالضَّحِكِ وَرَائِحَةِ القَهْوَةِ السُّودَانِيَّةِ.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أُشَارِكُ غُرْفَتِي مَعَ أُخْتِي الصَّغِيرَةِ، وَقَدْ دَهَنَّاهَا مَعًا بِاللَّوْنِ الوَرْدِيِّ الفَاتِحِ، وَعَلَّقْنَا عَلَى جُدْرَانِهَا لَوْحَاتٍ رَسَمْتُهَا بِنَفْسِي. أَمَّا وَقْتُ فَرَاغِي فَأَقْضِيهِ بَيْنَ الرَّسْمِ وَكُرَةِ السَّلَّةِ، لِأَنَّ الأَوَّلَ يُرِيحُ عَقْلِي، وَالثَّانِيَةَ تُرِيحُ جِسْمِي، وَأَلْعَبُهَا مَعَ فَرِيقِ المَدْرَسَةِ ثَلَاثَ مَرَّاتٍ فِي الأُسْبُوعِ.</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أَجْمَلُ ذِكْرَى عِنْدِي هِيَ زِفَافُ خَالَتِي فِي الخُرْطُومِ فِي الصَّيْفِ المَاضِي. فَقَدْ رَأَيْتُ جَدَّتِي لِأَوَّلِ مَرَّةٍ مُنْذُ خَمْسِ سَنَوَاتٍ، وَعَلَّمَتْنِي أَغَانِيَ قَدِيمَةً، وَرَقَصْنَا حَتَّى الفَجْرِ تَحْتَ النُّجُومِ، وَلَبِسْتُ فُسْتَانًا أَخْضَرَ خَاطَتْهُ لِي بِيَدَيْهَا.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أَنِّي أَعِيشُ بَيْنَ ثَقَافَتَيْنِ، غَيْرَ أَنِّي لَا أَشْعُرُ بِالحَيْرَةِ، بَلْ بِالغِنَى. وَفِي المُسْتَقْبَلِ سَأَدْرُسُ الفُنُونَ، وَأَحْلُمُ بِأَنْ أُقِيمَ مَعْرِضًا يَجْمَعُ أَلْوَانَ الخُرْطُومِ وَسَمَاءَ لَنْدَنَ.</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طَلَبَ … لَقُلْتُ</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وَقْتُ فَرَاغِي فَأَقْضِيهِ</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لِأَوَّلِ مَرَّةٍ مُنْذُ</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 بِالحَيْرَةِ، بَلْ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Q3 (</a:t>
            </a:r>
            <a:pPr algn="l" indent="0" marL="0">
              <a:buNone/>
            </a:pPr>
            <a:r>
              <a:rPr lang="ar-SA" altLang="en-US" sz="2650" b="1" dirty="0">
                <a:solidFill>
                  <a:srgbClr val="1B3B6F"/>
                </a:solidFill>
                <a:latin typeface="Amiri" pitchFamily="2" charset="-78"/>
                <a:cs typeface="Amiri" pitchFamily="2" charset="-78"/>
              </a:rPr>
              <a:t>ب</a:t>
            </a:r>
            <a:pPr algn="l" indent="0" marL="0">
              <a:buNone/>
            </a:pPr>
            <a:r>
              <a:rPr lang="en-US" sz="2050" b="1" dirty="0">
                <a:solidFill>
                  <a:srgbClr val="1B3B6F"/>
                </a:solidFill>
                <a:latin typeface="Cambria" pitchFamily="34" charset="0"/>
                <a:cs typeface="Amiri" pitchFamily="2" charset="-78"/>
              </a:rPr>
              <a:t>) full-mark model: family life is changing</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تَغَيَّرَتِ الحَيَاةُ العَائِلِيَّةُ كَثِيرًا فِي جِيلٍ وَاحِدٍ. فَالعَائِلَةُ الكَبِيرَةُ الَّتِي كَانَتْ تَعِيشُ فِي بَيْتٍ وَاحِدٍ، وَتَأْكُلُ مِنْ صَحْنٍ وَاحِدٍ، أَصْبَحَتْ مُوَزَّعَةً بَيْنَ مُدُنٍ وَبُلْدَانٍ، يَتَوَاصَلُ أَفْرَادُهَا عَبْرَ الهَوَاتِفِ، وَقَدْ لَا يَلْتَقُونَ إِلَّا مَرَّةً فِي السَّنَةِ.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المَاضِي كَانَ الأَجْدَادُ يُرَبُّونَ الأَحْفَادَ، وَكَانَتِ المُنَاسَبَاتُ تَجْمَعُ الجَمِيعَ أَيَّامًا طَوِيلَةً، أَمَّا اليَوْمَ فَيَعْمَلُ الوَالِدَانِ سَاعَاتٍ طَوِيلَةً، وَيَقْضِي الأَبْنَاءُ وَقْتَهُمْ فِي غُرَفِهِمْ أَمَامَ الشَّاشَاتِ، حَتَّى إِنَّهُمْ يُرْسِلُونَ الرَّسَائِلَ لِبَعْضِهِمْ مِنْ غُرْفَةٍ إِلَى غُرْفَةٍ!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لَاحَظْتُ ذٰلِكَ فِي أُسْرَتِي؛ فَعِنْدَمَا انْتَقَلَتْ جَدَّتِي لِتَعِيشَ مَعَنَا فِي السَّنَةِ المَاضِيَةِ، تَغَيَّرَ البَيْتُ كُلُّهُ: أَصْبَحْنَا نَتَعَشَّى مَعًا كُلَّ مَسَاءٍ، وَنَسْمَعُ قِصَصَهَا عَنْ طُفُولَتِهَا، وَتَعَلَّمْتُ مِنْهَا الطَّبْخَ وَالصَّبْرَ، وَأَصْبَحَ أَخِي يَتْرُكُ هَاتِفَهُ لِيَلْعَبَ مَعَهَا الشِّطْرَنْجَ.</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الحَيَاةَ الحَدِيثَةَ أَعْطَتِ الشَّبَابَ حُرِّيَّةً وَفُرَصًا أَكْثَرَ، غَيْرَ أَنَّهَا أَخَذَتْ مِنَّا جُزْءًا مِنْ دِفْءِ العَائِلَةِ. وَلَوْ خَصَّصَتْ كُلُّ أُسْرَةٍ وَقْتًا يَوْمِيًّا تَجْتَمِعُ فِيهِ بِلَا شَاشَاتٍ، لَاسْتَعَادَتْ كَثِيرًا مِمَّا فَقَدَتْهُ.</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الَّتِي كَانَتْ تَعِيشُ</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اليَوْمَ فَيَعْمَلُ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عِنْدَمَا انْتَقَلَتْ … تَغَيَّرَ</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خَصَّصَتْ … لَاسْتَعَادَتْ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using words from each Topic B lesson.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description, past and future sentences, a polite request.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ammā … fa-, a concession and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Topic C · Exam practice continues with the next topic</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المِحْوَرُ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Topic B exam practice complete — well done!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TB-L12 · Writing Workshop — Topic B Mock Exam</dc:title>
  <dc:subject>PptxGenJS Presentation</dc:subject>
  <dc:creator>Al Madina Online School · Arabic Department</dc:creator>
  <cp:lastModifiedBy>Al Madina Online School · Arabic Department</cp:lastModifiedBy>
  <cp:revision>1</cp:revision>
  <dcterms:created xsi:type="dcterms:W3CDTF">2026-10-11T09:25:31Z</dcterms:created>
  <dcterms:modified xsi:type="dcterms:W3CDTF">2026-10-11T09:25:31Z</dcterms:modified>
</cp:coreProperties>
</file>