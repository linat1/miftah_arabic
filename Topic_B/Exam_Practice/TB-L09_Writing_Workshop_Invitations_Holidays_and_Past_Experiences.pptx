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9 (Invitations, Holidays and Past Experiences, TB-L09).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 8 uses the dual lakumā (to you two). A girl writing box 2 may add: سَأَحْضُرُ مَعَ أُسْرَتِي.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اشْكُرِي (thank) · لِمَاذَا (why) · مَاذَا (what) · اقْتَرِحِي (suggest) — two instructions to a girl; bullet 4 uses the DUAL (taḥtafilā = you two celebrate).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lan ansā, clear sequencing with we-forms, a superlative + ʿindamā, direct speech,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kaʾanna, al-qādimīn min, feminine plural past habit (kānat an-nisāʾu yaṭbukhna), ammā … fa-, a ḥāl (wa-huwa …), a relative clause (allatī lan ansāhā), a concession, idhā … fa-sa- and law … la-.
ENGLISH SUMMARY (read aloud or paste in the chat for Core students): Some days stay in memory as if they happened yesterday — like my uncle’s wedding in Amman two years ago: we arrived a week early to a house full of relatives from the Gulf, Germany and America, some I hadn’t seen since childhood → the first days were preparation: the women cooked mansaf; as for us young people, we hung the lights and decorated the square; on henna night we danced dabke till midnight while the elders sang old songs I had never heard → but the moment I’ll never forget came on the wedding day: my grandfather, in his eighties, stood and recited a poem he had written for my uncle; everyone fell silent, then clapped for a long time with tears in their eyes → it is true the trip was tiring and expensive, but it reminded me my roots are there; if I marry one day, I’ll hold my wedding in the same village, “and if my grandfather were still alive, I would ask him for another poem”.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a relative clause with kāna + present, kāna + present vs ammā … fa-, iqtaraḥat an + subjunctive, badalan min, a superlative, a concession and a conditional.
ENGLISH SUMMARY (read aloud or paste in the chat for Core students): Celebrations have changed within one generation: week-long village weddings shared by all the neighbours have become one night in an expensive luxury hall where many guests don’t know the couple → in the past people cooked together, made decorations by hand and sang traditional songs; as for today, we buy everything ready-made and spend much of the party filming it for social media instead of living the moment with those we love → I felt the difference last Eid: Grandma suggested we bake the Eid biscuits ourselves instead of buying them; we grumbled at first, but spent a whole night laughing, kneading and hearing her stories — the best night of the whole Eid → it is true modern life made preparation easier, but it took part of the spirit of our occasions; “if we brought some simple traditions back into our celebrations, we would feel much closer to our families and our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Invitations and Past Experiences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الدَّعَوَاتُ وَالتَّجَارِبُ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RSVP card, write an email declining an invitation politely, and write an extended piece about a memorable occasion or about how celebrations have changed.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TB-L09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declining an invitation.</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we-forms in the past end in -nā (qaḍaynā, iḥtafalnā); lā astaṭīʿu an + verb in -a; lan + verb in -a (lan narjiʿa); sequencing words; mā raʾyuki an + verb in -a.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شُكْرًا جَزِيلًا عَلَى دَعْوَتِكِ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thank you very much for your invitation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آسِفَةٌ جِدًّا، لَا أَسْتَطِيعُ أَنْ آتِيَ، لِأَنَّ …</a:t>
            </a:r>
            <a:endParaRPr lang="ar-SA" sz="27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I’m very sorry, I can’t come, because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أَوَّلًا … ثُمَّ … وَأَخِيرًا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first … then … and finally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Wedding RSVP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الرَّدِّ عَلَى الدَّعْوَةِ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attend?</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سَتَحْضُرُ؟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people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الأَشْخَاصِ</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names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أَسْمَاؤُهُمْ</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لَا تَأْكُلُهُ</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will get there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سَتَصِلُ؟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song you would like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أُغْنِيَةٌ تَطْلُبُهَا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short message to the couple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رِسَالَةٌ قَصِيرَةٌ لِلْعَرُوسَيْنِ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dual (lakumā).</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Wedding RSVP card: model answers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Hind Said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هِنْدُ سَعِيدٍ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with pleasure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بِكُلِّ سُرُورٍ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سَتَحْضُرُ؟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people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أَشْخَاصٍ</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الأَشْخَاصِ</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mother, brother and me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وَأُمِّي وَأَخِي وَأَنَا</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أَسْمَاؤُهُمْ</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fish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السَّمَكُ</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 لَا تَأْكُلُهُ</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car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بِالسَّيَّارَةِ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سَتَصِلُ؟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Jordanian song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أُغْنِيَةٌ تُرَاثِيَّةٌ أُرْدُنِّيَّةٌ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أُغْنِيَةٌ تَطْلُبُهَا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Many congratulations — we wish you both a happy life full of love.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أَلْفُ مَبْرُوكٍ، وَنَتَمَنَّى لَكُمَا حَيَاةً سَعِيدَةً مَلِيئَةً بِالحُبِّ.</a:t>
            </a:r>
            <a:endParaRPr lang="ar-SA" sz="17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رِسَالَةٌ قَصِيرَةٌ لِلْعَرُوسَيْنِ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sorry, I can’t 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اعْتِذَارٍ عَنْ دَعْوَةٍ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friend has invited you to her birthday party, but you cannot go. Write an email in Arabic of about 80–90 words. You must include: • thanks for the invitation • why you cannot come • what you did last week to prepare for your own family event • a suggestion to celebrate together another time.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refusal with a reason.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paragraph with sequencing.</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suggestion (mā raʾyuki an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 عَلَى دَعْوَتِكِ</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thank you for your invitation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آسِفَةٌ، لَا أَسْتَطِيعُ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sorry, I can’t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رَأْيُكِ أَنْ نَلْتَقِيَ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about we meet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invited you to her party but you can’t go: write to her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دَعَتْكِ صَدِيقَتُكِ إِلَى حَفْلَةِ عِيدِ مِيلَادِهَا، لٰكِنَّكِ لَا تَسْتَطِيعِينَ الذَّهَابَ. اكْتُبِي لَهَا (٨٠–٩٠ كَلِمَةً).</a:t>
            </a:r>
            <a:endParaRPr lang="ar-SA" sz="14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her for the invitation</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اشْكُرِيهَا عَلَى الدَّعْوَةِ.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can’t come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لَا تَسْتَطِيعِينَ الحُضُورَ؟</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last week to prepare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الأُسْبُوعَ المَاضِي لِتَسْتَعِدِّي لِمُنَاسَبَةِ أُسْرَتِكِ؟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celebrating together another time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اقْتَرِحِي أَنْ تَحْتَفِلَا مَعًا فِي وَقْتٍ آخَرَ.</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Dear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عَزِيزَتِي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very much for inviting me to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عَلَى دَعْوَتِكِ إِلَى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sorry, I can’t come, because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آسِفَةٌ، لَا أَسْتَطِيعُ أَنْ آتِيَ، لِأَنَّ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 first I …, then I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أَوَّلًا ______ ، ثُمَّ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about we meet on … at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أَنْ نَلْتَقِيَ يَوْمَ ______ فِي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love,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مَحَبَّتِي،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عَزِيزَتِي سَلْمَى،</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شُكْرًا جَزِيلًا عَلَى دَعْوَتِكِ إِلَى حَفْلَةِ عِيدِ مِيلَادِكِ يَوْمَ السَّبْتِ. أَنَا آسِفَةٌ جِدًّا، لَا أَسْتَطِيعُ أَنْ آتِيَ، لِأَنَّنَا سَنُسَافِرُ إِلَى لِيدْزَ لِزِفَافِ ابْنِ عَمِّي. فِي الأُسْبُوعِ المَاضِي اشْتَرَيْتُ فُسْتَانًا جَدِيدًا لِلزِّفَافِ، وَهُوَ أَخْضَرُ وَجَمِيلٌ. أَرْسَلْتُ لَكِ هَدِيَّةً صَغِيرَةً مَعَ أُخْتِي. مَا رَأْيُكِ أَنْ نَلْتَقِيَ فِي المَقْهَى يَوْمَ الثُّلَاثَاءِ؟ سَأَدْعُوكِ إِلَى كَعْكَةٍ كَبِيرَةٍ!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مَحَبَّتِي،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هِنْدُ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Salma, how are you? Thank you very much for inviting me to your birthday party on Saturday. I’m very sorry, I can’t come, because we are travelling to Leeds for my cousin’s wedding. Last week I bought a new dress for the wedding — it’s green and pretty. I’ve sent you a small present with my sister. How about we meet at the café on Tuesday? I’ll treat you to a big cake! With love, Hind.”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شُكْرًا جَزِيلًا عَلَى دَعْوَتِكِ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أَسْتَطِيعُ أَنْ آتِيَ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اشْتَرَيْتُ فُسْتَانًا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رَأْيُكِ أَنْ نَلْتَقِيَ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سَلْمَى،</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فَرِحْتُ كَثِيرًا بِدَعْوَتِكِ إِلَى حَفْلَةِ عِيدِ مِيلَادِكِ السَّادِسَ عَشَرَ، وَأَشْكُرُكِ عَلَيْهَا مِنْ قَلْبِي. لٰكِنِّي، لِلْأَسَفِ، لَا أَسْتَطِيعُ أَنْ أَحْضُرَهَا، لِأَنَّ أُسْرَتِي سَتُسَافِرُ يَوْمَ الجُمُعَةِ إِلَى لِيدْزَ لِحُضُورِ زِفَافِ ابْنِ عَمِّي، وَلَنْ نَرْجِعَ قَبْلَ يَوْمِ الإِثْنَيْنِ. فِي الأُسْبُوعِ المَاضِي قَضَيْنَا أَيَّامًا فِي التَّحْضِيرِ: أَوَّلًا اشْتَرَيْنَا المَلَابِسَ، ثُمَّ سَاعَدْتُ أُمِّي فِي تَغْلِيفِ الهَدَايَا. أَرْسَلْتُ لَكِ هَدِيَّةً صَغِيرَةً مَعَ أُخْتِي، وَأَتَمَنَّى أَنْ تُعْجِبَكِ. وَإِذَا كُنْتِ مُتَفَرِّغَةً يَوْمَ الثُّلَاثَاءِ، فَمَا رَأْيُكِ أَنْ نَحْتَفِلَ مَعًا فِي مَقْهَانَا المُفَضَّلِ؟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أَطْيَبِ التَّمَنِّيَاتِ،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هِنْدُ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Salma, greetings. I was delighted with your invitation to your sixteenth birthday party, and thank you from my heart. But unfortunately I can’t attend, because my family is travelling to Leeds on Friday for my cousin’s wedding, and we won’t be back before Monday. Last week we spent days preparing: first we bought the clothes, then I helped my mum wrap the presents. I’ve sent you a small present with my sister and hope you like it. And if you are free on Tuesday, how about we celebrate together in our favourite café? With best wishes, Hind.”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أَشْكُرُكِ عَلَيْهَا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وَلَنْ نَرْجِعَ قَبْلَ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كُنْتِ … فَمَا رَأْيُكِ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occasion I will never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مُنَاسَبَةٌ لَا أَنْسَاهَا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when and where · what you did (in order) · the best moment · why it matters;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مَا المُنَاسَبَةُ؟ وَمَتَى وَأَيْنَ؟ · مَاذَا فَعَلْتُمْ؟ (بِالتَّرْتِيبِ) · أَجْمَلُ لَحْظَةٍ · لِمَاذَا هِيَ مُهِمَّةٌ؟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celebrations, then and now</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احْتِفَالَاتُنَا بَيْنَ الأَمْسِ وَاليَوْمِ</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celebrations have changed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تَغَيَّرَتِ الاحْتِفَالَاتُ؟ · المَاضِي وَالحَاضِرُ · تَجْرِبَةٌ شَخْصِيَّةٌ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Set the scene — what, when, where, who; how you travelled (past).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day in order — awwalan, thumma, baʿda dhālika, akhīran; we-forms in -nā.</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best moment — ajmalu laḥẓa kānat ʿindamā …; feelings.</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Why it matters + future — li-annahā …, sa- …; Stretch: ṣaḥīḥun anna … ghayra anna, idhā … fa-sa-,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المُنَاسَبَاتُ تَجْمَعُ العَائِلَةَ.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occasions bring the family together.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أَوَّلًا صَلَّيْنَا، ثُمَّ زُرْنَا الأَقَارِبَ.</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first we prayed, then we visited relatives.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سَأَدْعُو كُلَّ أُسْرَتِي.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invite my whole family.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لَنْ أَنْسَى يَوْمَ تَخَرُّجِ أُخْتِي مِنَ الجَامِعَةِ فِي الصَّيْفِ المَاضِي. كَانَ الحَفْلُ فِي لَنْدَنَ، وَذَهَبْنَا بِالقِطَارِ فِي الصَّبَاحِ البَاكِرِ. لَبِسْتُ مَلَابِسَ جَدِيدَةً، وَكُنْتُ سَعِيدًا جِدًّا. اسْتَغْرَقَتِ الرِّحْلَةُ سَاعَتَيْنِ، وَكَانَ القِطَارُ مُزْدَحِمًا.</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أَوَّلًا دَخَلْنَا قَاعَةً كَبِيرَةً جِدًّا، وَجَلَسْنَا مَعَ عَائِلَاتٍ كَثِيرَةٍ. ثُمَّ سَمِعْنَا اسْمَ أُخْتِي، فَصَفَّقْنَا كَثِيرًا. بَعْدَ ذٰلِكَ أَخَذْنَا صُوَرًا أَمَامَ الجَامِعَةِ. أَخِيرًا تَعَشَّيْنَا فِي مَطْعَمٍ يَمَنِيٍّ، وَأَكَلْنَا المَنْدِيَ، ثُمَّ رَجَعْنَا إِلَى البَيْتِ مُتْعَبِينَ لٰكِنْ سُعَدَاءَ.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كَانَتْ أَجْمَلُ لَحْظَةٍ عِنْدَمَا بَكَتْ أُمِّي مِنَ الفَرَحِ. قَالَتْ: «أَنَا فَخُورَةٌ بِكِ». أَعْطَى أَبِي أُخْتِي سَاعَةً ذَهَبِيَّةً هَدِيَّةً، وَأَعْطَيْتُهَا أَنَا بِطَاقَةً كَتَبْتُ فِيهَا كَلِمَاتٍ جَمِيلَةً.</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رَأْيِي، هٰذِهِ المُنَاسَبَاتُ مُهِمَّةٌ، لِأَنَّهَا تَجْمَعُ العَائِلَةَ. فِي المُسْتَقْبَلِ سَأَدْرُسُ فِي الجَامِعَةِ أَيْضًا، وَسَأَدْعُو كُلَّ أُسْرَتِي إِلَى حَفْلِ تَخَرُّجِي.</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sister’s university graduation last summer in London: early train, new clothes, very happy; two hours on a crowded train → first a huge hall with many families; then we heard her name and clapped a lot; after that photos outside the university; finally dinner in a Yemeni restaurant (mandi), home tired but happy → the best moment: Mum crying with joy — “I’m proud of you”; Dad gave my sister a gold watch, and I gave her a card with kind words → these occasions matter because they bring the family together; I’ll go to university too and invite my whole family to my graduation.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 … بَعْدَ ذٰلِكَ … أَخِيرًا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لَحْظَةٍ … عِنْدَمَا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سَأَدْعُو</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هُنَاكَ أَيَّامٌ تَبْقَى فِي الذَّاكِرَةِ كَأَنَّهَا حَدَثَتْ أَمْسِ، وَمِنْهَا يَوْمُ زِفَافِ خَالِي فِي عَمَّانَ قَبْلَ سَنَتَيْنِ. سَافَرْنَا قَبْلَ الزِّفَافِ بِأُسْبُوعٍ، فَوَجَدْنَا البَيْتَ مَلِيئًا بِالأَقَارِبِ القَادِمِينَ مِنْ كُلِّ مَكَانٍ: مِنَ الخَلِيجِ وَأَلْمَانْيَا وَأَمْرِيكَا، وَبَعْضُهُمْ لَمْ أَرَهُمْ مُنْذُ طُفُولَتِي.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قَضَيْنَا الأَيَّامَ الأُولَى فِي التَّحْضِيرِ؛ فَكَانَتِ النِّسَاءُ يَطْبُخْنَ المَنْسَفَ، أَمَّا نَحْنُ الشَّبَابَ فَعَلَّقْنَا الأَضْوَاءَ وَزَيَّنَّا السَّاحَةَ. وَفِي لَيْلَةِ الحِنَّاءِ رَقَصْنَا الدَّبْكَةَ حَتَّى مُنْتَصَفِ اللَّيْلِ، بَيْنَمَا كَانَ الكِبَارُ يُغَنُّونَ أَغَانِيَ قَدِيمَةً لَمْ أَسْمَعْهَا مِنْ قَبْلُ.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لٰكِنَّ اللَّحْظَةَ الَّتِي لَنْ أَنْسَاهَا حَدَثَتْ يَوْمَ الزِّفَافِ نَفْسِهِ؛ فَقَدْ وَقَفَ جَدِّي، وَهُوَ فِي الثَّمَانِينَ مِنْ عُمْرِهِ، وَأَلْقَى قَصِيدَةً كَتَبَهَا لِخَالِي، فَسَكَتَ الجَمِيعُ، ثُمَّ صَفَّقُوا طَوِيلًا وَالدُّمُوعُ فِي عُيُونِهِمْ.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الرِّحْلَةَ كَانَتْ مُتْعِبَةً وَمُكْلِفَةً، غَيْرَ أَنَّهَا ذَكَّرَتْنِي بِأَنَّ جُذُورِي هُنَاكَ. وَإِذَا تَزَوَّجْتُ فِي يَوْمٍ مِنَ الأَيَّامِ، فَسَأُقِيمُ زِفَافِي فِي القَرْيَةِ نَفْسِهَا، وَلَوْ كَانَ جَدِّي مَا زَالَ حَيًّا، لَطَلَبْتُ مِنْهُ قَصِيدَةً أُخْرَى.</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كَأَنَّهَا حَدَثَتْ أَمْسِ</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نَحْنُ الشَّبَابَ فَعَلَّقْنَا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وَهُوَ فِي الثَّمَانِينَ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كَانَ … لَطَلَبْتُ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Q3 (</a:t>
            </a:r>
            <a:pPr algn="l" indent="0" marL="0">
              <a:buNone/>
            </a:pPr>
            <a:r>
              <a:rPr lang="ar-SA" altLang="en-US" sz="2450" b="1" dirty="0">
                <a:solidFill>
                  <a:srgbClr val="1B3B6F"/>
                </a:solidFill>
                <a:latin typeface="Amiri" pitchFamily="2" charset="-78"/>
                <a:ea typeface="Amiri" pitchFamily="2" charset="-78"/>
                <a:cs typeface="Amiri" pitchFamily="2" charset="-78"/>
              </a:rPr>
              <a:t>ب</a:t>
            </a:r>
            <a:pPr algn="l" indent="0" marL="0">
              <a:buNone/>
            </a:pPr>
            <a:r>
              <a:rPr lang="en-US" sz="1900" b="1" dirty="0">
                <a:solidFill>
                  <a:srgbClr val="1B3B6F"/>
                </a:solidFill>
                <a:latin typeface="Cambria" pitchFamily="34" charset="0"/>
                <a:cs typeface="Amiri" pitchFamily="2" charset="-78"/>
              </a:rPr>
              <a:t>) full-mark model: celebrations then and now</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تَغَيَّرَتْ طَرِيقَةُ احْتِفَالِنَا بِالمُنَاسَبَاتِ كَثِيرًا خِلَالَ جِيلٍ وَاحِدٍ. فَالأَعْرَاسُ الَّتِي كَانَتْ تَسْتَمِرُّ أُسْبُوعًا فِي القَرْيَةِ، وَيُشَارِكُ فِيهَا الجِيرَانُ كُلُّهُمْ، أَصْبَحَتْ لَيْلَةً وَاحِدَةً فِي قَاعَةٍ فَاخِرَةٍ مُكْلِفَةٍ، وَكَثِيرٌ مِنَ الضُّيُوفِ لَا يَعْرِفُونَ العَرُوسَيْنِ.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النَّاسُ يَطْبُخُونَ مَعًا، وَيَصْنَعُونَ الزِّينَةَ بِأَيْدِيهِمْ، وَيُغَنُّونَ أَغَانِيَ تَقْلِيدِيَّةً، أَمَّا اليَوْمَ فَنَشْتَرِي كُلَّ شَيْءٍ جَاهِزًا، وَنَقْضِي جُزْءًا كَبِيرًا مِنَ الحَفْلَةِ فِي تَصْوِيرِهَا لِوَسَائِلِ التَّوَاصُلِ، بَدَلًا مِنْ أَنْ نَعِيشَ اللَّحْظَةَ مَعَ مَنْ نُحِبُّ.</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شَعَرْتُ بِهٰذَا الفَرْقِ فِي العِيدِ المَاضِي؛ فَقَدِ اقْتَرَحَتْ جَدَّتِي أَنْ نَخْبِزَ كَعْكَ العِيدِ بِأَنْفُسِنَا بَدَلًا مِنْ شِرَائِهِ. فِي البِدَايَةِ تَذَمَّرْنَا، لٰكِنَّنَا قَضَيْنَا لَيْلَةً كَامِلَةً نَضْحَكُ وَنَعْجِنُ وَنَسْمَعُ قِصَصَهَا، فَكَانَتْ أَجْمَلَ لَيْلَةٍ فِي العِيدِ كُلِّهِ.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الحَيَاةَ الحَدِيثَةَ جَعَلَتِ التَّحْضِيرَ أَسْهَلَ، غَيْرَ أَنَّهَا أَخَذَتْ مِنَّا جُزْءًا مِنْ رُوحِ المُنَاسَبَاتِ. وَلَوْ أَعَدْنَا بَعْضَ التَّقَالِيدِ البَسِيطَةِ إِلَى احْتِفَالَاتِنَا، لَشَعَرْنَا بِقُرْبٍ أَكْبَرَ مِنْ عَائِلَاتِنَا وَمِنْ تُرَاثِنَا.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كَانَتْ تَسْتَمِرُّ</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فَنَشْتَرِي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شِرَائِهِ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أَعَدْنَا … لَشَعَرْنَا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 polite reply.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polite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lā astaṭīʿu an … li-anna … and a suggestion.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sequenced story (awwalan … thumma … akhīran).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ammā … fa-,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TB-L10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TB-L09 · Writing Workshop — Invitations and Past Experiences</dc:title>
  <dc:subject>PptxGenJS Presentation</dc:subject>
  <dc:creator>Al Madina Online School · Arabic Department</dc:creator>
  <cp:lastModifiedBy>Al Madina Online School · Arabic Department</cp:lastModifiedBy>
  <cp:revision>1</cp:revision>
  <dcterms:created xsi:type="dcterms:W3CDTF">2026-10-11T09:14:58Z</dcterms:created>
  <dcterms:modified xsi:type="dcterms:W3CDTF">2026-10-11T09:14:58Z</dcterms:modified>
</cp:coreProperties>
</file>