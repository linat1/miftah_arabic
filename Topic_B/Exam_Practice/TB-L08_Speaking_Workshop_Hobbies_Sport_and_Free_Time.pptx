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Advanced Topic B, Lesson 8 (Hobbies, Sport and Free Time, TB-L08), using that lesson’s language (present tense; verbal nouns (al-qirāʾa, as-sibāḥa); frequency; reasons).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a verb OR a verbal noun: أَسْبَحُ (I swim) · أُحِبُّ السِّبَاحَةَ (I like swimming). After أَسْتَطِيعُ أَنْ the verb ends in -a: أَسْتَطِيعُ أَنْ أَعْزِفَ.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frequency: دَائِمًا · غَالِبًا · أَحْيَانًا · نَادِرًا · لَا … أَبَدًا. Numbers of times: مَرَّةً · مَرَّتَيْنِ · ثَلَاثَ مَرَّاتٍ. نَادٍ → النَّادِي (al- restores the yāʾ).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A (Core) — joining a sports centre.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تُرِيدِينَ أَنْ تُمَارِسِي · تَسْتَطِيعِينَ أَنْ تَسْبَحِي · يُنَاسِبُكِ · تُحِبِّينَ.
Core: an + subjunctive (an umārisa, an asbaḥa), frequency (thalātha marrāt), days, a reason with li-annahā (sibāḥa is feminine).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B (Core+) — a new friend.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تَفْعَلِينَ · فَرَاغِكِ · تَقْرَئِينَ · تَأْتِينَ · فَعَلْتِ.
Task 3: the CANDIDATE asks — the pronoun -hu for ash-shiṭranj (talʿabuhu). Task 4: lā astaṭīʿu an + subjunctive.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C (Develop) — too busy?.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تَبْدِينَ مُتْعَبَةً · مَا بِكِ · تَدْرُسِينَ · لَكِ · تَتْرُكِي · كُنْتِ صَغِيرَةً.
Develop: days + activities (iḍāfa: tadrību kurati l-qadam), lākinnī, two reasons, a question with tanṣaḥunī an, kuntu + present.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D (Stretch) — a debate.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عِنْدَكِ · تَقْضِينَهُ.
Stretch: an example with mathalan, laysat … fa-baʿḍuhā …, kānū + present vs ammā … fa-, a concession and law … la-.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Core. Examiner asks the questions in order and may add “لِمَاذَا؟ / هَلْ يُمْكِنُ أَنْ تَشْرَحَ أَكْثَرَ؟” to push for more. Candidate aims for one full sentence per question.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Develop. Examiner asks the questions in order and may add “لِمَاذَا؟ / هَلْ يُمْكِنُ أَنْ تَشْرَحَ أَكْثَرَ؟” to push for more. Candidate aims for two or three sentences, with a reason or a past detail.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Stretch. Examiner asks the questions in order and may add “لِمَاذَا؟ / هَلْ يُمْكِنُ أَنْ تَشْرَحَ أَكْثَرَ؟” to push for more. Candidate aims for a developed answer: opinion, comparison, concession and a conditional.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B · EXAM PRACTICE  ·  TB-L08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TB-L08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Hobbies, Sport and Free Time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التَّحَدُّثِ — الهِوَايَاتُ وَوَقْتُ الفَرَاغِ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Paper 3 practice in breakout rooms: talk about what you do in your free time, how often and why — with verbal nouns (uḥibbu s-sibāḥa), frequency words, ability (astaṭīʿu an …) and the value of leisure.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TB-L08 · Advanced Topic B · Personal and Social Life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B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B › TB-L08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FREE-TIME VERBS (I · HE · SHE · THEY)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What do you do in your free time?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فِي وَقْتِ فَرَاغِكَ؟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we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أَلْعَبُ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play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al-ʿa-bu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we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نَلْعَبُ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تَلْعَبُ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يَلْعَبُ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they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أُمَارِسُ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do (a sport / hobby)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u-mā-ri-su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يُمَارِسُونَ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5614416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تُمَارِسُ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يُمَارِسُ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60120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60120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ability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أَسْتَطِيعُ أَنْ …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can … (+ verb in -a)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as-ta-ṭī-ʿu an …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289864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95351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not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294436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أَسْتَطِيعُ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174650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180136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179222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تَسْتَطِيعُ</a:t>
            </a:r>
            <a:endParaRPr lang="ar-SA" sz="1500" dirty="0"/>
          </a:p>
        </p:txBody>
      </p:sp>
      <p:sp>
        <p:nvSpPr>
          <p:cNvPr id="66" name="Shape 63"/>
          <p:cNvSpPr/>
          <p:nvPr/>
        </p:nvSpPr>
        <p:spPr>
          <a:xfrm>
            <a:off x="59436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64922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68" name="Text 65"/>
          <p:cNvSpPr txBox="1"/>
          <p:nvPr/>
        </p:nvSpPr>
        <p:spPr>
          <a:xfrm>
            <a:off x="64008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يَسْتَطِيعُ</a:t>
            </a:r>
            <a:endParaRPr lang="ar-SA" sz="1500" dirty="0"/>
          </a:p>
        </p:txBody>
      </p:sp>
      <p:sp>
        <p:nvSpPr>
          <p:cNvPr id="69" name="Shape 66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8604504" y="4279392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604504" y="4279392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we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6" name="Text 73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أَقْضِي وَقْتِي فِي …</a:t>
            </a:r>
            <a:endParaRPr lang="ar-SA" sz="3000" dirty="0"/>
          </a:p>
        </p:txBody>
      </p:sp>
      <p:sp>
        <p:nvSpPr>
          <p:cNvPr id="77" name="Text 74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spend my time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aq-ḍī waq-tī fī …</a:t>
            </a:r>
            <a:endParaRPr lang="en-US" sz="1350" dirty="0"/>
          </a:p>
        </p:txBody>
      </p:sp>
      <p:sp>
        <p:nvSpPr>
          <p:cNvPr id="78" name="Shape 75"/>
          <p:cNvSpPr/>
          <p:nvPr/>
        </p:nvSpPr>
        <p:spPr>
          <a:xfrm>
            <a:off x="1054303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1059789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we</a:t>
            </a:r>
            <a:endParaRPr lang="en-US" sz="750" dirty="0"/>
          </a:p>
        </p:txBody>
      </p:sp>
      <p:sp>
        <p:nvSpPr>
          <p:cNvPr id="80" name="Text 77"/>
          <p:cNvSpPr txBox="1"/>
          <p:nvPr/>
        </p:nvSpPr>
        <p:spPr>
          <a:xfrm>
            <a:off x="10588752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نَقْضِي</a:t>
            </a:r>
            <a:endParaRPr lang="ar-SA" sz="1500" dirty="0"/>
          </a:p>
        </p:txBody>
      </p:sp>
      <p:sp>
        <p:nvSpPr>
          <p:cNvPr id="81" name="Shape 78"/>
          <p:cNvSpPr/>
          <p:nvPr/>
        </p:nvSpPr>
        <p:spPr>
          <a:xfrm>
            <a:off x="939088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944575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83" name="Text 80"/>
          <p:cNvSpPr txBox="1"/>
          <p:nvPr/>
        </p:nvSpPr>
        <p:spPr>
          <a:xfrm>
            <a:off x="943660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تَقْضِي</a:t>
            </a:r>
            <a:endParaRPr lang="ar-SA" sz="1500" dirty="0"/>
          </a:p>
        </p:txBody>
      </p:sp>
      <p:sp>
        <p:nvSpPr>
          <p:cNvPr id="84" name="Shape 81"/>
          <p:cNvSpPr/>
          <p:nvPr/>
        </p:nvSpPr>
        <p:spPr>
          <a:xfrm>
            <a:off x="823874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829360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86" name="Text 83"/>
          <p:cNvSpPr txBox="1"/>
          <p:nvPr/>
        </p:nvSpPr>
        <p:spPr>
          <a:xfrm>
            <a:off x="828446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يَقْضِي</a:t>
            </a:r>
            <a:endParaRPr lang="ar-SA" sz="1500" dirty="0"/>
          </a:p>
        </p:txBody>
      </p:sp>
      <p:sp>
        <p:nvSpPr>
          <p:cNvPr id="87" name="Shape 84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8" name="Shape 85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9" name="Text 86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4782312" y="4279392"/>
            <a:ext cx="102047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4782312" y="4279392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verbal nouns</a:t>
            </a:r>
            <a:endParaRPr lang="en-US" sz="800" dirty="0"/>
          </a:p>
        </p:txBody>
      </p:sp>
      <p:sp>
        <p:nvSpPr>
          <p:cNvPr id="92" name="Shape 89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3" name="Text 90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4" name="Text 91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القِرَاءَةُ · الرَّسْمُ</a:t>
            </a:r>
            <a:endParaRPr lang="ar-SA" sz="3000" dirty="0"/>
          </a:p>
        </p:txBody>
      </p:sp>
      <p:sp>
        <p:nvSpPr>
          <p:cNvPr id="95" name="Text 92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reading · drawing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al-qi-rā-ʾa-tu · ar-ras-mu</a:t>
            </a:r>
            <a:endParaRPr lang="en-US" sz="1350" dirty="0"/>
          </a:p>
        </p:txBody>
      </p:sp>
      <p:sp>
        <p:nvSpPr>
          <p:cNvPr id="96" name="Shape 93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draw</a:t>
            </a:r>
            <a:endParaRPr lang="en-US" sz="700" dirty="0"/>
          </a:p>
        </p:txBody>
      </p:sp>
      <p:sp>
        <p:nvSpPr>
          <p:cNvPr id="98" name="Text 95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أَرْسُمُ</a:t>
            </a:r>
            <a:endParaRPr lang="ar-SA" sz="1350" dirty="0"/>
          </a:p>
        </p:txBody>
      </p:sp>
      <p:sp>
        <p:nvSpPr>
          <p:cNvPr id="99" name="Shape 96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read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4462272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أَقْرَأُ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03" name="Shape 100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04" name="Text 101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105" name="Shape 102"/>
          <p:cNvSpPr/>
          <p:nvPr/>
        </p:nvSpPr>
        <p:spPr>
          <a:xfrm>
            <a:off x="960120" y="4279392"/>
            <a:ext cx="102047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960120" y="4279392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verbal nouns</a:t>
            </a:r>
            <a:endParaRPr lang="en-US" sz="800" dirty="0"/>
          </a:p>
        </p:txBody>
      </p:sp>
      <p:sp>
        <p:nvSpPr>
          <p:cNvPr id="107" name="Shape 104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8" name="Text 105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9" name="Text 106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السِّبَاحَةُ · الطَّبْخُ</a:t>
            </a:r>
            <a:endParaRPr lang="ar-SA" sz="3000" dirty="0"/>
          </a:p>
        </p:txBody>
      </p:sp>
      <p:sp>
        <p:nvSpPr>
          <p:cNvPr id="110" name="Text 107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swimming · cooking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as-si-bā-ḥa-tu · aṭ-ṭab-khu</a:t>
            </a:r>
            <a:endParaRPr lang="en-US" sz="1350" dirty="0"/>
          </a:p>
        </p:txBody>
      </p:sp>
      <p:sp>
        <p:nvSpPr>
          <p:cNvPr id="111" name="Shape 108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2" name="Text 109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cook</a:t>
            </a:r>
            <a:endParaRPr lang="en-US" sz="700" dirty="0"/>
          </a:p>
        </p:txBody>
      </p:sp>
      <p:sp>
        <p:nvSpPr>
          <p:cNvPr id="113" name="Text 110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أَطْبُخُ</a:t>
            </a:r>
            <a:endParaRPr lang="ar-SA" sz="1350" dirty="0"/>
          </a:p>
        </p:txBody>
      </p:sp>
      <p:sp>
        <p:nvSpPr>
          <p:cNvPr id="114" name="Shape 111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5" name="Text 112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swim</a:t>
            </a:r>
            <a:endParaRPr lang="en-US" sz="700" dirty="0"/>
          </a:p>
        </p:txBody>
      </p:sp>
      <p:sp>
        <p:nvSpPr>
          <p:cNvPr id="116" name="Text 113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أَسْبَحُ</a:t>
            </a:r>
            <a:endParaRPr lang="ar-SA" sz="1350" dirty="0"/>
          </a:p>
        </p:txBody>
      </p:sp>
      <p:sp>
        <p:nvSpPr>
          <p:cNvPr id="117" name="Text 114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HOBBIES, HOW OFTEN, WHY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often — and why?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مَرَّةً؟ وَلِمَاذَا؟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 · my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هِوَايَةٌ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hobby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hi-wā-ya-tun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هِوَايَتِي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هِوَايَاتٌ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هِوَايَةٌ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· pl.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نَادٍ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club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nā-din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6190488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أَنْدِيَةٌ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4462272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النَّادِي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960120" y="1938528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960120" y="1938528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frequency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5" name="Text 52"/>
          <p:cNvSpPr txBox="1"/>
          <p:nvPr/>
        </p:nvSpPr>
        <p:spPr>
          <a:xfrm>
            <a:off x="566928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دَائِمًا · غَالِبًا · نَادِرًا</a:t>
            </a:r>
            <a:endParaRPr lang="ar-SA" sz="3000" dirty="0"/>
          </a:p>
        </p:txBody>
      </p:sp>
      <p:sp>
        <p:nvSpPr>
          <p:cNvPr id="56" name="Text 53"/>
          <p:cNvSpPr txBox="1"/>
          <p:nvPr/>
        </p:nvSpPr>
        <p:spPr>
          <a:xfrm>
            <a:off x="594360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always · often · rarely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dā-ʾi-man · ghā-li-ban · nā-di-ran</a:t>
            </a:r>
            <a:endParaRPr lang="en-US" sz="1350" dirty="0"/>
          </a:p>
        </p:txBody>
      </p:sp>
      <p:sp>
        <p:nvSpPr>
          <p:cNvPr id="57" name="Shape 54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8" name="Shape 55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8604504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8604504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frequency</a:t>
            </a:r>
            <a:endParaRPr lang="en-US" sz="800" dirty="0"/>
          </a:p>
        </p:txBody>
      </p:sp>
      <p:sp>
        <p:nvSpPr>
          <p:cNvPr id="62" name="Shape 59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4" name="Text 61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مَرَّةً · مَرَّتَيْنِ فِي الأُسْبُوعِ</a:t>
            </a:r>
            <a:endParaRPr lang="ar-SA" sz="3000" dirty="0"/>
          </a:p>
        </p:txBody>
      </p:sp>
      <p:sp>
        <p:nvSpPr>
          <p:cNvPr id="65" name="Text 62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once · twice a week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mar-ra-tan · mar-ra-tay-ni fī al-us-bū-ʿi</a:t>
            </a:r>
            <a:endParaRPr lang="en-US" sz="1350" dirty="0"/>
          </a:p>
        </p:txBody>
      </p:sp>
      <p:sp>
        <p:nvSpPr>
          <p:cNvPr id="66" name="Shape 63"/>
          <p:cNvSpPr/>
          <p:nvPr/>
        </p:nvSpPr>
        <p:spPr>
          <a:xfrm>
            <a:off x="8238744" y="5779008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8293608" y="5788152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3×</a:t>
            </a:r>
            <a:endParaRPr lang="en-US" sz="750" dirty="0"/>
          </a:p>
        </p:txBody>
      </p:sp>
      <p:sp>
        <p:nvSpPr>
          <p:cNvPr id="68" name="Text 65"/>
          <p:cNvSpPr txBox="1"/>
          <p:nvPr/>
        </p:nvSpPr>
        <p:spPr>
          <a:xfrm>
            <a:off x="8284464" y="582472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ثَلَاثَ مَرَّاتٍ</a:t>
            </a:r>
            <a:endParaRPr lang="ar-SA" sz="1500" dirty="0"/>
          </a:p>
        </p:txBody>
      </p:sp>
      <p:sp>
        <p:nvSpPr>
          <p:cNvPr id="69" name="Shape 66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4782312" y="4279392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4782312" y="4279392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more fun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6" name="Text 73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مُمْتِعٌ · مُفِيدٌ</a:t>
            </a:r>
            <a:endParaRPr lang="ar-SA" sz="3000" dirty="0"/>
          </a:p>
        </p:txBody>
      </p:sp>
      <p:sp>
        <p:nvSpPr>
          <p:cNvPr id="77" name="Text 74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fun · useful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mum-ti-ʿun · mu-fī-dun</a:t>
            </a:r>
            <a:endParaRPr lang="en-US" sz="1350" dirty="0"/>
          </a:p>
        </p:txBody>
      </p:sp>
      <p:sp>
        <p:nvSpPr>
          <p:cNvPr id="78" name="Shape 75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more fun</a:t>
            </a:r>
            <a:endParaRPr lang="en-US" sz="700" dirty="0"/>
          </a:p>
        </p:txBody>
      </p:sp>
      <p:sp>
        <p:nvSpPr>
          <p:cNvPr id="80" name="Text 77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أَمْتَعُ</a:t>
            </a:r>
            <a:endParaRPr lang="ar-SA" sz="1350" dirty="0"/>
          </a:p>
        </p:txBody>
      </p:sp>
      <p:sp>
        <p:nvSpPr>
          <p:cNvPr id="81" name="Shape 78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83" name="Text 80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مُمْتِعَةٌ · مُفِيدَةٌ</a:t>
            </a:r>
            <a:endParaRPr lang="ar-SA" sz="1500" dirty="0"/>
          </a:p>
        </p:txBody>
      </p:sp>
      <p:sp>
        <p:nvSpPr>
          <p:cNvPr id="84" name="Shape 81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5" name="Shape 82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87" name="Shape 84"/>
          <p:cNvSpPr/>
          <p:nvPr/>
        </p:nvSpPr>
        <p:spPr>
          <a:xfrm>
            <a:off x="960120" y="4279392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960120" y="4279392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 · my</a:t>
            </a:r>
            <a:endParaRPr lang="en-US" sz="800" dirty="0"/>
          </a:p>
        </p:txBody>
      </p:sp>
      <p:sp>
        <p:nvSpPr>
          <p:cNvPr id="89" name="Shape 86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1" name="Text 88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فَرِيقٌ</a:t>
            </a:r>
            <a:endParaRPr lang="ar-SA" sz="3000" dirty="0"/>
          </a:p>
        </p:txBody>
      </p:sp>
      <p:sp>
        <p:nvSpPr>
          <p:cNvPr id="92" name="Text 89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team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fa-rī-qun</a:t>
            </a:r>
            <a:endParaRPr lang="en-US" sz="1350" dirty="0"/>
          </a:p>
        </p:txBody>
      </p:sp>
      <p:sp>
        <p:nvSpPr>
          <p:cNvPr id="93" name="Shape 90"/>
          <p:cNvSpPr/>
          <p:nvPr/>
        </p:nvSpPr>
        <p:spPr>
          <a:xfrm>
            <a:off x="289864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295351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</a:t>
            </a:r>
            <a:endParaRPr lang="en-US" sz="750" dirty="0"/>
          </a:p>
        </p:txBody>
      </p:sp>
      <p:sp>
        <p:nvSpPr>
          <p:cNvPr id="95" name="Text 92"/>
          <p:cNvSpPr txBox="1"/>
          <p:nvPr/>
        </p:nvSpPr>
        <p:spPr>
          <a:xfrm>
            <a:off x="294436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فَرِيقِي</a:t>
            </a:r>
            <a:endParaRPr lang="ar-SA" sz="1500" dirty="0"/>
          </a:p>
        </p:txBody>
      </p:sp>
      <p:sp>
        <p:nvSpPr>
          <p:cNvPr id="96" name="Shape 93"/>
          <p:cNvSpPr/>
          <p:nvPr/>
        </p:nvSpPr>
        <p:spPr>
          <a:xfrm>
            <a:off x="174650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180136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98" name="Text 95"/>
          <p:cNvSpPr txBox="1"/>
          <p:nvPr/>
        </p:nvSpPr>
        <p:spPr>
          <a:xfrm>
            <a:off x="179222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فِرَقٌ</a:t>
            </a:r>
            <a:endParaRPr lang="ar-SA" sz="1500" dirty="0"/>
          </a:p>
        </p:txBody>
      </p:sp>
      <p:sp>
        <p:nvSpPr>
          <p:cNvPr id="99" name="Shape 96"/>
          <p:cNvSpPr/>
          <p:nvPr/>
        </p:nvSpPr>
        <p:spPr>
          <a:xfrm>
            <a:off x="594360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649224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101" name="Text 98"/>
          <p:cNvSpPr txBox="1"/>
          <p:nvPr/>
        </p:nvSpPr>
        <p:spPr>
          <a:xfrm>
            <a:off x="640080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فَرِيقٌ</a:t>
            </a:r>
            <a:endParaRPr lang="ar-SA" sz="1500" dirty="0"/>
          </a:p>
        </p:txBody>
      </p:sp>
      <p:sp>
        <p:nvSpPr>
          <p:cNvPr id="102" name="Text 9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JOINING A SPORTS CENTRE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Signing up at the sports centre</a:t>
            </a:r>
            <a:endParaRPr lang="en-US" sz="21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المَرْكَزِ الرِّيَاضِيِّ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أُمَارِسَ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which sport.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أَهْلًا، أَيَّ رِيَاضَةٍ تُرِيدُ أَنْ تُمَارِسَ؟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مَرَّاتٍ / مَرَّتَيْنِ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how often.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مَرَّةً فِي الأُسْبُوعِ؟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أَسْتَطِيعُ … / لَا،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how well you can do it.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تَسْتَطِيعُ أَنْ تَسْبَحَ جَيِّدًا؟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يَوْمَ … فِي السَّاعَةِ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Choose days and a time.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أَيَّ يَوْمٍ يُنَاسِبُكَ؟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لِأَنَّهَا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تُحِبُّ السِّبَاحَةَ؟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new member  ·  The examiner is: the receptionist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A NEW FRIEND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Finding a shared hobby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هِوَايَةٌ مُشْتَرَكَةٌ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… وَ…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two hobbies.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فِي وَقْتِ فَرَاغِكَ؟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أَقْرَأُ … لِأَنَّهَا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kind of books.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تَقْرَأُ؟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…؟ وَكَمْ مَرَّةً …؟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where and how often he plays.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أَنَا أُحِبُّ الشِّطْرَنْجَ كَثِيرًا.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لٰكِنِّي لَا أَسْتَطِيعُ أَنْ …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Accept and say what you can do.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نَادِي المَدْرَسَةِ، يَوْمَ الخَمِيسِ. هَلْ تَأْتِي؟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ذَهَبْتُ … / لَعِبْتُ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(past).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فَعَلْتَ فِي نِهَايَةِ الأُسْبُوعِ المَاضِي؟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 ·  The examiner is: a new friend at school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TOO BUSY?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Too many activities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أَنْشِطَةٌ كَثِيرَةٌ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عِنْدِي … يَوْمَ … وَ… يَوْمَ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your busy week.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تَبْدُو مُتْعَبًا. مَا بِكَ؟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أَدْرُسُ … لٰكِنِّي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when, and admit a problem.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وَمَتَى تَدْرُسُ؟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كُرَةُ القَدَمِ، لِأَنَّهَا … وَلِأَنَّ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Choose one and give two reasons.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أَيُّ نَشَاطٍ أَهَمُّ لَكَ؟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أَيَّ نَشَاطٍ تَنْصَحُنِي أَنْ …؟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for advice about which one.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رُبَّمَا يَجِبُ أَنْ تَتْرُكَ نَشَاطًا.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… كُلَّ يَوْمٍ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(past habit).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 وَقْتُ فَرَاغِكَ عِنْدَمَا كُنْتَ صَغِيرًا؟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busy student  ·  The examiner is: your form tutor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 DEBATE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Screens or sport?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الشَّاشَاتُ أَمِ الرِّيَاضَةُ؟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يَقْضِي أَغْلَبُهُمْ … مِثْلًا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with a statistic or example.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يَقْضِي الشَّبَابُ وَقْتَ فَرَاغِهِمْ اليَوْمَ؟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لَيْسَتْ دَائِمًا … فَبَعْضُهَا … لٰكِنَّ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balanced answer.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أَلْعَابُ الفِيدْيُو مُضِرَّةٌ دَائِمًا؟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كَانُوا … أَمَّا اليَوْمَ فَيَجْلِسُونَ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past and present.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 الشَّبَابُ يَقْضُونَ وَقْتَهُمْ فِي المَاضِي؟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Concede and give your view.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 الأَلْعَابَ الإِلِكْتِرُونِيَّةَ اجْتِمَاعِيَّةٌ أَيْضًا!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كَانَ عِنْدِي …، لَتَسَلَّقْتُ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كَانَ عِنْدَكَ يَوْمٌ حُرٌّ تَمَامًا، كَيْفَ تَقْضِيهِ؟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speaker  ·  The examiner is: the debate chair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named hobbies with a verb or verbal noun and said how often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and used astaṭīʿu an + verb in -a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أُمَارِسَ السِّبَاحَةَ وَكُرَةَ السَّلَّةِ.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want to do swimming and basketball.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أَهْلًا، أَيَّ رِيَاضَةٍ تُرِيدُ أَنْ تُمَارِسَ؟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ثَلَاثَ مَرَّاتٍ فِي الأُسْبُوعِ، بَعْدَ المَدْرَسَةِ.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Three times a week, after school.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مَرَّةً فِي الأُسْبُوعِ؟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أَسْتَطِيعُ أَنْ أَسْبَحَ جَيِّدًا، لٰكِنِّي أُرِيدُ أَنْ أَكُونَ أَسْرَعَ.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can swim well, but I want to be faster.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تَسْتَطِيعُ أَنْ تَسْبَحَ جَيِّدًا؟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يَوْمَ الإِثْنَيْنِ وَالأَرْبِعَاءِ وَالجُمُعَةِ، فِي السَّاعَةِ الخَامِسَةِ.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Monday, Wednesday and Friday, at five o’clock.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أَيَّ يَوْمٍ يُنَاسِبُكَ؟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لِأَنَّهَا مُفِيدَةٌ لِلصِّحَّةِ، وَمُرِيحَةٌ بَعْدَ يَوْمٍ طَوِيلٍ.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it is good for your health, and relaxing after a long day.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تُحِبُّ السِّبَاحَةَ؟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القِرَاءَةَ وَالرَّسْمَ، وَأَلْعَبُ كُرَةَ القَدَمِ أَحْيَانًا.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like reading and drawing, and I sometimes play football.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فِي وَقْتِ فَرَاغِكَ؟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أَقْرَأُ القِصَصَ البُولِيسِيَّةَ، لِأَنَّهَا مُشَوِّقَةٌ.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read detective stories, because they are exciting.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تَقْرَأُ؟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تَلْعَبُهُ؟ وَكَمْ مَرَّةً فِي الأُسْبُوعِ؟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do you play it? And how many times a week?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أَنَا أُحِبُّ الشِّطْرَنْجَ كَثِيرًا.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سَآتِي، لٰكِنِّي لَا أَسْتَطِيعُ أَنْ أَلْعَبَ جَيِّدًا، فَهَلْ تُعَلِّمُنِي؟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I’ll come, but I can’t play well — will you teach me?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نَادِي المَدْرَسَةِ، يَوْمَ الخَمِيسِ. هَلْ تَأْتِي؟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ذَهَبْتُ إِلَى المَكْتَبَةِ، وَاسْتَعَرْتُ ثَلَاثَةَ كُتُبٍ جَدِيدَةٍ.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went to the library and borrowed three new books.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فَعَلْتَ فِي نِهَايَةِ الأُسْبُوعِ المَاضِي؟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عِنْدِي تَدْرِيبُ كُرَةِ القَدَمِ يَوْمَ الإِثْنَيْنِ وَالخَمِيسِ، وَدَرْسُ بِيَانُو يَوْمَ الثُّلَاثَاءِ، وَنَادِي العُلُومِ يَوْمَ الأَرْبِعَاءِ.</a:t>
            </a:r>
            <a:endParaRPr lang="ar-SA" sz="145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have football training on Monday and Thursday, piano on Tuesday and science club on Wednesday.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تَبْدُو مُتْعَبًا. مَا بِكَ؟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أَدْرُسُ فِي اللَّيْلِ بَعْدَ العَشَاءِ، لٰكِنِّي أَنَامُ مُتَأَخِّرًا جِدًّا.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study at night after dinner, but I go to bed very late.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وَمَتَى تَدْرُسُ؟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كُرَةُ القَدَمِ، لِأَنَّهَا تُفْرِغُ طَاقَتِي، وَلِأَنَّ أَصْدِقَائِي فِي الفَرِيقِ.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Football, because it burns off my energy, and because my friends are on the team.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أَيُّ نَشَاطٍ أَهَمُّ لَكَ؟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أَيَّ نَشَاطٍ تَنْصَحُنِي أَنْ أَتْرُكَهُ فِي رَأْيِكَ؟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activity would you advise me to drop?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رُبَّمَا يَجِبُ أَنْ تَتْرُكَ نَشَاطًا.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أَلْعَبُ فِي الحَدِيقَةِ مَعَ أَخِي كُلَّ يَوْمٍ، وَلَمْ تَكُنْ عِنْدِي أَنْشِطَةٌ كَثِيرَةٌ.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used to play in the garden with my brother every day, and I didn’t have many activities.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 وَقْتُ فَرَاغِكَ عِنْدَمَا كُنْتَ صَغِيرًا؟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يَقْضِي أَغْلَبُهُمْ سَاعَاتٍ أَمَامَ الشَّاشَاتِ؛ فَمَثَلًا يَلْعَبُ أَخِي أَلْعَابَ الفِيدْيُو أَرْبَعَ سَاعَاتٍ يَوْمِيًّا.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Most of them spend hours on screens — my brother, for example, plays video games four hours a day.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يَقْضِي الشَّبَابُ وَقْتَ فَرَاغِهِمْ اليَوْمَ؟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لَيْسَتْ مُضِرَّةً دَائِمًا؛ فَبَعْضُهَا يُنَمِّي التَّفْكِيرَ، لٰكِنَّ الإِفْرَاطَ فِيهَا يُؤَثِّرُ فِي النَّوْمِ وَالدِّرَاسَةِ.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Not always — some develop thinking, but overdoing them affects sleep and study.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أَلْعَابُ الفِيدْيُو مُضِرَّةٌ دَائِمًا؟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كَانُوا يَلْعَبُونَ فِي الشَّوَارِعِ وَيَصْنَعُونَ أَلْعَابَهُمْ بِأَيْدِيهِمْ، أَمَّا اليَوْمَ فَيَجْلِسُونَ وَحْدَهُمْ فِي غُرَفِهِمْ.</a:t>
            </a:r>
            <a:endParaRPr lang="ar-SA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They used to play in the streets and make their own toys; today they sit alone in their rooms.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 الشَّبَابُ يَقْضُونَ وَقْتَهُمْ فِي المَاضِي؟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أَنَّنَا نَلْعَبُ مَعَ أَصْدِقَاءَ عَلَى الإِنْتَرْنِتِ، غَيْرَ أَنَّ اللِّقَاءَ وَجْهًا لِوَجْهٍ أَعْمَقُ وَأَصْدَقُ.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true we play with friends online, but meeting face to face is deeper and truer.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 الأَلْعَابَ الإِلِكْتِرُونِيَّةَ اجْتِمَاعِيَّةٌ أَيْضًا!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كَانَ عِنْدِي يَوْمٌ حُرٌّ، لَتَسَلَّقْتُ جَبَلًا مَعَ أَصْدِقَائِي، ثُمَّ لَطَبَخْنَا عَشَاءً عَلَى النَّارِ.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had a completely free day, I would climb a mountain with my friends and then cook dinner over a fire.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كَانَ عِنْدَكَ يَوْمٌ حُرٌّ تَمَامًا، كَيْفَ تَقْضِيهِ؟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an example, a balanced view, past vs present, ṣaḥīḥun anna … ghayra anna and law … la-.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هِوَايَاتِي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هِوَايَتِي المُفَضَّلَةُ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favourite hobby?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هِوَايَتُكَ المُفَضَّلَةُ؟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أُمَارِسُ الرِّيَاضَةَ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often do you do sport?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مَرَّةً تُمَارِسُ الرِّيَاضَةَ؟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أَسْتَطِيعُ … / لَا، لَا أَسْتَطِيعُ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Can you play an instrument?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تَسْتَطِيعُ أَنْ تَعْزِفَ عَلَى آلَةٍ مُوسِيقِيَّةٍ؟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يَوْمَ السَّبْتِ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do on Saturdays?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يَوْمَ السَّبْتِ؟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 / لَا،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like reading?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 القِرَاءَةَ؟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وَقْتُ الفَرَاغِ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بَدَأْتُ … عِنْدَمَا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did you start your hobby?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بَدَأْتَ هِوَايَتَكَ؟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… لِأَنَّ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Team sports or individual sports?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تُفَضِّلُ الرِّيَاضَةَ الجَمَاعِيَّةَ أَمِ الفَرْدِيَّةَ؟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عِنْدَمَا … أَبْقَى … وَ…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do when it rains?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عِنْدَمَا يَكُونُ الجَوُّ مُمْطِرًا؟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لِأَنَّهَا … وَ…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 are hobbies important?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تُعْتَبَرُ الهِوَايَاتُ مُهِمَّةً؟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أُجَرِّبَ … لِأَنَّ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new hobby would you like to try?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أَيَّ هِوَايَةٍ جَدِيدَةٍ تُرِيدُ أَنْ تُجَرِّبَهَا؟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a past start, a preference with a reason, ʿindamā and a future plan.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الوَقْتُ الحُرُّ وَالمُجْتَمَعُ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أَظُنُّ ذٰلِكَ، لِأَنَّ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young people have enough free time today?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عِنْدَ الشَّبَابِ وَقْتُ فَرَاغٍ كَافٍ اليَوْمَ؟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Should sports clubs be free?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يَجِبُ أَنْ تَكُونَ الأَنْدِيَةُ الرِّيَاضِيَّةُ مَجَّانِيَّةً؟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أَبِي … أَمَّا أَنَا فَأُصَمِّمُ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 your hobbies differ from your parents’?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الفَرْقُ بَيْنَ هِوَايَاتِكَ وَهِوَايَاتِ وَالِدَيْكَ؟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… شَارَكْتُ فِي … فَفُزْتُ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an achievement in your hobby.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إِنْجَازًا حَقَّقْتَهُ فِي هِوَايَتِكَ.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أَصْبَحَ … عَمَلِي، لَفَقَدَ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your hobby became your job, would it stay fun?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أَصْبَحَتْ هِوَايَتُكَ عَمَلَكَ، هَلْ تَبْقَى مُمْتِعَةً؟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reasons with ḥattā, a concession with … kāna am …, kāna + present vs ammā … fa-, a passive (ʿuriḍat) and law … la-.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هِوَايَتِيَ المُفَضَّلَةُ الرَّسْمُ.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favourite hobby is drawing.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هِوَايَتُكَ المُفَضَّلَةُ؟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أُمَارِسُ الرِّيَاضَةَ مَرَّتَيْنِ فِي الأُسْبُوعِ.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do sport twice a week.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مَرَّةً تُمَارِسُ الرِّيَاضَةَ؟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أَسْتَطِيعُ أَنْ أَعْزِفَ عَلَى العُودِ قَلِيلًا.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can play the oud a little.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تَسْتَطِيعُ أَنْ تَعْزِفَ عَلَى آلَةٍ مُوسِيقِيَّةٍ؟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يَوْمَ السَّبْتِ أَلْعَبُ كُرَةَ القَدَمِ مَعَ فَرِيقِي فِي الصَّبَاحِ.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 Saturdays I play football with my team in the morning.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يَوْمَ السَّبْتِ؟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أُحِبُّهَا كَثِيرًا، وَأَقْرَأُ كُلَّ لَيْلَةٍ قَبْلَ النَّوْمِ.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love it, and I read every night before bed.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 القِرَاءَةَ؟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a frequency word = a secure Core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بَدَأْتُ الرَّسْمَ عِنْدَمَا أَهْدَتْنِي خَالَتِي أَلْوَانًا مَائِيَّةً فِي عِيدِ مِيلَادِي العَاشِرِ.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started drawing when my aunt gave me watercolours for my tenth birthday.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بَدَأْتَ هِوَايَتَكَ؟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الرِّيَاضَةَ الجَمَاعِيَّةَ، لِأَنِّي أُحِبُّ العَمَلَ مَعَ الآخَرِينَ، وَالفَوْزُ مَعًا أَمْتَعُ.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prefer team sports, because I like working with others, and winning together is more fun.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تُفَضِّلُ الرِّيَاضَةَ الجَمَاعِيَّةَ أَمِ الفَرْدِيَّةَ؟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عِنْدَمَا يَكُونُ الجَوُّ مُمْطِرًا، أَبْقَى فِي البَيْتِ، وَأَطْبُخُ مَعَ أُمِّي أَوْ أُشَاهِدُ فِيلْمًا.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it rains, I stay home and cook with my mum or watch a film.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عِنْدَمَا يَكُونُ الجَوُّ مُمْطِرًا؟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لِأَنَّهَا تُرِيحُنَا مِنْ ضَغْطِ الدِّرَاسَةِ، وَتُعَلِّمُنَا مَهَارَاتٍ جَدِيدَةً، وَتُعَرِّفُنَا بِأَصْدِقَاءَ جُدُدٍ.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they relieve study stress, teach us new skills and introduce us to new friends.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تُعْتَبَرُ الهِوَايَاتُ مُهِمَّةً؟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أُجَرِّبَ التَّصْوِيرَ، لِأَنِّي أُحِبُّ الطَّبِيعَةَ، وَسَأَشْتَرِي كَامِيرَا بِمَالِي.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want to try photography, because I love nature, and I will buy a camera with my own money.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أَيَّ هِوَايَةٍ جَدِيدَةٍ تُرِيدُ أَنْ تُجَرِّبَهَا؟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Hobby + frequency + reason + a past detail = a strong Develop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أَظُنُّ ذٰلِكَ، لِأَنَّ الوَاجِبَاتِ وَالدُّرُوسَ الإِضَافِيَّةَ تَأْخُذُ أَغْلَبَ وَقْتِهِمْ، حَتَّى فِي نِهَايَةِ الأُسْبُوعِ.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don’t think so, because homework and extra lessons take most of their time, even at weekends.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عِنْدَ الشَّبَابِ وَقْتُ فَرَاغٍ كَافٍ اليَوْمَ؟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الأَنْدِيَةَ تَحْتَاجُ إِلَى المَالِ، غَيْرَ أَنَّ الرِّيَاضَةَ حَقٌّ لِكُلِّ طِفْلٍ، غَنِيًّا كَانَ أَمْ فَقِيرًا.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true clubs need money, but sport is every child’s right, rich or poor.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يَجِبُ أَنْ تَكُونَ الأَنْدِيَةُ الرِّيَاضِيَّةُ مَجَّانِيَّةً؟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أَبِي يَجْمَعُ الطَّوَابِعَ وَيُرَاسِلُ أَصْدِقَاءَ مِنْ بُلْدَانٍ أُخْرَى، أَمَّا أَنَا فَأُصَمِّمُ أَلْعَابًا عَلَى الحَاسُوبِ.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father collected stamps and wrote to pen friends abroad; I design games on the computer.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الفَرْقُ بَيْنَ هِوَايَاتِكَ وَهِوَايَاتِ وَالِدَيْكَ؟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reasons, a concession, past vs present, a passive verb, law … la- — range is rewarded.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السَّنَةِ المَاضِيَةِ شَارَكْتُ فِي مُسَابَقَةٍ لِلرَّسْمِ، فَفُزْتُ بِالمَرْكَزِ الثَّانِي، وَعُرِضَتْ لَوْحَتِي فِي مَكْتَبَةِ المَدِينَةِ.</a:t>
            </a:r>
            <a:endParaRPr lang="ar-SA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Last year I entered a drawing competition, came second, and my painting was shown in the town library.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إِنْجَازًا حَقَّقْتَهُ فِي هِوَايَتِكَ.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أَصْبَحَ الرَّسْمُ عَمَلِي، لَفَقَدَ جُزْءًا مِنْ مُتْعَتِهِ، لِأَنِّي سَأَرْسُمُ مَا يُرِيدُهُ الزَّبَائِنُ لَا مَا أُرِيدُهُ أَنَا.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drawing became my job, it would lose some of its fun, because I’d draw what customers want, not what I want.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أَصْبَحَتْ هِوَايَتُكَ عَمَلَكَ، هَلْ تَبْقَى مُمْتِعَةً؟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reasons, a concession, past vs present, a passive verb, law … la- — range is rewarded.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workshop · TB-L08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named my hobbies with a verb or a verbal noun.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said how often (marratayn, thalātha marrāt, aḥyānan).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astaṭīʿu an + verb in -a.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gave a reason and a past detail.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compared past and present, conceded or used law … la-.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TB-L08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TB-L08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TB-L08 · Speaking Workshop — Hobbies, Sport and Free Time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2026-10-11T09:10:52Z</dcterms:created>
  <dcterms:modified xsi:type="dcterms:W3CDTF">2026-10-11T09:10:52Z</dcterms:modified>
</cp:coreProperties>
</file>