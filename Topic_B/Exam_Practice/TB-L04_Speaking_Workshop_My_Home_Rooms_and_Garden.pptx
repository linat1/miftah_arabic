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4 (My Home, Rooms and Garden, TB-L04), using that lesson’s language (yūjadu / tūjadu; demonstratives (hādhā / hādhihi); locative prepositions).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يُوجَدُ for masculine nouns, تُوجَدُ for feminine: يُوجَدُ فِي بَيْتِنَا مَطْبَخٌ كَبِيرٌ · تُوجَدُ حَدِيقَةٌ صَغِيرَةٌ. Floors use ordinals: فِي الطَّابِقِ الثَّانِي.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prepositions take the genitive: بِجَانِبِ المَطْبَخِ · أَمَامَ البَيْتِ. Non-human plurals take the feminine singular: الغُرَفُ وَاسِعَةٌ وَمُرِيحَةٌ.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new home.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غُرْفَتُكِ · تُحِبِّينَ.
Core: numbers 3–10 + plural genitive (khamsu ghurafin), ordinals for floors, yūjadu vs tūjadu, prepositions + genitive.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an estate agent.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تَبْحَثِينَ · تُرِيدِينَ أَنْ تَزُورِيهِ.
Task 3: the CANDIDATE asks two questions. Task 4: comparatives with hādhā (aghlā, awsaʿ, ahdaʾ).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room swap.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جَدَّتُكِ · سَتَتَقَاسَمِينَ غُرْفَتَكِ مَعَ أُخْتِكِ · تَدْرُسِينَ · كُنْتِ صَغِيرَةً.
Develop: a polite objection (afhamu, lākinna …), mā raʾyuka an + subjunctive, a reason, a request, kāna + description.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housing survey.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تُفَضِّلِينَ أَنْ تَسْكُنِي · أَجْدَادِكِ · صَمَّمْتِ · أَحْلَامِكِ.
Stretch: two reasons, al-mushkila anna, a negative tūjadu, kāna + present vs ammā … fa-, a concession,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locations and a reason.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TB-L04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TB-L04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My Home, Rooms and Garden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بَيْتِي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where you live, the rooms and the garden — what there is (yūjadu / tūjadu), where things are (fawqa, bijānibi, amāma) — and your dream home.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TB-L04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HOME AND ROOMS (SG. · PL. · MY)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Where do you live?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أَيْنَ تَسْكُنُ؟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أَسْكُنُ فِي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live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as-ku-nu fī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نَسْكُنُ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تَسْكُنُ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يَسْكُنُ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بَيْتٌ · شَقَّةٌ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house · a flat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bay-tun · shaq-qa-tun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48386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بُيُوتٌ · شُقَقٌ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my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room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ghur-fa-tun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غُرْفَتِي</a:t>
            </a:r>
            <a:endParaRPr lang="ar-SA" sz="1500" dirty="0"/>
          </a:p>
        </p:txBody>
      </p:sp>
      <p:sp>
        <p:nvSpPr>
          <p:cNvPr id="57" name="Shape 54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غُرَفٌ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غُرْفَةٌ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Shape 61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 is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0" name="Text 67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· تُوجَدُ</a:t>
            </a:r>
            <a:endParaRPr lang="ar-SA" sz="3000" dirty="0"/>
          </a:p>
        </p:txBody>
      </p:sp>
      <p:sp>
        <p:nvSpPr>
          <p:cNvPr id="71" name="Text 68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there 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yū-ja-du · tū-ja-du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100126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تُوجَدُ حَدِيقَةٌ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مَطْبَخٌ</a:t>
            </a:r>
            <a:endParaRPr lang="ar-SA" sz="1500" dirty="0"/>
          </a:p>
        </p:txBody>
      </p:sp>
      <p:sp>
        <p:nvSpPr>
          <p:cNvPr id="78" name="Shape 75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9" name="Shape 76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1" name="Shape 78"/>
          <p:cNvSpPr/>
          <p:nvPr/>
        </p:nvSpPr>
        <p:spPr>
          <a:xfrm>
            <a:off x="4782312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782312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demonstratives</a:t>
            </a:r>
            <a:endParaRPr lang="en-US" sz="800" dirty="0"/>
          </a:p>
        </p:txBody>
      </p:sp>
      <p:sp>
        <p:nvSpPr>
          <p:cNvPr id="83" name="Shape 80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5" name="Text 82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· هٰذِهِ</a:t>
            </a:r>
            <a:endParaRPr lang="ar-SA" sz="3000" dirty="0"/>
          </a:p>
        </p:txBody>
      </p:sp>
      <p:sp>
        <p:nvSpPr>
          <p:cNvPr id="86" name="Text 83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hā-dhā · hā-dhi-hi</a:t>
            </a:r>
            <a:endParaRPr lang="en-US" sz="1350" dirty="0"/>
          </a:p>
        </p:txBody>
      </p:sp>
      <p:sp>
        <p:nvSpPr>
          <p:cNvPr id="87" name="Shape 84"/>
          <p:cNvSpPr/>
          <p:nvPr/>
        </p:nvSpPr>
        <p:spPr>
          <a:xfrm>
            <a:off x="672084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677570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676656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هٰؤُلَاءِ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5568696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5623560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5614416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هٰذِهِ</a:t>
            </a:r>
            <a:endParaRPr lang="ar-SA" sz="150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first · second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الطَّابِقُ الأَرْضِيُّ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ground floor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aṭ-ṭā-bi-qu al-ar-ḍiy-yu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second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الطَّابِقُ الثَّانِي</a:t>
            </a:r>
            <a:endParaRPr lang="ar-SA" sz="1350" dirty="0"/>
          </a:p>
        </p:txBody>
      </p:sp>
      <p:sp>
        <p:nvSpPr>
          <p:cNvPr id="108" name="Shape 105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first</a:t>
            </a:r>
            <a:endParaRPr lang="en-US" sz="700" dirty="0"/>
          </a:p>
        </p:txBody>
      </p:sp>
      <p:sp>
        <p:nvSpPr>
          <p:cNvPr id="110" name="Text 107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الطَّابِقُ الأَوَّلُ</a:t>
            </a:r>
            <a:endParaRPr lang="ar-SA" sz="1350" dirty="0"/>
          </a:p>
        </p:txBody>
      </p:sp>
      <p:sp>
        <p:nvSpPr>
          <p:cNvPr id="111" name="Text 10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WHERE THINGS ARE, AND DESCRIBING WORDS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Next to, above, behind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أَيْنَ الأَشْيَاءُ؟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location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فَوْقَ · تَحْتَ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above · below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faw-qa · taḥ-ta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782312" y="1938528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782312" y="1938528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location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4389120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بِجَانِبِ · أَمَامَ · خَلْفَ</a:t>
            </a:r>
            <a:endParaRPr lang="ar-SA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4416552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next to · in front of · behind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bi-jā-ni-bi · a-mā-ma · khal-fa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960120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60120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more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وَاسِعٌ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spacious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wā-si-ʿun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أَوْسَعُ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وَاسِعَةٌ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وَاسِعٌ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604504" y="4279392"/>
            <a:ext cx="164226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604504" y="4279392"/>
            <a:ext cx="16422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non-hum.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مُرِيحٌ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comfortable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mu-rī-ḥun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مُرِيحَةٌ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مُرِيحَةٌ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مُرِيحٌ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حَدِيقَةٌ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garden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ḥa-dī-qa-tun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حَدَائِقُ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حَدِيقَةٌ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هَادِئٌ · مُزْدَحِمٌ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quiet · busy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hā-di-ʾun · muz-da-ḥi-mun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594360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649224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640080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هَادِئَةٌ · مُزْدَحِمَةٌ</a:t>
            </a:r>
            <a:endParaRPr lang="ar-SA" sz="1500" dirty="0"/>
          </a:p>
        </p:txBody>
      </p:sp>
      <p:sp>
        <p:nvSpPr>
          <p:cNvPr id="96" name="Text 9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NEW HOME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Showing a friend your new flat</a:t>
            </a:r>
            <a:endParaRPr lang="en-US" sz="21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شَقَّتُنَا الجَدِيدَةُ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فِيهَا … غُرَفٍ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rooms there are.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شَقَّةٌ جَمِيلَةٌ! كَمْ غُرْفَةً فِيهَا؟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نَحْنُ فِي الطَّابِقِ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floor.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طَابِقٍ أَنْتُمْ؟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غُرْفَتِي بِجَانِبِ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your room is.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غُرْفَتُكَ؟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… وَتُوجَدُ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is in your room.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يُوجَدُ فِي غُرْفَتِكَ؟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لِأَنَّهَا … لٰكِنْ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هٰذِهِ الشَّقَّةَ؟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friend visiting for the first time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AN ESTATE AGENT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Looking for a house to rent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مَكْتَبِ العَقَارَاتِ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أَبْحَثُ عَنْ … فِيهِ / فِيهَا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kind of home you want.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مَاذَا تَبْحَثُ عَنْهُ؟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قَرِيبٌ مِنْ … 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area and why.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مِنْطَقَةٍ؟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يُوجَدُ …؟ كَمْ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two questions about the house.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هٰذَا البَيْتُ فِي شَارِعِ الوَرْدِ.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أَغْلَى مِنْ … لٰكِنَّهُ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another house and decide.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مَوْقِفٌ، وَالإِيجَارُ أَلْفُ دِينَارٍ.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 … فِي السَّاعَةِ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تُرِيدُ أَنْ تَزُورَهُ؟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someone looking for a house  ·  The examiner is: the estate agent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ROOM SWAP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Sharing a room with your brother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أَتَقَاسَمُ الغُرْفَةَ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أَفْهَمُ، لٰكِنَّ غُرْفَتِي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React politely and give a concern.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جَدَّتُكَ سَتَسْكُنُ مَعَنَا، فَسَتَتَقَاسَمُ غُرْفَتَكَ مَعَ أَخِيكَ.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أَنْ …؟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a solution.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اقْتِرَاحُكَ؟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فِي … لِأَنَّهَا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will study and why.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فِكْرَةٌ جَيِّدَةٌ. وَأَيْنَ تَدْرُسُ إِذَنْ؟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for a rule to keep the room tidy.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أَخُوكَ يَتْرُكُ أَغْرَاضَهُ فِي كُلِّ مَكَانٍ!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… وَكَانَ فِيهَا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كَانَتْ غُرْفَتُكَ عِنْدَمَا كُنْتَ صَغِيرًا؟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 ·  The examiner is: your parent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HOUSING SURVEY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City flat or country house?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5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شَقَّةٌ فِي المَدِينَةِ أَمْ بَيْتٌ فِي الرِّيفِ؟</a:t>
            </a:r>
            <a:endParaRPr lang="ar-SA" sz="26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 وَلِأَنَّ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preference with two reasons.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تُفَضِّلُ أَنْ تَسْكُنَ: فِي المَدِينَةِ أَمْ فِي الرِّيفِ؟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المُشْكِلَةُ أَنَّ … مَثَلًا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disadvantage and an example.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عُيُوبُ السَّكَنِ فِي المَدِينَةِ؟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البُيُوتُ … أَمَّا اليَوْمَ فَنَسْكُنُ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كَانَتِ البُيُوتُ فِي أَيَّامِ أَجْدَادِكَ؟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الحَدَائِقُ ضَرُورِيَّةٌ لِلْأَطْفَالِ؟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صَمَّمْتُ …،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صَمَّمْتَ بَيْتَ أَحْلَامِكَ، كَيْفَ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resident  ·  The examiner is: a university researcher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the home and rooms with yūjadu / tūjadu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where rooms or things are with two prepositions and gave an opinion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فِيهَا خَمْسُ غُرَفٍ: ثَلَاثُ غُرَفِ نَوْمٍ، وَغُرْفَةُ جُلُوسٍ، وَمَطْبَخٌ.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has five rooms: three bedrooms, a living room and a kitchen.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شَقَّةٌ جَمِيلَةٌ! كَمْ غُرْفَةً فِيهَا؟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نَحْنُ فِي الطَّابِقِ الرَّابِعِ، وَيُوجَدُ مِصْعَدٌ.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are on the fourth floor, and there is a lift.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طَابِقٍ أَنْتُمْ؟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غُرْفَتِي بِجَانِبِ الحَمَّامِ، أَمَامَ غُرْفَةِ أُخْتِي.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room is next to the bathroom, opposite my sister’s room.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غُرْفَتُكَ؟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سَرِيرٌ وَمَكْتَبٌ، وَتُوجَدُ خِزَانَةٌ كَبِيرَةٌ.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bed and a desk, and there is a big wardrobe.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يُوجَدُ فِي غُرْفَتِكَ؟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لِأَنَّهَا وَاسِعَةٌ وَمُرِيحَةٌ، لٰكِنْ لَيْسَتْ فِيهَا حَدِيقَةٌ.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it is spacious and comfortable, but it has no garden.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هٰذِهِ الشَّقَّةَ؟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أَبْحَثُ عَنْ بَيْتٍ فِيهِ ثَلَاثُ غُرَفِ نَوْمٍ وَحَدِيقَةٌ.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looking for a house with three bedrooms and a garden.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مَاذَا تَبْحَثُ عَنْهُ؟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قَرِيبٌ مِنَ المَدْرَسَةِ، لِأَنَّ أَوْلَادِي صِغَارٌ.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Near the school, because my children are young.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أَيِّ مِنْطَقَةٍ؟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يُوجَدُ مَوْقِفٌ لِلسَّيَّارَةِ؟ وَكَمِ الإِيجَارُ فِي الشَّهْرِ؟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there a parking space? And how much is the rent per month?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عِنْدَنَا هٰذَا البَيْتُ فِي شَارِعِ الوَرْدِ.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أَغْلَى مِنَ البَيْتِ الآخَرِ، لٰكِنَّهُ أَوْسَعُ وَأَهْدَأُ، فَأُرِيدُ أَنْ أَرَاهُ.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This one is dearer than the other house, but it is bigger and quieter, so I’d like to see it.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مَوْقِفٌ، وَالإِيجَارُ أَلْفُ دِينَارٍ.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 السَّبْتِ فِي السَّاعَةِ الحَادِيَةَ عَشْرَةَ، إِذَا كَانَ ذٰلِكَ مُنَاسِبًا.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Saturday at eleven, if that suits you.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تُرِيدُ أَنْ تَزُورَهُ؟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أَفْهَمُ يَا أَبِي، لٰكِنَّ غُرْفَتِي صَغِيرَةٌ جِدًّا، وَلَا يُوجَدُ فِيهَا مَكَانٌ لِسَرِيرَيْنِ.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understand, Dad, but my room is very small and there’s no room for two beds.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جَدَّتُكَ سَتَسْكُنُ مَعَنَا، فَسَتَتَقَاسَمُ غُرْفَتَكَ مَعَ أَخِيكَ.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رَأْيُكَ أَنْ نَنْقُلَ المَكْتَبَ إِلَى غُرْفَةِ الجُلُوسِ، وَنَضَعَ سَرِيرًا بِطَابِقَيْنِ؟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about moving the desk to the living room and putting in a bunk bed?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اقْتِرَاحُكَ؟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سَأَدْرُسُ فِي المَكْتَبَةِ بَعْدَ المَدْرَسَةِ، لِأَنَّهَا هَادِئَةٌ وَقَرِيبَةٌ مِنَ البَيْتِ.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will study in the library after school, because it is quiet and near home.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فِكْرَةٌ جَيِّدَةٌ. وَأَيْنَ تَدْرُسُ إِذَنْ؟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يُمْكِنُ أَنْ نَضَعَ قَاعِدَةً: كُلُّ وَاحِدٍ يُرَتِّبُ جِهَتَهُ كُلَّ مَسَاءٍ؟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Could we make a rule: each of us tidies his side every evening?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أَخُوكَ يَتْرُكُ أَغْرَاضَهُ فِي كُلِّ مَكَانٍ!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زَرْقَاءَ، وَكَانَ فِيهَا سَرِيرٌ عَلَى شَكْلِ سَيَّارَةٍ، وَكُنْتُ أُحِبُّهُ كَثِيرًا!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was blue, with a bed shaped like a car — I loved it!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كَانَتْ غُرْفَتُكَ عِنْدَمَا كُنْتَ صَغِيرًا؟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المَدِينَةَ، لِأَنَّ كُلَّ شَيْءٍ قَرِيبٌ، وَلِأَنَّ المُوَاصَلَاتِ سَهْلَةٌ.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the city, because everything is close and transport is easy.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تُفَضِّلُ أَنْ تَسْكُنَ: فِي المَدِينَةِ أَمْ فِي الرِّيفِ؟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المُشْكِلَةُ أَنَّ الشُّقَقَ صَغِيرَةٌ وَغَالِيَةٌ؛ مَثَلًا لَا تُوجَدُ فِي شَقَّتِنَا شُرْفَةٌ وَاحِدَةٌ.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problem is flats are small and expensive — ours, for example, doesn’t have a single balcony.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عُيُوبُ السَّكَنِ فِي المَدِينَةِ؟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كَانَتِ البُيُوتُ وَاسِعَةً، وَفِي وَسَطِهَا فِنَاءٌ تَجْلِسُ فِيهِ العَائِلَةُ، أَمَّا اليَوْمَ فَنَسْكُنُ فِي أَبْرَاجٍ عَالِيَةٍ.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Houses used to be spacious, with a courtyard in the middle where the family sat; today we live in tall towers.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كَانَتِ البُيُوتُ فِي أَيَّامِ أَجْدَادِكَ؟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الحَدَائِقَ العَامَّةَ مَوْجُودَةٌ، غَيْرَ أَنَّ الحَدِيقَةَ فِي البَيْتِ تُعْطِي الأَطْفَالَ حُرِّيَّةً وَأَمَانًا أَكْثَرَ.</a:t>
            </a:r>
            <a:endParaRPr lang="ar-SA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public parks exist, but a garden at home gives children more freedom and safety.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الحَدَائِقُ ضَرُورِيَّةٌ لِلْأَطْفَالِ؟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صَمَّمْتُ بَيْتَ أَحْلَامِي، لَجَعَلْتُهُ عَلَى شَاطِئِ البَحْرِ، وَلَوَضَعْتُ فِيهِ مَكْتَبَةً كَبِيرَةً تُطِلُّ عَلَى المَاءِ.</a:t>
            </a:r>
            <a:endParaRPr lang="ar-SA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designed my dream home, I would put it on the beach with a big library overlooking the water.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صَمَّمْتَ بَيْتَ أَحْلَامِكَ، كَيْفَ يَكُونُ؟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reasons, an example, past vs present,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بَيْتِي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أَسْكُنُ فِي …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live?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تَسْكُنُ؟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بَيْتِي … غُرَفٍ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rooms are there in your house?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غُرْفَةً فِي بَيْتِكَ؟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غُرْفَتِي … يُوجَدُ فِيهَا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room.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غُرْفَتَكَ.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تُوجَدُ … / لَا، لَا تُوجَدُ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there a garden?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تُوجَدُ حَدِيقَةٌ؟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غُرْفَتِي المُفَضَّلَةُ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room?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غُرْفَتُكَ المُفَضَّلَةُ؟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بَيْتِي وَحَيِّي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الطَّابِقِ الأَرْضِيِّ يُوجَدُ … بِجَانِبِ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ground floor of your house.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صِفِ الطَّابِقَ الأَرْضِيَّ فِي بَيْتِكَ.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لٰكِنِّي لَا أُحِبُّ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like and dislike about your home?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تُحِبُّ وَمَاذَا لَا تُحِبُّ فِي بَيْتِكَ؟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حَيِّي … يُوجَدُ فِيهِ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neighbourhood.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صِفِ الحَيَّ الَّذِي تَسْكُنُ فِيهِ.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الصَّيْفِ … وَفِي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in the garden?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فِي الحَدِيقَةِ؟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كُنَّا نَسْكُنُ فِي … وَكَانَ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Have you lived in another house before?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سَكَنْتَ فِي بَيْتٍ آخَرَ مِنْ قَبْلُ؟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locations (bijānibi, amāma), a reason, a past home and a contrast.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السَّكَنُ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… أَهَمُّ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makes a house a “home”?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يَجْعَلُ البَيْتَ «بَيْتًا»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… وَلِأَنَّ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is it hard for young people to buy a home today?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يَصْعُبُ عَلَى الشَّبَابِ شِرَاءُ بَيْتٍ اليَوْمَ؟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an old house or a modern one?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بَيْتًا قَدِيمًا أَمْ حَدِيثًا؟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زُرْتُ … وَكَانَ فِيهِ … فَجَلَسْنَا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house you visited and liked.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بَيْتًا زُرْتَهُ وَأَعْجَبَكَ.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سَكَنْتُ وَحْدِي،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lived alone, how would you arrange your home?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سَكَنْتَ وَحْدَكَ، كَيْفَ تُرَتِّبُ بَيْتَكَ؟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alladhīna, two reasons with lam + jussive, a concession, a past visit with fa-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أَسْكُنُ فِي بَيْتٍ صَغِيرٍ فِي وَسَطِ المَدِينَةِ.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live in a small house in the town centre.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تَسْكُنُ؟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بَيْتِي سِتُّ غُرَفٍ، وَحَمَّامَانِ.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are six rooms and two bathrooms in my house.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غُرْفَةً فِي بَيْتِكَ؟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غُرْفَتِي صَغِيرَةٌ وَمُرَتَّبَةٌ، وَيُوجَدُ فِيهَا سَرِيرٌ وَمَكْتَبٌ.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room is small and tidy, and has a bed and a desk.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غُرْفَتَكَ.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تُوجَدُ حَدِيقَةٌ صَغِيرَةٌ خَلْفَ البَيْتِ، فِيهَا أَزْهَارٌ.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there is a small garden behind the house with flowers.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تُوجَدُ حَدِيقَةٌ؟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غُرْفَتِي المُفَضَّلَةُ هِيَ المَطْبَخُ، لِأَنِّي أُحِبُّ الطَّبْخَ مَعَ أُمِّي.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room is the kitchen, because I love cooking with my mum.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غُرْفَتُكَ المُفَضَّلَةُ؟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number or a place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الطَّابِقِ الأَرْضِيِّ يُوجَدُ مَطْبَخٌ كَبِيرٌ بِجَانِبِ غُرْفَةِ الطَّعَامِ، وَغُرْفَةُ الجُلُوسِ أَمَامَ البَابِ.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the ground floor there is a big kitchen next to the dining room, and the living room is opposite the door.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صِفِ الطَّابِقَ الأَرْضِيَّ فِي بَيْتِكَ.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الحَدِيقَةَ لِأَنَّهَا هَادِئَةٌ، لٰكِنِّي لَا أُحِبُّ أَنَّ الحَمَّامَ وَاحِدٌ لِخَمْسَةِ أَشْخَاصٍ!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love the garden because it’s quiet, but I don’t like there being one bathroom for five people!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تُحِبُّ وَمَاذَا لَا تُحِبُّ فِي بَيْتِكَ؟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حَيِّي هَادِئٌ، يُوجَدُ فِيهِ مَسْجِدٌ وَمَخْبَزٌ وَحَدِيقَةٌ عَامَّةٌ قَرِيبَةٌ مِنْ بَيْتِنَا.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neighbourhood is quiet, with a mosque, a bakery and a park near our house.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صِفِ الحَيَّ الَّذِي تَسْكُنُ فِيهِ.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الصَّيْفِ نَأْكُلُ العَشَاءَ فِي الحَدِيقَةِ، وَفِي الرَّبِيعِ أُسَاعِدُ أَبِي فِي زِرَاعَةِ الأَزْهَارِ.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summer we have dinner in the garden, and in spring I help my dad plant flowers.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فِي الحَدِيقَةِ؟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كُنَّا نَسْكُنُ فِي شَقَّةٍ صَغِيرَةٍ فِي الطَّابِقِ العَاشِرِ، وَكَانَ المِصْعَدُ مُعَطَّلًا دَائِمًا!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we used to live in a small tenth-floor flat, and the lift was always broken!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سَكَنْتَ فِي بَيْتٍ آخَرَ مِنْ قَبْلُ؟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Location + opinion + reason + a past detail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أَعْتَقِدُ أَنَّ النَّاسَ الَّذِينَ يَسْكُنُونَ فِيهِ أَهَمُّ مِنْ حَجْمِهِ أَوْ أَثَاثِهِ، فَالحُبُّ يَجْعَلُ الغُرْفَةَ الصَّغِيرَةَ وَاسِعَةً.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the people who live in it matter more than its size or furniture — love makes a small room spacious.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يَجْعَلُ البَيْتَ «بَيْتًا» فِي رَأْيِكَ؟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الأَسْعَارَ ارْتَفَعَتْ كَثِيرًا، وَلِأَنَّ الرَّوَاتِبَ لَمْ تَرْتَفِعْ بِالسُّرْعَةِ نَفْسِهَا.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prices have risen a lot, and because salaries haven’t risen as fast.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يَصْعُبُ عَلَى الشَّبَابِ شِرَاءُ بَيْتٍ اليَوْمَ؟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البُيُوتَ الحَدِيثَةَ مُرِيحَةٌ وَمُجَهَّزَةٌ، غَيْرَ أَنَّ البُيُوتَ القَدِيمَةَ لَهَا رُوحٌ وَتَارِيخٌ.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modern homes are comfortable and well-equipped, but old houses have soul and history.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بَيْتًا قَدِيمًا أَمْ حَدِيثًا؟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ahammu min, lam tartafiʿ, ṣaḥīḥun anna … ghayra anna, a past description,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زُرْتُ بَيْتَ عَمِّي فِي القَرْيَةِ، وَكَانَ فِيهِ فِنَاءٌ وَاسِعٌ وَشَجَرَةُ لَيْمُونٍ، فَجَلَسْنَا تَحْتَهَا حَتَّى مُنْتَصَفِ اللَّيْلِ.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visited my uncle’s village house; it had a wide courtyard and a lemon tree, and we sat under it until midnight.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بَيْتًا زُرْتَهُ وَأَعْجَبَكَ.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سَكَنْتُ وَحْدِي، لَجَعَلْتُ غُرْفَةَ الجُلُوسِ مَكْتَبَةً، وَلَزَرَعْتُ نَبَاتَاتٍ فِي كُلِّ زَاوِيَةٍ.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lived alone, I would turn the living room into a library and grow plants in every corner.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سَكَنْتَ وَحْدَكَ، كَيْفَ تُرَتِّبُ بَيْتَكَ؟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ahammu min, lam tartafiʿ, ṣaḥīḥun anna … ghayra anna, a past description,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my home with yūjadu / tūjadu.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numbers of rooms and floors correctly.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where things are with two prepositions.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an opinion of my home with a reason.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past and present, conceded, or used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TB-L04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TB-L04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TB-L04 · Speaking Workshop — My Home, Rooms and Garden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2026-10-11T08:56:41Z</dcterms:created>
  <dcterms:modified xsi:type="dcterms:W3CDTF">2026-10-11T08:56:41Z</dcterms:modified>
</cp:coreProperties>
</file>