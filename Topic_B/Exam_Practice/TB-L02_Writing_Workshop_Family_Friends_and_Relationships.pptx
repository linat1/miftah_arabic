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B, Lesson 2 (Family, Friends and Relationships, TB-L02).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4 is a good place for the dual (ukhtāni · akhawāni).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مَنْ (who) · مَاذَا (what) · صِفْ (describe) · هَلْ (yes/no) · مَا (what) — bullet 3 uses the DUAL past: فَعَلْتُمَا (you two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(59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(83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(110 words). Core model (a girl writing): possessives, ages, superlatives (al-akbar, aṣ-ṣughrā), a past paragraph, an opinion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(136 words). Full-mark model: law … la- (passive khuyyirtu), a relative clause, ammā … fa-kunnā, wa-naḥnu ṣighār, a past narrative, dūna an, a concession and a future.
ENGLISH SUMMARY (read aloud or paste in the chat for Core students): They say you can’t choose your family, but if I could, I would choose mine again: six of us under one roof, with Grandma telling stories of her childhood in Jerusalem; Dad calm and wise, Mum tireless → not perfect: I get on with my little sister completely; as for my older brother, we argued daily as children because he saw himself as responsible for me — stopping me playing in the street and criticising everything I did → everything changed last winter when I broke my leg: he carried my bag and took me to school every morning without complaining; I understood his harshness was a kind of love → it is true friends fill our days with fun, but family stays when things get hard; when my brother leaves to study, I will call him every week and tell him all the news from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for the Stretch title: lā … illā, kāna + present vs ammā … fa-, dūna an, a personal story with kunnā + present, kaʾanna, a concession and a conditional.
ENGLISH SUMMARY (read aloud or paste in the chat for Core students): Friendship has changed in the internet age: hundreds of online “friends”, few known in real life, and loneliness despite the numbers → in the past friends met in the neighbourhood, mosque and school and knew each other’s families; as for today, you can talk daily with a friend in Japan without ever meeting, knowing more about their life than your neighbours’ → my experience: two years ago I met a Tunisian girl in a language group; we messaged daily, and when I visited Tunisia last summer her family welcomed me like a daughter — the virtual friendship became real → it is true the internet brings people together, but it can make us forget friends nearby; “if we set aside weekly time to meet friends face to face, our relationships would be deeper and truer”.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EXAM PRACTICE  ·  TB-L02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Family, Friends and Relationships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العَائِلَةُ وَالأَصْدِقَاءُ</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family-tree form, write an email about your family and best friend, and write an extended piece about your family or about friendship today.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TB-L02 · Advanced Topic B · Personal and Social Life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your family.</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possessive endings (abī, ukhtī, ṣadīqatī); the dual (ukhtāni, maʿahumā); iḍāfa without al- on the first word (ibnu ʿammī); kunnā + present for “we used to”.</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عِنْدِي أُخْتَانِ: الكُبْرَى … وَالصُّغْرَى …</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have two sisters: the elder … and the younger …</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أَتَّفِقُ مَعَهُمَا عَادَةً، غَيْرَ أَنَّنَا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usually get on with them, but we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أَعْرِفُهُ مُنْذُ عَشْرِ سَنَوَاتٍ</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have known him for ten years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School family-information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مَعْلُومَاتِ الأُسْرَةِ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Student’s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اسْمُ الطَّالِبِ</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Father’s name and job</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اسْمُ الأَبِ وَعَمَلُهُ</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Mother’s name and job</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اسْمُ الأُمِّ وَعَمَلُهَا</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brothers and sisters</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عَدَدُ الإِخْوَةِ وَالأَخَوَاتِ</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Another person who lives with you</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شَخْصٌ آخَرُ يَسْكُنُ مَعَكَ</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Emergency phone number</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رَقْمُ هَاتِفٍ لِلطَّوَارِئِ</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Best friend in your class</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اسْمُ صَدِيقِكَ المُفَضَّلِ فِي الصَّفِّ</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who helps you with homework</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مَنْ يُسَاعِدُكَ فِي الوَاجِبَاتِ؟</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 reason.</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School family-information form: model answers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Omar Ahmed</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عُمَرُ أَحْمَدُ</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اسْمُ الطَّالِبِ</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Ahmed, engineer</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أَحْمَدُ، مُهَنْدِسٌ</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اسْمُ الأَبِ وَعَمَلُهُ</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Huda, teacher</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هُدَى، مُعَلِّمَةٌ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اسْمُ الأُمِّ وَعَمَلُهَا</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sisters</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أُخْتَانِ</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عَدَدُ الإِخْوَةِ وَالأَخَوَاتِ</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grandmother</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جَدَّتِي</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شَخْصٌ آخَرُ يَسْكُنُ مَعَكَ</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07800987654</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٠٧٨٠٠٩٨٧٦٥٤</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رَقْمُ هَاتِفٍ لِلطَّوَارِئِ</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Samer Yusuf</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سَامِرٌ يُوسُفُ</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اسْمُ صَدِيقِكَ المُفَضَّلِ فِي الصَّفِّ</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elder sister helps me because she studies at university.</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تُسَاعِدُنِي أُخْتِي الكُبْرَى لِأَنَّهَا تَدْرُسُ فِي الجَامِعَةِ.</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مَنْ يُسَاعِدُكَ فِي الوَاجِبَاتِ؟</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Question 2: my family and my best friend</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رِسَالَةٌ عَنْ أُسْرَتِي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Your Arabic-speaking friend has asked about your family. Write an email in Arabic of about 80–90 words. You must include: • the people in your family and their jobs • your brothers and sisters, and how you get on • your best friend, and what you did together recently • a family plan for the next holiday.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Possessives (abī, ukhtī) and a dual.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أُسْرَتِي … أَشْخَاصٍ</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are … people in my family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أَتَّفِقُ مَعَ … لٰكِنِّي أَتَشَاجَرُ مَعَ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get on with … but I argue with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صَدِيقِي المُفَضَّلُ اسْمُهُ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best friend is called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العُطْلَةِ القَادِمَةِ سَنَزُورُ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holiday we will visit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friend asked about your family: write to him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سَأَلَكَ صَدِيقُكَ عَنْ أُسْرَتِكَ. اكْتُبْ لَهُ رِسَالَةً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in your family; their jobs</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فِي أُسْرَتِكَ؟ وَمَاذَا يَعْمَلُونَ؟</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siblings; how you get on</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صِفْ إِخْوَتَكَ. هَلْ تَتَّفِقُ مَعَهُمْ؟</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best friend; something you did together</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صَدِيقُكَ المُفَضَّلُ؟ وَمَاذَا فَعَلْتُمَا مَعًا مُؤَخَّرًا؟</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family’s plan for the next holiday</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خُطَّةُ أُسْرَتِكَ لِلْعُطْلَةِ القَادِمَةِ؟</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are … people. My dad is …, my mum is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أُسْرَتِي ______ أَشْخَاصٍ. أَبِي ______ ، وَأُمِّي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 I get on with …, but I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عِنْدِي ______ . أَتَّفِقُ مَعَ ______ ، لٰكِنِّي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best friend is called … Yesterday we … together.</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صَدِيقِي المُفَضَّلُ اسْمُهُ ______ . أَمْسِ ______ مَعًا.</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holiday we will visit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العُطْلَةِ القَادِمَةِ سَنَزُورُ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مَرْحَبًا يَا خَالِدُ،</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كَيْفَ حَالُكَ؟ سَأُخْبِرُكَ عَنْ أُسْرَتِي. فِي أُسْرَتِي خَمْسَةُ أَشْخَاصٍ: أَبِي وَأُمِّي وَأُخْتَايَ وَأَنَا. أَبِي مُهَنْدِسٌ، وَأُمِّي مُعَلِّمَةٌ. أُخْتِي الكُبْرَى عُمْرُهَا ثَمَانِيَ عَشْرَةَ سَنَةً، وَهِيَ طَالِبَةٌ فِي الجَامِعَةِ. صَدِيقِي المُفَضَّلُ اسْمُهُ سَامِرٌ، وَهُوَ مَرِحٌ وَذَكِيٌّ. أَمْسِ لَعِبْنَا كُرَةَ القَدَمِ مَعًا فِي الحَدِيقَةِ. فِي العُطْلَةِ القَادِمَةِ سَنَزُورُ جَدِّي وَجَدَّتِي فِي مِصْرَ. وَأَنْتَ، كَمْ أَخًا عِنْدَكَ؟</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عُمَرُ</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Khalid, how are you? I will tell you about my family. There are five people in my family: my dad, my mum, my two sisters and me. My dad is an engineer and my mum is a teacher. My elder sister is eighteen; she is a university student. My best friend is called Samer; he is funny and clever. Yesterday we played football together in the park. Next holiday we will visit my grandparents in Egypt. And you — how many brothers do you have? Goodbye, Omar.”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أُخْتَايَ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أُخْتِي الكُبْرَى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لَعِبْنَا … مَعًا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سَنَزُورُ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عَزِيزِي خَالِدٌ،</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تَحِيَّةً طَيِّبَةً، وَبَعْدُ، فَقَدْ سَأَلْتَنِي فِي رِسَالَتِكَ عَنْ أُسْرَتِي وَأَصْدِقَائِي. أُسْرَتِي صَغِيرَةٌ لٰكِنَّهَا قَرِيبَةٌ جِدًّا مِنْ بَعْضِهَا: أَبِي مُهَنْدِسٌ يَعْمَلُ سَاعَاتٍ طَوِيلَةً، وَأُمِّي مُعَلِّمَةٌ صَبُورَةٌ، وَعِنْدِي أُخْتَانِ؛ الكُبْرَى تَدْرُسُ الطِّبَّ، وَالصُّغْرَى فِي المَدْرَسَةِ الابْتِدَائِيَّةِ. أَتَّفِقُ مَعَهُمَا عَادَةً، غَيْرَ أَنَّنَا نَتَشَاجَرُ أَحْيَانًا عَلَى التِّلْفَازِ! أَمَّا صَدِيقِي المُفَضَّلُ سَامِرٌ فَأَعْرِفُهُ مُنْذُ عَشْرِ سَنَوَاتٍ؛ أَمْسِ سَاعَدَنِي فِي وَاجِبِ الرِّيَاضِيَّاتِ، ثُمَّ لَعِبْنَا مُبَارَاةً فِي الحَدِيقَةِ. فِي العُطْلَةِ القَادِمَةِ سَنُسَافِرُ إِلَى مِصْرَ لِنَزُورَ جَدِّي وَجَدَّتِي. وَأَنْتَ، هَلْ عِنْدَكَ إِخْوَةٌ؟ أَرْسِلْ لِي صُورَةَ أُسْرَتِكَ!</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عُمَرُ</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Khalid, greetings. In your message you asked about my family and friends. My family is small but very close: my dad is an engineer who works long hours, my mum is a patient teacher, and I have two sisters — the elder studies medicine and the younger is at primary school. I usually get on with them both, but we sometimes argue over the TV! As for my best friend Samer, I have known him for ten years; yesterday he helped me with my maths homework, then we played a match in the park. Next holiday we will travel to Egypt to visit my grandparents. And you — do you have brothers and sisters? Send me a photo of your family! Best wishes, Omar.”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عِنْدِي أُخْتَانِ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أَتَّفِقُ مَعَهُمَا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صَدِيقِي … فَأَعْرِفُهُ</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لِنَزُورَ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family and me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عَائِلَتِي وَأَنَا</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family members · your relationship with them · a moment you won’t forget with one of them · what you learned;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cs typeface="Amiri" pitchFamily="2" charset="-78"/>
              </a:rPr>
              <a:t>أَفْرَادُ أُسْرَتِكَ · عَلَاقَتُكَ بِهِمْ · مَوْقِفٌ لَا تَنْسَاهُ مَعَ أَحَدِهِمْ · مَاذَا تَعَلَّمْتَ؟ وَمَا خُطَطُكُمْ؟</a:t>
            </a:r>
            <a:endParaRPr lang="ar-SA" sz="155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Friendship in the internet age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الصَّدَاقَةُ فِي عَصْرِ الإِنْتَرْنِتِ</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friendship has changed · past and present · a personal experience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كَيْفَ تَغَيَّرَتِ الصَّدَاقَةُ؟ · المَاضِي وَالحَاضِرُ · تَجْرِبَةٌ شَخْصِيَّةٌ · رَأْيُكَ وَاقْتِرَاحُكَ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Present — who is in your family, ages, jobs: possessives, numbers, the dual.</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Relationships — attafiqu maʿa …, atashājaru maʿa …; Stretch: ammā … fa-kunnā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moment you won’t forget: ʿindamā …, fa-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Lesson + future — fī raʾyī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عِنْدِي أَخٌ وَأُخْتَانِ.</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have one brother and two sisters.</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كُنَّا نَتَشَاجَرُ كَثِيرًا وَنَحْنُ صِغَارٌ.</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we used to argue a lot when we were little.</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سَأَتَّصِلُ بِهِ كُلَّ أُسْبُوعٍ.</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call him every week.</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أُحِبُّ أُسْرَتِي كَثِيرًا. فِي بَيْتِنَا سِتَّةُ أَشْخَاصٍ: أَبِي وَأُمِّي وَجَدَّتِي وَأَخِي وَأُخْتِي وَأَنَا. أَبِي يَعْمَلُ فِي مَطْعَمٍ، وَأُمِّي تَعْمَلُ فِي مُسْتَشْفًى. جَدَّتِي تَسْكُنُ مَعَنَا، وَهِيَ تَطْبُخُ أَكْلًا لَذِيذًا، وَتَحْكِي لَنَا قِصَصًا جَمِيلَةً.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أَخِي الأَكْبَرُ عُمْرُهُ عِشْرُونَ سَنَةً، وَهُوَ يَدْرُسُ فِي الجَامِعَةِ. أُخْتِي الصُّغْرَى عُمْرُهَا ثَمَانِي سَنَوَاتٍ، وَهِيَ مُضْحِكَةٌ جِدًّا. أَتَّفِقُ مَعَ أُخْتِي، لٰكِنِّي أَتَشَاجَرُ مَعَ أَخِي أَحْيَانًا، لِأَنَّهُ يَأْخُذُ هَاتِفِي.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صَدِيقَتِي المُفَضَّلَةُ اسْمُهَا لَيْلَى. تَعَرَّفْتُ إِلَيْهَا فِي المَدْرَسَةِ قَبْلَ خَمْسِ سَنَوَاتٍ. فِي الأُسْبُوعِ المَاضِي ذَهَبْنَا إِلَى السِّينَمَا مَعًا، وَأَكَلْنَا الفُشَارَ، وَضَحِكْنَا كَثِيرًا. هِيَ ذَكِيَّةٌ وَلَطِيفَةٌ، وَتُسَاعِدُنِي فِي الوَاجِبَاتِ.</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رَأْيِي، الأُسْرَةُ وَالأَصْدِقَاءُ أَهَمُّ شَيْءٍ فِي الحَيَاةِ، لِأَنَّهُمْ يُسَاعِدُونَنَا دَائِمًا. فِي الصَّيْفِ القَادِمِ سَنَزُورُ خَالَتِي فِي دُبَيٍّ، وَسَأَلْعَبُ مَعَ بَنَاتِ خَالَتِي.</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Six at home: Dad (restaurant), Mum (hospital), Grandma (cooks delicious food and tells lovely stories), brother, sister and me → older brother 20 at university; little sister 8, very funny; I get on with my sister but argue with my brother because he takes my phone → best friend Layla, met at school five years ago; last week cinema, popcorn and lots of laughing; she is clever and kind and helps with homework → family and friends matter most because they always help; next summer we’ll visit my aunt in Dubai and I’ll play with my cousins.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سِتَّةُ أَشْخَاصٍ</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أَخِي الأَكْبَرُ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تَعَرَّفْتُ إِلَيْهَا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سَنَزُورُ خَالَتِي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يَقُولُونَ إِنَّ الإِنْسَانَ لَا يَخْتَارُ عَائِلَتَهُ، لٰكِنِّي لَوْ خُيِّرْتُ، لَاخْتَرْتُ عَائِلَتِي نَفْسَهَا. نَحْنُ سِتَّةُ أَشْخَاصٍ نَسْكُنُ فِي بَيْتٍ وَاحِدٍ، وَمَعَنَا جَدَّتِي الَّتِي تَحْكِي لَنَا كُلَّ لَيْلَةٍ قِصَصًا عَنْ طُفُولَتِهَا فِي القُدْسِ. أَبِي هَادِئٌ وَحَكِيمٌ، وَأُمِّي نَشِيطَةٌ لَا تَتْعَبُ أَبَدًا.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عَلَاقَتِي بِإِخْوَتِي لَيْسَتْ مِثَالِيَّةً؛ فَأَنَا أَتَّفِقُ مَعَ أُخْتِي الصُّغْرَى تَمَامًا، أَمَّا أَخِي الأَكْبَرُ فَكُنَّا نَتَشَاجَرُ يَوْمِيًّا وَنَحْنُ صِغَارٌ، لِأَنَّهُ كَانَ يَعْتَبِرُ نَفْسَهُ المَسْؤُولَ عَنِّي، فَيَمْنَعُنِي مِنَ اللَّعِبِ فِي الشَّارِعِ وَيَنْتَقِدُ كُلَّ مَا أَفْعَلُهُ.</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لٰكِنَّ كُلَّ شَيْءٍ تَغَيَّرَ فِي الشِّتَاءِ المَاضِي، عِنْدَمَا كُسِرَتْ رِجْلِي فِي مُبَارَاةٍ؛ فَقَدْ كَانَ أَخِي يَحْمِلُ حَقِيبَتِي، وَيُوصِلُنِي إِلَى المَدْرَسَةِ كُلَّ صَبَاحٍ دُونَ أَنْ يَشْكُوَ. يَوْمَهَا فَهِمْتُ أَنَّ قَسْوَتَهُ كَانَتْ نَوْعًا مِنَ الحُبِّ.</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الأَصْدِقَاءَ يَمْلَؤُونَ أَيَّامَنَا بِالمَرَحِ، غَيْرَ أَنَّ العَائِلَةَ هِيَ الَّتِي تَبْقَى عِنْدَمَا يَصْعُبُ كُلُّ شَيْءٍ. وَفِي المُسْتَقْبَلِ، عِنْدَمَا يُسَافِرُ أَخِي لِلدِّرَاسَةِ، سَأَتَّصِلُ بِهِ كُلَّ أُسْبُوعٍ، وَسَأَحْكِي لَهُ كُلَّ أَخْبَارِ البَيْتِ.</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خُيِّرْتُ، لَاخْتَرْتُ</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أَخِي … فَكُنَّا نَتَشَاجَرُ</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دُونَ أَنْ يَشْكُوَ</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هِيَ الَّتِي تَبْقَى</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Q3 (</a:t>
            </a:r>
            <a:pPr algn="l" indent="0" marL="0">
              <a:buNone/>
            </a:pPr>
            <a:r>
              <a:rPr lang="ar-SA" altLang="en-US" sz="3050" b="1" dirty="0">
                <a:solidFill>
                  <a:srgbClr val="1B3B6F"/>
                </a:solidFill>
                <a:latin typeface="Amiri" pitchFamily="2" charset="-78"/>
                <a:cs typeface="Amiri" pitchFamily="2" charset="-78"/>
              </a:rPr>
              <a:t>ب</a:t>
            </a:r>
            <a:pPr algn="l" indent="0" marL="0">
              <a:buNone/>
            </a:pPr>
            <a:r>
              <a:rPr lang="en-US" sz="2350" b="1" dirty="0">
                <a:solidFill>
                  <a:srgbClr val="1B3B6F"/>
                </a:solidFill>
                <a:latin typeface="Cambria" pitchFamily="34" charset="0"/>
                <a:cs typeface="Amiri" pitchFamily="2" charset="-78"/>
              </a:rPr>
              <a:t>) full-mark model: friendship online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تَغَيَّرَتِ الصَّدَاقَةُ كَثِيرًا فِي عَصْرِ الإِنْتَرْنِتِ؛ فَأَصْبَحَ عِنْدَ كَثِيرٍ مِنَ الشَّبَابِ مِئَاتُ «الأَصْدِقَاءِ» عَلَى وَسَائِلِ التَّوَاصُلِ، لٰكِنَّهُمْ لَا يَعْرِفُونَ إِلَّا القَلِيلَ مِنْهُمْ فِي الحَيَاةِ الحَقِيقِيَّةِ، وَقَدْ يَشْعُرُونَ بِالوَحْدَةِ رَغْمَ هٰذَا العَدَدِ الكَبِيرِ.</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المَاضِي كَانَ الأَصْدِقَاءُ يَلْتَقُونَ فِي الحَيِّ وَالمَسْجِدِ وَالمَدْرَسَةِ، وَيَعْرِفُ كُلٌّ مِنْهُمْ أُسْرَةَ الآخَرِ، أَمَّا اليَوْمَ فَيُمْكِنُ أَنْ تَتَحَدَّثَ مَعَ صَدِيقٍ فِي اليَابَانِ كُلَّ يَوْمٍ دُونَ أَنْ تَرَاهُ أَبَدًا، وَأَنْ تَعْرِفَ عَنْ حَيَاتِهِ أَكْثَرَ مِمَّا تَعْرِفُ عَنْ جِيرَانِكَ.</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لِي تَجْرِبَةٌ مَعَ ذٰلِكَ؛ فَقَدْ تَعَرَّفْتُ قَبْلَ سَنَتَيْنِ إِلَى صَدِيقَةٍ مِنْ تُونِسَ فِي مَجْمُوعَةٍ لِتَعَلُّمِ اللُّغَاتِ، فَكُنَّا نَتَبَادَلُ الرَّسَائِلَ يَوْمِيًّا، وَعِنْدَمَا زُرْتُ تُونِسَ فِي الصَّيْفِ المَاضِي، اسْتَقْبَلَتْنِي أُسْرَتُهَا كَأَنِّي ابْنَتُهُمْ، فَأَصْبَحَتِ الصَّدَاقَةُ الافْتِرَاضِيَّةُ صَدَاقَةً حَقِيقِيَّةً.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الإِنْتَرْنِتَ يَجْمَعُ النَّاسَ مِنْ كُلِّ العَالَمِ، غَيْرَ أَنَّهُ قَدْ يَجْعَلُنَا نَنْسَى الأَصْدِقَاءَ القَرِيبِينَ مِنَّا. وَلَوْ خَصَّصْنَا وَقْتًا أَسْبُوعِيًّا لِلِقَاءِ أَصْدِقَائِنَا وَجْهًا لِوَجْهٍ، لَأَصْبَحَتْ عَلَاقَاتُنَا أَعْمَقَ وَأَصْدَقَ.</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لَا يَعْرِفُونَ إِلَّا القَلِيلَ</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اليَوْمَ فَيُمْكِنُ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كَأَنِّي ابْنَتُهُمْ</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خَصَّصْنَا … لَأَصْبَحَتْ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family words with the right ending.</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dual (ukhtāni, maʿahumā) and an iḍāfa.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ammā … fa-, a concession or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TB-L03 · Exam practice · Speaking and writing workshops — the next Topic B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TB-L02 · Writing Workshop — Family, Friends and Relationships</dc:title>
  <dc:subject>PptxGenJS Presentation</dc:subject>
  <dc:creator>Al Madina Online School · Arabic Department</dc:creator>
  <cp:lastModifiedBy>Al Madina Online School · Arabic Department</cp:lastModifiedBy>
  <cp:revision>1</cp:revision>
  <dcterms:created xsi:type="dcterms:W3CDTF">2026-10-11T08:50:01Z</dcterms:created>
  <dcterms:modified xsi:type="dcterms:W3CDTF">2026-10-11T08:50:01Z</dcterms:modified>
</cp:coreProperties>
</file>