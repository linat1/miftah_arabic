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5 (Furniture, Furnishings and Appliances, TB-L05).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is an iḍāfa (ghurfatu n-nawm).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مَاذَا (what) · أَيْنَ (where) · مَا المُشْكِلَةُ (what problem) · ادْعِي (invite — to a girl) — bullets 1–2 are PAST, bullet 4 is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(80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laysat + accusative, colours that agree, a dual (raffāni), iḍāfa, a past paragraph, an opinion and a future plan with -hu.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reported view (yaqūlūna inna …), laysa + accusative, a relative clause with a resumptive pronoun, aʿṭānī iyyāhu, ammā … fa-, dūna an, li- of purpose, a concession and law … la-.
ENGLISH SUMMARY (read aloud or paste in the chat for Core students): They say a room reflects its owner, and mine says I love books and quiet; not spacious, but every piece has its place and story → in front of the window, an old wooden desk that was my grandfather’s, given to me when I started secondary school; shelves above it full of books collected since childhood; as for the bed, it is by the wall under a big picture of Jerusalem → last holiday I renewed the room without spending much: calm blue walls, a new shelf from old wooden crates, the desk moved to catch the morning sun — it cost only the paint, but took a whole week → it is true new furniture is beautiful, but old things carry memories money can’t buy; at university I’ll take Grandpa’s desk, “and if it were too heavy, I’d take at least one drawer!”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a relative clause with a resumptive pronoun, kāna + present vs ammā … fa-, lam + jussive, kam (how much), a concession and law … lamā.
ENGLISH SUMMARY (read aloud or paste in the chat for Core students): Our homes are full of appliances — washing machines, fridges, ovens, even robot vacuums and lights switched on by phone or voice — saving the hours our grandparents spent on housework → in the past my grandmother washed ten people’s clothes by hand and baked bread in a clay oven every morning; as for my mum, she presses a button and buys ready-made bread, leaving time for her job and for us → but comfort has a price: last winter a two-day power cut stopped everything at home — we didn’t know how to cook or keep warm; then I understood how dependent on machines we have become, while Grandma laughed and lit a fire to cook for us → it is true modern appliances are a blessing, but they use a lot of energy and make us forget important skills; “if every young person learned some old skills, they would never fear a power cut, and would live a simpler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Furniture and Appliances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الأَثَاثُ وَالأَجْهِزَةُ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furniture-delivery form, write an email about changing your room and a broken appliance, and write an extended piece about your room or about appliances in modern life.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TB-L05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changing your room.</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iḍāfa without al- on the first word (khizānatu l-malābis); -hu for masculine things, -hā for feminine (and non-human plurals); allatī after a feminine noun.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وَضَعْتُ المَكْتَبَ بِجَانِبِ النَّافِذَةِ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put the desk next to the window</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الغَسَّالَةُ الَّتِي اشْتَرَيْنَاهَا تَعَطَّلَتْ</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washing machine we bought has broken</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صَبَغْتُهُ بَدَلًا مِنْ أَنْ أَشْتَرِيَ وَاحِدًا جَدِيدًا</a:t>
            </a:r>
            <a:endParaRPr lang="ar-SA" sz="27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painted it instead of buying a new one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Furniture delivery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تَوْصِيلِ 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Customer’s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الزَّبُونِ</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Address</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العُنْوَانُ</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item</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القِطْعَةُ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room</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الغُرْفَةُ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Delivery day and time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يَوْمُ التَّوْصِيلِ وَوَقْتُهُ</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floor? Is there a lift?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أَيِّ طَابِقٍ؟ هَلْ يُوجَدُ مِصْعَدٌ؟</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where you will put the desk</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أَيْنَ سَتَضَعُ المَكْتَبَ؟</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-hu (saʾaḍaʿuhu).</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Furniture delivery form: model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Reem Yusuf</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رِيمُ يُوسُفُ</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الزَّبُونِ</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14 Park Street</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١٤ شَارِعُ الحَدِيقَةِ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العُنْوَانُ</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bed and a desk</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سَرِيرٌ وَمَكْتَبٌ</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القِطْعَةُ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white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أَبْيَضُ</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اللَّوْنُ</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bedroom</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النَّوْمِ</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الغُرْفَةُ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10 a.m.</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السَّبْتُ، العَاشِرَةُ صَبَاحًا</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التَّوْصِيلِ وَوَقْتُهُ</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third floor, no lift</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الطَّابِقُ الثَّالِثُ، لَا يُوجَدُ مِصْعَدٌ</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أَيِّ طَابِقٍ؟ هَلْ يُوجَدُ مِصْعَدٌ؟</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put it next to the window because the light is good there.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سَأَضَعُهُ بِجَانِبِ النَّافِذَةِ لِأَنَّ الضَّوْءَ هُنَاكَ جَيِّدٌ.</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أَيْنَ سَتَضَعُ المَكْتَبَ؟</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new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غُرْفَتِي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have changed the furniture in your room. Write an email in Arabic to your friend of about 80–90 words. You must include: • what furniture you bought or changed • where you put things in the room • a problem with an appliance at home • what will happen next, and an invitation.</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prepositions and an iḍāfa.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-hu / -hā for “it”.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 وَغَيَّرْتُ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 and changed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وَضَعْتُ … بِجَانِبِ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put … next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مُعَطَّلَةٌ مُنْذُ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has been broken since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سَيَأْتِي الفَنِّيُّ لِيُصْلِحَهَا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technician will come to fix it</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changed your room’s furniture: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غَيَّرْتِ أَثَاثَ غُرْفَتِكِ.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bought or changed</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اشْتَرَيْتِ أَوْ غَيَّرْتِ؟</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put things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وَضَعْتِ الأَشْيَاءَ فِي الغُرْفَةِ؟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problem with an appliance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المُشْكِلَةُ فِي أَحَدِ أَجْهِزَةِ البَيْتِ؟</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happen next; invite your friend</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سَيَحْدُثُ بَعْدَ ذٰلِكَ؟ ادْعِي صَدِيقَتَكِ.</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changed my room. I bought … and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غَيَّرْتُ أَثَاثَ غُرْفَتِي. اشْتَرَيْتُ ______ وَ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put … next to …, and above … there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وَضَعْتُ ______ بِجَانِبِ ______ ، وَفَوْقَ ______ يُوجَدُ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the … has been broken since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لٰكِنَّ ______ مُعَطَّلَةٌ مُنْذُ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Tomorrow the technician will come. Come and see my room!</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غَدًا سَيَأْتِي الفَنِّيُّ. تَعَالَيْ وَشَاهِدِي غُرْفَتِي!</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هَالَةُ،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غَيَّرْتُ أَثَاثَ غُرْفَتِي فِي نِهَايَةِ الأُسْبُوعِ. اشْتَرَيْتُ سَرِيرًا جَدِيدًا وَمَكْتَبًا أَبْيَضَ، وَوَضَعْتُ المَكْتَبَ بِجَانِبِ النَّافِذَةِ. فَوْقَ المَكْتَبِ يُوجَدُ رَفٌّ لِلْكُتُبِ. السَّتَائِرُ الجَدِيدَةُ زَرْقَاءُ، وَأَنَا أُحِبُّهَا كَثِيرًا، لِأَنَّهَا جَمِيلَةٌ. لٰكِنَّ عِنْدَنَا مُشْكِلَةً: الغَسَّالَةُ مُعَطَّلَةٌ مُنْذُ يَوْمَيْنِ، فَغَسَلْنَا المَلَابِسَ بِأَيْدِينَا! غَدًا سَيَأْتِي الفَنِّيُّ لِيُصْلِحَهَا. فِي العُطْلَةِ تَعَالَيْ وَشَاهِدِي غُرْفَتِي!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Hala, how are you? I changed the furniture in my room at the weekend. I bought a new bed and a white desk, and put the desk next to the window. Above the desk there is a bookshelf. The new curtains are blue, and I love them, because they are beautiful. But we have a problem: the washing machine has been broken for two days, so we washed our clothes by hand! Tomorrow the technician will come to fix it. Come in the holiday and see my room! Goodbye, Reem.”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وَضَعْتُ المَكْتَبَ بِجَانِبِ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أُحِبُّهَا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مُعَطَّلَةٌ مُنْذُ</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لِيُصْلِحَهَا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هَالَةُ،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فَقَدْ قَضَيْتُ نِهَايَةَ الأُسْبُوعِ أُغَيِّرُ أَثَاثَ غُرْفَتِي، الَّتِي لَمْ تَتَغَيَّرْ مُنْذُ كُنْتُ فِي العَاشِرَةِ. اشْتَرَيْتُ سَرِيرًا أَكْبَرَ، وَصَبَغْتُ مَكْتَبِيَ القَدِيمَ بِاللَّوْنِ الأَبْيَضِ بَدَلًا مِنْ أَنْ أَشْتَرِيَ مَكْتَبًا جَدِيدًا، ثُمَّ وَضَعْتُهُ بِجَانِبِ النَّافِذَةِ لِأَدْرُسَ فِي ضَوْءِ الشَّمْسِ. أَمَّا الخِزَانَةُ القَدِيمَةُ فَأَعْطَيْنَاهَا لِبِنْتِ خَالَتِي. لٰكِنَّ فَرْحَتِي لَمْ تَكْتَمِلْ؛ فَالغَسَّالَةُ الَّتِي اشْتَرَيْنَاهَا قَبْلَ سَنَةٍ تَعَطَّلَتْ، وَأَغْرَقَتْ أَرْضَ المَطْبَخِ بِالمَاءِ! سَيَأْتِي الفَنِّيُّ غَدًا، وَإِذَا لَمْ يَسْتَطِعْ أَنْ يُصْلِحَهَا، فَسَنَشْتَرِي وَاحِدَةً جَدِيدَةً. تَعَالَيْ فِي العُطْلَةِ لِتَرَيْ غُرْفَتِي!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Hala, greetings. I spent the weekend changing the furniture in my room, which hadn’t changed since I was ten. I bought a bigger bed, and painted my old desk white instead of buying a new one, then put it by the window so I can study in the sunlight. As for the old wardrobe, we gave it to my cousin. But my joy wasn’t complete: the washing machine we bought a year ago broke down and flooded the kitchen floor! The technician comes tomorrow, and if he can’t fix it, we’ll buy a new one. Come in the holiday to see my room! With love, Reem.”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لَمْ تَتَغَيَّرْ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بَدَلًا مِنْ أَنْ أَشْتَرِيَ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الخِزَانَةُ … فَأَعْطَيْنَاهَا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لَمْ يَسْتَطِعْ … فَسَنَشْتَرِي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room</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غُرْفَتِي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room and furniture · where things are; what you use them for · a change you made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صِفْ غُرْفَتَكَ وَأَثَاثَهَا · أَيْنَ الأَشْيَاءُ؟ وَلِمَاذَا تَسْتَعْمِلُهَا؟ · تَغْيِيرٌ قُمْتَ بِهِ فِي غُرْفَتِكَ · رَأْيُكَ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Modern appliances: comfort or dependence?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الأَجْهِزَةُ الحَدِيثَةُ: رَاحَةٌ أَمْ اعْتِمَادٌ؟</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Appliances in our homes today · past and present · a personal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الأَجْهِزَةُ فِي بُيُوتِنَا اليَوْمَ · المَاضِي وَالحَاضِرُ · تَجْرِبَةٌ شَخْصِيَّةٌ · رَأْيُكَ وَاقْتِرَاحُكَ</a:t>
            </a:r>
            <a:endParaRPr lang="ar-SA" sz="165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Describe — size, colours, furniture: iḍāfa (khizānatu l-malābis), laysa … lākinna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 what for — bijānibi, fawqa, amāma; asta‘miluhu li- …; Stretch: ammā … fa-.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change: ṣabaghtu, ishtaraytu, naqaltu …; dūna an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فَوْقَ المَكْتَبِ رَفَّانِ لِلْكُتُبِ.</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above the desk there are two bookshelves.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صَبَغْنَا الجُدْرَانَ، وَاشْتَرَيْنَا مِصْبَاحًا.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painted the walls and bought a lamp.</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سَأَضَعُهُ فِي الزَّاوِيَةِ.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put it in the corner.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غُرْفَتِي هِيَ أَحَبُّ مَكَانٍ إِلَيَّ فِي البَيْتِ. هِيَ لَيْسَتْ كَبِيرَةً، لٰكِنَّهَا مُرَتَّبَةٌ وَمُرِيحَةٌ. جُدْرَانُهَا خَضْرَاءُ فَاتِحَةٌ، وَسَتَائِرُهَا بَيْضَاءُ. غُرْفَتِي فِي الطَّابِقِ الأَوَّلِ، بِجَانِبِ غُرْفَةِ أُخْتِي.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غُرْفَتِي سَرِيرٌ بِجَانِبِ الجِدَارِ، وَمَكْتَبٌ أَمَامَ النَّافِذَةِ. فَوْقَ المَكْتَبِ رَفَّانِ لِلْكُتُبِ، وَعَلَى الأَرْضِ سَجَّادَةٌ رَمَادِيَّةٌ نَاعِمَةٌ. خِزَانَةُ المَلَابِسِ كَبِيرَةٌ، وَأَضَعُ فِيهَا مَلَابِسِي وَأَحْذِيَتِي. أَسْتَعْمِلُ المَكْتَبَ لِلدِّرَاسَةِ كُلَّ يَوْمٍ، وَأَسْتَعْمِلُ الرُّفُوفَ لِكُتُبِي وَأَلْعَابِي القَدِيمَةِ.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الصَّيْفِ المَاضِي غَيَّرْتُ غُرْفَتِي مَعَ أَبِي. صَبَغْنَا الجُدْرَانَ، وَاشْتَرَيْنَا مِصْبَاحًا جَدِيدًا لِلْمَكْتَبِ. عَمِلْنَا ثَلَاثَةَ أَيَّامٍ، وَكَانَ العَمَلُ مُتْعِبًا، لٰكِنَّهُ كَانَ مُمْتِعًا جِدًّا. أُمِّي قَالَتْ إِنَّ الغُرْفَةَ أَصْبَحَتْ أَجْمَلَ غُرْفَةٍ فِي البَيْتِ!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الغُرْفَةُ المُرَتَّبَةُ تُسَاعِدُ عَلَى الدِّرَاسَةِ. فِي المُسْتَقْبَلِ أُرِيدُ أَنْ أَشْتَرِيَ كُرْسِيًّا مُرِيحًا لِلْقِرَاءَةِ، وَسَأَضَعُهُ فِي الزَّاوِيَةِ بِجَانِبِ الرَّفِّ.</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room is my favourite place: not big, but tidy and comfortable; pale green walls, white curtains; first floor, next to my sister’s room → bed by the wall, desk in front of the window; two shelves above the desk, a soft grey rug; a big wardrobe for clothes and shoes; I use the desk to study every day, and the shelves for books and old toys → last summer Dad and I changed it: painted the walls, bought a new desk lamp; three tiring but fun days; Mum said it became the nicest room in the house → a tidy room helps you study; I want to buy a comfy reading chair and will put it in the corner by the shelf.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لَيْسَتْ كَبِيرَةً، لٰكِنَّهَا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رَفَّانِ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خِزَانَةُ المَلَابِسِ</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سَأَضَعُهُ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يَقُولُونَ إِنَّ غُرْفَةَ الإِنْسَانِ تَعْكِسُ شَخْصِيَّتَهُ، وَأَظُنُّ أَنَّ غُرْفَتِي تَقُولُ عَنِّي إِنِّي أُحِبُّ الكُتُبَ وَالهُدُوءَ. هِيَ لَيْسَتْ وَاسِعَةً، لٰكِنَّ كُلَّ قِطْعَةِ أَثَاثٍ فِيهَا لَهَا مَكَانُهَا وَقِصَّتُهَا.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أَمَامَ النَّافِذَةِ مَكْتَبٌ خَشَبِيٌّ قَدِيمٌ كَانَ لِجَدِّي، وَقَدْ أَعْطَانِي إِيَّاهُ عِنْدَمَا بَدَأْتُ المَرْحَلَةَ الثَّانَوِيَّةَ. فَوْقَهُ رُفُوفٌ مَلِيئَةٌ بِالكُتُبِ الَّتِي جَمَعْتُهَا مُنْذُ صِغَرِي، أَمَّا السَّرِيرُ فَبِجَانِبِ الجِدَارِ، تَحْتَ صُورَةٍ كَبِيرَةٍ لِمَدِينَةِ القُدْسِ.</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العُطْلَةِ المَاضِيَةِ قَرَّرْتُ أَنْ أُجَدِّدَ الغُرْفَةَ دُونَ أَنْ أُنْفِقَ كَثِيرًا؛ فَصَبَغْتُ الجُدْرَانَ بِلَوْنٍ أَزْرَقَ هَادِئٍ، وَصَنَعْتُ مِنْ صَنَادِيقَ خَشَبِيَّةٍ قَدِيمَةٍ رَفًّا جَدِيدًا، وَنَقَلْتُ المَكْتَبَ لِيَصِلَهُ ضَوْءُ الشَّمْسِ فِي الصَّبَاحِ. لَمْ يُكَلِّفْنِي ذٰلِكَ إِلَّا ثَمَنَ الصَّبْغِ، لٰكِنَّهُ أَخَذَ أُسْبُوعًا كَامِلًا مِنَ العَمَلِ.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الأَثَاثَ الجَدِيدَ جَمِيلٌ، غَيْرَ أَنَّ الأَشْيَاءَ القَدِيمَةَ تَحْمِلُ ذِكْرَيَاتٍ لَا تُشْتَرَى. وَعِنْدَمَا أَدْرُسُ فِي الجَامِعَةِ، سَآخُذُ مَكْتَبَ جَدِّي مَعِي، وَلَوْ كَانَ ثَقِيلًا جِدًّا، لَأَخَذْتُ مِنْهُ دُرْجًا وَاحِدًا عَلَى الأَقَلِّ!</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لِجَدِّي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جَمَعْتُهَا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دُونَ أَنْ أُنْفِقَ</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كَانَ … لَأَخَذْتُ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Q3 (</a:t>
            </a:r>
            <a:pPr algn="l" indent="0" marL="0">
              <a:buNone/>
            </a:pPr>
            <a:r>
              <a:rPr lang="ar-SA" altLang="en-US" sz="2550" b="1" dirty="0">
                <a:solidFill>
                  <a:srgbClr val="1B3B6F"/>
                </a:solidFill>
                <a:latin typeface="Amiri" pitchFamily="2" charset="-78"/>
                <a:ea typeface="Amiri" pitchFamily="2" charset="-78"/>
                <a:cs typeface="Amiri" pitchFamily="2" charset="-78"/>
              </a:rPr>
              <a:t>ب</a:t>
            </a:r>
            <a:pPr algn="l" indent="0" marL="0">
              <a:buNone/>
            </a:pPr>
            <a:r>
              <a:rPr lang="en-US" sz="1950" b="1" dirty="0">
                <a:solidFill>
                  <a:srgbClr val="1B3B6F"/>
                </a:solidFill>
                <a:latin typeface="Cambria" pitchFamily="34" charset="0"/>
                <a:cs typeface="Amiri" pitchFamily="2" charset="-78"/>
              </a:rPr>
              <a:t>) full-mark model: comfort or dependence?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امْتَلَأَتْ بُيُوتُنَا اليَوْمَ بِالأَجْهِزَةِ الكَهْرَبَائِيَّةِ: غَسَّالَاتٌ وَثَلَّاجَاتٌ وَأَفْرَانٌ، وَحَتَّى مَكَانِسُ تَعْمَلُ وَحْدَهَا، وَمَصَابِيحُ نُشَغِّلُهَا بِالهَاتِفِ أَوْ بِالصَّوْتِ. وَهٰذِهِ الأَجْهِزَةُ تُوَفِّرُ عَلَيْنَا سَاعَاتٍ طَوِيلَةً كَانَ أَجْدَادُنَا يَقْضُونَهَا فِي أَعْمَالِ البَيْتِ.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كَانَتْ جَدَّتِي تَغْسِلُ مَلَابِسَ عَشَرَةِ أَشْخَاصٍ بِيَدَيْهَا، وَتَخْبِزُ الخُبْزَ فِي فُرْنٍ مِنَ الطِّينِ كُلَّ صَبَاحٍ، أَمَّا أُمِّي فَتُشَغِّلُ الغَسَّالَةَ بِضَغْطَةِ زِرٍّ، وَتَشْتَرِي الخُبْزَ جَاهِزًا مِنَ المَخْبَزِ، فَيَبْقَى عِنْدَهَا وَقْتٌ لِعَمَلِهَا وَلَنَا.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لٰكِنَّ لِهٰذِهِ الرَّاحَةِ ثَمَنًا. فِي الشِّتَاءِ المَاضِي انْقَطَعَتِ الكَهْرَبَاءُ فِي حَيِّنَا يَوْمَيْنِ، فَتَوَقَّفَ كُلُّ شَيْءٍ فِي البَيْتِ، وَلَمْ نَعْرِفْ كَيْفَ نَطْبُخُ أَوْ نُدَفِّئُ أَنْفُسَنَا. حِينَئِذٍ فَهِمْتُ كَمْ أَصْبَحْنَا نَعْتَمِدُ عَلَى الآلَاتِ، بَيْنَمَا كَانَتْ جَدَّتِي تَضْحَكُ وَتُشْعِلُ النَّارَ لِتَطْبُخَ لَنَا.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الأَجْهِزَةَ الحَدِيثَةَ نِعْمَةٌ، غَيْرَ أَنَّهَا تَسْتَهْلِكُ طَاقَةً كَثِيرَةً، وَتَجْعَلُنَا نَنْسَى مَهَارَاتٍ مُهِمَّةً. وَلَوْ تَعَلَّمَ كُلُّ شَابٍّ بَعْضَ هٰذِهِ المَهَارَاتِ القَدِيمَةِ، لَمَا خَافَ مِنِ انْقِطَاعِ الكَهْرَبَاءِ أَبَدًا، وَلَعَاشَ حَيَاةً أَبْسَطَ.</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أَجْدَادُنَا يَقْضُونَهَا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أُمِّي فَتُشَغِّلُ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وَلَمْ نَعْرِفْ كَيْفَ</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تَعَلَّمَ … لَمَا خَافَ</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furniture words spelt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-hu / -hā and an iḍāfa used correctly.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allatī / alladhī,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TB-L06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TB-L05 · Writing Workshop — Furniture and Appliances</dc:title>
  <dc:subject>PptxGenJS Presentation</dc:subject>
  <dc:creator>Al Madina Online School · Arabic Department</dc:creator>
  <cp:lastModifiedBy>Al Madina Online School · Arabic Department</cp:lastModifiedBy>
  <cp:revision>1</cp:revision>
  <dcterms:created xsi:type="dcterms:W3CDTF">2026-10-11T09:00:11Z</dcterms:created>
  <dcterms:modified xsi:type="dcterms:W3CDTF">2026-10-11T09:00:11Z</dcterms:modified>
</cp:coreProperties>
</file>