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10 (Topic B mixed practice — new neighbours, TB-L10).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the dual bintāni. Every box recycles a Topic B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مِنْ أَيْنَ (from where) · صِفِي (describe) · مَاذَا (what) · كَيْفَ (how) · ادْعِي (invite) — watch the pronouns: hum · maʿahum · bihim.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every Topic B area — home, numbers, colours, materials, nationalities, appearance, a sequenced past story, an opinion and a future plan; pronouns -hum and -hā tracked.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proverb hook, lam + jussive + ḥattā, laysa + accusative, a relative-style description, ammā … fa-, yabdū + accusative, dūna an, a concession and idhā … fa-sa-.
ENGLISH SUMMARY (read aloud or paste in the chat for Core students): The proverb “the neighbour before the house” made no sense to me until we moved here three years ago: our house isn’t big and the kitchen is narrow, but our neighbours made it the best house in the world and became part of our daily life → on the right a Syrian family: the father, a skilled carpenter, made me a bookshelf; as for the mother, she sends us a plate of kibbeh every Friday; on the left an elderly Englishman who seems strict but tells us funny stories about his youth and teaches my little brother chess every Sunday → I’ll never forget the day we arrived: pouring rain, wet furniture in the street; every neighbour came out without being asked, carried boxes to the last piece, then invited us to dinner → it is true every house has its privacy, but a neighbourhood becomes a big family when people care; “if new neighbours come to our street, I’ll be the first to knock and welcome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maʿa dhālika, in kāna, kāna + present vs ammā … fa-, iqtaraḥa an + subjunctive, a dual verb (yabniyā), a concession and a conditional.
ENGLISH SUMMARY (read aloud or paste in the chat for Core students): In modern cities people live very close — one wall may separate you from your neighbour, yet you don’t know his name or whether he is ill or needs help → in the past neighbours exchanged food and visits, celebrated Eid together, and children played in the street under every mother’s eye; as for today, most of us spend our time behind closed doors and in front of screens → but change is possible: last summer Dad suggested a “street lunch”; every family brought a dish from its country — Pakistani biryani, Moroccan couscous, English pies; since then neighbours greet each other, cooperate and watch each other’s houses in the holidays → it is true modern life is fast and tiring, but a smile and a simple question can build a friendship; “if every area set aside one day a year to meet neighbours, our cities would be warmer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Mixed Topic B: New Neighbours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الجِيرَانُ الجُدُدُ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using all of Topic B: fill in a neighbourhood-welcome form, write an email about your new neighbours, and write an extended piece about your neighbours or about neighbours today.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TB-L10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new neighbours.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pronoun: who is -hu, -hā, -hum? Adjectives agree (ṭawīla, ʿajūz laṭīfa); yabdū / tabdū + accusative; the dual for two daughters (bintāni / bintayni).</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انْتَقَلُوا إِلَى البَيْتِ الَّذِي بِجَانِبِ بَيْتِنَا</a:t>
            </a:r>
            <a:endParaRPr lang="ar-SA" sz="27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they moved into the house next to ours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تَبْدُو خَجُولَةً، لٰكِنَّهَا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seems shy, but she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سَنَدْعُوهُمْ إِلَى العَشَاءِ</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will invite them to dinner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Neighbourhood welcome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التَّرْحِيبِ بِالجِيرَانِ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 family’s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الأُسْرَةِ الجَدِيدَةِ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 number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البَيْتِ</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they are from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هُمْ؟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in the family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أَفْرَادِ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languages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لُغَاتُهُمْ</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hobby one of them likes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هِوَايَةٌ يُحِبُّهَا أَحَدُهُمْ</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they need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شَيْءٌ يَحْتَاجُونَ إِلَيْهِ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 will welcome them</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كَيْفَ سَتُرَحِّبُ بِهِمْ؟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-hum (sanadʿūhum).</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Neighbourhood welcome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Alawi family</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أُسْرَةُ العَلَوِيِّ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الأُسْرَةِ الجَدِيدَةِ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twelve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اثْنَا عَشَرَ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البَيْتِ</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Morocco</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المَغْرِبِ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هُمْ؟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father, mother, two daughters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أَبٌ وَأُمٌّ وَبِنْتَانِ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أَفْرَادِ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French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 وَالفَرَنْسِيَّةُ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لُغَاتُهُمْ</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هِوَايَةٌ يُحِبُّهَا أَحَدُهُمْ</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fridge technician’s number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رَقْمُ فَنِّيٍّ لِلثَّلَّاجَةِ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شَيْءٌ يَحْتَاجُونَ إِلَيْهِ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We will invite them to dinner on Friday, because their kitchen isn’t ready yet.</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سَنَدْعُوهُمْ إِلَى العَشَاءِ يَوْمَ الجُمُعَةِ، لِأَنَّ مَطْبَخَهُمْ لَيْسَ جَاهِزًا بَعْدُ.</a:t>
            </a:r>
            <a:endParaRPr lang="ar-SA" sz="14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كَيْفَ سَتُرَحِّبُ بِهِمْ؟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new neighbours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جِيرَانِنَا الجُدُدِ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A new family has moved in next door. Write an email in Arabic to your friend of about 80–90 words. You must include: • who they are and where they are from • a description of one family member (looks and personality) • what you did with them yesterday • your plan to welcome them, and an invitation to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Agreement and the right pronouns.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انْتَقَلُوا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moved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طَوِيلَةٌ، وَشَعْرُهَا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tall, and her hair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سَاعَدْتُهُمْ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helped them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سَنَدْعُوهُمْ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invite them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family moved in next door: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انْتَقَلَتْ أُسْرَةٌ جَدِيدَةٌ إِلَى البَيْتِ المُجَاوِرِ. اكْتُبِي رِسَالَةً إِلَى صَدِيقَتِكِ (٨٠–٩٠ كَلِمَةً).</a:t>
            </a:r>
            <a:endParaRPr lang="ar-SA" sz="16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they are; where from</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هُمْ؟ وَمِنْ أَيْنَ هُمْ؟</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family member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أَحَدَ أَفْرَادِ الأُسْرَةِ (الشَّكْلُ وَالشَّخْصِيَّةُ).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with them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مَعَهُمْ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 to welcome them;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سَتُرَحِّبُونَ بِهِمْ؟ ادْعِي صَدِيقَتَكِ.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have new neighbours from …: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عِنْدَنَا جِيرَانٌ جُدُدٌ مِنْ ______ :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called … She / he is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______ اسْمُهَا / اسْمُهُ ______ . هِيَ / هُوَ ______ ، 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helped them with …, then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سَاعَدْتُهُمْ فِي ______ ، ثُمَّ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invite them to … Will you come?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سَنَدْعُوهُمْ إِلَى ______ . هَلْ تَأْتِينَ؟</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نَادِيَةُ،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عِنْدَنَا جِيرَانٌ جُدُدٌ! انْتَقَلُوا إِلَى البَيْتِ الَّذِي بِجَانِبِ بَيْتِنَا يَوْمَ السَّبْتِ. هُمْ أُسْرَةٌ مَغْرِبِيَّةٌ: أَبٌ وَأُمٌّ وَبِنْتَانِ. البِنْتُ الكُبْرَى اسْمُهَا لَيْلَى، وَهِيَ فِي عُمْرِي. هِيَ طَوِيلَةٌ، وَشَعْرُهَا أَسْوَدُ، وَتُحِبُّ الرَّسْمَ مِثْلِي. أَمْسِ سَاعَدْتُهُمْ فِي تَرْتِيبِ الأَثَاثِ، وَشَرِبْنَا الشَّايَ مَعًا. يَوْمَ الجُمُعَةِ سَنَدْعُوهُمْ إِلَى العَشَاءِ فِي بَيْتِنَا. هَلْ تَأْتِينَ أَنْتِ أَيْضًا؟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Nadia, how are you? We have new neighbours! They moved into the house next to ours on Saturday. They are a Moroccan family: a father, a mother and two daughters. The elder daughter is called Layla and she is my age. She is tall with black hair, and she loves drawing like me. Yesterday I helped them arrange the furniture, and we drank tea together. On Friday we will invite them to dinner at our house. Will you come too?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بِجَانِبِ بَيْتِنَا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بِنْتَانِ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سَاعَدْتُهُمْ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سَنَدْعُوهُمْ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نَادِيَةُ،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فَعِنْدِي خَبَرٌ جَمِيلٌ: انْتَقَلَتْ أُسْرَةٌ مَغْرِبِيَّةٌ إِلَى البَيْتِ المُجَاوِرِ لَنَا، الَّذِي بَقِيَ فَارِغًا سَنَةً كَامِلَةً. تَتَكَوَّنُ الأُسْرَةُ مِنْ أَبٍ يَعْمَلُ طَبِيبًا، وَأُمٍّ لَطِيفَةٍ، وَبِنْتَيْنِ. أَمَّا الكُبْرَى، لَيْلَى، فَهِيَ فِي عُمْرِي تَقْرِيبًا؛ طَوِيلَةٌ، شَعْرُهَا أَسْوَدُ مُجَعَّدٌ، وَتَبْدُو خَجُولَةً قَلِيلًا، لٰكِنَّهَا ضَحِكَتْ كَثِيرًا عِنْدَمَا عَرَفَتْ أَنَّنَا نُحِبُّ الرَّسْمَ كِلْتَانَا. أَمْسِ قَضَيْتُ المَسَاءَ أُسَاعِدُهُمْ فِي تَرْتِيبِ غُرْفَتِهَا، ثُمَّ قَدَّمَتْ لَنَا أُمُّهَا شَايًا بِالنَّعْنَاعِ لَذِيذًا. سَنَدْعُوهُمْ إِلَى العَشَاءِ يَوْمَ الجُمُعَةِ، وَسَتَطْبُخُ أُمِّي المَقْلُوبَةَ، وَإِذَا جِئْتِ، فَسَتَتَعَرَّفِينَ عَلَيْهَا!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Nadia, greetings. I have lovely news: a Moroccan family has moved into the house next to ours, which had stood empty for a whole year. The family is a father who works as a doctor, a kind mother and two daughters. As for the elder, Layla, she is about my age: tall, with curly black hair; she seems a little shy, but she laughed a lot when she found out we both love drawing. Yesterday I spent the evening helping them arrange her room, then her mother served us delicious mint tea. We will invite them to dinner on Friday — Mum will cook maqluba — and if you come, you’ll get to know her!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بَقِيَ فَارِغًا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الكُبْرَى … فَهِيَ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تَبْدُو خَجُولَةً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جِئْتِ، فَسَتَتَعَرَّفِينَ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neighbours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جِيرَانِي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street and home · who your neighbours are (looks, personality, hobbies) · a moment with neighbours you won’t forget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شَارِعَكَ وَبَيْتَكَ · مَنْ جِيرَانُكَ؟ (الشَّكْلُ وَالشَّخْصِيَّةُ وَالهِوَايَاتُ) · مَوْقِفٌ مَعَ الجِيرَانِ لَا تَنْسَاهُ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Neighbours in the age of big cities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الجِيرَانُ فِي عَصْرِ المُدُنِ الكَبِيرَةِ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we know our neighbours? · past and present · an initiative or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نَعْرِفُ جِيرَانَنَا؟ · المَاضِي وَالحَاضِرُ · مُبَادَرَةٌ أَوْ تَجْرِبَةٌ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street and home — numbers, colours, materials (TB-L04–L06).</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neighbours — family, looks, personality, hobbies (TB-L01–L03, L08); track -hu / -hā / -hum.</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moment — a past story with sequencing (TB-L09): awwalan, thumma,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idhā … fa-sa-,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جَارَتُنَا عَجُوزٌ لَطِيفَةٌ، شَعْرُهَا أَبْيَضُ.</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our neighbour is a kind old lady with white hair.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أَوَّلًا اشْتَرَيْتُ لَهَا الدَّوَاءَ، ثُمَّ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first I bought her medicine, then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سَنَدْعُو كُلَّ الجِيرَانِ.</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 will invite all the neighbours.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شَارِعٍ هَادِئٍ فِي شَمَالِ مَانْشِسْتَرَ. فِي شَارِعِنَا خَمْسَةَ عَشَرَ بَيْتًا، وَأَغْلَبُ البُيُوتِ قَدِيمَةٌ وَمَصْنُوعَةٌ مِنَ الطُّوبِ الأَحْمَرِ. بَيْتُنَا أَبْيَضُ، وَلَهُ حَدِيقَةٌ صَغِيرَةٌ أَمَامَهُ، فِيهَا أَزْهَارٌ حَمْرَاءُ وَصَفْرَاءُ.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جِيرَانُنَا مِنْ بُلْدَانٍ كَثِيرَةٍ. عَلَى اليَمِينِ تَسْكُنُ أُسْرَةٌ صُومَالِيَّةٌ، عِنْدَهُمْ أَرْبَعَةُ أَوْلَادٍ، وَأَلْعَبُ كُرَةَ القَدَمِ مَعَ ابْنِهِمُ الكَبِيرِ كُلَّ سَبْتٍ. عَلَى اليَسَارِ تَسْكُنُ جَارَتُنَا مَارْغَرِيتُ، وَهِيَ عَجُوزٌ لَطِيفَةٌ، شَعْرُهَا أَبْيَضُ، وَتُحِبُّ الزُّهُورَ، وَتَعِيشُ وَحْدَهَا مَعَ قِطَّتِهَا البَيْضَاءِ.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الشِّتَاءِ المَاضِي مَرِضَتْ مَارْغَرِيتُ. أَوَّلًا ذَهَبْتُ إِلَى الصَّيْدَلِيَّةِ وَاشْتَرَيْتُ لَهَا الدَّوَاءَ، ثُمَّ طَبَخَتْ أُمِّي لَهَا الشُّورْبَةَ. كَانَتْ سَعِيدَةً جِدًّا، وَأَعْطَتْنِي كِتَابًا قَدِيمًا هَدِيَّةً. الآنَ أَزُورُهَا كُلَّ أُسْبُوعٍ.</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الجِيرَانُ مُهِمُّونَ جِدًّا، لِأَنَّهُمْ يُسَاعِدُونَنَا. فِي الصَّيْفِ القَادِمِ سَنُنَظِّمُ حَفْلَةً فِي الشَّارِعِ، وَسَنَدْعُو كُلَّ الجِيرَانِ.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quiet street in north Manchester: fifteen houses, mostly old red brick; ours is white with a small front garden with red and yellow flowers → neighbours from many countries: a Somali family with four children on the right — I play football with their eldest every Saturday; on the left Margaret, a kind old lady with white hair who loves flowers and lives alone with her white cat → last winter Margaret was ill: first I went to the pharmacy for her medicine, then Mum cooked her soup; she was very happy and gave me an old book; now I visit her every week → neighbours matter because they help us; next summer we’ll hold a street party and invite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خَمْسَةَ عَشَرَ بَيْتًا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عِنْدَهُمْ أَرْبَعَةُ أَوْلَادٍ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سَنَدْعُو</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 المَثَلُ العَرَبِيُّ: «الجَارُ قَبْلَ الدَّارِ»، وَلَمْ أَفْهَمْ مَعْنَاهُ حَتَّى انْتَقَلْنَا إِلَى حَيِّنَا الحَالِيِّ قَبْلَ ثَلَاثِ سَنَوَاتٍ. بَيْتُنَا لَيْسَ كَبِيرًا، وَمَطْبَخُهُ ضَيِّقٌ، لٰكِنَّ جِيرَانَنَا جَعَلُوهُ أَجْمَلَ بَيْتٍ فِي العَالَمِ، وَأَصْبَحُوا جُزْءًا مِنْ حَيَاتِنَا اليَوْمِيَّةِ.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عَلَى يَمِينِنَا تَسْكُنُ أُسْرَةٌ سُورِيَّةٌ؛ الأَبُ نَجَّارٌ مَاهِرٌ صَنَعَ لِي رَفًّا لِكُتُبِي، أَمَّا الأُمُّ فَتُرْسِلُ لَنَا كُلَّ جُمُعَةٍ طَبَقًا مِنَ الكُبَّةِ. وَعَلَى يَسَارِنَا جَارٌ إِنْجِلِيزِيٌّ عَجُوزٌ، يَبْدُو صَارِمًا، لٰكِنَّهُ يَحْكِي لَنَا قِصَصًا مُضْحِكَةً عَنْ شَبَابِهِ، وَيُعَلِّمُ أَخِيَ الصَّغِيرَ الشِّطْرَنْجَ كُلَّ أَحَدٍ.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لَنْ أَنْسَى يَوْمَ وَصَلْنَا؛ كَانَ المَطَرُ شَدِيدًا، وَالأَثَاثُ مُبْتَلًّا فِي الشَّارِعِ، فَخَرَجَ الجِيرَانُ كُلُّهُمْ دُونَ أَنْ نَطْلُبَ، وَحَمَلُوا الصَّنَادِيقَ مَعَنَا حَتَّى آخِرِ قِطْعَةٍ، ثُمَّ دَعَوْنَا إِلَى العَشَاءِ.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لِكُلِّ بَيْتٍ خُصُوصِيَّتَهُ، غَيْرَ أَنَّ الحَيَّ يُصْبِحُ عَائِلَةً كَبِيرَةً عِنْدَمَا يَهْتَمُّ النَّاسُ بِبَعْضِهِمْ. وَإِذَا جَاءَ جِيرَانٌ جُدُدٌ إِلَى شَارِعِنَا، فَسَأَكُونُ أَوَّلَ مَنْ يَطْرُقُ بَابَهُمْ لِيُرَحِّبَ بِهِمْ.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أَفْهَمْ … حَتَّى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الأُمُّ فَتُرْسِلُ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دُونَ أَنْ نَطْلُبَ</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جَاءَ … فَسَأَكُونُ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ea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neighbours today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المُدُنِ الحَدِيثَةِ يَسْكُنُ النَّاسُ قَرِيبِينَ جِدًّا بَعْضُهُمْ مِنْ بَعْضٍ؛ فَقَدْ يَفْصِلُ بَيْنَكَ وَبَيْنَ جَارِكَ جِدَارٌ وَاحِدٌ، وَمَعَ ذٰلِكَ لَا تَعْرِفُ اسْمَهُ، وَلَا تَعْرِفُ إِنْ كَانَ مَرِيضًا أَوْ يَحْتَاجُ إِلَى مُسَاعَدَةٍ.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الجِيرَانُ يَتَبَادَلُونَ الطَّعَامَ وَالزِّيَارَاتِ، وَيَحْتَفِلُونَ بِالأَعْيَادِ مَعًا، وَكَانَ الأَطْفَالُ يَلْعَبُونَ فِي الشَّارِعِ تَحْتَ أَعْيُنِ كُلِّ الأُمَّهَاتِ، أَمَّا اليَوْمَ فَيَقْضِي أَغْلَبُنَا وَقْتَهُ خَلْفَ الأَبْوَابِ المُغْلَقَةِ وَأَمَامَ الشَّاشَاتِ.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التَّغْيِيرَ مُمْكِنٌ. فِي الصَّيْفِ المَاضِي اقْتَرَحَ أَبِي أَنْ نُنَظِّمَ «غَدَاءَ الشَّارِعِ»، فَأَحْضَرَتْ كُلُّ أُسْرَةٍ طَبَقًا مِنْ بَلَدِهَا: بِرْيَانِي بَاكِسْتَانِيٌّ، وَكُسْكُسِي مَغْرِبِيٌّ، وَفَطَائِرُ إِنْجِلِيزِيَّةٌ. وَمُنْذُ ذٰلِكَ اليَوْمِ أَصْبَحَ الجِيرَانُ يُسَلِّمُونَ عَلَى بَعْضِهِمْ وَيَتَعَاوَنُونَ، وَيَحْرُسُ بَعْضُهُمْ بُيُوتَ بَعْضٍ فِي العُطَلِ.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الحَيَاةَ الحَدِيثَةَ سَرِيعَةٌ وَمُتْعِبَةٌ، غَيْرَ أَنَّ ابْتِسَامَةً وَسُؤَالًا بَسِيطًا يُمْكِنُ أَنْ يَبْنِيَا صَدَاقَةً. وَلَوْ خَصَّصَ كُلُّ حَيٍّ يَوْمًا وَاحِدًا فِي السَّنَةِ لِلِقَاءِ الجِيرَانِ، لَأَصْبَحَتْ مُدُنُنَا أَكْثَرَ دِفْئًا وَأَمَانًا.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وَمَعَ ذٰلِكَ لَا تَعْرِفُ</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فَيَقْضِي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اقْتَرَحَ أَبِي أَنْ نُنَظِّمَ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خَصَّصَ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words from all of Topic 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every pronoun (-hu / -hā / -hum) points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and law … la- /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TB-L11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TB-L10 · Writing Workshop — Mixed Topic B: New Neighbours</dc:title>
  <dc:subject>PptxGenJS Presentation</dc:subject>
  <dc:creator>Al Madina Online School · Arabic Department</dc:creator>
  <cp:lastModifiedBy>Al Madina Online School · Arabic Department</cp:lastModifiedBy>
  <cp:revision>1</cp:revision>
  <dcterms:created xsi:type="dcterms:W3CDTF">2026-10-11T09:18:24Z</dcterms:created>
  <dcterms:modified xsi:type="dcterms:W3CDTF">2026-10-11T09:18:24Z</dcterms:modified>
</cp:coreProperties>
</file>