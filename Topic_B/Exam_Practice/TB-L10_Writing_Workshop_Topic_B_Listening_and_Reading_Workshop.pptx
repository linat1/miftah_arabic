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AT A GLANCE — 60 minutes on Teams; individual writing with live feedback (shared document or paper + photo).
0–2 Welcome · 2–6 How Paper 4 works · 6–14 Q1 form filling + model · 14–17 Q2 the task, in English and Arabic · 17–19 Q2 frames (Core) · 19–31 Q2 writing · 31–35 Q2 models · 35–38 Q3 choose a title + plan · 38–54 Q3 writing (Stretch) / Q2 redraft (Core) · 54–58 Q3 models + self-check · 58–60 Close.
Content: teacher-made exam questions for Advanced Topic B, Lesson 10 (Topic B mixed practice — new neighbours, TB-L10). Every question has Core · Develop · Stretch support; models are given at two levels (a secure Core answer and a full-mark answer).
EXAM FORMAT: Paper 4 Writing — Q1 form filling, Q2 directed writing (about 80–90 words), Q3 extended writing (one title from two, about 130–150 words), following the Cambridge IGCSE Arabic 0544 format. Check word counts and marks against the current syllabus and the past paper you use.
Q3 in one lesson: Stretch students write Q3 in class; Core students redraft Q2 and plan Q3, then write Q3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The two biggest losses: a missed bullet point (Q2) and staying in one tense (Q3). Word counts are a guide: far too short cannot cover the task; far too long creates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 FORM FILLING. About 8 minutes. Core: boxes 1–6. Develop / Stretch: all 8. Box 4: the dual bintāni. Every box recycles a Topic B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students check their own form and correct one answer in a different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TASK (3 min to read and plan). Students number the four bullets 1–4 in the margin and tick each one as they write 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Question words: مَنْ (who) · مِنْ أَيْنَ (from where) · صِفِي (describe) · مَاذَا (what) · كَيْفَ (how) · ادْعِي (invite) — watch the pronouns: hum · maʿahum · bihim.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(12 min). Live feedback: check bullet coverage first, then verb endings and agreement. Core completes the frames; Develop adds detail; Stretch writes freely and reaches 90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(58 words). A Core model: every bullet answered in short, accurate sentences. Show how ONE extra detail per bullet brings it to 80–90 words.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(81 words). Full-mark model: all four bullets, a range of linking words, an opinion with a reason and a contrast. Students compare with their own: what can I add?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Q3 (3 min to choose and read). Title (أ) suits Core and Develop; title (ب) suits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(3 min) then WRITE (16 min). Check the plan before students write: four paragraphs = four bullet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(111 words). Core model: every Topic B area — home, numbers, colours, materials, nationalities, appearance, a sequenced past story, an opinion and a future plan; pronouns -hum and -hā tracked.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(130 words). Full-mark model: a proverb hook, lam + jussive + ḥattā, laysa + accusative, a relative-style description, ammā … fa-, yabdū + accusative, dūna an, a concession and idhā … fa-sa-.
ENGLISH SUMMARY (read aloud or paste in the chat for Core students): The proverb “the neighbour before the house” made no sense to me until we moved here three years ago: our house isn’t big and the kitchen is narrow, but our neighbours made it the best house in the world and became part of our daily life → on the right a Syrian family: the father, a skilled carpenter, made me a bookshelf; as for the mother, she sends us a plate of kibbeh every Friday; on the left an elderly Englishman who seems strict but tells us funny stories about his youth and teaches my little brother chess every Sunday → I’ll never forget the day we arrived: pouring rain, wet furniture in the street; every neighbour came out without being asked, carried boxes to the last piece, then invited us to dinner → it is true every house has its privacy, but a neighbourhood becomes a big family when people care; “if new neighbours come to our street, I’ll be the first to knock and welcome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(130 words). Full-mark model for the Stretch title: maʿa dhālika, in kāna, kāna + present vs ammā … fa-, iqtaraḥa an + subjunctive, a dual verb (yabniyā), a concession and a conditional.
ENGLISH SUMMARY (read aloud or paste in the chat for Core students): In modern cities people live very close — one wall may separate you from your neighbour, yet you don’t know his name or whether he is ill or needs help → in the past neighbours exchanged food and visits, celebrated Eid together, and children played in the street under every mother’s eye; as for today, most of us spend our time behind closed doors and in front of screens → but change is possible: last summer Dad suggested a “street lunch”; every family brought a dish from its country — Pakistani biryani, Moroccan couscous, English pies; since then neighbours greet each other, cooperate and watch each other’s houses in the holidays → it is true modern life is fast and tiring, but a smile and a simple question can build a friendship; “if every area set aside one day a year to meet neighbours, our cities would be warmer and safer”.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B · EXAM PRACTICE  ·  TB-L10</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TB-L10</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Workshop — Mixed Topic B: New Neighbours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الكِتَابَةِ — الجِيرَانُ الجُدُدُ</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Paper 4 practice using all of Topic B: fill in a neighbourhood-welcome form, write an email about your new neighbours, and write an extended piece about your neighbours or about neighbours today.</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TB-L10 · Advanced Topic B · Personal and Social Life · exam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B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B › TB-L10</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TB-L10</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18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Writing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WORKSHOP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 practice,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TB-L10</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How the writing paper works.</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كَيْفَ</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1: fill in the form.</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الاسْتِمَارَةُ</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2: an email about new neighbours.</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الرِّسَالَةُ</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23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3: extended writing (choose a title).</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المَقَالُ</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Model answers and self-check.</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Core students: Questions 1 and 2 today, with frames; plan Question 3 and finish it at home. Stretch: all three questions in class.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18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Writing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PAPER 4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the writing exam works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امْتِحَانُ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TB-L10</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THREE QUESTIONS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Q1 FORM FILLING — short answers (a word or a phrase) in Arabic. Answer exactly what each box asks.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Q2 DIRECTED WRITING — about 80–90 words. Cover EVERY bullet point; a missing bullet loses marks.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Q3 EXTENDED WRITING — choose ONE title, about 130–150 words. Show range: past, present and future, opinions, reasons, linking words.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Check every pronoun: who is -hu, -hā, -hum? Adjectives agree (ṭawīla, ʿajūz laṭīfa); yabdū / tabdū + accusative; the dual for two daughters (bintāni / bintayni).</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WORDS THAT LIFT YOUR WRITING</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700" b="1" dirty="0">
                <a:solidFill>
                  <a:srgbClr val="1B3B6F"/>
                </a:solidFill>
                <a:latin typeface="Amiri" pitchFamily="2" charset="-78"/>
                <a:ea typeface="Amiri" pitchFamily="2" charset="-78"/>
                <a:cs typeface="Amiri" pitchFamily="2" charset="-78"/>
              </a:rPr>
              <a:t>انْتَقَلُوا إِلَى البَيْتِ الَّذِي بِجَانِبِ بَيْتِنَا</a:t>
            </a:r>
            <a:endParaRPr lang="ar-SA" sz="27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they moved into the house next to ours</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تَبْدُو خَجُولَةً، لٰكِنَّهَا …</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she seems shy, but she …</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سَنَدْعُوهُمْ إِلَى العَشَاءِ</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we will invite them to dinner</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18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1 · FORM FILLING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Neighbourhood welcome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اسْتِمَارَةُ التَّرْحِيبِ بِالجِيرَانِ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a:t>
            </a:r>
            <a:endParaRPr lang="en-US" sz="1100" dirty="0"/>
          </a:p>
        </p:txBody>
      </p:sp>
      <p:sp>
        <p:nvSpPr>
          <p:cNvPr id="17" name="Text 14"/>
          <p:cNvSpPr txBox="1"/>
          <p:nvPr/>
        </p:nvSpPr>
        <p:spPr>
          <a:xfrm>
            <a:off x="5605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8933688" y="2267712"/>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5641848" y="2267712"/>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New family’s name</a:t>
            </a:r>
            <a:endParaRPr lang="en-US" sz="1100" dirty="0"/>
          </a:p>
        </p:txBody>
      </p:sp>
      <p:sp>
        <p:nvSpPr>
          <p:cNvPr id="23" name="Text 20"/>
          <p:cNvSpPr txBox="1"/>
          <p:nvPr/>
        </p:nvSpPr>
        <p:spPr>
          <a:xfrm>
            <a:off x="1051560" y="2267712"/>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اسْمُ الأُسْرَةِ الجَدِيدَةِ</a:t>
            </a:r>
            <a:endParaRPr lang="ar-SA" sz="17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8" name="Text 25"/>
          <p:cNvSpPr txBox="1"/>
          <p:nvPr/>
        </p:nvSpPr>
        <p:spPr>
          <a:xfrm>
            <a:off x="8933688" y="2728341"/>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5641848" y="2728341"/>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House number</a:t>
            </a:r>
            <a:endParaRPr lang="en-US" sz="1100" dirty="0"/>
          </a:p>
        </p:txBody>
      </p:sp>
      <p:sp>
        <p:nvSpPr>
          <p:cNvPr id="30" name="Text 27"/>
          <p:cNvSpPr txBox="1"/>
          <p:nvPr/>
        </p:nvSpPr>
        <p:spPr>
          <a:xfrm>
            <a:off x="1051560" y="2728341"/>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رَقْمُ البَيْتِ</a:t>
            </a:r>
            <a:endParaRPr lang="ar-SA" sz="1700" dirty="0"/>
          </a:p>
        </p:txBody>
      </p:sp>
      <p:sp>
        <p:nvSpPr>
          <p:cNvPr id="31" name="Text 28"/>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774061"/>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77406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5" name="Text 32"/>
          <p:cNvSpPr txBox="1"/>
          <p:nvPr/>
        </p:nvSpPr>
        <p:spPr>
          <a:xfrm>
            <a:off x="8933688" y="3188970"/>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641848" y="3188970"/>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they are from</a:t>
            </a:r>
            <a:endParaRPr lang="en-US" sz="1100" dirty="0"/>
          </a:p>
        </p:txBody>
      </p:sp>
      <p:sp>
        <p:nvSpPr>
          <p:cNvPr id="37" name="Text 34"/>
          <p:cNvSpPr txBox="1"/>
          <p:nvPr/>
        </p:nvSpPr>
        <p:spPr>
          <a:xfrm>
            <a:off x="1051560" y="3188970"/>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أَيْنَ هُمْ؟</a:t>
            </a:r>
            <a:endParaRPr lang="ar-SA" sz="1700" dirty="0"/>
          </a:p>
        </p:txBody>
      </p:sp>
      <p:sp>
        <p:nvSpPr>
          <p:cNvPr id="38" name="Text 35"/>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23469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23469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42" name="Text 39"/>
          <p:cNvSpPr txBox="1"/>
          <p:nvPr/>
        </p:nvSpPr>
        <p:spPr>
          <a:xfrm>
            <a:off x="8933688" y="3649599"/>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3" name="Text 40"/>
          <p:cNvSpPr txBox="1"/>
          <p:nvPr/>
        </p:nvSpPr>
        <p:spPr>
          <a:xfrm>
            <a:off x="5641848" y="3649599"/>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Number in the family</a:t>
            </a:r>
            <a:endParaRPr lang="en-US" sz="1100" dirty="0"/>
          </a:p>
        </p:txBody>
      </p:sp>
      <p:sp>
        <p:nvSpPr>
          <p:cNvPr id="44" name="Text 41"/>
          <p:cNvSpPr txBox="1"/>
          <p:nvPr/>
        </p:nvSpPr>
        <p:spPr>
          <a:xfrm>
            <a:off x="1051560" y="3649599"/>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عَدَدُ أَفْرَادِ الأُسْرَةِ</a:t>
            </a:r>
            <a:endParaRPr lang="ar-SA" sz="1700" dirty="0"/>
          </a:p>
        </p:txBody>
      </p:sp>
      <p:sp>
        <p:nvSpPr>
          <p:cNvPr id="45" name="Text 42"/>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3695319"/>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695319"/>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9" name="Text 46"/>
          <p:cNvSpPr txBox="1"/>
          <p:nvPr/>
        </p:nvSpPr>
        <p:spPr>
          <a:xfrm>
            <a:off x="8933688" y="4110228"/>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0" name="Text 47"/>
          <p:cNvSpPr txBox="1"/>
          <p:nvPr/>
        </p:nvSpPr>
        <p:spPr>
          <a:xfrm>
            <a:off x="5641848" y="4110228"/>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Their languages</a:t>
            </a:r>
            <a:endParaRPr lang="en-US" sz="1100" dirty="0"/>
          </a:p>
        </p:txBody>
      </p:sp>
      <p:sp>
        <p:nvSpPr>
          <p:cNvPr id="51" name="Text 48"/>
          <p:cNvSpPr txBox="1"/>
          <p:nvPr/>
        </p:nvSpPr>
        <p:spPr>
          <a:xfrm>
            <a:off x="1051560" y="4110228"/>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لُغَاتُهُمْ</a:t>
            </a:r>
            <a:endParaRPr lang="ar-SA" sz="1700" dirty="0"/>
          </a:p>
        </p:txBody>
      </p:sp>
      <p:sp>
        <p:nvSpPr>
          <p:cNvPr id="52" name="Text 49"/>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8933688" y="4570857"/>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7" name="Text 54"/>
          <p:cNvSpPr txBox="1"/>
          <p:nvPr/>
        </p:nvSpPr>
        <p:spPr>
          <a:xfrm>
            <a:off x="5641848" y="4570857"/>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hobby one of them likes</a:t>
            </a:r>
            <a:endParaRPr lang="en-US" sz="1100" dirty="0"/>
          </a:p>
        </p:txBody>
      </p:sp>
      <p:sp>
        <p:nvSpPr>
          <p:cNvPr id="58" name="Text 55"/>
          <p:cNvSpPr txBox="1"/>
          <p:nvPr/>
        </p:nvSpPr>
        <p:spPr>
          <a:xfrm>
            <a:off x="1051560" y="4570857"/>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هِوَايَةٌ يُحِبُّهَا أَحَدُهُمْ</a:t>
            </a:r>
            <a:endParaRPr lang="ar-SA" sz="1700" dirty="0"/>
          </a:p>
        </p:txBody>
      </p:sp>
      <p:sp>
        <p:nvSpPr>
          <p:cNvPr id="59" name="Text 5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Shape 57"/>
          <p:cNvSpPr/>
          <p:nvPr/>
        </p:nvSpPr>
        <p:spPr>
          <a:xfrm>
            <a:off x="11091672" y="4616577"/>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4616577"/>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Shape 59"/>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63" name="Text 60"/>
          <p:cNvSpPr txBox="1"/>
          <p:nvPr/>
        </p:nvSpPr>
        <p:spPr>
          <a:xfrm>
            <a:off x="8933688" y="5031486"/>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4" name="Text 61"/>
          <p:cNvSpPr txBox="1"/>
          <p:nvPr/>
        </p:nvSpPr>
        <p:spPr>
          <a:xfrm>
            <a:off x="5641848" y="5031486"/>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Something they need</a:t>
            </a:r>
            <a:endParaRPr lang="en-US" sz="1100" dirty="0"/>
          </a:p>
        </p:txBody>
      </p:sp>
      <p:sp>
        <p:nvSpPr>
          <p:cNvPr id="65" name="Text 62"/>
          <p:cNvSpPr txBox="1"/>
          <p:nvPr/>
        </p:nvSpPr>
        <p:spPr>
          <a:xfrm>
            <a:off x="1051560" y="5031486"/>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شَيْءٌ يَحْتَاجُونَ إِلَيْهِ</a:t>
            </a:r>
            <a:endParaRPr lang="ar-SA" sz="1700" dirty="0"/>
          </a:p>
        </p:txBody>
      </p:sp>
      <p:sp>
        <p:nvSpPr>
          <p:cNvPr id="66" name="Text 63"/>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67" name="Shape 64"/>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68" name="Text 65"/>
          <p:cNvSpPr txBox="1"/>
          <p:nvPr/>
        </p:nvSpPr>
        <p:spPr>
          <a:xfrm>
            <a:off x="8933688" y="5492115"/>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9" name="Text 66"/>
          <p:cNvSpPr txBox="1"/>
          <p:nvPr/>
        </p:nvSpPr>
        <p:spPr>
          <a:xfrm>
            <a:off x="5641848" y="5492115"/>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how you will welcome them</a:t>
            </a:r>
            <a:endParaRPr lang="en-US" sz="1100" dirty="0"/>
          </a:p>
        </p:txBody>
      </p:sp>
      <p:sp>
        <p:nvSpPr>
          <p:cNvPr id="70" name="Text 67"/>
          <p:cNvSpPr txBox="1"/>
          <p:nvPr/>
        </p:nvSpPr>
        <p:spPr>
          <a:xfrm>
            <a:off x="1051560" y="5492115"/>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كَيْفَ سَتُرَحِّبُ بِهِمْ؟</a:t>
            </a:r>
            <a:endParaRPr lang="ar-SA" sz="1700" dirty="0"/>
          </a:p>
        </p:txBody>
      </p:sp>
      <p:sp>
        <p:nvSpPr>
          <p:cNvPr id="71" name="Text 68"/>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72" name="Text 6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word or a short phrase for each box — the last box is a full sentence with -hum (sanadʿūhum).</a:t>
            </a:r>
            <a:endParaRPr lang="en-US" sz="11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18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1 · MODEL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Neighbourhood welcome form: model answers</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54312" y="1810512"/>
            <a:ext cx="2304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5056632" y="1810512"/>
            <a:ext cx="4151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9390888" y="2267712"/>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Alawi family</a:t>
            </a:r>
            <a:endParaRPr lang="en-US" sz="1100" dirty="0"/>
          </a:p>
        </p:txBody>
      </p:sp>
      <p:sp>
        <p:nvSpPr>
          <p:cNvPr id="22" name="Text 19"/>
          <p:cNvSpPr txBox="1"/>
          <p:nvPr/>
        </p:nvSpPr>
        <p:spPr>
          <a:xfrm>
            <a:off x="5074920" y="2267712"/>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أُسْرَةُ العَلَوِيِّ</a:t>
            </a:r>
            <a:endParaRPr lang="ar-SA" sz="1800" dirty="0"/>
          </a:p>
        </p:txBody>
      </p:sp>
      <p:sp>
        <p:nvSpPr>
          <p:cNvPr id="23" name="Text 20"/>
          <p:cNvSpPr txBox="1"/>
          <p:nvPr/>
        </p:nvSpPr>
        <p:spPr>
          <a:xfrm>
            <a:off x="1051560" y="2267712"/>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اسْمُ الأُسْرَةِ الجَدِيدَةِ</a:t>
            </a:r>
            <a:endParaRPr lang="ar-SA" sz="16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6" name="Text 23"/>
          <p:cNvSpPr txBox="1"/>
          <p:nvPr/>
        </p:nvSpPr>
        <p:spPr>
          <a:xfrm>
            <a:off x="9390888" y="2728341"/>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twelve</a:t>
            </a:r>
            <a:endParaRPr lang="en-US" sz="1100" dirty="0"/>
          </a:p>
        </p:txBody>
      </p:sp>
      <p:sp>
        <p:nvSpPr>
          <p:cNvPr id="27" name="Text 24"/>
          <p:cNvSpPr txBox="1"/>
          <p:nvPr/>
        </p:nvSpPr>
        <p:spPr>
          <a:xfrm>
            <a:off x="5074920" y="2728341"/>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اثْنَا عَشَرَ</a:t>
            </a:r>
            <a:endParaRPr lang="ar-SA" sz="1800" dirty="0"/>
          </a:p>
        </p:txBody>
      </p:sp>
      <p:sp>
        <p:nvSpPr>
          <p:cNvPr id="28" name="Text 25"/>
          <p:cNvSpPr txBox="1"/>
          <p:nvPr/>
        </p:nvSpPr>
        <p:spPr>
          <a:xfrm>
            <a:off x="1051560" y="2728341"/>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رَقْمُ البَيْتِ</a:t>
            </a:r>
            <a:endParaRPr lang="ar-SA" sz="1600" dirty="0"/>
          </a:p>
        </p:txBody>
      </p:sp>
      <p:sp>
        <p:nvSpPr>
          <p:cNvPr id="29" name="Text 26"/>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1" name="Text 28"/>
          <p:cNvSpPr txBox="1"/>
          <p:nvPr/>
        </p:nvSpPr>
        <p:spPr>
          <a:xfrm>
            <a:off x="9390888" y="3188970"/>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from Morocco</a:t>
            </a:r>
            <a:endParaRPr lang="en-US" sz="1100" dirty="0"/>
          </a:p>
        </p:txBody>
      </p:sp>
      <p:sp>
        <p:nvSpPr>
          <p:cNvPr id="32" name="Text 29"/>
          <p:cNvSpPr txBox="1"/>
          <p:nvPr/>
        </p:nvSpPr>
        <p:spPr>
          <a:xfrm>
            <a:off x="5074920" y="3188970"/>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 المَغْرِبِ</a:t>
            </a:r>
            <a:endParaRPr lang="ar-SA" sz="1800" dirty="0"/>
          </a:p>
        </p:txBody>
      </p:sp>
      <p:sp>
        <p:nvSpPr>
          <p:cNvPr id="33" name="Text 30"/>
          <p:cNvSpPr txBox="1"/>
          <p:nvPr/>
        </p:nvSpPr>
        <p:spPr>
          <a:xfrm>
            <a:off x="1051560" y="3188970"/>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أَيْنَ هُمْ؟</a:t>
            </a:r>
            <a:endParaRPr lang="ar-SA" sz="1600" dirty="0"/>
          </a:p>
        </p:txBody>
      </p:sp>
      <p:sp>
        <p:nvSpPr>
          <p:cNvPr id="34" name="Text 31"/>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36" name="Text 33"/>
          <p:cNvSpPr txBox="1"/>
          <p:nvPr/>
        </p:nvSpPr>
        <p:spPr>
          <a:xfrm>
            <a:off x="9390888" y="3649599"/>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four: father, mother, two daughters</a:t>
            </a:r>
            <a:endParaRPr lang="en-US" sz="1100" dirty="0"/>
          </a:p>
        </p:txBody>
      </p:sp>
      <p:sp>
        <p:nvSpPr>
          <p:cNvPr id="37" name="Text 34"/>
          <p:cNvSpPr txBox="1"/>
          <p:nvPr/>
        </p:nvSpPr>
        <p:spPr>
          <a:xfrm>
            <a:off x="5074920" y="3649599"/>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أَرْبَعَةٌ: أَبٌ وَأُمٌّ وَبِنْتَانِ</a:t>
            </a:r>
            <a:endParaRPr lang="ar-SA" sz="1800" dirty="0"/>
          </a:p>
        </p:txBody>
      </p:sp>
      <p:sp>
        <p:nvSpPr>
          <p:cNvPr id="38" name="Text 35"/>
          <p:cNvSpPr txBox="1"/>
          <p:nvPr/>
        </p:nvSpPr>
        <p:spPr>
          <a:xfrm>
            <a:off x="1051560" y="3649599"/>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عَدَدُ أَفْرَادِ الأُسْرَةِ</a:t>
            </a:r>
            <a:endParaRPr lang="ar-SA" sz="1600" dirty="0"/>
          </a:p>
        </p:txBody>
      </p:sp>
      <p:sp>
        <p:nvSpPr>
          <p:cNvPr id="39" name="Text 36"/>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1" name="Text 38"/>
          <p:cNvSpPr txBox="1"/>
          <p:nvPr/>
        </p:nvSpPr>
        <p:spPr>
          <a:xfrm>
            <a:off x="9390888" y="4110228"/>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Arabic and French</a:t>
            </a:r>
            <a:endParaRPr lang="en-US" sz="1100" dirty="0"/>
          </a:p>
        </p:txBody>
      </p:sp>
      <p:sp>
        <p:nvSpPr>
          <p:cNvPr id="42" name="Text 39"/>
          <p:cNvSpPr txBox="1"/>
          <p:nvPr/>
        </p:nvSpPr>
        <p:spPr>
          <a:xfrm>
            <a:off x="5074920" y="4110228"/>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العَرَبِيَّةُ وَالفَرَنْسِيَّةُ</a:t>
            </a:r>
            <a:endParaRPr lang="ar-SA" sz="1800" dirty="0"/>
          </a:p>
        </p:txBody>
      </p:sp>
      <p:sp>
        <p:nvSpPr>
          <p:cNvPr id="43" name="Text 40"/>
          <p:cNvSpPr txBox="1"/>
          <p:nvPr/>
        </p:nvSpPr>
        <p:spPr>
          <a:xfrm>
            <a:off x="1051560" y="4110228"/>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لُغَاتُهُمْ</a:t>
            </a:r>
            <a:endParaRPr lang="ar-SA" sz="1600" dirty="0"/>
          </a:p>
        </p:txBody>
      </p:sp>
      <p:sp>
        <p:nvSpPr>
          <p:cNvPr id="44" name="Text 41"/>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Shape 4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46" name="Text 43"/>
          <p:cNvSpPr txBox="1"/>
          <p:nvPr/>
        </p:nvSpPr>
        <p:spPr>
          <a:xfrm>
            <a:off x="9390888" y="4570857"/>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drawing</a:t>
            </a:r>
            <a:endParaRPr lang="en-US" sz="1100" dirty="0"/>
          </a:p>
        </p:txBody>
      </p:sp>
      <p:sp>
        <p:nvSpPr>
          <p:cNvPr id="47" name="Text 44"/>
          <p:cNvSpPr txBox="1"/>
          <p:nvPr/>
        </p:nvSpPr>
        <p:spPr>
          <a:xfrm>
            <a:off x="5074920" y="4570857"/>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الرَّسْمُ</a:t>
            </a:r>
            <a:endParaRPr lang="ar-SA" sz="1800" dirty="0"/>
          </a:p>
        </p:txBody>
      </p:sp>
      <p:sp>
        <p:nvSpPr>
          <p:cNvPr id="48" name="Text 45"/>
          <p:cNvSpPr txBox="1"/>
          <p:nvPr/>
        </p:nvSpPr>
        <p:spPr>
          <a:xfrm>
            <a:off x="1051560" y="4570857"/>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هِوَايَةٌ يُحِبُّهَا أَحَدُهُمْ</a:t>
            </a:r>
            <a:endParaRPr lang="ar-SA" sz="1600" dirty="0"/>
          </a:p>
        </p:txBody>
      </p:sp>
      <p:sp>
        <p:nvSpPr>
          <p:cNvPr id="49" name="Text 4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50" name="Shape 47"/>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51" name="Text 48"/>
          <p:cNvSpPr txBox="1"/>
          <p:nvPr/>
        </p:nvSpPr>
        <p:spPr>
          <a:xfrm>
            <a:off x="9390888" y="5031486"/>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fridge technician’s number</a:t>
            </a:r>
            <a:endParaRPr lang="en-US" sz="1100" dirty="0"/>
          </a:p>
        </p:txBody>
      </p:sp>
      <p:sp>
        <p:nvSpPr>
          <p:cNvPr id="52" name="Text 49"/>
          <p:cNvSpPr txBox="1"/>
          <p:nvPr/>
        </p:nvSpPr>
        <p:spPr>
          <a:xfrm>
            <a:off x="5074920" y="5031486"/>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رَقْمُ فَنِّيٍّ لِلثَّلَّاجَةِ</a:t>
            </a:r>
            <a:endParaRPr lang="ar-SA" sz="1800" dirty="0"/>
          </a:p>
        </p:txBody>
      </p:sp>
      <p:sp>
        <p:nvSpPr>
          <p:cNvPr id="53" name="Text 50"/>
          <p:cNvSpPr txBox="1"/>
          <p:nvPr/>
        </p:nvSpPr>
        <p:spPr>
          <a:xfrm>
            <a:off x="1051560" y="5031486"/>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شَيْءٌ يَحْتَاجُونَ إِلَيْهِ</a:t>
            </a:r>
            <a:endParaRPr lang="ar-SA" sz="1600" dirty="0"/>
          </a:p>
        </p:txBody>
      </p:sp>
      <p:sp>
        <p:nvSpPr>
          <p:cNvPr id="54" name="Text 51"/>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55" name="Shape 52"/>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9390888" y="5492115"/>
            <a:ext cx="2267712" cy="405765"/>
          </a:xfrm>
          <a:prstGeom prst="rect">
            <a:avLst/>
          </a:prstGeom>
          <a:noFill/>
          <a:ln/>
        </p:spPr>
        <p:txBody>
          <a:bodyPr wrap="square" lIns="0" tIns="0" rIns="0" bIns="0" rtlCol="0" anchor="ctr"/>
          <a:lstStyle/>
          <a:p>
            <a:pPr algn="l" indent="0" marL="0">
              <a:buNone/>
            </a:pPr>
            <a:r>
              <a:rPr lang="en-US" sz="950" dirty="0">
                <a:solidFill>
                  <a:srgbClr val="5A6472"/>
                </a:solidFill>
                <a:latin typeface="Calibri" pitchFamily="34" charset="0"/>
                <a:cs typeface="Amiri" pitchFamily="2" charset="-78"/>
              </a:rPr>
              <a:t>We will invite them to dinner on Friday, because their kitchen isn’t ready yet.</a:t>
            </a:r>
            <a:endParaRPr lang="en-US" sz="950" dirty="0"/>
          </a:p>
        </p:txBody>
      </p:sp>
      <p:sp>
        <p:nvSpPr>
          <p:cNvPr id="57" name="Text 54"/>
          <p:cNvSpPr txBox="1"/>
          <p:nvPr/>
        </p:nvSpPr>
        <p:spPr>
          <a:xfrm>
            <a:off x="5074920" y="5492115"/>
            <a:ext cx="4114800" cy="405765"/>
          </a:xfrm>
          <a:prstGeom prst="rect">
            <a:avLst/>
          </a:prstGeom>
          <a:noFill/>
          <a:ln/>
        </p:spPr>
        <p:txBody>
          <a:bodyPr wrap="square" lIns="0" tIns="0" rIns="0" bIns="0" rtlCol="0" anchor="ctr"/>
          <a:lstStyle/>
          <a:p>
            <a:pPr rtl="1" algn="ctr" indent="0" marL="0">
              <a:buNone/>
            </a:pPr>
            <a:r>
              <a:rPr lang="ar-SA" altLang="en-US" sz="1450" b="1" dirty="0">
                <a:solidFill>
                  <a:srgbClr val="1B3B6F"/>
                </a:solidFill>
                <a:latin typeface="Amiri" pitchFamily="2" charset="-78"/>
                <a:ea typeface="Amiri" pitchFamily="2" charset="-78"/>
                <a:cs typeface="Amiri" pitchFamily="2" charset="-78"/>
              </a:rPr>
              <a:t>سَنَدْعُوهُمْ إِلَى العَشَاءِ يَوْمَ الجُمُعَةِ، لِأَنَّ مَطْبَخَهُمْ لَيْسَ جَاهِزًا بَعْدُ.</a:t>
            </a:r>
            <a:endParaRPr lang="ar-SA" sz="1450" dirty="0"/>
          </a:p>
        </p:txBody>
      </p:sp>
      <p:sp>
        <p:nvSpPr>
          <p:cNvPr id="58" name="Text 55"/>
          <p:cNvSpPr txBox="1"/>
          <p:nvPr/>
        </p:nvSpPr>
        <p:spPr>
          <a:xfrm>
            <a:off x="1051560" y="5492115"/>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جُمْلَةٌ: كَيْفَ سَتُرَحِّبُ بِهِمْ؟</a:t>
            </a:r>
            <a:endParaRPr lang="ar-SA" sz="1600" dirty="0"/>
          </a:p>
        </p:txBody>
      </p:sp>
      <p:sp>
        <p:nvSpPr>
          <p:cNvPr id="59" name="Text 56"/>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Short answers are fine — but they must be accurate, in Arabic, and answer exactly what the form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18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DIRECTED WRITING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2: our new neighbours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رِسَالَةٌ عَنْ جِيرَانِنَا الجُدُدِ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TB-L10</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A new family has moved in next door. Write an email in Arabic to your friend of about 80–90 words. You must include: • who they are and where they are from • a description of one family member (looks and personality) • what you did with them yesterday • your plan to welcome them, and an invitation to your friend.</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Agreement and the right pronouns.</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past AND a future sentence.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انْتَقَلُوا إِلَى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they moved to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هِيَ طَوِيلَةٌ، وَشَعْرُهَا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she is tall, and her hair is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أَمْسِ سَاعَدْتُهُمْ فِي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yesterday I helped them with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سَنَدْعُوهُمْ إِلَى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will invite them to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18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THE TASK IN ARABIC (AS IN THE EXAM)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Arabic rubric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627632" y="1810512"/>
            <a:ext cx="6071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new family moved in next door: write to your friend (80–90 words).</a:t>
            </a:r>
            <a:endParaRPr lang="en-US" sz="1100" dirty="0"/>
          </a:p>
        </p:txBody>
      </p:sp>
      <p:sp>
        <p:nvSpPr>
          <p:cNvPr id="21" name="Text 18"/>
          <p:cNvSpPr txBox="1"/>
          <p:nvPr/>
        </p:nvSpPr>
        <p:spPr>
          <a:xfrm>
            <a:off x="1645920" y="2267712"/>
            <a:ext cx="603504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انْتَقَلَتْ أُسْرَةٌ جَدِيدَةٌ إِلَى البَيْتِ المُجَاوِرِ. اكْتُبِي رِسَالَةً إِلَى صَدِيقَتِكِ (٨٠–٩٠ كَلِمَةً).</a:t>
            </a:r>
            <a:endParaRPr lang="ar-SA" sz="1600" dirty="0"/>
          </a:p>
        </p:txBody>
      </p:sp>
      <p:sp>
        <p:nvSpPr>
          <p:cNvPr id="22" name="Text 19"/>
          <p:cNvSpPr txBox="1"/>
          <p:nvPr/>
        </p:nvSpPr>
        <p:spPr>
          <a:xfrm>
            <a:off x="566928" y="2267712"/>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they are; where from</a:t>
            </a:r>
            <a:endParaRPr lang="en-US" sz="1100" dirty="0"/>
          </a:p>
        </p:txBody>
      </p:sp>
      <p:sp>
        <p:nvSpPr>
          <p:cNvPr id="25" name="Text 22"/>
          <p:cNvSpPr txBox="1"/>
          <p:nvPr/>
        </p:nvSpPr>
        <p:spPr>
          <a:xfrm>
            <a:off x="1645920" y="300471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 هُمْ؟ وَمِنْ أَيْنَ هُمْ؟</a:t>
            </a:r>
            <a:endParaRPr lang="ar-SA" sz="1800" dirty="0"/>
          </a:p>
        </p:txBody>
      </p:sp>
      <p:sp>
        <p:nvSpPr>
          <p:cNvPr id="26" name="Text 23"/>
          <p:cNvSpPr txBox="1"/>
          <p:nvPr/>
        </p:nvSpPr>
        <p:spPr>
          <a:xfrm>
            <a:off x="566928" y="300471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one family member</a:t>
            </a:r>
            <a:endParaRPr lang="en-US" sz="1100" dirty="0"/>
          </a:p>
        </p:txBody>
      </p:sp>
      <p:sp>
        <p:nvSpPr>
          <p:cNvPr id="29" name="Text 26"/>
          <p:cNvSpPr txBox="1"/>
          <p:nvPr/>
        </p:nvSpPr>
        <p:spPr>
          <a:xfrm>
            <a:off x="1645920" y="3741725"/>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صِفِي أَحَدَ أَفْرَادِ الأُسْرَةِ (الشَّكْلُ وَالشَّخْصِيَّةُ).</a:t>
            </a:r>
            <a:endParaRPr lang="ar-SA" sz="1800" dirty="0"/>
          </a:p>
        </p:txBody>
      </p:sp>
      <p:sp>
        <p:nvSpPr>
          <p:cNvPr id="30" name="Text 27"/>
          <p:cNvSpPr txBox="1"/>
          <p:nvPr/>
        </p:nvSpPr>
        <p:spPr>
          <a:xfrm>
            <a:off x="566928" y="3741725"/>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did with them yesterday</a:t>
            </a:r>
            <a:endParaRPr lang="en-US" sz="1100" dirty="0"/>
          </a:p>
        </p:txBody>
      </p:sp>
      <p:sp>
        <p:nvSpPr>
          <p:cNvPr id="33" name="Text 30"/>
          <p:cNvSpPr txBox="1"/>
          <p:nvPr/>
        </p:nvSpPr>
        <p:spPr>
          <a:xfrm>
            <a:off x="1645920" y="4478731"/>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مَاذَا فَعَلْتِ مَعَهُمْ أَمْسِ؟</a:t>
            </a:r>
            <a:endParaRPr lang="ar-SA" sz="1800" dirty="0"/>
          </a:p>
        </p:txBody>
      </p:sp>
      <p:sp>
        <p:nvSpPr>
          <p:cNvPr id="34" name="Text 31"/>
          <p:cNvSpPr txBox="1"/>
          <p:nvPr/>
        </p:nvSpPr>
        <p:spPr>
          <a:xfrm>
            <a:off x="566928" y="4478731"/>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plan to welcome them; invite your friend</a:t>
            </a:r>
            <a:endParaRPr lang="en-US" sz="1100" dirty="0"/>
          </a:p>
        </p:txBody>
      </p:sp>
      <p:sp>
        <p:nvSpPr>
          <p:cNvPr id="37" name="Text 34"/>
          <p:cNvSpPr txBox="1"/>
          <p:nvPr/>
        </p:nvSpPr>
        <p:spPr>
          <a:xfrm>
            <a:off x="1645920" y="521573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كَيْفَ سَتُرَحِّبُونَ بِهِمْ؟ ادْعِي صَدِيقَتَكِ.</a:t>
            </a:r>
            <a:endParaRPr lang="ar-SA" sz="1800" dirty="0"/>
          </a:p>
        </p:txBody>
      </p:sp>
      <p:sp>
        <p:nvSpPr>
          <p:cNvPr id="38" name="Text 35"/>
          <p:cNvSpPr txBox="1"/>
          <p:nvPr/>
        </p:nvSpPr>
        <p:spPr>
          <a:xfrm>
            <a:off x="566928" y="521573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the exam the instructions are in Arabic: underline the question word in each bullet.</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18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CORE FRAMES (DEVELOP: USE THEM ONLY IF STUCK)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with these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162763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Hello …, how are you?</a:t>
            </a:r>
            <a:endParaRPr lang="en-US" sz="1100" dirty="0"/>
          </a:p>
        </p:txBody>
      </p:sp>
      <p:sp>
        <p:nvSpPr>
          <p:cNvPr id="21" name="Text 18"/>
          <p:cNvSpPr txBox="1"/>
          <p:nvPr/>
        </p:nvSpPr>
        <p:spPr>
          <a:xfrm>
            <a:off x="1645920" y="226771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مَرْحَبًا يَا ______ ، كَيْفَ حَالُكِ؟</a:t>
            </a:r>
            <a:endParaRPr lang="ar-SA" sz="1800" dirty="0"/>
          </a:p>
        </p:txBody>
      </p:sp>
      <p:sp>
        <p:nvSpPr>
          <p:cNvPr id="22" name="Text 19"/>
          <p:cNvSpPr txBox="1"/>
          <p:nvPr/>
        </p:nvSpPr>
        <p:spPr>
          <a:xfrm>
            <a:off x="566928" y="226771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have new neighbours from …: …</a:t>
            </a:r>
            <a:endParaRPr lang="en-US" sz="1100" dirty="0"/>
          </a:p>
        </p:txBody>
      </p:sp>
      <p:sp>
        <p:nvSpPr>
          <p:cNvPr id="27" name="Text 24"/>
          <p:cNvSpPr txBox="1"/>
          <p:nvPr/>
        </p:nvSpPr>
        <p:spPr>
          <a:xfrm>
            <a:off x="1645920" y="2881884"/>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عِنْدَنَا جِيرَانٌ جُدُدٌ مِنْ ______ : ______ .</a:t>
            </a:r>
            <a:endParaRPr lang="ar-SA" sz="1800" dirty="0"/>
          </a:p>
        </p:txBody>
      </p:sp>
      <p:sp>
        <p:nvSpPr>
          <p:cNvPr id="28" name="Text 25"/>
          <p:cNvSpPr txBox="1"/>
          <p:nvPr/>
        </p:nvSpPr>
        <p:spPr>
          <a:xfrm>
            <a:off x="566928" y="2881884"/>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is called … She / he is …, and …</a:t>
            </a:r>
            <a:endParaRPr lang="en-US" sz="1100" dirty="0"/>
          </a:p>
        </p:txBody>
      </p:sp>
      <p:sp>
        <p:nvSpPr>
          <p:cNvPr id="33" name="Text 30"/>
          <p:cNvSpPr txBox="1"/>
          <p:nvPr/>
        </p:nvSpPr>
        <p:spPr>
          <a:xfrm>
            <a:off x="1645920" y="3496056"/>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______ اسْمُهَا / اسْمُهُ ______ . هِيَ / هُوَ ______ ، وَ ______ .</a:t>
            </a:r>
            <a:endParaRPr lang="ar-SA" sz="1800" dirty="0"/>
          </a:p>
        </p:txBody>
      </p:sp>
      <p:sp>
        <p:nvSpPr>
          <p:cNvPr id="34" name="Text 31"/>
          <p:cNvSpPr txBox="1"/>
          <p:nvPr/>
        </p:nvSpPr>
        <p:spPr>
          <a:xfrm>
            <a:off x="566928" y="3496056"/>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Yesterday I helped them with …, then …</a:t>
            </a:r>
            <a:endParaRPr lang="en-US" sz="1100" dirty="0"/>
          </a:p>
        </p:txBody>
      </p:sp>
      <p:sp>
        <p:nvSpPr>
          <p:cNvPr id="39" name="Text 36"/>
          <p:cNvSpPr txBox="1"/>
          <p:nvPr/>
        </p:nvSpPr>
        <p:spPr>
          <a:xfrm>
            <a:off x="1645920" y="4110228"/>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أَمْسِ سَاعَدْتُهُمْ فِي ______ ، ثُمَّ ______ .</a:t>
            </a:r>
            <a:endParaRPr lang="ar-SA" sz="1800" dirty="0"/>
          </a:p>
        </p:txBody>
      </p:sp>
      <p:sp>
        <p:nvSpPr>
          <p:cNvPr id="40" name="Text 37"/>
          <p:cNvSpPr txBox="1"/>
          <p:nvPr/>
        </p:nvSpPr>
        <p:spPr>
          <a:xfrm>
            <a:off x="566928" y="4110228"/>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will invite them to … Will you come?</a:t>
            </a:r>
            <a:endParaRPr lang="en-US" sz="1100" dirty="0"/>
          </a:p>
        </p:txBody>
      </p:sp>
      <p:sp>
        <p:nvSpPr>
          <p:cNvPr id="45" name="Text 42"/>
          <p:cNvSpPr txBox="1"/>
          <p:nvPr/>
        </p:nvSpPr>
        <p:spPr>
          <a:xfrm>
            <a:off x="1645920" y="4724400"/>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سَنَدْعُوهُمْ إِلَى ______ . هَلْ تَأْتِينَ؟</a:t>
            </a:r>
            <a:endParaRPr lang="ar-SA" sz="1800" dirty="0"/>
          </a:p>
        </p:txBody>
      </p:sp>
      <p:sp>
        <p:nvSpPr>
          <p:cNvPr id="46" name="Text 43"/>
          <p:cNvSpPr txBox="1"/>
          <p:nvPr/>
        </p:nvSpPr>
        <p:spPr>
          <a:xfrm>
            <a:off x="566928" y="4724400"/>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7" name="Shape 44"/>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Goodbye, (your name)</a:t>
            </a:r>
            <a:endParaRPr lang="en-US" sz="1100" dirty="0"/>
          </a:p>
        </p:txBody>
      </p:sp>
      <p:sp>
        <p:nvSpPr>
          <p:cNvPr id="51" name="Text 48"/>
          <p:cNvSpPr txBox="1"/>
          <p:nvPr/>
        </p:nvSpPr>
        <p:spPr>
          <a:xfrm>
            <a:off x="1645920" y="533857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مَعَ السَّلَامَةِ، ______</a:t>
            </a:r>
            <a:endParaRPr lang="ar-SA" sz="1800" dirty="0"/>
          </a:p>
        </p:txBody>
      </p:sp>
      <p:sp>
        <p:nvSpPr>
          <p:cNvPr id="52" name="Text 49"/>
          <p:cNvSpPr txBox="1"/>
          <p:nvPr/>
        </p:nvSpPr>
        <p:spPr>
          <a:xfrm>
            <a:off x="566928" y="533857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a:t>
            </a:r>
            <a:endParaRPr lang="en-US" sz="1100" dirty="0"/>
          </a:p>
        </p:txBody>
      </p:sp>
      <p:sp>
        <p:nvSpPr>
          <p:cNvPr id="53" name="Shape 50"/>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Develop: add a frequency word and a “but” (lākin). Stretch: write without frames and add a second opinion.</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18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CORE MODEL · A SECURE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Q2 Core model: every bullet covered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TB-L10</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مَرْحَبًا يَا نَادِيَةُ،</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كَيْفَ حَالُكِ؟ عِنْدَنَا جِيرَانٌ جُدُدٌ! انْتَقَلُوا إِلَى البَيْتِ الَّذِي بِجَانِبِ بَيْتِنَا يَوْمَ السَّبْتِ. هُمْ أُسْرَةٌ مَغْرِبِيَّةٌ: أَبٌ وَأُمٌّ وَبِنْتَانِ. البِنْتُ الكُبْرَى اسْمُهَا لَيْلَى، وَهِيَ فِي عُمْرِي. هِيَ طَوِيلَةٌ، وَشَعْرُهَا أَسْوَدُ، وَتُحِبُّ الرَّسْمَ مِثْلِي. أَمْسِ سَاعَدْتُهُمْ فِي تَرْتِيبِ الأَثَاثِ، وَشَرِبْنَا الشَّايَ مَعًا. يَوْمَ الجُمُعَةِ سَنَدْعُوهُمْ إِلَى العَشَاءِ فِي بَيْتِنَا. هَلْ تَأْتِينَ أَنْتِ أَيْضًا؟</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مَعَ السَّلَامَةِ،</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مَرْيَمُ</a:t>
            </a:r>
            <a:endParaRPr lang="ar-SA" sz="19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Nadia, how are you? We have new neighbours! They moved into the house next to ours on Saturday. They are a Moroccan family: a father, a mother and two daughters. The elder daughter is called Layla and she is my age. She is tall with black hair, and she loves drawing like me. Yesterday I helped them arrange the furniture, and we drank tea together. On Friday we will invite them to dinner at our house. Will you come too? Goodbye, Maryam.”</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الَّذِي بِجَانِبِ بَيْتِنَا</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بِنْتَانِ</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سَاعَدْتُهُمْ</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سَنَدْعُوهُمْ</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18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Q2 full-mark model: detail, linking, opinion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TB-L10</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عَزِيزَتِي نَادِيَةُ،</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تَحِيَّةً طَيِّبَةً، وَبَعْدُ، فَعِنْدِي خَبَرٌ جَمِيلٌ: انْتَقَلَتْ أُسْرَةٌ مَغْرِبِيَّةٌ إِلَى البَيْتِ المُجَاوِرِ لَنَا، الَّذِي بَقِيَ فَارِغًا سَنَةً كَامِلَةً. تَتَكَوَّنُ الأُسْرَةُ مِنْ أَبٍ يَعْمَلُ طَبِيبًا، وَأُمٍّ لَطِيفَةٍ، وَبِنْتَيْنِ. أَمَّا الكُبْرَى، لَيْلَى، فَهِيَ فِي عُمْرِي تَقْرِيبًا؛ طَوِيلَةٌ، شَعْرُهَا أَسْوَدُ مُجَعَّدٌ، وَتَبْدُو خَجُولَةً قَلِيلًا، لٰكِنَّهَا ضَحِكَتْ كَثِيرًا عِنْدَمَا عَرَفَتْ أَنَّنَا نُحِبُّ الرَّسْمَ كِلْتَانَا. أَمْسِ قَضَيْتُ المَسَاءَ أُسَاعِدُهُمْ فِي تَرْتِيبِ غُرْفَتِهَا، ثُمَّ قَدَّمَتْ لَنَا أُمُّهَا شَايًا بِالنَّعْنَاعِ لَذِيذًا. سَنَدْعُوهُمْ إِلَى العَشَاءِ يَوْمَ الجُمُعَةِ، وَسَتَطْبُخُ أُمِّي المَقْلُوبَةَ، وَإِذَا جِئْتِ، فَسَتَتَعَرَّفِينَ عَلَيْهَا!</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مَعَ مَحَبَّتِي،</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مَرْيَمُ</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Nadia, greetings. I have lovely news: a Moroccan family has moved into the house next to ours, which had stood empty for a whole year. The family is a father who works as a doctor, a kind mother and two daughters. As for the elder, Layla, she is about my age: tall, with curly black hair; she seems a little shy, but she laughed a lot when she found out we both love drawing. Yesterday I spent the evening helping them arrange her room, then her mother served us delicious mint tea. We will invite them to dinner on Friday — Mum will cook maqluba — and if you come, you’ll get to know her! With love, Maryam.”</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الَّذِي بَقِيَ فَارِغًا</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أَمَّا الكُبْرَى … فَهِيَ</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تَبْدُو خَجُولَةً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إِذَا جِئْتِ، فَسَتَتَعَرَّفِينَ</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18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QUESTION 3 · EXTENDED WRITING · ABOUT 130–150 WORDS · CHOOSE ONE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3: choose one title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اخْتَرْ عُنْوَانًا وَاحِدًا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7123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53619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Title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07808" y="2267712"/>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neighbours</a:t>
            </a:r>
            <a:endParaRPr lang="en-US" sz="1100" dirty="0"/>
          </a:p>
        </p:txBody>
      </p:sp>
      <p:sp>
        <p:nvSpPr>
          <p:cNvPr id="21" name="Text 18"/>
          <p:cNvSpPr txBox="1"/>
          <p:nvPr/>
        </p:nvSpPr>
        <p:spPr>
          <a:xfrm>
            <a:off x="1554480" y="2267712"/>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جِيرَانِي</a:t>
            </a:r>
            <a:endParaRPr lang="ar-SA" sz="1700" dirty="0"/>
          </a:p>
        </p:txBody>
      </p:sp>
      <p:sp>
        <p:nvSpPr>
          <p:cNvPr id="22" name="Text 19"/>
          <p:cNvSpPr txBox="1"/>
          <p:nvPr/>
        </p:nvSpPr>
        <p:spPr>
          <a:xfrm>
            <a:off x="548640" y="2267712"/>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a:t>
            </a:r>
            <a:endParaRPr lang="ar-SA" sz="20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607808" y="3054096"/>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street and home · who your neighbours are (looks, personality, hobbies) · a moment with neighbours you won’t forget · your opinion and plans</a:t>
            </a:r>
            <a:endParaRPr lang="en-US" sz="1100" dirty="0"/>
          </a:p>
        </p:txBody>
      </p:sp>
      <p:sp>
        <p:nvSpPr>
          <p:cNvPr id="25" name="Text 22"/>
          <p:cNvSpPr txBox="1"/>
          <p:nvPr/>
        </p:nvSpPr>
        <p:spPr>
          <a:xfrm>
            <a:off x="1554480" y="3054096"/>
            <a:ext cx="585216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صِفْ شَارِعَكَ وَبَيْتَكَ · مَنْ جِيرَانُكَ؟ (الشَّكْلُ وَالشَّخْصِيَّةُ وَالهِوَايَاتُ) · مَوْقِفٌ مَعَ الجِيرَانِ لَا تَنْسَاهُ · رَأْيُكَ وَخُطَطُكَ</a:t>
            </a:r>
            <a:endParaRPr lang="ar-SA" sz="1400" dirty="0"/>
          </a:p>
        </p:txBody>
      </p:sp>
      <p:sp>
        <p:nvSpPr>
          <p:cNvPr id="26" name="Text 23"/>
          <p:cNvSpPr txBox="1"/>
          <p:nvPr/>
        </p:nvSpPr>
        <p:spPr>
          <a:xfrm>
            <a:off x="566928" y="3054096"/>
            <a:ext cx="822960" cy="731520"/>
          </a:xfrm>
          <a:prstGeom prst="rect">
            <a:avLst/>
          </a:prstGeom>
          <a:noFill/>
          <a:ln/>
        </p:spPr>
        <p:txBody>
          <a:bodyPr wrap="square" lIns="0" tIns="0" rIns="0" bIns="0" rtlCol="0" anchor="ctr"/>
          <a:lstStyle/>
          <a:p>
            <a:pPr algn="l" indent="0" marL="0">
              <a:buNone/>
            </a:pP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7607808" y="3840480"/>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Neighbours in the age of big cities</a:t>
            </a:r>
            <a:endParaRPr lang="en-US" sz="1100" dirty="0"/>
          </a:p>
        </p:txBody>
      </p:sp>
      <p:sp>
        <p:nvSpPr>
          <p:cNvPr id="29" name="Text 26"/>
          <p:cNvSpPr txBox="1"/>
          <p:nvPr/>
        </p:nvSpPr>
        <p:spPr>
          <a:xfrm>
            <a:off x="1554480" y="3840480"/>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الجِيرَانُ فِي عَصْرِ المُدُنِ الكَبِيرَةِ</a:t>
            </a:r>
            <a:endParaRPr lang="ar-SA" sz="1700" dirty="0"/>
          </a:p>
        </p:txBody>
      </p:sp>
      <p:sp>
        <p:nvSpPr>
          <p:cNvPr id="30" name="Text 27"/>
          <p:cNvSpPr txBox="1"/>
          <p:nvPr/>
        </p:nvSpPr>
        <p:spPr>
          <a:xfrm>
            <a:off x="548640" y="3840480"/>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a:t>
            </a:r>
            <a:endParaRPr lang="ar-SA" sz="20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7607808" y="4626864"/>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we know our neighbours? · past and present · an initiative or experience · your opinion and suggestion</a:t>
            </a:r>
            <a:endParaRPr lang="en-US" sz="1100" dirty="0"/>
          </a:p>
        </p:txBody>
      </p:sp>
      <p:sp>
        <p:nvSpPr>
          <p:cNvPr id="33" name="Text 30"/>
          <p:cNvSpPr txBox="1"/>
          <p:nvPr/>
        </p:nvSpPr>
        <p:spPr>
          <a:xfrm>
            <a:off x="1554480" y="4626864"/>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نَعْرِفُ جِيرَانَنَا؟ · المَاضِي وَالحَاضِرُ · مُبَادَرَةٌ أَوْ تَجْرِبَةٌ · رَأْيُكَ وَاقْتِرَاحُكَ</a:t>
            </a:r>
            <a:endParaRPr lang="ar-SA" sz="1700" dirty="0"/>
          </a:p>
        </p:txBody>
      </p:sp>
      <p:sp>
        <p:nvSpPr>
          <p:cNvPr id="34" name="Text 31"/>
          <p:cNvSpPr txBox="1"/>
          <p:nvPr/>
        </p:nvSpPr>
        <p:spPr>
          <a:xfrm>
            <a:off x="566928" y="4626864"/>
            <a:ext cx="822960" cy="731520"/>
          </a:xfrm>
          <a:prstGeom prst="rect">
            <a:avLst/>
          </a:prstGeom>
          <a:noFill/>
          <a:ln/>
        </p:spPr>
        <p:txBody>
          <a:bodyPr wrap="square" lIns="0" tIns="0" rIns="0" bIns="0" rtlCol="0" anchor="ctr"/>
          <a:lstStyle/>
          <a:p>
            <a:pPr algn="l" indent="0" marL="0">
              <a:buNone/>
            </a:pPr>
            <a:endParaRPr lang="en-US" sz="11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all four points. Use three time frames (present · past · future), opinions with reasons, and linking words.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18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3 · PLAN BEFORE YOU WRITE (4 PARAGRAPHS)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four-paragraph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خُطَّةُ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TB-L10</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ONE PARAGRAPH FOR EACH POINT</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Your street and home — numbers, colours, materials (TB-L04–L06).</a:t>
            </a:r>
            <a:endParaRPr lang="en-US" sz="1300" dirty="0"/>
          </a:p>
        </p:txBody>
      </p:sp>
      <p:sp>
        <p:nvSpPr>
          <p:cNvPr id="20" name="Shape 17"/>
          <p:cNvSpPr/>
          <p:nvPr/>
        </p:nvSpPr>
        <p:spPr>
          <a:xfrm>
            <a:off x="658368" y="30358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358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26080"/>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The neighbours — family, looks, personality, hobbies (TB-L01–L03, L08); track -hu / -hā / -hum.</a:t>
            </a:r>
            <a:endParaRPr lang="en-US" sz="1300" dirty="0"/>
          </a:p>
        </p:txBody>
      </p:sp>
      <p:sp>
        <p:nvSpPr>
          <p:cNvPr id="23" name="Shape 20"/>
          <p:cNvSpPr/>
          <p:nvPr/>
        </p:nvSpPr>
        <p:spPr>
          <a:xfrm>
            <a:off x="658368" y="37856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7856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675888"/>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A moment — a past story with sequencing (TB-L09): awwalan, thumma, …</a:t>
            </a:r>
            <a:endParaRPr lang="en-US" sz="1300" dirty="0"/>
          </a:p>
        </p:txBody>
      </p:sp>
      <p:sp>
        <p:nvSpPr>
          <p:cNvPr id="26" name="Shape 23"/>
          <p:cNvSpPr/>
          <p:nvPr/>
        </p:nvSpPr>
        <p:spPr>
          <a:xfrm>
            <a:off x="658368" y="45354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5354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425696"/>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Opinion + future — fī raʾyī …, sa- …; Stretch: ṣaḥīḥun anna … ghayra anna, idhā … fa-sa-, law … la-.</a:t>
            </a:r>
            <a:endParaRPr lang="en-US" sz="1300" dirty="0"/>
          </a:p>
        </p:txBody>
      </p:sp>
      <p:sp>
        <p:nvSpPr>
          <p:cNvPr id="29" name="Shape 26"/>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ONE SENTENCE PER TIME FRAME</a:t>
            </a:r>
            <a:endParaRPr lang="en-US" sz="1000" dirty="0"/>
          </a:p>
        </p:txBody>
      </p:sp>
      <p:sp>
        <p:nvSpPr>
          <p:cNvPr id="31" name="Text 28"/>
          <p:cNvSpPr txBox="1"/>
          <p:nvPr/>
        </p:nvSpPr>
        <p:spPr>
          <a:xfrm>
            <a:off x="6949440" y="2194560"/>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جَارَتُنَا عَجُوزٌ لَطِيفَةٌ، شَعْرُهَا أَبْيَضُ.</a:t>
            </a:r>
            <a:endParaRPr lang="ar-SA" sz="2600" dirty="0"/>
          </a:p>
        </p:txBody>
      </p:sp>
      <p:sp>
        <p:nvSpPr>
          <p:cNvPr id="32" name="Text 29"/>
          <p:cNvSpPr txBox="1"/>
          <p:nvPr/>
        </p:nvSpPr>
        <p:spPr>
          <a:xfrm>
            <a:off x="6949440" y="2761244"/>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present: our neighbour is a kind old lady with white hair.</a:t>
            </a:r>
            <a:endParaRPr lang="en-US" sz="1100" dirty="0"/>
          </a:p>
        </p:txBody>
      </p:sp>
      <p:sp>
        <p:nvSpPr>
          <p:cNvPr id="33" name="Shape 30"/>
          <p:cNvSpPr/>
          <p:nvPr/>
        </p:nvSpPr>
        <p:spPr>
          <a:xfrm>
            <a:off x="6995160" y="3188208"/>
            <a:ext cx="4553712" cy="0"/>
          </a:xfrm>
          <a:prstGeom prst="line">
            <a:avLst/>
          </a:prstGeom>
          <a:noFill/>
          <a:ln w="9525">
            <a:solidFill>
              <a:srgbClr val="E4DCCB"/>
            </a:solidFill>
            <a:prstDash val="dash"/>
          </a:ln>
        </p:spPr>
      </p:sp>
      <p:sp>
        <p:nvSpPr>
          <p:cNvPr id="34" name="Text 31"/>
          <p:cNvSpPr txBox="1"/>
          <p:nvPr/>
        </p:nvSpPr>
        <p:spPr>
          <a:xfrm>
            <a:off x="6949440" y="3206496"/>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أَوَّلًا اشْتَرَيْتُ لَهَا الدَّوَاءَ، ثُمَّ …</a:t>
            </a:r>
            <a:endParaRPr lang="ar-SA" sz="2600" dirty="0"/>
          </a:p>
        </p:txBody>
      </p:sp>
      <p:sp>
        <p:nvSpPr>
          <p:cNvPr id="35" name="Text 32"/>
          <p:cNvSpPr txBox="1"/>
          <p:nvPr/>
        </p:nvSpPr>
        <p:spPr>
          <a:xfrm>
            <a:off x="6949440" y="3773180"/>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past: first I bought her medicine, then …</a:t>
            </a:r>
            <a:endParaRPr lang="en-US" sz="1100" dirty="0"/>
          </a:p>
        </p:txBody>
      </p:sp>
      <p:sp>
        <p:nvSpPr>
          <p:cNvPr id="36" name="Shape 33"/>
          <p:cNvSpPr/>
          <p:nvPr/>
        </p:nvSpPr>
        <p:spPr>
          <a:xfrm>
            <a:off x="6995160" y="4200144"/>
            <a:ext cx="4553712" cy="0"/>
          </a:xfrm>
          <a:prstGeom prst="line">
            <a:avLst/>
          </a:prstGeom>
          <a:noFill/>
          <a:ln w="9525">
            <a:solidFill>
              <a:srgbClr val="E4DCCB"/>
            </a:solidFill>
            <a:prstDash val="dash"/>
          </a:ln>
        </p:spPr>
      </p:sp>
      <p:sp>
        <p:nvSpPr>
          <p:cNvPr id="37" name="Text 34"/>
          <p:cNvSpPr txBox="1"/>
          <p:nvPr/>
        </p:nvSpPr>
        <p:spPr>
          <a:xfrm>
            <a:off x="6949440" y="4218432"/>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سَنَدْعُو كُلَّ الجِيرَانِ.</a:t>
            </a:r>
            <a:endParaRPr lang="ar-SA" sz="2600" dirty="0"/>
          </a:p>
        </p:txBody>
      </p:sp>
      <p:sp>
        <p:nvSpPr>
          <p:cNvPr id="38" name="Text 35"/>
          <p:cNvSpPr txBox="1"/>
          <p:nvPr/>
        </p:nvSpPr>
        <p:spPr>
          <a:xfrm>
            <a:off x="6949440" y="4785116"/>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future: we will invite all the neighbours.</a:t>
            </a:r>
            <a:endParaRPr lang="en-US" sz="1100" dirty="0"/>
          </a:p>
        </p:txBody>
      </p:sp>
      <p:sp>
        <p:nvSpPr>
          <p:cNvPr id="39" name="Shape 36"/>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ROUTES</a:t>
            </a:r>
            <a:endParaRPr lang="en-US" sz="1100" dirty="0"/>
          </a:p>
        </p:txBody>
      </p:sp>
      <p:sp>
        <p:nvSpPr>
          <p:cNvPr id="41" name="Text 38"/>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Core: title (</a:t>
            </a:r>
            <a:pPr algn="l" indent="0" marL="0">
              <a:buNone/>
            </a:pPr>
            <a:r>
              <a:rPr lang="ar-SA" altLang="en-US" sz="1650" dirty="0">
                <a:solidFill>
                  <a:srgbClr val="1F2A37"/>
                </a:solidFill>
                <a:latin typeface="Amiri" pitchFamily="2" charset="-78"/>
                <a:ea typeface="Amiri" pitchFamily="2" charset="-78"/>
                <a:cs typeface="Amiri" pitchFamily="2" charset="-78"/>
              </a:rPr>
              <a:t>أ</a:t>
            </a:r>
            <a:pPr algn="l" indent="0" marL="0">
              <a:buNone/>
            </a:pPr>
            <a:r>
              <a:rPr lang="en-US" sz="1250" dirty="0">
                <a:solidFill>
                  <a:srgbClr val="1F2A37"/>
                </a:solidFill>
                <a:latin typeface="Calibri" pitchFamily="34" charset="0"/>
                <a:cs typeface="Amiri" pitchFamily="2" charset="-78"/>
              </a:rPr>
              <a:t>), one or two sentences per paragraph, then finish at home. Develop: three sentences per paragraph. Stretch: title (</a:t>
            </a:r>
            <a:pPr algn="l" indent="0" marL="0">
              <a:buNone/>
            </a:pPr>
            <a:r>
              <a:rPr lang="ar-SA" altLang="en-US" sz="1650" dirty="0">
                <a:solidFill>
                  <a:srgbClr val="1F2A37"/>
                </a:solidFill>
                <a:latin typeface="Amiri" pitchFamily="2" charset="-78"/>
                <a:ea typeface="Amiri" pitchFamily="2" charset="-78"/>
                <a:cs typeface="Amiri" pitchFamily="2" charset="-78"/>
              </a:rPr>
              <a:t>ب</a:t>
            </a:r>
            <a:pPr algn="l" indent="0" marL="0">
              <a:buNone/>
            </a:pPr>
            <a:r>
              <a:rPr lang="en-US" sz="1250" dirty="0">
                <a:solidFill>
                  <a:srgbClr val="1F2A37"/>
                </a:solidFill>
                <a:latin typeface="Calibri" pitchFamily="34" charset="0"/>
                <a:cs typeface="Amiri" pitchFamily="2" charset="-78"/>
              </a:rPr>
              <a:t>) with a contrast and a conditional.</a:t>
            </a:r>
            <a:endParaRPr lang="en-US" sz="12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18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CORE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Q3 (</a:t>
            </a:r>
            <a:pPr algn="l" indent="0" marL="0">
              <a:buNone/>
            </a:pPr>
            <a:r>
              <a:rPr lang="ar-SA" altLang="en-US" sz="3250" b="1" dirty="0">
                <a:solidFill>
                  <a:srgbClr val="1B3B6F"/>
                </a:solidFill>
                <a:latin typeface="Amiri" pitchFamily="2" charset="-78"/>
                <a:ea typeface="Amiri" pitchFamily="2" charset="-78"/>
                <a:cs typeface="Amiri" pitchFamily="2" charset="-78"/>
              </a:rPr>
              <a:t>أ</a:t>
            </a:r>
            <a:pPr algn="l" indent="0" marL="0">
              <a:buNone/>
            </a:pPr>
            <a:r>
              <a:rPr lang="en-US" sz="2500" b="1" dirty="0">
                <a:solidFill>
                  <a:srgbClr val="1B3B6F"/>
                </a:solidFill>
                <a:latin typeface="Cambria" pitchFamily="34" charset="0"/>
                <a:cs typeface="Amiri" pitchFamily="2" charset="-78"/>
              </a:rPr>
              <a:t>) Core model: clear and complete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TB-L10</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أَسْكُنُ فِي شَارِعٍ هَادِئٍ فِي شَمَالِ مَانْشِسْتَرَ. فِي شَارِعِنَا خَمْسَةَ عَشَرَ بَيْتًا، وَأَغْلَبُ البُيُوتِ قَدِيمَةٌ وَمَصْنُوعَةٌ مِنَ الطُّوبِ الأَحْمَرِ. بَيْتُنَا أَبْيَضُ، وَلَهُ حَدِيقَةٌ صَغِيرَةٌ أَمَامَهُ، فِيهَا أَزْهَارٌ حَمْرَاءُ وَصَفْرَاءُ.</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جِيرَانُنَا مِنْ بُلْدَانٍ كَثِيرَةٍ. عَلَى اليَمِينِ تَسْكُنُ أُسْرَةٌ صُومَالِيَّةٌ، عِنْدَهُمْ أَرْبَعَةُ أَوْلَادٍ، وَأَلْعَبُ كُرَةَ القَدَمِ مَعَ ابْنِهِمُ الكَبِيرِ كُلَّ سَبْتٍ. عَلَى اليَسَارِ تَسْكُنُ جَارَتُنَا مَارْغَرِيتُ، وَهِيَ عَجُوزٌ لَطِيفَةٌ، شَعْرُهَا أَبْيَضُ، وَتُحِبُّ الزُّهُورَ، وَتَعِيشُ وَحْدَهَا مَعَ قِطَّتِهَا البَيْضَاءِ.</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فِي الشِّتَاءِ المَاضِي مَرِضَتْ مَارْغَرِيتُ. أَوَّلًا ذَهَبْتُ إِلَى الصَّيْدَلِيَّةِ وَاشْتَرَيْتُ لَهَا الدَّوَاءَ، ثُمَّ طَبَخَتْ أُمِّي لَهَا الشُّورْبَةَ. كَانَتْ سَعِيدَةً جِدًّا، وَأَعْطَتْنِي كِتَابًا قَدِيمًا هَدِيَّةً. الآنَ أَزُورُهَا كُلَّ أُسْبُوعٍ.</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فِي رَأْيِي، الجِيرَانُ مُهِمُّونَ جِدًّا، لِأَنَّهُمْ يُسَاعِدُونَنَا. فِي الصَّيْفِ القَادِمِ سَنُنَظِّمُ حَفْلَةً فِي الشَّارِعِ، وَسَنَدْعُو كُلَّ الجِيرَانِ.</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A quiet street in north Manchester: fifteen houses, mostly old red brick; ours is white with a small front garden with red and yellow flowers → neighbours from many countries: a Somali family with four children on the right — I play football with their eldest every Saturday; on the left Margaret, a kind old lady with white hair who loves flowers and lives alone with her white cat → last winter Margaret was ill: first I went to the pharmacy for her medicine, then Mum cooked her soup; she was very happy and gave me an old book; now I visit her every week → neighbours matter because they help us; next summer we’ll hold a street party and invite everyone.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خَمْسَةَ عَشَرَ بَيْتًا</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عِنْدَهُمْ أَرْبَعَةُ أَوْلَادٍ</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أَوَّلًا … ثُمَّ</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سَنَدْعُو</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18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Q3 (</a:t>
            </a:r>
            <a:pPr algn="l" indent="0" marL="0">
              <a:buNone/>
            </a:pPr>
            <a:r>
              <a:rPr lang="ar-SA" altLang="en-US" sz="2850" b="1" dirty="0">
                <a:solidFill>
                  <a:srgbClr val="1B3B6F"/>
                </a:solidFill>
                <a:latin typeface="Amiri" pitchFamily="2" charset="-78"/>
                <a:ea typeface="Amiri" pitchFamily="2" charset="-78"/>
                <a:cs typeface="Amiri" pitchFamily="2" charset="-78"/>
              </a:rPr>
              <a:t>أ</a:t>
            </a:r>
            <a:pPr algn="l" indent="0" marL="0">
              <a:buNone/>
            </a:pPr>
            <a:r>
              <a:rPr lang="en-US" sz="2200" b="1" dirty="0">
                <a:solidFill>
                  <a:srgbClr val="1B3B6F"/>
                </a:solidFill>
                <a:latin typeface="Cambria" pitchFamily="34" charset="0"/>
                <a:cs typeface="Amiri" pitchFamily="2" charset="-78"/>
              </a:rPr>
              <a:t>) full-mark model: range and accuracy</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TB-L10</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يَقُولُ المَثَلُ العَرَبِيُّ: «الجَارُ قَبْلَ الدَّارِ»، وَلَمْ أَفْهَمْ مَعْنَاهُ حَتَّى انْتَقَلْنَا إِلَى حَيِّنَا الحَالِيِّ قَبْلَ ثَلَاثِ سَنَوَاتٍ. بَيْتُنَا لَيْسَ كَبِيرًا، وَمَطْبَخُهُ ضَيِّقٌ، لٰكِنَّ جِيرَانَنَا جَعَلُوهُ أَجْمَلَ بَيْتٍ فِي العَالَمِ، وَأَصْبَحُوا جُزْءًا مِنْ حَيَاتِنَا اليَوْمِيَّةِ.</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عَلَى يَمِينِنَا تَسْكُنُ أُسْرَةٌ سُورِيَّةٌ؛ الأَبُ نَجَّارٌ مَاهِرٌ صَنَعَ لِي رَفًّا لِكُتُبِي، أَمَّا الأُمُّ فَتُرْسِلُ لَنَا كُلَّ جُمُعَةٍ طَبَقًا مِنَ الكُبَّةِ. وَعَلَى يَسَارِنَا جَارٌ إِنْجِلِيزِيٌّ عَجُوزٌ، يَبْدُو صَارِمًا، لٰكِنَّهُ يَحْكِي لَنَا قِصَصًا مُضْحِكَةً عَنْ شَبَابِهِ، وَيُعَلِّمُ أَخِيَ الصَّغِيرَ الشِّطْرَنْجَ كُلَّ أَحَدٍ.</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لَنْ أَنْسَى يَوْمَ وَصَلْنَا؛ كَانَ المَطَرُ شَدِيدًا، وَالأَثَاثُ مُبْتَلًّا فِي الشَّارِعِ، فَخَرَجَ الجِيرَانُ كُلُّهُمْ دُونَ أَنْ نَطْلُبَ، وَحَمَلُوا الصَّنَادِيقَ مَعَنَا حَتَّى آخِرِ قِطْعَةٍ، ثُمَّ دَعَوْنَا إِلَى العَشَاءِ.</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صَحِيحٌ أَنَّ لِكُلِّ بَيْتٍ خُصُوصِيَّتَهُ، غَيْرَ أَنَّ الحَيَّ يُصْبِحُ عَائِلَةً كَبِيرَةً عِنْدَمَا يَهْتَمُّ النَّاسُ بِبَعْضِهِمْ. وَإِذَا جَاءَ جِيرَانٌ جُدُدٌ إِلَى شَارِعِنَا، فَسَأَكُونُ أَوَّلَ مَنْ يَطْرُقُ بَابَهُمْ لِيُرَحِّبَ بِهِمْ.</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لَمْ أَفْهَمْ … حَتَّى</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أَمَّا الأُمُّ فَتُرْسِلُ</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دُونَ أَنْ نَطْلُبَ</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إِذَا جَاءَ … فَسَأَكُونُ</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18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ب</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Q3 (</a:t>
            </a:r>
            <a:pPr algn="l" indent="0" marL="0">
              <a:buNone/>
            </a:pPr>
            <a:r>
              <a:rPr lang="ar-SA" altLang="en-US" sz="3000" b="1" dirty="0">
                <a:solidFill>
                  <a:srgbClr val="1B3B6F"/>
                </a:solidFill>
                <a:latin typeface="Amiri" pitchFamily="2" charset="-78"/>
                <a:ea typeface="Amiri" pitchFamily="2" charset="-78"/>
                <a:cs typeface="Amiri" pitchFamily="2" charset="-78"/>
              </a:rPr>
              <a:t>ب</a:t>
            </a:r>
            <a:pPr algn="l" indent="0" marL="0">
              <a:buNone/>
            </a:pPr>
            <a:r>
              <a:rPr lang="en-US" sz="2300" b="1" dirty="0">
                <a:solidFill>
                  <a:srgbClr val="1B3B6F"/>
                </a:solidFill>
                <a:latin typeface="Cambria" pitchFamily="34" charset="0"/>
                <a:cs typeface="Amiri" pitchFamily="2" charset="-78"/>
              </a:rPr>
              <a:t>) full-mark model: neighbours today</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TB-L10</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فِي المُدُنِ الحَدِيثَةِ يَسْكُنُ النَّاسُ قَرِيبِينَ جِدًّا بَعْضُهُمْ مِنْ بَعْضٍ؛ فَقَدْ يَفْصِلُ بَيْنَكَ وَبَيْنَ جَارِكَ جِدَارٌ وَاحِدٌ، وَمَعَ ذٰلِكَ لَا تَعْرِفُ اسْمَهُ، وَلَا تَعْرِفُ إِنْ كَانَ مَرِيضًا أَوْ يَحْتَاجُ إِلَى مُسَاعَدَةٍ.</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فِي المَاضِي كَانَ الجِيرَانُ يَتَبَادَلُونَ الطَّعَامَ وَالزِّيَارَاتِ، وَيَحْتَفِلُونَ بِالأَعْيَادِ مَعًا، وَكَانَ الأَطْفَالُ يَلْعَبُونَ فِي الشَّارِعِ تَحْتَ أَعْيُنِ كُلِّ الأُمَّهَاتِ، أَمَّا اليَوْمَ فَيَقْضِي أَغْلَبُنَا وَقْتَهُ خَلْفَ الأَبْوَابِ المُغْلَقَةِ وَأَمَامَ الشَّاشَاتِ.</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غَيْرَ أَنَّ التَّغْيِيرَ مُمْكِنٌ. فِي الصَّيْفِ المَاضِي اقْتَرَحَ أَبِي أَنْ نُنَظِّمَ «غَدَاءَ الشَّارِعِ»، فَأَحْضَرَتْ كُلُّ أُسْرَةٍ طَبَقًا مِنْ بَلَدِهَا: بِرْيَانِي بَاكِسْتَانِيٌّ، وَكُسْكُسِي مَغْرِبِيٌّ، وَفَطَائِرُ إِنْجِلِيزِيَّةٌ. وَمُنْذُ ذٰلِكَ اليَوْمِ أَصْبَحَ الجِيرَانُ يُسَلِّمُونَ عَلَى بَعْضِهِمْ وَيَتَعَاوَنُونَ، وَيَحْرُسُ بَعْضُهُمْ بُيُوتَ بَعْضٍ فِي العُطَلِ.</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صَحِيحٌ أَنَّ الحَيَاةَ الحَدِيثَةَ سَرِيعَةٌ وَمُتْعِبَةٌ، غَيْرَ أَنَّ ابْتِسَامَةً وَسُؤَالًا بَسِيطًا يُمْكِنُ أَنْ يَبْنِيَا صَدَاقَةً. وَلَوْ خَصَّصَ كُلُّ حَيٍّ يَوْمًا وَاحِدًا فِي السَّنَةِ لِلِقَاءِ الجِيرَانِ، لَأَصْبَحَتْ مُدُنُنَا أَكْثَرَ دِفْئًا وَأَمَانًا.</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وَمَعَ ذٰلِكَ لَا تَعْرِفُ</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أَمَّا اليَوْمَ فَيَقْضِي</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اقْتَرَحَ أَبِي أَنْ نُنَظِّمَ</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لَوْ خَصَّصَ … لَأَصْبَحَتْ</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18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TB-L10</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Q1: every box in Arabic, with words from all of Topic B.</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all four bullet points,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every pronoun (-hu / -hā / -hum) points to the right person.</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four paragraphs in three time frames.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ammā … fa-, a concession and law … la- / idhā … fa-sa-.</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TB-L10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great writing practice today!</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WORKSHOP</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TB-L11 · Exam practice · Speaking and writing workshops — the next Topic B lesson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وَرْشَةُ التَّدْرِيبِ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cover every bullet point, check your verb endings, and use three time frames in Question 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TB-L10 · Writing Workshop — Mixed Topic B: New Neighbours</dc:title>
  <dc:subject>PptxGenJS Presentation</dc:subject>
  <dc:creator>Al Madina Online School · Arabic Department</dc:creator>
  <cp:lastModifiedBy>Al Madina Online School · Arabic Department</cp:lastModifiedBy>
  <cp:revision>1</cp:revision>
  <dcterms:created xsi:type="dcterms:W3CDTF">2026-10-11T09:18:24Z</dcterms:created>
  <dcterms:modified xsi:type="dcterms:W3CDTF">2026-10-11T09:18:24Z</dcterms:modified>
</cp:coreProperties>
</file>