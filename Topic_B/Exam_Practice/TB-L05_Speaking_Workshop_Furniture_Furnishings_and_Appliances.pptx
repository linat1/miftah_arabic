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embeddedFontLst>
    <p:embeddedFont>
      <p:font typeface="Amiri" pitchFamily="2" charset="-78"/>
      <p:regular r:id="rIdFont1"/>
      <p:bold r:id="rIdFont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Font1" Type="http://schemas.openxmlformats.org/officeDocument/2006/relationships/font" Target="fonts/font1.fntdata"/><Relationship Id="rIdFont2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WORKSHOP AT A GLANCE — 60 minutes on Teams, mostly in breakout rooms of three.
0–2 Welcome · 2–6 How Paper 3 works · 6–10 Language bank · 10–13 Breakout routine · 13–33 Role plays A–D in rooms (rotate roles) · 33–37 Role-play models (main room) · 37–50 Topic conversation in rooms · 50–55 Conversation models · 55–58 Feedback + self-check · 58–60 Close.
Content: teacher-made exam scenarios for Advanced Topic B, Lesson 5 (Furniture, Furnishings and Appliances, TB-L05), using that lesson’s language (iḍāfa; attached pronouns (-hu, -hā); relative clauses). Every task has Core · Develop · Stretch support and a model answer.
EXAM FORMAT: Paper 3 Speaking = a role play and a topic conversation, as in the Cambridge IGCSE Arabic 0544 speaking test. Check timings and marks against the current syllabus and the past paper you use.
BREAKOUT ROOMS: set up rooms of three before the lesson. Share the deck (or a PDF) so every room can see the cards.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(1 min) — while students join.
• Greet each student by name as they arrive: السَّلَامُ عَلَيْكُمْ. Take the register (Pastoral Tracker: attendance 0/1).
• 2-MINUTE CHECK-IN (SEND training): a private chat to any student who seemed unsettled last lesson — “Are you okay today? 👍 / 👎”.
• Point to the four expectations — brief and positive: this is our class agreement.
• Talk code: “I will always give you thinking and practice time before I ask anyone.” Reading aloud is by invitation — a student may say “pass” and you return to them later.
• Follow-up on preparation: who learnt the five words? Quick private reminder to anyone who did not (Flipped Learning: follow up every time).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(1 min) — most of the lesson happens in breakout rooms; the teacher visits each 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 (3 min). Role play = precise and complete; conversation = develop. Choral repetition of the repair phrases. To a girl: تُعِيدِي.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LANGUAGE BANK (2 min) — iḍāfa: خِزَانَةُ المَلَابِسِ · غُرْفَةُ النَّوْمِ · بَابُ الثَّلَّاجَةِ — the first word has no al- and no tanwīn. Broken plurals: أَسِرَّةٌ · رُفُوفٌ · سَتَائِرُ.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LANGUAGE BANK (2 min) — the pronoun matches the noun: الفُرْنُ → نَسْتَعْمِلُهُ · الثَّلَّاجَةُ → نَسْتَعْمِلُهَا. Relative: الغَسَّالَةُ الَّتِي اشْتَرَيْنَاهَا مُعَطَّلَةٌ.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BREAKOUT ROUTINE (3 min, in the main room). Same-level rooms make the routes simple; mixed rooms work if the strongest student is examiner first. Post the room timer in the chat. Visit every room for about two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ROLE PLAY A (Core) — in a furniture shop.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تُرِيدِينَ · تُفَضِّلِينَ · بَيْتِكِ.
Core: object pronoun -hu for the desk (saʾākhudhuhu, saʾaḍaʿuhu), a comparative (arkhaṣ), colours, prepositions.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ROLE PLAY B (Core+) — calling the landlord.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(the landlord may be a woman: أَلُو، نَعَمْ؟ · سَأُرْسِلُ فَنِّيًّا — same words).
Task 3: the pronoun -hā for al-ghassāla (nushagghiluhā). Task 4: the CANDIDATE asks. Task 5: iḍāfa (bābu th-thallāja).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ROLE PLAY C (Develop) — redecorating.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تُرِيدِينَ أَنْ تُغَيِّرِي غُرْفَتَكِ · سَيُسَاعِدُكِ — نُعْطِيهَا لِبِنْتِ عَمِّي.
Develop: reasons, an + subjunctive, the pronoun -hā for the wardrobe, mā zālat, badalan min an, a future plan.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ROLE PLAY D (Stretch) — a tech show.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تَسْتَطِيعِينَ أَنْ تَعِيشِي · رَأْيُكِ · اخْتَرَعْتِ.
Stretch: alladhī + bidūnihi, kāna + present vs ammā … fa-, balanced points, a concession and law … la-.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Observers keep this slide open (or copy the six points into their book). Collect one strong WWW per room afterwards.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TOPIC CONVERSATION — Core. Examiner asks the questions in order and may add “لِمَاذَا؟ / هَلْ يُمْكِنُ أَنْ تَشْرَحَ أَكْثَرَ؟” to push for more. Candidate aims for one full sentence per question.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TOPIC CONVERSATION — Develop. Examiner asks the questions in order and may add “لِمَاذَا؟ / هَلْ يُمْكِنُ أَنْ تَشْرَحَ أَكْثَرَ؟” to push for more. Candidate aims for two or three sentences, with a reason or a past detail.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TOPIC CONVERSATION — Stretch. Examiner asks the questions in order and may add “لِمَاذَا؟ / هَلْ يُمْكِنُ أَنْ تَشْرَحَ أَكْثَرَ؟” to push for more. Candidate aims for a developed answer: opinion, comparison, concession and a conditional.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(Core)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(Develop)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(Stretch)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(Stretch)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SELF-CHECK (1 min) against the website success criteria. Students tick privately, then type one WWW and one EBI in the chat (English is fine).
Teacher: one whole-class feedback point from live feedback. Pastoral: Curiosity &amp; Growth for honest reflection and a harder target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— thank students, dismiss calmly. After the lesson: complete the Pastoral Tracker (attendance, character, self-management, curiosity; demerits only for the five listed concerns). Note any student below 2/3 on the exit ticket for a Do Now check-in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cs typeface="Amiri" pitchFamily="2" charset="-78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cs typeface="Amiri" pitchFamily="2" charset="-78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cs typeface="Amiri" pitchFamily="2" charset="-78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cs typeface="Amiri" pitchFamily="2" charset="-78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cs typeface="Amiri" pitchFamily="2" charset="-78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cs typeface="Amiri" pitchFamily="2" charset="-78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46304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-548640"/>
            <a:ext cx="4023360" cy="402336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0" y="685800"/>
            <a:ext cx="1554480" cy="1554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B3B6F"/>
          </a:solidFill>
          <a:ln w="15875">
            <a:solidFill>
              <a:srgbClr val="D4AF3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393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2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078992" y="384048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400" dirty="0"/>
          </a:p>
          <a:p>
            <a:pPr indent="0" marL="0">
              <a:buNone/>
            </a:pPr>
            <a:r>
              <a:rPr lang="en-US" sz="8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ARABIC DEPARTMENT · MIFTAH ARABIC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600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CAMBRIDGE IGCSE ARABIC 0544  ·  ADVANCED TOPIC B · EXAM PRACTICE  ·  TB-L05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965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9FB3D1"/>
                </a:solidFill>
                <a:latin typeface="Cambria" pitchFamily="34" charset="0"/>
                <a:cs typeface="Amiri" pitchFamily="2" charset="-78"/>
              </a:rPr>
              <a:t>TB-L05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48716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Speaking Workshop — Furniture and Appliances</a:t>
            </a:r>
            <a:endParaRPr lang="en-US" sz="26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331012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36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وَرْشَةُ التَّحَدُّثِ — الأَثَاثُ وَالأَجْهِزَةُ</a:t>
            </a:r>
            <a:endParaRPr lang="ar-SA" sz="36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224528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Paper 3 practice in breakout rooms: say where furniture is, what appliances are used for, what is broken or needs changing — using iḍāfa, attached pronouns and alladhī / allatī.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57200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21792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LESSON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TB-L05 · Advanced Topic B · Personal and Social Life · exam practice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273552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438144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DURATION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60 minutes · Teams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089904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254496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LEVEL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Topic B · A1+ → B1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8906256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070848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ON THE WEBSITE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Advanced Topics › Topic B › TB-L05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TB-L05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19188" y="274320"/>
            <a:ext cx="1540764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19188" y="274320"/>
            <a:ext cx="15407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BEFORE WE BEGIN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Our online classroom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آدَابُ الصَّفِّ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2002536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39696"/>
            <a:ext cx="310896" cy="310896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371600" y="1901952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Camera on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 I can see you learning and help you quickly.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457200" y="2907792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40080" y="3081528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218688"/>
            <a:ext cx="310896" cy="310896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371600" y="2980944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Mic muted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Unmute only when invited to speak.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457200" y="3986784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40080" y="4160520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297680"/>
            <a:ext cx="310896" cy="310896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371600" y="4059936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Chat for learning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Answers, questions and Arabic only.</a:t>
            </a:r>
            <a:endParaRPr lang="en-US" sz="1500" dirty="0"/>
          </a:p>
        </p:txBody>
      </p:sp>
      <p:sp>
        <p:nvSpPr>
          <p:cNvPr id="27" name="Shape 21"/>
          <p:cNvSpPr/>
          <p:nvPr/>
        </p:nvSpPr>
        <p:spPr>
          <a:xfrm>
            <a:off x="457200" y="5065776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640080" y="5239512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376672"/>
            <a:ext cx="310896" cy="310896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371600" y="5138928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Raise your hand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 the hand button to ask for help.</a:t>
            </a:r>
            <a:endParaRPr lang="en-US" sz="1500" dirty="0"/>
          </a:p>
        </p:txBody>
      </p:sp>
      <p:sp>
        <p:nvSpPr>
          <p:cNvPr id="31" name="Shape 24"/>
          <p:cNvSpPr/>
          <p:nvPr/>
        </p:nvSpPr>
        <p:spPr>
          <a:xfrm>
            <a:off x="6172200" y="1828800"/>
            <a:ext cx="5559552" cy="4169664"/>
          </a:xfrm>
          <a:prstGeom prst="roundRect">
            <a:avLst>
              <a:gd name="adj" fmla="val 1754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Text 25"/>
          <p:cNvSpPr txBox="1"/>
          <p:nvPr/>
        </p:nvSpPr>
        <p:spPr>
          <a:xfrm>
            <a:off x="6400800" y="1938528"/>
            <a:ext cx="5102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HOW WE TALK — THE ORACY CODE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6400800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6400800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●</a:t>
            </a:r>
            <a:endParaRPr lang="en-US" sz="1800" dirty="0"/>
          </a:p>
        </p:txBody>
      </p:sp>
      <p:sp>
        <p:nvSpPr>
          <p:cNvPr id="35" name="Text 28"/>
          <p:cNvSpPr txBox="1"/>
          <p:nvPr/>
        </p:nvSpPr>
        <p:spPr>
          <a:xfrm>
            <a:off x="7059168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Think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silent preparation</a:t>
            </a:r>
            <a:endParaRPr lang="en-US" sz="1400" dirty="0"/>
          </a:p>
        </p:txBody>
      </p:sp>
      <p:sp>
        <p:nvSpPr>
          <p:cNvPr id="36" name="Shape 29"/>
          <p:cNvSpPr/>
          <p:nvPr/>
        </p:nvSpPr>
        <p:spPr>
          <a:xfrm>
            <a:off x="8997696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8997696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↔</a:t>
            </a:r>
            <a:endParaRPr lang="en-US" sz="1800" dirty="0"/>
          </a:p>
        </p:txBody>
      </p:sp>
      <p:sp>
        <p:nvSpPr>
          <p:cNvPr id="38" name="Text 31"/>
          <p:cNvSpPr txBox="1"/>
          <p:nvPr/>
        </p:nvSpPr>
        <p:spPr>
          <a:xfrm>
            <a:off x="9656064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Rehearse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both partners speak</a:t>
            </a:r>
            <a:endParaRPr lang="en-US" sz="1400" dirty="0"/>
          </a:p>
        </p:txBody>
      </p:sp>
      <p:sp>
        <p:nvSpPr>
          <p:cNvPr id="39" name="Shape 32"/>
          <p:cNvSpPr/>
          <p:nvPr/>
        </p:nvSpPr>
        <p:spPr>
          <a:xfrm>
            <a:off x="6400800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6400800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+</a:t>
            </a:r>
            <a:endParaRPr lang="en-US" sz="1800" dirty="0"/>
          </a:p>
        </p:txBody>
      </p:sp>
      <p:sp>
        <p:nvSpPr>
          <p:cNvPr id="41" name="Text 34"/>
          <p:cNvSpPr txBox="1"/>
          <p:nvPr/>
        </p:nvSpPr>
        <p:spPr>
          <a:xfrm>
            <a:off x="7059168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Build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add a reason or detail</a:t>
            </a:r>
            <a:endParaRPr lang="en-US" sz="1400" dirty="0"/>
          </a:p>
        </p:txBody>
      </p:sp>
      <p:sp>
        <p:nvSpPr>
          <p:cNvPr id="42" name="Shape 35"/>
          <p:cNvSpPr/>
          <p:nvPr/>
        </p:nvSpPr>
        <p:spPr>
          <a:xfrm>
            <a:off x="8997696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8997696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?</a:t>
            </a:r>
            <a:endParaRPr lang="en-US" sz="1800" dirty="0"/>
          </a:p>
        </p:txBody>
      </p:sp>
      <p:sp>
        <p:nvSpPr>
          <p:cNvPr id="44" name="Text 37"/>
          <p:cNvSpPr txBox="1"/>
          <p:nvPr/>
        </p:nvSpPr>
        <p:spPr>
          <a:xfrm>
            <a:off x="9656064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Challenge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question respectfully</a:t>
            </a:r>
            <a:endParaRPr lang="en-US" sz="1400" dirty="0"/>
          </a:p>
        </p:txBody>
      </p:sp>
      <p:sp>
        <p:nvSpPr>
          <p:cNvPr id="45" name="Shape 38"/>
          <p:cNvSpPr/>
          <p:nvPr/>
        </p:nvSpPr>
        <p:spPr>
          <a:xfrm>
            <a:off x="6400800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6" name="Text 39"/>
          <p:cNvSpPr txBox="1"/>
          <p:nvPr/>
        </p:nvSpPr>
        <p:spPr>
          <a:xfrm>
            <a:off x="6400800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◎</a:t>
            </a:r>
            <a:endParaRPr lang="en-US" sz="1800" dirty="0"/>
          </a:p>
        </p:txBody>
      </p:sp>
      <p:sp>
        <p:nvSpPr>
          <p:cNvPr id="47" name="Text 40"/>
          <p:cNvSpPr txBox="1"/>
          <p:nvPr/>
        </p:nvSpPr>
        <p:spPr>
          <a:xfrm>
            <a:off x="7059168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Share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anyone may be invited</a:t>
            </a:r>
            <a:endParaRPr lang="en-US" sz="1400" dirty="0"/>
          </a:p>
        </p:txBody>
      </p:sp>
      <p:sp>
        <p:nvSpPr>
          <p:cNvPr id="48" name="Shape 41"/>
          <p:cNvSpPr/>
          <p:nvPr/>
        </p:nvSpPr>
        <p:spPr>
          <a:xfrm>
            <a:off x="8997696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9" name="Text 42"/>
          <p:cNvSpPr txBox="1"/>
          <p:nvPr/>
        </p:nvSpPr>
        <p:spPr>
          <a:xfrm>
            <a:off x="8997696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↺</a:t>
            </a:r>
            <a:endParaRPr lang="en-US" sz="1800" dirty="0"/>
          </a:p>
        </p:txBody>
      </p:sp>
      <p:sp>
        <p:nvSpPr>
          <p:cNvPr id="50" name="Text 43"/>
          <p:cNvSpPr txBox="1"/>
          <p:nvPr/>
        </p:nvSpPr>
        <p:spPr>
          <a:xfrm>
            <a:off x="9656064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Summarise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it more precisely</a:t>
            </a:r>
            <a:endParaRPr lang="en-US" sz="1400" dirty="0"/>
          </a:p>
        </p:txBody>
      </p:sp>
      <p:sp>
        <p:nvSpPr>
          <p:cNvPr id="51" name="Text 44"/>
          <p:cNvSpPr txBox="1"/>
          <p:nvPr/>
        </p:nvSpPr>
        <p:spPr>
          <a:xfrm>
            <a:off x="6400800" y="5230368"/>
            <a:ext cx="51023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will always give you thinking and practice time before I ask anyone. Reading aloud is by invitation — you can always say “pass, please come back to me”.</a:t>
            </a:r>
            <a:endParaRPr lang="en-US" sz="1150" dirty="0"/>
          </a:p>
        </p:txBody>
      </p:sp>
      <p:sp>
        <p:nvSpPr>
          <p:cNvPr id="52" name="Text 4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 / 25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TB-L05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88352" y="27432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88352" y="2743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TODAY’S WORKSHOP MAP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Exam practice, step by step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خَرِيطَةُ الوَرْشَةِ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66928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03504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603504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8 min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1332281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332281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585216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How the speaking exam works; the language you need.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كَيْفَ</a:t>
            </a:r>
            <a:endParaRPr lang="ar-SA" sz="1500" dirty="0"/>
          </a:p>
        </p:txBody>
      </p:sp>
      <p:sp>
        <p:nvSpPr>
          <p:cNvPr id="23" name="Shape 20"/>
          <p:cNvSpPr/>
          <p:nvPr/>
        </p:nvSpPr>
        <p:spPr>
          <a:xfrm>
            <a:off x="2737714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2847442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884018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2884018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20 min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3612794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612794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2865730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A–D in breakout rooms.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2829154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cs typeface="Amiri" pitchFamily="2" charset="-78"/>
              </a:rPr>
              <a:t>تَمْثِيلُ الدَّوْرِ</a:t>
            </a:r>
            <a:endParaRPr lang="ar-SA" sz="1500" dirty="0"/>
          </a:p>
        </p:txBody>
      </p:sp>
      <p:sp>
        <p:nvSpPr>
          <p:cNvPr id="31" name="Shape 28"/>
          <p:cNvSpPr/>
          <p:nvPr/>
        </p:nvSpPr>
        <p:spPr>
          <a:xfrm>
            <a:off x="5018227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5127955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164531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5164531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4 min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5893308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893308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5146243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Role-play models.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5109667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النَّمُوذَجُ</a:t>
            </a:r>
            <a:endParaRPr lang="ar-SA" sz="1500" dirty="0"/>
          </a:p>
        </p:txBody>
      </p:sp>
      <p:sp>
        <p:nvSpPr>
          <p:cNvPr id="39" name="Shape 36"/>
          <p:cNvSpPr/>
          <p:nvPr/>
        </p:nvSpPr>
        <p:spPr>
          <a:xfrm>
            <a:off x="7298741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7408469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7445045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7445045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13 min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8173822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8173822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300" dirty="0"/>
          </a:p>
        </p:txBody>
      </p:sp>
      <p:sp>
        <p:nvSpPr>
          <p:cNvPr id="45" name="Text 42"/>
          <p:cNvSpPr txBox="1"/>
          <p:nvPr/>
        </p:nvSpPr>
        <p:spPr>
          <a:xfrm>
            <a:off x="7426757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Topic conversation in breakout rooms.</a:t>
            </a:r>
            <a:endParaRPr lang="en-US" sz="1200" dirty="0"/>
          </a:p>
        </p:txBody>
      </p:sp>
      <p:sp>
        <p:nvSpPr>
          <p:cNvPr id="46" name="Text 43"/>
          <p:cNvSpPr txBox="1"/>
          <p:nvPr/>
        </p:nvSpPr>
        <p:spPr>
          <a:xfrm>
            <a:off x="7390181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cs typeface="Amiri" pitchFamily="2" charset="-78"/>
              </a:rPr>
              <a:t>المُحَادَثَةُ</a:t>
            </a:r>
            <a:endParaRPr lang="ar-SA" sz="1500" dirty="0"/>
          </a:p>
        </p:txBody>
      </p:sp>
      <p:sp>
        <p:nvSpPr>
          <p:cNvPr id="47" name="Shape 44"/>
          <p:cNvSpPr/>
          <p:nvPr/>
        </p:nvSpPr>
        <p:spPr>
          <a:xfrm>
            <a:off x="9579254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8" name="Shape 45"/>
          <p:cNvSpPr/>
          <p:nvPr/>
        </p:nvSpPr>
        <p:spPr>
          <a:xfrm>
            <a:off x="9688982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725558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</a:t>
            </a:r>
            <a:endParaRPr lang="en-US" sz="1000" dirty="0"/>
          </a:p>
        </p:txBody>
      </p:sp>
      <p:sp>
        <p:nvSpPr>
          <p:cNvPr id="50" name="Text 47"/>
          <p:cNvSpPr txBox="1"/>
          <p:nvPr/>
        </p:nvSpPr>
        <p:spPr>
          <a:xfrm>
            <a:off x="9725558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9 min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10454335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10454335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300" dirty="0"/>
          </a:p>
        </p:txBody>
      </p:sp>
      <p:sp>
        <p:nvSpPr>
          <p:cNvPr id="53" name="Text 50"/>
          <p:cNvSpPr txBox="1"/>
          <p:nvPr/>
        </p:nvSpPr>
        <p:spPr>
          <a:xfrm>
            <a:off x="9707270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Conversation models, feedback, self-check.</a:t>
            </a:r>
            <a:endParaRPr lang="en-US" sz="1200" dirty="0"/>
          </a:p>
        </p:txBody>
      </p:sp>
      <p:sp>
        <p:nvSpPr>
          <p:cNvPr id="54" name="Text 51"/>
          <p:cNvSpPr txBox="1"/>
          <p:nvPr/>
        </p:nvSpPr>
        <p:spPr>
          <a:xfrm>
            <a:off x="9670694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قَيِّمْ</a:t>
            </a:r>
            <a:endParaRPr lang="ar-SA" sz="1500" dirty="0"/>
          </a:p>
        </p:txBody>
      </p:sp>
      <p:sp>
        <p:nvSpPr>
          <p:cNvPr id="55" name="Shape 52"/>
          <p:cNvSpPr/>
          <p:nvPr/>
        </p:nvSpPr>
        <p:spPr>
          <a:xfrm>
            <a:off x="457200" y="5285232"/>
            <a:ext cx="11274552" cy="1024128"/>
          </a:xfrm>
          <a:prstGeom prst="roundRect">
            <a:avLst>
              <a:gd name="adj" fmla="val 7143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6" name="Text 53"/>
          <p:cNvSpPr txBox="1"/>
          <p:nvPr/>
        </p:nvSpPr>
        <p:spPr>
          <a:xfrm>
            <a:off x="685800" y="53583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IF ARABIC FEELS HARD TODAY</a:t>
            </a:r>
            <a:endParaRPr lang="en-US" sz="1000" dirty="0"/>
          </a:p>
        </p:txBody>
      </p:sp>
      <p:sp>
        <p:nvSpPr>
          <p:cNvPr id="57" name="Text 54"/>
          <p:cNvSpPr txBox="1"/>
          <p:nvPr/>
        </p:nvSpPr>
        <p:spPr>
          <a:xfrm>
            <a:off x="685800" y="5632704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In the rooms everyone has a job: examiner, candidate or observer. You swap after each role play, so everybody speaks.</a:t>
            </a:r>
            <a:endParaRPr lang="en-US" sz="1250" dirty="0"/>
          </a:p>
        </p:txBody>
      </p:sp>
      <p:sp>
        <p:nvSpPr>
          <p:cNvPr id="58" name="Text 5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3 / 25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TB-L05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TEACH · PAPER 3 SPEAKING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How the speaking exam works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امْتِحَانُ التَّحَدُّثِ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6172200" cy="4498848"/>
          </a:xfrm>
          <a:prstGeom prst="roundRect">
            <a:avLst>
              <a:gd name="adj" fmla="val 1626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58368" y="1883664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THE TWO PARTS WE PRACTISE TODAY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58368" y="2286000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8368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78992" y="2176272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 — a card with a situation and tasks. The examiner asks; you answer every task in a full, clear sentence. One task is unexpected (!).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58368" y="3296412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8368" y="32964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078992" y="3186684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TOPIC CONVERSATION — the examiner asks questions about a topic you know. Short answers are not enough: develop each one.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" y="4306824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" y="4306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78992" y="4197096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Examiners reward: completing the tasks, a range of language (tenses, linking words, opinions) and accuracy.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58368" y="5317236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8368" y="53172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78992" y="5207508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Never stay silent — use a repair phrase and keep going.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812280" y="1810512"/>
            <a:ext cx="4919472" cy="4498848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995160" y="1883664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REPAIR PHRASES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6949440" y="2194560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عَفْوًا، هَلْ يُمْكِنُ أَنْ تُعِيدَ السُّؤَالَ؟</a:t>
            </a:r>
            <a:endParaRPr lang="ar-SA" sz="2800" dirty="0"/>
          </a:p>
        </p:txBody>
      </p:sp>
      <p:sp>
        <p:nvSpPr>
          <p:cNvPr id="32" name="Text 29"/>
          <p:cNvSpPr txBox="1"/>
          <p:nvPr/>
        </p:nvSpPr>
        <p:spPr>
          <a:xfrm>
            <a:off x="6949440" y="2955828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Sorry, could you repeat the question?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995160" y="3535680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6949440" y="3553968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لَحْظَةً، دَعْنِي أُفَكِّرُ …</a:t>
            </a:r>
            <a:endParaRPr lang="ar-SA" sz="2800" dirty="0"/>
          </a:p>
        </p:txBody>
      </p:sp>
      <p:sp>
        <p:nvSpPr>
          <p:cNvPr id="35" name="Text 32"/>
          <p:cNvSpPr txBox="1"/>
          <p:nvPr/>
        </p:nvSpPr>
        <p:spPr>
          <a:xfrm>
            <a:off x="6949440" y="4315236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One moment, let me think …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995160" y="4895088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7" name="Text 34"/>
          <p:cNvSpPr txBox="1"/>
          <p:nvPr/>
        </p:nvSpPr>
        <p:spPr>
          <a:xfrm>
            <a:off x="6949440" y="4913376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أَقْصِدُ …</a:t>
            </a:r>
            <a:endParaRPr lang="ar-SA" sz="2800" dirty="0"/>
          </a:p>
        </p:txBody>
      </p:sp>
      <p:sp>
        <p:nvSpPr>
          <p:cNvPr id="38" name="Text 35"/>
          <p:cNvSpPr txBox="1"/>
          <p:nvPr/>
        </p:nvSpPr>
        <p:spPr>
          <a:xfrm>
            <a:off x="6949440" y="5674644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mean …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4 / 25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TB-L05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LANGUAGE BANK · FURNITURE AND FURNISHINGS (SG. · PL.)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What is in your room?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مَاذَا فِي غُرْفَتِكَ؟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1144829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114482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 · pl. · my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سَرِيرٌ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bed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sa-rī-run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10543032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597896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my</a:t>
            </a:r>
            <a:endParaRPr lang="en-US" sz="750" dirty="0"/>
          </a:p>
        </p:txBody>
      </p:sp>
      <p:sp>
        <p:nvSpPr>
          <p:cNvPr id="26" name="Text 23"/>
          <p:cNvSpPr txBox="1"/>
          <p:nvPr/>
        </p:nvSpPr>
        <p:spPr>
          <a:xfrm>
            <a:off x="10588752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سَرِيرِي</a:t>
            </a:r>
            <a:endParaRPr lang="ar-SA" sz="1500" dirty="0"/>
          </a:p>
        </p:txBody>
      </p:sp>
      <p:sp>
        <p:nvSpPr>
          <p:cNvPr id="27" name="Shape 24"/>
          <p:cNvSpPr/>
          <p:nvPr/>
        </p:nvSpPr>
        <p:spPr>
          <a:xfrm>
            <a:off x="9390888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445752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29" name="Text 26"/>
          <p:cNvSpPr txBox="1"/>
          <p:nvPr/>
        </p:nvSpPr>
        <p:spPr>
          <a:xfrm>
            <a:off x="9436608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أَسِرَّةٌ</a:t>
            </a:r>
            <a:endParaRPr lang="ar-SA" sz="1500" dirty="0"/>
          </a:p>
        </p:txBody>
      </p:sp>
      <p:sp>
        <p:nvSpPr>
          <p:cNvPr id="30" name="Shape 27"/>
          <p:cNvSpPr/>
          <p:nvPr/>
        </p:nvSpPr>
        <p:spPr>
          <a:xfrm>
            <a:off x="8238744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293608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</a:t>
            </a:r>
            <a:endParaRPr lang="en-US" sz="750" dirty="0"/>
          </a:p>
        </p:txBody>
      </p:sp>
      <p:sp>
        <p:nvSpPr>
          <p:cNvPr id="32" name="Text 29"/>
          <p:cNvSpPr txBox="1"/>
          <p:nvPr/>
        </p:nvSpPr>
        <p:spPr>
          <a:xfrm>
            <a:off x="8284464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سَرِيرٌ</a:t>
            </a:r>
            <a:endParaRPr lang="ar-SA" sz="1500" dirty="0"/>
          </a:p>
        </p:txBody>
      </p:sp>
      <p:sp>
        <p:nvSpPr>
          <p:cNvPr id="33" name="Shape 30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4782312" y="1938528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4782312" y="1938528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iḍāfa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40" name="Text 37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خِزَانَةُ المَلَابِسِ</a:t>
            </a:r>
            <a:endParaRPr lang="ar-SA" sz="3000" dirty="0"/>
          </a:p>
        </p:txBody>
      </p:sp>
      <p:sp>
        <p:nvSpPr>
          <p:cNvPr id="41" name="Text 38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wardrobe (clothes cupboard)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khi-zā-na-tu al-ma-lā-bi-si</a:t>
            </a:r>
            <a:endParaRPr lang="en-US" sz="1350" dirty="0"/>
          </a:p>
        </p:txBody>
      </p:sp>
      <p:sp>
        <p:nvSpPr>
          <p:cNvPr id="42" name="Shape 39"/>
          <p:cNvSpPr/>
          <p:nvPr/>
        </p:nvSpPr>
        <p:spPr>
          <a:xfrm>
            <a:off x="6144768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199632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its</a:t>
            </a:r>
            <a:endParaRPr lang="en-US" sz="750" dirty="0"/>
          </a:p>
        </p:txBody>
      </p:sp>
      <p:sp>
        <p:nvSpPr>
          <p:cNvPr id="44" name="Text 41"/>
          <p:cNvSpPr txBox="1"/>
          <p:nvPr/>
        </p:nvSpPr>
        <p:spPr>
          <a:xfrm>
            <a:off x="6190488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بَابُهَا</a:t>
            </a:r>
            <a:endParaRPr lang="ar-SA" sz="1500" dirty="0"/>
          </a:p>
        </p:txBody>
      </p:sp>
      <p:sp>
        <p:nvSpPr>
          <p:cNvPr id="45" name="Shape 42"/>
          <p:cNvSpPr/>
          <p:nvPr/>
        </p:nvSpPr>
        <p:spPr>
          <a:xfrm>
            <a:off x="4416552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4471416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47" name="Text 44"/>
          <p:cNvSpPr txBox="1"/>
          <p:nvPr/>
        </p:nvSpPr>
        <p:spPr>
          <a:xfrm>
            <a:off x="4462272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خِزَانَاتٌ</a:t>
            </a:r>
            <a:endParaRPr lang="ar-SA" sz="1500" dirty="0"/>
          </a:p>
        </p:txBody>
      </p:sp>
      <p:sp>
        <p:nvSpPr>
          <p:cNvPr id="48" name="Shape 45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9" name="Shape 46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960120" y="1938528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960120" y="1938528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800" dirty="0"/>
          </a:p>
        </p:txBody>
      </p:sp>
      <p:sp>
        <p:nvSpPr>
          <p:cNvPr id="53" name="Shape 50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5" name="Text 52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مَكْتَبٌ · كُرْسِيٌّ</a:t>
            </a:r>
            <a:endParaRPr lang="ar-SA" sz="3000" dirty="0"/>
          </a:p>
        </p:txBody>
      </p:sp>
      <p:sp>
        <p:nvSpPr>
          <p:cNvPr id="56" name="Text 53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desk · a chair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mak-ta-bun · kur-siy-yun</a:t>
            </a:r>
            <a:endParaRPr lang="en-US" sz="1350" dirty="0"/>
          </a:p>
        </p:txBody>
      </p:sp>
      <p:sp>
        <p:nvSpPr>
          <p:cNvPr id="57" name="Shape 54"/>
          <p:cNvSpPr/>
          <p:nvPr/>
        </p:nvSpPr>
        <p:spPr>
          <a:xfrm>
            <a:off x="594360" y="3438144"/>
            <a:ext cx="3364992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649224" y="3447288"/>
            <a:ext cx="32552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59" name="Text 56"/>
          <p:cNvSpPr txBox="1"/>
          <p:nvPr/>
        </p:nvSpPr>
        <p:spPr>
          <a:xfrm>
            <a:off x="640080" y="3483864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مَكَاتِبُ · كَرَاسِيُّ</a:t>
            </a:r>
            <a:endParaRPr lang="ar-SA" sz="1500" dirty="0"/>
          </a:p>
        </p:txBody>
      </p:sp>
      <p:sp>
        <p:nvSpPr>
          <p:cNvPr id="60" name="Shape 57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1" name="Shape 58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63" name="Shape 60"/>
          <p:cNvSpPr/>
          <p:nvPr/>
        </p:nvSpPr>
        <p:spPr>
          <a:xfrm>
            <a:off x="8604504" y="4279392"/>
            <a:ext cx="833933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8604504" y="4279392"/>
            <a:ext cx="83393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 · pl.</a:t>
            </a:r>
            <a:endParaRPr lang="en-US" sz="800" dirty="0"/>
          </a:p>
        </p:txBody>
      </p:sp>
      <p:sp>
        <p:nvSpPr>
          <p:cNvPr id="65" name="Shape 62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67" name="Text 64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رَفٌّ</a:t>
            </a:r>
            <a:endParaRPr lang="ar-SA" sz="3000" dirty="0"/>
          </a:p>
        </p:txBody>
      </p:sp>
      <p:sp>
        <p:nvSpPr>
          <p:cNvPr id="68" name="Text 65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shelf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raf-fun</a:t>
            </a:r>
            <a:endParaRPr lang="en-US" sz="1350" dirty="0"/>
          </a:p>
        </p:txBody>
      </p:sp>
      <p:sp>
        <p:nvSpPr>
          <p:cNvPr id="69" name="Shape 66"/>
          <p:cNvSpPr/>
          <p:nvPr/>
        </p:nvSpPr>
        <p:spPr>
          <a:xfrm>
            <a:off x="99669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100218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71" name="Text 68"/>
          <p:cNvSpPr txBox="1"/>
          <p:nvPr/>
        </p:nvSpPr>
        <p:spPr>
          <a:xfrm>
            <a:off x="10012680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رُفُوفٌ</a:t>
            </a:r>
            <a:endParaRPr lang="ar-SA" sz="1500" dirty="0"/>
          </a:p>
        </p:txBody>
      </p:sp>
      <p:sp>
        <p:nvSpPr>
          <p:cNvPr id="72" name="Shape 69"/>
          <p:cNvSpPr/>
          <p:nvPr/>
        </p:nvSpPr>
        <p:spPr>
          <a:xfrm>
            <a:off x="8238744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8293608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</a:t>
            </a:r>
            <a:endParaRPr lang="en-US" sz="750" dirty="0"/>
          </a:p>
        </p:txBody>
      </p:sp>
      <p:sp>
        <p:nvSpPr>
          <p:cNvPr id="74" name="Text 71"/>
          <p:cNvSpPr txBox="1"/>
          <p:nvPr/>
        </p:nvSpPr>
        <p:spPr>
          <a:xfrm>
            <a:off x="8284464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رَفٌّ</a:t>
            </a:r>
            <a:endParaRPr lang="ar-SA" sz="1500" dirty="0"/>
          </a:p>
        </p:txBody>
      </p:sp>
      <p:sp>
        <p:nvSpPr>
          <p:cNvPr id="75" name="Shape 72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6" name="Shape 73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77" name="Text 74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000" dirty="0"/>
          </a:p>
        </p:txBody>
      </p:sp>
      <p:sp>
        <p:nvSpPr>
          <p:cNvPr id="78" name="Shape 75"/>
          <p:cNvSpPr/>
          <p:nvPr/>
        </p:nvSpPr>
        <p:spPr>
          <a:xfrm>
            <a:off x="4782312" y="4279392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4782312" y="4279392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800" dirty="0"/>
          </a:p>
        </p:txBody>
      </p:sp>
      <p:sp>
        <p:nvSpPr>
          <p:cNvPr id="80" name="Shape 77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81" name="Text 78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82" name="Text 79"/>
          <p:cNvSpPr txBox="1"/>
          <p:nvPr/>
        </p:nvSpPr>
        <p:spPr>
          <a:xfrm>
            <a:off x="4389120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سَجَّادَةٌ · سِتَارَةٌ</a:t>
            </a:r>
            <a:endParaRPr lang="ar-SA" sz="3000" dirty="0"/>
          </a:p>
        </p:txBody>
      </p:sp>
      <p:sp>
        <p:nvSpPr>
          <p:cNvPr id="83" name="Text 80"/>
          <p:cNvSpPr txBox="1"/>
          <p:nvPr/>
        </p:nvSpPr>
        <p:spPr>
          <a:xfrm>
            <a:off x="4416552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rug · a curtain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saj-jā-da-tun · si-tā-ra-tun</a:t>
            </a:r>
            <a:endParaRPr lang="en-US" sz="1350" dirty="0"/>
          </a:p>
        </p:txBody>
      </p:sp>
      <p:sp>
        <p:nvSpPr>
          <p:cNvPr id="84" name="Shape 81"/>
          <p:cNvSpPr/>
          <p:nvPr/>
        </p:nvSpPr>
        <p:spPr>
          <a:xfrm>
            <a:off x="4416552" y="5779008"/>
            <a:ext cx="3364992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5" name="Text 82"/>
          <p:cNvSpPr txBox="1"/>
          <p:nvPr/>
        </p:nvSpPr>
        <p:spPr>
          <a:xfrm>
            <a:off x="4471416" y="5788152"/>
            <a:ext cx="32552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86" name="Text 83"/>
          <p:cNvSpPr txBox="1"/>
          <p:nvPr/>
        </p:nvSpPr>
        <p:spPr>
          <a:xfrm>
            <a:off x="4462272" y="5824728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سَجَّادٌ · سَتَائِرُ</a:t>
            </a:r>
            <a:endParaRPr lang="ar-SA" sz="1500" dirty="0"/>
          </a:p>
        </p:txBody>
      </p:sp>
      <p:sp>
        <p:nvSpPr>
          <p:cNvPr id="87" name="Shape 84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88" name="Shape 85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89" name="Text 86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000" dirty="0"/>
          </a:p>
        </p:txBody>
      </p:sp>
      <p:sp>
        <p:nvSpPr>
          <p:cNvPr id="90" name="Shape 87"/>
          <p:cNvSpPr/>
          <p:nvPr/>
        </p:nvSpPr>
        <p:spPr>
          <a:xfrm>
            <a:off x="960120" y="4279392"/>
            <a:ext cx="833933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91" name="Text 88"/>
          <p:cNvSpPr txBox="1"/>
          <p:nvPr/>
        </p:nvSpPr>
        <p:spPr>
          <a:xfrm>
            <a:off x="960120" y="4279392"/>
            <a:ext cx="83393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 · pl.</a:t>
            </a:r>
            <a:endParaRPr lang="en-US" sz="800" dirty="0"/>
          </a:p>
        </p:txBody>
      </p:sp>
      <p:sp>
        <p:nvSpPr>
          <p:cNvPr id="92" name="Shape 89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3" name="Text 90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94" name="Text 91"/>
          <p:cNvSpPr txBox="1"/>
          <p:nvPr/>
        </p:nvSpPr>
        <p:spPr>
          <a:xfrm>
            <a:off x="566928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ثَلَّاجَةٌ</a:t>
            </a:r>
            <a:endParaRPr lang="ar-SA" sz="3000" dirty="0"/>
          </a:p>
        </p:txBody>
      </p:sp>
      <p:sp>
        <p:nvSpPr>
          <p:cNvPr id="95" name="Text 92"/>
          <p:cNvSpPr txBox="1"/>
          <p:nvPr/>
        </p:nvSpPr>
        <p:spPr>
          <a:xfrm>
            <a:off x="594360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fridge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thal-lā-ja-tun</a:t>
            </a:r>
            <a:endParaRPr lang="en-US" sz="1350" dirty="0"/>
          </a:p>
        </p:txBody>
      </p:sp>
      <p:sp>
        <p:nvSpPr>
          <p:cNvPr id="96" name="Shape 93"/>
          <p:cNvSpPr/>
          <p:nvPr/>
        </p:nvSpPr>
        <p:spPr>
          <a:xfrm>
            <a:off x="2322576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97" name="Text 94"/>
          <p:cNvSpPr txBox="1"/>
          <p:nvPr/>
        </p:nvSpPr>
        <p:spPr>
          <a:xfrm>
            <a:off x="2377440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98" name="Text 95"/>
          <p:cNvSpPr txBox="1"/>
          <p:nvPr/>
        </p:nvSpPr>
        <p:spPr>
          <a:xfrm>
            <a:off x="2368296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ثَلَّاجَاتٌ</a:t>
            </a:r>
            <a:endParaRPr lang="ar-SA" sz="1500" dirty="0"/>
          </a:p>
        </p:txBody>
      </p:sp>
      <p:sp>
        <p:nvSpPr>
          <p:cNvPr id="99" name="Shape 96"/>
          <p:cNvSpPr/>
          <p:nvPr/>
        </p:nvSpPr>
        <p:spPr>
          <a:xfrm>
            <a:off x="5943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0" name="Text 97"/>
          <p:cNvSpPr txBox="1"/>
          <p:nvPr/>
        </p:nvSpPr>
        <p:spPr>
          <a:xfrm>
            <a:off x="6492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</a:t>
            </a:r>
            <a:endParaRPr lang="en-US" sz="750" dirty="0"/>
          </a:p>
        </p:txBody>
      </p:sp>
      <p:sp>
        <p:nvSpPr>
          <p:cNvPr id="101" name="Text 98"/>
          <p:cNvSpPr txBox="1"/>
          <p:nvPr/>
        </p:nvSpPr>
        <p:spPr>
          <a:xfrm>
            <a:off x="640080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ثَلَّاجَةٌ</a:t>
            </a:r>
            <a:endParaRPr lang="ar-SA" sz="1500" dirty="0"/>
          </a:p>
        </p:txBody>
      </p:sp>
      <p:sp>
        <p:nvSpPr>
          <p:cNvPr id="102" name="Text 99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5 / 25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TB-L05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LANGUAGE BANK · APPLIANCES, “IT” AND “WHICH”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What do we use it for?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لِمَاذَا نَسْتَعْمِلُهُ؟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7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833933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83393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 · pl.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غَسَّالَةٌ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washing machine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ghas-sā-la-tun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99669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0218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26" name="Text 23"/>
          <p:cNvSpPr txBox="1"/>
          <p:nvPr/>
        </p:nvSpPr>
        <p:spPr>
          <a:xfrm>
            <a:off x="10012680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غَسَّالَاتٌ</a:t>
            </a:r>
            <a:endParaRPr lang="ar-SA" sz="1500" dirty="0"/>
          </a:p>
        </p:txBody>
      </p:sp>
      <p:sp>
        <p:nvSpPr>
          <p:cNvPr id="27" name="Shape 24"/>
          <p:cNvSpPr/>
          <p:nvPr/>
        </p:nvSpPr>
        <p:spPr>
          <a:xfrm>
            <a:off x="8238744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93608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</a:t>
            </a:r>
            <a:endParaRPr lang="en-US" sz="750" dirty="0"/>
          </a:p>
        </p:txBody>
      </p:sp>
      <p:sp>
        <p:nvSpPr>
          <p:cNvPr id="29" name="Text 26"/>
          <p:cNvSpPr txBox="1"/>
          <p:nvPr/>
        </p:nvSpPr>
        <p:spPr>
          <a:xfrm>
            <a:off x="8284464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غَسَّالَةٌ</a:t>
            </a:r>
            <a:endParaRPr lang="ar-SA" sz="1500" dirty="0"/>
          </a:p>
        </p:txBody>
      </p:sp>
      <p:sp>
        <p:nvSpPr>
          <p:cNvPr id="30" name="Shape 27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8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782312" y="1938528"/>
            <a:ext cx="833933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782312" y="1938528"/>
            <a:ext cx="83393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 · pl.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37" name="Text 34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فُرْنٌ</a:t>
            </a:r>
            <a:endParaRPr lang="ar-SA" sz="3000" dirty="0"/>
          </a:p>
        </p:txBody>
      </p:sp>
      <p:sp>
        <p:nvSpPr>
          <p:cNvPr id="38" name="Text 35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an oven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fur-nun</a:t>
            </a:r>
            <a:endParaRPr lang="en-US" sz="1350" dirty="0"/>
          </a:p>
        </p:txBody>
      </p:sp>
      <p:sp>
        <p:nvSpPr>
          <p:cNvPr id="39" name="Shape 36"/>
          <p:cNvSpPr/>
          <p:nvPr/>
        </p:nvSpPr>
        <p:spPr>
          <a:xfrm>
            <a:off x="6144768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6199632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41" name="Text 38"/>
          <p:cNvSpPr txBox="1"/>
          <p:nvPr/>
        </p:nvSpPr>
        <p:spPr>
          <a:xfrm>
            <a:off x="6190488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أَفْرَانٌ</a:t>
            </a:r>
            <a:endParaRPr lang="ar-SA" sz="1500" dirty="0"/>
          </a:p>
        </p:txBody>
      </p:sp>
      <p:sp>
        <p:nvSpPr>
          <p:cNvPr id="42" name="Shape 39"/>
          <p:cNvSpPr/>
          <p:nvPr/>
        </p:nvSpPr>
        <p:spPr>
          <a:xfrm>
            <a:off x="4416552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4471416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</a:t>
            </a:r>
            <a:endParaRPr lang="en-US" sz="750" dirty="0"/>
          </a:p>
        </p:txBody>
      </p:sp>
      <p:sp>
        <p:nvSpPr>
          <p:cNvPr id="44" name="Text 41"/>
          <p:cNvSpPr txBox="1"/>
          <p:nvPr/>
        </p:nvSpPr>
        <p:spPr>
          <a:xfrm>
            <a:off x="4462272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فُرْنٌ</a:t>
            </a:r>
            <a:endParaRPr lang="ar-SA" sz="1500" dirty="0"/>
          </a:p>
        </p:txBody>
      </p:sp>
      <p:sp>
        <p:nvSpPr>
          <p:cNvPr id="45" name="Shape 42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9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960120" y="1938528"/>
            <a:ext cx="1269187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60120" y="1938528"/>
            <a:ext cx="126918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attached pronoun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نَسْتَعْمِلُهُ لِلطَّبْخِ</a:t>
            </a:r>
            <a:endParaRPr lang="ar-SA" sz="3000" dirty="0"/>
          </a:p>
        </p:txBody>
      </p:sp>
      <p:sp>
        <p:nvSpPr>
          <p:cNvPr id="53" name="Text 50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we use it for cooking (m.)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nas-taʿ-mi-lu-hu lilṭ-ṭab-khi</a:t>
            </a:r>
            <a:endParaRPr lang="en-US" sz="1350" dirty="0"/>
          </a:p>
        </p:txBody>
      </p:sp>
      <p:sp>
        <p:nvSpPr>
          <p:cNvPr id="54" name="Shape 51"/>
          <p:cNvSpPr/>
          <p:nvPr/>
        </p:nvSpPr>
        <p:spPr>
          <a:xfrm>
            <a:off x="2322576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2377440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</a:t>
            </a:r>
            <a:endParaRPr lang="en-US" sz="750" dirty="0"/>
          </a:p>
        </p:txBody>
      </p:sp>
      <p:sp>
        <p:nvSpPr>
          <p:cNvPr id="56" name="Text 53"/>
          <p:cNvSpPr txBox="1"/>
          <p:nvPr/>
        </p:nvSpPr>
        <p:spPr>
          <a:xfrm>
            <a:off x="2368296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أَسْتَعْمِلُهُ</a:t>
            </a:r>
            <a:endParaRPr lang="ar-SA" sz="1500" dirty="0"/>
          </a:p>
        </p:txBody>
      </p:sp>
      <p:sp>
        <p:nvSpPr>
          <p:cNvPr id="57" name="Shape 54"/>
          <p:cNvSpPr/>
          <p:nvPr/>
        </p:nvSpPr>
        <p:spPr>
          <a:xfrm>
            <a:off x="5943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6492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59" name="Text 56"/>
          <p:cNvSpPr txBox="1"/>
          <p:nvPr/>
        </p:nvSpPr>
        <p:spPr>
          <a:xfrm>
            <a:off x="640080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نَسْتَعْمِلُهَا</a:t>
            </a:r>
            <a:endParaRPr lang="ar-SA" sz="1500" dirty="0"/>
          </a:p>
        </p:txBody>
      </p:sp>
      <p:sp>
        <p:nvSpPr>
          <p:cNvPr id="60" name="Shape 57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1" name="Shape 58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10</a:t>
            </a:r>
            <a:endParaRPr lang="en-US" sz="1000" dirty="0"/>
          </a:p>
        </p:txBody>
      </p:sp>
      <p:sp>
        <p:nvSpPr>
          <p:cNvPr id="63" name="Shape 60"/>
          <p:cNvSpPr/>
          <p:nvPr/>
        </p:nvSpPr>
        <p:spPr>
          <a:xfrm>
            <a:off x="8604504" y="4279392"/>
            <a:ext cx="1642262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8604504" y="4279392"/>
            <a:ext cx="164226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 · f. · non-hum. pl.</a:t>
            </a:r>
            <a:endParaRPr lang="en-US" sz="800" dirty="0"/>
          </a:p>
        </p:txBody>
      </p:sp>
      <p:sp>
        <p:nvSpPr>
          <p:cNvPr id="65" name="Shape 62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67" name="Text 64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مُعَطَّلٌ</a:t>
            </a:r>
            <a:endParaRPr lang="ar-SA" sz="3000" dirty="0"/>
          </a:p>
        </p:txBody>
      </p:sp>
      <p:sp>
        <p:nvSpPr>
          <p:cNvPr id="68" name="Text 65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broken, not working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mu-ʿaṭ-ṭa-lun</a:t>
            </a:r>
            <a:endParaRPr lang="en-US" sz="1350" dirty="0"/>
          </a:p>
        </p:txBody>
      </p:sp>
      <p:sp>
        <p:nvSpPr>
          <p:cNvPr id="69" name="Shape 66"/>
          <p:cNvSpPr/>
          <p:nvPr/>
        </p:nvSpPr>
        <p:spPr>
          <a:xfrm>
            <a:off x="10543032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10597896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71" name="Text 68"/>
          <p:cNvSpPr txBox="1"/>
          <p:nvPr/>
        </p:nvSpPr>
        <p:spPr>
          <a:xfrm>
            <a:off x="10588752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مُعَطَّلَةٌ</a:t>
            </a:r>
            <a:endParaRPr lang="ar-SA" sz="1500" dirty="0"/>
          </a:p>
        </p:txBody>
      </p:sp>
      <p:sp>
        <p:nvSpPr>
          <p:cNvPr id="72" name="Shape 69"/>
          <p:cNvSpPr/>
          <p:nvPr/>
        </p:nvSpPr>
        <p:spPr>
          <a:xfrm>
            <a:off x="9390888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9445752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74" name="Text 71"/>
          <p:cNvSpPr txBox="1"/>
          <p:nvPr/>
        </p:nvSpPr>
        <p:spPr>
          <a:xfrm>
            <a:off x="9436608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مُعَطَّلَةٌ</a:t>
            </a:r>
            <a:endParaRPr lang="ar-SA" sz="1500" dirty="0"/>
          </a:p>
        </p:txBody>
      </p:sp>
      <p:sp>
        <p:nvSpPr>
          <p:cNvPr id="75" name="Shape 72"/>
          <p:cNvSpPr/>
          <p:nvPr/>
        </p:nvSpPr>
        <p:spPr>
          <a:xfrm>
            <a:off x="8238744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6" name="Text 73"/>
          <p:cNvSpPr txBox="1"/>
          <p:nvPr/>
        </p:nvSpPr>
        <p:spPr>
          <a:xfrm>
            <a:off x="8293608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</a:t>
            </a:r>
            <a:endParaRPr lang="en-US" sz="750" dirty="0"/>
          </a:p>
        </p:txBody>
      </p:sp>
      <p:sp>
        <p:nvSpPr>
          <p:cNvPr id="77" name="Text 74"/>
          <p:cNvSpPr txBox="1"/>
          <p:nvPr/>
        </p:nvSpPr>
        <p:spPr>
          <a:xfrm>
            <a:off x="8284464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مُعَطَّلٌ</a:t>
            </a:r>
            <a:endParaRPr lang="ar-SA" sz="1500" dirty="0"/>
          </a:p>
        </p:txBody>
      </p:sp>
      <p:sp>
        <p:nvSpPr>
          <p:cNvPr id="78" name="Shape 75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9" name="Shape 76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80" name="Text 77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11</a:t>
            </a:r>
            <a:endParaRPr lang="en-US" sz="1000" dirty="0"/>
          </a:p>
        </p:txBody>
      </p:sp>
      <p:sp>
        <p:nvSpPr>
          <p:cNvPr id="81" name="Shape 78"/>
          <p:cNvSpPr/>
          <p:nvPr/>
        </p:nvSpPr>
        <p:spPr>
          <a:xfrm>
            <a:off x="4782312" y="4279392"/>
            <a:ext cx="77175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82" name="Text 79"/>
          <p:cNvSpPr txBox="1"/>
          <p:nvPr/>
        </p:nvSpPr>
        <p:spPr>
          <a:xfrm>
            <a:off x="4782312" y="4279392"/>
            <a:ext cx="7717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 · pl.</a:t>
            </a:r>
            <a:endParaRPr lang="en-US" sz="800" dirty="0"/>
          </a:p>
        </p:txBody>
      </p:sp>
      <p:sp>
        <p:nvSpPr>
          <p:cNvPr id="83" name="Shape 80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84" name="Text 81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85" name="Text 82"/>
          <p:cNvSpPr txBox="1"/>
          <p:nvPr/>
        </p:nvSpPr>
        <p:spPr>
          <a:xfrm>
            <a:off x="4389120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قَدِيمٌ · جَدِيدٌ</a:t>
            </a:r>
            <a:endParaRPr lang="ar-SA" sz="3000" dirty="0"/>
          </a:p>
        </p:txBody>
      </p:sp>
      <p:sp>
        <p:nvSpPr>
          <p:cNvPr id="86" name="Text 83"/>
          <p:cNvSpPr txBox="1"/>
          <p:nvPr/>
        </p:nvSpPr>
        <p:spPr>
          <a:xfrm>
            <a:off x="4416552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old · new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qa-dī-mun · ja-dī-dun</a:t>
            </a:r>
            <a:endParaRPr lang="en-US" sz="1350" dirty="0"/>
          </a:p>
        </p:txBody>
      </p:sp>
      <p:sp>
        <p:nvSpPr>
          <p:cNvPr id="87" name="Shape 84"/>
          <p:cNvSpPr/>
          <p:nvPr/>
        </p:nvSpPr>
        <p:spPr>
          <a:xfrm>
            <a:off x="6144768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8" name="Text 85"/>
          <p:cNvSpPr txBox="1"/>
          <p:nvPr/>
        </p:nvSpPr>
        <p:spPr>
          <a:xfrm>
            <a:off x="6199632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89" name="Text 86"/>
          <p:cNvSpPr txBox="1"/>
          <p:nvPr/>
        </p:nvSpPr>
        <p:spPr>
          <a:xfrm>
            <a:off x="6190488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قُدَامَى · جُدُدٌ</a:t>
            </a:r>
            <a:endParaRPr lang="ar-SA" sz="1500" dirty="0"/>
          </a:p>
        </p:txBody>
      </p:sp>
      <p:sp>
        <p:nvSpPr>
          <p:cNvPr id="90" name="Shape 87"/>
          <p:cNvSpPr/>
          <p:nvPr/>
        </p:nvSpPr>
        <p:spPr>
          <a:xfrm>
            <a:off x="4416552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91" name="Text 88"/>
          <p:cNvSpPr txBox="1"/>
          <p:nvPr/>
        </p:nvSpPr>
        <p:spPr>
          <a:xfrm>
            <a:off x="4471416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92" name="Text 89"/>
          <p:cNvSpPr txBox="1"/>
          <p:nvPr/>
        </p:nvSpPr>
        <p:spPr>
          <a:xfrm>
            <a:off x="4462272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قَدِيمَةٌ · جَدِيدَةٌ</a:t>
            </a:r>
            <a:endParaRPr lang="ar-SA" sz="1500" dirty="0"/>
          </a:p>
        </p:txBody>
      </p:sp>
      <p:sp>
        <p:nvSpPr>
          <p:cNvPr id="93" name="Shape 90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94" name="Shape 91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95" name="Text 92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12</a:t>
            </a:r>
            <a:endParaRPr lang="en-US" sz="1000" dirty="0"/>
          </a:p>
        </p:txBody>
      </p:sp>
      <p:sp>
        <p:nvSpPr>
          <p:cNvPr id="96" name="Shape 93"/>
          <p:cNvSpPr/>
          <p:nvPr/>
        </p:nvSpPr>
        <p:spPr>
          <a:xfrm>
            <a:off x="960120" y="4279392"/>
            <a:ext cx="1269187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97" name="Text 94"/>
          <p:cNvSpPr txBox="1"/>
          <p:nvPr/>
        </p:nvSpPr>
        <p:spPr>
          <a:xfrm>
            <a:off x="960120" y="4279392"/>
            <a:ext cx="126918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relative clauses</a:t>
            </a:r>
            <a:endParaRPr lang="en-US" sz="800" dirty="0"/>
          </a:p>
        </p:txBody>
      </p:sp>
      <p:sp>
        <p:nvSpPr>
          <p:cNvPr id="98" name="Shape 95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9" name="Text 96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100" name="Text 97"/>
          <p:cNvSpPr txBox="1"/>
          <p:nvPr/>
        </p:nvSpPr>
        <p:spPr>
          <a:xfrm>
            <a:off x="566928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الَّذِي · الَّتِي</a:t>
            </a:r>
            <a:endParaRPr lang="ar-SA" sz="3000" dirty="0"/>
          </a:p>
        </p:txBody>
      </p:sp>
      <p:sp>
        <p:nvSpPr>
          <p:cNvPr id="101" name="Text 98"/>
          <p:cNvSpPr txBox="1"/>
          <p:nvPr/>
        </p:nvSpPr>
        <p:spPr>
          <a:xfrm>
            <a:off x="594360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which (m. · f.)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al-َ-dhī · al-َ-tī</a:t>
            </a:r>
            <a:endParaRPr lang="en-US" sz="1350" dirty="0"/>
          </a:p>
        </p:txBody>
      </p:sp>
      <p:sp>
        <p:nvSpPr>
          <p:cNvPr id="102" name="Shape 99"/>
          <p:cNvSpPr/>
          <p:nvPr/>
        </p:nvSpPr>
        <p:spPr>
          <a:xfrm>
            <a:off x="2322576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3" name="Text 100"/>
          <p:cNvSpPr txBox="1"/>
          <p:nvPr/>
        </p:nvSpPr>
        <p:spPr>
          <a:xfrm>
            <a:off x="2377440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104" name="Text 101"/>
          <p:cNvSpPr txBox="1"/>
          <p:nvPr/>
        </p:nvSpPr>
        <p:spPr>
          <a:xfrm>
            <a:off x="2368296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الخِزَانَةُ الَّتِي …</a:t>
            </a:r>
            <a:endParaRPr lang="ar-SA" sz="1500" dirty="0"/>
          </a:p>
        </p:txBody>
      </p:sp>
      <p:sp>
        <p:nvSpPr>
          <p:cNvPr id="105" name="Shape 102"/>
          <p:cNvSpPr/>
          <p:nvPr/>
        </p:nvSpPr>
        <p:spPr>
          <a:xfrm>
            <a:off x="5943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6" name="Text 103"/>
          <p:cNvSpPr txBox="1"/>
          <p:nvPr/>
        </p:nvSpPr>
        <p:spPr>
          <a:xfrm>
            <a:off x="6492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</a:t>
            </a:r>
            <a:endParaRPr lang="en-US" sz="750" dirty="0"/>
          </a:p>
        </p:txBody>
      </p:sp>
      <p:sp>
        <p:nvSpPr>
          <p:cNvPr id="107" name="Text 104"/>
          <p:cNvSpPr txBox="1"/>
          <p:nvPr/>
        </p:nvSpPr>
        <p:spPr>
          <a:xfrm>
            <a:off x="640080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المَكْتَبُ الَّذِي …</a:t>
            </a:r>
            <a:endParaRPr lang="ar-SA" sz="1500" dirty="0"/>
          </a:p>
        </p:txBody>
      </p:sp>
      <p:sp>
        <p:nvSpPr>
          <p:cNvPr id="108" name="Text 10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6 / 25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TB-L05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BREAKOUT ROOMS · HOW WE WORK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Examiner · candidate · observer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فِي الغُرَفِ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715000" cy="4498848"/>
          </a:xfrm>
          <a:prstGeom prst="roundRect">
            <a:avLst>
              <a:gd name="adj" fmla="val 1626"/>
            </a:avLst>
          </a:prstGeom>
          <a:solidFill>
            <a:srgbClr val="F4F1EA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20240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202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BREAKOUT ROUTINE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28600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🎧  Three jobs, then swap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2816352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Rooms of three. A = examiner (reads the questions only). B = candidate (answers from the task card). C = observer (ticks the checklist and gives one WWW and one EBI).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40416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HOW WE RUN IT ONLINE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58368" y="44074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024128" y="43342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1 minute: the candidate reads the card and plans (no writing full sentences).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58368" y="48646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8368" y="4864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024128" y="47914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About 3 minutes: the role play — the examiner reads every question in order.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58368" y="53218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8368" y="5321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24128" y="52486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1 minute: the observer gives feedback (WWW + EBI).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58368" y="57790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58368" y="5779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24128" y="57058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Swap jobs and do the next role play. Then the topic conversation.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355080" y="181051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473952" y="190195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73952" y="19019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6473952" y="217627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A and B, with the help column. Conversation: Core questions.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6355080" y="281635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473952" y="290779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473952" y="29077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50" dirty="0"/>
          </a:p>
        </p:txBody>
      </p:sp>
      <p:sp>
        <p:nvSpPr>
          <p:cNvPr id="40" name="Text 37"/>
          <p:cNvSpPr txBox="1"/>
          <p:nvPr/>
        </p:nvSpPr>
        <p:spPr>
          <a:xfrm>
            <a:off x="6473952" y="318211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B and C, help column covered. Conversation: Core + Develop questions.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355080" y="382219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BEAEA"/>
          </a:solidFill>
          <a:ln w="9525">
            <a:solidFill>
              <a:srgbClr val="B8322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473952" y="391363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473952" y="391363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50" dirty="0"/>
          </a:p>
        </p:txBody>
      </p:sp>
      <p:sp>
        <p:nvSpPr>
          <p:cNvPr id="44" name="Text 41"/>
          <p:cNvSpPr txBox="1"/>
          <p:nvPr/>
        </p:nvSpPr>
        <p:spPr>
          <a:xfrm>
            <a:off x="6473952" y="418795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C and D, no help. Conversation: Develop + Stretch questions, push with “why?”.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6355080" y="4828032"/>
            <a:ext cx="537667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Text 43"/>
          <p:cNvSpPr txBox="1"/>
          <p:nvPr/>
        </p:nvSpPr>
        <p:spPr>
          <a:xfrm>
            <a:off x="6492240" y="48828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LANGUAGE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8732520" y="5138928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دَوْرُكَ!</a:t>
            </a:r>
            <a:endParaRPr lang="ar-SA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6492240" y="5138928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your turn!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8732520" y="5422392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أَحْسَنْتَ! / أَحْسَنْتِ!</a:t>
            </a:r>
            <a:endParaRPr lang="ar-SA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6492240" y="5422392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well done! (m. / f.)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8732520" y="5705856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تَكَلَّمْ أَكْثَرَ، مِنْ فَضْلِكَ</a:t>
            </a:r>
            <a:endParaRPr lang="ar-SA" sz="1300" dirty="0"/>
          </a:p>
        </p:txBody>
      </p:sp>
      <p:sp>
        <p:nvSpPr>
          <p:cNvPr id="52" name="Text 49"/>
          <p:cNvSpPr txBox="1"/>
          <p:nvPr/>
        </p:nvSpPr>
        <p:spPr>
          <a:xfrm>
            <a:off x="6492240" y="5705856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more, please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8732520" y="5989320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لِمَاذَا؟</a:t>
            </a:r>
            <a:endParaRPr lang="ar-SA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6492240" y="5989320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why?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7 / 25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TB-L05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A · CORE · IN A FURNITURE SHOP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A — Buying a desk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فِي مَحَلِّ الأَثَاثِ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أُرِيدُ … لِغُرْفَتِي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what furniture you want.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أَهْلًا، مَاذَا تُرِيدُ؟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أُفَضِّلُ … لِأَنَّ 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which colour and why.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أَيَّ لَوْنٍ تُفَضِّلُ؟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هٰذَا غَالٍ، هَلْ عِنْدَكُمْ …؟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it is too expensive and ask for a cheaper one.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هٰذَا المَكْتَبُ بِمِئَةِ جُنَيْهٍ.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11091672" y="3787445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1091672" y="3787445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سَآخُذُهُ … سَأَضَعُهُ …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Accept it and say where you will put it.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هٰذَا بِسِتِّينَ جُنَيْهًا، وَفِيهِ ثَلَاثَةُ أَدْرَاجٍ.</a:t>
            </a:r>
            <a:endParaRPr lang="ar-SA" sz="1700" dirty="0"/>
          </a:p>
        </p:txBody>
      </p:sp>
      <p:sp>
        <p:nvSpPr>
          <p:cNvPr id="45" name="Text 42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1091672" y="4524451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1091672" y="4524451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نَعَمْ، … يَوْمَ …</a:t>
            </a:r>
            <a:endParaRPr lang="ar-SA" sz="1500" dirty="0"/>
          </a:p>
        </p:txBody>
      </p:sp>
      <p:sp>
        <p:nvSpPr>
          <p:cNvPr id="50" name="Text 47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question.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تُرِيدُ أَنْ نُوَصِّلَهُ إِلَى بَيْتِكَ؟</a:t>
            </a:r>
            <a:endParaRPr lang="ar-SA" sz="17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11091672" y="526145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1091672" y="526145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5" name="Text 5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customer  ·  The examiner is: the shop assistant  ·  ! = unexpected question: listen carefully.</a:t>
            </a:r>
            <a:endParaRPr lang="en-US" sz="1150" dirty="0"/>
          </a:p>
        </p:txBody>
      </p:sp>
      <p:sp>
        <p:nvSpPr>
          <p:cNvPr id="56" name="Text 5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8 / 25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TB-L05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B · CORE+ · CALLING THE LANDLORD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B — Something is broken in the flat</a:t>
            </a:r>
            <a:endParaRPr lang="en-US" sz="21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جِهَازٌ مُعَطَّلٌ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الغَسَّالَةُ مُعَطَّلَةٌ / الثَّلَّاجَةُ مُعَطَّلَةٌ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which appliance is broken.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أَلُو، نَعَمْ؟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مُنْذُ 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since when.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مُنْذُ مَتَى؟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عِنْدَمَا … لَا …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the problem.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 المُشْكِلَةُ بِالضَّبْطِ؟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مَتَى …؟</a:t>
            </a:r>
            <a:endParaRPr lang="ar-SA" sz="1500" dirty="0"/>
          </a:p>
        </p:txBody>
      </p:sp>
      <p:sp>
        <p:nvSpPr>
          <p:cNvPr id="41" name="Text 38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ASK when he will come.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سَأُرْسِلُ فَنِّيًّا.</a:t>
            </a:r>
            <a:endParaRPr lang="ar-SA" sz="17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نَعَمْ، … أَيْضًا …</a:t>
            </a:r>
            <a:endParaRPr lang="ar-SA" sz="1500" dirty="0"/>
          </a:p>
        </p:txBody>
      </p:sp>
      <p:sp>
        <p:nvSpPr>
          <p:cNvPr id="46" name="Text 43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question.</a:t>
            </a: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هُنَاكَ مُشْكِلَةٌ أُخْرَى؟</a:t>
            </a:r>
            <a:endParaRPr lang="ar-SA" sz="17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9" name="Text 46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tenant  ·  The examiner is: the landlord  ·  ! = unexpected question: listen carefully.</a:t>
            </a:r>
            <a:endParaRPr lang="en-US" sz="1150" dirty="0"/>
          </a:p>
        </p:txBody>
      </p:sp>
      <p:sp>
        <p:nvSpPr>
          <p:cNvPr id="50" name="Text 4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9 / 25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TB-L05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C · DEVELOP · REDECORATING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C — Redesigning your bedroom</a:t>
            </a:r>
            <a:endParaRPr lang="en-US" sz="24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غُرْفَتِي الجَدِيدَةُ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لِأَنَّ الأَثَاثَ … وَ…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a reason for the change.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تُرِيدُ أَنْ تُغَيِّرَ غُرْفَتَكَ؟ لِمَاذَا؟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أُرِيدُ … وَأَنْ أَضَعَ … بِجَانِبِ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two things to change and where they will go.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مَاذَا تُرِيدُ أَنْ تُغَيِّرَ؟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نُعْطِيهَا لِابْنِ عَمِّي … لِأَنَّهَا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what to do with it.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وَالخِزَانَةُ القَدِيمَةُ؟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 رَأْيُكَ أَنْ …؟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Suggest a cheaper solution.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لٰكِنَّ المِيزَانِيَّةَ صَغِيرَةٌ!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سَيُسَاعِدُنِي … وَسَنُنْهِي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(future).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مَنْ سَيُسَاعِدُكَ فِي العَمَلِ؟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teenager  ·  The examiner is: your parent  ·  ! = unexpected question: listen carefully.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10 / 25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TB-L05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D · STRETCH · A TECH SHOW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D — The smart home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البَيْتُ الذَّكِيُّ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الجِهَازُ الَّذِي … هُوَ … لِأَنَّهُ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Name an appliance and explain with a relative clause.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 الجِهَازُ الَّذِي لَا تَسْتَطِيعُ أَنْ تَعِيشَ بِدُونِهِ؟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كَانَ النَّاسُ … أَمَّا اليَوْمَ فَتَغْسِلُهَا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Compare past and present.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كَيْفَ كَانَتِ البُيُوتُ قَبْلَ هٰذِهِ الأَجْهِزَةِ؟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مِنْ نَاحِيَةٍ … وَمِنْ نَاحِيَةٍ أُخْرَى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an advantage and a risk.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 رَأْيُكَ فِي البُيُوتِ الذَّكِيَّةِ؟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صَحِيحٌ أَنَّ … غَيْرَ أَنَّ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Concede and give your view.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تَجْعَلُنَا الأَجْهِزَةُ كُسَالَى؟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لَوِ اخْتَرَعْتُ جِهَازًا، لَجَعَلْتُهُ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(law … la-).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لَوِ اخْتَرَعْتَ جِهَازًا جَدِيدًا لِلْبَيْتِ، فَمَاذَا يَفْعَلُ؟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young visitor  ·  The examiner is: a technology presenter  ·  ! = unexpected question: listen carefully.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11 / 25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TB-L05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OBSERVER · FEEDBACK CHECKLIST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Observer: tick and give feedback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وَرَقَةُ المُلَاحِظِ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759952" y="1810512"/>
            <a:ext cx="2898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Example you heard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662672" y="1810512"/>
            <a:ext cx="950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✓ / ✗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199632" y="1810512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Route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5522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candidate …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796528" y="226771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699248" y="2267712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6236208" y="2267712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answered EVERY task, including the unexpected one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2881884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796528" y="2881884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7699248" y="2881884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6236208" y="2881884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2881884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named furniture and said where it is, with the right gender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2927604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292760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496056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796528" y="3496056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7699248" y="3496056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6236208" y="3496056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496056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used an attached pronoun (-hu / -hā) or alladhī / allatī, and gave a reason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4110228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796528" y="4110228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7699248" y="4110228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6236208" y="4110228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4110228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gave a reason (li-anna) or an opinion (fī ra’yī)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4724400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796528" y="4724400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7699248" y="4724400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6236208" y="4724400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11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4724400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used more than one time frame (past / future)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457200" y="533857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8796528" y="533857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7699248" y="5338572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2" name="Text 49"/>
          <p:cNvSpPr txBox="1"/>
          <p:nvPr/>
        </p:nvSpPr>
        <p:spPr>
          <a:xfrm>
            <a:off x="6236208" y="5338572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All</a:t>
            </a:r>
            <a:endParaRPr lang="en-US" sz="1100" dirty="0"/>
          </a:p>
        </p:txBody>
      </p:sp>
      <p:sp>
        <p:nvSpPr>
          <p:cNvPr id="53" name="Text 50"/>
          <p:cNvSpPr txBox="1"/>
          <p:nvPr/>
        </p:nvSpPr>
        <p:spPr>
          <a:xfrm>
            <a:off x="566928" y="5338572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kept going with a repair phrase instead of silence</a:t>
            </a:r>
            <a:endParaRPr lang="en-US" sz="1100" dirty="0"/>
          </a:p>
        </p:txBody>
      </p:sp>
      <p:sp>
        <p:nvSpPr>
          <p:cNvPr id="54" name="Text 5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Feedback in the room: one WWW (what went well) + one EBI (even better if …).</a:t>
            </a:r>
            <a:endParaRPr lang="en-US" sz="115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12 / 25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TB-L05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A · CORE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A: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أُرِيدُ مَكْتَبًا وَكُرْسِيًّا لِغُرْفَتِي، مِنْ فَضْلِكَ.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would like a desk and a chair for my room, please.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أَهْلًا، مَاذَا تُرِيدُ؟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أُفَضِّلُ اللَّوْنَ الأَبْيَضَ، لِأَنَّ غُرْفَتِي صَغِيرَةٌ.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prefer white, because my room is small.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أَيَّ لَوْنٍ تُفَضِّلُ؟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هٰذَا غَالٍ قَلِيلًا، هَلْ عِنْدَكُمْ مَكْتَبٌ أَرْخَصُ؟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That is a bit expensive; do you have a cheaper desk?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هٰذَا المَكْتَبُ بِمِئَةِ جُنَيْهٍ.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مُمْتَازٌ، سَآخُذُهُ، وَسَأَضَعُهُ بِجَانِبِ النَّافِذَةِ.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Excellent, I’ll take it, and I’ll put it next to the window.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هٰذَا بِسِتِّينَ جُنَيْهًا، وَفِيهِ ثَلَاثَةُ أَدْرَاجٍ.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نَعَمْ، مِنْ فَضْلِكَ، يَوْمَ السَّبْتِ فِي الصَّبَاحِ.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 please, on Saturday morning.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تُرِيدُ أَنْ نُوَصِّلَهُ إِلَى بَيْتِكَ؟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13 / 25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TB-L05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B · CORE+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B: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مَسَاءَ الخَيْرِ، الغَسَّالَةُ فِي شَقَّتِنَا مُعَطَّلَةٌ.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Good evening, the washing machine in our flat is broken.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أَلُو، نَعَمْ؟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مُنْذُ يَوْمِ الإِثْنَيْنِ، أَيْ مُنْذُ ثَلَاثَةِ أَيَّامٍ.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Since Monday — three days ago.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مُنْذُ مَتَى؟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عِنْدَمَا نُشَغِّلُهَا، يَخْرُجُ المَاءُ عَلَى الأَرْضِ، وَلَا تَغْسِلُ المَلَابِسَ.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When we switch it on, water comes out onto the floor, and it doesn’t wash the clothes.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 المُشْكِلَةُ بِالضَّبْطِ؟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شُكْرًا، وَمَتَى سَيَأْتِي الفَنِّيُّ؟ لِأَنَّنَا نَحْتَاجُهَا كُلَّ يَوْمٍ.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Thank you — when will the technician come? Because we need it every day.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سَأُرْسِلُ فَنِّيًّا.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نَعَمْ، بَابُ الثَّلَّاجَةِ لَا يُغْلَقُ جَيِّدًا أَيْضًا.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the fridge door doesn’t close properly either.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هُنَاكَ مُشْكِلَةٌ أُخْرَى؟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14 / 25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TB-L05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C · DEVELOP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C: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لِأَنَّ الأَثَاثَ قَدِيمٌ، وَالسَّرِيرُ صَغِيرٌ عَلَيَّ الآنَ.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Because the furniture is old, and the bed is too small for me now.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تُرِيدُ أَنْ تُغَيِّرَ غُرْفَتَكَ؟ لِمَاذَا؟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أُرِيدُ سَرِيرًا أَكْبَرَ، وَأَنْ أَضَعَ رُفُوفًا لِلْكُتُبِ فَوْقَ المَكْتَبِ.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want a bigger bed, and to put bookshelves above the desk.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مَاذَا تُرِيدُ أَنْ تُغَيِّرَ؟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نُعْطِيهَا لِابْنِ عَمِّي، لِأَنَّهَا مَا زَالَتْ جَيِّدَةً وَهُوَ يَحْتَاجُهَا.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 give it to my cousin, because it is still good and he needs it.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وَالخِزَانَةُ القَدِيمَةُ؟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 رَأْيُكَ أَنْ نَصْبُغَ المَكْتَبَ القَدِيمَ بَدَلًا مِنْ أَنْ نَشْتَرِيَ مَكْتَبًا جَدِيدًا؟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about painting the old desk instead of buying a new one?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لٰكِنَّ المِيزَانِيَّةَ صَغِيرَةٌ!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سَيُسَاعِدُنِي أَخِي يَوْمَ السَّبْتِ، وَسَنُنْهِي كُلَّ شَيْءٍ قَبْلَ المَسَاءِ.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My brother will help me on Saturday, and we’ll finish everything before evening.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مَنْ سَيُسَاعِدُكَ فِي العَمَلِ؟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15 / 25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TB-L05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D · STRETCH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D: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الجِهَازُ الَّذِي لَا أَسْتَطِيعُ أَنْ أَعِيشَ بِدُونِهِ هُوَ الثَّلَّاجَةُ، لِأَنَّهَا تَحْفَظُ الطَّعَامَ طَازَجًا.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 appliance I can’t live without is the fridge, because it keeps food fresh.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 الجِهَازُ الَّذِي لَا تَسْتَطِيعُ أَنْ تَعِيشَ بِدُونِهِ؟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كَانَ النَّاسُ يَغْسِلُونَ المَلَابِسَ بِأَيْدِيهِمْ سَاعَاتٍ، أَمَّا اليَوْمَ فَتَغْسِلُهَا الآلَةُ وَنَحْنُ نَدْرُسُ.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People used to wash clothes by hand for hours; today the machine does it while we study.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كَيْفَ كَانَتِ البُيُوتُ قَبْلَ هٰذِهِ الأَجْهِزَةِ؟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مِنْ نَاحِيَةٍ تُوَفِّرُ الوَقْتَ وَالكَهْرَبَاءَ، وَمِنْ نَاحِيَةٍ أُخْرَى قَدْ يَسْرِقُ المُخْتَرِقُونَ مَعْلُومَاتِنَا.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On one hand they save time and electricity; on the other, hackers may steal our data.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 رَأْيُكَ فِي البُيُوتِ الذَّكِيَّةِ؟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صَحِيحٌ أَنَّهَا تَجْعَلُنَا نَتَحَرَّكُ أَقَلَّ، غَيْرَ أَنَّهَا تُعْطِينَا وَقْتًا لِلْقِرَاءَةِ وَالعَائِلَةِ.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It is true they make us move less, but they give us time for reading and family.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تَجْعَلُنَا الأَجْهِزَةُ كُسَالَى؟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لَوِ اخْتَرَعْتُ جِهَازًا، لَجَعَلْتُهُ يُرَتِّبُ غُرْفَتِي وَيَطْوِي مَلَابِسِي وَحْدَهُ!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I invented a machine, I would make it tidy my room and fold my clothes by itself!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لَوِ اخْتَرَعْتَ جِهَازًا جَدِيدًا لِلْبَيْتِ، فَمَاذَا يَفْعَلُ؟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a relative clause with a pronoun, past vs present, min nāḥiya …, ṣaḥīḥun anna … ghayra anna, law … la-.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16 / 25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TB-L05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CORE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Core questions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أَثَاثُ بَيْتِي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يُوجَدُ … وَ…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is in your room?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مَاذَا يُوجَدُ فِي غُرْفَتِكَ؟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أَضَعُهَا عَلَى 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Where do you keep your books?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أَيْنَ تَضَعُ كُتُبَكَ؟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غُرْفَتِي … وَالسَّتَائِرُ …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colour is your room?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 لَوْنُ غُرْفَتِكَ؟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11091672" y="3787445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1091672" y="3787445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أَسْتَعْمِلُ … كَثِيرًا لِأَنَّ …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Which appliance do you use a lot?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51560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 الجِهَازُ الَّذِي تَسْتَعْمِلُهُ كَثِيرًا؟</a:t>
            </a:r>
            <a:endParaRPr lang="ar-SA" sz="1700" dirty="0"/>
          </a:p>
        </p:txBody>
      </p:sp>
      <p:sp>
        <p:nvSpPr>
          <p:cNvPr id="45" name="Text 42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1091672" y="4524451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1091672" y="4524451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نَعَمْ / لَا، لِأَنَّهُ …</a:t>
            </a:r>
            <a:endParaRPr lang="ar-SA" sz="1500" dirty="0"/>
          </a:p>
        </p:txBody>
      </p:sp>
      <p:sp>
        <p:nvSpPr>
          <p:cNvPr id="50" name="Text 47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Do you like your bedroom furniture?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تُحِبُّ أَثَاثَ غُرْفَتِكَ؟</a:t>
            </a:r>
            <a:endParaRPr lang="ar-SA" sz="17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11091672" y="526145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1091672" y="526145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5" name="Text 5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Core: one full sentence for every question. If you are stuck: </a:t>
            </a:r>
            <a:pPr algn="l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عَفْوًا، هَلْ يُمْكِنُ أَنْ تُعِيدَ السُّؤَالَ؟</a:t>
            </a:r>
            <a:endParaRPr lang="en-US" sz="1150" dirty="0"/>
          </a:p>
        </p:txBody>
      </p:sp>
      <p:sp>
        <p:nvSpPr>
          <p:cNvPr id="56" name="Text 5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17 / 25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TB-L05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DEVELOP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Develop questions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الأَثَاثُ وَالأَجْهِزَةُ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فِي غُرْفَةِ الجُلُوسِ … أَمَامَ … وَعَلَى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your living room.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صِفْ غُرْفَةَ الجُلُوسِ فِي بَيْتِكُمْ.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تَعَطَّلَ … فَطَبَخَتْ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Which appliance broke at home recently?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 الجِهَازُ الَّذِي تَعَطَّلَ فِي بَيْتِكُمْ مُؤَخَّرًا؟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أُرِيدُ أَنْ … لِأَنَّ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would you like to change in your room?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مَاذَا تُرِيدُ أَنْ تُغَيِّرَ فِي غُرْفَتِكَ؟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أُرَتِّبُهَا … لٰكِنْ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Who tidies your room?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مَنْ يُرَتِّبُ غُرْفَتَكَ؟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سَأَحْتَاجُ إِلَى … لِأَنَّ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furniture will you need at university?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 الأَثَاثُ الَّذِي سَتَحْتَاجُهُ فِي الجَامِعَةِ؟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Develop: two or three sentences — locations, a past problem, a reason and the future.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18 / 25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TB-L05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STRETCH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Stretch questions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الأَجْهِزَةُ وَالمُجْتَمَعُ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نَعَمْ، فِي رَأْيِي … لِأَنَّ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Do we buy more appliances than we need?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نَشْتَرِي أَجْهِزَةً أَكْثَرَ مِمَّا نَحْتَاجُ؟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صَحِيحٌ أَنَّ … غَيْرَ أَنَّ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Is old furniture better than new?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هَلِ الأَثَاثُ القَدِيمُ أَفْضَلُ مِنَ الجَدِيدِ؟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يَجِبُ أَنْ … وَأَلَّا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can we use less electricity at home?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كَيْفَ نُقَلِّلُ اسْتِهْلَاكَ الكَهْرَبَاءِ فِي البَيْتِ؟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كَانَ فِي بَيْتِ جَدِّي … أَمَّا عِنْدَنَا فَفِي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was your grandparents’ home different?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كَيْفَ كَانَ بَيْتُ أَجْدَادِكَ مُخْتَلِفًا؟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لَوْ عِشْتُ …، لَقَرَأْتُ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you had to live a week without electricity, how would you spend it?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لَوْ كَانَ عَلَيْكَ أَنْ تَعِيشَ أُسْبُوعًا بِلَا كَهْرَبَاءَ، كَيْفَ تَقْضِيهِ؟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lā … illā, a concession, advice with allā, kāna vs ammā … fa- and law … la-.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19 / 25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TB-L05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CORE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Core: what a strong answer sounds like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يُوجَدُ سَرِيرٌ وَمَكْتَبٌ وَخِزَانَةُ مَلَابِسَ.</a:t>
            </a:r>
            <a:endParaRPr lang="ar-SA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67699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There is a bed, a desk and a wardrobe.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مَاذَا يُوجَدُ فِي غُرْفَتِكَ؟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2300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أَضَعُهَا عَلَى الرَّفِّ فَوْقَ المَكْتَبِ.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14004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put them on the shelf above the desk.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أَيْنَ تَضَعُ كُتُبَكَ؟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760013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جُدْرَانُ غُرْفَتِي زَرْقَاءُ، وَالسَّتَائِرُ بَيْضَاءُ.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151010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My room’s walls are blue, and the curtains are white.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 لَوْنُ غُرْفَتِكَ؟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43400" y="4497019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أَسْتَعْمِلُ المَيْكْرُوِيفَ كَثِيرًا، لِأَنَّهُ سَرِيعٌ.</a:t>
            </a:r>
            <a:endParaRPr lang="ar-SA" sz="1700" dirty="0"/>
          </a:p>
        </p:txBody>
      </p:sp>
      <p:sp>
        <p:nvSpPr>
          <p:cNvPr id="36" name="Text 33"/>
          <p:cNvSpPr txBox="1"/>
          <p:nvPr/>
        </p:nvSpPr>
        <p:spPr>
          <a:xfrm>
            <a:off x="4297680" y="488801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use the microwave a lot, because it is quick.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 الجِهَازُ الَّذِي تَسْتَعْمِلُهُ كَثِيرًا؟</a:t>
            </a:r>
            <a:endParaRPr lang="ar-SA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343400" y="523402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نَعَمْ، أُحِبُّهُ، لِأَنَّهُ جَدِيدٌ وَمُرِيحٌ.</a:t>
            </a:r>
            <a:endParaRPr lang="ar-SA" sz="1700" dirty="0"/>
          </a:p>
        </p:txBody>
      </p:sp>
      <p:sp>
        <p:nvSpPr>
          <p:cNvPr id="41" name="Text 38"/>
          <p:cNvSpPr txBox="1"/>
          <p:nvPr/>
        </p:nvSpPr>
        <p:spPr>
          <a:xfrm>
            <a:off x="4297680" y="5625023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I like it, because it is new and comfortable.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تُحِبُّ أَثَاثَ غُرْفَتِكَ؟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Full sentence + a place or a colour = a secure Core answer.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20 / 25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TB-L05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DEVELOP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Develop: what a strong answer sounds like</a:t>
            </a:r>
            <a:endParaRPr lang="en-US" sz="22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فِي غُرْفَةِ الجُلُوسِ كَنَبَةٌ كَبِيرَةٌ أَمَامَ التِّلْفَازِ، وَعَلَى الأَرْضِ سَجَّادَةٌ حَمْرَاءُ مِنْ إِيرَانَ.</a:t>
            </a:r>
            <a:endParaRPr lang="ar-SA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67699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In the living room there is a big sofa in front of the TV, and a red Persian rug on the floor.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صِفْ غُرْفَةَ الجُلُوسِ فِي بَيْتِكُمْ.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2300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تَعَطَّلَ الفُرْنُ يَوْمَ العِيدِ، فَطَبَخَتْ أُمِّي فِي بَيْتِ جَارَتِنَا!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14004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 oven broke on Eid day, so my mum cooked at our neighbour’s house!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 الجِهَازُ الَّذِي تَعَطَّلَ فِي بَيْتِكُمْ مُؤَخَّرًا؟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760013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أُرِيدُ أَنْ أُغَيِّرَ لَوْنَ الجُدْرَانِ، لِأَنَّهُ لَوْنٌ اخْتَارَهُ أَبِي عِنْدَمَا كُنْتُ طِفْلًا.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151010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want to change the wall colour, because Dad chose it when I was a child.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مَاذَا تُرِيدُ أَنْ تُغَيِّرَ فِي غُرْفَتِكَ؟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43400" y="4497019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أُرَتِّبُهَا بِنَفْسِي كُلَّ يَوْمِ جُمُعَةٍ، لٰكِنَّ أُمِّي تُسَاعِدُنِي أَحْيَانًا.</a:t>
            </a:r>
            <a:endParaRPr lang="ar-SA" sz="1700" dirty="0"/>
          </a:p>
        </p:txBody>
      </p:sp>
      <p:sp>
        <p:nvSpPr>
          <p:cNvPr id="36" name="Text 33"/>
          <p:cNvSpPr txBox="1"/>
          <p:nvPr/>
        </p:nvSpPr>
        <p:spPr>
          <a:xfrm>
            <a:off x="4297680" y="488801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tidy it myself every Friday, but my mum sometimes helps me.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مَنْ يُرَتِّبُ غُرْفَتَكَ؟</a:t>
            </a:r>
            <a:endParaRPr lang="ar-SA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343400" y="523402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سَأَحْتَاجُ إِلَى مَكْتَبٍ كَبِيرٍ وَمِصْبَاحٍ جَيِّدٍ، لِأَنِّي سَأَدْرُسُ كَثِيرًا فِي اللَّيْلِ.</a:t>
            </a:r>
            <a:endParaRPr lang="ar-SA" sz="1700" dirty="0"/>
          </a:p>
        </p:txBody>
      </p:sp>
      <p:sp>
        <p:nvSpPr>
          <p:cNvPr id="41" name="Text 38"/>
          <p:cNvSpPr txBox="1"/>
          <p:nvPr/>
        </p:nvSpPr>
        <p:spPr>
          <a:xfrm>
            <a:off x="4297680" y="5625023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will need a big desk and a good lamp, because I will study a lot at night.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 الأَثَاثُ الَّذِي سَتَحْتَاجُهُ فِي الجَامِعَةِ؟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Description + reason + a past detail = a strong Develop answer.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21 / 25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TB-L05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STRETCH · PART 1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Stretch: what a strong answer sounds like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نَعَمْ، فِي رَأْيِي نَشْتَرِي أَجْهِزَةً كَثِيرَةً لَا نَسْتَعْمِلُهَا إِلَّا مَرَّةً، لِأَنَّ الإِعْلَانَاتِ تُقْنِعُنَا بِأَنَّنَا نَحْتَاجُهَا.</a:t>
            </a:r>
            <a:endParaRPr lang="ar-SA" sz="165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706624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 — we buy many gadgets we use only once, because adverts convince us we need them.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نَشْتَرِي أَجْهِزَةً أَكْثَرَ مِمَّا نَحْتَاجُ؟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72384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صَحِيحٌ أَنَّ الأَثَاثَ الجَدِيدَ أَرْخَصُ، غَيْرَ أَنَّ القَدِيمَ مَصْنُوعٌ مِنْ خَشَبٍ قَوِيٍّ يَبْقَى سَنَوَاتٍ طَوِيلَةً.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93008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It is true new furniture is cheaper, but old furniture is made of strong wood that lasts for years.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5409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هَلِ الأَثَاثُ القَدِيمُ أَفْضَلُ مِنَ الجَدِيدِ؟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840480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858768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يَجِبُ أَنْ نُطْفِئَ الأَجْهِزَةَ الَّتِي لَا نَسْتَعْمِلُهَا، وَأَلَّا نَتْرُكَ الشَّاحِنَ فِي الكَهْرَبَاءِ طُولَ اللَّيْلِ.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279392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 should switch off appliances we aren’t using, and not leave chargers plugged in all night.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8404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كَيْفَ نُقَلِّلُ اسْتِهْلَاكَ الكَهْرَبَاءِ فِي البَيْتِ؟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84048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relative clauses with -hā, ṣaḥīḥun anna … ghayra anna, an + allā, lam takun, law … la- — range is rewarded.</a:t>
            </a:r>
            <a:endParaRPr lang="en-US" sz="1150" dirty="0"/>
          </a:p>
        </p:txBody>
      </p:sp>
      <p:sp>
        <p:nvSpPr>
          <p:cNvPr id="35" name="Text 3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22 / 25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TB-L05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STRETCH · PART 2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Stretch: what a strong answer sounds like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كَانَ فِي بَيْتِ جَدِّي فُرْنٌ مِنَ الطِّينِ وَلَمْ تَكُنْ هُنَاكَ ثَلَّاجَةٌ، أَمَّا عِنْدَنَا فَفِي المَطْبَخِ وَحْدَهُ عَشَرَةُ أَجْهِزَةٍ!</a:t>
            </a:r>
            <a:endParaRPr lang="ar-SA" sz="165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706624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My grandfather’s house had a clay oven and no fridge; in our kitchen alone there are ten appliances!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كَيْفَ كَانَ بَيْتُ أَجْدَادِكَ مُخْتَلِفًا؟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72384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لَوْ عِشْتُ أُسْبُوعًا بِلَا كَهْرَبَاءَ، لَقَرَأْتُ كُتُبًا كَثِيرَةً، وَلَلَعِبْتُ مَعَ إِخْوَتِي فِي الحَدِيقَةِ.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93008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I lived a week without electricity, I would read lots of books and play with my siblings in the garden.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5409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4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لَوْ كَانَ عَلَيْكَ أَنْ تَعِيشَ أُسْبُوعًا بِلَا كَهْرَبَاءَ، كَيْفَ تَقْضِيهِ؟</a:t>
            </a:r>
            <a:endParaRPr lang="ar-SA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relative clauses with -hā, ṣaḥīḥun anna … ghayra anna, an + allā, lam takun, law … la- — range is rewarded.</a:t>
            </a:r>
            <a:endParaRPr lang="en-US" sz="1150" dirty="0"/>
          </a:p>
        </p:txBody>
      </p:sp>
      <p:sp>
        <p:nvSpPr>
          <p:cNvPr id="30" name="Text 2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23 / 25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TB-L05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FEEDBACK · SUCCESS CRITERIA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Check your work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قَيِّمْ عَمَلَكَ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85800" y="2086661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097280" y="181051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named furniture and said where it is.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583680" y="2068373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583680" y="2068373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57200" y="271028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85800" y="298643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97280" y="271028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made adjectives and verbs agree with the noun (m. / f.).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0" y="296814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0" y="296814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457200" y="361005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85800" y="388620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097280" y="361005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-hu / -hā for “it” correctly.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583680" y="386791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583680" y="38679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457200" y="450982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85800" y="478597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097280" y="450982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an iḍāfa and alladhī / allatī.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6583680" y="476768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583680" y="476768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457200" y="5409590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685800" y="5685739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B83227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1097280" y="5409590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a concession, ammā … fa- or law … la-.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6583680" y="5667451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583680" y="5667451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8092440" y="1810512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1" name="Text 38"/>
          <p:cNvSpPr txBox="1"/>
          <p:nvPr/>
        </p:nvSpPr>
        <p:spPr>
          <a:xfrm>
            <a:off x="8275320" y="1920240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B57"/>
                </a:solidFill>
                <a:latin typeface="Calibri" pitchFamily="34" charset="0"/>
                <a:cs typeface="Amiri" pitchFamily="2" charset="-78"/>
              </a:rPr>
              <a:t>WWW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What went well? One thing you did accurately.</a:t>
            </a:r>
            <a:endParaRPr lang="en-US" sz="1800" dirty="0"/>
          </a:p>
        </p:txBody>
      </p:sp>
      <p:sp>
        <p:nvSpPr>
          <p:cNvPr id="42" name="Shape 39"/>
          <p:cNvSpPr/>
          <p:nvPr/>
        </p:nvSpPr>
        <p:spPr>
          <a:xfrm>
            <a:off x="8092440" y="4041648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FFF4E0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3" name="Text 40"/>
          <p:cNvSpPr txBox="1"/>
          <p:nvPr/>
        </p:nvSpPr>
        <p:spPr>
          <a:xfrm>
            <a:off x="8275320" y="4151376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780A"/>
                </a:solidFill>
                <a:latin typeface="Calibri" pitchFamily="34" charset="0"/>
                <a:cs typeface="Amiri" pitchFamily="2" charset="-78"/>
              </a:rPr>
              <a:t>EBI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Even better if… One thing you will fix or add.</a:t>
            </a:r>
            <a:endParaRPr lang="en-US" sz="1800" dirty="0"/>
          </a:p>
        </p:txBody>
      </p:sp>
      <p:sp>
        <p:nvSpPr>
          <p:cNvPr id="44" name="Text 41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24 / 25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109728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72600" y="2606040"/>
            <a:ext cx="1737360" cy="173736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28" y="2944368"/>
            <a:ext cx="1060704" cy="106070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TB-L05 COMPLETE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6916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4000" b="1" dirty="0">
                <a:solidFill>
                  <a:srgbClr val="FFFFFF"/>
                </a:solidFill>
                <a:latin typeface="Amiri" pitchFamily="2" charset="-78"/>
                <a:cs typeface="Amiri" pitchFamily="2" charset="-78"/>
              </a:rPr>
              <a:t>أَحْسَنْتُمْ! إِلَى اللِّقَاءِ</a:t>
            </a:r>
            <a:endParaRPr lang="ar-SA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6060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Well done — great speaking practice today!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566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NEXT WORKSHOP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886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TB-L05 · Writing workshop · Form filling, directed writing and extended writing</a:t>
            </a:r>
            <a:endParaRPr lang="en-US" sz="16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4348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24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وَرْشَةُ الكِتَابَةِ</a:t>
            </a:r>
            <a:endParaRPr lang="ar-SA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5303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Remember: in the role play answer EVERY task; in the conversation, develop every answer.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Al Madina Online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TB-L05 · Speaking Workshop — Furniture and Appliances</dc:title>
  <dc:subject>PptxGenJS Presentation</dc:subject>
  <dc:creator>Al Madina Online School · Arabic Department</dc:creator>
  <cp:lastModifiedBy>Al Madina Online School · Arabic Department</cp:lastModifiedBy>
  <cp:revision>1</cp:revision>
  <dcterms:created xsi:type="dcterms:W3CDTF">2026-10-11T09:00:10Z</dcterms:created>
  <dcterms:modified xsi:type="dcterms:W3CDTF">2026-10-11T09:00:10Z</dcterms:modified>
</cp:coreProperties>
</file>