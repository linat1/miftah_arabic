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B, Lesson 1 (Identity and Personal Profiles, TB-L01), using that lesson’s language (pronouns; nominal sentences; gender; nationality adjectives (nisba)).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attached pronouns: -ī (my), -hu (his), -hā (her), -ka / -ki (your m. / f.). Nominal sentences need no verb “to be”: أَنَا طَالِبٌ · هِيَ مِصْرِيَّةٌ.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the nisba: country + -iyy (m.) / -iyya (f.): مِصْرُ → مِصْرِيٌّ / مِصْرِيَّةٌ. Plural of people: مِصْرِيُّونَ. A girl always uses the feminine: أَنَا بِرِيطَانِيَّةٌ وَطَالِبَةٌ.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joining a club.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مَا اسْمُكِ · كَمْ عُمْرُكِ · مِيلَادِكِ · تَسْكُنِينَ · جِنْسِيَّتُكِ — and she answers: أَنَا بِرِيطَانِيَّةٌ.
Core: nominal sentences (no verb “to be”), numbers 11–19 + sana in the accusative, dates with ordinals, nisba with the right gender.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first day at school.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if the new student is a girl: أَنَا جَدِيدَةٌ · مِنْ أَيْنَ أَنْتِ · تَتَكَلَّمِينَ.
Task 3: the CANDIDATE asks. Task 5 needs he / she agreement: هُوَ لَطِيفٌ · هِيَ لَطِيفَةٌ.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video call.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حَدِّثِينِي · وُلِدْتِ · تَشْعُرِينَ أَنَّكِ بِرِيطَانِيَّةٌ أَمْ عِرَاقِيَّةٌ · تُرِيدِينَ — she answers مُهَنْدِسَةً.
Develop: a three-part introduction, a past sentence with ʿindamā, anna + pronoun (annī, annaka), two questions, the future.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youth-ambassador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عَرِّفِينَا بِنَفْسِكِ · شَخْصِيَّتِكِ · تَعِيشِي · اخْتَرْنَاكِ · اسْتَطَعْتِ — she answers طَالِبَةٌ · صَغِيرَةً · اخْتَرْتُمُونِي (same).
Stretch: mā yumayyizunī annī …, kāna + present (past habit), a concession, idhā … sa-,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reason or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B · EXAM PRACTICE  ·  TB-L01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TB-L01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Identity and Personal Profiles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الهُوِيَّةُ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introduce yourself fully — name, age, birthday, nationality, home, languages — and talk about who you are, in all three time frames.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TB-L01 · Advanced Topic B · Personal and Social Life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B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B › TB-L01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ME, HIM, HER (I · HE · SHE · THEY)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Who am I?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أَنَا؟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76662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76662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his · her · your (m./f.)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اسْمِي …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name is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as-mī …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your (m./f.)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اسْمُكَ · اسْمُكِ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her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اسْمُهَا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his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اسْمُهُ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 فِي …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live in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as-ku-nu fī …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يَسْكُنُونَ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تَسْكُنُ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يَسْكُنُ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وُلِدْتُ فِي …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was born in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wu-lid-tu fī …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وُلِدُوا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وُلِدَتْ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وُلِدَ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speak (a language)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a-ta-kal-la-mu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80" name="Text 77"/>
          <p:cNvSpPr txBox="1"/>
          <p:nvPr/>
        </p:nvSpPr>
        <p:spPr>
          <a:xfrm>
            <a:off x="10588752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يَتَكَلَّمُونَ</a:t>
            </a:r>
            <a:endParaRPr lang="ar-SA" sz="1350" dirty="0"/>
          </a:p>
        </p:txBody>
      </p:sp>
      <p:sp>
        <p:nvSpPr>
          <p:cNvPr id="81" name="Shape 78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تَتَكَلَّمُ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يَتَكَلَّمُ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4782312" y="4279392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782312" y="4279392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his · her · your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عُمْرِي … سَنَةً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am … years old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ʿum-rī … sa-na-tan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672084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677570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your</a:t>
            </a:r>
            <a:endParaRPr lang="en-US" sz="700" dirty="0"/>
          </a:p>
        </p:txBody>
      </p:sp>
      <p:sp>
        <p:nvSpPr>
          <p:cNvPr id="98" name="Text 95"/>
          <p:cNvSpPr txBox="1"/>
          <p:nvPr/>
        </p:nvSpPr>
        <p:spPr>
          <a:xfrm>
            <a:off x="6766560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عُمْرُكَ · عُمْرُكِ</a:t>
            </a:r>
            <a:endParaRPr lang="ar-SA" sz="1350" dirty="0"/>
          </a:p>
        </p:txBody>
      </p:sp>
      <p:sp>
        <p:nvSpPr>
          <p:cNvPr id="99" name="Shape 96"/>
          <p:cNvSpPr/>
          <p:nvPr/>
        </p:nvSpPr>
        <p:spPr>
          <a:xfrm>
            <a:off x="5568696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5623560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her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5614416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عُمْرُهَا</a:t>
            </a:r>
            <a:endParaRPr lang="ar-SA" sz="1500" dirty="0"/>
          </a:p>
        </p:txBody>
      </p:sp>
      <p:sp>
        <p:nvSpPr>
          <p:cNvPr id="102" name="Shape 99"/>
          <p:cNvSpPr/>
          <p:nvPr/>
        </p:nvSpPr>
        <p:spPr>
          <a:xfrm>
            <a:off x="441655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447141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his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446227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عُمْرُهُ</a:t>
            </a:r>
            <a:endParaRPr lang="ar-SA" sz="1500" dirty="0"/>
          </a:p>
        </p:txBody>
      </p:sp>
      <p:sp>
        <p:nvSpPr>
          <p:cNvPr id="105" name="Shape 102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6" name="Shape 103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07" name="Text 104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108" name="Shape 105"/>
          <p:cNvSpPr/>
          <p:nvPr/>
        </p:nvSpPr>
        <p:spPr>
          <a:xfrm>
            <a:off x="960120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960120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his · her</a:t>
            </a:r>
            <a:endParaRPr lang="en-US" sz="800" dirty="0"/>
          </a:p>
        </p:txBody>
      </p:sp>
      <p:sp>
        <p:nvSpPr>
          <p:cNvPr id="110" name="Shape 107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11" name="Text 108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12" name="Text 109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عِيدُ مِيلَادِي</a:t>
            </a:r>
            <a:endParaRPr lang="ar-SA" sz="3000" dirty="0"/>
          </a:p>
        </p:txBody>
      </p:sp>
      <p:sp>
        <p:nvSpPr>
          <p:cNvPr id="113" name="Text 110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birthday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ʿī-du mī-lā-dī</a:t>
            </a:r>
            <a:endParaRPr lang="en-US" sz="1350" dirty="0"/>
          </a:p>
        </p:txBody>
      </p:sp>
      <p:sp>
        <p:nvSpPr>
          <p:cNvPr id="114" name="Shape 111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5" name="Text 112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her</a:t>
            </a:r>
            <a:endParaRPr lang="en-US" sz="750" dirty="0"/>
          </a:p>
        </p:txBody>
      </p:sp>
      <p:sp>
        <p:nvSpPr>
          <p:cNvPr id="116" name="Text 113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عِيدُ مِيلَادِهَا</a:t>
            </a:r>
            <a:endParaRPr lang="ar-SA" sz="1500" dirty="0"/>
          </a:p>
        </p:txBody>
      </p:sp>
      <p:sp>
        <p:nvSpPr>
          <p:cNvPr id="117" name="Shape 114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8" name="Text 115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his</a:t>
            </a:r>
            <a:endParaRPr lang="en-US" sz="750" dirty="0"/>
          </a:p>
        </p:txBody>
      </p:sp>
      <p:sp>
        <p:nvSpPr>
          <p:cNvPr id="119" name="Text 116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عِيدُ مِيلَادِهِ</a:t>
            </a:r>
            <a:endParaRPr lang="ar-SA" sz="1500" dirty="0"/>
          </a:p>
        </p:txBody>
      </p:sp>
      <p:sp>
        <p:nvSpPr>
          <p:cNvPr id="120" name="Text 11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NATIONALITY AND IDENTITY (M. · F. · PL.)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Where are you from?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أَيْنَ أَنْتَ؟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51790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nisba: m. · f.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بِرِيطَانِيٌّ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British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bi-rī-ṭā-niy-yun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بِرِيطَانِيُّونَ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بِرِيطَانِيَّةٌ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بِرِيطَانِيٌّ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51790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nisba: m. · f. · pl.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مِصْرِيٌّ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Egyptian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miṣ-riy-yun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مِصْرِيُّونَ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مِصْرِيَّةٌ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مِصْرِيٌّ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عَرَبِيٌّ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Arab, Arabic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ʿa-ra-biy-yun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عَرَبٌ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عَرَبِيَّةٌ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عَرَبِيٌّ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طَالِبٌ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student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ṭā-li-bun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1058875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طُلَّابٌ · طَالِبَاتٌ</a:t>
            </a:r>
            <a:endParaRPr lang="ar-SA" sz="1450" dirty="0"/>
          </a:p>
        </p:txBody>
      </p:sp>
      <p:sp>
        <p:nvSpPr>
          <p:cNvPr id="81" name="Shape 78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طَالِبَةٌ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طَالِبٌ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origin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أَصْلِي مِنْ …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family comes from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aṣ-lī min …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her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أَصْلُهَا</a:t>
            </a:r>
            <a:endParaRPr lang="ar-SA" sz="1500" dirty="0"/>
          </a:p>
        </p:txBody>
      </p:sp>
      <p:sp>
        <p:nvSpPr>
          <p:cNvPr id="99" name="Shape 96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his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أَصْلُهُ</a:t>
            </a:r>
            <a:endParaRPr lang="ar-SA" sz="1500" dirty="0"/>
          </a:p>
        </p:txBody>
      </p:sp>
      <p:sp>
        <p:nvSpPr>
          <p:cNvPr id="102" name="Shape 99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3" name="Shape 100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04" name="Text 101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105" name="Shape 102"/>
          <p:cNvSpPr/>
          <p:nvPr/>
        </p:nvSpPr>
        <p:spPr>
          <a:xfrm>
            <a:off x="960120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960120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107" name="Shape 104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8" name="Text 105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9" name="Text 106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لُغَةٌ</a:t>
            </a:r>
            <a:endParaRPr lang="ar-SA" sz="3000" dirty="0"/>
          </a:p>
        </p:txBody>
      </p:sp>
      <p:sp>
        <p:nvSpPr>
          <p:cNvPr id="110" name="Text 107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language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lu-gha-tun</a:t>
            </a:r>
            <a:endParaRPr lang="en-US" sz="1350" dirty="0"/>
          </a:p>
        </p:txBody>
      </p:sp>
      <p:sp>
        <p:nvSpPr>
          <p:cNvPr id="111" name="Shape 108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13" name="Text 110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لُغَاتٌ</a:t>
            </a:r>
            <a:endParaRPr lang="ar-SA" sz="1500" dirty="0"/>
          </a:p>
        </p:txBody>
      </p:sp>
      <p:sp>
        <p:nvSpPr>
          <p:cNvPr id="114" name="Shape 111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5" name="Text 112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116" name="Text 113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لُغَةٌ</a:t>
            </a:r>
            <a:endParaRPr lang="ar-SA" sz="1500" dirty="0"/>
          </a:p>
        </p:txBody>
      </p:sp>
      <p:sp>
        <p:nvSpPr>
          <p:cNvPr id="117" name="Text 11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JOINING A CLUB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Registering at a youth club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نَادِي الشَّبَابِ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full name.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مَا اسْمُكَ الكَامِلُ؟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عُمْرِي … سَنَةً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old you are.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عُمْرُكَ؟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عِيدُ مِيلَادِي فِي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date of your birthday.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عِيدُ مِيلَادِكَ؟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 فِي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you live.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تَسْكُنُ؟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… وَأَصْلِي مِنْ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جِنْسِيَّتُكَ؟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new member  ·  The examiner is: the club secretary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FIRST DAY AT SCHOOL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Meeting a new classmate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زَمِيلٌ جَدِيدٌ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اسْمِي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name and welcome him.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مَرْحَبًا، أَنَا جَدِيدٌ هُنَا. مَا اسْمُكَ؟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مِنْ … وَوُلِدْتُ فِي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you are from.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أَيْنَ أَنْتِ؟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لُغَاتٍ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him which languages he speaks.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أَنَا مِنْ تُونِسَ.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 … جَيِّدًا وَ… قَلِيلًا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languages you speak and how well.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العَرَبِيَّةَ وَالفَرَنْسِيَّةَ. وَأَنْتِ؟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اسْمُهُ / اسْمُهَا … وَهُوَ / هِيَ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(describe a person).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مُعَلِّمُ العَرَبِيَّةِ؟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new student in your class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VIDEO CALL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A video call with an exchange partner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مُكَالَمَةٌ مَعَ شَرِيكِ التَّبَادُلِ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اسْمِي … عُمْرِي … أَسْكُنُ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Introduce yourself in two or three sentences.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حَدِّثْنِي عَنْ نَفْسِكَ.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وُلِدْتُ فِي … وَجِئْنَا إِلَى … عِنْدَمَا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you were born and when you moved (past).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وُلِدْتَ فِي بِرِيطَانِيَا؟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أَشْعُرُ أَنِّي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view with a reason.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تَشْعُرُ أَنَّكَ بِرِيطَانِيٌّ أَمْ عِرَاقِيٌّ؟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…؟ وَمَاذَا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him two questions about himself.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أَنَا اسْمِي لَيْثٌ.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أَكُونَ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reason).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تُرِيدُ أَنْ تَعْمَلَ فِي المُسْتَقْبَلِ؟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your new exchange partner in Jordan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YOUTH-AMBASSADOR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Applying to be a youth ambassador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سَفِيرُ الشَّبَابِ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… وَمَا يُمَيِّزُنِي أَنِّي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Introduce yourself with one detail that makes you special.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عَرِّفْنَا بِنَفْسِكَ بِاخْتِصَارٍ.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كُنْتُ صَغِيرًا كَانَ … فَتَعَلَّمْتُ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an influence from the past.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أَثَّرَتْ أُسْرَتُكَ فِي شَخْصِيَّتِكَ؟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مِنَ الصَّعْبِ أَنْ تَعِيشَ بَيْنَ ثَقَافَتَيْنِ؟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اخْتَرْتُمُونِي، سَأُنَظِّمُ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will do (idhā + future).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سَتَفْعَلُهُ إِذَا اخْتَرْنَاكَ؟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اسْتَطَعْتُ، لَجَعَلْتُ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اسْتَطَعْتَ أَنْ تُغَيِّرَ شَيْئًا فِي نَظْرَةِ النَّاسِ إِلَى الشَّبَابِ، فَمَاذَا يَكُونُ؟</a:t>
            </a:r>
            <a:endParaRPr lang="ar-SA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an applicant  ·  The examiner is: the interview panel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name, age, nationality and home in full sentences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the right gender (ṭālib / ṭāliba, -iyy / -iyya) and added a detail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اسْمِي آدَمُ يُوسُفُ عَلِيٌّ.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name is Adam Yusuf Ali.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مَا اسْمُكَ الكَامِلُ؟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عُمْرِي خَمْسَ عَشْرَةَ سَنَةً.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fifteen years old.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عُمْرُكَ؟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عِيدُ مِيلَادِي فِي العَاشِرِ مِنْ مَارِسَ.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birthday is on the tenth of March.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عِيدُ مِيلَادِكَ؟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 فِي بَرْمِنْغْهَامَ، فِي شَارِعٍ قَرِيبٍ مِنَ النَّادِي.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live in Birmingham, on a street near the club.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تَسْكُنُ؟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بِرِيطَانِيٌّ، وَأَصْلِي مِنَ اليَمَنِ.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British, and my family is from Yemen.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جِنْسِيَّتُكَ؟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وَسَهْلًا! اسْمِي سَلْمَى، وَأَنَا فِي هٰذَا الصَّفِّ مُنْذُ سَنَتَيْنِ.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Welcome! My name is Salma, and I have been in this class for two years.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مَرْحَبًا، أَنَا جَدِيدٌ هُنَا. مَا اسْمُكَ؟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مِنْ لَنْدَنَ، لٰكِنِّي وُلِدْتُ فِي القَاهِرَةِ.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from London, but I was born in Cairo.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أَيْنَ أَنْتِ؟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رَائِعٌ! أَيَّ لُغَاتٍ تَتَكَلَّمُ؟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Great! Which languages do you speak?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أَنَا مِنْ تُونِسَ.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 الإِنْجِلِيزِيَّةَ جَيِّدًا، وَالعَرَبِيَّةَ قَلِيلًا، لٰكِنِّي أَتَعَلَّمُهَا الآنَ.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speak English well and Arabic a little, but I am learning it now.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العَرَبِيَّةَ وَالفَرَنْسِيَّةَ. وَأَنْتِ؟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اسْمُهَا الأُسْتَاذَةُ مَرْيَمُ، وَهِيَ لَطِيفَةٌ وَصَبُورَةٌ جِدًّا.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Her name is Ms Maryam, and she is very kind and patient.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مُعَلِّمُ العَرَبِيَّةِ؟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اسْمِي عُمَرُ، عُمْرِي سِتَّ عَشْرَةَ سَنَةً، وَأَسْكُنُ مَعَ أُسْرَتِي فِي مَانْشِسْتَرَ.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name is Omar, I am sixteen, and I live with my family in Manchester.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حَدِّثْنِي عَنْ نَفْسِكَ.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وُلِدْتُ فِي بَغْدَادَ، وَجِئْنَا إِلَى بِرِيطَانِيَا عِنْدَمَا كَانَ عُمْرِي خَمْسَ سَنَوَاتٍ.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 was born in Baghdad, and we came to Britain when I was five.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وُلِدْتَ فِي بِرِيطَانِيَا؟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أَشْعُرُ أَنِّي الِاثْنَانِ مَعًا، لِأَنِّي أُحِبُّ ثَقَافَةَ البَلَدَيْنِ.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feel I am both, because I love the culture of both countries.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تَشْعُرُ أَنَّكَ بِرِيطَانِيٌّ أَمْ عِرَاقِيٌّ؟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عُمْرُكَ يَا لَيْثُ؟ وَمَاذَا تُحِبُّ أَنْ تَفْعَلَ فِي وَقْتِ الفَرَاغِ؟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old are you, Laith? And what do you like doing in your free time?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أَنَا اسْمِي لَيْثٌ.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أَكُونَ مُهَنْدِسًا، لِأَنِّي أُحِبُّ الرِّيَاضِيَّاتِ وَالتَّصْمِيمَ.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be an engineer, because I love maths and design.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تُرِيدُ أَنْ تَعْمَلَ فِي المُسْتَقْبَلِ؟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يُوسُفُ، طَالِبٌ فِي السَّنَةِ الحَادِيَةَ عَشْرَةَ، وَمَا يُمَيِّزُنِي أَنِّي أَتَكَلَّمُ ثَلَاثَ لُغَاتٍ.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Yusuf, a Year 11 student, and what makes me stand out is that I speak three languages.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عَرِّفْنَا بِنَفْسِكَ بِاخْتِصَارٍ.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كُنْتُ صَغِيرًا، كَانَ جَدِّي يَحْكِي لِي قِصَصًا عَنْ فِلَسْطِينَ، فَتَعَلَّمْتُ أَنْ أَعْتَزَّ بِأَصْلِي.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 was small, my grandfather told me stories about Palestine, so I learned to be proud of my roots.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أَثَّرَتْ أُسْرَتُكَ فِي شَخْصِيَّتِكَ؟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ذٰلِكَ صَعْبٌ أَحْيَانًا، غَيْرَ أَنَّهُ يُعْطِينِي نَظْرَتَيْنِ إِلَى العَالَمِ بَدَلًا مِنْ نَظْرَةٍ وَاحِدَةٍ.</a:t>
            </a:r>
            <a:endParaRPr lang="ar-SA" sz="17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that it is sometimes hard, but it gives me two views of the world instead of one.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مِنَ الصَّعْبِ أَنْ تَعِيشَ بَيْنَ ثَقَافَتَيْنِ؟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اخْتَرْتُمُونِي، سَأُنَظِّمُ يَوْمًا ثَقَافِيًّا يُعَرِّفُ الطُّلَّابَ بِبُلْدَانِ زُمَلَائِهِمْ.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choose me, I will organise a culture day that introduces students to their classmates’ countries.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سَتَفْعَلُهُ إِذَا اخْتَرْنَاكَ؟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اسْتَطَعْتُ، لَجَعَلْتُ النَّاسَ يَسْمَعُونَ آرَاءَ الشَّبَابِ قَبْلَ أَنْ يَحْكُمُوا عَلَيْهِمْ.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could, I would make people listen to young people’s views before judging them.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اسْتَطَعْتَ أَنْ تُغَيِّرَ شَيْئًا فِي نَظْرَةِ النَّاسِ إِلَى الشَّبَابِ، فَمَاذَا يَكُونُ؟</a:t>
            </a:r>
            <a:endParaRPr lang="ar-SA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annī + nominal sentence, kāna yaḥkī, ṣaḥīḥun anna … ghayra anna, idhā … sa-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اسْمِي … وَعُمْرِي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name, and how old are you?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اسْمُكَ؟ وَكَمْ عُمْرُكَ؟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وُلِدْتُ فِي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were you born?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وُلِدْتَ؟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… / أَنَا … وَأَصْلِي مِنْ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nationality?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جِنْسِيَّتُكَ؟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 … وَ…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languages do you speak?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لُغَاتٍ تَتَكَلَّمُ؟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… وَ…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yourself in two words.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نَفْسَكَ بِكَلِمَتَيْنِ.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هُوِيَّتِي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 فِي … وَهِيَ … فِيهَا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Tell us about your town.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حَدِّثْنَا عَنْ مَدِينَتِكَ.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بَدَأْتُ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did you start learning Arabic, and why?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بَدَأْتَ تَتَعَلَّمُ العَرَبِيَّةَ؟ وَلِمَاذَا؟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أَهَمُّ شَخْصٍ هُوَ / هِيَ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is the most important person in your life?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أَهَمُّ شَخْصٍ فِي حَيَاتِكَ؟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أَكْتُبُ … وَلَا أَكْتُبُ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introduce yourself online?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تُعَرِّفُ نَفْسَكَ عَلَى الإِنْتَرْنِتِ؟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… أَمَّا الآنَ فَأَنَا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have you changed since you were small?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تَغَيَّرْتَ مُنْذُ كُنْتَ صَغِيرًا؟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description, a reason (li-anna), a past sentence and a contrast.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الهُوِيَّةُ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… أَهَمُّ مِنْ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makes a person’s identity?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يَصْنَعُ هُوِيَّةَ الإِنْسَانِ فِي رَأْيِكَ؟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فَأَنَا مَثَلًا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Can a person have two identities?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يَكُونَ لِلْإِنْسَانِ هُوِيَّتَانِ؟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social media give a true picture of us?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تُعْطِي وَسَائِلُ التَّوَاصُلِ صُورَةً حَقِيقِيَّةً عَنَّا؟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أَبِي … أَمَّا أَنَا فَأَعِيشُ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was your parents’ life like at your age?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كَانَتْ حَيَاةُ وَالِدَيْكَ عِنْدَمَا كَانَا فِي عُمْرِكَ؟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وُلِدْتُ فِي …، لَتَكَلَّمْتُ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had been born in another country, what would your life be like?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وُلِدْتَ فِي بَلَدٍ آخَرَ، كَيْفَ تَكُونُ حَيَاتُكَ؟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comparatives, a relative clause (alladhī wulidnā fīhi), a concession, kāna + present vs ammā … fa-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اسْمِي زَيْنَبُ، وَعُمْرِي أَرْبَعَ عَشْرَةَ سَنَةً.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name is Zainab and I am fourteen.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اسْمُكَ؟ وَكَمْ عُمْرُكَ؟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وُلِدْتُ فِي لِيدْزَ، فِي شَمَالِ إِنْجِلْتِرَا.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was born in Leeds, in the north of England.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وُلِدْتَ؟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بِرِيطَانِيَّةٌ، وَأَصْلِي مِنْ بَاكِسْتَانَ.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British, and my family is from Pakistan.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جِنْسِيَّتُكَ؟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 الإِنْجِلِيزِيَّةَ وَالأُرْدِيَّةَ، وَأَتَعَلَّمُ العَرَبِيَّةَ.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speak English and Urdu, and I am learning Arabic.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لُغَاتٍ تَتَكَلَّمُ؟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نَشِيطَةٌ وَمَرِحَةٌ.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active and cheerful.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نَفْسَكَ بِكَلِمَتَيْنِ.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the right gender = a secure Core answer (models here are a girl’s answers).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 فِي بِرِسْتُولَ، وَهِيَ مَدِينَةٌ كَبِيرَةٌ وَجَمِيلَةٌ، فِيهَا نَهْرٌ وَجُسُورٌ قَدِيمَةٌ.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live in Bristol; it is a big, beautiful city with a river and old bridges.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حَدِّثْنَا عَنْ مَدِينَتِكَ.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بَدَأْتُ قَبْلَ ثَلَاثِ سَنَوَاتٍ، لِأَنِّي أُرِيدُ أَنْ أَفْهَمَ القُرْآنَ وَأَتَكَلَّمَ مَعَ أَقَارِبِي.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started three years ago, because I want to understand the Qur’an and talk to my relatives.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بَدَأْتَ تَتَعَلَّمُ العَرَبِيَّةَ؟ وَلِمَاذَا؟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أَهَمُّ شَخْصٍ هِيَ أُمِّي، لِأَنَّهَا تُسَاعِدُنِي دَائِمًا وَتُشَجِّعُنِي.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most important person is my mum, because she always helps and encourages me.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أَهَمُّ شَخْصٍ فِي حَيَاتِكَ؟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أَكْتُبُ اسْمِيَ الأَوَّلَ وَهِوَايَاتِي فَقَطْ، وَلَا أَكْتُبُ عُنْوَانِي، لِأَنَّ ذٰلِكَ خَطِيرٌ.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only write my first name and hobbies, and I don’t write my address, because that is dangerous.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تُعَرِّفُ نَفْسَكَ عَلَى الإِنْتَرْنِتِ؟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خَجُولًا جِدًّا، أَمَّا الآنَ فَأَنَا أَكْثَرُ ثِقَةً، وَأَتَكَلَّمُ أَمَامَ الصَّفِّ.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used to be very shy; now I am more confident and speak in front of the class.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تَغَيَّرْتَ مُنْذُ كُنْتَ صَغِيرًا؟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Description + reason + a past detail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القِيَمَ وَاللُّغَةَ أَهَمُّ مِنَ المَكَانِ الَّذِي وُلِدْنَا فِيهِ، لِأَنَّهَا تَبْقَى مَعَنَا أَيْنَمَا ذَهَبْنَا.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values and language matter more than where we were born, because they stay with us wherever we go.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يَصْنَعُ هُوِيَّةَ الإِنْسَانِ فِي رَأْيِكَ؟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فَأَنَا مَثَلًا أُشَجِّعُ المُنْتَخَبَ الإِنْجِلِيزِيَّ، وَأَطْبُخُ مَعَ أُمِّي الأَكْلَ السُّودَانِيَّ، وَلَا أَرَى تَنَاقُضًا فِي ذٰلِكَ.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I, for example, support the England team and cook Sudanese food with my mum, and I see no contradiction.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يَكُونَ لِلْإِنْسَانِ هُوِيَّتَانِ؟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أَنَّهَا تُظْهِرُ جُزْءًا مِنْ حَيَاتِنَا، غَيْرَ أَنَّ النَّاسَ يَنْشُرُونَ أَجْمَلَ اللَّحَظَاتِ فَقَطْ، فَتَبْدُو حَيَاتُهُمْ مِثَالِيَّةً.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it shows part of our lives, but people post only their best moments, so their lives look perfect.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تُعْطِي وَسَائِلُ التَّوَاصُلِ صُورَةً حَقِيقِيَّةً عَنَّا؟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ahammu min, aynamā, ṣaḥīḥun anna … ghayra anna, kāna + present,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أَبِي يَعِيشُ فِي قَرْيَةٍ صَغِيرَةٍ، وَيُسَاعِدُ جَدِّي فِي المَزْرَعَةِ، أَمَّا أَنَا فَأَعِيشُ فِي مَدِينَةٍ كَبِيرَةٍ، وَأَقْضِي وَقْتِي فِي الدِّرَاسَةِ.</a:t>
            </a:r>
            <a:endParaRPr lang="ar-SA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father lived in a small village and helped my grandfather on the farm; I live in a big city and spend my time studying.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كَانَتْ حَيَاةُ وَالِدَيْكَ عِنْدَمَا كَانَا فِي عُمْرِكَ؟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وُلِدْتُ فِي المَغْرِبِ، لَتَكَلَّمْتُ العَرَبِيَّةَ وَالفَرَنْسِيَّةَ بِطَلَاقَةٍ، وَلَكَانَ البَحْرُ قَرِيبًا مِنْ بَيْتِي.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had been born in Morocco, I would speak Arabic and French fluently, and the sea would be near my home.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وُلِدْتَ فِي بَلَدٍ آخَرَ، كَيْفَ تَكُونُ حَيَاتُكَ؟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ahammu min, aynamā, ṣaḥīḥun anna … ghayra anna, kāna + present,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my name, age, birthday, nationality and home.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the right gender: ṭālib / ṭāliba, -iyy / -iyya.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attached pronouns: ismī, ismuhu, ismuhā.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added a past sentence (wulidtu, jiʾnā) and a reason.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concession, ammā … fa-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TB-L01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TB-L01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TB-L01 · Speaking Workshop — Identity and Personal Profiles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2026-10-11T08:46:35Z</dcterms:created>
  <dcterms:modified xsi:type="dcterms:W3CDTF">2026-10-11T08:46:35Z</dcterms:modified>
</cp:coreProperties>
</file>