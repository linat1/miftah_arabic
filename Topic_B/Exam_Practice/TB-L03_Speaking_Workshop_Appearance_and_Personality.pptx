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3 (Appearance and Personality, TB-L03), using that lesson’s language (adjective agreement; relative pronouns (alladhī / allatī); laysa).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adjectives agree in gender: هُوَ طَوِيلٌ · هِيَ طَوِيلَةٌ. Eyes are a dual: عَيْنَاهَا خَضْرَاوَانِ. laysa takes the accusative: لَيْسَ طَوِيلًا.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relative pronoun agrees with the person: الصَّدِيقُ الَّذِي … · الصَّدِيقَةُ الَّتِي … · الأَصْدِقَاءُ الَّذِينَ … Broken plurals of people: لُطَفَاءُ · أَذْكِيَاءُ · كِرَامٌ.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lost child.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if it is a little sister: أُخْتِي الصَّغِيرَةُ ضَائِعَةٌ · اسْمُهَا · هِيَ قَصِيرَةٌ · تَلْبَسُ فُسْتَانًا · لَيْسَتْ خَجُولَةً.
Core: appearance with agreement, colours (aḥmar, azraq — colour pattern), the dual (ʿaynāhu bunniyyatāni), laysa + accusative.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new teacher.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to a girl the parent says تُحِبِّينَهَا · مُعَلِّمَتُكِ — the candidate asks a father: وَأَنْتَ يَا أَبِي، مَنْ كَانَ مُعَلِّمَكَ …؟.
Feminine throughout (hiya ṭawīla, laysat ṣārimatan). Task 3: laysa … bal. Task 4: the CANDIDATE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choosing a team captain.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تَقْتَرِحِينَ · وَأَنْتِ، هَلْ تَصْلُحِينَ قَائِدَةً؟ — she answers مُنَظَّمَةٌ · خَجُولَةٌ.
Develop: allatī, two qualities + a reason, a past example with ʿindamā, laysa … bal, a self-description with li-annī … lākinnī.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magazine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حَكَمْتِ · اسْتَطَعْتِ · شَخْصِيَّتِكِ.
Stretch: qabla an, ẓanantu anna … lākinnahu, an effect with yaẓunnūna anna, a concession with hiya allatī,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an example.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Appearance and Personality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المَظْهَرُ وَالشَّخْصِيَّةُ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what people look like and what they are like, with adjectives that agree, alladhī / allatī, and laysa — and back up every judgement with an example.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APPEARANCE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does he look like?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شَكْلُهُ؟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طَوِيلٌ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ṭa-wī-lun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طِوَالٌ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طَوِيلَةٌ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طَوِيلٌ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قَصِيرٌ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short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qa-ṣī-run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قِصَارٌ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قَصِيرَةٌ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قَصِيرٌ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hair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شَعْرُهُ أَسْوَدُ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his hair is black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shaʿ-ru-hu as-wa-du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شَعْرِي أَسْوَدُ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شَعْرُهَا أَسْوَدُ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عَيْنَاهُ بُنِّيَّتَانِ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his eyes are brown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ʿay-nā-hu bun-niy-ya-tā-ni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عَيْنَايَ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عَيْنَاهَا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 · I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يَلْبَسُ نَظَّارَةً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wears glasses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yal-ba-su naẓ-ẓā-ra-tan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تَلْبَسُ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laysa + acc.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طَوِيلًا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is not tall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lay-sa ṭa-wī-lan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لَيْسُوا طِوَالًا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لَسْتُ طَوِيلًا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لَيْسَتْ طَوِيلَةً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PERSONALITY AND “WHO …”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is she like?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شَخْصِيَّتُهَا؟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kind, nice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la-ṭī-fun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لُطَفَاءُ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ذَكِيٌّ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clever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dha-kiy-yun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أَذْكِيَاءُ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ذَكِيَّةٌ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ذَكِيٌّ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خَجُولٌ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shy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kha-jū-lun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خَجُولُونَ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خَجُولَةٌ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خَجُولٌ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كَرِيمٌ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generous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ka-rī-mun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كِرَامٌ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كَرِيمَةٌ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كَرِيمٌ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 pronouns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· الَّتِي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who, which (m. · f.)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al-َ-dhī · al-َ-tī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f.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اللَّوَاتِي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m.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الَّذِينَ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صَبُورٌ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patient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ṣa-bū-run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صُبُرٌ</a:t>
            </a:r>
            <a:endParaRPr lang="ar-SA" sz="1500" dirty="0"/>
          </a:p>
        </p:txBody>
      </p:sp>
      <p:sp>
        <p:nvSpPr>
          <p:cNvPr id="114" name="Shape 111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صَبُورَةٌ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صَبُورٌ</a:t>
            </a:r>
            <a:endParaRPr lang="ar-SA" sz="1500" dirty="0"/>
          </a:p>
        </p:txBody>
      </p:sp>
      <p:sp>
        <p:nvSpPr>
          <p:cNvPr id="120" name="Text 11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LOST CHILD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Reporting a lost little brother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 الصَّغِيرُ ضَائِعٌ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 الصَّغِيرُ ضَائِعٌ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little brother is lost.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اسْمُهُ … وَعُمْرُهُ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his name and age.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عُمْرُهُ؟ وَمَا اسْمُهُ؟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… وَشَعْرُهُ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his appearance.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شَكْلُهُ؟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يَلْبَسُ … وَ…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he is wearing.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يَلْبَسُ؟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 … هُوَ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خَجُولٌ؟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worried older sibling  ·  The examiner is: a shopping-centre security guard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NEW TEACHER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Describing your new teacher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مُعَلِّمَتُنَا الجَدِيدَةُ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اسْمُهَا … وَهِيَ تُدَرِّسُ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her name and subject.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مُعَلِّمَتُكُمُ الجَدِيدَةُ؟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… وَتَلْبَسُ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her appearance.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شَكْلُهَا؟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لَيْسَتْ … بَلْ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laysa and a positive trait.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هِيَ صَارِمَةٌ؟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 / وَأَنْتِ، مَنْ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your parent about their favourite teacher.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مُعَلِّمُكَ القَدِيمُ كَانَ صَارِمًا جِدًّا!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 مَثَلًا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 reason + example).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تُحِبُّهَا؟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parent at home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CHOOSING A TEAM CAPTAIN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Who should be team captain?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يَكُونُ قَائِدَ الفَرِيقِ؟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… الَّذِي / الَّتِي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someone using alladhī / allatī.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تَقْتَرِحُ قَائِدًا لِلْفَرِيقِ؟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 وَ…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qualities with a reason.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هِيَ؟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المُبَارَاةِ المَاضِيَةِ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example from the past.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 مِثَالًا.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صَحِيحٌ، لٰكِنَّ القَائِدَ لَيْسَ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answer.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لٰكِنَّهَا لَيْسَتْ أَفْضَلَ لَاعِبَةٍ.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رُبَّمَا، لِأَنِّي … لٰكِنِّي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(self-description).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وَأَنْتَ، هَلْ تَصْلُحُ قَائِدًا؟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team member  ·  The examiner is: the coach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MAGAZINE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Do looks matter?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المَظْهَرُ مُهِمٌّ؟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لِلْأَسَفِ نَعَمْ،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view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نَحْكُمُ عَلَى النَّاسِ مِنْ مَظْهَرِهِمْ؟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ظَنَنْتُ أَنَّ … لٰكِنْ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short story (past).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حَكَمْتَ عَلَى شَخْصٍ خَطَأً مَرَّةً؟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تَجْعَلُ … يَظُنُّونَ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an effect.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تَأْثِيرُ وَسَائِلِ التَّوَاصُلِ عَلَى نَظْرَتِنَا إِلَى الجَمَالِ؟</a:t>
            </a:r>
            <a:endParaRPr lang="ar-SA" sz="165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 مِنَ الطَّبِيعِيِّ أَنْ نَهْتَمَّ بِمَظْهَرِنَا؟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لَأَصْبَحْتُ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تُغَيِّرَ صِفَةً فِي شَخْصِيَّتِكَ، فَمَا هِيَ؟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interviewee  ·  The examiner is: a magazine journalist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appearance with adjectives that agree (m. / f.)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alladhī / allatī or laysa, and gave an example for a personality trait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 الصَّغِيرُ ضَائِعٌ، كَانَ مَعِي قَبْلَ عَشْرِ دَقَائِقَ.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little brother is lost; he was with me ten minutes ago.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اسْمُهُ زَيْدٌ، وَعُمْرُهُ سِتُّ سَنَوَاتٍ.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His name is Zaid and he is six.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عُمْرُهُ؟ وَمَا اسْمُهُ؟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قَصِيرٌ وَنَحِيفٌ، وَشَعْرُهُ أَسْوَدُ وَقَصِيرٌ، وَعَيْنَاهُ بُنِّيَّتَانِ.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is short and thin, with short black hair and brown eyes.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شَكْلُهُ؟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يَلْبَسُ قَمِيصًا أَحْمَرَ وَبِنْطَالًا أَزْرَقَ.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is wearing a red shirt and blue trousers.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يَلْبَسُ؟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 خَجُولًا، هُوَ اجْتِمَاعِيٌّ وَيَتَكَلَّمُ مَعَ الجَمِيعِ.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he isn’t shy; he is sociable and talks to everyone.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خَجُولٌ؟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اسْمُهَا الأُسْتَاذَةُ هِنْدٌ، وَهِيَ تُدَرِّسُ العُلُومَ.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She is called Ms Hind, and she teaches science.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مُعَلِّمَتُكُمُ الجَدِيدَةُ؟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طَوِيلَةٌ، وَتَلْبَسُ نَظَّارَةً، وَعَيْنَاهَا خَضْرَاوَانِ.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She is tall, wears glasses and has green eyes.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شَكْلُهَا؟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لَيْسَتْ صَارِمَةً، بَلْ هِيَ صَبُورَةٌ وَمَرِحَةٌ.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she isn’t strict — she is patient and fun.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هِيَ صَارِمَةٌ؟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وَأَنْتِ يَا أُمِّي، مَنْ كَانَ مُعَلِّمَكِ المُفَضَّلَ فِي المَدْرَسَةِ؟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you, Mum — who was your favourite teacher at school?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مُعَلِّمُكَ القَدِيمُ كَانَ صَارِمًا جِدًّا!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تَشْرَحُ بِوُضُوحٍ؛ مَثَلًا أَمْسِ أَجْرَيْنَا تَجْرِبَةً مُمْتِعَةً فِي المُخْتَبَرِ.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she explains clearly — yesterday, for example, we did a fun experiment in the lab.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سَلْمَى، الَّتِي تَلْعَبُ مَعَنَا مُنْذُ ثَلَاثِ سَنَوَاتٍ.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suggest Salma, who has played with us for three years.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تَقْتَرِحُ قَائِدًا لِلْفَرِيقِ؟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شُجَاعَةٌ وَعَادِلَةٌ، وَتُشَجِّعُ الجَمِيعَ حَتَّى عِنْدَمَا نَخْسَرُ.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she is brave and fair, and she encourages everyone even when we lose.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هِيَ؟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المُبَارَاةِ المَاضِيَةِ، عِنْدَمَا وَقَعَتْ زَمِيلَتُنَا، تَوَقَّفَتْ سَلْمَى وَسَاعَدَتْهَا.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last match, when a teammate fell, Salma stopped and helped her.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 مِثَالًا.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صَحِيحٌ، لٰكِنَّ القَائِدَ لَيْسَ بِالضَّرُورَةِ أَمْهَرَ لَاعِبٍ، بَلِ الشَّخْصُ الَّذِي يَحْتَرِمُهُ الجَمِيعُ.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True, but the captain isn’t necessarily the most skilful player — it’s the person everyone respects.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لٰكِنَّهَا لَيْسَتْ أَفْضَلَ لَاعِبَةٍ.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رُبَّمَا، لِأَنِّي مُنَظَّمٌ، لٰكِنِّي خَجُولٌ قَلِيلًا وَلَا أُحِبُّ أَنْ أَتَكَلَّمَ أَمَامَ النَّاسِ.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Maybe, because I am organised, but I am a bit shy and don’t like speaking in front of people.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وَأَنْتَ، هَلْ تَصْلُحُ قَائِدًا؟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لِلْأَسَفِ نَعَمْ، لِأَنَّ المَظْهَرَ هُوَ أَوَّلُ شَيْءٍ نَرَاهُ، قَبْلَ أَنْ نَعْرِفَ الشَّخْصِيَّةَ.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Unfortunately yes, because appearance is the first thing we see, before we know the personality.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نَحْكُمُ عَلَى النَّاسِ مِنْ مَظْهَرِهِمْ؟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ظَنَنْتُ أَنَّ جَارَنَا الجَدِيدَ مُتَكَبِّرٌ لِأَنَّهُ لَا يَبْتَسِمُ، لٰكِنَّهُ كَانَ خَجُولًا فَقَطْ، وَهُوَ الآنَ صَدِيقُ أَبِي.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thought our new neighbour was arrogant because he didn’t smile, but he was just shy — he is now my dad’s friend.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حَكَمْتَ عَلَى شَخْصٍ خَطَأً مَرَّةً؟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تَجْعَلُ كَثِيرًا مِنَ الشَّبَابِ يَظُنُّونَ أَنَّ الجَمَالَ شَكْلٌ وَاحِدٌ، لِأَنَّ الصُّوَرَ مُعَدَّلَةٌ بِالفَلَاتِرِ.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makes many young people think beauty is one look, because the photos are edited with filters.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تَأْثِيرُ وَسَائِلِ التَّوَاصُلِ عَلَى نَظْرَتِنَا إِلَى الجَمَالِ؟</a:t>
            </a:r>
            <a:endParaRPr lang="ar-SA" sz="15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الاهْتِمَامَ بِالمَظْهَرِ طَبِيعِيٌّ، غَيْرَ أَنَّ الأَخْلَاقَ هِيَ الَّتِي تَجْعَلُ النَّاسَ يُحِبُّونَنَا حَقًّا.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caring about appearance is natural, but it is character that truly makes people love us.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 مِنَ الطَّبِيعِيِّ أَنْ نَهْتَمَّ بِمَظْهَرِنَا؟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لَأَصْبَحْتُ أَكْثَرَ صَبْرًا، لِأَنِّي أَغْضَبُ بِسُرْعَةٍ عِنْدَمَا أَخْسَرُ فِي الأَلْعَابِ.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could, I would become more patient, because I get angry quickly when I lose at games.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تُغَيِّرَ صِفَةً فِي شَخْصِيَّتِكَ، فَمَا هِيَ؟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reason, a past misjudgement, yajʿalu … yaẓunnūna,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شَكْلِي وَشَخْصِيَّتِي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وَشَعْرِي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what you look like.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شَكْلَكَ.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personality.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لَسْتُ … / نَعَمْ،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 shy?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خَجُولٌ؟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/ أَبِي … هِيَ / هُوَ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member of your family.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أَحَدَ أَفْرَادِ أُسْرَتِكَ.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أُعْجَبُ بِجَدِّي / بِأُمِّي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the person you admire?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الشَّخْصُ الَّذِي تُعْجَبُ بِهِ؟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النَّاسُ مِنْ حَوْلِي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صَدِيقِي … شَعْرُهُ … وَهُوَ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best friend: looks and personality.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صَدِيقَكَ المُفَضَّلَ: شَكْلَهُ وَشَخْصِيَّتَهُ.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أُحِبُّ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quality don’t you like in people?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الصِّفَةُ الَّتِي لَا تُحِبُّهَا فِي النَّاسِ؟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شَعْرِي … أَمَّا الآنَ فَهُوَ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your appearance changed since you were small?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شَكْلُكَ مُنْذُ كُنْتَ صَغِيرًا؟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أُشْبِهُ … فِي … لٰكِنَّ شَخْصِيَّتِي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look like anyone in your family?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تُشْبِهُ أَحَدًا فِي أُسْرَتِكَ؟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أَكْثَرَ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quality do you want to develop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صِفَةٍ تُرِيدُ أَنْ تُطَوِّرَهَا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appearance + personality, a reason, a past/present contrast and an example.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الشَّخْصِيَّةُ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personality more important than looks?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الشَّخْصِيَّةُ أَهَمُّ مِنَ المَظْهَرِ؟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القَائِدُ النَّاجِحُ هُوَ الَّذِي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qualities of a successful leader?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 القَائِدِ النَّاجِحِ؟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فَأَنَا مَثَلًا كُنْتُ … أَمَّا الآنَ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a person’s personality change?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تَتَغَيَّرُ شَخْصِيَّةُ الإِنْسَانِ؟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online photos give an honest picture of people?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تُعْطِي الصُّوَرُ عَلَى الإِنْتَرْنِتِ صُورَةً صَادِقَةً عَنِ النَّاسِ؟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…، لَوَصَفَنِي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a character in a novel, how would the writer describe you?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شَخْصِيَّةً فِي رِوَايَةٍ، كَيْفَ يَصِفُكَ الكَاتِبُ؟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comparative + ammā … fa-, hiya / huwa alladhī …, kuntu vs ṣirtu, a concession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طَوِيلٌ، وَشَعْرِي أَسْوَدُ، وَعَيْنَايَ بُنِّيَّتَانِ.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tall, with black hair and brown eyes.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شَكْلَكَ.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هَادِئٌ وَمُجْتَهِدٌ، وَأُحِبُّ أَنْ أُسَاعِدَ النَّاسَ.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calm and hard-working, and I like helping people.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لَسْتُ خَجُولًا، أَنَا اجْتِمَاعِيٌّ جِدًّا.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I’m not shy; I am very sociable.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خَجُولٌ؟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قَصِيرَةٌ وَجَمِيلَةٌ، وَهِيَ كَرِيمَةٌ وَصَبُورَةٌ.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mum is short and beautiful, and she is generous and patient.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أَحَدَ أَفْرَادِ أُسْرَتِكَ.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أُعْجَبُ بِجَدِّي كَثِيرًا، لِأَنَّهُ حَكِيمٌ وَلَطِيفٌ.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really admire my grandfather, because he is wise and kind.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الشَّخْصُ الَّذِي تُعْجَبُ بِهِ؟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adjectives that agree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صَدِيقِي حَمْزَةُ قَصِيرٌ قَلِيلًا وَشَعْرُهُ مُجَعَّدٌ، وَهُوَ مَرِحٌ جِدًّا وَيُضْحِكُ الصَّفَّ كُلَّهُ.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friend Hamza is a bit short with curly hair; he is very funny and makes the whole class laugh.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صَدِيقَكَ المُفَضَّلَ: شَكْلَهُ وَشَخْصِيَّتَهُ.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أُحِبُّ الكَذِبَ، لِأَنَّنِي لَا أَسْتَطِيعُ أَنْ أَثِقَ بِشَخْصٍ يَكْذِبُ.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like lying, because I can’t trust someone who lies.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الصِّفَةُ الَّتِي لَا تُحِبُّهَا فِي النَّاسِ؟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شَعْرِي طَوِيلًا وَأَشْقَرَ، أَمَّا الآنَ فَهُوَ قَصِيرٌ وَبُنِّيٌّ، وَصِرْتُ أَطْوَلَ مِنْ أَبِي!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hair used to be long and blond; now it is short and brown, and I am taller than my dad!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شَكْلُكَ مُنْذُ كُنْتَ صَغِيرًا؟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أُشْبِهُ أَبِي فِي شَكْلِي، لٰكِنَّ شَخْصِيَّتِي تُشْبِهُ شَخْصِيَّةَ أُمِّي، فَأَنَا هَادِئٌ مِثْلَهَا.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look like my dad, but my personality is like my mum’s — I am calm like her.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تُشْبِهُ أَحَدًا فِي أُسْرَتِكَ؟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أَكْثَرَ ثِقَةً بِنَفْسِي، لِكَيْ أَتَكَلَّمَ فِي المُقَابَلَاتِ بِدُونِ خَوْفٍ.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be more self-confident, so that I can speak in interviews without fear.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صِفَةٍ تُرِيدُ أَنْ تُطَوِّرَهَا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reason + example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الشَّخْصِيَّةَ أَهَمُّ بِكَثِيرٍ، لِأَنَّ الجَمَالَ يَتَغَيَّرُ مَعَ العُمْرِ، أَمَّا الأَخْلَاقُ فَتَبْقَى.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personality matters much more, because beauty changes with age, whereas character remains.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الشَّخْصِيَّةُ أَهَمُّ مِنَ المَظْهَرِ؟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القَائِدُ النَّاجِحُ هُوَ الَّذِي يَسْمَعُ لِلْآخَرِينَ، وَيَعْتَرِفُ بِأَخْطَائِهِ، وَلَا يَخَافُ مِنَ القَرَارَاتِ الصَّعْبَةِ.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successful leader is one who listens to others, admits mistakes and isn’t afraid of hard decisions.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 القَائِدِ النَّاجِحِ؟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فَأَنَا مَثَلًا كُنْتُ عَصَبِيًّا، أَمَّا الآنَ فَصِرْتُ أَهْدَأَ بَعْدَ أَنْ بَدَأْتُ أُمَارِسُ الرِّيَاضَةَ.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I, for example, used to be short-tempered, but now I am calmer since I started exercising.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تَتَغَيَّرُ شَخْصِيَّةُ الإِنْسَانِ؟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ahamm bi-kathīr, alladhī clauses, kuntu … ṣirtu, ṣaḥīḥun anna … ghayra anna,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تُظْهِرُ وُجُوهَهُمْ، غَيْرَ أَنَّهَا لَا تُظْهِرُ قُلُوبَهُمْ، كَمَا أَنَّ كَثِيرًا مِنْهَا مُعَدَّلٌ.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they show their faces, but they don’t show their hearts — and many are edited.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تُعْطِي الصُّوَرُ عَلَى الإِنْتَرْنِتِ صُورَةً صَادِقَةً عَنِ النَّاسِ؟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شَخْصِيَّةً فِي رِوَايَةٍ، لَوَصَفَنِي الكَاتِبُ بِأَنِّي الصَّدِيقُ الهَادِئُ الَّذِي يَحُلُّ مَشَاكِلَ الجَمِيعِ.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a character in a novel, the writer would describe me as the quiet friend who solves everyone’s problems.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شَخْصِيَّةً فِي رِوَايَةٍ، كَيْفَ يَصِفُكَ الكَاتِبُ؟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ahamm bi-kathīr, alladhī clauses, kuntu … ṣirtu, ṣaḥīḥun anna … ghayra anna,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appearance with adjectives that agree (m. / f.).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personality with two adjectives.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laysa / lastu + accusative correctly.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alladhī / allatī and gave an example.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kuntu … ṣirtu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TB-L03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TB-L03 · Speaking Workshop — Appearance and Personality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2026-10-11T08:53:23Z</dcterms:created>
  <dcterms:modified xsi:type="dcterms:W3CDTF">2026-10-11T08:53:23Z</dcterms:modified>
</cp:coreProperties>
</file>