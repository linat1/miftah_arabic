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B, Lesson 2 (Family, Friends and Relationships, TB-L02), using that lesson’s language (possessive endings; iḍāfa; dual and plural).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the dual: عِنْدِي أَخَوَانِ وَأُخْتَانِ (two brothers and two sisters). Iḍāfa: ابْنُ عَمِّي (my uncle’s son) — the first word loses al- and tanwīn.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أَتَّفِقُ مَعَ أُخْتِي (I get on with my sister) · أَتَشَاجَرُ مَعَ أَخِي أَحْيَانًا. Superlatives: أَخِي الأَكْبَرُ · أُخْتِي الكُبْرَى.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showing a photo.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أُسْرَتِكِ · عِنْدَكِ · إِلَيْكِ.
Core: numbers + plural genitive (khamsatu ashkhāṣin), possessives (abī, ummī), dual verb (yaskunāni), a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planning a family visit.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يَا حَبِيبَتِي · مَعَكِ · يَنْتَظِرُونَكِ · تُحِبِّينَ.
Task 2: the dual with an adjective (ukhtāya ṣ-ṣaghīratāni). Task 3: the CANDIDATE asks. Task 4: a relative clause + superlative.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friend’s problem.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if the friend is a boy: تَشَاجَرْتُ مَعَ أَخِي · لَا تَحْزَنْ · تَتَكَلَّمَ مَعَهُ · لِمَاذَا لَا تَطْلُبُ.
Develop: imperative / negative imperative (lā taḥzanī), dual verbs (tattafiqā, maʿakumā), advice with an + verb in -a, kunnā +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podcast on families.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أَجْدَادِكِ · حَيَاتِكِ · وَضَعْتِ · لِأُسْرَتِكِ.
Stretch: kāna + present vs ammā … fa-, a personal example with fa-, a concession, dūna an, mathalan, law … la- with likay.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 reason or a past detail.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comparison,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B · EXAM PRACTICE  ·  TB-L02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TB-L02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Family, Friends and Relationships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العَائِلَةُ وَالأَصْدِقَاءُ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describe your family and friends, explain relationships (my uncle’s son, my two sisters), and talk about how friendships change.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Advanced Topic B · Personal and Social Life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B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B › TB-L02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FAMILY WORDS WITH MY · DUAL · PLURAL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Who is in your family?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فِي أُسْرَتِكَ؟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· dual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brother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a-khun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إِخْوَةٌ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أَخَوَانِ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أَخِي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· dual · pl.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أُخْتٌ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sister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ukh-tun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أَخَوَاتٌ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أُخْتَانِ</a:t>
            </a:r>
            <a:endParaRPr lang="ar-SA" sz="135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أُخْتِي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· pl.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عَمٌّ · عَمَّةٌ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paternal uncle · aunt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ʿam-mun · ʿam-ma-tun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أَعْمَامٌ · عَمَّاتٌ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عَمِّي · عَمَّتِي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· pl.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خَالٌ · خَالَةٌ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maternal uncle · aunt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khā-lun · khā-la-tun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أَخْوَالٌ · خَالَاتٌ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خَالِي · خَالَتِي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iḍāfa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8" name="Text 85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ابْنُ عَمِّي</a:t>
            </a:r>
            <a:endParaRPr lang="ar-SA" sz="3000" dirty="0"/>
          </a:p>
        </p:txBody>
      </p:sp>
      <p:sp>
        <p:nvSpPr>
          <p:cNvPr id="89" name="Text 86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cousin (uncle’s son)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ab-nu ʿam-mī</a:t>
            </a:r>
            <a:endParaRPr lang="en-US" sz="1350" dirty="0"/>
          </a:p>
        </p:txBody>
      </p:sp>
      <p:sp>
        <p:nvSpPr>
          <p:cNvPr id="90" name="Shape 87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أَوْلَادُ عَمِّي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بِنْتُ عَمِّي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· pl.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3" name="Text 100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جَدٌّ · جَدَّةٌ</a:t>
            </a:r>
            <a:endParaRPr lang="ar-SA" sz="3000" dirty="0"/>
          </a:p>
        </p:txBody>
      </p:sp>
      <p:sp>
        <p:nvSpPr>
          <p:cNvPr id="104" name="Text 101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grandfather · grandmother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jad-dun · jad-da-tun</a:t>
            </a:r>
            <a:endParaRPr lang="en-US" sz="1350" dirty="0"/>
          </a:p>
        </p:txBody>
      </p:sp>
      <p:sp>
        <p:nvSpPr>
          <p:cNvPr id="105" name="Shape 102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أَجْدَادٌ</a:t>
            </a:r>
            <a:endParaRPr lang="ar-SA" sz="1500" dirty="0"/>
          </a:p>
        </p:txBody>
      </p:sp>
      <p:sp>
        <p:nvSpPr>
          <p:cNvPr id="108" name="Shape 105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110" name="Text 107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جَدِّي · جَدَّتِي</a:t>
            </a:r>
            <a:endParaRPr lang="ar-SA" sz="1500" dirty="0"/>
          </a:p>
        </p:txBody>
      </p:sp>
      <p:sp>
        <p:nvSpPr>
          <p:cNvPr id="111" name="Text 108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FRIENDSHIP AND RELATIONSHIPS (M. · F. · PL.)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Getting on — and falling out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العَلَاقَاتُ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صَدِيقٌ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friend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ṣa-dī-qun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أَصْدِقَاءُ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صَدِيقَةٌ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صَدِيقٌ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we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أَتَّفِقُ مَعَ …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get on with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at-ta-fi-qu ma-ʿa …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نَتَّفِقُ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تَتَّفِقُ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يَتَّفِقُ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we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أَتَشَاجَرُ مَعَ …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argue with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a-ta-shā-ja-ru ma-ʿa …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نَتَشَاجَرُ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تَتَشَاجَرُ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يَتَشَاجَرُ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قَرِيبٌ مِنْ …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close to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qa-rī-bun min …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قَرِيبُونَ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قَرِيبَةٌ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قَرِيبٌ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superlatives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الأَكْبَرُ · الأَصْغَرُ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eldest · the youngest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al-ak-ba-ru · al-aṣ-gha-ru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4462272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الكُبْرَى · الصُّغْرَى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0" name="Shape 97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1" name="Text 98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· pl.</a:t>
            </a:r>
            <a:endParaRPr lang="en-US" sz="800" dirty="0"/>
          </a:p>
        </p:txBody>
      </p:sp>
      <p:sp>
        <p:nvSpPr>
          <p:cNvPr id="104" name="Shape 101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5" name="Text 102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6" name="Text 103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أُسْرَةٌ</a:t>
            </a:r>
            <a:endParaRPr lang="ar-SA" sz="3000" dirty="0"/>
          </a:p>
        </p:txBody>
      </p:sp>
      <p:sp>
        <p:nvSpPr>
          <p:cNvPr id="107" name="Text 104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family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us-ra-tun</a:t>
            </a:r>
            <a:endParaRPr lang="en-US" sz="1350" dirty="0"/>
          </a:p>
        </p:txBody>
      </p:sp>
      <p:sp>
        <p:nvSpPr>
          <p:cNvPr id="108" name="Shape 105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0" name="Text 107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أُسَرٌ</a:t>
            </a:r>
            <a:endParaRPr lang="ar-SA" sz="1500" dirty="0"/>
          </a:p>
        </p:txBody>
      </p:sp>
      <p:sp>
        <p:nvSpPr>
          <p:cNvPr id="111" name="Shape 108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113" name="Text 110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أُسْرَتِي</a:t>
            </a:r>
            <a:endParaRPr lang="ar-SA" sz="1500" dirty="0"/>
          </a:p>
        </p:txBody>
      </p:sp>
      <p:sp>
        <p:nvSpPr>
          <p:cNvPr id="114" name="Text 11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SHOWING A PHOTO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A family photo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صُورَةُ العَائِلَةِ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أُسْرَتِي … أَشْخَاصٍ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many people are in your family.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صُورَةٌ جَمِيلَةٌ! كَمْ شَخْصًا فِي أُسْرَتِكَ؟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… وَهُوَ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who the man is and his job.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هٰذَا الرَّجُلُ؟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هٰذِهِ … عُمْرُهَا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who she is and her age.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وَمَنْ هٰذِهِ البِنْتُ الصَّغِيرَةُ؟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جَدِّي وَجَدَّتِي يَسْكُنَانِ فِي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Talk about your grandparents.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أَجْدَادٌ؟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أَخِي الأَكْبَرُ / أُمِّي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أَقْرَبُ شَخْصٍ إِلَيْكَ؟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a friend looking at your photo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PLANNING A FAMILY VISIT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Visiting your cousins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زِيَارَةُ الأَقَارِبِ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سَنَزُورُكُمْ يَوْمَ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when you will visit.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يَا حَبِيبِي! مَتَى سَتَزُورُونَنَا؟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سَيَأْتِي … وَ…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who will come.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سَيَأْتِي مَعَكَ؟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حَالُ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how your cousins are.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أَوْلَادِي يَنْتَظِرُونَكَ!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… الَّتِي تَطْبُخِينَهَا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would like to eat.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نَعَمْ! مَاذَا تُحِبُّ أَنْ تَأْكُلَ؟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سَنَلْعَبُ … / سَنَخْرُجُ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سَتَفْعَلُونَ بَعْدَ الغَدَاءِ؟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your aunt on the phone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FRIEND’S PROBLEM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A friend has fallen out with her sister</a:t>
            </a:r>
            <a:endParaRPr lang="en-US" sz="18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مُشْكِلَةٌ عَائِلِيَّةٌ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تَحْزَنِي! مَاذَا …؟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Show sympathy and ask what happened.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تَشَاجَرْتُ مَعَ أُخْتِي أَمْسِ.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أَيْضًا … أَحْيَانًا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happens with your own sibling.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أَخَذَتْ مَلَابِسِي بِدُونِ إِذْنٍ.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… وَأَنْ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pieces of advice.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أَفْعَلُ الآنَ؟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لَا تَطْلُبِينَ مِنْ …؟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asking someone for help.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لٰكِنَّهَا أَكْبَرُ مِنِّي، وَلَا تَسْمَعُنِي!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كُنَّا … أَمَّا الآنَ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 + present).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أَنْتِ قَرِيبَةٌ مِنْ أَخِيكِ؟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good friend  ·  The examiner is: your friend who is upset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PODCAST ON FAMILIES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Families today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الأُسْرَةُ اليَوْمَ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كَانَتِ الأُسَرُ … أَمَّا اليَوْمَ فَيَسْكُنُ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past and present.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تَغَيَّرَتِ الأُسْرَةُ عَنْ أَيَّامِ أَجْدَادِكَ؟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جَدَّتِي … فَتَعَلَّمْتُ مِنْهَا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with a personal example.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دَوْرُ الأَجْدَادِ فِي حَيَاتِكَ؟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give your view.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الأَصْدِقَاءُ أَهَمُّ مِنَ العَائِلَةِ لِلْمُرَاهِقِينَ؟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تَجْعَلُنَا … فَمَثَلًا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an effect and an example.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تُؤَثِّرُ الهَوَاتِفُ فِي العَلَاقَاتِ العَائِلِيَّةِ؟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وَضَعْتُ قَاعِدَةً، لَمَنَعْتُ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وَضَعْتَ قَاعِدَةً وَاحِدَةً لِأُسْرَتِكَ، فَمَاذَا تَكُونُ؟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guest  ·  The examiner is: a podcast host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named family members with my (-ī) and gave ages or numbers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a dual or an iḍāfa and explained a relationship with a reason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أُسْرَتِي خَمْسَةُ أَشْخَاصٍ: أَبِي وَأُمِّي وَأَخَوَايَ وَأَنَا.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are five people in my family: my dad, my mum, my two brothers and me.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صُورَةٌ جَمِيلَةٌ! كَمْ شَخْصًا فِي أُسْرَتِكَ؟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أَبِي، وَهُوَ طَبِيبٌ فِي مُسْتَشْفًى كَبِيرٍ.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This is my father; he is a doctor in a big hospital.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هٰذَا الرَّجُلُ؟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هٰذِهِ بِنْتُ عَمِّي، عُمْرُهَا سِتُّ سَنَوَاتٍ.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This is my cousin; she is six.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وَمَنْ هٰذِهِ البِنْتُ الصَّغِيرَةُ؟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جَدِّي وَجَدَّتِي يَسْكُنَانِ فِي الأُرْدُنِّ.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my grandfather and grandmother live in Jordan.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أَجْدَادٌ؟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أَخِي الأَكْبَرُ، لِأَنَّهُ يُسَاعِدُنِي دَائِمًا.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older brother, because he always helps me.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أَقْرَبُ شَخْصٍ إِلَيْكَ؟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سَنَزُورُكُمْ يَوْمَ الجُمُعَةِ بَعْدَ الصَّلَاةِ، إِنْ شَاءَ اللّٰهُ.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will visit you on Friday after prayers, God willing.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يَا حَبِيبِي! مَتَى سَتَزُورُونَنَا؟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سَيَأْتِي أَبِي وَأُمِّي وَأُخْتَايَ الصَّغِيرَتَانِ.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dad, my mum and my two little sisters will come.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سَيَأْتِي مَعَكَ؟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وَكَيْفَ حَالُ أَوْلَادِ خَالَتِي؟ هَلْ نَجَحَ يُوسُفُ فِي الامْتِحَانِ؟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how are my cousins? Did Yusuf pass his exam?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أَوْلَادِي يَنْتَظِرُونَكَ!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المَنْسَفَ الَّذِي تَطْبُخِينَهُ، فَهُوَ أَلَذُّ مَنْسَفٍ فِي العَائِلَةِ!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love the mansaf you cook — it’s the tastiest mansaf in the family!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نَعَمْ! مَاذَا تُحِبُّ أَنْ تَأْكُلَ؟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سَنَلْعَبُ كُرَةَ القَدَمِ فِي الحَدِيقَةِ مَعَ أَوْلَادِ خَالَتِي.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will play football in the garden with my cousins.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سَتَفْعَلُونَ بَعْدَ الغَدَاءِ؟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تَحْزَنِي! مَاذَا حَدَثَ بِالضَّبْطِ؟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Don’t be sad! What exactly happened?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تَشَاجَرْتُ مَعَ أُخْتِي أَمْسِ.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أَيْضًا أَتَشَاجَرُ مَعَ أَخِي أَحْيَانًا، لِأَنَّهُ يَأْخُذُ أَغْرَاضِي.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also argue with my brother sometimes, because he takes my things.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أَخَذَتْ مَلَابِسِي بِدُونِ إِذْنٍ.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تَتَكَلَّمِي مَعَهَا بِهُدُوءٍ، وَأَنْ تَتَّفِقَا عَلَى قَوَاعِدَ وَاضِحَةٍ.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 should talk to her calmly, and you should both agree on clear rules.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أَفْعَلُ الآنَ؟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لَا تَطْلُبِينَ مِنْ أُمِّكِ أَنْ تَتَكَلَّمَ مَعَكُمَا؟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don’t you ask your mum to talk to both of you?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لٰكِنَّهَا أَكْبَرُ مِنِّي، وَلَا تَسْمَعُنِي!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كُنَّا نَتَشَاجَرُ كَثِيرًا وَنَحْنُ صِغَارٌ، أَمَّا الآنَ فَنَحْنُ صَدِيقَانِ.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argued a lot when we were little, but now we are friends.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أَنْتِ قَرِيبَةٌ مِنْ أَخِيكِ؟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كَانَتِ الأُسَرُ تَعِيشُ مَعًا فِي بَيْتٍ وَاحِدٍ كَبِيرٍ، أَمَّا اليَوْمَ فَيَسْكُنُ كُلُّ فَرْدٍ فِي مَدِينَةٍ.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Families used to live together in one big house; today each member lives in a different town.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تَغَيَّرَتِ الأُسْرَةُ عَنْ أَيَّامِ أَجْدَادِكَ؟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جَدَّتِي تَسْكُنُ مَعَنَا، وَتَحْكِي لَنَا قِصَصًا كُلَّ لَيْلَةٍ، فَتَعَلَّمْتُ مِنْهَا الصَّبْرَ وَالعَرَبِيَّةَ.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grandmother lives with us and tells us stories every night, so I learned patience and Arabic from her.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دَوْرُ الأَجْدَادِ فِي حَيَاتِكَ؟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المُرَاهِقِينَ يَقْضُونَ وَقْتًا أَطْوَلَ مَعَ أَصْدِقَائِهِمْ، غَيْرَ أَنَّ العَائِلَةَ تَبْقَى عِنْدَمَا يَذْهَبُ الأَصْدِقَاءُ.</a:t>
            </a:r>
            <a:endParaRPr lang="ar-SA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teenagers spend more time with friends, but family stays when friends leave.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الأَصْدِقَاءُ أَهَمُّ مِنَ العَائِلَةِ لِلْمُرَاهِقِينَ؟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تَجْعَلُنَا نَجْلِسُ مَعًا دُونَ أَنْ نَتَكَلَّمَ؛ فَمَثَلًا فِي العَشَاءِ يَنْظُرُ كُلُّ وَاحِدٍ إِلَى هَاتِفِهِ.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make us sit together without talking — at dinner, for example, everyone looks at their phone.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تُؤَثِّرُ الهَوَاتِفُ فِي العَلَاقَاتِ العَائِلِيَّةِ؟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وَضَعْتُ قَاعِدَةً، لَمَنَعْتُ الهَوَاتِفَ عَلَى المَائِدَةِ، لِكَيْ نَتَحَدَّثَ أَكْثَرَ.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made one rule, I would ban phones at the table, so that we talk more.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وَضَعْتَ قَاعِدَةً وَاحِدَةً لِأُسْرَتِكَ، فَمَاذَا تَكُونُ؟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past vs present, a personal example, ṣaḥīḥun anna … ghayra anna, dūna an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أُسْرَتِي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أُسْرَتِي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family.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أُسْرَتَكَ.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… وَ…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brothers and sisters do you have?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أَخًا وَأُخْتًا عِنْدَكَ؟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اسْمُ صَدِيقِي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best friend’s name?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اسْمُ صَدِيقِكَ المُفَضَّلِ؟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نَزُورُ … / نَأْكُلُ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with your family at the weekend?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مَعَ أُسْرَتِكَ فِي نِهَايَةِ الأُسْبُوعِ؟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أَتَّفِقُ مَعَ … لٰكِنْ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get on with your siblings?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تَتَّفِقُ مَعَ إِخْوَتِكَ؟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العَائِلَةُ وَالأَصْدِقَاءُ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صَدِيقِي … هُوَ … وَنَحْنُ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best friend.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صَدِيقَكَ المُفَضَّلَ.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تَعَرَّفْتُ إِلَيْهِ عِنْدَمَا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did you meet your friend?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تَعَرَّفْتَ إِلَى صَدِيقِكَ؟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… لِأَنَّهُ / لِأَنَّهَا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do you like most in your extended family?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تُحِبُّ أَكْثَرَ فِي عَائِلَتِكَ الكَبِيرَةِ؟ لِمَاذَا؟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الصَّدِيقُ الجَيِّدُ … وَلَا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makes a good friend?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صِفَاتُ الصَّدِيقِ الجَيِّدِ؟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سَنَزُورُ … وَسَنَأْكُلُ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will your family celebrate the next Eid?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سَتَحْتَفِلُ أُسْرَتُكَ بِالعِيدِ القَادِمِ؟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description, a reason, a past sentence and a future plan.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العَلَاقَاتُ وَالمُجْتَمَعُ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online friendship real friendship?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الصَّدَاقَةُ عَلَى الإِنْتَرْنِتِ صَدَاقَةٌ حَقِيقِيَّةٌ؟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لِأَنَّنَا … وَلِأَنَّ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do friendships change over time?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تَتَغَيَّرُ الصَّدَاقَاتُ مَعَ الوَقْتِ؟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grandparents live with their children?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يَسْكُنَ الأَجْدَادُ مَعَ أَوْلَادِهِمْ؟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… سَاعَدَنِي … فَنَجَحْتُ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time a family member helped you.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مَوْقِفًا سَاعَدَكَ فِيهِ أَحَدُ أَفْرَادِ أُسْرَتِكَ.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عِنْدِي …، لَمَا شَعَرْتُ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had a twin brother, what would your life be like?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عِنْدَكَ أَخٌ تَوْأَمٌ، كَيْفَ تَكُونُ حَيَاتُكَ؟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concession, a relative clause, two reasons, a past story with fa- and law … la- (lamā = would not).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أُسْرَتِي سِتَّةُ أَشْخَاصٍ، وَأَنَا الابْنُ الأَصْغَرُ.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are six people in my family, and I am the youngest son.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أُسْرَتَكَ.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أَخٌ وَاحِدٌ وَأُخْتَانِ.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have one brother and two sisters.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أَخًا وَأُخْتًا عِنْدَكَ؟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اسْمُ صَدِيقِي المُفَضَّلِ يَاسِرٌ، وَهُوَ فِي صَفِّي.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best friend is called Yasir; he is in my class.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اسْمُ صَدِيقِكَ المُفَضَّلِ؟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نَزُورُ جَدِّي وَجَدَّتِي، وَنَأْكُلُ الغَدَاءَ مَعًا.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visit my grandparents and have lunch together.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مَعَ أُسْرَتِكَ فِي نِهَايَةِ الأُسْبُوعِ؟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أَتَّفِقُ مَعَ أُخْتِي، لٰكِنِّي أَتَشَاجَرُ مَعَ أَخِي أَحْيَانًا.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get on with my sister, but I sometimes argue with my brother.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تَتَّفِقُ مَعَ إِخْوَتِكَ؟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number or a name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صَدِيقِي يَاسِرٌ طَوِيلٌ وَمَرِحٌ، وَنَحْنُ أَصْدِقَاءُ مُنْذُ المَدْرَسَةِ الابْتِدَائِيَّةِ.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friend Yasir is tall and funny, and we have been friends since primary school.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صَدِيقَكَ المُفَضَّلَ.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تَعَرَّفْتُ إِلَيْهِ عِنْدَمَا جَلَسْنَا مَعًا فِي الحَافِلَةِ فِي رِحْلَةٍ مَدْرَسِيَّةٍ.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met him when we sat together on the bus on a school trip.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تَعَرَّفْتَ إِلَى صَدِيقِكَ؟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خَالِي كَثِيرًا، لِأَنَّهُ مَرِحٌ وَيَأْخُذُنَا إِلَى مُبَارَيَاتِ كُرَةِ القَدَمِ.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love my uncle a lot, because he is fun and takes us to football matches.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تُحِبُّ أَكْثَرَ فِي عَائِلَتِكَ الكَبِيرَةِ؟ لِمَاذَا؟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الصَّدِيقُ الجَيِّدُ يَسْمَعُكَ وَيُسَاعِدُكَ، وَلَا يَتَكَلَّمُ عَنْكَ أَمَامَ الآخَرِينَ.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good friend listens and helps you, and doesn’t talk about you behind your back.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صِفَاتُ الصَّدِيقِ الجَيِّدِ؟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سَنَزُورُ كُلَّ الأَقَارِبِ، وَسَنَأْكُلُ الحَلَوِيَّاتِ، وَسَأَلْبَسُ مَلَابِسَ جَدِيدَةً.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will visit all our relatives, eat sweets, and I will wear new clothes.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سَتَحْتَفِلُ أُسْرَتُكَ بِالعِيدِ القَادِمِ؟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Description + reason + a past detail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أَنَّنَا نَتَعَرَّفُ إِلَى أَشْخَاصٍ رَائِعِينَ عَلَى الإِنْتَرْنِتِ، غَيْرَ أَنَّ الصَّدِيقَ الحَقِيقِيَّ هُوَ الَّذِي يَقِفُ بِجَانِبِكَ فِي الصُّعُوبَاتِ.</a:t>
            </a:r>
            <a:endParaRPr lang="ar-SA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we meet great people online, but a true friend is the one who stands by you in hard times.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الصَّدَاقَةُ عَلَى الإِنْتَرْنِتِ صَدَاقَةٌ حَقِيقِيَّةٌ؟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لِأَنَّنَا نَكْبُرُ وَتَتَغَيَّرُ اهْتِمَامَاتُنَا، وَلِأَنَّ بَعْضَ الأَصْدِقَاءِ يَنْتَقِلُونَ إِلَى مُدُنٍ أُخْرَى.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we grow up and our interests change, and because some friends move to other towns.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تَتَغَيَّرُ الصَّدَاقَاتُ مَعَ الوَقْتِ؟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ذٰلِكَ أَفْضَلُ، لِأَنَّ الأَجْدَادَ يُعْطُونَ الأَحْفَادَ الحِكْمَةَ، وَالأَحْفَادُ يُعْطُونَهُمُ الفَرَحَ.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think it is better, because grandparents give grandchildren wisdom, and grandchildren give them joy.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يَسْكُنَ الأَجْدَادُ مَعَ أَوْلَادِهِمْ؟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alladhī yaqifu, two reasons, a past story, law … lamā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رَسَبْتُ فِي امْتِحَانِ الرِّيَاضِيَّاتِ، دَرَسَ مَعِي أَخِي الأَكْبَرُ كُلَّ لَيْلَةٍ، فَنَجَحْتُ فِي المَرَّةِ التَّالِيَةِ.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I failed my maths exam, my older brother studied with me every night, so I passed the next time.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مَوْقِفًا سَاعَدَكَ فِيهِ أَحَدُ أَفْرَادِ أُسْرَتِكَ.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عِنْدِي أَخٌ تَوْأَمٌ، لَمَا شَعَرْتُ بِالوَحْدَةِ أَبَدًا، وَلَتَشَاجَرْنَا عَلَى كُلِّ شَيْءٍ!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had a twin brother, I would never feel lonely — and we would argue about everything!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عِنْدَكَ أَخٌ تَوْأَمٌ، كَيْفَ تَكُونُ حَيَاتُكَ؟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alladhī yaqifu, two reasons, a past story, law … lamā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named my family with my (abī, ummī, akhī).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numbers and ages correctly.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dual (ukhtāni) or an iḍāfa (ibnu ʿammī).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described a friend and said how we met (past).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concession, ammā … fa-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TB-L02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TB-L02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TB-L02 · Speaking Workshop — Family, Friends and Relationships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2026-10-11T08:50:01Z</dcterms:created>
  <dcterms:modified xsi:type="dcterms:W3CDTF">2026-10-11T08:50:01Z</dcterms:modified>
</cp:coreProperties>
</file>