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B, Lesson 10 (Topic B mixed practice — new neighbours, TB-L10), using that lesson’s language (mixed Topic B: profiles, family, description, home, hobbies, invitations; reference (-hu / -hā / -hum) and agreement).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the reading and listening skill: follow the pronouns. عِنْدَهُ (he has) · عِنْدَهَا (she has) · عِنْدَهُمْ (they have). Ask yourself after every -hu / -hā / -hum: who is it?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to a family use the plural: أَهْلًا وَسَهْلًا بِكُمْ · تَفَضَّلُوا. Plurals of people: جِيرَانٌ · لُطَفَاءُ · مُرَحِّبُونَ.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A (Core) — meeting the new neighbour.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مَعَكِ · تُحِبِّينَ — if the neighbour has a daughter: ابْنَتِي عُمْرُهَا … وَتُحِبُّ ….
Core: TB-L01 (introduce yourself), L02 (family), L04 (location), L08 (hobbies) in one card. Plural greeting bikum.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B (Core+) — helping them move in.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لِأَنَّكِ جِئْتِ · رَأْيُكِ · تُرِيدِينَ · تَعَالَيْ.
Core+: L05 furniture with -hā (naḍaʿuhā, naḥmiluhā), L04 floors, L06 colours as nouns, a relative clause (alladhī aṣlaḥa), L09 polite acceptance.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C (Develop) — telling your parent.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رَأَيْتِ · سَاعَدْتِهِمْ · مَا رَأْيُكِ (to a mother).
Develop: pronoun tracking (shaʿruhu, ibnatuhum, maṭbakhahum, sāʿadtahum), yabdū + accusative, laysa … baʿdu, sequencing.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D (Stretch) — a community radio show.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رَأْيِكِ · حَيِّكِ · نَظَّمْتِ.
Stretch: huwa alladhī, kāna + present vs ammā … fa-, a past story with ʿindamā … fa-, a dual verb (lā yaḍurrāni), law … la- with a relative clause.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Develop. Examiner asks the questions in order and may add “لِمَاذَا؟ / هَلْ يُمْكِنُ أَنْ تَشْرَحَ أَكْثَرَ؟” to push for more. Candidate aims for two or three sentences, mixing Topic B.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Stretch. Examiner asks the questions in order and may add “لِمَاذَا؟ / هَلْ يُمْكِنُ أَنْ تَشْرَحَ أَكْثَرَ؟” to push for more. Candidate aims for a developed answer: opinion, comparison,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B · EXAM PRACTICE  ·  TB-L10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TB-L10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Mixed Topic B: New Neighbours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التَّحَدُّثِ — الجِيرَانُ الجُدُدُ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 using all of Topic B: meet and describe new neighbours, their family, home and hobbies, and invite them — tracking who “he / she / they” refers to.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TB-L10 · Advanced Topic B · Personal and Social Life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B · A1+ → B1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B › TB-L10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WHO IS WHO? (HE · SHE · THEY)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Tracking the people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مَنْ هُوَ؟ مَنْ هِيَ؟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 · pl.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جَارٌ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neighbour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jā-run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1054303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9789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1058875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جِيرَانٌ</a:t>
            </a:r>
            <a:endParaRPr lang="ar-SA" sz="1500" dirty="0"/>
          </a:p>
        </p:txBody>
      </p:sp>
      <p:sp>
        <p:nvSpPr>
          <p:cNvPr id="27" name="Shape 24"/>
          <p:cNvSpPr/>
          <p:nvPr/>
        </p:nvSpPr>
        <p:spPr>
          <a:xfrm>
            <a:off x="939088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4575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943660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جَارَةٌ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823874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9360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828446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جَارٌ</a:t>
            </a:r>
            <a:endParaRPr lang="ar-SA" sz="1500" dirty="0"/>
          </a:p>
        </p:txBody>
      </p:sp>
      <p:sp>
        <p:nvSpPr>
          <p:cNvPr id="33" name="Shape 30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782312" y="1938528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782312" y="1938528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· she · we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انْتَقَلُوا إِلَى …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they moved to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an-ta-qa-lū i-lā …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672084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77570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we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676656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انْتَقَلْنَا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5568696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623560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5614416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انْتَقَلَتْ</a:t>
            </a:r>
            <a:endParaRPr lang="ar-SA" sz="1500" dirty="0"/>
          </a:p>
        </p:txBody>
      </p:sp>
      <p:sp>
        <p:nvSpPr>
          <p:cNvPr id="48" name="Shape 45"/>
          <p:cNvSpPr/>
          <p:nvPr/>
        </p:nvSpPr>
        <p:spPr>
          <a:xfrm>
            <a:off x="441655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7141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50" name="Text 47"/>
          <p:cNvSpPr txBox="1"/>
          <p:nvPr/>
        </p:nvSpPr>
        <p:spPr>
          <a:xfrm>
            <a:off x="446227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انْتَقَلَ</a:t>
            </a:r>
            <a:endParaRPr lang="ar-SA" sz="1500" dirty="0"/>
          </a:p>
        </p:txBody>
      </p:sp>
      <p:sp>
        <p:nvSpPr>
          <p:cNvPr id="51" name="Shape 48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960120" y="1938528"/>
            <a:ext cx="958291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960120" y="1938528"/>
            <a:ext cx="9582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impressions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يَبْدُو …</a:t>
            </a:r>
            <a:endParaRPr lang="ar-SA" sz="3000" dirty="0"/>
          </a:p>
        </p:txBody>
      </p:sp>
      <p:sp>
        <p:nvSpPr>
          <p:cNvPr id="59" name="Text 56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he seems / looks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yab-dū …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they</a:t>
            </a:r>
            <a:endParaRPr lang="en-US" sz="700" dirty="0"/>
          </a:p>
        </p:txBody>
      </p:sp>
      <p:sp>
        <p:nvSpPr>
          <p:cNvPr id="62" name="Text 59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يَبْدُونَ</a:t>
            </a:r>
            <a:endParaRPr lang="ar-SA" sz="1350" dirty="0"/>
          </a:p>
        </p:txBody>
      </p:sp>
      <p:sp>
        <p:nvSpPr>
          <p:cNvPr id="63" name="Shape 60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6400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تَبْدُو</a:t>
            </a:r>
            <a:endParaRPr lang="ar-SA" sz="1500" dirty="0"/>
          </a:p>
        </p:txBody>
      </p:sp>
      <p:sp>
        <p:nvSpPr>
          <p:cNvPr id="66" name="Shape 63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7" name="Shape 64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9" name="Shape 66"/>
          <p:cNvSpPr/>
          <p:nvPr/>
        </p:nvSpPr>
        <p:spPr>
          <a:xfrm>
            <a:off x="8604504" y="4279392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8604504" y="4279392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reference</a:t>
            </a:r>
            <a:endParaRPr lang="en-US" sz="800" dirty="0"/>
          </a:p>
        </p:txBody>
      </p:sp>
      <p:sp>
        <p:nvSpPr>
          <p:cNvPr id="71" name="Shape 68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3" name="Text 70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عِنْدَهُمْ …</a:t>
            </a:r>
            <a:endParaRPr lang="ar-SA" sz="3000" dirty="0"/>
          </a:p>
        </p:txBody>
      </p:sp>
      <p:sp>
        <p:nvSpPr>
          <p:cNvPr id="74" name="Text 71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they have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ʿin-da-hum …</a:t>
            </a:r>
            <a:endParaRPr lang="en-US" sz="1350" dirty="0"/>
          </a:p>
        </p:txBody>
      </p:sp>
      <p:sp>
        <p:nvSpPr>
          <p:cNvPr id="75" name="Shape 72"/>
          <p:cNvSpPr/>
          <p:nvPr/>
        </p:nvSpPr>
        <p:spPr>
          <a:xfrm>
            <a:off x="10543032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10597896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we</a:t>
            </a:r>
            <a:endParaRPr lang="en-US" sz="750" dirty="0"/>
          </a:p>
        </p:txBody>
      </p:sp>
      <p:sp>
        <p:nvSpPr>
          <p:cNvPr id="77" name="Text 74"/>
          <p:cNvSpPr txBox="1"/>
          <p:nvPr/>
        </p:nvSpPr>
        <p:spPr>
          <a:xfrm>
            <a:off x="10588752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عِنْدَنَا</a:t>
            </a:r>
            <a:endParaRPr lang="ar-SA" sz="1500" dirty="0"/>
          </a:p>
        </p:txBody>
      </p:sp>
      <p:sp>
        <p:nvSpPr>
          <p:cNvPr id="78" name="Shape 75"/>
          <p:cNvSpPr/>
          <p:nvPr/>
        </p:nvSpPr>
        <p:spPr>
          <a:xfrm>
            <a:off x="939088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944575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80" name="Text 77"/>
          <p:cNvSpPr txBox="1"/>
          <p:nvPr/>
        </p:nvSpPr>
        <p:spPr>
          <a:xfrm>
            <a:off x="9436608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عِنْدَهَا</a:t>
            </a:r>
            <a:endParaRPr lang="ar-SA" sz="1500" dirty="0"/>
          </a:p>
        </p:txBody>
      </p:sp>
      <p:sp>
        <p:nvSpPr>
          <p:cNvPr id="81" name="Shape 78"/>
          <p:cNvSpPr/>
          <p:nvPr/>
        </p:nvSpPr>
        <p:spPr>
          <a:xfrm>
            <a:off x="823874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829360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83" name="Text 80"/>
          <p:cNvSpPr txBox="1"/>
          <p:nvPr/>
        </p:nvSpPr>
        <p:spPr>
          <a:xfrm>
            <a:off x="8284464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عِنْدَهُ</a:t>
            </a:r>
            <a:endParaRPr lang="ar-SA" sz="1500" dirty="0"/>
          </a:p>
        </p:txBody>
      </p:sp>
      <p:sp>
        <p:nvSpPr>
          <p:cNvPr id="84" name="Shape 81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5" name="Shape 82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6" name="Text 83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87" name="Shape 84"/>
          <p:cNvSpPr/>
          <p:nvPr/>
        </p:nvSpPr>
        <p:spPr>
          <a:xfrm>
            <a:off x="4782312" y="4279392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782312" y="4279392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reference</a:t>
            </a:r>
            <a:endParaRPr lang="en-US" sz="800" dirty="0"/>
          </a:p>
        </p:txBody>
      </p:sp>
      <p:sp>
        <p:nvSpPr>
          <p:cNvPr id="89" name="Shape 86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0" name="Text 87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1" name="Text 88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أَوْلَادُهُمْ</a:t>
            </a:r>
            <a:endParaRPr lang="ar-SA" sz="3000" dirty="0"/>
          </a:p>
        </p:txBody>
      </p:sp>
      <p:sp>
        <p:nvSpPr>
          <p:cNvPr id="92" name="Text 89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their children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aw-lā-du-hum</a:t>
            </a:r>
            <a:endParaRPr lang="en-US" sz="1350" dirty="0"/>
          </a:p>
        </p:txBody>
      </p:sp>
      <p:sp>
        <p:nvSpPr>
          <p:cNvPr id="93" name="Shape 90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her</a:t>
            </a:r>
            <a:endParaRPr lang="en-US" sz="750" dirty="0"/>
          </a:p>
        </p:txBody>
      </p:sp>
      <p:sp>
        <p:nvSpPr>
          <p:cNvPr id="95" name="Text 92"/>
          <p:cNvSpPr txBox="1"/>
          <p:nvPr/>
        </p:nvSpPr>
        <p:spPr>
          <a:xfrm>
            <a:off x="6190488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أَوْلَادُهَا</a:t>
            </a:r>
            <a:endParaRPr lang="ar-SA" sz="1500" dirty="0"/>
          </a:p>
        </p:txBody>
      </p:sp>
      <p:sp>
        <p:nvSpPr>
          <p:cNvPr id="96" name="Shape 93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7" name="Text 94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his</a:t>
            </a:r>
            <a:endParaRPr lang="en-US" sz="750" dirty="0"/>
          </a:p>
        </p:txBody>
      </p:sp>
      <p:sp>
        <p:nvSpPr>
          <p:cNvPr id="98" name="Text 95"/>
          <p:cNvSpPr txBox="1"/>
          <p:nvPr/>
        </p:nvSpPr>
        <p:spPr>
          <a:xfrm>
            <a:off x="4462272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أَوْلَادُهُ</a:t>
            </a:r>
            <a:endParaRPr lang="ar-SA" sz="1500" dirty="0"/>
          </a:p>
        </p:txBody>
      </p:sp>
      <p:sp>
        <p:nvSpPr>
          <p:cNvPr id="99" name="Shape 96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00" name="Shape 97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01" name="Text 98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102" name="Shape 99"/>
          <p:cNvSpPr/>
          <p:nvPr/>
        </p:nvSpPr>
        <p:spPr>
          <a:xfrm>
            <a:off x="960120" y="4279392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960120" y="4279392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 · pl.</a:t>
            </a:r>
            <a:endParaRPr lang="en-US" sz="800" dirty="0"/>
          </a:p>
        </p:txBody>
      </p:sp>
      <p:sp>
        <p:nvSpPr>
          <p:cNvPr id="104" name="Shape 101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5" name="Text 102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06" name="Text 103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مُرَحِّبٌ</a:t>
            </a:r>
            <a:endParaRPr lang="ar-SA" sz="3000" dirty="0"/>
          </a:p>
        </p:txBody>
      </p:sp>
      <p:sp>
        <p:nvSpPr>
          <p:cNvPr id="107" name="Text 104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welcoming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mu-raḥ-ḥi-bun</a:t>
            </a:r>
            <a:endParaRPr lang="en-US" sz="1350" dirty="0"/>
          </a:p>
        </p:txBody>
      </p:sp>
      <p:sp>
        <p:nvSpPr>
          <p:cNvPr id="108" name="Shape 105"/>
          <p:cNvSpPr/>
          <p:nvPr/>
        </p:nvSpPr>
        <p:spPr>
          <a:xfrm>
            <a:off x="289864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9" name="Text 106"/>
          <p:cNvSpPr txBox="1"/>
          <p:nvPr/>
        </p:nvSpPr>
        <p:spPr>
          <a:xfrm>
            <a:off x="295351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110" name="Text 107"/>
          <p:cNvSpPr txBox="1"/>
          <p:nvPr/>
        </p:nvSpPr>
        <p:spPr>
          <a:xfrm>
            <a:off x="2944368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مُرَحِّبُونَ</a:t>
            </a:r>
            <a:endParaRPr lang="ar-SA" sz="1500" dirty="0"/>
          </a:p>
        </p:txBody>
      </p:sp>
      <p:sp>
        <p:nvSpPr>
          <p:cNvPr id="111" name="Shape 108"/>
          <p:cNvSpPr/>
          <p:nvPr/>
        </p:nvSpPr>
        <p:spPr>
          <a:xfrm>
            <a:off x="174650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12" name="Text 109"/>
          <p:cNvSpPr txBox="1"/>
          <p:nvPr/>
        </p:nvSpPr>
        <p:spPr>
          <a:xfrm>
            <a:off x="180136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113" name="Text 110"/>
          <p:cNvSpPr txBox="1"/>
          <p:nvPr/>
        </p:nvSpPr>
        <p:spPr>
          <a:xfrm>
            <a:off x="1792224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مُرَحِّبَةٌ</a:t>
            </a:r>
            <a:endParaRPr lang="ar-SA" sz="1500" dirty="0"/>
          </a:p>
        </p:txBody>
      </p:sp>
      <p:sp>
        <p:nvSpPr>
          <p:cNvPr id="114" name="Shape 111"/>
          <p:cNvSpPr/>
          <p:nvPr/>
        </p:nvSpPr>
        <p:spPr>
          <a:xfrm>
            <a:off x="594360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15" name="Text 112"/>
          <p:cNvSpPr txBox="1"/>
          <p:nvPr/>
        </p:nvSpPr>
        <p:spPr>
          <a:xfrm>
            <a:off x="649224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116" name="Text 113"/>
          <p:cNvSpPr txBox="1"/>
          <p:nvPr/>
        </p:nvSpPr>
        <p:spPr>
          <a:xfrm>
            <a:off x="640080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مُرَحِّبٌ</a:t>
            </a:r>
            <a:endParaRPr lang="ar-SA" sz="1500" dirty="0"/>
          </a:p>
        </p:txBody>
      </p:sp>
      <p:sp>
        <p:nvSpPr>
          <p:cNvPr id="117" name="Text 11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WELCOMING AND DESCRIBING (M. · F. · PL.)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Welcome to the street!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 بِكُمْ!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greeting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 وَسَهْلًا بِكُمْ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welcome (to you all)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ah-lan wa-sah-lan bi-kum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بِكِ</a:t>
            </a:r>
            <a:endParaRPr lang="ar-SA" sz="150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بِكَ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· past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نَتَعَرَّفُ عَلَى …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we get to know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na-ta-ʿar-ra-fu ʿa-lā …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past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تَعَرَّفْنَا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أَتَعَرَّفُ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 · they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يُشْبِهُ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he looks like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yush-bi-hu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they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يُشْبِهُونَ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تُشْبِهُ</a:t>
            </a:r>
            <a:endParaRPr lang="ar-SA" sz="150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 · pl.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لَطِيفٌ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kind, nice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la-ṭī-fun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10543032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597896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71" name="Text 68"/>
          <p:cNvSpPr txBox="1"/>
          <p:nvPr/>
        </p:nvSpPr>
        <p:spPr>
          <a:xfrm>
            <a:off x="10588752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لُطَفَاءُ</a:t>
            </a:r>
            <a:endParaRPr lang="ar-SA" sz="1500" dirty="0"/>
          </a:p>
        </p:txBody>
      </p:sp>
      <p:sp>
        <p:nvSpPr>
          <p:cNvPr id="72" name="Shape 69"/>
          <p:cNvSpPr/>
          <p:nvPr/>
        </p:nvSpPr>
        <p:spPr>
          <a:xfrm>
            <a:off x="939088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944575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74" name="Text 71"/>
          <p:cNvSpPr txBox="1"/>
          <p:nvPr/>
        </p:nvSpPr>
        <p:spPr>
          <a:xfrm>
            <a:off x="9436608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لَطِيفَةٌ</a:t>
            </a:r>
            <a:endParaRPr lang="ar-SA" sz="1500" dirty="0"/>
          </a:p>
        </p:txBody>
      </p:sp>
      <p:sp>
        <p:nvSpPr>
          <p:cNvPr id="75" name="Shape 72"/>
          <p:cNvSpPr/>
          <p:nvPr/>
        </p:nvSpPr>
        <p:spPr>
          <a:xfrm>
            <a:off x="823874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829360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77" name="Text 74"/>
          <p:cNvSpPr txBox="1"/>
          <p:nvPr/>
        </p:nvSpPr>
        <p:spPr>
          <a:xfrm>
            <a:off x="8284464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لَطِيفٌ</a:t>
            </a:r>
            <a:endParaRPr lang="ar-SA" sz="1500" dirty="0"/>
          </a:p>
        </p:txBody>
      </p:sp>
      <p:sp>
        <p:nvSpPr>
          <p:cNvPr id="78" name="Shape 75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9" name="Shape 76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0" name="Text 77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81" name="Shape 78"/>
          <p:cNvSpPr/>
          <p:nvPr/>
        </p:nvSpPr>
        <p:spPr>
          <a:xfrm>
            <a:off x="4782312" y="4279392"/>
            <a:ext cx="151790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4782312" y="427939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help · can I help?</a:t>
            </a:r>
            <a:endParaRPr lang="en-US" sz="800" dirty="0"/>
          </a:p>
        </p:txBody>
      </p:sp>
      <p:sp>
        <p:nvSpPr>
          <p:cNvPr id="83" name="Shape 80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5" name="Text 82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مُسَاعَدَةٌ</a:t>
            </a:r>
            <a:endParaRPr lang="ar-SA" sz="3000" dirty="0"/>
          </a:p>
        </p:txBody>
      </p:sp>
      <p:sp>
        <p:nvSpPr>
          <p:cNvPr id="86" name="Text 83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help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mu-sā-ʿa-da-tun</a:t>
            </a:r>
            <a:endParaRPr lang="en-US" sz="1350" dirty="0"/>
          </a:p>
        </p:txBody>
      </p:sp>
      <p:sp>
        <p:nvSpPr>
          <p:cNvPr id="87" name="Shape 84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can I help?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أُسَاعِدُكُمْ؟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help</a:t>
            </a:r>
            <a:endParaRPr lang="en-US" sz="700" dirty="0"/>
          </a:p>
        </p:txBody>
      </p:sp>
      <p:sp>
        <p:nvSpPr>
          <p:cNvPr id="92" name="Text 89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أُسَاعِدُ</a:t>
            </a:r>
            <a:endParaRPr lang="ar-SA" sz="1350" dirty="0"/>
          </a:p>
        </p:txBody>
      </p:sp>
      <p:sp>
        <p:nvSpPr>
          <p:cNvPr id="93" name="Shape 90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4" name="Shape 91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5" name="Text 92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6" name="Shape 93"/>
          <p:cNvSpPr/>
          <p:nvPr/>
        </p:nvSpPr>
        <p:spPr>
          <a:xfrm>
            <a:off x="960120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7" name="Text 94"/>
          <p:cNvSpPr txBox="1"/>
          <p:nvPr/>
        </p:nvSpPr>
        <p:spPr>
          <a:xfrm>
            <a:off x="960120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polite</a:t>
            </a:r>
            <a:endParaRPr lang="en-US" sz="800" dirty="0"/>
          </a:p>
        </p:txBody>
      </p:sp>
      <p:sp>
        <p:nvSpPr>
          <p:cNvPr id="98" name="Shape 95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9" name="Text 96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00" name="Text 97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تَفَضَّلُوا</a:t>
            </a:r>
            <a:endParaRPr lang="ar-SA" sz="3000" dirty="0"/>
          </a:p>
        </p:txBody>
      </p:sp>
      <p:sp>
        <p:nvSpPr>
          <p:cNvPr id="101" name="Text 98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please come in (pl.)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ta-faḍ-ḍa-lū</a:t>
            </a:r>
            <a:endParaRPr lang="en-US" sz="1350" dirty="0"/>
          </a:p>
        </p:txBody>
      </p:sp>
      <p:sp>
        <p:nvSpPr>
          <p:cNvPr id="102" name="Shape 99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104" name="Text 101"/>
          <p:cNvSpPr txBox="1"/>
          <p:nvPr/>
        </p:nvSpPr>
        <p:spPr>
          <a:xfrm>
            <a:off x="2368296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تَفَضَّلِي</a:t>
            </a:r>
            <a:endParaRPr lang="ar-SA" sz="1500" dirty="0"/>
          </a:p>
        </p:txBody>
      </p:sp>
      <p:sp>
        <p:nvSpPr>
          <p:cNvPr id="105" name="Shape 102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107" name="Text 104"/>
          <p:cNvSpPr txBox="1"/>
          <p:nvPr/>
        </p:nvSpPr>
        <p:spPr>
          <a:xfrm>
            <a:off x="6400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تَفَضَّلْ</a:t>
            </a:r>
            <a:endParaRPr lang="ar-SA" sz="1500" dirty="0"/>
          </a:p>
        </p:txBody>
      </p:sp>
      <p:sp>
        <p:nvSpPr>
          <p:cNvPr id="108" name="Text 10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MEETING THE NEW NEIGHBOUR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Welcoming the new neighbour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جَارٌ جَدِيدٌ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 وَسَهْلًا بِكُمْ! أَنَا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Welcome them and introduce yourself.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مَرْحَبًا، نَحْنُ الجِيرَانُ الجُدُدُ.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أَسْكُنُ مَعَ … وَ…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who is in your family.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مَنْ يَسْكُنُ مَعَكَ؟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المَسْجِدُ … بِجَانِبِ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where it is.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يُوجَدُ مَسْجِدٌ قَرِيبٌ؟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رَائِعٌ! نَسْتَطِيعُ أَنْ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and he could do together.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ابْنِي عُمْرُهُ أَرْبَعَ عَشْرَةَ سَنَةً، وَيُحِبُّ كُرَةَ القَدَمِ.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لِأَنَّهُ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تُحِبُّ هٰذَا الشَّارِعَ؟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teenager  ·  The examiner is: your new neighbour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HELPING THEM MOVE 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Helping with the furniture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نُسَاعِدُ الجِيرَانَ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نَضَعُهَا فِي … أَمَامَ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Suggest where to put it.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شُكْرًا لِأَنَّكَ جِئْتَ! أَيْنَ نَضَعُ هٰذِهِ الكَنَبَةَ؟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هِيَ ثَقِيلَةٌ … نَحْمِلُهَا إِلَى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where, and that it is heavy.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وَهٰذِهِ الخِزَانَةُ الكَبِيرَةُ؟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اللَّوْنُ … لٰكِنَّ … أَفْضَلُ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an opinion on the colour.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رَأْيُكَ فِي لَوْنِ الجُدْرَانِ؟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المُشْكِلَةُ؟ هَلْ …؟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what the problem is and offer help.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الثَّلَّاجَةُ لَا تَعْمَلُ!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بِكُلِّ سُرُورٍ / شُكْرًا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Accept politely.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تَعَالَ نَشْرَبِ الشَّايَ!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helpful neighbour  ·  The examiner is: the new neighbour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TELLING YOUR PARENT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“What are the new neighbours like?”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الجِيرَانُ الجُدُدُ؟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هُمْ … : أَبٌ وَأُمٌّ وَ…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how many and who they are.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رَأَيْتَ الجِيرَانَ الجُدُدَ؟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هُوَ … وَشَعْرُهُ … وَيَبْدُو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him (looks + personality).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شَكْلُ الأَبِ؟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ابْنَتُهُمُ الكُبْرَى … تُحِبُّ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one child and a hobby.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وَالأَوْلَادُ؟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رَأْيُكَ أَنْ نَدْعُوَهُمْ … لِأَنَّ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Suggest an idea with a reason.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رَائِعٌ! مَاذَا نَفْعَلُ لِنُرَحِّبَ بِهِمْ؟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أَوَّلًا … ثُمَّ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(past + sequence).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سَاعَدْتَهُمُ اليَوْمَ؟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teenager  ·  The examiner is: your parent, just home from work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COMMUNITY RADIO SHOW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What makes a good neighbourhood?</a:t>
            </a:r>
            <a:endParaRPr lang="en-US" sz="19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الحَيُّ الجَيِّدُ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الجَارُ الجَيِّدُ هُوَ الَّذِي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qualities with a relative clause.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صِفَاتُ الجَارِ الجَيِّدِ فِي رَأْيِكَ؟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… أَمَّا اليَوْمَ فَكَثِيرٌ مِنَّا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past and present.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يَعْرِفُ النَّاسُ جِيرَانَهُمُ اليَوْمَ؟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… عِنْدَمَا … فَتَعَشَّيْنَا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Tell a short past story.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أَعْطِنَا مِثَالًا مِنْ حَيِّكَ.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give your view.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 الخُصُوصِيَّةَ مُهِمَّةٌ أَيْضًا!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نَظَّمْتُ …، لَأَقَمْتُ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نَظَّمْتَ حَدَثًا لِحَيِّكَ، مَاذَا يَكُونُ؟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young resident  ·  The examiner is: a community-radio presenter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described people (family, looks, home) with the right pronouns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track of he / she / they and gave an impression with a reason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 وَسَهْلًا بِكُمْ! أَنَا يُوسُفُ، وَأَسْكُنُ فِي البَيْتِ رَقْمِ عَشَرَةٍ.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Welcome! I’m Yusuf, and I live at number ten.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مَرْحَبًا، نَحْنُ الجِيرَانُ الجُدُدُ.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أَسْكُنُ مَعَ أَبِي وَأُمِّي وَأُخْتِي الصَّغِيرَةِ.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live with my dad, my mum and my little sister.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مَنْ يَسْكُنُ مَعَكَ؟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المَسْجِدُ فِي آخِرِ الشَّارِعِ، بِجَانِبِ المَخْبَزِ.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the mosque is at the end of the street, next to the bakery.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يُوجَدُ مَسْجِدٌ قَرِيبٌ؟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رَائِعٌ! نَسْتَطِيعُ أَنْ نَلْعَبَ مَعًا فِي الحَدِيقَةِ يَوْمَ السَّبْتِ.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Great! We can play together in the park on Saturday.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ابْنِي عُمْرُهُ أَرْبَعَ عَشْرَةَ سَنَةً، وَيُحِبُّ كُرَةَ القَدَمِ.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لِأَنَّهُ هَادِئٌ، وَالجِيرَانُ لُطَفَاءُ جِدًّا.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because it is quiet and the neighbours are very kind.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تُحِبُّ هٰذَا الشَّارِعَ؟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نَضَعُهَا فِي غُرْفَةِ الجُلُوسِ، أَمَامَ التِّلْفَازِ.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Let’s put it in the living room, in front of the TV.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شُكْرًا لِأَنَّكَ جِئْتَ! أَيْنَ نَضَعُ هٰذِهِ الكَنَبَةَ؟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هِيَ ثَقِيلَةٌ جِدًّا! نَحْمِلُهَا مَعًا إِلَى غُرْفَةِ النَّوْمِ فِي الطَّابِقِ الأَوَّلِ.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It’s very heavy! Let’s carry it together to the bedroom on the first floor.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وَهٰذِهِ الخِزَانَةُ الكَبِيرَةُ؟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اللَّوْنُ الأَصْفَرُ جَمِيلٌ، لٰكِنَّ الأَبْيَضَ أَفْضَلُ لِغُرْفَةٍ صَغِيرَةٍ.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yellow is nice, but white is better for a small room.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رَأْيُكَ فِي لَوْنِ الجُدْرَانِ؟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المُشْكِلَةُ بِالضَّبْطِ؟ هَلْ تُرِيدُ رَقْمَ الفَنِّيِّ الَّذِي أَصْلَحَ ثَلَّاجَتَنَا؟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exactly is the problem? Do you want the number of the technician who fixed our fridge?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الثَّلَّاجَةُ لَا تَعْمَلُ!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بِكُلِّ سُرُورٍ، شُكْرًا جَزِيلًا!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With pleasure, thank you very much!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تَعَالَ نَشْرَبِ الشَّايَ!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هُمْ خَمْسَةٌ: أَبٌ وَأُمٌّ وَثَلَاثَةُ أَوْلَادٍ، وَجَاؤُوا مِنَ المَغْرِبِ.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there are five of them: a father, a mother and three children; they came from Morocco.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رَأَيْتَ الجِيرَانَ الجُدُدَ؟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هُوَ طَوِيلٌ، وَشَعْرُهُ رَمَادِيٌّ، وَيَبْدُو هَادِئًا وَمُرَحِّبًا.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He is tall with grey hair, and seems calm and welcoming.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شَكْلُ الأَبِ؟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ابْنَتُهُمُ الكُبْرَى فِي عُمْرِي، وَتُحِبُّ الرَّسْمَ، وَسَتَدْرُسُ فِي مَدْرَسَتِي.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Their eldest daughter is my age; she loves drawing and will study at my school.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وَالأَوْلَادُ؟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رَأْيُكَ أَنْ نَدْعُوَهُمْ إِلَى العَشَاءِ يَوْمَ الجُمُعَةِ، لِأَنَّ مَطْبَخَهُمْ لَيْسَ جَاهِزًا بَعْدُ؟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about inviting them to dinner on Friday, because their kitchen isn’t ready yet?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رَائِعٌ! مَاذَا نَفْعَلُ لِنُرَحِّبَ بِهِمْ؟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أَوَّلًا حَمَلْتُ الصَّنَادِيقَ مَعَ الأَبِ، ثُمَّ رَكَّبْتُ سَرِيرَ الوَلَدِ الصَّغِيرِ.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 — first I carried boxes with the father, then I put together the little boy’s bed.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سَاعَدْتَهُمُ اليَوْمَ؟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الجَارُ الجَيِّدُ هُوَ الَّذِي يَحْتَرِمُ خُصُوصِيَّتَكَ، وَيُسَاعِدُكَ عِنْدَمَا تَحْتَاجُ إِلَيْهِ.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good neighbour is one who respects your privacy and helps you when you need them.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صِفَاتُ الجَارِ الجَيِّدِ فِي رَأْيِكَ؟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الجِيرَانُ يَتَبَادَلُونَ الطَّعَامَ وَالزِّيَارَاتِ، أَمَّا اليَوْمَ فَكَثِيرٌ مِنَّا لَا يَعْرِفُ اسْمَ جَارِهِ.</a:t>
            </a:r>
            <a:endParaRPr lang="ar-SA" sz="175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Neighbours used to exchange food and visits; today many of us don’t know our neighbour’s name.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يَعْرِفُ النَّاسُ جِيرَانَهُمُ اليَوْمَ؟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الشِّتَاءِ المَاضِي، عِنْدَمَا انْقَطَعَتِ الكَهْرَبَاءُ، دَعَتْنَا جَارَتُنَا العَجُوزُ إِلَى بَيْتِهَا، فَتَعَشَّيْنَا عَلَى ضَوْءِ الشُّمُوعِ.</a:t>
            </a:r>
            <a:endParaRPr lang="ar-SA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Last winter, when the power went off, our elderly neighbour invited us to her home and we had dinner by candlelight.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أَعْطِنَا مِثَالًا مِنْ حَيِّكَ.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لِكُلِّ أُسْرَةٍ خُصُوصِيَّتَهَا، غَيْرَ أَنَّ التَّحِيَّةَ وَالسُّؤَالَ عَنِ الجَارِ لَا يَضُرَّانِ أَحَدًا.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true every family has its privacy, but greeting and asking after a neighbour harm no one.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 الخُصُوصِيَّةَ مُهِمَّةٌ أَيْضًا!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نَظَّمْتُ حَدَثًا، لَأَقَمْتُ غَدَاءً فِي الشَّارِعِ، يُحْضِرُ فِيهِ كُلُّ بَيْتٍ طَبَقًا مِنْ بَلَدِهِ.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organised an event, I would hold a street lunch where every house brings a dish from its country.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نَظَّمْتَ حَدَثًا لِحَيِّكَ، مَاذَا يَكُونُ؟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relative clause, past vs present, a story, ṣaḥīḥun anna … ghayra anna and law … la- — all of Topic B.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وَجِيرَانِي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جِيرَانُنَا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Who are your neighbours?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مَنْ جِيرَانُكَ؟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جَارُنَا / جَارَتُنَا … هُوَ / هِيَ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one of your neighbours.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أَحَدَ جِيرَانِكَ.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بَيْتُنَا … وَبَابُهُ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colour is your house?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لَوْنُ بَيْتِكُمْ؟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نَلْعَبُ … / نَذْهَبُ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do with friends in your area?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تَفْعَلُ مَعَ أَصْدِقَائِكَ فِي الحَيِّ؟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دَعَوْنَاهُمْ إِلَى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Have you invited your neighbours home?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دَعَوْتَ جِيرَانَكَ إِلَى بَيْتِكُمْ؟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حَيِّي وَالنَّاسُ فِيهِ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شَارِعِي … فِيهِ … البُيُوتُ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 street and its houses.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شَارِعَكَ وَبُيُوتَهُ.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… اسْمُهُ … وَهُوَ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one of your neighbours your friend? Describe them.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عِنْدَكَ صَدِيقٌ مِنْ جِيرَانِكَ؟ صِفْهُ.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… ثُمَّ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did you welcome new neighbours?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رَحَّبْتُمْ بِجِيرَانٍ جُدُدٍ؟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… لٰكِنِّي لَا أُحِبُّ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like and dislike about your area?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الَّذِي تُحِبُّهُ وَمَا الَّذِي لَا تُحِبُّهُ فِي حَيِّكَ؟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أَسْكُنَ فِي … لِأَنَّ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do you want to live in future?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تُرِيدُ أَنْ تَسْكُنَ فِي المُسْتَقْبَلِ؟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description, sequencing, a dual adjective (al-qarībatayn) and a reason.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الجِيرَةُ وَالمُجْتَمَعُ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 … فَمَهْمَا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 does the proverb say “the neighbour before the house”?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يَقُولُ المَثَلُ «الجَارُ قَبْلَ الدَّارِ»؟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big cities make people lonelier?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المُدُنُ الكَبِيرَةُ تَجْعَلُ النَّاسَ أَكْثَرَ وَحْدَةً؟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الجِيرَانُ … أَمَّا اليَوْمَ فَتُغْلِقُ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were neighbour relations like in your grandparents’ day?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كَانَتِ العَلَاقَةُ بَيْنَ الجِيرَانِ فِي أَيَّامِ أَجْدَادِكَ؟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جَارُنَا … الَّذِي … عَلَّمَنِي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neighbour who influenced your life.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جَارًا أَثَّرَ فِي حَيَاتِكَ.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انْتَقَلْتُ …، لَطَرَقْتُ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moved to a new country, how would you get to know your neighbours?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انْتَقَلْتَ إِلَى بَلَدٍ جَدِيدٍ، كَيْفَ تَتَعَرَّفُ عَلَى جِيرَانِكَ؟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mahmā, a concession, kāna + present vs ammā … fa-, alladhī kāna, and law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جِيرَانُنَا أُسْرَةٌ بَاكِسْتَانِيَّةٌ، عِنْدَهُمْ وَلَدَانِ.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Our neighbours are a Pakistani family; they have two boys.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مَنْ جِيرَانُكَ؟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جَارَتُنَا عَجُوزٌ لَطِيفَةٌ، وَشَعْرُهَا أَبْيَضُ.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Our neighbour is a kind old lady with white hair.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أَحَدَ جِيرَانِكَ.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بَيْتُنَا أَبْيَضُ، وَبَابُهُ أَزْرَقُ.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Our house is white, and its door is blue.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لَوْنُ بَيْتِكُمْ؟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نَلْعَبُ كُرَةَ السَّلَّةِ فِي الحَدِيقَةِ بَعْدَ المَدْرَسَةِ.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play basketball in the park after school.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تَفْعَلُ مَعَ أَصْدِقَائِكَ فِي الحَيِّ؟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دَعَوْنَاهُمْ إِلَى الإِفْطَارِ فِي رَمَضَانَ.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we invited them to iftar in Ramadan.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دَعَوْتَ جِيرَانَكَ إِلَى بَيْتِكُمْ؟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the right pronoun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شَارِعِي طَوِيلٌ وَهَادِئٌ، فِيهِ عِشْرُونَ بَيْتًا، وَالبُيُوتُ قَدِيمَةٌ وَمَصْنُوعَةٌ مِنَ الطُّوبِ الأَحْمَرِ.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street is long and quiet, with twenty houses — old ones, made of red brick.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شَارِعَكَ وَبُيُوتَهُ.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ابْنُ جِيرَانِنَا اسْمُهُ عَلِيٌّ، وَهُوَ مَرِحٌ، وَنَلْعَبُ أَلْعَابَ الفِيدْيُو مَعًا أَحْيَانًا.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our neighbours’ son is called Ali; he’s funny, and we sometimes play video games together.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عِنْدَكَ صَدِيقٌ مِنْ جِيرَانِكَ؟ صِفْهُ.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أَخَذْنَا لَهُمْ كَعْكَةً، ثُمَّ سَاعَدْنَاهُمْ فِي نَقْلِ الأَثَاثِ.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First we took them a cake, then helped them move the furniture.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رَحَّبْتُمْ بِجِيرَانٍ جُدُدٍ؟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الحَدِيقَةَ وَالمَكْتَبَةَ القَرِيبَتَيْنِ، لٰكِنِّي لَا أُحِبُّ الضَّجِيجَ فِي اللَّيْلِ.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like the nearby park and library, but I don’t like the noise at night.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الَّذِي تُحِبُّهُ وَمَا الَّذِي لَا تُحِبُّهُ فِي حَيِّكَ؟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أَسْكُنَ فِي حَيٍّ قَرِيبٍ مِنْ أُسْرَتِي، لِأَنِّي أُرِيدُ أَنْ أَزُورَهُمْ كُلَّ أُسْبُوعٍ.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want to live in an area near my family, because I want to visit them every week.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تُرِيدُ أَنْ تَسْكُنَ فِي المُسْتَقْبَلِ؟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Description + pronouns + reason + sequence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 الجَارَ السَّيِّئَ يُفْسِدُ أَجْمَلَ بَيْتٍ، فَمَهْمَا كَانَ البَيْتُ وَاسِعًا، لَا تَرْتَاحُ إِذَا كَانَتْ بَيْنَكَ وَبَيْنَ جَارِكَ مَشَاكِلُ.</a:t>
            </a:r>
            <a:endParaRPr lang="ar-SA" sz="15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a bad neighbour spoils the finest house — however spacious it is, you can’t relax if you have problems with your neighbour.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يَقُولُ المَثَلُ «الجَارُ قَبْلَ الدَّارِ»؟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النَّاسَ فِي المُدُنِ مَشْغُولُونَ، غَيْرَ أَنَّ المَسَاجِدَ وَالنَّوَادِيَ تَجْمَعُهُمْ إِذَا أَرَادُوا.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true city people are busy, but mosques and clubs bring them together if they want.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المُدُنُ الكَبِيرَةُ تَجْعَلُ النَّاسَ أَكْثَرَ وَحْدَةً؟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الجِيرَانُ يُرَبُّونَ الأَطْفَالَ مَعًا، فَكُلُّ أُمٍّ فِي الحَيِّ أُمٌّ لِلْجَمِيعِ، أَمَّا اليَوْمَ فَتُغْلِقُ كُلُّ أُسْرَةٍ بَابَهَا.</a:t>
            </a:r>
            <a:endParaRPr lang="ar-SA" sz="165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Neighbours used to raise children together — every mother was everyone’s mother; today each family closes its door.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كَانَتِ العَلَاقَةُ بَيْنَ الجِيرَانِ فِي أَيَّامِ أَجْدَادِكَ؟</a:t>
            </a:r>
            <a:endParaRPr lang="ar-SA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proverb explained, ṣaḥīḥun anna … ghayra anna, past vs present, alladhī,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جَارُنَا الأُسْتَاذُ حَسَنٌ، الَّذِي كَانَ مُعَلِّمًا قَبْلَ تَقَاعُدِهِ، عَلَّمَنِي الشِّطْرَنْجَ وَحُبَّ الكُتُبِ.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Our neighbour Mr Hassan, who was a teacher before retiring, taught me chess and a love of books.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جَارًا أَثَّرَ فِي حَيَاتِكَ.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انْتَقَلْتُ إِلَى بَلَدٍ جَدِيدٍ، لَطَرَقْتُ أَبْوَابَ جِيرَانِي، وَلَقَدَّمْتُ لَهُمْ حَلَوِيَّاتٍ مِنْ بَلَدِي.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moved to a new country, I would knock on my neighbours’ doors and offer them sweets from my country.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انْتَقَلْتَ إِلَى بَلَدٍ جَدِيدٍ، كَيْفَ تَتَعَرَّفُ عَلَى جِيرَانِكَ؟</a:t>
            </a:r>
            <a:endParaRPr lang="ar-SA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proverb explained, ṣaḥīḥun anna … ghayra anna, past vs present, alladhī,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described people, homes and hobbies in full sentences.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the plural to a family (bikum, tafaḍḍalū).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tracked he / she / they (-hu, -hā, -hum) correctly.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an impression (yabdū …) with a reason.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compared past and present, conceded or used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TB-L10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TB-L10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TB-L10 · Speaking Workshop — Mixed Topic B: New Neighbours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2026-10-11T09:18:24Z</dcterms:created>
  <dcterms:modified xsi:type="dcterms:W3CDTF">2026-10-11T09:18:24Z</dcterms:modified>
</cp:coreProperties>
</file>