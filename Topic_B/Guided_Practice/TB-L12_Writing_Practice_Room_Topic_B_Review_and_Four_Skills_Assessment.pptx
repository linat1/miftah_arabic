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12 (Topic B Review — mock exam practice, TB-L12)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(69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Writing Practice Room — Topic B Review</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مُرَاجَعَةُ المِحْوَرِ الثَّانِي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last Topic B writing room before the mock: a Q1 warm-up, decoding a new Q2 task (an email to a host family), upgrading sentences, writing with a buddy, spotting and fixing the most common Topic B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TB-L12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Homestay: student information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00" b="1" dirty="0">
                <a:solidFill>
                  <a:srgbClr val="8A6D1E"/>
                </a:solidFill>
                <a:latin typeface="Amiri" pitchFamily="2" charset="-78"/>
                <a:ea typeface="Amiri" pitchFamily="2" charset="-78"/>
                <a:cs typeface="Amiri" pitchFamily="2" charset="-78"/>
              </a:rPr>
              <a:t>الإِقَامَةُ عِنْدَ أُسْرَةٍ: مَعْلُومَاتُ الطَّالِبِ</a:t>
            </a:r>
            <a:endParaRPr lang="ar-SA" sz="26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36408" y="2881884"/>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a:t>
            </a:r>
            <a:pPr algn="l" indent="0" marL="0">
              <a:buNone/>
            </a:pPr>
            <a:r>
              <a:rPr lang="ar-SA" altLang="en-US" sz="1450" dirty="0">
                <a:solidFill>
                  <a:srgbClr val="5A6472"/>
                </a:solidFill>
                <a:latin typeface="Amiri" pitchFamily="2" charset="-78"/>
                <a:ea typeface="Amiri" pitchFamily="2" charset="-78"/>
                <a:cs typeface="Amiri" pitchFamily="2" charset="-78"/>
              </a:rPr>
              <a:t>بِرِيطَانِيٌّ / بِرِيطَانِيَّةٌ</a:t>
            </a:r>
            <a:endParaRPr lang="en-US" sz="11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أَبِي وَأُمِّي وَأُخْتَانِ</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members</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أَفْرَادُ العَائِلَةِ</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هَادِئٌ · مَرِحٌ</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personality adjectives</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صِفَتَانِ لِشَخْصِيَّتِكَ</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36408" y="4724400"/>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Verbal nouns: </a:t>
            </a:r>
            <a:pPr algn="l" indent="0" marL="0">
              <a:buNone/>
            </a:pPr>
            <a:r>
              <a:rPr lang="ar-SA" altLang="en-US" sz="1450" dirty="0">
                <a:solidFill>
                  <a:srgbClr val="5A6472"/>
                </a:solidFill>
                <a:latin typeface="Amiri" pitchFamily="2" charset="-78"/>
                <a:ea typeface="Amiri" pitchFamily="2" charset="-78"/>
                <a:cs typeface="Amiri" pitchFamily="2" charset="-78"/>
              </a:rPr>
              <a:t>القِرَاءَةُ</a:t>
            </a:r>
            <a:endParaRPr lang="en-US" sz="11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Hobbies</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الهِوَايَاتُ</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غُرْفَتِي … وَيُوجَدُ فِيهَا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your room at home</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صِفْ غُرْفَتَكَ فِي البَيْتِ</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Question 2: an email to my host family</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إِلَى الأُسْرَةِ المُضِيفَةِ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will stay with an Arabic-speaking host family this summer. Write an email in Arabic of about 80–90 words. You must include: • who you are and a description of yourself • your family and your home • your hobbies and how you spent last weekend • what you hope to do with the host family, and a question.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 ، وَأَنَا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 and I am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مَعَ … فِي … ؛ يُوجَدُ فِيهِ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live with … in …; it has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الأُسْبُوعِ المَاضِي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weekend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أَتَمَنَّى أَنْ … مَعَكُمْ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hope to … with you</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الأُسْرَةِ المُضِيفَةِ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أَنْتَ؟ صِفْ نَفْسَكَ.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عَائِلَتَكَ وَبَيْتَكَ.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هِوَايَاتُكَ؟ وَكَيْفَ قَضَيْتَ نِهَايَةَ الأُسْبُوعِ المَاضِي؟</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تَتَمَنَّى أَنْ تَفْعَلَ مَعَهُمْ؟ وَاسْأَلْ سُؤَالًا.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host family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HOST FAMILY → polite but warm: </a:t>
            </a:r>
            <a:pPr algn="l" indent="0" marL="0">
              <a:buNone/>
            </a:pPr>
            <a:r>
              <a:rPr lang="ar-SA" altLang="en-US" sz="1450" dirty="0">
                <a:solidFill>
                  <a:srgbClr val="5A6472"/>
                </a:solidFill>
                <a:latin typeface="Amiri" pitchFamily="2" charset="-78"/>
                <a:ea typeface="Amiri" pitchFamily="2" charset="-78"/>
                <a:cs typeface="Amiri" pitchFamily="2" charset="-78"/>
              </a:rPr>
              <a:t>الأُسْرَةُ العَزِيزَةُ</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الأُسْرَةِ المُضِيفَةِ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you are; describe yourself</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مَنْ أَنْتَ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صِفْ</a:t>
            </a:r>
            <a:pPr algn="l" indent="0" marL="0">
              <a:buNone/>
            </a:pPr>
            <a:r>
              <a:rPr lang="en-US" sz="1100" dirty="0">
                <a:solidFill>
                  <a:srgbClr val="5A6472"/>
                </a:solidFill>
                <a:latin typeface="Calibri" pitchFamily="34" charset="0"/>
                <a:cs typeface="Amiri" pitchFamily="2" charset="-78"/>
              </a:rPr>
              <a:t> → PRESENT + adjectives (agreement)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أَنْتَ؟ صِفْ نَفْسَكَ.</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family and home</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 عَائِلَتَكَ وَبَيْتَكَ</a:t>
            </a:r>
            <a:pPr algn="l" indent="0" marL="0">
              <a:buNone/>
            </a:pPr>
            <a:r>
              <a:rPr lang="en-US" sz="1100" dirty="0">
                <a:solidFill>
                  <a:srgbClr val="5A6472"/>
                </a:solidFill>
                <a:latin typeface="Calibri" pitchFamily="34" charset="0"/>
                <a:cs typeface="Amiri" pitchFamily="2" charset="-78"/>
              </a:rPr>
              <a:t> → the dual, iḍāfa,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عَائِلَتَكَ وَبَيْتَكَ.</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Hobbies; last weekend</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هِوَايَاتُكَ</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 قَضَيْتَ</a:t>
            </a:r>
            <a:pPr algn="l" indent="0" marL="0">
              <a:buNone/>
            </a:pPr>
            <a:r>
              <a:rPr lang="en-US" sz="1100" dirty="0">
                <a:solidFill>
                  <a:srgbClr val="5A6472"/>
                </a:solidFill>
                <a:latin typeface="Calibri" pitchFamily="34" charset="0"/>
                <a:cs typeface="Amiri" pitchFamily="2" charset="-78"/>
              </a:rPr>
              <a:t> → PRESENT verbal nouns + PAST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هِوَايَاتُكَ؟ وَكَيْفَ قَضَيْتَ نِهَايَةَ الأُسْبُوعِ المَاضِي؟</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hopes; a question</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تَتَمَنَّى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اسْأَلْ</a:t>
            </a:r>
            <a:pPr algn="l" indent="0" marL="0">
              <a:buNone/>
            </a:pPr>
            <a:r>
              <a:rPr lang="en-US" sz="1100" dirty="0">
                <a:solidFill>
                  <a:srgbClr val="5A6472"/>
                </a:solidFill>
                <a:latin typeface="Calibri" pitchFamily="34" charset="0"/>
                <a:cs typeface="Amiri" pitchFamily="2" charset="-78"/>
              </a:rPr>
              <a:t> → hopes (</a:t>
            </a:r>
            <a:pPr algn="l" indent="0" marL="0">
              <a:buNone/>
            </a:pPr>
            <a:r>
              <a:rPr lang="ar-SA" altLang="en-US" sz="1450" dirty="0">
                <a:solidFill>
                  <a:srgbClr val="5A6472"/>
                </a:solidFill>
                <a:latin typeface="Amiri" pitchFamily="2" charset="-78"/>
                <a:ea typeface="Amiri" pitchFamily="2" charset="-78"/>
                <a:cs typeface="Amiri" pitchFamily="2" charset="-78"/>
              </a:rPr>
              <a:t>أَتَمَنَّى أَنْ</a:t>
            </a:r>
            <a:pPr algn="l" indent="0" marL="0">
              <a:buNone/>
            </a:pPr>
            <a:r>
              <a:rPr lang="en-US" sz="1100" dirty="0">
                <a:solidFill>
                  <a:srgbClr val="5A6472"/>
                </a:solidFill>
                <a:latin typeface="Calibri" pitchFamily="34" charset="0"/>
                <a:cs typeface="Amiri" pitchFamily="2" charset="-78"/>
              </a:rPr>
              <a:t>) + a question</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تَتَمَنَّى أَنْ تَفْعَلَ مَعَهُمْ؟ وَاسْأَلْ سُؤَالًا.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صَدِيقٌ.</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have a friend.</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صَدِيقٌ مِصْرِيٌّ اسْمُهُ آدَمُ، وَهُوَ طَوِيلٌ وَمَرِحٌ.</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an Egyptian friend called Adam, who is tall and fun.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آدَمُ أَعَزُّ أَصْدِقَائِي، لِأَنَّهُ يُسَاعِدُنِي دَائِمًا، وَنَلْعَبُ التِّنِسَ مَعًا.</a:t>
            </a:r>
            <a:endParaRPr lang="ar-SA" sz="24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Adam is my best friend, because he always helps me, and we play tennis together.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 صَحِيحٌ أَنَّنَا تَشَاجَرْنَا مَرَّةً، غَيْرَ أَنَّ صَدَاقَتَنَا الآنَ أَقْوَى مِنْ قَبْلُ.</a:t>
            </a:r>
            <a:endParaRPr lang="ar-SA" sz="22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it’s true we argued once, but our friendship is now stronger than before.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two sisters are tall.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أُخْتَايَ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طَوِيلَتَانِ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red armchair in the living room.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كُرْسِيٌّ أَحْمَرُ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كُرْسِيٌّ حَمْرَاءُ</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غُرْفَةِ الجُلُوسِ</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الغُرْفَةِ الجُلُوسِ</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Swimming is more fun than running.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السِّبَاحَةُ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أَسْبَحُ</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أَمْتَعُ</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مُمْتِعَةٌ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الجَرْيِ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لِلْجَرْيِ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two sisters are tall.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Two sisters + my = </a:t>
            </a:r>
            <a:pPr algn="l" indent="0" marL="0">
              <a:buNone/>
            </a:pPr>
            <a:r>
              <a:rPr lang="ar-SA" altLang="en-US" sz="1350" dirty="0">
                <a:solidFill>
                  <a:srgbClr val="5A6472"/>
                </a:solidFill>
                <a:latin typeface="Amiri" pitchFamily="2" charset="-78"/>
                <a:ea typeface="Amiri" pitchFamily="2" charset="-78"/>
                <a:cs typeface="Amiri" pitchFamily="2" charset="-78"/>
              </a:rPr>
              <a:t>أُخْتَايَ</a:t>
            </a:r>
            <a:pPr algn="l" indent="0" marL="0">
              <a:buNone/>
            </a:pPr>
            <a:r>
              <a:rPr lang="en-US" sz="1050" i="1" dirty="0">
                <a:solidFill>
                  <a:srgbClr val="5A6472"/>
                </a:solidFill>
                <a:latin typeface="Calibri" pitchFamily="34" charset="0"/>
                <a:cs typeface="Amiri" pitchFamily="2" charset="-78"/>
              </a:rPr>
              <a:t>; dual adjective: </a:t>
            </a:r>
            <a:pPr algn="l" indent="0" marL="0">
              <a:buNone/>
            </a:pPr>
            <a:r>
              <a:rPr lang="ar-SA" altLang="en-US" sz="1350" dirty="0">
                <a:solidFill>
                  <a:srgbClr val="5A6472"/>
                </a:solidFill>
                <a:latin typeface="Amiri" pitchFamily="2" charset="-78"/>
                <a:ea typeface="Amiri" pitchFamily="2" charset="-78"/>
                <a:cs typeface="Amiri" pitchFamily="2" charset="-78"/>
              </a:rPr>
              <a:t>طَوِيلَتَانِ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أُخْتَايَ طَوِيلَتَانِ جِدًّا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red armchair in the living room.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Masculine → </a:t>
            </a:r>
            <a:pPr algn="l" indent="0" marL="0">
              <a:buNone/>
            </a:pPr>
            <a:r>
              <a:rPr lang="ar-SA" altLang="en-US" sz="1350" dirty="0">
                <a:solidFill>
                  <a:srgbClr val="5A6472"/>
                </a:solidFill>
                <a:latin typeface="Amiri" pitchFamily="2" charset="-78"/>
                <a:ea typeface="Amiri" pitchFamily="2" charset="-78"/>
                <a:cs typeface="Amiri" pitchFamily="2" charset="-78"/>
              </a:rPr>
              <a:t>يُوجَدُ … أَحْمَرُ</a:t>
            </a:r>
            <a:pPr algn="l" indent="0" marL="0">
              <a:buNone/>
            </a:pPr>
            <a:r>
              <a:rPr lang="en-US" sz="1050" i="1" dirty="0">
                <a:solidFill>
                  <a:srgbClr val="5A6472"/>
                </a:solidFill>
                <a:latin typeface="Calibri" pitchFamily="34" charset="0"/>
                <a:cs typeface="Amiri" pitchFamily="2" charset="-78"/>
              </a:rPr>
              <a:t>; iḍāfa: </a:t>
            </a:r>
            <a:pPr algn="l" indent="0" marL="0">
              <a:buNone/>
            </a:pPr>
            <a:r>
              <a:rPr lang="ar-SA" altLang="en-US" sz="1350" dirty="0">
                <a:solidFill>
                  <a:srgbClr val="5A6472"/>
                </a:solidFill>
                <a:latin typeface="Amiri" pitchFamily="2" charset="-78"/>
                <a:ea typeface="Amiri" pitchFamily="2" charset="-78"/>
                <a:cs typeface="Amiri" pitchFamily="2" charset="-78"/>
              </a:rPr>
              <a:t>غُرْفَةِ الجُلُوسِ</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يُوجَدُ كُرْسِيٌّ أَحْمَرُ فِي غُرْفَةِ الجُلُوسِ</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Swimming is more fun than running.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Verbal noun </a:t>
            </a:r>
            <a:pPr algn="l" indent="0" marL="0">
              <a:buNone/>
            </a:pPr>
            <a:r>
              <a:rPr lang="ar-SA" altLang="en-US" sz="1350" dirty="0">
                <a:solidFill>
                  <a:srgbClr val="5A6472"/>
                </a:solidFill>
                <a:latin typeface="Amiri" pitchFamily="2" charset="-78"/>
                <a:ea typeface="Amiri" pitchFamily="2" charset="-78"/>
                <a:cs typeface="Amiri" pitchFamily="2" charset="-78"/>
              </a:rPr>
              <a:t>السِّبَاحَةُ</a:t>
            </a:r>
            <a:pPr algn="l" indent="0" marL="0">
              <a:buNone/>
            </a:pPr>
            <a:r>
              <a:rPr lang="en-US" sz="1050" i="1" dirty="0">
                <a:solidFill>
                  <a:srgbClr val="5A6472"/>
                </a:solidFill>
                <a:latin typeface="Calibri" pitchFamily="34" charset="0"/>
                <a:cs typeface="Amiri" pitchFamily="2" charset="-78"/>
              </a:rPr>
              <a:t> + comparative </a:t>
            </a:r>
            <a:pPr algn="l" indent="0" marL="0">
              <a:buNone/>
            </a:pPr>
            <a:r>
              <a:rPr lang="ar-SA" altLang="en-US" sz="1350" dirty="0">
                <a:solidFill>
                  <a:srgbClr val="5A6472"/>
                </a:solidFill>
                <a:latin typeface="Amiri" pitchFamily="2" charset="-78"/>
                <a:ea typeface="Amiri" pitchFamily="2" charset="-78"/>
                <a:cs typeface="Amiri" pitchFamily="2" charset="-78"/>
              </a:rPr>
              <a:t>أَمْتَعُ 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السِّبَاحَةُ أَمْتَعُ مِنَ الجَرْيِ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أَنَا ______ وَ ______ ، لٰكِنِّي ______ قَلِيلًا.</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am … and …, but a little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بَيْتُنَا ______ ، وَتُوجَدُ خَلْفَهُ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Our house is …, and behind it there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أَوَّلًا ______ ، ثُمَّ ______ ، لِأَنَّ ______ .</a:t>
            </a:r>
            <a:endParaRPr lang="ar-SA" sz="17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First …, then …,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كَانَ مُمْكِنًا، أُرِيدُ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If possible, I would like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الأُسْرَةُ العَزِيزَةُ،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family,</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اسْمِي ______ ، وَعُمْرِي ______ سَنَةً، وَأَنَا ______ .</a:t>
            </a:r>
            <a:endParaRPr lang="ar-SA" sz="14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My name is …, I am …, and I am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أَسْكُنُ مَعَ ______ فِي ______ ، وَعِنْدَنَا ______ .</a:t>
            </a:r>
            <a:endParaRPr lang="ar-SA" sz="155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live with … in …, and we have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أُحِبُّ ______ ، وَفِي نِهَايَةِ الأُسْبُوعِ المَاضِي ______ .</a:t>
            </a:r>
            <a:endParaRPr lang="ar-SA" sz="14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like …, and last weekend I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أَتَمَنَّى أَنْ ______ مَعَكُمْ. هَلْ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hope to … with you. Do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بِرِيطَانِيٌّ / بِرِيطَانِيَّةٌ  ·  عِنْدِي أُخْتَانِ  ·  ابْنُ عَمِّي  ·  يُوجَدُ · تُوجَدُ  ·  السِّبَاحَةُ · الرَّسْمُ  ·  قَضَيْتُ  ·  أَتَمَنَّى أَنْ  ·  هَلْ عِنْدَكُمْ …؟</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عِنْدِي اثْنَانِ إِخْوَةٌ.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brothers → one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الحَقِيبَةُ أَحْمَرُ.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Colour agreement.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أَدْعُوكَ إِلَى حَفْلَتِي. — آسِفٌ، لَا أَسْتَطِيعُ آتِي.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verb after </a:t>
            </a:r>
            <a:pPr algn="l" indent="0" marL="0">
              <a:buNone/>
            </a:pPr>
            <a:r>
              <a:rPr lang="ar-SA" altLang="en-US" sz="1700" dirty="0">
                <a:solidFill>
                  <a:srgbClr val="5A6472"/>
                </a:solidFill>
                <a:latin typeface="Amiri" pitchFamily="2" charset="-78"/>
                <a:ea typeface="Amiri" pitchFamily="2" charset="-78"/>
                <a:cs typeface="Amiri" pitchFamily="2" charset="-78"/>
              </a:rPr>
              <a:t>أَسْتَطِيعُ</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عِنْدِي اثْنَانِ إِخْوَةٌ.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عِنْدِي أَخَوَانِ.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 the dual: </a:t>
            </a:r>
            <a:pPr algn="l" indent="0" marL="0">
              <a:buNone/>
            </a:pPr>
            <a:r>
              <a:rPr lang="ar-SA" altLang="en-US" sz="1500" b="1" dirty="0">
                <a:solidFill>
                  <a:srgbClr val="1B3B6F"/>
                </a:solidFill>
                <a:latin typeface="Amiri" pitchFamily="2" charset="-78"/>
                <a:ea typeface="Amiri" pitchFamily="2" charset="-78"/>
                <a:cs typeface="Amiri" pitchFamily="2" charset="-78"/>
              </a:rPr>
              <a:t>أَخَوَانِ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الحَقِيبَةُ أَحْمَرُ.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الحَقِيبَةُ حَمْرَاءُ.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حَمْرَاءُ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أَدْعُوكَ إِلَى حَفْلَتِي. — آسِفٌ، لَا أَسْتَطِيعُ آتِي.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آسِفٌ، لَا أَسْتَطِيعُ أَنْ آتِيَ.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أَسْتَطِيعُ أَنْ</a:t>
            </a:r>
            <a:pPr algn="l" indent="0" marL="0">
              <a:buNone/>
            </a:pPr>
            <a:r>
              <a:rPr lang="en-US" sz="1150" b="1" dirty="0">
                <a:solidFill>
                  <a:srgbClr val="1B3B6F"/>
                </a:solidFill>
                <a:latin typeface="Calibri" pitchFamily="34" charset="0"/>
                <a:cs typeface="Amiri" pitchFamily="2" charset="-78"/>
              </a:rPr>
              <a:t> + a verb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أَجْمَلُ يَوْمٍ قَضَيْتُهُ مَعَ عَائِلَتِي كَانَ فِي عِيدِ الأَضْحَى.</a:t>
            </a:r>
            <a:endParaRPr lang="ar-SA" sz="210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The best day with my family was at Eid al-Adha.</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لَبِسْتُ ثَوْبًا أَبْيَضَ، وَزُرْنَا أَقَارِبَنَا.</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 wore a white thobe and we visited relatives.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 مُمَيَّزًا لِأَنَّ جَدِّي جَاءَ مِنْ فِلَسْطِينَ.</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Special because my grandfather came from Palestine.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شَعَرْتُ بِالسَّعَادَةِ، وَسَنَحْتَفِلُ مَعًا مَرَّةً أُخْرَى.</a:t>
            </a:r>
            <a:endParaRPr lang="ar-SA" sz="25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happy, and we will celebrate together again.</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the best day with my family</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أَجْمَلُ يَوْمٍ مَعَ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“Family, friends and free time”. Today write ONLY the past paragraph: the best day you spent with family or friends — where, who, what you wore, did and ate, why it was special and how you felt. Use Topic B language.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أَجْمَلُ يَوْمٍ قَضَيْتُهُ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best day I spent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لَبِسْتُ … أَبْيَضَ / بَيْضَاءَ</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wore a white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اجْتَمَعَتِ العَائِلَةُ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family gathered 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مُمَيَّزًا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special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صَحِيحٌ أَنَّ … غَيْرَ أَنَّ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true that … but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الأُسْرَةُ العَزِيزَةُ،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السَّلَامُ عَلَيْكُمْ! اسْمِي هُدَى، وَعُمْرِي خَمْسَ عَشْرَةَ سَنَةً، وَأَنَا بِرِيطَانِيَّةٌ مِنْ أَصْلٍ صُومَالِيٍّ. أَنَا مَرِحَةٌ وَاجْتِمَاعِيَّةٌ، لٰكِنِّي خَجُولَةٌ قَلِيلًا فِي البِدَايَةِ. أَسْكُنُ مَعَ وَالِدَيَّ وَأُخْتَيَّ الصَّغِيرَتَيْنِ فِي بَيْتٍ صَغِيرٍ فِي مَدِينَةِ لِيسْتَرَ، وَتُوجَدُ خَلْفَهُ حَدِيقَةٌ فِيهَا وُرُودٌ. أُحِبُّ الرَّسْمَ وَكُرَةَ السَّلَّةِ، وَفِي نِهَايَةِ الأُسْبُوعِ المَاضِي رَسَمْتُ لَوْحَةً لِجَدَّتِي، ثُمَّ لَعِبْتُ مُبَارَاةً مَعَ فَرِيقِي، فَفُزْنَا. أَتَمَنَّى أَنْ أَتَعَلَّمَ الطَّبْخَ العَرَبِيَّ مَعَكُمْ، وَأَنْ أَتَكَلَّمَ العَرَبِيَّةَ كُلَّ يَوْمٍ، لِأَنِّي أُرِيدُ أَنْ أُحَسِّنَ لُغَتِي. هَلْ عِنْدَكُمْ بِنْتٌ فِي عُمْرِي؟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أَطْيَبِ التَّحِيَّاتِ،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هُدَى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family, peace be upon you! My name is Huda, I am fifteen, and I am British of Somali origin. I am cheerful and sociable, but a little shy at first. I live with my parents and my two little sisters in a small house in Leicester, with a garden full of roses behind it. I love drawing and basketball; last weekend I painted a picture for my grandmother, then played a match with my team, and we won. I hope to learn Arab cooking with you and to speak Arabic every day, because I want to improve my language. Do you have a daughter my age? Best wishes, Huda.”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بِرِيطَانِيَّةٌ مِنْ أَصْلٍ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وَأُخْتَيَّ الصَّغِيرَتَيْنِ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وَتُوجَدُ خَلْفَهُ حَدِيقَةٌ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أَتَمَنَّى أَنْ أَتَعَلَّمَ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أَجْمَلُ يَوْمٍ قَضَيْتُهُ مَعَ عَائِلَتِي كَانَ فِي عِيدِ الأَضْحَى المَاضِي. فِي الصَّبَاحِ لَبِسْتُ ثَوْبًا أَبْيَضَ جَدِيدًا، وَصَلَّيْنَا فِي المَسْجِدِ، ثُمَّ اجْتَمَعَتِ العَائِلَةُ كُلُّهَا فِي بَيْتِ عَمِّي الكَبِيرِ الَّذِي تُوجَدُ أَمَامَهُ حَدِيقَةٌ وَاسِعَةٌ. أَكَلْنَا الكَبْسَةَ، وَلَعِبْتُ كُرَةَ القَدَمِ مَعَ أَبْنَاءِ عَمِّي حَتَّى المَسَاءِ. كَانَ ذٰلِكَ اليَوْمُ مُمَيَّزًا لِأَنَّ جَدِّي جَاءَ مِنْ فِلَسْطِينَ لِأَوَّلِ مَرَّةٍ مُنْذُ خَمْسِ سَنَوَاتٍ. صَحِيحٌ أَنَّهُ تَعِبَ مِنَ السَّفَرِ، غَيْرَ أَنَّهُ ضَحِكَ كَثِيرًا مَعَنَا، وَشَعَرْتُ بِسَعَادَةٍ كَبِيرَةٍ.</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the best day with my family was last Eid al-Adha · D: in the morning I wore a new white thobe and we prayed at the mosque, then the whole family gathered at my uncle’s big house, which has a large garden in front; we ate kabsa and I played football with my cousins until the evening · R: special because my grandfather came from Palestine for the first time in five years · F: he was tired from the journey, but he laughed a lot with us, and I felt very happy.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أَجْمَلُ يَوْمٍ قَضَيْتُهُ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لَبِسْتُ ثَوْبًا أَبْيَضَ</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الَّذِي تُوجَدُ أَمَامَهُ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صَحِيحٌ أَنَّهُ … غَيْرَ أَنَّهُ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Topic C · The next topic</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المِحْوَرُ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TB-L12 · Writing Practice Room — Topic B Review</dc:title>
  <dc:subject>PptxGenJS Presentation</dc:subject>
  <dc:creator>Al Madina Online School · Arabic Department</dc:creator>
  <cp:lastModifiedBy>Al Madina Online School · Arabic Department</cp:lastModifiedBy>
  <cp:revision>1</cp:revision>
  <dcterms:created xsi:type="dcterms:W3CDTF">2026-10-25T14:42:52Z</dcterms:created>
  <dcterms:modified xsi:type="dcterms:W3CDTF">2026-10-25T14:42:52Z</dcterms:modified>
</cp:coreProperties>
</file>