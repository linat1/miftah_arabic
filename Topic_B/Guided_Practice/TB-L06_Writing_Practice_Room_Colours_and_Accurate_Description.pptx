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Lst>
  <p:notesMasterIdLst>
    <p:notesMasterId r:id="rId25"/>
  </p:notesMasterIdLst>
  <p:sldSz cx="12192000" cy="6858000"/>
  <p:notesSz cx="6858000" cy="12192000"/>
  <p:embeddedFontLst>
    <p:embeddedFont>
      <p:font typeface="Amiri" pitchFamily="2" charset="-78"/>
      <p:regular r:id="rIdFont1"/>
      <p:bold r:id="rIdFont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notesMaster" Target="notesMasters/notesMaster1.xml"/><Relationship Id="rId26" Type="http://schemas.openxmlformats.org/officeDocument/2006/relationships/presProps" Target="presProps.xml"/><Relationship Id="rId27" Type="http://schemas.openxmlformats.org/officeDocument/2006/relationships/viewProps" Target="viewProps.xml"/><Relationship Id="rId28" Type="http://schemas.openxmlformats.org/officeDocument/2006/relationships/theme" Target="theme/theme1.xml"/><Relationship Id="rId29" Type="http://schemas.openxmlformats.org/officeDocument/2006/relationships/tableStyles" Target="tableStyles.xml"/><Relationship Id="rIdFont1" Type="http://schemas.openxmlformats.org/officeDocument/2006/relationships/font" Target="fonts/font1.fntdata"/><Relationship Id="rIdFont2"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cs typeface="Amiri" pitchFamily="2" charset="-78"/>
      </a:defRPr>
    </a:lvl1pPr>
    <a:lvl2pPr marL="457200" algn="l" defTabSz="914400" rtl="0" eaLnBrk="1" latinLnBrk="0" hangingPunct="1">
      <a:defRPr sz="1200" kern="1200">
        <a:solidFill>
          <a:schemeClr val="tx1"/>
        </a:solidFill>
        <a:latin typeface="+mn-lt"/>
        <a:cs typeface="Amiri" pitchFamily="2" charset="-78"/>
      </a:defRPr>
    </a:lvl2pPr>
    <a:lvl3pPr marL="914400" algn="l" defTabSz="914400" rtl="0" eaLnBrk="1" latinLnBrk="0" hangingPunct="1">
      <a:defRPr sz="1200" kern="1200">
        <a:solidFill>
          <a:schemeClr val="tx1"/>
        </a:solidFill>
        <a:latin typeface="+mn-lt"/>
        <a:cs typeface="Amiri" pitchFamily="2" charset="-78"/>
      </a:defRPr>
    </a:lvl3pPr>
    <a:lvl4pPr marL="1371600" algn="l" defTabSz="914400" rtl="0" eaLnBrk="1" latinLnBrk="0" hangingPunct="1">
      <a:defRPr sz="1200" kern="1200">
        <a:solidFill>
          <a:schemeClr val="tx1"/>
        </a:solidFill>
        <a:latin typeface="+mn-lt"/>
        <a:cs typeface="Amiri" pitchFamily="2" charset="-78"/>
      </a:defRPr>
    </a:lvl4pPr>
    <a:lvl5pPr marL="1828800" algn="l" defTabSz="914400" rtl="0" eaLnBrk="1" latinLnBrk="0" hangingPunct="1">
      <a:defRPr sz="1200" kern="1200">
        <a:solidFill>
          <a:schemeClr val="tx1"/>
        </a:solidFill>
        <a:latin typeface="+mn-lt"/>
        <a:cs typeface="Amiri" pitchFamily="2" charset="-78"/>
      </a:defRPr>
    </a:lvl5pPr>
    <a:lvl6pPr marL="2286000" algn="l" defTabSz="914400" rtl="0" eaLnBrk="1" latinLnBrk="0" hangingPunct="1">
      <a:defRPr sz="1200" kern="1200">
        <a:solidFill>
          <a:schemeClr val="tx1"/>
        </a:solidFill>
        <a:latin typeface="+mn-lt"/>
        <a:cs typeface="Amiri" pitchFamily="2" charset="-78"/>
      </a:defRPr>
    </a:lvl6pPr>
    <a:lvl7pPr marL="2743200" algn="l" defTabSz="914400" rtl="0" eaLnBrk="1" latinLnBrk="0" hangingPunct="1">
      <a:defRPr sz="1200" kern="1200">
        <a:solidFill>
          <a:schemeClr val="tx1"/>
        </a:solidFill>
        <a:latin typeface="+mn-lt"/>
        <a:cs typeface="Amiri" pitchFamily="2" charset="-78"/>
      </a:defRPr>
    </a:lvl7pPr>
    <a:lvl8pPr marL="3200400" algn="l" defTabSz="914400" rtl="0" eaLnBrk="1" latinLnBrk="0" hangingPunct="1">
      <a:defRPr sz="1200" kern="1200">
        <a:solidFill>
          <a:schemeClr val="tx1"/>
        </a:solidFill>
        <a:latin typeface="+mn-lt"/>
        <a:cs typeface="Amiri" pitchFamily="2" charset="-78"/>
      </a:defRPr>
    </a:lvl8pPr>
    <a:lvl9pPr marL="3657600" algn="l" defTabSz="914400" rtl="0" eaLnBrk="1" latinLnBrk="0" hangingPunct="1">
      <a:defRPr sz="1200" kern="1200">
        <a:solidFill>
          <a:schemeClr val="tx1"/>
        </a:solidFill>
        <a:latin typeface="+mn-lt"/>
        <a:cs typeface="Amiri" pitchFamily="2" charset="-78"/>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WRITING PRACTICE ROOM AT A GLANCE — 55–60 minutes; short launch in the main room, then writing pairs in breakout rooms (each student writes their OWN text; the buddy checks), back together to compare.
0–2 Welcome · 2–5 How the room works · ROOMS: Step 1 Q1 warm-up (4) · Step 2 Decode the Q2 task (6) · Step 3 Upgrade sentences (6) · Step 4 Write Q2 + buddy swap (14) · Step 5 Spot and fix + buddy check (6) · Step 6 One Q3 paragraph (10) · back together: Check yourself (5) · Self-check + close (2).
PURPOSE: students learn a REPEATABLE PROCESS for Paper 4 (decode → plan → write → check) and write independently, with support that fades.
CONTENT: Advanced Topic B · Personal and Social Life, Lesson 6 (Colours and Accurate Description, TB-L06) — new writing tasks (not the Exam Practice workshop tasks).
WHERE TO WRITE: a page in the class notebook / a shared document (each student their own), or paper + a photo to the teacher. Buddies read each other’s page in Step 4 and Step 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MAP (1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THE ROOM WORKS (2 min). Show where students write. Then open the rooms.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(4 min). Personal answers, so no single model: the buddy checks meaning and spelling. Core: boxes 1–5.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2 (2 min). Missing a bullet is the most common way to lose marks in Q2 — decoding stops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2 — read the task. Then decode it on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2 (3 min). Students decode in pairs; Core students may use the English on the task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2 answers (1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3 (2 min). Each line adds ONE thing. Students will do the same with their own sentences in Step 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STEP 3 (4 min). Read the English, then choose the correct part from each column (start on the RIGHT, column 1). Buddies agree before checking the answer slide. Watch the agreement and the verb after أَنْ.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STEP 3 (4 min). Read the English, then choose the correct part from each column (start on the RIGHT, column 1). Buddies agree before checking the answer slide. Watch the agreement and the verb after أَنْ.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4 support. Core: use the Core frames for every bullet. Develop: use the Develop frames only if stuck. Stretch: no frames — add a contrast and a future plan.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4 (14 min). Teacher visits each room and reads ONE paragraph per student: one correction, one praise.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5 (3 min). Pairs agree on each correction before the answer slide. Then they look for the SAME mistakes in their own Q2.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5 (3 min). Pairs agree on each correction before the answer slide. Then they look for the SAME mistakes in their own Q2.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5 (3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6 (2 min). One paragraph done well is the building block of Q3: four paragraphs like this = a full Q3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6 (8 min). Core: 3–4 sentences using the bank. Develop: the full formula. Stretch: the formula + a contrast and a future link. Homework: write the other three paragraphs.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ANSWER (77 words). CHECK YOURSELF (3 min, main room or rooms). Find the four bullets. Then each student copies ONE phrase from the model into their own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ANSWER (61 words). CHECK YOURSELF (2 min). Students label T, D, R and F in the model, then in their own paragraph.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cs typeface="Amiri" pitchFamily="2" charset="-78"/>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cs typeface="Amiri" pitchFamily="2" charset="-78"/>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cs typeface="Amiri" pitchFamily="2" charset="-78"/>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cs typeface="Amiri" pitchFamily="2" charset="-78"/>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9pPr>
    </p:bodyStyle>
    <p:otherStyle>
      <a:defPPr>
        <a:defRPr lang="en-US"/>
      </a:defPPr>
      <a:lvl1pPr marL="0" algn="l" defTabSz="914400" rtl="0" eaLnBrk="1" latinLnBrk="0" hangingPunct="1">
        <a:defRPr sz="1800" kern="1200">
          <a:solidFill>
            <a:schemeClr val="tx1"/>
          </a:solidFill>
          <a:latin typeface="+mn-lt"/>
          <a:cs typeface="Amiri" pitchFamily="2" charset="-78"/>
        </a:defRPr>
      </a:lvl1pPr>
      <a:lvl2pPr marL="457200" algn="l" defTabSz="914400" rtl="0" eaLnBrk="1" latinLnBrk="0" hangingPunct="1">
        <a:defRPr sz="1800" kern="1200">
          <a:solidFill>
            <a:schemeClr val="tx1"/>
          </a:solidFill>
          <a:latin typeface="+mn-lt"/>
          <a:cs typeface="Amiri" pitchFamily="2" charset="-78"/>
        </a:defRPr>
      </a:lvl2pPr>
      <a:lvl3pPr marL="914400" algn="l" defTabSz="914400" rtl="0" eaLnBrk="1" latinLnBrk="0" hangingPunct="1">
        <a:defRPr sz="1800" kern="1200">
          <a:solidFill>
            <a:schemeClr val="tx1"/>
          </a:solidFill>
          <a:latin typeface="+mn-lt"/>
          <a:cs typeface="Amiri" pitchFamily="2" charset="-78"/>
        </a:defRPr>
      </a:lvl3pPr>
      <a:lvl4pPr marL="1371600" algn="l" defTabSz="914400" rtl="0" eaLnBrk="1" latinLnBrk="0" hangingPunct="1">
        <a:defRPr sz="1800" kern="1200">
          <a:solidFill>
            <a:schemeClr val="tx1"/>
          </a:solidFill>
          <a:latin typeface="+mn-lt"/>
          <a:cs typeface="Amiri" pitchFamily="2" charset="-78"/>
        </a:defRPr>
      </a:lvl4pPr>
      <a:lvl5pPr marL="1828800" algn="l" defTabSz="914400" rtl="0" eaLnBrk="1" latinLnBrk="0" hangingPunct="1">
        <a:defRPr sz="1800" kern="1200">
          <a:solidFill>
            <a:schemeClr val="tx1"/>
          </a:solidFill>
          <a:latin typeface="+mn-lt"/>
          <a:cs typeface="Amiri" pitchFamily="2" charset="-78"/>
        </a:defRPr>
      </a:lvl5pPr>
      <a:lvl6pPr marL="2286000" algn="l" defTabSz="914400" rtl="0" eaLnBrk="1" latinLnBrk="0" hangingPunct="1">
        <a:defRPr sz="1800" kern="1200">
          <a:solidFill>
            <a:schemeClr val="tx1"/>
          </a:solidFill>
          <a:latin typeface="+mn-lt"/>
          <a:cs typeface="Amiri" pitchFamily="2" charset="-78"/>
        </a:defRPr>
      </a:lvl6pPr>
      <a:lvl7pPr marL="2743200" algn="l" defTabSz="914400" rtl="0" eaLnBrk="1" latinLnBrk="0" hangingPunct="1">
        <a:defRPr sz="1800" kern="1200">
          <a:solidFill>
            <a:schemeClr val="tx1"/>
          </a:solidFill>
          <a:latin typeface="+mn-lt"/>
          <a:cs typeface="Amiri" pitchFamily="2" charset="-78"/>
        </a:defRPr>
      </a:lvl7pPr>
      <a:lvl8pPr marL="3200400" algn="l" defTabSz="914400" rtl="0" eaLnBrk="1" latinLnBrk="0" hangingPunct="1">
        <a:defRPr sz="1800" kern="1200">
          <a:solidFill>
            <a:schemeClr val="tx1"/>
          </a:solidFill>
          <a:latin typeface="+mn-lt"/>
          <a:cs typeface="Amiri" pitchFamily="2" charset="-78"/>
        </a:defRPr>
      </a:lvl8pPr>
      <a:lvl9pPr marL="3657600" algn="l" defTabSz="914400" rtl="0" eaLnBrk="1" latinLnBrk="0" hangingPunct="1">
        <a:defRPr sz="1800" kern="1200">
          <a:solidFill>
            <a:schemeClr val="tx1"/>
          </a:solidFill>
          <a:latin typeface="+mn-lt"/>
          <a:cs typeface="Amiri" pitchFamily="2" charset="-78"/>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2" charset="-78"/>
                <a:ea typeface="Amiri" pitchFamily="2" charset="-78"/>
                <a:cs typeface="Amiri" pitchFamily="2" charset="-78"/>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cs typeface="Amiri" pitchFamily="2" charset="-78"/>
              </a:rPr>
              <a:t>Al Madina Online School</a:t>
            </a:r>
            <a:endParaRPr lang="en-US" sz="1400" dirty="0"/>
          </a:p>
          <a:p>
            <a:pPr indent="0" marL="0">
              <a:buNone/>
            </a:pPr>
            <a:r>
              <a:rPr lang="en-US" sz="800" b="1" spc="200" kern="0" dirty="0">
                <a:solidFill>
                  <a:srgbClr val="D4AF37"/>
                </a:solidFill>
                <a:latin typeface="Calibri" pitchFamily="34" charset="0"/>
                <a:cs typeface="Amiri" pitchFamily="2" charset="-78"/>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cs typeface="Amiri" pitchFamily="2" charset="-78"/>
              </a:rPr>
              <a:t>CAMBRIDGE IGCSE ARABIC 0544  ·  ADVANCED TOPIC B · GUIDED PRACTICE  ·  TB-L06</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cs typeface="Amiri" pitchFamily="2" charset="-78"/>
              </a:rPr>
              <a:t>TB-L06</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2650" b="1" dirty="0">
                <a:solidFill>
                  <a:srgbClr val="FFFFFF"/>
                </a:solidFill>
                <a:latin typeface="Cambria" pitchFamily="34" charset="0"/>
                <a:cs typeface="Amiri" pitchFamily="2" charset="-78"/>
              </a:rPr>
              <a:t>Writing Practice Room — Colours and Accurate Description</a:t>
            </a:r>
            <a:endParaRPr lang="en-US" sz="265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600" b="1" dirty="0">
                <a:solidFill>
                  <a:srgbClr val="D4AF37"/>
                </a:solidFill>
                <a:latin typeface="Amiri" pitchFamily="2" charset="-78"/>
                <a:ea typeface="Amiri" pitchFamily="2" charset="-78"/>
                <a:cs typeface="Amiri" pitchFamily="2" charset="-78"/>
              </a:rPr>
              <a:t>غُرْفَةُ الكِتَابَةِ — الأَلْوَانُ وَالوَصْفُ</a:t>
            </a:r>
            <a:endParaRPr lang="ar-SA" sz="36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400" dirty="0">
                <a:solidFill>
                  <a:srgbClr val="C6D2E6"/>
                </a:solidFill>
                <a:latin typeface="Calibri" pitchFamily="34" charset="0"/>
                <a:cs typeface="Amiri" pitchFamily="2" charset="-78"/>
              </a:rPr>
              <a:t>Students practise the writing process in breakout rooms: a Q1 warm-up, decoding a new Q2 task (describing a lost item in an email), upgrading sentences, writing with a buddy, spotting and fixing errors, and one Q3 paragraph with the T-D-R-F formula.</a:t>
            </a:r>
            <a:endParaRPr lang="en-US" sz="140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LESSON</a:t>
            </a:r>
            <a:endParaRPr lang="en-US" sz="850" dirty="0"/>
          </a:p>
          <a:p>
            <a:pPr indent="0" marL="0">
              <a:buNone/>
            </a:pPr>
            <a:r>
              <a:rPr lang="en-US" sz="1200" b="1" dirty="0">
                <a:solidFill>
                  <a:srgbClr val="FFFFFF"/>
                </a:solidFill>
                <a:latin typeface="Calibri" pitchFamily="34" charset="0"/>
                <a:cs typeface="Amiri" pitchFamily="2" charset="-78"/>
              </a:rPr>
              <a:t>TB-L06 · Advanced Topic B · Personal and Social Life · guided practice</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DURATION</a:t>
            </a:r>
            <a:endParaRPr lang="en-US" sz="850" dirty="0"/>
          </a:p>
          <a:p>
            <a:pPr indent="0" marL="0">
              <a:buNone/>
            </a:pPr>
            <a:r>
              <a:rPr lang="en-US" sz="1200" b="1" dirty="0">
                <a:solidFill>
                  <a:srgbClr val="FFFFFF"/>
                </a:solidFill>
                <a:latin typeface="Calibri" pitchFamily="34" charset="0"/>
                <a:cs typeface="Amiri" pitchFamily="2" charset="-78"/>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LEVEL</a:t>
            </a:r>
            <a:endParaRPr lang="en-US" sz="850" dirty="0"/>
          </a:p>
          <a:p>
            <a:pPr indent="0" marL="0">
              <a:buNone/>
            </a:pPr>
            <a:r>
              <a:rPr lang="en-US" sz="1200" b="1" dirty="0">
                <a:solidFill>
                  <a:srgbClr val="FFFFFF"/>
                </a:solidFill>
                <a:latin typeface="Calibri" pitchFamily="34" charset="0"/>
                <a:cs typeface="Amiri" pitchFamily="2" charset="-78"/>
              </a:rPr>
              <a:t>Topic B · A1+ → B1</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ON THE WEBSITE</a:t>
            </a:r>
            <a:endParaRPr lang="en-US" sz="850" dirty="0"/>
          </a:p>
          <a:p>
            <a:pPr indent="0" marL="0">
              <a:buNone/>
            </a:pPr>
            <a:r>
              <a:rPr lang="en-US" sz="1200" b="1" dirty="0">
                <a:solidFill>
                  <a:srgbClr val="FFFFFF"/>
                </a:solidFill>
                <a:latin typeface="Calibri" pitchFamily="34" charset="0"/>
                <a:cs typeface="Amiri" pitchFamily="2" charset="-78"/>
              </a:rPr>
              <a:t>Advanced Topics › Topic B › TB-L06</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TB-L06 · Writing practice room</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B · Writing practice room · TB-L06</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Camera on</a:t>
            </a:r>
            <a:endParaRPr lang="en-US" sz="1500" dirty="0"/>
          </a:p>
          <a:p>
            <a:pPr indent="0" marL="0">
              <a:buNone/>
            </a:pPr>
            <a:r>
              <a:rPr lang="en-US" sz="1150" dirty="0">
                <a:solidFill>
                  <a:srgbClr val="5A6472"/>
                </a:solidFill>
                <a:latin typeface="Calibri" pitchFamily="34" charset="0"/>
                <a:cs typeface="Amiri" pitchFamily="2" charset="-78"/>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Mic muted</a:t>
            </a:r>
            <a:endParaRPr lang="en-US" sz="1500" dirty="0"/>
          </a:p>
          <a:p>
            <a:pPr indent="0" marL="0">
              <a:buNone/>
            </a:pPr>
            <a:r>
              <a:rPr lang="en-US" sz="1150" dirty="0">
                <a:solidFill>
                  <a:srgbClr val="5A6472"/>
                </a:solidFill>
                <a:latin typeface="Calibri" pitchFamily="34" charset="0"/>
                <a:cs typeface="Amiri" pitchFamily="2" charset="-78"/>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Chat for learning</a:t>
            </a:r>
            <a:endParaRPr lang="en-US" sz="1500" dirty="0"/>
          </a:p>
          <a:p>
            <a:pPr indent="0" marL="0">
              <a:buNone/>
            </a:pPr>
            <a:r>
              <a:rPr lang="en-US" sz="1150" dirty="0">
                <a:solidFill>
                  <a:srgbClr val="5A6472"/>
                </a:solidFill>
                <a:latin typeface="Calibri" pitchFamily="34" charset="0"/>
                <a:cs typeface="Amiri" pitchFamily="2" charset="-78"/>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Raise your hand</a:t>
            </a:r>
            <a:endParaRPr lang="en-US" sz="1500" dirty="0"/>
          </a:p>
          <a:p>
            <a:pPr indent="0" marL="0">
              <a:buNone/>
            </a:pPr>
            <a:r>
              <a:rPr lang="en-US" sz="1150" dirty="0">
                <a:solidFill>
                  <a:srgbClr val="5A6472"/>
                </a:solidFill>
                <a:latin typeface="Calibri" pitchFamily="34" charset="0"/>
                <a:cs typeface="Amiri" pitchFamily="2" charset="-78"/>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Think</a:t>
            </a:r>
            <a:endParaRPr lang="en-US" sz="1400" dirty="0"/>
          </a:p>
          <a:p>
            <a:pPr indent="0" marL="0">
              <a:buNone/>
            </a:pPr>
            <a:r>
              <a:rPr lang="en-US" sz="1100" dirty="0">
                <a:solidFill>
                  <a:srgbClr val="5A6472"/>
                </a:solidFill>
                <a:latin typeface="Calibri" pitchFamily="34" charset="0"/>
                <a:cs typeface="Amiri" pitchFamily="2" charset="-78"/>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Rehearse</a:t>
            </a:r>
            <a:endParaRPr lang="en-US" sz="1400" dirty="0"/>
          </a:p>
          <a:p>
            <a:pPr indent="0" marL="0">
              <a:buNone/>
            </a:pPr>
            <a:r>
              <a:rPr lang="en-US" sz="1100" dirty="0">
                <a:solidFill>
                  <a:srgbClr val="5A6472"/>
                </a:solidFill>
                <a:latin typeface="Calibri" pitchFamily="34" charset="0"/>
                <a:cs typeface="Amiri" pitchFamily="2" charset="-78"/>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Build</a:t>
            </a:r>
            <a:endParaRPr lang="en-US" sz="1400" dirty="0"/>
          </a:p>
          <a:p>
            <a:pPr indent="0" marL="0">
              <a:buNone/>
            </a:pPr>
            <a:r>
              <a:rPr lang="en-US" sz="1100" dirty="0">
                <a:solidFill>
                  <a:srgbClr val="5A6472"/>
                </a:solidFill>
                <a:latin typeface="Calibri" pitchFamily="34" charset="0"/>
                <a:cs typeface="Amiri" pitchFamily="2" charset="-78"/>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Challenge</a:t>
            </a:r>
            <a:endParaRPr lang="en-US" sz="1400" dirty="0"/>
          </a:p>
          <a:p>
            <a:pPr indent="0" marL="0">
              <a:buNone/>
            </a:pPr>
            <a:r>
              <a:rPr lang="en-US" sz="1100" dirty="0">
                <a:solidFill>
                  <a:srgbClr val="5A6472"/>
                </a:solidFill>
                <a:latin typeface="Calibri" pitchFamily="34" charset="0"/>
                <a:cs typeface="Amiri" pitchFamily="2" charset="-78"/>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Share</a:t>
            </a:r>
            <a:endParaRPr lang="en-US" sz="1400" dirty="0"/>
          </a:p>
          <a:p>
            <a:pPr indent="0" marL="0">
              <a:buNone/>
            </a:pPr>
            <a:r>
              <a:rPr lang="en-US" sz="1100" dirty="0">
                <a:solidFill>
                  <a:srgbClr val="5A6472"/>
                </a:solidFill>
                <a:latin typeface="Calibri" pitchFamily="34" charset="0"/>
                <a:cs typeface="Amiri" pitchFamily="2" charset="-78"/>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Summarise</a:t>
            </a:r>
            <a:endParaRPr lang="en-US" sz="1400" dirty="0"/>
          </a:p>
          <a:p>
            <a:pPr indent="0" marL="0">
              <a:buNone/>
            </a:pPr>
            <a:r>
              <a:rPr lang="en-US" sz="1100" dirty="0">
                <a:solidFill>
                  <a:srgbClr val="5A6472"/>
                </a:solidFill>
                <a:latin typeface="Calibri" pitchFamily="34" charset="0"/>
                <a:cs typeface="Amiri" pitchFamily="2" charset="-78"/>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cs typeface="Amiri" pitchFamily="2" charset="-78"/>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 / 23</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TB-L06 · Writing practice room</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TODAY’S ROOM PLAN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Six steps to a strong answer</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خُطُوَاتُ الكِتَابَةِ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B · Writing practice room · TB-L06</a:t>
            </a:r>
            <a:endParaRPr lang="en-US" sz="850" dirty="0"/>
          </a:p>
        </p:txBody>
      </p:sp>
      <p:sp>
        <p:nvSpPr>
          <p:cNvPr id="15" name="Shape 12"/>
          <p:cNvSpPr/>
          <p:nvPr/>
        </p:nvSpPr>
        <p:spPr>
          <a:xfrm>
            <a:off x="457200" y="1828800"/>
            <a:ext cx="1772412" cy="3246120"/>
          </a:xfrm>
          <a:prstGeom prst="roundRect">
            <a:avLst>
              <a:gd name="adj" fmla="val 412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552956" cy="566928"/>
          </a:xfrm>
          <a:prstGeom prst="roundRect">
            <a:avLst>
              <a:gd name="adj" fmla="val 9677"/>
            </a:avLst>
          </a:prstGeom>
          <a:solidFill>
            <a:srgbClr val="2F6FB0"/>
          </a:solidFill>
          <a:ln w="12700">
            <a:solidFill>
              <a:srgbClr val="2F6FB0"/>
            </a:solidFill>
            <a:prstDash val="solid"/>
          </a:ln>
        </p:spPr>
      </p:sp>
      <p:sp>
        <p:nvSpPr>
          <p:cNvPr id="17" name="Text 14"/>
          <p:cNvSpPr txBox="1"/>
          <p:nvPr/>
        </p:nvSpPr>
        <p:spPr>
          <a:xfrm>
            <a:off x="603504" y="1956816"/>
            <a:ext cx="147980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18" name="Text 15"/>
          <p:cNvSpPr txBox="1"/>
          <p:nvPr/>
        </p:nvSpPr>
        <p:spPr>
          <a:xfrm>
            <a:off x="603504" y="2249424"/>
            <a:ext cx="147980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4 min</a:t>
            </a:r>
            <a:endParaRPr lang="en-US" sz="1000" dirty="0"/>
          </a:p>
        </p:txBody>
      </p:sp>
      <p:sp>
        <p:nvSpPr>
          <p:cNvPr id="19" name="Shape 16"/>
          <p:cNvSpPr/>
          <p:nvPr/>
        </p:nvSpPr>
        <p:spPr>
          <a:xfrm>
            <a:off x="1142238"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14223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1</a:t>
            </a:r>
            <a:endParaRPr lang="en-US" sz="1300" dirty="0"/>
          </a:p>
        </p:txBody>
      </p:sp>
      <p:sp>
        <p:nvSpPr>
          <p:cNvPr id="21" name="Text 18"/>
          <p:cNvSpPr txBox="1"/>
          <p:nvPr/>
        </p:nvSpPr>
        <p:spPr>
          <a:xfrm>
            <a:off x="585216" y="3145536"/>
            <a:ext cx="151638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 1: Q1 form warm-up.</a:t>
            </a:r>
            <a:endParaRPr lang="en-US" sz="1200" dirty="0"/>
          </a:p>
        </p:txBody>
      </p:sp>
      <p:sp>
        <p:nvSpPr>
          <p:cNvPr id="22" name="Text 19"/>
          <p:cNvSpPr txBox="1"/>
          <p:nvPr/>
        </p:nvSpPr>
        <p:spPr>
          <a:xfrm>
            <a:off x="548640" y="4526280"/>
            <a:ext cx="1589532"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ea typeface="Amiri" pitchFamily="2" charset="-78"/>
                <a:cs typeface="Amiri" pitchFamily="2" charset="-78"/>
              </a:rPr>
              <a:t>الاسْتِمَارَةُ</a:t>
            </a:r>
            <a:endParaRPr lang="ar-SA" sz="1500" dirty="0"/>
          </a:p>
        </p:txBody>
      </p:sp>
      <p:sp>
        <p:nvSpPr>
          <p:cNvPr id="23" name="Shape 20"/>
          <p:cNvSpPr/>
          <p:nvPr/>
        </p:nvSpPr>
        <p:spPr>
          <a:xfrm>
            <a:off x="2357628" y="1828800"/>
            <a:ext cx="1772412" cy="3246120"/>
          </a:xfrm>
          <a:prstGeom prst="roundRect">
            <a:avLst>
              <a:gd name="adj" fmla="val 412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467356" y="1938528"/>
            <a:ext cx="1552956" cy="566928"/>
          </a:xfrm>
          <a:prstGeom prst="roundRect">
            <a:avLst>
              <a:gd name="adj" fmla="val 9677"/>
            </a:avLst>
          </a:prstGeom>
          <a:solidFill>
            <a:srgbClr val="2F6FB0"/>
          </a:solidFill>
          <a:ln w="12700">
            <a:solidFill>
              <a:srgbClr val="2F6FB0"/>
            </a:solidFill>
            <a:prstDash val="solid"/>
          </a:ln>
        </p:spPr>
      </p:sp>
      <p:sp>
        <p:nvSpPr>
          <p:cNvPr id="25" name="Text 22"/>
          <p:cNvSpPr txBox="1"/>
          <p:nvPr/>
        </p:nvSpPr>
        <p:spPr>
          <a:xfrm>
            <a:off x="2503932" y="1956816"/>
            <a:ext cx="147980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26" name="Text 23"/>
          <p:cNvSpPr txBox="1"/>
          <p:nvPr/>
        </p:nvSpPr>
        <p:spPr>
          <a:xfrm>
            <a:off x="2503932" y="2249424"/>
            <a:ext cx="147980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6 min</a:t>
            </a:r>
            <a:endParaRPr lang="en-US" sz="1000" dirty="0"/>
          </a:p>
        </p:txBody>
      </p:sp>
      <p:sp>
        <p:nvSpPr>
          <p:cNvPr id="27" name="Shape 24"/>
          <p:cNvSpPr/>
          <p:nvPr/>
        </p:nvSpPr>
        <p:spPr>
          <a:xfrm>
            <a:off x="3042666"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3042666"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2</a:t>
            </a:r>
            <a:endParaRPr lang="en-US" sz="1300" dirty="0"/>
          </a:p>
        </p:txBody>
      </p:sp>
      <p:sp>
        <p:nvSpPr>
          <p:cNvPr id="29" name="Text 26"/>
          <p:cNvSpPr txBox="1"/>
          <p:nvPr/>
        </p:nvSpPr>
        <p:spPr>
          <a:xfrm>
            <a:off x="2485644" y="3145536"/>
            <a:ext cx="151638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 2: decode the question.</a:t>
            </a:r>
            <a:endParaRPr lang="en-US" sz="1200" dirty="0"/>
          </a:p>
        </p:txBody>
      </p:sp>
      <p:sp>
        <p:nvSpPr>
          <p:cNvPr id="30" name="Text 27"/>
          <p:cNvSpPr txBox="1"/>
          <p:nvPr/>
        </p:nvSpPr>
        <p:spPr>
          <a:xfrm>
            <a:off x="2449068" y="4526280"/>
            <a:ext cx="1589532"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ea typeface="Amiri" pitchFamily="2" charset="-78"/>
                <a:cs typeface="Amiri" pitchFamily="2" charset="-78"/>
              </a:rPr>
              <a:t>افْهَمِ السُّؤَالَ</a:t>
            </a:r>
            <a:endParaRPr lang="ar-SA" sz="1500" dirty="0"/>
          </a:p>
        </p:txBody>
      </p:sp>
      <p:sp>
        <p:nvSpPr>
          <p:cNvPr id="31" name="Shape 28"/>
          <p:cNvSpPr/>
          <p:nvPr/>
        </p:nvSpPr>
        <p:spPr>
          <a:xfrm>
            <a:off x="4258056" y="1828800"/>
            <a:ext cx="1772412" cy="3246120"/>
          </a:xfrm>
          <a:prstGeom prst="roundRect">
            <a:avLst>
              <a:gd name="adj" fmla="val 412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4367784" y="1938528"/>
            <a:ext cx="1552956" cy="566928"/>
          </a:xfrm>
          <a:prstGeom prst="roundRect">
            <a:avLst>
              <a:gd name="adj" fmla="val 9677"/>
            </a:avLst>
          </a:prstGeom>
          <a:solidFill>
            <a:srgbClr val="2F6FB0"/>
          </a:solidFill>
          <a:ln w="12700">
            <a:solidFill>
              <a:srgbClr val="2F6FB0"/>
            </a:solidFill>
            <a:prstDash val="solid"/>
          </a:ln>
        </p:spPr>
      </p:sp>
      <p:sp>
        <p:nvSpPr>
          <p:cNvPr id="33" name="Text 30"/>
          <p:cNvSpPr txBox="1"/>
          <p:nvPr/>
        </p:nvSpPr>
        <p:spPr>
          <a:xfrm>
            <a:off x="4404360" y="1956816"/>
            <a:ext cx="147980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34" name="Text 31"/>
          <p:cNvSpPr txBox="1"/>
          <p:nvPr/>
        </p:nvSpPr>
        <p:spPr>
          <a:xfrm>
            <a:off x="4404360" y="2249424"/>
            <a:ext cx="147980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6 min</a:t>
            </a:r>
            <a:endParaRPr lang="en-US" sz="1000" dirty="0"/>
          </a:p>
        </p:txBody>
      </p:sp>
      <p:sp>
        <p:nvSpPr>
          <p:cNvPr id="35" name="Shape 32"/>
          <p:cNvSpPr/>
          <p:nvPr/>
        </p:nvSpPr>
        <p:spPr>
          <a:xfrm>
            <a:off x="4943094"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4943094"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3</a:t>
            </a:r>
            <a:endParaRPr lang="en-US" sz="1300" dirty="0"/>
          </a:p>
        </p:txBody>
      </p:sp>
      <p:sp>
        <p:nvSpPr>
          <p:cNvPr id="37" name="Text 34"/>
          <p:cNvSpPr txBox="1"/>
          <p:nvPr/>
        </p:nvSpPr>
        <p:spPr>
          <a:xfrm>
            <a:off x="4386072" y="3145536"/>
            <a:ext cx="151638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 3: upgrade your sentences.</a:t>
            </a:r>
            <a:endParaRPr lang="en-US" sz="1200" dirty="0"/>
          </a:p>
        </p:txBody>
      </p:sp>
      <p:sp>
        <p:nvSpPr>
          <p:cNvPr id="38" name="Text 35"/>
          <p:cNvSpPr txBox="1"/>
          <p:nvPr/>
        </p:nvSpPr>
        <p:spPr>
          <a:xfrm>
            <a:off x="4349496" y="4526280"/>
            <a:ext cx="1589532"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ea typeface="Amiri" pitchFamily="2" charset="-78"/>
                <a:cs typeface="Amiri" pitchFamily="2" charset="-78"/>
              </a:rPr>
              <a:t>حَسِّنْ جُمَلَكَ</a:t>
            </a:r>
            <a:endParaRPr lang="ar-SA" sz="1500" dirty="0"/>
          </a:p>
        </p:txBody>
      </p:sp>
      <p:sp>
        <p:nvSpPr>
          <p:cNvPr id="39" name="Shape 36"/>
          <p:cNvSpPr/>
          <p:nvPr/>
        </p:nvSpPr>
        <p:spPr>
          <a:xfrm>
            <a:off x="6158484" y="1828800"/>
            <a:ext cx="1772412" cy="3246120"/>
          </a:xfrm>
          <a:prstGeom prst="roundRect">
            <a:avLst>
              <a:gd name="adj" fmla="val 412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6268212" y="1938528"/>
            <a:ext cx="1552956" cy="566928"/>
          </a:xfrm>
          <a:prstGeom prst="roundRect">
            <a:avLst>
              <a:gd name="adj" fmla="val 9677"/>
            </a:avLst>
          </a:prstGeom>
          <a:solidFill>
            <a:srgbClr val="1E6B52"/>
          </a:solidFill>
          <a:ln w="12700">
            <a:solidFill>
              <a:srgbClr val="1E6B52"/>
            </a:solidFill>
            <a:prstDash val="solid"/>
          </a:ln>
        </p:spPr>
      </p:sp>
      <p:sp>
        <p:nvSpPr>
          <p:cNvPr id="41" name="Text 38"/>
          <p:cNvSpPr txBox="1"/>
          <p:nvPr/>
        </p:nvSpPr>
        <p:spPr>
          <a:xfrm>
            <a:off x="6304788" y="1956816"/>
            <a:ext cx="147980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42" name="Text 39"/>
          <p:cNvSpPr txBox="1"/>
          <p:nvPr/>
        </p:nvSpPr>
        <p:spPr>
          <a:xfrm>
            <a:off x="6304788" y="2249424"/>
            <a:ext cx="147980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14 min</a:t>
            </a:r>
            <a:endParaRPr lang="en-US" sz="1000" dirty="0"/>
          </a:p>
        </p:txBody>
      </p:sp>
      <p:sp>
        <p:nvSpPr>
          <p:cNvPr id="43" name="Shape 40"/>
          <p:cNvSpPr/>
          <p:nvPr/>
        </p:nvSpPr>
        <p:spPr>
          <a:xfrm>
            <a:off x="6843522"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6843522"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4</a:t>
            </a:r>
            <a:endParaRPr lang="en-US" sz="1300" dirty="0"/>
          </a:p>
        </p:txBody>
      </p:sp>
      <p:sp>
        <p:nvSpPr>
          <p:cNvPr id="45" name="Text 42"/>
          <p:cNvSpPr txBox="1"/>
          <p:nvPr/>
        </p:nvSpPr>
        <p:spPr>
          <a:xfrm>
            <a:off x="6286500" y="3145536"/>
            <a:ext cx="151638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 4: write Q2, then swap with your buddy.</a:t>
            </a:r>
            <a:endParaRPr lang="en-US" sz="1200" dirty="0"/>
          </a:p>
        </p:txBody>
      </p:sp>
      <p:sp>
        <p:nvSpPr>
          <p:cNvPr id="46" name="Text 43"/>
          <p:cNvSpPr txBox="1"/>
          <p:nvPr/>
        </p:nvSpPr>
        <p:spPr>
          <a:xfrm>
            <a:off x="6249924" y="4526280"/>
            <a:ext cx="1589532"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اكْتُبْ</a:t>
            </a:r>
            <a:endParaRPr lang="ar-SA" sz="1500" dirty="0"/>
          </a:p>
        </p:txBody>
      </p:sp>
      <p:sp>
        <p:nvSpPr>
          <p:cNvPr id="47" name="Shape 44"/>
          <p:cNvSpPr/>
          <p:nvPr/>
        </p:nvSpPr>
        <p:spPr>
          <a:xfrm>
            <a:off x="8058912" y="1828800"/>
            <a:ext cx="1772412" cy="3246120"/>
          </a:xfrm>
          <a:prstGeom prst="roundRect">
            <a:avLst>
              <a:gd name="adj" fmla="val 412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8168640" y="1938528"/>
            <a:ext cx="1552956" cy="566928"/>
          </a:xfrm>
          <a:prstGeom prst="roundRect">
            <a:avLst>
              <a:gd name="adj" fmla="val 9677"/>
            </a:avLst>
          </a:prstGeom>
          <a:solidFill>
            <a:srgbClr val="1E6B52"/>
          </a:solidFill>
          <a:ln w="12700">
            <a:solidFill>
              <a:srgbClr val="1E6B52"/>
            </a:solidFill>
            <a:prstDash val="solid"/>
          </a:ln>
        </p:spPr>
      </p:sp>
      <p:sp>
        <p:nvSpPr>
          <p:cNvPr id="49" name="Text 46"/>
          <p:cNvSpPr txBox="1"/>
          <p:nvPr/>
        </p:nvSpPr>
        <p:spPr>
          <a:xfrm>
            <a:off x="8205216" y="1956816"/>
            <a:ext cx="147980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50" name="Text 47"/>
          <p:cNvSpPr txBox="1"/>
          <p:nvPr/>
        </p:nvSpPr>
        <p:spPr>
          <a:xfrm>
            <a:off x="8205216" y="2249424"/>
            <a:ext cx="147980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6 min</a:t>
            </a:r>
            <a:endParaRPr lang="en-US" sz="1000" dirty="0"/>
          </a:p>
        </p:txBody>
      </p:sp>
      <p:sp>
        <p:nvSpPr>
          <p:cNvPr id="51" name="Shape 48"/>
          <p:cNvSpPr/>
          <p:nvPr/>
        </p:nvSpPr>
        <p:spPr>
          <a:xfrm>
            <a:off x="8743950"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8743950"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5</a:t>
            </a:r>
            <a:endParaRPr lang="en-US" sz="1300" dirty="0"/>
          </a:p>
        </p:txBody>
      </p:sp>
      <p:sp>
        <p:nvSpPr>
          <p:cNvPr id="53" name="Text 50"/>
          <p:cNvSpPr txBox="1"/>
          <p:nvPr/>
        </p:nvSpPr>
        <p:spPr>
          <a:xfrm>
            <a:off x="8186928" y="3145536"/>
            <a:ext cx="151638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 5: spot and fix · buddy check.</a:t>
            </a:r>
            <a:endParaRPr lang="en-US" sz="1200" dirty="0"/>
          </a:p>
        </p:txBody>
      </p:sp>
      <p:sp>
        <p:nvSpPr>
          <p:cNvPr id="54" name="Text 51"/>
          <p:cNvSpPr txBox="1"/>
          <p:nvPr/>
        </p:nvSpPr>
        <p:spPr>
          <a:xfrm>
            <a:off x="8150352" y="4526280"/>
            <a:ext cx="1589532"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صَحِّحْ</a:t>
            </a:r>
            <a:endParaRPr lang="ar-SA" sz="1500" dirty="0"/>
          </a:p>
        </p:txBody>
      </p:sp>
      <p:sp>
        <p:nvSpPr>
          <p:cNvPr id="55" name="Shape 52"/>
          <p:cNvSpPr/>
          <p:nvPr/>
        </p:nvSpPr>
        <p:spPr>
          <a:xfrm>
            <a:off x="9959340" y="1828800"/>
            <a:ext cx="1772412" cy="3246120"/>
          </a:xfrm>
          <a:prstGeom prst="roundRect">
            <a:avLst>
              <a:gd name="adj" fmla="val 412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10069068" y="1938528"/>
            <a:ext cx="1552956" cy="566928"/>
          </a:xfrm>
          <a:prstGeom prst="roundRect">
            <a:avLst>
              <a:gd name="adj" fmla="val 9677"/>
            </a:avLst>
          </a:prstGeom>
          <a:solidFill>
            <a:srgbClr val="1E6B52"/>
          </a:solidFill>
          <a:ln w="12700">
            <a:solidFill>
              <a:srgbClr val="1E6B52"/>
            </a:solidFill>
            <a:prstDash val="solid"/>
          </a:ln>
        </p:spPr>
      </p:sp>
      <p:sp>
        <p:nvSpPr>
          <p:cNvPr id="57" name="Text 54"/>
          <p:cNvSpPr txBox="1"/>
          <p:nvPr/>
        </p:nvSpPr>
        <p:spPr>
          <a:xfrm>
            <a:off x="10105644" y="1956816"/>
            <a:ext cx="147980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58" name="Text 55"/>
          <p:cNvSpPr txBox="1"/>
          <p:nvPr/>
        </p:nvSpPr>
        <p:spPr>
          <a:xfrm>
            <a:off x="10105644" y="2249424"/>
            <a:ext cx="147980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10 min</a:t>
            </a:r>
            <a:endParaRPr lang="en-US" sz="1000" dirty="0"/>
          </a:p>
        </p:txBody>
      </p:sp>
      <p:sp>
        <p:nvSpPr>
          <p:cNvPr id="59" name="Shape 56"/>
          <p:cNvSpPr/>
          <p:nvPr/>
        </p:nvSpPr>
        <p:spPr>
          <a:xfrm>
            <a:off x="10644378" y="2651760"/>
            <a:ext cx="402336" cy="402336"/>
          </a:xfrm>
          <a:prstGeom prst="ellipse">
            <a:avLst/>
          </a:prstGeom>
          <a:solidFill>
            <a:srgbClr val="F4F1EA"/>
          </a:solidFill>
          <a:ln w="12700">
            <a:solidFill>
              <a:srgbClr val="F4F1EA"/>
            </a:solidFill>
            <a:prstDash val="solid"/>
          </a:ln>
        </p:spPr>
      </p:sp>
      <p:sp>
        <p:nvSpPr>
          <p:cNvPr id="60" name="Text 57"/>
          <p:cNvSpPr txBox="1"/>
          <p:nvPr/>
        </p:nvSpPr>
        <p:spPr>
          <a:xfrm>
            <a:off x="1064437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6</a:t>
            </a:r>
            <a:endParaRPr lang="en-US" sz="1300" dirty="0"/>
          </a:p>
        </p:txBody>
      </p:sp>
      <p:sp>
        <p:nvSpPr>
          <p:cNvPr id="61" name="Text 58"/>
          <p:cNvSpPr txBox="1"/>
          <p:nvPr/>
        </p:nvSpPr>
        <p:spPr>
          <a:xfrm>
            <a:off x="10087356" y="3145536"/>
            <a:ext cx="151638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 6: one Q3 paragraph.</a:t>
            </a:r>
            <a:endParaRPr lang="en-US" sz="1200" dirty="0"/>
          </a:p>
        </p:txBody>
      </p:sp>
      <p:sp>
        <p:nvSpPr>
          <p:cNvPr id="62" name="Text 59"/>
          <p:cNvSpPr txBox="1"/>
          <p:nvPr/>
        </p:nvSpPr>
        <p:spPr>
          <a:xfrm>
            <a:off x="10050780" y="4526280"/>
            <a:ext cx="1589532"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فِقْرَةٌ</a:t>
            </a:r>
            <a:endParaRPr lang="ar-SA" sz="1500" dirty="0"/>
          </a:p>
        </p:txBody>
      </p:sp>
      <p:sp>
        <p:nvSpPr>
          <p:cNvPr id="63" name="Shape 60"/>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64" name="Text 61"/>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HOW THE ROOM RUNS</a:t>
            </a:r>
            <a:endParaRPr lang="en-US" sz="1000" dirty="0"/>
          </a:p>
        </p:txBody>
      </p:sp>
      <p:sp>
        <p:nvSpPr>
          <p:cNvPr id="65" name="Text 62"/>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Everyone writes their own answer. Your buddy reads it and checks it with the checklist. The models come at the very end — try first!</a:t>
            </a:r>
            <a:endParaRPr lang="en-US" sz="1250" dirty="0"/>
          </a:p>
        </p:txBody>
      </p:sp>
      <p:sp>
        <p:nvSpPr>
          <p:cNvPr id="66" name="Text 6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 / 23</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TB-L06 · Writing practice room</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BEFORE THE ROOMS · HOW YOUR WRITING ROOM WORKS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Write alone, check together</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كَيْفَ نَعْمَلُ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B · Writing practice room · TB-L06</a:t>
            </a:r>
            <a:endParaRPr lang="en-US" sz="850" dirty="0"/>
          </a:p>
        </p:txBody>
      </p:sp>
      <p:sp>
        <p:nvSpPr>
          <p:cNvPr id="15" name="Shape 12"/>
          <p:cNvSpPr/>
          <p:nvPr/>
        </p:nvSpPr>
        <p:spPr>
          <a:xfrm>
            <a:off x="457200" y="1810512"/>
            <a:ext cx="6172200" cy="4498848"/>
          </a:xfrm>
          <a:prstGeom prst="roundRect">
            <a:avLst>
              <a:gd name="adj" fmla="val 162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58368" y="1883664"/>
            <a:ext cx="580644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HOW IT WORKS</a:t>
            </a:r>
            <a:endParaRPr lang="en-US" sz="1000" dirty="0"/>
          </a:p>
        </p:txBody>
      </p:sp>
      <p:sp>
        <p:nvSpPr>
          <p:cNvPr id="17" name="Shape 14"/>
          <p:cNvSpPr/>
          <p:nvPr/>
        </p:nvSpPr>
        <p:spPr>
          <a:xfrm>
            <a:off x="658368" y="2286000"/>
            <a:ext cx="310896" cy="310896"/>
          </a:xfrm>
          <a:prstGeom prst="ellipse">
            <a:avLst/>
          </a:prstGeom>
          <a:solidFill>
            <a:srgbClr val="1B3B6F"/>
          </a:solidFill>
          <a:ln w="12700">
            <a:solidFill>
              <a:srgbClr val="1B3B6F"/>
            </a:solidFill>
            <a:prstDash val="solid"/>
          </a:ln>
        </p:spPr>
      </p:sp>
      <p:sp>
        <p:nvSpPr>
          <p:cNvPr id="18" name="Text 15"/>
          <p:cNvSpPr txBox="1"/>
          <p:nvPr/>
        </p:nvSpPr>
        <p:spPr>
          <a:xfrm>
            <a:off x="658368" y="2286000"/>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1</a:t>
            </a:r>
            <a:endParaRPr lang="en-US" sz="1100" dirty="0"/>
          </a:p>
        </p:txBody>
      </p:sp>
      <p:sp>
        <p:nvSpPr>
          <p:cNvPr id="19" name="Text 16"/>
          <p:cNvSpPr txBox="1"/>
          <p:nvPr/>
        </p:nvSpPr>
        <p:spPr>
          <a:xfrm>
            <a:off x="1078992" y="2176272"/>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Rooms of two or three. Each person writes their OWN answer on their own page.</a:t>
            </a:r>
            <a:endParaRPr lang="en-US" sz="1300" dirty="0"/>
          </a:p>
        </p:txBody>
      </p:sp>
      <p:sp>
        <p:nvSpPr>
          <p:cNvPr id="20" name="Shape 17"/>
          <p:cNvSpPr/>
          <p:nvPr/>
        </p:nvSpPr>
        <p:spPr>
          <a:xfrm>
            <a:off x="658368" y="3296412"/>
            <a:ext cx="310896" cy="310896"/>
          </a:xfrm>
          <a:prstGeom prst="ellipse">
            <a:avLst/>
          </a:prstGeom>
          <a:solidFill>
            <a:srgbClr val="1B3B6F"/>
          </a:solidFill>
          <a:ln w="12700">
            <a:solidFill>
              <a:srgbClr val="1B3B6F"/>
            </a:solidFill>
            <a:prstDash val="solid"/>
          </a:ln>
        </p:spPr>
      </p:sp>
      <p:sp>
        <p:nvSpPr>
          <p:cNvPr id="21" name="Text 18"/>
          <p:cNvSpPr txBox="1"/>
          <p:nvPr/>
        </p:nvSpPr>
        <p:spPr>
          <a:xfrm>
            <a:off x="658368" y="3296412"/>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2</a:t>
            </a:r>
            <a:endParaRPr lang="en-US" sz="1100" dirty="0"/>
          </a:p>
        </p:txBody>
      </p:sp>
      <p:sp>
        <p:nvSpPr>
          <p:cNvPr id="22" name="Text 19"/>
          <p:cNvSpPr txBox="1"/>
          <p:nvPr/>
        </p:nvSpPr>
        <p:spPr>
          <a:xfrm>
            <a:off x="1078992" y="3186684"/>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LEADER keeps the time for each step and moves the room on.</a:t>
            </a:r>
            <a:endParaRPr lang="en-US" sz="1300" dirty="0"/>
          </a:p>
        </p:txBody>
      </p:sp>
      <p:sp>
        <p:nvSpPr>
          <p:cNvPr id="23" name="Shape 20"/>
          <p:cNvSpPr/>
          <p:nvPr/>
        </p:nvSpPr>
        <p:spPr>
          <a:xfrm>
            <a:off x="658368" y="4306824"/>
            <a:ext cx="310896" cy="310896"/>
          </a:xfrm>
          <a:prstGeom prst="ellipse">
            <a:avLst/>
          </a:prstGeom>
          <a:solidFill>
            <a:srgbClr val="1B3B6F"/>
          </a:solidFill>
          <a:ln w="12700">
            <a:solidFill>
              <a:srgbClr val="1B3B6F"/>
            </a:solidFill>
            <a:prstDash val="solid"/>
          </a:ln>
        </p:spPr>
      </p:sp>
      <p:sp>
        <p:nvSpPr>
          <p:cNvPr id="24" name="Text 21"/>
          <p:cNvSpPr txBox="1"/>
          <p:nvPr/>
        </p:nvSpPr>
        <p:spPr>
          <a:xfrm>
            <a:off x="658368" y="4306824"/>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3</a:t>
            </a:r>
            <a:endParaRPr lang="en-US" sz="1100" dirty="0"/>
          </a:p>
        </p:txBody>
      </p:sp>
      <p:sp>
        <p:nvSpPr>
          <p:cNvPr id="25" name="Text 22"/>
          <p:cNvSpPr txBox="1"/>
          <p:nvPr/>
        </p:nvSpPr>
        <p:spPr>
          <a:xfrm>
            <a:off x="1078992" y="4197096"/>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BUDDY — after each writing step, swap pages and check with the checklist (Step 5).</a:t>
            </a:r>
            <a:endParaRPr lang="en-US" sz="1300" dirty="0"/>
          </a:p>
        </p:txBody>
      </p:sp>
      <p:sp>
        <p:nvSpPr>
          <p:cNvPr id="26" name="Shape 23"/>
          <p:cNvSpPr/>
          <p:nvPr/>
        </p:nvSpPr>
        <p:spPr>
          <a:xfrm>
            <a:off x="658368" y="5317236"/>
            <a:ext cx="310896" cy="310896"/>
          </a:xfrm>
          <a:prstGeom prst="ellipse">
            <a:avLst/>
          </a:prstGeom>
          <a:solidFill>
            <a:srgbClr val="1B3B6F"/>
          </a:solidFill>
          <a:ln w="12700">
            <a:solidFill>
              <a:srgbClr val="1B3B6F"/>
            </a:solidFill>
            <a:prstDash val="solid"/>
          </a:ln>
        </p:spPr>
      </p:sp>
      <p:sp>
        <p:nvSpPr>
          <p:cNvPr id="27" name="Text 24"/>
          <p:cNvSpPr txBox="1"/>
          <p:nvPr/>
        </p:nvSpPr>
        <p:spPr>
          <a:xfrm>
            <a:off x="658368" y="5317236"/>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4</a:t>
            </a:r>
            <a:endParaRPr lang="en-US" sz="1100" dirty="0"/>
          </a:p>
        </p:txBody>
      </p:sp>
      <p:sp>
        <p:nvSpPr>
          <p:cNvPr id="28" name="Text 25"/>
          <p:cNvSpPr txBox="1"/>
          <p:nvPr/>
        </p:nvSpPr>
        <p:spPr>
          <a:xfrm>
            <a:off x="1078992" y="5207508"/>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Try every step BEFORE you look at a model. The models are at the end.</a:t>
            </a:r>
            <a:endParaRPr lang="en-US" sz="1300" dirty="0"/>
          </a:p>
        </p:txBody>
      </p:sp>
      <p:sp>
        <p:nvSpPr>
          <p:cNvPr id="29" name="Shape 26"/>
          <p:cNvSpPr/>
          <p:nvPr/>
        </p:nvSpPr>
        <p:spPr>
          <a:xfrm>
            <a:off x="6812280" y="1810512"/>
            <a:ext cx="491947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6995160" y="1883664"/>
            <a:ext cx="4553712" cy="274320"/>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THE PROCESS YOU WILL USE IN THE EXAM</a:t>
            </a:r>
            <a:endParaRPr lang="en-US" sz="1000" dirty="0"/>
          </a:p>
        </p:txBody>
      </p:sp>
      <p:sp>
        <p:nvSpPr>
          <p:cNvPr id="31" name="Text 28"/>
          <p:cNvSpPr txBox="1"/>
          <p:nvPr/>
        </p:nvSpPr>
        <p:spPr>
          <a:xfrm>
            <a:off x="6949440" y="2194560"/>
            <a:ext cx="4645152" cy="1141903"/>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افْهَمْ ← خَطِّطْ ← اكْتُبْ ← رَاجِعْ</a:t>
            </a:r>
            <a:endParaRPr lang="ar-SA" sz="2800" dirty="0"/>
          </a:p>
        </p:txBody>
      </p:sp>
      <p:sp>
        <p:nvSpPr>
          <p:cNvPr id="32" name="Text 29"/>
          <p:cNvSpPr txBox="1"/>
          <p:nvPr/>
        </p:nvSpPr>
        <p:spPr>
          <a:xfrm>
            <a:off x="6949440" y="3336463"/>
            <a:ext cx="4645152" cy="815645"/>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decode → plan → write → check</a:t>
            </a:r>
            <a:endParaRPr lang="en-US" sz="1100" dirty="0"/>
          </a:p>
        </p:txBody>
      </p:sp>
      <p:sp>
        <p:nvSpPr>
          <p:cNvPr id="33" name="Shape 30"/>
          <p:cNvSpPr/>
          <p:nvPr/>
        </p:nvSpPr>
        <p:spPr>
          <a:xfrm>
            <a:off x="6995160" y="4215384"/>
            <a:ext cx="4553712" cy="0"/>
          </a:xfrm>
          <a:prstGeom prst="line">
            <a:avLst/>
          </a:prstGeom>
          <a:noFill/>
          <a:ln w="9525">
            <a:solidFill>
              <a:srgbClr val="E4DCCB"/>
            </a:solidFill>
            <a:prstDash val="dash"/>
          </a:ln>
        </p:spPr>
      </p:sp>
      <p:sp>
        <p:nvSpPr>
          <p:cNvPr id="34" name="Text 31"/>
          <p:cNvSpPr txBox="1"/>
          <p:nvPr/>
        </p:nvSpPr>
        <p:spPr>
          <a:xfrm>
            <a:off x="6949440" y="4233672"/>
            <a:ext cx="4645152" cy="1141903"/>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نُقْطَةٌ وَاحِدَةٌ = فِقْرَةٌ وَاحِدَةٌ</a:t>
            </a:r>
            <a:endParaRPr lang="ar-SA" sz="2800" dirty="0"/>
          </a:p>
        </p:txBody>
      </p:sp>
      <p:sp>
        <p:nvSpPr>
          <p:cNvPr id="35" name="Text 32"/>
          <p:cNvSpPr txBox="1"/>
          <p:nvPr/>
        </p:nvSpPr>
        <p:spPr>
          <a:xfrm>
            <a:off x="6949440" y="5375575"/>
            <a:ext cx="4645152" cy="815645"/>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one bullet point = one paragraph</a:t>
            </a:r>
            <a:endParaRPr lang="en-US" sz="1100" dirty="0"/>
          </a:p>
        </p:txBody>
      </p:sp>
      <p:sp>
        <p:nvSpPr>
          <p:cNvPr id="36" name="Text 3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 / 23</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TB-L06 · Writing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2F6FB0"/>
                </a:solidFill>
                <a:latin typeface="Calibri" pitchFamily="34" charset="0"/>
                <a:cs typeface="Amiri" pitchFamily="2" charset="-78"/>
              </a:rPr>
              <a:t>STEP 1 · Q1 WARM-UP · 4 MINUTES · A SHORT ANSWER IN EACH BOX</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Lost property: report form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المَفْقُودَاتُ: اسْتِمَارَةُ بَلَاغٍ</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B · Writing practice room · TB-L06</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7799832" y="1810512"/>
            <a:ext cx="385876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Tip</a:t>
            </a:r>
            <a:endParaRPr lang="en-US" sz="1100" dirty="0"/>
          </a:p>
        </p:txBody>
      </p:sp>
      <p:sp>
        <p:nvSpPr>
          <p:cNvPr id="17" name="Text 14"/>
          <p:cNvSpPr txBox="1"/>
          <p:nvPr/>
        </p:nvSpPr>
        <p:spPr>
          <a:xfrm>
            <a:off x="4873752" y="1810512"/>
            <a:ext cx="27797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What to write</a:t>
            </a:r>
            <a:endParaRPr lang="en-US" sz="1100" dirty="0"/>
          </a:p>
        </p:txBody>
      </p:sp>
      <p:sp>
        <p:nvSpPr>
          <p:cNvPr id="18" name="Text 15"/>
          <p:cNvSpPr txBox="1"/>
          <p:nvPr/>
        </p:nvSpPr>
        <p:spPr>
          <a:xfrm>
            <a:off x="1033272" y="1810512"/>
            <a:ext cx="36941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The form</a:t>
            </a:r>
            <a:endParaRPr lang="en-US" sz="1100" dirty="0"/>
          </a:p>
        </p:txBody>
      </p:sp>
      <p:sp>
        <p:nvSpPr>
          <p:cNvPr id="19" name="Text 16"/>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20" name="Shape 17"/>
          <p:cNvSpPr/>
          <p:nvPr/>
        </p:nvSpPr>
        <p:spPr>
          <a:xfrm>
            <a:off x="457200" y="2267712"/>
            <a:ext cx="11274552" cy="559308"/>
          </a:xfrm>
          <a:prstGeom prst="roundRect">
            <a:avLst>
              <a:gd name="adj" fmla="val 8174"/>
            </a:avLst>
          </a:prstGeom>
          <a:solidFill>
            <a:srgbClr val="FFFFFF"/>
          </a:solidFill>
          <a:ln w="9525">
            <a:solidFill>
              <a:srgbClr val="D8D0BF"/>
            </a:solidFill>
            <a:prstDash val="solid"/>
          </a:ln>
        </p:spPr>
      </p:sp>
      <p:sp>
        <p:nvSpPr>
          <p:cNvPr id="21" name="Text 18"/>
          <p:cNvSpPr txBox="1"/>
          <p:nvPr/>
        </p:nvSpPr>
        <p:spPr>
          <a:xfrm>
            <a:off x="7836408" y="2267712"/>
            <a:ext cx="382219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First name + family name.</a:t>
            </a:r>
            <a:endParaRPr lang="en-US" sz="1100" dirty="0"/>
          </a:p>
        </p:txBody>
      </p:sp>
      <p:sp>
        <p:nvSpPr>
          <p:cNvPr id="22" name="Text 19"/>
          <p:cNvSpPr txBox="1"/>
          <p:nvPr/>
        </p:nvSpPr>
        <p:spPr>
          <a:xfrm>
            <a:off x="4910328" y="2267712"/>
            <a:ext cx="27432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Name</a:t>
            </a:r>
            <a:endParaRPr lang="en-US" sz="1100" dirty="0"/>
          </a:p>
        </p:txBody>
      </p:sp>
      <p:sp>
        <p:nvSpPr>
          <p:cNvPr id="23" name="Text 20"/>
          <p:cNvSpPr txBox="1"/>
          <p:nvPr/>
        </p:nvSpPr>
        <p:spPr>
          <a:xfrm>
            <a:off x="1051560" y="2267712"/>
            <a:ext cx="3657600" cy="559308"/>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الاسْمُ</a:t>
            </a:r>
            <a:endParaRPr lang="ar-SA" sz="1700" dirty="0"/>
          </a:p>
        </p:txBody>
      </p:sp>
      <p:sp>
        <p:nvSpPr>
          <p:cNvPr id="24" name="Text 21"/>
          <p:cNvSpPr txBox="1"/>
          <p:nvPr/>
        </p:nvSpPr>
        <p:spPr>
          <a:xfrm>
            <a:off x="566928" y="2267712"/>
            <a:ext cx="3200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2881884"/>
            <a:ext cx="11274552" cy="559308"/>
          </a:xfrm>
          <a:prstGeom prst="roundRect">
            <a:avLst>
              <a:gd name="adj" fmla="val 8174"/>
            </a:avLst>
          </a:prstGeom>
          <a:solidFill>
            <a:srgbClr val="F4F1EA"/>
          </a:solidFill>
          <a:ln w="9525">
            <a:solidFill>
              <a:srgbClr val="D8D0BF"/>
            </a:solidFill>
            <a:prstDash val="solid"/>
          </a:ln>
        </p:spPr>
      </p:sp>
      <p:sp>
        <p:nvSpPr>
          <p:cNvPr id="28" name="Text 25"/>
          <p:cNvSpPr txBox="1"/>
          <p:nvPr/>
        </p:nvSpPr>
        <p:spPr>
          <a:xfrm>
            <a:off x="7818120" y="2881884"/>
            <a:ext cx="3822192"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مِعْطَفٌ · حَقِيبَةٌ</a:t>
            </a:r>
            <a:endParaRPr lang="ar-SA" sz="2000" dirty="0"/>
          </a:p>
        </p:txBody>
      </p:sp>
      <p:sp>
        <p:nvSpPr>
          <p:cNvPr id="29" name="Text 26"/>
          <p:cNvSpPr txBox="1"/>
          <p:nvPr/>
        </p:nvSpPr>
        <p:spPr>
          <a:xfrm>
            <a:off x="4910328" y="2881884"/>
            <a:ext cx="27432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Lost item</a:t>
            </a:r>
            <a:endParaRPr lang="en-US" sz="1100" dirty="0"/>
          </a:p>
        </p:txBody>
      </p:sp>
      <p:sp>
        <p:nvSpPr>
          <p:cNvPr id="30" name="Text 27"/>
          <p:cNvSpPr txBox="1"/>
          <p:nvPr/>
        </p:nvSpPr>
        <p:spPr>
          <a:xfrm>
            <a:off x="1051560" y="2881884"/>
            <a:ext cx="3657600" cy="559308"/>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الشَّيْءُ المَفْقُودُ</a:t>
            </a:r>
            <a:endParaRPr lang="ar-SA" sz="1700" dirty="0"/>
          </a:p>
        </p:txBody>
      </p:sp>
      <p:sp>
        <p:nvSpPr>
          <p:cNvPr id="31" name="Text 28"/>
          <p:cNvSpPr txBox="1"/>
          <p:nvPr/>
        </p:nvSpPr>
        <p:spPr>
          <a:xfrm>
            <a:off x="566928" y="2881884"/>
            <a:ext cx="3200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2" name="Shape 29"/>
          <p:cNvSpPr/>
          <p:nvPr/>
        </p:nvSpPr>
        <p:spPr>
          <a:xfrm>
            <a:off x="11091672" y="2927604"/>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2927604"/>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496056"/>
            <a:ext cx="11274552" cy="559308"/>
          </a:xfrm>
          <a:prstGeom prst="roundRect">
            <a:avLst>
              <a:gd name="adj" fmla="val 8174"/>
            </a:avLst>
          </a:prstGeom>
          <a:solidFill>
            <a:srgbClr val="FFFFFF"/>
          </a:solidFill>
          <a:ln w="9525">
            <a:solidFill>
              <a:srgbClr val="D8D0BF"/>
            </a:solidFill>
            <a:prstDash val="solid"/>
          </a:ln>
        </p:spPr>
      </p:sp>
      <p:sp>
        <p:nvSpPr>
          <p:cNvPr id="35" name="Text 32"/>
          <p:cNvSpPr txBox="1"/>
          <p:nvPr/>
        </p:nvSpPr>
        <p:spPr>
          <a:xfrm>
            <a:off x="7836408" y="3496056"/>
            <a:ext cx="382219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Agree: </a:t>
            </a:r>
            <a:pPr algn="l" indent="0" marL="0">
              <a:buNone/>
            </a:pPr>
            <a:r>
              <a:rPr lang="ar-SA" altLang="en-US" sz="1450" dirty="0">
                <a:solidFill>
                  <a:srgbClr val="5A6472"/>
                </a:solidFill>
                <a:latin typeface="Amiri" pitchFamily="2" charset="-78"/>
                <a:ea typeface="Amiri" pitchFamily="2" charset="-78"/>
                <a:cs typeface="Amiri" pitchFamily="2" charset="-78"/>
              </a:rPr>
              <a:t>مِعْطَفٌ أَسْوَدُ</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حَقِيبَةٌ سَوْدَاءُ</a:t>
            </a:r>
            <a:endParaRPr lang="en-US" sz="1100" dirty="0"/>
          </a:p>
        </p:txBody>
      </p:sp>
      <p:sp>
        <p:nvSpPr>
          <p:cNvPr id="36" name="Text 33"/>
          <p:cNvSpPr txBox="1"/>
          <p:nvPr/>
        </p:nvSpPr>
        <p:spPr>
          <a:xfrm>
            <a:off x="4910328" y="3496056"/>
            <a:ext cx="27432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Colour</a:t>
            </a:r>
            <a:endParaRPr lang="en-US" sz="1100" dirty="0"/>
          </a:p>
        </p:txBody>
      </p:sp>
      <p:sp>
        <p:nvSpPr>
          <p:cNvPr id="37" name="Text 34"/>
          <p:cNvSpPr txBox="1"/>
          <p:nvPr/>
        </p:nvSpPr>
        <p:spPr>
          <a:xfrm>
            <a:off x="1051560" y="3496056"/>
            <a:ext cx="3657600" cy="559308"/>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اللَّوْنُ</a:t>
            </a:r>
            <a:endParaRPr lang="ar-SA" sz="1700" dirty="0"/>
          </a:p>
        </p:txBody>
      </p:sp>
      <p:sp>
        <p:nvSpPr>
          <p:cNvPr id="38" name="Text 35"/>
          <p:cNvSpPr txBox="1"/>
          <p:nvPr/>
        </p:nvSpPr>
        <p:spPr>
          <a:xfrm>
            <a:off x="566928" y="3496056"/>
            <a:ext cx="3200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39" name="Shape 36"/>
          <p:cNvSpPr/>
          <p:nvPr/>
        </p:nvSpPr>
        <p:spPr>
          <a:xfrm>
            <a:off x="11091672" y="3541776"/>
            <a:ext cx="548640" cy="182880"/>
          </a:xfrm>
          <a:prstGeom prst="roundRect">
            <a:avLst>
              <a:gd name="adj" fmla="val 50000"/>
            </a:avLst>
          </a:prstGeom>
          <a:solidFill>
            <a:srgbClr val="2E8B57"/>
          </a:solidFill>
          <a:ln w="12700">
            <a:solidFill>
              <a:srgbClr val="2E8B57"/>
            </a:solidFill>
            <a:prstDash val="solid"/>
          </a:ln>
        </p:spPr>
      </p:sp>
      <p:sp>
        <p:nvSpPr>
          <p:cNvPr id="40" name="Text 37"/>
          <p:cNvSpPr txBox="1"/>
          <p:nvPr/>
        </p:nvSpPr>
        <p:spPr>
          <a:xfrm>
            <a:off x="11091672" y="354177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1" name="Shape 38"/>
          <p:cNvSpPr/>
          <p:nvPr/>
        </p:nvSpPr>
        <p:spPr>
          <a:xfrm>
            <a:off x="457200" y="4110228"/>
            <a:ext cx="11274552" cy="559308"/>
          </a:xfrm>
          <a:prstGeom prst="roundRect">
            <a:avLst>
              <a:gd name="adj" fmla="val 8174"/>
            </a:avLst>
          </a:prstGeom>
          <a:solidFill>
            <a:srgbClr val="F4F1EA"/>
          </a:solidFill>
          <a:ln w="9525">
            <a:solidFill>
              <a:srgbClr val="D8D0BF"/>
            </a:solidFill>
            <a:prstDash val="solid"/>
          </a:ln>
        </p:spPr>
      </p:sp>
      <p:sp>
        <p:nvSpPr>
          <p:cNvPr id="42" name="Text 39"/>
          <p:cNvSpPr txBox="1"/>
          <p:nvPr/>
        </p:nvSpPr>
        <p:spPr>
          <a:xfrm>
            <a:off x="7818120" y="4110228"/>
            <a:ext cx="3822192"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الجِلْدِ · القُطْنِ</a:t>
            </a:r>
            <a:endParaRPr lang="ar-SA" sz="2000" dirty="0"/>
          </a:p>
        </p:txBody>
      </p:sp>
      <p:sp>
        <p:nvSpPr>
          <p:cNvPr id="43" name="Text 40"/>
          <p:cNvSpPr txBox="1"/>
          <p:nvPr/>
        </p:nvSpPr>
        <p:spPr>
          <a:xfrm>
            <a:off x="4910328" y="4110228"/>
            <a:ext cx="27432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Made of</a:t>
            </a:r>
            <a:endParaRPr lang="en-US" sz="1100" dirty="0"/>
          </a:p>
        </p:txBody>
      </p:sp>
      <p:sp>
        <p:nvSpPr>
          <p:cNvPr id="44" name="Text 41"/>
          <p:cNvSpPr txBox="1"/>
          <p:nvPr/>
        </p:nvSpPr>
        <p:spPr>
          <a:xfrm>
            <a:off x="1051560" y="4110228"/>
            <a:ext cx="3657600" cy="559308"/>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مَصْنُوعٌ مِنْ</a:t>
            </a:r>
            <a:endParaRPr lang="ar-SA" sz="1700" dirty="0"/>
          </a:p>
        </p:txBody>
      </p:sp>
      <p:sp>
        <p:nvSpPr>
          <p:cNvPr id="45" name="Text 42"/>
          <p:cNvSpPr txBox="1"/>
          <p:nvPr/>
        </p:nvSpPr>
        <p:spPr>
          <a:xfrm>
            <a:off x="566928" y="4110228"/>
            <a:ext cx="3200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46" name="Shape 43"/>
          <p:cNvSpPr/>
          <p:nvPr/>
        </p:nvSpPr>
        <p:spPr>
          <a:xfrm>
            <a:off x="11091672" y="4155948"/>
            <a:ext cx="548640" cy="182880"/>
          </a:xfrm>
          <a:prstGeom prst="roundRect">
            <a:avLst>
              <a:gd name="adj" fmla="val 50000"/>
            </a:avLst>
          </a:prstGeom>
          <a:solidFill>
            <a:srgbClr val="2E8B57"/>
          </a:solidFill>
          <a:ln w="12700">
            <a:solidFill>
              <a:srgbClr val="2E8B57"/>
            </a:solidFill>
            <a:prstDash val="solid"/>
          </a:ln>
        </p:spPr>
      </p:sp>
      <p:sp>
        <p:nvSpPr>
          <p:cNvPr id="47" name="Text 44"/>
          <p:cNvSpPr txBox="1"/>
          <p:nvPr/>
        </p:nvSpPr>
        <p:spPr>
          <a:xfrm>
            <a:off x="11091672" y="415594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8" name="Shape 45"/>
          <p:cNvSpPr/>
          <p:nvPr/>
        </p:nvSpPr>
        <p:spPr>
          <a:xfrm>
            <a:off x="457200" y="4724400"/>
            <a:ext cx="11274552" cy="559308"/>
          </a:xfrm>
          <a:prstGeom prst="roundRect">
            <a:avLst>
              <a:gd name="adj" fmla="val 8174"/>
            </a:avLst>
          </a:prstGeom>
          <a:solidFill>
            <a:srgbClr val="FFFFFF"/>
          </a:solidFill>
          <a:ln w="9525">
            <a:solidFill>
              <a:srgbClr val="D8D0BF"/>
            </a:solidFill>
            <a:prstDash val="solid"/>
          </a:ln>
        </p:spPr>
      </p:sp>
      <p:sp>
        <p:nvSpPr>
          <p:cNvPr id="49" name="Text 46"/>
          <p:cNvSpPr txBox="1"/>
          <p:nvPr/>
        </p:nvSpPr>
        <p:spPr>
          <a:xfrm>
            <a:off x="7818120" y="4724400"/>
            <a:ext cx="3822192"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فِي الحَافِلَةِ رَقْمَ ١٢</a:t>
            </a:r>
            <a:endParaRPr lang="ar-SA" sz="2000" dirty="0"/>
          </a:p>
        </p:txBody>
      </p:sp>
      <p:sp>
        <p:nvSpPr>
          <p:cNvPr id="50" name="Text 47"/>
          <p:cNvSpPr txBox="1"/>
          <p:nvPr/>
        </p:nvSpPr>
        <p:spPr>
          <a:xfrm>
            <a:off x="4910328" y="4724400"/>
            <a:ext cx="27432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Where you lost it</a:t>
            </a:r>
            <a:endParaRPr lang="en-US" sz="1100" dirty="0"/>
          </a:p>
        </p:txBody>
      </p:sp>
      <p:sp>
        <p:nvSpPr>
          <p:cNvPr id="51" name="Text 48"/>
          <p:cNvSpPr txBox="1"/>
          <p:nvPr/>
        </p:nvSpPr>
        <p:spPr>
          <a:xfrm>
            <a:off x="1051560" y="4724400"/>
            <a:ext cx="3657600" cy="559308"/>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المَكَانُ</a:t>
            </a:r>
            <a:endParaRPr lang="ar-SA" sz="1700" dirty="0"/>
          </a:p>
        </p:txBody>
      </p:sp>
      <p:sp>
        <p:nvSpPr>
          <p:cNvPr id="52" name="Text 49"/>
          <p:cNvSpPr txBox="1"/>
          <p:nvPr/>
        </p:nvSpPr>
        <p:spPr>
          <a:xfrm>
            <a:off x="566928" y="4724400"/>
            <a:ext cx="3200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5</a:t>
            </a:r>
            <a:endParaRPr lang="en-US" sz="1100" dirty="0"/>
          </a:p>
        </p:txBody>
      </p:sp>
      <p:sp>
        <p:nvSpPr>
          <p:cNvPr id="53" name="Shape 50"/>
          <p:cNvSpPr/>
          <p:nvPr/>
        </p:nvSpPr>
        <p:spPr>
          <a:xfrm>
            <a:off x="11091672" y="4770120"/>
            <a:ext cx="548640" cy="182880"/>
          </a:xfrm>
          <a:prstGeom prst="roundRect">
            <a:avLst>
              <a:gd name="adj" fmla="val 50000"/>
            </a:avLst>
          </a:prstGeom>
          <a:solidFill>
            <a:srgbClr val="2E8B57"/>
          </a:solidFill>
          <a:ln w="12700">
            <a:solidFill>
              <a:srgbClr val="2E8B57"/>
            </a:solidFill>
            <a:prstDash val="solid"/>
          </a:ln>
        </p:spPr>
      </p:sp>
      <p:sp>
        <p:nvSpPr>
          <p:cNvPr id="54" name="Text 51"/>
          <p:cNvSpPr txBox="1"/>
          <p:nvPr/>
        </p:nvSpPr>
        <p:spPr>
          <a:xfrm>
            <a:off x="11091672" y="4770120"/>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55" name="Shape 52"/>
          <p:cNvSpPr/>
          <p:nvPr/>
        </p:nvSpPr>
        <p:spPr>
          <a:xfrm>
            <a:off x="457200" y="5338572"/>
            <a:ext cx="11274552" cy="559308"/>
          </a:xfrm>
          <a:prstGeom prst="roundRect">
            <a:avLst>
              <a:gd name="adj" fmla="val 8174"/>
            </a:avLst>
          </a:prstGeom>
          <a:solidFill>
            <a:srgbClr val="F4F1EA"/>
          </a:solidFill>
          <a:ln w="9525">
            <a:solidFill>
              <a:srgbClr val="D8D0BF"/>
            </a:solidFill>
            <a:prstDash val="solid"/>
          </a:ln>
        </p:spPr>
      </p:sp>
      <p:sp>
        <p:nvSpPr>
          <p:cNvPr id="56" name="Text 53"/>
          <p:cNvSpPr txBox="1"/>
          <p:nvPr/>
        </p:nvSpPr>
        <p:spPr>
          <a:xfrm>
            <a:off x="7818120" y="5338572"/>
            <a:ext cx="3822192"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هُوَ … فَاتِحٌ، وَعَلَيْهِ …</a:t>
            </a:r>
            <a:endParaRPr lang="ar-SA" sz="2000" dirty="0"/>
          </a:p>
        </p:txBody>
      </p:sp>
      <p:sp>
        <p:nvSpPr>
          <p:cNvPr id="57" name="Text 54"/>
          <p:cNvSpPr txBox="1"/>
          <p:nvPr/>
        </p:nvSpPr>
        <p:spPr>
          <a:xfrm>
            <a:off x="4910328" y="5338572"/>
            <a:ext cx="27432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ONE sentence: describe it precisely</a:t>
            </a:r>
            <a:endParaRPr lang="en-US" sz="1100" dirty="0"/>
          </a:p>
        </p:txBody>
      </p:sp>
      <p:sp>
        <p:nvSpPr>
          <p:cNvPr id="58" name="Text 55"/>
          <p:cNvSpPr txBox="1"/>
          <p:nvPr/>
        </p:nvSpPr>
        <p:spPr>
          <a:xfrm>
            <a:off x="1051560" y="5338572"/>
            <a:ext cx="3657600" cy="559308"/>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جُمْلَةٌ: صِفْهُ بِدِقَّةٍ</a:t>
            </a:r>
            <a:endParaRPr lang="ar-SA" sz="1700" dirty="0"/>
          </a:p>
        </p:txBody>
      </p:sp>
      <p:sp>
        <p:nvSpPr>
          <p:cNvPr id="59" name="Text 56"/>
          <p:cNvSpPr txBox="1"/>
          <p:nvPr/>
        </p:nvSpPr>
        <p:spPr>
          <a:xfrm>
            <a:off x="566928" y="5338572"/>
            <a:ext cx="3200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6</a:t>
            </a:r>
            <a:endParaRPr lang="en-US" sz="1100" dirty="0"/>
          </a:p>
        </p:txBody>
      </p:sp>
      <p:sp>
        <p:nvSpPr>
          <p:cNvPr id="60" name="Text 57"/>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Write a word or a short phrase — about yourself. Buddy check: does each answer match exactly what the box asks?</a:t>
            </a:r>
            <a:endParaRPr lang="en-US" sz="1150" dirty="0"/>
          </a:p>
        </p:txBody>
      </p:sp>
      <p:sp>
        <p:nvSpPr>
          <p:cNvPr id="61" name="Text 5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5 / 23</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TB-L06 · Writing practice room</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STEP 2 · DECODE THE QUESTION BEFORE YOU WRITE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Four moves to decode a question</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افْهَمِ السُّؤَالَ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B · Writing practice room · TB-L06</a:t>
            </a:r>
            <a:endParaRPr lang="en-US" sz="850" dirty="0"/>
          </a:p>
        </p:txBody>
      </p:sp>
      <p:sp>
        <p:nvSpPr>
          <p:cNvPr id="15" name="Shape 12"/>
          <p:cNvSpPr/>
          <p:nvPr/>
        </p:nvSpPr>
        <p:spPr>
          <a:xfrm>
            <a:off x="457200" y="1810512"/>
            <a:ext cx="6172200" cy="4498848"/>
          </a:xfrm>
          <a:prstGeom prst="roundRect">
            <a:avLst>
              <a:gd name="adj" fmla="val 162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58368" y="1883664"/>
            <a:ext cx="580644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DECODE IN TWO MINUTES</a:t>
            </a:r>
            <a:endParaRPr lang="en-US" sz="1000" dirty="0"/>
          </a:p>
        </p:txBody>
      </p:sp>
      <p:sp>
        <p:nvSpPr>
          <p:cNvPr id="17" name="Shape 14"/>
          <p:cNvSpPr/>
          <p:nvPr/>
        </p:nvSpPr>
        <p:spPr>
          <a:xfrm>
            <a:off x="658368" y="2286000"/>
            <a:ext cx="310896" cy="310896"/>
          </a:xfrm>
          <a:prstGeom prst="ellipse">
            <a:avLst/>
          </a:prstGeom>
          <a:solidFill>
            <a:srgbClr val="1B3B6F"/>
          </a:solidFill>
          <a:ln w="12700">
            <a:solidFill>
              <a:srgbClr val="1B3B6F"/>
            </a:solidFill>
            <a:prstDash val="solid"/>
          </a:ln>
        </p:spPr>
      </p:sp>
      <p:sp>
        <p:nvSpPr>
          <p:cNvPr id="18" name="Text 15"/>
          <p:cNvSpPr txBox="1"/>
          <p:nvPr/>
        </p:nvSpPr>
        <p:spPr>
          <a:xfrm>
            <a:off x="658368" y="2286000"/>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1</a:t>
            </a:r>
            <a:endParaRPr lang="en-US" sz="1100" dirty="0"/>
          </a:p>
        </p:txBody>
      </p:sp>
      <p:sp>
        <p:nvSpPr>
          <p:cNvPr id="19" name="Text 16"/>
          <p:cNvSpPr txBox="1"/>
          <p:nvPr/>
        </p:nvSpPr>
        <p:spPr>
          <a:xfrm>
            <a:off x="1078992" y="2176272"/>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WHAT do I write (an email, a message, a blog) and to WHOM (a friend → informal)?</a:t>
            </a:r>
            <a:endParaRPr lang="en-US" sz="1300" dirty="0"/>
          </a:p>
        </p:txBody>
      </p:sp>
      <p:sp>
        <p:nvSpPr>
          <p:cNvPr id="20" name="Shape 17"/>
          <p:cNvSpPr/>
          <p:nvPr/>
        </p:nvSpPr>
        <p:spPr>
          <a:xfrm>
            <a:off x="658368" y="3296412"/>
            <a:ext cx="310896" cy="310896"/>
          </a:xfrm>
          <a:prstGeom prst="ellipse">
            <a:avLst/>
          </a:prstGeom>
          <a:solidFill>
            <a:srgbClr val="1B3B6F"/>
          </a:solidFill>
          <a:ln w="12700">
            <a:solidFill>
              <a:srgbClr val="1B3B6F"/>
            </a:solidFill>
            <a:prstDash val="solid"/>
          </a:ln>
        </p:spPr>
      </p:sp>
      <p:sp>
        <p:nvSpPr>
          <p:cNvPr id="21" name="Text 18"/>
          <p:cNvSpPr txBox="1"/>
          <p:nvPr/>
        </p:nvSpPr>
        <p:spPr>
          <a:xfrm>
            <a:off x="658368" y="3296412"/>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2</a:t>
            </a:r>
            <a:endParaRPr lang="en-US" sz="1100" dirty="0"/>
          </a:p>
        </p:txBody>
      </p:sp>
      <p:sp>
        <p:nvSpPr>
          <p:cNvPr id="22" name="Text 19"/>
          <p:cNvSpPr txBox="1"/>
          <p:nvPr/>
        </p:nvSpPr>
        <p:spPr>
          <a:xfrm>
            <a:off x="1078992" y="3186684"/>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NUMBER the bullet points 1–4. Each one = one short paragraph.</a:t>
            </a:r>
            <a:endParaRPr lang="en-US" sz="1300" dirty="0"/>
          </a:p>
        </p:txBody>
      </p:sp>
      <p:sp>
        <p:nvSpPr>
          <p:cNvPr id="23" name="Shape 20"/>
          <p:cNvSpPr/>
          <p:nvPr/>
        </p:nvSpPr>
        <p:spPr>
          <a:xfrm>
            <a:off x="658368" y="4306824"/>
            <a:ext cx="310896" cy="310896"/>
          </a:xfrm>
          <a:prstGeom prst="ellipse">
            <a:avLst/>
          </a:prstGeom>
          <a:solidFill>
            <a:srgbClr val="1B3B6F"/>
          </a:solidFill>
          <a:ln w="12700">
            <a:solidFill>
              <a:srgbClr val="1B3B6F"/>
            </a:solidFill>
            <a:prstDash val="solid"/>
          </a:ln>
        </p:spPr>
      </p:sp>
      <p:sp>
        <p:nvSpPr>
          <p:cNvPr id="24" name="Text 21"/>
          <p:cNvSpPr txBox="1"/>
          <p:nvPr/>
        </p:nvSpPr>
        <p:spPr>
          <a:xfrm>
            <a:off x="658368" y="4306824"/>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3</a:t>
            </a:r>
            <a:endParaRPr lang="en-US" sz="1100" dirty="0"/>
          </a:p>
        </p:txBody>
      </p:sp>
      <p:sp>
        <p:nvSpPr>
          <p:cNvPr id="25" name="Text 22"/>
          <p:cNvSpPr txBox="1"/>
          <p:nvPr/>
        </p:nvSpPr>
        <p:spPr>
          <a:xfrm>
            <a:off x="1078992" y="4197096"/>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UNDERLINE the question word in each bullet and decide the TENSE it needs.</a:t>
            </a:r>
            <a:endParaRPr lang="en-US" sz="1300" dirty="0"/>
          </a:p>
        </p:txBody>
      </p:sp>
      <p:sp>
        <p:nvSpPr>
          <p:cNvPr id="26" name="Shape 23"/>
          <p:cNvSpPr/>
          <p:nvPr/>
        </p:nvSpPr>
        <p:spPr>
          <a:xfrm>
            <a:off x="658368" y="5317236"/>
            <a:ext cx="310896" cy="310896"/>
          </a:xfrm>
          <a:prstGeom prst="ellipse">
            <a:avLst/>
          </a:prstGeom>
          <a:solidFill>
            <a:srgbClr val="1B3B6F"/>
          </a:solidFill>
          <a:ln w="12700">
            <a:solidFill>
              <a:srgbClr val="1B3B6F"/>
            </a:solidFill>
            <a:prstDash val="solid"/>
          </a:ln>
        </p:spPr>
      </p:sp>
      <p:sp>
        <p:nvSpPr>
          <p:cNvPr id="27" name="Text 24"/>
          <p:cNvSpPr txBox="1"/>
          <p:nvPr/>
        </p:nvSpPr>
        <p:spPr>
          <a:xfrm>
            <a:off x="658368" y="5317236"/>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4</a:t>
            </a:r>
            <a:endParaRPr lang="en-US" sz="1100" dirty="0"/>
          </a:p>
        </p:txBody>
      </p:sp>
      <p:sp>
        <p:nvSpPr>
          <p:cNvPr id="28" name="Text 25"/>
          <p:cNvSpPr txBox="1"/>
          <p:nvPr/>
        </p:nvSpPr>
        <p:spPr>
          <a:xfrm>
            <a:off x="1078992" y="5207508"/>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Write ONE idea (in English or Arabic) next to each bullet. That is your plan.</a:t>
            </a:r>
            <a:endParaRPr lang="en-US" sz="1300" dirty="0"/>
          </a:p>
        </p:txBody>
      </p:sp>
      <p:sp>
        <p:nvSpPr>
          <p:cNvPr id="29" name="Shape 26"/>
          <p:cNvSpPr/>
          <p:nvPr/>
        </p:nvSpPr>
        <p:spPr>
          <a:xfrm>
            <a:off x="6812280" y="1810512"/>
            <a:ext cx="491947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6995160" y="1883664"/>
            <a:ext cx="4553712" cy="274320"/>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THE VERB IN THE BULLET TELLS YOU THE TENSE</a:t>
            </a:r>
            <a:endParaRPr lang="en-US" sz="1000" dirty="0"/>
          </a:p>
        </p:txBody>
      </p:sp>
      <p:sp>
        <p:nvSpPr>
          <p:cNvPr id="31" name="Text 28"/>
          <p:cNvSpPr txBox="1"/>
          <p:nvPr/>
        </p:nvSpPr>
        <p:spPr>
          <a:xfrm>
            <a:off x="6949440" y="2194560"/>
            <a:ext cx="4645152" cy="570951"/>
          </a:xfrm>
          <a:prstGeom prst="rect">
            <a:avLst/>
          </a:prstGeom>
          <a:noFill/>
          <a:ln/>
        </p:spPr>
        <p:txBody>
          <a:bodyPr wrap="square" lIns="0" tIns="0" rIns="0" bIns="0" rtlCol="0" anchor="ctr"/>
          <a:lstStyle/>
          <a:p>
            <a:pPr rtl="1" algn="ctr" indent="0" marL="0">
              <a:buNone/>
            </a:pPr>
            <a:r>
              <a:rPr lang="ar-SA" altLang="en-US" sz="2650" b="1" dirty="0">
                <a:solidFill>
                  <a:srgbClr val="1B3B6F"/>
                </a:solidFill>
                <a:latin typeface="Amiri" pitchFamily="2" charset="-78"/>
                <a:ea typeface="Amiri" pitchFamily="2" charset="-78"/>
                <a:cs typeface="Amiri" pitchFamily="2" charset="-78"/>
              </a:rPr>
              <a:t>مَاذَا فَعَلْتَ؟ ← فَعَلْتُ (المَاضِي)</a:t>
            </a:r>
            <a:endParaRPr lang="ar-SA" sz="2650" dirty="0"/>
          </a:p>
        </p:txBody>
      </p:sp>
      <p:sp>
        <p:nvSpPr>
          <p:cNvPr id="32" name="Text 29"/>
          <p:cNvSpPr txBox="1"/>
          <p:nvPr/>
        </p:nvSpPr>
        <p:spPr>
          <a:xfrm>
            <a:off x="6949440" y="2765511"/>
            <a:ext cx="4645152" cy="407822"/>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what did you do? → past</a:t>
            </a:r>
            <a:endParaRPr lang="en-US" sz="1100" dirty="0"/>
          </a:p>
        </p:txBody>
      </p:sp>
      <p:sp>
        <p:nvSpPr>
          <p:cNvPr id="33" name="Shape 30"/>
          <p:cNvSpPr/>
          <p:nvPr/>
        </p:nvSpPr>
        <p:spPr>
          <a:xfrm>
            <a:off x="6995160" y="3195828"/>
            <a:ext cx="4553712" cy="0"/>
          </a:xfrm>
          <a:prstGeom prst="line">
            <a:avLst/>
          </a:prstGeom>
          <a:noFill/>
          <a:ln w="9525">
            <a:solidFill>
              <a:srgbClr val="E4DCCB"/>
            </a:solidFill>
            <a:prstDash val="dash"/>
          </a:ln>
        </p:spPr>
      </p:sp>
      <p:sp>
        <p:nvSpPr>
          <p:cNvPr id="34" name="Text 31"/>
          <p:cNvSpPr txBox="1"/>
          <p:nvPr/>
        </p:nvSpPr>
        <p:spPr>
          <a:xfrm>
            <a:off x="6949440" y="3214116"/>
            <a:ext cx="4645152" cy="570951"/>
          </a:xfrm>
          <a:prstGeom prst="rect">
            <a:avLst/>
          </a:prstGeom>
          <a:noFill/>
          <a:ln/>
        </p:spPr>
        <p:txBody>
          <a:bodyPr wrap="square" lIns="0" tIns="0" rIns="0" bIns="0" rtlCol="0" anchor="ctr"/>
          <a:lstStyle/>
          <a:p>
            <a:pPr rtl="1" algn="ctr" indent="0" marL="0">
              <a:buNone/>
            </a:pPr>
            <a:r>
              <a:rPr lang="ar-SA" altLang="en-US" sz="2650" b="1" dirty="0">
                <a:solidFill>
                  <a:srgbClr val="1B3B6F"/>
                </a:solidFill>
                <a:latin typeface="Amiri" pitchFamily="2" charset="-78"/>
                <a:ea typeface="Amiri" pitchFamily="2" charset="-78"/>
                <a:cs typeface="Amiri" pitchFamily="2" charset="-78"/>
              </a:rPr>
              <a:t>مَاذَا تَفْعَلُ عَادَةً؟ ← أَفْعَلُ (الحَاضِرُ)</a:t>
            </a:r>
            <a:endParaRPr lang="ar-SA" sz="2650" dirty="0"/>
          </a:p>
        </p:txBody>
      </p:sp>
      <p:sp>
        <p:nvSpPr>
          <p:cNvPr id="35" name="Text 32"/>
          <p:cNvSpPr txBox="1"/>
          <p:nvPr/>
        </p:nvSpPr>
        <p:spPr>
          <a:xfrm>
            <a:off x="6949440" y="3785067"/>
            <a:ext cx="4645152" cy="407822"/>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what do you usually do? → present</a:t>
            </a:r>
            <a:endParaRPr lang="en-US" sz="1100" dirty="0"/>
          </a:p>
        </p:txBody>
      </p:sp>
      <p:sp>
        <p:nvSpPr>
          <p:cNvPr id="36" name="Shape 33"/>
          <p:cNvSpPr/>
          <p:nvPr/>
        </p:nvSpPr>
        <p:spPr>
          <a:xfrm>
            <a:off x="6995160" y="4215384"/>
            <a:ext cx="4553712" cy="0"/>
          </a:xfrm>
          <a:prstGeom prst="line">
            <a:avLst/>
          </a:prstGeom>
          <a:noFill/>
          <a:ln w="9525">
            <a:solidFill>
              <a:srgbClr val="E4DCCB"/>
            </a:solidFill>
            <a:prstDash val="dash"/>
          </a:ln>
        </p:spPr>
      </p:sp>
      <p:sp>
        <p:nvSpPr>
          <p:cNvPr id="37" name="Text 34"/>
          <p:cNvSpPr txBox="1"/>
          <p:nvPr/>
        </p:nvSpPr>
        <p:spPr>
          <a:xfrm>
            <a:off x="6949440" y="4233672"/>
            <a:ext cx="4645152" cy="570951"/>
          </a:xfrm>
          <a:prstGeom prst="rect">
            <a:avLst/>
          </a:prstGeom>
          <a:noFill/>
          <a:ln/>
        </p:spPr>
        <p:txBody>
          <a:bodyPr wrap="square" lIns="0" tIns="0" rIns="0" bIns="0" rtlCol="0" anchor="ctr"/>
          <a:lstStyle/>
          <a:p>
            <a:pPr rtl="1" algn="ctr" indent="0" marL="0">
              <a:buNone/>
            </a:pPr>
            <a:r>
              <a:rPr lang="ar-SA" altLang="en-US" sz="2650" b="1" dirty="0">
                <a:solidFill>
                  <a:srgbClr val="1B3B6F"/>
                </a:solidFill>
                <a:latin typeface="Amiri" pitchFamily="2" charset="-78"/>
                <a:ea typeface="Amiri" pitchFamily="2" charset="-78"/>
                <a:cs typeface="Amiri" pitchFamily="2" charset="-78"/>
              </a:rPr>
              <a:t>مَاذَا سَتَفْعَلُ؟ ← سَأَفْعَلُ (المُسْتَقْبَلُ)</a:t>
            </a:r>
            <a:endParaRPr lang="ar-SA" sz="2650" dirty="0"/>
          </a:p>
        </p:txBody>
      </p:sp>
      <p:sp>
        <p:nvSpPr>
          <p:cNvPr id="38" name="Text 35"/>
          <p:cNvSpPr txBox="1"/>
          <p:nvPr/>
        </p:nvSpPr>
        <p:spPr>
          <a:xfrm>
            <a:off x="6949440" y="4804623"/>
            <a:ext cx="4645152" cy="407822"/>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what will you do? → future</a:t>
            </a:r>
            <a:endParaRPr lang="en-US" sz="1100" dirty="0"/>
          </a:p>
        </p:txBody>
      </p:sp>
      <p:sp>
        <p:nvSpPr>
          <p:cNvPr id="39" name="Shape 36"/>
          <p:cNvSpPr/>
          <p:nvPr/>
        </p:nvSpPr>
        <p:spPr>
          <a:xfrm>
            <a:off x="6995160" y="5234940"/>
            <a:ext cx="4553712" cy="0"/>
          </a:xfrm>
          <a:prstGeom prst="line">
            <a:avLst/>
          </a:prstGeom>
          <a:noFill/>
          <a:ln w="9525">
            <a:solidFill>
              <a:srgbClr val="E4DCCB"/>
            </a:solidFill>
            <a:prstDash val="dash"/>
          </a:ln>
        </p:spPr>
      </p:sp>
      <p:sp>
        <p:nvSpPr>
          <p:cNvPr id="40" name="Text 37"/>
          <p:cNvSpPr txBox="1"/>
          <p:nvPr/>
        </p:nvSpPr>
        <p:spPr>
          <a:xfrm>
            <a:off x="6949440" y="5253228"/>
            <a:ext cx="4645152" cy="570951"/>
          </a:xfrm>
          <a:prstGeom prst="rect">
            <a:avLst/>
          </a:prstGeom>
          <a:noFill/>
          <a:ln/>
        </p:spPr>
        <p:txBody>
          <a:bodyPr wrap="square" lIns="0" tIns="0" rIns="0" bIns="0" rtlCol="0" anchor="ctr"/>
          <a:lstStyle/>
          <a:p>
            <a:pPr rtl="1" algn="ctr" indent="0" marL="0">
              <a:buNone/>
            </a:pPr>
            <a:r>
              <a:rPr lang="ar-SA" altLang="en-US" sz="2650" b="1" dirty="0">
                <a:solidFill>
                  <a:srgbClr val="1B3B6F"/>
                </a:solidFill>
                <a:latin typeface="Amiri" pitchFamily="2" charset="-78"/>
                <a:ea typeface="Amiri" pitchFamily="2" charset="-78"/>
                <a:cs typeface="Amiri" pitchFamily="2" charset="-78"/>
              </a:rPr>
              <a:t>مَا رَأْيُكَ؟ ← فِي رَأْيِي … لِأَنَّ …</a:t>
            </a:r>
            <a:endParaRPr lang="ar-SA" sz="2650" dirty="0"/>
          </a:p>
        </p:txBody>
      </p:sp>
      <p:sp>
        <p:nvSpPr>
          <p:cNvPr id="41" name="Text 38"/>
          <p:cNvSpPr txBox="1"/>
          <p:nvPr/>
        </p:nvSpPr>
        <p:spPr>
          <a:xfrm>
            <a:off x="6949440" y="5824179"/>
            <a:ext cx="4645152" cy="407822"/>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your opinion? → in my opinion … because …</a:t>
            </a:r>
            <a:endParaRPr lang="en-US" sz="1100" dirty="0"/>
          </a:p>
        </p:txBody>
      </p:sp>
      <p:sp>
        <p:nvSpPr>
          <p:cNvPr id="42" name="Text 3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6 / 23</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TB-L06 · Writing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STEP 2 · TODAY’S QUESTION 2 · ABOUT 80–90 WORDS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250" b="1" dirty="0">
                <a:solidFill>
                  <a:srgbClr val="1B3B6F"/>
                </a:solidFill>
                <a:latin typeface="Cambria" pitchFamily="34" charset="0"/>
                <a:cs typeface="Amiri" pitchFamily="2" charset="-78"/>
              </a:rPr>
              <a:t>Question 2: I left my jacket at your house</a:t>
            </a:r>
            <a:endParaRPr lang="en-US" sz="22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نَسِيتُ سُتْرَتِي عِنْدَكَ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B · Writing practice room · TB-L06</a:t>
            </a:r>
            <a:endParaRPr lang="en-US" sz="850" dirty="0"/>
          </a:p>
        </p:txBody>
      </p:sp>
      <p:sp>
        <p:nvSpPr>
          <p:cNvPr id="15" name="Shape 12"/>
          <p:cNvSpPr/>
          <p:nvPr/>
        </p:nvSpPr>
        <p:spPr>
          <a:xfrm>
            <a:off x="457200" y="1810512"/>
            <a:ext cx="5577840" cy="4498848"/>
          </a:xfrm>
          <a:prstGeom prst="roundRect">
            <a:avLst>
              <a:gd name="adj" fmla="val 162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906524" cy="292608"/>
          </a:xfrm>
          <a:prstGeom prst="roundRect">
            <a:avLst>
              <a:gd name="adj" fmla="val 50000"/>
            </a:avLst>
          </a:prstGeom>
          <a:solidFill>
            <a:srgbClr val="1B3B6F"/>
          </a:solidFill>
          <a:ln w="12700">
            <a:solidFill>
              <a:srgbClr val="1B3B6F"/>
            </a:solidFill>
            <a:prstDash val="solid"/>
          </a:ln>
        </p:spPr>
      </p:sp>
      <p:sp>
        <p:nvSpPr>
          <p:cNvPr id="17" name="Text 14"/>
          <p:cNvSpPr txBox="1"/>
          <p:nvPr/>
        </p:nvSpPr>
        <p:spPr>
          <a:xfrm>
            <a:off x="640080" y="1938528"/>
            <a:ext cx="1906524"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Q2 · DIRECTED WRITING</a:t>
            </a:r>
            <a:endParaRPr lang="en-US" sz="950" dirty="0"/>
          </a:p>
        </p:txBody>
      </p:sp>
      <p:sp>
        <p:nvSpPr>
          <p:cNvPr id="18" name="Text 15"/>
          <p:cNvSpPr txBox="1"/>
          <p:nvPr/>
        </p:nvSpPr>
        <p:spPr>
          <a:xfrm>
            <a:off x="640080" y="2331720"/>
            <a:ext cx="5212080" cy="914400"/>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You stayed at a friend’s house and left some things there. Write an email in Arabic of about 80–90 words. You must include: • what you forgot and where you think it is • a precise description (colours, material, pattern) • why the item is important to you • how and when you will get it back.</a:t>
            </a:r>
            <a:endParaRPr lang="en-US" sz="1150" dirty="0"/>
          </a:p>
        </p:txBody>
      </p:sp>
      <p:sp>
        <p:nvSpPr>
          <p:cNvPr id="19" name="Text 16"/>
          <p:cNvSpPr txBox="1"/>
          <p:nvPr/>
        </p:nvSpPr>
        <p:spPr>
          <a:xfrm>
            <a:off x="685800" y="3310128"/>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All four bullet points, in order.</a:t>
            </a:r>
            <a:endParaRPr lang="en-US" sz="1200" dirty="0"/>
          </a:p>
        </p:txBody>
      </p:sp>
      <p:sp>
        <p:nvSpPr>
          <p:cNvPr id="20" name="Text 17"/>
          <p:cNvSpPr txBox="1"/>
          <p:nvPr/>
        </p:nvSpPr>
        <p:spPr>
          <a:xfrm>
            <a:off x="685800" y="3840480"/>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 greeting and a closing.</a:t>
            </a:r>
            <a:endParaRPr lang="en-US" sz="1200" dirty="0"/>
          </a:p>
        </p:txBody>
      </p:sp>
      <p:sp>
        <p:nvSpPr>
          <p:cNvPr id="21" name="Text 18"/>
          <p:cNvSpPr txBox="1"/>
          <p:nvPr/>
        </p:nvSpPr>
        <p:spPr>
          <a:xfrm>
            <a:off x="685800" y="4370832"/>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The right tense for each bullet.</a:t>
            </a:r>
            <a:endParaRPr lang="en-US" sz="1200" dirty="0"/>
          </a:p>
        </p:txBody>
      </p:sp>
      <p:sp>
        <p:nvSpPr>
          <p:cNvPr id="22" name="Text 19"/>
          <p:cNvSpPr txBox="1"/>
          <p:nvPr/>
        </p:nvSpPr>
        <p:spPr>
          <a:xfrm>
            <a:off x="685800" y="4901184"/>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At least one reason with </a:t>
            </a:r>
            <a:pPr algn="l" indent="0" marL="0">
              <a:buNone/>
            </a:pPr>
            <a:r>
              <a:rPr lang="ar-SA" altLang="en-US" sz="1550" dirty="0">
                <a:solidFill>
                  <a:srgbClr val="1F2A37"/>
                </a:solidFill>
                <a:latin typeface="Amiri" pitchFamily="2" charset="-78"/>
                <a:ea typeface="Amiri" pitchFamily="2" charset="-78"/>
                <a:cs typeface="Amiri" pitchFamily="2" charset="-78"/>
              </a:rPr>
              <a:t>لِأَنَّ</a:t>
            </a:r>
            <a:pPr algn="l" indent="0" marL="0">
              <a:buNone/>
            </a:pPr>
            <a:r>
              <a:rPr lang="en-US" sz="1200" dirty="0">
                <a:solidFill>
                  <a:srgbClr val="1F2A37"/>
                </a:solidFill>
                <a:latin typeface="Calibri" pitchFamily="34" charset="0"/>
                <a:cs typeface="Amiri" pitchFamily="2" charset="-78"/>
              </a:rPr>
              <a:t>.</a:t>
            </a:r>
            <a:endParaRPr lang="en-US" sz="1200" dirty="0"/>
          </a:p>
        </p:txBody>
      </p:sp>
      <p:sp>
        <p:nvSpPr>
          <p:cNvPr id="23" name="Text 20"/>
          <p:cNvSpPr txBox="1"/>
          <p:nvPr/>
        </p:nvSpPr>
        <p:spPr>
          <a:xfrm>
            <a:off x="685800" y="5431536"/>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About 80–90 words.</a:t>
            </a:r>
            <a:endParaRPr lang="en-US" sz="1200" dirty="0"/>
          </a:p>
        </p:txBody>
      </p:sp>
      <p:sp>
        <p:nvSpPr>
          <p:cNvPr id="24" name="Shape 21"/>
          <p:cNvSpPr/>
          <p:nvPr/>
        </p:nvSpPr>
        <p:spPr>
          <a:xfrm>
            <a:off x="6217920" y="1810512"/>
            <a:ext cx="551383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5" name="Text 22"/>
          <p:cNvSpPr txBox="1"/>
          <p:nvPr/>
        </p:nvSpPr>
        <p:spPr>
          <a:xfrm>
            <a:off x="6400800" y="1901952"/>
            <a:ext cx="5120640" cy="274320"/>
          </a:xfrm>
          <a:prstGeom prst="rect">
            <a:avLst/>
          </a:prstGeom>
          <a:noFill/>
          <a:ln/>
        </p:spPr>
        <p:txBody>
          <a:bodyPr wrap="square" lIns="0" tIns="0" rIns="0" bIns="0" rtlCol="0" anchor="ctr"/>
          <a:lstStyle/>
          <a:p>
            <a:pPr algn="l" indent="0" marL="0">
              <a:buNone/>
            </a:pPr>
            <a:r>
              <a:rPr lang="en-US" sz="950" b="1" spc="100" kern="0" dirty="0">
                <a:solidFill>
                  <a:srgbClr val="8A6D1E"/>
                </a:solidFill>
                <a:latin typeface="Calibri" pitchFamily="34" charset="0"/>
                <a:cs typeface="Amiri" pitchFamily="2" charset="-78"/>
              </a:rPr>
              <a:t>USEFUL LANGUAGE</a:t>
            </a:r>
            <a:endParaRPr lang="en-US" sz="950" dirty="0"/>
          </a:p>
        </p:txBody>
      </p:sp>
      <p:sp>
        <p:nvSpPr>
          <p:cNvPr id="26" name="Text 23"/>
          <p:cNvSpPr txBox="1"/>
          <p:nvPr/>
        </p:nvSpPr>
        <p:spPr>
          <a:xfrm>
            <a:off x="8412480" y="223113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نَسِيتُ … فِي …</a:t>
            </a:r>
            <a:endParaRPr lang="ar-SA" sz="1800" dirty="0"/>
          </a:p>
        </p:txBody>
      </p:sp>
      <p:sp>
        <p:nvSpPr>
          <p:cNvPr id="27" name="Text 24"/>
          <p:cNvSpPr txBox="1"/>
          <p:nvPr/>
        </p:nvSpPr>
        <p:spPr>
          <a:xfrm>
            <a:off x="6400800" y="256032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 forgot … in …</a:t>
            </a:r>
            <a:endParaRPr lang="en-US" sz="1050" dirty="0"/>
          </a:p>
        </p:txBody>
      </p:sp>
      <p:sp>
        <p:nvSpPr>
          <p:cNvPr id="28" name="Text 25"/>
          <p:cNvSpPr txBox="1"/>
          <p:nvPr/>
        </p:nvSpPr>
        <p:spPr>
          <a:xfrm>
            <a:off x="8412480" y="2889504"/>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هِيَ … غَامِقَةٌ، مَصْنُوعَةٌ مِنْ …</a:t>
            </a:r>
            <a:endParaRPr lang="ar-SA" sz="1800" dirty="0"/>
          </a:p>
        </p:txBody>
      </p:sp>
      <p:sp>
        <p:nvSpPr>
          <p:cNvPr id="29" name="Text 26"/>
          <p:cNvSpPr txBox="1"/>
          <p:nvPr/>
        </p:nvSpPr>
        <p:spPr>
          <a:xfrm>
            <a:off x="6400800" y="3218688"/>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it is dark …, made of …</a:t>
            </a:r>
            <a:endParaRPr lang="en-US" sz="1050" dirty="0"/>
          </a:p>
        </p:txBody>
      </p:sp>
      <p:sp>
        <p:nvSpPr>
          <p:cNvPr id="30" name="Text 27"/>
          <p:cNvSpPr txBox="1"/>
          <p:nvPr/>
        </p:nvSpPr>
        <p:spPr>
          <a:xfrm>
            <a:off x="8412480" y="3547872"/>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هِيَ مُهِمَّةٌ لِي لِأَنَّ …</a:t>
            </a:r>
            <a:endParaRPr lang="ar-SA" sz="1800" dirty="0"/>
          </a:p>
        </p:txBody>
      </p:sp>
      <p:sp>
        <p:nvSpPr>
          <p:cNvPr id="31" name="Text 28"/>
          <p:cNvSpPr txBox="1"/>
          <p:nvPr/>
        </p:nvSpPr>
        <p:spPr>
          <a:xfrm>
            <a:off x="6400800" y="3877056"/>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it is important to me because …</a:t>
            </a:r>
            <a:endParaRPr lang="en-US" sz="1050" dirty="0"/>
          </a:p>
        </p:txBody>
      </p:sp>
      <p:sp>
        <p:nvSpPr>
          <p:cNvPr id="32" name="Text 29"/>
          <p:cNvSpPr txBox="1"/>
          <p:nvPr/>
        </p:nvSpPr>
        <p:spPr>
          <a:xfrm>
            <a:off x="8412480" y="4206240"/>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سَآتِي يَوْمَ … لِآخُذَهَا</a:t>
            </a:r>
            <a:endParaRPr lang="ar-SA" sz="1800" dirty="0"/>
          </a:p>
        </p:txBody>
      </p:sp>
      <p:sp>
        <p:nvSpPr>
          <p:cNvPr id="33" name="Text 30"/>
          <p:cNvSpPr txBox="1"/>
          <p:nvPr/>
        </p:nvSpPr>
        <p:spPr>
          <a:xfrm>
            <a:off x="6400800" y="4535424"/>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 will come on … to take it</a:t>
            </a:r>
            <a:endParaRPr lang="en-US" sz="1050" dirty="0"/>
          </a:p>
        </p:txBody>
      </p:sp>
      <p:sp>
        <p:nvSpPr>
          <p:cNvPr id="34" name="Text 3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7 / 23</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TB-L06 · Writing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STEP 2 · YOUR TURN · DECODE EACH BULLET (IN YOUR BOOK)</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250" b="1" dirty="0">
                <a:solidFill>
                  <a:srgbClr val="1B3B6F"/>
                </a:solidFill>
                <a:latin typeface="Cambria" pitchFamily="34" charset="0"/>
                <a:cs typeface="Amiri" pitchFamily="2" charset="-78"/>
              </a:rPr>
              <a:t>Decode it: question word · tense · my idea</a:t>
            </a:r>
            <a:endParaRPr lang="en-US" sz="22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حَلِّلِ السُّؤَالَ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B · Writing practice room · TB-L06</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897112" y="1810512"/>
            <a:ext cx="27614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My idea</a:t>
            </a:r>
            <a:endParaRPr lang="en-US" sz="1100" dirty="0"/>
          </a:p>
        </p:txBody>
      </p:sp>
      <p:sp>
        <p:nvSpPr>
          <p:cNvPr id="17" name="Text 14"/>
          <p:cNvSpPr txBox="1"/>
          <p:nvPr/>
        </p:nvSpPr>
        <p:spPr>
          <a:xfrm>
            <a:off x="6153912" y="1810512"/>
            <a:ext cx="25968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Question word + tense</a:t>
            </a:r>
            <a:endParaRPr lang="en-US" sz="1100" dirty="0"/>
          </a:p>
        </p:txBody>
      </p:sp>
      <p:sp>
        <p:nvSpPr>
          <p:cNvPr id="18" name="Text 15"/>
          <p:cNvSpPr txBox="1"/>
          <p:nvPr/>
        </p:nvSpPr>
        <p:spPr>
          <a:xfrm>
            <a:off x="1033272" y="1810512"/>
            <a:ext cx="49743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The bullet in Arabic</a:t>
            </a:r>
            <a:endParaRPr lang="en-US" sz="1100" dirty="0"/>
          </a:p>
        </p:txBody>
      </p:sp>
      <p:sp>
        <p:nvSpPr>
          <p:cNvPr id="19" name="Text 16"/>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20" name="Shape 17"/>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1" name="Text 18"/>
          <p:cNvSpPr txBox="1"/>
          <p:nvPr/>
        </p:nvSpPr>
        <p:spPr>
          <a:xfrm>
            <a:off x="8933688" y="2267712"/>
            <a:ext cx="272491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22" name="Text 19"/>
          <p:cNvSpPr txBox="1"/>
          <p:nvPr/>
        </p:nvSpPr>
        <p:spPr>
          <a:xfrm>
            <a:off x="6190488" y="2267712"/>
            <a:ext cx="256032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23" name="Text 20"/>
          <p:cNvSpPr txBox="1"/>
          <p:nvPr/>
        </p:nvSpPr>
        <p:spPr>
          <a:xfrm>
            <a:off x="1051560" y="2267712"/>
            <a:ext cx="493776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اكْتُبْ رِسَالَةً إِلَى صَدِيقِكَ عَنْ شَيْءٍ نَسِيتَهُ عِنْدَهُ (٨٠–٩٠ كَلِمَةً).</a:t>
            </a:r>
            <a:endParaRPr lang="ar-SA" sz="1700" dirty="0"/>
          </a:p>
        </p:txBody>
      </p:sp>
      <p:sp>
        <p:nvSpPr>
          <p:cNvPr id="24" name="Text 21"/>
          <p:cNvSpPr txBox="1"/>
          <p:nvPr/>
        </p:nvSpPr>
        <p:spPr>
          <a:xfrm>
            <a:off x="566928" y="2267712"/>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task</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8" name="Text 25"/>
          <p:cNvSpPr txBox="1"/>
          <p:nvPr/>
        </p:nvSpPr>
        <p:spPr>
          <a:xfrm>
            <a:off x="8933688" y="3004718"/>
            <a:ext cx="272491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29" name="Text 26"/>
          <p:cNvSpPr txBox="1"/>
          <p:nvPr/>
        </p:nvSpPr>
        <p:spPr>
          <a:xfrm>
            <a:off x="6190488" y="3004718"/>
            <a:ext cx="256032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30" name="Text 27"/>
          <p:cNvSpPr txBox="1"/>
          <p:nvPr/>
        </p:nvSpPr>
        <p:spPr>
          <a:xfrm>
            <a:off x="1051560" y="3004718"/>
            <a:ext cx="493776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مَاذَا نَسِيتَ؟ وَأَيْنَ تَظُنُّ أَنَّهُ؟</a:t>
            </a:r>
            <a:endParaRPr lang="ar-SA" sz="1700" dirty="0"/>
          </a:p>
        </p:txBody>
      </p:sp>
      <p:sp>
        <p:nvSpPr>
          <p:cNvPr id="31" name="Text 28"/>
          <p:cNvSpPr txBox="1"/>
          <p:nvPr/>
        </p:nvSpPr>
        <p:spPr>
          <a:xfrm>
            <a:off x="566928" y="300471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32" name="Shape 29"/>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5" name="Text 32"/>
          <p:cNvSpPr txBox="1"/>
          <p:nvPr/>
        </p:nvSpPr>
        <p:spPr>
          <a:xfrm>
            <a:off x="8933688" y="3741725"/>
            <a:ext cx="272491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36" name="Text 33"/>
          <p:cNvSpPr txBox="1"/>
          <p:nvPr/>
        </p:nvSpPr>
        <p:spPr>
          <a:xfrm>
            <a:off x="6190488" y="3741725"/>
            <a:ext cx="256032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37" name="Text 34"/>
          <p:cNvSpPr txBox="1"/>
          <p:nvPr/>
        </p:nvSpPr>
        <p:spPr>
          <a:xfrm>
            <a:off x="1051560" y="3741725"/>
            <a:ext cx="493776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صِفْهُ بِدِقَّةٍ.</a:t>
            </a:r>
            <a:endParaRPr lang="ar-SA" sz="1700" dirty="0"/>
          </a:p>
        </p:txBody>
      </p:sp>
      <p:sp>
        <p:nvSpPr>
          <p:cNvPr id="38" name="Text 35"/>
          <p:cNvSpPr txBox="1"/>
          <p:nvPr/>
        </p:nvSpPr>
        <p:spPr>
          <a:xfrm>
            <a:off x="566928" y="3741725"/>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9" name="Shape 36"/>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40" name="Text 37"/>
          <p:cNvSpPr txBox="1"/>
          <p:nvPr/>
        </p:nvSpPr>
        <p:spPr>
          <a:xfrm>
            <a:off x="8933688" y="4478731"/>
            <a:ext cx="272491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41" name="Text 38"/>
          <p:cNvSpPr txBox="1"/>
          <p:nvPr/>
        </p:nvSpPr>
        <p:spPr>
          <a:xfrm>
            <a:off x="6190488" y="4478731"/>
            <a:ext cx="256032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42" name="Text 39"/>
          <p:cNvSpPr txBox="1"/>
          <p:nvPr/>
        </p:nvSpPr>
        <p:spPr>
          <a:xfrm>
            <a:off x="1051560" y="4478731"/>
            <a:ext cx="493776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لِمَاذَا هُوَ مُهِمٌّ لَكَ؟</a:t>
            </a:r>
            <a:endParaRPr lang="ar-SA" sz="1700" dirty="0"/>
          </a:p>
        </p:txBody>
      </p:sp>
      <p:sp>
        <p:nvSpPr>
          <p:cNvPr id="43" name="Text 40"/>
          <p:cNvSpPr txBox="1"/>
          <p:nvPr/>
        </p:nvSpPr>
        <p:spPr>
          <a:xfrm>
            <a:off x="566928" y="4478731"/>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44" name="Shape 41"/>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5" name="Text 42"/>
          <p:cNvSpPr txBox="1"/>
          <p:nvPr/>
        </p:nvSpPr>
        <p:spPr>
          <a:xfrm>
            <a:off x="8933688" y="5215738"/>
            <a:ext cx="272491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46" name="Text 43"/>
          <p:cNvSpPr txBox="1"/>
          <p:nvPr/>
        </p:nvSpPr>
        <p:spPr>
          <a:xfrm>
            <a:off x="6190488" y="5215738"/>
            <a:ext cx="256032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47" name="Text 44"/>
          <p:cNvSpPr txBox="1"/>
          <p:nvPr/>
        </p:nvSpPr>
        <p:spPr>
          <a:xfrm>
            <a:off x="1051560" y="5215738"/>
            <a:ext cx="493776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كَيْفَ وَمَتَى سَتَأْخُذُهُ؟</a:t>
            </a:r>
            <a:endParaRPr lang="ar-SA" sz="1700" dirty="0"/>
          </a:p>
        </p:txBody>
      </p:sp>
      <p:sp>
        <p:nvSpPr>
          <p:cNvPr id="48" name="Text 45"/>
          <p:cNvSpPr txBox="1"/>
          <p:nvPr/>
        </p:nvSpPr>
        <p:spPr>
          <a:xfrm>
            <a:off x="566928" y="521573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49" name="Text 4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Copy the two empty columns into your book and fill them in. Then check with your buddy on the next slide.</a:t>
            </a:r>
            <a:endParaRPr lang="en-US" sz="1150" dirty="0"/>
          </a:p>
        </p:txBody>
      </p:sp>
      <p:sp>
        <p:nvSpPr>
          <p:cNvPr id="50" name="Text 4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8 / 23</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TB-L06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STEP 2 · CHECK YOUR DECODING</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Decoded: what each bullet needs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تَحَقَّقْ</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B · Writing practice room · TB-L06</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714232" y="1810512"/>
            <a:ext cx="294436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In English</a:t>
            </a:r>
            <a:endParaRPr lang="en-US" sz="1100" dirty="0"/>
          </a:p>
        </p:txBody>
      </p:sp>
      <p:sp>
        <p:nvSpPr>
          <p:cNvPr id="17" name="Text 14"/>
          <p:cNvSpPr txBox="1"/>
          <p:nvPr/>
        </p:nvSpPr>
        <p:spPr>
          <a:xfrm>
            <a:off x="5605272" y="1810512"/>
            <a:ext cx="29626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Question word + tense</a:t>
            </a:r>
            <a:endParaRPr lang="en-US" sz="1100" dirty="0"/>
          </a:p>
        </p:txBody>
      </p:sp>
      <p:sp>
        <p:nvSpPr>
          <p:cNvPr id="18" name="Text 15"/>
          <p:cNvSpPr txBox="1"/>
          <p:nvPr/>
        </p:nvSpPr>
        <p:spPr>
          <a:xfrm>
            <a:off x="1033272" y="1810512"/>
            <a:ext cx="44256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The bullet in Arabic</a:t>
            </a:r>
            <a:endParaRPr lang="en-US" sz="1100" dirty="0"/>
          </a:p>
        </p:txBody>
      </p:sp>
      <p:sp>
        <p:nvSpPr>
          <p:cNvPr id="19" name="Text 16"/>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20" name="Shape 17"/>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1" name="Text 18"/>
          <p:cNvSpPr txBox="1"/>
          <p:nvPr/>
        </p:nvSpPr>
        <p:spPr>
          <a:xfrm>
            <a:off x="8750808" y="2267712"/>
            <a:ext cx="290779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Write to your friend about something you left at their house (80–90 words).</a:t>
            </a:r>
            <a:endParaRPr lang="en-US" sz="1100" dirty="0"/>
          </a:p>
        </p:txBody>
      </p:sp>
      <p:sp>
        <p:nvSpPr>
          <p:cNvPr id="22" name="Text 19"/>
          <p:cNvSpPr txBox="1"/>
          <p:nvPr/>
        </p:nvSpPr>
        <p:spPr>
          <a:xfrm>
            <a:off x="5641848" y="2267712"/>
            <a:ext cx="29260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an email to a FRIEND → informal greeting and closing</a:t>
            </a:r>
            <a:endParaRPr lang="en-US" sz="1100" dirty="0"/>
          </a:p>
        </p:txBody>
      </p:sp>
      <p:sp>
        <p:nvSpPr>
          <p:cNvPr id="23" name="Text 20"/>
          <p:cNvSpPr txBox="1"/>
          <p:nvPr/>
        </p:nvSpPr>
        <p:spPr>
          <a:xfrm>
            <a:off x="1051560" y="2267712"/>
            <a:ext cx="43891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اكْتُبْ رِسَالَةً إِلَى صَدِيقِكَ عَنْ شَيْءٍ نَسِيتَهُ عِنْدَهُ (٨٠–٩٠ كَلِمَةً).</a:t>
            </a:r>
            <a:endParaRPr lang="ar-SA" sz="1600" dirty="0"/>
          </a:p>
        </p:txBody>
      </p:sp>
      <p:sp>
        <p:nvSpPr>
          <p:cNvPr id="24" name="Text 21"/>
          <p:cNvSpPr txBox="1"/>
          <p:nvPr/>
        </p:nvSpPr>
        <p:spPr>
          <a:xfrm>
            <a:off x="566928" y="2267712"/>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task</a:t>
            </a:r>
            <a:endParaRPr lang="en-US" sz="1100" dirty="0"/>
          </a:p>
        </p:txBody>
      </p:sp>
      <p:sp>
        <p:nvSpPr>
          <p:cNvPr id="25" name="Shape 22"/>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6" name="Text 23"/>
          <p:cNvSpPr txBox="1"/>
          <p:nvPr/>
        </p:nvSpPr>
        <p:spPr>
          <a:xfrm>
            <a:off x="8750808" y="3004718"/>
            <a:ext cx="290779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What you forgot; where you think it is</a:t>
            </a:r>
            <a:endParaRPr lang="en-US" sz="1100" dirty="0"/>
          </a:p>
        </p:txBody>
      </p:sp>
      <p:sp>
        <p:nvSpPr>
          <p:cNvPr id="27" name="Text 24"/>
          <p:cNvSpPr txBox="1"/>
          <p:nvPr/>
        </p:nvSpPr>
        <p:spPr>
          <a:xfrm>
            <a:off x="5641848" y="3004718"/>
            <a:ext cx="2926080" cy="682142"/>
          </a:xfrm>
          <a:prstGeom prst="rect">
            <a:avLst/>
          </a:prstGeom>
          <a:noFill/>
          <a:ln/>
        </p:spPr>
        <p:txBody>
          <a:bodyPr wrap="square" lIns="0" tIns="0" rIns="0" bIns="0" rtlCol="0" anchor="ctr"/>
          <a:lstStyle/>
          <a:p>
            <a:pPr algn="l" indent="0" marL="0">
              <a:buNone/>
            </a:pPr>
            <a:r>
              <a:rPr lang="ar-SA" altLang="en-US" sz="1450" dirty="0">
                <a:solidFill>
                  <a:srgbClr val="5A6472"/>
                </a:solidFill>
                <a:latin typeface="Amiri" pitchFamily="2" charset="-78"/>
                <a:ea typeface="Amiri" pitchFamily="2" charset="-78"/>
                <a:cs typeface="Amiri" pitchFamily="2" charset="-78"/>
              </a:rPr>
              <a:t>مَاذَا نَسِيتَ</a:t>
            </a:r>
            <a:pPr algn="l" indent="0" marL="0">
              <a:buNone/>
            </a:pPr>
            <a:r>
              <a:rPr lang="en-US" sz="1100" dirty="0">
                <a:solidFill>
                  <a:srgbClr val="5A6472"/>
                </a:solidFill>
                <a:latin typeface="Calibri" pitchFamily="34" charset="0"/>
                <a:cs typeface="Amiri" pitchFamily="2" charset="-78"/>
              </a:rPr>
              <a:t> → PAST; </a:t>
            </a:r>
            <a:pPr algn="l" indent="0" marL="0">
              <a:buNone/>
            </a:pPr>
            <a:r>
              <a:rPr lang="ar-SA" altLang="en-US" sz="1450" dirty="0">
                <a:solidFill>
                  <a:srgbClr val="5A6472"/>
                </a:solidFill>
                <a:latin typeface="Amiri" pitchFamily="2" charset="-78"/>
                <a:ea typeface="Amiri" pitchFamily="2" charset="-78"/>
                <a:cs typeface="Amiri" pitchFamily="2" charset="-78"/>
              </a:rPr>
              <a:t>أَيْنَ تَظُنُّ</a:t>
            </a:r>
            <a:pPr algn="l" indent="0" marL="0">
              <a:buNone/>
            </a:pPr>
            <a:r>
              <a:rPr lang="en-US" sz="1100" dirty="0">
                <a:solidFill>
                  <a:srgbClr val="5A6472"/>
                </a:solidFill>
                <a:latin typeface="Calibri" pitchFamily="34" charset="0"/>
                <a:cs typeface="Amiri" pitchFamily="2" charset="-78"/>
              </a:rPr>
              <a:t> → PRESENT</a:t>
            </a:r>
            <a:endParaRPr lang="en-US" sz="1100" dirty="0"/>
          </a:p>
        </p:txBody>
      </p:sp>
      <p:sp>
        <p:nvSpPr>
          <p:cNvPr id="28" name="Text 25"/>
          <p:cNvSpPr txBox="1"/>
          <p:nvPr/>
        </p:nvSpPr>
        <p:spPr>
          <a:xfrm>
            <a:off x="1051560" y="3004718"/>
            <a:ext cx="43891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مَاذَا نَسِيتَ؟ وَأَيْنَ تَظُنُّ أَنَّهُ؟</a:t>
            </a:r>
            <a:endParaRPr lang="ar-SA" sz="1600" dirty="0"/>
          </a:p>
        </p:txBody>
      </p:sp>
      <p:sp>
        <p:nvSpPr>
          <p:cNvPr id="29" name="Text 26"/>
          <p:cNvSpPr txBox="1"/>
          <p:nvPr/>
        </p:nvSpPr>
        <p:spPr>
          <a:xfrm>
            <a:off x="566928" y="300471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30" name="Shape 27"/>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1" name="Text 28"/>
          <p:cNvSpPr txBox="1"/>
          <p:nvPr/>
        </p:nvSpPr>
        <p:spPr>
          <a:xfrm>
            <a:off x="8750808" y="3741725"/>
            <a:ext cx="290779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 precise description</a:t>
            </a:r>
            <a:endParaRPr lang="en-US" sz="1100" dirty="0"/>
          </a:p>
        </p:txBody>
      </p:sp>
      <p:sp>
        <p:nvSpPr>
          <p:cNvPr id="32" name="Text 29"/>
          <p:cNvSpPr txBox="1"/>
          <p:nvPr/>
        </p:nvSpPr>
        <p:spPr>
          <a:xfrm>
            <a:off x="5641848" y="3741725"/>
            <a:ext cx="2926080" cy="682142"/>
          </a:xfrm>
          <a:prstGeom prst="rect">
            <a:avLst/>
          </a:prstGeom>
          <a:noFill/>
          <a:ln/>
        </p:spPr>
        <p:txBody>
          <a:bodyPr wrap="square" lIns="0" tIns="0" rIns="0" bIns="0" rtlCol="0" anchor="ctr"/>
          <a:lstStyle/>
          <a:p>
            <a:pPr algn="l" indent="0" marL="0">
              <a:buNone/>
            </a:pPr>
            <a:r>
              <a:rPr lang="ar-SA" altLang="en-US" sz="1450" dirty="0">
                <a:solidFill>
                  <a:srgbClr val="5A6472"/>
                </a:solidFill>
                <a:latin typeface="Amiri" pitchFamily="2" charset="-78"/>
                <a:ea typeface="Amiri" pitchFamily="2" charset="-78"/>
                <a:cs typeface="Amiri" pitchFamily="2" charset="-78"/>
              </a:rPr>
              <a:t>صِفْهُ</a:t>
            </a:r>
            <a:pPr algn="l" indent="0" marL="0">
              <a:buNone/>
            </a:pPr>
            <a:r>
              <a:rPr lang="en-US" sz="1100" dirty="0">
                <a:solidFill>
                  <a:srgbClr val="5A6472"/>
                </a:solidFill>
                <a:latin typeface="Calibri" pitchFamily="34" charset="0"/>
                <a:cs typeface="Amiri" pitchFamily="2" charset="-78"/>
              </a:rPr>
              <a:t> → colours + shades + material + pattern (agreement!)</a:t>
            </a:r>
            <a:endParaRPr lang="en-US" sz="1100" dirty="0"/>
          </a:p>
        </p:txBody>
      </p:sp>
      <p:sp>
        <p:nvSpPr>
          <p:cNvPr id="33" name="Text 30"/>
          <p:cNvSpPr txBox="1"/>
          <p:nvPr/>
        </p:nvSpPr>
        <p:spPr>
          <a:xfrm>
            <a:off x="1051560" y="3741725"/>
            <a:ext cx="43891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صِفْهُ بِدِقَّةٍ.</a:t>
            </a:r>
            <a:endParaRPr lang="ar-SA" sz="1600" dirty="0"/>
          </a:p>
        </p:txBody>
      </p:sp>
      <p:sp>
        <p:nvSpPr>
          <p:cNvPr id="34" name="Text 31"/>
          <p:cNvSpPr txBox="1"/>
          <p:nvPr/>
        </p:nvSpPr>
        <p:spPr>
          <a:xfrm>
            <a:off x="566928" y="3741725"/>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5" name="Shape 32"/>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36" name="Text 33"/>
          <p:cNvSpPr txBox="1"/>
          <p:nvPr/>
        </p:nvSpPr>
        <p:spPr>
          <a:xfrm>
            <a:off x="8750808" y="4478731"/>
            <a:ext cx="290779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Why it is important to you</a:t>
            </a:r>
            <a:endParaRPr lang="en-US" sz="1100" dirty="0"/>
          </a:p>
        </p:txBody>
      </p:sp>
      <p:sp>
        <p:nvSpPr>
          <p:cNvPr id="37" name="Text 34"/>
          <p:cNvSpPr txBox="1"/>
          <p:nvPr/>
        </p:nvSpPr>
        <p:spPr>
          <a:xfrm>
            <a:off x="5641848" y="4478731"/>
            <a:ext cx="2926080" cy="682142"/>
          </a:xfrm>
          <a:prstGeom prst="rect">
            <a:avLst/>
          </a:prstGeom>
          <a:noFill/>
          <a:ln/>
        </p:spPr>
        <p:txBody>
          <a:bodyPr wrap="square" lIns="0" tIns="0" rIns="0" bIns="0" rtlCol="0" anchor="ctr"/>
          <a:lstStyle/>
          <a:p>
            <a:pPr algn="l" indent="0" marL="0">
              <a:buNone/>
            </a:pPr>
            <a:r>
              <a:rPr lang="ar-SA" altLang="en-US" sz="1450" dirty="0">
                <a:solidFill>
                  <a:srgbClr val="5A6472"/>
                </a:solidFill>
                <a:latin typeface="Amiri" pitchFamily="2" charset="-78"/>
                <a:ea typeface="Amiri" pitchFamily="2" charset="-78"/>
                <a:cs typeface="Amiri" pitchFamily="2" charset="-78"/>
              </a:rPr>
              <a:t>لِمَاذَا</a:t>
            </a:r>
            <a:pPr algn="l" indent="0" marL="0">
              <a:buNone/>
            </a:pPr>
            <a:r>
              <a:rPr lang="en-US" sz="1100" dirty="0">
                <a:solidFill>
                  <a:srgbClr val="5A6472"/>
                </a:solidFill>
                <a:latin typeface="Calibri" pitchFamily="34" charset="0"/>
                <a:cs typeface="Amiri" pitchFamily="2" charset="-78"/>
              </a:rPr>
              <a:t> → a reason (</a:t>
            </a:r>
            <a:pPr algn="l" indent="0" marL="0">
              <a:buNone/>
            </a:pPr>
            <a:r>
              <a:rPr lang="ar-SA" altLang="en-US" sz="1450" dirty="0">
                <a:solidFill>
                  <a:srgbClr val="5A6472"/>
                </a:solidFill>
                <a:latin typeface="Amiri" pitchFamily="2" charset="-78"/>
                <a:ea typeface="Amiri" pitchFamily="2" charset="-78"/>
                <a:cs typeface="Amiri" pitchFamily="2" charset="-78"/>
              </a:rPr>
              <a:t>لِأَنَّ</a:t>
            </a:r>
            <a:pPr algn="l" indent="0" marL="0">
              <a:buNone/>
            </a:pPr>
            <a:r>
              <a:rPr lang="en-US" sz="1100" dirty="0">
                <a:solidFill>
                  <a:srgbClr val="5A6472"/>
                </a:solidFill>
                <a:latin typeface="Calibri" pitchFamily="34" charset="0"/>
                <a:cs typeface="Amiri" pitchFamily="2" charset="-78"/>
              </a:rPr>
              <a:t>) — maybe its story (PAST)</a:t>
            </a:r>
            <a:endParaRPr lang="en-US" sz="1100" dirty="0"/>
          </a:p>
        </p:txBody>
      </p:sp>
      <p:sp>
        <p:nvSpPr>
          <p:cNvPr id="38" name="Text 35"/>
          <p:cNvSpPr txBox="1"/>
          <p:nvPr/>
        </p:nvSpPr>
        <p:spPr>
          <a:xfrm>
            <a:off x="1051560" y="4478731"/>
            <a:ext cx="43891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لِمَاذَا هُوَ مُهِمٌّ لَكَ؟</a:t>
            </a:r>
            <a:endParaRPr lang="ar-SA" sz="1600" dirty="0"/>
          </a:p>
        </p:txBody>
      </p:sp>
      <p:sp>
        <p:nvSpPr>
          <p:cNvPr id="39" name="Text 36"/>
          <p:cNvSpPr txBox="1"/>
          <p:nvPr/>
        </p:nvSpPr>
        <p:spPr>
          <a:xfrm>
            <a:off x="566928" y="4478731"/>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40" name="Shape 37"/>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1" name="Text 38"/>
          <p:cNvSpPr txBox="1"/>
          <p:nvPr/>
        </p:nvSpPr>
        <p:spPr>
          <a:xfrm>
            <a:off x="8750808" y="5215738"/>
            <a:ext cx="290779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How and when you will get it back</a:t>
            </a:r>
            <a:endParaRPr lang="en-US" sz="1100" dirty="0"/>
          </a:p>
        </p:txBody>
      </p:sp>
      <p:sp>
        <p:nvSpPr>
          <p:cNvPr id="42" name="Text 39"/>
          <p:cNvSpPr txBox="1"/>
          <p:nvPr/>
        </p:nvSpPr>
        <p:spPr>
          <a:xfrm>
            <a:off x="5641848" y="5215738"/>
            <a:ext cx="2926080" cy="682142"/>
          </a:xfrm>
          <a:prstGeom prst="rect">
            <a:avLst/>
          </a:prstGeom>
          <a:noFill/>
          <a:ln/>
        </p:spPr>
        <p:txBody>
          <a:bodyPr wrap="square" lIns="0" tIns="0" rIns="0" bIns="0" rtlCol="0" anchor="ctr"/>
          <a:lstStyle/>
          <a:p>
            <a:pPr algn="l" indent="0" marL="0">
              <a:buNone/>
            </a:pPr>
            <a:r>
              <a:rPr lang="ar-SA" altLang="en-US" sz="1450" dirty="0">
                <a:solidFill>
                  <a:srgbClr val="5A6472"/>
                </a:solidFill>
                <a:latin typeface="Amiri" pitchFamily="2" charset="-78"/>
                <a:ea typeface="Amiri" pitchFamily="2" charset="-78"/>
                <a:cs typeface="Amiri" pitchFamily="2" charset="-78"/>
              </a:rPr>
              <a:t>كَيْفَ</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مَتَى سَتَأْخُذُهُ</a:t>
            </a:r>
            <a:pPr algn="l" indent="0" marL="0">
              <a:buNone/>
            </a:pPr>
            <a:r>
              <a:rPr lang="en-US" sz="1100" dirty="0">
                <a:solidFill>
                  <a:srgbClr val="5A6472"/>
                </a:solidFill>
                <a:latin typeface="Calibri" pitchFamily="34" charset="0"/>
                <a:cs typeface="Amiri" pitchFamily="2" charset="-78"/>
              </a:rPr>
              <a:t> → FUTURE</a:t>
            </a:r>
            <a:endParaRPr lang="en-US" sz="1100" dirty="0"/>
          </a:p>
        </p:txBody>
      </p:sp>
      <p:sp>
        <p:nvSpPr>
          <p:cNvPr id="43" name="Text 40"/>
          <p:cNvSpPr txBox="1"/>
          <p:nvPr/>
        </p:nvSpPr>
        <p:spPr>
          <a:xfrm>
            <a:off x="1051560" y="5215738"/>
            <a:ext cx="43891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كَيْفَ وَمَتَى سَتَأْخُذُهُ؟</a:t>
            </a:r>
            <a:endParaRPr lang="ar-SA" sz="1600" dirty="0"/>
          </a:p>
        </p:txBody>
      </p:sp>
      <p:sp>
        <p:nvSpPr>
          <p:cNvPr id="44" name="Text 41"/>
          <p:cNvSpPr txBox="1"/>
          <p:nvPr/>
        </p:nvSpPr>
        <p:spPr>
          <a:xfrm>
            <a:off x="566928" y="521573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45" name="Text 42"/>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Did you get the tense right for every bullet? Fix your plan before you write.</a:t>
            </a:r>
            <a:endParaRPr lang="en-US" sz="1150" dirty="0"/>
          </a:p>
        </p:txBody>
      </p:sp>
      <p:sp>
        <p:nvSpPr>
          <p:cNvPr id="46" name="Text 4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9 / 23</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TB-L06 · Writing practice room</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STEP 3 · UPGRADE A SENTENCE · WATCH IT GROW</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400" b="1" dirty="0">
                <a:solidFill>
                  <a:srgbClr val="1B3B6F"/>
                </a:solidFill>
                <a:latin typeface="Cambria" pitchFamily="34" charset="0"/>
                <a:cs typeface="Amiri" pitchFamily="2" charset="-78"/>
              </a:rPr>
              <a:t>From a simple sentence to a strong one</a:t>
            </a:r>
            <a:endParaRPr lang="en-US" sz="24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حَسِّنِ الجُمْلَةَ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B · Writing practice room · TB-L06</a:t>
            </a:r>
            <a:endParaRPr lang="en-US" sz="850" dirty="0"/>
          </a:p>
        </p:txBody>
      </p:sp>
      <p:sp>
        <p:nvSpPr>
          <p:cNvPr id="15" name="Shape 12"/>
          <p:cNvSpPr/>
          <p:nvPr/>
        </p:nvSpPr>
        <p:spPr>
          <a:xfrm>
            <a:off x="457200" y="1810512"/>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201400" y="2123694"/>
            <a:ext cx="402336" cy="402336"/>
          </a:xfrm>
          <a:prstGeom prst="ellipse">
            <a:avLst/>
          </a:prstGeom>
          <a:solidFill>
            <a:srgbClr val="1B3B6F"/>
          </a:solidFill>
          <a:ln w="12700">
            <a:solidFill>
              <a:srgbClr val="1B3B6F"/>
            </a:solidFill>
            <a:prstDash val="solid"/>
          </a:ln>
        </p:spPr>
      </p:sp>
      <p:sp>
        <p:nvSpPr>
          <p:cNvPr id="17" name="Text 14"/>
          <p:cNvSpPr txBox="1"/>
          <p:nvPr/>
        </p:nvSpPr>
        <p:spPr>
          <a:xfrm>
            <a:off x="11201400" y="212369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572000" y="1847088"/>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عِنْدِي حِذَاءٌ.</a:t>
            </a:r>
            <a:endParaRPr lang="ar-SA" sz="2600" dirty="0"/>
          </a:p>
        </p:txBody>
      </p:sp>
      <p:sp>
        <p:nvSpPr>
          <p:cNvPr id="19" name="Text 16"/>
          <p:cNvSpPr txBox="1"/>
          <p:nvPr/>
        </p:nvSpPr>
        <p:spPr>
          <a:xfrm>
            <a:off x="685800" y="1856232"/>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Simple</a:t>
            </a:r>
            <a:endParaRPr lang="en-US" sz="1250" dirty="0"/>
          </a:p>
          <a:p>
            <a:pPr indent="0" marL="0">
              <a:buNone/>
            </a:pPr>
            <a:r>
              <a:rPr lang="en-US" sz="1050" i="1" dirty="0">
                <a:solidFill>
                  <a:srgbClr val="8A6D1E"/>
                </a:solidFill>
                <a:latin typeface="Calibri" pitchFamily="34" charset="0"/>
                <a:cs typeface="Amiri" pitchFamily="2" charset="-78"/>
              </a:rPr>
              <a:t>I have shoes.</a:t>
            </a:r>
            <a:endParaRPr lang="en-US" sz="1250" dirty="0"/>
          </a:p>
        </p:txBody>
      </p:sp>
      <p:sp>
        <p:nvSpPr>
          <p:cNvPr id="20" name="Shape 17"/>
          <p:cNvSpPr/>
          <p:nvPr/>
        </p:nvSpPr>
        <p:spPr>
          <a:xfrm>
            <a:off x="457200" y="2967228"/>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201400" y="3280410"/>
            <a:ext cx="402336" cy="402336"/>
          </a:xfrm>
          <a:prstGeom prst="ellipse">
            <a:avLst/>
          </a:prstGeom>
          <a:solidFill>
            <a:srgbClr val="1B3B6F"/>
          </a:solidFill>
          <a:ln w="12700">
            <a:solidFill>
              <a:srgbClr val="1B3B6F"/>
            </a:solidFill>
            <a:prstDash val="solid"/>
          </a:ln>
        </p:spPr>
      </p:sp>
      <p:sp>
        <p:nvSpPr>
          <p:cNvPr id="22" name="Text 19"/>
          <p:cNvSpPr txBox="1"/>
          <p:nvPr/>
        </p:nvSpPr>
        <p:spPr>
          <a:xfrm>
            <a:off x="11201400" y="3280410"/>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572000" y="3003804"/>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عِنْدِي حِذَاءٌ رِيَاضِيٌّ أَبْيَضُ، عَلَيْهِ خُطُوطٌ حَمْرَاءُ.</a:t>
            </a:r>
            <a:endParaRPr lang="ar-SA" sz="2600" dirty="0"/>
          </a:p>
        </p:txBody>
      </p:sp>
      <p:sp>
        <p:nvSpPr>
          <p:cNvPr id="24" name="Text 21"/>
          <p:cNvSpPr txBox="1"/>
          <p:nvPr/>
        </p:nvSpPr>
        <p:spPr>
          <a:xfrm>
            <a:off x="685800" y="3012948"/>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 detail (time, frequency, how much)</a:t>
            </a:r>
            <a:endParaRPr lang="en-US" sz="1250" dirty="0"/>
          </a:p>
          <a:p>
            <a:pPr indent="0" marL="0">
              <a:buNone/>
            </a:pPr>
            <a:r>
              <a:rPr lang="en-US" sz="1050" i="1" dirty="0">
                <a:solidFill>
                  <a:srgbClr val="8A6D1E"/>
                </a:solidFill>
                <a:latin typeface="Calibri" pitchFamily="34" charset="0"/>
                <a:cs typeface="Amiri" pitchFamily="2" charset="-78"/>
              </a:rPr>
              <a:t>… white trainers with red stripes.</a:t>
            </a:r>
            <a:endParaRPr lang="en-US" sz="1250" dirty="0"/>
          </a:p>
        </p:txBody>
      </p:sp>
      <p:sp>
        <p:nvSpPr>
          <p:cNvPr id="25" name="Shape 22"/>
          <p:cNvSpPr/>
          <p:nvPr/>
        </p:nvSpPr>
        <p:spPr>
          <a:xfrm>
            <a:off x="457200" y="4123944"/>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201400" y="4437126"/>
            <a:ext cx="402336" cy="402336"/>
          </a:xfrm>
          <a:prstGeom prst="ellipse">
            <a:avLst/>
          </a:prstGeom>
          <a:solidFill>
            <a:srgbClr val="1B3B6F"/>
          </a:solidFill>
          <a:ln w="12700">
            <a:solidFill>
              <a:srgbClr val="1B3B6F"/>
            </a:solidFill>
            <a:prstDash val="solid"/>
          </a:ln>
        </p:spPr>
      </p:sp>
      <p:sp>
        <p:nvSpPr>
          <p:cNvPr id="27" name="Text 24"/>
          <p:cNvSpPr txBox="1"/>
          <p:nvPr/>
        </p:nvSpPr>
        <p:spPr>
          <a:xfrm>
            <a:off x="11201400" y="443712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572000" y="4160520"/>
            <a:ext cx="6492240" cy="955548"/>
          </a:xfrm>
          <a:prstGeom prst="rect">
            <a:avLst/>
          </a:prstGeom>
          <a:noFill/>
          <a:ln/>
        </p:spPr>
        <p:txBody>
          <a:bodyPr wrap="square" lIns="0" tIns="0" rIns="0" bIns="0" rtlCol="0" anchor="ctr"/>
          <a:lstStyle/>
          <a:p>
            <a:pPr rtl="1" algn="r" indent="0" marL="0">
              <a:lnSpc>
                <a:spcPct val="120000"/>
              </a:lnSpc>
              <a:buNone/>
            </a:pPr>
            <a:r>
              <a:rPr lang="ar-SA" altLang="en-US" sz="2100" b="1" dirty="0">
                <a:solidFill>
                  <a:srgbClr val="1B3B6F"/>
                </a:solidFill>
                <a:latin typeface="Amiri" pitchFamily="2" charset="-78"/>
                <a:ea typeface="Amiri" pitchFamily="2" charset="-78"/>
                <a:cs typeface="Amiri" pitchFamily="2" charset="-78"/>
              </a:rPr>
              <a:t>عِنْدِي حِذَاءٌ رِيَاضِيٌّ أَبْيَضُ عَلَيْهِ خُطُوطٌ حَمْرَاءُ، أَلْبَسُهُ لِأَنَّهُ خَفِيفٌ وَمُرِيحٌ.</a:t>
            </a:r>
            <a:endParaRPr lang="ar-SA" sz="2100" dirty="0"/>
          </a:p>
        </p:txBody>
      </p:sp>
      <p:sp>
        <p:nvSpPr>
          <p:cNvPr id="29" name="Text 26"/>
          <p:cNvSpPr txBox="1"/>
          <p:nvPr/>
        </p:nvSpPr>
        <p:spPr>
          <a:xfrm>
            <a:off x="685800" y="4169664"/>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 a reason</a:t>
            </a:r>
            <a:endParaRPr lang="en-US" sz="1250" dirty="0"/>
          </a:p>
          <a:p>
            <a:pPr indent="0" marL="0">
              <a:buNone/>
            </a:pPr>
            <a:r>
              <a:rPr lang="en-US" sz="1050" i="1" dirty="0">
                <a:solidFill>
                  <a:srgbClr val="8A6D1E"/>
                </a:solidFill>
                <a:latin typeface="Calibri" pitchFamily="34" charset="0"/>
                <a:cs typeface="Amiri" pitchFamily="2" charset="-78"/>
              </a:rPr>
              <a:t>… I wear them because they are light and comfortable.</a:t>
            </a:r>
            <a:endParaRPr lang="en-US" sz="1250" dirty="0"/>
          </a:p>
        </p:txBody>
      </p:sp>
      <p:sp>
        <p:nvSpPr>
          <p:cNvPr id="30" name="Shape 27"/>
          <p:cNvSpPr/>
          <p:nvPr/>
        </p:nvSpPr>
        <p:spPr>
          <a:xfrm>
            <a:off x="457200" y="5280660"/>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11201400" y="5593842"/>
            <a:ext cx="402336" cy="402336"/>
          </a:xfrm>
          <a:prstGeom prst="ellipse">
            <a:avLst/>
          </a:prstGeom>
          <a:solidFill>
            <a:srgbClr val="1B3B6F"/>
          </a:solidFill>
          <a:ln w="12700">
            <a:solidFill>
              <a:srgbClr val="1B3B6F"/>
            </a:solidFill>
            <a:prstDash val="solid"/>
          </a:ln>
        </p:spPr>
      </p:sp>
      <p:sp>
        <p:nvSpPr>
          <p:cNvPr id="32" name="Text 29"/>
          <p:cNvSpPr txBox="1"/>
          <p:nvPr/>
        </p:nvSpPr>
        <p:spPr>
          <a:xfrm>
            <a:off x="11201400" y="5593842"/>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4</a:t>
            </a:r>
            <a:endParaRPr lang="en-US" sz="1300" dirty="0"/>
          </a:p>
        </p:txBody>
      </p:sp>
      <p:sp>
        <p:nvSpPr>
          <p:cNvPr id="33" name="Text 30"/>
          <p:cNvSpPr txBox="1"/>
          <p:nvPr/>
        </p:nvSpPr>
        <p:spPr>
          <a:xfrm>
            <a:off x="4572000" y="5317236"/>
            <a:ext cx="6492240" cy="955548"/>
          </a:xfrm>
          <a:prstGeom prst="rect">
            <a:avLst/>
          </a:prstGeom>
          <a:noFill/>
          <a:ln/>
        </p:spPr>
        <p:txBody>
          <a:bodyPr wrap="square" lIns="0" tIns="0" rIns="0" bIns="0" rtlCol="0" anchor="ctr"/>
          <a:lstStyle/>
          <a:p>
            <a:pPr rtl="1" algn="r" indent="0" marL="0">
              <a:buNone/>
            </a:pPr>
            <a:r>
              <a:rPr lang="ar-SA" altLang="en-US" sz="2250" b="1" dirty="0">
                <a:solidFill>
                  <a:srgbClr val="1B3B6F"/>
                </a:solidFill>
                <a:latin typeface="Amiri" pitchFamily="2" charset="-78"/>
                <a:ea typeface="Amiri" pitchFamily="2" charset="-78"/>
                <a:cs typeface="Amiri" pitchFamily="2" charset="-78"/>
              </a:rPr>
              <a:t>… لٰكِنَّهُ لَمْ يَعُدْ أَبْيَضَ تَمَامًا، فَهُوَ الآنَ رَمَادِيٌّ فَاتِحٌ بَعْدَ المَطَرِ!</a:t>
            </a:r>
            <a:endParaRPr lang="ar-SA" sz="2250" dirty="0"/>
          </a:p>
        </p:txBody>
      </p:sp>
      <p:sp>
        <p:nvSpPr>
          <p:cNvPr id="34" name="Text 31"/>
          <p:cNvSpPr txBox="1"/>
          <p:nvPr/>
        </p:nvSpPr>
        <p:spPr>
          <a:xfrm>
            <a:off x="685800" y="5326380"/>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 an opinion or a contrast</a:t>
            </a:r>
            <a:endParaRPr lang="en-US" sz="1250" dirty="0"/>
          </a:p>
          <a:p>
            <a:pPr indent="0" marL="0">
              <a:buNone/>
            </a:pPr>
            <a:r>
              <a:rPr lang="en-US" sz="1050" i="1" dirty="0">
                <a:solidFill>
                  <a:srgbClr val="8A6D1E"/>
                </a:solidFill>
                <a:latin typeface="Calibri" pitchFamily="34" charset="0"/>
                <a:cs typeface="Amiri" pitchFamily="2" charset="-78"/>
              </a:rPr>
              <a:t>… but they are no longer quite white — now they are light grey after the rain!</a:t>
            </a:r>
            <a:endParaRPr lang="en-US" sz="1250" dirty="0"/>
          </a:p>
        </p:txBody>
      </p:sp>
      <p:sp>
        <p:nvSpPr>
          <p:cNvPr id="35" name="Text 3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10 / 23</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TB-L06 · Writing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STEP 3 · YOUR TURN · BUILD THREE STRONG SENTENCES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050" b="1" dirty="0">
                <a:solidFill>
                  <a:srgbClr val="1B3B6F"/>
                </a:solidFill>
                <a:latin typeface="Cambria" pitchFamily="34" charset="0"/>
                <a:cs typeface="Amiri" pitchFamily="2" charset="-78"/>
              </a:rPr>
              <a:t>Sentence builder: choose A or B in each column</a:t>
            </a:r>
            <a:endParaRPr lang="en-US" sz="20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ابْنِ الجُمْلَةَ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B · Writing practice room · TB-L06</a:t>
            </a:r>
            <a:endParaRPr lang="en-US" sz="850" dirty="0"/>
          </a:p>
        </p:txBody>
      </p:sp>
      <p:sp>
        <p:nvSpPr>
          <p:cNvPr id="15" name="Text 12"/>
          <p:cNvSpPr txBox="1"/>
          <p:nvPr/>
        </p:nvSpPr>
        <p:spPr>
          <a:xfrm>
            <a:off x="9180576"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1 · start here</a:t>
            </a:r>
            <a:endParaRPr lang="en-US" sz="1000" dirty="0"/>
          </a:p>
        </p:txBody>
      </p:sp>
      <p:sp>
        <p:nvSpPr>
          <p:cNvPr id="16" name="Text 13"/>
          <p:cNvSpPr txBox="1"/>
          <p:nvPr/>
        </p:nvSpPr>
        <p:spPr>
          <a:xfrm>
            <a:off x="6624828"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2</a:t>
            </a:r>
            <a:endParaRPr lang="en-US" sz="1000" dirty="0"/>
          </a:p>
        </p:txBody>
      </p:sp>
      <p:sp>
        <p:nvSpPr>
          <p:cNvPr id="17" name="Text 14"/>
          <p:cNvSpPr txBox="1"/>
          <p:nvPr/>
        </p:nvSpPr>
        <p:spPr>
          <a:xfrm>
            <a:off x="4069080"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3</a:t>
            </a:r>
            <a:endParaRPr lang="en-US" sz="1000" dirty="0"/>
          </a:p>
        </p:txBody>
      </p:sp>
      <p:sp>
        <p:nvSpPr>
          <p:cNvPr id="18" name="Shape 15"/>
          <p:cNvSpPr/>
          <p:nvPr/>
        </p:nvSpPr>
        <p:spPr>
          <a:xfrm>
            <a:off x="457200" y="2011680"/>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9" name="Shape 16"/>
          <p:cNvSpPr/>
          <p:nvPr/>
        </p:nvSpPr>
        <p:spPr>
          <a:xfrm>
            <a:off x="594360" y="2148840"/>
            <a:ext cx="365760" cy="365760"/>
          </a:xfrm>
          <a:prstGeom prst="ellipse">
            <a:avLst/>
          </a:prstGeom>
          <a:solidFill>
            <a:srgbClr val="2F6FB0"/>
          </a:solidFill>
          <a:ln w="12700">
            <a:solidFill>
              <a:srgbClr val="2F6FB0"/>
            </a:solidFill>
            <a:prstDash val="solid"/>
          </a:ln>
        </p:spPr>
      </p:sp>
      <p:sp>
        <p:nvSpPr>
          <p:cNvPr id="20" name="Text 17"/>
          <p:cNvSpPr txBox="1"/>
          <p:nvPr/>
        </p:nvSpPr>
        <p:spPr>
          <a:xfrm>
            <a:off x="594360" y="214884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21" name="Text 18"/>
          <p:cNvSpPr txBox="1"/>
          <p:nvPr/>
        </p:nvSpPr>
        <p:spPr>
          <a:xfrm>
            <a:off x="1051560" y="2121408"/>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My bag is black and made of leather.</a:t>
            </a:r>
            <a:endParaRPr lang="en-US" sz="1400" dirty="0"/>
          </a:p>
        </p:txBody>
      </p:sp>
      <p:sp>
        <p:nvSpPr>
          <p:cNvPr id="22" name="Shape 19"/>
          <p:cNvSpPr/>
          <p:nvPr/>
        </p:nvSpPr>
        <p:spPr>
          <a:xfrm>
            <a:off x="9180576" y="2103120"/>
            <a:ext cx="2414016" cy="512064"/>
          </a:xfrm>
          <a:prstGeom prst="roundRect">
            <a:avLst>
              <a:gd name="adj" fmla="val 10714"/>
            </a:avLst>
          </a:prstGeom>
          <a:solidFill>
            <a:srgbClr val="EEF3FA"/>
          </a:solidFill>
          <a:ln w="9525">
            <a:solidFill>
              <a:srgbClr val="C9D6EA"/>
            </a:solidFill>
            <a:prstDash val="solid"/>
          </a:ln>
        </p:spPr>
      </p:sp>
      <p:sp>
        <p:nvSpPr>
          <p:cNvPr id="23" name="Text 20"/>
          <p:cNvSpPr txBox="1"/>
          <p:nvPr/>
        </p:nvSpPr>
        <p:spPr>
          <a:xfrm>
            <a:off x="9235440"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24" name="Text 21"/>
          <p:cNvSpPr txBox="1"/>
          <p:nvPr/>
        </p:nvSpPr>
        <p:spPr>
          <a:xfrm>
            <a:off x="9500616"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حَقِيبَتِي</a:t>
            </a:r>
            <a:endParaRPr lang="ar-SA" sz="1800" dirty="0"/>
          </a:p>
        </p:txBody>
      </p:sp>
      <p:sp>
        <p:nvSpPr>
          <p:cNvPr id="25" name="Shape 22"/>
          <p:cNvSpPr/>
          <p:nvPr/>
        </p:nvSpPr>
        <p:spPr>
          <a:xfrm>
            <a:off x="9180576" y="2670048"/>
            <a:ext cx="2414016" cy="512064"/>
          </a:xfrm>
          <a:prstGeom prst="roundRect">
            <a:avLst>
              <a:gd name="adj" fmla="val 10714"/>
            </a:avLst>
          </a:prstGeom>
          <a:solidFill>
            <a:srgbClr val="EEF3FA"/>
          </a:solidFill>
          <a:ln w="9525">
            <a:solidFill>
              <a:srgbClr val="C9D6EA"/>
            </a:solidFill>
            <a:prstDash val="solid"/>
          </a:ln>
        </p:spPr>
      </p:sp>
      <p:sp>
        <p:nvSpPr>
          <p:cNvPr id="26" name="Text 23"/>
          <p:cNvSpPr txBox="1"/>
          <p:nvPr/>
        </p:nvSpPr>
        <p:spPr>
          <a:xfrm>
            <a:off x="9235440"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27" name="Text 24"/>
          <p:cNvSpPr txBox="1"/>
          <p:nvPr/>
        </p:nvSpPr>
        <p:spPr>
          <a:xfrm>
            <a:off x="9500616"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حَقِيبَتُهُ</a:t>
            </a:r>
            <a:endParaRPr lang="ar-SA" sz="1800" dirty="0"/>
          </a:p>
        </p:txBody>
      </p:sp>
      <p:sp>
        <p:nvSpPr>
          <p:cNvPr id="28" name="Shape 25"/>
          <p:cNvSpPr/>
          <p:nvPr/>
        </p:nvSpPr>
        <p:spPr>
          <a:xfrm>
            <a:off x="6624828" y="2103120"/>
            <a:ext cx="2414016" cy="512064"/>
          </a:xfrm>
          <a:prstGeom prst="roundRect">
            <a:avLst>
              <a:gd name="adj" fmla="val 10714"/>
            </a:avLst>
          </a:prstGeom>
          <a:solidFill>
            <a:srgbClr val="EEF3FA"/>
          </a:solidFill>
          <a:ln w="9525">
            <a:solidFill>
              <a:srgbClr val="C9D6EA"/>
            </a:solidFill>
            <a:prstDash val="solid"/>
          </a:ln>
        </p:spPr>
      </p:sp>
      <p:sp>
        <p:nvSpPr>
          <p:cNvPr id="29" name="Text 26"/>
          <p:cNvSpPr txBox="1"/>
          <p:nvPr/>
        </p:nvSpPr>
        <p:spPr>
          <a:xfrm>
            <a:off x="6679692"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30" name="Text 27"/>
          <p:cNvSpPr txBox="1"/>
          <p:nvPr/>
        </p:nvSpPr>
        <p:spPr>
          <a:xfrm>
            <a:off x="6944868"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سَوْدَاءُ</a:t>
            </a:r>
            <a:endParaRPr lang="ar-SA" sz="1800" dirty="0"/>
          </a:p>
        </p:txBody>
      </p:sp>
      <p:sp>
        <p:nvSpPr>
          <p:cNvPr id="31" name="Shape 28"/>
          <p:cNvSpPr/>
          <p:nvPr/>
        </p:nvSpPr>
        <p:spPr>
          <a:xfrm>
            <a:off x="6624828" y="2670048"/>
            <a:ext cx="2414016" cy="512064"/>
          </a:xfrm>
          <a:prstGeom prst="roundRect">
            <a:avLst>
              <a:gd name="adj" fmla="val 10714"/>
            </a:avLst>
          </a:prstGeom>
          <a:solidFill>
            <a:srgbClr val="EEF3FA"/>
          </a:solidFill>
          <a:ln w="9525">
            <a:solidFill>
              <a:srgbClr val="C9D6EA"/>
            </a:solidFill>
            <a:prstDash val="solid"/>
          </a:ln>
        </p:spPr>
      </p:sp>
      <p:sp>
        <p:nvSpPr>
          <p:cNvPr id="32" name="Text 29"/>
          <p:cNvSpPr txBox="1"/>
          <p:nvPr/>
        </p:nvSpPr>
        <p:spPr>
          <a:xfrm>
            <a:off x="6679692"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33" name="Text 30"/>
          <p:cNvSpPr txBox="1"/>
          <p:nvPr/>
        </p:nvSpPr>
        <p:spPr>
          <a:xfrm>
            <a:off x="6944868"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أَسْوَدُ</a:t>
            </a:r>
            <a:endParaRPr lang="ar-SA" sz="1800" dirty="0"/>
          </a:p>
        </p:txBody>
      </p:sp>
      <p:sp>
        <p:nvSpPr>
          <p:cNvPr id="34" name="Shape 31"/>
          <p:cNvSpPr/>
          <p:nvPr/>
        </p:nvSpPr>
        <p:spPr>
          <a:xfrm>
            <a:off x="4069080" y="2103120"/>
            <a:ext cx="2414016" cy="512064"/>
          </a:xfrm>
          <a:prstGeom prst="roundRect">
            <a:avLst>
              <a:gd name="adj" fmla="val 10714"/>
            </a:avLst>
          </a:prstGeom>
          <a:solidFill>
            <a:srgbClr val="EEF3FA"/>
          </a:solidFill>
          <a:ln w="9525">
            <a:solidFill>
              <a:srgbClr val="C9D6EA"/>
            </a:solidFill>
            <a:prstDash val="solid"/>
          </a:ln>
        </p:spPr>
      </p:sp>
      <p:sp>
        <p:nvSpPr>
          <p:cNvPr id="35" name="Text 32"/>
          <p:cNvSpPr txBox="1"/>
          <p:nvPr/>
        </p:nvSpPr>
        <p:spPr>
          <a:xfrm>
            <a:off x="4123944"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36" name="Text 33"/>
          <p:cNvSpPr txBox="1"/>
          <p:nvPr/>
        </p:nvSpPr>
        <p:spPr>
          <a:xfrm>
            <a:off x="4389120"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مَصْنُوعَةٌ مِنَ الجِلْدِ</a:t>
            </a:r>
            <a:endParaRPr lang="ar-SA" sz="1800" dirty="0"/>
          </a:p>
        </p:txBody>
      </p:sp>
      <p:sp>
        <p:nvSpPr>
          <p:cNvPr id="37" name="Shape 34"/>
          <p:cNvSpPr/>
          <p:nvPr/>
        </p:nvSpPr>
        <p:spPr>
          <a:xfrm>
            <a:off x="4069080" y="2670048"/>
            <a:ext cx="2414016" cy="512064"/>
          </a:xfrm>
          <a:prstGeom prst="roundRect">
            <a:avLst>
              <a:gd name="adj" fmla="val 10714"/>
            </a:avLst>
          </a:prstGeom>
          <a:solidFill>
            <a:srgbClr val="EEF3FA"/>
          </a:solidFill>
          <a:ln w="9525">
            <a:solidFill>
              <a:srgbClr val="C9D6EA"/>
            </a:solidFill>
            <a:prstDash val="solid"/>
          </a:ln>
        </p:spPr>
      </p:sp>
      <p:sp>
        <p:nvSpPr>
          <p:cNvPr id="38" name="Text 35"/>
          <p:cNvSpPr txBox="1"/>
          <p:nvPr/>
        </p:nvSpPr>
        <p:spPr>
          <a:xfrm>
            <a:off x="4123944"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39" name="Text 36"/>
          <p:cNvSpPr txBox="1"/>
          <p:nvPr/>
        </p:nvSpPr>
        <p:spPr>
          <a:xfrm>
            <a:off x="4389120"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مَصْنُوعٌ مِنَ الجِلْدِ</a:t>
            </a:r>
            <a:endParaRPr lang="ar-SA" sz="1800" dirty="0"/>
          </a:p>
        </p:txBody>
      </p:sp>
      <p:sp>
        <p:nvSpPr>
          <p:cNvPr id="40" name="Shape 37"/>
          <p:cNvSpPr/>
          <p:nvPr/>
        </p:nvSpPr>
        <p:spPr>
          <a:xfrm>
            <a:off x="457200" y="3392424"/>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1" name="Shape 38"/>
          <p:cNvSpPr/>
          <p:nvPr/>
        </p:nvSpPr>
        <p:spPr>
          <a:xfrm>
            <a:off x="594360" y="3529584"/>
            <a:ext cx="365760" cy="365760"/>
          </a:xfrm>
          <a:prstGeom prst="ellipse">
            <a:avLst/>
          </a:prstGeom>
          <a:solidFill>
            <a:srgbClr val="2F6FB0"/>
          </a:solidFill>
          <a:ln w="12700">
            <a:solidFill>
              <a:srgbClr val="2F6FB0"/>
            </a:solidFill>
            <a:prstDash val="solid"/>
          </a:ln>
        </p:spPr>
      </p:sp>
      <p:sp>
        <p:nvSpPr>
          <p:cNvPr id="42" name="Text 39"/>
          <p:cNvSpPr txBox="1"/>
          <p:nvPr/>
        </p:nvSpPr>
        <p:spPr>
          <a:xfrm>
            <a:off x="594360" y="3529584"/>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43" name="Text 40"/>
          <p:cNvSpPr txBox="1"/>
          <p:nvPr/>
        </p:nvSpPr>
        <p:spPr>
          <a:xfrm>
            <a:off x="1051560" y="3502152"/>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The cars in our street are red.</a:t>
            </a:r>
            <a:endParaRPr lang="en-US" sz="1400" dirty="0"/>
          </a:p>
        </p:txBody>
      </p:sp>
      <p:sp>
        <p:nvSpPr>
          <p:cNvPr id="44" name="Shape 41"/>
          <p:cNvSpPr/>
          <p:nvPr/>
        </p:nvSpPr>
        <p:spPr>
          <a:xfrm>
            <a:off x="9180576" y="3483864"/>
            <a:ext cx="2414016" cy="512064"/>
          </a:xfrm>
          <a:prstGeom prst="roundRect">
            <a:avLst>
              <a:gd name="adj" fmla="val 10714"/>
            </a:avLst>
          </a:prstGeom>
          <a:solidFill>
            <a:srgbClr val="EEF3FA"/>
          </a:solidFill>
          <a:ln w="9525">
            <a:solidFill>
              <a:srgbClr val="C9D6EA"/>
            </a:solidFill>
            <a:prstDash val="solid"/>
          </a:ln>
        </p:spPr>
      </p:sp>
      <p:sp>
        <p:nvSpPr>
          <p:cNvPr id="45" name="Text 42"/>
          <p:cNvSpPr txBox="1"/>
          <p:nvPr/>
        </p:nvSpPr>
        <p:spPr>
          <a:xfrm>
            <a:off x="9235440"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46" name="Text 43"/>
          <p:cNvSpPr txBox="1"/>
          <p:nvPr/>
        </p:nvSpPr>
        <p:spPr>
          <a:xfrm>
            <a:off x="9500616"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السَّيَّارَاتُ</a:t>
            </a:r>
            <a:endParaRPr lang="ar-SA" sz="1800" dirty="0"/>
          </a:p>
        </p:txBody>
      </p:sp>
      <p:sp>
        <p:nvSpPr>
          <p:cNvPr id="47" name="Shape 44"/>
          <p:cNvSpPr/>
          <p:nvPr/>
        </p:nvSpPr>
        <p:spPr>
          <a:xfrm>
            <a:off x="9180576" y="4050792"/>
            <a:ext cx="2414016" cy="512064"/>
          </a:xfrm>
          <a:prstGeom prst="roundRect">
            <a:avLst>
              <a:gd name="adj" fmla="val 10714"/>
            </a:avLst>
          </a:prstGeom>
          <a:solidFill>
            <a:srgbClr val="EEF3FA"/>
          </a:solidFill>
          <a:ln w="9525">
            <a:solidFill>
              <a:srgbClr val="C9D6EA"/>
            </a:solidFill>
            <a:prstDash val="solid"/>
          </a:ln>
        </p:spPr>
      </p:sp>
      <p:sp>
        <p:nvSpPr>
          <p:cNvPr id="48" name="Text 45"/>
          <p:cNvSpPr txBox="1"/>
          <p:nvPr/>
        </p:nvSpPr>
        <p:spPr>
          <a:xfrm>
            <a:off x="9235440"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49" name="Text 46"/>
          <p:cNvSpPr txBox="1"/>
          <p:nvPr/>
        </p:nvSpPr>
        <p:spPr>
          <a:xfrm>
            <a:off x="9500616"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السَّيَّارَةُ</a:t>
            </a:r>
            <a:endParaRPr lang="ar-SA" sz="1800" dirty="0"/>
          </a:p>
        </p:txBody>
      </p:sp>
      <p:sp>
        <p:nvSpPr>
          <p:cNvPr id="50" name="Shape 47"/>
          <p:cNvSpPr/>
          <p:nvPr/>
        </p:nvSpPr>
        <p:spPr>
          <a:xfrm>
            <a:off x="6624828" y="3483864"/>
            <a:ext cx="2414016" cy="512064"/>
          </a:xfrm>
          <a:prstGeom prst="roundRect">
            <a:avLst>
              <a:gd name="adj" fmla="val 10714"/>
            </a:avLst>
          </a:prstGeom>
          <a:solidFill>
            <a:srgbClr val="EEF3FA"/>
          </a:solidFill>
          <a:ln w="9525">
            <a:solidFill>
              <a:srgbClr val="C9D6EA"/>
            </a:solidFill>
            <a:prstDash val="solid"/>
          </a:ln>
        </p:spPr>
      </p:sp>
      <p:sp>
        <p:nvSpPr>
          <p:cNvPr id="51" name="Text 48"/>
          <p:cNvSpPr txBox="1"/>
          <p:nvPr/>
        </p:nvSpPr>
        <p:spPr>
          <a:xfrm>
            <a:off x="6679692"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52" name="Text 49"/>
          <p:cNvSpPr txBox="1"/>
          <p:nvPr/>
        </p:nvSpPr>
        <p:spPr>
          <a:xfrm>
            <a:off x="6944868"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فِي شَارِعِنَا</a:t>
            </a:r>
            <a:endParaRPr lang="ar-SA" sz="1800" dirty="0"/>
          </a:p>
        </p:txBody>
      </p:sp>
      <p:sp>
        <p:nvSpPr>
          <p:cNvPr id="53" name="Shape 50"/>
          <p:cNvSpPr/>
          <p:nvPr/>
        </p:nvSpPr>
        <p:spPr>
          <a:xfrm>
            <a:off x="6624828" y="4050792"/>
            <a:ext cx="2414016" cy="512064"/>
          </a:xfrm>
          <a:prstGeom prst="roundRect">
            <a:avLst>
              <a:gd name="adj" fmla="val 10714"/>
            </a:avLst>
          </a:prstGeom>
          <a:solidFill>
            <a:srgbClr val="EEF3FA"/>
          </a:solidFill>
          <a:ln w="9525">
            <a:solidFill>
              <a:srgbClr val="C9D6EA"/>
            </a:solidFill>
            <a:prstDash val="solid"/>
          </a:ln>
        </p:spPr>
      </p:sp>
      <p:sp>
        <p:nvSpPr>
          <p:cNvPr id="54" name="Text 51"/>
          <p:cNvSpPr txBox="1"/>
          <p:nvPr/>
        </p:nvSpPr>
        <p:spPr>
          <a:xfrm>
            <a:off x="6679692"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55" name="Text 52"/>
          <p:cNvSpPr txBox="1"/>
          <p:nvPr/>
        </p:nvSpPr>
        <p:spPr>
          <a:xfrm>
            <a:off x="6944868"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مِنْ شَارِعِنَا</a:t>
            </a:r>
            <a:endParaRPr lang="ar-SA" sz="1800" dirty="0"/>
          </a:p>
        </p:txBody>
      </p:sp>
      <p:sp>
        <p:nvSpPr>
          <p:cNvPr id="56" name="Shape 53"/>
          <p:cNvSpPr/>
          <p:nvPr/>
        </p:nvSpPr>
        <p:spPr>
          <a:xfrm>
            <a:off x="4069080" y="3483864"/>
            <a:ext cx="2414016" cy="512064"/>
          </a:xfrm>
          <a:prstGeom prst="roundRect">
            <a:avLst>
              <a:gd name="adj" fmla="val 10714"/>
            </a:avLst>
          </a:prstGeom>
          <a:solidFill>
            <a:srgbClr val="EEF3FA"/>
          </a:solidFill>
          <a:ln w="9525">
            <a:solidFill>
              <a:srgbClr val="C9D6EA"/>
            </a:solidFill>
            <a:prstDash val="solid"/>
          </a:ln>
        </p:spPr>
      </p:sp>
      <p:sp>
        <p:nvSpPr>
          <p:cNvPr id="57" name="Text 54"/>
          <p:cNvSpPr txBox="1"/>
          <p:nvPr/>
        </p:nvSpPr>
        <p:spPr>
          <a:xfrm>
            <a:off x="4123944"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58" name="Text 55"/>
          <p:cNvSpPr txBox="1"/>
          <p:nvPr/>
        </p:nvSpPr>
        <p:spPr>
          <a:xfrm>
            <a:off x="4389120"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حَمْرَاءُ</a:t>
            </a:r>
            <a:endParaRPr lang="ar-SA" sz="1800" dirty="0"/>
          </a:p>
        </p:txBody>
      </p:sp>
      <p:sp>
        <p:nvSpPr>
          <p:cNvPr id="59" name="Shape 56"/>
          <p:cNvSpPr/>
          <p:nvPr/>
        </p:nvSpPr>
        <p:spPr>
          <a:xfrm>
            <a:off x="4069080" y="4050792"/>
            <a:ext cx="2414016" cy="512064"/>
          </a:xfrm>
          <a:prstGeom prst="roundRect">
            <a:avLst>
              <a:gd name="adj" fmla="val 10714"/>
            </a:avLst>
          </a:prstGeom>
          <a:solidFill>
            <a:srgbClr val="EEF3FA"/>
          </a:solidFill>
          <a:ln w="9525">
            <a:solidFill>
              <a:srgbClr val="C9D6EA"/>
            </a:solidFill>
            <a:prstDash val="solid"/>
          </a:ln>
        </p:spPr>
      </p:sp>
      <p:sp>
        <p:nvSpPr>
          <p:cNvPr id="60" name="Text 57"/>
          <p:cNvSpPr txBox="1"/>
          <p:nvPr/>
        </p:nvSpPr>
        <p:spPr>
          <a:xfrm>
            <a:off x="4123944"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61" name="Text 58"/>
          <p:cNvSpPr txBox="1"/>
          <p:nvPr/>
        </p:nvSpPr>
        <p:spPr>
          <a:xfrm>
            <a:off x="4389120"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حُمْرٌ</a:t>
            </a:r>
            <a:endParaRPr lang="ar-SA" sz="1800" dirty="0"/>
          </a:p>
        </p:txBody>
      </p:sp>
      <p:sp>
        <p:nvSpPr>
          <p:cNvPr id="62" name="Shape 59"/>
          <p:cNvSpPr/>
          <p:nvPr/>
        </p:nvSpPr>
        <p:spPr>
          <a:xfrm>
            <a:off x="457200" y="4773168"/>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594360" y="4910328"/>
            <a:ext cx="365760" cy="365760"/>
          </a:xfrm>
          <a:prstGeom prst="ellipse">
            <a:avLst/>
          </a:prstGeom>
          <a:solidFill>
            <a:srgbClr val="2F6FB0"/>
          </a:solidFill>
          <a:ln w="12700">
            <a:solidFill>
              <a:srgbClr val="2F6FB0"/>
            </a:solidFill>
            <a:prstDash val="solid"/>
          </a:ln>
        </p:spPr>
      </p:sp>
      <p:sp>
        <p:nvSpPr>
          <p:cNvPr id="64" name="Text 61"/>
          <p:cNvSpPr txBox="1"/>
          <p:nvPr/>
        </p:nvSpPr>
        <p:spPr>
          <a:xfrm>
            <a:off x="594360" y="49103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65" name="Text 62"/>
          <p:cNvSpPr txBox="1"/>
          <p:nvPr/>
        </p:nvSpPr>
        <p:spPr>
          <a:xfrm>
            <a:off x="1051560" y="4882896"/>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I prefer the light green shirt.</a:t>
            </a:r>
            <a:endParaRPr lang="en-US" sz="1400" dirty="0"/>
          </a:p>
        </p:txBody>
      </p:sp>
      <p:sp>
        <p:nvSpPr>
          <p:cNvPr id="66" name="Shape 63"/>
          <p:cNvSpPr/>
          <p:nvPr/>
        </p:nvSpPr>
        <p:spPr>
          <a:xfrm>
            <a:off x="9180576" y="4864608"/>
            <a:ext cx="2414016" cy="512064"/>
          </a:xfrm>
          <a:prstGeom prst="roundRect">
            <a:avLst>
              <a:gd name="adj" fmla="val 10714"/>
            </a:avLst>
          </a:prstGeom>
          <a:solidFill>
            <a:srgbClr val="EEF3FA"/>
          </a:solidFill>
          <a:ln w="9525">
            <a:solidFill>
              <a:srgbClr val="C9D6EA"/>
            </a:solidFill>
            <a:prstDash val="solid"/>
          </a:ln>
        </p:spPr>
      </p:sp>
      <p:sp>
        <p:nvSpPr>
          <p:cNvPr id="67" name="Text 64"/>
          <p:cNvSpPr txBox="1"/>
          <p:nvPr/>
        </p:nvSpPr>
        <p:spPr>
          <a:xfrm>
            <a:off x="9235440"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68" name="Text 65"/>
          <p:cNvSpPr txBox="1"/>
          <p:nvPr/>
        </p:nvSpPr>
        <p:spPr>
          <a:xfrm>
            <a:off x="9500616"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أُفَضِّلُ</a:t>
            </a:r>
            <a:endParaRPr lang="ar-SA" sz="1800" dirty="0"/>
          </a:p>
        </p:txBody>
      </p:sp>
      <p:sp>
        <p:nvSpPr>
          <p:cNvPr id="69" name="Shape 66"/>
          <p:cNvSpPr/>
          <p:nvPr/>
        </p:nvSpPr>
        <p:spPr>
          <a:xfrm>
            <a:off x="9180576" y="5431536"/>
            <a:ext cx="2414016" cy="512064"/>
          </a:xfrm>
          <a:prstGeom prst="roundRect">
            <a:avLst>
              <a:gd name="adj" fmla="val 10714"/>
            </a:avLst>
          </a:prstGeom>
          <a:solidFill>
            <a:srgbClr val="EEF3FA"/>
          </a:solidFill>
          <a:ln w="9525">
            <a:solidFill>
              <a:srgbClr val="C9D6EA"/>
            </a:solidFill>
            <a:prstDash val="solid"/>
          </a:ln>
        </p:spPr>
      </p:sp>
      <p:sp>
        <p:nvSpPr>
          <p:cNvPr id="70" name="Text 67"/>
          <p:cNvSpPr txBox="1"/>
          <p:nvPr/>
        </p:nvSpPr>
        <p:spPr>
          <a:xfrm>
            <a:off x="9235440"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71" name="Text 68"/>
          <p:cNvSpPr txBox="1"/>
          <p:nvPr/>
        </p:nvSpPr>
        <p:spPr>
          <a:xfrm>
            <a:off x="9500616"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تُفَضِّلُ</a:t>
            </a:r>
            <a:endParaRPr lang="ar-SA" sz="1800" dirty="0"/>
          </a:p>
        </p:txBody>
      </p:sp>
      <p:sp>
        <p:nvSpPr>
          <p:cNvPr id="72" name="Shape 69"/>
          <p:cNvSpPr/>
          <p:nvPr/>
        </p:nvSpPr>
        <p:spPr>
          <a:xfrm>
            <a:off x="6624828" y="4864608"/>
            <a:ext cx="2414016" cy="512064"/>
          </a:xfrm>
          <a:prstGeom prst="roundRect">
            <a:avLst>
              <a:gd name="adj" fmla="val 10714"/>
            </a:avLst>
          </a:prstGeom>
          <a:solidFill>
            <a:srgbClr val="EEF3FA"/>
          </a:solidFill>
          <a:ln w="9525">
            <a:solidFill>
              <a:srgbClr val="C9D6EA"/>
            </a:solidFill>
            <a:prstDash val="solid"/>
          </a:ln>
        </p:spPr>
      </p:sp>
      <p:sp>
        <p:nvSpPr>
          <p:cNvPr id="73" name="Text 70"/>
          <p:cNvSpPr txBox="1"/>
          <p:nvPr/>
        </p:nvSpPr>
        <p:spPr>
          <a:xfrm>
            <a:off x="6679692"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74" name="Text 71"/>
          <p:cNvSpPr txBox="1"/>
          <p:nvPr/>
        </p:nvSpPr>
        <p:spPr>
          <a:xfrm>
            <a:off x="6944868"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القَمِيصَ</a:t>
            </a:r>
            <a:endParaRPr lang="ar-SA" sz="1800" dirty="0"/>
          </a:p>
        </p:txBody>
      </p:sp>
      <p:sp>
        <p:nvSpPr>
          <p:cNvPr id="75" name="Shape 72"/>
          <p:cNvSpPr/>
          <p:nvPr/>
        </p:nvSpPr>
        <p:spPr>
          <a:xfrm>
            <a:off x="6624828" y="5431536"/>
            <a:ext cx="2414016" cy="512064"/>
          </a:xfrm>
          <a:prstGeom prst="roundRect">
            <a:avLst>
              <a:gd name="adj" fmla="val 10714"/>
            </a:avLst>
          </a:prstGeom>
          <a:solidFill>
            <a:srgbClr val="EEF3FA"/>
          </a:solidFill>
          <a:ln w="9525">
            <a:solidFill>
              <a:srgbClr val="C9D6EA"/>
            </a:solidFill>
            <a:prstDash val="solid"/>
          </a:ln>
        </p:spPr>
      </p:sp>
      <p:sp>
        <p:nvSpPr>
          <p:cNvPr id="76" name="Text 73"/>
          <p:cNvSpPr txBox="1"/>
          <p:nvPr/>
        </p:nvSpPr>
        <p:spPr>
          <a:xfrm>
            <a:off x="6679692"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77" name="Text 74"/>
          <p:cNvSpPr txBox="1"/>
          <p:nvPr/>
        </p:nvSpPr>
        <p:spPr>
          <a:xfrm>
            <a:off x="6944868"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القَمِيصُ</a:t>
            </a:r>
            <a:endParaRPr lang="ar-SA" sz="1800" dirty="0"/>
          </a:p>
        </p:txBody>
      </p:sp>
      <p:sp>
        <p:nvSpPr>
          <p:cNvPr id="78" name="Shape 75"/>
          <p:cNvSpPr/>
          <p:nvPr/>
        </p:nvSpPr>
        <p:spPr>
          <a:xfrm>
            <a:off x="4069080" y="4864608"/>
            <a:ext cx="2414016" cy="512064"/>
          </a:xfrm>
          <a:prstGeom prst="roundRect">
            <a:avLst>
              <a:gd name="adj" fmla="val 10714"/>
            </a:avLst>
          </a:prstGeom>
          <a:solidFill>
            <a:srgbClr val="EEF3FA"/>
          </a:solidFill>
          <a:ln w="9525">
            <a:solidFill>
              <a:srgbClr val="C9D6EA"/>
            </a:solidFill>
            <a:prstDash val="solid"/>
          </a:ln>
        </p:spPr>
      </p:sp>
      <p:sp>
        <p:nvSpPr>
          <p:cNvPr id="79" name="Text 76"/>
          <p:cNvSpPr txBox="1"/>
          <p:nvPr/>
        </p:nvSpPr>
        <p:spPr>
          <a:xfrm>
            <a:off x="4123944"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80" name="Text 77"/>
          <p:cNvSpPr txBox="1"/>
          <p:nvPr/>
        </p:nvSpPr>
        <p:spPr>
          <a:xfrm>
            <a:off x="4389120"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الأَخْضَرَ الفَاتِحَ</a:t>
            </a:r>
            <a:endParaRPr lang="ar-SA" sz="1800" dirty="0"/>
          </a:p>
        </p:txBody>
      </p:sp>
      <p:sp>
        <p:nvSpPr>
          <p:cNvPr id="81" name="Shape 78"/>
          <p:cNvSpPr/>
          <p:nvPr/>
        </p:nvSpPr>
        <p:spPr>
          <a:xfrm>
            <a:off x="4069080" y="5431536"/>
            <a:ext cx="2414016" cy="512064"/>
          </a:xfrm>
          <a:prstGeom prst="roundRect">
            <a:avLst>
              <a:gd name="adj" fmla="val 10714"/>
            </a:avLst>
          </a:prstGeom>
          <a:solidFill>
            <a:srgbClr val="EEF3FA"/>
          </a:solidFill>
          <a:ln w="9525">
            <a:solidFill>
              <a:srgbClr val="C9D6EA"/>
            </a:solidFill>
            <a:prstDash val="solid"/>
          </a:ln>
        </p:spPr>
      </p:sp>
      <p:sp>
        <p:nvSpPr>
          <p:cNvPr id="82" name="Text 79"/>
          <p:cNvSpPr txBox="1"/>
          <p:nvPr/>
        </p:nvSpPr>
        <p:spPr>
          <a:xfrm>
            <a:off x="4123944"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83" name="Text 80"/>
          <p:cNvSpPr txBox="1"/>
          <p:nvPr/>
        </p:nvSpPr>
        <p:spPr>
          <a:xfrm>
            <a:off x="4389120"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الخَضْرَاءَ الفَاتِحَةَ</a:t>
            </a:r>
            <a:endParaRPr lang="ar-SA" sz="1800" dirty="0"/>
          </a:p>
        </p:txBody>
      </p:sp>
      <p:sp>
        <p:nvSpPr>
          <p:cNvPr id="84" name="Text 8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11 / 23</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TB-L06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STEP 3 · CHECK YOUR SENTENCES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 builder: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ابْنِ الجُمْلَةَ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B · Writing practice room · TB-L06</a:t>
            </a:r>
            <a:endParaRPr lang="en-US" sz="850" dirty="0"/>
          </a:p>
        </p:txBody>
      </p:sp>
      <p:sp>
        <p:nvSpPr>
          <p:cNvPr id="15" name="Shape 12"/>
          <p:cNvSpPr/>
          <p:nvPr/>
        </p:nvSpPr>
        <p:spPr>
          <a:xfrm>
            <a:off x="457200" y="1810512"/>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47672"/>
            <a:ext cx="365760" cy="365760"/>
          </a:xfrm>
          <a:prstGeom prst="ellipse">
            <a:avLst/>
          </a:prstGeom>
          <a:solidFill>
            <a:srgbClr val="2E8B57"/>
          </a:solidFill>
          <a:ln w="12700">
            <a:solidFill>
              <a:srgbClr val="2E8B57"/>
            </a:solidFill>
            <a:prstDash val="solid"/>
          </a:ln>
        </p:spPr>
      </p:sp>
      <p:sp>
        <p:nvSpPr>
          <p:cNvPr id="17" name="Text 14"/>
          <p:cNvSpPr txBox="1"/>
          <p:nvPr/>
        </p:nvSpPr>
        <p:spPr>
          <a:xfrm>
            <a:off x="640080" y="1947672"/>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18" name="Text 15"/>
          <p:cNvSpPr txBox="1"/>
          <p:nvPr/>
        </p:nvSpPr>
        <p:spPr>
          <a:xfrm>
            <a:off x="1143000" y="1901952"/>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My bag is black and made of leather.</a:t>
            </a:r>
            <a:endParaRPr lang="en-US" sz="1300" dirty="0"/>
          </a:p>
        </p:txBody>
      </p:sp>
      <p:sp>
        <p:nvSpPr>
          <p:cNvPr id="19" name="Text 16"/>
          <p:cNvSpPr txBox="1"/>
          <p:nvPr/>
        </p:nvSpPr>
        <p:spPr>
          <a:xfrm>
            <a:off x="1143000" y="2359152"/>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20" name="Text 17"/>
          <p:cNvSpPr txBox="1"/>
          <p:nvPr/>
        </p:nvSpPr>
        <p:spPr>
          <a:xfrm>
            <a:off x="1143000" y="2633472"/>
            <a:ext cx="3291840" cy="438912"/>
          </a:xfrm>
          <a:prstGeom prst="rect">
            <a:avLst/>
          </a:prstGeom>
          <a:noFill/>
          <a:ln/>
        </p:spPr>
        <p:txBody>
          <a:bodyPr wrap="square" lIns="0" tIns="0" rIns="0" bIns="0" rtlCol="0" anchor="ctr"/>
          <a:lstStyle/>
          <a:p>
            <a:pPr algn="l" indent="0" marL="0">
              <a:buNone/>
            </a:pPr>
            <a:r>
              <a:rPr lang="ar-SA" altLang="en-US" sz="1350" dirty="0">
                <a:solidFill>
                  <a:srgbClr val="5A6472"/>
                </a:solidFill>
                <a:latin typeface="Amiri" pitchFamily="2" charset="-78"/>
                <a:ea typeface="Amiri" pitchFamily="2" charset="-78"/>
                <a:cs typeface="Amiri" pitchFamily="2" charset="-78"/>
              </a:rPr>
              <a:t>حَقِيبَة</a:t>
            </a:r>
            <a:pPr algn="l" indent="0" marL="0">
              <a:buNone/>
            </a:pPr>
            <a:r>
              <a:rPr lang="en-US" sz="1050" i="1" dirty="0">
                <a:solidFill>
                  <a:srgbClr val="5A6472"/>
                </a:solidFill>
                <a:latin typeface="Calibri" pitchFamily="34" charset="0"/>
                <a:cs typeface="Amiri" pitchFamily="2" charset="-78"/>
              </a:rPr>
              <a:t> is feminine → </a:t>
            </a:r>
            <a:pPr algn="l" indent="0" marL="0">
              <a:buNone/>
            </a:pPr>
            <a:r>
              <a:rPr lang="ar-SA" altLang="en-US" sz="1350" dirty="0">
                <a:solidFill>
                  <a:srgbClr val="5A6472"/>
                </a:solidFill>
                <a:latin typeface="Amiri" pitchFamily="2" charset="-78"/>
                <a:ea typeface="Amiri" pitchFamily="2" charset="-78"/>
                <a:cs typeface="Amiri" pitchFamily="2" charset="-78"/>
              </a:rPr>
              <a:t>سَوْدَاءُ</a:t>
            </a:r>
            <a:pPr algn="l" indent="0" marL="0">
              <a:buNone/>
            </a:pPr>
            <a:r>
              <a:rPr lang="en-US" sz="1050" i="1" dirty="0">
                <a:solidFill>
                  <a:srgbClr val="5A6472"/>
                </a:solidFill>
                <a:latin typeface="Calibri" pitchFamily="34" charset="0"/>
                <a:cs typeface="Amiri" pitchFamily="2" charset="-78"/>
              </a:rPr>
              <a:t> · </a:t>
            </a:r>
            <a:pPr algn="l" indent="0" marL="0">
              <a:buNone/>
            </a:pPr>
            <a:r>
              <a:rPr lang="ar-SA" altLang="en-US" sz="1350" dirty="0">
                <a:solidFill>
                  <a:srgbClr val="5A6472"/>
                </a:solidFill>
                <a:latin typeface="Amiri" pitchFamily="2" charset="-78"/>
                <a:ea typeface="Amiri" pitchFamily="2" charset="-78"/>
                <a:cs typeface="Amiri" pitchFamily="2" charset="-78"/>
              </a:rPr>
              <a:t>مَصْنُوعَةٌ</a:t>
            </a:r>
            <a:pPr algn="l" indent="0" marL="0">
              <a:buNone/>
            </a:pPr>
            <a:r>
              <a:rPr lang="en-US" sz="1050" i="1" dirty="0">
                <a:solidFill>
                  <a:srgbClr val="5A6472"/>
                </a:solidFill>
                <a:latin typeface="Calibri" pitchFamily="34" charset="0"/>
                <a:cs typeface="Amiri" pitchFamily="2" charset="-78"/>
              </a:rPr>
              <a:t>.</a:t>
            </a:r>
            <a:endParaRPr lang="en-US" sz="1050" dirty="0"/>
          </a:p>
        </p:txBody>
      </p:sp>
      <p:sp>
        <p:nvSpPr>
          <p:cNvPr id="21" name="Text 18"/>
          <p:cNvSpPr txBox="1"/>
          <p:nvPr/>
        </p:nvSpPr>
        <p:spPr>
          <a:xfrm>
            <a:off x="4572000" y="1901952"/>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حَقِيبَتِي سَوْدَاءُ مَصْنُوعَةٌ مِنَ الجِلْدِ</a:t>
            </a:r>
            <a:endParaRPr lang="ar-SA" sz="2800" dirty="0"/>
          </a:p>
        </p:txBody>
      </p:sp>
      <p:sp>
        <p:nvSpPr>
          <p:cNvPr id="22" name="Shape 19"/>
          <p:cNvSpPr/>
          <p:nvPr/>
        </p:nvSpPr>
        <p:spPr>
          <a:xfrm>
            <a:off x="457200" y="3291840"/>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640080" y="3429000"/>
            <a:ext cx="365760" cy="365760"/>
          </a:xfrm>
          <a:prstGeom prst="ellipse">
            <a:avLst/>
          </a:prstGeom>
          <a:solidFill>
            <a:srgbClr val="2E8B57"/>
          </a:solidFill>
          <a:ln w="12700">
            <a:solidFill>
              <a:srgbClr val="2E8B57"/>
            </a:solidFill>
            <a:prstDash val="solid"/>
          </a:ln>
        </p:spPr>
      </p:sp>
      <p:sp>
        <p:nvSpPr>
          <p:cNvPr id="24" name="Text 21"/>
          <p:cNvSpPr txBox="1"/>
          <p:nvPr/>
        </p:nvSpPr>
        <p:spPr>
          <a:xfrm>
            <a:off x="640080" y="342900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25" name="Text 22"/>
          <p:cNvSpPr txBox="1"/>
          <p:nvPr/>
        </p:nvSpPr>
        <p:spPr>
          <a:xfrm>
            <a:off x="1143000" y="3383280"/>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The cars in our street are red.</a:t>
            </a:r>
            <a:endParaRPr lang="en-US" sz="1300" dirty="0"/>
          </a:p>
        </p:txBody>
      </p:sp>
      <p:sp>
        <p:nvSpPr>
          <p:cNvPr id="26" name="Text 23"/>
          <p:cNvSpPr txBox="1"/>
          <p:nvPr/>
        </p:nvSpPr>
        <p:spPr>
          <a:xfrm>
            <a:off x="1143000" y="3840480"/>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27" name="Text 24"/>
          <p:cNvSpPr txBox="1"/>
          <p:nvPr/>
        </p:nvSpPr>
        <p:spPr>
          <a:xfrm>
            <a:off x="1143000" y="4114800"/>
            <a:ext cx="3291840" cy="43891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Non-human plural → feminine singular colour: </a:t>
            </a:r>
            <a:pPr algn="l" indent="0" marL="0">
              <a:buNone/>
            </a:pPr>
            <a:r>
              <a:rPr lang="ar-SA" altLang="en-US" sz="1350" dirty="0">
                <a:solidFill>
                  <a:srgbClr val="5A6472"/>
                </a:solidFill>
                <a:latin typeface="Amiri" pitchFamily="2" charset="-78"/>
                <a:ea typeface="Amiri" pitchFamily="2" charset="-78"/>
                <a:cs typeface="Amiri" pitchFamily="2" charset="-78"/>
              </a:rPr>
              <a:t>حَمْرَاءُ</a:t>
            </a:r>
            <a:pPr algn="l" indent="0" marL="0">
              <a:buNone/>
            </a:pPr>
            <a:r>
              <a:rPr lang="en-US" sz="1050" i="1" dirty="0">
                <a:solidFill>
                  <a:srgbClr val="5A6472"/>
                </a:solidFill>
                <a:latin typeface="Calibri" pitchFamily="34" charset="0"/>
                <a:cs typeface="Amiri" pitchFamily="2" charset="-78"/>
              </a:rPr>
              <a:t>.</a:t>
            </a:r>
            <a:endParaRPr lang="en-US" sz="1050" dirty="0"/>
          </a:p>
        </p:txBody>
      </p:sp>
      <p:sp>
        <p:nvSpPr>
          <p:cNvPr id="28" name="Text 25"/>
          <p:cNvSpPr txBox="1"/>
          <p:nvPr/>
        </p:nvSpPr>
        <p:spPr>
          <a:xfrm>
            <a:off x="4572000" y="3383280"/>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السَّيَّارَاتُ فِي شَارِعِنَا حَمْرَاءُ</a:t>
            </a:r>
            <a:endParaRPr lang="ar-SA" sz="2800" dirty="0"/>
          </a:p>
        </p:txBody>
      </p:sp>
      <p:sp>
        <p:nvSpPr>
          <p:cNvPr id="29" name="Shape 26"/>
          <p:cNvSpPr/>
          <p:nvPr/>
        </p:nvSpPr>
        <p:spPr>
          <a:xfrm>
            <a:off x="457200" y="4773168"/>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640080" y="4910328"/>
            <a:ext cx="365760" cy="365760"/>
          </a:xfrm>
          <a:prstGeom prst="ellipse">
            <a:avLst/>
          </a:prstGeom>
          <a:solidFill>
            <a:srgbClr val="2E8B57"/>
          </a:solidFill>
          <a:ln w="12700">
            <a:solidFill>
              <a:srgbClr val="2E8B57"/>
            </a:solidFill>
            <a:prstDash val="solid"/>
          </a:ln>
        </p:spPr>
      </p:sp>
      <p:sp>
        <p:nvSpPr>
          <p:cNvPr id="31" name="Text 28"/>
          <p:cNvSpPr txBox="1"/>
          <p:nvPr/>
        </p:nvSpPr>
        <p:spPr>
          <a:xfrm>
            <a:off x="640080" y="49103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32" name="Text 29"/>
          <p:cNvSpPr txBox="1"/>
          <p:nvPr/>
        </p:nvSpPr>
        <p:spPr>
          <a:xfrm>
            <a:off x="1143000" y="4864608"/>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I prefer the light green shirt.</a:t>
            </a:r>
            <a:endParaRPr lang="en-US" sz="1300" dirty="0"/>
          </a:p>
        </p:txBody>
      </p:sp>
      <p:sp>
        <p:nvSpPr>
          <p:cNvPr id="33" name="Text 30"/>
          <p:cNvSpPr txBox="1"/>
          <p:nvPr/>
        </p:nvSpPr>
        <p:spPr>
          <a:xfrm>
            <a:off x="1143000" y="5321808"/>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34" name="Text 31"/>
          <p:cNvSpPr txBox="1"/>
          <p:nvPr/>
        </p:nvSpPr>
        <p:spPr>
          <a:xfrm>
            <a:off x="1143000" y="5596128"/>
            <a:ext cx="3291840" cy="438912"/>
          </a:xfrm>
          <a:prstGeom prst="rect">
            <a:avLst/>
          </a:prstGeom>
          <a:noFill/>
          <a:ln/>
        </p:spPr>
        <p:txBody>
          <a:bodyPr wrap="square" lIns="0" tIns="0" rIns="0" bIns="0" rtlCol="0" anchor="ctr"/>
          <a:lstStyle/>
          <a:p>
            <a:pPr algn="l" indent="0" marL="0">
              <a:buNone/>
            </a:pPr>
            <a:r>
              <a:rPr lang="ar-SA" altLang="en-US" sz="1350" dirty="0">
                <a:solidFill>
                  <a:srgbClr val="5A6472"/>
                </a:solidFill>
                <a:latin typeface="Amiri" pitchFamily="2" charset="-78"/>
                <a:ea typeface="Amiri" pitchFamily="2" charset="-78"/>
                <a:cs typeface="Amiri" pitchFamily="2" charset="-78"/>
              </a:rPr>
              <a:t>قَمِيص</a:t>
            </a:r>
            <a:pPr algn="l" indent="0" marL="0">
              <a:buNone/>
            </a:pPr>
            <a:r>
              <a:rPr lang="en-US" sz="1050" i="1" dirty="0">
                <a:solidFill>
                  <a:srgbClr val="5A6472"/>
                </a:solidFill>
                <a:latin typeface="Calibri" pitchFamily="34" charset="0"/>
                <a:cs typeface="Amiri" pitchFamily="2" charset="-78"/>
              </a:rPr>
              <a:t> is masculine → </a:t>
            </a:r>
            <a:pPr algn="l" indent="0" marL="0">
              <a:buNone/>
            </a:pPr>
            <a:r>
              <a:rPr lang="ar-SA" altLang="en-US" sz="1350" dirty="0">
                <a:solidFill>
                  <a:srgbClr val="5A6472"/>
                </a:solidFill>
                <a:latin typeface="Amiri" pitchFamily="2" charset="-78"/>
                <a:ea typeface="Amiri" pitchFamily="2" charset="-78"/>
                <a:cs typeface="Amiri" pitchFamily="2" charset="-78"/>
              </a:rPr>
              <a:t>الأَخْضَرَ الفَاتِحَ</a:t>
            </a:r>
            <a:pPr algn="l" indent="0" marL="0">
              <a:buNone/>
            </a:pPr>
            <a:r>
              <a:rPr lang="en-US" sz="1050" i="1" dirty="0">
                <a:solidFill>
                  <a:srgbClr val="5A6472"/>
                </a:solidFill>
                <a:latin typeface="Calibri" pitchFamily="34" charset="0"/>
                <a:cs typeface="Amiri" pitchFamily="2" charset="-78"/>
              </a:rPr>
              <a:t> (object → -a).</a:t>
            </a:r>
            <a:endParaRPr lang="en-US" sz="1050" dirty="0"/>
          </a:p>
        </p:txBody>
      </p:sp>
      <p:sp>
        <p:nvSpPr>
          <p:cNvPr id="35" name="Text 32"/>
          <p:cNvSpPr txBox="1"/>
          <p:nvPr/>
        </p:nvSpPr>
        <p:spPr>
          <a:xfrm>
            <a:off x="4572000" y="4864608"/>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أُفَضِّلُ القَمِيصَ الأَخْضَرَ الفَاتِحَ</a:t>
            </a:r>
            <a:endParaRPr lang="ar-SA" sz="2800" dirty="0"/>
          </a:p>
        </p:txBody>
      </p:sp>
      <p:sp>
        <p:nvSpPr>
          <p:cNvPr id="36" name="Text 3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12 / 23</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TB-L06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4 · WRITE QUESTION 2 · FRAMES IF YOU NEED THEM</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Your frames for Question 2</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قَوَالِبُ الكِتَابَةِ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B · Writing practice room · TB-L06</a:t>
            </a:r>
            <a:endParaRPr lang="en-US" sz="850" dirty="0"/>
          </a:p>
        </p:txBody>
      </p:sp>
      <p:sp>
        <p:nvSpPr>
          <p:cNvPr id="15" name="Shape 12"/>
          <p:cNvSpPr/>
          <p:nvPr/>
        </p:nvSpPr>
        <p:spPr>
          <a:xfrm>
            <a:off x="457200" y="1810512"/>
            <a:ext cx="5541264" cy="3566160"/>
          </a:xfrm>
          <a:prstGeom prst="roundRect">
            <a:avLst>
              <a:gd name="adj" fmla="val 2051"/>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94360" y="1901952"/>
            <a:ext cx="1051560" cy="274320"/>
          </a:xfrm>
          <a:prstGeom prst="roundRect">
            <a:avLst>
              <a:gd name="adj" fmla="val 50000"/>
            </a:avLst>
          </a:prstGeom>
          <a:solidFill>
            <a:srgbClr val="C9780A"/>
          </a:solidFill>
          <a:ln w="12700">
            <a:solidFill>
              <a:srgbClr val="C9780A"/>
            </a:solidFill>
            <a:prstDash val="solid"/>
          </a:ln>
        </p:spPr>
      </p:sp>
      <p:sp>
        <p:nvSpPr>
          <p:cNvPr id="17" name="Text 14"/>
          <p:cNvSpPr txBox="1"/>
          <p:nvPr/>
        </p:nvSpPr>
        <p:spPr>
          <a:xfrm>
            <a:off x="594360"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18" name="Text 15"/>
          <p:cNvSpPr txBox="1"/>
          <p:nvPr/>
        </p:nvSpPr>
        <p:spPr>
          <a:xfrm>
            <a:off x="2468880"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أَظُنُّ أَنِّي تَرَكْتُ ______ تَحْتَ ______ .</a:t>
            </a:r>
            <a:endParaRPr lang="ar-SA" sz="1800" dirty="0"/>
          </a:p>
        </p:txBody>
      </p:sp>
      <p:sp>
        <p:nvSpPr>
          <p:cNvPr id="19" name="Text 16"/>
          <p:cNvSpPr txBox="1"/>
          <p:nvPr/>
        </p:nvSpPr>
        <p:spPr>
          <a:xfrm>
            <a:off x="594360"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1 · I think I left … under …</a:t>
            </a:r>
            <a:endParaRPr lang="en-US" sz="1050" dirty="0"/>
          </a:p>
        </p:txBody>
      </p:sp>
      <p:sp>
        <p:nvSpPr>
          <p:cNvPr id="20" name="Text 17"/>
          <p:cNvSpPr txBox="1"/>
          <p:nvPr/>
        </p:nvSpPr>
        <p:spPr>
          <a:xfrm>
            <a:off x="2468880"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لَوْنُهَا ______ غَامِقٌ، وَعَلَيْهَا ______ .</a:t>
            </a:r>
            <a:endParaRPr lang="ar-SA" sz="1800" dirty="0"/>
          </a:p>
        </p:txBody>
      </p:sp>
      <p:sp>
        <p:nvSpPr>
          <p:cNvPr id="21" name="Text 18"/>
          <p:cNvSpPr txBox="1"/>
          <p:nvPr/>
        </p:nvSpPr>
        <p:spPr>
          <a:xfrm>
            <a:off x="594360"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2 · Its colour is dark …, and it has … on it.</a:t>
            </a:r>
            <a:endParaRPr lang="en-US" sz="1050" dirty="0"/>
          </a:p>
        </p:txBody>
      </p:sp>
      <p:sp>
        <p:nvSpPr>
          <p:cNvPr id="22" name="Text 19"/>
          <p:cNvSpPr txBox="1"/>
          <p:nvPr/>
        </p:nvSpPr>
        <p:spPr>
          <a:xfrm>
            <a:off x="2468880"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أَعْطَتْنِي ______ إِيَّاهَا فِي ______ .</a:t>
            </a:r>
            <a:endParaRPr lang="ar-SA" sz="1800" dirty="0"/>
          </a:p>
        </p:txBody>
      </p:sp>
      <p:sp>
        <p:nvSpPr>
          <p:cNvPr id="23" name="Text 20"/>
          <p:cNvSpPr txBox="1"/>
          <p:nvPr/>
        </p:nvSpPr>
        <p:spPr>
          <a:xfrm>
            <a:off x="594360"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3 · … gave it to me in …</a:t>
            </a:r>
            <a:endParaRPr lang="en-US" sz="1050" dirty="0"/>
          </a:p>
        </p:txBody>
      </p:sp>
      <p:sp>
        <p:nvSpPr>
          <p:cNvPr id="24" name="Text 21"/>
          <p:cNvSpPr txBox="1"/>
          <p:nvPr/>
        </p:nvSpPr>
        <p:spPr>
          <a:xfrm>
            <a:off x="2468880"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هَلْ يُمْكِنُ أَنْ تُعْطِيَهَا لِأَخِي فِي المَدْرَسَةِ؟</a:t>
            </a:r>
            <a:endParaRPr lang="ar-SA" sz="1800" dirty="0"/>
          </a:p>
        </p:txBody>
      </p:sp>
      <p:sp>
        <p:nvSpPr>
          <p:cNvPr id="25" name="Text 22"/>
          <p:cNvSpPr txBox="1"/>
          <p:nvPr/>
        </p:nvSpPr>
        <p:spPr>
          <a:xfrm>
            <a:off x="594360"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4 · Could you give it to my brother at school?</a:t>
            </a:r>
            <a:endParaRPr lang="en-US" sz="1050" dirty="0"/>
          </a:p>
        </p:txBody>
      </p:sp>
      <p:sp>
        <p:nvSpPr>
          <p:cNvPr id="26" name="Shape 23"/>
          <p:cNvSpPr/>
          <p:nvPr/>
        </p:nvSpPr>
        <p:spPr>
          <a:xfrm>
            <a:off x="6190488" y="1810512"/>
            <a:ext cx="5541264" cy="3566160"/>
          </a:xfrm>
          <a:prstGeom prst="roundRect">
            <a:avLst>
              <a:gd name="adj" fmla="val 2051"/>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27" name="Shape 24"/>
          <p:cNvSpPr/>
          <p:nvPr/>
        </p:nvSpPr>
        <p:spPr>
          <a:xfrm>
            <a:off x="10543032" y="1901952"/>
            <a:ext cx="1051560" cy="274320"/>
          </a:xfrm>
          <a:prstGeom prst="roundRect">
            <a:avLst>
              <a:gd name="adj" fmla="val 50000"/>
            </a:avLst>
          </a:prstGeom>
          <a:solidFill>
            <a:srgbClr val="2E8B57"/>
          </a:solidFill>
          <a:ln w="12700">
            <a:solidFill>
              <a:srgbClr val="2E8B57"/>
            </a:solidFill>
            <a:prstDash val="solid"/>
          </a:ln>
        </p:spPr>
      </p:sp>
      <p:sp>
        <p:nvSpPr>
          <p:cNvPr id="28" name="Text 25"/>
          <p:cNvSpPr txBox="1"/>
          <p:nvPr/>
        </p:nvSpPr>
        <p:spPr>
          <a:xfrm>
            <a:off x="10543032"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29" name="Text 26"/>
          <p:cNvSpPr txBox="1"/>
          <p:nvPr/>
        </p:nvSpPr>
        <p:spPr>
          <a:xfrm>
            <a:off x="8202168"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مَرْحَبًا يَا ______ ، شُكْرًا عَلَى ______ !</a:t>
            </a:r>
            <a:endParaRPr lang="ar-SA" sz="1800" dirty="0"/>
          </a:p>
        </p:txBody>
      </p:sp>
      <p:sp>
        <p:nvSpPr>
          <p:cNvPr id="30" name="Text 27"/>
          <p:cNvSpPr txBox="1"/>
          <p:nvPr/>
        </p:nvSpPr>
        <p:spPr>
          <a:xfrm>
            <a:off x="6327648"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Hello …, thanks for …!</a:t>
            </a:r>
            <a:endParaRPr lang="en-US" sz="1050" dirty="0"/>
          </a:p>
        </p:txBody>
      </p:sp>
      <p:sp>
        <p:nvSpPr>
          <p:cNvPr id="31" name="Text 28"/>
          <p:cNvSpPr txBox="1"/>
          <p:nvPr/>
        </p:nvSpPr>
        <p:spPr>
          <a:xfrm>
            <a:off x="8202168"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نَسِيتُ ______ فِي ______ .</a:t>
            </a:r>
            <a:endParaRPr lang="ar-SA" sz="1800" dirty="0"/>
          </a:p>
        </p:txBody>
      </p:sp>
      <p:sp>
        <p:nvSpPr>
          <p:cNvPr id="32" name="Text 29"/>
          <p:cNvSpPr txBox="1"/>
          <p:nvPr/>
        </p:nvSpPr>
        <p:spPr>
          <a:xfrm>
            <a:off x="6327648"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1 · I forgot … in …</a:t>
            </a:r>
            <a:endParaRPr lang="en-US" sz="1050" dirty="0"/>
          </a:p>
        </p:txBody>
      </p:sp>
      <p:sp>
        <p:nvSpPr>
          <p:cNvPr id="33" name="Text 30"/>
          <p:cNvSpPr txBox="1"/>
          <p:nvPr/>
        </p:nvSpPr>
        <p:spPr>
          <a:xfrm>
            <a:off x="8202168"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هِيَ ______ ، وَمَصْنُوعَةٌ مِنْ ______ .</a:t>
            </a:r>
            <a:endParaRPr lang="ar-SA" sz="1800" dirty="0"/>
          </a:p>
        </p:txBody>
      </p:sp>
      <p:sp>
        <p:nvSpPr>
          <p:cNvPr id="34" name="Text 31"/>
          <p:cNvSpPr txBox="1"/>
          <p:nvPr/>
        </p:nvSpPr>
        <p:spPr>
          <a:xfrm>
            <a:off x="6327648"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2 · It is …, and made of …</a:t>
            </a:r>
            <a:endParaRPr lang="en-US" sz="1050" dirty="0"/>
          </a:p>
        </p:txBody>
      </p:sp>
      <p:sp>
        <p:nvSpPr>
          <p:cNvPr id="35" name="Text 32"/>
          <p:cNvSpPr txBox="1"/>
          <p:nvPr/>
        </p:nvSpPr>
        <p:spPr>
          <a:xfrm>
            <a:off x="8202168"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هِيَ مُهِمَّةٌ لِي لِأَنَّ ______ .</a:t>
            </a:r>
            <a:endParaRPr lang="ar-SA" sz="1800" dirty="0"/>
          </a:p>
        </p:txBody>
      </p:sp>
      <p:sp>
        <p:nvSpPr>
          <p:cNvPr id="36" name="Text 33"/>
          <p:cNvSpPr txBox="1"/>
          <p:nvPr/>
        </p:nvSpPr>
        <p:spPr>
          <a:xfrm>
            <a:off x="6327648"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3 · It is important to me because …</a:t>
            </a:r>
            <a:endParaRPr lang="en-US" sz="1050" dirty="0"/>
          </a:p>
        </p:txBody>
      </p:sp>
      <p:sp>
        <p:nvSpPr>
          <p:cNvPr id="37" name="Text 34"/>
          <p:cNvSpPr txBox="1"/>
          <p:nvPr/>
        </p:nvSpPr>
        <p:spPr>
          <a:xfrm>
            <a:off x="8202168" y="4517136"/>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سَآتِي يَوْمَ ______ لِآخُذَهَا.</a:t>
            </a:r>
            <a:endParaRPr lang="ar-SA" sz="1800" dirty="0"/>
          </a:p>
        </p:txBody>
      </p:sp>
      <p:sp>
        <p:nvSpPr>
          <p:cNvPr id="38" name="Text 35"/>
          <p:cNvSpPr txBox="1"/>
          <p:nvPr/>
        </p:nvSpPr>
        <p:spPr>
          <a:xfrm>
            <a:off x="6327648" y="4517136"/>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4 · I will come on … to collect it.</a:t>
            </a:r>
            <a:endParaRPr lang="en-US" sz="1050" dirty="0"/>
          </a:p>
        </p:txBody>
      </p:sp>
      <p:sp>
        <p:nvSpPr>
          <p:cNvPr id="39" name="Shape 36"/>
          <p:cNvSpPr/>
          <p:nvPr/>
        </p:nvSpPr>
        <p:spPr>
          <a:xfrm>
            <a:off x="457200" y="5504688"/>
            <a:ext cx="11274552" cy="804672"/>
          </a:xfrm>
          <a:prstGeom prst="roundRect">
            <a:avLst>
              <a:gd name="adj" fmla="val 909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Text 37"/>
          <p:cNvSpPr txBox="1"/>
          <p:nvPr/>
        </p:nvSpPr>
        <p:spPr>
          <a:xfrm>
            <a:off x="640080" y="5541264"/>
            <a:ext cx="18288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WORD BANK</a:t>
            </a:r>
            <a:endParaRPr lang="en-US" sz="950" dirty="0"/>
          </a:p>
        </p:txBody>
      </p:sp>
      <p:sp>
        <p:nvSpPr>
          <p:cNvPr id="41" name="Text 38"/>
          <p:cNvSpPr txBox="1"/>
          <p:nvPr/>
        </p:nvSpPr>
        <p:spPr>
          <a:xfrm>
            <a:off x="640080" y="5760720"/>
            <a:ext cx="10908792" cy="512064"/>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أَزْرَقُ · زَرْقَاءُ  ·  غَامِقٌ · فَاتِحٌ  ·  رَمَادِيٌّ · بُنِّيٌّ  ·  مُخَطَّطٌ · مُنَقَّطٌ  ·  مَصْنُوعٌ مِنْ  ·  الصُّوفُ · الجِلْدُ  ·  نَسِيتُ  ·  هَدِيَّةٌ</a:t>
            </a:r>
            <a:endParaRPr lang="ar-SA" sz="1600" dirty="0"/>
          </a:p>
        </p:txBody>
      </p:sp>
      <p:sp>
        <p:nvSpPr>
          <p:cNvPr id="42" name="Text 3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13 / 23</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TB-L06 · Writing practice room</a:t>
            </a:r>
            <a:endParaRPr lang="en-US" sz="950" dirty="0"/>
          </a:p>
        </p:txBody>
      </p:sp>
      <p:sp>
        <p:nvSpPr>
          <p:cNvPr id="8" name="Shape 6"/>
          <p:cNvSpPr/>
          <p:nvPr/>
        </p:nvSpPr>
        <p:spPr>
          <a:xfrm>
            <a:off x="7219188" y="274320"/>
            <a:ext cx="1540764"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11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4 · WRITE, THEN SWAP · 14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Write Question 2 — bullet by bullet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اكْتُبْ ثُمَّ بَادِلْ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B · Writing practice room · TB-L06</a:t>
            </a:r>
            <a:endParaRPr lang="en-US" sz="850" dirty="0"/>
          </a:p>
        </p:txBody>
      </p:sp>
      <p:sp>
        <p:nvSpPr>
          <p:cNvPr id="15" name="Shape 12"/>
          <p:cNvSpPr/>
          <p:nvPr/>
        </p:nvSpPr>
        <p:spPr>
          <a:xfrm>
            <a:off x="457200" y="1810512"/>
            <a:ext cx="5715000" cy="4498848"/>
          </a:xfrm>
          <a:prstGeom prst="roundRect">
            <a:avLst>
              <a:gd name="adj" fmla="val 1626"/>
            </a:avLst>
          </a:prstGeom>
          <a:solidFill>
            <a:srgbClr val="F4F1EA"/>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20240"/>
            <a:ext cx="3108960" cy="292608"/>
          </a:xfrm>
          <a:prstGeom prst="roundRect">
            <a:avLst>
              <a:gd name="adj" fmla="val 50000"/>
            </a:avLst>
          </a:prstGeom>
          <a:solidFill>
            <a:srgbClr val="8A6D1E"/>
          </a:solidFill>
          <a:ln w="12700">
            <a:solidFill>
              <a:srgbClr val="8A6D1E"/>
            </a:solidFill>
            <a:prstDash val="solid"/>
          </a:ln>
        </p:spPr>
      </p:sp>
      <p:sp>
        <p:nvSpPr>
          <p:cNvPr id="17" name="Text 14"/>
          <p:cNvSpPr txBox="1"/>
          <p:nvPr/>
        </p:nvSpPr>
        <p:spPr>
          <a:xfrm>
            <a:off x="640080" y="1920240"/>
            <a:ext cx="3108960" cy="292608"/>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STEP 4 · IN YOUR ROOM</a:t>
            </a:r>
            <a:endParaRPr lang="en-US" sz="900" dirty="0"/>
          </a:p>
        </p:txBody>
      </p:sp>
      <p:sp>
        <p:nvSpPr>
          <p:cNvPr id="18" name="Text 15"/>
          <p:cNvSpPr txBox="1"/>
          <p:nvPr/>
        </p:nvSpPr>
        <p:spPr>
          <a:xfrm>
            <a:off x="640080" y="2286000"/>
            <a:ext cx="5349240" cy="502920"/>
          </a:xfrm>
          <a:prstGeom prst="rect">
            <a:avLst/>
          </a:prstGeom>
          <a:noFill/>
          <a:ln/>
        </p:spPr>
        <p:txBody>
          <a:bodyPr wrap="square" lIns="0" tIns="0" rIns="0" bIns="0" rtlCol="0" anchor="ctr"/>
          <a:lstStyle/>
          <a:p>
            <a:pPr algn="l" indent="0" marL="0">
              <a:buNone/>
            </a:pPr>
            <a:r>
              <a:rPr lang="en-US" sz="2200" b="1" dirty="0">
                <a:solidFill>
                  <a:srgbClr val="1B3B6F"/>
                </a:solidFill>
                <a:latin typeface="Calibri" pitchFamily="34" charset="0"/>
                <a:cs typeface="Amiri" pitchFamily="2" charset="-78"/>
              </a:rPr>
              <a:t>✍  Two rounds of writing</a:t>
            </a:r>
            <a:endParaRPr lang="en-US" sz="2200" dirty="0"/>
          </a:p>
        </p:txBody>
      </p:sp>
      <p:sp>
        <p:nvSpPr>
          <p:cNvPr id="19" name="Text 16"/>
          <p:cNvSpPr txBox="1"/>
          <p:nvPr/>
        </p:nvSpPr>
        <p:spPr>
          <a:xfrm>
            <a:off x="640080" y="2816352"/>
            <a:ext cx="5349240" cy="118872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Round 1 (6 min): write bullets 1 and 2. SWAP: your buddy reads and ticks “bullet covered?”. Round 2 (6 min): write bullets 3 and 4 and your closing. SWAP again.</a:t>
            </a:r>
            <a:endParaRPr lang="en-US" sz="1350" dirty="0"/>
          </a:p>
        </p:txBody>
      </p:sp>
      <p:sp>
        <p:nvSpPr>
          <p:cNvPr id="20" name="Text 17"/>
          <p:cNvSpPr txBox="1"/>
          <p:nvPr/>
        </p:nvSpPr>
        <p:spPr>
          <a:xfrm>
            <a:off x="640080" y="4041648"/>
            <a:ext cx="530352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HOW WE RUN IT ONLINE</a:t>
            </a:r>
            <a:endParaRPr lang="en-US" sz="950" dirty="0"/>
          </a:p>
        </p:txBody>
      </p:sp>
      <p:sp>
        <p:nvSpPr>
          <p:cNvPr id="21" name="Shape 18"/>
          <p:cNvSpPr/>
          <p:nvPr/>
        </p:nvSpPr>
        <p:spPr>
          <a:xfrm>
            <a:off x="658368" y="4407408"/>
            <a:ext cx="274320" cy="274320"/>
          </a:xfrm>
          <a:prstGeom prst="ellipse">
            <a:avLst/>
          </a:prstGeom>
          <a:solidFill>
            <a:srgbClr val="1B3B6F"/>
          </a:solidFill>
          <a:ln w="12700">
            <a:solidFill>
              <a:srgbClr val="1B3B6F"/>
            </a:solidFill>
            <a:prstDash val="solid"/>
          </a:ln>
        </p:spPr>
      </p:sp>
      <p:sp>
        <p:nvSpPr>
          <p:cNvPr id="22" name="Text 19"/>
          <p:cNvSpPr txBox="1"/>
          <p:nvPr/>
        </p:nvSpPr>
        <p:spPr>
          <a:xfrm>
            <a:off x="658368" y="44074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1</a:t>
            </a:r>
            <a:endParaRPr lang="en-US" sz="1000" dirty="0"/>
          </a:p>
        </p:txBody>
      </p:sp>
      <p:sp>
        <p:nvSpPr>
          <p:cNvPr id="23" name="Text 20"/>
          <p:cNvSpPr txBox="1"/>
          <p:nvPr/>
        </p:nvSpPr>
        <p:spPr>
          <a:xfrm>
            <a:off x="1024128" y="43342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Start with a greeting; end with a closing and a question.</a:t>
            </a:r>
            <a:endParaRPr lang="en-US" sz="1150" dirty="0"/>
          </a:p>
        </p:txBody>
      </p:sp>
      <p:sp>
        <p:nvSpPr>
          <p:cNvPr id="24" name="Shape 21"/>
          <p:cNvSpPr/>
          <p:nvPr/>
        </p:nvSpPr>
        <p:spPr>
          <a:xfrm>
            <a:off x="658368" y="4864608"/>
            <a:ext cx="274320" cy="274320"/>
          </a:xfrm>
          <a:prstGeom prst="ellipse">
            <a:avLst/>
          </a:prstGeom>
          <a:solidFill>
            <a:srgbClr val="1B3B6F"/>
          </a:solidFill>
          <a:ln w="12700">
            <a:solidFill>
              <a:srgbClr val="1B3B6F"/>
            </a:solidFill>
            <a:prstDash val="solid"/>
          </a:ln>
        </p:spPr>
      </p:sp>
      <p:sp>
        <p:nvSpPr>
          <p:cNvPr id="25" name="Text 22"/>
          <p:cNvSpPr txBox="1"/>
          <p:nvPr/>
        </p:nvSpPr>
        <p:spPr>
          <a:xfrm>
            <a:off x="658368" y="48646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2</a:t>
            </a:r>
            <a:endParaRPr lang="en-US" sz="1000" dirty="0"/>
          </a:p>
        </p:txBody>
      </p:sp>
      <p:sp>
        <p:nvSpPr>
          <p:cNvPr id="26" name="Text 23"/>
          <p:cNvSpPr txBox="1"/>
          <p:nvPr/>
        </p:nvSpPr>
        <p:spPr>
          <a:xfrm>
            <a:off x="1024128" y="47914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One short paragraph per bullet — tick it off your plan.</a:t>
            </a:r>
            <a:endParaRPr lang="en-US" sz="1150" dirty="0"/>
          </a:p>
        </p:txBody>
      </p:sp>
      <p:sp>
        <p:nvSpPr>
          <p:cNvPr id="27" name="Shape 24"/>
          <p:cNvSpPr/>
          <p:nvPr/>
        </p:nvSpPr>
        <p:spPr>
          <a:xfrm>
            <a:off x="658368" y="5321808"/>
            <a:ext cx="274320" cy="274320"/>
          </a:xfrm>
          <a:prstGeom prst="ellipse">
            <a:avLst/>
          </a:prstGeom>
          <a:solidFill>
            <a:srgbClr val="1B3B6F"/>
          </a:solidFill>
          <a:ln w="12700">
            <a:solidFill>
              <a:srgbClr val="1B3B6F"/>
            </a:solidFill>
            <a:prstDash val="solid"/>
          </a:ln>
        </p:spPr>
      </p:sp>
      <p:sp>
        <p:nvSpPr>
          <p:cNvPr id="28" name="Text 25"/>
          <p:cNvSpPr txBox="1"/>
          <p:nvPr/>
        </p:nvSpPr>
        <p:spPr>
          <a:xfrm>
            <a:off x="658368" y="53218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3</a:t>
            </a:r>
            <a:endParaRPr lang="en-US" sz="1000" dirty="0"/>
          </a:p>
        </p:txBody>
      </p:sp>
      <p:sp>
        <p:nvSpPr>
          <p:cNvPr id="29" name="Text 26"/>
          <p:cNvSpPr txBox="1"/>
          <p:nvPr/>
        </p:nvSpPr>
        <p:spPr>
          <a:xfrm>
            <a:off x="1024128" y="52486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Use at least one upgrade from Step 3 in every paragraph.</a:t>
            </a:r>
            <a:endParaRPr lang="en-US" sz="1150" dirty="0"/>
          </a:p>
        </p:txBody>
      </p:sp>
      <p:sp>
        <p:nvSpPr>
          <p:cNvPr id="30" name="Shape 27"/>
          <p:cNvSpPr/>
          <p:nvPr/>
        </p:nvSpPr>
        <p:spPr>
          <a:xfrm>
            <a:off x="658368" y="5779008"/>
            <a:ext cx="274320" cy="274320"/>
          </a:xfrm>
          <a:prstGeom prst="ellipse">
            <a:avLst/>
          </a:prstGeom>
          <a:solidFill>
            <a:srgbClr val="1B3B6F"/>
          </a:solidFill>
          <a:ln w="12700">
            <a:solidFill>
              <a:srgbClr val="1B3B6F"/>
            </a:solidFill>
            <a:prstDash val="solid"/>
          </a:ln>
        </p:spPr>
      </p:sp>
      <p:sp>
        <p:nvSpPr>
          <p:cNvPr id="31" name="Text 28"/>
          <p:cNvSpPr txBox="1"/>
          <p:nvPr/>
        </p:nvSpPr>
        <p:spPr>
          <a:xfrm>
            <a:off x="658368" y="57790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4</a:t>
            </a:r>
            <a:endParaRPr lang="en-US" sz="1000" dirty="0"/>
          </a:p>
        </p:txBody>
      </p:sp>
      <p:sp>
        <p:nvSpPr>
          <p:cNvPr id="32" name="Text 29"/>
          <p:cNvSpPr txBox="1"/>
          <p:nvPr/>
        </p:nvSpPr>
        <p:spPr>
          <a:xfrm>
            <a:off x="1024128" y="57058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Count your words: about 80–90.</a:t>
            </a:r>
            <a:endParaRPr lang="en-US" sz="1150" dirty="0"/>
          </a:p>
        </p:txBody>
      </p:sp>
      <p:sp>
        <p:nvSpPr>
          <p:cNvPr id="33" name="Shape 30"/>
          <p:cNvSpPr/>
          <p:nvPr/>
        </p:nvSpPr>
        <p:spPr>
          <a:xfrm>
            <a:off x="6355080" y="1810512"/>
            <a:ext cx="5376672" cy="896112"/>
          </a:xfrm>
          <a:prstGeom prst="roundRect">
            <a:avLst>
              <a:gd name="adj" fmla="val 8163"/>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6473952" y="1901952"/>
            <a:ext cx="1051560" cy="256032"/>
          </a:xfrm>
          <a:prstGeom prst="roundRect">
            <a:avLst>
              <a:gd name="adj" fmla="val 50000"/>
            </a:avLst>
          </a:prstGeom>
          <a:solidFill>
            <a:srgbClr val="2E8B57"/>
          </a:solidFill>
          <a:ln w="12700">
            <a:solidFill>
              <a:srgbClr val="2E8B57"/>
            </a:solidFill>
            <a:prstDash val="solid"/>
          </a:ln>
        </p:spPr>
      </p:sp>
      <p:sp>
        <p:nvSpPr>
          <p:cNvPr id="35" name="Text 32"/>
          <p:cNvSpPr txBox="1"/>
          <p:nvPr/>
        </p:nvSpPr>
        <p:spPr>
          <a:xfrm>
            <a:off x="6473952" y="190195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3"/>
          <p:cNvSpPr txBox="1"/>
          <p:nvPr/>
        </p:nvSpPr>
        <p:spPr>
          <a:xfrm>
            <a:off x="6473952" y="217627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Use the Core frames. Aim for 60–70 words, every bullet covered.</a:t>
            </a:r>
            <a:endParaRPr lang="en-US" sz="1150" dirty="0"/>
          </a:p>
        </p:txBody>
      </p:sp>
      <p:sp>
        <p:nvSpPr>
          <p:cNvPr id="37" name="Shape 34"/>
          <p:cNvSpPr/>
          <p:nvPr/>
        </p:nvSpPr>
        <p:spPr>
          <a:xfrm>
            <a:off x="6355080" y="2816352"/>
            <a:ext cx="5376672" cy="896112"/>
          </a:xfrm>
          <a:prstGeom prst="roundRect">
            <a:avLst>
              <a:gd name="adj" fmla="val 8163"/>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5"/>
          <p:cNvSpPr/>
          <p:nvPr/>
        </p:nvSpPr>
        <p:spPr>
          <a:xfrm>
            <a:off x="6473952" y="2907792"/>
            <a:ext cx="1051560" cy="256032"/>
          </a:xfrm>
          <a:prstGeom prst="roundRect">
            <a:avLst>
              <a:gd name="adj" fmla="val 50000"/>
            </a:avLst>
          </a:prstGeom>
          <a:solidFill>
            <a:srgbClr val="C9780A"/>
          </a:solidFill>
          <a:ln w="12700">
            <a:solidFill>
              <a:srgbClr val="C9780A"/>
            </a:solidFill>
            <a:prstDash val="solid"/>
          </a:ln>
        </p:spPr>
      </p:sp>
      <p:sp>
        <p:nvSpPr>
          <p:cNvPr id="39" name="Text 36"/>
          <p:cNvSpPr txBox="1"/>
          <p:nvPr/>
        </p:nvSpPr>
        <p:spPr>
          <a:xfrm>
            <a:off x="6473952" y="290779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7"/>
          <p:cNvSpPr txBox="1"/>
          <p:nvPr/>
        </p:nvSpPr>
        <p:spPr>
          <a:xfrm>
            <a:off x="6473952" y="318211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Develop frames only if stuck. Add a reason and a time word to every bullet. 80–90 words.</a:t>
            </a:r>
            <a:endParaRPr lang="en-US" sz="1150" dirty="0"/>
          </a:p>
        </p:txBody>
      </p:sp>
      <p:sp>
        <p:nvSpPr>
          <p:cNvPr id="41" name="Shape 38"/>
          <p:cNvSpPr/>
          <p:nvPr/>
        </p:nvSpPr>
        <p:spPr>
          <a:xfrm>
            <a:off x="6355080" y="3822192"/>
            <a:ext cx="5376672" cy="896112"/>
          </a:xfrm>
          <a:prstGeom prst="roundRect">
            <a:avLst>
              <a:gd name="adj" fmla="val 8163"/>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6473952" y="3913632"/>
            <a:ext cx="1051560" cy="256032"/>
          </a:xfrm>
          <a:prstGeom prst="roundRect">
            <a:avLst>
              <a:gd name="adj" fmla="val 50000"/>
            </a:avLst>
          </a:prstGeom>
          <a:solidFill>
            <a:srgbClr val="B83227"/>
          </a:solidFill>
          <a:ln w="12700">
            <a:solidFill>
              <a:srgbClr val="B83227"/>
            </a:solidFill>
            <a:prstDash val="solid"/>
          </a:ln>
        </p:spPr>
      </p:sp>
      <p:sp>
        <p:nvSpPr>
          <p:cNvPr id="43" name="Text 40"/>
          <p:cNvSpPr txBox="1"/>
          <p:nvPr/>
        </p:nvSpPr>
        <p:spPr>
          <a:xfrm>
            <a:off x="6473952" y="391363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1"/>
          <p:cNvSpPr txBox="1"/>
          <p:nvPr/>
        </p:nvSpPr>
        <p:spPr>
          <a:xfrm>
            <a:off x="6473952" y="418795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No frames. Add a contrast (</a:t>
            </a:r>
            <a:pPr algn="l" indent="0" marL="0">
              <a:buNone/>
            </a:pPr>
            <a:r>
              <a:rPr lang="ar-SA" altLang="en-US" sz="1500" dirty="0">
                <a:solidFill>
                  <a:srgbClr val="1F2A37"/>
                </a:solidFill>
                <a:latin typeface="Amiri" pitchFamily="2" charset="-78"/>
                <a:ea typeface="Amiri" pitchFamily="2" charset="-78"/>
                <a:cs typeface="Amiri" pitchFamily="2" charset="-78"/>
              </a:rPr>
              <a:t>لٰكِنَّ</a:t>
            </a:r>
            <a:pPr algn="l" indent="0" marL="0">
              <a:buNone/>
            </a:pPr>
            <a:r>
              <a:rPr lang="en-US" sz="1150" dirty="0">
                <a:solidFill>
                  <a:srgbClr val="1F2A37"/>
                </a:solidFill>
                <a:latin typeface="Calibri" pitchFamily="34" charset="0"/>
                <a:cs typeface="Amiri" pitchFamily="2" charset="-78"/>
              </a:rPr>
              <a:t>) and a future plan. Up to 90 words, with no errors.</a:t>
            </a:r>
            <a:endParaRPr lang="en-US" sz="1150" dirty="0"/>
          </a:p>
        </p:txBody>
      </p:sp>
      <p:sp>
        <p:nvSpPr>
          <p:cNvPr id="45" name="Shape 42"/>
          <p:cNvSpPr/>
          <p:nvPr/>
        </p:nvSpPr>
        <p:spPr>
          <a:xfrm>
            <a:off x="6355080" y="4828032"/>
            <a:ext cx="5376672" cy="1481328"/>
          </a:xfrm>
          <a:prstGeom prst="roundRect">
            <a:avLst>
              <a:gd name="adj" fmla="val 493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Text 43"/>
          <p:cNvSpPr txBox="1"/>
          <p:nvPr/>
        </p:nvSpPr>
        <p:spPr>
          <a:xfrm>
            <a:off x="6492240" y="4882896"/>
            <a:ext cx="27432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USEFUL LANGUAGE</a:t>
            </a:r>
            <a:endParaRPr lang="en-US" sz="950" dirty="0"/>
          </a:p>
        </p:txBody>
      </p:sp>
      <p:sp>
        <p:nvSpPr>
          <p:cNvPr id="47" name="Text 44"/>
          <p:cNvSpPr txBox="1"/>
          <p:nvPr/>
        </p:nvSpPr>
        <p:spPr>
          <a:xfrm>
            <a:off x="8732520" y="5138928"/>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أَوَّلًا · ثُمَّ · بَعْدَ ذٰلِكَ</a:t>
            </a:r>
            <a:endParaRPr lang="ar-SA" sz="1300" dirty="0"/>
          </a:p>
        </p:txBody>
      </p:sp>
      <p:sp>
        <p:nvSpPr>
          <p:cNvPr id="48" name="Text 45"/>
          <p:cNvSpPr txBox="1"/>
          <p:nvPr/>
        </p:nvSpPr>
        <p:spPr>
          <a:xfrm>
            <a:off x="6492240" y="5138928"/>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first · then · after that</a:t>
            </a:r>
            <a:endParaRPr lang="en-US" sz="1000" dirty="0"/>
          </a:p>
        </p:txBody>
      </p:sp>
      <p:sp>
        <p:nvSpPr>
          <p:cNvPr id="49" name="Text 46"/>
          <p:cNvSpPr txBox="1"/>
          <p:nvPr/>
        </p:nvSpPr>
        <p:spPr>
          <a:xfrm>
            <a:off x="8732520" y="5422392"/>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لِأَنَّ · لِذٰلِكَ</a:t>
            </a:r>
            <a:endParaRPr lang="ar-SA" sz="1300" dirty="0"/>
          </a:p>
        </p:txBody>
      </p:sp>
      <p:sp>
        <p:nvSpPr>
          <p:cNvPr id="50" name="Text 47"/>
          <p:cNvSpPr txBox="1"/>
          <p:nvPr/>
        </p:nvSpPr>
        <p:spPr>
          <a:xfrm>
            <a:off x="6492240" y="5422392"/>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because · so</a:t>
            </a:r>
            <a:endParaRPr lang="en-US" sz="1000" dirty="0"/>
          </a:p>
        </p:txBody>
      </p:sp>
      <p:sp>
        <p:nvSpPr>
          <p:cNvPr id="51" name="Text 48"/>
          <p:cNvSpPr txBox="1"/>
          <p:nvPr/>
        </p:nvSpPr>
        <p:spPr>
          <a:xfrm>
            <a:off x="8732520" y="5705856"/>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لٰكِنَّ · وَلٰكِنْ</a:t>
            </a:r>
            <a:endParaRPr lang="ar-SA" sz="1300" dirty="0"/>
          </a:p>
        </p:txBody>
      </p:sp>
      <p:sp>
        <p:nvSpPr>
          <p:cNvPr id="52" name="Text 49"/>
          <p:cNvSpPr txBox="1"/>
          <p:nvPr/>
        </p:nvSpPr>
        <p:spPr>
          <a:xfrm>
            <a:off x="6492240" y="5705856"/>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but</a:t>
            </a:r>
            <a:endParaRPr lang="en-US" sz="1000" dirty="0"/>
          </a:p>
        </p:txBody>
      </p:sp>
      <p:sp>
        <p:nvSpPr>
          <p:cNvPr id="53" name="Text 50"/>
          <p:cNvSpPr txBox="1"/>
          <p:nvPr/>
        </p:nvSpPr>
        <p:spPr>
          <a:xfrm>
            <a:off x="8732520" y="5989320"/>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فِي رَأْيِي</a:t>
            </a:r>
            <a:endParaRPr lang="ar-SA" sz="1300" dirty="0"/>
          </a:p>
        </p:txBody>
      </p:sp>
      <p:sp>
        <p:nvSpPr>
          <p:cNvPr id="54" name="Text 51"/>
          <p:cNvSpPr txBox="1"/>
          <p:nvPr/>
        </p:nvSpPr>
        <p:spPr>
          <a:xfrm>
            <a:off x="6492240" y="5989320"/>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in my opinion</a:t>
            </a:r>
            <a:endParaRPr lang="en-US" sz="1000" dirty="0"/>
          </a:p>
        </p:txBody>
      </p:sp>
      <p:sp>
        <p:nvSpPr>
          <p:cNvPr id="55" name="Text 5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14 / 23</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TB-L06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E6B52"/>
                </a:solidFill>
                <a:latin typeface="Calibri" pitchFamily="34" charset="0"/>
                <a:cs typeface="Amiri" pitchFamily="2" charset="-78"/>
              </a:rPr>
              <a:t>STEP 5 · SPOT AND FIX · MISTAKES STUDENTS OFTEN MAKE IN THIS TOPIC</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Find the mistake, fix it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اكْتَشِفِ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B · Writing practice room · TB-L06</a:t>
            </a:r>
            <a:endParaRPr lang="en-US" sz="850" dirty="0"/>
          </a:p>
        </p:txBody>
      </p:sp>
      <p:sp>
        <p:nvSpPr>
          <p:cNvPr id="15" name="Shape 12"/>
          <p:cNvSpPr/>
          <p:nvPr/>
        </p:nvSpPr>
        <p:spPr>
          <a:xfrm>
            <a:off x="457200" y="18105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183112" y="2249424"/>
            <a:ext cx="402336" cy="402336"/>
          </a:xfrm>
          <a:prstGeom prst="ellipse">
            <a:avLst/>
          </a:prstGeom>
          <a:solidFill>
            <a:srgbClr val="B83227"/>
          </a:solidFill>
          <a:ln w="12700">
            <a:solidFill>
              <a:srgbClr val="B83227"/>
            </a:solidFill>
            <a:prstDash val="solid"/>
          </a:ln>
        </p:spPr>
      </p:sp>
      <p:sp>
        <p:nvSpPr>
          <p:cNvPr id="17" name="Text 14"/>
          <p:cNvSpPr txBox="1"/>
          <p:nvPr/>
        </p:nvSpPr>
        <p:spPr>
          <a:xfrm>
            <a:off x="11183112" y="224942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023360" y="1901952"/>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السَّيَّارَةُ أَبْيَضُ.</a:t>
            </a:r>
            <a:endParaRPr lang="ar-SA" sz="3000" dirty="0"/>
          </a:p>
        </p:txBody>
      </p:sp>
      <p:sp>
        <p:nvSpPr>
          <p:cNvPr id="19" name="Text 16"/>
          <p:cNvSpPr txBox="1"/>
          <p:nvPr/>
        </p:nvSpPr>
        <p:spPr>
          <a:xfrm>
            <a:off x="731520" y="1901952"/>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Colour agreement.</a:t>
            </a:r>
            <a:endParaRPr lang="en-US" sz="1300" dirty="0"/>
          </a:p>
        </p:txBody>
      </p:sp>
      <p:sp>
        <p:nvSpPr>
          <p:cNvPr id="20" name="Shape 17"/>
          <p:cNvSpPr/>
          <p:nvPr/>
        </p:nvSpPr>
        <p:spPr>
          <a:xfrm>
            <a:off x="457200" y="3255264"/>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183112" y="3694176"/>
            <a:ext cx="402336" cy="402336"/>
          </a:xfrm>
          <a:prstGeom prst="ellipse">
            <a:avLst/>
          </a:prstGeom>
          <a:solidFill>
            <a:srgbClr val="B83227"/>
          </a:solidFill>
          <a:ln w="12700">
            <a:solidFill>
              <a:srgbClr val="B83227"/>
            </a:solidFill>
            <a:prstDash val="solid"/>
          </a:ln>
        </p:spPr>
      </p:sp>
      <p:sp>
        <p:nvSpPr>
          <p:cNvPr id="22" name="Text 19"/>
          <p:cNvSpPr txBox="1"/>
          <p:nvPr/>
        </p:nvSpPr>
        <p:spPr>
          <a:xfrm>
            <a:off x="11183112" y="369417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023360" y="3346704"/>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الكُتُبُ زُرْقٌ.</a:t>
            </a:r>
            <a:endParaRPr lang="ar-SA" sz="3000" dirty="0"/>
          </a:p>
        </p:txBody>
      </p:sp>
      <p:sp>
        <p:nvSpPr>
          <p:cNvPr id="24" name="Text 21"/>
          <p:cNvSpPr txBox="1"/>
          <p:nvPr/>
        </p:nvSpPr>
        <p:spPr>
          <a:xfrm>
            <a:off x="731520" y="3346704"/>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Non-human plural.</a:t>
            </a:r>
            <a:endParaRPr lang="en-US" sz="1300" dirty="0"/>
          </a:p>
        </p:txBody>
      </p:sp>
      <p:sp>
        <p:nvSpPr>
          <p:cNvPr id="25" name="Shape 22"/>
          <p:cNvSpPr/>
          <p:nvPr/>
        </p:nvSpPr>
        <p:spPr>
          <a:xfrm>
            <a:off x="457200" y="4700016"/>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183112" y="5138928"/>
            <a:ext cx="402336" cy="402336"/>
          </a:xfrm>
          <a:prstGeom prst="ellipse">
            <a:avLst/>
          </a:prstGeom>
          <a:solidFill>
            <a:srgbClr val="B83227"/>
          </a:solidFill>
          <a:ln w="12700">
            <a:solidFill>
              <a:srgbClr val="B83227"/>
            </a:solidFill>
            <a:prstDash val="solid"/>
          </a:ln>
        </p:spPr>
      </p:sp>
      <p:sp>
        <p:nvSpPr>
          <p:cNvPr id="27" name="Text 24"/>
          <p:cNvSpPr txBox="1"/>
          <p:nvPr/>
        </p:nvSpPr>
        <p:spPr>
          <a:xfrm>
            <a:off x="11183112" y="513892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023360" y="4791456"/>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الطَّاوِلَةُ مَصْنُوعٌ الخَشَبُ.</a:t>
            </a:r>
            <a:endParaRPr lang="ar-SA" sz="3000" dirty="0"/>
          </a:p>
        </p:txBody>
      </p:sp>
      <p:sp>
        <p:nvSpPr>
          <p:cNvPr id="29" name="Text 26"/>
          <p:cNvSpPr txBox="1"/>
          <p:nvPr/>
        </p:nvSpPr>
        <p:spPr>
          <a:xfrm>
            <a:off x="731520" y="4791456"/>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Two problems: agreement and a missing word.</a:t>
            </a:r>
            <a:endParaRPr lang="en-US" sz="130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15 / 23</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TB-L06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STEP 5 · CORRECTIONS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Spot and fix: corrections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اكْتَشِفِ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B · Writing practice room · TB-L06</a:t>
            </a:r>
            <a:endParaRPr lang="en-US" sz="850" dirty="0"/>
          </a:p>
        </p:txBody>
      </p:sp>
      <p:sp>
        <p:nvSpPr>
          <p:cNvPr id="15" name="Shape 12"/>
          <p:cNvSpPr/>
          <p:nvPr/>
        </p:nvSpPr>
        <p:spPr>
          <a:xfrm>
            <a:off x="457200" y="1810512"/>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8503920" y="1901952"/>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السَّيَّارَةُ أَبْيَضُ.</a:t>
            </a:r>
            <a:endParaRPr lang="ar-SA" sz="1800" dirty="0"/>
          </a:p>
        </p:txBody>
      </p:sp>
      <p:sp>
        <p:nvSpPr>
          <p:cNvPr id="17" name="Shape 14"/>
          <p:cNvSpPr/>
          <p:nvPr/>
        </p:nvSpPr>
        <p:spPr>
          <a:xfrm>
            <a:off x="8641080" y="2459736"/>
            <a:ext cx="2834640" cy="0"/>
          </a:xfrm>
          <a:prstGeom prst="line">
            <a:avLst/>
          </a:prstGeom>
          <a:noFill/>
          <a:ln w="15875">
            <a:solidFill>
              <a:srgbClr val="B83227"/>
            </a:solidFill>
            <a:prstDash val="solid"/>
          </a:ln>
        </p:spPr>
      </p:sp>
      <p:sp>
        <p:nvSpPr>
          <p:cNvPr id="18" name="Text 15"/>
          <p:cNvSpPr txBox="1"/>
          <p:nvPr/>
        </p:nvSpPr>
        <p:spPr>
          <a:xfrm>
            <a:off x="8138160" y="1901952"/>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19" name="Text 16"/>
          <p:cNvSpPr txBox="1"/>
          <p:nvPr/>
        </p:nvSpPr>
        <p:spPr>
          <a:xfrm>
            <a:off x="3566160" y="1901952"/>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السَّيَّارَةُ بَيْضَاءُ.</a:t>
            </a:r>
            <a:endParaRPr lang="ar-SA" sz="2400" dirty="0"/>
          </a:p>
        </p:txBody>
      </p:sp>
      <p:sp>
        <p:nvSpPr>
          <p:cNvPr id="20" name="Text 17"/>
          <p:cNvSpPr txBox="1"/>
          <p:nvPr/>
        </p:nvSpPr>
        <p:spPr>
          <a:xfrm>
            <a:off x="685800" y="1901952"/>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Feminine noun → </a:t>
            </a:r>
            <a:pPr algn="l" indent="0" marL="0">
              <a:buNone/>
            </a:pPr>
            <a:r>
              <a:rPr lang="ar-SA" altLang="en-US" sz="1500" b="1" dirty="0">
                <a:solidFill>
                  <a:srgbClr val="1B3B6F"/>
                </a:solidFill>
                <a:latin typeface="Amiri" pitchFamily="2" charset="-78"/>
                <a:ea typeface="Amiri" pitchFamily="2" charset="-78"/>
                <a:cs typeface="Amiri" pitchFamily="2" charset="-78"/>
              </a:rPr>
              <a:t>بَيْضَاءُ</a:t>
            </a:r>
            <a:pPr algn="l" indent="0" marL="0">
              <a:buNone/>
            </a:pPr>
            <a:r>
              <a:rPr lang="en-US" sz="1150" b="1" dirty="0">
                <a:solidFill>
                  <a:srgbClr val="1B3B6F"/>
                </a:solidFill>
                <a:latin typeface="Calibri" pitchFamily="34" charset="0"/>
                <a:cs typeface="Amiri" pitchFamily="2" charset="-78"/>
              </a:rPr>
              <a:t>.</a:t>
            </a:r>
            <a:endParaRPr lang="en-US" sz="1150" dirty="0"/>
          </a:p>
        </p:txBody>
      </p:sp>
      <p:sp>
        <p:nvSpPr>
          <p:cNvPr id="21" name="Shape 18"/>
          <p:cNvSpPr/>
          <p:nvPr/>
        </p:nvSpPr>
        <p:spPr>
          <a:xfrm>
            <a:off x="457200" y="3255264"/>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8503920" y="3346704"/>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الكُتُبُ زُرْقٌ.</a:t>
            </a:r>
            <a:endParaRPr lang="ar-SA" sz="1800" dirty="0"/>
          </a:p>
        </p:txBody>
      </p:sp>
      <p:sp>
        <p:nvSpPr>
          <p:cNvPr id="23" name="Shape 20"/>
          <p:cNvSpPr/>
          <p:nvPr/>
        </p:nvSpPr>
        <p:spPr>
          <a:xfrm>
            <a:off x="8641080" y="3904488"/>
            <a:ext cx="2834640" cy="0"/>
          </a:xfrm>
          <a:prstGeom prst="line">
            <a:avLst/>
          </a:prstGeom>
          <a:noFill/>
          <a:ln w="15875">
            <a:solidFill>
              <a:srgbClr val="B83227"/>
            </a:solidFill>
            <a:prstDash val="solid"/>
          </a:ln>
        </p:spPr>
      </p:sp>
      <p:sp>
        <p:nvSpPr>
          <p:cNvPr id="24" name="Text 21"/>
          <p:cNvSpPr txBox="1"/>
          <p:nvPr/>
        </p:nvSpPr>
        <p:spPr>
          <a:xfrm>
            <a:off x="8138160" y="3346704"/>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25" name="Text 22"/>
          <p:cNvSpPr txBox="1"/>
          <p:nvPr/>
        </p:nvSpPr>
        <p:spPr>
          <a:xfrm>
            <a:off x="3566160" y="3346704"/>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الكُتُبُ زَرْقَاءُ.</a:t>
            </a:r>
            <a:endParaRPr lang="ar-SA" sz="2400" dirty="0"/>
          </a:p>
        </p:txBody>
      </p:sp>
      <p:sp>
        <p:nvSpPr>
          <p:cNvPr id="26" name="Text 23"/>
          <p:cNvSpPr txBox="1"/>
          <p:nvPr/>
        </p:nvSpPr>
        <p:spPr>
          <a:xfrm>
            <a:off x="685800" y="3346704"/>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Non-human plural → feminine singular: </a:t>
            </a:r>
            <a:pPr algn="l" indent="0" marL="0">
              <a:buNone/>
            </a:pPr>
            <a:r>
              <a:rPr lang="ar-SA" altLang="en-US" sz="1500" b="1" dirty="0">
                <a:solidFill>
                  <a:srgbClr val="1B3B6F"/>
                </a:solidFill>
                <a:latin typeface="Amiri" pitchFamily="2" charset="-78"/>
                <a:ea typeface="Amiri" pitchFamily="2" charset="-78"/>
                <a:cs typeface="Amiri" pitchFamily="2" charset="-78"/>
              </a:rPr>
              <a:t>زَرْقَاءُ</a:t>
            </a:r>
            <a:pPr algn="l" indent="0" marL="0">
              <a:buNone/>
            </a:pPr>
            <a:r>
              <a:rPr lang="en-US" sz="1150" b="1" dirty="0">
                <a:solidFill>
                  <a:srgbClr val="1B3B6F"/>
                </a:solidFill>
                <a:latin typeface="Calibri" pitchFamily="34" charset="0"/>
                <a:cs typeface="Amiri" pitchFamily="2" charset="-78"/>
              </a:rPr>
              <a:t>.</a:t>
            </a:r>
            <a:endParaRPr lang="en-US" sz="1150" dirty="0"/>
          </a:p>
        </p:txBody>
      </p:sp>
      <p:sp>
        <p:nvSpPr>
          <p:cNvPr id="27" name="Shape 24"/>
          <p:cNvSpPr/>
          <p:nvPr/>
        </p:nvSpPr>
        <p:spPr>
          <a:xfrm>
            <a:off x="457200" y="4700016"/>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8503920" y="4791456"/>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الطَّاوِلَةُ مَصْنُوعٌ الخَشَبُ.</a:t>
            </a:r>
            <a:endParaRPr lang="ar-SA" sz="1800" dirty="0"/>
          </a:p>
        </p:txBody>
      </p:sp>
      <p:sp>
        <p:nvSpPr>
          <p:cNvPr id="29" name="Shape 26"/>
          <p:cNvSpPr/>
          <p:nvPr/>
        </p:nvSpPr>
        <p:spPr>
          <a:xfrm>
            <a:off x="8641080" y="5349240"/>
            <a:ext cx="2834640" cy="0"/>
          </a:xfrm>
          <a:prstGeom prst="line">
            <a:avLst/>
          </a:prstGeom>
          <a:noFill/>
          <a:ln w="15875">
            <a:solidFill>
              <a:srgbClr val="B83227"/>
            </a:solidFill>
            <a:prstDash val="solid"/>
          </a:ln>
        </p:spPr>
      </p:sp>
      <p:sp>
        <p:nvSpPr>
          <p:cNvPr id="30" name="Text 27"/>
          <p:cNvSpPr txBox="1"/>
          <p:nvPr/>
        </p:nvSpPr>
        <p:spPr>
          <a:xfrm>
            <a:off x="8138160" y="4791456"/>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31" name="Text 28"/>
          <p:cNvSpPr txBox="1"/>
          <p:nvPr/>
        </p:nvSpPr>
        <p:spPr>
          <a:xfrm>
            <a:off x="3566160" y="4791456"/>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الطَّاوِلَةُ مَصْنُوعَةٌ مِنَ الخَشَبِ.</a:t>
            </a:r>
            <a:endParaRPr lang="ar-SA" sz="2400" dirty="0"/>
          </a:p>
        </p:txBody>
      </p:sp>
      <p:sp>
        <p:nvSpPr>
          <p:cNvPr id="32" name="Text 29"/>
          <p:cNvSpPr txBox="1"/>
          <p:nvPr/>
        </p:nvSpPr>
        <p:spPr>
          <a:xfrm>
            <a:off x="685800" y="4791456"/>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Feminine → </a:t>
            </a:r>
            <a:pPr algn="l" indent="0" marL="0">
              <a:buNone/>
            </a:pPr>
            <a:r>
              <a:rPr lang="ar-SA" altLang="en-US" sz="1500" b="1" dirty="0">
                <a:solidFill>
                  <a:srgbClr val="1B3B6F"/>
                </a:solidFill>
                <a:latin typeface="Amiri" pitchFamily="2" charset="-78"/>
                <a:ea typeface="Amiri" pitchFamily="2" charset="-78"/>
                <a:cs typeface="Amiri" pitchFamily="2" charset="-78"/>
              </a:rPr>
              <a:t>مَصْنُوعَةٌ</a:t>
            </a:r>
            <a:pPr algn="l" indent="0" marL="0">
              <a:buNone/>
            </a:pPr>
            <a:r>
              <a:rPr lang="en-US" sz="1150" b="1" dirty="0">
                <a:solidFill>
                  <a:srgbClr val="1B3B6F"/>
                </a:solidFill>
                <a:latin typeface="Calibri" pitchFamily="34" charset="0"/>
                <a:cs typeface="Amiri" pitchFamily="2" charset="-78"/>
              </a:rPr>
              <a:t>; made OF = </a:t>
            </a:r>
            <a:pPr algn="l" indent="0" marL="0">
              <a:buNone/>
            </a:pPr>
            <a:r>
              <a:rPr lang="ar-SA" altLang="en-US" sz="1500" b="1" dirty="0">
                <a:solidFill>
                  <a:srgbClr val="1B3B6F"/>
                </a:solidFill>
                <a:latin typeface="Amiri" pitchFamily="2" charset="-78"/>
                <a:ea typeface="Amiri" pitchFamily="2" charset="-78"/>
                <a:cs typeface="Amiri" pitchFamily="2" charset="-78"/>
              </a:rPr>
              <a:t>مِنْ</a:t>
            </a:r>
            <a:pPr algn="l" indent="0" marL="0">
              <a:buNone/>
            </a:pPr>
            <a:r>
              <a:rPr lang="en-US" sz="1150" b="1" dirty="0">
                <a:solidFill>
                  <a:srgbClr val="1B3B6F"/>
                </a:solidFill>
                <a:latin typeface="Calibri" pitchFamily="34" charset="0"/>
                <a:cs typeface="Amiri" pitchFamily="2" charset="-78"/>
              </a:rPr>
              <a:t>.</a:t>
            </a:r>
            <a:endParaRPr lang="en-US" sz="115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16 / 23</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TB-L06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5 · BUDDY CHECK · READ YOUR BUDDY’S Q2</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Buddy check: five points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رَاجِعْ مَعَ زَمِيلِكَ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B · Writing practice room · TB-L06</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759952" y="1810512"/>
            <a:ext cx="28986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Line / example</a:t>
            </a:r>
            <a:endParaRPr lang="en-US" sz="1100" dirty="0"/>
          </a:p>
        </p:txBody>
      </p:sp>
      <p:sp>
        <p:nvSpPr>
          <p:cNvPr id="17" name="Text 14"/>
          <p:cNvSpPr txBox="1"/>
          <p:nvPr/>
        </p:nvSpPr>
        <p:spPr>
          <a:xfrm>
            <a:off x="7845552" y="1810512"/>
            <a:ext cx="7680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 / ✗</a:t>
            </a:r>
            <a:endParaRPr lang="en-US" sz="1100" dirty="0"/>
          </a:p>
        </p:txBody>
      </p:sp>
      <p:sp>
        <p:nvSpPr>
          <p:cNvPr id="18" name="Text 15"/>
          <p:cNvSpPr txBox="1"/>
          <p:nvPr/>
        </p:nvSpPr>
        <p:spPr>
          <a:xfrm>
            <a:off x="6565392" y="1810512"/>
            <a:ext cx="11338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Route</a:t>
            </a:r>
            <a:endParaRPr lang="en-US" sz="1100" dirty="0"/>
          </a:p>
        </p:txBody>
      </p:sp>
      <p:sp>
        <p:nvSpPr>
          <p:cNvPr id="19" name="Text 16"/>
          <p:cNvSpPr txBox="1"/>
          <p:nvPr/>
        </p:nvSpPr>
        <p:spPr>
          <a:xfrm>
            <a:off x="530352" y="1810512"/>
            <a:ext cx="58887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Did the writer …</a:t>
            </a:r>
            <a:endParaRPr lang="en-US" sz="1100" dirty="0"/>
          </a:p>
        </p:txBody>
      </p:sp>
      <p:sp>
        <p:nvSpPr>
          <p:cNvPr id="20" name="Shape 17"/>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1" name="Text 18"/>
          <p:cNvSpPr txBox="1"/>
          <p:nvPr/>
        </p:nvSpPr>
        <p:spPr>
          <a:xfrm>
            <a:off x="8796528" y="2267712"/>
            <a:ext cx="2862072" cy="682142"/>
          </a:xfrm>
          <a:prstGeom prst="rect">
            <a:avLst/>
          </a:prstGeom>
          <a:noFill/>
          <a:ln/>
        </p:spPr>
        <p:txBody>
          <a:bodyPr wrap="square" lIns="0" tIns="0" rIns="0" bIns="0" rtlCol="0" anchor="ctr"/>
          <a:lstStyle/>
          <a:p>
            <a:pPr algn="l" indent="0" marL="0">
              <a:buNone/>
            </a:pPr>
            <a:endParaRPr lang="en-US" sz="1100" dirty="0"/>
          </a:p>
        </p:txBody>
      </p:sp>
      <p:sp>
        <p:nvSpPr>
          <p:cNvPr id="22" name="Text 19"/>
          <p:cNvSpPr txBox="1"/>
          <p:nvPr/>
        </p:nvSpPr>
        <p:spPr>
          <a:xfrm>
            <a:off x="7882128" y="2267712"/>
            <a:ext cx="731520" cy="682142"/>
          </a:xfrm>
          <a:prstGeom prst="rect">
            <a:avLst/>
          </a:prstGeom>
          <a:noFill/>
          <a:ln/>
        </p:spPr>
        <p:txBody>
          <a:bodyPr wrap="square" lIns="0" tIns="0" rIns="0" bIns="0" rtlCol="0" anchor="ctr"/>
          <a:lstStyle/>
          <a:p>
            <a:pPr algn="l" indent="0" marL="0">
              <a:buNone/>
            </a:pPr>
            <a:endParaRPr lang="en-US" sz="1100" dirty="0"/>
          </a:p>
        </p:txBody>
      </p:sp>
      <p:sp>
        <p:nvSpPr>
          <p:cNvPr id="23" name="Text 20"/>
          <p:cNvSpPr txBox="1"/>
          <p:nvPr/>
        </p:nvSpPr>
        <p:spPr>
          <a:xfrm>
            <a:off x="6601968" y="2267712"/>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Core</a:t>
            </a:r>
            <a:endParaRPr lang="en-US" sz="1100" dirty="0"/>
          </a:p>
        </p:txBody>
      </p:sp>
      <p:sp>
        <p:nvSpPr>
          <p:cNvPr id="24" name="Text 21"/>
          <p:cNvSpPr txBox="1"/>
          <p:nvPr/>
        </p:nvSpPr>
        <p:spPr>
          <a:xfrm>
            <a:off x="566928" y="2267712"/>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answer ALL four bullets (one paragraph each)?</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8" name="Text 25"/>
          <p:cNvSpPr txBox="1"/>
          <p:nvPr/>
        </p:nvSpPr>
        <p:spPr>
          <a:xfrm>
            <a:off x="8796528" y="3004718"/>
            <a:ext cx="2862072" cy="682142"/>
          </a:xfrm>
          <a:prstGeom prst="rect">
            <a:avLst/>
          </a:prstGeom>
          <a:noFill/>
          <a:ln/>
        </p:spPr>
        <p:txBody>
          <a:bodyPr wrap="square" lIns="0" tIns="0" rIns="0" bIns="0" rtlCol="0" anchor="ctr"/>
          <a:lstStyle/>
          <a:p>
            <a:pPr algn="l" indent="0" marL="0">
              <a:buNone/>
            </a:pPr>
            <a:endParaRPr lang="en-US" sz="1100" dirty="0"/>
          </a:p>
        </p:txBody>
      </p:sp>
      <p:sp>
        <p:nvSpPr>
          <p:cNvPr id="29" name="Text 26"/>
          <p:cNvSpPr txBox="1"/>
          <p:nvPr/>
        </p:nvSpPr>
        <p:spPr>
          <a:xfrm>
            <a:off x="7882128" y="3004718"/>
            <a:ext cx="731520" cy="682142"/>
          </a:xfrm>
          <a:prstGeom prst="rect">
            <a:avLst/>
          </a:prstGeom>
          <a:noFill/>
          <a:ln/>
        </p:spPr>
        <p:txBody>
          <a:bodyPr wrap="square" lIns="0" tIns="0" rIns="0" bIns="0" rtlCol="0" anchor="ctr"/>
          <a:lstStyle/>
          <a:p>
            <a:pPr algn="l" indent="0" marL="0">
              <a:buNone/>
            </a:pPr>
            <a:endParaRPr lang="en-US" sz="1100" dirty="0"/>
          </a:p>
        </p:txBody>
      </p:sp>
      <p:sp>
        <p:nvSpPr>
          <p:cNvPr id="30" name="Text 27"/>
          <p:cNvSpPr txBox="1"/>
          <p:nvPr/>
        </p:nvSpPr>
        <p:spPr>
          <a:xfrm>
            <a:off x="6601968" y="3004718"/>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Core</a:t>
            </a:r>
            <a:endParaRPr lang="en-US" sz="1100" dirty="0"/>
          </a:p>
        </p:txBody>
      </p:sp>
      <p:sp>
        <p:nvSpPr>
          <p:cNvPr id="31" name="Text 28"/>
          <p:cNvSpPr txBox="1"/>
          <p:nvPr/>
        </p:nvSpPr>
        <p:spPr>
          <a:xfrm>
            <a:off x="566928" y="3004718"/>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use the right verb ending (I · we) and the right tense for each bullet?</a:t>
            </a:r>
            <a:endParaRPr lang="en-US" sz="1100" dirty="0"/>
          </a:p>
        </p:txBody>
      </p:sp>
      <p:sp>
        <p:nvSpPr>
          <p:cNvPr id="32" name="Shape 29"/>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5" name="Text 32"/>
          <p:cNvSpPr txBox="1"/>
          <p:nvPr/>
        </p:nvSpPr>
        <p:spPr>
          <a:xfrm>
            <a:off x="8796528" y="3741725"/>
            <a:ext cx="2862072" cy="682142"/>
          </a:xfrm>
          <a:prstGeom prst="rect">
            <a:avLst/>
          </a:prstGeom>
          <a:noFill/>
          <a:ln/>
        </p:spPr>
        <p:txBody>
          <a:bodyPr wrap="square" lIns="0" tIns="0" rIns="0" bIns="0" rtlCol="0" anchor="ctr"/>
          <a:lstStyle/>
          <a:p>
            <a:pPr algn="l" indent="0" marL="0">
              <a:buNone/>
            </a:pPr>
            <a:endParaRPr lang="en-US" sz="1100" dirty="0"/>
          </a:p>
        </p:txBody>
      </p:sp>
      <p:sp>
        <p:nvSpPr>
          <p:cNvPr id="36" name="Text 33"/>
          <p:cNvSpPr txBox="1"/>
          <p:nvPr/>
        </p:nvSpPr>
        <p:spPr>
          <a:xfrm>
            <a:off x="7882128" y="3741725"/>
            <a:ext cx="731520" cy="682142"/>
          </a:xfrm>
          <a:prstGeom prst="rect">
            <a:avLst/>
          </a:prstGeom>
          <a:noFill/>
          <a:ln/>
        </p:spPr>
        <p:txBody>
          <a:bodyPr wrap="square" lIns="0" tIns="0" rIns="0" bIns="0" rtlCol="0" anchor="ctr"/>
          <a:lstStyle/>
          <a:p>
            <a:pPr algn="l" indent="0" marL="0">
              <a:buNone/>
            </a:pPr>
            <a:endParaRPr lang="en-US" sz="1100" dirty="0"/>
          </a:p>
        </p:txBody>
      </p:sp>
      <p:sp>
        <p:nvSpPr>
          <p:cNvPr id="37" name="Text 34"/>
          <p:cNvSpPr txBox="1"/>
          <p:nvPr/>
        </p:nvSpPr>
        <p:spPr>
          <a:xfrm>
            <a:off x="6601968" y="3741725"/>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Develop</a:t>
            </a:r>
            <a:endParaRPr lang="en-US" sz="1100" dirty="0"/>
          </a:p>
        </p:txBody>
      </p:sp>
      <p:sp>
        <p:nvSpPr>
          <p:cNvPr id="38" name="Text 35"/>
          <p:cNvSpPr txBox="1"/>
          <p:nvPr/>
        </p:nvSpPr>
        <p:spPr>
          <a:xfrm>
            <a:off x="566928" y="3741725"/>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make adjectives agree (m. / f. / non-human plural)?</a:t>
            </a:r>
            <a:endParaRPr lang="en-US" sz="1100" dirty="0"/>
          </a:p>
        </p:txBody>
      </p:sp>
      <p:sp>
        <p:nvSpPr>
          <p:cNvPr id="39" name="Shape 36"/>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40" name="Text 37"/>
          <p:cNvSpPr txBox="1"/>
          <p:nvPr/>
        </p:nvSpPr>
        <p:spPr>
          <a:xfrm>
            <a:off x="8796528" y="4478731"/>
            <a:ext cx="2862072" cy="682142"/>
          </a:xfrm>
          <a:prstGeom prst="rect">
            <a:avLst/>
          </a:prstGeom>
          <a:noFill/>
          <a:ln/>
        </p:spPr>
        <p:txBody>
          <a:bodyPr wrap="square" lIns="0" tIns="0" rIns="0" bIns="0" rtlCol="0" anchor="ctr"/>
          <a:lstStyle/>
          <a:p>
            <a:pPr algn="l" indent="0" marL="0">
              <a:buNone/>
            </a:pPr>
            <a:endParaRPr lang="en-US" sz="1100" dirty="0"/>
          </a:p>
        </p:txBody>
      </p:sp>
      <p:sp>
        <p:nvSpPr>
          <p:cNvPr id="41" name="Text 38"/>
          <p:cNvSpPr txBox="1"/>
          <p:nvPr/>
        </p:nvSpPr>
        <p:spPr>
          <a:xfrm>
            <a:off x="7882128" y="4478731"/>
            <a:ext cx="731520" cy="682142"/>
          </a:xfrm>
          <a:prstGeom prst="rect">
            <a:avLst/>
          </a:prstGeom>
          <a:noFill/>
          <a:ln/>
        </p:spPr>
        <p:txBody>
          <a:bodyPr wrap="square" lIns="0" tIns="0" rIns="0" bIns="0" rtlCol="0" anchor="ctr"/>
          <a:lstStyle/>
          <a:p>
            <a:pPr algn="l" indent="0" marL="0">
              <a:buNone/>
            </a:pPr>
            <a:endParaRPr lang="en-US" sz="1100" dirty="0"/>
          </a:p>
        </p:txBody>
      </p:sp>
      <p:sp>
        <p:nvSpPr>
          <p:cNvPr id="42" name="Text 39"/>
          <p:cNvSpPr txBox="1"/>
          <p:nvPr/>
        </p:nvSpPr>
        <p:spPr>
          <a:xfrm>
            <a:off x="6601968" y="4478731"/>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Develop</a:t>
            </a:r>
            <a:endParaRPr lang="en-US" sz="1100" dirty="0"/>
          </a:p>
        </p:txBody>
      </p:sp>
      <p:sp>
        <p:nvSpPr>
          <p:cNvPr id="43" name="Text 40"/>
          <p:cNvSpPr txBox="1"/>
          <p:nvPr/>
        </p:nvSpPr>
        <p:spPr>
          <a:xfrm>
            <a:off x="566928" y="4478731"/>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use linking words and give at least two reasons?</a:t>
            </a:r>
            <a:endParaRPr lang="en-US" sz="1100" dirty="0"/>
          </a:p>
        </p:txBody>
      </p:sp>
      <p:sp>
        <p:nvSpPr>
          <p:cNvPr id="44" name="Shape 41"/>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5" name="Text 42"/>
          <p:cNvSpPr txBox="1"/>
          <p:nvPr/>
        </p:nvSpPr>
        <p:spPr>
          <a:xfrm>
            <a:off x="8796528" y="5215738"/>
            <a:ext cx="2862072" cy="682142"/>
          </a:xfrm>
          <a:prstGeom prst="rect">
            <a:avLst/>
          </a:prstGeom>
          <a:noFill/>
          <a:ln/>
        </p:spPr>
        <p:txBody>
          <a:bodyPr wrap="square" lIns="0" tIns="0" rIns="0" bIns="0" rtlCol="0" anchor="ctr"/>
          <a:lstStyle/>
          <a:p>
            <a:pPr algn="l" indent="0" marL="0">
              <a:buNone/>
            </a:pPr>
            <a:endParaRPr lang="en-US" sz="1100" dirty="0"/>
          </a:p>
        </p:txBody>
      </p:sp>
      <p:sp>
        <p:nvSpPr>
          <p:cNvPr id="46" name="Text 43"/>
          <p:cNvSpPr txBox="1"/>
          <p:nvPr/>
        </p:nvSpPr>
        <p:spPr>
          <a:xfrm>
            <a:off x="7882128" y="5215738"/>
            <a:ext cx="731520" cy="682142"/>
          </a:xfrm>
          <a:prstGeom prst="rect">
            <a:avLst/>
          </a:prstGeom>
          <a:noFill/>
          <a:ln/>
        </p:spPr>
        <p:txBody>
          <a:bodyPr wrap="square" lIns="0" tIns="0" rIns="0" bIns="0" rtlCol="0" anchor="ctr"/>
          <a:lstStyle/>
          <a:p>
            <a:pPr algn="l" indent="0" marL="0">
              <a:buNone/>
            </a:pPr>
            <a:endParaRPr lang="en-US" sz="1100" dirty="0"/>
          </a:p>
        </p:txBody>
      </p:sp>
      <p:sp>
        <p:nvSpPr>
          <p:cNvPr id="47" name="Text 44"/>
          <p:cNvSpPr txBox="1"/>
          <p:nvPr/>
        </p:nvSpPr>
        <p:spPr>
          <a:xfrm>
            <a:off x="6601968" y="5215738"/>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Stretch</a:t>
            </a:r>
            <a:endParaRPr lang="en-US" sz="1100" dirty="0"/>
          </a:p>
        </p:txBody>
      </p:sp>
      <p:sp>
        <p:nvSpPr>
          <p:cNvPr id="48" name="Text 45"/>
          <p:cNvSpPr txBox="1"/>
          <p:nvPr/>
        </p:nvSpPr>
        <p:spPr>
          <a:xfrm>
            <a:off x="566928" y="5215738"/>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use past, present AND future, and give an opinion?</a:t>
            </a:r>
            <a:endParaRPr lang="en-US" sz="1100" dirty="0"/>
          </a:p>
        </p:txBody>
      </p:sp>
      <p:sp>
        <p:nvSpPr>
          <p:cNvPr id="49" name="Text 4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Give back: one WWW + one EBI. The writer fixes ONE thing straight away.</a:t>
            </a:r>
            <a:endParaRPr lang="en-US" sz="1150" dirty="0"/>
          </a:p>
        </p:txBody>
      </p:sp>
      <p:sp>
        <p:nvSpPr>
          <p:cNvPr id="50" name="Text 4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17 / 23</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TB-L06 · Writing practice room</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STEP 6 · QUESTION 3 · HOW TO BUILD ONE STRONG PARAGRAPH</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00" b="1" dirty="0">
                <a:solidFill>
                  <a:srgbClr val="1B3B6F"/>
                </a:solidFill>
                <a:latin typeface="Cambria" pitchFamily="34" charset="0"/>
                <a:cs typeface="Amiri" pitchFamily="2" charset="-78"/>
              </a:rPr>
              <a:t>The paragraph formula: T · D · R · F</a:t>
            </a:r>
            <a:endParaRPr lang="en-US" sz="26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كَيْفَ تَكْتُبُ فِقْرَةً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B · Writing practice room · TB-L06</a:t>
            </a:r>
            <a:endParaRPr lang="en-US" sz="850" dirty="0"/>
          </a:p>
        </p:txBody>
      </p:sp>
      <p:sp>
        <p:nvSpPr>
          <p:cNvPr id="15" name="Shape 12"/>
          <p:cNvSpPr/>
          <p:nvPr/>
        </p:nvSpPr>
        <p:spPr>
          <a:xfrm>
            <a:off x="457200" y="1810512"/>
            <a:ext cx="6172200" cy="4498848"/>
          </a:xfrm>
          <a:prstGeom prst="roundRect">
            <a:avLst>
              <a:gd name="adj" fmla="val 162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58368" y="1883664"/>
            <a:ext cx="580644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FOUR PARTS</a:t>
            </a:r>
            <a:endParaRPr lang="en-US" sz="1000" dirty="0"/>
          </a:p>
        </p:txBody>
      </p:sp>
      <p:sp>
        <p:nvSpPr>
          <p:cNvPr id="17" name="Shape 14"/>
          <p:cNvSpPr/>
          <p:nvPr/>
        </p:nvSpPr>
        <p:spPr>
          <a:xfrm>
            <a:off x="658368" y="2286000"/>
            <a:ext cx="310896" cy="310896"/>
          </a:xfrm>
          <a:prstGeom prst="ellipse">
            <a:avLst/>
          </a:prstGeom>
          <a:solidFill>
            <a:srgbClr val="1B3B6F"/>
          </a:solidFill>
          <a:ln w="12700">
            <a:solidFill>
              <a:srgbClr val="1B3B6F"/>
            </a:solidFill>
            <a:prstDash val="solid"/>
          </a:ln>
        </p:spPr>
      </p:sp>
      <p:sp>
        <p:nvSpPr>
          <p:cNvPr id="18" name="Text 15"/>
          <p:cNvSpPr txBox="1"/>
          <p:nvPr/>
        </p:nvSpPr>
        <p:spPr>
          <a:xfrm>
            <a:off x="658368" y="2286000"/>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1</a:t>
            </a:r>
            <a:endParaRPr lang="en-US" sz="1100" dirty="0"/>
          </a:p>
        </p:txBody>
      </p:sp>
      <p:sp>
        <p:nvSpPr>
          <p:cNvPr id="19" name="Text 16"/>
          <p:cNvSpPr txBox="1"/>
          <p:nvPr/>
        </p:nvSpPr>
        <p:spPr>
          <a:xfrm>
            <a:off x="1078992" y="2176272"/>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T — TOPIC sentence: say what the paragraph is about.</a:t>
            </a:r>
            <a:endParaRPr lang="en-US" sz="1300" dirty="0"/>
          </a:p>
        </p:txBody>
      </p:sp>
      <p:sp>
        <p:nvSpPr>
          <p:cNvPr id="20" name="Shape 17"/>
          <p:cNvSpPr/>
          <p:nvPr/>
        </p:nvSpPr>
        <p:spPr>
          <a:xfrm>
            <a:off x="658368" y="3296412"/>
            <a:ext cx="310896" cy="310896"/>
          </a:xfrm>
          <a:prstGeom prst="ellipse">
            <a:avLst/>
          </a:prstGeom>
          <a:solidFill>
            <a:srgbClr val="1B3B6F"/>
          </a:solidFill>
          <a:ln w="12700">
            <a:solidFill>
              <a:srgbClr val="1B3B6F"/>
            </a:solidFill>
            <a:prstDash val="solid"/>
          </a:ln>
        </p:spPr>
      </p:sp>
      <p:sp>
        <p:nvSpPr>
          <p:cNvPr id="21" name="Text 18"/>
          <p:cNvSpPr txBox="1"/>
          <p:nvPr/>
        </p:nvSpPr>
        <p:spPr>
          <a:xfrm>
            <a:off x="658368" y="3296412"/>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2</a:t>
            </a:r>
            <a:endParaRPr lang="en-US" sz="1100" dirty="0"/>
          </a:p>
        </p:txBody>
      </p:sp>
      <p:sp>
        <p:nvSpPr>
          <p:cNvPr id="22" name="Text 19"/>
          <p:cNvSpPr txBox="1"/>
          <p:nvPr/>
        </p:nvSpPr>
        <p:spPr>
          <a:xfrm>
            <a:off x="1078992" y="3186684"/>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D — DETAILS: what, when, where, with whom (two sentences).</a:t>
            </a:r>
            <a:endParaRPr lang="en-US" sz="1300" dirty="0"/>
          </a:p>
        </p:txBody>
      </p:sp>
      <p:sp>
        <p:nvSpPr>
          <p:cNvPr id="23" name="Shape 20"/>
          <p:cNvSpPr/>
          <p:nvPr/>
        </p:nvSpPr>
        <p:spPr>
          <a:xfrm>
            <a:off x="658368" y="4306824"/>
            <a:ext cx="310896" cy="310896"/>
          </a:xfrm>
          <a:prstGeom prst="ellipse">
            <a:avLst/>
          </a:prstGeom>
          <a:solidFill>
            <a:srgbClr val="1B3B6F"/>
          </a:solidFill>
          <a:ln w="12700">
            <a:solidFill>
              <a:srgbClr val="1B3B6F"/>
            </a:solidFill>
            <a:prstDash val="solid"/>
          </a:ln>
        </p:spPr>
      </p:sp>
      <p:sp>
        <p:nvSpPr>
          <p:cNvPr id="24" name="Text 21"/>
          <p:cNvSpPr txBox="1"/>
          <p:nvPr/>
        </p:nvSpPr>
        <p:spPr>
          <a:xfrm>
            <a:off x="658368" y="4306824"/>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3</a:t>
            </a:r>
            <a:endParaRPr lang="en-US" sz="1100" dirty="0"/>
          </a:p>
        </p:txBody>
      </p:sp>
      <p:sp>
        <p:nvSpPr>
          <p:cNvPr id="25" name="Text 22"/>
          <p:cNvSpPr txBox="1"/>
          <p:nvPr/>
        </p:nvSpPr>
        <p:spPr>
          <a:xfrm>
            <a:off x="1078992" y="4197096"/>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R — REASON: why? (</a:t>
            </a:r>
            <a:pPr algn="l" indent="0" marL="0">
              <a:buNone/>
            </a:pPr>
            <a:r>
              <a:rPr lang="ar-SA" altLang="en-US" sz="1700" dirty="0">
                <a:solidFill>
                  <a:srgbClr val="1F2A37"/>
                </a:solidFill>
                <a:latin typeface="Amiri" pitchFamily="2" charset="-78"/>
                <a:ea typeface="Amiri" pitchFamily="2" charset="-78"/>
                <a:cs typeface="Amiri" pitchFamily="2" charset="-78"/>
              </a:rPr>
              <a:t>لِأَنَّ … / لِذٰلِكَ</a:t>
            </a:r>
            <a:pPr algn="l" indent="0" marL="0">
              <a:buNone/>
            </a:pPr>
            <a:r>
              <a:rPr lang="en-US" sz="1300" dirty="0">
                <a:solidFill>
                  <a:srgbClr val="1F2A37"/>
                </a:solidFill>
                <a:latin typeface="Calibri" pitchFamily="34" charset="0"/>
                <a:cs typeface="Amiri" pitchFamily="2" charset="-78"/>
              </a:rPr>
              <a:t> …)</a:t>
            </a:r>
            <a:endParaRPr lang="en-US" sz="1300" dirty="0"/>
          </a:p>
        </p:txBody>
      </p:sp>
      <p:sp>
        <p:nvSpPr>
          <p:cNvPr id="26" name="Shape 23"/>
          <p:cNvSpPr/>
          <p:nvPr/>
        </p:nvSpPr>
        <p:spPr>
          <a:xfrm>
            <a:off x="658368" y="5317236"/>
            <a:ext cx="310896" cy="310896"/>
          </a:xfrm>
          <a:prstGeom prst="ellipse">
            <a:avLst/>
          </a:prstGeom>
          <a:solidFill>
            <a:srgbClr val="1B3B6F"/>
          </a:solidFill>
          <a:ln w="12700">
            <a:solidFill>
              <a:srgbClr val="1B3B6F"/>
            </a:solidFill>
            <a:prstDash val="solid"/>
          </a:ln>
        </p:spPr>
      </p:sp>
      <p:sp>
        <p:nvSpPr>
          <p:cNvPr id="27" name="Text 24"/>
          <p:cNvSpPr txBox="1"/>
          <p:nvPr/>
        </p:nvSpPr>
        <p:spPr>
          <a:xfrm>
            <a:off x="658368" y="5317236"/>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4</a:t>
            </a:r>
            <a:endParaRPr lang="en-US" sz="1100" dirty="0"/>
          </a:p>
        </p:txBody>
      </p:sp>
      <p:sp>
        <p:nvSpPr>
          <p:cNvPr id="28" name="Text 25"/>
          <p:cNvSpPr txBox="1"/>
          <p:nvPr/>
        </p:nvSpPr>
        <p:spPr>
          <a:xfrm>
            <a:off x="1078992" y="5207508"/>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F — FEELING or opinion, and (Stretch) a link to the future.</a:t>
            </a:r>
            <a:endParaRPr lang="en-US" sz="1300" dirty="0"/>
          </a:p>
        </p:txBody>
      </p:sp>
      <p:sp>
        <p:nvSpPr>
          <p:cNvPr id="29" name="Shape 26"/>
          <p:cNvSpPr/>
          <p:nvPr/>
        </p:nvSpPr>
        <p:spPr>
          <a:xfrm>
            <a:off x="6812280" y="1810512"/>
            <a:ext cx="491947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6995160" y="1883664"/>
            <a:ext cx="4553712" cy="274320"/>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THE FORMULA IN ACTION</a:t>
            </a:r>
            <a:endParaRPr lang="en-US" sz="1000" dirty="0"/>
          </a:p>
        </p:txBody>
      </p:sp>
      <p:sp>
        <p:nvSpPr>
          <p:cNvPr id="31" name="Text 28"/>
          <p:cNvSpPr txBox="1"/>
          <p:nvPr/>
        </p:nvSpPr>
        <p:spPr>
          <a:xfrm>
            <a:off x="6949440" y="2194560"/>
            <a:ext cx="4645152" cy="570951"/>
          </a:xfrm>
          <a:prstGeom prst="rect">
            <a:avLst/>
          </a:prstGeom>
          <a:noFill/>
          <a:ln/>
        </p:spPr>
        <p:txBody>
          <a:bodyPr wrap="square" lIns="0" tIns="0" rIns="0" bIns="0" rtlCol="0" anchor="ctr"/>
          <a:lstStyle/>
          <a:p>
            <a:pPr rtl="1" algn="ctr" indent="0" marL="0">
              <a:buNone/>
            </a:pPr>
            <a:r>
              <a:rPr lang="ar-SA" altLang="en-US" sz="2650" b="1" dirty="0">
                <a:solidFill>
                  <a:srgbClr val="1B3B6F"/>
                </a:solidFill>
                <a:latin typeface="Amiri" pitchFamily="2" charset="-78"/>
                <a:ea typeface="Amiri" pitchFamily="2" charset="-78"/>
                <a:cs typeface="Amiri" pitchFamily="2" charset="-78"/>
              </a:rPr>
              <a:t>لَنْ أَنْسَى سُوقَ التَّوَابِلِ فِي مَرَّاكُشَ.</a:t>
            </a:r>
            <a:endParaRPr lang="ar-SA" sz="2650" dirty="0"/>
          </a:p>
        </p:txBody>
      </p:sp>
      <p:sp>
        <p:nvSpPr>
          <p:cNvPr id="32" name="Text 29"/>
          <p:cNvSpPr txBox="1"/>
          <p:nvPr/>
        </p:nvSpPr>
        <p:spPr>
          <a:xfrm>
            <a:off x="6949440" y="2765511"/>
            <a:ext cx="4645152" cy="407822"/>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T · I will never forget the spice market in Marrakech.</a:t>
            </a:r>
            <a:endParaRPr lang="en-US" sz="1100" dirty="0"/>
          </a:p>
        </p:txBody>
      </p:sp>
      <p:sp>
        <p:nvSpPr>
          <p:cNvPr id="33" name="Shape 30"/>
          <p:cNvSpPr/>
          <p:nvPr/>
        </p:nvSpPr>
        <p:spPr>
          <a:xfrm>
            <a:off x="6995160" y="3195828"/>
            <a:ext cx="4553712" cy="0"/>
          </a:xfrm>
          <a:prstGeom prst="line">
            <a:avLst/>
          </a:prstGeom>
          <a:noFill/>
          <a:ln w="9525">
            <a:solidFill>
              <a:srgbClr val="E4DCCB"/>
            </a:solidFill>
            <a:prstDash val="dash"/>
          </a:ln>
        </p:spPr>
      </p:sp>
      <p:sp>
        <p:nvSpPr>
          <p:cNvPr id="34" name="Text 31"/>
          <p:cNvSpPr txBox="1"/>
          <p:nvPr/>
        </p:nvSpPr>
        <p:spPr>
          <a:xfrm>
            <a:off x="6949440" y="3214116"/>
            <a:ext cx="4645152" cy="570951"/>
          </a:xfrm>
          <a:prstGeom prst="rect">
            <a:avLst/>
          </a:prstGeom>
          <a:noFill/>
          <a:ln/>
        </p:spPr>
        <p:txBody>
          <a:bodyPr wrap="square" lIns="0" tIns="0" rIns="0" bIns="0" rtlCol="0" anchor="ctr"/>
          <a:lstStyle/>
          <a:p>
            <a:pPr rtl="1" algn="ctr" indent="0" marL="0">
              <a:buNone/>
            </a:pPr>
            <a:r>
              <a:rPr lang="ar-SA" altLang="en-US" sz="2650" b="1" dirty="0">
                <a:solidFill>
                  <a:srgbClr val="1B3B6F"/>
                </a:solidFill>
                <a:latin typeface="Amiri" pitchFamily="2" charset="-78"/>
                <a:ea typeface="Amiri" pitchFamily="2" charset="-78"/>
                <a:cs typeface="Amiri" pitchFamily="2" charset="-78"/>
              </a:rPr>
              <a:t>رَأَيْتُ تَوَابِلَ حَمْرَاءَ وَصَفْرَاءَ وَبُرْتُقَالِيَّةً.</a:t>
            </a:r>
            <a:endParaRPr lang="ar-SA" sz="2650" dirty="0"/>
          </a:p>
        </p:txBody>
      </p:sp>
      <p:sp>
        <p:nvSpPr>
          <p:cNvPr id="35" name="Text 32"/>
          <p:cNvSpPr txBox="1"/>
          <p:nvPr/>
        </p:nvSpPr>
        <p:spPr>
          <a:xfrm>
            <a:off x="6949440" y="3785067"/>
            <a:ext cx="4645152" cy="407822"/>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D · I saw red, yellow and orange spices.</a:t>
            </a:r>
            <a:endParaRPr lang="en-US" sz="1100" dirty="0"/>
          </a:p>
        </p:txBody>
      </p:sp>
      <p:sp>
        <p:nvSpPr>
          <p:cNvPr id="36" name="Shape 33"/>
          <p:cNvSpPr/>
          <p:nvPr/>
        </p:nvSpPr>
        <p:spPr>
          <a:xfrm>
            <a:off x="6995160" y="4215384"/>
            <a:ext cx="4553712" cy="0"/>
          </a:xfrm>
          <a:prstGeom prst="line">
            <a:avLst/>
          </a:prstGeom>
          <a:noFill/>
          <a:ln w="9525">
            <a:solidFill>
              <a:srgbClr val="E4DCCB"/>
            </a:solidFill>
            <a:prstDash val="dash"/>
          </a:ln>
        </p:spPr>
      </p:sp>
      <p:sp>
        <p:nvSpPr>
          <p:cNvPr id="37" name="Text 34"/>
          <p:cNvSpPr txBox="1"/>
          <p:nvPr/>
        </p:nvSpPr>
        <p:spPr>
          <a:xfrm>
            <a:off x="6949440" y="4233672"/>
            <a:ext cx="4645152" cy="570951"/>
          </a:xfrm>
          <a:prstGeom prst="rect">
            <a:avLst/>
          </a:prstGeom>
          <a:noFill/>
          <a:ln/>
        </p:spPr>
        <p:txBody>
          <a:bodyPr wrap="square" lIns="0" tIns="0" rIns="0" bIns="0" rtlCol="0" anchor="ctr"/>
          <a:lstStyle/>
          <a:p>
            <a:pPr rtl="1" algn="ctr" indent="0" marL="0">
              <a:buNone/>
            </a:pPr>
            <a:r>
              <a:rPr lang="ar-SA" altLang="en-US" sz="1950" b="1" dirty="0">
                <a:solidFill>
                  <a:srgbClr val="1B3B6F"/>
                </a:solidFill>
                <a:latin typeface="Amiri" pitchFamily="2" charset="-78"/>
                <a:ea typeface="Amiri" pitchFamily="2" charset="-78"/>
                <a:cs typeface="Amiri" pitchFamily="2" charset="-78"/>
              </a:rPr>
              <a:t>كَانَ مُمَيَّزًا لِأَنَّ الأَلْوَانَ وَالرَّوَائِحَ كَانَتْ فِي كُلِّ مَكَانٍ.</a:t>
            </a:r>
            <a:endParaRPr lang="ar-SA" sz="1950" dirty="0"/>
          </a:p>
        </p:txBody>
      </p:sp>
      <p:sp>
        <p:nvSpPr>
          <p:cNvPr id="38" name="Text 35"/>
          <p:cNvSpPr txBox="1"/>
          <p:nvPr/>
        </p:nvSpPr>
        <p:spPr>
          <a:xfrm>
            <a:off x="6949440" y="4804623"/>
            <a:ext cx="4645152" cy="407822"/>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R · Special because colours and smells were everywhere.</a:t>
            </a:r>
            <a:endParaRPr lang="en-US" sz="1100" dirty="0"/>
          </a:p>
        </p:txBody>
      </p:sp>
      <p:sp>
        <p:nvSpPr>
          <p:cNvPr id="39" name="Shape 36"/>
          <p:cNvSpPr/>
          <p:nvPr/>
        </p:nvSpPr>
        <p:spPr>
          <a:xfrm>
            <a:off x="6995160" y="5234940"/>
            <a:ext cx="4553712" cy="0"/>
          </a:xfrm>
          <a:prstGeom prst="line">
            <a:avLst/>
          </a:prstGeom>
          <a:noFill/>
          <a:ln w="9525">
            <a:solidFill>
              <a:srgbClr val="E4DCCB"/>
            </a:solidFill>
            <a:prstDash val="dash"/>
          </a:ln>
        </p:spPr>
      </p:sp>
      <p:sp>
        <p:nvSpPr>
          <p:cNvPr id="40" name="Text 37"/>
          <p:cNvSpPr txBox="1"/>
          <p:nvPr/>
        </p:nvSpPr>
        <p:spPr>
          <a:xfrm>
            <a:off x="6949440" y="5253228"/>
            <a:ext cx="4645152" cy="570951"/>
          </a:xfrm>
          <a:prstGeom prst="rect">
            <a:avLst/>
          </a:prstGeom>
          <a:noFill/>
          <a:ln/>
        </p:spPr>
        <p:txBody>
          <a:bodyPr wrap="square" lIns="0" tIns="0" rIns="0" bIns="0" rtlCol="0" anchor="ctr"/>
          <a:lstStyle/>
          <a:p>
            <a:pPr rtl="1" algn="ctr" indent="0" marL="0">
              <a:buNone/>
            </a:pPr>
            <a:r>
              <a:rPr lang="ar-SA" altLang="en-US" sz="2650" b="1" dirty="0">
                <a:solidFill>
                  <a:srgbClr val="1B3B6F"/>
                </a:solidFill>
                <a:latin typeface="Amiri" pitchFamily="2" charset="-78"/>
                <a:ea typeface="Amiri" pitchFamily="2" charset="-78"/>
                <a:cs typeface="Amiri" pitchFamily="2" charset="-78"/>
              </a:rPr>
              <a:t>شَعَرْتُ بِالدَّهْشَةِ، وَسَأَرْجِعُ إِلَيْهِ.</a:t>
            </a:r>
            <a:endParaRPr lang="ar-SA" sz="2650" dirty="0"/>
          </a:p>
        </p:txBody>
      </p:sp>
      <p:sp>
        <p:nvSpPr>
          <p:cNvPr id="41" name="Text 38"/>
          <p:cNvSpPr txBox="1"/>
          <p:nvPr/>
        </p:nvSpPr>
        <p:spPr>
          <a:xfrm>
            <a:off x="6949440" y="5824179"/>
            <a:ext cx="4645152" cy="407822"/>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F · I was amazed, and I will go back.</a:t>
            </a:r>
            <a:endParaRPr lang="en-US" sz="1100" dirty="0"/>
          </a:p>
        </p:txBody>
      </p:sp>
      <p:sp>
        <p:nvSpPr>
          <p:cNvPr id="42" name="Text 3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18 / 23</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TB-L06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8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E6B52"/>
                </a:solidFill>
                <a:latin typeface="Calibri" pitchFamily="34" charset="0"/>
                <a:cs typeface="Amiri" pitchFamily="2" charset="-78"/>
              </a:rPr>
              <a:t>STEP 6 · WRITE ONE PARAGRAPH OF QUESTION 3 · ABOUT 50–70 WORDS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000" b="1" dirty="0">
                <a:solidFill>
                  <a:srgbClr val="1B3B6F"/>
                </a:solidFill>
                <a:latin typeface="Cambria" pitchFamily="34" charset="0"/>
                <a:cs typeface="Amiri" pitchFamily="2" charset="-78"/>
              </a:rPr>
              <a:t>Question 3, one paragraph: a place full of colour</a:t>
            </a:r>
            <a:endParaRPr lang="en-US" sz="20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مَكَانٌ مَلِيءٌ بِالأَلْوَانِ</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B · Writing practice room · TB-L06</a:t>
            </a:r>
            <a:endParaRPr lang="en-US" sz="850" dirty="0"/>
          </a:p>
        </p:txBody>
      </p:sp>
      <p:sp>
        <p:nvSpPr>
          <p:cNvPr id="15" name="Shape 12"/>
          <p:cNvSpPr/>
          <p:nvPr/>
        </p:nvSpPr>
        <p:spPr>
          <a:xfrm>
            <a:off x="457200" y="1810512"/>
            <a:ext cx="5577840" cy="4498848"/>
          </a:xfrm>
          <a:prstGeom prst="roundRect">
            <a:avLst>
              <a:gd name="adj" fmla="val 162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673352" cy="292608"/>
          </a:xfrm>
          <a:prstGeom prst="roundRect">
            <a:avLst>
              <a:gd name="adj" fmla="val 50000"/>
            </a:avLst>
          </a:prstGeom>
          <a:solidFill>
            <a:srgbClr val="1B3B6F"/>
          </a:solidFill>
          <a:ln w="12700">
            <a:solidFill>
              <a:srgbClr val="1B3B6F"/>
            </a:solidFill>
            <a:prstDash val="solid"/>
          </a:ln>
        </p:spPr>
      </p:sp>
      <p:sp>
        <p:nvSpPr>
          <p:cNvPr id="17" name="Text 14"/>
          <p:cNvSpPr txBox="1"/>
          <p:nvPr/>
        </p:nvSpPr>
        <p:spPr>
          <a:xfrm>
            <a:off x="640080" y="1938528"/>
            <a:ext cx="1673352"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Q3 · ONE PARAGRAPH</a:t>
            </a:r>
            <a:endParaRPr lang="en-US" sz="950" dirty="0"/>
          </a:p>
        </p:txBody>
      </p:sp>
      <p:sp>
        <p:nvSpPr>
          <p:cNvPr id="18" name="Text 15"/>
          <p:cNvSpPr txBox="1"/>
          <p:nvPr/>
        </p:nvSpPr>
        <p:spPr>
          <a:xfrm>
            <a:off x="640080" y="2331720"/>
            <a:ext cx="5212080" cy="914400"/>
          </a:xfrm>
          <a:prstGeom prst="rect">
            <a:avLst/>
          </a:prstGeom>
          <a:noFill/>
          <a:ln/>
        </p:spPr>
        <p:txBody>
          <a:bodyPr wrap="square" lIns="0" tIns="0" rIns="0" bIns="0" rtlCol="0" anchor="ctr"/>
          <a:lstStyle/>
          <a:p>
            <a:pPr algn="l" indent="0" marL="0">
              <a:buNone/>
            </a:pPr>
            <a:r>
              <a:rPr lang="en-US" sz="1350" b="1" dirty="0">
                <a:solidFill>
                  <a:srgbClr val="1F2A37"/>
                </a:solidFill>
                <a:latin typeface="Calibri" pitchFamily="34" charset="0"/>
                <a:cs typeface="Amiri" pitchFamily="2" charset="-78"/>
              </a:rPr>
              <a:t>Full Q3 title: “Colours in my life”. Today write ONLY the past paragraph: a colourful place or event you remember (a market, a festival, a garden, a wedding) — what you saw, the colours, what happened and how you felt.</a:t>
            </a:r>
            <a:endParaRPr lang="en-US" sz="1350" dirty="0"/>
          </a:p>
        </p:txBody>
      </p:sp>
      <p:sp>
        <p:nvSpPr>
          <p:cNvPr id="19" name="Text 16"/>
          <p:cNvSpPr txBox="1"/>
          <p:nvPr/>
        </p:nvSpPr>
        <p:spPr>
          <a:xfrm>
            <a:off x="685800" y="3310128"/>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T — a topic sentence.</a:t>
            </a:r>
            <a:endParaRPr lang="en-US" sz="1200" dirty="0"/>
          </a:p>
        </p:txBody>
      </p:sp>
      <p:sp>
        <p:nvSpPr>
          <p:cNvPr id="20" name="Text 17"/>
          <p:cNvSpPr txBox="1"/>
          <p:nvPr/>
        </p:nvSpPr>
        <p:spPr>
          <a:xfrm>
            <a:off x="685800" y="3840480"/>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D — two details (when, where, who, what).</a:t>
            </a:r>
            <a:endParaRPr lang="en-US" sz="1200" dirty="0"/>
          </a:p>
        </p:txBody>
      </p:sp>
      <p:sp>
        <p:nvSpPr>
          <p:cNvPr id="21" name="Text 18"/>
          <p:cNvSpPr txBox="1"/>
          <p:nvPr/>
        </p:nvSpPr>
        <p:spPr>
          <a:xfrm>
            <a:off x="685800" y="4370832"/>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R — a reason with </a:t>
            </a:r>
            <a:pPr algn="l" indent="0" marL="0">
              <a:buNone/>
            </a:pPr>
            <a:r>
              <a:rPr lang="ar-SA" altLang="en-US" sz="1550" dirty="0">
                <a:solidFill>
                  <a:srgbClr val="1F2A37"/>
                </a:solidFill>
                <a:latin typeface="Amiri" pitchFamily="2" charset="-78"/>
                <a:ea typeface="Amiri" pitchFamily="2" charset="-78"/>
                <a:cs typeface="Amiri" pitchFamily="2" charset="-78"/>
              </a:rPr>
              <a:t>لِأَنَّ</a:t>
            </a:r>
            <a:pPr algn="l" indent="0" marL="0">
              <a:buNone/>
            </a:pPr>
            <a:r>
              <a:rPr lang="en-US" sz="1200" dirty="0">
                <a:solidFill>
                  <a:srgbClr val="1F2A37"/>
                </a:solidFill>
                <a:latin typeface="Calibri" pitchFamily="34" charset="0"/>
                <a:cs typeface="Amiri" pitchFamily="2" charset="-78"/>
              </a:rPr>
              <a:t> or </a:t>
            </a:r>
            <a:pPr algn="l" indent="0" marL="0">
              <a:buNone/>
            </a:pPr>
            <a:r>
              <a:rPr lang="ar-SA" altLang="en-US" sz="1550" dirty="0">
                <a:solidFill>
                  <a:srgbClr val="1F2A37"/>
                </a:solidFill>
                <a:latin typeface="Amiri" pitchFamily="2" charset="-78"/>
                <a:ea typeface="Amiri" pitchFamily="2" charset="-78"/>
                <a:cs typeface="Amiri" pitchFamily="2" charset="-78"/>
              </a:rPr>
              <a:t>لِذٰلِكَ</a:t>
            </a:r>
            <a:pPr algn="l" indent="0" marL="0">
              <a:buNone/>
            </a:pPr>
            <a:r>
              <a:rPr lang="en-US" sz="1200" dirty="0">
                <a:solidFill>
                  <a:srgbClr val="1F2A37"/>
                </a:solidFill>
                <a:latin typeface="Calibri" pitchFamily="34" charset="0"/>
                <a:cs typeface="Amiri" pitchFamily="2" charset="-78"/>
              </a:rPr>
              <a:t>.</a:t>
            </a:r>
            <a:endParaRPr lang="en-US" sz="1200" dirty="0"/>
          </a:p>
        </p:txBody>
      </p:sp>
      <p:sp>
        <p:nvSpPr>
          <p:cNvPr id="22" name="Text 19"/>
          <p:cNvSpPr txBox="1"/>
          <p:nvPr/>
        </p:nvSpPr>
        <p:spPr>
          <a:xfrm>
            <a:off x="685800" y="4901184"/>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F — a feeling or opinion (Stretch: + a future sentence).</a:t>
            </a:r>
            <a:endParaRPr lang="en-US" sz="1200" dirty="0"/>
          </a:p>
        </p:txBody>
      </p:sp>
      <p:sp>
        <p:nvSpPr>
          <p:cNvPr id="23" name="Text 20"/>
          <p:cNvSpPr txBox="1"/>
          <p:nvPr/>
        </p:nvSpPr>
        <p:spPr>
          <a:xfrm>
            <a:off x="685800" y="5431536"/>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Buddy check: past verbs with the right ending?</a:t>
            </a:r>
            <a:endParaRPr lang="en-US" sz="1200" dirty="0"/>
          </a:p>
        </p:txBody>
      </p:sp>
      <p:sp>
        <p:nvSpPr>
          <p:cNvPr id="24" name="Shape 21"/>
          <p:cNvSpPr/>
          <p:nvPr/>
        </p:nvSpPr>
        <p:spPr>
          <a:xfrm>
            <a:off x="6217920" y="1810512"/>
            <a:ext cx="551383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5" name="Text 22"/>
          <p:cNvSpPr txBox="1"/>
          <p:nvPr/>
        </p:nvSpPr>
        <p:spPr>
          <a:xfrm>
            <a:off x="6400800" y="1901952"/>
            <a:ext cx="5120640" cy="274320"/>
          </a:xfrm>
          <a:prstGeom prst="rect">
            <a:avLst/>
          </a:prstGeom>
          <a:noFill/>
          <a:ln/>
        </p:spPr>
        <p:txBody>
          <a:bodyPr wrap="square" lIns="0" tIns="0" rIns="0" bIns="0" rtlCol="0" anchor="ctr"/>
          <a:lstStyle/>
          <a:p>
            <a:pPr algn="l" indent="0" marL="0">
              <a:buNone/>
            </a:pPr>
            <a:r>
              <a:rPr lang="en-US" sz="950" b="1" spc="100" kern="0" dirty="0">
                <a:solidFill>
                  <a:srgbClr val="8A6D1E"/>
                </a:solidFill>
                <a:latin typeface="Calibri" pitchFamily="34" charset="0"/>
                <a:cs typeface="Amiri" pitchFamily="2" charset="-78"/>
              </a:rPr>
              <a:t>USEFUL LANGUAGE FOR THIS PARAGRAPH</a:t>
            </a:r>
            <a:endParaRPr lang="en-US" sz="950" dirty="0"/>
          </a:p>
        </p:txBody>
      </p:sp>
      <p:sp>
        <p:nvSpPr>
          <p:cNvPr id="26" name="Text 23"/>
          <p:cNvSpPr txBox="1"/>
          <p:nvPr/>
        </p:nvSpPr>
        <p:spPr>
          <a:xfrm>
            <a:off x="8412480" y="223113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لَنْ أَنْسَى …</a:t>
            </a:r>
            <a:endParaRPr lang="ar-SA" sz="1800" dirty="0"/>
          </a:p>
        </p:txBody>
      </p:sp>
      <p:sp>
        <p:nvSpPr>
          <p:cNvPr id="27" name="Text 24"/>
          <p:cNvSpPr txBox="1"/>
          <p:nvPr/>
        </p:nvSpPr>
        <p:spPr>
          <a:xfrm>
            <a:off x="6400800" y="256032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 will never forget …</a:t>
            </a:r>
            <a:endParaRPr lang="en-US" sz="1050" dirty="0"/>
          </a:p>
        </p:txBody>
      </p:sp>
      <p:sp>
        <p:nvSpPr>
          <p:cNvPr id="28" name="Text 25"/>
          <p:cNvSpPr txBox="1"/>
          <p:nvPr/>
        </p:nvSpPr>
        <p:spPr>
          <a:xfrm>
            <a:off x="8412480" y="2889504"/>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رَأَيْتُ … حَمْرَاءَ وَ…</a:t>
            </a:r>
            <a:endParaRPr lang="ar-SA" sz="1800" dirty="0"/>
          </a:p>
        </p:txBody>
      </p:sp>
      <p:sp>
        <p:nvSpPr>
          <p:cNvPr id="29" name="Text 26"/>
          <p:cNvSpPr txBox="1"/>
          <p:nvPr/>
        </p:nvSpPr>
        <p:spPr>
          <a:xfrm>
            <a:off x="6400800" y="3218688"/>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 saw red … and …</a:t>
            </a:r>
            <a:endParaRPr lang="en-US" sz="1050" dirty="0"/>
          </a:p>
        </p:txBody>
      </p:sp>
      <p:sp>
        <p:nvSpPr>
          <p:cNvPr id="30" name="Text 27"/>
          <p:cNvSpPr txBox="1"/>
          <p:nvPr/>
        </p:nvSpPr>
        <p:spPr>
          <a:xfrm>
            <a:off x="8412480" y="3547872"/>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كَانَتِ الجُدْرَانُ …</a:t>
            </a:r>
            <a:endParaRPr lang="ar-SA" sz="1800" dirty="0"/>
          </a:p>
        </p:txBody>
      </p:sp>
      <p:sp>
        <p:nvSpPr>
          <p:cNvPr id="31" name="Text 28"/>
          <p:cNvSpPr txBox="1"/>
          <p:nvPr/>
        </p:nvSpPr>
        <p:spPr>
          <a:xfrm>
            <a:off x="6400800" y="3877056"/>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the walls were …</a:t>
            </a:r>
            <a:endParaRPr lang="en-US" sz="1050" dirty="0"/>
          </a:p>
        </p:txBody>
      </p:sp>
      <p:sp>
        <p:nvSpPr>
          <p:cNvPr id="32" name="Text 29"/>
          <p:cNvSpPr txBox="1"/>
          <p:nvPr/>
        </p:nvSpPr>
        <p:spPr>
          <a:xfrm>
            <a:off x="8412480" y="4206240"/>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كَانَ مُمَيَّزًا لِأَنَّ …</a:t>
            </a:r>
            <a:endParaRPr lang="ar-SA" sz="1800" dirty="0"/>
          </a:p>
        </p:txBody>
      </p:sp>
      <p:sp>
        <p:nvSpPr>
          <p:cNvPr id="33" name="Text 30"/>
          <p:cNvSpPr txBox="1"/>
          <p:nvPr/>
        </p:nvSpPr>
        <p:spPr>
          <a:xfrm>
            <a:off x="6400800" y="4535424"/>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it was special because …</a:t>
            </a:r>
            <a:endParaRPr lang="en-US" sz="1050" dirty="0"/>
          </a:p>
        </p:txBody>
      </p:sp>
      <p:sp>
        <p:nvSpPr>
          <p:cNvPr id="34" name="Text 31"/>
          <p:cNvSpPr txBox="1"/>
          <p:nvPr/>
        </p:nvSpPr>
        <p:spPr>
          <a:xfrm>
            <a:off x="8412480" y="4864608"/>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شَعَرْتُ بِالدَّهْشَةِ</a:t>
            </a:r>
            <a:endParaRPr lang="ar-SA" sz="1800" dirty="0"/>
          </a:p>
        </p:txBody>
      </p:sp>
      <p:sp>
        <p:nvSpPr>
          <p:cNvPr id="35" name="Text 32"/>
          <p:cNvSpPr txBox="1"/>
          <p:nvPr/>
        </p:nvSpPr>
        <p:spPr>
          <a:xfrm>
            <a:off x="6400800" y="5193792"/>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 was amazed</a:t>
            </a:r>
            <a:endParaRPr lang="en-US" sz="1050" dirty="0"/>
          </a:p>
        </p:txBody>
      </p:sp>
      <p:sp>
        <p:nvSpPr>
          <p:cNvPr id="36" name="Text 3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19 / 23</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TB-L06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CHECK YOURSELF · QUESTION 2 · A STRONG ANSWER</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Q2: compare with a strong answer</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قَارِنْ إِجَابَتَكَ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B · Writing practice room · TB-L06</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1750" dirty="0">
                <a:solidFill>
                  <a:srgbClr val="1F2A37"/>
                </a:solidFill>
                <a:latin typeface="Amiri" pitchFamily="2" charset="-78"/>
                <a:ea typeface="Amiri" pitchFamily="2" charset="-78"/>
                <a:cs typeface="Amiri" pitchFamily="2" charset="-78"/>
              </a:rPr>
              <a:t>مَرْحَبًا يَا عُمَرُ،</a:t>
            </a:r>
            <a:endParaRPr lang="ar-SA" sz="1750" dirty="0"/>
          </a:p>
          <a:p>
            <a:pPr rtl="1" algn="r" indent="0" marL="0">
              <a:lnSpc>
                <a:spcPct val="120000"/>
              </a:lnSpc>
              <a:buNone/>
            </a:pPr>
            <a:r>
              <a:rPr lang="ar-SA" altLang="en-US" sz="1750" dirty="0">
                <a:solidFill>
                  <a:srgbClr val="1F2A37"/>
                </a:solidFill>
                <a:latin typeface="Amiri" pitchFamily="2" charset="-78"/>
                <a:ea typeface="Amiri" pitchFamily="2" charset="-78"/>
                <a:cs typeface="Amiri" pitchFamily="2" charset="-78"/>
              </a:rPr>
              <a:t>شُكْرًا عَلَى نِهَايَةِ الأُسْبُوعِ الرَّائِعَةِ! لٰكِنْ عِنْدِي مُشْكِلَةٌ صَغِيرَةٌ: نَسِيتُ سُتْرَتِي عِنْدَكَ، وَأَظُنُّ أَنِّي تَرَكْتُهَا تَحْتَ السَّرِيرِ فِي غُرْفَةِ الضُّيُوفِ. السُّتْرَةُ زَرْقَاءُ غَامِقَةٌ وَمُخَطَّطَةٌ بِالأَبْيَضِ، وَهِيَ مَصْنُوعَةٌ مِنَ الصُّوفِ، وَعَلَى ظَهْرِهَا اسْمُ فَرِيقِي بِحُرُوفٍ صَفْرَاءَ. هِيَ مُهِمَّةٌ لِي جِدًّا، لِأَنَّ جَدَّتِي أَعْطَتْنِي إِيَّاهَا فِي عِيدِ مِيلَادِي، وَلِأَنِّي أَحْتَاجُهَا فِي المُبَارَاةِ يَوْمَ الأَحَدِ. سَآتِي إِلَى بَيْتِكُمْ مَعَ أَبِي يَوْمَ السَّبْتِ بَعْدَ الظُّهْرِ لِآخُذَهَا، وَإِذَا لَمْ تَكُنْ فِي البَيْتِ، فَأَعْطِهَا لِأَخِيكَ مِنْ فَضْلِكَ.</a:t>
            </a:r>
            <a:endParaRPr lang="ar-SA" sz="1750" dirty="0"/>
          </a:p>
          <a:p>
            <a:pPr rtl="1" algn="r" indent="0" marL="0">
              <a:lnSpc>
                <a:spcPct val="120000"/>
              </a:lnSpc>
              <a:buNone/>
            </a:pPr>
            <a:r>
              <a:rPr lang="ar-SA" altLang="en-US" sz="1750" dirty="0">
                <a:solidFill>
                  <a:srgbClr val="1F2A37"/>
                </a:solidFill>
                <a:latin typeface="Amiri" pitchFamily="2" charset="-78"/>
                <a:ea typeface="Amiri" pitchFamily="2" charset="-78"/>
                <a:cs typeface="Amiri" pitchFamily="2" charset="-78"/>
              </a:rPr>
              <a:t>مَعَ الشُّكْرِ،</a:t>
            </a:r>
            <a:endParaRPr lang="ar-SA" sz="1750" dirty="0"/>
          </a:p>
          <a:p>
            <a:pPr rtl="1" algn="r" indent="0" marL="0">
              <a:lnSpc>
                <a:spcPct val="120000"/>
              </a:lnSpc>
              <a:buNone/>
            </a:pPr>
            <a:r>
              <a:rPr lang="ar-SA" altLang="en-US" sz="1750" dirty="0">
                <a:solidFill>
                  <a:srgbClr val="1F2A37"/>
                </a:solidFill>
                <a:latin typeface="Amiri" pitchFamily="2" charset="-78"/>
                <a:ea typeface="Amiri" pitchFamily="2" charset="-78"/>
                <a:cs typeface="Amiri" pitchFamily="2" charset="-78"/>
              </a:rPr>
              <a:t>سَلِيمٌ</a:t>
            </a:r>
            <a:endParaRPr lang="ar-SA" sz="175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“Hi Omar, thanks for a wonderful weekend! But I have a small problem: I forgot my jacket at yours, and I think I left it under the bed in the guest room. It is dark blue with white stripes, made of wool, with my team’s name on the back in yellow letters. It is very important to me, because my grandmother gave it to me for my birthday, and because I need it for the match on Sunday. I will come to your house with my dad on Saturday afternoon to collect it, and if you are not at home, please give it to your brother. Thanks, Salim.”</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نَسِيتُ سُتْرَتِي</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زَرْقَاءُ غَامِقَةٌ وَمُخَطَّطَةٌ</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مَصْنُوعَةٌ مِنَ الصُّوفِ</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لِأَنَّ جَدَّتِي أَعْطَتْنِي</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20 / 23</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TB-L06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CHECK YOURSELF · QUESTION 3 · ONE PARAGRAPH</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550" b="1" dirty="0">
                <a:solidFill>
                  <a:srgbClr val="1B3B6F"/>
                </a:solidFill>
                <a:latin typeface="Cambria" pitchFamily="34" charset="0"/>
                <a:cs typeface="Amiri" pitchFamily="2" charset="-78"/>
              </a:rPr>
              <a:t>Q3 paragraph: T · D · R · F in a model</a:t>
            </a:r>
            <a:endParaRPr lang="en-US" sz="25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نَمُوذَجُ الفِقْرَةِ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B · Writing practice room · TB-L06</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2400" dirty="0">
                <a:solidFill>
                  <a:srgbClr val="1F2A37"/>
                </a:solidFill>
                <a:latin typeface="Amiri" pitchFamily="2" charset="-78"/>
                <a:ea typeface="Amiri" pitchFamily="2" charset="-78"/>
                <a:cs typeface="Amiri" pitchFamily="2" charset="-78"/>
              </a:rPr>
              <a:t>لَنْ أَنْسَى سُوقَ التَّوَابِلِ فِي مَرَّاكُشَ الَّذِي زُرْتُهُ مَعَ عَائِلَتِي فِي الصَّيْفِ المَاضِي. دَخَلْنَا مِنْ بَابٍ أَخْضَرَ قَدِيمٍ، فَرَأَيْتُ أَكْيَاسًا كَبِيرَةً مِنَ التَّوَابِلِ الحَمْرَاءِ وَالصَّفْرَاءِ وَالبُرْتُقَالِيَّةِ، وَسَجَّادًا أَزْرَقَ مُعَلَّقًا عَلَى الجُدْرَانِ البُنِّيَّةِ. اشْتَرَتْ أُمِّي زَعْفَرَانًا، وَأَعْطَانِي البَائِعُ شَايًا بِالنَّعْنَاعِ مَجَّانًا. كَانَ ذٰلِكَ المَكَانُ مُمَيَّزًا لِأَنَّ الأَلْوَانَ وَالرَّوَائِحَ كَانَتْ فِي كُلِّ زَاوِيَةٍ. شَعَرْتُ بِالدَّهْشَةِ، وَلَوْ رَجَعْتُ إِلَى هُنَاكَ، لَاشْتَرَيْتُ مِصْبَاحًا مُلَوَّنًا لِغُرْفَتِي.</a:t>
            </a:r>
            <a:endParaRPr lang="ar-SA" sz="240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T: I will never forget the spice market in Marrakech that I visited with my family last summer · D: we entered through an old green door and I saw big sacks of red, yellow and orange spices and blue carpets hanging on the brown walls; my mum bought saffron and the seller gave me free mint tea · R: special because colours and smells were in every corner · F: I was amazed, and if I went back I would buy a colourful lamp for my room.</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لَنْ أَنْسَى سُوقَ</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التَّوَابِلِ الحَمْرَاءِ وَالصَّفْرَاءِ</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كَانَ … مُمَيَّزًا لِأَنَّ</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لَوْ رَجَعْتُ … لَاشْتَرَيْتُ</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21 / 23</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TB-L06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B · Writing practice room · TB-L06</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decoded every bullet: question word and tense.</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My Q2 answers all four bullets, with a greeting and a closing.</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upgraded my sentences: detail + reason in every bullet.</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My buddy checked my work and I fixed one mistake.</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My Q3 paragraph has T, D, R and F, with past and future.</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cs typeface="Amiri" pitchFamily="2" charset="-78"/>
              </a:rPr>
              <a:t>WWW</a:t>
            </a:r>
            <a:endParaRPr lang="en-US" sz="1800" dirty="0"/>
          </a:p>
          <a:p>
            <a:pPr indent="0" marL="0">
              <a:buNone/>
            </a:pPr>
            <a:r>
              <a:rPr lang="en-US" sz="1200" dirty="0">
                <a:solidFill>
                  <a:srgbClr val="1F2A37"/>
                </a:solidFill>
                <a:latin typeface="Calibri" pitchFamily="34" charset="0"/>
                <a:cs typeface="Amiri" pitchFamily="2" charset="-78"/>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cs typeface="Amiri" pitchFamily="2" charset="-78"/>
              </a:rPr>
              <a:t>EBI</a:t>
            </a:r>
            <a:endParaRPr lang="en-US" sz="1800" dirty="0"/>
          </a:p>
          <a:p>
            <a:pPr indent="0" marL="0">
              <a:buNone/>
            </a:pPr>
            <a:r>
              <a:rPr lang="en-US" sz="1200" dirty="0">
                <a:solidFill>
                  <a:srgbClr val="1F2A37"/>
                </a:solidFill>
                <a:latin typeface="Calibri" pitchFamily="34" charset="0"/>
                <a:cs typeface="Amiri" pitchFamily="2" charset="-78"/>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22 / 23</a:t>
            </a:r>
            <a:endParaRPr lang="en-US" sz="8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TB-L06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2" charset="-78"/>
                <a:ea typeface="Amiri" pitchFamily="2" charset="-78"/>
                <a:cs typeface="Amiri" pitchFamily="2" charset="-78"/>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cs typeface="Amiri" pitchFamily="2" charset="-78"/>
              </a:rPr>
              <a:t>Well done — you wrote it yourself!</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NEXT</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2700" b="1" dirty="0">
                <a:solidFill>
                  <a:srgbClr val="FFFFFF"/>
                </a:solidFill>
                <a:latin typeface="Cambria" pitchFamily="34" charset="0"/>
                <a:cs typeface="Amiri" pitchFamily="2" charset="-78"/>
              </a:rPr>
              <a:t>TB-L07 · The next lesson in the topic</a:t>
            </a:r>
            <a:endParaRPr lang="en-US" sz="270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2" charset="-78"/>
                <a:ea typeface="Amiri" pitchFamily="2" charset="-78"/>
                <a:cs typeface="Amiri" pitchFamily="2" charset="-78"/>
              </a:rPr>
              <a:t>الدَّرْسُ التَّالِي</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cs typeface="Amiri" pitchFamily="2" charset="-78"/>
              </a:rPr>
              <a:t>Remember: decode → plan → write → check. Every bullet, every time.</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Amiri" pitchFamily="2" charset="-78"/>
        <a:cs typeface="Amiri" pitchFamily="2" charset="-78"/>
        <a:font script="Arab" typeface="Amiri"/>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Amiri" pitchFamily="2" charset="-78"/>
        <a:cs typeface="Amiri" pitchFamily="2" charset="-78"/>
        <a:font script="Arab" typeface="Amir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23</Slides>
  <Notes>23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23</vt:i4>
      </vt:variant>
    </vt:vector>
  </HeadingPairs>
  <TitlesOfParts>
    <vt:vector size="2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TB-L06 · Writing Practice Room — Colours and Accurate Description</dc:title>
  <dc:subject>PptxGenJS Presentation</dc:subject>
  <dc:creator>Al Madina Online School · Arabic Department</dc:creator>
  <cp:lastModifiedBy>Al Madina Online School · Arabic Department</cp:lastModifiedBy>
  <cp:revision>1</cp:revision>
  <dcterms:created xsi:type="dcterms:W3CDTF">2026-10-25T14:29:40Z</dcterms:created>
  <dcterms:modified xsi:type="dcterms:W3CDTF">2026-10-25T14:29:40Z</dcterms:modified>
</cp:coreProperties>
</file>