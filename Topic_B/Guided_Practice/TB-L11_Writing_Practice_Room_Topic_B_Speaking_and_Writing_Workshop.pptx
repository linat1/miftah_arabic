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11 (Topic B mixed practice — all about me, TB-L11)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(85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Mixed Topic B: All About 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هٰذَا أَنَا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practise the writing process in breakout rooms, focusing on cohesion and accuracy: a Q1 warm-up, decoding a new Q2 task (a letter to your future self), upgrading sentences, writing with a buddy, spotting and fixing errors, and one Q3 paragraph with the T-D-R-F formula.</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TB-L11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Summer exchange: student profile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التَّبَادُلُ الصَّيْفِيُّ: مَلَفُّ الطَّالِبِ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36408" y="2881884"/>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a:t>
            </a:r>
            <a:pPr algn="l" indent="0" marL="0">
              <a:buNone/>
            </a:pPr>
            <a:r>
              <a:rPr lang="ar-SA" altLang="en-US" sz="1450" dirty="0">
                <a:solidFill>
                  <a:srgbClr val="5A6472"/>
                </a:solidFill>
                <a:latin typeface="Amiri" pitchFamily="2" charset="-78"/>
                <a:ea typeface="Amiri" pitchFamily="2" charset="-78"/>
                <a:cs typeface="Amiri" pitchFamily="2" charset="-78"/>
              </a:rPr>
              <a:t>بِرِيطَانِيٌّ / بِرِيطَانِيَّةٌ</a:t>
            </a:r>
            <a:endParaRPr lang="en-US" sz="11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مَرِحٌ · مُنَظَّمٌ · صَبُورٌ</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qualities</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ثَلَاثُ صِفَاتٍ</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36408" y="4110228"/>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Verbal nouns: </a:t>
            </a:r>
            <a:pPr algn="l" indent="0" marL="0">
              <a:buNone/>
            </a:pPr>
            <a:r>
              <a:rPr lang="ar-SA" altLang="en-US" sz="1450" dirty="0">
                <a:solidFill>
                  <a:srgbClr val="5A6472"/>
                </a:solidFill>
                <a:latin typeface="Amiri" pitchFamily="2" charset="-78"/>
                <a:ea typeface="Amiri" pitchFamily="2" charset="-78"/>
                <a:cs typeface="Amiri" pitchFamily="2" charset="-78"/>
              </a:rPr>
              <a:t>الرَّسْمُ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السِّبَاحَةُ</a:t>
            </a:r>
            <a:endParaRPr lang="en-US" sz="11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Hobbies</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الهِوَايَاتُ</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السَّمَكُ · لَا يُوجَدُ</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don’t eat</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طَعَامٌ لَا تَأْكُلُهُ</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أَنْ … ، لِذٰلِكَ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take part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أَنْ تُشَارِكَ؟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Question 2: a letter to myself in five years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نَفْسِي بَعْدَ خَمْسِ سَنَوَاتٍ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letter in Arabic to yourself in five years’ time, of about 80–90 words. You must include: • who you are now (age, family, personality) • your hobbies and how you spend your free time • something you are proud of from this year • what you hope you will be doing in five years.</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عُمْرِي الآنَ … ، وَأَنَا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now … and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وَقْتِ الفَرَاغِ أُحِبُّ … ، لِذٰلِكَ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free time I like …, so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السَّنَةَ أَفْخَرُ بِأَنِّي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year I am proud that I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تَكُونَ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hope you will be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نَفْسِكَ بَعْدَ خَمْسِ سَنَوَاتٍ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أَنْتَ الآنَ؟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هِوَايَاتُكَ؟ وَكَيْفَ تَقْضِي وَقْتَ فَرَاغِكَ؟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الشَّيْءُ الَّذِي تَفْخَرُ بِهِ هٰذِهِ السَّنَةَ؟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تَتَمَنَّى أَنْ تَفْعَلَ بَعْدَ خَمْسِ سَنَوَاتٍ؟</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 letter to yourself in five years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letter to YOURSELF → informal: </a:t>
            </a:r>
            <a:pPr algn="l" indent="0" marL="0">
              <a:buNone/>
            </a:pPr>
            <a:r>
              <a:rPr lang="ar-SA" altLang="en-US" sz="1450" dirty="0">
                <a:solidFill>
                  <a:srgbClr val="5A6472"/>
                </a:solidFill>
                <a:latin typeface="Amiri" pitchFamily="2" charset="-78"/>
                <a:ea typeface="Amiri" pitchFamily="2" charset="-78"/>
                <a:cs typeface="Amiri" pitchFamily="2" charset="-78"/>
              </a:rPr>
              <a:t>إِلَى نَفْسِي العَزِيزَةِ</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نَفْسِكَ بَعْدَ خَمْسِ سَنَوَاتٍ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you are now</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 أَنْتَ الآنَ</a:t>
            </a:r>
            <a:pPr algn="l" indent="0" marL="0">
              <a:buNone/>
            </a:pPr>
            <a:r>
              <a:rPr lang="en-US" sz="1100" dirty="0">
                <a:solidFill>
                  <a:srgbClr val="5A6472"/>
                </a:solidFill>
                <a:latin typeface="Calibri" pitchFamily="34" charset="0"/>
                <a:cs typeface="Amiri" pitchFamily="2" charset="-78"/>
              </a:rPr>
              <a:t> → PRESENT facts + description</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أَنْتَ الآنَ؟</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Hobbies and free time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هِوَايَاتُكَ</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a:t>
            </a:r>
            <a:pPr algn="l" indent="0" marL="0">
              <a:buNone/>
            </a:pPr>
            <a:r>
              <a:rPr lang="en-US" sz="1100" dirty="0">
                <a:solidFill>
                  <a:srgbClr val="5A6472"/>
                </a:solidFill>
                <a:latin typeface="Calibri" pitchFamily="34" charset="0"/>
                <a:cs typeface="Amiri" pitchFamily="2" charset="-78"/>
              </a:rPr>
              <a:t> → PRESENT habits + linking words</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هِوَايَاتُكَ؟ وَكَيْفَ تَقْضِي وَقْتَ فَرَاغِكَ؟</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 are proud of this year</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 تَفْخَرُ بِهِ</a:t>
            </a:r>
            <a:pPr algn="l" indent="0" marL="0">
              <a:buNone/>
            </a:pPr>
            <a:r>
              <a:rPr lang="en-US" sz="1100" dirty="0">
                <a:solidFill>
                  <a:srgbClr val="5A6472"/>
                </a:solidFill>
                <a:latin typeface="Calibri" pitchFamily="34" charset="0"/>
                <a:cs typeface="Amiri" pitchFamily="2" charset="-78"/>
              </a:rPr>
              <a:t> → a PAST event + a reason</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الشَّيْءُ الَّذِي تَفْخَرُ بِهِ هٰذِهِ السَّنَةَ؟</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hope to be doing in five years</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تَتَمَنَّى … بَعْدَ خَمْسِ سَنَوَاتٍ</a:t>
            </a:r>
            <a:pPr algn="l" indent="0" marL="0">
              <a:buNone/>
            </a:pPr>
            <a:r>
              <a:rPr lang="en-US" sz="1100" dirty="0">
                <a:solidFill>
                  <a:srgbClr val="5A6472"/>
                </a:solidFill>
                <a:latin typeface="Calibri" pitchFamily="34" charset="0"/>
                <a:cs typeface="Amiri" pitchFamily="2" charset="-78"/>
              </a:rPr>
              <a:t> → FUTURE / hopes (</a:t>
            </a:r>
            <a:pPr algn="l" indent="0" marL="0">
              <a:buNone/>
            </a:pPr>
            <a:r>
              <a:rPr lang="ar-SA" altLang="en-US" sz="1450" dirty="0">
                <a:solidFill>
                  <a:srgbClr val="5A6472"/>
                </a:solidFill>
                <a:latin typeface="Amiri" pitchFamily="2" charset="-78"/>
                <a:ea typeface="Amiri" pitchFamily="2" charset="-78"/>
                <a:cs typeface="Amiri" pitchFamily="2" charset="-78"/>
              </a:rPr>
              <a:t>أَتَمَنَّى أَنْ</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تَتَمَنَّى أَنْ تَفْعَلَ بَعْدَ خَمْسِ سَنَوَاتٍ؟</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الرِّيَاضَةَ.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like sport.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300" b="1" dirty="0">
                <a:solidFill>
                  <a:srgbClr val="1B3B6F"/>
                </a:solidFill>
                <a:latin typeface="Amiri" pitchFamily="2" charset="-78"/>
                <a:ea typeface="Amiri" pitchFamily="2" charset="-78"/>
                <a:cs typeface="Amiri" pitchFamily="2" charset="-78"/>
              </a:rPr>
              <a:t>أُحِبُّ الرِّيَاضَةَ، خُصُوصًا كُرَةَ السَّلَّةِ، وَأَلْعَبُهَا مَرَّتَيْنِ فِي الأُسْبُوعِ.</a:t>
            </a:r>
            <a:endParaRPr lang="ar-SA" sz="23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especially basketball, and I play it twice a week.</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أُحِبُّ كُرَةَ السَّلَّةِ، لِأَنَّهَا سَرِيعَةٌ، وَبِالإِضَافَةِ إِلَى ذٰلِكَ أَلْعَبُهَا مَعَ أَصْدِقَائِي.</a:t>
            </a:r>
            <a:endParaRPr lang="ar-SA" sz="20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it’s fast — in addition, I play it with my friends.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 صَحِيحٌ أَنِّي لَسْتُ طَوِيلًا، غَيْرَ أَنِّي أَسْرَعُ لَاعِبٍ فِي الفَرِيقِ!</a:t>
            </a:r>
            <a:endParaRPr lang="ar-SA" sz="25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it’s true I’m not tall, but I am the fastest player in the team!</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drawing, so I go to art club.</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الرَّسْمَ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أَرْسُمُ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 إِلَى نَادِي الفَنِّ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ذَهَبْتُ إِلَى نَادِي الفَنِّ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As for my brother, he prefers football.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أَمَّا أَخِي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أَمَّا أُخْتِي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فَيُفَضِّلُ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يُفَضِّلُ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كُرَةَ القَدَمِ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كُرَةُ القَدَمِ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It’s true that I am shy, but I am brave.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صَحِيحٌ أَنِّي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صَحِيحٌ أَنَا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خَجُولٌ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خَجُولًا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غَيْرَ أَنِّي شُجَاعٌ</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لِأَنِّي شُجَاعٌ</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drawing, so I go to art club.</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Like + verbal noun (</a:t>
            </a:r>
            <a:pPr algn="l" indent="0" marL="0">
              <a:buNone/>
            </a:pPr>
            <a:r>
              <a:rPr lang="ar-SA" altLang="en-US" sz="1350" dirty="0">
                <a:solidFill>
                  <a:srgbClr val="5A6472"/>
                </a:solidFill>
                <a:latin typeface="Amiri" pitchFamily="2" charset="-78"/>
                <a:ea typeface="Amiri" pitchFamily="2" charset="-78"/>
                <a:cs typeface="Amiri" pitchFamily="2" charset="-78"/>
              </a:rPr>
              <a:t>الرَّسْمَ</a:t>
            </a:r>
            <a:pPr algn="l" indent="0" marL="0">
              <a:buNone/>
            </a:pPr>
            <a:r>
              <a:rPr lang="en-US" sz="1050" i="1" dirty="0">
                <a:solidFill>
                  <a:srgbClr val="5A6472"/>
                </a:solidFill>
                <a:latin typeface="Calibri" pitchFamily="34" charset="0"/>
                <a:cs typeface="Amiri" pitchFamily="2" charset="-78"/>
              </a:rPr>
              <a:t>); so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الرَّسْمَ لِذٰلِكَ أَذْهَبُ إِلَى نَادِي الفَنِّ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As for my brother, he prefers football.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أَمَّا</a:t>
            </a:r>
            <a:pPr algn="l" indent="0" marL="0">
              <a:buNone/>
            </a:pPr>
            <a:r>
              <a:rPr lang="en-US" sz="1050" i="1" dirty="0">
                <a:solidFill>
                  <a:srgbClr val="5A6472"/>
                </a:solidFill>
                <a:latin typeface="Calibri" pitchFamily="34" charset="0"/>
                <a:cs typeface="Amiri" pitchFamily="2" charset="-78"/>
              </a:rPr>
              <a:t> … needs fa- on the next word: </a:t>
            </a:r>
            <a:pPr algn="l" indent="0" marL="0">
              <a:buNone/>
            </a:pPr>
            <a:r>
              <a:rPr lang="ar-SA" altLang="en-US" sz="1350" dirty="0">
                <a:solidFill>
                  <a:srgbClr val="5A6472"/>
                </a:solidFill>
                <a:latin typeface="Amiri" pitchFamily="2" charset="-78"/>
                <a:ea typeface="Amiri" pitchFamily="2" charset="-78"/>
                <a:cs typeface="Amiri" pitchFamily="2" charset="-78"/>
              </a:rPr>
              <a:t>فَيُفَضِّلُ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أَمَّا أَخِي فَيُفَضِّلُ كُرَةَ القَدَمِ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It’s true that I am shy, but I am brave.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صَحِيحٌ أَنَّ</a:t>
            </a:r>
            <a:pPr algn="l" indent="0" marL="0">
              <a:buNone/>
            </a:pPr>
            <a:r>
              <a:rPr lang="en-US" sz="1050" i="1" dirty="0">
                <a:solidFill>
                  <a:srgbClr val="5A6472"/>
                </a:solidFill>
                <a:latin typeface="Calibri" pitchFamily="34" charset="0"/>
                <a:cs typeface="Amiri" pitchFamily="2" charset="-78"/>
              </a:rPr>
              <a:t> + pronoun (</a:t>
            </a:r>
            <a:pPr algn="l" indent="0" marL="0">
              <a:buNone/>
            </a:pPr>
            <a:r>
              <a:rPr lang="ar-SA" altLang="en-US" sz="1350" dirty="0">
                <a:solidFill>
                  <a:srgbClr val="5A6472"/>
                </a:solidFill>
                <a:latin typeface="Amiri" pitchFamily="2" charset="-78"/>
                <a:ea typeface="Amiri" pitchFamily="2" charset="-78"/>
                <a:cs typeface="Amiri" pitchFamily="2" charset="-78"/>
              </a:rPr>
              <a:t>أَنِّي</a:t>
            </a:r>
            <a:pPr algn="l" indent="0" marL="0">
              <a:buNone/>
            </a:pPr>
            <a:r>
              <a:rPr lang="en-US" sz="1050" i="1" dirty="0">
                <a:solidFill>
                  <a:srgbClr val="5A6472"/>
                </a:solidFill>
                <a:latin typeface="Calibri" pitchFamily="34" charset="0"/>
                <a:cs typeface="Amiri" pitchFamily="2" charset="-78"/>
              </a:rPr>
              <a:t>); “but” = </a:t>
            </a:r>
            <a:pPr algn="l" indent="0" marL="0">
              <a:buNone/>
            </a:pPr>
            <a:r>
              <a:rPr lang="ar-SA" altLang="en-US" sz="1350" dirty="0">
                <a:solidFill>
                  <a:srgbClr val="5A6472"/>
                </a:solidFill>
                <a:latin typeface="Amiri" pitchFamily="2" charset="-78"/>
                <a:ea typeface="Amiri" pitchFamily="2" charset="-78"/>
                <a:cs typeface="Amiri" pitchFamily="2" charset="-78"/>
              </a:rPr>
              <a:t>غَيْرَ أَنِّي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صَحِيحٌ أَنِّي خَجُولٌ غَيْرَ أَنِّي شُجَاعٌ</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أَسْكُنُ مَعَ ______ فِي ______ ، وَأَنَا ______ ، لٰكِنِّي ______ .</a:t>
            </a:r>
            <a:endParaRPr lang="ar-SA" sz="12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live with … in …; I am …, but I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بِالإِضَافَةِ إِلَى ذٰلِكَ ______ ؛ مَثَلًا ______ .</a:t>
            </a:r>
            <a:endParaRPr lang="ar-SA" sz="17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In addition …; for example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أَفْخَرُ بِأَنِّي ______ ، لِأَنِّي كُنْتُ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am proud that I …, because I used to be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بَعْدَ خَمْسِ سَنَوَاتٍ سَأَكُونُ ______ ، وَلَوْ ______ لَسَافَرْتُ ______ .</a:t>
            </a:r>
            <a:endParaRPr lang="ar-SA" sz="12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In five years I will be …, and if …, I would travel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نَفْسِي بَعْدَ خَمْسِ سَنَوَاتٍ،</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myself in five years,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عُمْرِي الآنَ ______ سَنَةً، وَأَنَا ______ وَ ______ .</a:t>
            </a:r>
            <a:endParaRPr lang="ar-SA" sz="15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am now … years old, and I am … and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 لِذٰلِكَ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love …, so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السَّنَةَ ______ ، وَأَنَا فَخُورٌ بِذٰلِكَ.</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This year I …, and I am proud of it.</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______ ، لِأَنَّ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hope that …, because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لِأَنَّ · لِذٰلِكَ  ·  لٰكِنَّ  ·  بِالإِضَافَةِ إِلَى ذٰلِكَ  ·  مَثَلًا  ·  أَمَّا … فَأُحِبُّ …  ·  كُنْتُ … أَمَّا الآنَ  ·  أَفْخَرُ بِأَنِّي  ·  أَتَمَنَّى أَنْ</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أَنَا أُحِبُّ القِرَاءَةَ.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أَمَّا</a:t>
            </a:r>
            <a:pPr algn="l" indent="0" marL="0">
              <a:buNone/>
            </a:pPr>
            <a:r>
              <a:rPr lang="en-US" sz="1300" i="1" dirty="0">
                <a:solidFill>
                  <a:srgbClr val="5A6472"/>
                </a:solidFill>
                <a:latin typeface="Calibri" pitchFamily="34" charset="0"/>
                <a:cs typeface="Amiri" pitchFamily="2" charset="-78"/>
              </a:rPr>
              <a:t> needs a partner.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السِّبَاحَةَ، لِأَنَّ أَسْبَحُ كُلَّ يَوْمٍ.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لِأَنَّ</a:t>
            </a:r>
            <a:pPr algn="l" indent="0" marL="0">
              <a:buNone/>
            </a:pPr>
            <a:r>
              <a:rPr lang="en-US" sz="1300" i="1" dirty="0">
                <a:solidFill>
                  <a:srgbClr val="5A6472"/>
                </a:solidFill>
                <a:latin typeface="Calibri" pitchFamily="34" charset="0"/>
                <a:cs typeface="Amiri" pitchFamily="2" charset="-78"/>
              </a:rPr>
              <a:t> needs a noun or pronoun after it.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كُنْتُ خَجُولٌ، أَمَّا الآنَ فَأَنَا شُجَاعٌ.</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كُنْتُ</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أَنَا أُحِبُّ القِرَاءَةَ.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أَنَا فَأُحِبُّ القِرَاءَةَ.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 then add fa- to the next part: </a:t>
            </a:r>
            <a:pPr algn="l" indent="0" marL="0">
              <a:buNone/>
            </a:pPr>
            <a:r>
              <a:rPr lang="ar-SA" altLang="en-US" sz="1500" b="1" dirty="0">
                <a:solidFill>
                  <a:srgbClr val="1B3B6F"/>
                </a:solidFill>
                <a:latin typeface="Amiri" pitchFamily="2" charset="-78"/>
                <a:ea typeface="Amiri" pitchFamily="2" charset="-78"/>
                <a:cs typeface="Amiri" pitchFamily="2" charset="-78"/>
              </a:rPr>
              <a:t>فَأُحِبُّ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السِّبَاحَةَ، لِأَنَّ أَسْبَحُ كُلَّ 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السِّبَاحَةَ، لِأَنِّي أَسْبَحُ كُلَّ 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 + pronoun: </a:t>
            </a:r>
            <a:pPr algn="l" indent="0" marL="0">
              <a:buNone/>
            </a:pPr>
            <a:r>
              <a:rPr lang="ar-SA" altLang="en-US" sz="1500" b="1" dirty="0">
                <a:solidFill>
                  <a:srgbClr val="1B3B6F"/>
                </a:solidFill>
                <a:latin typeface="Amiri" pitchFamily="2" charset="-78"/>
                <a:ea typeface="Amiri" pitchFamily="2" charset="-78"/>
                <a:cs typeface="Amiri" pitchFamily="2" charset="-78"/>
              </a:rPr>
              <a:t>لِأَنِّي</a:t>
            </a:r>
            <a:pPr algn="l" indent="0" marL="0">
              <a:buNone/>
            </a:pPr>
            <a:r>
              <a:rPr lang="en-US" sz="1150" b="1" dirty="0">
                <a:solidFill>
                  <a:srgbClr val="1B3B6F"/>
                </a:solidFill>
                <a:latin typeface="Calibri" pitchFamily="34" charset="0"/>
                <a:cs typeface="Amiri" pitchFamily="2" charset="-78"/>
              </a:rPr>
              <a:t> (because 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كُنْتُ خَجُولٌ، أَمَّا الآنَ فَأَنَا شُجَاعٌ.</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كُنْتُ خَجُولًا، أَمَّا الآنَ فَأَنَا شُجَاعٌ.</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كَانَ / كُنْتُ</a:t>
            </a:r>
            <a:pPr algn="l" indent="0" marL="0">
              <a:buNone/>
            </a:pPr>
            <a:r>
              <a:rPr lang="en-US" sz="1150" b="1" dirty="0">
                <a:solidFill>
                  <a:srgbClr val="1B3B6F"/>
                </a:solidFill>
                <a:latin typeface="Calibri" pitchFamily="34" charset="0"/>
                <a:cs typeface="Amiri" pitchFamily="2" charset="-78"/>
              </a:rPr>
              <a:t> → accusative: </a:t>
            </a:r>
            <a:pPr algn="l" indent="0" marL="0">
              <a:buNone/>
            </a:pPr>
            <a:r>
              <a:rPr lang="ar-SA" altLang="en-US" sz="1500" b="1" dirty="0">
                <a:solidFill>
                  <a:srgbClr val="1B3B6F"/>
                </a:solidFill>
                <a:latin typeface="Amiri" pitchFamily="2" charset="-78"/>
                <a:ea typeface="Amiri" pitchFamily="2" charset="-78"/>
                <a:cs typeface="Amiri" pitchFamily="2" charset="-78"/>
              </a:rPr>
              <a:t>خَجُولًا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السَّنَةُ المَاضِيَةُ غَيَّرَتْ شَخْصِيَّتِي كَثِيرًا.</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year changed my personality a lot.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كُنْتُ خَجُولًا، ثُمَّ انْضَمَمْتُ إِلَى نَادِي المَسْرَحِ.</a:t>
            </a:r>
            <a:endParaRPr lang="ar-SA" sz="24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was shy, then I joined the drama club.</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تَغَيَّرْتُ لِأَنِّي وَقَفْتُ أَمَامَ النَّاسِ كُلَّ أُسْبُوعٍ.</a:t>
            </a:r>
            <a:endParaRPr lang="ar-SA" sz="25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 changed because I stood in front of people every week.</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أَمَّا الآنَ فَأَنَا أَكْثَرُ ثِقَةً.</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But now I am more confident.</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Question 3, one paragraph: the year I changed</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السَّنَةُ الَّتِي تَغَيَّرْتُ فِيهَا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“This is me”. Today write ONLY the past paragraph: a year or experience that changed you — what you were like before, what happened, why it changed you and how you feel now. Use at least four linking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 ، أَمَّا الآنَ فَأَنَا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be …, but now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 ثُمَّ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first … then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بِالإِضَافَةِ إِلَى ذٰلِكَ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addition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 غَيْرَ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true that … but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إِلَى نَفْسِي بَعْدَ خَمْسِ سَنَوَاتٍ،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عُمْرُكَ الآنَ خَمْسَ عَشْرَةَ سَنَةً، وَتَسْكُنُ مَعَ وَالِدَيْكَ وَأَخِيكَ فِي لَنْدَنَ. أَنْتَ مَرِحٌ وَمُنَظَّمٌ، لٰكِنَّكَ تَنْسَى المَفَاتِيحَ دَائِمًا! تُحِبُّ كُرَةَ القَدَمِ وَالقِرَاءَةَ، لِذٰلِكَ تَقْضِي يَوْمَ السَّبْتِ فِي النَّادِي، وَيَوْمَ الأَحَدِ فِي المَكْتَبَةِ. بِالإِضَافَةِ إِلَى ذٰلِكَ، تَتَعَلَّمُ العَرَبِيَّةَ بِجِدٍّ. هٰذِهِ السَّنَةَ أَفْخَرُ بِأَنِّي قَدَّمْتُ عَرْضًا بِالعَرَبِيَّةِ أَمَامَ المَدْرَسَةِ كُلِّهَا، لِأَنِّي كُنْتُ خَجُولًا جِدًّا مِنْ قَبْلُ. بَعْدَ خَمْسِ سَنَوَاتٍ أَتَمَنَّى أَنْ تَكُونَ طَالِبًا فِي الجَامِعَةِ تَدْرُسُ الطِّبَّ، وَلَوْ كَانَ عِنْدَكَ وَقْتٌ، لَتَطَوَّعْتَ فِي مُسْتَشْفًى فِي بَلَدٍ عَرَبِيٍّ. لَا تَنْسَ أَحْلَامَكَ!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صَدِيقُكَ،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أَنْتَ</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myself in five years: you are fifteen now and live with your parents and brother in London. You are cheerful and organised, but you always forget your keys! You love football and reading, so you spend Saturday at the club and Sunday at the library; in addition, you are learning Arabic seriously. This year I am proud that I gave a presentation in Arabic in front of the whole school, because I used to be very shy. In five years I hope you will be a university student studying medicine, and if you have time, you would volunteer in a hospital in an Arab country. Don’t forget your dreams! Your friend —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لٰكِنَّكَ تَنْسَى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تَقْضِي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بِالإِضَافَةِ إِلَى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كُنْتُ خَجُولًا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السَّنَةُ المَاضِيَةُ غَيَّرَتْ شَخْصِيَّتِي كَثِيرًا. فِي البِدَايَةِ كُنْتُ خَجُولًا جِدًّا، وَلَمْ أَكُنْ أَتَكَلَّمُ فِي الصَّفِّ أَبَدًا، لِذٰلِكَ اقْتَرَحَتْ مُعَلِّمَتِي أَنْ أَنْضَمَّ إِلَى نَادِي المَسْرَحِ. صَحِيحٌ أَنِّي كُنْتُ خَائِفًا فِي أَوَّلِ تَدْرِيبٍ، غَيْرَ أَنَّ الطُّلَّابَ الآخَرِينَ كَانُوا لُطَفَاءَ جِدًّا. بِالإِضَافَةِ إِلَى ذٰلِكَ، أَعْطَانِي المُعَلِّمُ دَوْرًا صَغِيرًا، ثُمَّ دَوْرًا أَكْبَرَ فِي المَسْرَحِيَّةِ الأَخِيرَةِ. تَغَيَّرْتُ لِأَنِّي وَقَفْتُ أَمَامَ النَّاسِ كُلَّ أُسْبُوعٍ. أَمَّا الآنَ فَأَنَا أَكْثَرُ ثِقَةً، وَأُشَارِكُ فِي النِّقَاشَاتِ بِسُهُولَةٍ.</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year changed my personality a lot · D: at first I was very shy and never spoke in class, so my teacher suggested I join the drama club; I was afraid at the first rehearsal, but the other students were very kind; in addition, the teacher gave me a small part, then a bigger one in the last play · R: I changed because I stood in front of people every week · F: now I am more confident and join discussions easily.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البِدَايَةِ كُنْتُ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اقْتَرَحَتْ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أَنِّي … غَيْرَ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الآنَ فَأَنَا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TB-L12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TB-L11 · Writing Practice Room — Mixed Topic B: All About Me</dc:title>
  <dc:subject>PptxGenJS Presentation</dc:subject>
  <dc:creator>Al Madina Online School · Arabic Department</dc:creator>
  <cp:lastModifiedBy>Al Madina Online School · Arabic Department</cp:lastModifiedBy>
  <cp:revision>1</cp:revision>
  <dcterms:created xsi:type="dcterms:W3CDTF">2026-10-25T14:42:42Z</dcterms:created>
  <dcterms:modified xsi:type="dcterms:W3CDTF">2026-10-25T14:42:42Z</dcterms:modified>
</cp:coreProperties>
</file>