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B · Personal and Social Life, Lesson 12 (Topic B Review — mock exam practice, TB-L12) — new role plays and questions (not the ones in the Exam Practice workshop), using the lesson’s language (all of Topic B: pronouns and agreement, iḍāfa and the dual, colours, yūjadu / tūjadu, comparatives, verbal nouns, the past and future, polite responses, concessions).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اسْمُكِ · أَنْتِ · عَائِلَتِكِ · صِفِي شَخْصِيَّتَكِ · تُحِبِّينَ · تَفْعَلِي · تُفَضِّلِينَ — and the Speaker says بِرِيطَانِيَّةٌ · الكُبْرَى · هَادِئَةٌ وَمُرَتَّبَةٌ.
Topic B mix: nationality + origin · family (the dual ukhtāni, al-akbar) · personality · verbal nouns for hobbies · preference +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أَنْتِ بِنْتُ أُخْتِ العَرِيسِ · تَجِدِينَ · حَضَرْتِ · عِشْتِ · حَيَاتُكِ.
Topic B mix at Stretch level: family relationships (iḍāfa chains) · colour agreement · comparison (aṣghar wa-ahdaʾ) · accepting · law … la- + ṣaḥīḥun anna … ghayra anna.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GUIDED PRACTICE  ·  TB-L12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TB-L12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Topic B Review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مُرَاجَعَةُ المِحْوَرِ الثَّانِي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The last Topic B practice room before the mock: students run their own speaking practice using everything from the topic — a word warm-up, the answer ladder, two mixed role plays (a homestay application, at a family wedding abroad), a conversation with A-R-E-T across all of Topic B, and a one-minute talk.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Advanced Topic B · Personal and Social Life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TB-L12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B: me, my family, my home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وَعَائِلَتِي وَبَيْتِي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L01 identity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بِرِيطَانِيٌّ وَأَصْلِي مِنْ مِصْرَ</a:t>
            </a:r>
            <a:endParaRPr lang="ar-SA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am British, from an Egyptian family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a-nā bi-rī-ṭā-niy-yun wa-ʾaṣ-lī min miṣ-ra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238744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8284464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بِرِيطَانِيَّةٌ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82312" y="1938528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82312" y="1938528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L02 family · dual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أُخْتَانِ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have two sisters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ʿin-dī ukh-tā-ni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cousin</a:t>
            </a:r>
            <a:endParaRPr lang="en-US" sz="700" dirty="0"/>
          </a:p>
        </p:txBody>
      </p:sp>
      <p:sp>
        <p:nvSpPr>
          <p:cNvPr id="38" name="Text 35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ابْنُ عَمِّي</a:t>
            </a:r>
            <a:endParaRPr lang="ar-SA" sz="1350" dirty="0"/>
          </a:p>
        </p:txBody>
      </p:sp>
      <p:sp>
        <p:nvSpPr>
          <p:cNvPr id="39" name="Shape 36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brothers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أَخَوَانِ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L03 personality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صَارِمًا، بَلْ لَطِيفٌ</a:t>
            </a:r>
            <a:endParaRPr lang="ar-SA" sz="3000" dirty="0"/>
          </a:p>
        </p:txBody>
      </p:sp>
      <p:sp>
        <p:nvSpPr>
          <p:cNvPr id="50" name="Text 47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 isn’t strict, but kind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lay-sa ṣā-ri-man, bal la-ṭī-fun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53" name="Text 50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لَسْتُ</a:t>
            </a:r>
            <a:endParaRPr lang="ar-SA" sz="1500" dirty="0"/>
          </a:p>
        </p:txBody>
      </p:sp>
      <p:sp>
        <p:nvSpPr>
          <p:cNvPr id="54" name="Shape 51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لَيْسَتْ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604504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604504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L04 home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4" name="Text 61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· تُوجَدُ</a:t>
            </a:r>
            <a:endParaRPr lang="ar-SA" sz="3000" dirty="0"/>
          </a:p>
        </p:txBody>
      </p:sp>
      <p:sp>
        <p:nvSpPr>
          <p:cNvPr id="65" name="Text 62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there is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yū-ja-du · tū-ja-du</a:t>
            </a:r>
            <a:endParaRPr lang="en-US" sz="1350" dirty="0"/>
          </a:p>
        </p:txBody>
      </p:sp>
      <p:sp>
        <p:nvSpPr>
          <p:cNvPr id="66" name="Shape 63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not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8284464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يُوجَدُ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782312" y="4279392"/>
            <a:ext cx="158008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782312" y="4279392"/>
            <a:ext cx="1580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L05 attached pronouns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نَسْتَعْمِلُهُ · نَسْتَعْمِلُهَا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use it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nas-taʿ-mi-lu-hu · nas-taʿ-mi-lu-hā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960120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60120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L06 colours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أَحْمَرُ · حَمْرَاءُ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red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aḥ-ma-ru · ḥam-rā-ʾu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brown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بُنِّيٌّ · بُنِّيَّةٌ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blue</a:t>
            </a:r>
            <a:endParaRPr lang="en-US" sz="700" dirty="0"/>
          </a:p>
        </p:txBody>
      </p:sp>
      <p:sp>
        <p:nvSpPr>
          <p:cNvPr id="92" name="Text 89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أَزْرَقُ · زَرْقَاءُ</a:t>
            </a:r>
            <a:endParaRPr lang="ar-SA" sz="1350" dirty="0"/>
          </a:p>
        </p:txBody>
      </p:sp>
      <p:sp>
        <p:nvSpPr>
          <p:cNvPr id="93" name="Text 9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B: free time, invitations and top-band structures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وَقْتُ الفَرَاغِ وَالجُمَلُ المُتَقَدِّمَةُ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L07 shopping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أَرْخَصُ مِنْ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cheaper than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ar-kha-ṣu min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much?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بِكَمْ؟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dearer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أَغْلَى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L08 hobbies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أَسْتَطِيعُ أَنْ أَسْبَحَ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can swim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as-ta-ṭī-ʿu an as-ba-ḥa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4416552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471416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not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4462272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أَسْتَطِيعُ أَنْ أَعْزِفَ</a:t>
            </a:r>
            <a:endParaRPr lang="ar-SA" sz="1500" dirty="0"/>
          </a:p>
        </p:txBody>
      </p:sp>
      <p:sp>
        <p:nvSpPr>
          <p:cNvPr id="42" name="Shape 39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L09 invitations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أَدْعُوكَ إِلَى حَفْلَتِي</a:t>
            </a:r>
            <a:endParaRPr lang="ar-SA" sz="3000" dirty="0"/>
          </a:p>
        </p:txBody>
      </p:sp>
      <p:sp>
        <p:nvSpPr>
          <p:cNvPr id="50" name="Text 47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invite you to my party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ad-ʿū-ka i-lā ḥaf-la-tī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3" name="Text 50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أَدْعُوكُمْ</a:t>
            </a:r>
            <a:endParaRPr lang="ar-SA" sz="1500" dirty="0"/>
          </a:p>
        </p:txBody>
      </p:sp>
      <p:sp>
        <p:nvSpPr>
          <p:cNvPr id="54" name="Shape 51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أَدْعُوكِ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L09 declining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4" name="Text 61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آسِفٌ، لَا أَسْتَطِيعُ أَنْ آتِيَ</a:t>
            </a:r>
            <a:endParaRPr lang="ar-SA" sz="3000" dirty="0"/>
          </a:p>
        </p:txBody>
      </p:sp>
      <p:sp>
        <p:nvSpPr>
          <p:cNvPr id="65" name="Text 62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sorry, I can’t come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ā-si-fun, lā as-ta-ṭī-ʿu an ā-ti-ya</a:t>
            </a:r>
            <a:endParaRPr lang="en-US" sz="1350" dirty="0"/>
          </a:p>
        </p:txBody>
      </p:sp>
      <p:sp>
        <p:nvSpPr>
          <p:cNvPr id="66" name="Shape 63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8284464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آسِفَةٌ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sequencing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· ثُمَّ · أَخِيرًا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first · then · finally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aw-wa-lan · thum-ma · a-khī-ran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960120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60120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concession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is true that … but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ṣa-ḥī-ḥun an-na … ghay-ra an-na …</a:t>
            </a:r>
            <a:endParaRPr lang="en-US" sz="1350" dirty="0"/>
          </a:p>
        </p:txBody>
      </p:sp>
      <p:sp>
        <p:nvSpPr>
          <p:cNvPr id="87" name="Text 8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“Who is the most important person in your life?”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أَهَمُّ شَخْصٍ فِي حَيَاتِكَ؟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أَهَمُّ شَخْصٍ فِي حَيَاتِي هُوَ جَدِّي.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most important person in my life is my grandfather.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أَهَمُّ شَخْصٍ فِي حَيَاتِي هُوَ جَدِّي، لِأَنَّهُ عَلَّمَنِي أَشْيَاءَ كَثِيرَةً.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he taught me many things.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هُوَ طَوِيلٌ وَشَعْرُهُ أَبْيَضُ، وَهُوَ صَبُورٌ وَمَرِحٌ؛ نَلْعَبُ الشِّطْرَنْجَ مَعًا كُلَّ أُسْبُوعٍ.</a:t>
            </a:r>
            <a:endParaRPr lang="ar-SA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he is tall with white hair, patient and fun; we play chess together every week.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صَحِيحٌ أَنَّهُ يَسْكُنُ بَعِيدًا، غَيْرَ أَنِّي أَتَّصِلُ بِهِ كُلَّ يَوْمٍ، وَفِي الصَّيْفِ سَأَزُورُهُ.</a:t>
            </a:r>
            <a:endParaRPr lang="ar-SA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it’s true he lives far away, but I call him every day, and in summer I will visit him.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كُنَّا نَسْكُنُ … / سَنَنْتَقِلُ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وَغُرْفَتِي … لِأَنَّ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فِي … ؛ يُوجَدُ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بَيْتَكَ وَغُرْفَتَكَ.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نِهَايَةِ الأُسْبُوعِ المَاضِي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وَقْتِ الفَرَاغِ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فِي وَقْتِ الفَرَاغِ؟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اشْتَرَيْتُ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 مَلَابِسِكَ المُفَضَّلُ؟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المُنَاسَبَةِ القَادِمَةِ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أَوَّلًا … ثُمَّ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احْتَفَلْتُ بِعِيدِ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احْتَفَلْتَ بِآخِرِ مُنَاسَبَةٍ؟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A homestay application</a:t>
            </a:r>
            <a:endParaRPr lang="en-US" sz="26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طَلَبُ إِقَامَةٍ عِنْدَ أُسْرَةٍ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· مِنْ أَيْنَ ← اسْمِي … وَأَنَا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name and nationality.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اسْمُكَ وَمِنْ أَيْنَ أَنْتَ؟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← عِنْدِي … وَ…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family briefly.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فِي عَائِلَتِكَ؟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← أَنَا … وَ…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qualities.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شَخْصِيَّتَكَ.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أُحِبُّ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hobbies.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تُحِبُّ أَنْ تَفْعَلَ فِي وَقْتِ الفَرَاغِ؟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 ← أُفَضِّلُ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with a reason.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غُرْفَةً وَحْدَكَ أَمْ مَعَ طَالِبٍ آخَرَ؟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student applying · Leader = the homestay coordinator.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At a family wedding abroad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زِفَافٍ عَائِلِيٍّ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the family relationship and introduce yourself.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أَنْتَ ابْنُ أُخْتِ العَرِيسِ، أَلَيْسَ كَذٰلِكَ؟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wedding (colours, music) with an opinion.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تَجِدُ الزِّفَافَ؟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with a wedding you attended (past + comparison).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حَضَرْتَ زِفَافًا فِي بِرِيطَانِيَا؟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Accept and ASK a question.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سَنَزُورُ الأَهْرَامَاتِ غَدًا مَعَ العَائِلَةِ.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 + concession).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عِشْتَ فِي مِصْرَ، هَلْ تَتَغَيَّرُ حَيَاتُكَ؟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teenager from Britain · Leader = a relative you have just met.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مُحَادَثَةٌ عَنْ كُلِّ المِحْوَرِ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عُمْرُهُمْ؟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brothers and sisters do you have?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أَخًا وَأُخْتًا عِنْدَكَ؟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 الجُدْرَانِ؟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room.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غُرْفَتَكَ.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تَفْعَلَانِ مَعًا؟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you meet your best friend?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تَعَرَّفْتَ عَلَى أَعَزِّ أَصْدِقَائِكَ؟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وَمِنْ أَيْنَ اشْتَرَيْتَهُ؟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did you wear at the last party?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لَبِسْتَ فِي آخِرِ حَفْلَةٍ؟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وَلٰكِنْ …؟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family more important than friends, in your opinion?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العَائِلَةُ أَهَمُّ مِنَ الأَصْدِقَاءِ فِي رَأْيِكَ؟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وَلِمَاذَا؟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could change one thing about yourself, what would it be?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اسْتَطَعْتَ أَنْ تُغَيِّرَ شَيْئًا فِي نَفْسِكَ، مَاذَا تُغَيِّرُ؟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me and my world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وَعَالَمِي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linking all of Topic B: who you are, your family and friends, your home, your free time — and a celebration you remember.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one sentence for each theme (me · family · home · hobbies).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reasons, a description with agreement, and a past celebration.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add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… أَمَّا الآنَ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…, a concession and a future plan.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سَأَتَكَلَّمُ عَنْ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going to talk about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with Topic B vocabulary and correct agreement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the past, present and future in the same conversation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اسْمِي سَامِي، وَأَنَا بِرِيطَانِيٌّ مِنْ أَصْلٍ لِيبِيٍّ.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name is Sami, and I am British of Libyan origin.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اسْمُكَ وَمِنْ أَيْنَ أَنْتَ؟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أَخٌ وَأُخْتَانِ، وَأَنَا الأَكْبَرُ.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a brother and two sisters, and I am the eldest.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فِي عَائِلَتِكَ؟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هَادِئٌ وَمُرَتَّبٌ.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calm and tidy.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شَخْصِيَّتَكَ.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السِّبَاحَةَ وَالرَّسْمَ.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swimming and drawing.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تُحِبُّ أَنْ تَفْعَلَ فِي وَقْتِ الفَرَاغِ؟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غُرْفَةً مَعَ طَالِبٍ آخَرَ، لِأَنِّي أُرِيدُ أَنْ أَتَكَلَّمَ العَرَبِيَّةَ أَكْثَرَ.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a room with another student, because I want to speak more Arabic.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غُرْفَةً وَحْدَكَ أَمْ مَعَ طَالِبٍ آخَرَ؟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أُمِّي أُخْتُ العَرِيسِ الكُبْرَى، وَأَنَا أَسْكُنُ فِي بِرِيطَانِيَا مُنْذُ وِلَادَتِي.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my mother is the groom’s older sister, and I have lived in Britain since I was born.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أَنْتَ ابْنُ أُخْتِ العَرِيسِ، أَلَيْسَ كَذٰلِكَ؟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الزِّفَافُ رَائِعٌ! القَاعَةُ بَيْضَاءُ وَذَهَبِيَّةٌ، وَالمُوسِيقَى جَمِيلَةٌ، لٰكِنَّهَا عَالِيَةٌ قَلِيلًا.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wedding is wonderful! The hall is white and gold, and the music is lovely, but a bit loud.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تَجِدُ الزِّفَافَ؟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حَضَرْتُ زِفَافَ صَدِيقِ أَبِي، وَكَانَ أَصْغَرَ وَأَهْدَأَ مِنْ هٰذَا الزِّفَافِ.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attended my dad’s friend’s wedding — it was smaller and quieter than this one.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حَضَرْتَ زِفَافًا فِي بِرِيطَانِيَا؟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بِكُلِّ سُرُورٍ! فِي أَيِّ سَاعَةٍ سَنَنْطَلِقُ؟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With pleasure! What time will we set off?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سَنَزُورُ الأَهْرَامَاتِ غَدًا مَعَ العَائِلَةِ.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عِشْتُ هُنَا، لَرَأَيْتُ عَائِلَتِي أَكْثَرَ؛ صَحِيحٌ أَنَّ الطَّقْسَ حَارٌّ جِدًّا، غَيْرَ أَنَّ النَّاسَ كُرَمَاءُ وَقَرِيبُونَ.</a:t>
            </a:r>
            <a:endParaRPr lang="ar-SA" sz="16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lived here I would see my family more — the weather is very hot, but people are generous and close.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عِشْتَ فِي مِصْرَ، هَلْ تَتَغَيَّرُ حَيَاتُكَ؟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تَعَرَّفْتُ عَلَيْهِ فِي نَادِي السِّبَاحَةِ قَبْلَ ثَلَاثِ سَنَوَاتٍ، لِأَنَّنَا كُنَّا فِي المَجْمُوعَةِ نَفْسِهَا؛ الآنَ نَتَدَرَّبُ مَعًا مَرَّتَيْنِ فِي الأُسْبُوعِ، وَسَنُشَارِكُ فِي مُسَابَقَةٍ فِي الشَّهْرِ القَادِمِ.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at swimming club three years ago · R: we were in the same group · E: now we train together twice a week · T: we’ll compete next month.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تَعَرَّفْتَ عَلَى أَعَزِّ أَصْدِقَائِكَ؟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لَبِسْتُ قَمِيصًا أَبْيَضَ وَبِنْطَالًا أَزْرَقَ غَامِقًا، لِأَنَّهَا كَانَتْ حَفْلَةَ تَخَرُّجِ أُخْتِي؛ اشْتَرَيْتُهُمَا مِنَ السُّوقِ، وَكَانَا أَرْخَصَ مِنَ المَحَلَّاتِ الكَبِيرَةِ.</a:t>
            </a:r>
            <a:endParaRPr lang="ar-SA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a white shirt and dark blue trousers · R: my sister’s graduation · E: bought at the market — cheaper than big shops.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لَبِسْتَ فِي آخِرِ حَفْلَةٍ؟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الأَصْدِقَاءَ يَفْهَمُونَنَا، لِأَنَّهُمْ فِي عُمْرِنَا، غَيْرَ أَنَّ العَائِلَةَ تَبْقَى دَائِمًا؛ مَثَلًا عِنْدَمَا انْتَقَلْنَا إِلَى مَدِينَةٍ جَدِيدَةٍ، تَغَيَّرَ أَصْدِقَائِي، أَمَّا عَائِلَتِي فَبَقِيَتْ مَعِي.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Concession: friends understand us because they’re our age, but family stays forever · E: when we moved city my friends changed, but my family stayed with me.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العَائِلَةُ أَهَمُّ مِنَ الأَصْدِقَاءِ فِي رَأْيِكَ؟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TB-L12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TB-L12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TB-L12 · Speaking Practice Room — Topic B Review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2026-10-25T14:42:47Z</dcterms:created>
  <dcterms:modified xsi:type="dcterms:W3CDTF">2026-10-25T14:42:47Z</dcterms:modified>
</cp:coreProperties>
</file>