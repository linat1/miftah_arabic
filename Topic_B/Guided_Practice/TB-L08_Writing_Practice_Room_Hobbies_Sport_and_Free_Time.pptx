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PRACTICE ROOM AT A GLANCE — 55–60 minutes; short launch in the main room, then writing pairs in breakout rooms (each student writes their OWN text; the buddy checks), back together to compare.
0–2 Welcome · 2–5 How the room works · ROOMS: Step 1 Q1 warm-up (4) · Step 2 Decode the Q2 task (6) · Step 3 Upgrade sentences (6) · Step 4 Write Q2 + buddy swap (14) · Step 5 Spot and fix + buddy check (6) · Step 6 One Q3 paragraph (10) · back together: Check yourself (5) · Self-check + close (2).
PURPOSE: students learn a REPEATABLE PROCESS for Paper 4 (decode → plan → write → check) and write independently, with support that fades.
CONTENT: Advanced Topic B · Personal and Social Life, Lesson 8 (Hobbies, Sport and Free Time, TB-L08) — new writing tasks (not the Exam Practice workshop tasks).
WHERE TO WRITE: a page in the class notebook / a shared document (each student their own), or paper + a photo to the teacher. Buddies read each other’s page in Step 4 and Step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(2 min). Show where students write. Then open the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Personal answers, so no single model: the buddy checks meaning and spelling. Core: boxes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(2 min). Missing a bullet is the most common way to lose marks in Q2 — decoding stops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 read the task. Then decode it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(3 min). Students decode in pairs; Core students may use the English on the task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answers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(2 min). Each line adds ONE thing. Students will do the same with their own sentences in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support. Core: use the Core frames for every bullet. Develop: use the Develop frames only if stuck. Stretch: no frames — add a contrast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(14 min). Teacher visits each room and reads ONE paragraph per student: one correction, one praise.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(2 min). One paragraph done well is the building block of Q3: four paragraphs like this = a full Q3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(8 min). Core: 3–4 sentences using the bank. Develop: the full formula. Stretch: the formula + a contrast and a future link. Homework: write the other three paragraphs.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(85 words). CHECK YOURSELF (3 min, main room or rooms). Find the four bullets. Then each student copies ONE phrase from the model into their own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(63 words). CHECK YOURSELF (2 min). Students label T, D, R and F in the model, then in their own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B · GUIDED PRACTICE  ·  TB-L08</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TB-L08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Practice Room — Hobbies, Sport and Free Time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الكِتَابَةِ — الهِوَايَاتُ وَوَقْتُ الفَرَاغِ</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practise the writing process in breakout rooms: a Q1 warm-up, decoding a new Q2 task (an email about a sports competition), upgrading sentences, writing with a buddy, spotting and fixing errors, and one Q3 paragraph with the T-D-R-F formula.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TB-L08 · Advanced Topic B · Personal and Social Life · guided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B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B › TB-L08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TB-L08</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Six steps to a strong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TB-L08</a:t>
            </a:r>
            <a:endParaRPr lang="en-US" sz="850" dirty="0"/>
          </a:p>
        </p:txBody>
      </p:sp>
      <p:sp>
        <p:nvSpPr>
          <p:cNvPr id="15" name="Shape 12"/>
          <p:cNvSpPr/>
          <p:nvPr/>
        </p:nvSpPr>
        <p:spPr>
          <a:xfrm>
            <a:off x="45720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552956"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142238"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14223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1: Q1 form warm-up.</a:t>
            </a:r>
            <a:endParaRPr lang="en-US" sz="1200" dirty="0"/>
          </a:p>
        </p:txBody>
      </p:sp>
      <p:sp>
        <p:nvSpPr>
          <p:cNvPr id="22" name="Text 19"/>
          <p:cNvSpPr txBox="1"/>
          <p:nvPr/>
        </p:nvSpPr>
        <p:spPr>
          <a:xfrm>
            <a:off x="54864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الاسْتِمَارَةُ</a:t>
            </a:r>
            <a:endParaRPr lang="ar-SA" sz="1500" dirty="0"/>
          </a:p>
        </p:txBody>
      </p:sp>
      <p:sp>
        <p:nvSpPr>
          <p:cNvPr id="23" name="Shape 20"/>
          <p:cNvSpPr/>
          <p:nvPr/>
        </p:nvSpPr>
        <p:spPr>
          <a:xfrm>
            <a:off x="2357628"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467356" y="1938528"/>
            <a:ext cx="1552956"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503932"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503932"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27" name="Shape 24"/>
          <p:cNvSpPr/>
          <p:nvPr/>
        </p:nvSpPr>
        <p:spPr>
          <a:xfrm>
            <a:off x="3042666"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04266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485644"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2: decode the question.</a:t>
            </a:r>
            <a:endParaRPr lang="en-US" sz="1200" dirty="0"/>
          </a:p>
        </p:txBody>
      </p:sp>
      <p:sp>
        <p:nvSpPr>
          <p:cNvPr id="30" name="Text 27"/>
          <p:cNvSpPr txBox="1"/>
          <p:nvPr/>
        </p:nvSpPr>
        <p:spPr>
          <a:xfrm>
            <a:off x="2449068"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افْهَمِ السُّؤَالَ</a:t>
            </a:r>
            <a:endParaRPr lang="ar-SA" sz="1500" dirty="0"/>
          </a:p>
        </p:txBody>
      </p:sp>
      <p:sp>
        <p:nvSpPr>
          <p:cNvPr id="31" name="Shape 28"/>
          <p:cNvSpPr/>
          <p:nvPr/>
        </p:nvSpPr>
        <p:spPr>
          <a:xfrm>
            <a:off x="4258056"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67784" y="1938528"/>
            <a:ext cx="1552956"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4404360"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4404360"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35" name="Shape 32"/>
          <p:cNvSpPr/>
          <p:nvPr/>
        </p:nvSpPr>
        <p:spPr>
          <a:xfrm>
            <a:off x="4943094"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9430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4386072"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3: upgrade your sentences.</a:t>
            </a:r>
            <a:endParaRPr lang="en-US" sz="1200" dirty="0"/>
          </a:p>
        </p:txBody>
      </p:sp>
      <p:sp>
        <p:nvSpPr>
          <p:cNvPr id="38" name="Text 35"/>
          <p:cNvSpPr txBox="1"/>
          <p:nvPr/>
        </p:nvSpPr>
        <p:spPr>
          <a:xfrm>
            <a:off x="4349496"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حَسِّنْ جُمَلَكَ</a:t>
            </a:r>
            <a:endParaRPr lang="ar-SA" sz="1500" dirty="0"/>
          </a:p>
        </p:txBody>
      </p:sp>
      <p:sp>
        <p:nvSpPr>
          <p:cNvPr id="39" name="Shape 36"/>
          <p:cNvSpPr/>
          <p:nvPr/>
        </p:nvSpPr>
        <p:spPr>
          <a:xfrm>
            <a:off x="6158484"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268212" y="1938528"/>
            <a:ext cx="1552956"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6304788"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6304788"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43" name="Shape 40"/>
          <p:cNvSpPr/>
          <p:nvPr/>
        </p:nvSpPr>
        <p:spPr>
          <a:xfrm>
            <a:off x="68435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68435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6286500"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4: write Q2, then swap with your buddy.</a:t>
            </a:r>
            <a:endParaRPr lang="en-US" sz="1200" dirty="0"/>
          </a:p>
        </p:txBody>
      </p:sp>
      <p:sp>
        <p:nvSpPr>
          <p:cNvPr id="46" name="Text 43"/>
          <p:cNvSpPr txBox="1"/>
          <p:nvPr/>
        </p:nvSpPr>
        <p:spPr>
          <a:xfrm>
            <a:off x="6249924"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8058912"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168640" y="1938528"/>
            <a:ext cx="155295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8205216"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8205216"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8743950"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874395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8186928"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5: spot and fix · buddy check.</a:t>
            </a:r>
            <a:endParaRPr lang="en-US" sz="1200" dirty="0"/>
          </a:p>
        </p:txBody>
      </p:sp>
      <p:sp>
        <p:nvSpPr>
          <p:cNvPr id="54" name="Text 51"/>
          <p:cNvSpPr txBox="1"/>
          <p:nvPr/>
        </p:nvSpPr>
        <p:spPr>
          <a:xfrm>
            <a:off x="8150352"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صَحِّحْ</a:t>
            </a:r>
            <a:endParaRPr lang="ar-SA" sz="1500" dirty="0"/>
          </a:p>
        </p:txBody>
      </p:sp>
      <p:sp>
        <p:nvSpPr>
          <p:cNvPr id="55" name="Shape 52"/>
          <p:cNvSpPr/>
          <p:nvPr/>
        </p:nvSpPr>
        <p:spPr>
          <a:xfrm>
            <a:off x="995934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10069068" y="1938528"/>
            <a:ext cx="1552956" cy="566928"/>
          </a:xfrm>
          <a:prstGeom prst="roundRect">
            <a:avLst>
              <a:gd name="adj" fmla="val 9677"/>
            </a:avLst>
          </a:prstGeom>
          <a:solidFill>
            <a:srgbClr val="1E6B52"/>
          </a:solidFill>
          <a:ln w="12700">
            <a:solidFill>
              <a:srgbClr val="1E6B52"/>
            </a:solidFill>
            <a:prstDash val="solid"/>
          </a:ln>
        </p:spPr>
      </p:sp>
      <p:sp>
        <p:nvSpPr>
          <p:cNvPr id="57" name="Text 54"/>
          <p:cNvSpPr txBox="1"/>
          <p:nvPr/>
        </p:nvSpPr>
        <p:spPr>
          <a:xfrm>
            <a:off x="1010564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8" name="Text 55"/>
          <p:cNvSpPr txBox="1"/>
          <p:nvPr/>
        </p:nvSpPr>
        <p:spPr>
          <a:xfrm>
            <a:off x="1010564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59" name="Shape 56"/>
          <p:cNvSpPr/>
          <p:nvPr/>
        </p:nvSpPr>
        <p:spPr>
          <a:xfrm>
            <a:off x="10644378"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1064437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1008735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6: one Q3 paragraph.</a:t>
            </a:r>
            <a:endParaRPr lang="en-US" sz="1200" dirty="0"/>
          </a:p>
        </p:txBody>
      </p:sp>
      <p:sp>
        <p:nvSpPr>
          <p:cNvPr id="62" name="Text 59"/>
          <p:cNvSpPr txBox="1"/>
          <p:nvPr/>
        </p:nvSpPr>
        <p:spPr>
          <a:xfrm>
            <a:off x="1005078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فِقْرَةٌ</a:t>
            </a:r>
            <a:endParaRPr lang="ar-SA" sz="1500" dirty="0"/>
          </a:p>
        </p:txBody>
      </p:sp>
      <p:sp>
        <p:nvSpPr>
          <p:cNvPr id="63" name="Shape 60"/>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65" name="Text 62"/>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Everyone writes their own answer. Your buddy reads it and checks it with the checklist. The models come at the very end — try first!</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WRITING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alone, check together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TB-L08</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HOW IT WORKS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Rooms of two or three. Each person writes their OWN answer on their own page.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keeps the time for each step and moves the room on.</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BUDDY — after each writing step, swap pages and check with the checklist (Step 5).</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Try every step BEFORE you look at a model. The models are at the end.</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PROCESS YOU WILL USE IN THE EXAM</a:t>
            </a:r>
            <a:endParaRPr lang="en-US" sz="1000" dirty="0"/>
          </a:p>
        </p:txBody>
      </p:sp>
      <p:sp>
        <p:nvSpPr>
          <p:cNvPr id="31" name="Text 28"/>
          <p:cNvSpPr txBox="1"/>
          <p:nvPr/>
        </p:nvSpPr>
        <p:spPr>
          <a:xfrm>
            <a:off x="6949440" y="2194560"/>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افْهَمْ ← خَطِّطْ ← اكْتُبْ ← رَاجِعْ</a:t>
            </a:r>
            <a:endParaRPr lang="ar-SA" sz="2800" dirty="0"/>
          </a:p>
        </p:txBody>
      </p:sp>
      <p:sp>
        <p:nvSpPr>
          <p:cNvPr id="32" name="Text 29"/>
          <p:cNvSpPr txBox="1"/>
          <p:nvPr/>
        </p:nvSpPr>
        <p:spPr>
          <a:xfrm>
            <a:off x="6949440" y="3336463"/>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decode → plan → write → check</a:t>
            </a:r>
            <a:endParaRPr lang="en-US" sz="1100" dirty="0"/>
          </a:p>
        </p:txBody>
      </p:sp>
      <p:sp>
        <p:nvSpPr>
          <p:cNvPr id="33" name="Shape 30"/>
          <p:cNvSpPr/>
          <p:nvPr/>
        </p:nvSpPr>
        <p:spPr>
          <a:xfrm>
            <a:off x="6995160" y="4215384"/>
            <a:ext cx="4553712" cy="0"/>
          </a:xfrm>
          <a:prstGeom prst="line">
            <a:avLst/>
          </a:prstGeom>
          <a:noFill/>
          <a:ln w="9525">
            <a:solidFill>
              <a:srgbClr val="E4DCCB"/>
            </a:solidFill>
            <a:prstDash val="dash"/>
          </a:ln>
        </p:spPr>
      </p:sp>
      <p:sp>
        <p:nvSpPr>
          <p:cNvPr id="34" name="Text 31"/>
          <p:cNvSpPr txBox="1"/>
          <p:nvPr/>
        </p:nvSpPr>
        <p:spPr>
          <a:xfrm>
            <a:off x="6949440" y="4233672"/>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نُقْطَةٌ وَاحِدَةٌ = فِقْرَةٌ وَاحِدَةٌ</a:t>
            </a:r>
            <a:endParaRPr lang="ar-SA" sz="2800" dirty="0"/>
          </a:p>
        </p:txBody>
      </p:sp>
      <p:sp>
        <p:nvSpPr>
          <p:cNvPr id="35" name="Text 32"/>
          <p:cNvSpPr txBox="1"/>
          <p:nvPr/>
        </p:nvSpPr>
        <p:spPr>
          <a:xfrm>
            <a:off x="6949440" y="5375575"/>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bullet point = one paragraph</a:t>
            </a:r>
            <a:endParaRPr lang="en-US" sz="11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1 · Q1 WARM-UP · 4 MINUTES · A SHORT ANSWER IN EACH BOX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Leisure centre membership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الاشْتِرَاكُ فِي المَرْكَزِ التَّرْفِيهِيِّ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99832" y="1810512"/>
            <a:ext cx="3858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Tip</a:t>
            </a:r>
            <a:endParaRPr lang="en-US" sz="1100" dirty="0"/>
          </a:p>
        </p:txBody>
      </p:sp>
      <p:sp>
        <p:nvSpPr>
          <p:cNvPr id="17" name="Text 14"/>
          <p:cNvSpPr txBox="1"/>
          <p:nvPr/>
        </p:nvSpPr>
        <p:spPr>
          <a:xfrm>
            <a:off x="48737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7836408" y="2267712"/>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name + family name.</a:t>
            </a:r>
            <a:endParaRPr lang="en-US" sz="1100" dirty="0"/>
          </a:p>
        </p:txBody>
      </p:sp>
      <p:sp>
        <p:nvSpPr>
          <p:cNvPr id="22" name="Text 19"/>
          <p:cNvSpPr txBox="1"/>
          <p:nvPr/>
        </p:nvSpPr>
        <p:spPr>
          <a:xfrm>
            <a:off x="4910328" y="226771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a:t>
            </a:r>
            <a:endParaRPr lang="ar-SA" sz="1700" dirty="0"/>
          </a:p>
        </p:txBody>
      </p:sp>
      <p:sp>
        <p:nvSpPr>
          <p:cNvPr id="24" name="Text 21"/>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7818120" y="2881884"/>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خَمْسَ عَشْرَةَ سَنَةً</a:t>
            </a:r>
            <a:endParaRPr lang="ar-SA" sz="2000" dirty="0"/>
          </a:p>
        </p:txBody>
      </p:sp>
      <p:sp>
        <p:nvSpPr>
          <p:cNvPr id="29" name="Text 26"/>
          <p:cNvSpPr txBox="1"/>
          <p:nvPr/>
        </p:nvSpPr>
        <p:spPr>
          <a:xfrm>
            <a:off x="4910328" y="2881884"/>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Age</a:t>
            </a:r>
            <a:endParaRPr lang="en-US" sz="1100" dirty="0"/>
          </a:p>
        </p:txBody>
      </p:sp>
      <p:sp>
        <p:nvSpPr>
          <p:cNvPr id="30" name="Text 27"/>
          <p:cNvSpPr txBox="1"/>
          <p:nvPr/>
        </p:nvSpPr>
        <p:spPr>
          <a:xfrm>
            <a:off x="1051560" y="2881884"/>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العُمُرُ</a:t>
            </a:r>
            <a:endParaRPr lang="ar-SA" sz="1700" dirty="0"/>
          </a:p>
        </p:txBody>
      </p:sp>
      <p:sp>
        <p:nvSpPr>
          <p:cNvPr id="31" name="Text 28"/>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7836408" y="3496056"/>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verbal noun: </a:t>
            </a:r>
            <a:pPr algn="l" indent="0" marL="0">
              <a:buNone/>
            </a:pPr>
            <a:r>
              <a:rPr lang="ar-SA" altLang="en-US" sz="1450" dirty="0">
                <a:solidFill>
                  <a:srgbClr val="5A6472"/>
                </a:solidFill>
                <a:latin typeface="Amiri" pitchFamily="2" charset="-78"/>
                <a:ea typeface="Amiri" pitchFamily="2" charset="-78"/>
                <a:cs typeface="Amiri" pitchFamily="2" charset="-78"/>
              </a:rPr>
              <a:t>السِّبَاحَةُ</a:t>
            </a:r>
            <a:endParaRPr lang="en-US" sz="1100" dirty="0"/>
          </a:p>
        </p:txBody>
      </p:sp>
      <p:sp>
        <p:nvSpPr>
          <p:cNvPr id="36" name="Text 33"/>
          <p:cNvSpPr txBox="1"/>
          <p:nvPr/>
        </p:nvSpPr>
        <p:spPr>
          <a:xfrm>
            <a:off x="4910328" y="3496056"/>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Activity wanted</a:t>
            </a:r>
            <a:endParaRPr lang="en-US" sz="1100" dirty="0"/>
          </a:p>
        </p:txBody>
      </p:sp>
      <p:sp>
        <p:nvSpPr>
          <p:cNvPr id="37" name="Text 34"/>
          <p:cNvSpPr txBox="1"/>
          <p:nvPr/>
        </p:nvSpPr>
        <p:spPr>
          <a:xfrm>
            <a:off x="1051560" y="3496056"/>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النَّشَاطُ المَطْلُوبُ</a:t>
            </a:r>
            <a:endParaRPr lang="ar-SA" sz="1700" dirty="0"/>
          </a:p>
        </p:txBody>
      </p:sp>
      <p:sp>
        <p:nvSpPr>
          <p:cNvPr id="38" name="Text 35"/>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7818120" y="4110228"/>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مُبْتَدِئٌ · مُتَوَسِّطٌ · مُتَقَدِّمٌ</a:t>
            </a:r>
            <a:endParaRPr lang="ar-SA" sz="2000" dirty="0"/>
          </a:p>
        </p:txBody>
      </p:sp>
      <p:sp>
        <p:nvSpPr>
          <p:cNvPr id="43" name="Text 40"/>
          <p:cNvSpPr txBox="1"/>
          <p:nvPr/>
        </p:nvSpPr>
        <p:spPr>
          <a:xfrm>
            <a:off x="4910328" y="4110228"/>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Level</a:t>
            </a:r>
            <a:endParaRPr lang="en-US" sz="1100" dirty="0"/>
          </a:p>
        </p:txBody>
      </p:sp>
      <p:sp>
        <p:nvSpPr>
          <p:cNvPr id="44" name="Text 41"/>
          <p:cNvSpPr txBox="1"/>
          <p:nvPr/>
        </p:nvSpPr>
        <p:spPr>
          <a:xfrm>
            <a:off x="1051560" y="4110228"/>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المُسْتَوَى</a:t>
            </a:r>
            <a:endParaRPr lang="ar-SA" sz="1700" dirty="0"/>
          </a:p>
        </p:txBody>
      </p:sp>
      <p:sp>
        <p:nvSpPr>
          <p:cNvPr id="45" name="Text 42"/>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7818120" y="4724400"/>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السَّبْتُ وَالأَرْبِعَاءُ</a:t>
            </a:r>
            <a:endParaRPr lang="ar-SA" sz="2000" dirty="0"/>
          </a:p>
        </p:txBody>
      </p:sp>
      <p:sp>
        <p:nvSpPr>
          <p:cNvPr id="50" name="Text 47"/>
          <p:cNvSpPr txBox="1"/>
          <p:nvPr/>
        </p:nvSpPr>
        <p:spPr>
          <a:xfrm>
            <a:off x="4910328" y="4724400"/>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Days that suit you</a:t>
            </a:r>
            <a:endParaRPr lang="en-US" sz="1100" dirty="0"/>
          </a:p>
        </p:txBody>
      </p:sp>
      <p:sp>
        <p:nvSpPr>
          <p:cNvPr id="51" name="Text 48"/>
          <p:cNvSpPr txBox="1"/>
          <p:nvPr/>
        </p:nvSpPr>
        <p:spPr>
          <a:xfrm>
            <a:off x="1051560" y="4724400"/>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الأَيَّامُ المُنَاسِبَةُ</a:t>
            </a:r>
            <a:endParaRPr lang="ar-SA" sz="1700" dirty="0"/>
          </a:p>
        </p:txBody>
      </p:sp>
      <p:sp>
        <p:nvSpPr>
          <p:cNvPr id="52" name="Text 49"/>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6" name="Text 53"/>
          <p:cNvSpPr txBox="1"/>
          <p:nvPr/>
        </p:nvSpPr>
        <p:spPr>
          <a:xfrm>
            <a:off x="7818120" y="5338572"/>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أُرِيدُ أَنْ أَسْتَطِيعَ أَنْ …</a:t>
            </a:r>
            <a:endParaRPr lang="ar-SA" sz="2000" dirty="0"/>
          </a:p>
        </p:txBody>
      </p:sp>
      <p:sp>
        <p:nvSpPr>
          <p:cNvPr id="57" name="Text 54"/>
          <p:cNvSpPr txBox="1"/>
          <p:nvPr/>
        </p:nvSpPr>
        <p:spPr>
          <a:xfrm>
            <a:off x="4910328" y="533857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your goal</a:t>
            </a:r>
            <a:endParaRPr lang="en-US" sz="1100" dirty="0"/>
          </a:p>
        </p:txBody>
      </p:sp>
      <p:sp>
        <p:nvSpPr>
          <p:cNvPr id="58" name="Text 55"/>
          <p:cNvSpPr txBox="1"/>
          <p:nvPr/>
        </p:nvSpPr>
        <p:spPr>
          <a:xfrm>
            <a:off x="1051560" y="533857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هَدَفُكَ مِنَ النَّشَاطِ</a:t>
            </a:r>
            <a:endParaRPr lang="ar-SA" sz="1700" dirty="0"/>
          </a:p>
        </p:txBody>
      </p:sp>
      <p:sp>
        <p:nvSpPr>
          <p:cNvPr id="59" name="Text 56"/>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Write a word or a short phrase — about yourself. Buddy check: does each answer match exactly what the box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2 · DECODE THE QUESTION BEFORE YOU WRITE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moves to decode a question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افْهَمِ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TB-L08</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DECODE IN TWO MINUTES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WHAT do I write (an email, a message, a blog) and to WHOM (a friend → informal)?</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NUMBER the bullet points 1–4. Each one = one short paragraph.</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UNDERLINE the question word in each bullet and decide the TENSE it needs.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Write ONE idea (in English or Arabic) next to each bullet. That is your plan.</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VERB IN THE BULLET TELLS YOU THE TENSE</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فَعَلْتَ؟ ← فَعَلْتُ (المَاضِي)</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did you do? → past</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تَفْعَلُ عَادَةً؟ ← أَفْعَلُ (الحَاضِرُ)</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do you usually do? → present</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سَتَفْعَلُ؟ ← سَأَفْعَلُ (المُسْتَقْبَلُ)</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will you do? → future</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 رَأْيُكَ؟ ← فِي رَأْيِي … لِأَنَّ …</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opinion? → in my opinion … because …</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TODAY’S QUESTION 2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my first competition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أَوَّلُ مُسَابَقَةٍ لِي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TB-L08</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You took part in a competition (sport, chess, art, music …). Write an email in Arabic to your friend of about 80–90 words. You must include: • what the competition was, where and when • how you prepared for it and how often you practised • what happened on the day and the result • what you will do next with this hobby.</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شَارَكْتُ فِي مُسَابَقَةِ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took part in a … competition</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تَدَرَّبْتُ … مَرَّاتٍ فِي الأُسْبُوعِ</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trained … times a week</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يَوْمِ المُسَابَقَةِ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 the day of the competition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المُسْتَقْبَلِ أُرِيدُ 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future I want to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YOUR TURN · DECODE EACH BULLET (IN YOUR BOOK)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Decode it: question word · tense · my idea</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حَلِّلِ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idea</a:t>
            </a:r>
            <a:endParaRPr lang="en-US" sz="1100" dirty="0"/>
          </a:p>
        </p:txBody>
      </p:sp>
      <p:sp>
        <p:nvSpPr>
          <p:cNvPr id="17" name="Text 14"/>
          <p:cNvSpPr txBox="1"/>
          <p:nvPr/>
        </p:nvSpPr>
        <p:spPr>
          <a:xfrm>
            <a:off x="615391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933688" y="2267712"/>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619048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3" name="Text 20"/>
          <p:cNvSpPr txBox="1"/>
          <p:nvPr/>
        </p:nvSpPr>
        <p:spPr>
          <a:xfrm>
            <a:off x="1051560" y="2267712"/>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اكْتُبْ رِسَالَةً إِلَى صَدِيقِكَ عَنْ مُسَابَقَةٍ شَارَكْتَ فِيهَا (٨٠–٩٠ كَلِمَةً).</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933688" y="300471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619048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0" name="Text 27"/>
          <p:cNvSpPr txBox="1"/>
          <p:nvPr/>
        </p:nvSpPr>
        <p:spPr>
          <a:xfrm>
            <a:off x="1051560" y="300471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المُسَابَقَةُ؟ وَأَيْنَ وَمَتَى كَانَتْ؟</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933688" y="3741725"/>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619048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7" name="Text 34"/>
          <p:cNvSpPr txBox="1"/>
          <p:nvPr/>
        </p:nvSpPr>
        <p:spPr>
          <a:xfrm>
            <a:off x="1051560" y="3741725"/>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اسْتَعْدَدْتَ؟ وَكَمْ مَرَّةً تَدَرَّبْتَ؟</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933688" y="4478731"/>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619048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2" name="Text 39"/>
          <p:cNvSpPr txBox="1"/>
          <p:nvPr/>
        </p:nvSpPr>
        <p:spPr>
          <a:xfrm>
            <a:off x="1051560" y="4478731"/>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حَدَثَ فِي ذٰلِكَ اليَوْمِ؟ وَمَا النَّتِيجَةُ؟</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933688" y="521573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619048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7" name="Text 44"/>
          <p:cNvSpPr txBox="1"/>
          <p:nvPr/>
        </p:nvSpPr>
        <p:spPr>
          <a:xfrm>
            <a:off x="1051560" y="521573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سَتَفْعَلُ بَعْدَ ذٰلِكَ مَعَ هٰذِهِ الهِوَايَةِ؟</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Copy the two empty columns into your book and fill them in. Then check with your buddy on the next slide.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CHECK YOUR DECODING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Decoded: what each bullet needs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تَحَقَّقْ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14232" y="1810512"/>
            <a:ext cx="2944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560527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50808" y="2267712"/>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to your friend about a competition you took part in (80–90 words).</a:t>
            </a:r>
            <a:endParaRPr lang="en-US" sz="1100" dirty="0"/>
          </a:p>
        </p:txBody>
      </p:sp>
      <p:sp>
        <p:nvSpPr>
          <p:cNvPr id="22" name="Text 19"/>
          <p:cNvSpPr txBox="1"/>
          <p:nvPr/>
        </p:nvSpPr>
        <p:spPr>
          <a:xfrm>
            <a:off x="564184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email to a FRIEND → informal greeting and closing</a:t>
            </a:r>
            <a:endParaRPr lang="en-US" sz="1100" dirty="0"/>
          </a:p>
        </p:txBody>
      </p:sp>
      <p:sp>
        <p:nvSpPr>
          <p:cNvPr id="23" name="Text 20"/>
          <p:cNvSpPr txBox="1"/>
          <p:nvPr/>
        </p:nvSpPr>
        <p:spPr>
          <a:xfrm>
            <a:off x="1051560" y="2267712"/>
            <a:ext cx="4389120" cy="682142"/>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ea typeface="Amiri" pitchFamily="2" charset="-78"/>
                <a:cs typeface="Amiri" pitchFamily="2" charset="-78"/>
              </a:rPr>
              <a:t>اكْتُبْ رِسَالَةً إِلَى صَدِيقِكَ عَنْ مُسَابَقَةٍ شَارَكْتَ فِيهَا (٨٠–٩٠ كَلِمَةً).</a:t>
            </a:r>
            <a:endParaRPr lang="ar-SA" sz="155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750808" y="300471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where and when</a:t>
            </a:r>
            <a:endParaRPr lang="en-US" sz="1100" dirty="0"/>
          </a:p>
        </p:txBody>
      </p:sp>
      <p:sp>
        <p:nvSpPr>
          <p:cNvPr id="27" name="Text 24"/>
          <p:cNvSpPr txBox="1"/>
          <p:nvPr/>
        </p:nvSpPr>
        <p:spPr>
          <a:xfrm>
            <a:off x="5641848" y="300471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أَيْنَ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مَتَى كَانَتْ</a:t>
            </a:r>
            <a:pPr algn="l" indent="0" marL="0">
              <a:buNone/>
            </a:pPr>
            <a:r>
              <a:rPr lang="en-US" sz="1100" dirty="0">
                <a:solidFill>
                  <a:srgbClr val="5A6472"/>
                </a:solidFill>
                <a:latin typeface="Calibri" pitchFamily="34" charset="0"/>
                <a:cs typeface="Amiri" pitchFamily="2" charset="-78"/>
              </a:rPr>
              <a:t> → PAST + place + date</a:t>
            </a:r>
            <a:endParaRPr lang="en-US" sz="1100" dirty="0"/>
          </a:p>
        </p:txBody>
      </p:sp>
      <p:sp>
        <p:nvSpPr>
          <p:cNvPr id="28" name="Text 25"/>
          <p:cNvSpPr txBox="1"/>
          <p:nvPr/>
        </p:nvSpPr>
        <p:spPr>
          <a:xfrm>
            <a:off x="1051560" y="300471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المُسَابَقَةُ؟ وَأَيْنَ وَمَتَى كَانَتْ؟</a:t>
            </a:r>
            <a:endParaRPr lang="ar-SA" sz="1600" dirty="0"/>
          </a:p>
        </p:txBody>
      </p:sp>
      <p:sp>
        <p:nvSpPr>
          <p:cNvPr id="29" name="Text 26"/>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8750808" y="3741725"/>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you prepared; how often</a:t>
            </a:r>
            <a:endParaRPr lang="en-US" sz="1100" dirty="0"/>
          </a:p>
        </p:txBody>
      </p:sp>
      <p:sp>
        <p:nvSpPr>
          <p:cNvPr id="32" name="Text 29"/>
          <p:cNvSpPr txBox="1"/>
          <p:nvPr/>
        </p:nvSpPr>
        <p:spPr>
          <a:xfrm>
            <a:off x="5641848" y="3741725"/>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كَيْفَ اسْتَعْدَدْتَ</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كَمْ مَرَّةً</a:t>
            </a:r>
            <a:pPr algn="l" indent="0" marL="0">
              <a:buNone/>
            </a:pPr>
            <a:r>
              <a:rPr lang="en-US" sz="1100" dirty="0">
                <a:solidFill>
                  <a:srgbClr val="5A6472"/>
                </a:solidFill>
                <a:latin typeface="Calibri" pitchFamily="34" charset="0"/>
                <a:cs typeface="Amiri" pitchFamily="2" charset="-78"/>
              </a:rPr>
              <a:t> → PAST + frequency</a:t>
            </a:r>
            <a:endParaRPr lang="en-US" sz="1100" dirty="0"/>
          </a:p>
        </p:txBody>
      </p:sp>
      <p:sp>
        <p:nvSpPr>
          <p:cNvPr id="33" name="Text 30"/>
          <p:cNvSpPr txBox="1"/>
          <p:nvPr/>
        </p:nvSpPr>
        <p:spPr>
          <a:xfrm>
            <a:off x="1051560" y="3741725"/>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اسْتَعْدَدْتَ؟ وَكَمْ مَرَّةً تَدَرَّبْتَ؟</a:t>
            </a:r>
            <a:endParaRPr lang="ar-SA" sz="1600" dirty="0"/>
          </a:p>
        </p:txBody>
      </p:sp>
      <p:sp>
        <p:nvSpPr>
          <p:cNvPr id="34" name="Text 31"/>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750808" y="4478731"/>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happened and the result</a:t>
            </a:r>
            <a:endParaRPr lang="en-US" sz="1100" dirty="0"/>
          </a:p>
        </p:txBody>
      </p:sp>
      <p:sp>
        <p:nvSpPr>
          <p:cNvPr id="37" name="Text 34"/>
          <p:cNvSpPr txBox="1"/>
          <p:nvPr/>
        </p:nvSpPr>
        <p:spPr>
          <a:xfrm>
            <a:off x="5641848" y="4478731"/>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مَاذَا حَدَثَ</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النَّتِيجَةُ</a:t>
            </a:r>
            <a:pPr algn="l" indent="0" marL="0">
              <a:buNone/>
            </a:pPr>
            <a:r>
              <a:rPr lang="en-US" sz="1100" dirty="0">
                <a:solidFill>
                  <a:srgbClr val="5A6472"/>
                </a:solidFill>
                <a:latin typeface="Calibri" pitchFamily="34" charset="0"/>
                <a:cs typeface="Amiri" pitchFamily="2" charset="-78"/>
              </a:rPr>
              <a:t> → PAST, in order</a:t>
            </a:r>
            <a:endParaRPr lang="en-US" sz="1100" dirty="0"/>
          </a:p>
        </p:txBody>
      </p:sp>
      <p:sp>
        <p:nvSpPr>
          <p:cNvPr id="38" name="Text 35"/>
          <p:cNvSpPr txBox="1"/>
          <p:nvPr/>
        </p:nvSpPr>
        <p:spPr>
          <a:xfrm>
            <a:off x="1051560" y="4478731"/>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حَدَثَ فِي ذٰلِكَ اليَوْمِ؟ وَمَا النَّتِيجَةُ؟</a:t>
            </a:r>
            <a:endParaRPr lang="ar-SA" sz="1600" dirty="0"/>
          </a:p>
        </p:txBody>
      </p:sp>
      <p:sp>
        <p:nvSpPr>
          <p:cNvPr id="39" name="Text 36"/>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0" name="Shape 37"/>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1" name="Text 38"/>
          <p:cNvSpPr txBox="1"/>
          <p:nvPr/>
        </p:nvSpPr>
        <p:spPr>
          <a:xfrm>
            <a:off x="8750808" y="521573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next step with this hobby</a:t>
            </a:r>
            <a:endParaRPr lang="en-US" sz="1100" dirty="0"/>
          </a:p>
        </p:txBody>
      </p:sp>
      <p:sp>
        <p:nvSpPr>
          <p:cNvPr id="42" name="Text 39"/>
          <p:cNvSpPr txBox="1"/>
          <p:nvPr/>
        </p:nvSpPr>
        <p:spPr>
          <a:xfrm>
            <a:off x="5641848" y="521573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سَتَفْعَلُ</a:t>
            </a:r>
            <a:pPr algn="l" indent="0" marL="0">
              <a:buNone/>
            </a:pPr>
            <a:r>
              <a:rPr lang="en-US" sz="1100" dirty="0">
                <a:solidFill>
                  <a:srgbClr val="5A6472"/>
                </a:solidFill>
                <a:latin typeface="Calibri" pitchFamily="34" charset="0"/>
                <a:cs typeface="Amiri" pitchFamily="2" charset="-78"/>
              </a:rPr>
              <a:t> → FUTURE (sa-) or </a:t>
            </a:r>
            <a:pPr algn="l" indent="0" marL="0">
              <a:buNone/>
            </a:pPr>
            <a:r>
              <a:rPr lang="ar-SA" altLang="en-US" sz="1450" dirty="0">
                <a:solidFill>
                  <a:srgbClr val="5A6472"/>
                </a:solidFill>
                <a:latin typeface="Amiri" pitchFamily="2" charset="-78"/>
                <a:ea typeface="Amiri" pitchFamily="2" charset="-78"/>
                <a:cs typeface="Amiri" pitchFamily="2" charset="-78"/>
              </a:rPr>
              <a:t>أُرِيدُ أَنْ</a:t>
            </a:r>
            <a:endParaRPr lang="en-US" sz="1100" dirty="0"/>
          </a:p>
        </p:txBody>
      </p:sp>
      <p:sp>
        <p:nvSpPr>
          <p:cNvPr id="43" name="Text 40"/>
          <p:cNvSpPr txBox="1"/>
          <p:nvPr/>
        </p:nvSpPr>
        <p:spPr>
          <a:xfrm>
            <a:off x="1051560" y="521573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سَتَفْعَلُ بَعْدَ ذٰلِكَ مَعَ هٰذِهِ الهِوَايَةِ؟</a:t>
            </a:r>
            <a:endParaRPr lang="ar-SA" sz="1600" dirty="0"/>
          </a:p>
        </p:txBody>
      </p:sp>
      <p:sp>
        <p:nvSpPr>
          <p:cNvPr id="44" name="Text 41"/>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get the tense right for every bullet? Fix your plan before you write.</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3 · UPGRADE A SENTENCE · WATCH IT GROW</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From a simple sentence to a strong one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حَسِّنِ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TB-L08</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أَلْعَبُ التِّنِسَ.</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Simple</a:t>
            </a:r>
            <a:endParaRPr lang="en-US" sz="1250" dirty="0"/>
          </a:p>
          <a:p>
            <a:pPr indent="0" marL="0">
              <a:buNone/>
            </a:pPr>
            <a:r>
              <a:rPr lang="en-US" sz="1050" i="1" dirty="0">
                <a:solidFill>
                  <a:srgbClr val="8A6D1E"/>
                </a:solidFill>
                <a:latin typeface="Calibri" pitchFamily="34" charset="0"/>
                <a:cs typeface="Amiri" pitchFamily="2" charset="-78"/>
              </a:rPr>
              <a:t>I play tennis.</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أَلْعَبُ التِّنِسَ مَعَ أَخِي فِي النَّادِي مَرَّتَيْنِ فِي الأُسْبُوعِ.</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detail (time, frequency, how much)</a:t>
            </a:r>
            <a:endParaRPr lang="en-US" sz="1250" dirty="0"/>
          </a:p>
          <a:p>
            <a:pPr indent="0" marL="0">
              <a:buNone/>
            </a:pPr>
            <a:r>
              <a:rPr lang="en-US" sz="1050" i="1" dirty="0">
                <a:solidFill>
                  <a:srgbClr val="8A6D1E"/>
                </a:solidFill>
                <a:latin typeface="Calibri" pitchFamily="34" charset="0"/>
                <a:cs typeface="Amiri" pitchFamily="2" charset="-78"/>
              </a:rPr>
              <a:t>… with my brother at the club twice a week.</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400" b="1" dirty="0">
                <a:solidFill>
                  <a:srgbClr val="1B3B6F"/>
                </a:solidFill>
                <a:latin typeface="Amiri" pitchFamily="2" charset="-78"/>
                <a:ea typeface="Amiri" pitchFamily="2" charset="-78"/>
                <a:cs typeface="Amiri" pitchFamily="2" charset="-78"/>
              </a:rPr>
              <a:t>أَلْعَبُ التِّنِسَ مَعَ أَخِي فِي النَّادِي، لِأَنَّهُ يُحَسِّنُ سُرْعَتِي وَتَرْكِيزِي.</a:t>
            </a:r>
            <a:endParaRPr lang="ar-SA" sz="24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 reason</a:t>
            </a:r>
            <a:endParaRPr lang="en-US" sz="1250" dirty="0"/>
          </a:p>
          <a:p>
            <a:pPr indent="0" marL="0">
              <a:buNone/>
            </a:pPr>
            <a:r>
              <a:rPr lang="en-US" sz="1050" i="1" dirty="0">
                <a:solidFill>
                  <a:srgbClr val="8A6D1E"/>
                </a:solidFill>
                <a:latin typeface="Calibri" pitchFamily="34" charset="0"/>
                <a:cs typeface="Amiri" pitchFamily="2" charset="-78"/>
              </a:rPr>
              <a:t>… because it improves my speed and concentration.</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 وَفِي رَأْيِي هُوَ أَصْعَبُ مِنْ كُرَةِ القَدَمِ، لٰكِنَّهُ أَمْتَعُ!</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an opinion or a contrast</a:t>
            </a:r>
            <a:endParaRPr lang="en-US" sz="1250" dirty="0"/>
          </a:p>
          <a:p>
            <a:pPr indent="0" marL="0">
              <a:buNone/>
            </a:pPr>
            <a:r>
              <a:rPr lang="en-US" sz="1050" i="1" dirty="0">
                <a:solidFill>
                  <a:srgbClr val="8A6D1E"/>
                </a:solidFill>
                <a:latin typeface="Calibri" pitchFamily="34" charset="0"/>
                <a:cs typeface="Amiri" pitchFamily="2" charset="-78"/>
              </a:rPr>
              <a:t>… in my opinion it is harder than football — but more fun!</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3 · YOUR TURN · BUILD THREE STRONG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Sentence builder: choose A or B in each column</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TB-L08</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can swim very well.</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أَسْتَطِيعُ</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تَسْتَطِيعُ</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أَسْبَحَ</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أَسْبَحُ</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جَيِّدًا جِدًّا</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جَيِّدٌ جِدًّا</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Reading is my favourite hobby.</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القِرَاءَةُ</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أَقْرَأُ</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هِوَايَتِي</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هِوَايَتُهُ</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المُفَضَّلَةُ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المُفَضَّلُ</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We train three times a week.</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نَتَدَرَّبُ</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تَدَرَّبْنَا</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ثَلَاثَ مَرَّاتٍ</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ثَلَاثَةَ مَرَّاتٍ</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الأُسْبُوعِ</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الأُسْبُوعِ المَاضِي</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3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TB-L08</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can swim very well.</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can = </a:t>
            </a:r>
            <a:pPr algn="l" indent="0" marL="0">
              <a:buNone/>
            </a:pPr>
            <a:r>
              <a:rPr lang="ar-SA" altLang="en-US" sz="1350" dirty="0">
                <a:solidFill>
                  <a:srgbClr val="5A6472"/>
                </a:solidFill>
                <a:latin typeface="Amiri" pitchFamily="2" charset="-78"/>
                <a:ea typeface="Amiri" pitchFamily="2" charset="-78"/>
                <a:cs typeface="Amiri" pitchFamily="2" charset="-78"/>
              </a:rPr>
              <a:t>أَسْتَطِيعُ أَنْ</a:t>
            </a:r>
            <a:pPr algn="l" indent="0" marL="0">
              <a:buNone/>
            </a:pPr>
            <a:r>
              <a:rPr lang="en-US" sz="1050" i="1" dirty="0">
                <a:solidFill>
                  <a:srgbClr val="5A6472"/>
                </a:solidFill>
                <a:latin typeface="Calibri" pitchFamily="34" charset="0"/>
                <a:cs typeface="Amiri" pitchFamily="2" charset="-78"/>
              </a:rPr>
              <a:t> + a verb in -a.</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أَسْتَطِيعُ أَنْ أَسْبَحَ جَيِّدًا جِدًّا</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Reading is my favourite hobby.</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Use the verbal noun </a:t>
            </a:r>
            <a:pPr algn="l" indent="0" marL="0">
              <a:buNone/>
            </a:pPr>
            <a:r>
              <a:rPr lang="ar-SA" altLang="en-US" sz="1350" dirty="0">
                <a:solidFill>
                  <a:srgbClr val="5A6472"/>
                </a:solidFill>
                <a:latin typeface="Amiri" pitchFamily="2" charset="-78"/>
                <a:ea typeface="Amiri" pitchFamily="2" charset="-78"/>
                <a:cs typeface="Amiri" pitchFamily="2" charset="-78"/>
              </a:rPr>
              <a:t>القِرَاءَةُ</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هِوَايَة</a:t>
            </a:r>
            <a:pPr algn="l" indent="0" marL="0">
              <a:buNone/>
            </a:pPr>
            <a:r>
              <a:rPr lang="en-US" sz="1050" i="1" dirty="0">
                <a:solidFill>
                  <a:srgbClr val="5A6472"/>
                </a:solidFill>
                <a:latin typeface="Calibri" pitchFamily="34" charset="0"/>
                <a:cs typeface="Amiri" pitchFamily="2" charset="-78"/>
              </a:rPr>
              <a:t> is feminine → </a:t>
            </a:r>
            <a:pPr algn="l" indent="0" marL="0">
              <a:buNone/>
            </a:pPr>
            <a:r>
              <a:rPr lang="ar-SA" altLang="en-US" sz="1350" dirty="0">
                <a:solidFill>
                  <a:srgbClr val="5A6472"/>
                </a:solidFill>
                <a:latin typeface="Amiri" pitchFamily="2" charset="-78"/>
                <a:ea typeface="Amiri" pitchFamily="2" charset="-78"/>
                <a:cs typeface="Amiri" pitchFamily="2" charset="-78"/>
              </a:rPr>
              <a:t>المُفَضَّلَةُ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القِرَاءَةُ هِوَايَتِي المُفَضَّلَةُ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We train three times a week.</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Habit → present; </a:t>
            </a:r>
            <a:pPr algn="l" indent="0" marL="0">
              <a:buNone/>
            </a:pPr>
            <a:r>
              <a:rPr lang="ar-SA" altLang="en-US" sz="1350" dirty="0">
                <a:solidFill>
                  <a:srgbClr val="5A6472"/>
                </a:solidFill>
                <a:latin typeface="Amiri" pitchFamily="2" charset="-78"/>
                <a:ea typeface="Amiri" pitchFamily="2" charset="-78"/>
                <a:cs typeface="Amiri" pitchFamily="2" charset="-78"/>
              </a:rPr>
              <a:t>مَرَّة</a:t>
            </a:r>
            <a:pPr algn="l" indent="0" marL="0">
              <a:buNone/>
            </a:pPr>
            <a:r>
              <a:rPr lang="en-US" sz="1050" i="1" dirty="0">
                <a:solidFill>
                  <a:srgbClr val="5A6472"/>
                </a:solidFill>
                <a:latin typeface="Calibri" pitchFamily="34" charset="0"/>
                <a:cs typeface="Amiri" pitchFamily="2" charset="-78"/>
              </a:rPr>
              <a:t> is feminine → </a:t>
            </a:r>
            <a:pPr algn="l" indent="0" marL="0">
              <a:buNone/>
            </a:pPr>
            <a:r>
              <a:rPr lang="ar-SA" altLang="en-US" sz="1350" dirty="0">
                <a:solidFill>
                  <a:srgbClr val="5A6472"/>
                </a:solidFill>
                <a:latin typeface="Amiri" pitchFamily="2" charset="-78"/>
                <a:ea typeface="Amiri" pitchFamily="2" charset="-78"/>
                <a:cs typeface="Amiri" pitchFamily="2" charset="-78"/>
              </a:rPr>
              <a:t>ثَلَاثَ مَرَّاتٍ</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نَتَدَرَّبُ ثَلَاثَ مَرَّاتٍ فِي الأُسْبُوعِ</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QUESTION 2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frames for Question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TB-L08</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نَظَّمَتْ مَدْرَسَتُنَا مُسَابَقَةً ______ ، وَشَارَكَ فِيهَا ______ طَالِبًا.</a:t>
            </a:r>
            <a:endParaRPr lang="ar-SA" sz="12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Our school organised a … competition, with … students.</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كُنْتُ أَتَدَرَّبُ كُلَّ ______ ، لِأَنَّ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I used to train every …, because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فِي البِدَايَةِ ______ ، لٰكِنْ فِي النِّهَايَةِ ______ .</a:t>
            </a:r>
            <a:endParaRPr lang="ar-SA" sz="155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At first …, but in the end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السَّنَةَ القَادِمَةَ سَأُشَارِكُ فِي ______ ، وَأَتَمَنَّى أَنْ ______ .</a:t>
            </a:r>
            <a:endParaRPr lang="ar-SA" sz="13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Next year I will enter …, and I hope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مَرْحَبًا يَا ______ ، كَيْفَ حَالُكَ؟</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Hello …, how are you?</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شَارَكْتُ فِي مُسَابَقَةِ ______ فِي ______ يَوْمَ ______ .</a:t>
            </a:r>
            <a:endParaRPr lang="ar-SA" sz="145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I took part in a … competition in … on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تَدَرَّبْتُ ______ مَرَّاتٍ فِي الأُسْبُوعِ مَعَ ______ .</a:t>
            </a:r>
            <a:endParaRPr lang="ar-SA" sz="165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I trained … times a week with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فِي يَوْمِ المُسَابَقَةِ ______ ، وَفُزْتُ بِالمَرْكَزِ ______ .</a:t>
            </a:r>
            <a:endParaRPr lang="ar-SA" sz="145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On the day …, and I won …</a:t>
            </a:r>
            <a:endParaRPr lang="en-US" sz="1050" dirty="0"/>
          </a:p>
        </p:txBody>
      </p:sp>
      <p:sp>
        <p:nvSpPr>
          <p:cNvPr id="37" name="Text 34"/>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المُسْتَقْبَلِ أُرِيدُ أَنْ ______ .</a:t>
            </a:r>
            <a:endParaRPr lang="ar-SA" sz="1800" dirty="0"/>
          </a:p>
        </p:txBody>
      </p:sp>
      <p:sp>
        <p:nvSpPr>
          <p:cNvPr id="38" name="Text 35"/>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In the future I want to …</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شَارَكْتُ فِي  ·  مُسَابَقَةٌ  ·  تَدَرَّبْتُ  ·  مَرَّةً · مَرَّتَيْنِ  ·  فُزْتُ · خَسِرْتُ  ·  المَرْكَزُ الأَوَّلُ · الثَّانِي  ·  مُتَوَتِّرٌ · فَخُورٌ  ·  فَرِيقٌ</a:t>
            </a:r>
            <a:endParaRPr lang="ar-SA" sz="16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THEN SWAP · 14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Question 2 — bullet by bullet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 ثُمَّ بَادِلْ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TB-L08</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4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Two rounds of writing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Round 1 (6 min): write bullets 1 and 2. SWAP: your buddy reads and ticks “bullet covered?”. Round 2 (6 min): write bullets 3 and 4 and your closing. SWAP again.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Start with a greeting; end with a closing and a question.</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short paragraph per bullet — tick it off your plan.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at least one upgrade from Step 3 in every paragraph.</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Count your words: about 80–90.</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the Core frames. Aim for 60–70 words, every bullet covered.</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Develop frames only if stuck. Add a reason and a time word to every bullet. 80–90 words.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frames. Add a contrast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 and a future plan. Up to 90 words, with no errors.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 بَعْدَ ذٰلِكَ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 after that</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لِذٰلِكَ</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so</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لٰكِنَّ · وَلٰكِنْ</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but</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SPOT AND FIX · MISTAKES STUDENTS OFTEN MAKE IN THIS TOPIC</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هِوَايَتِي هِيَ أَسْبَحُ.</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 hobby is a noun.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أَسْتَطِيعُ أَلْعَبُ الشِّطْرَنْجَ.</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Something is missing after </a:t>
            </a:r>
            <a:pPr algn="l" indent="0" marL="0">
              <a:buNone/>
            </a:pPr>
            <a:r>
              <a:rPr lang="ar-SA" altLang="en-US" sz="1700" dirty="0">
                <a:solidFill>
                  <a:srgbClr val="5A6472"/>
                </a:solidFill>
                <a:latin typeface="Amiri" pitchFamily="2" charset="-78"/>
                <a:ea typeface="Amiri" pitchFamily="2" charset="-78"/>
                <a:cs typeface="Amiri" pitchFamily="2" charset="-78"/>
              </a:rPr>
              <a:t>أَسْتَطِيعُ</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أَتَدَرَّبُ أَرْبَعَةَ مَرَّاتٍ.</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a:t>
            </a:r>
            <a:pPr algn="l" indent="0" marL="0">
              <a:buNone/>
            </a:pPr>
            <a:r>
              <a:rPr lang="ar-SA" altLang="en-US" sz="1700" dirty="0">
                <a:solidFill>
                  <a:srgbClr val="5A6472"/>
                </a:solidFill>
                <a:latin typeface="Amiri" pitchFamily="2" charset="-78"/>
                <a:ea typeface="Amiri" pitchFamily="2" charset="-78"/>
                <a:cs typeface="Amiri" pitchFamily="2" charset="-78"/>
              </a:rPr>
              <a:t>مَرَّة</a:t>
            </a:r>
            <a:pPr algn="l" indent="0" marL="0">
              <a:buNone/>
            </a:pPr>
            <a:r>
              <a:rPr lang="en-US" sz="1300" i="1" dirty="0">
                <a:solidFill>
                  <a:srgbClr val="5A6472"/>
                </a:solidFill>
                <a:latin typeface="Calibri" pitchFamily="34" charset="0"/>
                <a:cs typeface="Amiri" pitchFamily="2" charset="-78"/>
              </a:rPr>
              <a:t> masculine or feminine?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5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هِوَايَتِي هِيَ أَسْبَحُ.</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هِوَايَتِي هِيَ السِّبَاحَةُ.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the verbal noun: </a:t>
            </a:r>
            <a:pPr algn="l" indent="0" marL="0">
              <a:buNone/>
            </a:pPr>
            <a:r>
              <a:rPr lang="ar-SA" altLang="en-US" sz="1500" b="1" dirty="0">
                <a:solidFill>
                  <a:srgbClr val="1B3B6F"/>
                </a:solidFill>
                <a:latin typeface="Amiri" pitchFamily="2" charset="-78"/>
                <a:ea typeface="Amiri" pitchFamily="2" charset="-78"/>
                <a:cs typeface="Amiri" pitchFamily="2" charset="-78"/>
              </a:rPr>
              <a:t>السِّبَاحَةُ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أَسْتَطِيعُ أَلْعَبُ الشِّطْرَنْجَ.</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أَسْتَطِيعُ أَنْ أَلْعَبَ الشِّطْرَنْجَ.</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أَسْتَطِيعُ أَنْ</a:t>
            </a:r>
            <a:pPr algn="l" indent="0" marL="0">
              <a:buNone/>
            </a:pPr>
            <a:r>
              <a:rPr lang="en-US" sz="1150" b="1" dirty="0">
                <a:solidFill>
                  <a:srgbClr val="1B3B6F"/>
                </a:solidFill>
                <a:latin typeface="Calibri" pitchFamily="34" charset="0"/>
                <a:cs typeface="Amiri" pitchFamily="2" charset="-78"/>
              </a:rPr>
              <a:t> + a verb in -a.</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أَتَدَرَّبُ أَرْبَعَةَ مَرَّاتٍ.</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أَتَدَرَّبُ أَرْبَعَ مَرَّاتٍ.</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مَرَّة</a:t>
            </a:r>
            <a:pPr algn="l" indent="0" marL="0">
              <a:buNone/>
            </a:pPr>
            <a:r>
              <a:rPr lang="en-US" sz="1150" b="1" dirty="0">
                <a:solidFill>
                  <a:srgbClr val="1B3B6F"/>
                </a:solidFill>
                <a:latin typeface="Calibri" pitchFamily="34" charset="0"/>
                <a:cs typeface="Amiri" pitchFamily="2" charset="-78"/>
              </a:rPr>
              <a:t> is feminine → </a:t>
            </a:r>
            <a:pPr algn="l" indent="0" marL="0">
              <a:buNone/>
            </a:pPr>
            <a:r>
              <a:rPr lang="ar-SA" altLang="en-US" sz="1500" b="1" dirty="0">
                <a:solidFill>
                  <a:srgbClr val="1B3B6F"/>
                </a:solidFill>
                <a:latin typeface="Amiri" pitchFamily="2" charset="-78"/>
                <a:ea typeface="Amiri" pitchFamily="2" charset="-78"/>
                <a:cs typeface="Amiri" pitchFamily="2" charset="-78"/>
              </a:rPr>
              <a:t>أَرْبَعَ</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BUDDY CHECK · READ YOUR BUDDY’S Q2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ALL four bullets (one paragraph each)?</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right verb ending (I · we) and the right tense for each bullet?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adjectives agree (m. / f. / non-human plural)?</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and give at least two reasons?</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past, present AND future, and give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WWW + one EBI.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6 · QUESTION 3 · HOW TO BUILD ONE STRONG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The paragraph formula: T · D · R · F</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تَكْتُبُ 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TB-L08</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FOUR PARTS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 — TOPIC sentence: say what the paragraph is about.</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 — DETAILS: what, when, where, with whom (two sentences).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 — REASON: why? (</a:t>
            </a:r>
            <a:pPr algn="l" indent="0" marL="0">
              <a:buNone/>
            </a:pPr>
            <a:r>
              <a:rPr lang="ar-SA" altLang="en-US" sz="1700" dirty="0">
                <a:solidFill>
                  <a:srgbClr val="1F2A37"/>
                </a:solidFill>
                <a:latin typeface="Amiri" pitchFamily="2" charset="-78"/>
                <a:ea typeface="Amiri" pitchFamily="2" charset="-78"/>
                <a:cs typeface="Amiri" pitchFamily="2" charset="-78"/>
              </a:rPr>
              <a:t>لِأَنَّ … / لِذٰلِكَ</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 — FEELING or opinion, and (Stretch) a link to the future.</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FORMULA IN ACTION</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بَدَأْتُ السِّبَاحَةَ عِنْدَمَا كُنْتُ فِي السَّادِسَةِ.</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 · I started swimming when I was six.</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أَخَذَنِي أَبِي إِلَى المَسْبَحِ كُلَّ يَوْمِ سَبْتٍ.</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 · My dad took me to the pool every Saturday.</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بَدَأْتُ لِأَنِّي كُنْتُ أَخَافُ مِنَ المَاءِ.</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 · I started because I was afraid of water.</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الآنَ أَشْعُرُ بِالحُرِّيَّةِ فِي المَاءِ.</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 · Now I feel free in the water.</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6 · WRITE ONE PARAGRAPH OF QUESTION 3 · ABOUT 50–70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Question 3, one paragraph: how I started my hobby</a:t>
            </a:r>
            <a:endParaRPr lang="en-US" sz="18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بَدَأَتْ هِوَايَتِي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TB-L08</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67335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67335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Q3 · ONE PARAGRAPH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Full Q3 title: “My free time”. Today write ONLY the past paragraph: how you started your favourite hobby — when, who introduced you to it, your first experience, and how you felt.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 — a topic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 — two details (when, where, who, what).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 — a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لِذٰلِكَ</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 — a feeling or opinion (Stretch: +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past verbs with the right ending?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 FOR THIS PARAGRAPH</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بَدَأْتُ … عِنْدَمَا كُنْتُ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started … when I was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عَلَّمَنِي … كَيْفَ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taught me how to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أَوَّلِ مَرَّةٍ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first time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كُنْتُ أَخَافُ مِنْ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used to be afraid of …</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الآنَ أَسْتَطِيعُ أَنْ …</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now I can …</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2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Q2: compare with a strong answer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مَرْحَبًا يَا سَامِي،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كَيْفَ حَالُكَ؟ يَوْمَ السَّبْتِ المَاضِي شَارَكْتُ فِي أَوَّلِ مُسَابَقَةِ شِطْرَنْجٍ فِي حَيَاتِي، فِي مَكْتَبَةِ المَدِينَةِ، وَشَارَكَ فِيهَا ثَلَاثُونَ لَاعِبًا مِنْ مَدَارِسَ مُخْتَلِفَةٍ. قَبْلَ المُسَابَقَةِ كُنْتُ أَتَدَرَّبُ مَعَ جَدِّي ثَلَاثَ مَرَّاتٍ فِي الأُسْبُوعِ، وَأَلْعَبُ عَلَى الإِنْتَرْنِتْ كُلَّ مَسَاءٍ. فِي البِدَايَةِ كُنْتُ مُتَوَتِّرًا جِدًّا، فَخَسِرْتُ أَوَّلَ مُبَارَاةٍ، لٰكِنْ بَعْدَ ذٰلِكَ فُزْتُ بِأَرْبَعِ مُبَارَيَاتٍ، وَحَصَلْتُ عَلَى المَرْكَزِ الثَّالِثِ! كَانَ جَدِّي فَخُورًا بِي كَثِيرًا. السَّنَةَ القَادِمَةَ سَأُشَارِكُ فِي مُسَابَقَةِ المَدَارِسِ الوَطَنِيَّةِ، وَأُرِيدُ أَنْ أُؤَسِّسَ نَادِيًا لِلشِّطْرَنْجِ فِي مَدْرَسَتِنَا. هَلْ تُحِبُّ أَنْ تَنْضَمَّ إِلَيْهِ؟</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إِلَى اللِّقَاءِ،</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أَنَسٌ</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“Hi Sami, how are you? Last Saturday I took part in my first ever chess competition, at the city library, with thirty players from different schools. Before the competition I trained with my grandfather three times a week and played online every evening. At first I was very nervous, so I lost my first game, but then I won four games and came third! My grandfather was very proud of me. Next year I will enter the national schools’ competition, and I want to start a chess club at our school. Would you like to join? See you, Anas.”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شَارَكْتُ فِي أَوَّلِ مُسَابَقَةِ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ثَلَاثَ مَرَّاتٍ فِي الأُسْبُوعِ</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فِي البِدَايَةِ … لٰكِنْ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وَأُرِيدُ أَنْ أُؤَسِّسَ</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3 · ONE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Q3 paragraph: T · D · R · F in a model</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بَدَأْتُ هِوَايَةَ الطَّبْخِ عِنْدَمَا كُنْتُ فِي العَاشِرَةِ مِنْ عُمْرِي. فِي ذٰلِكَ الوَقْتِ كَانَتْ جَدَّتِي تَسْكُنُ مَعَنَا، وَكَانَتْ تَطْبُخُ كُلَّ يَوْمٍ أَطْبَاقًا سُورِيَّةً لَذِيذَةً. فِي أَوَّلِ مَرَّةٍ طَلَبَتْ مِنِّي أَنْ أُسَاعِدَهَا فِي الكُبَّةِ، فَأَحْرَقْتُ نِصْفَهَا، وَضَحِكْنَا كَثِيرًا! لٰكِنَّهَا عَلَّمَتْنِي بِصَبْرٍ، لِأَنَّهَا كَانَتْ تَقُولُ إِنَّ الطَّبْخَ حُبٌّ. الآنَ أَسْتَطِيعُ أَنْ أَطْبُخَ وَجَبَاتٍ كَامِلَةً لِعَائِلَتِي، وَأَشْعُرُ بِالسَّعَادَةِ عِنْدَمَا يَأْكُلُونَهَا. وَفِي المُسْتَقْبَلِ سَأَكْتُبُ كِتَابًا فِيهِ وَصَفَاتُ جَدَّتِي.</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 I started cooking when I was ten · D: at that time my grandmother lived with us and cooked delicious Syrian dishes every day; the first time she asked me to help with kibbeh, I burnt half of it and we laughed a lot · R: but she taught me patiently, because she used to say cooking is love · F: now I can cook full meals for my family and I feel happy when they eat them; in the future I will write a book of my grandmother’s recipes.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بَدَأْتُ هِوَايَةَ الطَّبْخِ</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فِي أَوَّلِ مَرَّةٍ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لِأَنَّهَا كَانَتْ تَقُولُ</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الآنَ أَسْتَطِيعُ أَنْ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TB-L08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TB-L08</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decoded every bullet: question word and tense.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Q2 answers all four bullets,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upgraded my sentences: detail + reason in every bullet.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work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Q3 paragraph has T, D, R and F, with past and future.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TB-L08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wrote it yourself!</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700" b="1" dirty="0">
                <a:solidFill>
                  <a:srgbClr val="FFFFFF"/>
                </a:solidFill>
                <a:latin typeface="Cambria" pitchFamily="34" charset="0"/>
                <a:cs typeface="Amiri" pitchFamily="2" charset="-78"/>
              </a:rPr>
              <a:t>TB-L09 · The next lesson in the topic</a:t>
            </a:r>
            <a:endParaRPr lang="en-US" sz="27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الدَّرْسُ التَّالِي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decode → plan → write → check. Every bullet,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TB-L08 · Writing Practice Room — Hobbies, Sport and Free Time</dc:title>
  <dc:subject>PptxGenJS Presentation</dc:subject>
  <dc:creator>Al Madina Online School · Arabic Department</dc:creator>
  <cp:lastModifiedBy>Al Madina Online School · Arabic Department</cp:lastModifiedBy>
  <cp:revision>1</cp:revision>
  <dcterms:created xsi:type="dcterms:W3CDTF">2026-10-25T14:35:30Z</dcterms:created>
  <dcterms:modified xsi:type="dcterms:W3CDTF">2026-10-25T14:35:30Z</dcterms:modified>
</cp:coreProperties>
</file>