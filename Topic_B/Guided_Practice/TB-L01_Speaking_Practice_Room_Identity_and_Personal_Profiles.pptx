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PRACTICE ROOM AT A GLANCE — 55–60 minutes; about 8 minutes in the main room, about 40 minutes in breakout rooms of three, about 8 minutes back together.
0–2 Welcome · 2–6 How the room works (roles, rules) · then ROOMS: Step 1 Word warm-up (5) · Step 2 The answer ladder (8) · Step 3 Role plays 1 and 2 (14) · Step 4 Topic conversation with A-R-E-T (8) · Step 5 One-minute talk (5) · back in the main room: Check yourself (6) · Self-check + close (3).
PURPOSE: students practise ON THEIR OWN with a clear structure. The teacher visits each room (about 3 minutes per room), listens, and gives one live correction per student.
CONTENT: Advanced Topic B · Personal and Social Life, Lesson 1 (Identity and Personal Profiles, TB-L01) — new role plays and questions (not the ones in the Exam Practice workshop), using the lesson’s language (pronouns and nominal sentences; nationality adjectives (nisba: brīṭāniyy · brīṭāniyya); wulidtu fī; aṣlī min; age (ʿumrī … sanatan)).
SET-UP: rooms of three (same-level rooms keep the routes simple). Share this deck or its PDF in the chat so every room can follow the steps. Post the step timings in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show the route through the steps. Students keep this slide in mind: the step number is always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ROOM WORKS (3 min, main room). Model the three roles quickly with two volunteers using one question. Stress: the Coach is not a judge — one WWW, one EBI, kind and specific. Then open the breakout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(5 min in rooms). The vocab slides that follow are the reference. Teacher: visit the first room straight away to model the 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the Leader picks the English, the Speaker gives the Arabic.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(read together for 2 min). Each level ADDS one thing. Core aims for level 2, Develop for level 3, Stretch for level 4.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(6 min). The cells are STARTERS, not full answers. Core: questions 1–2 to level 2. Develop: all four to level 3. Stretch: level 4 with an opinion or another time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introduction (2 min). Role play 1 shows the plan column filled in; for role play 2 students write it themselves. This is the fading: by the exam, they plan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1 (Core · Develop) — SUPPORTED: the plan column models the thinking (question word → tense → first words), NOT the full answer.
ROOM ROUTINE: Leader reads the left column in order · Speaker answers · Coach ticks the checklist (step 5 slide) and gives one WWW + one EBI · swap so that everyone is Speaker once.
To a girl the Leader says: اسْمُكِ · عُمْرُكِ · جِنْسِيَّتُكِ · تَتَكَلَّمِينَ · تُرِيدِينَ · تَتَعَلَّمِي — and the Speaker says بِرِيطَانِيَّةٌ.
Language: ʿumrī sitta ʿashrata sanatan (age) · nisba agreement (brīṭāniyyun / brīṭāniyyatun) · atakallamu + languages · li-annī urīdu an + verb in -a.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2 (Develop · Stretch) — FADED SUPPORT: students now write their own plan column — exactly what they will do in the exam in their preparation time.
ROOM ROUTINE: Leader reads the left column in order · Speaker answers · Coach ticks the checklist (step 5 slide) and gives one WWW + one EBI · swap so that everyone is Speaker once.
To a girl the Leader says: أَنْتِ · وُلِدْتِ · تَصِفِينَ نَفْسَكِ · انْتَقَلْتِ · عَنْكِ · يَجْعَلُكِ فَخُورَةً · هُوِيَّتِكِ.
Language: wulidtu fī … lākinna aṣlī min · the dual (wālidayya sūdāniyyāni) · past reason · hal yumkinu an aktuba · thaqāfatayni (Stretch).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introduction (2 min). Show one answer growing link by link, then open the conversation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min). Leaders choose questions that suit the Speaker: Core questions first, then move up. The follow-up column trains extended answers — exactly what the conversation part of the exam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(5 min). A monologue builds fluency for the conversation.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Coach keeps this slide open during Steps 2–5. Back in the main room, ask each room for its best WWW.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Read one aloud together; students say which A-R-E-T link they will add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B · GUIDED PRACTICE  ·  TB-L01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TB-L01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Practice Room — Identity and Personal Profiles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التَّحَدُّثِ — الهُوِيَّةُ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run their own speaking practice in breakout rooms: a word warm-up, the answer ladder, two new role plays (registering at a language summer school, a welcome interview for the school website), a topic conversation with A-R-E-T, and a one-minute talk introducing themselves.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Advanced Topic B · Personal and Social Life · guided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B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B › TB-L01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ROOM PLAN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Five steps — you run them yourselves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14223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4223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1: word warm-up.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الكَلِمَاتُ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357628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467356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503932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503932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042666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42666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485644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2: climb the answer ladder.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449068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السُّلَّمُ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4258056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67784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04360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404360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9430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430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386072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3: two role plays (planned, then you plan).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349496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6158484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268212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04788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304788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8435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435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6286500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4: topic conversation, A-R-E-T.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249924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8058912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168640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05216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8205216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743950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4395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8186928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5: one-minute talk.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8150352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دَقِيقَةٌ وَاحِدَةٌ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995934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1006906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10564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1010564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1064437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64437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1008735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1005078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Text 61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ROOM RUNS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Everybody speaks in every step. Swap roles each time: Leader → Speaker → Coach. If you finish early, do the step again with the Stretch route.</a:t>
            </a:r>
            <a:endParaRPr lang="en-US" sz="125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BEFORE THE ROOMS · HOW YOUR ROOM WORKS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Three roles, four rules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نَعْمَلُ فِي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ROLES (SWAP AFTER EVERY TASK)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 — opens the next step, keeps the time, and reads the examiner’s questions.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— answers in full Arabic sentences. Plan for a few seconds, then speak.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— listens with the checklist, then gives one WWW (what went well) and one EBI (even better if).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RULES: Arabic only in the tasks · full sentences · no silence (use a repair phrase) · everyone speaks in every step.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ROOM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1 · WORD WARM-UP · 5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Say it — then use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قُلْهَا وَاسْتَعْمِلْهَا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🔤  Word ping-pong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Leader says a word in ENGLISH from the next two slides. The Speaker says it in ARABIC, then uses it in a short sentence about themselves. The Coach checks the Arabic on the slide.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Leader: say 4 English words; Speaker answers in Arabic + one sentence each.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checks the word and the ending (I / he / she / they).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roles — new words each time.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say the he / she form of each verb.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word, then a simple sentence: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when or how often: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كُلَّ يَوْمٍ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مَرَّتَيْنِ فِي الأُسْبُوعِ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 two words in one sentence with a reason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أَعِدْ مِنْ فَضْلِكَ / أَعِيدِي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repeat please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 / تَكَلَّمِي أَكْثَرَ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(1)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Who I am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أَنَا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76662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76662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his · her · your (m./f.)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اسْمِي …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my name is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as-mī …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your (m./f.)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اسْمُكَ · اسْمُكِ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her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اسْمُهَا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his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اسْمُهُ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أَسْكُنُ فِي …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live in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as-ku-nu fī …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يَسْكُنُونَ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تَسْكُنُ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يَسْكُنُ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وُلِدْتُ فِي …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was born in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wu-lid-tu fī …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62" name="Text 59"/>
          <p:cNvSpPr txBox="1"/>
          <p:nvPr/>
        </p:nvSpPr>
        <p:spPr>
          <a:xfrm>
            <a:off x="2944368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وُلِدُوا</a:t>
            </a:r>
            <a:endParaRPr lang="ar-SA" sz="1350" dirty="0"/>
          </a:p>
        </p:txBody>
      </p:sp>
      <p:sp>
        <p:nvSpPr>
          <p:cNvPr id="63" name="Shape 60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وُلِدَتْ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وُلِدَ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604504" y="4279392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604504" y="427939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أَتَكَلَّمُ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speak (a language)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a-ta-kal-la-mu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80" name="Text 77"/>
          <p:cNvSpPr txBox="1"/>
          <p:nvPr/>
        </p:nvSpPr>
        <p:spPr>
          <a:xfrm>
            <a:off x="10588752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يَتَكَلَّمُونَ</a:t>
            </a:r>
            <a:endParaRPr lang="ar-SA" sz="1350" dirty="0"/>
          </a:p>
        </p:txBody>
      </p:sp>
      <p:sp>
        <p:nvSpPr>
          <p:cNvPr id="81" name="Shape 78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تَتَكَلَّمُ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يَتَكَلَّمُ</a:t>
            </a:r>
            <a:endParaRPr lang="ar-SA" sz="1500" dirty="0"/>
          </a:p>
        </p:txBody>
      </p:sp>
      <p:sp>
        <p:nvSpPr>
          <p:cNvPr id="87" name="Shape 84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4782312" y="4279392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782312" y="4279392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his · her · your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4" name="Text 91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عُمْرِي … سَنَةً</a:t>
            </a:r>
            <a:endParaRPr lang="ar-SA" sz="3000" dirty="0"/>
          </a:p>
        </p:txBody>
      </p:sp>
      <p:sp>
        <p:nvSpPr>
          <p:cNvPr id="95" name="Text 92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am … years old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ʿum-rī … sa-na-tan</a:t>
            </a:r>
            <a:endParaRPr lang="en-US" sz="1350" dirty="0"/>
          </a:p>
        </p:txBody>
      </p:sp>
      <p:sp>
        <p:nvSpPr>
          <p:cNvPr id="96" name="Shape 93"/>
          <p:cNvSpPr/>
          <p:nvPr/>
        </p:nvSpPr>
        <p:spPr>
          <a:xfrm>
            <a:off x="672084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677570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your</a:t>
            </a:r>
            <a:endParaRPr lang="en-US" sz="700" dirty="0"/>
          </a:p>
        </p:txBody>
      </p:sp>
      <p:sp>
        <p:nvSpPr>
          <p:cNvPr id="98" name="Text 95"/>
          <p:cNvSpPr txBox="1"/>
          <p:nvPr/>
        </p:nvSpPr>
        <p:spPr>
          <a:xfrm>
            <a:off x="6766560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عُمْرُكَ · عُمْرُكِ</a:t>
            </a:r>
            <a:endParaRPr lang="ar-SA" sz="1350" dirty="0"/>
          </a:p>
        </p:txBody>
      </p:sp>
      <p:sp>
        <p:nvSpPr>
          <p:cNvPr id="99" name="Shape 96"/>
          <p:cNvSpPr/>
          <p:nvPr/>
        </p:nvSpPr>
        <p:spPr>
          <a:xfrm>
            <a:off x="5568696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5623560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her</a:t>
            </a:r>
            <a:endParaRPr lang="en-US" sz="750" dirty="0"/>
          </a:p>
        </p:txBody>
      </p:sp>
      <p:sp>
        <p:nvSpPr>
          <p:cNvPr id="101" name="Text 98"/>
          <p:cNvSpPr txBox="1"/>
          <p:nvPr/>
        </p:nvSpPr>
        <p:spPr>
          <a:xfrm>
            <a:off x="5614416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عُمْرُهَا</a:t>
            </a:r>
            <a:endParaRPr lang="ar-SA" sz="1500" dirty="0"/>
          </a:p>
        </p:txBody>
      </p:sp>
      <p:sp>
        <p:nvSpPr>
          <p:cNvPr id="102" name="Shape 99"/>
          <p:cNvSpPr/>
          <p:nvPr/>
        </p:nvSpPr>
        <p:spPr>
          <a:xfrm>
            <a:off x="441655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447141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his</a:t>
            </a:r>
            <a:endParaRPr lang="en-US" sz="750" dirty="0"/>
          </a:p>
        </p:txBody>
      </p:sp>
      <p:sp>
        <p:nvSpPr>
          <p:cNvPr id="104" name="Text 101"/>
          <p:cNvSpPr txBox="1"/>
          <p:nvPr/>
        </p:nvSpPr>
        <p:spPr>
          <a:xfrm>
            <a:off x="446227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عُمْرُهُ</a:t>
            </a:r>
            <a:endParaRPr lang="ar-SA" sz="1500" dirty="0"/>
          </a:p>
        </p:txBody>
      </p:sp>
      <p:sp>
        <p:nvSpPr>
          <p:cNvPr id="105" name="Shape 102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06" name="Shape 103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07" name="Text 104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960120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960120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his · her</a:t>
            </a:r>
            <a:endParaRPr lang="en-US" sz="800" dirty="0"/>
          </a:p>
        </p:txBody>
      </p:sp>
      <p:sp>
        <p:nvSpPr>
          <p:cNvPr id="110" name="Shape 107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1" name="Text 108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12" name="Text 109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عِيدُ مِيلَادِي</a:t>
            </a:r>
            <a:endParaRPr lang="ar-SA" sz="3000" dirty="0"/>
          </a:p>
        </p:txBody>
      </p:sp>
      <p:sp>
        <p:nvSpPr>
          <p:cNvPr id="113" name="Text 110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my birthday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ʿī-du mī-lā-dī</a:t>
            </a:r>
            <a:endParaRPr lang="en-US" sz="1350" dirty="0"/>
          </a:p>
        </p:txBody>
      </p:sp>
      <p:sp>
        <p:nvSpPr>
          <p:cNvPr id="114" name="Shape 111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5" name="Text 112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her</a:t>
            </a:r>
            <a:endParaRPr lang="en-US" sz="750" dirty="0"/>
          </a:p>
        </p:txBody>
      </p:sp>
      <p:sp>
        <p:nvSpPr>
          <p:cNvPr id="116" name="Text 113"/>
          <p:cNvSpPr txBox="1"/>
          <p:nvPr/>
        </p:nvSpPr>
        <p:spPr>
          <a:xfrm>
            <a:off x="2368296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عِيدُ مِيلَادِهَا</a:t>
            </a:r>
            <a:endParaRPr lang="ar-SA" sz="1500" dirty="0"/>
          </a:p>
        </p:txBody>
      </p:sp>
      <p:sp>
        <p:nvSpPr>
          <p:cNvPr id="117" name="Shape 114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8" name="Text 115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his</a:t>
            </a:r>
            <a:endParaRPr lang="en-US" sz="750" dirty="0"/>
          </a:p>
        </p:txBody>
      </p:sp>
      <p:sp>
        <p:nvSpPr>
          <p:cNvPr id="119" name="Text 116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عِيدُ مِيلَادِهِ</a:t>
            </a:r>
            <a:endParaRPr lang="ar-SA" sz="1500" dirty="0"/>
          </a:p>
        </p:txBody>
      </p:sp>
      <p:sp>
        <p:nvSpPr>
          <p:cNvPr id="120" name="Text 11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(2)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Nationality, origin and languages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الجِنْسِيَّةُ وَالأَصْلُ وَاللُّغَاتُ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51790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nisba: m. · f. · pl.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بِرِيطَانِيٌّ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British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bi-rī-ṭā-niy-yun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بِرِيطَانِيُّونَ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بِرِيطَانِيَّةٌ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بِرِيطَانِيٌّ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51790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nisba: m. · f. · pl.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مِصْرِيٌّ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Egyptian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miṣ-riy-yun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مِصْرِيُّونَ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مِصْرِيَّةٌ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مِصْرِيٌّ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عَرَبِيٌّ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Arab, Arabic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ʿa-ra-biy-yun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294436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عَرَبٌ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عَرَبِيَّةٌ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عَرَبِيٌّ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604504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604504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طَالِبٌ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student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ṭā-li-bun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1058875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طُلَّابٌ · طَالِبَاتٌ</a:t>
            </a:r>
            <a:endParaRPr lang="ar-SA" sz="1450" dirty="0"/>
          </a:p>
        </p:txBody>
      </p:sp>
      <p:sp>
        <p:nvSpPr>
          <p:cNvPr id="81" name="Shape 78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طَالِبَةٌ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طَالِبٌ</a:t>
            </a:r>
            <a:endParaRPr lang="ar-SA" sz="1500" dirty="0"/>
          </a:p>
        </p:txBody>
      </p:sp>
      <p:sp>
        <p:nvSpPr>
          <p:cNvPr id="87" name="Shape 84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origin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4" name="Text 91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أَصْلِي مِنْ …</a:t>
            </a:r>
            <a:endParaRPr lang="ar-SA" sz="3000" dirty="0"/>
          </a:p>
        </p:txBody>
      </p:sp>
      <p:sp>
        <p:nvSpPr>
          <p:cNvPr id="95" name="Text 92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my family comes from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aṣ-lī min …</a:t>
            </a:r>
            <a:endParaRPr lang="en-US" sz="1350" dirty="0"/>
          </a:p>
        </p:txBody>
      </p:sp>
      <p:sp>
        <p:nvSpPr>
          <p:cNvPr id="96" name="Shape 93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her</a:t>
            </a:r>
            <a:endParaRPr lang="en-US" sz="750" dirty="0"/>
          </a:p>
        </p:txBody>
      </p:sp>
      <p:sp>
        <p:nvSpPr>
          <p:cNvPr id="98" name="Text 95"/>
          <p:cNvSpPr txBox="1"/>
          <p:nvPr/>
        </p:nvSpPr>
        <p:spPr>
          <a:xfrm>
            <a:off x="6190488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أَصْلُهَا</a:t>
            </a:r>
            <a:endParaRPr lang="ar-SA" sz="1500" dirty="0"/>
          </a:p>
        </p:txBody>
      </p:sp>
      <p:sp>
        <p:nvSpPr>
          <p:cNvPr id="99" name="Shape 96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his</a:t>
            </a:r>
            <a:endParaRPr lang="en-US" sz="750" dirty="0"/>
          </a:p>
        </p:txBody>
      </p:sp>
      <p:sp>
        <p:nvSpPr>
          <p:cNvPr id="101" name="Text 98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أَصْلُهُ</a:t>
            </a:r>
            <a:endParaRPr lang="ar-SA" sz="1500" dirty="0"/>
          </a:p>
        </p:txBody>
      </p:sp>
      <p:sp>
        <p:nvSpPr>
          <p:cNvPr id="102" name="Shape 99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03" name="Shape 100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04" name="Text 101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105" name="Shape 102"/>
          <p:cNvSpPr/>
          <p:nvPr/>
        </p:nvSpPr>
        <p:spPr>
          <a:xfrm>
            <a:off x="960120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960120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107" name="Shape 104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8" name="Text 105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9" name="Text 106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لُغَةٌ</a:t>
            </a:r>
            <a:endParaRPr lang="ar-SA" sz="3000" dirty="0"/>
          </a:p>
        </p:txBody>
      </p:sp>
      <p:sp>
        <p:nvSpPr>
          <p:cNvPr id="110" name="Text 107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language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lu-gha-tun</a:t>
            </a:r>
            <a:endParaRPr lang="en-US" sz="1350" dirty="0"/>
          </a:p>
        </p:txBody>
      </p:sp>
      <p:sp>
        <p:nvSpPr>
          <p:cNvPr id="111" name="Shape 108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2" name="Text 109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13" name="Text 110"/>
          <p:cNvSpPr txBox="1"/>
          <p:nvPr/>
        </p:nvSpPr>
        <p:spPr>
          <a:xfrm>
            <a:off x="2368296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لُغَاتٌ</a:t>
            </a:r>
            <a:endParaRPr lang="ar-SA" sz="1500" dirty="0"/>
          </a:p>
        </p:txBody>
      </p:sp>
      <p:sp>
        <p:nvSpPr>
          <p:cNvPr id="114" name="Shape 111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5" name="Text 112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116" name="Text 113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لُغَةٌ</a:t>
            </a:r>
            <a:endParaRPr lang="ar-SA" sz="1500" dirty="0"/>
          </a:p>
        </p:txBody>
      </p:sp>
      <p:sp>
        <p:nvSpPr>
          <p:cNvPr id="117" name="Text 11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2 · THE ANSWER LADDER · HOW A SHORT ANSWER BECOMES A STRONG ONE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Climb the ladder: “Tell us about yourself.”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عَرِّفْنَا بِنَفْسِكَ.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201400" y="2123694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201400" y="21236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847088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اسْمِي آدَمُ، وَعُمْرِي خَمْسَ عَشْرَةَ سَنَةً.</a:t>
            </a:r>
            <a:endParaRPr lang="ar-SA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1856232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1 · Answer in a full sentence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 name is Adam, and I am fifteen.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2967228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201400" y="3280410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201400" y="32804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3003804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اسْمِي آدَمُ، وَأَنَا بِرِيطَانِيٌّ، لٰكِنَّ أَصْلِي مِنْ مِصْرَ، لِأَنَّ أَبِي مِصْرِيٌّ.</a:t>
            </a:r>
            <a:endParaRPr lang="ar-SA" sz="235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3012948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2 · + a reason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I am British, but my origin is Egypt, because my dad is Egyptian.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57200" y="4123944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201400" y="4437126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201400" y="44371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160520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وُلِدْتُ فِي بِرْمِنْغْهَامَ، وَأَتَكَلَّمُ الإِنْجِلِيزِيَّةَ وَالعَرَبِيَّةَ فِي البَيْتِ.</a:t>
            </a:r>
            <a:endParaRPr lang="ar-SA" sz="225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4169664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3 · + a detail (time, frequency, example)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I was born in Birmingham, and I speak English and Arabic at home.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57200" y="5280660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1201400" y="5593842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201400" y="5593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5317236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1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وَفِي المُسْتَقْبَلِ سَأَتَعَلَّمُ الفَرَنْسِيَّةَ، فَاللُّغَاتُ فِي رَأْيِي جُزْءٌ مِنْ هُوِيَّتِي.</a:t>
            </a:r>
            <a:endParaRPr lang="ar-SA" sz="210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5326380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4 · + another time frame or an opinion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in the future I will learn French — in my opinion languages are part of my identity.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2 · YOUR TURN · CLIMB THE LADDER FOR EACH QUESTION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ladder: build each answer level by level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اصْعَدِ السُّلَّمَ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45752" y="18105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3–4 · + detail / time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06831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2 · + reason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1 · answer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64040" y="2267712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وَالآنَ أَسْكُنُ فِي …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2267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617720" y="22677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وُلِدْتُ فِي …</a:t>
            </a:r>
            <a:endParaRPr lang="ar-SA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وُلِدْتَ؟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464040" y="3054096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وَالسَّنَةَ القَادِمَةَ سَوْفَ …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086600" y="305409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وَأُحِبُّهُ 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30540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عِيدُ مِيلَادِي فِي …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0540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عِيدُ مِيلَادِكَ؟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309981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30998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464040" y="3840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وَعِنْدَمَا كُنْتُ صَغِيرًا …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708660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461772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أَتَكَلَّمُ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لُغَةً تَتَكَلَّمُ؟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626864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464040" y="4626864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زُرْتُ … / سَأَزُورُ …</a:t>
            </a:r>
            <a:endParaRPr lang="ar-SA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7086600" y="462686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وَأَنَا فَخُورٌ لِأَنَّ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4617720" y="462686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أَصْلُ عَائِلَتِي مِنْ …</a:t>
            </a:r>
            <a:endParaRPr lang="ar-SA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62686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أَيْنَ أَصْلُ عَائِلَتِكَ؟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626864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Leader asks · Speaker climbs as high as they can · Coach says which level they reached. Swap for each question.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3 · ROLE PLAY · HOW TO USE YOUR 1 MINUTE OF PREPARATION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Plan a role-play card in one minute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خَطِّطْ فِي دَقِيقَةٍ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FOUR MOVES IN ONE MINUTE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 am I and WHO is the examiner? (formal or friendly · a man or a woman → your endings).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For each task, find the QUESTION WORD and the TENSE (past · present · future).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Plan only your FIRST 2–3 words for each task — not whole sentences.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Task ! is unexpected: listen for the question word, then answer in a full sentence.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QUESTION WORD → HOW TO START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…؟ ← رَقْمٌ + اسْمٌ</a:t>
            </a:r>
            <a:endParaRPr lang="ar-SA" sz="265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5511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→ a number + a noun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9582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14116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…؟ ← فِي السَّاعَةِ … / يَوْمَ …</a:t>
            </a:r>
            <a:endParaRPr lang="ar-SA" sz="265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85067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→ at … o’clock / on …day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1538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33672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…؟ ← لِأَنَّ …</a:t>
            </a:r>
            <a:endParaRPr lang="ar-SA" sz="265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804623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→ because …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995160" y="523494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40" name="Text 37"/>
          <p:cNvSpPr txBox="1"/>
          <p:nvPr/>
        </p:nvSpPr>
        <p:spPr>
          <a:xfrm>
            <a:off x="6949440" y="5253228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…؟ ← نَعَمْ / لَا + جُمْلَةٌ كَامِلَةٌ</a:t>
            </a:r>
            <a:endParaRPr lang="ar-SA" sz="2650" dirty="0"/>
          </a:p>
        </p:txBody>
      </p:sp>
      <p:sp>
        <p:nvSpPr>
          <p:cNvPr id="41" name="Text 38"/>
          <p:cNvSpPr txBox="1"/>
          <p:nvPr/>
        </p:nvSpPr>
        <p:spPr>
          <a:xfrm>
            <a:off x="6949440" y="5824179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yes/no question → yes / no + a full sentence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1 · CORE · DEVELOP · THE PLAN IS GIVEN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 — Registering at a summer school</a:t>
            </a:r>
            <a:endParaRPr lang="en-US" sz="21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التَّسْجِيلُ فِي مَدْرَسَةٍ صَيْفِيَّةٍ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← اسْمِي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your full name.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مَا اسْمُكَ الكَامِلُ؟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← عُمْرِي … سَنَةً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your age.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عُمْرُكَ؟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← أَنَا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your nationality.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جِنْسِيَّتُكَ؟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← أَتَكَلَّمُ … وَ…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which languages you speak.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لُغَاتٍ تَتَكَلَّمُ؟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75320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← لِأَنِّي أُرِيدُ أَنْ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تُرِيدُ أَنْ تَتَعَلَّمَ العَرَبِيَّةَ؟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new student · Leader = the receptionist. Use the plan column in your 1 minute of preparation, then hide it and speak. Then swap roles.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2 · DEVELOP · STRETCH · PLAN IT YOURSELF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 — A profile interview for the school website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مُقَابَلَةٌ لِمَوْقِعِ المَدْرَسَةِ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 it: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your origin and birthplace.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أَيْنَ أَنْتَ؟ وَأَيْنَ وُلِدْتَ؟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93608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yourself with an example.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تَصِفُ نَفْسَكَ؟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past reason.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انْتَقَلْتَ إِلَى مَدْرَسَتِنَا؟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a question about the website or the school.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سَنَكْتُبُ عَنْكَ فِي المَوْقِعِ.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(opinion + reason).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يَجْعَلُكَ فَخُورًا بِهُوِيَّتِكَ؟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new student · Leader = the website editor (a Year 11 student). In your 1 minute, write the plan column in your book. Task ! : the Leader reads it without warning. Then swap roles.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4 · TOPIC CONVERSATION · KEEP THE ANSWER GOING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A-R-E-T: four links in every answer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سِلْسِلَةُ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3456432"/>
          </a:xfrm>
          <a:prstGeom prst="roundRect">
            <a:avLst>
              <a:gd name="adj" fmla="val 211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 · R · E · 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— ANSWER the question in a full sentence.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035808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292608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 — give a REASON: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/ لِذٰلِكَ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378561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367588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 — add an EXAMPLE or a detail: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 … / كُلَّ يَوْمٍ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45354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442569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 — change the TIME: past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أَمْسِ / فِي المَاضِي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future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سَوْفَ / فِي المُسْتَقْبَلِ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COACH PUSHES WITH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1244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8820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06496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مِثْلَ مَاذَا؟</a:t>
            </a:r>
            <a:endParaRPr lang="ar-SA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73180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Like what?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0014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18432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المَاضِي؟ / وَفِي المُسْتَقْبَلِ؟</a:t>
            </a:r>
            <a:endParaRPr lang="ar-SA" sz="26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785116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in the past? / And in the future?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949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58368" y="546811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ROUTES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2606040" y="5449824"/>
            <a:ext cx="8961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Core: A + R. Develop: A + R + E. Stretch: all four, plus an opinion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a contrast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CONVERSATION CARD · THE LEADER ASKS, THE COACH PUSHES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Conversation: answer, then keep going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هُوِيَّتِي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177272" y="181051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91272" y="181051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Coach’s follow-up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23951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13848" y="226771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909560" y="226771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تُحِبُّهَا؟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276088" y="226771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do you live?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تَسْكُنُ؟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213848" y="2881884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909560" y="2881884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البَيْتِ؟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276088" y="2881884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first language?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لُغَتُكَ الأُولَى؟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213848" y="3496056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909560" y="3496056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مَثَلًا؟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5276088" y="3496056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yourself in three words.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نَفْسَكَ بِثَلَاثِ كَلِمَاتٍ.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213848" y="4110228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7909560" y="4110228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مَنْ؟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276088" y="4110228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did you celebrate your last birthday?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110228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احْتَفَلْتَ بِعِيدِ مِيلَادِكَ الأَخِيرِ؟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213848" y="4724400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909560" y="4724400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فِي رَأْيِكَ؟</a:t>
            </a:r>
            <a:endParaRPr lang="ar-SA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5276088" y="4724400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identity the place where you were born?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1051560" y="4724400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الهُوِيَّةُ هِيَ المَكَانُ الَّذِي وُلِدْتَ فِيهِ؟</a:t>
            </a:r>
            <a:endParaRPr lang="ar-SA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213848" y="533857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7909560" y="533857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الَّذِي لَا يَتَغَيَّرُ؟</a:t>
            </a:r>
            <a:endParaRPr lang="ar-SA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5276088" y="533857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lived in another country, how would your life change?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1051560" y="533857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عِشْتَ فِي بَلَدٍ آخَرَ، كَيْفَ تَتَغَيَّرُ حَيَاتُكَ؟</a:t>
            </a:r>
            <a:endParaRPr lang="ar-SA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Each Speaker answers three questions (one per route if you can), using A-R-E-T. The Coach asks the follow-up. Swap.</a:t>
            </a:r>
            <a:endParaRPr lang="en-US" sz="1150" dirty="0"/>
          </a:p>
        </p:txBody>
      </p:sp>
      <p:sp>
        <p:nvSpPr>
          <p:cNvPr id="62" name="Text 5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THE ONE-MINUTE TALK · RECORD AND REVIEW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One minute: this is me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أَنَا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5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one minute — no stopping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Talk for one minute introducing yourself: name, age, birthday, where you were born and live, nationality and origin, languages — and one thing that makes you proud.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jot 4 key words (one per bullet) —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Leader times it (record it on your phone or in Teams if you can).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Coach: tick the checklist on the next slide, then WWW + EBI.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Swap. Listen back to your recording at home and fix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five facts — name, age, city, nationality, languages.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60 seconds: add origin, a reason, and your last birthday (past).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90 seconds: add an opinion about identity and a future plan with a reason.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اسْمِي … وَعُمْرِي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name is … and I am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وُلِدْتُ فِي … لٰكِنَّ أَصْلِي مِنْ …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was born in … but my origin is …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أَتَكَلَّمُ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speak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فَخُورٌ بِأَنِّي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proud that I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COACH · CHECKLIST FOR EVERY STEP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Coach: tick, then give WWW + EBI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المُدَرِّبِ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54112" y="181051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82512" y="1810512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705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Speaker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790688" y="226771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19088" y="226771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question / task in a FULL sentence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90688" y="2881884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19088" y="2881884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personal details in full sentences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اسْمِي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عُمْرِي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أَسْكُنُ فِي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790688" y="3496056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19088" y="3496056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a detail (time, frequency, example)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790688" y="4110228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419088" y="4110228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made nationality adjectives agree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بِرِيطَانِيٌّ / بِرِيطَانِيَّةٌ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790688" y="4724400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419088" y="4724400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changed the time frame (past or future) or gave an opinion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790688" y="533857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419088" y="533857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is kind and specific: “WWW: you used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twice. EBI: add a past sentence.”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اسْمِي سَامِي يُوسُفُ.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name is Sami Yusuf.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مَا اسْمُكَ الكَامِلُ؟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عُمْرِي سِتَّ عَشْرَةَ سَنَةً.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sixteen.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عُمْرُكَ؟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بِرِيطَانِيٌّ.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British.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جِنْسِيَّتُكَ؟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أَتَكَلَّمُ الإِنْجِلِيزِيَّةَ وَقَلِيلًا مِنَ العَرَبِيَّةِ.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speak English and a little Arabic.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لُغَاتٍ تَتَكَلَّمُ؟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لِأَنِّي أُرِيدُ أَنْ أَتَكَلَّمَ مَعَ عَائِلَةِ أُمِّي.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I want to talk with my mother’s family.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تُرِيدُ أَنْ تَتَعَلَّمَ العَرَبِيَّةَ؟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وُلِدْتُ فِي مَانْشِسْتَرَ، لٰكِنَّ أَصْلِي مِنَ السُّودَانِ، لِأَنَّ وَالِدَيَّ سُودَانِيَّانِ.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was born in Manchester, but my origin is Sudan, because my parents are Sudanese.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أَيْنَ أَنْتَ؟ وَأَيْنَ وُلِدْتَ؟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شَخْصٌ اجْتِمَاعِيٌّ وَمَرِحٌ؛ مَثَلًا، أَتَعَرَّفُ عَلَى النَّاسِ بِسُرْعَةٍ.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sociable and cheerful — for example, I get to know people quickly.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تَصِفُ نَفْسَكَ؟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انْتَقَلْنَا إِلَى هٰذِهِ المَدِينَةِ فِي الصَّيْفِ، لِأَنَّ أُمِّي وَجَدَتْ عَمَلًا جَدِيدًا هُنَا.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moved to this city in the summer, because my mum found a new job here.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انْتَقَلْتَ إِلَى مَدْرَسَتِنَا؟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وَهَلْ يُمْكِنُ أَنْ أَكْتُبَ مَقَالَةً لِلْمَوْقِعِ أَيْضًا؟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could I write an article for the website too?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سَنَكْتُبُ عَنْكَ فِي المَوْقِعِ.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فَخُورٌ لِأَنِّي أَعِيشُ بَيْنَ ثَقَافَتَيْنِ، فَأَفْهَمُ النَّاسَ بِطَرِيقَةٍ أَوْسَعَ.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proud because I live between two cultures, so I understand people more widely.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يَجْعَلُكَ فَخُورًا بِهُوِيَّتِكَ؟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CONVERSATION AND ONE-MINUTE TALK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Strong answers to compare with yours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نَمَاذِجُ لِلْمُقَارَنَةِ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لُغَتِي الأُولَى هِيَ الإِنْجِلِيزِيَّةُ، لِأَنِّي وُلِدْتُ فِي لَنْدَنَ، لٰكِنْ نَتَكَلَّمُ الأُورْدِيَّةَ فِي البَيْتِ؛ وَفِي المُسْتَقْبَلِ سَأَتَكَلَّمُ العَرَبِيَّةَ بِطَلَاقَةٍ.</a:t>
            </a:r>
            <a:endParaRPr lang="ar-SA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English · R: born in London · E: Urdu at home · T: in the future I’ll speak Arabic fluently.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لُغَتُكَ الأُولَى؟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احْتَفَلْتُ مَعَ أُسْرَتِي فِي مَطْعَمٍ تُرْكِيٍّ، لِأَنَّهُ مَكَانِي المُفَضَّلُ؛ أَعْطَتْنِي أُخْتِي كِتَابًا، وَفِي عِيدِ مِيلَادِي القَادِمِ سَأَدْعُو أَصْدِقَائِي إِلَى البَيْتِ.</a:t>
            </a:r>
            <a:endParaRPr lang="ar-SA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with my family in a Turkish restaurant · R: my favourite place · E: my sister gave me a book · T: next birthday I’ll invite friends home.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احْتَفَلْتَ بِعِيدِ مِيلَادِكَ الأَخِيرِ؟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 لَا، لِأَنَّ الهُوِيَّةَ أَكْبَرُ مِنْ مَكَانٍ وَاحِدٍ؛ صَحِيحٌ أَنِّي وُلِدْتُ فِي بِرِيطَانِيَا، غَيْرَ أَنَّ لُغَةَ جَدَّتِي وَطَعَامَهَا جُزْءٌ مِنِّي أَيْضًا.</a:t>
            </a:r>
            <a:endParaRPr lang="ar-SA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Opinion: no · R: identity is bigger than one place · concession: I was born in Britain, but my grandmother’s language and food are part of me too.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الهُوِيَّةُ هِيَ المَكَانُ الَّذِي وُلِدْتَ فِيهِ؟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Find the A, R, E and T in each answer. Which link do you usually forget?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planned my first words from the question word.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climbed to level 3: answer + reason + detail.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today’s key structure correctly when I spoke.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all four A-R-E-T links and spoke for 90 seconds.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TB-L01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ran your own speaking practice!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TB-L01 · Writing practice room · Decode, plan, write and check — step by step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answer + reason + detail + another time frame — every time you speak.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TB-L01 · Speaking Practice Room — Identity and Personal Profiles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2026-10-25T14:24:14Z</dcterms:created>
  <dcterms:modified xsi:type="dcterms:W3CDTF">2026-10-25T14:24:14Z</dcterms:modified>
</cp:coreProperties>
</file>