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PRACTICE ROOM AT A GLANCE — 55–60 minutes; short launch in the main room, then writing pairs in breakout rooms (each student writes their OWN text; the buddy checks), back together to compare.
0–2 Welcome · 2–5 How the room works · ROOMS: Step 1 Q1 warm-up (4) · Step 2 Decode the Q2 task (6) · Step 3 Upgrade sentences (6) · Step 4 Write Q2 + buddy swap (14) · Step 5 Spot and fix + buddy check (6) · Step 6 One Q3 paragraph (10) · back together: Check yourself (5) · Self-check + close (2).
PURPOSE: students learn a REPEATABLE PROCESS for Paper 4 (decode → plan → write → check) and write independently, with support that fades.
CONTENT: Advanced Topic B · Personal and Social Life, Lesson 9 (Invitations, Holidays and Past Experiences, TB-L09) — new writing tasks (not the Exam Practice workshop tasks).
WHERE TO WRITE: a page in the class notebook / a shared document (each student their own), or paper + a photo to the teacher. Buddies read each other’s page in Step 4 and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(2 min). Show where students write. Then open the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Personal answers, so no single model: the buddy checks meaning and spelling. Core: boxes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(2 min). Missing a bullet is the most common way to lose marks in Q2 — decoding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read the task. Then decode it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(3 min). Students decode in pairs; Core students may use the English on the task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answers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(2 min). Each line adds ONE thing. Students will do the same with their own sentences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support. Core: use the Core frames for every bullet. Develop: use the Develop frames only if stuck. Stretch: no frames — add a contrast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(14 min). Teacher visits each room and reads ONE paragraph per student: one correction, one praise.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(2 min). One paragraph done well is the building block of Q3: four paragraphs like this = a full Q3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(8 min). Core: 3–4 sentences using the bank. Develop: the full formula. Stretch: the formula + a contrast and a future link. Homework: write the other three paragraphs.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(77 words). CHECK YOURSELF (3 min, main room or rooms). Find the four bullets. Then each student copies ONE phrase from the model into their own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(66 words). CHECK YOURSELF (2 min). Students label T, D, R and F in the model, then in their own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B · GUIDED PRACTICE  ·  TB-L09</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TB-L09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Practice Room — Invitations and Past Experiences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الكِتَابَةِ — الدَّعَوَاتُ وَالتَّجَارِبُ</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practise the writing process in breakout rooms: a Q1 warm-up, decoding a new Q2 task (a surprise party you organised), upgrading sentences, writing with a buddy, spotting and fixing errors, and one Q3 paragraph with the T-D-R-F formula.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TB-L09 · Advanced Topic B · Personal and Social Life · guided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B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B › TB-L09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TB-L09</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steps to a strong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TB-L09</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1: Q1 form warm-up.</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الاسْتِمَارَةُ</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2: decode the question.</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افْهَمِ السُّؤَالَ</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3: upgrade your sentences.</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حَسِّنْ جُمَلَكَ</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4: write Q2, then swap with your buddy.</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5: spot and fix · buddy check.</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صَحِّحْ</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1E6B52"/>
          </a:solidFill>
          <a:ln w="12700">
            <a:solidFill>
              <a:srgbClr val="1E6B52"/>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6: one Q3 paragraph.</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فِقْرَةٌ</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Everyone writes their own answer. Your buddy reads it and checks it with the checklist. The models come at the very end — try first!</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WRITING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alone, check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TB-L09</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IT WORKS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Rooms of two or three. Each person writes their OWN answer on their own page.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keeps the time for each step and moves the room on.</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BUDDY — after each writing step, swap pages and check with the checklist (Step 5).</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Try every step BEFORE you look at a model. The models are at the end.</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PROCESS YOU WILL USE IN THE EXAM</a:t>
            </a:r>
            <a:endParaRPr lang="en-US" sz="1000" dirty="0"/>
          </a:p>
        </p:txBody>
      </p:sp>
      <p:sp>
        <p:nvSpPr>
          <p:cNvPr id="31" name="Text 28"/>
          <p:cNvSpPr txBox="1"/>
          <p:nvPr/>
        </p:nvSpPr>
        <p:spPr>
          <a:xfrm>
            <a:off x="6949440" y="2194560"/>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افْهَمْ ← خَطِّطْ ← اكْتُبْ ← رَاجِعْ</a:t>
            </a:r>
            <a:endParaRPr lang="ar-SA" sz="2800" dirty="0"/>
          </a:p>
        </p:txBody>
      </p:sp>
      <p:sp>
        <p:nvSpPr>
          <p:cNvPr id="32" name="Text 29"/>
          <p:cNvSpPr txBox="1"/>
          <p:nvPr/>
        </p:nvSpPr>
        <p:spPr>
          <a:xfrm>
            <a:off x="6949440" y="3336463"/>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decode → plan → write → check</a:t>
            </a:r>
            <a:endParaRPr lang="en-US" sz="1100" dirty="0"/>
          </a:p>
        </p:txBody>
      </p:sp>
      <p:sp>
        <p:nvSpPr>
          <p:cNvPr id="33" name="Shape 30"/>
          <p:cNvSpPr/>
          <p:nvPr/>
        </p:nvSpPr>
        <p:spPr>
          <a:xfrm>
            <a:off x="6995160" y="4215384"/>
            <a:ext cx="4553712" cy="0"/>
          </a:xfrm>
          <a:prstGeom prst="line">
            <a:avLst/>
          </a:prstGeom>
          <a:noFill/>
          <a:ln w="9525">
            <a:solidFill>
              <a:srgbClr val="E4DCCB"/>
            </a:solidFill>
            <a:prstDash val="dash"/>
          </a:ln>
        </p:spPr>
      </p:sp>
      <p:sp>
        <p:nvSpPr>
          <p:cNvPr id="34" name="Text 31"/>
          <p:cNvSpPr txBox="1"/>
          <p:nvPr/>
        </p:nvSpPr>
        <p:spPr>
          <a:xfrm>
            <a:off x="6949440" y="4233672"/>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نُقْطَةٌ وَاحِدَةٌ = فِقْرَةٌ وَاحِدَةٌ</a:t>
            </a:r>
            <a:endParaRPr lang="ar-SA" sz="2800" dirty="0"/>
          </a:p>
        </p:txBody>
      </p:sp>
      <p:sp>
        <p:nvSpPr>
          <p:cNvPr id="35" name="Text 32"/>
          <p:cNvSpPr txBox="1"/>
          <p:nvPr/>
        </p:nvSpPr>
        <p:spPr>
          <a:xfrm>
            <a:off x="6949440" y="5375575"/>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bullet point = one paragraph</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1 · Q1 WARM-UP · 4 MINUTES · A SHORT ANSWER IN EACH BOX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Party invitation: reply slip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رَدٌّ عَلَى دَعْوَةٍ إِلَى حَفْلَةٍ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99832" y="1810512"/>
            <a:ext cx="3858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Tip</a:t>
            </a:r>
            <a:endParaRPr lang="en-US" sz="1100" dirty="0"/>
          </a:p>
        </p:txBody>
      </p:sp>
      <p:sp>
        <p:nvSpPr>
          <p:cNvPr id="17" name="Text 14"/>
          <p:cNvSpPr txBox="1"/>
          <p:nvPr/>
        </p:nvSpPr>
        <p:spPr>
          <a:xfrm>
            <a:off x="48737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836408" y="2267712"/>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name + family name.</a:t>
            </a:r>
            <a:endParaRPr lang="en-US" sz="1100" dirty="0"/>
          </a:p>
        </p:txBody>
      </p:sp>
      <p:sp>
        <p:nvSpPr>
          <p:cNvPr id="22" name="Text 19"/>
          <p:cNvSpPr txBox="1"/>
          <p:nvPr/>
        </p:nvSpPr>
        <p:spPr>
          <a:xfrm>
            <a:off x="49103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818120" y="2881884"/>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نَعَمْ، بِكُلِّ سُرُورٍ · لَا، آسِفٌ</a:t>
            </a:r>
            <a:endParaRPr lang="ar-SA" sz="2000" dirty="0"/>
          </a:p>
        </p:txBody>
      </p:sp>
      <p:sp>
        <p:nvSpPr>
          <p:cNvPr id="29" name="Text 26"/>
          <p:cNvSpPr txBox="1"/>
          <p:nvPr/>
        </p:nvSpPr>
        <p:spPr>
          <a:xfrm>
            <a:off x="49103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Will you attend?</a:t>
            </a:r>
            <a:endParaRPr lang="en-US" sz="1100" dirty="0"/>
          </a:p>
        </p:txBody>
      </p:sp>
      <p:sp>
        <p:nvSpPr>
          <p:cNvPr id="30" name="Text 27"/>
          <p:cNvSpPr txBox="1"/>
          <p:nvPr/>
        </p:nvSpPr>
        <p:spPr>
          <a:xfrm>
            <a:off x="1051560" y="2881884"/>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سَتَحْضُرُ؟</a:t>
            </a:r>
            <a:endParaRPr lang="ar-SA" sz="1700" dirty="0"/>
          </a:p>
        </p:txBody>
      </p:sp>
      <p:sp>
        <p:nvSpPr>
          <p:cNvPr id="31" name="Text 28"/>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818120" y="3496056"/>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شَخْصٌ وَاحِدٌ · شَخْصَانِ</a:t>
            </a:r>
            <a:endParaRPr lang="ar-SA" sz="2000" dirty="0"/>
          </a:p>
        </p:txBody>
      </p:sp>
      <p:sp>
        <p:nvSpPr>
          <p:cNvPr id="36" name="Text 33"/>
          <p:cNvSpPr txBox="1"/>
          <p:nvPr/>
        </p:nvSpPr>
        <p:spPr>
          <a:xfrm>
            <a:off x="49103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Number of guests with you</a:t>
            </a:r>
            <a:endParaRPr lang="en-US" sz="1100" dirty="0"/>
          </a:p>
        </p:txBody>
      </p:sp>
      <p:sp>
        <p:nvSpPr>
          <p:cNvPr id="37" name="Text 34"/>
          <p:cNvSpPr txBox="1"/>
          <p:nvPr/>
        </p:nvSpPr>
        <p:spPr>
          <a:xfrm>
            <a:off x="1051560" y="3496056"/>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عَدَدُ الضُّيُوفِ مَعَكَ</a:t>
            </a:r>
            <a:endParaRPr lang="ar-SA" sz="1700" dirty="0"/>
          </a:p>
        </p:txBody>
      </p:sp>
      <p:sp>
        <p:nvSpPr>
          <p:cNvPr id="38" name="Text 35"/>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818120" y="4110228"/>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السَّمَكُ · لَا يُوجَدُ</a:t>
            </a:r>
            <a:endParaRPr lang="ar-SA" sz="2000" dirty="0"/>
          </a:p>
        </p:txBody>
      </p:sp>
      <p:sp>
        <p:nvSpPr>
          <p:cNvPr id="43" name="Text 40"/>
          <p:cNvSpPr txBox="1"/>
          <p:nvPr/>
        </p:nvSpPr>
        <p:spPr>
          <a:xfrm>
            <a:off x="49103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food you don’t eat</a:t>
            </a:r>
            <a:endParaRPr lang="en-US" sz="1100" dirty="0"/>
          </a:p>
        </p:txBody>
      </p:sp>
      <p:sp>
        <p:nvSpPr>
          <p:cNvPr id="44" name="Text 41"/>
          <p:cNvSpPr txBox="1"/>
          <p:nvPr/>
        </p:nvSpPr>
        <p:spPr>
          <a:xfrm>
            <a:off x="1051560" y="4110228"/>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طَعَامٌ لَا تَأْكُلُهُ</a:t>
            </a:r>
            <a:endParaRPr lang="ar-SA" sz="1700" dirty="0"/>
          </a:p>
        </p:txBody>
      </p:sp>
      <p:sp>
        <p:nvSpPr>
          <p:cNvPr id="45" name="Text 42"/>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7818120" y="4724400"/>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السَّابِعَةُ مَسَاءً</a:t>
            </a:r>
            <a:endParaRPr lang="ar-SA" sz="2000" dirty="0"/>
          </a:p>
        </p:txBody>
      </p:sp>
      <p:sp>
        <p:nvSpPr>
          <p:cNvPr id="50" name="Text 47"/>
          <p:cNvSpPr txBox="1"/>
          <p:nvPr/>
        </p:nvSpPr>
        <p:spPr>
          <a:xfrm>
            <a:off x="49103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Arrival time</a:t>
            </a:r>
            <a:endParaRPr lang="en-US" sz="1100" dirty="0"/>
          </a:p>
        </p:txBody>
      </p:sp>
      <p:sp>
        <p:nvSpPr>
          <p:cNvPr id="51" name="Text 48"/>
          <p:cNvSpPr txBox="1"/>
          <p:nvPr/>
        </p:nvSpPr>
        <p:spPr>
          <a:xfrm>
            <a:off x="1051560" y="4724400"/>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وَقْتُ الوُصُولِ</a:t>
            </a:r>
            <a:endParaRPr lang="ar-SA" sz="1700" dirty="0"/>
          </a:p>
        </p:txBody>
      </p:sp>
      <p:sp>
        <p:nvSpPr>
          <p:cNvPr id="52" name="Text 49"/>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7818120" y="5338572"/>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شُكْرًا عَلَى الدَّعْوَةِ، وَ …</a:t>
            </a:r>
            <a:endParaRPr lang="ar-SA" sz="2000" dirty="0"/>
          </a:p>
        </p:txBody>
      </p:sp>
      <p:sp>
        <p:nvSpPr>
          <p:cNvPr id="57" name="Text 54"/>
          <p:cNvSpPr txBox="1"/>
          <p:nvPr/>
        </p:nvSpPr>
        <p:spPr>
          <a:xfrm>
            <a:off x="49103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a short message to the host</a:t>
            </a:r>
            <a:endParaRPr lang="en-US" sz="1100" dirty="0"/>
          </a:p>
        </p:txBody>
      </p:sp>
      <p:sp>
        <p:nvSpPr>
          <p:cNvPr id="58" name="Text 55"/>
          <p:cNvSpPr txBox="1"/>
          <p:nvPr/>
        </p:nvSpPr>
        <p:spPr>
          <a:xfrm>
            <a:off x="1051560" y="533857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رِسَالَةٌ قَصِيرَةٌ لِلْمُضِيفِ</a:t>
            </a:r>
            <a:endParaRPr lang="ar-SA" sz="1700" dirty="0"/>
          </a:p>
        </p:txBody>
      </p:sp>
      <p:sp>
        <p:nvSpPr>
          <p:cNvPr id="59" name="Text 56"/>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a word or a short phrase — about yourself. Buddy check: does each answer match exactly what the box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2 · DECODE THE QUESTION BEFORE YOU WRITE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moves to decode a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افْهَمِ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TB-L09</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DECODE IN TWO MINUTES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do I write (an email, a message, a blog) and to WHOM (a friend → informal)?</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NUMBER the bullet points 1–4. Each one = one short paragraph.</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UNDERLINE the question word in each bullet and decide the TENSE it needs.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Write ONE idea (in English or Arabic) next to each bullet. That is your plan.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VERB IN THE BULLET TELLS YOU THE TENSE</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فَعَلْتَ؟ ← فَعَلْتُ (المَاضِي)</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did you do? → past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تَفْعَلُ عَادَةً؟ ← أَفْعَلُ (الحَاضِرُ)</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do you usually do? → present</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سَتَفْعَلُ؟ ← سَأَفْعَلُ (المُسْتَقْبَلُ)</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will you do? → future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 رَأْيُكَ؟ ← فِي رَأْيِي … لِأَنَّ …</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opinion? → in my opinion … because …</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TODAY’S QUESTION 2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the surprise party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الحَفْلَةُ المُفَاجِئَةُ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TB-L09</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You organised a surprise party for someone in your family. Write an email in Arabic to your friend of about 80–90 words. You must include: • who the party was for and why • how you prepared, in order • what happened when the person arrived • what you will organise next time.</a:t>
            </a:r>
            <a:endParaRPr lang="en-US" sz="12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نَظَّمْتُ حَفْلَةً مُفَاجِئَةً لِأَخِي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organised a surprise party for my brother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أَوَّلًا … ثُمَّ … وَبَعْدَ ذٰلِكَ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first … then … after that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عِنْدَمَا دَخَلَ / دَخَلَتْ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when he / she came in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المَرَّةِ القَادِمَةِ سَأُنَظِّمُ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next time I will organise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YOUR TURN · DECODE EACH BULLET (IN YOUR BOOK)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Decode it: question word · tense · my idea</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حَلِّلِ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idea</a:t>
            </a:r>
            <a:endParaRPr lang="en-US" sz="1100" dirty="0"/>
          </a:p>
        </p:txBody>
      </p:sp>
      <p:sp>
        <p:nvSpPr>
          <p:cNvPr id="17" name="Text 14"/>
          <p:cNvSpPr txBox="1"/>
          <p:nvPr/>
        </p:nvSpPr>
        <p:spPr>
          <a:xfrm>
            <a:off x="61539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933688" y="2267712"/>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619048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3" name="Text 20"/>
          <p:cNvSpPr txBox="1"/>
          <p:nvPr/>
        </p:nvSpPr>
        <p:spPr>
          <a:xfrm>
            <a:off x="1051560" y="2267712"/>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اكْتُبْ رِسَالَةً إِلَى صَدِيقِكَ عَنْ حَفْلَةٍ مُفَاجِئَةٍ (٨٠–٩٠ كَلِمَةً).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933688" y="300471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619048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0" name="Text 27"/>
          <p:cNvSpPr txBox="1"/>
          <p:nvPr/>
        </p:nvSpPr>
        <p:spPr>
          <a:xfrm>
            <a:off x="1051560" y="300471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لِمَنْ كَانَتِ الحَفْلَةُ؟ وَلِمَاذَا؟</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933688" y="3741725"/>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619048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1051560" y="3741725"/>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اسْتَعْدَدْتَ؟</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933688" y="4478731"/>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619048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2" name="Text 39"/>
          <p:cNvSpPr txBox="1"/>
          <p:nvPr/>
        </p:nvSpPr>
        <p:spPr>
          <a:xfrm>
            <a:off x="1051560" y="4478731"/>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حَدَثَ عِنْدَمَا وَصَلَ الشَّخْصُ؟</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933688" y="521573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619048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7" name="Text 44"/>
          <p:cNvSpPr txBox="1"/>
          <p:nvPr/>
        </p:nvSpPr>
        <p:spPr>
          <a:xfrm>
            <a:off x="1051560" y="521573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سَتُنَظِّمُ فِي المَرَّةِ القَادِمَةِ؟</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Copy the two empty columns into your book and fill them in. Then check with your buddy on the next slide.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CHECK YOUR DECODING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Decoded: what each bullet needs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14232" y="1810512"/>
            <a:ext cx="2944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560527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50808" y="2267712"/>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friend about a surprise party (80–90 words).</a:t>
            </a:r>
            <a:endParaRPr lang="en-US" sz="1100" dirty="0"/>
          </a:p>
        </p:txBody>
      </p:sp>
      <p:sp>
        <p:nvSpPr>
          <p:cNvPr id="22" name="Text 19"/>
          <p:cNvSpPr txBox="1"/>
          <p:nvPr/>
        </p:nvSpPr>
        <p:spPr>
          <a:xfrm>
            <a:off x="564184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email to a FRIEND → informal greeting and closing</a:t>
            </a:r>
            <a:endParaRPr lang="en-US" sz="1100" dirty="0"/>
          </a:p>
        </p:txBody>
      </p:sp>
      <p:sp>
        <p:nvSpPr>
          <p:cNvPr id="23" name="Text 20"/>
          <p:cNvSpPr txBox="1"/>
          <p:nvPr/>
        </p:nvSpPr>
        <p:spPr>
          <a:xfrm>
            <a:off x="1051560" y="2267712"/>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اكْتُبْ رِسَالَةً إِلَى صَدِيقِكَ عَنْ حَفْلَةٍ مُفَاجِئَةٍ (٨٠–٩٠ كَلِمَةً).</a:t>
            </a:r>
            <a:endParaRPr lang="ar-SA" sz="16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750808" y="300471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it was for, and why</a:t>
            </a:r>
            <a:endParaRPr lang="en-US" sz="1100" dirty="0"/>
          </a:p>
        </p:txBody>
      </p:sp>
      <p:sp>
        <p:nvSpPr>
          <p:cNvPr id="27" name="Text 24"/>
          <p:cNvSpPr txBox="1"/>
          <p:nvPr/>
        </p:nvSpPr>
        <p:spPr>
          <a:xfrm>
            <a:off x="5641848" y="300471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لِمَنْ كَانَتْ … وَلِمَاذَا</a:t>
            </a:r>
            <a:pPr algn="l" indent="0" marL="0">
              <a:buNone/>
            </a:pPr>
            <a:r>
              <a:rPr lang="en-US" sz="1100" dirty="0">
                <a:solidFill>
                  <a:srgbClr val="5A6472"/>
                </a:solidFill>
                <a:latin typeface="Calibri" pitchFamily="34" charset="0"/>
                <a:cs typeface="Amiri" pitchFamily="2" charset="-78"/>
              </a:rPr>
              <a:t> → PAST + a reason</a:t>
            </a:r>
            <a:endParaRPr lang="en-US" sz="1100" dirty="0"/>
          </a:p>
        </p:txBody>
      </p:sp>
      <p:sp>
        <p:nvSpPr>
          <p:cNvPr id="28" name="Text 25"/>
          <p:cNvSpPr txBox="1"/>
          <p:nvPr/>
        </p:nvSpPr>
        <p:spPr>
          <a:xfrm>
            <a:off x="1051560" y="300471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لِمَنْ كَانَتِ الحَفْلَةُ؟ وَلِمَاذَا؟</a:t>
            </a:r>
            <a:endParaRPr lang="ar-SA" sz="16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750808" y="3741725"/>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you prepared, in order</a:t>
            </a:r>
            <a:endParaRPr lang="en-US" sz="1100" dirty="0"/>
          </a:p>
        </p:txBody>
      </p:sp>
      <p:sp>
        <p:nvSpPr>
          <p:cNvPr id="32" name="Text 29"/>
          <p:cNvSpPr txBox="1"/>
          <p:nvPr/>
        </p:nvSpPr>
        <p:spPr>
          <a:xfrm>
            <a:off x="5641848" y="3741725"/>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كَيْفَ اسْتَعْدَدْتَ</a:t>
            </a:r>
            <a:pPr algn="l" indent="0" marL="0">
              <a:buNone/>
            </a:pPr>
            <a:r>
              <a:rPr lang="en-US" sz="1100" dirty="0">
                <a:solidFill>
                  <a:srgbClr val="5A6472"/>
                </a:solidFill>
                <a:latin typeface="Calibri" pitchFamily="34" charset="0"/>
                <a:cs typeface="Amiri" pitchFamily="2" charset="-78"/>
              </a:rPr>
              <a:t> → PAST, in order (</a:t>
            </a:r>
            <a:pPr algn="l" indent="0" marL="0">
              <a:buNone/>
            </a:pPr>
            <a:r>
              <a:rPr lang="ar-SA" altLang="en-US" sz="1450" dirty="0">
                <a:solidFill>
                  <a:srgbClr val="5A6472"/>
                </a:solidFill>
                <a:latin typeface="Amiri" pitchFamily="2" charset="-78"/>
                <a:ea typeface="Amiri" pitchFamily="2" charset="-78"/>
                <a:cs typeface="Amiri" pitchFamily="2" charset="-78"/>
              </a:rPr>
              <a:t>أَوَّلًا</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3" name="Text 30"/>
          <p:cNvSpPr txBox="1"/>
          <p:nvPr/>
        </p:nvSpPr>
        <p:spPr>
          <a:xfrm>
            <a:off x="1051560" y="3741725"/>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اسْتَعْدَدْتَ؟</a:t>
            </a:r>
            <a:endParaRPr lang="ar-SA" sz="16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750808" y="4478731"/>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happened when they arrived</a:t>
            </a:r>
            <a:endParaRPr lang="en-US" sz="1100" dirty="0"/>
          </a:p>
        </p:txBody>
      </p:sp>
      <p:sp>
        <p:nvSpPr>
          <p:cNvPr id="37" name="Text 34"/>
          <p:cNvSpPr txBox="1"/>
          <p:nvPr/>
        </p:nvSpPr>
        <p:spPr>
          <a:xfrm>
            <a:off x="5641848" y="4478731"/>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مَاذَا حَدَثَ عِنْدَمَا</a:t>
            </a:r>
            <a:pPr algn="l" indent="0" marL="0">
              <a:buNone/>
            </a:pPr>
            <a:r>
              <a:rPr lang="en-US" sz="1100" dirty="0">
                <a:solidFill>
                  <a:srgbClr val="5A6472"/>
                </a:solidFill>
                <a:latin typeface="Calibri" pitchFamily="34" charset="0"/>
                <a:cs typeface="Amiri" pitchFamily="2" charset="-78"/>
              </a:rPr>
              <a:t> → PAST + feelings</a:t>
            </a:r>
            <a:endParaRPr lang="en-US" sz="1100" dirty="0"/>
          </a:p>
        </p:txBody>
      </p:sp>
      <p:sp>
        <p:nvSpPr>
          <p:cNvPr id="38" name="Text 35"/>
          <p:cNvSpPr txBox="1"/>
          <p:nvPr/>
        </p:nvSpPr>
        <p:spPr>
          <a:xfrm>
            <a:off x="1051560" y="4478731"/>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حَدَثَ عِنْدَمَا وَصَلَ الشَّخْصُ؟</a:t>
            </a:r>
            <a:endParaRPr lang="ar-SA" sz="16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750808" y="521573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will organise next time</a:t>
            </a:r>
            <a:endParaRPr lang="en-US" sz="1100" dirty="0"/>
          </a:p>
        </p:txBody>
      </p:sp>
      <p:sp>
        <p:nvSpPr>
          <p:cNvPr id="42" name="Text 39"/>
          <p:cNvSpPr txBox="1"/>
          <p:nvPr/>
        </p:nvSpPr>
        <p:spPr>
          <a:xfrm>
            <a:off x="5641848" y="521573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سَتُنَظِّمُ</a:t>
            </a:r>
            <a:pPr algn="l" indent="0" marL="0">
              <a:buNone/>
            </a:pPr>
            <a:r>
              <a:rPr lang="en-US" sz="1100" dirty="0">
                <a:solidFill>
                  <a:srgbClr val="5A6472"/>
                </a:solidFill>
                <a:latin typeface="Calibri" pitchFamily="34" charset="0"/>
                <a:cs typeface="Amiri" pitchFamily="2" charset="-78"/>
              </a:rPr>
              <a:t> → FUTURE (sa-)</a:t>
            </a:r>
            <a:endParaRPr lang="en-US" sz="1100" dirty="0"/>
          </a:p>
        </p:txBody>
      </p:sp>
      <p:sp>
        <p:nvSpPr>
          <p:cNvPr id="43" name="Text 40"/>
          <p:cNvSpPr txBox="1"/>
          <p:nvPr/>
        </p:nvSpPr>
        <p:spPr>
          <a:xfrm>
            <a:off x="1051560" y="521573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سَتُنَظِّمُ فِي المَرَّةِ القَادِمَةِ؟</a:t>
            </a:r>
            <a:endParaRPr lang="ar-SA" sz="16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get the tense right for every bullet? Fix your plan before you write.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3 · UPGRADE A SENTENCE · WATCH IT GROW</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From a simple sentence to a strong one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حَسِّنِ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TB-L09</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ذَهَبْتُ إِلَى زِفَافٍ.</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Simple</a:t>
            </a:r>
            <a:endParaRPr lang="en-US" sz="1250" dirty="0"/>
          </a:p>
          <a:p>
            <a:pPr indent="0" marL="0">
              <a:buNone/>
            </a:pPr>
            <a:r>
              <a:rPr lang="en-US" sz="1050" i="1" dirty="0">
                <a:solidFill>
                  <a:srgbClr val="8A6D1E"/>
                </a:solidFill>
                <a:latin typeface="Calibri" pitchFamily="34" charset="0"/>
                <a:cs typeface="Amiri" pitchFamily="2" charset="-78"/>
              </a:rPr>
              <a:t>I went to a wedding.</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ذَهَبْتُ إِلَى زِفَافِ خَالِي فِي عَمَّانَ فِي الصَّيْفِ المَاضِي.</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detail (time, frequency, how much)</a:t>
            </a:r>
            <a:endParaRPr lang="en-US" sz="1250" dirty="0"/>
          </a:p>
          <a:p>
            <a:pPr indent="0" marL="0">
              <a:buNone/>
            </a:pPr>
            <a:r>
              <a:rPr lang="en-US" sz="1050" i="1" dirty="0">
                <a:solidFill>
                  <a:srgbClr val="8A6D1E"/>
                </a:solidFill>
                <a:latin typeface="Calibri" pitchFamily="34" charset="0"/>
                <a:cs typeface="Amiri" pitchFamily="2" charset="-78"/>
              </a:rPr>
              <a:t>… my uncle’s wedding in Amman last summer.</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ذَهَبْتُ إِلَى زِفَافِ خَالِي فِي عَمَّانَ، وَكَانَ رَائِعًا لِأَنَّ كُلَّ العَائِلَةِ اجْتَمَعَتْ.</a:t>
            </a:r>
            <a:endParaRPr lang="ar-SA" sz="21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 reason</a:t>
            </a:r>
            <a:endParaRPr lang="en-US" sz="1250" dirty="0"/>
          </a:p>
          <a:p>
            <a:pPr indent="0" marL="0">
              <a:buNone/>
            </a:pPr>
            <a:r>
              <a:rPr lang="en-US" sz="1050" i="1" dirty="0">
                <a:solidFill>
                  <a:srgbClr val="8A6D1E"/>
                </a:solidFill>
                <a:latin typeface="Calibri" pitchFamily="34" charset="0"/>
                <a:cs typeface="Amiri" pitchFamily="2" charset="-78"/>
              </a:rPr>
              <a:t>… it was wonderful because the whole family gathered.</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500" b="1" dirty="0">
                <a:solidFill>
                  <a:srgbClr val="1B3B6F"/>
                </a:solidFill>
                <a:latin typeface="Amiri" pitchFamily="2" charset="-78"/>
                <a:ea typeface="Amiri" pitchFamily="2" charset="-78"/>
                <a:cs typeface="Amiri" pitchFamily="2" charset="-78"/>
              </a:rPr>
              <a:t>… وَفِي رَأْيِي كَانَ أَجْمَلَ زِفَافٍ رَأَيْتُهُ، لٰكِنَّهُ كَانَ طَوِيلًا جِدًّا!</a:t>
            </a:r>
            <a:endParaRPr lang="ar-SA" sz="25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an opinion or a contrast</a:t>
            </a:r>
            <a:endParaRPr lang="en-US" sz="1250" dirty="0"/>
          </a:p>
          <a:p>
            <a:pPr indent="0" marL="0">
              <a:buNone/>
            </a:pPr>
            <a:r>
              <a:rPr lang="en-US" sz="1050" i="1" dirty="0">
                <a:solidFill>
                  <a:srgbClr val="8A6D1E"/>
                </a:solidFill>
                <a:latin typeface="Calibri" pitchFamily="34" charset="0"/>
                <a:cs typeface="Amiri" pitchFamily="2" charset="-78"/>
              </a:rPr>
              <a:t>… in my opinion the best wedding I’ve seen — but it was very long!</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3 · YOUR TURN · BUILD THREE STRONG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Sentence builder: choose A or B in each column</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TB-L09</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Sorry, I can’t come because I am ill.</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آسِفٌ</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بِكُلِّ سُرُورٍ</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لَا أَسْتَطِيعُ أَنْ آتِيَ</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لَا أَسْتَطِيعُ أَنْ آتِي</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لِأَنِّي مَرِيضٌ</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لِذٰلِكَ مَرِيضٌ</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First we ate, then we danced.</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أَوَّلًا</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أَخِيرًا</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أَكَلْنَا</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نَأْكُلُ</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ثُمَّ رَقَصْنَا</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ثُمَّ نَرْقُصُ</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Next week we will celebrate my sister’s success.</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الأُسْبُوعَ القَادِمَ</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الأُسْبُوعَ المَاضِي</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سَنَحْتَفِلُ</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احْتَفَلْنَا</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بِنَجَاحِ أُخْتِي</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نَجَاحِ أُخْتِي</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3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TB-L09</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Sorry, I can’t come because I am ill.</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Declining = </a:t>
            </a:r>
            <a:pPr algn="l" indent="0" marL="0">
              <a:buNone/>
            </a:pPr>
            <a:r>
              <a:rPr lang="ar-SA" altLang="en-US" sz="1350" dirty="0">
                <a:solidFill>
                  <a:srgbClr val="5A6472"/>
                </a:solidFill>
                <a:latin typeface="Amiri" pitchFamily="2" charset="-78"/>
                <a:ea typeface="Amiri" pitchFamily="2" charset="-78"/>
                <a:cs typeface="Amiri" pitchFamily="2" charset="-78"/>
              </a:rPr>
              <a:t>آسِفٌ</a:t>
            </a:r>
            <a:pPr algn="l" indent="0" marL="0">
              <a:buNone/>
            </a:pPr>
            <a:r>
              <a:rPr lang="en-US" sz="1050" i="1" dirty="0">
                <a:solidFill>
                  <a:srgbClr val="5A6472"/>
                </a:solidFill>
                <a:latin typeface="Calibri" pitchFamily="34" charset="0"/>
                <a:cs typeface="Amiri" pitchFamily="2" charset="-78"/>
              </a:rPr>
              <a:t>; after </a:t>
            </a:r>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آتِيَ</a:t>
            </a:r>
            <a:pPr algn="l" indent="0" marL="0">
              <a:buNone/>
            </a:pPr>
            <a:r>
              <a:rPr lang="en-US" sz="1050" i="1" dirty="0">
                <a:solidFill>
                  <a:srgbClr val="5A6472"/>
                </a:solidFill>
                <a:latin typeface="Calibri" pitchFamily="34" charset="0"/>
                <a:cs typeface="Amiri" pitchFamily="2" charset="-78"/>
              </a:rPr>
              <a:t>; because = </a:t>
            </a:r>
            <a:pPr algn="l" indent="0" marL="0">
              <a:buNone/>
            </a:pPr>
            <a:r>
              <a:rPr lang="ar-SA" altLang="en-US" sz="1350" dirty="0">
                <a:solidFill>
                  <a:srgbClr val="5A6472"/>
                </a:solidFill>
                <a:latin typeface="Amiri" pitchFamily="2" charset="-78"/>
                <a:ea typeface="Amiri" pitchFamily="2" charset="-78"/>
                <a:cs typeface="Amiri" pitchFamily="2" charset="-78"/>
              </a:rPr>
              <a:t>لِأَنِّي</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آسِفٌ لَا أَسْتَطِيعُ أَنْ آتِيَ لِأَنِّي مَرِيضٌ</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First we ate, then we danced.</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past story → past verbs; first = </a:t>
            </a:r>
            <a:pPr algn="l" indent="0" marL="0">
              <a:buNone/>
            </a:pPr>
            <a:r>
              <a:rPr lang="ar-SA" altLang="en-US" sz="1350" dirty="0">
                <a:solidFill>
                  <a:srgbClr val="5A6472"/>
                </a:solidFill>
                <a:latin typeface="Amiri" pitchFamily="2" charset="-78"/>
                <a:ea typeface="Amiri" pitchFamily="2" charset="-78"/>
                <a:cs typeface="Amiri" pitchFamily="2" charset="-78"/>
              </a:rPr>
              <a:t>أَوَّلًا</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أَوَّلًا أَكَلْنَا ثُمَّ رَقَصْنَا</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Next week we will celebrate my sister’s success.</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Future → </a:t>
            </a:r>
            <a:pPr algn="l" indent="0" marL="0">
              <a:buNone/>
            </a:pPr>
            <a:r>
              <a:rPr lang="ar-SA" altLang="en-US" sz="1350" dirty="0">
                <a:solidFill>
                  <a:srgbClr val="5A6472"/>
                </a:solidFill>
                <a:latin typeface="Amiri" pitchFamily="2" charset="-78"/>
                <a:ea typeface="Amiri" pitchFamily="2" charset="-78"/>
                <a:cs typeface="Amiri" pitchFamily="2" charset="-78"/>
              </a:rPr>
              <a:t>سَنَحْتَفِلُ</a:t>
            </a:r>
            <a:pPr algn="l" indent="0" marL="0">
              <a:buNone/>
            </a:pPr>
            <a:r>
              <a:rPr lang="en-US" sz="1050" i="1" dirty="0">
                <a:solidFill>
                  <a:srgbClr val="5A6472"/>
                </a:solidFill>
                <a:latin typeface="Calibri" pitchFamily="34" charset="0"/>
                <a:cs typeface="Amiri" pitchFamily="2" charset="-78"/>
              </a:rPr>
              <a:t>; celebrate = </a:t>
            </a:r>
            <a:pPr algn="l" indent="0" marL="0">
              <a:buNone/>
            </a:pPr>
            <a:r>
              <a:rPr lang="ar-SA" altLang="en-US" sz="1350" dirty="0">
                <a:solidFill>
                  <a:srgbClr val="5A6472"/>
                </a:solidFill>
                <a:latin typeface="Amiri" pitchFamily="2" charset="-78"/>
                <a:ea typeface="Amiri" pitchFamily="2" charset="-78"/>
                <a:cs typeface="Amiri" pitchFamily="2" charset="-78"/>
              </a:rPr>
              <a:t>احْتَفَلَ</a:t>
            </a:r>
            <a:pPr algn="l" indent="0" marL="0">
              <a:buNone/>
            </a:pPr>
            <a:r>
              <a:rPr lang="en-US" sz="1050" i="1" dirty="0">
                <a:solidFill>
                  <a:srgbClr val="5A6472"/>
                </a:solidFill>
                <a:latin typeface="Calibri" pitchFamily="34" charset="0"/>
                <a:cs typeface="Amiri" pitchFamily="2" charset="-78"/>
              </a:rPr>
              <a:t> + bi-: </a:t>
            </a:r>
            <a:pPr algn="l" indent="0" marL="0">
              <a:buNone/>
            </a:pPr>
            <a:r>
              <a:rPr lang="ar-SA" altLang="en-US" sz="1350" dirty="0">
                <a:solidFill>
                  <a:srgbClr val="5A6472"/>
                </a:solidFill>
                <a:latin typeface="Amiri" pitchFamily="2" charset="-78"/>
                <a:ea typeface="Amiri" pitchFamily="2" charset="-78"/>
                <a:cs typeface="Amiri" pitchFamily="2" charset="-78"/>
              </a:rPr>
              <a:t>بِنَجَاحِ</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الأُسْبُوعَ القَادِمَ سَنَحْتَفِلُ بِنَجَاحِ أُخْتِي</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QUESTION 2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frames for Question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TB-L09</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ea typeface="Amiri" pitchFamily="2" charset="-78"/>
                <a:cs typeface="Amiri" pitchFamily="2" charset="-78"/>
              </a:rPr>
              <a:t>كَانَ عِيدُ مِيلَادِ ______ الخَمْسِينَ، فَقَرَّرْتُ أَنْ ______ .</a:t>
            </a:r>
            <a:endParaRPr lang="ar-SA" sz="14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It was …’s 50th birthday, so I decided to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دَعَوْتُ ______ سِرًّا، وَطَلَبْتُ مِنْ ______ أَنْ ______ .</a:t>
            </a:r>
            <a:endParaRPr lang="ar-SA" sz="15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I secretly invited …, and asked … to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أَطْفَأْنَا الأَضْوَاءَ، وَعِنْدَمَا ______ صَرَخْنَا ______ .</a:t>
            </a:r>
            <a:endParaRPr lang="ar-SA" sz="15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We turned off the lights, and when … we shouted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السَّنَةَ القَادِمَةَ سَنَحْتَفِلُ ______ ، لِأَنَّ ______ .</a:t>
            </a:r>
            <a:endParaRPr lang="ar-SA" sz="155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Next year we will celebrate …, because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Hello …, how are you?</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نَظَّمْتُ حَفْلَةً مُفَاجِئَةً لِأُمِّي، لِأَنَّ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I organised a surprise party for my mum, because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أَوَّلًا ______ ، ثُمَّ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First …, then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عِنْدَمَا دَخَلَتْ ______ ، وَ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When she came in, …, and …</a:t>
            </a:r>
            <a:endParaRPr lang="en-US" sz="1050" dirty="0"/>
          </a:p>
        </p:txBody>
      </p:sp>
      <p:sp>
        <p:nvSpPr>
          <p:cNvPr id="37" name="Text 34"/>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المَرَّةِ القَادِمَةِ سَأُنَظِّمُ ______ .</a:t>
            </a:r>
            <a:endParaRPr lang="ar-SA" sz="1800" dirty="0"/>
          </a:p>
        </p:txBody>
      </p:sp>
      <p:sp>
        <p:nvSpPr>
          <p:cNvPr id="38" name="Text 35"/>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Next time I will organise …</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حَفْلَةٌ مُفَاجِئَةٌ  ·  دَعَوْتُ  ·  سِرًّا  ·  أَوَّلًا · ثُمَّ · أَخِيرًا  ·  كَعْكَةٌ · هَدِيَّةٌ  ·  تَفَاجَأَتْ · بَكَتْ مِنَ الفَرَحِ  ·  احْتَفَلْنَا  ·  سَأُنَظِّمُ</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THEN SWAP · 14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Question 2 — bullet by bullet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 ثُمَّ بَادِلْ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TB-L09</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4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Two rounds of writing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Round 1 (6 min): write bullets 1 and 2. SWAP: your buddy reads and ticks “bullet covered?”. Round 2 (6 min): write bullets 3 and 4 and your closing. SWAP again.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with a greeting; end with a closing and a question.</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short paragraph per bullet — tick it off your plan.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at least one upgrade from Step 3 in every paragraph.</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 your words: about 80–90.</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the Core frames. Aim for 60–70 words, every bullet covered.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Develop frames only if stuck. Add a reason and a time word to every bullet. 80–90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frames. Add a contrast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and a future plan. Up to 90 words, with no errors.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 بَعْدَ ذٰلِكَ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 after that</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لِذٰلِكَ</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so</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لٰكِنَّ · وَلٰكِنْ</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but</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SPOT AND FIX · MISTAKES STUDENTS OFTEN MAKE IN THIS TOPIC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أَمْسِ نَحْتَفِلُ بِالعِيدِ.</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time? Which tense?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آسِفٌ، لَا أَسْتَطِيعُ آتِي.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Something is missing after </a:t>
            </a:r>
            <a:pPr algn="l" indent="0" marL="0">
              <a:buNone/>
            </a:pPr>
            <a:r>
              <a:rPr lang="ar-SA" altLang="en-US" sz="1700" dirty="0">
                <a:solidFill>
                  <a:srgbClr val="5A6472"/>
                </a:solidFill>
                <a:latin typeface="Amiri" pitchFamily="2" charset="-78"/>
                <a:ea typeface="Amiri" pitchFamily="2" charset="-78"/>
                <a:cs typeface="Amiri" pitchFamily="2" charset="-78"/>
              </a:rPr>
              <a:t>أَسْتَطِيعُ</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أَدْعُوكَ إِلَى حَفْلَتِي يَوْمُ السَّبْتِ.</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“On Saturday” has a special ending.</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5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أَمْسِ نَحْتَفِلُ بِالعِيدِ.</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أَمْسِ احْتَفَلْنَا بِالعِيدِ.</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Yesterday → past: </a:t>
            </a:r>
            <a:pPr algn="l" indent="0" marL="0">
              <a:buNone/>
            </a:pPr>
            <a:r>
              <a:rPr lang="ar-SA" altLang="en-US" sz="1500" b="1" dirty="0">
                <a:solidFill>
                  <a:srgbClr val="1B3B6F"/>
                </a:solidFill>
                <a:latin typeface="Amiri" pitchFamily="2" charset="-78"/>
                <a:ea typeface="Amiri" pitchFamily="2" charset="-78"/>
                <a:cs typeface="Amiri" pitchFamily="2" charset="-78"/>
              </a:rPr>
              <a:t>احْتَفَلْنَا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آسِفٌ، لَا أَسْتَطِيعُ آتِي.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آسِفٌ، لَا أَسْتَطِيعُ أَنْ آتِيَ.</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أَسْتَطِيعُ أَنْ</a:t>
            </a:r>
            <a:pPr algn="l" indent="0" marL="0">
              <a:buNone/>
            </a:pPr>
            <a:r>
              <a:rPr lang="en-US" sz="1150" b="1" dirty="0">
                <a:solidFill>
                  <a:srgbClr val="1B3B6F"/>
                </a:solidFill>
                <a:latin typeface="Calibri" pitchFamily="34" charset="0"/>
                <a:cs typeface="Amiri" pitchFamily="2" charset="-78"/>
              </a:rPr>
              <a:t> + a verb in -a.</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أَدْعُوكَ إِلَى حَفْلَتِي يَوْمُ السَّبْتِ.</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أَدْعُوكَ إِلَى حَفْلَتِي يَوْمَ السَّبْتِ.</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 (day)” = </a:t>
            </a:r>
            <a:pPr algn="l" indent="0" marL="0">
              <a:buNone/>
            </a:pPr>
            <a:r>
              <a:rPr lang="ar-SA" altLang="en-US" sz="1500" b="1" dirty="0">
                <a:solidFill>
                  <a:srgbClr val="1B3B6F"/>
                </a:solidFill>
                <a:latin typeface="Amiri" pitchFamily="2" charset="-78"/>
                <a:ea typeface="Amiri" pitchFamily="2" charset="-78"/>
                <a:cs typeface="Amiri" pitchFamily="2" charset="-78"/>
              </a:rPr>
              <a:t>يَوْمَ</a:t>
            </a:r>
            <a:pPr algn="l" indent="0" marL="0">
              <a:buNone/>
            </a:pPr>
            <a:r>
              <a:rPr lang="en-US" sz="1150" b="1" dirty="0">
                <a:solidFill>
                  <a:srgbClr val="1B3B6F"/>
                </a:solidFill>
                <a:latin typeface="Calibri" pitchFamily="34" charset="0"/>
                <a:cs typeface="Amiri" pitchFamily="2" charset="-78"/>
              </a:rPr>
              <a:t> (with -a).</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BUDDY CHECK · READ YOUR BUDDY’S Q2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(one paragraph each)?</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verb ending (I · we) and the right tense for each bullet?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adjectives agree (m. / f. / non-human plural)?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and give at least two reasons?</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past, present AND future, and give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WWW + one EBI.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6 · QUESTION 3 · HOW TO BUILD ONE STRONG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 paragraph formula: T · D · R · F</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تَكْتُبُ 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TB-L09</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FOUR PARTS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 — TOPIC sentence: say what the paragraph is about.</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 — DETAILS: what, when, where, with whom (two sentences).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 — REASON: why? (</a:t>
            </a:r>
            <a:pPr algn="l" indent="0" marL="0">
              <a:buNone/>
            </a:pPr>
            <a:r>
              <a:rPr lang="ar-SA" altLang="en-US" sz="1700" dirty="0">
                <a:solidFill>
                  <a:srgbClr val="1F2A37"/>
                </a:solidFill>
                <a:latin typeface="Amiri" pitchFamily="2" charset="-78"/>
                <a:ea typeface="Amiri" pitchFamily="2" charset="-78"/>
                <a:cs typeface="Amiri" pitchFamily="2" charset="-78"/>
              </a:rPr>
              <a:t>لِأَنَّ … / لِذٰلِكَ</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 — FEELING or opinion, and (Stretch) a link to the future.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FORMULA IN ACTION</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كَانَ يَوْمُ تَخَرُّجِ أَخِي يَوْمًا مَلِيئًا بِالمُفَاجَآتِ.</a:t>
            </a:r>
            <a:endParaRPr lang="ar-SA" sz="240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 · My brother’s graduation was a day full of surprises.</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أَوَّلًا تَأَخَّرْنَا، ثُمَّ فَازَ أَخِي بِجَائِزَةٍ.</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 · First we were late, then my brother won a prize.</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350" b="1" dirty="0">
                <a:solidFill>
                  <a:srgbClr val="1B3B6F"/>
                </a:solidFill>
                <a:latin typeface="Amiri" pitchFamily="2" charset="-78"/>
                <a:ea typeface="Amiri" pitchFamily="2" charset="-78"/>
                <a:cs typeface="Amiri" pitchFamily="2" charset="-78"/>
              </a:rPr>
              <a:t>كَانَ مُمَيَّزًا لِأَنَّهُ أَوَّلُ مَنْ يَتَخَرَّجُ فِي عَائِلَتِنَا.</a:t>
            </a:r>
            <a:endParaRPr lang="ar-SA" sz="23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 · Special: he is the first in our family to graduate.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شَعَرْنَا بِالفَخْرِ، وَسَنَحْتَفِلُ بِتَخَرُّجِي أَيْضًا!</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 · We felt proud — and we will celebrate my graduation too!</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6 · WRITE ONE PARAGRAPH OF QUESTION 3 · ABOUT 50–70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Question 3, one paragraph: a day full of surprises</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يَوْمٌ مَلِيءٌ بِالمُفَاجَآتِ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TB-L09</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67335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67335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Q3 · ONE PARAGRAPH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Full Q3 title: “Celebrations and special days”. Today write ONLY the past paragraph: a special day with a surprise (good or bad) — what happened in order, who was there, why it was special and how you felt.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 — a topic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 — two details (when, where, who, what).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 — a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لِذٰلِكَ</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 — a feeling or opinion (Stretch: +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past verbs with the right ending?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FOR THIS PARAGRAPH</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 يَوْمًا لَا يُنْسَى</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was an unforgettable day</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أَوَّلًا … ثُمَّ … أَخِيرًا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first … then … finally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فَجْأَةً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suddenly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مُمَيَّزًا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was special because …</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شَعَرْنَا بِالفَخْرِ</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felt proud</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2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Q2: compare with a strong answer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مَرْحَبًا يَا لَيْلَى،</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كَيْفَ حَالُكِ؟ يَوْمَ السَّبْتِ المَاضِي نَظَّمْتُ مَعَ إِخْوَتِي حَفْلَةً مُفَاجِئَةً لِأُمِّي، لِأَنَّهُ كَانَ عِيدَ مِيلَادِهَا الخَمْسِينَ. أَوَّلًا دَعَوْنَا خَالَاتِي وَصَدِيقَاتِهَا سِرًّا، ثُمَّ زَيَّنَّا غُرْفَةَ الجُلُوسِ بِالبَالُونَاتِ الذَّهَبِيَّةِ، وَبَعْدَ ذٰلِكَ صَنَعْنَا كَعْكَةً كَبِيرَةً بِالفَرَاوِلَةِ. أَخَذَهَا أَبِي إِلَى السُّوقِ حَتَّى نَنْتَهِيَ مِنَ التَّحْضِيرِ. عِنْدَمَا دَخَلَتِ البَيْتَ أَطْفَأْنَا الأَضْوَاءَ، ثُمَّ صَرَخْنَا: "مُفَاجَأَةٌ!"، فَبَكَتْ أُمِّي مِنَ الفَرَحِ، وَضَحِكَ الجَمِيعُ، وَأَكَلْنَا الكَعْكَةَ مَعًا. فِي المَرَّةِ القَادِمَةِ سَأُنَظِّمُ حَفْلَةً لِأَبِي فِي حَدِيقَةٍ عَامَّةٍ، لِأَنَّهُ يُحِبُّ الطَّبِيعَةَ وَالشِّوَاءَ!</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مَعَ مَحَبَّتِي،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سُمَيَّةُ</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“Hi Layla, how are you? Last Saturday my brothers and I organised a surprise party for my mum, because it was her fiftieth birthday. First we secretly invited my aunts and her friends, then we decorated the living room with gold balloons, and after that we made a big strawberry cake. My dad took her to the market until we finished preparing. When she came in we turned off the lights, then shouted “Surprise!”, and my mum cried with joy while everyone laughed, and we ate the cake together. Next time I will organise a party for my dad in a park, because he loves nature and barbecues! Love, Sumayya.”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نَظَّمْتُ … حَفْلَةً مُفَاجِئَةً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أَوَّلًا … ثُمَّ … وَبَعْدَ ذٰلِكَ</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عِنْدَمَا دَخَلَتِ</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سَأُنَظِّمُ حَفْلَةً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3 · ONE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Q3 paragraph: T · D · R · F in a model</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كَانَ يَوْمُ تَخَرُّجِ أَخِي مِنَ الجَامِعَةِ يَوْمًا مَلِيئًا بِالمُفَاجَآتِ. أَوَّلًا تَعَطَّلَتْ سَيَّارَتُنَا فِي الطَّرِيقِ، فَوَصَلْنَا مُتَأَخِّرِينَ نِصْفَ سَاعَةٍ، وَكُنَّا قَلِقِينَ جِدًّا. ثُمَّ فَجْأَةً سَمِعْنَا اسْمَ أَخِي، لِأَنَّهُ فَازَ بِجَائِزَةِ أَفْضَلِ طَالِبٍ فِي قِسْمِهِ! بَعْدَ ذٰلِكَ احْتَفَلْنَا فِي مَطْعَمٍ قَرِيبٍ مَعَ أَصْدِقَائِهِ. كَانَ ذٰلِكَ اليَوْمُ مُمَيَّزًا، لِأَنَّ أَخِي أَوَّلُ مَنْ يَتَخَرَّجُ مِنَ الجَامِعَةِ فِي عَائِلَتِنَا. بَكَى أَبِي مِنَ الفَرَحِ، وَشَعَرْنَا كُلُّنَا بِالفَخْرِ، وَقَرَّرْتُ أَنْ أَدْرُسَ بِجِدٍّ مِثْلَهُ.</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 my brother’s university graduation was a day full of surprises · D: first our car broke down on the way, so we arrived half an hour late and were very worried; then suddenly we heard my brother’s name — he had won the prize for best student in his department; after that we celebrated with his friends in a nearby restaurant · R: special because he is the first in our family to graduate · F: my dad cried with joy, we all felt proud, and I decided to study hard like him.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يَوْمًا مَلِيئًا بِالمُفَاجَآتِ</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أَوَّلًا … ثُمَّ فَجْأَةً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كَانَ … مُمَيَّزًا لِأَنَّ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شَعَرْنَا كُلُّنَا بِالفَخْرِ</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TB-L09</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decoded every bullet: question word and tense.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Q2 answers all four bullets,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upgraded my sentences: detail + reason in every bullet.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work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Q3 paragraph has T, D, R and F, with past and future.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TB-L09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wrote it yourself!</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700" b="1" dirty="0">
                <a:solidFill>
                  <a:srgbClr val="FFFFFF"/>
                </a:solidFill>
                <a:latin typeface="Cambria" pitchFamily="34" charset="0"/>
                <a:cs typeface="Amiri" pitchFamily="2" charset="-78"/>
              </a:rPr>
              <a:t>TB-L10 · The next lesson in the topic</a:t>
            </a:r>
            <a:endParaRPr lang="en-US" sz="2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الدَّرْسُ التَّالِي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decode → plan → write → check. Every bullet,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TB-L09 · Writing Practice Room — Invitations and Past Experiences</dc:title>
  <dc:subject>PptxGenJS Presentation</dc:subject>
  <dc:creator>Al Madina Online School · Arabic Department</dc:creator>
  <cp:lastModifiedBy>Al Madina Online School · Arabic Department</cp:lastModifiedBy>
  <cp:revision>1</cp:revision>
  <dcterms:created xsi:type="dcterms:W3CDTF">2026-10-25T14:35:56Z</dcterms:created>
  <dcterms:modified xsi:type="dcterms:W3CDTF">2026-10-25T14:35:56Z</dcterms:modified>
</cp:coreProperties>
</file>