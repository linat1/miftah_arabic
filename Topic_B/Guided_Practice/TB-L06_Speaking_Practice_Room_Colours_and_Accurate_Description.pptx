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B · Personal and Social Life, Lesson 6 (Colours and Accurate Description, TB-L06) — new role plays and questions (not the ones in the Exam Practice workshop), using the lesson’s language (colour forms (aḥmar · ḥamrāʾ · ḥumr); regular colours in -iyy (bunniyy, ramādiyy); fātiḥ / ghāmiq; maṣnūʿ min; non-human plural agreement).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the examiner’s questions do not change (they are about the suitcase).
Language: feminine colours for ḥaqība (zarqāʾu ghāmiqa) · maṣnūʿatun min · ʿalayhā sharīṭun aṣfaru (masculine colour for a masculine noun).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تَقْتَرِحِينَ · لَوْنَكِ · تَفْعَلِينَ.
Language: colour adjectives agreeing with nouns (al-ḥurūf al-bayḍāʾ — non-human plural → feminine singular) · patterns (mukhaṭṭaṭ) · materials · comparatives (adfaʾu, aghlā) ·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GUIDED PRACTICE  ·  TB-L06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Colours and Accurate Description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الأَلْوَانُ وَالوَصْفُ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(reporting a lost bag at the airport, designing a school hoodie), a topic conversation with A-R-E-T, and a one-minute talk describing an object precisely.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Advanced Topic B · Personal and Social Life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Colours (m. · f. · pl.)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الأَلْوَانُ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afʿal · faʿlāʾ · fuʿl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أَحْمَرُ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aḥ-ma-ru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حُمْرٌ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حَمْرَاءُ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أَحْمَرُ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أَزْرَقُ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blue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az-ra-qu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زُرْقٌ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زَرْقَاءُ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أَزْرَقُ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أَخْضَرُ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green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akh-ḍa-ru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خُضْرٌ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خَضْرَاءُ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أَخْضَرُ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أَبْيَضُ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white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ab-ya-ḍu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بِيضٌ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بَيْضَاءُ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أَبْيَضُ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أَسْوَدُ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black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as-wa-du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76656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سُودٌ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5614416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سَوْدَاءُ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أَسْوَدُ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960120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960120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110" name="Shape 10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12" name="Text 10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أَصْفَرُ</a:t>
            </a:r>
            <a:endParaRPr lang="ar-SA" sz="3000" dirty="0"/>
          </a:p>
        </p:txBody>
      </p:sp>
      <p:sp>
        <p:nvSpPr>
          <p:cNvPr id="113" name="Text 11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yellow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aṣ-fa-ru</a:t>
            </a:r>
            <a:endParaRPr lang="en-US" sz="1350" dirty="0"/>
          </a:p>
        </p:txBody>
      </p:sp>
      <p:sp>
        <p:nvSpPr>
          <p:cNvPr id="114" name="Shape 111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صُفْرٌ</a:t>
            </a:r>
            <a:endParaRPr lang="ar-SA" sz="1500" dirty="0"/>
          </a:p>
        </p:txBody>
      </p:sp>
      <p:sp>
        <p:nvSpPr>
          <p:cNvPr id="117" name="Shape 114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19" name="Text 116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صَفْرَاءُ</a:t>
            </a:r>
            <a:endParaRPr lang="ar-SA" sz="1500" dirty="0"/>
          </a:p>
        </p:txBody>
      </p:sp>
      <p:sp>
        <p:nvSpPr>
          <p:cNvPr id="120" name="Shape 117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21" name="Text 118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22" name="Text 119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أَصْفَرُ</a:t>
            </a:r>
            <a:endParaRPr lang="ar-SA" sz="1500" dirty="0"/>
          </a:p>
        </p:txBody>
      </p:sp>
      <p:sp>
        <p:nvSpPr>
          <p:cNvPr id="123" name="Text 12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Shades, patterns and materials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الدَّرَجَاتُ وَالنُّقُوشُ وَالمَوَادُّ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regular: -iyy / -iyya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بُنِّيٌّ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brown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bun-niy-yun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بُنِّيَّةٌ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بُنِّيَّةٌ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بُنِّيٌّ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regular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رَمَادِيٌّ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grey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ra-mā-diy-yun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رَمَادِيَّةٌ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رَمَادِيٌّ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regular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بُرْتُقَالِيٌّ · وَرْدِيٌّ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orange · pink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bur-tu-qā-liy-yun · war-diy-yun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بُرْتُقَالِيَّةٌ · وَرْدِيَّةٌ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shade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فَاتِحٌ · غَامِقٌ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light · dark (shade)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fā-ti-ḥun · ghā-mi-qun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8284464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فَاتِحَةٌ · غَامِقَةٌ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9" name="Text 76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مُخَطَّطٌ · مُنَقَّطٌ</a:t>
            </a:r>
            <a:endParaRPr lang="ar-SA" sz="3000" dirty="0"/>
          </a:p>
        </p:txBody>
      </p:sp>
      <p:sp>
        <p:nvSpPr>
          <p:cNvPr id="80" name="Text 77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striped · spotted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mu-khaṭ-ṭa-ṭun · mu-naq-qa-ṭun</a:t>
            </a:r>
            <a:endParaRPr lang="en-US" sz="1350" dirty="0"/>
          </a:p>
        </p:txBody>
      </p:sp>
      <p:sp>
        <p:nvSpPr>
          <p:cNvPr id="81" name="Shape 78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مُخَطَّطَةٌ · مُنَقَّطَةٌ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material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مَصْنُوعٌ مِنْ …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made of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maṣ-nū-ʿun min …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مَصْنُوعَةٌ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مَصْنُوعَةٌ</a:t>
            </a:r>
            <a:endParaRPr lang="ar-SA" sz="1500" dirty="0"/>
          </a:p>
        </p:txBody>
      </p:sp>
      <p:sp>
        <p:nvSpPr>
          <p:cNvPr id="99" name="Text 9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“What is your favourite colour?”</a:t>
            </a:r>
            <a:endParaRPr lang="en-US" sz="18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لَوْنُكَ المُفَضَّلُ؟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لَوْنِي المُفَضَّلُ هُوَ الأَخْضَرُ.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favourite colour is green.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لَوْنِي المُفَضَّلُ هُوَ الأَخْضَرُ، لِأَنَّهُ يُذَكِّرُنِي بِالطَّبِيعَةِ.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it reminds me of nature.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حَقِيبَتِي خَضْرَاءُ غَامِقَةٌ، وَجُدْرَانُ غُرْفَتِي خَضْرَاءُ فَاتِحَةٌ.</a:t>
            </a:r>
            <a:endParaRPr lang="ar-SA" sz="24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for example my bag is dark green, and my bedroom walls are light green.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عِنْدَمَا كُنْتُ صَغِيرًا كُنْتُ أُحِبُّ الأَحْمَرَ، أَمَّا الآنَ فَأَرَى أَنَّ الأَخْضَرَ أَهْدَأُ.</a:t>
            </a:r>
            <a:endParaRPr lang="ar-SA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when I was little I loved red, but now I think green is calmer.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وَشَعْرِي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مِثْلُ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عَيْنَايَ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 عَيْنَيْكَ؟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اشْتَرَيْتُهَا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وَهِيَ مَصْنُوعَةٌ مِنْ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حَقِيبَتِي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حَقِيبَتَكَ المَدْرَسِيَّةَ.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لٰكِنْ أُخْتِي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أُحِبُّ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الأَلْوَانُ الَّتِي لَا تُحِبُّهَا؟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وَيَعْنِي … فِي رَأْيِي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وَفِيهِ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عَلَمُ … لَوْنُهُ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 عَلَمِ بَلَدِكَ؟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My suitcase is lost!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حَقِيبَتِي ضَاعَتْ!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← حَقِيبَتِي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suitcase is lost.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لَوْنُهَا ← هِيَ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colour.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لَوْنُهَا؟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 ← هِيَ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the size.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هِيَ كَبِيرَةٌ أَمْ صَغِيرَةٌ؟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← هِيَ مَصْنُوعَةٌ مِنْ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it is made of.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هِيَ مَصْنُوعَةٌ؟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نَعَمْ، عَلَيْهَا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فِيهَا شَيْءٌ يُمَيِّزُهَا؟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traveller · Leader = the airport employee.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Designing the Year 11 hoodie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نُصَمِّمُ قَمِيصَ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 colour, with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لَوْنٍ تَقْتَرِحُ لِلْقَمِيصِ؟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writing and its colour.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نَكْتُبُ عَلَيْهِ؟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opinion of last year’s (past + comparison).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كَانَ قَمِيصُ السَّنَةِ المَاضِيَةِ جَمِيلًا؟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prices or materials.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القُطْنُ أَغْلَى مِنَ البُولِيسْتِر.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رَفَضَ الطُّلَّابُ لَوْنَكَ،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designer on the school council · Leader = the head of year.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الأَلْوَانُ وَالوَصْفُ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وَالنَّوَافِذُ؟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colour is your front door?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 بَابِ بَيْتِكُمْ؟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تُحِبُّهُ؟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colour is your school uniform?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 زِيِّ مَدْرَسَتِكَ؟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هُوَ مَصْنُوعٌ؟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something you like precisely.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شَيْئًا تُحِبُّهُ بِدِقَّةٍ.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الشِّتَاءِ؟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prefer light or dark colours?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الأَلْوَانَ الفَاتِحَةَ أَمِ الغَامِقَةَ؟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colours affect our feelings?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تُؤَثِّرُ الأَلْوَانُ فِي مَشَاعِرِنَا؟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وَلِمَاذَا؟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designed a new uniform, what would it be like?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زِيًّا مَدْرَسِيًّا جَدِيدًا، كَيْفَ يَكُونُ؟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describe it exactly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صِفْهُ بِدِقَّةٍ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describing one object so precisely that your partner could draw it: colours (light or dark), size, shape, pattern, material — and its story.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colour, size and material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مَصْنُوعٌ مِنْ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…), with agreement.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shades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فَاتِحٌ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غَامِقٌ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), a pattern and where you got it (past).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a comparison with something similar, and why it matters to you.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 / هِيَ … فَاتِحٌ · غَامِقٌ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light … · dark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مَصْنُوعٌ مِنَ الخَشَبِ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made of wood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مُخَطَّطٌ · مُنَقَّطٌ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striped · spotted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اشْتَرَيْتُهُ مِنْ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bought it from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made colours agree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أَحْمَرُ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حَمْرَاءُ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gave a material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shades and patterns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فَاتِحٌ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غَامِقٌ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مُخَطَّطٌ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حَقِيبَتِي لَمْ تَصِلْ.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suitcase did not arrive.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زَرْقَاءُ غَامِقَةٌ.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dark blue.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لَوْنُهَا؟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كَبِيرَةٌ.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big.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هِيَ كَبِيرَةٌ أَمْ صَغِيرَةٌ؟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مَصْنُوعَةٌ مِنَ البْلَاسْتِيكِ القَوِيِّ.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made of strong plastic.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هِيَ مَصْنُوعَةٌ؟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عَلَيْهَا شَرِيطٌ أَصْفَرُ وَاسْمِي.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it has a yellow ribbon and my name on it.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فِيهَا شَيْءٌ يُمَيِّزُهَا؟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أَقْتَرِحُ اللَّوْنَ الرَّمَادِيَّ الغَامِقَ، لِأَنَّهُ يُنَاسِبُ الجَمِيعَ وَلَا تَظْهَرُ عَلَيْهِ البُقَعُ.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suggest dark grey, because it suits everyone and stains don’t show.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لَوْنٍ تَقْتَرِحُ لِلْقَمِيصِ؟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نَكْتُبُ أَسْمَاءَ الطُّلَّابِ بِالحُرُوفِ البَيْضَاءِ عَلَى الظَّهْرِ، وَشِعَارَ المَدْرَسَةِ بِالذَّهَبِيِّ.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write students’ names in white letters on the back, and the school logo in gold.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نَكْتُبُ عَلَيْهِ؟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أَحْمَرَ وَمُخَطَّطًا، لٰكِنَّهُ كَانَ رَقِيقًا جِدًّا؛ قَمِيصُنَا سَيَكُونُ أَدْفَأَ.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was red and striped, but very thin — ours will be warmer.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كَانَ قَمِيصُ السَّنَةِ المَاضِيَةِ جَمِيلًا؟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سَيَكُونُ ثَمَنُ القَمِيصِ القُطْنِيِّ؟ وَهَلْ يُوجَدُ خَصْمٌ لِلطُّلَّابِ؟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will the cotton hoodie cost? And is there a student discount?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القُطْنُ أَغْلَى مِنَ البُولِيسْتِر.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رَفَضُوهُ، لَنَظَّمْتُ تَصْوِيتًا عَلَى الإِنْتَرْنِتْ، وَلَاخْتَرْنَا اللَّوْنَ الَّذِي يُحِبُّهُ أَكْثَرُ الطُّلَّابِ.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they rejected it, I would organise an online vote, and we would choose the colour most students like.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رَفَضَ الطُّلَّابُ لَوْنَكَ، مَاذَا تَفْعَلُ؟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زِيُّ مَدْرَسَتِي سُتْرَةٌ زَرْقَاءُ غَامِقَةٌ وَقَمِيصٌ أَبْيَضُ، وَلَا أُحِبُّهُ كَثِيرًا، لِأَنَّهُ يَتَّسِخُ بِسُرْعَةٍ؛ فِي السَّنَةِ القَادِمَةِ سَيَكُونُ القَمِيصُ رَمَادِيًّا.</a:t>
            </a:r>
            <a:endParaRPr lang="ar-SA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a dark blue blazer and a white shirt · R: I don’t love it — it gets dirty quickly · T: next year the shirt will be grey.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 زِيِّ مَدْرَسَتِكَ؟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سَاعَةَ يَدِي الَّتِي أَعْطَانِي إِيَّاهَا خَالِي؛ هِيَ دَائِرِيَّةٌ وَفِضِّيَّةٌ، وَحِزَامُهَا مِنَ الجِلْدِ البُنِّيِّ، وَأَلْبَسُهَا كُلَّ يَوْمٍ مُنْذُ سَنَتَيْنِ.</a:t>
            </a:r>
            <a:endParaRPr lang="ar-SA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the watch my uncle gave me · E: round and silver with a brown leather strap · T: I have worn it every day for two years.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شَيْئًا تُحِبُّهُ بِدِقَّةٍ.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نَعَمْ، لِأَنَّ الأَزْرَقَ يُهَدِّئُنِي بَيْنَمَا يُعْطِينِي الأَصْفَرُ طَاقَةً؛ مَثَلًا دَهَنَّا المَطْبَخَ بِالأَصْفَرِ فِي الصَّيْفِ المَاضِي، فَأَصْبَحَ أَكْثَرَ مَكَانٍ مُبْهِجٍ فِي البَيْتِ.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yes · R: blue calms me whereas yellow gives me energy · E: we painted the kitchen yellow last summer and it became the brightest place in the house.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تُؤَثِّرُ الأَلْوَانُ فِي مَشَاعِرِنَا؟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TB-L06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TB-L06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TB-L06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TB-L06 · Speaking Practice Room — Colours and Accurate Description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2026-10-25T14:29:35Z</dcterms:created>
  <dcterms:modified xsi:type="dcterms:W3CDTF">2026-10-25T14:29:35Z</dcterms:modified>
</cp:coreProperties>
</file>