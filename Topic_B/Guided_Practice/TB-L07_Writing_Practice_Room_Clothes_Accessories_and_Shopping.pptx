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7 (Clothes, Accessories and Shopping, TB-L07)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Clothes and Shopping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المَلَابِسُ وَالتَّسَوُّقُ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complaint about an online order),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TB-L07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 clothes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مَلَابِسَ عَلَى الإِنْتَرْنِتْ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سُتْرَةٌ · فُسْتَانٌ</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Item</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القِطْعَةُ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36408" y="3496056"/>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سُتْرَةٌ زَرْقَاءُ</a:t>
            </a:r>
            <a:endParaRPr lang="en-US" sz="11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صَغِيرٌ · مُتَوَسِّطٌ · كَبِيرٌ</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المَقَاسُ</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قِطْعَتَانِ</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Quantity</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الكَمِّيَّةُ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أُرِيدُهُ قَبْلَ …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note for the shop</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مُلَاحَظَةٌ لِلْمَحَلِّ</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Question 2: my online order went wrong</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مُشْكِلَةٌ فِي طَلَبِي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ordered clothes online and there was a problem. Write an email in Arabic to the shop of about 80–90 words. You must include: • what you ordered, when, and the price • what arrived and what is wrong (colour, size …) • why you need the item, and by when • what you would like the shop to do.</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 يَوْمَ … بِعِشْرِينَ جُنَيْهًا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ordered … on … for £20</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وَصَلَ … بَدَلًا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 arrived instead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أَحْتَاجُهُ قَبْلَ …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need it before …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أَرْجُو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ask you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المَحَلِّ عَنْ مُشْكِلَةٍ فِي طَلَبِكَ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طَلَبْتَ؟ وَمَتَى؟ وَبِكَمْ؟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وَصَلَ؟ وَمَا المُشْكِلَةُ؟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تَحْتَاجُهُ؟ وَمَتَى؟</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مِنَ المَحَلِّ أَنْ يَفْعَلَ؟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the shop about a problem with your order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SHOP → FORMAL: </a:t>
            </a:r>
            <a:pPr algn="l" indent="0" marL="0">
              <a:buNone/>
            </a:pPr>
            <a:r>
              <a:rPr lang="ar-SA" altLang="en-US" sz="1450" dirty="0">
                <a:solidFill>
                  <a:srgbClr val="5A6472"/>
                </a:solidFill>
                <a:latin typeface="Amiri" pitchFamily="2" charset="-78"/>
                <a:ea typeface="Amiri" pitchFamily="2" charset="-78"/>
                <a:cs typeface="Amiri" pitchFamily="2" charset="-78"/>
              </a:rPr>
              <a:t>السَّادَةُ … المُحْتَرَمُونَ / مَعَ الشُّكْرِ</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المَحَلِّ عَنْ مُشْكِلَةٍ فِي طَلَبِكَ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when, the price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طَلَبْتَ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بِكَمْ</a:t>
            </a:r>
            <a:pPr algn="l" indent="0" marL="0">
              <a:buNone/>
            </a:pPr>
            <a:r>
              <a:rPr lang="en-US" sz="1100" dirty="0">
                <a:solidFill>
                  <a:srgbClr val="5A6472"/>
                </a:solidFill>
                <a:latin typeface="Calibri" pitchFamily="34" charset="0"/>
                <a:cs typeface="Amiri" pitchFamily="2" charset="-78"/>
              </a:rPr>
              <a:t> → PAST + a date + a price</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طَلَبْتَ؟ وَمَتَى؟ وَبِكَمْ؟</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arrived and what is wrong</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وَصَلَ</a:t>
            </a:r>
            <a:pPr algn="l" indent="0" marL="0">
              <a:buNone/>
            </a:pPr>
            <a:r>
              <a:rPr lang="en-US" sz="1100" dirty="0">
                <a:solidFill>
                  <a:srgbClr val="5A6472"/>
                </a:solidFill>
                <a:latin typeface="Calibri" pitchFamily="34" charset="0"/>
                <a:cs typeface="Amiri" pitchFamily="2" charset="-78"/>
              </a:rPr>
              <a:t> → PAST + description (colour, size)</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وَصَلَ؟ وَمَا المُشْكِلَةُ؟</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and by when you need it</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 تَحْتَاجُهُ</a:t>
            </a:r>
            <a:pPr algn="l" indent="0" marL="0">
              <a:buNone/>
            </a:pPr>
            <a:r>
              <a:rPr lang="en-US" sz="1100" dirty="0">
                <a:solidFill>
                  <a:srgbClr val="5A6472"/>
                </a:solidFill>
                <a:latin typeface="Calibri" pitchFamily="34" charset="0"/>
                <a:cs typeface="Amiri" pitchFamily="2" charset="-78"/>
              </a:rPr>
              <a:t> → PRESENT + a reason + a date</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تَحْتَاجُهُ؟ وَمَتَى؟</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want the shop to do</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تُرِيدُ … أَنْ يَفْعَلَ</a:t>
            </a:r>
            <a:pPr algn="l" indent="0" marL="0">
              <a:buNone/>
            </a:pPr>
            <a:r>
              <a:rPr lang="en-US" sz="1100" dirty="0">
                <a:solidFill>
                  <a:srgbClr val="5A6472"/>
                </a:solidFill>
                <a:latin typeface="Calibri" pitchFamily="34" charset="0"/>
                <a:cs typeface="Amiri" pitchFamily="2" charset="-78"/>
              </a:rPr>
              <a:t> → a polite request (</a:t>
            </a:r>
            <a:pPr algn="l" indent="0" marL="0">
              <a:buNone/>
            </a:pPr>
            <a:r>
              <a:rPr lang="ar-SA" altLang="en-US" sz="1450" dirty="0">
                <a:solidFill>
                  <a:srgbClr val="5A6472"/>
                </a:solidFill>
                <a:latin typeface="Amiri" pitchFamily="2" charset="-78"/>
                <a:ea typeface="Amiri" pitchFamily="2" charset="-78"/>
                <a:cs typeface="Amiri" pitchFamily="2" charset="-78"/>
              </a:rPr>
              <a:t>أَرْجُو أَنْ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 مِنَ المَحَلِّ أَنْ يَفْعَلَ؟</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اشْتَرَيْتُ حِذَاءً.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bought shoes.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اشْتَرَيْتُ حِذَاءً رِيَاضِيًّا أَبْيَضَ بِسِتِّينَ جُنَيْهًا مِنَ السُّوقِ.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white trainers for £60 from the market.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اشْتَرَيْتُ حِذَاءً رِيَاضِيًّا أَبْيَضَ، لِأَنَّ حِذَائِي القَدِيمَ كَانَ مَكْسُورًا.</a:t>
            </a:r>
            <a:endParaRPr lang="ar-SA" sz="24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my old shoes were broken.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وَهُوَ أَغْلَى مِنَ القَدِيمِ، لٰكِنَّهُ أَكْثَرُ رَاحَةً بِكَثِيرٍ!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they are more expensive than the old ones, but much more comfortable!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dress is cheaper than that one.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الفُسْتَانُ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الفُسْتَانُ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رَخِيصٌ</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ذٰلِكَ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much is this skirt?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بِكَمْ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التَّنُّورَةُ؟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التَّنُّورَةَ؟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tried it on, but it was tight.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جَرَّبْتُهُ</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أُجَرِّبُهُ</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لٰكِنَّهُ كَانَ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 كَانَ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ضَيِّقًا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ضَيِّقٌ</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dress is cheaper than that one.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فُسْتَان</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comparison = </a:t>
            </a:r>
            <a:pPr algn="l" indent="0" marL="0">
              <a:buNone/>
            </a:pPr>
            <a:r>
              <a:rPr lang="ar-SA" altLang="en-US" sz="1350" dirty="0">
                <a:solidFill>
                  <a:srgbClr val="5A6472"/>
                </a:solidFill>
                <a:latin typeface="Amiri" pitchFamily="2" charset="-78"/>
                <a:ea typeface="Amiri" pitchFamily="2" charset="-78"/>
                <a:cs typeface="Amiri" pitchFamily="2" charset="-78"/>
              </a:rPr>
              <a:t>أَرْخَصُ 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هٰذَا الفُسْتَانُ أَرْخَصُ مِنْ ذٰلِكَ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much is this skirt?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Price question = </a:t>
            </a:r>
            <a:pPr algn="l" indent="0" marL="0">
              <a:buNone/>
            </a:pPr>
            <a:r>
              <a:rPr lang="ar-SA" altLang="en-US" sz="1350" dirty="0">
                <a:solidFill>
                  <a:srgbClr val="5A6472"/>
                </a:solidFill>
                <a:latin typeface="Amiri" pitchFamily="2" charset="-78"/>
                <a:ea typeface="Amiri" pitchFamily="2" charset="-78"/>
                <a:cs typeface="Amiri" pitchFamily="2" charset="-78"/>
              </a:rPr>
              <a:t>بِكَمْ …؟</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تَنُّورَة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بِكَمْ هٰذِهِ التَّنُّورَةُ؟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tried it on, but it was tight.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 </a:t>
            </a:r>
            <a:pPr algn="l" indent="0" marL="0">
              <a:buNone/>
            </a:pPr>
            <a:r>
              <a:rPr lang="ar-SA" altLang="en-US" sz="1350" dirty="0">
                <a:solidFill>
                  <a:srgbClr val="5A6472"/>
                </a:solidFill>
                <a:latin typeface="Amiri" pitchFamily="2" charset="-78"/>
                <a:ea typeface="Amiri" pitchFamily="2" charset="-78"/>
                <a:cs typeface="Amiri" pitchFamily="2" charset="-78"/>
              </a:rPr>
              <a:t>جَرَّبْتُهُ</a:t>
            </a:r>
            <a:pPr algn="l" indent="0" marL="0">
              <a:buNone/>
            </a:pPr>
            <a:r>
              <a:rPr lang="en-US" sz="1050" i="1" dirty="0">
                <a:solidFill>
                  <a:srgbClr val="5A6472"/>
                </a:solidFill>
                <a:latin typeface="Calibri" pitchFamily="34" charset="0"/>
                <a:cs typeface="Amiri" pitchFamily="2" charset="-78"/>
              </a:rPr>
              <a:t>; after </a:t>
            </a:r>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ضَيِّقًا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جَرَّبْتُهُ لٰكِنَّهُ كَانَ ضَيِّقًا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______ مِنْ ______ طَلَبْتُ مِنْ مَوْقِعِكُمْ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On … of … I ordered … from your website.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طَلَبْتُ المَقَاسَ ______ ، لٰكِنَّ الَّذِي وَصَلَ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ordered size …, but what arrived was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سَأَلْبَسُهُ فِي ______ ، لِذٰلِكَ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will wear it at …, so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إِذَا لَمْ يَكُنْ عِنْدَكُمُ المَقَاسُ، فَأَرْجُو أَنْ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you don’t have the size, please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السَّادَةُ فِي مَحَلِّ ______ المُحْتَرَمُونَ،</a:t>
            </a:r>
            <a:endParaRPr lang="ar-SA" sz="1800" dirty="0"/>
          </a:p>
        </p:txBody>
      </p:sp>
      <p:sp>
        <p:nvSpPr>
          <p:cNvPr id="30" name="Text 27"/>
          <p:cNvSpPr txBox="1"/>
          <p:nvPr/>
        </p:nvSpPr>
        <p:spPr>
          <a:xfrm>
            <a:off x="6327648" y="22494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 shop,</a:t>
            </a:r>
            <a:endParaRPr lang="en-US" sz="1050" dirty="0"/>
          </a:p>
        </p:txBody>
      </p:sp>
      <p:sp>
        <p:nvSpPr>
          <p:cNvPr id="31" name="Text 28"/>
          <p:cNvSpPr txBox="1"/>
          <p:nvPr/>
        </p:nvSpPr>
        <p:spPr>
          <a:xfrm>
            <a:off x="8202168" y="2752344"/>
            <a:ext cx="3383280" cy="47777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طَلَبْتُ ______ يَوْمَ ______ ، وَدَفَعْتُ ______ جُنَيْهًا.</a:t>
            </a:r>
            <a:endParaRPr lang="ar-SA" sz="1500" dirty="0"/>
          </a:p>
        </p:txBody>
      </p:sp>
      <p:sp>
        <p:nvSpPr>
          <p:cNvPr id="32" name="Text 29"/>
          <p:cNvSpPr txBox="1"/>
          <p:nvPr/>
        </p:nvSpPr>
        <p:spPr>
          <a:xfrm>
            <a:off x="6327648" y="275234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ordered … on …, and paid … pounds.</a:t>
            </a:r>
            <a:endParaRPr lang="en-US" sz="1050" dirty="0"/>
          </a:p>
        </p:txBody>
      </p:sp>
      <p:sp>
        <p:nvSpPr>
          <p:cNvPr id="33" name="Text 30"/>
          <p:cNvSpPr txBox="1"/>
          <p:nvPr/>
        </p:nvSpPr>
        <p:spPr>
          <a:xfrm>
            <a:off x="8202168" y="325526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وَصَلَ ______ ، وَهُوَ ______ .</a:t>
            </a:r>
            <a:endParaRPr lang="ar-SA" sz="1800" dirty="0"/>
          </a:p>
        </p:txBody>
      </p:sp>
      <p:sp>
        <p:nvSpPr>
          <p:cNvPr id="34" name="Text 31"/>
          <p:cNvSpPr txBox="1"/>
          <p:nvPr/>
        </p:nvSpPr>
        <p:spPr>
          <a:xfrm>
            <a:off x="6327648" y="325526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But … arrived, and it is …</a:t>
            </a:r>
            <a:endParaRPr lang="en-US" sz="1050" dirty="0"/>
          </a:p>
        </p:txBody>
      </p:sp>
      <p:sp>
        <p:nvSpPr>
          <p:cNvPr id="35" name="Text 32"/>
          <p:cNvSpPr txBox="1"/>
          <p:nvPr/>
        </p:nvSpPr>
        <p:spPr>
          <a:xfrm>
            <a:off x="8202168" y="375818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أَحْتَاجُهُ قَبْلَ ______ ، لِأَنَّ ______ .</a:t>
            </a:r>
            <a:endParaRPr lang="ar-SA" sz="1800" dirty="0"/>
          </a:p>
        </p:txBody>
      </p:sp>
      <p:sp>
        <p:nvSpPr>
          <p:cNvPr id="36" name="Text 33"/>
          <p:cNvSpPr txBox="1"/>
          <p:nvPr/>
        </p:nvSpPr>
        <p:spPr>
          <a:xfrm>
            <a:off x="6327648" y="375818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need it before …, because …</a:t>
            </a:r>
            <a:endParaRPr lang="en-US" sz="1050" dirty="0"/>
          </a:p>
        </p:txBody>
      </p:sp>
      <p:sp>
        <p:nvSpPr>
          <p:cNvPr id="37" name="Text 34"/>
          <p:cNvSpPr txBox="1"/>
          <p:nvPr/>
        </p:nvSpPr>
        <p:spPr>
          <a:xfrm>
            <a:off x="8202168" y="426110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أَرْجُو أَنْ تُرْسِلُوا لِي ______ .</a:t>
            </a:r>
            <a:endParaRPr lang="ar-SA" sz="1800" dirty="0"/>
          </a:p>
        </p:txBody>
      </p:sp>
      <p:sp>
        <p:nvSpPr>
          <p:cNvPr id="38" name="Text 35"/>
          <p:cNvSpPr txBox="1"/>
          <p:nvPr/>
        </p:nvSpPr>
        <p:spPr>
          <a:xfrm>
            <a:off x="6327648" y="426110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Please send me …</a:t>
            </a:r>
            <a:endParaRPr lang="en-US" sz="1050" dirty="0"/>
          </a:p>
        </p:txBody>
      </p:sp>
      <p:sp>
        <p:nvSpPr>
          <p:cNvPr id="39" name="Text 36"/>
          <p:cNvSpPr txBox="1"/>
          <p:nvPr/>
        </p:nvSpPr>
        <p:spPr>
          <a:xfrm>
            <a:off x="8202168" y="47640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الشُّكْرِ،</a:t>
            </a:r>
            <a:endParaRPr lang="ar-SA" sz="1800" dirty="0"/>
          </a:p>
        </p:txBody>
      </p:sp>
      <p:sp>
        <p:nvSpPr>
          <p:cNvPr id="40" name="Text 37"/>
          <p:cNvSpPr txBox="1"/>
          <p:nvPr/>
        </p:nvSpPr>
        <p:spPr>
          <a:xfrm>
            <a:off x="6327648" y="47640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thanks,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طَلَبْتُ  ·  وَصَلَ · وَصَلَتْ  ·  المَقَاسُ  ·  ضَيِّقٌ · وَاسِعٌ  ·  بَدَلًا مِنْ  ·  أُرْجِعُ · أُبَدِّلُ  ·  إِيصَالٌ  ·  أَرْجُو 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السُّتْرَةُ جَمِيلَةٌ.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“this”?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القَمِيصُ أَرْخَصُ القَمِيصِ الآخَرِ.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Comparison needs one more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اشْتَرَيْتُ ثَلَاثَةَ قُبَّعَاتٍ.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قُبَّعَة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السُّتْرَةُ جَمِيلَةٌ.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السُّتْرَةُ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سُتْرَة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القَمِيصُ أَرْخَصُ القَمِيصِ الآخَرِ.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القَمِيصُ أَرْخَصُ مِنَ القَمِيصِ الآخَرِ.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Comparative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اشْتَرَيْتُ ثَلَاثَةَ قُبَّعَاتٍ.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اشْتَرَيْتُ ثَلَاثَ قُبَّعَاتٍ.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قُبَّعَة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ثَلَاثَ</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قَبْلَ العِيدِ المَاضِي ذَهَبْتُ مَعَ أُمِّي إِلَى السُّوقِ.</a:t>
            </a:r>
            <a:endParaRPr lang="ar-SA" sz="23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Before last Eid I went to the market with my mum.</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جَرَّبْتُ فَسَاتِينَ كَثِيرَةً، وَاخْتَرْتُ فُسْتَانًا أَخْضَرَ.</a:t>
            </a:r>
            <a:endParaRPr lang="ar-SA" sz="24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tried many dresses and chose a green one.</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مُمَيَّزًا لِأَنِّي دَفَعْتُ مِنْ مَالِي.</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because I paid with my own money.</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بِالفَخْرِ فِي العِيدِ.</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proud at Eid.</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shopping trip I remember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تَسَوُّقٍ أَتَذَكَّرُهَا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“Fashion and shopping”. Today write ONLY the past paragraph: a shopping trip you remember (for Eid, a wedding, a new school year) — where, with whom, what you bought, one thing that happened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 ذَهَبْتُ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 I went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جَرَّبْتُ … وَاخْتَرْتُ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tried … and chose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 أَغْلَى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was more expensive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دَفَعْتُ … مِنْ مَالِي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paid … with my own money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بِالفَخْرِ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proud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السَّادَةُ فِي مَحَلِّ "أَنَاقَةٍ" المُحْتَرَمُونَ،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الثَّالِثِ مِنْ نُوفَمْبِرَ طَلَبْتُ مِنْ مَوْقِعِكُمْ سُتْرَةً سَوْدَاءَ بِالمَقَاسِ المُتَوَسِّطِ، وَدَفَعْتُ خَمْسَةً وَأَرْبَعِينَ جُنَيْهًا. لٰكِنْ أَمْسِ وَصَلَتْ سُتْرَةٌ بُنِّيَّةٌ، وَهِيَ بِالمَقَاسِ الصَّغِيرِ، فَهِيَ ضَيِّقَةٌ جِدًّا عَلَيَّ، وَالأَكْمَامُ قَصِيرَةٌ. أَحْتَاجُ السُّتْرَةَ قَبْلَ العِشْرِينَ مِنْ هٰذَا الشَّهْرِ، لِأَنِّي سَأَلْبَسُهَا فِي حَفْلَةِ تَخَرُّجِ أَخِي الكَبِيرِ. أَرْجُو أَنْ تُرْسِلُوا لِي السُّتْرَةَ السَّوْدَاءَ بِالمَقَاسِ الصَّحِيحِ بِسُرْعَةٍ، وَإِذَا لَمْ تَكُنْ عِنْدَكُمْ، فَأَرْجُو أَنْ تُرْجِعُوا لِي المَالَ كَامِلًا. سَأُرْسِلُ السُّتْرَةَ البُنِّيَّةَ بِالبَرِيدِ مَعَ الإِيصَالِ.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مَعَ الشُّكْرِ،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زَيْنَبُ أَحْمَدُ</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Anaqa shop, on 3 November I ordered a black jacket in medium from your website and paid £45. But yesterday a brown jacket arrived in small; it is far too tight for me and the sleeves are short. I need the jacket before the 20th of this month, because I will wear it at my older brother’s graduation party. Please send me the black jacket in the right size quickly, and if you don’t have it, please refund the full amount. I will post the brown jacket back with the receipt. With thanks, Zainab Ahmad.”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طَلَبْتُ مِنْ مَوْقِعِكُمْ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أَمْسِ وَصَلَتْ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سَأَلْبَسُهَا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أَرْجُو أَنْ تُرْسِلُوا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عِيدِ الفِطْرِ المَاضِي ذَهَبْتُ مَعَ أُمِّي وَأُخْتِي إِلَى سُوقٍ كَبِيرٍ فِي وَسَطِ المَدِينَةِ. كَانَ السُّوقُ مُزْدَحِمًا جِدًّا، لِأَنَّ الجَمِيعَ يَشْتَرُونَ مَلَابِسَ العِيدِ. جَرَّبْتُ أَكْثَرَ مِنْ عَشَرَةِ أَحْذِيَةٍ، وَفِي النِّهَايَةِ اخْتَرْتُ حِذَاءً بُنِّيًّا مِنَ الجِلْدِ، وَكَانَ أَغْلَى مِنْ كُلِّ أَحْذِيَتِي القَدِيمَةِ. كَانَ ذٰلِكَ اليَوْمُ مُمَيَّزًا لِأَنِّي دَفَعْتُ نِصْفَ الثَّمَنِ مِنَ المَالِ الَّذِي وَفَّرْتُهُ. شَعَرْتُ بِالفَخْرِ يَوْمَ العِيدِ عِنْدَمَا لَبِسْتُهُ، وَمُنْذُ ذٰلِكَ الوَقْتِ أُوَفِّرُ قَلِيلًا كُلَّ شَهْرٍ.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before last Eid al-Fitr I went with my mum and sister to a big market in the town centre · D: it was very crowded because everyone buys Eid clothes; I tried more than ten pairs of shoes and finally chose brown leather ones, more expensive than all my old shoes · R: special because I paid half the price with money I had saved · F: I felt proud on Eid when I wore them, and since then I save a little every month.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ذَهَبْتُ مَعَ أُمِّي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جَرَّبْتُ أَكْثَرَ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أَغْلَى مِنْ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بِالفَخْرِ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TB-L08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TB-L07 · Writing Practice Room — Clothes and Shopping</dc:title>
  <dc:subject>PptxGenJS Presentation</dc:subject>
  <dc:creator>Al Madina Online School · Arabic Department</dc:creator>
  <cp:lastModifiedBy>Al Madina Online School · Arabic Department</cp:lastModifiedBy>
  <cp:revision>1</cp:revision>
  <dcterms:created xsi:type="dcterms:W3CDTF">2026-10-25T14:34:54Z</dcterms:created>
  <dcterms:modified xsi:type="dcterms:W3CDTF">2026-10-25T14:34:54Z</dcterms:modified>
</cp:coreProperties>
</file>