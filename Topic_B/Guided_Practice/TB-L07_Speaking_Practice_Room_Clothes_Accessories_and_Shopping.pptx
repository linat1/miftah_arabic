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PRACTICE ROOM AT A GLANCE — 55–60 minutes; about 8 minutes in the main room, about 40 minutes in breakout rooms of three, about 8 minutes back together.
0–2 Welcome · 2–6 How the room works (roles, rules) · then ROOMS: Step 1 Word warm-up (5) · Step 2 The answer ladder (8) · Step 3 Role plays 1 and 2 (14) · Step 4 Topic conversation with A-R-E-T (8) · Step 5 One-minute talk (5) · back in the main room: Check yourself (6) · Self-check + close (3).
PURPOSE: students practise ON THEIR OWN with a clear structure. The teacher visits each room (about 3 minutes per room), listens, and gives one live correction per student.
CONTENT: Advanced Topic B · Personal and Social Life, Lesson 7 (Clothes, Accessories and Shopping, TB-L07) — new role plays and questions (not the ones in the Exam Practice workshop), using the lesson’s language (comparatives (arkhaṣu min, aghlā min); prices and numbers (bi-kam …?); hādhā / hādhihi; object pronouns (ujarribuhu, ujarribuhā); sizes (maqās)).
SET-UP: rooms of three (same-level rooms keep the routes simple). Share this deck or its PDF in the chat so every room can follow the steps. Post the step timings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show the route through the steps. Students keep this slide in mind: the step number is always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ROOM WORKS (3 min, main room). Model the three roles quickly with two volunteers using one question. Stress: the Coach is not a judge — one WWW, one EBI, kind and specific. Then open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 min in rooms). The vocab slides that follow are the reference. Teacher: visit the first room straight away to model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the Leader picks the English, the Speaker gives the Arabic.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(read together for 2 min). Each level ADDS one thing. Core aims for level 2, Develop for level 3, Stretch for level 4.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(6 min). The cells are STARTERS, not full answers. Core: questions 1–2 to level 2. Develop: all four to level 3. Stretch: level 4 with an opinion or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introduction (2 min). Role play 1 shows the plan column filled in; for role play 2 students write it themselves. This is the fading: by the exam, they plan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1 (Core · Develop) — SUPPORTED: the plan column models the thinking (question word → tense → first words), NOT the full answer.
ROOM ROUTINE: Leader reads the left column in order · Speaker answers · Coach ticks the checklist (step 5 slide) and gives one WWW + one EBI · swap so that everyone is Speaker once.
To a girl the Leader says: أُسَاعِدُكِ · مَقَاسُكِ · تَفَضَّلِي · تُرِيدِينَ — a girl might ask for فُسْتَانٍ instead of قَمِيصٍ.
Language: abḥathu ʿan · maqāsī · hal yumkinu an ujarribahu (object pronoun) · ḍayyiq · akbaru · bi-kam hiya?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2 (Develop · Stretch) — FADED SUPPORT: students now write their own plan column — exactly what they will do in the exam in their preparation time.
ROOM ROUTINE: Leader reads the left column in order · Speaker answers · Coach ticks the checklist (step 5 slide) and gives one WWW + one EBI · swap so that everyone is Speaker once.
To a girl the Leader says: لَبِسْتِهِ · لَكِ · تَشْتَرِينَ.
Language: past narrative (ishtaraytu, labistuhu) · comparison and preference (ufaḍḍilu … li-annahu) · object pronouns · arkhaṣu · hal sa-yarjiʿu …?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introduction (2 min). Show one answer growing link by link, then open the conversation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min). Leaders choose questions that suit the Speaker: Core questions first, then move up. The follow-up column trains extended answers — exactly what the conversation part of the exam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(5 min). A monologue builds fluency for the conversation.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Coach keeps this slide open during Steps 2–5. Back in the main room, ask each room for its best 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Read one aloud together; students say which A-R-E-T link they will add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B · GUIDED PRACTICE  ·  TB-L07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TB-L07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Practice Room — Clothes and Shopping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التَّحَدُّثِ — المَلَابِسُ وَالتَّسَوُّقُ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run their own speaking practice in breakout rooms: a word warm-up, the answer ladder, two new role plays (buying clothes for a wedding, returning trainers that are too small), a topic conversation with A-R-E-T, and a one-minute talk about what they wear.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Advanced Topic B · Personal and Social Life · guided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B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B › TB-L07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ROOM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Five steps — you run them yourselves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4223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223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1: word warm-up.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الكَلِمَاتُ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357628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7356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03932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503932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42666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4266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485644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2: climb the answer ladder.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449068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السُّلَّمُ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4258056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67784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04360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404360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430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430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386072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3: two role plays (planned, then you plan).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49496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6158484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68212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04788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04788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435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435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286500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4: topic conversation, A-R-E-T.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249924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058912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68640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05216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205216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743950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4395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186928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5: one-minute talk.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150352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وَاحِدَةٌ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995934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06906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0564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0564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64437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64437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08735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05078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ROOM RUNS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Everybody speaks in every step. Swap roles each time: Leader → Speaker → Coach. If you finish early, do the step again with the Stretch route.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BEFORE THE ROOMS · HOW YOUR ROOM WORKS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Three roles, four rules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نَعْمَلُ فِي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ROLES (SWAP AFTER EVERY TASK)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 — opens the next step, keeps the time, and reads the examiner’s questions.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— answers in full Arabic sentences. Plan for a few seconds, then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— listens with the checklist, then gives one WWW (what went well) and one EBI (even better if).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RULES: Arabic only in the tasks · full sentences · no silence (use a repair phrase) · everyone speaks in every step.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ROOM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1 · WORD WARM-UP · 5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Say it — then use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قُلْهَا وَاسْتَعْمِلْهَا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🔤  Word ping-pong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says a word in ENGLISH from the next two slides. The Speaker says it in ARABIC, then uses it in a short sentence about themselves. The Coach checks the Arabic on the slide.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Leader: say 4 English words; Speaker answers in Arabic + one sentence each.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checks the word and the ending (I / he / she / they).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roles — new words each time.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say the he / she form of each verb.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word, then a simple sentence: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when or how often: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two words in one sentence with a reason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أَعِدْ مِنْ فَضْلِكَ / أَعِيدِي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please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 / تَكَلَّمِي أَكْثَرَ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Clothes and accessories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المَلَابِسُ وَالإِكْسِسْوَارَاتُ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قَمِيصٌ · بِنْطَالٌ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shirt · trousers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qa-mī-ṣun · bin-ṭā-lun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8238744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93608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8284464" y="34838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قُمْصَانٌ · بَنَاطِيلُ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فُسْتَانٌ · تَنُّورَةٌ</a:t>
            </a:r>
            <a:endParaRPr lang="ar-SA" sz="3000" dirty="0"/>
          </a:p>
        </p:txBody>
      </p:sp>
      <p:sp>
        <p:nvSpPr>
          <p:cNvPr id="35" name="Text 32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dress · a skirt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fus-tā-nun · tan-nū-ra-tun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4416552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471416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38" name="Text 35"/>
          <p:cNvSpPr txBox="1"/>
          <p:nvPr/>
        </p:nvSpPr>
        <p:spPr>
          <a:xfrm>
            <a:off x="4462272" y="34838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فَسَاتِينُ · تَنَانِيرُ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960120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60120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6" name="Text 43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حِذَاءٌ</a:t>
            </a:r>
            <a:endParaRPr lang="ar-SA" sz="3000" dirty="0"/>
          </a:p>
        </p:txBody>
      </p:sp>
      <p:sp>
        <p:nvSpPr>
          <p:cNvPr id="47" name="Text 44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pair of shoes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ḥi-dhā-ʾun</a:t>
            </a:r>
            <a:endParaRPr lang="en-US" sz="1350" dirty="0"/>
          </a:p>
        </p:txBody>
      </p:sp>
      <p:sp>
        <p:nvSpPr>
          <p:cNvPr id="48" name="Shape 45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2368296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أَحْذِيَةٌ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53" name="Text 50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حِذَاءٌ</a:t>
            </a:r>
            <a:endParaRPr lang="ar-SA" sz="1500" dirty="0"/>
          </a:p>
        </p:txBody>
      </p:sp>
      <p:sp>
        <p:nvSpPr>
          <p:cNvPr id="54" name="Shape 51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1" name="Text 58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مِعْطَفٌ · سُتْرَةٌ</a:t>
            </a:r>
            <a:endParaRPr lang="ar-SA" sz="3000" dirty="0"/>
          </a:p>
        </p:txBody>
      </p:sp>
      <p:sp>
        <p:nvSpPr>
          <p:cNvPr id="62" name="Text 59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coat · a jacket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miʿ-ṭa-fun · sut-ra-tun</a:t>
            </a:r>
            <a:endParaRPr lang="en-US" sz="1350" dirty="0"/>
          </a:p>
        </p:txBody>
      </p:sp>
      <p:sp>
        <p:nvSpPr>
          <p:cNvPr id="63" name="Shape 60"/>
          <p:cNvSpPr/>
          <p:nvPr/>
        </p:nvSpPr>
        <p:spPr>
          <a:xfrm>
            <a:off x="8238744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293608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8284464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مَعَاطِفُ · سُتَرٌ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4782312" y="4279392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4782312" y="4279392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accessories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3" name="Text 70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قُبَّعَةٌ · نَظَّارَةٌ شَمْسِيَّةٌ</a:t>
            </a:r>
            <a:endParaRPr lang="ar-SA" sz="3000" dirty="0"/>
          </a:p>
        </p:txBody>
      </p:sp>
      <p:sp>
        <p:nvSpPr>
          <p:cNvPr id="74" name="Text 71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hat · sunglasses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qub-ba-ʿa-tun · naẓ-ẓā-ra-tun sham-siy-ya-tun</a:t>
            </a:r>
            <a:endParaRPr lang="en-US" sz="1350" dirty="0"/>
          </a:p>
        </p:txBody>
      </p:sp>
      <p:sp>
        <p:nvSpPr>
          <p:cNvPr id="75" name="Shape 72"/>
          <p:cNvSpPr/>
          <p:nvPr/>
        </p:nvSpPr>
        <p:spPr>
          <a:xfrm>
            <a:off x="4416552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4471416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4462272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قُبَّعَاتٌ</a:t>
            </a:r>
            <a:endParaRPr lang="ar-SA" sz="1500" dirty="0"/>
          </a:p>
        </p:txBody>
      </p:sp>
      <p:sp>
        <p:nvSpPr>
          <p:cNvPr id="78" name="Shape 75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960120" y="4279392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60120" y="4279392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 · my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5" name="Text 82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مَقَاسٌ</a:t>
            </a:r>
            <a:endParaRPr lang="ar-SA" sz="3000" dirty="0"/>
          </a:p>
        </p:txBody>
      </p:sp>
      <p:sp>
        <p:nvSpPr>
          <p:cNvPr id="86" name="Text 83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size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ma-qā-sun</a:t>
            </a:r>
            <a:endParaRPr lang="en-US" sz="1350" dirty="0"/>
          </a:p>
        </p:txBody>
      </p:sp>
      <p:sp>
        <p:nvSpPr>
          <p:cNvPr id="87" name="Shape 84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294436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مَقَاسِي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179222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مَقَاسَاتٌ</a:t>
            </a:r>
            <a:endParaRPr lang="ar-SA" sz="1500" dirty="0"/>
          </a:p>
        </p:txBody>
      </p:sp>
      <p:sp>
        <p:nvSpPr>
          <p:cNvPr id="93" name="Shape 90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64008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مَقَاسٌ</a:t>
            </a:r>
            <a:endParaRPr lang="ar-SA" sz="1500" dirty="0"/>
          </a:p>
        </p:txBody>
      </p:sp>
      <p:sp>
        <p:nvSpPr>
          <p:cNvPr id="96" name="Text 9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In the shop — sizes, prices and returns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المَحَلِّ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object pronoun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أُجَرِّبُهُ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try it on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u-jar-ri-bu-hu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can I?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 أَنْ أُجَرِّبَهُ؟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أُجَرِّبُهَا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demonstratives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· هٰذِهِ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this (m. · f.)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hā-dhā · hā-dhi-hi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that f.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تِلْكَ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that m.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ذٰلِكَ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comparatives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أَرْخَصُ مِنْ · أَغْلَى مِنْ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cheaper than · dearer than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ar-kha-ṣu min · agh-lā min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smaller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أَصْغَرُ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bigger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أَكْبَرُ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price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بِكَمْ …؟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much is …?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bi-kam …?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بِكَمْ هٰذِهِ؟</a:t>
            </a:r>
            <a:endParaRPr lang="ar-SA" sz="150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بِكَمْ هٰذَا؟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too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ضَيِّقٌ · وَاسِعٌ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tight · loose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ḍay-yi-qun · wā-si-ʿun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too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ضَيِّقٌ جِدًّا عَلَيَّ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ضَيِّقَةٌ · وَاسِعَةٌ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 · he · we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أُرْجِعُ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return (an item)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ur-ji-ʿu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101" name="Text 98"/>
          <p:cNvSpPr txBox="1"/>
          <p:nvPr/>
        </p:nvSpPr>
        <p:spPr>
          <a:xfrm>
            <a:off x="294436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نُرْجِعُ</a:t>
            </a:r>
            <a:endParaRPr lang="ar-SA" sz="1500" dirty="0"/>
          </a:p>
        </p:txBody>
      </p:sp>
      <p:sp>
        <p:nvSpPr>
          <p:cNvPr id="102" name="Shape 99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179222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يُرْجِعُ</a:t>
            </a:r>
            <a:endParaRPr lang="ar-SA" sz="1500" dirty="0"/>
          </a:p>
        </p:txBody>
      </p:sp>
      <p:sp>
        <p:nvSpPr>
          <p:cNvPr id="105" name="Shape 102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700" dirty="0"/>
          </a:p>
        </p:txBody>
      </p:sp>
      <p:sp>
        <p:nvSpPr>
          <p:cNvPr id="107" name="Text 104"/>
          <p:cNvSpPr txBox="1"/>
          <p:nvPr/>
        </p:nvSpPr>
        <p:spPr>
          <a:xfrm>
            <a:off x="640080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أَرْجَعْتُ</a:t>
            </a:r>
            <a:endParaRPr lang="ar-SA" sz="1350" dirty="0"/>
          </a:p>
        </p:txBody>
      </p:sp>
      <p:sp>
        <p:nvSpPr>
          <p:cNvPr id="108" name="Text 10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2 · THE ANSWER LADDER · HOW A SHORT ANSWER BECOMES A STRONG 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Climb the ladder: “What do you wear at the weekend?”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تَلْبَسُ فِي نِهَايَةِ الأُسْبُوعِ؟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201400" y="2123694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01400" y="21236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47088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أَلْبَسُ بِنْطَالَ جِينْزٍ وَقَمِيصًا رِيَاضِيًّا.</a:t>
            </a:r>
            <a:endParaRPr lang="ar-SA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85623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1 · Answer in a full sentence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wear jeans and a sports top.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967228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01400" y="3280410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01400" y="32804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003804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أَلْبَسُ بِنْطَالَ جِينْزٍ وَقَمِيصًا رِيَاضِيًّا، لِأَنَّهُمَا مُرِيحَانِ.</a:t>
            </a:r>
            <a:endParaRPr lang="ar-SA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012948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2 · + a reason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because they are comfortable.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123944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201400" y="4437126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01400" y="44371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160520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وَعِنْدَمَا يَكُونُ الجَوُّ بَارِدًا أَلْبَسُ مِعْطَفًا أَسْوَدَ وَقُبَّعَةً صُوفِيَّةً.</a:t>
            </a:r>
            <a:endParaRPr lang="ar-SA" sz="240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9664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3 · + a detail (time, frequency, example)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when it’s cold I wear a black coat and a woolly hat.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5280660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1201400" y="5593842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201400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17236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لٰكِنْ فِي حَفْلَةِ أُخْتِي الأُسْبُوعَ القَادِمَ سَأَلْبَسُ بَدْلَةً، فَالمُنَاسَبَاتُ فِي رَأْيِي تَحْتَاجُ إِلَى مَلَابِسَ أَنِيقَةٍ.</a:t>
            </a:r>
            <a:endParaRPr lang="ar-SA" sz="185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326380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4 · + another time frame or an opinion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but at my sister’s party next week I’ll wear a suit — in my opinion occasions need smart clothes.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2 · YOUR TURN · CLIMB THE LADDER FOR EACH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ladder: build each answer level by level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اصْعَدِ السُّلَّمَ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45752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3–4 · + detail /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6831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2 · + reason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1 · answer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26771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آخِرَ مَرَّةٍ اشْتَرَيْتُ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لِأَنَّهُ أَرْخَصُ مِنْ …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أَشْتَرِي مَلَابِسِي مِنْ …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تَشْتَرِي مَلَابِسَكَ؟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3054096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مَثَلًا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3054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لِأَنَّهُ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054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لَوْنُ مَلَابِسِكَ المُفَضَّلُ؟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309981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وَفِي العُطْلَةِ سَوْفَ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لَا،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التَّسَوُّقَ؟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626864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64040" y="4626864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وَفِي العِيدِ المَاضِي …</a:t>
            </a:r>
            <a:endParaRPr lang="ar-SA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086600" y="46268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617720" y="46268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العِيدِ أَلْبَسُ 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6268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تَلْبَسُ فِي العِيدِ؟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62686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Leader asks · Speaker climbs as high as they can · Coach says which level they reached. Swap for each question.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3 · ROLE PLAY · HOW TO USE YOUR 1 MINUTE OF PREPARATION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a role-play card in one minute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فِي دَقِيقَةٍ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FOUR MOVES IN ONE MINUTE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am I and WHO is the examiner? (formal or friendly · a man or a woman → your endings).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each task, find the QUESTION WORD and the TENSE (past · present · future).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 only your FIRST 2–3 words for each task — not whole sentences.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Task ! is unexpected: listen for the question word, then answer in a full sentence.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 WORD → HOW TO START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 ← رَقْمٌ + اسْمٌ</a:t>
            </a:r>
            <a:endParaRPr lang="ar-SA" sz="26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5511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→ a number + a noun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9582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14116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 ← فِي السَّاعَةِ … / يَوْمَ …</a:t>
            </a:r>
            <a:endParaRPr lang="ar-SA" sz="265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85067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→ at … o’clock / on …day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1538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33672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…؟ ← لِأَنَّ …</a:t>
            </a:r>
            <a:endParaRPr lang="ar-SA" sz="265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804623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→ because 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523494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949440" y="5253228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← نَعَمْ / لَا + جُمْلَةٌ كَامِلَةٌ</a:t>
            </a:r>
            <a:endParaRPr lang="ar-SA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5824179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yes/no question → yes / no + a full sentence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1 · CORE · DEVELOP · THE PLAN IS GIVEN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 — Clothes for a wedding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مَلَابِسُ لِلزِّفَافِ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← أَبْحَثُ عَنْ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are looking for.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كَيْفَ أُسَاعِدُكَ؟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← مَقَاسِي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size.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مَقَاسُكَ؟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← هَلْ يُمْكِنُ أَنْ أُجَرِّبَهُ؟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to try it on.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تَفَضَّلْ، هٰذَا القَمِيصُ.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← لَا، هُوَ ضَيِّقٌ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is too tight.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طَبْعًا. هَلْ هُوَ مُنَاسِبٌ؟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← نَعَمْ / لَا، شُكْرًا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نَعَمْ. وَهَلْ تُرِيدُ رَبْطَةَ عُنُقٍ أَيْضًا؟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customer · Leader = the shop assistant. Use the plan column in your 1 minute of preparation, then hide it and speak.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2 · DEVELOP · STRETCH · PLAN IT YOURSELF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 — Returning trainers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إِرْجَاعُ حِذَاءٍ رِيَاضِيٍّ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 it: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what you bought and when (past).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المُشْكِلَةُ؟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what happened.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لَبِسْتَهُ؟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and decide.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الحِذَاءُ نَفْسُهُ بِمَقَاسٍ أَكْبَرَ، لٰكِنْ بِاللَّوْنِ الأَحْمَرِ فَقَطْ.</a:t>
            </a:r>
            <a:endParaRPr lang="ar-SA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about the refund.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يُمْكِنُ أَنْ نُرْجِعَ لَكَ المَالَ.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(opinion + comparison).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تَشْتَرِي المَلَابِسَ عَلَى الإِنْتَرْنِتْ؟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customer with a receipt · Leader = the customer-service manager. In your 1 minute, write the plan column in your book. Task ! : the Leader reads it without warning. Then swap roles.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4 · TOPIC CONVERSATION · KEEP THE ANSWER GOING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A-R-E-T: four links in every answer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سِلْسِلَةُ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3456432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· R · E ·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— ANSWER the question in a full sentence.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 — give a REASON: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/ لِذٰلِكَ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78561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36758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 — add an EXAMPLE or a detail: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 / كُلَّ يَوْمٍ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45354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425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 — change the TIME: past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/ فِي المَاضِي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future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/ فِي المُسْتَقْبَلِ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COACH PUSHES WITH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1244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8820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06496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73180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what?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0014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18432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المَاضِي؟ / وَفِي المُسْتَقْبَلِ؟</a:t>
            </a:r>
            <a:endParaRPr lang="ar-SA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785116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in the past? / And in the future?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8368" y="54681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ROUTES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06040" y="544982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Core: A + R. Develop: A + R + E. Stretch: all four, plus an opinion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a contrast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CONVERSATION CARD · THE LEADER ASKS, THE COACH PUSHES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Conversation: answer, then keep going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المَلَابِسُ وَالتَّسَوُّقُ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7727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18105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Coach’s follow-up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2395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13848" y="226771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26771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لَوْنُهُ؟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760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are you wearing now?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تَلْبَسُ الآنَ؟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3848" y="2881884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881884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2760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favourite shop?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مَحَلُّكَ المُفَضَّلُ؟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13848" y="3496056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909560" y="3496056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بِكَمْ؟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2760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last thing you bought.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آخِرَ شَيْءٍ اشْتَرَيْتَهُ.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13848" y="4110228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110228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760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like school uniform?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110228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الزِّيَّ المَدْرَسِيَّ؟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213848" y="4724400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909560" y="4724400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رَأْيُكَ؟</a:t>
            </a:r>
            <a:endParaRPr lang="ar-SA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2760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brands matter too much to young people?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51560" y="4724400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تُهِمُّ المَارْكَاتُ الشَّبَابَ أَكْثَرَ مِنَ اللَّازِمِ؟</a:t>
            </a:r>
            <a:endParaRPr lang="ar-SA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13848" y="533857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909560" y="533857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كَيْفَ؟</a:t>
            </a:r>
            <a:endParaRPr lang="ar-SA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760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Should we buy fewer clothes to protect the environment?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51560" y="533857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نَشْتَرِيَ مَلَابِسَ أَقَلَّ لِحِمَايَةِ البِيئَةِ؟</a:t>
            </a:r>
            <a:endParaRPr lang="ar-SA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Each Speaker answers three questions (one per route if you can), using A-R-E-T. The Coach asks the follow-up. Swap.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THE ONE-MINUTE TALK · RECORD AND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what I wear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أَلْبَسُهُ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5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no stopping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about clothes: what you wear to school, at the weekend and on special days, where you shop and how much things cost — and your best buy ever.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jot 4 key words (one per bullet) —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Leader times it (record it on your phone or in Teams if you can).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tick the checklist on the next slide, then WWW + EBI.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Swap. Listen back to your recording at home and fix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three outfits with colours (agreement!).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60 seconds: add where you shop, a price, and a comparison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أَرْخَصُ مِنْ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90 seconds: add an opinion on brands or the environment, and a past shopping story.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المَدْرَسَةِ أَلْبَسُ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 school I wear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أَشْتَرِي مَلَابِسِي مِنْ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buy my clothes from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اشْتَرَيْتُ … بِخَمْسِينَ جُنَيْهًا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bought … for fifty pounds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أَرْخَصُ مِنْ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… is cheaper than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COACH · CHECKLIST FOR EVERY STEP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Coach: tick, then give WWW + EBI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54112" y="181051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181051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705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Speaker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26771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226771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question / task in a FULL sentence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881884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881884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named clothes with correct colour agreement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3496056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19088" y="3496056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detail (time, frequency, example)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790688" y="4110228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19088" y="4110228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prices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بِكَمْ …؟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comparative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أَرْخَصُ مِنْ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أَغْلَى مِنْ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790688" y="4724400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4724400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changed the time frame (past or future) or gave an opinion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533857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19088" y="533857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is kind and specific: “WWW: you used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twice. EBI: add a past sentence.”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أَبْحَثُ عَنْ قَمِيصٍ أَبْيَضَ لِحَفْلَةِ زِفَافٍ.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looking for a white shirt for a wedding.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كَيْفَ أُسَاعِدُكَ؟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مَقَاسِي مُتَوَسِّطٌ.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size is medium.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مَقَاسُكَ؟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 أَنْ أُجَرِّبَهُ، مِنْ فَضْلِكَ؟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Can I try it on, please?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تَفَضَّلْ، هٰذَا القَمِيصُ.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هُوَ ضَيِّقٌ قَلِيلًا. هَلْ عِنْدَكُمْ مَقَاسٌ أَكْبَرُ؟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it is a bit tight. Do you have a bigger size?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طَبْعًا. هَلْ هُوَ مُنَاسِبٌ؟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أُرِيدُ رَبْطَةً زَرْقَاءَ. بِكَمْ هِيَ؟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I’d like a blue tie. How much is it?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نَعَمْ. وَهَلْ تُرِيدُ رَبْطَةَ عُنُقٍ أَيْضًا؟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اشْتَرَيْتُ هٰذَا الحِذَاءَ الرِّيَاضِيَّ يَوْمَ السَّبْتِ المَاضِي، لٰكِنَّهُ صَغِيرٌ جِدًّا.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bought these trainers last Saturday, but they are too small.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المُشْكِلَةُ؟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لَبِسْتُهُ مَرَّةً وَاحِدَةً فِي البَيْتِ فَقَطْ، فَآلَمَتْنِي رِجْلِي بَعْدَ عَشْرِ دَقَائِقَ.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wore them once only at home, and my foot hurt after ten minutes.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لَبِسْتَهُ؟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الأَحْمَرُ جَمِيلٌ، لٰكِنِّي أُفَضِّلُ الأَسْوَدَ، لِأَنَّهُ يُنَاسِبُ زِيَّ فَرِيقِي.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Red is nice, but I prefer black, because it matches my team kit.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الحِذَاءُ نَفْسُهُ بِمَقَاسٍ أَكْبَرَ، لٰكِنْ بِاللَّوْنِ الأَحْمَرِ فَقَطْ.</a:t>
            </a:r>
            <a:endParaRPr lang="ar-SA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شُكْرًا، وَهَلْ سَيَرْجِعُ المَالُ إِلَى بِطَاقَتِي؟ وَمَتَى؟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Thank you — will the money go back to my card? And when?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يُمْكِنُ أَنْ نُرْجِعَ لَكَ المَالَ.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أَحْيَانًا، لِأَنَّهَا أَرْخَصُ، لٰكِنِّي أُفَضِّلُ المَحَلَّاتِ، لِأَنِّي أَسْتَطِيعُ أَنْ أُجَرِّبَ المَقَاسَ.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Sometimes, because it’s cheaper, but I prefer shops because I can try the size.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تَشْتَرِي المَلَابِسَ عَلَى الإِنْتَرْنِتْ؟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CONVERSATION AND ONE-MINUTE TALK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Strong answers to compare with yours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نَمَاذِجُ لِلْمُقَارَنَةِ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اشْتَرَيْتُ مِعْطَفًا رَمَادِيًّا لِلشِّتَاءِ بِأَرْبَعِينَ جُنَيْهًا، لِأَنَّ مِعْطَفِي القَدِيمَ أَصْبَحَ صَغِيرًا؛ جَرَّبْتُ ثَلَاثَةَ مَعَاطِفَ، وَهٰذَا كَانَ أَدْفَأَهَا.</a:t>
            </a:r>
            <a:endParaRPr lang="ar-SA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a grey winter coat for £40 · R: my old one got too small · E: I tried three — this was the warmest.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آخِرَ شَيْءٍ اشْتَرَيْتَهُ.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أُحِبُّهُ كَثِيرًا، لِأَنَّ السُّتْرَةَ ضَيِّقَةٌ، لٰكِنَّهُ مُفِيدٌ، لِأَنَّنَا لَا نُفَكِّرُ فِي المَلَابِسِ كُلَّ صَبَاحٍ؛ وَفِي الصَّفِّ الثَّانِيَ عَشَرَ سَنَلْبَسُ مَلَابِسَنَا العَادِيَّةَ.</a:t>
            </a:r>
            <a:endParaRPr lang="ar-SA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not much — the blazer is tight · contrast: but useful — no thinking about clothes every morning · T: in Year 12 we’ll wear our own clothes.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الزِّيَّ المَدْرَسِيَّ؟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نَعَمْ، لِأَنَّ صُنْعَ المَلَابِسِ يَسْتَهْلِكُ مَاءً كَثِيرًا؛ صَحِيحٌ أَنَّ المَلَابِسَ الجَدِيدَةَ جَمِيلَةٌ، غَيْرَ أَنَّنَا نَسْتَطِيعُ أَنْ نَشْتَرِيَ المُسْتَعْمَلَةَ، كَمَا فَعَلْتُ الشَّهْرَ المَاضِي.</a:t>
            </a:r>
            <a:endParaRPr lang="ar-SA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Opinion: yes · R: making clothes uses lots of water · concession: new clothes are nice, but we can buy second-hand — as I did last month.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نَشْتَرِيَ مَلَابِسَ أَقَلَّ لِحِمَايَةِ البِيئَةِ؟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Find the A, R, E and T in each answer. Which link do you usually forget?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planned my first words from the question word.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climbed to level 3: answer + reason + detail.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today’s key structure correctly when I spoke.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 four A-R-E-T links and spoke for 90 seconds.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TB-L07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ran your own speaking practice!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TB-L07 · Writing practice room · Decode, plan, write and check — step by step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answer + reason + detail + another time frame — every time you speak.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TB-L07 · Speaking Practice Room — Clothes and Shopping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2026-10-25T14:34:46Z</dcterms:created>
  <dcterms:modified xsi:type="dcterms:W3CDTF">2026-10-25T14:34:46Z</dcterms:modified>
</cp:coreProperties>
</file>