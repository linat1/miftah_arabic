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B · Personal and Social Life, Lesson 3 (Appearance and Personality, TB-L03)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(77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(63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GUIDED PRACTICE  ·  TB-L03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Appearance and Personality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المَظْهَرُ وَالشَّخْصِيَّةُ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(describing a new classmate to a friend),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TB-L03 · Advanced Topic B · Personal and Social Life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Drama club audition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50" b="1" dirty="0">
                <a:solidFill>
                  <a:srgbClr val="8A6D1E"/>
                </a:solidFill>
                <a:latin typeface="Amiri" pitchFamily="2" charset="-78"/>
                <a:ea typeface="Amiri" pitchFamily="2" charset="-78"/>
                <a:cs typeface="Amiri" pitchFamily="2" charset="-78"/>
              </a:rPr>
              <a:t>اسْتِمَارَةُ تَجْرِبَةِ الأَدَاءِ فِي نَادِي المَسْرَحِ</a:t>
            </a:r>
            <a:endParaRPr lang="ar-SA" sz="235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طَوِيلٌ · مُتَوَسِّطُ الطُّولِ</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Height</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الطُّولُ</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أَسْوَدُ · بُنِّيٌّ · أَشْقَرُ</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Hair colour</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لَوْنُ الشَّعْرِ</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بُنِّيَّتَانِ · زَرْقَاوَانِ</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Eye colour</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لَوْنُ العَيْنَيْنِ</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مَرِحٌ · شُجَاعٌ · صَبُورٌ</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personality adjectives</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ثَلَاثُ صِفَاتٍ لِشَخْصِيَّتِكَ</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دَوْرَ … لِأَنِّي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which role and why?</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أَيَّ دَوْرٍ تُرِيدُ؟ وَلِمَاذَا؟</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Question 2: a new student in my class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طَالِبٌ جَدِيدٌ فِي صَفِّي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A new student has joined your class. Write an email in Arabic to your friend of about 80–90 words. You must include: • where the new student is from and what they look like • what their personality is like, with an example • what happened on their first day • whether you think you will become friends, and why.</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انْضَمَّ إِلَى صَفِّنَا طَالِبٌ جَدِيدٌ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new student joined our class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 … وَعَيْنَاهُ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hair is … and his eyes are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لَيْسَ … بَلْ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is not … but rather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أَظُنُّ أَنَّنَا سَنُصْبِحُ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think we will become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طَالِبٍ جَدِيدٍ فِي صَفِّكَ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هُوَ؟ وَكَيْفَ يَبْدُو؟</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شَخْصِيَّتُهُ؟ أَعْطِ مِثَالًا.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حَدَثَ فِي يَوْمِهِ الأَوَّلِ؟</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سَتُصْبِحَانِ صَدِيقَيْنِ؟ وَلِمَاذَا؟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a new student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عَنْ طَالِبٍ جَدِيدٍ فِي صَفِّكَ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from; what they look like</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مِنْ أَيْنَ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كَيْفَ يَبْدُو</a:t>
            </a:r>
            <a:pPr algn="l" indent="0" marL="0">
              <a:buNone/>
            </a:pPr>
            <a:r>
              <a:rPr lang="en-US" sz="1100" dirty="0">
                <a:solidFill>
                  <a:srgbClr val="5A6472"/>
                </a:solidFill>
                <a:latin typeface="Calibri" pitchFamily="34" charset="0"/>
                <a:cs typeface="Amiri" pitchFamily="2" charset="-78"/>
              </a:rPr>
              <a:t> → PRESENT description + agreement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هُوَ؟ وَكَيْفَ يَبْدُو؟</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Personality, with an example</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 شَخْصِيَّتُهُ</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أَعْطِ مِثَالًا</a:t>
            </a:r>
            <a:pPr algn="l" indent="0" marL="0">
              <a:buNone/>
            </a:pPr>
            <a:r>
              <a:rPr lang="en-US" sz="1100" dirty="0">
                <a:solidFill>
                  <a:srgbClr val="5A6472"/>
                </a:solidFill>
                <a:latin typeface="Calibri" pitchFamily="34" charset="0"/>
                <a:cs typeface="Amiri" pitchFamily="2" charset="-78"/>
              </a:rPr>
              <a:t> → adjectives + an example (</a:t>
            </a:r>
            <a:pPr algn="l" indent="0" marL="0">
              <a:buNone/>
            </a:pPr>
            <a:r>
              <a:rPr lang="ar-SA" altLang="en-US" sz="1450" dirty="0">
                <a:solidFill>
                  <a:srgbClr val="5A6472"/>
                </a:solidFill>
                <a:latin typeface="Amiri" pitchFamily="2" charset="-78"/>
                <a:ea typeface="Amiri" pitchFamily="2" charset="-78"/>
                <a:cs typeface="Amiri" pitchFamily="2" charset="-78"/>
              </a:rPr>
              <a:t>مَثَلًا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شَخْصِيَّتُهُ؟ أَعْطِ مِثَالًا.</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 on the first day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حَدَثَ</a:t>
            </a:r>
            <a:pPr algn="l" indent="0" marL="0">
              <a:buNone/>
            </a:pPr>
            <a:r>
              <a:rPr lang="en-US" sz="1100" dirty="0">
                <a:solidFill>
                  <a:srgbClr val="5A6472"/>
                </a:solidFill>
                <a:latin typeface="Calibri" pitchFamily="34" charset="0"/>
                <a:cs typeface="Amiri" pitchFamily="2" charset="-78"/>
              </a:rPr>
              <a:t> → PAST</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حَدَثَ فِي يَوْمِهِ الأَوَّلِ؟</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Will you become friends, and why</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سَتُصْبِحَانِ … وَلِمَاذَا</a:t>
            </a:r>
            <a:pPr algn="l" indent="0" marL="0">
              <a:buNone/>
            </a:pPr>
            <a:r>
              <a:rPr lang="en-US" sz="1100" dirty="0">
                <a:solidFill>
                  <a:srgbClr val="5A6472"/>
                </a:solidFill>
                <a:latin typeface="Calibri" pitchFamily="34" charset="0"/>
                <a:cs typeface="Amiri" pitchFamily="2" charset="-78"/>
              </a:rPr>
              <a:t> → FUTURE + a reason</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سَتُصْبِحَانِ صَدِيقَيْنِ؟ وَلِمَاذَا؟</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أُخْتِي لَطِيفَةٌ.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My sister is kind.</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أُخْتِي الكُبْرَى لَطِيفَةٌ وَمَرِحَةٌ، وَشَعْرُهَا طَوِيلٌ وَبُنِّيٌّ.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My older sister is kind and fun, with long brown hair.</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أُخْتِي الكُبْرَى لَطِيفَةٌ، لِأَنَّهَا تُسَاعِدُنِي دَائِمًا فِي وَاجِبَاتِي.</a:t>
            </a:r>
            <a:endParaRPr lang="ar-SA" sz="25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she always helps me with homework.</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وَهِيَ لَيْسَتْ صَارِمَةً مِثْلَ أَبِي، بَلْ صَبُورَةٌ جِدًّا!</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and she isn’t strict like my dad — she is very patient!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Her eyes are blue.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عَيْنَاهَا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عَيْنَاهُ</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زَرْقَاوَانِ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أَزْرَقُ</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وَجَمِيلَتَانِ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وَجَمِيلٌ</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is not shy, but sociable.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 لَيْسَ</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لَيْسَتْ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خَجُولًا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خَجُولٌ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بَلِ اجْتِمَاعِيٌّ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 اجْتِمَاعِيٌّ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girl who wears glasses is my cousin.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البِنْتُ الَّتِي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البِنْتُ الَّذِي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تَلْبَسُ نَظَّارَةً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يَلْبَسُ نَظَّارَةً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بِنْتُ عَمِّي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 عَمِّي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Her eyes are blue.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Her → -hā; two eyes → dual feminine adjectives: </a:t>
            </a:r>
            <a:pPr algn="l" indent="0" marL="0">
              <a:buNone/>
            </a:pPr>
            <a:r>
              <a:rPr lang="ar-SA" altLang="en-US" sz="1350" dirty="0">
                <a:solidFill>
                  <a:srgbClr val="5A6472"/>
                </a:solidFill>
                <a:latin typeface="Amiri" pitchFamily="2" charset="-78"/>
                <a:ea typeface="Amiri" pitchFamily="2" charset="-78"/>
                <a:cs typeface="Amiri" pitchFamily="2" charset="-78"/>
              </a:rPr>
              <a:t>زَرْقَاوَانِ وَجَمِيلَتَانِ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عَيْنَاهَا زَرْقَاوَانِ وَجَمِيلَتَانِ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is not shy, but sociable.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لَيْسَ</a:t>
            </a:r>
            <a:pPr algn="l" indent="0" marL="0">
              <a:buNone/>
            </a:pPr>
            <a:r>
              <a:rPr lang="en-US" sz="1050" i="1" dirty="0">
                <a:solidFill>
                  <a:srgbClr val="5A6472"/>
                </a:solidFill>
                <a:latin typeface="Calibri" pitchFamily="34" charset="0"/>
                <a:cs typeface="Amiri" pitchFamily="2" charset="-78"/>
              </a:rPr>
              <a:t> + accusative: </a:t>
            </a:r>
            <a:pPr algn="l" indent="0" marL="0">
              <a:buNone/>
            </a:pPr>
            <a:r>
              <a:rPr lang="ar-SA" altLang="en-US" sz="1350" dirty="0">
                <a:solidFill>
                  <a:srgbClr val="5A6472"/>
                </a:solidFill>
                <a:latin typeface="Amiri" pitchFamily="2" charset="-78"/>
                <a:ea typeface="Amiri" pitchFamily="2" charset="-78"/>
                <a:cs typeface="Amiri" pitchFamily="2" charset="-78"/>
              </a:rPr>
              <a:t>خَجُولًا</a:t>
            </a:r>
            <a:pPr algn="l" indent="0" marL="0">
              <a:buNone/>
            </a:pPr>
            <a:r>
              <a:rPr lang="en-US" sz="1050" i="1" dirty="0">
                <a:solidFill>
                  <a:srgbClr val="5A6472"/>
                </a:solidFill>
                <a:latin typeface="Calibri" pitchFamily="34" charset="0"/>
                <a:cs typeface="Amiri" pitchFamily="2" charset="-78"/>
              </a:rPr>
              <a:t>; “but rather” = </a:t>
            </a:r>
            <a:pPr algn="l" indent="0" marL="0">
              <a:buNone/>
            </a:pPr>
            <a:r>
              <a:rPr lang="ar-SA" altLang="en-US" sz="1350" dirty="0">
                <a:solidFill>
                  <a:srgbClr val="5A6472"/>
                </a:solidFill>
                <a:latin typeface="Amiri" pitchFamily="2" charset="-78"/>
                <a:ea typeface="Amiri" pitchFamily="2" charset="-78"/>
                <a:cs typeface="Amiri" pitchFamily="2" charset="-78"/>
              </a:rPr>
              <a:t>بَلْ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هُوَ لَيْسَ خَجُولًا بَلِ اجْتِمَاعِيٌّ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girl who wears glasses is my cousin.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girl → </a:t>
            </a:r>
            <a:pPr algn="l" indent="0" marL="0">
              <a:buNone/>
            </a:pPr>
            <a:r>
              <a:rPr lang="ar-SA" altLang="en-US" sz="1350" dirty="0">
                <a:solidFill>
                  <a:srgbClr val="5A6472"/>
                </a:solidFill>
                <a:latin typeface="Amiri" pitchFamily="2" charset="-78"/>
                <a:ea typeface="Amiri" pitchFamily="2" charset="-78"/>
                <a:cs typeface="Amiri" pitchFamily="2" charset="-78"/>
              </a:rPr>
              <a:t>الَّتِي</a:t>
            </a:r>
            <a:pPr algn="l" indent="0" marL="0">
              <a:buNone/>
            </a:pPr>
            <a:r>
              <a:rPr lang="en-US" sz="1050" i="1" dirty="0">
                <a:solidFill>
                  <a:srgbClr val="5A6472"/>
                </a:solidFill>
                <a:latin typeface="Calibri" pitchFamily="34" charset="0"/>
                <a:cs typeface="Amiri" pitchFamily="2" charset="-78"/>
              </a:rPr>
              <a:t> and </a:t>
            </a:r>
            <a:pPr algn="l" indent="0" marL="0">
              <a:buNone/>
            </a:pPr>
            <a:r>
              <a:rPr lang="ar-SA" altLang="en-US" sz="1350" dirty="0">
                <a:solidFill>
                  <a:srgbClr val="5A6472"/>
                </a:solidFill>
                <a:latin typeface="Amiri" pitchFamily="2" charset="-78"/>
                <a:ea typeface="Amiri" pitchFamily="2" charset="-78"/>
                <a:cs typeface="Amiri" pitchFamily="2" charset="-78"/>
              </a:rPr>
              <a:t>تَلْبَسُ</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البِنْتُ الَّتِي تَلْبَسُ نَظَّارَةً بِنْتُ عَمِّي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انْضَمَّ إِلَى صَفِّنَا طَالِبٌ جَدِيدٌ وَصَلَ مِنْ ______ ، وَهُوَ ______ .</a:t>
            </a:r>
            <a:endParaRPr lang="ar-SA" sz="12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A new student who came from … joined our class; he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لَيْسَ ______ ، بَلْ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He is not …, but rather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دَخَلَ الصَّفَّ، ______ ، ثُمَّ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When he came into class, …, then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نُحِبُّ الأَشْيَاءَ نَفْسَهَا، مِثْلَ ______ ، لِذٰلِكَ ______ .</a:t>
            </a:r>
            <a:endParaRPr lang="ar-SA" sz="14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We like the same things, like …, so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752344"/>
            <a:ext cx="3383280" cy="47777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فِي صَفِّي طَالِبٌ جَدِيدٌ مِنْ ______ ، اسْمُهُ ______ .</a:t>
            </a:r>
            <a:endParaRPr lang="ar-SA" sz="1550" dirty="0"/>
          </a:p>
        </p:txBody>
      </p:sp>
      <p:sp>
        <p:nvSpPr>
          <p:cNvPr id="32" name="Text 29"/>
          <p:cNvSpPr txBox="1"/>
          <p:nvPr/>
        </p:nvSpPr>
        <p:spPr>
          <a:xfrm>
            <a:off x="6327648" y="275234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In my class there is a new student from …, called …</a:t>
            </a:r>
            <a:endParaRPr lang="en-US" sz="1050" dirty="0"/>
          </a:p>
        </p:txBody>
      </p:sp>
      <p:sp>
        <p:nvSpPr>
          <p:cNvPr id="33" name="Text 30"/>
          <p:cNvSpPr txBox="1"/>
          <p:nvPr/>
        </p:nvSpPr>
        <p:spPr>
          <a:xfrm>
            <a:off x="8202168" y="325526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______ ، وَشَعْرُهُ ______ .</a:t>
            </a:r>
            <a:endParaRPr lang="ar-SA" sz="1800" dirty="0"/>
          </a:p>
        </p:txBody>
      </p:sp>
      <p:sp>
        <p:nvSpPr>
          <p:cNvPr id="34" name="Text 31"/>
          <p:cNvSpPr txBox="1"/>
          <p:nvPr/>
        </p:nvSpPr>
        <p:spPr>
          <a:xfrm>
            <a:off x="6327648" y="325526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He is …, and his hair is …</a:t>
            </a:r>
            <a:endParaRPr lang="en-US" sz="1050" dirty="0"/>
          </a:p>
        </p:txBody>
      </p:sp>
      <p:sp>
        <p:nvSpPr>
          <p:cNvPr id="35" name="Text 32"/>
          <p:cNvSpPr txBox="1"/>
          <p:nvPr/>
        </p:nvSpPr>
        <p:spPr>
          <a:xfrm>
            <a:off x="8202168" y="375818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______ جِدًّا؛ مَثَلًا ______ .</a:t>
            </a:r>
            <a:endParaRPr lang="ar-SA" sz="1800" dirty="0"/>
          </a:p>
        </p:txBody>
      </p:sp>
      <p:sp>
        <p:nvSpPr>
          <p:cNvPr id="36" name="Text 33"/>
          <p:cNvSpPr txBox="1"/>
          <p:nvPr/>
        </p:nvSpPr>
        <p:spPr>
          <a:xfrm>
            <a:off x="6327648" y="375818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He is very …; for example …</a:t>
            </a:r>
            <a:endParaRPr lang="en-US" sz="1050" dirty="0"/>
          </a:p>
        </p:txBody>
      </p:sp>
      <p:sp>
        <p:nvSpPr>
          <p:cNvPr id="37" name="Text 34"/>
          <p:cNvSpPr txBox="1"/>
          <p:nvPr/>
        </p:nvSpPr>
        <p:spPr>
          <a:xfrm>
            <a:off x="8202168" y="426110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يَوْمِهِ الأَوَّلِ ______ .</a:t>
            </a:r>
            <a:endParaRPr lang="ar-SA" sz="1800" dirty="0"/>
          </a:p>
        </p:txBody>
      </p:sp>
      <p:sp>
        <p:nvSpPr>
          <p:cNvPr id="38" name="Text 35"/>
          <p:cNvSpPr txBox="1"/>
          <p:nvPr/>
        </p:nvSpPr>
        <p:spPr>
          <a:xfrm>
            <a:off x="6327648" y="426110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On his first day …</a:t>
            </a:r>
            <a:endParaRPr lang="en-US" sz="1050" dirty="0"/>
          </a:p>
        </p:txBody>
      </p:sp>
      <p:sp>
        <p:nvSpPr>
          <p:cNvPr id="39" name="Text 36"/>
          <p:cNvSpPr txBox="1"/>
          <p:nvPr/>
        </p:nvSpPr>
        <p:spPr>
          <a:xfrm>
            <a:off x="8202168" y="47640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أَظُنُّ أَنَّنَا سَنُصْبِحُ صَدِيقَيْنِ، لِأَنَّ ______ .</a:t>
            </a:r>
            <a:endParaRPr lang="ar-SA" sz="1800" dirty="0"/>
          </a:p>
        </p:txBody>
      </p:sp>
      <p:sp>
        <p:nvSpPr>
          <p:cNvPr id="40" name="Text 37"/>
          <p:cNvSpPr txBox="1"/>
          <p:nvPr/>
        </p:nvSpPr>
        <p:spPr>
          <a:xfrm>
            <a:off x="6327648" y="47640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think we will become friends, because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طَوِيلٌ · قَصِيرٌ  ·  شَعْرُهُ أَسْوَدُ  ·  عَيْنَاهُ بُنِّيَّتَانِ  ·  يَلْبَسُ نَظَّارَةً  ·  خَجُولٌ · لَطِيفٌ  ·  ذَكِيٌّ  ·  الَّذِي · الَّتِي  ·  لَيْسَ … بَلْ …</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طَوِيلٌ وَصَبُورٌ.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Agreement with a woman.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 لَيْسَ طَوِيلٌ.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لَيْسَ</a:t>
            </a:r>
            <a:pPr algn="l" indent="0" marL="0">
              <a:buNone/>
            </a:pPr>
            <a:r>
              <a:rPr lang="en-US" sz="1300" i="1" dirty="0">
                <a:solidFill>
                  <a:srgbClr val="5A6472"/>
                </a:solidFill>
                <a:latin typeface="Calibri" pitchFamily="34" charset="0"/>
                <a:cs typeface="Amiri" pitchFamily="2" charset="-78"/>
              </a:rPr>
              <a:t> changes the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الوَلَدُ الَّتِي يَجْلِسُ هُنَاكَ أَخِي.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relative pronoun for a boy?</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طَوِيلٌ وَصَبُورٌ.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طَوِيلَةٌ وَصَبُورَةٌ.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woman → feminine adjectives.</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 لَيْسَ طَوِيلٌ.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 لَيْسَ طَوِيلًا.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لَيْسَ</a:t>
            </a:r>
            <a:pPr algn="l" indent="0" marL="0">
              <a:buNone/>
            </a:pPr>
            <a:r>
              <a:rPr lang="en-US" sz="1150" b="1" dirty="0">
                <a:solidFill>
                  <a:srgbClr val="1B3B6F"/>
                </a:solidFill>
                <a:latin typeface="Calibri" pitchFamily="34" charset="0"/>
                <a:cs typeface="Amiri" pitchFamily="2" charset="-78"/>
              </a:rPr>
              <a:t> the adjective is accusative: </a:t>
            </a:r>
            <a:pPr algn="l" indent="0" marL="0">
              <a:buNone/>
            </a:pPr>
            <a:r>
              <a:rPr lang="ar-SA" altLang="en-US" sz="1500" b="1" dirty="0">
                <a:solidFill>
                  <a:srgbClr val="1B3B6F"/>
                </a:solidFill>
                <a:latin typeface="Amiri" pitchFamily="2" charset="-78"/>
                <a:ea typeface="Amiri" pitchFamily="2" charset="-78"/>
                <a:cs typeface="Amiri" pitchFamily="2" charset="-78"/>
              </a:rPr>
              <a:t>طَوِيلًا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الوَلَدُ الَّتِي يَجْلِسُ هُنَاكَ أَخِي.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الوَلَدُ الَّذِي يَجْلِسُ هُنَاكَ أَخِي.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boy → </a:t>
            </a:r>
            <a:pPr algn="l" indent="0" marL="0">
              <a:buNone/>
            </a:pPr>
            <a:r>
              <a:rPr lang="ar-SA" altLang="en-US" sz="1500" b="1" dirty="0">
                <a:solidFill>
                  <a:srgbClr val="1B3B6F"/>
                </a:solidFill>
                <a:latin typeface="Amiri" pitchFamily="2" charset="-78"/>
                <a:ea typeface="Amiri" pitchFamily="2" charset="-78"/>
                <a:cs typeface="Amiri" pitchFamily="2" charset="-78"/>
              </a:rPr>
              <a:t>الَّذِي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فِي السَّنَةِ المَاضِيَةِ جَاءَ إِلَى حَيِّنَا جَارٌ جَدِيدٌ.</a:t>
            </a:r>
            <a:endParaRPr lang="ar-SA" sz="23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year a new neighbour came to our area.</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 يَبْدُو صَارِمًا، لٰكِنَّهُ سَاعَدَنَا كَثِيرًا.</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He looked strict, but he helped us a lot.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تَغَيَّرَ رَأْيِي لِأَنِّي عَرَفْتُ قَلْبَهُ.</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My opinion changed because I got to know his heart.</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تَعَلَّمْتُ أَلَّا أَحْكُمَ عَلَى النَّاسِ بِسُرْعَةٍ.</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learnt not to judge people quickly.</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someone who changed my opinion</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شَخْصٌ غَيَّرَ رَأْيِي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“People in my life”. Today write ONLY the past paragraph: someone you first judged by their appearance, then discovered their real personality — what happened, what you learnt,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البِدَايَةِ ظَنَنْتُ أَنَّهُ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first I thought he was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يَبْدُو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looked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فِي يَوْمٍ مِنَ الأَيَّامِ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one day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اكْتَشَفْتُ أَنَّهُ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discovered that he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تَعَلَّمْتُ أَلَّا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learnt not to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مَرْحَبًا يَا عُمَرُ،</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انْضَمَّ إِلَى صَفِّنَا هٰذَا الأُسْبُوعَ طَالِبٌ جَدِيدٌ اسْمُهُ كَرِيمٌ، وَهُوَ مِنَ الجَزَائِرِ. كَرِيمٌ طَوِيلٌ وَنَحِيفٌ، وَشَعْرُهُ أَسْوَدُ وَقَصِيرٌ، وَعَيْنَاهُ خَضْرَاوَانِ، وَيَلْبَسُ نَظَّارَةً. فِي البِدَايَةِ ظَنَنْتُهُ مَغْرُورًا، لٰكِنَّهُ لَيْسَ مَغْرُورًا، بَلْ خَجُولٌ قَلِيلًا؛ مَثَلًا، لَا يَتَكَلَّمُ كَثِيرًا فِي الصَّفِّ، لٰكِنَّهُ يُسَاعِدُ الجَمِيعَ فِي الرِّيَاضِيَّاتِ. فِي يَوْمِهِ الأَوَّلِ ضَاعَ فِي المَدْرَسَةِ، فَأَخَذْتُهُ إِلَى المَقْصَفِ، وَأَكَلْنَا الغَدَاءَ مَعًا، وَتَكَلَّمْنَا عَنْ كُرَةِ القَدَمِ. أَظُنُّ أَنَّنَا سَنُصْبِحُ صَدِيقَيْنِ، لِأَنَّنَا نُحِبُّ الفَرِيقَ نَفْسَهُ، وَسَنَلْعَبُ مَعًا يَوْمَ السَّبْتِ!</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إِلَى اللِّقَاءِ،</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يُوسُفُ</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Omar, this week a new student called Karim joined our class; he is from Algeria. Karim is tall and thin, with short black hair and green eyes, and he wears glasses. At first I thought he was arrogant, but he isn’t — he is a bit shy; for example, he doesn’t talk much in class, but he helps everyone with maths. On his first day he got lost in the school, so I took him to the canteen, we had lunch together and talked about football. I think we will become friends, because we support the same team, and we will play together on Saturday! See you,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انْضَمَّ إِلَى صَفِّنَا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عَيْنَاهُ خَضْرَاوَانِ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لَيْسَ مَغْرُورًا، بَلْ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أَظُنُّ أَنَّنَا سَنُصْبِحُ</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السَّنَةِ المَاضِيَةِ جَاءَتْ إِلَى مَدْرَسَتِنَا مُعَلِّمَةُ عُلُومٍ جَدِيدَةٌ، وَكَانَتْ تَبْدُو صَارِمَةً جِدًّا، لِأَنَّهَا لَا تَبْتَسِمُ أَبَدًا. فِي البِدَايَةِ ظَنَنْتُ أَنَّهَا لَا تُحِبُّ الطُّلَّابَ، فَكُنْتُ أَخَافُ مِنْهَا. لٰكِنْ فِي يَوْمٍ مِنَ الأَيَّامِ رَسَبْتُ فِي امْتِحَانٍ، فَبَقِيَتْ مَعِي بَعْدَ المَدْرَسَةِ سَاعَةً كَامِلَةً، وَشَرَحَتْ لِي الدَّرْسَ بِصَبْرٍ. اكْتَشَفْتُ أَنَّهَا لَطِيفَةٌ وَكَرِيمَةٌ، لٰكِنَّهَا خَجُولَةٌ فَقَطْ. تَعَلَّمْتُ أَلَّا أَحْكُمَ عَلَى النَّاسِ مِنْ مَظْهَرِهِمْ، وَالآنَ هِيَ مُعَلِّمَتِي المُفَضَّلَةُ.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year a new science teacher came to our school; she looked very strict because she never smiled · D: at first I thought she didn’t like students, so I was afraid of her; but one day I failed a test and she stayed with me after school for a whole hour, explaining the lesson patiently · R: I discovered she was kind and generous — just shy · F: I learnt not to judge people by their appearance; now she is my favourite teacher.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تَبْدُو صَارِمَةً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البِدَايَةِ ظَنَنْتُ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اكْتَشَفْتُ أَنَّهَا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تَعَلَّمْتُ أَلَّا أَحْكُمَ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B · Writing practice room · TB-L03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TB-L04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TB-L03 · Writing Practice Room — Appearance and Personality</dc:title>
  <dc:subject>PptxGenJS Presentation</dc:subject>
  <dc:creator>Al Madina Online School · Arabic Department</dc:creator>
  <cp:lastModifiedBy>Al Madina Online School · Arabic Department</cp:lastModifiedBy>
  <cp:revision>1</cp:revision>
  <dcterms:created xsi:type="dcterms:W3CDTF">2026-10-25T14:23:57Z</dcterms:created>
  <dcterms:modified xsi:type="dcterms:W3CDTF">2026-10-25T14:23:57Z</dcterms:modified>
</cp:coreProperties>
</file>