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B · Personal and Social Life, Lesson 4 (My Home, Rooms and Garden, TB-L04)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(76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(65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GUIDED PRACTICE  ·  TB-L04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My Home, Rooms and Garden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بَيْتِي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 family moving house),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TB-L04 · Advanced Topic B · Personal and Social Life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Student accommodation: request form</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 سَكَنٍ لِلطُّلَّابِ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شَقَّةٌ · غُرْفَةٌ فِي بَيْتٍ</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of accommodation</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السَّكَنِ</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غُرْفَتَانِ</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rooms</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الغُرَفِ</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الطَّابِقُ الأَرْضِيُّ</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Preferred floor</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الطَّابِقُ المُفَضَّلُ</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مَكْتَبٌ · إِنْتَرْنِتْ</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essential</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شَيْءٌ ضَرُورِيٌّ</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حَيًّا … قَرِيبًا مِنْ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describe the area you want</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صِفِ الحَيَّ المُنَاسِبَ لَكَ</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we moved house!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انْتَقَلْنَا إِلَى بَيْتٍ 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family has moved to a new home. Write an email in Arabic to your friend of about 80–90 words. You must include: • where the new home is and what the area is like • the rooms and your new bedroom • why your family moved, and how you felt on moving day • an invitation to visit, with what you will do together.</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انْتَقَلْنَا إِلَى …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moved to …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فِي البَيْتِ … وَتُوجَدُ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house there is … and there is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انْتَقَلْنَا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moved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تَعَالَ وَزُرْنَا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come and visit us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بَيْتِكَ الجَدِيدِ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البَيْتُ الجَدِيدُ؟ وَكَيْفَ الحَيُّ؟</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الغُرَفَ وَغُرْفَتَكَ الجَدِيدَةَ.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انْتَقَلْتُمْ؟ وَكَيْفَ شَعَرْتَ يَوْمَ الانْتِقَالِ؟</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ادْعُ صَدِيقَكَ لِلزِّيَارَةِ، وَقُلْ مَاذَا سَتَفْعَلَانِ.</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your new home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صَدِيقِكَ عَنْ بَيْتِكَ الجَدِيدِ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the new home is; the area</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أَيْنَ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كَيْفَ</a:t>
            </a:r>
            <a:pPr algn="l" indent="0" marL="0">
              <a:buNone/>
            </a:pPr>
            <a:r>
              <a:rPr lang="en-US" sz="1100" dirty="0">
                <a:solidFill>
                  <a:srgbClr val="5A6472"/>
                </a:solidFill>
                <a:latin typeface="Calibri" pitchFamily="34" charset="0"/>
                <a:cs typeface="Amiri" pitchFamily="2" charset="-78"/>
              </a:rPr>
              <a:t> → PRESENT description</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البَيْتُ الجَدِيدُ؟ وَكَيْفَ الحَيُّ؟</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rooms and your new bedroom</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صِفْ</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يُوجَدُ / تُوجَدُ</a:t>
            </a:r>
            <a:pPr algn="l" indent="0" marL="0">
              <a:buNone/>
            </a:pPr>
            <a:r>
              <a:rPr lang="en-US" sz="1100" dirty="0">
                <a:solidFill>
                  <a:srgbClr val="5A6472"/>
                </a:solidFill>
                <a:latin typeface="Calibri" pitchFamily="34" charset="0"/>
                <a:cs typeface="Amiri" pitchFamily="2" charset="-78"/>
              </a:rPr>
              <a:t> + prepositions + agreement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الغُرَفَ وَغُرْفَتَكَ الجَدِيدَةَ.</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you moved; how you felt</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لِمَاذَا انْتَقَلْتُمْ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كَيْفَ شَعَرْتَ</a:t>
            </a:r>
            <a:pPr algn="l" indent="0" marL="0">
              <a:buNone/>
            </a:pPr>
            <a:r>
              <a:rPr lang="en-US" sz="1100" dirty="0">
                <a:solidFill>
                  <a:srgbClr val="5A6472"/>
                </a:solidFill>
                <a:latin typeface="Calibri" pitchFamily="34" charset="0"/>
                <a:cs typeface="Amiri" pitchFamily="2" charset="-78"/>
              </a:rPr>
              <a:t> → PAST + a reason + a feeling</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انْتَقَلْتُمْ؟ وَكَيْفَ شَعَرْتَ يَوْمَ الانْتِقَالِ؟</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invitation and your plans together</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ادْعُ</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سَتَفْعَلَانِ</a:t>
            </a:r>
            <a:pPr algn="l" indent="0" marL="0">
              <a:buNone/>
            </a:pPr>
            <a:r>
              <a:rPr lang="en-US" sz="1100" dirty="0">
                <a:solidFill>
                  <a:srgbClr val="5A6472"/>
                </a:solidFill>
                <a:latin typeface="Calibri" pitchFamily="34" charset="0"/>
                <a:cs typeface="Amiri" pitchFamily="2" charset="-78"/>
              </a:rPr>
              <a:t> → an INVITATION + FUTURE</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ادْعُ صَدِيقَكَ لِلزِّيَارَةِ، وَقُلْ مَاذَا سَتَفْعَلَانِ.</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عِنْدَنَا حَدِيقَةٌ.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We have a garden.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تُوجَدُ خَلْفَ بَيْتِنَا حَدِيقَةٌ صَغِيرَةٌ فِيهَا وُرُودٌ حَمْرَاءُ.</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Behind our house there is a small garden with red roses.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 وَأَجْلِسُ فِيهَا كُلَّ مَسَاءٍ، لِأَنَّهَا هَادِئَةٌ وَجَمِيلَةٌ.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and I sit in it every evening, because it is quiet and beautiful.</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B3B6F"/>
                </a:solidFill>
                <a:latin typeface="Amiri" pitchFamily="2" charset="-78"/>
                <a:ea typeface="Amiri" pitchFamily="2" charset="-78"/>
                <a:cs typeface="Amiri" pitchFamily="2" charset="-78"/>
              </a:rPr>
              <a:t>… وَفِي رَأْيِي هِيَ أَفْضَلُ مَكَانٍ لِلْمُرَاجَعَةِ، لٰكِنَّ أَخِي يُحِبُّ أَنْ يَلْعَبَ فِيهَا!</a:t>
            </a:r>
            <a:endParaRPr lang="ar-SA" sz="21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it is the best place to revise — but my brother likes playing there!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big kitchen on the ground floor.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مَطْبَخٌ كَبِيرٌ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مَطْبَخًا كَبِيرًا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الطَّابِقِ الأَرْضِيِّ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الطَّابِقِ الأَرْضِيِّ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room is comfortable and spacious.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الغُرْفَةُ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الغُرْفَةُ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مُرِيحَةٌ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مُرِيحٌ</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وَوَاسِعَةٌ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وَوَاسِعٌ</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garden is behind the house.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الحَدِيقَةُ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حَدِيقَةٌ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خَلْفَ</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تَحْتَ</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البَيْتِ</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البَيْتُ</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big kitchen on the ground floor.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مَطْبَخ</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يُوجَدُ مَطْبَخٌ</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يُوجَدُ مَطْبَخٌ كَبِيرٌ فِي الطَّابِقِ الأَرْضِيِّ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room is comfortable and spacious.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غُرْفَة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هٰذِهِ … مُرِيحَةٌ وَوَاسِعَةٌ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الغُرْفَةُ مُرِيحَةٌ وَوَاسِعَةٌ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garden is behind the house.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Behind = </a:t>
            </a:r>
            <a:pPr algn="l" indent="0" marL="0">
              <a:buNone/>
            </a:pPr>
            <a:r>
              <a:rPr lang="ar-SA" altLang="en-US" sz="1350" dirty="0">
                <a:solidFill>
                  <a:srgbClr val="5A6472"/>
                </a:solidFill>
                <a:latin typeface="Amiri" pitchFamily="2" charset="-78"/>
                <a:ea typeface="Amiri" pitchFamily="2" charset="-78"/>
                <a:cs typeface="Amiri" pitchFamily="2" charset="-78"/>
              </a:rPr>
              <a:t>خَلْفَ</a:t>
            </a:r>
            <a:pPr algn="l" indent="0" marL="0">
              <a:buNone/>
            </a:pPr>
            <a:r>
              <a:rPr lang="en-US" sz="1050" i="1" dirty="0">
                <a:solidFill>
                  <a:srgbClr val="5A6472"/>
                </a:solidFill>
                <a:latin typeface="Calibri" pitchFamily="34" charset="0"/>
                <a:cs typeface="Amiri" pitchFamily="2" charset="-78"/>
              </a:rPr>
              <a:t>; the noun after it is genitive: </a:t>
            </a:r>
            <a:pPr algn="l" indent="0" marL="0">
              <a:buNone/>
            </a:pPr>
            <a:r>
              <a:rPr lang="ar-SA" altLang="en-US" sz="1350" dirty="0">
                <a:solidFill>
                  <a:srgbClr val="5A6472"/>
                </a:solidFill>
                <a:latin typeface="Amiri" pitchFamily="2" charset="-78"/>
                <a:ea typeface="Amiri" pitchFamily="2" charset="-78"/>
                <a:cs typeface="Amiri" pitchFamily="2" charset="-78"/>
              </a:rPr>
              <a:t>البَيْتِ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الحَدِيقَةُ خَلْفَ البَيْتِ</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يَقَعُ بَيْتُنَا الجَدِيدُ ______ ، وَقُرْبَهُ يُوجَدُ ______ .</a:t>
            </a:r>
            <a:endParaRPr lang="ar-SA" sz="14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Our new home is …, and near it there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غُرْفَتِي فِي الطَّابِقِ ______ ، وَفِيهَا ______ بِجَانِبِ ______ .</a:t>
            </a:r>
            <a:endParaRPr lang="ar-SA" sz="12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My room is on the … floor, with … next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كَانَ بَيْتُنَا القَدِيمُ ______ ، أَمَّا هٰذَا البَيْتُ فَهُوَ ______ .</a:t>
            </a:r>
            <a:endParaRPr lang="ar-SA" sz="12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Our old house was …, but this house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جِئْتَ فِي الصَّيْفِ، فَسَنَذْهَبُ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If you come in the summer, we will go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انْتَقَلْنَا إِلَى بَيْتٍ جَدِيدٍ فِي ______ ، وَالحَيُّ ______ .</a:t>
            </a:r>
            <a:endParaRPr lang="ar-SA" sz="14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We moved to a new home in …, and the area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البَيْتِ ______ غُرَفٍ، وَغُرْفَتِي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 house has … rooms, and my room is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انْتَقَلْنَا لِأَنَّ ______ ، وَشَعَرْتُ بِالحُزْنِ / بِالفَرَحِ.</a:t>
            </a:r>
            <a:endParaRPr lang="ar-SA" sz="155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We moved because …, and I felt sad / happy.</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تَعَالَ وَزُرْنَا يَوْمَ ______ ، وَسَنَلْعَبُ ______ .</a:t>
            </a:r>
            <a:endParaRPr lang="ar-SA" sz="17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Come and visit us on …, and we will play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بَيْتٌ · شَقَّةٌ  ·  يُوجَدُ · تُوجَدُ  ·  الطَّابِقُ الأَرْضِيُّ  ·  وَاسِعٌ · ضَيِّقٌ  ·  مُرِيحٌ  ·  حَدِيقَةٌ  ·  هَادِئٌ · مُزْدَحِمٌ  ·  انْتَقَلْنَا</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حَدِيقَةٌ كَبِيرَةٌ.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t>
            </a:r>
            <a:pPr algn="l" indent="0" marL="0">
              <a:buNone/>
            </a:pPr>
            <a:r>
              <a:rPr lang="ar-SA" altLang="en-US" sz="1700" dirty="0">
                <a:solidFill>
                  <a:srgbClr val="5A6472"/>
                </a:solidFill>
                <a:latin typeface="Amiri" pitchFamily="2" charset="-78"/>
                <a:ea typeface="Amiri" pitchFamily="2" charset="-78"/>
                <a:cs typeface="Amiri" pitchFamily="2" charset="-78"/>
              </a:rPr>
              <a:t>حَدِيقَة</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غُرْفَتِي.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“this”?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المَكْتَبُ بِجَانِبِ النَّافِذَةُ.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noun after the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حَدِيقَةٌ كَبِيرَةٌ.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حَدِيقَةٌ كَبِيرَةٌ.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تُوجَدُ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غُرْفَتِي.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غُرْفَتِي.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غُرْفَة</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المَكْتَبُ بِجَانِبِ النَّافِذَةُ.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المَكْتَبُ بِجَانِبِ النَّافِذَةِ.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 preposition the noun ends in -i: </a:t>
            </a:r>
            <a:pPr algn="l" indent="0" marL="0">
              <a:buNone/>
            </a:pPr>
            <a:r>
              <a:rPr lang="ar-SA" altLang="en-US" sz="1500" b="1" dirty="0">
                <a:solidFill>
                  <a:srgbClr val="1B3B6F"/>
                </a:solidFill>
                <a:latin typeface="Amiri" pitchFamily="2" charset="-78"/>
                <a:ea typeface="Amiri" pitchFamily="2" charset="-78"/>
                <a:cs typeface="Amiri" pitchFamily="2" charset="-78"/>
              </a:rPr>
              <a:t>النَّافِذَةِ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عِنْدَمَا كُنْتُ صَغِيرًا كُنَّا نَسْكُنُ فِي شَقَّةٍ فِي لَنْدَنَ.</a:t>
            </a:r>
            <a:endParaRPr lang="ar-SA" sz="22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When I was little we lived in a flat in London.</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كَانَتْ صَغِيرَةً، لٰكِنْ كَانَتْ فِيهَا شُرْفَةٌ جَمِيلَةٌ.</a:t>
            </a:r>
            <a:endParaRPr lang="ar-SA" sz="24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It was small, but it had a lovely balcony.</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كَانَتْ مُمَيَّزَةً لِأَنَّ جِيرَانَنَا كَانُوا مِثْلَ عَائِلَتِنَا.</a:t>
            </a:r>
            <a:endParaRPr lang="ar-SA" sz="220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Special because our neighbours were like family.</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أَشْتَاقُ إِلَيْهَا، وَسَأَزُورُ الحَيَّ قَرِيبًا.</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miss it, and I will visit the area soon.</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Question 3, one paragraph: the home where I grew up</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البَيْتُ الَّذِي كَبِرْتُ فِيهِ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“Home sweet home”. Today write ONLY the past paragraph: the home you lived in when you were younger — what it was like, a memory from it, why it was special, and how you feel about it now.</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نَسْكُنُ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used to live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فِيهِ / فِيهَا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had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أَتَذَكَّرُ عِنْدَمَا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remember when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مُمَيَّزًا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special because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أَشْتَاقُ إِلَى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miss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مَرْحَبًا يَا سَلْمَى،</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كَيْفَ حَالُكِ؟ انْتَقَلْنَا الأُسْبُوعَ المَاضِي إِلَى بَيْتٍ جَدِيدٍ فِي قَرْيَةٍ صَغِيرَةٍ قُرْبَ أُكْسْفُورْدَ، وَالحَيُّ هَادِئٌ وَأَخْضَرُ، وَتُوجَدُ فِيهِ مَكْتَبَةٌ وَمَسْجِدٌ صَغِيرٌ. فِي البَيْتِ خَمْسُ غُرَفٍ، وَتُوجَدُ خَلْفَهُ حَدِيقَةٌ وَاسِعَةٌ. غُرْفَتِي فِي الطَّابِقِ الأَوَّلِ، وَهِيَ مُرِيحَةٌ، وَفِيهَا مَكْتَبٌ أَبْيَضُ تَحْتَ النَّافِذَةِ. انْتَقَلْنَا لِأَنَّ أَبِي وَجَدَ عَمَلًا جَدِيدًا هُنَا، وَيَوْمَ الانْتِقَالِ شَعَرْتُ بِالحُزْنِ، لِأَنِّي تَرَكْتُ صَدِيقَاتِي فِي المَدِينَةِ، لٰكِنِّي الآنَ سَعِيدَةٌ. تَعَالَيْ وَزُورِينَا فِي العُطْلَةِ، وَسَنَأْكُلُ فِي الحَدِيقَةِ، وَنَرْكَبُ الدَّرَّاجَاتِ بَيْنَ الحُقُولِ!</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مَعَ مَحَبَّتِي،</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مَرْيَمُ</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Salma, how are you? Last week we moved to a new house in a small village near Oxford; the area is quiet and green, with a library and a small mosque. The house has five rooms, and behind it there is a large garden. My room is on the first floor; it is comfortable, with a white desk under the window. We moved because my dad found a new job here; on moving day I felt sad because I left my friends in the city, but now I am happy. Come and visit us in the holidays — we will eat in the garden and cycle through the fields! Love,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انْتَقَلْنَا … إِلَى بَيْتٍ جَدِيدٍ</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وَتُوجَدُ خَلْفَهُ حَدِيقَةٌ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انْتَقَلْنَا لِأَنَّ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تَعَالَيْ وَزُورِينَا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عِنْدَمَا كُنْتُ صَغِيرًا كُنَّا نَسْكُنُ فِي شَقَّةٍ قَدِيمَةٍ فِي الطَّابِقِ الثَّالِثِ فِي وَسَطِ بِرْمِنْغْهَامَ. كَانَتْ صَغِيرَةً، وَكُنْتُ أَنَامُ مَعَ أَخِي فِي غُرْفَةٍ وَاحِدَةٍ، لٰكِنْ كَانَتْ فِيهَا شُرْفَةٌ تُطِلُّ عَلَى الحَدِيقَةِ. أَتَذَكَّرُ عِنْدَمَا كُنَّا نَجْلِسُ عَلَى الشُّرْفَةِ فِي رَمَضَانَ، وَنَنْتَظِرُ الأَذَانَ مَعَ جِيرَانِنَا. كَانَتْ تِلْكَ الشَّقَّةُ مُمَيَّزَةً، لِأَنَّ جِيرَانَنَا كَانُوا مِثْلَ عَائِلَتِنَا. الآنَ بَيْتُنَا أَكْبَرُ وَأَجْمَلُ، لٰكِنِّي أَشْتَاقُ إِلَى تِلْكَ الأَيَّامِ، وَسَأَزُورُ الحَيَّ القَدِيمَ فِي العِيدِ.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when I was little we lived in an old third-floor flat in central Birmingham · D: it was small and I shared a room with my brother, but it had a balcony overlooking the park; I remember sitting on the balcony in Ramadan, waiting for the call to prayer with our neighbours · R: that flat was special because our neighbours were like family · F: our home now is bigger and nicer, but I miss those days, and I will visit the old area at Eid.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كُنَّا نَسْكُنُ فِي شَقَّةٍ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فِيهَا شُرْفَةٌ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أَتَذَكَّرُ عِنْدَمَا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لٰكِنِّي أَشْتَاقُ</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TB-L04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TB-L05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TB-L04 · Writing Practice Room — My Home, Rooms and Garden</dc:title>
  <dc:subject>PptxGenJS Presentation</dc:subject>
  <dc:creator>Al Madina Online School · Arabic Department</dc:creator>
  <cp:lastModifiedBy>Al Madina Online School · Arabic Department</cp:lastModifiedBy>
  <cp:revision>1</cp:revision>
  <dcterms:created xsi:type="dcterms:W3CDTF">2026-10-25T14:29:20Z</dcterms:created>
  <dcterms:modified xsi:type="dcterms:W3CDTF">2026-10-25T14:29:20Z</dcterms:modified>
</cp:coreProperties>
</file>