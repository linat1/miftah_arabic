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10 (Topic B mixed practice — new neighbours, TB-L10)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(78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Mixed Topic B: New Neighbours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الجِيرَانُ الجُدُدُ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using all of Topic B: a Q1 warm-up, decoding a new Q2 task (an email about new neighbours),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TB-L10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Neighbourhood club: new member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نَادِي الحَيِّ: عُضْوٌ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شَارِعُ … ، رَقْمُ …</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Address</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العُنْوَانُ</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أَرْبَعَةُ أَفْرَادٍ</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members</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أَفْرَادِ الأُسْرَةِ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الرَّسْمُ · كُرَةُ القَدَمِ</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Hobbies</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الهِوَايَاتُ</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أَسْتَطِيعُ أَنْ أُعَلِّمَ …</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can help</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تَسْتَطِيعُ أَنْ تُسَاعِدَ؟</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 وَأُحِبُّ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yourself</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نَفْسَكَ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our new neighbours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جِيرَانُنَا الجُدُدُ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new family has moved in next door. Write an email in Arabic to your friend of about 80–90 words. You must include: • who the family are and where they come from • what they look like and what they are like • how your family welcomed them • what you will do with them in the future.</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انْتَقَلَتْ إِلَى البَيْتِ المُجَاوِرِ عَائِلَةٌ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 family moved in next door</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الأَبُ … وَالأُمُّ … وَأَوْلَادُهُمْ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father … the mother … and their children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رَحَّبْنَا بِهِمْ وَ…</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welcomed them and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سَنَدْعُوهُمْ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invite them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جِيرَانِكَ الجُدُدِ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هُمْ؟ وَمِنْ أَيْنَ هُمْ؟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يَبْدُونَ؟ وَكَيْفَ شَخْصِيَّاتُهُمْ؟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رَحَّبَتْ عَائِلَتُكَ بِهِمْ؟</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سَتَفْعَلُ مَعَهُمْ فِي المُسْتَقْبَلِ؟</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new neighbours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جِيرَانِكَ الجُدُدِ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they are; where from</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مِنْ أَيْنَ</a:t>
            </a:r>
            <a:pPr algn="l" indent="0" marL="0">
              <a:buNone/>
            </a:pPr>
            <a:r>
              <a:rPr lang="en-US" sz="1100" dirty="0">
                <a:solidFill>
                  <a:srgbClr val="5A6472"/>
                </a:solidFill>
                <a:latin typeface="Calibri" pitchFamily="34" charset="0"/>
                <a:cs typeface="Amiri" pitchFamily="2" charset="-78"/>
              </a:rPr>
              <a:t> → PRESENT + nationality (nisba) agreement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هُمْ؟ وَمِنْ أَيْنَ هُمْ؟</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Appearance and personality</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يَبْدُونَ</a:t>
            </a:r>
            <a:pPr algn="l" indent="0" marL="0">
              <a:buNone/>
            </a:pPr>
            <a:r>
              <a:rPr lang="en-US" sz="1100" dirty="0">
                <a:solidFill>
                  <a:srgbClr val="5A6472"/>
                </a:solidFill>
                <a:latin typeface="Calibri" pitchFamily="34" charset="0"/>
                <a:cs typeface="Amiri" pitchFamily="2" charset="-78"/>
              </a:rPr>
              <a:t> → description: adjectives agree (m. · f. · pl.)</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يَبْدُونَ؟ وَكَيْفَ شَخْصِيَّاتُهُمْ؟</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your family welcomed them</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رَحَّبَتْ</a:t>
            </a:r>
            <a:pPr algn="l" indent="0" marL="0">
              <a:buNone/>
            </a:pPr>
            <a:r>
              <a:rPr lang="en-US" sz="1100" dirty="0">
                <a:solidFill>
                  <a:srgbClr val="5A6472"/>
                </a:solidFill>
                <a:latin typeface="Calibri" pitchFamily="34" charset="0"/>
                <a:cs typeface="Amiri" pitchFamily="2" charset="-78"/>
              </a:rPr>
              <a:t> → PAST, in order</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رَحَّبَتْ عَائِلَتُكَ بِهِمْ؟</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do with them</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سَتَفْعَلُ</a:t>
            </a:r>
            <a:pPr algn="l" indent="0" marL="0">
              <a:buNone/>
            </a:pPr>
            <a:r>
              <a:rPr lang="en-US" sz="1100" dirty="0">
                <a:solidFill>
                  <a:srgbClr val="5A6472"/>
                </a:solidFill>
                <a:latin typeface="Calibri" pitchFamily="34" charset="0"/>
                <a:cs typeface="Amiri" pitchFamily="2" charset="-78"/>
              </a:rPr>
              <a:t> → FUTURE + with them (</a:t>
            </a:r>
            <a:pPr algn="l" indent="0" marL="0">
              <a:buNone/>
            </a:pPr>
            <a:r>
              <a:rPr lang="ar-SA" altLang="en-US" sz="1450" dirty="0">
                <a:solidFill>
                  <a:srgbClr val="5A6472"/>
                </a:solidFill>
                <a:latin typeface="Amiri" pitchFamily="2" charset="-78"/>
                <a:ea typeface="Amiri" pitchFamily="2" charset="-78"/>
                <a:cs typeface="Amiri" pitchFamily="2" charset="-78"/>
              </a:rPr>
              <a:t>مَعَهُمْ</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سَتَفْعَلُ مَعَهُمْ فِي المُسْتَقْبَلِ؟</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جَارُنَا لَطِيفٌ.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Our neighbour is kind.</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جَارُنَا العَجُوزُ لَطِيفٌ، وَيَسْكُنُ وَحْدَهُ مَعَ قِطَّتِهِ البَيْضَاءِ.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Our elderly neighbour is kind, and lives alone with his white cat.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جَارُنَا العَجُوزُ لَطِيفٌ، لِأَنَّهُ يُعْطِينَا الخُضَارَ مِنْ حَدِيقَتِهِ كُلَّ أُسْبُوعٍ.</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he gives us vegetables from his garden every week.</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لِذٰلِكَ أُسَاعِدُهُ فِي التَّسَوُّقِ، وَفِي رَأْيِي هُوَ مِثْلُ جَدٍّ لِي.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so I help him with his shopping — in my opinion he is like a grandfather to me.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They have two daughters.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بِنْتَانِ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بِنْتَيْنِ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صَغِيرَتَانِ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Their mother is Moroccan and very kind.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أُمُّهُمْ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وَلَطِيفَةٌ جِدًّا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وَلَطِيفٌ جِدًّا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play with them at the weekend.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نَلْعَبُ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لَعِبْنَا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مَعَهُمْ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مَعَهُ</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نِهَايَةِ الأُسْبُوعِ</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الأُسْبُوعِ المَاضِي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They have two daughters.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have = </a:t>
            </a:r>
            <a:pPr algn="l" indent="0" marL="0">
              <a:buNone/>
            </a:pPr>
            <a:r>
              <a:rPr lang="ar-SA" altLang="en-US" sz="1350" dirty="0">
                <a:solidFill>
                  <a:srgbClr val="5A6472"/>
                </a:solidFill>
                <a:latin typeface="Amiri" pitchFamily="2" charset="-78"/>
                <a:ea typeface="Amiri" pitchFamily="2" charset="-78"/>
                <a:cs typeface="Amiri" pitchFamily="2" charset="-78"/>
              </a:rPr>
              <a:t>عِنْدَهُمْ</a:t>
            </a:r>
            <a:pPr algn="l" indent="0" marL="0">
              <a:buNone/>
            </a:pPr>
            <a:r>
              <a:rPr lang="en-US" sz="1050" i="1" dirty="0">
                <a:solidFill>
                  <a:srgbClr val="5A6472"/>
                </a:solidFill>
                <a:latin typeface="Calibri" pitchFamily="34" charset="0"/>
                <a:cs typeface="Amiri" pitchFamily="2" charset="-78"/>
              </a:rPr>
              <a:t>; two daughters = the dual (subject) + agreeing adjective.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عِنْدَهُمْ بِنْتَانِ صَغِيرَتَانِ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Their mother is Moroccan and very kind.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Their = -hum; a woman → feminine adjectives.</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أُمُّهُمْ مَغْرِبِيَّةٌ وَلَطِيفَةٌ جِدًّا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play with them at the weekend.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habit → present; with them = </a:t>
            </a:r>
            <a:pPr algn="l" indent="0" marL="0">
              <a:buNone/>
            </a:pPr>
            <a:r>
              <a:rPr lang="ar-SA" altLang="en-US" sz="1350" dirty="0">
                <a:solidFill>
                  <a:srgbClr val="5A6472"/>
                </a:solidFill>
                <a:latin typeface="Amiri" pitchFamily="2" charset="-78"/>
                <a:ea typeface="Amiri" pitchFamily="2" charset="-78"/>
                <a:cs typeface="Amiri" pitchFamily="2" charset="-78"/>
              </a:rPr>
              <a:t>مَعَهُمْ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نَلْعَبُ مَعَهُمْ فِي نِهَايَةِ الأُسْبُوعِ</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جَاؤُوا مِنْ ______ ،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They came from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ابْنُهُمْ ______ وَ ______ ، أَمَّا بِنْتُهُمْ فَهِيَ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Their son is … and …, as for their daughter, she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دَعَوْنَاهُمْ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First …, then we invited them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______ ، فَسَنَذْهَبُ مَعَهُمْ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 we will go with them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انْتَقَلَتْ إِلَى البَيْتِ المُجَاوِرِ عَائِلَةٌ مِنْ ______ .</a:t>
            </a:r>
            <a:endParaRPr lang="ar-SA" sz="15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A family from … moved in next door.</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الأَبُ ______ ، وَالأُمُّ ______ ، وَعِنْدَهُمْ ______ .</a:t>
            </a:r>
            <a:endParaRPr lang="ar-SA" sz="15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father is …, the mother is …, and they have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رَحَّبْنَا بِهِمْ، وَأَعْطَيْنَاهُمْ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We welcomed them and gave them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سَنَلْعَبُ مَعَهُمْ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We will play … with them.</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جِيرَانٌ جُدُدٌ  ·  البَيْتُ المُجَاوِرُ  ·  لَطِيفٌ · لَطِيفَةٌ · لُطَفَاءُ  ·  شَعْرُهَا · شَعْرُهُ  ·  عِنْدَهُمْ  ·  رَحَّبْنَا بِهِمْ  ·  مَعَهُمْ  ·  أَهْلًا وَسَهْلًا بِكُمْ</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الجِيرَانُ الجُدُدُ لَطِيفٌ.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People in the plural.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بِنْتُهُمْ اسْمُهُ رِيمُ.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name?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رَحَّبْنَا هُمْ.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verb needs a small word + a pronoun.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الجِيرَانُ الجُدُدُ لَطِيفٌ.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الجِيرَانُ الجُدُدُ لُطَفَاءُ.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Human plural → plural adjective: </a:t>
            </a:r>
            <a:pPr algn="l" indent="0" marL="0">
              <a:buNone/>
            </a:pPr>
            <a:r>
              <a:rPr lang="ar-SA" altLang="en-US" sz="1500" b="1" dirty="0">
                <a:solidFill>
                  <a:srgbClr val="1B3B6F"/>
                </a:solidFill>
                <a:latin typeface="Amiri" pitchFamily="2" charset="-78"/>
                <a:ea typeface="Amiri" pitchFamily="2" charset="-78"/>
                <a:cs typeface="Amiri" pitchFamily="2" charset="-78"/>
              </a:rPr>
              <a:t>لُطَفَاءُ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بِنْتُهُمْ اسْمُهُ رِيمُ.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بِنْتُهُمْ اسْمُهَا رِيمُ.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name → </a:t>
            </a:r>
            <a:pPr algn="l" indent="0" marL="0">
              <a:buNone/>
            </a:pPr>
            <a:r>
              <a:rPr lang="ar-SA" altLang="en-US" sz="1500" b="1" dirty="0">
                <a:solidFill>
                  <a:srgbClr val="1B3B6F"/>
                </a:solidFill>
                <a:latin typeface="Amiri" pitchFamily="2" charset="-78"/>
                <a:ea typeface="Amiri" pitchFamily="2" charset="-78"/>
                <a:cs typeface="Amiri" pitchFamily="2" charset="-78"/>
              </a:rPr>
              <a:t>اسْمُهَا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رَحَّبْنَا هُمْ.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رَحَّبْنَا بِهِمْ.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رَحَّبَ</a:t>
            </a:r>
            <a:pPr algn="l" indent="0" marL="0">
              <a:buNone/>
            </a:pPr>
            <a:r>
              <a:rPr lang="en-US" sz="1150" b="1" dirty="0">
                <a:solidFill>
                  <a:srgbClr val="1B3B6F"/>
                </a:solidFill>
                <a:latin typeface="Calibri" pitchFamily="34" charset="0"/>
                <a:cs typeface="Amiri" pitchFamily="2" charset="-78"/>
              </a:rPr>
              <a:t> + bi- + attached pronoun: </a:t>
            </a:r>
            <a:pPr algn="l" indent="0" marL="0">
              <a:buNone/>
            </a:pPr>
            <a:r>
              <a:rPr lang="ar-SA" altLang="en-US" sz="1500" b="1" dirty="0">
                <a:solidFill>
                  <a:srgbClr val="1B3B6F"/>
                </a:solidFill>
                <a:latin typeface="Amiri" pitchFamily="2" charset="-78"/>
                <a:ea typeface="Amiri" pitchFamily="2" charset="-78"/>
                <a:cs typeface="Amiri" pitchFamily="2" charset="-78"/>
              </a:rPr>
              <a:t>بِهِمْ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050" b="1" dirty="0">
                <a:solidFill>
                  <a:srgbClr val="1B3B6F"/>
                </a:solidFill>
                <a:latin typeface="Amiri" pitchFamily="2" charset="-78"/>
                <a:ea typeface="Amiri" pitchFamily="2" charset="-78"/>
                <a:cs typeface="Amiri" pitchFamily="2" charset="-78"/>
              </a:rPr>
              <a:t>عِنْدَمَا كُنْتُ صَغِيرًا كَانَتْ جَارَتُنَا أُمُّ عَلِيٍّ مِثْلَ جَدَّتِي.</a:t>
            </a:r>
            <a:endParaRPr lang="ar-SA" sz="20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When I was little our neighbour Umm Ali was like a grandmother.</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كَانَتْ قَصِيرَةً وَمَرِحَةً، وَكَانَتْ تَحْكِي لِي القِصَصَ.</a:t>
            </a:r>
            <a:endParaRPr lang="ar-SA" sz="240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She was short and cheerful, and told me stories.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كَانَتْ مُهِمَّةً لِأَنَّ أُمِّي كَانَتْ تَعْمَلُ.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She mattered because my mum was working.</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أَشْتَاقُ إِلَيْهَا، وَسَأَزُورُهَا فِي العِيدِ.</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miss her, and I will visit her at Eid.</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neighbour I will never forget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جَارٌ لَا أَنْسَاهُ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“People who matter to me”. Today write ONLY the past paragraph: a neighbour (or another person) you will never forget — who they were, what they looked like and were like, one thing that happened, and why they mattered.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كُنْتُ صَغِيرًا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was little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 كَانَتْ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was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يَحْكِي لِي … · كَانَتْ تَطْبُخُ لَنَا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used to tell me … · she used to cook for us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مُهِمًّا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mattered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أَشْتَاقُ إِلَيْهِ</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miss him</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مَرْحَبًا يَا نَادِيَةُ،</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كَيْفَ حَالُكِ؟ انْتَقَلَتْ إِلَى البَيْتِ المُجَاوِرِ لَنَا عَائِلَةٌ جَدِيدَةٌ مِنْ تُونُسَ، لِأَنَّ الأَبَ يَعْمَلُ طَبِيبًا فِي مُسْتَشْفَى المَدِينَةِ. الأَبُ طَوِيلٌ وَهَادِئٌ، وَالأُمُّ مَرِحَةٌ وَشَعْرُهَا أَسْوَدُ قَصِيرٌ، وَعِنْدَهُمْ بِنْتٌ فِي عُمْرِي اسْمُهَا رِيمُ، وَهِيَ ذَكِيَّةٌ وَخَجُولَةٌ قَلِيلًا. فِي أَوَّلِ يَوْمٍ رَحَّبْنَا بِهِمْ، وَأَعْطَتْهُمْ أُمِّي كَعْكَةً بِالتَّمْرِ، ثُمَّ دَعَوْنَاهُمْ إِلَى العَشَاءِ يَوْمَ الجُمُعَةِ، فَتَكَلَّمْنَا كَثِيرًا عَنْ تُونُسَ وَبِرِيطَانِيَا. رِيمُ تُحِبُّ الرَّسْمَ مِثْلِي، لِذٰلِكَ سَنَذْهَبُ مَعًا إِلَى نَادِي الفَنِّ كُلَّ يَوْمِ سَبْتٍ، وَسَأُعَرِّفُهَا عَلَى صَدِيقَاتِي.</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مَعَ مَحَبَّتِي،</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آمِنَةُ</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Nadia, how are you? A new family from Tunisia has moved in next door, because the father works as a doctor at the city hospital. The father is tall and calm, the mother is cheerful with short black hair, and they have a daughter my age called Reem, who is clever and a bit shy. On the first day we welcomed them and my mum gave them a date cake; then we invited them to dinner on Friday and talked a lot about Tunisia and Britain. Reem loves drawing like me, so we will go to art club together every Saturday, and I will introduce her to my friends. Love, Amina.”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انْتَقَلَتْ إِلَى البَيْتِ المُجَاوِرِ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وَعِنْدَهُمْ بِنْتٌ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رَحَّبْنَا بِهِمْ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سَنَذْهَبُ مَعًا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عِنْدَمَا كُنْتُ فِي المَدْرَسَةِ الابْتِدَائِيَّةِ، كَانَ جَارُنَا العَمُّ حَسَنٌ أَهَمَّ شَخْصٍ فِي حَيِّنَا. كَانَ رَجُلًا عَجُوزًا قَصِيرًا، شَعْرُهُ أَبْيَضُ وَعَيْنَاهُ زَرْقَاوَانِ، وَكَانَ صَبُورًا وَكَرِيمًا جِدًّا. كُلَّ يَوْمٍ بَعْدَ المَدْرَسَةِ كَانَ يَجْلِسُ أَمَامَ بَيْتِهِ، وَيُعَلِّمُنِي الشِّطْرَنْجَ، وَيَحْكِي لِي عَنْ حَيَاتِهِ فِي فِلَسْطِينَ. فِي يَوْمٍ مِنَ الأَيَّامِ سَقَطْتُ عَنْ دَرَّاجَتِي، فَحَمَلَنِي إِلَى بَيْتِنَا. كَانَ مُهِمًّا لِي لِأَنَّهُ عَلَّمَنِي الصَّبْرَ. انْتَقَلَ إِلَى بَيْتِ ابْنِهِ قَبْلَ سَنَتَيْنِ، وَأَنَا أَشْتَاقُ إِلَيْهِ كَثِيرًا.</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when I was at primary school, our neighbour Uncle Hassan was the most important person in our area · D: an old, short man with white hair and blue eyes, very patient and generous; every day after school he sat outside his house, taught me chess and told me about his life in Palestine; one day I fell off my bike and he carried me home · R: he mattered because he taught me patience · F: he moved to his son’s house two years ago, and I miss him a lot.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جَارُنَا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شَعْرُهُ أَبْيَضُ وَعَيْنَاهُ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يَجْلِسُ … وَيُعَلِّمُنِي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أَشْتَاقُ إِلَيْهِ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TB-L11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TB-L10 · Writing Practice Room — Mixed Topic B: New Neighbours</dc:title>
  <dc:subject>PptxGenJS Presentation</dc:subject>
  <dc:creator>Al Madina Online School · Arabic Department</dc:creator>
  <cp:lastModifiedBy>Al Madina Online School · Arabic Department</cp:lastModifiedBy>
  <cp:revision>1</cp:revision>
  <dcterms:created xsi:type="dcterms:W3CDTF">2026-10-25T14:42:32Z</dcterms:created>
  <dcterms:modified xsi:type="dcterms:W3CDTF">2026-10-25T14:42:32Z</dcterms:modified>
</cp:coreProperties>
</file>