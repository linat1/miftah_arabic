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2 (Family, Friends and Relationships, TB-L02)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Family, Friends and Relationships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العَائِلَةُ وَالأَصْدِقَاءُ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new baby in the family),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TB-L02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Family day at school: registration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يَوْمُ العَائِلَةِ فِي المَدْرَسَةِ: التَّسْجِيلُ</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Student’s 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الطَّالِبِ</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خَمْسَةُ أَفْرَادٍ</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family members</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أَفْرَادِ العَائِلَةِ</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أُمِّي وَأَخِي الصَّغِيرُ</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will come?</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سَيَأْتِي؟</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ثَلَاثُ سَنَوَاتٍ</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 of the youngest child</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عُمْرُ أَصْغَرِ طِفْلٍ</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الطَّبْخُ · الرِّيَاضَةُ</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the family enjoys</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تُحِبُّهُ العَائِلَةُ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عَائِلَتِي … وَنَحْنُ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your family</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عَائِلَتَكَ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Question 2: a new baby in the family</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طِفْلٌ جَدِيدٌ فِي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A new baby has been born in your family. Write an email in Arabic to your friend of about 80–90 words. You must include: • who the baby is, when he or she was born, and the name • how your family celebrated • how your relationships in the family have changed • what you will do with the baby when he or she is older.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وُلِدَ / وُلِدَتْ … يَوْمَ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was born on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احْتَفَلْنَا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celebrated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أَصْبَحْتُ … لِذٰلِكَ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become … so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يَكْبَرُ سَأُعَلِّمُهُ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he grows up I will teach him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طِفْلٍ جَدِيدٍ فِي العَائِلَةِ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الطِّفْلُ؟ وَمَتَى وُلِدَ؟ وَمَا اسْمُهُ؟</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احْتَفَلَتْ عَائِلَتُكَ؟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تَغَيَّرَتِ العَلَاقَاتُ فِي العَائِلَةِ؟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سَتَفْعَلُ مَعَهُ عِنْدَمَا يَكْبَرُ؟</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new baby in the family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اكْتُبْ رِسَالَةً إِلَى صَدِيقِكَ عَنْ طِفْلٍ جَدِيدٍ فِي العَائِلَةِ (٨٠–٩٠ كَلِمَةً).</a:t>
            </a:r>
            <a:endParaRPr lang="ar-SA" sz="15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when born, the name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مَتَى وُلِدَ</a:t>
            </a:r>
            <a:pPr algn="l" indent="0" marL="0">
              <a:buNone/>
            </a:pPr>
            <a:r>
              <a:rPr lang="en-US" sz="1100" dirty="0">
                <a:solidFill>
                  <a:srgbClr val="5A6472"/>
                </a:solidFill>
                <a:latin typeface="Calibri" pitchFamily="34" charset="0"/>
                <a:cs typeface="Amiri" pitchFamily="2" charset="-78"/>
              </a:rPr>
              <a:t> → PAST (</a:t>
            </a:r>
            <a:pPr algn="l" indent="0" marL="0">
              <a:buNone/>
            </a:pPr>
            <a:r>
              <a:rPr lang="ar-SA" altLang="en-US" sz="1450" dirty="0">
                <a:solidFill>
                  <a:srgbClr val="5A6472"/>
                </a:solidFill>
                <a:latin typeface="Amiri" pitchFamily="2" charset="-78"/>
                <a:ea typeface="Amiri" pitchFamily="2" charset="-78"/>
                <a:cs typeface="Amiri" pitchFamily="2" charset="-78"/>
              </a:rPr>
              <a:t>وُلِدَ / وُلِدَتْ</a:t>
            </a:r>
            <a:pPr algn="l" indent="0" marL="0">
              <a:buNone/>
            </a:pPr>
            <a:r>
              <a:rPr lang="en-US" sz="1100" dirty="0">
                <a:solidFill>
                  <a:srgbClr val="5A6472"/>
                </a:solidFill>
                <a:latin typeface="Calibri" pitchFamily="34" charset="0"/>
                <a:cs typeface="Amiri" pitchFamily="2" charset="-78"/>
              </a:rPr>
              <a:t>) + a date</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الطِّفْلُ؟ وَمَتَى وُلِدَ؟ وَمَا اسْمُهُ؟</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the family celebrated</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احْتَفَلَتْ</a:t>
            </a:r>
            <a:pPr algn="l" indent="0" marL="0">
              <a:buNone/>
            </a:pPr>
            <a:r>
              <a:rPr lang="en-US" sz="1100" dirty="0">
                <a:solidFill>
                  <a:srgbClr val="5A6472"/>
                </a:solidFill>
                <a:latin typeface="Calibri" pitchFamily="34" charset="0"/>
                <a:cs typeface="Amiri" pitchFamily="2" charset="-78"/>
              </a:rPr>
              <a:t> → PAST (we): </a:t>
            </a:r>
            <a:pPr algn="l" indent="0" marL="0">
              <a:buNone/>
            </a:pPr>
            <a:r>
              <a:rPr lang="ar-SA" altLang="en-US" sz="1450" dirty="0">
                <a:solidFill>
                  <a:srgbClr val="5A6472"/>
                </a:solidFill>
                <a:latin typeface="Amiri" pitchFamily="2" charset="-78"/>
                <a:ea typeface="Amiri" pitchFamily="2" charset="-78"/>
                <a:cs typeface="Amiri" pitchFamily="2" charset="-78"/>
              </a:rPr>
              <a:t>احْتَفَلْنَا</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احْتَفَلَتْ عَائِلَتُكَ؟</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family relationships have changed</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تَغَيَّرَتْ</a:t>
            </a:r>
            <a:pPr algn="l" indent="0" marL="0">
              <a:buNone/>
            </a:pPr>
            <a:r>
              <a:rPr lang="en-US" sz="1100" dirty="0">
                <a:solidFill>
                  <a:srgbClr val="5A6472"/>
                </a:solidFill>
                <a:latin typeface="Calibri" pitchFamily="34" charset="0"/>
                <a:cs typeface="Amiri" pitchFamily="2" charset="-78"/>
              </a:rPr>
              <a:t> → PAST change → PRESENT now (</a:t>
            </a:r>
            <a:pPr algn="l" indent="0" marL="0">
              <a:buNone/>
            </a:pPr>
            <a:r>
              <a:rPr lang="ar-SA" altLang="en-US" sz="1450" dirty="0">
                <a:solidFill>
                  <a:srgbClr val="5A6472"/>
                </a:solidFill>
                <a:latin typeface="Amiri" pitchFamily="2" charset="-78"/>
                <a:ea typeface="Amiri" pitchFamily="2" charset="-78"/>
                <a:cs typeface="Amiri" pitchFamily="2" charset="-78"/>
              </a:rPr>
              <a:t>كُنْتُ … أَمَّا الآنَ</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تَغَيَّرَتِ العَلَاقَاتُ فِي العَائِلَةِ؟</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do with the baby later</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سَتَفْعَلُ</a:t>
            </a:r>
            <a:pPr algn="l" indent="0" marL="0">
              <a:buNone/>
            </a:pPr>
            <a:r>
              <a:rPr lang="en-US" sz="1100" dirty="0">
                <a:solidFill>
                  <a:srgbClr val="5A6472"/>
                </a:solidFill>
                <a:latin typeface="Calibri" pitchFamily="34" charset="0"/>
                <a:cs typeface="Amiri" pitchFamily="2" charset="-78"/>
              </a:rPr>
              <a:t> → FUTURE (sa-)</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سَتَفْعَلُ مَعَهُ عِنْدَمَا يَكْبَرُ؟</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ابْنُ عَمٍّ.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have a cousin.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ابْنُ عَمٍّ اسْمُهُ زَيْدٌ، وَعُمْرُهُ سِتَّ عَشْرَةَ سَنَةً.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called Zaid, and he is sixteen.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2" charset="-78"/>
                <a:ea typeface="Amiri" pitchFamily="2" charset="-78"/>
                <a:cs typeface="Amiri" pitchFamily="2" charset="-78"/>
              </a:rPr>
              <a:t>أَنَا قَرِيبٌ جِدًّا مِنْ ابْنِ عَمِّي زَيْدٍ، لِأَنَّنَا فِي المَدْرَسَةِ نَفْسِهَا.</a:t>
            </a:r>
            <a:endParaRPr lang="ar-SA" sz="24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I am very close to my cousin Zaid, because we are at the same school.</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 وَفِي رَأْيِي هُوَ مِثْلُ أَخٍ لِي، لٰكِنَّنَا نَتَشَاجَرُ أَحْيَانًا عَلَى الأَلْعَابِ!</a:t>
            </a:r>
            <a:endParaRPr lang="ar-SA" sz="22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he is like a brother — but sometimes we argue over games!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two sisters.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صَغِيرَتَانِ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uncle’s son lives in Egypt.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 عَمِّي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الابْنُ عَمِّي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يَسْكُنُ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تَسْكُنُ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مِصْرَ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مِصْرَ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get on well with my brothers.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أَتَّفِقُ</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أَتَشَاجَرُ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جَيِّدًا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قَلِيلًا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إِخْوَتِي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إِخْوَتِي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two sisters.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dual: </a:t>
            </a:r>
            <a:pPr algn="l" indent="0" marL="0">
              <a:buNone/>
            </a:pPr>
            <a:r>
              <a:rPr lang="ar-SA" altLang="en-US" sz="1350" dirty="0">
                <a:solidFill>
                  <a:srgbClr val="5A6472"/>
                </a:solidFill>
                <a:latin typeface="Amiri" pitchFamily="2" charset="-78"/>
                <a:ea typeface="Amiri" pitchFamily="2" charset="-78"/>
                <a:cs typeface="Amiri" pitchFamily="2" charset="-78"/>
              </a:rPr>
              <a:t>أُخْتَانِ صَغِيرَتَانِ</a:t>
            </a:r>
            <a:pPr algn="l" indent="0" marL="0">
              <a:buNone/>
            </a:pPr>
            <a:r>
              <a:rPr lang="en-US" sz="1050" i="1" dirty="0">
                <a:solidFill>
                  <a:srgbClr val="5A6472"/>
                </a:solidFill>
                <a:latin typeface="Calibri" pitchFamily="34" charset="0"/>
                <a:cs typeface="Amiri" pitchFamily="2" charset="-78"/>
              </a:rPr>
              <a:t> (subject of </a:t>
            </a:r>
            <a:pPr algn="l" indent="0" marL="0">
              <a:buNone/>
            </a:pPr>
            <a:r>
              <a:rPr lang="ar-SA" altLang="en-US" sz="1350" dirty="0">
                <a:solidFill>
                  <a:srgbClr val="5A6472"/>
                </a:solidFill>
                <a:latin typeface="Amiri" pitchFamily="2" charset="-78"/>
                <a:ea typeface="Amiri" pitchFamily="2" charset="-78"/>
                <a:cs typeface="Amiri" pitchFamily="2" charset="-78"/>
              </a:rPr>
              <a:t>عِنْدِي</a:t>
            </a:r>
            <a:pPr algn="l" indent="0" marL="0">
              <a:buNone/>
            </a:pPr>
            <a:r>
              <a:rPr lang="en-US" sz="1050" i="1" dirty="0">
                <a:solidFill>
                  <a:srgbClr val="5A6472"/>
                </a:solidFill>
                <a:latin typeface="Calibri" pitchFamily="34" charset="0"/>
                <a:cs typeface="Amiri" pitchFamily="2" charset="-78"/>
              </a:rPr>
              <a:t>, adjective agrees).</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أُخْتَانِ صَغِيرَتَانِ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uncle’s son lives in Egypt.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Iḍāfa: no al- on the first word: </a:t>
            </a:r>
            <a:pPr algn="l" indent="0" marL="0">
              <a:buNone/>
            </a:pPr>
            <a:r>
              <a:rPr lang="ar-SA" altLang="en-US" sz="1350" dirty="0">
                <a:solidFill>
                  <a:srgbClr val="5A6472"/>
                </a:solidFill>
                <a:latin typeface="Amiri" pitchFamily="2" charset="-78"/>
                <a:ea typeface="Amiri" pitchFamily="2" charset="-78"/>
                <a:cs typeface="Amiri" pitchFamily="2" charset="-78"/>
              </a:rPr>
              <a:t>ابْنُ عَمِّي</a:t>
            </a:r>
            <a:pPr algn="l" indent="0" marL="0">
              <a:buNone/>
            </a:pPr>
            <a:r>
              <a:rPr lang="en-US" sz="1050" i="1" dirty="0">
                <a:solidFill>
                  <a:srgbClr val="5A6472"/>
                </a:solidFill>
                <a:latin typeface="Calibri" pitchFamily="34" charset="0"/>
                <a:cs typeface="Amiri" pitchFamily="2" charset="-78"/>
              </a:rPr>
              <a:t>; he → </a:t>
            </a:r>
            <a:pPr algn="l" indent="0" marL="0">
              <a:buNone/>
            </a:pPr>
            <a:r>
              <a:rPr lang="ar-SA" altLang="en-US" sz="1350" dirty="0">
                <a:solidFill>
                  <a:srgbClr val="5A6472"/>
                </a:solidFill>
                <a:latin typeface="Amiri" pitchFamily="2" charset="-78"/>
                <a:ea typeface="Amiri" pitchFamily="2" charset="-78"/>
                <a:cs typeface="Amiri" pitchFamily="2" charset="-78"/>
              </a:rPr>
              <a:t>يَسْكُنُ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ابْنُ عَمِّي يَسْكُنُ فِي مِصْرَ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get on well with my brothers.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Get on with = </a:t>
            </a:r>
            <a:pPr algn="l" indent="0" marL="0">
              <a:buNone/>
            </a:pPr>
            <a:r>
              <a:rPr lang="ar-SA" altLang="en-US" sz="1350" dirty="0">
                <a:solidFill>
                  <a:srgbClr val="5A6472"/>
                </a:solidFill>
                <a:latin typeface="Amiri" pitchFamily="2" charset="-78"/>
                <a:ea typeface="Amiri" pitchFamily="2" charset="-78"/>
                <a:cs typeface="Amiri" pitchFamily="2" charset="-78"/>
              </a:rPr>
              <a:t>أَتَّفِقُ مَعَ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أَتَّفِقُ جَيِّدًا مَعَ إِخْوَتِي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وُلِدَتْ بِنْتُ خَالَتِي فِي ______ ، وَسَمَّوْهَا ______ لِأَنَّ ______ .</a:t>
            </a:r>
            <a:endParaRPr lang="ar-SA" sz="12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cousin was born in …, and they named her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اجْتَمَعَتِ العَائِلَةُ كُلُّهَا،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whole family gathered, 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______ ، أَمَّا الآنَ فَأَنَا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used to be …, but now I am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سَأَلْعَبُ مَعَهَا ______ ، وَسَأَحْكِي لَهَا ______ .</a:t>
            </a:r>
            <a:endParaRPr lang="ar-SA" sz="17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will play … with her, and tell her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عِنْدِي خَبَرٌ سَعِيدٌ!</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I have happy news!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وُلِدَ ابْنُ ______ يَوْمَ ______ ، وَاسْمُهُ ______ .</a:t>
            </a:r>
            <a:endParaRPr lang="ar-SA" sz="15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…’s son was born on …, and his name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احْتَفَلْنَا فِي بَيْتِ ______ ، وَأَكَلْنَا ______ .</a:t>
            </a:r>
            <a:endParaRPr lang="ar-SA" sz="17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We celebrated at …’s house, and ate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الآنَ أَنَا ______ ، وَأُسَاعِدُ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Now I am …, and I help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يَكْبَرُ سَأُعَلِّمُهُ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When he grows up I will teach him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وُلِدَ · وُلِدَتْ  ·  طِفْلٌ · طِفْلَةٌ  ·  ابْنُ عَمِّي · بِنْتُ خَالَتِي  ·  احْتَفَلْنَا  ·  اجْتَمَعَتِ العَائِلَةُ  ·  أَصْبَحْتُ  ·  قَرِيبٌ مِنْ  ·  سَأُعَلِّمُهُ</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اثْنَانِ أُخْتٌ.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you say “two sisters” in Arabic?</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الابْنُ عَمِّي طَوِيلٌ.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iḍāfa.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جَدِّي وَجَدَّتِي يَسْكُنُ فِي القَرْيَةِ.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people → which verb 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اثْنَانِ أُخْتٌ.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عِنْدِي أُخْتَانِ.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 the dual ending: </a:t>
            </a:r>
            <a:pPr algn="l" indent="0" marL="0">
              <a:buNone/>
            </a:pPr>
            <a:r>
              <a:rPr lang="ar-SA" altLang="en-US" sz="1500" b="1" dirty="0">
                <a:solidFill>
                  <a:srgbClr val="1B3B6F"/>
                </a:solidFill>
                <a:latin typeface="Amiri" pitchFamily="2" charset="-78"/>
                <a:ea typeface="Amiri" pitchFamily="2" charset="-78"/>
                <a:cs typeface="Amiri" pitchFamily="2" charset="-78"/>
              </a:rPr>
              <a:t>أُخْتَانِ</a:t>
            </a:r>
            <a:pPr algn="l" indent="0" marL="0">
              <a:buNone/>
            </a:pPr>
            <a:r>
              <a:rPr lang="en-US" sz="1150" b="1" dirty="0">
                <a:solidFill>
                  <a:srgbClr val="1B3B6F"/>
                </a:solidFill>
                <a:latin typeface="Calibri" pitchFamily="34" charset="0"/>
                <a:cs typeface="Amiri" pitchFamily="2" charset="-78"/>
              </a:rPr>
              <a:t> (no number word needed).</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الابْنُ عَمِّي طَوِيلٌ.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ابْنُ عَمِّي طَوِيلٌ.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an iḍāfa the first word has no 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جَدِّي وَجَدَّتِي يَسْكُنُ فِي القَرْيَةِ.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جَدِّي وَجَدَّتِي يَسْكُنَانِ فِي القَرْيَةِ.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people (after the subject) → the dual verb: </a:t>
            </a:r>
            <a:pPr algn="l" indent="0" marL="0">
              <a:buNone/>
            </a:pPr>
            <a:r>
              <a:rPr lang="ar-SA" altLang="en-US" sz="1500" b="1" dirty="0">
                <a:solidFill>
                  <a:srgbClr val="1B3B6F"/>
                </a:solidFill>
                <a:latin typeface="Amiri" pitchFamily="2" charset="-78"/>
                <a:ea typeface="Amiri" pitchFamily="2" charset="-78"/>
                <a:cs typeface="Amiri" pitchFamily="2" charset="-78"/>
              </a:rPr>
              <a:t>يَسْكُنَانِ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لَنْ أَنْسَى يَوْمَ زِفَافِ خَالَتِي.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 will never forget my aunt’s wedding day.</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اجْتَمَعَتِ العَائِلَةُ كُلُّهَا، وَرَقَصْنَا حَتَّى اللَّيْلِ.</a:t>
            </a:r>
            <a:endParaRPr lang="ar-SA" sz="240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The whole family gathered and we danced till night.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كَانَ مُهِمًّا لِأَنِّي رَأَيْتُ أَقَارِبِي مِنْ كُلِّ مَكَانٍ.</a:t>
            </a:r>
            <a:endParaRPr lang="ar-SA" sz="24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mattered because I saw relatives from everywhere.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شَعَرْتُ بِالسَّعَادَةِ، وَأَتَمَنَّى أَنْ نَجْتَمِعَ أَكْثَرَ.</a:t>
            </a:r>
            <a:endParaRPr lang="ar-SA" sz="25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happy, and I hope we meet more often.</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day with my family I will never forget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مَعَ عَائِلَتِي لَا أَنْسَاهُ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“Family and friends”. Today write ONLY the past paragraph: a day with your family or friends you will never forget — what happened, who was there, why it mattered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أَنْسَى يَوْمَ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never forget the day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اجْتَمَعَتِ العَائِلَةُ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family gathered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 لِأَوَّلِ مَرَّةٍ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saw … for the first time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مُهِمًّا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mattered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hope that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رَامِي،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عِنْدِي خَبَرٌ سَعِيدٌ! وُلِدَ أَخِي الصَّغِيرُ يَوْمَ الخَمِيسِ المَاضِي فِي المُسْتَشْفَى، وَسَمَّاهُ أَبِي إِبْرَاهِيمَ، عَلَى اسْمِ جَدِّي. احْتَفَلْنَا يَوْمَ الجُمُعَةِ فِي بَيْتِنَا، وَجَاءَ أَعْمَامِي وَعَمَّاتِي وَأَبْنَاؤُهُمْ، وَأَكَلْنَا الحَلَوِيَّاتِ، وَوَزَّعْنَا الهَدَايَا عَلَى الجِيرَانِ. قَبْلَ وِلَادَتِهِ كُنْتُ الأَصْغَرَ فِي العَائِلَةِ، وَكَانَ الجَمِيعُ يَهْتَمُّونَ بِي، أَمَّا الآنَ فَأَصْبَحْتُ أَخًا كَبِيرًا، وَأُسَاعِدُ أُمِّي كُلَّ يَوْمٍ فِي البَيْتِ، لِأَنَّهَا مُتْعَبَةٌ قَلِيلًا وَلَا تَنَامُ جَيِّدًا. عِنْدَمَا يَكْبَرُ إِبْرَاهِيمُ، سَأُعَلِّمُهُ كُرَةَ القَدَمِ، وَسَنَذْهَبُ مَعًا إِلَى المُبَارَيَاتِ. هَلْ عِنْدَكَ إِخْوَةٌ صِغَارٌ؟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إِلَى اللِّقَاءِ،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مُصْطَفَى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Rami, I have happy news! My little brother was born last Thursday in hospital, and my dad named him Ibrahim, after my grandfather. We celebrated on Friday at our house: my uncles, aunts and cousins came, we ate sweets and gave presents to the neighbours. Before he was born I was the youngest in the family and everyone looked after me; now I have become a big brother, and I help my mum every day, because she is a bit tired and doesn’t sleep well. When Ibrahim grows up I will teach him football, and we will go to matches together. Do you have little brothers or sisters? See you, Mustafa.”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وُلِدَ أَخِي الصَّغِيرُ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احْتَفَلْنَا يَوْمَ الجُمُعَةِ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الأَصْغَرَ … أَمَّا الآنَ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سَأُعَلِّمُهُ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لَنْ أَنْسَى يَوْمَ زِفَافِ خَالَتِي فِي الصَّيْفِ المَاضِي. اجْتَمَعَتِ العَائِلَةُ كُلُّهَا فِي قَاعَةٍ كَبِيرَةٍ فِي عَمَّانَ، وَجَاءَ أَقَارِبُنَا مِنْ أَمْرِيكَا وَالسُّعُودِيَّةِ وَبِرِيطَانِيَا. رَأَيْتُ أَبْنَاءَ خَالِي لِأَوَّلِ مَرَّةٍ، فَأَصْبَحْنَا أَصْدِقَاءَ بِسُرْعَةٍ، وَرَقَصْنَا مَعًا حَتَّى مُنْتَصَفِ اللَّيْلِ. كَانَ ذٰلِكَ اليَوْمُ مُهِمًّا لِأَنَّ عَائِلَتَنَا كَبِيرَةٌ لٰكِنَّهَا مُتَفَرِّقَةٌ فِي بُلْدَانٍ كَثِيرَةٍ. شَعَرْتُ بِسَعَادَةٍ كَبِيرَةٍ، وَمُنْذُ ذٰلِكَ اليَوْمِ نَتَكَلَّمُ بِالفِيدْيُو كُلَّ أُسْبُوعٍ.</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I will never forget my aunt’s wedding last summer · D: the whole family gathered in a big hall in Amman, with relatives from America, Saudi Arabia and Britain; I met my cousins for the first time, we became friends quickly and danced together until midnight · R: the day mattered because our family is big but scattered across many countries · F: I felt very happy, and since that day we video-call every week.</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أَنْسَى يَوْمَ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اجْتَمَعَتِ العَائِلَةُ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لِأَوَّلِ مَرَّةٍ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 مُهِمًّا لِأَنَّ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TB-L03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TB-L02 · Writing Practice Room — Family, Friends and Relationships</dc:title>
  <dc:subject>PptxGenJS Presentation</dc:subject>
  <dc:creator>Al Madina Online School · Arabic Department</dc:creator>
  <cp:lastModifiedBy>Al Madina Online School · Arabic Department</cp:lastModifiedBy>
  <cp:revision>1</cp:revision>
  <dcterms:created xsi:type="dcterms:W3CDTF">2026-10-25T14:24:28Z</dcterms:created>
  <dcterms:modified xsi:type="dcterms:W3CDTF">2026-10-25T14:24:28Z</dcterms:modified>
</cp:coreProperties>
</file>