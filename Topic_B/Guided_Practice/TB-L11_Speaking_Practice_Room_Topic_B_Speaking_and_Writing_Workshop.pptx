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SPEAKING PRACTICE ROOM AT A GLANCE — 55–60 minutes; about 8 minutes in the main room, about 40 minutes in breakout rooms of three, about 8 minutes back together.
0–2 Welcome · 2–6 How the room works (roles, rules) · then ROOMS: Step 1 Word warm-up (5) · Step 2 The answer ladder (8) · Step 3 Role plays 1 and 2 (14) · Step 4 Topic conversation with A-R-E-T (8) · Step 5 One-minute talk (5) · back in the main room: Check yourself (6) · Self-check + close (3).
PURPOSE: students practise ON THEIR OWN with a clear structure. The teacher visits each room (about 3 minutes per room), listens, and gives one live correction per student.
CONTENT: Advanced Topic B · Personal and Social Life, Lesson 11 (Topic B mixed practice — all about me, TB-L11) — new role plays and questions (not the ones in the Exam Practice workshop), using the lesson’s language (cohesion (li-anna, li-dhālika, lākinna, ammā … fa-, bi-l-iḍāfati ilā dhālika); mixed tenses; developing answers; ṣaḥīḥun anna … ghayra anna …; law … la-).
SET-UP: rooms of three (same-level rooms keep the routes simple). Share this deck or its PDF in the chat so every room can follow the steps. Post the step timings in the chat.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show the route through the steps. Students keep this slide in mind: the step number is always in the top-left of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THE ROOM WORKS (3 min, main room). Model the three roles quickly with two volunteers using one question. Stress: the Coach is not a judge — one WWW, one EBI, kind and specific. Then open the breakout rooms.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(5 min in rooms). The vocab slides that follow are the reference. Teacher: visit the first room straight away to model the 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 — the Leader picks the English, the Speaker gives the Arabic.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(read together for 2 min). Each level ADDS one thing. Core aims for level 2, Develop for level 3, Stretch for level 4.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(6 min). The cells are STARTERS, not full answers. Core: questions 1–2 to level 2. Develop: all four to level 3. Stretch: level 4 with an opinion or another time frame.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 introduction (2 min). Role play 1 shows the plan column filled in; for role play 2 students write it themselves. This is the fading: by the exam, they plan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1 (Core · Develop) — SUPPORTED: the plan column models the thinking (question word → tense → first words), NOT the full answer.
ROOM ROUTINE: Leader reads the left column in order · Speaker answers · Coach ticks the checklist (step 5 slide) and gives one WWW + one EBI · swap so that everyone is Speaker once.
To a girl the Leader says: عَرِّفِينَا بِنَفْسِكِ · صِفِي شَخْصِيَّتَكِ · هِوَايَاتُكِ · تَتَكَلَّمِينَ · تُرِيدِينَ — and the Speaker says اجْتِمَاعِيَّةٌ وَصَبُورَةٌ · سَفِيرَةً.
Language: a complete self-introduction · li-dhālika (so) to link · verbal nouns for hobbies · li-annī urīdu an + verb in -a.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2 (Develop · Stretch) — FADED SUPPORT: students now write their own plan column — exactly what they will do in the exam in their preparation time.
ROOM ROUTINE: Leader reads the left column in order · Speaker answers · Coach ticks the checklist (step 5 slide) and gives one WWW + one EBI · swap so that everyone is Speaker once.
To a girl the Leader says: يَوْمُكِ · تُحِبِّينَهُ · سَافَرْتِ · عُمْرِكِ · يُقْلِقُكِ — and the Speaker says مُتَحَمِّسَةٌ · قَلِقَةٌ.
Language: cohesion (awwalan, thumma, bi-l-iḍāfati ilā dhālika, lākinna) · past experience + fa-taʿallamtu an · questions about a third person (-hu) · ṣaḥīḥun anna … ghayra anna 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introduction (2 min). Show one answer growing link by link, then open the conversation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(6 min). Leaders choose questions that suit the Speaker: Core questions first, then move up. The follow-up column trains extended answers — exactly what the conversation part of the exam rewards.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5 (5 min). A monologue builds fluency for the conversation.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Coach keeps this slide open during Steps 2–5. Back in the main room, ask each room for its best WWW.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— only AFTER the room has performed both cards. Each student finds one task they answered less fully and re-says it using the model.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— only AFTER the room has performed both cards. Each student finds one task they answered less fully and re-says it using the model.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(2 min, main room). Read one aloud together; students say which A-R-E-T link they will add next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B · GUIDED PRACTICE  ·  TB-L11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TB-L11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Practice Room — Mixed Topic B: All About Me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غُرْفَةُ التَّحَدُّثِ — هٰذَا أَنَا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Students run their own speaking practice in breakout rooms, practising how to develop and link answers about themselves: a word warm-up, the answer ladder, two new role plays (a youth-ambassador interview, a video message to a host family), a conversation with A-R-E-T, and a one-minute talk.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TB-L11 · Advanced Topic B · Personal and Social Life · guided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B · A1+ → B1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B › TB-L11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ROOM PLAN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Five steps — you run them yourselves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خُطُوَاتُ الغُرْفَةِ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5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14223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14223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1: word warm-up.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2F6FB0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الكَلِمَاتُ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357628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467356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503932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503932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042666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042666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485644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2: climb the answer ladder.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449068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2F6FB0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السُّلَّمُ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4258056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367784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404360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4404360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9430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9430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4386072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3: two role plays (planned, then you plan).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4349496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6158484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6268212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304788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6304788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68435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8435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6286500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4: topic conversation, A-R-E-T.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6249924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8058912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8168640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205216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8205216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5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8743950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743950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8186928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5: one-minute talk.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8150352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دَقِيقَةٌ وَاحِدَةٌ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9959340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Shape 53"/>
          <p:cNvSpPr/>
          <p:nvPr/>
        </p:nvSpPr>
        <p:spPr>
          <a:xfrm>
            <a:off x="10069068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10105644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8" name="Text 55"/>
          <p:cNvSpPr txBox="1"/>
          <p:nvPr/>
        </p:nvSpPr>
        <p:spPr>
          <a:xfrm>
            <a:off x="10105644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6 min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1064437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1064437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300" dirty="0"/>
          </a:p>
        </p:txBody>
      </p:sp>
      <p:sp>
        <p:nvSpPr>
          <p:cNvPr id="61" name="Text 58"/>
          <p:cNvSpPr txBox="1"/>
          <p:nvPr/>
        </p:nvSpPr>
        <p:spPr>
          <a:xfrm>
            <a:off x="10087356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Check yourself with the models.</a:t>
            </a:r>
            <a:endParaRPr lang="en-US" sz="1200" dirty="0"/>
          </a:p>
        </p:txBody>
      </p:sp>
      <p:sp>
        <p:nvSpPr>
          <p:cNvPr id="62" name="Text 59"/>
          <p:cNvSpPr txBox="1"/>
          <p:nvPr/>
        </p:nvSpPr>
        <p:spPr>
          <a:xfrm>
            <a:off x="10050780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</a:t>
            </a:r>
            <a:endParaRPr lang="ar-SA" sz="1500" dirty="0"/>
          </a:p>
        </p:txBody>
      </p:sp>
      <p:sp>
        <p:nvSpPr>
          <p:cNvPr id="63" name="Shape 60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4" name="Text 61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HOW THE ROOM RUNS</a:t>
            </a:r>
            <a:endParaRPr lang="en-US" sz="1000" dirty="0"/>
          </a:p>
        </p:txBody>
      </p:sp>
      <p:sp>
        <p:nvSpPr>
          <p:cNvPr id="65" name="Text 62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Everybody speaks in every step. Swap roles each time: Leader → Speaker → Coach. If you finish early, do the step again with the Stretch route.</a:t>
            </a:r>
            <a:endParaRPr lang="en-US" sz="1250" dirty="0"/>
          </a:p>
        </p:txBody>
      </p:sp>
      <p:sp>
        <p:nvSpPr>
          <p:cNvPr id="66" name="Text 6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21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BEFORE THE ROOMS · HOW YOUR ROOM WORKS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Three roles, four rules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نَعْمَلُ فِي الغُرْفَةِ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ROLES (SWAP AFTER EVERY TASK)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LEADER — opens the next step, keeps the time, and reads the examiner’s questions.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SPEAKER — answers in full Arabic sentences. Plan for a few seconds, then speak.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 — listens with the checklist, then gives one WWW (what went well) and one EBI (even better if).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RULES: Arabic only in the tasks · full sentences · no silence (use a repair phrase) · everyone speaks in every step.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ROOM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 / دَوْرُكِ!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 (m. / f.)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21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STEP 1 · WORD WARM-UP · 5 MINUTES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Say it — then use it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قُلْهَا وَاسْتَعْمِلْهَا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1 · IN YOUR ROOM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🔤  Word ping-pong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Leader says a word in ENGLISH from the next two slides. The Speaker says it in ARABIC, then uses it in a short sentence about themselves. The Coach checks the Arabic on the slide.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Leader: say 4 English words; Speaker answers in Arabic + one sentence each.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 checks the word and the ending (I / he / she / they).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roles — new words each time.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Last round: say the he / she form of each verb.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Say the Arabic word, then a simple sentence: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 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Add when or how often: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كُلَّ يَوْمٍ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أَحْيَانًا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مَرَّتَيْنِ فِي الأُسْبُوعِ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Use two words in one sentence with a reason (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…).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أَعِدْ مِنْ فَضْلِكَ / أَعِيدِي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repeat please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 أَكْثَرَ / تَكَلَّمِي أَكْثَرَ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 (m. / f.)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21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 BANK (1)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Linking words that develop an answer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كَلِمَاتُ الرَّبْطِ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reason · result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 · لِذٰلِكَ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because · so, therefore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li-ʾan-na · li-dhā-li-ka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782312" y="1938528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782312" y="1938528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contrast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1" name="Text 28"/>
          <p:cNvSpPr txBox="1"/>
          <p:nvPr/>
        </p:nvSpPr>
        <p:spPr>
          <a:xfrm>
            <a:off x="4389120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 · غَيْرَ أَنَّ</a:t>
            </a:r>
            <a:endParaRPr lang="ar-SA" sz="3000" dirty="0"/>
          </a:p>
        </p:txBody>
      </p:sp>
      <p:sp>
        <p:nvSpPr>
          <p:cNvPr id="32" name="Text 29"/>
          <p:cNvSpPr txBox="1"/>
          <p:nvPr/>
        </p:nvSpPr>
        <p:spPr>
          <a:xfrm>
            <a:off x="4416552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but · however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lā-kin-na · ghay-ra an-na</a:t>
            </a:r>
            <a:endParaRPr lang="en-US" sz="1350" dirty="0"/>
          </a:p>
        </p:txBody>
      </p:sp>
      <p:sp>
        <p:nvSpPr>
          <p:cNvPr id="33" name="Shape 30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960120" y="1938528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960120" y="1938528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contrast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566928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أَمَّا أَنَا فَأُحِبُّ …</a:t>
            </a:r>
            <a:endParaRPr lang="ar-SA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594360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as for me, I like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am-mā a-nā fa-ʾu-ḥib-bu …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8604504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8604504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adding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9" name="Text 46"/>
          <p:cNvSpPr txBox="1"/>
          <p:nvPr/>
        </p:nvSpPr>
        <p:spPr>
          <a:xfrm>
            <a:off x="8211312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بِالإِضَافَةِ إِلَى ذٰلِكَ</a:t>
            </a:r>
            <a:endParaRPr lang="ar-SA" sz="3000" dirty="0"/>
          </a:p>
        </p:txBody>
      </p:sp>
      <p:sp>
        <p:nvSpPr>
          <p:cNvPr id="50" name="Text 47"/>
          <p:cNvSpPr txBox="1"/>
          <p:nvPr/>
        </p:nvSpPr>
        <p:spPr>
          <a:xfrm>
            <a:off x="8238744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addition to that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bil-ʾi-ḍā-fa-ti i-lā dhā-li-ka</a:t>
            </a:r>
            <a:endParaRPr lang="en-US" sz="1350" dirty="0"/>
          </a:p>
        </p:txBody>
      </p:sp>
      <p:sp>
        <p:nvSpPr>
          <p:cNvPr id="51" name="Shape 48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4782312" y="4279392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4782312" y="4279392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example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8" name="Text 55"/>
          <p:cNvSpPr txBox="1"/>
          <p:nvPr/>
        </p:nvSpPr>
        <p:spPr>
          <a:xfrm>
            <a:off x="4389120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مَثَلًا</a:t>
            </a:r>
            <a:endParaRPr lang="ar-SA" sz="3000" dirty="0"/>
          </a:p>
        </p:txBody>
      </p:sp>
      <p:sp>
        <p:nvSpPr>
          <p:cNvPr id="59" name="Text 56"/>
          <p:cNvSpPr txBox="1"/>
          <p:nvPr/>
        </p:nvSpPr>
        <p:spPr>
          <a:xfrm>
            <a:off x="4416552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for example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ma-tha-lan</a:t>
            </a:r>
            <a:endParaRPr lang="en-US" sz="1350" dirty="0"/>
          </a:p>
        </p:txBody>
      </p:sp>
      <p:sp>
        <p:nvSpPr>
          <p:cNvPr id="60" name="Shape 57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960120" y="4279392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960120" y="4279392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opinion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رَأْيِي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my opinion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fī raʾ-yī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feel</a:t>
            </a:r>
            <a:endParaRPr lang="en-US" sz="700" dirty="0"/>
          </a:p>
        </p:txBody>
      </p:sp>
      <p:sp>
        <p:nvSpPr>
          <p:cNvPr id="71" name="Text 68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أَشْعُرُ أَنَّ</a:t>
            </a:r>
            <a:endParaRPr lang="ar-SA" sz="1350" dirty="0"/>
          </a:p>
        </p:txBody>
      </p:sp>
      <p:sp>
        <p:nvSpPr>
          <p:cNvPr id="72" name="Shape 69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think</a:t>
            </a:r>
            <a:endParaRPr lang="en-US" sz="700" dirty="0"/>
          </a:p>
        </p:txBody>
      </p:sp>
      <p:sp>
        <p:nvSpPr>
          <p:cNvPr id="74" name="Text 71"/>
          <p:cNvSpPr txBox="1"/>
          <p:nvPr/>
        </p:nvSpPr>
        <p:spPr>
          <a:xfrm>
            <a:off x="6400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أَعْتَقِدُ أَنَّ</a:t>
            </a:r>
            <a:endParaRPr lang="ar-SA" sz="1350" dirty="0"/>
          </a:p>
        </p:txBody>
      </p:sp>
      <p:sp>
        <p:nvSpPr>
          <p:cNvPr id="75" name="Text 7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21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 BANK (2)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Top-band structures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جُمَلٌ مُتَقَدِّمَةٌ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past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عِنْدَمَا كُنْتُ صَغِيرًا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when I was small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ʿin-da-mā kun-tu ṣa-ghī-ran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8238744" y="3438144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293608" y="3447288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8284464" y="3483864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صَغِيرَةً</a:t>
            </a:r>
            <a:endParaRPr lang="ar-SA" sz="1500" dirty="0"/>
          </a:p>
        </p:txBody>
      </p:sp>
      <p:sp>
        <p:nvSpPr>
          <p:cNvPr id="27" name="Shape 24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782312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782312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future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4" name="Text 31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المُسْتَقْبَلِ سَأَدْرُسُ …</a:t>
            </a:r>
            <a:endParaRPr lang="ar-SA" sz="3000" dirty="0"/>
          </a:p>
        </p:txBody>
      </p:sp>
      <p:sp>
        <p:nvSpPr>
          <p:cNvPr id="35" name="Text 32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the future I will study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fī al-mus-taq-ba-li sa-ʾad-ru-su …</a:t>
            </a:r>
            <a:endParaRPr lang="en-US" sz="1350" dirty="0"/>
          </a:p>
        </p:txBody>
      </p:sp>
      <p:sp>
        <p:nvSpPr>
          <p:cNvPr id="36" name="Shape 33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plan</a:t>
            </a:r>
            <a:endParaRPr lang="en-US" sz="700" dirty="0"/>
          </a:p>
        </p:txBody>
      </p:sp>
      <p:sp>
        <p:nvSpPr>
          <p:cNvPr id="38" name="Text 35"/>
          <p:cNvSpPr txBox="1"/>
          <p:nvPr/>
        </p:nvSpPr>
        <p:spPr>
          <a:xfrm>
            <a:off x="6190488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أُخَطِّطُ لِلسَّفَرِ</a:t>
            </a:r>
            <a:endParaRPr lang="ar-SA" sz="1350" dirty="0"/>
          </a:p>
        </p:txBody>
      </p:sp>
      <p:sp>
        <p:nvSpPr>
          <p:cNvPr id="39" name="Shape 36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hope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4462272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أَتَمَنَّى أَنْ</a:t>
            </a:r>
            <a:endParaRPr lang="ar-SA" sz="1350" dirty="0"/>
          </a:p>
        </p:txBody>
      </p:sp>
      <p:sp>
        <p:nvSpPr>
          <p:cNvPr id="42" name="Shape 39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960120" y="1938528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60120" y="1938528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comparison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9" name="Text 46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أَكْثَرُ … مِنْ</a:t>
            </a:r>
            <a:endParaRPr lang="ar-SA" sz="3000" dirty="0"/>
          </a:p>
        </p:txBody>
      </p:sp>
      <p:sp>
        <p:nvSpPr>
          <p:cNvPr id="50" name="Text 47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more … than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ak-tha-ru … min</a:t>
            </a:r>
            <a:endParaRPr lang="en-US" sz="1350" dirty="0"/>
          </a:p>
        </p:txBody>
      </p:sp>
      <p:sp>
        <p:nvSpPr>
          <p:cNvPr id="51" name="Shape 48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 best</a:t>
            </a:r>
            <a:endParaRPr lang="en-US" sz="700" dirty="0"/>
          </a:p>
        </p:txBody>
      </p:sp>
      <p:sp>
        <p:nvSpPr>
          <p:cNvPr id="53" name="Text 50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أَفْضَلُ …</a:t>
            </a:r>
            <a:endParaRPr lang="ar-SA" sz="1350" dirty="0"/>
          </a:p>
        </p:txBody>
      </p:sp>
      <p:sp>
        <p:nvSpPr>
          <p:cNvPr id="54" name="Shape 51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better</a:t>
            </a:r>
            <a:endParaRPr lang="en-US" sz="700" dirty="0"/>
          </a:p>
        </p:txBody>
      </p:sp>
      <p:sp>
        <p:nvSpPr>
          <p:cNvPr id="56" name="Text 53"/>
          <p:cNvSpPr txBox="1"/>
          <p:nvPr/>
        </p:nvSpPr>
        <p:spPr>
          <a:xfrm>
            <a:off x="6400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أَفْضَلُ مِنْ</a:t>
            </a:r>
            <a:endParaRPr lang="ar-SA" sz="1350" dirty="0"/>
          </a:p>
        </p:txBody>
      </p:sp>
      <p:sp>
        <p:nvSpPr>
          <p:cNvPr id="57" name="Shape 54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8" name="Shape 55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8604504" y="4279392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8604504" y="4279392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concession</a:t>
            </a:r>
            <a:endParaRPr lang="en-US" sz="800" dirty="0"/>
          </a:p>
        </p:txBody>
      </p:sp>
      <p:sp>
        <p:nvSpPr>
          <p:cNvPr id="62" name="Shape 59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4" name="Text 61"/>
          <p:cNvSpPr txBox="1"/>
          <p:nvPr/>
        </p:nvSpPr>
        <p:spPr>
          <a:xfrm>
            <a:off x="8211312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3000" dirty="0"/>
          </a:p>
        </p:txBody>
      </p:sp>
      <p:sp>
        <p:nvSpPr>
          <p:cNvPr id="65" name="Text 62"/>
          <p:cNvSpPr txBox="1"/>
          <p:nvPr/>
        </p:nvSpPr>
        <p:spPr>
          <a:xfrm>
            <a:off x="8238744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it is true that … but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ṣa-ḥī-ḥun an-na … ghay-ra an-na …</a:t>
            </a:r>
            <a:endParaRPr lang="en-US" sz="1350" dirty="0"/>
          </a:p>
        </p:txBody>
      </p:sp>
      <p:sp>
        <p:nvSpPr>
          <p:cNvPr id="66" name="Shape 63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7" name="Shape 64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69" name="Shape 66"/>
          <p:cNvSpPr/>
          <p:nvPr/>
        </p:nvSpPr>
        <p:spPr>
          <a:xfrm>
            <a:off x="4782312" y="4279392"/>
            <a:ext cx="958291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4782312" y="4279392"/>
            <a:ext cx="9582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conditional</a:t>
            </a:r>
            <a:endParaRPr lang="en-US" sz="800" dirty="0"/>
          </a:p>
        </p:txBody>
      </p:sp>
      <p:sp>
        <p:nvSpPr>
          <p:cNvPr id="71" name="Shape 68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2" name="Text 69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3" name="Text 70"/>
          <p:cNvSpPr txBox="1"/>
          <p:nvPr/>
        </p:nvSpPr>
        <p:spPr>
          <a:xfrm>
            <a:off x="4389120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كُنْتُ … لَسَافَرْتُ</a:t>
            </a:r>
            <a:endParaRPr lang="ar-SA" sz="3000" dirty="0"/>
          </a:p>
        </p:txBody>
      </p:sp>
      <p:sp>
        <p:nvSpPr>
          <p:cNvPr id="74" name="Text 71"/>
          <p:cNvSpPr txBox="1"/>
          <p:nvPr/>
        </p:nvSpPr>
        <p:spPr>
          <a:xfrm>
            <a:off x="4416552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if I were … I would travel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law kun-tu … la-sā-far-tu</a:t>
            </a:r>
            <a:endParaRPr lang="en-US" sz="1350" dirty="0"/>
          </a:p>
        </p:txBody>
      </p:sp>
      <p:sp>
        <p:nvSpPr>
          <p:cNvPr id="75" name="Shape 72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960120" y="4279392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960120" y="4279392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editing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2" name="Text 79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أَتَأَكَّدُ مِنْ …</a:t>
            </a:r>
            <a:endParaRPr lang="ar-SA" sz="3000" dirty="0"/>
          </a:p>
        </p:txBody>
      </p:sp>
      <p:sp>
        <p:nvSpPr>
          <p:cNvPr id="83" name="Text 80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check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a-ta-ʾak-ka-du min …</a:t>
            </a:r>
            <a:endParaRPr lang="en-US" sz="1350" dirty="0"/>
          </a:p>
        </p:txBody>
      </p:sp>
      <p:sp>
        <p:nvSpPr>
          <p:cNvPr id="84" name="Shape 81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86" name="Text 83"/>
          <p:cNvSpPr txBox="1"/>
          <p:nvPr/>
        </p:nvSpPr>
        <p:spPr>
          <a:xfrm>
            <a:off x="2368296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يَتَأَكَّدُ</a:t>
            </a:r>
            <a:endParaRPr lang="ar-SA" sz="1500" dirty="0"/>
          </a:p>
        </p:txBody>
      </p:sp>
      <p:sp>
        <p:nvSpPr>
          <p:cNvPr id="87" name="Shape 84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past</a:t>
            </a:r>
            <a:endParaRPr lang="en-US" sz="700" dirty="0"/>
          </a:p>
        </p:txBody>
      </p:sp>
      <p:sp>
        <p:nvSpPr>
          <p:cNvPr id="89" name="Text 86"/>
          <p:cNvSpPr txBox="1"/>
          <p:nvPr/>
        </p:nvSpPr>
        <p:spPr>
          <a:xfrm>
            <a:off x="6400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تَأَكَّدْتُ</a:t>
            </a:r>
            <a:endParaRPr lang="ar-SA" sz="1350" dirty="0"/>
          </a:p>
        </p:txBody>
      </p:sp>
      <p:sp>
        <p:nvSpPr>
          <p:cNvPr id="90" name="Text 8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21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2 · THE ANSWER LADDER · HOW A SHORT ANSWER BECOMES A STRONG ONE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Climb the ladder: “How would you describe yourself?”</a:t>
            </a:r>
            <a:endParaRPr lang="en-US" sz="1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تَصِفُ نَفْسَكَ؟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1201400" y="2123694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1201400" y="212369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0" y="1847088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 شَخْصٌ هَادِئٌ.</a:t>
            </a:r>
            <a:endParaRPr lang="ar-SA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1856232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1 · Answer in a full sentence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am a calm person.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57200" y="2967228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11201400" y="3280410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1201400" y="328041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0" y="3003804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 شَخْصٌ هَادِئٌ، لِأَنِّي أُحِبُّ أَنْ أُفَكِّرَ قَبْلَ أَنْ أَتَكَلَّمَ.</a:t>
            </a:r>
            <a:endParaRPr lang="ar-SA" sz="2600" dirty="0"/>
          </a:p>
        </p:txBody>
      </p:sp>
      <p:sp>
        <p:nvSpPr>
          <p:cNvPr id="24" name="Text 21"/>
          <p:cNvSpPr txBox="1"/>
          <p:nvPr/>
        </p:nvSpPr>
        <p:spPr>
          <a:xfrm>
            <a:off x="685800" y="3012948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2 · + a reason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because I like to think before I speak.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457200" y="4123944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11201400" y="4437126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1201400" y="443712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0" y="4160520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بِالإِضَافَةِ إِلَى ذٰلِكَ أَنَا مُنَظَّمٌ؛ مَثَلًا، أَكْتُبُ قَائِمَةً كُلَّ صَبَاحٍ.</a:t>
            </a:r>
            <a:endParaRPr lang="ar-SA" sz="2350" dirty="0"/>
          </a:p>
        </p:txBody>
      </p:sp>
      <p:sp>
        <p:nvSpPr>
          <p:cNvPr id="29" name="Text 26"/>
          <p:cNvSpPr txBox="1"/>
          <p:nvPr/>
        </p:nvSpPr>
        <p:spPr>
          <a:xfrm>
            <a:off x="685800" y="4169664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3 · + a detail (time, frequency, example)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in addition I am organised — for example, I write a list every morning.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457200" y="5280660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11201400" y="5593842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1201400" y="5593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4572000" y="5317236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1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عِنْدَمَا كُنْتُ صَغِيرًا كُنْتُ خَجُولًا، أَمَّا الآنَ فَأَتَكَلَّمُ أَمَامَ الصَّفِّ بِثِقَةٍ.</a:t>
            </a:r>
            <a:endParaRPr lang="ar-SA" sz="2100" dirty="0"/>
          </a:p>
        </p:txBody>
      </p:sp>
      <p:sp>
        <p:nvSpPr>
          <p:cNvPr id="34" name="Text 31"/>
          <p:cNvSpPr txBox="1"/>
          <p:nvPr/>
        </p:nvSpPr>
        <p:spPr>
          <a:xfrm>
            <a:off x="685800" y="5326380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4 · + another time frame or an opinion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when I was little I was shy, but now I speak in front of the class confidently.</a:t>
            </a:r>
            <a:endParaRPr lang="en-US" sz="12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21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STEP 2 · YOUR TURN · CLIMB THE LADDER FOR EACH QUESTION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Your ladder: build each answer level by level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اصْعَدِ السُّلَّمَ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445752" y="1810512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3–4 · + detail / time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068312" y="1810512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2 · + reason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99432" y="1810512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1 · answer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464040" y="2267712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بِالإِضَافَةِ إِلَى ذٰلِكَ …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7086600" y="226771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 … · لِذٰلِكَ …</a:t>
            </a:r>
            <a:endParaRPr lang="ar-SA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4617720" y="226771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أَكْثَرُ شَيْءٍ أُحِبُّهُ …</a:t>
            </a:r>
            <a:endParaRPr lang="ar-SA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226771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أَكْثَرُ شَيْءٍ تُحِبُّهُ فِي حَيَاتِكَ؟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464040" y="3054096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وَفِي المُسْتَقْبَلِ …</a:t>
            </a:r>
            <a:endParaRPr lang="ar-SA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7086600" y="3054096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كُنْتُ … أَمَّا الآنَ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4617720" y="3054096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تَغَيَّرْتُ كَثِيرًا …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054096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تَغَيَّرْتَ فِي السَّنَوَاتِ الأَخِيرَةِ؟</a:t>
            </a:r>
            <a:endParaRPr lang="ar-SA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1091672" y="3099816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1091672" y="30998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464040" y="3840480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مَثَلًا فِي السَّنَةِ المَاضِيَةِ …</a:t>
            </a:r>
            <a:endParaRPr lang="ar-SA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7086600" y="3840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 …</a:t>
            </a:r>
            <a:endParaRPr lang="ar-SA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4617720" y="38404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أَفْخَرُ بِأَنِّي …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1051560" y="38404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الشَّيْءُ الَّذِي تَفْخَرُ بِهِ؟</a:t>
            </a:r>
            <a:endParaRPr lang="ar-SA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457200" y="4626864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9464040" y="4626864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وَلَوْ … لَدَرَسْتُ …</a:t>
            </a:r>
            <a:endParaRPr lang="ar-SA" sz="1500" dirty="0"/>
          </a:p>
        </p:txBody>
      </p:sp>
      <p:sp>
        <p:nvSpPr>
          <p:cNvPr id="45" name="Text 42"/>
          <p:cNvSpPr txBox="1"/>
          <p:nvPr/>
        </p:nvSpPr>
        <p:spPr>
          <a:xfrm>
            <a:off x="7086600" y="4626864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لِأَنِّي 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4617720" y="4626864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أَنْ …</a:t>
            </a:r>
            <a:endParaRPr lang="ar-SA" sz="15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4626864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تُرِيدُ أَنْ تَفْعَلَ بَعْدَ المَدْرَسَةِ؟</a:t>
            </a:r>
            <a:endParaRPr lang="ar-SA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626864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Leader asks · Speaker climbs as high as they can · Coach says which level they reached. Swap for each question.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3 · ROLE PLAY · HOW TO USE YOUR 1 MINUTE OF PREPARATION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Plan a role-play card in one minute</a:t>
            </a:r>
            <a:endParaRPr lang="en-US" sz="2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خَطِّطْ فِي دَقِيقَةٍ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FOUR MOVES IN ONE MINUTE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WHO am I and WHO is the examiner? (formal or friendly · a man or a woman → your endings).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For each task, find the QUESTION WORD and the TENSE (past · present · future).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Plan only your FIRST 2–3 words for each task — not whole sentences.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Task ! is unexpected: listen for the question word, then answer in a full sentence.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QUESTION WORD → HOW TO START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…؟ ← رَقْمٌ + اسْمٌ</a:t>
            </a:r>
            <a:endParaRPr lang="ar-SA" sz="265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765511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many → a number + a noun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19582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214116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…؟ ← فِي السَّاعَةِ … / يَوْمَ …</a:t>
            </a:r>
            <a:endParaRPr lang="ar-SA" sz="265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3785067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→ at … o’clock / on …day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215384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233672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…؟ ← لِأَنَّ …</a:t>
            </a:r>
            <a:endParaRPr lang="ar-SA" sz="265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4804623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 → because …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6995160" y="523494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40" name="Text 37"/>
          <p:cNvSpPr txBox="1"/>
          <p:nvPr/>
        </p:nvSpPr>
        <p:spPr>
          <a:xfrm>
            <a:off x="6949440" y="5253228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…؟ ← نَعَمْ / لَا + جُمْلَةٌ كَامِلَةٌ</a:t>
            </a:r>
            <a:endParaRPr lang="ar-SA" sz="2650" dirty="0"/>
          </a:p>
        </p:txBody>
      </p:sp>
      <p:sp>
        <p:nvSpPr>
          <p:cNvPr id="41" name="Text 38"/>
          <p:cNvSpPr txBox="1"/>
          <p:nvPr/>
        </p:nvSpPr>
        <p:spPr>
          <a:xfrm>
            <a:off x="6949440" y="5824179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yes/no question → yes / no + a full sentence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21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8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3 · ROLE PLAY 1 · CORE · DEVELOP · THE PLAN IS GIVEN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1 — Becoming a youth ambassador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سَفِيرُ الشَّبَابِ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57032" y="18105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Plan: question word → my first words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96519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Speaker’s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 (the examiner)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75320" y="2267712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عَرِّفْ ← اسْمِي … وَعُمْرِي … وَأَدْرُسُ فِي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01768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Introduce yourself (name, age, school).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عَرِّفْنَا بِنَفْسِكَ.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75320" y="300471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← أَنَا … وَ… ؛ لِذٰلِكَ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01768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two qualities with a link word.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شَخْصِيَّتَكَ.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275320" y="3741725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← أُحِبُّ … وَ…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01768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your hobbies.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هِوَايَاتُكَ؟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75320" y="4478731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← نَعَمْ، أَتَكَلَّمُ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01768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your languages.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تَتَكَلَّمُ لُغَاتٍ أُخْرَى؟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275320" y="521573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← لِأَنِّي أُرِيدُ أَنْ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01768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with a reason.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تُرِيدُ أَنْ تَكُونَ سَفِيرًا لِلشَّبَابِ؟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Speaker = a student applying · Leader = the interview panel. Use the plan column in your 1 minute of preparation, then hide it and speak. Then swap roles.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8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3 · ROLE PLAY 2 · DEVELOP · STRETCH · PLAN IT YOURSELF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2 — A video call with your host family</a:t>
            </a:r>
            <a:endParaRPr lang="en-US" sz="20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مُكَالَمَةٌ مَعَ الأُسْرَةِ المُضِيفَةِ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57032" y="18105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Plan it: question word → my first words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96519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Speaker’s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 (the examiner)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93608" y="2267712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5001768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your day with linking words.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يَبْدُو يَوْمُكَ العَادِيُّ؟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93608" y="300471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5001768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with a contrast.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الطَّعَامُ الَّذِي لَا تُحِبُّهُ؟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741725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5001768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Tell a past experience and what you learnt.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سَافَرْتَ وَحْدَكَ مِنْ قَبْلُ؟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293608" y="4478731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5001768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two questions about him.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عِنْدَنَا ابْنٌ فِي عُمْرِكَ.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293608" y="521573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5001768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(concession).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الَّذِي يُقْلِقُكَ فِي هٰذِهِ الرِّحْلَةِ؟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Speaker = an exchange student · Leader = the host mother or father in Oman. In your 1 minute, write the plan column in your book. Task ! : the Leader reads it without warning. Then swap roles.</a:t>
            </a: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21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4 · TOPIC CONVERSATION · KEEP THE ANSWER GOING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A-R-E-T: four links in every answer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سِلْسِلَةُ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3456432"/>
          </a:xfrm>
          <a:prstGeom prst="roundRect">
            <a:avLst>
              <a:gd name="adj" fmla="val 211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A · R · E · 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— ANSWER the question in a full sentence.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035808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035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2926080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 — give a REASON: 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 … / لِذٰلِكَ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378561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3785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3675888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 — add an EXAMPLE or a detail: 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مَثَلًا … / كُلَّ يَوْمٍ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45354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4535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4425696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 — change the TIME: past (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أَمْسِ / فِي المَاضِي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 or future (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سَوْفَ / فِي المُسْتَقْبَلِ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3456432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 COACH PUSHES WITH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26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761244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18820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206496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مِثْلَ مَاذَا؟</a:t>
            </a:r>
            <a:endParaRPr lang="ar-SA" sz="26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3773180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Like what?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200144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218432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وَفِي المَاضِي؟ / وَفِي المُسْتَقْبَلِ؟</a:t>
            </a:r>
            <a:endParaRPr lang="ar-SA" sz="26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4785116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And in the past? / And in the future?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39496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Text 37"/>
          <p:cNvSpPr txBox="1"/>
          <p:nvPr/>
        </p:nvSpPr>
        <p:spPr>
          <a:xfrm>
            <a:off x="658368" y="5468112"/>
            <a:ext cx="1920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ROUTES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2606040" y="5449824"/>
            <a:ext cx="8961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Core: A + R. Develop: A + R + E. Stretch: all four, plus an opinion (</a:t>
            </a:r>
            <a:pPr algn="l" indent="0" marL="0">
              <a:buNone/>
            </a:pPr>
            <a:r>
              <a:rPr lang="ar-SA" altLang="en-US" sz="16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رَأْيِي</a:t>
            </a:r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 or a contrast (</a:t>
            </a:r>
            <a:pPr algn="l" indent="0" marL="0">
              <a:buNone/>
            </a:pPr>
            <a:r>
              <a:rPr lang="ar-SA" altLang="en-US" sz="16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</a:t>
            </a:r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250" dirty="0"/>
          </a:p>
        </p:txBody>
      </p:sp>
      <p:sp>
        <p:nvSpPr>
          <p:cNvPr id="42" name="Text 3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21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4 · CONVERSATION CARD · THE LEADER ASKS, THE COACH PUSHES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Conversation: answer, then keep going</a:t>
            </a:r>
            <a:endParaRPr lang="en-US" sz="24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كُلُّ شَيْءٍ عَنِّي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177272" y="1810512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891272" y="1810512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Coach’s follow-up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23951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1810512"/>
            <a:ext cx="4059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asks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213848" y="2267712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7909560" y="2267712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وَأَصْلُ عَائِلَتِكَ؟</a:t>
            </a:r>
            <a:endParaRPr lang="ar-SA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276088" y="2267712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Where are you from?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2267712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أَيْنَ أَنْتَ؟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26771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0213848" y="2881884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7909560" y="2881884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276088" y="2881884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do you like in your room?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2881884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الشَّيْءُ الَّذِي تُحِبُّهُ فِي غُرْفَتِكَ؟</a:t>
            </a:r>
            <a:endParaRPr lang="ar-SA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2881884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10213848" y="3496056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7909560" y="3496056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وَيَوْمَ الأَحَدِ المَاضِي؟</a:t>
            </a:r>
            <a:endParaRPr lang="ar-SA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5276088" y="3496056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do you spend Sunday?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1051560" y="3496056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تَقْضِي يَوْمَ الأَحَدِ؟</a:t>
            </a:r>
            <a:endParaRPr lang="ar-SA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3496056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10213848" y="4110228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7909560" y="4110228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كَيْفَ؟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276088" y="4110228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Who in your family is like you?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4110228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مَنْ يُشْبِهُكَ فِي عَائِلَتِكَ؟</a:t>
            </a:r>
            <a:endParaRPr lang="ar-SA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110228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10213848" y="4724400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909560" y="4724400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مَثَلًا؟</a:t>
            </a:r>
            <a:endParaRPr lang="ar-SA" sz="1500" dirty="0"/>
          </a:p>
        </p:txBody>
      </p:sp>
      <p:sp>
        <p:nvSpPr>
          <p:cNvPr id="52" name="Text 49"/>
          <p:cNvSpPr txBox="1"/>
          <p:nvPr/>
        </p:nvSpPr>
        <p:spPr>
          <a:xfrm>
            <a:off x="5276088" y="4724400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Does our personality change with age?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1051560" y="4724400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تَتَغَيَّرُ شَخْصِيَّتُنَا مَعَ العُمُرِ؟</a:t>
            </a:r>
            <a:endParaRPr lang="ar-SA" sz="1600" dirty="0"/>
          </a:p>
        </p:txBody>
      </p:sp>
      <p:sp>
        <p:nvSpPr>
          <p:cNvPr id="54" name="Text 51"/>
          <p:cNvSpPr txBox="1"/>
          <p:nvPr/>
        </p:nvSpPr>
        <p:spPr>
          <a:xfrm>
            <a:off x="566928" y="4724400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10213848" y="5338572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57" name="Text 54"/>
          <p:cNvSpPr txBox="1"/>
          <p:nvPr/>
        </p:nvSpPr>
        <p:spPr>
          <a:xfrm>
            <a:off x="7909560" y="5338572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1500" dirty="0"/>
          </a:p>
        </p:txBody>
      </p:sp>
      <p:sp>
        <p:nvSpPr>
          <p:cNvPr id="58" name="Text 55"/>
          <p:cNvSpPr txBox="1"/>
          <p:nvPr/>
        </p:nvSpPr>
        <p:spPr>
          <a:xfrm>
            <a:off x="5276088" y="5338572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you wrote a book about your life, what would its title be?</a:t>
            </a:r>
            <a:endParaRPr lang="en-US" sz="1100" dirty="0"/>
          </a:p>
        </p:txBody>
      </p:sp>
      <p:sp>
        <p:nvSpPr>
          <p:cNvPr id="59" name="Text 56"/>
          <p:cNvSpPr txBox="1"/>
          <p:nvPr/>
        </p:nvSpPr>
        <p:spPr>
          <a:xfrm>
            <a:off x="1051560" y="5338572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كَتَبْتَ كِتَابًا عَنْ حَيَاتِكَ، مَاذَا يَكُونُ عُنْوَانُهُ؟</a:t>
            </a:r>
            <a:endParaRPr lang="ar-SA" sz="1600" dirty="0"/>
          </a:p>
        </p:txBody>
      </p:sp>
      <p:sp>
        <p:nvSpPr>
          <p:cNvPr id="60" name="Text 57"/>
          <p:cNvSpPr txBox="1"/>
          <p:nvPr/>
        </p:nvSpPr>
        <p:spPr>
          <a:xfrm>
            <a:off x="566928" y="533857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100" dirty="0"/>
          </a:p>
        </p:txBody>
      </p:sp>
      <p:sp>
        <p:nvSpPr>
          <p:cNvPr id="61" name="Text 58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Each Speaker answers three questions (one per route if you can), using A-R-E-T. The Coach asks the follow-up. Swap.</a:t>
            </a:r>
            <a:endParaRPr lang="en-US" sz="1150" dirty="0"/>
          </a:p>
        </p:txBody>
      </p:sp>
      <p:sp>
        <p:nvSpPr>
          <p:cNvPr id="62" name="Text 5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21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5 · THE ONE-MINUTE TALK · RECORD AND REVIEW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One minute: all about me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كُلُّ شَيْءٍ عَنِّي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5 · IN YOUR ROOM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⏱  Talk for one minute — no stopping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Talk for one minute about yourself, linking everything from Topic B: who you are, family, personality, home, hobbies — and how you have changed. Use at least four linking words.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30 seconds: jot 4 key words (one per bullet) — no sentences.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Speaker talks; the Leader times it (record it on your phone or in Teams if you can).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Coach: tick the checklist on the next slide, then WWW + EBI.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Swap. Listen back to your recording at home and fix one sentence.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30 seconds: five facts linked with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60 seconds: add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بِالإِضَافَةِ إِلَى ذٰلِكَ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مَثَلًا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and one past example.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90 seconds: add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كُنْتُ … أَمَّا الآنَ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…, a concession and law … la-.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بِالإِضَافَةِ إِلَى ذٰلِكَ …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 addition …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مَثَلًا …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for example …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أَمَّا أَنَا فَأُحِبُّ …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 for me, I like …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الخِتَامِ …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 finish …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21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COACH · CHECKLIST FOR EVERY STEP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Coach: tick, then give WWW + EBI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وَرَقَةُ المُدَرِّبِ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754112" y="1810512"/>
            <a:ext cx="859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382512" y="1810512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705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Speaker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790688" y="2267712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419088" y="2267712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question / task in a FULL sentence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790688" y="2881884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419088" y="2881884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linked sentences with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لِذٰلِكَ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790688" y="3496056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419088" y="3496056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) and a detail (time, frequency, example)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790688" y="4110228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419088" y="4110228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developed answers with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مَثَلًا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and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بِالإِضَافَةِ إِلَى ذٰلِكَ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790688" y="4724400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419088" y="4724400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changed the time frame (past or future) or gave an opinion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790688" y="5338572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419088" y="5338572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is kind and specific: “WWW: you used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 twice. EBI: add a past sentence.”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21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ROLE PLAY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1: compare with a strong answer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اسْمِي عُمَرُ، وَعُمْرِي خَمْسَ عَشْرَةَ سَنَةً، وَأَدْرُسُ فِي مَدْرَسَةِ المَدِينَةِ.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name is Omar, I am fifteen, and I study at Al Madina School.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عَرِّفْنَا بِنَفْسِكَ.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 اجْتِمَاعِيٌّ وَصَبُورٌ، لِذٰلِكَ أُسَاعِدُ الطُّلَّابَ الجُدُدَ.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am sociable and patient, so I help new students.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شَخْصِيَّتَكَ.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أُحِبُّ القِرَاءَةَ وَكُرَةَ السَّلَّةِ.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like reading and basketball.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هِوَايَاتُكَ؟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أَتَكَلَّمُ العَرَبِيَّةَ وَالإِنْجِلِيزِيَّةَ وَقَلِيلًا مِنَ الفَرَنْسِيَّةِ.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 speak Arabic, English and a little French.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تَتَكَلَّمُ لُغَاتٍ أُخْرَى؟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لِأَنِّي أُرِيدُ أَنْ أُسَاعِدَ الشَّبَابَ فِي مَدِينَتِي.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Because I want to help young people in my city.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تُرِيدُ أَنْ تَكُونَ سَفِيرًا لِلشَّبَابِ؟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Compare: did you answer EVERY task with a full sentence? Steal one phrase you did not use and say it aloud.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21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ROLE PLAY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2: compare with a strong answer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أَذْهَبُ إِلَى المَدْرَسَةِ، ثُمَّ أَتَدَرَّبُ فِي النَّادِي، وَبِالإِضَافَةِ إِلَى ذٰلِكَ أُسَاعِدُ أُمِّي فِي المَسَاءِ.</a:t>
            </a:r>
            <a:endParaRPr lang="ar-SA" sz="165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First I go to school, then I train at the club, and in addition I help my mum in the evening.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يَبْدُو يَوْمُكَ العَادِيُّ؟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آكُلُ كُلَّ شَيْءٍ تَقْرِيبًا، لٰكِنِّي لَا أُحِبُّ الطَّعَامَ الحَارَّ جِدًّا.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eat almost everything, but I don’t like very spicy food.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الطَّعَامُ الَّذِي لَا تُحِبُّهُ؟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فِي الصَّيْفِ المَاضِي ذَهَبْتُ إِلَى مُخَيَّمٍ، فَتَعَلَّمْتُ أَنْ أَعْتَمِدَ عَلَى نَفْسِي.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last summer I went to a camp and learnt to rely on myself.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سَافَرْتَ وَحْدَكَ مِنْ قَبْلُ؟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هِوَايَاتُهُ؟ وَهَلْ يَتَكَلَّمُ الإِنْجِلِيزِيَّةَ؟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are his hobbies? And does he speak English?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عِنْدَنَا ابْنٌ فِي عُمْرِكَ.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أَنِّي مُتَحَمِّسٌ جِدًّا، غَيْرَ أَنِّي قَلِقٌ قَلِيلًا مِنَ الحَرِّ، لِأَنِّي لَمْ أَعِشْ فِي بَلَدٍ حَارٍّ مِنْ قَبْلُ.</a:t>
            </a:r>
            <a:endParaRPr lang="ar-SA" sz="175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It’s true I’m very excited, but I’m a little worried about the heat, because I have never lived in a hot country.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الَّذِي يُقْلِقُكَ فِي هٰذِهِ الرِّحْلَةِ؟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Compare: did you answer EVERY task with a full sentence? Steal one phrase you did not use and say it aloud.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21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CONVERSATION AND ONE-MINUTE TALK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Strong answers to compare with yours</a:t>
            </a:r>
            <a:endParaRPr lang="en-US" sz="23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نَمَاذِجُ لِلْمُقَارَنَةِ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عَادَةً أَنَامُ مُتَأَخِّرًا، ثُمَّ أُسَاعِدُ أَبِي فِي الحَدِيقَةِ، لِأَنَّهُ يُحِبُّ الزِّرَاعَةَ؛ لٰكِنْ يَوْمَ الأَحَدِ المَاضِي ذَهَبْنَا إِلَى الشَّاطِئِ، وَكَانَ أَجْمَلَ بِكَثِيرٍ!</a:t>
            </a:r>
            <a:endParaRPr lang="ar-SA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A: I usually sleep late, then help dad in the garden · R: he loves gardening · contrast/T: but last Sunday we went to the beach — much better!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تَقْضِي يَوْمَ الأَحَدِ؟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تُشْبِهُنِي أُخْتِي الكُبْرَى كَثِيرًا، فَنَحْنُ طَوِيلَتَانِ وَنُحِبُّ القِرَاءَةَ؛ بِالإِضَافَةِ إِلَى ذٰلِكَ نَضْحَكُ عَلَى الأَشْيَاءِ نَفْسِهَا، لٰكِنَّهَا أَكْثَرُ صَبْرًا مِنِّي!</a:t>
            </a:r>
            <a:endParaRPr lang="ar-SA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A: my older sister · E: we’re both tall and love reading · in addition: we laugh at the same things · contrast: but she is more patient than me!</a:t>
            </a:r>
            <a:endParaRPr lang="en-US" sz="8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مَنْ يُشْبِهُكَ فِي عَائِلَتِكَ؟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بَعْضَ الصِّفَاتِ تَبْقَى، غَيْرَ أَنَّ التَّجَارِبَ تُغَيِّرُنَا؛ مَثَلًا كُنْتُ أَغْضَبُ بِسُرْعَةٍ، أَمَّا بَعْدَ أَنْ دَرَّبْتُ فَرِيقَ الصِّغَارِ، فَأَصْبَحْتُ أَكْثَرَ هُدُوءًا.</a:t>
            </a:r>
            <a:endParaRPr lang="ar-SA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Concession: some qualities stay, but experiences change us · E: I used to get angry quickly, but after coaching the juniors I became calmer.</a:t>
            </a:r>
            <a:endParaRPr lang="en-US" sz="8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تَتَغَيَّرُ شَخْصِيَّتُنَا مَعَ العُمُرِ؟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Find the A, R, E and T in each answer. Which link do you usually forget?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21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answered every role-play task in a full sentence.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planned my first words from the question word.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climbed to level 3: answer + reason + detail.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today’s key structure correctly when I spoke.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all four A-R-E-T links and spoke for 90 seconds.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21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TB-L11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you ran your own speaking practice!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TB-L11 · Writing practice room · Decode, plan, write and check — step by step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answer + reason + detail + another time frame — every time you speak.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TB-L11 · Speaking Practice Room — Mixed Topic B: All About Me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2026-10-25T14:42:37Z</dcterms:created>
  <dcterms:modified xsi:type="dcterms:W3CDTF">2026-10-25T14:42:37Z</dcterms:modified>
</cp:coreProperties>
</file>