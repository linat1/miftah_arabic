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B · Personal and Social Life, Lesson 9 (Invitations, Holidays and Past Experiences, TB-L09) — new role plays and questions (not the ones in the Exam Practice workshop), using the lesson’s language (the past tense for events; future plans with sa-; sequencing (awwalan, thumma, baʿda dhālika, akhīran); polite accepting and declining (bi-kulli surūr · āsif, lā astaṭīʿu li-anna …)).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عِيدُكِ · أَدْعُوكِ · تَأْتِينَ · فَعَلْتِ.
Language: bi-kulli surūrin · sa-ātī maʿa · the dual (tastaṭīʿāni an taʾtiyā) for the Leader · ʿindahā ḥasāsiyya · past: zurtu, akalnā.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سَتَأْتِينَ · فَعَلْتِ · رَأْيُكِ · لَكِ · عِنْدَكِ · كُنْتِ سَتُحْضِرِينَ — and the Speaker says آسِفَةٌ.
Language: declining (āsifun, lā astaṭīʿu an āti̇ya li-anna …) · sequencing (awwalan, thumma, akhīran) · suggesting (mā raʾyuka an …) · law … la- (Stretch).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GUIDED PRACTICE  ·  TB-L09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TB-L09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Invitations and Past Experiences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الدَّعَوَاتُ وَالتَّجَارِبُ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warm-up, the answer ladder, two new role plays (an invitation to an Eid lunch, politely declining an invitation and suggesting another day), a topic conversation with A-R-E-T, and a one-minute talk about a celebration.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Advanced Topic B · Personal and Social Life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TB-L09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Inviting, accepting, declining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الدَّعْوَةُ وَالقَبُولُ وَالاعْتِذَارُ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inviting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أَدْعُوكَ إِلَى حَفْلَتِي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invite you to my party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ad-ʿū-ka i-lā ḥaf-la-tī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دَعَوْتُ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أَدْعُوكُمْ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أَدْعُوكِ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accepting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بِكُلِّ سُرُورٍ!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with pleasure!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bi-kul-li su-rū-rin!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960120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60120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declining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آسِفٌ، لَا أَسْتَطِيعُ لِأَنَّ …</a:t>
            </a:r>
            <a:endParaRPr lang="ar-SA" sz="3000" dirty="0"/>
          </a:p>
        </p:txBody>
      </p:sp>
      <p:sp>
        <p:nvSpPr>
          <p:cNvPr id="50" name="Text 47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sorry, I can’t because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ā-si-fun, lā as-ta-ṭī-ʿu li-ʾan-na …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594360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49224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3" name="Text 50"/>
          <p:cNvSpPr txBox="1"/>
          <p:nvPr/>
        </p:nvSpPr>
        <p:spPr>
          <a:xfrm>
            <a:off x="640080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آسِفَةٌ</a:t>
            </a:r>
            <a:endParaRPr lang="ar-SA" sz="1500" dirty="0"/>
          </a:p>
        </p:txBody>
      </p:sp>
      <p:sp>
        <p:nvSpPr>
          <p:cNvPr id="54" name="Shape 51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8604504" y="4279392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604504" y="427939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birthday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1" name="Text 58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حَفْلَةٌ</a:t>
            </a:r>
            <a:endParaRPr lang="ar-SA" sz="3000" dirty="0"/>
          </a:p>
        </p:txBody>
      </p:sp>
      <p:sp>
        <p:nvSpPr>
          <p:cNvPr id="62" name="Text 59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party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ḥaf-la-tun</a:t>
            </a:r>
            <a:endParaRPr lang="en-US" sz="1350" dirty="0"/>
          </a:p>
        </p:txBody>
      </p:sp>
      <p:sp>
        <p:nvSpPr>
          <p:cNvPr id="63" name="Shape 60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birthday</a:t>
            </a:r>
            <a:endParaRPr lang="en-US" sz="700" dirty="0"/>
          </a:p>
        </p:txBody>
      </p:sp>
      <p:sp>
        <p:nvSpPr>
          <p:cNvPr id="65" name="Text 62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حَفْلَةُ عِيدِ مِيلَادٍ</a:t>
            </a:r>
            <a:endParaRPr lang="ar-SA" sz="1350" dirty="0"/>
          </a:p>
        </p:txBody>
      </p:sp>
      <p:sp>
        <p:nvSpPr>
          <p:cNvPr id="66" name="Shape 63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حَفَلَاتٌ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حَفْلَةٌ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9" name="Text 76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زِفَافٌ · عُرْسٌ</a:t>
            </a:r>
            <a:endParaRPr lang="ar-SA" sz="3000" dirty="0"/>
          </a:p>
        </p:txBody>
      </p:sp>
      <p:sp>
        <p:nvSpPr>
          <p:cNvPr id="80" name="Text 77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wedding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zi-fā-fun · ʿur-sun</a:t>
            </a:r>
            <a:endParaRPr lang="en-US" sz="1350" dirty="0"/>
          </a:p>
        </p:txBody>
      </p:sp>
      <p:sp>
        <p:nvSpPr>
          <p:cNvPr id="81" name="Shape 78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4462272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أَعْرَاسٌ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960120" y="4279392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960120" y="4279392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· past · future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نَلْتَقِي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meet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nal-ta-qī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future</a:t>
            </a:r>
            <a:endParaRPr lang="en-US" sz="700" dirty="0"/>
          </a:p>
        </p:txBody>
      </p:sp>
      <p:sp>
        <p:nvSpPr>
          <p:cNvPr id="95" name="Text 92"/>
          <p:cNvSpPr txBox="1"/>
          <p:nvPr/>
        </p:nvSpPr>
        <p:spPr>
          <a:xfrm>
            <a:off x="294436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سَنَلْتَقِي</a:t>
            </a:r>
            <a:endParaRPr lang="ar-SA" sz="1350" dirty="0"/>
          </a:p>
        </p:txBody>
      </p:sp>
      <p:sp>
        <p:nvSpPr>
          <p:cNvPr id="96" name="Shape 93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98" name="Text 95"/>
          <p:cNvSpPr txBox="1"/>
          <p:nvPr/>
        </p:nvSpPr>
        <p:spPr>
          <a:xfrm>
            <a:off x="1792224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الْتَقَيْنَا</a:t>
            </a:r>
            <a:endParaRPr lang="ar-SA" sz="1350" dirty="0"/>
          </a:p>
        </p:txBody>
      </p:sp>
      <p:sp>
        <p:nvSpPr>
          <p:cNvPr id="99" name="Shape 96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أَلْتَقِي</a:t>
            </a:r>
            <a:endParaRPr lang="ar-SA" sz="1500" dirty="0"/>
          </a:p>
        </p:txBody>
      </p:sp>
      <p:sp>
        <p:nvSpPr>
          <p:cNvPr id="102" name="Text 9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Telling a story in order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نَحْكِي قِصَّةً بِالتَّرْتِيبِ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· he · they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احْتَفَلْنَا بِالعِيدِ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celebrated Eid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aḥ-ta-fal-nā bil-ʿī-di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احْتَفَلُوا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احْتَفَلَ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احْتَفَلْتُ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· she · they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قَضَيْنَا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spent (time)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qa-ḍay-nā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قَضَوْا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قَضَتْ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قَضَيْتُ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sequencing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· ثُمَّ · بَعْدَ ذٰلِكَ · أَخِيرًا</a:t>
            </a:r>
            <a:endParaRPr lang="ar-SA" sz="245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first · then · after that · finally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aw-wa-lan · thum-ma · baʿ-da dhā-li-ka · a-khī-ran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 · future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أَنْسَى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will never forget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lā an-sā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future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لَنْ أَنْسَى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لَمْ أَنْسَ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مُفَاجَأَةٌ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surprise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mu-fā-ja-ʾa-tun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مُفَاجَآتٌ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مُفَاجَأَةٌ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رَائِعٌ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wonderful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rā-ʾi-ʿun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رَائِعُونَ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رَائِعَةٌ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رَائِعٌ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“How did you celebrate last Eid?”</a:t>
            </a:r>
            <a:endParaRPr lang="en-US" sz="18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احْتَفَلْتَ بِالعِيدِ المَاضِي؟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احْتَفَلْتُ بِالعِيدِ مَعَ عَائِلَتِي.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celebrated Eid with my family.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احْتَفَلْتُ بِالعِيدِ مَعَ عَائِلَتِي فِي بَيْتِ جَدِّي، لِأَنَّهُ أَكْبَرُ بَيْتٍ.</a:t>
            </a:r>
            <a:endParaRPr lang="ar-SA" sz="255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at my grandfather’s house, because it is the biggest.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أَوَّلًا صَلَّيْنَا فِي المَسْجِدِ، ثُمَّ أَكَلْنَا الفُطُورَ، وَبَعْدَ ذٰلِكَ زُرْنَا الأَقَارِبَ.</a:t>
            </a:r>
            <a:endParaRPr lang="ar-SA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first we prayed at the mosque, then had breakfast, and after that visited relatives.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العِيدِ القَادِمِ سَنَدْعُو جِيرَانَنَا؛ فَالعِيدُ فِي رَأْيِي أَجْمَلُ مَعَ النَّاسِ.</a:t>
            </a:r>
            <a:endParaRPr lang="ar-SA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next Eid we will invite our neighbours — in my opinion Eid is better with people.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أَوَّلًا … ثُمَّ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وَكَانَتْ … لِأَنَّ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إِلَى حَفْلَةٍ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ذَهَبْتَ إِلَى حَفْلَةٍ آخِرَ مَرَّةٍ؟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وَأَقْتَرِحُ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لِأَنِّي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أَقُولُ: آسِفٌ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تَعْتَذِرُ عَنْ دَعْوَةٍ؟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وَلَا أَنْسَى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مُفَاجَأَةٍ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أَجْمَلُ مُفَاجَأَةٍ حَدَثَتْ لَكَ؟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وَسَأَدْعُو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سَتَفْعَلُ فِي عِيدِ مِيلَادِكَ القَادِمِ؟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An invitation to Eid lunch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دَعْوَةٌ إِلَى غَدَاءِ العِيدِ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أَدْعُوكَ ← بِكُلِّ سُرُورٍ! شُكْرًا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Accept the invitation politely.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عِيدُكَ مُبَارَكٌ! أَدْعُوكَ إِلَى الغَدَاءِ يَوْمَ العِيدِ.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سَآتِي مَعَ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who will come with you.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تَأْتِي مَعَ أَحَدٍ؟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أَيِّ سَاعَةٍ ← فِي السَّاعَةِ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time.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سَاعَةٍ تَسْتَطِيعَانِ أَنْ تَأْتِيَا؟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لَا … / نَعَمْ، أُخْتِي لَا تَأْكُلُ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Mention a food you don’t eat.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هُنَاكَ طَعَامٌ لَا تَأْكُلَانِهِ؟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← زُرْتُ … / أَكَلْتُ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(past).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فِي العِيدِ المَاضِي؟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friend of the family · Leader = your friend’s mother.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Sorry, I can’t come!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آسِفٌ، لَا أَسْتَطِيعُ!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Decline politely, with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حَفْلَتِي يَوْمَ الجُمُعَةِ! سَتَأْتِي، أَلَيْسَ كَذٰلِكَ؟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past wedding in order.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يَا خَسَارَةُ! مَاذَا فَعَلْتَ فِي آخِرِ زِفَافٍ؟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another day and an activity.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وَمَتَى نَحْتَفِلُ مَعًا إِذَنْ؟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the party (two questions).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فِكْرَةٌ جَيِّدَةٌ!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يَكُنْ عِنْدَكَ زِفَافٌ، مَاذَا كُنْتَ سَتُحْضِرُ إِلَى الحَفْلَةِ؟</a:t>
            </a:r>
            <a:endParaRPr lang="ar-SA" sz="155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friend who must decline · Leader = your friend, who is having a party.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المُنَاسَبَاتُ وَالتَّجَارِبُ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وَكَيْفَ تَحْتَفِلُ؟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is your birthday?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عِيدُ مِيلَادِكَ؟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parties?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الحَفَلَاتِ؟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 مَاذَا؟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best day of your last holiday.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أَجْمَلَ يَوْمٍ فِي عُطْلَتِكَ الأَخِيرَةِ.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قُلْتَ؟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did you decline an invitation, and why?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رَفَضْتَ دَعْوَةً؟ وَلِمَاذَا؟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celebrations cost too much today?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تُكَلِّفُ الحَفَلَاتُ اليَوْمَ أَكْثَرَ مِنَ اللَّازِمِ؟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experience changed your mind about something?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التَّجْرِبَةُ الَّتِي غَيَّرَتْ رَأْيَكَ فِي شَيْءٍ؟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a celebration I remember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مُنَاسَبَةٌ أَتَذَكَّرُهَا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a celebration you remember (a wedding, Eid, a birthday, a graduation): when, where, who was there, what happened in order — and your next celebration.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what, when, where, and three past verbs.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tell it in order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ذٰلِكَ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أَخِيرًا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and give your feelings.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add a surprise or problem, an opinion, and your next celebration (future).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الصَّيْفِ احْتَفَلْنَا بِزِفَافِ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the summer we celebrated …’s wedding</a:t>
            </a:r>
            <a:endParaRPr lang="en-US" sz="85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 أَخِيرًا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 finally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أَنْسَى عِنْدَمَا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won’t forget when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المُنَاسَبَةِ القَادِمَةِ سَأَدْعُو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 the next occasion I will invite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accepted or declined politely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بِكُلِّ سُرُورٍ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آسِفٌ، لَا أَسْتَطِيعُ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told events in order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ذٰلِكَ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أَخِيرًا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in the past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بِكُلِّ سُرُورٍ! شُكْرًا جَزِيلًا عَلَى الدَّعْوَةِ.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With pleasure! Thank you very much for the invitation.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عِيدُكَ مُبَارَكٌ! أَدْعُوكَ إِلَى الغَدَاءِ يَوْمَ العِيدِ.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سَآتِي مَعَ أُخْتِي الصَّغِيرَةِ.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come with my little sister.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تَأْتِي مَعَ أَحَدٍ؟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السَّاعَةِ الوَاحِدَةِ، بَعْدَ زِيَارَةِ جَدَّتِي.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 one o’clock, after visiting my grandmother.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سَاعَةٍ تَسْتَطِيعَانِ أَنْ تَأْتِيَا؟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أُخْتِي لَا تَأْكُلُ المُكَسَّرَاتِ، لِأَنَّ عِنْدَهَا حَسَاسِيَّةً.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sister doesn’t eat nuts, because she has an allergy.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هُنَاكَ طَعَامٌ لَا تَأْكُلَانِهِ؟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 أَقَارِبِي فِي لَنْدَنَ، وَأَكَلْنَا الكَثِيرَ مِنَ الحَلَوِيَّاتِ.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visited my relatives in London, and we ate lots of sweets.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فَعَلْتَ فِي العِيدِ المَاضِي؟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آسِفٌ جِدًّا، لَا أَسْتَطِيعُ أَنْ آتِيَ يَوْمَ الجُمُعَةِ، لِأَنَّ عِنْدِي زِفَافَ ابْنِ عَمِّي.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very sorry, I can’t come on Friday, because I have my cousin’s wedding.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حَفْلَتِي يَوْمَ الجُمُعَةِ! سَتَأْتِي، أَلَيْسَ كَذٰلِكَ؟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رَقَصْنَا الدَّبْكَةَ، ثُمَّ أَكَلْنَا المَنْسَفَ، وَأَخِيرًا رَجَعْنَا إِلَى البَيْتِ بَعْدَ مُنْتَصَفِ اللَّيْلِ.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we danced the dabke, then ate mansaf, and finally got home after midnight.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يَا خَسَارَةُ! مَاذَا فَعَلْتَ فِي آخِرِ زِفَافٍ؟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أَنْ نَلْتَقِيَ يَوْمَ الأَحَدِ؟ سَأُحْضِرُ لَكَ هَدِيَّتَكَ، وَنَذْهَبُ إِلَى السِّينِمَا.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about Sunday? I’ll bring your present, and we’ll go to the cinema.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وَمَتَى نَحْتَفِلُ مَعًا إِذَنْ؟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سَيَأْتِي إِلَى الحَفْلَةِ؟ وَهَلْ سَيَكُونُ عِنْدَكُمْ مُفَاجَأَةٌ؟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is coming to the party? And will there be a surprise?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فِكْرَةٌ جَيِّدَةٌ!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يَكُنْ عِنْدِي زِفَافٌ، لَأَحْضَرْتُ كَعْكَةً صَنَعْتُهَا بِنَفْسِي، وَلَغَنَّيْتُ لَكَ!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didn’t have a wedding, I would have brought a cake I made myself — and sung for you!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يَكُنْ عِنْدَكَ زِفَافٌ، مَاذَا كُنْتَ سَتُحْضِرُ إِلَى الحَفْلَةِ؟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يَوْمٍ كَانَ عِنْدَمَا زُرْنَا جَزِيرَةً صَغِيرَةً بِالقَارِبِ؛ أَوَّلًا سَبَحْنَا، ثُمَّ أَكَلْنَا السَّمَكَ المَشْوِيَّ عَلَى الشَّاطِئِ، وَكَانَ رَائِعًا لِأَنَّ الجَزِيرَةَ كَانَتْ هَادِئَةً جِدًّا.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when we visited a small island by boat · E: first we swam, then ate grilled fish on the beach · R: wonderful because the island was so quiet.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أَجْمَلَ يَوْمٍ فِي عُطْلَتِكَ الأَخِيرَةِ.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الشَّهْرِ المَاضِي رَفَضْتُ دَعْوَةَ صَدِيقِي إِلَى السِّينِمَا، لِأَنَّ عِنْدِي امْتِحَانًا مُهِمًّا؛ قُلْتُ لَهُ: "آسِفٌ، لٰكِنْ سَنَذْهَبُ بَعْدَ الامْتِحَانِ"، وَذَهَبْنَا فِعْلًا.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last month I turned down a cinema invitation · R: I had an important exam · E: I said “sorry, we’ll go after the exam” — and we did.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رَفَضْتَ دَعْوَةً؟ وَلِمَاذَا؟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الحَفَلَاتِ الكَبِيرَةَ جَمِيلَةٌ، غَيْرَ أَنَّ بَعْضَ العَائِلَاتِ تَصْرِفُ مَالًا كَثِيرًا جِدًّا؛ فِي رَأْيِي الحَفْلَةُ البَسِيطَةُ فِي البَيْتِ أَدْفَأُ، كَمَا كَانَتْ حَفَلَاتُ أَجْدَادِنَا.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Concession: big parties are nice, but some families spend far too much · opinion: a simple party at home is warmer — like our grandparents’ parties.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تُكَلِّفُ الحَفَلَاتُ اليَوْمَ أَكْثَرَ مِنَ اللَّازِمِ؟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TB-L09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TB-L09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TB-L09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TB-L09 · Speaking Practice Room — Invitations and Past Experiences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2026-10-25T14:35:52Z</dcterms:created>
  <dcterms:modified xsi:type="dcterms:W3CDTF">2026-10-25T14:35:52Z</dcterms:modified>
</cp:coreProperties>
</file>