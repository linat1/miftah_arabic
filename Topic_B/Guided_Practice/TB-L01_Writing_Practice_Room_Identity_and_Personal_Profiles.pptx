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1 (Identity and Personal Profiles, TB-L01)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(76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Identity and Personal Profiles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الهُوِيَّةُ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profile for an international pen-pal site),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TB-L01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International youth camp: registration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المُخَيَّمُ الدَّوْلِيُّ لِلشَّبَابِ: التَّسْجِيلُ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الثَّانِي مِنْ يُونْيُو</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المِيلَادِ</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لِيدْز، بِرِيطَانِيَا</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of birth</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المِيلَادِ</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36408" y="4110228"/>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بِرِيطَانِيٌّ / بِرِيطَانِيَّةٌ</a:t>
            </a:r>
            <a:endParaRPr lang="en-US" sz="11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الإِنْجِلِيزِيَّةُ وَالعَرَبِيَّةُ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 وَ… لِأَنِّي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yourself</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نَفْسَكَ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Question 2: my profile for a pen-pal website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مَلَفِّي فِي مَوْقِعِ المُرَاسَلَةِ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joining an international pen-pal website. Write your profile in Arabic in about 80–90 words. You must include: • your name, age, nationality and where you live • your family’s origin and the languages you speak • how you celebrated your last birthday • what kind of pen-pal you want,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وَأَنَا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أَصْلُ عَائِلَتِي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family’s origin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عِيدِ مِيلَادِي الأَخِيرِ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my last birthday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أَبْحَثُ عَنْ صَدِيقٍ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looking for a friend who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مَلَفَّكَ الشَّخْصِيَّ لِمَوْقِعِ المُرَاسَلَةِ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وَعُمْرُكَ وَجِنْسِيَّتُكَ؟ وَأَيْنَ تَسْكُنُ؟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أَصْلُ عَائِلَتِكَ؟ وَأَيَّ لُغَاتٍ تَتَكَلَّمُ؟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احْتَفَلْتَ بِعِيدِ مِيلَادِكَ الأَخِيرِ؟</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نَوْعٍ مِنَ الأَصْدِقَاءِ تُرِيدُ؟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your profile for the pen-pal website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PROFILE (not a letter) → no greeting needed; first person (I)</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مَلَفَّكَ الشَّخْصِيَّ لِمَوْقِعِ المُرَاسَلَةِ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age, nationality, where you live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PRESENT facts (nominal sentences)</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اسْمُكَ وَعُمْرُكَ وَجِنْسِيَّتُكَ؟ وَأَيْنَ تَسْكُنُ؟</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origin; languages</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أَيَّ</a:t>
            </a:r>
            <a:pPr algn="l" indent="0" marL="0">
              <a:buNone/>
            </a:pPr>
            <a:r>
              <a:rPr lang="en-US" sz="1100" dirty="0">
                <a:solidFill>
                  <a:srgbClr val="5A6472"/>
                </a:solidFill>
                <a:latin typeface="Calibri" pitchFamily="34" charset="0"/>
                <a:cs typeface="Amiri" pitchFamily="2" charset="-78"/>
              </a:rPr>
              <a:t> → PRESENT origin + languages</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أَصْلُ عَائِلَتِكَ؟ وَأَيَّ لُغَاتٍ تَتَكَلَّمُ؟</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celebrated your last birthday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احْتَفَلْتَ</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احْتَفَلْتَ بِعِيدِ مِيلَادِكَ الأَخِيرِ؟</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kind of pen-pal you want, and why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تُرِيدُ … وَلِمَاذَا</a:t>
            </a:r>
            <a:pPr algn="l" indent="0" marL="0">
              <a:buNone/>
            </a:pPr>
            <a:r>
              <a:rPr lang="en-US" sz="1100" dirty="0">
                <a:solidFill>
                  <a:srgbClr val="5A6472"/>
                </a:solidFill>
                <a:latin typeface="Calibri" pitchFamily="34" charset="0"/>
                <a:cs typeface="Amiri" pitchFamily="2" charset="-78"/>
              </a:rPr>
              <a:t> → PRESENT wish + a reason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نَوْعٍ مِنَ الأَصْدِقَاءِ تُرِيدُ؟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 عَرَبِيٌّ.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am Arab.</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 عَرَبِيٌّ مِنَ العِرَاقِ، وَأَسْكُنُ فِي لَنْدَنَ مُنْذُ خَمْسِ سَنَوَاتٍ.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from Iraq, and I have lived in London for five years.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أَنَا عَرَبِيٌّ مِنَ العِرَاقِ، وَأَسْكُنُ فِي لَنْدَنَ، لِأَنَّ أَبِي يَعْمَلُ هُنَا.</a:t>
            </a:r>
            <a:endParaRPr lang="ar-SA" sz="24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my dad works here.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وَفِي رَأْيِي أَنَا مَحْظُوظٌ، لِأَنِّي أَعِيشُ بَيْنَ ثَقَافَتَيْنِ، لٰكِنِّي أَشْتَاقُ إِلَى بَغْدَادَ!</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 am lucky to live between two cultures — but I miss Baghdad!</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British.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بِرِيطَانِيَّةٌ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بِرِيطَانِيٌّ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fifteen years old.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خَمْسَ عَشْرَةَ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خَمْسَةَ عَشَرَ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سَنَوَاتٍ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was born in Cairo, but I live in Leeds.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وُلِدْتُ فِي القَاهِرَةِ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أُولَدُ فِي القَاهِرَةِ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أَسْكُنُ فِي لِيدْزَ</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سَكَنْتُ فِي لِيدْزَ</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British.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feminine nisba: </a:t>
            </a:r>
            <a:pPr algn="l" indent="0" marL="0">
              <a:buNone/>
            </a:pPr>
            <a:r>
              <a:rPr lang="ar-SA" altLang="en-US" sz="1350" dirty="0">
                <a:solidFill>
                  <a:srgbClr val="5A6472"/>
                </a:solidFill>
                <a:latin typeface="Amiri" pitchFamily="2" charset="-78"/>
                <a:ea typeface="Amiri" pitchFamily="2" charset="-78"/>
                <a:cs typeface="Amiri" pitchFamily="2" charset="-78"/>
              </a:rPr>
              <a:t>بِرِيطَانِيَّةٌ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بِرِيطَانِيَّةٌ أَيْضًا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fifteen years old.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سَنَة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خَمْسَ عَشْرَةَ سَنَةً</a:t>
            </a:r>
            <a:pPr algn="l" indent="0" marL="0">
              <a:buNone/>
            </a:pPr>
            <a:r>
              <a:rPr lang="en-US" sz="1050" i="1" dirty="0">
                <a:solidFill>
                  <a:srgbClr val="5A6472"/>
                </a:solidFill>
                <a:latin typeface="Calibri" pitchFamily="34" charset="0"/>
                <a:cs typeface="Amiri" pitchFamily="2" charset="-78"/>
              </a:rPr>
              <a:t> (singular after 11–99).</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عُمْرِي خَمْسَ عَشْرَةَ سَنَةً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was born in Cairo, but I live in Leeds.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Born = past </a:t>
            </a:r>
            <a:pPr algn="l" indent="0" marL="0">
              <a:buNone/>
            </a:pPr>
            <a:r>
              <a:rPr lang="ar-SA" altLang="en-US" sz="1350" dirty="0">
                <a:solidFill>
                  <a:srgbClr val="5A6472"/>
                </a:solidFill>
                <a:latin typeface="Amiri" pitchFamily="2" charset="-78"/>
                <a:ea typeface="Amiri" pitchFamily="2" charset="-78"/>
                <a:cs typeface="Amiri" pitchFamily="2" charset="-78"/>
              </a:rPr>
              <a:t>وُلِدْتُ</a:t>
            </a:r>
            <a:pPr algn="l" indent="0" marL="0">
              <a:buNone/>
            </a:pPr>
            <a:r>
              <a:rPr lang="en-US" sz="1050" i="1" dirty="0">
                <a:solidFill>
                  <a:srgbClr val="5A6472"/>
                </a:solidFill>
                <a:latin typeface="Calibri" pitchFamily="34" charset="0"/>
                <a:cs typeface="Amiri" pitchFamily="2" charset="-78"/>
              </a:rPr>
              <a:t>; but = </a:t>
            </a:r>
            <a:pPr algn="l" indent="0" marL="0">
              <a:buNone/>
            </a:pPr>
            <a:r>
              <a:rPr lang="ar-SA" altLang="en-US" sz="1350" dirty="0">
                <a:solidFill>
                  <a:srgbClr val="5A6472"/>
                </a:solidFill>
                <a:latin typeface="Amiri" pitchFamily="2" charset="-78"/>
                <a:ea typeface="Amiri" pitchFamily="2" charset="-78"/>
                <a:cs typeface="Amiri" pitchFamily="2" charset="-78"/>
              </a:rPr>
              <a:t>لٰكِنِّي</a:t>
            </a:r>
            <a:pPr algn="l" indent="0" marL="0">
              <a:buNone/>
            </a:pPr>
            <a:r>
              <a:rPr lang="en-US" sz="1050" i="1" dirty="0">
                <a:solidFill>
                  <a:srgbClr val="5A6472"/>
                </a:solidFill>
                <a:latin typeface="Calibri" pitchFamily="34" charset="0"/>
                <a:cs typeface="Amiri" pitchFamily="2" charset="-78"/>
              </a:rPr>
              <a:t>; live (now) = present </a:t>
            </a:r>
            <a:pPr algn="l" indent="0" marL="0">
              <a:buNone/>
            </a:pPr>
            <a:r>
              <a:rPr lang="ar-SA" altLang="en-US" sz="1350" dirty="0">
                <a:solidFill>
                  <a:srgbClr val="5A6472"/>
                </a:solidFill>
                <a:latin typeface="Amiri" pitchFamily="2" charset="-78"/>
                <a:ea typeface="Amiri" pitchFamily="2" charset="-78"/>
                <a:cs typeface="Amiri" pitchFamily="2" charset="-78"/>
              </a:rPr>
              <a:t>أَسْكُنُ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وُلِدْتُ فِي القَاهِرَةِ لٰكِنِّي أَسْكُنُ فِي لِيدْزَ</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وُلِدْتُ فِي ______ ، لٰكِنِّي أَسْكُنُ الآنَ فِي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was born in …, but now I live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أَبِي ______ وَأُمِّي ______ ، لِذٰلِكَ ______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My dad is … and my mum is …, so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احْتَفَلْتُ بِعِيدِ مِيلَادِي فِي ______ مَعَ ______ .</a:t>
            </a:r>
            <a:endParaRPr lang="ar-SA" sz="16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celebrated my birthday in …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أَبْحَثُ عَنْ صَدِيقٍ يُحِبُّ ______ ، لِكَيْ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want a friend who likes …, so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 وَعُمْرِي ______ سَنَةً.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name is …, and I am … years old.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وَأَسْكُنُ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am (nationality) …, and I live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أَصْلُ عَائِلَتِي مِنْ ______ ، وَأَتَكَلَّمُ ______ .</a:t>
            </a:r>
            <a:endParaRPr lang="ar-SA" sz="17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My family is from …, and I speak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عِيدِ مِيلَادِي الأَخِيرِ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my last birthday I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صَدِيقًا ______ ، لِأَنَّ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want a friend who is …,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بِرِيطَانِيٌّ / بِرِيطَانِيَّةٌ  ·  عَرَبِيٌّ  ·  وُلِدْتُ فِي  ·  أَصْلِي مِنْ  ·  أَتَكَلَّمُ  ·  عِيدُ مِيلَادِي  ·  اجْتِمَاعِيٌّ · مَرِحٌ  ·  أَبْحَثُ عَنْ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مِصْرِيٌّ.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عُمْرِي خَمْسَةَ عَشَرَ سَنَوَاتٍ.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Numbers 11–99 take a singular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وُلِدْتُ فِي بِرِيطَانِيَا وَأَصْلِي سُورِيَا.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Origin needs a small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مِصْرِيٌّ.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مِصْرِيَّةٌ.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woman → feminine nisba: </a:t>
            </a:r>
            <a:pPr algn="l" indent="0" marL="0">
              <a:buNone/>
            </a:pPr>
            <a:r>
              <a:rPr lang="ar-SA" altLang="en-US" sz="1500" b="1" dirty="0">
                <a:solidFill>
                  <a:srgbClr val="1B3B6F"/>
                </a:solidFill>
                <a:latin typeface="Amiri" pitchFamily="2" charset="-78"/>
                <a:ea typeface="Amiri" pitchFamily="2" charset="-78"/>
                <a:cs typeface="Amiri" pitchFamily="2" charset="-78"/>
              </a:rPr>
              <a:t>مِصْرِيَّةٌ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عُمْرِي خَمْسَةَ عَشَرَ سَنَوَاتٍ.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عُمْرِي خَمْسَ عَشْرَةَ سَنَةً.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11–99 + singular accusative; </a:t>
            </a:r>
            <a:pPr algn="l" indent="0" marL="0">
              <a:buNone/>
            </a:pPr>
            <a:r>
              <a:rPr lang="ar-SA" altLang="en-US" sz="1500" b="1" dirty="0">
                <a:solidFill>
                  <a:srgbClr val="1B3B6F"/>
                </a:solidFill>
                <a:latin typeface="Amiri" pitchFamily="2" charset="-78"/>
                <a:ea typeface="Amiri" pitchFamily="2" charset="-78"/>
                <a:cs typeface="Amiri" pitchFamily="2" charset="-78"/>
              </a:rPr>
              <a:t>سَنَة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خَمْسَ عَشْرَةَ سَنَةً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وُلِدْتُ فِي بِرِيطَانِيَا وَأَصْلِي سُورِيَا.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وُلِدْتُ فِي بِرِيطَانِيَا، وَأَصْلِي مِنْ سُورِيَا.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Origin = </a:t>
            </a:r>
            <a:pPr algn="l" indent="0" marL="0">
              <a:buNone/>
            </a:pPr>
            <a:r>
              <a:rPr lang="ar-SA" altLang="en-US" sz="1500" b="1" dirty="0">
                <a:solidFill>
                  <a:srgbClr val="1B3B6F"/>
                </a:solidFill>
                <a:latin typeface="Amiri" pitchFamily="2" charset="-78"/>
                <a:ea typeface="Amiri" pitchFamily="2" charset="-78"/>
                <a:cs typeface="Amiri" pitchFamily="2" charset="-78"/>
              </a:rPr>
              <a:t>أَصْلِي مِنْ</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عِنْدَمَا كُنْتُ فِي العَاشِرَةِ زُرْتُ قَرْيَةَ جَدِّي فِي اليَمَنِ.</a:t>
            </a:r>
            <a:endParaRPr lang="ar-SA" sz="21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When I was ten I visited my grandfather’s village in Yemen.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تَعَرَّفْتُ عَلَى أَقَارِبِي، وَتَعَلَّمْتُ كَلِمَاتٍ كَثِيرَةً.</a:t>
            </a:r>
            <a:endParaRPr lang="ar-SA" sz="24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met my relatives and learnt many words.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كَانَتْ مُهِمَّةً لِأَنِّي فَهِمْتُ قِصَّةَ عَائِلَتِي.</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mattered because I understood my family’s story.</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بِالفَخْرِ، وَسَأَرْجِعُ إِلَى هُنَاكَ.</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proud, and I will go back.</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moment that shaped who I am</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لَحْظَةٌ شَكَّلَتْ 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“Who am I?”. Today write ONLY the past paragraph: a moment or event that shaped your identity (a trip to your family’s country, a festival, a new school …) — what happened, why it mattered,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كُنْتُ فِي … مِنْ عُمْرِي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was … years old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تَعَرَّفْتُ عَلَى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got to know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فَهِمْتُ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understood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بِالفَخْرِ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proud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ذٰلِكَ اليَوْمِ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that day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مَرْحَبًا! اسْمِي لَيْلَى، وَعُمْرِي أَرْبَعَ عَشْرَةَ سَنَةً. أَنَا بِرِيطَانِيَّةٌ، وَأَسْكُنُ فِي مَدِينَةِ لِيدْزَ فِي شَمَالِ إِنْجِلْتِرَا مَعَ عَائِلَتِي، وَعِنْدِي أَخَوَانِ صَغِيرَانِ وَقِطَّةٌ بَيْضَاءُ. أَصْلُ أَبِي مِنَ المَغْرِبِ، وَأُمِّي مِنْ بَاكِسْتَانَ، لِذٰلِكَ أَتَكَلَّمُ الإِنْجِلِيزِيَّةَ وَالعَرَبِيَّةَ وَقَلِيلًا مِنَ الأُورْدِيَّةِ. فِي عِيدِ مِيلَادِي الأَخِيرِ فِي شَهْرِ مَارِسَ احْتَفَلْتُ مَعَ صَدِيقَاتِي فِي حَدِيقَةٍ كَبِيرَةٍ، وَأَكَلْنَا كَعْكَةً بِالشُّوكُولَاتَةِ، وَلَعِبْنَا كُرَةَ السَّلَّةِ حَتَّى المَسَاءِ. أَبْحَثُ عَنْ صَدِيقَةٍ مِنْ بَلَدٍ عَرَبِيٍّ تُحِبُّ القِرَاءَةَ وَالرِّيَاضَةَ، لِكَيْ أُمَارِسَ العَرَبِيَّةَ مَعَهَا، وَأَتَعَلَّمَ عَنْ ثَقَافَتِهَا. أَنْتَظِرُ رِسَالَتَكِ!</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My name is Layla and I am fourteen. I am British, and I live in Leeds in the north of England with my family; I have two little brothers and a white cat. My dad’s origin is Morocco and my mum is from Pakistan, so I speak English, Arabic and a little Urdu. On my last birthday in March I celebrated with my friends in a big park; we ate chocolate cake and played basketball until the evening. I am looking for a friend from an Arab country who likes reading and sport, so that I can practise Arabic with her and learn about her culture. I look forward to your message!”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بِرِيطَانِيَّةٌ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أَتَكَلَّمُ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احْتَفَلْتُ مَعَ صَدِيقَاتِي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أُمَارِسَ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عِنْدَمَا كُنْتُ فِي العَاشِرَةِ مِنْ عُمْرِي، زُرْتُ قَرْيَةَ جَدِّي فِي اليَمَنِ لِأَوَّلِ مَرَّةٍ. فِي البِدَايَةِ كُنْتُ خَجُولًا جِدًّا، لِأَنِّي لَمْ أَفْهَمْ لَهْجَةَ أَقَارِبِي. لٰكِنَّ ابْنَ عَمِّي عَلَّمَنِي كَلِمَاتٍ جَدِيدَةً كُلَّ يَوْمٍ، وَأَخَذَنِي إِلَى السُّوقِ وَالجِبَالِ. فِي آخِرِ يَوْمٍ حَكَى لِي جَدِّي قِصَّةَ عَائِلَتِنَا، فَفَهِمْتُ لِمَاذَا جَاءَ أَبِي إِلَى بِرِيطَانِيَا. شَعَرْتُ بِالفَخْرِ بِأَصْلِي، وَمُنْذُ ذٰلِكَ اليَوْمِ أَدْرُسُ العَرَبِيَّةَ بِحَمَاسٍ، وَسَأَرْجِعُ إِلَى هُنَاكَ بَعْدَ الامْتِحَانَاتِ.</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when I was ten, I visited my grandfather’s village in Yemen for the first time · D: at first I was very shy because I didn’t understand my relatives’ dialect, but my cousin taught me new words every day and took me to the market and the mountains · R: on the last day my grandfather told me our family’s story, so I understood why my dad came to Britain · F: I felt proud of my origins; since then I study Arabic eagerly, and I will go back after the exams.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عِنْدَمَا كُنْتُ فِي العَاشِرَةِ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لَمْ أَفْهَمْ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فَفَهِمْتُ لِمَاذَا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بِالفَخْرِ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TB-L02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TB-L01 · Writing Practice Room — Identity and Personal Profiles</dc:title>
  <dc:subject>PptxGenJS Presentation</dc:subject>
  <dc:creator>Al Madina Online School · Arabic Department</dc:creator>
  <cp:lastModifiedBy>Al Madina Online School · Arabic Department</cp:lastModifiedBy>
  <cp:revision>1</cp:revision>
  <dcterms:created xsi:type="dcterms:W3CDTF">2026-10-25T14:24:19Z</dcterms:created>
  <dcterms:modified xsi:type="dcterms:W3CDTF">2026-10-25T14:24:19Z</dcterms:modified>
</cp:coreProperties>
</file>