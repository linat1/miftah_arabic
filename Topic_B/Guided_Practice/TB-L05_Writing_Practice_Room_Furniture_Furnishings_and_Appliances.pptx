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PRACTICE ROOM AT A GLANCE — 55–60 minutes; short launch in the main room, then writing pairs in breakout rooms (each student writes their OWN text; the buddy checks), back together to compare.
0–2 Welcome · 2–5 How the room works · ROOMS: Step 1 Q1 warm-up (4) · Step 2 Decode the Q2 task (6) · Step 3 Upgrade sentences (6) · Step 4 Write Q2 + buddy swap (14) · Step 5 Spot and fix + buddy check (6) · Step 6 One Q3 paragraph (10) · back together: Check yourself (5) · Self-check + close (2).
PURPOSE: students learn a REPEATABLE PROCESS for Paper 4 (decode → plan → write → check) and write independently, with support that fades.
CONTENT: Advanced Topic B · Personal and Social Life, Lesson 5 (Furniture, Furnishings and Appliances, TB-L05) — new writing tasks (not the Exam Practice workshop tasks).
WHERE TO WRITE: a page in the class notebook / a shared document (each student their own), or paper + a photo to the teacher. Buddies read each other’s page in Step 4 and Step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(2 min). Show where students write. Then open the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(4 min). Personal answers, so no single model: the buddy checks meaning and spelling. Core: boxes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(2 min). Missing a bullet is the most common way to lose marks in Q2 — decoding stops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 read the task. Then decode it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(3 min). Students decode in pairs; Core students may use the English on the task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answers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(2 min). Each line adds ONE thing. Students will do the same with their own sentences in Step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(4 min). Read the English, then choose the correct part from each column (start on the RIGHT, column 1). Buddies agree before checking the answer slide. Watch the agreement and the verb after أَنْ.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(4 min). Read the English, then choose the correct part from each column (start on the RIGHT, column 1). Buddies agree before checking the answer slide. Watch the agreement and the verb after أَنْ.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support. Core: use the Core frames for every bullet. Develop: use the Develop frames only if stuck. Stretch: no frames — add a contrast and a future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(14 min). Teacher visits each room and reads ONE paragraph per student: one correction, one praise.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(3 min). Pairs agree on each correction before the answer slide. Then they look for the SAME mistakes in their own Q2.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(3 min). Pairs agree on each correction before the answer slide. Then they look for the SAME mistakes in their own Q2.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(2 min). One paragraph done well is the building block of Q3: four paragraphs like this = a full Q3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(8 min). Core: 3–4 sentences using the bank. Develop: the full formula. Stretch: the formula + a contrast and a future link. Homework: write the other three paragraphs.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(76 words). CHECK YOURSELF (3 min, main room or rooms). Find the four bullets. Then each student copies ONE phrase from the model into their own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(63 words). CHECK YOURSELF (2 min). Students label T, D, R and F in the model, then in their own paragraph.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B · GUIDED PRACTICE  ·  TB-L05</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TB-L05</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Writing Practice Room — Furniture and Appliances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الكِتَابَةِ — الأَثَاثُ وَالأَجْهِزَةُ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Students practise the writing process in breakout rooms: a Q1 warm-up, decoding a new Q2 task (selling old furniture online), upgrading sentences, writing with a buddy, spotting and fixing errors, and one Q3 paragraph with the T-D-R-F formula.</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TB-L05 · Advanced Topic B · Personal and Social Life · guided practice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B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B › TB-L05</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TB-L05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TB-L05</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23</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TB-L05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Six steps to a strong answer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TB-L05</a:t>
            </a:r>
            <a:endParaRPr lang="en-US" sz="850" dirty="0"/>
          </a:p>
        </p:txBody>
      </p:sp>
      <p:sp>
        <p:nvSpPr>
          <p:cNvPr id="15" name="Shape 12"/>
          <p:cNvSpPr/>
          <p:nvPr/>
        </p:nvSpPr>
        <p:spPr>
          <a:xfrm>
            <a:off x="457200"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552956"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142238"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14223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1: Q1 form warm-up.</a:t>
            </a:r>
            <a:endParaRPr lang="en-US" sz="1200" dirty="0"/>
          </a:p>
        </p:txBody>
      </p:sp>
      <p:sp>
        <p:nvSpPr>
          <p:cNvPr id="22" name="Text 19"/>
          <p:cNvSpPr txBox="1"/>
          <p:nvPr/>
        </p:nvSpPr>
        <p:spPr>
          <a:xfrm>
            <a:off x="548640"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الاسْتِمَارَةُ</a:t>
            </a:r>
            <a:endParaRPr lang="ar-SA" sz="1500" dirty="0"/>
          </a:p>
        </p:txBody>
      </p:sp>
      <p:sp>
        <p:nvSpPr>
          <p:cNvPr id="23" name="Shape 20"/>
          <p:cNvSpPr/>
          <p:nvPr/>
        </p:nvSpPr>
        <p:spPr>
          <a:xfrm>
            <a:off x="2357628"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467356" y="1938528"/>
            <a:ext cx="1552956" cy="566928"/>
          </a:xfrm>
          <a:prstGeom prst="roundRect">
            <a:avLst>
              <a:gd name="adj" fmla="val 9677"/>
            </a:avLst>
          </a:prstGeom>
          <a:solidFill>
            <a:srgbClr val="2F6FB0"/>
          </a:solidFill>
          <a:ln w="12700">
            <a:solidFill>
              <a:srgbClr val="2F6FB0"/>
            </a:solidFill>
            <a:prstDash val="solid"/>
          </a:ln>
        </p:spPr>
      </p:sp>
      <p:sp>
        <p:nvSpPr>
          <p:cNvPr id="25" name="Text 22"/>
          <p:cNvSpPr txBox="1"/>
          <p:nvPr/>
        </p:nvSpPr>
        <p:spPr>
          <a:xfrm>
            <a:off x="2503932"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26" name="Text 23"/>
          <p:cNvSpPr txBox="1"/>
          <p:nvPr/>
        </p:nvSpPr>
        <p:spPr>
          <a:xfrm>
            <a:off x="2503932"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27" name="Shape 24"/>
          <p:cNvSpPr/>
          <p:nvPr/>
        </p:nvSpPr>
        <p:spPr>
          <a:xfrm>
            <a:off x="3042666"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04266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485644"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2: decode the question.</a:t>
            </a:r>
            <a:endParaRPr lang="en-US" sz="1200" dirty="0"/>
          </a:p>
        </p:txBody>
      </p:sp>
      <p:sp>
        <p:nvSpPr>
          <p:cNvPr id="30" name="Text 27"/>
          <p:cNvSpPr txBox="1"/>
          <p:nvPr/>
        </p:nvSpPr>
        <p:spPr>
          <a:xfrm>
            <a:off x="2449068"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افْهَمِ السُّؤَالَ</a:t>
            </a:r>
            <a:endParaRPr lang="ar-SA" sz="1500" dirty="0"/>
          </a:p>
        </p:txBody>
      </p:sp>
      <p:sp>
        <p:nvSpPr>
          <p:cNvPr id="31" name="Shape 28"/>
          <p:cNvSpPr/>
          <p:nvPr/>
        </p:nvSpPr>
        <p:spPr>
          <a:xfrm>
            <a:off x="4258056"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367784" y="1938528"/>
            <a:ext cx="1552956"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4404360"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4404360"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35" name="Shape 32"/>
          <p:cNvSpPr/>
          <p:nvPr/>
        </p:nvSpPr>
        <p:spPr>
          <a:xfrm>
            <a:off x="4943094"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9430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4386072"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3: upgrade your sentences.</a:t>
            </a:r>
            <a:endParaRPr lang="en-US" sz="1200" dirty="0"/>
          </a:p>
        </p:txBody>
      </p:sp>
      <p:sp>
        <p:nvSpPr>
          <p:cNvPr id="38" name="Text 35"/>
          <p:cNvSpPr txBox="1"/>
          <p:nvPr/>
        </p:nvSpPr>
        <p:spPr>
          <a:xfrm>
            <a:off x="4349496"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حَسِّنْ جُمَلَكَ</a:t>
            </a:r>
            <a:endParaRPr lang="ar-SA" sz="1500" dirty="0"/>
          </a:p>
        </p:txBody>
      </p:sp>
      <p:sp>
        <p:nvSpPr>
          <p:cNvPr id="39" name="Shape 36"/>
          <p:cNvSpPr/>
          <p:nvPr/>
        </p:nvSpPr>
        <p:spPr>
          <a:xfrm>
            <a:off x="6158484"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6268212" y="1938528"/>
            <a:ext cx="1552956"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6304788"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6304788"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43" name="Shape 40"/>
          <p:cNvSpPr/>
          <p:nvPr/>
        </p:nvSpPr>
        <p:spPr>
          <a:xfrm>
            <a:off x="68435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68435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6286500"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4: write Q2, then swap with your buddy.</a:t>
            </a:r>
            <a:endParaRPr lang="en-US" sz="1200" dirty="0"/>
          </a:p>
        </p:txBody>
      </p:sp>
      <p:sp>
        <p:nvSpPr>
          <p:cNvPr id="46" name="Text 43"/>
          <p:cNvSpPr txBox="1"/>
          <p:nvPr/>
        </p:nvSpPr>
        <p:spPr>
          <a:xfrm>
            <a:off x="6249924"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8058912"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168640" y="1938528"/>
            <a:ext cx="155295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8205216"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8205216"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51" name="Shape 48"/>
          <p:cNvSpPr/>
          <p:nvPr/>
        </p:nvSpPr>
        <p:spPr>
          <a:xfrm>
            <a:off x="8743950"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874395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8186928"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5: spot and fix · buddy check.</a:t>
            </a:r>
            <a:endParaRPr lang="en-US" sz="1200" dirty="0"/>
          </a:p>
        </p:txBody>
      </p:sp>
      <p:sp>
        <p:nvSpPr>
          <p:cNvPr id="54" name="Text 51"/>
          <p:cNvSpPr txBox="1"/>
          <p:nvPr/>
        </p:nvSpPr>
        <p:spPr>
          <a:xfrm>
            <a:off x="8150352"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صَحِّحْ</a:t>
            </a:r>
            <a:endParaRPr lang="ar-SA" sz="1500" dirty="0"/>
          </a:p>
        </p:txBody>
      </p:sp>
      <p:sp>
        <p:nvSpPr>
          <p:cNvPr id="55" name="Shape 52"/>
          <p:cNvSpPr/>
          <p:nvPr/>
        </p:nvSpPr>
        <p:spPr>
          <a:xfrm>
            <a:off x="9959340"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10069068" y="1938528"/>
            <a:ext cx="1552956" cy="566928"/>
          </a:xfrm>
          <a:prstGeom prst="roundRect">
            <a:avLst>
              <a:gd name="adj" fmla="val 9677"/>
            </a:avLst>
          </a:prstGeom>
          <a:solidFill>
            <a:srgbClr val="1E6B52"/>
          </a:solidFill>
          <a:ln w="12700">
            <a:solidFill>
              <a:srgbClr val="1E6B52"/>
            </a:solidFill>
            <a:prstDash val="solid"/>
          </a:ln>
        </p:spPr>
      </p:sp>
      <p:sp>
        <p:nvSpPr>
          <p:cNvPr id="57" name="Text 54"/>
          <p:cNvSpPr txBox="1"/>
          <p:nvPr/>
        </p:nvSpPr>
        <p:spPr>
          <a:xfrm>
            <a:off x="10105644"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8" name="Text 55"/>
          <p:cNvSpPr txBox="1"/>
          <p:nvPr/>
        </p:nvSpPr>
        <p:spPr>
          <a:xfrm>
            <a:off x="10105644"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59" name="Shape 56"/>
          <p:cNvSpPr/>
          <p:nvPr/>
        </p:nvSpPr>
        <p:spPr>
          <a:xfrm>
            <a:off x="10644378"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1064437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10087356"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6: one Q3 paragraph.</a:t>
            </a:r>
            <a:endParaRPr lang="en-US" sz="1200" dirty="0"/>
          </a:p>
        </p:txBody>
      </p:sp>
      <p:sp>
        <p:nvSpPr>
          <p:cNvPr id="62" name="Text 59"/>
          <p:cNvSpPr txBox="1"/>
          <p:nvPr/>
        </p:nvSpPr>
        <p:spPr>
          <a:xfrm>
            <a:off x="10050780"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فِقْرَةٌ</a:t>
            </a:r>
            <a:endParaRPr lang="ar-SA" sz="1500" dirty="0"/>
          </a:p>
        </p:txBody>
      </p:sp>
      <p:sp>
        <p:nvSpPr>
          <p:cNvPr id="63" name="Shape 60"/>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4" name="Text 61"/>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65" name="Text 62"/>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Everyone writes their own answer. Your buddy reads it and checks it with the checklist. The models come at the very end — try first!</a:t>
            </a:r>
            <a:endParaRPr lang="en-US" sz="125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TB-L05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WRITING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alone, check together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TB-L05</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HOW IT WORKS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Rooms of two or three. Each person writes their OWN answer on their own page.</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keeps the time for each step and moves the room on.</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BUDDY — after each writing step, swap pages and check with the checklist (Step 5).</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Try every step BEFORE you look at a model. The models are at the end.</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PROCESS YOU WILL USE IN THE EXAM</a:t>
            </a:r>
            <a:endParaRPr lang="en-US" sz="1000" dirty="0"/>
          </a:p>
        </p:txBody>
      </p:sp>
      <p:sp>
        <p:nvSpPr>
          <p:cNvPr id="31" name="Text 28"/>
          <p:cNvSpPr txBox="1"/>
          <p:nvPr/>
        </p:nvSpPr>
        <p:spPr>
          <a:xfrm>
            <a:off x="6949440" y="2194560"/>
            <a:ext cx="4645152" cy="1141903"/>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افْهَمْ ← خَطِّطْ ← اكْتُبْ ← رَاجِعْ</a:t>
            </a:r>
            <a:endParaRPr lang="ar-SA" sz="2800" dirty="0"/>
          </a:p>
        </p:txBody>
      </p:sp>
      <p:sp>
        <p:nvSpPr>
          <p:cNvPr id="32" name="Text 29"/>
          <p:cNvSpPr txBox="1"/>
          <p:nvPr/>
        </p:nvSpPr>
        <p:spPr>
          <a:xfrm>
            <a:off x="6949440" y="3336463"/>
            <a:ext cx="4645152" cy="815645"/>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decode → plan → write → check</a:t>
            </a:r>
            <a:endParaRPr lang="en-US" sz="1100" dirty="0"/>
          </a:p>
        </p:txBody>
      </p:sp>
      <p:sp>
        <p:nvSpPr>
          <p:cNvPr id="33" name="Shape 30"/>
          <p:cNvSpPr/>
          <p:nvPr/>
        </p:nvSpPr>
        <p:spPr>
          <a:xfrm>
            <a:off x="6995160" y="4215384"/>
            <a:ext cx="4553712" cy="0"/>
          </a:xfrm>
          <a:prstGeom prst="line">
            <a:avLst/>
          </a:prstGeom>
          <a:noFill/>
          <a:ln w="9525">
            <a:solidFill>
              <a:srgbClr val="E4DCCB"/>
            </a:solidFill>
            <a:prstDash val="dash"/>
          </a:ln>
        </p:spPr>
      </p:sp>
      <p:sp>
        <p:nvSpPr>
          <p:cNvPr id="34" name="Text 31"/>
          <p:cNvSpPr txBox="1"/>
          <p:nvPr/>
        </p:nvSpPr>
        <p:spPr>
          <a:xfrm>
            <a:off x="6949440" y="4233672"/>
            <a:ext cx="4645152" cy="1141903"/>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نُقْطَةٌ وَاحِدَةٌ = فِقْرَةٌ وَاحِدَةٌ</a:t>
            </a:r>
            <a:endParaRPr lang="ar-SA" sz="2800" dirty="0"/>
          </a:p>
        </p:txBody>
      </p:sp>
      <p:sp>
        <p:nvSpPr>
          <p:cNvPr id="35" name="Text 32"/>
          <p:cNvSpPr txBox="1"/>
          <p:nvPr/>
        </p:nvSpPr>
        <p:spPr>
          <a:xfrm>
            <a:off x="6949440" y="5375575"/>
            <a:ext cx="4645152" cy="815645"/>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bullet point = one paragraph</a:t>
            </a:r>
            <a:endParaRPr lang="en-US" sz="11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23</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TB-L05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1 · Q1 WARM-UP · 4 MINUTES · A SHORT ANSWER IN EACH BOX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Online advert: sell an item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إِعْلَانٌ عَلَى الإِنْتَرْنِتْ: بَيْعُ غَرَضٍ</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TB-L05</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99832" y="1810512"/>
            <a:ext cx="38587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Tip</a:t>
            </a:r>
            <a:endParaRPr lang="en-US" sz="1100" dirty="0"/>
          </a:p>
        </p:txBody>
      </p:sp>
      <p:sp>
        <p:nvSpPr>
          <p:cNvPr id="17" name="Text 14"/>
          <p:cNvSpPr txBox="1"/>
          <p:nvPr/>
        </p:nvSpPr>
        <p:spPr>
          <a:xfrm>
            <a:off x="487375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to write</a:t>
            </a:r>
            <a:endParaRPr lang="en-US" sz="1100" dirty="0"/>
          </a:p>
        </p:txBody>
      </p:sp>
      <p:sp>
        <p:nvSpPr>
          <p:cNvPr id="18" name="Text 15"/>
          <p:cNvSpPr txBox="1"/>
          <p:nvPr/>
        </p:nvSpPr>
        <p:spPr>
          <a:xfrm>
            <a:off x="1033272" y="1810512"/>
            <a:ext cx="36941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7818120" y="2267712"/>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مَكْتَبٌ · ثَلَّاجَةٌ صَغِيرَةٌ</a:t>
            </a:r>
            <a:endParaRPr lang="ar-SA" sz="2000" dirty="0"/>
          </a:p>
        </p:txBody>
      </p:sp>
      <p:sp>
        <p:nvSpPr>
          <p:cNvPr id="22" name="Text 19"/>
          <p:cNvSpPr txBox="1"/>
          <p:nvPr/>
        </p:nvSpPr>
        <p:spPr>
          <a:xfrm>
            <a:off x="4910328" y="2267712"/>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 of the item</a:t>
            </a:r>
            <a:endParaRPr lang="en-US" sz="1100" dirty="0"/>
          </a:p>
        </p:txBody>
      </p:sp>
      <p:sp>
        <p:nvSpPr>
          <p:cNvPr id="23" name="Text 20"/>
          <p:cNvSpPr txBox="1"/>
          <p:nvPr/>
        </p:nvSpPr>
        <p:spPr>
          <a:xfrm>
            <a:off x="1051560" y="2267712"/>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اسْمُ الغَرَضِ</a:t>
            </a:r>
            <a:endParaRPr lang="ar-SA" sz="1700" dirty="0"/>
          </a:p>
        </p:txBody>
      </p:sp>
      <p:sp>
        <p:nvSpPr>
          <p:cNvPr id="24" name="Text 21"/>
          <p:cNvSpPr txBox="1"/>
          <p:nvPr/>
        </p:nvSpPr>
        <p:spPr>
          <a:xfrm>
            <a:off x="566928" y="226771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7836408" y="2881884"/>
            <a:ext cx="38221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Agree with the item: </a:t>
            </a:r>
            <a:pPr algn="l" indent="0" marL="0">
              <a:buNone/>
            </a:pPr>
            <a:r>
              <a:rPr lang="ar-SA" altLang="en-US" sz="1450" dirty="0">
                <a:solidFill>
                  <a:srgbClr val="5A6472"/>
                </a:solidFill>
                <a:latin typeface="Amiri" pitchFamily="2" charset="-78"/>
                <a:ea typeface="Amiri" pitchFamily="2" charset="-78"/>
                <a:cs typeface="Amiri" pitchFamily="2" charset="-78"/>
              </a:rPr>
              <a:t>مَكْتَبٌ أَبْيَضُ</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خِزَانَةٌ بَيْضَاءُ</a:t>
            </a:r>
            <a:endParaRPr lang="en-US" sz="1100" dirty="0"/>
          </a:p>
        </p:txBody>
      </p:sp>
      <p:sp>
        <p:nvSpPr>
          <p:cNvPr id="29" name="Text 26"/>
          <p:cNvSpPr txBox="1"/>
          <p:nvPr/>
        </p:nvSpPr>
        <p:spPr>
          <a:xfrm>
            <a:off x="4910328" y="2881884"/>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Colour</a:t>
            </a:r>
            <a:endParaRPr lang="en-US" sz="1100" dirty="0"/>
          </a:p>
        </p:txBody>
      </p:sp>
      <p:sp>
        <p:nvSpPr>
          <p:cNvPr id="30" name="Text 27"/>
          <p:cNvSpPr txBox="1"/>
          <p:nvPr/>
        </p:nvSpPr>
        <p:spPr>
          <a:xfrm>
            <a:off x="1051560" y="2881884"/>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اللَّوْنُ</a:t>
            </a:r>
            <a:endParaRPr lang="ar-SA" sz="1700" dirty="0"/>
          </a:p>
        </p:txBody>
      </p:sp>
      <p:sp>
        <p:nvSpPr>
          <p:cNvPr id="31" name="Text 28"/>
          <p:cNvSpPr txBox="1"/>
          <p:nvPr/>
        </p:nvSpPr>
        <p:spPr>
          <a:xfrm>
            <a:off x="566928" y="2881884"/>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5" name="Text 32"/>
          <p:cNvSpPr txBox="1"/>
          <p:nvPr/>
        </p:nvSpPr>
        <p:spPr>
          <a:xfrm>
            <a:off x="7818120" y="3496056"/>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سَنَتَانِ</a:t>
            </a:r>
            <a:endParaRPr lang="ar-SA" sz="2000" dirty="0"/>
          </a:p>
        </p:txBody>
      </p:sp>
      <p:sp>
        <p:nvSpPr>
          <p:cNvPr id="36" name="Text 33"/>
          <p:cNvSpPr txBox="1"/>
          <p:nvPr/>
        </p:nvSpPr>
        <p:spPr>
          <a:xfrm>
            <a:off x="4910328" y="3496056"/>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Age</a:t>
            </a:r>
            <a:endParaRPr lang="en-US" sz="1100" dirty="0"/>
          </a:p>
        </p:txBody>
      </p:sp>
      <p:sp>
        <p:nvSpPr>
          <p:cNvPr id="37" name="Text 34"/>
          <p:cNvSpPr txBox="1"/>
          <p:nvPr/>
        </p:nvSpPr>
        <p:spPr>
          <a:xfrm>
            <a:off x="1051560" y="3496056"/>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العُمُرُ</a:t>
            </a:r>
            <a:endParaRPr lang="ar-SA" sz="1700" dirty="0"/>
          </a:p>
        </p:txBody>
      </p:sp>
      <p:sp>
        <p:nvSpPr>
          <p:cNvPr id="38" name="Text 35"/>
          <p:cNvSpPr txBox="1"/>
          <p:nvPr/>
        </p:nvSpPr>
        <p:spPr>
          <a:xfrm>
            <a:off x="566928" y="3496056"/>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2" name="Text 39"/>
          <p:cNvSpPr txBox="1"/>
          <p:nvPr/>
        </p:nvSpPr>
        <p:spPr>
          <a:xfrm>
            <a:off x="7818120" y="4110228"/>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جَيِّدَةٌ · مِثْلُ الجَدِيدِ</a:t>
            </a:r>
            <a:endParaRPr lang="ar-SA" sz="2000" dirty="0"/>
          </a:p>
        </p:txBody>
      </p:sp>
      <p:sp>
        <p:nvSpPr>
          <p:cNvPr id="43" name="Text 40"/>
          <p:cNvSpPr txBox="1"/>
          <p:nvPr/>
        </p:nvSpPr>
        <p:spPr>
          <a:xfrm>
            <a:off x="4910328" y="4110228"/>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Condition</a:t>
            </a:r>
            <a:endParaRPr lang="en-US" sz="1100" dirty="0"/>
          </a:p>
        </p:txBody>
      </p:sp>
      <p:sp>
        <p:nvSpPr>
          <p:cNvPr id="44" name="Text 41"/>
          <p:cNvSpPr txBox="1"/>
          <p:nvPr/>
        </p:nvSpPr>
        <p:spPr>
          <a:xfrm>
            <a:off x="1051560" y="4110228"/>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الحَالَةُ</a:t>
            </a:r>
            <a:endParaRPr lang="ar-SA" sz="1700" dirty="0"/>
          </a:p>
        </p:txBody>
      </p:sp>
      <p:sp>
        <p:nvSpPr>
          <p:cNvPr id="45" name="Text 42"/>
          <p:cNvSpPr txBox="1"/>
          <p:nvPr/>
        </p:nvSpPr>
        <p:spPr>
          <a:xfrm>
            <a:off x="566928" y="4110228"/>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9" name="Text 46"/>
          <p:cNvSpPr txBox="1"/>
          <p:nvPr/>
        </p:nvSpPr>
        <p:spPr>
          <a:xfrm>
            <a:off x="7818120" y="4724400"/>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ثَلَاثُونَ جُنَيْهًا</a:t>
            </a:r>
            <a:endParaRPr lang="ar-SA" sz="2000" dirty="0"/>
          </a:p>
        </p:txBody>
      </p:sp>
      <p:sp>
        <p:nvSpPr>
          <p:cNvPr id="50" name="Text 47"/>
          <p:cNvSpPr txBox="1"/>
          <p:nvPr/>
        </p:nvSpPr>
        <p:spPr>
          <a:xfrm>
            <a:off x="4910328" y="4724400"/>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Price</a:t>
            </a:r>
            <a:endParaRPr lang="en-US" sz="1100" dirty="0"/>
          </a:p>
        </p:txBody>
      </p:sp>
      <p:sp>
        <p:nvSpPr>
          <p:cNvPr id="51" name="Text 48"/>
          <p:cNvSpPr txBox="1"/>
          <p:nvPr/>
        </p:nvSpPr>
        <p:spPr>
          <a:xfrm>
            <a:off x="1051560" y="4724400"/>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السِّعْرُ</a:t>
            </a:r>
            <a:endParaRPr lang="ar-SA" sz="1700" dirty="0"/>
          </a:p>
        </p:txBody>
      </p:sp>
      <p:sp>
        <p:nvSpPr>
          <p:cNvPr id="52" name="Text 49"/>
          <p:cNvSpPr txBox="1"/>
          <p:nvPr/>
        </p:nvSpPr>
        <p:spPr>
          <a:xfrm>
            <a:off x="566928" y="4724400"/>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3" name="Shape 50"/>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Shape 52"/>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6" name="Text 53"/>
          <p:cNvSpPr txBox="1"/>
          <p:nvPr/>
        </p:nvSpPr>
        <p:spPr>
          <a:xfrm>
            <a:off x="7818120" y="5338572"/>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أَبِيعُهُ لِأَنَّ …</a:t>
            </a:r>
            <a:endParaRPr lang="ar-SA" sz="2000" dirty="0"/>
          </a:p>
        </p:txBody>
      </p:sp>
      <p:sp>
        <p:nvSpPr>
          <p:cNvPr id="57" name="Text 54"/>
          <p:cNvSpPr txBox="1"/>
          <p:nvPr/>
        </p:nvSpPr>
        <p:spPr>
          <a:xfrm>
            <a:off x="4910328" y="5338572"/>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sentence: why are you selling it?</a:t>
            </a:r>
            <a:endParaRPr lang="en-US" sz="1100" dirty="0"/>
          </a:p>
        </p:txBody>
      </p:sp>
      <p:sp>
        <p:nvSpPr>
          <p:cNvPr id="58" name="Text 55"/>
          <p:cNvSpPr txBox="1"/>
          <p:nvPr/>
        </p:nvSpPr>
        <p:spPr>
          <a:xfrm>
            <a:off x="1051560" y="5338572"/>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جُمْلَةٌ: لِمَاذَا تَبِيعُهُ؟</a:t>
            </a:r>
            <a:endParaRPr lang="ar-SA" sz="1700" dirty="0"/>
          </a:p>
        </p:txBody>
      </p:sp>
      <p:sp>
        <p:nvSpPr>
          <p:cNvPr id="59" name="Text 56"/>
          <p:cNvSpPr txBox="1"/>
          <p:nvPr/>
        </p:nvSpPr>
        <p:spPr>
          <a:xfrm>
            <a:off x="566928" y="533857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0" name="Text 5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Write a word or a short phrase — about yourself. Buddy check: does each answer match exactly what the box asks?</a:t>
            </a:r>
            <a:endParaRPr lang="en-US" sz="11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23</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TB-L05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2 · DECODE THE QUESTION BEFORE YOU WRITE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Four moves to decode a question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افْهَمِ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TB-L05</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DECODE IN TWO MINUTES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WHAT do I write (an email, a message, a blog) and to WHOM (a friend → informal)?</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NUMBER the bullet points 1–4. Each one = one short paragraph.</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UNDERLINE the question word in each bullet and decide the TENSE it needs.</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Write ONE idea (in English or Arabic) next to each bullet. That is your plan.</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VERB IN THE BULLET TELLS YOU THE TENSE</a:t>
            </a:r>
            <a:endParaRPr lang="en-US" sz="1000" dirty="0"/>
          </a:p>
        </p:txBody>
      </p:sp>
      <p:sp>
        <p:nvSpPr>
          <p:cNvPr id="31" name="Text 28"/>
          <p:cNvSpPr txBox="1"/>
          <p:nvPr/>
        </p:nvSpPr>
        <p:spPr>
          <a:xfrm>
            <a:off x="6949440" y="2194560"/>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مَاذَا فَعَلْتَ؟ ← فَعَلْتُ (المَاضِي)</a:t>
            </a:r>
            <a:endParaRPr lang="ar-SA" sz="2650" dirty="0"/>
          </a:p>
        </p:txBody>
      </p:sp>
      <p:sp>
        <p:nvSpPr>
          <p:cNvPr id="32" name="Text 29"/>
          <p:cNvSpPr txBox="1"/>
          <p:nvPr/>
        </p:nvSpPr>
        <p:spPr>
          <a:xfrm>
            <a:off x="6949440" y="2765511"/>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what did you do? → past</a:t>
            </a:r>
            <a:endParaRPr lang="en-US" sz="1100" dirty="0"/>
          </a:p>
        </p:txBody>
      </p:sp>
      <p:sp>
        <p:nvSpPr>
          <p:cNvPr id="33" name="Shape 30"/>
          <p:cNvSpPr/>
          <p:nvPr/>
        </p:nvSpPr>
        <p:spPr>
          <a:xfrm>
            <a:off x="6995160" y="3195828"/>
            <a:ext cx="4553712" cy="0"/>
          </a:xfrm>
          <a:prstGeom prst="line">
            <a:avLst/>
          </a:prstGeom>
          <a:noFill/>
          <a:ln w="9525">
            <a:solidFill>
              <a:srgbClr val="E4DCCB"/>
            </a:solidFill>
            <a:prstDash val="dash"/>
          </a:ln>
        </p:spPr>
      </p:sp>
      <p:sp>
        <p:nvSpPr>
          <p:cNvPr id="34" name="Text 31"/>
          <p:cNvSpPr txBox="1"/>
          <p:nvPr/>
        </p:nvSpPr>
        <p:spPr>
          <a:xfrm>
            <a:off x="6949440" y="3214116"/>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مَاذَا تَفْعَلُ عَادَةً؟ ← أَفْعَلُ (الحَاضِرُ)</a:t>
            </a:r>
            <a:endParaRPr lang="ar-SA" sz="2650" dirty="0"/>
          </a:p>
        </p:txBody>
      </p:sp>
      <p:sp>
        <p:nvSpPr>
          <p:cNvPr id="35" name="Text 32"/>
          <p:cNvSpPr txBox="1"/>
          <p:nvPr/>
        </p:nvSpPr>
        <p:spPr>
          <a:xfrm>
            <a:off x="6949440" y="3785067"/>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what do you usually do? → present</a:t>
            </a:r>
            <a:endParaRPr lang="en-US" sz="1100" dirty="0"/>
          </a:p>
        </p:txBody>
      </p:sp>
      <p:sp>
        <p:nvSpPr>
          <p:cNvPr id="36" name="Shape 33"/>
          <p:cNvSpPr/>
          <p:nvPr/>
        </p:nvSpPr>
        <p:spPr>
          <a:xfrm>
            <a:off x="6995160" y="4215384"/>
            <a:ext cx="4553712" cy="0"/>
          </a:xfrm>
          <a:prstGeom prst="line">
            <a:avLst/>
          </a:prstGeom>
          <a:noFill/>
          <a:ln w="9525">
            <a:solidFill>
              <a:srgbClr val="E4DCCB"/>
            </a:solidFill>
            <a:prstDash val="dash"/>
          </a:ln>
        </p:spPr>
      </p:sp>
      <p:sp>
        <p:nvSpPr>
          <p:cNvPr id="37" name="Text 34"/>
          <p:cNvSpPr txBox="1"/>
          <p:nvPr/>
        </p:nvSpPr>
        <p:spPr>
          <a:xfrm>
            <a:off x="6949440" y="4233672"/>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مَاذَا سَتَفْعَلُ؟ ← سَأَفْعَلُ (المُسْتَقْبَلُ)</a:t>
            </a:r>
            <a:endParaRPr lang="ar-SA" sz="2650" dirty="0"/>
          </a:p>
        </p:txBody>
      </p:sp>
      <p:sp>
        <p:nvSpPr>
          <p:cNvPr id="38" name="Text 35"/>
          <p:cNvSpPr txBox="1"/>
          <p:nvPr/>
        </p:nvSpPr>
        <p:spPr>
          <a:xfrm>
            <a:off x="6949440" y="4804623"/>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what will you do? → future</a:t>
            </a:r>
            <a:endParaRPr lang="en-US" sz="1100" dirty="0"/>
          </a:p>
        </p:txBody>
      </p:sp>
      <p:sp>
        <p:nvSpPr>
          <p:cNvPr id="39" name="Shape 36"/>
          <p:cNvSpPr/>
          <p:nvPr/>
        </p:nvSpPr>
        <p:spPr>
          <a:xfrm>
            <a:off x="6995160" y="5234940"/>
            <a:ext cx="4553712" cy="0"/>
          </a:xfrm>
          <a:prstGeom prst="line">
            <a:avLst/>
          </a:prstGeom>
          <a:noFill/>
          <a:ln w="9525">
            <a:solidFill>
              <a:srgbClr val="E4DCCB"/>
            </a:solidFill>
            <a:prstDash val="dash"/>
          </a:ln>
        </p:spPr>
      </p:sp>
      <p:sp>
        <p:nvSpPr>
          <p:cNvPr id="40" name="Text 37"/>
          <p:cNvSpPr txBox="1"/>
          <p:nvPr/>
        </p:nvSpPr>
        <p:spPr>
          <a:xfrm>
            <a:off x="6949440" y="5253228"/>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 رَأْيُكَ؟ ← فِي رَأْيِي … لِأَنَّ …</a:t>
            </a:r>
            <a:endParaRPr lang="ar-SA" sz="2650" dirty="0"/>
          </a:p>
        </p:txBody>
      </p:sp>
      <p:sp>
        <p:nvSpPr>
          <p:cNvPr id="41" name="Text 38"/>
          <p:cNvSpPr txBox="1"/>
          <p:nvPr/>
        </p:nvSpPr>
        <p:spPr>
          <a:xfrm>
            <a:off x="6949440" y="5824179"/>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opinion? → in my opinion … because …</a:t>
            </a:r>
            <a:endParaRPr lang="en-US" sz="11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23</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TB-L05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2 · TODAY’S QUESTION 2 · ABOUT 80–90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2: changing my bedroom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غَيَّرْتُ غُرْفَتِي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TB-L05</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06524"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0652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Q2 · DIRECTED WRITING</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You have just redecorated your bedroom. Write an email in Arabic to your friend of about 80–90 words. You must include: • what your room was like before • the new furniture and colours, and where things are • which piece you like most, and why • what you did with the old furniture.</a:t>
            </a:r>
            <a:endParaRPr lang="en-US" sz="11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four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greeting and a closing.</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right tense for each bullet.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reason with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About 80–90 words.</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كَانَتْ غُرْفَتِي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my room was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الآنَ يُوجَدُ … بِجَانِبِ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now there is … next to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أَكْثَرُ شَيْءٍ أُحِبُّهُ هُوَ … الَّذِي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what I like most is the … that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أَعْطَيْنَا الأَثَاثَ القَدِيمَ لِجَمْعِيَّةٍ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gave the old furniture to a charity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23</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TB-L05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2 · YOUR TURN · DECODE EACH BULLET (IN YOUR BOOK)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Decode it: question word · tense · my idea</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حَلِّلِ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TB-L05</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97112" y="1810512"/>
            <a:ext cx="2761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My idea</a:t>
            </a:r>
            <a:endParaRPr lang="en-US" sz="1100" dirty="0"/>
          </a:p>
        </p:txBody>
      </p:sp>
      <p:sp>
        <p:nvSpPr>
          <p:cNvPr id="17" name="Text 14"/>
          <p:cNvSpPr txBox="1"/>
          <p:nvPr/>
        </p:nvSpPr>
        <p:spPr>
          <a:xfrm>
            <a:off x="615391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 word + tense</a:t>
            </a:r>
            <a:endParaRPr lang="en-US" sz="1100" dirty="0"/>
          </a:p>
        </p:txBody>
      </p:sp>
      <p:sp>
        <p:nvSpPr>
          <p:cNvPr id="18" name="Text 15"/>
          <p:cNvSpPr txBox="1"/>
          <p:nvPr/>
        </p:nvSpPr>
        <p:spPr>
          <a:xfrm>
            <a:off x="1033272" y="1810512"/>
            <a:ext cx="49743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bullet in Arabic</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933688" y="2267712"/>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2" name="Text 19"/>
          <p:cNvSpPr txBox="1"/>
          <p:nvPr/>
        </p:nvSpPr>
        <p:spPr>
          <a:xfrm>
            <a:off x="6190488" y="2267712"/>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3" name="Text 20"/>
          <p:cNvSpPr txBox="1"/>
          <p:nvPr/>
        </p:nvSpPr>
        <p:spPr>
          <a:xfrm>
            <a:off x="1051560" y="2267712"/>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اكْتُبْ رِسَالَةً إِلَى صَدِيقِكَ عَنْ غُرْفَتِكَ الجَدِيدَةِ (٨٠–٩٠ كَلِمَةً).</a:t>
            </a:r>
            <a:endParaRPr lang="ar-SA" sz="17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933688" y="3004718"/>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9" name="Text 26"/>
          <p:cNvSpPr txBox="1"/>
          <p:nvPr/>
        </p:nvSpPr>
        <p:spPr>
          <a:xfrm>
            <a:off x="6190488" y="300471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0" name="Text 27"/>
          <p:cNvSpPr txBox="1"/>
          <p:nvPr/>
        </p:nvSpPr>
        <p:spPr>
          <a:xfrm>
            <a:off x="1051560" y="3004718"/>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كَانَتْ غُرْفَتُكَ قَبْلَ ذٰلِكَ؟</a:t>
            </a:r>
            <a:endParaRPr lang="ar-SA" sz="1700" dirty="0"/>
          </a:p>
        </p:txBody>
      </p:sp>
      <p:sp>
        <p:nvSpPr>
          <p:cNvPr id="31" name="Text 28"/>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933688" y="3741725"/>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6190488" y="3741725"/>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7" name="Text 34"/>
          <p:cNvSpPr txBox="1"/>
          <p:nvPr/>
        </p:nvSpPr>
        <p:spPr>
          <a:xfrm>
            <a:off x="1051560" y="3741725"/>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صِفِ الأَثَاثَ الجَدِيدَ وَالأَلْوَانَ وَأَمَاكِنَ الأَشْيَاءِ.</a:t>
            </a:r>
            <a:endParaRPr lang="ar-SA" sz="1700" dirty="0"/>
          </a:p>
        </p:txBody>
      </p:sp>
      <p:sp>
        <p:nvSpPr>
          <p:cNvPr id="38" name="Text 35"/>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933688" y="4478731"/>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6190488" y="4478731"/>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2" name="Text 39"/>
          <p:cNvSpPr txBox="1"/>
          <p:nvPr/>
        </p:nvSpPr>
        <p:spPr>
          <a:xfrm>
            <a:off x="1051560" y="4478731"/>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القِطْعَةُ الَّتِي تُحِبُّهَا أَكْثَرَ؟ وَلِمَاذَا؟</a:t>
            </a:r>
            <a:endParaRPr lang="ar-SA" sz="1700" dirty="0"/>
          </a:p>
        </p:txBody>
      </p:sp>
      <p:sp>
        <p:nvSpPr>
          <p:cNvPr id="43" name="Text 40"/>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933688" y="5215738"/>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6" name="Text 43"/>
          <p:cNvSpPr txBox="1"/>
          <p:nvPr/>
        </p:nvSpPr>
        <p:spPr>
          <a:xfrm>
            <a:off x="6190488" y="521573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7" name="Text 44"/>
          <p:cNvSpPr txBox="1"/>
          <p:nvPr/>
        </p:nvSpPr>
        <p:spPr>
          <a:xfrm>
            <a:off x="1051560" y="5215738"/>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فَعَلْتَ بِالأَثَاثِ القَدِيمِ؟</a:t>
            </a:r>
            <a:endParaRPr lang="ar-SA" sz="1700" dirty="0"/>
          </a:p>
        </p:txBody>
      </p:sp>
      <p:sp>
        <p:nvSpPr>
          <p:cNvPr id="48" name="Text 45"/>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Copy the two empty columns into your book and fill them in. Then check with your buddy on the next slide.</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23</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TB-L05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2 · CHECK YOUR DECODING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Decoded: what each bullet needs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تَحَقَّقْ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TB-L05</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14232" y="1810512"/>
            <a:ext cx="2944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560527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 word + tense</a:t>
            </a:r>
            <a:endParaRPr lang="en-US" sz="1100" dirty="0"/>
          </a:p>
        </p:txBody>
      </p:sp>
      <p:sp>
        <p:nvSpPr>
          <p:cNvPr id="18" name="Text 15"/>
          <p:cNvSpPr txBox="1"/>
          <p:nvPr/>
        </p:nvSpPr>
        <p:spPr>
          <a:xfrm>
            <a:off x="103327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bullet in Arabic</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50808" y="2267712"/>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Write to your friend about your new-look room (80–90 words).</a:t>
            </a:r>
            <a:endParaRPr lang="en-US" sz="1100" dirty="0"/>
          </a:p>
        </p:txBody>
      </p:sp>
      <p:sp>
        <p:nvSpPr>
          <p:cNvPr id="22" name="Text 19"/>
          <p:cNvSpPr txBox="1"/>
          <p:nvPr/>
        </p:nvSpPr>
        <p:spPr>
          <a:xfrm>
            <a:off x="5641848" y="2267712"/>
            <a:ext cx="29260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 email to a FRIEND → informal greeting and closing</a:t>
            </a:r>
            <a:endParaRPr lang="en-US" sz="1100" dirty="0"/>
          </a:p>
        </p:txBody>
      </p:sp>
      <p:sp>
        <p:nvSpPr>
          <p:cNvPr id="23" name="Text 20"/>
          <p:cNvSpPr txBox="1"/>
          <p:nvPr/>
        </p:nvSpPr>
        <p:spPr>
          <a:xfrm>
            <a:off x="1051560" y="2267712"/>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اكْتُبْ رِسَالَةً إِلَى صَدِيقِكَ عَنْ غُرْفَتِكَ الجَدِيدَةِ (٨٠–٩٠ كَلِمَةً).</a:t>
            </a:r>
            <a:endParaRPr lang="ar-SA" sz="16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8750808" y="3004718"/>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your room was like before</a:t>
            </a:r>
            <a:endParaRPr lang="en-US" sz="1100" dirty="0"/>
          </a:p>
        </p:txBody>
      </p:sp>
      <p:sp>
        <p:nvSpPr>
          <p:cNvPr id="27" name="Text 24"/>
          <p:cNvSpPr txBox="1"/>
          <p:nvPr/>
        </p:nvSpPr>
        <p:spPr>
          <a:xfrm>
            <a:off x="5641848" y="3004718"/>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كَيْفَ كَانَتْ</a:t>
            </a:r>
            <a:pPr algn="l" indent="0" marL="0">
              <a:buNone/>
            </a:pPr>
            <a:r>
              <a:rPr lang="en-US" sz="1100" dirty="0">
                <a:solidFill>
                  <a:srgbClr val="5A6472"/>
                </a:solidFill>
                <a:latin typeface="Calibri" pitchFamily="34" charset="0"/>
                <a:cs typeface="Amiri" pitchFamily="2" charset="-78"/>
              </a:rPr>
              <a:t> → PAST description (</a:t>
            </a:r>
            <a:pPr algn="l" indent="0" marL="0">
              <a:buNone/>
            </a:pPr>
            <a:r>
              <a:rPr lang="ar-SA" altLang="en-US" sz="1450" dirty="0">
                <a:solidFill>
                  <a:srgbClr val="5A6472"/>
                </a:solidFill>
                <a:latin typeface="Amiri" pitchFamily="2" charset="-78"/>
                <a:ea typeface="Amiri" pitchFamily="2" charset="-78"/>
                <a:cs typeface="Amiri" pitchFamily="2" charset="-78"/>
              </a:rPr>
              <a:t>كَانَتْ</a:t>
            </a:r>
            <a:pPr algn="l" indent="0" marL="0">
              <a:buNone/>
            </a:pPr>
            <a:r>
              <a:rPr lang="en-US" sz="1100" dirty="0">
                <a:solidFill>
                  <a:srgbClr val="5A6472"/>
                </a:solidFill>
                <a:latin typeface="Calibri" pitchFamily="34" charset="0"/>
                <a:cs typeface="Amiri" pitchFamily="2" charset="-78"/>
              </a:rPr>
              <a:t> + adjective)</a:t>
            </a:r>
            <a:endParaRPr lang="en-US" sz="1100" dirty="0"/>
          </a:p>
        </p:txBody>
      </p:sp>
      <p:sp>
        <p:nvSpPr>
          <p:cNvPr id="28" name="Text 25"/>
          <p:cNvSpPr txBox="1"/>
          <p:nvPr/>
        </p:nvSpPr>
        <p:spPr>
          <a:xfrm>
            <a:off x="1051560" y="3004718"/>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كَانَتْ غُرْفَتُكَ قَبْلَ ذٰلِكَ؟</a:t>
            </a:r>
            <a:endParaRPr lang="ar-SA" sz="1600" dirty="0"/>
          </a:p>
        </p:txBody>
      </p:sp>
      <p:sp>
        <p:nvSpPr>
          <p:cNvPr id="29" name="Text 26"/>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30" name="Shape 27"/>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1" name="Text 28"/>
          <p:cNvSpPr txBox="1"/>
          <p:nvPr/>
        </p:nvSpPr>
        <p:spPr>
          <a:xfrm>
            <a:off x="8750808" y="3741725"/>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New furniture, colours, where things are</a:t>
            </a:r>
            <a:endParaRPr lang="en-US" sz="1100" dirty="0"/>
          </a:p>
        </p:txBody>
      </p:sp>
      <p:sp>
        <p:nvSpPr>
          <p:cNvPr id="32" name="Text 29"/>
          <p:cNvSpPr txBox="1"/>
          <p:nvPr/>
        </p:nvSpPr>
        <p:spPr>
          <a:xfrm>
            <a:off x="5641848" y="3741725"/>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صِفْ</a:t>
            </a:r>
            <a:pPr algn="l" indent="0" marL="0">
              <a:buNone/>
            </a:pPr>
            <a:r>
              <a:rPr lang="en-US" sz="1100" dirty="0">
                <a:solidFill>
                  <a:srgbClr val="5A6472"/>
                </a:solidFill>
                <a:latin typeface="Calibri" pitchFamily="34" charset="0"/>
                <a:cs typeface="Amiri" pitchFamily="2" charset="-78"/>
              </a:rPr>
              <a:t> → PRESENT: </a:t>
            </a:r>
            <a:pPr algn="l" indent="0" marL="0">
              <a:buNone/>
            </a:pPr>
            <a:r>
              <a:rPr lang="ar-SA" altLang="en-US" sz="1450" dirty="0">
                <a:solidFill>
                  <a:srgbClr val="5A6472"/>
                </a:solidFill>
                <a:latin typeface="Amiri" pitchFamily="2" charset="-78"/>
                <a:ea typeface="Amiri" pitchFamily="2" charset="-78"/>
                <a:cs typeface="Amiri" pitchFamily="2" charset="-78"/>
              </a:rPr>
              <a:t>يُوجَدُ / تُوجَدُ</a:t>
            </a:r>
            <a:pPr algn="l" indent="0" marL="0">
              <a:buNone/>
            </a:pPr>
            <a:r>
              <a:rPr lang="en-US" sz="1100" dirty="0">
                <a:solidFill>
                  <a:srgbClr val="5A6472"/>
                </a:solidFill>
                <a:latin typeface="Calibri" pitchFamily="34" charset="0"/>
                <a:cs typeface="Amiri" pitchFamily="2" charset="-78"/>
              </a:rPr>
              <a:t> + colours + prepositions</a:t>
            </a:r>
            <a:endParaRPr lang="en-US" sz="1100" dirty="0"/>
          </a:p>
        </p:txBody>
      </p:sp>
      <p:sp>
        <p:nvSpPr>
          <p:cNvPr id="33" name="Text 30"/>
          <p:cNvSpPr txBox="1"/>
          <p:nvPr/>
        </p:nvSpPr>
        <p:spPr>
          <a:xfrm>
            <a:off x="1051560" y="3741725"/>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صِفِ الأَثَاثَ الجَدِيدَ وَالأَلْوَانَ وَأَمَاكِنَ الأَشْيَاءِ.</a:t>
            </a:r>
            <a:endParaRPr lang="ar-SA" sz="1600" dirty="0"/>
          </a:p>
        </p:txBody>
      </p:sp>
      <p:sp>
        <p:nvSpPr>
          <p:cNvPr id="34" name="Text 31"/>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8750808" y="4478731"/>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favourite piece, and why</a:t>
            </a:r>
            <a:endParaRPr lang="en-US" sz="1100" dirty="0"/>
          </a:p>
        </p:txBody>
      </p:sp>
      <p:sp>
        <p:nvSpPr>
          <p:cNvPr id="37" name="Text 34"/>
          <p:cNvSpPr txBox="1"/>
          <p:nvPr/>
        </p:nvSpPr>
        <p:spPr>
          <a:xfrm>
            <a:off x="5641848" y="4478731"/>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مَا … الَّتِي … وَلِمَاذَا</a:t>
            </a:r>
            <a:pPr algn="l" indent="0" marL="0">
              <a:buNone/>
            </a:pPr>
            <a:r>
              <a:rPr lang="en-US" sz="1100" dirty="0">
                <a:solidFill>
                  <a:srgbClr val="5A6472"/>
                </a:solidFill>
                <a:latin typeface="Calibri" pitchFamily="34" charset="0"/>
                <a:cs typeface="Amiri" pitchFamily="2" charset="-78"/>
              </a:rPr>
              <a:t> → a relative clause + a reason</a:t>
            </a:r>
            <a:endParaRPr lang="en-US" sz="1100" dirty="0"/>
          </a:p>
        </p:txBody>
      </p:sp>
      <p:sp>
        <p:nvSpPr>
          <p:cNvPr id="38" name="Text 35"/>
          <p:cNvSpPr txBox="1"/>
          <p:nvPr/>
        </p:nvSpPr>
        <p:spPr>
          <a:xfrm>
            <a:off x="1051560" y="4478731"/>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القِطْعَةُ الَّتِي تُحِبُّهَا أَكْثَرَ؟ وَلِمَاذَا؟</a:t>
            </a:r>
            <a:endParaRPr lang="ar-SA" sz="1600" dirty="0"/>
          </a:p>
        </p:txBody>
      </p:sp>
      <p:sp>
        <p:nvSpPr>
          <p:cNvPr id="39" name="Text 36"/>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0" name="Shape 37"/>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1" name="Text 38"/>
          <p:cNvSpPr txBox="1"/>
          <p:nvPr/>
        </p:nvSpPr>
        <p:spPr>
          <a:xfrm>
            <a:off x="8750808" y="5215738"/>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you did with the old furniture</a:t>
            </a:r>
            <a:endParaRPr lang="en-US" sz="1100" dirty="0"/>
          </a:p>
        </p:txBody>
      </p:sp>
      <p:sp>
        <p:nvSpPr>
          <p:cNvPr id="42" name="Text 39"/>
          <p:cNvSpPr txBox="1"/>
          <p:nvPr/>
        </p:nvSpPr>
        <p:spPr>
          <a:xfrm>
            <a:off x="5641848" y="5215738"/>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مَاذَا فَعَلْتَ</a:t>
            </a:r>
            <a:pPr algn="l" indent="0" marL="0">
              <a:buNone/>
            </a:pPr>
            <a:r>
              <a:rPr lang="en-US" sz="1100" dirty="0">
                <a:solidFill>
                  <a:srgbClr val="5A6472"/>
                </a:solidFill>
                <a:latin typeface="Calibri" pitchFamily="34" charset="0"/>
                <a:cs typeface="Amiri" pitchFamily="2" charset="-78"/>
              </a:rPr>
              <a:t> → PAST</a:t>
            </a:r>
            <a:endParaRPr lang="en-US" sz="1100" dirty="0"/>
          </a:p>
        </p:txBody>
      </p:sp>
      <p:sp>
        <p:nvSpPr>
          <p:cNvPr id="43" name="Text 40"/>
          <p:cNvSpPr txBox="1"/>
          <p:nvPr/>
        </p:nvSpPr>
        <p:spPr>
          <a:xfrm>
            <a:off x="1051560" y="5215738"/>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فَعَلْتَ بِالأَثَاثِ القَدِيمِ؟</a:t>
            </a:r>
            <a:endParaRPr lang="ar-SA" sz="1600" dirty="0"/>
          </a:p>
        </p:txBody>
      </p:sp>
      <p:sp>
        <p:nvSpPr>
          <p:cNvPr id="44" name="Text 41"/>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5" name="Text 4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get the tense right for every bullet? Fix your plan before you write.</a:t>
            </a:r>
            <a:endParaRPr lang="en-US" sz="11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23</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TB-L05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3 · UPGRADE A SENTENCE · WATCH IT GROW</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From a simple sentence to a strong one</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حَسِّنِ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TB-L05</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عِنْدِي مَكْتَبٌ.</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Simple</a:t>
            </a:r>
            <a:endParaRPr lang="en-US" sz="1250" dirty="0"/>
          </a:p>
          <a:p>
            <a:pPr indent="0" marL="0">
              <a:buNone/>
            </a:pPr>
            <a:r>
              <a:rPr lang="en-US" sz="1050" i="1" dirty="0">
                <a:solidFill>
                  <a:srgbClr val="8A6D1E"/>
                </a:solidFill>
                <a:latin typeface="Calibri" pitchFamily="34" charset="0"/>
                <a:cs typeface="Amiri" pitchFamily="2" charset="-78"/>
              </a:rPr>
              <a:t>I have a desk.</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عِنْدِي مَكْتَبٌ خَشَبِيٌّ بُنِّيٌّ تَحْتَ النَّافِذَةِ فِي غُرْفَتِي.</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 detail (time, frequency, how much)</a:t>
            </a:r>
            <a:endParaRPr lang="en-US" sz="1250" dirty="0"/>
          </a:p>
          <a:p>
            <a:pPr indent="0" marL="0">
              <a:buNone/>
            </a:pPr>
            <a:r>
              <a:rPr lang="en-US" sz="1050" i="1" dirty="0">
                <a:solidFill>
                  <a:srgbClr val="8A6D1E"/>
                </a:solidFill>
                <a:latin typeface="Calibri" pitchFamily="34" charset="0"/>
                <a:cs typeface="Amiri" pitchFamily="2" charset="-78"/>
              </a:rPr>
              <a:t>… a brown wooden desk under the window in my room.</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lnSpc>
                <a:spcPct val="120000"/>
              </a:lnSpc>
              <a:buNone/>
            </a:pPr>
            <a:r>
              <a:rPr lang="ar-SA" altLang="en-US" sz="2000" b="1" dirty="0">
                <a:solidFill>
                  <a:srgbClr val="1B3B6F"/>
                </a:solidFill>
                <a:latin typeface="Amiri" pitchFamily="2" charset="-78"/>
                <a:ea typeface="Amiri" pitchFamily="2" charset="-78"/>
                <a:cs typeface="Amiri" pitchFamily="2" charset="-78"/>
              </a:rPr>
              <a:t>عِنْدِي مَكْتَبٌ خَشَبِيٌّ تَحْتَ النَّافِذَةِ، أَسْتَعْمِلُهُ لِلدِّرَاسَةِ لِأَنَّ الضَّوْءَ هُنَاكَ جَيِّدٌ.</a:t>
            </a:r>
            <a:endParaRPr lang="ar-SA" sz="20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 a reason</a:t>
            </a:r>
            <a:endParaRPr lang="en-US" sz="1250" dirty="0"/>
          </a:p>
          <a:p>
            <a:pPr indent="0" marL="0">
              <a:buNone/>
            </a:pPr>
            <a:r>
              <a:rPr lang="en-US" sz="1050" i="1" dirty="0">
                <a:solidFill>
                  <a:srgbClr val="8A6D1E"/>
                </a:solidFill>
                <a:latin typeface="Calibri" pitchFamily="34" charset="0"/>
                <a:cs typeface="Amiri" pitchFamily="2" charset="-78"/>
              </a:rPr>
              <a:t>… I use it for studying because the light there is good.</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 وَهُوَ المَكْتَبُ الَّذِي كَانَ لِأَبِي عِنْدَمَا كَانَ طَالِبًا، لِذٰلِكَ أُحِبُّهُ كَثِيرًا.</a:t>
            </a:r>
            <a:endParaRPr lang="ar-SA" sz="21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 an opinion or a contrast</a:t>
            </a:r>
            <a:endParaRPr lang="en-US" sz="1250" dirty="0"/>
          </a:p>
          <a:p>
            <a:pPr indent="0" marL="0">
              <a:buNone/>
            </a:pPr>
            <a:r>
              <a:rPr lang="en-US" sz="1050" i="1" dirty="0">
                <a:solidFill>
                  <a:srgbClr val="8A6D1E"/>
                </a:solidFill>
                <a:latin typeface="Calibri" pitchFamily="34" charset="0"/>
                <a:cs typeface="Amiri" pitchFamily="2" charset="-78"/>
              </a:rPr>
              <a:t>… it is the desk that belonged to my dad when he was a student — so I love it.</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23</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TB-L05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3 · YOUR TURN · BUILD THREE STRONG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Sentence builder: choose A or B in each column</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TB-L05</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We use the oven for cooking.</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نَسْتَعْمِلُ</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يَسْتَعْمِلُ</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الفُرْنَ</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الفُرْنُ</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لِلطَّبْخِ</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الطَّبْخِ</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 wardrobe that is in my room is white.</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الخِزَانَةُ الَّتِي</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الخِزَانَةُ الَّذِي</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غُرْفَتِي</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غُرْفَتُهَا</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بَيْضَاءُ</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أَبْيَضُ</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 fridge is broken, so we will buy a new one.</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الثَّلَّاجَةُ مُعَطَّلَةٌ</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الثَّلَّاجَةُ مُعَطَّلٌ</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لِذٰلِكَ سَنَشْتَرِي</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لِأَنَّ سَنَشْتَرِي</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وَاحِدَةً جَدِيدَةً</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وَاحِدًا جَدِيدًا</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23</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TB-L05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3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TB-L05</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We use the oven for cooking.</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 </a:t>
            </a:r>
            <a:pPr algn="l" indent="0" marL="0">
              <a:buNone/>
            </a:pPr>
            <a:r>
              <a:rPr lang="ar-SA" altLang="en-US" sz="1350" dirty="0">
                <a:solidFill>
                  <a:srgbClr val="5A6472"/>
                </a:solidFill>
                <a:latin typeface="Amiri" pitchFamily="2" charset="-78"/>
                <a:ea typeface="Amiri" pitchFamily="2" charset="-78"/>
                <a:cs typeface="Amiri" pitchFamily="2" charset="-78"/>
              </a:rPr>
              <a:t>نَسْتَعْمِلُ</a:t>
            </a:r>
            <a:pPr algn="l" indent="0" marL="0">
              <a:buNone/>
            </a:pPr>
            <a:r>
              <a:rPr lang="en-US" sz="1050" i="1" dirty="0">
                <a:solidFill>
                  <a:srgbClr val="5A6472"/>
                </a:solidFill>
                <a:latin typeface="Calibri" pitchFamily="34" charset="0"/>
                <a:cs typeface="Amiri" pitchFamily="2" charset="-78"/>
              </a:rPr>
              <a:t>; the object → </a:t>
            </a:r>
            <a:pPr algn="l" indent="0" marL="0">
              <a:buNone/>
            </a:pPr>
            <a:r>
              <a:rPr lang="ar-SA" altLang="en-US" sz="1350" dirty="0">
                <a:solidFill>
                  <a:srgbClr val="5A6472"/>
                </a:solidFill>
                <a:latin typeface="Amiri" pitchFamily="2" charset="-78"/>
                <a:ea typeface="Amiri" pitchFamily="2" charset="-78"/>
                <a:cs typeface="Amiri" pitchFamily="2" charset="-78"/>
              </a:rPr>
              <a:t>الفُرْنَ</a:t>
            </a:r>
            <a:pPr algn="l" indent="0" marL="0">
              <a:buNone/>
            </a:pPr>
            <a:r>
              <a:rPr lang="en-US" sz="1050" i="1" dirty="0">
                <a:solidFill>
                  <a:srgbClr val="5A6472"/>
                </a:solidFill>
                <a:latin typeface="Calibri" pitchFamily="34" charset="0"/>
                <a:cs typeface="Amiri" pitchFamily="2" charset="-78"/>
              </a:rPr>
              <a:t>; “for” = li-: </a:t>
            </a:r>
            <a:pPr algn="l" indent="0" marL="0">
              <a:buNone/>
            </a:pPr>
            <a:r>
              <a:rPr lang="ar-SA" altLang="en-US" sz="1350" dirty="0">
                <a:solidFill>
                  <a:srgbClr val="5A6472"/>
                </a:solidFill>
                <a:latin typeface="Amiri" pitchFamily="2" charset="-78"/>
                <a:ea typeface="Amiri" pitchFamily="2" charset="-78"/>
                <a:cs typeface="Amiri" pitchFamily="2" charset="-78"/>
              </a:rPr>
              <a:t>لِلطَّبْخِ</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نَسْتَعْمِلُ الفُرْنَ لِلطَّبْخِ</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 wardrobe that is in my room is white.</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خِزَانَة</a:t>
            </a:r>
            <a:pPr algn="l" indent="0" marL="0">
              <a:buNone/>
            </a:pPr>
            <a:r>
              <a:rPr lang="en-US" sz="1050" i="1" dirty="0">
                <a:solidFill>
                  <a:srgbClr val="5A6472"/>
                </a:solidFill>
                <a:latin typeface="Calibri" pitchFamily="34" charset="0"/>
                <a:cs typeface="Amiri" pitchFamily="2" charset="-78"/>
              </a:rPr>
              <a:t> is feminine → </a:t>
            </a:r>
            <a:pPr algn="l" indent="0" marL="0">
              <a:buNone/>
            </a:pPr>
            <a:r>
              <a:rPr lang="ar-SA" altLang="en-US" sz="1350" dirty="0">
                <a:solidFill>
                  <a:srgbClr val="5A6472"/>
                </a:solidFill>
                <a:latin typeface="Amiri" pitchFamily="2" charset="-78"/>
                <a:ea typeface="Amiri" pitchFamily="2" charset="-78"/>
                <a:cs typeface="Amiri" pitchFamily="2" charset="-78"/>
              </a:rPr>
              <a:t>الَّتِي</a:t>
            </a:r>
            <a:pPr algn="l" indent="0" marL="0">
              <a:buNone/>
            </a:pPr>
            <a:r>
              <a:rPr lang="en-US" sz="1050" i="1" dirty="0">
                <a:solidFill>
                  <a:srgbClr val="5A6472"/>
                </a:solidFill>
                <a:latin typeface="Calibri" pitchFamily="34" charset="0"/>
                <a:cs typeface="Amiri" pitchFamily="2" charset="-78"/>
              </a:rPr>
              <a:t> and </a:t>
            </a:r>
            <a:pPr algn="l" indent="0" marL="0">
              <a:buNone/>
            </a:pPr>
            <a:r>
              <a:rPr lang="ar-SA" altLang="en-US" sz="1350" dirty="0">
                <a:solidFill>
                  <a:srgbClr val="5A6472"/>
                </a:solidFill>
                <a:latin typeface="Amiri" pitchFamily="2" charset="-78"/>
                <a:ea typeface="Amiri" pitchFamily="2" charset="-78"/>
                <a:cs typeface="Amiri" pitchFamily="2" charset="-78"/>
              </a:rPr>
              <a:t>بَيْضَاءُ</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الخِزَانَةُ الَّتِي فِي غُرْفَتِي بَيْضَاءُ</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 fridge is broken, so we will buy a new one.</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Feminine noun → </a:t>
            </a:r>
            <a:pPr algn="l" indent="0" marL="0">
              <a:buNone/>
            </a:pPr>
            <a:r>
              <a:rPr lang="ar-SA" altLang="en-US" sz="1350" dirty="0">
                <a:solidFill>
                  <a:srgbClr val="5A6472"/>
                </a:solidFill>
                <a:latin typeface="Amiri" pitchFamily="2" charset="-78"/>
                <a:ea typeface="Amiri" pitchFamily="2" charset="-78"/>
                <a:cs typeface="Amiri" pitchFamily="2" charset="-78"/>
              </a:rPr>
              <a:t>مُعَطَّلَةٌ … وَاحِدَةً جَدِيدَةً</a:t>
            </a:r>
            <a:pPr algn="l" indent="0" marL="0">
              <a:buNone/>
            </a:pPr>
            <a:r>
              <a:rPr lang="en-US" sz="1050" i="1" dirty="0">
                <a:solidFill>
                  <a:srgbClr val="5A6472"/>
                </a:solidFill>
                <a:latin typeface="Calibri" pitchFamily="34" charset="0"/>
                <a:cs typeface="Amiri" pitchFamily="2" charset="-78"/>
              </a:rPr>
              <a:t>; so = </a:t>
            </a:r>
            <a:pPr algn="l" indent="0" marL="0">
              <a:buNone/>
            </a:pPr>
            <a:r>
              <a:rPr lang="ar-SA" altLang="en-US" sz="1350" dirty="0">
                <a:solidFill>
                  <a:srgbClr val="5A6472"/>
                </a:solidFill>
                <a:latin typeface="Amiri" pitchFamily="2" charset="-78"/>
                <a:ea typeface="Amiri" pitchFamily="2" charset="-78"/>
                <a:cs typeface="Amiri" pitchFamily="2" charset="-78"/>
              </a:rPr>
              <a:t>لِذٰلِكَ</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الثَّلَّاجَةُ مُعَطَّلَةٌ لِذٰلِكَ سَنَشْتَرِي وَاحِدَةً جَدِيدَةً</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23</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TB-L05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4 · WRITE QUESTION 2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frames for Question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TB-L05</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650" b="1" dirty="0">
                <a:solidFill>
                  <a:srgbClr val="1B3B6F"/>
                </a:solidFill>
                <a:latin typeface="Amiri" pitchFamily="2" charset="-78"/>
                <a:ea typeface="Amiri" pitchFamily="2" charset="-78"/>
                <a:cs typeface="Amiri" pitchFamily="2" charset="-78"/>
              </a:rPr>
              <a:t>كَانَتْ غُرْفَتِي مُظْلِمَةً، وَكَانَ فِيهَا ______ قَدِيمٌ.</a:t>
            </a:r>
            <a:endParaRPr lang="ar-SA" sz="165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1 · My room was dark, and it had an old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اشْتَرَيْنَا ______ ، وَوَضَعْنَاهُ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2 · We bought …, and put it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أَكْثَرُ شَيْءٍ أُحِبُّهُ هُوَ ______ الَّذِي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3 · What I like most is the … that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بِعْنَا ______ عَلَى الإِنْتَرْنِتْ، وَ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4 · We sold … online, and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مَرْحَبًا يَا ______ ، كَيْفَ حَالُكَ؟</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Hello …, how are you?</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كَانَتْ غُرْفَتِي ______ وَ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1 · My room was … and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الآنَ يُوجَدُ فِيهَا ______ ، وَالجُدْرَانُ ______ .</a:t>
            </a:r>
            <a:endParaRPr lang="ar-SA" sz="16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2 · Now it has …, and the walls are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أُحِبُّ ______ أَكْثَرَ، لِأَنَّ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3 · I like … most, because …</a:t>
            </a:r>
            <a:endParaRPr lang="en-US" sz="1050" dirty="0"/>
          </a:p>
        </p:txBody>
      </p:sp>
      <p:sp>
        <p:nvSpPr>
          <p:cNvPr id="37" name="Text 34"/>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أَعْطَيْنَا الأَثَاثَ القَدِيمَ إِلَى ______ .</a:t>
            </a:r>
            <a:endParaRPr lang="ar-SA" sz="1800" dirty="0"/>
          </a:p>
        </p:txBody>
      </p:sp>
      <p:sp>
        <p:nvSpPr>
          <p:cNvPr id="38" name="Text 35"/>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4 · We gave the old furniture to …</a:t>
            </a:r>
            <a:endParaRPr lang="en-US" sz="1050" dirty="0"/>
          </a:p>
        </p:txBody>
      </p:sp>
      <p:sp>
        <p:nvSpPr>
          <p:cNvPr id="39" name="Shape 36"/>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1" name="Text 38"/>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سَرِيرٌ · مَكْتَبٌ  ·  خِزَانَةُ المَلَابِسِ  ·  رَفٌّ  ·  سِتَارَةٌ · سَجَّادَةٌ  ·  أَبْيَضُ · بَيْضَاءُ  ·  بِجَانِبِ · تَحْتَ  ·  الَّذِي · الَّتِي  ·  قَدِيمٌ · جَدِيدٌ</a:t>
            </a:r>
            <a:endParaRPr lang="ar-SA" sz="16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23</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TB-L05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4 · WRITE, THEN SWAP · 14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Question 2 — bullet by bullet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 ثُمَّ بَادِلْ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TB-L05</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4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Two rounds of writing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Round 1 (6 min): write bullets 1 and 2. SWAP: your buddy reads and ticks “bullet covered?”. Round 2 (6 min): write bullets 3 and 4 and your closing. SWAP again.</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Start with a greeting; end with a closing and a question.</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One short paragraph per bullet — tick it off your plan.</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Use at least one upgrade from Step 3 in every paragraph.</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Count your words: about 80–90.</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Use the Core frames. Aim for 60–70 words, every bullet covered.</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Develop frames only if stuck. Add a reason and a time word to every bullet. 80–90 words.</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No frames. Add a contrast (</a:t>
            </a:r>
            <a:pPr algn="l" indent="0" marL="0">
              <a:buNone/>
            </a:pPr>
            <a:r>
              <a:rPr lang="ar-SA" altLang="en-US" sz="1500" dirty="0">
                <a:solidFill>
                  <a:srgbClr val="1F2A37"/>
                </a:solidFill>
                <a:latin typeface="Amiri" pitchFamily="2" charset="-78"/>
                <a:ea typeface="Amiri" pitchFamily="2" charset="-78"/>
                <a:cs typeface="Amiri" pitchFamily="2" charset="-78"/>
              </a:rPr>
              <a:t>لٰكِنَّ</a:t>
            </a:r>
            <a:pPr algn="l" indent="0" marL="0">
              <a:buNone/>
            </a:pPr>
            <a:r>
              <a:rPr lang="en-US" sz="1150" dirty="0">
                <a:solidFill>
                  <a:srgbClr val="1F2A37"/>
                </a:solidFill>
                <a:latin typeface="Calibri" pitchFamily="34" charset="0"/>
                <a:cs typeface="Amiri" pitchFamily="2" charset="-78"/>
              </a:rPr>
              <a:t>) and a future plan. Up to 90 words, with no errors.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 بَعْدَ ذٰلِكَ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 after that</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لِذٰلِكَ</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so</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لٰكِنَّ · وَلٰكِنْ</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but</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23</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TB-L05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5 · SPOT AND FIX · MISTAKES STUDENTS OFTEN MAKE IN THIS TOPIC</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TB-L05</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الخِزَانَةُ المَلَابِسِ كَبِيرَةٌ.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Look at the iḍāfa.</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الغَسَّالَةُ؟ نَسْتَعْمِلُهُ كُلَّ يَوْمٍ.</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Which pronoun for a feminine object?</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السِّتَارَةُ أَزْرَقُ.</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Colour agreement.</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23</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TB-L05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5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TB-L05</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الخِزَانَةُ المَلَابِسِ كَبِيرَةٌ.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خِزَانَةُ المَلَابِسِ كَبِيرَةٌ.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In an iḍāfa the first word has no al-.</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الغَسَّالَةُ؟ نَسْتَعْمِلُهُ كُلَّ يَوْمٍ.</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الغَسَّالَةُ؟ نَسْتَعْمِلُهَا كُلَّ يَوْمٍ.</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Feminine object → -hā: </a:t>
            </a:r>
            <a:pPr algn="l" indent="0" marL="0">
              <a:buNone/>
            </a:pPr>
            <a:r>
              <a:rPr lang="ar-SA" altLang="en-US" sz="1500" b="1" dirty="0">
                <a:solidFill>
                  <a:srgbClr val="1B3B6F"/>
                </a:solidFill>
                <a:latin typeface="Amiri" pitchFamily="2" charset="-78"/>
                <a:ea typeface="Amiri" pitchFamily="2" charset="-78"/>
                <a:cs typeface="Amiri" pitchFamily="2" charset="-78"/>
              </a:rPr>
              <a:t>نَسْتَعْمِلُهَا</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السِّتَارَةُ أَزْرَقُ.</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السِّتَارَةُ زَرْقَاءُ.</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Feminine noun → feminine colour: </a:t>
            </a:r>
            <a:pPr algn="l" indent="0" marL="0">
              <a:buNone/>
            </a:pPr>
            <a:r>
              <a:rPr lang="ar-SA" altLang="en-US" sz="1500" b="1" dirty="0">
                <a:solidFill>
                  <a:srgbClr val="1B3B6F"/>
                </a:solidFill>
                <a:latin typeface="Amiri" pitchFamily="2" charset="-78"/>
                <a:ea typeface="Amiri" pitchFamily="2" charset="-78"/>
                <a:cs typeface="Amiri" pitchFamily="2" charset="-78"/>
              </a:rPr>
              <a:t>زَرْقَاءُ</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23</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TB-L05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BUDDY CHECK · READ YOUR BUDDY’S Q2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TB-L05</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ALL four bullets (one paragraph each)?</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the right verb ending (I · we) and the right tense for each bullet?</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make adjectives agree (m. / f. / non-human plural)?</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and give at least two reasons?</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past, present AND future, and give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WWW + one EBI.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23</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TB-L05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6 · QUESTION 3 · HOW TO BUILD ONE STRONG PARAGRAPH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The paragraph formula: T · D · R · F</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تَكْتُبُ فِقْرَةً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TB-L05</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FOUR PARTS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 — TOPIC sentence: say what the paragraph is about.</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D — DETAILS: what, when, where, with whom (two sentences).</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R — REASON: why? (</a:t>
            </a:r>
            <a:pPr algn="l" indent="0" marL="0">
              <a:buNone/>
            </a:pPr>
            <a:r>
              <a:rPr lang="ar-SA" altLang="en-US" sz="1700" dirty="0">
                <a:solidFill>
                  <a:srgbClr val="1F2A37"/>
                </a:solidFill>
                <a:latin typeface="Amiri" pitchFamily="2" charset="-78"/>
                <a:ea typeface="Amiri" pitchFamily="2" charset="-78"/>
                <a:cs typeface="Amiri" pitchFamily="2" charset="-78"/>
              </a:rPr>
              <a:t>لِأَنَّ … / لِذٰلِكَ</a:t>
            </a:r>
            <a:pPr algn="l" indent="0" marL="0">
              <a:buNone/>
            </a:pPr>
            <a:r>
              <a:rPr lang="en-US" sz="1300" dirty="0">
                <a:solidFill>
                  <a:srgbClr val="1F2A37"/>
                </a:solidFill>
                <a:latin typeface="Calibri" pitchFamily="34" charset="0"/>
                <a:cs typeface="Amiri" pitchFamily="2" charset="-78"/>
              </a:rPr>
              <a:t> …)</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F — FEELING or opinion, and (Stretch) a link to the future.</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FORMULA IN ACTION</a:t>
            </a:r>
            <a:endParaRPr lang="en-US" sz="1000" dirty="0"/>
          </a:p>
        </p:txBody>
      </p:sp>
      <p:sp>
        <p:nvSpPr>
          <p:cNvPr id="31" name="Text 28"/>
          <p:cNvSpPr txBox="1"/>
          <p:nvPr/>
        </p:nvSpPr>
        <p:spPr>
          <a:xfrm>
            <a:off x="6949440" y="2194560"/>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فِي غُرْفَتِي سَاعَةٌ قَدِيمَةٌ لَهَا قِصَّةٌ.</a:t>
            </a:r>
            <a:endParaRPr lang="ar-SA" sz="2650" dirty="0"/>
          </a:p>
        </p:txBody>
      </p:sp>
      <p:sp>
        <p:nvSpPr>
          <p:cNvPr id="32" name="Text 29"/>
          <p:cNvSpPr txBox="1"/>
          <p:nvPr/>
        </p:nvSpPr>
        <p:spPr>
          <a:xfrm>
            <a:off x="6949440" y="2765511"/>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 · In my room there is an old clock with a story.</a:t>
            </a:r>
            <a:endParaRPr lang="en-US" sz="1100" dirty="0"/>
          </a:p>
        </p:txBody>
      </p:sp>
      <p:sp>
        <p:nvSpPr>
          <p:cNvPr id="33" name="Shape 30"/>
          <p:cNvSpPr/>
          <p:nvPr/>
        </p:nvSpPr>
        <p:spPr>
          <a:xfrm>
            <a:off x="6995160" y="3195828"/>
            <a:ext cx="4553712" cy="0"/>
          </a:xfrm>
          <a:prstGeom prst="line">
            <a:avLst/>
          </a:prstGeom>
          <a:noFill/>
          <a:ln w="9525">
            <a:solidFill>
              <a:srgbClr val="E4DCCB"/>
            </a:solidFill>
            <a:prstDash val="dash"/>
          </a:ln>
        </p:spPr>
      </p:sp>
      <p:sp>
        <p:nvSpPr>
          <p:cNvPr id="34" name="Text 31"/>
          <p:cNvSpPr txBox="1"/>
          <p:nvPr/>
        </p:nvSpPr>
        <p:spPr>
          <a:xfrm>
            <a:off x="6949440" y="3214116"/>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أَعْطَانِي إِيَّاهَا جَدِّي قَبْلَ أَنْ يُسَافِرَ.</a:t>
            </a:r>
            <a:endParaRPr lang="ar-SA" sz="2650" dirty="0"/>
          </a:p>
        </p:txBody>
      </p:sp>
      <p:sp>
        <p:nvSpPr>
          <p:cNvPr id="35" name="Text 32"/>
          <p:cNvSpPr txBox="1"/>
          <p:nvPr/>
        </p:nvSpPr>
        <p:spPr>
          <a:xfrm>
            <a:off x="6949440" y="3785067"/>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D · My grandfather gave it to me before he travelled.</a:t>
            </a:r>
            <a:endParaRPr lang="en-US" sz="1100" dirty="0"/>
          </a:p>
        </p:txBody>
      </p:sp>
      <p:sp>
        <p:nvSpPr>
          <p:cNvPr id="36" name="Shape 33"/>
          <p:cNvSpPr/>
          <p:nvPr/>
        </p:nvSpPr>
        <p:spPr>
          <a:xfrm>
            <a:off x="6995160" y="4215384"/>
            <a:ext cx="4553712" cy="0"/>
          </a:xfrm>
          <a:prstGeom prst="line">
            <a:avLst/>
          </a:prstGeom>
          <a:noFill/>
          <a:ln w="9525">
            <a:solidFill>
              <a:srgbClr val="E4DCCB"/>
            </a:solidFill>
            <a:prstDash val="dash"/>
          </a:ln>
        </p:spPr>
      </p:sp>
      <p:sp>
        <p:nvSpPr>
          <p:cNvPr id="37" name="Text 34"/>
          <p:cNvSpPr txBox="1"/>
          <p:nvPr/>
        </p:nvSpPr>
        <p:spPr>
          <a:xfrm>
            <a:off x="6949440" y="4233672"/>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هِيَ مُهِمَّةٌ لِأَنَّهَا كَانَتْ لِأَبِيهِ.</a:t>
            </a:r>
            <a:endParaRPr lang="ar-SA" sz="2650" dirty="0"/>
          </a:p>
        </p:txBody>
      </p:sp>
      <p:sp>
        <p:nvSpPr>
          <p:cNvPr id="38" name="Text 35"/>
          <p:cNvSpPr txBox="1"/>
          <p:nvPr/>
        </p:nvSpPr>
        <p:spPr>
          <a:xfrm>
            <a:off x="6949440" y="4804623"/>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R · It matters because it belonged to his father.</a:t>
            </a:r>
            <a:endParaRPr lang="en-US" sz="1100" dirty="0"/>
          </a:p>
        </p:txBody>
      </p:sp>
      <p:sp>
        <p:nvSpPr>
          <p:cNvPr id="39" name="Shape 36"/>
          <p:cNvSpPr/>
          <p:nvPr/>
        </p:nvSpPr>
        <p:spPr>
          <a:xfrm>
            <a:off x="6995160" y="5234940"/>
            <a:ext cx="4553712" cy="0"/>
          </a:xfrm>
          <a:prstGeom prst="line">
            <a:avLst/>
          </a:prstGeom>
          <a:noFill/>
          <a:ln w="9525">
            <a:solidFill>
              <a:srgbClr val="E4DCCB"/>
            </a:solidFill>
            <a:prstDash val="dash"/>
          </a:ln>
        </p:spPr>
      </p:sp>
      <p:sp>
        <p:nvSpPr>
          <p:cNvPr id="40" name="Text 37"/>
          <p:cNvSpPr txBox="1"/>
          <p:nvPr/>
        </p:nvSpPr>
        <p:spPr>
          <a:xfrm>
            <a:off x="6949440" y="5253228"/>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أَشْعُرُ بِالحَنِينِ عِنْدَمَا أَنْظُرُ إِلَيْهَا.</a:t>
            </a:r>
            <a:endParaRPr lang="ar-SA" sz="2650" dirty="0"/>
          </a:p>
        </p:txBody>
      </p:sp>
      <p:sp>
        <p:nvSpPr>
          <p:cNvPr id="41" name="Text 38"/>
          <p:cNvSpPr txBox="1"/>
          <p:nvPr/>
        </p:nvSpPr>
        <p:spPr>
          <a:xfrm>
            <a:off x="6949440" y="5824179"/>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 · I feel nostalgic when I look at it.</a:t>
            </a:r>
            <a:endParaRPr lang="en-US" sz="11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23</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TB-L05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8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6 · WRITE ONE PARAGRAPH OF QUESTION 3 · ABOUT 50–70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00" b="1" dirty="0">
                <a:solidFill>
                  <a:srgbClr val="1B3B6F"/>
                </a:solidFill>
                <a:latin typeface="Cambria" pitchFamily="34" charset="0"/>
                <a:cs typeface="Amiri" pitchFamily="2" charset="-78"/>
              </a:rPr>
              <a:t>Question 3, one paragraph: an object with a story</a:t>
            </a:r>
            <a:endParaRPr lang="en-US" sz="19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غَرَضٌ لَهُ قِصَّةٌ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TB-L05</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67335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67335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Q3 · ONE PARAGRAPH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00" b="1" dirty="0">
                <a:solidFill>
                  <a:srgbClr val="1F2A37"/>
                </a:solidFill>
                <a:latin typeface="Calibri" pitchFamily="34" charset="0"/>
                <a:cs typeface="Amiri" pitchFamily="2" charset="-78"/>
              </a:rPr>
              <a:t>Full Q3 title: “Things that matter in my home”. Today write ONLY the past paragraph: an object in your home with a story (a gift, something old, something you made) — where it came from, what happened, why it matters and how you feel about it.</a:t>
            </a:r>
            <a:endParaRPr lang="en-US" sz="13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 — a topic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D — two details (when, where, who, what).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R — a reason with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or </a:t>
            </a:r>
            <a:pPr algn="l" indent="0" marL="0">
              <a:buNone/>
            </a:pPr>
            <a:r>
              <a:rPr lang="ar-SA" altLang="en-US" sz="1550" dirty="0">
                <a:solidFill>
                  <a:srgbClr val="1F2A37"/>
                </a:solidFill>
                <a:latin typeface="Amiri" pitchFamily="2" charset="-78"/>
                <a:ea typeface="Amiri" pitchFamily="2" charset="-78"/>
                <a:cs typeface="Amiri" pitchFamily="2" charset="-78"/>
              </a:rPr>
              <a:t>لِذٰلِكَ</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 — a feeling or opinion (Stretch: + a future sentence).</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past verbs with the right ending?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 FOR THIS PARAGRAPH</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بَيْتِنَا … لَهُ قِصَّةٌ</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our house there is … with a story</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أَعْطَانِي … فِي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 gave me … in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كَانَ لِجَدِّي</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it belonged to my grandfather</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هُوَ مُهِمٌّ لِأَنَّ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it matters because …</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أَشْعُرُ بِالدِّفْءِ عِنْدَمَا …</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feel warm when …</a:t>
            </a:r>
            <a:endParaRPr lang="en-US" sz="10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23</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TB-L05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QUESTION 2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Q2: compare with a strong answer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TB-L05</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مَرْحَبًا يَا حَمْزَةُ،</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كَيْفَ حَالُكَ؟ غَيَّرْتُ غُرْفَتِي فِي العُطْلَةِ! كَانَتْ غُرْفَتِي مُظْلِمَةً وَمُزْدَحِمَةً، وَكَانَ فِيهَا سَرِيرٌ قَدِيمٌ وَخِزَانَةٌ مَكْسُورَةٌ. الآنَ الجُدْرَانُ زَرْقَاءُ فَاتِحَةٌ، وَيُوجَدُ سَرِيرٌ جَدِيدٌ تَحْتَ النَّافِذَةِ، وَبِجَانِبِهِ مَكْتَبٌ أَبْيَضُ وَرَفٌّ لِلْكُتُبِ. أَكْثَرُ شَيْءٍ أُحِبُّهُ هُوَ الكُرْسِيُّ الأَخْضَرُ الَّذِي اخْتَارَهُ أَبِي، لِأَنَّهُ مُرِيحٌ جِدًّا، وَأَقْرَأُ عَلَيْهِ كُلَّ لَيْلَةٍ قَبْلَ النَّوْمِ. أَمَّا الأَثَاثُ القَدِيمُ فَأَعْطَيْنَاهُ لِجَمْعِيَّةٍ خَيْرِيَّةٍ، لِأَنَّهُ مَا زَالَ مُفِيدًا لِلْعَائِلَاتِ الفَقِيرَةِ. تَعَالَ وَزُرْنِي قَرِيبًا لِتَرَى الغُرْفَةَ، وَسَنَلْعَبُ فِيهَا أَلْعَابَ الفِيدْيُو مَعًا!</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إِلَى اللِّقَاءِ،</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عِيسَى</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“Hi Hamza, how are you? I changed my room in the holidays! It was dark and cluttered, with an old bed and a broken wardrobe. Now the walls are light blue, there is a new bed under the window, and next to it a white desk and a bookshelf. What I like most is the green chair my dad chose, because it is very comfortable and I read in it every night before bed. As for the old furniture, we gave it to a charity, because it is still useful for poor families. Come and visit soon to see the room — we will play video games in it together! See you, Isa.”</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كَانَتْ غُرْفَتِي مُظْلِمَةً</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وَيُوجَدُ سَرِيرٌ جَدِيدٌ</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الكُرْسِيُّ الأَخْضَرُ الَّذِي</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أَمَّا الأَثَاثُ القَدِيمُ فَأَعْطَيْنَاهُ</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23</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TB-L05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QUESTION 3 · ONE PARAGRAPH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Q3 paragraph: T · D · R · F in a model</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الفِقْرَةِ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TB-L05</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550" dirty="0">
                <a:solidFill>
                  <a:srgbClr val="1F2A37"/>
                </a:solidFill>
                <a:latin typeface="Amiri" pitchFamily="2" charset="-78"/>
                <a:ea typeface="Amiri" pitchFamily="2" charset="-78"/>
                <a:cs typeface="Amiri" pitchFamily="2" charset="-78"/>
              </a:rPr>
              <a:t>فِي غُرْفَةِ الجُلُوسِ عِنْدَنَا سَجَّادَةٌ حَمْرَاءُ قَدِيمَةٌ لَهَا قِصَّةٌ جَمِيلَةٌ. صَنَعَتْهَا جَدَّتِي بِيَدِهَا فِي قَرْيَتِهَا فِي تُرْكِيَا قَبْلَ خَمْسِينَ سَنَةً، وَأَعْطَتْهَا لِأُمِّي يَوْمَ زِفَافِهَا. عِنْدَمَا انْتَقَلْنَا إِلَى بِرِيطَانِيَا، حَمَلَتْهَا أُمِّي فِي حَقِيبَتِهَا، لِأَنَّهَا لَمْ تُرِدْ أَنْ تَتْرُكَهَا. كُنْتُ أَلْعَبُ عَلَيْهَا مَعَ أَخِي عِنْدَمَا كُنَّا صِغَارًا. السَّجَّادَةُ مُهِمَّةٌ لَنَا، لِأَنَّهَا تُذَكِّرُنَا بِجَدَّتِي الَّتِي تُوُفِّيَتْ. أَشْعُرُ بِالدِّفْءِ عِنْدَمَا أَجْلِسُ عَلَيْهَا، وَفِي المُسْتَقْبَلِ سَأَحْفَظُهَا فِي بَيْتِي.</a:t>
            </a:r>
            <a:endParaRPr lang="ar-SA" sz="25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T: in our living room there is an old red rug with a lovely story · D: my grandmother made it by hand in her village in Turkey fifty years ago and gave it to my mum on her wedding day; when we moved to Britain, mum carried it in her suitcase because she didn’t want to leave it; my brother and I played on it when we were small · R: it matters because it reminds us of my grandmother, who has passed away · F: I feel warmth when I sit on it, and in the future I will keep it in my own home.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لَهَا قِصَّةٌ جَمِيلَةٌ</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صَنَعَتْهَا جَدَّتِي بِيَدِهَا</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لِأَنَّهَا تُذَكِّرُنَا</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أَشْعُرُ بِالدِّفْءِ</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23</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TB-L05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TB-L05</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decoded every bullet: question word and tense.</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Q2 answers all four bullets, with a greeting and a closing.</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upgraded my sentences: detail + reason in every bullet.</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work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Q3 paragraph has T, D, R and F, with past and future.</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23</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TB-L05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wrote it yourself!</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700" b="1" dirty="0">
                <a:solidFill>
                  <a:srgbClr val="FFFFFF"/>
                </a:solidFill>
                <a:latin typeface="Cambria" pitchFamily="34" charset="0"/>
                <a:cs typeface="Amiri" pitchFamily="2" charset="-78"/>
              </a:rPr>
              <a:t>TB-L06 · The next lesson in the topic</a:t>
            </a:r>
            <a:endParaRPr lang="en-US" sz="27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الدَّرْسُ التَّالِي</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decode → plan → write → check. Every bullet,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TB-L05 · Writing Practice Room — Furniture and Appliances</dc:title>
  <dc:subject>PptxGenJS Presentation</dc:subject>
  <dc:creator>Al Madina Online School · Arabic Department</dc:creator>
  <cp:lastModifiedBy>Al Madina Online School · Arabic Department</cp:lastModifiedBy>
  <cp:revision>1</cp:revision>
  <dcterms:created xsi:type="dcterms:W3CDTF">2026-10-25T14:29:57Z</dcterms:created>
  <dcterms:modified xsi:type="dcterms:W3CDTF">2026-10-25T14:29:57Z</dcterms:modified>
</cp:coreProperties>
</file>