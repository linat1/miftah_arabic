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TB-L06 — Colours and Accurate Description. Website: Advanced Topics › Topic B (Personal and Social Life) › Lesson 6.
The website builds this lesson on the F3-L05 lesson engine, with the Topic focus “Control regular and irregular colour forms in realistic descriptions.” (grammar: Colour adjective forms; non-human plural agreement; skills: Reading · Speaking) and the application challenge “Colour-agreement snap”.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5 (TB-L06).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TB-L05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TB-L05.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(website “add ة”: ـِيٌّ ← ـِيَّةٌ) — the same nisba pattern as nationalities in F2-L04 (website)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TB-L05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“Match nouns to correct colour forms as quickly as possible. Keep only pairs with correct gender/number agreement and repair any rejected combination.”
Website Topic B challenge “Colour-agreement snap”: keep only pairs with correct gender / number agreement and repair any rejected combination. Correct examples: بَابٌ أَحْمَرُ · نَافِذَةٌ بَيْضَاءُ · سَرِيرٌ بُنِّيٌّ · أَرِيكَةٌ رَمَادِيَّةٌ · طَاوِلَةٌ بُنِّيَّةٌ · سَتَائِرُ حَمْرَاءُ · كَرَاسِي بَيْضَاءُ (plurals of things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(TB-L07 · Clothes, Accessories and Shopping) · Household Appliances and Daily Routines) will spend class time USING this language, so students prepare it tonight — short, simple, easy to access (school guidance: “Simple, Short, Interesting, Relevant, Easy to access”). The five words come from the website TB-L05 recognition bank — the appliances of F3-L06 (website).
Follow-up: the next Do Now tests two of these words (Flipped Learning: keep it short AND follow up).
Homework by route (website tasks). No internet? Students copy the five words from this slide into their book now.
TOPIC B: the five words are the ones the TB-L07 Do Now tests (preparation list of the website D2-L02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Colours and Accurate Description</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الأَلْوَانُ وَالوَصْفُ الدَّقِيقُ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Control regular and irregular colour forms in realistic descriptions.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TB-L06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بَابٌ </a:t>
            </a:r>
            <a:pPr rtl="1" algn="ctr" indent="0" marL="0">
              <a:lnSpc>
                <a:spcPct val="120000"/>
              </a:lnSpc>
              <a:buNone/>
            </a:pPr>
            <a:r>
              <a:rPr lang="ar-SA" altLang="en-US" sz="1950" b="1" dirty="0">
                <a:solidFill>
                  <a:srgbClr val="1D5FBF"/>
                </a:solidFill>
                <a:latin typeface="Amiri" pitchFamily="2" charset="-78"/>
                <a:cs typeface="Amiri" pitchFamily="2" charset="-78"/>
              </a:rPr>
              <a:t>أَحْمَرُ</a:t>
            </a:r>
            <a:pPr rtl="1" algn="ctr" indent="0" marL="0">
              <a:lnSpc>
                <a:spcPct val="120000"/>
              </a:lnSpc>
              <a:buNone/>
            </a:pPr>
            <a:r>
              <a:rPr lang="ar-SA" altLang="en-US" sz="1950" b="1" dirty="0">
                <a:solidFill>
                  <a:srgbClr val="1B3B6F"/>
                </a:solidFill>
                <a:latin typeface="Amiri" pitchFamily="2" charset="-78"/>
                <a:cs typeface="Amiri" pitchFamily="2" charset="-78"/>
              </a:rPr>
              <a:t> · نَافِذَةٌ </a:t>
            </a:r>
            <a:pPr rtl="1" algn="ctr" indent="0" marL="0">
              <a:lnSpc>
                <a:spcPct val="120000"/>
              </a:lnSpc>
              <a:buNone/>
            </a:pPr>
            <a:r>
              <a:rPr lang="ar-SA" altLang="en-US" sz="1950" b="1" dirty="0">
                <a:solidFill>
                  <a:srgbClr val="D6336C"/>
                </a:solidFill>
                <a:latin typeface="Amiri" pitchFamily="2" charset="-78"/>
                <a:cs typeface="Amiri" pitchFamily="2" charset="-78"/>
              </a:rPr>
              <a:t>حَمْرَاءُ</a:t>
            </a:r>
            <a:pPr rtl="1" algn="ctr" indent="0" marL="0">
              <a:lnSpc>
                <a:spcPct val="120000"/>
              </a:lnSpc>
              <a:buNone/>
            </a:pPr>
            <a:r>
              <a:rPr lang="ar-SA" altLang="en-US" sz="1950" b="1" dirty="0">
                <a:solidFill>
                  <a:srgbClr val="1B3B6F"/>
                </a:solidFill>
                <a:latin typeface="Amiri" pitchFamily="2" charset="-78"/>
                <a:cs typeface="Amiri" pitchFamily="2" charset="-78"/>
              </a:rPr>
              <a:t> · طَاوِلَةٌ بُنِّيَّ</a:t>
            </a:r>
            <a:pPr rtl="1" algn="ctr" indent="0" marL="0">
              <a:lnSpc>
                <a:spcPct val="120000"/>
              </a:lnSpc>
              <a:buNone/>
            </a:pPr>
            <a:r>
              <a:rPr lang="ar-SA" altLang="en-US" sz="1950" b="1" dirty="0">
                <a:solidFill>
                  <a:srgbClr val="D6336C"/>
                </a:solidFill>
                <a:latin typeface="Amiri" pitchFamily="2" charset="-78"/>
                <a:cs typeface="Amiri" pitchFamily="2" charset="-78"/>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‎بنفشی‎ </a:t>
            </a:r>
            <a:pPr indent="0" marL="0">
              <a:buNone/>
            </a:pPr>
            <a:r>
              <a:rPr lang="en-US" sz="950" b="1" dirty="0">
                <a:solidFill>
                  <a:srgbClr val="2E8B57"/>
                </a:solidFill>
                <a:latin typeface="Calibri" pitchFamily="34" charset="0"/>
                <a:cs typeface="Amiri" pitchFamily="2" charset="-78"/>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‎گلابی‎ </a:t>
            </a:r>
            <a:pPr indent="0" marL="0">
              <a:buNone/>
            </a:pPr>
            <a:r>
              <a:rPr lang="en-US" sz="950" b="1" dirty="0">
                <a:solidFill>
                  <a:srgbClr val="2E8B57"/>
                </a:solidFill>
                <a:latin typeface="Calibri" pitchFamily="34" charset="0"/>
                <a:cs typeface="Amiri" pitchFamily="2" charset="-78"/>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‎سنہری‎ </a:t>
            </a:r>
            <a:pPr indent="0" marL="0">
              <a:buNone/>
            </a:pPr>
            <a:r>
              <a:rPr lang="en-US" sz="950" b="1" dirty="0">
                <a:solidFill>
                  <a:srgbClr val="2E8B57"/>
                </a:solidFill>
                <a:latin typeface="Calibri" pitchFamily="34" charset="0"/>
                <a:cs typeface="Amiri" pitchFamily="2" charset="-78"/>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‎سیاہ‎ </a:t>
            </a:r>
            <a:pPr indent="0" marL="0">
              <a:buNone/>
            </a:pPr>
            <a:r>
              <a:rPr lang="en-US" sz="950" b="1" dirty="0">
                <a:solidFill>
                  <a:srgbClr val="2E8B57"/>
                </a:solidFill>
                <a:latin typeface="Calibri" pitchFamily="34" charset="0"/>
                <a:cs typeface="Amiri" pitchFamily="2" charset="-78"/>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a:t>
            </a:r>
            <a:endParaRPr lang="en-US" sz="1350" dirty="0"/>
          </a:p>
          <a:p>
            <a:pPr indent="0" marL="0">
              <a:buNone/>
            </a:pPr>
            <a:r>
              <a:rPr lang="en-US" sz="1100" i="1" dirty="0">
                <a:solidFill>
                  <a:srgbClr val="5A6472"/>
                </a:solidFill>
                <a:latin typeface="Calibri" pitchFamily="34" charset="0"/>
                <a:cs typeface="Amiri" pitchFamily="2" charset="-78"/>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a:t>
            </a:r>
            <a:endParaRPr lang="en-US" sz="1350" dirty="0"/>
          </a:p>
          <a:p>
            <a:pPr indent="0" marL="0">
              <a:buNone/>
            </a:pPr>
            <a:r>
              <a:rPr lang="en-US" sz="1100" i="1" dirty="0">
                <a:solidFill>
                  <a:srgbClr val="5A6472"/>
                </a:solidFill>
                <a:latin typeface="Calibri" pitchFamily="34" charset="0"/>
                <a:cs typeface="Amiri" pitchFamily="2" charset="-78"/>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white</a:t>
            </a:r>
            <a:endParaRPr lang="en-US" sz="1350" dirty="0"/>
          </a:p>
          <a:p>
            <a:pPr indent="0" marL="0">
              <a:buNone/>
            </a:pPr>
            <a:r>
              <a:rPr lang="en-US" sz="1100" i="1" dirty="0">
                <a:solidFill>
                  <a:srgbClr val="5A6472"/>
                </a:solidFill>
                <a:latin typeface="Calibri" pitchFamily="34" charset="0"/>
                <a:cs typeface="Amiri" pitchFamily="2" charset="-78"/>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black</a:t>
            </a:r>
            <a:endParaRPr lang="en-US" sz="1350" dirty="0"/>
          </a:p>
          <a:p>
            <a:pPr indent="0" marL="0">
              <a:buNone/>
            </a:pPr>
            <a:r>
              <a:rPr lang="en-US" sz="1100" i="1" dirty="0">
                <a:solidFill>
                  <a:srgbClr val="5A6472"/>
                </a:solidFill>
                <a:latin typeface="Calibri" pitchFamily="34" charset="0"/>
                <a:cs typeface="Amiri" pitchFamily="2" charset="-78"/>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purple</a:t>
            </a:r>
            <a:endParaRPr lang="en-US" sz="1350" dirty="0"/>
          </a:p>
          <a:p>
            <a:pPr indent="0" marL="0">
              <a:buNone/>
            </a:pPr>
            <a:r>
              <a:rPr lang="en-US" sz="1100" i="1" dirty="0">
                <a:solidFill>
                  <a:srgbClr val="5A6472"/>
                </a:solidFill>
                <a:latin typeface="Calibri" pitchFamily="34" charset="0"/>
                <a:cs typeface="Amiri" pitchFamily="2" charset="-78"/>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a:t>
            </a:r>
            <a:endParaRPr lang="en-US" sz="1350" dirty="0"/>
          </a:p>
          <a:p>
            <a:pPr indent="0" marL="0">
              <a:buNone/>
            </a:pPr>
            <a:r>
              <a:rPr lang="en-US" sz="1100" i="1" dirty="0">
                <a:solidFill>
                  <a:srgbClr val="5A6472"/>
                </a:solidFill>
                <a:latin typeface="Calibri" pitchFamily="34" charset="0"/>
                <a:cs typeface="Amiri" pitchFamily="2" charset="-78"/>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pink</a:t>
            </a:r>
            <a:endParaRPr lang="en-US" sz="1350" dirty="0"/>
          </a:p>
          <a:p>
            <a:pPr indent="0" marL="0">
              <a:buNone/>
            </a:pPr>
            <a:r>
              <a:rPr lang="en-US" sz="1100" i="1" dirty="0">
                <a:solidFill>
                  <a:srgbClr val="5A6472"/>
                </a:solidFill>
                <a:latin typeface="Calibri" pitchFamily="34" charset="0"/>
                <a:cs typeface="Amiri" pitchFamily="2" charset="-78"/>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dark (shade)</a:t>
            </a:r>
            <a:endParaRPr lang="en-US" sz="1350" dirty="0"/>
          </a:p>
          <a:p>
            <a:pPr indent="0" marL="0">
              <a:buNone/>
            </a:pPr>
            <a:r>
              <a:rPr lang="en-US" sz="1100" i="1" dirty="0">
                <a:solidFill>
                  <a:srgbClr val="5A6472"/>
                </a:solidFill>
                <a:latin typeface="Calibri" pitchFamily="34" charset="0"/>
                <a:cs typeface="Amiri" pitchFamily="2" charset="-78"/>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gold / golden</a:t>
            </a:r>
            <a:endParaRPr lang="en-US" sz="1350" dirty="0"/>
          </a:p>
          <a:p>
            <a:pPr indent="0" marL="0">
              <a:buNone/>
            </a:pPr>
            <a:r>
              <a:rPr lang="en-US" sz="1100" i="1" dirty="0">
                <a:solidFill>
                  <a:srgbClr val="5A6472"/>
                </a:solidFill>
                <a:latin typeface="Calibri" pitchFamily="34" charset="0"/>
                <a:cs typeface="Amiri" pitchFamily="2" charset="-78"/>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striped</a:t>
            </a:r>
            <a:endParaRPr lang="en-US" sz="1350" dirty="0"/>
          </a:p>
          <a:p>
            <a:pPr indent="0" marL="0">
              <a:buNone/>
            </a:pPr>
            <a:r>
              <a:rPr lang="en-US" sz="1100" i="1" dirty="0">
                <a:solidFill>
                  <a:srgbClr val="5A6472"/>
                </a:solidFill>
                <a:latin typeface="Calibri" pitchFamily="34" charset="0"/>
                <a:cs typeface="Amiri" pitchFamily="2" charset="-78"/>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a:t>
            </a:r>
            <a:pPr rtl="1" algn="ctr" indent="0" marL="0">
              <a:buNone/>
            </a:pPr>
            <a:r>
              <a:rPr lang="ar-SA" altLang="en-US" sz="2400" b="1" dirty="0">
                <a:solidFill>
                  <a:srgbClr val="1D5FBF"/>
                </a:solidFill>
                <a:latin typeface="Amiri" pitchFamily="2" charset="-78"/>
                <a:cs typeface="Amiri" pitchFamily="2" charset="-78"/>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نَافِذَةٌ </a:t>
            </a:r>
            <a:pPr rtl="1" algn="ctr" indent="0" marL="0">
              <a:buNone/>
            </a:pPr>
            <a:r>
              <a:rPr lang="ar-SA" altLang="en-US" sz="2400" b="1" dirty="0">
                <a:solidFill>
                  <a:srgbClr val="D6336C"/>
                </a:solidFill>
                <a:latin typeface="Amiri" pitchFamily="2" charset="-78"/>
                <a:cs typeface="Amiri" pitchFamily="2" charset="-78"/>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مَكْتَبٌ </a:t>
            </a:r>
            <a:pPr rtl="1" algn="ctr" indent="0" marL="0">
              <a:buNone/>
            </a:pPr>
            <a:r>
              <a:rPr lang="ar-SA" altLang="en-US" sz="2400" b="1" dirty="0">
                <a:solidFill>
                  <a:srgbClr val="1D5FBF"/>
                </a:solidFill>
                <a:latin typeface="Amiri" pitchFamily="2" charset="-78"/>
                <a:cs typeface="Amiri" pitchFamily="2" charset="-78"/>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طَاوِلَةٌ </a:t>
            </a:r>
            <a:pPr rtl="1" algn="ctr" indent="0" marL="0">
              <a:buNone/>
            </a:pPr>
            <a:r>
              <a:rPr lang="ar-SA" altLang="en-US" sz="2400" b="1" dirty="0">
                <a:solidFill>
                  <a:srgbClr val="D6336C"/>
                </a:solidFill>
                <a:latin typeface="Amiri" pitchFamily="2" charset="-78"/>
                <a:cs typeface="Amiri" pitchFamily="2" charset="-78"/>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سَرِيرٌ </a:t>
            </a:r>
            <a:pPr rtl="1" algn="ctr" indent="0" marL="0">
              <a:buNone/>
            </a:pPr>
            <a:r>
              <a:rPr lang="ar-SA" altLang="en-US" sz="2400" b="1" dirty="0">
                <a:solidFill>
                  <a:srgbClr val="1D5FBF"/>
                </a:solidFill>
                <a:latin typeface="Amiri" pitchFamily="2" charset="-78"/>
                <a:cs typeface="Amiri" pitchFamily="2" charset="-78"/>
              </a:rPr>
              <a:t>أَزْرَقُ</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cs typeface="Amiri" pitchFamily="2" charset="-78"/>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أَرِيكَةٌ </a:t>
            </a:r>
            <a:pPr rtl="1" algn="ctr" indent="0" marL="0">
              <a:buNone/>
            </a:pPr>
            <a:r>
              <a:rPr lang="ar-SA" altLang="en-US" sz="2400" b="1" dirty="0">
                <a:solidFill>
                  <a:srgbClr val="D6336C"/>
                </a:solidFill>
                <a:latin typeface="Amiri" pitchFamily="2" charset="-78"/>
                <a:cs typeface="Amiri" pitchFamily="2" charset="-78"/>
              </a:rPr>
              <a:t>زَرْقَاءُ</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cs typeface="Amiri" pitchFamily="2" charset="-78"/>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البَابُ </a:t>
            </a:r>
            <a:pPr rtl="1" algn="ctr" indent="0" marL="0">
              <a:buNone/>
            </a:pPr>
            <a:r>
              <a:rPr lang="ar-SA" altLang="en-US" sz="2400" b="1" dirty="0">
                <a:solidFill>
                  <a:srgbClr val="1D5FBF"/>
                </a:solidFill>
                <a:latin typeface="Amiri" pitchFamily="2" charset="-78"/>
                <a:cs typeface="Amiri" pitchFamily="2" charset="-78"/>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السَّتَائِرُ </a:t>
            </a:r>
            <a:pPr rtl="1" algn="ctr" indent="0" marL="0">
              <a:buNone/>
            </a:pPr>
            <a:r>
              <a:rPr lang="ar-SA" altLang="en-US" sz="2400" b="1" dirty="0">
                <a:solidFill>
                  <a:srgbClr val="D6336C"/>
                </a:solidFill>
                <a:latin typeface="Amiri" pitchFamily="2" charset="-78"/>
                <a:cs typeface="Amiri" pitchFamily="2" charset="-78"/>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just add </a:t>
            </a:r>
            <a:pPr algn="l" indent="0" marL="0">
              <a:buNone/>
            </a:pPr>
            <a:r>
              <a:rPr lang="ar-SA" altLang="en-US" sz="3650" b="1" dirty="0">
                <a:solidFill>
                  <a:srgbClr val="1B3B6F"/>
                </a:solidFill>
                <a:latin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red does not add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طَاوِلَةٌ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غُرْفَةُ الجُلُوسِ وَاسِعَةٌ وَمُلَوَّنَ</a:t>
            </a:r>
            <a:pPr rtl="1" algn="ctr" indent="0" marL="0">
              <a:lnSpc>
                <a:spcPct val="120000"/>
              </a:lnSpc>
              <a:buNone/>
            </a:pPr>
            <a:r>
              <a:rPr lang="ar-SA" altLang="en-US" sz="1900" b="1" dirty="0">
                <a:solidFill>
                  <a:srgbClr val="D6336C"/>
                </a:solidFill>
                <a:latin typeface="Amiri" pitchFamily="2" charset="-78"/>
                <a:cs typeface="Amiri" pitchFamily="2" charset="-78"/>
              </a:rPr>
              <a:t>ةٌ</a:t>
            </a:r>
            <a:pPr rtl="1" algn="ctr" indent="0" marL="0">
              <a:lnSpc>
                <a:spcPct val="120000"/>
              </a:lnSpc>
              <a:buNone/>
            </a:pPr>
            <a:r>
              <a:rPr lang="ar-SA" altLang="en-US" sz="1900" b="1" dirty="0">
                <a:solidFill>
                  <a:srgbClr val="1B3B6F"/>
                </a:solidFill>
                <a:latin typeface="Amiri" pitchFamily="2" charset="-78"/>
                <a:cs typeface="Amiri" pitchFamily="2" charset="-78"/>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الأَرِيكَةُ بَنَفْسَجِيَّ</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 غَامِقَ</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البَابُ </a:t>
            </a:r>
            <a:pPr rtl="1" algn="ctr" indent="0" marL="0">
              <a:lnSpc>
                <a:spcPct val="120000"/>
              </a:lnSpc>
              <a:buNone/>
            </a:pPr>
            <a:r>
              <a:rPr lang="ar-SA" altLang="en-US" sz="1800" b="1" dirty="0">
                <a:solidFill>
                  <a:srgbClr val="1D5FBF"/>
                </a:solidFill>
                <a:latin typeface="Amiri" pitchFamily="2" charset="-78"/>
                <a:cs typeface="Amiri" pitchFamily="2" charset="-78"/>
              </a:rPr>
              <a:t>أَبْيَضُ</a:t>
            </a:r>
            <a:pPr rtl="1" algn="ctr" indent="0" marL="0">
              <a:lnSpc>
                <a:spcPct val="120000"/>
              </a:lnSpc>
              <a:buNone/>
            </a:pPr>
            <a:r>
              <a:rPr lang="ar-SA" altLang="en-US" sz="1800" b="1" dirty="0">
                <a:solidFill>
                  <a:srgbClr val="1B3B6F"/>
                </a:solidFill>
                <a:latin typeface="Amiri" pitchFamily="2" charset="-78"/>
                <a:cs typeface="Amiri" pitchFamily="2" charset="-78"/>
              </a:rPr>
              <a:t>، وَالسَّتَائِرُ </a:t>
            </a:r>
            <a:pPr rtl="1" algn="ctr" indent="0" marL="0">
              <a:lnSpc>
                <a:spcPct val="120000"/>
              </a:lnSpc>
              <a:buNone/>
            </a:pPr>
            <a:r>
              <a:rPr lang="ar-SA" altLang="en-US" sz="1800" b="1" dirty="0">
                <a:solidFill>
                  <a:srgbClr val="D6336C"/>
                </a:solidFill>
                <a:latin typeface="Amiri" pitchFamily="2" charset="-78"/>
                <a:cs typeface="Amiri" pitchFamily="2" charset="-78"/>
              </a:rPr>
              <a:t>زَرْقَاءُ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غُرْفَةُ الجُلُوسِ وَاسِعَةٌ وَمُلَوَّنَ</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الأَرِيكَةُ بَنَفْسَجِيَّ</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غَامِقَ</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وَالسَّجَّادَةُ رَمَادِيَّ</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البَابُ </a:t>
            </a:r>
            <a:pPr rtl="1" algn="r" indent="0" marL="0">
              <a:lnSpc>
                <a:spcPct val="120000"/>
              </a:lnSpc>
              <a:buNone/>
            </a:pPr>
            <a:r>
              <a:rPr lang="ar-SA" altLang="en-US" sz="1600" b="1" dirty="0">
                <a:solidFill>
                  <a:srgbClr val="1D5FBF"/>
                </a:solidFill>
                <a:latin typeface="Amiri" pitchFamily="2" charset="-78"/>
                <a:cs typeface="Amiri" pitchFamily="2" charset="-78"/>
              </a:rPr>
              <a:t>أَبْيَضُ</a:t>
            </a:r>
            <a:pPr rtl="1" algn="r" indent="0" marL="0">
              <a:lnSpc>
                <a:spcPct val="120000"/>
              </a:lnSpc>
              <a:buNone/>
            </a:pPr>
            <a:r>
              <a:rPr lang="ar-SA" altLang="en-US" sz="1600" b="1" dirty="0">
                <a:solidFill>
                  <a:srgbClr val="1B3B6F"/>
                </a:solidFill>
                <a:latin typeface="Amiri" pitchFamily="2" charset="-78"/>
                <a:cs typeface="Amiri" pitchFamily="2" charset="-78"/>
              </a:rPr>
              <a:t>، وَالسَّتَائِرُ </a:t>
            </a:r>
            <a:pPr rtl="1" algn="r" indent="0" marL="0">
              <a:lnSpc>
                <a:spcPct val="120000"/>
              </a:lnSpc>
              <a:buNone/>
            </a:pPr>
            <a:r>
              <a:rPr lang="ar-SA" altLang="en-US" sz="1600" b="1" dirty="0">
                <a:solidFill>
                  <a:srgbClr val="D6336C"/>
                </a:solidFill>
                <a:latin typeface="Amiri" pitchFamily="2" charset="-78"/>
                <a:cs typeface="Amiri" pitchFamily="2" charset="-78"/>
              </a:rPr>
              <a:t>زَرْقَاءُ</a:t>
            </a:r>
            <a:pPr rtl="1" algn="r" indent="0" marL="0">
              <a:lnSpc>
                <a:spcPct val="120000"/>
              </a:lnSpc>
              <a:buNone/>
            </a:pPr>
            <a:r>
              <a:rPr lang="ar-SA" altLang="en-US" sz="1600" b="1" dirty="0">
                <a:solidFill>
                  <a:srgbClr val="1B3B6F"/>
                </a:solidFill>
                <a:latin typeface="Amiri" pitchFamily="2" charset="-78"/>
                <a:cs typeface="Amiri" pitchFamily="2" charset="-78"/>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Blue changes to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بَنَفْسَجِيٌّ</a:t>
            </a:r>
            <a:pPr algn="l" indent="0" marL="0">
              <a:buNone/>
            </a:pPr>
            <a:r>
              <a:rPr lang="en-US" sz="1050" i="1" dirty="0">
                <a:solidFill>
                  <a:srgbClr val="8A6D1E"/>
                </a:solidFill>
                <a:latin typeface="Calibri" pitchFamily="34" charset="0"/>
                <a:cs typeface="Amiri" pitchFamily="2" charset="-78"/>
              </a:rPr>
              <a:t> adds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Colour-agreement snap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Colour-agreement snap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nouns to correct colour forms as quickly as possible. Keep only pairs with correct gender/number agreement and repair any rejected combination.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8 noun cards and 8 colour cards (m. and f. mixed).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 seconds: pairs make as many CORRECT noun + colour pairs as they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your pairs in the chat; the class rejects any wrong agreement.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Repair every rejected pair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pairs: noun first, colour second (bāb aḥmar).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pairs using both patterns (ḥamrā’ and bunniyya).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Include a plural of things (satā’ir zarqā’) and a shade (fātiḥ / ghāmiq).</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بَابٌ / نَافِذَةٌ / سَرِيرٌ / أَرِيكَةٌ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nouns: door, window, bed, sofa</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مَكْتَبٌ / طَاوِلَةٌ / سَتَائِرُ / كَرَاسِي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nouns: desk, table, curtains, chairs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أَحْمَرُ / حَمْرَاءُ / أَبْيَضُ / بَيْضَاءُ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colours (pattern 1)</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بُنِّيٌّ / بُنِّيَّةٌ / رَمَادِيٌّ / رَمَادِيَّةٌ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colours (pattern 2)</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colour scheme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لَوْنُكَ المُفَضَّلُ؟ / مَا لَوْنُكِ المُفَضَّلُ؟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أَلْوَانُ غُرْفَتِكَ؟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أَغْرَاضَكَ: الحَقِيبَةُ، الهَاتِفُ، الدَّفْتَرُ.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غُرْفَةَ الجُلُوسِ بِالأَلْوَانِ، وَقُلْ لِمَاذَا تُحِبُّهَا.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لَوْنِي المُفَضَّلُ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غُرْفَتِي ___ ، وَسَرِيرِي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حَقِيبَتِي ___ ، وَهَاتِفِي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فَاتِحَةٌ / غَامِقَةٌ ،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أَلْوَانُ غُرْفَةِ الجُلُوسِ؟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colours of the living 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غُرْفَةُ الجُلُوسِ وَاسِعَةٌ وَمُلَوَّنَةٌ. الأَرِيكَةُ بَنَفْسَجِيَّةٌ غَامِقَةٌ.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living room is spacious and colourful. The sofa is dark purple.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of blue is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TB-L07 · Clothes, Accessories and Shopping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قَمِيصٌ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shirt</a:t>
            </a:r>
            <a:pPr indent="0" marL="0">
              <a:buNone/>
            </a:pPr>
            <a:r>
              <a:rPr lang="en-US" sz="1000" i="1" dirty="0">
                <a:solidFill>
                  <a:srgbClr val="5A6472"/>
                </a:solidFill>
                <a:latin typeface="Calibri" pitchFamily="34" charset="0"/>
                <a:cs typeface="Amiri" pitchFamily="2" charset="-78"/>
              </a:rPr>
              <a:t>  pl. قُمْصَانٌ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فُسْتَانٌ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dress</a:t>
            </a:r>
            <a:pPr indent="0" marL="0">
              <a:buNone/>
            </a:pPr>
            <a:r>
              <a:rPr lang="en-US" sz="1000" i="1" dirty="0">
                <a:solidFill>
                  <a:srgbClr val="5A6472"/>
                </a:solidFill>
                <a:latin typeface="Calibri" pitchFamily="34" charset="0"/>
                <a:cs typeface="Amiri" pitchFamily="2" charset="-78"/>
              </a:rPr>
              <a:t>  pl. فَسَاتِينُ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سِرْوَالٌ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trousers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حِذَاءٌ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shoes</a:t>
            </a:r>
            <a:pPr indent="0" marL="0">
              <a:buNone/>
            </a:pPr>
            <a:r>
              <a:rPr lang="en-US" sz="1000" i="1" dirty="0">
                <a:solidFill>
                  <a:srgbClr val="5A6472"/>
                </a:solidFill>
                <a:latin typeface="Calibri" pitchFamily="34" charset="0"/>
                <a:cs typeface="Amiri" pitchFamily="2" charset="-78"/>
              </a:rPr>
              <a:t>  pl. أَحْذِيَةٌ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مِعْطَفٌ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coat</a:t>
            </a:r>
            <a:pPr indent="0" marL="0">
              <a:buNone/>
            </a:pPr>
            <a:r>
              <a:rPr lang="en-US" sz="1000" i="1" dirty="0">
                <a:solidFill>
                  <a:srgbClr val="5A6472"/>
                </a:solidFill>
                <a:latin typeface="Calibri" pitchFamily="34" charset="0"/>
                <a:cs typeface="Amiri" pitchFamily="2" charset="-78"/>
              </a:rPr>
              <a:t>  pl. مَعَاطِفُ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are you wearing today? Name three items of clothing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تَلْبَسُ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TB-L06: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TB-L07 · Clothes, Accessories and Shopping</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المَلَابِسُ وَالإِكْسِسْوَارَاتُ وَالتَّسَوُّقُ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TB-L06 · Colours and Accurate Description</dc:title>
  <dc:subject>PptxGenJS Presentation</dc:subject>
  <dc:creator>Al Madina Online School · Arabic Department</dc:creator>
  <cp:lastModifiedBy>Al Madina Online School · Arabic Department</cp:lastModifiedBy>
  <cp:revision>1</cp:revision>
  <dcterms:created xsi:type="dcterms:W3CDTF">2026-10-11T06:43:51Z</dcterms:created>
  <dcterms:modified xsi:type="dcterms:W3CDTF">2026-10-11T06:43:51Z</dcterms:modified>
</cp:coreProperties>
</file>