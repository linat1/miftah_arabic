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TB-L01 — Identity and Personal Profiles. Website: Advanced Topics › Topic B (Personal and Social Life) › Lesson 1.
The website builds this lesson on the F2-L10 lesson engine, with the Topic focus “Introduce and describe yourself accurately in spoken, written and form-based contexts.” (grammar: Pronouns; nominal sentences; gender; skills: Speaking · Writing) and the application challenge “Identity mystery”.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10–18 Cultural words · 18–24 Greetings, blessings, hospitality · 24–26 Quick check · 26–29 I Do · 29–38 We Do (picture match, Culture Detective, listening, reading) · 38–49 You Do (profile + comparison) · 49–54 Feedback · 54–56 Preparation.
FLEX slides are optional. Use them if the class is moving quickly; otherwise the same activities are on the website for homework.
Content source: Miftah Arabic website, Pathways › Foundation › Topic B Greetings &amp; Introductions › Lesson 10 (TB-L01). Website sections used: the five cultural lenses and respectful rule, the eight-question Topic B retrieval, the ten core cultural words and the additional phrase bank, the vocabulary check (10), “Greetings show respect — but practices vary” with blessing language and the stereotype warning, the greeting and respect check (8), hospitality and family language with the Salma–Maryam micro-dialogue, the layered-identity section and check (8), the Culture Detective Mission (12), the Hanaa listening (8), three fictional family profiles, the respectful cultural profile (speaking) and the comparison writing task. Picture match: website visual game “Greetings and Identity in the Arab World”. The three-family reading questions are teacher-made (the website lists ten but does not include them in the lesson data).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AND RESPECT (website): “No personal disclosure required.” Students may use fictional profiles throughout. Religion appears for RECOGNITION only (مَا دِينُكَ؟ is never asked of a student); a learner who does not wish to discuss belief chooses another identity topic.
• Website respectful rule: observe, ask politely and follow the other person’s lead. Avoid “Arabs always…” / “Everyone must…”; use “in some families”, “in this situation”, “this may vary”, “follow the person’s preference”.
• Core: recognise the key words and identify respectful greeting behaviour. Develop: one similarity and one difference in connected sentences. Stretch: describe layered identity and challenge an inaccurate generalisation.
• A mixed-heritage class is an asset: many students live “layered identity” (website section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from the website “eight-question Topic B retrieval check” (the -ki question, origin with مِنْ, تَفَضَّلِي).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Observe, ask politely and follow the other person’s lead (website respectful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goals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ثقافت, عادت, احترام, ضیافت, فخر — five of today’s ten core words are used in Urdu with the same meaning. Ask Urdu speakers to teach the pronunciation difference (ث = s in Urdu, th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WORDS 1–6 (website, with the website example sentences in the notes line). Gesture / emoji from the website: 🌍 culture · 🧭 customs · 🪡 traditions · 🤝 respect · ☕ hospitality · 👨‍👩‍👧‍👦 family.
Website examples: فِي كُلِّ مُجْتَمَعٍ ثَقَافَةٌ (every society has a culture) · تَخْتَلِفُ العَادَاتُ بَيْنَ العَائِلَاتِ (customs differ between families) · الضِّيَافَةُ مُهِمَّةٌ فِي بَعْضِ العَائِلَاتِ (hospitality is important in SOME families) · أَسْأَلُ عَنِ العَائِلَةِ بِأَدَبٍ (I ask about the family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WORDS 7–10 (website) + the website “Careful comparison” bank (cards 11–12). Card 10: agreement with the SPEAKER (F2-L05 (website)): a boy says فَخُورٌ, a girl says فَخُورَةٌ; أَنَا فَخُورٌ / فَخُورَةٌ بِثَقَافَتِي.
Card 8: website example — الدِّينُ جُزْءٌ مِنْ هُوِيَّةِ بَعْضِ النَّاسِ (religion is part of SOME people’s identity). Keep it at recognition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GREETINGS AND RESPECT (website section 3). Website points: 1 words first · 2 relationship matters (a close relative, school friend, elder, teacher and new visitor may be greeted differently) · 3 physical contact varies (handshakes, cheek greetings or no physical contact can all be normal — do not assume; follow the other person’s lead) · 4 time and warmth vary (some greetings are brief; others include questions about health and family — both can be respectful).
Website: “Never write ‘Arabs always…’ or ‘Everyone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BLESSING LANGUAGE (website). These are heard across many Arabic-speaking communities in everyday speech — also among Urdu speakers. Present them as language students will HEAR; using them is a personal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(website section 4). Website: “Offering a drink, welcoming a guest and asking after family can communicate warmth. The exact food, drink, length of visit and level of formality differ widely.”
Website “Meaning before rule”: hospitality is an invitation, not a test — a guest may accept or decline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MICRO-DIALOGUE (website). Read in two roles (teacher + a volunteer). Spot the three female-listener forms: تَفَضَّلِي · تُرِيدِينَ · مِنْ فَضْلِكِ (F2-L06 (website)). Develop: perform it with a male guest (تَفَضَّلْ · تُرِيدُ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LAYERED IDENTITY (website section 5): “A person may describe identity through name, family, nationality, language, city, religion, interests, values or several of these together. No single layer tells the whole story.”
PRIVACY: the belief layer is optional and never required (website identity check Q4: “Respect the choice and use another identity topic”). The questions مَا دِينُكَ؟ / مَا دِينُكِ؟ appear on the website for RECOGNITION only — do not ask them in class.
Website layered-identity example: أَنَا بَرِيطَانِيَّةٌ مِنْ عَائِلَةٍ سُورِيَّةٍ وَأَتَكَلَّمُ لُغَتَيْنِ.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“Eight-question greeting and respect check” questions 1,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profile “A Moroccan-British family in Birmingham”, modelled with a think-aloud. New “they” verbs (يَقُولُونَ، يُقَدِّمُونَ، يُصَافِحُونَ) are for recognition: point out the يـ … ـونَ pattern.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Culture Detective statements. Three categories (website): respectful and accurate · needs more care · a personal choice. Stretch: rewrite each “needs more care” statement with careful language (فِي بَعْضِ العَائِلَاتِ …، لَيْسَ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the website explanation for each. Stress statement 3 (religion): no student is ever required to disclose belief.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السَّلَامُ عَلَيْكُمْ. اِسْمِي هَنَاءُ، وَأَنَا أُرْدُنِيَّةٌ أَعِيشُ فِي لَنْدَنَ. اليَوْمَ تَزُورُنَا صَدِيقَتِي مَرْيَمُ. أَقُولُ لَهَا: أَهْلًا وَسَهْلًا، تَفَضَّلِي. ثُمَّ أَسْأَلُهَا: كَيْفَ الأَهْلُ؟ وَأُقَدِّمُ لَهَا الشَّايَ وَالتَّمْرَ. أَنَا فَخُورَةٌ بِعَائِلَتِي وَبِثَقَافَتِي، وَلَكِنَّنِي أَعْرِفُ أَنَّ عَادَاتِ التَّحِيَّةِ وَالضِّيَافَةِ تَخْتَلِفُ مِنْ عَائِلَةٍ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8). Website: “These are fictional family profiles, not claims about every person from a country.” The English column gives the key points; Develop / Stretch cover it and find the Arabic evidence. Core: read the English, then find ONE Arabic word per profile (مَغْرِبِيَّةٌ · لُبْنَانِيٌّ · بَرِيطَانِيٌّ).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1–3 and 5 are teacher-made; question 4 is the website checkpoint question about Rami’s main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“Create a six-clue personal profile using name, age, place, language, study and personality. A partner identifies the person and checks gender agreement.”
Website Topic B challenge “Identity mystery”: name, age, place, language, study and personality — the partner identifies the person and checks gender agreement. Privacy: invented people are always fine; never share addresses or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“Use a fictional profile or a culture you know well. Never invent personal information about a real classmate.”
Random profile cards (website):
• A Moroccan-British family in Birmingham — Greeting: السَّلَامُ عَلَيْكُمْ · hospitality: mint tea · languages: Arabic and English · variation: some relatives shake hands; others use words only.
• A Jordanian family welcoming a neighbour — Greeting: أَهْلًا وَسَهْلًا · hospitality: tea and dates · family question: كَيْفَ الأَهْلُ؟ · emphasis: guest choice is respected.
• A multilingual Lebanese family in Manchester — Languages: Arabic, English and French · greeting varies by setting · identity combines family background and British life.
• An Egyptian family at a large gathering — Greeting: warm verbal exchange · asks about health and family · hospitality: several optional drinks · practices differ by generation.
• A Syrian-British student describing identity — Proud of family language and British school community · greets friends differently from older relatives · no personal belief disclosure required.
• A fictional international Arabic club — Members come from several backgrounds · use Arabic greetings · bring different family customs · agree to ask before physical contact.
Routes (website): Core — four sentences (country/family, greeting, hospitality, one variation statement) · Develop — add a comparison with Britain or another familiar context using وَلَكِنْ or أَيْضًا · Stretch — explain why one broad statement is inaccurate and replace it with careful language.
Audience questions (website, prompts 2–3 above): مَا أَهَمُّ عَادَةٍ فِي هَذِهِ العَائِلَةِ؟ · هَلْ تَخْتَلِفُ التَّحِيَّةُ مَعَ الأَصْدِقَاءِ؟ · مَا اللُّغَاتُ الَّتِي يَتَكَلَّمُونَهَا؟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sentences: family or country context, a greeting, hospitality, and one respectful “this may vary” statement. · Develop — Six to eight sentences with a comparison (similar / different) and وَلَكِنْ or أَيْضًا. · Stretch — Ten sentences; explain why one broad statement is inaccurate and replace it with careful language.
Website writing task (Stretch): Website writing task: a cultural comparison of six to ten connected sentences about one greeting or hospitality context (real, fictional or family-safe): the context, one greeting custom, one hospitality/family custom, one similarity, one difference, and a final statement about respect or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Teacher-made model built from website language (the website gives a planner, not a finished model). A girl would write فَخُورَةٌ.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(TB-L02 · Family, Friends and Relationships) · Writing a Short Personal Introduction) will spend class time USING this language, so students prepare it tonight — short, simple, easy to access (school guidance: “Simple, Short, Interesting, Relevant, Easy to access”). The five words are from the website F2-L11 (website) form and connected-writing vocabulary (الاِسْتِمَارَةُ appears in the website task titles).
Follow-up: the next Do Now tests two of these words (Flipped Learning: keep it short AND follow up).
Homework by route (website tasks). No internet? Students copy the five words from this slide into their book now.
TOPIC B: the five words are the ones the TB-L02 Do Now tests (preparation list of the website D2-L01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Identity and Personal Profiles</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الهُوِيَّةُ وَالمَلَفَّاتُ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Introduce and describe yourself accurately in spoken, written and form-based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TB-L01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Cultural words, greetings, hospitality and identity.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Culture Detective,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You never have to share anything personal today. You can always use a fictional family. Look for the green CORE boxes; English answers in the chat are fine.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a girl uses: “I am proud”.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فَخُورَةٌ.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فَخُورٌ.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فَخْرٌ.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after a female listener?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line means ‘I am from Morocco’?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المَغْرِبِ.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مَغْرِبِيَّةٌ.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المَغْرِبِ.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polite welcome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a girl uses: “I am proud”.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فَخُورَةٌ.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فَخُورٌ.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فَخْرٌ.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 F2-L05 (website)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after a female listener?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kasra in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line means ‘I am from Morocco’?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فِي المَغْرِبِ.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مَغْرِبِيَّةٌ.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المَغْرِبِ.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introduces origin: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polite welcome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تَفَضَّلِي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تَفَضَّلِي</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Observe, ask politely and follow the other person’s lead (website respectful rule).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بَعْضِ العَائِلَاتِ … · لَيْسَ دَائِمًا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core cultural vocabulary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greetings, hospitality, family and identity without stereotyping.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that practices vary by country, family and individual.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a cultural practice with a familiar context respectfully.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the key cultural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identify respectful greeting behaviour.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one similarity and one difference.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“in some families…” carefully.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layered identity.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challenge an inaccurate generalisation.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10 core cultural words (website “required core”) plus greeting, hospitality and comparison phrases. Core: the first six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cultural words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Greeting, blessing, hospitality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Careful comparison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ثَقَافَةٌ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custom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ضِيَافَةٌ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‎ضیافت‎ </a:t>
            </a:r>
            <a:pPr indent="0" marL="0">
              <a:buNone/>
            </a:pPr>
            <a:r>
              <a:rPr lang="en-US" sz="950" b="1" dirty="0">
                <a:solidFill>
                  <a:srgbClr val="2E8B57"/>
                </a:solidFill>
                <a:latin typeface="Calibri" pitchFamily="34" charset="0"/>
                <a:ea typeface="Calibri" pitchFamily="34" charset="-122"/>
                <a:cs typeface="Calibri" pitchFamily="34" charset="-120"/>
              </a:rPr>
              <a:t> ziyāfat · hospitality,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فَخُورٌ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‎فخر‎ </a:t>
            </a:r>
            <a:pPr indent="0" marL="0">
              <a:buNone/>
            </a:pPr>
            <a:r>
              <a:rPr lang="en-US" sz="950" b="1" dirty="0">
                <a:solidFill>
                  <a:srgbClr val="2E8B57"/>
                </a:solidFill>
                <a:latin typeface="Calibri" pitchFamily="34" charset="0"/>
                <a:ea typeface="Calibri" pitchFamily="34" charset="-122"/>
                <a:cs typeface="Calibri" pitchFamily="34" charset="-120"/>
              </a:rPr>
              <a:t> fakhr · pride (→ proud)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CULTURAL WORDS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customs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عَادَاتٌ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customs, habits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ʿā-dāt · sg. ʿā-da</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عَادَةٌ</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عَادَاتٌ</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تَقَالِيدُ</a:t>
            </a:r>
            <a:endParaRPr lang="ar-SA" sz="3000" dirty="0"/>
          </a:p>
        </p:txBody>
      </p:sp>
      <p:sp>
        <p:nvSpPr>
          <p:cNvPr id="56" name="Text 5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ta-qā-līd</a:t>
            </a:r>
            <a:endParaRPr lang="en-US" sz="1350" dirty="0"/>
          </a:p>
        </p:txBody>
      </p:sp>
      <p:sp>
        <p:nvSpPr>
          <p:cNvPr id="57" name="Text 54"/>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لِعَائِلَتِي تَقَالِيدُ جَمِيلَةٌ.</a:t>
            </a:r>
            <a:endParaRPr lang="ar-SA" sz="13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iḥ-ti-rām</a:t>
            </a:r>
            <a:endParaRPr lang="en-US" sz="1350" dirty="0"/>
          </a:p>
        </p:txBody>
      </p:sp>
      <p:sp>
        <p:nvSpPr>
          <p:cNvPr id="67" name="Text 64"/>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التَّحِيَّةُ تُظْهِرُ الاِحْتِرَامَ.</a:t>
            </a:r>
            <a:endParaRPr lang="ar-SA" sz="13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1" name="Shape 6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73" name="Shape 7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ضِيَافَةٌ</a:t>
            </a:r>
            <a:endParaRPr lang="ar-SA" sz="3000" dirty="0"/>
          </a:p>
        </p:txBody>
      </p:sp>
      <p:sp>
        <p:nvSpPr>
          <p:cNvPr id="76" name="Text 7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ḍi-yā-fa</a:t>
            </a:r>
            <a:endParaRPr lang="en-US" sz="1350" dirty="0"/>
          </a:p>
        </p:txBody>
      </p:sp>
      <p:sp>
        <p:nvSpPr>
          <p:cNvPr id="77" name="Text 7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Guest: </a:t>
            </a:r>
            <a:pPr algn="l" indent="0" marL="0">
              <a:buNone/>
            </a:pPr>
            <a:r>
              <a:rPr lang="ar-SA" altLang="en-US" sz="1300" dirty="0">
                <a:solidFill>
                  <a:srgbClr val="8A6D1E"/>
                </a:solidFill>
                <a:latin typeface="Amiri" pitchFamily="34" charset="0"/>
                <a:ea typeface="Amiri" pitchFamily="34" charset="-122"/>
                <a:cs typeface="Amiri" pitchFamily="34" charset="-120"/>
              </a:rPr>
              <a:t>ضَيْفٌ / ضَيْفَةٌ / ضُيُوفٌ</a:t>
            </a:r>
            <a:endParaRPr lang="en-US" sz="10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1" name="Shape 78"/>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عَائِلَةٌ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ʿā-ʾi-la · -āt</a:t>
            </a:r>
            <a:endParaRPr lang="en-US" sz="1350" dirty="0"/>
          </a:p>
        </p:txBody>
      </p:sp>
      <p:sp>
        <p:nvSpPr>
          <p:cNvPr id="87" name="Shape 8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89" name="Text 86"/>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عَائِلَتِي</a:t>
            </a:r>
            <a:endParaRPr lang="ar-SA" sz="1500" dirty="0"/>
          </a:p>
        </p:txBody>
      </p:sp>
      <p:sp>
        <p:nvSpPr>
          <p:cNvPr id="90" name="Shape 8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92" name="Text 89"/>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عَائِلَتُهُ</a:t>
            </a:r>
            <a:endParaRPr lang="ar-SA" sz="1500" dirty="0"/>
          </a:p>
        </p:txBody>
      </p:sp>
      <p:sp>
        <p:nvSpPr>
          <p:cNvPr id="93" name="Shape 9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95" name="Text 92"/>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عَائِلَتُهَا</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CORE CULTURAL WORDS 7–10 + COMPARISON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identity and pride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المُجْتَمَعُ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society, community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المُجْتَمَعُ مُتَنَوِّعٌ</a:t>
            </a:r>
            <a:pPr algn="l" indent="0" marL="0">
              <a:buNone/>
            </a:pPr>
            <a:r>
              <a:rPr lang="en-US" sz="1000" i="1" dirty="0">
                <a:solidFill>
                  <a:srgbClr val="8A6D1E"/>
                </a:solidFill>
                <a:latin typeface="Calibri" pitchFamily="34" charset="0"/>
                <a:ea typeface="Calibri" pitchFamily="34" charset="-122"/>
                <a:cs typeface="Calibri" pitchFamily="34" charset="-120"/>
              </a:rPr>
              <a:t>. (diverse)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recognise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دِينٌ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religion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dīn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part of SOME people’s identity — personal.</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hu-wiy-ya</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هُوِيَّتِي</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هُوِيَّتُهُ</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هُوِيَّتُهَا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فَخُورٌ بِـ</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proud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fa-khūr · fa-khū-ra · fa-khū-rūn</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فَخُورٌ</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فَخُورَةٌ</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فَخُورُونَ</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مُتَشَابِهٌ · مُخْتَلِفٌ</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similar · different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mu-ta-shā-bih · mukh-ta-lif</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 </a:t>
            </a:r>
            <a:pPr algn="l" indent="0" marL="0">
              <a:buNone/>
            </a:pPr>
            <a:r>
              <a:rPr lang="ar-SA" altLang="en-US" sz="1300" dirty="0">
                <a:solidFill>
                  <a:srgbClr val="8A6D1E"/>
                </a:solidFill>
                <a:latin typeface="Amiri" pitchFamily="34" charset="0"/>
                <a:ea typeface="Amiri" pitchFamily="34" charset="-122"/>
                <a:cs typeface="Amiri" pitchFamily="34" charset="-120"/>
              </a:rPr>
              <a:t>مُتَشَابِهَةٌ</a:t>
            </a:r>
            <a:pPr algn="l" indent="0" marL="0">
              <a:buNone/>
            </a:pPr>
            <a:r>
              <a:rPr lang="en-US" sz="1000" i="1" dirty="0">
                <a:solidFill>
                  <a:srgbClr val="8A6D1E"/>
                </a:solidFill>
                <a:latin typeface="Calibri" pitchFamily="34" charset="0"/>
                <a:ea typeface="Calibri" pitchFamily="34" charset="-122"/>
                <a:cs typeface="Calibri" pitchFamily="34" charset="-120"/>
              </a:rPr>
              <a:t> · </a:t>
            </a:r>
            <a:pPr algn="l" indent="0" marL="0">
              <a:buNone/>
            </a:pPr>
            <a:r>
              <a:rPr lang="ar-SA" altLang="en-US" sz="1300" dirty="0">
                <a:solidFill>
                  <a:srgbClr val="8A6D1E"/>
                </a:solidFill>
                <a:latin typeface="Amiri" pitchFamily="34" charset="0"/>
                <a:ea typeface="Amiri" pitchFamily="34" charset="-122"/>
                <a:cs typeface="Amiri" pitchFamily="34" charset="-120"/>
              </a:rPr>
              <a:t>مُخْتَلِفَةٌ</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0" name="Shape 77"/>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careful</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 · أَحْيَانًا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 · 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 · aḥ-yā-nan</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لَيْسَ دَائِمًا</a:t>
            </a:r>
            <a:pPr algn="l" indent="0" marL="0">
              <a:buNone/>
            </a:pPr>
            <a:r>
              <a:rPr lang="en-US" sz="1000" i="1" dirty="0">
                <a:solidFill>
                  <a:srgbClr val="8A6D1E"/>
                </a:solidFill>
                <a:latin typeface="Calibri" pitchFamily="34" charset="0"/>
                <a:ea typeface="Calibri" pitchFamily="34" charset="-122"/>
                <a:cs typeface="Calibri" pitchFamily="34" charset="-120"/>
              </a:rPr>
              <a:t> (not always)</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GREETINGS SHOW RESPECT — BUT PRACTICES VARY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Observe, ask, follow the lead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التَّحِيَّاتُ تُظْهِرُ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WORDS FIRST</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السَّلَامُ عَلَيْكُمْ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السَّلَامُ عَلَيْكُمْ · مَرْحَبًا · أَهْلًا وَسَهْلًا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Start with a clear spoken greeting.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Words are always a respectful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RELATIONSHIP MATTERS</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كَبِيرُ السِّنِّ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صَدِيقٌ · مُعَلِّمٌ · ضَيْفٌ · كَبِيرُ السِّنِّ</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friend · teacher · guest · older person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Different people may be greeted differently.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CONTACT VARIES</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مُصَافَحَةٌ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مُصَافَحَةٌ · اِبْتِسَامَةٌ · الكَلِمَاتُ فَقَطْ</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handshake · smile · words only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All can be normal. Do not assume — follow their lead.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Avoid the stereotype (website): one language does not mean one greeting style.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فِي بَعْضِ العَائِلَاتِ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كُلُّ العَائِلَاتِ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BLESSING LANGUAGE IN EVERYDAY SPEECH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Everyday blessing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عِبَارَاتٌ 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may hear it…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السَّلَامُ عَلَيْكُمْ</a:t>
            </a:r>
            <a:endParaRPr lang="ar-SA" sz="2400" dirty="0"/>
          </a:p>
        </p:txBody>
      </p:sp>
      <p:sp>
        <p:nvSpPr>
          <p:cNvPr id="21" name="Text 18"/>
          <p:cNvSpPr txBox="1"/>
          <p:nvPr/>
        </p:nvSpPr>
        <p:spPr>
          <a:xfrm>
            <a:off x="397764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Peace be upon you.</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 a greeting (F2-L01 (website))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الحَمْدُ لِلَّهِ</a:t>
            </a:r>
            <a:endParaRPr lang="ar-SA" sz="2400" dirty="0"/>
          </a:p>
        </p:txBody>
      </p:sp>
      <p:sp>
        <p:nvSpPr>
          <p:cNvPr id="27" name="Text 24"/>
          <p:cNvSpPr txBox="1"/>
          <p:nvPr/>
        </p:nvSpPr>
        <p:spPr>
          <a:xfrm>
            <a:off x="397764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Praise be to God. / I am well.</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“how are you?”</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شَاءَ اللَّهُ</a:t>
            </a:r>
            <a:endParaRPr lang="ar-SA" sz="2400" dirty="0"/>
          </a:p>
        </p:txBody>
      </p:sp>
      <p:sp>
        <p:nvSpPr>
          <p:cNvPr id="33" name="Text 30"/>
          <p:cNvSpPr txBox="1"/>
          <p:nvPr/>
        </p:nvSpPr>
        <p:spPr>
          <a:xfrm>
            <a:off x="397764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God willing.</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talking about the 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799832"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شَاءَ اللَّهُ</a:t>
            </a:r>
            <a:endParaRPr lang="ar-SA" sz="2400" dirty="0"/>
          </a:p>
        </p:txBody>
      </p:sp>
      <p:sp>
        <p:nvSpPr>
          <p:cNvPr id="37" name="Text 34"/>
          <p:cNvSpPr txBox="1"/>
          <p:nvPr/>
        </p:nvSpPr>
        <p:spPr>
          <a:xfrm>
            <a:off x="397764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expression of appreciation and blessing.</a:t>
            </a:r>
            <a:endParaRPr lang="en-US" sz="1100" dirty="0"/>
          </a:p>
        </p:txBody>
      </p:sp>
      <p:sp>
        <p:nvSpPr>
          <p:cNvPr id="38" name="Text 35"/>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admiring something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HOSPITALITY AND FAMILY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Welcome, offer, ask after the family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الضِّيَافَةِ وَالعَائِلَةِ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329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7" name="Text 14"/>
          <p:cNvSpPr txBox="1"/>
          <p:nvPr/>
        </p:nvSpPr>
        <p:spPr>
          <a:xfrm>
            <a:off x="3758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251192" y="226771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أَهْلًا وَسَهْلًا</a:t>
            </a:r>
            <a:endParaRPr lang="ar-SA" sz="2200" dirty="0"/>
          </a:p>
        </p:txBody>
      </p:sp>
      <p:sp>
        <p:nvSpPr>
          <p:cNvPr id="21" name="Text 18"/>
          <p:cNvSpPr txBox="1"/>
          <p:nvPr/>
        </p:nvSpPr>
        <p:spPr>
          <a:xfrm>
            <a:off x="3794760" y="226771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Welcome.</a:t>
            </a:r>
            <a:endParaRPr lang="en-US" sz="1100" dirty="0"/>
          </a:p>
        </p:txBody>
      </p:sp>
      <p:sp>
        <p:nvSpPr>
          <p:cNvPr id="22" name="Text 19"/>
          <p:cNvSpPr txBox="1"/>
          <p:nvPr/>
        </p:nvSpPr>
        <p:spPr>
          <a:xfrm>
            <a:off x="566928" y="226771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receiving someone warmly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7251192" y="2950464"/>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تَفَضَّلْ / تَفَضَّلِي</a:t>
            </a:r>
            <a:endParaRPr lang="ar-SA" sz="2200" dirty="0"/>
          </a:p>
        </p:txBody>
      </p:sp>
      <p:sp>
        <p:nvSpPr>
          <p:cNvPr id="27" name="Text 24"/>
          <p:cNvSpPr txBox="1"/>
          <p:nvPr/>
        </p:nvSpPr>
        <p:spPr>
          <a:xfrm>
            <a:off x="3794760" y="2950464"/>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Please come in. / Here you are.</a:t>
            </a:r>
            <a:endParaRPr lang="en-US" sz="1100" dirty="0"/>
          </a:p>
        </p:txBody>
      </p:sp>
      <p:sp>
        <p:nvSpPr>
          <p:cNvPr id="28" name="Text 25"/>
          <p:cNvSpPr txBox="1"/>
          <p:nvPr/>
        </p:nvSpPr>
        <p:spPr>
          <a:xfrm>
            <a:off x="566928" y="2950464"/>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for the listener (F2-L06 (website))</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7251192" y="3633216"/>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تُرِيدُ شَايًا أَوْ قَهْوَةً؟</a:t>
            </a:r>
            <a:endParaRPr lang="ar-SA" sz="2200" dirty="0"/>
          </a:p>
        </p:txBody>
      </p:sp>
      <p:sp>
        <p:nvSpPr>
          <p:cNvPr id="33" name="Text 30"/>
          <p:cNvSpPr txBox="1"/>
          <p:nvPr/>
        </p:nvSpPr>
        <p:spPr>
          <a:xfrm>
            <a:off x="3794760" y="3633216"/>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Would you like tea or coffee?</a:t>
            </a:r>
            <a:endParaRPr lang="en-US" sz="1100" dirty="0"/>
          </a:p>
        </p:txBody>
      </p:sp>
      <p:sp>
        <p:nvSpPr>
          <p:cNvPr id="34" name="Text 31"/>
          <p:cNvSpPr txBox="1"/>
          <p:nvPr/>
        </p:nvSpPr>
        <p:spPr>
          <a:xfrm>
            <a:off x="566928" y="3633216"/>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practical offer (f.: </a:t>
            </a:r>
            <a:pPr algn="l" indent="0" marL="0">
              <a:buNone/>
            </a:pPr>
            <a:r>
              <a:rPr lang="ar-SA" altLang="en-US" sz="1450" dirty="0">
                <a:solidFill>
                  <a:srgbClr val="5A6472"/>
                </a:solidFill>
                <a:latin typeface="Amiri" pitchFamily="34" charset="0"/>
                <a:ea typeface="Amiri" pitchFamily="34" charset="-122"/>
                <a:cs typeface="Amiri" pitchFamily="34" charset="-120"/>
              </a:rPr>
              <a:t>تُرِيدِينَ</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7251192" y="4315968"/>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الأَهْلُ؟</a:t>
            </a:r>
            <a:endParaRPr lang="ar-SA" sz="2200" dirty="0"/>
          </a:p>
        </p:txBody>
      </p:sp>
      <p:sp>
        <p:nvSpPr>
          <p:cNvPr id="39" name="Text 36"/>
          <p:cNvSpPr txBox="1"/>
          <p:nvPr/>
        </p:nvSpPr>
        <p:spPr>
          <a:xfrm>
            <a:off x="3794760" y="4315968"/>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is the family?</a:t>
            </a:r>
            <a:endParaRPr lang="en-US" sz="1100" dirty="0"/>
          </a:p>
        </p:txBody>
      </p:sp>
      <p:sp>
        <p:nvSpPr>
          <p:cNvPr id="40" name="Text 37"/>
          <p:cNvSpPr txBox="1"/>
          <p:nvPr/>
        </p:nvSpPr>
        <p:spPr>
          <a:xfrm>
            <a:off x="566928" y="4315968"/>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the relationship makes it right</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7251192" y="4998720"/>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 بِخَيْرٍ، الحَمْدُ لِلَّهِ.</a:t>
            </a:r>
            <a:endParaRPr lang="ar-SA" sz="2200" dirty="0"/>
          </a:p>
        </p:txBody>
      </p:sp>
      <p:sp>
        <p:nvSpPr>
          <p:cNvPr id="43" name="Text 40"/>
          <p:cNvSpPr txBox="1"/>
          <p:nvPr/>
        </p:nvSpPr>
        <p:spPr>
          <a:xfrm>
            <a:off x="3794760" y="4998720"/>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are well, praise be to God.</a:t>
            </a:r>
            <a:endParaRPr lang="en-US" sz="1100" dirty="0"/>
          </a:p>
        </p:txBody>
      </p:sp>
      <p:sp>
        <p:nvSpPr>
          <p:cNvPr id="44" name="Text 41"/>
          <p:cNvSpPr txBox="1"/>
          <p:nvPr/>
        </p:nvSpPr>
        <p:spPr>
          <a:xfrm>
            <a:off x="566928" y="4998720"/>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possible answer</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7251192" y="568147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شُكْرًا عَلَى الضِّيَافَةِ.</a:t>
            </a:r>
            <a:endParaRPr lang="ar-SA" sz="2200" dirty="0"/>
          </a:p>
        </p:txBody>
      </p:sp>
      <p:sp>
        <p:nvSpPr>
          <p:cNvPr id="47" name="Text 44"/>
          <p:cNvSpPr txBox="1"/>
          <p:nvPr/>
        </p:nvSpPr>
        <p:spPr>
          <a:xfrm>
            <a:off x="3794760" y="568147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Thank you for the hospitality.</a:t>
            </a:r>
            <a:endParaRPr lang="en-US" sz="1100" dirty="0"/>
          </a:p>
        </p:txBody>
      </p:sp>
      <p:sp>
        <p:nvSpPr>
          <p:cNvPr id="48" name="Text 45"/>
          <p:cNvSpPr txBox="1"/>
          <p:nvPr/>
        </p:nvSpPr>
        <p:spPr>
          <a:xfrm>
            <a:off x="566928" y="568147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polite closing</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HOSPITALITY · THE WEBSITE MICRO-DIALOGUE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Salma welcomes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حِوَارٌ قَصِيرٌ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أَهْلًا وَسَهْلًا يَا مَرْيَمُ. تَفَضَّلِي.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Maryam. Come in.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شُكْرًا. كَيْفَ الأَهْلُ؟</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 How is the family?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هُمْ بِخَيْرٍ، الحَمْدُ لِلَّهِ. هَلْ تُرِيدِينَ شَايًا؟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well, praise be to God. Would you like some tea?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نَعَمْ، مِنْ فَضْلِكِ.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please.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IDENTITY HAS MORE THAN ONE LAYER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Layers of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لِلْهُوِيَّةِ أَكْثَرُ مِنْ جَانِبٍ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 (I)</a:t>
            </a:r>
            <a:endParaRPr lang="en-US" sz="1100" dirty="0"/>
          </a:p>
        </p:txBody>
      </p:sp>
      <p:sp>
        <p:nvSpPr>
          <p:cNvPr id="18" name="Text 15"/>
          <p:cNvSpPr txBox="1"/>
          <p:nvPr/>
        </p:nvSpPr>
        <p:spPr>
          <a:xfrm>
            <a:off x="32095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 (I)</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Name</a:t>
            </a:r>
            <a:endParaRPr lang="en-US" sz="1100" dirty="0"/>
          </a:p>
        </p:txBody>
      </p:sp>
      <p:sp>
        <p:nvSpPr>
          <p:cNvPr id="22" name="Text 19"/>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a:t>
            </a:r>
            <a:endParaRPr lang="ar-SA" sz="2200" dirty="0"/>
          </a:p>
        </p:txBody>
      </p:sp>
      <p:sp>
        <p:nvSpPr>
          <p:cNvPr id="23" name="Text 20"/>
          <p:cNvSpPr txBox="1"/>
          <p:nvPr/>
        </p:nvSpPr>
        <p:spPr>
          <a:xfrm>
            <a:off x="32461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Language</a:t>
            </a:r>
            <a:endParaRPr lang="en-US" sz="1100" dirty="0"/>
          </a:p>
        </p:txBody>
      </p:sp>
      <p:sp>
        <p:nvSpPr>
          <p:cNvPr id="24" name="Text 21"/>
          <p:cNvSpPr txBox="1"/>
          <p:nvPr/>
        </p:nvSpPr>
        <p:spPr>
          <a:xfrm>
            <a:off x="54864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Origin</a:t>
            </a:r>
            <a:endParaRPr lang="en-US" sz="1100" dirty="0"/>
          </a:p>
        </p:txBody>
      </p:sp>
      <p:sp>
        <p:nvSpPr>
          <p:cNvPr id="29" name="Text 26"/>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a:t>
            </a:r>
            <a:endParaRPr lang="ar-SA" sz="2200" dirty="0"/>
          </a:p>
        </p:txBody>
      </p:sp>
      <p:sp>
        <p:nvSpPr>
          <p:cNvPr id="30" name="Text 27"/>
          <p:cNvSpPr txBox="1"/>
          <p:nvPr/>
        </p:nvSpPr>
        <p:spPr>
          <a:xfrm>
            <a:off x="32461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Family</a:t>
            </a:r>
            <a:endParaRPr lang="en-US" sz="1100" dirty="0"/>
          </a:p>
        </p:txBody>
      </p:sp>
      <p:sp>
        <p:nvSpPr>
          <p:cNvPr id="31" name="Text 28"/>
          <p:cNvSpPr txBox="1"/>
          <p:nvPr/>
        </p:nvSpPr>
        <p:spPr>
          <a:xfrm>
            <a:off x="54864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عَائِلَتِي …</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Residence</a:t>
            </a:r>
            <a:endParaRPr lang="en-US" sz="1100" dirty="0"/>
          </a:p>
        </p:txBody>
      </p:sp>
      <p:sp>
        <p:nvSpPr>
          <p:cNvPr id="36" name="Text 33"/>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a:t>
            </a:r>
            <a:endParaRPr lang="ar-SA" sz="2200" dirty="0"/>
          </a:p>
        </p:txBody>
      </p:sp>
      <p:sp>
        <p:nvSpPr>
          <p:cNvPr id="37" name="Text 34"/>
          <p:cNvSpPr txBox="1"/>
          <p:nvPr/>
        </p:nvSpPr>
        <p:spPr>
          <a:xfrm>
            <a:off x="32461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Interest</a:t>
            </a:r>
            <a:endParaRPr lang="en-US" sz="1100" dirty="0"/>
          </a:p>
        </p:txBody>
      </p:sp>
      <p:sp>
        <p:nvSpPr>
          <p:cNvPr id="38" name="Text 35"/>
          <p:cNvSpPr txBox="1"/>
          <p:nvPr/>
        </p:nvSpPr>
        <p:spPr>
          <a:xfrm>
            <a:off x="54864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a:t>
            </a:r>
            <a:endParaRPr lang="ar-SA" sz="22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Pride</a:t>
            </a:r>
            <a:endParaRPr lang="en-US" sz="1100" dirty="0"/>
          </a:p>
        </p:txBody>
      </p:sp>
      <p:sp>
        <p:nvSpPr>
          <p:cNvPr id="41" name="Text 38"/>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فَخُورٌ / فَخُورَةٌ بِـ …</a:t>
            </a:r>
            <a:endParaRPr lang="ar-SA" sz="2200" dirty="0"/>
          </a:p>
        </p:txBody>
      </p:sp>
      <p:sp>
        <p:nvSpPr>
          <p:cNvPr id="42" name="Text 39"/>
          <p:cNvSpPr txBox="1"/>
          <p:nvPr/>
        </p:nvSpPr>
        <p:spPr>
          <a:xfrm>
            <a:off x="32461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Belief (optional)</a:t>
            </a:r>
            <a:endParaRPr lang="en-US" sz="1100" dirty="0"/>
          </a:p>
        </p:txBody>
      </p:sp>
      <p:sp>
        <p:nvSpPr>
          <p:cNvPr id="43" name="Text 40"/>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optional — your choice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هُوِيَّتِي مُتَنَوِّعَةٌ</a:t>
            </a:r>
            <a:pPr algn="l" indent="0" marL="0">
              <a:buNone/>
            </a:pPr>
            <a:r>
              <a:rPr lang="en-US" sz="1150" b="1" dirty="0">
                <a:solidFill>
                  <a:srgbClr val="1B3B6F"/>
                </a:solidFill>
                <a:latin typeface="Calibri" pitchFamily="34" charset="0"/>
                <a:ea typeface="Calibri" pitchFamily="34" charset="-122"/>
                <a:cs typeface="Calibri" pitchFamily="34" charset="-120"/>
              </a:rPr>
              <a:t>. — My identity is diverse. No single layer tells the whole story.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accurate statement about greeting gestures?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Arab greeting includes a handshake.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contact is always expected.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vary by person, family, setting and community.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respectfully asks after the family?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الأَهْلُ؟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دِينُكَ؟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a learner do when unsure about a greeting gesture?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 one rule for every country.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words, observe and follow the other person’s lead.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greeting anyone.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overgeneralising?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يُقَدِّمُونَ القَهْوَةَ.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العَائِلَاتِ تُقَدِّمُ القَهْوَةَ.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 جَمِيعًا مُتَشَابِهُونَ.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accurate statement about greeting gestures?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Arab greeting includes a handshake.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contact is always expected.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vary by person, family, setting and community.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Greeting gestures vary; observe and follow the other person’s lead.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respectfully asks after the family?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الأَهْلُ؟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دِينُكَ؟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كَيْفَ الأَهْلُ؟</a:t>
            </a:r>
            <a:pPr algn="l" indent="0" marL="0">
              <a:buNone/>
            </a:pPr>
            <a:r>
              <a:rPr lang="en-US" sz="1050" i="1" dirty="0">
                <a:solidFill>
                  <a:srgbClr val="8A6D1E"/>
                </a:solidFill>
                <a:latin typeface="Calibri" pitchFamily="34" charset="0"/>
                <a:ea typeface="Calibri" pitchFamily="34" charset="-122"/>
                <a:cs typeface="Calibri" pitchFamily="34" charset="-120"/>
              </a:rPr>
              <a:t> means ‘How is the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a learner do when unsure about a greeting gesture?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 one rule for every country.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Use words, observe and follow the other person’s lead.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greeting anyone.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Words plus attentive observation are respectful and adaptable.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overgeneralising?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يُقَدِّمُونَ القَهْوَةَ.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العَائِلَاتِ تُقَدِّمُ القَهْوَةَ.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جَمِيعًا مُتَشَابِهُونَ.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means ‘in some families’ and leaves room for variation.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a family respectfully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context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هَذِهِ عَائِلَةٌ مَغْرِبِيَّةٌ بَرِيطَانِيَّةٌ.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fictional family — not a real classmate.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greeting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يَقُولُونَ السَّلَامُ عَلَيْكُمْ عِنْدَ اللِّقَاءِ.</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say … when they meet.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Hospitality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وَيُقَدِّمُونَ الشَّايَ لِلضُّيُوفِ.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offer tea to guests.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Careful variation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بَعْضُ الأَقَارِبِ يُصَافِحُونَ،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آخَرِينَ يُفَضِّلُونَ الكَلِمَاتِ.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SOME … but OTHERS … — no “all”.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هَذِهِ عَائِلَةٌ مَغْرِبِيَّةٌ بَرِيطَانِيَّةٌ. يَقُولُونَ السَّلَامُ عَلَيْكُمْ، وَيُقَدِّمُونَ الشَّايَ لِلضُّيُوفِ. بَعْضُ الأَقَارِبِ يُصَافِحُونَ، </a:t>
            </a:r>
            <a:pPr rtl="1" algn="r" indent="0" marL="0">
              <a:buNone/>
            </a:pPr>
            <a:r>
              <a:rPr lang="ar-SA" altLang="en-US" sz="1700" b="1" dirty="0">
                <a:solidFill>
                  <a:srgbClr val="0E7C86"/>
                </a:solidFill>
                <a:latin typeface="Amiri" pitchFamily="34" charset="0"/>
                <a:ea typeface="Amiri" pitchFamily="34" charset="-122"/>
                <a:cs typeface="Amiri" pitchFamily="34" charset="-120"/>
              </a:rPr>
              <a:t>وَلَكِنَّ</a:t>
            </a:r>
            <a:pPr rtl="1" algn="r" indent="0" marL="0">
              <a:buNone/>
            </a:pPr>
            <a:r>
              <a:rPr lang="ar-SA" altLang="en-US" sz="1700" b="1" dirty="0">
                <a:solidFill>
                  <a:srgbClr val="1B3B6F"/>
                </a:solidFill>
                <a:latin typeface="Amiri" pitchFamily="34" charset="0"/>
                <a:ea typeface="Amiri" pitchFamily="34" charset="-122"/>
                <a:cs typeface="Amiri" pitchFamily="34" charset="-120"/>
              </a:rPr>
              <a:t> آخَرِينَ يُفَضِّلُونَ التَّحِيَّةَ بِالكَلِمَاتِ.</a:t>
            </a:r>
            <a:endParaRPr lang="ar-SA" sz="17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a Moroccan-British family. They say “peace be upon you”, and they offer tea to guests. Some relatives shake hands, but others prefer to greet with words.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GREETINGS AND IDENTITY IN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picture to the cultural sentence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 respect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 vary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gathering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فِي المُنَاسَبَاتِ.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اِحْتِرَامُ عَادَاتِ الضِّيَافَةِ.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 respect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respect hospitality customs.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 vary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gathering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فِي المُنَاسَبَاتِ.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on special occasions.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“CULTURE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المُحَقِّقِ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Arab family serves coffee to every visitor.” — how should this be classified?</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“I prefer to greet with words rather than physical contact.” — how should this be classified?</a:t>
            </a:r>
            <a:endParaRPr lang="en-US" sz="10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student must tell the class their religion.” — how should this be classified?</a:t>
            </a:r>
            <a:endParaRPr lang="en-US" sz="1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person can identify with more than one culture.” — how should this be classified?</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“I can know someone’s religion from their appearance.” — how should this be classified?</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THINK ABOUT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Evidence · variation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privacy · choice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Words like “every” or “all” = be careful!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CULTURE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Arab family serves coffee to every visitor.” — how should this be classified?</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This needs more care. Some families serve coffee, tea, another drink or nothing; guests may also decline.</a:t>
            </a:r>
            <a:endParaRPr lang="en-US"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“I prefer to greet with words rather than physical contact.” — how should this be classified?</a:t>
            </a:r>
            <a:endParaRPr lang="en-US" sz="100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Needs more care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a personal choice and should be respected.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student must tell the class their religion.” — how should this be classified?</a:t>
            </a:r>
            <a:endParaRPr lang="en-US" sz="1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Religion is personal information. No learner should be required to disclose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person can identify with more than one culture.” — how should this be classified?</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Needs more care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Layered or mixed cultural identity is common and accurately described.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“I can know someone’s religion from their appearance.” — how should this be classified?</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Appearance does not reliably reveal belief and assumptions can be harmful.</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THINK ABOUT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Evidence · variation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privacy · choice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Words like “every” or “all” = be careful!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visits the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 Rami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 Maryam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دِينُكِ؟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الأَهْلُ؟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offer?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الشَّايَ وَالتَّمْرَ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وَالخُبْزَ</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final message?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family follows exactly the same customs.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and hospitality customs differ from one family to another.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nationality forms identity.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boxes: speaker · greeting · family question · offer · identity · final message.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هَنَاءُ، وَأَنَا أُرْدُنِيَّةٌ أَعِيشُ فِي لَنْدَنَ.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Hanaa; I am Jordanian and I live in London.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اليَوْمَ تَزُورُنَا صَدِيقَتِي مَرْيَمُ. أَقُولُ لَهَا: أَهْلًا وَسَهْلًا، تَفَضَّلِي.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Today my friend Maryam is visiting us. I say to her: Welcome, come in.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أَسْأَلُهَا: كَيْفَ الأَهْلُ؟ وَأُقَدِّمُ لَهَا الشَّايَ وَالتَّمْرَ.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I ask her: How is the family? And I offer her tea and dates.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أَنَا فَخُورَةٌ بِعَائِلَتِي وَبِثَقَافَتِي، وَلَكِنَّنِي أَعْرِفُ أَنَّ عَادَاتِ التَّحِيَّةِ وَالضِّيَافَةِ تَخْتَلِفُ مِنْ عَائِلَةٍ إِلَى أُخْرَى.</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proud of my family and culture, but I know that greeting and hospitality customs differ from one family to another.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وَأَنَا أُرْدُنِيَّةٌ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visits the family?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brother Rami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 Maryam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Hanaa says her friend Maryam is visiting.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دِينُكِ؟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الأَهْلُ؟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after the family: </a:t>
            </a:r>
            <a:pPr algn="l" indent="0" marL="0">
              <a:buNone/>
            </a:pPr>
            <a:r>
              <a:rPr lang="ar-SA" altLang="en-US" sz="1350" dirty="0">
                <a:solidFill>
                  <a:srgbClr val="8A6D1E"/>
                </a:solidFill>
                <a:latin typeface="Amiri" pitchFamily="34" charset="0"/>
                <a:ea typeface="Amiri" pitchFamily="34" charset="-122"/>
                <a:cs typeface="Amiri" pitchFamily="34" charset="-120"/>
              </a:rPr>
              <a:t>كَيْفَ الأَهْلُ؟</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offer?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الشَّايَ وَالتَّمْرَ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وَالخُبْزَ</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المَاءَ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offers tea and dates.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final message?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Every family follows exactly the same customs.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Greeting and hospitality customs differ from one family to another.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nationality forms identity.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explicitly says customs differ from one family to another.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boxes: speaker · greeting · family question · offer · identity · final message.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THREE FICTIONAL FAMILY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families, three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 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يَاسْمِينُ مَغْرِبِيَّةٌ وَتَعِيشُ فِي بَرِيسْتُولَ. فِي عَائِلَتِهَا يَقُولُونَ «السَّلَامُ عَلَيْكُمْ» وَيَسْأَلُونَ عَنِ الأَهْلِ.</a:t>
            </a:r>
            <a:endParaRPr lang="ar-SA" sz="16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Yasmin: Moroccan, lives in Bristol · greeting + asking after the family</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يَزُورُهُمْ ضَيْفٌ، يُقَدِّمُونَ الشَّايَ. يَاسْمِينُ فَخُورَةٌ بِاللُّغَةِ العَرَبِيَّةِ وَبِتَقَالِيدِ عَائِلَتِهَا.</a:t>
            </a:r>
            <a:endParaRPr lang="ar-SA" sz="17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offer tea to guests · proud of Arabic and family traditions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رَامِي لُبْنَانِيٌّ وَيَعِيشُ فِي مَانْشِسْتَرَ. يَتَكَلَّمُ العَرَبِيَّةَ وَالإِنْجِلِيزِيَّةَ فِي البَيْتِ.</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Rami: Lebanese, Manchester · Arabic and English at home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34" charset="0"/>
                <a:ea typeface="Amiri" pitchFamily="34" charset="-122"/>
                <a:cs typeface="Amiri" pitchFamily="34" charset="-120"/>
              </a:rPr>
              <a:t>بَعْضُ أَقَارِبِهِ يُصَافِحُونَ، وَبَعْضُهُمْ يُفَضِّلُونَ التَّحِيَّةَ بِالكَلِمَاتِ فَقَطْ. يَقُولُ رَامِي إِنَّ الاِحْتِرَامَ أَهَمُّ مِنْ شَكْلِ التَّحِيَّةِ.</a:t>
            </a:r>
            <a:endParaRPr lang="ar-SA" sz="135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relatives shake hands, some prefer words · respect matters more than the form</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34" charset="0"/>
                <a:ea typeface="Amiri" pitchFamily="34" charset="-122"/>
                <a:cs typeface="Amiri" pitchFamily="34" charset="-120"/>
              </a:rPr>
              <a:t>آدَمُ بَرِيطَانِيٌّ مِنْ عَائِلَةٍ أُرْدُنِيَّةٍ. فِي المَدْرَسَةِ تَكُونُ تَحِيَّاتُهُ قَصِيرَةً، وَلَكِنْ فِي البَيْتِ يَسْأَلُ عَنِ الصِّحَّةِ وَالعَائِلَةِ.</a:t>
            </a:r>
            <a:endParaRPr lang="ar-SA" sz="135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Adam: British, Jordanian family · short greetings at school, longer at home</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يَرَى آدَمُ أَنَّ هُوِيَّتَهُ تَجْمَعُ بَيْنَ أَكْثَرَ مِنْ ثَقَافَةٍ.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identity combines more than one culture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QUESTIONS (TEACHER-MADE FROM THE WEBSITE PROFILES)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Yasmin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Bristol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Yasmin’s family offer a guest?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Rami speak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Rami’s main point in the reading?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matters more than one fixed greeting form.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should shake hands.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may be spoken at home.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Adam’s greetings different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in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does not greet.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short.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Point to the Arabic that proves it. Remember: these are three fictional families, not rules for a whole country.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Yasmin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Manchester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Bristol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يَاسْمِينُ … تَعِيشُ فِي بَرِيسْتُولَ.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Yasmin’s family offer a guest?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يُقَدِّمُونَ الشَّايَ.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Rami speak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French</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يَتَكَلَّمُ العَرَبِيَّةَ وَالإِنْجِلِيزِيَّةَ فِي البَيْتِ.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Rami’s main point in the reading?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Respect matters more than one fixed greeting form.</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should shake hands.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may be spoken at home.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Rami values respect over a particular gesture.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Adam’s greetings different at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in French.</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does not greet.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short.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المَدْرَسَةِ تَكُونُ تَحِيَّاتُهُ قَصِيرَةً.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Point to the Arabic that proves it. Remember: these are three fictional families, not rules for a whole country.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Identity mystery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Identity mystery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Create a six-clue personal profile using name, age, place, language, study and personality. A partner identifies the person and checks gender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writes six clues about themselves or an invented person (in the chat, privately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reads one profile aloud WITHOUT the name.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class guesses who it is, then checks the gender agreement (-a / -iyya).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more rounds; the class picks the clearest clue.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name → age → one language (ismī / ‘umrī / atakallamu).</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Six clues in the third person: he / she (-hu / -hā, ya- / ta-).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Six clues including personality and study, with a “but” (lākinna).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عُمْرُهُ / عُمْرُهَا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is … years old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هُوَ مِصْرِيٌّ / هِيَ مِصْرِيَّةٌ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is Egyptian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يَتَكَلَّمُ / تَتَكَلَّمُ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speaks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يَدْرُسُ / تَدْرُسُ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studies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Present a respectful cultural profile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تُسَلِّمُ هَذِهِ العَائِلَةُ؟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عَادَةٍ فِي هَذِهِ العَائِلَةِ؟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التَّحِيَّةُ مَعَ الأَصْدِقَاءِ؟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جُمْلَةُ «كُلُّ العَائِلَاتِ …» غَيْرُ دَقِيقَةٍ؟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هَذِهِ عَائِلَةٌ ___ . يَقُولُونَ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العَائِلَاتِ ___ ، وَلَكِنْ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لَيْسَ دَائِمًا … تَخْتَلِفُ العَادَاتُ مِنْ عَائِلَةٍ إِلَى أُخْرَى.</a:t>
            </a:r>
            <a:endParaRPr lang="ar-SA" sz="12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الاِحْتِرَامُ مُهِمٌّ.</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عَائِلَةٌ أُرْدُنِيَّةٌ. عِنْدَمَا يَصِلُ الجَارُ يَقُولُونَ أَهْلًا وَسَهْلًا.</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This is a Jordanian family. When the neighbour arrives they say “welcome”.</a:t>
            </a:r>
            <a:endParaRPr lang="en-US" sz="90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يُقَدِّمُونَ الشَّايَ وَالتَّمْرَ، وَلَكِنَّهُمْ يَحْتَرِمُونَ اخْتِيَارَ الضَّيْفِ.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They offer tea and dates, but they respect the guest’s choice.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sentences: family or country context, a greeting, hospitality, and one respectful “this may vary” statement.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(fictional) family, a greeting, hospitality, and “in some families…”.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to eight sentences with a comparison (similar / different) and </a:t>
            </a:r>
            <a:pPr algn="l" indent="0" marL="0">
              <a:buNone/>
            </a:pPr>
            <a:r>
              <a:rPr lang="ar-SA" altLang="en-US" sz="1800" b="1" dirty="0">
                <a:solidFill>
                  <a:srgbClr val="1F2A37"/>
                </a:solidFill>
                <a:latin typeface="Amiri" pitchFamily="34" charset="0"/>
                <a:ea typeface="Amiri" pitchFamily="34" charset="-122"/>
                <a:cs typeface="Amiri" pitchFamily="34" charset="-120"/>
              </a:rPr>
              <a:t>وَلَكِنْ</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أَيْضًا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similarity and one difference with Britain; use وَلَكِنْ / أَيْضًا.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Ten sentences; explain why one broad statement is inaccurate and replace it with careful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layered identity and correct one broad statement with careful language.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بَرِيطَانِيَا التَّحِيَّةُ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Britain the greeting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مُتَشَابِهٌ، وَلَكِنَّ ______ مُخْتَلِفٌ.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similar, but … is different.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العَادَاتُ مِنْ عَائِلَةٍ إِلَى أُخْرَى.</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Customs differ from one family to another.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الاِحْتِرَامُ أَهَمُّ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Respect is more important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هُوِيَّتِي مُتَنَوِّعَةٌ.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identity is diverse.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عَائِلَتِي نَقُولُ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family / this family we say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يَزُورُنَا ضَيْفٌ، نُقَدِّمُ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a guest visits, we offer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العَائِلَاتِ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families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فَخُورٌ / فَخُورَةٌ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proud of my culture.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ثَقَافَةٌ  ·  عَادَاتٌ  ·  تَقَالِيدُ  ·  اِحْتِرَامٌ  ·  ضِيَافَةٌ  ·  عَائِلَةٌ  ·  هُوِيَّةٌ  ·  الشَّايَ  ·  القَهْوَةَ  ·  التَّمْرَ  ·  مُتَشَابِهٌ  ·  مُخْتَلِفٌ  ·  أَحْيَانًا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عَائِلَتِي نَقُولُ السَّلَامُ عَلَيْكُمْ، وَنَسْأَلُ: كَيْفَ الأَهْلُ؟ عِنْدَمَا يَزُورُنَا ضَيْفٌ، نُقَدِّمُ الشَّايَ. فِي المَدْرَسَةِ فِي بَرِيطَانِيَا التَّحِيَّةُ قَصِيرَةٌ، وَلَكِنَّ الاِحْتِرَامَ مُتَشَابِهٌ. فِي بَعْضِ العَائِلَاتِ تَخْتَلِفُ العَادَاتُ. أَنَا فَخُورٌ بِثَقَافَتِي.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family we say “peace be upon you”, and we ask: How is the family? When a guest visits us, we offer tea. At school in Britain the greeting is short, but the respect is similar. In some families the customs differ. I am proud of my culture.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hospitality custom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similar … but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فِي بَعْضِ العَائِلَاتِ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four cultural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a greeting respectfully.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similarity and one difference.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avoided “all” and “always” — I used “in some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layered identity without personal disclosure.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ضِيَافَةٌ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تَقَالِيدُ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avoids a universal claim?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النَّاسِ…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دَائِمًا عِنْدَ الجَمِيعِ…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final cultural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Practices vary, so I describe evidence carefully and respect personal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family represents an entire country.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Arabic-speaking communities share identical traditions.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ضِيَافَةٌ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تَقَالِيدُ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مُجْتَمَعٌ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ضِيَافَةٌ</a:t>
            </a:r>
            <a:pPr algn="l" indent="0" marL="0">
              <a:buNone/>
            </a:pPr>
            <a:r>
              <a:rPr lang="en-US" sz="1050" i="1" dirty="0">
                <a:solidFill>
                  <a:srgbClr val="8A6D1E"/>
                </a:solidFill>
                <a:latin typeface="Calibri" pitchFamily="34" charset="0"/>
                <a:ea typeface="Calibri" pitchFamily="34" charset="-122"/>
                <a:cs typeface="Calibri" pitchFamily="34" charset="-120"/>
              </a:rPr>
              <a:t> means hospitality.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avoids a universal claim?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كُلُّ النَّاسِ…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بَعْضِ العَائِلَاتِ…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دَائِمًا عِنْدَ الجَمِيعِ…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means ‘in some families’.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final cultural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Practices vary, so I describe evidence carefully and respect personal choice.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family represents an entire country.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Arabic-speaking communities share identical traditions.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Careful evidence, variation and choice are the core cultural-learning principles.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TB-L01 · Identity and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TB-L02 · Family, Friends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get on with</a:t>
            </a:r>
            <a:pPr indent="0" marL="0">
              <a:buNone/>
            </a:pPr>
            <a:r>
              <a:rPr lang="en-US" sz="1000" i="1" dirty="0">
                <a:solidFill>
                  <a:srgbClr val="5A6472"/>
                </a:solidFill>
                <a:latin typeface="Calibri" pitchFamily="34" charset="0"/>
                <a:ea typeface="Calibri" pitchFamily="34" charset="-122"/>
                <a:cs typeface="Calibri" pitchFamily="34" charset="-120"/>
              </a:rPr>
              <a:t>  he: يَتَفَاهَمُ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أَثِقُ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trust</a:t>
            </a:r>
            <a:pPr indent="0" marL="0">
              <a:buNone/>
            </a:pPr>
            <a:r>
              <a:rPr lang="en-US" sz="1000" i="1" dirty="0">
                <a:solidFill>
                  <a:srgbClr val="5A6472"/>
                </a:solidFill>
                <a:latin typeface="Calibri" pitchFamily="34" charset="0"/>
                <a:ea typeface="Calibri" pitchFamily="34" charset="-122"/>
                <a:cs typeface="Calibri" pitchFamily="34" charset="-120"/>
              </a:rPr>
              <a:t>  he: يَثِقُ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أَحْتَرِمُ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respect</a:t>
            </a:r>
            <a:pPr indent="0" marL="0">
              <a:buNone/>
            </a:pPr>
            <a:r>
              <a:rPr lang="en-US" sz="1000" i="1" dirty="0">
                <a:solidFill>
                  <a:srgbClr val="5A6472"/>
                </a:solidFill>
                <a:latin typeface="Calibri" pitchFamily="34" charset="0"/>
                <a:ea typeface="Calibri" pitchFamily="34" charset="-122"/>
                <a:cs typeface="Calibri" pitchFamily="34" charset="-120"/>
              </a:rPr>
              <a:t>  he: يَحْتَرِمُ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صَدِيقٌ مُقَرَّبٌ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close friend</a:t>
            </a:r>
            <a:pPr indent="0" marL="0">
              <a:buNone/>
            </a:pPr>
            <a:r>
              <a:rPr lang="en-US" sz="1000" i="1" dirty="0">
                <a:solidFill>
                  <a:srgbClr val="5A6472"/>
                </a:solidFill>
                <a:latin typeface="Calibri" pitchFamily="34" charset="0"/>
                <a:ea typeface="Calibri" pitchFamily="34" charset="-122"/>
                <a:cs typeface="Calibri" pitchFamily="34" charset="-120"/>
              </a:rPr>
              <a:t>  f.: صَدِيقَةٌ مُقَرَّبَةٌ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نَتَشَاجَرُ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argue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Who do you get on with best in your family or among your friends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مَعَ مَنْ تَتَفَاهَمُ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TB-L01: the vocabulary check and the Culture Detective Mission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cultural comparison of 6–8 sentences (fictional or family-safe).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10 sentences with layered identity;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TB-L02 · Family, Friends and Relationships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العَائِلَةُ وَالأَصْدِقَاءُ وَالعَلَاقَاتُ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observe, ask politely, follow their lead.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TB-L01 · Identity and Personal Profiles</dc:title>
  <dc:subject>PptxGenJS Presentation</dc:subject>
  <dc:creator>Al Madina Online School · Arabic Department</dc:creator>
  <cp:lastModifiedBy>Al Madina Online School · Arabic Department</cp:lastModifiedBy>
  <cp:revision>1</cp:revision>
  <dcterms:created xsi:type="dcterms:W3CDTF">2026-09-27T13:01:29Z</dcterms:created>
  <dcterms:modified xsi:type="dcterms:W3CDTF">2026-09-27T13:01:29Z</dcterms:modified>
</cp:coreProperties>
</file>