
<file path=[Content_Types].xml><?xml version="1.0" encoding="utf-8"?>
<Types xmlns="http://schemas.openxmlformats.org/package/2006/content-types">
  <Default Extension="fntdata" ContentType="application/x-fontdata"/>
  <Default Extension="xml" ContentType="application/xml"/>
  <Default Extension="rels" ContentType="application/vnd.openxmlformats-package.relationships+xml"/>
  <Default Extension="jpeg" ContentType="image/jpeg"/>
  <Default Extension="jpg" ContentType="image/jpg"/>
  <Default Extension="svg" ContentType="image/svg+xml"/>
  <Default Extension="png" ContentType="image/png"/>
  <Default Extension="gif" ContentType="image/gif"/>
  <Default Extension="m4v" ContentType="video/mp4"/>
  <Default Extension="mp4" ContentType="video/mp4"/>
  <Default Extension="vml" ContentType="application/vnd.openxmlformats-officedocument.vmlDrawing"/>
  <Default Extension="xlsx" ContentType="application/vnd.openxmlformats-officedocument.spreadsheetml.sheet"/>
  <Override PartName="/ppt/presentation.xml" ContentType="application/vnd.openxmlformats-officedocument.presentationml.presentation.main+xml"/>
  <Override PartName="/ppt/notesMasters/notesMaster1.xml" ContentType="application/vnd.openxmlformats-officedocument.presentationml.notesMaster+xml"/>
  <Override PartName="/ppt/slideMasters/slideMaster1.xml" ContentType="application/vnd.openxmlformats-officedocument.presentationml.slideMaster+xml"/>
  <Override PartName="/ppt/slides/slide1.xml" ContentType="application/vnd.openxmlformats-officedocument.presentationml.slide+xml"/>
  <Override PartName="/ppt/slideMasters/slideMaster2.xml" ContentType="application/vnd.openxmlformats-officedocument.presentationml.slideMaster+xml"/>
  <Override PartName="/ppt/slides/slide2.xml" ContentType="application/vnd.openxmlformats-officedocument.presentationml.slide+xml"/>
  <Override PartName="/ppt/slideMasters/slideMaster3.xml" ContentType="application/vnd.openxmlformats-officedocument.presentationml.slideMaster+xml"/>
  <Override PartName="/ppt/slides/slide3.xml" ContentType="application/vnd.openxmlformats-officedocument.presentationml.slide+xml"/>
  <Override PartName="/ppt/slideMasters/slideMaster4.xml" ContentType="application/vnd.openxmlformats-officedocument.presentationml.slideMaster+xml"/>
  <Override PartName="/ppt/slides/slide4.xml" ContentType="application/vnd.openxmlformats-officedocument.presentationml.slide+xml"/>
  <Override PartName="/ppt/slideMasters/slideMaster5.xml" ContentType="application/vnd.openxmlformats-officedocument.presentationml.slideMaster+xml"/>
  <Override PartName="/ppt/slides/slide5.xml" ContentType="application/vnd.openxmlformats-officedocument.presentationml.slide+xml"/>
  <Override PartName="/ppt/slideMasters/slideMaster6.xml" ContentType="application/vnd.openxmlformats-officedocument.presentationml.slideMaster+xml"/>
  <Override PartName="/ppt/slides/slide6.xml" ContentType="application/vnd.openxmlformats-officedocument.presentationml.slide+xml"/>
  <Override PartName="/ppt/slideMasters/slideMaster7.xml" ContentType="application/vnd.openxmlformats-officedocument.presentationml.slideMaster+xml"/>
  <Override PartName="/ppt/slides/slide7.xml" ContentType="application/vnd.openxmlformats-officedocument.presentationml.slide+xml"/>
  <Override PartName="/ppt/slideMasters/slideMaster8.xml" ContentType="application/vnd.openxmlformats-officedocument.presentationml.slideMaster+xml"/>
  <Override PartName="/ppt/slides/slide8.xml" ContentType="application/vnd.openxmlformats-officedocument.presentationml.slide+xml"/>
  <Override PartName="/ppt/slideMasters/slideMaster9.xml" ContentType="application/vnd.openxmlformats-officedocument.presentationml.slideMaster+xml"/>
  <Override PartName="/ppt/slides/slide9.xml" ContentType="application/vnd.openxmlformats-officedocument.presentationml.slide+xml"/>
  <Override PartName="/ppt/slideMasters/slideMaster10.xml" ContentType="application/vnd.openxmlformats-officedocument.presentationml.slideMaster+xml"/>
  <Override PartName="/ppt/slides/slide10.xml" ContentType="application/vnd.openxmlformats-officedocument.presentationml.slide+xml"/>
  <Override PartName="/ppt/slideMasters/slideMaster11.xml" ContentType="application/vnd.openxmlformats-officedocument.presentationml.slideMaster+xml"/>
  <Override PartName="/ppt/slides/slide11.xml" ContentType="application/vnd.openxmlformats-officedocument.presentationml.slide+xml"/>
  <Override PartName="/ppt/slideMasters/slideMaster12.xml" ContentType="application/vnd.openxmlformats-officedocument.presentationml.slideMaster+xml"/>
  <Override PartName="/ppt/slides/slide12.xml" ContentType="application/vnd.openxmlformats-officedocument.presentationml.slide+xml"/>
  <Override PartName="/ppt/slideMasters/slideMaster13.xml" ContentType="application/vnd.openxmlformats-officedocument.presentationml.slideMaster+xml"/>
  <Override PartName="/ppt/slides/slide13.xml" ContentType="application/vnd.openxmlformats-officedocument.presentationml.slide+xml"/>
  <Override PartName="/ppt/slideMasters/slideMaster14.xml" ContentType="application/vnd.openxmlformats-officedocument.presentationml.slideMaster+xml"/>
  <Override PartName="/ppt/slides/slide14.xml" ContentType="application/vnd.openxmlformats-officedocument.presentationml.slide+xml"/>
  <Override PartName="/ppt/slideMasters/slideMaster15.xml" ContentType="application/vnd.openxmlformats-officedocument.presentationml.slideMaster+xml"/>
  <Override PartName="/ppt/slides/slide15.xml" ContentType="application/vnd.openxmlformats-officedocument.presentationml.slide+xml"/>
  <Override PartName="/ppt/slideMasters/slideMaster16.xml" ContentType="application/vnd.openxmlformats-officedocument.presentationml.slideMaster+xml"/>
  <Override PartName="/ppt/slides/slide16.xml" ContentType="application/vnd.openxmlformats-officedocument.presentationml.slide+xml"/>
  <Override PartName="/ppt/slideMasters/slideMaster17.xml" ContentType="application/vnd.openxmlformats-officedocument.presentationml.slideMaster+xml"/>
  <Override PartName="/ppt/slides/slide17.xml" ContentType="application/vnd.openxmlformats-officedocument.presentationml.slide+xml"/>
  <Override PartName="/ppt/slideMasters/slideMaster18.xml" ContentType="application/vnd.openxmlformats-officedocument.presentationml.slideMaster+xml"/>
  <Override PartName="/ppt/slides/slide18.xml" ContentType="application/vnd.openxmlformats-officedocument.presentationml.slide+xml"/>
  <Override PartName="/ppt/slideMasters/slideMaster19.xml" ContentType="application/vnd.openxmlformats-officedocument.presentationml.slideMaster+xml"/>
  <Override PartName="/ppt/slides/slide19.xml" ContentType="application/vnd.openxmlformats-officedocument.presentationml.slide+xml"/>
  <Override PartName="/ppt/slideMasters/slideMaster20.xml" ContentType="application/vnd.openxmlformats-officedocument.presentationml.slideMaster+xml"/>
  <Override PartName="/ppt/slides/slide20.xml" ContentType="application/vnd.openxmlformats-officedocument.presentationml.slide+xml"/>
  <Override PartName="/ppt/slideMasters/slideMaster21.xml" ContentType="application/vnd.openxmlformats-officedocument.presentationml.slideMaster+xml"/>
  <Override PartName="/ppt/slides/slide21.xml" ContentType="application/vnd.openxmlformats-officedocument.presentationml.slide+xml"/>
  <Override PartName="/ppt/slideMasters/slideMaster22.xml" ContentType="application/vnd.openxmlformats-officedocument.presentationml.slideMaster+xml"/>
  <Override PartName="/ppt/slides/slide22.xml" ContentType="application/vnd.openxmlformats-officedocument.presentationml.slide+xml"/>
  <Override PartName="/ppt/slideMasters/slideMaster23.xml" ContentType="application/vnd.openxmlformats-officedocument.presentationml.slideMaster+xml"/>
  <Override PartName="/ppt/slides/slide23.xml" ContentType="application/vnd.openxmlformats-officedocument.presentationml.slide+xml"/>
  <Override PartName="/ppt/slideMasters/slideMaster24.xml" ContentType="application/vnd.openxmlformats-officedocument.presentationml.slideMaster+xml"/>
  <Override PartName="/ppt/slides/slide24.xml" ContentType="application/vnd.openxmlformats-officedocument.presentationml.slide+xml"/>
  <Override PartName="/ppt/slideMasters/slideMaster25.xml" ContentType="application/vnd.openxmlformats-officedocument.presentationml.slideMaster+xml"/>
  <Override PartName="/ppt/slides/slide25.xml" ContentType="application/vnd.openxmlformats-officedocument.presentationml.slide+xml"/>
  <Override PartName="/ppt/slideMasters/slideMaster26.xml" ContentType="application/vnd.openxmlformats-officedocument.presentationml.slideMaster+xml"/>
  <Override PartName="/ppt/slides/slide26.xml" ContentType="application/vnd.openxmlformats-officedocument.presentationml.slide+xml"/>
  <Override PartName="/ppt/slideMasters/slideMaster27.xml" ContentType="application/vnd.openxmlformats-officedocument.presentationml.slideMaster+xml"/>
  <Override PartName="/ppt/slides/slide27.xml" ContentType="application/vnd.openxmlformats-officedocument.presentationml.slide+xml"/>
  <Override PartName="/ppt/slideMasters/slideMaster28.xml" ContentType="application/vnd.openxmlformats-officedocument.presentationml.slideMaster+xml"/>
  <Override PartName="/ppt/slides/slide28.xml" ContentType="application/vnd.openxmlformats-officedocument.presentationml.slide+xml"/>
  <Override PartName="/ppt/slideMasters/slideMaster29.xml" ContentType="application/vnd.openxmlformats-officedocument.presentationml.slideMaster+xml"/>
  <Override PartName="/ppt/slides/slide29.xml" ContentType="application/vnd.openxmlformats-officedocument.presentationml.slide+xml"/>
  <Override PartName="/ppt/slideMasters/slideMaster30.xml" ContentType="application/vnd.openxmlformats-officedocument.presentationml.slideMaster+xml"/>
  <Override PartName="/ppt/slides/slide30.xml" ContentType="application/vnd.openxmlformats-officedocument.presentationml.slide+xml"/>
  <Override PartName="/ppt/slideMasters/slideMaster31.xml" ContentType="application/vnd.openxmlformats-officedocument.presentationml.slideMaster+xml"/>
  <Override PartName="/ppt/slides/slide31.xml" ContentType="application/vnd.openxmlformats-officedocument.presentationml.slide+xml"/>
  <Override PartName="/ppt/slideMasters/slideMaster32.xml" ContentType="application/vnd.openxmlformats-officedocument.presentationml.slideMaster+xml"/>
  <Override PartName="/ppt/slides/slide32.xml" ContentType="application/vnd.openxmlformats-officedocument.presentationml.slide+xml"/>
  <Override PartName="/ppt/slideMasters/slideMaster33.xml" ContentType="application/vnd.openxmlformats-officedocument.presentationml.slideMaster+xml"/>
  <Override PartName="/ppt/slides/slide33.xml" ContentType="application/vnd.openxmlformats-officedocument.presentationml.slide+xml"/>
  <Override PartName="/ppt/slideMasters/slideMaster34.xml" ContentType="application/vnd.openxmlformats-officedocument.presentationml.slideMaster+xml"/>
  <Override PartName="/ppt/slides/slide34.xml" ContentType="application/vnd.openxmlformats-officedocument.presentationml.slide+xml"/>
  <Override PartName="/ppt/slideMasters/slideMaster35.xml" ContentType="application/vnd.openxmlformats-officedocument.presentationml.slideMaster+xml"/>
  <Override PartName="/ppt/slides/slide35.xml" ContentType="application/vnd.openxmlformats-officedocument.presentationml.slide+xml"/>
  <Override PartName="/ppt/slideMasters/slideMaster36.xml" ContentType="application/vnd.openxmlformats-officedocument.presentationml.slideMaster+xml"/>
  <Override PartName="/ppt/slides/slide36.xml" ContentType="application/vnd.openxmlformats-officedocument.presentationml.slide+xml"/>
  <Override PartName="/ppt/slideMasters/slideMaster37.xml" ContentType="application/vnd.openxmlformats-officedocument.presentationml.slideMaster+xml"/>
  <Override PartName="/ppt/slides/slide37.xml" ContentType="application/vnd.openxmlformats-officedocument.presentationml.slide+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0.xml" ContentType="application/vnd.openxmlformats-officedocument.presentationml.notesSlide+xml"/>
  <Override PartName="/ppt/notesSlides/notesSlide21.xml" ContentType="application/vnd.openxmlformats-officedocument.presentationml.notesSlide+xml"/>
  <Override PartName="/ppt/notesSlides/notesSlide22.xml" ContentType="application/vnd.openxmlformats-officedocument.presentationml.notesSlide+xml"/>
  <Override PartName="/ppt/notesSlides/notesSlide23.xml" ContentType="application/vnd.openxmlformats-officedocument.presentationml.notesSlide+xml"/>
  <Override PartName="/ppt/notesSlides/notesSlide24.xml" ContentType="application/vnd.openxmlformats-officedocument.presentationml.notesSlide+xml"/>
  <Override PartName="/ppt/notesSlides/notesSlide25.xml" ContentType="application/vnd.openxmlformats-officedocument.presentationml.notesSlide+xml"/>
  <Override PartName="/ppt/notesSlides/notesSlide26.xml" ContentType="application/vnd.openxmlformats-officedocument.presentationml.notesSlide+xml"/>
  <Override PartName="/ppt/notesSlides/notesSlide27.xml" ContentType="application/vnd.openxmlformats-officedocument.presentationml.notesSlide+xml"/>
  <Override PartName="/ppt/notesSlides/notesSlide28.xml" ContentType="application/vnd.openxmlformats-officedocument.presentationml.notesSlide+xml"/>
  <Override PartName="/ppt/notesSlides/notesSlide29.xml" ContentType="application/vnd.openxmlformats-officedocument.presentationml.notesSlide+xml"/>
  <Override PartName="/ppt/notesSlides/notesSlide30.xml" ContentType="application/vnd.openxmlformats-officedocument.presentationml.notesSlide+xml"/>
  <Override PartName="/ppt/notesSlides/notesSlide31.xml" ContentType="application/vnd.openxmlformats-officedocument.presentationml.notesSlide+xml"/>
  <Override PartName="/ppt/notesSlides/notesSlide32.xml" ContentType="application/vnd.openxmlformats-officedocument.presentationml.notesSlide+xml"/>
  <Override PartName="/ppt/notesSlides/notesSlide33.xml" ContentType="application/vnd.openxmlformats-officedocument.presentationml.notesSlide+xml"/>
  <Override PartName="/ppt/notesSlides/notesSlide34.xml" ContentType="application/vnd.openxmlformats-officedocument.presentationml.notesSlide+xml"/>
  <Override PartName="/ppt/notesSlides/notesSlide35.xml" ContentType="application/vnd.openxmlformats-officedocument.presentationml.notesSlide+xml"/>
  <Override PartName="/ppt/notesSlides/notesSlide36.xml" ContentType="application/vnd.openxmlformats-officedocument.presentationml.notesSlide+xml"/>
  <Override PartName="/ppt/notesSlides/notesSlide37.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
		<Relationship Id="rId1" Type="http://schemas.openxmlformats.org/officeDocument/2006/relationships/extended-properties" Target="docProps/app.xml"/>
		<Relationship Id="rId2" Type="http://schemas.openxmlformats.org/package/2006/relationships/metadata/core-properties" Target="docProps/core.xml"/>
		<Relationship Id="rId3" Type="http://schemas.openxmlformats.org/officeDocument/2006/relationships/officeDocument" Target="ppt/presentation.xml"/>
		</Relationships>
</file>

<file path=ppt/presentation.xml><?xml version="1.0" encoding="utf-8"?>
<p:presentation xmlns:a="http://schemas.openxmlformats.org/drawingml/2006/main" xmlns:r="http://schemas.openxmlformats.org/officeDocument/2006/relationships" xmlns:p="http://schemas.openxmlformats.org/presentationml/2006/main" embedTrueTypeFonts="1" saveSubsetFonts="1" autoCompressPictures="0">
  <p:sldMasterIdLst>
    <p:sldMasterId id="2147483648" r:id="rId1"/>
  </p:sldMasterIdLst>
  <p:sldIdLst>
    <p:sldId id="256" r:id="rId2"/>
    <p:sldId id="257" r:id="rId3"/>
    <p:sldId id="258" r:id="rId4"/>
    <p:sldId id="259" r:id="rId5"/>
    <p:sldId id="260" r:id="rId6"/>
    <p:sldId id="261" r:id="rId7"/>
    <p:sldId id="262" r:id="rId8"/>
    <p:sldId id="263" r:id="rId9"/>
    <p:sldId id="264" r:id="rId10"/>
    <p:sldId id="265" r:id="rId11"/>
    <p:sldId id="266" r:id="rId12"/>
    <p:sldId id="267" r:id="rId13"/>
    <p:sldId id="268" r:id="rId14"/>
    <p:sldId id="269" r:id="rId15"/>
    <p:sldId id="270" r:id="rId16"/>
    <p:sldId id="271" r:id="rId17"/>
    <p:sldId id="272" r:id="rId18"/>
    <p:sldId id="273" r:id="rId19"/>
    <p:sldId id="274" r:id="rId20"/>
    <p:sldId id="275" r:id="rId21"/>
    <p:sldId id="276" r:id="rId22"/>
    <p:sldId id="277" r:id="rId23"/>
    <p:sldId id="278" r:id="rId24"/>
    <p:sldId id="279" r:id="rId25"/>
    <p:sldId id="280" r:id="rId26"/>
    <p:sldId id="281" r:id="rId27"/>
    <p:sldId id="282" r:id="rId28"/>
    <p:sldId id="283" r:id="rId29"/>
    <p:sldId id="284" r:id="rId30"/>
    <p:sldId id="285" r:id="rId31"/>
    <p:sldId id="286" r:id="rId32"/>
    <p:sldId id="287" r:id="rId33"/>
    <p:sldId id="288" r:id="rId34"/>
    <p:sldId id="289" r:id="rId35"/>
    <p:sldId id="290" r:id="rId36"/>
    <p:sldId id="291" r:id="rId37"/>
    <p:sldId id="292" r:id="rId38"/>
  </p:sldIdLst>
  <p:notesMasterIdLst>
    <p:notesMasterId r:id="rId39"/>
  </p:notesMasterIdLst>
  <p:sldSz cx="12192000" cy="6858000"/>
  <p:notesSz cx="6858000" cy="12192000"/>
  <p:embeddedFontLst>
    <p:embeddedFont>
      <p:font typeface="Amiri" pitchFamily="2" charset="-78"/>
      <p:regular r:id="rIdFont1"/>
      <p:bold r:id="rIdFont2"/>
    </p:embeddedFont>
  </p:embeddedFontLst>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slide" Target="slides/slide1.xml"/><Relationship Id="rId3" Type="http://schemas.openxmlformats.org/officeDocument/2006/relationships/slide" Target="slides/slide2.xml"/><Relationship Id="rId4" Type="http://schemas.openxmlformats.org/officeDocument/2006/relationships/slide" Target="slides/slide3.xml"/><Relationship Id="rId5" Type="http://schemas.openxmlformats.org/officeDocument/2006/relationships/slide" Target="slides/slide4.xml"/><Relationship Id="rId6" Type="http://schemas.openxmlformats.org/officeDocument/2006/relationships/slide" Target="slides/slide5.xml"/><Relationship Id="rId7" Type="http://schemas.openxmlformats.org/officeDocument/2006/relationships/slide" Target="slides/slide6.xml"/><Relationship Id="rId8" Type="http://schemas.openxmlformats.org/officeDocument/2006/relationships/slide" Target="slides/slide7.xml"/><Relationship Id="rId9" Type="http://schemas.openxmlformats.org/officeDocument/2006/relationships/slide" Target="slides/slide8.xml"/><Relationship Id="rId10" Type="http://schemas.openxmlformats.org/officeDocument/2006/relationships/slide" Target="slides/slide9.xml"/><Relationship Id="rId11" Type="http://schemas.openxmlformats.org/officeDocument/2006/relationships/slide" Target="slides/slide10.xml"/><Relationship Id="rId12" Type="http://schemas.openxmlformats.org/officeDocument/2006/relationships/slide" Target="slides/slide11.xml"/><Relationship Id="rId13" Type="http://schemas.openxmlformats.org/officeDocument/2006/relationships/slide" Target="slides/slide12.xml"/><Relationship Id="rId14" Type="http://schemas.openxmlformats.org/officeDocument/2006/relationships/slide" Target="slides/slide13.xml"/><Relationship Id="rId15" Type="http://schemas.openxmlformats.org/officeDocument/2006/relationships/slide" Target="slides/slide14.xml"/><Relationship Id="rId16" Type="http://schemas.openxmlformats.org/officeDocument/2006/relationships/slide" Target="slides/slide15.xml"/><Relationship Id="rId17" Type="http://schemas.openxmlformats.org/officeDocument/2006/relationships/slide" Target="slides/slide16.xml"/><Relationship Id="rId18" Type="http://schemas.openxmlformats.org/officeDocument/2006/relationships/slide" Target="slides/slide17.xml"/><Relationship Id="rId19" Type="http://schemas.openxmlformats.org/officeDocument/2006/relationships/slide" Target="slides/slide18.xml"/><Relationship Id="rId20" Type="http://schemas.openxmlformats.org/officeDocument/2006/relationships/slide" Target="slides/slide19.xml"/><Relationship Id="rId21" Type="http://schemas.openxmlformats.org/officeDocument/2006/relationships/slide" Target="slides/slide20.xml"/><Relationship Id="rId22" Type="http://schemas.openxmlformats.org/officeDocument/2006/relationships/slide" Target="slides/slide21.xml"/><Relationship Id="rId23" Type="http://schemas.openxmlformats.org/officeDocument/2006/relationships/slide" Target="slides/slide22.xml"/><Relationship Id="rId24" Type="http://schemas.openxmlformats.org/officeDocument/2006/relationships/slide" Target="slides/slide23.xml"/><Relationship Id="rId25" Type="http://schemas.openxmlformats.org/officeDocument/2006/relationships/slide" Target="slides/slide24.xml"/><Relationship Id="rId26" Type="http://schemas.openxmlformats.org/officeDocument/2006/relationships/slide" Target="slides/slide25.xml"/><Relationship Id="rId27" Type="http://schemas.openxmlformats.org/officeDocument/2006/relationships/slide" Target="slides/slide26.xml"/><Relationship Id="rId28" Type="http://schemas.openxmlformats.org/officeDocument/2006/relationships/slide" Target="slides/slide27.xml"/><Relationship Id="rId29" Type="http://schemas.openxmlformats.org/officeDocument/2006/relationships/slide" Target="slides/slide28.xml"/><Relationship Id="rId30" Type="http://schemas.openxmlformats.org/officeDocument/2006/relationships/slide" Target="slides/slide29.xml"/><Relationship Id="rId31" Type="http://schemas.openxmlformats.org/officeDocument/2006/relationships/slide" Target="slides/slide30.xml"/><Relationship Id="rId32" Type="http://schemas.openxmlformats.org/officeDocument/2006/relationships/slide" Target="slides/slide31.xml"/><Relationship Id="rId33" Type="http://schemas.openxmlformats.org/officeDocument/2006/relationships/slide" Target="slides/slide32.xml"/><Relationship Id="rId34" Type="http://schemas.openxmlformats.org/officeDocument/2006/relationships/slide" Target="slides/slide33.xml"/><Relationship Id="rId35" Type="http://schemas.openxmlformats.org/officeDocument/2006/relationships/slide" Target="slides/slide34.xml"/><Relationship Id="rId36" Type="http://schemas.openxmlformats.org/officeDocument/2006/relationships/slide" Target="slides/slide35.xml"/><Relationship Id="rId37" Type="http://schemas.openxmlformats.org/officeDocument/2006/relationships/slide" Target="slides/slide36.xml"/><Relationship Id="rId38" Type="http://schemas.openxmlformats.org/officeDocument/2006/relationships/slide" Target="slides/slide37.xml"/><Relationship Id="rId39" Type="http://schemas.openxmlformats.org/officeDocument/2006/relationships/notesMaster" Target="notesMasters/notesMaster1.xml"/><Relationship Id="rId40" Type="http://schemas.openxmlformats.org/officeDocument/2006/relationships/presProps" Target="presProps.xml"/><Relationship Id="rId41" Type="http://schemas.openxmlformats.org/officeDocument/2006/relationships/viewProps" Target="viewProps.xml"/><Relationship Id="rId42" Type="http://schemas.openxmlformats.org/officeDocument/2006/relationships/theme" Target="theme/theme1.xml"/><Relationship Id="rId43" Type="http://schemas.openxmlformats.org/officeDocument/2006/relationships/tableStyles" Target="tableStyles.xml"/><Relationship Id="rIdFont1" Type="http://schemas.openxmlformats.org/officeDocument/2006/relationships/font" Target="fonts/font1.fntdata"/><Relationship Id="rIdFont2" Type="http://schemas.openxmlformats.org/officeDocument/2006/relationships/font" Target="fonts/font2.fntdata"/></Relationships>
</file>

<file path=ppt/notesMasters/_rels/notesMaster1.xml.rels><?xml version="1.0" encoding="UTF-8" standalone="yes"?>
<Relationships xmlns="http://schemas.openxmlformats.org/package/2006/relationships">
		<Relationship Id="rId1" Type="http://schemas.openxmlformats.org/officeDocument/2006/relationships/theme" Target="../theme/theme1.xml"/>
		</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t>7/23/19</a:t>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t>‹#›</a:t>
            </a:fld>
            <a:endParaRPr lang="en-US"/>
          </a:p>
        </p:txBody>
      </p:sp>
    </p:spTree>
    <p:extLst>
      <p:ext uri="{BB962C8B-B14F-4D97-AF65-F5344CB8AC3E}">
        <p14:creationId xmlns:p14="http://schemas.microsoft.com/office/powerpoint/2010/main" val="102408699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cs typeface="Amiri" pitchFamily="2" charset="-78"/>
      </a:defRPr>
    </a:lvl1pPr>
    <a:lvl2pPr marL="457200" algn="l" defTabSz="914400" rtl="0" eaLnBrk="1" latinLnBrk="0" hangingPunct="1">
      <a:defRPr sz="1200" kern="1200">
        <a:solidFill>
          <a:schemeClr val="tx1"/>
        </a:solidFill>
        <a:latin typeface="+mn-lt"/>
        <a:cs typeface="Amiri" pitchFamily="2" charset="-78"/>
      </a:defRPr>
    </a:lvl2pPr>
    <a:lvl3pPr marL="914400" algn="l" defTabSz="914400" rtl="0" eaLnBrk="1" latinLnBrk="0" hangingPunct="1">
      <a:defRPr sz="1200" kern="1200">
        <a:solidFill>
          <a:schemeClr val="tx1"/>
        </a:solidFill>
        <a:latin typeface="+mn-lt"/>
        <a:cs typeface="Amiri" pitchFamily="2" charset="-78"/>
      </a:defRPr>
    </a:lvl3pPr>
    <a:lvl4pPr marL="1371600" algn="l" defTabSz="914400" rtl="0" eaLnBrk="1" latinLnBrk="0" hangingPunct="1">
      <a:defRPr sz="1200" kern="1200">
        <a:solidFill>
          <a:schemeClr val="tx1"/>
        </a:solidFill>
        <a:latin typeface="+mn-lt"/>
        <a:cs typeface="Amiri" pitchFamily="2" charset="-78"/>
      </a:defRPr>
    </a:lvl4pPr>
    <a:lvl5pPr marL="1828800" algn="l" defTabSz="914400" rtl="0" eaLnBrk="1" latinLnBrk="0" hangingPunct="1">
      <a:defRPr sz="1200" kern="1200">
        <a:solidFill>
          <a:schemeClr val="tx1"/>
        </a:solidFill>
        <a:latin typeface="+mn-lt"/>
        <a:cs typeface="Amiri" pitchFamily="2" charset="-78"/>
      </a:defRPr>
    </a:lvl5pPr>
    <a:lvl6pPr marL="2286000" algn="l" defTabSz="914400" rtl="0" eaLnBrk="1" latinLnBrk="0" hangingPunct="1">
      <a:defRPr sz="1200" kern="1200">
        <a:solidFill>
          <a:schemeClr val="tx1"/>
        </a:solidFill>
        <a:latin typeface="+mn-lt"/>
        <a:cs typeface="Amiri" pitchFamily="2" charset="-78"/>
      </a:defRPr>
    </a:lvl6pPr>
    <a:lvl7pPr marL="2743200" algn="l" defTabSz="914400" rtl="0" eaLnBrk="1" latinLnBrk="0" hangingPunct="1">
      <a:defRPr sz="1200" kern="1200">
        <a:solidFill>
          <a:schemeClr val="tx1"/>
        </a:solidFill>
        <a:latin typeface="+mn-lt"/>
        <a:cs typeface="Amiri" pitchFamily="2" charset="-78"/>
      </a:defRPr>
    </a:lvl7pPr>
    <a:lvl8pPr marL="3200400" algn="l" defTabSz="914400" rtl="0" eaLnBrk="1" latinLnBrk="0" hangingPunct="1">
      <a:defRPr sz="1200" kern="1200">
        <a:solidFill>
          <a:schemeClr val="tx1"/>
        </a:solidFill>
        <a:latin typeface="+mn-lt"/>
        <a:cs typeface="Amiri" pitchFamily="2" charset="-78"/>
      </a:defRPr>
    </a:lvl8pPr>
    <a:lvl9pPr marL="3657600" algn="l" defTabSz="914400" rtl="0" eaLnBrk="1" latinLnBrk="0" hangingPunct="1">
      <a:defRPr sz="1200" kern="1200">
        <a:solidFill>
          <a:schemeClr val="tx1"/>
        </a:solidFill>
        <a:latin typeface="+mn-lt"/>
        <a:cs typeface="Amiri" pitchFamily="2" charset="-78"/>
      </a:defRPr>
    </a:lvl9pPr>
  </p:notesStyle>
</p:notesMaster>
</file>

<file path=ppt/notesSlides/_rels/notesSlide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xml"/>
		</Relationships>
</file>

<file path=ppt/notesSlides/_rels/notesSlide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xml"/>
		</Relationships>
</file>

<file path=ppt/notesSlides/_rels/notesSlide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xml"/>
		</Relationships>
</file>

<file path=ppt/notesSlides/_rels/notesSlide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4.xml"/>
		</Relationships>
</file>

<file path=ppt/notesSlides/_rels/notesSlide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5.xml"/>
		</Relationships>
</file>

<file path=ppt/notesSlides/_rels/notesSlide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6.xml"/>
		</Relationships>
</file>

<file path=ppt/notesSlides/_rels/notesSlide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7.xml"/>
		</Relationships>
</file>

<file path=ppt/notesSlides/_rels/notesSlide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8.xml"/>
		</Relationships>
</file>

<file path=ppt/notesSlides/_rels/notesSlide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9.xml"/>
		</Relationships>
</file>

<file path=ppt/notesSlides/_rels/notesSlide1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0.xml"/>
		</Relationships>
</file>

<file path=ppt/notesSlides/_rels/notesSlide1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1.xml"/>
		</Relationships>
</file>

<file path=ppt/notesSlides/_rels/notesSlide1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2.xml"/>
		</Relationships>
</file>

<file path=ppt/notesSlides/_rels/notesSlide1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3.xml"/>
		</Relationships>
</file>

<file path=ppt/notesSlides/_rels/notesSlide1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4.xml"/>
		</Relationships>
</file>

<file path=ppt/notesSlides/_rels/notesSlide1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5.xml"/>
		</Relationships>
</file>

<file path=ppt/notesSlides/_rels/notesSlide1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6.xml"/>
		</Relationships>
</file>

<file path=ppt/notesSlides/_rels/notesSlide1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7.xml"/>
		</Relationships>
</file>

<file path=ppt/notesSlides/_rels/notesSlide1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8.xml"/>
		</Relationships>
</file>

<file path=ppt/notesSlides/_rels/notesSlide1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19.xml"/>
		</Relationships>
</file>

<file path=ppt/notesSlides/_rels/notesSlide2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0.xml"/>
		</Relationships>
</file>

<file path=ppt/notesSlides/_rels/notesSlide2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1.xml"/>
		</Relationships>
</file>

<file path=ppt/notesSlides/_rels/notesSlide2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2.xml"/>
		</Relationships>
</file>

<file path=ppt/notesSlides/_rels/notesSlide2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3.xml"/>
		</Relationships>
</file>

<file path=ppt/notesSlides/_rels/notesSlide2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4.xml"/>
		</Relationships>
</file>

<file path=ppt/notesSlides/_rels/notesSlide2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5.xml"/>
		</Relationships>
</file>

<file path=ppt/notesSlides/_rels/notesSlide2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6.xml"/>
		</Relationships>
</file>

<file path=ppt/notesSlides/_rels/notesSlide2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7.xml"/>
		</Relationships>
</file>

<file path=ppt/notesSlides/_rels/notesSlide28.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8.xml"/>
		</Relationships>
</file>

<file path=ppt/notesSlides/_rels/notesSlide29.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29.xml"/>
		</Relationships>
</file>

<file path=ppt/notesSlides/_rels/notesSlide30.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0.xml"/>
		</Relationships>
</file>

<file path=ppt/notesSlides/_rels/notesSlide31.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1.xml"/>
		</Relationships>
</file>

<file path=ppt/notesSlides/_rels/notesSlide32.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2.xml"/>
		</Relationships>
</file>

<file path=ppt/notesSlides/_rels/notesSlide33.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3.xml"/>
		</Relationships>
</file>

<file path=ppt/notesSlides/_rels/notesSlide34.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4.xml"/>
		</Relationships>
</file>

<file path=ppt/notesSlides/_rels/notesSlide35.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5.xml"/>
		</Relationships>
</file>

<file path=ppt/notesSlides/_rels/notesSlide36.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6.xml"/>
		</Relationships>
</file>

<file path=ppt/notesSlides/_rels/notesSlide37.xml.rels><?xml version="1.0" encoding="UTF-8" standalone="yes"?>
		<Relationships xmlns="http://schemas.openxmlformats.org/package/2006/relationships">
			<Relationship Id="rId1" Type="http://schemas.openxmlformats.org/officeDocument/2006/relationships/notesMaster" Target="../notesMasters/notesMaster1.xml"/>
			<Relationship Id="rId2" Type="http://schemas.openxmlformats.org/officeDocument/2006/relationships/slide" Target="../slides/slide37.xml"/>
		</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ADVANCED TOPIC B · TB-L01 — Identity and Personal Profiles. Website: Advanced Topics › Topic B (Personal and Social Life) › Lesson 1.
The website builds this lesson on the F2-L10 lesson engine, with the Topic focus “Introduce and describe yourself accurately in spoken, written and form-based contexts.” (grammar: Pronouns; nominal sentences; gender; skills: Speaking · Writing) and the application challenge “Identity mystery”. This deck follows the same engine, re-sequenced for Topic B: lesson references now point to Topic B codes (lessons outside Topic B keep their website code), and the challenge is added before the speaking task.
No year group: Topic lessons are taught to any class following the Advanced Topics route.
LESSON AT A GLANCE — planned for 56 minutes, leaving about 4 minutes for Teams delays.
0–1 Welcome · 1–2 Lesson map · 2–9 Do Now + answers · 9–10 Objectives · 10–18 Cultural words · 18–24 Greetings, blessings, hospitality · 24–26 Quick check · 26–29 I Do · 29–38 We Do (picture match, Culture Detective, listening, reading) · 38–49 You Do (profile + comparison) · 49–54 Feedback · 54–56 Preparation.
FLEX slides are optional. Use them if the class is moving quickly; otherwise the same activities are on the website for homework.
Content source: Miftah Arabic website, Pathways › Foundation › Topic B Greetings &amp; Introductions › Lesson 10 (TB-L01). Website sections used: the five cultural lenses and respectful rule, the eight-question Topic B retrieval, the ten core cultural words and the additional phrase bank, the vocabulary check (10), “Greetings show respect — but practices vary” with blessing language and the stereotype warning, the greeting and respect check (8), hospitality and family language with the Salma–Maryam micro-dialogue, the layered-identity section and check (8), the Culture Detective Mission (12), the Hanaa listening (8), three fictional family profiles, the respectful cultural profile (speaking) and the comparison writing task. Picture match: website visual game “Greetings and Identity in the Arab World”. The three-family reading questions are teacher-made (the website lists ten but does not include them in the lesson data).
All vocabulary, grammar rules, quizzes, the listening script, the reading text, speaking prompts and model answers come from those pages, so students meet the same language in class and at home. Anything teacher-made (Core scaffolds, riddles, translations) is labelled in the notes.
SUPPORT FOR THIS CLASS (Arabic not yet secure; mixed levels):
• SAFEGUARDING AND RESPECT (website): “No personal disclosure required.” Students may use fictional profiles throughout. Religion appears for RECOGNITION only (مَا دِينُكَ؟ is never asked of a student); a learner who does not wish to discuss belief chooses another identity topic.
• Website respectful rule: observe, ask politely and follow the other person’s lead. Avoid “Arabs always…” / “Everyone must…”; use “in some families”, “in this situation”, “this may vary”, “follow the person’s preference”.
• Core: recognise the key words and identify respectful greeting behaviour. Develop: one similarity and one difference in connected sentences. Stretch: describe layered identity and challenge an inaccurate generalisation.
• A mixed-heritage class is an asset: many students live “layered identity” (website section 5).
• Colour code (same as all Miftah lessons): WHO = blue, MEANING = purple, ENDING = pink, PATTERN = orange, KEY WORD = teal.
• SEND “automatic doors”: lesson map, chunked tasks, read-along scripts with English, cover-the-text reading and “pass” for reading aloud are built in for everyone, so no one is singled out.
ROUTES: Core (green) = students whose Arabic is not yet secure; Develop (amber) = on track; Stretch (red) = confident. Same objective for everyone — the task changes, not the goal (EAL Guide: adapt the task, not the objective).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WELCOME (1 min) — while students join.
• Greet each student by name as they arrive: السَّلَامُ عَلَيْكُمْ. Take the register (Pastoral Tracker: attendance 0/1).
• 2-MINUTE CHECK-IN (SEND training): a private chat to any student who seemed unsettled last lesson — “Are you okay today? 👍 / 👎”.
• Point to the four expectations — brief and positive: this is our class agreement.
• Talk code: “I will always give you thinking and practice time before I ask anyone.” Reading aloud is by invitation — a student may say “pass” and you return to them later.
• Follow-up on preparation: who learnt the five words? Quick private reminder to anyone who did not (Flipped Learning: follow up every time).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LESSON MAP (30 seconds) — SEND training: “absolute predictability”. Show the whole journey so students know what is coming and when they will be asked to speak or write. Point to the green box: using the Core supports is normal and expected (“automatic doors”).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DO NOW (5 min independent + 2 min going through answers).
Questions 1–2 test two of the five words prepared at home. Questions 3–5 are from the website “eight-question Topic B retrieval check” (the -ki question, origin with مِنْ, تَفَضَّلِي).
• Students work silently. Answers go in the chat as five letters only when the timer ends.
• Core students may answer in English and use their book.
• While they work: register, note late joiners, note anyone not attempting (Self-Management).
• Go THROUGH the answers on the next slide — ask one student (after thinking time) to explain WHY for each.</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THE ANSWERS (2 min). Reveal and ask “why?” for each (● 10s think → named student, warned in advance).
Key idea for today (bottom-right card): Observe, ask politely and follow the other person’s lead (website respectful rule).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OBJECTIVES (1 min).
Left: the lesson objectives exactly as they appear on the website.
Right: the same objectives broken into three routes. Everyone starts with Core; most students reach Develop; confident students aim for Stretch. Students decide privately which route they are aiming for (● Think 10s) — revisit in Feedback.
Website learning goals (left) and the website success routes (right).
EAL: read the Core statements aloud, pointing to the Arabic as you say it.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KEY WORDS — HOW TO TEACH EACH GROUP (EAL pre-teaching routine, 7 min)
1. HEAR IT: say the word twice, clearly, with a gesture where possible.
2. SAY IT: choral repetition — “I say, you say” — then two volunteers.
3. SEE IT: point out the part of the word that carries today’s grammar (colour code).
4. USE IT: quick check — “Type the NUMBER of the word that means …” in the chat.
Transliteration is printed for Core students. Develop/Stretch students should cover it and read the Arabic.
FLEX groups are for fast classes or homework — every word is on the website vocabulary tab.
URDU BRIDGE: ثقافت, عادت, احترام, ضیافت, فخر — five of today’s ten core words are used in Urdu with the same meaning. Ask Urdu speakers to teach the pronunciation difference (ث = s in Urdu, th in Arabic).</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CORE WORDS 1–6 (website, with the website example sentences in the notes line). Gesture / emoji from the website: 🌍 culture · 🧭 customs · 🪡 traditions · 🤝 respect · ☕ hospitality · 👨‍👩‍👧‍👦 family.
Website examples: فِي كُلِّ مُجْتَمَعٍ ثَقَافَةٌ (every society has a culture) · تَخْتَلِفُ العَادَاتُ بَيْنَ العَائِلَاتِ (customs differ between families) · الضِّيَافَةُ مُهِمَّةٌ فِي بَعْضِ العَائِلَاتِ (hospitality is important in SOME families) · أَسْأَلُ عَنِ العَائِلَةِ بِأَدَبٍ (I ask about the family politely).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CORE WORDS 7–10 (website) + the website “Careful comparison” bank (cards 11–12). Card 10: agreement with the SPEAKER (F2-L05, website): a boy says فَخُورٌ, a girl says فَخُورَةٌ; أَنَا فَخُورٌ / فَخُورَةٌ بِثَقَافَتِي.
Card 8: website example — الدِّينُ جُزْءٌ مِنْ هُوِيَّةِ بَعْضِ النَّاسِ (religion is part of SOME people’s identity). Keep it at recognition level.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GREETINGS AND RESPECT (website section 3). Website points: 1 words first · 2 relationship matters (a close relative, school friend, elder, teacher and new visitor may be greeted differently) · 3 physical contact varies (handshakes, cheek greetings or no physical contact can all be normal — do not assume; follow the other person’s lead) · 4 time and warmth vary (some greetings are brief; others include questions about health and family — both can be respectful).
Website: “Never write ‘Arabs always…’ or ‘Everyone must…’.”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BLESSING LANGUAGE (website). These are heard across many Arabic-speaking communities in everyday speech — also among Urdu speakers. Present them as language students will HEAR; using them is a personal choice.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HOSPITALITY (website section 4). Website: “Offering a drink, welcoming a guest and asking after family can communicate warmth. The exact food, drink, length of visit and level of formality differ widely.”
Website “Meaning before rule”: hospitality is an invitation, not a test — a guest may accept or decline politely.</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MICRO-DIALOGUE (website). Read in two roles (teacher + a volunteer). Spot the three female-listener forms: تَفَضَّلِي · تُرِيدِينَ · مِنْ فَضْلِكِ (F2-L06, website). Develop: perform it with a male guest (تَفَضَّلْ · تُرِيدُ · مِنْ فَضْلِكَ).</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LAYERED IDENTITY (website section 5): “A person may describe identity through name, family, nationality, language, city, religion, interests, values or several of these together. No single layer tells the whole story.”
PRIVACY: the belief layer is optional and never required (website identity check Q4: “Respect the choice and use another identity topic”). The questions مَا دِينُكَ؟ / مَا دِينُكِ؟ appear on the website for RECOGNITION only — do not ask them in class.
Website layered-identity example: أَنَا بَرِيطَانِيَّةٌ مِنْ عَائِلَةٍ سُورِيَّةٍ وَأَتَكَلَّمُ لُغَتَيْنِ.</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CHECK FOR UNDERSTANDING (2 min) — website “Eight-question greeting and respect check” questions 1, 2, 5 and 6.
● Think 20s silently → everyone types four letters in chat together on “3-2-1-go”. “Show me” alternative: A/B/C fingers to camera (EAL: show, not tell).
Read the chat: if more than a quarter of the class misses a question, re-teach that rule with its grammar slide before moving on (Live feedback: correct misconceptions immediately).
Use the results to confirm routes for the You Do task.</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each answer. Ask “Who can build on that?” (+) — a student explains why one wrong option is wrong.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I DO (3 min) — the website speaking profile “A Moroccan-British family in Birmingham”, modelled with a think-aloud. New “they” verbs (يَقُولُونَ، يُقَدِّمُونَ، يُصَافِحُونَ) are for recognition: point out the يـ … ـونَ pattern. Students copy the model.</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Greetings and Identity in the Arab World”)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Key words to spot: الضِّيَافَةِ (hospitality) · تَخْتَلِفُ … التَّحِيَّةِ (greetings differ) · العَائِلَةُ (family). All three are today’s core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the website’s interactive lesson game (“Visual game — Greetings and Identity in the Arab World”) as a whole-class picture match (2 min). The sentences are the website game sentences; the pictures are icons standing in for the website images.
● 20s: look at each picture and find ONE key word you know in each sentence → type “1_ 2_ 3_” in the chat.
This is the most accessible task in the lesson — use it to build confidence before independent work. Core students read the sentence aloud after the answer is revealed (by invitation).
Website visual game (3 of 6). Key words to spot: الضِّيَافَةِ (hospitality) · تَخْتَلِفُ … التَّحِيَّةِ (greetings differ) · العَائِلَةُ (family). All three are today’s core words.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19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WE DO — 5 of the website’s 12 Culture Detective statements. Three categories (website): respectful and accurate · needs more care · a personal choice. Stretch: rewrite each “needs more care” statement with careful language (فِي بَعْضِ العَائِلَاتِ …، لَيْسَ دَائِمًا).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Reveal and discuss the website explanation for each. Stress statement 3 (religion): no student is ever required to disclose belief.</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LISTENING (4 min) — website script. Read it aloud yourself, twice, at natural speed with pauses.
Before listening: students read the questions (● 30s). Core: questions 1, 3 and 4. Develop / Stretch: all 5.
Listen 1: just listen. Listen 2: note answers. Then chat the letters.
Support: after the second listening, show the read-along slide (Arabic + English, line by line) for Core students.
SCRIPT (read aloud):
السَّلَامُ عَلَيْكُمْ. اِسْمِي هَنَاءُ، وَأَنَا أُرْدُنِيَّةٌ أَعِيشُ فِي لَنْدَنَ. اليَوْمَ تَزُورُنَا صَدِيقَتِي مَرْيَمُ. أَقُولُ لَهَا: أَهْلًا وَسَهْلًا، تَفَضَّلِي. ثُمَّ أَسْأَلُهَا: كَيْفَ الأَهْلُ؟ وَأُقَدِّمُ لَهَا الشَّايَ وَالتَّمْرَ. أَنَا فَخُورَةٌ بِعَائِلَتِي وَبِثَقَافَتِي، وَلَكِنَّنِي أَعْرِفُ أَنَّ عَادَاتِ التَّحِيَّةِ وَالضِّيَافَةِ تَخْتَلِفُ مِنْ عَائِلَةٍ إِلَى أُخْرَى.</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READ-ALONG (Core support) — show AFTER the second listening. The Arabic is the website script, line by line; the English is a teacher translation.
Read it once more while Core students follow. Annotate the words that gave each answer.
Stretch: cover the English column and translate one line aloud.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Go through answers. For each, ask “Which Arabic words gave you the answer?” — the evidence line is under each card.</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READING (website section 8). Website: “These are fictional family profiles, not claims about every person from a country.” The English column gives the key points; Develop / Stretch cover it and find the Arabic evidence. Core: read the English, then find ONE Arabic word per profile (مَغْرِبِيَّةٌ · لُبْنَانِيٌّ · بَرِيطَانِيٌّ).</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Reading questions 1–3 and 5 are teacher-made; question 4 is the website checkpoint question about Rami’s main point.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A student reads aloud the evidence (by invitation).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27</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TOPIC B APPLICATION CHALLENGE (3 min — it takes the speaking-rehearsal slot; the website speaking slide after it is FLEX) — from the website Topic page: “Create a six-clue personal profile using name, age, place, language, study and personality. A partner identifies the person and checks gender agreement.”
Website Topic B challenge “Identity mystery”: name, age, place, language, study and personality — the partner identifies the person and checks gender agreement. Privacy: invented people are always fine; never share addresses or photos.</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28</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2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FLEX — the Topic B challenge before this slide is the main speaking task; use these website prompts if time allows or as homework rehearsal.
SPEAKING REHEARSAL (3 min) — website speaking prompts. No breakout rooms (saves setup time).
Sequence: ● 10s think → ↔ 45s everyone rehearses their answer aloud with mic muted → ◎ pairs on open mic: name two students (warned in advance); A asks, B answers; the rest of the class types one follow-up question in chat (+ / ?) → ↺ one student summarises the answer they heard.
Routes: Core uses the Core prompt and stem; Develop the Develop prompts; Stretch the last prompt.
Model (website) at the bottom — read it with a confident student first. The website model continues:
WEBSITE SPEAKING: “Use a fictional profile or a culture you know well. Never invent personal information about a real classmate.”
Random profile cards (website):
• A Moroccan-British family in Birmingham — Greeting: السَّلَامُ عَلَيْكُمْ · hospitality: mint tea · languages: Arabic and English · variation: some relatives shake hands; others use words only.
• A Jordanian family welcoming a neighbour — Greeting: أَهْلًا وَسَهْلًا · hospitality: tea and dates · family question: كَيْفَ الأَهْلُ؟ · emphasis: guest choice is respected.
• A multilingual Lebanese family in Manchester — Languages: Arabic, English and French · greeting varies by setting · identity combines family background and British life.
• An Egyptian family at a large gathering — Greeting: warm verbal exchange · asks about health and family · hospitality: several optional drinks · practices differ by generation.
• A Syrian-British student describing identity — Proud of family language and British school community · greets friends differently from older relatives · no personal belief disclosure required.
• A fictional international Arabic club — Members come from several backgrounds · use Arabic greetings · bring different family customs · agree to ask before physical contact.
Routes (website): Core — four sentences (country/family, greeting, hospitality, one variation statement) · Develop — add a comparison with Britain or another familiar context using وَلَكِنْ or أَيْضًا · Stretch — explain why one broad statement is inaccurate and replace it with careful language.
Audience questions (website, prompts 2–3 above): مَا أَهَمُّ عَادَةٍ فِي هَذِهِ العَائِلَةِ؟ · هَلْ تَخْتَلِفُ التَّحِيَّةُ مَعَ الأَصْدِقَاءِ؟ · مَا اللُّغَاتُ الَّتِي يَتَكَلَّمُونَهَا؟</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29</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YOU DO (9 min writing). Steer routes using the Do Now and quick-check results.
Website differentiation tasks: Core — Four sentences: family or country context, a greeting, hospitality, and one respectful “this may vary” statement. · Develop — Six to eight sentences with a comparison (similar / different) and وَلَكِنْ or أَيْضًا. · Stretch — Ten sentences; explain why one broad statement is inaccurate and replace it with careful language.
Website writing task (Stretch): Website writing task: a cultural comparison of six to ten connected sentences about one greeting or hospitality context (real, fictional or family-safe): the context, one greeting custom, one hospitality/family custom, one similarity, one difference, and a final statement about respect or identity.
LIVE FEEDBACK: students post their first two sentences in the chat (or OneNote) after 3 minutes. Scan and correct misconceptions immediately — use private chat for individual corrections (Behaviour: quiet, individual).
Work with the less able: stay with Core students for the first 3 minutes; Develop/Stretch continue independently. SEND: chunk the Core task — “two sentences, then show me”.
Extension (fast finishers): the reading on the Extension slides. Pastoral: Self-Management point for students who work without prompting.</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30</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Keep on screen during writing — Core students complete the frames on the right; Develop students use the frames on the left.
Frames and word bank use only this lesson’s website language (EAL: sentence frame + word bank scaffold; same objective, adapted task).
EAL Band A–B students: complete three frames, then copy and adapt one model sentence.</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31</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FEEDBACK (1 min) — website model answer, with an English translation for Core students.
Students find in the model (● 20s → ◎) the four items on the chips. Teacher-made model built from website language (the website gives a planner, not a finished model). A girl would write فَخُورَةٌ.
Then each student chooses ONE thing from the model to add to their own writing (specific, actionable feedback on the success criteria).</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32</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SELF-CHECK (1 min) against the website success criteria. Students tick privately, then type one WWW and one EBI in the chat (English is fine).
Teacher: one whole-class feedback point from live feedback. Pastoral: Curiosity &amp; Growth for honest reflection and a harder target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33</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EXIT TICKET (2 min) — 3 of the website’s 12 end-of-lesson questions (“Final self-marking check”). The rest are on the website for homework.
Anyone scoring low → Core route next lesson and a check-in during the Do Now. Record Pastoral Tracker points now.</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34</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Quick reveal. Students self-mark and type their score out of 3 in the chat.</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35</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ar-SA" dirty="0">
                <a:latin typeface="Amiri" pitchFamily="2" charset="-78"/>
                <a:ea typeface="Amiri" pitchFamily="2" charset="-78"/>
                <a:cs typeface="Amiri" pitchFamily="2" charset="-78"/>
              </a:rPr>
              <a:t>PREPARATION — flipped learning (2 min to explain).
Next lesson (TB-L02 · Family, Friends and Relationships) · Writing a Short Personal Introduction) will spend class time USING this language, so students prepare it tonight — short, simple, easy to access (school guidance: “Simple, Short, Interesting, Relevant, Easy to access”). The five words are from the website F2-L11 (website) form and connected-writing vocabulary (الاِسْتِمَارَةُ appears in the website task titles).
Follow-up: the next Do Now tests two of these words (Flipped Learning: keep it short AND follow up).
Homework by route (website tasks). No internet? Students copy the five words from this slide into their book now.
TOPIC B: the five words are the ones the TB-L02 Do Now tests (preparation list of the website D2-L01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36</a:t>
            </a:fld>
            <a:endParaRPr lang="en-US"/>
          </a:p>
        </p:txBody>
      </p:sp>
    </p:spTree>
    <p:extLst>
      <p:ext uri="{BB962C8B-B14F-4D97-AF65-F5344CB8AC3E}">
        <p14:creationId xmlns:p14="http://schemas.microsoft.com/office/powerpoint/2010/main" val="1024086991"/>
      </p:ext>
    </p:extLst>
  </p:cSld>
  <p:clrMapOvr>
    <a:masterClrMapping/>
  </p:clrMapOvr>
</p:notes>
</file>

<file path=ppt/notesSlides/notesSlide3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dirty="0"/>
              <a:t>CLOSE — thank students, dismiss calmly. After the lesson: complete the Pastoral Tracker (attendance, character, self-management, curiosity; demerits only for the five listed concerns). Note any student below 2/3 on the exit ticket for a Do Now check-in next lesson.</a:t>
            </a:r>
            <a:endParaRPr lang="en-US" dirty="0"/>
          </a:p>
        </p:txBody>
      </p:sp>
      <p:sp>
        <p:nvSpPr>
          <p:cNvPr id="4" name="Slide Number Placeholder 3"/>
          <p:cNvSpPr>
            <a:spLocks noGrp="1"/>
          </p:cNvSpPr>
          <p:nvPr>
            <p:ph type="sldNum" sz="quarter" idx="10"/>
          </p:nvPr>
        </p:nvSpPr>
        <p:spPr/>
        <p:txBody>
          <a:bodyPr/>
          <a:lstStyle/>
          <a:p>
            <a:fld id="{F7021451-1387-4CA6-816F-3879F97B5CBC}" type="slidenum">
              <a:rPr lang="en-US"/>
              <a:t>37</a:t>
            </a:fld>
            <a:endParaRPr lang="en-US"/>
          </a:p>
        </p:txBody>
      </p:sp>
    </p:spTree>
    <p:extLst>
      <p:ext uri="{BB962C8B-B14F-4D97-AF65-F5344CB8AC3E}">
        <p14:creationId xmlns:p14="http://schemas.microsoft.com/office/powerpoint/2010/main" val="1024086991"/>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Tree>
  </p:cSld>
  <p:clrMap bg1="lt1" tx1="dk1" bg2="lt2" tx2="dk2" accent1="accent1" accent2="accent2" accent3="accent3" accent4="accent4" accent5="accent5" accent6="accent6" hlink="hlink" folHlink="folHlink"/>
  <p:sldLayoutIdLst>
    <p:sldLayoutId id="2147483649" r:id="rId1"/>
  </p:sldLayoutIdLst>
  <p:hf sldNum="0" hdr="0" ftr="0" dt="0"/>
  <p:txStyles>
    <p:titleStyle>
      <a:lvl1pPr algn="ctr" defTabSz="914400" rtl="0" eaLnBrk="1" latinLnBrk="0" hangingPunct="1">
        <a:spcBef>
          <a:spcPct val="0"/>
        </a:spcBef>
        <a:buNone/>
        <a:defRPr sz="4400" kern="1200">
          <a:solidFill>
            <a:schemeClr val="tx1"/>
          </a:solidFill>
          <a:latin typeface="+mj-lt"/>
          <a:cs typeface="Amiri" pitchFamily="2" charset="-78"/>
        </a:defRPr>
      </a:lvl1pPr>
    </p:titleStyle>
    <p:bodyStyle>
      <a:lvl1pPr marL="342900" indent="-342900" algn="l" defTabSz="914400" rtl="0" eaLnBrk="1" latinLnBrk="0" hangingPunct="1">
        <a:spcBef>
          <a:spcPct val="20000"/>
        </a:spcBef>
        <a:buFont typeface="Arial" pitchFamily="34" charset="0"/>
        <a:buChar char="•"/>
        <a:defRPr sz="3200" kern="1200">
          <a:solidFill>
            <a:schemeClr val="tx1"/>
          </a:solidFill>
          <a:latin typeface="+mn-lt"/>
          <a:cs typeface="Amiri" pitchFamily="2" charset="-78"/>
        </a:defRPr>
      </a:lvl1pPr>
      <a:lvl2pPr marL="742950" indent="-285750" algn="l" defTabSz="914400" rtl="0" eaLnBrk="1" latinLnBrk="0" hangingPunct="1">
        <a:spcBef>
          <a:spcPct val="20000"/>
        </a:spcBef>
        <a:buFont typeface="Arial" pitchFamily="34" charset="0"/>
        <a:buChar char="–"/>
        <a:defRPr sz="2800" kern="1200">
          <a:solidFill>
            <a:schemeClr val="tx1"/>
          </a:solidFill>
          <a:latin typeface="+mn-lt"/>
          <a:cs typeface="Amiri" pitchFamily="2" charset="-78"/>
        </a:defRPr>
      </a:lvl2pPr>
      <a:lvl3pPr marL="1143000" indent="-228600" algn="l" defTabSz="914400" rtl="0" eaLnBrk="1" latinLnBrk="0" hangingPunct="1">
        <a:spcBef>
          <a:spcPct val="20000"/>
        </a:spcBef>
        <a:buFont typeface="Arial" pitchFamily="34" charset="0"/>
        <a:buChar char="•"/>
        <a:defRPr sz="2400" kern="1200">
          <a:solidFill>
            <a:schemeClr val="tx1"/>
          </a:solidFill>
          <a:latin typeface="+mn-lt"/>
          <a:cs typeface="Amiri" pitchFamily="2" charset="-78"/>
        </a:defRPr>
      </a:lvl3pPr>
      <a:lvl4pPr marL="1600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4pPr>
      <a:lvl5pPr marL="20574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5pPr>
      <a:lvl6pPr marL="25146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6pPr>
      <a:lvl7pPr marL="29718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7pPr>
      <a:lvl8pPr marL="34290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8pPr>
      <a:lvl9pPr marL="3886200" indent="-228600" algn="l" defTabSz="914400" rtl="0" eaLnBrk="1" latinLnBrk="0" hangingPunct="1">
        <a:spcBef>
          <a:spcPct val="20000"/>
        </a:spcBef>
        <a:buFont typeface="Arial" pitchFamily="34" charset="0"/>
        <a:buChar char="•"/>
        <a:defRPr sz="2000" kern="1200">
          <a:solidFill>
            <a:schemeClr val="tx1"/>
          </a:solidFill>
          <a:latin typeface="+mn-lt"/>
          <a:cs typeface="Amiri" pitchFamily="2" charset="-78"/>
        </a:defRPr>
      </a:lvl9pPr>
    </p:bodyStyle>
    <p:otherStyle>
      <a:defPPr>
        <a:defRPr lang="en-US"/>
      </a:defPPr>
      <a:lvl1pPr marL="0" algn="l" defTabSz="914400" rtl="0" eaLnBrk="1" latinLnBrk="0" hangingPunct="1">
        <a:defRPr sz="1800" kern="1200">
          <a:solidFill>
            <a:schemeClr val="tx1"/>
          </a:solidFill>
          <a:latin typeface="+mn-lt"/>
          <a:cs typeface="Amiri" pitchFamily="2" charset="-78"/>
        </a:defRPr>
      </a:lvl1pPr>
      <a:lvl2pPr marL="457200" algn="l" defTabSz="914400" rtl="0" eaLnBrk="1" latinLnBrk="0" hangingPunct="1">
        <a:defRPr sz="1800" kern="1200">
          <a:solidFill>
            <a:schemeClr val="tx1"/>
          </a:solidFill>
          <a:latin typeface="+mn-lt"/>
          <a:cs typeface="Amiri" pitchFamily="2" charset="-78"/>
        </a:defRPr>
      </a:lvl2pPr>
      <a:lvl3pPr marL="914400" algn="l" defTabSz="914400" rtl="0" eaLnBrk="1" latinLnBrk="0" hangingPunct="1">
        <a:defRPr sz="1800" kern="1200">
          <a:solidFill>
            <a:schemeClr val="tx1"/>
          </a:solidFill>
          <a:latin typeface="+mn-lt"/>
          <a:cs typeface="Amiri" pitchFamily="2" charset="-78"/>
        </a:defRPr>
      </a:lvl3pPr>
      <a:lvl4pPr marL="1371600" algn="l" defTabSz="914400" rtl="0" eaLnBrk="1" latinLnBrk="0" hangingPunct="1">
        <a:defRPr sz="1800" kern="1200">
          <a:solidFill>
            <a:schemeClr val="tx1"/>
          </a:solidFill>
          <a:latin typeface="+mn-lt"/>
          <a:cs typeface="Amiri" pitchFamily="2" charset="-78"/>
        </a:defRPr>
      </a:lvl4pPr>
      <a:lvl5pPr marL="1828800" algn="l" defTabSz="914400" rtl="0" eaLnBrk="1" latinLnBrk="0" hangingPunct="1">
        <a:defRPr sz="1800" kern="1200">
          <a:solidFill>
            <a:schemeClr val="tx1"/>
          </a:solidFill>
          <a:latin typeface="+mn-lt"/>
          <a:cs typeface="Amiri" pitchFamily="2" charset="-78"/>
        </a:defRPr>
      </a:lvl5pPr>
      <a:lvl6pPr marL="2286000" algn="l" defTabSz="914400" rtl="0" eaLnBrk="1" latinLnBrk="0" hangingPunct="1">
        <a:defRPr sz="1800" kern="1200">
          <a:solidFill>
            <a:schemeClr val="tx1"/>
          </a:solidFill>
          <a:latin typeface="+mn-lt"/>
          <a:cs typeface="Amiri" pitchFamily="2" charset="-78"/>
        </a:defRPr>
      </a:lvl6pPr>
      <a:lvl7pPr marL="2743200" algn="l" defTabSz="914400" rtl="0" eaLnBrk="1" latinLnBrk="0" hangingPunct="1">
        <a:defRPr sz="1800" kern="1200">
          <a:solidFill>
            <a:schemeClr val="tx1"/>
          </a:solidFill>
          <a:latin typeface="+mn-lt"/>
          <a:cs typeface="Amiri" pitchFamily="2" charset="-78"/>
        </a:defRPr>
      </a:lvl7pPr>
      <a:lvl8pPr marL="3200400" algn="l" defTabSz="914400" rtl="0" eaLnBrk="1" latinLnBrk="0" hangingPunct="1">
        <a:defRPr sz="1800" kern="1200">
          <a:solidFill>
            <a:schemeClr val="tx1"/>
          </a:solidFill>
          <a:latin typeface="+mn-lt"/>
          <a:cs typeface="Amiri" pitchFamily="2" charset="-78"/>
        </a:defRPr>
      </a:lvl8pPr>
      <a:lvl9pPr marL="3657600" algn="l" defTabSz="914400" rtl="0" eaLnBrk="1" latinLnBrk="0" hangingPunct="1">
        <a:defRPr sz="1800" kern="1200">
          <a:solidFill>
            <a:schemeClr val="tx1"/>
          </a:solidFill>
          <a:latin typeface="+mn-lt"/>
          <a:cs typeface="Amiri" pitchFamily="2" charset="-78"/>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image" Target="../media/image-1-1.png"/><Relationship Id="rId2" Type="http://schemas.openxmlformats.org/officeDocument/2006/relationships/slideLayout" Target="../slideLayouts/slideLayout1.xml"/><Relationship Id="rId3" Type="http://schemas.openxmlformats.org/officeDocument/2006/relationships/notesSlide" Target="../notesSlides/notesSlide1.xml"/></Relationships>
</file>

<file path=ppt/slides/_rels/slide2.xml.rels><?xml version="1.0" encoding="UTF-8" standalone="yes"?>
<Relationships xmlns="http://schemas.openxmlformats.org/package/2006/relationships"><Relationship Id="rId1" Type="http://schemas.openxmlformats.org/officeDocument/2006/relationships/image" Target="../media/image-2-1.png"/><Relationship Id="rId2" Type="http://schemas.openxmlformats.org/officeDocument/2006/relationships/image" Target="../media/image-2-2.png"/><Relationship Id="rId3" Type="http://schemas.openxmlformats.org/officeDocument/2006/relationships/image" Target="../media/image-2-3.png"/><Relationship Id="rId4" Type="http://schemas.openxmlformats.org/officeDocument/2006/relationships/image" Target="../media/image-2-4.png"/><Relationship Id="rId5" Type="http://schemas.openxmlformats.org/officeDocument/2006/relationships/slideLayout" Target="../slideLayouts/slideLayout1.xml"/><Relationship Id="rId6" Type="http://schemas.openxmlformats.org/officeDocument/2006/relationships/notesSlide" Target="../notesSlides/notesSlide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4.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5.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6.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8.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9.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0.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1.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3.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4.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5.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6.xml"/></Relationships>
</file>

<file path=ppt/slides/_rels/slide17.xml.rels><?xml version="1.0" encoding="UTF-8" standalone="yes"?>
<Relationships xmlns="http://schemas.openxmlformats.org/package/2006/relationships"><Relationship Id="rId1" Type="http://schemas.openxmlformats.org/officeDocument/2006/relationships/image" Target="../media/image-17-1.png"/><Relationship Id="rId2" Type="http://schemas.openxmlformats.org/officeDocument/2006/relationships/slideLayout" Target="../slideLayouts/slideLayout1.xml"/><Relationship Id="rId3" Type="http://schemas.openxmlformats.org/officeDocument/2006/relationships/notesSlide" Target="../notesSlides/notesSlide17.xml"/></Relationships>
</file>

<file path=ppt/slides/_rels/slide18.xml.rels><?xml version="1.0" encoding="UTF-8" standalone="yes"?>
<Relationships xmlns="http://schemas.openxmlformats.org/package/2006/relationships"><Relationship Id="rId1" Type="http://schemas.openxmlformats.org/officeDocument/2006/relationships/image" Target="../media/image-18-1.png"/><Relationship Id="rId2" Type="http://schemas.openxmlformats.org/officeDocument/2006/relationships/image" Target="../media/image-18-2.png"/><Relationship Id="rId3" Type="http://schemas.openxmlformats.org/officeDocument/2006/relationships/image" Target="../media/image-18-3.png"/><Relationship Id="rId4" Type="http://schemas.openxmlformats.org/officeDocument/2006/relationships/image" Target="../media/image-18-4.png"/><Relationship Id="rId5" Type="http://schemas.openxmlformats.org/officeDocument/2006/relationships/image" Target="../media/image-18-5.png"/><Relationship Id="rId6" Type="http://schemas.openxmlformats.org/officeDocument/2006/relationships/image" Target="../media/image-18-6.png"/><Relationship Id="rId7" Type="http://schemas.openxmlformats.org/officeDocument/2006/relationships/slideLayout" Target="../slideLayouts/slideLayout1.xml"/><Relationship Id="rId8" Type="http://schemas.openxmlformats.org/officeDocument/2006/relationships/notesSlide" Target="../notesSlides/notesSlide18.xml"/></Relationships>
</file>

<file path=ppt/slides/_rels/slide19.xml.rels><?xml version="1.0" encoding="UTF-8" standalone="yes"?>
<Relationships xmlns="http://schemas.openxmlformats.org/package/2006/relationships"><Relationship Id="rId1" Type="http://schemas.openxmlformats.org/officeDocument/2006/relationships/image" Target="../media/image-19-1.png"/><Relationship Id="rId2" Type="http://schemas.openxmlformats.org/officeDocument/2006/relationships/image" Target="../media/image-19-2.png"/><Relationship Id="rId3" Type="http://schemas.openxmlformats.org/officeDocument/2006/relationships/image" Target="../media/image-19-3.png"/><Relationship Id="rId4" Type="http://schemas.openxmlformats.org/officeDocument/2006/relationships/image" Target="../media/image-19-4.png"/><Relationship Id="rId5" Type="http://schemas.openxmlformats.org/officeDocument/2006/relationships/image" Target="../media/image-19-5.png"/><Relationship Id="rId6" Type="http://schemas.openxmlformats.org/officeDocument/2006/relationships/image" Target="../media/image-19-6.png"/><Relationship Id="rId7" Type="http://schemas.openxmlformats.org/officeDocument/2006/relationships/slideLayout" Target="../slideLayouts/slideLayout1.xml"/><Relationship Id="rId8" Type="http://schemas.openxmlformats.org/officeDocument/2006/relationships/notesSlide" Target="../notesSlides/notesSlide19.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0.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1.xml"/></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3.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4.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5.xml"/></Relationships>
</file>

<file path=ppt/slides/_rels/slide26.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6.xml"/></Relationships>
</file>

<file path=ppt/slides/_rels/slide27.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7.xml"/></Relationships>
</file>

<file path=ppt/slides/_rels/slide28.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8.xml"/></Relationships>
</file>

<file path=ppt/slides/_rels/slide29.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29.xml"/></Relationships>
</file>

<file path=ppt/slides/_rels/slide30.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0.xml"/></Relationships>
</file>

<file path=ppt/slides/_rels/slide3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1.xml"/></Relationships>
</file>

<file path=ppt/slides/_rels/slide32.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2.xml"/></Relationships>
</file>

<file path=ppt/slides/_rels/slide33.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3.xml"/></Relationships>
</file>

<file path=ppt/slides/_rels/slide34.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4.xml"/></Relationships>
</file>

<file path=ppt/slides/_rels/slide35.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35.xml"/></Relationships>
</file>

<file path=ppt/slides/_rels/slide36.xml.rels><?xml version="1.0" encoding="UTF-8" standalone="yes"?>
<Relationships xmlns="http://schemas.openxmlformats.org/package/2006/relationships"><Relationship Id="rId1" Type="http://schemas.openxmlformats.org/officeDocument/2006/relationships/image" Target="../media/image-36-1.png"/><Relationship Id="rId2" Type="http://schemas.openxmlformats.org/officeDocument/2006/relationships/slideLayout" Target="../slideLayouts/slideLayout1.xml"/><Relationship Id="rId3" Type="http://schemas.openxmlformats.org/officeDocument/2006/relationships/notesSlide" Target="../notesSlides/notesSlide36.xml"/></Relationships>
</file>

<file path=ppt/slides/_rels/slide37.xml.rels><?xml version="1.0" encoding="UTF-8" standalone="yes"?>
<Relationships xmlns="http://schemas.openxmlformats.org/package/2006/relationships"><Relationship Id="rId1" Type="http://schemas.openxmlformats.org/officeDocument/2006/relationships/image" Target="../media/image-37-1.png"/><Relationship Id="rId2" Type="http://schemas.openxmlformats.org/officeDocument/2006/relationships/slideLayout" Target="../slideLayouts/slideLayout1.xml"/><Relationship Id="rId3" Type="http://schemas.openxmlformats.org/officeDocument/2006/relationships/notesSlide" Target="../notesSlides/notesSlide37.xml"/></Relationships>
</file>

<file path=ppt/slides/slide1.xml><?xml version="1.0" encoding="utf-8"?>
<p:sld xmlns:a="http://schemas.openxmlformats.org/drawingml/2006/main" xmlns:r="http://schemas.openxmlformats.org/officeDocument/2006/relationships" xmlns:p="http://schemas.openxmlformats.org/presentationml/2006/main">
  <p:cSld name="Slide 1">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463040"/>
            <a:ext cx="5852160" cy="5852160"/>
          </a:xfrm>
          <a:prstGeom prst="ellipse">
            <a:avLst/>
          </a:prstGeom>
          <a:solidFill>
            <a:srgbClr val="14315C"/>
          </a:solidFill>
          <a:ln w="12700">
            <a:solidFill>
              <a:srgbClr val="14315C"/>
            </a:solidFill>
            <a:prstDash val="solid"/>
          </a:ln>
        </p:spPr>
      </p:sp>
      <p:sp>
        <p:nvSpPr>
          <p:cNvPr id="3" name="Shape 1"/>
          <p:cNvSpPr/>
          <p:nvPr/>
        </p:nvSpPr>
        <p:spPr>
          <a:xfrm>
            <a:off x="8778240" y="-548640"/>
            <a:ext cx="4023360" cy="4023360"/>
          </a:xfrm>
          <a:prstGeom prst="ellipse">
            <a:avLst/>
          </a:prstGeom>
          <a:solidFill>
            <a:srgbClr val="1B3B6F"/>
          </a:solidFill>
          <a:ln w="12700">
            <a:solidFill>
              <a:srgbClr val="1B3B6F"/>
            </a:solidFill>
            <a:prstDash val="solid"/>
          </a:ln>
        </p:spPr>
      </p:sp>
      <p:pic>
        <p:nvPicPr>
          <p:cNvPr id="4" name="Image 0" descr="preencoded.png">    </p:cNvPr>
          <p:cNvPicPr>
            <a:picLocks noChangeAspect="1"/>
          </p:cNvPicPr>
          <p:nvPr/>
        </p:nvPicPr>
        <p:blipFill>
          <a:blip r:embed="rId1"/>
          <a:stretch>
            <a:fillRect/>
          </a:stretch>
        </p:blipFill>
        <p:spPr>
          <a:xfrm>
            <a:off x="10012680" y="685800"/>
            <a:ext cx="1554480" cy="1554480"/>
          </a:xfrm>
          <a:prstGeom prst="rect">
            <a:avLst/>
          </a:prstGeom>
        </p:spPr>
      </p:pic>
      <p:sp>
        <p:nvSpPr>
          <p:cNvPr id="5" name="Shape 2"/>
          <p:cNvSpPr/>
          <p:nvPr/>
        </p:nvSpPr>
        <p:spPr>
          <a:xfrm>
            <a:off x="457200" y="411480"/>
            <a:ext cx="502920" cy="502920"/>
          </a:xfrm>
          <a:prstGeom prst="ellipse">
            <a:avLst/>
          </a:prstGeom>
          <a:solidFill>
            <a:srgbClr val="1B3B6F"/>
          </a:solidFill>
          <a:ln w="15875">
            <a:solidFill>
              <a:srgbClr val="D4AF37"/>
            </a:solidFill>
            <a:prstDash val="solid"/>
          </a:ln>
        </p:spPr>
      </p:sp>
      <p:sp>
        <p:nvSpPr>
          <p:cNvPr id="6" name="Text 3"/>
          <p:cNvSpPr txBox="1"/>
          <p:nvPr/>
        </p:nvSpPr>
        <p:spPr>
          <a:xfrm>
            <a:off x="457200" y="393192"/>
            <a:ext cx="502920" cy="502920"/>
          </a:xfrm>
          <a:prstGeom prst="rect">
            <a:avLst/>
          </a:prstGeom>
          <a:noFill/>
          <a:ln/>
        </p:spPr>
        <p:txBody>
          <a:bodyPr wrap="square" lIns="0" tIns="0" rIns="0" bIns="0" rtlCol="0" anchor="ctr"/>
          <a:lstStyle/>
          <a:p>
            <a:pPr rtl="1" algn="ctr" indent="0" marL="0">
              <a:buNone/>
            </a:pPr>
            <a:r>
              <a:rPr lang="ar-SA" altLang="en-US" sz="2200" b="1" dirty="0">
                <a:solidFill>
                  <a:srgbClr val="D4AF37"/>
                </a:solidFill>
                <a:latin typeface="Amiri" pitchFamily="2" charset="-78"/>
                <a:ea typeface="Amiri" pitchFamily="2" charset="-78"/>
                <a:cs typeface="Amiri" pitchFamily="2" charset="-78"/>
              </a:rPr>
              <a:t>م</a:t>
            </a:r>
            <a:endParaRPr lang="ar-SA" sz="2200" dirty="0"/>
          </a:p>
        </p:txBody>
      </p:sp>
      <p:sp>
        <p:nvSpPr>
          <p:cNvPr id="7" name="Text 4"/>
          <p:cNvSpPr txBox="1"/>
          <p:nvPr/>
        </p:nvSpPr>
        <p:spPr>
          <a:xfrm>
            <a:off x="1078992" y="384048"/>
            <a:ext cx="5486400" cy="566928"/>
          </a:xfrm>
          <a:prstGeom prst="rect">
            <a:avLst/>
          </a:prstGeom>
          <a:noFill/>
          <a:ln/>
        </p:spPr>
        <p:txBody>
          <a:bodyPr wrap="square" lIns="0" tIns="0" rIns="0" bIns="0" rtlCol="0" anchor="ctr"/>
          <a:lstStyle/>
          <a:p>
            <a:pPr indent="0" marL="0">
              <a:buNone/>
            </a:pPr>
            <a:r>
              <a:rPr lang="en-US" sz="1400" b="1" dirty="0">
                <a:solidFill>
                  <a:srgbClr val="FFFFFF"/>
                </a:solidFill>
                <a:latin typeface="Cambria" pitchFamily="34" charset="0"/>
                <a:cs typeface="Amiri" pitchFamily="2" charset="-78"/>
              </a:rPr>
              <a:t>Al Madina Online School</a:t>
            </a:r>
            <a:endParaRPr lang="en-US" sz="1400" dirty="0"/>
          </a:p>
          <a:p>
            <a:pPr indent="0" marL="0">
              <a:buNone/>
            </a:pPr>
            <a:r>
              <a:rPr lang="en-US" sz="800" b="1" spc="200" kern="0" dirty="0">
                <a:solidFill>
                  <a:srgbClr val="D4AF37"/>
                </a:solidFill>
                <a:latin typeface="Calibri" pitchFamily="34" charset="0"/>
                <a:cs typeface="Amiri" pitchFamily="2" charset="-78"/>
              </a:rPr>
              <a:t>ARABIC DEPARTMENT · MIFTAH ARABIC</a:t>
            </a:r>
            <a:endParaRPr lang="en-US" sz="1400" dirty="0"/>
          </a:p>
        </p:txBody>
      </p:sp>
      <p:sp>
        <p:nvSpPr>
          <p:cNvPr id="8" name="Text 5"/>
          <p:cNvSpPr txBox="1"/>
          <p:nvPr/>
        </p:nvSpPr>
        <p:spPr>
          <a:xfrm>
            <a:off x="457200" y="1600200"/>
            <a:ext cx="8686800" cy="274320"/>
          </a:xfrm>
          <a:prstGeom prst="rect">
            <a:avLst/>
          </a:prstGeom>
          <a:noFill/>
          <a:ln/>
        </p:spPr>
        <p:txBody>
          <a:bodyPr wrap="square" lIns="0" tIns="0" rIns="0" bIns="0" rtlCol="0" anchor="ctr"/>
          <a:lstStyle/>
          <a:p>
            <a:pPr algn="l" indent="0" marL="0">
              <a:buNone/>
            </a:pPr>
            <a:r>
              <a:rPr lang="en-US" sz="1100" b="1" spc="200" kern="0" dirty="0">
                <a:solidFill>
                  <a:srgbClr val="D4AF37"/>
                </a:solidFill>
                <a:latin typeface="Calibri" pitchFamily="34" charset="0"/>
                <a:cs typeface="Amiri" pitchFamily="2" charset="-78"/>
              </a:rPr>
              <a:t>CAMBRIDGE IGCSE ARABIC 0544  ·  ADVANCED TOPIC B  ·  TB-L01</a:t>
            </a:r>
            <a:endParaRPr lang="en-US" sz="1100" dirty="0"/>
          </a:p>
        </p:txBody>
      </p:sp>
      <p:sp>
        <p:nvSpPr>
          <p:cNvPr id="9" name="Text 6"/>
          <p:cNvSpPr txBox="1"/>
          <p:nvPr/>
        </p:nvSpPr>
        <p:spPr>
          <a:xfrm>
            <a:off x="457200" y="1965960"/>
            <a:ext cx="7315200" cy="548640"/>
          </a:xfrm>
          <a:prstGeom prst="rect">
            <a:avLst/>
          </a:prstGeom>
          <a:noFill/>
          <a:ln/>
        </p:spPr>
        <p:txBody>
          <a:bodyPr wrap="square" lIns="0" tIns="0" rIns="0" bIns="0" rtlCol="0" anchor="ctr"/>
          <a:lstStyle/>
          <a:p>
            <a:pPr algn="l" indent="0" marL="0">
              <a:buNone/>
            </a:pPr>
            <a:r>
              <a:rPr lang="en-US" sz="2600" b="1" dirty="0">
                <a:solidFill>
                  <a:srgbClr val="9FB3D1"/>
                </a:solidFill>
                <a:latin typeface="Cambria" pitchFamily="34" charset="0"/>
                <a:cs typeface="Amiri" pitchFamily="2" charset="-78"/>
              </a:rPr>
              <a:t>TB-L01</a:t>
            </a:r>
            <a:endParaRPr lang="en-US" sz="2600" dirty="0"/>
          </a:p>
        </p:txBody>
      </p:sp>
      <p:sp>
        <p:nvSpPr>
          <p:cNvPr id="10" name="Text 7"/>
          <p:cNvSpPr txBox="1"/>
          <p:nvPr/>
        </p:nvSpPr>
        <p:spPr>
          <a:xfrm>
            <a:off x="457200" y="2487168"/>
            <a:ext cx="8046720" cy="868680"/>
          </a:xfrm>
          <a:prstGeom prst="rect">
            <a:avLst/>
          </a:prstGeom>
          <a:noFill/>
          <a:ln/>
        </p:spPr>
        <p:txBody>
          <a:bodyPr wrap="square" lIns="0" tIns="0" rIns="0" bIns="0" rtlCol="0" anchor="ctr"/>
          <a:lstStyle/>
          <a:p>
            <a:pPr algn="l" indent="0" marL="0">
              <a:buNone/>
            </a:pPr>
            <a:r>
              <a:rPr lang="en-US" sz="3650" b="1" dirty="0">
                <a:solidFill>
                  <a:srgbClr val="FFFFFF"/>
                </a:solidFill>
                <a:latin typeface="Cambria" pitchFamily="34" charset="0"/>
                <a:cs typeface="Amiri" pitchFamily="2" charset="-78"/>
              </a:rPr>
              <a:t>Identity and Personal Profiles</a:t>
            </a:r>
            <a:endParaRPr lang="en-US" sz="3650" dirty="0"/>
          </a:p>
        </p:txBody>
      </p:sp>
      <p:sp>
        <p:nvSpPr>
          <p:cNvPr id="11" name="Text 8"/>
          <p:cNvSpPr txBox="1"/>
          <p:nvPr/>
        </p:nvSpPr>
        <p:spPr>
          <a:xfrm>
            <a:off x="457200" y="3310128"/>
            <a:ext cx="8046720" cy="868680"/>
          </a:xfrm>
          <a:prstGeom prst="rect">
            <a:avLst/>
          </a:prstGeom>
          <a:noFill/>
          <a:ln/>
        </p:spPr>
        <p:txBody>
          <a:bodyPr wrap="square" lIns="0" tIns="0" rIns="0" bIns="0" rtlCol="0" anchor="ctr"/>
          <a:lstStyle/>
          <a:p>
            <a:pPr rtl="1" algn="l" indent="0" marL="0">
              <a:buNone/>
            </a:pPr>
            <a:r>
              <a:rPr lang="ar-SA" altLang="en-US" sz="3600" b="1" dirty="0">
                <a:solidFill>
                  <a:srgbClr val="D4AF37"/>
                </a:solidFill>
                <a:latin typeface="Amiri" pitchFamily="2" charset="-78"/>
                <a:ea typeface="Amiri" pitchFamily="2" charset="-78"/>
                <a:cs typeface="Amiri" pitchFamily="2" charset="-78"/>
              </a:rPr>
              <a:t>الهُوِيَّةُ وَالمَلَفَّاتُ الشَّخْصِيَّةُ</a:t>
            </a:r>
            <a:endParaRPr lang="ar-SA" sz="3600" dirty="0"/>
          </a:p>
        </p:txBody>
      </p:sp>
      <p:sp>
        <p:nvSpPr>
          <p:cNvPr id="12" name="Text 9"/>
          <p:cNvSpPr txBox="1"/>
          <p:nvPr/>
        </p:nvSpPr>
        <p:spPr>
          <a:xfrm>
            <a:off x="457200" y="4224528"/>
            <a:ext cx="7863840" cy="731520"/>
          </a:xfrm>
          <a:prstGeom prst="rect">
            <a:avLst/>
          </a:prstGeom>
          <a:noFill/>
          <a:ln/>
        </p:spPr>
        <p:txBody>
          <a:bodyPr wrap="square" lIns="0" tIns="0" rIns="0" bIns="0" rtlCol="0" anchor="t"/>
          <a:lstStyle/>
          <a:p>
            <a:pPr algn="l" indent="0" marL="0">
              <a:buNone/>
            </a:pPr>
            <a:r>
              <a:rPr lang="en-US" sz="1400" dirty="0">
                <a:solidFill>
                  <a:srgbClr val="C6D2E6"/>
                </a:solidFill>
                <a:latin typeface="Calibri" pitchFamily="34" charset="0"/>
                <a:cs typeface="Amiri" pitchFamily="2" charset="-78"/>
              </a:rPr>
              <a:t>Introduce and describe yourself accurately in spoken, written and form-based contexts.</a:t>
            </a:r>
            <a:endParaRPr lang="en-US" sz="1400" dirty="0"/>
          </a:p>
        </p:txBody>
      </p:sp>
      <p:sp>
        <p:nvSpPr>
          <p:cNvPr id="13" name="Shape 10"/>
          <p:cNvSpPr/>
          <p:nvPr/>
        </p:nvSpPr>
        <p:spPr>
          <a:xfrm>
            <a:off x="457200" y="5166360"/>
            <a:ext cx="2651760" cy="868680"/>
          </a:xfrm>
          <a:prstGeom prst="roundRect">
            <a:avLst>
              <a:gd name="adj" fmla="val 8421"/>
            </a:avLst>
          </a:prstGeom>
          <a:solidFill>
            <a:srgbClr val="16335F"/>
          </a:solidFill>
          <a:ln w="12700">
            <a:solidFill>
              <a:srgbClr val="2A4B7C"/>
            </a:solidFill>
            <a:prstDash val="solid"/>
          </a:ln>
        </p:spPr>
      </p:sp>
      <p:sp>
        <p:nvSpPr>
          <p:cNvPr id="14" name="Text 11"/>
          <p:cNvSpPr txBox="1"/>
          <p:nvPr/>
        </p:nvSpPr>
        <p:spPr>
          <a:xfrm>
            <a:off x="621792"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LESSON</a:t>
            </a:r>
            <a:endParaRPr lang="en-US" sz="850" dirty="0"/>
          </a:p>
          <a:p>
            <a:pPr indent="0" marL="0">
              <a:buNone/>
            </a:pPr>
            <a:r>
              <a:rPr lang="en-US" sz="1200" b="1" dirty="0">
                <a:solidFill>
                  <a:srgbClr val="FFFFFF"/>
                </a:solidFill>
                <a:latin typeface="Calibri" pitchFamily="34" charset="0"/>
                <a:cs typeface="Amiri" pitchFamily="2" charset="-78"/>
              </a:rPr>
              <a:t>TB-L01 · Advanced Topic B · Personal and Social Life</a:t>
            </a:r>
            <a:endParaRPr lang="en-US" sz="850" dirty="0"/>
          </a:p>
        </p:txBody>
      </p:sp>
      <p:sp>
        <p:nvSpPr>
          <p:cNvPr id="15" name="Shape 12"/>
          <p:cNvSpPr/>
          <p:nvPr/>
        </p:nvSpPr>
        <p:spPr>
          <a:xfrm>
            <a:off x="3273552" y="5166360"/>
            <a:ext cx="2651760" cy="868680"/>
          </a:xfrm>
          <a:prstGeom prst="roundRect">
            <a:avLst>
              <a:gd name="adj" fmla="val 8421"/>
            </a:avLst>
          </a:prstGeom>
          <a:solidFill>
            <a:srgbClr val="16335F"/>
          </a:solidFill>
          <a:ln w="12700">
            <a:solidFill>
              <a:srgbClr val="2A4B7C"/>
            </a:solidFill>
            <a:prstDash val="solid"/>
          </a:ln>
        </p:spPr>
      </p:sp>
      <p:sp>
        <p:nvSpPr>
          <p:cNvPr id="16" name="Text 13"/>
          <p:cNvSpPr txBox="1"/>
          <p:nvPr/>
        </p:nvSpPr>
        <p:spPr>
          <a:xfrm>
            <a:off x="3438144"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DURATION</a:t>
            </a:r>
            <a:endParaRPr lang="en-US" sz="850" dirty="0"/>
          </a:p>
          <a:p>
            <a:pPr indent="0" marL="0">
              <a:buNone/>
            </a:pPr>
            <a:r>
              <a:rPr lang="en-US" sz="1200" b="1" dirty="0">
                <a:solidFill>
                  <a:srgbClr val="FFFFFF"/>
                </a:solidFill>
                <a:latin typeface="Calibri" pitchFamily="34" charset="0"/>
                <a:cs typeface="Amiri" pitchFamily="2" charset="-78"/>
              </a:rPr>
              <a:t>60 minutes · Teams</a:t>
            </a:r>
            <a:endParaRPr lang="en-US" sz="850" dirty="0"/>
          </a:p>
        </p:txBody>
      </p:sp>
      <p:sp>
        <p:nvSpPr>
          <p:cNvPr id="17" name="Shape 14"/>
          <p:cNvSpPr/>
          <p:nvPr/>
        </p:nvSpPr>
        <p:spPr>
          <a:xfrm>
            <a:off x="6089904" y="5166360"/>
            <a:ext cx="2651760" cy="868680"/>
          </a:xfrm>
          <a:prstGeom prst="roundRect">
            <a:avLst>
              <a:gd name="adj" fmla="val 8421"/>
            </a:avLst>
          </a:prstGeom>
          <a:solidFill>
            <a:srgbClr val="16335F"/>
          </a:solidFill>
          <a:ln w="12700">
            <a:solidFill>
              <a:srgbClr val="2A4B7C"/>
            </a:solidFill>
            <a:prstDash val="solid"/>
          </a:ln>
        </p:spPr>
      </p:sp>
      <p:sp>
        <p:nvSpPr>
          <p:cNvPr id="18" name="Text 15"/>
          <p:cNvSpPr txBox="1"/>
          <p:nvPr/>
        </p:nvSpPr>
        <p:spPr>
          <a:xfrm>
            <a:off x="6254496"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LEVEL</a:t>
            </a:r>
            <a:endParaRPr lang="en-US" sz="850" dirty="0"/>
          </a:p>
          <a:p>
            <a:pPr indent="0" marL="0">
              <a:buNone/>
            </a:pPr>
            <a:r>
              <a:rPr lang="en-US" sz="1200" b="1" dirty="0">
                <a:solidFill>
                  <a:srgbClr val="FFFFFF"/>
                </a:solidFill>
                <a:latin typeface="Calibri" pitchFamily="34" charset="0"/>
                <a:cs typeface="Amiri" pitchFamily="2" charset="-78"/>
              </a:rPr>
              <a:t>Topic B · A1+ → B1</a:t>
            </a:r>
            <a:endParaRPr lang="en-US" sz="850" dirty="0"/>
          </a:p>
        </p:txBody>
      </p:sp>
      <p:sp>
        <p:nvSpPr>
          <p:cNvPr id="19" name="Shape 16"/>
          <p:cNvSpPr/>
          <p:nvPr/>
        </p:nvSpPr>
        <p:spPr>
          <a:xfrm>
            <a:off x="8906256" y="5166360"/>
            <a:ext cx="2651760" cy="868680"/>
          </a:xfrm>
          <a:prstGeom prst="roundRect">
            <a:avLst>
              <a:gd name="adj" fmla="val 8421"/>
            </a:avLst>
          </a:prstGeom>
          <a:solidFill>
            <a:srgbClr val="16335F"/>
          </a:solidFill>
          <a:ln w="12700">
            <a:solidFill>
              <a:srgbClr val="2A4B7C"/>
            </a:solidFill>
            <a:prstDash val="solid"/>
          </a:ln>
        </p:spPr>
      </p:sp>
      <p:sp>
        <p:nvSpPr>
          <p:cNvPr id="20" name="Text 17"/>
          <p:cNvSpPr txBox="1"/>
          <p:nvPr/>
        </p:nvSpPr>
        <p:spPr>
          <a:xfrm>
            <a:off x="9070848" y="5212080"/>
            <a:ext cx="2377440" cy="777240"/>
          </a:xfrm>
          <a:prstGeom prst="rect">
            <a:avLst/>
          </a:prstGeom>
          <a:noFill/>
          <a:ln/>
        </p:spPr>
        <p:txBody>
          <a:bodyPr wrap="square" lIns="0" tIns="0" rIns="0" bIns="0" rtlCol="0" anchor="ctr"/>
          <a:lstStyle/>
          <a:p>
            <a:pPr indent="0" marL="0">
              <a:buNone/>
            </a:pPr>
            <a:r>
              <a:rPr lang="en-US" sz="850" b="1" spc="200" kern="0" dirty="0">
                <a:solidFill>
                  <a:srgbClr val="D4AF37"/>
                </a:solidFill>
                <a:latin typeface="Calibri" pitchFamily="34" charset="0"/>
                <a:cs typeface="Amiri" pitchFamily="2" charset="-78"/>
              </a:rPr>
              <a:t>ON THE WEBSITE</a:t>
            </a:r>
            <a:endParaRPr lang="en-US" sz="850" dirty="0"/>
          </a:p>
          <a:p>
            <a:pPr indent="0" marL="0">
              <a:buNone/>
            </a:pPr>
            <a:r>
              <a:rPr lang="en-US" sz="1200" b="1" dirty="0">
                <a:solidFill>
                  <a:srgbClr val="FFFFFF"/>
                </a:solidFill>
                <a:latin typeface="Calibri" pitchFamily="34" charset="0"/>
                <a:cs typeface="Amiri" pitchFamily="2" charset="-78"/>
              </a:rPr>
              <a:t>Advanced Topics › Topic B › TB-L01</a:t>
            </a:r>
            <a:endParaRPr lang="en-US" sz="850" dirty="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name="Slide 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TB-L01 · Identity and Profiles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BEFORE WE BEGIN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online classroom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آدَابُ الصَّفِّ</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TB-L01</a:t>
            </a:r>
            <a:endParaRPr lang="en-US" sz="850" dirty="0"/>
          </a:p>
        </p:txBody>
      </p:sp>
      <p:sp>
        <p:nvSpPr>
          <p:cNvPr id="15" name="Shape 12"/>
          <p:cNvSpPr/>
          <p:nvPr/>
        </p:nvSpPr>
        <p:spPr>
          <a:xfrm>
            <a:off x="457200" y="1828800"/>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2002536"/>
            <a:ext cx="585216" cy="585216"/>
          </a:xfrm>
          <a:prstGeom prst="ellipse">
            <a:avLst/>
          </a:prstGeom>
          <a:solidFill>
            <a:srgbClr val="EEF3FA"/>
          </a:solidFill>
          <a:ln w="12700">
            <a:solidFill>
              <a:srgbClr val="EEF3FA"/>
            </a:solidFill>
            <a:prstDash val="solid"/>
          </a:ln>
        </p:spPr>
      </p:sp>
      <p:pic>
        <p:nvPicPr>
          <p:cNvPr id="17" name="Image 0" descr="preencoded.png">    </p:cNvPr>
          <p:cNvPicPr>
            <a:picLocks noChangeAspect="1"/>
          </p:cNvPicPr>
          <p:nvPr/>
        </p:nvPicPr>
        <p:blipFill>
          <a:blip r:embed="rId1"/>
          <a:stretch>
            <a:fillRect/>
          </a:stretch>
        </p:blipFill>
        <p:spPr>
          <a:xfrm>
            <a:off x="777240" y="2139696"/>
            <a:ext cx="310896" cy="310896"/>
          </a:xfrm>
          <a:prstGeom prst="rect">
            <a:avLst/>
          </a:prstGeom>
        </p:spPr>
      </p:pic>
      <p:sp>
        <p:nvSpPr>
          <p:cNvPr id="18" name="Text 14"/>
          <p:cNvSpPr txBox="1"/>
          <p:nvPr/>
        </p:nvSpPr>
        <p:spPr>
          <a:xfrm>
            <a:off x="1371600" y="1901952"/>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Camera on</a:t>
            </a:r>
            <a:endParaRPr lang="en-US" sz="1500" dirty="0"/>
          </a:p>
          <a:p>
            <a:pPr indent="0" marL="0">
              <a:buNone/>
            </a:pPr>
            <a:r>
              <a:rPr lang="en-US" sz="1150" dirty="0">
                <a:solidFill>
                  <a:srgbClr val="5A6472"/>
                </a:solidFill>
                <a:latin typeface="Calibri" pitchFamily="34" charset="0"/>
                <a:cs typeface="Amiri" pitchFamily="2" charset="-78"/>
              </a:rPr>
              <a:t>So I can see you learning and help you quickly.</a:t>
            </a:r>
            <a:endParaRPr lang="en-US" sz="1500" dirty="0"/>
          </a:p>
        </p:txBody>
      </p:sp>
      <p:sp>
        <p:nvSpPr>
          <p:cNvPr id="19" name="Shape 15"/>
          <p:cNvSpPr/>
          <p:nvPr/>
        </p:nvSpPr>
        <p:spPr>
          <a:xfrm>
            <a:off x="457200" y="2907792"/>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0" name="Shape 16"/>
          <p:cNvSpPr/>
          <p:nvPr/>
        </p:nvSpPr>
        <p:spPr>
          <a:xfrm>
            <a:off x="640080" y="3081528"/>
            <a:ext cx="585216" cy="585216"/>
          </a:xfrm>
          <a:prstGeom prst="ellipse">
            <a:avLst/>
          </a:prstGeom>
          <a:solidFill>
            <a:srgbClr val="EEF3FA"/>
          </a:solidFill>
          <a:ln w="12700">
            <a:solidFill>
              <a:srgbClr val="EEF3FA"/>
            </a:solidFill>
            <a:prstDash val="solid"/>
          </a:ln>
        </p:spPr>
      </p:sp>
      <p:pic>
        <p:nvPicPr>
          <p:cNvPr id="21" name="Image 1" descr="preencoded.png">    </p:cNvPr>
          <p:cNvPicPr>
            <a:picLocks noChangeAspect="1"/>
          </p:cNvPicPr>
          <p:nvPr/>
        </p:nvPicPr>
        <p:blipFill>
          <a:blip r:embed="rId2"/>
          <a:stretch>
            <a:fillRect/>
          </a:stretch>
        </p:blipFill>
        <p:spPr>
          <a:xfrm>
            <a:off x="777240" y="3218688"/>
            <a:ext cx="310896" cy="310896"/>
          </a:xfrm>
          <a:prstGeom prst="rect">
            <a:avLst/>
          </a:prstGeom>
        </p:spPr>
      </p:pic>
      <p:sp>
        <p:nvSpPr>
          <p:cNvPr id="22" name="Text 17"/>
          <p:cNvSpPr txBox="1"/>
          <p:nvPr/>
        </p:nvSpPr>
        <p:spPr>
          <a:xfrm>
            <a:off x="1371600" y="2980944"/>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Mic muted</a:t>
            </a:r>
            <a:endParaRPr lang="en-US" sz="1500" dirty="0"/>
          </a:p>
          <a:p>
            <a:pPr indent="0" marL="0">
              <a:buNone/>
            </a:pPr>
            <a:r>
              <a:rPr lang="en-US" sz="1150" dirty="0">
                <a:solidFill>
                  <a:srgbClr val="5A6472"/>
                </a:solidFill>
                <a:latin typeface="Calibri" pitchFamily="34" charset="0"/>
                <a:cs typeface="Amiri" pitchFamily="2" charset="-78"/>
              </a:rPr>
              <a:t>Unmute only when invited to speak.</a:t>
            </a:r>
            <a:endParaRPr lang="en-US" sz="1500" dirty="0"/>
          </a:p>
        </p:txBody>
      </p:sp>
      <p:sp>
        <p:nvSpPr>
          <p:cNvPr id="23" name="Shape 18"/>
          <p:cNvSpPr/>
          <p:nvPr/>
        </p:nvSpPr>
        <p:spPr>
          <a:xfrm>
            <a:off x="457200" y="3986784"/>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640080" y="4160520"/>
            <a:ext cx="585216" cy="585216"/>
          </a:xfrm>
          <a:prstGeom prst="ellipse">
            <a:avLst/>
          </a:prstGeom>
          <a:solidFill>
            <a:srgbClr val="EEF3FA"/>
          </a:solidFill>
          <a:ln w="12700">
            <a:solidFill>
              <a:srgbClr val="EEF3FA"/>
            </a:solidFill>
            <a:prstDash val="solid"/>
          </a:ln>
        </p:spPr>
      </p:sp>
      <p:pic>
        <p:nvPicPr>
          <p:cNvPr id="25" name="Image 2" descr="preencoded.png">    </p:cNvPr>
          <p:cNvPicPr>
            <a:picLocks noChangeAspect="1"/>
          </p:cNvPicPr>
          <p:nvPr/>
        </p:nvPicPr>
        <p:blipFill>
          <a:blip r:embed="rId3"/>
          <a:stretch>
            <a:fillRect/>
          </a:stretch>
        </p:blipFill>
        <p:spPr>
          <a:xfrm>
            <a:off x="777240" y="4297680"/>
            <a:ext cx="310896" cy="310896"/>
          </a:xfrm>
          <a:prstGeom prst="rect">
            <a:avLst/>
          </a:prstGeom>
        </p:spPr>
      </p:pic>
      <p:sp>
        <p:nvSpPr>
          <p:cNvPr id="26" name="Text 20"/>
          <p:cNvSpPr txBox="1"/>
          <p:nvPr/>
        </p:nvSpPr>
        <p:spPr>
          <a:xfrm>
            <a:off x="1371600" y="4059936"/>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Chat for learning</a:t>
            </a:r>
            <a:endParaRPr lang="en-US" sz="1500" dirty="0"/>
          </a:p>
          <a:p>
            <a:pPr indent="0" marL="0">
              <a:buNone/>
            </a:pPr>
            <a:r>
              <a:rPr lang="en-US" sz="1150" dirty="0">
                <a:solidFill>
                  <a:srgbClr val="5A6472"/>
                </a:solidFill>
                <a:latin typeface="Calibri" pitchFamily="34" charset="0"/>
                <a:cs typeface="Amiri" pitchFamily="2" charset="-78"/>
              </a:rPr>
              <a:t>Answers, questions and Arabic only.</a:t>
            </a:r>
            <a:endParaRPr lang="en-US" sz="1500" dirty="0"/>
          </a:p>
        </p:txBody>
      </p:sp>
      <p:sp>
        <p:nvSpPr>
          <p:cNvPr id="27" name="Shape 21"/>
          <p:cNvSpPr/>
          <p:nvPr/>
        </p:nvSpPr>
        <p:spPr>
          <a:xfrm>
            <a:off x="457200" y="5065776"/>
            <a:ext cx="5394960" cy="932688"/>
          </a:xfrm>
          <a:prstGeom prst="roundRect">
            <a:avLst>
              <a:gd name="adj" fmla="val 784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8" name="Shape 22"/>
          <p:cNvSpPr/>
          <p:nvPr/>
        </p:nvSpPr>
        <p:spPr>
          <a:xfrm>
            <a:off x="640080" y="5239512"/>
            <a:ext cx="585216" cy="585216"/>
          </a:xfrm>
          <a:prstGeom prst="ellipse">
            <a:avLst/>
          </a:prstGeom>
          <a:solidFill>
            <a:srgbClr val="EEF3FA"/>
          </a:solidFill>
          <a:ln w="12700">
            <a:solidFill>
              <a:srgbClr val="EEF3FA"/>
            </a:solidFill>
            <a:prstDash val="solid"/>
          </a:ln>
        </p:spPr>
      </p:sp>
      <p:pic>
        <p:nvPicPr>
          <p:cNvPr id="29" name="Image 3" descr="preencoded.png">    </p:cNvPr>
          <p:cNvPicPr>
            <a:picLocks noChangeAspect="1"/>
          </p:cNvPicPr>
          <p:nvPr/>
        </p:nvPicPr>
        <p:blipFill>
          <a:blip r:embed="rId4"/>
          <a:stretch>
            <a:fillRect/>
          </a:stretch>
        </p:blipFill>
        <p:spPr>
          <a:xfrm>
            <a:off x="777240" y="5376672"/>
            <a:ext cx="310896" cy="310896"/>
          </a:xfrm>
          <a:prstGeom prst="rect">
            <a:avLst/>
          </a:prstGeom>
        </p:spPr>
      </p:pic>
      <p:sp>
        <p:nvSpPr>
          <p:cNvPr id="30" name="Text 23"/>
          <p:cNvSpPr txBox="1"/>
          <p:nvPr/>
        </p:nvSpPr>
        <p:spPr>
          <a:xfrm>
            <a:off x="1371600" y="5138928"/>
            <a:ext cx="4389120" cy="786384"/>
          </a:xfrm>
          <a:prstGeom prst="rect">
            <a:avLst/>
          </a:prstGeom>
          <a:noFill/>
          <a:ln/>
        </p:spPr>
        <p:txBody>
          <a:bodyPr wrap="square" lIns="0" tIns="0" rIns="0" bIns="0" rtlCol="0" anchor="ctr"/>
          <a:lstStyle/>
          <a:p>
            <a:pPr indent="0" marL="0">
              <a:buNone/>
            </a:pPr>
            <a:r>
              <a:rPr lang="en-US" sz="1500" b="1" dirty="0">
                <a:solidFill>
                  <a:srgbClr val="1B3B6F"/>
                </a:solidFill>
                <a:latin typeface="Calibri" pitchFamily="34" charset="0"/>
                <a:cs typeface="Amiri" pitchFamily="2" charset="-78"/>
              </a:rPr>
              <a:t>Raise your hand</a:t>
            </a:r>
            <a:endParaRPr lang="en-US" sz="1500" dirty="0"/>
          </a:p>
          <a:p>
            <a:pPr indent="0" marL="0">
              <a:buNone/>
            </a:pPr>
            <a:r>
              <a:rPr lang="en-US" sz="1150" dirty="0">
                <a:solidFill>
                  <a:srgbClr val="5A6472"/>
                </a:solidFill>
                <a:latin typeface="Calibri" pitchFamily="34" charset="0"/>
                <a:cs typeface="Amiri" pitchFamily="2" charset="-78"/>
              </a:rPr>
              <a:t>Use the hand button to ask for help.</a:t>
            </a:r>
            <a:endParaRPr lang="en-US" sz="1500" dirty="0"/>
          </a:p>
        </p:txBody>
      </p:sp>
      <p:sp>
        <p:nvSpPr>
          <p:cNvPr id="31" name="Shape 24"/>
          <p:cNvSpPr/>
          <p:nvPr/>
        </p:nvSpPr>
        <p:spPr>
          <a:xfrm>
            <a:off x="6172200" y="1828800"/>
            <a:ext cx="5559552" cy="4169664"/>
          </a:xfrm>
          <a:prstGeom prst="roundRect">
            <a:avLst>
              <a:gd name="adj" fmla="val 1754"/>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32" name="Text 25"/>
          <p:cNvSpPr txBox="1"/>
          <p:nvPr/>
        </p:nvSpPr>
        <p:spPr>
          <a:xfrm>
            <a:off x="6400800" y="1938528"/>
            <a:ext cx="5102352" cy="310896"/>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HOW WE TALK — THE ORACY CODE</a:t>
            </a:r>
            <a:endParaRPr lang="en-US" sz="1100" dirty="0"/>
          </a:p>
        </p:txBody>
      </p:sp>
      <p:sp>
        <p:nvSpPr>
          <p:cNvPr id="33" name="Shape 26"/>
          <p:cNvSpPr/>
          <p:nvPr/>
        </p:nvSpPr>
        <p:spPr>
          <a:xfrm>
            <a:off x="6400800" y="2450592"/>
            <a:ext cx="548640" cy="548640"/>
          </a:xfrm>
          <a:prstGeom prst="ellipse">
            <a:avLst/>
          </a:prstGeom>
          <a:solidFill>
            <a:srgbClr val="1B3B6F"/>
          </a:solidFill>
          <a:ln w="12700">
            <a:solidFill>
              <a:srgbClr val="1B3B6F"/>
            </a:solidFill>
            <a:prstDash val="solid"/>
          </a:ln>
        </p:spPr>
      </p:sp>
      <p:sp>
        <p:nvSpPr>
          <p:cNvPr id="34" name="Text 27"/>
          <p:cNvSpPr txBox="1"/>
          <p:nvPr/>
        </p:nvSpPr>
        <p:spPr>
          <a:xfrm>
            <a:off x="6400800"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5" name="Text 28"/>
          <p:cNvSpPr txBox="1"/>
          <p:nvPr/>
        </p:nvSpPr>
        <p:spPr>
          <a:xfrm>
            <a:off x="7059168"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Think</a:t>
            </a:r>
            <a:endParaRPr lang="en-US" sz="1400" dirty="0"/>
          </a:p>
          <a:p>
            <a:pPr indent="0" marL="0">
              <a:buNone/>
            </a:pPr>
            <a:r>
              <a:rPr lang="en-US" sz="1100" dirty="0">
                <a:solidFill>
                  <a:srgbClr val="5A6472"/>
                </a:solidFill>
                <a:latin typeface="Calibri" pitchFamily="34" charset="0"/>
                <a:cs typeface="Amiri" pitchFamily="2" charset="-78"/>
              </a:rPr>
              <a:t>silent preparation</a:t>
            </a:r>
            <a:endParaRPr lang="en-US" sz="1400" dirty="0"/>
          </a:p>
        </p:txBody>
      </p:sp>
      <p:sp>
        <p:nvSpPr>
          <p:cNvPr id="36" name="Shape 29"/>
          <p:cNvSpPr/>
          <p:nvPr/>
        </p:nvSpPr>
        <p:spPr>
          <a:xfrm>
            <a:off x="8997696" y="2450592"/>
            <a:ext cx="548640" cy="548640"/>
          </a:xfrm>
          <a:prstGeom prst="ellipse">
            <a:avLst/>
          </a:prstGeom>
          <a:solidFill>
            <a:srgbClr val="1B3B6F"/>
          </a:solidFill>
          <a:ln w="12700">
            <a:solidFill>
              <a:srgbClr val="1B3B6F"/>
            </a:solidFill>
            <a:prstDash val="solid"/>
          </a:ln>
        </p:spPr>
      </p:sp>
      <p:sp>
        <p:nvSpPr>
          <p:cNvPr id="37" name="Text 30"/>
          <p:cNvSpPr txBox="1"/>
          <p:nvPr/>
        </p:nvSpPr>
        <p:spPr>
          <a:xfrm>
            <a:off x="8997696" y="24505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38" name="Text 31"/>
          <p:cNvSpPr txBox="1"/>
          <p:nvPr/>
        </p:nvSpPr>
        <p:spPr>
          <a:xfrm>
            <a:off x="9656064" y="23774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Rehearse</a:t>
            </a:r>
            <a:endParaRPr lang="en-US" sz="1400" dirty="0"/>
          </a:p>
          <a:p>
            <a:pPr indent="0" marL="0">
              <a:buNone/>
            </a:pPr>
            <a:r>
              <a:rPr lang="en-US" sz="1100" dirty="0">
                <a:solidFill>
                  <a:srgbClr val="5A6472"/>
                </a:solidFill>
                <a:latin typeface="Calibri" pitchFamily="34" charset="0"/>
                <a:cs typeface="Amiri" pitchFamily="2" charset="-78"/>
              </a:rPr>
              <a:t>both partners speak</a:t>
            </a:r>
            <a:endParaRPr lang="en-US" sz="1400" dirty="0"/>
          </a:p>
        </p:txBody>
      </p:sp>
      <p:sp>
        <p:nvSpPr>
          <p:cNvPr id="39" name="Shape 32"/>
          <p:cNvSpPr/>
          <p:nvPr/>
        </p:nvSpPr>
        <p:spPr>
          <a:xfrm>
            <a:off x="6400800" y="3364992"/>
            <a:ext cx="548640" cy="548640"/>
          </a:xfrm>
          <a:prstGeom prst="ellipse">
            <a:avLst/>
          </a:prstGeom>
          <a:solidFill>
            <a:srgbClr val="1B3B6F"/>
          </a:solidFill>
          <a:ln w="12700">
            <a:solidFill>
              <a:srgbClr val="1B3B6F"/>
            </a:solidFill>
            <a:prstDash val="solid"/>
          </a:ln>
        </p:spPr>
      </p:sp>
      <p:sp>
        <p:nvSpPr>
          <p:cNvPr id="40" name="Text 33"/>
          <p:cNvSpPr txBox="1"/>
          <p:nvPr/>
        </p:nvSpPr>
        <p:spPr>
          <a:xfrm>
            <a:off x="6400800"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1" name="Text 34"/>
          <p:cNvSpPr txBox="1"/>
          <p:nvPr/>
        </p:nvSpPr>
        <p:spPr>
          <a:xfrm>
            <a:off x="7059168"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Build</a:t>
            </a:r>
            <a:endParaRPr lang="en-US" sz="1400" dirty="0"/>
          </a:p>
          <a:p>
            <a:pPr indent="0" marL="0">
              <a:buNone/>
            </a:pPr>
            <a:r>
              <a:rPr lang="en-US" sz="1100" dirty="0">
                <a:solidFill>
                  <a:srgbClr val="5A6472"/>
                </a:solidFill>
                <a:latin typeface="Calibri" pitchFamily="34" charset="0"/>
                <a:cs typeface="Amiri" pitchFamily="2" charset="-78"/>
              </a:rPr>
              <a:t>add a reason or detail</a:t>
            </a:r>
            <a:endParaRPr lang="en-US" sz="1400" dirty="0"/>
          </a:p>
        </p:txBody>
      </p:sp>
      <p:sp>
        <p:nvSpPr>
          <p:cNvPr id="42" name="Shape 35"/>
          <p:cNvSpPr/>
          <p:nvPr/>
        </p:nvSpPr>
        <p:spPr>
          <a:xfrm>
            <a:off x="8997696" y="3364992"/>
            <a:ext cx="548640" cy="548640"/>
          </a:xfrm>
          <a:prstGeom prst="ellipse">
            <a:avLst/>
          </a:prstGeom>
          <a:solidFill>
            <a:srgbClr val="1B3B6F"/>
          </a:solidFill>
          <a:ln w="12700">
            <a:solidFill>
              <a:srgbClr val="1B3B6F"/>
            </a:solidFill>
            <a:prstDash val="solid"/>
          </a:ln>
        </p:spPr>
      </p:sp>
      <p:sp>
        <p:nvSpPr>
          <p:cNvPr id="43" name="Text 36"/>
          <p:cNvSpPr txBox="1"/>
          <p:nvPr/>
        </p:nvSpPr>
        <p:spPr>
          <a:xfrm>
            <a:off x="8997696" y="33649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4" name="Text 37"/>
          <p:cNvSpPr txBox="1"/>
          <p:nvPr/>
        </p:nvSpPr>
        <p:spPr>
          <a:xfrm>
            <a:off x="9656064" y="32918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Challenge</a:t>
            </a:r>
            <a:endParaRPr lang="en-US" sz="1400" dirty="0"/>
          </a:p>
          <a:p>
            <a:pPr indent="0" marL="0">
              <a:buNone/>
            </a:pPr>
            <a:r>
              <a:rPr lang="en-US" sz="1100" dirty="0">
                <a:solidFill>
                  <a:srgbClr val="5A6472"/>
                </a:solidFill>
                <a:latin typeface="Calibri" pitchFamily="34" charset="0"/>
                <a:cs typeface="Amiri" pitchFamily="2" charset="-78"/>
              </a:rPr>
              <a:t>question respectfully</a:t>
            </a:r>
            <a:endParaRPr lang="en-US" sz="1400" dirty="0"/>
          </a:p>
        </p:txBody>
      </p:sp>
      <p:sp>
        <p:nvSpPr>
          <p:cNvPr id="45" name="Shape 38"/>
          <p:cNvSpPr/>
          <p:nvPr/>
        </p:nvSpPr>
        <p:spPr>
          <a:xfrm>
            <a:off x="6400800" y="4279392"/>
            <a:ext cx="548640" cy="548640"/>
          </a:xfrm>
          <a:prstGeom prst="ellipse">
            <a:avLst/>
          </a:prstGeom>
          <a:solidFill>
            <a:srgbClr val="1B3B6F"/>
          </a:solidFill>
          <a:ln w="12700">
            <a:solidFill>
              <a:srgbClr val="1B3B6F"/>
            </a:solidFill>
            <a:prstDash val="solid"/>
          </a:ln>
        </p:spPr>
      </p:sp>
      <p:sp>
        <p:nvSpPr>
          <p:cNvPr id="46" name="Text 39"/>
          <p:cNvSpPr txBox="1"/>
          <p:nvPr/>
        </p:nvSpPr>
        <p:spPr>
          <a:xfrm>
            <a:off x="6400800"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47" name="Text 40"/>
          <p:cNvSpPr txBox="1"/>
          <p:nvPr/>
        </p:nvSpPr>
        <p:spPr>
          <a:xfrm>
            <a:off x="7059168"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Share</a:t>
            </a:r>
            <a:endParaRPr lang="en-US" sz="1400" dirty="0"/>
          </a:p>
          <a:p>
            <a:pPr indent="0" marL="0">
              <a:buNone/>
            </a:pPr>
            <a:r>
              <a:rPr lang="en-US" sz="1100" dirty="0">
                <a:solidFill>
                  <a:srgbClr val="5A6472"/>
                </a:solidFill>
                <a:latin typeface="Calibri" pitchFamily="34" charset="0"/>
                <a:cs typeface="Amiri" pitchFamily="2" charset="-78"/>
              </a:rPr>
              <a:t>anyone may be invited</a:t>
            </a:r>
            <a:endParaRPr lang="en-US" sz="1400" dirty="0"/>
          </a:p>
        </p:txBody>
      </p:sp>
      <p:sp>
        <p:nvSpPr>
          <p:cNvPr id="48" name="Shape 41"/>
          <p:cNvSpPr/>
          <p:nvPr/>
        </p:nvSpPr>
        <p:spPr>
          <a:xfrm>
            <a:off x="8997696" y="4279392"/>
            <a:ext cx="548640" cy="548640"/>
          </a:xfrm>
          <a:prstGeom prst="ellipse">
            <a:avLst/>
          </a:prstGeom>
          <a:solidFill>
            <a:srgbClr val="1B3B6F"/>
          </a:solidFill>
          <a:ln w="12700">
            <a:solidFill>
              <a:srgbClr val="1B3B6F"/>
            </a:solidFill>
            <a:prstDash val="solid"/>
          </a:ln>
        </p:spPr>
      </p:sp>
      <p:sp>
        <p:nvSpPr>
          <p:cNvPr id="49" name="Text 42"/>
          <p:cNvSpPr txBox="1"/>
          <p:nvPr/>
        </p:nvSpPr>
        <p:spPr>
          <a:xfrm>
            <a:off x="8997696" y="4279392"/>
            <a:ext cx="548640" cy="548640"/>
          </a:xfrm>
          <a:prstGeom prst="rect">
            <a:avLst/>
          </a:prstGeom>
          <a:noFill/>
          <a:ln/>
        </p:spPr>
        <p:txBody>
          <a:bodyPr wrap="square" lIns="0" tIns="0" rIns="0" bIns="0" rtlCol="0" anchor="ctr"/>
          <a:lstStyle/>
          <a:p>
            <a:pPr algn="ctr" indent="0" marL="0">
              <a:buNone/>
            </a:pPr>
            <a:r>
              <a:rPr lang="en-US" sz="1800" b="1" dirty="0">
                <a:solidFill>
                  <a:srgbClr val="D4AF37"/>
                </a:solidFill>
                <a:latin typeface="Arial" pitchFamily="34" charset="0"/>
                <a:cs typeface="Amiri" pitchFamily="2" charset="-78"/>
              </a:rPr>
              <a:t>↺</a:t>
            </a:r>
            <a:endParaRPr lang="en-US" sz="1800" dirty="0"/>
          </a:p>
        </p:txBody>
      </p:sp>
      <p:sp>
        <p:nvSpPr>
          <p:cNvPr id="50" name="Text 43"/>
          <p:cNvSpPr txBox="1"/>
          <p:nvPr/>
        </p:nvSpPr>
        <p:spPr>
          <a:xfrm>
            <a:off x="9656064" y="4206240"/>
            <a:ext cx="2011680" cy="694944"/>
          </a:xfrm>
          <a:prstGeom prst="rect">
            <a:avLst/>
          </a:prstGeom>
          <a:noFill/>
          <a:ln/>
        </p:spPr>
        <p:txBody>
          <a:bodyPr wrap="square" lIns="0" tIns="0" rIns="0" bIns="0" rtlCol="0" anchor="ctr"/>
          <a:lstStyle/>
          <a:p>
            <a:pPr indent="0" marL="0">
              <a:buNone/>
            </a:pPr>
            <a:r>
              <a:rPr lang="en-US" sz="1400" b="1" dirty="0">
                <a:solidFill>
                  <a:srgbClr val="1B3B6F"/>
                </a:solidFill>
                <a:latin typeface="Calibri" pitchFamily="34" charset="0"/>
                <a:cs typeface="Amiri" pitchFamily="2" charset="-78"/>
              </a:rPr>
              <a:t>Summarise</a:t>
            </a:r>
            <a:endParaRPr lang="en-US" sz="1400" dirty="0"/>
          </a:p>
          <a:p>
            <a:pPr indent="0" marL="0">
              <a:buNone/>
            </a:pPr>
            <a:r>
              <a:rPr lang="en-US" sz="1100" dirty="0">
                <a:solidFill>
                  <a:srgbClr val="5A6472"/>
                </a:solidFill>
                <a:latin typeface="Calibri" pitchFamily="34" charset="0"/>
                <a:cs typeface="Amiri" pitchFamily="2" charset="-78"/>
              </a:rPr>
              <a:t>say it more precisely</a:t>
            </a:r>
            <a:endParaRPr lang="en-US" sz="1400" dirty="0"/>
          </a:p>
        </p:txBody>
      </p:sp>
      <p:sp>
        <p:nvSpPr>
          <p:cNvPr id="51" name="Text 44"/>
          <p:cNvSpPr txBox="1"/>
          <p:nvPr/>
        </p:nvSpPr>
        <p:spPr>
          <a:xfrm>
            <a:off x="6400800" y="5230368"/>
            <a:ext cx="5102352" cy="694944"/>
          </a:xfrm>
          <a:prstGeom prst="rect">
            <a:avLst/>
          </a:prstGeom>
          <a:noFill/>
          <a:ln/>
        </p:spPr>
        <p:txBody>
          <a:bodyPr wrap="square" lIns="0" tIns="0" rIns="0" bIns="0" rtlCol="0" anchor="ctr"/>
          <a:lstStyle/>
          <a:p>
            <a:pPr algn="l" indent="0" marL="0">
              <a:buNone/>
            </a:pPr>
            <a:r>
              <a:rPr lang="en-US" sz="1150" i="1" dirty="0">
                <a:solidFill>
                  <a:srgbClr val="8A6D1E"/>
                </a:solidFill>
                <a:latin typeface="Calibri" pitchFamily="34" charset="0"/>
                <a:cs typeface="Amiri" pitchFamily="2" charset="-78"/>
              </a:rPr>
              <a:t>I will always give you thinking and practice time before I ask anyone. Reading aloud is by invitation — you can always say “pass, please come back to me”.</a:t>
            </a:r>
            <a:endParaRPr lang="en-US" sz="1150" dirty="0"/>
          </a:p>
        </p:txBody>
      </p:sp>
      <p:sp>
        <p:nvSpPr>
          <p:cNvPr id="52"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 / 37</a:t>
            </a:r>
            <a:endParaRPr lang="en-US" sz="850" dirty="0"/>
          </a:p>
        </p:txBody>
      </p:sp>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name="Slide 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TB-L01 · Identity and Profiles</a:t>
            </a:r>
            <a:endParaRPr lang="en-US" sz="950" dirty="0"/>
          </a:p>
        </p:txBody>
      </p:sp>
      <p:sp>
        <p:nvSpPr>
          <p:cNvPr id="8" name="Shape 6"/>
          <p:cNvSpPr/>
          <p:nvPr/>
        </p:nvSpPr>
        <p:spPr>
          <a:xfrm>
            <a:off x="7388352" y="274320"/>
            <a:ext cx="1371600"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TODAY’S LESSON MAP</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Our lesson today, step by step</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خَرِيطَةُ الدَّرْسِ</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TB-L01</a:t>
            </a:r>
            <a:endParaRPr lang="en-US" sz="850" dirty="0"/>
          </a:p>
        </p:txBody>
      </p:sp>
      <p:sp>
        <p:nvSpPr>
          <p:cNvPr id="15" name="Shape 12"/>
          <p:cNvSpPr/>
          <p:nvPr/>
        </p:nvSpPr>
        <p:spPr>
          <a:xfrm>
            <a:off x="45720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66928" y="1938528"/>
            <a:ext cx="1281466" cy="566928"/>
          </a:xfrm>
          <a:prstGeom prst="roundRect">
            <a:avLst>
              <a:gd name="adj" fmla="val 9677"/>
            </a:avLst>
          </a:prstGeom>
          <a:solidFill>
            <a:srgbClr val="0E7C86"/>
          </a:solidFill>
          <a:ln w="12700">
            <a:solidFill>
              <a:srgbClr val="0E7C86"/>
            </a:solidFill>
            <a:prstDash val="solid"/>
          </a:ln>
        </p:spPr>
      </p:sp>
      <p:sp>
        <p:nvSpPr>
          <p:cNvPr id="17" name="Text 14"/>
          <p:cNvSpPr txBox="1"/>
          <p:nvPr/>
        </p:nvSpPr>
        <p:spPr>
          <a:xfrm>
            <a:off x="60350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DO NOW</a:t>
            </a:r>
            <a:endParaRPr lang="en-US" sz="1000" dirty="0"/>
          </a:p>
        </p:txBody>
      </p:sp>
      <p:sp>
        <p:nvSpPr>
          <p:cNvPr id="18" name="Text 15"/>
          <p:cNvSpPr txBox="1"/>
          <p:nvPr/>
        </p:nvSpPr>
        <p:spPr>
          <a:xfrm>
            <a:off x="60350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7 min</a:t>
            </a:r>
            <a:endParaRPr lang="en-US" sz="1000" dirty="0"/>
          </a:p>
        </p:txBody>
      </p:sp>
      <p:sp>
        <p:nvSpPr>
          <p:cNvPr id="19" name="Shape 16"/>
          <p:cNvSpPr/>
          <p:nvPr/>
        </p:nvSpPr>
        <p:spPr>
          <a:xfrm>
            <a:off x="1006493" y="2651760"/>
            <a:ext cx="402336" cy="402336"/>
          </a:xfrm>
          <a:prstGeom prst="ellipse">
            <a:avLst/>
          </a:prstGeom>
          <a:solidFill>
            <a:srgbClr val="F4F1EA"/>
          </a:solidFill>
          <a:ln w="12700">
            <a:solidFill>
              <a:srgbClr val="F4F1EA"/>
            </a:solidFill>
            <a:prstDash val="solid"/>
          </a:ln>
        </p:spPr>
      </p:sp>
      <p:sp>
        <p:nvSpPr>
          <p:cNvPr id="20" name="Text 17"/>
          <p:cNvSpPr txBox="1"/>
          <p:nvPr/>
        </p:nvSpPr>
        <p:spPr>
          <a:xfrm>
            <a:off x="100649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1</a:t>
            </a:r>
            <a:endParaRPr lang="en-US" sz="1300" dirty="0"/>
          </a:p>
        </p:txBody>
      </p:sp>
      <p:sp>
        <p:nvSpPr>
          <p:cNvPr id="21" name="Text 18"/>
          <p:cNvSpPr txBox="1"/>
          <p:nvPr/>
        </p:nvSpPr>
        <p:spPr>
          <a:xfrm>
            <a:off x="58521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Retrieval quiz on your own, then we check together.</a:t>
            </a:r>
            <a:endParaRPr lang="en-US" sz="1200" dirty="0"/>
          </a:p>
        </p:txBody>
      </p:sp>
      <p:sp>
        <p:nvSpPr>
          <p:cNvPr id="22" name="Text 19"/>
          <p:cNvSpPr txBox="1"/>
          <p:nvPr/>
        </p:nvSpPr>
        <p:spPr>
          <a:xfrm>
            <a:off x="54864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0E7C86"/>
                </a:solidFill>
                <a:latin typeface="Amiri" pitchFamily="2" charset="-78"/>
                <a:ea typeface="Amiri" pitchFamily="2" charset="-78"/>
                <a:cs typeface="Amiri" pitchFamily="2" charset="-78"/>
              </a:rPr>
              <a:t>اِبْدَأِ الآنَ</a:t>
            </a:r>
            <a:endParaRPr lang="ar-SA" sz="1500" dirty="0"/>
          </a:p>
        </p:txBody>
      </p:sp>
      <p:sp>
        <p:nvSpPr>
          <p:cNvPr id="23" name="Shape 20"/>
          <p:cNvSpPr/>
          <p:nvPr/>
        </p:nvSpPr>
        <p:spPr>
          <a:xfrm>
            <a:off x="2086138"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2195866" y="1938528"/>
            <a:ext cx="1281466" cy="566928"/>
          </a:xfrm>
          <a:prstGeom prst="roundRect">
            <a:avLst>
              <a:gd name="adj" fmla="val 9677"/>
            </a:avLst>
          </a:prstGeom>
          <a:solidFill>
            <a:srgbClr val="1B3B6F"/>
          </a:solidFill>
          <a:ln w="12700">
            <a:solidFill>
              <a:srgbClr val="1B3B6F"/>
            </a:solidFill>
            <a:prstDash val="solid"/>
          </a:ln>
        </p:spPr>
      </p:sp>
      <p:sp>
        <p:nvSpPr>
          <p:cNvPr id="25" name="Text 22"/>
          <p:cNvSpPr txBox="1"/>
          <p:nvPr/>
        </p:nvSpPr>
        <p:spPr>
          <a:xfrm>
            <a:off x="2232442"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TEACHER INSTRUCTION</a:t>
            </a:r>
            <a:endParaRPr lang="en-US" sz="1000" dirty="0"/>
          </a:p>
        </p:txBody>
      </p:sp>
      <p:sp>
        <p:nvSpPr>
          <p:cNvPr id="26" name="Text 23"/>
          <p:cNvSpPr txBox="1"/>
          <p:nvPr/>
        </p:nvSpPr>
        <p:spPr>
          <a:xfrm>
            <a:off x="2232442"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14 min</a:t>
            </a:r>
            <a:endParaRPr lang="en-US" sz="1000" dirty="0"/>
          </a:p>
        </p:txBody>
      </p:sp>
      <p:sp>
        <p:nvSpPr>
          <p:cNvPr id="27" name="Shape 24"/>
          <p:cNvSpPr/>
          <p:nvPr/>
        </p:nvSpPr>
        <p:spPr>
          <a:xfrm>
            <a:off x="2635431" y="2651760"/>
            <a:ext cx="402336" cy="402336"/>
          </a:xfrm>
          <a:prstGeom prst="ellipse">
            <a:avLst/>
          </a:prstGeom>
          <a:solidFill>
            <a:srgbClr val="F4F1EA"/>
          </a:solidFill>
          <a:ln w="12700">
            <a:solidFill>
              <a:srgbClr val="F4F1EA"/>
            </a:solidFill>
            <a:prstDash val="solid"/>
          </a:ln>
        </p:spPr>
      </p:sp>
      <p:sp>
        <p:nvSpPr>
          <p:cNvPr id="28" name="Text 25"/>
          <p:cNvSpPr txBox="1"/>
          <p:nvPr/>
        </p:nvSpPr>
        <p:spPr>
          <a:xfrm>
            <a:off x="2635431"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2</a:t>
            </a:r>
            <a:endParaRPr lang="en-US" sz="1300" dirty="0"/>
          </a:p>
        </p:txBody>
      </p:sp>
      <p:sp>
        <p:nvSpPr>
          <p:cNvPr id="29" name="Text 26"/>
          <p:cNvSpPr txBox="1"/>
          <p:nvPr/>
        </p:nvSpPr>
        <p:spPr>
          <a:xfrm>
            <a:off x="2214154"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Cultural words, greetings, hospitality and identity.</a:t>
            </a:r>
            <a:endParaRPr lang="en-US" sz="1200" dirty="0"/>
          </a:p>
        </p:txBody>
      </p:sp>
      <p:sp>
        <p:nvSpPr>
          <p:cNvPr id="30" name="Text 27"/>
          <p:cNvSpPr txBox="1"/>
          <p:nvPr/>
        </p:nvSpPr>
        <p:spPr>
          <a:xfrm>
            <a:off x="2177578"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كَلِمَاتٌ وَقَوَاعِدُ</a:t>
            </a:r>
            <a:endParaRPr lang="ar-SA" sz="1500" dirty="0"/>
          </a:p>
        </p:txBody>
      </p:sp>
      <p:sp>
        <p:nvSpPr>
          <p:cNvPr id="31" name="Shape 28"/>
          <p:cNvSpPr/>
          <p:nvPr/>
        </p:nvSpPr>
        <p:spPr>
          <a:xfrm>
            <a:off x="3715077"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3824805" y="1938528"/>
            <a:ext cx="1281466" cy="566928"/>
          </a:xfrm>
          <a:prstGeom prst="roundRect">
            <a:avLst>
              <a:gd name="adj" fmla="val 9677"/>
            </a:avLst>
          </a:prstGeom>
          <a:solidFill>
            <a:srgbClr val="6B4C9A"/>
          </a:solidFill>
          <a:ln w="12700">
            <a:solidFill>
              <a:srgbClr val="6B4C9A"/>
            </a:solidFill>
            <a:prstDash val="solid"/>
          </a:ln>
        </p:spPr>
      </p:sp>
      <p:sp>
        <p:nvSpPr>
          <p:cNvPr id="33" name="Text 30"/>
          <p:cNvSpPr txBox="1"/>
          <p:nvPr/>
        </p:nvSpPr>
        <p:spPr>
          <a:xfrm>
            <a:off x="3861381"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I DO</a:t>
            </a:r>
            <a:endParaRPr lang="en-US" sz="1000" dirty="0"/>
          </a:p>
        </p:txBody>
      </p:sp>
      <p:sp>
        <p:nvSpPr>
          <p:cNvPr id="34" name="Text 31"/>
          <p:cNvSpPr txBox="1"/>
          <p:nvPr/>
        </p:nvSpPr>
        <p:spPr>
          <a:xfrm>
            <a:off x="3861381"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3 min</a:t>
            </a:r>
            <a:endParaRPr lang="en-US" sz="1000" dirty="0"/>
          </a:p>
        </p:txBody>
      </p:sp>
      <p:sp>
        <p:nvSpPr>
          <p:cNvPr id="35" name="Shape 32"/>
          <p:cNvSpPr/>
          <p:nvPr/>
        </p:nvSpPr>
        <p:spPr>
          <a:xfrm>
            <a:off x="4264370" y="2651760"/>
            <a:ext cx="402336" cy="402336"/>
          </a:xfrm>
          <a:prstGeom prst="ellipse">
            <a:avLst/>
          </a:prstGeom>
          <a:solidFill>
            <a:srgbClr val="F4F1EA"/>
          </a:solidFill>
          <a:ln w="12700">
            <a:solidFill>
              <a:srgbClr val="F4F1EA"/>
            </a:solidFill>
            <a:prstDash val="solid"/>
          </a:ln>
        </p:spPr>
      </p:sp>
      <p:sp>
        <p:nvSpPr>
          <p:cNvPr id="36" name="Text 33"/>
          <p:cNvSpPr txBox="1"/>
          <p:nvPr/>
        </p:nvSpPr>
        <p:spPr>
          <a:xfrm>
            <a:off x="4264370"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3</a:t>
            </a:r>
            <a:endParaRPr lang="en-US" sz="1300" dirty="0"/>
          </a:p>
        </p:txBody>
      </p:sp>
      <p:sp>
        <p:nvSpPr>
          <p:cNvPr id="37" name="Text 34"/>
          <p:cNvSpPr txBox="1"/>
          <p:nvPr/>
        </p:nvSpPr>
        <p:spPr>
          <a:xfrm>
            <a:off x="3843093"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Watch me build one sentence. Copy it into your book.</a:t>
            </a:r>
            <a:endParaRPr lang="en-US" sz="1200" dirty="0"/>
          </a:p>
        </p:txBody>
      </p:sp>
      <p:sp>
        <p:nvSpPr>
          <p:cNvPr id="38" name="Text 35"/>
          <p:cNvSpPr txBox="1"/>
          <p:nvPr/>
        </p:nvSpPr>
        <p:spPr>
          <a:xfrm>
            <a:off x="3806517"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6B4C9A"/>
                </a:solidFill>
                <a:latin typeface="Amiri" pitchFamily="2" charset="-78"/>
                <a:ea typeface="Amiri" pitchFamily="2" charset="-78"/>
                <a:cs typeface="Amiri" pitchFamily="2" charset="-78"/>
              </a:rPr>
              <a:t>شَاهِدْ</a:t>
            </a:r>
            <a:endParaRPr lang="ar-SA" sz="1500" dirty="0"/>
          </a:p>
        </p:txBody>
      </p:sp>
      <p:sp>
        <p:nvSpPr>
          <p:cNvPr id="39" name="Shape 36"/>
          <p:cNvSpPr/>
          <p:nvPr/>
        </p:nvSpPr>
        <p:spPr>
          <a:xfrm>
            <a:off x="5344015"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Shape 37"/>
          <p:cNvSpPr/>
          <p:nvPr/>
        </p:nvSpPr>
        <p:spPr>
          <a:xfrm>
            <a:off x="5453743" y="1938528"/>
            <a:ext cx="1281466" cy="566928"/>
          </a:xfrm>
          <a:prstGeom prst="roundRect">
            <a:avLst>
              <a:gd name="adj" fmla="val 9677"/>
            </a:avLst>
          </a:prstGeom>
          <a:solidFill>
            <a:srgbClr val="2F6FB0"/>
          </a:solidFill>
          <a:ln w="12700">
            <a:solidFill>
              <a:srgbClr val="2F6FB0"/>
            </a:solidFill>
            <a:prstDash val="solid"/>
          </a:ln>
        </p:spPr>
      </p:sp>
      <p:sp>
        <p:nvSpPr>
          <p:cNvPr id="41" name="Text 38"/>
          <p:cNvSpPr txBox="1"/>
          <p:nvPr/>
        </p:nvSpPr>
        <p:spPr>
          <a:xfrm>
            <a:off x="5490319"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WE DO</a:t>
            </a:r>
            <a:endParaRPr lang="en-US" sz="1000" dirty="0"/>
          </a:p>
        </p:txBody>
      </p:sp>
      <p:sp>
        <p:nvSpPr>
          <p:cNvPr id="42" name="Text 39"/>
          <p:cNvSpPr txBox="1"/>
          <p:nvPr/>
        </p:nvSpPr>
        <p:spPr>
          <a:xfrm>
            <a:off x="5490319"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9 min</a:t>
            </a:r>
            <a:endParaRPr lang="en-US" sz="1000" dirty="0"/>
          </a:p>
        </p:txBody>
      </p:sp>
      <p:sp>
        <p:nvSpPr>
          <p:cNvPr id="43" name="Shape 40"/>
          <p:cNvSpPr/>
          <p:nvPr/>
        </p:nvSpPr>
        <p:spPr>
          <a:xfrm>
            <a:off x="5893308" y="2651760"/>
            <a:ext cx="402336" cy="402336"/>
          </a:xfrm>
          <a:prstGeom prst="ellipse">
            <a:avLst/>
          </a:prstGeom>
          <a:solidFill>
            <a:srgbClr val="F4F1EA"/>
          </a:solidFill>
          <a:ln w="12700">
            <a:solidFill>
              <a:srgbClr val="F4F1EA"/>
            </a:solidFill>
            <a:prstDash val="solid"/>
          </a:ln>
        </p:spPr>
      </p:sp>
      <p:sp>
        <p:nvSpPr>
          <p:cNvPr id="44" name="Text 41"/>
          <p:cNvSpPr txBox="1"/>
          <p:nvPr/>
        </p:nvSpPr>
        <p:spPr>
          <a:xfrm>
            <a:off x="5893308"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4</a:t>
            </a:r>
            <a:endParaRPr lang="en-US" sz="1300" dirty="0"/>
          </a:p>
        </p:txBody>
      </p:sp>
      <p:sp>
        <p:nvSpPr>
          <p:cNvPr id="45" name="Text 42"/>
          <p:cNvSpPr txBox="1"/>
          <p:nvPr/>
        </p:nvSpPr>
        <p:spPr>
          <a:xfrm>
            <a:off x="5472031"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Picture match, Culture Detective, listen and read.</a:t>
            </a:r>
            <a:endParaRPr lang="en-US" sz="1200" dirty="0"/>
          </a:p>
        </p:txBody>
      </p:sp>
      <p:sp>
        <p:nvSpPr>
          <p:cNvPr id="46" name="Text 43"/>
          <p:cNvSpPr txBox="1"/>
          <p:nvPr/>
        </p:nvSpPr>
        <p:spPr>
          <a:xfrm>
            <a:off x="5435455"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2F6FB0"/>
                </a:solidFill>
                <a:latin typeface="Amiri" pitchFamily="2" charset="-78"/>
                <a:ea typeface="Amiri" pitchFamily="2" charset="-78"/>
                <a:cs typeface="Amiri" pitchFamily="2" charset="-78"/>
              </a:rPr>
              <a:t>مَعًا</a:t>
            </a:r>
            <a:endParaRPr lang="ar-SA" sz="1500" dirty="0"/>
          </a:p>
        </p:txBody>
      </p:sp>
      <p:sp>
        <p:nvSpPr>
          <p:cNvPr id="47" name="Shape 44"/>
          <p:cNvSpPr/>
          <p:nvPr/>
        </p:nvSpPr>
        <p:spPr>
          <a:xfrm>
            <a:off x="6972953"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8" name="Shape 45"/>
          <p:cNvSpPr/>
          <p:nvPr/>
        </p:nvSpPr>
        <p:spPr>
          <a:xfrm>
            <a:off x="7082681" y="1938528"/>
            <a:ext cx="1281466" cy="566928"/>
          </a:xfrm>
          <a:prstGeom prst="roundRect">
            <a:avLst>
              <a:gd name="adj" fmla="val 9677"/>
            </a:avLst>
          </a:prstGeom>
          <a:solidFill>
            <a:srgbClr val="1E6B52"/>
          </a:solidFill>
          <a:ln w="12700">
            <a:solidFill>
              <a:srgbClr val="1E6B52"/>
            </a:solidFill>
            <a:prstDash val="solid"/>
          </a:ln>
        </p:spPr>
      </p:sp>
      <p:sp>
        <p:nvSpPr>
          <p:cNvPr id="49" name="Text 46"/>
          <p:cNvSpPr txBox="1"/>
          <p:nvPr/>
        </p:nvSpPr>
        <p:spPr>
          <a:xfrm>
            <a:off x="7119257"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YOU DO</a:t>
            </a:r>
            <a:endParaRPr lang="en-US" sz="1000" dirty="0"/>
          </a:p>
        </p:txBody>
      </p:sp>
      <p:sp>
        <p:nvSpPr>
          <p:cNvPr id="50" name="Text 47"/>
          <p:cNvSpPr txBox="1"/>
          <p:nvPr/>
        </p:nvSpPr>
        <p:spPr>
          <a:xfrm>
            <a:off x="7119257"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12 min</a:t>
            </a:r>
            <a:endParaRPr lang="en-US" sz="1000" dirty="0"/>
          </a:p>
        </p:txBody>
      </p:sp>
      <p:sp>
        <p:nvSpPr>
          <p:cNvPr id="51" name="Shape 48"/>
          <p:cNvSpPr/>
          <p:nvPr/>
        </p:nvSpPr>
        <p:spPr>
          <a:xfrm>
            <a:off x="7522246" y="2651760"/>
            <a:ext cx="402336" cy="402336"/>
          </a:xfrm>
          <a:prstGeom prst="ellipse">
            <a:avLst/>
          </a:prstGeom>
          <a:solidFill>
            <a:srgbClr val="F4F1EA"/>
          </a:solidFill>
          <a:ln w="12700">
            <a:solidFill>
              <a:srgbClr val="F4F1EA"/>
            </a:solidFill>
            <a:prstDash val="solid"/>
          </a:ln>
        </p:spPr>
      </p:sp>
      <p:sp>
        <p:nvSpPr>
          <p:cNvPr id="52" name="Text 49"/>
          <p:cNvSpPr txBox="1"/>
          <p:nvPr/>
        </p:nvSpPr>
        <p:spPr>
          <a:xfrm>
            <a:off x="7522246"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5</a:t>
            </a:r>
            <a:endParaRPr lang="en-US" sz="1300" dirty="0"/>
          </a:p>
        </p:txBody>
      </p:sp>
      <p:sp>
        <p:nvSpPr>
          <p:cNvPr id="53" name="Text 50"/>
          <p:cNvSpPr txBox="1"/>
          <p:nvPr/>
        </p:nvSpPr>
        <p:spPr>
          <a:xfrm>
            <a:off x="7100969"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Speak first, then write on your route.</a:t>
            </a:r>
            <a:endParaRPr lang="en-US" sz="1200" dirty="0"/>
          </a:p>
        </p:txBody>
      </p:sp>
      <p:sp>
        <p:nvSpPr>
          <p:cNvPr id="54" name="Text 51"/>
          <p:cNvSpPr txBox="1"/>
          <p:nvPr/>
        </p:nvSpPr>
        <p:spPr>
          <a:xfrm>
            <a:off x="7064393"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1E6B52"/>
                </a:solidFill>
                <a:latin typeface="Amiri" pitchFamily="2" charset="-78"/>
                <a:ea typeface="Amiri" pitchFamily="2" charset="-78"/>
                <a:cs typeface="Amiri" pitchFamily="2" charset="-78"/>
              </a:rPr>
              <a:t>وَحْدَكَ</a:t>
            </a:r>
            <a:endParaRPr lang="ar-SA" sz="1500" dirty="0"/>
          </a:p>
        </p:txBody>
      </p:sp>
      <p:sp>
        <p:nvSpPr>
          <p:cNvPr id="55" name="Shape 52"/>
          <p:cNvSpPr/>
          <p:nvPr/>
        </p:nvSpPr>
        <p:spPr>
          <a:xfrm>
            <a:off x="8601891"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6" name="Shape 53"/>
          <p:cNvSpPr/>
          <p:nvPr/>
        </p:nvSpPr>
        <p:spPr>
          <a:xfrm>
            <a:off x="8711619" y="1938528"/>
            <a:ext cx="1281466" cy="566928"/>
          </a:xfrm>
          <a:prstGeom prst="roundRect">
            <a:avLst>
              <a:gd name="adj" fmla="val 9677"/>
            </a:avLst>
          </a:prstGeom>
          <a:solidFill>
            <a:srgbClr val="8A6D1E"/>
          </a:solidFill>
          <a:ln w="12700">
            <a:solidFill>
              <a:srgbClr val="8A6D1E"/>
            </a:solidFill>
            <a:prstDash val="solid"/>
          </a:ln>
        </p:spPr>
      </p:sp>
      <p:sp>
        <p:nvSpPr>
          <p:cNvPr id="57" name="Text 54"/>
          <p:cNvSpPr txBox="1"/>
          <p:nvPr/>
        </p:nvSpPr>
        <p:spPr>
          <a:xfrm>
            <a:off x="8748195"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FEEDBACK</a:t>
            </a:r>
            <a:endParaRPr lang="en-US" sz="1000" dirty="0"/>
          </a:p>
        </p:txBody>
      </p:sp>
      <p:sp>
        <p:nvSpPr>
          <p:cNvPr id="58" name="Text 55"/>
          <p:cNvSpPr txBox="1"/>
          <p:nvPr/>
        </p:nvSpPr>
        <p:spPr>
          <a:xfrm>
            <a:off x="8748195"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5 min</a:t>
            </a:r>
            <a:endParaRPr lang="en-US" sz="1000" dirty="0"/>
          </a:p>
        </p:txBody>
      </p:sp>
      <p:sp>
        <p:nvSpPr>
          <p:cNvPr id="59" name="Shape 56"/>
          <p:cNvSpPr/>
          <p:nvPr/>
        </p:nvSpPr>
        <p:spPr>
          <a:xfrm>
            <a:off x="9151185" y="2651760"/>
            <a:ext cx="402336" cy="402336"/>
          </a:xfrm>
          <a:prstGeom prst="ellipse">
            <a:avLst/>
          </a:prstGeom>
          <a:solidFill>
            <a:srgbClr val="F4F1EA"/>
          </a:solidFill>
          <a:ln w="12700">
            <a:solidFill>
              <a:srgbClr val="F4F1EA"/>
            </a:solidFill>
            <a:prstDash val="solid"/>
          </a:ln>
        </p:spPr>
      </p:sp>
      <p:sp>
        <p:nvSpPr>
          <p:cNvPr id="60" name="Text 57"/>
          <p:cNvSpPr txBox="1"/>
          <p:nvPr/>
        </p:nvSpPr>
        <p:spPr>
          <a:xfrm>
            <a:off x="9151185"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6</a:t>
            </a:r>
            <a:endParaRPr lang="en-US" sz="1300" dirty="0"/>
          </a:p>
        </p:txBody>
      </p:sp>
      <p:sp>
        <p:nvSpPr>
          <p:cNvPr id="61" name="Text 58"/>
          <p:cNvSpPr txBox="1"/>
          <p:nvPr/>
        </p:nvSpPr>
        <p:spPr>
          <a:xfrm>
            <a:off x="8729907"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Compare with a model and complete the exit ticket.</a:t>
            </a:r>
            <a:endParaRPr lang="en-US" sz="1200" dirty="0"/>
          </a:p>
        </p:txBody>
      </p:sp>
      <p:sp>
        <p:nvSpPr>
          <p:cNvPr id="62" name="Text 59"/>
          <p:cNvSpPr txBox="1"/>
          <p:nvPr/>
        </p:nvSpPr>
        <p:spPr>
          <a:xfrm>
            <a:off x="8693331"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8A6D1E"/>
                </a:solidFill>
                <a:latin typeface="Amiri" pitchFamily="2" charset="-78"/>
                <a:ea typeface="Amiri" pitchFamily="2" charset="-78"/>
                <a:cs typeface="Amiri" pitchFamily="2" charset="-78"/>
              </a:rPr>
              <a:t>قَيِّمْ عَمَلَكَ</a:t>
            </a:r>
            <a:endParaRPr lang="ar-SA" sz="1500" dirty="0"/>
          </a:p>
        </p:txBody>
      </p:sp>
      <p:sp>
        <p:nvSpPr>
          <p:cNvPr id="63" name="Shape 60"/>
          <p:cNvSpPr/>
          <p:nvPr/>
        </p:nvSpPr>
        <p:spPr>
          <a:xfrm>
            <a:off x="10230830" y="1828800"/>
            <a:ext cx="1500922" cy="3246120"/>
          </a:xfrm>
          <a:prstGeom prst="roundRect">
            <a:avLst>
              <a:gd name="adj" fmla="val 487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4" name="Shape 61"/>
          <p:cNvSpPr/>
          <p:nvPr/>
        </p:nvSpPr>
        <p:spPr>
          <a:xfrm>
            <a:off x="10340558" y="1938528"/>
            <a:ext cx="1281466" cy="566928"/>
          </a:xfrm>
          <a:prstGeom prst="roundRect">
            <a:avLst>
              <a:gd name="adj" fmla="val 9677"/>
            </a:avLst>
          </a:prstGeom>
          <a:solidFill>
            <a:srgbClr val="C45A3C"/>
          </a:solidFill>
          <a:ln w="12700">
            <a:solidFill>
              <a:srgbClr val="C45A3C"/>
            </a:solidFill>
            <a:prstDash val="solid"/>
          </a:ln>
        </p:spPr>
      </p:sp>
      <p:sp>
        <p:nvSpPr>
          <p:cNvPr id="65" name="Text 62"/>
          <p:cNvSpPr txBox="1"/>
          <p:nvPr/>
        </p:nvSpPr>
        <p:spPr>
          <a:xfrm>
            <a:off x="10377134" y="1956816"/>
            <a:ext cx="1208314" cy="329184"/>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PREPARATION</a:t>
            </a:r>
            <a:endParaRPr lang="en-US" sz="1000" dirty="0"/>
          </a:p>
        </p:txBody>
      </p:sp>
      <p:sp>
        <p:nvSpPr>
          <p:cNvPr id="66" name="Text 63"/>
          <p:cNvSpPr txBox="1"/>
          <p:nvPr/>
        </p:nvSpPr>
        <p:spPr>
          <a:xfrm>
            <a:off x="10377134" y="2249424"/>
            <a:ext cx="1208314" cy="237744"/>
          </a:xfrm>
          <a:prstGeom prst="rect">
            <a:avLst/>
          </a:prstGeom>
          <a:noFill/>
          <a:ln/>
        </p:spPr>
        <p:txBody>
          <a:bodyPr wrap="square" lIns="0" tIns="0" rIns="0" bIns="0" rtlCol="0" anchor="ctr"/>
          <a:lstStyle/>
          <a:p>
            <a:pPr algn="ctr" indent="0" marL="0">
              <a:buNone/>
            </a:pPr>
            <a:r>
              <a:rPr lang="en-US" sz="1000" dirty="0">
                <a:solidFill>
                  <a:srgbClr val="E8EDF5"/>
                </a:solidFill>
                <a:latin typeface="Calibri" pitchFamily="34" charset="0"/>
                <a:cs typeface="Amiri" pitchFamily="2" charset="-78"/>
              </a:rPr>
              <a:t>2 min</a:t>
            </a:r>
            <a:endParaRPr lang="en-US" sz="1000" dirty="0"/>
          </a:p>
        </p:txBody>
      </p:sp>
      <p:sp>
        <p:nvSpPr>
          <p:cNvPr id="67" name="Shape 64"/>
          <p:cNvSpPr/>
          <p:nvPr/>
        </p:nvSpPr>
        <p:spPr>
          <a:xfrm>
            <a:off x="10780123" y="2651760"/>
            <a:ext cx="402336" cy="402336"/>
          </a:xfrm>
          <a:prstGeom prst="ellipse">
            <a:avLst/>
          </a:prstGeom>
          <a:solidFill>
            <a:srgbClr val="F4F1EA"/>
          </a:solidFill>
          <a:ln w="12700">
            <a:solidFill>
              <a:srgbClr val="F4F1EA"/>
            </a:solidFill>
            <a:prstDash val="solid"/>
          </a:ln>
        </p:spPr>
      </p:sp>
      <p:sp>
        <p:nvSpPr>
          <p:cNvPr id="68" name="Text 65"/>
          <p:cNvSpPr txBox="1"/>
          <p:nvPr/>
        </p:nvSpPr>
        <p:spPr>
          <a:xfrm>
            <a:off x="10780123" y="2651760"/>
            <a:ext cx="402336" cy="402336"/>
          </a:xfrm>
          <a:prstGeom prst="rect">
            <a:avLst/>
          </a:prstGeom>
          <a:noFill/>
          <a:ln/>
        </p:spPr>
        <p:txBody>
          <a:bodyPr wrap="square" lIns="0" tIns="0" rIns="0" bIns="0" rtlCol="0" anchor="ctr"/>
          <a:lstStyle/>
          <a:p>
            <a:pPr algn="ctr" indent="0" marL="0">
              <a:buNone/>
            </a:pPr>
            <a:r>
              <a:rPr lang="en-US" sz="1300" b="1" dirty="0">
                <a:solidFill>
                  <a:srgbClr val="1B3B6F"/>
                </a:solidFill>
                <a:latin typeface="Calibri" pitchFamily="34" charset="0"/>
                <a:cs typeface="Amiri" pitchFamily="2" charset="-78"/>
              </a:rPr>
              <a:t>7</a:t>
            </a:r>
            <a:endParaRPr lang="en-US" sz="1300" dirty="0"/>
          </a:p>
        </p:txBody>
      </p:sp>
      <p:sp>
        <p:nvSpPr>
          <p:cNvPr id="69" name="Text 66"/>
          <p:cNvSpPr txBox="1"/>
          <p:nvPr/>
        </p:nvSpPr>
        <p:spPr>
          <a:xfrm>
            <a:off x="10358846" y="3145536"/>
            <a:ext cx="1244890" cy="1417320"/>
          </a:xfrm>
          <a:prstGeom prst="rect">
            <a:avLst/>
          </a:prstGeom>
          <a:noFill/>
          <a:ln/>
        </p:spPr>
        <p:txBody>
          <a:bodyPr wrap="square" lIns="0" tIns="0" rIns="0" bIns="0" rtlCol="0" anchor="t"/>
          <a:lstStyle/>
          <a:p>
            <a:pPr algn="ctr" indent="0" marL="0">
              <a:buNone/>
            </a:pPr>
            <a:r>
              <a:rPr lang="en-US" sz="1200" dirty="0">
                <a:solidFill>
                  <a:srgbClr val="1F2A37"/>
                </a:solidFill>
                <a:latin typeface="Calibri" pitchFamily="34" charset="0"/>
                <a:cs typeface="Amiri" pitchFamily="2" charset="-78"/>
              </a:rPr>
              <a:t>Get ready at home for TB-L02.</a:t>
            </a:r>
            <a:endParaRPr lang="en-US" sz="1200" dirty="0"/>
          </a:p>
        </p:txBody>
      </p:sp>
      <p:sp>
        <p:nvSpPr>
          <p:cNvPr id="70" name="Text 67"/>
          <p:cNvSpPr txBox="1"/>
          <p:nvPr/>
        </p:nvSpPr>
        <p:spPr>
          <a:xfrm>
            <a:off x="10322270" y="4526280"/>
            <a:ext cx="1318042" cy="438912"/>
          </a:xfrm>
          <a:prstGeom prst="rect">
            <a:avLst/>
          </a:prstGeom>
          <a:noFill/>
          <a:ln/>
        </p:spPr>
        <p:txBody>
          <a:bodyPr wrap="square" lIns="0" tIns="0" rIns="0" bIns="0" rtlCol="0" anchor="ctr"/>
          <a:lstStyle/>
          <a:p>
            <a:pPr rtl="1" algn="ctr" indent="0" marL="0">
              <a:buNone/>
            </a:pPr>
            <a:r>
              <a:rPr lang="ar-SA" altLang="en-US" sz="1500" b="1" dirty="0">
                <a:solidFill>
                  <a:srgbClr val="C45A3C"/>
                </a:solidFill>
                <a:latin typeface="Amiri" pitchFamily="2" charset="-78"/>
                <a:ea typeface="Amiri" pitchFamily="2" charset="-78"/>
                <a:cs typeface="Amiri" pitchFamily="2" charset="-78"/>
              </a:rPr>
              <a:t>اِسْتَعِدَّ</a:t>
            </a:r>
            <a:endParaRPr lang="ar-SA" sz="1500" dirty="0"/>
          </a:p>
        </p:txBody>
      </p:sp>
      <p:sp>
        <p:nvSpPr>
          <p:cNvPr id="71" name="Shape 68"/>
          <p:cNvSpPr/>
          <p:nvPr/>
        </p:nvSpPr>
        <p:spPr>
          <a:xfrm>
            <a:off x="457200" y="5285232"/>
            <a:ext cx="11274552" cy="1024128"/>
          </a:xfrm>
          <a:prstGeom prst="roundRect">
            <a:avLst>
              <a:gd name="adj" fmla="val 7143"/>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72" name="Text 69"/>
          <p:cNvSpPr txBox="1"/>
          <p:nvPr/>
        </p:nvSpPr>
        <p:spPr>
          <a:xfrm>
            <a:off x="685800" y="5358384"/>
            <a:ext cx="4572000"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IF ARABIC FEELS HARD TODAY</a:t>
            </a:r>
            <a:endParaRPr lang="en-US" sz="1000" dirty="0"/>
          </a:p>
        </p:txBody>
      </p:sp>
      <p:sp>
        <p:nvSpPr>
          <p:cNvPr id="73" name="Text 70"/>
          <p:cNvSpPr txBox="1"/>
          <p:nvPr/>
        </p:nvSpPr>
        <p:spPr>
          <a:xfrm>
            <a:off x="685800" y="5632704"/>
            <a:ext cx="10881360" cy="621792"/>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You never have to share anything personal today. You can always use a fictional family. Look for the green CORE boxes; English answers in the chat are fine.</a:t>
            </a:r>
            <a:endParaRPr lang="en-US" sz="1250" dirty="0"/>
          </a:p>
        </p:txBody>
      </p:sp>
      <p:sp>
        <p:nvSpPr>
          <p:cNvPr id="74" name="Text 7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 / 37</a:t>
            </a:r>
            <a:endParaRPr lang="en-US" sz="850" dirty="0"/>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name="Slide 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TB-L01 · Identity and Profiles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ON YOUR OWN · 5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Retrieval: what do you remember?</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اِبْدَأِ الآنَ</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ثَقَافَةٌ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custom</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culture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identity</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form a girl uses: “I am proud”.</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أَنَا فَخُورَةٌ.</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أَنَا فَخُورٌ.</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أَنَا فَخْرٌ.</a:t>
            </a:r>
            <a:endParaRPr lang="ar-SA" sz="20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asks after a female listener?</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كَيْفَ حَالُكَ؟</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 اسْمُهَا؟</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كَيْفَ حَالُكِ؟</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line means ‘I am from Morocco’?</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أَسْكُنُ فِي المَغْرِبِ.</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أَنَا مَغْرِبِيَّةٌ.</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أَنَا مِنَ المَغْرِبِ.</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is a polite welcome to one female?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تَفَضَّلِي</a:t>
            </a:r>
            <a:endParaRPr lang="ar-SA" sz="20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تَفَضَّلْ</a:t>
            </a:r>
            <a:endParaRPr lang="ar-SA" sz="20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لَا</a:t>
            </a:r>
            <a:endParaRPr lang="ar-SA" sz="2050" dirty="0"/>
          </a:p>
        </p:txBody>
      </p:sp>
      <p:sp>
        <p:nvSpPr>
          <p:cNvPr id="80" name="Shape 77"/>
          <p:cNvSpPr/>
          <p:nvPr/>
        </p:nvSpPr>
        <p:spPr>
          <a:xfrm>
            <a:off x="8095488" y="4151376"/>
            <a:ext cx="3636264" cy="2157984"/>
          </a:xfrm>
          <a:prstGeom prst="roundRect">
            <a:avLst>
              <a:gd name="adj" fmla="val 3390"/>
            </a:avLst>
          </a:prstGeom>
          <a:solidFill>
            <a:srgbClr val="E8F4F5"/>
          </a:solidFill>
          <a:ln w="9525">
            <a:solidFill>
              <a:srgbClr val="9CCFD4"/>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96656" y="4471416"/>
            <a:ext cx="3270504" cy="274320"/>
          </a:xfrm>
          <a:prstGeom prst="rect">
            <a:avLst/>
          </a:prstGeom>
          <a:noFill/>
          <a:ln/>
        </p:spPr>
        <p:txBody>
          <a:bodyPr wrap="square" lIns="0" tIns="0" rIns="0" bIns="0" rtlCol="0" anchor="ctr"/>
          <a:lstStyle/>
          <a:p>
            <a:pPr algn="l" indent="0" marL="0">
              <a:buNone/>
            </a:pPr>
            <a:r>
              <a:rPr lang="en-US" sz="1100" b="1" spc="200" kern="0" dirty="0">
                <a:solidFill>
                  <a:srgbClr val="0E7C86"/>
                </a:solidFill>
                <a:latin typeface="Calibri" pitchFamily="34" charset="0"/>
                <a:cs typeface="Amiri" pitchFamily="2" charset="-78"/>
              </a:rPr>
              <a:t>HOW TO ANSWER</a:t>
            </a:r>
            <a:endParaRPr lang="en-US" sz="1100" dirty="0"/>
          </a:p>
        </p:txBody>
      </p:sp>
      <p:sp>
        <p:nvSpPr>
          <p:cNvPr id="82" name="Text 79"/>
          <p:cNvSpPr txBox="1"/>
          <p:nvPr/>
        </p:nvSpPr>
        <p:spPr>
          <a:xfrm>
            <a:off x="8296656" y="4754880"/>
            <a:ext cx="3270504" cy="82296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Work on your own in silence.</a:t>
            </a:r>
            <a:endParaRPr lang="en-US" sz="1350" dirty="0"/>
          </a:p>
          <a:p>
            <a:pPr algn="l" indent="0" marL="0">
              <a:buNone/>
            </a:pPr>
            <a:r>
              <a:rPr lang="en-US" sz="1350" dirty="0">
                <a:solidFill>
                  <a:srgbClr val="1F2A37"/>
                </a:solidFill>
                <a:latin typeface="Calibri" pitchFamily="34" charset="0"/>
                <a:cs typeface="Amiri" pitchFamily="2" charset="-78"/>
              </a:rPr>
              <a:t>When the timer ends, type in the chat:</a:t>
            </a:r>
            <a:endParaRPr lang="en-US" sz="1350" dirty="0"/>
          </a:p>
        </p:txBody>
      </p:sp>
      <p:sp>
        <p:nvSpPr>
          <p:cNvPr id="83" name="Text 80"/>
          <p:cNvSpPr txBox="1"/>
          <p:nvPr/>
        </p:nvSpPr>
        <p:spPr>
          <a:xfrm>
            <a:off x="8296656" y="5522976"/>
            <a:ext cx="3270504" cy="310896"/>
          </a:xfrm>
          <a:prstGeom prst="rect">
            <a:avLst/>
          </a:prstGeom>
          <a:noFill/>
          <a:ln/>
        </p:spPr>
        <p:txBody>
          <a:bodyPr wrap="square" lIns="0" tIns="0" rIns="0" bIns="0" rtlCol="0" anchor="ctr"/>
          <a:lstStyle/>
          <a:p>
            <a:pPr algn="l" indent="0" marL="0">
              <a:buNone/>
            </a:pPr>
            <a:r>
              <a:rPr lang="en-US" sz="1400" b="1" dirty="0">
                <a:solidFill>
                  <a:srgbClr val="1B3B6F"/>
                </a:solidFill>
                <a:latin typeface="Consolas" pitchFamily="34" charset="0"/>
                <a:cs typeface="Amiri" pitchFamily="2" charset="-78"/>
              </a:rPr>
              <a:t>1_  2_  3_  4_  5_</a:t>
            </a:r>
            <a:endParaRPr lang="en-US" sz="1400" dirty="0"/>
          </a:p>
        </p:txBody>
      </p:sp>
      <p:sp>
        <p:nvSpPr>
          <p:cNvPr id="84" name="Text 81"/>
          <p:cNvSpPr txBox="1"/>
          <p:nvPr/>
        </p:nvSpPr>
        <p:spPr>
          <a:xfrm>
            <a:off x="8296656" y="5742432"/>
            <a:ext cx="3270504" cy="402336"/>
          </a:xfrm>
          <a:prstGeom prst="rect">
            <a:avLst/>
          </a:prstGeom>
          <a:noFill/>
          <a:ln/>
        </p:spPr>
        <p:txBody>
          <a:bodyPr wrap="square" lIns="0" tIns="0" rIns="0" bIns="0" rtlCol="0" anchor="ctr"/>
          <a:lstStyle/>
          <a:p>
            <a:pPr algn="l" indent="0" marL="0">
              <a:buNone/>
            </a:pPr>
            <a:r>
              <a:rPr lang="en-US" sz="1800" b="1" dirty="0">
                <a:solidFill>
                  <a:srgbClr val="0E7C86"/>
                </a:solidFill>
                <a:latin typeface="Calibri" pitchFamily="34" charset="0"/>
                <a:cs typeface="Amiri" pitchFamily="2" charset="-78"/>
              </a:rPr>
              <a:t>⏱  5 : 00</a:t>
            </a:r>
            <a:endParaRPr lang="en-US" sz="18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4 / 37</a:t>
            </a:r>
            <a:endParaRPr lang="en-US" sz="850" dirty="0"/>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name="Slide 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TB-L01 · Identity and Profiles</a:t>
            </a:r>
            <a:endParaRPr lang="en-US" sz="950" dirty="0"/>
          </a:p>
        </p:txBody>
      </p:sp>
      <p:sp>
        <p:nvSpPr>
          <p:cNvPr id="8" name="Shape 6"/>
          <p:cNvSpPr/>
          <p:nvPr/>
        </p:nvSpPr>
        <p:spPr>
          <a:xfrm>
            <a:off x="7295083" y="274320"/>
            <a:ext cx="1464869" cy="329184"/>
          </a:xfrm>
          <a:prstGeom prst="roundRect">
            <a:avLst>
              <a:gd name="adj" fmla="val 50000"/>
            </a:avLst>
          </a:prstGeom>
          <a:solidFill>
            <a:srgbClr val="0E7C86"/>
          </a:solidFill>
          <a:ln w="12700">
            <a:solidFill>
              <a:srgbClr val="0E7C86"/>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DO NOW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0E7C86"/>
                </a:solidFill>
                <a:latin typeface="Calibri" pitchFamily="34" charset="0"/>
                <a:cs typeface="Amiri" pitchFamily="2" charset="-78"/>
              </a:rPr>
              <a:t>DO NOW · ANSWERS AND REASONS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Let’s check — and explain why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a:t>
            </a:r>
            <a:pPr algn="l" indent="0" marL="0">
              <a:buNone/>
            </a:pPr>
            <a:r>
              <a:rPr lang="ar-SA" altLang="en-US" sz="1650" b="1" dirty="0">
                <a:solidFill>
                  <a:srgbClr val="1B3B6F"/>
                </a:solidFill>
                <a:latin typeface="Amiri" pitchFamily="2" charset="-78"/>
                <a:ea typeface="Amiri" pitchFamily="2" charset="-78"/>
                <a:cs typeface="Amiri" pitchFamily="2" charset="-78"/>
              </a:rPr>
              <a:t>ثَقَافَةٌ</a:t>
            </a:r>
            <a:pPr algn="l" indent="0" marL="0">
              <a:buNone/>
            </a:pPr>
            <a:r>
              <a:rPr lang="en-US" sz="1250" b="1" dirty="0">
                <a:solidFill>
                  <a:srgbClr val="1B3B6F"/>
                </a:solidFill>
                <a:latin typeface="Calibri" pitchFamily="34" charset="0"/>
                <a:cs typeface="Amiri" pitchFamily="2" charset="-78"/>
              </a:rPr>
              <a:t> mean?</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custom</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culture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identity</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Choose the form a girl uses: “I am proud”.</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أَنَا فَخُورَةٌ.</a:t>
            </a:r>
            <a:endParaRPr lang="ar-SA" sz="170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أَنَا فَخُورٌ.</a:t>
            </a:r>
            <a:endParaRPr lang="ar-SA" sz="170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أَنَا فَخْرٌ.</a:t>
            </a:r>
            <a:endParaRPr lang="ar-SA" sz="170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Prepared at home + F2-L05 (website) agreement.</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asks after a female listener?</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كَيْفَ حَالُكَ؟</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مَا اسْمُهَا؟</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كَيْفَ حَالُكِ؟</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The final kasra in </a:t>
            </a:r>
            <a:pPr algn="l" indent="0" marL="0">
              <a:buNone/>
            </a:pPr>
            <a:r>
              <a:rPr lang="ar-SA" altLang="en-US" sz="1350" dirty="0">
                <a:solidFill>
                  <a:srgbClr val="8A6D1E"/>
                </a:solidFill>
                <a:latin typeface="Amiri" pitchFamily="2" charset="-78"/>
                <a:ea typeface="Amiri" pitchFamily="2" charset="-78"/>
                <a:cs typeface="Amiri" pitchFamily="2" charset="-78"/>
              </a:rPr>
              <a:t>ـكِ</a:t>
            </a:r>
            <a:pPr algn="l" indent="0" marL="0">
              <a:buNone/>
            </a:pPr>
            <a:r>
              <a:rPr lang="en-US" sz="1050" i="1" dirty="0">
                <a:solidFill>
                  <a:srgbClr val="8A6D1E"/>
                </a:solidFill>
                <a:latin typeface="Calibri" pitchFamily="34" charset="0"/>
                <a:cs typeface="Amiri" pitchFamily="2" charset="-78"/>
              </a:rPr>
              <a:t> addresses one female.</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line means ‘I am from Morocco’?</a:t>
            </a:r>
            <a:endParaRPr lang="en-US" sz="12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أَسْكُنُ فِي المَغْرِبِ.</a:t>
            </a:r>
            <a:endParaRPr lang="ar-SA" sz="1700" dirty="0"/>
          </a:p>
        </p:txBody>
      </p:sp>
      <p:sp>
        <p:nvSpPr>
          <p:cNvPr id="67" name="Shape 64"/>
          <p:cNvSpPr/>
          <p:nvPr/>
        </p:nvSpPr>
        <p:spPr>
          <a:xfrm>
            <a:off x="640080" y="5202936"/>
            <a:ext cx="256032" cy="256032"/>
          </a:xfrm>
          <a:prstGeom prst="ellipse">
            <a:avLst/>
          </a:prstGeom>
          <a:solidFill>
            <a:srgbClr val="C9CED6"/>
          </a:solidFill>
          <a:ln w="12700">
            <a:solidFill>
              <a:srgbClr val="C9CED6"/>
            </a:solidFill>
            <a:prstDash val="solid"/>
          </a:ln>
        </p:spPr>
      </p:sp>
      <p:sp>
        <p:nvSpPr>
          <p:cNvPr id="68" name="Text 65"/>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9" name="Text 66"/>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أَنَا مَغْرِبِيَّةٌ.</a:t>
            </a:r>
            <a:endParaRPr lang="ar-SA" sz="1700" dirty="0"/>
          </a:p>
        </p:txBody>
      </p:sp>
      <p:sp>
        <p:nvSpPr>
          <p:cNvPr id="70" name="Shape 67"/>
          <p:cNvSpPr/>
          <p:nvPr/>
        </p:nvSpPr>
        <p:spPr>
          <a:xfrm>
            <a:off x="548640" y="5538216"/>
            <a:ext cx="3453384" cy="347472"/>
          </a:xfrm>
          <a:prstGeom prst="roundRect">
            <a:avLst>
              <a:gd name="adj" fmla="val 15789"/>
            </a:avLst>
          </a:prstGeom>
          <a:solidFill>
            <a:srgbClr val="E6F4EC"/>
          </a:solidFill>
          <a:ln w="9525">
            <a:solidFill>
              <a:srgbClr val="2E8B57"/>
            </a:solidFill>
            <a:prstDash val="solid"/>
          </a:ln>
        </p:spPr>
      </p:sp>
      <p:sp>
        <p:nvSpPr>
          <p:cNvPr id="71" name="Shape 68"/>
          <p:cNvSpPr/>
          <p:nvPr/>
        </p:nvSpPr>
        <p:spPr>
          <a:xfrm>
            <a:off x="640080" y="5574792"/>
            <a:ext cx="256032" cy="256032"/>
          </a:xfrm>
          <a:prstGeom prst="ellipse">
            <a:avLst/>
          </a:prstGeom>
          <a:solidFill>
            <a:srgbClr val="2E8B57"/>
          </a:solidFill>
          <a:ln w="12700">
            <a:solidFill>
              <a:srgbClr val="2E8B57"/>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أَنَا مِنَ المَغْرِبِ.</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مِنْ</a:t>
            </a:r>
            <a:pPr algn="l" indent="0" marL="0">
              <a:buNone/>
            </a:pPr>
            <a:r>
              <a:rPr lang="en-US" sz="1050" i="1" dirty="0">
                <a:solidFill>
                  <a:srgbClr val="8A6D1E"/>
                </a:solidFill>
                <a:latin typeface="Calibri" pitchFamily="34" charset="0"/>
                <a:cs typeface="Amiri" pitchFamily="2" charset="-78"/>
              </a:rPr>
              <a:t> introduces origin: where someone is from.</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is a polite welcome to one female?</a:t>
            </a:r>
            <a:endParaRPr lang="en-US" sz="125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تَفَضَّلِي</a:t>
            </a:r>
            <a:endParaRPr lang="ar-SA" sz="170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تَفَضَّلْ</a:t>
            </a:r>
            <a:endParaRPr lang="ar-SA" sz="170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لَا</a:t>
            </a:r>
            <a:endParaRPr lang="ar-SA" sz="170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تَفَضَّلِي</a:t>
            </a:r>
            <a:pPr algn="l" indent="0" marL="0">
              <a:buNone/>
            </a:pPr>
            <a:r>
              <a:rPr lang="en-US" sz="1050" i="1" dirty="0">
                <a:solidFill>
                  <a:srgbClr val="8A6D1E"/>
                </a:solidFill>
                <a:latin typeface="Calibri" pitchFamily="34" charset="0"/>
                <a:cs typeface="Amiri" pitchFamily="2" charset="-78"/>
              </a:rPr>
              <a:t> addresses one female.</a:t>
            </a:r>
            <a:endParaRPr lang="en-US" sz="1050" dirty="0"/>
          </a:p>
        </p:txBody>
      </p:sp>
      <p:sp>
        <p:nvSpPr>
          <p:cNvPr id="90" name="Shape 87"/>
          <p:cNvSpPr/>
          <p:nvPr/>
        </p:nvSpPr>
        <p:spPr>
          <a:xfrm>
            <a:off x="8095488" y="4151376"/>
            <a:ext cx="3636264" cy="2157984"/>
          </a:xfrm>
          <a:prstGeom prst="roundRect">
            <a:avLst>
              <a:gd name="adj" fmla="val 3390"/>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56032"/>
          </a:xfrm>
          <a:prstGeom prst="rect">
            <a:avLst/>
          </a:prstGeom>
          <a:noFill/>
          <a:ln/>
        </p:spPr>
        <p:txBody>
          <a:bodyPr wrap="square" lIns="0" tIns="0" rIns="0" bIns="0" rtlCol="0" anchor="ctr"/>
          <a:lstStyle/>
          <a:p>
            <a:pPr algn="l" indent="0" marL="0">
              <a:buNone/>
            </a:pPr>
            <a:r>
              <a:rPr lang="en-US" sz="1000" b="1" spc="200" kern="0" dirty="0">
                <a:solidFill>
                  <a:srgbClr val="8A6D1E"/>
                </a:solidFill>
                <a:latin typeface="Calibri" pitchFamily="34" charset="0"/>
                <a:cs typeface="Amiri" pitchFamily="2" charset="-78"/>
              </a:rPr>
              <a:t>THE KEY IDEA FOR TODAY</a:t>
            </a:r>
            <a:endParaRPr lang="en-US" sz="1000" dirty="0"/>
          </a:p>
        </p:txBody>
      </p:sp>
      <p:sp>
        <p:nvSpPr>
          <p:cNvPr id="92" name="Text 89"/>
          <p:cNvSpPr txBox="1"/>
          <p:nvPr/>
        </p:nvSpPr>
        <p:spPr>
          <a:xfrm>
            <a:off x="8278368" y="4553712"/>
            <a:ext cx="3270504" cy="640080"/>
          </a:xfrm>
          <a:prstGeom prst="rect">
            <a:avLst/>
          </a:prstGeom>
          <a:noFill/>
          <a:ln/>
        </p:spPr>
        <p:txBody>
          <a:bodyPr wrap="square" lIns="0" tIns="0" rIns="0" bIns="0" rtlCol="0" anchor="t"/>
          <a:lstStyle/>
          <a:p>
            <a:pPr algn="l" indent="0" marL="0">
              <a:buNone/>
            </a:pPr>
            <a:r>
              <a:rPr lang="en-US" sz="1300" b="1" dirty="0">
                <a:solidFill>
                  <a:srgbClr val="1F2A37"/>
                </a:solidFill>
                <a:latin typeface="Calibri" pitchFamily="34" charset="0"/>
                <a:cs typeface="Amiri" pitchFamily="2" charset="-78"/>
              </a:rPr>
              <a:t>Observe, ask politely and follow the other person’s lead (website respectful rule).</a:t>
            </a:r>
            <a:endParaRPr lang="en-US" sz="1300" dirty="0"/>
          </a:p>
        </p:txBody>
      </p:sp>
      <p:sp>
        <p:nvSpPr>
          <p:cNvPr id="93" name="Text 90"/>
          <p:cNvSpPr txBox="1"/>
          <p:nvPr/>
        </p:nvSpPr>
        <p:spPr>
          <a:xfrm>
            <a:off x="8278368" y="5202936"/>
            <a:ext cx="3270504" cy="1014984"/>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فِي بَعْضِ العَائِلَاتِ … · لَيْسَ دَائِمًا</a:t>
            </a:r>
            <a:endParaRPr lang="ar-SA" sz="220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5 / 37</a:t>
            </a:r>
            <a:endParaRPr lang="en-US" sz="850" dirty="0"/>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name="Slide 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TB-L01 · Identity and Profiles</a:t>
            </a:r>
            <a:endParaRPr lang="en-US" sz="950" dirty="0"/>
          </a:p>
        </p:txBody>
      </p:sp>
      <p:sp>
        <p:nvSpPr>
          <p:cNvPr id="8" name="Shape 6"/>
          <p:cNvSpPr/>
          <p:nvPr/>
        </p:nvSpPr>
        <p:spPr>
          <a:xfrm>
            <a:off x="7219188" y="274320"/>
            <a:ext cx="1540764" cy="329184"/>
          </a:xfrm>
          <a:prstGeom prst="roundRect">
            <a:avLst>
              <a:gd name="adj" fmla="val 50000"/>
            </a:avLst>
          </a:prstGeom>
          <a:solidFill>
            <a:srgbClr val="5A6472"/>
          </a:solidFill>
          <a:ln w="12700">
            <a:solidFill>
              <a:srgbClr val="5A6472"/>
            </a:solidFill>
            <a:prstDash val="solid"/>
          </a:ln>
        </p:spPr>
      </p:sp>
      <p:sp>
        <p:nvSpPr>
          <p:cNvPr id="9" name="Text 7"/>
          <p:cNvSpPr txBox="1"/>
          <p:nvPr/>
        </p:nvSpPr>
        <p:spPr>
          <a:xfrm>
            <a:off x="7219188" y="274320"/>
            <a:ext cx="154076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WELCOME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5A6472"/>
                </a:solidFill>
                <a:latin typeface="Calibri" pitchFamily="34" charset="0"/>
                <a:cs typeface="Amiri" pitchFamily="2" charset="-78"/>
              </a:rPr>
              <a:t>LESSON OBJECTIVES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Objectives and success criteria</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الأَهْدَافُ وَمَعَايِيرُ النَّجَاحِ</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TB-L01</a:t>
            </a:r>
            <a:endParaRPr lang="en-US" sz="850" dirty="0"/>
          </a:p>
        </p:txBody>
      </p:sp>
      <p:sp>
        <p:nvSpPr>
          <p:cNvPr id="15" name="Shape 12"/>
          <p:cNvSpPr/>
          <p:nvPr/>
        </p:nvSpPr>
        <p:spPr>
          <a:xfrm>
            <a:off x="457200" y="1810512"/>
            <a:ext cx="4663440" cy="4315968"/>
          </a:xfrm>
          <a:prstGeom prst="roundRect">
            <a:avLst>
              <a:gd name="adj" fmla="val 1695"/>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20240"/>
            <a:ext cx="2743200" cy="292608"/>
          </a:xfrm>
          <a:prstGeom prst="rect">
            <a:avLst/>
          </a:prstGeom>
          <a:noFill/>
          <a:ln/>
        </p:spPr>
        <p:txBody>
          <a:bodyPr wrap="square" lIns="0" tIns="0" rIns="0" bIns="0" rtlCol="0" anchor="ctr"/>
          <a:lstStyle/>
          <a:p>
            <a:pPr algn="l" indent="0" marL="0">
              <a:buNone/>
            </a:pPr>
            <a:r>
              <a:rPr lang="en-US" sz="1100" b="1" spc="200" kern="0" dirty="0">
                <a:solidFill>
                  <a:srgbClr val="1B3B6F"/>
                </a:solidFill>
                <a:latin typeface="Calibri" pitchFamily="34" charset="0"/>
                <a:cs typeface="Amiri" pitchFamily="2" charset="-78"/>
              </a:rPr>
              <a:t>TODAY YOU WILL</a:t>
            </a:r>
            <a:endParaRPr lang="en-US" sz="1100" dirty="0"/>
          </a:p>
        </p:txBody>
      </p:sp>
      <p:sp>
        <p:nvSpPr>
          <p:cNvPr id="17" name="Text 14"/>
          <p:cNvSpPr txBox="1"/>
          <p:nvPr/>
        </p:nvSpPr>
        <p:spPr>
          <a:xfrm>
            <a:off x="2834640" y="1874520"/>
            <a:ext cx="2103120" cy="365760"/>
          </a:xfrm>
          <a:prstGeom prst="rect">
            <a:avLst/>
          </a:prstGeom>
          <a:noFill/>
          <a:ln/>
        </p:spPr>
        <p:txBody>
          <a:bodyPr wrap="square" lIns="0" tIns="0" rIns="0" bIns="0" rtlCol="0" anchor="ctr"/>
          <a:lstStyle/>
          <a:p>
            <a:pPr rtl="1" algn="r" indent="0" marL="0">
              <a:buNone/>
            </a:pPr>
            <a:r>
              <a:rPr lang="ar-SA" altLang="en-US" sz="1600" dirty="0">
                <a:solidFill>
                  <a:srgbClr val="8A6D1E"/>
                </a:solidFill>
                <a:latin typeface="Amiri" pitchFamily="2" charset="-78"/>
                <a:ea typeface="Amiri" pitchFamily="2" charset="-78"/>
                <a:cs typeface="Amiri" pitchFamily="2" charset="-78"/>
              </a:rPr>
              <a:t>سَتَتَعَلَّمُ اليَوْمَ</a:t>
            </a:r>
            <a:endParaRPr lang="ar-SA" sz="1600" dirty="0"/>
          </a:p>
        </p:txBody>
      </p:sp>
      <p:sp>
        <p:nvSpPr>
          <p:cNvPr id="18" name="Shape 15"/>
          <p:cNvSpPr/>
          <p:nvPr/>
        </p:nvSpPr>
        <p:spPr>
          <a:xfrm>
            <a:off x="685800" y="2395728"/>
            <a:ext cx="365760" cy="365760"/>
          </a:xfrm>
          <a:prstGeom prst="ellipse">
            <a:avLst/>
          </a:prstGeom>
          <a:solidFill>
            <a:srgbClr val="1B3B6F"/>
          </a:solidFill>
          <a:ln w="12700">
            <a:solidFill>
              <a:srgbClr val="1B3B6F"/>
            </a:solidFill>
            <a:prstDash val="solid"/>
          </a:ln>
        </p:spPr>
      </p:sp>
      <p:sp>
        <p:nvSpPr>
          <p:cNvPr id="19" name="Text 16"/>
          <p:cNvSpPr txBox="1"/>
          <p:nvPr/>
        </p:nvSpPr>
        <p:spPr>
          <a:xfrm>
            <a:off x="685800" y="2395728"/>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1</a:t>
            </a:r>
            <a:endParaRPr lang="en-US" sz="1200" dirty="0"/>
          </a:p>
        </p:txBody>
      </p:sp>
      <p:sp>
        <p:nvSpPr>
          <p:cNvPr id="20" name="Text 17"/>
          <p:cNvSpPr txBox="1"/>
          <p:nvPr/>
        </p:nvSpPr>
        <p:spPr>
          <a:xfrm>
            <a:off x="1188720" y="2286000"/>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Use the core cultural vocabulary accurately.</a:t>
            </a:r>
            <a:endParaRPr lang="en-US" sz="1300" dirty="0"/>
          </a:p>
        </p:txBody>
      </p:sp>
      <p:sp>
        <p:nvSpPr>
          <p:cNvPr id="21" name="Shape 18"/>
          <p:cNvSpPr/>
          <p:nvPr/>
        </p:nvSpPr>
        <p:spPr>
          <a:xfrm>
            <a:off x="685800" y="3291840"/>
            <a:ext cx="365760" cy="365760"/>
          </a:xfrm>
          <a:prstGeom prst="ellipse">
            <a:avLst/>
          </a:prstGeom>
          <a:solidFill>
            <a:srgbClr val="1B3B6F"/>
          </a:solidFill>
          <a:ln w="12700">
            <a:solidFill>
              <a:srgbClr val="1B3B6F"/>
            </a:solidFill>
            <a:prstDash val="solid"/>
          </a:ln>
        </p:spPr>
      </p:sp>
      <p:sp>
        <p:nvSpPr>
          <p:cNvPr id="22" name="Text 19"/>
          <p:cNvSpPr txBox="1"/>
          <p:nvPr/>
        </p:nvSpPr>
        <p:spPr>
          <a:xfrm>
            <a:off x="685800" y="3291840"/>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2</a:t>
            </a:r>
            <a:endParaRPr lang="en-US" sz="1200" dirty="0"/>
          </a:p>
        </p:txBody>
      </p:sp>
      <p:sp>
        <p:nvSpPr>
          <p:cNvPr id="23" name="Text 20"/>
          <p:cNvSpPr txBox="1"/>
          <p:nvPr/>
        </p:nvSpPr>
        <p:spPr>
          <a:xfrm>
            <a:off x="1188720" y="3182112"/>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Describe greetings, hospitality, family and identity without stereotyping.</a:t>
            </a:r>
            <a:endParaRPr lang="en-US" sz="1300" dirty="0"/>
          </a:p>
        </p:txBody>
      </p:sp>
      <p:sp>
        <p:nvSpPr>
          <p:cNvPr id="24" name="Shape 21"/>
          <p:cNvSpPr/>
          <p:nvPr/>
        </p:nvSpPr>
        <p:spPr>
          <a:xfrm>
            <a:off x="685800" y="4187952"/>
            <a:ext cx="365760" cy="365760"/>
          </a:xfrm>
          <a:prstGeom prst="ellipse">
            <a:avLst/>
          </a:prstGeom>
          <a:solidFill>
            <a:srgbClr val="1B3B6F"/>
          </a:solidFill>
          <a:ln w="12700">
            <a:solidFill>
              <a:srgbClr val="1B3B6F"/>
            </a:solidFill>
            <a:prstDash val="solid"/>
          </a:ln>
        </p:spPr>
      </p:sp>
      <p:sp>
        <p:nvSpPr>
          <p:cNvPr id="25" name="Text 22"/>
          <p:cNvSpPr txBox="1"/>
          <p:nvPr/>
        </p:nvSpPr>
        <p:spPr>
          <a:xfrm>
            <a:off x="685800" y="4187952"/>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3</a:t>
            </a:r>
            <a:endParaRPr lang="en-US" sz="1200" dirty="0"/>
          </a:p>
        </p:txBody>
      </p:sp>
      <p:sp>
        <p:nvSpPr>
          <p:cNvPr id="26" name="Text 23"/>
          <p:cNvSpPr txBox="1"/>
          <p:nvPr/>
        </p:nvSpPr>
        <p:spPr>
          <a:xfrm>
            <a:off x="1188720" y="4078224"/>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Recognise that practices vary by country, family and individual.</a:t>
            </a:r>
            <a:endParaRPr lang="en-US" sz="1300" dirty="0"/>
          </a:p>
        </p:txBody>
      </p:sp>
      <p:sp>
        <p:nvSpPr>
          <p:cNvPr id="27" name="Shape 24"/>
          <p:cNvSpPr/>
          <p:nvPr/>
        </p:nvSpPr>
        <p:spPr>
          <a:xfrm>
            <a:off x="685800" y="5084064"/>
            <a:ext cx="365760" cy="365760"/>
          </a:xfrm>
          <a:prstGeom prst="ellipse">
            <a:avLst/>
          </a:prstGeom>
          <a:solidFill>
            <a:srgbClr val="1B3B6F"/>
          </a:solidFill>
          <a:ln w="12700">
            <a:solidFill>
              <a:srgbClr val="1B3B6F"/>
            </a:solidFill>
            <a:prstDash val="solid"/>
          </a:ln>
        </p:spPr>
      </p:sp>
      <p:sp>
        <p:nvSpPr>
          <p:cNvPr id="28" name="Text 25"/>
          <p:cNvSpPr txBox="1"/>
          <p:nvPr/>
        </p:nvSpPr>
        <p:spPr>
          <a:xfrm>
            <a:off x="685800" y="5084064"/>
            <a:ext cx="365760" cy="365760"/>
          </a:xfrm>
          <a:prstGeom prst="rect">
            <a:avLst/>
          </a:prstGeom>
          <a:noFill/>
          <a:ln/>
        </p:spPr>
        <p:txBody>
          <a:bodyPr wrap="square" lIns="0" tIns="0" rIns="0" bIns="0" rtlCol="0" anchor="ctr"/>
          <a:lstStyle/>
          <a:p>
            <a:pPr algn="ctr" indent="0" marL="0">
              <a:buNone/>
            </a:pPr>
            <a:r>
              <a:rPr lang="en-US" sz="1200" b="1" dirty="0">
                <a:solidFill>
                  <a:srgbClr val="D4AF37"/>
                </a:solidFill>
                <a:latin typeface="Calibri" pitchFamily="34" charset="0"/>
                <a:cs typeface="Amiri" pitchFamily="2" charset="-78"/>
              </a:rPr>
              <a:t>4</a:t>
            </a:r>
            <a:endParaRPr lang="en-US" sz="1200" dirty="0"/>
          </a:p>
        </p:txBody>
      </p:sp>
      <p:sp>
        <p:nvSpPr>
          <p:cNvPr id="29" name="Text 26"/>
          <p:cNvSpPr txBox="1"/>
          <p:nvPr/>
        </p:nvSpPr>
        <p:spPr>
          <a:xfrm>
            <a:off x="1188720" y="4974336"/>
            <a:ext cx="3749040" cy="841248"/>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Compare a cultural practice with a familiar context respectfully.</a:t>
            </a:r>
            <a:endParaRPr lang="en-US" sz="1300" dirty="0"/>
          </a:p>
        </p:txBody>
      </p:sp>
      <p:sp>
        <p:nvSpPr>
          <p:cNvPr id="30" name="Shape 27"/>
          <p:cNvSpPr/>
          <p:nvPr/>
        </p:nvSpPr>
        <p:spPr>
          <a:xfrm>
            <a:off x="5349240" y="1810512"/>
            <a:ext cx="6382512" cy="1353312"/>
          </a:xfrm>
          <a:prstGeom prst="roundRect">
            <a:avLst>
              <a:gd name="adj" fmla="val 5405"/>
            </a:avLst>
          </a:prstGeom>
          <a:solidFill>
            <a:srgbClr val="E9F5EE"/>
          </a:solidFill>
          <a:ln w="9525">
            <a:solidFill>
              <a:srgbClr val="2E8B57"/>
            </a:solidFill>
            <a:prstDash val="solid"/>
          </a:ln>
        </p:spPr>
      </p:sp>
      <p:sp>
        <p:nvSpPr>
          <p:cNvPr id="31" name="Shape 28"/>
          <p:cNvSpPr/>
          <p:nvPr/>
        </p:nvSpPr>
        <p:spPr>
          <a:xfrm>
            <a:off x="5532120" y="1947672"/>
            <a:ext cx="1143000" cy="292608"/>
          </a:xfrm>
          <a:prstGeom prst="roundRect">
            <a:avLst>
              <a:gd name="adj" fmla="val 50000"/>
            </a:avLst>
          </a:prstGeom>
          <a:solidFill>
            <a:srgbClr val="2E8B57"/>
          </a:solidFill>
          <a:ln w="12700">
            <a:solidFill>
              <a:srgbClr val="2E8B57"/>
            </a:solidFill>
            <a:prstDash val="solid"/>
          </a:ln>
        </p:spPr>
      </p:sp>
      <p:sp>
        <p:nvSpPr>
          <p:cNvPr id="32" name="Text 29"/>
          <p:cNvSpPr txBox="1"/>
          <p:nvPr/>
        </p:nvSpPr>
        <p:spPr>
          <a:xfrm>
            <a:off x="5532120" y="194767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CORE</a:t>
            </a:r>
            <a:endParaRPr lang="en-US" sz="950" dirty="0"/>
          </a:p>
        </p:txBody>
      </p:sp>
      <p:sp>
        <p:nvSpPr>
          <p:cNvPr id="33" name="Text 30"/>
          <p:cNvSpPr txBox="1"/>
          <p:nvPr/>
        </p:nvSpPr>
        <p:spPr>
          <a:xfrm>
            <a:off x="6766560" y="1947672"/>
            <a:ext cx="1828800" cy="292608"/>
          </a:xfrm>
          <a:prstGeom prst="rect">
            <a:avLst/>
          </a:prstGeom>
          <a:noFill/>
          <a:ln/>
        </p:spPr>
        <p:txBody>
          <a:bodyPr wrap="square" lIns="0" tIns="0" rIns="0" bIns="0" rtlCol="0" anchor="ctr"/>
          <a:lstStyle/>
          <a:p>
            <a:pPr algn="l" indent="0" marL="0">
              <a:buNone/>
            </a:pPr>
            <a:r>
              <a:rPr lang="en-US" sz="1050" b="1" i="1" dirty="0">
                <a:solidFill>
                  <a:srgbClr val="2E8B57"/>
                </a:solidFill>
                <a:latin typeface="Calibri" pitchFamily="34" charset="0"/>
                <a:cs typeface="Amiri" pitchFamily="2" charset="-78"/>
              </a:rPr>
              <a:t>Everyone</a:t>
            </a:r>
            <a:endParaRPr lang="en-US" sz="1050" dirty="0"/>
          </a:p>
        </p:txBody>
      </p:sp>
      <p:sp>
        <p:nvSpPr>
          <p:cNvPr id="34" name="Text 31"/>
          <p:cNvSpPr txBox="1"/>
          <p:nvPr/>
        </p:nvSpPr>
        <p:spPr>
          <a:xfrm>
            <a:off x="5532120" y="228600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recognise the key cultural words.</a:t>
            </a:r>
            <a:endParaRPr lang="en-US" sz="1300" dirty="0"/>
          </a:p>
        </p:txBody>
      </p:sp>
      <p:sp>
        <p:nvSpPr>
          <p:cNvPr id="35" name="Text 32"/>
          <p:cNvSpPr txBox="1"/>
          <p:nvPr/>
        </p:nvSpPr>
        <p:spPr>
          <a:xfrm>
            <a:off x="5532120" y="2697480"/>
            <a:ext cx="6016752" cy="393192"/>
          </a:xfrm>
          <a:prstGeom prst="rect">
            <a:avLst/>
          </a:prstGeom>
          <a:noFill/>
          <a:ln/>
        </p:spPr>
        <p:txBody>
          <a:bodyPr wrap="square" lIns="0" tIns="0" rIns="0" bIns="0" rtlCol="0" anchor="ctr"/>
          <a:lstStyle/>
          <a:p>
            <a:pPr algn="l" indent="0" marL="0">
              <a:buNone/>
            </a:pPr>
            <a:r>
              <a:rPr lang="en-US" sz="1300" b="1" dirty="0">
                <a:solidFill>
                  <a:srgbClr val="2E8B57"/>
                </a:solidFill>
                <a:latin typeface="Calibri" pitchFamily="34" charset="0"/>
                <a:cs typeface="Amiri" pitchFamily="2" charset="-78"/>
              </a:rPr>
              <a:t>☐  I can identify respectful greeting behaviour.</a:t>
            </a:r>
            <a:endParaRPr lang="en-US" sz="1300" dirty="0"/>
          </a:p>
        </p:txBody>
      </p:sp>
      <p:sp>
        <p:nvSpPr>
          <p:cNvPr id="36" name="Shape 33"/>
          <p:cNvSpPr/>
          <p:nvPr/>
        </p:nvSpPr>
        <p:spPr>
          <a:xfrm>
            <a:off x="5349240" y="3273552"/>
            <a:ext cx="6382512" cy="1353312"/>
          </a:xfrm>
          <a:prstGeom prst="roundRect">
            <a:avLst>
              <a:gd name="adj" fmla="val 5405"/>
            </a:avLst>
          </a:prstGeom>
          <a:solidFill>
            <a:srgbClr val="FCF1E0"/>
          </a:solidFill>
          <a:ln w="9525">
            <a:solidFill>
              <a:srgbClr val="C9780A"/>
            </a:solidFill>
            <a:prstDash val="solid"/>
          </a:ln>
        </p:spPr>
      </p:sp>
      <p:sp>
        <p:nvSpPr>
          <p:cNvPr id="37" name="Shape 34"/>
          <p:cNvSpPr/>
          <p:nvPr/>
        </p:nvSpPr>
        <p:spPr>
          <a:xfrm>
            <a:off x="5532120" y="3410712"/>
            <a:ext cx="1143000" cy="292608"/>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5532120" y="341071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DEVELOP</a:t>
            </a:r>
            <a:endParaRPr lang="en-US" sz="950" dirty="0"/>
          </a:p>
        </p:txBody>
      </p:sp>
      <p:sp>
        <p:nvSpPr>
          <p:cNvPr id="39" name="Text 36"/>
          <p:cNvSpPr txBox="1"/>
          <p:nvPr/>
        </p:nvSpPr>
        <p:spPr>
          <a:xfrm>
            <a:off x="6766560" y="3410712"/>
            <a:ext cx="1828800" cy="292608"/>
          </a:xfrm>
          <a:prstGeom prst="rect">
            <a:avLst/>
          </a:prstGeom>
          <a:noFill/>
          <a:ln/>
        </p:spPr>
        <p:txBody>
          <a:bodyPr wrap="square" lIns="0" tIns="0" rIns="0" bIns="0" rtlCol="0" anchor="ctr"/>
          <a:lstStyle/>
          <a:p>
            <a:pPr algn="l" indent="0" marL="0">
              <a:buNone/>
            </a:pPr>
            <a:r>
              <a:rPr lang="en-US" sz="1050" b="1" i="1" dirty="0">
                <a:solidFill>
                  <a:srgbClr val="C9780A"/>
                </a:solidFill>
                <a:latin typeface="Calibri" pitchFamily="34" charset="0"/>
                <a:cs typeface="Amiri" pitchFamily="2" charset="-78"/>
              </a:rPr>
              <a:t>Most of us</a:t>
            </a:r>
            <a:endParaRPr lang="en-US" sz="1050" dirty="0"/>
          </a:p>
        </p:txBody>
      </p:sp>
      <p:sp>
        <p:nvSpPr>
          <p:cNvPr id="40" name="Text 37"/>
          <p:cNvSpPr txBox="1"/>
          <p:nvPr/>
        </p:nvSpPr>
        <p:spPr>
          <a:xfrm>
            <a:off x="5532120" y="374904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explain one similarity and one difference.</a:t>
            </a:r>
            <a:endParaRPr lang="en-US" sz="1300" dirty="0"/>
          </a:p>
        </p:txBody>
      </p:sp>
      <p:sp>
        <p:nvSpPr>
          <p:cNvPr id="41" name="Text 38"/>
          <p:cNvSpPr txBox="1"/>
          <p:nvPr/>
        </p:nvSpPr>
        <p:spPr>
          <a:xfrm>
            <a:off x="5532120" y="4160520"/>
            <a:ext cx="6016752" cy="393192"/>
          </a:xfrm>
          <a:prstGeom prst="rect">
            <a:avLst/>
          </a:prstGeom>
          <a:noFill/>
          <a:ln/>
        </p:spPr>
        <p:txBody>
          <a:bodyPr wrap="square" lIns="0" tIns="0" rIns="0" bIns="0" rtlCol="0" anchor="ctr"/>
          <a:lstStyle/>
          <a:p>
            <a:pPr algn="l" indent="0" marL="0">
              <a:buNone/>
            </a:pPr>
            <a:r>
              <a:rPr lang="en-US" sz="1300" b="1" dirty="0">
                <a:solidFill>
                  <a:srgbClr val="C9780A"/>
                </a:solidFill>
                <a:latin typeface="Calibri" pitchFamily="34" charset="0"/>
                <a:cs typeface="Amiri" pitchFamily="2" charset="-78"/>
              </a:rPr>
              <a:t>☐  I can use “in some families…” carefully.</a:t>
            </a:r>
            <a:endParaRPr lang="en-US" sz="1300" dirty="0"/>
          </a:p>
        </p:txBody>
      </p:sp>
      <p:sp>
        <p:nvSpPr>
          <p:cNvPr id="42" name="Shape 39"/>
          <p:cNvSpPr/>
          <p:nvPr/>
        </p:nvSpPr>
        <p:spPr>
          <a:xfrm>
            <a:off x="5349240" y="4736592"/>
            <a:ext cx="6382512" cy="1353312"/>
          </a:xfrm>
          <a:prstGeom prst="roundRect">
            <a:avLst>
              <a:gd name="adj" fmla="val 5405"/>
            </a:avLst>
          </a:prstGeom>
          <a:solidFill>
            <a:srgbClr val="FBEAEA"/>
          </a:solidFill>
          <a:ln w="9525">
            <a:solidFill>
              <a:srgbClr val="B83227"/>
            </a:solidFill>
            <a:prstDash val="solid"/>
          </a:ln>
        </p:spPr>
      </p:sp>
      <p:sp>
        <p:nvSpPr>
          <p:cNvPr id="43" name="Shape 40"/>
          <p:cNvSpPr/>
          <p:nvPr/>
        </p:nvSpPr>
        <p:spPr>
          <a:xfrm>
            <a:off x="5532120" y="4873752"/>
            <a:ext cx="1143000" cy="292608"/>
          </a:xfrm>
          <a:prstGeom prst="roundRect">
            <a:avLst>
              <a:gd name="adj" fmla="val 50000"/>
            </a:avLst>
          </a:prstGeom>
          <a:solidFill>
            <a:srgbClr val="B83227"/>
          </a:solidFill>
          <a:ln w="12700">
            <a:solidFill>
              <a:srgbClr val="B83227"/>
            </a:solidFill>
            <a:prstDash val="solid"/>
          </a:ln>
        </p:spPr>
      </p:sp>
      <p:sp>
        <p:nvSpPr>
          <p:cNvPr id="44" name="Text 41"/>
          <p:cNvSpPr txBox="1"/>
          <p:nvPr/>
        </p:nvSpPr>
        <p:spPr>
          <a:xfrm>
            <a:off x="5532120" y="4873752"/>
            <a:ext cx="1143000" cy="292608"/>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STRETCH</a:t>
            </a:r>
            <a:endParaRPr lang="en-US" sz="950" dirty="0"/>
          </a:p>
        </p:txBody>
      </p:sp>
      <p:sp>
        <p:nvSpPr>
          <p:cNvPr id="45" name="Text 42"/>
          <p:cNvSpPr txBox="1"/>
          <p:nvPr/>
        </p:nvSpPr>
        <p:spPr>
          <a:xfrm>
            <a:off x="6766560" y="4873752"/>
            <a:ext cx="1828800" cy="292608"/>
          </a:xfrm>
          <a:prstGeom prst="rect">
            <a:avLst/>
          </a:prstGeom>
          <a:noFill/>
          <a:ln/>
        </p:spPr>
        <p:txBody>
          <a:bodyPr wrap="square" lIns="0" tIns="0" rIns="0" bIns="0" rtlCol="0" anchor="ctr"/>
          <a:lstStyle/>
          <a:p>
            <a:pPr algn="l" indent="0" marL="0">
              <a:buNone/>
            </a:pPr>
            <a:r>
              <a:rPr lang="en-US" sz="1050" b="1" i="1" dirty="0">
                <a:solidFill>
                  <a:srgbClr val="B83227"/>
                </a:solidFill>
                <a:latin typeface="Calibri" pitchFamily="34" charset="0"/>
                <a:cs typeface="Amiri" pitchFamily="2" charset="-78"/>
              </a:rPr>
              <a:t>Aim high</a:t>
            </a:r>
            <a:endParaRPr lang="en-US" sz="1050" dirty="0"/>
          </a:p>
        </p:txBody>
      </p:sp>
      <p:sp>
        <p:nvSpPr>
          <p:cNvPr id="46" name="Text 43"/>
          <p:cNvSpPr txBox="1"/>
          <p:nvPr/>
        </p:nvSpPr>
        <p:spPr>
          <a:xfrm>
            <a:off x="5532120" y="521208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describe layered identity.</a:t>
            </a:r>
            <a:endParaRPr lang="en-US" sz="1300" dirty="0"/>
          </a:p>
        </p:txBody>
      </p:sp>
      <p:sp>
        <p:nvSpPr>
          <p:cNvPr id="47" name="Text 44"/>
          <p:cNvSpPr txBox="1"/>
          <p:nvPr/>
        </p:nvSpPr>
        <p:spPr>
          <a:xfrm>
            <a:off x="5532120" y="5623560"/>
            <a:ext cx="6016752" cy="393192"/>
          </a:xfrm>
          <a:prstGeom prst="rect">
            <a:avLst/>
          </a:prstGeom>
          <a:noFill/>
          <a:ln/>
        </p:spPr>
        <p:txBody>
          <a:bodyPr wrap="square" lIns="0" tIns="0" rIns="0" bIns="0" rtlCol="0" anchor="ctr"/>
          <a:lstStyle/>
          <a:p>
            <a:pPr algn="l" indent="0" marL="0">
              <a:buNone/>
            </a:pPr>
            <a:r>
              <a:rPr lang="en-US" sz="1300" b="1" dirty="0">
                <a:solidFill>
                  <a:srgbClr val="B83227"/>
                </a:solidFill>
                <a:latin typeface="Calibri" pitchFamily="34" charset="0"/>
                <a:cs typeface="Amiri" pitchFamily="2" charset="-78"/>
              </a:rPr>
              <a:t>☐  I can challenge an inaccurate generalisation.</a:t>
            </a:r>
            <a:endParaRPr lang="en-US" sz="1300" dirty="0"/>
          </a:p>
        </p:txBody>
      </p:sp>
      <p:sp>
        <p:nvSpPr>
          <p:cNvPr id="48"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6 / 37</a:t>
            </a:r>
            <a:endParaRPr lang="en-US" sz="850" dirty="0"/>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name="Slide 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8412480" y="1005840"/>
            <a:ext cx="4754880" cy="4754880"/>
          </a:xfrm>
          <a:prstGeom prst="ellipse">
            <a:avLst/>
          </a:prstGeom>
          <a:solidFill>
            <a:srgbClr val="22477F"/>
          </a:solidFill>
          <a:ln w="12700">
            <a:solidFill>
              <a:srgbClr val="22477F"/>
            </a:solidFill>
            <a:prstDash val="solid"/>
          </a:ln>
        </p:spPr>
      </p:sp>
      <p:sp>
        <p:nvSpPr>
          <p:cNvPr id="3" name="Shape 1"/>
          <p:cNvSpPr/>
          <p:nvPr/>
        </p:nvSpPr>
        <p:spPr>
          <a:xfrm>
            <a:off x="457200" y="1097280"/>
            <a:ext cx="3108960" cy="365760"/>
          </a:xfrm>
          <a:prstGeom prst="roundRect">
            <a:avLst>
              <a:gd name="adj" fmla="val 50000"/>
            </a:avLst>
          </a:prstGeom>
          <a:solidFill>
            <a:srgbClr val="D4AF37"/>
          </a:solidFill>
          <a:ln w="12700">
            <a:solidFill>
              <a:srgbClr val="D4AF37"/>
            </a:solidFill>
            <a:prstDash val="solid"/>
          </a:ln>
        </p:spPr>
      </p:sp>
      <p:sp>
        <p:nvSpPr>
          <p:cNvPr id="4" name="Text 2"/>
          <p:cNvSpPr txBox="1"/>
          <p:nvPr/>
        </p:nvSpPr>
        <p:spPr>
          <a:xfrm>
            <a:off x="457200" y="1097280"/>
            <a:ext cx="3108960" cy="365760"/>
          </a:xfrm>
          <a:prstGeom prst="rect">
            <a:avLst/>
          </a:prstGeom>
          <a:noFill/>
          <a:ln/>
        </p:spPr>
        <p:txBody>
          <a:bodyPr wrap="square" lIns="0" tIns="0" rIns="0" bIns="0" rtlCol="0" anchor="ctr"/>
          <a:lstStyle/>
          <a:p>
            <a:pPr algn="ctr" indent="0" marL="0">
              <a:buNone/>
            </a:pPr>
            <a:r>
              <a:rPr lang="en-US" sz="1000" b="1" spc="100" kern="0" dirty="0">
                <a:solidFill>
                  <a:srgbClr val="0D1F3C"/>
                </a:solidFill>
                <a:latin typeface="Calibri" pitchFamily="34" charset="0"/>
                <a:cs typeface="Amiri" pitchFamily="2" charset="-78"/>
              </a:rPr>
              <a:t>TEACHER INSTRUCTION · 7 MIN</a:t>
            </a:r>
            <a:endParaRPr lang="en-US" sz="1000" dirty="0"/>
          </a:p>
        </p:txBody>
      </p:sp>
      <p:sp>
        <p:nvSpPr>
          <p:cNvPr id="5" name="Text 3"/>
          <p:cNvSpPr txBox="1"/>
          <p:nvPr/>
        </p:nvSpPr>
        <p:spPr>
          <a:xfrm>
            <a:off x="457200" y="1783080"/>
            <a:ext cx="7863840" cy="822960"/>
          </a:xfrm>
          <a:prstGeom prst="rect">
            <a:avLst/>
          </a:prstGeom>
          <a:noFill/>
          <a:ln/>
        </p:spPr>
        <p:txBody>
          <a:bodyPr wrap="square" lIns="0" tIns="0" rIns="0" bIns="0" rtlCol="0" anchor="ctr"/>
          <a:lstStyle/>
          <a:p>
            <a:pPr algn="l" indent="0" marL="0">
              <a:buNone/>
            </a:pPr>
            <a:r>
              <a:rPr lang="en-US" sz="4000" b="1" dirty="0">
                <a:solidFill>
                  <a:srgbClr val="FFFFFF"/>
                </a:solidFill>
                <a:latin typeface="Cambria" pitchFamily="34" charset="0"/>
                <a:cs typeface="Amiri" pitchFamily="2" charset="-78"/>
              </a:rPr>
              <a:t>Key words for today</a:t>
            </a:r>
            <a:endParaRPr lang="en-US" sz="4000" dirty="0"/>
          </a:p>
        </p:txBody>
      </p:sp>
      <p:sp>
        <p:nvSpPr>
          <p:cNvPr id="6" name="Text 4"/>
          <p:cNvSpPr txBox="1"/>
          <p:nvPr/>
        </p:nvSpPr>
        <p:spPr>
          <a:xfrm>
            <a:off x="457200" y="2606040"/>
            <a:ext cx="7863840" cy="822960"/>
          </a:xfrm>
          <a:prstGeom prst="rect">
            <a:avLst/>
          </a:prstGeom>
          <a:noFill/>
          <a:ln/>
        </p:spPr>
        <p:txBody>
          <a:bodyPr wrap="square" lIns="0" tIns="0" rIns="0" bIns="0" rtlCol="0" anchor="ctr"/>
          <a:lstStyle/>
          <a:p>
            <a:pPr rtl="1" algn="l" indent="0" marL="0">
              <a:buNone/>
            </a:pPr>
            <a:r>
              <a:rPr lang="ar-SA" altLang="en-US" sz="3800" b="1" dirty="0">
                <a:solidFill>
                  <a:srgbClr val="D4AF37"/>
                </a:solidFill>
                <a:latin typeface="Amiri" pitchFamily="2" charset="-78"/>
                <a:ea typeface="Amiri" pitchFamily="2" charset="-78"/>
                <a:cs typeface="Amiri" pitchFamily="2" charset="-78"/>
              </a:rPr>
              <a:t>كَلِمَاتُ الدَّرْسِ</a:t>
            </a:r>
            <a:endParaRPr lang="ar-SA" sz="3800" dirty="0"/>
          </a:p>
        </p:txBody>
      </p:sp>
      <p:sp>
        <p:nvSpPr>
          <p:cNvPr id="7" name="Text 5"/>
          <p:cNvSpPr txBox="1"/>
          <p:nvPr/>
        </p:nvSpPr>
        <p:spPr>
          <a:xfrm>
            <a:off x="457200" y="3566160"/>
            <a:ext cx="7680960" cy="822960"/>
          </a:xfrm>
          <a:prstGeom prst="rect">
            <a:avLst/>
          </a:prstGeom>
          <a:noFill/>
          <a:ln/>
        </p:spPr>
        <p:txBody>
          <a:bodyPr wrap="square" lIns="0" tIns="0" rIns="0" bIns="0" rtlCol="0" anchor="t"/>
          <a:lstStyle/>
          <a:p>
            <a:pPr algn="l" indent="0" marL="0">
              <a:buNone/>
            </a:pPr>
            <a:r>
              <a:rPr lang="en-US" sz="1600" dirty="0">
                <a:solidFill>
                  <a:srgbClr val="C6D2E6"/>
                </a:solidFill>
                <a:latin typeface="Calibri" pitchFamily="34" charset="0"/>
                <a:cs typeface="Amiri" pitchFamily="2" charset="-78"/>
              </a:rPr>
              <a:t>10 core cultural words (website “required core”) plus greeting, hospitality and comparison phrases. Core: the first six words.</a:t>
            </a:r>
            <a:endParaRPr lang="en-US" sz="1600" dirty="0"/>
          </a:p>
        </p:txBody>
      </p:sp>
      <p:sp>
        <p:nvSpPr>
          <p:cNvPr id="8" name="Shape 6"/>
          <p:cNvSpPr/>
          <p:nvPr/>
        </p:nvSpPr>
        <p:spPr>
          <a:xfrm>
            <a:off x="457200" y="4572000"/>
            <a:ext cx="2529840" cy="960120"/>
          </a:xfrm>
          <a:prstGeom prst="roundRect">
            <a:avLst>
              <a:gd name="adj" fmla="val 7619"/>
            </a:avLst>
          </a:prstGeom>
          <a:solidFill>
            <a:srgbClr val="16335F"/>
          </a:solidFill>
          <a:ln w="12700">
            <a:solidFill>
              <a:srgbClr val="2A4B7C"/>
            </a:solidFill>
            <a:prstDash val="solid"/>
          </a:ln>
        </p:spPr>
      </p:sp>
      <p:sp>
        <p:nvSpPr>
          <p:cNvPr id="9" name="Text 7"/>
          <p:cNvSpPr txBox="1"/>
          <p:nvPr/>
        </p:nvSpPr>
        <p:spPr>
          <a:xfrm>
            <a:off x="594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1</a:t>
            </a:r>
            <a:endParaRPr lang="en-US" sz="900" dirty="0"/>
          </a:p>
          <a:p>
            <a:pPr indent="0" marL="0">
              <a:buNone/>
            </a:pPr>
            <a:r>
              <a:rPr lang="en-US" sz="1200" b="1" dirty="0">
                <a:solidFill>
                  <a:srgbClr val="FFFFFF"/>
                </a:solidFill>
                <a:latin typeface="Calibri" pitchFamily="34" charset="0"/>
                <a:cs typeface="Amiri" pitchFamily="2" charset="-78"/>
              </a:rPr>
              <a:t>Core cultural words · 10</a:t>
            </a:r>
            <a:endParaRPr lang="en-US" sz="900" dirty="0"/>
          </a:p>
        </p:txBody>
      </p:sp>
      <p:sp>
        <p:nvSpPr>
          <p:cNvPr id="10" name="Shape 8"/>
          <p:cNvSpPr/>
          <p:nvPr/>
        </p:nvSpPr>
        <p:spPr>
          <a:xfrm>
            <a:off x="3124200" y="4572000"/>
            <a:ext cx="2529840" cy="960120"/>
          </a:xfrm>
          <a:prstGeom prst="roundRect">
            <a:avLst>
              <a:gd name="adj" fmla="val 7619"/>
            </a:avLst>
          </a:prstGeom>
          <a:solidFill>
            <a:srgbClr val="16335F"/>
          </a:solidFill>
          <a:ln w="12700">
            <a:solidFill>
              <a:srgbClr val="2A4B7C"/>
            </a:solidFill>
            <a:prstDash val="solid"/>
          </a:ln>
        </p:spPr>
      </p:sp>
      <p:sp>
        <p:nvSpPr>
          <p:cNvPr id="11" name="Text 9"/>
          <p:cNvSpPr txBox="1"/>
          <p:nvPr/>
        </p:nvSpPr>
        <p:spPr>
          <a:xfrm>
            <a:off x="3261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2</a:t>
            </a:r>
            <a:endParaRPr lang="en-US" sz="900" dirty="0"/>
          </a:p>
          <a:p>
            <a:pPr indent="0" marL="0">
              <a:buNone/>
            </a:pPr>
            <a:r>
              <a:rPr lang="en-US" sz="1200" b="1" dirty="0">
                <a:solidFill>
                  <a:srgbClr val="FFFFFF"/>
                </a:solidFill>
                <a:latin typeface="Calibri" pitchFamily="34" charset="0"/>
                <a:cs typeface="Amiri" pitchFamily="2" charset="-78"/>
              </a:rPr>
              <a:t>Greeting, blessing, hospitality</a:t>
            </a:r>
            <a:endParaRPr lang="en-US" sz="900" dirty="0"/>
          </a:p>
        </p:txBody>
      </p:sp>
      <p:sp>
        <p:nvSpPr>
          <p:cNvPr id="12" name="Shape 10"/>
          <p:cNvSpPr/>
          <p:nvPr/>
        </p:nvSpPr>
        <p:spPr>
          <a:xfrm>
            <a:off x="5791200" y="4572000"/>
            <a:ext cx="2529840" cy="960120"/>
          </a:xfrm>
          <a:prstGeom prst="roundRect">
            <a:avLst>
              <a:gd name="adj" fmla="val 7619"/>
            </a:avLst>
          </a:prstGeom>
          <a:solidFill>
            <a:srgbClr val="16335F"/>
          </a:solidFill>
          <a:ln w="12700">
            <a:solidFill>
              <a:srgbClr val="2A4B7C"/>
            </a:solidFill>
            <a:prstDash val="solid"/>
          </a:ln>
        </p:spPr>
      </p:sp>
      <p:sp>
        <p:nvSpPr>
          <p:cNvPr id="13" name="Text 11"/>
          <p:cNvSpPr txBox="1"/>
          <p:nvPr/>
        </p:nvSpPr>
        <p:spPr>
          <a:xfrm>
            <a:off x="5928360" y="4617720"/>
            <a:ext cx="2255520" cy="868680"/>
          </a:xfrm>
          <a:prstGeom prst="rect">
            <a:avLst/>
          </a:prstGeom>
          <a:noFill/>
          <a:ln/>
        </p:spPr>
        <p:txBody>
          <a:bodyPr wrap="square" lIns="0" tIns="0" rIns="0" bIns="0" rtlCol="0" anchor="ctr"/>
          <a:lstStyle/>
          <a:p>
            <a:pPr indent="0" marL="0">
              <a:buNone/>
            </a:pPr>
            <a:r>
              <a:rPr lang="en-US" sz="900" b="1" spc="200" kern="0" dirty="0">
                <a:solidFill>
                  <a:srgbClr val="D4AF37"/>
                </a:solidFill>
                <a:latin typeface="Calibri" pitchFamily="34" charset="0"/>
                <a:cs typeface="Amiri" pitchFamily="2" charset="-78"/>
              </a:rPr>
              <a:t>GROUP 3</a:t>
            </a:r>
            <a:endParaRPr lang="en-US" sz="900" dirty="0"/>
          </a:p>
          <a:p>
            <a:pPr indent="0" marL="0">
              <a:buNone/>
            </a:pPr>
            <a:r>
              <a:rPr lang="en-US" sz="1200" b="1" dirty="0">
                <a:solidFill>
                  <a:srgbClr val="FFFFFF"/>
                </a:solidFill>
                <a:latin typeface="Calibri" pitchFamily="34" charset="0"/>
                <a:cs typeface="Amiri" pitchFamily="2" charset="-78"/>
              </a:rPr>
              <a:t>Careful comparison · 6</a:t>
            </a:r>
            <a:endParaRPr lang="en-US" sz="900" dirty="0"/>
          </a:p>
        </p:txBody>
      </p:sp>
      <p:sp>
        <p:nvSpPr>
          <p:cNvPr id="14" name="Shape 12"/>
          <p:cNvSpPr/>
          <p:nvPr/>
        </p:nvSpPr>
        <p:spPr>
          <a:xfrm>
            <a:off x="8732520" y="1371600"/>
            <a:ext cx="3017520" cy="3291840"/>
          </a:xfrm>
          <a:prstGeom prst="roundRect">
            <a:avLst>
              <a:gd name="adj" fmla="val 2424"/>
            </a:avLst>
          </a:prstGeom>
          <a:solidFill>
            <a:srgbClr val="EAF6EF"/>
          </a:solidFill>
          <a:ln w="12700">
            <a:solidFill>
              <a:srgbClr val="9CCFB0"/>
            </a:solidFill>
            <a:prstDash val="solid"/>
          </a:ln>
        </p:spPr>
      </p:sp>
      <p:sp>
        <p:nvSpPr>
          <p:cNvPr id="15" name="Text 13"/>
          <p:cNvSpPr txBox="1"/>
          <p:nvPr/>
        </p:nvSpPr>
        <p:spPr>
          <a:xfrm>
            <a:off x="8915400" y="1426464"/>
            <a:ext cx="2651760" cy="310896"/>
          </a:xfrm>
          <a:prstGeom prst="rect">
            <a:avLst/>
          </a:prstGeom>
          <a:noFill/>
          <a:ln/>
        </p:spPr>
        <p:txBody>
          <a:bodyPr wrap="square" lIns="0" tIns="0" rIns="0" bIns="0" rtlCol="0" anchor="ctr"/>
          <a:lstStyle/>
          <a:p>
            <a:pPr algn="l" indent="0" marL="0">
              <a:buNone/>
            </a:pPr>
            <a:r>
              <a:rPr lang="en-US" sz="1000" b="1" spc="200" kern="0" dirty="0">
                <a:solidFill>
                  <a:srgbClr val="2E8B57"/>
                </a:solidFill>
                <a:latin typeface="Calibri" pitchFamily="34" charset="0"/>
                <a:cs typeface="Amiri" pitchFamily="2" charset="-78"/>
              </a:rPr>
              <a:t>BRIDGE FROM URDU</a:t>
            </a:r>
            <a:endParaRPr lang="en-US" sz="1000" dirty="0"/>
          </a:p>
        </p:txBody>
      </p:sp>
      <p:sp>
        <p:nvSpPr>
          <p:cNvPr id="16" name="Text 14"/>
          <p:cNvSpPr txBox="1"/>
          <p:nvPr/>
        </p:nvSpPr>
        <p:spPr>
          <a:xfrm>
            <a:off x="10241280" y="1810512"/>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ثَقَافَةٌ</a:t>
            </a:r>
            <a:endParaRPr lang="ar-SA" sz="1900" dirty="0"/>
          </a:p>
        </p:txBody>
      </p:sp>
      <p:sp>
        <p:nvSpPr>
          <p:cNvPr id="17" name="Text 15"/>
          <p:cNvSpPr txBox="1"/>
          <p:nvPr/>
        </p:nvSpPr>
        <p:spPr>
          <a:xfrm>
            <a:off x="8842248" y="1810512"/>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‎ثقافت‎ </a:t>
            </a:r>
            <a:pPr indent="0" marL="0">
              <a:buNone/>
            </a:pPr>
            <a:r>
              <a:rPr lang="en-US" sz="950" b="1" dirty="0">
                <a:solidFill>
                  <a:srgbClr val="2E8B57"/>
                </a:solidFill>
                <a:latin typeface="Calibri" pitchFamily="34" charset="0"/>
                <a:cs typeface="Amiri" pitchFamily="2" charset="-78"/>
              </a:rPr>
              <a:t> saqāfat · culture</a:t>
            </a:r>
            <a:endParaRPr lang="en-US" sz="1400" dirty="0"/>
          </a:p>
        </p:txBody>
      </p:sp>
      <p:sp>
        <p:nvSpPr>
          <p:cNvPr id="18" name="Text 16"/>
          <p:cNvSpPr txBox="1"/>
          <p:nvPr/>
        </p:nvSpPr>
        <p:spPr>
          <a:xfrm>
            <a:off x="10241280" y="2377440"/>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عَادَةٌ</a:t>
            </a:r>
            <a:endParaRPr lang="ar-SA" sz="1900" dirty="0"/>
          </a:p>
        </p:txBody>
      </p:sp>
      <p:sp>
        <p:nvSpPr>
          <p:cNvPr id="19" name="Text 17"/>
          <p:cNvSpPr txBox="1"/>
          <p:nvPr/>
        </p:nvSpPr>
        <p:spPr>
          <a:xfrm>
            <a:off x="8842248" y="2377440"/>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‎عادت‎ </a:t>
            </a:r>
            <a:pPr indent="0" marL="0">
              <a:buNone/>
            </a:pPr>
            <a:r>
              <a:rPr lang="en-US" sz="950" b="1" dirty="0">
                <a:solidFill>
                  <a:srgbClr val="2E8B57"/>
                </a:solidFill>
                <a:latin typeface="Calibri" pitchFamily="34" charset="0"/>
                <a:cs typeface="Amiri" pitchFamily="2" charset="-78"/>
              </a:rPr>
              <a:t> ādat · habit, custom</a:t>
            </a:r>
            <a:endParaRPr lang="en-US" sz="1400" dirty="0"/>
          </a:p>
        </p:txBody>
      </p:sp>
      <p:sp>
        <p:nvSpPr>
          <p:cNvPr id="20" name="Text 18"/>
          <p:cNvSpPr txBox="1"/>
          <p:nvPr/>
        </p:nvSpPr>
        <p:spPr>
          <a:xfrm>
            <a:off x="10241280" y="2944368"/>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اِحْتِرَامٌ</a:t>
            </a:r>
            <a:endParaRPr lang="ar-SA" sz="1900" dirty="0"/>
          </a:p>
        </p:txBody>
      </p:sp>
      <p:sp>
        <p:nvSpPr>
          <p:cNvPr id="21" name="Text 19"/>
          <p:cNvSpPr txBox="1"/>
          <p:nvPr/>
        </p:nvSpPr>
        <p:spPr>
          <a:xfrm>
            <a:off x="8842248" y="2944368"/>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‎احترام‎ </a:t>
            </a:r>
            <a:pPr indent="0" marL="0">
              <a:buNone/>
            </a:pPr>
            <a:r>
              <a:rPr lang="en-US" sz="950" b="1" dirty="0">
                <a:solidFill>
                  <a:srgbClr val="2E8B57"/>
                </a:solidFill>
                <a:latin typeface="Calibri" pitchFamily="34" charset="0"/>
                <a:cs typeface="Amiri" pitchFamily="2" charset="-78"/>
              </a:rPr>
              <a:t> ehtirām · respect</a:t>
            </a:r>
            <a:endParaRPr lang="en-US" sz="1400" dirty="0"/>
          </a:p>
        </p:txBody>
      </p:sp>
      <p:sp>
        <p:nvSpPr>
          <p:cNvPr id="22" name="Text 20"/>
          <p:cNvSpPr txBox="1"/>
          <p:nvPr/>
        </p:nvSpPr>
        <p:spPr>
          <a:xfrm>
            <a:off x="10241280" y="3511296"/>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ضِيَافَةٌ</a:t>
            </a:r>
            <a:endParaRPr lang="ar-SA" sz="1900" dirty="0"/>
          </a:p>
        </p:txBody>
      </p:sp>
      <p:sp>
        <p:nvSpPr>
          <p:cNvPr id="23" name="Text 21"/>
          <p:cNvSpPr txBox="1"/>
          <p:nvPr/>
        </p:nvSpPr>
        <p:spPr>
          <a:xfrm>
            <a:off x="8842248" y="3511296"/>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‎ضیافت‎ </a:t>
            </a:r>
            <a:pPr indent="0" marL="0">
              <a:buNone/>
            </a:pPr>
            <a:r>
              <a:rPr lang="en-US" sz="950" b="1" dirty="0">
                <a:solidFill>
                  <a:srgbClr val="2E8B57"/>
                </a:solidFill>
                <a:latin typeface="Calibri" pitchFamily="34" charset="0"/>
                <a:cs typeface="Amiri" pitchFamily="2" charset="-78"/>
              </a:rPr>
              <a:t> ziyāfat · hospitality, feast</a:t>
            </a:r>
            <a:endParaRPr lang="en-US" sz="1400" dirty="0"/>
          </a:p>
        </p:txBody>
      </p:sp>
      <p:sp>
        <p:nvSpPr>
          <p:cNvPr id="24" name="Text 22"/>
          <p:cNvSpPr txBox="1"/>
          <p:nvPr/>
        </p:nvSpPr>
        <p:spPr>
          <a:xfrm>
            <a:off x="10241280" y="4078224"/>
            <a:ext cx="1417320" cy="475488"/>
          </a:xfrm>
          <a:prstGeom prst="rect">
            <a:avLst/>
          </a:prstGeom>
          <a:noFill/>
          <a:ln/>
        </p:spPr>
        <p:txBody>
          <a:bodyPr wrap="square" lIns="0" tIns="0" rIns="0" bIns="0" rtlCol="0" anchor="ctr"/>
          <a:lstStyle/>
          <a:p>
            <a:pPr rtl="1" algn="r" indent="0" marL="0">
              <a:buNone/>
            </a:pPr>
            <a:r>
              <a:rPr lang="ar-SA" altLang="en-US" sz="1900" b="1" dirty="0">
                <a:solidFill>
                  <a:srgbClr val="1B3B6F"/>
                </a:solidFill>
                <a:latin typeface="Amiri" pitchFamily="2" charset="-78"/>
                <a:ea typeface="Amiri" pitchFamily="2" charset="-78"/>
                <a:cs typeface="Amiri" pitchFamily="2" charset="-78"/>
              </a:rPr>
              <a:t>فَخُورٌ</a:t>
            </a:r>
            <a:endParaRPr lang="ar-SA" sz="1900" dirty="0"/>
          </a:p>
        </p:txBody>
      </p:sp>
      <p:sp>
        <p:nvSpPr>
          <p:cNvPr id="25" name="Text 23"/>
          <p:cNvSpPr txBox="1"/>
          <p:nvPr/>
        </p:nvSpPr>
        <p:spPr>
          <a:xfrm>
            <a:off x="8842248" y="4078224"/>
            <a:ext cx="1463040" cy="475488"/>
          </a:xfrm>
          <a:prstGeom prst="rect">
            <a:avLst/>
          </a:prstGeom>
          <a:noFill/>
          <a:ln/>
        </p:spPr>
        <p:txBody>
          <a:bodyPr wrap="square" lIns="0" tIns="0" rIns="0" bIns="0" rtlCol="0" anchor="ctr"/>
          <a:lstStyle/>
          <a:p>
            <a:pPr indent="0" marL="0">
              <a:buNone/>
            </a:pPr>
            <a:r>
              <a:rPr lang="ar-SA" altLang="en-US" sz="1400" b="1" dirty="0">
                <a:solidFill>
                  <a:srgbClr val="2E8B57"/>
                </a:solidFill>
                <a:latin typeface="Amiri" pitchFamily="2" charset="-78"/>
                <a:ea typeface="Amiri" pitchFamily="2" charset="-78"/>
                <a:cs typeface="Amiri" pitchFamily="2" charset="-78"/>
              </a:rPr>
              <a:t>‎فخر‎ </a:t>
            </a:r>
            <a:pPr indent="0" marL="0">
              <a:buNone/>
            </a:pPr>
            <a:r>
              <a:rPr lang="en-US" sz="950" b="1" dirty="0">
                <a:solidFill>
                  <a:srgbClr val="2E8B57"/>
                </a:solidFill>
                <a:latin typeface="Calibri" pitchFamily="34" charset="0"/>
                <a:cs typeface="Amiri" pitchFamily="2" charset="-78"/>
              </a:rPr>
              <a:t> fakhr · pride (→ proud)</a:t>
            </a:r>
            <a:endParaRPr lang="en-US" sz="140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7 / 37</a:t>
            </a:r>
            <a:endParaRPr lang="en-US" sz="850" dirty="0"/>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name="Slide 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TB-L01 · Identity and Profiles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KEY WORDS · GROUP 1 · CORE CULTURAL WORDS 1–6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Culture, customs and respect</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مُفْرَدَاتُ الثَّقَافَةِ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a:t>
            </a:r>
            <a:endParaRPr lang="en-US" sz="1000" dirty="0"/>
          </a:p>
        </p:txBody>
      </p:sp>
      <p:sp>
        <p:nvSpPr>
          <p:cNvPr id="18" name="Shape 15"/>
          <p:cNvSpPr/>
          <p:nvPr/>
        </p:nvSpPr>
        <p:spPr>
          <a:xfrm>
            <a:off x="8604504" y="1938528"/>
            <a:ext cx="1020470"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1020470"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my · sg · pl</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ثَقَافَةٌ</a:t>
            </a:r>
            <a:endParaRPr lang="ar-SA" sz="3000" dirty="0"/>
          </a:p>
        </p:txBody>
      </p:sp>
      <p:sp>
        <p:nvSpPr>
          <p:cNvPr id="23" name="Text 20"/>
          <p:cNvSpPr txBox="1"/>
          <p:nvPr/>
        </p:nvSpPr>
        <p:spPr>
          <a:xfrm>
            <a:off x="8238744"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culture</a:t>
            </a:r>
            <a:endParaRPr lang="en-US" sz="1350" dirty="0"/>
          </a:p>
          <a:p>
            <a:pPr indent="0" marL="0">
              <a:buNone/>
            </a:pPr>
            <a:r>
              <a:rPr lang="en-US" sz="1100" i="1" dirty="0">
                <a:solidFill>
                  <a:srgbClr val="5A6472"/>
                </a:solidFill>
                <a:latin typeface="Calibri" pitchFamily="34" charset="0"/>
                <a:cs typeface="Amiri" pitchFamily="2" charset="-78"/>
              </a:rPr>
              <a:t>tha-qā-fa · -āt</a:t>
            </a:r>
            <a:endParaRPr lang="en-US" sz="1350" dirty="0"/>
          </a:p>
        </p:txBody>
      </p:sp>
      <p:sp>
        <p:nvSpPr>
          <p:cNvPr id="24" name="Shape 21"/>
          <p:cNvSpPr/>
          <p:nvPr/>
        </p:nvSpPr>
        <p:spPr>
          <a:xfrm>
            <a:off x="10543032" y="3438144"/>
            <a:ext cx="1060704" cy="438912"/>
          </a:xfrm>
          <a:prstGeom prst="roundRect">
            <a:avLst>
              <a:gd name="adj" fmla="val 10417"/>
            </a:avLst>
          </a:prstGeom>
          <a:solidFill>
            <a:srgbClr val="F4F1EA"/>
          </a:solidFill>
          <a:ln w="9525">
            <a:solidFill>
              <a:srgbClr val="F4F1EA"/>
            </a:solidFill>
            <a:prstDash val="solid"/>
          </a:ln>
        </p:spPr>
      </p:sp>
      <p:sp>
        <p:nvSpPr>
          <p:cNvPr id="25" name="Text 22"/>
          <p:cNvSpPr txBox="1"/>
          <p:nvPr/>
        </p:nvSpPr>
        <p:spPr>
          <a:xfrm>
            <a:off x="10597896"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my</a:t>
            </a:r>
            <a:endParaRPr lang="en-US" sz="750" dirty="0"/>
          </a:p>
        </p:txBody>
      </p:sp>
      <p:sp>
        <p:nvSpPr>
          <p:cNvPr id="26" name="Text 23"/>
          <p:cNvSpPr txBox="1"/>
          <p:nvPr/>
        </p:nvSpPr>
        <p:spPr>
          <a:xfrm>
            <a:off x="10588752"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ثَقَافَتِي</a:t>
            </a:r>
            <a:endParaRPr lang="ar-SA" sz="1500" dirty="0"/>
          </a:p>
        </p:txBody>
      </p:sp>
      <p:sp>
        <p:nvSpPr>
          <p:cNvPr id="27" name="Shape 24"/>
          <p:cNvSpPr/>
          <p:nvPr/>
        </p:nvSpPr>
        <p:spPr>
          <a:xfrm>
            <a:off x="9390888" y="3438144"/>
            <a:ext cx="1060704" cy="438912"/>
          </a:xfrm>
          <a:prstGeom prst="roundRect">
            <a:avLst>
              <a:gd name="adj" fmla="val 10417"/>
            </a:avLst>
          </a:prstGeom>
          <a:solidFill>
            <a:srgbClr val="F4F1EA"/>
          </a:solidFill>
          <a:ln w="9525">
            <a:solidFill>
              <a:srgbClr val="F4F1EA"/>
            </a:solidFill>
            <a:prstDash val="solid"/>
          </a:ln>
        </p:spPr>
      </p:sp>
      <p:sp>
        <p:nvSpPr>
          <p:cNvPr id="28" name="Text 25"/>
          <p:cNvSpPr txBox="1"/>
          <p:nvPr/>
        </p:nvSpPr>
        <p:spPr>
          <a:xfrm>
            <a:off x="944575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29" name="Text 26"/>
          <p:cNvSpPr txBox="1"/>
          <p:nvPr/>
        </p:nvSpPr>
        <p:spPr>
          <a:xfrm>
            <a:off x="943660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ثَقَافَةٌ</a:t>
            </a:r>
            <a:endParaRPr lang="ar-SA" sz="1500" dirty="0"/>
          </a:p>
        </p:txBody>
      </p:sp>
      <p:sp>
        <p:nvSpPr>
          <p:cNvPr id="30" name="Shape 27"/>
          <p:cNvSpPr/>
          <p:nvPr/>
        </p:nvSpPr>
        <p:spPr>
          <a:xfrm>
            <a:off x="8238744" y="3438144"/>
            <a:ext cx="1060704" cy="438912"/>
          </a:xfrm>
          <a:prstGeom prst="roundRect">
            <a:avLst>
              <a:gd name="adj" fmla="val 10417"/>
            </a:avLst>
          </a:prstGeom>
          <a:solidFill>
            <a:srgbClr val="F4F1EA"/>
          </a:solidFill>
          <a:ln w="9525">
            <a:solidFill>
              <a:srgbClr val="F4F1EA"/>
            </a:solidFill>
            <a:prstDash val="solid"/>
          </a:ln>
        </p:spPr>
      </p:sp>
      <p:sp>
        <p:nvSpPr>
          <p:cNvPr id="31" name="Text 28"/>
          <p:cNvSpPr txBox="1"/>
          <p:nvPr/>
        </p:nvSpPr>
        <p:spPr>
          <a:xfrm>
            <a:off x="829360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32" name="Text 29"/>
          <p:cNvSpPr txBox="1"/>
          <p:nvPr/>
        </p:nvSpPr>
        <p:spPr>
          <a:xfrm>
            <a:off x="828446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ثَقَافَاتٌ</a:t>
            </a:r>
            <a:endParaRPr lang="ar-SA" sz="1500" dirty="0"/>
          </a:p>
        </p:txBody>
      </p:sp>
      <p:sp>
        <p:nvSpPr>
          <p:cNvPr id="33" name="Shape 30"/>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4389120"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2</a:t>
            </a:r>
            <a:endParaRPr lang="en-US" sz="1000" dirty="0"/>
          </a:p>
        </p:txBody>
      </p:sp>
      <p:sp>
        <p:nvSpPr>
          <p:cNvPr id="36" name="Shape 33"/>
          <p:cNvSpPr/>
          <p:nvPr/>
        </p:nvSpPr>
        <p:spPr>
          <a:xfrm>
            <a:off x="4782312" y="1938528"/>
            <a:ext cx="833933"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4782312"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pl. · sg.</a:t>
            </a:r>
            <a:endParaRPr lang="en-US" sz="800" dirty="0"/>
          </a:p>
        </p:txBody>
      </p:sp>
      <p:sp>
        <p:nvSpPr>
          <p:cNvPr id="38" name="Shape 35"/>
          <p:cNvSpPr/>
          <p:nvPr/>
        </p:nvSpPr>
        <p:spPr>
          <a:xfrm>
            <a:off x="7050024"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7050024"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4389120"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عَادَاتٌ</a:t>
            </a:r>
            <a:endParaRPr lang="ar-SA" sz="3000" dirty="0"/>
          </a:p>
        </p:txBody>
      </p:sp>
      <p:sp>
        <p:nvSpPr>
          <p:cNvPr id="41" name="Text 38"/>
          <p:cNvSpPr txBox="1"/>
          <p:nvPr/>
        </p:nvSpPr>
        <p:spPr>
          <a:xfrm>
            <a:off x="4416552"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customs, habits</a:t>
            </a:r>
            <a:endParaRPr lang="en-US" sz="1350" dirty="0"/>
          </a:p>
          <a:p>
            <a:pPr indent="0" marL="0">
              <a:buNone/>
            </a:pPr>
            <a:r>
              <a:rPr lang="en-US" sz="1100" i="1" dirty="0">
                <a:solidFill>
                  <a:srgbClr val="5A6472"/>
                </a:solidFill>
                <a:latin typeface="Calibri" pitchFamily="34" charset="0"/>
                <a:cs typeface="Amiri" pitchFamily="2" charset="-78"/>
              </a:rPr>
              <a:t>ʿā-dāt · sg. ʿā-da</a:t>
            </a:r>
            <a:endParaRPr lang="en-US" sz="1350" dirty="0"/>
          </a:p>
        </p:txBody>
      </p:sp>
      <p:sp>
        <p:nvSpPr>
          <p:cNvPr id="42" name="Shape 39"/>
          <p:cNvSpPr/>
          <p:nvPr/>
        </p:nvSpPr>
        <p:spPr>
          <a:xfrm>
            <a:off x="6144768" y="3438144"/>
            <a:ext cx="1636776"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6199632"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one</a:t>
            </a:r>
            <a:endParaRPr lang="en-US" sz="750" dirty="0"/>
          </a:p>
        </p:txBody>
      </p:sp>
      <p:sp>
        <p:nvSpPr>
          <p:cNvPr id="44" name="Text 41"/>
          <p:cNvSpPr txBox="1"/>
          <p:nvPr/>
        </p:nvSpPr>
        <p:spPr>
          <a:xfrm>
            <a:off x="6190488"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عَادَةٌ</a:t>
            </a:r>
            <a:endParaRPr lang="ar-SA" sz="1500" dirty="0"/>
          </a:p>
        </p:txBody>
      </p:sp>
      <p:sp>
        <p:nvSpPr>
          <p:cNvPr id="45" name="Shape 42"/>
          <p:cNvSpPr/>
          <p:nvPr/>
        </p:nvSpPr>
        <p:spPr>
          <a:xfrm>
            <a:off x="4416552" y="3438144"/>
            <a:ext cx="1636776"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4471416" y="3447288"/>
            <a:ext cx="1527048"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47" name="Text 44"/>
          <p:cNvSpPr txBox="1"/>
          <p:nvPr/>
        </p:nvSpPr>
        <p:spPr>
          <a:xfrm>
            <a:off x="4462272" y="3483864"/>
            <a:ext cx="1545336"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عَادَاتٌ</a:t>
            </a:r>
            <a:endParaRPr lang="ar-SA" sz="1500" dirty="0"/>
          </a:p>
        </p:txBody>
      </p:sp>
      <p:sp>
        <p:nvSpPr>
          <p:cNvPr id="48" name="Shape 45"/>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9" name="Shape 46"/>
          <p:cNvSpPr/>
          <p:nvPr/>
        </p:nvSpPr>
        <p:spPr>
          <a:xfrm>
            <a:off x="566928" y="1920240"/>
            <a:ext cx="310896" cy="310896"/>
          </a:xfrm>
          <a:prstGeom prst="ellipse">
            <a:avLst/>
          </a:prstGeom>
          <a:solidFill>
            <a:srgbClr val="F4F1EA"/>
          </a:solidFill>
          <a:ln w="12700">
            <a:solidFill>
              <a:srgbClr val="F4F1EA"/>
            </a:solidFill>
            <a:prstDash val="solid"/>
          </a:ln>
        </p:spPr>
      </p:sp>
      <p:sp>
        <p:nvSpPr>
          <p:cNvPr id="50" name="Text 47"/>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3</a:t>
            </a:r>
            <a:endParaRPr lang="en-US" sz="1000" dirty="0"/>
          </a:p>
        </p:txBody>
      </p:sp>
      <p:sp>
        <p:nvSpPr>
          <p:cNvPr id="51" name="Shape 48"/>
          <p:cNvSpPr/>
          <p:nvPr/>
        </p:nvSpPr>
        <p:spPr>
          <a:xfrm>
            <a:off x="960120" y="1938528"/>
            <a:ext cx="704088" cy="256032"/>
          </a:xfrm>
          <a:prstGeom prst="roundRect">
            <a:avLst>
              <a:gd name="adj" fmla="val 50000"/>
            </a:avLst>
          </a:prstGeom>
          <a:solidFill>
            <a:srgbClr val="EFE7D2"/>
          </a:solidFill>
          <a:ln w="12700">
            <a:solidFill>
              <a:srgbClr val="EFE7D2"/>
            </a:solidFill>
            <a:prstDash val="solid"/>
          </a:ln>
        </p:spPr>
      </p:sp>
      <p:sp>
        <p:nvSpPr>
          <p:cNvPr id="52" name="Text 49"/>
          <p:cNvSpPr txBox="1"/>
          <p:nvPr/>
        </p:nvSpPr>
        <p:spPr>
          <a:xfrm>
            <a:off x="960120" y="1938528"/>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plural</a:t>
            </a:r>
            <a:endParaRPr lang="en-US" sz="800" dirty="0"/>
          </a:p>
        </p:txBody>
      </p:sp>
      <p:sp>
        <p:nvSpPr>
          <p:cNvPr id="53" name="Shape 50"/>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54" name="Text 51"/>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5" name="Text 52"/>
          <p:cNvSpPr txBox="1"/>
          <p:nvPr/>
        </p:nvSpPr>
        <p:spPr>
          <a:xfrm>
            <a:off x="566928"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تَقَالِيدُ</a:t>
            </a:r>
            <a:endParaRPr lang="ar-SA" sz="3000" dirty="0"/>
          </a:p>
        </p:txBody>
      </p:sp>
      <p:sp>
        <p:nvSpPr>
          <p:cNvPr id="56" name="Text 53"/>
          <p:cNvSpPr txBox="1"/>
          <p:nvPr/>
        </p:nvSpPr>
        <p:spPr>
          <a:xfrm>
            <a:off x="594360"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traditions</a:t>
            </a:r>
            <a:endParaRPr lang="en-US" sz="1350" dirty="0"/>
          </a:p>
          <a:p>
            <a:pPr indent="0" marL="0">
              <a:buNone/>
            </a:pPr>
            <a:r>
              <a:rPr lang="en-US" sz="1100" i="1" dirty="0">
                <a:solidFill>
                  <a:srgbClr val="5A6472"/>
                </a:solidFill>
                <a:latin typeface="Calibri" pitchFamily="34" charset="0"/>
                <a:cs typeface="Amiri" pitchFamily="2" charset="-78"/>
              </a:rPr>
              <a:t>ta-qā-līd</a:t>
            </a:r>
            <a:endParaRPr lang="en-US" sz="1350" dirty="0"/>
          </a:p>
        </p:txBody>
      </p:sp>
      <p:sp>
        <p:nvSpPr>
          <p:cNvPr id="57" name="Text 54"/>
          <p:cNvSpPr txBox="1"/>
          <p:nvPr/>
        </p:nvSpPr>
        <p:spPr>
          <a:xfrm>
            <a:off x="594360" y="3621024"/>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لِعَائِلَتِي تَقَالِيدُ جَمِيلَةٌ.</a:t>
            </a:r>
            <a:endParaRPr lang="ar-SA" sz="1300" dirty="0"/>
          </a:p>
        </p:txBody>
      </p:sp>
      <p:sp>
        <p:nvSpPr>
          <p:cNvPr id="58" name="Shape 55"/>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9" name="Shape 56"/>
          <p:cNvSpPr/>
          <p:nvPr/>
        </p:nvSpPr>
        <p:spPr>
          <a:xfrm>
            <a:off x="8211312" y="4261104"/>
            <a:ext cx="310896" cy="310896"/>
          </a:xfrm>
          <a:prstGeom prst="ellipse">
            <a:avLst/>
          </a:prstGeom>
          <a:solidFill>
            <a:srgbClr val="F4F1EA"/>
          </a:solidFill>
          <a:ln w="12700">
            <a:solidFill>
              <a:srgbClr val="F4F1EA"/>
            </a:solidFill>
            <a:prstDash val="solid"/>
          </a:ln>
        </p:spPr>
      </p:sp>
      <p:sp>
        <p:nvSpPr>
          <p:cNvPr id="60" name="Text 57"/>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4</a:t>
            </a:r>
            <a:endParaRPr lang="en-US" sz="1000" dirty="0"/>
          </a:p>
        </p:txBody>
      </p:sp>
      <p:sp>
        <p:nvSpPr>
          <p:cNvPr id="61" name="Shape 58"/>
          <p:cNvSpPr/>
          <p:nvPr/>
        </p:nvSpPr>
        <p:spPr>
          <a:xfrm>
            <a:off x="8604504" y="4279392"/>
            <a:ext cx="704088" cy="256032"/>
          </a:xfrm>
          <a:prstGeom prst="roundRect">
            <a:avLst>
              <a:gd name="adj" fmla="val 50000"/>
            </a:avLst>
          </a:prstGeom>
          <a:solidFill>
            <a:srgbClr val="EFE7D2"/>
          </a:solidFill>
          <a:ln w="12700">
            <a:solidFill>
              <a:srgbClr val="EFE7D2"/>
            </a:solidFill>
            <a:prstDash val="solid"/>
          </a:ln>
        </p:spPr>
      </p:sp>
      <p:sp>
        <p:nvSpPr>
          <p:cNvPr id="62" name="Text 59"/>
          <p:cNvSpPr txBox="1"/>
          <p:nvPr/>
        </p:nvSpPr>
        <p:spPr>
          <a:xfrm>
            <a:off x="8604504"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a:t>
            </a:r>
            <a:endParaRPr lang="en-US" sz="800" dirty="0"/>
          </a:p>
        </p:txBody>
      </p:sp>
      <p:sp>
        <p:nvSpPr>
          <p:cNvPr id="63" name="Shape 60"/>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64" name="Text 61"/>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65" name="Text 62"/>
          <p:cNvSpPr txBox="1"/>
          <p:nvPr/>
        </p:nvSpPr>
        <p:spPr>
          <a:xfrm>
            <a:off x="8211312"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اِحْتِرَامٌ</a:t>
            </a:r>
            <a:endParaRPr lang="ar-SA" sz="3000" dirty="0"/>
          </a:p>
        </p:txBody>
      </p:sp>
      <p:sp>
        <p:nvSpPr>
          <p:cNvPr id="66" name="Text 63"/>
          <p:cNvSpPr txBox="1"/>
          <p:nvPr/>
        </p:nvSpPr>
        <p:spPr>
          <a:xfrm>
            <a:off x="8238744"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respect</a:t>
            </a:r>
            <a:endParaRPr lang="en-US" sz="1350" dirty="0"/>
          </a:p>
          <a:p>
            <a:pPr indent="0" marL="0">
              <a:buNone/>
            </a:pPr>
            <a:r>
              <a:rPr lang="en-US" sz="1100" i="1" dirty="0">
                <a:solidFill>
                  <a:srgbClr val="5A6472"/>
                </a:solidFill>
                <a:latin typeface="Calibri" pitchFamily="34" charset="0"/>
                <a:cs typeface="Amiri" pitchFamily="2" charset="-78"/>
              </a:rPr>
              <a:t>iḥ-ti-rām</a:t>
            </a:r>
            <a:endParaRPr lang="en-US" sz="1350" dirty="0"/>
          </a:p>
        </p:txBody>
      </p:sp>
      <p:sp>
        <p:nvSpPr>
          <p:cNvPr id="67" name="Text 64"/>
          <p:cNvSpPr txBox="1"/>
          <p:nvPr/>
        </p:nvSpPr>
        <p:spPr>
          <a:xfrm>
            <a:off x="8238744" y="5961888"/>
            <a:ext cx="3364992" cy="292608"/>
          </a:xfrm>
          <a:prstGeom prst="rect">
            <a:avLst/>
          </a:prstGeom>
          <a:noFill/>
          <a:ln/>
        </p:spPr>
        <p:txBody>
          <a:bodyPr wrap="square" lIns="0" tIns="0" rIns="0" bIns="0" rtlCol="0" anchor="ctr"/>
          <a:lstStyle/>
          <a:p>
            <a:pPr rtl="1" algn="r" indent="0" marL="0">
              <a:buNone/>
            </a:pPr>
            <a:r>
              <a:rPr lang="ar-SA" altLang="en-US" sz="1300" dirty="0">
                <a:solidFill>
                  <a:srgbClr val="8A6D1E"/>
                </a:solidFill>
                <a:latin typeface="Amiri" pitchFamily="2" charset="-78"/>
                <a:ea typeface="Amiri" pitchFamily="2" charset="-78"/>
                <a:cs typeface="Amiri" pitchFamily="2" charset="-78"/>
              </a:rPr>
              <a:t>التَّحِيَّةُ تُظْهِرُ الاِحْتِرَامَ.</a:t>
            </a:r>
            <a:endParaRPr lang="ar-SA" sz="1300" dirty="0"/>
          </a:p>
        </p:txBody>
      </p:sp>
      <p:sp>
        <p:nvSpPr>
          <p:cNvPr id="68" name="Shape 65"/>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9" name="Shape 66"/>
          <p:cNvSpPr/>
          <p:nvPr/>
        </p:nvSpPr>
        <p:spPr>
          <a:xfrm>
            <a:off x="4389120" y="4261104"/>
            <a:ext cx="310896" cy="310896"/>
          </a:xfrm>
          <a:prstGeom prst="ellipse">
            <a:avLst/>
          </a:prstGeom>
          <a:solidFill>
            <a:srgbClr val="F4F1EA"/>
          </a:solidFill>
          <a:ln w="12700">
            <a:solidFill>
              <a:srgbClr val="F4F1EA"/>
            </a:solidFill>
            <a:prstDash val="solid"/>
          </a:ln>
        </p:spPr>
      </p:sp>
      <p:sp>
        <p:nvSpPr>
          <p:cNvPr id="70" name="Text 67"/>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5</a:t>
            </a:r>
            <a:endParaRPr lang="en-US" sz="1000" dirty="0"/>
          </a:p>
        </p:txBody>
      </p:sp>
      <p:sp>
        <p:nvSpPr>
          <p:cNvPr id="71" name="Shape 68"/>
          <p:cNvSpPr/>
          <p:nvPr/>
        </p:nvSpPr>
        <p:spPr>
          <a:xfrm>
            <a:off x="4782312" y="4279392"/>
            <a:ext cx="833933" cy="256032"/>
          </a:xfrm>
          <a:prstGeom prst="roundRect">
            <a:avLst>
              <a:gd name="adj" fmla="val 50000"/>
            </a:avLst>
          </a:prstGeom>
          <a:solidFill>
            <a:srgbClr val="EFE7D2"/>
          </a:solidFill>
          <a:ln w="12700">
            <a:solidFill>
              <a:srgbClr val="EFE7D2"/>
            </a:solidFill>
            <a:prstDash val="solid"/>
          </a:ln>
        </p:spPr>
      </p:sp>
      <p:sp>
        <p:nvSpPr>
          <p:cNvPr id="72" name="Text 69"/>
          <p:cNvSpPr txBox="1"/>
          <p:nvPr/>
        </p:nvSpPr>
        <p:spPr>
          <a:xfrm>
            <a:off x="4782312" y="4279392"/>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f.</a:t>
            </a:r>
            <a:endParaRPr lang="en-US" sz="800" dirty="0"/>
          </a:p>
        </p:txBody>
      </p:sp>
      <p:sp>
        <p:nvSpPr>
          <p:cNvPr id="73" name="Shape 70"/>
          <p:cNvSpPr/>
          <p:nvPr/>
        </p:nvSpPr>
        <p:spPr>
          <a:xfrm>
            <a:off x="7050024" y="4279392"/>
            <a:ext cx="731520" cy="256032"/>
          </a:xfrm>
          <a:prstGeom prst="roundRect">
            <a:avLst>
              <a:gd name="adj" fmla="val 50000"/>
            </a:avLst>
          </a:prstGeom>
          <a:solidFill>
            <a:srgbClr val="2E8B57"/>
          </a:solidFill>
          <a:ln w="12700">
            <a:solidFill>
              <a:srgbClr val="2E8B57"/>
            </a:solidFill>
            <a:prstDash val="solid"/>
          </a:ln>
        </p:spPr>
      </p:sp>
      <p:sp>
        <p:nvSpPr>
          <p:cNvPr id="74" name="Text 71"/>
          <p:cNvSpPr txBox="1"/>
          <p:nvPr/>
        </p:nvSpPr>
        <p:spPr>
          <a:xfrm>
            <a:off x="7050024"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75" name="Text 72"/>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ضِيَافَةٌ</a:t>
            </a:r>
            <a:endParaRPr lang="ar-SA" sz="3000" dirty="0"/>
          </a:p>
        </p:txBody>
      </p:sp>
      <p:sp>
        <p:nvSpPr>
          <p:cNvPr id="76" name="Text 73"/>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hospitality</a:t>
            </a:r>
            <a:endParaRPr lang="en-US" sz="1350" dirty="0"/>
          </a:p>
          <a:p>
            <a:pPr indent="0" marL="0">
              <a:buNone/>
            </a:pPr>
            <a:r>
              <a:rPr lang="en-US" sz="1100" i="1" dirty="0">
                <a:solidFill>
                  <a:srgbClr val="5A6472"/>
                </a:solidFill>
                <a:latin typeface="Calibri" pitchFamily="34" charset="0"/>
                <a:cs typeface="Amiri" pitchFamily="2" charset="-78"/>
              </a:rPr>
              <a:t>ḍi-yā-fa</a:t>
            </a:r>
            <a:endParaRPr lang="en-US" sz="1350" dirty="0"/>
          </a:p>
        </p:txBody>
      </p:sp>
      <p:sp>
        <p:nvSpPr>
          <p:cNvPr id="77" name="Text 74"/>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Guest: </a:t>
            </a:r>
            <a:pPr algn="l" indent="0" marL="0">
              <a:buNone/>
            </a:pPr>
            <a:r>
              <a:rPr lang="ar-SA" altLang="en-US" sz="1300" dirty="0">
                <a:solidFill>
                  <a:srgbClr val="8A6D1E"/>
                </a:solidFill>
                <a:latin typeface="Amiri" pitchFamily="2" charset="-78"/>
                <a:ea typeface="Amiri" pitchFamily="2" charset="-78"/>
                <a:cs typeface="Amiri" pitchFamily="2" charset="-78"/>
              </a:rPr>
              <a:t>ضَيْفٌ / ضَيْفَةٌ / ضُيُوفٌ</a:t>
            </a:r>
            <a:endParaRPr lang="en-US" sz="1000" dirty="0"/>
          </a:p>
        </p:txBody>
      </p:sp>
      <p:sp>
        <p:nvSpPr>
          <p:cNvPr id="78" name="Shape 75"/>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9" name="Shape 76"/>
          <p:cNvSpPr/>
          <p:nvPr/>
        </p:nvSpPr>
        <p:spPr>
          <a:xfrm>
            <a:off x="566928" y="4261104"/>
            <a:ext cx="310896" cy="310896"/>
          </a:xfrm>
          <a:prstGeom prst="ellipse">
            <a:avLst/>
          </a:prstGeom>
          <a:solidFill>
            <a:srgbClr val="F4F1EA"/>
          </a:solidFill>
          <a:ln w="12700">
            <a:solidFill>
              <a:srgbClr val="F4F1EA"/>
            </a:solidFill>
            <a:prstDash val="solid"/>
          </a:ln>
        </p:spPr>
      </p:sp>
      <p:sp>
        <p:nvSpPr>
          <p:cNvPr id="80" name="Text 77"/>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6</a:t>
            </a:r>
            <a:endParaRPr lang="en-US" sz="1000" dirty="0"/>
          </a:p>
        </p:txBody>
      </p:sp>
      <p:sp>
        <p:nvSpPr>
          <p:cNvPr id="81" name="Shape 78"/>
          <p:cNvSpPr/>
          <p:nvPr/>
        </p:nvSpPr>
        <p:spPr>
          <a:xfrm>
            <a:off x="960120" y="4279392"/>
            <a:ext cx="1144829" cy="256032"/>
          </a:xfrm>
          <a:prstGeom prst="roundRect">
            <a:avLst>
              <a:gd name="adj" fmla="val 50000"/>
            </a:avLst>
          </a:prstGeom>
          <a:solidFill>
            <a:srgbClr val="EFE7D2"/>
          </a:solidFill>
          <a:ln w="12700">
            <a:solidFill>
              <a:srgbClr val="EFE7D2"/>
            </a:solidFill>
            <a:prstDash val="solid"/>
          </a:ln>
        </p:spPr>
      </p:sp>
      <p:sp>
        <p:nvSpPr>
          <p:cNvPr id="82" name="Text 79"/>
          <p:cNvSpPr txBox="1"/>
          <p:nvPr/>
        </p:nvSpPr>
        <p:spPr>
          <a:xfrm>
            <a:off x="960120" y="4279392"/>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my · his · her</a:t>
            </a:r>
            <a:endParaRPr lang="en-US" sz="800" dirty="0"/>
          </a:p>
        </p:txBody>
      </p:sp>
      <p:sp>
        <p:nvSpPr>
          <p:cNvPr id="83" name="Shape 80"/>
          <p:cNvSpPr/>
          <p:nvPr/>
        </p:nvSpPr>
        <p:spPr>
          <a:xfrm>
            <a:off x="3227832" y="4279392"/>
            <a:ext cx="731520" cy="256032"/>
          </a:xfrm>
          <a:prstGeom prst="roundRect">
            <a:avLst>
              <a:gd name="adj" fmla="val 50000"/>
            </a:avLst>
          </a:prstGeom>
          <a:solidFill>
            <a:srgbClr val="2E8B57"/>
          </a:solidFill>
          <a:ln w="12700">
            <a:solidFill>
              <a:srgbClr val="2E8B57"/>
            </a:solidFill>
            <a:prstDash val="solid"/>
          </a:ln>
        </p:spPr>
      </p:sp>
      <p:sp>
        <p:nvSpPr>
          <p:cNvPr id="84" name="Text 81"/>
          <p:cNvSpPr txBox="1"/>
          <p:nvPr/>
        </p:nvSpPr>
        <p:spPr>
          <a:xfrm>
            <a:off x="3227832"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85" name="Text 82"/>
          <p:cNvSpPr txBox="1"/>
          <p:nvPr/>
        </p:nvSpPr>
        <p:spPr>
          <a:xfrm>
            <a:off x="566928"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عَائِلَةٌ</a:t>
            </a:r>
            <a:endParaRPr lang="ar-SA" sz="3000" dirty="0"/>
          </a:p>
        </p:txBody>
      </p:sp>
      <p:sp>
        <p:nvSpPr>
          <p:cNvPr id="86" name="Text 83"/>
          <p:cNvSpPr txBox="1"/>
          <p:nvPr/>
        </p:nvSpPr>
        <p:spPr>
          <a:xfrm>
            <a:off x="594360"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family</a:t>
            </a:r>
            <a:endParaRPr lang="en-US" sz="1350" dirty="0"/>
          </a:p>
          <a:p>
            <a:pPr indent="0" marL="0">
              <a:buNone/>
            </a:pPr>
            <a:r>
              <a:rPr lang="en-US" sz="1100" i="1" dirty="0">
                <a:solidFill>
                  <a:srgbClr val="5A6472"/>
                </a:solidFill>
                <a:latin typeface="Calibri" pitchFamily="34" charset="0"/>
                <a:cs typeface="Amiri" pitchFamily="2" charset="-78"/>
              </a:rPr>
              <a:t>ʿā-ʾi-la · -āt</a:t>
            </a:r>
            <a:endParaRPr lang="en-US" sz="1350" dirty="0"/>
          </a:p>
        </p:txBody>
      </p:sp>
      <p:sp>
        <p:nvSpPr>
          <p:cNvPr id="87" name="Shape 84"/>
          <p:cNvSpPr/>
          <p:nvPr/>
        </p:nvSpPr>
        <p:spPr>
          <a:xfrm>
            <a:off x="2898648" y="5779008"/>
            <a:ext cx="1060704" cy="438912"/>
          </a:xfrm>
          <a:prstGeom prst="roundRect">
            <a:avLst>
              <a:gd name="adj" fmla="val 10417"/>
            </a:avLst>
          </a:prstGeom>
          <a:solidFill>
            <a:srgbClr val="F4F1EA"/>
          </a:solidFill>
          <a:ln w="9525">
            <a:solidFill>
              <a:srgbClr val="F4F1EA"/>
            </a:solidFill>
            <a:prstDash val="solid"/>
          </a:ln>
        </p:spPr>
      </p:sp>
      <p:sp>
        <p:nvSpPr>
          <p:cNvPr id="88" name="Text 85"/>
          <p:cNvSpPr txBox="1"/>
          <p:nvPr/>
        </p:nvSpPr>
        <p:spPr>
          <a:xfrm>
            <a:off x="295351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my</a:t>
            </a:r>
            <a:endParaRPr lang="en-US" sz="750" dirty="0"/>
          </a:p>
        </p:txBody>
      </p:sp>
      <p:sp>
        <p:nvSpPr>
          <p:cNvPr id="89" name="Text 86"/>
          <p:cNvSpPr txBox="1"/>
          <p:nvPr/>
        </p:nvSpPr>
        <p:spPr>
          <a:xfrm>
            <a:off x="294436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عَائِلَتِي</a:t>
            </a:r>
            <a:endParaRPr lang="ar-SA" sz="1500" dirty="0"/>
          </a:p>
        </p:txBody>
      </p:sp>
      <p:sp>
        <p:nvSpPr>
          <p:cNvPr id="90" name="Shape 87"/>
          <p:cNvSpPr/>
          <p:nvPr/>
        </p:nvSpPr>
        <p:spPr>
          <a:xfrm>
            <a:off x="1746504" y="5779008"/>
            <a:ext cx="1060704" cy="438912"/>
          </a:xfrm>
          <a:prstGeom prst="roundRect">
            <a:avLst>
              <a:gd name="adj" fmla="val 10417"/>
            </a:avLst>
          </a:prstGeom>
          <a:solidFill>
            <a:srgbClr val="F4F1EA"/>
          </a:solidFill>
          <a:ln w="9525">
            <a:solidFill>
              <a:srgbClr val="F4F1EA"/>
            </a:solidFill>
            <a:prstDash val="solid"/>
          </a:ln>
        </p:spPr>
      </p:sp>
      <p:sp>
        <p:nvSpPr>
          <p:cNvPr id="91" name="Text 88"/>
          <p:cNvSpPr txBox="1"/>
          <p:nvPr/>
        </p:nvSpPr>
        <p:spPr>
          <a:xfrm>
            <a:off x="180136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his</a:t>
            </a:r>
            <a:endParaRPr lang="en-US" sz="750" dirty="0"/>
          </a:p>
        </p:txBody>
      </p:sp>
      <p:sp>
        <p:nvSpPr>
          <p:cNvPr id="92" name="Text 89"/>
          <p:cNvSpPr txBox="1"/>
          <p:nvPr/>
        </p:nvSpPr>
        <p:spPr>
          <a:xfrm>
            <a:off x="179222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عَائِلَتُهُ</a:t>
            </a:r>
            <a:endParaRPr lang="ar-SA" sz="1500" dirty="0"/>
          </a:p>
        </p:txBody>
      </p:sp>
      <p:sp>
        <p:nvSpPr>
          <p:cNvPr id="93" name="Shape 90"/>
          <p:cNvSpPr/>
          <p:nvPr/>
        </p:nvSpPr>
        <p:spPr>
          <a:xfrm>
            <a:off x="594360" y="5779008"/>
            <a:ext cx="1060704" cy="438912"/>
          </a:xfrm>
          <a:prstGeom prst="roundRect">
            <a:avLst>
              <a:gd name="adj" fmla="val 10417"/>
            </a:avLst>
          </a:prstGeom>
          <a:solidFill>
            <a:srgbClr val="F4F1EA"/>
          </a:solidFill>
          <a:ln w="9525">
            <a:solidFill>
              <a:srgbClr val="F4F1EA"/>
            </a:solidFill>
            <a:prstDash val="solid"/>
          </a:ln>
        </p:spPr>
      </p:sp>
      <p:sp>
        <p:nvSpPr>
          <p:cNvPr id="94" name="Text 91"/>
          <p:cNvSpPr txBox="1"/>
          <p:nvPr/>
        </p:nvSpPr>
        <p:spPr>
          <a:xfrm>
            <a:off x="649224"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her</a:t>
            </a:r>
            <a:endParaRPr lang="en-US" sz="750" dirty="0"/>
          </a:p>
        </p:txBody>
      </p:sp>
      <p:sp>
        <p:nvSpPr>
          <p:cNvPr id="95" name="Text 92"/>
          <p:cNvSpPr txBox="1"/>
          <p:nvPr/>
        </p:nvSpPr>
        <p:spPr>
          <a:xfrm>
            <a:off x="640080"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عَائِلَتُهَا</a:t>
            </a:r>
            <a:endParaRPr lang="ar-SA" sz="1500" dirty="0"/>
          </a:p>
        </p:txBody>
      </p:sp>
      <p:sp>
        <p:nvSpPr>
          <p:cNvPr id="96" name="Text 9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8 / 37</a:t>
            </a:r>
            <a:endParaRPr lang="en-US" sz="850" dirty="0"/>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name="Slide 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TB-L01 · Identity and Profiles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KEY WORDS · GROUP 1 · CORE CULTURAL WORDS 7–10 + COMPARISON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Community, identity and pride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المُجْتَمَعُ وَالهُوِيَّةُ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TB-L01</a:t>
            </a:r>
            <a:endParaRPr lang="en-US" sz="850" dirty="0"/>
          </a:p>
        </p:txBody>
      </p:sp>
      <p:sp>
        <p:nvSpPr>
          <p:cNvPr id="15" name="Shape 12"/>
          <p:cNvSpPr/>
          <p:nvPr/>
        </p:nvSpPr>
        <p:spPr>
          <a:xfrm>
            <a:off x="8101584"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11312" y="1920240"/>
            <a:ext cx="310896" cy="310896"/>
          </a:xfrm>
          <a:prstGeom prst="ellipse">
            <a:avLst/>
          </a:prstGeom>
          <a:solidFill>
            <a:srgbClr val="F4F1EA"/>
          </a:solidFill>
          <a:ln w="12700">
            <a:solidFill>
              <a:srgbClr val="F4F1EA"/>
            </a:solidFill>
            <a:prstDash val="solid"/>
          </a:ln>
        </p:spPr>
      </p:sp>
      <p:sp>
        <p:nvSpPr>
          <p:cNvPr id="17" name="Text 14"/>
          <p:cNvSpPr txBox="1"/>
          <p:nvPr/>
        </p:nvSpPr>
        <p:spPr>
          <a:xfrm>
            <a:off x="8211312"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7</a:t>
            </a:r>
            <a:endParaRPr lang="en-US" sz="1000" dirty="0"/>
          </a:p>
        </p:txBody>
      </p:sp>
      <p:sp>
        <p:nvSpPr>
          <p:cNvPr id="18" name="Shape 15"/>
          <p:cNvSpPr/>
          <p:nvPr/>
        </p:nvSpPr>
        <p:spPr>
          <a:xfrm>
            <a:off x="8604504" y="1938528"/>
            <a:ext cx="833933" cy="256032"/>
          </a:xfrm>
          <a:prstGeom prst="roundRect">
            <a:avLst>
              <a:gd name="adj" fmla="val 50000"/>
            </a:avLst>
          </a:prstGeom>
          <a:solidFill>
            <a:srgbClr val="EFE7D2"/>
          </a:solidFill>
          <a:ln w="12700">
            <a:solidFill>
              <a:srgbClr val="EFE7D2"/>
            </a:solidFill>
            <a:prstDash val="solid"/>
          </a:ln>
        </p:spPr>
      </p:sp>
      <p:sp>
        <p:nvSpPr>
          <p:cNvPr id="19" name="Text 16"/>
          <p:cNvSpPr txBox="1"/>
          <p:nvPr/>
        </p:nvSpPr>
        <p:spPr>
          <a:xfrm>
            <a:off x="8604504"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noun · m.</a:t>
            </a:r>
            <a:endParaRPr lang="en-US" sz="800" dirty="0"/>
          </a:p>
        </p:txBody>
      </p:sp>
      <p:sp>
        <p:nvSpPr>
          <p:cNvPr id="20" name="Shape 17"/>
          <p:cNvSpPr/>
          <p:nvPr/>
        </p:nvSpPr>
        <p:spPr>
          <a:xfrm>
            <a:off x="10872216" y="1938528"/>
            <a:ext cx="731520" cy="256032"/>
          </a:xfrm>
          <a:prstGeom prst="roundRect">
            <a:avLst>
              <a:gd name="adj" fmla="val 50000"/>
            </a:avLst>
          </a:prstGeom>
          <a:solidFill>
            <a:srgbClr val="2E8B57"/>
          </a:solidFill>
          <a:ln w="12700">
            <a:solidFill>
              <a:srgbClr val="2E8B57"/>
            </a:solidFill>
            <a:prstDash val="solid"/>
          </a:ln>
        </p:spPr>
      </p:sp>
      <p:sp>
        <p:nvSpPr>
          <p:cNvPr id="21" name="Text 18"/>
          <p:cNvSpPr txBox="1"/>
          <p:nvPr/>
        </p:nvSpPr>
        <p:spPr>
          <a:xfrm>
            <a:off x="10872216"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2" name="Text 19"/>
          <p:cNvSpPr txBox="1"/>
          <p:nvPr/>
        </p:nvSpPr>
        <p:spPr>
          <a:xfrm>
            <a:off x="8211312"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مُجْتَمَعٌ</a:t>
            </a:r>
            <a:endParaRPr lang="ar-SA" sz="3000" dirty="0"/>
          </a:p>
        </p:txBody>
      </p:sp>
      <p:sp>
        <p:nvSpPr>
          <p:cNvPr id="23" name="Text 20"/>
          <p:cNvSpPr txBox="1"/>
          <p:nvPr/>
        </p:nvSpPr>
        <p:spPr>
          <a:xfrm>
            <a:off x="8238744"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society, community</a:t>
            </a:r>
            <a:endParaRPr lang="en-US" sz="1350" dirty="0"/>
          </a:p>
          <a:p>
            <a:pPr indent="0" marL="0">
              <a:buNone/>
            </a:pPr>
            <a:r>
              <a:rPr lang="en-US" sz="1100" i="1" dirty="0">
                <a:solidFill>
                  <a:srgbClr val="5A6472"/>
                </a:solidFill>
                <a:latin typeface="Calibri" pitchFamily="34" charset="0"/>
                <a:cs typeface="Amiri" pitchFamily="2" charset="-78"/>
              </a:rPr>
              <a:t>mu-jta-maʿ</a:t>
            </a:r>
            <a:endParaRPr lang="en-US" sz="1350" dirty="0"/>
          </a:p>
        </p:txBody>
      </p:sp>
      <p:sp>
        <p:nvSpPr>
          <p:cNvPr id="24" name="Text 21"/>
          <p:cNvSpPr txBox="1"/>
          <p:nvPr/>
        </p:nvSpPr>
        <p:spPr>
          <a:xfrm>
            <a:off x="8238744" y="3621024"/>
            <a:ext cx="3364992" cy="292608"/>
          </a:xfrm>
          <a:prstGeom prst="rect">
            <a:avLst/>
          </a:prstGeom>
          <a:noFill/>
          <a:ln/>
        </p:spPr>
        <p:txBody>
          <a:bodyPr wrap="square" lIns="0" tIns="0" rIns="0" bIns="0" rtlCol="0" anchor="ctr"/>
          <a:lstStyle/>
          <a:p>
            <a:pPr algn="l" indent="0" marL="0">
              <a:buNone/>
            </a:pPr>
            <a:r>
              <a:rPr lang="ar-SA" altLang="en-US" sz="1300" dirty="0">
                <a:solidFill>
                  <a:srgbClr val="8A6D1E"/>
                </a:solidFill>
                <a:latin typeface="Amiri" pitchFamily="2" charset="-78"/>
                <a:ea typeface="Amiri" pitchFamily="2" charset="-78"/>
                <a:cs typeface="Amiri" pitchFamily="2" charset="-78"/>
              </a:rPr>
              <a:t>المُجْتَمَعُ مُتَنَوِّعٌ</a:t>
            </a:r>
            <a:pPr algn="l" indent="0" marL="0">
              <a:buNone/>
            </a:pPr>
            <a:r>
              <a:rPr lang="en-US" sz="1000" i="1" dirty="0">
                <a:solidFill>
                  <a:srgbClr val="8A6D1E"/>
                </a:solidFill>
                <a:latin typeface="Calibri" pitchFamily="34" charset="0"/>
                <a:cs typeface="Amiri" pitchFamily="2" charset="-78"/>
              </a:rPr>
              <a:t>. (diverse)</a:t>
            </a:r>
            <a:endParaRPr lang="en-US" sz="1000" dirty="0"/>
          </a:p>
        </p:txBody>
      </p:sp>
      <p:sp>
        <p:nvSpPr>
          <p:cNvPr id="25" name="Shape 22"/>
          <p:cNvSpPr/>
          <p:nvPr/>
        </p:nvSpPr>
        <p:spPr>
          <a:xfrm>
            <a:off x="4279392"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4389120" y="1920240"/>
            <a:ext cx="310896" cy="310896"/>
          </a:xfrm>
          <a:prstGeom prst="ellipse">
            <a:avLst/>
          </a:prstGeom>
          <a:solidFill>
            <a:srgbClr val="F4F1EA"/>
          </a:solidFill>
          <a:ln w="12700">
            <a:solidFill>
              <a:srgbClr val="F4F1EA"/>
            </a:solidFill>
            <a:prstDash val="solid"/>
          </a:ln>
        </p:spPr>
      </p:sp>
      <p:sp>
        <p:nvSpPr>
          <p:cNvPr id="27" name="Text 24"/>
          <p:cNvSpPr txBox="1"/>
          <p:nvPr/>
        </p:nvSpPr>
        <p:spPr>
          <a:xfrm>
            <a:off x="4389120"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8</a:t>
            </a:r>
            <a:endParaRPr lang="en-US" sz="1000" dirty="0"/>
          </a:p>
        </p:txBody>
      </p:sp>
      <p:sp>
        <p:nvSpPr>
          <p:cNvPr id="28" name="Shape 25"/>
          <p:cNvSpPr/>
          <p:nvPr/>
        </p:nvSpPr>
        <p:spPr>
          <a:xfrm>
            <a:off x="4782312" y="1938528"/>
            <a:ext cx="833933" cy="256032"/>
          </a:xfrm>
          <a:prstGeom prst="roundRect">
            <a:avLst>
              <a:gd name="adj" fmla="val 50000"/>
            </a:avLst>
          </a:prstGeom>
          <a:solidFill>
            <a:srgbClr val="EFE7D2"/>
          </a:solidFill>
          <a:ln w="12700">
            <a:solidFill>
              <a:srgbClr val="EFE7D2"/>
            </a:solidFill>
            <a:prstDash val="solid"/>
          </a:ln>
        </p:spPr>
      </p:sp>
      <p:sp>
        <p:nvSpPr>
          <p:cNvPr id="29" name="Text 26"/>
          <p:cNvSpPr txBox="1"/>
          <p:nvPr/>
        </p:nvSpPr>
        <p:spPr>
          <a:xfrm>
            <a:off x="4782312" y="1938528"/>
            <a:ext cx="833933"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recognise</a:t>
            </a:r>
            <a:endParaRPr lang="en-US" sz="800" dirty="0"/>
          </a:p>
        </p:txBody>
      </p:sp>
      <p:sp>
        <p:nvSpPr>
          <p:cNvPr id="30" name="Text 27"/>
          <p:cNvSpPr txBox="1"/>
          <p:nvPr/>
        </p:nvSpPr>
        <p:spPr>
          <a:xfrm>
            <a:off x="4389120" y="2212848"/>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دِينٌ</a:t>
            </a:r>
            <a:endParaRPr lang="ar-SA" sz="3000" dirty="0"/>
          </a:p>
        </p:txBody>
      </p:sp>
      <p:sp>
        <p:nvSpPr>
          <p:cNvPr id="31" name="Text 28"/>
          <p:cNvSpPr txBox="1"/>
          <p:nvPr/>
        </p:nvSpPr>
        <p:spPr>
          <a:xfrm>
            <a:off x="4416552" y="3127248"/>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religion</a:t>
            </a:r>
            <a:endParaRPr lang="en-US" sz="1350" dirty="0"/>
          </a:p>
          <a:p>
            <a:pPr indent="0" marL="0">
              <a:buNone/>
            </a:pPr>
            <a:r>
              <a:rPr lang="en-US" sz="1100" i="1" dirty="0">
                <a:solidFill>
                  <a:srgbClr val="5A6472"/>
                </a:solidFill>
                <a:latin typeface="Calibri" pitchFamily="34" charset="0"/>
                <a:cs typeface="Amiri" pitchFamily="2" charset="-78"/>
              </a:rPr>
              <a:t>dīn</a:t>
            </a:r>
            <a:endParaRPr lang="en-US" sz="1350" dirty="0"/>
          </a:p>
        </p:txBody>
      </p:sp>
      <p:sp>
        <p:nvSpPr>
          <p:cNvPr id="32" name="Text 29"/>
          <p:cNvSpPr txBox="1"/>
          <p:nvPr/>
        </p:nvSpPr>
        <p:spPr>
          <a:xfrm>
            <a:off x="4416552" y="3621024"/>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 part of SOME people’s identity — personal.</a:t>
            </a:r>
            <a:endParaRPr lang="en-US" sz="1000" dirty="0"/>
          </a:p>
        </p:txBody>
      </p:sp>
      <p:sp>
        <p:nvSpPr>
          <p:cNvPr id="33" name="Shape 30"/>
          <p:cNvSpPr/>
          <p:nvPr/>
        </p:nvSpPr>
        <p:spPr>
          <a:xfrm>
            <a:off x="457200" y="1810512"/>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566928" y="1920240"/>
            <a:ext cx="310896" cy="310896"/>
          </a:xfrm>
          <a:prstGeom prst="ellipse">
            <a:avLst/>
          </a:prstGeom>
          <a:solidFill>
            <a:srgbClr val="F4F1EA"/>
          </a:solidFill>
          <a:ln w="12700">
            <a:solidFill>
              <a:srgbClr val="F4F1EA"/>
            </a:solidFill>
            <a:prstDash val="solid"/>
          </a:ln>
        </p:spPr>
      </p:sp>
      <p:sp>
        <p:nvSpPr>
          <p:cNvPr id="35" name="Text 32"/>
          <p:cNvSpPr txBox="1"/>
          <p:nvPr/>
        </p:nvSpPr>
        <p:spPr>
          <a:xfrm>
            <a:off x="566928" y="1920240"/>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9</a:t>
            </a:r>
            <a:endParaRPr lang="en-US" sz="1000" dirty="0"/>
          </a:p>
        </p:txBody>
      </p:sp>
      <p:sp>
        <p:nvSpPr>
          <p:cNvPr id="36" name="Shape 33"/>
          <p:cNvSpPr/>
          <p:nvPr/>
        </p:nvSpPr>
        <p:spPr>
          <a:xfrm>
            <a:off x="960120" y="1938528"/>
            <a:ext cx="1144829" cy="256032"/>
          </a:xfrm>
          <a:prstGeom prst="roundRect">
            <a:avLst>
              <a:gd name="adj" fmla="val 50000"/>
            </a:avLst>
          </a:prstGeom>
          <a:solidFill>
            <a:srgbClr val="EFE7D2"/>
          </a:solidFill>
          <a:ln w="12700">
            <a:solidFill>
              <a:srgbClr val="EFE7D2"/>
            </a:solidFill>
            <a:prstDash val="solid"/>
          </a:ln>
        </p:spPr>
      </p:sp>
      <p:sp>
        <p:nvSpPr>
          <p:cNvPr id="37" name="Text 34"/>
          <p:cNvSpPr txBox="1"/>
          <p:nvPr/>
        </p:nvSpPr>
        <p:spPr>
          <a:xfrm>
            <a:off x="960120" y="1938528"/>
            <a:ext cx="1144829"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my · his · her</a:t>
            </a:r>
            <a:endParaRPr lang="en-US" sz="800" dirty="0"/>
          </a:p>
        </p:txBody>
      </p:sp>
      <p:sp>
        <p:nvSpPr>
          <p:cNvPr id="38" name="Shape 35"/>
          <p:cNvSpPr/>
          <p:nvPr/>
        </p:nvSpPr>
        <p:spPr>
          <a:xfrm>
            <a:off x="3227832" y="1938528"/>
            <a:ext cx="731520" cy="256032"/>
          </a:xfrm>
          <a:prstGeom prst="roundRect">
            <a:avLst>
              <a:gd name="adj" fmla="val 50000"/>
            </a:avLst>
          </a:prstGeom>
          <a:solidFill>
            <a:srgbClr val="2E8B57"/>
          </a:solidFill>
          <a:ln w="12700">
            <a:solidFill>
              <a:srgbClr val="2E8B57"/>
            </a:solidFill>
            <a:prstDash val="solid"/>
          </a:ln>
        </p:spPr>
      </p:sp>
      <p:sp>
        <p:nvSpPr>
          <p:cNvPr id="39" name="Text 36"/>
          <p:cNvSpPr txBox="1"/>
          <p:nvPr/>
        </p:nvSpPr>
        <p:spPr>
          <a:xfrm>
            <a:off x="3227832" y="1938528"/>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40" name="Text 37"/>
          <p:cNvSpPr txBox="1"/>
          <p:nvPr/>
        </p:nvSpPr>
        <p:spPr>
          <a:xfrm>
            <a:off x="566928" y="2212848"/>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هُوِيَّةٌ</a:t>
            </a:r>
            <a:endParaRPr lang="ar-SA" sz="3000" dirty="0"/>
          </a:p>
        </p:txBody>
      </p:sp>
      <p:sp>
        <p:nvSpPr>
          <p:cNvPr id="41" name="Text 38"/>
          <p:cNvSpPr txBox="1"/>
          <p:nvPr/>
        </p:nvSpPr>
        <p:spPr>
          <a:xfrm>
            <a:off x="594360" y="290779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identity</a:t>
            </a:r>
            <a:endParaRPr lang="en-US" sz="1350" dirty="0"/>
          </a:p>
          <a:p>
            <a:pPr indent="0" marL="0">
              <a:buNone/>
            </a:pPr>
            <a:r>
              <a:rPr lang="en-US" sz="1100" i="1" dirty="0">
                <a:solidFill>
                  <a:srgbClr val="5A6472"/>
                </a:solidFill>
                <a:latin typeface="Calibri" pitchFamily="34" charset="0"/>
                <a:cs typeface="Amiri" pitchFamily="2" charset="-78"/>
              </a:rPr>
              <a:t>hu-wiy-ya</a:t>
            </a:r>
            <a:endParaRPr lang="en-US" sz="1350" dirty="0"/>
          </a:p>
        </p:txBody>
      </p:sp>
      <p:sp>
        <p:nvSpPr>
          <p:cNvPr id="42" name="Shape 39"/>
          <p:cNvSpPr/>
          <p:nvPr/>
        </p:nvSpPr>
        <p:spPr>
          <a:xfrm>
            <a:off x="2898648" y="3438144"/>
            <a:ext cx="1060704" cy="438912"/>
          </a:xfrm>
          <a:prstGeom prst="roundRect">
            <a:avLst>
              <a:gd name="adj" fmla="val 10417"/>
            </a:avLst>
          </a:prstGeom>
          <a:solidFill>
            <a:srgbClr val="F4F1EA"/>
          </a:solidFill>
          <a:ln w="9525">
            <a:solidFill>
              <a:srgbClr val="F4F1EA"/>
            </a:solidFill>
            <a:prstDash val="solid"/>
          </a:ln>
        </p:spPr>
      </p:sp>
      <p:sp>
        <p:nvSpPr>
          <p:cNvPr id="43" name="Text 40"/>
          <p:cNvSpPr txBox="1"/>
          <p:nvPr/>
        </p:nvSpPr>
        <p:spPr>
          <a:xfrm>
            <a:off x="2953512"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my</a:t>
            </a:r>
            <a:endParaRPr lang="en-US" sz="750" dirty="0"/>
          </a:p>
        </p:txBody>
      </p:sp>
      <p:sp>
        <p:nvSpPr>
          <p:cNvPr id="44" name="Text 41"/>
          <p:cNvSpPr txBox="1"/>
          <p:nvPr/>
        </p:nvSpPr>
        <p:spPr>
          <a:xfrm>
            <a:off x="2944368"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هُوِيَّتِي</a:t>
            </a:r>
            <a:endParaRPr lang="ar-SA" sz="1500" dirty="0"/>
          </a:p>
        </p:txBody>
      </p:sp>
      <p:sp>
        <p:nvSpPr>
          <p:cNvPr id="45" name="Shape 42"/>
          <p:cNvSpPr/>
          <p:nvPr/>
        </p:nvSpPr>
        <p:spPr>
          <a:xfrm>
            <a:off x="1746504" y="3438144"/>
            <a:ext cx="1060704" cy="438912"/>
          </a:xfrm>
          <a:prstGeom prst="roundRect">
            <a:avLst>
              <a:gd name="adj" fmla="val 10417"/>
            </a:avLst>
          </a:prstGeom>
          <a:solidFill>
            <a:srgbClr val="F4F1EA"/>
          </a:solidFill>
          <a:ln w="9525">
            <a:solidFill>
              <a:srgbClr val="F4F1EA"/>
            </a:solidFill>
            <a:prstDash val="solid"/>
          </a:ln>
        </p:spPr>
      </p:sp>
      <p:sp>
        <p:nvSpPr>
          <p:cNvPr id="46" name="Text 43"/>
          <p:cNvSpPr txBox="1"/>
          <p:nvPr/>
        </p:nvSpPr>
        <p:spPr>
          <a:xfrm>
            <a:off x="1801368"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his</a:t>
            </a:r>
            <a:endParaRPr lang="en-US" sz="750" dirty="0"/>
          </a:p>
        </p:txBody>
      </p:sp>
      <p:sp>
        <p:nvSpPr>
          <p:cNvPr id="47" name="Text 44"/>
          <p:cNvSpPr txBox="1"/>
          <p:nvPr/>
        </p:nvSpPr>
        <p:spPr>
          <a:xfrm>
            <a:off x="1792224"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هُوِيَّتُهُ</a:t>
            </a:r>
            <a:endParaRPr lang="ar-SA" sz="1500" dirty="0"/>
          </a:p>
        </p:txBody>
      </p:sp>
      <p:sp>
        <p:nvSpPr>
          <p:cNvPr id="48" name="Shape 45"/>
          <p:cNvSpPr/>
          <p:nvPr/>
        </p:nvSpPr>
        <p:spPr>
          <a:xfrm>
            <a:off x="594360" y="3438144"/>
            <a:ext cx="1060704" cy="438912"/>
          </a:xfrm>
          <a:prstGeom prst="roundRect">
            <a:avLst>
              <a:gd name="adj" fmla="val 10417"/>
            </a:avLst>
          </a:prstGeom>
          <a:solidFill>
            <a:srgbClr val="F4F1EA"/>
          </a:solidFill>
          <a:ln w="9525">
            <a:solidFill>
              <a:srgbClr val="F4F1EA"/>
            </a:solidFill>
            <a:prstDash val="solid"/>
          </a:ln>
        </p:spPr>
      </p:sp>
      <p:sp>
        <p:nvSpPr>
          <p:cNvPr id="49" name="Text 46"/>
          <p:cNvSpPr txBox="1"/>
          <p:nvPr/>
        </p:nvSpPr>
        <p:spPr>
          <a:xfrm>
            <a:off x="649224" y="3447288"/>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her</a:t>
            </a:r>
            <a:endParaRPr lang="en-US" sz="750" dirty="0"/>
          </a:p>
        </p:txBody>
      </p:sp>
      <p:sp>
        <p:nvSpPr>
          <p:cNvPr id="50" name="Text 47"/>
          <p:cNvSpPr txBox="1"/>
          <p:nvPr/>
        </p:nvSpPr>
        <p:spPr>
          <a:xfrm>
            <a:off x="640080" y="3483864"/>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هُوِيَّتُهَا</a:t>
            </a:r>
            <a:endParaRPr lang="ar-SA" sz="1500" dirty="0"/>
          </a:p>
        </p:txBody>
      </p:sp>
      <p:sp>
        <p:nvSpPr>
          <p:cNvPr id="51" name="Shape 48"/>
          <p:cNvSpPr/>
          <p:nvPr/>
        </p:nvSpPr>
        <p:spPr>
          <a:xfrm>
            <a:off x="8101584"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2" name="Shape 49"/>
          <p:cNvSpPr/>
          <p:nvPr/>
        </p:nvSpPr>
        <p:spPr>
          <a:xfrm>
            <a:off x="8211312" y="4261104"/>
            <a:ext cx="310896" cy="310896"/>
          </a:xfrm>
          <a:prstGeom prst="ellipse">
            <a:avLst/>
          </a:prstGeom>
          <a:solidFill>
            <a:srgbClr val="F4F1EA"/>
          </a:solidFill>
          <a:ln w="12700">
            <a:solidFill>
              <a:srgbClr val="F4F1EA"/>
            </a:solidFill>
            <a:prstDash val="solid"/>
          </a:ln>
        </p:spPr>
      </p:sp>
      <p:sp>
        <p:nvSpPr>
          <p:cNvPr id="53" name="Text 50"/>
          <p:cNvSpPr txBox="1"/>
          <p:nvPr/>
        </p:nvSpPr>
        <p:spPr>
          <a:xfrm>
            <a:off x="8211312"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10</a:t>
            </a:r>
            <a:endParaRPr lang="en-US" sz="1000" dirty="0"/>
          </a:p>
        </p:txBody>
      </p:sp>
      <p:sp>
        <p:nvSpPr>
          <p:cNvPr id="54" name="Shape 51"/>
          <p:cNvSpPr/>
          <p:nvPr/>
        </p:nvSpPr>
        <p:spPr>
          <a:xfrm>
            <a:off x="8604504" y="4279392"/>
            <a:ext cx="896112" cy="256032"/>
          </a:xfrm>
          <a:prstGeom prst="roundRect">
            <a:avLst>
              <a:gd name="adj" fmla="val 50000"/>
            </a:avLst>
          </a:prstGeom>
          <a:solidFill>
            <a:srgbClr val="EFE7D2"/>
          </a:solidFill>
          <a:ln w="12700">
            <a:solidFill>
              <a:srgbClr val="EFE7D2"/>
            </a:solidFill>
            <a:prstDash val="solid"/>
          </a:ln>
        </p:spPr>
      </p:sp>
      <p:sp>
        <p:nvSpPr>
          <p:cNvPr id="55" name="Text 52"/>
          <p:cNvSpPr txBox="1"/>
          <p:nvPr/>
        </p:nvSpPr>
        <p:spPr>
          <a:xfrm>
            <a:off x="8604504" y="4279392"/>
            <a:ext cx="896112"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 · pl</a:t>
            </a:r>
            <a:endParaRPr lang="en-US" sz="800" dirty="0"/>
          </a:p>
        </p:txBody>
      </p:sp>
      <p:sp>
        <p:nvSpPr>
          <p:cNvPr id="56" name="Shape 53"/>
          <p:cNvSpPr/>
          <p:nvPr/>
        </p:nvSpPr>
        <p:spPr>
          <a:xfrm>
            <a:off x="10872216" y="4279392"/>
            <a:ext cx="731520" cy="256032"/>
          </a:xfrm>
          <a:prstGeom prst="roundRect">
            <a:avLst>
              <a:gd name="adj" fmla="val 50000"/>
            </a:avLst>
          </a:prstGeom>
          <a:solidFill>
            <a:srgbClr val="2E8B57"/>
          </a:solidFill>
          <a:ln w="12700">
            <a:solidFill>
              <a:srgbClr val="2E8B57"/>
            </a:solidFill>
            <a:prstDash val="solid"/>
          </a:ln>
        </p:spPr>
      </p:sp>
      <p:sp>
        <p:nvSpPr>
          <p:cNvPr id="57" name="Text 54"/>
          <p:cNvSpPr txBox="1"/>
          <p:nvPr/>
        </p:nvSpPr>
        <p:spPr>
          <a:xfrm>
            <a:off x="10872216" y="4279392"/>
            <a:ext cx="7315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8" name="Text 55"/>
          <p:cNvSpPr txBox="1"/>
          <p:nvPr/>
        </p:nvSpPr>
        <p:spPr>
          <a:xfrm>
            <a:off x="8211312" y="4553712"/>
            <a:ext cx="3401568" cy="713232"/>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فَخُورٌ بِـ</a:t>
            </a:r>
            <a:endParaRPr lang="ar-SA" sz="3000" dirty="0"/>
          </a:p>
        </p:txBody>
      </p:sp>
      <p:sp>
        <p:nvSpPr>
          <p:cNvPr id="59" name="Text 56"/>
          <p:cNvSpPr txBox="1"/>
          <p:nvPr/>
        </p:nvSpPr>
        <p:spPr>
          <a:xfrm>
            <a:off x="8238744" y="5248656"/>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proud of</a:t>
            </a:r>
            <a:endParaRPr lang="en-US" sz="1350" dirty="0"/>
          </a:p>
          <a:p>
            <a:pPr indent="0" marL="0">
              <a:buNone/>
            </a:pPr>
            <a:r>
              <a:rPr lang="en-US" sz="1100" i="1" dirty="0">
                <a:solidFill>
                  <a:srgbClr val="5A6472"/>
                </a:solidFill>
                <a:latin typeface="Calibri" pitchFamily="34" charset="0"/>
                <a:cs typeface="Amiri" pitchFamily="2" charset="-78"/>
              </a:rPr>
              <a:t>fa-khūr · fa-khū-ra · fa-khū-rūn</a:t>
            </a:r>
            <a:endParaRPr lang="en-US" sz="1350" dirty="0"/>
          </a:p>
        </p:txBody>
      </p:sp>
      <p:sp>
        <p:nvSpPr>
          <p:cNvPr id="60" name="Shape 57"/>
          <p:cNvSpPr/>
          <p:nvPr/>
        </p:nvSpPr>
        <p:spPr>
          <a:xfrm>
            <a:off x="10543032" y="5779008"/>
            <a:ext cx="1060704" cy="438912"/>
          </a:xfrm>
          <a:prstGeom prst="roundRect">
            <a:avLst>
              <a:gd name="adj" fmla="val 10417"/>
            </a:avLst>
          </a:prstGeom>
          <a:solidFill>
            <a:srgbClr val="F4F1EA"/>
          </a:solidFill>
          <a:ln w="9525">
            <a:solidFill>
              <a:srgbClr val="F4F1EA"/>
            </a:solidFill>
            <a:prstDash val="solid"/>
          </a:ln>
        </p:spPr>
      </p:sp>
      <p:sp>
        <p:nvSpPr>
          <p:cNvPr id="61" name="Text 58"/>
          <p:cNvSpPr txBox="1"/>
          <p:nvPr/>
        </p:nvSpPr>
        <p:spPr>
          <a:xfrm>
            <a:off x="10597896"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m.</a:t>
            </a:r>
            <a:endParaRPr lang="en-US" sz="750" dirty="0"/>
          </a:p>
        </p:txBody>
      </p:sp>
      <p:sp>
        <p:nvSpPr>
          <p:cNvPr id="62" name="Text 59"/>
          <p:cNvSpPr txBox="1"/>
          <p:nvPr/>
        </p:nvSpPr>
        <p:spPr>
          <a:xfrm>
            <a:off x="10588752"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فَخُورٌ</a:t>
            </a:r>
            <a:endParaRPr lang="ar-SA" sz="1500" dirty="0"/>
          </a:p>
        </p:txBody>
      </p:sp>
      <p:sp>
        <p:nvSpPr>
          <p:cNvPr id="63" name="Shape 60"/>
          <p:cNvSpPr/>
          <p:nvPr/>
        </p:nvSpPr>
        <p:spPr>
          <a:xfrm>
            <a:off x="9390888" y="5779008"/>
            <a:ext cx="1060704" cy="438912"/>
          </a:xfrm>
          <a:prstGeom prst="roundRect">
            <a:avLst>
              <a:gd name="adj" fmla="val 10417"/>
            </a:avLst>
          </a:prstGeom>
          <a:solidFill>
            <a:srgbClr val="F4F1EA"/>
          </a:solidFill>
          <a:ln w="9525">
            <a:solidFill>
              <a:srgbClr val="F4F1EA"/>
            </a:solidFill>
            <a:prstDash val="solid"/>
          </a:ln>
        </p:spPr>
      </p:sp>
      <p:sp>
        <p:nvSpPr>
          <p:cNvPr id="64" name="Text 61"/>
          <p:cNvSpPr txBox="1"/>
          <p:nvPr/>
        </p:nvSpPr>
        <p:spPr>
          <a:xfrm>
            <a:off x="9445752"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f.</a:t>
            </a:r>
            <a:endParaRPr lang="en-US" sz="750" dirty="0"/>
          </a:p>
        </p:txBody>
      </p:sp>
      <p:sp>
        <p:nvSpPr>
          <p:cNvPr id="65" name="Text 62"/>
          <p:cNvSpPr txBox="1"/>
          <p:nvPr/>
        </p:nvSpPr>
        <p:spPr>
          <a:xfrm>
            <a:off x="9436608"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فَخُورَةٌ</a:t>
            </a:r>
            <a:endParaRPr lang="ar-SA" sz="1500" dirty="0"/>
          </a:p>
        </p:txBody>
      </p:sp>
      <p:sp>
        <p:nvSpPr>
          <p:cNvPr id="66" name="Shape 63"/>
          <p:cNvSpPr/>
          <p:nvPr/>
        </p:nvSpPr>
        <p:spPr>
          <a:xfrm>
            <a:off x="8238744" y="5779008"/>
            <a:ext cx="1060704" cy="438912"/>
          </a:xfrm>
          <a:prstGeom prst="roundRect">
            <a:avLst>
              <a:gd name="adj" fmla="val 10417"/>
            </a:avLst>
          </a:prstGeom>
          <a:solidFill>
            <a:srgbClr val="F4F1EA"/>
          </a:solidFill>
          <a:ln w="9525">
            <a:solidFill>
              <a:srgbClr val="F4F1EA"/>
            </a:solidFill>
            <a:prstDash val="solid"/>
          </a:ln>
        </p:spPr>
      </p:sp>
      <p:sp>
        <p:nvSpPr>
          <p:cNvPr id="67" name="Text 64"/>
          <p:cNvSpPr txBox="1"/>
          <p:nvPr/>
        </p:nvSpPr>
        <p:spPr>
          <a:xfrm>
            <a:off x="8293608" y="5788152"/>
            <a:ext cx="950976" cy="155448"/>
          </a:xfrm>
          <a:prstGeom prst="rect">
            <a:avLst/>
          </a:prstGeom>
          <a:noFill/>
          <a:ln/>
        </p:spPr>
        <p:txBody>
          <a:bodyPr wrap="square" lIns="0" tIns="0" rIns="0" bIns="0" rtlCol="0" anchor="ctr"/>
          <a:lstStyle/>
          <a:p>
            <a:pPr algn="l" indent="0" marL="0">
              <a:buNone/>
            </a:pPr>
            <a:r>
              <a:rPr lang="en-US" sz="750" b="1" dirty="0">
                <a:solidFill>
                  <a:srgbClr val="8A6D1E"/>
                </a:solidFill>
                <a:latin typeface="Calibri" pitchFamily="34" charset="0"/>
                <a:cs typeface="Amiri" pitchFamily="2" charset="-78"/>
              </a:rPr>
              <a:t>pl.</a:t>
            </a:r>
            <a:endParaRPr lang="en-US" sz="750" dirty="0"/>
          </a:p>
        </p:txBody>
      </p:sp>
      <p:sp>
        <p:nvSpPr>
          <p:cNvPr id="68" name="Text 65"/>
          <p:cNvSpPr txBox="1"/>
          <p:nvPr/>
        </p:nvSpPr>
        <p:spPr>
          <a:xfrm>
            <a:off x="8284464" y="5824728"/>
            <a:ext cx="969264" cy="384048"/>
          </a:xfrm>
          <a:prstGeom prst="rect">
            <a:avLst/>
          </a:prstGeom>
          <a:noFill/>
          <a:ln/>
        </p:spPr>
        <p:txBody>
          <a:bodyPr wrap="square" lIns="0" tIns="0" rIns="0" bIns="0" rtlCol="0" anchor="ctr"/>
          <a:lstStyle/>
          <a:p>
            <a:pPr rtl="1" algn="ctr" indent="0" marL="0">
              <a:buNone/>
            </a:pPr>
            <a:r>
              <a:rPr lang="ar-SA" altLang="en-US" sz="1500" b="1" dirty="0">
                <a:solidFill>
                  <a:srgbClr val="1B3B6F"/>
                </a:solidFill>
                <a:latin typeface="Amiri" pitchFamily="2" charset="-78"/>
                <a:ea typeface="Amiri" pitchFamily="2" charset="-78"/>
                <a:cs typeface="Amiri" pitchFamily="2" charset="-78"/>
              </a:rPr>
              <a:t>فَخُورُونَ</a:t>
            </a:r>
            <a:endParaRPr lang="ar-SA" sz="1500" dirty="0"/>
          </a:p>
        </p:txBody>
      </p:sp>
      <p:sp>
        <p:nvSpPr>
          <p:cNvPr id="69" name="Shape 66"/>
          <p:cNvSpPr/>
          <p:nvPr/>
        </p:nvSpPr>
        <p:spPr>
          <a:xfrm>
            <a:off x="4279392"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0" name="Shape 67"/>
          <p:cNvSpPr/>
          <p:nvPr/>
        </p:nvSpPr>
        <p:spPr>
          <a:xfrm>
            <a:off x="4389120" y="4261104"/>
            <a:ext cx="310896" cy="310896"/>
          </a:xfrm>
          <a:prstGeom prst="ellipse">
            <a:avLst/>
          </a:prstGeom>
          <a:solidFill>
            <a:srgbClr val="F4F1EA"/>
          </a:solidFill>
          <a:ln w="12700">
            <a:solidFill>
              <a:srgbClr val="F4F1EA"/>
            </a:solidFill>
            <a:prstDash val="solid"/>
          </a:ln>
        </p:spPr>
      </p:sp>
      <p:sp>
        <p:nvSpPr>
          <p:cNvPr id="71" name="Text 68"/>
          <p:cNvSpPr txBox="1"/>
          <p:nvPr/>
        </p:nvSpPr>
        <p:spPr>
          <a:xfrm>
            <a:off x="4389120"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11</a:t>
            </a:r>
            <a:endParaRPr lang="en-US" sz="1000" dirty="0"/>
          </a:p>
        </p:txBody>
      </p:sp>
      <p:sp>
        <p:nvSpPr>
          <p:cNvPr id="72" name="Shape 69"/>
          <p:cNvSpPr/>
          <p:nvPr/>
        </p:nvSpPr>
        <p:spPr>
          <a:xfrm>
            <a:off x="4782312" y="4279392"/>
            <a:ext cx="704088" cy="256032"/>
          </a:xfrm>
          <a:prstGeom prst="roundRect">
            <a:avLst>
              <a:gd name="adj" fmla="val 50000"/>
            </a:avLst>
          </a:prstGeom>
          <a:solidFill>
            <a:srgbClr val="EFE7D2"/>
          </a:solidFill>
          <a:ln w="12700">
            <a:solidFill>
              <a:srgbClr val="EFE7D2"/>
            </a:solidFill>
            <a:prstDash val="solid"/>
          </a:ln>
        </p:spPr>
      </p:sp>
      <p:sp>
        <p:nvSpPr>
          <p:cNvPr id="73" name="Text 70"/>
          <p:cNvSpPr txBox="1"/>
          <p:nvPr/>
        </p:nvSpPr>
        <p:spPr>
          <a:xfrm>
            <a:off x="4782312" y="4279392"/>
            <a:ext cx="704088"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m · f</a:t>
            </a:r>
            <a:endParaRPr lang="en-US" sz="800" dirty="0"/>
          </a:p>
        </p:txBody>
      </p:sp>
      <p:sp>
        <p:nvSpPr>
          <p:cNvPr id="74" name="Text 71"/>
          <p:cNvSpPr txBox="1"/>
          <p:nvPr/>
        </p:nvSpPr>
        <p:spPr>
          <a:xfrm>
            <a:off x="4389120"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مُتَشَابِهٌ · مُخْتَلِفٌ</a:t>
            </a:r>
            <a:endParaRPr lang="ar-SA" sz="3000" dirty="0"/>
          </a:p>
        </p:txBody>
      </p:sp>
      <p:sp>
        <p:nvSpPr>
          <p:cNvPr id="75" name="Text 72"/>
          <p:cNvSpPr txBox="1"/>
          <p:nvPr/>
        </p:nvSpPr>
        <p:spPr>
          <a:xfrm>
            <a:off x="4416552"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similar · different</a:t>
            </a:r>
            <a:endParaRPr lang="en-US" sz="1350" dirty="0"/>
          </a:p>
          <a:p>
            <a:pPr indent="0" marL="0">
              <a:buNone/>
            </a:pPr>
            <a:r>
              <a:rPr lang="en-US" sz="1100" i="1" dirty="0">
                <a:solidFill>
                  <a:srgbClr val="5A6472"/>
                </a:solidFill>
                <a:latin typeface="Calibri" pitchFamily="34" charset="0"/>
                <a:cs typeface="Amiri" pitchFamily="2" charset="-78"/>
              </a:rPr>
              <a:t>mu-ta-shā-bih · mukh-ta-lif</a:t>
            </a:r>
            <a:endParaRPr lang="en-US" sz="1350" dirty="0"/>
          </a:p>
        </p:txBody>
      </p:sp>
      <p:sp>
        <p:nvSpPr>
          <p:cNvPr id="76" name="Text 73"/>
          <p:cNvSpPr txBox="1"/>
          <p:nvPr/>
        </p:nvSpPr>
        <p:spPr>
          <a:xfrm>
            <a:off x="4416552"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f.: </a:t>
            </a:r>
            <a:pPr algn="l" indent="0" marL="0">
              <a:buNone/>
            </a:pPr>
            <a:r>
              <a:rPr lang="ar-SA" altLang="en-US" sz="1300" dirty="0">
                <a:solidFill>
                  <a:srgbClr val="8A6D1E"/>
                </a:solidFill>
                <a:latin typeface="Amiri" pitchFamily="2" charset="-78"/>
                <a:ea typeface="Amiri" pitchFamily="2" charset="-78"/>
                <a:cs typeface="Amiri" pitchFamily="2" charset="-78"/>
              </a:rPr>
              <a:t>مُتَشَابِهَةٌ</a:t>
            </a:r>
            <a:pPr algn="l" indent="0" marL="0">
              <a:buNone/>
            </a:pPr>
            <a:r>
              <a:rPr lang="en-US" sz="1000" i="1" dirty="0">
                <a:solidFill>
                  <a:srgbClr val="8A6D1E"/>
                </a:solidFill>
                <a:latin typeface="Calibri" pitchFamily="34" charset="0"/>
                <a:cs typeface="Amiri" pitchFamily="2" charset="-78"/>
              </a:rPr>
              <a:t> · </a:t>
            </a:r>
            <a:pPr algn="l" indent="0" marL="0">
              <a:buNone/>
            </a:pPr>
            <a:r>
              <a:rPr lang="ar-SA" altLang="en-US" sz="1300" dirty="0">
                <a:solidFill>
                  <a:srgbClr val="8A6D1E"/>
                </a:solidFill>
                <a:latin typeface="Amiri" pitchFamily="2" charset="-78"/>
                <a:ea typeface="Amiri" pitchFamily="2" charset="-78"/>
                <a:cs typeface="Amiri" pitchFamily="2" charset="-78"/>
              </a:rPr>
              <a:t>مُخْتَلِفَةٌ</a:t>
            </a:r>
            <a:endParaRPr lang="en-US" sz="1000" dirty="0"/>
          </a:p>
        </p:txBody>
      </p:sp>
      <p:sp>
        <p:nvSpPr>
          <p:cNvPr id="77" name="Shape 74"/>
          <p:cNvSpPr/>
          <p:nvPr/>
        </p:nvSpPr>
        <p:spPr>
          <a:xfrm>
            <a:off x="457200" y="4151376"/>
            <a:ext cx="3639312"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8" name="Shape 75"/>
          <p:cNvSpPr/>
          <p:nvPr/>
        </p:nvSpPr>
        <p:spPr>
          <a:xfrm>
            <a:off x="566928" y="4261104"/>
            <a:ext cx="310896" cy="310896"/>
          </a:xfrm>
          <a:prstGeom prst="ellipse">
            <a:avLst/>
          </a:prstGeom>
          <a:solidFill>
            <a:srgbClr val="F4F1EA"/>
          </a:solidFill>
          <a:ln w="12700">
            <a:solidFill>
              <a:srgbClr val="F4F1EA"/>
            </a:solidFill>
            <a:prstDash val="solid"/>
          </a:ln>
        </p:spPr>
      </p:sp>
      <p:sp>
        <p:nvSpPr>
          <p:cNvPr id="79" name="Text 76"/>
          <p:cNvSpPr txBox="1"/>
          <p:nvPr/>
        </p:nvSpPr>
        <p:spPr>
          <a:xfrm>
            <a:off x="566928" y="4261104"/>
            <a:ext cx="310896" cy="310896"/>
          </a:xfrm>
          <a:prstGeom prst="rect">
            <a:avLst/>
          </a:prstGeom>
          <a:noFill/>
          <a:ln/>
        </p:spPr>
        <p:txBody>
          <a:bodyPr wrap="square" lIns="0" tIns="0" rIns="0" bIns="0" rtlCol="0" anchor="ctr"/>
          <a:lstStyle/>
          <a:p>
            <a:pPr algn="ctr" indent="0" marL="0">
              <a:buNone/>
            </a:pPr>
            <a:r>
              <a:rPr lang="en-US" sz="1000" b="1" dirty="0">
                <a:solidFill>
                  <a:srgbClr val="1B3B6F"/>
                </a:solidFill>
                <a:latin typeface="Calibri" pitchFamily="34" charset="0"/>
                <a:cs typeface="Amiri" pitchFamily="2" charset="-78"/>
              </a:rPr>
              <a:t>12</a:t>
            </a:r>
            <a:endParaRPr lang="en-US" sz="1000" dirty="0"/>
          </a:p>
        </p:txBody>
      </p:sp>
      <p:sp>
        <p:nvSpPr>
          <p:cNvPr id="80" name="Shape 77"/>
          <p:cNvSpPr/>
          <p:nvPr/>
        </p:nvSpPr>
        <p:spPr>
          <a:xfrm>
            <a:off x="960120" y="4279392"/>
            <a:ext cx="709574" cy="256032"/>
          </a:xfrm>
          <a:prstGeom prst="roundRect">
            <a:avLst>
              <a:gd name="adj" fmla="val 50000"/>
            </a:avLst>
          </a:prstGeom>
          <a:solidFill>
            <a:srgbClr val="EFE7D2"/>
          </a:solidFill>
          <a:ln w="12700">
            <a:solidFill>
              <a:srgbClr val="EFE7D2"/>
            </a:solidFill>
            <a:prstDash val="solid"/>
          </a:ln>
        </p:spPr>
      </p:sp>
      <p:sp>
        <p:nvSpPr>
          <p:cNvPr id="81" name="Text 78"/>
          <p:cNvSpPr txBox="1"/>
          <p:nvPr/>
        </p:nvSpPr>
        <p:spPr>
          <a:xfrm>
            <a:off x="960120" y="4279392"/>
            <a:ext cx="709574" cy="256032"/>
          </a:xfrm>
          <a:prstGeom prst="rect">
            <a:avLst/>
          </a:prstGeom>
          <a:noFill/>
          <a:ln/>
        </p:spPr>
        <p:txBody>
          <a:bodyPr wrap="square" lIns="0" tIns="0" rIns="0" bIns="0" rtlCol="0" anchor="ctr"/>
          <a:lstStyle/>
          <a:p>
            <a:pPr algn="ctr" indent="0" marL="0">
              <a:buNone/>
            </a:pPr>
            <a:r>
              <a:rPr lang="en-US" sz="800" b="1" dirty="0">
                <a:solidFill>
                  <a:srgbClr val="8A6D1E"/>
                </a:solidFill>
                <a:latin typeface="Calibri" pitchFamily="34" charset="0"/>
                <a:cs typeface="Amiri" pitchFamily="2" charset="-78"/>
              </a:rPr>
              <a:t>careful</a:t>
            </a:r>
            <a:endParaRPr lang="en-US" sz="800" dirty="0"/>
          </a:p>
        </p:txBody>
      </p:sp>
      <p:sp>
        <p:nvSpPr>
          <p:cNvPr id="82" name="Text 79"/>
          <p:cNvSpPr txBox="1"/>
          <p:nvPr/>
        </p:nvSpPr>
        <p:spPr>
          <a:xfrm>
            <a:off x="566928" y="4553712"/>
            <a:ext cx="3401568" cy="868680"/>
          </a:xfrm>
          <a:prstGeom prst="rect">
            <a:avLst/>
          </a:prstGeom>
          <a:noFill/>
          <a:ln/>
        </p:spPr>
        <p:txBody>
          <a:bodyPr wrap="square" lIns="0" tIns="0" rIns="0" bIns="0" rtlCol="0" anchor="ctr"/>
          <a:lstStyle/>
          <a:p>
            <a:pPr rtl="1" algn="r" indent="0" marL="0">
              <a:buNone/>
            </a:pPr>
            <a:r>
              <a:rPr lang="ar-SA" altLang="en-US" sz="3000" b="1" dirty="0">
                <a:solidFill>
                  <a:srgbClr val="1B3B6F"/>
                </a:solidFill>
                <a:latin typeface="Amiri" pitchFamily="2" charset="-78"/>
                <a:ea typeface="Amiri" pitchFamily="2" charset="-78"/>
                <a:cs typeface="Amiri" pitchFamily="2" charset="-78"/>
              </a:rPr>
              <a:t>فِي بَعْضِ … · أَحْيَانًا</a:t>
            </a:r>
            <a:endParaRPr lang="ar-SA" sz="3000" dirty="0"/>
          </a:p>
        </p:txBody>
      </p:sp>
      <p:sp>
        <p:nvSpPr>
          <p:cNvPr id="83" name="Text 80"/>
          <p:cNvSpPr txBox="1"/>
          <p:nvPr/>
        </p:nvSpPr>
        <p:spPr>
          <a:xfrm>
            <a:off x="594360" y="5468112"/>
            <a:ext cx="3364992" cy="512064"/>
          </a:xfrm>
          <a:prstGeom prst="rect">
            <a:avLst/>
          </a:prstGeom>
          <a:noFill/>
          <a:ln/>
        </p:spPr>
        <p:txBody>
          <a:bodyPr wrap="square" lIns="0" tIns="0" rIns="0" bIns="0" rtlCol="0" anchor="t"/>
          <a:lstStyle/>
          <a:p>
            <a:pPr indent="0" marL="0">
              <a:buNone/>
            </a:pPr>
            <a:r>
              <a:rPr lang="en-US" sz="1350" b="1" dirty="0">
                <a:solidFill>
                  <a:srgbClr val="1F2A37"/>
                </a:solidFill>
                <a:latin typeface="Calibri" pitchFamily="34" charset="0"/>
                <a:cs typeface="Amiri" pitchFamily="2" charset="-78"/>
              </a:rPr>
              <a:t>in some … · sometimes</a:t>
            </a:r>
            <a:endParaRPr lang="en-US" sz="1350" dirty="0"/>
          </a:p>
          <a:p>
            <a:pPr indent="0" marL="0">
              <a:buNone/>
            </a:pPr>
            <a:r>
              <a:rPr lang="en-US" sz="1100" i="1" dirty="0">
                <a:solidFill>
                  <a:srgbClr val="5A6472"/>
                </a:solidFill>
                <a:latin typeface="Calibri" pitchFamily="34" charset="0"/>
                <a:cs typeface="Amiri" pitchFamily="2" charset="-78"/>
              </a:rPr>
              <a:t>fī baʿ-ḍi … · aḥ-yā-nan</a:t>
            </a:r>
            <a:endParaRPr lang="en-US" sz="1350" dirty="0"/>
          </a:p>
        </p:txBody>
      </p:sp>
      <p:sp>
        <p:nvSpPr>
          <p:cNvPr id="84" name="Text 81"/>
          <p:cNvSpPr txBox="1"/>
          <p:nvPr/>
        </p:nvSpPr>
        <p:spPr>
          <a:xfrm>
            <a:off x="594360" y="5961888"/>
            <a:ext cx="3364992" cy="292608"/>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Also: </a:t>
            </a:r>
            <a:pPr algn="l" indent="0" marL="0">
              <a:buNone/>
            </a:pPr>
            <a:r>
              <a:rPr lang="ar-SA" altLang="en-US" sz="1300" dirty="0">
                <a:solidFill>
                  <a:srgbClr val="8A6D1E"/>
                </a:solidFill>
                <a:latin typeface="Amiri" pitchFamily="2" charset="-78"/>
                <a:ea typeface="Amiri" pitchFamily="2" charset="-78"/>
                <a:cs typeface="Amiri" pitchFamily="2" charset="-78"/>
              </a:rPr>
              <a:t>لَيْسَ دَائِمًا</a:t>
            </a:r>
            <a:pPr algn="l" indent="0" marL="0">
              <a:buNone/>
            </a:pPr>
            <a:r>
              <a:rPr lang="en-US" sz="1000" i="1" dirty="0">
                <a:solidFill>
                  <a:srgbClr val="8A6D1E"/>
                </a:solidFill>
                <a:latin typeface="Calibri" pitchFamily="34" charset="0"/>
                <a:cs typeface="Amiri" pitchFamily="2" charset="-78"/>
              </a:rPr>
              <a:t> (not always)</a:t>
            </a:r>
            <a:endParaRPr lang="en-US" sz="1000" dirty="0"/>
          </a:p>
        </p:txBody>
      </p:sp>
      <p:sp>
        <p:nvSpPr>
          <p:cNvPr id="85" name="Text 8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9 / 37</a:t>
            </a:r>
            <a:endParaRPr lang="en-US" sz="850" dirty="0"/>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name="Slide 1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TB-L01 · Identity and Profiles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GRAMMAR FOCUS · GREETINGS SHOW RESPECT — BUT PRACTICES VARY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Observe, ask, follow the lead</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التَّحِيَّاتُ تُظْهِرُ الاِحْتِرَامَ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TB-L01</a:t>
            </a:r>
            <a:endParaRPr lang="en-US" sz="850" dirty="0"/>
          </a:p>
        </p:txBody>
      </p:sp>
      <p:sp>
        <p:nvSpPr>
          <p:cNvPr id="15" name="Shape 12"/>
          <p:cNvSpPr/>
          <p:nvPr/>
        </p:nvSpPr>
        <p:spPr>
          <a:xfrm>
            <a:off x="8095488"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32648" y="1920240"/>
            <a:ext cx="1303020" cy="274320"/>
          </a:xfrm>
          <a:prstGeom prst="roundRect">
            <a:avLst>
              <a:gd name="adj" fmla="val 50000"/>
            </a:avLst>
          </a:prstGeom>
          <a:solidFill>
            <a:srgbClr val="1D5FBF"/>
          </a:solidFill>
          <a:ln w="12700">
            <a:solidFill>
              <a:srgbClr val="1D5FBF"/>
            </a:solidFill>
            <a:prstDash val="solid"/>
          </a:ln>
        </p:spPr>
      </p:sp>
      <p:sp>
        <p:nvSpPr>
          <p:cNvPr id="17" name="Text 14"/>
          <p:cNvSpPr txBox="1"/>
          <p:nvPr/>
        </p:nvSpPr>
        <p:spPr>
          <a:xfrm>
            <a:off x="8232648" y="1920240"/>
            <a:ext cx="130302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1 · WORDS FIRST</a:t>
            </a:r>
            <a:endParaRPr lang="en-US" sz="850" dirty="0"/>
          </a:p>
        </p:txBody>
      </p:sp>
      <p:sp>
        <p:nvSpPr>
          <p:cNvPr id="18" name="Text 15"/>
          <p:cNvSpPr txBox="1"/>
          <p:nvPr/>
        </p:nvSpPr>
        <p:spPr>
          <a:xfrm>
            <a:off x="9581388" y="1874520"/>
            <a:ext cx="201320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السَّلَامُ عَلَيْكُمْ</a:t>
            </a:r>
            <a:endParaRPr lang="ar-SA" sz="1600" dirty="0"/>
          </a:p>
        </p:txBody>
      </p:sp>
      <p:sp>
        <p:nvSpPr>
          <p:cNvPr id="19" name="Text 16"/>
          <p:cNvSpPr txBox="1"/>
          <p:nvPr/>
        </p:nvSpPr>
        <p:spPr>
          <a:xfrm>
            <a:off x="8232648"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100" b="1" dirty="0">
                <a:solidFill>
                  <a:srgbClr val="1B3B6F"/>
                </a:solidFill>
                <a:latin typeface="Amiri" pitchFamily="2" charset="-78"/>
                <a:ea typeface="Amiri" pitchFamily="2" charset="-78"/>
                <a:cs typeface="Amiri" pitchFamily="2" charset="-78"/>
              </a:rPr>
              <a:t>السَّلَامُ عَلَيْكُمْ · مَرْحَبًا · أَهْلًا وَسَهْلًا</a:t>
            </a:r>
            <a:endParaRPr lang="ar-SA" sz="2100" dirty="0"/>
          </a:p>
        </p:txBody>
      </p:sp>
      <p:sp>
        <p:nvSpPr>
          <p:cNvPr id="20" name="Text 17"/>
          <p:cNvSpPr txBox="1"/>
          <p:nvPr/>
        </p:nvSpPr>
        <p:spPr>
          <a:xfrm>
            <a:off x="8232648"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Start with a clear spoken greeting.</a:t>
            </a:r>
            <a:endParaRPr lang="en-US" sz="1200" dirty="0"/>
          </a:p>
        </p:txBody>
      </p:sp>
      <p:sp>
        <p:nvSpPr>
          <p:cNvPr id="21" name="Shape 18"/>
          <p:cNvSpPr/>
          <p:nvPr/>
        </p:nvSpPr>
        <p:spPr>
          <a:xfrm>
            <a:off x="8205216" y="3913632"/>
            <a:ext cx="3416808" cy="804672"/>
          </a:xfrm>
          <a:prstGeom prst="roundRect">
            <a:avLst>
              <a:gd name="adj" fmla="val 5682"/>
            </a:avLst>
          </a:prstGeom>
          <a:solidFill>
            <a:srgbClr val="FFF4E0"/>
          </a:solidFill>
          <a:ln w="9525">
            <a:solidFill>
              <a:srgbClr val="FFF4E0"/>
            </a:solidFill>
            <a:prstDash val="solid"/>
          </a:ln>
        </p:spPr>
      </p:sp>
      <p:sp>
        <p:nvSpPr>
          <p:cNvPr id="22" name="Text 19"/>
          <p:cNvSpPr txBox="1"/>
          <p:nvPr/>
        </p:nvSpPr>
        <p:spPr>
          <a:xfrm>
            <a:off x="8296656"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Words are always a respectful start.</a:t>
            </a:r>
            <a:endParaRPr lang="en-US" sz="1100" dirty="0"/>
          </a:p>
        </p:txBody>
      </p:sp>
      <p:sp>
        <p:nvSpPr>
          <p:cNvPr id="23" name="Shape 20"/>
          <p:cNvSpPr/>
          <p:nvPr/>
        </p:nvSpPr>
        <p:spPr>
          <a:xfrm>
            <a:off x="4276344"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13504" y="1920240"/>
            <a:ext cx="1920240" cy="274320"/>
          </a:xfrm>
          <a:prstGeom prst="roundRect">
            <a:avLst>
              <a:gd name="adj" fmla="val 50000"/>
            </a:avLst>
          </a:prstGeom>
          <a:solidFill>
            <a:srgbClr val="6B4C9A"/>
          </a:solidFill>
          <a:ln w="12700">
            <a:solidFill>
              <a:srgbClr val="6B4C9A"/>
            </a:solidFill>
            <a:prstDash val="solid"/>
          </a:ln>
        </p:spPr>
      </p:sp>
      <p:sp>
        <p:nvSpPr>
          <p:cNvPr id="25" name="Text 22"/>
          <p:cNvSpPr txBox="1"/>
          <p:nvPr/>
        </p:nvSpPr>
        <p:spPr>
          <a:xfrm>
            <a:off x="4413504" y="1920240"/>
            <a:ext cx="192024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2 · RELATIONSHIP MATTERS</a:t>
            </a:r>
            <a:endParaRPr lang="en-US" sz="850" dirty="0"/>
          </a:p>
        </p:txBody>
      </p:sp>
      <p:sp>
        <p:nvSpPr>
          <p:cNvPr id="26" name="Text 23"/>
          <p:cNvSpPr txBox="1"/>
          <p:nvPr/>
        </p:nvSpPr>
        <p:spPr>
          <a:xfrm>
            <a:off x="6379464" y="1874520"/>
            <a:ext cx="139598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كَبِيرُ السِّنِّ</a:t>
            </a:r>
            <a:endParaRPr lang="ar-SA" sz="1600" dirty="0"/>
          </a:p>
        </p:txBody>
      </p:sp>
      <p:sp>
        <p:nvSpPr>
          <p:cNvPr id="27" name="Text 24"/>
          <p:cNvSpPr txBox="1"/>
          <p:nvPr/>
        </p:nvSpPr>
        <p:spPr>
          <a:xfrm>
            <a:off x="4413504"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250" b="1" dirty="0">
                <a:solidFill>
                  <a:srgbClr val="1B3B6F"/>
                </a:solidFill>
                <a:latin typeface="Amiri" pitchFamily="2" charset="-78"/>
                <a:ea typeface="Amiri" pitchFamily="2" charset="-78"/>
                <a:cs typeface="Amiri" pitchFamily="2" charset="-78"/>
              </a:rPr>
              <a:t>صَدِيقٌ · مُعَلِّمٌ · ضَيْفٌ · كَبِيرُ السِّنِّ</a:t>
            </a:r>
            <a:endParaRPr lang="ar-SA" sz="2250" dirty="0"/>
          </a:p>
        </p:txBody>
      </p:sp>
      <p:sp>
        <p:nvSpPr>
          <p:cNvPr id="28" name="Text 25"/>
          <p:cNvSpPr txBox="1"/>
          <p:nvPr/>
        </p:nvSpPr>
        <p:spPr>
          <a:xfrm>
            <a:off x="4413504"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friend · teacher · guest · older person</a:t>
            </a:r>
            <a:endParaRPr lang="en-US" sz="1200" dirty="0"/>
          </a:p>
        </p:txBody>
      </p:sp>
      <p:sp>
        <p:nvSpPr>
          <p:cNvPr id="29" name="Shape 26"/>
          <p:cNvSpPr/>
          <p:nvPr/>
        </p:nvSpPr>
        <p:spPr>
          <a:xfrm>
            <a:off x="4386072" y="3913632"/>
            <a:ext cx="3416808" cy="804672"/>
          </a:xfrm>
          <a:prstGeom prst="roundRect">
            <a:avLst>
              <a:gd name="adj" fmla="val 5682"/>
            </a:avLst>
          </a:prstGeom>
          <a:solidFill>
            <a:srgbClr val="FFF4E0"/>
          </a:solidFill>
          <a:ln w="9525">
            <a:solidFill>
              <a:srgbClr val="FFF4E0"/>
            </a:solidFill>
            <a:prstDash val="solid"/>
          </a:ln>
        </p:spPr>
      </p:sp>
      <p:sp>
        <p:nvSpPr>
          <p:cNvPr id="30" name="Text 27"/>
          <p:cNvSpPr txBox="1"/>
          <p:nvPr/>
        </p:nvSpPr>
        <p:spPr>
          <a:xfrm>
            <a:off x="4477512"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Different people may be greeted differently.</a:t>
            </a:r>
            <a:endParaRPr lang="en-US" sz="1100" dirty="0"/>
          </a:p>
        </p:txBody>
      </p:sp>
      <p:sp>
        <p:nvSpPr>
          <p:cNvPr id="31" name="Shape 28"/>
          <p:cNvSpPr/>
          <p:nvPr/>
        </p:nvSpPr>
        <p:spPr>
          <a:xfrm>
            <a:off x="457200" y="1810512"/>
            <a:ext cx="3636264" cy="3017520"/>
          </a:xfrm>
          <a:prstGeom prst="roundRect">
            <a:avLst>
              <a:gd name="adj" fmla="val 242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594360" y="1920240"/>
            <a:ext cx="1508760" cy="274320"/>
          </a:xfrm>
          <a:prstGeom prst="roundRect">
            <a:avLst>
              <a:gd name="adj" fmla="val 50000"/>
            </a:avLst>
          </a:prstGeom>
          <a:solidFill>
            <a:srgbClr val="0E7C86"/>
          </a:solidFill>
          <a:ln w="12700">
            <a:solidFill>
              <a:srgbClr val="0E7C86"/>
            </a:solidFill>
            <a:prstDash val="solid"/>
          </a:ln>
        </p:spPr>
      </p:sp>
      <p:sp>
        <p:nvSpPr>
          <p:cNvPr id="33" name="Text 30"/>
          <p:cNvSpPr txBox="1"/>
          <p:nvPr/>
        </p:nvSpPr>
        <p:spPr>
          <a:xfrm>
            <a:off x="594360" y="1920240"/>
            <a:ext cx="15087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3 · CONTACT VARIES</a:t>
            </a:r>
            <a:endParaRPr lang="en-US" sz="850" dirty="0"/>
          </a:p>
        </p:txBody>
      </p:sp>
      <p:sp>
        <p:nvSpPr>
          <p:cNvPr id="34" name="Text 31"/>
          <p:cNvSpPr txBox="1"/>
          <p:nvPr/>
        </p:nvSpPr>
        <p:spPr>
          <a:xfrm>
            <a:off x="2148840" y="1874520"/>
            <a:ext cx="1807464" cy="365760"/>
          </a:xfrm>
          <a:prstGeom prst="rect">
            <a:avLst/>
          </a:prstGeom>
          <a:noFill/>
          <a:ln/>
        </p:spPr>
        <p:txBody>
          <a:bodyPr wrap="square" lIns="0" tIns="0" rIns="0" bIns="0" rtlCol="0" anchor="ctr"/>
          <a:lstStyle/>
          <a:p>
            <a:pPr rtl="1" algn="r" indent="0" marL="0">
              <a:buNone/>
            </a:pPr>
            <a:r>
              <a:rPr lang="ar-SA" altLang="en-US" sz="1600" b="1" dirty="0">
                <a:solidFill>
                  <a:srgbClr val="8A6D1E"/>
                </a:solidFill>
                <a:latin typeface="Amiri" pitchFamily="2" charset="-78"/>
                <a:ea typeface="Amiri" pitchFamily="2" charset="-78"/>
                <a:cs typeface="Amiri" pitchFamily="2" charset="-78"/>
              </a:rPr>
              <a:t>مُصَافَحَةٌ</a:t>
            </a:r>
            <a:endParaRPr lang="ar-SA" sz="1600" dirty="0"/>
          </a:p>
        </p:txBody>
      </p:sp>
      <p:sp>
        <p:nvSpPr>
          <p:cNvPr id="35" name="Text 32"/>
          <p:cNvSpPr txBox="1"/>
          <p:nvPr/>
        </p:nvSpPr>
        <p:spPr>
          <a:xfrm>
            <a:off x="594360" y="2286000"/>
            <a:ext cx="3361944" cy="109728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مُصَافَحَةٌ · اِبْتِسَامَةٌ · الكَلِمَاتُ فَقَطْ</a:t>
            </a:r>
            <a:endParaRPr lang="ar-SA" sz="2200" dirty="0"/>
          </a:p>
        </p:txBody>
      </p:sp>
      <p:sp>
        <p:nvSpPr>
          <p:cNvPr id="36" name="Text 33"/>
          <p:cNvSpPr txBox="1"/>
          <p:nvPr/>
        </p:nvSpPr>
        <p:spPr>
          <a:xfrm>
            <a:off x="594360" y="3364992"/>
            <a:ext cx="3361944" cy="411480"/>
          </a:xfrm>
          <a:prstGeom prst="rect">
            <a:avLst/>
          </a:prstGeom>
          <a:noFill/>
          <a:ln/>
        </p:spPr>
        <p:txBody>
          <a:bodyPr wrap="square" lIns="0" tIns="0" rIns="0" bIns="0" rtlCol="0" anchor="ctr"/>
          <a:lstStyle/>
          <a:p>
            <a:pPr algn="ctr" indent="0" marL="0">
              <a:buNone/>
            </a:pPr>
            <a:r>
              <a:rPr lang="en-US" sz="1200" i="1" dirty="0">
                <a:solidFill>
                  <a:srgbClr val="5A6472"/>
                </a:solidFill>
                <a:latin typeface="Calibri" pitchFamily="34" charset="0"/>
                <a:cs typeface="Amiri" pitchFamily="2" charset="-78"/>
              </a:rPr>
              <a:t>handshake · smile · words only</a:t>
            </a:r>
            <a:endParaRPr lang="en-US" sz="1200" dirty="0"/>
          </a:p>
        </p:txBody>
      </p:sp>
      <p:sp>
        <p:nvSpPr>
          <p:cNvPr id="37" name="Shape 34"/>
          <p:cNvSpPr/>
          <p:nvPr/>
        </p:nvSpPr>
        <p:spPr>
          <a:xfrm>
            <a:off x="566928" y="3913632"/>
            <a:ext cx="3416808" cy="804672"/>
          </a:xfrm>
          <a:prstGeom prst="roundRect">
            <a:avLst>
              <a:gd name="adj" fmla="val 5682"/>
            </a:avLst>
          </a:prstGeom>
          <a:solidFill>
            <a:srgbClr val="FFF4E0"/>
          </a:solidFill>
          <a:ln w="9525">
            <a:solidFill>
              <a:srgbClr val="FFF4E0"/>
            </a:solidFill>
            <a:prstDash val="solid"/>
          </a:ln>
        </p:spPr>
      </p:sp>
      <p:sp>
        <p:nvSpPr>
          <p:cNvPr id="38" name="Text 35"/>
          <p:cNvSpPr txBox="1"/>
          <p:nvPr/>
        </p:nvSpPr>
        <p:spPr>
          <a:xfrm>
            <a:off x="658368" y="3950208"/>
            <a:ext cx="3233928" cy="731520"/>
          </a:xfrm>
          <a:prstGeom prst="rect">
            <a:avLst/>
          </a:prstGeom>
          <a:noFill/>
          <a:ln/>
        </p:spPr>
        <p:txBody>
          <a:bodyPr wrap="square" lIns="0" tIns="0" rIns="0" bIns="0" rtlCol="0" anchor="ctr"/>
          <a:lstStyle/>
          <a:p>
            <a:pPr algn="l" indent="0" marL="0">
              <a:buNone/>
            </a:pPr>
            <a:r>
              <a:rPr lang="en-US" sz="1100" dirty="0">
                <a:solidFill>
                  <a:srgbClr val="1F2A37"/>
                </a:solidFill>
                <a:latin typeface="Calibri" pitchFamily="34" charset="0"/>
                <a:cs typeface="Amiri" pitchFamily="2" charset="-78"/>
              </a:rPr>
              <a:t>All can be normal. Do not assume — follow their lead.</a:t>
            </a:r>
            <a:endParaRPr lang="en-US" sz="1100" dirty="0"/>
          </a:p>
        </p:txBody>
      </p:sp>
      <p:sp>
        <p:nvSpPr>
          <p:cNvPr id="39" name="Shape 36"/>
          <p:cNvSpPr/>
          <p:nvPr/>
        </p:nvSpPr>
        <p:spPr>
          <a:xfrm>
            <a:off x="457200" y="5010912"/>
            <a:ext cx="11274552" cy="1298448"/>
          </a:xfrm>
          <a:prstGeom prst="roundRect">
            <a:avLst>
              <a:gd name="adj" fmla="val 5634"/>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85800" y="5102352"/>
            <a:ext cx="2743200" cy="274320"/>
          </a:xfrm>
          <a:prstGeom prst="rect">
            <a:avLst/>
          </a:prstGeom>
          <a:noFill/>
          <a:ln/>
        </p:spPr>
        <p:txBody>
          <a:bodyPr wrap="square" lIns="0" tIns="0" rIns="0" bIns="0" rtlCol="0" anchor="ctr"/>
          <a:lstStyle/>
          <a:p>
            <a:pPr algn="l" indent="0" marL="0">
              <a:buNone/>
            </a:pPr>
            <a:r>
              <a:rPr lang="en-US" sz="1000" b="1" spc="200" kern="0" dirty="0">
                <a:solidFill>
                  <a:srgbClr val="B83227"/>
                </a:solidFill>
                <a:latin typeface="Calibri" pitchFamily="34" charset="0"/>
                <a:cs typeface="Amiri" pitchFamily="2" charset="-78"/>
              </a:rPr>
              <a:t>COMMON ERROR</a:t>
            </a:r>
            <a:endParaRPr lang="en-US" sz="1000" dirty="0"/>
          </a:p>
        </p:txBody>
      </p:sp>
      <p:sp>
        <p:nvSpPr>
          <p:cNvPr id="41" name="Text 38"/>
          <p:cNvSpPr txBox="1"/>
          <p:nvPr/>
        </p:nvSpPr>
        <p:spPr>
          <a:xfrm>
            <a:off x="685800" y="5394960"/>
            <a:ext cx="3291840" cy="822960"/>
          </a:xfrm>
          <a:prstGeom prst="rect">
            <a:avLst/>
          </a:prstGeom>
          <a:noFill/>
          <a:ln/>
        </p:spPr>
        <p:txBody>
          <a:bodyPr wrap="square" lIns="0" tIns="0" rIns="0" bIns="0" rtlCol="0" anchor="t"/>
          <a:lstStyle/>
          <a:p>
            <a:pPr algn="l" indent="0" marL="0">
              <a:buNone/>
            </a:pPr>
            <a:r>
              <a:rPr lang="en-US" sz="1150" dirty="0">
                <a:solidFill>
                  <a:srgbClr val="1F2A37"/>
                </a:solidFill>
                <a:latin typeface="Calibri" pitchFamily="34" charset="0"/>
                <a:cs typeface="Amiri" pitchFamily="2" charset="-78"/>
              </a:rPr>
              <a:t>Avoid the stereotype (website): one language does not mean one greeting style.</a:t>
            </a:r>
            <a:endParaRPr lang="en-US" sz="1150" dirty="0"/>
          </a:p>
        </p:txBody>
      </p:sp>
      <p:sp>
        <p:nvSpPr>
          <p:cNvPr id="42" name="Text 39"/>
          <p:cNvSpPr txBox="1"/>
          <p:nvPr/>
        </p:nvSpPr>
        <p:spPr>
          <a:xfrm>
            <a:off x="9966960" y="5230368"/>
            <a:ext cx="1645920" cy="868680"/>
          </a:xfrm>
          <a:prstGeom prst="rect">
            <a:avLst/>
          </a:prstGeom>
          <a:noFill/>
          <a:ln/>
        </p:spPr>
        <p:txBody>
          <a:bodyPr wrap="square" lIns="0" tIns="0" rIns="0" bIns="0" rtlCol="0" anchor="ctr"/>
          <a:lstStyle/>
          <a:p>
            <a:pPr rtl="1" algn="ctr" indent="0" marL="0">
              <a:lnSpc>
                <a:spcPct val="120000"/>
              </a:lnSpc>
              <a:buNone/>
            </a:pPr>
            <a:r>
              <a:rPr lang="ar-SA" altLang="en-US" sz="1900" b="1" dirty="0">
                <a:solidFill>
                  <a:srgbClr val="1B3B6F"/>
                </a:solidFill>
                <a:latin typeface="Amiri" pitchFamily="2" charset="-78"/>
                <a:ea typeface="Amiri" pitchFamily="2" charset="-78"/>
                <a:cs typeface="Amiri" pitchFamily="2" charset="-78"/>
              </a:rPr>
              <a:t>فِي بَعْضِ العَائِلَاتِ …</a:t>
            </a:r>
            <a:endParaRPr lang="ar-SA" sz="1900" dirty="0"/>
          </a:p>
        </p:txBody>
      </p:sp>
      <p:sp>
        <p:nvSpPr>
          <p:cNvPr id="43" name="Text 40"/>
          <p:cNvSpPr txBox="1"/>
          <p:nvPr/>
        </p:nvSpPr>
        <p:spPr>
          <a:xfrm>
            <a:off x="9601200" y="5230368"/>
            <a:ext cx="365760" cy="868680"/>
          </a:xfrm>
          <a:prstGeom prst="rect">
            <a:avLst/>
          </a:prstGeom>
          <a:noFill/>
          <a:ln/>
        </p:spPr>
        <p:txBody>
          <a:bodyPr wrap="square" lIns="0" tIns="0" rIns="0" bIns="0" rtlCol="0" anchor="ctr"/>
          <a:lstStyle/>
          <a:p>
            <a:pPr algn="ctr" indent="0" marL="0">
              <a:buNone/>
            </a:pPr>
            <a:r>
              <a:rPr lang="en-US" sz="2000" dirty="0">
                <a:solidFill>
                  <a:srgbClr val="5A6472"/>
                </a:solidFill>
                <a:latin typeface="Calibri" pitchFamily="34" charset="0"/>
                <a:cs typeface="Amiri" pitchFamily="2" charset="-78"/>
              </a:rPr>
              <a:t>→</a:t>
            </a:r>
            <a:endParaRPr lang="en-US" sz="2000" dirty="0"/>
          </a:p>
        </p:txBody>
      </p:sp>
      <p:sp>
        <p:nvSpPr>
          <p:cNvPr id="44" name="Text 41"/>
          <p:cNvSpPr txBox="1"/>
          <p:nvPr/>
        </p:nvSpPr>
        <p:spPr>
          <a:xfrm>
            <a:off x="8001000" y="5230368"/>
            <a:ext cx="1645920" cy="868680"/>
          </a:xfrm>
          <a:prstGeom prst="rect">
            <a:avLst/>
          </a:prstGeom>
          <a:noFill/>
          <a:ln/>
        </p:spPr>
        <p:txBody>
          <a:bodyPr wrap="square" lIns="0" tIns="0" rIns="0" bIns="0" rtlCol="0" anchor="ctr"/>
          <a:lstStyle/>
          <a:p>
            <a:pPr rtl="1" algn="ctr" indent="0" marL="0">
              <a:buNone/>
            </a:pPr>
            <a:r>
              <a:rPr lang="ar-SA" altLang="en-US" sz="2500" b="1" dirty="0">
                <a:solidFill>
                  <a:srgbClr val="B83227"/>
                </a:solidFill>
                <a:latin typeface="Amiri" pitchFamily="2" charset="-78"/>
                <a:ea typeface="Amiri" pitchFamily="2" charset="-78"/>
                <a:cs typeface="Amiri" pitchFamily="2" charset="-78"/>
              </a:rPr>
              <a:t>كُلُّ العَائِلَاتِ …</a:t>
            </a:r>
            <a:endParaRPr lang="ar-SA" sz="2500" dirty="0"/>
          </a:p>
        </p:txBody>
      </p:sp>
      <p:sp>
        <p:nvSpPr>
          <p:cNvPr id="45" name="Shape 42"/>
          <p:cNvSpPr/>
          <p:nvPr/>
        </p:nvSpPr>
        <p:spPr>
          <a:xfrm>
            <a:off x="8138160" y="5669280"/>
            <a:ext cx="1371600" cy="0"/>
          </a:xfrm>
          <a:prstGeom prst="line">
            <a:avLst/>
          </a:prstGeom>
          <a:noFill/>
          <a:ln w="25400">
            <a:solidFill>
              <a:srgbClr val="B83227"/>
            </a:solidFill>
            <a:prstDash val="solid"/>
          </a:ln>
        </p:spPr>
      </p:sp>
      <p:sp>
        <p:nvSpPr>
          <p:cNvPr id="46" name="Text 43"/>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10 / 37</a:t>
            </a:r>
            <a:endParaRPr lang="en-US" sz="850" dirty="0"/>
          </a:p>
        </p:txBody>
      </p:sp>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name="Slide 1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TB-L01 · Identity and Profiles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KEY WORDS · GROUP 2 · BLESSING LANGUAGE IN EVERYDAY SPEECH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Everyday blessing phrases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عِبَارَاتٌ يَوْمِيَّةٌ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781544" y="1810512"/>
            <a:ext cx="387705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Phrase</a:t>
            </a:r>
            <a:endParaRPr lang="en-US" sz="1100" dirty="0"/>
          </a:p>
        </p:txBody>
      </p:sp>
      <p:sp>
        <p:nvSpPr>
          <p:cNvPr id="17" name="Text 14"/>
          <p:cNvSpPr txBox="1"/>
          <p:nvPr/>
        </p:nvSpPr>
        <p:spPr>
          <a:xfrm>
            <a:off x="3941064"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8" name="Text 15"/>
          <p:cNvSpPr txBox="1"/>
          <p:nvPr/>
        </p:nvSpPr>
        <p:spPr>
          <a:xfrm>
            <a:off x="530352" y="1810512"/>
            <a:ext cx="326440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You may hear it…</a:t>
            </a:r>
            <a:endParaRPr lang="en-US" sz="1100" dirty="0"/>
          </a:p>
        </p:txBody>
      </p:sp>
      <p:sp>
        <p:nvSpPr>
          <p:cNvPr id="19" name="Shape 16"/>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0" name="Text 17"/>
          <p:cNvSpPr txBox="1"/>
          <p:nvPr/>
        </p:nvSpPr>
        <p:spPr>
          <a:xfrm>
            <a:off x="7799832" y="2267712"/>
            <a:ext cx="384048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السَّلَامُ عَلَيْكُمْ</a:t>
            </a:r>
            <a:endParaRPr lang="ar-SA" sz="2400" dirty="0"/>
          </a:p>
        </p:txBody>
      </p:sp>
      <p:sp>
        <p:nvSpPr>
          <p:cNvPr id="21" name="Text 18"/>
          <p:cNvSpPr txBox="1"/>
          <p:nvPr/>
        </p:nvSpPr>
        <p:spPr>
          <a:xfrm>
            <a:off x="3977640" y="2267712"/>
            <a:ext cx="36576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Peace be upon you.</a:t>
            </a:r>
            <a:endParaRPr lang="en-US" sz="1100" dirty="0"/>
          </a:p>
        </p:txBody>
      </p:sp>
      <p:sp>
        <p:nvSpPr>
          <p:cNvPr id="22" name="Text 19"/>
          <p:cNvSpPr txBox="1"/>
          <p:nvPr/>
        </p:nvSpPr>
        <p:spPr>
          <a:xfrm>
            <a:off x="566928" y="2267712"/>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as a greeting (F2-L01, website)</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6" name="Text 23"/>
          <p:cNvSpPr txBox="1"/>
          <p:nvPr/>
        </p:nvSpPr>
        <p:spPr>
          <a:xfrm>
            <a:off x="7799832" y="3054096"/>
            <a:ext cx="384048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الحَمْدُ لِلَّهِ</a:t>
            </a:r>
            <a:endParaRPr lang="ar-SA" sz="2400" dirty="0"/>
          </a:p>
        </p:txBody>
      </p:sp>
      <p:sp>
        <p:nvSpPr>
          <p:cNvPr id="27" name="Text 24"/>
          <p:cNvSpPr txBox="1"/>
          <p:nvPr/>
        </p:nvSpPr>
        <p:spPr>
          <a:xfrm>
            <a:off x="3977640" y="3054096"/>
            <a:ext cx="36576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Praise be to God. / I am well.</a:t>
            </a:r>
            <a:endParaRPr lang="en-US" sz="1100" dirty="0"/>
          </a:p>
        </p:txBody>
      </p:sp>
      <p:sp>
        <p:nvSpPr>
          <p:cNvPr id="28" name="Text 25"/>
          <p:cNvSpPr txBox="1"/>
          <p:nvPr/>
        </p:nvSpPr>
        <p:spPr>
          <a:xfrm>
            <a:off x="566928" y="3054096"/>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after “how are you?”</a:t>
            </a:r>
            <a:endParaRPr lang="en-US" sz="1100" dirty="0"/>
          </a:p>
        </p:txBody>
      </p:sp>
      <p:sp>
        <p:nvSpPr>
          <p:cNvPr id="29" name="Shape 26"/>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2" name="Text 29"/>
          <p:cNvSpPr txBox="1"/>
          <p:nvPr/>
        </p:nvSpPr>
        <p:spPr>
          <a:xfrm>
            <a:off x="7799832" y="3840480"/>
            <a:ext cx="384048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إِنْ شَاءَ اللَّهُ</a:t>
            </a:r>
            <a:endParaRPr lang="ar-SA" sz="2400" dirty="0"/>
          </a:p>
        </p:txBody>
      </p:sp>
      <p:sp>
        <p:nvSpPr>
          <p:cNvPr id="33" name="Text 30"/>
          <p:cNvSpPr txBox="1"/>
          <p:nvPr/>
        </p:nvSpPr>
        <p:spPr>
          <a:xfrm>
            <a:off x="3977640" y="3840480"/>
            <a:ext cx="36576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God willing.</a:t>
            </a:r>
            <a:endParaRPr lang="en-US" sz="1100" dirty="0"/>
          </a:p>
        </p:txBody>
      </p:sp>
      <p:sp>
        <p:nvSpPr>
          <p:cNvPr id="34" name="Text 31"/>
          <p:cNvSpPr txBox="1"/>
          <p:nvPr/>
        </p:nvSpPr>
        <p:spPr>
          <a:xfrm>
            <a:off x="566928" y="3840480"/>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when talking about the future</a:t>
            </a:r>
            <a:endParaRPr lang="en-US" sz="1100" dirty="0"/>
          </a:p>
        </p:txBody>
      </p:sp>
      <p:sp>
        <p:nvSpPr>
          <p:cNvPr id="35" name="Shape 32"/>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36" name="Text 33"/>
          <p:cNvSpPr txBox="1"/>
          <p:nvPr/>
        </p:nvSpPr>
        <p:spPr>
          <a:xfrm>
            <a:off x="7799832" y="4626864"/>
            <a:ext cx="3840480" cy="731520"/>
          </a:xfrm>
          <a:prstGeom prst="rect">
            <a:avLst/>
          </a:prstGeom>
          <a:noFill/>
          <a:ln/>
        </p:spPr>
        <p:txBody>
          <a:bodyPr wrap="square" lIns="0" tIns="0" rIns="0" bIns="0" rtlCol="0" anchor="ctr"/>
          <a:lstStyle/>
          <a:p>
            <a:pPr rtl="1" algn="ctr" indent="0" marL="0">
              <a:buNone/>
            </a:pPr>
            <a:r>
              <a:rPr lang="ar-SA" altLang="en-US" sz="2400" b="1" dirty="0">
                <a:solidFill>
                  <a:srgbClr val="1B3B6F"/>
                </a:solidFill>
                <a:latin typeface="Amiri" pitchFamily="2" charset="-78"/>
                <a:ea typeface="Amiri" pitchFamily="2" charset="-78"/>
                <a:cs typeface="Amiri" pitchFamily="2" charset="-78"/>
              </a:rPr>
              <a:t>مَا شَاءَ اللَّهُ</a:t>
            </a:r>
            <a:endParaRPr lang="ar-SA" sz="2400" dirty="0"/>
          </a:p>
        </p:txBody>
      </p:sp>
      <p:sp>
        <p:nvSpPr>
          <p:cNvPr id="37" name="Text 34"/>
          <p:cNvSpPr txBox="1"/>
          <p:nvPr/>
        </p:nvSpPr>
        <p:spPr>
          <a:xfrm>
            <a:off x="3977640" y="4626864"/>
            <a:ext cx="365760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An expression of appreciation and blessing.</a:t>
            </a:r>
            <a:endParaRPr lang="en-US" sz="1100" dirty="0"/>
          </a:p>
        </p:txBody>
      </p:sp>
      <p:sp>
        <p:nvSpPr>
          <p:cNvPr id="38" name="Text 35"/>
          <p:cNvSpPr txBox="1"/>
          <p:nvPr/>
        </p:nvSpPr>
        <p:spPr>
          <a:xfrm>
            <a:off x="566928" y="4626864"/>
            <a:ext cx="322783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when admiring something</a:t>
            </a:r>
            <a:endParaRPr lang="en-US" sz="11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11 / 37</a:t>
            </a:r>
            <a:endParaRPr lang="en-US" sz="850" dirty="0"/>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name="Slide 1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TB-L01 · Identity and Profiles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1B3B6F"/>
                </a:solidFill>
                <a:latin typeface="Calibri" pitchFamily="34" charset="0"/>
                <a:cs typeface="Amiri" pitchFamily="2" charset="-78"/>
              </a:rPr>
              <a:t>KEY WORDS · GROUP 2 · HOSPITALITY AND FAMILY LANGUAGE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Welcome, offer, ask after the family</a:t>
            </a:r>
            <a:endParaRPr lang="en-US" sz="25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لُغَةُ الضِّيَافَةِ وَالعَائِلَةِ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7232904" y="1810512"/>
            <a:ext cx="442569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Phrase</a:t>
            </a:r>
            <a:endParaRPr lang="en-US" sz="1100" dirty="0"/>
          </a:p>
        </p:txBody>
      </p:sp>
      <p:sp>
        <p:nvSpPr>
          <p:cNvPr id="17" name="Text 14"/>
          <p:cNvSpPr txBox="1"/>
          <p:nvPr/>
        </p:nvSpPr>
        <p:spPr>
          <a:xfrm>
            <a:off x="3758184" y="1810512"/>
            <a:ext cx="332841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Meaning</a:t>
            </a:r>
            <a:endParaRPr lang="en-US" sz="1100" dirty="0"/>
          </a:p>
        </p:txBody>
      </p:sp>
      <p:sp>
        <p:nvSpPr>
          <p:cNvPr id="18" name="Text 15"/>
          <p:cNvSpPr txBox="1"/>
          <p:nvPr/>
        </p:nvSpPr>
        <p:spPr>
          <a:xfrm>
            <a:off x="530352" y="1810512"/>
            <a:ext cx="308152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Use</a:t>
            </a:r>
            <a:endParaRPr lang="en-US" sz="1100" dirty="0"/>
          </a:p>
        </p:txBody>
      </p:sp>
      <p:sp>
        <p:nvSpPr>
          <p:cNvPr id="19" name="Shape 16"/>
          <p:cNvSpPr/>
          <p:nvPr/>
        </p:nvSpPr>
        <p:spPr>
          <a:xfrm>
            <a:off x="457200" y="2267712"/>
            <a:ext cx="11274552" cy="627888"/>
          </a:xfrm>
          <a:prstGeom prst="roundRect">
            <a:avLst>
              <a:gd name="adj" fmla="val 7282"/>
            </a:avLst>
          </a:prstGeom>
          <a:solidFill>
            <a:srgbClr val="FFFFFF"/>
          </a:solidFill>
          <a:ln w="9525">
            <a:solidFill>
              <a:srgbClr val="D8D0BF"/>
            </a:solidFill>
            <a:prstDash val="solid"/>
          </a:ln>
        </p:spPr>
      </p:sp>
      <p:sp>
        <p:nvSpPr>
          <p:cNvPr id="20" name="Text 17"/>
          <p:cNvSpPr txBox="1"/>
          <p:nvPr/>
        </p:nvSpPr>
        <p:spPr>
          <a:xfrm>
            <a:off x="7251192" y="2267712"/>
            <a:ext cx="4389120" cy="62788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أَهْلًا وَسَهْلًا</a:t>
            </a:r>
            <a:endParaRPr lang="ar-SA" sz="2200" dirty="0"/>
          </a:p>
        </p:txBody>
      </p:sp>
      <p:sp>
        <p:nvSpPr>
          <p:cNvPr id="21" name="Text 18"/>
          <p:cNvSpPr txBox="1"/>
          <p:nvPr/>
        </p:nvSpPr>
        <p:spPr>
          <a:xfrm>
            <a:off x="3794760" y="2267712"/>
            <a:ext cx="329184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Welcome.</a:t>
            </a:r>
            <a:endParaRPr lang="en-US" sz="1100" dirty="0"/>
          </a:p>
        </p:txBody>
      </p:sp>
      <p:sp>
        <p:nvSpPr>
          <p:cNvPr id="22" name="Text 19"/>
          <p:cNvSpPr txBox="1"/>
          <p:nvPr/>
        </p:nvSpPr>
        <p:spPr>
          <a:xfrm>
            <a:off x="566928" y="2267712"/>
            <a:ext cx="304495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receiving someone warmly</a:t>
            </a:r>
            <a:endParaRPr lang="en-US" sz="1100" dirty="0"/>
          </a:p>
        </p:txBody>
      </p:sp>
      <p:sp>
        <p:nvSpPr>
          <p:cNvPr id="23" name="Shape 20"/>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5" name="Shape 22"/>
          <p:cNvSpPr/>
          <p:nvPr/>
        </p:nvSpPr>
        <p:spPr>
          <a:xfrm>
            <a:off x="457200" y="2950464"/>
            <a:ext cx="11274552" cy="627888"/>
          </a:xfrm>
          <a:prstGeom prst="roundRect">
            <a:avLst>
              <a:gd name="adj" fmla="val 7282"/>
            </a:avLst>
          </a:prstGeom>
          <a:solidFill>
            <a:srgbClr val="F4F1EA"/>
          </a:solidFill>
          <a:ln w="9525">
            <a:solidFill>
              <a:srgbClr val="D8D0BF"/>
            </a:solidFill>
            <a:prstDash val="solid"/>
          </a:ln>
        </p:spPr>
      </p:sp>
      <p:sp>
        <p:nvSpPr>
          <p:cNvPr id="26" name="Text 23"/>
          <p:cNvSpPr txBox="1"/>
          <p:nvPr/>
        </p:nvSpPr>
        <p:spPr>
          <a:xfrm>
            <a:off x="7251192" y="2950464"/>
            <a:ext cx="4389120" cy="62788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تَفَضَّلْ / تَفَضَّلِي</a:t>
            </a:r>
            <a:endParaRPr lang="ar-SA" sz="2200" dirty="0"/>
          </a:p>
        </p:txBody>
      </p:sp>
      <p:sp>
        <p:nvSpPr>
          <p:cNvPr id="27" name="Text 24"/>
          <p:cNvSpPr txBox="1"/>
          <p:nvPr/>
        </p:nvSpPr>
        <p:spPr>
          <a:xfrm>
            <a:off x="3794760" y="2950464"/>
            <a:ext cx="329184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Please come in. / Here you are.</a:t>
            </a:r>
            <a:endParaRPr lang="en-US" sz="1100" dirty="0"/>
          </a:p>
        </p:txBody>
      </p:sp>
      <p:sp>
        <p:nvSpPr>
          <p:cNvPr id="28" name="Text 25"/>
          <p:cNvSpPr txBox="1"/>
          <p:nvPr/>
        </p:nvSpPr>
        <p:spPr>
          <a:xfrm>
            <a:off x="566928" y="2950464"/>
            <a:ext cx="304495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form for the listener (F2-L06, website)</a:t>
            </a:r>
            <a:endParaRPr lang="en-US" sz="1100" dirty="0"/>
          </a:p>
        </p:txBody>
      </p:sp>
      <p:sp>
        <p:nvSpPr>
          <p:cNvPr id="29" name="Shape 26"/>
          <p:cNvSpPr/>
          <p:nvPr/>
        </p:nvSpPr>
        <p:spPr>
          <a:xfrm>
            <a:off x="11091672" y="2996184"/>
            <a:ext cx="548640" cy="18288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1091672" y="2996184"/>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1" name="Shape 28"/>
          <p:cNvSpPr/>
          <p:nvPr/>
        </p:nvSpPr>
        <p:spPr>
          <a:xfrm>
            <a:off x="457200" y="3633216"/>
            <a:ext cx="11274552" cy="627888"/>
          </a:xfrm>
          <a:prstGeom prst="roundRect">
            <a:avLst>
              <a:gd name="adj" fmla="val 7282"/>
            </a:avLst>
          </a:prstGeom>
          <a:solidFill>
            <a:srgbClr val="FFFFFF"/>
          </a:solidFill>
          <a:ln w="9525">
            <a:solidFill>
              <a:srgbClr val="D8D0BF"/>
            </a:solidFill>
            <a:prstDash val="solid"/>
          </a:ln>
        </p:spPr>
      </p:sp>
      <p:sp>
        <p:nvSpPr>
          <p:cNvPr id="32" name="Text 29"/>
          <p:cNvSpPr txBox="1"/>
          <p:nvPr/>
        </p:nvSpPr>
        <p:spPr>
          <a:xfrm>
            <a:off x="7251192" y="3633216"/>
            <a:ext cx="4389120" cy="62788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هَلْ تُرِيدُ شَايًا أَوْ قَهْوَةً؟</a:t>
            </a:r>
            <a:endParaRPr lang="ar-SA" sz="2200" dirty="0"/>
          </a:p>
        </p:txBody>
      </p:sp>
      <p:sp>
        <p:nvSpPr>
          <p:cNvPr id="33" name="Text 30"/>
          <p:cNvSpPr txBox="1"/>
          <p:nvPr/>
        </p:nvSpPr>
        <p:spPr>
          <a:xfrm>
            <a:off x="3794760" y="3633216"/>
            <a:ext cx="329184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Would you like tea or coffee?</a:t>
            </a:r>
            <a:endParaRPr lang="en-US" sz="1100" dirty="0"/>
          </a:p>
        </p:txBody>
      </p:sp>
      <p:sp>
        <p:nvSpPr>
          <p:cNvPr id="34" name="Text 31"/>
          <p:cNvSpPr txBox="1"/>
          <p:nvPr/>
        </p:nvSpPr>
        <p:spPr>
          <a:xfrm>
            <a:off x="566928" y="3633216"/>
            <a:ext cx="304495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practical offer (f.: </a:t>
            </a:r>
            <a:pPr algn="l" indent="0" marL="0">
              <a:buNone/>
            </a:pPr>
            <a:r>
              <a:rPr lang="ar-SA" altLang="en-US" sz="1450" dirty="0">
                <a:solidFill>
                  <a:srgbClr val="5A6472"/>
                </a:solidFill>
                <a:latin typeface="Amiri" pitchFamily="2" charset="-78"/>
                <a:ea typeface="Amiri" pitchFamily="2" charset="-78"/>
                <a:cs typeface="Amiri" pitchFamily="2" charset="-78"/>
              </a:rPr>
              <a:t>تُرِيدِينَ</a:t>
            </a:r>
            <a:pPr algn="l" indent="0" marL="0">
              <a:buNone/>
            </a:pPr>
            <a:r>
              <a:rPr lang="en-US" sz="1100" dirty="0">
                <a:solidFill>
                  <a:srgbClr val="5A6472"/>
                </a:solidFill>
                <a:latin typeface="Calibri" pitchFamily="34" charset="0"/>
                <a:cs typeface="Amiri" pitchFamily="2" charset="-78"/>
              </a:rPr>
              <a:t>)</a:t>
            </a:r>
            <a:endParaRPr lang="en-US" sz="1100" dirty="0"/>
          </a:p>
        </p:txBody>
      </p:sp>
      <p:sp>
        <p:nvSpPr>
          <p:cNvPr id="35" name="Shape 32"/>
          <p:cNvSpPr/>
          <p:nvPr/>
        </p:nvSpPr>
        <p:spPr>
          <a:xfrm>
            <a:off x="11091672" y="3678936"/>
            <a:ext cx="548640" cy="182880"/>
          </a:xfrm>
          <a:prstGeom prst="roundRect">
            <a:avLst>
              <a:gd name="adj" fmla="val 50000"/>
            </a:avLst>
          </a:prstGeom>
          <a:solidFill>
            <a:srgbClr val="2E8B57"/>
          </a:solidFill>
          <a:ln w="12700">
            <a:solidFill>
              <a:srgbClr val="2E8B57"/>
            </a:solidFill>
            <a:prstDash val="solid"/>
          </a:ln>
        </p:spPr>
      </p:sp>
      <p:sp>
        <p:nvSpPr>
          <p:cNvPr id="36" name="Text 33"/>
          <p:cNvSpPr txBox="1"/>
          <p:nvPr/>
        </p:nvSpPr>
        <p:spPr>
          <a:xfrm>
            <a:off x="11091672" y="367893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7" name="Shape 34"/>
          <p:cNvSpPr/>
          <p:nvPr/>
        </p:nvSpPr>
        <p:spPr>
          <a:xfrm>
            <a:off x="457200" y="4315968"/>
            <a:ext cx="11274552" cy="627888"/>
          </a:xfrm>
          <a:prstGeom prst="roundRect">
            <a:avLst>
              <a:gd name="adj" fmla="val 7282"/>
            </a:avLst>
          </a:prstGeom>
          <a:solidFill>
            <a:srgbClr val="F4F1EA"/>
          </a:solidFill>
          <a:ln w="9525">
            <a:solidFill>
              <a:srgbClr val="D8D0BF"/>
            </a:solidFill>
            <a:prstDash val="solid"/>
          </a:ln>
        </p:spPr>
      </p:sp>
      <p:sp>
        <p:nvSpPr>
          <p:cNvPr id="38" name="Text 35"/>
          <p:cNvSpPr txBox="1"/>
          <p:nvPr/>
        </p:nvSpPr>
        <p:spPr>
          <a:xfrm>
            <a:off x="7251192" y="4315968"/>
            <a:ext cx="4389120" cy="62788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كَيْفَ الأَهْلُ؟</a:t>
            </a:r>
            <a:endParaRPr lang="ar-SA" sz="2200" dirty="0"/>
          </a:p>
        </p:txBody>
      </p:sp>
      <p:sp>
        <p:nvSpPr>
          <p:cNvPr id="39" name="Text 36"/>
          <p:cNvSpPr txBox="1"/>
          <p:nvPr/>
        </p:nvSpPr>
        <p:spPr>
          <a:xfrm>
            <a:off x="3794760" y="4315968"/>
            <a:ext cx="329184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How is the family?</a:t>
            </a:r>
            <a:endParaRPr lang="en-US" sz="1100" dirty="0"/>
          </a:p>
        </p:txBody>
      </p:sp>
      <p:sp>
        <p:nvSpPr>
          <p:cNvPr id="40" name="Text 37"/>
          <p:cNvSpPr txBox="1"/>
          <p:nvPr/>
        </p:nvSpPr>
        <p:spPr>
          <a:xfrm>
            <a:off x="566928" y="4315968"/>
            <a:ext cx="304495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when the relationship makes it right</a:t>
            </a:r>
            <a:endParaRPr lang="en-US" sz="1100" dirty="0"/>
          </a:p>
        </p:txBody>
      </p:sp>
      <p:sp>
        <p:nvSpPr>
          <p:cNvPr id="41" name="Shape 38"/>
          <p:cNvSpPr/>
          <p:nvPr/>
        </p:nvSpPr>
        <p:spPr>
          <a:xfrm>
            <a:off x="457200" y="4998720"/>
            <a:ext cx="11274552" cy="627888"/>
          </a:xfrm>
          <a:prstGeom prst="roundRect">
            <a:avLst>
              <a:gd name="adj" fmla="val 7282"/>
            </a:avLst>
          </a:prstGeom>
          <a:solidFill>
            <a:srgbClr val="FFFFFF"/>
          </a:solidFill>
          <a:ln w="9525">
            <a:solidFill>
              <a:srgbClr val="D8D0BF"/>
            </a:solidFill>
            <a:prstDash val="solid"/>
          </a:ln>
        </p:spPr>
      </p:sp>
      <p:sp>
        <p:nvSpPr>
          <p:cNvPr id="42" name="Text 39"/>
          <p:cNvSpPr txBox="1"/>
          <p:nvPr/>
        </p:nvSpPr>
        <p:spPr>
          <a:xfrm>
            <a:off x="7251192" y="4998720"/>
            <a:ext cx="4389120" cy="62788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هُمْ بِخَيْرٍ، الحَمْدُ لِلَّهِ.</a:t>
            </a:r>
            <a:endParaRPr lang="ar-SA" sz="2200" dirty="0"/>
          </a:p>
        </p:txBody>
      </p:sp>
      <p:sp>
        <p:nvSpPr>
          <p:cNvPr id="43" name="Text 40"/>
          <p:cNvSpPr txBox="1"/>
          <p:nvPr/>
        </p:nvSpPr>
        <p:spPr>
          <a:xfrm>
            <a:off x="3794760" y="4998720"/>
            <a:ext cx="329184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They are well, praise be to God.</a:t>
            </a:r>
            <a:endParaRPr lang="en-US" sz="1100" dirty="0"/>
          </a:p>
        </p:txBody>
      </p:sp>
      <p:sp>
        <p:nvSpPr>
          <p:cNvPr id="44" name="Text 41"/>
          <p:cNvSpPr txBox="1"/>
          <p:nvPr/>
        </p:nvSpPr>
        <p:spPr>
          <a:xfrm>
            <a:off x="566928" y="4998720"/>
            <a:ext cx="304495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possible answer</a:t>
            </a:r>
            <a:endParaRPr lang="en-US" sz="1100" dirty="0"/>
          </a:p>
        </p:txBody>
      </p:sp>
      <p:sp>
        <p:nvSpPr>
          <p:cNvPr id="45" name="Shape 42"/>
          <p:cNvSpPr/>
          <p:nvPr/>
        </p:nvSpPr>
        <p:spPr>
          <a:xfrm>
            <a:off x="457200" y="5681472"/>
            <a:ext cx="11274552" cy="627888"/>
          </a:xfrm>
          <a:prstGeom prst="roundRect">
            <a:avLst>
              <a:gd name="adj" fmla="val 7282"/>
            </a:avLst>
          </a:prstGeom>
          <a:solidFill>
            <a:srgbClr val="F4F1EA"/>
          </a:solidFill>
          <a:ln w="9525">
            <a:solidFill>
              <a:srgbClr val="D8D0BF"/>
            </a:solidFill>
            <a:prstDash val="solid"/>
          </a:ln>
        </p:spPr>
      </p:sp>
      <p:sp>
        <p:nvSpPr>
          <p:cNvPr id="46" name="Text 43"/>
          <p:cNvSpPr txBox="1"/>
          <p:nvPr/>
        </p:nvSpPr>
        <p:spPr>
          <a:xfrm>
            <a:off x="7251192" y="5681472"/>
            <a:ext cx="4389120" cy="627888"/>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شُكْرًا عَلَى الضِّيَافَةِ.</a:t>
            </a:r>
            <a:endParaRPr lang="ar-SA" sz="2200" dirty="0"/>
          </a:p>
        </p:txBody>
      </p:sp>
      <p:sp>
        <p:nvSpPr>
          <p:cNvPr id="47" name="Text 44"/>
          <p:cNvSpPr txBox="1"/>
          <p:nvPr/>
        </p:nvSpPr>
        <p:spPr>
          <a:xfrm>
            <a:off x="3794760" y="5681472"/>
            <a:ext cx="3291840"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Thank you for the hospitality.</a:t>
            </a:r>
            <a:endParaRPr lang="en-US" sz="1100" dirty="0"/>
          </a:p>
        </p:txBody>
      </p:sp>
      <p:sp>
        <p:nvSpPr>
          <p:cNvPr id="48" name="Text 45"/>
          <p:cNvSpPr txBox="1"/>
          <p:nvPr/>
        </p:nvSpPr>
        <p:spPr>
          <a:xfrm>
            <a:off x="566928" y="5681472"/>
            <a:ext cx="3044952" cy="627888"/>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a polite closing</a:t>
            </a:r>
            <a:endParaRPr lang="en-US" sz="1100" dirty="0"/>
          </a:p>
        </p:txBody>
      </p:sp>
      <p:sp>
        <p:nvSpPr>
          <p:cNvPr id="49" name="Text 4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12 / 37</a:t>
            </a:r>
            <a:endParaRPr lang="en-US" sz="850" dirty="0"/>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name="Slide 1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TB-L01 · Identity and Profiles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HOSPITALITY · THE WEBSITE MICRO-DIALOGUE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Salma welcomes Maryam</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حِوَارٌ قَصِيرٌ</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TB-L01</a:t>
            </a:r>
            <a:endParaRPr lang="en-US" sz="850" dirty="0"/>
          </a:p>
        </p:txBody>
      </p:sp>
      <p:sp>
        <p:nvSpPr>
          <p:cNvPr id="15" name="Shape 12"/>
          <p:cNvSpPr/>
          <p:nvPr/>
        </p:nvSpPr>
        <p:spPr>
          <a:xfrm>
            <a:off x="457200" y="1810512"/>
            <a:ext cx="11274552" cy="1069848"/>
          </a:xfrm>
          <a:prstGeom prst="roundRect">
            <a:avLst>
              <a:gd name="adj" fmla="val 4274"/>
            </a:avLst>
          </a:prstGeom>
          <a:solidFill>
            <a:srgbClr val="FFFFFF"/>
          </a:solidFill>
          <a:ln w="9525">
            <a:solidFill>
              <a:srgbClr val="D8D0BF"/>
            </a:solidFill>
            <a:prstDash val="solid"/>
          </a:ln>
        </p:spPr>
      </p:sp>
      <p:sp>
        <p:nvSpPr>
          <p:cNvPr id="16" name="Text 13"/>
          <p:cNvSpPr txBox="1"/>
          <p:nvPr/>
        </p:nvSpPr>
        <p:spPr>
          <a:xfrm>
            <a:off x="4937760" y="1828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سَلْمَى: أَهْلًا وَسَهْلًا يَا مَرْيَمُ. تَفَضَّلِي.</a:t>
            </a:r>
            <a:endParaRPr lang="ar-SA" sz="2000" dirty="0"/>
          </a:p>
        </p:txBody>
      </p:sp>
      <p:sp>
        <p:nvSpPr>
          <p:cNvPr id="17" name="Text 14"/>
          <p:cNvSpPr txBox="1"/>
          <p:nvPr/>
        </p:nvSpPr>
        <p:spPr>
          <a:xfrm>
            <a:off x="640080" y="1828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Welcome, Maryam. Come in.</a:t>
            </a:r>
            <a:endParaRPr lang="en-US" sz="1250" dirty="0"/>
          </a:p>
        </p:txBody>
      </p:sp>
      <p:sp>
        <p:nvSpPr>
          <p:cNvPr id="18" name="Shape 15"/>
          <p:cNvSpPr/>
          <p:nvPr/>
        </p:nvSpPr>
        <p:spPr>
          <a:xfrm>
            <a:off x="457200" y="2953512"/>
            <a:ext cx="11274552" cy="1069848"/>
          </a:xfrm>
          <a:prstGeom prst="roundRect">
            <a:avLst>
              <a:gd name="adj" fmla="val 4274"/>
            </a:avLst>
          </a:prstGeom>
          <a:solidFill>
            <a:srgbClr val="F4F1EA"/>
          </a:solidFill>
          <a:ln w="9525">
            <a:solidFill>
              <a:srgbClr val="D8D0BF"/>
            </a:solidFill>
            <a:prstDash val="solid"/>
          </a:ln>
        </p:spPr>
      </p:sp>
      <p:sp>
        <p:nvSpPr>
          <p:cNvPr id="19" name="Text 16"/>
          <p:cNvSpPr txBox="1"/>
          <p:nvPr/>
        </p:nvSpPr>
        <p:spPr>
          <a:xfrm>
            <a:off x="4937760" y="2971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مَرْيَمُ: شُكْرًا. كَيْفَ الأَهْلُ؟</a:t>
            </a:r>
            <a:endParaRPr lang="ar-SA" sz="2000" dirty="0"/>
          </a:p>
        </p:txBody>
      </p:sp>
      <p:sp>
        <p:nvSpPr>
          <p:cNvPr id="20" name="Text 17"/>
          <p:cNvSpPr txBox="1"/>
          <p:nvPr/>
        </p:nvSpPr>
        <p:spPr>
          <a:xfrm>
            <a:off x="640080" y="2971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Thank you. How is the family?</a:t>
            </a:r>
            <a:endParaRPr lang="en-US" sz="1250" dirty="0"/>
          </a:p>
        </p:txBody>
      </p:sp>
      <p:sp>
        <p:nvSpPr>
          <p:cNvPr id="21" name="Shape 18"/>
          <p:cNvSpPr/>
          <p:nvPr/>
        </p:nvSpPr>
        <p:spPr>
          <a:xfrm>
            <a:off x="457200" y="4096512"/>
            <a:ext cx="11274552" cy="1069848"/>
          </a:xfrm>
          <a:prstGeom prst="roundRect">
            <a:avLst>
              <a:gd name="adj" fmla="val 4274"/>
            </a:avLst>
          </a:prstGeom>
          <a:solidFill>
            <a:srgbClr val="FFFFFF"/>
          </a:solidFill>
          <a:ln w="9525">
            <a:solidFill>
              <a:srgbClr val="D8D0BF"/>
            </a:solidFill>
            <a:prstDash val="solid"/>
          </a:ln>
        </p:spPr>
      </p:sp>
      <p:sp>
        <p:nvSpPr>
          <p:cNvPr id="22" name="Text 19"/>
          <p:cNvSpPr txBox="1"/>
          <p:nvPr/>
        </p:nvSpPr>
        <p:spPr>
          <a:xfrm>
            <a:off x="4937760" y="4114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سَلْمَى: هُمْ بِخَيْرٍ، الحَمْدُ لِلَّهِ. هَلْ تُرِيدِينَ شَايًا؟</a:t>
            </a:r>
            <a:endParaRPr lang="ar-SA" sz="2000" dirty="0"/>
          </a:p>
        </p:txBody>
      </p:sp>
      <p:sp>
        <p:nvSpPr>
          <p:cNvPr id="23" name="Text 20"/>
          <p:cNvSpPr txBox="1"/>
          <p:nvPr/>
        </p:nvSpPr>
        <p:spPr>
          <a:xfrm>
            <a:off x="640080" y="4114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are well, praise be to God. Would you like some tea?</a:t>
            </a:r>
            <a:endParaRPr lang="en-US" sz="1250" dirty="0"/>
          </a:p>
        </p:txBody>
      </p:sp>
      <p:sp>
        <p:nvSpPr>
          <p:cNvPr id="24" name="Shape 21"/>
          <p:cNvSpPr/>
          <p:nvPr/>
        </p:nvSpPr>
        <p:spPr>
          <a:xfrm>
            <a:off x="457200" y="5239512"/>
            <a:ext cx="11274552" cy="1069848"/>
          </a:xfrm>
          <a:prstGeom prst="roundRect">
            <a:avLst>
              <a:gd name="adj" fmla="val 4274"/>
            </a:avLst>
          </a:prstGeom>
          <a:solidFill>
            <a:srgbClr val="F4F1EA"/>
          </a:solidFill>
          <a:ln w="9525">
            <a:solidFill>
              <a:srgbClr val="D8D0BF"/>
            </a:solidFill>
            <a:prstDash val="solid"/>
          </a:ln>
        </p:spPr>
      </p:sp>
      <p:sp>
        <p:nvSpPr>
          <p:cNvPr id="25" name="Text 22"/>
          <p:cNvSpPr txBox="1"/>
          <p:nvPr/>
        </p:nvSpPr>
        <p:spPr>
          <a:xfrm>
            <a:off x="4937760" y="5257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مَرْيَمُ: نَعَمْ، مِنْ فَضْلِكِ. شُكْرًا.</a:t>
            </a:r>
            <a:endParaRPr lang="ar-SA" sz="2000" dirty="0"/>
          </a:p>
        </p:txBody>
      </p:sp>
      <p:sp>
        <p:nvSpPr>
          <p:cNvPr id="26" name="Text 23"/>
          <p:cNvSpPr txBox="1"/>
          <p:nvPr/>
        </p:nvSpPr>
        <p:spPr>
          <a:xfrm>
            <a:off x="640080" y="5257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Yes, please. Thank you.</a:t>
            </a:r>
            <a:endParaRPr lang="en-US" sz="125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13 / 37</a:t>
            </a:r>
            <a:endParaRPr lang="en-US" sz="850" dirty="0"/>
          </a:p>
        </p:txBody>
      </p:sp>
    </p:spTree>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name="Slide 1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TB-L01 · Identity and Profiles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GRAMMAR FOCUS · IDENTITY HAS MORE THAN ONE LAYER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Layers of identity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لِلْهُوِيَّةِ أَكْثَرُ مِنْ جَانِبٍ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TB-L01</a:t>
            </a:r>
            <a:endParaRPr lang="en-US" sz="850" dirty="0"/>
          </a:p>
        </p:txBody>
      </p:sp>
      <p:sp>
        <p:nvSpPr>
          <p:cNvPr id="15" name="Shape 12"/>
          <p:cNvSpPr/>
          <p:nvPr/>
        </p:nvSpPr>
        <p:spPr>
          <a:xfrm>
            <a:off x="457200" y="1810512"/>
            <a:ext cx="11274552" cy="384048"/>
          </a:xfrm>
          <a:prstGeom prst="rect">
            <a:avLst/>
          </a:prstGeom>
          <a:solidFill>
            <a:srgbClr val="1B3B6F"/>
          </a:solidFill>
          <a:ln w="12700">
            <a:solidFill>
              <a:srgbClr val="1B3B6F"/>
            </a:solidFill>
            <a:prstDash val="solid"/>
          </a:ln>
        </p:spPr>
      </p:sp>
      <p:sp>
        <p:nvSpPr>
          <p:cNvPr id="16" name="Text 13"/>
          <p:cNvSpPr txBox="1"/>
          <p:nvPr/>
        </p:nvSpPr>
        <p:spPr>
          <a:xfrm>
            <a:off x="9427464"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Layer</a:t>
            </a:r>
            <a:endParaRPr lang="en-US" sz="1100" dirty="0"/>
          </a:p>
        </p:txBody>
      </p:sp>
      <p:sp>
        <p:nvSpPr>
          <p:cNvPr id="17" name="Text 14"/>
          <p:cNvSpPr txBox="1"/>
          <p:nvPr/>
        </p:nvSpPr>
        <p:spPr>
          <a:xfrm>
            <a:off x="5586984" y="1810512"/>
            <a:ext cx="369417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Frame (I)</a:t>
            </a:r>
            <a:endParaRPr lang="en-US" sz="1100" dirty="0"/>
          </a:p>
        </p:txBody>
      </p:sp>
      <p:sp>
        <p:nvSpPr>
          <p:cNvPr id="18" name="Text 15"/>
          <p:cNvSpPr txBox="1"/>
          <p:nvPr/>
        </p:nvSpPr>
        <p:spPr>
          <a:xfrm>
            <a:off x="3209544" y="1810512"/>
            <a:ext cx="2231136"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Layer</a:t>
            </a:r>
            <a:endParaRPr lang="en-US" sz="1100" dirty="0"/>
          </a:p>
        </p:txBody>
      </p:sp>
      <p:sp>
        <p:nvSpPr>
          <p:cNvPr id="19" name="Text 16"/>
          <p:cNvSpPr txBox="1"/>
          <p:nvPr/>
        </p:nvSpPr>
        <p:spPr>
          <a:xfrm>
            <a:off x="530352" y="1810512"/>
            <a:ext cx="2532888" cy="384048"/>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Frame (I)</a:t>
            </a:r>
            <a:endParaRPr lang="en-US" sz="1100" dirty="0"/>
          </a:p>
        </p:txBody>
      </p:sp>
      <p:sp>
        <p:nvSpPr>
          <p:cNvPr id="20" name="Shape 17"/>
          <p:cNvSpPr/>
          <p:nvPr/>
        </p:nvSpPr>
        <p:spPr>
          <a:xfrm>
            <a:off x="457200" y="2267712"/>
            <a:ext cx="11274552" cy="731520"/>
          </a:xfrm>
          <a:prstGeom prst="roundRect">
            <a:avLst>
              <a:gd name="adj" fmla="val 6250"/>
            </a:avLst>
          </a:prstGeom>
          <a:solidFill>
            <a:srgbClr val="FFFFFF"/>
          </a:solidFill>
          <a:ln w="9525">
            <a:solidFill>
              <a:srgbClr val="D8D0BF"/>
            </a:solidFill>
            <a:prstDash val="solid"/>
          </a:ln>
        </p:spPr>
      </p:sp>
      <p:sp>
        <p:nvSpPr>
          <p:cNvPr id="21" name="Text 18"/>
          <p:cNvSpPr txBox="1"/>
          <p:nvPr/>
        </p:nvSpPr>
        <p:spPr>
          <a:xfrm>
            <a:off x="9464040" y="2267712"/>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Name</a:t>
            </a:r>
            <a:endParaRPr lang="en-US" sz="1100" dirty="0"/>
          </a:p>
        </p:txBody>
      </p:sp>
      <p:sp>
        <p:nvSpPr>
          <p:cNvPr id="22" name="Text 19"/>
          <p:cNvSpPr txBox="1"/>
          <p:nvPr/>
        </p:nvSpPr>
        <p:spPr>
          <a:xfrm>
            <a:off x="5605272" y="2267712"/>
            <a:ext cx="365760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اِسْمِي …</a:t>
            </a:r>
            <a:endParaRPr lang="ar-SA" sz="2200" dirty="0"/>
          </a:p>
        </p:txBody>
      </p:sp>
      <p:sp>
        <p:nvSpPr>
          <p:cNvPr id="23" name="Text 20"/>
          <p:cNvSpPr txBox="1"/>
          <p:nvPr/>
        </p:nvSpPr>
        <p:spPr>
          <a:xfrm>
            <a:off x="3246120" y="2267712"/>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Language</a:t>
            </a:r>
            <a:endParaRPr lang="en-US" sz="1100" dirty="0"/>
          </a:p>
        </p:txBody>
      </p:sp>
      <p:sp>
        <p:nvSpPr>
          <p:cNvPr id="24" name="Text 21"/>
          <p:cNvSpPr txBox="1"/>
          <p:nvPr/>
        </p:nvSpPr>
        <p:spPr>
          <a:xfrm>
            <a:off x="548640" y="2267712"/>
            <a:ext cx="2496312"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أَتَكَلَّمُ …</a:t>
            </a:r>
            <a:endParaRPr lang="ar-SA" sz="2200" dirty="0"/>
          </a:p>
        </p:txBody>
      </p:sp>
      <p:sp>
        <p:nvSpPr>
          <p:cNvPr id="25" name="Shape 22"/>
          <p:cNvSpPr/>
          <p:nvPr/>
        </p:nvSpPr>
        <p:spPr>
          <a:xfrm>
            <a:off x="11091672" y="2313432"/>
            <a:ext cx="548640" cy="182880"/>
          </a:xfrm>
          <a:prstGeom prst="roundRect">
            <a:avLst>
              <a:gd name="adj" fmla="val 50000"/>
            </a:avLst>
          </a:prstGeom>
          <a:solidFill>
            <a:srgbClr val="2E8B57"/>
          </a:solidFill>
          <a:ln w="12700">
            <a:solidFill>
              <a:srgbClr val="2E8B57"/>
            </a:solidFill>
            <a:prstDash val="solid"/>
          </a:ln>
        </p:spPr>
      </p:sp>
      <p:sp>
        <p:nvSpPr>
          <p:cNvPr id="26" name="Text 23"/>
          <p:cNvSpPr txBox="1"/>
          <p:nvPr/>
        </p:nvSpPr>
        <p:spPr>
          <a:xfrm>
            <a:off x="11091672" y="2313432"/>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27" name="Shape 24"/>
          <p:cNvSpPr/>
          <p:nvPr/>
        </p:nvSpPr>
        <p:spPr>
          <a:xfrm>
            <a:off x="457200" y="3054096"/>
            <a:ext cx="11274552" cy="731520"/>
          </a:xfrm>
          <a:prstGeom prst="roundRect">
            <a:avLst>
              <a:gd name="adj" fmla="val 6250"/>
            </a:avLst>
          </a:prstGeom>
          <a:solidFill>
            <a:srgbClr val="F4F1EA"/>
          </a:solidFill>
          <a:ln w="9525">
            <a:solidFill>
              <a:srgbClr val="D8D0BF"/>
            </a:solidFill>
            <a:prstDash val="solid"/>
          </a:ln>
        </p:spPr>
      </p:sp>
      <p:sp>
        <p:nvSpPr>
          <p:cNvPr id="28" name="Text 25"/>
          <p:cNvSpPr txBox="1"/>
          <p:nvPr/>
        </p:nvSpPr>
        <p:spPr>
          <a:xfrm>
            <a:off x="9464040" y="3054096"/>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Origin</a:t>
            </a:r>
            <a:endParaRPr lang="en-US" sz="1100" dirty="0"/>
          </a:p>
        </p:txBody>
      </p:sp>
      <p:sp>
        <p:nvSpPr>
          <p:cNvPr id="29" name="Text 26"/>
          <p:cNvSpPr txBox="1"/>
          <p:nvPr/>
        </p:nvSpPr>
        <p:spPr>
          <a:xfrm>
            <a:off x="5605272" y="3054096"/>
            <a:ext cx="365760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أَنَا مِنْ …</a:t>
            </a:r>
            <a:endParaRPr lang="ar-SA" sz="2200" dirty="0"/>
          </a:p>
        </p:txBody>
      </p:sp>
      <p:sp>
        <p:nvSpPr>
          <p:cNvPr id="30" name="Text 27"/>
          <p:cNvSpPr txBox="1"/>
          <p:nvPr/>
        </p:nvSpPr>
        <p:spPr>
          <a:xfrm>
            <a:off x="3246120" y="3054096"/>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Family</a:t>
            </a:r>
            <a:endParaRPr lang="en-US" sz="1100" dirty="0"/>
          </a:p>
        </p:txBody>
      </p:sp>
      <p:sp>
        <p:nvSpPr>
          <p:cNvPr id="31" name="Text 28"/>
          <p:cNvSpPr txBox="1"/>
          <p:nvPr/>
        </p:nvSpPr>
        <p:spPr>
          <a:xfrm>
            <a:off x="548640" y="3054096"/>
            <a:ext cx="2496312"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عَائِلَتِي …</a:t>
            </a:r>
            <a:endParaRPr lang="ar-SA" sz="2200" dirty="0"/>
          </a:p>
        </p:txBody>
      </p:sp>
      <p:sp>
        <p:nvSpPr>
          <p:cNvPr id="32" name="Shape 29"/>
          <p:cNvSpPr/>
          <p:nvPr/>
        </p:nvSpPr>
        <p:spPr>
          <a:xfrm>
            <a:off x="11091672" y="3099816"/>
            <a:ext cx="548640" cy="182880"/>
          </a:xfrm>
          <a:prstGeom prst="roundRect">
            <a:avLst>
              <a:gd name="adj" fmla="val 50000"/>
            </a:avLst>
          </a:prstGeom>
          <a:solidFill>
            <a:srgbClr val="2E8B57"/>
          </a:solidFill>
          <a:ln w="12700">
            <a:solidFill>
              <a:srgbClr val="2E8B57"/>
            </a:solidFill>
            <a:prstDash val="solid"/>
          </a:ln>
        </p:spPr>
      </p:sp>
      <p:sp>
        <p:nvSpPr>
          <p:cNvPr id="33" name="Text 30"/>
          <p:cNvSpPr txBox="1"/>
          <p:nvPr/>
        </p:nvSpPr>
        <p:spPr>
          <a:xfrm>
            <a:off x="11091672" y="3099816"/>
            <a:ext cx="548640" cy="182880"/>
          </a:xfrm>
          <a:prstGeom prst="rect">
            <a:avLst/>
          </a:prstGeom>
          <a:noFill/>
          <a:ln/>
        </p:spPr>
        <p:txBody>
          <a:bodyPr wrap="square" lIns="0" tIns="0" rIns="0" bIns="0" rtlCol="0" anchor="ctr"/>
          <a:lstStyle/>
          <a:p>
            <a:pPr algn="ctr" indent="0" marL="0">
              <a:buNone/>
            </a:pPr>
            <a:r>
              <a:rPr lang="en-US" sz="650" b="1" spc="100" kern="0" dirty="0">
                <a:solidFill>
                  <a:srgbClr val="FFFFFF"/>
                </a:solidFill>
                <a:latin typeface="Calibri" pitchFamily="34" charset="0"/>
                <a:cs typeface="Amiri" pitchFamily="2" charset="-78"/>
              </a:rPr>
              <a:t>CORE</a:t>
            </a:r>
            <a:endParaRPr lang="en-US" sz="650" dirty="0"/>
          </a:p>
        </p:txBody>
      </p:sp>
      <p:sp>
        <p:nvSpPr>
          <p:cNvPr id="34" name="Shape 31"/>
          <p:cNvSpPr/>
          <p:nvPr/>
        </p:nvSpPr>
        <p:spPr>
          <a:xfrm>
            <a:off x="457200" y="3840480"/>
            <a:ext cx="11274552" cy="731520"/>
          </a:xfrm>
          <a:prstGeom prst="roundRect">
            <a:avLst>
              <a:gd name="adj" fmla="val 6250"/>
            </a:avLst>
          </a:prstGeom>
          <a:solidFill>
            <a:srgbClr val="FFFFFF"/>
          </a:solidFill>
          <a:ln w="9525">
            <a:solidFill>
              <a:srgbClr val="D8D0BF"/>
            </a:solidFill>
            <a:prstDash val="solid"/>
          </a:ln>
        </p:spPr>
      </p:sp>
      <p:sp>
        <p:nvSpPr>
          <p:cNvPr id="35" name="Text 32"/>
          <p:cNvSpPr txBox="1"/>
          <p:nvPr/>
        </p:nvSpPr>
        <p:spPr>
          <a:xfrm>
            <a:off x="9464040" y="3840480"/>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Residence</a:t>
            </a:r>
            <a:endParaRPr lang="en-US" sz="1100" dirty="0"/>
          </a:p>
        </p:txBody>
      </p:sp>
      <p:sp>
        <p:nvSpPr>
          <p:cNvPr id="36" name="Text 33"/>
          <p:cNvSpPr txBox="1"/>
          <p:nvPr/>
        </p:nvSpPr>
        <p:spPr>
          <a:xfrm>
            <a:off x="5605272" y="3840480"/>
            <a:ext cx="365760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أَسْكُنُ فِي …</a:t>
            </a:r>
            <a:endParaRPr lang="ar-SA" sz="2200" dirty="0"/>
          </a:p>
        </p:txBody>
      </p:sp>
      <p:sp>
        <p:nvSpPr>
          <p:cNvPr id="37" name="Text 34"/>
          <p:cNvSpPr txBox="1"/>
          <p:nvPr/>
        </p:nvSpPr>
        <p:spPr>
          <a:xfrm>
            <a:off x="3246120" y="3840480"/>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Interest</a:t>
            </a:r>
            <a:endParaRPr lang="en-US" sz="1100" dirty="0"/>
          </a:p>
        </p:txBody>
      </p:sp>
      <p:sp>
        <p:nvSpPr>
          <p:cNvPr id="38" name="Text 35"/>
          <p:cNvSpPr txBox="1"/>
          <p:nvPr/>
        </p:nvSpPr>
        <p:spPr>
          <a:xfrm>
            <a:off x="548640" y="3840480"/>
            <a:ext cx="2496312"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أُحِبُّ …</a:t>
            </a:r>
            <a:endParaRPr lang="ar-SA" sz="2200" dirty="0"/>
          </a:p>
        </p:txBody>
      </p:sp>
      <p:sp>
        <p:nvSpPr>
          <p:cNvPr id="39" name="Shape 36"/>
          <p:cNvSpPr/>
          <p:nvPr/>
        </p:nvSpPr>
        <p:spPr>
          <a:xfrm>
            <a:off x="457200" y="4626864"/>
            <a:ext cx="11274552" cy="731520"/>
          </a:xfrm>
          <a:prstGeom prst="roundRect">
            <a:avLst>
              <a:gd name="adj" fmla="val 6250"/>
            </a:avLst>
          </a:prstGeom>
          <a:solidFill>
            <a:srgbClr val="F4F1EA"/>
          </a:solidFill>
          <a:ln w="9525">
            <a:solidFill>
              <a:srgbClr val="D8D0BF"/>
            </a:solidFill>
            <a:prstDash val="solid"/>
          </a:ln>
        </p:spPr>
      </p:sp>
      <p:sp>
        <p:nvSpPr>
          <p:cNvPr id="40" name="Text 37"/>
          <p:cNvSpPr txBox="1"/>
          <p:nvPr/>
        </p:nvSpPr>
        <p:spPr>
          <a:xfrm>
            <a:off x="9464040" y="4626864"/>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Pride</a:t>
            </a:r>
            <a:endParaRPr lang="en-US" sz="1100" dirty="0"/>
          </a:p>
        </p:txBody>
      </p:sp>
      <p:sp>
        <p:nvSpPr>
          <p:cNvPr id="41" name="Text 38"/>
          <p:cNvSpPr txBox="1"/>
          <p:nvPr/>
        </p:nvSpPr>
        <p:spPr>
          <a:xfrm>
            <a:off x="5605272" y="4626864"/>
            <a:ext cx="3657600" cy="73152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أَنَا فَخُورٌ / فَخُورَةٌ بِـ …</a:t>
            </a:r>
            <a:endParaRPr lang="ar-SA" sz="2200" dirty="0"/>
          </a:p>
        </p:txBody>
      </p:sp>
      <p:sp>
        <p:nvSpPr>
          <p:cNvPr id="42" name="Text 39"/>
          <p:cNvSpPr txBox="1"/>
          <p:nvPr/>
        </p:nvSpPr>
        <p:spPr>
          <a:xfrm>
            <a:off x="3246120" y="4626864"/>
            <a:ext cx="2194560"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 Belief (optional)</a:t>
            </a:r>
            <a:endParaRPr lang="en-US" sz="1100" dirty="0"/>
          </a:p>
        </p:txBody>
      </p:sp>
      <p:sp>
        <p:nvSpPr>
          <p:cNvPr id="43" name="Text 40"/>
          <p:cNvSpPr txBox="1"/>
          <p:nvPr/>
        </p:nvSpPr>
        <p:spPr>
          <a:xfrm>
            <a:off x="566928" y="4626864"/>
            <a:ext cx="2496312" cy="731520"/>
          </a:xfrm>
          <a:prstGeom prst="rect">
            <a:avLst/>
          </a:prstGeom>
          <a:noFill/>
          <a:ln/>
        </p:spPr>
        <p:txBody>
          <a:bodyPr wrap="square" lIns="0" tIns="0" rIns="0" bIns="0" rtlCol="0" anchor="ctr"/>
          <a:lstStyle/>
          <a:p>
            <a:pPr algn="l" indent="0" marL="0">
              <a:buNone/>
            </a:pPr>
            <a:r>
              <a:rPr lang="en-US" sz="1100" dirty="0">
                <a:solidFill>
                  <a:srgbClr val="5A6472"/>
                </a:solidFill>
                <a:latin typeface="Calibri" pitchFamily="34" charset="0"/>
                <a:cs typeface="Amiri" pitchFamily="2" charset="-78"/>
              </a:rPr>
              <a:t>optional — your choice</a:t>
            </a:r>
            <a:endParaRPr lang="en-US" sz="1100" dirty="0"/>
          </a:p>
        </p:txBody>
      </p:sp>
      <p:sp>
        <p:nvSpPr>
          <p:cNvPr id="44" name="Text 41"/>
          <p:cNvSpPr txBox="1"/>
          <p:nvPr/>
        </p:nvSpPr>
        <p:spPr>
          <a:xfrm>
            <a:off x="457200" y="5943600"/>
            <a:ext cx="11274552" cy="365760"/>
          </a:xfrm>
          <a:prstGeom prst="rect">
            <a:avLst/>
          </a:prstGeom>
          <a:noFill/>
          <a:ln/>
        </p:spPr>
        <p:txBody>
          <a:bodyPr wrap="square" lIns="0" tIns="0" rIns="0" bIns="0" rtlCol="0" anchor="ctr"/>
          <a:lstStyle/>
          <a:p>
            <a:pPr algn="l" indent="0" marL="0">
              <a:buNone/>
            </a:pPr>
            <a:r>
              <a:rPr lang="ar-SA" altLang="en-US" sz="1500" b="1" dirty="0">
                <a:solidFill>
                  <a:srgbClr val="1B3B6F"/>
                </a:solidFill>
                <a:latin typeface="Amiri" pitchFamily="2" charset="-78"/>
                <a:ea typeface="Amiri" pitchFamily="2" charset="-78"/>
                <a:cs typeface="Amiri" pitchFamily="2" charset="-78"/>
              </a:rPr>
              <a:t>هُوِيَّتِي مُتَنَوِّعَةٌ</a:t>
            </a:r>
            <a:pPr algn="l" indent="0" marL="0">
              <a:buNone/>
            </a:pPr>
            <a:r>
              <a:rPr lang="en-US" sz="1150" b="1" dirty="0">
                <a:solidFill>
                  <a:srgbClr val="1B3B6F"/>
                </a:solidFill>
                <a:latin typeface="Calibri" pitchFamily="34" charset="0"/>
                <a:cs typeface="Amiri" pitchFamily="2" charset="-78"/>
              </a:rPr>
              <a:t>. — My identity is diverse. No single layer tells the whole story.</a:t>
            </a:r>
            <a:endParaRPr lang="en-US" sz="1150" dirty="0"/>
          </a:p>
        </p:txBody>
      </p:sp>
      <p:sp>
        <p:nvSpPr>
          <p:cNvPr id="45" name="Text 4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14 / 37</a:t>
            </a:r>
            <a:endParaRPr lang="en-US" sz="850" dirty="0"/>
          </a:p>
        </p:txBody>
      </p:sp>
    </p:spTree>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name="Slide 1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TB-L01 · Identity and Profiles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HINGE QUESTIONS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Quick check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فَحْصٌ سَرِيعٌ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most accurate statement about greeting gestures?</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Every Arab greeting includes a handshake.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Physical contact is always expected.</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vary by person, family, setting and community.</a:t>
            </a:r>
            <a:endParaRPr lang="en-US" sz="1250" dirty="0"/>
          </a:p>
        </p:txBody>
      </p:sp>
      <p:sp>
        <p:nvSpPr>
          <p:cNvPr id="28" name="Shape 25"/>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6313932"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Arabic phrase respectfully asks after the family?</a:t>
            </a:r>
            <a:endParaRPr lang="en-US" sz="1250" dirty="0"/>
          </a:p>
        </p:txBody>
      </p:sp>
      <p:sp>
        <p:nvSpPr>
          <p:cNvPr id="32" name="Shape 29"/>
          <p:cNvSpPr/>
          <p:nvPr/>
        </p:nvSpPr>
        <p:spPr>
          <a:xfrm>
            <a:off x="6368796"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6368796"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6697980" y="24323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كَيْفَ الأَهْلُ؟</a:t>
            </a:r>
            <a:endParaRPr lang="ar-SA" sz="2050" dirty="0"/>
          </a:p>
        </p:txBody>
      </p:sp>
      <p:sp>
        <p:nvSpPr>
          <p:cNvPr id="35" name="Shape 32"/>
          <p:cNvSpPr/>
          <p:nvPr/>
        </p:nvSpPr>
        <p:spPr>
          <a:xfrm>
            <a:off x="6368796"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6368796"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6697980" y="28895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 دِينُكَ؟</a:t>
            </a:r>
            <a:endParaRPr lang="ar-SA" sz="2050" dirty="0"/>
          </a:p>
        </p:txBody>
      </p:sp>
      <p:sp>
        <p:nvSpPr>
          <p:cNvPr id="38" name="Shape 35"/>
          <p:cNvSpPr/>
          <p:nvPr/>
        </p:nvSpPr>
        <p:spPr>
          <a:xfrm>
            <a:off x="6368796"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6368796"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6697980" y="3346704"/>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كَمْ عُمْرُكَ؟</a:t>
            </a:r>
            <a:endParaRPr lang="ar-SA" sz="2050" dirty="0"/>
          </a:p>
        </p:txBody>
      </p:sp>
      <p:sp>
        <p:nvSpPr>
          <p:cNvPr id="41" name="Shape 38"/>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585216" y="4288536"/>
            <a:ext cx="310896" cy="310896"/>
          </a:xfrm>
          <a:prstGeom prst="ellipse">
            <a:avLst/>
          </a:prstGeom>
          <a:solidFill>
            <a:srgbClr val="1B3B6F"/>
          </a:solidFill>
          <a:ln w="12700">
            <a:solidFill>
              <a:srgbClr val="1B3B6F"/>
            </a:solidFill>
            <a:prstDash val="solid"/>
          </a:ln>
        </p:spPr>
      </p:sp>
      <p:sp>
        <p:nvSpPr>
          <p:cNvPr id="43" name="Text 40"/>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a learner do when unsure about a greeting gesture?</a:t>
            </a:r>
            <a:endParaRPr lang="en-US" sz="1250" dirty="0"/>
          </a:p>
        </p:txBody>
      </p:sp>
      <p:sp>
        <p:nvSpPr>
          <p:cNvPr id="45" name="Shape 42"/>
          <p:cNvSpPr/>
          <p:nvPr/>
        </p:nvSpPr>
        <p:spPr>
          <a:xfrm>
            <a:off x="640080" y="4873752"/>
            <a:ext cx="256032" cy="256032"/>
          </a:xfrm>
          <a:prstGeom prst="ellipse">
            <a:avLst/>
          </a:prstGeom>
          <a:solidFill>
            <a:srgbClr val="F4F1EA"/>
          </a:solidFill>
          <a:ln w="12700">
            <a:solidFill>
              <a:srgbClr val="F4F1EA"/>
            </a:solidFill>
            <a:prstDash val="solid"/>
          </a:ln>
        </p:spPr>
      </p:sp>
      <p:sp>
        <p:nvSpPr>
          <p:cNvPr id="46" name="Text 43"/>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969264" y="47731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Copy one rule for every country.</a:t>
            </a:r>
            <a:endParaRPr lang="en-US" sz="1250" dirty="0"/>
          </a:p>
        </p:txBody>
      </p:sp>
      <p:sp>
        <p:nvSpPr>
          <p:cNvPr id="48" name="Shape 45"/>
          <p:cNvSpPr/>
          <p:nvPr/>
        </p:nvSpPr>
        <p:spPr>
          <a:xfrm>
            <a:off x="640080" y="5330952"/>
            <a:ext cx="256032" cy="256032"/>
          </a:xfrm>
          <a:prstGeom prst="ellipse">
            <a:avLst/>
          </a:prstGeom>
          <a:solidFill>
            <a:srgbClr val="F4F1EA"/>
          </a:solidFill>
          <a:ln w="12700">
            <a:solidFill>
              <a:srgbClr val="F4F1EA"/>
            </a:solidFill>
            <a:prstDash val="solid"/>
          </a:ln>
        </p:spPr>
      </p:sp>
      <p:sp>
        <p:nvSpPr>
          <p:cNvPr id="49" name="Text 46"/>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969264" y="52303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Use words, observe and follow the other person’s lead.</a:t>
            </a:r>
            <a:endParaRPr lang="en-US" sz="1250" dirty="0"/>
          </a:p>
        </p:txBody>
      </p:sp>
      <p:sp>
        <p:nvSpPr>
          <p:cNvPr id="51" name="Shape 48"/>
          <p:cNvSpPr/>
          <p:nvPr/>
        </p:nvSpPr>
        <p:spPr>
          <a:xfrm>
            <a:off x="640080" y="5788152"/>
            <a:ext cx="256032" cy="256032"/>
          </a:xfrm>
          <a:prstGeom prst="ellipse">
            <a:avLst/>
          </a:prstGeom>
          <a:solidFill>
            <a:srgbClr val="F4F1EA"/>
          </a:solidFill>
          <a:ln w="12700">
            <a:solidFill>
              <a:srgbClr val="F4F1EA"/>
            </a:solidFill>
            <a:prstDash val="solid"/>
          </a:ln>
        </p:spPr>
      </p:sp>
      <p:sp>
        <p:nvSpPr>
          <p:cNvPr id="52" name="Text 49"/>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969264" y="5687568"/>
            <a:ext cx="4887468"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Avoid greeting anyone.</a:t>
            </a:r>
            <a:endParaRPr lang="en-US" sz="1250" dirty="0"/>
          </a:p>
        </p:txBody>
      </p:sp>
      <p:sp>
        <p:nvSpPr>
          <p:cNvPr id="54" name="Shape 51"/>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6313932"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avoids overgeneralising?</a:t>
            </a:r>
            <a:endParaRPr lang="en-US" sz="1250" dirty="0"/>
          </a:p>
        </p:txBody>
      </p:sp>
      <p:sp>
        <p:nvSpPr>
          <p:cNvPr id="58" name="Shape 55"/>
          <p:cNvSpPr/>
          <p:nvPr/>
        </p:nvSpPr>
        <p:spPr>
          <a:xfrm>
            <a:off x="6368796"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368796"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6697980" y="47731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بَعْضِ العَائِلَاتِ يُقَدِّمُونَ القَهْوَةَ.</a:t>
            </a:r>
            <a:endParaRPr lang="ar-SA" sz="2050" dirty="0"/>
          </a:p>
        </p:txBody>
      </p:sp>
      <p:sp>
        <p:nvSpPr>
          <p:cNvPr id="61" name="Shape 58"/>
          <p:cNvSpPr/>
          <p:nvPr/>
        </p:nvSpPr>
        <p:spPr>
          <a:xfrm>
            <a:off x="6368796"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368796"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6697980" y="52303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كُلُّ العَائِلَاتِ تُقَدِّمُ القَهْوَةَ.</a:t>
            </a:r>
            <a:endParaRPr lang="ar-SA" sz="2050" dirty="0"/>
          </a:p>
        </p:txBody>
      </p:sp>
      <p:sp>
        <p:nvSpPr>
          <p:cNvPr id="64" name="Shape 61"/>
          <p:cNvSpPr/>
          <p:nvPr/>
        </p:nvSpPr>
        <p:spPr>
          <a:xfrm>
            <a:off x="6368796"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368796"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6697980" y="5687568"/>
            <a:ext cx="4887468"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العَرَبُ جَمِيعًا مُتَشَابِهُونَ.</a:t>
            </a:r>
            <a:endParaRPr lang="ar-SA" sz="2050" dirty="0"/>
          </a:p>
        </p:txBody>
      </p:sp>
      <p:sp>
        <p:nvSpPr>
          <p:cNvPr id="67" name="Text 6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15 / 37</a:t>
            </a:r>
            <a:endParaRPr lang="en-US" sz="850" dirty="0"/>
          </a:p>
        </p:txBody>
      </p:sp>
    </p:spTree>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name="Slide 1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TB-L01 · Identity and Profiles</a:t>
            </a:r>
            <a:endParaRPr lang="en-US" sz="950" dirty="0"/>
          </a:p>
        </p:txBody>
      </p:sp>
      <p:sp>
        <p:nvSpPr>
          <p:cNvPr id="8" name="Shape 6"/>
          <p:cNvSpPr/>
          <p:nvPr/>
        </p:nvSpPr>
        <p:spPr>
          <a:xfrm>
            <a:off x="6308446" y="274320"/>
            <a:ext cx="2451506" cy="329184"/>
          </a:xfrm>
          <a:prstGeom prst="roundRect">
            <a:avLst>
              <a:gd name="adj" fmla="val 50000"/>
            </a:avLst>
          </a:prstGeom>
          <a:solidFill>
            <a:srgbClr val="1B3B6F"/>
          </a:solidFill>
          <a:ln w="12700">
            <a:solidFill>
              <a:srgbClr val="1B3B6F"/>
            </a:solidFill>
            <a:prstDash val="solid"/>
          </a:ln>
        </p:spPr>
      </p:sp>
      <p:sp>
        <p:nvSpPr>
          <p:cNvPr id="9" name="Text 7"/>
          <p:cNvSpPr txBox="1"/>
          <p:nvPr/>
        </p:nvSpPr>
        <p:spPr>
          <a:xfrm>
            <a:off x="6308446" y="274320"/>
            <a:ext cx="2451506"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TEACHER INSTRUCTION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B3B6F"/>
                </a:solidFill>
                <a:latin typeface="Calibri" pitchFamily="34" charset="0"/>
                <a:cs typeface="Amiri" pitchFamily="2" charset="-78"/>
              </a:rPr>
              <a:t>CHECK FOR UNDERSTANDING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Answers and reasons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 وَالتَّعْلِيلُ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TB-L01</a:t>
            </a:r>
            <a:endParaRPr lang="en-US" sz="850" dirty="0"/>
          </a:p>
        </p:txBody>
      </p:sp>
      <p:sp>
        <p:nvSpPr>
          <p:cNvPr id="15" name="Shape 12"/>
          <p:cNvSpPr/>
          <p:nvPr/>
        </p:nvSpPr>
        <p:spPr>
          <a:xfrm>
            <a:off x="457200"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the most accurate statement about greeting gestures?</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Every Arab greeting includes a handshake.</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Physical contact is always expected.</a:t>
            </a:r>
            <a:endParaRPr lang="en-US" sz="1250" dirty="0"/>
          </a:p>
        </p:txBody>
      </p:sp>
      <p:sp>
        <p:nvSpPr>
          <p:cNvPr id="25" name="Shape 22"/>
          <p:cNvSpPr/>
          <p:nvPr/>
        </p:nvSpPr>
        <p:spPr>
          <a:xfrm>
            <a:off x="548640" y="3197352"/>
            <a:ext cx="5362956"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They vary by person, family, setting and community.</a:t>
            </a:r>
            <a:endParaRPr lang="en-US" sz="1250" dirty="0"/>
          </a:p>
        </p:txBody>
      </p:sp>
      <p:sp>
        <p:nvSpPr>
          <p:cNvPr id="29" name="Text 26"/>
          <p:cNvSpPr txBox="1"/>
          <p:nvPr/>
        </p:nvSpPr>
        <p:spPr>
          <a:xfrm>
            <a:off x="585216" y="3566160"/>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Greeting gestures vary; observe and follow the other person’s lead.</a:t>
            </a:r>
            <a:endParaRPr lang="en-US" sz="1050" dirty="0"/>
          </a:p>
        </p:txBody>
      </p:sp>
      <p:sp>
        <p:nvSpPr>
          <p:cNvPr id="30" name="Shape 27"/>
          <p:cNvSpPr/>
          <p:nvPr/>
        </p:nvSpPr>
        <p:spPr>
          <a:xfrm>
            <a:off x="6185916" y="1810512"/>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313932"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6313932"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6679692" y="1883664"/>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Arabic phrase respectfully asks after the family?</a:t>
            </a:r>
            <a:endParaRPr lang="en-US" sz="1250" dirty="0"/>
          </a:p>
        </p:txBody>
      </p:sp>
      <p:sp>
        <p:nvSpPr>
          <p:cNvPr id="34" name="Shape 31"/>
          <p:cNvSpPr/>
          <p:nvPr/>
        </p:nvSpPr>
        <p:spPr>
          <a:xfrm>
            <a:off x="6277356" y="2453640"/>
            <a:ext cx="5362956"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6368796"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6368796"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6697980" y="2432304"/>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كَيْفَ الأَهْلُ؟</a:t>
            </a:r>
            <a:endParaRPr lang="ar-SA" sz="1700" dirty="0"/>
          </a:p>
        </p:txBody>
      </p:sp>
      <p:sp>
        <p:nvSpPr>
          <p:cNvPr id="38" name="Shape 35"/>
          <p:cNvSpPr/>
          <p:nvPr/>
        </p:nvSpPr>
        <p:spPr>
          <a:xfrm>
            <a:off x="6368796"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6368796"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6697980" y="280416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مَا دِينُكَ؟</a:t>
            </a:r>
            <a:endParaRPr lang="ar-SA" sz="1700" dirty="0"/>
          </a:p>
        </p:txBody>
      </p:sp>
      <p:sp>
        <p:nvSpPr>
          <p:cNvPr id="41" name="Shape 38"/>
          <p:cNvSpPr/>
          <p:nvPr/>
        </p:nvSpPr>
        <p:spPr>
          <a:xfrm>
            <a:off x="6368796"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6368796"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6697980" y="3176016"/>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كَمْ عُمْرُكَ؟</a:t>
            </a:r>
            <a:endParaRPr lang="ar-SA" sz="1700" dirty="0"/>
          </a:p>
        </p:txBody>
      </p:sp>
      <p:sp>
        <p:nvSpPr>
          <p:cNvPr id="44" name="Text 41"/>
          <p:cNvSpPr txBox="1"/>
          <p:nvPr/>
        </p:nvSpPr>
        <p:spPr>
          <a:xfrm>
            <a:off x="6313932" y="3566160"/>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كَيْفَ الأَهْلُ؟</a:t>
            </a:r>
            <a:pPr algn="l" indent="0" marL="0">
              <a:buNone/>
            </a:pPr>
            <a:r>
              <a:rPr lang="en-US" sz="1050" i="1" dirty="0">
                <a:solidFill>
                  <a:srgbClr val="8A6D1E"/>
                </a:solidFill>
                <a:latin typeface="Calibri" pitchFamily="34" charset="0"/>
                <a:cs typeface="Amiri" pitchFamily="2" charset="-78"/>
              </a:rPr>
              <a:t> means ‘How is the family?’</a:t>
            </a:r>
            <a:endParaRPr lang="en-US" sz="1050" dirty="0"/>
          </a:p>
        </p:txBody>
      </p:sp>
      <p:sp>
        <p:nvSpPr>
          <p:cNvPr id="45" name="Shape 42"/>
          <p:cNvSpPr/>
          <p:nvPr/>
        </p:nvSpPr>
        <p:spPr>
          <a:xfrm>
            <a:off x="457200"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585216" y="4288536"/>
            <a:ext cx="310896" cy="310896"/>
          </a:xfrm>
          <a:prstGeom prst="ellipse">
            <a:avLst/>
          </a:prstGeom>
          <a:solidFill>
            <a:srgbClr val="1B3B6F"/>
          </a:solidFill>
          <a:ln w="12700">
            <a:solidFill>
              <a:srgbClr val="1B3B6F"/>
            </a:solidFill>
            <a:prstDash val="solid"/>
          </a:ln>
        </p:spPr>
      </p:sp>
      <p:sp>
        <p:nvSpPr>
          <p:cNvPr id="47" name="Text 44"/>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950976"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should a learner do when unsure about a greeting gesture?</a:t>
            </a:r>
            <a:endParaRPr lang="en-US" sz="1250" dirty="0"/>
          </a:p>
        </p:txBody>
      </p:sp>
      <p:sp>
        <p:nvSpPr>
          <p:cNvPr id="49" name="Shape 46"/>
          <p:cNvSpPr/>
          <p:nvPr/>
        </p:nvSpPr>
        <p:spPr>
          <a:xfrm>
            <a:off x="640080" y="4831080"/>
            <a:ext cx="256032" cy="256032"/>
          </a:xfrm>
          <a:prstGeom prst="ellipse">
            <a:avLst/>
          </a:prstGeom>
          <a:solidFill>
            <a:srgbClr val="C9CED6"/>
          </a:solidFill>
          <a:ln w="12700">
            <a:solidFill>
              <a:srgbClr val="C9CED6"/>
            </a:solidFill>
            <a:prstDash val="solid"/>
          </a:ln>
        </p:spPr>
      </p:sp>
      <p:sp>
        <p:nvSpPr>
          <p:cNvPr id="50" name="Text 47"/>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969264" y="4773168"/>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Copy one rule for every country.</a:t>
            </a:r>
            <a:endParaRPr lang="en-US" sz="1250" dirty="0"/>
          </a:p>
        </p:txBody>
      </p:sp>
      <p:sp>
        <p:nvSpPr>
          <p:cNvPr id="52" name="Shape 49"/>
          <p:cNvSpPr/>
          <p:nvPr/>
        </p:nvSpPr>
        <p:spPr>
          <a:xfrm>
            <a:off x="548640" y="5166360"/>
            <a:ext cx="5362956"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640080" y="5202936"/>
            <a:ext cx="256032" cy="256032"/>
          </a:xfrm>
          <a:prstGeom prst="ellipse">
            <a:avLst/>
          </a:prstGeom>
          <a:solidFill>
            <a:srgbClr val="2E8B57"/>
          </a:solidFill>
          <a:ln w="12700">
            <a:solidFill>
              <a:srgbClr val="2E8B57"/>
            </a:solidFill>
            <a:prstDash val="solid"/>
          </a:ln>
        </p:spPr>
      </p:sp>
      <p:sp>
        <p:nvSpPr>
          <p:cNvPr id="54" name="Text 51"/>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969264" y="5145024"/>
            <a:ext cx="4887468"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Use words, observe and follow the other person’s lead.</a:t>
            </a:r>
            <a:endParaRPr lang="en-US" sz="1250" dirty="0"/>
          </a:p>
        </p:txBody>
      </p:sp>
      <p:sp>
        <p:nvSpPr>
          <p:cNvPr id="56" name="Shape 53"/>
          <p:cNvSpPr/>
          <p:nvPr/>
        </p:nvSpPr>
        <p:spPr>
          <a:xfrm>
            <a:off x="640080" y="5574792"/>
            <a:ext cx="256032" cy="256032"/>
          </a:xfrm>
          <a:prstGeom prst="ellipse">
            <a:avLst/>
          </a:prstGeom>
          <a:solidFill>
            <a:srgbClr val="C9CED6"/>
          </a:solidFill>
          <a:ln w="12700">
            <a:solidFill>
              <a:srgbClr val="C9CED6"/>
            </a:solidFill>
            <a:prstDash val="solid"/>
          </a:ln>
        </p:spPr>
      </p:sp>
      <p:sp>
        <p:nvSpPr>
          <p:cNvPr id="57" name="Text 54"/>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969264" y="5516880"/>
            <a:ext cx="4887468"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Avoid greeting anyone.</a:t>
            </a:r>
            <a:endParaRPr lang="en-US" sz="1250" dirty="0"/>
          </a:p>
        </p:txBody>
      </p:sp>
      <p:sp>
        <p:nvSpPr>
          <p:cNvPr id="59" name="Text 56"/>
          <p:cNvSpPr txBox="1"/>
          <p:nvPr/>
        </p:nvSpPr>
        <p:spPr>
          <a:xfrm>
            <a:off x="585216" y="5907024"/>
            <a:ext cx="5289804"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Words plus attentive observation are respectful and adaptable.</a:t>
            </a:r>
            <a:endParaRPr lang="en-US" sz="1050" dirty="0"/>
          </a:p>
        </p:txBody>
      </p:sp>
      <p:sp>
        <p:nvSpPr>
          <p:cNvPr id="60" name="Shape 57"/>
          <p:cNvSpPr/>
          <p:nvPr/>
        </p:nvSpPr>
        <p:spPr>
          <a:xfrm>
            <a:off x="6185916" y="4151376"/>
            <a:ext cx="5545836"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6313932"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6313932"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6679692" y="4224528"/>
            <a:ext cx="4942332"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sentence avoids overgeneralising?</a:t>
            </a:r>
            <a:endParaRPr lang="en-US" sz="1250" dirty="0"/>
          </a:p>
        </p:txBody>
      </p:sp>
      <p:sp>
        <p:nvSpPr>
          <p:cNvPr id="64" name="Shape 61"/>
          <p:cNvSpPr/>
          <p:nvPr/>
        </p:nvSpPr>
        <p:spPr>
          <a:xfrm>
            <a:off x="6277356" y="4794504"/>
            <a:ext cx="5362956"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368796"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368796"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6697980" y="4773168"/>
            <a:ext cx="4887468"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فِي بَعْضِ العَائِلَاتِ يُقَدِّمُونَ القَهْوَةَ.</a:t>
            </a:r>
            <a:endParaRPr lang="ar-SA" sz="1700" dirty="0"/>
          </a:p>
        </p:txBody>
      </p:sp>
      <p:sp>
        <p:nvSpPr>
          <p:cNvPr id="68" name="Shape 65"/>
          <p:cNvSpPr/>
          <p:nvPr/>
        </p:nvSpPr>
        <p:spPr>
          <a:xfrm>
            <a:off x="6368796"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368796"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6697980" y="5145024"/>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كُلُّ العَائِلَاتِ تُقَدِّمُ القَهْوَةَ.</a:t>
            </a:r>
            <a:endParaRPr lang="ar-SA" sz="1700" dirty="0"/>
          </a:p>
        </p:txBody>
      </p:sp>
      <p:sp>
        <p:nvSpPr>
          <p:cNvPr id="71" name="Shape 68"/>
          <p:cNvSpPr/>
          <p:nvPr/>
        </p:nvSpPr>
        <p:spPr>
          <a:xfrm>
            <a:off x="6368796"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368796"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6697980" y="5516880"/>
            <a:ext cx="4887468"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العَرَبُ جَمِيعًا مُتَشَابِهُونَ.</a:t>
            </a:r>
            <a:endParaRPr lang="ar-SA" sz="1700" dirty="0"/>
          </a:p>
        </p:txBody>
      </p:sp>
      <p:sp>
        <p:nvSpPr>
          <p:cNvPr id="74" name="Text 71"/>
          <p:cNvSpPr txBox="1"/>
          <p:nvPr/>
        </p:nvSpPr>
        <p:spPr>
          <a:xfrm>
            <a:off x="6313932" y="5907024"/>
            <a:ext cx="5289804"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فِي بَعْضِ العَائِلَاتِ</a:t>
            </a:r>
            <a:pPr algn="l" indent="0" marL="0">
              <a:buNone/>
            </a:pPr>
            <a:r>
              <a:rPr lang="en-US" sz="1050" i="1" dirty="0">
                <a:solidFill>
                  <a:srgbClr val="8A6D1E"/>
                </a:solidFill>
                <a:latin typeface="Calibri" pitchFamily="34" charset="0"/>
                <a:cs typeface="Amiri" pitchFamily="2" charset="-78"/>
              </a:rPr>
              <a:t> means ‘in some families’ and leaves room for variation.</a:t>
            </a:r>
            <a:endParaRPr lang="en-US" sz="1050" dirty="0"/>
          </a:p>
        </p:txBody>
      </p:sp>
      <p:sp>
        <p:nvSpPr>
          <p:cNvPr id="75" name="Text 7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16 / 37</a:t>
            </a:r>
            <a:endParaRPr lang="en-US" sz="850" dirty="0"/>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name="Slide 1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TB-L01 · Identity and Profiles</a:t>
            </a:r>
            <a:endParaRPr lang="en-US" sz="950" dirty="0"/>
          </a:p>
        </p:txBody>
      </p:sp>
      <p:sp>
        <p:nvSpPr>
          <p:cNvPr id="8" name="Shape 6"/>
          <p:cNvSpPr/>
          <p:nvPr/>
        </p:nvSpPr>
        <p:spPr>
          <a:xfrm>
            <a:off x="7388352" y="274320"/>
            <a:ext cx="1371600" cy="329184"/>
          </a:xfrm>
          <a:prstGeom prst="roundRect">
            <a:avLst>
              <a:gd name="adj" fmla="val 50000"/>
            </a:avLst>
          </a:prstGeom>
          <a:solidFill>
            <a:srgbClr val="6B4C9A"/>
          </a:solidFill>
          <a:ln w="12700">
            <a:solidFill>
              <a:srgbClr val="6B4C9A"/>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I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6B4C9A"/>
                </a:solidFill>
                <a:latin typeface="Calibri" pitchFamily="34" charset="0"/>
                <a:cs typeface="Amiri" pitchFamily="2" charset="-78"/>
              </a:rPr>
              <a:t>I DO · WATCH, THEN COPY</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350" b="1" dirty="0">
                <a:solidFill>
                  <a:srgbClr val="1B3B6F"/>
                </a:solidFill>
                <a:latin typeface="Cambria" pitchFamily="34" charset="0"/>
                <a:cs typeface="Amiri" pitchFamily="2" charset="-78"/>
              </a:rPr>
              <a:t>Watch me describe a family respectfully</a:t>
            </a:r>
            <a:endParaRPr lang="en-US" sz="23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شَاهِدْ ثُمَّ 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TB-L01</a:t>
            </a:r>
            <a:endParaRPr lang="en-US" sz="850" dirty="0"/>
          </a:p>
        </p:txBody>
      </p:sp>
      <p:sp>
        <p:nvSpPr>
          <p:cNvPr id="15" name="Shape 12"/>
          <p:cNvSpPr/>
          <p:nvPr/>
        </p:nvSpPr>
        <p:spPr>
          <a:xfrm>
            <a:off x="9050274"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11219688" y="1938528"/>
            <a:ext cx="384048" cy="384048"/>
          </a:xfrm>
          <a:prstGeom prst="ellipse">
            <a:avLst/>
          </a:prstGeom>
          <a:solidFill>
            <a:srgbClr val="6B4C9A"/>
          </a:solidFill>
          <a:ln w="12700">
            <a:solidFill>
              <a:srgbClr val="6B4C9A"/>
            </a:solidFill>
            <a:prstDash val="solid"/>
          </a:ln>
        </p:spPr>
      </p:sp>
      <p:sp>
        <p:nvSpPr>
          <p:cNvPr id="17" name="Text 14"/>
          <p:cNvSpPr txBox="1"/>
          <p:nvPr/>
        </p:nvSpPr>
        <p:spPr>
          <a:xfrm>
            <a:off x="11219688"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1</a:t>
            </a:r>
            <a:endParaRPr lang="en-US" sz="1400" dirty="0"/>
          </a:p>
        </p:txBody>
      </p:sp>
      <p:sp>
        <p:nvSpPr>
          <p:cNvPr id="18" name="Text 15"/>
          <p:cNvSpPr txBox="1"/>
          <p:nvPr/>
        </p:nvSpPr>
        <p:spPr>
          <a:xfrm>
            <a:off x="9187434"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The context</a:t>
            </a:r>
            <a:endParaRPr lang="en-US" sz="1250" dirty="0"/>
          </a:p>
        </p:txBody>
      </p:sp>
      <p:sp>
        <p:nvSpPr>
          <p:cNvPr id="19" name="Text 16"/>
          <p:cNvSpPr txBox="1"/>
          <p:nvPr/>
        </p:nvSpPr>
        <p:spPr>
          <a:xfrm>
            <a:off x="9160002"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850" b="1" dirty="0">
                <a:solidFill>
                  <a:srgbClr val="1B3B6F"/>
                </a:solidFill>
                <a:latin typeface="Amiri" pitchFamily="2" charset="-78"/>
                <a:ea typeface="Amiri" pitchFamily="2" charset="-78"/>
                <a:cs typeface="Amiri" pitchFamily="2" charset="-78"/>
              </a:rPr>
              <a:t>هَذِهِ عَائِلَةٌ مَغْرِبِيَّةٌ بَرِيطَانِيَّةٌ.</a:t>
            </a:r>
            <a:endParaRPr lang="ar-SA" sz="1850" dirty="0"/>
          </a:p>
        </p:txBody>
      </p:sp>
      <p:sp>
        <p:nvSpPr>
          <p:cNvPr id="20" name="Text 17"/>
          <p:cNvSpPr txBox="1"/>
          <p:nvPr/>
        </p:nvSpPr>
        <p:spPr>
          <a:xfrm>
            <a:off x="9187434"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A fictional family — not a real classmate.</a:t>
            </a:r>
            <a:endParaRPr lang="en-US" sz="1150" dirty="0"/>
          </a:p>
        </p:txBody>
      </p:sp>
      <p:sp>
        <p:nvSpPr>
          <p:cNvPr id="21" name="Text 18"/>
          <p:cNvSpPr txBox="1"/>
          <p:nvPr/>
        </p:nvSpPr>
        <p:spPr>
          <a:xfrm>
            <a:off x="8867394"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2" name="Shape 19"/>
          <p:cNvSpPr/>
          <p:nvPr/>
        </p:nvSpPr>
        <p:spPr>
          <a:xfrm>
            <a:off x="6185916"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3" name="Shape 20"/>
          <p:cNvSpPr/>
          <p:nvPr/>
        </p:nvSpPr>
        <p:spPr>
          <a:xfrm>
            <a:off x="8355330" y="1938528"/>
            <a:ext cx="384048" cy="384048"/>
          </a:xfrm>
          <a:prstGeom prst="ellipse">
            <a:avLst/>
          </a:prstGeom>
          <a:solidFill>
            <a:srgbClr val="6B4C9A"/>
          </a:solidFill>
          <a:ln w="12700">
            <a:solidFill>
              <a:srgbClr val="6B4C9A"/>
            </a:solidFill>
            <a:prstDash val="solid"/>
          </a:ln>
        </p:spPr>
      </p:sp>
      <p:sp>
        <p:nvSpPr>
          <p:cNvPr id="24" name="Text 21"/>
          <p:cNvSpPr txBox="1"/>
          <p:nvPr/>
        </p:nvSpPr>
        <p:spPr>
          <a:xfrm>
            <a:off x="8355330"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2</a:t>
            </a:r>
            <a:endParaRPr lang="en-US" sz="1400" dirty="0"/>
          </a:p>
        </p:txBody>
      </p:sp>
      <p:sp>
        <p:nvSpPr>
          <p:cNvPr id="25" name="Text 22"/>
          <p:cNvSpPr txBox="1"/>
          <p:nvPr/>
        </p:nvSpPr>
        <p:spPr>
          <a:xfrm>
            <a:off x="6323076"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The greeting</a:t>
            </a:r>
            <a:endParaRPr lang="en-US" sz="1250" dirty="0"/>
          </a:p>
        </p:txBody>
      </p:sp>
      <p:sp>
        <p:nvSpPr>
          <p:cNvPr id="26" name="Text 23"/>
          <p:cNvSpPr txBox="1"/>
          <p:nvPr/>
        </p:nvSpPr>
        <p:spPr>
          <a:xfrm>
            <a:off x="6295644"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يَقُولُونَ السَّلَامُ عَلَيْكُمْ عِنْدَ اللِّقَاءِ.</a:t>
            </a:r>
            <a:endParaRPr lang="ar-SA" sz="1750" dirty="0"/>
          </a:p>
        </p:txBody>
      </p:sp>
      <p:sp>
        <p:nvSpPr>
          <p:cNvPr id="27" name="Text 24"/>
          <p:cNvSpPr txBox="1"/>
          <p:nvPr/>
        </p:nvSpPr>
        <p:spPr>
          <a:xfrm>
            <a:off x="6323076"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They say … when they meet.</a:t>
            </a:r>
            <a:endParaRPr lang="en-US" sz="1150" dirty="0"/>
          </a:p>
        </p:txBody>
      </p:sp>
      <p:sp>
        <p:nvSpPr>
          <p:cNvPr id="28" name="Text 25"/>
          <p:cNvSpPr txBox="1"/>
          <p:nvPr/>
        </p:nvSpPr>
        <p:spPr>
          <a:xfrm>
            <a:off x="6003036"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29" name="Shape 26"/>
          <p:cNvSpPr/>
          <p:nvPr/>
        </p:nvSpPr>
        <p:spPr>
          <a:xfrm>
            <a:off x="3321558"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0" name="Shape 27"/>
          <p:cNvSpPr/>
          <p:nvPr/>
        </p:nvSpPr>
        <p:spPr>
          <a:xfrm>
            <a:off x="5490972" y="1938528"/>
            <a:ext cx="384048" cy="384048"/>
          </a:xfrm>
          <a:prstGeom prst="ellipse">
            <a:avLst/>
          </a:prstGeom>
          <a:solidFill>
            <a:srgbClr val="6B4C9A"/>
          </a:solidFill>
          <a:ln w="12700">
            <a:solidFill>
              <a:srgbClr val="6B4C9A"/>
            </a:solidFill>
            <a:prstDash val="solid"/>
          </a:ln>
        </p:spPr>
      </p:sp>
      <p:sp>
        <p:nvSpPr>
          <p:cNvPr id="31" name="Text 28"/>
          <p:cNvSpPr txBox="1"/>
          <p:nvPr/>
        </p:nvSpPr>
        <p:spPr>
          <a:xfrm>
            <a:off x="5490972"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3</a:t>
            </a:r>
            <a:endParaRPr lang="en-US" sz="1400" dirty="0"/>
          </a:p>
        </p:txBody>
      </p:sp>
      <p:sp>
        <p:nvSpPr>
          <p:cNvPr id="32" name="Text 29"/>
          <p:cNvSpPr txBox="1"/>
          <p:nvPr/>
        </p:nvSpPr>
        <p:spPr>
          <a:xfrm>
            <a:off x="3458718"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Hospitality</a:t>
            </a:r>
            <a:endParaRPr lang="en-US" sz="1250" dirty="0"/>
          </a:p>
        </p:txBody>
      </p:sp>
      <p:sp>
        <p:nvSpPr>
          <p:cNvPr id="33" name="Text 30"/>
          <p:cNvSpPr txBox="1"/>
          <p:nvPr/>
        </p:nvSpPr>
        <p:spPr>
          <a:xfrm>
            <a:off x="3431286" y="2450592"/>
            <a:ext cx="2462022" cy="914400"/>
          </a:xfrm>
          <a:prstGeom prst="rect">
            <a:avLst/>
          </a:prstGeom>
          <a:noFill/>
          <a:ln/>
        </p:spPr>
        <p:txBody>
          <a:bodyPr wrap="square" lIns="0" tIns="0" rIns="0" bIns="0" rtlCol="0" anchor="ctr"/>
          <a:lstStyle/>
          <a:p>
            <a:pPr rtl="1" algn="ctr" indent="0" marL="0">
              <a:buNone/>
            </a:pPr>
            <a:r>
              <a:rPr lang="ar-SA" altLang="en-US" sz="2300" b="1" dirty="0">
                <a:solidFill>
                  <a:srgbClr val="1B3B6F"/>
                </a:solidFill>
                <a:latin typeface="Amiri" pitchFamily="2" charset="-78"/>
                <a:ea typeface="Amiri" pitchFamily="2" charset="-78"/>
                <a:cs typeface="Amiri" pitchFamily="2" charset="-78"/>
              </a:rPr>
              <a:t>وَيُقَدِّمُونَ الشَّايَ لِلضُّيُوفِ.</a:t>
            </a:r>
            <a:endParaRPr lang="ar-SA" sz="2300" dirty="0"/>
          </a:p>
        </p:txBody>
      </p:sp>
      <p:sp>
        <p:nvSpPr>
          <p:cNvPr id="34" name="Text 31"/>
          <p:cNvSpPr txBox="1"/>
          <p:nvPr/>
        </p:nvSpPr>
        <p:spPr>
          <a:xfrm>
            <a:off x="3458718"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They offer tea to guests.</a:t>
            </a:r>
            <a:endParaRPr lang="en-US" sz="1150" dirty="0"/>
          </a:p>
        </p:txBody>
      </p:sp>
      <p:sp>
        <p:nvSpPr>
          <p:cNvPr id="35" name="Text 32"/>
          <p:cNvSpPr txBox="1"/>
          <p:nvPr/>
        </p:nvSpPr>
        <p:spPr>
          <a:xfrm>
            <a:off x="3138678" y="2770632"/>
            <a:ext cx="182880" cy="365760"/>
          </a:xfrm>
          <a:prstGeom prst="rect">
            <a:avLst/>
          </a:prstGeom>
          <a:noFill/>
          <a:ln/>
        </p:spPr>
        <p:txBody>
          <a:bodyPr wrap="square" lIns="0" tIns="0" rIns="0" bIns="0" rtlCol="0" anchor="ctr"/>
          <a:lstStyle/>
          <a:p>
            <a:pPr algn="ctr" indent="0" marL="0">
              <a:buNone/>
            </a:pPr>
            <a:r>
              <a:rPr lang="en-US" sz="1400" dirty="0">
                <a:solidFill>
                  <a:srgbClr val="5A6472"/>
                </a:solidFill>
                <a:latin typeface="Calibri" pitchFamily="34" charset="0"/>
                <a:cs typeface="Amiri" pitchFamily="2" charset="-78"/>
              </a:rPr>
              <a:t>←</a:t>
            </a:r>
            <a:endParaRPr lang="en-US" sz="1400" dirty="0"/>
          </a:p>
        </p:txBody>
      </p:sp>
      <p:sp>
        <p:nvSpPr>
          <p:cNvPr id="36" name="Shape 33"/>
          <p:cNvSpPr/>
          <p:nvPr/>
        </p:nvSpPr>
        <p:spPr>
          <a:xfrm>
            <a:off x="457200" y="1810512"/>
            <a:ext cx="2681478" cy="2487168"/>
          </a:xfrm>
          <a:prstGeom prst="roundRect">
            <a:avLst>
              <a:gd name="adj" fmla="val 294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2626614" y="1938528"/>
            <a:ext cx="384048" cy="384048"/>
          </a:xfrm>
          <a:prstGeom prst="ellipse">
            <a:avLst/>
          </a:prstGeom>
          <a:solidFill>
            <a:srgbClr val="6B4C9A"/>
          </a:solidFill>
          <a:ln w="12700">
            <a:solidFill>
              <a:srgbClr val="6B4C9A"/>
            </a:solidFill>
            <a:prstDash val="solid"/>
          </a:ln>
        </p:spPr>
      </p:sp>
      <p:sp>
        <p:nvSpPr>
          <p:cNvPr id="38" name="Text 35"/>
          <p:cNvSpPr txBox="1"/>
          <p:nvPr/>
        </p:nvSpPr>
        <p:spPr>
          <a:xfrm>
            <a:off x="2626614" y="1938528"/>
            <a:ext cx="384048" cy="384048"/>
          </a:xfrm>
          <a:prstGeom prst="rect">
            <a:avLst/>
          </a:prstGeom>
          <a:noFill/>
          <a:ln/>
        </p:spPr>
        <p:txBody>
          <a:bodyPr wrap="square" lIns="0" tIns="0" rIns="0" bIns="0" rtlCol="0" anchor="ctr"/>
          <a:lstStyle/>
          <a:p>
            <a:pPr algn="ctr" indent="0" marL="0">
              <a:buNone/>
            </a:pPr>
            <a:r>
              <a:rPr lang="en-US" sz="1400" b="1" dirty="0">
                <a:solidFill>
                  <a:srgbClr val="FFFFFF"/>
                </a:solidFill>
                <a:latin typeface="Calibri" pitchFamily="34" charset="0"/>
                <a:cs typeface="Amiri" pitchFamily="2" charset="-78"/>
              </a:rPr>
              <a:t>4</a:t>
            </a:r>
            <a:endParaRPr lang="en-US" sz="1400" dirty="0"/>
          </a:p>
        </p:txBody>
      </p:sp>
      <p:sp>
        <p:nvSpPr>
          <p:cNvPr id="39" name="Text 36"/>
          <p:cNvSpPr txBox="1"/>
          <p:nvPr/>
        </p:nvSpPr>
        <p:spPr>
          <a:xfrm>
            <a:off x="594360" y="1920240"/>
            <a:ext cx="1949958" cy="457200"/>
          </a:xfrm>
          <a:prstGeom prst="rect">
            <a:avLst/>
          </a:prstGeom>
          <a:noFill/>
          <a:ln/>
        </p:spPr>
        <p:txBody>
          <a:bodyPr wrap="square" lIns="0" tIns="0" rIns="0" bIns="0" rtlCol="0" anchor="ctr"/>
          <a:lstStyle/>
          <a:p>
            <a:pPr algn="l" indent="0" marL="0">
              <a:buNone/>
            </a:pPr>
            <a:r>
              <a:rPr lang="en-US" sz="1250" b="1" dirty="0">
                <a:solidFill>
                  <a:srgbClr val="6B4C9A"/>
                </a:solidFill>
                <a:latin typeface="Calibri" pitchFamily="34" charset="0"/>
                <a:cs typeface="Amiri" pitchFamily="2" charset="-78"/>
              </a:rPr>
              <a:t>Careful variation</a:t>
            </a:r>
            <a:endParaRPr lang="en-US" sz="1250" dirty="0"/>
          </a:p>
        </p:txBody>
      </p:sp>
      <p:sp>
        <p:nvSpPr>
          <p:cNvPr id="40" name="Text 37"/>
          <p:cNvSpPr txBox="1"/>
          <p:nvPr/>
        </p:nvSpPr>
        <p:spPr>
          <a:xfrm>
            <a:off x="566928" y="2450592"/>
            <a:ext cx="2462022" cy="914400"/>
          </a:xfrm>
          <a:prstGeom prst="rect">
            <a:avLst/>
          </a:prstGeom>
          <a:noFill/>
          <a:ln/>
        </p:spPr>
        <p:txBody>
          <a:bodyPr wrap="square" lIns="0" tIns="0" rIns="0" bIns="0" rtlCol="0" anchor="ctr"/>
          <a:lstStyle/>
          <a:p>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بَعْضُ الأَقَارِبِ يُصَافِحُونَ، </a:t>
            </a:r>
            <a:pPr rtl="1" algn="ctr" indent="0" marL="0">
              <a:lnSpc>
                <a:spcPct val="120000"/>
              </a:lnSpc>
              <a:buNone/>
            </a:pPr>
            <a:r>
              <a:rPr lang="ar-SA" altLang="en-US" sz="1750" b="1" dirty="0">
                <a:solidFill>
                  <a:srgbClr val="0E7C86"/>
                </a:solidFill>
                <a:latin typeface="Amiri" pitchFamily="2" charset="-78"/>
                <a:ea typeface="Amiri" pitchFamily="2" charset="-78"/>
                <a:cs typeface="Amiri" pitchFamily="2" charset="-78"/>
              </a:rPr>
              <a:t>وَلَكِنَّ</a:t>
            </a:r>
            <a:pPr rtl="1" algn="ctr" indent="0" marL="0">
              <a:lnSpc>
                <a:spcPct val="120000"/>
              </a:lnSpc>
              <a:buNone/>
            </a:pPr>
            <a:r>
              <a:rPr lang="ar-SA" altLang="en-US" sz="1750" b="1" dirty="0">
                <a:solidFill>
                  <a:srgbClr val="1B3B6F"/>
                </a:solidFill>
                <a:latin typeface="Amiri" pitchFamily="2" charset="-78"/>
                <a:ea typeface="Amiri" pitchFamily="2" charset="-78"/>
                <a:cs typeface="Amiri" pitchFamily="2" charset="-78"/>
              </a:rPr>
              <a:t> آخَرِينَ يُفَضِّلُونَ الكَلِمَاتِ.</a:t>
            </a:r>
            <a:endParaRPr lang="ar-SA" sz="1750" dirty="0"/>
          </a:p>
        </p:txBody>
      </p:sp>
      <p:sp>
        <p:nvSpPr>
          <p:cNvPr id="41" name="Text 38"/>
          <p:cNvSpPr txBox="1"/>
          <p:nvPr/>
        </p:nvSpPr>
        <p:spPr>
          <a:xfrm>
            <a:off x="594360" y="3410712"/>
            <a:ext cx="2407158" cy="804672"/>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SOME … but OTHERS … — no “all”.</a:t>
            </a:r>
            <a:endParaRPr lang="en-US" sz="1150" dirty="0"/>
          </a:p>
        </p:txBody>
      </p:sp>
      <p:sp>
        <p:nvSpPr>
          <p:cNvPr id="42" name="Shape 39"/>
          <p:cNvSpPr/>
          <p:nvPr/>
        </p:nvSpPr>
        <p:spPr>
          <a:xfrm>
            <a:off x="457200" y="4480560"/>
            <a:ext cx="11274552" cy="1828800"/>
          </a:xfrm>
          <a:prstGeom prst="roundRect">
            <a:avLst>
              <a:gd name="adj" fmla="val 4000"/>
            </a:avLst>
          </a:prstGeom>
          <a:solidFill>
            <a:srgbClr val="F1ECF8"/>
          </a:solidFill>
          <a:ln w="9525">
            <a:solidFill>
              <a:srgbClr val="CFC2E3"/>
            </a:solidFill>
            <a:prstDash val="solid"/>
          </a:ln>
          <a:effectLst>
            <a:outerShdw sx="100000" sy="100000" kx="0" ky="0" algn="bl" rotWithShape="0" blurRad="50800" dist="19050" dir="5400000">
              <a:srgbClr val="000000">
                <a:alpha val="10000"/>
              </a:srgbClr>
            </a:outerShdw>
          </a:effectLst>
        </p:spPr>
      </p:sp>
      <p:pic>
        <p:nvPicPr>
          <p:cNvPr id="43" name="Image 0" descr="preencoded.png">    </p:cNvPr>
          <p:cNvPicPr>
            <a:picLocks noChangeAspect="1"/>
          </p:cNvPicPr>
          <p:nvPr/>
        </p:nvPicPr>
        <p:blipFill>
          <a:blip r:embed="rId1"/>
          <a:stretch>
            <a:fillRect/>
          </a:stretch>
        </p:blipFill>
        <p:spPr>
          <a:xfrm>
            <a:off x="685800" y="4663440"/>
            <a:ext cx="457200" cy="457200"/>
          </a:xfrm>
          <a:prstGeom prst="rect">
            <a:avLst/>
          </a:prstGeom>
        </p:spPr>
      </p:pic>
      <p:sp>
        <p:nvSpPr>
          <p:cNvPr id="44" name="Text 40"/>
          <p:cNvSpPr txBox="1"/>
          <p:nvPr/>
        </p:nvSpPr>
        <p:spPr>
          <a:xfrm>
            <a:off x="1280160" y="4736592"/>
            <a:ext cx="3657600" cy="310896"/>
          </a:xfrm>
          <a:prstGeom prst="rect">
            <a:avLst/>
          </a:prstGeom>
          <a:noFill/>
          <a:ln/>
        </p:spPr>
        <p:txBody>
          <a:bodyPr wrap="square" lIns="0" tIns="0" rIns="0" bIns="0" rtlCol="0" anchor="ctr"/>
          <a:lstStyle/>
          <a:p>
            <a:pPr algn="l" indent="0" marL="0">
              <a:buNone/>
            </a:pPr>
            <a:r>
              <a:rPr lang="en-US" sz="1200" b="1" spc="200" kern="0" dirty="0">
                <a:solidFill>
                  <a:srgbClr val="6B4C9A"/>
                </a:solidFill>
                <a:latin typeface="Calibri" pitchFamily="34" charset="0"/>
                <a:cs typeface="Amiri" pitchFamily="2" charset="-78"/>
              </a:rPr>
              <a:t>COPY THIS INTO YOUR BOOK</a:t>
            </a:r>
            <a:endParaRPr lang="en-US" sz="1200" dirty="0"/>
          </a:p>
        </p:txBody>
      </p:sp>
      <p:sp>
        <p:nvSpPr>
          <p:cNvPr id="45" name="Shape 41"/>
          <p:cNvSpPr/>
          <p:nvPr/>
        </p:nvSpPr>
        <p:spPr>
          <a:xfrm>
            <a:off x="10515600" y="4736592"/>
            <a:ext cx="914400" cy="237744"/>
          </a:xfrm>
          <a:prstGeom prst="roundRect">
            <a:avLst>
              <a:gd name="adj" fmla="val 50000"/>
            </a:avLst>
          </a:prstGeom>
          <a:solidFill>
            <a:srgbClr val="0E7C86"/>
          </a:solidFill>
          <a:ln w="12700">
            <a:solidFill>
              <a:srgbClr val="0E7C86"/>
            </a:solidFill>
            <a:prstDash val="solid"/>
          </a:ln>
        </p:spPr>
      </p:sp>
      <p:sp>
        <p:nvSpPr>
          <p:cNvPr id="46" name="Text 42"/>
          <p:cNvSpPr txBox="1"/>
          <p:nvPr/>
        </p:nvSpPr>
        <p:spPr>
          <a:xfrm>
            <a:off x="10515600" y="4736592"/>
            <a:ext cx="914400" cy="237744"/>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CONTRAST</a:t>
            </a:r>
            <a:endParaRPr lang="en-US" sz="800" dirty="0"/>
          </a:p>
        </p:txBody>
      </p:sp>
      <p:sp>
        <p:nvSpPr>
          <p:cNvPr id="47" name="Text 43"/>
          <p:cNvSpPr txBox="1"/>
          <p:nvPr/>
        </p:nvSpPr>
        <p:spPr>
          <a:xfrm>
            <a:off x="685800" y="5029200"/>
            <a:ext cx="10817352" cy="73152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هَذِهِ عَائِلَةٌ مَغْرِبِيَّةٌ بَرِيطَانِيَّةٌ. يَقُولُونَ السَّلَامُ عَلَيْكُمْ، وَيُقَدِّمُونَ الشَّايَ لِلضُّيُوفِ. بَعْضُ الأَقَارِبِ يُصَافِحُونَ، </a:t>
            </a:r>
            <a:pPr rtl="1" algn="r" indent="0" marL="0">
              <a:buNone/>
            </a:pPr>
            <a:r>
              <a:rPr lang="ar-SA" altLang="en-US" sz="1700" b="1" dirty="0">
                <a:solidFill>
                  <a:srgbClr val="0E7C86"/>
                </a:solidFill>
                <a:latin typeface="Amiri" pitchFamily="2" charset="-78"/>
                <a:ea typeface="Amiri" pitchFamily="2" charset="-78"/>
                <a:cs typeface="Amiri" pitchFamily="2" charset="-78"/>
              </a:rPr>
              <a:t>وَلَكِنَّ</a:t>
            </a:r>
            <a:pPr rtl="1" algn="r" indent="0" marL="0">
              <a:buNone/>
            </a:pPr>
            <a:r>
              <a:rPr lang="ar-SA" altLang="en-US" sz="1700" b="1" dirty="0">
                <a:solidFill>
                  <a:srgbClr val="1B3B6F"/>
                </a:solidFill>
                <a:latin typeface="Amiri" pitchFamily="2" charset="-78"/>
                <a:ea typeface="Amiri" pitchFamily="2" charset="-78"/>
                <a:cs typeface="Amiri" pitchFamily="2" charset="-78"/>
              </a:rPr>
              <a:t> آخَرِينَ يُفَضِّلُونَ التَّحِيَّةَ بِالكَلِمَاتِ.</a:t>
            </a:r>
            <a:endParaRPr lang="ar-SA" sz="1700" dirty="0"/>
          </a:p>
        </p:txBody>
      </p:sp>
      <p:sp>
        <p:nvSpPr>
          <p:cNvPr id="48" name="Text 44"/>
          <p:cNvSpPr txBox="1"/>
          <p:nvPr/>
        </p:nvSpPr>
        <p:spPr>
          <a:xfrm>
            <a:off x="685800" y="5760720"/>
            <a:ext cx="10817352" cy="365760"/>
          </a:xfrm>
          <a:prstGeom prst="rect">
            <a:avLst/>
          </a:prstGeom>
          <a:noFill/>
          <a:ln/>
        </p:spPr>
        <p:txBody>
          <a:bodyPr wrap="square" lIns="0" tIns="0" rIns="0" bIns="0" rtlCol="0" anchor="ctr"/>
          <a:lstStyle/>
          <a:p>
            <a:pPr algn="r" indent="0" marL="0">
              <a:buNone/>
            </a:pPr>
            <a:r>
              <a:rPr lang="en-US" sz="1100" i="1" dirty="0">
                <a:solidFill>
                  <a:srgbClr val="5A6472"/>
                </a:solidFill>
                <a:latin typeface="Calibri" pitchFamily="34" charset="0"/>
                <a:cs typeface="Amiri" pitchFamily="2" charset="-78"/>
              </a:rPr>
              <a:t>This is a Moroccan-British family. They say “peace be upon you”, and they offer tea to guests. Some relatives shake hands, but others prefer to greet with words.</a:t>
            </a:r>
            <a:endParaRPr lang="en-US" sz="1100" dirty="0"/>
          </a:p>
        </p:txBody>
      </p:sp>
      <p:sp>
        <p:nvSpPr>
          <p:cNvPr id="49"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17 / 37</a:t>
            </a:r>
            <a:endParaRPr lang="en-US" sz="850" dirty="0"/>
          </a:p>
        </p:txBody>
      </p:sp>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name="Slide 1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TB-L01 · Identity and Profiles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800" b="1" spc="150" kern="0" dirty="0">
                <a:solidFill>
                  <a:srgbClr val="2F6FB0"/>
                </a:solidFill>
                <a:latin typeface="Calibri" pitchFamily="34" charset="0"/>
                <a:cs typeface="Amiri" pitchFamily="2" charset="-78"/>
              </a:rPr>
              <a:t>WE DO · PICTURE MATCH · WEBSITE GAME “VISUAL GAME — GREETINGS AND IDENTITY IN THE ARAB WORLD”</a:t>
            </a:r>
            <a:endParaRPr lang="en-US" sz="8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200" b="1" dirty="0">
                <a:solidFill>
                  <a:srgbClr val="1B3B6F"/>
                </a:solidFill>
                <a:latin typeface="Cambria" pitchFamily="34" charset="0"/>
                <a:cs typeface="Amiri" pitchFamily="2" charset="-78"/>
              </a:rPr>
              <a:t>Match the picture to the cultural sentence</a:t>
            </a:r>
            <a:endParaRPr lang="en-US" sz="22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الثَّقَافَةُ وَالعَادَاتُ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TB-L01</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hospitality + respect</a:t>
            </a:r>
            <a:endParaRPr lang="en-US" sz="1100" dirty="0"/>
          </a:p>
        </p:txBody>
      </p:sp>
      <p:sp>
        <p:nvSpPr>
          <p:cNvPr id="23" name="Shape 18"/>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4404360" y="1938528"/>
            <a:ext cx="365760" cy="365760"/>
          </a:xfrm>
          <a:prstGeom prst="ellipse">
            <a:avLst/>
          </a:prstGeom>
          <a:solidFill>
            <a:srgbClr val="1B3B6F"/>
          </a:solidFill>
          <a:ln w="12700">
            <a:solidFill>
              <a:srgbClr val="1B3B6F"/>
            </a:solidFill>
            <a:prstDash val="solid"/>
          </a:ln>
        </p:spPr>
      </p:sp>
      <p:sp>
        <p:nvSpPr>
          <p:cNvPr id="25" name="Text 20"/>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26" name="Shape 21"/>
          <p:cNvSpPr/>
          <p:nvPr/>
        </p:nvSpPr>
        <p:spPr>
          <a:xfrm>
            <a:off x="4992624" y="2066544"/>
            <a:ext cx="1014984" cy="1014984"/>
          </a:xfrm>
          <a:prstGeom prst="ellipse">
            <a:avLst/>
          </a:prstGeom>
          <a:solidFill>
            <a:srgbClr val="F4F1EA"/>
          </a:solidFill>
          <a:ln w="12700">
            <a:solidFill>
              <a:srgbClr val="F4F1EA"/>
            </a:solidFill>
            <a:prstDash val="solid"/>
          </a:ln>
        </p:spPr>
      </p:sp>
      <p:pic>
        <p:nvPicPr>
          <p:cNvPr id="27"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28" name="Shape 22"/>
          <p:cNvSpPr/>
          <p:nvPr/>
        </p:nvSpPr>
        <p:spPr>
          <a:xfrm>
            <a:off x="6181344" y="2066544"/>
            <a:ext cx="1014984" cy="1014984"/>
          </a:xfrm>
          <a:prstGeom prst="ellipse">
            <a:avLst/>
          </a:prstGeom>
          <a:solidFill>
            <a:srgbClr val="F4F1EA"/>
          </a:solidFill>
          <a:ln w="12700">
            <a:solidFill>
              <a:srgbClr val="F4F1EA"/>
            </a:solidFill>
            <a:prstDash val="solid"/>
          </a:ln>
        </p:spPr>
      </p:sp>
      <p:pic>
        <p:nvPicPr>
          <p:cNvPr id="29"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0" name="Text 23"/>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greetings vary</a:t>
            </a:r>
            <a:endParaRPr lang="en-US" sz="1100" dirty="0"/>
          </a:p>
        </p:txBody>
      </p:sp>
      <p:sp>
        <p:nvSpPr>
          <p:cNvPr id="31" name="Shape 2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2" name="Shape 25"/>
          <p:cNvSpPr/>
          <p:nvPr/>
        </p:nvSpPr>
        <p:spPr>
          <a:xfrm>
            <a:off x="585216" y="1938528"/>
            <a:ext cx="365760" cy="365760"/>
          </a:xfrm>
          <a:prstGeom prst="ellipse">
            <a:avLst/>
          </a:prstGeom>
          <a:solidFill>
            <a:srgbClr val="1B3B6F"/>
          </a:solidFill>
          <a:ln w="12700">
            <a:solidFill>
              <a:srgbClr val="1B3B6F"/>
            </a:solidFill>
            <a:prstDash val="solid"/>
          </a:ln>
        </p:spPr>
      </p:sp>
      <p:sp>
        <p:nvSpPr>
          <p:cNvPr id="33" name="Text 2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34" name="Shape 27"/>
          <p:cNvSpPr/>
          <p:nvPr/>
        </p:nvSpPr>
        <p:spPr>
          <a:xfrm>
            <a:off x="1173480" y="2066544"/>
            <a:ext cx="1014984" cy="1014984"/>
          </a:xfrm>
          <a:prstGeom prst="ellipse">
            <a:avLst/>
          </a:prstGeom>
          <a:solidFill>
            <a:srgbClr val="F4F1EA"/>
          </a:solidFill>
          <a:ln w="12700">
            <a:solidFill>
              <a:srgbClr val="F4F1EA"/>
            </a:solidFill>
            <a:prstDash val="solid"/>
          </a:ln>
        </p:spPr>
      </p:sp>
      <p:pic>
        <p:nvPicPr>
          <p:cNvPr id="3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36" name="Shape 28"/>
          <p:cNvSpPr/>
          <p:nvPr/>
        </p:nvSpPr>
        <p:spPr>
          <a:xfrm>
            <a:off x="2362200" y="2066544"/>
            <a:ext cx="1014984" cy="1014984"/>
          </a:xfrm>
          <a:prstGeom prst="ellipse">
            <a:avLst/>
          </a:prstGeom>
          <a:solidFill>
            <a:srgbClr val="F4F1EA"/>
          </a:solidFill>
          <a:ln w="12700">
            <a:solidFill>
              <a:srgbClr val="F4F1EA"/>
            </a:solidFill>
            <a:prstDash val="solid"/>
          </a:ln>
        </p:spPr>
      </p:sp>
      <p:pic>
        <p:nvPicPr>
          <p:cNvPr id="3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38" name="Text 2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family gathering</a:t>
            </a:r>
            <a:endParaRPr lang="en-US" sz="1100" dirty="0"/>
          </a:p>
        </p:txBody>
      </p:sp>
      <p:sp>
        <p:nvSpPr>
          <p:cNvPr id="39" name="Shape 30"/>
          <p:cNvSpPr/>
          <p:nvPr/>
        </p:nvSpPr>
        <p:spPr>
          <a:xfrm>
            <a:off x="457200" y="3730752"/>
            <a:ext cx="11274552" cy="493776"/>
          </a:xfrm>
          <a:prstGeom prst="roundRect">
            <a:avLst>
              <a:gd name="adj" fmla="val 11111"/>
            </a:avLst>
          </a:prstGeom>
          <a:solidFill>
            <a:srgbClr val="EEF3FA"/>
          </a:solidFill>
          <a:ln w="9525">
            <a:solidFill>
              <a:srgbClr val="C9D6EA"/>
            </a:solidFill>
            <a:prstDash val="solid"/>
          </a:ln>
        </p:spPr>
      </p:sp>
      <p:sp>
        <p:nvSpPr>
          <p:cNvPr id="40" name="Shape 31"/>
          <p:cNvSpPr/>
          <p:nvPr/>
        </p:nvSpPr>
        <p:spPr>
          <a:xfrm>
            <a:off x="11247120" y="3831336"/>
            <a:ext cx="292608" cy="292608"/>
          </a:xfrm>
          <a:prstGeom prst="ellipse">
            <a:avLst/>
          </a:prstGeom>
          <a:solidFill>
            <a:srgbClr val="2F6FB0"/>
          </a:solidFill>
          <a:ln w="12700">
            <a:solidFill>
              <a:srgbClr val="2F6FB0"/>
            </a:solidFill>
            <a:prstDash val="solid"/>
          </a:ln>
        </p:spPr>
      </p:sp>
      <p:sp>
        <p:nvSpPr>
          <p:cNvPr id="41" name="Text 32"/>
          <p:cNvSpPr txBox="1"/>
          <p:nvPr/>
        </p:nvSpPr>
        <p:spPr>
          <a:xfrm>
            <a:off x="11247120" y="3831336"/>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A</a:t>
            </a:r>
            <a:endParaRPr lang="en-US" sz="1000" dirty="0"/>
          </a:p>
        </p:txBody>
      </p:sp>
      <p:sp>
        <p:nvSpPr>
          <p:cNvPr id="42" name="Text 33"/>
          <p:cNvSpPr txBox="1"/>
          <p:nvPr/>
        </p:nvSpPr>
        <p:spPr>
          <a:xfrm>
            <a:off x="731520" y="3730752"/>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تَخْتَلِفُ طُرُقُ التَّحِيَّةِ مِنْ مَكَانٍ إِلَى آخَرَ.</a:t>
            </a:r>
            <a:endParaRPr lang="ar-SA" sz="2000" dirty="0"/>
          </a:p>
        </p:txBody>
      </p:sp>
      <p:sp>
        <p:nvSpPr>
          <p:cNvPr id="43" name="Shape 34"/>
          <p:cNvSpPr/>
          <p:nvPr/>
        </p:nvSpPr>
        <p:spPr>
          <a:xfrm>
            <a:off x="457200" y="4297680"/>
            <a:ext cx="11274552" cy="493776"/>
          </a:xfrm>
          <a:prstGeom prst="roundRect">
            <a:avLst>
              <a:gd name="adj" fmla="val 11111"/>
            </a:avLst>
          </a:prstGeom>
          <a:solidFill>
            <a:srgbClr val="EEF3FA"/>
          </a:solidFill>
          <a:ln w="9525">
            <a:solidFill>
              <a:srgbClr val="C9D6EA"/>
            </a:solidFill>
            <a:prstDash val="solid"/>
          </a:ln>
        </p:spPr>
      </p:sp>
      <p:sp>
        <p:nvSpPr>
          <p:cNvPr id="44" name="Shape 35"/>
          <p:cNvSpPr/>
          <p:nvPr/>
        </p:nvSpPr>
        <p:spPr>
          <a:xfrm>
            <a:off x="11247120" y="4398264"/>
            <a:ext cx="292608" cy="292608"/>
          </a:xfrm>
          <a:prstGeom prst="ellipse">
            <a:avLst/>
          </a:prstGeom>
          <a:solidFill>
            <a:srgbClr val="2F6FB0"/>
          </a:solidFill>
          <a:ln w="12700">
            <a:solidFill>
              <a:srgbClr val="2F6FB0"/>
            </a:solidFill>
            <a:prstDash val="solid"/>
          </a:ln>
        </p:spPr>
      </p:sp>
      <p:sp>
        <p:nvSpPr>
          <p:cNvPr id="45" name="Text 36"/>
          <p:cNvSpPr txBox="1"/>
          <p:nvPr/>
        </p:nvSpPr>
        <p:spPr>
          <a:xfrm>
            <a:off x="11247120" y="4398264"/>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B</a:t>
            </a:r>
            <a:endParaRPr lang="en-US" sz="1000" dirty="0"/>
          </a:p>
        </p:txBody>
      </p:sp>
      <p:sp>
        <p:nvSpPr>
          <p:cNvPr id="46" name="Text 37"/>
          <p:cNvSpPr txBox="1"/>
          <p:nvPr/>
        </p:nvSpPr>
        <p:spPr>
          <a:xfrm>
            <a:off x="731520" y="4297680"/>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تَجْتَمِعُ العَائِلَةُ فِي المُنَاسَبَاتِ.</a:t>
            </a:r>
            <a:endParaRPr lang="ar-SA" sz="2000" dirty="0"/>
          </a:p>
        </p:txBody>
      </p:sp>
      <p:sp>
        <p:nvSpPr>
          <p:cNvPr id="47" name="Shape 38"/>
          <p:cNvSpPr/>
          <p:nvPr/>
        </p:nvSpPr>
        <p:spPr>
          <a:xfrm>
            <a:off x="457200" y="4864608"/>
            <a:ext cx="11274552" cy="493776"/>
          </a:xfrm>
          <a:prstGeom prst="roundRect">
            <a:avLst>
              <a:gd name="adj" fmla="val 11111"/>
            </a:avLst>
          </a:prstGeom>
          <a:solidFill>
            <a:srgbClr val="EEF3FA"/>
          </a:solidFill>
          <a:ln w="9525">
            <a:solidFill>
              <a:srgbClr val="C9D6EA"/>
            </a:solidFill>
            <a:prstDash val="solid"/>
          </a:ln>
        </p:spPr>
      </p:sp>
      <p:sp>
        <p:nvSpPr>
          <p:cNvPr id="48" name="Shape 39"/>
          <p:cNvSpPr/>
          <p:nvPr/>
        </p:nvSpPr>
        <p:spPr>
          <a:xfrm>
            <a:off x="11247120" y="4965192"/>
            <a:ext cx="292608" cy="292608"/>
          </a:xfrm>
          <a:prstGeom prst="ellipse">
            <a:avLst/>
          </a:prstGeom>
          <a:solidFill>
            <a:srgbClr val="2F6FB0"/>
          </a:solidFill>
          <a:ln w="12700">
            <a:solidFill>
              <a:srgbClr val="2F6FB0"/>
            </a:solidFill>
            <a:prstDash val="solid"/>
          </a:ln>
        </p:spPr>
      </p:sp>
      <p:sp>
        <p:nvSpPr>
          <p:cNvPr id="49" name="Text 40"/>
          <p:cNvSpPr txBox="1"/>
          <p:nvPr/>
        </p:nvSpPr>
        <p:spPr>
          <a:xfrm>
            <a:off x="11247120" y="496519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C</a:t>
            </a:r>
            <a:endParaRPr lang="en-US" sz="1000" dirty="0"/>
          </a:p>
        </p:txBody>
      </p:sp>
      <p:sp>
        <p:nvSpPr>
          <p:cNvPr id="50" name="Text 41"/>
          <p:cNvSpPr txBox="1"/>
          <p:nvPr/>
        </p:nvSpPr>
        <p:spPr>
          <a:xfrm>
            <a:off x="731520" y="4864608"/>
            <a:ext cx="10378440" cy="493776"/>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مِنَ المُهِمِّ اِحْتِرَامُ عَادَاتِ الضِّيَافَةِ.</a:t>
            </a:r>
            <a:endParaRPr lang="ar-SA" sz="2000" dirty="0"/>
          </a:p>
        </p:txBody>
      </p:sp>
      <p:sp>
        <p:nvSpPr>
          <p:cNvPr id="51" name="Text 42"/>
          <p:cNvSpPr txBox="1"/>
          <p:nvPr/>
        </p:nvSpPr>
        <p:spPr>
          <a:xfrm>
            <a:off x="457200" y="5468112"/>
            <a:ext cx="11274552" cy="365760"/>
          </a:xfrm>
          <a:prstGeom prst="rect">
            <a:avLst/>
          </a:prstGeom>
          <a:noFill/>
          <a:ln/>
        </p:spPr>
        <p:txBody>
          <a:bodyPr wrap="square" lIns="0" tIns="0" rIns="0" bIns="0" rtlCol="0" anchor="ctr"/>
          <a:lstStyle/>
          <a:p>
            <a:pPr algn="l" indent="0" marL="0">
              <a:buNone/>
            </a:pPr>
            <a:r>
              <a:rPr lang="en-US" sz="1250" b="1" dirty="0">
                <a:solidFill>
                  <a:srgbClr val="2F6FB0"/>
                </a:solidFill>
                <a:latin typeface="Calibri" pitchFamily="34" charset="0"/>
                <a:cs typeface="Amiri" pitchFamily="2" charset="-78"/>
              </a:rPr>
              <a:t>Match each picture to a sentence. Type in the chat: 1_  2_  3_</a:t>
            </a:r>
            <a:endParaRPr lang="en-US" sz="1250" dirty="0"/>
          </a:p>
        </p:txBody>
      </p:sp>
      <p:sp>
        <p:nvSpPr>
          <p:cNvPr id="52" name="Text 43"/>
          <p:cNvSpPr txBox="1"/>
          <p:nvPr/>
        </p:nvSpPr>
        <p:spPr>
          <a:xfrm>
            <a:off x="457200" y="5852160"/>
            <a:ext cx="11274552" cy="365760"/>
          </a:xfrm>
          <a:prstGeom prst="rect">
            <a:avLst/>
          </a:prstGeom>
          <a:noFill/>
          <a:ln/>
        </p:spPr>
        <p:txBody>
          <a:bodyPr wrap="square" lIns="0" tIns="0" rIns="0" bIns="0" rtlCol="0" anchor="ctr"/>
          <a:lstStyle/>
          <a:p>
            <a:pPr algn="l" indent="0" marL="0">
              <a:buNone/>
            </a:pPr>
            <a:r>
              <a:rPr lang="en-US" sz="1150" i="1" dirty="0">
                <a:solidFill>
                  <a:srgbClr val="5A6472"/>
                </a:solidFill>
                <a:latin typeface="Calibri" pitchFamily="34" charset="0"/>
                <a:cs typeface="Amiri" pitchFamily="2" charset="-78"/>
              </a:rPr>
              <a:t>Core: find ONE key word you know in each sentence first.</a:t>
            </a:r>
            <a:endParaRPr lang="en-US" sz="1150" dirty="0"/>
          </a:p>
        </p:txBody>
      </p:sp>
      <p:sp>
        <p:nvSpPr>
          <p:cNvPr id="53" name="Text 4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18 / 37</a:t>
            </a:r>
            <a:endParaRPr lang="en-US" sz="850" dirty="0"/>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name="Slide 1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TB-L01 · Identity and Profiles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PICTURE MATCH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Picture match: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الثَّقَافَةُ وَالعَادَاتُ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TB-L01</a:t>
            </a:r>
            <a:endParaRPr lang="en-US" sz="850" dirty="0"/>
          </a:p>
        </p:txBody>
      </p:sp>
      <p:sp>
        <p:nvSpPr>
          <p:cNvPr id="15" name="Shape 12"/>
          <p:cNvSpPr/>
          <p:nvPr/>
        </p:nvSpPr>
        <p:spPr>
          <a:xfrm>
            <a:off x="8095488"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8223504" y="1938528"/>
            <a:ext cx="365760" cy="365760"/>
          </a:xfrm>
          <a:prstGeom prst="ellipse">
            <a:avLst/>
          </a:prstGeom>
          <a:solidFill>
            <a:srgbClr val="1B3B6F"/>
          </a:solidFill>
          <a:ln w="12700">
            <a:solidFill>
              <a:srgbClr val="1B3B6F"/>
            </a:solidFill>
            <a:prstDash val="solid"/>
          </a:ln>
        </p:spPr>
      </p:sp>
      <p:sp>
        <p:nvSpPr>
          <p:cNvPr id="17" name="Text 14"/>
          <p:cNvSpPr txBox="1"/>
          <p:nvPr/>
        </p:nvSpPr>
        <p:spPr>
          <a:xfrm>
            <a:off x="8223504"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1</a:t>
            </a:r>
            <a:endParaRPr lang="en-US" sz="1200" dirty="0"/>
          </a:p>
        </p:txBody>
      </p:sp>
      <p:sp>
        <p:nvSpPr>
          <p:cNvPr id="18" name="Shape 15"/>
          <p:cNvSpPr/>
          <p:nvPr/>
        </p:nvSpPr>
        <p:spPr>
          <a:xfrm>
            <a:off x="8811768" y="2066544"/>
            <a:ext cx="1014984" cy="1014984"/>
          </a:xfrm>
          <a:prstGeom prst="ellipse">
            <a:avLst/>
          </a:prstGeom>
          <a:solidFill>
            <a:srgbClr val="F4F1EA"/>
          </a:solidFill>
          <a:ln w="12700">
            <a:solidFill>
              <a:srgbClr val="F4F1EA"/>
            </a:solidFill>
            <a:prstDash val="solid"/>
          </a:ln>
        </p:spPr>
      </p:sp>
      <p:pic>
        <p:nvPicPr>
          <p:cNvPr id="19" name="Image 0" descr="preencoded.png">    </p:cNvPr>
          <p:cNvPicPr>
            <a:picLocks noChangeAspect="1"/>
          </p:cNvPicPr>
          <p:nvPr/>
        </p:nvPicPr>
        <p:blipFill>
          <a:blip r:embed="rId1"/>
          <a:stretch>
            <a:fillRect/>
          </a:stretch>
        </p:blipFill>
        <p:spPr>
          <a:xfrm>
            <a:off x="8994648" y="2249424"/>
            <a:ext cx="649224" cy="649224"/>
          </a:xfrm>
          <a:prstGeom prst="rect">
            <a:avLst/>
          </a:prstGeom>
        </p:spPr>
      </p:pic>
      <p:sp>
        <p:nvSpPr>
          <p:cNvPr id="20" name="Shape 16"/>
          <p:cNvSpPr/>
          <p:nvPr/>
        </p:nvSpPr>
        <p:spPr>
          <a:xfrm>
            <a:off x="10000488" y="2066544"/>
            <a:ext cx="1014984" cy="1014984"/>
          </a:xfrm>
          <a:prstGeom prst="ellipse">
            <a:avLst/>
          </a:prstGeom>
          <a:solidFill>
            <a:srgbClr val="F4F1EA"/>
          </a:solidFill>
          <a:ln w="12700">
            <a:solidFill>
              <a:srgbClr val="F4F1EA"/>
            </a:solidFill>
            <a:prstDash val="solid"/>
          </a:ln>
        </p:spPr>
      </p:sp>
      <p:pic>
        <p:nvPicPr>
          <p:cNvPr id="21" name="Image 1" descr="preencoded.png">    </p:cNvPr>
          <p:cNvPicPr>
            <a:picLocks noChangeAspect="1"/>
          </p:cNvPicPr>
          <p:nvPr/>
        </p:nvPicPr>
        <p:blipFill>
          <a:blip r:embed="rId2"/>
          <a:stretch>
            <a:fillRect/>
          </a:stretch>
        </p:blipFill>
        <p:spPr>
          <a:xfrm>
            <a:off x="10183368" y="2249424"/>
            <a:ext cx="649224" cy="649224"/>
          </a:xfrm>
          <a:prstGeom prst="rect">
            <a:avLst/>
          </a:prstGeom>
        </p:spPr>
      </p:pic>
      <p:sp>
        <p:nvSpPr>
          <p:cNvPr id="22" name="Text 17"/>
          <p:cNvSpPr txBox="1"/>
          <p:nvPr/>
        </p:nvSpPr>
        <p:spPr>
          <a:xfrm>
            <a:off x="8232648"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hospitality + respect</a:t>
            </a:r>
            <a:endParaRPr lang="en-US" sz="1100" dirty="0"/>
          </a:p>
        </p:txBody>
      </p:sp>
      <p:sp>
        <p:nvSpPr>
          <p:cNvPr id="23" name="Shape 18"/>
          <p:cNvSpPr/>
          <p:nvPr/>
        </p:nvSpPr>
        <p:spPr>
          <a:xfrm>
            <a:off x="8095488"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24" name="Shape 19"/>
          <p:cNvSpPr/>
          <p:nvPr/>
        </p:nvSpPr>
        <p:spPr>
          <a:xfrm>
            <a:off x="11256264" y="3785616"/>
            <a:ext cx="329184" cy="329184"/>
          </a:xfrm>
          <a:prstGeom prst="ellipse">
            <a:avLst/>
          </a:prstGeom>
          <a:solidFill>
            <a:srgbClr val="2E8B57"/>
          </a:solidFill>
          <a:ln w="12700">
            <a:solidFill>
              <a:srgbClr val="2E8B57"/>
            </a:solidFill>
            <a:prstDash val="solid"/>
          </a:ln>
        </p:spPr>
      </p:sp>
      <p:sp>
        <p:nvSpPr>
          <p:cNvPr id="25" name="Text 20"/>
          <p:cNvSpPr txBox="1"/>
          <p:nvPr/>
        </p:nvSpPr>
        <p:spPr>
          <a:xfrm>
            <a:off x="11256264"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C</a:t>
            </a:r>
            <a:endParaRPr lang="en-US" sz="1100" dirty="0"/>
          </a:p>
        </p:txBody>
      </p:sp>
      <p:sp>
        <p:nvSpPr>
          <p:cNvPr id="26" name="Text 21"/>
          <p:cNvSpPr txBox="1"/>
          <p:nvPr/>
        </p:nvSpPr>
        <p:spPr>
          <a:xfrm>
            <a:off x="8232648"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مِنَ المُهِمِّ اِحْتِرَامُ عَادَاتِ الضِّيَافَةِ.</a:t>
            </a:r>
            <a:endParaRPr lang="ar-SA" sz="2200" dirty="0"/>
          </a:p>
        </p:txBody>
      </p:sp>
      <p:sp>
        <p:nvSpPr>
          <p:cNvPr id="27" name="Text 22"/>
          <p:cNvSpPr txBox="1"/>
          <p:nvPr/>
        </p:nvSpPr>
        <p:spPr>
          <a:xfrm>
            <a:off x="8232648"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It is important to respect hospitality customs.</a:t>
            </a:r>
            <a:endParaRPr lang="en-US" sz="1200" dirty="0"/>
          </a:p>
        </p:txBody>
      </p:sp>
      <p:sp>
        <p:nvSpPr>
          <p:cNvPr id="28" name="Shape 23"/>
          <p:cNvSpPr/>
          <p:nvPr/>
        </p:nvSpPr>
        <p:spPr>
          <a:xfrm>
            <a:off x="4276344"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4"/>
          <p:cNvSpPr/>
          <p:nvPr/>
        </p:nvSpPr>
        <p:spPr>
          <a:xfrm>
            <a:off x="4404360" y="1938528"/>
            <a:ext cx="365760" cy="365760"/>
          </a:xfrm>
          <a:prstGeom prst="ellipse">
            <a:avLst/>
          </a:prstGeom>
          <a:solidFill>
            <a:srgbClr val="1B3B6F"/>
          </a:solidFill>
          <a:ln w="12700">
            <a:solidFill>
              <a:srgbClr val="1B3B6F"/>
            </a:solidFill>
            <a:prstDash val="solid"/>
          </a:ln>
        </p:spPr>
      </p:sp>
      <p:sp>
        <p:nvSpPr>
          <p:cNvPr id="30" name="Text 25"/>
          <p:cNvSpPr txBox="1"/>
          <p:nvPr/>
        </p:nvSpPr>
        <p:spPr>
          <a:xfrm>
            <a:off x="4404360"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2</a:t>
            </a:r>
            <a:endParaRPr lang="en-US" sz="1200" dirty="0"/>
          </a:p>
        </p:txBody>
      </p:sp>
      <p:sp>
        <p:nvSpPr>
          <p:cNvPr id="31" name="Shape 26"/>
          <p:cNvSpPr/>
          <p:nvPr/>
        </p:nvSpPr>
        <p:spPr>
          <a:xfrm>
            <a:off x="4992624" y="2066544"/>
            <a:ext cx="1014984" cy="1014984"/>
          </a:xfrm>
          <a:prstGeom prst="ellipse">
            <a:avLst/>
          </a:prstGeom>
          <a:solidFill>
            <a:srgbClr val="F4F1EA"/>
          </a:solidFill>
          <a:ln w="12700">
            <a:solidFill>
              <a:srgbClr val="F4F1EA"/>
            </a:solidFill>
            <a:prstDash val="solid"/>
          </a:ln>
        </p:spPr>
      </p:sp>
      <p:pic>
        <p:nvPicPr>
          <p:cNvPr id="32" name="Image 2" descr="preencoded.png">    </p:cNvPr>
          <p:cNvPicPr>
            <a:picLocks noChangeAspect="1"/>
          </p:cNvPicPr>
          <p:nvPr/>
        </p:nvPicPr>
        <p:blipFill>
          <a:blip r:embed="rId3"/>
          <a:stretch>
            <a:fillRect/>
          </a:stretch>
        </p:blipFill>
        <p:spPr>
          <a:xfrm>
            <a:off x="5175504" y="2249424"/>
            <a:ext cx="649224" cy="649224"/>
          </a:xfrm>
          <a:prstGeom prst="rect">
            <a:avLst/>
          </a:prstGeom>
        </p:spPr>
      </p:pic>
      <p:sp>
        <p:nvSpPr>
          <p:cNvPr id="33" name="Shape 27"/>
          <p:cNvSpPr/>
          <p:nvPr/>
        </p:nvSpPr>
        <p:spPr>
          <a:xfrm>
            <a:off x="6181344" y="2066544"/>
            <a:ext cx="1014984" cy="1014984"/>
          </a:xfrm>
          <a:prstGeom prst="ellipse">
            <a:avLst/>
          </a:prstGeom>
          <a:solidFill>
            <a:srgbClr val="F4F1EA"/>
          </a:solidFill>
          <a:ln w="12700">
            <a:solidFill>
              <a:srgbClr val="F4F1EA"/>
            </a:solidFill>
            <a:prstDash val="solid"/>
          </a:ln>
        </p:spPr>
      </p:sp>
      <p:pic>
        <p:nvPicPr>
          <p:cNvPr id="34" name="Image 3" descr="preencoded.png">    </p:cNvPr>
          <p:cNvPicPr>
            <a:picLocks noChangeAspect="1"/>
          </p:cNvPicPr>
          <p:nvPr/>
        </p:nvPicPr>
        <p:blipFill>
          <a:blip r:embed="rId4"/>
          <a:stretch>
            <a:fillRect/>
          </a:stretch>
        </p:blipFill>
        <p:spPr>
          <a:xfrm>
            <a:off x="6364224" y="2249424"/>
            <a:ext cx="649224" cy="649224"/>
          </a:xfrm>
          <a:prstGeom prst="rect">
            <a:avLst/>
          </a:prstGeom>
        </p:spPr>
      </p:pic>
      <p:sp>
        <p:nvSpPr>
          <p:cNvPr id="35" name="Text 28"/>
          <p:cNvSpPr txBox="1"/>
          <p:nvPr/>
        </p:nvSpPr>
        <p:spPr>
          <a:xfrm>
            <a:off x="4413504"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greetings vary</a:t>
            </a:r>
            <a:endParaRPr lang="en-US" sz="1100" dirty="0"/>
          </a:p>
        </p:txBody>
      </p:sp>
      <p:sp>
        <p:nvSpPr>
          <p:cNvPr id="36" name="Shape 29"/>
          <p:cNvSpPr/>
          <p:nvPr/>
        </p:nvSpPr>
        <p:spPr>
          <a:xfrm>
            <a:off x="4276344"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37" name="Shape 30"/>
          <p:cNvSpPr/>
          <p:nvPr/>
        </p:nvSpPr>
        <p:spPr>
          <a:xfrm>
            <a:off x="7437120" y="3785616"/>
            <a:ext cx="329184" cy="329184"/>
          </a:xfrm>
          <a:prstGeom prst="ellipse">
            <a:avLst/>
          </a:prstGeom>
          <a:solidFill>
            <a:srgbClr val="2E8B57"/>
          </a:solidFill>
          <a:ln w="12700">
            <a:solidFill>
              <a:srgbClr val="2E8B57"/>
            </a:solidFill>
            <a:prstDash val="solid"/>
          </a:ln>
        </p:spPr>
      </p:sp>
      <p:sp>
        <p:nvSpPr>
          <p:cNvPr id="38" name="Text 31"/>
          <p:cNvSpPr txBox="1"/>
          <p:nvPr/>
        </p:nvSpPr>
        <p:spPr>
          <a:xfrm>
            <a:off x="7437120"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A</a:t>
            </a:r>
            <a:endParaRPr lang="en-US" sz="1100" dirty="0"/>
          </a:p>
        </p:txBody>
      </p:sp>
      <p:sp>
        <p:nvSpPr>
          <p:cNvPr id="39" name="Text 32"/>
          <p:cNvSpPr txBox="1"/>
          <p:nvPr/>
        </p:nvSpPr>
        <p:spPr>
          <a:xfrm>
            <a:off x="4413504" y="4160520"/>
            <a:ext cx="3361944" cy="1143000"/>
          </a:xfrm>
          <a:prstGeom prst="rect">
            <a:avLst/>
          </a:prstGeom>
          <a:noFill/>
          <a:ln/>
        </p:spPr>
        <p:txBody>
          <a:bodyPr wrap="square" lIns="0" tIns="0" rIns="0" bIns="0" rtlCol="0" anchor="ctr"/>
          <a:lstStyle/>
          <a:p>
            <a:pPr rtl="1" algn="ctr" indent="0" marL="0">
              <a:lnSpc>
                <a:spcPct val="120000"/>
              </a:lnSpc>
              <a:buNone/>
            </a:pPr>
            <a:r>
              <a:rPr lang="ar-SA" altLang="en-US" sz="2200" b="1" dirty="0">
                <a:solidFill>
                  <a:srgbClr val="1B3B6F"/>
                </a:solidFill>
                <a:latin typeface="Amiri" pitchFamily="2" charset="-78"/>
                <a:ea typeface="Amiri" pitchFamily="2" charset="-78"/>
                <a:cs typeface="Amiri" pitchFamily="2" charset="-78"/>
              </a:rPr>
              <a:t>تَخْتَلِفُ طُرُقُ التَّحِيَّةِ مِنْ مَكَانٍ إِلَى آخَرَ.</a:t>
            </a:r>
            <a:endParaRPr lang="ar-SA" sz="2200" dirty="0"/>
          </a:p>
        </p:txBody>
      </p:sp>
      <p:sp>
        <p:nvSpPr>
          <p:cNvPr id="40" name="Text 33"/>
          <p:cNvSpPr txBox="1"/>
          <p:nvPr/>
        </p:nvSpPr>
        <p:spPr>
          <a:xfrm>
            <a:off x="4413504"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Ways of greeting differ from place to place.</a:t>
            </a:r>
            <a:endParaRPr lang="en-US" sz="1200" dirty="0"/>
          </a:p>
        </p:txBody>
      </p:sp>
      <p:sp>
        <p:nvSpPr>
          <p:cNvPr id="41" name="Shape 34"/>
          <p:cNvSpPr/>
          <p:nvPr/>
        </p:nvSpPr>
        <p:spPr>
          <a:xfrm>
            <a:off x="457200" y="1810512"/>
            <a:ext cx="3636264" cy="1737360"/>
          </a:xfrm>
          <a:prstGeom prst="roundRect">
            <a:avLst>
              <a:gd name="adj" fmla="val 421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5"/>
          <p:cNvSpPr/>
          <p:nvPr/>
        </p:nvSpPr>
        <p:spPr>
          <a:xfrm>
            <a:off x="585216" y="1938528"/>
            <a:ext cx="365760" cy="365760"/>
          </a:xfrm>
          <a:prstGeom prst="ellipse">
            <a:avLst/>
          </a:prstGeom>
          <a:solidFill>
            <a:srgbClr val="1B3B6F"/>
          </a:solidFill>
          <a:ln w="12700">
            <a:solidFill>
              <a:srgbClr val="1B3B6F"/>
            </a:solidFill>
            <a:prstDash val="solid"/>
          </a:ln>
        </p:spPr>
      </p:sp>
      <p:sp>
        <p:nvSpPr>
          <p:cNvPr id="43" name="Text 36"/>
          <p:cNvSpPr txBox="1"/>
          <p:nvPr/>
        </p:nvSpPr>
        <p:spPr>
          <a:xfrm>
            <a:off x="585216" y="1938528"/>
            <a:ext cx="365760" cy="365760"/>
          </a:xfrm>
          <a:prstGeom prst="rect">
            <a:avLst/>
          </a:prstGeom>
          <a:noFill/>
          <a:ln/>
        </p:spPr>
        <p:txBody>
          <a:bodyPr wrap="square" lIns="0" tIns="0" rIns="0" bIns="0" rtlCol="0" anchor="ctr"/>
          <a:lstStyle/>
          <a:p>
            <a:pPr algn="ctr" indent="0" marL="0">
              <a:buNone/>
            </a:pPr>
            <a:r>
              <a:rPr lang="en-US" sz="1200" b="1" dirty="0">
                <a:solidFill>
                  <a:srgbClr val="FFFFFF"/>
                </a:solidFill>
                <a:latin typeface="Calibri" pitchFamily="34" charset="0"/>
                <a:cs typeface="Amiri" pitchFamily="2" charset="-78"/>
              </a:rPr>
              <a:t>3</a:t>
            </a:r>
            <a:endParaRPr lang="en-US" sz="1200" dirty="0"/>
          </a:p>
        </p:txBody>
      </p:sp>
      <p:sp>
        <p:nvSpPr>
          <p:cNvPr id="44" name="Shape 37"/>
          <p:cNvSpPr/>
          <p:nvPr/>
        </p:nvSpPr>
        <p:spPr>
          <a:xfrm>
            <a:off x="1173480" y="2066544"/>
            <a:ext cx="1014984" cy="1014984"/>
          </a:xfrm>
          <a:prstGeom prst="ellipse">
            <a:avLst/>
          </a:prstGeom>
          <a:solidFill>
            <a:srgbClr val="F4F1EA"/>
          </a:solidFill>
          <a:ln w="12700">
            <a:solidFill>
              <a:srgbClr val="F4F1EA"/>
            </a:solidFill>
            <a:prstDash val="solid"/>
          </a:ln>
        </p:spPr>
      </p:sp>
      <p:pic>
        <p:nvPicPr>
          <p:cNvPr id="45" name="Image 4" descr="preencoded.png">    </p:cNvPr>
          <p:cNvPicPr>
            <a:picLocks noChangeAspect="1"/>
          </p:cNvPicPr>
          <p:nvPr/>
        </p:nvPicPr>
        <p:blipFill>
          <a:blip r:embed="rId5"/>
          <a:stretch>
            <a:fillRect/>
          </a:stretch>
        </p:blipFill>
        <p:spPr>
          <a:xfrm>
            <a:off x="1356360" y="2249424"/>
            <a:ext cx="649224" cy="649224"/>
          </a:xfrm>
          <a:prstGeom prst="rect">
            <a:avLst/>
          </a:prstGeom>
        </p:spPr>
      </p:pic>
      <p:sp>
        <p:nvSpPr>
          <p:cNvPr id="46" name="Shape 38"/>
          <p:cNvSpPr/>
          <p:nvPr/>
        </p:nvSpPr>
        <p:spPr>
          <a:xfrm>
            <a:off x="2362200" y="2066544"/>
            <a:ext cx="1014984" cy="1014984"/>
          </a:xfrm>
          <a:prstGeom prst="ellipse">
            <a:avLst/>
          </a:prstGeom>
          <a:solidFill>
            <a:srgbClr val="F4F1EA"/>
          </a:solidFill>
          <a:ln w="12700">
            <a:solidFill>
              <a:srgbClr val="F4F1EA"/>
            </a:solidFill>
            <a:prstDash val="solid"/>
          </a:ln>
        </p:spPr>
      </p:sp>
      <p:pic>
        <p:nvPicPr>
          <p:cNvPr id="47" name="Image 5" descr="preencoded.png">    </p:cNvPr>
          <p:cNvPicPr>
            <a:picLocks noChangeAspect="1"/>
          </p:cNvPicPr>
          <p:nvPr/>
        </p:nvPicPr>
        <p:blipFill>
          <a:blip r:embed="rId6"/>
          <a:stretch>
            <a:fillRect/>
          </a:stretch>
        </p:blipFill>
        <p:spPr>
          <a:xfrm>
            <a:off x="2545080" y="2249424"/>
            <a:ext cx="649224" cy="649224"/>
          </a:xfrm>
          <a:prstGeom prst="rect">
            <a:avLst/>
          </a:prstGeom>
        </p:spPr>
      </p:pic>
      <p:sp>
        <p:nvSpPr>
          <p:cNvPr id="48" name="Text 39"/>
          <p:cNvSpPr txBox="1"/>
          <p:nvPr/>
        </p:nvSpPr>
        <p:spPr>
          <a:xfrm>
            <a:off x="594360" y="3182112"/>
            <a:ext cx="3361944" cy="292608"/>
          </a:xfrm>
          <a:prstGeom prst="rect">
            <a:avLst/>
          </a:prstGeom>
          <a:noFill/>
          <a:ln/>
        </p:spPr>
        <p:txBody>
          <a:bodyPr wrap="square" lIns="0" tIns="0" rIns="0" bIns="0" rtlCol="0" anchor="ctr"/>
          <a:lstStyle/>
          <a:p>
            <a:pPr algn="ctr" indent="0" marL="0">
              <a:buNone/>
            </a:pPr>
            <a:r>
              <a:rPr lang="en-US" sz="1100" i="1" dirty="0">
                <a:solidFill>
                  <a:srgbClr val="5A6472"/>
                </a:solidFill>
                <a:latin typeface="Calibri" pitchFamily="34" charset="0"/>
                <a:cs typeface="Amiri" pitchFamily="2" charset="-78"/>
              </a:rPr>
              <a:t>family gathering</a:t>
            </a:r>
            <a:endParaRPr lang="en-US" sz="1100" dirty="0"/>
          </a:p>
        </p:txBody>
      </p:sp>
      <p:sp>
        <p:nvSpPr>
          <p:cNvPr id="49" name="Shape 40"/>
          <p:cNvSpPr/>
          <p:nvPr/>
        </p:nvSpPr>
        <p:spPr>
          <a:xfrm>
            <a:off x="457200" y="3675888"/>
            <a:ext cx="3636264" cy="2633472"/>
          </a:xfrm>
          <a:prstGeom prst="roundRect">
            <a:avLst>
              <a:gd name="adj" fmla="val 2778"/>
            </a:avLst>
          </a:prstGeom>
          <a:solidFill>
            <a:srgbClr val="E6F4EC"/>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50" name="Shape 41"/>
          <p:cNvSpPr/>
          <p:nvPr/>
        </p:nvSpPr>
        <p:spPr>
          <a:xfrm>
            <a:off x="3617976" y="3785616"/>
            <a:ext cx="329184" cy="329184"/>
          </a:xfrm>
          <a:prstGeom prst="ellipse">
            <a:avLst/>
          </a:prstGeom>
          <a:solidFill>
            <a:srgbClr val="2E8B57"/>
          </a:solidFill>
          <a:ln w="12700">
            <a:solidFill>
              <a:srgbClr val="2E8B57"/>
            </a:solidFill>
            <a:prstDash val="solid"/>
          </a:ln>
        </p:spPr>
      </p:sp>
      <p:sp>
        <p:nvSpPr>
          <p:cNvPr id="51" name="Text 42"/>
          <p:cNvSpPr txBox="1"/>
          <p:nvPr/>
        </p:nvSpPr>
        <p:spPr>
          <a:xfrm>
            <a:off x="3617976" y="3785616"/>
            <a:ext cx="329184" cy="329184"/>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B</a:t>
            </a:r>
            <a:endParaRPr lang="en-US" sz="1100" dirty="0"/>
          </a:p>
        </p:txBody>
      </p:sp>
      <p:sp>
        <p:nvSpPr>
          <p:cNvPr id="52" name="Text 43"/>
          <p:cNvSpPr txBox="1"/>
          <p:nvPr/>
        </p:nvSpPr>
        <p:spPr>
          <a:xfrm>
            <a:off x="594360" y="4160520"/>
            <a:ext cx="3361944" cy="1143000"/>
          </a:xfrm>
          <a:prstGeom prst="rect">
            <a:avLst/>
          </a:prstGeom>
          <a:noFill/>
          <a:ln/>
        </p:spPr>
        <p:txBody>
          <a:bodyPr wrap="square" lIns="0" tIns="0" rIns="0" bIns="0" rtlCol="0" anchor="ctr"/>
          <a:lstStyle/>
          <a:p>
            <a:pPr rtl="1" algn="ctr" indent="0" marL="0">
              <a:buNone/>
            </a:pPr>
            <a:r>
              <a:rPr lang="ar-SA" altLang="en-US" sz="2200" b="1" dirty="0">
                <a:solidFill>
                  <a:srgbClr val="1B3B6F"/>
                </a:solidFill>
                <a:latin typeface="Amiri" pitchFamily="2" charset="-78"/>
                <a:ea typeface="Amiri" pitchFamily="2" charset="-78"/>
                <a:cs typeface="Amiri" pitchFamily="2" charset="-78"/>
              </a:rPr>
              <a:t>تَجْتَمِعُ العَائِلَةُ فِي المُنَاسَبَاتِ.</a:t>
            </a:r>
            <a:endParaRPr lang="ar-SA" sz="2200" dirty="0"/>
          </a:p>
        </p:txBody>
      </p:sp>
      <p:sp>
        <p:nvSpPr>
          <p:cNvPr id="53" name="Text 44"/>
          <p:cNvSpPr txBox="1"/>
          <p:nvPr/>
        </p:nvSpPr>
        <p:spPr>
          <a:xfrm>
            <a:off x="594360" y="5349240"/>
            <a:ext cx="3361944" cy="822960"/>
          </a:xfrm>
          <a:prstGeom prst="rect">
            <a:avLst/>
          </a:prstGeom>
          <a:noFill/>
          <a:ln/>
        </p:spPr>
        <p:txBody>
          <a:bodyPr wrap="square" lIns="0" tIns="0" rIns="0" bIns="0" rtlCol="0" anchor="t"/>
          <a:lstStyle/>
          <a:p>
            <a:pPr algn="ctr" indent="0" marL="0">
              <a:buNone/>
            </a:pPr>
            <a:r>
              <a:rPr lang="en-US" sz="1200" i="1" dirty="0">
                <a:solidFill>
                  <a:srgbClr val="5A6472"/>
                </a:solidFill>
                <a:latin typeface="Calibri" pitchFamily="34" charset="0"/>
                <a:cs typeface="Amiri" pitchFamily="2" charset="-78"/>
              </a:rPr>
              <a:t>The family gathers on special occasions.</a:t>
            </a:r>
            <a:endParaRPr lang="en-US" sz="1200" dirty="0"/>
          </a:p>
        </p:txBody>
      </p:sp>
      <p:sp>
        <p:nvSpPr>
          <p:cNvPr id="54" name="Text 4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19 / 37</a:t>
            </a:r>
            <a:endParaRPr lang="en-US" sz="850" dirty="0"/>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name="Slide 2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TB-L01 · Identity and Profiles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5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WEBSITE GAME “CULTURE DETECTIVE MISSION”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Culture Detective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مُهِمَّةُ المُحَقِّقِ الثَّقَافِيِّ</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“Every Arab family serves coffee to every visitor.” — how should this be classified?</a:t>
            </a:r>
            <a:endParaRPr lang="en-US" sz="11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Respectful and accurate</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Needs more care</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personal choice to respect</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000" b="1" dirty="0">
                <a:solidFill>
                  <a:srgbClr val="1B3B6F"/>
                </a:solidFill>
                <a:latin typeface="Calibri" pitchFamily="34" charset="0"/>
                <a:cs typeface="Amiri" pitchFamily="2" charset="-78"/>
              </a:rPr>
              <a:t>“I prefer to greet with words rather than physical contact.” — how should this be classified?</a:t>
            </a:r>
            <a:endParaRPr lang="en-US" sz="100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Respectful and accurate</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Needs more care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personal choice to respect</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“A student must tell the class their religion.” — how should this be classified?</a:t>
            </a:r>
            <a:endParaRPr lang="en-US" sz="120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Needs more care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Respectful and accurate</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personal choice to respect</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person can identify with more than one culture.” — how should this be classified?</a:t>
            </a:r>
            <a:endParaRPr lang="en-US" sz="11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Needs more care</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Respectful and accurate</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personal choice to respect</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“I can know someone’s religion from their appearance.” — how should this be classified?</a:t>
            </a:r>
            <a:endParaRPr lang="en-US" sz="110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Needs more care</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Respectful and accurate</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 personal choice to respect</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THINK ABOUT</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Evidence · variation</a:t>
            </a:r>
            <a:endParaRPr lang="en-US" sz="1250" dirty="0"/>
          </a:p>
          <a:p>
            <a:pPr algn="l" indent="0" marL="0">
              <a:buNone/>
            </a:pPr>
            <a:r>
              <a:rPr lang="en-US" sz="1250" dirty="0">
                <a:solidFill>
                  <a:srgbClr val="1E6B52"/>
                </a:solidFill>
                <a:latin typeface="Calibri" pitchFamily="34" charset="0"/>
                <a:cs typeface="Amiri" pitchFamily="2" charset="-78"/>
              </a:rPr>
              <a:t>privacy · choice</a:t>
            </a:r>
            <a:endParaRPr lang="en-US" sz="1250" dirty="0"/>
          </a:p>
          <a:p>
            <a:pPr algn="l" indent="0" marL="0">
              <a:buNone/>
            </a:pPr>
            <a:r>
              <a:rPr lang="en-US" sz="1250" dirty="0">
                <a:solidFill>
                  <a:srgbClr val="1E6B52"/>
                </a:solidFill>
                <a:latin typeface="Calibri" pitchFamily="34" charset="0"/>
                <a:cs typeface="Amiri" pitchFamily="2" charset="-78"/>
              </a:rPr>
              <a:t>Words like “every” or “all” = be careful!</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20 / 37</a:t>
            </a:r>
            <a:endParaRPr lang="en-US" sz="850" dirty="0"/>
          </a:p>
        </p:txBody>
      </p:sp>
    </p:spTree>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name="Slide 2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TB-L01 · Identity and Profiles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CULTURE DETECTIVE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Detective: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“Every Arab family serves coffee to every visitor.” — how should this be classified?</a:t>
            </a:r>
            <a:endParaRPr lang="en-US" sz="11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Respectful and accurate</a:t>
            </a:r>
            <a:endParaRPr lang="en-US" sz="1250" dirty="0"/>
          </a:p>
        </p:txBody>
      </p:sp>
      <p:sp>
        <p:nvSpPr>
          <p:cNvPr id="22" name="Shape 19"/>
          <p:cNvSpPr/>
          <p:nvPr/>
        </p:nvSpPr>
        <p:spPr>
          <a:xfrm>
            <a:off x="548640" y="2825496"/>
            <a:ext cx="3453384" cy="347472"/>
          </a:xfrm>
          <a:prstGeom prst="roundRect">
            <a:avLst>
              <a:gd name="adj" fmla="val 15789"/>
            </a:avLst>
          </a:prstGeom>
          <a:solidFill>
            <a:srgbClr val="E6F4EC"/>
          </a:solidFill>
          <a:ln w="9525">
            <a:solidFill>
              <a:srgbClr val="2E8B57"/>
            </a:solidFill>
            <a:prstDash val="solid"/>
          </a:ln>
        </p:spPr>
      </p:sp>
      <p:sp>
        <p:nvSpPr>
          <p:cNvPr id="23" name="Shape 20"/>
          <p:cNvSpPr/>
          <p:nvPr/>
        </p:nvSpPr>
        <p:spPr>
          <a:xfrm>
            <a:off x="640080" y="2862072"/>
            <a:ext cx="256032" cy="256032"/>
          </a:xfrm>
          <a:prstGeom prst="ellipse">
            <a:avLst/>
          </a:prstGeom>
          <a:solidFill>
            <a:srgbClr val="2E8B57"/>
          </a:solidFill>
          <a:ln w="12700">
            <a:solidFill>
              <a:srgbClr val="2E8B57"/>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Needs more care</a:t>
            </a:r>
            <a:endParaRPr lang="en-US" sz="125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personal choice to respect</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00" i="1" dirty="0">
                <a:solidFill>
                  <a:srgbClr val="8A6D1E"/>
                </a:solidFill>
                <a:latin typeface="Calibri" pitchFamily="34" charset="0"/>
                <a:cs typeface="Amiri" pitchFamily="2" charset="-78"/>
              </a:rPr>
              <a:t>This needs more care. Some families serve coffee, tea, another drink or nothing; guests may also decline.</a:t>
            </a:r>
            <a:endParaRPr lang="en-US" sz="100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000" b="1" dirty="0">
                <a:solidFill>
                  <a:srgbClr val="1B3B6F"/>
                </a:solidFill>
                <a:latin typeface="Calibri" pitchFamily="34" charset="0"/>
                <a:cs typeface="Amiri" pitchFamily="2" charset="-78"/>
              </a:rPr>
              <a:t>“I prefer to greet with words rather than physical contact.” — how should this be classified?</a:t>
            </a:r>
            <a:endParaRPr lang="en-US" sz="100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Respectful and accurate</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Needs more care</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 personal choice to respect</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This is a personal choice and should be respected.</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00" b="1" dirty="0">
                <a:solidFill>
                  <a:srgbClr val="1B3B6F"/>
                </a:solidFill>
                <a:latin typeface="Calibri" pitchFamily="34" charset="0"/>
                <a:cs typeface="Amiri" pitchFamily="2" charset="-78"/>
              </a:rPr>
              <a:t>“A student must tell the class their religion.” — how should this be classified?</a:t>
            </a:r>
            <a:endParaRPr lang="en-US" sz="1200" dirty="0"/>
          </a:p>
        </p:txBody>
      </p:sp>
      <p:sp>
        <p:nvSpPr>
          <p:cNvPr id="49" name="Shape 46"/>
          <p:cNvSpPr/>
          <p:nvPr/>
        </p:nvSpPr>
        <p:spPr>
          <a:xfrm>
            <a:off x="8186928" y="2453640"/>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490216"/>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Needs more care</a:t>
            </a:r>
            <a:endParaRPr lang="en-US" sz="1250" dirty="0"/>
          </a:p>
        </p:txBody>
      </p:sp>
      <p:sp>
        <p:nvSpPr>
          <p:cNvPr id="53" name="Shape 50"/>
          <p:cNvSpPr/>
          <p:nvPr/>
        </p:nvSpPr>
        <p:spPr>
          <a:xfrm>
            <a:off x="8278368" y="2862072"/>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Respectful and accurate</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personal choice to respect</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Religion is personal information. No learner should be required to disclose it.</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150" b="1" dirty="0">
                <a:solidFill>
                  <a:srgbClr val="1B3B6F"/>
                </a:solidFill>
                <a:latin typeface="Calibri" pitchFamily="34" charset="0"/>
                <a:cs typeface="Amiri" pitchFamily="2" charset="-78"/>
              </a:rPr>
              <a:t>“A person can identify with more than one culture.” — how should this be classified?</a:t>
            </a:r>
            <a:endParaRPr lang="en-US" sz="1150" dirty="0"/>
          </a:p>
        </p:txBody>
      </p:sp>
      <p:sp>
        <p:nvSpPr>
          <p:cNvPr id="64" name="Shape 61"/>
          <p:cNvSpPr/>
          <p:nvPr/>
        </p:nvSpPr>
        <p:spPr>
          <a:xfrm>
            <a:off x="640080" y="4831080"/>
            <a:ext cx="256032" cy="256032"/>
          </a:xfrm>
          <a:prstGeom prst="ellipse">
            <a:avLst/>
          </a:prstGeom>
          <a:solidFill>
            <a:srgbClr val="C9CED6"/>
          </a:solidFill>
          <a:ln w="12700">
            <a:solidFill>
              <a:srgbClr val="C9CED6"/>
            </a:solidFill>
            <a:prstDash val="solid"/>
          </a:ln>
        </p:spPr>
      </p:sp>
      <p:sp>
        <p:nvSpPr>
          <p:cNvPr id="65" name="Text 62"/>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6" name="Text 63"/>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Needs more care</a:t>
            </a:r>
            <a:endParaRPr lang="en-US" sz="1250" dirty="0"/>
          </a:p>
        </p:txBody>
      </p:sp>
      <p:sp>
        <p:nvSpPr>
          <p:cNvPr id="67" name="Shape 64"/>
          <p:cNvSpPr/>
          <p:nvPr/>
        </p:nvSpPr>
        <p:spPr>
          <a:xfrm>
            <a:off x="548640" y="5166360"/>
            <a:ext cx="3453384" cy="347472"/>
          </a:xfrm>
          <a:prstGeom prst="roundRect">
            <a:avLst>
              <a:gd name="adj" fmla="val 15789"/>
            </a:avLst>
          </a:prstGeom>
          <a:solidFill>
            <a:srgbClr val="E6F4EC"/>
          </a:solidFill>
          <a:ln w="9525">
            <a:solidFill>
              <a:srgbClr val="2E8B57"/>
            </a:solidFill>
            <a:prstDash val="solid"/>
          </a:ln>
        </p:spPr>
      </p:sp>
      <p:sp>
        <p:nvSpPr>
          <p:cNvPr id="68" name="Shape 65"/>
          <p:cNvSpPr/>
          <p:nvPr/>
        </p:nvSpPr>
        <p:spPr>
          <a:xfrm>
            <a:off x="640080" y="5202936"/>
            <a:ext cx="256032" cy="256032"/>
          </a:xfrm>
          <a:prstGeom prst="ellipse">
            <a:avLst/>
          </a:prstGeom>
          <a:solidFill>
            <a:srgbClr val="2E8B57"/>
          </a:solidFill>
          <a:ln w="12700">
            <a:solidFill>
              <a:srgbClr val="2E8B57"/>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Respectful and accurate</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personal choice to respect</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Layered or mixed cultural identity is common and accurately described.</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100" b="1" dirty="0">
                <a:solidFill>
                  <a:srgbClr val="1B3B6F"/>
                </a:solidFill>
                <a:latin typeface="Calibri" pitchFamily="34" charset="0"/>
                <a:cs typeface="Amiri" pitchFamily="2" charset="-78"/>
              </a:rPr>
              <a:t>“I can know someone’s religion from their appearance.” — how should this be classified?</a:t>
            </a:r>
            <a:endParaRPr lang="en-US" sz="1100" dirty="0"/>
          </a:p>
        </p:txBody>
      </p:sp>
      <p:sp>
        <p:nvSpPr>
          <p:cNvPr id="79" name="Shape 76"/>
          <p:cNvSpPr/>
          <p:nvPr/>
        </p:nvSpPr>
        <p:spPr>
          <a:xfrm>
            <a:off x="4367784" y="4794504"/>
            <a:ext cx="3453384" cy="347472"/>
          </a:xfrm>
          <a:prstGeom prst="roundRect">
            <a:avLst>
              <a:gd name="adj" fmla="val 15789"/>
            </a:avLst>
          </a:prstGeom>
          <a:solidFill>
            <a:srgbClr val="E6F4EC"/>
          </a:solidFill>
          <a:ln w="9525">
            <a:solidFill>
              <a:srgbClr val="2E8B57"/>
            </a:solidFill>
            <a:prstDash val="solid"/>
          </a:ln>
        </p:spPr>
      </p:sp>
      <p:sp>
        <p:nvSpPr>
          <p:cNvPr id="80" name="Shape 77"/>
          <p:cNvSpPr/>
          <p:nvPr/>
        </p:nvSpPr>
        <p:spPr>
          <a:xfrm>
            <a:off x="4459224" y="4831080"/>
            <a:ext cx="256032" cy="256032"/>
          </a:xfrm>
          <a:prstGeom prst="ellipse">
            <a:avLst/>
          </a:prstGeom>
          <a:solidFill>
            <a:srgbClr val="2E8B57"/>
          </a:solidFill>
          <a:ln w="12700">
            <a:solidFill>
              <a:srgbClr val="2E8B57"/>
            </a:solidFill>
            <a:prstDash val="solid"/>
          </a:ln>
        </p:spPr>
      </p:sp>
      <p:sp>
        <p:nvSpPr>
          <p:cNvPr id="81" name="Text 78"/>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82" name="Text 79"/>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Needs more care</a:t>
            </a:r>
            <a:endParaRPr lang="en-US" sz="1250" dirty="0"/>
          </a:p>
        </p:txBody>
      </p:sp>
      <p:sp>
        <p:nvSpPr>
          <p:cNvPr id="83" name="Shape 80"/>
          <p:cNvSpPr/>
          <p:nvPr/>
        </p:nvSpPr>
        <p:spPr>
          <a:xfrm>
            <a:off x="4459224" y="5202936"/>
            <a:ext cx="256032" cy="256032"/>
          </a:xfrm>
          <a:prstGeom prst="ellipse">
            <a:avLst/>
          </a:prstGeom>
          <a:solidFill>
            <a:srgbClr val="C9CED6"/>
          </a:solidFill>
          <a:ln w="12700">
            <a:solidFill>
              <a:srgbClr val="C9CED6"/>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Respectful and accurate</a:t>
            </a:r>
            <a:endParaRPr lang="en-US" sz="12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 personal choice to respect</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Appearance does not reliably reveal belief and assumptions can be harmful.</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THINK ABOUT</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Evidence · variation</a:t>
            </a:r>
            <a:endParaRPr lang="en-US" sz="1250" dirty="0"/>
          </a:p>
          <a:p>
            <a:pPr algn="l" indent="0" marL="0">
              <a:buNone/>
            </a:pPr>
            <a:r>
              <a:rPr lang="en-US" sz="1250" dirty="0">
                <a:solidFill>
                  <a:srgbClr val="1E6B52"/>
                </a:solidFill>
                <a:latin typeface="Calibri" pitchFamily="34" charset="0"/>
                <a:cs typeface="Amiri" pitchFamily="2" charset="-78"/>
              </a:rPr>
              <a:t>privacy · choice</a:t>
            </a:r>
            <a:endParaRPr lang="en-US" sz="1250" dirty="0"/>
          </a:p>
          <a:p>
            <a:pPr algn="l" indent="0" marL="0">
              <a:buNone/>
            </a:pPr>
            <a:r>
              <a:rPr lang="en-US" sz="1250" dirty="0">
                <a:solidFill>
                  <a:srgbClr val="1E6B52"/>
                </a:solidFill>
                <a:latin typeface="Calibri" pitchFamily="34" charset="0"/>
                <a:cs typeface="Amiri" pitchFamily="2" charset="-78"/>
              </a:rPr>
              <a:t>Words like “every” or “all” = be careful!</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21 / 37</a:t>
            </a:r>
            <a:endParaRPr lang="en-US" sz="850" dirty="0"/>
          </a:p>
        </p:txBody>
      </p:sp>
    </p:spTree>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name="Slide 2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TB-L01 · Identity and Profiles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4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 TEACHER READS ALOUD TWICE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A family welcome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Hanaa’s nationality?</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أُرْدُنِيَّةٌ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مَغْرِبِيَّةٌ</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لُبْنَانِيَّةٌ</a:t>
            </a:r>
            <a:endParaRPr lang="ar-SA" sz="20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visits the family?</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 brother Rami</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 teacher</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Her friend Maryam</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Hanaa ask?</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كَمْ عُمْرُكِ؟</a:t>
            </a:r>
            <a:endParaRPr lang="ar-SA" sz="20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مَا دِينُكِ؟</a:t>
            </a:r>
            <a:endParaRPr lang="ar-SA" sz="20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كَيْفَ الأَهْلُ؟</a:t>
            </a:r>
            <a:endParaRPr lang="ar-SA" sz="20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Hanaa offer?</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الشَّايَ وَالتَّمْرَ</a:t>
            </a:r>
            <a:endParaRPr lang="ar-SA" sz="20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القَهْوَةَ وَالخُبْزَ</a:t>
            </a:r>
            <a:endParaRPr lang="ar-SA" sz="20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المَاءَ فَقَطْ</a:t>
            </a:r>
            <a:endParaRPr lang="ar-SA" sz="20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Hanaa’s final message?</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Every family follows exactly the same customs.</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Greeting and hospitality customs differ from one family to another.</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nationality forms identity.</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Shape 7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82" name="Text 7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83" name="Text 8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Six boxes: speaker · greeting · family question · offer · identity · final message.</a:t>
            </a:r>
            <a:endParaRPr lang="en-US" sz="1250" dirty="0"/>
          </a:p>
        </p:txBody>
      </p:sp>
      <p:sp>
        <p:nvSpPr>
          <p:cNvPr id="84" name="Text 8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22 / 37</a:t>
            </a:r>
            <a:endParaRPr lang="en-US" sz="850" dirty="0"/>
          </a:p>
        </p:txBody>
      </p:sp>
    </p:spTree>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name="Slide 2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TB-L01 · Identity and Profiles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SUPPORT · READ ALONG (CORE)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650" b="1" dirty="0">
                <a:solidFill>
                  <a:srgbClr val="1B3B6F"/>
                </a:solidFill>
                <a:latin typeface="Cambria" pitchFamily="34" charset="0"/>
                <a:cs typeface="Amiri" pitchFamily="2" charset="-78"/>
              </a:rPr>
              <a:t>The script — read along with English</a:t>
            </a:r>
            <a:endParaRPr lang="en-US" sz="26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نَصُّ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TB-L01</a:t>
            </a:r>
            <a:endParaRPr lang="en-US" sz="850" dirty="0"/>
          </a:p>
        </p:txBody>
      </p:sp>
      <p:sp>
        <p:nvSpPr>
          <p:cNvPr id="15" name="Shape 12"/>
          <p:cNvSpPr/>
          <p:nvPr/>
        </p:nvSpPr>
        <p:spPr>
          <a:xfrm>
            <a:off x="457200" y="1810512"/>
            <a:ext cx="11274552" cy="1069848"/>
          </a:xfrm>
          <a:prstGeom prst="roundRect">
            <a:avLst>
              <a:gd name="adj" fmla="val 4274"/>
            </a:avLst>
          </a:prstGeom>
          <a:solidFill>
            <a:srgbClr val="FFFFFF"/>
          </a:solidFill>
          <a:ln w="9525">
            <a:solidFill>
              <a:srgbClr val="D8D0BF"/>
            </a:solidFill>
            <a:prstDash val="solid"/>
          </a:ln>
        </p:spPr>
      </p:sp>
      <p:sp>
        <p:nvSpPr>
          <p:cNvPr id="16" name="Text 13"/>
          <p:cNvSpPr txBox="1"/>
          <p:nvPr/>
        </p:nvSpPr>
        <p:spPr>
          <a:xfrm>
            <a:off x="4937760" y="1828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السَّلَامُ عَلَيْكُمْ. اِسْمِي هَنَاءُ، وَأَنَا أُرْدُنِيَّةٌ أَعِيشُ فِي لَنْدَنَ.</a:t>
            </a:r>
            <a:endParaRPr lang="ar-SA" sz="2000" dirty="0"/>
          </a:p>
        </p:txBody>
      </p:sp>
      <p:sp>
        <p:nvSpPr>
          <p:cNvPr id="17" name="Text 14"/>
          <p:cNvSpPr txBox="1"/>
          <p:nvPr/>
        </p:nvSpPr>
        <p:spPr>
          <a:xfrm>
            <a:off x="640080" y="1828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Peace be upon you. My name is Hanaa; I am Jordanian and I live in London.</a:t>
            </a:r>
            <a:endParaRPr lang="en-US" sz="1250" dirty="0"/>
          </a:p>
        </p:txBody>
      </p:sp>
      <p:sp>
        <p:nvSpPr>
          <p:cNvPr id="18" name="Shape 15"/>
          <p:cNvSpPr/>
          <p:nvPr/>
        </p:nvSpPr>
        <p:spPr>
          <a:xfrm>
            <a:off x="457200" y="2953512"/>
            <a:ext cx="11274552" cy="1069848"/>
          </a:xfrm>
          <a:prstGeom prst="roundRect">
            <a:avLst>
              <a:gd name="adj" fmla="val 4274"/>
            </a:avLst>
          </a:prstGeom>
          <a:solidFill>
            <a:srgbClr val="F4F1EA"/>
          </a:solidFill>
          <a:ln w="9525">
            <a:solidFill>
              <a:srgbClr val="D8D0BF"/>
            </a:solidFill>
            <a:prstDash val="solid"/>
          </a:ln>
        </p:spPr>
      </p:sp>
      <p:sp>
        <p:nvSpPr>
          <p:cNvPr id="19" name="Text 16"/>
          <p:cNvSpPr txBox="1"/>
          <p:nvPr/>
        </p:nvSpPr>
        <p:spPr>
          <a:xfrm>
            <a:off x="4937760" y="2971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اليَوْمَ تَزُورُنَا صَدِيقَتِي مَرْيَمُ. أَقُولُ لَهَا: أَهْلًا وَسَهْلًا، تَفَضَّلِي.</a:t>
            </a:r>
            <a:endParaRPr lang="ar-SA" sz="2000" dirty="0"/>
          </a:p>
        </p:txBody>
      </p:sp>
      <p:sp>
        <p:nvSpPr>
          <p:cNvPr id="20" name="Text 17"/>
          <p:cNvSpPr txBox="1"/>
          <p:nvPr/>
        </p:nvSpPr>
        <p:spPr>
          <a:xfrm>
            <a:off x="640080" y="2971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Today my friend Maryam is visiting us. I say to her: Welcome, come in.</a:t>
            </a:r>
            <a:endParaRPr lang="en-US" sz="1250" dirty="0"/>
          </a:p>
        </p:txBody>
      </p:sp>
      <p:sp>
        <p:nvSpPr>
          <p:cNvPr id="21" name="Shape 18"/>
          <p:cNvSpPr/>
          <p:nvPr/>
        </p:nvSpPr>
        <p:spPr>
          <a:xfrm>
            <a:off x="457200" y="4096512"/>
            <a:ext cx="11274552" cy="1069848"/>
          </a:xfrm>
          <a:prstGeom prst="roundRect">
            <a:avLst>
              <a:gd name="adj" fmla="val 4274"/>
            </a:avLst>
          </a:prstGeom>
          <a:solidFill>
            <a:srgbClr val="FFFFFF"/>
          </a:solidFill>
          <a:ln w="9525">
            <a:solidFill>
              <a:srgbClr val="D8D0BF"/>
            </a:solidFill>
            <a:prstDash val="solid"/>
          </a:ln>
        </p:spPr>
      </p:sp>
      <p:sp>
        <p:nvSpPr>
          <p:cNvPr id="22" name="Text 19"/>
          <p:cNvSpPr txBox="1"/>
          <p:nvPr/>
        </p:nvSpPr>
        <p:spPr>
          <a:xfrm>
            <a:off x="4937760" y="4114800"/>
            <a:ext cx="6675120" cy="1033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ثُمَّ أَسْأَلُهَا: كَيْفَ الأَهْلُ؟ وَأُقَدِّمُ لَهَا الشَّايَ وَالتَّمْرَ.</a:t>
            </a:r>
            <a:endParaRPr lang="ar-SA" sz="2000" dirty="0"/>
          </a:p>
        </p:txBody>
      </p:sp>
      <p:sp>
        <p:nvSpPr>
          <p:cNvPr id="23" name="Text 20"/>
          <p:cNvSpPr txBox="1"/>
          <p:nvPr/>
        </p:nvSpPr>
        <p:spPr>
          <a:xfrm>
            <a:off x="640080" y="4114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Then I ask her: How is the family? And I offer her tea and dates.</a:t>
            </a:r>
            <a:endParaRPr lang="en-US" sz="1250" dirty="0"/>
          </a:p>
        </p:txBody>
      </p:sp>
      <p:sp>
        <p:nvSpPr>
          <p:cNvPr id="24" name="Shape 21"/>
          <p:cNvSpPr/>
          <p:nvPr/>
        </p:nvSpPr>
        <p:spPr>
          <a:xfrm>
            <a:off x="457200" y="5239512"/>
            <a:ext cx="11274552" cy="1069848"/>
          </a:xfrm>
          <a:prstGeom prst="roundRect">
            <a:avLst>
              <a:gd name="adj" fmla="val 4274"/>
            </a:avLst>
          </a:prstGeom>
          <a:solidFill>
            <a:srgbClr val="F4F1EA"/>
          </a:solidFill>
          <a:ln w="9525">
            <a:solidFill>
              <a:srgbClr val="D8D0BF"/>
            </a:solidFill>
            <a:prstDash val="solid"/>
          </a:ln>
        </p:spPr>
      </p:sp>
      <p:sp>
        <p:nvSpPr>
          <p:cNvPr id="25" name="Text 22"/>
          <p:cNvSpPr txBox="1"/>
          <p:nvPr/>
        </p:nvSpPr>
        <p:spPr>
          <a:xfrm>
            <a:off x="4937760" y="5257800"/>
            <a:ext cx="6675120" cy="1033272"/>
          </a:xfrm>
          <a:prstGeom prst="rect">
            <a:avLst/>
          </a:prstGeom>
          <a:noFill/>
          <a:ln/>
        </p:spPr>
        <p:txBody>
          <a:bodyPr wrap="square" lIns="0" tIns="0" rIns="0" bIns="0" rtlCol="0" anchor="ctr"/>
          <a:lstStyle/>
          <a:p>
            <a:pPr rtl="1" algn="r" indent="0" marL="0">
              <a:lnSpc>
                <a:spcPct val="120000"/>
              </a:lnSpc>
              <a:buNone/>
            </a:pPr>
            <a:r>
              <a:rPr lang="ar-SA" altLang="en-US" sz="2000" b="1" dirty="0">
                <a:solidFill>
                  <a:srgbClr val="1B3B6F"/>
                </a:solidFill>
                <a:latin typeface="Amiri" pitchFamily="2" charset="-78"/>
                <a:ea typeface="Amiri" pitchFamily="2" charset="-78"/>
                <a:cs typeface="Amiri" pitchFamily="2" charset="-78"/>
              </a:rPr>
              <a:t>أَنَا فَخُورَةٌ بِعَائِلَتِي وَبِثَقَافَتِي، وَلَكِنَّنِي أَعْرِفُ أَنَّ عَادَاتِ التَّحِيَّةِ وَالضِّيَافَةِ تَخْتَلِفُ مِنْ عَائِلَةٍ إِلَى أُخْرَى.</a:t>
            </a:r>
            <a:endParaRPr lang="ar-SA" sz="2000" dirty="0"/>
          </a:p>
        </p:txBody>
      </p:sp>
      <p:sp>
        <p:nvSpPr>
          <p:cNvPr id="26" name="Text 23"/>
          <p:cNvSpPr txBox="1"/>
          <p:nvPr/>
        </p:nvSpPr>
        <p:spPr>
          <a:xfrm>
            <a:off x="640080" y="5257800"/>
            <a:ext cx="4160520" cy="1033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I am proud of my family and culture, but I know that greeting and hospitality customs differ from one family to another.</a:t>
            </a:r>
            <a:endParaRPr lang="en-US" sz="1250" dirty="0"/>
          </a:p>
        </p:txBody>
      </p:sp>
      <p:sp>
        <p:nvSpPr>
          <p:cNvPr id="27" name="Text 2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23 / 37</a:t>
            </a:r>
            <a:endParaRPr lang="en-US" sz="850" dirty="0"/>
          </a:p>
        </p:txBody>
      </p:sp>
    </p:spTree>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name="Slide 2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TB-L01 · Identity and Profiles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LISTENING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Listening: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الاِسْتِمَاعِ</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Hanaa’s nationality?</a:t>
            </a:r>
            <a:endParaRPr lang="en-US" sz="1250" dirty="0"/>
          </a:p>
        </p:txBody>
      </p:sp>
      <p:sp>
        <p:nvSpPr>
          <p:cNvPr id="19" name="Shape 16"/>
          <p:cNvSpPr/>
          <p:nvPr/>
        </p:nvSpPr>
        <p:spPr>
          <a:xfrm>
            <a:off x="548640" y="2453640"/>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490216"/>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أُرْدُنِيَّةٌ</a:t>
            </a:r>
            <a:endParaRPr lang="ar-SA" sz="1700" dirty="0"/>
          </a:p>
        </p:txBody>
      </p:sp>
      <p:sp>
        <p:nvSpPr>
          <p:cNvPr id="23" name="Shape 20"/>
          <p:cNvSpPr/>
          <p:nvPr/>
        </p:nvSpPr>
        <p:spPr>
          <a:xfrm>
            <a:off x="640080" y="2862072"/>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مَغْرِبِيَّةٌ</a:t>
            </a:r>
            <a:endParaRPr lang="ar-SA" sz="1700" dirty="0"/>
          </a:p>
        </p:txBody>
      </p:sp>
      <p:sp>
        <p:nvSpPr>
          <p:cNvPr id="26" name="Shape 23"/>
          <p:cNvSpPr/>
          <p:nvPr/>
        </p:nvSpPr>
        <p:spPr>
          <a:xfrm>
            <a:off x="640080" y="323392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لُبْنَانِيَّةٌ</a:t>
            </a:r>
            <a:endParaRPr lang="ar-SA" sz="170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says </a:t>
            </a:r>
            <a:pPr algn="l" indent="0" marL="0">
              <a:buNone/>
            </a:pPr>
            <a:r>
              <a:rPr lang="ar-SA" altLang="en-US" sz="1350" dirty="0">
                <a:solidFill>
                  <a:srgbClr val="8A6D1E"/>
                </a:solidFill>
                <a:latin typeface="Amiri" pitchFamily="2" charset="-78"/>
                <a:ea typeface="Amiri" pitchFamily="2" charset="-78"/>
                <a:cs typeface="Amiri" pitchFamily="2" charset="-78"/>
              </a:rPr>
              <a:t>وَأَنَا أُرْدُنِيَّةٌ</a:t>
            </a:r>
            <a:pPr algn="l" indent="0" marL="0">
              <a:buNone/>
            </a:pPr>
            <a:r>
              <a:rPr lang="en-US" sz="1050" i="1" dirty="0">
                <a:solidFill>
                  <a:srgbClr val="8A6D1E"/>
                </a:solidFill>
                <a:latin typeface="Calibri" pitchFamily="34" charset="0"/>
                <a:cs typeface="Amiri" pitchFamily="2" charset="-78"/>
              </a:rPr>
              <a:t>.</a:t>
            </a:r>
            <a:endParaRPr lang="en-US" sz="10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Who visits the family?</a:t>
            </a:r>
            <a:endParaRPr lang="en-US" sz="1250" dirty="0"/>
          </a:p>
        </p:txBody>
      </p:sp>
      <p:sp>
        <p:nvSpPr>
          <p:cNvPr id="34" name="Shape 31"/>
          <p:cNvSpPr/>
          <p:nvPr/>
        </p:nvSpPr>
        <p:spPr>
          <a:xfrm>
            <a:off x="4459224" y="2490216"/>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Her brother Rami</a:t>
            </a:r>
            <a:endParaRPr lang="en-US" sz="1250" dirty="0"/>
          </a:p>
        </p:txBody>
      </p:sp>
      <p:sp>
        <p:nvSpPr>
          <p:cNvPr id="37" name="Shape 34"/>
          <p:cNvSpPr/>
          <p:nvPr/>
        </p:nvSpPr>
        <p:spPr>
          <a:xfrm>
            <a:off x="4459224" y="2862072"/>
            <a:ext cx="256032" cy="256032"/>
          </a:xfrm>
          <a:prstGeom prst="ellipse">
            <a:avLst/>
          </a:prstGeom>
          <a:solidFill>
            <a:srgbClr val="C9CED6"/>
          </a:solidFill>
          <a:ln w="12700">
            <a:solidFill>
              <a:srgbClr val="C9CED6"/>
            </a:solidFill>
            <a:prstDash val="solid"/>
          </a:ln>
        </p:spPr>
      </p:sp>
      <p:sp>
        <p:nvSpPr>
          <p:cNvPr id="38" name="Text 35"/>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9" name="Text 36"/>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Her teacher</a:t>
            </a:r>
            <a:endParaRPr lang="en-US" sz="1250" dirty="0"/>
          </a:p>
        </p:txBody>
      </p:sp>
      <p:sp>
        <p:nvSpPr>
          <p:cNvPr id="40" name="Shape 37"/>
          <p:cNvSpPr/>
          <p:nvPr/>
        </p:nvSpPr>
        <p:spPr>
          <a:xfrm>
            <a:off x="4367784" y="3197352"/>
            <a:ext cx="3453384" cy="347472"/>
          </a:xfrm>
          <a:prstGeom prst="roundRect">
            <a:avLst>
              <a:gd name="adj" fmla="val 15789"/>
            </a:avLst>
          </a:prstGeom>
          <a:solidFill>
            <a:srgbClr val="E6F4EC"/>
          </a:solidFill>
          <a:ln w="9525">
            <a:solidFill>
              <a:srgbClr val="2E8B57"/>
            </a:solidFill>
            <a:prstDash val="solid"/>
          </a:ln>
        </p:spPr>
      </p:sp>
      <p:sp>
        <p:nvSpPr>
          <p:cNvPr id="41" name="Shape 38"/>
          <p:cNvSpPr/>
          <p:nvPr/>
        </p:nvSpPr>
        <p:spPr>
          <a:xfrm>
            <a:off x="4459224" y="3233928"/>
            <a:ext cx="256032" cy="256032"/>
          </a:xfrm>
          <a:prstGeom prst="ellipse">
            <a:avLst/>
          </a:prstGeom>
          <a:solidFill>
            <a:srgbClr val="2E8B57"/>
          </a:solidFill>
          <a:ln w="12700">
            <a:solidFill>
              <a:srgbClr val="2E8B57"/>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Her friend Maryam</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Hanaa says her friend Maryam is visiting.</a:t>
            </a:r>
            <a:endParaRPr lang="en-US" sz="10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Hanaa ask?</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كَمْ عُمْرُكِ؟</a:t>
            </a:r>
            <a:endParaRPr lang="ar-SA" sz="1700" dirty="0"/>
          </a:p>
        </p:txBody>
      </p:sp>
      <p:sp>
        <p:nvSpPr>
          <p:cNvPr id="52" name="Shape 49"/>
          <p:cNvSpPr/>
          <p:nvPr/>
        </p:nvSpPr>
        <p:spPr>
          <a:xfrm>
            <a:off x="8278368" y="2862072"/>
            <a:ext cx="256032" cy="256032"/>
          </a:xfrm>
          <a:prstGeom prst="ellipse">
            <a:avLst/>
          </a:prstGeom>
          <a:solidFill>
            <a:srgbClr val="C9CED6"/>
          </a:solidFill>
          <a:ln w="12700">
            <a:solidFill>
              <a:srgbClr val="C9CED6"/>
            </a:solidFill>
            <a:prstDash val="solid"/>
          </a:ln>
        </p:spPr>
      </p:sp>
      <p:sp>
        <p:nvSpPr>
          <p:cNvPr id="53" name="Text 50"/>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4" name="Text 51"/>
          <p:cNvSpPr txBox="1"/>
          <p:nvPr/>
        </p:nvSpPr>
        <p:spPr>
          <a:xfrm>
            <a:off x="8607552" y="280416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مَا دِينُكِ؟</a:t>
            </a:r>
            <a:endParaRPr lang="ar-SA" sz="1700" dirty="0"/>
          </a:p>
        </p:txBody>
      </p:sp>
      <p:sp>
        <p:nvSpPr>
          <p:cNvPr id="55" name="Shape 52"/>
          <p:cNvSpPr/>
          <p:nvPr/>
        </p:nvSpPr>
        <p:spPr>
          <a:xfrm>
            <a:off x="8186928" y="3197352"/>
            <a:ext cx="3453384" cy="347472"/>
          </a:xfrm>
          <a:prstGeom prst="roundRect">
            <a:avLst>
              <a:gd name="adj" fmla="val 15789"/>
            </a:avLst>
          </a:prstGeom>
          <a:solidFill>
            <a:srgbClr val="E6F4EC"/>
          </a:solidFill>
          <a:ln w="9525">
            <a:solidFill>
              <a:srgbClr val="2E8B57"/>
            </a:solidFill>
            <a:prstDash val="solid"/>
          </a:ln>
        </p:spPr>
      </p:sp>
      <p:sp>
        <p:nvSpPr>
          <p:cNvPr id="56" name="Shape 53"/>
          <p:cNvSpPr/>
          <p:nvPr/>
        </p:nvSpPr>
        <p:spPr>
          <a:xfrm>
            <a:off x="8278368" y="3233928"/>
            <a:ext cx="256032" cy="256032"/>
          </a:xfrm>
          <a:prstGeom prst="ellipse">
            <a:avLst/>
          </a:prstGeom>
          <a:solidFill>
            <a:srgbClr val="2E8B57"/>
          </a:solidFill>
          <a:ln w="12700">
            <a:solidFill>
              <a:srgbClr val="2E8B57"/>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كَيْفَ الأَهْلُ؟</a:t>
            </a:r>
            <a:endParaRPr lang="ar-SA" sz="170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asks after the family: </a:t>
            </a:r>
            <a:pPr algn="l" indent="0" marL="0">
              <a:buNone/>
            </a:pPr>
            <a:r>
              <a:rPr lang="ar-SA" altLang="en-US" sz="1350" dirty="0">
                <a:solidFill>
                  <a:srgbClr val="8A6D1E"/>
                </a:solidFill>
                <a:latin typeface="Amiri" pitchFamily="2" charset="-78"/>
                <a:ea typeface="Amiri" pitchFamily="2" charset="-78"/>
                <a:cs typeface="Amiri" pitchFamily="2" charset="-78"/>
              </a:rPr>
              <a:t>كَيْفَ الأَهْلُ؟</a:t>
            </a:r>
            <a:endParaRPr lang="en-US" sz="10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Hanaa offer?</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rtl="1" algn="r" indent="0" marL="0">
              <a:buNone/>
            </a:pPr>
            <a:r>
              <a:rPr lang="ar-SA" altLang="en-US" sz="1700" b="1" dirty="0">
                <a:solidFill>
                  <a:srgbClr val="1F2A37"/>
                </a:solidFill>
                <a:latin typeface="Amiri" pitchFamily="2" charset="-78"/>
                <a:ea typeface="Amiri" pitchFamily="2" charset="-78"/>
                <a:cs typeface="Amiri" pitchFamily="2" charset="-78"/>
              </a:rPr>
              <a:t>الشَّايَ وَالتَّمْرَ</a:t>
            </a:r>
            <a:endParaRPr lang="ar-SA" sz="170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القَهْوَةَ وَالخُبْزَ</a:t>
            </a:r>
            <a:endParaRPr lang="ar-SA" sz="170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rtl="1" algn="r" indent="0" marL="0">
              <a:buNone/>
            </a:pPr>
            <a:r>
              <a:rPr lang="ar-SA" altLang="en-US" sz="1700" dirty="0">
                <a:solidFill>
                  <a:srgbClr val="9AA1AB"/>
                </a:solidFill>
                <a:latin typeface="Amiri" pitchFamily="2" charset="-78"/>
                <a:ea typeface="Amiri" pitchFamily="2" charset="-78"/>
                <a:cs typeface="Amiri" pitchFamily="2" charset="-78"/>
              </a:rPr>
              <a:t>المَاءَ فَقَطْ</a:t>
            </a:r>
            <a:endParaRPr lang="ar-SA" sz="170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offers tea and dates.</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is Hanaa’s final message?</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150" dirty="0">
                <a:solidFill>
                  <a:srgbClr val="9AA1AB"/>
                </a:solidFill>
                <a:latin typeface="Calibri" pitchFamily="34" charset="0"/>
                <a:cs typeface="Amiri" pitchFamily="2" charset="-78"/>
              </a:rPr>
              <a:t>Every family follows exactly the same customs.</a:t>
            </a:r>
            <a:endParaRPr lang="en-US" sz="1150" dirty="0"/>
          </a:p>
        </p:txBody>
      </p:sp>
      <p:sp>
        <p:nvSpPr>
          <p:cNvPr id="82" name="Shape 79"/>
          <p:cNvSpPr/>
          <p:nvPr/>
        </p:nvSpPr>
        <p:spPr>
          <a:xfrm>
            <a:off x="4367784" y="5166360"/>
            <a:ext cx="3453384" cy="347472"/>
          </a:xfrm>
          <a:prstGeom prst="roundRect">
            <a:avLst>
              <a:gd name="adj" fmla="val 15789"/>
            </a:avLst>
          </a:prstGeom>
          <a:solidFill>
            <a:srgbClr val="E6F4EC"/>
          </a:solidFill>
          <a:ln w="9525">
            <a:solidFill>
              <a:srgbClr val="2E8B57"/>
            </a:solidFill>
            <a:prstDash val="solid"/>
          </a:ln>
        </p:spPr>
      </p:sp>
      <p:sp>
        <p:nvSpPr>
          <p:cNvPr id="83" name="Shape 80"/>
          <p:cNvSpPr/>
          <p:nvPr/>
        </p:nvSpPr>
        <p:spPr>
          <a:xfrm>
            <a:off x="4459224" y="5202936"/>
            <a:ext cx="256032" cy="256032"/>
          </a:xfrm>
          <a:prstGeom prst="ellipse">
            <a:avLst/>
          </a:prstGeom>
          <a:solidFill>
            <a:srgbClr val="2E8B57"/>
          </a:solidFill>
          <a:ln w="12700">
            <a:solidFill>
              <a:srgbClr val="2E8B57"/>
            </a:solidFill>
            <a:prstDash val="solid"/>
          </a:ln>
        </p:spPr>
      </p:sp>
      <p:sp>
        <p:nvSpPr>
          <p:cNvPr id="84" name="Text 81"/>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85" name="Text 82"/>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Greeting and hospitality customs differ from one family to another.</a:t>
            </a:r>
            <a:endParaRPr lang="en-US" sz="1150" dirty="0"/>
          </a:p>
        </p:txBody>
      </p:sp>
      <p:sp>
        <p:nvSpPr>
          <p:cNvPr id="86" name="Shape 83"/>
          <p:cNvSpPr/>
          <p:nvPr/>
        </p:nvSpPr>
        <p:spPr>
          <a:xfrm>
            <a:off x="4459224" y="5574792"/>
            <a:ext cx="256032" cy="256032"/>
          </a:xfrm>
          <a:prstGeom prst="ellipse">
            <a:avLst/>
          </a:prstGeom>
          <a:solidFill>
            <a:srgbClr val="C9CED6"/>
          </a:solidFill>
          <a:ln w="12700">
            <a:solidFill>
              <a:srgbClr val="C9CED6"/>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nationality forms identity.</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She explicitly says customs differ from one family to another.</a:t>
            </a:r>
            <a:endParaRPr lang="en-US" sz="10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Shape 88"/>
          <p:cNvSpPr/>
          <p:nvPr/>
        </p:nvSpPr>
        <p:spPr>
          <a:xfrm>
            <a:off x="8717280" y="4361688"/>
            <a:ext cx="914400" cy="274320"/>
          </a:xfrm>
          <a:prstGeom prst="roundRect">
            <a:avLst>
              <a:gd name="adj" fmla="val 50000"/>
            </a:avLst>
          </a:prstGeom>
          <a:solidFill>
            <a:srgbClr val="2E8B57"/>
          </a:solidFill>
          <a:ln w="12700">
            <a:solidFill>
              <a:srgbClr val="2E8B57"/>
            </a:solidFill>
            <a:prstDash val="solid"/>
          </a:ln>
        </p:spPr>
      </p:sp>
      <p:sp>
        <p:nvSpPr>
          <p:cNvPr id="92" name="Text 89"/>
          <p:cNvSpPr txBox="1"/>
          <p:nvPr/>
        </p:nvSpPr>
        <p:spPr>
          <a:xfrm>
            <a:off x="8717280" y="4361688"/>
            <a:ext cx="91440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93" name="Text 90"/>
          <p:cNvSpPr txBox="1"/>
          <p:nvPr/>
        </p:nvSpPr>
        <p:spPr>
          <a:xfrm>
            <a:off x="8296656" y="4791456"/>
            <a:ext cx="3270504" cy="1380744"/>
          </a:xfrm>
          <a:prstGeom prst="rect">
            <a:avLst/>
          </a:prstGeom>
          <a:noFill/>
          <a:ln/>
        </p:spPr>
        <p:txBody>
          <a:bodyPr wrap="square" lIns="0" tIns="0" rIns="0" bIns="0" rtlCol="0" anchor="t"/>
          <a:lstStyle/>
          <a:p>
            <a:pPr algn="l" indent="0" marL="0">
              <a:buNone/>
            </a:pPr>
            <a:r>
              <a:rPr lang="en-US" sz="1250" dirty="0">
                <a:solidFill>
                  <a:srgbClr val="1E6B52"/>
                </a:solidFill>
                <a:latin typeface="Calibri" pitchFamily="34" charset="0"/>
                <a:cs typeface="Amiri" pitchFamily="2" charset="-78"/>
              </a:rPr>
              <a:t>Six boxes: speaker · greeting · family question · offer · identity · final message.</a:t>
            </a:r>
            <a:endParaRPr lang="en-US" sz="1250" dirty="0"/>
          </a:p>
        </p:txBody>
      </p:sp>
      <p:sp>
        <p:nvSpPr>
          <p:cNvPr id="94" name="Text 9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24 / 37</a:t>
            </a:r>
            <a:endParaRPr lang="en-US" sz="850" dirty="0"/>
          </a:p>
        </p:txBody>
      </p:sp>
    </p:spTree>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name="Slide 2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TB-L01 · Identity and Profiles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 THREE FICTIONAL FAMILY PROFILES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Three families, three profiles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ثَلَاثُ عَائِلَاتٍ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TB-L01</a:t>
            </a:r>
            <a:endParaRPr lang="en-US" sz="850" dirty="0"/>
          </a:p>
        </p:txBody>
      </p:sp>
      <p:sp>
        <p:nvSpPr>
          <p:cNvPr id="15" name="Shape 12"/>
          <p:cNvSpPr/>
          <p:nvPr/>
        </p:nvSpPr>
        <p:spPr>
          <a:xfrm>
            <a:off x="457200" y="1810512"/>
            <a:ext cx="11274552" cy="688848"/>
          </a:xfrm>
          <a:prstGeom prst="roundRect">
            <a:avLst>
              <a:gd name="adj" fmla="val 6637"/>
            </a:avLst>
          </a:prstGeom>
          <a:solidFill>
            <a:srgbClr val="FFFFFF"/>
          </a:solidFill>
          <a:ln w="9525">
            <a:solidFill>
              <a:srgbClr val="D8D0BF"/>
            </a:solidFill>
            <a:prstDash val="solid"/>
          </a:ln>
        </p:spPr>
      </p:sp>
      <p:sp>
        <p:nvSpPr>
          <p:cNvPr id="16" name="Text 13"/>
          <p:cNvSpPr txBox="1"/>
          <p:nvPr/>
        </p:nvSpPr>
        <p:spPr>
          <a:xfrm>
            <a:off x="4937760" y="1828800"/>
            <a:ext cx="6675120" cy="652272"/>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يَاسْمِينُ مَغْرِبِيَّةٌ وَتَعِيشُ فِي بَرِيسْتُولَ. فِي عَائِلَتِهَا يَقُولُونَ «السَّلَامُ عَلَيْكُمْ» وَيَسْأَلُونَ عَنِ الأَهْلِ.</a:t>
            </a:r>
            <a:endParaRPr lang="ar-SA" sz="1600" dirty="0"/>
          </a:p>
        </p:txBody>
      </p:sp>
      <p:sp>
        <p:nvSpPr>
          <p:cNvPr id="17" name="Text 14"/>
          <p:cNvSpPr txBox="1"/>
          <p:nvPr/>
        </p:nvSpPr>
        <p:spPr>
          <a:xfrm>
            <a:off x="640080" y="1828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Yasmin: Moroccan, lives in Bristol · greeting + asking after the family</a:t>
            </a:r>
            <a:endParaRPr lang="en-US" sz="1250" dirty="0"/>
          </a:p>
        </p:txBody>
      </p:sp>
      <p:sp>
        <p:nvSpPr>
          <p:cNvPr id="18" name="Shape 15"/>
          <p:cNvSpPr/>
          <p:nvPr/>
        </p:nvSpPr>
        <p:spPr>
          <a:xfrm>
            <a:off x="457200" y="2572512"/>
            <a:ext cx="11274552" cy="688848"/>
          </a:xfrm>
          <a:prstGeom prst="roundRect">
            <a:avLst>
              <a:gd name="adj" fmla="val 6637"/>
            </a:avLst>
          </a:prstGeom>
          <a:solidFill>
            <a:srgbClr val="F4F1EA"/>
          </a:solidFill>
          <a:ln w="9525">
            <a:solidFill>
              <a:srgbClr val="D8D0BF"/>
            </a:solidFill>
            <a:prstDash val="solid"/>
          </a:ln>
        </p:spPr>
      </p:sp>
      <p:sp>
        <p:nvSpPr>
          <p:cNvPr id="19" name="Text 16"/>
          <p:cNvSpPr txBox="1"/>
          <p:nvPr/>
        </p:nvSpPr>
        <p:spPr>
          <a:xfrm>
            <a:off x="4937760" y="2590800"/>
            <a:ext cx="6675120" cy="652272"/>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عِنْدَمَا يَزُورُهُمْ ضَيْفٌ، يُقَدِّمُونَ الشَّايَ. يَاسْمِينُ فَخُورَةٌ بِاللُّغَةِ العَرَبِيَّةِ وَبِتَقَالِيدِ عَائِلَتِهَا.</a:t>
            </a:r>
            <a:endParaRPr lang="ar-SA" sz="1700" dirty="0"/>
          </a:p>
        </p:txBody>
      </p:sp>
      <p:sp>
        <p:nvSpPr>
          <p:cNvPr id="20" name="Text 17"/>
          <p:cNvSpPr txBox="1"/>
          <p:nvPr/>
        </p:nvSpPr>
        <p:spPr>
          <a:xfrm>
            <a:off x="640080" y="2590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offer tea to guests · proud of Arabic and family traditions</a:t>
            </a:r>
            <a:endParaRPr lang="en-US" sz="1250" dirty="0"/>
          </a:p>
        </p:txBody>
      </p:sp>
      <p:sp>
        <p:nvSpPr>
          <p:cNvPr id="21" name="Shape 18"/>
          <p:cNvSpPr/>
          <p:nvPr/>
        </p:nvSpPr>
        <p:spPr>
          <a:xfrm>
            <a:off x="457200" y="3334512"/>
            <a:ext cx="11274552" cy="688848"/>
          </a:xfrm>
          <a:prstGeom prst="roundRect">
            <a:avLst>
              <a:gd name="adj" fmla="val 6637"/>
            </a:avLst>
          </a:prstGeom>
          <a:solidFill>
            <a:srgbClr val="FFFFFF"/>
          </a:solidFill>
          <a:ln w="9525">
            <a:solidFill>
              <a:srgbClr val="D8D0BF"/>
            </a:solidFill>
            <a:prstDash val="solid"/>
          </a:ln>
        </p:spPr>
      </p:sp>
      <p:sp>
        <p:nvSpPr>
          <p:cNvPr id="22" name="Text 19"/>
          <p:cNvSpPr txBox="1"/>
          <p:nvPr/>
        </p:nvSpPr>
        <p:spPr>
          <a:xfrm>
            <a:off x="4937760" y="3352800"/>
            <a:ext cx="6675120" cy="652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رَامِي لُبْنَانِيٌّ وَيَعِيشُ فِي مَانْشِسْتَرَ. يَتَكَلَّمُ العَرَبِيَّةَ وَالإِنْجِلِيزِيَّةَ فِي البَيْتِ.</a:t>
            </a:r>
            <a:endParaRPr lang="ar-SA" sz="2000" dirty="0"/>
          </a:p>
        </p:txBody>
      </p:sp>
      <p:sp>
        <p:nvSpPr>
          <p:cNvPr id="23" name="Text 20"/>
          <p:cNvSpPr txBox="1"/>
          <p:nvPr/>
        </p:nvSpPr>
        <p:spPr>
          <a:xfrm>
            <a:off x="640080" y="3352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Rami: Lebanese, Manchester · Arabic and English at home</a:t>
            </a:r>
            <a:endParaRPr lang="en-US" sz="1250" dirty="0"/>
          </a:p>
        </p:txBody>
      </p:sp>
      <p:sp>
        <p:nvSpPr>
          <p:cNvPr id="24" name="Shape 21"/>
          <p:cNvSpPr/>
          <p:nvPr/>
        </p:nvSpPr>
        <p:spPr>
          <a:xfrm>
            <a:off x="457200" y="4096512"/>
            <a:ext cx="11274552" cy="688848"/>
          </a:xfrm>
          <a:prstGeom prst="roundRect">
            <a:avLst>
              <a:gd name="adj" fmla="val 6637"/>
            </a:avLst>
          </a:prstGeom>
          <a:solidFill>
            <a:srgbClr val="F4F1EA"/>
          </a:solidFill>
          <a:ln w="9525">
            <a:solidFill>
              <a:srgbClr val="D8D0BF"/>
            </a:solidFill>
            <a:prstDash val="solid"/>
          </a:ln>
        </p:spPr>
      </p:sp>
      <p:sp>
        <p:nvSpPr>
          <p:cNvPr id="25" name="Text 22"/>
          <p:cNvSpPr txBox="1"/>
          <p:nvPr/>
        </p:nvSpPr>
        <p:spPr>
          <a:xfrm>
            <a:off x="4937760" y="4114800"/>
            <a:ext cx="6675120" cy="652272"/>
          </a:xfrm>
          <a:prstGeom prst="rect">
            <a:avLst/>
          </a:prstGeom>
          <a:noFill/>
          <a:ln/>
        </p:spPr>
        <p:txBody>
          <a:bodyPr wrap="square" lIns="0" tIns="0" rIns="0" bIns="0" rtlCol="0" anchor="ctr"/>
          <a:lstStyle/>
          <a:p>
            <a:pPr rtl="1" algn="r" indent="0" marL="0">
              <a:lnSpc>
                <a:spcPct val="120000"/>
              </a:lnSpc>
              <a:buNone/>
            </a:pPr>
            <a:r>
              <a:rPr lang="ar-SA" altLang="en-US" sz="1350" b="1" dirty="0">
                <a:solidFill>
                  <a:srgbClr val="1B3B6F"/>
                </a:solidFill>
                <a:latin typeface="Amiri" pitchFamily="2" charset="-78"/>
                <a:ea typeface="Amiri" pitchFamily="2" charset="-78"/>
                <a:cs typeface="Amiri" pitchFamily="2" charset="-78"/>
              </a:rPr>
              <a:t>بَعْضُ أَقَارِبِهِ يُصَافِحُونَ، وَبَعْضُهُمْ يُفَضِّلُونَ التَّحِيَّةَ بِالكَلِمَاتِ فَقَطْ. يَقُولُ رَامِي إِنَّ الاِحْتِرَامَ أَهَمُّ مِنْ شَكْلِ التَّحِيَّةِ.</a:t>
            </a:r>
            <a:endParaRPr lang="ar-SA" sz="1350" dirty="0"/>
          </a:p>
        </p:txBody>
      </p:sp>
      <p:sp>
        <p:nvSpPr>
          <p:cNvPr id="26" name="Text 23"/>
          <p:cNvSpPr txBox="1"/>
          <p:nvPr/>
        </p:nvSpPr>
        <p:spPr>
          <a:xfrm>
            <a:off x="640080" y="4114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some relatives shake hands, some prefer words · respect matters more than the form</a:t>
            </a:r>
            <a:endParaRPr lang="en-US" sz="1250" dirty="0"/>
          </a:p>
        </p:txBody>
      </p:sp>
      <p:sp>
        <p:nvSpPr>
          <p:cNvPr id="27" name="Shape 24"/>
          <p:cNvSpPr/>
          <p:nvPr/>
        </p:nvSpPr>
        <p:spPr>
          <a:xfrm>
            <a:off x="457200" y="4858512"/>
            <a:ext cx="11274552" cy="688848"/>
          </a:xfrm>
          <a:prstGeom prst="roundRect">
            <a:avLst>
              <a:gd name="adj" fmla="val 6637"/>
            </a:avLst>
          </a:prstGeom>
          <a:solidFill>
            <a:srgbClr val="FFFFFF"/>
          </a:solidFill>
          <a:ln w="9525">
            <a:solidFill>
              <a:srgbClr val="D8D0BF"/>
            </a:solidFill>
            <a:prstDash val="solid"/>
          </a:ln>
        </p:spPr>
      </p:sp>
      <p:sp>
        <p:nvSpPr>
          <p:cNvPr id="28" name="Text 25"/>
          <p:cNvSpPr txBox="1"/>
          <p:nvPr/>
        </p:nvSpPr>
        <p:spPr>
          <a:xfrm>
            <a:off x="4937760" y="4876800"/>
            <a:ext cx="6675120" cy="652272"/>
          </a:xfrm>
          <a:prstGeom prst="rect">
            <a:avLst/>
          </a:prstGeom>
          <a:noFill/>
          <a:ln/>
        </p:spPr>
        <p:txBody>
          <a:bodyPr wrap="square" lIns="0" tIns="0" rIns="0" bIns="0" rtlCol="0" anchor="ctr"/>
          <a:lstStyle/>
          <a:p>
            <a:pPr rtl="1" algn="r" indent="0" marL="0">
              <a:lnSpc>
                <a:spcPct val="120000"/>
              </a:lnSpc>
              <a:buNone/>
            </a:pPr>
            <a:r>
              <a:rPr lang="ar-SA" altLang="en-US" sz="1350" b="1" dirty="0">
                <a:solidFill>
                  <a:srgbClr val="1B3B6F"/>
                </a:solidFill>
                <a:latin typeface="Amiri" pitchFamily="2" charset="-78"/>
                <a:ea typeface="Amiri" pitchFamily="2" charset="-78"/>
                <a:cs typeface="Amiri" pitchFamily="2" charset="-78"/>
              </a:rPr>
              <a:t>آدَمُ بَرِيطَانِيٌّ مِنْ عَائِلَةٍ أُرْدُنِيَّةٍ. فِي المَدْرَسَةِ تَكُونُ تَحِيَّاتُهُ قَصِيرَةً، وَلَكِنْ فِي البَيْتِ يَسْأَلُ عَنِ الصِّحَّةِ وَالعَائِلَةِ.</a:t>
            </a:r>
            <a:endParaRPr lang="ar-SA" sz="1350" dirty="0"/>
          </a:p>
        </p:txBody>
      </p:sp>
      <p:sp>
        <p:nvSpPr>
          <p:cNvPr id="29" name="Text 26"/>
          <p:cNvSpPr txBox="1"/>
          <p:nvPr/>
        </p:nvSpPr>
        <p:spPr>
          <a:xfrm>
            <a:off x="640080" y="4876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Adam: British, Jordanian family · short greetings at school, longer at home</a:t>
            </a:r>
            <a:endParaRPr lang="en-US" sz="1250" dirty="0"/>
          </a:p>
        </p:txBody>
      </p:sp>
      <p:sp>
        <p:nvSpPr>
          <p:cNvPr id="30" name="Shape 27"/>
          <p:cNvSpPr/>
          <p:nvPr/>
        </p:nvSpPr>
        <p:spPr>
          <a:xfrm>
            <a:off x="457200" y="5620512"/>
            <a:ext cx="11274552" cy="688848"/>
          </a:xfrm>
          <a:prstGeom prst="roundRect">
            <a:avLst>
              <a:gd name="adj" fmla="val 6637"/>
            </a:avLst>
          </a:prstGeom>
          <a:solidFill>
            <a:srgbClr val="F4F1EA"/>
          </a:solidFill>
          <a:ln w="9525">
            <a:solidFill>
              <a:srgbClr val="D8D0BF"/>
            </a:solidFill>
            <a:prstDash val="solid"/>
          </a:ln>
        </p:spPr>
      </p:sp>
      <p:sp>
        <p:nvSpPr>
          <p:cNvPr id="31" name="Text 28"/>
          <p:cNvSpPr txBox="1"/>
          <p:nvPr/>
        </p:nvSpPr>
        <p:spPr>
          <a:xfrm>
            <a:off x="4937760" y="5638800"/>
            <a:ext cx="6675120" cy="65227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يَرَى آدَمُ أَنَّ هُوِيَّتَهُ تَجْمَعُ بَيْنَ أَكْثَرَ مِنْ ثَقَافَةٍ.</a:t>
            </a:r>
            <a:endParaRPr lang="ar-SA" sz="2000" dirty="0"/>
          </a:p>
        </p:txBody>
      </p:sp>
      <p:sp>
        <p:nvSpPr>
          <p:cNvPr id="32" name="Text 29"/>
          <p:cNvSpPr txBox="1"/>
          <p:nvPr/>
        </p:nvSpPr>
        <p:spPr>
          <a:xfrm>
            <a:off x="640080" y="5638800"/>
            <a:ext cx="4160520" cy="652272"/>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his identity combines more than one culture</a:t>
            </a:r>
            <a:endParaRPr lang="en-US" sz="1250" dirty="0"/>
          </a:p>
        </p:txBody>
      </p:sp>
      <p:sp>
        <p:nvSpPr>
          <p:cNvPr id="33" name="Text 3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25 / 37</a:t>
            </a:r>
            <a:endParaRPr lang="en-US" sz="850" dirty="0"/>
          </a:p>
        </p:txBody>
      </p:sp>
    </p:spTree>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name="Slide 2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TB-L01 · Identity and Profiles</a:t>
            </a:r>
            <a:endParaRPr lang="en-US" sz="950" dirty="0"/>
          </a:p>
        </p:txBody>
      </p:sp>
      <p:sp>
        <p:nvSpPr>
          <p:cNvPr id="8" name="Shape 6"/>
          <p:cNvSpPr/>
          <p:nvPr/>
        </p:nvSpPr>
        <p:spPr>
          <a:xfrm>
            <a:off x="7370978" y="274320"/>
            <a:ext cx="1388974"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70978" y="274320"/>
            <a:ext cx="1388974"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150" kern="0" dirty="0">
                <a:solidFill>
                  <a:srgbClr val="2F6FB0"/>
                </a:solidFill>
                <a:latin typeface="Calibri" pitchFamily="34" charset="0"/>
                <a:cs typeface="Amiri" pitchFamily="2" charset="-78"/>
              </a:rPr>
              <a:t>WE DO · READING QUESTIONS (TEACHER-MADE FROM THE WEBSITE PROFILES)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Find the evidence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أَسْئِلَةُ القِرَاءَةِ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does Yasmin live?</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Manchester</a:t>
            </a:r>
            <a:endParaRPr lang="en-US" sz="12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London</a:t>
            </a:r>
            <a:endParaRPr lang="en-US" sz="12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Bristol</a:t>
            </a:r>
            <a:endParaRPr lang="en-US" sz="1250" dirty="0"/>
          </a:p>
        </p:txBody>
      </p:sp>
      <p:sp>
        <p:nvSpPr>
          <p:cNvPr id="28" name="Shape 25"/>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Yasmin’s family offer a guest?</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tea</a:t>
            </a:r>
            <a:endParaRPr lang="en-US" sz="12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coffee</a:t>
            </a:r>
            <a:endParaRPr lang="en-US" sz="12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dates</a:t>
            </a:r>
            <a:endParaRPr lang="en-US" sz="1250" dirty="0"/>
          </a:p>
        </p:txBody>
      </p:sp>
      <p:sp>
        <p:nvSpPr>
          <p:cNvPr id="41" name="Shape 38"/>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languages does Rami speak at home?</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Arabic and French</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Arabic and English</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English only</a:t>
            </a:r>
            <a:endParaRPr lang="en-US" sz="1250" dirty="0"/>
          </a:p>
        </p:txBody>
      </p:sp>
      <p:sp>
        <p:nvSpPr>
          <p:cNvPr id="54" name="Shape 51"/>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55" name="Shape 52"/>
          <p:cNvSpPr/>
          <p:nvPr/>
        </p:nvSpPr>
        <p:spPr>
          <a:xfrm>
            <a:off x="585216" y="4288536"/>
            <a:ext cx="310896" cy="310896"/>
          </a:xfrm>
          <a:prstGeom prst="ellipse">
            <a:avLst/>
          </a:prstGeom>
          <a:solidFill>
            <a:srgbClr val="1B3B6F"/>
          </a:solidFill>
          <a:ln w="12700">
            <a:solidFill>
              <a:srgbClr val="1B3B6F"/>
            </a:solidFill>
            <a:prstDash val="solid"/>
          </a:ln>
        </p:spPr>
      </p:sp>
      <p:sp>
        <p:nvSpPr>
          <p:cNvPr id="56" name="Text 53"/>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57" name="Text 54"/>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was Rami’s main point in the reading?</a:t>
            </a:r>
            <a:endParaRPr lang="en-US" sz="1250" dirty="0"/>
          </a:p>
        </p:txBody>
      </p:sp>
      <p:sp>
        <p:nvSpPr>
          <p:cNvPr id="58" name="Shape 55"/>
          <p:cNvSpPr/>
          <p:nvPr/>
        </p:nvSpPr>
        <p:spPr>
          <a:xfrm>
            <a:off x="640080" y="4873752"/>
            <a:ext cx="256032" cy="256032"/>
          </a:xfrm>
          <a:prstGeom prst="ellipse">
            <a:avLst/>
          </a:prstGeom>
          <a:solidFill>
            <a:srgbClr val="F4F1EA"/>
          </a:solidFill>
          <a:ln w="12700">
            <a:solidFill>
              <a:srgbClr val="F4F1EA"/>
            </a:solidFill>
            <a:prstDash val="solid"/>
          </a:ln>
        </p:spPr>
      </p:sp>
      <p:sp>
        <p:nvSpPr>
          <p:cNvPr id="59" name="Text 56"/>
          <p:cNvSpPr txBox="1"/>
          <p:nvPr/>
        </p:nvSpPr>
        <p:spPr>
          <a:xfrm>
            <a:off x="640080"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60" name="Text 57"/>
          <p:cNvSpPr txBox="1"/>
          <p:nvPr/>
        </p:nvSpPr>
        <p:spPr>
          <a:xfrm>
            <a:off x="969264"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Respect matters more than one fixed greeting form.</a:t>
            </a:r>
            <a:endParaRPr lang="en-US" sz="1250" dirty="0"/>
          </a:p>
        </p:txBody>
      </p:sp>
      <p:sp>
        <p:nvSpPr>
          <p:cNvPr id="61" name="Shape 58"/>
          <p:cNvSpPr/>
          <p:nvPr/>
        </p:nvSpPr>
        <p:spPr>
          <a:xfrm>
            <a:off x="640080" y="5330952"/>
            <a:ext cx="256032" cy="256032"/>
          </a:xfrm>
          <a:prstGeom prst="ellipse">
            <a:avLst/>
          </a:prstGeom>
          <a:solidFill>
            <a:srgbClr val="F4F1EA"/>
          </a:solidFill>
          <a:ln w="12700">
            <a:solidFill>
              <a:srgbClr val="F4F1EA"/>
            </a:solidFill>
            <a:prstDash val="solid"/>
          </a:ln>
        </p:spPr>
      </p:sp>
      <p:sp>
        <p:nvSpPr>
          <p:cNvPr id="62" name="Text 59"/>
          <p:cNvSpPr txBox="1"/>
          <p:nvPr/>
        </p:nvSpPr>
        <p:spPr>
          <a:xfrm>
            <a:off x="640080"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63" name="Text 60"/>
          <p:cNvSpPr txBox="1"/>
          <p:nvPr/>
        </p:nvSpPr>
        <p:spPr>
          <a:xfrm>
            <a:off x="969264"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Everyone should shake hands.</a:t>
            </a:r>
            <a:endParaRPr lang="en-US" sz="1250" dirty="0"/>
          </a:p>
        </p:txBody>
      </p:sp>
      <p:sp>
        <p:nvSpPr>
          <p:cNvPr id="64" name="Shape 61"/>
          <p:cNvSpPr/>
          <p:nvPr/>
        </p:nvSpPr>
        <p:spPr>
          <a:xfrm>
            <a:off x="640080" y="5788152"/>
            <a:ext cx="256032" cy="256032"/>
          </a:xfrm>
          <a:prstGeom prst="ellipse">
            <a:avLst/>
          </a:prstGeom>
          <a:solidFill>
            <a:srgbClr val="F4F1EA"/>
          </a:solidFill>
          <a:ln w="12700">
            <a:solidFill>
              <a:srgbClr val="F4F1EA"/>
            </a:solidFill>
            <a:prstDash val="solid"/>
          </a:ln>
        </p:spPr>
      </p:sp>
      <p:sp>
        <p:nvSpPr>
          <p:cNvPr id="65" name="Text 62"/>
          <p:cNvSpPr txBox="1"/>
          <p:nvPr/>
        </p:nvSpPr>
        <p:spPr>
          <a:xfrm>
            <a:off x="640080"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66" name="Text 63"/>
          <p:cNvSpPr txBox="1"/>
          <p:nvPr/>
        </p:nvSpPr>
        <p:spPr>
          <a:xfrm>
            <a:off x="969264"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Only Arabic may be spoken at home.</a:t>
            </a:r>
            <a:endParaRPr lang="en-US" sz="1250" dirty="0"/>
          </a:p>
        </p:txBody>
      </p:sp>
      <p:sp>
        <p:nvSpPr>
          <p:cNvPr id="67" name="Shape 64"/>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8" name="Shape 65"/>
          <p:cNvSpPr/>
          <p:nvPr/>
        </p:nvSpPr>
        <p:spPr>
          <a:xfrm>
            <a:off x="4404360" y="4288536"/>
            <a:ext cx="310896" cy="310896"/>
          </a:xfrm>
          <a:prstGeom prst="ellipse">
            <a:avLst/>
          </a:prstGeom>
          <a:solidFill>
            <a:srgbClr val="1B3B6F"/>
          </a:solidFill>
          <a:ln w="12700">
            <a:solidFill>
              <a:srgbClr val="1B3B6F"/>
            </a:solidFill>
            <a:prstDash val="solid"/>
          </a:ln>
        </p:spPr>
      </p:sp>
      <p:sp>
        <p:nvSpPr>
          <p:cNvPr id="69" name="Text 66"/>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0" name="Text 67"/>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are Adam’s greetings different at school?</a:t>
            </a:r>
            <a:endParaRPr lang="en-US" sz="1250" dirty="0"/>
          </a:p>
        </p:txBody>
      </p:sp>
      <p:sp>
        <p:nvSpPr>
          <p:cNvPr id="71" name="Shape 68"/>
          <p:cNvSpPr/>
          <p:nvPr/>
        </p:nvSpPr>
        <p:spPr>
          <a:xfrm>
            <a:off x="4459224" y="4873752"/>
            <a:ext cx="256032" cy="256032"/>
          </a:xfrm>
          <a:prstGeom prst="ellipse">
            <a:avLst/>
          </a:prstGeom>
          <a:solidFill>
            <a:srgbClr val="F4F1EA"/>
          </a:solidFill>
          <a:ln w="12700">
            <a:solidFill>
              <a:srgbClr val="F4F1EA"/>
            </a:solidFill>
            <a:prstDash val="solid"/>
          </a:ln>
        </p:spPr>
      </p:sp>
      <p:sp>
        <p:nvSpPr>
          <p:cNvPr id="72" name="Text 69"/>
          <p:cNvSpPr txBox="1"/>
          <p:nvPr/>
        </p:nvSpPr>
        <p:spPr>
          <a:xfrm>
            <a:off x="4459224" y="48737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73" name="Text 70"/>
          <p:cNvSpPr txBox="1"/>
          <p:nvPr/>
        </p:nvSpPr>
        <p:spPr>
          <a:xfrm>
            <a:off x="4788408" y="47731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are in French.</a:t>
            </a:r>
            <a:endParaRPr lang="en-US" sz="1250" dirty="0"/>
          </a:p>
        </p:txBody>
      </p:sp>
      <p:sp>
        <p:nvSpPr>
          <p:cNvPr id="74" name="Shape 71"/>
          <p:cNvSpPr/>
          <p:nvPr/>
        </p:nvSpPr>
        <p:spPr>
          <a:xfrm>
            <a:off x="4459224" y="5330952"/>
            <a:ext cx="256032" cy="256032"/>
          </a:xfrm>
          <a:prstGeom prst="ellipse">
            <a:avLst/>
          </a:prstGeom>
          <a:solidFill>
            <a:srgbClr val="F4F1EA"/>
          </a:solidFill>
          <a:ln w="12700">
            <a:solidFill>
              <a:srgbClr val="F4F1EA"/>
            </a:solidFill>
            <a:prstDash val="solid"/>
          </a:ln>
        </p:spPr>
      </p:sp>
      <p:sp>
        <p:nvSpPr>
          <p:cNvPr id="75" name="Text 72"/>
          <p:cNvSpPr txBox="1"/>
          <p:nvPr/>
        </p:nvSpPr>
        <p:spPr>
          <a:xfrm>
            <a:off x="4459224" y="53309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6" name="Text 73"/>
          <p:cNvSpPr txBox="1"/>
          <p:nvPr/>
        </p:nvSpPr>
        <p:spPr>
          <a:xfrm>
            <a:off x="4788408" y="52303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He does not greet.</a:t>
            </a:r>
            <a:endParaRPr lang="en-US" sz="1250" dirty="0"/>
          </a:p>
        </p:txBody>
      </p:sp>
      <p:sp>
        <p:nvSpPr>
          <p:cNvPr id="77" name="Shape 74"/>
          <p:cNvSpPr/>
          <p:nvPr/>
        </p:nvSpPr>
        <p:spPr>
          <a:xfrm>
            <a:off x="4459224" y="5788152"/>
            <a:ext cx="256032" cy="256032"/>
          </a:xfrm>
          <a:prstGeom prst="ellipse">
            <a:avLst/>
          </a:prstGeom>
          <a:solidFill>
            <a:srgbClr val="F4F1EA"/>
          </a:solidFill>
          <a:ln w="12700">
            <a:solidFill>
              <a:srgbClr val="F4F1EA"/>
            </a:solidFill>
            <a:prstDash val="solid"/>
          </a:ln>
        </p:spPr>
      </p:sp>
      <p:sp>
        <p:nvSpPr>
          <p:cNvPr id="78" name="Text 75"/>
          <p:cNvSpPr txBox="1"/>
          <p:nvPr/>
        </p:nvSpPr>
        <p:spPr>
          <a:xfrm>
            <a:off x="4459224" y="578815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9" name="Text 76"/>
          <p:cNvSpPr txBox="1"/>
          <p:nvPr/>
        </p:nvSpPr>
        <p:spPr>
          <a:xfrm>
            <a:off x="4788408" y="5687568"/>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They are short.</a:t>
            </a:r>
            <a:endParaRPr lang="en-US" sz="1250" dirty="0"/>
          </a:p>
        </p:txBody>
      </p:sp>
      <p:sp>
        <p:nvSpPr>
          <p:cNvPr id="80" name="Shape 7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81" name="Text 7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FIND THE EVIDENCE</a:t>
            </a:r>
            <a:endParaRPr lang="en-US" sz="1000" dirty="0"/>
          </a:p>
        </p:txBody>
      </p:sp>
      <p:sp>
        <p:nvSpPr>
          <p:cNvPr id="82" name="Text 7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Point to the Arabic that proves it. Remember: these are three fictional families, not rules for a whole country.</a:t>
            </a:r>
            <a:endParaRPr lang="en-US" sz="1250" dirty="0"/>
          </a:p>
        </p:txBody>
      </p:sp>
      <p:sp>
        <p:nvSpPr>
          <p:cNvPr id="83" name="Text 8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26 / 37</a:t>
            </a:r>
            <a:endParaRPr lang="en-US" sz="850" dirty="0"/>
          </a:p>
        </p:txBody>
      </p:sp>
    </p:spTree>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name="Slide 27">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TB-L01 · Identity and Profiles</a:t>
            </a:r>
            <a:endParaRPr lang="en-US" sz="950" dirty="0"/>
          </a:p>
        </p:txBody>
      </p:sp>
      <p:sp>
        <p:nvSpPr>
          <p:cNvPr id="8" name="Shape 6"/>
          <p:cNvSpPr/>
          <p:nvPr/>
        </p:nvSpPr>
        <p:spPr>
          <a:xfrm>
            <a:off x="7388352" y="274320"/>
            <a:ext cx="1371600" cy="329184"/>
          </a:xfrm>
          <a:prstGeom prst="roundRect">
            <a:avLst>
              <a:gd name="adj" fmla="val 50000"/>
            </a:avLst>
          </a:prstGeom>
          <a:solidFill>
            <a:srgbClr val="2F6FB0"/>
          </a:solidFill>
          <a:ln w="12700">
            <a:solidFill>
              <a:srgbClr val="2F6FB0"/>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WE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2F6FB0"/>
                </a:solidFill>
                <a:latin typeface="Calibri" pitchFamily="34" charset="0"/>
                <a:cs typeface="Amiri" pitchFamily="2" charset="-78"/>
              </a:rPr>
              <a:t>WE DO · READING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Reading: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الإِجَابَاتُ</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TB-L01</a:t>
            </a:r>
            <a:endParaRPr lang="en-US" sz="850" dirty="0"/>
          </a:p>
        </p:txBody>
      </p:sp>
      <p:sp>
        <p:nvSpPr>
          <p:cNvPr id="15" name="Shape 12"/>
          <p:cNvSpPr/>
          <p:nvPr/>
        </p:nvSpPr>
        <p:spPr>
          <a:xfrm>
            <a:off x="457200"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Where does Yasmin live?</a:t>
            </a:r>
            <a:endParaRPr lang="en-US" sz="1250" dirty="0"/>
          </a:p>
        </p:txBody>
      </p:sp>
      <p:sp>
        <p:nvSpPr>
          <p:cNvPr id="19" name="Shape 16"/>
          <p:cNvSpPr/>
          <p:nvPr/>
        </p:nvSpPr>
        <p:spPr>
          <a:xfrm>
            <a:off x="640080" y="2490216"/>
            <a:ext cx="256032" cy="256032"/>
          </a:xfrm>
          <a:prstGeom prst="ellipse">
            <a:avLst/>
          </a:prstGeom>
          <a:solidFill>
            <a:srgbClr val="C9CED6"/>
          </a:solidFill>
          <a:ln w="12700">
            <a:solidFill>
              <a:srgbClr val="C9CED6"/>
            </a:solidFill>
            <a:prstDash val="solid"/>
          </a:ln>
        </p:spPr>
      </p:sp>
      <p:sp>
        <p:nvSpPr>
          <p:cNvPr id="20" name="Text 17"/>
          <p:cNvSpPr txBox="1"/>
          <p:nvPr/>
        </p:nvSpPr>
        <p:spPr>
          <a:xfrm>
            <a:off x="640080"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Manchester</a:t>
            </a:r>
            <a:endParaRPr lang="en-US" sz="1250" dirty="0"/>
          </a:p>
        </p:txBody>
      </p:sp>
      <p:sp>
        <p:nvSpPr>
          <p:cNvPr id="22" name="Shape 19"/>
          <p:cNvSpPr/>
          <p:nvPr/>
        </p:nvSpPr>
        <p:spPr>
          <a:xfrm>
            <a:off x="640080" y="2862072"/>
            <a:ext cx="256032" cy="256032"/>
          </a:xfrm>
          <a:prstGeom prst="ellipse">
            <a:avLst/>
          </a:prstGeom>
          <a:solidFill>
            <a:srgbClr val="C9CED6"/>
          </a:solidFill>
          <a:ln w="12700">
            <a:solidFill>
              <a:srgbClr val="C9CED6"/>
            </a:solidFill>
            <a:prstDash val="solid"/>
          </a:ln>
        </p:spPr>
      </p:sp>
      <p:sp>
        <p:nvSpPr>
          <p:cNvPr id="23" name="Text 20"/>
          <p:cNvSpPr txBox="1"/>
          <p:nvPr/>
        </p:nvSpPr>
        <p:spPr>
          <a:xfrm>
            <a:off x="640080"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London</a:t>
            </a:r>
            <a:endParaRPr lang="en-US" sz="1250" dirty="0"/>
          </a:p>
        </p:txBody>
      </p:sp>
      <p:sp>
        <p:nvSpPr>
          <p:cNvPr id="25" name="Shape 22"/>
          <p:cNvSpPr/>
          <p:nvPr/>
        </p:nvSpPr>
        <p:spPr>
          <a:xfrm>
            <a:off x="548640" y="3197352"/>
            <a:ext cx="3453384" cy="347472"/>
          </a:xfrm>
          <a:prstGeom prst="roundRect">
            <a:avLst>
              <a:gd name="adj" fmla="val 15789"/>
            </a:avLst>
          </a:prstGeom>
          <a:solidFill>
            <a:srgbClr val="E6F4EC"/>
          </a:solidFill>
          <a:ln w="9525">
            <a:solidFill>
              <a:srgbClr val="2E8B57"/>
            </a:solidFill>
            <a:prstDash val="solid"/>
          </a:ln>
        </p:spPr>
      </p:sp>
      <p:sp>
        <p:nvSpPr>
          <p:cNvPr id="26" name="Shape 23"/>
          <p:cNvSpPr/>
          <p:nvPr/>
        </p:nvSpPr>
        <p:spPr>
          <a:xfrm>
            <a:off x="640080" y="3233928"/>
            <a:ext cx="256032" cy="256032"/>
          </a:xfrm>
          <a:prstGeom prst="ellipse">
            <a:avLst/>
          </a:prstGeom>
          <a:solidFill>
            <a:srgbClr val="2E8B57"/>
          </a:solidFill>
          <a:ln w="12700">
            <a:solidFill>
              <a:srgbClr val="2E8B57"/>
            </a:solidFill>
            <a:prstDash val="solid"/>
          </a:ln>
        </p:spPr>
      </p:sp>
      <p:sp>
        <p:nvSpPr>
          <p:cNvPr id="27" name="Text 24"/>
          <p:cNvSpPr txBox="1"/>
          <p:nvPr/>
        </p:nvSpPr>
        <p:spPr>
          <a:xfrm>
            <a:off x="640080" y="323392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28" name="Text 25"/>
          <p:cNvSpPr txBox="1"/>
          <p:nvPr/>
        </p:nvSpPr>
        <p:spPr>
          <a:xfrm>
            <a:off x="969264" y="3176016"/>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Bristol</a:t>
            </a:r>
            <a:endParaRPr lang="en-US" sz="1250" dirty="0"/>
          </a:p>
        </p:txBody>
      </p:sp>
      <p:sp>
        <p:nvSpPr>
          <p:cNvPr id="29" name="Text 26"/>
          <p:cNvSpPr txBox="1"/>
          <p:nvPr/>
        </p:nvSpPr>
        <p:spPr>
          <a:xfrm>
            <a:off x="585216"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يَاسْمِينُ … تَعِيشُ فِي بَرِيسْتُولَ.</a:t>
            </a:r>
            <a:endParaRPr lang="ar-SA" sz="1350" dirty="0"/>
          </a:p>
        </p:txBody>
      </p:sp>
      <p:sp>
        <p:nvSpPr>
          <p:cNvPr id="30" name="Shape 27"/>
          <p:cNvSpPr/>
          <p:nvPr/>
        </p:nvSpPr>
        <p:spPr>
          <a:xfrm>
            <a:off x="4276344"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does Yasmin’s family offer a guest?</a:t>
            </a:r>
            <a:endParaRPr lang="en-US" sz="1250" dirty="0"/>
          </a:p>
        </p:txBody>
      </p:sp>
      <p:sp>
        <p:nvSpPr>
          <p:cNvPr id="34" name="Shape 31"/>
          <p:cNvSpPr/>
          <p:nvPr/>
        </p:nvSpPr>
        <p:spPr>
          <a:xfrm>
            <a:off x="4367784" y="2453640"/>
            <a:ext cx="3453384" cy="347472"/>
          </a:xfrm>
          <a:prstGeom prst="roundRect">
            <a:avLst>
              <a:gd name="adj" fmla="val 15789"/>
            </a:avLst>
          </a:prstGeom>
          <a:solidFill>
            <a:srgbClr val="E6F4EC"/>
          </a:solidFill>
          <a:ln w="9525">
            <a:solidFill>
              <a:srgbClr val="2E8B57"/>
            </a:solidFill>
            <a:prstDash val="solid"/>
          </a:ln>
        </p:spPr>
      </p:sp>
      <p:sp>
        <p:nvSpPr>
          <p:cNvPr id="35" name="Shape 32"/>
          <p:cNvSpPr/>
          <p:nvPr/>
        </p:nvSpPr>
        <p:spPr>
          <a:xfrm>
            <a:off x="4459224" y="2490216"/>
            <a:ext cx="256032" cy="256032"/>
          </a:xfrm>
          <a:prstGeom prst="ellipse">
            <a:avLst/>
          </a:prstGeom>
          <a:solidFill>
            <a:srgbClr val="2E8B57"/>
          </a:solidFill>
          <a:ln w="12700">
            <a:solidFill>
              <a:srgbClr val="2E8B57"/>
            </a:solidFill>
            <a:prstDash val="solid"/>
          </a:ln>
        </p:spPr>
      </p:sp>
      <p:sp>
        <p:nvSpPr>
          <p:cNvPr id="36" name="Text 33"/>
          <p:cNvSpPr txBox="1"/>
          <p:nvPr/>
        </p:nvSpPr>
        <p:spPr>
          <a:xfrm>
            <a:off x="4459224" y="2490216"/>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37" name="Text 34"/>
          <p:cNvSpPr txBox="1"/>
          <p:nvPr/>
        </p:nvSpPr>
        <p:spPr>
          <a:xfrm>
            <a:off x="4788408" y="2432304"/>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tea</a:t>
            </a:r>
            <a:endParaRPr lang="en-US" sz="1250" dirty="0"/>
          </a:p>
        </p:txBody>
      </p:sp>
      <p:sp>
        <p:nvSpPr>
          <p:cNvPr id="38" name="Shape 35"/>
          <p:cNvSpPr/>
          <p:nvPr/>
        </p:nvSpPr>
        <p:spPr>
          <a:xfrm>
            <a:off x="4459224" y="2862072"/>
            <a:ext cx="256032" cy="256032"/>
          </a:xfrm>
          <a:prstGeom prst="ellipse">
            <a:avLst/>
          </a:prstGeom>
          <a:solidFill>
            <a:srgbClr val="C9CED6"/>
          </a:solidFill>
          <a:ln w="12700">
            <a:solidFill>
              <a:srgbClr val="C9CED6"/>
            </a:solidFill>
            <a:prstDash val="solid"/>
          </a:ln>
        </p:spPr>
      </p:sp>
      <p:sp>
        <p:nvSpPr>
          <p:cNvPr id="39" name="Text 36"/>
          <p:cNvSpPr txBox="1"/>
          <p:nvPr/>
        </p:nvSpPr>
        <p:spPr>
          <a:xfrm>
            <a:off x="4459224" y="286207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40" name="Text 37"/>
          <p:cNvSpPr txBox="1"/>
          <p:nvPr/>
        </p:nvSpPr>
        <p:spPr>
          <a:xfrm>
            <a:off x="4788408" y="280416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coffee</a:t>
            </a:r>
            <a:endParaRPr lang="en-US" sz="1250" dirty="0"/>
          </a:p>
        </p:txBody>
      </p:sp>
      <p:sp>
        <p:nvSpPr>
          <p:cNvPr id="41" name="Shape 38"/>
          <p:cNvSpPr/>
          <p:nvPr/>
        </p:nvSpPr>
        <p:spPr>
          <a:xfrm>
            <a:off x="4459224" y="323392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dates</a:t>
            </a:r>
            <a:endParaRPr lang="en-US" sz="1250" dirty="0"/>
          </a:p>
        </p:txBody>
      </p:sp>
      <p:sp>
        <p:nvSpPr>
          <p:cNvPr id="44" name="Text 41"/>
          <p:cNvSpPr txBox="1"/>
          <p:nvPr/>
        </p:nvSpPr>
        <p:spPr>
          <a:xfrm>
            <a:off x="4404360"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يُقَدِّمُونَ الشَّايَ.</a:t>
            </a:r>
            <a:endParaRPr lang="ar-SA" sz="1350" dirty="0"/>
          </a:p>
        </p:txBody>
      </p:sp>
      <p:sp>
        <p:nvSpPr>
          <p:cNvPr id="45" name="Shape 42"/>
          <p:cNvSpPr/>
          <p:nvPr/>
        </p:nvSpPr>
        <p:spPr>
          <a:xfrm>
            <a:off x="8095488" y="1810512"/>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languages does Rami speak at home?</a:t>
            </a:r>
            <a:endParaRPr lang="en-US" sz="1250" dirty="0"/>
          </a:p>
        </p:txBody>
      </p:sp>
      <p:sp>
        <p:nvSpPr>
          <p:cNvPr id="49" name="Shape 46"/>
          <p:cNvSpPr/>
          <p:nvPr/>
        </p:nvSpPr>
        <p:spPr>
          <a:xfrm>
            <a:off x="8278368" y="2490216"/>
            <a:ext cx="256032" cy="256032"/>
          </a:xfrm>
          <a:prstGeom prst="ellipse">
            <a:avLst/>
          </a:prstGeom>
          <a:solidFill>
            <a:srgbClr val="C9CED6"/>
          </a:solidFill>
          <a:ln w="12700">
            <a:solidFill>
              <a:srgbClr val="C9CED6"/>
            </a:solidFill>
            <a:prstDash val="solid"/>
          </a:ln>
        </p:spPr>
      </p:sp>
      <p:sp>
        <p:nvSpPr>
          <p:cNvPr id="50" name="Text 47"/>
          <p:cNvSpPr txBox="1"/>
          <p:nvPr/>
        </p:nvSpPr>
        <p:spPr>
          <a:xfrm>
            <a:off x="8278368" y="249021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51" name="Text 48"/>
          <p:cNvSpPr txBox="1"/>
          <p:nvPr/>
        </p:nvSpPr>
        <p:spPr>
          <a:xfrm>
            <a:off x="8607552" y="243230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Arabic and French</a:t>
            </a:r>
            <a:endParaRPr lang="en-US" sz="1250" dirty="0"/>
          </a:p>
        </p:txBody>
      </p:sp>
      <p:sp>
        <p:nvSpPr>
          <p:cNvPr id="52" name="Shape 49"/>
          <p:cNvSpPr/>
          <p:nvPr/>
        </p:nvSpPr>
        <p:spPr>
          <a:xfrm>
            <a:off x="8186928" y="2825496"/>
            <a:ext cx="3453384" cy="347472"/>
          </a:xfrm>
          <a:prstGeom prst="roundRect">
            <a:avLst>
              <a:gd name="adj" fmla="val 15789"/>
            </a:avLst>
          </a:prstGeom>
          <a:solidFill>
            <a:srgbClr val="E6F4EC"/>
          </a:solidFill>
          <a:ln w="9525">
            <a:solidFill>
              <a:srgbClr val="2E8B57"/>
            </a:solidFill>
            <a:prstDash val="solid"/>
          </a:ln>
        </p:spPr>
      </p:sp>
      <p:sp>
        <p:nvSpPr>
          <p:cNvPr id="53" name="Shape 50"/>
          <p:cNvSpPr/>
          <p:nvPr/>
        </p:nvSpPr>
        <p:spPr>
          <a:xfrm>
            <a:off x="8278368" y="2862072"/>
            <a:ext cx="256032" cy="256032"/>
          </a:xfrm>
          <a:prstGeom prst="ellipse">
            <a:avLst/>
          </a:prstGeom>
          <a:solidFill>
            <a:srgbClr val="2E8B57"/>
          </a:solidFill>
          <a:ln w="12700">
            <a:solidFill>
              <a:srgbClr val="2E8B57"/>
            </a:solidFill>
            <a:prstDash val="solid"/>
          </a:ln>
        </p:spPr>
      </p:sp>
      <p:sp>
        <p:nvSpPr>
          <p:cNvPr id="54" name="Text 51"/>
          <p:cNvSpPr txBox="1"/>
          <p:nvPr/>
        </p:nvSpPr>
        <p:spPr>
          <a:xfrm>
            <a:off x="8278368" y="286207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55" name="Text 52"/>
          <p:cNvSpPr txBox="1"/>
          <p:nvPr/>
        </p:nvSpPr>
        <p:spPr>
          <a:xfrm>
            <a:off x="8607552" y="280416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Arabic and English</a:t>
            </a:r>
            <a:endParaRPr lang="en-US" sz="1250" dirty="0"/>
          </a:p>
        </p:txBody>
      </p:sp>
      <p:sp>
        <p:nvSpPr>
          <p:cNvPr id="56" name="Shape 53"/>
          <p:cNvSpPr/>
          <p:nvPr/>
        </p:nvSpPr>
        <p:spPr>
          <a:xfrm>
            <a:off x="8278368" y="323392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23392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176016"/>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English only</a:t>
            </a:r>
            <a:endParaRPr lang="en-US" sz="1250" dirty="0"/>
          </a:p>
        </p:txBody>
      </p:sp>
      <p:sp>
        <p:nvSpPr>
          <p:cNvPr id="59" name="Text 56"/>
          <p:cNvSpPr txBox="1"/>
          <p:nvPr/>
        </p:nvSpPr>
        <p:spPr>
          <a:xfrm>
            <a:off x="8223504" y="3566160"/>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يَتَكَلَّمُ العَرَبِيَّةَ وَالإِنْجِلِيزِيَّةَ فِي البَيْتِ.</a:t>
            </a:r>
            <a:endParaRPr lang="ar-SA" sz="1350" dirty="0"/>
          </a:p>
        </p:txBody>
      </p:sp>
      <p:sp>
        <p:nvSpPr>
          <p:cNvPr id="60" name="Shape 57"/>
          <p:cNvSpPr/>
          <p:nvPr/>
        </p:nvSpPr>
        <p:spPr>
          <a:xfrm>
            <a:off x="457200"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61" name="Shape 58"/>
          <p:cNvSpPr/>
          <p:nvPr/>
        </p:nvSpPr>
        <p:spPr>
          <a:xfrm>
            <a:off x="585216" y="4288536"/>
            <a:ext cx="310896" cy="310896"/>
          </a:xfrm>
          <a:prstGeom prst="ellipse">
            <a:avLst/>
          </a:prstGeom>
          <a:solidFill>
            <a:srgbClr val="1B3B6F"/>
          </a:solidFill>
          <a:ln w="12700">
            <a:solidFill>
              <a:srgbClr val="1B3B6F"/>
            </a:solidFill>
            <a:prstDash val="solid"/>
          </a:ln>
        </p:spPr>
      </p:sp>
      <p:sp>
        <p:nvSpPr>
          <p:cNvPr id="62" name="Text 59"/>
          <p:cNvSpPr txBox="1"/>
          <p:nvPr/>
        </p:nvSpPr>
        <p:spPr>
          <a:xfrm>
            <a:off x="585216"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4</a:t>
            </a:r>
            <a:endParaRPr lang="en-US" sz="1100" dirty="0"/>
          </a:p>
        </p:txBody>
      </p:sp>
      <p:sp>
        <p:nvSpPr>
          <p:cNvPr id="63" name="Text 60"/>
          <p:cNvSpPr txBox="1"/>
          <p:nvPr/>
        </p:nvSpPr>
        <p:spPr>
          <a:xfrm>
            <a:off x="950976"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What was Rami’s main point in the reading?</a:t>
            </a:r>
            <a:endParaRPr lang="en-US" sz="1250" dirty="0"/>
          </a:p>
        </p:txBody>
      </p:sp>
      <p:sp>
        <p:nvSpPr>
          <p:cNvPr id="64" name="Shape 61"/>
          <p:cNvSpPr/>
          <p:nvPr/>
        </p:nvSpPr>
        <p:spPr>
          <a:xfrm>
            <a:off x="548640" y="4794504"/>
            <a:ext cx="3453384" cy="347472"/>
          </a:xfrm>
          <a:prstGeom prst="roundRect">
            <a:avLst>
              <a:gd name="adj" fmla="val 15789"/>
            </a:avLst>
          </a:prstGeom>
          <a:solidFill>
            <a:srgbClr val="E6F4EC"/>
          </a:solidFill>
          <a:ln w="9525">
            <a:solidFill>
              <a:srgbClr val="2E8B57"/>
            </a:solidFill>
            <a:prstDash val="solid"/>
          </a:ln>
        </p:spPr>
      </p:sp>
      <p:sp>
        <p:nvSpPr>
          <p:cNvPr id="65" name="Shape 62"/>
          <p:cNvSpPr/>
          <p:nvPr/>
        </p:nvSpPr>
        <p:spPr>
          <a:xfrm>
            <a:off x="640080" y="4831080"/>
            <a:ext cx="256032" cy="256032"/>
          </a:xfrm>
          <a:prstGeom prst="ellipse">
            <a:avLst/>
          </a:prstGeom>
          <a:solidFill>
            <a:srgbClr val="2E8B57"/>
          </a:solidFill>
          <a:ln w="12700">
            <a:solidFill>
              <a:srgbClr val="2E8B57"/>
            </a:solidFill>
            <a:prstDash val="solid"/>
          </a:ln>
        </p:spPr>
      </p:sp>
      <p:sp>
        <p:nvSpPr>
          <p:cNvPr id="66" name="Text 63"/>
          <p:cNvSpPr txBox="1"/>
          <p:nvPr/>
        </p:nvSpPr>
        <p:spPr>
          <a:xfrm>
            <a:off x="640080" y="4831080"/>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67" name="Text 64"/>
          <p:cNvSpPr txBox="1"/>
          <p:nvPr/>
        </p:nvSpPr>
        <p:spPr>
          <a:xfrm>
            <a:off x="969264" y="4773168"/>
            <a:ext cx="2977896" cy="371856"/>
          </a:xfrm>
          <a:prstGeom prst="rect">
            <a:avLst/>
          </a:prstGeom>
          <a:noFill/>
          <a:ln/>
        </p:spPr>
        <p:txBody>
          <a:bodyPr wrap="square" lIns="0" tIns="0" rIns="0" bIns="0" rtlCol="0" anchor="ctr"/>
          <a:lstStyle/>
          <a:p>
            <a:pPr algn="l" indent="0" marL="0">
              <a:buNone/>
            </a:pPr>
            <a:r>
              <a:rPr lang="en-US" sz="1150" b="1" dirty="0">
                <a:solidFill>
                  <a:srgbClr val="1F2A37"/>
                </a:solidFill>
                <a:latin typeface="Calibri" pitchFamily="34" charset="0"/>
                <a:cs typeface="Amiri" pitchFamily="2" charset="-78"/>
              </a:rPr>
              <a:t>Respect matters more than one fixed greeting form.</a:t>
            </a:r>
            <a:endParaRPr lang="en-US" sz="1150" dirty="0"/>
          </a:p>
        </p:txBody>
      </p:sp>
      <p:sp>
        <p:nvSpPr>
          <p:cNvPr id="68" name="Shape 65"/>
          <p:cNvSpPr/>
          <p:nvPr/>
        </p:nvSpPr>
        <p:spPr>
          <a:xfrm>
            <a:off x="640080" y="5202936"/>
            <a:ext cx="256032" cy="256032"/>
          </a:xfrm>
          <a:prstGeom prst="ellipse">
            <a:avLst/>
          </a:prstGeom>
          <a:solidFill>
            <a:srgbClr val="C9CED6"/>
          </a:solidFill>
          <a:ln w="12700">
            <a:solidFill>
              <a:srgbClr val="C9CED6"/>
            </a:solidFill>
            <a:prstDash val="solid"/>
          </a:ln>
        </p:spPr>
      </p:sp>
      <p:sp>
        <p:nvSpPr>
          <p:cNvPr id="69" name="Text 66"/>
          <p:cNvSpPr txBox="1"/>
          <p:nvPr/>
        </p:nvSpPr>
        <p:spPr>
          <a:xfrm>
            <a:off x="640080"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70" name="Text 67"/>
          <p:cNvSpPr txBox="1"/>
          <p:nvPr/>
        </p:nvSpPr>
        <p:spPr>
          <a:xfrm>
            <a:off x="969264"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Everyone should shake hands.</a:t>
            </a:r>
            <a:endParaRPr lang="en-US" sz="1250" dirty="0"/>
          </a:p>
        </p:txBody>
      </p:sp>
      <p:sp>
        <p:nvSpPr>
          <p:cNvPr id="71" name="Shape 68"/>
          <p:cNvSpPr/>
          <p:nvPr/>
        </p:nvSpPr>
        <p:spPr>
          <a:xfrm>
            <a:off x="640080" y="5574792"/>
            <a:ext cx="256032" cy="256032"/>
          </a:xfrm>
          <a:prstGeom prst="ellipse">
            <a:avLst/>
          </a:prstGeom>
          <a:solidFill>
            <a:srgbClr val="C9CED6"/>
          </a:solidFill>
          <a:ln w="12700">
            <a:solidFill>
              <a:srgbClr val="C9CED6"/>
            </a:solidFill>
            <a:prstDash val="solid"/>
          </a:ln>
        </p:spPr>
      </p:sp>
      <p:sp>
        <p:nvSpPr>
          <p:cNvPr id="72" name="Text 69"/>
          <p:cNvSpPr txBox="1"/>
          <p:nvPr/>
        </p:nvSpPr>
        <p:spPr>
          <a:xfrm>
            <a:off x="640080" y="5574792"/>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73" name="Text 70"/>
          <p:cNvSpPr txBox="1"/>
          <p:nvPr/>
        </p:nvSpPr>
        <p:spPr>
          <a:xfrm>
            <a:off x="969264" y="5516880"/>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Only Arabic may be spoken at home.</a:t>
            </a:r>
            <a:endParaRPr lang="en-US" sz="1250" dirty="0"/>
          </a:p>
        </p:txBody>
      </p:sp>
      <p:sp>
        <p:nvSpPr>
          <p:cNvPr id="74" name="Text 71"/>
          <p:cNvSpPr txBox="1"/>
          <p:nvPr/>
        </p:nvSpPr>
        <p:spPr>
          <a:xfrm>
            <a:off x="585216" y="590702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Rami values respect over a particular gesture.</a:t>
            </a:r>
            <a:endParaRPr lang="en-US" sz="1050" dirty="0"/>
          </a:p>
        </p:txBody>
      </p:sp>
      <p:sp>
        <p:nvSpPr>
          <p:cNvPr id="75" name="Shape 72"/>
          <p:cNvSpPr/>
          <p:nvPr/>
        </p:nvSpPr>
        <p:spPr>
          <a:xfrm>
            <a:off x="4276344" y="4151376"/>
            <a:ext cx="3636264" cy="2157984"/>
          </a:xfrm>
          <a:prstGeom prst="roundRect">
            <a:avLst>
              <a:gd name="adj" fmla="val 3390"/>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76" name="Shape 73"/>
          <p:cNvSpPr/>
          <p:nvPr/>
        </p:nvSpPr>
        <p:spPr>
          <a:xfrm>
            <a:off x="4404360" y="4288536"/>
            <a:ext cx="310896" cy="310896"/>
          </a:xfrm>
          <a:prstGeom prst="ellipse">
            <a:avLst/>
          </a:prstGeom>
          <a:solidFill>
            <a:srgbClr val="1B3B6F"/>
          </a:solidFill>
          <a:ln w="12700">
            <a:solidFill>
              <a:srgbClr val="1B3B6F"/>
            </a:solidFill>
            <a:prstDash val="solid"/>
          </a:ln>
        </p:spPr>
      </p:sp>
      <p:sp>
        <p:nvSpPr>
          <p:cNvPr id="77" name="Text 74"/>
          <p:cNvSpPr txBox="1"/>
          <p:nvPr/>
        </p:nvSpPr>
        <p:spPr>
          <a:xfrm>
            <a:off x="4404360" y="4288536"/>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5</a:t>
            </a:r>
            <a:endParaRPr lang="en-US" sz="1100" dirty="0"/>
          </a:p>
        </p:txBody>
      </p:sp>
      <p:sp>
        <p:nvSpPr>
          <p:cNvPr id="78" name="Text 75"/>
          <p:cNvSpPr txBox="1"/>
          <p:nvPr/>
        </p:nvSpPr>
        <p:spPr>
          <a:xfrm>
            <a:off x="4770120" y="4224528"/>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How are Adam’s greetings different at school?</a:t>
            </a:r>
            <a:endParaRPr lang="en-US" sz="1250" dirty="0"/>
          </a:p>
        </p:txBody>
      </p:sp>
      <p:sp>
        <p:nvSpPr>
          <p:cNvPr id="79" name="Shape 76"/>
          <p:cNvSpPr/>
          <p:nvPr/>
        </p:nvSpPr>
        <p:spPr>
          <a:xfrm>
            <a:off x="4459224" y="4831080"/>
            <a:ext cx="256032" cy="256032"/>
          </a:xfrm>
          <a:prstGeom prst="ellipse">
            <a:avLst/>
          </a:prstGeom>
          <a:solidFill>
            <a:srgbClr val="C9CED6"/>
          </a:solidFill>
          <a:ln w="12700">
            <a:solidFill>
              <a:srgbClr val="C9CED6"/>
            </a:solidFill>
            <a:prstDash val="solid"/>
          </a:ln>
        </p:spPr>
      </p:sp>
      <p:sp>
        <p:nvSpPr>
          <p:cNvPr id="80" name="Text 77"/>
          <p:cNvSpPr txBox="1"/>
          <p:nvPr/>
        </p:nvSpPr>
        <p:spPr>
          <a:xfrm>
            <a:off x="4459224" y="4831080"/>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81" name="Text 78"/>
          <p:cNvSpPr txBox="1"/>
          <p:nvPr/>
        </p:nvSpPr>
        <p:spPr>
          <a:xfrm>
            <a:off x="4788408" y="4773168"/>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They are in French.</a:t>
            </a:r>
            <a:endParaRPr lang="en-US" sz="1250" dirty="0"/>
          </a:p>
        </p:txBody>
      </p:sp>
      <p:sp>
        <p:nvSpPr>
          <p:cNvPr id="82" name="Shape 79"/>
          <p:cNvSpPr/>
          <p:nvPr/>
        </p:nvSpPr>
        <p:spPr>
          <a:xfrm>
            <a:off x="4459224" y="5202936"/>
            <a:ext cx="256032" cy="256032"/>
          </a:xfrm>
          <a:prstGeom prst="ellipse">
            <a:avLst/>
          </a:prstGeom>
          <a:solidFill>
            <a:srgbClr val="C9CED6"/>
          </a:solidFill>
          <a:ln w="12700">
            <a:solidFill>
              <a:srgbClr val="C9CED6"/>
            </a:solidFill>
            <a:prstDash val="solid"/>
          </a:ln>
        </p:spPr>
      </p:sp>
      <p:sp>
        <p:nvSpPr>
          <p:cNvPr id="83" name="Text 80"/>
          <p:cNvSpPr txBox="1"/>
          <p:nvPr/>
        </p:nvSpPr>
        <p:spPr>
          <a:xfrm>
            <a:off x="4459224" y="5202936"/>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84" name="Text 81"/>
          <p:cNvSpPr txBox="1"/>
          <p:nvPr/>
        </p:nvSpPr>
        <p:spPr>
          <a:xfrm>
            <a:off x="4788408" y="5145024"/>
            <a:ext cx="2977896" cy="371856"/>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He does not greet.</a:t>
            </a:r>
            <a:endParaRPr lang="en-US" sz="1250" dirty="0"/>
          </a:p>
        </p:txBody>
      </p:sp>
      <p:sp>
        <p:nvSpPr>
          <p:cNvPr id="85" name="Shape 82"/>
          <p:cNvSpPr/>
          <p:nvPr/>
        </p:nvSpPr>
        <p:spPr>
          <a:xfrm>
            <a:off x="4367784" y="5538216"/>
            <a:ext cx="3453384" cy="347472"/>
          </a:xfrm>
          <a:prstGeom prst="roundRect">
            <a:avLst>
              <a:gd name="adj" fmla="val 15789"/>
            </a:avLst>
          </a:prstGeom>
          <a:solidFill>
            <a:srgbClr val="E6F4EC"/>
          </a:solidFill>
          <a:ln w="9525">
            <a:solidFill>
              <a:srgbClr val="2E8B57"/>
            </a:solidFill>
            <a:prstDash val="solid"/>
          </a:ln>
        </p:spPr>
      </p:sp>
      <p:sp>
        <p:nvSpPr>
          <p:cNvPr id="86" name="Shape 83"/>
          <p:cNvSpPr/>
          <p:nvPr/>
        </p:nvSpPr>
        <p:spPr>
          <a:xfrm>
            <a:off x="4459224" y="5574792"/>
            <a:ext cx="256032" cy="256032"/>
          </a:xfrm>
          <a:prstGeom prst="ellipse">
            <a:avLst/>
          </a:prstGeom>
          <a:solidFill>
            <a:srgbClr val="2E8B57"/>
          </a:solidFill>
          <a:ln w="12700">
            <a:solidFill>
              <a:srgbClr val="2E8B57"/>
            </a:solidFill>
            <a:prstDash val="solid"/>
          </a:ln>
        </p:spPr>
      </p:sp>
      <p:sp>
        <p:nvSpPr>
          <p:cNvPr id="87" name="Text 84"/>
          <p:cNvSpPr txBox="1"/>
          <p:nvPr/>
        </p:nvSpPr>
        <p:spPr>
          <a:xfrm>
            <a:off x="4459224" y="5574792"/>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C</a:t>
            </a:r>
            <a:endParaRPr lang="en-US" sz="900" dirty="0"/>
          </a:p>
        </p:txBody>
      </p:sp>
      <p:sp>
        <p:nvSpPr>
          <p:cNvPr id="88" name="Text 85"/>
          <p:cNvSpPr txBox="1"/>
          <p:nvPr/>
        </p:nvSpPr>
        <p:spPr>
          <a:xfrm>
            <a:off x="4788408" y="5516880"/>
            <a:ext cx="2977896" cy="371856"/>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They are short.</a:t>
            </a:r>
            <a:endParaRPr lang="en-US" sz="1250" dirty="0"/>
          </a:p>
        </p:txBody>
      </p:sp>
      <p:sp>
        <p:nvSpPr>
          <p:cNvPr id="89" name="Text 86"/>
          <p:cNvSpPr txBox="1"/>
          <p:nvPr/>
        </p:nvSpPr>
        <p:spPr>
          <a:xfrm>
            <a:off x="4404360" y="5907024"/>
            <a:ext cx="3380232" cy="365760"/>
          </a:xfrm>
          <a:prstGeom prst="rect">
            <a:avLst/>
          </a:prstGeom>
          <a:noFill/>
          <a:ln/>
        </p:spPr>
        <p:txBody>
          <a:bodyPr wrap="square" lIns="0" tIns="0" rIns="0" bIns="0" rtlCol="0" anchor="ctr"/>
          <a:lstStyle/>
          <a:p>
            <a:pPr rtl="1" algn="r" indent="0" marL="0">
              <a:buNone/>
            </a:pPr>
            <a:r>
              <a:rPr lang="ar-SA" altLang="en-US" sz="1350" dirty="0">
                <a:solidFill>
                  <a:srgbClr val="8A6D1E"/>
                </a:solidFill>
                <a:latin typeface="Amiri" pitchFamily="2" charset="-78"/>
                <a:ea typeface="Amiri" pitchFamily="2" charset="-78"/>
                <a:cs typeface="Amiri" pitchFamily="2" charset="-78"/>
              </a:rPr>
              <a:t>فِي المَدْرَسَةِ تَكُونُ تَحِيَّاتُهُ قَصِيرَةً.</a:t>
            </a:r>
            <a:endParaRPr lang="ar-SA" sz="1350" dirty="0"/>
          </a:p>
        </p:txBody>
      </p:sp>
      <p:sp>
        <p:nvSpPr>
          <p:cNvPr id="90" name="Shape 87"/>
          <p:cNvSpPr/>
          <p:nvPr/>
        </p:nvSpPr>
        <p:spPr>
          <a:xfrm>
            <a:off x="8095488" y="4151376"/>
            <a:ext cx="3636264" cy="2157984"/>
          </a:xfrm>
          <a:prstGeom prst="roundRect">
            <a:avLst>
              <a:gd name="adj" fmla="val 3390"/>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91" name="Text 88"/>
          <p:cNvSpPr txBox="1"/>
          <p:nvPr/>
        </p:nvSpPr>
        <p:spPr>
          <a:xfrm>
            <a:off x="8278368" y="4279392"/>
            <a:ext cx="3270504" cy="274320"/>
          </a:xfrm>
          <a:prstGeom prst="rect">
            <a:avLst/>
          </a:prstGeom>
          <a:noFill/>
          <a:ln/>
        </p:spPr>
        <p:txBody>
          <a:bodyPr wrap="square" lIns="0" tIns="0" rIns="0" bIns="0" rtlCol="0" anchor="ctr"/>
          <a:lstStyle/>
          <a:p>
            <a:pPr algn="l" indent="0" marL="0">
              <a:buNone/>
            </a:pPr>
            <a:r>
              <a:rPr lang="en-US" sz="1000" b="1" spc="200" kern="0" dirty="0">
                <a:solidFill>
                  <a:srgbClr val="1E6B52"/>
                </a:solidFill>
                <a:latin typeface="Calibri" pitchFamily="34" charset="0"/>
                <a:cs typeface="Amiri" pitchFamily="2" charset="-78"/>
              </a:rPr>
              <a:t>FIND THE EVIDENCE</a:t>
            </a:r>
            <a:endParaRPr lang="en-US" sz="1000" dirty="0"/>
          </a:p>
        </p:txBody>
      </p:sp>
      <p:sp>
        <p:nvSpPr>
          <p:cNvPr id="92" name="Text 89"/>
          <p:cNvSpPr txBox="1"/>
          <p:nvPr/>
        </p:nvSpPr>
        <p:spPr>
          <a:xfrm>
            <a:off x="8278368" y="4590288"/>
            <a:ext cx="3270504" cy="1609344"/>
          </a:xfrm>
          <a:prstGeom prst="rect">
            <a:avLst/>
          </a:prstGeom>
          <a:noFill/>
          <a:ln/>
        </p:spPr>
        <p:txBody>
          <a:bodyPr wrap="square" lIns="0" tIns="0" rIns="0" bIns="0" rtlCol="0" anchor="t"/>
          <a:lstStyle/>
          <a:p>
            <a:pPr algn="l" indent="0" marL="0">
              <a:buNone/>
            </a:pPr>
            <a:r>
              <a:rPr lang="en-US" sz="1250" dirty="0">
                <a:solidFill>
                  <a:srgbClr val="1F2A37"/>
                </a:solidFill>
                <a:latin typeface="Calibri" pitchFamily="34" charset="0"/>
                <a:cs typeface="Amiri" pitchFamily="2" charset="-78"/>
              </a:rPr>
              <a:t>Point to the Arabic that proves it. Remember: these are three fictional families, not rules for a whole country.</a:t>
            </a:r>
            <a:endParaRPr lang="en-US" sz="1250" dirty="0"/>
          </a:p>
        </p:txBody>
      </p:sp>
      <p:sp>
        <p:nvSpPr>
          <p:cNvPr id="93" name="Text 9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27 / 37</a:t>
            </a:r>
            <a:endParaRPr lang="en-US" sz="850" dirty="0"/>
          </a:p>
        </p:txBody>
      </p:sp>
    </p:spTree>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name="Slide 28">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TB-L01 · Identity and Profiles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3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TOPIC B APPLICATION CHALLENGE (WEBSITE)</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Identity mystery</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تَحَدِّي التَّطْبِيقِ</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TB-L01</a:t>
            </a:r>
            <a:endParaRPr lang="en-US" sz="850" dirty="0"/>
          </a:p>
        </p:txBody>
      </p:sp>
      <p:sp>
        <p:nvSpPr>
          <p:cNvPr id="15" name="Shape 12"/>
          <p:cNvSpPr/>
          <p:nvPr/>
        </p:nvSpPr>
        <p:spPr>
          <a:xfrm>
            <a:off x="457200" y="1810512"/>
            <a:ext cx="5715000" cy="4498848"/>
          </a:xfrm>
          <a:prstGeom prst="roundRect">
            <a:avLst>
              <a:gd name="adj" fmla="val 1626"/>
            </a:avLst>
          </a:prstGeom>
          <a:solidFill>
            <a:srgbClr val="F4F1EA"/>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20240"/>
            <a:ext cx="3108960" cy="292608"/>
          </a:xfrm>
          <a:prstGeom prst="roundRect">
            <a:avLst>
              <a:gd name="adj" fmla="val 50000"/>
            </a:avLst>
          </a:prstGeom>
          <a:solidFill>
            <a:srgbClr val="8A6D1E"/>
          </a:solidFill>
          <a:ln w="12700">
            <a:solidFill>
              <a:srgbClr val="8A6D1E"/>
            </a:solidFill>
            <a:prstDash val="solid"/>
          </a:ln>
        </p:spPr>
      </p:sp>
      <p:sp>
        <p:nvSpPr>
          <p:cNvPr id="17" name="Text 14"/>
          <p:cNvSpPr txBox="1"/>
          <p:nvPr/>
        </p:nvSpPr>
        <p:spPr>
          <a:xfrm>
            <a:off x="640080" y="1920240"/>
            <a:ext cx="3108960" cy="292608"/>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TOPIC B CHALLENGE · WEBSITE</a:t>
            </a:r>
            <a:endParaRPr lang="en-US" sz="900" dirty="0"/>
          </a:p>
        </p:txBody>
      </p:sp>
      <p:sp>
        <p:nvSpPr>
          <p:cNvPr id="18" name="Text 15"/>
          <p:cNvSpPr txBox="1"/>
          <p:nvPr/>
        </p:nvSpPr>
        <p:spPr>
          <a:xfrm>
            <a:off x="640080" y="2286000"/>
            <a:ext cx="5349240" cy="502920"/>
          </a:xfrm>
          <a:prstGeom prst="rect">
            <a:avLst/>
          </a:prstGeom>
          <a:noFill/>
          <a:ln/>
        </p:spPr>
        <p:txBody>
          <a:bodyPr wrap="square" lIns="0" tIns="0" rIns="0" bIns="0" rtlCol="0" anchor="ctr"/>
          <a:lstStyle/>
          <a:p>
            <a:pPr algn="l" indent="0" marL="0">
              <a:buNone/>
            </a:pPr>
            <a:r>
              <a:rPr lang="en-US" sz="2200" b="1" dirty="0">
                <a:solidFill>
                  <a:srgbClr val="1B3B6F"/>
                </a:solidFill>
                <a:latin typeface="Calibri" pitchFamily="34" charset="0"/>
                <a:cs typeface="Amiri" pitchFamily="2" charset="-78"/>
              </a:rPr>
              <a:t>🪪  Identity mystery</a:t>
            </a:r>
            <a:endParaRPr lang="en-US" sz="2200" dirty="0"/>
          </a:p>
        </p:txBody>
      </p:sp>
      <p:sp>
        <p:nvSpPr>
          <p:cNvPr id="19" name="Text 16"/>
          <p:cNvSpPr txBox="1"/>
          <p:nvPr/>
        </p:nvSpPr>
        <p:spPr>
          <a:xfrm>
            <a:off x="640080" y="2816352"/>
            <a:ext cx="5349240" cy="1188720"/>
          </a:xfrm>
          <a:prstGeom prst="rect">
            <a:avLst/>
          </a:prstGeom>
          <a:noFill/>
          <a:ln/>
        </p:spPr>
        <p:txBody>
          <a:bodyPr wrap="square" lIns="0" tIns="0" rIns="0" bIns="0" rtlCol="0" anchor="t"/>
          <a:lstStyle/>
          <a:p>
            <a:pPr algn="l" indent="0" marL="0">
              <a:buNone/>
            </a:pPr>
            <a:r>
              <a:rPr lang="en-US" sz="1350" dirty="0">
                <a:solidFill>
                  <a:srgbClr val="1F2A37"/>
                </a:solidFill>
                <a:latin typeface="Calibri" pitchFamily="34" charset="0"/>
                <a:cs typeface="Amiri" pitchFamily="2" charset="-78"/>
              </a:rPr>
              <a:t>Create a six-clue personal profile using name, age, place, language, study and personality. A partner identifies the person and checks gender agreement.</a:t>
            </a:r>
            <a:endParaRPr lang="en-US" sz="1350" dirty="0"/>
          </a:p>
        </p:txBody>
      </p:sp>
      <p:sp>
        <p:nvSpPr>
          <p:cNvPr id="20" name="Text 17"/>
          <p:cNvSpPr txBox="1"/>
          <p:nvPr/>
        </p:nvSpPr>
        <p:spPr>
          <a:xfrm>
            <a:off x="640080" y="4041648"/>
            <a:ext cx="530352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HOW WE RUN IT ONLINE</a:t>
            </a:r>
            <a:endParaRPr lang="en-US" sz="950" dirty="0"/>
          </a:p>
        </p:txBody>
      </p:sp>
      <p:sp>
        <p:nvSpPr>
          <p:cNvPr id="21" name="Shape 18"/>
          <p:cNvSpPr/>
          <p:nvPr/>
        </p:nvSpPr>
        <p:spPr>
          <a:xfrm>
            <a:off x="658368" y="4407408"/>
            <a:ext cx="274320" cy="274320"/>
          </a:xfrm>
          <a:prstGeom prst="ellipse">
            <a:avLst/>
          </a:prstGeom>
          <a:solidFill>
            <a:srgbClr val="1B3B6F"/>
          </a:solidFill>
          <a:ln w="12700">
            <a:solidFill>
              <a:srgbClr val="1B3B6F"/>
            </a:solidFill>
            <a:prstDash val="solid"/>
          </a:ln>
        </p:spPr>
      </p:sp>
      <p:sp>
        <p:nvSpPr>
          <p:cNvPr id="22" name="Text 19"/>
          <p:cNvSpPr txBox="1"/>
          <p:nvPr/>
        </p:nvSpPr>
        <p:spPr>
          <a:xfrm>
            <a:off x="658368" y="44074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23" name="Text 20"/>
          <p:cNvSpPr txBox="1"/>
          <p:nvPr/>
        </p:nvSpPr>
        <p:spPr>
          <a:xfrm>
            <a:off x="1024128" y="43342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Each student writes six clues about themselves or an invented person (in the chat, privately to the teacher).</a:t>
            </a:r>
            <a:endParaRPr lang="en-US" sz="1150" dirty="0"/>
          </a:p>
        </p:txBody>
      </p:sp>
      <p:sp>
        <p:nvSpPr>
          <p:cNvPr id="24" name="Shape 21"/>
          <p:cNvSpPr/>
          <p:nvPr/>
        </p:nvSpPr>
        <p:spPr>
          <a:xfrm>
            <a:off x="658368" y="4864608"/>
            <a:ext cx="274320" cy="274320"/>
          </a:xfrm>
          <a:prstGeom prst="ellipse">
            <a:avLst/>
          </a:prstGeom>
          <a:solidFill>
            <a:srgbClr val="1B3B6F"/>
          </a:solidFill>
          <a:ln w="12700">
            <a:solidFill>
              <a:srgbClr val="1B3B6F"/>
            </a:solidFill>
            <a:prstDash val="solid"/>
          </a:ln>
        </p:spPr>
      </p:sp>
      <p:sp>
        <p:nvSpPr>
          <p:cNvPr id="25" name="Text 22"/>
          <p:cNvSpPr txBox="1"/>
          <p:nvPr/>
        </p:nvSpPr>
        <p:spPr>
          <a:xfrm>
            <a:off x="658368" y="48646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26" name="Text 23"/>
          <p:cNvSpPr txBox="1"/>
          <p:nvPr/>
        </p:nvSpPr>
        <p:spPr>
          <a:xfrm>
            <a:off x="1024128" y="47914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Teacher reads one profile aloud WITHOUT the name.</a:t>
            </a:r>
            <a:endParaRPr lang="en-US" sz="1150" dirty="0"/>
          </a:p>
        </p:txBody>
      </p:sp>
      <p:sp>
        <p:nvSpPr>
          <p:cNvPr id="27" name="Shape 24"/>
          <p:cNvSpPr/>
          <p:nvPr/>
        </p:nvSpPr>
        <p:spPr>
          <a:xfrm>
            <a:off x="658368" y="5321808"/>
            <a:ext cx="274320" cy="274320"/>
          </a:xfrm>
          <a:prstGeom prst="ellipse">
            <a:avLst/>
          </a:prstGeom>
          <a:solidFill>
            <a:srgbClr val="1B3B6F"/>
          </a:solidFill>
          <a:ln w="12700">
            <a:solidFill>
              <a:srgbClr val="1B3B6F"/>
            </a:solidFill>
            <a:prstDash val="solid"/>
          </a:ln>
        </p:spPr>
      </p:sp>
      <p:sp>
        <p:nvSpPr>
          <p:cNvPr id="28" name="Text 25"/>
          <p:cNvSpPr txBox="1"/>
          <p:nvPr/>
        </p:nvSpPr>
        <p:spPr>
          <a:xfrm>
            <a:off x="658368" y="53218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3</a:t>
            </a:r>
            <a:endParaRPr lang="en-US" sz="1000" dirty="0"/>
          </a:p>
        </p:txBody>
      </p:sp>
      <p:sp>
        <p:nvSpPr>
          <p:cNvPr id="29" name="Text 26"/>
          <p:cNvSpPr txBox="1"/>
          <p:nvPr/>
        </p:nvSpPr>
        <p:spPr>
          <a:xfrm>
            <a:off x="1024128" y="52486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The class guesses who it is, then checks the gender agreement (-a / -iyya).</a:t>
            </a:r>
            <a:endParaRPr lang="en-US" sz="1150" dirty="0"/>
          </a:p>
        </p:txBody>
      </p:sp>
      <p:sp>
        <p:nvSpPr>
          <p:cNvPr id="30" name="Shape 27"/>
          <p:cNvSpPr/>
          <p:nvPr/>
        </p:nvSpPr>
        <p:spPr>
          <a:xfrm>
            <a:off x="658368" y="5779008"/>
            <a:ext cx="274320" cy="274320"/>
          </a:xfrm>
          <a:prstGeom prst="ellipse">
            <a:avLst/>
          </a:prstGeom>
          <a:solidFill>
            <a:srgbClr val="1B3B6F"/>
          </a:solidFill>
          <a:ln w="12700">
            <a:solidFill>
              <a:srgbClr val="1B3B6F"/>
            </a:solidFill>
            <a:prstDash val="solid"/>
          </a:ln>
        </p:spPr>
      </p:sp>
      <p:sp>
        <p:nvSpPr>
          <p:cNvPr id="31" name="Text 28"/>
          <p:cNvSpPr txBox="1"/>
          <p:nvPr/>
        </p:nvSpPr>
        <p:spPr>
          <a:xfrm>
            <a:off x="658368" y="5779008"/>
            <a:ext cx="274320" cy="274320"/>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4</a:t>
            </a:r>
            <a:endParaRPr lang="en-US" sz="1000" dirty="0"/>
          </a:p>
        </p:txBody>
      </p:sp>
      <p:sp>
        <p:nvSpPr>
          <p:cNvPr id="32" name="Text 29"/>
          <p:cNvSpPr txBox="1"/>
          <p:nvPr/>
        </p:nvSpPr>
        <p:spPr>
          <a:xfrm>
            <a:off x="1024128" y="5705856"/>
            <a:ext cx="4983480" cy="457200"/>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Two more rounds; the class picks the clearest clue.</a:t>
            </a:r>
            <a:endParaRPr lang="en-US" sz="1150" dirty="0"/>
          </a:p>
        </p:txBody>
      </p:sp>
      <p:sp>
        <p:nvSpPr>
          <p:cNvPr id="33" name="Shape 30"/>
          <p:cNvSpPr/>
          <p:nvPr/>
        </p:nvSpPr>
        <p:spPr>
          <a:xfrm>
            <a:off x="6355080" y="1810512"/>
            <a:ext cx="5376672" cy="896112"/>
          </a:xfrm>
          <a:prstGeom prst="roundRect">
            <a:avLst>
              <a:gd name="adj" fmla="val 8163"/>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1"/>
          <p:cNvSpPr/>
          <p:nvPr/>
        </p:nvSpPr>
        <p:spPr>
          <a:xfrm>
            <a:off x="6473952" y="1901952"/>
            <a:ext cx="1051560" cy="256032"/>
          </a:xfrm>
          <a:prstGeom prst="roundRect">
            <a:avLst>
              <a:gd name="adj" fmla="val 50000"/>
            </a:avLst>
          </a:prstGeom>
          <a:solidFill>
            <a:srgbClr val="2E8B57"/>
          </a:solidFill>
          <a:ln w="12700">
            <a:solidFill>
              <a:srgbClr val="2E8B57"/>
            </a:solidFill>
            <a:prstDash val="solid"/>
          </a:ln>
        </p:spPr>
      </p:sp>
      <p:sp>
        <p:nvSpPr>
          <p:cNvPr id="35" name="Text 32"/>
          <p:cNvSpPr txBox="1"/>
          <p:nvPr/>
        </p:nvSpPr>
        <p:spPr>
          <a:xfrm>
            <a:off x="6473952" y="190195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3"/>
          <p:cNvSpPr txBox="1"/>
          <p:nvPr/>
        </p:nvSpPr>
        <p:spPr>
          <a:xfrm>
            <a:off x="6473952" y="217627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Three clues: name → age → one language (ismī / ‘umrī / atakallamu).</a:t>
            </a:r>
            <a:endParaRPr lang="en-US" sz="1150" dirty="0"/>
          </a:p>
        </p:txBody>
      </p:sp>
      <p:sp>
        <p:nvSpPr>
          <p:cNvPr id="37" name="Shape 34"/>
          <p:cNvSpPr/>
          <p:nvPr/>
        </p:nvSpPr>
        <p:spPr>
          <a:xfrm>
            <a:off x="6355080" y="2816352"/>
            <a:ext cx="5376672" cy="896112"/>
          </a:xfrm>
          <a:prstGeom prst="roundRect">
            <a:avLst>
              <a:gd name="adj" fmla="val 8163"/>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5"/>
          <p:cNvSpPr/>
          <p:nvPr/>
        </p:nvSpPr>
        <p:spPr>
          <a:xfrm>
            <a:off x="6473952" y="2907792"/>
            <a:ext cx="1051560" cy="256032"/>
          </a:xfrm>
          <a:prstGeom prst="roundRect">
            <a:avLst>
              <a:gd name="adj" fmla="val 50000"/>
            </a:avLst>
          </a:prstGeom>
          <a:solidFill>
            <a:srgbClr val="C9780A"/>
          </a:solidFill>
          <a:ln w="12700">
            <a:solidFill>
              <a:srgbClr val="C9780A"/>
            </a:solidFill>
            <a:prstDash val="solid"/>
          </a:ln>
        </p:spPr>
      </p:sp>
      <p:sp>
        <p:nvSpPr>
          <p:cNvPr id="39" name="Text 36"/>
          <p:cNvSpPr txBox="1"/>
          <p:nvPr/>
        </p:nvSpPr>
        <p:spPr>
          <a:xfrm>
            <a:off x="6473952" y="290779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7"/>
          <p:cNvSpPr txBox="1"/>
          <p:nvPr/>
        </p:nvSpPr>
        <p:spPr>
          <a:xfrm>
            <a:off x="6473952" y="318211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Six clues in the third person: he / she (-hu / -hā, ya- / ta-).</a:t>
            </a:r>
            <a:endParaRPr lang="en-US" sz="1150" dirty="0"/>
          </a:p>
        </p:txBody>
      </p:sp>
      <p:sp>
        <p:nvSpPr>
          <p:cNvPr id="41" name="Shape 38"/>
          <p:cNvSpPr/>
          <p:nvPr/>
        </p:nvSpPr>
        <p:spPr>
          <a:xfrm>
            <a:off x="6355080" y="3822192"/>
            <a:ext cx="5376672" cy="896112"/>
          </a:xfrm>
          <a:prstGeom prst="roundRect">
            <a:avLst>
              <a:gd name="adj" fmla="val 8163"/>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6473952" y="3913632"/>
            <a:ext cx="1051560" cy="256032"/>
          </a:xfrm>
          <a:prstGeom prst="roundRect">
            <a:avLst>
              <a:gd name="adj" fmla="val 50000"/>
            </a:avLst>
          </a:prstGeom>
          <a:solidFill>
            <a:srgbClr val="B83227"/>
          </a:solidFill>
          <a:ln w="12700">
            <a:solidFill>
              <a:srgbClr val="B83227"/>
            </a:solidFill>
            <a:prstDash val="solid"/>
          </a:ln>
        </p:spPr>
      </p:sp>
      <p:sp>
        <p:nvSpPr>
          <p:cNvPr id="43" name="Text 40"/>
          <p:cNvSpPr txBox="1"/>
          <p:nvPr/>
        </p:nvSpPr>
        <p:spPr>
          <a:xfrm>
            <a:off x="6473952" y="3913632"/>
            <a:ext cx="1051560" cy="256032"/>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1"/>
          <p:cNvSpPr txBox="1"/>
          <p:nvPr/>
        </p:nvSpPr>
        <p:spPr>
          <a:xfrm>
            <a:off x="6473952" y="4187952"/>
            <a:ext cx="5120640" cy="475488"/>
          </a:xfrm>
          <a:prstGeom prst="rect">
            <a:avLst/>
          </a:prstGeom>
          <a:noFill/>
          <a:ln/>
        </p:spPr>
        <p:txBody>
          <a:bodyPr wrap="square" lIns="0" tIns="0" rIns="0" bIns="0" rtlCol="0" anchor="ctr"/>
          <a:lstStyle/>
          <a:p>
            <a:pPr algn="l" indent="0" marL="0">
              <a:buNone/>
            </a:pPr>
            <a:r>
              <a:rPr lang="en-US" sz="1150" dirty="0">
                <a:solidFill>
                  <a:srgbClr val="1F2A37"/>
                </a:solidFill>
                <a:latin typeface="Calibri" pitchFamily="34" charset="0"/>
                <a:cs typeface="Amiri" pitchFamily="2" charset="-78"/>
              </a:rPr>
              <a:t>Six clues including personality and study, with a “but” (lākinna).</a:t>
            </a:r>
            <a:endParaRPr lang="en-US" sz="1150" dirty="0"/>
          </a:p>
        </p:txBody>
      </p:sp>
      <p:sp>
        <p:nvSpPr>
          <p:cNvPr id="45" name="Shape 42"/>
          <p:cNvSpPr/>
          <p:nvPr/>
        </p:nvSpPr>
        <p:spPr>
          <a:xfrm>
            <a:off x="6355080" y="4828032"/>
            <a:ext cx="5376672" cy="1481328"/>
          </a:xfrm>
          <a:prstGeom prst="roundRect">
            <a:avLst>
              <a:gd name="adj" fmla="val 4938"/>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Text 43"/>
          <p:cNvSpPr txBox="1"/>
          <p:nvPr/>
        </p:nvSpPr>
        <p:spPr>
          <a:xfrm>
            <a:off x="6492240" y="4882896"/>
            <a:ext cx="27432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USEFUL LANGUAGE</a:t>
            </a:r>
            <a:endParaRPr lang="en-US" sz="950" dirty="0"/>
          </a:p>
        </p:txBody>
      </p:sp>
      <p:sp>
        <p:nvSpPr>
          <p:cNvPr id="47" name="Text 44"/>
          <p:cNvSpPr txBox="1"/>
          <p:nvPr/>
        </p:nvSpPr>
        <p:spPr>
          <a:xfrm>
            <a:off x="8732520" y="5138928"/>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عُمْرُهُ / عُمْرُهَا …</a:t>
            </a:r>
            <a:endParaRPr lang="ar-SA" sz="1300" dirty="0"/>
          </a:p>
        </p:txBody>
      </p:sp>
      <p:sp>
        <p:nvSpPr>
          <p:cNvPr id="48" name="Text 45"/>
          <p:cNvSpPr txBox="1"/>
          <p:nvPr/>
        </p:nvSpPr>
        <p:spPr>
          <a:xfrm>
            <a:off x="6492240" y="5138928"/>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he / she is … years old</a:t>
            </a:r>
            <a:endParaRPr lang="en-US" sz="1000" dirty="0"/>
          </a:p>
        </p:txBody>
      </p:sp>
      <p:sp>
        <p:nvSpPr>
          <p:cNvPr id="49" name="Text 46"/>
          <p:cNvSpPr txBox="1"/>
          <p:nvPr/>
        </p:nvSpPr>
        <p:spPr>
          <a:xfrm>
            <a:off x="8732520" y="5422392"/>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هُوَ مِصْرِيٌّ / هِيَ مِصْرِيَّةٌ</a:t>
            </a:r>
            <a:endParaRPr lang="ar-SA" sz="1300" dirty="0"/>
          </a:p>
        </p:txBody>
      </p:sp>
      <p:sp>
        <p:nvSpPr>
          <p:cNvPr id="50" name="Text 47"/>
          <p:cNvSpPr txBox="1"/>
          <p:nvPr/>
        </p:nvSpPr>
        <p:spPr>
          <a:xfrm>
            <a:off x="6492240" y="5422392"/>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he / she is Egyptian</a:t>
            </a:r>
            <a:endParaRPr lang="en-US" sz="1000" dirty="0"/>
          </a:p>
        </p:txBody>
      </p:sp>
      <p:sp>
        <p:nvSpPr>
          <p:cNvPr id="51" name="Text 48"/>
          <p:cNvSpPr txBox="1"/>
          <p:nvPr/>
        </p:nvSpPr>
        <p:spPr>
          <a:xfrm>
            <a:off x="8732520" y="5705856"/>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يَتَكَلَّمُ / تَتَكَلَّمُ …</a:t>
            </a:r>
            <a:endParaRPr lang="ar-SA" sz="1300" dirty="0"/>
          </a:p>
        </p:txBody>
      </p:sp>
      <p:sp>
        <p:nvSpPr>
          <p:cNvPr id="52" name="Text 49"/>
          <p:cNvSpPr txBox="1"/>
          <p:nvPr/>
        </p:nvSpPr>
        <p:spPr>
          <a:xfrm>
            <a:off x="6492240" y="5705856"/>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he / she speaks …</a:t>
            </a:r>
            <a:endParaRPr lang="en-US" sz="1000" dirty="0"/>
          </a:p>
        </p:txBody>
      </p:sp>
      <p:sp>
        <p:nvSpPr>
          <p:cNvPr id="53" name="Text 50"/>
          <p:cNvSpPr txBox="1"/>
          <p:nvPr/>
        </p:nvSpPr>
        <p:spPr>
          <a:xfrm>
            <a:off x="8732520" y="5989320"/>
            <a:ext cx="2880360" cy="283464"/>
          </a:xfrm>
          <a:prstGeom prst="rect">
            <a:avLst/>
          </a:prstGeom>
          <a:noFill/>
          <a:ln/>
        </p:spPr>
        <p:txBody>
          <a:bodyPr wrap="square" lIns="0" tIns="0" rIns="0" bIns="0" rtlCol="0" anchor="ctr"/>
          <a:lstStyle/>
          <a:p>
            <a:pPr rtl="1" algn="r" indent="0" marL="0">
              <a:buNone/>
            </a:pPr>
            <a:r>
              <a:rPr lang="ar-SA" altLang="en-US" sz="1300" b="1" dirty="0">
                <a:solidFill>
                  <a:srgbClr val="1B3B6F"/>
                </a:solidFill>
                <a:latin typeface="Amiri" pitchFamily="2" charset="-78"/>
                <a:ea typeface="Amiri" pitchFamily="2" charset="-78"/>
                <a:cs typeface="Amiri" pitchFamily="2" charset="-78"/>
              </a:rPr>
              <a:t>يَدْرُسُ / تَدْرُسُ …</a:t>
            </a:r>
            <a:endParaRPr lang="ar-SA" sz="1300" dirty="0"/>
          </a:p>
        </p:txBody>
      </p:sp>
      <p:sp>
        <p:nvSpPr>
          <p:cNvPr id="54" name="Text 51"/>
          <p:cNvSpPr txBox="1"/>
          <p:nvPr/>
        </p:nvSpPr>
        <p:spPr>
          <a:xfrm>
            <a:off x="6492240" y="5989320"/>
            <a:ext cx="2194560" cy="283464"/>
          </a:xfrm>
          <a:prstGeom prst="rect">
            <a:avLst/>
          </a:prstGeom>
          <a:noFill/>
          <a:ln/>
        </p:spPr>
        <p:txBody>
          <a:bodyPr wrap="square" lIns="0" tIns="0" rIns="0" bIns="0" rtlCol="0" anchor="ctr"/>
          <a:lstStyle/>
          <a:p>
            <a:pPr algn="l" indent="0" marL="0">
              <a:buNone/>
            </a:pPr>
            <a:r>
              <a:rPr lang="en-US" sz="1000" i="1" dirty="0">
                <a:solidFill>
                  <a:srgbClr val="5A6472"/>
                </a:solidFill>
                <a:latin typeface="Calibri" pitchFamily="34" charset="0"/>
                <a:cs typeface="Amiri" pitchFamily="2" charset="-78"/>
              </a:rPr>
              <a:t>he / she studies …</a:t>
            </a:r>
            <a:endParaRPr lang="en-US" sz="1000" dirty="0"/>
          </a:p>
        </p:txBody>
      </p:sp>
      <p:sp>
        <p:nvSpPr>
          <p:cNvPr id="55" name="Text 52"/>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28 / 37</a:t>
            </a:r>
            <a:endParaRPr lang="en-US" sz="850" dirty="0"/>
          </a:p>
        </p:txBody>
      </p:sp>
    </p:spTree>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name="Slide 29">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TB-L01 · Identity and Profiles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Shape 8"/>
          <p:cNvSpPr/>
          <p:nvPr/>
        </p:nvSpPr>
        <p:spPr>
          <a:xfrm>
            <a:off x="6291072" y="274320"/>
            <a:ext cx="960120" cy="329184"/>
          </a:xfrm>
          <a:prstGeom prst="roundRect">
            <a:avLst>
              <a:gd name="adj" fmla="val 50000"/>
            </a:avLst>
          </a:prstGeom>
          <a:solidFill>
            <a:srgbClr val="FFFDF8"/>
          </a:solidFill>
          <a:ln w="12700">
            <a:solidFill>
              <a:srgbClr val="5A6472"/>
            </a:solidFill>
            <a:prstDash val="dash"/>
          </a:ln>
        </p:spPr>
      </p:sp>
      <p:sp>
        <p:nvSpPr>
          <p:cNvPr id="11" name="Text 9"/>
          <p:cNvSpPr txBox="1"/>
          <p:nvPr/>
        </p:nvSpPr>
        <p:spPr>
          <a:xfrm>
            <a:off x="6291072" y="274320"/>
            <a:ext cx="960120" cy="329184"/>
          </a:xfrm>
          <a:prstGeom prst="rect">
            <a:avLst/>
          </a:prstGeom>
          <a:noFill/>
          <a:ln/>
        </p:spPr>
        <p:txBody>
          <a:bodyPr wrap="square" lIns="0" tIns="0" rIns="0" bIns="0" rtlCol="0" anchor="ctr"/>
          <a:lstStyle/>
          <a:p>
            <a:pPr algn="ctr" indent="0" marL="0">
              <a:buNone/>
            </a:pPr>
            <a:r>
              <a:rPr lang="en-US" sz="850" b="1" spc="100" kern="0" dirty="0">
                <a:solidFill>
                  <a:srgbClr val="5A6472"/>
                </a:solidFill>
                <a:latin typeface="Calibri" pitchFamily="34" charset="0"/>
                <a:cs typeface="Amiri" pitchFamily="2" charset="-78"/>
              </a:rPr>
              <a:t>FLEX</a:t>
            </a:r>
            <a:endParaRPr lang="en-US" sz="850" dirty="0"/>
          </a:p>
        </p:txBody>
      </p:sp>
      <p:sp>
        <p:nvSpPr>
          <p:cNvPr id="12" name="Text 10"/>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SAY IT BEFORE YOU WRITE IT · FLEX</a:t>
            </a:r>
            <a:endParaRPr lang="en-US" sz="1000" dirty="0"/>
          </a:p>
        </p:txBody>
      </p:sp>
      <p:sp>
        <p:nvSpPr>
          <p:cNvPr id="13" name="Text 11"/>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550" b="1" dirty="0">
                <a:solidFill>
                  <a:srgbClr val="1B3B6F"/>
                </a:solidFill>
                <a:latin typeface="Cambria" pitchFamily="34" charset="0"/>
                <a:cs typeface="Amiri" pitchFamily="2" charset="-78"/>
              </a:rPr>
              <a:t>Present a respectful cultural profile</a:t>
            </a:r>
            <a:endParaRPr lang="en-US" sz="2550" dirty="0"/>
          </a:p>
        </p:txBody>
      </p:sp>
      <p:sp>
        <p:nvSpPr>
          <p:cNvPr id="14" name="Text 12"/>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التَّحَدُّثُ</a:t>
            </a:r>
            <a:endParaRPr lang="ar-SA" sz="2800" dirty="0"/>
          </a:p>
        </p:txBody>
      </p:sp>
      <p:sp>
        <p:nvSpPr>
          <p:cNvPr id="15" name="Text 13"/>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TB-L01</a:t>
            </a:r>
            <a:endParaRPr lang="en-US" sz="850" dirty="0"/>
          </a:p>
        </p:txBody>
      </p:sp>
      <p:sp>
        <p:nvSpPr>
          <p:cNvPr id="17" name="Shape 14"/>
          <p:cNvSpPr/>
          <p:nvPr/>
        </p:nvSpPr>
        <p:spPr>
          <a:xfrm>
            <a:off x="457200" y="1810512"/>
            <a:ext cx="2185416" cy="566928"/>
          </a:xfrm>
          <a:prstGeom prst="roundRect">
            <a:avLst>
              <a:gd name="adj" fmla="val 12903"/>
            </a:avLst>
          </a:prstGeom>
          <a:solidFill>
            <a:srgbClr val="EEF3FA"/>
          </a:solidFill>
          <a:ln w="9525">
            <a:solidFill>
              <a:srgbClr val="C9D6EA"/>
            </a:solidFill>
            <a:prstDash val="solid"/>
          </a:ln>
        </p:spPr>
      </p:sp>
      <p:sp>
        <p:nvSpPr>
          <p:cNvPr id="18" name="Text 15"/>
          <p:cNvSpPr txBox="1"/>
          <p:nvPr/>
        </p:nvSpPr>
        <p:spPr>
          <a:xfrm>
            <a:off x="512064"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19" name="Text 16"/>
          <p:cNvSpPr txBox="1"/>
          <p:nvPr/>
        </p:nvSpPr>
        <p:spPr>
          <a:xfrm>
            <a:off x="914400"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Think</a:t>
            </a:r>
            <a:endParaRPr lang="en-US" sz="1050" dirty="0"/>
          </a:p>
          <a:p>
            <a:pPr indent="0" marL="0">
              <a:buNone/>
            </a:pPr>
            <a:r>
              <a:rPr lang="en-US" sz="950" dirty="0">
                <a:solidFill>
                  <a:srgbClr val="5A6472"/>
                </a:solidFill>
                <a:latin typeface="Calibri" pitchFamily="34" charset="0"/>
                <a:cs typeface="Amiri" pitchFamily="2" charset="-78"/>
              </a:rPr>
              <a:t>10 seconds</a:t>
            </a:r>
            <a:endParaRPr lang="en-US" sz="1050" dirty="0"/>
          </a:p>
        </p:txBody>
      </p:sp>
      <p:sp>
        <p:nvSpPr>
          <p:cNvPr id="20" name="Shape 17"/>
          <p:cNvSpPr/>
          <p:nvPr/>
        </p:nvSpPr>
        <p:spPr>
          <a:xfrm>
            <a:off x="2729484" y="1810512"/>
            <a:ext cx="2185416" cy="566928"/>
          </a:xfrm>
          <a:prstGeom prst="roundRect">
            <a:avLst>
              <a:gd name="adj" fmla="val 12903"/>
            </a:avLst>
          </a:prstGeom>
          <a:solidFill>
            <a:srgbClr val="EEF3FA"/>
          </a:solidFill>
          <a:ln w="9525">
            <a:solidFill>
              <a:srgbClr val="C9D6EA"/>
            </a:solidFill>
            <a:prstDash val="solid"/>
          </a:ln>
        </p:spPr>
      </p:sp>
      <p:sp>
        <p:nvSpPr>
          <p:cNvPr id="21" name="Text 18"/>
          <p:cNvSpPr txBox="1"/>
          <p:nvPr/>
        </p:nvSpPr>
        <p:spPr>
          <a:xfrm>
            <a:off x="2784348"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2" name="Text 19"/>
          <p:cNvSpPr txBox="1"/>
          <p:nvPr/>
        </p:nvSpPr>
        <p:spPr>
          <a:xfrm>
            <a:off x="3186684"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Rehearse</a:t>
            </a:r>
            <a:endParaRPr lang="en-US" sz="1050" dirty="0"/>
          </a:p>
          <a:p>
            <a:pPr indent="0" marL="0">
              <a:buNone/>
            </a:pPr>
            <a:r>
              <a:rPr lang="en-US" sz="950" dirty="0">
                <a:solidFill>
                  <a:srgbClr val="5A6472"/>
                </a:solidFill>
                <a:latin typeface="Calibri" pitchFamily="34" charset="0"/>
                <a:cs typeface="Amiri" pitchFamily="2" charset="-78"/>
              </a:rPr>
              <a:t>muted · 45 s</a:t>
            </a:r>
            <a:endParaRPr lang="en-US" sz="1050" dirty="0"/>
          </a:p>
        </p:txBody>
      </p:sp>
      <p:sp>
        <p:nvSpPr>
          <p:cNvPr id="23" name="Shape 20"/>
          <p:cNvSpPr/>
          <p:nvPr/>
        </p:nvSpPr>
        <p:spPr>
          <a:xfrm>
            <a:off x="5001768" y="1810512"/>
            <a:ext cx="2185416" cy="566928"/>
          </a:xfrm>
          <a:prstGeom prst="roundRect">
            <a:avLst>
              <a:gd name="adj" fmla="val 12903"/>
            </a:avLst>
          </a:prstGeom>
          <a:solidFill>
            <a:srgbClr val="EEF3FA"/>
          </a:solidFill>
          <a:ln w="9525">
            <a:solidFill>
              <a:srgbClr val="C9D6EA"/>
            </a:solidFill>
            <a:prstDash val="solid"/>
          </a:ln>
        </p:spPr>
      </p:sp>
      <p:sp>
        <p:nvSpPr>
          <p:cNvPr id="24" name="Text 21"/>
          <p:cNvSpPr txBox="1"/>
          <p:nvPr/>
        </p:nvSpPr>
        <p:spPr>
          <a:xfrm>
            <a:off x="5056632"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25" name="Text 22"/>
          <p:cNvSpPr txBox="1"/>
          <p:nvPr/>
        </p:nvSpPr>
        <p:spPr>
          <a:xfrm>
            <a:off x="5458968"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Pairs share</a:t>
            </a:r>
            <a:endParaRPr lang="en-US" sz="1050" dirty="0"/>
          </a:p>
          <a:p>
            <a:pPr indent="0" marL="0">
              <a:buNone/>
            </a:pPr>
            <a:r>
              <a:rPr lang="en-US" sz="950" dirty="0">
                <a:solidFill>
                  <a:srgbClr val="5A6472"/>
                </a:solidFill>
                <a:latin typeface="Calibri" pitchFamily="34" charset="0"/>
                <a:cs typeface="Amiri" pitchFamily="2" charset="-78"/>
              </a:rPr>
              <a:t>open mic</a:t>
            </a:r>
            <a:endParaRPr lang="en-US" sz="1050" dirty="0"/>
          </a:p>
        </p:txBody>
      </p:sp>
      <p:sp>
        <p:nvSpPr>
          <p:cNvPr id="26" name="Shape 23"/>
          <p:cNvSpPr/>
          <p:nvPr/>
        </p:nvSpPr>
        <p:spPr>
          <a:xfrm>
            <a:off x="7274052" y="1810512"/>
            <a:ext cx="2185416" cy="566928"/>
          </a:xfrm>
          <a:prstGeom prst="roundRect">
            <a:avLst>
              <a:gd name="adj" fmla="val 12903"/>
            </a:avLst>
          </a:prstGeom>
          <a:solidFill>
            <a:srgbClr val="EEF3FA"/>
          </a:solidFill>
          <a:ln w="9525">
            <a:solidFill>
              <a:srgbClr val="C9D6EA"/>
            </a:solidFill>
            <a:prstDash val="solid"/>
          </a:ln>
        </p:spPr>
      </p:sp>
      <p:sp>
        <p:nvSpPr>
          <p:cNvPr id="27" name="Text 24"/>
          <p:cNvSpPr txBox="1"/>
          <p:nvPr/>
        </p:nvSpPr>
        <p:spPr>
          <a:xfrm>
            <a:off x="7328916"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 ?</a:t>
            </a:r>
            <a:endParaRPr lang="en-US" sz="1800" dirty="0"/>
          </a:p>
        </p:txBody>
      </p:sp>
      <p:sp>
        <p:nvSpPr>
          <p:cNvPr id="28" name="Text 25"/>
          <p:cNvSpPr txBox="1"/>
          <p:nvPr/>
        </p:nvSpPr>
        <p:spPr>
          <a:xfrm>
            <a:off x="7731252"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Build / ask</a:t>
            </a:r>
            <a:endParaRPr lang="en-US" sz="1050" dirty="0"/>
          </a:p>
          <a:p>
            <a:pPr indent="0" marL="0">
              <a:buNone/>
            </a:pPr>
            <a:r>
              <a:rPr lang="en-US" sz="950" dirty="0">
                <a:solidFill>
                  <a:srgbClr val="5A6472"/>
                </a:solidFill>
                <a:latin typeface="Calibri" pitchFamily="34" charset="0"/>
                <a:cs typeface="Amiri" pitchFamily="2" charset="-78"/>
              </a:rPr>
              <a:t>in the chat</a:t>
            </a:r>
            <a:endParaRPr lang="en-US" sz="1050" dirty="0"/>
          </a:p>
        </p:txBody>
      </p:sp>
      <p:sp>
        <p:nvSpPr>
          <p:cNvPr id="29" name="Shape 26"/>
          <p:cNvSpPr/>
          <p:nvPr/>
        </p:nvSpPr>
        <p:spPr>
          <a:xfrm>
            <a:off x="9546336" y="1810512"/>
            <a:ext cx="2185416" cy="566928"/>
          </a:xfrm>
          <a:prstGeom prst="roundRect">
            <a:avLst>
              <a:gd name="adj" fmla="val 12903"/>
            </a:avLst>
          </a:prstGeom>
          <a:solidFill>
            <a:srgbClr val="EEF3FA"/>
          </a:solidFill>
          <a:ln w="9525">
            <a:solidFill>
              <a:srgbClr val="C9D6EA"/>
            </a:solidFill>
            <a:prstDash val="solid"/>
          </a:ln>
        </p:spPr>
      </p:sp>
      <p:sp>
        <p:nvSpPr>
          <p:cNvPr id="30" name="Text 27"/>
          <p:cNvSpPr txBox="1"/>
          <p:nvPr/>
        </p:nvSpPr>
        <p:spPr>
          <a:xfrm>
            <a:off x="9601200" y="1810512"/>
            <a:ext cx="384048" cy="566928"/>
          </a:xfrm>
          <a:prstGeom prst="rect">
            <a:avLst/>
          </a:prstGeom>
          <a:noFill/>
          <a:ln/>
        </p:spPr>
        <p:txBody>
          <a:bodyPr wrap="square" lIns="0" tIns="0" rIns="0" bIns="0" rtlCol="0" anchor="ctr"/>
          <a:lstStyle/>
          <a:p>
            <a:pPr algn="ctr" indent="0" marL="0">
              <a:buNone/>
            </a:pPr>
            <a:r>
              <a:rPr lang="en-US" sz="1800" b="1" dirty="0">
                <a:solidFill>
                  <a:srgbClr val="1B3B6F"/>
                </a:solidFill>
                <a:latin typeface="Arial" pitchFamily="34" charset="0"/>
                <a:cs typeface="Amiri" pitchFamily="2" charset="-78"/>
              </a:rPr>
              <a:t>↺</a:t>
            </a:r>
            <a:endParaRPr lang="en-US" sz="1800" dirty="0"/>
          </a:p>
        </p:txBody>
      </p:sp>
      <p:sp>
        <p:nvSpPr>
          <p:cNvPr id="31" name="Text 28"/>
          <p:cNvSpPr txBox="1"/>
          <p:nvPr/>
        </p:nvSpPr>
        <p:spPr>
          <a:xfrm>
            <a:off x="10003536" y="1810512"/>
            <a:ext cx="1682496" cy="566928"/>
          </a:xfrm>
          <a:prstGeom prst="rect">
            <a:avLst/>
          </a:prstGeom>
          <a:noFill/>
          <a:ln/>
        </p:spPr>
        <p:txBody>
          <a:bodyPr wrap="square" lIns="0" tIns="0" rIns="0" bIns="0" rtlCol="0" anchor="ctr"/>
          <a:lstStyle/>
          <a:p>
            <a:pPr indent="0" marL="0">
              <a:buNone/>
            </a:pPr>
            <a:r>
              <a:rPr lang="en-US" sz="1050" b="1" dirty="0">
                <a:solidFill>
                  <a:srgbClr val="1B3B6F"/>
                </a:solidFill>
                <a:latin typeface="Calibri" pitchFamily="34" charset="0"/>
                <a:cs typeface="Amiri" pitchFamily="2" charset="-78"/>
              </a:rPr>
              <a:t>Summarise</a:t>
            </a:r>
            <a:endParaRPr lang="en-US" sz="1050" dirty="0"/>
          </a:p>
          <a:p>
            <a:pPr indent="0" marL="0">
              <a:buNone/>
            </a:pPr>
            <a:r>
              <a:rPr lang="en-US" sz="950" dirty="0">
                <a:solidFill>
                  <a:srgbClr val="5A6472"/>
                </a:solidFill>
                <a:latin typeface="Calibri" pitchFamily="34" charset="0"/>
                <a:cs typeface="Amiri" pitchFamily="2" charset="-78"/>
              </a:rPr>
              <a:t>he / she …</a:t>
            </a:r>
            <a:endParaRPr lang="en-US" sz="1050" dirty="0"/>
          </a:p>
        </p:txBody>
      </p:sp>
      <p:sp>
        <p:nvSpPr>
          <p:cNvPr id="32" name="Shape 29"/>
          <p:cNvSpPr/>
          <p:nvPr/>
        </p:nvSpPr>
        <p:spPr>
          <a:xfrm>
            <a:off x="4754880" y="2487168"/>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3" name="Shape 30"/>
          <p:cNvSpPr/>
          <p:nvPr/>
        </p:nvSpPr>
        <p:spPr>
          <a:xfrm>
            <a:off x="4846320" y="2642616"/>
            <a:ext cx="960120" cy="256032"/>
          </a:xfrm>
          <a:prstGeom prst="roundRect">
            <a:avLst>
              <a:gd name="adj" fmla="val 50000"/>
            </a:avLst>
          </a:prstGeom>
          <a:solidFill>
            <a:srgbClr val="2E8B57"/>
          </a:solidFill>
          <a:ln w="12700">
            <a:solidFill>
              <a:srgbClr val="2E8B57"/>
            </a:solidFill>
            <a:prstDash val="solid"/>
          </a:ln>
        </p:spPr>
      </p:sp>
      <p:sp>
        <p:nvSpPr>
          <p:cNvPr id="34" name="Text 31"/>
          <p:cNvSpPr txBox="1"/>
          <p:nvPr/>
        </p:nvSpPr>
        <p:spPr>
          <a:xfrm>
            <a:off x="4846320" y="2642616"/>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35" name="Text 32"/>
          <p:cNvSpPr txBox="1"/>
          <p:nvPr/>
        </p:nvSpPr>
        <p:spPr>
          <a:xfrm>
            <a:off x="5897880" y="2487168"/>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كَيْفَ تُسَلِّمُ هَذِهِ العَائِلَةُ؟</a:t>
            </a:r>
            <a:endParaRPr lang="ar-SA" sz="1800" dirty="0"/>
          </a:p>
        </p:txBody>
      </p:sp>
      <p:sp>
        <p:nvSpPr>
          <p:cNvPr id="36" name="Shape 33"/>
          <p:cNvSpPr/>
          <p:nvPr/>
        </p:nvSpPr>
        <p:spPr>
          <a:xfrm>
            <a:off x="4754880" y="3108960"/>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7" name="Shape 34"/>
          <p:cNvSpPr/>
          <p:nvPr/>
        </p:nvSpPr>
        <p:spPr>
          <a:xfrm>
            <a:off x="4846320" y="3264408"/>
            <a:ext cx="960120" cy="256032"/>
          </a:xfrm>
          <a:prstGeom prst="roundRect">
            <a:avLst>
              <a:gd name="adj" fmla="val 50000"/>
            </a:avLst>
          </a:prstGeom>
          <a:solidFill>
            <a:srgbClr val="C9780A"/>
          </a:solidFill>
          <a:ln w="12700">
            <a:solidFill>
              <a:srgbClr val="C9780A"/>
            </a:solidFill>
            <a:prstDash val="solid"/>
          </a:ln>
        </p:spPr>
      </p:sp>
      <p:sp>
        <p:nvSpPr>
          <p:cNvPr id="38" name="Text 35"/>
          <p:cNvSpPr txBox="1"/>
          <p:nvPr/>
        </p:nvSpPr>
        <p:spPr>
          <a:xfrm>
            <a:off x="4846320" y="3264408"/>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9" name="Text 36"/>
          <p:cNvSpPr txBox="1"/>
          <p:nvPr/>
        </p:nvSpPr>
        <p:spPr>
          <a:xfrm>
            <a:off x="5897880" y="3108960"/>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مَا أَهَمُّ عَادَةٍ فِي هَذِهِ العَائِلَةِ؟</a:t>
            </a:r>
            <a:endParaRPr lang="ar-SA" sz="1800" dirty="0"/>
          </a:p>
        </p:txBody>
      </p:sp>
      <p:sp>
        <p:nvSpPr>
          <p:cNvPr id="40" name="Shape 37"/>
          <p:cNvSpPr/>
          <p:nvPr/>
        </p:nvSpPr>
        <p:spPr>
          <a:xfrm>
            <a:off x="4754880" y="3730752"/>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1" name="Shape 38"/>
          <p:cNvSpPr/>
          <p:nvPr/>
        </p:nvSpPr>
        <p:spPr>
          <a:xfrm>
            <a:off x="4846320" y="3886200"/>
            <a:ext cx="960120" cy="256032"/>
          </a:xfrm>
          <a:prstGeom prst="roundRect">
            <a:avLst>
              <a:gd name="adj" fmla="val 50000"/>
            </a:avLst>
          </a:prstGeom>
          <a:solidFill>
            <a:srgbClr val="C9780A"/>
          </a:solidFill>
          <a:ln w="12700">
            <a:solidFill>
              <a:srgbClr val="C9780A"/>
            </a:solidFill>
            <a:prstDash val="solid"/>
          </a:ln>
        </p:spPr>
      </p:sp>
      <p:sp>
        <p:nvSpPr>
          <p:cNvPr id="42" name="Text 39"/>
          <p:cNvSpPr txBox="1"/>
          <p:nvPr/>
        </p:nvSpPr>
        <p:spPr>
          <a:xfrm>
            <a:off x="4846320" y="3886200"/>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43" name="Text 40"/>
          <p:cNvSpPr txBox="1"/>
          <p:nvPr/>
        </p:nvSpPr>
        <p:spPr>
          <a:xfrm>
            <a:off x="5897880" y="3730752"/>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هَلْ تَخْتَلِفُ التَّحِيَّةُ مَعَ الأَصْدِقَاءِ؟</a:t>
            </a:r>
            <a:endParaRPr lang="ar-SA" sz="1800" dirty="0"/>
          </a:p>
        </p:txBody>
      </p:sp>
      <p:sp>
        <p:nvSpPr>
          <p:cNvPr id="44" name="Shape 41"/>
          <p:cNvSpPr/>
          <p:nvPr/>
        </p:nvSpPr>
        <p:spPr>
          <a:xfrm>
            <a:off x="4754880" y="4352544"/>
            <a:ext cx="6976872" cy="566928"/>
          </a:xfrm>
          <a:prstGeom prst="roundRect">
            <a:avLst>
              <a:gd name="adj" fmla="val 12903"/>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5" name="Shape 42"/>
          <p:cNvSpPr/>
          <p:nvPr/>
        </p:nvSpPr>
        <p:spPr>
          <a:xfrm>
            <a:off x="4846320" y="4507992"/>
            <a:ext cx="960120" cy="256032"/>
          </a:xfrm>
          <a:prstGeom prst="roundRect">
            <a:avLst>
              <a:gd name="adj" fmla="val 50000"/>
            </a:avLst>
          </a:prstGeom>
          <a:solidFill>
            <a:srgbClr val="B83227"/>
          </a:solidFill>
          <a:ln w="12700">
            <a:solidFill>
              <a:srgbClr val="B83227"/>
            </a:solidFill>
            <a:prstDash val="solid"/>
          </a:ln>
        </p:spPr>
      </p:sp>
      <p:sp>
        <p:nvSpPr>
          <p:cNvPr id="46" name="Text 43"/>
          <p:cNvSpPr txBox="1"/>
          <p:nvPr/>
        </p:nvSpPr>
        <p:spPr>
          <a:xfrm>
            <a:off x="4846320" y="4507992"/>
            <a:ext cx="96012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7" name="Text 44"/>
          <p:cNvSpPr txBox="1"/>
          <p:nvPr/>
        </p:nvSpPr>
        <p:spPr>
          <a:xfrm>
            <a:off x="5897880" y="4352544"/>
            <a:ext cx="5696712" cy="566928"/>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لِمَاذَا جُمْلَةُ «كُلُّ العَائِلَاتِ …» غَيْرُ دَقِيقَةٍ؟</a:t>
            </a:r>
            <a:endParaRPr lang="ar-SA" sz="1800" dirty="0"/>
          </a:p>
        </p:txBody>
      </p:sp>
      <p:sp>
        <p:nvSpPr>
          <p:cNvPr id="48" name="Shape 45"/>
          <p:cNvSpPr/>
          <p:nvPr/>
        </p:nvSpPr>
        <p:spPr>
          <a:xfrm>
            <a:off x="457200" y="2487168"/>
            <a:ext cx="4114800" cy="2651760"/>
          </a:xfrm>
          <a:prstGeom prst="roundRect">
            <a:avLst>
              <a:gd name="adj" fmla="val 2759"/>
            </a:avLst>
          </a:prstGeom>
          <a:solidFill>
            <a:srgbClr val="F7F9FC"/>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49" name="Text 46"/>
          <p:cNvSpPr txBox="1"/>
          <p:nvPr/>
        </p:nvSpPr>
        <p:spPr>
          <a:xfrm>
            <a:off x="640080" y="2542032"/>
            <a:ext cx="27432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SENTENCE STEMS</a:t>
            </a:r>
            <a:endParaRPr lang="en-US" sz="1000" dirty="0"/>
          </a:p>
        </p:txBody>
      </p:sp>
      <p:sp>
        <p:nvSpPr>
          <p:cNvPr id="50" name="Shape 47"/>
          <p:cNvSpPr/>
          <p:nvPr/>
        </p:nvSpPr>
        <p:spPr>
          <a:xfrm>
            <a:off x="640080" y="3008376"/>
            <a:ext cx="1051560" cy="256032"/>
          </a:xfrm>
          <a:prstGeom prst="roundRect">
            <a:avLst>
              <a:gd name="adj" fmla="val 50000"/>
            </a:avLst>
          </a:prstGeom>
          <a:solidFill>
            <a:srgbClr val="2E8B57"/>
          </a:solidFill>
          <a:ln w="12700">
            <a:solidFill>
              <a:srgbClr val="2E8B57"/>
            </a:solidFill>
            <a:prstDash val="solid"/>
          </a:ln>
        </p:spPr>
      </p:sp>
      <p:sp>
        <p:nvSpPr>
          <p:cNvPr id="51" name="Text 48"/>
          <p:cNvSpPr txBox="1"/>
          <p:nvPr/>
        </p:nvSpPr>
        <p:spPr>
          <a:xfrm>
            <a:off x="640080" y="3008376"/>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52" name="Text 49"/>
          <p:cNvSpPr txBox="1"/>
          <p:nvPr/>
        </p:nvSpPr>
        <p:spPr>
          <a:xfrm>
            <a:off x="1783080" y="2852928"/>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D5FBF"/>
                </a:solidFill>
                <a:latin typeface="Amiri" pitchFamily="2" charset="-78"/>
                <a:ea typeface="Amiri" pitchFamily="2" charset="-78"/>
                <a:cs typeface="Amiri" pitchFamily="2" charset="-78"/>
              </a:rPr>
              <a:t>هَذِهِ عَائِلَةٌ ___ . يَقُولُونَ ___ .</a:t>
            </a:r>
            <a:endParaRPr lang="ar-SA" sz="1600" dirty="0"/>
          </a:p>
        </p:txBody>
      </p:sp>
      <p:sp>
        <p:nvSpPr>
          <p:cNvPr id="53" name="Shape 50"/>
          <p:cNvSpPr/>
          <p:nvPr/>
        </p:nvSpPr>
        <p:spPr>
          <a:xfrm>
            <a:off x="640080" y="3566160"/>
            <a:ext cx="1051560" cy="256032"/>
          </a:xfrm>
          <a:prstGeom prst="roundRect">
            <a:avLst>
              <a:gd name="adj" fmla="val 50000"/>
            </a:avLst>
          </a:prstGeom>
          <a:solidFill>
            <a:srgbClr val="C9780A"/>
          </a:solidFill>
          <a:ln w="12700">
            <a:solidFill>
              <a:srgbClr val="C9780A"/>
            </a:solidFill>
            <a:prstDash val="solid"/>
          </a:ln>
        </p:spPr>
      </p:sp>
      <p:sp>
        <p:nvSpPr>
          <p:cNvPr id="54" name="Text 51"/>
          <p:cNvSpPr txBox="1"/>
          <p:nvPr/>
        </p:nvSpPr>
        <p:spPr>
          <a:xfrm>
            <a:off x="640080" y="3566160"/>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55" name="Text 52"/>
          <p:cNvSpPr txBox="1"/>
          <p:nvPr/>
        </p:nvSpPr>
        <p:spPr>
          <a:xfrm>
            <a:off x="1783080" y="3410712"/>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فِي بَعْضِ العَائِلَاتِ ___ ، وَلَكِنْ ___ .</a:t>
            </a:r>
            <a:endParaRPr lang="ar-SA" sz="1600" dirty="0"/>
          </a:p>
        </p:txBody>
      </p:sp>
      <p:sp>
        <p:nvSpPr>
          <p:cNvPr id="56" name="Shape 53"/>
          <p:cNvSpPr/>
          <p:nvPr/>
        </p:nvSpPr>
        <p:spPr>
          <a:xfrm>
            <a:off x="640080" y="4123944"/>
            <a:ext cx="1051560" cy="256032"/>
          </a:xfrm>
          <a:prstGeom prst="roundRect">
            <a:avLst>
              <a:gd name="adj" fmla="val 50000"/>
            </a:avLst>
          </a:prstGeom>
          <a:solidFill>
            <a:srgbClr val="B83227"/>
          </a:solidFill>
          <a:ln w="12700">
            <a:solidFill>
              <a:srgbClr val="B83227"/>
            </a:solidFill>
            <a:prstDash val="solid"/>
          </a:ln>
        </p:spPr>
      </p:sp>
      <p:sp>
        <p:nvSpPr>
          <p:cNvPr id="57" name="Text 54"/>
          <p:cNvSpPr txBox="1"/>
          <p:nvPr/>
        </p:nvSpPr>
        <p:spPr>
          <a:xfrm>
            <a:off x="640080" y="4123944"/>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58" name="Text 55"/>
          <p:cNvSpPr txBox="1"/>
          <p:nvPr/>
        </p:nvSpPr>
        <p:spPr>
          <a:xfrm>
            <a:off x="1783080" y="3968496"/>
            <a:ext cx="2697480" cy="557784"/>
          </a:xfrm>
          <a:prstGeom prst="rect">
            <a:avLst/>
          </a:prstGeom>
          <a:noFill/>
          <a:ln/>
        </p:spPr>
        <p:txBody>
          <a:bodyPr wrap="square" lIns="0" tIns="0" rIns="0" bIns="0" rtlCol="0" anchor="ctr"/>
          <a:lstStyle/>
          <a:p>
            <a:pPr rtl="1" algn="r" indent="0" marL="0">
              <a:lnSpc>
                <a:spcPct val="120000"/>
              </a:lnSpc>
              <a:buNone/>
            </a:pPr>
            <a:r>
              <a:rPr lang="ar-SA" altLang="en-US" sz="1200" b="1" dirty="0">
                <a:solidFill>
                  <a:srgbClr val="1F2A37"/>
                </a:solidFill>
                <a:latin typeface="Amiri" pitchFamily="2" charset="-78"/>
                <a:ea typeface="Amiri" pitchFamily="2" charset="-78"/>
                <a:cs typeface="Amiri" pitchFamily="2" charset="-78"/>
              </a:rPr>
              <a:t>لَيْسَ دَائِمًا … تَخْتَلِفُ العَادَاتُ مِنْ عَائِلَةٍ إِلَى أُخْرَى.</a:t>
            </a:r>
            <a:endParaRPr lang="ar-SA" sz="1200" dirty="0"/>
          </a:p>
        </p:txBody>
      </p:sp>
      <p:sp>
        <p:nvSpPr>
          <p:cNvPr id="59" name="Shape 56"/>
          <p:cNvSpPr/>
          <p:nvPr/>
        </p:nvSpPr>
        <p:spPr>
          <a:xfrm>
            <a:off x="640080" y="4681728"/>
            <a:ext cx="1051560" cy="256032"/>
          </a:xfrm>
          <a:prstGeom prst="roundRect">
            <a:avLst>
              <a:gd name="adj" fmla="val 50000"/>
            </a:avLst>
          </a:prstGeom>
          <a:solidFill>
            <a:srgbClr val="1B3B6F"/>
          </a:solidFill>
          <a:ln w="12700">
            <a:solidFill>
              <a:srgbClr val="1B3B6F"/>
            </a:solidFill>
            <a:prstDash val="solid"/>
          </a:ln>
        </p:spPr>
      </p:sp>
      <p:sp>
        <p:nvSpPr>
          <p:cNvPr id="60" name="Text 57"/>
          <p:cNvSpPr txBox="1"/>
          <p:nvPr/>
        </p:nvSpPr>
        <p:spPr>
          <a:xfrm>
            <a:off x="640080" y="4681728"/>
            <a:ext cx="105156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 SUM UP</a:t>
            </a:r>
            <a:endParaRPr lang="en-US" sz="800" dirty="0"/>
          </a:p>
        </p:txBody>
      </p:sp>
      <p:sp>
        <p:nvSpPr>
          <p:cNvPr id="61" name="Text 58"/>
          <p:cNvSpPr txBox="1"/>
          <p:nvPr/>
        </p:nvSpPr>
        <p:spPr>
          <a:xfrm>
            <a:off x="1783080" y="4526280"/>
            <a:ext cx="2697480" cy="557784"/>
          </a:xfrm>
          <a:prstGeom prst="rect">
            <a:avLst/>
          </a:prstGeom>
          <a:noFill/>
          <a:ln/>
        </p:spPr>
        <p:txBody>
          <a:bodyPr wrap="square" lIns="0" tIns="0" rIns="0" bIns="0" rtlCol="0" anchor="ctr"/>
          <a:lstStyle/>
          <a:p>
            <a:pPr rtl="1" algn="r" indent="0" marL="0">
              <a:buNone/>
            </a:pPr>
            <a:r>
              <a:rPr lang="ar-SA" altLang="en-US" sz="1600" b="1" dirty="0">
                <a:solidFill>
                  <a:srgbClr val="1F2A37"/>
                </a:solidFill>
                <a:latin typeface="Amiri" pitchFamily="2" charset="-78"/>
                <a:ea typeface="Amiri" pitchFamily="2" charset="-78"/>
                <a:cs typeface="Amiri" pitchFamily="2" charset="-78"/>
              </a:rPr>
              <a:t>الاِحْتِرَامُ مُهِمٌّ.</a:t>
            </a:r>
            <a:endParaRPr lang="ar-SA" sz="1600" dirty="0"/>
          </a:p>
        </p:txBody>
      </p:sp>
      <p:sp>
        <p:nvSpPr>
          <p:cNvPr id="62" name="Shape 59"/>
          <p:cNvSpPr/>
          <p:nvPr/>
        </p:nvSpPr>
        <p:spPr>
          <a:xfrm>
            <a:off x="457200" y="5248656"/>
            <a:ext cx="11274552" cy="1060704"/>
          </a:xfrm>
          <a:prstGeom prst="roundRect">
            <a:avLst>
              <a:gd name="adj" fmla="val 6897"/>
            </a:avLst>
          </a:prstGeom>
          <a:solidFill>
            <a:srgbClr val="EAF3EF"/>
          </a:solidFill>
          <a:ln w="9525">
            <a:solidFill>
              <a:srgbClr val="A8CDB9"/>
            </a:solidFill>
            <a:prstDash val="solid"/>
          </a:ln>
          <a:effectLst>
            <a:outerShdw sx="100000" sy="100000" kx="0" ky="0" algn="bl" rotWithShape="0" blurRad="50800" dist="19050" dir="5400000">
              <a:srgbClr val="000000">
                <a:alpha val="10000"/>
              </a:srgbClr>
            </a:outerShdw>
          </a:effectLst>
        </p:spPr>
      </p:sp>
      <p:sp>
        <p:nvSpPr>
          <p:cNvPr id="63" name="Text 60"/>
          <p:cNvSpPr txBox="1"/>
          <p:nvPr/>
        </p:nvSpPr>
        <p:spPr>
          <a:xfrm>
            <a:off x="640080" y="5285232"/>
            <a:ext cx="2011680" cy="256032"/>
          </a:xfrm>
          <a:prstGeom prst="rect">
            <a:avLst/>
          </a:prstGeom>
          <a:noFill/>
          <a:ln/>
        </p:spPr>
        <p:txBody>
          <a:bodyPr wrap="square" lIns="0" tIns="0" rIns="0" bIns="0" rtlCol="0" anchor="ctr"/>
          <a:lstStyle/>
          <a:p>
            <a:pPr algn="l" indent="0" marL="0">
              <a:buNone/>
            </a:pPr>
            <a:r>
              <a:rPr lang="en-US" sz="950" b="1" spc="100" kern="0" dirty="0">
                <a:solidFill>
                  <a:srgbClr val="1E6B52"/>
                </a:solidFill>
                <a:latin typeface="Calibri" pitchFamily="34" charset="0"/>
                <a:cs typeface="Amiri" pitchFamily="2" charset="-78"/>
              </a:rPr>
              <a:t>MODEL (WEBSITE)</a:t>
            </a:r>
            <a:endParaRPr lang="en-US" sz="950" dirty="0"/>
          </a:p>
        </p:txBody>
      </p:sp>
      <p:sp>
        <p:nvSpPr>
          <p:cNvPr id="64" name="Shape 61"/>
          <p:cNvSpPr/>
          <p:nvPr/>
        </p:nvSpPr>
        <p:spPr>
          <a:xfrm>
            <a:off x="11274552" y="5559552"/>
            <a:ext cx="292608" cy="292608"/>
          </a:xfrm>
          <a:prstGeom prst="ellipse">
            <a:avLst/>
          </a:prstGeom>
          <a:solidFill>
            <a:srgbClr val="1E6B52"/>
          </a:solidFill>
          <a:ln w="12700">
            <a:solidFill>
              <a:srgbClr val="1E6B52"/>
            </a:solidFill>
            <a:prstDash val="solid"/>
          </a:ln>
        </p:spPr>
      </p:sp>
      <p:sp>
        <p:nvSpPr>
          <p:cNvPr id="65" name="Text 62"/>
          <p:cNvSpPr txBox="1"/>
          <p:nvPr/>
        </p:nvSpPr>
        <p:spPr>
          <a:xfrm>
            <a:off x="11274552" y="555955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1</a:t>
            </a:r>
            <a:endParaRPr lang="en-US" sz="1000" dirty="0"/>
          </a:p>
        </p:txBody>
      </p:sp>
      <p:sp>
        <p:nvSpPr>
          <p:cNvPr id="66" name="Text 63"/>
          <p:cNvSpPr txBox="1"/>
          <p:nvPr/>
        </p:nvSpPr>
        <p:spPr>
          <a:xfrm>
            <a:off x="2834640" y="552297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هَذِهِ عَائِلَةٌ أُرْدُنِيَّةٌ. عِنْدَمَا يَصِلُ الجَارُ يَقُولُونَ أَهْلًا وَسَهْلًا.</a:t>
            </a:r>
            <a:endParaRPr lang="ar-SA" sz="1550" dirty="0"/>
          </a:p>
        </p:txBody>
      </p:sp>
      <p:sp>
        <p:nvSpPr>
          <p:cNvPr id="67" name="Text 64"/>
          <p:cNvSpPr txBox="1"/>
          <p:nvPr/>
        </p:nvSpPr>
        <p:spPr>
          <a:xfrm>
            <a:off x="640080" y="5522976"/>
            <a:ext cx="2148840" cy="365760"/>
          </a:xfrm>
          <a:prstGeom prst="rect">
            <a:avLst/>
          </a:prstGeom>
          <a:noFill/>
          <a:ln/>
        </p:spPr>
        <p:txBody>
          <a:bodyPr wrap="square" lIns="0" tIns="0" rIns="0" bIns="0" rtlCol="0" anchor="ctr"/>
          <a:lstStyle/>
          <a:p>
            <a:pPr algn="l" indent="0" marL="0">
              <a:buNone/>
            </a:pPr>
            <a:r>
              <a:rPr lang="en-US" sz="900" i="1" dirty="0">
                <a:solidFill>
                  <a:srgbClr val="5A6472"/>
                </a:solidFill>
                <a:latin typeface="Calibri" pitchFamily="34" charset="0"/>
                <a:cs typeface="Amiri" pitchFamily="2" charset="-78"/>
              </a:rPr>
              <a:t>This is a Jordanian family. When the neighbour arrives they say “welcome”.</a:t>
            </a:r>
            <a:endParaRPr lang="en-US" sz="900" dirty="0"/>
          </a:p>
        </p:txBody>
      </p:sp>
      <p:sp>
        <p:nvSpPr>
          <p:cNvPr id="68" name="Shape 65"/>
          <p:cNvSpPr/>
          <p:nvPr/>
        </p:nvSpPr>
        <p:spPr>
          <a:xfrm>
            <a:off x="11274552" y="5925312"/>
            <a:ext cx="292608" cy="292608"/>
          </a:xfrm>
          <a:prstGeom prst="ellipse">
            <a:avLst/>
          </a:prstGeom>
          <a:solidFill>
            <a:srgbClr val="1E6B52"/>
          </a:solidFill>
          <a:ln w="12700">
            <a:solidFill>
              <a:srgbClr val="1E6B52"/>
            </a:solidFill>
            <a:prstDash val="solid"/>
          </a:ln>
        </p:spPr>
      </p:sp>
      <p:sp>
        <p:nvSpPr>
          <p:cNvPr id="69" name="Text 66"/>
          <p:cNvSpPr txBox="1"/>
          <p:nvPr/>
        </p:nvSpPr>
        <p:spPr>
          <a:xfrm>
            <a:off x="11274552" y="5925312"/>
            <a:ext cx="292608" cy="292608"/>
          </a:xfrm>
          <a:prstGeom prst="rect">
            <a:avLst/>
          </a:prstGeom>
          <a:noFill/>
          <a:ln/>
        </p:spPr>
        <p:txBody>
          <a:bodyPr wrap="square" lIns="0" tIns="0" rIns="0" bIns="0" rtlCol="0" anchor="ctr"/>
          <a:lstStyle/>
          <a:p>
            <a:pPr algn="ctr" indent="0" marL="0">
              <a:buNone/>
            </a:pPr>
            <a:r>
              <a:rPr lang="en-US" sz="1000" b="1" dirty="0">
                <a:solidFill>
                  <a:srgbClr val="FFFFFF"/>
                </a:solidFill>
                <a:latin typeface="Calibri" pitchFamily="34" charset="0"/>
                <a:cs typeface="Amiri" pitchFamily="2" charset="-78"/>
              </a:rPr>
              <a:t>2</a:t>
            </a:r>
            <a:endParaRPr lang="en-US" sz="1000" dirty="0"/>
          </a:p>
        </p:txBody>
      </p:sp>
      <p:sp>
        <p:nvSpPr>
          <p:cNvPr id="70" name="Text 67"/>
          <p:cNvSpPr txBox="1"/>
          <p:nvPr/>
        </p:nvSpPr>
        <p:spPr>
          <a:xfrm>
            <a:off x="2834640" y="5888736"/>
            <a:ext cx="8348472" cy="365760"/>
          </a:xfrm>
          <a:prstGeom prst="rect">
            <a:avLst/>
          </a:prstGeom>
          <a:noFill/>
          <a:ln/>
        </p:spPr>
        <p:txBody>
          <a:bodyPr wrap="square" lIns="0" tIns="0" rIns="0" bIns="0" rtlCol="0" anchor="ctr"/>
          <a:lstStyle/>
          <a:p>
            <a:pPr rtl="1" algn="r" indent="0" marL="0">
              <a:buNone/>
            </a:pPr>
            <a:r>
              <a:rPr lang="ar-SA" altLang="en-US" sz="1550" dirty="0">
                <a:solidFill>
                  <a:srgbClr val="1F2A37"/>
                </a:solidFill>
                <a:latin typeface="Amiri" pitchFamily="2" charset="-78"/>
                <a:ea typeface="Amiri" pitchFamily="2" charset="-78"/>
                <a:cs typeface="Amiri" pitchFamily="2" charset="-78"/>
              </a:rPr>
              <a:t>يُقَدِّمُونَ الشَّايَ وَالتَّمْرَ، وَلَكِنَّهُمْ يَحْتَرِمُونَ اخْتِيَارَ الضَّيْفِ.</a:t>
            </a:r>
            <a:endParaRPr lang="ar-SA" sz="1550" dirty="0"/>
          </a:p>
        </p:txBody>
      </p:sp>
      <p:sp>
        <p:nvSpPr>
          <p:cNvPr id="71" name="Text 68"/>
          <p:cNvSpPr txBox="1"/>
          <p:nvPr/>
        </p:nvSpPr>
        <p:spPr>
          <a:xfrm>
            <a:off x="640080" y="5888736"/>
            <a:ext cx="2148840" cy="365760"/>
          </a:xfrm>
          <a:prstGeom prst="rect">
            <a:avLst/>
          </a:prstGeom>
          <a:noFill/>
          <a:ln/>
        </p:spPr>
        <p:txBody>
          <a:bodyPr wrap="square" lIns="0" tIns="0" rIns="0" bIns="0" rtlCol="0" anchor="ctr"/>
          <a:lstStyle/>
          <a:p>
            <a:pPr algn="l" indent="0" marL="0">
              <a:buNone/>
            </a:pPr>
            <a:r>
              <a:rPr lang="en-US" sz="950" i="1" dirty="0">
                <a:solidFill>
                  <a:srgbClr val="5A6472"/>
                </a:solidFill>
                <a:latin typeface="Calibri" pitchFamily="34" charset="0"/>
                <a:cs typeface="Amiri" pitchFamily="2" charset="-78"/>
              </a:rPr>
              <a:t>They offer tea and dates, but they respect the guest’s choice.</a:t>
            </a:r>
            <a:endParaRPr lang="en-US" sz="950" dirty="0"/>
          </a:p>
        </p:txBody>
      </p:sp>
      <p:sp>
        <p:nvSpPr>
          <p:cNvPr id="72" name="Text 6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29 / 37</a:t>
            </a:r>
            <a:endParaRPr lang="en-US" sz="850" dirty="0"/>
          </a:p>
        </p:txBody>
      </p:sp>
    </p:spTree>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name="Slide 30">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TB-L01 · Identity and Profiles</a:t>
            </a:r>
            <a:endParaRPr lang="en-US" sz="950" dirty="0"/>
          </a:p>
        </p:txBody>
      </p:sp>
      <p:sp>
        <p:nvSpPr>
          <p:cNvPr id="8" name="Shape 6"/>
          <p:cNvSpPr/>
          <p:nvPr/>
        </p:nvSpPr>
        <p:spPr>
          <a:xfrm>
            <a:off x="7295083" y="274320"/>
            <a:ext cx="1464869"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295083" y="274320"/>
            <a:ext cx="146486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 · 9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INDEPENDENT PRACTICE · 9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Write: choose your route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اُكْتُبْ</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TB-L01</a:t>
            </a:r>
            <a:endParaRPr lang="en-US" sz="850" dirty="0"/>
          </a:p>
        </p:txBody>
      </p:sp>
      <p:sp>
        <p:nvSpPr>
          <p:cNvPr id="15" name="Shape 12"/>
          <p:cNvSpPr/>
          <p:nvPr/>
        </p:nvSpPr>
        <p:spPr>
          <a:xfrm>
            <a:off x="457200" y="1810512"/>
            <a:ext cx="3639312" cy="4315968"/>
          </a:xfrm>
          <a:prstGeom prst="roundRect">
            <a:avLst>
              <a:gd name="adj" fmla="val 2010"/>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1188720" cy="310896"/>
          </a:xfrm>
          <a:prstGeom prst="roundRect">
            <a:avLst>
              <a:gd name="adj" fmla="val 50000"/>
            </a:avLst>
          </a:prstGeom>
          <a:solidFill>
            <a:srgbClr val="2E8B57"/>
          </a:solidFill>
          <a:ln w="12700">
            <a:solidFill>
              <a:srgbClr val="2E8B57"/>
            </a:solidFill>
            <a:prstDash val="solid"/>
          </a:ln>
        </p:spPr>
      </p:sp>
      <p:sp>
        <p:nvSpPr>
          <p:cNvPr id="17" name="Text 14"/>
          <p:cNvSpPr txBox="1"/>
          <p:nvPr/>
        </p:nvSpPr>
        <p:spPr>
          <a:xfrm>
            <a:off x="640080"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CORE</a:t>
            </a:r>
            <a:endParaRPr lang="en-US" sz="1000" dirty="0"/>
          </a:p>
        </p:txBody>
      </p:sp>
      <p:sp>
        <p:nvSpPr>
          <p:cNvPr id="18" name="Text 15"/>
          <p:cNvSpPr txBox="1"/>
          <p:nvPr/>
        </p:nvSpPr>
        <p:spPr>
          <a:xfrm>
            <a:off x="2450592"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2E8B57"/>
                </a:solidFill>
                <a:latin typeface="Amiri" pitchFamily="2" charset="-78"/>
                <a:ea typeface="Amiri" pitchFamily="2" charset="-78"/>
                <a:cs typeface="Amiri" pitchFamily="2" charset="-78"/>
              </a:rPr>
              <a:t>الأَسَاسُ</a:t>
            </a:r>
            <a:endParaRPr lang="ar-SA" sz="1800" dirty="0"/>
          </a:p>
        </p:txBody>
      </p:sp>
      <p:sp>
        <p:nvSpPr>
          <p:cNvPr id="19" name="Text 16"/>
          <p:cNvSpPr txBox="1"/>
          <p:nvPr/>
        </p:nvSpPr>
        <p:spPr>
          <a:xfrm>
            <a:off x="640080" y="2377440"/>
            <a:ext cx="3273552" cy="457200"/>
          </a:xfrm>
          <a:prstGeom prst="rect">
            <a:avLst/>
          </a:prstGeom>
          <a:noFill/>
          <a:ln/>
        </p:spPr>
        <p:txBody>
          <a:bodyPr wrap="square" lIns="0" tIns="0" rIns="0" bIns="0" rtlCol="0" anchor="ctr"/>
          <a:lstStyle/>
          <a:p>
            <a:pPr algn="l" indent="0" marL="0">
              <a:buNone/>
            </a:pPr>
            <a:r>
              <a:rPr lang="en-US" sz="2200" b="1" dirty="0">
                <a:solidFill>
                  <a:srgbClr val="2E8B57"/>
                </a:solidFill>
                <a:latin typeface="Cambria" pitchFamily="34" charset="0"/>
                <a:cs typeface="Amiri" pitchFamily="2" charset="-78"/>
              </a:rPr>
              <a:t>4 sentences</a:t>
            </a:r>
            <a:endParaRPr lang="en-US" sz="2200" dirty="0"/>
          </a:p>
        </p:txBody>
      </p:sp>
      <p:sp>
        <p:nvSpPr>
          <p:cNvPr id="20" name="Text 17"/>
          <p:cNvSpPr txBox="1"/>
          <p:nvPr/>
        </p:nvSpPr>
        <p:spPr>
          <a:xfrm>
            <a:off x="640080"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Four sentences: family or country context, a greeting, hospitality, and one respectful “this may vary” statement.</a:t>
            </a:r>
            <a:endParaRPr lang="en-US" sz="1400" dirty="0"/>
          </a:p>
        </p:txBody>
      </p:sp>
      <p:sp>
        <p:nvSpPr>
          <p:cNvPr id="21" name="Shape 18"/>
          <p:cNvSpPr/>
          <p:nvPr/>
        </p:nvSpPr>
        <p:spPr>
          <a:xfrm>
            <a:off x="640080" y="4160520"/>
            <a:ext cx="3273552" cy="1783080"/>
          </a:xfrm>
          <a:prstGeom prst="roundRect">
            <a:avLst>
              <a:gd name="adj" fmla="val 4103"/>
            </a:avLst>
          </a:prstGeom>
          <a:solidFill>
            <a:srgbClr val="FFFFFF"/>
          </a:solidFill>
          <a:ln w="9525">
            <a:solidFill>
              <a:srgbClr val="FFFFFF"/>
            </a:solidFill>
            <a:prstDash val="solid"/>
          </a:ln>
        </p:spPr>
      </p:sp>
      <p:sp>
        <p:nvSpPr>
          <p:cNvPr id="22" name="Text 19"/>
          <p:cNvSpPr txBox="1"/>
          <p:nvPr/>
        </p:nvSpPr>
        <p:spPr>
          <a:xfrm>
            <a:off x="731520" y="4224528"/>
            <a:ext cx="3090672" cy="1645920"/>
          </a:xfrm>
          <a:prstGeom prst="rect">
            <a:avLst/>
          </a:prstGeom>
          <a:noFill/>
          <a:ln/>
        </p:spPr>
        <p:txBody>
          <a:bodyPr wrap="square" lIns="0" tIns="0" rIns="0" bIns="0" rtlCol="0" anchor="t"/>
          <a:lstStyle/>
          <a:p>
            <a:pPr indent="0" marL="0">
              <a:buNone/>
            </a:pPr>
            <a:r>
              <a:rPr lang="en-US" sz="900" b="1" spc="200" kern="0" dirty="0">
                <a:solidFill>
                  <a:srgbClr val="2E8B5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A (fictional) family, a greeting, hospitality, and “in some families…”.</a:t>
            </a:r>
            <a:endParaRPr lang="en-US" sz="900" dirty="0"/>
          </a:p>
        </p:txBody>
      </p:sp>
      <p:sp>
        <p:nvSpPr>
          <p:cNvPr id="23" name="Shape 20"/>
          <p:cNvSpPr/>
          <p:nvPr/>
        </p:nvSpPr>
        <p:spPr>
          <a:xfrm>
            <a:off x="4279392" y="1810512"/>
            <a:ext cx="3639312" cy="4315968"/>
          </a:xfrm>
          <a:prstGeom prst="roundRect">
            <a:avLst>
              <a:gd name="adj" fmla="val 2010"/>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24" name="Shape 21"/>
          <p:cNvSpPr/>
          <p:nvPr/>
        </p:nvSpPr>
        <p:spPr>
          <a:xfrm>
            <a:off x="4462272" y="1938528"/>
            <a:ext cx="1188720" cy="310896"/>
          </a:xfrm>
          <a:prstGeom prst="roundRect">
            <a:avLst>
              <a:gd name="adj" fmla="val 50000"/>
            </a:avLst>
          </a:prstGeom>
          <a:solidFill>
            <a:srgbClr val="C9780A"/>
          </a:solidFill>
          <a:ln w="12700">
            <a:solidFill>
              <a:srgbClr val="C9780A"/>
            </a:solidFill>
            <a:prstDash val="solid"/>
          </a:ln>
        </p:spPr>
      </p:sp>
      <p:sp>
        <p:nvSpPr>
          <p:cNvPr id="25" name="Text 22"/>
          <p:cNvSpPr txBox="1"/>
          <p:nvPr/>
        </p:nvSpPr>
        <p:spPr>
          <a:xfrm>
            <a:off x="4462272"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DEVELOP</a:t>
            </a:r>
            <a:endParaRPr lang="en-US" sz="1000" dirty="0"/>
          </a:p>
        </p:txBody>
      </p:sp>
      <p:sp>
        <p:nvSpPr>
          <p:cNvPr id="26" name="Text 23"/>
          <p:cNvSpPr txBox="1"/>
          <p:nvPr/>
        </p:nvSpPr>
        <p:spPr>
          <a:xfrm>
            <a:off x="6272784"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C9780A"/>
                </a:solidFill>
                <a:latin typeface="Amiri" pitchFamily="2" charset="-78"/>
                <a:ea typeface="Amiri" pitchFamily="2" charset="-78"/>
                <a:cs typeface="Amiri" pitchFamily="2" charset="-78"/>
              </a:rPr>
              <a:t>التَّطْوِيرُ</a:t>
            </a:r>
            <a:endParaRPr lang="ar-SA" sz="1800" dirty="0"/>
          </a:p>
        </p:txBody>
      </p:sp>
      <p:sp>
        <p:nvSpPr>
          <p:cNvPr id="27" name="Text 24"/>
          <p:cNvSpPr txBox="1"/>
          <p:nvPr/>
        </p:nvSpPr>
        <p:spPr>
          <a:xfrm>
            <a:off x="4462272" y="2377440"/>
            <a:ext cx="3273552" cy="457200"/>
          </a:xfrm>
          <a:prstGeom prst="rect">
            <a:avLst/>
          </a:prstGeom>
          <a:noFill/>
          <a:ln/>
        </p:spPr>
        <p:txBody>
          <a:bodyPr wrap="square" lIns="0" tIns="0" rIns="0" bIns="0" rtlCol="0" anchor="ctr"/>
          <a:lstStyle/>
          <a:p>
            <a:pPr algn="l" indent="0" marL="0">
              <a:buNone/>
            </a:pPr>
            <a:r>
              <a:rPr lang="en-US" sz="2200" b="1" dirty="0">
                <a:solidFill>
                  <a:srgbClr val="C9780A"/>
                </a:solidFill>
                <a:latin typeface="Cambria" pitchFamily="34" charset="0"/>
                <a:cs typeface="Amiri" pitchFamily="2" charset="-78"/>
              </a:rPr>
              <a:t>6–8 sentences</a:t>
            </a:r>
            <a:endParaRPr lang="en-US" sz="2200" dirty="0"/>
          </a:p>
        </p:txBody>
      </p:sp>
      <p:sp>
        <p:nvSpPr>
          <p:cNvPr id="28" name="Text 25"/>
          <p:cNvSpPr txBox="1"/>
          <p:nvPr/>
        </p:nvSpPr>
        <p:spPr>
          <a:xfrm>
            <a:off x="4462272"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Six to eight sentences with a comparison (similar / different) and </a:t>
            </a:r>
            <a:pPr algn="l" indent="0" marL="0">
              <a:buNone/>
            </a:pPr>
            <a:r>
              <a:rPr lang="ar-SA" altLang="en-US" sz="1800" b="1" dirty="0">
                <a:solidFill>
                  <a:srgbClr val="1F2A37"/>
                </a:solidFill>
                <a:latin typeface="Amiri" pitchFamily="2" charset="-78"/>
                <a:ea typeface="Amiri" pitchFamily="2" charset="-78"/>
                <a:cs typeface="Amiri" pitchFamily="2" charset="-78"/>
              </a:rPr>
              <a:t>وَلَكِنْ</a:t>
            </a:r>
            <a:pPr algn="l" indent="0" marL="0">
              <a:buNone/>
            </a:pPr>
            <a:r>
              <a:rPr lang="en-US" sz="1400" b="1" dirty="0">
                <a:solidFill>
                  <a:srgbClr val="1F2A37"/>
                </a:solidFill>
                <a:latin typeface="Calibri" pitchFamily="34" charset="0"/>
                <a:cs typeface="Amiri" pitchFamily="2" charset="-78"/>
              </a:rPr>
              <a:t> or </a:t>
            </a:r>
            <a:pPr algn="l" indent="0" marL="0">
              <a:buNone/>
            </a:pPr>
            <a:r>
              <a:rPr lang="ar-SA" altLang="en-US" sz="1800" b="1" dirty="0">
                <a:solidFill>
                  <a:srgbClr val="1F2A37"/>
                </a:solidFill>
                <a:latin typeface="Amiri" pitchFamily="2" charset="-78"/>
                <a:ea typeface="Amiri" pitchFamily="2" charset="-78"/>
                <a:cs typeface="Amiri" pitchFamily="2" charset="-78"/>
              </a:rPr>
              <a:t>أَيْضًا</a:t>
            </a:r>
            <a:pPr algn="l" indent="0" marL="0">
              <a:buNone/>
            </a:pPr>
            <a:r>
              <a:rPr lang="en-US" sz="1400" b="1" dirty="0">
                <a:solidFill>
                  <a:srgbClr val="1F2A37"/>
                </a:solidFill>
                <a:latin typeface="Calibri" pitchFamily="34" charset="0"/>
                <a:cs typeface="Amiri" pitchFamily="2" charset="-78"/>
              </a:rPr>
              <a:t>.</a:t>
            </a:r>
            <a:endParaRPr lang="en-US" sz="1400" dirty="0"/>
          </a:p>
        </p:txBody>
      </p:sp>
      <p:sp>
        <p:nvSpPr>
          <p:cNvPr id="29" name="Shape 26"/>
          <p:cNvSpPr/>
          <p:nvPr/>
        </p:nvSpPr>
        <p:spPr>
          <a:xfrm>
            <a:off x="4462272" y="4160520"/>
            <a:ext cx="3273552" cy="1783080"/>
          </a:xfrm>
          <a:prstGeom prst="roundRect">
            <a:avLst>
              <a:gd name="adj" fmla="val 4103"/>
            </a:avLst>
          </a:prstGeom>
          <a:solidFill>
            <a:srgbClr val="FFFFFF"/>
          </a:solidFill>
          <a:ln w="9525">
            <a:solidFill>
              <a:srgbClr val="FFFFFF"/>
            </a:solidFill>
            <a:prstDash val="solid"/>
          </a:ln>
        </p:spPr>
      </p:sp>
      <p:sp>
        <p:nvSpPr>
          <p:cNvPr id="30" name="Text 27"/>
          <p:cNvSpPr txBox="1"/>
          <p:nvPr/>
        </p:nvSpPr>
        <p:spPr>
          <a:xfrm>
            <a:off x="4553712" y="4224528"/>
            <a:ext cx="3090672" cy="1645920"/>
          </a:xfrm>
          <a:prstGeom prst="rect">
            <a:avLst/>
          </a:prstGeom>
          <a:noFill/>
          <a:ln/>
        </p:spPr>
        <p:txBody>
          <a:bodyPr wrap="square" lIns="0" tIns="0" rIns="0" bIns="0" rtlCol="0" anchor="t"/>
          <a:lstStyle/>
          <a:p>
            <a:pPr indent="0" marL="0">
              <a:buNone/>
            </a:pPr>
            <a:r>
              <a:rPr lang="en-US" sz="900" b="1" spc="200" kern="0" dirty="0">
                <a:solidFill>
                  <a:srgbClr val="C9780A"/>
                </a:solidFill>
                <a:latin typeface="Calibri" pitchFamily="34" charset="0"/>
                <a:cs typeface="Amiri" pitchFamily="2" charset="-78"/>
              </a:rPr>
              <a:t>HOW</a:t>
            </a:r>
            <a:endParaRPr lang="en-US" sz="900" dirty="0"/>
          </a:p>
          <a:p>
            <a:pPr indent="0" marL="0">
              <a:buNone/>
            </a:pPr>
            <a:r>
              <a:rPr lang="ar-SA" sz="1150" dirty="0">
                <a:solidFill>
                  <a:srgbClr val="1F2A37"/>
                </a:solidFill>
                <a:latin typeface="Calibri" pitchFamily="34" charset="0"/>
                <a:ea typeface="Amiri" pitchFamily="2" charset="-78"/>
                <a:cs typeface="Amiri" pitchFamily="2" charset="-78"/>
              </a:rPr>
              <a:t>Add one similarity and one difference with Britain; use وَلَكِنْ / أَيْضًا.</a:t>
            </a:r>
            <a:endParaRPr lang="en-US" sz="900" dirty="0"/>
          </a:p>
        </p:txBody>
      </p:sp>
      <p:sp>
        <p:nvSpPr>
          <p:cNvPr id="31" name="Shape 28"/>
          <p:cNvSpPr/>
          <p:nvPr/>
        </p:nvSpPr>
        <p:spPr>
          <a:xfrm>
            <a:off x="8101584" y="1810512"/>
            <a:ext cx="3639312" cy="4315968"/>
          </a:xfrm>
          <a:prstGeom prst="roundRect">
            <a:avLst>
              <a:gd name="adj" fmla="val 2010"/>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32" name="Shape 29"/>
          <p:cNvSpPr/>
          <p:nvPr/>
        </p:nvSpPr>
        <p:spPr>
          <a:xfrm>
            <a:off x="8284464" y="1938528"/>
            <a:ext cx="1188720" cy="310896"/>
          </a:xfrm>
          <a:prstGeom prst="roundRect">
            <a:avLst>
              <a:gd name="adj" fmla="val 50000"/>
            </a:avLst>
          </a:prstGeom>
          <a:solidFill>
            <a:srgbClr val="B83227"/>
          </a:solidFill>
          <a:ln w="12700">
            <a:solidFill>
              <a:srgbClr val="B83227"/>
            </a:solidFill>
            <a:prstDash val="solid"/>
          </a:ln>
        </p:spPr>
      </p:sp>
      <p:sp>
        <p:nvSpPr>
          <p:cNvPr id="33" name="Text 30"/>
          <p:cNvSpPr txBox="1"/>
          <p:nvPr/>
        </p:nvSpPr>
        <p:spPr>
          <a:xfrm>
            <a:off x="8284464" y="1938528"/>
            <a:ext cx="1188720" cy="310896"/>
          </a:xfrm>
          <a:prstGeom prst="rect">
            <a:avLst/>
          </a:prstGeom>
          <a:noFill/>
          <a:ln/>
        </p:spPr>
        <p:txBody>
          <a:bodyPr wrap="square" lIns="0" tIns="0" rIns="0" bIns="0" rtlCol="0" anchor="ctr"/>
          <a:lstStyle/>
          <a:p>
            <a:pPr algn="ctr" indent="0" marL="0">
              <a:buNone/>
            </a:pPr>
            <a:r>
              <a:rPr lang="en-US" sz="1000" b="1" spc="100" kern="0" dirty="0">
                <a:solidFill>
                  <a:srgbClr val="FFFFFF"/>
                </a:solidFill>
                <a:latin typeface="Calibri" pitchFamily="34" charset="0"/>
                <a:cs typeface="Amiri" pitchFamily="2" charset="-78"/>
              </a:rPr>
              <a:t>STRETCH</a:t>
            </a:r>
            <a:endParaRPr lang="en-US" sz="1000" dirty="0"/>
          </a:p>
        </p:txBody>
      </p:sp>
      <p:sp>
        <p:nvSpPr>
          <p:cNvPr id="34" name="Text 31"/>
          <p:cNvSpPr txBox="1"/>
          <p:nvPr/>
        </p:nvSpPr>
        <p:spPr>
          <a:xfrm>
            <a:off x="10094976" y="1883664"/>
            <a:ext cx="1463040" cy="420624"/>
          </a:xfrm>
          <a:prstGeom prst="rect">
            <a:avLst/>
          </a:prstGeom>
          <a:noFill/>
          <a:ln/>
        </p:spPr>
        <p:txBody>
          <a:bodyPr wrap="square" lIns="0" tIns="0" rIns="0" bIns="0" rtlCol="0" anchor="ctr"/>
          <a:lstStyle/>
          <a:p>
            <a:pPr rtl="1" algn="r" indent="0" marL="0">
              <a:buNone/>
            </a:pPr>
            <a:r>
              <a:rPr lang="ar-SA" altLang="en-US" sz="1800" b="1" dirty="0">
                <a:solidFill>
                  <a:srgbClr val="B83227"/>
                </a:solidFill>
                <a:latin typeface="Amiri" pitchFamily="2" charset="-78"/>
                <a:ea typeface="Amiri" pitchFamily="2" charset="-78"/>
                <a:cs typeface="Amiri" pitchFamily="2" charset="-78"/>
              </a:rPr>
              <a:t>التَّحَدِّي</a:t>
            </a:r>
            <a:endParaRPr lang="ar-SA" sz="1800" dirty="0"/>
          </a:p>
        </p:txBody>
      </p:sp>
      <p:sp>
        <p:nvSpPr>
          <p:cNvPr id="35" name="Text 32"/>
          <p:cNvSpPr txBox="1"/>
          <p:nvPr/>
        </p:nvSpPr>
        <p:spPr>
          <a:xfrm>
            <a:off x="8284464" y="2377440"/>
            <a:ext cx="3273552" cy="457200"/>
          </a:xfrm>
          <a:prstGeom prst="rect">
            <a:avLst/>
          </a:prstGeom>
          <a:noFill/>
          <a:ln/>
        </p:spPr>
        <p:txBody>
          <a:bodyPr wrap="square" lIns="0" tIns="0" rIns="0" bIns="0" rtlCol="0" anchor="ctr"/>
          <a:lstStyle/>
          <a:p>
            <a:pPr algn="l" indent="0" marL="0">
              <a:buNone/>
            </a:pPr>
            <a:r>
              <a:rPr lang="en-US" sz="2200" b="1" dirty="0">
                <a:solidFill>
                  <a:srgbClr val="B83227"/>
                </a:solidFill>
                <a:latin typeface="Cambria" pitchFamily="34" charset="0"/>
                <a:cs typeface="Amiri" pitchFamily="2" charset="-78"/>
              </a:rPr>
              <a:t>10 sentences</a:t>
            </a:r>
            <a:endParaRPr lang="en-US" sz="2200" dirty="0"/>
          </a:p>
        </p:txBody>
      </p:sp>
      <p:sp>
        <p:nvSpPr>
          <p:cNvPr id="36" name="Text 33"/>
          <p:cNvSpPr txBox="1"/>
          <p:nvPr/>
        </p:nvSpPr>
        <p:spPr>
          <a:xfrm>
            <a:off x="8284464" y="2880360"/>
            <a:ext cx="3273552" cy="1188720"/>
          </a:xfrm>
          <a:prstGeom prst="rect">
            <a:avLst/>
          </a:prstGeom>
          <a:noFill/>
          <a:ln/>
        </p:spPr>
        <p:txBody>
          <a:bodyPr wrap="square" lIns="0" tIns="0" rIns="0" bIns="0" rtlCol="0" anchor="ctr"/>
          <a:lstStyle/>
          <a:p>
            <a:pPr algn="l" indent="0" marL="0">
              <a:buNone/>
            </a:pPr>
            <a:r>
              <a:rPr lang="en-US" sz="1400" b="1" dirty="0">
                <a:solidFill>
                  <a:srgbClr val="1F2A37"/>
                </a:solidFill>
                <a:latin typeface="Calibri" pitchFamily="34" charset="0"/>
                <a:cs typeface="Amiri" pitchFamily="2" charset="-78"/>
              </a:rPr>
              <a:t>Ten sentences; explain why one broad statement is inaccurate and replace it with careful language.</a:t>
            </a:r>
            <a:endParaRPr lang="en-US" sz="1400" dirty="0"/>
          </a:p>
        </p:txBody>
      </p:sp>
      <p:sp>
        <p:nvSpPr>
          <p:cNvPr id="37" name="Shape 34"/>
          <p:cNvSpPr/>
          <p:nvPr/>
        </p:nvSpPr>
        <p:spPr>
          <a:xfrm>
            <a:off x="8284464" y="4160520"/>
            <a:ext cx="3273552" cy="1783080"/>
          </a:xfrm>
          <a:prstGeom prst="roundRect">
            <a:avLst>
              <a:gd name="adj" fmla="val 4103"/>
            </a:avLst>
          </a:prstGeom>
          <a:solidFill>
            <a:srgbClr val="FFFFFF"/>
          </a:solidFill>
          <a:ln w="9525">
            <a:solidFill>
              <a:srgbClr val="FFFFFF"/>
            </a:solidFill>
            <a:prstDash val="solid"/>
          </a:ln>
        </p:spPr>
      </p:sp>
      <p:sp>
        <p:nvSpPr>
          <p:cNvPr id="38" name="Text 35"/>
          <p:cNvSpPr txBox="1"/>
          <p:nvPr/>
        </p:nvSpPr>
        <p:spPr>
          <a:xfrm>
            <a:off x="8375904" y="4224528"/>
            <a:ext cx="3090672" cy="1645920"/>
          </a:xfrm>
          <a:prstGeom prst="rect">
            <a:avLst/>
          </a:prstGeom>
          <a:noFill/>
          <a:ln/>
        </p:spPr>
        <p:txBody>
          <a:bodyPr wrap="square" lIns="0" tIns="0" rIns="0" bIns="0" rtlCol="0" anchor="t"/>
          <a:lstStyle/>
          <a:p>
            <a:pPr indent="0" marL="0">
              <a:buNone/>
            </a:pPr>
            <a:r>
              <a:rPr lang="en-US" sz="900" b="1" spc="200" kern="0" dirty="0">
                <a:solidFill>
                  <a:srgbClr val="B83227"/>
                </a:solidFill>
                <a:latin typeface="Calibri" pitchFamily="34" charset="0"/>
                <a:cs typeface="Amiri" pitchFamily="2" charset="-78"/>
              </a:rPr>
              <a:t>HOW</a:t>
            </a:r>
            <a:endParaRPr lang="en-US" sz="900" dirty="0"/>
          </a:p>
          <a:p>
            <a:pPr indent="0" marL="0">
              <a:buNone/>
            </a:pPr>
            <a:r>
              <a:rPr lang="en-US" sz="1150" dirty="0">
                <a:solidFill>
                  <a:srgbClr val="1F2A37"/>
                </a:solidFill>
                <a:latin typeface="Calibri" pitchFamily="34" charset="0"/>
                <a:cs typeface="Amiri" pitchFamily="2" charset="-78"/>
              </a:rPr>
              <a:t>Include layered identity and correct one broad statement with careful language.</a:t>
            </a:r>
            <a:endParaRPr lang="en-US" sz="900" dirty="0"/>
          </a:p>
        </p:txBody>
      </p:sp>
      <p:sp>
        <p:nvSpPr>
          <p:cNvPr id="39" name="Text 36"/>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30 / 37</a:t>
            </a:r>
            <a:endParaRPr lang="en-US" sz="850" dirty="0"/>
          </a:p>
        </p:txBody>
      </p:sp>
    </p:spTree>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name="Slide 31">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TB-L01 · Identity and Profiles</a:t>
            </a:r>
            <a:endParaRPr lang="en-US" sz="950" dirty="0"/>
          </a:p>
        </p:txBody>
      </p:sp>
      <p:sp>
        <p:nvSpPr>
          <p:cNvPr id="8" name="Shape 6"/>
          <p:cNvSpPr/>
          <p:nvPr/>
        </p:nvSpPr>
        <p:spPr>
          <a:xfrm>
            <a:off x="7388352" y="274320"/>
            <a:ext cx="1371600" cy="329184"/>
          </a:xfrm>
          <a:prstGeom prst="roundRect">
            <a:avLst>
              <a:gd name="adj" fmla="val 50000"/>
            </a:avLst>
          </a:prstGeom>
          <a:solidFill>
            <a:srgbClr val="1E6B52"/>
          </a:solidFill>
          <a:ln w="12700">
            <a:solidFill>
              <a:srgbClr val="1E6B52"/>
            </a:solidFill>
            <a:prstDash val="solid"/>
          </a:ln>
        </p:spPr>
      </p:sp>
      <p:sp>
        <p:nvSpPr>
          <p:cNvPr id="9" name="Text 7"/>
          <p:cNvSpPr txBox="1"/>
          <p:nvPr/>
        </p:nvSpPr>
        <p:spPr>
          <a:xfrm>
            <a:off x="7388352" y="274320"/>
            <a:ext cx="1371600"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YOU DO</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1E6B52"/>
                </a:solidFill>
                <a:latin typeface="Calibri" pitchFamily="34" charset="0"/>
                <a:cs typeface="Amiri" pitchFamily="2" charset="-78"/>
              </a:rPr>
              <a:t>YOU DO · SUPPORT · CORE AND DEVELOP FRAMES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Sentence frames and word bank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قَوَالِبُ الجُمَلِ</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TB-L01</a:t>
            </a:r>
            <a:endParaRPr lang="en-US" sz="850" dirty="0"/>
          </a:p>
        </p:txBody>
      </p:sp>
      <p:sp>
        <p:nvSpPr>
          <p:cNvPr id="15" name="Shape 12"/>
          <p:cNvSpPr/>
          <p:nvPr/>
        </p:nvSpPr>
        <p:spPr>
          <a:xfrm>
            <a:off x="457200" y="1810512"/>
            <a:ext cx="5541264" cy="3566160"/>
          </a:xfrm>
          <a:prstGeom prst="roundRect">
            <a:avLst>
              <a:gd name="adj" fmla="val 2051"/>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94360" y="1901952"/>
            <a:ext cx="1051560" cy="274320"/>
          </a:xfrm>
          <a:prstGeom prst="roundRect">
            <a:avLst>
              <a:gd name="adj" fmla="val 50000"/>
            </a:avLst>
          </a:prstGeom>
          <a:solidFill>
            <a:srgbClr val="C9780A"/>
          </a:solidFill>
          <a:ln w="12700">
            <a:solidFill>
              <a:srgbClr val="C9780A"/>
            </a:solidFill>
            <a:prstDash val="solid"/>
          </a:ln>
        </p:spPr>
      </p:sp>
      <p:sp>
        <p:nvSpPr>
          <p:cNvPr id="17" name="Text 14"/>
          <p:cNvSpPr txBox="1"/>
          <p:nvPr/>
        </p:nvSpPr>
        <p:spPr>
          <a:xfrm>
            <a:off x="594360"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18" name="Text 15"/>
          <p:cNvSpPr txBox="1"/>
          <p:nvPr/>
        </p:nvSpPr>
        <p:spPr>
          <a:xfrm>
            <a:off x="2468880"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بَرِيطَانِيَا التَّحِيَّةُ ______ .</a:t>
            </a:r>
            <a:endParaRPr lang="ar-SA" sz="1800" dirty="0"/>
          </a:p>
        </p:txBody>
      </p:sp>
      <p:sp>
        <p:nvSpPr>
          <p:cNvPr id="19" name="Text 16"/>
          <p:cNvSpPr txBox="1"/>
          <p:nvPr/>
        </p:nvSpPr>
        <p:spPr>
          <a:xfrm>
            <a:off x="594360"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Britain the greeting is …</a:t>
            </a:r>
            <a:endParaRPr lang="en-US" sz="1050" dirty="0"/>
          </a:p>
        </p:txBody>
      </p:sp>
      <p:sp>
        <p:nvSpPr>
          <p:cNvPr id="20" name="Text 17"/>
          <p:cNvSpPr txBox="1"/>
          <p:nvPr/>
        </p:nvSpPr>
        <p:spPr>
          <a:xfrm>
            <a:off x="2468880"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______ مُتَشَابِهٌ، وَلَكِنَّ ______ مُخْتَلِفٌ.</a:t>
            </a:r>
            <a:endParaRPr lang="ar-SA" sz="1800" dirty="0"/>
          </a:p>
        </p:txBody>
      </p:sp>
      <p:sp>
        <p:nvSpPr>
          <p:cNvPr id="21" name="Text 18"/>
          <p:cNvSpPr txBox="1"/>
          <p:nvPr/>
        </p:nvSpPr>
        <p:spPr>
          <a:xfrm>
            <a:off x="594360"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 is similar, but … is different.</a:t>
            </a:r>
            <a:endParaRPr lang="en-US" sz="1050" dirty="0"/>
          </a:p>
        </p:txBody>
      </p:sp>
      <p:sp>
        <p:nvSpPr>
          <p:cNvPr id="22" name="Text 19"/>
          <p:cNvSpPr txBox="1"/>
          <p:nvPr/>
        </p:nvSpPr>
        <p:spPr>
          <a:xfrm>
            <a:off x="2468880"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تَخْتَلِفُ العَادَاتُ مِنْ عَائِلَةٍ إِلَى أُخْرَى.</a:t>
            </a:r>
            <a:endParaRPr lang="ar-SA" sz="1800" dirty="0"/>
          </a:p>
        </p:txBody>
      </p:sp>
      <p:sp>
        <p:nvSpPr>
          <p:cNvPr id="23" name="Text 20"/>
          <p:cNvSpPr txBox="1"/>
          <p:nvPr/>
        </p:nvSpPr>
        <p:spPr>
          <a:xfrm>
            <a:off x="594360"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Customs differ from one family to another.</a:t>
            </a:r>
            <a:endParaRPr lang="en-US" sz="1050" dirty="0"/>
          </a:p>
        </p:txBody>
      </p:sp>
      <p:sp>
        <p:nvSpPr>
          <p:cNvPr id="24" name="Text 21"/>
          <p:cNvSpPr txBox="1"/>
          <p:nvPr/>
        </p:nvSpPr>
        <p:spPr>
          <a:xfrm>
            <a:off x="2468880"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الاِحْتِرَامُ أَهَمُّ مِنْ ______ .</a:t>
            </a:r>
            <a:endParaRPr lang="ar-SA" sz="1800" dirty="0"/>
          </a:p>
        </p:txBody>
      </p:sp>
      <p:sp>
        <p:nvSpPr>
          <p:cNvPr id="25" name="Text 22"/>
          <p:cNvSpPr txBox="1"/>
          <p:nvPr/>
        </p:nvSpPr>
        <p:spPr>
          <a:xfrm>
            <a:off x="594360"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Respect is more important than …</a:t>
            </a:r>
            <a:endParaRPr lang="en-US" sz="1050" dirty="0"/>
          </a:p>
        </p:txBody>
      </p:sp>
      <p:sp>
        <p:nvSpPr>
          <p:cNvPr id="26" name="Text 23"/>
          <p:cNvSpPr txBox="1"/>
          <p:nvPr/>
        </p:nvSpPr>
        <p:spPr>
          <a:xfrm>
            <a:off x="2468880" y="4517136"/>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هُوِيَّتِي مُتَنَوِّعَةٌ.</a:t>
            </a:r>
            <a:endParaRPr lang="ar-SA" sz="1800" dirty="0"/>
          </a:p>
        </p:txBody>
      </p:sp>
      <p:sp>
        <p:nvSpPr>
          <p:cNvPr id="27" name="Text 24"/>
          <p:cNvSpPr txBox="1"/>
          <p:nvPr/>
        </p:nvSpPr>
        <p:spPr>
          <a:xfrm>
            <a:off x="594360" y="4517136"/>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My identity is diverse.</a:t>
            </a:r>
            <a:endParaRPr lang="en-US" sz="1050" dirty="0"/>
          </a:p>
        </p:txBody>
      </p:sp>
      <p:sp>
        <p:nvSpPr>
          <p:cNvPr id="28" name="Shape 25"/>
          <p:cNvSpPr/>
          <p:nvPr/>
        </p:nvSpPr>
        <p:spPr>
          <a:xfrm>
            <a:off x="6190488" y="1810512"/>
            <a:ext cx="5541264" cy="3566160"/>
          </a:xfrm>
          <a:prstGeom prst="roundRect">
            <a:avLst>
              <a:gd name="adj" fmla="val 2051"/>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10543032" y="1901952"/>
            <a:ext cx="1051560" cy="274320"/>
          </a:xfrm>
          <a:prstGeom prst="roundRect">
            <a:avLst>
              <a:gd name="adj" fmla="val 50000"/>
            </a:avLst>
          </a:prstGeom>
          <a:solidFill>
            <a:srgbClr val="2E8B57"/>
          </a:solidFill>
          <a:ln w="12700">
            <a:solidFill>
              <a:srgbClr val="2E8B57"/>
            </a:solidFill>
            <a:prstDash val="solid"/>
          </a:ln>
        </p:spPr>
      </p:sp>
      <p:sp>
        <p:nvSpPr>
          <p:cNvPr id="30" name="Text 27"/>
          <p:cNvSpPr txBox="1"/>
          <p:nvPr/>
        </p:nvSpPr>
        <p:spPr>
          <a:xfrm>
            <a:off x="10543032" y="1901952"/>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1" name="Text 28"/>
          <p:cNvSpPr txBox="1"/>
          <p:nvPr/>
        </p:nvSpPr>
        <p:spPr>
          <a:xfrm>
            <a:off x="8202168" y="2249424"/>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عَائِلَتِي نَقُولُ ______ .</a:t>
            </a:r>
            <a:endParaRPr lang="ar-SA" sz="1800" dirty="0"/>
          </a:p>
        </p:txBody>
      </p:sp>
      <p:sp>
        <p:nvSpPr>
          <p:cNvPr id="32" name="Text 29"/>
          <p:cNvSpPr txBox="1"/>
          <p:nvPr/>
        </p:nvSpPr>
        <p:spPr>
          <a:xfrm>
            <a:off x="6327648" y="2249424"/>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my family / this family we say …</a:t>
            </a:r>
            <a:endParaRPr lang="en-US" sz="1050" dirty="0"/>
          </a:p>
        </p:txBody>
      </p:sp>
      <p:sp>
        <p:nvSpPr>
          <p:cNvPr id="33" name="Text 30"/>
          <p:cNvSpPr txBox="1"/>
          <p:nvPr/>
        </p:nvSpPr>
        <p:spPr>
          <a:xfrm>
            <a:off x="8202168" y="2816352"/>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عِنْدَمَا يَزُورُنَا ضَيْفٌ، نُقَدِّمُ ______ .</a:t>
            </a:r>
            <a:endParaRPr lang="ar-SA" sz="1800" dirty="0"/>
          </a:p>
        </p:txBody>
      </p:sp>
      <p:sp>
        <p:nvSpPr>
          <p:cNvPr id="34" name="Text 31"/>
          <p:cNvSpPr txBox="1"/>
          <p:nvPr/>
        </p:nvSpPr>
        <p:spPr>
          <a:xfrm>
            <a:off x="6327648" y="2816352"/>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When a guest visits, we offer …</a:t>
            </a:r>
            <a:endParaRPr lang="en-US" sz="1050" dirty="0"/>
          </a:p>
        </p:txBody>
      </p:sp>
      <p:sp>
        <p:nvSpPr>
          <p:cNvPr id="35" name="Text 32"/>
          <p:cNvSpPr txBox="1"/>
          <p:nvPr/>
        </p:nvSpPr>
        <p:spPr>
          <a:xfrm>
            <a:off x="8202168" y="3383280"/>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فِي بَعْضِ العَائِلَاتِ ______ .</a:t>
            </a:r>
            <a:endParaRPr lang="ar-SA" sz="1800" dirty="0"/>
          </a:p>
        </p:txBody>
      </p:sp>
      <p:sp>
        <p:nvSpPr>
          <p:cNvPr id="36" name="Text 33"/>
          <p:cNvSpPr txBox="1"/>
          <p:nvPr/>
        </p:nvSpPr>
        <p:spPr>
          <a:xfrm>
            <a:off x="6327648" y="3383280"/>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In some families …</a:t>
            </a:r>
            <a:endParaRPr lang="en-US" sz="1050" dirty="0"/>
          </a:p>
        </p:txBody>
      </p:sp>
      <p:sp>
        <p:nvSpPr>
          <p:cNvPr id="37" name="Text 34"/>
          <p:cNvSpPr txBox="1"/>
          <p:nvPr/>
        </p:nvSpPr>
        <p:spPr>
          <a:xfrm>
            <a:off x="8202168" y="3950208"/>
            <a:ext cx="3383280" cy="538582"/>
          </a:xfrm>
          <a:prstGeom prst="rect">
            <a:avLst/>
          </a:prstGeom>
          <a:noFill/>
          <a:ln/>
        </p:spPr>
        <p:txBody>
          <a:bodyPr wrap="square" lIns="0" tIns="0" rIns="0" bIns="0" rtlCol="0" anchor="ctr"/>
          <a:lstStyle/>
          <a:p>
            <a:pPr rtl="1" algn="r" indent="0" marL="0">
              <a:buNone/>
            </a:pPr>
            <a:r>
              <a:rPr lang="ar-SA" altLang="en-US" sz="1800" b="1" dirty="0">
                <a:solidFill>
                  <a:srgbClr val="1B3B6F"/>
                </a:solidFill>
                <a:latin typeface="Amiri" pitchFamily="2" charset="-78"/>
                <a:ea typeface="Amiri" pitchFamily="2" charset="-78"/>
                <a:cs typeface="Amiri" pitchFamily="2" charset="-78"/>
              </a:rPr>
              <a:t>أَنَا فَخُورٌ / فَخُورَةٌ بِـ ______ .</a:t>
            </a:r>
            <a:endParaRPr lang="ar-SA" sz="1800" dirty="0"/>
          </a:p>
        </p:txBody>
      </p:sp>
      <p:sp>
        <p:nvSpPr>
          <p:cNvPr id="38" name="Text 35"/>
          <p:cNvSpPr txBox="1"/>
          <p:nvPr/>
        </p:nvSpPr>
        <p:spPr>
          <a:xfrm>
            <a:off x="6327648" y="3950208"/>
            <a:ext cx="1828800" cy="538582"/>
          </a:xfrm>
          <a:prstGeom prst="rect">
            <a:avLst/>
          </a:prstGeom>
          <a:noFill/>
          <a:ln/>
        </p:spPr>
        <p:txBody>
          <a:bodyPr wrap="square" lIns="0" tIns="0" rIns="0" bIns="0" rtlCol="0" anchor="ctr"/>
          <a:lstStyle/>
          <a:p>
            <a:pPr algn="l" indent="0" marL="0">
              <a:buNone/>
            </a:pPr>
            <a:r>
              <a:rPr lang="en-US" sz="1050" i="1" dirty="0">
                <a:solidFill>
                  <a:srgbClr val="5A6472"/>
                </a:solidFill>
                <a:latin typeface="Calibri" pitchFamily="34" charset="0"/>
                <a:cs typeface="Amiri" pitchFamily="2" charset="-78"/>
              </a:rPr>
              <a:t>I am proud of my culture.</a:t>
            </a:r>
            <a:endParaRPr lang="en-US" sz="1050" dirty="0"/>
          </a:p>
        </p:txBody>
      </p:sp>
      <p:sp>
        <p:nvSpPr>
          <p:cNvPr id="39" name="Shape 36"/>
          <p:cNvSpPr/>
          <p:nvPr/>
        </p:nvSpPr>
        <p:spPr>
          <a:xfrm>
            <a:off x="457200" y="5504688"/>
            <a:ext cx="11274552" cy="804672"/>
          </a:xfrm>
          <a:prstGeom prst="roundRect">
            <a:avLst>
              <a:gd name="adj" fmla="val 9091"/>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0" name="Text 37"/>
          <p:cNvSpPr txBox="1"/>
          <p:nvPr/>
        </p:nvSpPr>
        <p:spPr>
          <a:xfrm>
            <a:off x="640080" y="5541264"/>
            <a:ext cx="1828800" cy="237744"/>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WORD BANK</a:t>
            </a:r>
            <a:endParaRPr lang="en-US" sz="950" dirty="0"/>
          </a:p>
        </p:txBody>
      </p:sp>
      <p:sp>
        <p:nvSpPr>
          <p:cNvPr id="41" name="Text 38"/>
          <p:cNvSpPr txBox="1"/>
          <p:nvPr/>
        </p:nvSpPr>
        <p:spPr>
          <a:xfrm>
            <a:off x="640080" y="5760720"/>
            <a:ext cx="10908792" cy="512064"/>
          </a:xfrm>
          <a:prstGeom prst="rect">
            <a:avLst/>
          </a:prstGeom>
          <a:noFill/>
          <a:ln/>
        </p:spPr>
        <p:txBody>
          <a:bodyPr wrap="square" lIns="0" tIns="0" rIns="0" bIns="0" rtlCol="0" anchor="ctr"/>
          <a:lstStyle/>
          <a:p>
            <a:pPr rtl="1" algn="r" indent="0" marL="0">
              <a:buNone/>
            </a:pPr>
            <a:r>
              <a:rPr lang="ar-SA" altLang="en-US" sz="1600" b="1" dirty="0">
                <a:solidFill>
                  <a:srgbClr val="1B3B6F"/>
                </a:solidFill>
                <a:latin typeface="Amiri" pitchFamily="2" charset="-78"/>
                <a:ea typeface="Amiri" pitchFamily="2" charset="-78"/>
                <a:cs typeface="Amiri" pitchFamily="2" charset="-78"/>
              </a:rPr>
              <a:t>ثَقَافَةٌ  ·  عَادَاتٌ  ·  تَقَالِيدُ  ·  اِحْتِرَامٌ  ·  ضِيَافَةٌ  ·  عَائِلَةٌ  ·  هُوِيَّةٌ  ·  الشَّايَ  ·  القَهْوَةَ  ·  التَّمْرَ  ·  مُتَشَابِهٌ  ·  مُخْتَلِفٌ  ·  أَحْيَانًا</a:t>
            </a:r>
            <a:endParaRPr lang="ar-SA" sz="1600" dirty="0"/>
          </a:p>
        </p:txBody>
      </p:sp>
      <p:sp>
        <p:nvSpPr>
          <p:cNvPr id="42" name="Text 39"/>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31 / 37</a:t>
            </a:r>
            <a:endParaRPr lang="en-US" sz="850" dirty="0"/>
          </a:p>
        </p:txBody>
      </p:sp>
    </p:spTree>
  </p:cSld>
  <p:clrMapOvr>
    <a:masterClrMapping/>
  </p:clrMapOvr>
</p:sld>
</file>

<file path=ppt/slides/slide32.xml><?xml version="1.0" encoding="utf-8"?>
<p:sld xmlns:a="http://schemas.openxmlformats.org/drawingml/2006/main" xmlns:r="http://schemas.openxmlformats.org/officeDocument/2006/relationships" xmlns:p="http://schemas.openxmlformats.org/presentationml/2006/main">
  <p:cSld name="Slide 32">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TB-L01 · Identity and Profiles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COMPARE WITH THE MODEL</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What a strong answer looks like</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نَمُوذَجُ الإِجَابَةِ</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TB-L01</a:t>
            </a:r>
            <a:endParaRPr lang="en-US" sz="850" dirty="0"/>
          </a:p>
        </p:txBody>
      </p:sp>
      <p:sp>
        <p:nvSpPr>
          <p:cNvPr id="15" name="Shape 12"/>
          <p:cNvSpPr/>
          <p:nvPr/>
        </p:nvSpPr>
        <p:spPr>
          <a:xfrm>
            <a:off x="457200" y="1810512"/>
            <a:ext cx="11274552" cy="3246120"/>
          </a:xfrm>
          <a:prstGeom prst="roundRect">
            <a:avLst>
              <a:gd name="adj" fmla="val 2254"/>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Text 13"/>
          <p:cNvSpPr txBox="1"/>
          <p:nvPr/>
        </p:nvSpPr>
        <p:spPr>
          <a:xfrm>
            <a:off x="685800" y="1938528"/>
            <a:ext cx="10817352" cy="2990088"/>
          </a:xfrm>
          <a:prstGeom prst="rect">
            <a:avLst/>
          </a:prstGeom>
          <a:noFill/>
          <a:ln/>
        </p:spPr>
        <p:txBody>
          <a:bodyPr wrap="square" lIns="0" tIns="0" rIns="0" bIns="0" rtlCol="0" anchor="ctr"/>
          <a:lstStyle/>
          <a:p>
            <a:pPr rtl="1" algn="r" indent="0" marL="0">
              <a:lnSpc>
                <a:spcPct val="120000"/>
              </a:lnSpc>
              <a:buNone/>
            </a:pPr>
            <a:r>
              <a:rPr lang="ar-SA" altLang="en-US" sz="2600" dirty="0">
                <a:solidFill>
                  <a:srgbClr val="1F2A37"/>
                </a:solidFill>
                <a:latin typeface="Amiri" pitchFamily="2" charset="-78"/>
                <a:ea typeface="Amiri" pitchFamily="2" charset="-78"/>
                <a:cs typeface="Amiri" pitchFamily="2" charset="-78"/>
              </a:rPr>
              <a:t>فِي عَائِلَتِي نَقُولُ السَّلَامُ عَلَيْكُمْ، وَنَسْأَلُ: كَيْفَ الأَهْلُ؟ عِنْدَمَا يَزُورُنَا ضَيْفٌ، نُقَدِّمُ الشَّايَ. فِي المَدْرَسَةِ فِي بَرِيطَانِيَا التَّحِيَّةُ قَصِيرَةٌ، وَلَكِنَّ الاِحْتِرَامَ مُتَشَابِهٌ. فِي بَعْضِ العَائِلَاتِ تَخْتَلِفُ العَادَاتُ. أَنَا فَخُورٌ بِثَقَافَتِي.</a:t>
            </a:r>
            <a:endParaRPr lang="ar-SA" sz="2600" dirty="0"/>
          </a:p>
        </p:txBody>
      </p:sp>
      <p:sp>
        <p:nvSpPr>
          <p:cNvPr id="17" name="Shape 14"/>
          <p:cNvSpPr/>
          <p:nvPr/>
        </p:nvSpPr>
        <p:spPr>
          <a:xfrm>
            <a:off x="457200" y="5166360"/>
            <a:ext cx="11274552" cy="1024128"/>
          </a:xfrm>
          <a:prstGeom prst="roundRect">
            <a:avLst>
              <a:gd name="adj" fmla="val 7143"/>
            </a:avLst>
          </a:prstGeom>
          <a:solidFill>
            <a:srgbClr val="F4F1EA"/>
          </a:solidFill>
          <a:ln w="9525">
            <a:solidFill>
              <a:srgbClr val="F4F1EA"/>
            </a:solidFill>
            <a:prstDash val="solid"/>
          </a:ln>
        </p:spPr>
      </p:sp>
      <p:sp>
        <p:nvSpPr>
          <p:cNvPr id="18" name="Text 15"/>
          <p:cNvSpPr txBox="1"/>
          <p:nvPr/>
        </p:nvSpPr>
        <p:spPr>
          <a:xfrm>
            <a:off x="640080" y="5202936"/>
            <a:ext cx="10908792" cy="950976"/>
          </a:xfrm>
          <a:prstGeom prst="rect">
            <a:avLst/>
          </a:prstGeom>
          <a:noFill/>
          <a:ln/>
        </p:spPr>
        <p:txBody>
          <a:bodyPr wrap="square" lIns="0" tIns="0" rIns="0" bIns="0" rtlCol="0" anchor="t"/>
          <a:lstStyle/>
          <a:p>
            <a:pPr algn="l" indent="0" marL="0">
              <a:buNone/>
            </a:pPr>
            <a:r>
              <a:rPr lang="en-US" sz="1150" i="1" dirty="0">
                <a:solidFill>
                  <a:srgbClr val="5A6472"/>
                </a:solidFill>
                <a:latin typeface="Calibri" pitchFamily="34" charset="0"/>
                <a:cs typeface="Amiri" pitchFamily="2" charset="-78"/>
              </a:rPr>
              <a:t>In my family we say “peace be upon you”, and we ask: How is the family? When a guest visits us, we offer tea. At school in Britain the greeting is short, but the respect is similar. In some families the customs differ. I am proud of my culture.</a:t>
            </a:r>
            <a:endParaRPr lang="en-US" sz="1150" dirty="0"/>
          </a:p>
        </p:txBody>
      </p:sp>
      <p:sp>
        <p:nvSpPr>
          <p:cNvPr id="19" name="Text 16"/>
          <p:cNvSpPr txBox="1"/>
          <p:nvPr/>
        </p:nvSpPr>
        <p:spPr>
          <a:xfrm>
            <a:off x="457200" y="6053328"/>
            <a:ext cx="2194560" cy="256032"/>
          </a:xfrm>
          <a:prstGeom prst="rect">
            <a:avLst/>
          </a:prstGeom>
          <a:noFill/>
          <a:ln/>
        </p:spPr>
        <p:txBody>
          <a:bodyPr wrap="square" lIns="0" tIns="0" rIns="0" bIns="0" rtlCol="0" anchor="ctr"/>
          <a:lstStyle/>
          <a:p>
            <a:pPr algn="l" indent="0" marL="0">
              <a:buNone/>
            </a:pPr>
            <a:r>
              <a:rPr lang="en-US" sz="950" b="1" spc="200" kern="0" dirty="0">
                <a:solidFill>
                  <a:srgbClr val="8A6D1E"/>
                </a:solidFill>
                <a:latin typeface="Calibri" pitchFamily="34" charset="0"/>
                <a:cs typeface="Amiri" pitchFamily="2" charset="-78"/>
              </a:rPr>
              <a:t>FIND IN THE MODEL:</a:t>
            </a:r>
            <a:endParaRPr lang="en-US" sz="950" dirty="0"/>
          </a:p>
        </p:txBody>
      </p:sp>
      <p:sp>
        <p:nvSpPr>
          <p:cNvPr id="20" name="Shape 17"/>
          <p:cNvSpPr/>
          <p:nvPr/>
        </p:nvSpPr>
        <p:spPr>
          <a:xfrm>
            <a:off x="2697480" y="6035040"/>
            <a:ext cx="2148840" cy="274320"/>
          </a:xfrm>
          <a:prstGeom prst="roundRect">
            <a:avLst>
              <a:gd name="adj" fmla="val 50000"/>
            </a:avLst>
          </a:prstGeom>
          <a:solidFill>
            <a:srgbClr val="1D5FBF"/>
          </a:solidFill>
          <a:ln w="12700">
            <a:solidFill>
              <a:srgbClr val="1D5FBF"/>
            </a:solidFill>
            <a:prstDash val="solid"/>
          </a:ln>
        </p:spPr>
      </p:sp>
      <p:sp>
        <p:nvSpPr>
          <p:cNvPr id="21" name="Text 18"/>
          <p:cNvSpPr txBox="1"/>
          <p:nvPr/>
        </p:nvSpPr>
        <p:spPr>
          <a:xfrm>
            <a:off x="2697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greeting custom</a:t>
            </a:r>
            <a:endParaRPr lang="en-US" sz="950" dirty="0"/>
          </a:p>
        </p:txBody>
      </p:sp>
      <p:sp>
        <p:nvSpPr>
          <p:cNvPr id="22" name="Shape 19"/>
          <p:cNvSpPr/>
          <p:nvPr/>
        </p:nvSpPr>
        <p:spPr>
          <a:xfrm>
            <a:off x="4983480" y="6035040"/>
            <a:ext cx="2148840" cy="274320"/>
          </a:xfrm>
          <a:prstGeom prst="roundRect">
            <a:avLst>
              <a:gd name="adj" fmla="val 50000"/>
            </a:avLst>
          </a:prstGeom>
          <a:solidFill>
            <a:srgbClr val="1B3B6F"/>
          </a:solidFill>
          <a:ln w="12700">
            <a:solidFill>
              <a:srgbClr val="1B3B6F"/>
            </a:solidFill>
            <a:prstDash val="solid"/>
          </a:ln>
        </p:spPr>
      </p:sp>
      <p:sp>
        <p:nvSpPr>
          <p:cNvPr id="23" name="Text 20"/>
          <p:cNvSpPr txBox="1"/>
          <p:nvPr/>
        </p:nvSpPr>
        <p:spPr>
          <a:xfrm>
            <a:off x="4983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a hospitality custom</a:t>
            </a:r>
            <a:endParaRPr lang="en-US" sz="950" dirty="0"/>
          </a:p>
        </p:txBody>
      </p:sp>
      <p:sp>
        <p:nvSpPr>
          <p:cNvPr id="24" name="Shape 21"/>
          <p:cNvSpPr/>
          <p:nvPr/>
        </p:nvSpPr>
        <p:spPr>
          <a:xfrm>
            <a:off x="7269480" y="6035040"/>
            <a:ext cx="2148840" cy="274320"/>
          </a:xfrm>
          <a:prstGeom prst="roundRect">
            <a:avLst>
              <a:gd name="adj" fmla="val 50000"/>
            </a:avLst>
          </a:prstGeom>
          <a:solidFill>
            <a:srgbClr val="C77700"/>
          </a:solidFill>
          <a:ln w="12700">
            <a:solidFill>
              <a:srgbClr val="C77700"/>
            </a:solidFill>
            <a:prstDash val="solid"/>
          </a:ln>
        </p:spPr>
      </p:sp>
      <p:sp>
        <p:nvSpPr>
          <p:cNvPr id="25" name="Text 22"/>
          <p:cNvSpPr txBox="1"/>
          <p:nvPr/>
        </p:nvSpPr>
        <p:spPr>
          <a:xfrm>
            <a:off x="7269480" y="6035040"/>
            <a:ext cx="2148840" cy="274320"/>
          </a:xfrm>
          <a:prstGeom prst="rect">
            <a:avLst/>
          </a:prstGeom>
          <a:noFill/>
          <a:ln/>
        </p:spPr>
        <p:txBody>
          <a:bodyPr wrap="square" lIns="0" tIns="0" rIns="0" bIns="0" rtlCol="0" anchor="ctr"/>
          <a:lstStyle/>
          <a:p>
            <a:pPr algn="ctr" indent="0" marL="0">
              <a:buNone/>
            </a:pPr>
            <a:r>
              <a:rPr lang="en-US" sz="950" b="1" dirty="0">
                <a:solidFill>
                  <a:srgbClr val="FFFFFF"/>
                </a:solidFill>
                <a:latin typeface="Calibri" pitchFamily="34" charset="0"/>
                <a:cs typeface="Amiri" pitchFamily="2" charset="-78"/>
              </a:rPr>
              <a:t>similar … but …</a:t>
            </a:r>
            <a:endParaRPr lang="en-US" sz="950" dirty="0"/>
          </a:p>
        </p:txBody>
      </p:sp>
      <p:sp>
        <p:nvSpPr>
          <p:cNvPr id="26" name="Shape 23"/>
          <p:cNvSpPr/>
          <p:nvPr/>
        </p:nvSpPr>
        <p:spPr>
          <a:xfrm>
            <a:off x="9555480" y="6035040"/>
            <a:ext cx="2148840" cy="274320"/>
          </a:xfrm>
          <a:prstGeom prst="roundRect">
            <a:avLst>
              <a:gd name="adj" fmla="val 50000"/>
            </a:avLst>
          </a:prstGeom>
          <a:solidFill>
            <a:srgbClr val="7B3FA0"/>
          </a:solidFill>
          <a:ln w="12700">
            <a:solidFill>
              <a:srgbClr val="7B3FA0"/>
            </a:solidFill>
            <a:prstDash val="solid"/>
          </a:ln>
        </p:spPr>
      </p:sp>
      <p:sp>
        <p:nvSpPr>
          <p:cNvPr id="27" name="Text 24"/>
          <p:cNvSpPr txBox="1"/>
          <p:nvPr/>
        </p:nvSpPr>
        <p:spPr>
          <a:xfrm>
            <a:off x="9555480" y="6035040"/>
            <a:ext cx="2148840" cy="274320"/>
          </a:xfrm>
          <a:prstGeom prst="rect">
            <a:avLst/>
          </a:prstGeom>
          <a:noFill/>
          <a:ln/>
        </p:spPr>
        <p:txBody>
          <a:bodyPr wrap="square" lIns="0" tIns="0" rIns="0" bIns="0" rtlCol="0" anchor="ctr"/>
          <a:lstStyle/>
          <a:p>
            <a:pPr algn="ctr" indent="0" marL="0">
              <a:buNone/>
            </a:pPr>
            <a:r>
              <a:rPr lang="ar-SA" sz="950" b="1" dirty="0">
                <a:solidFill>
                  <a:srgbClr val="FFFFFF"/>
                </a:solidFill>
                <a:latin typeface="Calibri" pitchFamily="34" charset="0"/>
                <a:ea typeface="Amiri" pitchFamily="2" charset="-78"/>
                <a:cs typeface="Amiri" pitchFamily="2" charset="-78"/>
              </a:rPr>
              <a:t>فِي بَعْضِ العَائِلَاتِ</a:t>
            </a:r>
            <a:endParaRPr lang="en-US" sz="950" dirty="0"/>
          </a:p>
        </p:txBody>
      </p:sp>
      <p:sp>
        <p:nvSpPr>
          <p:cNvPr id="28" name="Text 25"/>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32 / 37</a:t>
            </a:r>
            <a:endParaRPr lang="en-US" sz="850" dirty="0"/>
          </a:p>
        </p:txBody>
      </p:sp>
    </p:spTree>
  </p:cSld>
  <p:clrMapOvr>
    <a:masterClrMapping/>
  </p:clrMapOvr>
</p:sld>
</file>

<file path=ppt/slides/slide33.xml><?xml version="1.0" encoding="utf-8"?>
<p:sld xmlns:a="http://schemas.openxmlformats.org/drawingml/2006/main" xmlns:r="http://schemas.openxmlformats.org/officeDocument/2006/relationships" xmlns:p="http://schemas.openxmlformats.org/presentationml/2006/main">
  <p:cSld name="Slide 33">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TB-L01 · Identity and Profiles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FEEDBACK · SUCCESS CRITERIA</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Check your work</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قَيِّمْ عَمَلَكَ</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TB-L01</a:t>
            </a:r>
            <a:endParaRPr lang="en-US" sz="850" dirty="0"/>
          </a:p>
        </p:txBody>
      </p:sp>
      <p:sp>
        <p:nvSpPr>
          <p:cNvPr id="15" name="Shape 12"/>
          <p:cNvSpPr/>
          <p:nvPr/>
        </p:nvSpPr>
        <p:spPr>
          <a:xfrm>
            <a:off x="457200" y="181051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85800" y="2086661"/>
            <a:ext cx="219456" cy="219456"/>
          </a:xfrm>
          <a:prstGeom prst="rect">
            <a:avLst/>
          </a:prstGeom>
          <a:solidFill>
            <a:srgbClr val="FFFFFF"/>
          </a:solidFill>
          <a:ln w="19050">
            <a:solidFill>
              <a:srgbClr val="2E8B57"/>
            </a:solidFill>
            <a:prstDash val="solid"/>
          </a:ln>
        </p:spPr>
      </p:sp>
      <p:sp>
        <p:nvSpPr>
          <p:cNvPr id="17" name="Text 14"/>
          <p:cNvSpPr txBox="1"/>
          <p:nvPr/>
        </p:nvSpPr>
        <p:spPr>
          <a:xfrm>
            <a:off x="1097280" y="181051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used at least four cultural words.</a:t>
            </a:r>
            <a:endParaRPr lang="en-US" sz="1300" dirty="0"/>
          </a:p>
        </p:txBody>
      </p:sp>
      <p:sp>
        <p:nvSpPr>
          <p:cNvPr id="18" name="Shape 15"/>
          <p:cNvSpPr/>
          <p:nvPr/>
        </p:nvSpPr>
        <p:spPr>
          <a:xfrm>
            <a:off x="6583680" y="2068373"/>
            <a:ext cx="1097280" cy="256032"/>
          </a:xfrm>
          <a:prstGeom prst="roundRect">
            <a:avLst>
              <a:gd name="adj" fmla="val 50000"/>
            </a:avLst>
          </a:prstGeom>
          <a:solidFill>
            <a:srgbClr val="2E8B57"/>
          </a:solidFill>
          <a:ln w="12700">
            <a:solidFill>
              <a:srgbClr val="2E8B57"/>
            </a:solidFill>
            <a:prstDash val="solid"/>
          </a:ln>
        </p:spPr>
      </p:sp>
      <p:sp>
        <p:nvSpPr>
          <p:cNvPr id="19" name="Text 16"/>
          <p:cNvSpPr txBox="1"/>
          <p:nvPr/>
        </p:nvSpPr>
        <p:spPr>
          <a:xfrm>
            <a:off x="6583680" y="2068373"/>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0" name="Shape 17"/>
          <p:cNvSpPr/>
          <p:nvPr/>
        </p:nvSpPr>
        <p:spPr>
          <a:xfrm>
            <a:off x="457200" y="2710282"/>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1" name="Shape 18"/>
          <p:cNvSpPr/>
          <p:nvPr/>
        </p:nvSpPr>
        <p:spPr>
          <a:xfrm>
            <a:off x="685800" y="2986430"/>
            <a:ext cx="219456" cy="219456"/>
          </a:xfrm>
          <a:prstGeom prst="rect">
            <a:avLst/>
          </a:prstGeom>
          <a:solidFill>
            <a:srgbClr val="FFFFFF"/>
          </a:solidFill>
          <a:ln w="19050">
            <a:solidFill>
              <a:srgbClr val="2E8B57"/>
            </a:solidFill>
            <a:prstDash val="solid"/>
          </a:ln>
        </p:spPr>
      </p:sp>
      <p:sp>
        <p:nvSpPr>
          <p:cNvPr id="22" name="Text 19"/>
          <p:cNvSpPr txBox="1"/>
          <p:nvPr/>
        </p:nvSpPr>
        <p:spPr>
          <a:xfrm>
            <a:off x="1097280" y="2710282"/>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described a greeting respectfully.</a:t>
            </a:r>
            <a:endParaRPr lang="en-US" sz="1300" dirty="0"/>
          </a:p>
        </p:txBody>
      </p:sp>
      <p:sp>
        <p:nvSpPr>
          <p:cNvPr id="23" name="Shape 20"/>
          <p:cNvSpPr/>
          <p:nvPr/>
        </p:nvSpPr>
        <p:spPr>
          <a:xfrm>
            <a:off x="6583680" y="2968142"/>
            <a:ext cx="1097280" cy="256032"/>
          </a:xfrm>
          <a:prstGeom prst="roundRect">
            <a:avLst>
              <a:gd name="adj" fmla="val 50000"/>
            </a:avLst>
          </a:prstGeom>
          <a:solidFill>
            <a:srgbClr val="2E8B57"/>
          </a:solidFill>
          <a:ln w="12700">
            <a:solidFill>
              <a:srgbClr val="2E8B57"/>
            </a:solidFill>
            <a:prstDash val="solid"/>
          </a:ln>
        </p:spPr>
      </p:sp>
      <p:sp>
        <p:nvSpPr>
          <p:cNvPr id="24" name="Text 21"/>
          <p:cNvSpPr txBox="1"/>
          <p:nvPr/>
        </p:nvSpPr>
        <p:spPr>
          <a:xfrm>
            <a:off x="6583680" y="296814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CORE</a:t>
            </a:r>
            <a:endParaRPr lang="en-US" sz="800" dirty="0"/>
          </a:p>
        </p:txBody>
      </p:sp>
      <p:sp>
        <p:nvSpPr>
          <p:cNvPr id="25" name="Shape 22"/>
          <p:cNvSpPr/>
          <p:nvPr/>
        </p:nvSpPr>
        <p:spPr>
          <a:xfrm>
            <a:off x="457200" y="361005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6" name="Shape 23"/>
          <p:cNvSpPr/>
          <p:nvPr/>
        </p:nvSpPr>
        <p:spPr>
          <a:xfrm>
            <a:off x="685800" y="3886200"/>
            <a:ext cx="219456" cy="219456"/>
          </a:xfrm>
          <a:prstGeom prst="rect">
            <a:avLst/>
          </a:prstGeom>
          <a:solidFill>
            <a:srgbClr val="FFFFFF"/>
          </a:solidFill>
          <a:ln w="19050">
            <a:solidFill>
              <a:srgbClr val="C9780A"/>
            </a:solidFill>
            <a:prstDash val="solid"/>
          </a:ln>
        </p:spPr>
      </p:sp>
      <p:sp>
        <p:nvSpPr>
          <p:cNvPr id="27" name="Text 24"/>
          <p:cNvSpPr txBox="1"/>
          <p:nvPr/>
        </p:nvSpPr>
        <p:spPr>
          <a:xfrm>
            <a:off x="1097280" y="361005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gave one similarity and one difference.</a:t>
            </a:r>
            <a:endParaRPr lang="en-US" sz="1300" dirty="0"/>
          </a:p>
        </p:txBody>
      </p:sp>
      <p:sp>
        <p:nvSpPr>
          <p:cNvPr id="28" name="Shape 25"/>
          <p:cNvSpPr/>
          <p:nvPr/>
        </p:nvSpPr>
        <p:spPr>
          <a:xfrm>
            <a:off x="6583680" y="3867912"/>
            <a:ext cx="1097280" cy="256032"/>
          </a:xfrm>
          <a:prstGeom prst="roundRect">
            <a:avLst>
              <a:gd name="adj" fmla="val 50000"/>
            </a:avLst>
          </a:prstGeom>
          <a:solidFill>
            <a:srgbClr val="C9780A"/>
          </a:solidFill>
          <a:ln w="12700">
            <a:solidFill>
              <a:srgbClr val="C9780A"/>
            </a:solidFill>
            <a:prstDash val="solid"/>
          </a:ln>
        </p:spPr>
      </p:sp>
      <p:sp>
        <p:nvSpPr>
          <p:cNvPr id="29" name="Text 26"/>
          <p:cNvSpPr txBox="1"/>
          <p:nvPr/>
        </p:nvSpPr>
        <p:spPr>
          <a:xfrm>
            <a:off x="6583680" y="386791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0" name="Shape 27"/>
          <p:cNvSpPr/>
          <p:nvPr/>
        </p:nvSpPr>
        <p:spPr>
          <a:xfrm>
            <a:off x="457200" y="4509821"/>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685800" y="4785970"/>
            <a:ext cx="219456" cy="219456"/>
          </a:xfrm>
          <a:prstGeom prst="rect">
            <a:avLst/>
          </a:prstGeom>
          <a:solidFill>
            <a:srgbClr val="FFFFFF"/>
          </a:solidFill>
          <a:ln w="19050">
            <a:solidFill>
              <a:srgbClr val="C9780A"/>
            </a:solidFill>
            <a:prstDash val="solid"/>
          </a:ln>
        </p:spPr>
      </p:sp>
      <p:sp>
        <p:nvSpPr>
          <p:cNvPr id="32" name="Text 29"/>
          <p:cNvSpPr txBox="1"/>
          <p:nvPr/>
        </p:nvSpPr>
        <p:spPr>
          <a:xfrm>
            <a:off x="1097280" y="4509821"/>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avoided “all” and “always” — I used “in some families”.</a:t>
            </a:r>
            <a:endParaRPr lang="en-US" sz="1300" dirty="0"/>
          </a:p>
        </p:txBody>
      </p:sp>
      <p:sp>
        <p:nvSpPr>
          <p:cNvPr id="33" name="Shape 30"/>
          <p:cNvSpPr/>
          <p:nvPr/>
        </p:nvSpPr>
        <p:spPr>
          <a:xfrm>
            <a:off x="6583680" y="4767682"/>
            <a:ext cx="1097280" cy="256032"/>
          </a:xfrm>
          <a:prstGeom prst="roundRect">
            <a:avLst>
              <a:gd name="adj" fmla="val 50000"/>
            </a:avLst>
          </a:prstGeom>
          <a:solidFill>
            <a:srgbClr val="C9780A"/>
          </a:solidFill>
          <a:ln w="12700">
            <a:solidFill>
              <a:srgbClr val="C9780A"/>
            </a:solidFill>
            <a:prstDash val="solid"/>
          </a:ln>
        </p:spPr>
      </p:sp>
      <p:sp>
        <p:nvSpPr>
          <p:cNvPr id="34" name="Text 31"/>
          <p:cNvSpPr txBox="1"/>
          <p:nvPr/>
        </p:nvSpPr>
        <p:spPr>
          <a:xfrm>
            <a:off x="6583680" y="4767682"/>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DEVELOP</a:t>
            </a:r>
            <a:endParaRPr lang="en-US" sz="800" dirty="0"/>
          </a:p>
        </p:txBody>
      </p:sp>
      <p:sp>
        <p:nvSpPr>
          <p:cNvPr id="35" name="Shape 32"/>
          <p:cNvSpPr/>
          <p:nvPr/>
        </p:nvSpPr>
        <p:spPr>
          <a:xfrm>
            <a:off x="457200" y="5409590"/>
            <a:ext cx="7406640" cy="771754"/>
          </a:xfrm>
          <a:prstGeom prst="roundRect">
            <a:avLst>
              <a:gd name="adj" fmla="val 9479"/>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6" name="Shape 33"/>
          <p:cNvSpPr/>
          <p:nvPr/>
        </p:nvSpPr>
        <p:spPr>
          <a:xfrm>
            <a:off x="685800" y="5685739"/>
            <a:ext cx="219456" cy="219456"/>
          </a:xfrm>
          <a:prstGeom prst="rect">
            <a:avLst/>
          </a:prstGeom>
          <a:solidFill>
            <a:srgbClr val="FFFFFF"/>
          </a:solidFill>
          <a:ln w="19050">
            <a:solidFill>
              <a:srgbClr val="B83227"/>
            </a:solidFill>
            <a:prstDash val="solid"/>
          </a:ln>
        </p:spPr>
      </p:sp>
      <p:sp>
        <p:nvSpPr>
          <p:cNvPr id="37" name="Text 34"/>
          <p:cNvSpPr txBox="1"/>
          <p:nvPr/>
        </p:nvSpPr>
        <p:spPr>
          <a:xfrm>
            <a:off x="1097280" y="5409590"/>
            <a:ext cx="5394960" cy="771754"/>
          </a:xfrm>
          <a:prstGeom prst="rect">
            <a:avLst/>
          </a:prstGeom>
          <a:noFill/>
          <a:ln/>
        </p:spPr>
        <p:txBody>
          <a:bodyPr wrap="square" lIns="0" tIns="0" rIns="0" bIns="0" rtlCol="0" anchor="ctr"/>
          <a:lstStyle/>
          <a:p>
            <a:pPr algn="l" indent="0" marL="0">
              <a:buNone/>
            </a:pPr>
            <a:r>
              <a:rPr lang="en-US" sz="1300" dirty="0">
                <a:solidFill>
                  <a:srgbClr val="1F2A37"/>
                </a:solidFill>
                <a:latin typeface="Calibri" pitchFamily="34" charset="0"/>
                <a:cs typeface="Amiri" pitchFamily="2" charset="-78"/>
              </a:rPr>
              <a:t>I described layered identity without personal disclosure.</a:t>
            </a:r>
            <a:endParaRPr lang="en-US" sz="1300" dirty="0"/>
          </a:p>
        </p:txBody>
      </p:sp>
      <p:sp>
        <p:nvSpPr>
          <p:cNvPr id="38" name="Shape 35"/>
          <p:cNvSpPr/>
          <p:nvPr/>
        </p:nvSpPr>
        <p:spPr>
          <a:xfrm>
            <a:off x="6583680" y="5667451"/>
            <a:ext cx="1097280" cy="256032"/>
          </a:xfrm>
          <a:prstGeom prst="roundRect">
            <a:avLst>
              <a:gd name="adj" fmla="val 50000"/>
            </a:avLst>
          </a:prstGeom>
          <a:solidFill>
            <a:srgbClr val="B83227"/>
          </a:solidFill>
          <a:ln w="12700">
            <a:solidFill>
              <a:srgbClr val="B83227"/>
            </a:solidFill>
            <a:prstDash val="solid"/>
          </a:ln>
        </p:spPr>
      </p:sp>
      <p:sp>
        <p:nvSpPr>
          <p:cNvPr id="39" name="Text 36"/>
          <p:cNvSpPr txBox="1"/>
          <p:nvPr/>
        </p:nvSpPr>
        <p:spPr>
          <a:xfrm>
            <a:off x="6583680" y="5667451"/>
            <a:ext cx="1097280" cy="256032"/>
          </a:xfrm>
          <a:prstGeom prst="rect">
            <a:avLst/>
          </a:prstGeom>
          <a:noFill/>
          <a:ln/>
        </p:spPr>
        <p:txBody>
          <a:bodyPr wrap="square" lIns="0" tIns="0" rIns="0" bIns="0" rtlCol="0" anchor="ctr"/>
          <a:lstStyle/>
          <a:p>
            <a:pPr algn="ctr" indent="0" marL="0">
              <a:buNone/>
            </a:pPr>
            <a:r>
              <a:rPr lang="en-US" sz="800" b="1" spc="100" kern="0" dirty="0">
                <a:solidFill>
                  <a:srgbClr val="FFFFFF"/>
                </a:solidFill>
                <a:latin typeface="Calibri" pitchFamily="34" charset="0"/>
                <a:cs typeface="Amiri" pitchFamily="2" charset="-78"/>
              </a:rPr>
              <a:t>STRETCH</a:t>
            </a:r>
            <a:endParaRPr lang="en-US" sz="800" dirty="0"/>
          </a:p>
        </p:txBody>
      </p:sp>
      <p:sp>
        <p:nvSpPr>
          <p:cNvPr id="40" name="Shape 37"/>
          <p:cNvSpPr/>
          <p:nvPr/>
        </p:nvSpPr>
        <p:spPr>
          <a:xfrm>
            <a:off x="8092440" y="1810512"/>
            <a:ext cx="3639312" cy="2084832"/>
          </a:xfrm>
          <a:prstGeom prst="roundRect">
            <a:avLst>
              <a:gd name="adj" fmla="val 3509"/>
            </a:avLst>
          </a:prstGeom>
          <a:solidFill>
            <a:srgbClr val="E9F5EE"/>
          </a:solidFill>
          <a:ln w="9525">
            <a:solidFill>
              <a:srgbClr val="9CCFB0"/>
            </a:solidFill>
            <a:prstDash val="solid"/>
          </a:ln>
          <a:effectLst>
            <a:outerShdw sx="100000" sy="100000" kx="0" ky="0" algn="bl" rotWithShape="0" blurRad="50800" dist="19050" dir="5400000">
              <a:srgbClr val="000000">
                <a:alpha val="10000"/>
              </a:srgbClr>
            </a:outerShdw>
          </a:effectLst>
        </p:spPr>
      </p:sp>
      <p:sp>
        <p:nvSpPr>
          <p:cNvPr id="41" name="Text 38"/>
          <p:cNvSpPr txBox="1"/>
          <p:nvPr/>
        </p:nvSpPr>
        <p:spPr>
          <a:xfrm>
            <a:off x="8275320" y="1920240"/>
            <a:ext cx="3273552" cy="1828800"/>
          </a:xfrm>
          <a:prstGeom prst="rect">
            <a:avLst/>
          </a:prstGeom>
          <a:noFill/>
          <a:ln/>
        </p:spPr>
        <p:txBody>
          <a:bodyPr wrap="square" lIns="0" tIns="0" rIns="0" bIns="0" rtlCol="0" anchor="ctr"/>
          <a:lstStyle/>
          <a:p>
            <a:pPr indent="0" marL="0">
              <a:buNone/>
            </a:pPr>
            <a:r>
              <a:rPr lang="en-US" sz="1800" b="1" dirty="0">
                <a:solidFill>
                  <a:srgbClr val="2E8B57"/>
                </a:solidFill>
                <a:latin typeface="Calibri" pitchFamily="34" charset="0"/>
                <a:cs typeface="Amiri" pitchFamily="2" charset="-78"/>
              </a:rPr>
              <a:t>WWW</a:t>
            </a:r>
            <a:endParaRPr lang="en-US" sz="1800" dirty="0"/>
          </a:p>
          <a:p>
            <a:pPr indent="0" marL="0">
              <a:buNone/>
            </a:pPr>
            <a:r>
              <a:rPr lang="en-US" sz="1200" dirty="0">
                <a:solidFill>
                  <a:srgbClr val="1F2A37"/>
                </a:solidFill>
                <a:latin typeface="Calibri" pitchFamily="34" charset="0"/>
                <a:cs typeface="Amiri" pitchFamily="2" charset="-78"/>
              </a:rPr>
              <a:t>What went well? One thing you did accurately.</a:t>
            </a:r>
            <a:endParaRPr lang="en-US" sz="1800" dirty="0"/>
          </a:p>
        </p:txBody>
      </p:sp>
      <p:sp>
        <p:nvSpPr>
          <p:cNvPr id="42" name="Shape 39"/>
          <p:cNvSpPr/>
          <p:nvPr/>
        </p:nvSpPr>
        <p:spPr>
          <a:xfrm>
            <a:off x="8092440" y="4041648"/>
            <a:ext cx="3639312" cy="2084832"/>
          </a:xfrm>
          <a:prstGeom prst="roundRect">
            <a:avLst>
              <a:gd name="adj" fmla="val 3509"/>
            </a:avLst>
          </a:prstGeom>
          <a:solidFill>
            <a:srgbClr val="FFF4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43" name="Text 40"/>
          <p:cNvSpPr txBox="1"/>
          <p:nvPr/>
        </p:nvSpPr>
        <p:spPr>
          <a:xfrm>
            <a:off x="8275320" y="4151376"/>
            <a:ext cx="3273552" cy="1828800"/>
          </a:xfrm>
          <a:prstGeom prst="rect">
            <a:avLst/>
          </a:prstGeom>
          <a:noFill/>
          <a:ln/>
        </p:spPr>
        <p:txBody>
          <a:bodyPr wrap="square" lIns="0" tIns="0" rIns="0" bIns="0" rtlCol="0" anchor="ctr"/>
          <a:lstStyle/>
          <a:p>
            <a:pPr indent="0" marL="0">
              <a:buNone/>
            </a:pPr>
            <a:r>
              <a:rPr lang="en-US" sz="1800" b="1" dirty="0">
                <a:solidFill>
                  <a:srgbClr val="C9780A"/>
                </a:solidFill>
                <a:latin typeface="Calibri" pitchFamily="34" charset="0"/>
                <a:cs typeface="Amiri" pitchFamily="2" charset="-78"/>
              </a:rPr>
              <a:t>EBI</a:t>
            </a:r>
            <a:endParaRPr lang="en-US" sz="1800" dirty="0"/>
          </a:p>
          <a:p>
            <a:pPr indent="0" marL="0">
              <a:buNone/>
            </a:pPr>
            <a:r>
              <a:rPr lang="en-US" sz="1200" dirty="0">
                <a:solidFill>
                  <a:srgbClr val="1F2A37"/>
                </a:solidFill>
                <a:latin typeface="Calibri" pitchFamily="34" charset="0"/>
                <a:cs typeface="Amiri" pitchFamily="2" charset="-78"/>
              </a:rPr>
              <a:t>Even better if… One thing you will fix or add.</a:t>
            </a:r>
            <a:endParaRPr lang="en-US" sz="1800" dirty="0"/>
          </a:p>
        </p:txBody>
      </p:sp>
      <p:sp>
        <p:nvSpPr>
          <p:cNvPr id="44"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33 / 37</a:t>
            </a:r>
            <a:endParaRPr lang="en-US" sz="850" dirty="0"/>
          </a:p>
        </p:txBody>
      </p:sp>
    </p:spTree>
  </p:cSld>
  <p:clrMapOvr>
    <a:masterClrMapping/>
  </p:clrMapOvr>
</p:sld>
</file>

<file path=ppt/slides/slide34.xml><?xml version="1.0" encoding="utf-8"?>
<p:sld xmlns:a="http://schemas.openxmlformats.org/drawingml/2006/main" xmlns:r="http://schemas.openxmlformats.org/officeDocument/2006/relationships" xmlns:p="http://schemas.openxmlformats.org/presentationml/2006/main">
  <p:cSld name="Slide 34">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TB-L01 · Identity and Profiles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ON YOUR OWN</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three questions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‘hospitality’?</a:t>
            </a:r>
            <a:endParaRPr lang="en-US" sz="1250" dirty="0"/>
          </a:p>
        </p:txBody>
      </p:sp>
      <p:sp>
        <p:nvSpPr>
          <p:cNvPr id="19" name="Shape 16"/>
          <p:cNvSpPr/>
          <p:nvPr/>
        </p:nvSpPr>
        <p:spPr>
          <a:xfrm>
            <a:off x="640080" y="2532888"/>
            <a:ext cx="256032" cy="256032"/>
          </a:xfrm>
          <a:prstGeom prst="ellipse">
            <a:avLst/>
          </a:prstGeom>
          <a:solidFill>
            <a:srgbClr val="F4F1EA"/>
          </a:solidFill>
          <a:ln w="12700">
            <a:solidFill>
              <a:srgbClr val="F4F1EA"/>
            </a:solidFill>
            <a:prstDash val="solid"/>
          </a:ln>
        </p:spPr>
      </p:sp>
      <p:sp>
        <p:nvSpPr>
          <p:cNvPr id="20" name="Text 17"/>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21" name="Text 18"/>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ضِيَافَةٌ</a:t>
            </a:r>
            <a:endParaRPr lang="ar-SA" sz="2050" dirty="0"/>
          </a:p>
        </p:txBody>
      </p:sp>
      <p:sp>
        <p:nvSpPr>
          <p:cNvPr id="22" name="Shape 19"/>
          <p:cNvSpPr/>
          <p:nvPr/>
        </p:nvSpPr>
        <p:spPr>
          <a:xfrm>
            <a:off x="640080" y="2990088"/>
            <a:ext cx="256032" cy="256032"/>
          </a:xfrm>
          <a:prstGeom prst="ellipse">
            <a:avLst/>
          </a:prstGeom>
          <a:solidFill>
            <a:srgbClr val="F4F1EA"/>
          </a:solidFill>
          <a:ln w="12700">
            <a:solidFill>
              <a:srgbClr val="F4F1EA"/>
            </a:solidFill>
            <a:prstDash val="solid"/>
          </a:ln>
        </p:spPr>
      </p:sp>
      <p:sp>
        <p:nvSpPr>
          <p:cNvPr id="23" name="Text 20"/>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4" name="Text 21"/>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تَقَالِيدُ</a:t>
            </a:r>
            <a:endParaRPr lang="ar-SA" sz="2050" dirty="0"/>
          </a:p>
        </p:txBody>
      </p:sp>
      <p:sp>
        <p:nvSpPr>
          <p:cNvPr id="25" name="Shape 22"/>
          <p:cNvSpPr/>
          <p:nvPr/>
        </p:nvSpPr>
        <p:spPr>
          <a:xfrm>
            <a:off x="640080" y="3447288"/>
            <a:ext cx="256032" cy="256032"/>
          </a:xfrm>
          <a:prstGeom prst="ellipse">
            <a:avLst/>
          </a:prstGeom>
          <a:solidFill>
            <a:srgbClr val="F4F1EA"/>
          </a:solidFill>
          <a:ln w="12700">
            <a:solidFill>
              <a:srgbClr val="F4F1EA"/>
            </a:solidFill>
            <a:prstDash val="solid"/>
          </a:ln>
        </p:spPr>
      </p:sp>
      <p:sp>
        <p:nvSpPr>
          <p:cNvPr id="26" name="Text 23"/>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7" name="Text 24"/>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مُجْتَمَعٌ</a:t>
            </a:r>
            <a:endParaRPr lang="ar-SA" sz="2050" dirty="0"/>
          </a:p>
        </p:txBody>
      </p:sp>
      <p:sp>
        <p:nvSpPr>
          <p:cNvPr id="28" name="Shape 25"/>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29" name="Shape 26"/>
          <p:cNvSpPr/>
          <p:nvPr/>
        </p:nvSpPr>
        <p:spPr>
          <a:xfrm>
            <a:off x="4404360" y="1947672"/>
            <a:ext cx="310896" cy="310896"/>
          </a:xfrm>
          <a:prstGeom prst="ellipse">
            <a:avLst/>
          </a:prstGeom>
          <a:solidFill>
            <a:srgbClr val="1B3B6F"/>
          </a:solidFill>
          <a:ln w="12700">
            <a:solidFill>
              <a:srgbClr val="1B3B6F"/>
            </a:solidFill>
            <a:prstDash val="solid"/>
          </a:ln>
        </p:spPr>
      </p:sp>
      <p:sp>
        <p:nvSpPr>
          <p:cNvPr id="30" name="Text 27"/>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1" name="Text 28"/>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avoids a universal claim?</a:t>
            </a:r>
            <a:endParaRPr lang="en-US" sz="1250" dirty="0"/>
          </a:p>
        </p:txBody>
      </p:sp>
      <p:sp>
        <p:nvSpPr>
          <p:cNvPr id="32" name="Shape 29"/>
          <p:cNvSpPr/>
          <p:nvPr/>
        </p:nvSpPr>
        <p:spPr>
          <a:xfrm>
            <a:off x="4459224" y="2532888"/>
            <a:ext cx="256032" cy="256032"/>
          </a:xfrm>
          <a:prstGeom prst="ellipse">
            <a:avLst/>
          </a:prstGeom>
          <a:solidFill>
            <a:srgbClr val="F4F1EA"/>
          </a:solidFill>
          <a:ln w="12700">
            <a:solidFill>
              <a:srgbClr val="F4F1EA"/>
            </a:solidFill>
            <a:prstDash val="solid"/>
          </a:ln>
        </p:spPr>
      </p:sp>
      <p:sp>
        <p:nvSpPr>
          <p:cNvPr id="33" name="Text 30"/>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4" name="Text 31"/>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كُلُّ النَّاسِ…</a:t>
            </a:r>
            <a:endParaRPr lang="ar-SA" sz="2050" dirty="0"/>
          </a:p>
        </p:txBody>
      </p:sp>
      <p:sp>
        <p:nvSpPr>
          <p:cNvPr id="35" name="Shape 32"/>
          <p:cNvSpPr/>
          <p:nvPr/>
        </p:nvSpPr>
        <p:spPr>
          <a:xfrm>
            <a:off x="4459224" y="2990088"/>
            <a:ext cx="256032" cy="256032"/>
          </a:xfrm>
          <a:prstGeom prst="ellipse">
            <a:avLst/>
          </a:prstGeom>
          <a:solidFill>
            <a:srgbClr val="F4F1EA"/>
          </a:solidFill>
          <a:ln w="12700">
            <a:solidFill>
              <a:srgbClr val="F4F1EA"/>
            </a:solidFill>
            <a:prstDash val="solid"/>
          </a:ln>
        </p:spPr>
      </p:sp>
      <p:sp>
        <p:nvSpPr>
          <p:cNvPr id="36" name="Text 33"/>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37" name="Text 34"/>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فِي بَعْضِ العَائِلَاتِ…</a:t>
            </a:r>
            <a:endParaRPr lang="ar-SA" sz="2050" dirty="0"/>
          </a:p>
        </p:txBody>
      </p:sp>
      <p:sp>
        <p:nvSpPr>
          <p:cNvPr id="38" name="Shape 35"/>
          <p:cNvSpPr/>
          <p:nvPr/>
        </p:nvSpPr>
        <p:spPr>
          <a:xfrm>
            <a:off x="4459224" y="3447288"/>
            <a:ext cx="256032" cy="256032"/>
          </a:xfrm>
          <a:prstGeom prst="ellipse">
            <a:avLst/>
          </a:prstGeom>
          <a:solidFill>
            <a:srgbClr val="F4F1EA"/>
          </a:solidFill>
          <a:ln w="12700">
            <a:solidFill>
              <a:srgbClr val="F4F1EA"/>
            </a:solidFill>
            <a:prstDash val="solid"/>
          </a:ln>
        </p:spPr>
      </p:sp>
      <p:sp>
        <p:nvSpPr>
          <p:cNvPr id="39" name="Text 36"/>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0" name="Text 37"/>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1F2A37"/>
                </a:solidFill>
                <a:latin typeface="Amiri" pitchFamily="2" charset="-78"/>
                <a:ea typeface="Amiri" pitchFamily="2" charset="-78"/>
                <a:cs typeface="Amiri" pitchFamily="2" charset="-78"/>
              </a:rPr>
              <a:t>دَائِمًا عِنْدَ الجَمِيعِ…</a:t>
            </a:r>
            <a:endParaRPr lang="ar-SA" sz="2050" dirty="0"/>
          </a:p>
        </p:txBody>
      </p:sp>
      <p:sp>
        <p:nvSpPr>
          <p:cNvPr id="41" name="Shape 38"/>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2" name="Shape 39"/>
          <p:cNvSpPr/>
          <p:nvPr/>
        </p:nvSpPr>
        <p:spPr>
          <a:xfrm>
            <a:off x="8223504" y="1947672"/>
            <a:ext cx="310896" cy="310896"/>
          </a:xfrm>
          <a:prstGeom prst="ellipse">
            <a:avLst/>
          </a:prstGeom>
          <a:solidFill>
            <a:srgbClr val="1B3B6F"/>
          </a:solidFill>
          <a:ln w="12700">
            <a:solidFill>
              <a:srgbClr val="1B3B6F"/>
            </a:solidFill>
            <a:prstDash val="solid"/>
          </a:ln>
        </p:spPr>
      </p:sp>
      <p:sp>
        <p:nvSpPr>
          <p:cNvPr id="43" name="Text 40"/>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4" name="Text 41"/>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best final cultural statement?</a:t>
            </a:r>
            <a:endParaRPr lang="en-US" sz="1250" dirty="0"/>
          </a:p>
        </p:txBody>
      </p:sp>
      <p:sp>
        <p:nvSpPr>
          <p:cNvPr id="45" name="Shape 42"/>
          <p:cNvSpPr/>
          <p:nvPr/>
        </p:nvSpPr>
        <p:spPr>
          <a:xfrm>
            <a:off x="8278368" y="2532888"/>
            <a:ext cx="256032" cy="256032"/>
          </a:xfrm>
          <a:prstGeom prst="ellipse">
            <a:avLst/>
          </a:prstGeom>
          <a:solidFill>
            <a:srgbClr val="F4F1EA"/>
          </a:solidFill>
          <a:ln w="12700">
            <a:solidFill>
              <a:srgbClr val="F4F1EA"/>
            </a:solidFill>
            <a:prstDash val="solid"/>
          </a:ln>
        </p:spPr>
      </p:sp>
      <p:sp>
        <p:nvSpPr>
          <p:cNvPr id="46" name="Text 43"/>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47" name="Text 44"/>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Practices vary, so I describe evidence carefully and respect personal choice.</a:t>
            </a:r>
            <a:endParaRPr lang="en-US" sz="1250" dirty="0"/>
          </a:p>
        </p:txBody>
      </p:sp>
      <p:sp>
        <p:nvSpPr>
          <p:cNvPr id="48" name="Shape 45"/>
          <p:cNvSpPr/>
          <p:nvPr/>
        </p:nvSpPr>
        <p:spPr>
          <a:xfrm>
            <a:off x="8278368" y="2990088"/>
            <a:ext cx="256032" cy="256032"/>
          </a:xfrm>
          <a:prstGeom prst="ellipse">
            <a:avLst/>
          </a:prstGeom>
          <a:solidFill>
            <a:srgbClr val="F4F1EA"/>
          </a:solidFill>
          <a:ln w="12700">
            <a:solidFill>
              <a:srgbClr val="F4F1EA"/>
            </a:solidFill>
            <a:prstDash val="solid"/>
          </a:ln>
        </p:spPr>
      </p:sp>
      <p:sp>
        <p:nvSpPr>
          <p:cNvPr id="49" name="Text 46"/>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0" name="Text 47"/>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One family represents an entire country.</a:t>
            </a:r>
            <a:endParaRPr lang="en-US" sz="1250" dirty="0"/>
          </a:p>
        </p:txBody>
      </p:sp>
      <p:sp>
        <p:nvSpPr>
          <p:cNvPr id="51" name="Shape 48"/>
          <p:cNvSpPr/>
          <p:nvPr/>
        </p:nvSpPr>
        <p:spPr>
          <a:xfrm>
            <a:off x="8278368" y="3447288"/>
            <a:ext cx="256032" cy="256032"/>
          </a:xfrm>
          <a:prstGeom prst="ellipse">
            <a:avLst/>
          </a:prstGeom>
          <a:solidFill>
            <a:srgbClr val="F4F1EA"/>
          </a:solidFill>
          <a:ln w="12700">
            <a:solidFill>
              <a:srgbClr val="F4F1EA"/>
            </a:solidFill>
            <a:prstDash val="solid"/>
          </a:ln>
        </p:spPr>
      </p:sp>
      <p:sp>
        <p:nvSpPr>
          <p:cNvPr id="52" name="Text 49"/>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3" name="Text 50"/>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All Arabic-speaking communities share identical traditions.</a:t>
            </a:r>
            <a:endParaRPr lang="en-US" sz="1250" dirty="0"/>
          </a:p>
        </p:txBody>
      </p:sp>
      <p:sp>
        <p:nvSpPr>
          <p:cNvPr id="54" name="Shape 51"/>
          <p:cNvSpPr/>
          <p:nvPr/>
        </p:nvSpPr>
        <p:spPr>
          <a:xfrm>
            <a:off x="457200" y="5532120"/>
            <a:ext cx="11274552" cy="777240"/>
          </a:xfrm>
          <a:prstGeom prst="roundRect">
            <a:avLst>
              <a:gd name="adj" fmla="val 9412"/>
            </a:avLst>
          </a:prstGeom>
          <a:solidFill>
            <a:srgbClr val="FFF7E0"/>
          </a:solidFill>
          <a:ln w="9525">
            <a:solidFill>
              <a:srgbClr val="E8D49A"/>
            </a:solidFill>
            <a:prstDash val="solid"/>
          </a:ln>
          <a:effectLst>
            <a:outerShdw sx="100000" sy="100000" kx="0" ky="0" algn="bl" rotWithShape="0" blurRad="50800" dist="19050" dir="5400000">
              <a:srgbClr val="000000">
                <a:alpha val="10000"/>
              </a:srgbClr>
            </a:outerShdw>
          </a:effectLst>
        </p:spPr>
      </p:sp>
      <p:sp>
        <p:nvSpPr>
          <p:cNvPr id="55" name="Text 52"/>
          <p:cNvSpPr txBox="1"/>
          <p:nvPr/>
        </p:nvSpPr>
        <p:spPr>
          <a:xfrm>
            <a:off x="685800" y="5577840"/>
            <a:ext cx="2830068" cy="685800"/>
          </a:xfrm>
          <a:prstGeom prst="rect">
            <a:avLst/>
          </a:prstGeom>
          <a:noFill/>
          <a:ln/>
        </p:spPr>
        <p:txBody>
          <a:bodyPr wrap="square" lIns="0" tIns="0" rIns="0" bIns="0" rtlCol="0" anchor="ctr"/>
          <a:lstStyle/>
          <a:p>
            <a:pPr algn="l" indent="0" marL="0">
              <a:buNone/>
            </a:pPr>
            <a:r>
              <a:rPr lang="en-US" sz="1200" b="1" spc="100" kern="0" dirty="0">
                <a:solidFill>
                  <a:srgbClr val="8A6D1E"/>
                </a:solidFill>
                <a:latin typeface="Calibri" pitchFamily="34" charset="0"/>
                <a:cs typeface="Amiri" pitchFamily="2" charset="-78"/>
              </a:rPr>
              <a:t>ON YOUR OWN · 2 MINUTES</a:t>
            </a:r>
            <a:endParaRPr lang="en-US" sz="1200" dirty="0"/>
          </a:p>
        </p:txBody>
      </p:sp>
      <p:sp>
        <p:nvSpPr>
          <p:cNvPr id="56" name="Text 53"/>
          <p:cNvSpPr txBox="1"/>
          <p:nvPr/>
        </p:nvSpPr>
        <p:spPr>
          <a:xfrm>
            <a:off x="3515868" y="5577840"/>
            <a:ext cx="8051292"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Answer silently. When the timer ends, type your three letters in the chat: 1_ 2_ 3_. The other end-of-lesson questions are on the website.</a:t>
            </a:r>
            <a:endParaRPr lang="en-US" sz="1250" dirty="0"/>
          </a:p>
        </p:txBody>
      </p:sp>
      <p:sp>
        <p:nvSpPr>
          <p:cNvPr id="57" name="Text 54"/>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34 / 37</a:t>
            </a:r>
            <a:endParaRPr lang="en-US" sz="850" dirty="0"/>
          </a:p>
        </p:txBody>
      </p:sp>
    </p:spTree>
  </p:cSld>
  <p:clrMapOvr>
    <a:masterClrMapping/>
  </p:clrMapOvr>
</p:sld>
</file>

<file path=ppt/slides/slide35.xml><?xml version="1.0" encoding="utf-8"?>
<p:sld xmlns:a="http://schemas.openxmlformats.org/drawingml/2006/main" xmlns:r="http://schemas.openxmlformats.org/officeDocument/2006/relationships" xmlns:p="http://schemas.openxmlformats.org/presentationml/2006/main">
  <p:cSld name="Slide 35">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TB-L01 · Identity and Profiles</a:t>
            </a:r>
            <a:endParaRPr lang="en-US" sz="950" dirty="0"/>
          </a:p>
        </p:txBody>
      </p:sp>
      <p:sp>
        <p:nvSpPr>
          <p:cNvPr id="8" name="Shape 6"/>
          <p:cNvSpPr/>
          <p:nvPr/>
        </p:nvSpPr>
        <p:spPr>
          <a:xfrm>
            <a:off x="7143293" y="274320"/>
            <a:ext cx="1616659" cy="329184"/>
          </a:xfrm>
          <a:prstGeom prst="roundRect">
            <a:avLst>
              <a:gd name="adj" fmla="val 50000"/>
            </a:avLst>
          </a:prstGeom>
          <a:solidFill>
            <a:srgbClr val="8A6D1E"/>
          </a:solidFill>
          <a:ln w="12700">
            <a:solidFill>
              <a:srgbClr val="8A6D1E"/>
            </a:solidFill>
            <a:prstDash val="solid"/>
          </a:ln>
        </p:spPr>
      </p:sp>
      <p:sp>
        <p:nvSpPr>
          <p:cNvPr id="9" name="Text 7"/>
          <p:cNvSpPr txBox="1"/>
          <p:nvPr/>
        </p:nvSpPr>
        <p:spPr>
          <a:xfrm>
            <a:off x="7143293" y="274320"/>
            <a:ext cx="1616659"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FEEDBACK · 1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8A6D1E"/>
                </a:solidFill>
                <a:latin typeface="Calibri" pitchFamily="34" charset="0"/>
                <a:cs typeface="Amiri" pitchFamily="2" charset="-78"/>
              </a:rPr>
              <a:t>EXIT TICKET · ANSWERS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800" b="1" dirty="0">
                <a:solidFill>
                  <a:srgbClr val="1B3B6F"/>
                </a:solidFill>
                <a:latin typeface="Cambria" pitchFamily="34" charset="0"/>
                <a:cs typeface="Amiri" pitchFamily="2" charset="-78"/>
              </a:rPr>
              <a:t>Exit ticket: answers</a:t>
            </a:r>
            <a:endParaRPr lang="en-US" sz="280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إِجَابَاتُ تَذْكِرَةِ الخُرُوجِ</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TB-L01</a:t>
            </a:r>
            <a:endParaRPr lang="en-US" sz="850" dirty="0"/>
          </a:p>
        </p:txBody>
      </p:sp>
      <p:sp>
        <p:nvSpPr>
          <p:cNvPr id="15" name="Shape 12"/>
          <p:cNvSpPr/>
          <p:nvPr/>
        </p:nvSpPr>
        <p:spPr>
          <a:xfrm>
            <a:off x="457200"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585216" y="1947672"/>
            <a:ext cx="310896" cy="310896"/>
          </a:xfrm>
          <a:prstGeom prst="ellipse">
            <a:avLst/>
          </a:prstGeom>
          <a:solidFill>
            <a:srgbClr val="1B3B6F"/>
          </a:solidFill>
          <a:ln w="12700">
            <a:solidFill>
              <a:srgbClr val="1B3B6F"/>
            </a:solidFill>
            <a:prstDash val="solid"/>
          </a:ln>
        </p:spPr>
      </p:sp>
      <p:sp>
        <p:nvSpPr>
          <p:cNvPr id="17" name="Text 14"/>
          <p:cNvSpPr txBox="1"/>
          <p:nvPr/>
        </p:nvSpPr>
        <p:spPr>
          <a:xfrm>
            <a:off x="585216"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1</a:t>
            </a:r>
            <a:endParaRPr lang="en-US" sz="1100" dirty="0"/>
          </a:p>
        </p:txBody>
      </p:sp>
      <p:sp>
        <p:nvSpPr>
          <p:cNvPr id="18" name="Text 15"/>
          <p:cNvSpPr txBox="1"/>
          <p:nvPr/>
        </p:nvSpPr>
        <p:spPr>
          <a:xfrm>
            <a:off x="950976"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word means ‘hospitality’?</a:t>
            </a:r>
            <a:endParaRPr lang="en-US" sz="1250" dirty="0"/>
          </a:p>
        </p:txBody>
      </p:sp>
      <p:sp>
        <p:nvSpPr>
          <p:cNvPr id="19" name="Shape 16"/>
          <p:cNvSpPr/>
          <p:nvPr/>
        </p:nvSpPr>
        <p:spPr>
          <a:xfrm>
            <a:off x="548640" y="2496312"/>
            <a:ext cx="3453384" cy="347472"/>
          </a:xfrm>
          <a:prstGeom prst="roundRect">
            <a:avLst>
              <a:gd name="adj" fmla="val 15789"/>
            </a:avLst>
          </a:prstGeom>
          <a:solidFill>
            <a:srgbClr val="E6F4EC"/>
          </a:solidFill>
          <a:ln w="9525">
            <a:solidFill>
              <a:srgbClr val="2E8B57"/>
            </a:solidFill>
            <a:prstDash val="solid"/>
          </a:ln>
        </p:spPr>
      </p:sp>
      <p:sp>
        <p:nvSpPr>
          <p:cNvPr id="20" name="Shape 17"/>
          <p:cNvSpPr/>
          <p:nvPr/>
        </p:nvSpPr>
        <p:spPr>
          <a:xfrm>
            <a:off x="640080" y="2532888"/>
            <a:ext cx="256032" cy="256032"/>
          </a:xfrm>
          <a:prstGeom prst="ellipse">
            <a:avLst/>
          </a:prstGeom>
          <a:solidFill>
            <a:srgbClr val="2E8B57"/>
          </a:solidFill>
          <a:ln w="12700">
            <a:solidFill>
              <a:srgbClr val="2E8B57"/>
            </a:solidFill>
            <a:prstDash val="solid"/>
          </a:ln>
        </p:spPr>
      </p:sp>
      <p:sp>
        <p:nvSpPr>
          <p:cNvPr id="21" name="Text 18"/>
          <p:cNvSpPr txBox="1"/>
          <p:nvPr/>
        </p:nvSpPr>
        <p:spPr>
          <a:xfrm>
            <a:off x="640080"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22" name="Text 19"/>
          <p:cNvSpPr txBox="1"/>
          <p:nvPr/>
        </p:nvSpPr>
        <p:spPr>
          <a:xfrm>
            <a:off x="969264" y="24323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ضِيَافَةٌ</a:t>
            </a:r>
            <a:endParaRPr lang="ar-SA" sz="2050" dirty="0"/>
          </a:p>
        </p:txBody>
      </p:sp>
      <p:sp>
        <p:nvSpPr>
          <p:cNvPr id="23" name="Shape 20"/>
          <p:cNvSpPr/>
          <p:nvPr/>
        </p:nvSpPr>
        <p:spPr>
          <a:xfrm>
            <a:off x="640080" y="2990088"/>
            <a:ext cx="256032" cy="256032"/>
          </a:xfrm>
          <a:prstGeom prst="ellipse">
            <a:avLst/>
          </a:prstGeom>
          <a:solidFill>
            <a:srgbClr val="C9CED6"/>
          </a:solidFill>
          <a:ln w="12700">
            <a:solidFill>
              <a:srgbClr val="C9CED6"/>
            </a:solidFill>
            <a:prstDash val="solid"/>
          </a:ln>
        </p:spPr>
      </p:sp>
      <p:sp>
        <p:nvSpPr>
          <p:cNvPr id="24" name="Text 21"/>
          <p:cNvSpPr txBox="1"/>
          <p:nvPr/>
        </p:nvSpPr>
        <p:spPr>
          <a:xfrm>
            <a:off x="640080"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25" name="Text 22"/>
          <p:cNvSpPr txBox="1"/>
          <p:nvPr/>
        </p:nvSpPr>
        <p:spPr>
          <a:xfrm>
            <a:off x="969264" y="28895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تَقَالِيدُ</a:t>
            </a:r>
            <a:endParaRPr lang="ar-SA" sz="2050" dirty="0"/>
          </a:p>
        </p:txBody>
      </p:sp>
      <p:sp>
        <p:nvSpPr>
          <p:cNvPr id="26" name="Shape 23"/>
          <p:cNvSpPr/>
          <p:nvPr/>
        </p:nvSpPr>
        <p:spPr>
          <a:xfrm>
            <a:off x="640080" y="3447288"/>
            <a:ext cx="256032" cy="256032"/>
          </a:xfrm>
          <a:prstGeom prst="ellipse">
            <a:avLst/>
          </a:prstGeom>
          <a:solidFill>
            <a:srgbClr val="C9CED6"/>
          </a:solidFill>
          <a:ln w="12700">
            <a:solidFill>
              <a:srgbClr val="C9CED6"/>
            </a:solidFill>
            <a:prstDash val="solid"/>
          </a:ln>
        </p:spPr>
      </p:sp>
      <p:sp>
        <p:nvSpPr>
          <p:cNvPr id="27" name="Text 24"/>
          <p:cNvSpPr txBox="1"/>
          <p:nvPr/>
        </p:nvSpPr>
        <p:spPr>
          <a:xfrm>
            <a:off x="640080"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28" name="Text 25"/>
          <p:cNvSpPr txBox="1"/>
          <p:nvPr/>
        </p:nvSpPr>
        <p:spPr>
          <a:xfrm>
            <a:off x="969264"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مُجْتَمَعٌ</a:t>
            </a:r>
            <a:endParaRPr lang="ar-SA" sz="2050" dirty="0"/>
          </a:p>
        </p:txBody>
      </p:sp>
      <p:sp>
        <p:nvSpPr>
          <p:cNvPr id="29" name="Text 26"/>
          <p:cNvSpPr txBox="1"/>
          <p:nvPr/>
        </p:nvSpPr>
        <p:spPr>
          <a:xfrm>
            <a:off x="585216"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ضِيَافَةٌ</a:t>
            </a:r>
            <a:pPr algn="l" indent="0" marL="0">
              <a:buNone/>
            </a:pPr>
            <a:r>
              <a:rPr lang="en-US" sz="1050" i="1" dirty="0">
                <a:solidFill>
                  <a:srgbClr val="8A6D1E"/>
                </a:solidFill>
                <a:latin typeface="Calibri" pitchFamily="34" charset="0"/>
                <a:cs typeface="Amiri" pitchFamily="2" charset="-78"/>
              </a:rPr>
              <a:t> means hospitality.</a:t>
            </a:r>
            <a:endParaRPr lang="en-US" sz="1050" dirty="0"/>
          </a:p>
        </p:txBody>
      </p:sp>
      <p:sp>
        <p:nvSpPr>
          <p:cNvPr id="30" name="Shape 27"/>
          <p:cNvSpPr/>
          <p:nvPr/>
        </p:nvSpPr>
        <p:spPr>
          <a:xfrm>
            <a:off x="4276344"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31" name="Shape 28"/>
          <p:cNvSpPr/>
          <p:nvPr/>
        </p:nvSpPr>
        <p:spPr>
          <a:xfrm>
            <a:off x="4404360" y="1947672"/>
            <a:ext cx="310896" cy="310896"/>
          </a:xfrm>
          <a:prstGeom prst="ellipse">
            <a:avLst/>
          </a:prstGeom>
          <a:solidFill>
            <a:srgbClr val="1B3B6F"/>
          </a:solidFill>
          <a:ln w="12700">
            <a:solidFill>
              <a:srgbClr val="1B3B6F"/>
            </a:solidFill>
            <a:prstDash val="solid"/>
          </a:ln>
        </p:spPr>
      </p:sp>
      <p:sp>
        <p:nvSpPr>
          <p:cNvPr id="32" name="Text 29"/>
          <p:cNvSpPr txBox="1"/>
          <p:nvPr/>
        </p:nvSpPr>
        <p:spPr>
          <a:xfrm>
            <a:off x="4404360"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2</a:t>
            </a:r>
            <a:endParaRPr lang="en-US" sz="1100" dirty="0"/>
          </a:p>
        </p:txBody>
      </p:sp>
      <p:sp>
        <p:nvSpPr>
          <p:cNvPr id="33" name="Text 30"/>
          <p:cNvSpPr txBox="1"/>
          <p:nvPr/>
        </p:nvSpPr>
        <p:spPr>
          <a:xfrm>
            <a:off x="4770120"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phrase avoids a universal claim?</a:t>
            </a:r>
            <a:endParaRPr lang="en-US" sz="1250" dirty="0"/>
          </a:p>
        </p:txBody>
      </p:sp>
      <p:sp>
        <p:nvSpPr>
          <p:cNvPr id="34" name="Shape 31"/>
          <p:cNvSpPr/>
          <p:nvPr/>
        </p:nvSpPr>
        <p:spPr>
          <a:xfrm>
            <a:off x="4459224" y="2532888"/>
            <a:ext cx="256032" cy="256032"/>
          </a:xfrm>
          <a:prstGeom prst="ellipse">
            <a:avLst/>
          </a:prstGeom>
          <a:solidFill>
            <a:srgbClr val="C9CED6"/>
          </a:solidFill>
          <a:ln w="12700">
            <a:solidFill>
              <a:srgbClr val="C9CED6"/>
            </a:solidFill>
            <a:prstDash val="solid"/>
          </a:ln>
        </p:spPr>
      </p:sp>
      <p:sp>
        <p:nvSpPr>
          <p:cNvPr id="35" name="Text 32"/>
          <p:cNvSpPr txBox="1"/>
          <p:nvPr/>
        </p:nvSpPr>
        <p:spPr>
          <a:xfrm>
            <a:off x="4459224" y="25328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A</a:t>
            </a:r>
            <a:endParaRPr lang="en-US" sz="900" dirty="0"/>
          </a:p>
        </p:txBody>
      </p:sp>
      <p:sp>
        <p:nvSpPr>
          <p:cNvPr id="36" name="Text 33"/>
          <p:cNvSpPr txBox="1"/>
          <p:nvPr/>
        </p:nvSpPr>
        <p:spPr>
          <a:xfrm>
            <a:off x="4788408" y="24323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كُلُّ النَّاسِ…</a:t>
            </a:r>
            <a:endParaRPr lang="ar-SA" sz="2050" dirty="0"/>
          </a:p>
        </p:txBody>
      </p:sp>
      <p:sp>
        <p:nvSpPr>
          <p:cNvPr id="37" name="Shape 34"/>
          <p:cNvSpPr/>
          <p:nvPr/>
        </p:nvSpPr>
        <p:spPr>
          <a:xfrm>
            <a:off x="4367784" y="2953512"/>
            <a:ext cx="3453384" cy="347472"/>
          </a:xfrm>
          <a:prstGeom prst="roundRect">
            <a:avLst>
              <a:gd name="adj" fmla="val 15789"/>
            </a:avLst>
          </a:prstGeom>
          <a:solidFill>
            <a:srgbClr val="E6F4EC"/>
          </a:solidFill>
          <a:ln w="9525">
            <a:solidFill>
              <a:srgbClr val="2E8B57"/>
            </a:solidFill>
            <a:prstDash val="solid"/>
          </a:ln>
        </p:spPr>
      </p:sp>
      <p:sp>
        <p:nvSpPr>
          <p:cNvPr id="38" name="Shape 35"/>
          <p:cNvSpPr/>
          <p:nvPr/>
        </p:nvSpPr>
        <p:spPr>
          <a:xfrm>
            <a:off x="4459224" y="2990088"/>
            <a:ext cx="256032" cy="256032"/>
          </a:xfrm>
          <a:prstGeom prst="ellipse">
            <a:avLst/>
          </a:prstGeom>
          <a:solidFill>
            <a:srgbClr val="2E8B57"/>
          </a:solidFill>
          <a:ln w="12700">
            <a:solidFill>
              <a:srgbClr val="2E8B57"/>
            </a:solidFill>
            <a:prstDash val="solid"/>
          </a:ln>
        </p:spPr>
      </p:sp>
      <p:sp>
        <p:nvSpPr>
          <p:cNvPr id="39" name="Text 36"/>
          <p:cNvSpPr txBox="1"/>
          <p:nvPr/>
        </p:nvSpPr>
        <p:spPr>
          <a:xfrm>
            <a:off x="4459224" y="29900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B</a:t>
            </a:r>
            <a:endParaRPr lang="en-US" sz="900" dirty="0"/>
          </a:p>
        </p:txBody>
      </p:sp>
      <p:sp>
        <p:nvSpPr>
          <p:cNvPr id="40" name="Text 37"/>
          <p:cNvSpPr txBox="1"/>
          <p:nvPr/>
        </p:nvSpPr>
        <p:spPr>
          <a:xfrm>
            <a:off x="4788408" y="2889504"/>
            <a:ext cx="2977896" cy="457200"/>
          </a:xfrm>
          <a:prstGeom prst="rect">
            <a:avLst/>
          </a:prstGeom>
          <a:noFill/>
          <a:ln/>
        </p:spPr>
        <p:txBody>
          <a:bodyPr wrap="square" lIns="0" tIns="0" rIns="0" bIns="0" rtlCol="0" anchor="ctr"/>
          <a:lstStyle/>
          <a:p>
            <a:pPr rtl="1" algn="r" indent="0" marL="0">
              <a:buNone/>
            </a:pPr>
            <a:r>
              <a:rPr lang="ar-SA" altLang="en-US" sz="2050" b="1" dirty="0">
                <a:solidFill>
                  <a:srgbClr val="1F2A37"/>
                </a:solidFill>
                <a:latin typeface="Amiri" pitchFamily="2" charset="-78"/>
                <a:ea typeface="Amiri" pitchFamily="2" charset="-78"/>
                <a:cs typeface="Amiri" pitchFamily="2" charset="-78"/>
              </a:rPr>
              <a:t>فِي بَعْضِ العَائِلَاتِ…</a:t>
            </a:r>
            <a:endParaRPr lang="ar-SA" sz="2050" dirty="0"/>
          </a:p>
        </p:txBody>
      </p:sp>
      <p:sp>
        <p:nvSpPr>
          <p:cNvPr id="41" name="Shape 38"/>
          <p:cNvSpPr/>
          <p:nvPr/>
        </p:nvSpPr>
        <p:spPr>
          <a:xfrm>
            <a:off x="4459224" y="3447288"/>
            <a:ext cx="256032" cy="256032"/>
          </a:xfrm>
          <a:prstGeom prst="ellipse">
            <a:avLst/>
          </a:prstGeom>
          <a:solidFill>
            <a:srgbClr val="C9CED6"/>
          </a:solidFill>
          <a:ln w="12700">
            <a:solidFill>
              <a:srgbClr val="C9CED6"/>
            </a:solidFill>
            <a:prstDash val="solid"/>
          </a:ln>
        </p:spPr>
      </p:sp>
      <p:sp>
        <p:nvSpPr>
          <p:cNvPr id="42" name="Text 39"/>
          <p:cNvSpPr txBox="1"/>
          <p:nvPr/>
        </p:nvSpPr>
        <p:spPr>
          <a:xfrm>
            <a:off x="4459224"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43" name="Text 40"/>
          <p:cNvSpPr txBox="1"/>
          <p:nvPr/>
        </p:nvSpPr>
        <p:spPr>
          <a:xfrm>
            <a:off x="4788408" y="3346704"/>
            <a:ext cx="2977896" cy="457200"/>
          </a:xfrm>
          <a:prstGeom prst="rect">
            <a:avLst/>
          </a:prstGeom>
          <a:noFill/>
          <a:ln/>
        </p:spPr>
        <p:txBody>
          <a:bodyPr wrap="square" lIns="0" tIns="0" rIns="0" bIns="0" rtlCol="0" anchor="ctr"/>
          <a:lstStyle/>
          <a:p>
            <a:pPr rtl="1" algn="r" indent="0" marL="0">
              <a:buNone/>
            </a:pPr>
            <a:r>
              <a:rPr lang="ar-SA" altLang="en-US" sz="2050" dirty="0">
                <a:solidFill>
                  <a:srgbClr val="9AA1AB"/>
                </a:solidFill>
                <a:latin typeface="Amiri" pitchFamily="2" charset="-78"/>
                <a:ea typeface="Amiri" pitchFamily="2" charset="-78"/>
                <a:cs typeface="Amiri" pitchFamily="2" charset="-78"/>
              </a:rPr>
              <a:t>دَائِمًا عِنْدَ الجَمِيعِ…</a:t>
            </a:r>
            <a:endParaRPr lang="ar-SA" sz="2050" dirty="0"/>
          </a:p>
        </p:txBody>
      </p:sp>
      <p:sp>
        <p:nvSpPr>
          <p:cNvPr id="44" name="Text 41"/>
          <p:cNvSpPr txBox="1"/>
          <p:nvPr/>
        </p:nvSpPr>
        <p:spPr>
          <a:xfrm>
            <a:off x="4404360" y="4946904"/>
            <a:ext cx="3380232" cy="365760"/>
          </a:xfrm>
          <a:prstGeom prst="rect">
            <a:avLst/>
          </a:prstGeom>
          <a:noFill/>
          <a:ln/>
        </p:spPr>
        <p:txBody>
          <a:bodyPr wrap="square" lIns="0" tIns="0" rIns="0" bIns="0" rtlCol="0" anchor="ctr"/>
          <a:lstStyle/>
          <a:p>
            <a:pPr algn="l" indent="0" marL="0">
              <a:buNone/>
            </a:pPr>
            <a:r>
              <a:rPr lang="ar-SA" altLang="en-US" sz="1350" dirty="0">
                <a:solidFill>
                  <a:srgbClr val="8A6D1E"/>
                </a:solidFill>
                <a:latin typeface="Amiri" pitchFamily="2" charset="-78"/>
                <a:ea typeface="Amiri" pitchFamily="2" charset="-78"/>
                <a:cs typeface="Amiri" pitchFamily="2" charset="-78"/>
              </a:rPr>
              <a:t>فِي بَعْضِ العَائِلَاتِ</a:t>
            </a:r>
            <a:pPr algn="l" indent="0" marL="0">
              <a:buNone/>
            </a:pPr>
            <a:r>
              <a:rPr lang="en-US" sz="1050" i="1" dirty="0">
                <a:solidFill>
                  <a:srgbClr val="8A6D1E"/>
                </a:solidFill>
                <a:latin typeface="Calibri" pitchFamily="34" charset="0"/>
                <a:cs typeface="Amiri" pitchFamily="2" charset="-78"/>
              </a:rPr>
              <a:t> means ‘in some families’.</a:t>
            </a:r>
            <a:endParaRPr lang="en-US" sz="1050" dirty="0"/>
          </a:p>
        </p:txBody>
      </p:sp>
      <p:sp>
        <p:nvSpPr>
          <p:cNvPr id="45" name="Shape 42"/>
          <p:cNvSpPr/>
          <p:nvPr/>
        </p:nvSpPr>
        <p:spPr>
          <a:xfrm>
            <a:off x="8095488" y="1810512"/>
            <a:ext cx="3636264" cy="3538728"/>
          </a:xfrm>
          <a:prstGeom prst="roundRect">
            <a:avLst>
              <a:gd name="adj" fmla="val 2067"/>
            </a:avLst>
          </a:prstGeom>
          <a:solidFill>
            <a:srgbClr val="FFFFFF"/>
          </a:solidFill>
          <a:ln w="9525">
            <a:solidFill>
              <a:srgbClr val="D8D0BF"/>
            </a:solidFill>
            <a:prstDash val="solid"/>
          </a:ln>
          <a:effectLst>
            <a:outerShdw sx="100000" sy="100000" kx="0" ky="0" algn="bl" rotWithShape="0" blurRad="50800" dist="19050" dir="5400000">
              <a:srgbClr val="000000">
                <a:alpha val="10000"/>
              </a:srgbClr>
            </a:outerShdw>
          </a:effectLst>
        </p:spPr>
      </p:sp>
      <p:sp>
        <p:nvSpPr>
          <p:cNvPr id="46" name="Shape 43"/>
          <p:cNvSpPr/>
          <p:nvPr/>
        </p:nvSpPr>
        <p:spPr>
          <a:xfrm>
            <a:off x="8223504" y="1947672"/>
            <a:ext cx="310896" cy="310896"/>
          </a:xfrm>
          <a:prstGeom prst="ellipse">
            <a:avLst/>
          </a:prstGeom>
          <a:solidFill>
            <a:srgbClr val="1B3B6F"/>
          </a:solidFill>
          <a:ln w="12700">
            <a:solidFill>
              <a:srgbClr val="1B3B6F"/>
            </a:solidFill>
            <a:prstDash val="solid"/>
          </a:ln>
        </p:spPr>
      </p:sp>
      <p:sp>
        <p:nvSpPr>
          <p:cNvPr id="47" name="Text 44"/>
          <p:cNvSpPr txBox="1"/>
          <p:nvPr/>
        </p:nvSpPr>
        <p:spPr>
          <a:xfrm>
            <a:off x="8223504" y="1947672"/>
            <a:ext cx="310896" cy="310896"/>
          </a:xfrm>
          <a:prstGeom prst="rect">
            <a:avLst/>
          </a:prstGeom>
          <a:noFill/>
          <a:ln/>
        </p:spPr>
        <p:txBody>
          <a:bodyPr wrap="square" lIns="0" tIns="0" rIns="0" bIns="0" rtlCol="0" anchor="ctr"/>
          <a:lstStyle/>
          <a:p>
            <a:pPr algn="ctr" indent="0" marL="0">
              <a:buNone/>
            </a:pPr>
            <a:r>
              <a:rPr lang="en-US" sz="1100" b="1" dirty="0">
                <a:solidFill>
                  <a:srgbClr val="FFFFFF"/>
                </a:solidFill>
                <a:latin typeface="Calibri" pitchFamily="34" charset="0"/>
                <a:cs typeface="Amiri" pitchFamily="2" charset="-78"/>
              </a:rPr>
              <a:t>3</a:t>
            </a:r>
            <a:endParaRPr lang="en-US" sz="1100" dirty="0"/>
          </a:p>
        </p:txBody>
      </p:sp>
      <p:sp>
        <p:nvSpPr>
          <p:cNvPr id="48" name="Text 45"/>
          <p:cNvSpPr txBox="1"/>
          <p:nvPr/>
        </p:nvSpPr>
        <p:spPr>
          <a:xfrm>
            <a:off x="8589264" y="1883664"/>
            <a:ext cx="3032760" cy="475488"/>
          </a:xfrm>
          <a:prstGeom prst="rect">
            <a:avLst/>
          </a:prstGeom>
          <a:noFill/>
          <a:ln/>
        </p:spPr>
        <p:txBody>
          <a:bodyPr wrap="square" lIns="0" tIns="0" rIns="0" bIns="0" rtlCol="0" anchor="ctr"/>
          <a:lstStyle/>
          <a:p>
            <a:pPr algn="l" indent="0" marL="0">
              <a:buNone/>
            </a:pPr>
            <a:r>
              <a:rPr lang="en-US" sz="1250" b="1" dirty="0">
                <a:solidFill>
                  <a:srgbClr val="1B3B6F"/>
                </a:solidFill>
                <a:latin typeface="Calibri" pitchFamily="34" charset="0"/>
                <a:cs typeface="Amiri" pitchFamily="2" charset="-78"/>
              </a:rPr>
              <a:t>Which is the best final cultural statement?</a:t>
            </a:r>
            <a:endParaRPr lang="en-US" sz="1250" dirty="0"/>
          </a:p>
        </p:txBody>
      </p:sp>
      <p:sp>
        <p:nvSpPr>
          <p:cNvPr id="49" name="Shape 46"/>
          <p:cNvSpPr/>
          <p:nvPr/>
        </p:nvSpPr>
        <p:spPr>
          <a:xfrm>
            <a:off x="8186928" y="2496312"/>
            <a:ext cx="3453384" cy="347472"/>
          </a:xfrm>
          <a:prstGeom prst="roundRect">
            <a:avLst>
              <a:gd name="adj" fmla="val 15789"/>
            </a:avLst>
          </a:prstGeom>
          <a:solidFill>
            <a:srgbClr val="E6F4EC"/>
          </a:solidFill>
          <a:ln w="9525">
            <a:solidFill>
              <a:srgbClr val="2E8B57"/>
            </a:solidFill>
            <a:prstDash val="solid"/>
          </a:ln>
        </p:spPr>
      </p:sp>
      <p:sp>
        <p:nvSpPr>
          <p:cNvPr id="50" name="Shape 47"/>
          <p:cNvSpPr/>
          <p:nvPr/>
        </p:nvSpPr>
        <p:spPr>
          <a:xfrm>
            <a:off x="8278368" y="2532888"/>
            <a:ext cx="256032" cy="256032"/>
          </a:xfrm>
          <a:prstGeom prst="ellipse">
            <a:avLst/>
          </a:prstGeom>
          <a:solidFill>
            <a:srgbClr val="2E8B57"/>
          </a:solidFill>
          <a:ln w="12700">
            <a:solidFill>
              <a:srgbClr val="2E8B57"/>
            </a:solidFill>
            <a:prstDash val="solid"/>
          </a:ln>
        </p:spPr>
      </p:sp>
      <p:sp>
        <p:nvSpPr>
          <p:cNvPr id="51" name="Text 48"/>
          <p:cNvSpPr txBox="1"/>
          <p:nvPr/>
        </p:nvSpPr>
        <p:spPr>
          <a:xfrm>
            <a:off x="8278368" y="2532888"/>
            <a:ext cx="256032" cy="256032"/>
          </a:xfrm>
          <a:prstGeom prst="rect">
            <a:avLst/>
          </a:prstGeom>
          <a:noFill/>
          <a:ln/>
        </p:spPr>
        <p:txBody>
          <a:bodyPr wrap="square" lIns="0" tIns="0" rIns="0" bIns="0" rtlCol="0" anchor="ctr"/>
          <a:lstStyle/>
          <a:p>
            <a:pPr algn="ctr" indent="0" marL="0">
              <a:buNone/>
            </a:pPr>
            <a:r>
              <a:rPr lang="en-US" sz="900" b="1" dirty="0">
                <a:solidFill>
                  <a:srgbClr val="FFFFFF"/>
                </a:solidFill>
                <a:latin typeface="Calibri" pitchFamily="34" charset="0"/>
                <a:cs typeface="Amiri" pitchFamily="2" charset="-78"/>
              </a:rPr>
              <a:t>A</a:t>
            </a:r>
            <a:endParaRPr lang="en-US" sz="900" dirty="0"/>
          </a:p>
        </p:txBody>
      </p:sp>
      <p:sp>
        <p:nvSpPr>
          <p:cNvPr id="52" name="Text 49"/>
          <p:cNvSpPr txBox="1"/>
          <p:nvPr/>
        </p:nvSpPr>
        <p:spPr>
          <a:xfrm>
            <a:off x="8607552" y="2432304"/>
            <a:ext cx="2977896" cy="457200"/>
          </a:xfrm>
          <a:prstGeom prst="rect">
            <a:avLst/>
          </a:prstGeom>
          <a:noFill/>
          <a:ln/>
        </p:spPr>
        <p:txBody>
          <a:bodyPr wrap="square" lIns="0" tIns="0" rIns="0" bIns="0" rtlCol="0" anchor="ctr"/>
          <a:lstStyle/>
          <a:p>
            <a:pPr algn="l" indent="0" marL="0">
              <a:buNone/>
            </a:pPr>
            <a:r>
              <a:rPr lang="en-US" sz="1250" b="1" dirty="0">
                <a:solidFill>
                  <a:srgbClr val="1F2A37"/>
                </a:solidFill>
                <a:latin typeface="Calibri" pitchFamily="34" charset="0"/>
                <a:cs typeface="Amiri" pitchFamily="2" charset="-78"/>
              </a:rPr>
              <a:t>Practices vary, so I describe evidence carefully and respect personal choice.</a:t>
            </a:r>
            <a:endParaRPr lang="en-US" sz="1250" dirty="0"/>
          </a:p>
        </p:txBody>
      </p:sp>
      <p:sp>
        <p:nvSpPr>
          <p:cNvPr id="53" name="Shape 50"/>
          <p:cNvSpPr/>
          <p:nvPr/>
        </p:nvSpPr>
        <p:spPr>
          <a:xfrm>
            <a:off x="8278368" y="2990088"/>
            <a:ext cx="256032" cy="256032"/>
          </a:xfrm>
          <a:prstGeom prst="ellipse">
            <a:avLst/>
          </a:prstGeom>
          <a:solidFill>
            <a:srgbClr val="C9CED6"/>
          </a:solidFill>
          <a:ln w="12700">
            <a:solidFill>
              <a:srgbClr val="C9CED6"/>
            </a:solidFill>
            <a:prstDash val="solid"/>
          </a:ln>
        </p:spPr>
      </p:sp>
      <p:sp>
        <p:nvSpPr>
          <p:cNvPr id="54" name="Text 51"/>
          <p:cNvSpPr txBox="1"/>
          <p:nvPr/>
        </p:nvSpPr>
        <p:spPr>
          <a:xfrm>
            <a:off x="8278368" y="29900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B</a:t>
            </a:r>
            <a:endParaRPr lang="en-US" sz="900" dirty="0"/>
          </a:p>
        </p:txBody>
      </p:sp>
      <p:sp>
        <p:nvSpPr>
          <p:cNvPr id="55" name="Text 52"/>
          <p:cNvSpPr txBox="1"/>
          <p:nvPr/>
        </p:nvSpPr>
        <p:spPr>
          <a:xfrm>
            <a:off x="8607552" y="28895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One family represents an entire country.</a:t>
            </a:r>
            <a:endParaRPr lang="en-US" sz="1250" dirty="0"/>
          </a:p>
        </p:txBody>
      </p:sp>
      <p:sp>
        <p:nvSpPr>
          <p:cNvPr id="56" name="Shape 53"/>
          <p:cNvSpPr/>
          <p:nvPr/>
        </p:nvSpPr>
        <p:spPr>
          <a:xfrm>
            <a:off x="8278368" y="3447288"/>
            <a:ext cx="256032" cy="256032"/>
          </a:xfrm>
          <a:prstGeom prst="ellipse">
            <a:avLst/>
          </a:prstGeom>
          <a:solidFill>
            <a:srgbClr val="C9CED6"/>
          </a:solidFill>
          <a:ln w="12700">
            <a:solidFill>
              <a:srgbClr val="C9CED6"/>
            </a:solidFill>
            <a:prstDash val="solid"/>
          </a:ln>
        </p:spPr>
      </p:sp>
      <p:sp>
        <p:nvSpPr>
          <p:cNvPr id="57" name="Text 54"/>
          <p:cNvSpPr txBox="1"/>
          <p:nvPr/>
        </p:nvSpPr>
        <p:spPr>
          <a:xfrm>
            <a:off x="8278368" y="3447288"/>
            <a:ext cx="256032" cy="256032"/>
          </a:xfrm>
          <a:prstGeom prst="rect">
            <a:avLst/>
          </a:prstGeom>
          <a:noFill/>
          <a:ln/>
        </p:spPr>
        <p:txBody>
          <a:bodyPr wrap="square" lIns="0" tIns="0" rIns="0" bIns="0" rtlCol="0" anchor="ctr"/>
          <a:lstStyle/>
          <a:p>
            <a:pPr algn="ctr" indent="0" marL="0">
              <a:buNone/>
            </a:pPr>
            <a:r>
              <a:rPr lang="en-US" sz="900" b="1" dirty="0">
                <a:solidFill>
                  <a:srgbClr val="1B3B6F"/>
                </a:solidFill>
                <a:latin typeface="Calibri" pitchFamily="34" charset="0"/>
                <a:cs typeface="Amiri" pitchFamily="2" charset="-78"/>
              </a:rPr>
              <a:t>C</a:t>
            </a:r>
            <a:endParaRPr lang="en-US" sz="900" dirty="0"/>
          </a:p>
        </p:txBody>
      </p:sp>
      <p:sp>
        <p:nvSpPr>
          <p:cNvPr id="58" name="Text 55"/>
          <p:cNvSpPr txBox="1"/>
          <p:nvPr/>
        </p:nvSpPr>
        <p:spPr>
          <a:xfrm>
            <a:off x="8607552" y="3346704"/>
            <a:ext cx="2977896" cy="457200"/>
          </a:xfrm>
          <a:prstGeom prst="rect">
            <a:avLst/>
          </a:prstGeom>
          <a:noFill/>
          <a:ln/>
        </p:spPr>
        <p:txBody>
          <a:bodyPr wrap="square" lIns="0" tIns="0" rIns="0" bIns="0" rtlCol="0" anchor="ctr"/>
          <a:lstStyle/>
          <a:p>
            <a:pPr algn="l" indent="0" marL="0">
              <a:buNone/>
            </a:pPr>
            <a:r>
              <a:rPr lang="en-US" sz="1250" dirty="0">
                <a:solidFill>
                  <a:srgbClr val="9AA1AB"/>
                </a:solidFill>
                <a:latin typeface="Calibri" pitchFamily="34" charset="0"/>
                <a:cs typeface="Amiri" pitchFamily="2" charset="-78"/>
              </a:rPr>
              <a:t>All Arabic-speaking communities share identical traditions.</a:t>
            </a:r>
            <a:endParaRPr lang="en-US" sz="1250" dirty="0"/>
          </a:p>
        </p:txBody>
      </p:sp>
      <p:sp>
        <p:nvSpPr>
          <p:cNvPr id="59" name="Text 56"/>
          <p:cNvSpPr txBox="1"/>
          <p:nvPr/>
        </p:nvSpPr>
        <p:spPr>
          <a:xfrm>
            <a:off x="8223504" y="4946904"/>
            <a:ext cx="3380232" cy="365760"/>
          </a:xfrm>
          <a:prstGeom prst="rect">
            <a:avLst/>
          </a:prstGeom>
          <a:noFill/>
          <a:ln/>
        </p:spPr>
        <p:txBody>
          <a:bodyPr wrap="square" lIns="0" tIns="0" rIns="0" bIns="0" rtlCol="0" anchor="ctr"/>
          <a:lstStyle/>
          <a:p>
            <a:pPr algn="l" indent="0" marL="0">
              <a:buNone/>
            </a:pPr>
            <a:r>
              <a:rPr lang="en-US" sz="1050" i="1" dirty="0">
                <a:solidFill>
                  <a:srgbClr val="8A6D1E"/>
                </a:solidFill>
                <a:latin typeface="Calibri" pitchFamily="34" charset="0"/>
                <a:cs typeface="Amiri" pitchFamily="2" charset="-78"/>
              </a:rPr>
              <a:t>Careful evidence, variation and choice are the core cultural-learning principles.</a:t>
            </a:r>
            <a:endParaRPr lang="en-US" sz="1050" dirty="0"/>
          </a:p>
        </p:txBody>
      </p:sp>
      <p:sp>
        <p:nvSpPr>
          <p:cNvPr id="60" name="Shape 57"/>
          <p:cNvSpPr/>
          <p:nvPr/>
        </p:nvSpPr>
        <p:spPr>
          <a:xfrm>
            <a:off x="457200" y="5532120"/>
            <a:ext cx="11274552" cy="777240"/>
          </a:xfrm>
          <a:prstGeom prst="roundRect">
            <a:avLst>
              <a:gd name="adj" fmla="val 9412"/>
            </a:avLst>
          </a:prstGeom>
          <a:solidFill>
            <a:srgbClr val="EEF3FA"/>
          </a:solidFill>
          <a:ln w="9525">
            <a:solidFill>
              <a:srgbClr val="C9D6EA"/>
            </a:solidFill>
            <a:prstDash val="solid"/>
          </a:ln>
          <a:effectLst>
            <a:outerShdw sx="100000" sy="100000" kx="0" ky="0" algn="bl" rotWithShape="0" blurRad="50800" dist="19050" dir="5400000">
              <a:srgbClr val="000000">
                <a:alpha val="10000"/>
              </a:srgbClr>
            </a:outerShdw>
          </a:effectLst>
        </p:spPr>
      </p:sp>
      <p:sp>
        <p:nvSpPr>
          <p:cNvPr id="61" name="Text 58"/>
          <p:cNvSpPr txBox="1"/>
          <p:nvPr/>
        </p:nvSpPr>
        <p:spPr>
          <a:xfrm>
            <a:off x="685800" y="5577840"/>
            <a:ext cx="937260" cy="685800"/>
          </a:xfrm>
          <a:prstGeom prst="rect">
            <a:avLst/>
          </a:prstGeom>
          <a:noFill/>
          <a:ln/>
        </p:spPr>
        <p:txBody>
          <a:bodyPr wrap="square" lIns="0" tIns="0" rIns="0" bIns="0" rtlCol="0" anchor="ctr"/>
          <a:lstStyle/>
          <a:p>
            <a:pPr algn="l" indent="0" marL="0">
              <a:buNone/>
            </a:pPr>
            <a:r>
              <a:rPr lang="en-US" sz="1200" b="1" spc="100" kern="0" dirty="0">
                <a:solidFill>
                  <a:srgbClr val="1B3B6F"/>
                </a:solidFill>
                <a:latin typeface="Calibri" pitchFamily="34" charset="0"/>
                <a:cs typeface="Amiri" pitchFamily="2" charset="-78"/>
              </a:rPr>
              <a:t>SCORE</a:t>
            </a:r>
            <a:endParaRPr lang="en-US" sz="1200" dirty="0"/>
          </a:p>
        </p:txBody>
      </p:sp>
      <p:sp>
        <p:nvSpPr>
          <p:cNvPr id="62" name="Text 59"/>
          <p:cNvSpPr txBox="1"/>
          <p:nvPr/>
        </p:nvSpPr>
        <p:spPr>
          <a:xfrm>
            <a:off x="1623060" y="5577840"/>
            <a:ext cx="9944100" cy="685800"/>
          </a:xfrm>
          <a:prstGeom prst="rect">
            <a:avLst/>
          </a:prstGeom>
          <a:noFill/>
          <a:ln/>
        </p:spPr>
        <p:txBody>
          <a:bodyPr wrap="square" lIns="0" tIns="0" rIns="0" bIns="0" rtlCol="0" anchor="ctr"/>
          <a:lstStyle/>
          <a:p>
            <a:pPr algn="l" indent="0" marL="0">
              <a:buNone/>
            </a:pPr>
            <a:r>
              <a:rPr lang="en-US" sz="1250" dirty="0">
                <a:solidFill>
                  <a:srgbClr val="1F2A37"/>
                </a:solidFill>
                <a:latin typeface="Calibri" pitchFamily="34" charset="0"/>
                <a:cs typeface="Amiri" pitchFamily="2" charset="-78"/>
              </a:rPr>
              <a:t>3/3 → aim for Stretch next lesson  ·  2/3 → Develop  ·  0–1 → Core route and a quick check-in during the next Do Now.</a:t>
            </a:r>
            <a:endParaRPr lang="en-US" sz="1250" dirty="0"/>
          </a:p>
        </p:txBody>
      </p:sp>
      <p:sp>
        <p:nvSpPr>
          <p:cNvPr id="63" name="Text 60"/>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35 / 37</a:t>
            </a:r>
            <a:endParaRPr lang="en-US" sz="850" dirty="0"/>
          </a:p>
        </p:txBody>
      </p:sp>
    </p:spTree>
  </p:cSld>
  <p:clrMapOvr>
    <a:masterClrMapping/>
  </p:clrMapOvr>
</p:sld>
</file>

<file path=ppt/slides/slide36.xml><?xml version="1.0" encoding="utf-8"?>
<p:sld xmlns:a="http://schemas.openxmlformats.org/drawingml/2006/main" xmlns:r="http://schemas.openxmlformats.org/officeDocument/2006/relationships" xmlns:p="http://schemas.openxmlformats.org/presentationml/2006/main">
  <p:cSld name="Slide 36">
    <p:bg>
      <p:bgPr>
        <a:solidFill>
          <a:srgbClr val="FFFDF8"/>
        </a:solidFill>
      </p:bgPr>
    </p:bg>
    <p:spTree>
      <p:nvGrpSpPr>
        <p:cNvPr id="1" name=""/>
        <p:cNvGrpSpPr/>
        <p:nvPr/>
      </p:nvGrpSpPr>
      <p:grpSpPr>
        <a:xfrm>
          <a:off x="0" y="0"/>
          <a:ext cx="0" cy="0"/>
          <a:chOff x="0" y="0"/>
          <a:chExt cx="0" cy="0"/>
        </a:xfrm>
      </p:grpSpPr>
      <p:sp>
        <p:nvSpPr>
          <p:cNvPr id="2" name="Shape 0"/>
          <p:cNvSpPr/>
          <p:nvPr/>
        </p:nvSpPr>
        <p:spPr>
          <a:xfrm>
            <a:off x="457200" y="237744"/>
            <a:ext cx="420624" cy="420624"/>
          </a:xfrm>
          <a:prstGeom prst="ellipse">
            <a:avLst/>
          </a:prstGeom>
          <a:solidFill>
            <a:srgbClr val="1B3B6F"/>
          </a:solidFill>
          <a:ln w="12700">
            <a:solidFill>
              <a:srgbClr val="D4AF37"/>
            </a:solidFill>
            <a:prstDash val="solid"/>
          </a:ln>
        </p:spPr>
      </p:sp>
      <p:sp>
        <p:nvSpPr>
          <p:cNvPr id="3" name="Text 1"/>
          <p:cNvSpPr txBox="1"/>
          <p:nvPr/>
        </p:nvSpPr>
        <p:spPr>
          <a:xfrm>
            <a:off x="457200" y="219456"/>
            <a:ext cx="420624" cy="420624"/>
          </a:xfrm>
          <a:prstGeom prst="rect">
            <a:avLst/>
          </a:prstGeom>
          <a:noFill/>
          <a:ln/>
        </p:spPr>
        <p:txBody>
          <a:bodyPr wrap="square" lIns="0" tIns="0" rIns="0" bIns="0" rtlCol="0" anchor="ctr"/>
          <a:lstStyle/>
          <a:p>
            <a:pPr rtl="1" algn="ctr" indent="0" marL="0">
              <a:buNone/>
            </a:pPr>
            <a:r>
              <a:rPr lang="ar-SA" altLang="en-US" sz="1800" b="1" dirty="0">
                <a:solidFill>
                  <a:srgbClr val="D4AF37"/>
                </a:solidFill>
                <a:latin typeface="Amiri" pitchFamily="2" charset="-78"/>
                <a:ea typeface="Amiri" pitchFamily="2" charset="-78"/>
                <a:cs typeface="Amiri" pitchFamily="2" charset="-78"/>
              </a:rPr>
              <a:t>م</a:t>
            </a:r>
            <a:endParaRPr lang="ar-SA" sz="1800" dirty="0"/>
          </a:p>
        </p:txBody>
      </p:sp>
      <p:sp>
        <p:nvSpPr>
          <p:cNvPr id="4" name="Text 2"/>
          <p:cNvSpPr txBox="1"/>
          <p:nvPr/>
        </p:nvSpPr>
        <p:spPr>
          <a:xfrm>
            <a:off x="960120" y="219456"/>
            <a:ext cx="3657600" cy="256032"/>
          </a:xfrm>
          <a:prstGeom prst="rect">
            <a:avLst/>
          </a:prstGeom>
          <a:noFill/>
          <a:ln/>
        </p:spPr>
        <p:txBody>
          <a:bodyPr wrap="square" lIns="0" tIns="0" rIns="0" bIns="0" rtlCol="0" anchor="ctr"/>
          <a:lstStyle/>
          <a:p>
            <a:pPr indent="0" marL="0">
              <a:buNone/>
            </a:pPr>
            <a:r>
              <a:rPr lang="en-US" sz="1200" b="1" dirty="0">
                <a:solidFill>
                  <a:srgbClr val="1B3B6F"/>
                </a:solidFill>
                <a:latin typeface="Cambria" pitchFamily="34" charset="0"/>
                <a:cs typeface="Amiri" pitchFamily="2" charset="-78"/>
              </a:rPr>
              <a:t>Al Madina Online School</a:t>
            </a:r>
            <a:endParaRPr lang="en-US" sz="1200" dirty="0"/>
          </a:p>
        </p:txBody>
      </p:sp>
      <p:sp>
        <p:nvSpPr>
          <p:cNvPr id="5" name="Text 3"/>
          <p:cNvSpPr txBox="1"/>
          <p:nvPr/>
        </p:nvSpPr>
        <p:spPr>
          <a:xfrm>
            <a:off x="960120" y="457200"/>
            <a:ext cx="4572000" cy="182880"/>
          </a:xfrm>
          <a:prstGeom prst="rect">
            <a:avLst/>
          </a:prstGeom>
          <a:noFill/>
          <a:ln/>
        </p:spPr>
        <p:txBody>
          <a:bodyPr wrap="square" lIns="0" tIns="0" rIns="0" bIns="0" rtlCol="0" anchor="ctr"/>
          <a:lstStyle/>
          <a:p>
            <a:pPr indent="0" marL="0">
              <a:buNone/>
            </a:pPr>
            <a:r>
              <a:rPr lang="en-US" sz="800" b="1" spc="200" kern="0" dirty="0">
                <a:solidFill>
                  <a:srgbClr val="8A6D1E"/>
                </a:solidFill>
                <a:latin typeface="Calibri" pitchFamily="34" charset="0"/>
                <a:cs typeface="Amiri" pitchFamily="2" charset="-78"/>
              </a:rPr>
              <a:t>ARABIC DEPARTMENT · MIFTAH ARABIC · IGCSE 0544</a:t>
            </a:r>
            <a:endParaRPr lang="en-US" sz="800" dirty="0"/>
          </a:p>
        </p:txBody>
      </p:sp>
      <p:sp>
        <p:nvSpPr>
          <p:cNvPr id="6" name="Shape 4"/>
          <p:cNvSpPr/>
          <p:nvPr/>
        </p:nvSpPr>
        <p:spPr>
          <a:xfrm>
            <a:off x="8897112" y="274320"/>
            <a:ext cx="2834640" cy="329184"/>
          </a:xfrm>
          <a:prstGeom prst="roundRect">
            <a:avLst>
              <a:gd name="adj" fmla="val 50000"/>
            </a:avLst>
          </a:prstGeom>
          <a:solidFill>
            <a:srgbClr val="1B3B6F"/>
          </a:solidFill>
          <a:ln w="12700">
            <a:solidFill>
              <a:srgbClr val="1B3B6F"/>
            </a:solidFill>
            <a:prstDash val="solid"/>
          </a:ln>
        </p:spPr>
      </p:sp>
      <p:sp>
        <p:nvSpPr>
          <p:cNvPr id="7" name="Text 5"/>
          <p:cNvSpPr txBox="1"/>
          <p:nvPr/>
        </p:nvSpPr>
        <p:spPr>
          <a:xfrm>
            <a:off x="8897112" y="274320"/>
            <a:ext cx="2834640" cy="329184"/>
          </a:xfrm>
          <a:prstGeom prst="rect">
            <a:avLst/>
          </a:prstGeom>
          <a:noFill/>
          <a:ln/>
        </p:spPr>
        <p:txBody>
          <a:bodyPr wrap="square" lIns="0" tIns="0" rIns="0" bIns="0" rtlCol="0" anchor="ctr"/>
          <a:lstStyle/>
          <a:p>
            <a:pPr algn="ctr" indent="0" marL="0">
              <a:buNone/>
            </a:pPr>
            <a:r>
              <a:rPr lang="en-US" sz="950" b="1" spc="100" kern="0" dirty="0">
                <a:solidFill>
                  <a:srgbClr val="FFFFFF"/>
                </a:solidFill>
                <a:latin typeface="Calibri" pitchFamily="34" charset="0"/>
                <a:cs typeface="Amiri" pitchFamily="2" charset="-78"/>
              </a:rPr>
              <a:t>TB-L01 · Identity and Profiles</a:t>
            </a:r>
            <a:endParaRPr lang="en-US" sz="950" dirty="0"/>
          </a:p>
        </p:txBody>
      </p:sp>
      <p:sp>
        <p:nvSpPr>
          <p:cNvPr id="8" name="Shape 6"/>
          <p:cNvSpPr/>
          <p:nvPr/>
        </p:nvSpPr>
        <p:spPr>
          <a:xfrm>
            <a:off x="6915607" y="274320"/>
            <a:ext cx="1844345" cy="329184"/>
          </a:xfrm>
          <a:prstGeom prst="roundRect">
            <a:avLst>
              <a:gd name="adj" fmla="val 50000"/>
            </a:avLst>
          </a:prstGeom>
          <a:solidFill>
            <a:srgbClr val="C45A3C"/>
          </a:solidFill>
          <a:ln w="12700">
            <a:solidFill>
              <a:srgbClr val="C45A3C"/>
            </a:solidFill>
            <a:prstDash val="solid"/>
          </a:ln>
        </p:spPr>
      </p:sp>
      <p:sp>
        <p:nvSpPr>
          <p:cNvPr id="9" name="Text 7"/>
          <p:cNvSpPr txBox="1"/>
          <p:nvPr/>
        </p:nvSpPr>
        <p:spPr>
          <a:xfrm>
            <a:off x="6915607" y="274320"/>
            <a:ext cx="1844345" cy="329184"/>
          </a:xfrm>
          <a:prstGeom prst="rect">
            <a:avLst/>
          </a:prstGeom>
          <a:noFill/>
          <a:ln/>
        </p:spPr>
        <p:txBody>
          <a:bodyPr wrap="square" lIns="0" tIns="0" rIns="0" bIns="0" rtlCol="0" anchor="ctr"/>
          <a:lstStyle/>
          <a:p>
            <a:pPr algn="ctr" indent="0" marL="0">
              <a:buNone/>
            </a:pPr>
            <a:r>
              <a:rPr lang="en-US" sz="900" b="1" spc="100" kern="0" dirty="0">
                <a:solidFill>
                  <a:srgbClr val="FFFFFF"/>
                </a:solidFill>
                <a:latin typeface="Calibri" pitchFamily="34" charset="0"/>
                <a:cs typeface="Amiri" pitchFamily="2" charset="-78"/>
              </a:rPr>
              <a:t>PREPARATION · 2 MIN</a:t>
            </a:r>
            <a:endParaRPr lang="en-US" sz="900" dirty="0"/>
          </a:p>
        </p:txBody>
      </p:sp>
      <p:sp>
        <p:nvSpPr>
          <p:cNvPr id="10" name="Text 8"/>
          <p:cNvSpPr txBox="1"/>
          <p:nvPr/>
        </p:nvSpPr>
        <p:spPr>
          <a:xfrm>
            <a:off x="457200" y="822960"/>
            <a:ext cx="6949440" cy="237744"/>
          </a:xfrm>
          <a:prstGeom prst="rect">
            <a:avLst/>
          </a:prstGeom>
          <a:noFill/>
          <a:ln/>
        </p:spPr>
        <p:txBody>
          <a:bodyPr wrap="square" lIns="0" tIns="0" rIns="0" bIns="0" rtlCol="0" anchor="ctr"/>
          <a:lstStyle/>
          <a:p>
            <a:pPr algn="l" indent="0" marL="0">
              <a:buNone/>
            </a:pPr>
            <a:r>
              <a:rPr lang="en-US" sz="1000" b="1" spc="300" kern="0" dirty="0">
                <a:solidFill>
                  <a:srgbClr val="C45A3C"/>
                </a:solidFill>
                <a:latin typeface="Calibri" pitchFamily="34" charset="0"/>
                <a:cs typeface="Amiri" pitchFamily="2" charset="-78"/>
              </a:rPr>
              <a:t>PREPARATION FOR NEXT LESSON · ABOUT 10 MINUTES</a:t>
            </a:r>
            <a:endParaRPr lang="en-US" sz="1000" dirty="0"/>
          </a:p>
        </p:txBody>
      </p:sp>
      <p:sp>
        <p:nvSpPr>
          <p:cNvPr id="11" name="Text 9"/>
          <p:cNvSpPr txBox="1"/>
          <p:nvPr/>
        </p:nvSpPr>
        <p:spPr>
          <a:xfrm>
            <a:off x="457200" y="1033272"/>
            <a:ext cx="6949440" cy="566928"/>
          </a:xfrm>
          <a:prstGeom prst="rect">
            <a:avLst/>
          </a:prstGeom>
          <a:noFill/>
          <a:ln/>
        </p:spPr>
        <p:txBody>
          <a:bodyPr wrap="square" lIns="0" tIns="0" rIns="0" bIns="0" rtlCol="0" anchor="ctr"/>
          <a:lstStyle/>
          <a:p>
            <a:pPr algn="l" indent="0" marL="0">
              <a:buNone/>
            </a:pPr>
            <a:r>
              <a:rPr lang="en-US" sz="2750" b="1" dirty="0">
                <a:solidFill>
                  <a:srgbClr val="1B3B6F"/>
                </a:solidFill>
                <a:latin typeface="Cambria" pitchFamily="34" charset="0"/>
                <a:cs typeface="Amiri" pitchFamily="2" charset="-78"/>
              </a:rPr>
              <a:t>Before TB-L02: get ready at home</a:t>
            </a:r>
            <a:endParaRPr lang="en-US" sz="2750" dirty="0"/>
          </a:p>
        </p:txBody>
      </p:sp>
      <p:sp>
        <p:nvSpPr>
          <p:cNvPr id="12" name="Text 10"/>
          <p:cNvSpPr txBox="1"/>
          <p:nvPr/>
        </p:nvSpPr>
        <p:spPr>
          <a:xfrm>
            <a:off x="7498080" y="868680"/>
            <a:ext cx="4233672" cy="749808"/>
          </a:xfrm>
          <a:prstGeom prst="rect">
            <a:avLst/>
          </a:prstGeom>
          <a:noFill/>
          <a:ln/>
        </p:spPr>
        <p:txBody>
          <a:bodyPr wrap="square" lIns="0" tIns="0" rIns="0" bIns="0" rtlCol="0" anchor="ctr"/>
          <a:lstStyle/>
          <a:p>
            <a:pPr rtl="1" algn="r" indent="0" marL="0">
              <a:buNone/>
            </a:pPr>
            <a:r>
              <a:rPr lang="ar-SA" altLang="en-US" sz="2800" b="1" dirty="0">
                <a:solidFill>
                  <a:srgbClr val="8A6D1E"/>
                </a:solidFill>
                <a:latin typeface="Amiri" pitchFamily="2" charset="-78"/>
                <a:ea typeface="Amiri" pitchFamily="2" charset="-78"/>
                <a:cs typeface="Amiri" pitchFamily="2" charset="-78"/>
              </a:rPr>
              <a:t>التَّحْضِيرُ لِلدَّرْسِ القَادِمِ</a:t>
            </a:r>
            <a:endParaRPr lang="ar-SA" sz="2800" dirty="0"/>
          </a:p>
        </p:txBody>
      </p:sp>
      <p:sp>
        <p:nvSpPr>
          <p:cNvPr id="13" name="Text 11"/>
          <p:cNvSpPr txBox="1"/>
          <p:nvPr/>
        </p:nvSpPr>
        <p:spPr>
          <a:xfrm>
            <a:off x="457200" y="6455664"/>
            <a:ext cx="6400800" cy="219456"/>
          </a:xfrm>
          <a:prstGeom prst="rect">
            <a:avLst/>
          </a:prstGeom>
          <a:noFill/>
          <a:ln/>
        </p:spPr>
        <p:txBody>
          <a:bodyPr wrap="square" lIns="0" tIns="0" rIns="0" bIns="0" rtlCol="0" anchor="ctr"/>
          <a:lstStyle/>
          <a:p>
            <a:pPr indent="0" marL="0">
              <a:buNone/>
            </a:pPr>
            <a:r>
              <a:rPr lang="en-US" sz="850" dirty="0">
                <a:solidFill>
                  <a:srgbClr val="8A93A0"/>
                </a:solidFill>
                <a:latin typeface="Calibri" pitchFamily="34" charset="0"/>
                <a:cs typeface="Amiri" pitchFamily="2" charset="-78"/>
              </a:rPr>
              <a:t>Miftah Arabic · Advanced Topic B · Personal and Social Life · TB-L01</a:t>
            </a:r>
            <a:endParaRPr lang="en-US" sz="850" dirty="0"/>
          </a:p>
        </p:txBody>
      </p:sp>
      <p:sp>
        <p:nvSpPr>
          <p:cNvPr id="15" name="Shape 12"/>
          <p:cNvSpPr/>
          <p:nvPr/>
        </p:nvSpPr>
        <p:spPr>
          <a:xfrm>
            <a:off x="457200" y="1810512"/>
            <a:ext cx="5394960" cy="4498848"/>
          </a:xfrm>
          <a:prstGeom prst="roundRect">
            <a:avLst>
              <a:gd name="adj" fmla="val 1626"/>
            </a:avLst>
          </a:prstGeom>
          <a:solidFill>
            <a:srgbClr val="FBEAEA"/>
          </a:solidFill>
          <a:ln w="9525">
            <a:solidFill>
              <a:srgbClr val="E3B4AE"/>
            </a:solidFill>
            <a:prstDash val="solid"/>
          </a:ln>
          <a:effectLst>
            <a:outerShdw sx="100000" sy="100000" kx="0" ky="0" algn="bl" rotWithShape="0" blurRad="50800" dist="19050" dir="5400000">
              <a:srgbClr val="000000">
                <a:alpha val="10000"/>
              </a:srgbClr>
            </a:outerShdw>
          </a:effectLst>
        </p:spPr>
      </p:sp>
      <p:sp>
        <p:nvSpPr>
          <p:cNvPr id="16" name="Shape 13"/>
          <p:cNvSpPr/>
          <p:nvPr/>
        </p:nvSpPr>
        <p:spPr>
          <a:xfrm>
            <a:off x="640080" y="1938528"/>
            <a:ext cx="475488" cy="475488"/>
          </a:xfrm>
          <a:prstGeom prst="ellipse">
            <a:avLst/>
          </a:prstGeom>
          <a:solidFill>
            <a:srgbClr val="C45A3C"/>
          </a:solidFill>
          <a:ln w="12700">
            <a:solidFill>
              <a:srgbClr val="C45A3C"/>
            </a:solidFill>
            <a:prstDash val="solid"/>
          </a:ln>
        </p:spPr>
      </p:sp>
      <p:pic>
        <p:nvPicPr>
          <p:cNvPr id="17" name="Image 0" descr="preencoded.png">    </p:cNvPr>
          <p:cNvPicPr>
            <a:picLocks noChangeAspect="1"/>
          </p:cNvPicPr>
          <p:nvPr/>
        </p:nvPicPr>
        <p:blipFill>
          <a:blip r:embed="rId1"/>
          <a:stretch>
            <a:fillRect/>
          </a:stretch>
        </p:blipFill>
        <p:spPr>
          <a:xfrm>
            <a:off x="731520" y="2029968"/>
            <a:ext cx="292608" cy="292608"/>
          </a:xfrm>
          <a:prstGeom prst="rect">
            <a:avLst/>
          </a:prstGeom>
        </p:spPr>
      </p:pic>
      <p:sp>
        <p:nvSpPr>
          <p:cNvPr id="18" name="Text 14"/>
          <p:cNvSpPr txBox="1"/>
          <p:nvPr/>
        </p:nvSpPr>
        <p:spPr>
          <a:xfrm>
            <a:off x="1207008" y="1920240"/>
            <a:ext cx="4480560" cy="512064"/>
          </a:xfrm>
          <a:prstGeom prst="rect">
            <a:avLst/>
          </a:prstGeom>
          <a:noFill/>
          <a:ln/>
        </p:spPr>
        <p:txBody>
          <a:bodyPr wrap="square" lIns="0" tIns="0" rIns="0" bIns="0" rtlCol="0" anchor="ctr"/>
          <a:lstStyle/>
          <a:p>
            <a:pPr indent="0" marL="0">
              <a:buNone/>
            </a:pPr>
            <a:r>
              <a:rPr lang="en-US" sz="1100" b="1" spc="200" kern="0" dirty="0">
                <a:solidFill>
                  <a:srgbClr val="C45A3C"/>
                </a:solidFill>
                <a:latin typeface="Calibri" pitchFamily="34" charset="0"/>
                <a:cs typeface="Amiri" pitchFamily="2" charset="-78"/>
              </a:rPr>
              <a:t>LEARN THESE 5 WORDS</a:t>
            </a:r>
            <a:endParaRPr lang="en-US" sz="1100" dirty="0"/>
          </a:p>
          <a:p>
            <a:pPr indent="0" marL="0">
              <a:buNone/>
            </a:pPr>
            <a:r>
              <a:rPr lang="en-US" sz="1000" dirty="0">
                <a:solidFill>
                  <a:srgbClr val="5A6472"/>
                </a:solidFill>
                <a:latin typeface="Calibri" pitchFamily="34" charset="0"/>
                <a:cs typeface="Amiri" pitchFamily="2" charset="-78"/>
              </a:rPr>
              <a:t>for TB-L02 · Family, Friends and Relationships</a:t>
            </a:r>
            <a:endParaRPr lang="en-US" sz="1100" dirty="0"/>
          </a:p>
        </p:txBody>
      </p:sp>
      <p:sp>
        <p:nvSpPr>
          <p:cNvPr id="19" name="Text 15"/>
          <p:cNvSpPr txBox="1"/>
          <p:nvPr/>
        </p:nvSpPr>
        <p:spPr>
          <a:xfrm>
            <a:off x="3017520" y="25603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أَتَفَاهَمُ مَعَ</a:t>
            </a:r>
            <a:endParaRPr lang="ar-SA" sz="2000" dirty="0"/>
          </a:p>
        </p:txBody>
      </p:sp>
      <p:sp>
        <p:nvSpPr>
          <p:cNvPr id="20" name="Text 16"/>
          <p:cNvSpPr txBox="1"/>
          <p:nvPr/>
        </p:nvSpPr>
        <p:spPr>
          <a:xfrm>
            <a:off x="685800" y="25603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get on with</a:t>
            </a:r>
            <a:pPr indent="0" marL="0">
              <a:buNone/>
            </a:pPr>
            <a:r>
              <a:rPr lang="ar-SA" sz="1000" i="1" dirty="0">
                <a:solidFill>
                  <a:srgbClr val="5A6472"/>
                </a:solidFill>
                <a:latin typeface="Calibri" pitchFamily="34" charset="0"/>
                <a:ea typeface="Amiri" pitchFamily="2" charset="-78"/>
                <a:cs typeface="Amiri" pitchFamily="2" charset="-78"/>
              </a:rPr>
              <a:t>  he: يَتَفَاهَمُ</a:t>
            </a:r>
            <a:endParaRPr lang="en-US" sz="1200" dirty="0"/>
          </a:p>
        </p:txBody>
      </p:sp>
      <p:sp>
        <p:nvSpPr>
          <p:cNvPr id="21" name="Text 17"/>
          <p:cNvSpPr txBox="1"/>
          <p:nvPr/>
        </p:nvSpPr>
        <p:spPr>
          <a:xfrm>
            <a:off x="3017520" y="30175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أَثِقُ بِـ</a:t>
            </a:r>
            <a:endParaRPr lang="ar-SA" sz="2000" dirty="0"/>
          </a:p>
        </p:txBody>
      </p:sp>
      <p:sp>
        <p:nvSpPr>
          <p:cNvPr id="22" name="Text 18"/>
          <p:cNvSpPr txBox="1"/>
          <p:nvPr/>
        </p:nvSpPr>
        <p:spPr>
          <a:xfrm>
            <a:off x="685800" y="30175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trust</a:t>
            </a:r>
            <a:pPr indent="0" marL="0">
              <a:buNone/>
            </a:pPr>
            <a:r>
              <a:rPr lang="ar-SA" sz="1000" i="1" dirty="0">
                <a:solidFill>
                  <a:srgbClr val="5A6472"/>
                </a:solidFill>
                <a:latin typeface="Calibri" pitchFamily="34" charset="0"/>
                <a:ea typeface="Amiri" pitchFamily="2" charset="-78"/>
                <a:cs typeface="Amiri" pitchFamily="2" charset="-78"/>
              </a:rPr>
              <a:t>  he: يَثِقُ</a:t>
            </a:r>
            <a:endParaRPr lang="en-US" sz="1200" dirty="0"/>
          </a:p>
        </p:txBody>
      </p:sp>
      <p:sp>
        <p:nvSpPr>
          <p:cNvPr id="23" name="Text 19"/>
          <p:cNvSpPr txBox="1"/>
          <p:nvPr/>
        </p:nvSpPr>
        <p:spPr>
          <a:xfrm>
            <a:off x="3017520" y="34747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أَحْتَرِمُ</a:t>
            </a:r>
            <a:endParaRPr lang="ar-SA" sz="2000" dirty="0"/>
          </a:p>
        </p:txBody>
      </p:sp>
      <p:sp>
        <p:nvSpPr>
          <p:cNvPr id="24" name="Text 20"/>
          <p:cNvSpPr txBox="1"/>
          <p:nvPr/>
        </p:nvSpPr>
        <p:spPr>
          <a:xfrm>
            <a:off x="685800" y="34747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I respect</a:t>
            </a:r>
            <a:pPr indent="0" marL="0">
              <a:buNone/>
            </a:pPr>
            <a:r>
              <a:rPr lang="ar-SA" sz="1000" i="1" dirty="0">
                <a:solidFill>
                  <a:srgbClr val="5A6472"/>
                </a:solidFill>
                <a:latin typeface="Calibri" pitchFamily="34" charset="0"/>
                <a:ea typeface="Amiri" pitchFamily="2" charset="-78"/>
                <a:cs typeface="Amiri" pitchFamily="2" charset="-78"/>
              </a:rPr>
              <a:t>  he: يَحْتَرِمُ</a:t>
            </a:r>
            <a:endParaRPr lang="en-US" sz="1200" dirty="0"/>
          </a:p>
        </p:txBody>
      </p:sp>
      <p:sp>
        <p:nvSpPr>
          <p:cNvPr id="25" name="Text 21"/>
          <p:cNvSpPr txBox="1"/>
          <p:nvPr/>
        </p:nvSpPr>
        <p:spPr>
          <a:xfrm>
            <a:off x="3017520" y="39319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صَدِيقٌ مُقَرَّبٌ</a:t>
            </a:r>
            <a:endParaRPr lang="ar-SA" sz="2000" dirty="0"/>
          </a:p>
        </p:txBody>
      </p:sp>
      <p:sp>
        <p:nvSpPr>
          <p:cNvPr id="26" name="Text 22"/>
          <p:cNvSpPr txBox="1"/>
          <p:nvPr/>
        </p:nvSpPr>
        <p:spPr>
          <a:xfrm>
            <a:off x="685800" y="39319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a close friend</a:t>
            </a:r>
            <a:pPr indent="0" marL="0">
              <a:buNone/>
            </a:pPr>
            <a:r>
              <a:rPr lang="ar-SA" sz="1000" i="1" dirty="0">
                <a:solidFill>
                  <a:srgbClr val="5A6472"/>
                </a:solidFill>
                <a:latin typeface="Calibri" pitchFamily="34" charset="0"/>
                <a:ea typeface="Amiri" pitchFamily="2" charset="-78"/>
                <a:cs typeface="Amiri" pitchFamily="2" charset="-78"/>
              </a:rPr>
              <a:t>  f.: صَدِيقَةٌ مُقَرَّبَةٌ</a:t>
            </a:r>
            <a:endParaRPr lang="en-US" sz="1200" dirty="0"/>
          </a:p>
        </p:txBody>
      </p:sp>
      <p:sp>
        <p:nvSpPr>
          <p:cNvPr id="27" name="Text 23"/>
          <p:cNvSpPr txBox="1"/>
          <p:nvPr/>
        </p:nvSpPr>
        <p:spPr>
          <a:xfrm>
            <a:off x="3017520" y="4389120"/>
            <a:ext cx="2651760" cy="438912"/>
          </a:xfrm>
          <a:prstGeom prst="rect">
            <a:avLst/>
          </a:prstGeom>
          <a:noFill/>
          <a:ln/>
        </p:spPr>
        <p:txBody>
          <a:bodyPr wrap="square" lIns="0" tIns="0" rIns="0" bIns="0" rtlCol="0" anchor="ctr"/>
          <a:lstStyle/>
          <a:p>
            <a:pPr rtl="1" algn="r" indent="0" marL="0">
              <a:buNone/>
            </a:pPr>
            <a:r>
              <a:rPr lang="ar-SA" altLang="en-US" sz="2000" b="1" dirty="0">
                <a:solidFill>
                  <a:srgbClr val="1B3B6F"/>
                </a:solidFill>
                <a:latin typeface="Amiri" pitchFamily="2" charset="-78"/>
                <a:ea typeface="Amiri" pitchFamily="2" charset="-78"/>
                <a:cs typeface="Amiri" pitchFamily="2" charset="-78"/>
              </a:rPr>
              <a:t>نَتَشَاجَرُ</a:t>
            </a:r>
            <a:endParaRPr lang="ar-SA" sz="2000" dirty="0"/>
          </a:p>
        </p:txBody>
      </p:sp>
      <p:sp>
        <p:nvSpPr>
          <p:cNvPr id="28" name="Text 24"/>
          <p:cNvSpPr txBox="1"/>
          <p:nvPr/>
        </p:nvSpPr>
        <p:spPr>
          <a:xfrm>
            <a:off x="685800" y="4389120"/>
            <a:ext cx="2331720" cy="438912"/>
          </a:xfrm>
          <a:prstGeom prst="rect">
            <a:avLst/>
          </a:prstGeom>
          <a:noFill/>
          <a:ln/>
        </p:spPr>
        <p:txBody>
          <a:bodyPr wrap="square" lIns="0" tIns="0" rIns="0" bIns="0" rtlCol="0" anchor="ctr"/>
          <a:lstStyle/>
          <a:p>
            <a:pPr indent="0" marL="0">
              <a:buNone/>
            </a:pPr>
            <a:r>
              <a:rPr lang="en-US" sz="1200" b="1" dirty="0">
                <a:solidFill>
                  <a:srgbClr val="1F2A37"/>
                </a:solidFill>
                <a:latin typeface="Calibri" pitchFamily="34" charset="0"/>
                <a:cs typeface="Amiri" pitchFamily="2" charset="-78"/>
              </a:rPr>
              <a:t>we argue</a:t>
            </a:r>
            <a:pPr indent="0" marL="0">
              <a:buNone/>
            </a:pPr>
            <a:endParaRPr lang="en-US" sz="1200" dirty="0"/>
          </a:p>
        </p:txBody>
      </p:sp>
      <p:sp>
        <p:nvSpPr>
          <p:cNvPr id="29" name="Text 25"/>
          <p:cNvSpPr txBox="1"/>
          <p:nvPr/>
        </p:nvSpPr>
        <p:spPr>
          <a:xfrm>
            <a:off x="685800" y="4892040"/>
            <a:ext cx="2743200" cy="237744"/>
          </a:xfrm>
          <a:prstGeom prst="rect">
            <a:avLst/>
          </a:prstGeom>
          <a:noFill/>
          <a:ln/>
        </p:spPr>
        <p:txBody>
          <a:bodyPr wrap="square" lIns="0" tIns="0" rIns="0" bIns="0" rtlCol="0" anchor="ctr"/>
          <a:lstStyle/>
          <a:p>
            <a:pPr algn="l" indent="0" marL="0">
              <a:buNone/>
            </a:pPr>
            <a:r>
              <a:rPr lang="en-US" sz="900" b="1" spc="200" kern="0" dirty="0">
                <a:solidFill>
                  <a:srgbClr val="C45A3C"/>
                </a:solidFill>
                <a:latin typeface="Calibri" pitchFamily="34" charset="0"/>
                <a:cs typeface="Amiri" pitchFamily="2" charset="-78"/>
              </a:rPr>
              <a:t>AND ANSWER ONE QUESTION</a:t>
            </a:r>
            <a:endParaRPr lang="en-US" sz="900" dirty="0"/>
          </a:p>
        </p:txBody>
      </p:sp>
      <p:sp>
        <p:nvSpPr>
          <p:cNvPr id="30" name="Text 26"/>
          <p:cNvSpPr txBox="1"/>
          <p:nvPr/>
        </p:nvSpPr>
        <p:spPr>
          <a:xfrm>
            <a:off x="685800" y="5129784"/>
            <a:ext cx="2194560" cy="1005840"/>
          </a:xfrm>
          <a:prstGeom prst="rect">
            <a:avLst/>
          </a:prstGeom>
          <a:noFill/>
          <a:ln/>
        </p:spPr>
        <p:txBody>
          <a:bodyPr wrap="square" lIns="0" tIns="0" rIns="0" bIns="0" rtlCol="0" anchor="t"/>
          <a:lstStyle/>
          <a:p>
            <a:pPr algn="l" indent="0" marL="0">
              <a:buNone/>
            </a:pPr>
            <a:r>
              <a:rPr lang="en-US" sz="1050" dirty="0">
                <a:solidFill>
                  <a:srgbClr val="1F2A37"/>
                </a:solidFill>
                <a:latin typeface="Calibri" pitchFamily="34" charset="0"/>
                <a:cs typeface="Amiri" pitchFamily="2" charset="-78"/>
              </a:rPr>
              <a:t>Who do you get on with best in your family or among your friends — and why?</a:t>
            </a:r>
            <a:endParaRPr lang="en-US" sz="1050" dirty="0"/>
          </a:p>
        </p:txBody>
      </p:sp>
      <p:sp>
        <p:nvSpPr>
          <p:cNvPr id="31" name="Text 27"/>
          <p:cNvSpPr txBox="1"/>
          <p:nvPr/>
        </p:nvSpPr>
        <p:spPr>
          <a:xfrm>
            <a:off x="2926080" y="5074920"/>
            <a:ext cx="2743200" cy="1051560"/>
          </a:xfrm>
          <a:prstGeom prst="rect">
            <a:avLst/>
          </a:prstGeom>
          <a:noFill/>
          <a:ln/>
        </p:spPr>
        <p:txBody>
          <a:bodyPr wrap="square" lIns="0" tIns="0" rIns="0" bIns="0" rtlCol="0" anchor="ctr"/>
          <a:lstStyle/>
          <a:p>
            <a:pPr rtl="1" algn="r" indent="0" marL="0">
              <a:buNone/>
            </a:pPr>
            <a:r>
              <a:rPr lang="ar-SA" altLang="en-US" sz="1700" b="1" dirty="0">
                <a:solidFill>
                  <a:srgbClr val="1B3B6F"/>
                </a:solidFill>
                <a:latin typeface="Amiri" pitchFamily="2" charset="-78"/>
                <a:ea typeface="Amiri" pitchFamily="2" charset="-78"/>
                <a:cs typeface="Amiri" pitchFamily="2" charset="-78"/>
              </a:rPr>
              <a:t>مَعَ مَنْ تَتَفَاهَمُ جَيِّدًا؟</a:t>
            </a:r>
            <a:endParaRPr lang="ar-SA" sz="1700" dirty="0"/>
          </a:p>
        </p:txBody>
      </p:sp>
      <p:sp>
        <p:nvSpPr>
          <p:cNvPr id="32" name="Text 28"/>
          <p:cNvSpPr txBox="1"/>
          <p:nvPr/>
        </p:nvSpPr>
        <p:spPr>
          <a:xfrm>
            <a:off x="6126480" y="1828800"/>
            <a:ext cx="5486400" cy="274320"/>
          </a:xfrm>
          <a:prstGeom prst="rect">
            <a:avLst/>
          </a:prstGeom>
          <a:noFill/>
          <a:ln/>
        </p:spPr>
        <p:txBody>
          <a:bodyPr wrap="square" lIns="0" tIns="0" rIns="0" bIns="0" rtlCol="0" anchor="ctr"/>
          <a:lstStyle/>
          <a:p>
            <a:pPr algn="l" indent="0" marL="0">
              <a:buNone/>
            </a:pPr>
            <a:r>
              <a:rPr lang="en-US" sz="1000" b="1" spc="200" kern="0" dirty="0">
                <a:solidFill>
                  <a:srgbClr val="1B3B6F"/>
                </a:solidFill>
                <a:latin typeface="Calibri" pitchFamily="34" charset="0"/>
                <a:cs typeface="Amiri" pitchFamily="2" charset="-78"/>
              </a:rPr>
              <a:t>HOMEWORK — CHOOSE YOUR ROUTE</a:t>
            </a:r>
            <a:endParaRPr lang="en-US" sz="1000" dirty="0"/>
          </a:p>
        </p:txBody>
      </p:sp>
      <p:sp>
        <p:nvSpPr>
          <p:cNvPr id="33" name="Shape 29"/>
          <p:cNvSpPr/>
          <p:nvPr/>
        </p:nvSpPr>
        <p:spPr>
          <a:xfrm>
            <a:off x="6126480" y="2194560"/>
            <a:ext cx="5605272" cy="1243584"/>
          </a:xfrm>
          <a:prstGeom prst="roundRect">
            <a:avLst>
              <a:gd name="adj" fmla="val 5882"/>
            </a:avLst>
          </a:prstGeom>
          <a:solidFill>
            <a:srgbClr val="E9F5EE"/>
          </a:solidFill>
          <a:ln w="9525">
            <a:solidFill>
              <a:srgbClr val="2E8B57"/>
            </a:solidFill>
            <a:prstDash val="solid"/>
          </a:ln>
          <a:effectLst>
            <a:outerShdw sx="100000" sy="100000" kx="0" ky="0" algn="bl" rotWithShape="0" blurRad="50800" dist="19050" dir="5400000">
              <a:srgbClr val="000000">
                <a:alpha val="10000"/>
              </a:srgbClr>
            </a:outerShdw>
          </a:effectLst>
        </p:spPr>
      </p:sp>
      <p:sp>
        <p:nvSpPr>
          <p:cNvPr id="34" name="Shape 30"/>
          <p:cNvSpPr/>
          <p:nvPr/>
        </p:nvSpPr>
        <p:spPr>
          <a:xfrm>
            <a:off x="6309360" y="2322576"/>
            <a:ext cx="1051560" cy="274320"/>
          </a:xfrm>
          <a:prstGeom prst="roundRect">
            <a:avLst>
              <a:gd name="adj" fmla="val 50000"/>
            </a:avLst>
          </a:prstGeom>
          <a:solidFill>
            <a:srgbClr val="2E8B57"/>
          </a:solidFill>
          <a:ln w="12700">
            <a:solidFill>
              <a:srgbClr val="2E8B57"/>
            </a:solidFill>
            <a:prstDash val="solid"/>
          </a:ln>
        </p:spPr>
      </p:sp>
      <p:sp>
        <p:nvSpPr>
          <p:cNvPr id="35" name="Text 31"/>
          <p:cNvSpPr txBox="1"/>
          <p:nvPr/>
        </p:nvSpPr>
        <p:spPr>
          <a:xfrm>
            <a:off x="6309360" y="23225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CORE</a:t>
            </a:r>
            <a:endParaRPr lang="en-US" sz="850" dirty="0"/>
          </a:p>
        </p:txBody>
      </p:sp>
      <p:sp>
        <p:nvSpPr>
          <p:cNvPr id="36" name="Text 32"/>
          <p:cNvSpPr txBox="1"/>
          <p:nvPr/>
        </p:nvSpPr>
        <p:spPr>
          <a:xfrm>
            <a:off x="6309360" y="26517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Website TB-L01: the vocabulary check and the Culture Detective Mission (12).</a:t>
            </a:r>
            <a:endParaRPr lang="en-US" sz="1200" dirty="0"/>
          </a:p>
        </p:txBody>
      </p:sp>
      <p:sp>
        <p:nvSpPr>
          <p:cNvPr id="37" name="Shape 33"/>
          <p:cNvSpPr/>
          <p:nvPr/>
        </p:nvSpPr>
        <p:spPr>
          <a:xfrm>
            <a:off x="6126480" y="3566160"/>
            <a:ext cx="5605272" cy="1243584"/>
          </a:xfrm>
          <a:prstGeom prst="roundRect">
            <a:avLst>
              <a:gd name="adj" fmla="val 5882"/>
            </a:avLst>
          </a:prstGeom>
          <a:solidFill>
            <a:srgbClr val="FCF1E0"/>
          </a:solidFill>
          <a:ln w="9525">
            <a:solidFill>
              <a:srgbClr val="C9780A"/>
            </a:solidFill>
            <a:prstDash val="solid"/>
          </a:ln>
          <a:effectLst>
            <a:outerShdw sx="100000" sy="100000" kx="0" ky="0" algn="bl" rotWithShape="0" blurRad="50800" dist="19050" dir="5400000">
              <a:srgbClr val="000000">
                <a:alpha val="10000"/>
              </a:srgbClr>
            </a:outerShdw>
          </a:effectLst>
        </p:spPr>
      </p:sp>
      <p:sp>
        <p:nvSpPr>
          <p:cNvPr id="38" name="Shape 34"/>
          <p:cNvSpPr/>
          <p:nvPr/>
        </p:nvSpPr>
        <p:spPr>
          <a:xfrm>
            <a:off x="6309360" y="3694176"/>
            <a:ext cx="1051560" cy="274320"/>
          </a:xfrm>
          <a:prstGeom prst="roundRect">
            <a:avLst>
              <a:gd name="adj" fmla="val 50000"/>
            </a:avLst>
          </a:prstGeom>
          <a:solidFill>
            <a:srgbClr val="C9780A"/>
          </a:solidFill>
          <a:ln w="12700">
            <a:solidFill>
              <a:srgbClr val="C9780A"/>
            </a:solidFill>
            <a:prstDash val="solid"/>
          </a:ln>
        </p:spPr>
      </p:sp>
      <p:sp>
        <p:nvSpPr>
          <p:cNvPr id="39" name="Text 35"/>
          <p:cNvSpPr txBox="1"/>
          <p:nvPr/>
        </p:nvSpPr>
        <p:spPr>
          <a:xfrm>
            <a:off x="6309360" y="36941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DEVELOP</a:t>
            </a:r>
            <a:endParaRPr lang="en-US" sz="850" dirty="0"/>
          </a:p>
        </p:txBody>
      </p:sp>
      <p:sp>
        <p:nvSpPr>
          <p:cNvPr id="40" name="Text 36"/>
          <p:cNvSpPr txBox="1"/>
          <p:nvPr/>
        </p:nvSpPr>
        <p:spPr>
          <a:xfrm>
            <a:off x="6309360" y="40233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Write a cultural comparison of 6–8 sentences (fictional or family-safe).</a:t>
            </a:r>
            <a:endParaRPr lang="en-US" sz="1200" dirty="0"/>
          </a:p>
        </p:txBody>
      </p:sp>
      <p:sp>
        <p:nvSpPr>
          <p:cNvPr id="41" name="Shape 37"/>
          <p:cNvSpPr/>
          <p:nvPr/>
        </p:nvSpPr>
        <p:spPr>
          <a:xfrm>
            <a:off x="6126480" y="4937760"/>
            <a:ext cx="5605272" cy="1243584"/>
          </a:xfrm>
          <a:prstGeom prst="roundRect">
            <a:avLst>
              <a:gd name="adj" fmla="val 5882"/>
            </a:avLst>
          </a:prstGeom>
          <a:solidFill>
            <a:srgbClr val="FBEAEA"/>
          </a:solidFill>
          <a:ln w="9525">
            <a:solidFill>
              <a:srgbClr val="B83227"/>
            </a:solidFill>
            <a:prstDash val="solid"/>
          </a:ln>
          <a:effectLst>
            <a:outerShdw sx="100000" sy="100000" kx="0" ky="0" algn="bl" rotWithShape="0" blurRad="50800" dist="19050" dir="5400000">
              <a:srgbClr val="000000">
                <a:alpha val="10000"/>
              </a:srgbClr>
            </a:outerShdw>
          </a:effectLst>
        </p:spPr>
      </p:sp>
      <p:sp>
        <p:nvSpPr>
          <p:cNvPr id="42" name="Shape 38"/>
          <p:cNvSpPr/>
          <p:nvPr/>
        </p:nvSpPr>
        <p:spPr>
          <a:xfrm>
            <a:off x="6309360" y="5065776"/>
            <a:ext cx="1051560" cy="274320"/>
          </a:xfrm>
          <a:prstGeom prst="roundRect">
            <a:avLst>
              <a:gd name="adj" fmla="val 50000"/>
            </a:avLst>
          </a:prstGeom>
          <a:solidFill>
            <a:srgbClr val="B83227"/>
          </a:solidFill>
          <a:ln w="12700">
            <a:solidFill>
              <a:srgbClr val="B83227"/>
            </a:solidFill>
            <a:prstDash val="solid"/>
          </a:ln>
        </p:spPr>
      </p:sp>
      <p:sp>
        <p:nvSpPr>
          <p:cNvPr id="43" name="Text 39"/>
          <p:cNvSpPr txBox="1"/>
          <p:nvPr/>
        </p:nvSpPr>
        <p:spPr>
          <a:xfrm>
            <a:off x="6309360" y="5065776"/>
            <a:ext cx="1051560" cy="274320"/>
          </a:xfrm>
          <a:prstGeom prst="rect">
            <a:avLst/>
          </a:prstGeom>
          <a:noFill/>
          <a:ln/>
        </p:spPr>
        <p:txBody>
          <a:bodyPr wrap="square" lIns="0" tIns="0" rIns="0" bIns="0" rtlCol="0" anchor="ctr"/>
          <a:lstStyle/>
          <a:p>
            <a:pPr algn="ctr" indent="0" marL="0">
              <a:buNone/>
            </a:pPr>
            <a:r>
              <a:rPr lang="en-US" sz="850" b="1" spc="100" kern="0" dirty="0">
                <a:solidFill>
                  <a:srgbClr val="FFFFFF"/>
                </a:solidFill>
                <a:latin typeface="Calibri" pitchFamily="34" charset="0"/>
                <a:cs typeface="Amiri" pitchFamily="2" charset="-78"/>
              </a:rPr>
              <a:t>STRETCH</a:t>
            </a:r>
            <a:endParaRPr lang="en-US" sz="850" dirty="0"/>
          </a:p>
        </p:txBody>
      </p:sp>
      <p:sp>
        <p:nvSpPr>
          <p:cNvPr id="44" name="Text 40"/>
          <p:cNvSpPr txBox="1"/>
          <p:nvPr/>
        </p:nvSpPr>
        <p:spPr>
          <a:xfrm>
            <a:off x="6309360" y="5394960"/>
            <a:ext cx="5257800" cy="731520"/>
          </a:xfrm>
          <a:prstGeom prst="rect">
            <a:avLst/>
          </a:prstGeom>
          <a:noFill/>
          <a:ln/>
        </p:spPr>
        <p:txBody>
          <a:bodyPr wrap="square" lIns="0" tIns="0" rIns="0" bIns="0" rtlCol="0" anchor="ctr"/>
          <a:lstStyle/>
          <a:p>
            <a:pPr algn="l" indent="0" marL="0">
              <a:buNone/>
            </a:pPr>
            <a:r>
              <a:rPr lang="en-US" sz="1200" dirty="0">
                <a:solidFill>
                  <a:srgbClr val="1F2A37"/>
                </a:solidFill>
                <a:latin typeface="Calibri" pitchFamily="34" charset="0"/>
                <a:cs typeface="Amiri" pitchFamily="2" charset="-78"/>
              </a:rPr>
              <a:t>10 sentences with layered identity; then the 12-question checkpoint (aim for 10/12).</a:t>
            </a:r>
            <a:endParaRPr lang="en-US" sz="1200" dirty="0"/>
          </a:p>
        </p:txBody>
      </p:sp>
      <p:sp>
        <p:nvSpPr>
          <p:cNvPr id="45" name="Text 41"/>
          <p:cNvSpPr txBox="1"/>
          <p:nvPr/>
        </p:nvSpPr>
        <p:spPr>
          <a:xfrm>
            <a:off x="10360152" y="6455664"/>
            <a:ext cx="1371600" cy="219456"/>
          </a:xfrm>
          <a:prstGeom prst="rect">
            <a:avLst/>
          </a:prstGeom>
          <a:noFill/>
          <a:ln/>
        </p:spPr>
        <p:txBody>
          <a:bodyPr wrap="square" lIns="0" tIns="0" rIns="0" bIns="0" rtlCol="0" anchor="ctr"/>
          <a:lstStyle/>
          <a:p>
            <a:pPr algn="r" indent="0" marL="0">
              <a:buNone/>
            </a:pPr>
            <a:r>
              <a:rPr lang="en-US" sz="850" dirty="0">
                <a:solidFill>
                  <a:srgbClr val="8A93A0"/>
                </a:solidFill>
                <a:latin typeface="Calibri" pitchFamily="34" charset="0"/>
                <a:cs typeface="Amiri" pitchFamily="2" charset="-78"/>
              </a:rPr>
              <a:t>36 / 37</a:t>
            </a:r>
            <a:endParaRPr lang="en-US" sz="850" dirty="0"/>
          </a:p>
        </p:txBody>
      </p:sp>
    </p:spTree>
  </p:cSld>
  <p:clrMapOvr>
    <a:masterClrMapping/>
  </p:clrMapOvr>
</p:sld>
</file>

<file path=ppt/slides/slide37.xml><?xml version="1.0" encoding="utf-8"?>
<p:sld xmlns:a="http://schemas.openxmlformats.org/drawingml/2006/main" xmlns:r="http://schemas.openxmlformats.org/officeDocument/2006/relationships" xmlns:p="http://schemas.openxmlformats.org/presentationml/2006/main">
  <p:cSld name="Slide 37">
    <p:bg>
      <p:bgPr>
        <a:solidFill>
          <a:srgbClr val="0D1F3C"/>
        </a:solidFill>
      </p:bgPr>
    </p:bg>
    <p:spTree>
      <p:nvGrpSpPr>
        <p:cNvPr id="1" name=""/>
        <p:cNvGrpSpPr/>
        <p:nvPr/>
      </p:nvGrpSpPr>
      <p:grpSpPr>
        <a:xfrm>
          <a:off x="0" y="0"/>
          <a:ext cx="0" cy="0"/>
          <a:chOff x="0" y="0"/>
          <a:chExt cx="0" cy="0"/>
        </a:xfrm>
      </p:grpSpPr>
      <p:sp>
        <p:nvSpPr>
          <p:cNvPr id="2" name="Shape 0"/>
          <p:cNvSpPr/>
          <p:nvPr/>
        </p:nvSpPr>
        <p:spPr>
          <a:xfrm>
            <a:off x="7863840" y="1097280"/>
            <a:ext cx="5852160" cy="5852160"/>
          </a:xfrm>
          <a:prstGeom prst="ellipse">
            <a:avLst/>
          </a:prstGeom>
          <a:solidFill>
            <a:srgbClr val="14315C"/>
          </a:solidFill>
          <a:ln w="12700">
            <a:solidFill>
              <a:srgbClr val="14315C"/>
            </a:solidFill>
            <a:prstDash val="solid"/>
          </a:ln>
        </p:spPr>
      </p:sp>
      <p:sp>
        <p:nvSpPr>
          <p:cNvPr id="3" name="Shape 1"/>
          <p:cNvSpPr/>
          <p:nvPr/>
        </p:nvSpPr>
        <p:spPr>
          <a:xfrm>
            <a:off x="9372600" y="2606040"/>
            <a:ext cx="1737360" cy="1737360"/>
          </a:xfrm>
          <a:prstGeom prst="ellipse">
            <a:avLst/>
          </a:prstGeom>
          <a:solidFill>
            <a:srgbClr val="D4AF37"/>
          </a:solidFill>
          <a:ln w="12700">
            <a:solidFill>
              <a:srgbClr val="D4AF37"/>
            </a:solidFill>
            <a:prstDash val="solid"/>
          </a:ln>
        </p:spPr>
      </p:sp>
      <p:pic>
        <p:nvPicPr>
          <p:cNvPr id="4" name="Image 0" descr="preencoded.png">    </p:cNvPr>
          <p:cNvPicPr>
            <a:picLocks noChangeAspect="1"/>
          </p:cNvPicPr>
          <p:nvPr/>
        </p:nvPicPr>
        <p:blipFill>
          <a:blip r:embed="rId1"/>
          <a:stretch>
            <a:fillRect/>
          </a:stretch>
        </p:blipFill>
        <p:spPr>
          <a:xfrm>
            <a:off x="9710928" y="2944368"/>
            <a:ext cx="1060704" cy="1060704"/>
          </a:xfrm>
          <a:prstGeom prst="rect">
            <a:avLst/>
          </a:prstGeom>
        </p:spPr>
      </p:pic>
      <p:sp>
        <p:nvSpPr>
          <p:cNvPr id="5" name="Text 2"/>
          <p:cNvSpPr txBox="1"/>
          <p:nvPr/>
        </p:nvSpPr>
        <p:spPr>
          <a:xfrm>
            <a:off x="457200" y="1280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TB-L01 COMPLETE</a:t>
            </a:r>
            <a:endParaRPr lang="en-US" sz="1100" dirty="0"/>
          </a:p>
        </p:txBody>
      </p:sp>
      <p:sp>
        <p:nvSpPr>
          <p:cNvPr id="6" name="Text 3"/>
          <p:cNvSpPr txBox="1"/>
          <p:nvPr/>
        </p:nvSpPr>
        <p:spPr>
          <a:xfrm>
            <a:off x="457200" y="1691640"/>
            <a:ext cx="7315200" cy="914400"/>
          </a:xfrm>
          <a:prstGeom prst="rect">
            <a:avLst/>
          </a:prstGeom>
          <a:noFill/>
          <a:ln/>
        </p:spPr>
        <p:txBody>
          <a:bodyPr wrap="square" lIns="0" tIns="0" rIns="0" bIns="0" rtlCol="0" anchor="ctr"/>
          <a:lstStyle/>
          <a:p>
            <a:pPr rtl="1" algn="l" indent="0" marL="0">
              <a:buNone/>
            </a:pPr>
            <a:r>
              <a:rPr lang="ar-SA" altLang="en-US" sz="4000" b="1" dirty="0">
                <a:solidFill>
                  <a:srgbClr val="FFFFFF"/>
                </a:solidFill>
                <a:latin typeface="Amiri" pitchFamily="2" charset="-78"/>
                <a:ea typeface="Amiri" pitchFamily="2" charset="-78"/>
                <a:cs typeface="Amiri" pitchFamily="2" charset="-78"/>
              </a:rPr>
              <a:t>أَحْسَنْتُمْ! إِلَى اللِّقَاءِ</a:t>
            </a:r>
            <a:endParaRPr lang="ar-SA" sz="4000" dirty="0"/>
          </a:p>
        </p:txBody>
      </p:sp>
      <p:sp>
        <p:nvSpPr>
          <p:cNvPr id="7" name="Text 4"/>
          <p:cNvSpPr txBox="1"/>
          <p:nvPr/>
        </p:nvSpPr>
        <p:spPr>
          <a:xfrm>
            <a:off x="457200" y="2606040"/>
            <a:ext cx="7315200" cy="411480"/>
          </a:xfrm>
          <a:prstGeom prst="rect">
            <a:avLst/>
          </a:prstGeom>
          <a:noFill/>
          <a:ln/>
        </p:spPr>
        <p:txBody>
          <a:bodyPr wrap="square" lIns="0" tIns="0" rIns="0" bIns="0" rtlCol="0" anchor="ctr"/>
          <a:lstStyle/>
          <a:p>
            <a:pPr algn="l" indent="0" marL="0">
              <a:buNone/>
            </a:pPr>
            <a:r>
              <a:rPr lang="en-US" sz="1600" i="1" dirty="0">
                <a:solidFill>
                  <a:srgbClr val="C6D2E6"/>
                </a:solidFill>
                <a:latin typeface="Calibri" pitchFamily="34" charset="0"/>
                <a:cs typeface="Amiri" pitchFamily="2" charset="-78"/>
              </a:rPr>
              <a:t>Well done — see you next lesson.</a:t>
            </a:r>
            <a:endParaRPr lang="en-US" sz="1600" dirty="0"/>
          </a:p>
        </p:txBody>
      </p:sp>
      <p:sp>
        <p:nvSpPr>
          <p:cNvPr id="8" name="Text 5"/>
          <p:cNvSpPr txBox="1"/>
          <p:nvPr/>
        </p:nvSpPr>
        <p:spPr>
          <a:xfrm>
            <a:off x="457200" y="3566160"/>
            <a:ext cx="5486400" cy="274320"/>
          </a:xfrm>
          <a:prstGeom prst="rect">
            <a:avLst/>
          </a:prstGeom>
          <a:noFill/>
          <a:ln/>
        </p:spPr>
        <p:txBody>
          <a:bodyPr wrap="square" lIns="0" tIns="0" rIns="0" bIns="0" rtlCol="0" anchor="ctr"/>
          <a:lstStyle/>
          <a:p>
            <a:pPr algn="l" indent="0" marL="0">
              <a:buNone/>
            </a:pPr>
            <a:r>
              <a:rPr lang="en-US" sz="1100" b="1" spc="300" kern="0" dirty="0">
                <a:solidFill>
                  <a:srgbClr val="D4AF37"/>
                </a:solidFill>
                <a:latin typeface="Calibri" pitchFamily="34" charset="0"/>
                <a:cs typeface="Amiri" pitchFamily="2" charset="-78"/>
              </a:rPr>
              <a:t>NEXT LESSON</a:t>
            </a:r>
            <a:endParaRPr lang="en-US" sz="1100" dirty="0"/>
          </a:p>
        </p:txBody>
      </p:sp>
      <p:sp>
        <p:nvSpPr>
          <p:cNvPr id="9" name="Text 6"/>
          <p:cNvSpPr txBox="1"/>
          <p:nvPr/>
        </p:nvSpPr>
        <p:spPr>
          <a:xfrm>
            <a:off x="457200" y="3886200"/>
            <a:ext cx="7315200" cy="548640"/>
          </a:xfrm>
          <a:prstGeom prst="rect">
            <a:avLst/>
          </a:prstGeom>
          <a:noFill/>
          <a:ln/>
        </p:spPr>
        <p:txBody>
          <a:bodyPr wrap="square" lIns="0" tIns="0" rIns="0" bIns="0" rtlCol="0" anchor="ctr"/>
          <a:lstStyle/>
          <a:p>
            <a:pPr algn="l" indent="0" marL="0">
              <a:buNone/>
            </a:pPr>
            <a:r>
              <a:rPr lang="en-US" sz="2300" b="1" dirty="0">
                <a:solidFill>
                  <a:srgbClr val="FFFFFF"/>
                </a:solidFill>
                <a:latin typeface="Cambria" pitchFamily="34" charset="0"/>
                <a:cs typeface="Amiri" pitchFamily="2" charset="-78"/>
              </a:rPr>
              <a:t>TB-L02 · Family, Friends and Relationships</a:t>
            </a:r>
            <a:endParaRPr lang="en-US" sz="2300" dirty="0"/>
          </a:p>
        </p:txBody>
      </p:sp>
      <p:sp>
        <p:nvSpPr>
          <p:cNvPr id="10" name="Text 7"/>
          <p:cNvSpPr txBox="1"/>
          <p:nvPr/>
        </p:nvSpPr>
        <p:spPr>
          <a:xfrm>
            <a:off x="457200" y="4434840"/>
            <a:ext cx="7315200" cy="548640"/>
          </a:xfrm>
          <a:prstGeom prst="rect">
            <a:avLst/>
          </a:prstGeom>
          <a:noFill/>
          <a:ln/>
        </p:spPr>
        <p:txBody>
          <a:bodyPr wrap="square" lIns="0" tIns="0" rIns="0" bIns="0" rtlCol="0" anchor="ctr"/>
          <a:lstStyle/>
          <a:p>
            <a:pPr rtl="1" algn="l" indent="0" marL="0">
              <a:buNone/>
            </a:pPr>
            <a:r>
              <a:rPr lang="ar-SA" altLang="en-US" sz="2400" b="1" dirty="0">
                <a:solidFill>
                  <a:srgbClr val="D4AF37"/>
                </a:solidFill>
                <a:latin typeface="Amiri" pitchFamily="2" charset="-78"/>
                <a:ea typeface="Amiri" pitchFamily="2" charset="-78"/>
                <a:cs typeface="Amiri" pitchFamily="2" charset="-78"/>
              </a:rPr>
              <a:t>العَائِلَةُ وَالأَصْدِقَاءُ وَالعَلَاقَاتُ</a:t>
            </a:r>
            <a:endParaRPr lang="ar-SA" sz="2400" dirty="0"/>
          </a:p>
        </p:txBody>
      </p:sp>
      <p:sp>
        <p:nvSpPr>
          <p:cNvPr id="11" name="Text 8"/>
          <p:cNvSpPr txBox="1"/>
          <p:nvPr/>
        </p:nvSpPr>
        <p:spPr>
          <a:xfrm>
            <a:off x="457200" y="5303520"/>
            <a:ext cx="7315200" cy="365760"/>
          </a:xfrm>
          <a:prstGeom prst="rect">
            <a:avLst/>
          </a:prstGeom>
          <a:noFill/>
          <a:ln/>
        </p:spPr>
        <p:txBody>
          <a:bodyPr wrap="square" lIns="0" tIns="0" rIns="0" bIns="0" rtlCol="0" anchor="ctr"/>
          <a:lstStyle/>
          <a:p>
            <a:pPr algn="l" indent="0" marL="0">
              <a:buNone/>
            </a:pPr>
            <a:r>
              <a:rPr lang="en-US" sz="1300" b="1" dirty="0">
                <a:solidFill>
                  <a:srgbClr val="FFFFFF"/>
                </a:solidFill>
                <a:latin typeface="Calibri" pitchFamily="34" charset="0"/>
                <a:cs typeface="Amiri" pitchFamily="2" charset="-78"/>
              </a:rPr>
              <a:t>Remember: observe, ask politely, follow their lead.</a:t>
            </a:r>
            <a:endParaRPr lang="en-US" sz="1300" dirty="0"/>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Amiri" pitchFamily="2" charset="-78"/>
        <a:cs typeface="Amiri" pitchFamily="2" charset="-78"/>
        <a:font script="Arab" typeface="Amiri"/>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Amiri" pitchFamily="2" charset="-78"/>
        <a:cs typeface="Amiri" pitchFamily="2" charset="-78"/>
        <a:font script="Arab" typeface="Amiri"/>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0</TotalTime>
  <Words>0</Words>
  <Application>Microsoft Office PowerPoint</Application>
  <PresentationFormat>On-screen Show (16:9)</PresentationFormat>
  <Paragraphs>0</Paragraphs>
  <Slides>37</Slides>
  <Notes>37</Notes>
  <HiddenSlides>0</HiddenSlides>
  <MMClips>0</MMClips>
  <ScaleCrop>false</ScaleCrop>
  <HeadingPairs>
    <vt:vector size="6" baseType="variant">
      <vt:variant>
        <vt:lpstr>Fonts Used</vt:lpstr>
      </vt:variant>
      <vt:variant>
        <vt:i4>2</vt:i4>
      </vt:variant>
      <vt:variant>
        <vt:lpstr>Theme</vt:lpstr>
      </vt:variant>
      <vt:variant>
        <vt:i4>1</vt:i4>
      </vt:variant>
      <vt:variant>
        <vt:lpstr>Slide Titles</vt:lpstr>
      </vt:variant>
      <vt:variant>
        <vt:i4>37</vt:i4>
      </vt:variant>
    </vt:vector>
  </HeadingPairs>
  <TitlesOfParts>
    <vt:vector size="40" baseType="lpstr">
      <vt:lpstr>Arial</vt:lpstr>
      <vt:lpstr>Calibri</vt:lpstr>
      <vt:lpstr>Office Theme</vt:lpstr>
      <vt:lpstr>Slide 1</vt:lpstr>
      <vt:lpstr>Slide 2</vt:lpstr>
      <vt:lpstr>Slide 3</vt:lpstr>
      <vt:lpstr>Slide 4</vt:lpstr>
      <vt:lpstr>Slide 5</vt:lpstr>
      <vt:lpstr>Slide 6</vt:lpstr>
      <vt:lpstr>Slide 7</vt:lpstr>
      <vt:lpstr>Slide 8</vt:lpstr>
      <vt:lpstr>Slide 9</vt:lpstr>
      <vt:lpstr>Slide 10</vt:lpstr>
      <vt:lpstr>Slide 11</vt:lpstr>
      <vt:lpstr>Slide 12</vt:lpstr>
      <vt:lpstr>Slide 13</vt:lpstr>
      <vt:lpstr>Slide 14</vt:lpstr>
      <vt:lpstr>Slide 15</vt:lpstr>
      <vt:lpstr>Slide 16</vt:lpstr>
      <vt:lpstr>Slide 17</vt:lpstr>
      <vt:lpstr>Slide 18</vt:lpstr>
      <vt:lpstr>Slide 19</vt:lpstr>
      <vt:lpstr>Slide 20</vt:lpstr>
      <vt:lpstr>Slide 21</vt:lpstr>
      <vt:lpstr>Slide 22</vt:lpstr>
      <vt:lpstr>Slide 23</vt:lpstr>
      <vt:lpstr>Slide 24</vt:lpstr>
      <vt:lpstr>Slide 25</vt:lpstr>
      <vt:lpstr>Slide 26</vt:lpstr>
      <vt:lpstr>Slide 27</vt:lpstr>
      <vt:lpstr>Slide 28</vt:lpstr>
      <vt:lpstr>Slide 29</vt:lpstr>
      <vt:lpstr>Slide 30</vt:lpstr>
      <vt:lpstr>Slide 31</vt:lpstr>
      <vt:lpstr>Slide 32</vt:lpstr>
      <vt:lpstr>Slide 33</vt:lpstr>
      <vt:lpstr>Slide 34</vt:lpstr>
      <vt:lpstr>Slide 35</vt:lpstr>
      <vt:lpstr>Slide 36</vt:lpstr>
      <vt:lpstr>Slide 37</vt:lpstr>
    </vt:vector>
  </TitlesOfParts>
  <Company>Al Madina Online School</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TB-L01 · Identity and Personal Profiles</dc:title>
  <dc:subject>PptxGenJS Presentation</dc:subject>
  <dc:creator>Al Madina Online School · Arabic Department</dc:creator>
  <cp:lastModifiedBy>Al Madina Online School · Arabic Department</cp:lastModifiedBy>
  <cp:revision>1</cp:revision>
  <dcterms:created xsi:type="dcterms:W3CDTF">2026-10-11T06:43:48Z</dcterms:created>
  <dcterms:modified xsi:type="dcterms:W3CDTF">2026-10-11T06:43:48Z</dcterms:modified>
</cp:coreProperties>
</file>