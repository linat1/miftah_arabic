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2 (Calendar, Dates and the School Week, AT-A-L02)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(73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Calendar and the School Week</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التَّقْوِيمُ وَالأُسْبُوعُ الدِّرَاسِيُّ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(an invitation and arrangements),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AT-A-L02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Library: book a study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حَجْزُ غُرْفَةِ دِرَاسَةٍ فِي المَكْتَبَةِ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ordinal date: </a:t>
            </a:r>
            <a:pPr algn="l" indent="0" marL="0">
              <a:buNone/>
            </a:pPr>
            <a:r>
              <a:rPr lang="ar-SA" altLang="en-US" sz="1450" dirty="0">
                <a:solidFill>
                  <a:srgbClr val="5A6472"/>
                </a:solidFill>
                <a:latin typeface="Amiri" pitchFamily="2" charset="-78"/>
                <a:ea typeface="Amiri" pitchFamily="2" charset="-78"/>
                <a:cs typeface="Amiri" pitchFamily="2" charset="-78"/>
              </a:rPr>
              <a:t>الثَّالِثُ مِنْ أَبْرِيلَ</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التَّارِيخُ</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يَوْمُ السَّبْتِ</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اليَوْمُ</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العَاشِرَةِ إِلَى الثَّانِيَةَ عَشْرَةَ</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 to … (time)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السَّاعَةِ … إِلَى السَّاعَةِ …</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36408" y="4724400"/>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number: </a:t>
            </a:r>
            <a:pPr algn="l" indent="0" marL="0">
              <a:buNone/>
            </a:pPr>
            <a:r>
              <a:rPr lang="ar-SA" altLang="en-US" sz="1450" dirty="0">
                <a:solidFill>
                  <a:srgbClr val="5A6472"/>
                </a:solidFill>
                <a:latin typeface="Amiri" pitchFamily="2" charset="-78"/>
                <a:ea typeface="Amiri" pitchFamily="2" charset="-78"/>
                <a:cs typeface="Amiri" pitchFamily="2" charset="-78"/>
              </a:rPr>
              <a:t>ثَلَاثَةُ طُلَّابٍ</a:t>
            </a:r>
            <a:endParaRPr lang="en-US" sz="11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students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الطُّلَّابِ</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نَحْتَاجُ الغُرْفَةَ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do you need the room?</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تَحْتَاجُ الغُرْفَةَ؟</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Question 2: an invitation for Saturday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دَعْوَةٌ لِيَوْمِ السَّبْتِ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Your friend wants to meet next weekend. Write an email in Arabic of about 80–90 words. You must include: • which day and time suit you, and why • what you did last weekend • what you have planned for the rest of the week • a suggestion of where to meet.</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يُنَاسِبُنِي يَوْمُ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suits me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المَاضِي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weekend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 عِنْدِي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 I have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رَأْيُكَ أَنْ نَلْتَقِيَ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 about meeting 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مَوْعِدٍ لِلِقَاءٍ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يَوْمٍ وَأَيُّ سَاعَةٍ تُنَاسِبُكَ؟ وَلِمَاذَا؟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فِي نِهَايَةِ الأُسْبُوعِ المَاضِي؟</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خِطَطُكَ لِبَقِيَّةِ الأُسْبُوعِ؟</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اقْتَرِحْ مَكَانًا لِلِقَاءٍ.</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to arrange to meet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مَوْعِدٍ لِلِقَاءٍ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 and time suit you, and why</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 يَوْمٍ … وَلِمَاذَا</a:t>
            </a:r>
            <a:pPr algn="l" indent="0" marL="0">
              <a:buNone/>
            </a:pPr>
            <a:r>
              <a:rPr lang="en-US" sz="1100" dirty="0">
                <a:solidFill>
                  <a:srgbClr val="5A6472"/>
                </a:solidFill>
                <a:latin typeface="Calibri" pitchFamily="34" charset="0"/>
                <a:cs typeface="Amiri" pitchFamily="2" charset="-78"/>
              </a:rPr>
              <a:t> → a day + time + a reason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يَوْمٍ وَأَيُّ سَاعَةٍ تُنَاسِبُكَ؟ وَلِمَاذَا؟</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last weekend</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فِي نِهَايَةِ الأُسْبُوعِ المَاضِي؟</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plans for the rest of the week</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خِطَطُكَ</a:t>
            </a:r>
            <a:pPr algn="l" indent="0" marL="0">
              <a:buNone/>
            </a:pPr>
            <a:r>
              <a:rPr lang="en-US" sz="1100" dirty="0">
                <a:solidFill>
                  <a:srgbClr val="5A6472"/>
                </a:solidFill>
                <a:latin typeface="Calibri" pitchFamily="34" charset="0"/>
                <a:cs typeface="Amiri" pitchFamily="2" charset="-78"/>
              </a:rPr>
              <a:t> → FUTURE (sa- / sawfa) + days</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خِطَطُكَ لِبَقِيَّةِ الأُسْبُوعِ؟</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a place to meet</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اقْتَرِحْ</a:t>
            </a:r>
            <a:pPr algn="l" indent="0" marL="0">
              <a:buNone/>
            </a:pPr>
            <a:r>
              <a:rPr lang="en-US" sz="1100" dirty="0">
                <a:solidFill>
                  <a:srgbClr val="5A6472"/>
                </a:solidFill>
                <a:latin typeface="Calibri" pitchFamily="34" charset="0"/>
                <a:cs typeface="Amiri" pitchFamily="2" charset="-78"/>
              </a:rPr>
              <a:t> → a suggestion: </a:t>
            </a:r>
            <a:pPr algn="l" indent="0" marL="0">
              <a:buNone/>
            </a:pPr>
            <a:r>
              <a:rPr lang="ar-SA" altLang="en-US" sz="1450" dirty="0">
                <a:solidFill>
                  <a:srgbClr val="5A6472"/>
                </a:solidFill>
                <a:latin typeface="Amiri" pitchFamily="2" charset="-78"/>
                <a:ea typeface="Amiri" pitchFamily="2" charset="-78"/>
                <a:cs typeface="Amiri" pitchFamily="2" charset="-78"/>
              </a:rPr>
              <a:t>مَا رَأْيُكَ أَنْ …؟</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اقْتَرِحْ مَكَانًا لِلِقَاءٍ.</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امْتِحَانٌ.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have an exam.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500" b="1" dirty="0">
                <a:solidFill>
                  <a:srgbClr val="1B3B6F"/>
                </a:solidFill>
                <a:latin typeface="Amiri" pitchFamily="2" charset="-78"/>
                <a:ea typeface="Amiri" pitchFamily="2" charset="-78"/>
                <a:cs typeface="Amiri" pitchFamily="2" charset="-78"/>
              </a:rPr>
              <a:t>عِنْدِي امْتِحَانُ رِيَاضِيَّاتٍ يَوْمَ الأَرْبِعَاءِ فِي السَّاعَةِ التَّاسِعَةِ.</a:t>
            </a:r>
            <a:endParaRPr lang="ar-SA" sz="25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a maths exam on Wednesday at nine.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350" b="1" dirty="0">
                <a:solidFill>
                  <a:srgbClr val="1B3B6F"/>
                </a:solidFill>
                <a:latin typeface="Amiri" pitchFamily="2" charset="-78"/>
                <a:ea typeface="Amiri" pitchFamily="2" charset="-78"/>
                <a:cs typeface="Amiri" pitchFamily="2" charset="-78"/>
              </a:rPr>
              <a:t>عِنْدِي امْتِحَانُ رِيَاضِيَّاتٍ يَوْمَ الأَرْبِعَاءِ، لِذٰلِكَ سَأُرَاجِعُ كُلَّ مَسَاءٍ.</a:t>
            </a:r>
            <a:endParaRPr lang="ar-SA" sz="23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so I will revise every evening.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وَفِي رَأْيِي الرِّيَاضِيَّاتُ صَعْبَةٌ، لٰكِنِّي أُحِبُّ التَّحَدِّيَ!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maths is hard, but I like a challenge!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holiday starts on the first of July.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تَبْدَأُ العُطْلَةُ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يَبْدَأُ العُطْلَةُ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الأَوَّلِ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الوَاحِدِ</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يُولْيُو</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يُولْيُو</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two lessons before lunch.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حِصَّتَانِ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حِصَّتَيْنِ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الغَدَاءِ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الغَدَاءِ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Last week I went to the museum on Friday.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الأُسْبُوعِ المَاضِي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الأُسْبُوعِ القَادِمِ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ذَهَبْتُ إِلَى المُتْحَفِ</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سَأَذْهَبُ إِلَى المُتْحَفِ</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holiday starts on the first of July.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العُطْلَةُ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تَبْدَأُ</a:t>
            </a:r>
            <a:pPr algn="l" indent="0" marL="0">
              <a:buNone/>
            </a:pPr>
            <a:r>
              <a:rPr lang="en-US" sz="1050" i="1" dirty="0">
                <a:solidFill>
                  <a:srgbClr val="5A6472"/>
                </a:solidFill>
                <a:latin typeface="Calibri" pitchFamily="34" charset="0"/>
                <a:cs typeface="Amiri" pitchFamily="2" charset="-78"/>
              </a:rPr>
              <a:t>; dates use the ordinal: </a:t>
            </a:r>
            <a:pPr algn="l" indent="0" marL="0">
              <a:buNone/>
            </a:pPr>
            <a:r>
              <a:rPr lang="ar-SA" altLang="en-US" sz="1350" dirty="0">
                <a:solidFill>
                  <a:srgbClr val="5A6472"/>
                </a:solidFill>
                <a:latin typeface="Amiri" pitchFamily="2" charset="-78"/>
                <a:ea typeface="Amiri" pitchFamily="2" charset="-78"/>
                <a:cs typeface="Amiri" pitchFamily="2" charset="-78"/>
              </a:rPr>
              <a:t>الأَوَّلِ 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تَبْدَأُ العُطْلَةُ فِي الأَوَّلِ مِنْ يُولْيُو</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two lessons before lunch.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lessons = the dual </a:t>
            </a:r>
            <a:pPr algn="l" indent="0" marL="0">
              <a:buNone/>
            </a:pPr>
            <a:r>
              <a:rPr lang="ar-SA" altLang="en-US" sz="1350" dirty="0">
                <a:solidFill>
                  <a:srgbClr val="5A6472"/>
                </a:solidFill>
                <a:latin typeface="Amiri" pitchFamily="2" charset="-78"/>
                <a:ea typeface="Amiri" pitchFamily="2" charset="-78"/>
                <a:cs typeface="Amiri" pitchFamily="2" charset="-78"/>
              </a:rPr>
              <a:t>حِصَّتَانِ</a:t>
            </a:r>
            <a:pPr algn="l" indent="0" marL="0">
              <a:buNone/>
            </a:pPr>
            <a:r>
              <a:rPr lang="en-US" sz="1050" i="1" dirty="0">
                <a:solidFill>
                  <a:srgbClr val="5A6472"/>
                </a:solidFill>
                <a:latin typeface="Calibri" pitchFamily="34" charset="0"/>
                <a:cs typeface="Amiri" pitchFamily="2" charset="-78"/>
              </a:rPr>
              <a:t> (subject of </a:t>
            </a:r>
            <a:pPr algn="l" indent="0" marL="0">
              <a:buNone/>
            </a:pPr>
            <a:r>
              <a:rPr lang="ar-SA" altLang="en-US" sz="1350" dirty="0">
                <a:solidFill>
                  <a:srgbClr val="5A6472"/>
                </a:solidFill>
                <a:latin typeface="Amiri" pitchFamily="2" charset="-78"/>
                <a:ea typeface="Amiri" pitchFamily="2" charset="-78"/>
                <a:cs typeface="Amiri" pitchFamily="2" charset="-78"/>
              </a:rPr>
              <a:t>عِنْدِي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حِصَّتَانِ قَبْلَ الغَدَاءِ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Last week I went to the museum on Friday.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time → past verb; “on Friday” = </a:t>
            </a:r>
            <a:pPr algn="l" indent="0" marL="0">
              <a:buNone/>
            </a:pPr>
            <a:r>
              <a:rPr lang="ar-SA" altLang="en-US" sz="1350" dirty="0">
                <a:solidFill>
                  <a:srgbClr val="5A6472"/>
                </a:solidFill>
                <a:latin typeface="Amiri" pitchFamily="2" charset="-78"/>
                <a:ea typeface="Amiri" pitchFamily="2" charset="-78"/>
                <a:cs typeface="Amiri" pitchFamily="2" charset="-78"/>
              </a:rPr>
              <a:t>يَوْمَ الجُمُعَةِ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الأُسْبُوعِ المَاضِي ذَهَبْتُ إِلَى المُتْحَفِ يَوْمَ الجُمُعَةِ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يَوْمُ ______ أَفْضَلُ مِنْ ______ ، لِأَنَّ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 is better than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First …, then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أُسْبُوعِي مَشْغُولٌ: يَوْمَ ______ عِنْدِي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My week is busy: on … I have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نَلْتَقِي أَمَامَ ______ ، وَبَعْدَ ذٰلِكَ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We meet outside …, and after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75234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يُنَاسِبُنِي يَوْمُ ______ فِي السَّاعَةِ ______ .</a:t>
            </a:r>
            <a:endParaRPr lang="ar-SA" sz="1800" dirty="0"/>
          </a:p>
        </p:txBody>
      </p:sp>
      <p:sp>
        <p:nvSpPr>
          <p:cNvPr id="32" name="Text 29"/>
          <p:cNvSpPr txBox="1"/>
          <p:nvPr/>
        </p:nvSpPr>
        <p:spPr>
          <a:xfrm>
            <a:off x="6327648" y="275234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 at … suits me.</a:t>
            </a:r>
            <a:endParaRPr lang="en-US" sz="1050" dirty="0"/>
          </a:p>
        </p:txBody>
      </p:sp>
      <p:sp>
        <p:nvSpPr>
          <p:cNvPr id="33" name="Text 30"/>
          <p:cNvSpPr txBox="1"/>
          <p:nvPr/>
        </p:nvSpPr>
        <p:spPr>
          <a:xfrm>
            <a:off x="8202168" y="325526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المَاضِي ______ .</a:t>
            </a:r>
            <a:endParaRPr lang="ar-SA" sz="1800" dirty="0"/>
          </a:p>
        </p:txBody>
      </p:sp>
      <p:sp>
        <p:nvSpPr>
          <p:cNvPr id="34" name="Text 31"/>
          <p:cNvSpPr txBox="1"/>
          <p:nvPr/>
        </p:nvSpPr>
        <p:spPr>
          <a:xfrm>
            <a:off x="6327648" y="325526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Last weekend I …</a:t>
            </a:r>
            <a:endParaRPr lang="en-US" sz="1050" dirty="0"/>
          </a:p>
        </p:txBody>
      </p:sp>
      <p:sp>
        <p:nvSpPr>
          <p:cNvPr id="35" name="Text 32"/>
          <p:cNvSpPr txBox="1"/>
          <p:nvPr/>
        </p:nvSpPr>
        <p:spPr>
          <a:xfrm>
            <a:off x="8202168" y="375818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______ سَأَذْهَبُ إِلَى ______ .</a:t>
            </a:r>
            <a:endParaRPr lang="ar-SA" sz="1800" dirty="0"/>
          </a:p>
        </p:txBody>
      </p:sp>
      <p:sp>
        <p:nvSpPr>
          <p:cNvPr id="36" name="Text 33"/>
          <p:cNvSpPr txBox="1"/>
          <p:nvPr/>
        </p:nvSpPr>
        <p:spPr>
          <a:xfrm>
            <a:off x="6327648" y="375818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 … I will go to …</a:t>
            </a:r>
            <a:endParaRPr lang="en-US" sz="1050" dirty="0"/>
          </a:p>
        </p:txBody>
      </p:sp>
      <p:sp>
        <p:nvSpPr>
          <p:cNvPr id="37" name="Text 34"/>
          <p:cNvSpPr txBox="1"/>
          <p:nvPr/>
        </p:nvSpPr>
        <p:spPr>
          <a:xfrm>
            <a:off x="8202168" y="426110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رَأْيُكَ أَنْ نَلْتَقِيَ فِي ______ ؟</a:t>
            </a:r>
            <a:endParaRPr lang="ar-SA" sz="1800" dirty="0"/>
          </a:p>
        </p:txBody>
      </p:sp>
      <p:sp>
        <p:nvSpPr>
          <p:cNvPr id="38" name="Text 35"/>
          <p:cNvSpPr txBox="1"/>
          <p:nvPr/>
        </p:nvSpPr>
        <p:spPr>
          <a:xfrm>
            <a:off x="6327648" y="426110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How about meeting at …?</a:t>
            </a:r>
            <a:endParaRPr lang="en-US" sz="1050" dirty="0"/>
          </a:p>
        </p:txBody>
      </p:sp>
      <p:sp>
        <p:nvSpPr>
          <p:cNvPr id="39" name="Text 36"/>
          <p:cNvSpPr txBox="1"/>
          <p:nvPr/>
        </p:nvSpPr>
        <p:spPr>
          <a:xfrm>
            <a:off x="8202168" y="47640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اللِّقَاءِ.</a:t>
            </a:r>
            <a:endParaRPr lang="ar-SA" sz="1800" dirty="0"/>
          </a:p>
        </p:txBody>
      </p:sp>
      <p:sp>
        <p:nvSpPr>
          <p:cNvPr id="40" name="Text 37"/>
          <p:cNvSpPr txBox="1"/>
          <p:nvPr/>
        </p:nvSpPr>
        <p:spPr>
          <a:xfrm>
            <a:off x="6327648" y="47640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See you.</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يَوْمُ السَّبْتِ  ·  صَبَاحًا · مَسَاءً  ·  فِي السَّاعَةِ …  ·  مَوْعِدٌ  ·  مَشْغُولٌ / مَشْغُولَةٌ  ·  عُطْلَةٌ  ·  قَبْلَ · بَعْدَ  ·  مَرْكَزُ المَدِينَةِ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وُلِدْتُ فِي الخَمْسَةِ مِنْ مَايُو.</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Dates use a special number.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تَبْدَأُ المَدْرَسَةُ فِي السَّاعَةِ الثَّامِنُ.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hour.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الأُسْبُوعُ القَادِمُ ذَهَبْتُ إِلَى الطَّبِيبِ.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time? Which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وُلِدْتُ فِي الخَمْسَةِ مِنْ مَايُو.</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وُلِدْتُ فِي الخَامِسِ مِنْ مَايُو.</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Dates use the ordinal: </a:t>
            </a:r>
            <a:pPr algn="l" indent="0" marL="0">
              <a:buNone/>
            </a:pPr>
            <a:r>
              <a:rPr lang="ar-SA" altLang="en-US" sz="1500" b="1" dirty="0">
                <a:solidFill>
                  <a:srgbClr val="1B3B6F"/>
                </a:solidFill>
                <a:latin typeface="Amiri" pitchFamily="2" charset="-78"/>
                <a:ea typeface="Amiri" pitchFamily="2" charset="-78"/>
                <a:cs typeface="Amiri" pitchFamily="2" charset="-78"/>
              </a:rPr>
              <a:t>الخَامِسِ</a:t>
            </a:r>
            <a:pPr algn="l" indent="0" marL="0">
              <a:buNone/>
            </a:pPr>
            <a:r>
              <a:rPr lang="en-US" sz="1150" b="1" dirty="0">
                <a:solidFill>
                  <a:srgbClr val="1B3B6F"/>
                </a:solidFill>
                <a:latin typeface="Calibri" pitchFamily="34" charset="0"/>
                <a:cs typeface="Amiri" pitchFamily="2" charset="-78"/>
              </a:rPr>
              <a:t> (fifth), not </a:t>
            </a:r>
            <a:pPr algn="l" indent="0" marL="0">
              <a:buNone/>
            </a:pPr>
            <a:r>
              <a:rPr lang="ar-SA" altLang="en-US" sz="1500" b="1" dirty="0">
                <a:solidFill>
                  <a:srgbClr val="1B3B6F"/>
                </a:solidFill>
                <a:latin typeface="Amiri" pitchFamily="2" charset="-78"/>
                <a:ea typeface="Amiri" pitchFamily="2" charset="-78"/>
                <a:cs typeface="Amiri" pitchFamily="2" charset="-78"/>
              </a:rPr>
              <a:t>خَمْسَة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تَبْدَأُ المَدْرَسَةُ فِي السَّاعَةِ الثَّامِنُ.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تَبْدَأُ المَدْرَسَةُ فِي السَّاعَةِ الثَّامِنَةِ.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السَّاعَة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الثَّامِنَةِ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الأُسْبُوعُ القَادِمُ ذَهَبْتُ إِلَى الطَّبِيبِ.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الأُسْبُوعَ القَادِمَ سَأَذْهَبُ إِلَى الطَّبِيبِ.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Next week → future: </a:t>
            </a:r>
            <a:pPr algn="l" indent="0" marL="0">
              <a:buNone/>
            </a:pPr>
            <a:r>
              <a:rPr lang="ar-SA" altLang="en-US" sz="1500" b="1" dirty="0">
                <a:solidFill>
                  <a:srgbClr val="1B3B6F"/>
                </a:solidFill>
                <a:latin typeface="Amiri" pitchFamily="2" charset="-78"/>
                <a:ea typeface="Amiri" pitchFamily="2" charset="-78"/>
                <a:cs typeface="Amiri" pitchFamily="2" charset="-78"/>
              </a:rPr>
              <a:t>سَأَذْهَبُ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لَنْ أَنْسَى السَّابِعَ مِنْ سِبْتَمْبِرَ أَبَدًا.</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 will never forget the seventh of September.</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أَوَّلَ يَوْمٍ لِي فِي مَدْرَسَةٍ جَدِيدَةٍ.</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It was my first day at a new school.</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مُهِمًّا لِأَنِّي لَمْ أَعْرِفْ أَحَدًا.</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was important because I knew nobody.</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فِي النِّهَايَةِ شَعَرْتُ بِالفَرَحِ.</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In the end I felt happy.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Question 3, one paragraph: a date I will never forget</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تَارِيخٌ لَا أَنْسَاهُ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“Important dates in my year”. Today write ONLY the past paragraph: one date you will never forget — what the date was, what happened, why it was special,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 … أَبَدًا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never forget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ذٰلِكَ اليَوْمِ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that day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الصَّبَاحِ … وَفِي المَسَاءِ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morning … and in the evening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مُهِمًّا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important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بِالفَرَحِ · بِالخَوْفِ</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happy · afraid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رِيمُ،</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شُكْرًا عَلَى رِسَالَتِكِ! يُنَاسِبُنِي يَوْمُ السَّبْتِ فِي السَّاعَةِ الحَادِيَةَ عَشْرَةَ صَبَاحًا، لِأَنَّ عِنْدِي دَرْسَ سِبَاحَةٍ فِي التَّاسِعَةِ. فِي نِهَايَةِ الأُسْبُوعِ المَاضِي زُرْتُ جَدَّتِي فِي عِيدِ مِيلَادِهَا، وَأَكَلْنَا الكَعْكَةَ مَعًا، ثُمَّ لَعِبْتُ مَعَ أَبْنَاءِ عَمِّي. أُسْبُوعِي مَشْغُولٌ جِدًّا: يَوْمَ الثُّلَاثَاءِ عِنْدِي امْتِحَانُ عُلُومٍ، وَيَوْمَ الخَمِيسِ سَأَذْهَبُ إِلَى طَبِيبِ الأَسْنَانِ بَعْدَ المَدْرَسَةِ. مَا رَأْيُكِ أَنْ نَلْتَقِيَ أَمَامَ المَكْتَبَةِ العَامَّةِ؟ وَبَعْدَ ذٰلِكَ نَشْرَبُ عَصِيرًا فِي المَقْهَى القَرِيبِ، وَنَتَمَشَّى فِي الحَدِيقَةِ.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إِلَى اللِّقَاءِ،</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مَرْيَمُ</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Reem, thanks for your message! Saturday at eleven in the morning suits me, because I have a swimming lesson at nine. Last weekend I visited my grandmother on her birthday; we ate cake together, then I played with my cousins. My week is very busy: on Tuesday I have a science exam, and on Thursday I will go to the dentist after school. How about meeting outside the public library? After that we can have a juice in the café nearby and walk in the park. See you,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يُنَاسِبُنِي يَوْمُ السَّبْتِ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عِنْدِي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يَوْمَ الخَمِيسِ سَأَذْهَبُ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رَأْيُكِ أَنْ نَلْتَقِيَ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لَنْ أَنْسَى السَّابِعَ مِنْ سِبْتَمْبِرَ أَبَدًا، لِأَنَّهُ كَانَ أَوَّلَ يَوْمٍ لِي فِي مَدْرَسَةٍ جَدِيدَةٍ. فِي الصَّبَاحِ اسْتَيْقَظْتُ فِي السَّادِسَةِ، وَكُنْتُ خَائِفًا جِدًّا، لِأَنِّي لَمْ أَعْرِفْ أَحَدًا. فِي الحِصَّةِ الأُولَى جَلَسْتُ بِجَانِبِ طَالِبٍ اسْمُهُ يُوسُفُ، فَسَاعَدَنِي فِي الرِّيَاضِيَّاتِ، وَأَكَلْنَا الغَدَاءَ مَعًا. فِي المَسَاءِ شَعَرْتُ بِالفَرَحِ، وَحَكَيْتُ لِأُمِّي عَنْ صَدِيقِي الجَدِيدِ. وَالآنَ نَحْنُ أَعَزُّ صَدِيقَيْنِ، وَسَنَحْتَفِلُ بِهٰذَا التَّارِيخِ كُلَّ سَنَةٍ.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I will never forget 7 September — my first day at a new school · D: I woke at six, very afraid because I knew nobody; in the first lesson I sat next to Yusuf, who helped me with maths, and we had lunch together · F: in the evening I felt happy and told my mum · future: now we are best friends and will celebrate this date every year.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أَنْسَى … أَبَدًا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لَمْ أَعْرِفْ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الحِصَّةِ الأُولَى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شَعَرْتُ بِالفَرَحِ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AT-A-L03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AT-A-L02 · Writing Practice Room — Calendar and the School Week</dc:title>
  <dc:subject>PptxGenJS Presentation</dc:subject>
  <dc:creator>Al Madina Online School · Arabic Department</dc:creator>
  <cp:lastModifiedBy>Al Madina Online School · Arabic Department</cp:lastModifiedBy>
  <cp:revision>1</cp:revision>
  <dcterms:created xsi:type="dcterms:W3CDTF">2026-10-25T14:01:18Z</dcterms:created>
  <dcterms:modified xsi:type="dcterms:W3CDTF">2026-10-25T14:01:18Z</dcterms:modified>
</cp:coreProperties>
</file>