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10 (Topic A mixed practice — a weekend day out, AT-A-L10)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Mixed Topic A: a Day Out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يَوْمٌ فِي الخَارِجِ</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class trip to the countryside), upgrading sentences, writing with a buddy, spotting and fixing errors, and one Q3 paragraph with the T-D-R-F formula — using all of Topic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AT-A-L10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Class trip: permission and details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الصَّفِّ: التَّفَاصِيلُ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حَدِيقَةُ الحَيَوَانَاتِ</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place for the trip</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المَكَانُ المُفَضَّلُ لِلرِّحْلَةِ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سَنْدَوِيشَاتٌ وَفَوَاكِهُ</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you will bring</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الطَّعَامُ الَّذِي سَتُحْضِرُهُ</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تُوجَدُ · الرَّبْوُ</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 problem (if any)</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مُشْكِلَةٌ صِحِّيَّةٌ (إِنْ وُجِدَتْ)</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36408" y="4724400"/>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Digits.</a:t>
            </a:r>
            <a:endParaRPr lang="en-US" sz="11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Parents’ phone number</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هَاتِفِ الوَالِدَيْنِ</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نَزُورَ …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place?</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هٰذَا المَكَانَ؟</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Question 2: a class trip to the countryside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الصَّفِّ إِلَى الرِّيفِ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Your class went on a day trip to the countryside. Write an email in Arabic to your friend of about 80–90 words. You must include: • when you left and how you travelled • what you did and ate during the day • the best and worst moments, and why • the next trip your class is planning.</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انْطَلَقْنَا فِي السَّاعَةِ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set off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وَفِي النِّهَايَةِ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and finally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أَجْمَلُ لَحْظَةٍ كَانَتْ … ، أَمَّا أَسْوَأُ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moment was …, as for the worst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القَادِمِ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month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رِحْلَةِ الصَّفِّ إِلَى الرِّيفِ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انْطَلَقْتُمْ؟ وَكَيْفَ سَافَرْتُمْ؟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فَعَلْتُمْ وَأَكَلْتُمْ؟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لَحْظَةٍ وَأَسْوَأُ لَحْظَةٍ؟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الرِّحْلَةُ القَادِمَةُ؟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class trip to the countryside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إِلَى صَدِيقِكَ عَنْ رِحْلَةِ الصَّفِّ إِلَى الرِّيفِ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left and how you travelled</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مَتَى انْطَلَقْتُمْ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PAST (we): time + transport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انْطَلَقْتُمْ؟ وَكَيْفَ سَافَرْتُمْ؟</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and ate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فَعَلْتُمْ وَأَكَلْتُمْ</a:t>
            </a:r>
            <a:pPr algn="l" indent="0" marL="0">
              <a:buNone/>
            </a:pPr>
            <a:r>
              <a:rPr lang="en-US" sz="1100" dirty="0">
                <a:solidFill>
                  <a:srgbClr val="5A6472"/>
                </a:solidFill>
                <a:latin typeface="Calibri" pitchFamily="34" charset="0"/>
                <a:cs typeface="Amiri" pitchFamily="2" charset="-78"/>
              </a:rPr>
              <a:t> → PAST, in order</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فَعَلْتُمْ وَأَكَلْتُمْ؟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best and worst moments,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أَجْمَلُ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أَسْوَأُ … وَلِمَاذَا</a:t>
            </a:r>
            <a:pPr algn="l" indent="0" marL="0">
              <a:buNone/>
            </a:pPr>
            <a:r>
              <a:rPr lang="en-US" sz="1100" dirty="0">
                <a:solidFill>
                  <a:srgbClr val="5A6472"/>
                </a:solidFill>
                <a:latin typeface="Calibri" pitchFamily="34" charset="0"/>
                <a:cs typeface="Amiri" pitchFamily="2" charset="-78"/>
              </a:rPr>
              <a:t> → superlatives + reasons</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لَحْظَةٍ وَأَسْوَأُ لَحْظَةٍ؟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next trip being planned</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القَادِمَةُ</a:t>
            </a:r>
            <a:pPr algn="l" indent="0" marL="0">
              <a:buNone/>
            </a:pPr>
            <a:r>
              <a:rPr lang="en-US" sz="1100" dirty="0">
                <a:solidFill>
                  <a:srgbClr val="5A6472"/>
                </a:solidFill>
                <a:latin typeface="Calibri" pitchFamily="34" charset="0"/>
                <a:cs typeface="Amiri" pitchFamily="2" charset="-78"/>
              </a:rPr>
              <a:t> → FUTURE (sa-)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الرِّحْلَةُ القَادِمَةُ؟</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ذَهَبْنَا إِلَى الشَّاطِئِ.</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We went to the beach.</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ذَهَبْنَا إِلَى الشَّاطِئِ بِالقِطَارِ يَوْمَ الأَحَدِ، وَاسْتَغْرَقَتِ الرِّحْلَةُ سَاعَةً.</a:t>
            </a:r>
            <a:endParaRPr lang="ar-SA" sz="22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by train on Sunday; the journey took an hour.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ذَهَبْنَا إِلَى الشَّاطِئِ بِالقِطَارِ يَوْمَ الأَحَدِ، لِأَنَّ الجَوَّ كَانَ حَارًّا جِدًّا.</a:t>
            </a:r>
            <a:endParaRPr lang="ar-SA" sz="22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the weather was very hot.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وَفِي رَأْيِي كَانَ أَجْمَلَ يَوْمٍ فِي الصَّيْفِ، لٰكِنَّ الشَّاطِئَ كَانَ مُزْدَحِمًا.</a:t>
            </a:r>
            <a:endParaRPr lang="ar-SA" sz="22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was the best day of the summer, but the beach was crowded.</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will visit the museum next Saturday.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سَنَزُورُ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المُتْحَفَ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المُتْحَفُ</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السَّبْتِ القَادِمِ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السَّبْتِ المَاضِي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trip was fun but tiring.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الرِّحْلَةُ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الرِّحْلَةُ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مُمْتِعَةً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مُمْتِعٌ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لٰكِنَّهَا مُتْعِبَةٌ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لٰكِنَّهُ مُتْعِبٌ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about having a picnic in the park?</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 رَأْيُكَ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 رَأْيِي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نَأْكُلَ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نَأْكُلُ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الحَدِيقَةِ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الحَدِيقَةِ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will visit the museum next Saturday.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Saturday → future </a:t>
            </a:r>
            <a:pPr algn="l" indent="0" marL="0">
              <a:buNone/>
            </a:pPr>
            <a:r>
              <a:rPr lang="ar-SA" altLang="en-US" sz="1350" dirty="0">
                <a:solidFill>
                  <a:srgbClr val="5A6472"/>
                </a:solidFill>
                <a:latin typeface="Amiri" pitchFamily="2" charset="-78"/>
                <a:ea typeface="Amiri" pitchFamily="2" charset="-78"/>
                <a:cs typeface="Amiri" pitchFamily="2" charset="-78"/>
              </a:rPr>
              <a:t>سَنَزُورُ</a:t>
            </a:r>
            <a:pPr algn="l" indent="0" marL="0">
              <a:buNone/>
            </a:pPr>
            <a:r>
              <a:rPr lang="en-US" sz="1050" i="1" dirty="0">
                <a:solidFill>
                  <a:srgbClr val="5A6472"/>
                </a:solidFill>
                <a:latin typeface="Calibri" pitchFamily="34" charset="0"/>
                <a:cs typeface="Amiri" pitchFamily="2" charset="-78"/>
              </a:rPr>
              <a:t>; the object → </a:t>
            </a:r>
            <a:pPr algn="l" indent="0" marL="0">
              <a:buNone/>
            </a:pPr>
            <a:r>
              <a:rPr lang="ar-SA" altLang="en-US" sz="1350" dirty="0">
                <a:solidFill>
                  <a:srgbClr val="5A6472"/>
                </a:solidFill>
                <a:latin typeface="Amiri" pitchFamily="2" charset="-78"/>
                <a:ea typeface="Amiri" pitchFamily="2" charset="-78"/>
                <a:cs typeface="Amiri" pitchFamily="2" charset="-78"/>
              </a:rPr>
              <a:t>المُتْحَفَ</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سَنَزُورُ المُتْحَفَ يَوْمَ السَّبْتِ القَادِمِ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trip was fun but tiring.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الرِّحْلَةُ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كَانَتْ … مُمْتِعَةً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لٰكِنَّهَا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كَانَتِ الرِّحْلَةُ مُمْتِعَةً لٰكِنَّهَا مُتْعِبَةٌ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about having a picnic in the park?</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Suggestion = </a:t>
            </a:r>
            <a:pPr algn="l" indent="0" marL="0">
              <a:buNone/>
            </a:pPr>
            <a:r>
              <a:rPr lang="ar-SA" altLang="en-US" sz="1350" dirty="0">
                <a:solidFill>
                  <a:srgbClr val="5A6472"/>
                </a:solidFill>
                <a:latin typeface="Amiri" pitchFamily="2" charset="-78"/>
                <a:ea typeface="Amiri" pitchFamily="2" charset="-78"/>
                <a:cs typeface="Amiri" pitchFamily="2" charset="-78"/>
              </a:rPr>
              <a:t>مَا رَأْيُكَ أَنْ</a:t>
            </a:r>
            <a:pPr algn="l" indent="0" marL="0">
              <a:buNone/>
            </a:pPr>
            <a:r>
              <a:rPr lang="en-US" sz="1050" i="1" dirty="0">
                <a:solidFill>
                  <a:srgbClr val="5A6472"/>
                </a:solidFill>
                <a:latin typeface="Calibri" pitchFamily="34" charset="0"/>
                <a:cs typeface="Amiri" pitchFamily="2" charset="-78"/>
              </a:rPr>
              <a:t> + a verb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مَا رَأْيُكَ أَنْ نَأْكُلَ فِي الحَدِيقَةِ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اسْتَغْرَقَتِ الرِّحْلَةُ ______ ، وَكَانَتِ الحَافِلَةُ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journey took …, and the coach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أَوَّلًا ______ ، ثُمَّ ______ ، وَفِي النِّهَايَةِ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First …, then …, finally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أَسْوَأُ لَحْظَةٍ فَكَانَتْ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As for the worst moment, it was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______ ،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hope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انْطَلَقْنَا فِي السَّاعَةِ ______ ، وَسَافَرْنَا بِالحَافِلَةِ.</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We set off at …, and travelled by coach.</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مَشَيْنَا ______ ، ثُمَّ أَكَلْنَا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walked …, then we 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أَجْمَلُ لَحْظَةٍ كَانَتْ ______ ،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best moment was …,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القَادِمِ سَنَزُورُ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month we will visit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انْطَلَقْنَا  ·  بِالحَافِلَةِ  ·  مَزْرَعَةٌ · نَهْرٌ  ·  نُزْهَةُ طَعَامٍ  ·  مُمْتِعٌ · مُتْعِبٌ  ·  مُتَحَمِّسٌ  ·  أَجْمَلُ · أَسْوَأُ  ·  سَنَزُورُ</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الأُسْبُوعَ المَاضِي سَنَذْهَبُ إِلَى البَحْرِ.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time?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 رَأْيُكَ أَنْ نَخْرُجُ؟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الحَدَائِقُ جَمِيلُونَ.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Non-human plural 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الأُسْبُوعَ المَاضِي سَنَذْهَبُ إِلَى البَحْرِ.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الأُسْبُوعَ المَاضِي ذَهَبْنَا إِلَى البَحْرِ.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Last week → past: </a:t>
            </a:r>
            <a:pPr algn="l" indent="0" marL="0">
              <a:buNone/>
            </a:pPr>
            <a:r>
              <a:rPr lang="ar-SA" altLang="en-US" sz="1500" b="1" dirty="0">
                <a:solidFill>
                  <a:srgbClr val="1B3B6F"/>
                </a:solidFill>
                <a:latin typeface="Amiri" pitchFamily="2" charset="-78"/>
                <a:ea typeface="Amiri" pitchFamily="2" charset="-78"/>
                <a:cs typeface="Amiri" pitchFamily="2" charset="-78"/>
              </a:rPr>
              <a:t>ذَهَبْنَا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 رَأْيُكَ أَنْ نَخْرُجُ؟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 رَأْيُكَ أَنْ نَخْرُجَ؟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ends in -a: </a:t>
            </a:r>
            <a:pPr algn="l" indent="0" marL="0">
              <a:buNone/>
            </a:pPr>
            <a:r>
              <a:rPr lang="ar-SA" altLang="en-US" sz="1500" b="1" dirty="0">
                <a:solidFill>
                  <a:srgbClr val="1B3B6F"/>
                </a:solidFill>
                <a:latin typeface="Amiri" pitchFamily="2" charset="-78"/>
                <a:ea typeface="Amiri" pitchFamily="2" charset="-78"/>
                <a:cs typeface="Amiri" pitchFamily="2" charset="-78"/>
              </a:rPr>
              <a:t>نَخْرُجَ</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الحَدَائِقُ جَمِيلُونَ.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الحَدَائِقُ جَمِيلَةٌ.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t>
            </a:r>
            <a:pPr algn="l" indent="0" marL="0">
              <a:buNone/>
            </a:pPr>
            <a:r>
              <a:rPr lang="ar-SA" altLang="en-US" sz="1500" b="1" dirty="0">
                <a:solidFill>
                  <a:srgbClr val="1B3B6F"/>
                </a:solidFill>
                <a:latin typeface="Amiri" pitchFamily="2" charset="-78"/>
                <a:ea typeface="Amiri" pitchFamily="2" charset="-78"/>
                <a:cs typeface="Amiri" pitchFamily="2" charset="-78"/>
              </a:rPr>
              <a:t>جَمِيلَةٌ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أَجْمَلُ يَوْمٍ قَضَيْتُهُ كَانَ فِي جِبَالِ وِيلْزَ.</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The best day I spent was in the Welsh mountains.</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صَعِدْنَا الجَبَلَ، وَأَكَلْنَا فِي القِمَّةِ.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climbed the mountain and ate at the top.</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 مُمَيَّزًا لِأَنَّ كُلَّ العَائِلَةِ كَانَتْ مَعَنَا.</a:t>
            </a:r>
            <a:endParaRPr lang="ar-SA" sz="260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the whole family was with us.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وَسَنَرْجِعُ فِي الصَّيْفِ.</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and we will go back in summer.</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the best day out of my life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أَجْمَلُ يَوْمٍ فِي الخَارِجِ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“Free time and days out”. Today write ONLY the past paragraph: the best day out you remember — where, how you went, what you did and ate, why it was special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أَجْمَلُ يَوْمٍ قَضَيْتُهُ كَانَ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day I spent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انْطَلَقْنَا … وَوَصَلْنَا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set off … and arrived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قَضَيْنَا اليَوْمَ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spent the day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مُمَيَّزًا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never forget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نُورُ،</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كَيْفَ حَالُكِ؟ يَوْمَ الخَمِيسِ المَاضِي ذَهَبَ صَفُّنَا فِي رِحْلَةٍ إِلَى الرِّيفِ. انْطَلَقْنَا فِي السَّاعَةِ الثَّامِنَةِ صَبَاحًا بِالحَافِلَةِ، وَاسْتَغْرَقَتِ الرِّحْلَةُ سَاعَتَيْنِ. أَوَّلًا زُرْنَا مَزْرَعَةً كَبِيرَةً وَأَطْعَمْنَا الخِرَافَ، ثُمَّ مَشَيْنَا بِجَانِبِ النَّهْرِ، وَأَكَلْنَا نُزْهَةَ طَعَامٍ لَذِيذَةً تَحْتَ الأَشْجَارِ. أَجْمَلُ لَحْظَةٍ كَانَتْ عِنْدَمَا رَأَيْنَا حِصَانًا صَغِيرًا عُمْرُهُ يَوْمٌ وَاحِدٌ! أَمَّا أَسْوَأُ لَحْظَةٍ فَكَانَتْ فِي طَرِيقِ العَوْدَةِ، لِأَنَّ المَطَرَ نَزَلَ بِقُوَّةٍ وَلَمْ يَكُنْ عِنْدِي مِعْطَفٌ. فِي الشَّهْرِ القَادِمِ سَنَزُورُ مُتْحَفَ العُلُومِ، وَأَنَا مُتَحَمِّسَةٌ جِدًّا!</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إِلَى اللِّقَاءِ،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هِنْدُ</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Nour, how are you? Last Thursday our class went on a trip to the countryside. We set off at eight in the morning by coach, and the journey took two hours. First we visited a big farm and fed the sheep, then we walked by the river and had a tasty picnic under the trees. The best moment was when we saw a foal only one day old! The worst moment was on the way back, because it rained heavily and I had no coat. Next month we will visit the science museum, and I am very excited! See you, Hind.”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انْطَلَقْنَا فِي السَّاعَةِ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أَسْوَأُ لَحْظَةٍ فَكَانَتْ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سَنَزُورُ مُتْحَفَ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أَجْمَلُ يَوْمٍ قَضَيْتُهُ كَانَ فِي جِبَالِ وِيلْزَ فِي الصَّيْفِ المَاضِي. انْطَلَقْنَا بِالسَّيَّارَةِ فِي السَّادِسَةِ صَبَاحًا، وَوَصَلْنَا بَعْدَ ثَلَاثِ سَاعَاتٍ. صَعِدْنَا الجَبَلَ مَعًا، وَكَانَ الطَّرِيقُ صَعْبًا، لٰكِنَّ المَنَاظِرَ كَانَتْ رَائِعَةً. فِي القِمَّةِ أَكَلْنَا السَّنْدَوِيشَاتِ وَشَرِبْنَا الشَّايَ، وَرَأَيْنَا البَحْرَ مِنْ بَعِيدٍ. كَانَ مُمَيَّزًا لِأَنَّ جَدِّي صَعِدَ مَعَنَا، وَعُمْرُهُ سَبْعُونَ سَنَةً! شَعَرْتُ بِالفَخْرِ بِهِ، وَلَنْ أَنْسَى ذٰلِكَ اليَوْمَ أَبَدًا.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the best day I spent was in the Welsh mountains last summer · D: we set off by car at six and arrived three hours later; we climbed together — the path was hard but the views were amazing; at the top we ate sandwiches, drank tea and saw the sea in the distance · R: special because my seventy-year-old grandfather climbed with us · F: I felt proud of him, and I will never forget that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يَوْمٍ قَضَيْتُهُ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انْطَلَقْنَا … وَوَصَلْنَا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مُمَيَّزًا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وَلَنْ أَنْسَى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AT-A-L11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AT-A-L10 · Writing Practice Room — Mixed Topic A: a Day Out</dc:title>
  <dc:subject>PptxGenJS Presentation</dc:subject>
  <dc:creator>Al Madina Online School · Arabic Department</dc:creator>
  <cp:lastModifiedBy>Al Madina Online School · Arabic Department</cp:lastModifiedBy>
  <cp:revision>1</cp:revision>
  <dcterms:created xsi:type="dcterms:W3CDTF">2026-10-25T14:17:41Z</dcterms:created>
  <dcterms:modified xsi:type="dcterms:W3CDTF">2026-10-25T14:17:41Z</dcterms:modified>
</cp:coreProperties>
</file>